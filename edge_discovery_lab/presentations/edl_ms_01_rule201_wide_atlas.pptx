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6f7e46e56740a6" /><Relationship Type="http://schemas.openxmlformats.org/officeDocument/2006/relationships/extended-properties" Target="/docProps/app.xml" Id="R88c39734ce534276" /><Relationship Type="http://schemas.openxmlformats.org/officeDocument/2006/relationships/officeDocument" Target="/ppt/presentation.xml" Id="R13126d642f5744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958b6603714782"/>
  </p:sldMasterIdLst>
  <p:notesMasterIdLst>
    <p:notesMasterId xmlns:r="http://schemas.openxmlformats.org/officeDocument/2006/relationships" r:id="R286d4f84561f42bf"/>
  </p:notesMasterIdLst>
  <p:sldIdLst>
    <p:sldId xmlns:r="http://schemas.openxmlformats.org/officeDocument/2006/relationships" id="256" r:id="R200d8b4bd456426d"/>
    <p:sldId xmlns:r="http://schemas.openxmlformats.org/officeDocument/2006/relationships" id="257" r:id="Rda61e79afd464864"/>
    <p:sldId xmlns:r="http://schemas.openxmlformats.org/officeDocument/2006/relationships" id="258" r:id="R34b7c0a30fa241e3"/>
    <p:sldId xmlns:r="http://schemas.openxmlformats.org/officeDocument/2006/relationships" id="259" r:id="Rd88c1a2e5f314443"/>
    <p:sldId xmlns:r="http://schemas.openxmlformats.org/officeDocument/2006/relationships" id="260" r:id="R396c4a0b26ff46cd"/>
    <p:sldId xmlns:r="http://schemas.openxmlformats.org/officeDocument/2006/relationships" id="261" r:id="R0b8bae6c1d634144"/>
    <p:sldId xmlns:r="http://schemas.openxmlformats.org/officeDocument/2006/relationships" id="262" r:id="R216d20f2e80d4506"/>
    <p:sldId xmlns:r="http://schemas.openxmlformats.org/officeDocument/2006/relationships" id="263" r:id="Re0f557bd9a6645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7dd80c42da4019" /><Relationship Type="http://schemas.openxmlformats.org/officeDocument/2006/relationships/slideMaster" Target="/ppt/slideMasters/slideMaster1.xml" Id="R4f958b6603714782" /><Relationship Type="http://schemas.openxmlformats.org/officeDocument/2006/relationships/notesMaster" Target="/ppt/notesMasters/notesMaster1.xml" Id="R286d4f84561f42bf" /><Relationship Type="http://schemas.openxmlformats.org/officeDocument/2006/relationships/presProps" Target="/ppt/presProps.xml" Id="R12e8288f4b9f4120" /><Relationship Type="http://schemas.openxmlformats.org/officeDocument/2006/relationships/tableStyles" Target="/ppt/tableStyles.xml" Id="R70576a31e3324b58" /><Relationship Type="http://schemas.openxmlformats.org/officeDocument/2006/relationships/slide" Target="/ppt/slides/slide1.xml" Id="R200d8b4bd456426d" /><Relationship Type="http://schemas.openxmlformats.org/officeDocument/2006/relationships/slide" Target="/ppt/slides/slide2.xml" Id="Rda61e79afd464864" /><Relationship Type="http://schemas.openxmlformats.org/officeDocument/2006/relationships/slide" Target="/ppt/slides/slide3.xml" Id="R34b7c0a30fa241e3" /><Relationship Type="http://schemas.openxmlformats.org/officeDocument/2006/relationships/slide" Target="/ppt/slides/slide4.xml" Id="Rd88c1a2e5f314443" /><Relationship Type="http://schemas.openxmlformats.org/officeDocument/2006/relationships/slide" Target="/ppt/slides/slide5.xml" Id="R396c4a0b26ff46cd" /><Relationship Type="http://schemas.openxmlformats.org/officeDocument/2006/relationships/slide" Target="/ppt/slides/slide6.xml" Id="R0b8bae6c1d634144" /><Relationship Type="http://schemas.openxmlformats.org/officeDocument/2006/relationships/slide" Target="/ppt/slides/slide7.xml" Id="R216d20f2e80d4506" /><Relationship Type="http://schemas.openxmlformats.org/officeDocument/2006/relationships/slide" Target="/ppt/slides/slide8.xml" Id="Re0f557bd9a6645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fb4e6b22804a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19c20e47ba4d81" /><Relationship Type="http://schemas.openxmlformats.org/officeDocument/2006/relationships/notesMaster" Target="/ppt/notesMasters/notesMaster1.xml" Id="R4be28d69e5f141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4f0d2168df4822" /><Relationship Type="http://schemas.openxmlformats.org/officeDocument/2006/relationships/notesMaster" Target="/ppt/notesMasters/notesMaster1.xml" Id="R199c92905fba4b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9ca3dcb80b43f3" /><Relationship Type="http://schemas.openxmlformats.org/officeDocument/2006/relationships/notesMaster" Target="/ppt/notesMasters/notesMaster1.xml" Id="R9efcd3b1bf8041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c3780485f54778" /><Relationship Type="http://schemas.openxmlformats.org/officeDocument/2006/relationships/notesMaster" Target="/ppt/notesMasters/notesMaster1.xml" Id="R24e26200d15349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7dd5e50c9143b1" /><Relationship Type="http://schemas.openxmlformats.org/officeDocument/2006/relationships/notesMaster" Target="/ppt/notesMasters/notesMaster1.xml" Id="R3caa5d57b8c64f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4396e860ab4c89" /><Relationship Type="http://schemas.openxmlformats.org/officeDocument/2006/relationships/notesMaster" Target="/ppt/notesMasters/notesMaster1.xml" Id="R83d6abc77fe744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83caf1ce8145da" /><Relationship Type="http://schemas.openxmlformats.org/officeDocument/2006/relationships/notesMaster" Target="/ppt/notesMasters/notesMaster1.xml" Id="R661b6fcf6b0d43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ee5f9448eb4a5f" /><Relationship Type="http://schemas.openxmlformats.org/officeDocument/2006/relationships/notesMaster" Target="/ppt/notesMasters/notesMaster1.xml" Id="R47934fe5847a4c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sequel asks whether the ten-stock pilot's visible five-session recovery hump survives a preregistered breadth expansion. The central result is cohort sensitivity, not edge promotion.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report: runs/research_workbench/edge_discovery_lab/edl_ms_01_rule201_wide_atlas_20260830/report.md</a:t>
            </a:r>
          </a:p>
          <a:p xmlns:a="http://schemas.openxmlformats.org/drawingml/2006/main">
            <a:r>
              <a:t>- Local frozen run specification: runs/research_workbench/edge_discovery_lab/edl_ms_01_rule201_wide_atlas_20260830/run_spec.csv</a:t>
            </a:r>
          </a:p>
          <a:p xmlns:a="http://schemas.openxmlformats.org/drawingml/2006/main">
            <a:r>
              <a:t>- Local pilot-versus-wide comparison: runs/research_workbench/edge_discovery_lab/edl_ms_01_rule201_wide_atlas_20260830/pilot_vs_wide_comparison.csv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primary replication is the balanced 88-stock core. The attention and ETF cohorts are separate challengers and controls. Zero-event instruments remain in the enrolled-symbol ledger.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frozen run specification: runs/research_workbench/edge_discovery_lab/edl_ms_01_rule201_wide_atlas_20260830/run_spec.csv</a:t>
            </a:r>
          </a:p>
          <a:p xmlns:a="http://schemas.openxmlformats.org/drawingml/2006/main">
            <a:r>
              <a:t>- Local enrolled-symbol counts: runs/research_workbench/edge_discovery_lab/edl_ms_01_rule201_wide_atlas_20260830/symbol_event_counts.csv</a:t>
            </a:r>
          </a:p>
          <a:p xmlns:a="http://schemas.openxmlformats.org/drawingml/2006/main">
            <a:r>
              <a:t>- Local coverage ledger: runs/research_workbench/edge_discovery_lab/edl_ms_01_rule201_wide_atlas_20260830/coverage_ledger.csv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core and attention stock has at least one discovery-band event, but only 20 of 88 core stocks and 13 of 16 attention stocks have a triggered/strong-reclaim event. ETF target cells are especially thin.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enrolled-symbol counts: runs/research_workbench/edge_discovery_lab/edl_ms_01_rule201_wide_atlas_20260830/symbol_event_counts.csv</a:t>
            </a:r>
          </a:p>
          <a:p xmlns:a="http://schemas.openxmlformats.org/drawingml/2006/main">
            <a:r>
              <a:t>- Local coverage ledger: runs/research_workbench/edge_discovery_lab/edl_ms_01_rule201_wide_atlas_20260830/coverage_ledger.csv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pilot ten-stock triggered/strong group had a positive 3.72 percent day-five median. The balanced core's comparable event-pooled median is negative 0.24 percent across 21 events and negative 0.48 percent at day ten.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event-pooled paths: runs/research_workbench/edge_discovery_lab/edl_ms_01_rule201_wide_atlas_20260830/pooled_path_summary.csv</a:t>
            </a:r>
          </a:p>
          <a:p xmlns:a="http://schemas.openxmlformats.org/drawingml/2006/main">
            <a:r>
              <a:t>- Local pilot-versus-wide comparison: runs/research_workbench/edge_discovery_lab/edl_ms_01_rule201_wide_atlas_20260830/pilot_vs_wide_comparison.csv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Within each eligible symbol, the median path is computed first; those symbol medians are then averaged equally. This prevents event-rich names from mechanically dominating the curve. ETF panels each have only one target event and therefore identical pooled and equal-symbol lines.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equal-symbol paths: runs/research_workbench/edge_discovery_lab/edl_ms_01_rule201_wide_atlas_20260830/equal_symbol_path_summary.csv</a:t>
            </a:r>
          </a:p>
          <a:p xmlns:a="http://schemas.openxmlformats.org/drawingml/2006/main">
            <a:r>
              <a:t>- Local event-pooled paths: runs/research_workbench/edge_discovery_lab/edl_ms_01_rule201_wide_atlas_20260830/pooled_path_summary.csv</a:t>
            </a:r>
          </a:p>
          <a:p xmlns:a="http://schemas.openxmlformats.org/drawingml/2006/main">
            <a:r>
              <a:t>- Local enrolled-symbol counts: runs/research_workbench/edge_discovery_lab/edl_ms_01_rule201_wide_atlas_20260830/symbol_event_counts.csv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attention-stock triggered/strong group has a positive 2.65 percent day-five median and a negative 2.28 percent day-ten median. The ETF target cells are visually extreme because each cohort contains one eligible event, so they must not be interpreted as stable estimates.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event-pooled paths: runs/research_workbench/edge_discovery_lab/edl_ms_01_rule201_wide_atlas_20260830/pooled_path_summary.csv</a:t>
            </a:r>
          </a:p>
          <a:p xmlns:a="http://schemas.openxmlformats.org/drawingml/2006/main">
            <a:r>
              <a:t>- Local enrolled-symbol counts: runs/research_workbench/edge_discovery_lab/edl_ms_01_rule201_wide_atlas_20260830/symbol_event_counts.csv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AMC, MARA, and CVNA are the three largest individual contributors. Calendar concentration remains strongest in 2020 and 2022. The wider atlas therefore reduces the original pilot's two-name dependence but does not remove cohort and era dependence.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enrolled-symbol counts: runs/research_workbench/edge_discovery_lab/edl_ms_01_rule201_wide_atlas_20260830/symbol_event_counts.csv</a:t>
            </a:r>
          </a:p>
          <a:p xmlns:a="http://schemas.openxmlformats.org/drawingml/2006/main">
            <a:r>
              <a:t>- Local report: runs/research_workbench/edge_discovery_lab/edl_ms_01_rule201_wide_atlas_20260830/report.md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closes the breadth replication without selecting a horizon or promoting a rule. A subsequent slice could inspect an upstream explanation for attention-stock behavior or freeze a falsification of the cohort distinction. Either intraday branch remains separately gated.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report: runs/research_workbench/edge_discovery_lab/edl_ms_01_rule201_wide_atlas_20260830/report.md</a:t>
            </a:r>
          </a:p>
          <a:p xmlns:a="http://schemas.openxmlformats.org/drawingml/2006/main">
            <a:r>
              <a:t>- Local event-pooled paths: runs/research_workbench/edge_discovery_lab/edl_ms_01_rule201_wide_atlas_20260830/pooled_path_summary.csv</a:t>
            </a:r>
          </a:p>
          <a:p xmlns:a="http://schemas.openxmlformats.org/drawingml/2006/main">
            <a:r>
              <a:t>- Local equal-symbol paths: runs/research_workbench/edge_discovery_lab/edl_ms_01_rule201_wide_atlas_20260830/equal_symbol_path_summary.csv</a:t>
            </a:r>
          </a:p>
          <a:p xmlns:a="http://schemas.openxmlformats.org/drawingml/2006/main">
            <a:r>
              <a:t>- Local pilot-versus-wide comparison: runs/research_workbench/edge_discovery_lab/edl_ms_01_rule201_wide_atlas_20260830/pilot_vs_wide_comparison.csv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014d383c3f49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8556cb5d9e4a83" /><Relationship Type="http://schemas.openxmlformats.org/officeDocument/2006/relationships/slideLayout" Target="/ppt/slideLayouts/slideLayout1.xml" Id="Rd205e2f26a9346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05e2f26a9346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54769c4cb4e31" /><Relationship Type="http://schemas.openxmlformats.org/officeDocument/2006/relationships/notesSlide" Target="/ppt/notesSlides/notesSlide1.xml" Id="R4e31f63bfba345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6fc6db9d5431e" /><Relationship Type="http://schemas.openxmlformats.org/officeDocument/2006/relationships/notesSlide" Target="/ppt/notesSlides/notesSlide2.xml" Id="R7e9183a951ab4f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02f32ff5a46b7" /><Relationship Type="http://schemas.openxmlformats.org/officeDocument/2006/relationships/image" Target="/ppt/media/image.png" Id="Ra8908d3d8d354442" /><Relationship Type="http://schemas.openxmlformats.org/officeDocument/2006/relationships/notesSlide" Target="/ppt/notesSlides/notesSlide3.xml" Id="Rff04e9ac991848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9d43fe6614270" /><Relationship Type="http://schemas.openxmlformats.org/officeDocument/2006/relationships/image" Target="/ppt/media/image2.png" Id="R32967ac9eb984715" /><Relationship Type="http://schemas.openxmlformats.org/officeDocument/2006/relationships/notesSlide" Target="/ppt/notesSlides/notesSlide4.xml" Id="Rfca84691d4e048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7564355f54d32" /><Relationship Type="http://schemas.openxmlformats.org/officeDocument/2006/relationships/image" Target="/ppt/media/image3.png" Id="R6c5eb304fa1549c8" /><Relationship Type="http://schemas.openxmlformats.org/officeDocument/2006/relationships/notesSlide" Target="/ppt/notesSlides/notesSlide5.xml" Id="Rf3125f82c96149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dbc1e48c7437a" /><Relationship Type="http://schemas.openxmlformats.org/officeDocument/2006/relationships/image" Target="/ppt/media/image4.png" Id="Ra28f6bcc40ce4b70" /><Relationship Type="http://schemas.openxmlformats.org/officeDocument/2006/relationships/notesSlide" Target="/ppt/notesSlides/notesSlide6.xml" Id="R3672f15bc1e347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9e455768b4a8e" /><Relationship Type="http://schemas.openxmlformats.org/officeDocument/2006/relationships/image" Target="/ppt/media/image5.png" Id="R01fe1d659bd4459d" /><Relationship Type="http://schemas.openxmlformats.org/officeDocument/2006/relationships/notesSlide" Target="/ppt/notesSlides/notesSlide7.xml" Id="Rb4b29be0edc14b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890dfa4c44c26" /><Relationship Type="http://schemas.openxmlformats.org/officeDocument/2006/relationships/notesSlide" Target="/ppt/notesSlides/notesSlide8.xml" Id="R8a640782525b48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DD957-16BE-4E56-AB92-F17A3F66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A561F-F3BE-465E-86C4-695896F8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386"/>
                </a:solidFill>
              </a:defRPr>
            </a:pPr>
            <a:r>
              <a:rPr sz="1200" b="1">
                <a:solidFill>
                  <a:srgbClr val="667386"/>
                </a:solidFill>
              </a:rPr>
              <a:t>EDGE DISCOVERY LAB · BREADTH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B4E80-C904-4256-B78E-1CB5BA03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Rule 201 Reclaim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71FAD-692A-4C14-B09C-D2A09AE4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364B"/>
                </a:solidFill>
              </a:defRPr>
            </a:pPr>
            <a:r>
              <a:rPr sz="2700" b="1">
                <a:solidFill>
                  <a:srgbClr val="24364B"/>
                </a:solidFill>
              </a:rPr>
              <a:t>The pilot hump is cohort-sensitive.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6CA56-2F30-4159-B451-B303C418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64B"/>
                </a:solidFill>
              </a:defRPr>
            </a:pPr>
            <a:r>
              <a:rPr sz="1800" b="0">
                <a:solidFill>
                  <a:srgbClr val="24364B"/>
                </a:solidFill>
              </a:rPr>
              <a:t>The 88-stock balanced core does not reproduce the ten-stock day-five median. Attention stocks carry most of the visible temporary recovery.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EC67C-F3FF-4A77-BE5C-BC070A45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35255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64B"/>
          </a:solidFill>
          <a:ln xmlns:a="http://schemas.openxmlformats.org/drawingml/2006/main" w="0">
            <a:solidFill>
              <a:srgbClr val="2436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4670F-00BB-4B51-AAF0-C40855EE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81175"/>
            <a:ext cx="213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129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B98C5-3198-49DB-8BF7-834699A3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194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0EDFA"/>
                </a:solidFill>
              </a:defRPr>
            </a:pPr>
            <a:r>
              <a:rPr sz="1650" b="0">
                <a:solidFill>
                  <a:srgbClr val="D0EDFA"/>
                </a:solidFill>
              </a:rPr>
              <a:t>instruments</a:t>
            </a:r>
          </a:p>
          <a:p xmlns:a="http://schemas.openxmlformats.org/drawingml/2006/main">
            <a:pPr algn="ctr">
              <a:defRPr sz="1650" b="0">
                <a:solidFill>
                  <a:srgbClr val="D0EDFA"/>
                </a:solidFill>
              </a:defRPr>
            </a:pPr>
            <a:r>
              <a:rPr sz="1650" b="0">
                <a:solidFill>
                  <a:srgbClr val="D0EDFA"/>
                </a:solidFill>
              </a:rPr>
              <a:t>enrolled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B31B3-AF90-41C8-B70C-1ED533A4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10915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4CE84-D507-4426-A589-0786591E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4738"/>
                </a:solidFill>
              </a:defRPr>
            </a:pPr>
            <a:r>
              <a:rPr sz="1275" b="1">
                <a:solidFill>
                  <a:srgbClr val="B44738"/>
                </a:solidFill>
              </a:rPr>
              <a:t>WIDE-ATLAS REPLICATION COMPLETE · NO EDGE CLAIM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5A13D-AA31-4E67-AC1D-47C5F3F6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483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7386"/>
                </a:solidFill>
              </a:defRPr>
            </a:pPr>
            <a:r>
              <a:rPr sz="1275" b="1">
                <a:solidFill>
                  <a:srgbClr val="667386"/>
                </a:solidFill>
              </a:rPr>
              <a:t>Post-2023 data remain sealed</a:t>
            </a:r>
          </a:p>
        </p:txBody>
      </p:sp>
    </p:spTree>
    <p:extLst>
      <p:ext uri="{BB962C8B-B14F-4D97-AF65-F5344CB8AC3E}">
        <p14:creationId xmlns:p14="http://schemas.microsoft.com/office/powerpoint/2010/main" val="16864958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2D99F51-6055-4BCA-B653-125BBCE6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386"/>
                </a:solidFill>
              </a:defRPr>
            </a:pPr>
            <a:r>
              <a:rPr sz="1050" b="1">
                <a:solidFill>
                  <a:srgbClr val="667386"/>
                </a:solidFill>
              </a:rPr>
              <a:t>EDGE DISCOVERY LAB · EDL-MS-01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965C16-C6E8-4D05-9976-8B7D19AC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3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One frozen rule enters four visibly separate cohorts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D5850C8-B2DD-422F-84EB-EB56C5ED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86"/>
                </a:solidFill>
              </a:defRPr>
            </a:pPr>
            <a:r>
              <a:rPr sz="1350" b="0">
                <a:solidFill>
                  <a:srgbClr val="667386"/>
                </a:solidFill>
              </a:rPr>
              <a:t>Definitions are inherited from the pilot; only representation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268F3-04B6-418C-BEBF-8BABC705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A7CA33F6-37C3-47AB-8982-2EB72BE4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Adjusted daily · 2018–2023 TRAIN · descriptive only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C5A48E-4AF6-44BA-8549-C29037A9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02</a:t>
            </a:r>
          </a:p>
        </p:txBody>
      </p:sp>
      <p:sp>
        <p:nvSpPr>
          <p:cNvPr id="7" name="metric-core stocks">
            <a:extLst xmlns:a="http://schemas.openxmlformats.org/drawingml/2006/main">
              <a:ext uri="{FF2B5EF4-FFF2-40B4-BE49-F238E27FC236}">
                <a16:creationId xmlns:a16="http://schemas.microsoft.com/office/drawing/2014/main" id="{CECC7084-ED0E-417A-ACFB-B0353560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2571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801EF-E489-4C09-8EFB-47247B71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306D7-3CCF-488E-B35A-28E31C5B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88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90F11-C451-4974-9306-5054202E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364B"/>
                </a:solidFill>
              </a:defRPr>
            </a:pPr>
            <a:r>
              <a:rPr sz="1275" b="1">
                <a:solidFill>
                  <a:srgbClr val="24364B"/>
                </a:solidFill>
              </a:rPr>
              <a:t>core stocks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38721-8EA0-4492-BD74-92214C54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7652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86"/>
                </a:solidFill>
              </a:defRPr>
            </a:pPr>
            <a:r>
              <a:rPr sz="975" b="0">
                <a:solidFill>
                  <a:srgbClr val="667386"/>
                </a:solidFill>
              </a:rPr>
              <a:t>8 per GICS sector</a:t>
            </a:r>
          </a:p>
        </p:txBody>
      </p:sp>
      <p:sp>
        <p:nvSpPr>
          <p:cNvPr id="12" name="metric-attention stocks">
            <a:extLst xmlns:a="http://schemas.openxmlformats.org/drawingml/2006/main">
              <a:ext uri="{FF2B5EF4-FFF2-40B4-BE49-F238E27FC236}">
                <a16:creationId xmlns:a16="http://schemas.microsoft.com/office/drawing/2014/main" id="{8567B9E6-C2C1-4F04-A873-A5691BF9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52600"/>
            <a:ext cx="2571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246AA-15F8-4396-B8A4-FE4D711C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52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7D5"/>
          </a:solidFill>
          <a:ln xmlns:a="http://schemas.openxmlformats.org/drawingml/2006/main" w="0">
            <a:solidFill>
              <a:srgbClr val="6957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214004-D157-44F6-8544-B22B335A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050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935DC-AA04-468E-9D27-415CAFC5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364B"/>
                </a:solidFill>
              </a:defRPr>
            </a:pPr>
            <a:r>
              <a:rPr sz="1275" b="1">
                <a:solidFill>
                  <a:srgbClr val="24364B"/>
                </a:solidFill>
              </a:rPr>
              <a:t>attention stocks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DA899-3332-4A9D-A423-2BA1E8B1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7652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86"/>
                </a:solidFill>
              </a:defRPr>
            </a:pPr>
            <a:r>
              <a:rPr sz="975" b="0">
                <a:solidFill>
                  <a:srgbClr val="667386"/>
                </a:solidFill>
              </a:rPr>
              <a:t>separate challenger cohort</a:t>
            </a:r>
          </a:p>
        </p:txBody>
      </p:sp>
      <p:sp>
        <p:nvSpPr>
          <p:cNvPr id="17" name="metric-equity ETFs">
            <a:extLst xmlns:a="http://schemas.openxmlformats.org/drawingml/2006/main">
              <a:ext uri="{FF2B5EF4-FFF2-40B4-BE49-F238E27FC236}">
                <a16:creationId xmlns:a16="http://schemas.microsoft.com/office/drawing/2014/main" id="{27516A24-3CD9-4410-9182-7B22056B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2571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2A50F5-8997-476D-B4D6-9611FEC0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solidFill>
              <a:srgbClr val="1486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13DD10-66B8-4A18-9075-3EDD7797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15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6061FB-B3A6-464E-ABD9-3228DE31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364B"/>
                </a:solidFill>
              </a:defRPr>
            </a:pPr>
            <a:r>
              <a:rPr sz="1275" b="1">
                <a:solidFill>
                  <a:srgbClr val="24364B"/>
                </a:solidFill>
              </a:rPr>
              <a:t>equity ETFs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DB7176-1743-4E56-9C35-B290542B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7652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86"/>
                </a:solidFill>
              </a:defRPr>
            </a:pPr>
            <a:r>
              <a:rPr sz="975" b="0">
                <a:solidFill>
                  <a:srgbClr val="667386"/>
                </a:solidFill>
              </a:rPr>
              <a:t>broad and sector controls</a:t>
            </a:r>
          </a:p>
        </p:txBody>
      </p:sp>
      <p:sp>
        <p:nvSpPr>
          <p:cNvPr id="22" name="metric-non-equity ETFs">
            <a:extLst xmlns:a="http://schemas.openxmlformats.org/drawingml/2006/main">
              <a:ext uri="{FF2B5EF4-FFF2-40B4-BE49-F238E27FC236}">
                <a16:creationId xmlns:a16="http://schemas.microsoft.com/office/drawing/2014/main" id="{0F72CBA3-1541-4974-BD44-C787A500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52600"/>
            <a:ext cx="2571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59F83E-A2B4-452E-9D4E-A1A375D2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52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B00"/>
          </a:solidFill>
          <a:ln xmlns:a="http://schemas.openxmlformats.org/drawingml/2006/main" w="0">
            <a:solidFill>
              <a:srgbClr val="A86B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498BBC-A366-42FD-8BA8-6BB76A81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050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6DE6A7-9148-454F-B4AE-4AEE003B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003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364B"/>
                </a:solidFill>
              </a:defRPr>
            </a:pPr>
            <a:r>
              <a:rPr sz="1275" b="1">
                <a:solidFill>
                  <a:srgbClr val="24364B"/>
                </a:solidFill>
              </a:rPr>
              <a:t>non-equity ETFs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B85D54-CDE0-4F92-82C2-87C0DA9D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7652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86"/>
                </a:solidFill>
              </a:defRPr>
            </a:pPr>
            <a:r>
              <a:rPr sz="975" b="0">
                <a:solidFill>
                  <a:srgbClr val="667386"/>
                </a:solidFill>
              </a:rPr>
              <a:t>rates, commodities, FX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CCA54A-30DF-44B7-A46F-A9B5198E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71850"/>
            <a:ext cx="53340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F58819-317E-48DF-922A-46DDB022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UNCHANGED EVENT GEOMETRY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912E0D-9A53-4658-A544-F4A3C473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F869D5-5205-4632-92A6-E682CEE8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Daily low / prior close from −12% through −8%.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AC9DB0-F9A3-450B-9223-6417E3A6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2B92B0-C602-434C-8ED1-CE91A81D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Triggered proxy at or below −10%; strong CLV ≥ .75; weak CLV ≤ .25.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9F5ED2-E8C3-4FC9-9A14-44A94725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0F5A49-AE49-48A9-9089-2D8B31EA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Completed signal close → next-open entry → sessions 0–10.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0755D5-95B5-4B58-8501-B64DB6A4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71850"/>
            <a:ext cx="55435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1A6AD7-8AFB-41F8-99C9-505DD209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364B"/>
                </a:solidFill>
              </a:defRPr>
            </a:pPr>
            <a:r>
              <a:rPr sz="1200" b="1">
                <a:solidFill>
                  <a:srgbClr val="24364B"/>
                </a:solidFill>
              </a:rPr>
              <a:t>REPRESENTATION GUARDRAILS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E7D635-FBF4-48F5-95DF-43FADA9B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52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64B"/>
          </a:solidFill>
          <a:ln xmlns:a="http://schemas.openxmlformats.org/drawingml/2006/main" w="0">
            <a:solidFill>
              <a:srgbClr val="24364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06A72-96C3-41DD-9B1B-CE6ECD7E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76700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All 129 stay enrolled—including six with no band event.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359F51-0E18-451B-90C6-4E638DEB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24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64B"/>
          </a:solidFill>
          <a:ln xmlns:a="http://schemas.openxmlformats.org/drawingml/2006/main" w="0">
            <a:solidFill>
              <a:srgbClr val="24364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61690C-55C8-404B-8D24-8B192321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48200"/>
            <a:ext cx="464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Seven later listings retain shorter available histories; none are outcome-dropped.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EA54B8-BACC-48B3-8FA9-CB10B6C8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91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64B"/>
          </a:solidFill>
          <a:ln xmlns:a="http://schemas.openxmlformats.org/drawingml/2006/main" w="0">
            <a:solidFill>
              <a:srgbClr val="24364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EF4023-0431-44C4-8591-956B8EC8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314950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Stocks and ETFs are separated before any cohort readout.</a:t>
            </a:r>
          </a:p>
        </p:txBody>
      </p:sp>
    </p:spTree>
    <p:extLst>
      <p:ext uri="{BB962C8B-B14F-4D97-AF65-F5344CB8AC3E}">
        <p14:creationId xmlns:p14="http://schemas.microsoft.com/office/powerpoint/2010/main" val="14391225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DCF1DA2-31F8-4B49-9EFC-69BEA2CC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386"/>
                </a:solidFill>
              </a:defRPr>
            </a:pPr>
            <a:r>
              <a:rPr sz="1050" b="1">
                <a:solidFill>
                  <a:srgbClr val="667386"/>
                </a:solidFill>
              </a:rPr>
              <a:t>EDGE DISCOVERY LAB · EDL-MS-01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536C3B-5E41-4D08-8840-5BED88BC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3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Breadth adds observations, but the target event stays sparse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53479B8-C1D3-469A-B582-AF895D2F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86"/>
                </a:solidFill>
              </a:defRPr>
            </a:pPr>
            <a:r>
              <a:rPr sz="1350" b="0">
                <a:solidFill>
                  <a:srgbClr val="667386"/>
                </a:solidFill>
              </a:rPr>
              <a:t>The attention cohort generates far more severe daily-low events than the balanced core.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7316E-910A-4355-B3E9-57407697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851CBFA7-35A0-4C9C-9856-E17E1B1F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Adjusted daily · 2018–2023 TRAIN · descriptive only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DBC89C9-6F29-4B1E-BB04-B1B00E27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03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08d3d8d354442"/>
          <a:stretch xmlns:a="http://schemas.openxmlformats.org/drawingml/2006/main"/>
        </p:blipFill>
        <p:spPr>
          <a:xfrm xmlns:a="http://schemas.openxmlformats.org/drawingml/2006/main">
            <a:off x="1787071" y="1524000"/>
            <a:ext cx="8617857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5463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832637B-CF6F-4592-AEB9-ECA4A8DA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386"/>
                </a:solidFill>
              </a:defRPr>
            </a:pPr>
            <a:r>
              <a:rPr sz="1050" b="1">
                <a:solidFill>
                  <a:srgbClr val="667386"/>
                </a:solidFill>
              </a:rPr>
              <a:t>EDGE DISCOVERY LAB · EDL-MS-01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09F36D-A57E-4850-BD0C-2CEB03C5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3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The 88-stock core does not reproduce the pilot's day-five hump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3D52047-7733-4813-AA2B-3B299FB4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86"/>
                </a:solidFill>
              </a:defRPr>
            </a:pPr>
            <a:r>
              <a:rPr sz="1350" b="0">
                <a:solidFill>
                  <a:srgbClr val="667386"/>
                </a:solidFill>
              </a:rPr>
              <a:t>Primary event-pooled replication: medians with event-level interquartile ribbons.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75FA3-5968-4363-AE4D-07115B29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AFF142CB-D6E7-498C-BBC0-1AB612AE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Adjusted daily · 2018–2023 TRAIN · descriptive only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2E1285E-D69B-4F8C-9194-AD625B9B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04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67ac9eb984715"/>
          <a:stretch xmlns:a="http://schemas.openxmlformats.org/drawingml/2006/main"/>
        </p:blipFill>
        <p:spPr>
          <a:xfrm xmlns:a="http://schemas.openxmlformats.org/drawingml/2006/main">
            <a:off x="1083945" y="1447800"/>
            <a:ext cx="7528560" cy="4953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09318-4296-42AF-8388-982B045E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33550"/>
            <a:ext cx="22383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E1"/>
          </a:solidFill>
          <a:ln xmlns:a="http://schemas.openxmlformats.org/drawingml/2006/main" w="0">
            <a:solidFill>
              <a:srgbClr val="F6E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FD484-9F19-413A-A1D4-E70E2907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0383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44738"/>
                </a:solidFill>
              </a:defRPr>
            </a:pPr>
            <a:r>
              <a:rPr sz="2700" b="1">
                <a:solidFill>
                  <a:srgbClr val="B44738"/>
                </a:solidFill>
              </a:rPr>
              <a:t>−0.24%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57529-0495-4720-83B6-0EF795A5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09850"/>
            <a:ext cx="185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64B"/>
                </a:solidFill>
              </a:defRPr>
            </a:pPr>
            <a:r>
              <a:rPr sz="1275" b="1">
                <a:solidFill>
                  <a:srgbClr val="24364B"/>
                </a:solidFill>
              </a:rPr>
              <a:t>triggered + strong</a:t>
            </a:r>
          </a:p>
          <a:p xmlns:a="http://schemas.openxmlformats.org/drawingml/2006/main">
            <a:pPr algn="ctr">
              <a:defRPr sz="1275" b="1">
                <a:solidFill>
                  <a:srgbClr val="24364B"/>
                </a:solidFill>
              </a:defRPr>
            </a:pPr>
            <a:r>
              <a:rPr sz="1275" b="1">
                <a:solidFill>
                  <a:srgbClr val="24364B"/>
                </a:solidFill>
              </a:rPr>
              <a:t>day-five median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01814-14E7-49AA-B74D-CC1084B3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14750"/>
            <a:ext cx="22383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A04DF-1D84-49BA-AE1F-C5F51742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4364B"/>
                </a:solidFill>
              </a:defRPr>
            </a:pPr>
            <a:r>
              <a:rPr sz="2700" b="1">
                <a:solidFill>
                  <a:srgbClr val="24364B"/>
                </a:solidFill>
              </a:rPr>
              <a:t>21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8828D-1845-425A-8237-B17F69A2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591050"/>
            <a:ext cx="185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64B"/>
                </a:solidFill>
              </a:defRPr>
            </a:pPr>
            <a:r>
              <a:rPr sz="1275" b="1">
                <a:solidFill>
                  <a:srgbClr val="24364B"/>
                </a:solidFill>
              </a:rPr>
              <a:t>events across</a:t>
            </a:r>
          </a:p>
          <a:p xmlns:a="http://schemas.openxmlformats.org/drawingml/2006/main">
            <a:pPr algn="ctr">
              <a:defRPr sz="1275" b="1">
                <a:solidFill>
                  <a:srgbClr val="24364B"/>
                </a:solidFill>
              </a:defRPr>
            </a:pPr>
            <a:r>
              <a:rPr sz="1275" b="1">
                <a:solidFill>
                  <a:srgbClr val="24364B"/>
                </a:solidFill>
              </a:rPr>
              <a:t>20 eligible symbols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283D30-D065-444D-A635-E060CF0A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69595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64B"/>
                </a:solidFill>
              </a:defRPr>
            </a:pPr>
            <a:r>
              <a:rPr sz="1125" b="1">
                <a:solidFill>
                  <a:srgbClr val="24364B"/>
                </a:solidFill>
              </a:rPr>
              <a:t>Mechanism clue: a down-then-recovery shape remains, but not the pilot median at session five.</a:t>
            </a:r>
          </a:p>
        </p:txBody>
      </p:sp>
    </p:spTree>
    <p:extLst>
      <p:ext uri="{BB962C8B-B14F-4D97-AF65-F5344CB8AC3E}">
        <p14:creationId xmlns:p14="http://schemas.microsoft.com/office/powerpoint/2010/main" val="16086874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970249D-C08E-4B9D-908B-21E05402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386"/>
                </a:solidFill>
              </a:defRPr>
            </a:pPr>
            <a:r>
              <a:rPr sz="1050" b="1">
                <a:solidFill>
                  <a:srgbClr val="667386"/>
                </a:solidFill>
              </a:rPr>
              <a:t>EDGE DISCOVERY LAB · EDL-MS-01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80962A-F521-4774-A80D-14384FA4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3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Equal-symbol weighting reveals who controls the apparent path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AE69D3A-4329-45D1-A3CF-53C6287F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86"/>
                </a:solidFill>
              </a:defRPr>
            </a:pPr>
            <a:r>
              <a:rPr sz="1350" b="0">
                <a:solidFill>
                  <a:srgbClr val="667386"/>
                </a:solidFill>
              </a:rPr>
              <a:t>Solid = event-pooled median; dashed = equal mean of within-symbol medians.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EBA86-6794-4170-8D8D-E1876A9F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9446C937-3300-4724-B0A4-809C14CE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Adjusted daily · 2018–2023 TRAIN · descriptive only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BE89D45-C495-4457-9CFA-1DAFC7C8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05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eb304fa1549c8"/>
          <a:stretch xmlns:a="http://schemas.openxmlformats.org/drawingml/2006/main"/>
        </p:blipFill>
        <p:spPr>
          <a:xfrm xmlns:a="http://schemas.openxmlformats.org/drawingml/2006/main">
            <a:off x="1179576" y="1447800"/>
            <a:ext cx="7470648" cy="4914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F7BB5-9F45-4107-9F8F-733D0441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695450"/>
            <a:ext cx="21526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C"/>
          </a:solidFill>
          <a:ln xmlns:a="http://schemas.openxmlformats.org/drawingml/2006/main" w="0">
            <a:solidFill>
              <a:srgbClr val="E2F1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3FFA2-5B4D-414D-8E5A-6FF20E7D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47875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866D"/>
                </a:solidFill>
              </a:defRPr>
            </a:pPr>
            <a:r>
              <a:rPr sz="2550" b="1">
                <a:solidFill>
                  <a:srgbClr val="14866D"/>
                </a:solidFill>
              </a:rPr>
              <a:t>+0.51%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969BF-ABF0-4020-B5F4-C24EC0E4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4795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64B"/>
                </a:solidFill>
              </a:defRPr>
            </a:pPr>
            <a:r>
              <a:rPr sz="1275" b="1">
                <a:solidFill>
                  <a:srgbClr val="24364B"/>
                </a:solidFill>
              </a:rPr>
              <a:t>core day five</a:t>
            </a:r>
          </a:p>
          <a:p xmlns:a="http://schemas.openxmlformats.org/drawingml/2006/main">
            <a:pPr algn="ctr">
              <a:defRPr sz="1275" b="1">
                <a:solidFill>
                  <a:srgbClr val="24364B"/>
                </a:solidFill>
              </a:defRPr>
            </a:pPr>
            <a:r>
              <a:rPr sz="1275" b="1">
                <a:solidFill>
                  <a:srgbClr val="24364B"/>
                </a:solidFill>
              </a:rPr>
              <a:t>equal-symbol mean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FD925-960F-4699-B673-15162745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86200"/>
            <a:ext cx="21526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4D1D4E-FFDF-43CC-A05E-68A16064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29100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957D5"/>
                </a:solidFill>
              </a:defRPr>
            </a:pPr>
            <a:r>
              <a:rPr sz="2550" b="1">
                <a:solidFill>
                  <a:srgbClr val="6957D5"/>
                </a:solidFill>
              </a:rPr>
              <a:t>47 / 68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27BCE1-A624-4772-AEE0-7E27BBD5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829175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64B"/>
                </a:solidFill>
              </a:defRPr>
            </a:pPr>
            <a:r>
              <a:rPr sz="1200" b="1">
                <a:solidFill>
                  <a:srgbClr val="24364B"/>
                </a:solidFill>
              </a:rPr>
              <a:t>all-stock target events</a:t>
            </a:r>
          </a:p>
          <a:p xmlns:a="http://schemas.openxmlformats.org/drawingml/2006/main">
            <a:pPr algn="ctr">
              <a:defRPr sz="1200" b="1">
                <a:solidFill>
                  <a:srgbClr val="24364B"/>
                </a:solidFill>
              </a:defRPr>
            </a:pPr>
            <a:r>
              <a:rPr sz="1200" b="1">
                <a:solidFill>
                  <a:srgbClr val="24364B"/>
                </a:solidFill>
              </a:rPr>
              <a:t>come from attention names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E8A48E-489A-442F-BDDD-6E5C076D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9245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364B"/>
                </a:solidFill>
              </a:defRPr>
            </a:pPr>
            <a:r>
              <a:rPr sz="1050" b="1">
                <a:solidFill>
                  <a:srgbClr val="24364B"/>
                </a:solidFill>
              </a:rPr>
              <a:t>The mild core signal is not the same phenomenon as the attention-stock hump.</a:t>
            </a:r>
          </a:p>
        </p:txBody>
      </p:sp>
    </p:spTree>
    <p:extLst>
      <p:ext uri="{BB962C8B-B14F-4D97-AF65-F5344CB8AC3E}">
        <p14:creationId xmlns:p14="http://schemas.microsoft.com/office/powerpoint/2010/main" val="2485797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FC22259-6647-4228-99ED-DFB0C256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386"/>
                </a:solidFill>
              </a:defRPr>
            </a:pPr>
            <a:r>
              <a:rPr sz="1050" b="1">
                <a:solidFill>
                  <a:srgbClr val="667386"/>
                </a:solidFill>
              </a:rPr>
              <a:t>EDGE DISCOVERY LAB · EDL-MS-01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5C1024-FA38-43F9-8D3B-5EF9FD11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3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Cohort separation matters more than the threshold label alone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DF307F3-50C5-4B50-A917-EEF824FB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86"/>
                </a:solidFill>
              </a:defRPr>
            </a:pPr>
            <a:r>
              <a:rPr sz="1350" b="0">
                <a:solidFill>
                  <a:srgbClr val="667386"/>
                </a:solidFill>
              </a:rPr>
              <a:t>Day-five and day-ten medians expose different return geometry across the same four event states.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42FE9-017E-4DF8-A1D0-E9CC43D3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A59520A7-46A3-4BDD-B587-AA9CBEFC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Adjusted daily · 2018–2023 TRAIN · descriptive only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7615EF-D754-4552-917D-9AD11A5D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06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f6bcc40ce4b70"/>
          <a:stretch xmlns:a="http://schemas.openxmlformats.org/drawingml/2006/main"/>
        </p:blipFill>
        <p:spPr>
          <a:xfrm xmlns:a="http://schemas.openxmlformats.org/drawingml/2006/main">
            <a:off x="438150" y="1457576"/>
            <a:ext cx="8858250" cy="489534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267AB-7C9F-4914-AF43-BF28FBFF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71650"/>
            <a:ext cx="21907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C"/>
          </a:solidFill>
          <a:ln xmlns:a="http://schemas.openxmlformats.org/drawingml/2006/main" w="0">
            <a:solidFill>
              <a:srgbClr val="E2F1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1C588-1574-47B6-A4A4-11E21A02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9550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866D"/>
                </a:solidFill>
              </a:defRPr>
            </a:pPr>
            <a:r>
              <a:rPr sz="2550" b="1">
                <a:solidFill>
                  <a:srgbClr val="14866D"/>
                </a:solidFill>
              </a:rPr>
              <a:t>+2.65%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F1016-C490-4432-93E7-44A4FBE1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860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64B"/>
                </a:solidFill>
              </a:defRPr>
            </a:pPr>
            <a:r>
              <a:rPr sz="1275" b="1">
                <a:solidFill>
                  <a:srgbClr val="24364B"/>
                </a:solidFill>
              </a:rPr>
              <a:t>attention-stock target</a:t>
            </a:r>
          </a:p>
          <a:p xmlns:a="http://schemas.openxmlformats.org/drawingml/2006/main">
            <a:pPr algn="ctr">
              <a:defRPr sz="1275" b="1">
                <a:solidFill>
                  <a:srgbClr val="24364B"/>
                </a:solidFill>
              </a:defRPr>
            </a:pPr>
            <a:r>
              <a:rPr sz="1275" b="1">
                <a:solidFill>
                  <a:srgbClr val="24364B"/>
                </a:solidFill>
              </a:rPr>
              <a:t>day-five median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28F5A-9C0F-4880-9D33-6A496607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52850"/>
            <a:ext cx="21907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E1"/>
          </a:solidFill>
          <a:ln xmlns:a="http://schemas.openxmlformats.org/drawingml/2006/main" w="0">
            <a:solidFill>
              <a:srgbClr val="F6E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1E059-F6F7-4828-B5DD-709C3DBD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386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44738"/>
                </a:solidFill>
              </a:defRPr>
            </a:pPr>
            <a:r>
              <a:rPr sz="1725" b="1">
                <a:solidFill>
                  <a:srgbClr val="B44738"/>
                </a:solidFill>
              </a:rPr>
              <a:t>ETF warning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A4013-BE83-428E-8E05-ECBB6CCC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76750"/>
            <a:ext cx="1847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64B"/>
                </a:solidFill>
              </a:defRPr>
            </a:pPr>
            <a:r>
              <a:rPr sz="1200" b="0">
                <a:solidFill>
                  <a:srgbClr val="24364B"/>
                </a:solidFill>
              </a:rPr>
              <a:t>Triggered + strong cells contain one event in each ETF cohort. Their ±10–20% values are examples, not cohort estimates.</a:t>
            </a:r>
          </a:p>
        </p:txBody>
      </p:sp>
    </p:spTree>
    <p:extLst>
      <p:ext uri="{BB962C8B-B14F-4D97-AF65-F5344CB8AC3E}">
        <p14:creationId xmlns:p14="http://schemas.microsoft.com/office/powerpoint/2010/main" val="19744597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D18DBBE-E379-416E-BDE6-3F17DDAA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386"/>
                </a:solidFill>
              </a:defRPr>
            </a:pPr>
            <a:r>
              <a:rPr sz="1050" b="1">
                <a:solidFill>
                  <a:srgbClr val="667386"/>
                </a:solidFill>
              </a:rPr>
              <a:t>EDGE DISCOVERY LAB · EDL-MS-01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7B9FD8-83E8-46CA-8858-6D2E0A6A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3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The wider atlas reduces one-name dependence, not calendar clustering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8891B08-95BF-43C5-B164-40B98B45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86"/>
                </a:solidFill>
              </a:defRPr>
            </a:pPr>
            <a:r>
              <a:rPr sz="1350" b="0">
                <a:solidFill>
                  <a:srgbClr val="667386"/>
                </a:solidFill>
              </a:rPr>
              <a:t>Triggered + strong events remain concentrated in attention names and stress-heavy years.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D684D-B633-4DF7-91CC-7CBD6F67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73ACCE89-BBF7-4400-8876-B70A42F7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Adjusted daily · 2018–2023 TRAIN · descriptive only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517B50-1434-43A3-A2B3-6B827895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07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e1d659bd4459d"/>
          <a:stretch xmlns:a="http://schemas.openxmlformats.org/drawingml/2006/main"/>
        </p:blipFill>
        <p:spPr>
          <a:xfrm xmlns:a="http://schemas.openxmlformats.org/drawingml/2006/main">
            <a:off x="457200" y="1498433"/>
            <a:ext cx="8572500" cy="473743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E82C0-2F34-453B-8EF9-F302F823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33550"/>
            <a:ext cx="24003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CCF71-85E4-4A6E-A992-ECC0F3D8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0383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364B"/>
                </a:solidFill>
              </a:defRPr>
            </a:pPr>
            <a:r>
              <a:rPr sz="1650" b="1">
                <a:solidFill>
                  <a:srgbClr val="24364B"/>
                </a:solidFill>
              </a:rPr>
              <a:t>AMC · MARA · CVNA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99E75-E48E-42C4-A245-52AA3949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098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64B"/>
                </a:solidFill>
              </a:defRPr>
            </a:pPr>
            <a:r>
              <a:rPr sz="1275" b="0">
                <a:solidFill>
                  <a:srgbClr val="24364B"/>
                </a:solidFill>
              </a:rPr>
              <a:t>three largest symbol</a:t>
            </a:r>
          </a:p>
          <a:p xmlns:a="http://schemas.openxmlformats.org/drawingml/2006/main">
            <a:pPr algn="ctr">
              <a:defRPr sz="1275" b="0">
                <a:solidFill>
                  <a:srgbClr val="24364B"/>
                </a:solidFill>
              </a:defRPr>
            </a:pPr>
            <a:r>
              <a:rPr sz="1275" b="0">
                <a:solidFill>
                  <a:srgbClr val="24364B"/>
                </a:solidFill>
              </a:rPr>
              <a:t>contributions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5A6DB4-B9DE-412C-BC0F-C902E92E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57600"/>
            <a:ext cx="24003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E1"/>
          </a:solidFill>
          <a:ln xmlns:a="http://schemas.openxmlformats.org/drawingml/2006/main" w="0">
            <a:solidFill>
              <a:srgbClr val="F6E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E7B28D-C8CB-4AC8-A9AF-D6D4DD22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96240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4738"/>
                </a:solidFill>
              </a:defRPr>
            </a:pPr>
            <a:r>
              <a:rPr sz="2100" b="1">
                <a:solidFill>
                  <a:srgbClr val="B44738"/>
                </a:solidFill>
              </a:rPr>
              <a:t>2020 + 2022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8AA3D-C126-445B-9D5F-9CBD31A6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5529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64B"/>
                </a:solidFill>
              </a:defRPr>
            </a:pPr>
            <a:r>
              <a:rPr sz="1275" b="0">
                <a:solidFill>
                  <a:srgbClr val="24364B"/>
                </a:solidFill>
              </a:rPr>
              <a:t>supply most target</a:t>
            </a:r>
          </a:p>
          <a:p xmlns:a="http://schemas.openxmlformats.org/drawingml/2006/main">
            <a:pPr algn="ctr">
              <a:defRPr sz="1275" b="0">
                <a:solidFill>
                  <a:srgbClr val="24364B"/>
                </a:solidFill>
              </a:defRPr>
            </a:pPr>
            <a:r>
              <a:rPr sz="1275" b="0">
                <a:solidFill>
                  <a:srgbClr val="24364B"/>
                </a:solidFill>
              </a:rPr>
              <a:t>events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ABE07-31E9-4ABA-A9F6-FF570A2B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638800"/>
            <a:ext cx="2400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64B"/>
                </a:solidFill>
              </a:defRPr>
            </a:pPr>
            <a:r>
              <a:rPr sz="1125" b="1">
                <a:solidFill>
                  <a:srgbClr val="24364B"/>
                </a:solidFill>
              </a:rPr>
              <a:t>Breadth changes the diagnosis: concentration is now a cohort-and-era question, not just AMC/CVNA.</a:t>
            </a:r>
          </a:p>
        </p:txBody>
      </p:sp>
    </p:spTree>
    <p:extLst>
      <p:ext uri="{BB962C8B-B14F-4D97-AF65-F5344CB8AC3E}">
        <p14:creationId xmlns:p14="http://schemas.microsoft.com/office/powerpoint/2010/main" val="1360847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567FD01-F2A8-443A-8E7D-D5A83214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386"/>
                </a:solidFill>
              </a:defRPr>
            </a:pPr>
            <a:r>
              <a:rPr sz="1050" b="1">
                <a:solidFill>
                  <a:srgbClr val="667386"/>
                </a:solidFill>
              </a:rPr>
              <a:t>EDGE DISCOVERY LAB · EDL-MS-01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1EB100-5A03-4153-A239-936CBC7C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3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Breadth falsifies universality and sharpens the next question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0024911-1B53-490C-A728-3918C2BC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86"/>
                </a:solidFill>
              </a:defRPr>
            </a:pPr>
            <a:r>
              <a:rPr sz="1350" b="0">
                <a:solidFill>
                  <a:srgbClr val="667386"/>
                </a:solidFill>
              </a:rPr>
              <a:t>This is a successful learning result: the visible path has a location, not yet an edge.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EB072-021F-40D6-926F-77B07C14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AB4A894F-CB82-4BAA-84D4-793B824B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Adjusted daily · 2018–2023 TRAIN · descriptive only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F55CBF-4614-4CF6-AA05-D8302F3A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D5FED-9D97-43A7-B392-CBF6066C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5334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E1"/>
          </a:solidFill>
          <a:ln xmlns:a="http://schemas.openxmlformats.org/drawingml/2006/main" w="0">
            <a:solidFill>
              <a:srgbClr val="F6E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D478A-C7B9-4D7E-B8CE-F51B94A7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4738"/>
                </a:solidFill>
              </a:defRPr>
            </a:pPr>
            <a:r>
              <a:rPr sz="1200" b="1">
                <a:solidFill>
                  <a:srgbClr val="B44738"/>
                </a:solidFill>
              </a:rPr>
              <a:t>WHAT DID NOT SURVIVE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ED7FE-B77C-4730-9ECC-7AD9F2AF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A broad Rule 201 × reclaim rebound.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3585D-AD53-4B11-9F49-2F0842AB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738"/>
          </a:solidFill>
          <a:ln xmlns:a="http://schemas.openxmlformats.org/drawingml/2006/main" w="0">
            <a:solidFill>
              <a:srgbClr val="B447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9BD4C-C092-4F29-8DD4-B0B8FE53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99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Core 88: −0.24% event-pooled median at day five.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BF21F-1EBA-4C19-8689-A54385DD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738"/>
          </a:solidFill>
          <a:ln xmlns:a="http://schemas.openxmlformats.org/drawingml/2006/main" w="0">
            <a:solidFill>
              <a:srgbClr val="B447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0EC2E-D411-47B5-AFF8-C9F62A16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Only 21 target events across 20 core symbols.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9E6A7-7ED6-4DB4-B451-21669A54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738"/>
          </a:solidFill>
          <a:ln xmlns:a="http://schemas.openxmlformats.org/drawingml/2006/main" w="0">
            <a:solidFill>
              <a:srgbClr val="B447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003E9-3208-4AB5-BC9A-05900745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148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ETF target cells are too thin to adjudicate anything.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639EE-B0C7-4AF4-9DD4-F5505468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5435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C"/>
          </a:solidFill>
          <a:ln xmlns:a="http://schemas.openxmlformats.org/drawingml/2006/main" w="0">
            <a:solidFill>
              <a:srgbClr val="E2F1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BC7622-B5AF-4A2B-814C-653E9E27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866D"/>
                </a:solidFill>
              </a:defRPr>
            </a:pPr>
            <a:r>
              <a:rPr sz="1200" b="1">
                <a:solidFill>
                  <a:srgbClr val="14866D"/>
                </a:solidFill>
              </a:rPr>
              <a:t>WHAT REMAINS INTERESTING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B28432-4D23-4BDA-8E7D-86C14090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A temporary-recovery shape in attention stocks.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9BB5F4-1218-49C7-82F2-75444435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86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solidFill>
              <a:srgbClr val="1486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46614-DF4C-4AA1-A3EB-4D34E1BD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9950"/>
            <a:ext cx="4552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Attention cohort: +2.65% median at day five, negative by day ten.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3737ED-D141-4B57-935A-70666724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71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solidFill>
              <a:srgbClr val="1486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8D84F7-CCD1-4202-BD2C-7FE969BE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55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Core equal-symbol view is mildly positive, but sparse.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6AEE78-B6D1-4D40-B746-F920AFE7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43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solidFill>
              <a:srgbClr val="1486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E37DBF-F56C-4A86-B0D6-D6FE9448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67250"/>
            <a:ext cx="4552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The mechanism now points to cohort/era conditions upstream of the rule.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2D30B3-938F-4A80-B6B4-50C2E2A9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14950"/>
            <a:ext cx="11201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64B"/>
          </a:solidFill>
          <a:ln xmlns:a="http://schemas.openxmlformats.org/drawingml/2006/main" w="0">
            <a:solidFill>
              <a:srgbClr val="2436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7DF8F1-B786-43BE-A353-54E28B52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0EDFA"/>
                </a:solidFill>
              </a:defRPr>
            </a:pPr>
            <a:r>
              <a:rPr sz="1125" b="1">
                <a:solidFill>
                  <a:srgbClr val="D0EDFA"/>
                </a:solidFill>
              </a:rPr>
              <a:t>NEXT OPERATOR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DB7E15-C082-4ADD-91C3-7A523309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864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Explain or predeclare a falsification of the attention-stock distinction—or pause the daily lane before opening intraday data.</a:t>
            </a:r>
          </a:p>
        </p:txBody>
      </p:sp>
    </p:spTree>
    <p:extLst>
      <p:ext uri="{BB962C8B-B14F-4D97-AF65-F5344CB8AC3E}">
        <p14:creationId xmlns:p14="http://schemas.microsoft.com/office/powerpoint/2010/main" val="1580079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2026-08-31T04:14:53.0990000Z</dcterms:created>
  <dcterms:modified xsi:type="dcterms:W3CDTF">2026-08-31T04:14:53.0990000Z</dcterms:modified>
</coreProperties>
</file>