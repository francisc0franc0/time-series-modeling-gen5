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e873f44d9b452b" /><Relationship Type="http://schemas.openxmlformats.org/officeDocument/2006/relationships/extended-properties" Target="/docProps/app.xml" Id="Rf696107a2965487a" /><Relationship Type="http://schemas.openxmlformats.org/officeDocument/2006/relationships/officeDocument" Target="/ppt/presentation.xml" Id="R6ec7f67a382541c4" /></Relationships>
</file>

<file path=ppt/presentation.xml><?xml version="1.0" encoding="utf-8"?>
<p:presentation xmlns:p="http://schemas.openxmlformats.org/presentationml/2006/main">
  <p:sldMasterIdLst>
    <p:sldMasterId xmlns:r="http://schemas.openxmlformats.org/officeDocument/2006/relationships" id="2147483648" r:id="Rf0543bdf29f9411c"/>
  </p:sldMasterIdLst>
  <p:notesMasterIdLst>
    <p:notesMasterId xmlns:r="http://schemas.openxmlformats.org/officeDocument/2006/relationships" r:id="R2fb892002e2a474c"/>
  </p:notesMasterIdLst>
  <p:sldIdLst>
    <p:sldId xmlns:r="http://schemas.openxmlformats.org/officeDocument/2006/relationships" id="256" r:id="R1c790087631f44e6"/>
    <p:sldId xmlns:r="http://schemas.openxmlformats.org/officeDocument/2006/relationships" id="257" r:id="R93cd3fa5040b45fa"/>
    <p:sldId xmlns:r="http://schemas.openxmlformats.org/officeDocument/2006/relationships" id="258" r:id="R0496140a6bd74455"/>
    <p:sldId xmlns:r="http://schemas.openxmlformats.org/officeDocument/2006/relationships" id="259" r:id="R1e6e8591ab0a4b15"/>
    <p:sldId xmlns:r="http://schemas.openxmlformats.org/officeDocument/2006/relationships" id="260" r:id="Ra66f3140029343fa"/>
    <p:sldId xmlns:r="http://schemas.openxmlformats.org/officeDocument/2006/relationships" id="261" r:id="R959455e24db143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6ffd03a3ee49e1" /><Relationship Type="http://schemas.openxmlformats.org/officeDocument/2006/relationships/slideMaster" Target="/ppt/slideMasters/slideMaster1.xml" Id="Rf0543bdf29f9411c" /><Relationship Type="http://schemas.openxmlformats.org/officeDocument/2006/relationships/notesMaster" Target="/ppt/notesMasters/notesMaster1.xml" Id="R2fb892002e2a474c" /><Relationship Type="http://schemas.openxmlformats.org/officeDocument/2006/relationships/presProps" Target="/ppt/presProps.xml" Id="Re700fb15ba744555" /><Relationship Type="http://schemas.openxmlformats.org/officeDocument/2006/relationships/tableStyles" Target="/ppt/tableStyles.xml" Id="R1599da9e928e4e98" /><Relationship Type="http://schemas.openxmlformats.org/officeDocument/2006/relationships/slide" Target="/ppt/slides/slide1.xml" Id="R1c790087631f44e6" /><Relationship Type="http://schemas.openxmlformats.org/officeDocument/2006/relationships/slide" Target="/ppt/slides/slide2.xml" Id="R93cd3fa5040b45fa" /><Relationship Type="http://schemas.openxmlformats.org/officeDocument/2006/relationships/slide" Target="/ppt/slides/slide3.xml" Id="R0496140a6bd74455" /><Relationship Type="http://schemas.openxmlformats.org/officeDocument/2006/relationships/slide" Target="/ppt/slides/slide4.xml" Id="R1e6e8591ab0a4b15" /><Relationship Type="http://schemas.openxmlformats.org/officeDocument/2006/relationships/slide" Target="/ppt/slides/slide5.xml" Id="Ra66f3140029343fa" /><Relationship Type="http://schemas.openxmlformats.org/officeDocument/2006/relationships/slide" Target="/ppt/slides/slide6.xml" Id="R959455e24db143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9566d1cf8742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a935ea556f4ff1" /><Relationship Type="http://schemas.openxmlformats.org/officeDocument/2006/relationships/notesMaster" Target="/ppt/notesMasters/notesMaster1.xml" Id="R897a18af98534e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a026ebe91b4132" /><Relationship Type="http://schemas.openxmlformats.org/officeDocument/2006/relationships/notesMaster" Target="/ppt/notesMasters/notesMaster1.xml" Id="R75ec3add68db46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2827abe5cb4e1d" /><Relationship Type="http://schemas.openxmlformats.org/officeDocument/2006/relationships/notesMaster" Target="/ppt/notesMasters/notesMaster1.xml" Id="R5400b15e108d41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20e6b6cb8546ef" /><Relationship Type="http://schemas.openxmlformats.org/officeDocument/2006/relationships/notesMaster" Target="/ppt/notesMasters/notesMaster1.xml" Id="R0598891acc6745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36bb701b6d406c" /><Relationship Type="http://schemas.openxmlformats.org/officeDocument/2006/relationships/notesMaster" Target="/ppt/notesMasters/notesMaster1.xml" Id="R2cdd08b98a6541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afed265ef7432f" /><Relationship Type="http://schemas.openxmlformats.org/officeDocument/2006/relationships/notesMaster" Target="/ppt/notesMasters/notesMaster1.xml" Id="R7292376e0c1244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opens the Edge Discovery Lab. The purpose is to let the operator and LLM interrogate one narrow mechanism visually before any broad statistical gate is opened.</a:t>
            </a:r>
          </a:p>
          <a:p xmlns:a="http://schemas.openxmlformats.org/drawingml/2006/main">
            <a:r>
              <a:t/>
            </a:r>
          </a:p>
          <a:p xmlns:a="http://schemas.openxmlformats.org/drawingml/2006/main">
            <a:r>
              <a:t>[Sources]</a:t>
            </a:r>
          </a:p>
          <a:p xmlns:a="http://schemas.openxmlformats.org/drawingml/2006/main">
            <a:r>
              <a:t>- SEC, Division of Trading and Markets, Responses to Frequently Asked Questions Concerning Rule 201 of Regulation SHO, https://www.sec.gov/rules-regulations/staff-guidance/trading-markets-frequently-asked-questions-7</a:t>
            </a:r>
          </a:p>
          <a:p xmlns:a="http://schemas.openxmlformats.org/drawingml/2006/main">
            <a:r>
              <a:t>- Nasdaq Trader, Short Sale Circuit Breaker, https://nasdaqtrader.com/trader.aspx?id=ShortSaleCircuitBreaker</a:t>
            </a:r>
          </a:p>
          <a:p xmlns:a="http://schemas.openxmlformats.org/drawingml/2006/main">
            <a:r>
              <a:t>- Local discovery packet: runs/research_workbench/edge_discovery_lab/edl_ms_01_rule201_reclaim_discovery_20260830/report.md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Rule 201 generally activates after a 10 percent decline from the prior close and applies for the remainder of that day and the following trading day. This study uses adjusted daily bars, so the trigger is explicitly labeled a proxy rather than official exchange status.</a:t>
            </a:r>
          </a:p>
          <a:p xmlns:a="http://schemas.openxmlformats.org/drawingml/2006/main">
            <a:r>
              <a:t/>
            </a:r>
          </a:p>
          <a:p xmlns:a="http://schemas.openxmlformats.org/drawingml/2006/main">
            <a:r>
              <a:t>[Sources]</a:t>
            </a:r>
          </a:p>
          <a:p xmlns:a="http://schemas.openxmlformats.org/drawingml/2006/main">
            <a:r>
              <a:t>- SEC, Division of Trading and Markets, Responses to Frequently Asked Questions Concerning Rule 201 of Regulation SHO, https://www.sec.gov/rules-regulations/staff-guidance/trading-markets-frequently-asked-questions-7</a:t>
            </a:r>
          </a:p>
          <a:p xmlns:a="http://schemas.openxmlformats.org/drawingml/2006/main">
            <a:r>
              <a:t>- Nasdaq Trader, Short Sale Circuit Breaker, https://nasdaqtrader.com/trader.aspx?id=ShortSaleCircuitBreaker</a:t>
            </a:r>
          </a:p>
          <a:p xmlns:a="http://schemas.openxmlformats.org/drawingml/2006/main">
            <a:r>
              <a:t>- Local discovery packet: runs/research_workbench/edge_discovery_lab/edl_ms_01_rule201_reclaim_discovery_20260830/report.md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basket is an explicit operator-style discovery surface rather than a representative atlas. The point of this slice is construction validity and visual intelligibility.</a:t>
            </a:r>
          </a:p>
          <a:p xmlns:a="http://schemas.openxmlformats.org/drawingml/2006/main">
            <a:r>
              <a:t/>
            </a:r>
          </a:p>
          <a:p xmlns:a="http://schemas.openxmlformats.org/drawingml/2006/main">
            <a:r>
              <a:t>[Sources]</a:t>
            </a:r>
          </a:p>
          <a:p xmlns:a="http://schemas.openxmlformats.org/drawingml/2006/main">
            <a:r>
              <a:t>- Local frozen run specification: runs/research_workbench/edge_discovery_lab/edl_ms_01_rule201_reclaim_discovery_20260830/run_spec.csv</a:t>
            </a:r>
          </a:p>
          <a:p xmlns:a="http://schemas.openxmlformats.org/drawingml/2006/main">
            <a:r>
              <a:t>- Local discovery packet: runs/research_workbench/edge_discovery_lab/edl_ms_01_rule201_reclaim_discovery_20260830/report.md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enough events to inspect the construction, but only 24 proxy-triggered strong-reclaim observations. The scatter does not show an obvious discontinuity in next-session returns at the negative 10 percent line.</a:t>
            </a:r>
          </a:p>
          <a:p xmlns:a="http://schemas.openxmlformats.org/drawingml/2006/main">
            <a:r>
              <a:t/>
            </a:r>
          </a:p>
          <a:p xmlns:a="http://schemas.openxmlformats.org/drawingml/2006/main">
            <a:r>
              <a:t>[Sources]</a:t>
            </a:r>
          </a:p>
          <a:p xmlns:a="http://schemas.openxmlformats.org/drawingml/2006/main">
            <a:r>
              <a:t>- Local event ledger: runs/research_workbench/edge_discovery_lab/edl_ms_01_rule201_reclaim_discovery_20260830/event_ledger.csv</a:t>
            </a:r>
          </a:p>
          <a:p xmlns:a="http://schemas.openxmlformats.org/drawingml/2006/main">
            <a:r>
              <a:t>- Local discovery packet: runs/research_workbench/edge_discovery_lab/edl_ms_01_rule201_reclaim_discovery_20260830/report.md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tapes are the first chronological example of each predeclared category, not the best or worst outcomes. Their common next-session weakness makes the immediate-rebound story less compelling, while three positive five-session outcomes motivate keeping horizon and mechanism separate in the next discussion.</a:t>
            </a:r>
          </a:p>
          <a:p xmlns:a="http://schemas.openxmlformats.org/drawingml/2006/main">
            <a:r>
              <a:t/>
            </a:r>
          </a:p>
          <a:p xmlns:a="http://schemas.openxmlformats.org/drawingml/2006/main">
            <a:r>
              <a:t>[Sources]</a:t>
            </a:r>
          </a:p>
          <a:p xmlns:a="http://schemas.openxmlformats.org/drawingml/2006/main">
            <a:r>
              <a:t>- Local deterministic tape selection: runs/research_workbench/edge_discovery_lab/edl_ms_01_rule201_reclaim_discovery_20260830/selected_event_tapes.csv</a:t>
            </a:r>
          </a:p>
          <a:p xmlns:a="http://schemas.openxmlformats.org/drawingml/2006/main">
            <a:r>
              <a:t>- Local discovery packet: runs/research_workbench/edge_discovery_lab/edl_ms_01_rule201_reclaim_discovery_20260830/report.md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successful lab slice because it creates a transparent mechanism, validated construction, and operator-facing evidence. The next research gate remains an operator decision.</a:t>
            </a:r>
          </a:p>
          <a:p xmlns:a="http://schemas.openxmlformats.org/drawingml/2006/main">
            <a:r>
              <a:t/>
            </a:r>
          </a:p>
          <a:p xmlns:a="http://schemas.openxmlformats.org/drawingml/2006/main">
            <a:r>
              <a:t>[Sources]</a:t>
            </a:r>
          </a:p>
          <a:p xmlns:a="http://schemas.openxmlformats.org/drawingml/2006/main">
            <a:r>
              <a:t>- Local discovery packet: runs/research_workbench/edge_discovery_lab/edl_ms_01_rule201_reclaim_discovery_20260830/report.md</a:t>
            </a:r>
          </a:p>
          <a:p xmlns:a="http://schemas.openxmlformats.org/drawingml/2006/main">
            <a:r>
              <a:t>- Local frozen run specification: runs/research_workbench/edge_discovery_lab/edl_ms_01_rule201_reclaim_discovery_20260830/run_spec.csv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503c2aa6f34a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52adfff3f04098" /><Relationship Type="http://schemas.openxmlformats.org/officeDocument/2006/relationships/slideLayout" Target="/ppt/slideLayouts/slideLayout1.xml" Id="R36e6639947714f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e6639947714f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2b9bf929424731" /><Relationship Type="http://schemas.openxmlformats.org/officeDocument/2006/relationships/notesSlide" Target="/ppt/notesSlides/notesSlide1.xml" Id="R1da390f56e914e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55b580dcd14cf3" /><Relationship Type="http://schemas.openxmlformats.org/officeDocument/2006/relationships/notesSlide" Target="/ppt/notesSlides/notesSlide2.xml" Id="Rf2bcf971659442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8b79af9e3c42d5" /><Relationship Type="http://schemas.openxmlformats.org/officeDocument/2006/relationships/notesSlide" Target="/ppt/notesSlides/notesSlide3.xml" Id="Re6f02afca2334b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cdff341e914309" /><Relationship Type="http://schemas.openxmlformats.org/officeDocument/2006/relationships/image" Target="/ppt/media/image.png" Id="Re0165c92731f40cc" /><Relationship Type="http://schemas.openxmlformats.org/officeDocument/2006/relationships/notesSlide" Target="/ppt/notesSlides/notesSlide4.xml" Id="Rd33707098d084a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d3de9e2d33473e" /><Relationship Type="http://schemas.openxmlformats.org/officeDocument/2006/relationships/image" Target="/ppt/media/image2.png" Id="R7ad60bc5619c4e46" /><Relationship Type="http://schemas.openxmlformats.org/officeDocument/2006/relationships/notesSlide" Target="/ppt/notesSlides/notesSlide5.xml" Id="R187b43ba6b4e4d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e3e7c532264778" /><Relationship Type="http://schemas.openxmlformats.org/officeDocument/2006/relationships/notesSlide" Target="/ppt/notesSlides/notesSlide6.xml" Id="R3955292b8f5f4fb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7A92D63-BB45-4BC3-A145-A75E32D372A9}"/>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 name="">
            <a:extLst xmlns:a="http://schemas.openxmlformats.org/drawingml/2006/main">
              <a:ext uri="{FF2B5EF4-FFF2-40B4-BE49-F238E27FC236}">
                <a16:creationId xmlns:a16="http://schemas.microsoft.com/office/drawing/2014/main" id="{4B83F399-2193-49F7-AEF5-26C47E40880F}"/>
              </a:ext>
            </a:extLst>
          </p:cNvPr>
          <p:cNvSpPr>
            <a:spLocks xmlns:a="http://schemas.openxmlformats.org/drawingml/2006/main" noGrp="1"/>
          </p:cNvSpPr>
          <p:nvPr/>
        </p:nvSpPr>
        <p:spPr>
          <a:xfrm xmlns:a="http://schemas.openxmlformats.org/drawingml/2006/main">
            <a:off x="685800" y="6858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67386"/>
                </a:solidFill>
              </a:defRPr>
            </a:pPr>
            <a:r>
              <a:rPr sz="1200" b="1">
                <a:solidFill>
                  <a:srgbClr val="667386"/>
                </a:solidFill>
              </a:rPr>
              <a:t>EDGE DISCOVERY LAB · FIRST JOINT LLM / OPERATOR CANDIDATE</a:t>
            </a:r>
          </a:p>
        </p:txBody>
      </p:sp>
      <p:sp>
        <p:nvSpPr>
          <p:cNvPr id="3" name="">
            <a:extLst xmlns:a="http://schemas.openxmlformats.org/drawingml/2006/main">
              <a:ext uri="{FF2B5EF4-FFF2-40B4-BE49-F238E27FC236}">
                <a16:creationId xmlns:a16="http://schemas.microsoft.com/office/drawing/2014/main" id="{2F48515C-1264-4CAC-859D-B3590769AF2C}"/>
              </a:ext>
            </a:extLst>
          </p:cNvPr>
          <p:cNvSpPr>
            <a:spLocks xmlns:a="http://schemas.openxmlformats.org/drawingml/2006/main" noGrp="1"/>
          </p:cNvSpPr>
          <p:nvPr/>
        </p:nvSpPr>
        <p:spPr>
          <a:xfrm xmlns:a="http://schemas.openxmlformats.org/drawingml/2006/main">
            <a:off x="685800" y="1409700"/>
            <a:ext cx="7810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850" b="1">
                <a:solidFill>
                  <a:srgbClr val="000000"/>
                </a:solidFill>
              </a:defRPr>
            </a:pPr>
            <a:r>
              <a:rPr sz="5850" b="1">
                <a:solidFill>
                  <a:srgbClr val="000000"/>
                </a:solidFill>
              </a:rPr>
              <a:t>Rule 201</a:t>
            </a:r>
          </a:p>
          <a:p xmlns:a="http://schemas.openxmlformats.org/drawingml/2006/main">
            <a:pPr algn="l">
              <a:defRPr sz="5850" b="1">
                <a:solidFill>
                  <a:srgbClr val="000000"/>
                </a:solidFill>
              </a:defRPr>
            </a:pPr>
            <a:r>
              <a:rPr sz="5850" b="1">
                <a:solidFill>
                  <a:srgbClr val="000000"/>
                </a:solidFill>
              </a:rPr>
              <a:t>Reclaim</a:t>
            </a:r>
          </a:p>
        </p:txBody>
      </p:sp>
      <p:sp>
        <p:nvSpPr>
          <p:cNvPr id="4" name="">
            <a:extLst xmlns:a="http://schemas.openxmlformats.org/drawingml/2006/main">
              <a:ext uri="{FF2B5EF4-FFF2-40B4-BE49-F238E27FC236}">
                <a16:creationId xmlns:a16="http://schemas.microsoft.com/office/drawing/2014/main" id="{FDEEF8D1-6ADD-4722-8C52-4E740F40F7C2}"/>
              </a:ext>
            </a:extLst>
          </p:cNvPr>
          <p:cNvSpPr>
            <a:spLocks xmlns:a="http://schemas.openxmlformats.org/drawingml/2006/main" noGrp="1"/>
          </p:cNvSpPr>
          <p:nvPr/>
        </p:nvSpPr>
        <p:spPr>
          <a:xfrm xmlns:a="http://schemas.openxmlformats.org/drawingml/2006/main">
            <a:off x="723900" y="35242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0">
                <a:solidFill>
                  <a:srgbClr val="24364B"/>
                </a:solidFill>
              </a:defRPr>
            </a:pPr>
            <a:r>
              <a:rPr sz="2250" b="0">
                <a:solidFill>
                  <a:srgbClr val="24364B"/>
                </a:solidFill>
              </a:rPr>
              <a:t>A fixed market-structure threshold meets same-day price recovery.</a:t>
            </a:r>
          </a:p>
        </p:txBody>
      </p:sp>
      <p:sp>
        <p:nvSpPr>
          <p:cNvPr id="5" name="">
            <a:extLst xmlns:a="http://schemas.openxmlformats.org/drawingml/2006/main">
              <a:ext uri="{FF2B5EF4-FFF2-40B4-BE49-F238E27FC236}">
                <a16:creationId xmlns:a16="http://schemas.microsoft.com/office/drawing/2014/main" id="{95FF5FCE-10FA-42CD-B053-B3523A3D9932}"/>
              </a:ext>
            </a:extLst>
          </p:cNvPr>
          <p:cNvSpPr>
            <a:spLocks xmlns:a="http://schemas.openxmlformats.org/drawingml/2006/main" noGrp="1"/>
          </p:cNvSpPr>
          <p:nvPr/>
        </p:nvSpPr>
        <p:spPr>
          <a:xfrm xmlns:a="http://schemas.openxmlformats.org/drawingml/2006/main">
            <a:off x="8858250" y="1123950"/>
            <a:ext cx="2381250" cy="2381250"/>
          </a:xfrm>
          <a:prstGeom xmlns:a="http://schemas.openxmlformats.org/drawingml/2006/main" prst="rect">
            <a:avLst/>
          </a:prstGeom>
          <a:solidFill xmlns:a="http://schemas.openxmlformats.org/drawingml/2006/main">
            <a:srgbClr val="24364B"/>
          </a:solidFill>
          <a:ln xmlns:a="http://schemas.openxmlformats.org/drawingml/2006/main" w="0">
            <a:solidFill>
              <a:srgbClr val="24364B"/>
            </a:solidFill>
            <a:prstDash val="solid"/>
          </a:ln>
        </p:spPr>
      </p:sp>
      <p:sp>
        <p:nvSpPr>
          <p:cNvPr id="6" name="">
            <a:extLst xmlns:a="http://schemas.openxmlformats.org/drawingml/2006/main">
              <a:ext uri="{FF2B5EF4-FFF2-40B4-BE49-F238E27FC236}">
                <a16:creationId xmlns:a16="http://schemas.microsoft.com/office/drawing/2014/main" id="{AF9075F6-5213-4B79-A300-F9512E1FFAEB}"/>
              </a:ext>
            </a:extLst>
          </p:cNvPr>
          <p:cNvSpPr>
            <a:spLocks xmlns:a="http://schemas.openxmlformats.org/drawingml/2006/main" noGrp="1"/>
          </p:cNvSpPr>
          <p:nvPr/>
        </p:nvSpPr>
        <p:spPr>
          <a:xfrm xmlns:a="http://schemas.openxmlformats.org/drawingml/2006/main">
            <a:off x="8991600" y="1714500"/>
            <a:ext cx="2114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1">
                <a:solidFill>
                  <a:srgbClr val="FFFFFF"/>
                </a:solidFill>
              </a:defRPr>
            </a:pPr>
            <a:r>
              <a:rPr sz="4350" b="1">
                <a:solidFill>
                  <a:srgbClr val="FFFFFF"/>
                </a:solidFill>
              </a:rPr>
              <a:t>−10%</a:t>
            </a:r>
          </a:p>
        </p:txBody>
      </p:sp>
      <p:sp>
        <p:nvSpPr>
          <p:cNvPr id="7" name="">
            <a:extLst xmlns:a="http://schemas.openxmlformats.org/drawingml/2006/main">
              <a:ext uri="{FF2B5EF4-FFF2-40B4-BE49-F238E27FC236}">
                <a16:creationId xmlns:a16="http://schemas.microsoft.com/office/drawing/2014/main" id="{01BB48D7-9675-412A-A6A7-843E4D7AE90B}"/>
              </a:ext>
            </a:extLst>
          </p:cNvPr>
          <p:cNvSpPr>
            <a:spLocks xmlns:a="http://schemas.openxmlformats.org/drawingml/2006/main" noGrp="1"/>
          </p:cNvSpPr>
          <p:nvPr/>
        </p:nvSpPr>
        <p:spPr>
          <a:xfrm xmlns:a="http://schemas.openxmlformats.org/drawingml/2006/main">
            <a:off x="9086850" y="2628900"/>
            <a:ext cx="1924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D0EDFA"/>
                </a:solidFill>
              </a:defRPr>
            </a:pPr>
            <a:r>
              <a:rPr sz="1500" b="0">
                <a:solidFill>
                  <a:srgbClr val="D0EDFA"/>
                </a:solidFill>
              </a:rPr>
              <a:t>prior-close</a:t>
            </a:r>
          </a:p>
          <a:p xmlns:a="http://schemas.openxmlformats.org/drawingml/2006/main">
            <a:pPr algn="ctr">
              <a:defRPr sz="1500" b="0">
                <a:solidFill>
                  <a:srgbClr val="D0EDFA"/>
                </a:solidFill>
              </a:defRPr>
            </a:pPr>
            <a:r>
              <a:rPr sz="1500" b="0">
                <a:solidFill>
                  <a:srgbClr val="D0EDFA"/>
                </a:solidFill>
              </a:rPr>
              <a:t>threshold</a:t>
            </a:r>
          </a:p>
        </p:txBody>
      </p:sp>
      <p:sp>
        <p:nvSpPr>
          <p:cNvPr id="8" name="">
            <a:extLst xmlns:a="http://schemas.openxmlformats.org/drawingml/2006/main">
              <a:ext uri="{FF2B5EF4-FFF2-40B4-BE49-F238E27FC236}">
                <a16:creationId xmlns:a16="http://schemas.microsoft.com/office/drawing/2014/main" id="{D092532F-D1E9-4263-A413-B15DAA34151C}"/>
              </a:ext>
            </a:extLst>
          </p:cNvPr>
          <p:cNvSpPr>
            <a:spLocks xmlns:a="http://schemas.openxmlformats.org/drawingml/2006/main" noGrp="1"/>
          </p:cNvSpPr>
          <p:nvPr/>
        </p:nvSpPr>
        <p:spPr>
          <a:xfrm xmlns:a="http://schemas.openxmlformats.org/drawingml/2006/main">
            <a:off x="685800" y="5067300"/>
            <a:ext cx="105346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9" name="">
            <a:extLst xmlns:a="http://schemas.openxmlformats.org/drawingml/2006/main">
              <a:ext uri="{FF2B5EF4-FFF2-40B4-BE49-F238E27FC236}">
                <a16:creationId xmlns:a16="http://schemas.microsoft.com/office/drawing/2014/main" id="{74728648-766F-410A-8A03-A663A542ED6E}"/>
              </a:ext>
            </a:extLst>
          </p:cNvPr>
          <p:cNvSpPr>
            <a:spLocks xmlns:a="http://schemas.openxmlformats.org/drawingml/2006/main" noGrp="1"/>
          </p:cNvSpPr>
          <p:nvPr/>
        </p:nvSpPr>
        <p:spPr>
          <a:xfrm xmlns:a="http://schemas.openxmlformats.org/drawingml/2006/main">
            <a:off x="685800" y="53530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Discovery question</a:t>
            </a:r>
          </a:p>
        </p:txBody>
      </p:sp>
      <p:sp>
        <p:nvSpPr>
          <p:cNvPr id="10" name="">
            <a:extLst xmlns:a="http://schemas.openxmlformats.org/drawingml/2006/main">
              <a:ext uri="{FF2B5EF4-FFF2-40B4-BE49-F238E27FC236}">
                <a16:creationId xmlns:a16="http://schemas.microsoft.com/office/drawing/2014/main" id="{188D1D80-99C6-4D51-8684-B0D0F7343ECA}"/>
              </a:ext>
            </a:extLst>
          </p:cNvPr>
          <p:cNvSpPr>
            <a:spLocks xmlns:a="http://schemas.openxmlformats.org/drawingml/2006/main" noGrp="1"/>
          </p:cNvSpPr>
          <p:nvPr/>
        </p:nvSpPr>
        <p:spPr>
          <a:xfrm xmlns:a="http://schemas.openxmlformats.org/drawingml/2006/main">
            <a:off x="2857500" y="5286375"/>
            <a:ext cx="819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24364B"/>
                </a:solidFill>
              </a:defRPr>
            </a:pPr>
            <a:r>
              <a:rPr sz="1725" b="0">
                <a:solidFill>
                  <a:srgbClr val="24364B"/>
                </a:solidFill>
              </a:rPr>
              <a:t>When a volatile stock breaches a salient rule threshold but recovers before the close, does the next tradable session behave differently?</a:t>
            </a:r>
          </a:p>
        </p:txBody>
      </p:sp>
      <p:sp>
        <p:nvSpPr>
          <p:cNvPr id="11" name="">
            <a:extLst xmlns:a="http://schemas.openxmlformats.org/drawingml/2006/main">
              <a:ext uri="{FF2B5EF4-FFF2-40B4-BE49-F238E27FC236}">
                <a16:creationId xmlns:a16="http://schemas.microsoft.com/office/drawing/2014/main" id="{083062AA-2ABC-4DD1-9173-D72FAF1D04C3}"/>
              </a:ext>
            </a:extLst>
          </p:cNvPr>
          <p:cNvSpPr>
            <a:spLocks xmlns:a="http://schemas.openxmlformats.org/drawingml/2006/main" noGrp="1"/>
          </p:cNvSpPr>
          <p:nvPr/>
        </p:nvSpPr>
        <p:spPr>
          <a:xfrm xmlns:a="http://schemas.openxmlformats.org/drawingml/2006/main">
            <a:off x="685800" y="63436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B44738"/>
                </a:solidFill>
              </a:defRPr>
            </a:pPr>
            <a:r>
              <a:rPr sz="975" b="1">
                <a:solidFill>
                  <a:srgbClr val="B44738"/>
                </a:solidFill>
              </a:rPr>
              <a:t>DISCOVERY SLICE COMPLETE · NO EDGE CLAIM</a:t>
            </a:r>
          </a:p>
        </p:txBody>
      </p:sp>
    </p:spTree>
    <p:extLst>
      <p:ext uri="{BB962C8B-B14F-4D97-AF65-F5344CB8AC3E}">
        <p14:creationId xmlns:p14="http://schemas.microsoft.com/office/powerpoint/2010/main" val="5806148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D18A15E-C683-43F7-8E1B-30B956BD4EB3}"/>
              </a:ext>
            </a:extLst>
          </p:cNvPr>
          <p:cNvSpPr>
            <a:spLocks xmlns:a="http://schemas.openxmlformats.org/drawingml/2006/main" noGrp="1"/>
          </p:cNvSpPr>
          <p:nvPr/>
        </p:nvSpPr>
        <p:spPr>
          <a:xfrm xmlns:a="http://schemas.openxmlformats.org/drawingml/2006/main">
            <a:off x="457200" y="247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EDGE DISCOVERY LAB · EDL-MS-01</a:t>
            </a:r>
          </a:p>
        </p:txBody>
      </p:sp>
      <p:sp>
        <p:nvSpPr>
          <p:cNvPr id="2" name="">
            <a:extLst xmlns:a="http://schemas.openxmlformats.org/drawingml/2006/main">
              <a:ext uri="{FF2B5EF4-FFF2-40B4-BE49-F238E27FC236}">
                <a16:creationId xmlns:a16="http://schemas.microsoft.com/office/drawing/2014/main" id="{DDE0AF58-71E1-4A99-98E1-8C05B1FB9F97}"/>
              </a:ext>
            </a:extLst>
          </p:cNvPr>
          <p:cNvSpPr>
            <a:spLocks xmlns:a="http://schemas.openxmlformats.org/drawingml/2006/main" noGrp="1"/>
          </p:cNvSpPr>
          <p:nvPr/>
        </p:nvSpPr>
        <p:spPr>
          <a:xfrm xmlns:a="http://schemas.openxmlformats.org/drawingml/2006/main">
            <a:off x="4572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The candidate joins price stress to a real market-structure threshold</a:t>
            </a:r>
          </a:p>
        </p:txBody>
      </p:sp>
      <p:sp>
        <p:nvSpPr>
          <p:cNvPr id="3" name="">
            <a:extLst xmlns:a="http://schemas.openxmlformats.org/drawingml/2006/main">
              <a:ext uri="{FF2B5EF4-FFF2-40B4-BE49-F238E27FC236}">
                <a16:creationId xmlns:a16="http://schemas.microsoft.com/office/drawing/2014/main" id="{390037C0-A97B-4F23-8656-BC07B9D54F11}"/>
              </a:ext>
            </a:extLst>
          </p:cNvPr>
          <p:cNvSpPr>
            <a:spLocks xmlns:a="http://schemas.openxmlformats.org/drawingml/2006/main" noGrp="1"/>
          </p:cNvSpPr>
          <p:nvPr/>
        </p:nvSpPr>
        <p:spPr>
          <a:xfrm xmlns:a="http://schemas.openxmlformats.org/drawingml/2006/main">
            <a:off x="457200" y="12382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8E3719CA-4CA3-455E-A9F1-19717B1D1E73}"/>
              </a:ext>
            </a:extLst>
          </p:cNvPr>
          <p:cNvSpPr>
            <a:spLocks xmlns:a="http://schemas.openxmlformats.org/drawingml/2006/main" noGrp="1"/>
          </p:cNvSpPr>
          <p:nvPr/>
        </p:nvSpPr>
        <p:spPr>
          <a:xfrm xmlns:a="http://schemas.openxmlformats.org/drawingml/2006/main">
            <a:off x="457200" y="65246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Discovery slice · adjusted daily bars · 2018–2023 TRAIN only</a:t>
            </a:r>
          </a:p>
        </p:txBody>
      </p:sp>
      <p:sp>
        <p:nvSpPr>
          <p:cNvPr id="5" name="">
            <a:extLst xmlns:a="http://schemas.openxmlformats.org/drawingml/2006/main">
              <a:ext uri="{FF2B5EF4-FFF2-40B4-BE49-F238E27FC236}">
                <a16:creationId xmlns:a16="http://schemas.microsoft.com/office/drawing/2014/main" id="{6EBA0FBD-BB29-4D14-9439-B3C478C56210}"/>
              </a:ext>
            </a:extLst>
          </p:cNvPr>
          <p:cNvSpPr>
            <a:spLocks xmlns:a="http://schemas.openxmlformats.org/drawingml/2006/main" noGrp="1"/>
          </p:cNvSpPr>
          <p:nvPr/>
        </p:nvSpPr>
        <p:spPr>
          <a:xfrm xmlns:a="http://schemas.openxmlformats.org/drawingml/2006/main">
            <a:off x="10858500" y="649605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02</a:t>
            </a:r>
          </a:p>
        </p:txBody>
      </p:sp>
      <p:sp>
        <p:nvSpPr>
          <p:cNvPr id="6" name="">
            <a:extLst xmlns:a="http://schemas.openxmlformats.org/drawingml/2006/main">
              <a:ext uri="{FF2B5EF4-FFF2-40B4-BE49-F238E27FC236}">
                <a16:creationId xmlns:a16="http://schemas.microsoft.com/office/drawing/2014/main" id="{CA6FD29B-D3AE-47C1-A271-5A7A0EA8DF3F}"/>
              </a:ext>
            </a:extLst>
          </p:cNvPr>
          <p:cNvSpPr>
            <a:spLocks xmlns:a="http://schemas.openxmlformats.org/drawingml/2006/main" noGrp="1"/>
          </p:cNvSpPr>
          <p:nvPr/>
        </p:nvSpPr>
        <p:spPr>
          <a:xfrm xmlns:a="http://schemas.openxmlformats.org/drawingml/2006/main">
            <a:off x="647700" y="16954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667386"/>
                </a:solidFill>
              </a:defRPr>
            </a:pPr>
            <a:r>
              <a:rPr sz="1200" b="1">
                <a:solidFill>
                  <a:srgbClr val="667386"/>
                </a:solidFill>
              </a:rPr>
              <a:t>PRICE PATH</a:t>
            </a:r>
          </a:p>
        </p:txBody>
      </p:sp>
      <p:sp>
        <p:nvSpPr>
          <p:cNvPr id="7" name="">
            <a:extLst xmlns:a="http://schemas.openxmlformats.org/drawingml/2006/main">
              <a:ext uri="{FF2B5EF4-FFF2-40B4-BE49-F238E27FC236}">
                <a16:creationId xmlns:a16="http://schemas.microsoft.com/office/drawing/2014/main" id="{4006C880-D912-4C24-9A7F-DC1E38B43A14}"/>
              </a:ext>
            </a:extLst>
          </p:cNvPr>
          <p:cNvSpPr>
            <a:spLocks xmlns:a="http://schemas.openxmlformats.org/drawingml/2006/main" noGrp="1"/>
          </p:cNvSpPr>
          <p:nvPr/>
        </p:nvSpPr>
        <p:spPr>
          <a:xfrm xmlns:a="http://schemas.openxmlformats.org/drawingml/2006/main">
            <a:off x="685800" y="21336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defRPr>
            </a:pPr>
            <a:r>
              <a:rPr sz="1950" b="1">
                <a:solidFill>
                  <a:srgbClr val="000000"/>
                </a:solidFill>
              </a:rPr>
              <a:t>Prior close</a:t>
            </a:r>
          </a:p>
        </p:txBody>
      </p:sp>
      <p:sp>
        <p:nvSpPr>
          <p:cNvPr id="8" name="">
            <a:extLst xmlns:a="http://schemas.openxmlformats.org/drawingml/2006/main">
              <a:ext uri="{FF2B5EF4-FFF2-40B4-BE49-F238E27FC236}">
                <a16:creationId xmlns:a16="http://schemas.microsoft.com/office/drawing/2014/main" id="{491B5557-07FF-48D7-97C1-4FC3BAFFEDDD}"/>
              </a:ext>
            </a:extLst>
          </p:cNvPr>
          <p:cNvSpPr>
            <a:spLocks xmlns:a="http://schemas.openxmlformats.org/drawingml/2006/main" noGrp="1"/>
          </p:cNvSpPr>
          <p:nvPr/>
        </p:nvSpPr>
        <p:spPr>
          <a:xfrm xmlns:a="http://schemas.openxmlformats.org/drawingml/2006/main">
            <a:off x="2171700" y="2266950"/>
            <a:ext cx="1200150" cy="38100"/>
          </a:xfrm>
          <a:prstGeom xmlns:a="http://schemas.openxmlformats.org/drawingml/2006/main" prst="rect">
            <a:avLst/>
          </a:prstGeom>
          <a:solidFill xmlns:a="http://schemas.openxmlformats.org/drawingml/2006/main">
            <a:srgbClr val="24364B"/>
          </a:solidFill>
          <a:ln xmlns:a="http://schemas.openxmlformats.org/drawingml/2006/main" w="0">
            <a:solidFill>
              <a:srgbClr val="24364B"/>
            </a:solidFill>
            <a:prstDash val="solid"/>
          </a:ln>
        </p:spPr>
      </p:sp>
      <p:sp>
        <p:nvSpPr>
          <p:cNvPr id="9" name="">
            <a:extLst xmlns:a="http://schemas.openxmlformats.org/drawingml/2006/main">
              <a:ext uri="{FF2B5EF4-FFF2-40B4-BE49-F238E27FC236}">
                <a16:creationId xmlns:a16="http://schemas.microsoft.com/office/drawing/2014/main" id="{53EF3F3A-3F40-46F4-82ED-D5DC30BD3E94}"/>
              </a:ext>
            </a:extLst>
          </p:cNvPr>
          <p:cNvSpPr>
            <a:spLocks xmlns:a="http://schemas.openxmlformats.org/drawingml/2006/main" noGrp="1"/>
          </p:cNvSpPr>
          <p:nvPr/>
        </p:nvSpPr>
        <p:spPr>
          <a:xfrm xmlns:a="http://schemas.openxmlformats.org/drawingml/2006/main">
            <a:off x="3600450" y="1924050"/>
            <a:ext cx="180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B44738"/>
                </a:solidFill>
              </a:defRPr>
            </a:pPr>
            <a:r>
              <a:rPr sz="1950" b="1">
                <a:solidFill>
                  <a:srgbClr val="B44738"/>
                </a:solidFill>
              </a:rPr>
              <a:t>Intraday low</a:t>
            </a:r>
          </a:p>
          <a:p xmlns:a="http://schemas.openxmlformats.org/drawingml/2006/main">
            <a:pPr algn="ctr">
              <a:defRPr sz="1950" b="1">
                <a:solidFill>
                  <a:srgbClr val="B44738"/>
                </a:solidFill>
              </a:defRPr>
            </a:pPr>
            <a:r>
              <a:rPr sz="1950" b="1">
                <a:solidFill>
                  <a:srgbClr val="B44738"/>
                </a:solidFill>
              </a:rPr>
              <a:t>≤ −10%</a:t>
            </a:r>
          </a:p>
        </p:txBody>
      </p:sp>
      <p:sp>
        <p:nvSpPr>
          <p:cNvPr id="10" name="">
            <a:extLst xmlns:a="http://schemas.openxmlformats.org/drawingml/2006/main">
              <a:ext uri="{FF2B5EF4-FFF2-40B4-BE49-F238E27FC236}">
                <a16:creationId xmlns:a16="http://schemas.microsoft.com/office/drawing/2014/main" id="{227C4424-0DEC-4491-86E7-FD385836B2A0}"/>
              </a:ext>
            </a:extLst>
          </p:cNvPr>
          <p:cNvSpPr>
            <a:spLocks xmlns:a="http://schemas.openxmlformats.org/drawingml/2006/main" noGrp="1"/>
          </p:cNvSpPr>
          <p:nvPr/>
        </p:nvSpPr>
        <p:spPr>
          <a:xfrm xmlns:a="http://schemas.openxmlformats.org/drawingml/2006/main">
            <a:off x="5353050" y="2266950"/>
            <a:ext cx="1200150" cy="38100"/>
          </a:xfrm>
          <a:prstGeom xmlns:a="http://schemas.openxmlformats.org/drawingml/2006/main" prst="rect">
            <a:avLst/>
          </a:prstGeom>
          <a:solidFill xmlns:a="http://schemas.openxmlformats.org/drawingml/2006/main">
            <a:srgbClr val="24364B"/>
          </a:solidFill>
          <a:ln xmlns:a="http://schemas.openxmlformats.org/drawingml/2006/main" w="0">
            <a:solidFill>
              <a:srgbClr val="24364B"/>
            </a:solidFill>
            <a:prstDash val="solid"/>
          </a:ln>
        </p:spPr>
      </p:sp>
      <p:sp>
        <p:nvSpPr>
          <p:cNvPr id="11" name="">
            <a:extLst xmlns:a="http://schemas.openxmlformats.org/drawingml/2006/main">
              <a:ext uri="{FF2B5EF4-FFF2-40B4-BE49-F238E27FC236}">
                <a16:creationId xmlns:a16="http://schemas.microsoft.com/office/drawing/2014/main" id="{A8C9E369-DD9B-42F8-AE0D-01188CC81374}"/>
              </a:ext>
            </a:extLst>
          </p:cNvPr>
          <p:cNvSpPr>
            <a:spLocks xmlns:a="http://schemas.openxmlformats.org/drawingml/2006/main" noGrp="1"/>
          </p:cNvSpPr>
          <p:nvPr/>
        </p:nvSpPr>
        <p:spPr>
          <a:xfrm xmlns:a="http://schemas.openxmlformats.org/drawingml/2006/main">
            <a:off x="6705600" y="192405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4866D"/>
                </a:solidFill>
              </a:defRPr>
            </a:pPr>
            <a:r>
              <a:rPr sz="1950" b="1">
                <a:solidFill>
                  <a:srgbClr val="14866D"/>
                </a:solidFill>
              </a:rPr>
              <a:t>Close-location</a:t>
            </a:r>
          </a:p>
          <a:p xmlns:a="http://schemas.openxmlformats.org/drawingml/2006/main">
            <a:pPr algn="ctr">
              <a:defRPr sz="1950" b="1">
                <a:solidFill>
                  <a:srgbClr val="14866D"/>
                </a:solidFill>
              </a:defRPr>
            </a:pPr>
            <a:r>
              <a:rPr sz="1950" b="1">
                <a:solidFill>
                  <a:srgbClr val="14866D"/>
                </a:solidFill>
              </a:rPr>
              <a:t>value</a:t>
            </a:r>
          </a:p>
        </p:txBody>
      </p:sp>
      <p:sp>
        <p:nvSpPr>
          <p:cNvPr id="12" name="">
            <a:extLst xmlns:a="http://schemas.openxmlformats.org/drawingml/2006/main">
              <a:ext uri="{FF2B5EF4-FFF2-40B4-BE49-F238E27FC236}">
                <a16:creationId xmlns:a16="http://schemas.microsoft.com/office/drawing/2014/main" id="{3AD2E78C-7D97-473E-8A23-C0F6AD2360A9}"/>
              </a:ext>
            </a:extLst>
          </p:cNvPr>
          <p:cNvSpPr>
            <a:spLocks xmlns:a="http://schemas.openxmlformats.org/drawingml/2006/main" noGrp="1"/>
          </p:cNvSpPr>
          <p:nvPr/>
        </p:nvSpPr>
        <p:spPr>
          <a:xfrm xmlns:a="http://schemas.openxmlformats.org/drawingml/2006/main">
            <a:off x="8648700" y="2266950"/>
            <a:ext cx="1200150" cy="38100"/>
          </a:xfrm>
          <a:prstGeom xmlns:a="http://schemas.openxmlformats.org/drawingml/2006/main" prst="rect">
            <a:avLst/>
          </a:prstGeom>
          <a:solidFill xmlns:a="http://schemas.openxmlformats.org/drawingml/2006/main">
            <a:srgbClr val="24364B"/>
          </a:solidFill>
          <a:ln xmlns:a="http://schemas.openxmlformats.org/drawingml/2006/main" w="0">
            <a:solidFill>
              <a:srgbClr val="24364B"/>
            </a:solidFill>
            <a:prstDash val="solid"/>
          </a:ln>
        </p:spPr>
      </p:sp>
      <p:sp>
        <p:nvSpPr>
          <p:cNvPr id="13" name="">
            <a:extLst xmlns:a="http://schemas.openxmlformats.org/drawingml/2006/main">
              <a:ext uri="{FF2B5EF4-FFF2-40B4-BE49-F238E27FC236}">
                <a16:creationId xmlns:a16="http://schemas.microsoft.com/office/drawing/2014/main" id="{94DF0080-822F-4792-8866-4424A33E522E}"/>
              </a:ext>
            </a:extLst>
          </p:cNvPr>
          <p:cNvSpPr>
            <a:spLocks xmlns:a="http://schemas.openxmlformats.org/drawingml/2006/main" noGrp="1"/>
          </p:cNvSpPr>
          <p:nvPr/>
        </p:nvSpPr>
        <p:spPr>
          <a:xfrm xmlns:a="http://schemas.openxmlformats.org/drawingml/2006/main">
            <a:off x="9982200" y="192405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00000"/>
                </a:solidFill>
              </a:defRPr>
            </a:pPr>
            <a:r>
              <a:rPr sz="1800" b="1">
                <a:solidFill>
                  <a:srgbClr val="000000"/>
                </a:solidFill>
              </a:rPr>
              <a:t>Next open</a:t>
            </a:r>
          </a:p>
          <a:p xmlns:a="http://schemas.openxmlformats.org/drawingml/2006/main">
            <a:pPr algn="ctr">
              <a:defRPr sz="1800" b="1">
                <a:solidFill>
                  <a:srgbClr val="000000"/>
                </a:solidFill>
              </a:defRPr>
            </a:pPr>
            <a:r>
              <a:rPr sz="1800" b="1">
                <a:solidFill>
                  <a:srgbClr val="000000"/>
                </a:solidFill>
              </a:rPr>
              <a:t>is tradable</a:t>
            </a:r>
          </a:p>
        </p:txBody>
      </p:sp>
      <p:sp>
        <p:nvSpPr>
          <p:cNvPr id="14" name="">
            <a:extLst xmlns:a="http://schemas.openxmlformats.org/drawingml/2006/main">
              <a:ext uri="{FF2B5EF4-FFF2-40B4-BE49-F238E27FC236}">
                <a16:creationId xmlns:a16="http://schemas.microsoft.com/office/drawing/2014/main" id="{B175ABE2-9090-4C2B-9192-A503A8CFCFFB}"/>
              </a:ext>
            </a:extLst>
          </p:cNvPr>
          <p:cNvSpPr>
            <a:spLocks xmlns:a="http://schemas.openxmlformats.org/drawingml/2006/main" noGrp="1"/>
          </p:cNvSpPr>
          <p:nvPr/>
        </p:nvSpPr>
        <p:spPr>
          <a:xfrm xmlns:a="http://schemas.openxmlformats.org/drawingml/2006/main">
            <a:off x="609600" y="3105150"/>
            <a:ext cx="5219700" cy="2381250"/>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15" name="">
            <a:extLst xmlns:a="http://schemas.openxmlformats.org/drawingml/2006/main">
              <a:ext uri="{FF2B5EF4-FFF2-40B4-BE49-F238E27FC236}">
                <a16:creationId xmlns:a16="http://schemas.microsoft.com/office/drawing/2014/main" id="{526E87D0-F9F1-443B-B5D4-F202FC57E615}"/>
              </a:ext>
            </a:extLst>
          </p:cNvPr>
          <p:cNvSpPr>
            <a:spLocks xmlns:a="http://schemas.openxmlformats.org/drawingml/2006/main" noGrp="1"/>
          </p:cNvSpPr>
          <p:nvPr/>
        </p:nvSpPr>
        <p:spPr>
          <a:xfrm xmlns:a="http://schemas.openxmlformats.org/drawingml/2006/main">
            <a:off x="876300" y="33718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4364B"/>
                </a:solidFill>
              </a:defRPr>
            </a:pPr>
            <a:r>
              <a:rPr sz="2025" b="1">
                <a:solidFill>
                  <a:srgbClr val="24364B"/>
                </a:solidFill>
              </a:rPr>
              <a:t>What Rule 201 contributes</a:t>
            </a:r>
          </a:p>
        </p:txBody>
      </p:sp>
      <p:sp>
        <p:nvSpPr>
          <p:cNvPr id="16" name="">
            <a:extLst xmlns:a="http://schemas.openxmlformats.org/drawingml/2006/main">
              <a:ext uri="{FF2B5EF4-FFF2-40B4-BE49-F238E27FC236}">
                <a16:creationId xmlns:a16="http://schemas.microsoft.com/office/drawing/2014/main" id="{5B514C3C-585E-4975-A41F-499BED2C3978}"/>
              </a:ext>
            </a:extLst>
          </p:cNvPr>
          <p:cNvSpPr>
            <a:spLocks xmlns:a="http://schemas.openxmlformats.org/drawingml/2006/main" noGrp="1"/>
          </p:cNvSpPr>
          <p:nvPr/>
        </p:nvSpPr>
        <p:spPr>
          <a:xfrm xmlns:a="http://schemas.openxmlformats.org/drawingml/2006/main">
            <a:off x="895350" y="4019550"/>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0A36B185-A5E3-4E2D-8EBD-969069ECF85F}"/>
              </a:ext>
            </a:extLst>
          </p:cNvPr>
          <p:cNvSpPr>
            <a:spLocks xmlns:a="http://schemas.openxmlformats.org/drawingml/2006/main" noGrp="1"/>
          </p:cNvSpPr>
          <p:nvPr/>
        </p:nvSpPr>
        <p:spPr>
          <a:xfrm xmlns:a="http://schemas.openxmlformats.org/drawingml/2006/main">
            <a:off x="1123950" y="3943350"/>
            <a:ext cx="430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A fixed threshold anchored to the prior close—not a fitted indicator.</a:t>
            </a:r>
          </a:p>
        </p:txBody>
      </p:sp>
      <p:sp>
        <p:nvSpPr>
          <p:cNvPr id="18" name="">
            <a:extLst xmlns:a="http://schemas.openxmlformats.org/drawingml/2006/main">
              <a:ext uri="{FF2B5EF4-FFF2-40B4-BE49-F238E27FC236}">
                <a16:creationId xmlns:a16="http://schemas.microsoft.com/office/drawing/2014/main" id="{AC86866F-B949-4540-8573-8374A7DB08F7}"/>
              </a:ext>
            </a:extLst>
          </p:cNvPr>
          <p:cNvSpPr>
            <a:spLocks xmlns:a="http://schemas.openxmlformats.org/drawingml/2006/main" noGrp="1"/>
          </p:cNvSpPr>
          <p:nvPr/>
        </p:nvSpPr>
        <p:spPr>
          <a:xfrm xmlns:a="http://schemas.openxmlformats.org/drawingml/2006/main">
            <a:off x="895350" y="4648200"/>
            <a:ext cx="85725"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24CDC5DB-4AA3-4E75-B978-AE98D81B0917}"/>
              </a:ext>
            </a:extLst>
          </p:cNvPr>
          <p:cNvSpPr>
            <a:spLocks xmlns:a="http://schemas.openxmlformats.org/drawingml/2006/main" noGrp="1"/>
          </p:cNvSpPr>
          <p:nvPr/>
        </p:nvSpPr>
        <p:spPr>
          <a:xfrm xmlns:a="http://schemas.openxmlformats.org/drawingml/2006/main">
            <a:off x="1123950" y="4572000"/>
            <a:ext cx="430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A plausible change in the short-sale execution environment after activation.</a:t>
            </a:r>
          </a:p>
        </p:txBody>
      </p:sp>
      <p:sp>
        <p:nvSpPr>
          <p:cNvPr id="20" name="">
            <a:extLst xmlns:a="http://schemas.openxmlformats.org/drawingml/2006/main">
              <a:ext uri="{FF2B5EF4-FFF2-40B4-BE49-F238E27FC236}">
                <a16:creationId xmlns:a16="http://schemas.microsoft.com/office/drawing/2014/main" id="{57F02A05-CF90-43AD-929B-4C1E021328C4}"/>
              </a:ext>
            </a:extLst>
          </p:cNvPr>
          <p:cNvSpPr>
            <a:spLocks xmlns:a="http://schemas.openxmlformats.org/drawingml/2006/main" noGrp="1"/>
          </p:cNvSpPr>
          <p:nvPr/>
        </p:nvSpPr>
        <p:spPr>
          <a:xfrm xmlns:a="http://schemas.openxmlformats.org/drawingml/2006/main">
            <a:off x="6134100" y="3105150"/>
            <a:ext cx="5219700" cy="238125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21" name="">
            <a:extLst xmlns:a="http://schemas.openxmlformats.org/drawingml/2006/main">
              <a:ext uri="{FF2B5EF4-FFF2-40B4-BE49-F238E27FC236}">
                <a16:creationId xmlns:a16="http://schemas.microsoft.com/office/drawing/2014/main" id="{2DF78FF4-CD01-4973-99CB-273F5C7A25FA}"/>
              </a:ext>
            </a:extLst>
          </p:cNvPr>
          <p:cNvSpPr>
            <a:spLocks xmlns:a="http://schemas.openxmlformats.org/drawingml/2006/main" noGrp="1"/>
          </p:cNvSpPr>
          <p:nvPr/>
        </p:nvSpPr>
        <p:spPr>
          <a:xfrm xmlns:a="http://schemas.openxmlformats.org/drawingml/2006/main">
            <a:off x="6400800" y="33718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B44738"/>
                </a:solidFill>
              </a:defRPr>
            </a:pPr>
            <a:r>
              <a:rPr sz="2025" b="1">
                <a:solidFill>
                  <a:srgbClr val="B44738"/>
                </a:solidFill>
              </a:rPr>
              <a:t>What it does not contribute</a:t>
            </a:r>
          </a:p>
        </p:txBody>
      </p:sp>
      <p:sp>
        <p:nvSpPr>
          <p:cNvPr id="22" name="">
            <a:extLst xmlns:a="http://schemas.openxmlformats.org/drawingml/2006/main">
              <a:ext uri="{FF2B5EF4-FFF2-40B4-BE49-F238E27FC236}">
                <a16:creationId xmlns:a16="http://schemas.microsoft.com/office/drawing/2014/main" id="{2BF6C884-4313-4EC6-826E-5A609CA3B262}"/>
              </a:ext>
            </a:extLst>
          </p:cNvPr>
          <p:cNvSpPr>
            <a:spLocks xmlns:a="http://schemas.openxmlformats.org/drawingml/2006/main" noGrp="1"/>
          </p:cNvSpPr>
          <p:nvPr/>
        </p:nvSpPr>
        <p:spPr>
          <a:xfrm xmlns:a="http://schemas.openxmlformats.org/drawingml/2006/main">
            <a:off x="6419850" y="4019550"/>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23" name="">
            <a:extLst xmlns:a="http://schemas.openxmlformats.org/drawingml/2006/main">
              <a:ext uri="{FF2B5EF4-FFF2-40B4-BE49-F238E27FC236}">
                <a16:creationId xmlns:a16="http://schemas.microsoft.com/office/drawing/2014/main" id="{D2E1D91D-22BF-4465-9C08-DA6AAE3B9C5D}"/>
              </a:ext>
            </a:extLst>
          </p:cNvPr>
          <p:cNvSpPr>
            <a:spLocks xmlns:a="http://schemas.openxmlformats.org/drawingml/2006/main" noGrp="1"/>
          </p:cNvSpPr>
          <p:nvPr/>
        </p:nvSpPr>
        <p:spPr>
          <a:xfrm xmlns:a="http://schemas.openxmlformats.org/drawingml/2006/main">
            <a:off x="6648450" y="3943350"/>
            <a:ext cx="430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It is not a ban on short selling; eligible short-sale executions are price constrained.</a:t>
            </a:r>
          </a:p>
        </p:txBody>
      </p:sp>
      <p:sp>
        <p:nvSpPr>
          <p:cNvPr id="24" name="">
            <a:extLst xmlns:a="http://schemas.openxmlformats.org/drawingml/2006/main">
              <a:ext uri="{FF2B5EF4-FFF2-40B4-BE49-F238E27FC236}">
                <a16:creationId xmlns:a16="http://schemas.microsoft.com/office/drawing/2014/main" id="{C799B132-C135-4912-A76C-2E763879F224}"/>
              </a:ext>
            </a:extLst>
          </p:cNvPr>
          <p:cNvSpPr>
            <a:spLocks xmlns:a="http://schemas.openxmlformats.org/drawingml/2006/main" noGrp="1"/>
          </p:cNvSpPr>
          <p:nvPr/>
        </p:nvSpPr>
        <p:spPr>
          <a:xfrm xmlns:a="http://schemas.openxmlformats.org/drawingml/2006/main">
            <a:off x="6419850" y="4648200"/>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25" name="">
            <a:extLst xmlns:a="http://schemas.openxmlformats.org/drawingml/2006/main">
              <a:ext uri="{FF2B5EF4-FFF2-40B4-BE49-F238E27FC236}">
                <a16:creationId xmlns:a16="http://schemas.microsoft.com/office/drawing/2014/main" id="{D1661D92-D4C1-4EC6-B750-60252063CED8}"/>
              </a:ext>
            </a:extLst>
          </p:cNvPr>
          <p:cNvSpPr>
            <a:spLocks xmlns:a="http://schemas.openxmlformats.org/drawingml/2006/main" noGrp="1"/>
          </p:cNvSpPr>
          <p:nvPr/>
        </p:nvSpPr>
        <p:spPr>
          <a:xfrm xmlns:a="http://schemas.openxmlformats.org/drawingml/2006/main">
            <a:off x="6648450" y="4572000"/>
            <a:ext cx="430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4364B"/>
                </a:solidFill>
              </a:defRPr>
            </a:pPr>
            <a:r>
              <a:rPr sz="1500" b="0">
                <a:solidFill>
                  <a:srgbClr val="24364B"/>
                </a:solidFill>
              </a:rPr>
              <a:t>A daily low is only a proxy for official exchange activation status.</a:t>
            </a:r>
          </a:p>
        </p:txBody>
      </p:sp>
    </p:spTree>
    <p:extLst>
      <p:ext uri="{BB962C8B-B14F-4D97-AF65-F5344CB8AC3E}">
        <p14:creationId xmlns:p14="http://schemas.microsoft.com/office/powerpoint/2010/main" val="16057652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CDC53D8C-07A1-4E90-B0EB-71306FFBEEDD}"/>
              </a:ext>
            </a:extLst>
          </p:cNvPr>
          <p:cNvSpPr>
            <a:spLocks xmlns:a="http://schemas.openxmlformats.org/drawingml/2006/main" noGrp="1"/>
          </p:cNvSpPr>
          <p:nvPr/>
        </p:nvSpPr>
        <p:spPr>
          <a:xfrm xmlns:a="http://schemas.openxmlformats.org/drawingml/2006/main">
            <a:off x="457200" y="247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EDGE DISCOVERY LAB · EDL-MS-01</a:t>
            </a:r>
          </a:p>
        </p:txBody>
      </p:sp>
      <p:sp>
        <p:nvSpPr>
          <p:cNvPr id="2" name="">
            <a:extLst xmlns:a="http://schemas.openxmlformats.org/drawingml/2006/main">
              <a:ext uri="{FF2B5EF4-FFF2-40B4-BE49-F238E27FC236}">
                <a16:creationId xmlns:a16="http://schemas.microsoft.com/office/drawing/2014/main" id="{6236907A-20DE-4435-BA37-1DC566F1E6DD}"/>
              </a:ext>
            </a:extLst>
          </p:cNvPr>
          <p:cNvSpPr>
            <a:spLocks xmlns:a="http://schemas.openxmlformats.org/drawingml/2006/main" noGrp="1"/>
          </p:cNvSpPr>
          <p:nvPr/>
        </p:nvSpPr>
        <p:spPr>
          <a:xfrm xmlns:a="http://schemas.openxmlformats.org/drawingml/2006/main">
            <a:off x="4572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The first slice freezes a small, interpretable discovery surface</a:t>
            </a:r>
          </a:p>
        </p:txBody>
      </p:sp>
      <p:sp>
        <p:nvSpPr>
          <p:cNvPr id="3" name="">
            <a:extLst xmlns:a="http://schemas.openxmlformats.org/drawingml/2006/main">
              <a:ext uri="{FF2B5EF4-FFF2-40B4-BE49-F238E27FC236}">
                <a16:creationId xmlns:a16="http://schemas.microsoft.com/office/drawing/2014/main" id="{BBB2B4D3-27F5-4820-A9F7-72C6CD059790}"/>
              </a:ext>
            </a:extLst>
          </p:cNvPr>
          <p:cNvSpPr>
            <a:spLocks xmlns:a="http://schemas.openxmlformats.org/drawingml/2006/main" noGrp="1"/>
          </p:cNvSpPr>
          <p:nvPr/>
        </p:nvSpPr>
        <p:spPr>
          <a:xfrm xmlns:a="http://schemas.openxmlformats.org/drawingml/2006/main">
            <a:off x="457200" y="12382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AF1450E3-A906-495B-8261-EB907A7BDD35}"/>
              </a:ext>
            </a:extLst>
          </p:cNvPr>
          <p:cNvSpPr>
            <a:spLocks xmlns:a="http://schemas.openxmlformats.org/drawingml/2006/main" noGrp="1"/>
          </p:cNvSpPr>
          <p:nvPr/>
        </p:nvSpPr>
        <p:spPr>
          <a:xfrm xmlns:a="http://schemas.openxmlformats.org/drawingml/2006/main">
            <a:off x="457200" y="65246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Discovery slice · adjusted daily bars · 2018–2023 TRAIN only</a:t>
            </a:r>
          </a:p>
        </p:txBody>
      </p:sp>
      <p:sp>
        <p:nvSpPr>
          <p:cNvPr id="5" name="">
            <a:extLst xmlns:a="http://schemas.openxmlformats.org/drawingml/2006/main">
              <a:ext uri="{FF2B5EF4-FFF2-40B4-BE49-F238E27FC236}">
                <a16:creationId xmlns:a16="http://schemas.microsoft.com/office/drawing/2014/main" id="{7538FFAD-91A3-48DC-8381-F8D34965C14A}"/>
              </a:ext>
            </a:extLst>
          </p:cNvPr>
          <p:cNvSpPr>
            <a:spLocks xmlns:a="http://schemas.openxmlformats.org/drawingml/2006/main" noGrp="1"/>
          </p:cNvSpPr>
          <p:nvPr/>
        </p:nvSpPr>
        <p:spPr>
          <a:xfrm xmlns:a="http://schemas.openxmlformats.org/drawingml/2006/main">
            <a:off x="10858500" y="649605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03</a:t>
            </a:r>
          </a:p>
        </p:txBody>
      </p:sp>
      <p:sp>
        <p:nvSpPr>
          <p:cNvPr id="6" name="">
            <a:extLst xmlns:a="http://schemas.openxmlformats.org/drawingml/2006/main">
              <a:ext uri="{FF2B5EF4-FFF2-40B4-BE49-F238E27FC236}">
                <a16:creationId xmlns:a16="http://schemas.microsoft.com/office/drawing/2014/main" id="{CAD046BF-A263-4BA6-B556-98D450C17872}"/>
              </a:ext>
            </a:extLst>
          </p:cNvPr>
          <p:cNvSpPr>
            <a:spLocks xmlns:a="http://schemas.openxmlformats.org/drawingml/2006/main" noGrp="1"/>
          </p:cNvSpPr>
          <p:nvPr/>
        </p:nvSpPr>
        <p:spPr>
          <a:xfrm xmlns:a="http://schemas.openxmlformats.org/drawingml/2006/main">
            <a:off x="552450" y="171450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7" name="">
            <a:extLst xmlns:a="http://schemas.openxmlformats.org/drawingml/2006/main">
              <a:ext uri="{FF2B5EF4-FFF2-40B4-BE49-F238E27FC236}">
                <a16:creationId xmlns:a16="http://schemas.microsoft.com/office/drawing/2014/main" id="{C7E39437-E502-435B-8FBD-85744FD87EFA}"/>
              </a:ext>
            </a:extLst>
          </p:cNvPr>
          <p:cNvSpPr>
            <a:spLocks xmlns:a="http://schemas.openxmlformats.org/drawingml/2006/main" noGrp="1"/>
          </p:cNvSpPr>
          <p:nvPr/>
        </p:nvSpPr>
        <p:spPr>
          <a:xfrm xmlns:a="http://schemas.openxmlformats.org/drawingml/2006/main">
            <a:off x="552450" y="1714500"/>
            <a:ext cx="76200" cy="1200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59810143-8E56-4175-A53D-967E97E31637}"/>
              </a:ext>
            </a:extLst>
          </p:cNvPr>
          <p:cNvSpPr>
            <a:spLocks xmlns:a="http://schemas.openxmlformats.org/drawingml/2006/main" noGrp="1"/>
          </p:cNvSpPr>
          <p:nvPr/>
        </p:nvSpPr>
        <p:spPr>
          <a:xfrm xmlns:a="http://schemas.openxmlformats.org/drawingml/2006/main">
            <a:off x="781050" y="18669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defRPr>
            </a:pPr>
            <a:r>
              <a:rPr sz="2550" b="1">
                <a:solidFill>
                  <a:srgbClr val="000000"/>
                </a:solidFill>
              </a:rPr>
              <a:t>10</a:t>
            </a:r>
          </a:p>
        </p:txBody>
      </p:sp>
      <p:sp>
        <p:nvSpPr>
          <p:cNvPr id="9" name="">
            <a:extLst xmlns:a="http://schemas.openxmlformats.org/drawingml/2006/main">
              <a:ext uri="{FF2B5EF4-FFF2-40B4-BE49-F238E27FC236}">
                <a16:creationId xmlns:a16="http://schemas.microsoft.com/office/drawing/2014/main" id="{56C5B5DC-6606-422C-BC4E-D05E3B62BA63}"/>
              </a:ext>
            </a:extLst>
          </p:cNvPr>
          <p:cNvSpPr>
            <a:spLocks xmlns:a="http://schemas.openxmlformats.org/drawingml/2006/main" noGrp="1"/>
          </p:cNvSpPr>
          <p:nvPr/>
        </p:nvSpPr>
        <p:spPr>
          <a:xfrm xmlns:a="http://schemas.openxmlformats.org/drawingml/2006/main">
            <a:off x="781050" y="2343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volatile equities</a:t>
            </a:r>
          </a:p>
        </p:txBody>
      </p:sp>
      <p:sp>
        <p:nvSpPr>
          <p:cNvPr id="10" name="">
            <a:extLst xmlns:a="http://schemas.openxmlformats.org/drawingml/2006/main">
              <a:ext uri="{FF2B5EF4-FFF2-40B4-BE49-F238E27FC236}">
                <a16:creationId xmlns:a16="http://schemas.microsoft.com/office/drawing/2014/main" id="{AF314F8B-E109-4DE9-BEF2-75141AF5DE0A}"/>
              </a:ext>
            </a:extLst>
          </p:cNvPr>
          <p:cNvSpPr>
            <a:spLocks xmlns:a="http://schemas.openxmlformats.org/drawingml/2006/main" noGrp="1"/>
          </p:cNvSpPr>
          <p:nvPr/>
        </p:nvSpPr>
        <p:spPr>
          <a:xfrm xmlns:a="http://schemas.openxmlformats.org/drawingml/2006/main">
            <a:off x="781050" y="2609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TSLA, AMD, NVDA, GME, AMC…</a:t>
            </a:r>
          </a:p>
        </p:txBody>
      </p:sp>
      <p:sp>
        <p:nvSpPr>
          <p:cNvPr id="11" name="">
            <a:extLst xmlns:a="http://schemas.openxmlformats.org/drawingml/2006/main">
              <a:ext uri="{FF2B5EF4-FFF2-40B4-BE49-F238E27FC236}">
                <a16:creationId xmlns:a16="http://schemas.microsoft.com/office/drawing/2014/main" id="{DB6C9CBC-A44E-41F7-A670-F794A49DD19E}"/>
              </a:ext>
            </a:extLst>
          </p:cNvPr>
          <p:cNvSpPr>
            <a:spLocks xmlns:a="http://schemas.openxmlformats.org/drawingml/2006/main" noGrp="1"/>
          </p:cNvSpPr>
          <p:nvPr/>
        </p:nvSpPr>
        <p:spPr>
          <a:xfrm xmlns:a="http://schemas.openxmlformats.org/drawingml/2006/main">
            <a:off x="3295650" y="171450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2" name="">
            <a:extLst xmlns:a="http://schemas.openxmlformats.org/drawingml/2006/main">
              <a:ext uri="{FF2B5EF4-FFF2-40B4-BE49-F238E27FC236}">
                <a16:creationId xmlns:a16="http://schemas.microsoft.com/office/drawing/2014/main" id="{BB2C8578-F7B8-4BDA-B72F-C7D867AEA351}"/>
              </a:ext>
            </a:extLst>
          </p:cNvPr>
          <p:cNvSpPr>
            <a:spLocks xmlns:a="http://schemas.openxmlformats.org/drawingml/2006/main" noGrp="1"/>
          </p:cNvSpPr>
          <p:nvPr/>
        </p:nvSpPr>
        <p:spPr>
          <a:xfrm xmlns:a="http://schemas.openxmlformats.org/drawingml/2006/main">
            <a:off x="3295650" y="1714500"/>
            <a:ext cx="76200" cy="1200150"/>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3" name="">
            <a:extLst xmlns:a="http://schemas.openxmlformats.org/drawingml/2006/main">
              <a:ext uri="{FF2B5EF4-FFF2-40B4-BE49-F238E27FC236}">
                <a16:creationId xmlns:a16="http://schemas.microsoft.com/office/drawing/2014/main" id="{90D687B2-D22F-4F27-A0F3-0D09AD3C477E}"/>
              </a:ext>
            </a:extLst>
          </p:cNvPr>
          <p:cNvSpPr>
            <a:spLocks xmlns:a="http://schemas.openxmlformats.org/drawingml/2006/main" noGrp="1"/>
          </p:cNvSpPr>
          <p:nvPr/>
        </p:nvSpPr>
        <p:spPr>
          <a:xfrm xmlns:a="http://schemas.openxmlformats.org/drawingml/2006/main">
            <a:off x="3524250" y="18669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defRPr>
            </a:pPr>
            <a:r>
              <a:rPr sz="2550" b="1">
                <a:solidFill>
                  <a:srgbClr val="000000"/>
                </a:solidFill>
              </a:rPr>
              <a:t>2018–23</a:t>
            </a:r>
          </a:p>
        </p:txBody>
      </p:sp>
      <p:sp>
        <p:nvSpPr>
          <p:cNvPr id="14" name="">
            <a:extLst xmlns:a="http://schemas.openxmlformats.org/drawingml/2006/main">
              <a:ext uri="{FF2B5EF4-FFF2-40B4-BE49-F238E27FC236}">
                <a16:creationId xmlns:a16="http://schemas.microsoft.com/office/drawing/2014/main" id="{CFD6B67A-89A9-471B-8809-57C19708C831}"/>
              </a:ext>
            </a:extLst>
          </p:cNvPr>
          <p:cNvSpPr>
            <a:spLocks xmlns:a="http://schemas.openxmlformats.org/drawingml/2006/main" noGrp="1"/>
          </p:cNvSpPr>
          <p:nvPr/>
        </p:nvSpPr>
        <p:spPr>
          <a:xfrm xmlns:a="http://schemas.openxmlformats.org/drawingml/2006/main">
            <a:off x="3524250" y="2343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TRAIN window</a:t>
            </a:r>
          </a:p>
        </p:txBody>
      </p:sp>
      <p:sp>
        <p:nvSpPr>
          <p:cNvPr id="15" name="">
            <a:extLst xmlns:a="http://schemas.openxmlformats.org/drawingml/2006/main">
              <a:ext uri="{FF2B5EF4-FFF2-40B4-BE49-F238E27FC236}">
                <a16:creationId xmlns:a16="http://schemas.microsoft.com/office/drawing/2014/main" id="{37BB96DF-73A1-49CF-A5FF-53FA045CC77A}"/>
              </a:ext>
            </a:extLst>
          </p:cNvPr>
          <p:cNvSpPr>
            <a:spLocks xmlns:a="http://schemas.openxmlformats.org/drawingml/2006/main" noGrp="1"/>
          </p:cNvSpPr>
          <p:nvPr/>
        </p:nvSpPr>
        <p:spPr>
          <a:xfrm xmlns:a="http://schemas.openxmlformats.org/drawingml/2006/main">
            <a:off x="3524250" y="2609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post-2023 remains sealed</a:t>
            </a:r>
          </a:p>
        </p:txBody>
      </p:sp>
      <p:sp>
        <p:nvSpPr>
          <p:cNvPr id="16" name="">
            <a:extLst xmlns:a="http://schemas.openxmlformats.org/drawingml/2006/main">
              <a:ext uri="{FF2B5EF4-FFF2-40B4-BE49-F238E27FC236}">
                <a16:creationId xmlns:a16="http://schemas.microsoft.com/office/drawing/2014/main" id="{9510F4AF-45C5-4988-8DA8-9867136F99FF}"/>
              </a:ext>
            </a:extLst>
          </p:cNvPr>
          <p:cNvSpPr>
            <a:spLocks xmlns:a="http://schemas.openxmlformats.org/drawingml/2006/main" noGrp="1"/>
          </p:cNvSpPr>
          <p:nvPr/>
        </p:nvSpPr>
        <p:spPr>
          <a:xfrm xmlns:a="http://schemas.openxmlformats.org/drawingml/2006/main">
            <a:off x="6038850" y="171450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7" name="">
            <a:extLst xmlns:a="http://schemas.openxmlformats.org/drawingml/2006/main">
              <a:ext uri="{FF2B5EF4-FFF2-40B4-BE49-F238E27FC236}">
                <a16:creationId xmlns:a16="http://schemas.microsoft.com/office/drawing/2014/main" id="{E3DA1D9C-1BCE-47B1-8D9E-A0C919560A1A}"/>
              </a:ext>
            </a:extLst>
          </p:cNvPr>
          <p:cNvSpPr>
            <a:spLocks xmlns:a="http://schemas.openxmlformats.org/drawingml/2006/main" noGrp="1"/>
          </p:cNvSpPr>
          <p:nvPr/>
        </p:nvSpPr>
        <p:spPr>
          <a:xfrm xmlns:a="http://schemas.openxmlformats.org/drawingml/2006/main">
            <a:off x="6038850" y="1714500"/>
            <a:ext cx="76200" cy="1200150"/>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8" name="">
            <a:extLst xmlns:a="http://schemas.openxmlformats.org/drawingml/2006/main">
              <a:ext uri="{FF2B5EF4-FFF2-40B4-BE49-F238E27FC236}">
                <a16:creationId xmlns:a16="http://schemas.microsoft.com/office/drawing/2014/main" id="{8AC7A3C3-1638-4D59-B0E4-CE1F66B03FA7}"/>
              </a:ext>
            </a:extLst>
          </p:cNvPr>
          <p:cNvSpPr>
            <a:spLocks xmlns:a="http://schemas.openxmlformats.org/drawingml/2006/main" noGrp="1"/>
          </p:cNvSpPr>
          <p:nvPr/>
        </p:nvSpPr>
        <p:spPr>
          <a:xfrm xmlns:a="http://schemas.openxmlformats.org/drawingml/2006/main">
            <a:off x="6267450" y="18669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defRPr>
            </a:pPr>
            <a:r>
              <a:rPr sz="2550" b="1">
                <a:solidFill>
                  <a:srgbClr val="000000"/>
                </a:solidFill>
              </a:rPr>
              <a:t>−12%…−8%</a:t>
            </a:r>
          </a:p>
        </p:txBody>
      </p:sp>
      <p:sp>
        <p:nvSpPr>
          <p:cNvPr id="19" name="">
            <a:extLst xmlns:a="http://schemas.openxmlformats.org/drawingml/2006/main">
              <a:ext uri="{FF2B5EF4-FFF2-40B4-BE49-F238E27FC236}">
                <a16:creationId xmlns:a16="http://schemas.microsoft.com/office/drawing/2014/main" id="{78B437AE-A986-4B5F-8DA8-AF89216B1F02}"/>
              </a:ext>
            </a:extLst>
          </p:cNvPr>
          <p:cNvSpPr>
            <a:spLocks xmlns:a="http://schemas.openxmlformats.org/drawingml/2006/main" noGrp="1"/>
          </p:cNvSpPr>
          <p:nvPr/>
        </p:nvSpPr>
        <p:spPr>
          <a:xfrm xmlns:a="http://schemas.openxmlformats.org/drawingml/2006/main">
            <a:off x="6267450" y="2343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visual band</a:t>
            </a:r>
          </a:p>
        </p:txBody>
      </p:sp>
      <p:sp>
        <p:nvSpPr>
          <p:cNvPr id="20" name="">
            <a:extLst xmlns:a="http://schemas.openxmlformats.org/drawingml/2006/main">
              <a:ext uri="{FF2B5EF4-FFF2-40B4-BE49-F238E27FC236}">
                <a16:creationId xmlns:a16="http://schemas.microsoft.com/office/drawing/2014/main" id="{8B46798C-7EC4-499F-825A-B5E3FC03205E}"/>
              </a:ext>
            </a:extLst>
          </p:cNvPr>
          <p:cNvSpPr>
            <a:spLocks xmlns:a="http://schemas.openxmlformats.org/drawingml/2006/main" noGrp="1"/>
          </p:cNvSpPr>
          <p:nvPr/>
        </p:nvSpPr>
        <p:spPr>
          <a:xfrm xmlns:a="http://schemas.openxmlformats.org/drawingml/2006/main">
            <a:off x="6267450" y="2609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around the −10% proxy</a:t>
            </a:r>
          </a:p>
        </p:txBody>
      </p:sp>
      <p:sp>
        <p:nvSpPr>
          <p:cNvPr id="21" name="">
            <a:extLst xmlns:a="http://schemas.openxmlformats.org/drawingml/2006/main">
              <a:ext uri="{FF2B5EF4-FFF2-40B4-BE49-F238E27FC236}">
                <a16:creationId xmlns:a16="http://schemas.microsoft.com/office/drawing/2014/main" id="{020B6657-3171-4B5B-82E2-E1F9082D910F}"/>
              </a:ext>
            </a:extLst>
          </p:cNvPr>
          <p:cNvSpPr>
            <a:spLocks xmlns:a="http://schemas.openxmlformats.org/drawingml/2006/main" noGrp="1"/>
          </p:cNvSpPr>
          <p:nvPr/>
        </p:nvSpPr>
        <p:spPr>
          <a:xfrm xmlns:a="http://schemas.openxmlformats.org/drawingml/2006/main">
            <a:off x="8782050" y="1714500"/>
            <a:ext cx="24765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22" name="">
            <a:extLst xmlns:a="http://schemas.openxmlformats.org/drawingml/2006/main">
              <a:ext uri="{FF2B5EF4-FFF2-40B4-BE49-F238E27FC236}">
                <a16:creationId xmlns:a16="http://schemas.microsoft.com/office/drawing/2014/main" id="{C27223D1-E808-4E20-AB9A-4B658D251317}"/>
              </a:ext>
            </a:extLst>
          </p:cNvPr>
          <p:cNvSpPr>
            <a:spLocks xmlns:a="http://schemas.openxmlformats.org/drawingml/2006/main" noGrp="1"/>
          </p:cNvSpPr>
          <p:nvPr/>
        </p:nvSpPr>
        <p:spPr>
          <a:xfrm xmlns:a="http://schemas.openxmlformats.org/drawingml/2006/main">
            <a:off x="8782050" y="1714500"/>
            <a:ext cx="76200" cy="1200150"/>
          </a:xfrm>
          <a:prstGeom xmlns:a="http://schemas.openxmlformats.org/drawingml/2006/main" prst="rect">
            <a:avLst/>
          </a:prstGeom>
          <a:solidFill xmlns:a="http://schemas.openxmlformats.org/drawingml/2006/main">
            <a:srgbClr val="A86B00"/>
          </a:solidFill>
          <a:ln xmlns:a="http://schemas.openxmlformats.org/drawingml/2006/main" w="0">
            <a:solidFill>
              <a:srgbClr val="A86B00"/>
            </a:solidFill>
            <a:prstDash val="solid"/>
          </a:ln>
        </p:spPr>
      </p:sp>
      <p:sp>
        <p:nvSpPr>
          <p:cNvPr id="23" name="">
            <a:extLst xmlns:a="http://schemas.openxmlformats.org/drawingml/2006/main">
              <a:ext uri="{FF2B5EF4-FFF2-40B4-BE49-F238E27FC236}">
                <a16:creationId xmlns:a16="http://schemas.microsoft.com/office/drawing/2014/main" id="{650238EF-CCC3-42E7-8E1B-8BA88B4DA415}"/>
              </a:ext>
            </a:extLst>
          </p:cNvPr>
          <p:cNvSpPr>
            <a:spLocks xmlns:a="http://schemas.openxmlformats.org/drawingml/2006/main" noGrp="1"/>
          </p:cNvSpPr>
          <p:nvPr/>
        </p:nvSpPr>
        <p:spPr>
          <a:xfrm xmlns:a="http://schemas.openxmlformats.org/drawingml/2006/main">
            <a:off x="9010650" y="18669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defRPr>
            </a:pPr>
            <a:r>
              <a:rPr sz="2550" b="1">
                <a:solidFill>
                  <a:srgbClr val="000000"/>
                </a:solidFill>
              </a:rPr>
              <a:t>1 / 3 / 5</a:t>
            </a:r>
          </a:p>
        </p:txBody>
      </p:sp>
      <p:sp>
        <p:nvSpPr>
          <p:cNvPr id="24" name="">
            <a:extLst xmlns:a="http://schemas.openxmlformats.org/drawingml/2006/main">
              <a:ext uri="{FF2B5EF4-FFF2-40B4-BE49-F238E27FC236}">
                <a16:creationId xmlns:a16="http://schemas.microsoft.com/office/drawing/2014/main" id="{7EE39794-4FD3-4439-92F6-3E1A3B378D71}"/>
              </a:ext>
            </a:extLst>
          </p:cNvPr>
          <p:cNvSpPr>
            <a:spLocks xmlns:a="http://schemas.openxmlformats.org/drawingml/2006/main" noGrp="1"/>
          </p:cNvSpPr>
          <p:nvPr/>
        </p:nvSpPr>
        <p:spPr>
          <a:xfrm xmlns:a="http://schemas.openxmlformats.org/drawingml/2006/main">
            <a:off x="9010650" y="2343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forward sessions</a:t>
            </a:r>
          </a:p>
        </p:txBody>
      </p:sp>
      <p:sp>
        <p:nvSpPr>
          <p:cNvPr id="25" name="">
            <a:extLst xmlns:a="http://schemas.openxmlformats.org/drawingml/2006/main">
              <a:ext uri="{FF2B5EF4-FFF2-40B4-BE49-F238E27FC236}">
                <a16:creationId xmlns:a16="http://schemas.microsoft.com/office/drawing/2014/main" id="{08AF45DE-2140-4A83-8AA6-EBF872B2214A}"/>
              </a:ext>
            </a:extLst>
          </p:cNvPr>
          <p:cNvSpPr>
            <a:spLocks xmlns:a="http://schemas.openxmlformats.org/drawingml/2006/main" noGrp="1"/>
          </p:cNvSpPr>
          <p:nvPr/>
        </p:nvSpPr>
        <p:spPr>
          <a:xfrm xmlns:a="http://schemas.openxmlformats.org/drawingml/2006/main">
            <a:off x="9010650" y="2609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next-open entry convention</a:t>
            </a:r>
          </a:p>
        </p:txBody>
      </p:sp>
      <p:sp>
        <p:nvSpPr>
          <p:cNvPr id="26" name="">
            <a:extLst xmlns:a="http://schemas.openxmlformats.org/drawingml/2006/main">
              <a:ext uri="{FF2B5EF4-FFF2-40B4-BE49-F238E27FC236}">
                <a16:creationId xmlns:a16="http://schemas.microsoft.com/office/drawing/2014/main" id="{6E449019-0AF0-48EB-9156-66E32BD5A4E4}"/>
              </a:ext>
            </a:extLst>
          </p:cNvPr>
          <p:cNvSpPr>
            <a:spLocks xmlns:a="http://schemas.openxmlformats.org/drawingml/2006/main" noGrp="1"/>
          </p:cNvSpPr>
          <p:nvPr/>
        </p:nvSpPr>
        <p:spPr>
          <a:xfrm xmlns:a="http://schemas.openxmlformats.org/drawingml/2006/main">
            <a:off x="609600" y="3429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4866D"/>
                </a:solidFill>
              </a:defRPr>
            </a:pPr>
            <a:r>
              <a:rPr sz="1200" b="1">
                <a:solidFill>
                  <a:srgbClr val="14866D"/>
                </a:solidFill>
              </a:rPr>
              <a:t>MEASURED NOW</a:t>
            </a:r>
          </a:p>
        </p:txBody>
      </p:sp>
      <p:sp>
        <p:nvSpPr>
          <p:cNvPr id="27" name="">
            <a:extLst xmlns:a="http://schemas.openxmlformats.org/drawingml/2006/main">
              <a:ext uri="{FF2B5EF4-FFF2-40B4-BE49-F238E27FC236}">
                <a16:creationId xmlns:a16="http://schemas.microsoft.com/office/drawing/2014/main" id="{0D75AC85-CA40-4A5C-A123-B3DE25514FFB}"/>
              </a:ext>
            </a:extLst>
          </p:cNvPr>
          <p:cNvSpPr>
            <a:spLocks xmlns:a="http://schemas.openxmlformats.org/drawingml/2006/main" noGrp="1"/>
          </p:cNvSpPr>
          <p:nvPr/>
        </p:nvSpPr>
        <p:spPr>
          <a:xfrm xmlns:a="http://schemas.openxmlformats.org/drawingml/2006/main">
            <a:off x="647700" y="3905250"/>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28" name="">
            <a:extLst xmlns:a="http://schemas.openxmlformats.org/drawingml/2006/main">
              <a:ext uri="{FF2B5EF4-FFF2-40B4-BE49-F238E27FC236}">
                <a16:creationId xmlns:a16="http://schemas.microsoft.com/office/drawing/2014/main" id="{3F45FFFB-500D-42BF-9B0D-65F4D1FBD185}"/>
              </a:ext>
            </a:extLst>
          </p:cNvPr>
          <p:cNvSpPr>
            <a:spLocks xmlns:a="http://schemas.openxmlformats.org/drawingml/2006/main" noGrp="1"/>
          </p:cNvSpPr>
          <p:nvPr/>
        </p:nvSpPr>
        <p:spPr>
          <a:xfrm xmlns:a="http://schemas.openxmlformats.org/drawingml/2006/main">
            <a:off x="876300" y="3829050"/>
            <a:ext cx="4724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Trigger proxy: daily low / prior close − 1 ≤ −10%.</a:t>
            </a:r>
          </a:p>
        </p:txBody>
      </p:sp>
      <p:sp>
        <p:nvSpPr>
          <p:cNvPr id="29" name="">
            <a:extLst xmlns:a="http://schemas.openxmlformats.org/drawingml/2006/main">
              <a:ext uri="{FF2B5EF4-FFF2-40B4-BE49-F238E27FC236}">
                <a16:creationId xmlns:a16="http://schemas.microsoft.com/office/drawing/2014/main" id="{A2CBC87C-A705-4B10-A9A8-CC9741FAFD84}"/>
              </a:ext>
            </a:extLst>
          </p:cNvPr>
          <p:cNvSpPr>
            <a:spLocks xmlns:a="http://schemas.openxmlformats.org/drawingml/2006/main" noGrp="1"/>
          </p:cNvSpPr>
          <p:nvPr/>
        </p:nvSpPr>
        <p:spPr>
          <a:xfrm xmlns:a="http://schemas.openxmlformats.org/drawingml/2006/main">
            <a:off x="647700" y="4572000"/>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30" name="">
            <a:extLst xmlns:a="http://schemas.openxmlformats.org/drawingml/2006/main">
              <a:ext uri="{FF2B5EF4-FFF2-40B4-BE49-F238E27FC236}">
                <a16:creationId xmlns:a16="http://schemas.microsoft.com/office/drawing/2014/main" id="{88074D56-E35B-4EFA-B005-A8E139929017}"/>
              </a:ext>
            </a:extLst>
          </p:cNvPr>
          <p:cNvSpPr>
            <a:spLocks xmlns:a="http://schemas.openxmlformats.org/drawingml/2006/main" noGrp="1"/>
          </p:cNvSpPr>
          <p:nvPr/>
        </p:nvSpPr>
        <p:spPr>
          <a:xfrm xmlns:a="http://schemas.openxmlformats.org/drawingml/2006/main">
            <a:off x="876300" y="4495800"/>
            <a:ext cx="4724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Reclaim strength: where the close lands inside that day’s high–low range.</a:t>
            </a:r>
          </a:p>
        </p:txBody>
      </p:sp>
      <p:sp>
        <p:nvSpPr>
          <p:cNvPr id="31" name="">
            <a:extLst xmlns:a="http://schemas.openxmlformats.org/drawingml/2006/main">
              <a:ext uri="{FF2B5EF4-FFF2-40B4-BE49-F238E27FC236}">
                <a16:creationId xmlns:a16="http://schemas.microsoft.com/office/drawing/2014/main" id="{21FCB845-018A-45BF-BD13-FBF405D633AC}"/>
              </a:ext>
            </a:extLst>
          </p:cNvPr>
          <p:cNvSpPr>
            <a:spLocks xmlns:a="http://schemas.openxmlformats.org/drawingml/2006/main" noGrp="1"/>
          </p:cNvSpPr>
          <p:nvPr/>
        </p:nvSpPr>
        <p:spPr>
          <a:xfrm xmlns:a="http://schemas.openxmlformats.org/drawingml/2006/main">
            <a:off x="647700" y="5238750"/>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32" name="">
            <a:extLst xmlns:a="http://schemas.openxmlformats.org/drawingml/2006/main">
              <a:ext uri="{FF2B5EF4-FFF2-40B4-BE49-F238E27FC236}">
                <a16:creationId xmlns:a16="http://schemas.microsoft.com/office/drawing/2014/main" id="{22FAF50A-010E-4F3C-BAFF-B18E799E1143}"/>
              </a:ext>
            </a:extLst>
          </p:cNvPr>
          <p:cNvSpPr>
            <a:spLocks xmlns:a="http://schemas.openxmlformats.org/drawingml/2006/main" noGrp="1"/>
          </p:cNvSpPr>
          <p:nvPr/>
        </p:nvSpPr>
        <p:spPr>
          <a:xfrm xmlns:a="http://schemas.openxmlformats.org/drawingml/2006/main">
            <a:off x="876300" y="5162550"/>
            <a:ext cx="4724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Context only: abnormal dollar volume versus the strictly prior 20-session median.</a:t>
            </a:r>
          </a:p>
        </p:txBody>
      </p:sp>
      <p:sp>
        <p:nvSpPr>
          <p:cNvPr id="33" name="">
            <a:extLst xmlns:a="http://schemas.openxmlformats.org/drawingml/2006/main">
              <a:ext uri="{FF2B5EF4-FFF2-40B4-BE49-F238E27FC236}">
                <a16:creationId xmlns:a16="http://schemas.microsoft.com/office/drawing/2014/main" id="{453A3898-1DA4-47C4-B010-C9065C420248}"/>
              </a:ext>
            </a:extLst>
          </p:cNvPr>
          <p:cNvSpPr>
            <a:spLocks xmlns:a="http://schemas.openxmlformats.org/drawingml/2006/main" noGrp="1"/>
          </p:cNvSpPr>
          <p:nvPr/>
        </p:nvSpPr>
        <p:spPr>
          <a:xfrm xmlns:a="http://schemas.openxmlformats.org/drawingml/2006/main">
            <a:off x="6286500" y="3429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B44738"/>
                </a:solidFill>
              </a:defRPr>
            </a:pPr>
            <a:r>
              <a:rPr sz="1200" b="1">
                <a:solidFill>
                  <a:srgbClr val="B44738"/>
                </a:solidFill>
              </a:rPr>
              <a:t>DELIBERATELY NOT OPENED</a:t>
            </a:r>
          </a:p>
        </p:txBody>
      </p:sp>
      <p:sp>
        <p:nvSpPr>
          <p:cNvPr id="34" name="">
            <a:extLst xmlns:a="http://schemas.openxmlformats.org/drawingml/2006/main">
              <a:ext uri="{FF2B5EF4-FFF2-40B4-BE49-F238E27FC236}">
                <a16:creationId xmlns:a16="http://schemas.microsoft.com/office/drawing/2014/main" id="{3D08AEBA-A6B8-4140-934D-176A7514F98C}"/>
              </a:ext>
            </a:extLst>
          </p:cNvPr>
          <p:cNvSpPr>
            <a:spLocks xmlns:a="http://schemas.openxmlformats.org/drawingml/2006/main" noGrp="1"/>
          </p:cNvSpPr>
          <p:nvPr/>
        </p:nvSpPr>
        <p:spPr>
          <a:xfrm xmlns:a="http://schemas.openxmlformats.org/drawingml/2006/main">
            <a:off x="6324600" y="3905250"/>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35" name="">
            <a:extLst xmlns:a="http://schemas.openxmlformats.org/drawingml/2006/main">
              <a:ext uri="{FF2B5EF4-FFF2-40B4-BE49-F238E27FC236}">
                <a16:creationId xmlns:a16="http://schemas.microsoft.com/office/drawing/2014/main" id="{76E3DEE1-9CA2-4940-89E9-CA7F511DE64B}"/>
              </a:ext>
            </a:extLst>
          </p:cNvPr>
          <p:cNvSpPr>
            <a:spLocks xmlns:a="http://schemas.openxmlformats.org/drawingml/2006/main" noGrp="1"/>
          </p:cNvSpPr>
          <p:nvPr/>
        </p:nvSpPr>
        <p:spPr>
          <a:xfrm xmlns:a="http://schemas.openxmlformats.org/drawingml/2006/main">
            <a:off x="6553200" y="382905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No significance tests, multiplicity gates, costs, sizing, or executable strategy.</a:t>
            </a:r>
          </a:p>
        </p:txBody>
      </p:sp>
      <p:sp>
        <p:nvSpPr>
          <p:cNvPr id="36" name="">
            <a:extLst xmlns:a="http://schemas.openxmlformats.org/drawingml/2006/main">
              <a:ext uri="{FF2B5EF4-FFF2-40B4-BE49-F238E27FC236}">
                <a16:creationId xmlns:a16="http://schemas.microsoft.com/office/drawing/2014/main" id="{6DF3ED46-BE9E-4910-A12A-C02CBFFB2891}"/>
              </a:ext>
            </a:extLst>
          </p:cNvPr>
          <p:cNvSpPr>
            <a:spLocks xmlns:a="http://schemas.openxmlformats.org/drawingml/2006/main" noGrp="1"/>
          </p:cNvSpPr>
          <p:nvPr/>
        </p:nvSpPr>
        <p:spPr>
          <a:xfrm xmlns:a="http://schemas.openxmlformats.org/drawingml/2006/main">
            <a:off x="6324600" y="4572000"/>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37" name="">
            <a:extLst xmlns:a="http://schemas.openxmlformats.org/drawingml/2006/main">
              <a:ext uri="{FF2B5EF4-FFF2-40B4-BE49-F238E27FC236}">
                <a16:creationId xmlns:a16="http://schemas.microsoft.com/office/drawing/2014/main" id="{E242060D-B70F-4DEE-B539-2F1360D9C678}"/>
              </a:ext>
            </a:extLst>
          </p:cNvPr>
          <p:cNvSpPr>
            <a:spLocks xmlns:a="http://schemas.openxmlformats.org/drawingml/2006/main" noGrp="1"/>
          </p:cNvSpPr>
          <p:nvPr/>
        </p:nvSpPr>
        <p:spPr>
          <a:xfrm xmlns:a="http://schemas.openxmlformats.org/drawingml/2006/main">
            <a:off x="6553200" y="449580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No outcome-selected tapes and no post-2023 inspection.</a:t>
            </a:r>
          </a:p>
        </p:txBody>
      </p:sp>
      <p:sp>
        <p:nvSpPr>
          <p:cNvPr id="38" name="">
            <a:extLst xmlns:a="http://schemas.openxmlformats.org/drawingml/2006/main">
              <a:ext uri="{FF2B5EF4-FFF2-40B4-BE49-F238E27FC236}">
                <a16:creationId xmlns:a16="http://schemas.microsoft.com/office/drawing/2014/main" id="{5A07467E-2A32-45E2-9AD4-68952B47AF0F}"/>
              </a:ext>
            </a:extLst>
          </p:cNvPr>
          <p:cNvSpPr>
            <a:spLocks xmlns:a="http://schemas.openxmlformats.org/drawingml/2006/main" noGrp="1"/>
          </p:cNvSpPr>
          <p:nvPr/>
        </p:nvSpPr>
        <p:spPr>
          <a:xfrm xmlns:a="http://schemas.openxmlformats.org/drawingml/2006/main">
            <a:off x="6324600" y="5238750"/>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39" name="">
            <a:extLst xmlns:a="http://schemas.openxmlformats.org/drawingml/2006/main">
              <a:ext uri="{FF2B5EF4-FFF2-40B4-BE49-F238E27FC236}">
                <a16:creationId xmlns:a16="http://schemas.microsoft.com/office/drawing/2014/main" id="{D853D961-9760-481E-A7F2-3490A0231EA8}"/>
              </a:ext>
            </a:extLst>
          </p:cNvPr>
          <p:cNvSpPr>
            <a:spLocks xmlns:a="http://schemas.openxmlformats.org/drawingml/2006/main" noGrp="1"/>
          </p:cNvSpPr>
          <p:nvPr/>
        </p:nvSpPr>
        <p:spPr>
          <a:xfrm xmlns:a="http://schemas.openxmlformats.org/drawingml/2006/main">
            <a:off x="6553200" y="516255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No claim that this basket represents the broader market.</a:t>
            </a:r>
          </a:p>
        </p:txBody>
      </p:sp>
    </p:spTree>
    <p:extLst>
      <p:ext uri="{BB962C8B-B14F-4D97-AF65-F5344CB8AC3E}">
        <p14:creationId xmlns:p14="http://schemas.microsoft.com/office/powerpoint/2010/main" val="21408824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4BC8BD1-84BD-4F13-9619-2AF82118C79E}"/>
              </a:ext>
            </a:extLst>
          </p:cNvPr>
          <p:cNvSpPr>
            <a:spLocks xmlns:a="http://schemas.openxmlformats.org/drawingml/2006/main" noGrp="1"/>
          </p:cNvSpPr>
          <p:nvPr/>
        </p:nvSpPr>
        <p:spPr>
          <a:xfrm xmlns:a="http://schemas.openxmlformats.org/drawingml/2006/main">
            <a:off x="457200" y="247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EDGE DISCOVERY LAB · EDL-MS-01</a:t>
            </a:r>
          </a:p>
        </p:txBody>
      </p:sp>
      <p:sp>
        <p:nvSpPr>
          <p:cNvPr id="2" name="">
            <a:extLst xmlns:a="http://schemas.openxmlformats.org/drawingml/2006/main">
              <a:ext uri="{FF2B5EF4-FFF2-40B4-BE49-F238E27FC236}">
                <a16:creationId xmlns:a16="http://schemas.microsoft.com/office/drawing/2014/main" id="{4BBC3F71-B8DB-478B-824B-EBC470418EA4}"/>
              </a:ext>
            </a:extLst>
          </p:cNvPr>
          <p:cNvSpPr>
            <a:spLocks xmlns:a="http://schemas.openxmlformats.org/drawingml/2006/main" noGrp="1"/>
          </p:cNvSpPr>
          <p:nvPr/>
        </p:nvSpPr>
        <p:spPr>
          <a:xfrm xmlns:a="http://schemas.openxmlformats.org/drawingml/2006/main">
            <a:off x="4572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The threshold is visible; a following-return cliff is not</a:t>
            </a:r>
          </a:p>
        </p:txBody>
      </p:sp>
      <p:sp>
        <p:nvSpPr>
          <p:cNvPr id="3" name="">
            <a:extLst xmlns:a="http://schemas.openxmlformats.org/drawingml/2006/main">
              <a:ext uri="{FF2B5EF4-FFF2-40B4-BE49-F238E27FC236}">
                <a16:creationId xmlns:a16="http://schemas.microsoft.com/office/drawing/2014/main" id="{2D49EBD6-690C-49B0-A7E8-29BB7B2AE594}"/>
              </a:ext>
            </a:extLst>
          </p:cNvPr>
          <p:cNvSpPr>
            <a:spLocks xmlns:a="http://schemas.openxmlformats.org/drawingml/2006/main" noGrp="1"/>
          </p:cNvSpPr>
          <p:nvPr/>
        </p:nvSpPr>
        <p:spPr>
          <a:xfrm xmlns:a="http://schemas.openxmlformats.org/drawingml/2006/main">
            <a:off x="457200" y="12382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23065413-2190-4CD9-9404-9A62AFF91B00}"/>
              </a:ext>
            </a:extLst>
          </p:cNvPr>
          <p:cNvSpPr>
            <a:spLocks xmlns:a="http://schemas.openxmlformats.org/drawingml/2006/main" noGrp="1"/>
          </p:cNvSpPr>
          <p:nvPr/>
        </p:nvSpPr>
        <p:spPr>
          <a:xfrm xmlns:a="http://schemas.openxmlformats.org/drawingml/2006/main">
            <a:off x="457200" y="65246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Discovery slice · adjusted daily bars · 2018–2023 TRAIN only</a:t>
            </a:r>
          </a:p>
        </p:txBody>
      </p:sp>
      <p:sp>
        <p:nvSpPr>
          <p:cNvPr id="5" name="">
            <a:extLst xmlns:a="http://schemas.openxmlformats.org/drawingml/2006/main">
              <a:ext uri="{FF2B5EF4-FFF2-40B4-BE49-F238E27FC236}">
                <a16:creationId xmlns:a16="http://schemas.microsoft.com/office/drawing/2014/main" id="{B8FB24FA-E5C3-4A7C-AD74-6BA83748A195}"/>
              </a:ext>
            </a:extLst>
          </p:cNvPr>
          <p:cNvSpPr>
            <a:spLocks xmlns:a="http://schemas.openxmlformats.org/drawingml/2006/main" noGrp="1"/>
          </p:cNvSpPr>
          <p:nvPr/>
        </p:nvSpPr>
        <p:spPr>
          <a:xfrm xmlns:a="http://schemas.openxmlformats.org/drawingml/2006/main">
            <a:off x="10858500" y="649605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04</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0165c92731f40cc"/>
          <a:stretch xmlns:a="http://schemas.openxmlformats.org/drawingml/2006/main"/>
        </p:blipFill>
        <p:spPr>
          <a:xfrm xmlns:a="http://schemas.openxmlformats.org/drawingml/2006/main">
            <a:off x="419100" y="1448594"/>
            <a:ext cx="8096250" cy="472281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00871DD-E482-4A0D-A7A2-D2DEA3540F23}"/>
              </a:ext>
            </a:extLst>
          </p:cNvPr>
          <p:cNvSpPr>
            <a:spLocks xmlns:a="http://schemas.openxmlformats.org/drawingml/2006/main" noGrp="1"/>
          </p:cNvSpPr>
          <p:nvPr/>
        </p:nvSpPr>
        <p:spPr>
          <a:xfrm xmlns:a="http://schemas.openxmlformats.org/drawingml/2006/main">
            <a:off x="8839200" y="1657350"/>
            <a:ext cx="25146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AF94C013-B087-4E98-85DD-1074FBAAAD87}"/>
              </a:ext>
            </a:extLst>
          </p:cNvPr>
          <p:cNvSpPr>
            <a:spLocks xmlns:a="http://schemas.openxmlformats.org/drawingml/2006/main" noGrp="1"/>
          </p:cNvSpPr>
          <p:nvPr/>
        </p:nvSpPr>
        <p:spPr>
          <a:xfrm xmlns:a="http://schemas.openxmlformats.org/drawingml/2006/main">
            <a:off x="8839200" y="1657350"/>
            <a:ext cx="76200" cy="1200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895BE028-1FF3-46DE-B533-B3BC67D4EEC8}"/>
              </a:ext>
            </a:extLst>
          </p:cNvPr>
          <p:cNvSpPr>
            <a:spLocks xmlns:a="http://schemas.openxmlformats.org/drawingml/2006/main" noGrp="1"/>
          </p:cNvSpPr>
          <p:nvPr/>
        </p:nvSpPr>
        <p:spPr>
          <a:xfrm xmlns:a="http://schemas.openxmlformats.org/drawingml/2006/main">
            <a:off x="9067800" y="1809750"/>
            <a:ext cx="2133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defRPr>
            </a:pPr>
            <a:r>
              <a:rPr sz="2550" b="1">
                <a:solidFill>
                  <a:srgbClr val="000000"/>
                </a:solidFill>
              </a:rPr>
              <a:t>646</a:t>
            </a:r>
          </a:p>
        </p:txBody>
      </p:sp>
      <p:sp>
        <p:nvSpPr>
          <p:cNvPr id="10" name="">
            <a:extLst xmlns:a="http://schemas.openxmlformats.org/drawingml/2006/main">
              <a:ext uri="{FF2B5EF4-FFF2-40B4-BE49-F238E27FC236}">
                <a16:creationId xmlns:a16="http://schemas.microsoft.com/office/drawing/2014/main" id="{BEE93AB9-2CC2-423A-B9BF-3BCD468232F1}"/>
              </a:ext>
            </a:extLst>
          </p:cNvPr>
          <p:cNvSpPr>
            <a:spLocks xmlns:a="http://schemas.openxmlformats.org/drawingml/2006/main" noGrp="1"/>
          </p:cNvSpPr>
          <p:nvPr/>
        </p:nvSpPr>
        <p:spPr>
          <a:xfrm xmlns:a="http://schemas.openxmlformats.org/drawingml/2006/main">
            <a:off x="9067800" y="228600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band events</a:t>
            </a:r>
          </a:p>
        </p:txBody>
      </p:sp>
      <p:sp>
        <p:nvSpPr>
          <p:cNvPr id="11" name="">
            <a:extLst xmlns:a="http://schemas.openxmlformats.org/drawingml/2006/main">
              <a:ext uri="{FF2B5EF4-FFF2-40B4-BE49-F238E27FC236}">
                <a16:creationId xmlns:a16="http://schemas.microsoft.com/office/drawing/2014/main" id="{CD54CDA4-9C0D-4939-8989-B301391B8F95}"/>
              </a:ext>
            </a:extLst>
          </p:cNvPr>
          <p:cNvSpPr>
            <a:spLocks xmlns:a="http://schemas.openxmlformats.org/drawingml/2006/main" noGrp="1"/>
          </p:cNvSpPr>
          <p:nvPr/>
        </p:nvSpPr>
        <p:spPr>
          <a:xfrm xmlns:a="http://schemas.openxmlformats.org/drawingml/2006/main">
            <a:off x="9067800" y="255270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−12% through −8%</a:t>
            </a:r>
          </a:p>
        </p:txBody>
      </p:sp>
      <p:sp>
        <p:nvSpPr>
          <p:cNvPr id="12" name="">
            <a:extLst xmlns:a="http://schemas.openxmlformats.org/drawingml/2006/main">
              <a:ext uri="{FF2B5EF4-FFF2-40B4-BE49-F238E27FC236}">
                <a16:creationId xmlns:a16="http://schemas.microsoft.com/office/drawing/2014/main" id="{BCED060C-79CE-447F-B261-2C0B6D4C7ACF}"/>
              </a:ext>
            </a:extLst>
          </p:cNvPr>
          <p:cNvSpPr>
            <a:spLocks xmlns:a="http://schemas.openxmlformats.org/drawingml/2006/main" noGrp="1"/>
          </p:cNvSpPr>
          <p:nvPr/>
        </p:nvSpPr>
        <p:spPr>
          <a:xfrm xmlns:a="http://schemas.openxmlformats.org/drawingml/2006/main">
            <a:off x="8839200" y="3048000"/>
            <a:ext cx="25146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3" name="">
            <a:extLst xmlns:a="http://schemas.openxmlformats.org/drawingml/2006/main">
              <a:ext uri="{FF2B5EF4-FFF2-40B4-BE49-F238E27FC236}">
                <a16:creationId xmlns:a16="http://schemas.microsoft.com/office/drawing/2014/main" id="{877023CC-7C61-4B61-865C-11DB2CB37E0B}"/>
              </a:ext>
            </a:extLst>
          </p:cNvPr>
          <p:cNvSpPr>
            <a:spLocks xmlns:a="http://schemas.openxmlformats.org/drawingml/2006/main" noGrp="1"/>
          </p:cNvSpPr>
          <p:nvPr/>
        </p:nvSpPr>
        <p:spPr>
          <a:xfrm xmlns:a="http://schemas.openxmlformats.org/drawingml/2006/main">
            <a:off x="8839200" y="3048000"/>
            <a:ext cx="76200" cy="1200150"/>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4" name="">
            <a:extLst xmlns:a="http://schemas.openxmlformats.org/drawingml/2006/main">
              <a:ext uri="{FF2B5EF4-FFF2-40B4-BE49-F238E27FC236}">
                <a16:creationId xmlns:a16="http://schemas.microsoft.com/office/drawing/2014/main" id="{7ACD8D54-AABF-4DC0-86FB-D29D30E8B8A9}"/>
              </a:ext>
            </a:extLst>
          </p:cNvPr>
          <p:cNvSpPr>
            <a:spLocks xmlns:a="http://schemas.openxmlformats.org/drawingml/2006/main" noGrp="1"/>
          </p:cNvSpPr>
          <p:nvPr/>
        </p:nvSpPr>
        <p:spPr>
          <a:xfrm xmlns:a="http://schemas.openxmlformats.org/drawingml/2006/main">
            <a:off x="9067800" y="3200400"/>
            <a:ext cx="2133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defRPr>
            </a:pPr>
            <a:r>
              <a:rPr sz="2550" b="1">
                <a:solidFill>
                  <a:srgbClr val="000000"/>
                </a:solidFill>
              </a:rPr>
              <a:t>239</a:t>
            </a:r>
          </a:p>
        </p:txBody>
      </p:sp>
      <p:sp>
        <p:nvSpPr>
          <p:cNvPr id="15" name="">
            <a:extLst xmlns:a="http://schemas.openxmlformats.org/drawingml/2006/main">
              <a:ext uri="{FF2B5EF4-FFF2-40B4-BE49-F238E27FC236}">
                <a16:creationId xmlns:a16="http://schemas.microsoft.com/office/drawing/2014/main" id="{029F8F69-DB07-40CE-8134-B6312D2A686D}"/>
              </a:ext>
            </a:extLst>
          </p:cNvPr>
          <p:cNvSpPr>
            <a:spLocks xmlns:a="http://schemas.openxmlformats.org/drawingml/2006/main" noGrp="1"/>
          </p:cNvSpPr>
          <p:nvPr/>
        </p:nvSpPr>
        <p:spPr>
          <a:xfrm xmlns:a="http://schemas.openxmlformats.org/drawingml/2006/main">
            <a:off x="9067800" y="36766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proxy-triggered</a:t>
            </a:r>
          </a:p>
        </p:txBody>
      </p:sp>
      <p:sp>
        <p:nvSpPr>
          <p:cNvPr id="16" name="">
            <a:extLst xmlns:a="http://schemas.openxmlformats.org/drawingml/2006/main">
              <a:ext uri="{FF2B5EF4-FFF2-40B4-BE49-F238E27FC236}">
                <a16:creationId xmlns:a16="http://schemas.microsoft.com/office/drawing/2014/main" id="{7236B689-75FC-4727-B6C3-62179107AE9F}"/>
              </a:ext>
            </a:extLst>
          </p:cNvPr>
          <p:cNvSpPr>
            <a:spLocks xmlns:a="http://schemas.openxmlformats.org/drawingml/2006/main" noGrp="1"/>
          </p:cNvSpPr>
          <p:nvPr/>
        </p:nvSpPr>
        <p:spPr>
          <a:xfrm xmlns:a="http://schemas.openxmlformats.org/drawingml/2006/main">
            <a:off x="9067800" y="394335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low drawdown ≤ −10%</a:t>
            </a:r>
          </a:p>
        </p:txBody>
      </p:sp>
      <p:sp>
        <p:nvSpPr>
          <p:cNvPr id="17" name="">
            <a:extLst xmlns:a="http://schemas.openxmlformats.org/drawingml/2006/main">
              <a:ext uri="{FF2B5EF4-FFF2-40B4-BE49-F238E27FC236}">
                <a16:creationId xmlns:a16="http://schemas.microsoft.com/office/drawing/2014/main" id="{5BC222A7-ECC1-4A79-8044-A56697BDDB50}"/>
              </a:ext>
            </a:extLst>
          </p:cNvPr>
          <p:cNvSpPr>
            <a:spLocks xmlns:a="http://schemas.openxmlformats.org/drawingml/2006/main" noGrp="1"/>
          </p:cNvSpPr>
          <p:nvPr/>
        </p:nvSpPr>
        <p:spPr>
          <a:xfrm xmlns:a="http://schemas.openxmlformats.org/drawingml/2006/main">
            <a:off x="8839200" y="4438650"/>
            <a:ext cx="2514600" cy="12001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18" name="">
            <a:extLst xmlns:a="http://schemas.openxmlformats.org/drawingml/2006/main">
              <a:ext uri="{FF2B5EF4-FFF2-40B4-BE49-F238E27FC236}">
                <a16:creationId xmlns:a16="http://schemas.microsoft.com/office/drawing/2014/main" id="{0FD68495-86FD-4D4E-A07C-43BB5DC5EED9}"/>
              </a:ext>
            </a:extLst>
          </p:cNvPr>
          <p:cNvSpPr>
            <a:spLocks xmlns:a="http://schemas.openxmlformats.org/drawingml/2006/main" noGrp="1"/>
          </p:cNvSpPr>
          <p:nvPr/>
        </p:nvSpPr>
        <p:spPr>
          <a:xfrm xmlns:a="http://schemas.openxmlformats.org/drawingml/2006/main">
            <a:off x="8839200" y="4438650"/>
            <a:ext cx="76200" cy="1200150"/>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9" name="">
            <a:extLst xmlns:a="http://schemas.openxmlformats.org/drawingml/2006/main">
              <a:ext uri="{FF2B5EF4-FFF2-40B4-BE49-F238E27FC236}">
                <a16:creationId xmlns:a16="http://schemas.microsoft.com/office/drawing/2014/main" id="{94266707-DDAD-46CE-8558-EECA5CA129D0}"/>
              </a:ext>
            </a:extLst>
          </p:cNvPr>
          <p:cNvSpPr>
            <a:spLocks xmlns:a="http://schemas.openxmlformats.org/drawingml/2006/main" noGrp="1"/>
          </p:cNvSpPr>
          <p:nvPr/>
        </p:nvSpPr>
        <p:spPr>
          <a:xfrm xmlns:a="http://schemas.openxmlformats.org/drawingml/2006/main">
            <a:off x="9067800" y="4591050"/>
            <a:ext cx="2133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defRPr>
            </a:pPr>
            <a:r>
              <a:rPr sz="2550" b="1">
                <a:solidFill>
                  <a:srgbClr val="000000"/>
                </a:solidFill>
              </a:rPr>
              <a:t>24</a:t>
            </a:r>
          </a:p>
        </p:txBody>
      </p:sp>
      <p:sp>
        <p:nvSpPr>
          <p:cNvPr id="20" name="">
            <a:extLst xmlns:a="http://schemas.openxmlformats.org/drawingml/2006/main">
              <a:ext uri="{FF2B5EF4-FFF2-40B4-BE49-F238E27FC236}">
                <a16:creationId xmlns:a16="http://schemas.microsoft.com/office/drawing/2014/main" id="{8CBFB92E-3A3C-4B9E-9FBF-4ADD2531E9F3}"/>
              </a:ext>
            </a:extLst>
          </p:cNvPr>
          <p:cNvSpPr>
            <a:spLocks xmlns:a="http://schemas.openxmlformats.org/drawingml/2006/main" noGrp="1"/>
          </p:cNvSpPr>
          <p:nvPr/>
        </p:nvSpPr>
        <p:spPr>
          <a:xfrm xmlns:a="http://schemas.openxmlformats.org/drawingml/2006/main">
            <a:off x="9067800" y="506730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strong reclaims</a:t>
            </a:r>
          </a:p>
        </p:txBody>
      </p:sp>
      <p:sp>
        <p:nvSpPr>
          <p:cNvPr id="21" name="">
            <a:extLst xmlns:a="http://schemas.openxmlformats.org/drawingml/2006/main">
              <a:ext uri="{FF2B5EF4-FFF2-40B4-BE49-F238E27FC236}">
                <a16:creationId xmlns:a16="http://schemas.microsoft.com/office/drawing/2014/main" id="{E3F9F74D-8CE5-448B-A11D-7F766E9A9163}"/>
              </a:ext>
            </a:extLst>
          </p:cNvPr>
          <p:cNvSpPr>
            <a:spLocks xmlns:a="http://schemas.openxmlformats.org/drawingml/2006/main" noGrp="1"/>
          </p:cNvSpPr>
          <p:nvPr/>
        </p:nvSpPr>
        <p:spPr>
          <a:xfrm xmlns:a="http://schemas.openxmlformats.org/drawingml/2006/main">
            <a:off x="9067800" y="533400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triggered + CLV ≥ 0.75</a:t>
            </a:r>
          </a:p>
        </p:txBody>
      </p:sp>
      <p:sp>
        <p:nvSpPr>
          <p:cNvPr id="22" name="">
            <a:extLst xmlns:a="http://schemas.openxmlformats.org/drawingml/2006/main">
              <a:ext uri="{FF2B5EF4-FFF2-40B4-BE49-F238E27FC236}">
                <a16:creationId xmlns:a16="http://schemas.microsoft.com/office/drawing/2014/main" id="{CF043131-D908-47D4-AFD4-0CCB7E482163}"/>
              </a:ext>
            </a:extLst>
          </p:cNvPr>
          <p:cNvSpPr>
            <a:spLocks xmlns:a="http://schemas.openxmlformats.org/drawingml/2006/main" noGrp="1"/>
          </p:cNvSpPr>
          <p:nvPr/>
        </p:nvSpPr>
        <p:spPr>
          <a:xfrm xmlns:a="http://schemas.openxmlformats.org/drawingml/2006/main">
            <a:off x="8858250" y="5810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364B"/>
                </a:solidFill>
              </a:defRPr>
            </a:pPr>
            <a:r>
              <a:rPr sz="1200" b="1">
                <a:solidFill>
                  <a:srgbClr val="24364B"/>
                </a:solidFill>
              </a:rPr>
              <a:t>Visual read: dispersion dominates any abrupt separation at the rule threshold.</a:t>
            </a:r>
          </a:p>
        </p:txBody>
      </p:sp>
    </p:spTree>
    <p:extLst>
      <p:ext uri="{BB962C8B-B14F-4D97-AF65-F5344CB8AC3E}">
        <p14:creationId xmlns:p14="http://schemas.microsoft.com/office/powerpoint/2010/main" val="16734944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AEF8F0-7917-44DA-9467-9BED75867EDC}"/>
              </a:ext>
            </a:extLst>
          </p:cNvPr>
          <p:cNvSpPr>
            <a:spLocks xmlns:a="http://schemas.openxmlformats.org/drawingml/2006/main" noGrp="1"/>
          </p:cNvSpPr>
          <p:nvPr/>
        </p:nvSpPr>
        <p:spPr>
          <a:xfrm xmlns:a="http://schemas.openxmlformats.org/drawingml/2006/main">
            <a:off x="457200" y="247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EDGE DISCOVERY LAB · EDL-MS-01</a:t>
            </a:r>
          </a:p>
        </p:txBody>
      </p:sp>
      <p:sp>
        <p:nvSpPr>
          <p:cNvPr id="2" name="">
            <a:extLst xmlns:a="http://schemas.openxmlformats.org/drawingml/2006/main">
              <a:ext uri="{FF2B5EF4-FFF2-40B4-BE49-F238E27FC236}">
                <a16:creationId xmlns:a16="http://schemas.microsoft.com/office/drawing/2014/main" id="{C92FDC00-8A98-414F-9483-39F0E0E17A91}"/>
              </a:ext>
            </a:extLst>
          </p:cNvPr>
          <p:cNvSpPr>
            <a:spLocks xmlns:a="http://schemas.openxmlformats.org/drawingml/2006/main" noGrp="1"/>
          </p:cNvSpPr>
          <p:nvPr/>
        </p:nvSpPr>
        <p:spPr>
          <a:xfrm xmlns:a="http://schemas.openxmlformats.org/drawingml/2006/main">
            <a:off x="4572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The first tapes challenge the immediate-next-session story</a:t>
            </a:r>
          </a:p>
        </p:txBody>
      </p:sp>
      <p:sp>
        <p:nvSpPr>
          <p:cNvPr id="3" name="">
            <a:extLst xmlns:a="http://schemas.openxmlformats.org/drawingml/2006/main">
              <a:ext uri="{FF2B5EF4-FFF2-40B4-BE49-F238E27FC236}">
                <a16:creationId xmlns:a16="http://schemas.microsoft.com/office/drawing/2014/main" id="{A39A1B4A-2DFE-4A81-B058-63FB88CF0ECD}"/>
              </a:ext>
            </a:extLst>
          </p:cNvPr>
          <p:cNvSpPr>
            <a:spLocks xmlns:a="http://schemas.openxmlformats.org/drawingml/2006/main" noGrp="1"/>
          </p:cNvSpPr>
          <p:nvPr/>
        </p:nvSpPr>
        <p:spPr>
          <a:xfrm xmlns:a="http://schemas.openxmlformats.org/drawingml/2006/main">
            <a:off x="457200" y="12382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0680845B-FDDA-4E90-8C68-AA0250D2FB78}"/>
              </a:ext>
            </a:extLst>
          </p:cNvPr>
          <p:cNvSpPr>
            <a:spLocks xmlns:a="http://schemas.openxmlformats.org/drawingml/2006/main" noGrp="1"/>
          </p:cNvSpPr>
          <p:nvPr/>
        </p:nvSpPr>
        <p:spPr>
          <a:xfrm xmlns:a="http://schemas.openxmlformats.org/drawingml/2006/main">
            <a:off x="457200" y="65246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Discovery slice · adjusted daily bars · 2018–2023 TRAIN only</a:t>
            </a:r>
          </a:p>
        </p:txBody>
      </p:sp>
      <p:sp>
        <p:nvSpPr>
          <p:cNvPr id="5" name="">
            <a:extLst xmlns:a="http://schemas.openxmlformats.org/drawingml/2006/main">
              <a:ext uri="{FF2B5EF4-FFF2-40B4-BE49-F238E27FC236}">
                <a16:creationId xmlns:a16="http://schemas.microsoft.com/office/drawing/2014/main" id="{970EDF58-77D8-4434-8994-DD587138758E}"/>
              </a:ext>
            </a:extLst>
          </p:cNvPr>
          <p:cNvSpPr>
            <a:spLocks xmlns:a="http://schemas.openxmlformats.org/drawingml/2006/main" noGrp="1"/>
          </p:cNvSpPr>
          <p:nvPr/>
        </p:nvSpPr>
        <p:spPr>
          <a:xfrm xmlns:a="http://schemas.openxmlformats.org/drawingml/2006/main">
            <a:off x="10858500" y="649605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d60bc5619c4e46"/>
          <a:stretch xmlns:a="http://schemas.openxmlformats.org/drawingml/2006/main"/>
        </p:blipFill>
        <p:spPr>
          <a:xfrm xmlns:a="http://schemas.openxmlformats.org/drawingml/2006/main">
            <a:off x="2606802" y="1447800"/>
            <a:ext cx="6978396" cy="45910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41204AD-00F7-40A0-BD7B-2CCB0BE3B003}"/>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solidFill xmlns:a="http://schemas.openxmlformats.org/drawingml/2006/main">
            <a:srgbClr val="F3F5F7"/>
          </a:solidFill>
          <a:ln xmlns:a="http://schemas.openxmlformats.org/drawingml/2006/main" w="0">
            <a:solidFill>
              <a:srgbClr val="F3F5F7"/>
            </a:solidFill>
            <a:prstDash val="solid"/>
          </a:ln>
        </p:spPr>
      </p:sp>
      <p:sp>
        <p:nvSpPr>
          <p:cNvPr id="8" name="">
            <a:extLst xmlns:a="http://schemas.openxmlformats.org/drawingml/2006/main">
              <a:ext uri="{FF2B5EF4-FFF2-40B4-BE49-F238E27FC236}">
                <a16:creationId xmlns:a16="http://schemas.microsoft.com/office/drawing/2014/main" id="{E227FDD4-EE78-4151-BA21-BE2131256C68}"/>
              </a:ext>
            </a:extLst>
          </p:cNvPr>
          <p:cNvSpPr>
            <a:spLocks xmlns:a="http://schemas.openxmlformats.org/drawingml/2006/main" noGrp="1"/>
          </p:cNvSpPr>
          <p:nvPr/>
        </p:nvSpPr>
        <p:spPr>
          <a:xfrm xmlns:a="http://schemas.openxmlformats.org/drawingml/2006/main">
            <a:off x="723900" y="6162675"/>
            <a:ext cx="10744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24364B"/>
                </a:solidFill>
              </a:defRPr>
            </a:pPr>
            <a:r>
              <a:rPr sz="1125" b="1">
                <a:solidFill>
                  <a:srgbClr val="24364B"/>
                </a:solidFill>
              </a:rPr>
              <a:t>All four examples fell in the immediately following session; three were positive by five sessions. That is a horizon question—not a rescue.</a:t>
            </a:r>
          </a:p>
        </p:txBody>
      </p:sp>
    </p:spTree>
    <p:extLst>
      <p:ext uri="{BB962C8B-B14F-4D97-AF65-F5344CB8AC3E}">
        <p14:creationId xmlns:p14="http://schemas.microsoft.com/office/powerpoint/2010/main" val="16805524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0D4DAD6-2B3F-40A8-8115-0ACAC6A50006}"/>
              </a:ext>
            </a:extLst>
          </p:cNvPr>
          <p:cNvSpPr>
            <a:spLocks xmlns:a="http://schemas.openxmlformats.org/drawingml/2006/main" noGrp="1"/>
          </p:cNvSpPr>
          <p:nvPr/>
        </p:nvSpPr>
        <p:spPr>
          <a:xfrm xmlns:a="http://schemas.openxmlformats.org/drawingml/2006/main">
            <a:off x="457200" y="247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67386"/>
                </a:solidFill>
              </a:defRPr>
            </a:pPr>
            <a:r>
              <a:rPr sz="1050" b="1">
                <a:solidFill>
                  <a:srgbClr val="667386"/>
                </a:solidFill>
              </a:rPr>
              <a:t>EDGE DISCOVERY LAB · EDL-MS-01</a:t>
            </a:r>
          </a:p>
        </p:txBody>
      </p:sp>
      <p:sp>
        <p:nvSpPr>
          <p:cNvPr id="2" name="">
            <a:extLst xmlns:a="http://schemas.openxmlformats.org/drawingml/2006/main">
              <a:ext uri="{FF2B5EF4-FFF2-40B4-BE49-F238E27FC236}">
                <a16:creationId xmlns:a16="http://schemas.microsoft.com/office/drawing/2014/main" id="{DB3A389A-B072-46C2-83AC-344A670E5C9B}"/>
              </a:ext>
            </a:extLst>
          </p:cNvPr>
          <p:cNvSpPr>
            <a:spLocks xmlns:a="http://schemas.openxmlformats.org/drawingml/2006/main" noGrp="1"/>
          </p:cNvSpPr>
          <p:nvPr/>
        </p:nvSpPr>
        <p:spPr>
          <a:xfrm xmlns:a="http://schemas.openxmlformats.org/drawingml/2006/main">
            <a:off x="457200" y="55245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000000"/>
                </a:solidFill>
              </a:defRPr>
            </a:pPr>
            <a:r>
              <a:rPr sz="3000" b="1">
                <a:solidFill>
                  <a:srgbClr val="000000"/>
                </a:solidFill>
              </a:rPr>
              <a:t>The slice earns a sharper question—not an edge claim</a:t>
            </a:r>
          </a:p>
        </p:txBody>
      </p:sp>
      <p:sp>
        <p:nvSpPr>
          <p:cNvPr id="3" name="">
            <a:extLst xmlns:a="http://schemas.openxmlformats.org/drawingml/2006/main">
              <a:ext uri="{FF2B5EF4-FFF2-40B4-BE49-F238E27FC236}">
                <a16:creationId xmlns:a16="http://schemas.microsoft.com/office/drawing/2014/main" id="{2A0728E5-73D0-42E1-B2DB-4B5808362C83}"/>
              </a:ext>
            </a:extLst>
          </p:cNvPr>
          <p:cNvSpPr>
            <a:spLocks xmlns:a="http://schemas.openxmlformats.org/drawingml/2006/main" noGrp="1"/>
          </p:cNvSpPr>
          <p:nvPr/>
        </p:nvSpPr>
        <p:spPr>
          <a:xfrm xmlns:a="http://schemas.openxmlformats.org/drawingml/2006/main">
            <a:off x="457200" y="12382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D5DCBF21-09B1-4524-A225-DE3642894A05}"/>
              </a:ext>
            </a:extLst>
          </p:cNvPr>
          <p:cNvSpPr>
            <a:spLocks xmlns:a="http://schemas.openxmlformats.org/drawingml/2006/main" noGrp="1"/>
          </p:cNvSpPr>
          <p:nvPr/>
        </p:nvSpPr>
        <p:spPr>
          <a:xfrm xmlns:a="http://schemas.openxmlformats.org/drawingml/2006/main">
            <a:off x="457200" y="65246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67386"/>
                </a:solidFill>
              </a:defRPr>
            </a:pPr>
            <a:r>
              <a:rPr sz="900" b="0">
                <a:solidFill>
                  <a:srgbClr val="667386"/>
                </a:solidFill>
              </a:rPr>
              <a:t>Discovery slice · adjusted daily bars · 2018–2023 TRAIN only</a:t>
            </a:r>
          </a:p>
        </p:txBody>
      </p:sp>
      <p:sp>
        <p:nvSpPr>
          <p:cNvPr id="5" name="">
            <a:extLst xmlns:a="http://schemas.openxmlformats.org/drawingml/2006/main">
              <a:ext uri="{FF2B5EF4-FFF2-40B4-BE49-F238E27FC236}">
                <a16:creationId xmlns:a16="http://schemas.microsoft.com/office/drawing/2014/main" id="{35702D18-4C42-4F92-8787-59FCFE5D9A5C}"/>
              </a:ext>
            </a:extLst>
          </p:cNvPr>
          <p:cNvSpPr>
            <a:spLocks xmlns:a="http://schemas.openxmlformats.org/drawingml/2006/main" noGrp="1"/>
          </p:cNvSpPr>
          <p:nvPr/>
        </p:nvSpPr>
        <p:spPr>
          <a:xfrm xmlns:a="http://schemas.openxmlformats.org/drawingml/2006/main">
            <a:off x="10858500" y="6496050"/>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667386"/>
                </a:solidFill>
              </a:defRPr>
            </a:pPr>
            <a:r>
              <a:rPr sz="900" b="0">
                <a:solidFill>
                  <a:srgbClr val="667386"/>
                </a:solidFill>
              </a:rPr>
              <a:t>06</a:t>
            </a:r>
          </a:p>
        </p:txBody>
      </p:sp>
      <p:sp>
        <p:nvSpPr>
          <p:cNvPr id="6" name="">
            <a:extLst xmlns:a="http://schemas.openxmlformats.org/drawingml/2006/main">
              <a:ext uri="{FF2B5EF4-FFF2-40B4-BE49-F238E27FC236}">
                <a16:creationId xmlns:a16="http://schemas.microsoft.com/office/drawing/2014/main" id="{8B1AF905-7A51-4175-BF55-6BCBBDD68837}"/>
              </a:ext>
            </a:extLst>
          </p:cNvPr>
          <p:cNvSpPr>
            <a:spLocks xmlns:a="http://schemas.openxmlformats.org/drawingml/2006/main" noGrp="1"/>
          </p:cNvSpPr>
          <p:nvPr/>
        </p:nvSpPr>
        <p:spPr>
          <a:xfrm xmlns:a="http://schemas.openxmlformats.org/drawingml/2006/main">
            <a:off x="552450" y="1638300"/>
            <a:ext cx="5257800" cy="3429000"/>
          </a:xfrm>
          <a:prstGeom xmlns:a="http://schemas.openxmlformats.org/drawingml/2006/main" prst="rect">
            <a:avLst/>
          </a:prstGeom>
          <a:solidFill xmlns:a="http://schemas.openxmlformats.org/drawingml/2006/main">
            <a:srgbClr val="E2F1EC"/>
          </a:solidFill>
          <a:ln xmlns:a="http://schemas.openxmlformats.org/drawingml/2006/main" w="0">
            <a:solidFill>
              <a:srgbClr val="E2F1EC"/>
            </a:solidFill>
            <a:prstDash val="solid"/>
          </a:ln>
        </p:spPr>
      </p:sp>
      <p:sp>
        <p:nvSpPr>
          <p:cNvPr id="7" name="">
            <a:extLst xmlns:a="http://schemas.openxmlformats.org/drawingml/2006/main">
              <a:ext uri="{FF2B5EF4-FFF2-40B4-BE49-F238E27FC236}">
                <a16:creationId xmlns:a16="http://schemas.microsoft.com/office/drawing/2014/main" id="{B83AF99C-7C67-4692-8317-BFAAC0A3B366}"/>
              </a:ext>
            </a:extLst>
          </p:cNvPr>
          <p:cNvSpPr>
            <a:spLocks xmlns:a="http://schemas.openxmlformats.org/drawingml/2006/main" noGrp="1"/>
          </p:cNvSpPr>
          <p:nvPr/>
        </p:nvSpPr>
        <p:spPr>
          <a:xfrm xmlns:a="http://schemas.openxmlformats.org/drawingml/2006/main">
            <a:off x="838200" y="19240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4866D"/>
                </a:solidFill>
              </a:defRPr>
            </a:pPr>
            <a:r>
              <a:rPr sz="1275" b="1">
                <a:solidFill>
                  <a:srgbClr val="14866D"/>
                </a:solidFill>
              </a:rPr>
              <a:t>VISIBLE NOW</a:t>
            </a:r>
          </a:p>
        </p:txBody>
      </p:sp>
      <p:sp>
        <p:nvSpPr>
          <p:cNvPr id="8" name="">
            <a:extLst xmlns:a="http://schemas.openxmlformats.org/drawingml/2006/main">
              <a:ext uri="{FF2B5EF4-FFF2-40B4-BE49-F238E27FC236}">
                <a16:creationId xmlns:a16="http://schemas.microsoft.com/office/drawing/2014/main" id="{591343B4-FD0F-469E-9436-034291B26030}"/>
              </a:ext>
            </a:extLst>
          </p:cNvPr>
          <p:cNvSpPr>
            <a:spLocks xmlns:a="http://schemas.openxmlformats.org/drawingml/2006/main" noGrp="1"/>
          </p:cNvSpPr>
          <p:nvPr/>
        </p:nvSpPr>
        <p:spPr>
          <a:xfrm xmlns:a="http://schemas.openxmlformats.org/drawingml/2006/main">
            <a:off x="838200" y="24003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000000"/>
                </a:solidFill>
              </a:defRPr>
            </a:pPr>
            <a:r>
              <a:rPr sz="2325" b="1">
                <a:solidFill>
                  <a:srgbClr val="000000"/>
                </a:solidFill>
              </a:rPr>
              <a:t>The construction works.</a:t>
            </a:r>
          </a:p>
        </p:txBody>
      </p:sp>
      <p:sp>
        <p:nvSpPr>
          <p:cNvPr id="9" name="">
            <a:extLst xmlns:a="http://schemas.openxmlformats.org/drawingml/2006/main">
              <a:ext uri="{FF2B5EF4-FFF2-40B4-BE49-F238E27FC236}">
                <a16:creationId xmlns:a16="http://schemas.microsoft.com/office/drawing/2014/main" id="{486C4623-DD7B-4D12-AD9D-117B41DC0E06}"/>
              </a:ext>
            </a:extLst>
          </p:cNvPr>
          <p:cNvSpPr>
            <a:spLocks xmlns:a="http://schemas.openxmlformats.org/drawingml/2006/main" noGrp="1"/>
          </p:cNvSpPr>
          <p:nvPr/>
        </p:nvSpPr>
        <p:spPr>
          <a:xfrm xmlns:a="http://schemas.openxmlformats.org/drawingml/2006/main">
            <a:off x="857250" y="3143250"/>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0" name="">
            <a:extLst xmlns:a="http://schemas.openxmlformats.org/drawingml/2006/main">
              <a:ext uri="{FF2B5EF4-FFF2-40B4-BE49-F238E27FC236}">
                <a16:creationId xmlns:a16="http://schemas.microsoft.com/office/drawing/2014/main" id="{9B9F78FA-90DC-4824-895D-88ABC020E71E}"/>
              </a:ext>
            </a:extLst>
          </p:cNvPr>
          <p:cNvSpPr>
            <a:spLocks xmlns:a="http://schemas.openxmlformats.org/drawingml/2006/main" noGrp="1"/>
          </p:cNvSpPr>
          <p:nvPr/>
        </p:nvSpPr>
        <p:spPr>
          <a:xfrm xmlns:a="http://schemas.openxmlformats.org/drawingml/2006/main">
            <a:off x="1085850" y="3067050"/>
            <a:ext cx="4248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A real fixed threshold can be interrogated without fitting it.</a:t>
            </a:r>
          </a:p>
        </p:txBody>
      </p:sp>
      <p:sp>
        <p:nvSpPr>
          <p:cNvPr id="11" name="">
            <a:extLst xmlns:a="http://schemas.openxmlformats.org/drawingml/2006/main">
              <a:ext uri="{FF2B5EF4-FFF2-40B4-BE49-F238E27FC236}">
                <a16:creationId xmlns:a16="http://schemas.microsoft.com/office/drawing/2014/main" id="{109BC2D4-FEB5-43F5-91AD-29E5CEDDB320}"/>
              </a:ext>
            </a:extLst>
          </p:cNvPr>
          <p:cNvSpPr>
            <a:spLocks xmlns:a="http://schemas.openxmlformats.org/drawingml/2006/main" noGrp="1"/>
          </p:cNvSpPr>
          <p:nvPr/>
        </p:nvSpPr>
        <p:spPr>
          <a:xfrm xmlns:a="http://schemas.openxmlformats.org/drawingml/2006/main">
            <a:off x="857250" y="3867150"/>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2" name="">
            <a:extLst xmlns:a="http://schemas.openxmlformats.org/drawingml/2006/main">
              <a:ext uri="{FF2B5EF4-FFF2-40B4-BE49-F238E27FC236}">
                <a16:creationId xmlns:a16="http://schemas.microsoft.com/office/drawing/2014/main" id="{07F5D029-2238-48BD-8978-2D9A7DE11345}"/>
              </a:ext>
            </a:extLst>
          </p:cNvPr>
          <p:cNvSpPr>
            <a:spLocks xmlns:a="http://schemas.openxmlformats.org/drawingml/2006/main" noGrp="1"/>
          </p:cNvSpPr>
          <p:nvPr/>
        </p:nvSpPr>
        <p:spPr>
          <a:xfrm xmlns:a="http://schemas.openxmlformats.org/drawingml/2006/main">
            <a:off x="1085850" y="3790950"/>
            <a:ext cx="4248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Close-location value cleanly distinguishes reclaim from weak-close events.</a:t>
            </a:r>
          </a:p>
        </p:txBody>
      </p:sp>
      <p:sp>
        <p:nvSpPr>
          <p:cNvPr id="13" name="">
            <a:extLst xmlns:a="http://schemas.openxmlformats.org/drawingml/2006/main">
              <a:ext uri="{FF2B5EF4-FFF2-40B4-BE49-F238E27FC236}">
                <a16:creationId xmlns:a16="http://schemas.microsoft.com/office/drawing/2014/main" id="{4D5A802E-F693-434B-A1D8-924AD0B3DAD1}"/>
              </a:ext>
            </a:extLst>
          </p:cNvPr>
          <p:cNvSpPr>
            <a:spLocks xmlns:a="http://schemas.openxmlformats.org/drawingml/2006/main" noGrp="1"/>
          </p:cNvSpPr>
          <p:nvPr/>
        </p:nvSpPr>
        <p:spPr>
          <a:xfrm xmlns:a="http://schemas.openxmlformats.org/drawingml/2006/main">
            <a:off x="857250" y="4591050"/>
            <a:ext cx="85725" cy="85725"/>
          </a:xfrm>
          <a:prstGeom xmlns:a="http://schemas.openxmlformats.org/drawingml/2006/main" prst="rect">
            <a:avLst/>
          </a:prstGeom>
          <a:solidFill xmlns:a="http://schemas.openxmlformats.org/drawingml/2006/main">
            <a:srgbClr val="14866D"/>
          </a:solidFill>
          <a:ln xmlns:a="http://schemas.openxmlformats.org/drawingml/2006/main" w="0">
            <a:solidFill>
              <a:srgbClr val="14866D"/>
            </a:solidFill>
            <a:prstDash val="solid"/>
          </a:ln>
        </p:spPr>
      </p:sp>
      <p:sp>
        <p:nvSpPr>
          <p:cNvPr id="14" name="">
            <a:extLst xmlns:a="http://schemas.openxmlformats.org/drawingml/2006/main">
              <a:ext uri="{FF2B5EF4-FFF2-40B4-BE49-F238E27FC236}">
                <a16:creationId xmlns:a16="http://schemas.microsoft.com/office/drawing/2014/main" id="{2AAABA67-2F05-4001-A18B-1BA975B286F5}"/>
              </a:ext>
            </a:extLst>
          </p:cNvPr>
          <p:cNvSpPr>
            <a:spLocks xmlns:a="http://schemas.openxmlformats.org/drawingml/2006/main" noGrp="1"/>
          </p:cNvSpPr>
          <p:nvPr/>
        </p:nvSpPr>
        <p:spPr>
          <a:xfrm xmlns:a="http://schemas.openxmlformats.org/drawingml/2006/main">
            <a:off x="1085850" y="4514850"/>
            <a:ext cx="4248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The tape view exposes timing that a single summary return would hide.</a:t>
            </a:r>
          </a:p>
        </p:txBody>
      </p:sp>
      <p:sp>
        <p:nvSpPr>
          <p:cNvPr id="15" name="">
            <a:extLst xmlns:a="http://schemas.openxmlformats.org/drawingml/2006/main">
              <a:ext uri="{FF2B5EF4-FFF2-40B4-BE49-F238E27FC236}">
                <a16:creationId xmlns:a16="http://schemas.microsoft.com/office/drawing/2014/main" id="{4EF3A445-EB85-43E1-B63C-92295F060AA1}"/>
              </a:ext>
            </a:extLst>
          </p:cNvPr>
          <p:cNvSpPr>
            <a:spLocks xmlns:a="http://schemas.openxmlformats.org/drawingml/2006/main" noGrp="1"/>
          </p:cNvSpPr>
          <p:nvPr/>
        </p:nvSpPr>
        <p:spPr>
          <a:xfrm xmlns:a="http://schemas.openxmlformats.org/drawingml/2006/main">
            <a:off x="6115050" y="1638300"/>
            <a:ext cx="5524500" cy="3429000"/>
          </a:xfrm>
          <a:prstGeom xmlns:a="http://schemas.openxmlformats.org/drawingml/2006/main" prst="rect">
            <a:avLst/>
          </a:prstGeom>
          <a:solidFill xmlns:a="http://schemas.openxmlformats.org/drawingml/2006/main">
            <a:srgbClr val="F6E5E1"/>
          </a:solidFill>
          <a:ln xmlns:a="http://schemas.openxmlformats.org/drawingml/2006/main" w="0">
            <a:solidFill>
              <a:srgbClr val="F6E5E1"/>
            </a:solidFill>
            <a:prstDash val="solid"/>
          </a:ln>
        </p:spPr>
      </p:sp>
      <p:sp>
        <p:nvSpPr>
          <p:cNvPr id="16" name="">
            <a:extLst xmlns:a="http://schemas.openxmlformats.org/drawingml/2006/main">
              <a:ext uri="{FF2B5EF4-FFF2-40B4-BE49-F238E27FC236}">
                <a16:creationId xmlns:a16="http://schemas.microsoft.com/office/drawing/2014/main" id="{D5037E19-0F2E-4482-B554-3FCFE2FED495}"/>
              </a:ext>
            </a:extLst>
          </p:cNvPr>
          <p:cNvSpPr>
            <a:spLocks xmlns:a="http://schemas.openxmlformats.org/drawingml/2006/main" noGrp="1"/>
          </p:cNvSpPr>
          <p:nvPr/>
        </p:nvSpPr>
        <p:spPr>
          <a:xfrm xmlns:a="http://schemas.openxmlformats.org/drawingml/2006/main">
            <a:off x="6400800" y="19240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B44738"/>
                </a:solidFill>
              </a:defRPr>
            </a:pPr>
            <a:r>
              <a:rPr sz="1275" b="1">
                <a:solidFill>
                  <a:srgbClr val="B44738"/>
                </a:solidFill>
              </a:rPr>
              <a:t>STILL UNKNOWN</a:t>
            </a:r>
          </a:p>
        </p:txBody>
      </p:sp>
      <p:sp>
        <p:nvSpPr>
          <p:cNvPr id="17" name="">
            <a:extLst xmlns:a="http://schemas.openxmlformats.org/drawingml/2006/main">
              <a:ext uri="{FF2B5EF4-FFF2-40B4-BE49-F238E27FC236}">
                <a16:creationId xmlns:a16="http://schemas.microsoft.com/office/drawing/2014/main" id="{5F86DB49-050F-4164-8340-F45F0D0D8579}"/>
              </a:ext>
            </a:extLst>
          </p:cNvPr>
          <p:cNvSpPr>
            <a:spLocks xmlns:a="http://schemas.openxmlformats.org/drawingml/2006/main" noGrp="1"/>
          </p:cNvSpPr>
          <p:nvPr/>
        </p:nvSpPr>
        <p:spPr>
          <a:xfrm xmlns:a="http://schemas.openxmlformats.org/drawingml/2006/main">
            <a:off x="6400800" y="24003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000000"/>
                </a:solidFill>
              </a:defRPr>
            </a:pPr>
            <a:r>
              <a:rPr sz="2325" b="1">
                <a:solidFill>
                  <a:srgbClr val="000000"/>
                </a:solidFill>
              </a:rPr>
              <a:t>Whether a tradable effect exists.</a:t>
            </a:r>
          </a:p>
        </p:txBody>
      </p:sp>
      <p:sp>
        <p:nvSpPr>
          <p:cNvPr id="18" name="">
            <a:extLst xmlns:a="http://schemas.openxmlformats.org/drawingml/2006/main">
              <a:ext uri="{FF2B5EF4-FFF2-40B4-BE49-F238E27FC236}">
                <a16:creationId xmlns:a16="http://schemas.microsoft.com/office/drawing/2014/main" id="{6C023620-FFD7-481C-8A89-94A66FC350B1}"/>
              </a:ext>
            </a:extLst>
          </p:cNvPr>
          <p:cNvSpPr>
            <a:spLocks xmlns:a="http://schemas.openxmlformats.org/drawingml/2006/main" noGrp="1"/>
          </p:cNvSpPr>
          <p:nvPr/>
        </p:nvSpPr>
        <p:spPr>
          <a:xfrm xmlns:a="http://schemas.openxmlformats.org/drawingml/2006/main">
            <a:off x="6419850" y="3143250"/>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19" name="">
            <a:extLst xmlns:a="http://schemas.openxmlformats.org/drawingml/2006/main">
              <a:ext uri="{FF2B5EF4-FFF2-40B4-BE49-F238E27FC236}">
                <a16:creationId xmlns:a16="http://schemas.microsoft.com/office/drawing/2014/main" id="{23639C32-5A6A-48AA-A8CE-53273787A1DB}"/>
              </a:ext>
            </a:extLst>
          </p:cNvPr>
          <p:cNvSpPr>
            <a:spLocks xmlns:a="http://schemas.openxmlformats.org/drawingml/2006/main" noGrp="1"/>
          </p:cNvSpPr>
          <p:nvPr/>
        </p:nvSpPr>
        <p:spPr>
          <a:xfrm xmlns:a="http://schemas.openxmlformats.org/drawingml/2006/main">
            <a:off x="6648450" y="30670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Does exact exchange activation sharpen the proxy?</a:t>
            </a:r>
          </a:p>
        </p:txBody>
      </p:sp>
      <p:sp>
        <p:nvSpPr>
          <p:cNvPr id="20" name="">
            <a:extLst xmlns:a="http://schemas.openxmlformats.org/drawingml/2006/main">
              <a:ext uri="{FF2B5EF4-FFF2-40B4-BE49-F238E27FC236}">
                <a16:creationId xmlns:a16="http://schemas.microsoft.com/office/drawing/2014/main" id="{8F0B8145-9517-40ED-9009-2CD47248615B}"/>
              </a:ext>
            </a:extLst>
          </p:cNvPr>
          <p:cNvSpPr>
            <a:spLocks xmlns:a="http://schemas.openxmlformats.org/drawingml/2006/main" noGrp="1"/>
          </p:cNvSpPr>
          <p:nvPr/>
        </p:nvSpPr>
        <p:spPr>
          <a:xfrm xmlns:a="http://schemas.openxmlformats.org/drawingml/2006/main">
            <a:off x="6419850" y="3867150"/>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21" name="">
            <a:extLst xmlns:a="http://schemas.openxmlformats.org/drawingml/2006/main">
              <a:ext uri="{FF2B5EF4-FFF2-40B4-BE49-F238E27FC236}">
                <a16:creationId xmlns:a16="http://schemas.microsoft.com/office/drawing/2014/main" id="{34A694E4-B9FC-4FDC-8799-036C94EF9510}"/>
              </a:ext>
            </a:extLst>
          </p:cNvPr>
          <p:cNvSpPr>
            <a:spLocks xmlns:a="http://schemas.openxmlformats.org/drawingml/2006/main" noGrp="1"/>
          </p:cNvSpPr>
          <p:nvPr/>
        </p:nvSpPr>
        <p:spPr>
          <a:xfrm xmlns:a="http://schemas.openxmlformats.org/drawingml/2006/main">
            <a:off x="6648450" y="37909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Is there any reproducible distinction by reclaim strength or horizon?</a:t>
            </a:r>
          </a:p>
        </p:txBody>
      </p:sp>
      <p:sp>
        <p:nvSpPr>
          <p:cNvPr id="22" name="">
            <a:extLst xmlns:a="http://schemas.openxmlformats.org/drawingml/2006/main">
              <a:ext uri="{FF2B5EF4-FFF2-40B4-BE49-F238E27FC236}">
                <a16:creationId xmlns:a16="http://schemas.microsoft.com/office/drawing/2014/main" id="{62DD9A2C-3800-4B0F-B8BD-3659B81D7B81}"/>
              </a:ext>
            </a:extLst>
          </p:cNvPr>
          <p:cNvSpPr>
            <a:spLocks xmlns:a="http://schemas.openxmlformats.org/drawingml/2006/main" noGrp="1"/>
          </p:cNvSpPr>
          <p:nvPr/>
        </p:nvSpPr>
        <p:spPr>
          <a:xfrm xmlns:a="http://schemas.openxmlformats.org/drawingml/2006/main">
            <a:off x="6419850" y="4591050"/>
            <a:ext cx="85725" cy="85725"/>
          </a:xfrm>
          <a:prstGeom xmlns:a="http://schemas.openxmlformats.org/drawingml/2006/main" prst="rect">
            <a:avLst/>
          </a:prstGeom>
          <a:solidFill xmlns:a="http://schemas.openxmlformats.org/drawingml/2006/main">
            <a:srgbClr val="B44738"/>
          </a:solidFill>
          <a:ln xmlns:a="http://schemas.openxmlformats.org/drawingml/2006/main" w="0">
            <a:solidFill>
              <a:srgbClr val="B44738"/>
            </a:solidFill>
            <a:prstDash val="solid"/>
          </a:ln>
        </p:spPr>
      </p:sp>
      <p:sp>
        <p:nvSpPr>
          <p:cNvPr id="23" name="">
            <a:extLst xmlns:a="http://schemas.openxmlformats.org/drawingml/2006/main">
              <a:ext uri="{FF2B5EF4-FFF2-40B4-BE49-F238E27FC236}">
                <a16:creationId xmlns:a16="http://schemas.microsoft.com/office/drawing/2014/main" id="{244A3373-6E59-46F9-ACFC-5111669ACB34}"/>
              </a:ext>
            </a:extLst>
          </p:cNvPr>
          <p:cNvSpPr>
            <a:spLocks xmlns:a="http://schemas.openxmlformats.org/drawingml/2006/main" noGrp="1"/>
          </p:cNvSpPr>
          <p:nvPr/>
        </p:nvSpPr>
        <p:spPr>
          <a:xfrm xmlns:a="http://schemas.openxmlformats.org/drawingml/2006/main">
            <a:off x="6648450" y="45148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24364B"/>
                </a:solidFill>
              </a:defRPr>
            </a:pPr>
            <a:r>
              <a:rPr sz="1575" b="0">
                <a:solidFill>
                  <a:srgbClr val="24364B"/>
                </a:solidFill>
              </a:rPr>
              <a:t>Does the idea survive a predeclared atlas, costs, and untouched data?</a:t>
            </a:r>
          </a:p>
        </p:txBody>
      </p:sp>
      <p:sp>
        <p:nvSpPr>
          <p:cNvPr id="24" name="">
            <a:extLst xmlns:a="http://schemas.openxmlformats.org/drawingml/2006/main">
              <a:ext uri="{FF2B5EF4-FFF2-40B4-BE49-F238E27FC236}">
                <a16:creationId xmlns:a16="http://schemas.microsoft.com/office/drawing/2014/main" id="{CDD42FB7-123F-4BE2-84DB-8129F6349894}"/>
              </a:ext>
            </a:extLst>
          </p:cNvPr>
          <p:cNvSpPr>
            <a:spLocks xmlns:a="http://schemas.openxmlformats.org/drawingml/2006/main" noGrp="1"/>
          </p:cNvSpPr>
          <p:nvPr/>
        </p:nvSpPr>
        <p:spPr>
          <a:xfrm xmlns:a="http://schemas.openxmlformats.org/drawingml/2006/main">
            <a:off x="552450" y="5410200"/>
            <a:ext cx="11087100" cy="742950"/>
          </a:xfrm>
          <a:prstGeom xmlns:a="http://schemas.openxmlformats.org/drawingml/2006/main" prst="rect">
            <a:avLst/>
          </a:prstGeom>
          <a:solidFill xmlns:a="http://schemas.openxmlformats.org/drawingml/2006/main">
            <a:srgbClr val="24364B"/>
          </a:solidFill>
          <a:ln xmlns:a="http://schemas.openxmlformats.org/drawingml/2006/main" w="0">
            <a:solidFill>
              <a:srgbClr val="24364B"/>
            </a:solidFill>
            <a:prstDash val="solid"/>
          </a:ln>
        </p:spPr>
      </p:sp>
      <p:sp>
        <p:nvSpPr>
          <p:cNvPr id="25" name="">
            <a:extLst xmlns:a="http://schemas.openxmlformats.org/drawingml/2006/main">
              <a:ext uri="{FF2B5EF4-FFF2-40B4-BE49-F238E27FC236}">
                <a16:creationId xmlns:a16="http://schemas.microsoft.com/office/drawing/2014/main" id="{699AA8EB-A7BC-41E5-AD70-41A293E29FF8}"/>
              </a:ext>
            </a:extLst>
          </p:cNvPr>
          <p:cNvSpPr>
            <a:spLocks xmlns:a="http://schemas.openxmlformats.org/drawingml/2006/main" noGrp="1"/>
          </p:cNvSpPr>
          <p:nvPr/>
        </p:nvSpPr>
        <p:spPr>
          <a:xfrm xmlns:a="http://schemas.openxmlformats.org/drawingml/2006/main">
            <a:off x="819150" y="56197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D0EDFA"/>
                </a:solidFill>
              </a:defRPr>
            </a:pPr>
            <a:r>
              <a:rPr sz="1200" b="1">
                <a:solidFill>
                  <a:srgbClr val="D0EDFA"/>
                </a:solidFill>
              </a:rPr>
              <a:t>STATUS</a:t>
            </a:r>
          </a:p>
        </p:txBody>
      </p:sp>
      <p:sp>
        <p:nvSpPr>
          <p:cNvPr id="26" name="">
            <a:extLst xmlns:a="http://schemas.openxmlformats.org/drawingml/2006/main">
              <a:ext uri="{FF2B5EF4-FFF2-40B4-BE49-F238E27FC236}">
                <a16:creationId xmlns:a16="http://schemas.microsoft.com/office/drawing/2014/main" id="{E15C1BF2-FC7F-41F2-ABF5-BB01F74FA12B}"/>
              </a:ext>
            </a:extLst>
          </p:cNvPr>
          <p:cNvSpPr>
            <a:spLocks xmlns:a="http://schemas.openxmlformats.org/drawingml/2006/main" noGrp="1"/>
          </p:cNvSpPr>
          <p:nvPr/>
        </p:nvSpPr>
        <p:spPr>
          <a:xfrm xmlns:a="http://schemas.openxmlformats.org/drawingml/2006/main">
            <a:off x="2190750" y="5553075"/>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FFFFFF"/>
                </a:solidFill>
              </a:defRPr>
            </a:pPr>
            <a:r>
              <a:rPr sz="1875" b="1">
                <a:solidFill>
                  <a:srgbClr val="FFFFFF"/>
                </a:solidFill>
              </a:rPr>
              <a:t>DISCOVERY SLICE COMPLETE · NO PASS / STOP · NO EDGE CLAIM</a:t>
            </a:r>
          </a:p>
        </p:txBody>
      </p:sp>
    </p:spTree>
    <p:extLst>
      <p:ext uri="{BB962C8B-B14F-4D97-AF65-F5344CB8AC3E}">
        <p14:creationId xmlns:p14="http://schemas.microsoft.com/office/powerpoint/2010/main" val="36414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2026-08-30T20:20:14.3540000Z</dcterms:created>
  <dcterms:modified xsi:type="dcterms:W3CDTF">2026-08-30T20:20:14.3540000Z</dcterms:modified>
</coreProperties>
</file>