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5177c475b4e28" /><Relationship Type="http://schemas.openxmlformats.org/officeDocument/2006/relationships/extended-properties" Target="/docProps/app.xml" Id="R23e93a8d72074c47" /><Relationship Type="http://schemas.openxmlformats.org/officeDocument/2006/relationships/officeDocument" Target="/ppt/presentation.xml" Id="R9a4298c36aa6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08aadef9144d2"/>
  </p:sldMasterIdLst>
  <p:notesMasterIdLst>
    <p:notesMasterId xmlns:r="http://schemas.openxmlformats.org/officeDocument/2006/relationships" r:id="Rfc5ce110c7d44ce1"/>
  </p:notesMasterIdLst>
  <p:sldIdLst>
    <p:sldId xmlns:r="http://schemas.openxmlformats.org/officeDocument/2006/relationships" id="256" r:id="R8e9d13c0e334479b"/>
    <p:sldId xmlns:r="http://schemas.openxmlformats.org/officeDocument/2006/relationships" id="257" r:id="R8016b965ad6e4cbc"/>
    <p:sldId xmlns:r="http://schemas.openxmlformats.org/officeDocument/2006/relationships" id="258" r:id="R43cf71f5fea94937"/>
    <p:sldId xmlns:r="http://schemas.openxmlformats.org/officeDocument/2006/relationships" id="259" r:id="Re3637896192d4fbc"/>
    <p:sldId xmlns:r="http://schemas.openxmlformats.org/officeDocument/2006/relationships" id="260" r:id="Rd3caf72758374f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25980638f4a41" /><Relationship Type="http://schemas.openxmlformats.org/officeDocument/2006/relationships/slideMaster" Target="/ppt/slideMasters/slideMaster1.xml" Id="R14008aadef9144d2" /><Relationship Type="http://schemas.openxmlformats.org/officeDocument/2006/relationships/notesMaster" Target="/ppt/notesMasters/notesMaster1.xml" Id="Rfc5ce110c7d44ce1" /><Relationship Type="http://schemas.openxmlformats.org/officeDocument/2006/relationships/presProps" Target="/ppt/presProps.xml" Id="R2037369c71fe42de" /><Relationship Type="http://schemas.openxmlformats.org/officeDocument/2006/relationships/tableStyles" Target="/ppt/tableStyles.xml" Id="R507acaa8f2914b07" /><Relationship Type="http://schemas.openxmlformats.org/officeDocument/2006/relationships/slide" Target="/ppt/slides/slide1.xml" Id="R8e9d13c0e334479b" /><Relationship Type="http://schemas.openxmlformats.org/officeDocument/2006/relationships/slide" Target="/ppt/slides/slide2.xml" Id="R8016b965ad6e4cbc" /><Relationship Type="http://schemas.openxmlformats.org/officeDocument/2006/relationships/slide" Target="/ppt/slides/slide3.xml" Id="R43cf71f5fea94937" /><Relationship Type="http://schemas.openxmlformats.org/officeDocument/2006/relationships/slide" Target="/ppt/slides/slide4.xml" Id="Re3637896192d4fbc" /><Relationship Type="http://schemas.openxmlformats.org/officeDocument/2006/relationships/slide" Target="/ppt/slides/slide5.xml" Id="Rd3caf72758374f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46762ba957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b7f2ccc68468a" /><Relationship Type="http://schemas.openxmlformats.org/officeDocument/2006/relationships/notesMaster" Target="/ppt/notesMasters/notesMaster1.xml" Id="R12a768cdbee947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2a3a7a1397453b" /><Relationship Type="http://schemas.openxmlformats.org/officeDocument/2006/relationships/notesMaster" Target="/ppt/notesMasters/notesMaster1.xml" Id="R027f0b068c0a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34a77dc2e48ad" /><Relationship Type="http://schemas.openxmlformats.org/officeDocument/2006/relationships/notesMaster" Target="/ppt/notesMasters/notesMaster1.xml" Id="R48f877e8dd874e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12d38ee4d4c8c" /><Relationship Type="http://schemas.openxmlformats.org/officeDocument/2006/relationships/notesMaster" Target="/ppt/notesMasters/notesMaster1.xml" Id="R8945d4d6683b45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d5f5c0a0574be8" /><Relationship Type="http://schemas.openxmlformats.org/officeDocument/2006/relationships/notesMaster" Target="/ppt/notesMasters/notesMaster1.xml" Id="R89a6b2a29dfe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slice replaces the four illustrative tapes with the full frozen event surface. Five sessions is the focal question; ten sessions is displayed only to reveal whether the path persists or reverses.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packet: runs/research_workbench/edge_discovery_lab/edl_ms_01_rule201_forward_path_20260830/report.md</a:t>
            </a:r>
          </a:p>
          <a:p xmlns:a="http://schemas.openxmlformats.org/drawingml/2006/main">
            <a:r>
              <a:t>- Local path summary: runs/research_workbench/edge_discovery_lab/edl_ms_01_rule201_forward_path_20260830/forward_path_summary.csv</a:t>
            </a:r>
          </a:p>
          <a:p xmlns:a="http://schemas.openxmlformats.org/drawingml/2006/main">
            <a:r>
              <a:t>- Local concentration tables: runs/research_workbench/edge_discovery_lab/edl_ms_01_rule201_forward_path_20260830/symbol_concentration.csv and calendar_concentration.csv</a:t>
            </a:r>
          </a:p>
          <a:p xmlns:a="http://schemas.openxmlformats.org/drawingml/2006/main">
            <a:r>
              <a:t>- Intraday branch bookmark: edge_discovery_lab/docs/EDL_MS_01_INTRADAY_BRANCHES.md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Triggered strong reclaims reach a positive median around session five and then fade. The other categories do not form a clean threshold-by-reclaim ordering. Panel y-ranges clip extreme individual paths for legibility; all summaries use the full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packet: runs/research_workbench/edge_discovery_lab/edl_ms_01_rule201_forward_path_20260830/report.md</a:t>
            </a:r>
          </a:p>
          <a:p xmlns:a="http://schemas.openxmlformats.org/drawingml/2006/main">
            <a:r>
              <a:t>- Local path summary: runs/research_workbench/edge_discovery_lab/edl_ms_01_rule201_forward_path_20260830/forward_path_summary.csv</a:t>
            </a:r>
          </a:p>
          <a:p xmlns:a="http://schemas.openxmlformats.org/drawingml/2006/main">
            <a:r>
              <a:t>- Local concentration tables: runs/research_workbench/edge_discovery_lab/edl_ms_01_rule201_forward_path_20260830/symbol_concentration.csv and calendar_concentration.csv</a:t>
            </a:r>
          </a:p>
          <a:p xmlns:a="http://schemas.openxmlformats.org/drawingml/2006/main">
            <a:r>
              <a:t>- Intraday branch bookmark: edge_discovery_lab/docs/EDL_MS_01_INTRADAY_BRANCHES.md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AMC and CVNA supply 67 percent of the 24 triggered strong-reclaim observations. The two largest years, 2020 and 2022, also supply 67 percent. This is a warning about the discovery surface, not a reason to fit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packet: runs/research_workbench/edge_discovery_lab/edl_ms_01_rule201_forward_path_20260830/report.md</a:t>
            </a:r>
          </a:p>
          <a:p xmlns:a="http://schemas.openxmlformats.org/drawingml/2006/main">
            <a:r>
              <a:t>- Local path summary: runs/research_workbench/edge_discovery_lab/edl_ms_01_rule201_forward_path_20260830/forward_path_summary.csv</a:t>
            </a:r>
          </a:p>
          <a:p xmlns:a="http://schemas.openxmlformats.org/drawingml/2006/main">
            <a:r>
              <a:t>- Local concentration tables: runs/research_workbench/edge_discovery_lab/edl_ms_01_rule201_forward_path_20260830/symbol_concentration.csv and calendar_concentration.csv</a:t>
            </a:r>
          </a:p>
          <a:p xmlns:a="http://schemas.openxmlformats.org/drawingml/2006/main">
            <a:r>
              <a:t>- Intraday branch bookmark: edge_discovery_lab/docs/EDL_MS_01_INTRADAY_BRANCHES.md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path anatomy preserves an interesting temporary-recovery shape but weakens the original interaction story. No horizon is selected from this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packet: runs/research_workbench/edge_discovery_lab/edl_ms_01_rule201_forward_path_20260830/report.md</a:t>
            </a:r>
          </a:p>
          <a:p xmlns:a="http://schemas.openxmlformats.org/drawingml/2006/main">
            <a:r>
              <a:t>- Local path summary: runs/research_workbench/edge_discovery_lab/edl_ms_01_rule201_forward_path_20260830/forward_path_summary.csv</a:t>
            </a:r>
          </a:p>
          <a:p xmlns:a="http://schemas.openxmlformats.org/drawingml/2006/main">
            <a:r>
              <a:t>- Local concentration tables: runs/research_workbench/edge_discovery_lab/edl_ms_01_rule201_forward_path_20260830/symbol_concentration.csv and calendar_concentration.csv</a:t>
            </a:r>
          </a:p>
          <a:p xmlns:a="http://schemas.openxmlformats.org/drawingml/2006/main">
            <a:r>
              <a:t>- Intraday branch bookmark: edge_discovery_lab/docs/EDL_MS_01_INTRADAY_BRANCHES.md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Branch A is the operator's clarification: intraday entry timing after the completed daily event. Branch B is the separate live same-day signal proposed during the huddle. Neither is executed in this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packet: runs/research_workbench/edge_discovery_lab/edl_ms_01_rule201_forward_path_20260830/report.md</a:t>
            </a:r>
          </a:p>
          <a:p xmlns:a="http://schemas.openxmlformats.org/drawingml/2006/main">
            <a:r>
              <a:t>- Local path summary: runs/research_workbench/edge_discovery_lab/edl_ms_01_rule201_forward_path_20260830/forward_path_summary.csv</a:t>
            </a:r>
          </a:p>
          <a:p xmlns:a="http://schemas.openxmlformats.org/drawingml/2006/main">
            <a:r>
              <a:t>- Local concentration tables: runs/research_workbench/edge_discovery_lab/edl_ms_01_rule201_forward_path_20260830/symbol_concentration.csv and calendar_concentration.csv</a:t>
            </a:r>
          </a:p>
          <a:p xmlns:a="http://schemas.openxmlformats.org/drawingml/2006/main">
            <a:r>
              <a:t>- Intraday branch bookmark: edge_discovery_lab/docs/EDL_MS_01_INTRADAY_BRANCHES.md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cb36a3a07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a9e249d6514b54" /><Relationship Type="http://schemas.openxmlformats.org/officeDocument/2006/relationships/slideLayout" Target="/ppt/slideLayouts/slideLayout1.xml" Id="R70555296dcb1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55296dcb1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f0acbf7c64fc5" /><Relationship Type="http://schemas.openxmlformats.org/officeDocument/2006/relationships/notesSlide" Target="/ppt/notesSlides/notesSlide1.xml" Id="R8f5ad08c9128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36a3207734f94" /><Relationship Type="http://schemas.openxmlformats.org/officeDocument/2006/relationships/image" Target="/ppt/media/image.png" Id="R5964366bde084bfe" /><Relationship Type="http://schemas.openxmlformats.org/officeDocument/2006/relationships/notesSlide" Target="/ppt/notesSlides/notesSlide2.xml" Id="R2b1a5ab72b684c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1bed449b74cc1" /><Relationship Type="http://schemas.openxmlformats.org/officeDocument/2006/relationships/image" Target="/ppt/media/image2.png" Id="R974e144bc1834a2a" /><Relationship Type="http://schemas.openxmlformats.org/officeDocument/2006/relationships/notesSlide" Target="/ppt/notesSlides/notesSlide3.xml" Id="Rc68972ac4614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305667a14558" /><Relationship Type="http://schemas.openxmlformats.org/officeDocument/2006/relationships/notesSlide" Target="/ppt/notesSlides/notesSlide4.xml" Id="R78ea52ea6559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5ad3555254bae" /><Relationship Type="http://schemas.openxmlformats.org/officeDocument/2006/relationships/notesSlide" Target="/ppt/notesSlides/notesSlide5.xml" Id="R2c220bc6deff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556B2-2861-4860-8810-401416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54564-C830-4CA3-AC86-29D6939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86"/>
                </a:solidFill>
              </a:defRPr>
            </a:pPr>
            <a:r>
              <a:rPr sz="1200" b="1">
                <a:solidFill>
                  <a:srgbClr val="667386"/>
                </a:solidFill>
              </a:rPr>
              <a:t>EDGE DISCOVERY LAB · SECOND SLICE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DB363-3265-470C-AC23-9717D9D3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810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From four tapes</a:t>
            </a:r>
          </a:p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to 646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8BCE0-E82D-4D9D-88BE-2F579C84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64B"/>
                </a:solidFill>
              </a:defRPr>
            </a:pPr>
            <a:r>
              <a:rPr sz="2175" b="0">
                <a:solidFill>
                  <a:srgbClr val="24364B"/>
                </a:solidFill>
              </a:rPr>
              <a:t>Does the possible five-session recovery survive contact with the full frozen event surface?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BF9F8-8E05-4595-8D86-87FF4136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57300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8DFF6-9412-4B16-A0C7-CCD6F0B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1→5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13D7-A580-4787-B6A9-F2AA453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0EDFA"/>
                </a:solidFill>
              </a:defRPr>
            </a:pPr>
            <a:r>
              <a:rPr sz="1350" b="0">
                <a:solidFill>
                  <a:srgbClr val="D0EDFA"/>
                </a:solidFill>
              </a:rPr>
              <a:t>sessions</a:t>
            </a:r>
          </a:p>
          <a:p xmlns:a="http://schemas.openxmlformats.org/drawingml/2006/main">
            <a:pPr algn="ctr">
              <a:defRPr sz="1350" b="0">
                <a:solidFill>
                  <a:srgbClr val="D0EDFA"/>
                </a:solidFill>
              </a:defRPr>
            </a:pPr>
            <a:r>
              <a:rPr sz="1350" b="0">
                <a:solidFill>
                  <a:srgbClr val="D0EDFA"/>
                </a:solidFill>
              </a:rPr>
              <a:t>under the microscope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A652D-CC33-416D-933B-90F4D649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C52C4-9918-4056-974D-B7E6CCC5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66D"/>
                </a:solidFill>
              </a:defRPr>
            </a:pPr>
            <a:r>
              <a:rPr sz="1275" b="1">
                <a:solidFill>
                  <a:srgbClr val="14866D"/>
                </a:solidFill>
              </a:rPr>
              <a:t>Preserved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8A92E-623E-4733-800B-7A99FB1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64B"/>
                </a:solidFill>
              </a:defRPr>
            </a:pPr>
            <a:r>
              <a:rPr sz="1650" b="0">
                <a:solidFill>
                  <a:srgbClr val="24364B"/>
                </a:solidFill>
              </a:rPr>
              <a:t>All event identities, next-open timing, the four trigger/reclaim groups, and the sealed 2023 endpoint.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4E82E-8620-4C0D-B2F7-A6DE834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4738"/>
                </a:solidFill>
              </a:defRPr>
            </a:pPr>
            <a:r>
              <a:rPr sz="975" b="1">
                <a:solidFill>
                  <a:srgbClr val="B44738"/>
                </a:solidFill>
              </a:rPr>
              <a:t>DESCRIPTIVE ANATOMY · NO HORIZON SELECTION · NO EDGE CLAIM</a:t>
            </a:r>
          </a:p>
        </p:txBody>
      </p:sp>
    </p:spTree>
    <p:extLst>
      <p:ext uri="{BB962C8B-B14F-4D97-AF65-F5344CB8AC3E}">
        <p14:creationId xmlns:p14="http://schemas.microsoft.com/office/powerpoint/2010/main" val="748852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AB59-7B44-41C4-8698-D58DEF54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 · FORWARD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37E23-4298-4505-BDD7-2DFF22F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five-session hump appears—but only in a small, unstable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845FC-FB66-4BFC-A24D-791EBCC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27BD5-8257-4E0A-ADEA-E81758C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646 frozen events · 2018–2023 TRAIN · next-open 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EADA8-FACF-4BC8-9123-6A70EDCF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4366bde084bfe"/>
          <a:stretch xmlns:a="http://schemas.openxmlformats.org/drawingml/2006/main"/>
        </p:blipFill>
        <p:spPr>
          <a:xfrm xmlns:a="http://schemas.openxmlformats.org/drawingml/2006/main">
            <a:off x="2404110" y="1409700"/>
            <a:ext cx="738378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76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605C4-2416-4A41-A9A0-F2488CE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 · FORWARD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D4B5-DBAC-4AF1-9938-D96B3854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most appealing path is also the most concentrated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F3837-B6EB-4A9C-A142-C799EB2F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E1E19-A90F-4472-9B7A-8F2ED83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646 frozen events · 2018–2023 TRAIN · next-open 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09F9E-88CF-4AD2-9286-085706E8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144bc1834a2a"/>
          <a:stretch xmlns:a="http://schemas.openxmlformats.org/drawingml/2006/main"/>
        </p:blipFill>
        <p:spPr>
          <a:xfrm xmlns:a="http://schemas.openxmlformats.org/drawingml/2006/main">
            <a:off x="1571625" y="1428750"/>
            <a:ext cx="9048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05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87C66-7203-491B-B40A-80C1E4F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 · FORWARD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A4363-BBDC-4F10-AF87-5AAC65E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recovery clue survives; the proposed interaction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10ABE-BDE1-466C-AEE5-503AD237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8F9E-6D0C-4FAA-8109-2BE536A9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646 frozen events · 2018–2023 TRAIN · next-open 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F8AFB-8B7A-4C80-B202-4E1F8974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E48D6-9C25-410D-AA5E-4FF4A3B3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3149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C"/>
          </a:solidFill>
          <a:ln xmlns:a="http://schemas.openxmlformats.org/drawingml/2006/main" w="0">
            <a:solidFill>
              <a:srgbClr val="E2F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13B68-65A7-4AA7-85E3-088BD61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66D"/>
                </a:solidFill>
              </a:defRPr>
            </a:pPr>
            <a:r>
              <a:rPr sz="1275" b="1">
                <a:solidFill>
                  <a:srgbClr val="14866D"/>
                </a:solidFill>
              </a:rPr>
              <a:t>WHAT REMAINS INTERESTING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73313-E5AC-47BA-AD58-989806AB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+3.7%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1F58B-182C-48CC-B20C-D42F5FB3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64B"/>
                </a:solidFill>
              </a:defRPr>
            </a:pPr>
            <a:r>
              <a:rPr sz="1575" b="1">
                <a:solidFill>
                  <a:srgbClr val="24364B"/>
                </a:solidFill>
              </a:rPr>
              <a:t>triggered/strong median at session five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3B566-034B-42FA-892B-BE581DC3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8681-577D-450A-9344-3DC1293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The path rises mostly between sessions three and five.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23691-8E64-44B7-9133-79980C22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0A9E6-4D82-4EF5-BE85-FE5CDB8D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It fades to −1.1% by session ten—consistent with a temporary hump, not persistent drift.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91946-5310-49F0-BBBA-640E79C0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673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D7A81-D52E-45AF-9543-FE0E58C0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4738"/>
                </a:solidFill>
              </a:defRPr>
            </a:pPr>
            <a:r>
              <a:rPr sz="1275" b="1">
                <a:solidFill>
                  <a:srgbClr val="B44738"/>
                </a:solidFill>
              </a:rPr>
              <a:t>WHY IT STAYS A CLUE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C01BF-E9E5-4B4B-A3D6-4C5F575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0149A-ECDE-4499-9B28-BCAE8CFD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Only 24 observations; the mean is negative and the interquartile band is wide.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5265-927E-410F-ACB1-8BF85F8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629BC-F8DE-4EED-8024-02F6388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Two symbols and two calendar years each supply 67% of the group.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918DA-5BBD-4CDC-8F2F-90A98B6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D0E0A-151B-4623-840C-0EF53F3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Near-miss strong reclaims and triggered weak closes also rise at later horizons.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6FBE6-F824-4BF6-87D1-164D979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DCBB5-8442-419F-8D0F-9CB5DC5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READOUT: no clean Rule 201 × reclaim ordering is visible yet</a:t>
            </a:r>
          </a:p>
        </p:txBody>
      </p:sp>
    </p:spTree>
    <p:extLst>
      <p:ext uri="{BB962C8B-B14F-4D97-AF65-F5344CB8AC3E}">
        <p14:creationId xmlns:p14="http://schemas.microsoft.com/office/powerpoint/2010/main" val="464507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D9E3C-EB45-4EC8-95D4-42AC5E8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 · FORWARD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6C642-582D-48C0-99C2-BA7A41A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Two intraday questions now have separate clocks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D360E-4999-4747-A328-384326A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9D7E0-B1BA-4827-B3BF-A22B281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646 frozen events · 2018–2023 TRAIN · next-open 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A3982-5438-450D-B529-B22A8C1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8758-AC9D-41EC-A6C2-AB706334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203E0-6F24-4B67-A91B-838E4940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 · COMPLETED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5AD01-8E71-4582-9427-C565F663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When should the next trade enter?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B2F73-57DF-49C2-9A2A-6F12825C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41F4A-5706-4458-B609-0E527D69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Daily trigger and final close-location value are already known.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B25DD-9A42-4D85-BABA-53808D4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7FE70-F386-4D93-B711-19310BE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Future 30-minute study compares next-open with later completed-bar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041E1-CFE7-4192-8E7D-57BEF87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5524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D7"/>
          </a:solidFill>
          <a:ln xmlns:a="http://schemas.openxmlformats.org/drawingml/2006/main" w="0">
            <a:solidFill>
              <a:srgbClr val="F7EC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25667-0CE9-45BC-A6D1-7A23746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6B00"/>
                </a:solidFill>
              </a:defRPr>
            </a:pPr>
            <a:r>
              <a:rPr sz="1350" b="1">
                <a:solidFill>
                  <a:srgbClr val="A86B00"/>
                </a:solidFill>
              </a:rPr>
              <a:t>B · LIVE BREACH / RECLAIM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4F303-1C5B-46A8-928B-3717FBFF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Can a same-day signal be causal?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B8764-04B6-40F4-B9C9-DDAC8E1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B00"/>
          </a:solidFill>
          <a:ln xmlns:a="http://schemas.openxmlformats.org/drawingml/2006/main" w="0">
            <a:solidFill>
              <a:srgbClr val="A8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55FBB-214D-4FDF-A4C8-3D8F636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Threshold is crossed intraday; recovery must be defined only from completed bars.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13C36-4E76-4DB4-9339-02137EA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B00"/>
          </a:solidFill>
          <a:ln xmlns:a="http://schemas.openxmlformats.org/drawingml/2006/main" w="0">
            <a:solidFill>
              <a:srgbClr val="A86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50E1E-2668-4398-B9CF-A85C501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Final daily close-location value is forbidden until the session ends.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4C505-388A-4036-896C-4DA4C3ED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8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C223D-AE34-49BD-925C-66FB4F1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EDFA"/>
                </a:solidFill>
              </a:defRPr>
            </a:pPr>
            <a:r>
              <a:rPr sz="1200" b="1">
                <a:solidFill>
                  <a:srgbClr val="D0EDFA"/>
                </a:solidFill>
              </a:rPr>
              <a:t>CURRENT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1855A-94B7-4021-8483-8E05028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Daily path anatomy complete · both intraday branches remain unopened</a:t>
            </a:r>
          </a:p>
        </p:txBody>
      </p:sp>
    </p:spTree>
    <p:extLst>
      <p:ext uri="{BB962C8B-B14F-4D97-AF65-F5344CB8AC3E}">
        <p14:creationId xmlns:p14="http://schemas.microsoft.com/office/powerpoint/2010/main" val="2099199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2026-08-31T00:18:09.6940000Z</dcterms:created>
  <dcterms:modified xsi:type="dcterms:W3CDTF">2026-08-31T00:18:09.6940000Z</dcterms:modified>
</coreProperties>
</file>