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f9612d7ff9428f" /><Relationship Type="http://schemas.openxmlformats.org/officeDocument/2006/relationships/extended-properties" Target="/docProps/app.xml" Id="Re9ba73eae21b483f" /><Relationship Type="http://schemas.openxmlformats.org/officeDocument/2006/relationships/officeDocument" Target="/ppt/presentation.xml" Id="R6b27f7def38040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a6dca54e6e49da"/>
  </p:sldMasterIdLst>
  <p:notesMasterIdLst>
    <p:notesMasterId xmlns:r="http://schemas.openxmlformats.org/officeDocument/2006/relationships" r:id="R5aa9da50ec0e4780"/>
  </p:notesMasterIdLst>
  <p:sldIdLst>
    <p:sldId xmlns:r="http://schemas.openxmlformats.org/officeDocument/2006/relationships" id="256" r:id="R44ea0de3fcfb4f71"/>
    <p:sldId xmlns:r="http://schemas.openxmlformats.org/officeDocument/2006/relationships" id="257" r:id="R35ec6ec8065f42c2"/>
    <p:sldId xmlns:r="http://schemas.openxmlformats.org/officeDocument/2006/relationships" id="258" r:id="R7a83df34a0b74065"/>
    <p:sldId xmlns:r="http://schemas.openxmlformats.org/officeDocument/2006/relationships" id="259" r:id="Rf25ad023e03842d8"/>
    <p:sldId xmlns:r="http://schemas.openxmlformats.org/officeDocument/2006/relationships" id="260" r:id="R0dfc5d9cc5c24462"/>
    <p:sldId xmlns:r="http://schemas.openxmlformats.org/officeDocument/2006/relationships" id="261" r:id="R1c012f660c504f15"/>
    <p:sldId xmlns:r="http://schemas.openxmlformats.org/officeDocument/2006/relationships" id="262" r:id="Rf49d04a5627a4d22"/>
    <p:sldId xmlns:r="http://schemas.openxmlformats.org/officeDocument/2006/relationships" id="263" r:id="Ra4cd7b473b164d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de2f2a14054158" /><Relationship Type="http://schemas.openxmlformats.org/officeDocument/2006/relationships/slideMaster" Target="/ppt/slideMasters/slideMaster1.xml" Id="Rada6dca54e6e49da" /><Relationship Type="http://schemas.openxmlformats.org/officeDocument/2006/relationships/notesMaster" Target="/ppt/notesMasters/notesMaster1.xml" Id="R5aa9da50ec0e4780" /><Relationship Type="http://schemas.openxmlformats.org/officeDocument/2006/relationships/presProps" Target="/ppt/presProps.xml" Id="R57ddffd7a7fe483d" /><Relationship Type="http://schemas.openxmlformats.org/officeDocument/2006/relationships/tableStyles" Target="/ppt/tableStyles.xml" Id="Rf1b760ec9cbd4873" /><Relationship Type="http://schemas.openxmlformats.org/officeDocument/2006/relationships/slide" Target="/ppt/slides/slide1.xml" Id="R44ea0de3fcfb4f71" /><Relationship Type="http://schemas.openxmlformats.org/officeDocument/2006/relationships/slide" Target="/ppt/slides/slide2.xml" Id="R35ec6ec8065f42c2" /><Relationship Type="http://schemas.openxmlformats.org/officeDocument/2006/relationships/slide" Target="/ppt/slides/slide3.xml" Id="R7a83df34a0b74065" /><Relationship Type="http://schemas.openxmlformats.org/officeDocument/2006/relationships/slide" Target="/ppt/slides/slide4.xml" Id="Rf25ad023e03842d8" /><Relationship Type="http://schemas.openxmlformats.org/officeDocument/2006/relationships/slide" Target="/ppt/slides/slide5.xml" Id="R0dfc5d9cc5c24462" /><Relationship Type="http://schemas.openxmlformats.org/officeDocument/2006/relationships/slide" Target="/ppt/slides/slide6.xml" Id="R1c012f660c504f15" /><Relationship Type="http://schemas.openxmlformats.org/officeDocument/2006/relationships/slide" Target="/ppt/slides/slide7.xml" Id="Rf49d04a5627a4d22" /><Relationship Type="http://schemas.openxmlformats.org/officeDocument/2006/relationships/slide" Target="/ppt/slides/slide8.xml" Id="Ra4cd7b473b164d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06caded36142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a9ab71568a417e" /><Relationship Type="http://schemas.openxmlformats.org/officeDocument/2006/relationships/notesMaster" Target="/ppt/notesMasters/notesMaster1.xml" Id="Reac916387fd948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7fc9abda514f8f" /><Relationship Type="http://schemas.openxmlformats.org/officeDocument/2006/relationships/notesMaster" Target="/ppt/notesMasters/notesMaster1.xml" Id="R7b7b52311e684e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851296fceb41ab" /><Relationship Type="http://schemas.openxmlformats.org/officeDocument/2006/relationships/notesMaster" Target="/ppt/notesMasters/notesMaster1.xml" Id="Racb0889ea23c4a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6fadd8452e4a38" /><Relationship Type="http://schemas.openxmlformats.org/officeDocument/2006/relationships/notesMaster" Target="/ppt/notesMasters/notesMaster1.xml" Id="Rc32a3b6ede7e45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b1090609b441cd" /><Relationship Type="http://schemas.openxmlformats.org/officeDocument/2006/relationships/notesMaster" Target="/ppt/notesMasters/notesMaster1.xml" Id="R67e5fb5f24f043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c13b2f693241b7" /><Relationship Type="http://schemas.openxmlformats.org/officeDocument/2006/relationships/notesMaster" Target="/ppt/notesMasters/notesMaster1.xml" Id="R33e88e4fe1ab44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b8874af95f4999" /><Relationship Type="http://schemas.openxmlformats.org/officeDocument/2006/relationships/notesMaster" Target="/ppt/notesMasters/notesMaster1.xml" Id="Rfce1155bd4d54b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bc243d410a4589" /><Relationship Type="http://schemas.openxmlformats.org/officeDocument/2006/relationships/notesMaster" Target="/ppt/notesMasters/notesMaster1.xml" Id="R187e45bbaf1541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sequel tests the wide-atlas clue that attention stocks carried most of the apparent five-session rebound. The result has two layers: the positive distinction fails in the matched sample, and the predeclared balance gate also fails.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report: runs/research_workbench/edge_discovery_lab/edl_ms_01_attention_falsification_20260831/report.md</a:t>
            </a:r>
          </a:p>
          <a:p xmlns:a="http://schemas.openxmlformats.org/drawingml/2006/main">
            <a:r>
              <a:t>- Local falsification status: runs/research_workbench/edge_discovery_lab/edl_ms_01_attention_falsification_20260831/falsification_status.csv</a:t>
            </a:r>
          </a:p>
          <a:p xmlns:a="http://schemas.openxmlformats.org/drawingml/2006/main">
            <a:r>
              <a:t>- Local primary day-five test: runs/research_workbench/edge_discovery_lab/edl_ms_01_attention_falsification_20260831/primary_day5_test.csv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matching pool contained only stock events in the triggered-proxy and strong-reclaim state. Matching occurred inside exact calendar year and was completed before outcomes were attached.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frozen run specification: runs/research_workbench/edge_discovery_lab/edl_ms_01_attention_falsification_20260831/run_spec.csv</a:t>
            </a:r>
          </a:p>
          <a:p xmlns:a="http://schemas.openxmlformats.org/drawingml/2006/main">
            <a:r>
              <a:t>- Local matching enrollment audit: runs/research_workbench/edge_discovery_lab/edl_ms_01_attention_falsification_20260831/matching_enrollment_audit.csv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Close-location value and log abnormal dollar volume pass the balance limit. Breach severity and event date do not. Twenty pairs come from 2018, 2020, 2022, and 2023; 2021 attention events cannot enter because the core pool has no target event that year.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matching balance: runs/research_workbench/edge_discovery_lab/edl_ms_01_attention_falsification_20260831/matching_balance.csv</a:t>
            </a:r>
          </a:p>
          <a:p xmlns:a="http://schemas.openxmlformats.org/drawingml/2006/main">
            <a:r>
              <a:t>- Local matching enrollment audit: runs/research_workbench/edge_discovery_lab/edl_ms_01_attention_falsification_20260831/matching_enrollment_audit.csv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exact test enumerates all 1,048,576 sign assignments for the 20 paired differences. The negative point estimate and large one-sided p-value show that the earlier positive attention-stock pattern does not reproduce in this matched sample.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primary day-five test: runs/research_workbench/edge_discovery_lab/edl_ms_01_attention_falsification_20260831/primary_day5_test.csv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paired mean difference is below zero around the predeclared day-five horizon. The surrounding path is descriptive context and was not searched to nominate another holding period.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matched path summary: runs/research_workbench/edge_discovery_lab/edl_ms_01_attention_falsification_20260831/matched_path_summary.csv</a:t>
            </a:r>
          </a:p>
          <a:p xmlns:a="http://schemas.openxmlformats.org/drawingml/2006/main">
            <a:r>
              <a:t>- Local primary day-five test: runs/research_workbench/edge_discovery_lab/edl_ms_01_attention_falsification_20260831/primary_day5_test.csv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Omitting each matched calendar year in turn leaves a negative attention-minus-core mean. Omitting each attention symbol in turn also leaves a negative mean. This is robust against simple single-era and single-name explanations within the matched sample.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leave-one-year-out sensitivity: runs/research_workbench/edge_discovery_lab/edl_ms_01_attention_falsification_20260831/leave_one_year_out.csv</a:t>
            </a:r>
          </a:p>
          <a:p xmlns:a="http://schemas.openxmlformats.org/drawingml/2006/main">
            <a:r>
              <a:t>- Local leave-one-attention-symbol-out sensitivity: runs/research_workbench/edge_discovery_lab/edl_ms_01_attention_falsification_20260831/leave_one_attention_symbol_out.csv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earlier positive cohort clue is not promoted. The inability to balance the two pools is itself a finding: the target events occur in different environments. A new slice may quantify those separators, but its feature vocabulary and outcomes must be frozen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falsification status: runs/research_workbench/edge_discovery_lab/edl_ms_01_attention_falsification_20260831/falsification_status.csv</a:t>
            </a:r>
          </a:p>
          <a:p xmlns:a="http://schemas.openxmlformats.org/drawingml/2006/main">
            <a:r>
              <a:t>- Local matching balance: runs/research_workbench/edge_discovery_lab/edl_ms_01_attention_falsification_20260831/matching_balance.csv</a:t>
            </a:r>
          </a:p>
          <a:p xmlns:a="http://schemas.openxmlformats.org/drawingml/2006/main">
            <a:r>
              <a:t>- Local primary day-five test: runs/research_workbench/edge_discovery_lab/edl_ms_01_attention_falsification_20260831/primary_day5_test.csv</a:t>
            </a:r>
          </a:p>
          <a:p xmlns:a="http://schemas.openxmlformats.org/drawingml/2006/main">
            <a:r>
              <a:t>- Local report: runs/research_workbench/edge_discovery_lab/edl_ms_01_attention_falsification_20260831/report.md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summarizes the complete Rule 201 investigation in plain English. The original ten-stock pilot showed a temporary median rebound near session five. The balanced 88-stock core did not reproduce it. The apparent attention-stock explanation then reversed in the frozen matched follow-up, while the match-balance gate also failed. The result is a better-defined research question, not a tradable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forward-path report: runs/research_workbench/edge_discovery_lab/edl_ms_01_rule201_forward_path_20260830/report.md</a:t>
            </a:r>
          </a:p>
          <a:p xmlns:a="http://schemas.openxmlformats.org/drawingml/2006/main">
            <a:r>
              <a:t>- Local wide-atlas report: runs/research_workbench/edge_discovery_lab/edl_ms_01_rule201_wide_atlas_20260830/report.md</a:t>
            </a:r>
          </a:p>
          <a:p xmlns:a="http://schemas.openxmlformats.org/drawingml/2006/main">
            <a:r>
              <a:t>- Local attention falsification report: runs/research_workbench/edge_discovery_lab/edl_ms_01_attention_falsification_20260831/report.md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09691bc0204b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a6e8f2f02a4b25" /><Relationship Type="http://schemas.openxmlformats.org/officeDocument/2006/relationships/slideLayout" Target="/ppt/slideLayouts/slideLayout1.xml" Id="Rd57c2fd065db45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7c2fd065db45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4ece461794891" /><Relationship Type="http://schemas.openxmlformats.org/officeDocument/2006/relationships/notesSlide" Target="/ppt/notesSlides/notesSlide1.xml" Id="R02182f65fff744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ba44399bb4616" /><Relationship Type="http://schemas.openxmlformats.org/officeDocument/2006/relationships/notesSlide" Target="/ppt/notesSlides/notesSlide2.xml" Id="R441705048dfe47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b113b098646a8" /><Relationship Type="http://schemas.openxmlformats.org/officeDocument/2006/relationships/image" Target="/ppt/media/image.png" Id="Ra40817c7989047ca" /><Relationship Type="http://schemas.openxmlformats.org/officeDocument/2006/relationships/notesSlide" Target="/ppt/notesSlides/notesSlide3.xml" Id="R322e88e10f0b41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7f5176b3f4fae" /><Relationship Type="http://schemas.openxmlformats.org/officeDocument/2006/relationships/image" Target="/ppt/media/image2.png" Id="R28c559fb49be445e" /><Relationship Type="http://schemas.openxmlformats.org/officeDocument/2006/relationships/notesSlide" Target="/ppt/notesSlides/notesSlide4.xml" Id="R634f0164106b45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50e6939844b29" /><Relationship Type="http://schemas.openxmlformats.org/officeDocument/2006/relationships/image" Target="/ppt/media/image3.png" Id="R0b1934c1b57542cd" /><Relationship Type="http://schemas.openxmlformats.org/officeDocument/2006/relationships/notesSlide" Target="/ppt/notesSlides/notesSlide5.xml" Id="R1bcff4908e6547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0a92cb4fa4d19" /><Relationship Type="http://schemas.openxmlformats.org/officeDocument/2006/relationships/image" Target="/ppt/media/image4.png" Id="R4b245006bf69432e" /><Relationship Type="http://schemas.openxmlformats.org/officeDocument/2006/relationships/notesSlide" Target="/ppt/notesSlides/notesSlide6.xml" Id="R6187ee5125f94d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0354605dc4995" /><Relationship Type="http://schemas.openxmlformats.org/officeDocument/2006/relationships/notesSlide" Target="/ppt/notesSlides/notesSlide7.xml" Id="R0a27685fe39d4d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f700264144b77" /><Relationship Type="http://schemas.openxmlformats.org/officeDocument/2006/relationships/notesSlide" Target="/ppt/notesSlides/notesSlide8.xml" Id="R38a0e94e021f42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3348A8-170A-4F70-8466-60EF9BB6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738"/>
          </a:solidFill>
          <a:ln xmlns:a="http://schemas.openxmlformats.org/drawingml/2006/main" w="0">
            <a:solidFill>
              <a:srgbClr val="B447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85620-78CD-4259-9609-411DD995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386"/>
                </a:solidFill>
              </a:defRPr>
            </a:pPr>
            <a:r>
              <a:rPr sz="1200" b="1">
                <a:solidFill>
                  <a:srgbClr val="667386"/>
                </a:solidFill>
              </a:rPr>
              <a:t>EDGE DISCOVERY LAB · NARROW FALSIFICATION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3711C-E71C-423A-9E9A-37977086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Attention-stock distinction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58B55-95A7-4219-85A7-96CE59C8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1460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B44738"/>
                </a:solidFill>
              </a:defRPr>
            </a:pPr>
            <a:r>
              <a:rPr sz="2625" b="1">
                <a:solidFill>
                  <a:srgbClr val="B44738"/>
                </a:solidFill>
              </a:rPr>
              <a:t>The positive effect does not reproduce.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96010-7E7B-49EE-A14A-F4EB478F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781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364B"/>
                </a:solidFill>
              </a:defRPr>
            </a:pPr>
            <a:r>
              <a:rPr sz="1800" b="0">
                <a:solidFill>
                  <a:srgbClr val="24364B"/>
                </a:solidFill>
              </a:rPr>
              <a:t>Yet the matching itself fails balance—showing that attention and core events occupy meaningfully different pre-outcome environments.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BE255-2C0A-4751-910B-CDAD63F6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28750"/>
            <a:ext cx="2286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64B"/>
          </a:solidFill>
          <a:ln xmlns:a="http://schemas.openxmlformats.org/drawingml/2006/main" w="0">
            <a:solidFill>
              <a:srgbClr val="2436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31979B-1FEB-4AEA-A277-53BD588E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47850"/>
            <a:ext cx="1943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3CB0A-9FDF-47E1-BEEF-6B7B48FA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432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D0EDFA"/>
                </a:solidFill>
              </a:defRPr>
            </a:pPr>
            <a:r>
              <a:rPr sz="1650" b="0">
                <a:solidFill>
                  <a:srgbClr val="D0EDFA"/>
                </a:solidFill>
              </a:rPr>
              <a:t>matched pairs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C953B-61D0-4CAC-8FA2-B69A242F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081BEA-9769-4FEB-97D0-B4551E9B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483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4738"/>
                </a:solidFill>
              </a:defRPr>
            </a:pPr>
            <a:r>
              <a:rPr sz="1275" b="1">
                <a:solidFill>
                  <a:srgbClr val="B44738"/>
                </a:solidFill>
              </a:rPr>
              <a:t>INCONCLUSIVE · MATCH BALANCE FAILED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17BCF-74F7-413A-BC90-886AC8F6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4830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667386"/>
                </a:solidFill>
              </a:defRPr>
            </a:pPr>
            <a:r>
              <a:rPr sz="1275" b="1">
                <a:solidFill>
                  <a:srgbClr val="667386"/>
                </a:solidFill>
              </a:rPr>
              <a:t>No matcher rescue after outcomes</a:t>
            </a:r>
          </a:p>
        </p:txBody>
      </p:sp>
    </p:spTree>
    <p:extLst>
      <p:ext uri="{BB962C8B-B14F-4D97-AF65-F5344CB8AC3E}">
        <p14:creationId xmlns:p14="http://schemas.microsoft.com/office/powerpoint/2010/main" val="4801219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3A872D3-DCFF-45BA-A2F1-2A7922F6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386"/>
                </a:solidFill>
              </a:defRPr>
            </a:pPr>
            <a:r>
              <a:rPr sz="1050" b="1">
                <a:solidFill>
                  <a:srgbClr val="667386"/>
                </a:solidFill>
              </a:rPr>
              <a:t>EDGE DISCOVERY LAB · EDL-MS-01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B85DB1-243A-44DD-BD83-A608F22E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33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The comparison was frozen before forward returns were attached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822D54C-1D9D-4EEB-BE85-3AC88F71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386"/>
                </a:solidFill>
              </a:defRPr>
            </a:pPr>
            <a:r>
              <a:rPr sz="1350" b="0">
                <a:solidFill>
                  <a:srgbClr val="667386"/>
                </a:solidFill>
              </a:rPr>
              <a:t>One target state, one outcome horizon, one paired inferential test.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D6754-7983-4EB7-9CB9-7E7F3AE8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B463D8E3-5502-41A2-848D-2D07AB18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Adjusted daily · 2018–2023 TRAIN · matched falsification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C1BF043-0F0B-4816-8346-6EAF3401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02</a:t>
            </a:r>
          </a:p>
        </p:txBody>
      </p:sp>
      <p:sp>
        <p:nvSpPr>
          <p:cNvPr id="7" name="metric-same-year pairs">
            <a:extLst xmlns:a="http://schemas.openxmlformats.org/drawingml/2006/main">
              <a:ext uri="{FF2B5EF4-FFF2-40B4-BE49-F238E27FC236}">
                <a16:creationId xmlns:a16="http://schemas.microsoft.com/office/drawing/2014/main" id="{27375EB9-0F6F-4505-834D-C8637F1C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2476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A8D299-3126-4718-A531-997E0CB6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55A29-0CC1-4EEA-8D4F-90590825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3D8DFF"/>
                </a:solidFill>
              </a:defRPr>
            </a:pPr>
            <a:r>
              <a:rPr sz="2625" b="1">
                <a:solidFill>
                  <a:srgbClr val="3D8DFF"/>
                </a:solidFill>
              </a:rPr>
              <a:t>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D27288-16AC-4257-A064-77277BF6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52675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4364B"/>
                </a:solidFill>
              </a:defRPr>
            </a:pPr>
            <a:r>
              <a:rPr sz="1275" b="1">
                <a:solidFill>
                  <a:srgbClr val="24364B"/>
                </a:solidFill>
              </a:rPr>
              <a:t>same-year pairs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929290-1309-4610-AB50-B26B5CFF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386"/>
                </a:solidFill>
              </a:defRPr>
            </a:pPr>
            <a:r>
              <a:rPr sz="975" b="0">
                <a:solidFill>
                  <a:srgbClr val="667386"/>
                </a:solidFill>
              </a:rPr>
              <a:t>1:1 without replacement</a:t>
            </a:r>
          </a:p>
        </p:txBody>
      </p:sp>
      <p:sp>
        <p:nvSpPr>
          <p:cNvPr id="12" name="metric-matching variables">
            <a:extLst xmlns:a="http://schemas.openxmlformats.org/drawingml/2006/main">
              <a:ext uri="{FF2B5EF4-FFF2-40B4-BE49-F238E27FC236}">
                <a16:creationId xmlns:a16="http://schemas.microsoft.com/office/drawing/2014/main" id="{947F3525-18E9-48A6-B119-B6B10713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33550"/>
            <a:ext cx="2476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E6247D-6FC8-49F7-BAF2-B29DB9C4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335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7D5"/>
          </a:solidFill>
          <a:ln xmlns:a="http://schemas.openxmlformats.org/drawingml/2006/main" w="0">
            <a:solidFill>
              <a:srgbClr val="6957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B2F684-87F0-4B33-8EF0-0125B656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6690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6957D5"/>
                </a:solidFill>
              </a:defRPr>
            </a:pPr>
            <a:r>
              <a:rPr sz="2625" b="1">
                <a:solidFill>
                  <a:srgbClr val="6957D5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716918-8E31-48A0-B1CF-4AC626B5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52675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4364B"/>
                </a:solidFill>
              </a:defRPr>
            </a:pPr>
            <a:r>
              <a:rPr sz="1275" b="1">
                <a:solidFill>
                  <a:srgbClr val="24364B"/>
                </a:solidFill>
              </a:rPr>
              <a:t>matching variables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9D6A49-5503-4947-B2E8-05601E85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289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386"/>
                </a:solidFill>
              </a:defRPr>
            </a:pPr>
            <a:r>
              <a:rPr sz="975" b="0">
                <a:solidFill>
                  <a:srgbClr val="667386"/>
                </a:solidFill>
              </a:rPr>
              <a:t>all observed before outcome</a:t>
            </a:r>
          </a:p>
        </p:txBody>
      </p:sp>
      <p:sp>
        <p:nvSpPr>
          <p:cNvPr id="17" name="metric-forward sessions">
            <a:extLst xmlns:a="http://schemas.openxmlformats.org/drawingml/2006/main">
              <a:ext uri="{FF2B5EF4-FFF2-40B4-BE49-F238E27FC236}">
                <a16:creationId xmlns:a16="http://schemas.microsoft.com/office/drawing/2014/main" id="{AF0B0D5D-3B3D-464C-8AE3-5A14E864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33550"/>
            <a:ext cx="2476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0FF53-4B5C-4B8F-80F6-939FA909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335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solidFill>
              <a:srgbClr val="14866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5E1AB2-E8F2-4D6F-A006-39E4EE59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6690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866D"/>
                </a:solidFill>
              </a:defRPr>
            </a:pPr>
            <a:r>
              <a:rPr sz="2625" b="1">
                <a:solidFill>
                  <a:srgbClr val="14866D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4CD2F0-836C-4F91-8D05-C420ACE5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52675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4364B"/>
                </a:solidFill>
              </a:defRPr>
            </a:pPr>
            <a:r>
              <a:rPr sz="1275" b="1">
                <a:solidFill>
                  <a:srgbClr val="24364B"/>
                </a:solidFill>
              </a:rPr>
              <a:t>forward sessions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3220D7-E529-496F-9CB9-C31D9F67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289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386"/>
                </a:solidFill>
              </a:defRPr>
            </a:pPr>
            <a:r>
              <a:rPr sz="975" b="0">
                <a:solidFill>
                  <a:srgbClr val="667386"/>
                </a:solidFill>
              </a:rPr>
              <a:t>sole inferential horizon</a:t>
            </a:r>
          </a:p>
        </p:txBody>
      </p:sp>
      <p:sp>
        <p:nvSpPr>
          <p:cNvPr id="22" name="metric-balance limit">
            <a:extLst xmlns:a="http://schemas.openxmlformats.org/drawingml/2006/main">
              <a:ext uri="{FF2B5EF4-FFF2-40B4-BE49-F238E27FC236}">
                <a16:creationId xmlns:a16="http://schemas.microsoft.com/office/drawing/2014/main" id="{3AED8D42-3490-40CD-97C8-2F9790E0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33550"/>
            <a:ext cx="29718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2CF7BF-9CA1-4E7F-9FE7-D0AE2B5D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335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B00"/>
          </a:solidFill>
          <a:ln xmlns:a="http://schemas.openxmlformats.org/drawingml/2006/main" w="0">
            <a:solidFill>
              <a:srgbClr val="A86B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FB9A5A-F3A5-4E29-8143-74E2F8F1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669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A86B00"/>
                </a:solidFill>
              </a:defRPr>
            </a:pPr>
            <a:r>
              <a:rPr sz="2625" b="1">
                <a:solidFill>
                  <a:srgbClr val="A86B00"/>
                </a:solidFill>
              </a:rPr>
              <a:t>0.25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B84215-BDE7-4410-8012-20E54626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5267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4364B"/>
                </a:solidFill>
              </a:defRPr>
            </a:pPr>
            <a:r>
              <a:rPr sz="1275" b="1">
                <a:solidFill>
                  <a:srgbClr val="24364B"/>
                </a:solidFill>
              </a:rPr>
              <a:t>balance limit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69E613-E697-4A2D-838E-952DA746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289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386"/>
                </a:solidFill>
              </a:defRPr>
            </a:pPr>
            <a:r>
              <a:rPr sz="975" b="0">
                <a:solidFill>
                  <a:srgbClr val="667386"/>
                </a:solidFill>
              </a:rPr>
              <a:t>maximum absolute SMD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4A2859-58C9-4612-B25A-A88F0FA0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0"/>
            <a:ext cx="53340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E59D0B-C1CD-4A3A-AB08-6583B9C8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MATCH ON EVENT GEOMETRY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129B32-89D3-41D2-8479-D8300AD8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B99E18-2D56-404E-9EEA-21E32848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436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Minimum intraday return: breach severity.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E37C79-76FE-4109-8E7A-414D83F5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875BF2-2709-4CC9-84AD-65ECFD70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91050"/>
            <a:ext cx="436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Close-location value: strength of reclaim.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F3A867-FD5D-4837-AF01-E99F8997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B29B47-12FE-45E4-9C26-DC9D8187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6350"/>
            <a:ext cx="436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Log abnormal dollar volume: event attention/scale.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A27554-67BA-4163-81CD-83E86E67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2BD53C-746E-4113-AC96-34697197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00700"/>
            <a:ext cx="436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Event date: calendar proximity within year.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A18A0D-3209-45DB-9A6C-7138E423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33750"/>
            <a:ext cx="55435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68D147-1387-4202-83AF-A11CC563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195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364B"/>
                </a:solidFill>
              </a:defRPr>
            </a:pPr>
            <a:r>
              <a:rPr sz="1200" b="1">
                <a:solidFill>
                  <a:srgbClr val="24364B"/>
                </a:solidFill>
              </a:rPr>
              <a:t>PREDECLARED PASS LOGIC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0D53B7-6F25-4AE9-A077-A0827D8F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71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64B"/>
          </a:solidFill>
          <a:ln xmlns:a="http://schemas.openxmlformats.org/drawingml/2006/main" w="0">
            <a:solidFill>
              <a:srgbClr val="24364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2AE0BE-8BA2-47A8-B034-CF058FAE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95750"/>
            <a:ext cx="4591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Mean attention-minus-core day-five return must be positive.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20528F-9A7E-4DEC-A0E5-CB325FD9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81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64B"/>
          </a:solidFill>
          <a:ln xmlns:a="http://schemas.openxmlformats.org/drawingml/2006/main" w="0">
            <a:solidFill>
              <a:srgbClr val="24364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2A7074-43B1-4767-9AC4-F746C293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05350"/>
            <a:ext cx="459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Exact one-sided sign-flip p ≤ .05.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2C5116-45DC-487E-8E32-2D33F125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95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64B"/>
          </a:solidFill>
          <a:ln xmlns:a="http://schemas.openxmlformats.org/drawingml/2006/main" w="0">
            <a:solidFill>
              <a:srgbClr val="24364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F814C9-79A9-43E5-937C-8CEEF6F5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19700"/>
            <a:ext cx="4591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All leave-one-year and leave-one-attention-symbol means stay positive.</a:t>
            </a:r>
          </a:p>
        </p:txBody>
      </p:sp>
    </p:spTree>
    <p:extLst>
      <p:ext uri="{BB962C8B-B14F-4D97-AF65-F5344CB8AC3E}">
        <p14:creationId xmlns:p14="http://schemas.microsoft.com/office/powerpoint/2010/main" val="17676188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7951810-C8D7-4A04-9874-24358BCF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386"/>
                </a:solidFill>
              </a:defRPr>
            </a:pPr>
            <a:r>
              <a:rPr sz="1050" b="1">
                <a:solidFill>
                  <a:srgbClr val="667386"/>
                </a:solidFill>
              </a:rPr>
              <a:t>EDGE DISCOVERY LAB · EDL-MS-01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FBA1F6-3864-4B39-AAD3-1DD444EC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33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The matcher cannot make the two cohorts sufficiently comparable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7F60812-8C04-466A-86BB-B6484470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386"/>
                </a:solidFill>
              </a:defRPr>
            </a:pPr>
            <a:r>
              <a:rPr sz="1350" b="0">
                <a:solidFill>
                  <a:srgbClr val="667386"/>
                </a:solidFill>
              </a:rPr>
              <a:t>Two of four pre-outcome variables remain beyond the frozen 0.25 balance limit.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A6BF3-76A3-4DF1-AB2C-E681E213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4316CC1D-B958-4BCD-9138-949B9A3B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Adjusted daily · 2018–2023 TRAIN · matched falsification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4B48C4E-658B-43DC-BDEA-AA423889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03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0817c7989047ca"/>
          <a:stretch xmlns:a="http://schemas.openxmlformats.org/drawingml/2006/main"/>
        </p:blipFill>
        <p:spPr>
          <a:xfrm xmlns:a="http://schemas.openxmlformats.org/drawingml/2006/main">
            <a:off x="438150" y="1527008"/>
            <a:ext cx="8572500" cy="473743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BDA43-76B8-437F-8A36-5E18372D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52600"/>
            <a:ext cx="24193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5E1"/>
          </a:solidFill>
          <a:ln xmlns:a="http://schemas.openxmlformats.org/drawingml/2006/main" w="0">
            <a:solidFill>
              <a:srgbClr val="F6E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7D0154-B7DF-4828-8FF4-9C672ECB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764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B44738"/>
                </a:solidFill>
              </a:defRPr>
            </a:pPr>
            <a:r>
              <a:rPr sz="2775" b="1">
                <a:solidFill>
                  <a:srgbClr val="B44738"/>
                </a:solidFill>
              </a:rPr>
              <a:t>0.421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0FCCD-D147-42EA-8764-7AC7A88E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479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4364B"/>
                </a:solidFill>
              </a:defRPr>
            </a:pPr>
            <a:r>
              <a:rPr sz="1275" b="1">
                <a:solidFill>
                  <a:srgbClr val="24364B"/>
                </a:solidFill>
              </a:rPr>
              <a:t>breach severity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24364B"/>
                </a:solidFill>
              </a:defRPr>
            </a:pPr>
            <a:r>
              <a:rPr sz="1275" b="1">
                <a:solidFill>
                  <a:srgbClr val="24364B"/>
                </a:solidFill>
              </a:rPr>
              <a:t>post-match SMD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FBFDE-68BF-474D-9D04-AB3CFF96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00450"/>
            <a:ext cx="24193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5E1"/>
          </a:solidFill>
          <a:ln xmlns:a="http://schemas.openxmlformats.org/drawingml/2006/main" w="0">
            <a:solidFill>
              <a:srgbClr val="F6E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C5023-F4C5-4723-A687-28DF554E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2430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B44738"/>
                </a:solidFill>
              </a:defRPr>
            </a:pPr>
            <a:r>
              <a:rPr sz="2775" b="1">
                <a:solidFill>
                  <a:srgbClr val="B44738"/>
                </a:solidFill>
              </a:rPr>
              <a:t>0.331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1CB6F0-163D-4928-B735-D36713A0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9580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4364B"/>
                </a:solidFill>
              </a:defRPr>
            </a:pPr>
            <a:r>
              <a:rPr sz="1275" b="1">
                <a:solidFill>
                  <a:srgbClr val="24364B"/>
                </a:solidFill>
              </a:rPr>
              <a:t>event timing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24364B"/>
                </a:solidFill>
              </a:defRPr>
            </a:pPr>
            <a:r>
              <a:rPr sz="1275" b="1">
                <a:solidFill>
                  <a:srgbClr val="24364B"/>
                </a:solidFill>
              </a:rPr>
              <a:t>post-match SMD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2DC4AC-DC13-4173-AEEB-4C1F2BEC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562600"/>
            <a:ext cx="241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364B"/>
                </a:solidFill>
              </a:defRPr>
            </a:pPr>
            <a:r>
              <a:rPr sz="1200" b="1">
                <a:solidFill>
                  <a:srgbClr val="24364B"/>
                </a:solidFill>
              </a:rPr>
              <a:t>2021 contributes 11 attention events but no same-year core comparator.</a:t>
            </a:r>
          </a:p>
        </p:txBody>
      </p:sp>
    </p:spTree>
    <p:extLst>
      <p:ext uri="{BB962C8B-B14F-4D97-AF65-F5344CB8AC3E}">
        <p14:creationId xmlns:p14="http://schemas.microsoft.com/office/powerpoint/2010/main" val="1514045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689B079-E3B2-4396-8C64-5E0C70FE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386"/>
                </a:solidFill>
              </a:defRPr>
            </a:pPr>
            <a:r>
              <a:rPr sz="1050" b="1">
                <a:solidFill>
                  <a:srgbClr val="667386"/>
                </a:solidFill>
              </a:rPr>
              <a:t>EDGE DISCOVERY LAB · EDL-MS-01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609674-F324-4121-9D37-AF3D8572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33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Within the available pairs, attention stocks perform worse by day five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493FD7F-2226-4E84-9962-9A6D1590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386"/>
                </a:solidFill>
              </a:defRPr>
            </a:pPr>
            <a:r>
              <a:rPr sz="1350" b="0">
                <a:solidFill>
                  <a:srgbClr val="667386"/>
                </a:solidFill>
              </a:rPr>
              <a:t>The direction is opposite the wide-atlas clue, with no one-sided evidence for a positive difference.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2C636-EDC1-487C-AD0F-55E5FBDF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A56D58E8-D94B-4938-9246-2F7B7F11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Adjusted daily · 2018–2023 TRAIN · matched falsification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AA87323-062E-4208-A6AD-A283DDB4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04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559fb49be445e"/>
          <a:stretch xmlns:a="http://schemas.openxmlformats.org/drawingml/2006/main"/>
        </p:blipFill>
        <p:spPr>
          <a:xfrm xmlns:a="http://schemas.openxmlformats.org/drawingml/2006/main">
            <a:off x="400050" y="1519739"/>
            <a:ext cx="8667750" cy="4790072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DC157-2FD3-406C-81D8-4A345383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95450"/>
            <a:ext cx="2362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5E1"/>
          </a:solidFill>
          <a:ln xmlns:a="http://schemas.openxmlformats.org/drawingml/2006/main" w="0">
            <a:solidFill>
              <a:srgbClr val="F6E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80DF3-1AA3-426F-8D6E-B2444BD5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81200"/>
            <a:ext cx="205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44738"/>
                </a:solidFill>
              </a:defRPr>
            </a:pPr>
            <a:r>
              <a:rPr sz="2550" b="1">
                <a:solidFill>
                  <a:srgbClr val="B44738"/>
                </a:solidFill>
              </a:rPr>
              <a:t>−3.34 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641293-B34C-4A68-8A14-ED20AEE5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336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4364B"/>
                </a:solidFill>
              </a:defRPr>
            </a:pPr>
            <a:r>
              <a:rPr sz="1200" b="1">
                <a:solidFill>
                  <a:srgbClr val="24364B"/>
                </a:solidFill>
              </a:rPr>
              <a:t>mean paired log-return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24364B"/>
                </a:solidFill>
              </a:defRPr>
            </a:pPr>
            <a:r>
              <a:rPr sz="1200" b="1">
                <a:solidFill>
                  <a:srgbClr val="24364B"/>
                </a:solidFill>
              </a:rPr>
              <a:t>difference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78CF64-C370-4D8A-A615-F0F7EFF6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52800"/>
            <a:ext cx="2362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3D0AA-18CD-4333-9B2D-23454313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1950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24364B"/>
                </a:solidFill>
              </a:defRPr>
            </a:pPr>
            <a:r>
              <a:rPr sz="2400" b="1">
                <a:solidFill>
                  <a:srgbClr val="24364B"/>
                </a:solidFill>
              </a:rPr>
              <a:t>45%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B02820-B9FB-4760-BA4F-DA58E131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4337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4364B"/>
                </a:solidFill>
              </a:defRPr>
            </a:pPr>
            <a:r>
              <a:rPr sz="1275" b="1">
                <a:solidFill>
                  <a:srgbClr val="24364B"/>
                </a:solidFill>
              </a:rPr>
              <a:t>attention win 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A6B124-98CE-455F-90FE-0A8FD705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38700"/>
            <a:ext cx="2362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17D103-975A-4003-85BB-6E480FA2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10540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24364B"/>
                </a:solidFill>
              </a:defRPr>
            </a:pPr>
            <a:r>
              <a:rPr sz="2325" b="1">
                <a:solidFill>
                  <a:srgbClr val="24364B"/>
                </a:solidFill>
              </a:rPr>
              <a:t>p = .818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65CA02-77EF-45F4-A1F6-8BD4B854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2927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4364B"/>
                </a:solidFill>
              </a:defRPr>
            </a:pPr>
            <a:r>
              <a:rPr sz="1125" b="1">
                <a:solidFill>
                  <a:srgbClr val="24364B"/>
                </a:solidFill>
              </a:rPr>
              <a:t>exact one-sided sign flip</a:t>
            </a:r>
          </a:p>
        </p:txBody>
      </p:sp>
    </p:spTree>
    <p:extLst>
      <p:ext uri="{BB962C8B-B14F-4D97-AF65-F5344CB8AC3E}">
        <p14:creationId xmlns:p14="http://schemas.microsoft.com/office/powerpoint/2010/main" val="3955071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B18833E-9364-47A4-90F9-50519CE9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386"/>
                </a:solidFill>
              </a:defRPr>
            </a:pPr>
            <a:r>
              <a:rPr sz="1050" b="1">
                <a:solidFill>
                  <a:srgbClr val="667386"/>
                </a:solidFill>
              </a:rPr>
              <a:t>EDGE DISCOVERY LAB · EDL-MS-01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0A71F2-397F-4C38-9879-4BA67787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33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The contextual path shows no hidden day-five recovery advantage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C1430D0-EC2C-495C-BBB6-E078D8A5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386"/>
                </a:solidFill>
              </a:defRPr>
            </a:pPr>
            <a:r>
              <a:rPr sz="1350" b="0">
                <a:solidFill>
                  <a:srgbClr val="667386"/>
                </a:solidFill>
              </a:rPr>
              <a:t>Only session five is inferential; sessions 0–10 are displayed to understand shape.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0FBBC-1A71-4E40-BA90-D3C8E2B2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5BE7F5D7-AFCE-4DFF-A4C0-97BB75A7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Adjusted daily · 2018–2023 TRAIN · matched falsification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8AC5098-8FFB-4A8A-B8BC-AC063EDB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05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934c1b57542cd"/>
          <a:stretch xmlns:a="http://schemas.openxmlformats.org/drawingml/2006/main"/>
        </p:blipFill>
        <p:spPr>
          <a:xfrm xmlns:a="http://schemas.openxmlformats.org/drawingml/2006/main">
            <a:off x="1856014" y="1524000"/>
            <a:ext cx="8479971" cy="4686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5790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EAD8B6C-B657-4C4C-876B-20C1AB54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386"/>
                </a:solidFill>
              </a:defRPr>
            </a:pPr>
            <a:r>
              <a:rPr sz="1050" b="1">
                <a:solidFill>
                  <a:srgbClr val="667386"/>
                </a:solidFill>
              </a:rPr>
              <a:t>EDGE DISCOVERY LAB · EDL-MS-01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22D2FB-3A45-431B-B180-E0499405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33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No single year or attention symbol creates the negative result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8DA0151-427A-46FD-BC02-E1025418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386"/>
                </a:solidFill>
              </a:defRPr>
            </a:pPr>
            <a:r>
              <a:rPr sz="1350" b="0">
                <a:solidFill>
                  <a:srgbClr val="667386"/>
                </a:solidFill>
              </a:rPr>
              <a:t>Every leave-one-out mean remains negative—the opposite of the frozen robustness condition.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BEFE0-8BBC-48BD-A8BE-F46C41A7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6825D45F-23D2-4147-9CE2-F8D26585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Adjusted daily · 2018–2023 TRAIN · matched falsification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477DDA4-76B1-433F-84D2-5271B3D4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06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245006bf69432e"/>
          <a:stretch xmlns:a="http://schemas.openxmlformats.org/drawingml/2006/main"/>
        </p:blipFill>
        <p:spPr>
          <a:xfrm xmlns:a="http://schemas.openxmlformats.org/drawingml/2006/main">
            <a:off x="577396" y="1504950"/>
            <a:ext cx="8617857" cy="4762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7988C-C9A4-42AA-8D6E-ED1D96FA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28800"/>
            <a:ext cx="21526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5E1"/>
          </a:solidFill>
          <a:ln xmlns:a="http://schemas.openxmlformats.org/drawingml/2006/main" w="0">
            <a:solidFill>
              <a:srgbClr val="F6E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FD1B7-7251-4361-B34C-A1D4B477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717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B44738"/>
                </a:solidFill>
              </a:defRPr>
            </a:pPr>
            <a:r>
              <a:rPr sz="2700" b="1">
                <a:solidFill>
                  <a:srgbClr val="B44738"/>
                </a:solidFill>
              </a:rPr>
              <a:t>0 /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620C9B-144F-454E-8BD7-47073D7E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62250"/>
            <a:ext cx="1847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4364B"/>
                </a:solidFill>
              </a:defRPr>
            </a:pPr>
            <a:r>
              <a:rPr sz="1200" b="1">
                <a:solidFill>
                  <a:srgbClr val="24364B"/>
                </a:solidFill>
              </a:rPr>
              <a:t>leave-one-year means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24364B"/>
                </a:solidFill>
              </a:defRPr>
            </a:pPr>
            <a:r>
              <a:rPr sz="1200" b="1">
                <a:solidFill>
                  <a:srgbClr val="24364B"/>
                </a:solidFill>
              </a:rPr>
              <a:t>remain positive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E5C76E-E10D-49C4-B405-A33BED24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24300"/>
            <a:ext cx="21526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5E1"/>
          </a:solidFill>
          <a:ln xmlns:a="http://schemas.openxmlformats.org/drawingml/2006/main" w="0">
            <a:solidFill>
              <a:srgbClr val="F6E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92D13-0D6B-434B-8C4C-5CEA805D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672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B44738"/>
                </a:solidFill>
              </a:defRPr>
            </a:pPr>
            <a:r>
              <a:rPr sz="2700" b="1">
                <a:solidFill>
                  <a:srgbClr val="B44738"/>
                </a:solidFill>
              </a:rPr>
              <a:t>0 / 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2F49B4-F83E-4F70-B7BD-BBA86648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857750"/>
            <a:ext cx="1847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4364B"/>
                </a:solidFill>
              </a:defRPr>
            </a:pPr>
            <a:r>
              <a:rPr sz="1200" b="1">
                <a:solidFill>
                  <a:srgbClr val="24364B"/>
                </a:solidFill>
              </a:rPr>
              <a:t>leave-one-symbol means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24364B"/>
                </a:solidFill>
              </a:defRPr>
            </a:pPr>
            <a:r>
              <a:rPr sz="1200" b="1">
                <a:solidFill>
                  <a:srgbClr val="24364B"/>
                </a:solidFill>
              </a:rPr>
              <a:t>remain positive</a:t>
            </a:r>
          </a:p>
        </p:txBody>
      </p:sp>
    </p:spTree>
    <p:extLst>
      <p:ext uri="{BB962C8B-B14F-4D97-AF65-F5344CB8AC3E}">
        <p14:creationId xmlns:p14="http://schemas.microsoft.com/office/powerpoint/2010/main" val="15908823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D3D936E-7B4F-4540-BD4F-8A6D6B2B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386"/>
                </a:solidFill>
              </a:defRPr>
            </a:pPr>
            <a:r>
              <a:rPr sz="1050" b="1">
                <a:solidFill>
                  <a:srgbClr val="667386"/>
                </a:solidFill>
              </a:rPr>
              <a:t>EDGE DISCOVERY LAB · EDL-MS-01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0E151D-53E4-4A2E-82D8-BA269F7D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33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The cohort label fails; the environment difference becomes the next question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F6C7ABB-F628-4F67-B017-5D026A0F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386"/>
                </a:solidFill>
              </a:defRPr>
            </a:pPr>
            <a:r>
              <a:rPr sz="1350" b="0">
                <a:solidFill>
                  <a:srgbClr val="667386"/>
                </a:solidFill>
              </a:rPr>
              <a:t>We close this falsification without edge promotion or post-outcome matcher changes.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A391F-0735-43D7-8C52-FF0BA320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34C68D2D-E3EB-41D0-A8B8-08CFE6F9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Adjusted daily · 2018–2023 TRAIN · matched falsification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1804F29-8A04-44B9-9AA4-3E86E06E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EE5A6-8004-4E4D-A80B-0CE4278A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53340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5E1"/>
          </a:solidFill>
          <a:ln xmlns:a="http://schemas.openxmlformats.org/drawingml/2006/main" w="0">
            <a:solidFill>
              <a:srgbClr val="F6E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1ADD9B-1E73-47E0-AA71-8DAED2D6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44738"/>
                </a:solidFill>
              </a:defRPr>
            </a:pPr>
            <a:r>
              <a:rPr sz="1200" b="1">
                <a:solidFill>
                  <a:srgbClr val="B44738"/>
                </a:solidFill>
              </a:rPr>
              <a:t>WHAT WE CAN SAY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C04A5-FAB1-4A3F-8A6F-35F10E07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4533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The attention-stock advantage does not reproduce.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6DC260-8A28-4682-AECD-BF7E8DD1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738"/>
          </a:solidFill>
          <a:ln xmlns:a="http://schemas.openxmlformats.org/drawingml/2006/main" w="0">
            <a:solidFill>
              <a:srgbClr val="B447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DF66A6-4FC1-47D2-90E3-DC49FF05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8615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Matched point estimate is negative, not merely weak.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28381F-738D-4ED3-9696-42E765FB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738"/>
          </a:solidFill>
          <a:ln xmlns:a="http://schemas.openxmlformats.org/drawingml/2006/main" w="0">
            <a:solidFill>
              <a:srgbClr val="B447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9BB7C6-3C22-49D0-9DD0-5F83D997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765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All year and symbol leave-outs remain negative.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940335-0CCC-4F4F-A5A6-EBD0D2D3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33550"/>
            <a:ext cx="55435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9156A-634A-4015-9001-DD0D7660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8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WHAT WE CANNOT SAY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CBAC50-34EF-4B5F-8046-86B97339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5745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This is not a clean matched-estimand rejection.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EF46A9-776C-4C9D-83FA-47DE4A13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62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12383C-DAE5-4142-8A8C-4E9718DF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86150"/>
            <a:ext cx="455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Severity and timing remain materially imbalanced.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F3040F-A033-4C52-A58E-C9DCB58D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33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7171E4-EE1B-4DE4-885F-51E08EDA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57650"/>
            <a:ext cx="455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Changing the matcher now would be post-outcome rescue.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C0D4FA-0504-4ABB-AFC5-59713475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1201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64B"/>
          </a:solidFill>
          <a:ln xmlns:a="http://schemas.openxmlformats.org/drawingml/2006/main" w="0">
            <a:solidFill>
              <a:srgbClr val="2436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24E5B7-6C49-4DEE-B468-9C2F50EB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0EDFA"/>
                </a:solidFill>
              </a:defRPr>
            </a:pPr>
            <a:r>
              <a:rPr sz="1125" b="1">
                <a:solidFill>
                  <a:srgbClr val="D0EDFA"/>
                </a:solidFill>
              </a:rPr>
              <a:t>NEXT SEPARATELY FROZEN SLICE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B518C2-2C4A-48C8-907D-05008848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91150"/>
            <a:ext cx="790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Quantify the pre-outcome features that separate these event environments—starting with breach severity and calendar timing, then carefully chosen asset traits.</a:t>
            </a:r>
          </a:p>
        </p:txBody>
      </p:sp>
    </p:spTree>
    <p:extLst>
      <p:ext uri="{BB962C8B-B14F-4D97-AF65-F5344CB8AC3E}">
        <p14:creationId xmlns:p14="http://schemas.microsoft.com/office/powerpoint/2010/main" val="19211214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D3D936E-7B4F-4540-BD4F-8A6D6B2B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386"/>
                </a:solidFill>
              </a:defRPr>
            </a:pPr>
            <a:r>
              <a:rPr sz="1050" b="1">
                <a:solidFill>
                  <a:srgbClr val="667386"/>
                </a:solidFill>
              </a:rPr>
              <a:t>EDGE DISCOVERY LAB · EDL-MS-01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0E151D-53E4-4A2E-82D8-BA269F7D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33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Rule 201, in plain English: the rebound clue did not generalize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F6C7ABB-F628-4F67-B017-5D026A0F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386"/>
                </a:solidFill>
              </a:defRPr>
            </a:pPr>
            <a:r>
              <a:rPr sz="1350" b="0">
                <a:solidFill>
                  <a:srgbClr val="667386"/>
                </a:solidFill>
              </a:rPr>
              <a:t>The study improved our diagnosis without producing a tradable rule.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A391F-0735-43D7-8C52-FF0BA320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34C68D2D-E3EB-41D0-A8B8-08CFE6F9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Adjusted daily · 2018–2023 TRAIN · matched falsification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1804F29-8A04-44B9-9AA4-3E86E06E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386"/>
                </a:solidFill>
              </a:defRPr>
            </a:pPr>
            <a:r>
              <a:rPr sz="900" b="0">
                <a:solidFill>
                  <a:srgbClr val="667386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EE5A6-8004-4E4D-A80B-0CE4278A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53340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5E1"/>
          </a:solidFill>
          <a:ln xmlns:a="http://schemas.openxmlformats.org/drawingml/2006/main" w="0">
            <a:solidFill>
              <a:srgbClr val="F6E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1ADD9B-1E73-47E0-AA71-8DAED2D6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44738"/>
                </a:solidFill>
              </a:defRPr>
            </a:pPr>
            <a:r>
              <a:rPr sz="1200" b="1">
                <a:solidFill>
                  <a:srgbClr val="B44738"/>
                </a:solidFill>
              </a:rPr>
              <a:t>THE 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C04A5-FAB1-4A3F-8A6F-35F10E07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4533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A dramatic drop and strong close looked promising.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6DC260-8A28-4682-AECD-BF7E8DD1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738"/>
          </a:solidFill>
          <a:ln xmlns:a="http://schemas.openxmlformats.org/drawingml/2006/main" w="0">
            <a:solidFill>
              <a:srgbClr val="B447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DF66A6-4FC1-47D2-90E3-DC49FF05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8615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Pilot: median rebound near +3.7% by session five.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28381F-738D-4ED3-9696-42E765FB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738"/>
          </a:solidFill>
          <a:ln xmlns:a="http://schemas.openxmlformats.org/drawingml/2006/main" w="0">
            <a:solidFill>
              <a:srgbClr val="B447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9BB7C6-3C22-49D0-9DD0-5F83D997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765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Balanced 88-stock core: roughly −0.24%.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940335-0CCC-4F4F-A5A6-EBD0D2D3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33550"/>
            <a:ext cx="55435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9156A-634A-4015-9001-DD0D7660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8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THE VERDICT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CBAC50-34EF-4B5F-8046-86B97339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5745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The attention-stock explanation failed its follow-up.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EF46A9-776C-4C9D-83FA-47DE4A13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62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12383C-DAE5-4142-8A8C-4E9718DF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86150"/>
            <a:ext cx="455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Matched difference: −3.34 pp; one-sided p = .818.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F3040F-A033-4C52-A58E-C9DCB58D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33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7171E4-EE1B-4DE4-885F-51E08EDA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57650"/>
            <a:ext cx="455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4364B"/>
                </a:solidFill>
              </a:defRPr>
            </a:pPr>
            <a:r>
              <a:rPr sz="1500" b="0">
                <a:solidFill>
                  <a:srgbClr val="24364B"/>
                </a:solidFill>
              </a:rPr>
              <a:t>Balance also failed: the cohorts came from different environments.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C0D4FA-0504-4ABB-AFC5-59713475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1201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64B"/>
          </a:solidFill>
          <a:ln xmlns:a="http://schemas.openxmlformats.org/drawingml/2006/main" w="0">
            <a:solidFill>
              <a:srgbClr val="2436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24E5B7-6C49-4DEE-B468-9C2F50EB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0EDFA"/>
                </a:solidFill>
              </a:defRPr>
            </a:pPr>
            <a:r>
              <a:rPr sz="1125" b="1">
                <a:solidFill>
                  <a:srgbClr val="D0EDFA"/>
                </a:solidFill>
              </a:rPr>
              <a:t>CURRENT STOP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B518C2-2C4A-48C8-907D-05008848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91150"/>
            <a:ext cx="790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Do not trade the label. Carry forward the question: which measurable, pre-outcome features separate rebound environments from non-rebound environments?</a:t>
            </a:r>
          </a:p>
        </p:txBody>
      </p:sp>
    </p:spTree>
    <p:extLst>
      <p:ext uri="{BB962C8B-B14F-4D97-AF65-F5344CB8AC3E}">
        <p14:creationId xmlns:p14="http://schemas.microsoft.com/office/powerpoint/2010/main" val="19211214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2026-08-31T19:21:14.5710000Z</dcterms:created>
  <dcterms:modified xsi:type="dcterms:W3CDTF">2026-08-31T19:21:14.5710000Z</dcterms:modified>
</coreProperties>
</file>