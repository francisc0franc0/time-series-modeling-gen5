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0b644c3b79404f" /><Relationship Type="http://schemas.openxmlformats.org/officeDocument/2006/relationships/extended-properties" Target="/docProps/app.xml" Id="R89a0b589ad5c44e9" /><Relationship Type="http://schemas.openxmlformats.org/officeDocument/2006/relationships/officeDocument" Target="/ppt/presentation.xml" Id="R67144fdbe699404f" /></Relationships>
</file>

<file path=ppt/presentation.xml><?xml version="1.0" encoding="utf-8"?>
<p:presentation xmlns:p="http://schemas.openxmlformats.org/presentationml/2006/main">
  <p:sldMasterIdLst>
    <p:sldMasterId xmlns:r="http://schemas.openxmlformats.org/officeDocument/2006/relationships" id="2147483648" r:id="R24b881f66e9c4165"/>
  </p:sldMasterIdLst>
  <p:notesMasterIdLst>
    <p:notesMasterId xmlns:r="http://schemas.openxmlformats.org/officeDocument/2006/relationships" r:id="R34b32891eb8f475e"/>
  </p:notesMasterIdLst>
  <p:sldIdLst>
    <p:sldId xmlns:r="http://schemas.openxmlformats.org/officeDocument/2006/relationships" id="256" r:id="R1704a01143454cd7"/>
    <p:sldId xmlns:r="http://schemas.openxmlformats.org/officeDocument/2006/relationships" id="257" r:id="R985ad602cb244b95"/>
    <p:sldId xmlns:r="http://schemas.openxmlformats.org/officeDocument/2006/relationships" id="258" r:id="R414242aa5f164e8f"/>
    <p:sldId xmlns:r="http://schemas.openxmlformats.org/officeDocument/2006/relationships" id="259" r:id="R0a4d39cd6cce4b51"/>
    <p:sldId xmlns:r="http://schemas.openxmlformats.org/officeDocument/2006/relationships" id="260" r:id="R09abe2ffbc3041c2"/>
    <p:sldId xmlns:r="http://schemas.openxmlformats.org/officeDocument/2006/relationships" id="261" r:id="R6556de3048ea46d6"/>
    <p:sldId xmlns:r="http://schemas.openxmlformats.org/officeDocument/2006/relationships" id="262" r:id="Rc1f78ef1e1cf4c30"/>
    <p:sldId xmlns:r="http://schemas.openxmlformats.org/officeDocument/2006/relationships" id="263" r:id="Rb7eeadec9a224fc0"/>
    <p:sldId xmlns:r="http://schemas.openxmlformats.org/officeDocument/2006/relationships" id="264" r:id="R67efc761bd304f2f"/>
    <p:sldId xmlns:r="http://schemas.openxmlformats.org/officeDocument/2006/relationships" id="265" r:id="R4f338b0aad5b4ff2"/>
    <p:sldId xmlns:r="http://schemas.openxmlformats.org/officeDocument/2006/relationships" id="266" r:id="Rfed19236df01480d"/>
    <p:sldId xmlns:r="http://schemas.openxmlformats.org/officeDocument/2006/relationships" id="267" r:id="Rcd1b7ef3a74b4119"/>
    <p:sldId xmlns:r="http://schemas.openxmlformats.org/officeDocument/2006/relationships" id="268" r:id="R6309b64963494ecd"/>
    <p:sldId xmlns:r="http://schemas.openxmlformats.org/officeDocument/2006/relationships" id="269" r:id="Rb9e9a4de990b4583"/>
    <p:sldId xmlns:r="http://schemas.openxmlformats.org/officeDocument/2006/relationships" id="270" r:id="Rad462b1ac6204ab3"/>
    <p:sldId xmlns:r="http://schemas.openxmlformats.org/officeDocument/2006/relationships" id="271" r:id="Ref96ab5038b54d9e"/>
    <p:sldId xmlns:r="http://schemas.openxmlformats.org/officeDocument/2006/relationships" id="272" r:id="Rb8b8af2f1f7d4f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0233faaa9a4ec9" /><Relationship Type="http://schemas.openxmlformats.org/officeDocument/2006/relationships/slideMaster" Target="/ppt/slideMasters/slideMaster1.xml" Id="R24b881f66e9c4165" /><Relationship Type="http://schemas.openxmlformats.org/officeDocument/2006/relationships/notesMaster" Target="/ppt/notesMasters/notesMaster1.xml" Id="R34b32891eb8f475e" /><Relationship Type="http://schemas.openxmlformats.org/officeDocument/2006/relationships/presProps" Target="/ppt/presProps.xml" Id="Ra7001af6aec8467e" /><Relationship Type="http://schemas.openxmlformats.org/officeDocument/2006/relationships/tableStyles" Target="/ppt/tableStyles.xml" Id="R674a7133f16c40b9" /><Relationship Type="http://schemas.openxmlformats.org/officeDocument/2006/relationships/slide" Target="/ppt/slides/slide1.xml" Id="R1704a01143454cd7" /><Relationship Type="http://schemas.openxmlformats.org/officeDocument/2006/relationships/slide" Target="/ppt/slides/slide2.xml" Id="R985ad602cb244b95" /><Relationship Type="http://schemas.openxmlformats.org/officeDocument/2006/relationships/slide" Target="/ppt/slides/slide3.xml" Id="R414242aa5f164e8f" /><Relationship Type="http://schemas.openxmlformats.org/officeDocument/2006/relationships/slide" Target="/ppt/slides/slide4.xml" Id="R0a4d39cd6cce4b51" /><Relationship Type="http://schemas.openxmlformats.org/officeDocument/2006/relationships/slide" Target="/ppt/slides/slide5.xml" Id="R09abe2ffbc3041c2" /><Relationship Type="http://schemas.openxmlformats.org/officeDocument/2006/relationships/slide" Target="/ppt/slides/slide6.xml" Id="R6556de3048ea46d6" /><Relationship Type="http://schemas.openxmlformats.org/officeDocument/2006/relationships/slide" Target="/ppt/slides/slide7.xml" Id="Rc1f78ef1e1cf4c30" /><Relationship Type="http://schemas.openxmlformats.org/officeDocument/2006/relationships/slide" Target="/ppt/slides/slide8.xml" Id="Rb7eeadec9a224fc0" /><Relationship Type="http://schemas.openxmlformats.org/officeDocument/2006/relationships/slide" Target="/ppt/slides/slide9.xml" Id="R67efc761bd304f2f" /><Relationship Type="http://schemas.openxmlformats.org/officeDocument/2006/relationships/slide" Target="/ppt/slides/slide10.xml" Id="R4f338b0aad5b4ff2" /><Relationship Type="http://schemas.openxmlformats.org/officeDocument/2006/relationships/slide" Target="/ppt/slides/slide11.xml" Id="Rfed19236df01480d" /><Relationship Type="http://schemas.openxmlformats.org/officeDocument/2006/relationships/slide" Target="/ppt/slides/slide12.xml" Id="Rcd1b7ef3a74b4119" /><Relationship Type="http://schemas.openxmlformats.org/officeDocument/2006/relationships/slide" Target="/ppt/slides/slide13.xml" Id="R6309b64963494ecd" /><Relationship Type="http://schemas.openxmlformats.org/officeDocument/2006/relationships/slide" Target="/ppt/slides/slide14.xml" Id="Rb9e9a4de990b4583" /><Relationship Type="http://schemas.openxmlformats.org/officeDocument/2006/relationships/slide" Target="/ppt/slides/slide15.xml" Id="Rad462b1ac6204ab3" /><Relationship Type="http://schemas.openxmlformats.org/officeDocument/2006/relationships/slide" Target="/ppt/slides/slide16.xml" Id="Ref96ab5038b54d9e" /><Relationship Type="http://schemas.openxmlformats.org/officeDocument/2006/relationships/slide" Target="/ppt/slides/slide17.xml" Id="Rb8b8af2f1f7d4f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979f7d7e9b4b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8936c587cb4dd0" /><Relationship Type="http://schemas.openxmlformats.org/officeDocument/2006/relationships/notesMaster" Target="/ppt/notesMasters/notesMaster1.xml" Id="R470f7c984ecf49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f6d80377f74506" /><Relationship Type="http://schemas.openxmlformats.org/officeDocument/2006/relationships/notesMaster" Target="/ppt/notesMasters/notesMaster1.xml" Id="Rd15f8fae9dfb4e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ab8a8d8733448a" /><Relationship Type="http://schemas.openxmlformats.org/officeDocument/2006/relationships/notesMaster" Target="/ppt/notesMasters/notesMaster1.xml" Id="R37903835bf794c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228ddc99b74058" /><Relationship Type="http://schemas.openxmlformats.org/officeDocument/2006/relationships/notesMaster" Target="/ppt/notesMasters/notesMaster1.xml" Id="R7a021c6c7a1f4a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cf37cd24404389" /><Relationship Type="http://schemas.openxmlformats.org/officeDocument/2006/relationships/notesMaster" Target="/ppt/notesMasters/notesMaster1.xml" Id="R5de17b859b1543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02864af50d4651" /><Relationship Type="http://schemas.openxmlformats.org/officeDocument/2006/relationships/notesMaster" Target="/ppt/notesMasters/notesMaster1.xml" Id="Re8a7ef0dac7f43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2f021fec464064" /><Relationship Type="http://schemas.openxmlformats.org/officeDocument/2006/relationships/notesMaster" Target="/ppt/notesMasters/notesMaster1.xml" Id="Rcac53a70f42647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693425c93b496d" /><Relationship Type="http://schemas.openxmlformats.org/officeDocument/2006/relationships/notesMaster" Target="/ppt/notesMasters/notesMaster1.xml" Id="R8e79f7e6b13e4c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ba80f56792412a" /><Relationship Type="http://schemas.openxmlformats.org/officeDocument/2006/relationships/notesMaster" Target="/ppt/notesMasters/notesMaster1.xml" Id="R2da51db7dec44a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4bbb1b8a4c4575" /><Relationship Type="http://schemas.openxmlformats.org/officeDocument/2006/relationships/notesMaster" Target="/ppt/notesMasters/notesMaster1.xml" Id="Rc168faafecaa47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395793d5494284" /><Relationship Type="http://schemas.openxmlformats.org/officeDocument/2006/relationships/notesMaster" Target="/ppt/notesMasters/notesMaster1.xml" Id="R64b63edb3374479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018a152506463d" /><Relationship Type="http://schemas.openxmlformats.org/officeDocument/2006/relationships/notesMaster" Target="/ppt/notesMasters/notesMaster1.xml" Id="R082a6a93285544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00e2f74bd34d5e" /><Relationship Type="http://schemas.openxmlformats.org/officeDocument/2006/relationships/notesMaster" Target="/ppt/notesMasters/notesMaster1.xml" Id="Re2fb508664ce440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33968d635943df" /><Relationship Type="http://schemas.openxmlformats.org/officeDocument/2006/relationships/notesMaster" Target="/ppt/notesMasters/notesMaster1.xml" Id="R63f12f02112e4e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8ef35a2ef044710" /><Relationship Type="http://schemas.openxmlformats.org/officeDocument/2006/relationships/notesMaster" Target="/ppt/notesMasters/notesMaster1.xml" Id="R939afb0ee2be4d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199ecd2e014071" /><Relationship Type="http://schemas.openxmlformats.org/officeDocument/2006/relationships/notesMaster" Target="/ppt/notesMasters/notesMaster1.xml" Id="R797460a4f13849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974814f2df453d" /><Relationship Type="http://schemas.openxmlformats.org/officeDocument/2006/relationships/notesMaster" Target="/ppt/notesMasters/notesMaster1.xml" Id="Ree337890930a45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authoritative long-only LIT-MOM-01.2 evidence deck. The earlier long/short deck remains an archived pre-correction diagnostic in git history. The communication job is to separate the unchanged symmetric selector from the corrected long-or-cash execution policy, then show all three known-window readouts without promoting retrospective winners.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Project/Time-Series-Modeling-Gen5/literature_studies/docs/GEN5_LIT_MOM_01_2_SINGLE_POSITION_RETROSPECTIVE_RESULTS.md</a:t>
            </a:r>
          </a:p>
          <a:p xmlns:a="http://schemas.openxmlformats.org/drawingml/2006/main">
            <a:r>
              <a:t>- C:/Users/Franc/OneDrive/Documents/Francis/Peltata Project/Time-Series-Modeling-Gen5/literature_studies/docs/GEN5_LIT_MOM_01_2_STOCK_ATLAS_02_2020_BREADTH_ATTENTION_CONTRACT.md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decimal change would normally be reasonable because exposure is substantive. The operator explicitly directed that 01.2 remain the name. We therefore preserve the earlier long/short result as PRE_CORRECTION_LONG_SHORT_DIAGNOSTIC and make the current long-only contract authoritative. This was prompted by exposure preference, not by selecting better outcomes.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Project/Time-Series-Modeling-Gen5/docs/GEN5_4_DECISION_DIALOGUE_INDEX.md</a:t>
            </a:r>
          </a:p>
          <a:p xmlns:a="http://schemas.openxmlformats.org/drawingml/2006/main">
            <a:r>
              <a:t>- git commit 70f1c20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prevents a quiet extra degree of freedom. The selected L/H pair still maximizes the same symmetric TRAIN correlation t-statistic. A long-only-aware selector might be a legitimate future hypothesis, but it is not part of this correction. Report all-sign correlation, positive-call accuracy, and implementable long-only P&amp;L separately.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Project/Time-Series-Modeling-Gen5/literature_studies/R/gen5_lit_mom_01_2_single_position_poc.R</a:t>
            </a:r>
          </a:p>
          <a:p xmlns:a="http://schemas.openxmlformats.org/drawingml/2006/main">
            <a:r>
              <a:t>- C:/Users/Franc/OneDrive/Documents/Francis/Peltata Project/Time-Series-Modeling-Gen5/literature_studies/docs/GEN5_LIT_MOM_01_2_SINGLE_POSITION_RETROSPECTIVE_CONTRACT.md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signal is generated from close data and enters only at the next adjusted open. During a trade the number of shares is fixed, so effective exposure drifts slightly. The policy can re-enter at the same open as an exit only when the preceding close has a positive signal. Profits and losses are fully reinvested in the next accepted trade.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Project/Time-Series-Modeling-Gen5/literature_studies/docs/GEN5_LIT_MOM_01_2_SINGLE_POSITION_RETROSPECTIVE_CONTRACT.md</a:t>
            </a:r>
          </a:p>
          <a:p xmlns:a="http://schemas.openxmlformats.org/drawingml/2006/main">
            <a:r>
              <a:t>- C:/Users/Franc/OneDrive/Documents/Francis/Peltata Project/Time-Series-Modeling-Gen5/literature_studies/R/gen5_lit_mom_01_2_single_position_poc.R</a:t>
            </a:r>
          </a:p>
          <a:p xmlns:a="http://schemas.openxmlformats.org/drawingml/2006/main">
            <a:r>
              <a:t>- C:\Users\Franc\OneDrive\Documents\Francis\Peltata Project\Time-Series-Modeling-Gen5\runs\research_workbench\literature_grounded\lit_mom_01_2_long_only_single_position_retrospective_20260802/retrospective_trades.csv</a:t>
            </a:r>
          </a:p>
          <a:p xmlns:a="http://schemas.openxmlformats.org/drawingml/2006/main">
            <a:r>
              <a:t>- C:\Users\Franc\OneDrive\Documents\Francis\Peltata Project\Time-Series-Modeling-Gen5\runs\research_workbench\literature_grounded\lit_mom_01_2_long_only_single_position_retrospective_20260802/visuals/retrospective_trade_tape.png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exposure correction does not change TRAIN selection. All 49 combinations remain open, H below five remains ineligible, and the symmetric CHAN_MIN_STEP screen again selects L=60 and H=5. STEP_L and L+H remain robustness views, not separate strategies.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Project\Time-Series-Modeling-Gen5\runs\research_workbench\literature_grounded\lit_mom_01_2_long_only_single_position_retrospective_20260802/lit_mom_01_2_train_horizon_screen.csv</a:t>
            </a:r>
          </a:p>
          <a:p xmlns:a="http://schemas.openxmlformats.org/drawingml/2006/main">
            <a:r>
              <a:t>- C:\Users\Franc\OneDrive\Documents\Francis\Peltata Project\Time-Series-Modeling-Gen5\runs\research_workbench\literature_grounded\lit_mom_01_2_long_only_single_position_retrospective_20260802/lit_mom_01_2_selected_candidate.csv</a:t>
            </a:r>
          </a:p>
          <a:p xmlns:a="http://schemas.openxmlformats.org/drawingml/2006/main">
            <a:r>
              <a:t>- C:\Users\Franc\OneDrive\Documents\Francis\Peltata Project\Time-Series-Modeling-Gen5\runs\research_workbench\literature_grounded\lit_mom_01_2_long_only_single_position_retrospective_20260802/train_inference_summary.csv</a:t>
            </a:r>
          </a:p>
          <a:p xmlns:a="http://schemas.openxmlformats.org/drawingml/2006/main">
            <a:r>
              <a:t>- C:\Users\Franc\OneDrive\Documents\Francis\Peltata Project\Time-Series-Modeling-Gen5\runs\research_workbench\literature_grounded\lit_mom_01_2_long_only_single_position_retrospective_20260802/visuals/lit_mom_01_2_horizon_and_spacing.png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2021-2023 window was already inspected under the parent exercise. This section can teach us about long-only mechanics and path behavior, but it cannot upgrade evidential status.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Project\Time-Series-Modeling-Gen5\runs\research_workbench\literature_grounded\lit_mom_01_2_long_only_single_position_retrospective_20260802/lit_mom_01_2_run_spec.csv</a:t>
            </a:r>
          </a:p>
          <a:p xmlns:a="http://schemas.openxmlformats.org/drawingml/2006/main">
            <a:r>
              <a:t>- C:\Users\Franc\OneDrive\Documents\Francis\Peltata Project\Time-Series-Modeling-Gen5\runs\research_workbench\literature_grounded\lit_mom_01_2_long_only_single_position_retrospective_20260802/lit_mom_01_2_integrity_audit.csv</a:t>
            </a:r>
          </a:p>
          <a:p xmlns:a="http://schemas.openxmlformats.org/drawingml/2006/main">
            <a:r>
              <a:t>- C:\Users\Franc\OneDrive\Documents\Francis\Peltata Project\Time-Series-Modeling-Gen5\runs\research_workbench\literature_grounded\lit_mom_01_2_long_only_single_position_retrospective_20260802/lit_mom_01_2_report.md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long-only correction roughly halves the number of blocks because negative signals become cash. SHY ends at -6.46% primary and -12.70% stress, with no short exposure or borrow cost. This is cleaner operationally but still a negative known-window result.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Project\Time-Series-Modeling-Gen5\runs\research_workbench\literature_grounded\lit_mom_01_2_long_only_single_position_retrospective_20260802/retrospective_performance_metrics.csv</a:t>
            </a:r>
          </a:p>
          <a:p xmlns:a="http://schemas.openxmlformats.org/drawingml/2006/main">
            <a:r>
              <a:t>- C:\Users\Franc\OneDrive\Documents\Francis\Peltata Project\Time-Series-Modeling-Gen5\runs\research_workbench\literature_grounded\lit_mom_01_2_long_only_single_position_retrospective_20260802/retrospective_direction_audit.csv</a:t>
            </a:r>
          </a:p>
          <a:p xmlns:a="http://schemas.openxmlformats.org/drawingml/2006/main">
            <a:r>
              <a:t>- C:\Users\Franc\OneDrive\Documents\Francis\Peltata Project\Time-Series-Modeling-Gen5\runs\research_workbench\literature_grounded\lit_mom_01_2_long_only_single_position_retrospective_20260802/retrospective_trades.csv</a:t>
            </a:r>
          </a:p>
          <a:p xmlns:a="http://schemas.openxmlformats.org/drawingml/2006/main">
            <a:r>
              <a:t>- C:\Users\Franc\OneDrive\Documents\Francis\Peltata Project\Time-Series-Modeling-Gen5\runs\research_workbench\literature_grounded\lit_mom_01_2_long_only_single_position_retrospective_20260802/lit_mom_01_2_integrity_audit.csv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Atlas01 widens breadth without imposing SHY's 60/5 pair. Each asset independently receives the same full TRAIN search and freezes its own horizon before retrospective replay.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Project/Time-Series-Modeling-Gen5/literature_studies/docs/GEN5_LIT_MOM_01_2_STOCK_ATLAS_01_RETROSPECTIVE_CONTRACT.md</a:t>
            </a:r>
          </a:p>
          <a:p xmlns:a="http://schemas.openxmlformats.org/drawingml/2006/main">
            <a:r>
              <a:t>- C:/Users/Franc/OneDrive/Documents/Francis/Peltata Project/Time-Series-Modeling-Gen5/literature_studies/registries/gen5_lit_mom_01_1_stock_atlas_01_registry.csv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selected row is replayed because the purpose is process description rather than gate admission. A per-asset 'winner' means only the deterministic maximum under the frozen rule; it is not a claim that the horizon is attractive.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Project\Time-Series-Modeling-Gen5\runs\research_workbench\literature_grounded\lit_mom_01_2_long_only_stock_atlas_01_retrospective_20260802/stock_atlas_01_registry.csv</a:t>
            </a:r>
          </a:p>
          <a:p xmlns:a="http://schemas.openxmlformats.org/drawingml/2006/main">
            <a:r>
              <a:t>- C:\Users\Franc\OneDrive\Documents\Francis\Peltata Project\Time-Series-Modeling-Gen5\runs\research_workbench\literature_grounded\lit_mom_01_2_long_only_stock_atlas_01_retrospective_20260802/stock_atlas_01_train_horizon_screen.csv</a:t>
            </a:r>
          </a:p>
          <a:p xmlns:a="http://schemas.openxmlformats.org/drawingml/2006/main">
            <a:r>
              <a:t>- C:\Users\Franc\OneDrive\Documents\Francis\Peltata Project\Time-Series-Modeling-Gen5\runs\research_workbench\literature_grounded\lit_mom_01_2_long_only_stock_atlas_01_retrospective_20260802/stock_atlas_01_selected_horizons.csv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L/H pairs remain heterogeneous because every asset searches independently. The exposure correction does not alter selected rows, so this slide continues to diagnose transfer of the same symmetric TRAIN relationship. The net-compounding panel is now long-only.</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Project\Time-Series-Modeling-Gen5\runs\research_workbench\literature_grounded\lit_mom_01_2_long_only_stock_atlas_01_retrospective_20260802/stock_atlas_01_selected_horizons.csv</a:t>
            </a:r>
          </a:p>
          <a:p xmlns:a="http://schemas.openxmlformats.org/drawingml/2006/main">
            <a:r>
              <a:t>- C:\Users\Franc\OneDrive\Documents\Francis\Peltata Project\Time-Series-Modeling-Gen5\runs\research_workbench\literature_grounded\lit_mom_01_2_long_only_stock_atlas_01_retrospective_20260802/stock_atlas_01_summary.csv</a:t>
            </a:r>
          </a:p>
          <a:p xmlns:a="http://schemas.openxmlformats.org/drawingml/2006/main">
            <a:r>
              <a:t>- C:\Users\Franc\OneDrive\Documents\Francis\Peltata Project\Time-Series-Modeling-Gen5\runs\research_workbench\literature_grounded\lit_mom_01_2_long_only_stock_atlas_01_retrospective_20260802/visuals/stock_atlas_01_selection_and_continuity.png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Atlas01's long-only known-window result is materially stronger than the archived long/short path: 16 of 22 positive after primary costs, median +17.96%, mean +23.82%. The worst maximum drawdown remains -49.73%, so endpoint breadth does not erase path risk. The right panel compares only executed long calls in TRAIN and retrospective data. Do not nominate the best bars.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Project\Time-Series-Modeling-Gen5\runs\research_workbench\literature_grounded\lit_mom_01_2_long_only_stock_atlas_01_retrospective_20260802/stock_atlas_01_batch_summary.csv</a:t>
            </a:r>
          </a:p>
          <a:p xmlns:a="http://schemas.openxmlformats.org/drawingml/2006/main">
            <a:r>
              <a:t>- C:\Users\Franc\OneDrive\Documents\Francis\Peltata Project\Time-Series-Modeling-Gen5\runs\research_workbench\literature_grounded\lit_mom_01_2_long_only_stock_atlas_01_retrospective_20260802/stock_atlas_01_summary.csv</a:t>
            </a:r>
          </a:p>
          <a:p xmlns:a="http://schemas.openxmlformats.org/drawingml/2006/main">
            <a:r>
              <a:t>- C:\Users\Franc\OneDrive\Documents\Francis\Peltata Project\Time-Series-Modeling-Gen5\runs\research_workbench\literature_grounded\lit_mom_01_2_long_only_stock_atlas_01_retrospective_20260802/stock_atlas_01_retrospective_direction_audit.csv</a:t>
            </a:r>
          </a:p>
          <a:p xmlns:a="http://schemas.openxmlformats.org/drawingml/2006/main">
            <a:r>
              <a:t>- C:\Users\Franc\OneDrive\Documents\Francis\Peltata Project\Time-Series-Modeling-Gen5\runs\research_workbench\literature_grounded\lit_mom_01_2_long_only_stock_atlas_01_retrospective_20260802/visuals/stock_atlas_01_return_and_direction.png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22 independent one-dollar hypothetical paths, not a portfolio. Showing every path prevents positive endpoints from obscuring drawdowns and unstable trajectories. No stock is promoted from this already known window.</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Project\Time-Series-Modeling-Gen5\runs\research_workbench\literature_grounded\lit_mom_01_2_long_only_stock_atlas_01_retrospective_20260802/stock_atlas_01_retrospective_bar_replay.csv</a:t>
            </a:r>
          </a:p>
          <a:p xmlns:a="http://schemas.openxmlformats.org/drawingml/2006/main">
            <a:r>
              <a:t>- C:\Users\Franc\OneDrive\Documents\Francis\Peltata Project\Time-Series-Modeling-Gen5\runs\research_workbench\literature_grounded\lit_mom_01_2_long_only_stock_atlas_01_retrospective_20260802/stock_atlas_01_summary.csv</a:t>
            </a:r>
          </a:p>
          <a:p xmlns:a="http://schemas.openxmlformats.org/drawingml/2006/main">
            <a:r>
              <a:t>- C:\Users\Franc\OneDrive\Documents\Francis\Peltata Project\Time-Series-Modeling-Gen5\runs\research_workbench\literature_grounded\lit_mom_01_2_long_only_stock_atlas_01_retrospective_20260802/visuals/stock_atlas_01_primary_equity_paths.png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Atlas02 adds breadth, not a new strategy variant. The registry was frozen from a June 2020 SEC SPY holding schedule and contemporaneous Robinhood/Robintrack coverage. Missing histories receive coverage STOPs and are not replaced.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Project/Time-Series-Modeling-Gen5/literature_studies/docs/GEN5_LIT_MOM_01_2_STOCK_ATLAS_02_2020_BREADTH_ATTENTION_CONTRACT.md</a:t>
            </a:r>
          </a:p>
          <a:p xmlns:a="http://schemas.openxmlformats.org/drawingml/2006/main">
            <a:r>
              <a:t>- C:/Users/Franc/OneDrive/Documents/Francis/Peltata Project/Time-Series-Modeling-Gen5/literature_studies/registries/gen5_lit_mom_01_2_stock_atlas_02_2020_breadth_attention_registry.csv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registry contains 75 diversified-core and 25 retail-attention names. Exact SPY-session coverage admits 74 core and 17 attention histories. Nine failures—LIN, ACB, SNAP, CGC, BYND, APHA, SNE, SPCE, and LI—remain visible and unreplaced.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Project\Time-Series-Modeling-Gen5\runs\research_workbench\literature_grounded\lit_mom_01_2_long_only_stock_atlas_02_2020_breadth_attention_20260802/stock_atlas_02_registry.csv</a:t>
            </a:r>
          </a:p>
          <a:p xmlns:a="http://schemas.openxmlformats.org/drawingml/2006/main">
            <a:r>
              <a:t>- C:\Users\Franc\OneDrive\Documents\Francis\Peltata Project\Time-Series-Modeling-Gen5\runs\research_workbench\literature_grounded\lit_mom_01_2_long_only_stock_atlas_02_2020_breadth_attention_20260802/stock_atlas_02_registry_checks.csv</a:t>
            </a:r>
          </a:p>
          <a:p xmlns:a="http://schemas.openxmlformats.org/drawingml/2006/main">
            <a:r>
              <a:t>- C:\Users\Franc\OneDrive\Documents\Francis\Peltata Project\Time-Series-Modeling-Gen5\runs\research_workbench\literature_grounded\lit_mom_01_2_long_only_stock_atlas_02_2020_breadth_attention_20260802/stock_atlas_02_coverage.csv</a:t>
            </a:r>
          </a:p>
          <a:p xmlns:a="http://schemas.openxmlformats.org/drawingml/2006/main">
            <a:r>
              <a:t>- C:/Users/Franc/OneDrive/Documents/Francis/Peltata Project/Time-Series-Modeling-Gen5/literature_studies/docs/GEN5_LIT_MOM_01_2_STOCK_ATLAS_02_2020_BREADTH_ATTENTION_CONTRACT.md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all 91 eligible histories, 50 are primary-positive, median return is +6.92%, mean +17.01%, and worst maximum drawdown is -86.30%. The cohort contrast is descriptive: the core is survivor-prone and the attention group has only 17 eligible histories. It is not a basis for allocation or a cohort-selection rule.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Project\Time-Series-Modeling-Gen5\runs\research_workbench\literature_grounded\lit_mom_01_2_long_only_stock_atlas_02_2020_breadth_attention_20260802/stock_atlas_02_batch_summary.csv</a:t>
            </a:r>
          </a:p>
          <a:p xmlns:a="http://schemas.openxmlformats.org/drawingml/2006/main">
            <a:r>
              <a:t>- C:\Users\Franc\OneDrive\Documents\Francis\Peltata Project\Time-Series-Modeling-Gen5\runs\research_workbench\literature_grounded\lit_mom_01_2_long_only_stock_atlas_02_2020_breadth_attention_20260802/stock_atlas_02_cohort_summary.csv</a:t>
            </a:r>
          </a:p>
          <a:p xmlns:a="http://schemas.openxmlformats.org/drawingml/2006/main">
            <a:r>
              <a:t>- C:\Users\Franc\OneDrive\Documents\Francis\Peltata Project\Time-Series-Modeling-Gen5\runs\research_workbench\literature_grounded\lit_mom_01_2_long_only_stock_atlas_02_2020_breadth_attention_20260802/stock_atlas_02_summary.csv</a:t>
            </a:r>
          </a:p>
          <a:p xmlns:a="http://schemas.openxmlformats.org/drawingml/2006/main">
            <a:r>
              <a:t>- C:\Users\Franc\OneDrive\Documents\Francis\Peltata Project\Time-Series-Modeling-Gen5\runs\research_workbench\literature_grounded\lit_mom_01_2_long_only_stock_atlas_02_2020_breadth_attention_20260802/visuals/stock_atlas_02_cohort_return_and_accuracy_deck.png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is the cross-sectional median hypothetical wealth and the shaded band is the interquartile range. It is not a funded portfolio and it does not assume cross-asset allocation. The core median ends above one while the attention median ends near 0.80; wide bands emphasize dispersion and path risk.</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Project\Time-Series-Modeling-Gen5\runs\research_workbench\literature_grounded\lit_mom_01_2_long_only_stock_atlas_02_2020_breadth_attention_20260802/stock_atlas_02_retrospective_bar_replay.csv</a:t>
            </a:r>
          </a:p>
          <a:p xmlns:a="http://schemas.openxmlformats.org/drawingml/2006/main">
            <a:r>
              <a:t>- C:\Users\Franc\OneDrive\Documents\Francis\Peltata Project\Time-Series-Modeling-Gen5\runs\research_workbench\literature_grounded\lit_mom_01_2_long_only_stock_atlas_02_2020_breadth_attention_20260802/stock_atlas_02_summary.csv</a:t>
            </a:r>
          </a:p>
          <a:p xmlns:a="http://schemas.openxmlformats.org/drawingml/2006/main">
            <a:r>
              <a:t>- C:\Users\Franc\OneDrive\Documents\Francis\Peltata Project\Time-Series-Modeling-Gen5\runs\research_workbench\literature_grounded\lit_mom_01_2_long_only_stock_atlas_02_2020_breadth_attention_20260802/visuals/stock_atlas_02_cohort_equity_envelopes_deck.png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 correction is complete: current 01.2 is long-only, all official schedules contain only long trades, and borrow cost is zero. The SHY tutorial remains negative; Atlas01 and the core Atlas02 cohort are descriptively positive; attention names lag. Because all outcomes come from a repeatedly inspected window, none authorizes a portfolio, live advice, or a claim of confirmed alpha. Preserve 2024+ until a separate operator-approved confirmation design.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Project/Time-Series-Modeling-Gen5/literature_studies/docs/GEN5_LIT_MOM_01_2_SINGLE_POSITION_RETROSPECTIVE_RESULTS.md</a:t>
            </a:r>
          </a:p>
          <a:p xmlns:a="http://schemas.openxmlformats.org/drawingml/2006/main">
            <a:r>
              <a:t>- C:\Users\Franc\OneDrive\Documents\Francis\Peltata Project\Time-Series-Modeling-Gen5\runs\research_workbench\literature_grounded\lit_mom_01_2_long_only_single_position_retrospective_20260802/lit_mom_01_2_integrity_audit.csv</a:t>
            </a:r>
          </a:p>
          <a:p xmlns:a="http://schemas.openxmlformats.org/drawingml/2006/main">
            <a:r>
              <a:t>- C:\Users\Franc\OneDrive\Documents\Francis\Peltata Project\Time-Series-Modeling-Gen5\runs\research_workbench\literature_grounded\lit_mom_01_2_long_only_stock_atlas_01_retrospective_20260802/stock_atlas_01_batch_summary.csv</a:t>
            </a:r>
          </a:p>
          <a:p xmlns:a="http://schemas.openxmlformats.org/drawingml/2006/main">
            <a:r>
              <a:t>- C:\Users\Franc\OneDrive\Documents\Francis\Peltata Project\Time-Series-Modeling-Gen5\runs\research_workbench\literature_grounded\lit_mom_01_2_long_only_stock_atlas_02_2020_breadth_attention_20260802/stock_atlas_02_batch_summary.csv</a:t>
            </a:r>
          </a:p>
          <a:p xmlns:a="http://schemas.openxmlformats.org/drawingml/2006/main">
            <a:r>
              <a:t>- C:/Users/Franc/OneDrive/Documents/Francis/Peltata Project/Time-Series-Modeling-Gen5/docs/GEN5_1_POC_PROGRESS_LOG.md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541c540cef40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32fa6aca0b4fbf" /><Relationship Type="http://schemas.openxmlformats.org/officeDocument/2006/relationships/slideLayout" Target="/ppt/slideLayouts/slideLayout1.xml" Id="R585ac0b3005a43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5ac0b3005a43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514164cbde4232" /><Relationship Type="http://schemas.openxmlformats.org/officeDocument/2006/relationships/notesSlide" Target="/ppt/notesSlides/notesSlide1.xml" Id="Rf365fcde20f341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99c34c01704a18" /><Relationship Type="http://schemas.openxmlformats.org/officeDocument/2006/relationships/notesSlide" Target="/ppt/notesSlides/notesSlide2.xml" Id="Rb23412023c684e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51276a87b3479f" /><Relationship Type="http://schemas.openxmlformats.org/officeDocument/2006/relationships/notesSlide" Target="/ppt/notesSlides/notesSlide3.xml" Id="R42f46ccb9a0244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ca345d54dc4bd8" /><Relationship Type="http://schemas.openxmlformats.org/officeDocument/2006/relationships/image" Target="/ppt/media/image.png" Id="R3f7c04f5b90d4b59" /><Relationship Type="http://schemas.openxmlformats.org/officeDocument/2006/relationships/notesSlide" Target="/ppt/notesSlides/notesSlide4.xml" Id="Rf3a88c6c0380405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9669dbeacbf4e99" /><Relationship Type="http://schemas.openxmlformats.org/officeDocument/2006/relationships/image" Target="/ppt/media/image2.png" Id="R1aac5dd553974989" /><Relationship Type="http://schemas.openxmlformats.org/officeDocument/2006/relationships/notesSlide" Target="/ppt/notesSlides/notesSlide5.xml" Id="R0e17f54f8ee34b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3ac309e9d04644" /><Relationship Type="http://schemas.openxmlformats.org/officeDocument/2006/relationships/notesSlide" Target="/ppt/notesSlides/notesSlide6.xml" Id="R8085b039ef2149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e6155854e64452" /><Relationship Type="http://schemas.openxmlformats.org/officeDocument/2006/relationships/image" Target="/ppt/media/image3.png" Id="R8f949ba429164505" /><Relationship Type="http://schemas.openxmlformats.org/officeDocument/2006/relationships/notesSlide" Target="/ppt/notesSlides/notesSlide7.xml" Id="R51862ef8ec1c40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584c5c4ff74292" /><Relationship Type="http://schemas.openxmlformats.org/officeDocument/2006/relationships/notesSlide" Target="/ppt/notesSlides/notesSlide8.xml" Id="R9a7987563f6548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7c2714731bd4d5d" /><Relationship Type="http://schemas.openxmlformats.org/officeDocument/2006/relationships/notesSlide" Target="/ppt/notesSlides/notesSlide9.xml" Id="Rb7e8603d094142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fb1f3318201477a" /><Relationship Type="http://schemas.openxmlformats.org/officeDocument/2006/relationships/image" Target="/ppt/media/image4.png" Id="R668ba22b67004953" /><Relationship Type="http://schemas.openxmlformats.org/officeDocument/2006/relationships/notesSlide" Target="/ppt/notesSlides/notesSlide10.xml" Id="Re21490ce30324e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5cfacc9c5b44d42" /><Relationship Type="http://schemas.openxmlformats.org/officeDocument/2006/relationships/image" Target="/ppt/media/image5.png" Id="R75a95c202aee4af6" /><Relationship Type="http://schemas.openxmlformats.org/officeDocument/2006/relationships/notesSlide" Target="/ppt/notesSlides/notesSlide11.xml" Id="Rbe82520ada674f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3465c0eeb44ae9" /><Relationship Type="http://schemas.openxmlformats.org/officeDocument/2006/relationships/image" Target="/ppt/media/image6.png" Id="R44c4093cb7fc4e57" /><Relationship Type="http://schemas.openxmlformats.org/officeDocument/2006/relationships/notesSlide" Target="/ppt/notesSlides/notesSlide12.xml" Id="Rc177f57189454e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8fe2e4d27154e80" /><Relationship Type="http://schemas.openxmlformats.org/officeDocument/2006/relationships/notesSlide" Target="/ppt/notesSlides/notesSlide13.xml" Id="Rda9f7b29285048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4e2b3f3ea854008" /><Relationship Type="http://schemas.openxmlformats.org/officeDocument/2006/relationships/image" Target="/ppt/media/image7.png" Id="Rf2069a3c84034b43" /><Relationship Type="http://schemas.openxmlformats.org/officeDocument/2006/relationships/notesSlide" Target="/ppt/notesSlides/notesSlide14.xml" Id="Rbc907bc9174d483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eacc630d0b2476d" /><Relationship Type="http://schemas.openxmlformats.org/officeDocument/2006/relationships/image" Target="/ppt/media/image8.png" Id="Rb2abd5741f19411d" /><Relationship Type="http://schemas.openxmlformats.org/officeDocument/2006/relationships/notesSlide" Target="/ppt/notesSlides/notesSlide15.xml" Id="R004608c331d943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10d8638d594ce9" /><Relationship Type="http://schemas.openxmlformats.org/officeDocument/2006/relationships/image" Target="/ppt/media/image9.png" Id="R800d01c614e74206" /><Relationship Type="http://schemas.openxmlformats.org/officeDocument/2006/relationships/notesSlide" Target="/ppt/notesSlides/notesSlide16.xml" Id="R1097cf168da744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f4403d899b4861" /><Relationship Type="http://schemas.openxmlformats.org/officeDocument/2006/relationships/notesSlide" Target="/ppt/notesSlides/notesSlide17.xml" Id="R3ab13709cc2f426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LIT-MOM-01.2</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Long-only single-position momentum: SHY plus 22-stock and 100-name retrospective atlases</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LONG ONLY | 49 L/H cells per asset | 2021-2023 retrospective</a:t>
            </a:r>
          </a:p>
        </p:txBody>
      </p:sp>
    </p:spTree>
    <p:extLst>
      <p:ext uri="{BB962C8B-B14F-4D97-AF65-F5344CB8AC3E}">
        <p14:creationId xmlns:p14="http://schemas.microsoft.com/office/powerpoint/2010/main" val="20928933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01.2 now means long-only; the earlier short lane stays archived</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operator removed short exposure as a preference-driven scope correction. The statistical question, 49-cell selector, timing, exact-H hold, costs, and compounding remain fixed.</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PRESERVE</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Nomenclature + mechanics</a:t>
            </a:r>
          </a:p>
          <a:p xmlns:a="http://schemas.openxmlformats.org/drawingml/2006/main">
            <a:pPr algn="l">
              <a:buNone/>
              <a:defRPr sz="1575">
                <a:solidFill>
                  <a:srgbClr val="000000"/>
                </a:solidFill>
                <a:latin typeface="Helvetica Neue"/>
                <a:ea typeface="Helvetica Neue"/>
                <a:cs typeface="Helvetica Neue"/>
              </a:defRPr>
            </a:pPr>
            <a:r>
              <a:t>Explicit operator correction</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REMOVE</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Short exposure</a:t>
            </a:r>
          </a:p>
          <a:p xmlns:a="http://schemas.openxmlformats.org/drawingml/2006/main">
            <a:pPr algn="l">
              <a:buNone/>
              <a:defRPr sz="1575">
                <a:solidFill>
                  <a:srgbClr val="000000"/>
                </a:solidFill>
                <a:latin typeface="Helvetica Neue"/>
                <a:ea typeface="Helvetica Neue"/>
                <a:cs typeface="Helvetica Neue"/>
              </a:defRPr>
            </a:pPr>
            <a:r>
              <a:t>Negative and zero mean cash</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AUDIT</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Git history</a:t>
            </a:r>
          </a:p>
          <a:p xmlns:a="http://schemas.openxmlformats.org/drawingml/2006/main">
            <a:pPr algn="l">
              <a:buNone/>
              <a:defRPr sz="1575">
                <a:solidFill>
                  <a:srgbClr val="000000"/>
                </a:solidFill>
                <a:latin typeface="Helvetica Neue"/>
                <a:ea typeface="Helvetica Neue"/>
                <a:cs typeface="Helvetica Neue"/>
              </a:defRPr>
            </a:pPr>
            <a:r>
              <a:t>70f1c20 remains recoverable</a:t>
            </a:r>
          </a:p>
        </p:txBody>
      </p:sp>
    </p:spTree>
    <p:extLst>
      <p:ext uri="{BB962C8B-B14F-4D97-AF65-F5344CB8AC3E}">
        <p14:creationId xmlns:p14="http://schemas.microsoft.com/office/powerpoint/2010/main" val="209824963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selector stays symmetric; the policy is long-only</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Negative TRAIN observations still inform the return-correlation estimate. They simply cannot create a position. This keeps the source-style statistical question fixed while making exposure long-or-cash.</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SELECTOR</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All-sign returns</a:t>
            </a:r>
          </a:p>
          <a:p xmlns:a="http://schemas.openxmlformats.org/drawingml/2006/main">
            <a:pPr algn="l">
              <a:buNone/>
              <a:defRPr sz="1575">
                <a:solidFill>
                  <a:srgbClr val="000000"/>
                </a:solidFill>
                <a:latin typeface="Helvetica Neue"/>
                <a:ea typeface="Helvetica Neue"/>
                <a:cs typeface="Helvetica Neue"/>
              </a:defRPr>
            </a:pPr>
            <a:r>
              <a:t>Negative observations retained</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CALLS</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Positive signals only</a:t>
            </a:r>
          </a:p>
          <a:p xmlns:a="http://schemas.openxmlformats.org/drawingml/2006/main">
            <a:pPr algn="l">
              <a:buNone/>
              <a:defRPr sz="1575">
                <a:solidFill>
                  <a:srgbClr val="000000"/>
                </a:solidFill>
                <a:latin typeface="Helvetica Neue"/>
                <a:ea typeface="Helvetica Neue"/>
                <a:cs typeface="Helvetica Neue"/>
              </a:defRPr>
            </a:pPr>
            <a:r>
              <a:t>Long-call accuracy audited</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P&amp;L</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Long or cash</a:t>
            </a:r>
          </a:p>
          <a:p xmlns:a="http://schemas.openxmlformats.org/drawingml/2006/main">
            <a:pPr algn="l">
              <a:buNone/>
              <a:defRPr sz="1575">
                <a:solidFill>
                  <a:srgbClr val="000000"/>
                </a:solidFill>
                <a:latin typeface="Helvetica Neue"/>
                <a:ea typeface="Helvetica Neue"/>
                <a:cs typeface="Helvetica Neue"/>
              </a:defRPr>
            </a:pPr>
            <a:r>
              <a:t>Net return after round trips</a:t>
            </a:r>
          </a:p>
        </p:txBody>
      </p:sp>
    </p:spTree>
    <p:extLst>
      <p:ext uri="{BB962C8B-B14F-4D97-AF65-F5344CB8AC3E}">
        <p14:creationId xmlns:p14="http://schemas.microsoft.com/office/powerpoint/2010/main" val="20982496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344043"/>
            <a:ext cx="5537168" cy="1143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 positive signal owns the account for exactly H opens</a:t>
            </a:r>
          </a:p>
        </p:txBody>
      </p:sp>
      <p:sp>
        <p:nvSpPr>
          <p:cNvPr id="3" name="image-backing">
            <a:extLst xmlns:a="http://schemas.openxmlformats.org/drawingml/2006/main">
              <a:ext uri="{FF2B5EF4-FFF2-40B4-BE49-F238E27FC236}">
                <a16:creationId xmlns:a16="http://schemas.microsoft.com/office/drawing/2014/main" id="{5EE0E946-4B2C-4DE9-8839-3DE0D30C8B61}"/>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4" name="body">
            <a:extLst xmlns:a="http://schemas.openxmlformats.org/drawingml/2006/main">
              <a:ext uri="{FF2B5EF4-FFF2-40B4-BE49-F238E27FC236}">
                <a16:creationId xmlns:a16="http://schemas.microsoft.com/office/drawing/2014/main" id="{3E0CA677-50AA-4CCF-BC5C-CB90210AF27E}"/>
              </a:ext>
            </a:extLst>
          </p:cNvPr>
          <p:cNvSpPr>
            <a:spLocks xmlns:a="http://schemas.openxmlformats.org/drawingml/2006/main" noGrp="1"/>
          </p:cNvSpPr>
          <p:nvPr/>
        </p:nvSpPr>
        <p:spPr>
          <a:xfrm xmlns:a="http://schemas.openxmlformats.org/drawingml/2006/main">
            <a:off x="393668" y="1695450"/>
            <a:ext cx="5537168" cy="423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a:solidFill>
                  <a:srgbClr val="000000"/>
                </a:solidFill>
                <a:latin typeface="Helvetica Neue"/>
                <a:ea typeface="Helvetica Neue"/>
                <a:cs typeface="Helvetica Neue"/>
              </a:defRPr>
            </a:pPr>
            <a:r>
              <a:t>r_L(t) = C_t / C_(t-L) - 1</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If r_L(t) &gt; 0 after close t:</a:t>
            </a:r>
          </a:p>
          <a:p xmlns:a="http://schemas.openxmlformats.org/drawingml/2006/main">
            <a:pPr algn="l">
              <a:buNone/>
              <a:defRPr sz="1950">
                <a:solidFill>
                  <a:srgbClr val="000000"/>
                </a:solidFill>
                <a:latin typeface="Helvetica Neue"/>
                <a:ea typeface="Helvetica Neue"/>
                <a:cs typeface="Helvetica Neue"/>
              </a:defRPr>
            </a:pPr>
            <a:r>
              <a:t>enter long at the next open with current equity;</a:t>
            </a:r>
          </a:p>
          <a:p xmlns:a="http://schemas.openxmlformats.org/drawingml/2006/main">
            <a:pPr algn="l">
              <a:buNone/>
              <a:defRPr sz="1950">
                <a:solidFill>
                  <a:srgbClr val="000000"/>
                </a:solidFill>
                <a:latin typeface="Helvetica Neue"/>
                <a:ea typeface="Helvetica Neue"/>
                <a:cs typeface="Helvetica Neue"/>
              </a:defRPr>
            </a:pPr>
            <a:r>
              <a:t>freeze quantity; hold exactly H open intervals; exit.</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If r_L(t) &lt;= 0: hold cash and keep scanning.</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E_(k+1) = E_k + long P&amp;L - costs</a:t>
            </a:r>
          </a:p>
          <a:p xmlns:a="http://schemas.openxmlformats.org/drawingml/2006/main">
            <a:pPr algn="l">
              <a:buNone/>
              <a:defRPr sz="1950">
                <a:solidFill>
                  <a:srgbClr val="000000"/>
                </a:solidFill>
                <a:latin typeface="Helvetica Neue"/>
                <a:ea typeface="Helvetica Neue"/>
                <a:cs typeface="Helvetica Neue"/>
              </a:defRPr>
            </a:pPr>
            <a:r>
              <a:t/>
            </a:r>
          </a:p>
          <a:p xmlns:a="http://schemas.openxmlformats.org/drawingml/2006/main">
            <a:pPr algn="l">
              <a:buNone/>
              <a:defRPr sz="1950">
                <a:solidFill>
                  <a:srgbClr val="000000"/>
                </a:solidFill>
                <a:latin typeface="Helvetica Neue"/>
                <a:ea typeface="Helvetica Neue"/>
                <a:cs typeface="Helvetica Neue"/>
              </a:defRPr>
            </a:pPr>
            <a:r>
              <a:t>No short. No pyramiding. No intra-trade rebalance.</a:t>
            </a:r>
          </a:p>
          <a:p xmlns:a="http://schemas.openxmlformats.org/drawingml/2006/main">
            <a:pPr algn="l">
              <a:buNone/>
              <a:defRPr sz="1950">
                <a:solidFill>
                  <a:srgbClr val="000000"/>
                </a:solidFill>
                <a:latin typeface="Helvetica Neue"/>
                <a:ea typeface="Helvetica Neue"/>
                <a:cs typeface="Helvetica Neue"/>
              </a:defRPr>
            </a:pPr>
            <a:r>
              <a:t>The next trade reinvests the account's current equity.</a:t>
            </a:r>
          </a:p>
        </p:txBody>
      </p:sp>
      <p:sp>
        <p:nvSpPr>
          <p:cNvPr id="8" name="">
            <a:extLst xmlns:a="http://schemas.openxmlformats.org/drawingml/2006/main">
              <a:ext uri="{FF2B5EF4-FFF2-40B4-BE49-F238E27FC236}">
                <a16:creationId xmlns:a16="http://schemas.microsoft.com/office/drawing/2014/main" id="{08228C7B-FAD1-4EFC-8057-453D13C988CF}"/>
              </a:ext>
            </a:extLst>
          </p:cNvPr>
          <p:cNvSpPr>
            <a:spLocks xmlns:a="http://schemas.openxmlformats.org/drawingml/2006/main" noGrp="1"/>
          </p:cNvSpPr>
          <p:nvPr/>
        </p:nvSpPr>
        <p:spPr>
          <a:xfrm xmlns:a="http://schemas.openxmlformats.org/drawingml/2006/main">
            <a:off x="6381750" y="1776196"/>
            <a:ext cx="5314950" cy="3019858"/>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f7c04f5b90d4b59"/>
          <a:stretch xmlns:a="http://schemas.openxmlformats.org/drawingml/2006/main"/>
        </p:blipFill>
        <p:spPr>
          <a:xfrm xmlns:a="http://schemas.openxmlformats.org/drawingml/2006/main" flipH="0" flipV="0">
            <a:off x="6381750" y="2009321"/>
            <a:ext cx="5238750" cy="2744107"/>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The open 49-cell TRAIN search still selects SHY 60/5</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aac5dd553974989"/>
          <a:stretch xmlns:a="http://schemas.openxmlformats.org/drawingml/2006/main"/>
        </p:blipFill>
        <p:spPr>
          <a:xfrm xmlns:a="http://schemas.openxmlformats.org/drawingml/2006/main" flipH="0" flipV="0">
            <a:off x="2595563" y="1143000"/>
            <a:ext cx="7000875" cy="5000625"/>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Now ask what long-only execution actually did</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Replay the selected 60/5 policy through 2021-2023 as one full-capital long block at a time. Preserve causality, costs, cash gaps, and compounding—but do not call the known window confirmation.</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RETROSPECTIVE EXPLORATION | NOT FRESH OOS</a:t>
            </a:r>
          </a:p>
        </p:txBody>
      </p:sp>
    </p:spTree>
    <p:extLst>
      <p:ext uri="{BB962C8B-B14F-4D97-AF65-F5344CB8AC3E}">
        <p14:creationId xmlns:p14="http://schemas.microsoft.com/office/powerpoint/2010/main" val="209289339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231B1CDB-9946-498B-901E-0A0C9C77211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
            <a:extLst xmlns:a="http://schemas.openxmlformats.org/drawingml/2006/main">
              <a:ext uri="{FF2B5EF4-FFF2-40B4-BE49-F238E27FC236}">
                <a16:creationId xmlns:a16="http://schemas.microsoft.com/office/drawing/2014/main" id="{EE1FC061-EE2C-48CF-9799-D8537102BA1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SHY stayed a clean tutorial—and remained cost-fragile</a:t>
            </a:r>
          </a:p>
        </p:txBody>
      </p:sp>
      <p:sp>
        <p:nvSpPr>
          <p:cNvPr id="3" name="left-stat-card">
            <a:extLst xmlns:a="http://schemas.openxmlformats.org/drawingml/2006/main">
              <a:ext uri="{FF2B5EF4-FFF2-40B4-BE49-F238E27FC236}">
                <a16:creationId xmlns:a16="http://schemas.microsoft.com/office/drawing/2014/main" id="{EF0AF18E-87A6-431F-8D4F-59EC894570D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right-stat-card">
            <a:extLst xmlns:a="http://schemas.openxmlformats.org/drawingml/2006/main">
              <a:ext uri="{FF2B5EF4-FFF2-40B4-BE49-F238E27FC236}">
                <a16:creationId xmlns:a16="http://schemas.microsoft.com/office/drawing/2014/main" id="{9C01B021-FDE1-4776-B2EE-ACB76D126DAD}"/>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5" name="summary">
            <a:extLst xmlns:a="http://schemas.openxmlformats.org/drawingml/2006/main">
              <a:ext uri="{FF2B5EF4-FFF2-40B4-BE49-F238E27FC236}">
                <a16:creationId xmlns:a16="http://schemas.microsoft.com/office/drawing/2014/main" id="{A2F82FC1-3249-4254-ABAA-A2D0E0F95848}"/>
              </a:ext>
            </a:extLst>
          </p:cNvPr>
          <p:cNvSpPr>
            <a:spLocks xmlns:a="http://schemas.openxmlformats.org/drawingml/2006/main" noGrp="1"/>
          </p:cNvSpPr>
          <p:nvPr/>
        </p:nvSpPr>
        <p:spPr>
          <a:xfrm xmlns:a="http://schemas.openxmlformats.org/drawingml/2006/main">
            <a:off x="6261068" y="1714500"/>
            <a:ext cx="5539835"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SHY completed 69 long blocks. Gross return was only +0.22%; literal 5 bp-per-side round trips turned that into -6.46%. Retrospective positive-call accuracy was 44.9%, and every integrity check passed.</a:t>
            </a:r>
          </a:p>
        </p:txBody>
      </p:sp>
      <p:sp>
        <p:nvSpPr>
          <p:cNvPr id="6" name="left-stat">
            <a:extLst xmlns:a="http://schemas.openxmlformats.org/drawingml/2006/main">
              <a:ext uri="{FF2B5EF4-FFF2-40B4-BE49-F238E27FC236}">
                <a16:creationId xmlns:a16="http://schemas.microsoft.com/office/drawing/2014/main" id="{06B274F5-6F7E-4432-B0F1-4874DA3CABB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-6.46%</a:t>
            </a:r>
          </a:p>
        </p:txBody>
      </p:sp>
      <p:sp>
        <p:nvSpPr>
          <p:cNvPr id="7" name="left-stat-label">
            <a:extLst xmlns:a="http://schemas.openxmlformats.org/drawingml/2006/main">
              <a:ext uri="{FF2B5EF4-FFF2-40B4-BE49-F238E27FC236}">
                <a16:creationId xmlns:a16="http://schemas.microsoft.com/office/drawing/2014/main" id="{99D2BB32-1C11-4B29-AF23-ED9F32D0BCEB}"/>
              </a:ext>
            </a:extLst>
          </p:cNvPr>
          <p:cNvSpPr>
            <a:spLocks xmlns:a="http://schemas.openxmlformats.org/drawingml/2006/main" noGrp="1"/>
          </p:cNvSpPr>
          <p:nvPr/>
        </p:nvSpPr>
        <p:spPr>
          <a:xfrm xmlns:a="http://schemas.openxmlformats.org/drawingml/2006/main">
            <a:off x="6575965"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PRIMARY RETURN</a:t>
            </a:r>
          </a:p>
          <a:p xmlns:a="http://schemas.openxmlformats.org/drawingml/2006/main">
            <a:pPr algn="l">
              <a:buNone/>
              <a:defRPr sz="1500">
                <a:solidFill>
                  <a:srgbClr val="000000"/>
                </a:solidFill>
                <a:latin typeface="Helvetica Neue"/>
                <a:ea typeface="Helvetica Neue"/>
                <a:cs typeface="Helvetica Neue"/>
              </a:defRPr>
            </a:pPr>
            <a:r>
              <a:t>69 long blocks</a:t>
            </a:r>
          </a:p>
        </p:txBody>
      </p:sp>
      <p:sp>
        <p:nvSpPr>
          <p:cNvPr id="8" name="right-stat">
            <a:extLst xmlns:a="http://schemas.openxmlformats.org/drawingml/2006/main">
              <a:ext uri="{FF2B5EF4-FFF2-40B4-BE49-F238E27FC236}">
                <a16:creationId xmlns:a16="http://schemas.microsoft.com/office/drawing/2014/main" id="{2EAFD608-776D-46A1-95EA-79AF4E6F559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-7.87%</a:t>
            </a:r>
          </a:p>
        </p:txBody>
      </p:sp>
      <p:sp>
        <p:nvSpPr>
          <p:cNvPr id="9" name="right-stat-label">
            <a:extLst xmlns:a="http://schemas.openxmlformats.org/drawingml/2006/main">
              <a:ext uri="{FF2B5EF4-FFF2-40B4-BE49-F238E27FC236}">
                <a16:creationId xmlns:a16="http://schemas.microsoft.com/office/drawing/2014/main" id="{691BF8AE-236E-4677-8EAF-3CF0D5A20DB6}"/>
              </a:ext>
            </a:extLst>
          </p:cNvPr>
          <p:cNvSpPr>
            <a:spLocks xmlns:a="http://schemas.openxmlformats.org/drawingml/2006/main" noGrp="1"/>
          </p:cNvSpPr>
          <p:nvPr/>
        </p:nvSpPr>
        <p:spPr>
          <a:xfrm xmlns:a="http://schemas.openxmlformats.org/drawingml/2006/main">
            <a:off x="9528143"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MAX DRAWDOWN</a:t>
            </a:r>
          </a:p>
          <a:p xmlns:a="http://schemas.openxmlformats.org/drawingml/2006/main">
            <a:pPr algn="l">
              <a:buNone/>
              <a:defRPr sz="1500">
                <a:solidFill>
                  <a:srgbClr val="000000"/>
                </a:solidFill>
                <a:latin typeface="Helvetica Neue"/>
                <a:ea typeface="Helvetica Neue"/>
                <a:cs typeface="Helvetica Neue"/>
              </a:defRPr>
            </a:pPr>
            <a:r>
              <a:t>Zero borrow cost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f949ba429164505"/>
          <a:stretch xmlns:a="http://schemas.openxmlformats.org/drawingml/2006/main"/>
        </p:blipFill>
        <p:spPr>
          <a:xfrm xmlns:a="http://schemas.openxmlformats.org/drawingml/2006/main" flipH="0" flipV="0">
            <a:off x="428625" y="2371045"/>
            <a:ext cx="5429250" cy="2973161"/>
          </a:xfrm>
          <a:prstGeom xmlns:a="http://schemas.openxmlformats.org/drawingml/2006/main" prst="rect">
            <a:avLst/>
          </a:prstGeom>
        </p:spPr>
      </p:pic>
    </p:spTree>
    <p:extLst>
      <p:ext uri="{BB962C8B-B14F-4D97-AF65-F5344CB8AC3E}">
        <p14:creationId xmlns:p14="http://schemas.microsoft.com/office/powerpoint/2010/main" val="9128750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SHY is still the tutorial—not the research destination</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98782"/>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Repeat the complete process across the frozen 22-stock sector-balanced panel: all 49 TRAIN cells per stock, one frozen horizon each, then one long-or-cash replay in the same known window.</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22 STOCKS | 11 SECTORS | 1,078 TRAIN CELLS</a:t>
            </a:r>
          </a:p>
        </p:txBody>
      </p:sp>
    </p:spTree>
    <p:extLst>
      <p:ext uri="{BB962C8B-B14F-4D97-AF65-F5344CB8AC3E}">
        <p14:creationId xmlns:p14="http://schemas.microsoft.com/office/powerpoint/2010/main" val="20928933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stat-card-1">
            <a:extLst xmlns:a="http://schemas.openxmlformats.org/drawingml/2006/main">
              <a:ext uri="{FF2B5EF4-FFF2-40B4-BE49-F238E27FC236}">
                <a16:creationId xmlns:a16="http://schemas.microsoft.com/office/drawing/2014/main" id="{8D249104-692F-481F-82EC-326C84E9007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stat-card-2">
            <a:extLst xmlns:a="http://schemas.openxmlformats.org/drawingml/2006/main">
              <a:ext uri="{FF2B5EF4-FFF2-40B4-BE49-F238E27FC236}">
                <a16:creationId xmlns:a16="http://schemas.microsoft.com/office/drawing/2014/main" id="{02412AD9-1F13-493C-BF6C-FD8BDE750CD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stat-card-3">
            <a:extLst xmlns:a="http://schemas.openxmlformats.org/drawingml/2006/main">
              <a:ext uri="{FF2B5EF4-FFF2-40B4-BE49-F238E27FC236}">
                <a16:creationId xmlns:a16="http://schemas.microsoft.com/office/drawing/2014/main" id="{63597CCF-F233-4A0C-BCFA-192F852FDBEA}"/>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footer">
            <a:extLst xmlns:a="http://schemas.openxmlformats.org/drawingml/2006/main">
              <a:ext uri="{FF2B5EF4-FFF2-40B4-BE49-F238E27FC236}">
                <a16:creationId xmlns:a16="http://schemas.microsoft.com/office/drawing/2014/main" id="{11E272E4-82E7-4287-91C5-21E6B629F55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
            <a:extLst xmlns:a="http://schemas.openxmlformats.org/drawingml/2006/main">
              <a:ext uri="{FF2B5EF4-FFF2-40B4-BE49-F238E27FC236}">
                <a16:creationId xmlns:a16="http://schemas.microsoft.com/office/drawing/2014/main" id="{A0ED332F-4F42-421E-99CF-097B6CBB5C1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Each Atlas01 asset gets its own full TRAIN search and long-only replay</a:t>
            </a:r>
          </a:p>
        </p:txBody>
      </p:sp>
      <p:sp>
        <p:nvSpPr>
          <p:cNvPr id="6" name="intro">
            <a:extLst xmlns:a="http://schemas.openxmlformats.org/drawingml/2006/main">
              <a:ext uri="{FF2B5EF4-FFF2-40B4-BE49-F238E27FC236}">
                <a16:creationId xmlns:a16="http://schemas.microsoft.com/office/drawing/2014/main" id="{E3D1AF2D-950D-495D-BB07-182C768AD88F}"/>
              </a:ext>
            </a:extLst>
          </p:cNvPr>
          <p:cNvSpPr>
            <a:spLocks xmlns:a="http://schemas.openxmlformats.org/drawingml/2006/main" noGrp="1"/>
          </p:cNvSpPr>
          <p:nvPr/>
        </p:nvSpPr>
        <p:spPr>
          <a:xfrm xmlns:a="http://schemas.openxmlformats.org/drawingml/2006/main">
            <a:off x="393668" y="1219200"/>
            <a:ext cx="11404568"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a:solidFill>
                  <a:srgbClr val="000000"/>
                </a:solidFill>
                <a:latin typeface="Helvetica Neue"/>
                <a:ea typeface="Helvetica Neue"/>
                <a:cs typeface="Helvetica Neue"/>
              </a:defRPr>
            </a:pPr>
            <a:r>
              <a:t>The frozen panel was selected for sector breadth, liquidity, history, and economic diversity before 01.2 outcomes. Every asset advances its deterministic maximum TRAIN row—even when that row is weak.</a:t>
            </a:r>
          </a:p>
        </p:txBody>
      </p:sp>
      <p:sp>
        <p:nvSpPr>
          <p:cNvPr id="7" name="stat-1">
            <a:extLst xmlns:a="http://schemas.openxmlformats.org/drawingml/2006/main">
              <a:ext uri="{FF2B5EF4-FFF2-40B4-BE49-F238E27FC236}">
                <a16:creationId xmlns:a16="http://schemas.microsoft.com/office/drawing/2014/main" id="{447A29C0-2600-4241-BF6B-6797417FC507}"/>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3D8DFF"/>
                </a:solidFill>
                <a:latin typeface="Helvetica Neue"/>
                <a:ea typeface="Helvetica Neue"/>
                <a:cs typeface="Helvetica Neue"/>
              </a:defRPr>
            </a:pPr>
            <a:r>
              <a:t>UNIVERSE</a:t>
            </a:r>
          </a:p>
        </p:txBody>
      </p:sp>
      <p:sp>
        <p:nvSpPr>
          <p:cNvPr id="8" name="stat-label-1">
            <a:extLst xmlns:a="http://schemas.openxmlformats.org/drawingml/2006/main">
              <a:ext uri="{FF2B5EF4-FFF2-40B4-BE49-F238E27FC236}">
                <a16:creationId xmlns:a16="http://schemas.microsoft.com/office/drawing/2014/main" id="{1D2A853D-A304-477D-B8B8-F77F0101AC08}"/>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22 stocks</a:t>
            </a:r>
          </a:p>
          <a:p xmlns:a="http://schemas.openxmlformats.org/drawingml/2006/main">
            <a:pPr algn="l">
              <a:buNone/>
              <a:defRPr sz="1575">
                <a:solidFill>
                  <a:srgbClr val="000000"/>
                </a:solidFill>
                <a:latin typeface="Helvetica Neue"/>
                <a:ea typeface="Helvetica Neue"/>
                <a:cs typeface="Helvetica Neue"/>
              </a:defRPr>
            </a:pPr>
            <a:r>
              <a:t>Exactly two per sector</a:t>
            </a:r>
          </a:p>
        </p:txBody>
      </p:sp>
      <p:sp>
        <p:nvSpPr>
          <p:cNvPr id="9" name="stat-2">
            <a:extLst xmlns:a="http://schemas.openxmlformats.org/drawingml/2006/main">
              <a:ext uri="{FF2B5EF4-FFF2-40B4-BE49-F238E27FC236}">
                <a16:creationId xmlns:a16="http://schemas.microsoft.com/office/drawing/2014/main" id="{342C60B8-5C35-4607-932D-DFD8E206B634}"/>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TRAIN</a:t>
            </a:r>
          </a:p>
        </p:txBody>
      </p:sp>
      <p:sp>
        <p:nvSpPr>
          <p:cNvPr id="10" name="stat-label-2">
            <a:extLst xmlns:a="http://schemas.openxmlformats.org/drawingml/2006/main">
              <a:ext uri="{FF2B5EF4-FFF2-40B4-BE49-F238E27FC236}">
                <a16:creationId xmlns:a16="http://schemas.microsoft.com/office/drawing/2014/main" id="{3123331A-6BB6-4FC3-B18C-EE98C6A8FF13}"/>
              </a:ext>
            </a:extLst>
          </p:cNvPr>
          <p:cNvSpPr>
            <a:spLocks xmlns:a="http://schemas.openxmlformats.org/drawingml/2006/main" noGrp="1"/>
          </p:cNvSpPr>
          <p:nvPr/>
        </p:nvSpPr>
        <p:spPr>
          <a:xfrm xmlns:a="http://schemas.openxmlformats.org/drawingml/2006/main">
            <a:off x="4612958"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49 L/H cells each</a:t>
            </a:r>
          </a:p>
          <a:p xmlns:a="http://schemas.openxmlformats.org/drawingml/2006/main">
            <a:pPr algn="l">
              <a:buNone/>
              <a:defRPr sz="1575">
                <a:solidFill>
                  <a:srgbClr val="000000"/>
                </a:solidFill>
                <a:latin typeface="Helvetica Neue"/>
                <a:ea typeface="Helvetica Neue"/>
                <a:cs typeface="Helvetica Neue"/>
              </a:defRPr>
            </a:pPr>
            <a:r>
              <a:t>1,078 total rows</a:t>
            </a:r>
          </a:p>
        </p:txBody>
      </p:sp>
      <p:sp>
        <p:nvSpPr>
          <p:cNvPr id="11" name="stat-3">
            <a:extLst xmlns:a="http://schemas.openxmlformats.org/drawingml/2006/main">
              <a:ext uri="{FF2B5EF4-FFF2-40B4-BE49-F238E27FC236}">
                <a16:creationId xmlns:a16="http://schemas.microsoft.com/office/drawing/2014/main" id="{A0AD0C21-BC31-4957-B0CB-525311D4386F}"/>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225">
                <a:solidFill>
                  <a:srgbClr val="000000"/>
                </a:solidFill>
                <a:latin typeface="Helvetica Neue"/>
                <a:ea typeface="Helvetica Neue"/>
                <a:cs typeface="Helvetica Neue"/>
              </a:defRPr>
            </a:pPr>
            <a:r>
              <a:t>REPLAY</a:t>
            </a:r>
          </a:p>
        </p:txBody>
      </p:sp>
      <p:sp>
        <p:nvSpPr>
          <p:cNvPr id="12" name="stat-label-3">
            <a:extLst xmlns:a="http://schemas.openxmlformats.org/drawingml/2006/main">
              <a:ext uri="{FF2B5EF4-FFF2-40B4-BE49-F238E27FC236}">
                <a16:creationId xmlns:a16="http://schemas.microsoft.com/office/drawing/2014/main" id="{86C9D445-5711-4319-B967-D72E959CA06D}"/>
              </a:ext>
            </a:extLst>
          </p:cNvPr>
          <p:cNvSpPr>
            <a:spLocks xmlns:a="http://schemas.openxmlformats.org/drawingml/2006/main" noGrp="1"/>
          </p:cNvSpPr>
          <p:nvPr/>
        </p:nvSpPr>
        <p:spPr>
          <a:xfrm xmlns:a="http://schemas.openxmlformats.org/drawingml/2006/main">
            <a:off x="8562404" y="4900613"/>
            <a:ext cx="2949607" cy="819150"/>
          </a:xfrm>
          <a:prstGeom xmlns:a="http://schemas.openxmlformats.org/drawingml/2006/main" prst="rect">
            <a:avLst/>
          </a:prstGeom>
        </p:spPr>
        <p:txBody>
          <a:bodyPr xmlns:a="http://schemas.openxmlformats.org/drawingml/2006/main" lIns="0" tIns="45720" rIns="91440" bIns="45720" anchor="t">
            <a:normAutofit fontScale="100000"/>
          </a:bodyPr>
          <a:lstStyle xmlns:a="http://schemas.openxmlformats.org/drawingml/2006/main"/>
          <a:p xmlns:a="http://schemas.openxmlformats.org/drawingml/2006/main">
            <a:pPr algn="l">
              <a:buNone/>
              <a:defRPr sz="1575">
                <a:solidFill>
                  <a:srgbClr val="000000"/>
                </a:solidFill>
                <a:latin typeface="Helvetica Neue"/>
                <a:ea typeface="Helvetica Neue"/>
                <a:cs typeface="Helvetica Neue"/>
              </a:defRPr>
            </a:pPr>
            <a:r>
              <a:t>Long or cash</a:t>
            </a:r>
          </a:p>
          <a:p xmlns:a="http://schemas.openxmlformats.org/drawingml/2006/main">
            <a:pPr algn="l">
              <a:buNone/>
              <a:defRPr sz="1575">
                <a:solidFill>
                  <a:srgbClr val="000000"/>
                </a:solidFill>
                <a:latin typeface="Helvetica Neue"/>
                <a:ea typeface="Helvetica Neue"/>
                <a:cs typeface="Helvetica Neue"/>
              </a:defRPr>
            </a:pPr>
            <a:r>
              <a:t>Known 2021-2023 window</a:t>
            </a:r>
          </a:p>
        </p:txBody>
      </p:sp>
    </p:spTree>
    <p:extLst>
      <p:ext uri="{BB962C8B-B14F-4D97-AF65-F5344CB8AC3E}">
        <p14:creationId xmlns:p14="http://schemas.microsoft.com/office/powerpoint/2010/main" val="2098249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Horizons varied; selected correlations still weakened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68ba22b67004953"/>
          <a:stretch xmlns:a="http://schemas.openxmlformats.org/drawingml/2006/main"/>
        </p:blipFill>
        <p:spPr>
          <a:xfrm xmlns:a="http://schemas.openxmlformats.org/drawingml/2006/main" flipH="0" flipV="0">
            <a:off x="523875" y="1555474"/>
            <a:ext cx="11144250" cy="4118527"/>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Long-only changed Atlas01: 16 of 22 finished primary-positive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5a95c202aee4af6"/>
          <a:stretch xmlns:a="http://schemas.openxmlformats.org/drawingml/2006/main"/>
        </p:blipFill>
        <p:spPr>
          <a:xfrm xmlns:a="http://schemas.openxmlformats.org/drawingml/2006/main" flipH="0" flipV="0">
            <a:off x="1617179" y="1162050"/>
            <a:ext cx="8957641"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All 22 long-only paths remain visible—no winner is selected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4c4093cb7fc4e57"/>
          <a:stretch xmlns:a="http://schemas.openxmlformats.org/drawingml/2006/main"/>
        </p:blipFill>
        <p:spPr>
          <a:xfrm xmlns:a="http://schemas.openxmlformats.org/drawingml/2006/main" flipH="0" flipV="0">
            <a:off x="1190625" y="1162050"/>
            <a:ext cx="9810750" cy="4905375"/>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DA6318FA-2F99-4DF9-A744-06350F910925}"/>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Now widen breadth without changing the policy</a:t>
            </a:r>
          </a:p>
        </p:txBody>
      </p:sp>
      <p:sp>
        <p:nvSpPr>
          <p:cNvPr id="2" name="cover-subtitle">
            <a:extLst xmlns:a="http://schemas.openxmlformats.org/drawingml/2006/main">
              <a:ext uri="{FF2B5EF4-FFF2-40B4-BE49-F238E27FC236}">
                <a16:creationId xmlns:a16="http://schemas.microsoft.com/office/drawing/2014/main" id="{E169DF7F-9A3A-4AE2-8055-4ED350724D47}"/>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95258"/>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Add 100 point-in-time-justified names: 75 diversified core exposures and 25 stocks documented as receiving retail attention by TRAIN end. Keep the same windows, selector, long-only execution, and evidence label.</a:t>
            </a:r>
          </a:p>
        </p:txBody>
      </p:sp>
      <p:sp>
        <p:nvSpPr>
          <p:cNvPr id="3" name="cover-eyebrow">
            <a:extLst xmlns:a="http://schemas.openxmlformats.org/drawingml/2006/main">
              <a:ext uri="{FF2B5EF4-FFF2-40B4-BE49-F238E27FC236}">
                <a16:creationId xmlns:a16="http://schemas.microsoft.com/office/drawing/2014/main" id="{D2399950-CA2D-41D2-BB2E-E681018A573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ATLAS02 | FROZEN 2020 BREADTH + ATTENTION</a:t>
            </a:r>
          </a:p>
        </p:txBody>
      </p:sp>
    </p:spTree>
    <p:extLst>
      <p:ext uri="{BB962C8B-B14F-4D97-AF65-F5344CB8AC3E}">
        <p14:creationId xmlns:p14="http://schemas.microsoft.com/office/powerpoint/2010/main" val="209289339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4F272998-B60C-44E0-849E-A04A87223BA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14</a:t>
            </a:r>
          </a:p>
        </p:txBody>
      </p:sp>
      <p:sp>
        <p:nvSpPr>
          <p:cNvPr id="2" name="title">
            <a:extLst xmlns:a="http://schemas.openxmlformats.org/drawingml/2006/main">
              <a:ext uri="{FF2B5EF4-FFF2-40B4-BE49-F238E27FC236}">
                <a16:creationId xmlns:a16="http://schemas.microsoft.com/office/drawing/2014/main" id="{8A16F9E5-1AF4-43B0-AB25-E3AE98294DF6}"/>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100 frozen names span 11 sectors and a 2020 attention cohort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2069a3c84034b43"/>
          <a:stretch xmlns:a="http://schemas.openxmlformats.org/drawingml/2006/main"/>
        </p:blipFill>
        <p:spPr>
          <a:xfrm xmlns:a="http://schemas.openxmlformats.org/drawingml/2006/main">
            <a:off x="1333500" y="1238250"/>
            <a:ext cx="9525000" cy="4762500"/>
          </a:xfrm>
          <a:prstGeom xmlns:a="http://schemas.openxmlformats.org/drawingml/2006/main" prst="rect">
            <a:avLst/>
          </a:prstGeom>
        </p:spPr>
      </p:pic>
    </p:spTree>
    <p:extLst>
      <p:ext uri="{BB962C8B-B14F-4D97-AF65-F5344CB8AC3E}">
        <p14:creationId xmlns:p14="http://schemas.microsoft.com/office/powerpoint/2010/main" val="18733408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1" name="footer">
            <a:extLst xmlns:a="http://schemas.openxmlformats.org/drawingml/2006/main">
              <a:ext uri="{FF2B5EF4-FFF2-40B4-BE49-F238E27FC236}">
                <a16:creationId xmlns:a16="http://schemas.microsoft.com/office/drawing/2014/main" id="{231B1CDB-9946-498B-901E-0A0C9C77211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15</a:t>
            </a:r>
          </a:p>
        </p:txBody>
      </p:sp>
      <p:sp>
        <p:nvSpPr>
          <p:cNvPr id="2" name="title">
            <a:extLst xmlns:a="http://schemas.openxmlformats.org/drawingml/2006/main">
              <a:ext uri="{FF2B5EF4-FFF2-40B4-BE49-F238E27FC236}">
                <a16:creationId xmlns:a16="http://schemas.microsoft.com/office/drawing/2014/main" id="{EE1FC061-EE2C-48CF-9799-D8537102BA1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50 of 91 were positive—but the frozen cohorts diverged</a:t>
            </a:r>
          </a:p>
        </p:txBody>
      </p:sp>
      <p:sp>
        <p:nvSpPr>
          <p:cNvPr id="3" name="left-stat-card">
            <a:extLst xmlns:a="http://schemas.openxmlformats.org/drawingml/2006/main">
              <a:ext uri="{FF2B5EF4-FFF2-40B4-BE49-F238E27FC236}">
                <a16:creationId xmlns:a16="http://schemas.microsoft.com/office/drawing/2014/main" id="{EF0AF18E-87A6-431F-8D4F-59EC894570D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right-stat-card">
            <a:extLst xmlns:a="http://schemas.openxmlformats.org/drawingml/2006/main">
              <a:ext uri="{FF2B5EF4-FFF2-40B4-BE49-F238E27FC236}">
                <a16:creationId xmlns:a16="http://schemas.microsoft.com/office/drawing/2014/main" id="{9C01B021-FDE1-4776-B2EE-ACB76D126DAD}"/>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5" name="summary">
            <a:extLst xmlns:a="http://schemas.openxmlformats.org/drawingml/2006/main">
              <a:ext uri="{FF2B5EF4-FFF2-40B4-BE49-F238E27FC236}">
                <a16:creationId xmlns:a16="http://schemas.microsoft.com/office/drawing/2014/main" id="{A2F82FC1-3249-4254-ABAA-A2D0E0F95848}"/>
              </a:ext>
            </a:extLst>
          </p:cNvPr>
          <p:cNvSpPr>
            <a:spLocks xmlns:a="http://schemas.openxmlformats.org/drawingml/2006/main" noGrp="1"/>
          </p:cNvSpPr>
          <p:nvPr/>
        </p:nvSpPr>
        <p:spPr>
          <a:xfrm xmlns:a="http://schemas.openxmlformats.org/drawingml/2006/main">
            <a:off x="6261068" y="1714500"/>
            <a:ext cx="5539835"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a:solidFill>
                  <a:srgbClr val="000000"/>
                </a:solidFill>
                <a:latin typeface="Helvetica Neue"/>
                <a:ea typeface="Helvetica Neue"/>
                <a:cs typeface="Helvetica Neue"/>
              </a:defRPr>
            </a:pPr>
            <a:r>
              <a:t>The 74-name diversified core produced 45 primary-positive paths and a +11.69% median. Only 5 of 17 attention names were positive; their median was -19.95%. Accuracy also shifted from TRAIN to replay.</a:t>
            </a:r>
          </a:p>
        </p:txBody>
      </p:sp>
      <p:sp>
        <p:nvSpPr>
          <p:cNvPr id="6" name="left-stat">
            <a:extLst xmlns:a="http://schemas.openxmlformats.org/drawingml/2006/main">
              <a:ext uri="{FF2B5EF4-FFF2-40B4-BE49-F238E27FC236}">
                <a16:creationId xmlns:a16="http://schemas.microsoft.com/office/drawing/2014/main" id="{06B274F5-6F7E-4432-B0F1-4874DA3CABB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+11.69%</a:t>
            </a:r>
          </a:p>
        </p:txBody>
      </p:sp>
      <p:sp>
        <p:nvSpPr>
          <p:cNvPr id="7" name="left-stat-label">
            <a:extLst xmlns:a="http://schemas.openxmlformats.org/drawingml/2006/main">
              <a:ext uri="{FF2B5EF4-FFF2-40B4-BE49-F238E27FC236}">
                <a16:creationId xmlns:a16="http://schemas.microsoft.com/office/drawing/2014/main" id="{99D2BB32-1C11-4B29-AF23-ED9F32D0BCEB}"/>
              </a:ext>
            </a:extLst>
          </p:cNvPr>
          <p:cNvSpPr>
            <a:spLocks xmlns:a="http://schemas.openxmlformats.org/drawingml/2006/main" noGrp="1"/>
          </p:cNvSpPr>
          <p:nvPr/>
        </p:nvSpPr>
        <p:spPr>
          <a:xfrm xmlns:a="http://schemas.openxmlformats.org/drawingml/2006/main">
            <a:off x="6575965"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CORE MEDIAN</a:t>
            </a:r>
          </a:p>
          <a:p xmlns:a="http://schemas.openxmlformats.org/drawingml/2006/main">
            <a:pPr algn="l">
              <a:buNone/>
              <a:defRPr sz="1500">
                <a:solidFill>
                  <a:srgbClr val="000000"/>
                </a:solidFill>
                <a:latin typeface="Helvetica Neue"/>
                <a:ea typeface="Helvetica Neue"/>
                <a:cs typeface="Helvetica Neue"/>
              </a:defRPr>
            </a:pPr>
            <a:r>
              <a:t>45 of 74 positive</a:t>
            </a:r>
          </a:p>
        </p:txBody>
      </p:sp>
      <p:sp>
        <p:nvSpPr>
          <p:cNvPr id="8" name="right-stat">
            <a:extLst xmlns:a="http://schemas.openxmlformats.org/drawingml/2006/main">
              <a:ext uri="{FF2B5EF4-FFF2-40B4-BE49-F238E27FC236}">
                <a16:creationId xmlns:a16="http://schemas.microsoft.com/office/drawing/2014/main" id="{2EAFD608-776D-46A1-95EA-79AF4E6F559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700">
                <a:solidFill>
                  <a:srgbClr val="B42318"/>
                </a:solidFill>
                <a:latin typeface="Helvetica Neue"/>
                <a:ea typeface="Helvetica Neue"/>
                <a:cs typeface="Helvetica Neue"/>
              </a:defRPr>
            </a:pPr>
            <a:r>
              <a:t>-19.95%</a:t>
            </a:r>
          </a:p>
        </p:txBody>
      </p:sp>
      <p:sp>
        <p:nvSpPr>
          <p:cNvPr id="9" name="right-stat-label">
            <a:extLst xmlns:a="http://schemas.openxmlformats.org/drawingml/2006/main">
              <a:ext uri="{FF2B5EF4-FFF2-40B4-BE49-F238E27FC236}">
                <a16:creationId xmlns:a16="http://schemas.microsoft.com/office/drawing/2014/main" id="{691BF8AE-236E-4677-8EAF-3CF0D5A20DB6}"/>
              </a:ext>
            </a:extLst>
          </p:cNvPr>
          <p:cNvSpPr>
            <a:spLocks xmlns:a="http://schemas.openxmlformats.org/drawingml/2006/main" noGrp="1"/>
          </p:cNvSpPr>
          <p:nvPr/>
        </p:nvSpPr>
        <p:spPr>
          <a:xfrm xmlns:a="http://schemas.openxmlformats.org/drawingml/2006/main">
            <a:off x="9528143" y="4953000"/>
            <a:ext cx="2066735" cy="76200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1500">
                <a:solidFill>
                  <a:srgbClr val="000000"/>
                </a:solidFill>
                <a:latin typeface="Helvetica Neue"/>
                <a:ea typeface="Helvetica Neue"/>
                <a:cs typeface="Helvetica Neue"/>
              </a:defRPr>
            </a:pPr>
            <a:r>
              <a:t>ATTENTION MEDIAN</a:t>
            </a:r>
          </a:p>
          <a:p xmlns:a="http://schemas.openxmlformats.org/drawingml/2006/main">
            <a:pPr algn="l">
              <a:buNone/>
              <a:defRPr sz="1500">
                <a:solidFill>
                  <a:srgbClr val="000000"/>
                </a:solidFill>
                <a:latin typeface="Helvetica Neue"/>
                <a:ea typeface="Helvetica Neue"/>
                <a:cs typeface="Helvetica Neue"/>
              </a:defRPr>
            </a:pPr>
            <a:r>
              <a:t>5 of 17 positive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2abd5741f19411d"/>
          <a:stretch xmlns:a="http://schemas.openxmlformats.org/drawingml/2006/main"/>
        </p:blipFill>
        <p:spPr>
          <a:xfrm xmlns:a="http://schemas.openxmlformats.org/drawingml/2006/main">
            <a:off x="428625" y="2500313"/>
            <a:ext cx="5429250" cy="2714625"/>
          </a:xfrm>
          <a:prstGeom xmlns:a="http://schemas.openxmlformats.org/drawingml/2006/main" prst="rect">
            <a:avLst/>
          </a:prstGeom>
        </p:spPr>
      </p:pic>
    </p:spTree>
    <p:extLst>
      <p:ext uri="{BB962C8B-B14F-4D97-AF65-F5344CB8AC3E}">
        <p14:creationId xmlns:p14="http://schemas.microsoft.com/office/powerpoint/2010/main" val="9128750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footer">
            <a:extLst xmlns:a="http://schemas.openxmlformats.org/drawingml/2006/main">
              <a:ext uri="{FF2B5EF4-FFF2-40B4-BE49-F238E27FC236}">
                <a16:creationId xmlns:a16="http://schemas.microsoft.com/office/drawing/2014/main" id="{5D1F4916-B18D-4F3F-8812-75A699D9A63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16</a:t>
            </a:r>
          </a:p>
        </p:txBody>
      </p:sp>
      <p:sp>
        <p:nvSpPr>
          <p:cNvPr id="2" name="title">
            <a:extLst xmlns:a="http://schemas.openxmlformats.org/drawingml/2006/main">
              <a:ext uri="{FF2B5EF4-FFF2-40B4-BE49-F238E27FC236}">
                <a16:creationId xmlns:a16="http://schemas.microsoft.com/office/drawing/2014/main" id="{ECB77D9D-0CB0-4878-9A4A-2687A311CD30}"/>
              </a:ext>
            </a:extLst>
          </p:cNvPr>
          <p:cNvSpPr>
            <a:spLocks xmlns:a="http://schemas.openxmlformats.org/drawingml/2006/main" noGrp="1"/>
          </p:cNvSpPr>
          <p:nvPr/>
        </p:nvSpPr>
        <p:spPr>
          <a:xfrm xmlns:a="http://schemas.openxmlformats.org/drawingml/2006/main">
            <a:off x="393668" y="295275"/>
            <a:ext cx="11404568" cy="876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Median paths show a cohort split—not a tradable portfolio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00d01c614e74206"/>
          <a:stretch xmlns:a="http://schemas.openxmlformats.org/drawingml/2006/main"/>
        </p:blipFill>
        <p:spPr>
          <a:xfrm xmlns:a="http://schemas.openxmlformats.org/drawingml/2006/main">
            <a:off x="1428750" y="1240631"/>
            <a:ext cx="9334500" cy="4900613"/>
          </a:xfrm>
          <a:prstGeom xmlns:a="http://schemas.openxmlformats.org/drawingml/2006/main" prst="rect">
            <a:avLst/>
          </a:prstGeom>
        </p:spPr>
      </p:pic>
    </p:spTree>
    <p:extLst>
      <p:ext uri="{BB962C8B-B14F-4D97-AF65-F5344CB8AC3E}">
        <p14:creationId xmlns:p14="http://schemas.microsoft.com/office/powerpoint/2010/main" val="46343675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cover-headline">
            <a:extLst xmlns:a="http://schemas.openxmlformats.org/drawingml/2006/main">
              <a:ext uri="{FF2B5EF4-FFF2-40B4-BE49-F238E27FC236}">
                <a16:creationId xmlns:a16="http://schemas.microsoft.com/office/drawing/2014/main" id="{E9F43BB9-4202-4A42-9916-7A06678333BD}"/>
              </a:ext>
            </a:extLst>
          </p:cNvPr>
          <p:cNvSpPr>
            <a:spLocks xmlns:a="http://schemas.openxmlformats.org/drawingml/2006/main" noGrp="1"/>
          </p:cNvSpPr>
          <p:nvPr/>
        </p:nvSpPr>
        <p:spPr>
          <a:xfrm xmlns:a="http://schemas.openxmlformats.org/drawingml/2006/main">
            <a:off x="393668" y="1738789"/>
            <a:ext cx="10287000" cy="2491454"/>
          </a:xfrm>
          <a:prstGeom xmlns:a="http://schemas.openxmlformats.org/drawingml/2006/main" prst="rect">
            <a:avLst/>
          </a:prstGeom>
        </p:spPr>
        <p:txBody>
          <a:bodyPr xmlns:a="http://schemas.openxmlformats.org/drawingml/2006/main" lIns="0" tIns="0" rIns="0" bIns="0" anchor="b">
            <a:normAutofit fontScale="92531"/>
          </a:bodyPr>
          <a:lstStyle xmlns:a="http://schemas.openxmlformats.org/drawingml/2006/main"/>
          <a:p xmlns:a="http://schemas.openxmlformats.org/drawingml/2006/main">
            <a:pPr algn="l">
              <a:buNone/>
              <a:defRPr sz="5700">
                <a:solidFill>
                  <a:srgbClr val="000000"/>
                </a:solidFill>
                <a:latin typeface="Helvetica Neue"/>
                <a:ea typeface="Helvetica Neue"/>
                <a:cs typeface="Helvetica Neue"/>
              </a:defRPr>
            </a:pPr>
            <a:r>
              <a:t>Keep LIT-MOM-01.2 as long-only retrospective breadth evidence. Do not promote known-window winners.</a:t>
            </a:r>
          </a:p>
        </p:txBody>
      </p:sp>
      <p:sp>
        <p:nvSpPr>
          <p:cNvPr id="2" name="cover-subtitle">
            <a:extLst xmlns:a="http://schemas.openxmlformats.org/drawingml/2006/main">
              <a:ext uri="{FF2B5EF4-FFF2-40B4-BE49-F238E27FC236}">
                <a16:creationId xmlns:a16="http://schemas.microsoft.com/office/drawing/2014/main" id="{F6F90063-BA30-438B-9FD3-13AA22719785}"/>
              </a:ext>
            </a:extLst>
          </p:cNvPr>
          <p:cNvSpPr>
            <a:spLocks xmlns:a="http://schemas.openxmlformats.org/drawingml/2006/main" noGrp="1"/>
          </p:cNvSpPr>
          <p:nvPr/>
        </p:nvSpPr>
        <p:spPr>
          <a:xfrm xmlns:a="http://schemas.openxmlformats.org/drawingml/2006/main">
            <a:off x="393668" y="4762500"/>
            <a:ext cx="8001000" cy="1238250"/>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The next valid gate is an untouched-window question—not more tuning inside 2021-2023.</a:t>
            </a:r>
          </a:p>
        </p:txBody>
      </p:sp>
      <p:sp>
        <p:nvSpPr>
          <p:cNvPr id="3" name="cover-eyebrow">
            <a:extLst xmlns:a="http://schemas.openxmlformats.org/drawingml/2006/main">
              <a:ext uri="{FF2B5EF4-FFF2-40B4-BE49-F238E27FC236}">
                <a16:creationId xmlns:a16="http://schemas.microsoft.com/office/drawing/2014/main" id="{45129715-75DE-4D50-B44D-3AFE3EBA3F0E}"/>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rmAutofit fontScale="94653"/>
          </a:bodyPr>
          <a:lstStyle xmlns:a="http://schemas.openxmlformats.org/drawingml/2006/main"/>
          <a:p xmlns:a="http://schemas.openxmlformats.org/drawingml/2006/main">
            <a:pPr algn="l">
              <a:buNone/>
              <a:defRPr sz="2250">
                <a:solidFill>
                  <a:srgbClr val="000000"/>
                </a:solidFill>
                <a:latin typeface="Helvetica Neue"/>
                <a:ea typeface="Helvetica Neue"/>
                <a:cs typeface="Helvetica Neue"/>
              </a:defRPr>
            </a:pPr>
            <a:r>
              <a:t>5,586 TRAIN CELLS | 114 HISTORIES | ZERO SHORTS | EVERY INTEGRITY CHECK PASSED</a:t>
            </a:r>
          </a:p>
        </p:txBody>
      </p:sp>
    </p:spTree>
    <p:extLst>
      <p:ext uri="{BB962C8B-B14F-4D97-AF65-F5344CB8AC3E}">
        <p14:creationId xmlns:p14="http://schemas.microsoft.com/office/powerpoint/2010/main" val="16642401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2026-08-02T13:48:01.6720000Z</dcterms:created>
  <dcterms:modified xsi:type="dcterms:W3CDTF">2026-08-02T13:48:01.6720000Z</dcterms:modified>
</coreProperties>
</file>