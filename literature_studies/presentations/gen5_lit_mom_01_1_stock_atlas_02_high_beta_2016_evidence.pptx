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d77dfd1b0a487f" /><Relationship Type="http://schemas.openxmlformats.org/officeDocument/2006/relationships/extended-properties" Target="/docProps/app.xml" Id="Ra0718c2a3c64478d" /><Relationship Type="http://schemas.openxmlformats.org/officeDocument/2006/relationships/officeDocument" Target="/ppt/presentation.xml" Id="R5f77152242694e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3623e1ff9640b4"/>
  </p:sldMasterIdLst>
  <p:notesMasterIdLst>
    <p:notesMasterId xmlns:r="http://schemas.openxmlformats.org/officeDocument/2006/relationships" r:id="Reff3507f92224859"/>
  </p:notesMasterIdLst>
  <p:sldIdLst>
    <p:sldId xmlns:r="http://schemas.openxmlformats.org/officeDocument/2006/relationships" id="256" r:id="R7ee4350505f04c2b"/>
    <p:sldId xmlns:r="http://schemas.openxmlformats.org/officeDocument/2006/relationships" id="257" r:id="R8c74d3f8eb2a4d53"/>
    <p:sldId xmlns:r="http://schemas.openxmlformats.org/officeDocument/2006/relationships" id="258" r:id="R73170558c2a04158"/>
    <p:sldId xmlns:r="http://schemas.openxmlformats.org/officeDocument/2006/relationships" id="259" r:id="R311828a680a245b5"/>
    <p:sldId xmlns:r="http://schemas.openxmlformats.org/officeDocument/2006/relationships" id="260" r:id="Rb04d2259dafb4b16"/>
    <p:sldId xmlns:r="http://schemas.openxmlformats.org/officeDocument/2006/relationships" id="261" r:id="R357b3e020f734aac"/>
    <p:sldId xmlns:r="http://schemas.openxmlformats.org/officeDocument/2006/relationships" id="262" r:id="R60704e102abb4ba7"/>
    <p:sldId xmlns:r="http://schemas.openxmlformats.org/officeDocument/2006/relationships" id="263" r:id="Rb2c4d24abba34369"/>
    <p:sldId xmlns:r="http://schemas.openxmlformats.org/officeDocument/2006/relationships" id="264" r:id="R6d03e82f66964754"/>
    <p:sldId xmlns:r="http://schemas.openxmlformats.org/officeDocument/2006/relationships" id="265" r:id="Rdfbd3fcd0293445c"/>
    <p:sldId xmlns:r="http://schemas.openxmlformats.org/officeDocument/2006/relationships" id="266" r:id="R02792d642c1f46e9"/>
    <p:sldId xmlns:r="http://schemas.openxmlformats.org/officeDocument/2006/relationships" id="267" r:id="Rcf2ef267f0264b48"/>
    <p:sldId xmlns:r="http://schemas.openxmlformats.org/officeDocument/2006/relationships" id="268" r:id="Reb7050b0fbcc4b7f"/>
    <p:sldId xmlns:r="http://schemas.openxmlformats.org/officeDocument/2006/relationships" id="269" r:id="Ra97041c5a7ea4a59"/>
    <p:sldId xmlns:r="http://schemas.openxmlformats.org/officeDocument/2006/relationships" id="270" r:id="R4f5cfea2309c43d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a9fa54662a14a15" /><Relationship Type="http://schemas.openxmlformats.org/officeDocument/2006/relationships/slideMaster" Target="/ppt/slideMasters/slideMaster1.xml" Id="Re23623e1ff9640b4" /><Relationship Type="http://schemas.openxmlformats.org/officeDocument/2006/relationships/notesMaster" Target="/ppt/notesMasters/notesMaster1.xml" Id="Reff3507f92224859" /><Relationship Type="http://schemas.openxmlformats.org/officeDocument/2006/relationships/presProps" Target="/ppt/presProps.xml" Id="R3c436770e6284e61" /><Relationship Type="http://schemas.openxmlformats.org/officeDocument/2006/relationships/tableStyles" Target="/ppt/tableStyles.xml" Id="R6dfe9724fd854525" /><Relationship Type="http://schemas.openxmlformats.org/officeDocument/2006/relationships/slide" Target="/ppt/slides/slide1.xml" Id="R7ee4350505f04c2b" /><Relationship Type="http://schemas.openxmlformats.org/officeDocument/2006/relationships/slide" Target="/ppt/slides/slide2.xml" Id="R8c74d3f8eb2a4d53" /><Relationship Type="http://schemas.openxmlformats.org/officeDocument/2006/relationships/slide" Target="/ppt/slides/slide3.xml" Id="R73170558c2a04158" /><Relationship Type="http://schemas.openxmlformats.org/officeDocument/2006/relationships/slide" Target="/ppt/slides/slide4.xml" Id="R311828a680a245b5" /><Relationship Type="http://schemas.openxmlformats.org/officeDocument/2006/relationships/slide" Target="/ppt/slides/slide5.xml" Id="Rb04d2259dafb4b16" /><Relationship Type="http://schemas.openxmlformats.org/officeDocument/2006/relationships/slide" Target="/ppt/slides/slide6.xml" Id="R357b3e020f734aac" /><Relationship Type="http://schemas.openxmlformats.org/officeDocument/2006/relationships/slide" Target="/ppt/slides/slide7.xml" Id="R60704e102abb4ba7" /><Relationship Type="http://schemas.openxmlformats.org/officeDocument/2006/relationships/slide" Target="/ppt/slides/slide8.xml" Id="Rb2c4d24abba34369" /><Relationship Type="http://schemas.openxmlformats.org/officeDocument/2006/relationships/slide" Target="/ppt/slides/slide9.xml" Id="R6d03e82f66964754" /><Relationship Type="http://schemas.openxmlformats.org/officeDocument/2006/relationships/slide" Target="/ppt/slides/slide10.xml" Id="Rdfbd3fcd0293445c" /><Relationship Type="http://schemas.openxmlformats.org/officeDocument/2006/relationships/slide" Target="/ppt/slides/slide11.xml" Id="R02792d642c1f46e9" /><Relationship Type="http://schemas.openxmlformats.org/officeDocument/2006/relationships/slide" Target="/ppt/slides/slide12.xml" Id="Rcf2ef267f0264b48" /><Relationship Type="http://schemas.openxmlformats.org/officeDocument/2006/relationships/slide" Target="/ppt/slides/slide13.xml" Id="Reb7050b0fbcc4b7f" /><Relationship Type="http://schemas.openxmlformats.org/officeDocument/2006/relationships/slide" Target="/ppt/slides/slide14.xml" Id="Ra97041c5a7ea4a59" /><Relationship Type="http://schemas.openxmlformats.org/officeDocument/2006/relationships/slide" Target="/ppt/slides/slide15.xml" Id="R4f5cfea2309c43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2f5a8651d447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fee748b32e43fa" /><Relationship Type="http://schemas.openxmlformats.org/officeDocument/2006/relationships/notesMaster" Target="/ppt/notesMasters/notesMaster1.xml" Id="R1491f09c194e436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66f4f3331e4dc0" /><Relationship Type="http://schemas.openxmlformats.org/officeDocument/2006/relationships/notesMaster" Target="/ppt/notesMasters/notesMaster1.xml" Id="Rd7adda5d377647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2e94cf407d43ef" /><Relationship Type="http://schemas.openxmlformats.org/officeDocument/2006/relationships/notesMaster" Target="/ppt/notesMasters/notesMaster1.xml" Id="R2eb82ed0e81544e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afa2345cec94339" /><Relationship Type="http://schemas.openxmlformats.org/officeDocument/2006/relationships/notesMaster" Target="/ppt/notesMasters/notesMaster1.xml" Id="R1171929257da42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168e6a92e4b4a20" /><Relationship Type="http://schemas.openxmlformats.org/officeDocument/2006/relationships/notesMaster" Target="/ppt/notesMasters/notesMaster1.xml" Id="R06793587cf2e4e4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6a4bbc65ea4839" /><Relationship Type="http://schemas.openxmlformats.org/officeDocument/2006/relationships/notesMaster" Target="/ppt/notesMasters/notesMaster1.xml" Id="R9e0ce6cf404f43d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094bbc6a768463c" /><Relationship Type="http://schemas.openxmlformats.org/officeDocument/2006/relationships/notesMaster" Target="/ppt/notesMasters/notesMaster1.xml" Id="R799df8b525944f4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63343dc9868432b" /><Relationship Type="http://schemas.openxmlformats.org/officeDocument/2006/relationships/notesMaster" Target="/ppt/notesMasters/notesMaster1.xml" Id="Rd5b621ee518046c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4bd0d0eacb449b2" /><Relationship Type="http://schemas.openxmlformats.org/officeDocument/2006/relationships/notesMaster" Target="/ppt/notesMasters/notesMaster1.xml" Id="R55406871fe73439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1cf06b45b1c4a9e" /><Relationship Type="http://schemas.openxmlformats.org/officeDocument/2006/relationships/notesMaster" Target="/ppt/notesMasters/notesMaster1.xml" Id="Ra5a85bafca5545d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38791d4dc5b42a0" /><Relationship Type="http://schemas.openxmlformats.org/officeDocument/2006/relationships/notesMaster" Target="/ppt/notesMasters/notesMaster1.xml" Id="Rcfbe1143999f42f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c95d557c0ea4731" /><Relationship Type="http://schemas.openxmlformats.org/officeDocument/2006/relationships/notesMaster" Target="/ppt/notesMasters/notesMaster1.xml" Id="R0bc2b5ff3fcc46d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e7a990d93e0483e" /><Relationship Type="http://schemas.openxmlformats.org/officeDocument/2006/relationships/notesMaster" Target="/ppt/notesMasters/notesMaster1.xml" Id="R31e208436d65440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6a80cc20df94672" /><Relationship Type="http://schemas.openxmlformats.org/officeDocument/2006/relationships/notesMaster" Target="/ppt/notesMasters/notesMaster1.xml" Id="Ra93542dc47fd4cd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23cb421721a493b" /><Relationship Type="http://schemas.openxmlformats.org/officeDocument/2006/relationships/notesMaster" Target="/ppt/notesMasters/notesMaster1.xml" Id="Red3e3feab62143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deck tests the existing interday-momentum mechanism on a point-in-time high-beta universe. It is not a stock-selection model, portfolio, or long-only redesign.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C:/Users/Franc/OneDrive/Documents/Francis/Trading Literature/Algorithmic Trading - Winning Strategies and Their Rationale 2013.pdf — printed pages 135–139; PDF pages 153–157</a:t>
            </a:r>
          </a:p>
          <a:p xmlns:a="http://schemas.openxmlformats.org/drawingml/2006/main">
            <a:r>
              <a:t>- https://www.sec.gov/Archives/edgar/data/1378872/000119312517002614/d269293dncsr.htm</a:t>
            </a:r>
          </a:p>
          <a:p xmlns:a="http://schemas.openxmlformats.org/drawingml/2006/main">
            <a:r>
              <a:t>- C:/Users/Franc/OneDrive/Documents/Francis/Peltata Project/Time-Series-Modeling-Gen5/literature_studies/docs/GEN5_LIT_MOM_01_1_STOCK_ATLAS_02_HIGH_BETA_2016_CONTRACT.md</a:t>
            </a:r>
          </a:p>
          <a:p xmlns:a="http://schemas.openxmlformats.org/drawingml/2006/main">
            <a:r>
              <a:t>- C:/Users/Franc/OneDrive/Documents/Francis/Peltata Project/Time-Series-Modeling-Gen5/literature_studies/docs/GEN5_LIT_MOM_01_1_STOCK_ATLAS_02_HIGH_BETA_2016_RESULTS.md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full filing panel is the denominator. Missing or truncated historical symbols receive explicit coverage STOPs rather than deletion or replacement.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Project/Time-Series-Modeling-Gen5/literature_studies/registries/gen5_lit_mom_01_1_stock_atlas_02_high_beta_2016_registry.csv</a:t>
            </a:r>
          </a:p>
          <a:p xmlns:a="http://schemas.openxmlformats.org/drawingml/2006/main">
            <a:r>
              <a:t>- C:/Users/Franc/OneDrive/Documents/Francis/Peltata Project/Time-Series-Modeling-Gen5/literature_studies/docs/GEN5_LIT_MOM_01_1_STOCK_ATLAS_02_HIGH_BETA_2016_CONTRACT.md</a:t>
            </a:r>
          </a:p>
          <a:p xmlns:a="http://schemas.openxmlformats.org/drawingml/2006/main">
            <a:r>
              <a:t>- https://www.sec.gov/Archives/edgar/data/1378872/000119312517002614/d269293dncsr.htm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source reports 32 Financials and 25 Energy holdings. This pre-existing composition can shape any batch-level pattern and prevents a clean causal claim about beta alone.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https://www.sec.gov/Archives/edgar/data/1378872/000119312517002614/d269293dncsr.htm</a:t>
            </a:r>
          </a:p>
          <a:p xmlns:a="http://schemas.openxmlformats.org/drawingml/2006/main">
            <a:r>
              <a:t>- C:/Users/Franc/OneDrive/Documents/Francis/Peltata Project/Time-Series-Modeling-Gen5/literature_studies/registries/gen5_lit_mom_01_1_stock_atlas_02_high_beta_2016_registry.csv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Project/Time-Series-Modeling-Gen5/runs/research_workbench/literature_grounded/lit_mom_01_1_stock_atlas_02_high_beta_2016_20260731/high_beta_2016_coverage.csv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pre-TRAIN beta estimate is descriptive only. It validates the panel's intended identity but never selects or deletes a filing constituent.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Project/Time-Series-Modeling-Gen5/literature_studies/docs/GEN5_LIT_MOM_01_1_STOCK_ATLAS_02_HIGH_BETA_2016_CONTRACT.md</a:t>
            </a:r>
          </a:p>
          <a:p xmlns:a="http://schemas.openxmlformats.org/drawingml/2006/main">
            <a:r>
              <a:t>- C:/Users/Franc/OneDrive/Documents/Francis/Peltata Project/Time-Series-Modeling-Gen5/literature_studies/docs/GEN5_LIT_MOM_01_1_STOCK_ATLAS_02_HIGH_BETA_2016_RESULTS.md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Project/Time-Series-Modeling-Gen5/runs/research_workbench/literature_grounded/lit_mom_01_1_stock_atlas_02_high_beta_2016_20260731/high_beta_2016_coverage.csv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Beta is estimated as covariance of stock and SPY log returns divided by SPY return variance, using dates from January 4 through December 30, 2016. It is not the selector.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Project/Time-Series-Modeling-Gen5/literature_studies/docs/GEN5_LIT_MOM_01_1_STOCK_ATLAS_02_HIGH_BETA_2016_CONTRACT.md</a:t>
            </a:r>
          </a:p>
          <a:p xmlns:a="http://schemas.openxmlformats.org/drawingml/2006/main">
            <a:r>
              <a:t>- C:/Users/Franc/OneDrive/Documents/Francis/Peltata Project/Time-Series-Modeling-Gen5/literature_studies/docs/GEN5_LIT_MOM_01_1_STOCK_ATLAS_02_HIGH_BETA_2016_RESULTS.md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Project/Time-Series-Modeling-Gen5/runs/research_workbench/literature_grounded/lit_mom_01_1_stock_atlas_02_high_beta_2016_20260731/high_beta_2016_coverage.csv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Project/Time-Series-Modeling-Gen5/runs/research_workbench/literature_grounded/lit_mom_01_1_stock_atlas_02_high_beta_2016_20260731/visuals/high_beta_2016_beta_distribution.png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Fifteen registry names lack exact warm-up-plus-TRAIN coverage. XEC passes TRAIN but stops before OOS because its series ends in September 2021.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Project/Time-Series-Modeling-Gen5/literature_studies/docs/GEN5_LIT_MOM_01_1_STOCK_ATLAS_02_HIGH_BETA_2016_CONTRACT.md</a:t>
            </a:r>
          </a:p>
          <a:p xmlns:a="http://schemas.openxmlformats.org/drawingml/2006/main">
            <a:r>
              <a:t>- C:/Users/Franc/OneDrive/Documents/Francis/Peltata Project/Time-Series-Modeling-Gen5/literature_studies/docs/GEN5_LIT_MOM_01_1_STOCK_ATLAS_02_HIGH_BETA_2016_RESULTS.md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Project/Time-Series-Modeling-Gen5/runs/research_workbench/literature_grounded/lit_mom_01_1_stock_atlas_02_high_beta_2016_20260731/high_beta_2016_coverage.csv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Project/Time-Series-Modeling-Gen5/runs/research_workbench/literature_grounded/lit_mom_01_1_stock_atlas_02_high_beta_2016_20260731/visuals/high_beta_2016_coverage.png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batch-level pass-rate difference is descriptive. Sector concentration, survivor treatment, and universe construction differ from Stock Atlas 01, so the comparison cannot isolate beta causally.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Project/Time-Series-Modeling-Gen5/literature_studies/docs/GEN5_LIT_MOM_01_1_STOCK_ATLAS_02_HIGH_BETA_2016_RESULTS.md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Project/Time-Series-Modeling-Gen5/runs/research_workbench/literature_grounded/lit_mom_01_1_stock_atlas_02_high_beta_2016_20260731/high_beta_2016_horizon_screen.csv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Project/Time-Series-Modeling-Gen5/runs/research_workbench/literature_grounded/lit_mom_01_1_stock_atlas_02_high_beta_2016_20260731/high_beta_2016_train_summary.csv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Ten of eleven six-gate passers selected either 5/5 or 10/10; HP selected 1/10. Every horizon was selected within that stock's TRAIN data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Project/Time-Series-Modeling-Gen5/literature_studies/docs/GEN5_LIT_MOM_01_1_STOCK_ATLAS_02_HIGH_BETA_2016_RESULTS.md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Project/Time-Series-Modeling-Gen5/runs/research_workbench/literature_grounded/lit_mom_01_1_stock_atlas_02_high_beta_2016_20260731/high_beta_2016_train_summary.csv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Project/Time-Series-Modeling-Gen5/runs/research_workbench/literature_grounded/lit_mom_01_1_stock_atlas_02_high_beta_2016_20260731/visuals/high_beta_2016_selected_horizons.png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G1 passed 84/84, G2 29/84, G3 80/84, G4 58/84, G5 43/84, and G6 22/84. Eleven passed the complete conjunction.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Project/Time-Series-Modeling-Gen5/literature_studies/docs/GEN5_LIT_MOM_01_1_STOCK_ATLAS_02_HIGH_BETA_2016_RESULTS.md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Project/Time-Series-Modeling-Gen5/runs/research_workbench/literature_grounded/lit_mom_01_1_stock_atlas_02_high_beta_2016_20260731/high_beta_2016_train_gates.csv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Project/Time-Series-Modeling-Gen5/runs/research_workbench/literature_grounded/lit_mom_01_1_stock_atlas_02_high_beta_2016_20260731/visuals/high_beta_2016_gate_rates.png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transition separates TRAIN nomination from OOS falsification. All complete passers are shown; none is dropped or pooled.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Project/Time-Series-Modeling-Gen5/literature_studies/docs/GEN5_LIT_MOM_01_1_STOCK_ATLAS_02_HIGH_BETA_2016_RESULTS.md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Project/Time-Series-Modeling-Gen5/runs/research_workbench/literature_grounded/lit_mom_01_1_stock_atlas_02_high_beta_2016_20260731/high_beta_2016_train_summary.csv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Project/Time-Series-Modeling-Gen5/runs/research_workbench/literature_grounded/lit_mom_01_1_stock_atlas_02_high_beta_2016_20260731/high_beta_2016_development_summary.csv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ten points fall below zero OOS. Mean primary return is -27.25%, median is -19.87%, and none remains positive under stress costs.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Project/Time-Series-Modeling-Gen5/literature_studies/docs/GEN5_LIT_MOM_01_1_STOCK_ATLAS_02_HIGH_BETA_2016_RESULTS.md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Project/Time-Series-Modeling-Gen5/runs/research_workbench/literature_grounded/lit_mom_01_1_stock_atlas_02_high_beta_2016_20260731/high_beta_2016_development_summary.csv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Project/Time-Series-Modeling-Gen5/runs/research_workbench/literature_grounded/lit_mom_01_1_stock_atlas_02_high_beta_2016_20260731/visuals/high_beta_2016_train_to_development.png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Across ten complete OOS replays, 4,066 long sleeves were 54.28% correct and averaged +0.53% net; 3,362 short sleeves were 43.04% correct and averaged -1.28%. Nine stocks beat 50% on long calls; none did on shorts.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Project/Time-Series-Modeling-Gen5/literature_studies/docs/GEN5_LIT_MOM_01_1_STOCK_ATLAS_02_HIGH_BETA_2016_RESULTS.md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Project/Time-Series-Modeling-Gen5/runs/research_workbench/literature_grounded/lit_mom_01_1_stock_atlas_02_high_beta_2016_20260731/high_beta_2016_development_summary.csv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Project/Time-Series-Modeling-Gen5/runs/research_workbench/literature_grounded/lit_mom_01_1_stock_atlas_02_high_beta_2016_20260731/high_beta_2016_development_sleeves.csv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Project/Time-Series-Modeling-Gen5/runs/research_workbench/literature_grounded/lit_mom_01_1_stock_atlas_02_high_beta_2016_20260731/visuals/high_beta_2016_direction_asymmetry.png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paths remain separate because this batch is not a portfolio. Primary returns range from -1.76% for MPC to -61.84% for DVN.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Project/Time-Series-Modeling-Gen5/literature_studies/docs/GEN5_LIT_MOM_01_1_STOCK_ATLAS_02_HIGH_BETA_2016_RESULTS.md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Project/Time-Series-Modeling-Gen5/runs/research_workbench/literature_grounded/lit_mom_01_1_stock_atlas_02_high_beta_2016_20260731/high_beta_2016_development_primary_bars.csv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Project/Time-Series-Modeling-Gen5/runs/research_workbench/literature_grounded/lit_mom_01_1_stock_atlas_02_high_beta_2016_20260731/high_beta_2016_development_summary.csv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Project/Time-Series-Modeling-Gen5/runs/research_workbench/literature_grounded/lit_mom_01_1_stock_atlas_02_high_beta_2016_20260731/visuals/high_beta_2016_development_paths.png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AMP is selected alphabetically, not because of its outcome. Each new daily signal starts one 1/H sleeve; existing opposing sleeves remain until their scheduled exits, so exposure transitions gradually.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Project/Time-Series-Modeling-Gen5/literature_studies/docs/GEN5_LIT_MOM_01_1_INTERDAY_TIME_SERIES_MOMENTUM_POC_CONTRACT.md</a:t>
            </a:r>
          </a:p>
          <a:p xmlns:a="http://schemas.openxmlformats.org/drawingml/2006/main">
            <a:r>
              <a:t>- C:/Users/Franc/OneDrive/Documents/Francis/Peltata Project/Time-Series-Modeling-Gen5/literature_studies/docs/GEN5_LIT_MOM_01_1_STOCK_ATLAS_02_HIGH_BETA_2016_RESULTS.md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Project/Time-Series-Modeling-Gen5/runs/research_workbench/literature_grounded/lit_mom_01_1_stock_atlas_02_high_beta_2016_20260731/high_beta_2016_development_primary_bars.csv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Project/Time-Series-Modeling-Gen5/runs/research_workbench/literature_grounded/lit_mom_01_1_stock_atlas_02_high_beta_2016_20260731/visuals/high_beta_2016_representative_tape.png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Record OOS_DEVELOPMENT_COMPLETE_LIT_MOM_01_1_STOCK_ATLAS_02_HIGH_BETA_2016 and recommend STOP. A long-only translation would be a new substantive variant requiring a fresh contract and untouched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Project/Time-Series-Modeling-Gen5/literature_studies/docs/GEN5_LIT_MOM_01_1_STOCK_ATLAS_02_HIGH_BETA_2016_RESULTS.md</a:t>
            </a:r>
          </a:p>
          <a:p xmlns:a="http://schemas.openxmlformats.org/drawingml/2006/main">
            <a:r>
              <a:t>- C:/Users/Franc/OneDrive/Documents/Francis/Peltata Project/Time-Series-Modeling-Gen5/literature_studies/docs/GEN5_LIT_MOM_01_1_STOCK_ATLAS_02_HIGH_BETA_2016_CONTRACT.md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Project/Time-Series-Modeling-Gen5/runs/research_workbench/literature_grounded/lit_mom_01_1_stock_atlas_02_high_beta_2016_20260731/high_beta_2016_report.md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27f48b04bf4f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d2da5973584769" /><Relationship Type="http://schemas.openxmlformats.org/officeDocument/2006/relationships/slideLayout" Target="/ppt/slideLayouts/slideLayout1.xml" Id="Rc95d781d6af545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5d781d6af545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98b109dba5431a" /><Relationship Type="http://schemas.openxmlformats.org/officeDocument/2006/relationships/notesSlide" Target="/ppt/notesSlides/notesSlide1.xml" Id="R58a8b39f0d6341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d965cb06384899" /><Relationship Type="http://schemas.openxmlformats.org/officeDocument/2006/relationships/notesSlide" Target="/ppt/notesSlides/notesSlide2.xml" Id="R8dab29ca074f4b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9e4f0bf44c43ce" /><Relationship Type="http://schemas.openxmlformats.org/officeDocument/2006/relationships/notesSlide" Target="/ppt/notesSlides/notesSlide3.xml" Id="Rfa5c06fc90fd45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3888ee4e534730" /><Relationship Type="http://schemas.openxmlformats.org/officeDocument/2006/relationships/notesSlide" Target="/ppt/notesSlides/notesSlide4.xml" Id="Rdfe66741f3124a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209c4218fc4ac6" /><Relationship Type="http://schemas.openxmlformats.org/officeDocument/2006/relationships/image" Target="/ppt/media/image.png" Id="R6583fcbb73e34ec6" /><Relationship Type="http://schemas.openxmlformats.org/officeDocument/2006/relationships/notesSlide" Target="/ppt/notesSlides/notesSlide5.xml" Id="R3c1f0d7afd41409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a9fc56f42946ab" /><Relationship Type="http://schemas.openxmlformats.org/officeDocument/2006/relationships/notesSlide" Target="/ppt/notesSlides/notesSlide6.xml" Id="Ra6bce4417336450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b6828f4aef4068" /><Relationship Type="http://schemas.openxmlformats.org/officeDocument/2006/relationships/notesSlide" Target="/ppt/notesSlides/notesSlide7.xml" Id="R93d557517cc54fd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59094825834fa9" /><Relationship Type="http://schemas.openxmlformats.org/officeDocument/2006/relationships/image" Target="/ppt/media/image2.png" Id="Re8ffc942fd504572" /><Relationship Type="http://schemas.openxmlformats.org/officeDocument/2006/relationships/notesSlide" Target="/ppt/notesSlides/notesSlide8.xml" Id="Rcfef5d2ded56457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ccd2578bbd435e" /><Relationship Type="http://schemas.openxmlformats.org/officeDocument/2006/relationships/image" Target="/ppt/media/image3.png" Id="Rb6af91872d044130" /><Relationship Type="http://schemas.openxmlformats.org/officeDocument/2006/relationships/notesSlide" Target="/ppt/notesSlides/notesSlide9.xml" Id="Re07a19f2f9684ca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0684ad82bc4840" /><Relationship Type="http://schemas.openxmlformats.org/officeDocument/2006/relationships/notesSlide" Target="/ppt/notesSlides/notesSlide10.xml" Id="Rbfe20043083247d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f45f8d169940a8" /><Relationship Type="http://schemas.openxmlformats.org/officeDocument/2006/relationships/image" Target="/ppt/media/image4.png" Id="Ra018967c8fb24c64" /><Relationship Type="http://schemas.openxmlformats.org/officeDocument/2006/relationships/notesSlide" Target="/ppt/notesSlides/notesSlide11.xml" Id="R06a7686650054af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b1b4a1419e4d26" /><Relationship Type="http://schemas.openxmlformats.org/officeDocument/2006/relationships/image" Target="/ppt/media/image5.png" Id="R3efcf1fccb1943bd" /><Relationship Type="http://schemas.openxmlformats.org/officeDocument/2006/relationships/notesSlide" Target="/ppt/notesSlides/notesSlide12.xml" Id="Rb721dc28def9445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2d8ea4ae7f4ee3" /><Relationship Type="http://schemas.openxmlformats.org/officeDocument/2006/relationships/image" Target="/ppt/media/image6.png" Id="R46db7f3de7d34032" /><Relationship Type="http://schemas.openxmlformats.org/officeDocument/2006/relationships/notesSlide" Target="/ppt/notesSlides/notesSlide13.xml" Id="R051d2586729c4f9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ba94ba27ea4d24" /><Relationship Type="http://schemas.openxmlformats.org/officeDocument/2006/relationships/image" Target="/ppt/media/image7.png" Id="Ra614bdc4f0e04378" /><Relationship Type="http://schemas.openxmlformats.org/officeDocument/2006/relationships/notesSlide" Target="/ppt/notesSlides/notesSlide14.xml" Id="Rf4d24609d5ff4ee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ecf0595b354ae5" /><Relationship Type="http://schemas.openxmlformats.org/officeDocument/2006/relationships/notesSlide" Target="/ppt/notesSlides/notesSlide15.xml" Id="Rbfffe9b95bbc441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over-headline">
            <a:extLst xmlns:a="http://schemas.openxmlformats.org/drawingml/2006/main">
              <a:ext uri="{FF2B5EF4-FFF2-40B4-BE49-F238E27FC236}">
                <a16:creationId xmlns:a16="http://schemas.microsoft.com/office/drawing/2014/main" id="{DA6318FA-2F99-4DF9-A744-06350F91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102870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LIT-MOM-01.1</a:t>
            </a:r>
          </a:p>
          <a:p xmlns:a="http://schemas.openxmlformats.org/drawingml/2006/main">
            <a:pPr algn="l">
              <a:buNone/>
              <a:defRPr sz="57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point-in-time high-beta atlas</a:t>
            </a:r>
          </a:p>
        </p:txBody>
      </p:sp>
      <p:sp>
        <p:nvSpPr>
          <p:cNvPr id="2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E169DF7F-9A3A-4AE2-8055-4ED35072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62500"/>
            <a:ext cx="80010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Ninety-nine SPHB constituents frozen in October 2016. One unchanged Chapter 6 test per stock—and no survivor-only rewrite after outcomes.</a:t>
            </a:r>
          </a:p>
        </p:txBody>
      </p:sp>
      <p:sp>
        <p:nvSpPr>
          <p:cNvPr id="3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D2399950-CA2D-41D2-BB2E-E681018A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7239000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LITERATURE-GROUNDED STRATEGY RESEARCH | 31 JUL 2026</a:t>
            </a:r>
          </a:p>
        </p:txBody>
      </p:sp>
    </p:spTree>
    <p:extLst>
      <p:ext uri="{BB962C8B-B14F-4D97-AF65-F5344CB8AC3E}">
        <p14:creationId xmlns:p14="http://schemas.microsoft.com/office/powerpoint/2010/main" val="209289339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tat-card-1">
            <a:extLst xmlns:a="http://schemas.openxmlformats.org/drawingml/2006/main">
              <a:ext uri="{FF2B5EF4-FFF2-40B4-BE49-F238E27FC236}">
                <a16:creationId xmlns:a16="http://schemas.microsoft.com/office/drawing/2014/main" id="{8D249104-692F-481F-82EC-326C84E9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stat-card-2">
            <a:extLst xmlns:a="http://schemas.openxmlformats.org/drawingml/2006/main">
              <a:ext uri="{FF2B5EF4-FFF2-40B4-BE49-F238E27FC236}">
                <a16:creationId xmlns:a16="http://schemas.microsoft.com/office/drawing/2014/main" id="{02412AD9-1F13-493C-BF6C-FD8BDE75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stat-card-3">
            <a:extLst xmlns:a="http://schemas.openxmlformats.org/drawingml/2006/main">
              <a:ext uri="{FF2B5EF4-FFF2-40B4-BE49-F238E27FC236}">
                <a16:creationId xmlns:a16="http://schemas.microsoft.com/office/drawing/2014/main" id="{63597CCF-F233-4A0C-BCFA-192F852F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1E272E4-82E7-4287-91C5-21E6B629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0ED332F-4F42-421E-99CF-097B6CBB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High beta was the universe hypothesis—not an outcome filter</a:t>
            </a:r>
          </a:p>
        </p:txBody>
      </p:sp>
      <p:sp>
        <p:nvSpPr>
          <p:cNvPr id="6" name="intro">
            <a:extLst xmlns:a="http://schemas.openxmlformats.org/drawingml/2006/main">
              <a:ext uri="{FF2B5EF4-FFF2-40B4-BE49-F238E27FC236}">
                <a16:creationId xmlns:a16="http://schemas.microsoft.com/office/drawing/2014/main" id="{E3D1AF2D-950D-495D-BB07-182C768A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19200"/>
            <a:ext cx="11404568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Every identity came from the October 31, 2016 SPHB filing before TRAIN. Each coverage-eligible stock runs the same selector; every complete six-gate passer receives one OOS replay.</a:t>
            </a:r>
          </a:p>
        </p:txBody>
      </p:sp>
      <p:sp>
        <p:nvSpPr>
          <p:cNvPr id="7" name="stat-1">
            <a:extLst xmlns:a="http://schemas.openxmlformats.org/drawingml/2006/main">
              <a:ext uri="{FF2B5EF4-FFF2-40B4-BE49-F238E27FC236}">
                <a16:creationId xmlns:a16="http://schemas.microsoft.com/office/drawing/2014/main" id="{447A29C0-2600-4241-BF6B-6797417F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99 filing names</a:t>
            </a:r>
          </a:p>
        </p:txBody>
      </p:sp>
      <p:sp>
        <p:nvSpPr>
          <p:cNvPr id="8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1D2A853D-A304-477D-B8B8-F77F0101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Point-in-time high-beta label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 fame-based sampling</a:t>
            </a:r>
          </a:p>
        </p:txBody>
      </p:sp>
      <p:sp>
        <p:nvSpPr>
          <p:cNvPr id="9" name="stat-2">
            <a:extLst xmlns:a="http://schemas.openxmlformats.org/drawingml/2006/main">
              <a:ext uri="{FF2B5EF4-FFF2-40B4-BE49-F238E27FC236}">
                <a16:creationId xmlns:a16="http://schemas.microsoft.com/office/drawing/2014/main" id="{342C60B8-5C35-4607-932D-DFD8E206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49 cells each</a:t>
            </a:r>
          </a:p>
        </p:txBody>
      </p:sp>
      <p:sp>
        <p:nvSpPr>
          <p:cNvPr id="10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3123331A-6BB6-4FC3-B18C-EE98C6A8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Same L,H grid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Same deterministic selector</a:t>
            </a:r>
          </a:p>
        </p:txBody>
      </p:sp>
      <p:sp>
        <p:nvSpPr>
          <p:cNvPr id="11" name="stat-3">
            <a:extLst xmlns:a="http://schemas.openxmlformats.org/drawingml/2006/main">
              <a:ext uri="{FF2B5EF4-FFF2-40B4-BE49-F238E27FC236}">
                <a16:creationId xmlns:a16="http://schemas.microsoft.com/office/drawing/2014/main" id="{A0AD0C21-BC31-4957-B0CB-525311D4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 replacements</a:t>
            </a:r>
          </a:p>
        </p:txBody>
      </p:sp>
      <p:sp>
        <p:nvSpPr>
          <p:cNvPr id="12" name="stat-label-3">
            <a:extLst xmlns:a="http://schemas.openxmlformats.org/drawingml/2006/main">
              <a:ext uri="{FF2B5EF4-FFF2-40B4-BE49-F238E27FC236}">
                <a16:creationId xmlns:a16="http://schemas.microsoft.com/office/drawing/2014/main" id="{86C9D445-5711-4319-B967-D72E959C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Acquisitions stay visible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 successor repair</a:t>
            </a:r>
          </a:p>
        </p:txBody>
      </p:sp>
    </p:spTree>
    <p:extLst>
      <p:ext uri="{BB962C8B-B14F-4D97-AF65-F5344CB8AC3E}">
        <p14:creationId xmlns:p14="http://schemas.microsoft.com/office/powerpoint/2010/main" val="209824963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tat-card-1">
            <a:extLst xmlns:a="http://schemas.openxmlformats.org/drawingml/2006/main">
              <a:ext uri="{FF2B5EF4-FFF2-40B4-BE49-F238E27FC236}">
                <a16:creationId xmlns:a16="http://schemas.microsoft.com/office/drawing/2014/main" id="{8D249104-692F-481F-82EC-326C84E9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stat-card-2">
            <a:extLst xmlns:a="http://schemas.openxmlformats.org/drawingml/2006/main">
              <a:ext uri="{FF2B5EF4-FFF2-40B4-BE49-F238E27FC236}">
                <a16:creationId xmlns:a16="http://schemas.microsoft.com/office/drawing/2014/main" id="{02412AD9-1F13-493C-BF6C-FD8BDE75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stat-card-3">
            <a:extLst xmlns:a="http://schemas.openxmlformats.org/drawingml/2006/main">
              <a:ext uri="{FF2B5EF4-FFF2-40B4-BE49-F238E27FC236}">
                <a16:creationId xmlns:a16="http://schemas.microsoft.com/office/drawing/2014/main" id="{63597CCF-F233-4A0C-BCFA-192F852F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1E272E4-82E7-4287-91C5-21E6B629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0ED332F-4F42-421E-99CF-097B6CBB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2016 SEC filing gives us a causal universe—and its biases</a:t>
            </a:r>
          </a:p>
        </p:txBody>
      </p:sp>
      <p:sp>
        <p:nvSpPr>
          <p:cNvPr id="6" name="intro">
            <a:extLst xmlns:a="http://schemas.openxmlformats.org/drawingml/2006/main">
              <a:ext uri="{FF2B5EF4-FFF2-40B4-BE49-F238E27FC236}">
                <a16:creationId xmlns:a16="http://schemas.microsoft.com/office/drawing/2014/main" id="{E3D1AF2D-950D-495D-BB07-182C768A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19200"/>
            <a:ext cx="11404568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SPHB's actual holdings are stronger evidence than remembering which stocks later looked volatile. The filing also reveals a large Energy and Financials concentration that must remain part of the interpretation.</a:t>
            </a:r>
          </a:p>
        </p:txBody>
      </p:sp>
      <p:sp>
        <p:nvSpPr>
          <p:cNvPr id="7" name="stat-1">
            <a:extLst xmlns:a="http://schemas.openxmlformats.org/drawingml/2006/main">
              <a:ext uri="{FF2B5EF4-FFF2-40B4-BE49-F238E27FC236}">
                <a16:creationId xmlns:a16="http://schemas.microsoft.com/office/drawing/2014/main" id="{447A29C0-2600-4241-BF6B-6797417F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99 holdings</a:t>
            </a:r>
          </a:p>
        </p:txBody>
      </p:sp>
      <p:sp>
        <p:nvSpPr>
          <p:cNvPr id="8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1D2A853D-A304-477D-B8B8-F77F0101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SEC Schedule of Investments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31 October 2016</a:t>
            </a:r>
          </a:p>
        </p:txBody>
      </p:sp>
      <p:sp>
        <p:nvSpPr>
          <p:cNvPr id="9" name="stat-2">
            <a:extLst xmlns:a="http://schemas.openxmlformats.org/drawingml/2006/main">
              <a:ext uri="{FF2B5EF4-FFF2-40B4-BE49-F238E27FC236}">
                <a16:creationId xmlns:a16="http://schemas.microsoft.com/office/drawing/2014/main" id="{342C60B8-5C35-4607-932D-DFD8E206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57 names</a:t>
            </a:r>
          </a:p>
        </p:txBody>
      </p:sp>
      <p:sp>
        <p:nvSpPr>
          <p:cNvPr id="10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3123331A-6BB6-4FC3-B18C-EE98C6A8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Energy + Financials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Concentrated before testing</a:t>
            </a:r>
          </a:p>
        </p:txBody>
      </p:sp>
      <p:sp>
        <p:nvSpPr>
          <p:cNvPr id="11" name="stat-3">
            <a:extLst xmlns:a="http://schemas.openxmlformats.org/drawingml/2006/main">
              <a:ext uri="{FF2B5EF4-FFF2-40B4-BE49-F238E27FC236}">
                <a16:creationId xmlns:a16="http://schemas.microsoft.com/office/drawing/2014/main" id="{A0AD0C21-BC31-4957-B0CB-525311D4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15 STOPs</a:t>
            </a:r>
          </a:p>
        </p:txBody>
      </p:sp>
      <p:sp>
        <p:nvSpPr>
          <p:cNvPr id="12" name="stat-label-3">
            <a:extLst xmlns:a="http://schemas.openxmlformats.org/drawingml/2006/main">
              <a:ext uri="{FF2B5EF4-FFF2-40B4-BE49-F238E27FC236}">
                <a16:creationId xmlns:a16="http://schemas.microsoft.com/office/drawing/2014/main" id="{86C9D445-5711-4319-B967-D72E959C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Incomplete TRAIN history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Still in the audit</a:t>
            </a:r>
          </a:p>
        </p:txBody>
      </p:sp>
    </p:spTree>
    <p:extLst>
      <p:ext uri="{BB962C8B-B14F-4D97-AF65-F5344CB8AC3E}">
        <p14:creationId xmlns:p14="http://schemas.microsoft.com/office/powerpoint/2010/main" val="209824963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tat-card-1">
            <a:extLst xmlns:a="http://schemas.openxmlformats.org/drawingml/2006/main">
              <a:ext uri="{FF2B5EF4-FFF2-40B4-BE49-F238E27FC236}">
                <a16:creationId xmlns:a16="http://schemas.microsoft.com/office/drawing/2014/main" id="{8D249104-692F-481F-82EC-326C84E9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stat-card-2">
            <a:extLst xmlns:a="http://schemas.openxmlformats.org/drawingml/2006/main">
              <a:ext uri="{FF2B5EF4-FFF2-40B4-BE49-F238E27FC236}">
                <a16:creationId xmlns:a16="http://schemas.microsoft.com/office/drawing/2014/main" id="{02412AD9-1F13-493C-BF6C-FD8BDE75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stat-card-3">
            <a:extLst xmlns:a="http://schemas.openxmlformats.org/drawingml/2006/main">
              <a:ext uri="{FF2B5EF4-FFF2-40B4-BE49-F238E27FC236}">
                <a16:creationId xmlns:a16="http://schemas.microsoft.com/office/drawing/2014/main" id="{63597CCF-F233-4A0C-BCFA-192F852F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1E272E4-82E7-4287-91C5-21E6B629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0ED332F-4F42-421E-99CF-097B6CBB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High beta amplifies movement; it does not guarantee persistence</a:t>
            </a:r>
          </a:p>
        </p:txBody>
      </p:sp>
      <p:sp>
        <p:nvSpPr>
          <p:cNvPr id="6" name="intro">
            <a:extLst xmlns:a="http://schemas.openxmlformats.org/drawingml/2006/main">
              <a:ext uri="{FF2B5EF4-FFF2-40B4-BE49-F238E27FC236}">
                <a16:creationId xmlns:a16="http://schemas.microsoft.com/office/drawing/2014/main" id="{E3D1AF2D-950D-495D-BB07-182C768A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19200"/>
            <a:ext cx="11404568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Beta asks how strongly a stock co-moves with the market. Time-series momentum asks whether the stock's own past return predicts its next return. A volatile amplifier may trend—or reverse.</a:t>
            </a:r>
          </a:p>
        </p:txBody>
      </p:sp>
      <p:sp>
        <p:nvSpPr>
          <p:cNvPr id="7" name="stat-1">
            <a:extLst xmlns:a="http://schemas.openxmlformats.org/drawingml/2006/main">
              <a:ext uri="{FF2B5EF4-FFF2-40B4-BE49-F238E27FC236}">
                <a16:creationId xmlns:a16="http://schemas.microsoft.com/office/drawing/2014/main" id="{447A29C0-2600-4241-BF6B-6797417F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β = Cov/Var</a:t>
            </a:r>
          </a:p>
        </p:txBody>
      </p:sp>
      <p:sp>
        <p:nvSpPr>
          <p:cNvPr id="8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1D2A853D-A304-477D-B8B8-F77F0101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Cov(rᵢ,rSPY) / Var(rSPY)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Market sensitivity</a:t>
            </a:r>
          </a:p>
        </p:txBody>
      </p:sp>
      <p:sp>
        <p:nvSpPr>
          <p:cNvPr id="9" name="stat-2">
            <a:extLst xmlns:a="http://schemas.openxmlformats.org/drawingml/2006/main">
              <a:ext uri="{FF2B5EF4-FFF2-40B4-BE49-F238E27FC236}">
                <a16:creationId xmlns:a16="http://schemas.microsoft.com/office/drawing/2014/main" id="{342C60B8-5C35-4607-932D-DFD8E206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r(past,future)</a:t>
            </a:r>
          </a:p>
        </p:txBody>
      </p:sp>
      <p:sp>
        <p:nvSpPr>
          <p:cNvPr id="10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3123331A-6BB6-4FC3-B18C-EE98C6A8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Own trailing versus forward return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Persistence hypothesis</a:t>
            </a:r>
          </a:p>
        </p:txBody>
      </p:sp>
      <p:sp>
        <p:nvSpPr>
          <p:cNvPr id="11" name="stat-3">
            <a:extLst xmlns:a="http://schemas.openxmlformats.org/drawingml/2006/main">
              <a:ext uri="{FF2B5EF4-FFF2-40B4-BE49-F238E27FC236}">
                <a16:creationId xmlns:a16="http://schemas.microsoft.com/office/drawing/2014/main" id="{A0AD0C21-BC31-4957-B0CB-525311D4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Different claims</a:t>
            </a:r>
          </a:p>
        </p:txBody>
      </p:sp>
      <p:sp>
        <p:nvSpPr>
          <p:cNvPr id="12" name="stat-label-3">
            <a:extLst xmlns:a="http://schemas.openxmlformats.org/drawingml/2006/main">
              <a:ext uri="{FF2B5EF4-FFF2-40B4-BE49-F238E27FC236}">
                <a16:creationId xmlns:a16="http://schemas.microsoft.com/office/drawing/2014/main" id="{86C9D445-5711-4319-B967-D72E959C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High beta ≠ positive momentum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Test both explicitly</a:t>
            </a:r>
          </a:p>
        </p:txBody>
      </p:sp>
    </p:spTree>
    <p:extLst>
      <p:ext uri="{BB962C8B-B14F-4D97-AF65-F5344CB8AC3E}">
        <p14:creationId xmlns:p14="http://schemas.microsoft.com/office/powerpoint/2010/main" val="209824963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4F272998-B60C-44E0-849E-A04A8722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A16F9E5-1AF4-43B0-AB25-E3AE9829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5537168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source label checks out—but still does not test momentum</a:t>
            </a:r>
          </a:p>
        </p:txBody>
      </p:sp>
      <p:sp>
        <p:nvSpPr>
          <p:cNvPr id="3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5EE0E946-4B2C-4DE9-8839-3DE0D30C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3E0CA677-50AA-4CCF-BC5C-CB90210A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95450"/>
            <a:ext cx="5537168" cy="423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Using only adjusted daily returns before TRAIN:</a:t>
            </a:r>
          </a:p>
          <a:p xmlns:a="http://schemas.openxmlformats.org/drawingml/2006/main">
            <a:pPr algn="l">
              <a:buNone/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• 97 of 99 names have a finite 2016 beta estimate;</a:t>
            </a:r>
          </a:p>
          <a:p xmlns:a="http://schemas.openxmlformats.org/drawingml/2006/main">
            <a:pPr algn="l">
              <a:buNone/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• median beta is 1.70;</a:t>
            </a:r>
          </a:p>
          <a:p xmlns:a="http://schemas.openxmlformats.org/drawingml/2006/main">
            <a:pPr algn="l">
              <a:buNone/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• mean beta is 1.75;</a:t>
            </a:r>
          </a:p>
          <a:p xmlns:a="http://schemas.openxmlformats.org/drawingml/2006/main">
            <a:pPr algn="l">
              <a:buNone/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• 96 of 97 estimates exceed 1.</a:t>
            </a:r>
          </a:p>
          <a:p xmlns:a="http://schemas.openxmlformats.org/drawingml/2006/main">
            <a:pPr algn="l">
              <a:buNone/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This confirms a high-sensitivity panel. It does not establish that trailing return sign predicts the future.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228C7B-FAD1-4EFC-8057-453D13C9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76196"/>
            <a:ext cx="5314950" cy="3019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83fcbb73e34ec6"/>
          <a:stretch xmlns:a="http://schemas.openxmlformats.org/drawingml/2006/main"/>
        </p:blipFill>
        <p:spPr>
          <a:xfrm xmlns:a="http://schemas.openxmlformats.org/drawingml/2006/main">
            <a:off x="6605588" y="2097541"/>
            <a:ext cx="4743450" cy="271054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34089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tat-card-1">
            <a:extLst xmlns:a="http://schemas.openxmlformats.org/drawingml/2006/main">
              <a:ext uri="{FF2B5EF4-FFF2-40B4-BE49-F238E27FC236}">
                <a16:creationId xmlns:a16="http://schemas.microsoft.com/office/drawing/2014/main" id="{E92BF88A-D985-4E89-9220-AED80DBB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stat-card-2">
            <a:extLst xmlns:a="http://schemas.openxmlformats.org/drawingml/2006/main">
              <a:ext uri="{FF2B5EF4-FFF2-40B4-BE49-F238E27FC236}">
                <a16:creationId xmlns:a16="http://schemas.microsoft.com/office/drawing/2014/main" id="{18F3FD71-2B01-497E-B7A5-AD72E3A3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stat-card-3">
            <a:extLst xmlns:a="http://schemas.openxmlformats.org/drawingml/2006/main">
              <a:ext uri="{FF2B5EF4-FFF2-40B4-BE49-F238E27FC236}">
                <a16:creationId xmlns:a16="http://schemas.microsoft.com/office/drawing/2014/main" id="{A256A665-F93B-46DB-A120-F2929BE3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B8FEAA9-7122-4602-AAFA-C856C71C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B999DAA-321B-4DEF-AC22-1F41A5B8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Historical-symbol attrition stays in the denominator</a:t>
            </a:r>
          </a:p>
        </p:txBody>
      </p:sp>
      <p:sp>
        <p:nvSpPr>
          <p:cNvPr id="6" name="intro">
            <a:extLst xmlns:a="http://schemas.openxmlformats.org/drawingml/2006/main">
              <a:ext uri="{FF2B5EF4-FFF2-40B4-BE49-F238E27FC236}">
                <a16:creationId xmlns:a16="http://schemas.microsoft.com/office/drawing/2014/main" id="{B83D39E3-1D42-4CA4-A507-6C07CD20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19200"/>
            <a:ext cx="11404568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Corporate actions and provider symbol history reduce what a retail researcher can replay. Coverage is checked before performance; a truncated DEVELOPMENT window is never accepted as a substitute.</a:t>
            </a:r>
          </a:p>
        </p:txBody>
      </p:sp>
      <p:sp>
        <p:nvSpPr>
          <p:cNvPr id="7" name="stat-1">
            <a:extLst xmlns:a="http://schemas.openxmlformats.org/drawingml/2006/main">
              <a:ext uri="{FF2B5EF4-FFF2-40B4-BE49-F238E27FC236}">
                <a16:creationId xmlns:a16="http://schemas.microsoft.com/office/drawing/2014/main" id="{CE99FBCB-3F61-4E2C-9916-C8B37E005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t>84 / 99</a:t>
            </a:r>
          </a:p>
        </p:txBody>
      </p:sp>
      <p:sp>
        <p:nvSpPr>
          <p:cNvPr id="8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8D7A7BD1-1D20-421E-BAC5-DFF695BB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Exact warm-up + TRAIN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Eligible for the horizon screen</a:t>
            </a:r>
          </a:p>
        </p:txBody>
      </p:sp>
      <p:sp>
        <p:nvSpPr>
          <p:cNvPr id="9" name="stat-2">
            <a:extLst xmlns:a="http://schemas.openxmlformats.org/drawingml/2006/main">
              <a:ext uri="{FF2B5EF4-FFF2-40B4-BE49-F238E27FC236}">
                <a16:creationId xmlns:a16="http://schemas.microsoft.com/office/drawing/2014/main" id="{E572DBE1-8080-407B-A0FF-815818B8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11 pass</a:t>
            </a:r>
          </a:p>
        </p:txBody>
      </p:sp>
      <p:sp>
        <p:nvSpPr>
          <p:cNvPr id="10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FD56EAD1-B269-48E0-9F23-33330F29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All six TRAIN gates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 weighted near-passes</a:t>
            </a:r>
          </a:p>
        </p:txBody>
      </p:sp>
      <p:sp>
        <p:nvSpPr>
          <p:cNvPr id="11" name="stat-3">
            <a:extLst xmlns:a="http://schemas.openxmlformats.org/drawingml/2006/main">
              <a:ext uri="{FF2B5EF4-FFF2-40B4-BE49-F238E27FC236}">
                <a16:creationId xmlns:a16="http://schemas.microsoft.com/office/drawing/2014/main" id="{9C6C64B0-28CA-4923-800E-94342CB6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10 OOS</a:t>
            </a:r>
          </a:p>
        </p:txBody>
      </p:sp>
      <p:sp>
        <p:nvSpPr>
          <p:cNvPr id="12" name="stat-label-3">
            <a:extLst xmlns:a="http://schemas.openxmlformats.org/drawingml/2006/main">
              <a:ext uri="{FF2B5EF4-FFF2-40B4-BE49-F238E27FC236}">
                <a16:creationId xmlns:a16="http://schemas.microsoft.com/office/drawing/2014/main" id="{0ED31E12-360E-4FDB-B429-1A6368F4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Exact DEVELOPMENT coverage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XEC stops after acquisition</a:t>
            </a:r>
          </a:p>
        </p:txBody>
      </p:sp>
    </p:spTree>
    <p:extLst>
      <p:ext uri="{BB962C8B-B14F-4D97-AF65-F5344CB8AC3E}">
        <p14:creationId xmlns:p14="http://schemas.microsoft.com/office/powerpoint/2010/main" val="150026174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tat-card-1">
            <a:extLst xmlns:a="http://schemas.openxmlformats.org/drawingml/2006/main">
              <a:ext uri="{FF2B5EF4-FFF2-40B4-BE49-F238E27FC236}">
                <a16:creationId xmlns:a16="http://schemas.microsoft.com/office/drawing/2014/main" id="{8D249104-692F-481F-82EC-326C84E9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stat-card-2">
            <a:extLst xmlns:a="http://schemas.openxmlformats.org/drawingml/2006/main">
              <a:ext uri="{FF2B5EF4-FFF2-40B4-BE49-F238E27FC236}">
                <a16:creationId xmlns:a16="http://schemas.microsoft.com/office/drawing/2014/main" id="{02412AD9-1F13-493C-BF6C-FD8BDE75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stat-card-3">
            <a:extLst xmlns:a="http://schemas.openxmlformats.org/drawingml/2006/main">
              <a:ext uri="{FF2B5EF4-FFF2-40B4-BE49-F238E27FC236}">
                <a16:creationId xmlns:a16="http://schemas.microsoft.com/office/drawing/2014/main" id="{63597CCF-F233-4A0C-BCFA-192F852F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1E272E4-82E7-4287-91C5-21E6B629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0ED332F-4F42-421E-99CF-097B6CBB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More TRAIN passers do not mean high beta caused momentum</a:t>
            </a:r>
          </a:p>
        </p:txBody>
      </p:sp>
      <p:sp>
        <p:nvSpPr>
          <p:cNvPr id="6" name="intro">
            <a:extLst xmlns:a="http://schemas.openxmlformats.org/drawingml/2006/main">
              <a:ext uri="{FF2B5EF4-FFF2-40B4-BE49-F238E27FC236}">
                <a16:creationId xmlns:a16="http://schemas.microsoft.com/office/drawing/2014/main" id="{E3D1AF2D-950D-495D-BB07-182C768A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19200"/>
            <a:ext cx="11404568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Eighty-four independent 49-cell screens create 4,116 related comparisons. The 13.1% full-pass rate exceeds the static atlas's 4.5%, but the panels differ in composition and historical validity.</a:t>
            </a:r>
          </a:p>
        </p:txBody>
      </p:sp>
      <p:sp>
        <p:nvSpPr>
          <p:cNvPr id="7" name="stat-1">
            <a:extLst xmlns:a="http://schemas.openxmlformats.org/drawingml/2006/main">
              <a:ext uri="{FF2B5EF4-FFF2-40B4-BE49-F238E27FC236}">
                <a16:creationId xmlns:a16="http://schemas.microsoft.com/office/drawing/2014/main" id="{447A29C0-2600-4241-BF6B-6797417F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4,116 cells</a:t>
            </a:r>
          </a:p>
        </p:txBody>
      </p:sp>
      <p:sp>
        <p:nvSpPr>
          <p:cNvPr id="8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1D2A853D-A304-477D-B8B8-F77F0101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84 × 49 TRAIN rows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Nominal local p-values</a:t>
            </a:r>
          </a:p>
        </p:txBody>
      </p:sp>
      <p:sp>
        <p:nvSpPr>
          <p:cNvPr id="9" name="stat-2">
            <a:extLst xmlns:a="http://schemas.openxmlformats.org/drawingml/2006/main">
              <a:ext uri="{FF2B5EF4-FFF2-40B4-BE49-F238E27FC236}">
                <a16:creationId xmlns:a16="http://schemas.microsoft.com/office/drawing/2014/main" id="{342C60B8-5C35-4607-932D-DFD8E206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13.1%</a:t>
            </a:r>
          </a:p>
        </p:txBody>
      </p:sp>
      <p:sp>
        <p:nvSpPr>
          <p:cNvPr id="10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3123331A-6BB6-4FC3-B18C-EE98C6A8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11 / 84 full TRAIN passes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Descriptive enrichment</a:t>
            </a:r>
          </a:p>
        </p:txBody>
      </p:sp>
      <p:sp>
        <p:nvSpPr>
          <p:cNvPr id="11" name="stat-3">
            <a:extLst xmlns:a="http://schemas.openxmlformats.org/drawingml/2006/main">
              <a:ext uri="{FF2B5EF4-FFF2-40B4-BE49-F238E27FC236}">
                <a16:creationId xmlns:a16="http://schemas.microsoft.com/office/drawing/2014/main" id="{A0AD0C21-BC31-4957-B0CB-525311D4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all passers OOS</a:t>
            </a:r>
          </a:p>
        </p:txBody>
      </p:sp>
      <p:sp>
        <p:nvSpPr>
          <p:cNvPr id="12" name="stat-label-3">
            <a:extLst xmlns:a="http://schemas.openxmlformats.org/drawingml/2006/main">
              <a:ext uri="{FF2B5EF4-FFF2-40B4-BE49-F238E27FC236}">
                <a16:creationId xmlns:a16="http://schemas.microsoft.com/office/drawing/2014/main" id="{86C9D445-5711-4319-B967-D72E959C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 best-stock selection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 hidden attrition</a:t>
            </a:r>
          </a:p>
        </p:txBody>
      </p:sp>
    </p:spTree>
    <p:extLst>
      <p:ext uri="{BB962C8B-B14F-4D97-AF65-F5344CB8AC3E}">
        <p14:creationId xmlns:p14="http://schemas.microsoft.com/office/powerpoint/2010/main" val="209824963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4F272998-B60C-44E0-849E-A04A8722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A16F9E5-1AF4-43B0-AB25-E3AE9829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5275"/>
            <a:ext cx="11404568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Short 5- and 10-session holds dominated the TRAIN nominations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ffc942fd504572"/>
          <a:stretch xmlns:a="http://schemas.openxmlformats.org/drawingml/2006/main"/>
        </p:blipFill>
        <p:spPr>
          <a:xfrm xmlns:a="http://schemas.openxmlformats.org/drawingml/2006/main">
            <a:off x="3128963" y="1162050"/>
            <a:ext cx="5943600" cy="495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34089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231B1CDB-9946-498B-901E-0A0C9C77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E1FC061-EE2C-48CF-9799-D8537102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G2 and G6 remained the tight research screens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af91872d044130"/>
          <a:stretch xmlns:a="http://schemas.openxmlformats.org/drawingml/2006/main"/>
        </p:blipFill>
        <p:spPr>
          <a:xfrm xmlns:a="http://schemas.openxmlformats.org/drawingml/2006/main">
            <a:off x="3178969" y="1919612"/>
            <a:ext cx="5834063" cy="344740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8750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over-headline">
            <a:extLst xmlns:a="http://schemas.openxmlformats.org/drawingml/2006/main">
              <a:ext uri="{FF2B5EF4-FFF2-40B4-BE49-F238E27FC236}">
                <a16:creationId xmlns:a16="http://schemas.microsoft.com/office/drawing/2014/main" id="{DA6318FA-2F99-4DF9-A744-06350F91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102870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11 pass TRAIN.</a:t>
            </a:r>
          </a:p>
          <a:p xmlns:a="http://schemas.openxmlformats.org/drawingml/2006/main">
            <a:pPr algn="l">
              <a:buNone/>
              <a:defRPr sz="57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 finish OOS positive.</a:t>
            </a:r>
          </a:p>
        </p:txBody>
      </p:sp>
      <p:sp>
        <p:nvSpPr>
          <p:cNvPr id="2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E169DF7F-9A3A-4AE2-8055-4ED35072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62500"/>
            <a:ext cx="80010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XEC stops on coverage after acquisition. The other ten retain their own frozen horizon, symmetric long/short sleeves, costs, and evidence dates; 2024+ stays sealed.</a:t>
            </a:r>
          </a:p>
        </p:txBody>
      </p:sp>
      <p:sp>
        <p:nvSpPr>
          <p:cNvPr id="3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D2399950-CA2D-41D2-BB2E-E681018A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7239000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TEN COMPLETE OOS REPLAYS | 2021–2023</a:t>
            </a:r>
          </a:p>
        </p:txBody>
      </p:sp>
    </p:spTree>
    <p:extLst>
      <p:ext uri="{BB962C8B-B14F-4D97-AF65-F5344CB8AC3E}">
        <p14:creationId xmlns:p14="http://schemas.microsoft.com/office/powerpoint/2010/main" val="209289339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D1F4916-B18D-4F3F-8812-75A699D9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11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CB77D9D-0CB0-4878-9A4A-2687A311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5275"/>
            <a:ext cx="11404568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TRAIN enrichment disappeared when the frozen rules met 2021–2023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18967c8fb24c64"/>
          <a:stretch xmlns:a="http://schemas.openxmlformats.org/drawingml/2006/main"/>
        </p:blipFill>
        <p:spPr>
          <a:xfrm xmlns:a="http://schemas.openxmlformats.org/drawingml/2006/main">
            <a:off x="2739798" y="1162050"/>
            <a:ext cx="6721929" cy="495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43675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D1F4916-B18D-4F3F-8812-75A699D9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12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CB77D9D-0CB0-4878-9A4A-2687A311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5275"/>
            <a:ext cx="11404568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signal predicted up moves better than down moves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fcf1fccb1943bd"/>
          <a:stretch xmlns:a="http://schemas.openxmlformats.org/drawingml/2006/main"/>
        </p:blipFill>
        <p:spPr>
          <a:xfrm xmlns:a="http://schemas.openxmlformats.org/drawingml/2006/main">
            <a:off x="2205382" y="1291971"/>
            <a:ext cx="7781236" cy="459800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43675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D1F4916-B18D-4F3F-8812-75A699D9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13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CB77D9D-0CB0-4878-9A4A-2687A311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5275"/>
            <a:ext cx="11404568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All ten complete OOS paths finished below 1.0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db7f3de7d34032"/>
          <a:stretch xmlns:a="http://schemas.openxmlformats.org/drawingml/2006/main"/>
        </p:blipFill>
        <p:spPr>
          <a:xfrm xmlns:a="http://schemas.openxmlformats.org/drawingml/2006/main">
            <a:off x="1945298" y="1162050"/>
            <a:ext cx="8301404" cy="4905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43675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D1F4916-B18D-4F3F-8812-75A699D9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14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CB77D9D-0CB0-4878-9A4A-2687A311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5275"/>
            <a:ext cx="11404568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AMP shows how reversals change new sleeves—not the entire position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14bdc4f0e04378"/>
          <a:stretch xmlns:a="http://schemas.openxmlformats.org/drawingml/2006/main"/>
        </p:blipFill>
        <p:spPr>
          <a:xfrm xmlns:a="http://schemas.openxmlformats.org/drawingml/2006/main">
            <a:off x="2498725" y="1162050"/>
            <a:ext cx="7194550" cy="4905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43675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over-headline">
            <a:extLst xmlns:a="http://schemas.openxmlformats.org/drawingml/2006/main">
              <a:ext uri="{FF2B5EF4-FFF2-40B4-BE49-F238E27FC236}">
                <a16:creationId xmlns:a16="http://schemas.microsoft.com/office/drawing/2014/main" id="{E9F43BB9-4202-4A42-9916-7A066783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102870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High beta enriched TRAIN.</a:t>
            </a:r>
          </a:p>
          <a:p xmlns:a="http://schemas.openxmlformats.org/drawingml/2006/main">
            <a:pPr algn="l">
              <a:buNone/>
              <a:defRPr sz="57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It did not rescue OOS.</a:t>
            </a:r>
          </a:p>
        </p:txBody>
      </p:sp>
      <p:sp>
        <p:nvSpPr>
          <p:cNvPr id="2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6F90063-BA30-438B-9FD3-13AA2271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62500"/>
            <a:ext cx="80010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Record all ten negative replays and stop before CONFIRMATION. The long/short asymmetry is a useful diagnosis—not permission to delete shorts after seeing OOS.</a:t>
            </a:r>
          </a:p>
        </p:txBody>
      </p:sp>
      <p:sp>
        <p:nvSpPr>
          <p:cNvPr id="3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45129715-75DE-4D50-B44D-3AFE3EBA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7239000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POINT-IN-TIME BREADTH COMPLETE | RESEARCH DECISION</a:t>
            </a:r>
          </a:p>
        </p:txBody>
      </p:sp>
    </p:spTree>
    <p:extLst>
      <p:ext uri="{BB962C8B-B14F-4D97-AF65-F5344CB8AC3E}">
        <p14:creationId xmlns:p14="http://schemas.microsoft.com/office/powerpoint/2010/main" val="16642401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2026-08-01T04:28:25.2620000Z</dcterms:created>
  <dcterms:modified xsi:type="dcterms:W3CDTF">2026-08-01T04:28:25.2620000Z</dcterms:modified>
</coreProperties>
</file>