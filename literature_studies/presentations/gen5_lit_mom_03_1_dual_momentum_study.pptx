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9387e0d47d42ea" /><Relationship Type="http://schemas.openxmlformats.org/officeDocument/2006/relationships/extended-properties" Target="/docProps/app.xml" Id="Rb05bc8c79695419a" /><Relationship Type="http://schemas.openxmlformats.org/officeDocument/2006/relationships/officeDocument" Target="/ppt/presentation.xml" Id="R6f6deea676df4e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d4eac06176140d4"/>
  </p:sldMasterIdLst>
  <p:notesMasterIdLst>
    <p:notesMasterId xmlns:r="http://schemas.openxmlformats.org/officeDocument/2006/relationships" r:id="Re1820572d6824c52"/>
  </p:notesMasterIdLst>
  <p:sldIdLst>
    <p:sldId xmlns:r="http://schemas.openxmlformats.org/officeDocument/2006/relationships" id="256" r:id="R37cd1d8c7aa2492b"/>
    <p:sldId xmlns:r="http://schemas.openxmlformats.org/officeDocument/2006/relationships" id="257" r:id="R9e3ee2a0b6db41d8"/>
    <p:sldId xmlns:r="http://schemas.openxmlformats.org/officeDocument/2006/relationships" id="258" r:id="Rb97da3b1116b4969"/>
    <p:sldId xmlns:r="http://schemas.openxmlformats.org/officeDocument/2006/relationships" id="259" r:id="R3132b9159281465d"/>
    <p:sldId xmlns:r="http://schemas.openxmlformats.org/officeDocument/2006/relationships" id="260" r:id="Rbe91e4cd08224d05"/>
    <p:sldId xmlns:r="http://schemas.openxmlformats.org/officeDocument/2006/relationships" id="261" r:id="R14e6c2701558448b"/>
    <p:sldId xmlns:r="http://schemas.openxmlformats.org/officeDocument/2006/relationships" id="262" r:id="Ra70de3d85e654510"/>
    <p:sldId xmlns:r="http://schemas.openxmlformats.org/officeDocument/2006/relationships" id="263" r:id="Rd00dcc64f7bc42f5"/>
    <p:sldId xmlns:r="http://schemas.openxmlformats.org/officeDocument/2006/relationships" id="264" r:id="R85dba230932940fa"/>
    <p:sldId xmlns:r="http://schemas.openxmlformats.org/officeDocument/2006/relationships" id="265" r:id="R63714a69dc8f42c6"/>
    <p:sldId xmlns:r="http://schemas.openxmlformats.org/officeDocument/2006/relationships" id="266" r:id="R5c8b0d59df0c467f"/>
    <p:sldId xmlns:r="http://schemas.openxmlformats.org/officeDocument/2006/relationships" id="267" r:id="Rdc3aca56bd80478c"/>
    <p:sldId xmlns:r="http://schemas.openxmlformats.org/officeDocument/2006/relationships" id="268" r:id="R241ef376bf1c43f6"/>
    <p:sldId xmlns:r="http://schemas.openxmlformats.org/officeDocument/2006/relationships" id="269" r:id="R8007c4bce9824c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e344e127e194e99" /><Relationship Type="http://schemas.openxmlformats.org/officeDocument/2006/relationships/slideMaster" Target="/ppt/slideMasters/slideMaster1.xml" Id="R4d4eac06176140d4" /><Relationship Type="http://schemas.openxmlformats.org/officeDocument/2006/relationships/notesMaster" Target="/ppt/notesMasters/notesMaster1.xml" Id="Re1820572d6824c52" /><Relationship Type="http://schemas.openxmlformats.org/officeDocument/2006/relationships/presProps" Target="/ppt/presProps.xml" Id="R5419ad4015ec4a08" /><Relationship Type="http://schemas.openxmlformats.org/officeDocument/2006/relationships/tableStyles" Target="/ppt/tableStyles.xml" Id="R64ec570bc2f44808" /><Relationship Type="http://schemas.openxmlformats.org/officeDocument/2006/relationships/slide" Target="/ppt/slides/slide1.xml" Id="R37cd1d8c7aa2492b" /><Relationship Type="http://schemas.openxmlformats.org/officeDocument/2006/relationships/slide" Target="/ppt/slides/slide2.xml" Id="R9e3ee2a0b6db41d8" /><Relationship Type="http://schemas.openxmlformats.org/officeDocument/2006/relationships/slide" Target="/ppt/slides/slide3.xml" Id="Rb97da3b1116b4969" /><Relationship Type="http://schemas.openxmlformats.org/officeDocument/2006/relationships/slide" Target="/ppt/slides/slide4.xml" Id="R3132b9159281465d" /><Relationship Type="http://schemas.openxmlformats.org/officeDocument/2006/relationships/slide" Target="/ppt/slides/slide5.xml" Id="Rbe91e4cd08224d05" /><Relationship Type="http://schemas.openxmlformats.org/officeDocument/2006/relationships/slide" Target="/ppt/slides/slide6.xml" Id="R14e6c2701558448b" /><Relationship Type="http://schemas.openxmlformats.org/officeDocument/2006/relationships/slide" Target="/ppt/slides/slide7.xml" Id="Ra70de3d85e654510" /><Relationship Type="http://schemas.openxmlformats.org/officeDocument/2006/relationships/slide" Target="/ppt/slides/slide8.xml" Id="Rd00dcc64f7bc42f5" /><Relationship Type="http://schemas.openxmlformats.org/officeDocument/2006/relationships/slide" Target="/ppt/slides/slide9.xml" Id="R85dba230932940fa" /><Relationship Type="http://schemas.openxmlformats.org/officeDocument/2006/relationships/slide" Target="/ppt/slides/slide10.xml" Id="R63714a69dc8f42c6" /><Relationship Type="http://schemas.openxmlformats.org/officeDocument/2006/relationships/slide" Target="/ppt/slides/slide11.xml" Id="R5c8b0d59df0c467f" /><Relationship Type="http://schemas.openxmlformats.org/officeDocument/2006/relationships/slide" Target="/ppt/slides/slide12.xml" Id="Rdc3aca56bd80478c" /><Relationship Type="http://schemas.openxmlformats.org/officeDocument/2006/relationships/slide" Target="/ppt/slides/slide13.xml" Id="R241ef376bf1c43f6" /><Relationship Type="http://schemas.openxmlformats.org/officeDocument/2006/relationships/slide" Target="/ppt/slides/slide14.xml" Id="R8007c4bce9824c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678e601d1341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7eff2e9b174a10" /><Relationship Type="http://schemas.openxmlformats.org/officeDocument/2006/relationships/notesMaster" Target="/ppt/notesMasters/notesMaster1.xml" Id="Rfd883834d98e48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25f6de998f429e" /><Relationship Type="http://schemas.openxmlformats.org/officeDocument/2006/relationships/notesMaster" Target="/ppt/notesMasters/notesMaster1.xml" Id="R9af2e28ac2694b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1c7cb6e85041e9" /><Relationship Type="http://schemas.openxmlformats.org/officeDocument/2006/relationships/notesMaster" Target="/ppt/notesMasters/notesMaster1.xml" Id="Rc5122782be5b45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0c2f915dd84960" /><Relationship Type="http://schemas.openxmlformats.org/officeDocument/2006/relationships/notesMaster" Target="/ppt/notesMasters/notesMaster1.xml" Id="Rd4875a70bf9748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f3e564a92f487f" /><Relationship Type="http://schemas.openxmlformats.org/officeDocument/2006/relationships/notesMaster" Target="/ppt/notesMasters/notesMaster1.xml" Id="R63c3fe57169d4a3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ece0b2117564c38" /><Relationship Type="http://schemas.openxmlformats.org/officeDocument/2006/relationships/notesMaster" Target="/ppt/notesMasters/notesMaster1.xml" Id="Rd47b799faeff442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338b3090fa4bf7" /><Relationship Type="http://schemas.openxmlformats.org/officeDocument/2006/relationships/notesMaster" Target="/ppt/notesMasters/notesMaster1.xml" Id="Rcd7647b4acaa440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7ab0413865433c" /><Relationship Type="http://schemas.openxmlformats.org/officeDocument/2006/relationships/notesMaster" Target="/ppt/notesMasters/notesMaster1.xml" Id="Rcea9816b36844b2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b97373c50d54636" /><Relationship Type="http://schemas.openxmlformats.org/officeDocument/2006/relationships/notesMaster" Target="/ppt/notesMasters/notesMaster1.xml" Id="R3f2eea988d2449d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b2bb8b967db4f3d" /><Relationship Type="http://schemas.openxmlformats.org/officeDocument/2006/relationships/notesMaster" Target="/ppt/notesMasters/notesMaster1.xml" Id="R3dd49cb4ccdb482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d22d8a796794383" /><Relationship Type="http://schemas.openxmlformats.org/officeDocument/2006/relationships/notesMaster" Target="/ppt/notesMasters/notesMaster1.xml" Id="R66abdd5ab26c4f9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3090b6f0c36481f" /><Relationship Type="http://schemas.openxmlformats.org/officeDocument/2006/relationships/notesMaster" Target="/ppt/notesMasters/notesMaster1.xml" Id="R1c9e8a59c4da4d8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5cb19453bb2482c" /><Relationship Type="http://schemas.openxmlformats.org/officeDocument/2006/relationships/notesMaster" Target="/ppt/notesMasters/notesMaster1.xml" Id="R4834094bdff94ac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ec2e74928b942ea" /><Relationship Type="http://schemas.openxmlformats.org/officeDocument/2006/relationships/notesMaster" Target="/ppt/notesMasters/notesMaster1.xml" Id="R318c1f2b02344a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video is treated as a practitioner literature source that generates a falsifiable hypothesis. The deck does not import the publisher's performance claims as Gen5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https://www.youtube.com/watch?v=c1HDiohiqLU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C:/Users/Franc/OneDrive/Documents/Francis/Peltata Project/Time-Series-Modeling-Gen5/literature_studies/docs/GEN5_LITERATURE_GROUNDED_STRATEGY_RESEARCH_NOMENCLATURE.md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slide separates a broad literature claim from the narrower Gen5 variants already tested.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https://doi.org/10.1111/j.1540-6261.1993.tb04702.x</a:t>
            </a:r>
          </a:p>
          <a:p xmlns:a="http://schemas.openxmlformats.org/drawingml/2006/main">
            <a:r>
              <a:t>- https://www.aqr.com/Insights/Research/Journal-Article/Time-Series-Momentum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Project/Time-Series-Modeling-Gen5/literature_studies/docs/GEN5_LIT_MOM_01_1_INTERDAY_MOMENTUM_RESULTS.md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Project/Time-Series-Modeling-Gen5/literature_studies/docs/GEN5_LIT_MOM_01_4_MULTI_MARKET_PREDICTOR_ATLAS_RESULTS.md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Fleet versus leaf is an operator-facing intuition developed in the 2026-09-02 huddle. The academic sources establish portfolio-level cross-sectional and time-series momentum evidence; the metaphor is original to this discussion.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  <a:p xmlns:a="http://schemas.openxmlformats.org/drawingml/2006/main">
            <a:r>
              <a:t>- https://doi.org/10.1111/j.1540-6261.1993.tb04702.x</a:t>
            </a:r>
          </a:p>
          <a:p xmlns:a="http://schemas.openxmlformats.org/drawingml/2006/main">
            <a:r>
              <a:t>- https://www.aqr.com/Insights/Research/Journal-Article/Time-Series-Momentum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formulas are compact operator-facing statements of three distinct estimands. They are not asserted to be interchangeable.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https://doi.org/10.1111/j.1540-6261.1993.tb04702.x</a:t>
            </a:r>
          </a:p>
          <a:p xmlns:a="http://schemas.openxmlformats.org/drawingml/2006/main">
            <a:r>
              <a:t>- https://www.aqr.com/Insights/Research/Journal-Article/Time-Series-Momentum</a:t>
            </a:r>
          </a:p>
          <a:p xmlns:a="http://schemas.openxmlformats.org/drawingml/2006/main">
            <a:r>
              <a:t>- C:/Users/Franc/OneDrive/Documents/Francis/Peltata Project/Time-Series-Modeling-Gen5/AGENTS.md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explanations for why the stopped Gen5 implementations do not falsify the broader momentum literature. They do not rescue any stopped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Project/Time-Series-Modeling-Gen5/literature_studies/docs/GEN5_LIT_MOM_01_1_INTERDAY_MOMENTUM_RESULTS.md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Project/Time-Series-Modeling-Gen5/literature_studies/docs/GEN5_LIT_MOM_01_4_MULTI_MARKET_PREDICTOR_ATLAS_RESULTS.md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Project/Time-Series-Modeling-Gen5/literature_studies/docs/GEN5_LIT_MOM_01_2_AUDIT_01_EXPOSURE_SELECTION_RESULTS.md</a:t>
            </a:r>
          </a:p>
          <a:p xmlns:a="http://schemas.openxmlformats.org/drawingml/2006/main">
            <a:r>
              <a:t>- https://www.nber.org/papers/w20439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baseline ladder reflects Gen5's prior long-only attribution work and its no-trade-first research contract.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Project/Time-Series-Modeling-Gen5/literature_studies/docs/GEN5_LIT_MOM_01_2_AUDIT_01_EXPOSURE_SELECTION_RESULTS.md</a:t>
            </a:r>
          </a:p>
          <a:p xmlns:a="http://schemas.openxmlformats.org/drawingml/2006/main">
            <a:r>
              <a:t>- C:/Users/Franc/OneDrive/Documents/Francis/Peltata Project/Time-Series-Modeling-Gen5/AGENTS.md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persistence mechanisms are plausible interpretations, not proof that the specific Quantpedia implementation will survive Gen5 replication.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https://www.aqr.com/Insights/Research/Journal-Article/Time-Series-Momentum</a:t>
            </a:r>
          </a:p>
          <a:p xmlns:a="http://schemas.openxmlformats.org/drawingml/2006/main">
            <a:r>
              <a:t>- https://www.nber.org/papers/w20439</a:t>
            </a:r>
          </a:p>
          <a:p xmlns:a="http://schemas.openxmlformats.org/drawingml/2006/main">
            <a:r>
              <a:t>- https://doi.org/10.2139/ssrn.2042750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 dual momentum, 'dual' means relative plus absolute momentum. The published 10- and 25-week sleeves are an additional horizon ensemble.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https://doi.org/10.2139/ssrn.2042750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https://quantpedia.com/dual-vs-single-momentum-in-commodities-enhancing-risk-adjusted-returns-through-absolute-trend-filtering/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visible rule reproduces the May 2026 Quantpedia GTAA article referenced by the July 2026 video. It records the publisher's mechanics, not Gen5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https://www.youtube.com/watch?v=c1HDiohiqLU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Inference: because the article evaluates numerous lookbacks and selection breadths before choosing the final specification, its 2008-2026 results are discovery/replication evidence rather than untouched confirmation. Clean temporal evidence begins after the source cutoff and publication.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https://www.youtube.com/watch?v=c1HDiohiqLU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proposed first technical slice. It is narrower than a backtest: the output is an auditable signal/allocation tape and operator-facing visual sanity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C:/Users/Franc/OneDrive/Documents/Francis/Peltata Project/Time-Series-Modeling-Gen5/AGENTS.md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equal-weight benchmark is publisher-aligned. The relative-only, absolute-only, and cash controls are Gen5 attribution devices and are not claimed as part of the published final strategy.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https://quantpedia.com/dual-vs-single-momentum-in-commodities-enhancing-risk-adjusted-returns-through-absolute-trend-filtering/</a:t>
            </a:r>
          </a:p>
          <a:p xmlns:a="http://schemas.openxmlformats.org/drawingml/2006/main">
            <a:r>
              <a:t>- C:/Users/Franc/OneDrive/Documents/Francis/Peltata Project/Time-Series-Modeling-Gen5/AGENTS.md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progression preserves Gen5's research-to-execution separation. Performance analysis, strategy promotion, leverage, and live behavior require later operator gates.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Project/Time-Series-Modeling-Gen5/AGENTS.md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closing slide freezes the study classification and next slice. Future evidence slides should be appended after the mechanics packet is generated and inspected.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https://www.youtube.com/watch?v=c1HDiohiqLU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https://doi.org/10.1111/j.1540-6261.1993.tb04702.x</a:t>
            </a:r>
          </a:p>
          <a:p xmlns:a="http://schemas.openxmlformats.org/drawingml/2006/main">
            <a:r>
              <a:t>- https://www.aqr.com/Insights/Research/Journal-Article/Time-Series-Momentum</a:t>
            </a:r>
          </a:p>
          <a:p xmlns:a="http://schemas.openxmlformats.org/drawingml/2006/main">
            <a:r>
              <a:t>- C:/Users/Franc/OneDrive/Documents/Francis/Peltata Project/Time-Series-Modeling-Gen5/literature_studies/docs/GEN5_LITERATURE_GROUNDED_STRATEGY_RESEARCH_NOMENCLATURE.md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722aa803d04f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7b26fe1b264be2" /><Relationship Type="http://schemas.openxmlformats.org/officeDocument/2006/relationships/slideLayout" Target="/ppt/slideLayouts/slideLayout1.xml" Id="Rf63350cd78af4e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3350cd78af4e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eb85351655483d" /><Relationship Type="http://schemas.openxmlformats.org/officeDocument/2006/relationships/notesSlide" Target="/ppt/notesSlides/notesSlide1.xml" Id="R727477e0479547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fcb3e418e84bab" /><Relationship Type="http://schemas.openxmlformats.org/officeDocument/2006/relationships/notesSlide" Target="/ppt/notesSlides/notesSlide2.xml" Id="R36908b98a2dd4d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1c4adc0ad4469" /><Relationship Type="http://schemas.openxmlformats.org/officeDocument/2006/relationships/notesSlide" Target="/ppt/notesSlides/notesSlide3.xml" Id="Rdc753062f14242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ab28efa756409c" /><Relationship Type="http://schemas.openxmlformats.org/officeDocument/2006/relationships/notesSlide" Target="/ppt/notesSlides/notesSlide4.xml" Id="Rc32b20e129174f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2301bb9fce46f1" /><Relationship Type="http://schemas.openxmlformats.org/officeDocument/2006/relationships/notesSlide" Target="/ppt/notesSlides/notesSlide5.xml" Id="R19c9768a2de0447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75ca87c6e64cf5" /><Relationship Type="http://schemas.openxmlformats.org/officeDocument/2006/relationships/notesSlide" Target="/ppt/notesSlides/notesSlide6.xml" Id="R0e172881893249c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238e614d0649ac" /><Relationship Type="http://schemas.openxmlformats.org/officeDocument/2006/relationships/notesSlide" Target="/ppt/notesSlides/notesSlide7.xml" Id="Re02331fcfff84ac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8bd126cd1a41ed" /><Relationship Type="http://schemas.openxmlformats.org/officeDocument/2006/relationships/notesSlide" Target="/ppt/notesSlides/notesSlide8.xml" Id="R629f411ff9854d2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d9b15d6f8405a" /><Relationship Type="http://schemas.openxmlformats.org/officeDocument/2006/relationships/notesSlide" Target="/ppt/notesSlides/notesSlide9.xml" Id="Rad63809e8757428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d7c9bb0cd146a7" /><Relationship Type="http://schemas.openxmlformats.org/officeDocument/2006/relationships/notesSlide" Target="/ppt/notesSlides/notesSlide10.xml" Id="R170dfc17d293432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1ad2a4de644eba" /><Relationship Type="http://schemas.openxmlformats.org/officeDocument/2006/relationships/notesSlide" Target="/ppt/notesSlides/notesSlide11.xml" Id="Rd790f917eb5b42b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6fd332ef9c47c0" /><Relationship Type="http://schemas.openxmlformats.org/officeDocument/2006/relationships/notesSlide" Target="/ppt/notesSlides/notesSlide12.xml" Id="Rec4e0d23071a482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2688f0e4e041df" /><Relationship Type="http://schemas.openxmlformats.org/officeDocument/2006/relationships/notesSlide" Target="/ppt/notesSlides/notesSlide13.xml" Id="R4c9c0299681a4b7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0c31fb5a63478a" /><Relationship Type="http://schemas.openxmlformats.org/officeDocument/2006/relationships/notesSlide" Target="/ppt/notesSlides/notesSlide14.xml" Id="Rbf0e6ad1e731438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C8F16A-1A35-4CA7-943C-329DABD8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LITERATURE-GROUNDED STRATEGY RESEARCH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BA8147F-84EE-437A-BAC9-AC160F06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685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Dual Momentum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E17E48-7862-4323-ABF1-8F1A77D5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666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Why established momentum can coexist with our null results—and how to test the published portfolio rule honestly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7FEF6-0FE2-42EB-882F-0B780480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914400"/>
            <a:ext cx="3695700" cy="445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2C771D-C26D-4B0F-B299-193FE8FA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3906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4E97A2-8ABE-46BA-8501-41176A99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050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2616B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71DCE4-BDC1-49BC-B577-B36E778A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28900"/>
            <a:ext cx="28003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Recent practitioner study + academic momentum literature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E7056F-23F0-4479-BB46-F84F657A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862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2616B"/>
                </a:solidFill>
                <a:latin typeface="Arial"/>
                <a:ea typeface="Arial"/>
                <a:cs typeface="Arial"/>
              </a:rPr>
              <a:t>AUTHORITY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68B99-2739-44EB-BB01-BC1CFC86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2800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Hypothesis and mechanics only</a:t>
            </a:r>
          </a:p>
          <a:p xmlns:a="http://schemas.openxmlformats.org/drawingml/2006/main">
            <a:pPr algn="l">
              <a:defRPr sz="19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No edge claim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26A05F-0CC5-4122-AC21-399C9420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293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Opening study deck · 2 September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995FCF-062E-4146-BD9D-390D99FE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240739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BE501B-F7DF-49FA-A47D-C304324C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F8C7FC40-B95B-4B96-BAD9-B35A1ED8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contradiction is only apparent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9408E-A936-42B7-A93A-6C3849CC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40D5C53F-C379-44CE-96FB-2C87B79F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9C22F-BA3B-44CF-9511-B4BD71A7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ESTABLISHED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E65059-1514-48A7-A238-1120C39B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4476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Momentum appears repeatedly in diversified, carefully constructed portfolios over long samples.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9B7070-3E8D-4697-89D7-55421C79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4476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C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927CF9-8DBD-4087-9706-8FE13922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114800"/>
            <a:ext cx="3867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A weak average tendency can be real.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C9AE98-7934-464E-AD37-AC4F1E89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145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OUR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F28369-7034-43AB-9B93-FB4EC7336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152650"/>
            <a:ext cx="4476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Most of our intuitive daily, intraday, and single-asset variants failed promotion.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F15382-9E54-4AC0-A808-C5552E4D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4476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C7BCFF-B328-48E1-BA68-39400BA2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114800"/>
            <a:ext cx="3867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That does not test the same proposition.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9AC486-BA3F-4838-B39F-374AAB8E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524500"/>
            <a:ext cx="834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unit of analysis, horizon, portfolio construction, and baseline all changed.</a:t>
            </a:r>
          </a:p>
        </p:txBody>
      </p:sp>
    </p:spTree>
    <p:extLst>
      <p:ext uri="{BB962C8B-B14F-4D97-AF65-F5344CB8AC3E}">
        <p14:creationId xmlns:p14="http://schemas.microsoft.com/office/powerpoint/2010/main" val="13474133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E3EB4AA-2DA2-4305-9945-08D8E11B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CD89AFCC-77FE-4A7D-A22A-F3C9F0CA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Momentum is a tailwind across a fleet—not a command over one leaf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3D915C-6AC1-4E4D-A477-43275A6F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52CF65A4-276D-4F2A-85C9-93E23A83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061378-9410-45D6-9E4F-7877A9C3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ONE LEAF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38CBA8-98D4-4479-B92D-44D675199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33337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BBDBA6-D3D7-4F46-A780-0802D9E0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48000"/>
            <a:ext cx="2152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TSLA</a:t>
            </a:r>
          </a:p>
          <a:p xmlns:a="http://schemas.openxmlformats.org/drawingml/2006/main">
            <a:pPr algn="ctr">
              <a:defRPr sz="25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next day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1BDA19-3031-47DB-AA90-BC1508D0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14800"/>
            <a:ext cx="2152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553D"/>
                </a:solidFill>
                <a:latin typeface="Arial"/>
                <a:ea typeface="Arial"/>
                <a:cs typeface="Arial"/>
              </a:rPr>
              <a:t>noise dominates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60178C-003F-4AE9-BE6E-AB4418F1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4512A6-ADD8-4C50-91C7-A1ABEB33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09850"/>
            <a:ext cx="19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A6E3AB-4C10-44DB-B8BA-FA743636A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629150"/>
            <a:ext cx="74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57ED5F-7BDC-499F-B642-84DC7ABF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29100"/>
            <a:ext cx="19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FB4B76-DDD4-42E4-BBBF-35FB4E8E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764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 FLEET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DA2B6A-7695-4624-9D09-B881C122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14550"/>
            <a:ext cx="65722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95D235-A318-44E4-A620-3E53B545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647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5C1F3A-8686-4F8D-98B1-FB129410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762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AAF30B-6F3F-4566-A579-90B58001E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647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E5C359-B250-45C7-B13A-C951A212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62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68F5E1-4BB7-42C3-BEF6-2F566F24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47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81D8C2-F6FF-4E11-A21B-E4E9E4BB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62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B70E7C-A981-4925-82EA-469B79D8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647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EDCB8D-85D2-4FD8-A5CB-FE4227FD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762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FAF644-3F40-4B8E-ADE7-228ECDCB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47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301151-334B-4ACB-8B0E-9F2F2BF6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762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B8EBE4-8F41-48AB-9E10-EADD510C8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09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8FE3B5-DF5E-46F1-A045-0BD88B0B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524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E8EC12-3949-48F7-A0E8-E7AE8AB8E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09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1B825C-296D-4C9C-9F9D-AEB33F77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524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E18E57-B13F-4407-9BCC-1CD82348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09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87ED8C-6B1E-422D-B600-C9F910E5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524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FACC71-0EA3-4802-A00F-5E8755B3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09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C72F99-D9FA-45BA-9E40-0F00A300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524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CA185A-957A-4D05-9D2C-4EA4BE54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409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BAA73E-F202-47C9-A3A0-6E0C47DA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524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641D95-E58F-4BF9-9926-054B5EAD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71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9D0513D-6B53-4DE9-B413-EF2CC5FD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286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D197E2-827D-48BE-9C9F-0C3648C5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71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0CD56E-4A70-492B-83BC-F0F685D2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286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CD9BB71-7693-4DF9-BE94-6F5BEF2B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71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5490AE7-9960-41D4-9633-7659A707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86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8729D08-6DBC-4CCD-9176-A6F73F3C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171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1E46948-71D6-40AC-86EB-EBF5D4AD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286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B33CDF-A2AE-4589-AED3-C1045A16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4171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A0723B-8B85-4BE9-8E27-04DE3307B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86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B669E8A-89F5-4D31-AAC4-C1577A3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648200"/>
            <a:ext cx="508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 slight repeated bias becomes measurable only after many assets and periods are combined.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1700D0-6B1D-4B1B-9952-AF48A03C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600700"/>
            <a:ext cx="864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 portfolio-level tendency can coexist with an almost featureless single-asset scatterplot.</a:t>
            </a:r>
          </a:p>
        </p:txBody>
      </p:sp>
    </p:spTree>
    <p:extLst>
      <p:ext uri="{BB962C8B-B14F-4D97-AF65-F5344CB8AC3E}">
        <p14:creationId xmlns:p14="http://schemas.microsoft.com/office/powerpoint/2010/main" val="4844472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BCA943-CA5B-442E-A9EA-010C5D3B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FA5D2491-C978-4FD9-A11A-FCB9F08B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Three similar-sounding questions test different objects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4BF89-19EF-4F71-A971-8302AD68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E870A8A7-4B08-4461-A2F3-7EC05B331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45B29E-235F-4204-9FB8-2FD201CF8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71650"/>
            <a:ext cx="10896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D005CC-1928-4F39-8EAE-BBE364E0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621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CROSS-SECTIONAL MOMENTUM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9F553-4E30-4046-B38B-6A61EACF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9431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E[future winners − future losers] &gt;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16C930-0FA0-4BD9-B067-815728B6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193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Rank many assets; harvest a relative spread.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F5219D-1B10-45C3-811C-6C3B901C4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81350"/>
            <a:ext cx="10896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FAEE80-3DC8-4B08-97C6-CFD381AA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718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TIME-SERIES MOMENTUM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F91009-DB67-4CD3-B0C3-1DC5414E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528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E[sign(own past return) × own future return] &gt; 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4F3FC1-9A31-4090-9B29-D3CCA10FC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8290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Use one asset's past direction; diversify the bets.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B910F0-BBA6-4EED-B9E3-A5838BD1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10896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B7B671-DC6C-4B53-835C-28A9F427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TRADABLE 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38BA74-FEFC-4DF8-8382-6AE99E81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7625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Net strategy value-add &gt; an attainable baseline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BA5E91-6C51-438D-90E5-F2DE66B9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2387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Add timing, cash, costs, exposure, and an honest comparator.</a:t>
            </a:r>
          </a:p>
        </p:txBody>
      </p:sp>
    </p:spTree>
    <p:extLst>
      <p:ext uri="{BB962C8B-B14F-4D97-AF65-F5344CB8AC3E}">
        <p14:creationId xmlns:p14="http://schemas.microsoft.com/office/powerpoint/2010/main" val="11291917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60A9BF-A78A-46ED-A605-AAA973D05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F29CC2FC-CCBF-494D-883E-98ACE84D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Our tests often asked the hardest version of the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BE36BB-0BA0-410C-B03A-C4E16659D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F7098DD9-BDF9-4E13-81F3-9E870319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18BCD-3E90-47F3-8C8D-48085BD3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314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4797E7-EEB4-4F3F-BEFF-26DD0821A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62150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9AA36-3893-45E5-A02F-B2A11636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431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Single-asset noise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933556-4ACD-43BC-9123-60E04715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57450"/>
            <a:ext cx="390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A small average effect disappears inside one volatile return path.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2C64E6-EAB2-48AA-991A-A400D779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52600"/>
            <a:ext cx="5314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28F598-44E3-4B61-85D4-C7E90036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62150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AAF6FE-C5FD-472C-B13F-63BC9FBF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9431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Fast clocks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A67FFF-5B96-43C8-84A8-77972824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57450"/>
            <a:ext cx="390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Daily and 30-minute outcomes can be dominated by reversal and microstructure noise.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CFFA19-7EF6-4098-A441-6FA1BEEF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314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D64D5F-6500-4C28-9DE1-9849518E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E9769C-84C5-4D9D-9FCC-79EB0347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0957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Long-only constraint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BE662-C042-4892-954A-43C5574A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610100"/>
            <a:ext cx="390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The academic loser leg is unavailable; cash must compete with ownership.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7314F1-12D2-4C1B-A0C0-359A561C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05250"/>
            <a:ext cx="5314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583D88-E03F-4E4A-8036-833596E2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114800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F97CC8-2631-435B-8E80-7A8CB31B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957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High evidence bar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F53EED-89A8-4675-B137-122CE9CF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610100"/>
            <a:ext cx="390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Causal timing, controls, costs, and temporal transport remove fragile wins.</a:t>
            </a:r>
          </a:p>
        </p:txBody>
      </p:sp>
    </p:spTree>
    <p:extLst>
      <p:ext uri="{BB962C8B-B14F-4D97-AF65-F5344CB8AC3E}">
        <p14:creationId xmlns:p14="http://schemas.microsoft.com/office/powerpoint/2010/main" val="20220567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BC65C0-B463-42E5-AA54-9083A0A10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3C412DD0-AB08-4C8F-87AB-D5C88238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Long-only timing must beat ownership—not merely cash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309DD-3F5F-4466-9E47-54DFE4DD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0554FF23-FEBB-413A-B0FA-52ED8FD8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CAF42-2FE8-4A08-A22A-E533C827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An upward-drifting asset gives buy-and-hold a structural head start.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E017E8-FCEC-4E37-8262-36837A20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685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A timing rule can avoid some losses and still lose the comparison by missing rebounds or sitting out drift.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28D070-D70A-4662-98C1-4C4C2838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0F2217-4180-471A-94E1-4FBBE2CB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956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Cash / no trade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410F88-DB09-4F82-84E4-F2205860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95675"/>
            <a:ext cx="676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Did we earn anything at all?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2398AF-EC89-4ADC-8FF8-D7C0C15E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11BE0-D008-42A1-96A3-8EA2F83B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624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Drift baseline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AFBF57-5C0C-47CE-9A4A-A976C8E4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162425"/>
            <a:ext cx="676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Did the predictor add information beyond the average return?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B7509C-6BA8-41A7-925B-39F8C9843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41B31B-7D86-40C3-8037-16849905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291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Matched exposure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8D25C6-F575-403D-9297-67FCAC9EE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29175"/>
            <a:ext cx="676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Was timing better than being invested for the same amount of time?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B3DE74-2353-4CBB-9381-DF496EA0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7210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2CEB7C-FB57-4AA2-9A3C-FB82F974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959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SPY or buy-and-hold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BA82D5-3D35-4ACF-944A-8EE6EDA9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495925"/>
            <a:ext cx="676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Did the long-only rule improve on attainable ownership?</a:t>
            </a:r>
          </a:p>
        </p:txBody>
      </p:sp>
    </p:spTree>
    <p:extLst>
      <p:ext uri="{BB962C8B-B14F-4D97-AF65-F5344CB8AC3E}">
        <p14:creationId xmlns:p14="http://schemas.microsoft.com/office/powerpoint/2010/main" val="18343871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CDEE2F-5275-41AB-AD5A-EF8DC4D6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A3E9A657-0167-44BB-AF2D-975AA688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Academic support does not imply a loud or painless signal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8DF844-6B36-4BF1-B66E-7A840855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7-number">
            <a:extLst xmlns:a="http://schemas.openxmlformats.org/drawingml/2006/main">
              <a:ext uri="{FF2B5EF4-FFF2-40B4-BE49-F238E27FC236}">
                <a16:creationId xmlns:a16="http://schemas.microsoft.com/office/drawing/2014/main" id="{233BBBD9-CC6D-4158-A0B5-20FCCF3A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A332EE-0498-482E-AF55-3AF70AA4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28AB27-D2A6-49EA-83BF-F8FC1A78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FF5B46-49AD-4C14-9738-B5E8BB81B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Weak average bias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87B7FD-1D69-4FDF-B838-EB3A63A7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A small edge becomes visible through breadth, repeated observations, and disciplined aggregation.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4372A5-F655-4402-9A3E-BEBAA1C5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F12E85-75BC-45B9-BEE5-82516E1C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6AE9ED-5913-464A-A5CC-F619B661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Uncomfortable risk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7A6E56-0B73-4840-8599-1934F65E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Momentum can suffer violent reversals; bearing that risk may help the premium persist.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64D816-9A5E-4C0D-950A-D2D56DCE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B7C33D-E700-4989-A8B1-8DE1E848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6B"/>
          </a:solidFill>
          <a:ln xmlns:a="http://schemas.openxmlformats.org/drawingml/2006/main" w="9525">
            <a:solidFill>
              <a:srgbClr val="5261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0707CF-DB32-478D-BB3F-8BBC7BC8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Real-world friction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C4B117-B385-4EDC-A3CF-97401B6F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Costs, mandates, turnover, and tracking error limit how completely institutions arbitrage it.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C5AB1C-E02D-406F-9196-8F362DB9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Public knowledge can compress an effect without making every implementation worthless—or tradable.</a:t>
            </a:r>
          </a:p>
        </p:txBody>
      </p:sp>
    </p:spTree>
    <p:extLst>
      <p:ext uri="{BB962C8B-B14F-4D97-AF65-F5344CB8AC3E}">
        <p14:creationId xmlns:p14="http://schemas.microsoft.com/office/powerpoint/2010/main" val="6170448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F60422-9B61-47E5-852B-210104E6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C650C114-63C2-4006-B6B2-136C31CD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Dual momentum changes the unit of analysis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7EA4F6-227C-4B9A-9E29-D3F3FFC8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8-number">
            <a:extLst xmlns:a="http://schemas.openxmlformats.org/drawingml/2006/main">
              <a:ext uri="{FF2B5EF4-FFF2-40B4-BE49-F238E27FC236}">
                <a16:creationId xmlns:a16="http://schemas.microsoft.com/office/drawing/2014/main" id="{D0C4A8E7-B625-4E0F-8371-817F1CE9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97235C-CBF2-47B9-B1AE-90025B71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074ADF-D5F7-4C74-904D-0764CC7F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A1A59F-E792-43EE-A28C-BDD2BA58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 · Relative 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050069-7CA4-410F-9A62-4300BAB62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Which assets are strongest compared with the rest of the investable fleet?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08960D-E21C-4012-B08D-AF189188C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F70E36-1419-40C5-B28C-7FDF5DBF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68D41B-41C9-4FB3-BA1A-1159F641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2 · Absolute veto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971F61-73AA-4D53-920F-49CC0775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Is each apparent winner actually rising? If not, its sleeve remains cash.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C4E6D4-AA43-4D40-8BB4-F2A01711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89104A-A31C-43F1-B150-D8AB485C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6B"/>
          </a:solidFill>
          <a:ln xmlns:a="http://schemas.openxmlformats.org/drawingml/2006/main" w="9525">
            <a:solidFill>
              <a:srgbClr val="5261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28102D-8EC4-41DE-88E0-5FB003C1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3 · Portfolio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9C003E-DB02-4C14-AE12-5EFA0026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Combine accepted winners across short and long horizons; rebalance weekly.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67929B-2567-4687-8D3C-AAEB388A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29250"/>
            <a:ext cx="10172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Relative momentum finds the winners. Absolute momentum refuses to own a winner that is still losing money.</a:t>
            </a:r>
          </a:p>
        </p:txBody>
      </p:sp>
    </p:spTree>
    <p:extLst>
      <p:ext uri="{BB962C8B-B14F-4D97-AF65-F5344CB8AC3E}">
        <p14:creationId xmlns:p14="http://schemas.microsoft.com/office/powerpoint/2010/main" val="4245106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AB4CD6-A066-4BA6-83E2-7BED7686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204441B9-2B0E-4029-B489-A1293A42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published rule is simple enough to reproduce exactly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4A5C3A-384E-47D6-952B-25278B04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9-number">
            <a:extLst xmlns:a="http://schemas.openxmlformats.org/drawingml/2006/main">
              <a:ext uri="{FF2B5EF4-FFF2-40B4-BE49-F238E27FC236}">
                <a16:creationId xmlns:a16="http://schemas.microsoft.com/office/drawing/2014/main" id="{5EBD817D-F347-40A2-BECC-BF81DCE7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16435F-A773-4C41-B1F9-65A53A46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UNIVERSE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51A465-7554-45A3-89FC-97D4DC09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SHY · IEF · UUP · GLD · USO · SPY · EFA · QQQ · EEM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9F2320-DB88-4F35-8CC6-DB00FC1B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61F531-F8BA-48C3-B110-1E615831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SIGNAL CLOCK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A3F430-BD14-424C-8A98-AA2A7B48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228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Wednesday close</a:t>
            </a:r>
          </a:p>
          <a:p xmlns:a="http://schemas.openxmlformats.org/drawingml/2006/main">
            <a:pPr algn="l"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Weekly rebalance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4B8567-8507-4AD7-A8F3-B7C8821C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670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TWO SLEEVES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99CB67-3B4D-4239-96EC-C5AE0846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24250"/>
            <a:ext cx="228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10-week ROC</a:t>
            </a:r>
          </a:p>
          <a:p xmlns:a="http://schemas.openxmlformats.org/drawingml/2006/main">
            <a:pPr algn="l"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25-week ROC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336303-E925-419F-BA88-E200EA9C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670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SELECTION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7F69DB-3722-4584-ACD7-5794C8CC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228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Top 3 per sleeve</a:t>
            </a:r>
          </a:p>
          <a:p xmlns:a="http://schemas.openxmlformats.org/drawingml/2006/main">
            <a:pPr algn="l"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Positive ROC only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39D33A-5AB2-49E2-BD35-DAC5629E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670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ALLOCATION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376B60-6F16-4D24-AAF8-36D5C9BF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524250"/>
            <a:ext cx="228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50% per sleeve</a:t>
            </a:r>
          </a:p>
          <a:p xmlns:a="http://schemas.openxmlformats.org/drawingml/2006/main">
            <a:pPr algn="l"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Failed slots = cash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A3C9A6-4C13-47A7-A4A9-F8DE7D75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1057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F22369-1F45-4A63-B774-BEF94F90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An ETF selected by both sleeves can receive one-third of the portfolio; one-sleeve selections receive one-sixth.</a:t>
            </a:r>
          </a:p>
        </p:txBody>
      </p:sp>
    </p:spTree>
    <p:extLst>
      <p:ext uri="{BB962C8B-B14F-4D97-AF65-F5344CB8AC3E}">
        <p14:creationId xmlns:p14="http://schemas.microsoft.com/office/powerpoint/2010/main" val="23165142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232C40-58B4-44EA-9680-30505462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57358990-174D-4187-8662-7D0F6085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Recent publication is useful—not independent confirmation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6F5FF1-50CB-4C1C-A838-E4C98DB65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10-number">
            <a:extLst xmlns:a="http://schemas.openxmlformats.org/drawingml/2006/main">
              <a:ext uri="{FF2B5EF4-FFF2-40B4-BE49-F238E27FC236}">
                <a16:creationId xmlns:a16="http://schemas.microsoft.com/office/drawing/2014/main" id="{C5B62B3C-DA1A-4AC0-B2F1-847EBA93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F75B7A-D38B-4F42-9233-C3DF0451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0801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18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E49722-6CA9-454F-B995-8CB7212F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7C3E31-FD7D-4CA8-8C95-46F236B89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098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Feb 2007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3D837E-678E-4066-A05C-1768BC31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History begins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2A093B-8F87-484F-98EE-3799E05A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55D56D-26AD-43B5-8E10-805EC618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098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Mar 25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8DCF0D-53F0-466E-BD40-4DD2FE05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63855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Publisher cutoff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133AA9-FD8E-4764-90B8-D0D3B5D7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A4A68F-2AEB-428E-9036-84DA38DE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6098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May 22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1C3171-E25B-4118-A1AA-133CAF3C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63855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Study published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E0BD8-F56A-44B3-B3C4-18D49730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AC450A-BD3A-49AE-A0F5-C95290E9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098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Jul 12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21BEA2-DDC1-4592-877D-3251D54D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3855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Video published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F70122-CD12-432F-ABF8-1335889D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A6D2ED-E92D-48E1-A139-B46951F1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6098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Sep 2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0639BC-026C-42D1-9C18-79A528E5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63855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Gen5 freeze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ECB32F-9F96-4FFB-9BEB-E30B71CE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62500"/>
            <a:ext cx="97536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24676D-EC8D-456C-B6A4-D2A8CDC3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010150"/>
            <a:ext cx="9029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The final 10/25-week, top-three specification was chosen after inspecting multiple horizons and breadths on the same historical sample.</a:t>
            </a:r>
          </a:p>
        </p:txBody>
      </p:sp>
    </p:spTree>
    <p:extLst>
      <p:ext uri="{BB962C8B-B14F-4D97-AF65-F5344CB8AC3E}">
        <p14:creationId xmlns:p14="http://schemas.microsoft.com/office/powerpoint/2010/main" val="13399832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F9EFBF-A65D-4A1F-A96F-4F4B1E4E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1949FC9B-C88A-491B-A84C-DC3E760D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first POC will expose mechanics before performance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FABA0B-6D80-4454-93A0-9C3EC962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11-number">
            <a:extLst xmlns:a="http://schemas.openxmlformats.org/drawingml/2006/main">
              <a:ext uri="{FF2B5EF4-FFF2-40B4-BE49-F238E27FC236}">
                <a16:creationId xmlns:a16="http://schemas.microsoft.com/office/drawing/2014/main" id="{9EA5A49B-610F-443B-B205-E5A4E94C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7991AD-D723-4BD8-A25B-96372E7D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4DE420-48DA-4CD9-9613-F6E4BCB2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9149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C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3F3B9C-7349-42D8-9987-E659C1C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FAC54E-5B83-4DED-B1EF-45EB27C7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003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Reconstruct weekly Wednesday signals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6EC40E-374C-4C28-9A95-2DB62EF6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06C246-C5AB-4DC0-A199-9B588633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2895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Rank the frozen nine-ETF universe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C7D864-A8A3-44D0-9F6A-C0F90F4D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33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9F5DFB-9D65-41FD-A086-643A9184A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576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Apply the positive-momentum veto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4F6077-E4EE-4856-A422-86DFF8DF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62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6B87FA-9B20-4750-A534-560CFB27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8625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Show allocation and cash tapes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95E9A3-5D7D-439B-853C-DC6A2859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9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24C787-CC8B-48B1-BD93-574CF041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149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Translate to next-open execution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634137-BCC5-4BE1-8588-EAEFD196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764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CLOSED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66FA01-5626-471B-8128-DDE63AEB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49149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C9C99B-EE19-4106-A9DF-E03DE143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765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5A86A4-5C86-42C4-AF06-373B4098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003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new horizon or universe 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8E5C82-9460-4AEA-AE2D-93F79A9F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05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901ECC-8FCB-480B-B131-0D04D632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2895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leverage or volatility targeting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8F3C37-F81E-45D2-A2C9-569115A5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33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875C83-B4D5-4DC1-81C6-5095A992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6576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Sharpe or drawdown gate yet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6C2518-CB8C-4FE1-B51C-AB1D7924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62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293816-6CB8-474A-ACD6-D8A84550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28625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strategy or edge promotion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A1D7DA-A70F-4AFC-8C6E-47108030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9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04342A-C593-423C-906A-D3F2283C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9149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post-hoc rescue from the tape</a:t>
            </a:r>
          </a:p>
        </p:txBody>
      </p:sp>
    </p:spTree>
    <p:extLst>
      <p:ext uri="{BB962C8B-B14F-4D97-AF65-F5344CB8AC3E}">
        <p14:creationId xmlns:p14="http://schemas.microsoft.com/office/powerpoint/2010/main" val="18194896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008667-9CB9-48CD-BB28-E4F7F5C9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FDE0FD4E-1F32-4370-AFE5-5C3C562F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Four controls reveal where any value actually comes from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7A529D-AE16-4051-9BF7-5A81FFC73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12-number">
            <a:extLst xmlns:a="http://schemas.openxmlformats.org/drawingml/2006/main">
              <a:ext uri="{FF2B5EF4-FFF2-40B4-BE49-F238E27FC236}">
                <a16:creationId xmlns:a16="http://schemas.microsoft.com/office/drawing/2014/main" id="{F3C30950-912D-429B-9CA3-B1845E9F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848477-AEDF-4528-81FB-693D3566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71650"/>
            <a:ext cx="5334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E0C725-6145-4DEB-98B2-A1A71D27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193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04FB9F-3B03-489A-A31F-6F474F618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0193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Equal-weight all nine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08EE4E-6513-4578-9B00-233FF213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5908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Does active selection improve on diversified ownership?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5BC203-B498-4367-A293-D38E6000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71650"/>
            <a:ext cx="5334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0F40B1-CD6E-41C5-AAFB-B9C6BC6B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193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66CBDF-E1A1-4D1C-A272-B855830F7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193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Relative-only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096F5A-0EF0-4A42-80CF-18A55F52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908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Does ranking help without the absolute veto?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6762F4-0783-4C1C-A9FE-E0AC0D33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5334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F63E88-2994-48C8-98A3-DEBB3560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B916BA-36DA-4C14-A9A3-B5EDC891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1529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Absolute-only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D81A5B-0910-4446-AF9D-9EFCFDB8B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7244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Does trend permission help without cross-sectional ranking?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80B1AB-3993-4D62-B0A1-8C05567C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05250"/>
            <a:ext cx="5334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779A65-DBF2-4416-8FF2-6731B5E2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1529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06E08E-5FA8-4C85-9233-2851A44A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529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Cash / no trade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3869D4-CC15-4493-B23E-46A13CF9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7244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Does the complete policy earn anything at all?</a:t>
            </a:r>
          </a:p>
        </p:txBody>
      </p:sp>
    </p:spTree>
    <p:extLst>
      <p:ext uri="{BB962C8B-B14F-4D97-AF65-F5344CB8AC3E}">
        <p14:creationId xmlns:p14="http://schemas.microsoft.com/office/powerpoint/2010/main" val="11012558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0A9DAD-B730-4CDA-952D-072ED93F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9FC599A1-89F1-49CA-9BA7-E33ED6E3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Evidence must cross four bridges before this becomes a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97286A-A216-4492-B475-CB5F2D477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13-number">
            <a:extLst xmlns:a="http://schemas.openxmlformats.org/drawingml/2006/main">
              <a:ext uri="{FF2B5EF4-FFF2-40B4-BE49-F238E27FC236}">
                <a16:creationId xmlns:a16="http://schemas.microsoft.com/office/drawing/2014/main" id="{18D6CFEA-C9EF-420A-A2D6-798F104D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003BD3-2D17-4611-A202-987C05B8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05050"/>
            <a:ext cx="23812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943941-A583-4152-AE96-31CC0CC9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194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 · Mechanics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E2119D-8B01-445C-A1F5-6189509D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943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Exact ranks, vetoes, weights, holidays, and allocation tape.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A59CCB-5F66-4184-A675-ECDB7156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32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610025-D0F1-452A-A7D1-F179A5E3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05050"/>
            <a:ext cx="23812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4A4C80-839F-458E-AF9E-BD98805B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47950"/>
            <a:ext cx="194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2 · Causal replay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0504A5-9694-441D-B334-87224EFE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29000"/>
            <a:ext cx="1943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Next-open fills, controls, modest costs, turnover, and drawdown.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717921-4E6F-4DDD-809E-BB0162422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238500"/>
            <a:ext cx="32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AD9474-684E-4E48-AA3B-B6882B99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05050"/>
            <a:ext cx="23812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7497B9-C1FB-426B-8089-26DB014E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47950"/>
            <a:ext cx="194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3 · Robustness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060896-B24A-4271-BD32-344D2863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29000"/>
            <a:ext cx="1943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Subperiods, asset attribution, parameter plateau, and concentration.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937DCA-6E01-4108-B0B1-58F3F187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38500"/>
            <a:ext cx="32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887C29-CE28-4129-B9A9-A511A0CB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05050"/>
            <a:ext cx="23812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B45314-0CD6-451D-8EE2-7ADD8482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7950"/>
            <a:ext cx="194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4 · Forward use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F2A42E-90E7-49AB-A36A-B7591320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429000"/>
            <a:ext cx="1943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Post-publication ledger, frozen decision pack, weekly advice only.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12D414-7A48-4305-A213-C771CA51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429250"/>
            <a:ext cx="807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Historical reproduction can open the next bridge. It cannot skip one.</a:t>
            </a:r>
          </a:p>
        </p:txBody>
      </p:sp>
    </p:spTree>
    <p:extLst>
      <p:ext uri="{BB962C8B-B14F-4D97-AF65-F5344CB8AC3E}">
        <p14:creationId xmlns:p14="http://schemas.microsoft.com/office/powerpoint/2010/main" val="190596139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5101D6-2379-4B55-9AD2-58BCF237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14-title">
            <a:extLst xmlns:a="http://schemas.openxmlformats.org/drawingml/2006/main">
              <a:ext uri="{FF2B5EF4-FFF2-40B4-BE49-F238E27FC236}">
                <a16:creationId xmlns:a16="http://schemas.microsoft.com/office/drawing/2014/main" id="{B943FDA8-FE51-4D27-B40A-31712837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Current decision: reproduce the fleet before judging the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96AA0-C00E-4E42-8CD1-4EB3BF1E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14-number">
            <a:extLst xmlns:a="http://schemas.openxmlformats.org/drawingml/2006/main">
              <a:ext uri="{FF2B5EF4-FFF2-40B4-BE49-F238E27FC236}">
                <a16:creationId xmlns:a16="http://schemas.microsoft.com/office/drawing/2014/main" id="{119FE05B-80F6-45B4-A346-97E8FBAE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39CE2-D535-47A9-92D8-ACEB8F27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8F898C-0E16-4F97-965A-CCC86C54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Literature-sourced hypothesis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86D7ED-A691-4277-B1F8-6B0F2838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49530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The video contributes a recent, explicit implementation. The academic literature supplies the broader mechanism. Neither supplies Gen5 confirmation.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A46CA8-8853-4020-9489-3882D6DF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76400"/>
            <a:ext cx="4762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688088-FA60-4A4C-B061-CC4B20CD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383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VISIBLE SLICE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4F9F39-57E8-4734-9ED0-6137D29C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52700"/>
            <a:ext cx="400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Frozen weekly signal + allocation tape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2D5AC-CFED-4715-A5C9-BC9F8969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33800"/>
            <a:ext cx="4000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Nine ETFs · 10/25 weeks · top three · positive only · next-open translation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F3824A-DAD3-4679-8BCC-C96A52BB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14950"/>
            <a:ext cx="1047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AE8A13-7ADF-4652-A79E-90262EA3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57825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No edge, performance, or strategy claim is open in this deck yet.</a:t>
            </a:r>
          </a:p>
        </p:txBody>
      </p:sp>
    </p:spTree>
    <p:extLst>
      <p:ext uri="{BB962C8B-B14F-4D97-AF65-F5344CB8AC3E}">
        <p14:creationId xmlns:p14="http://schemas.microsoft.com/office/powerpoint/2010/main" val="659385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2026-09-02T20:23:27.7380000Z</dcterms:created>
  <dcterms:modified xsi:type="dcterms:W3CDTF">2026-09-02T20:23:27.7380000Z</dcterms:modified>
</coreProperties>
</file>