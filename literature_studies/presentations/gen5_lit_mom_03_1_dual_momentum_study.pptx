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5ac0d7ffe54a91" /><Relationship Type="http://schemas.openxmlformats.org/officeDocument/2006/relationships/extended-properties" Target="/docProps/app.xml" Id="R385c18113b8a45c6" /><Relationship Type="http://schemas.openxmlformats.org/officeDocument/2006/relationships/officeDocument" Target="/ppt/presentation.xml" Id="R70ca4afb934340f0" /></Relationships>
</file>

<file path=ppt/presentation.xml><?xml version="1.0" encoding="utf-8"?>
<p:presentation xmlns:p="http://schemas.openxmlformats.org/presentationml/2006/main">
  <p:sldMasterIdLst>
    <p:sldMasterId xmlns:r="http://schemas.openxmlformats.org/officeDocument/2006/relationships" id="2147483648" r:id="Rb5e94ffe28194d38"/>
  </p:sldMasterIdLst>
  <p:notesMasterIdLst>
    <p:notesMasterId xmlns:r="http://schemas.openxmlformats.org/officeDocument/2006/relationships" r:id="R19394660097e453b"/>
  </p:notesMasterIdLst>
  <p:sldIdLst>
    <p:sldId xmlns:r="http://schemas.openxmlformats.org/officeDocument/2006/relationships" id="256" r:id="Rff16d336a36b4d07"/>
    <p:sldId xmlns:r="http://schemas.openxmlformats.org/officeDocument/2006/relationships" id="257" r:id="R7e0bff10a1f443bc"/>
    <p:sldId xmlns:r="http://schemas.openxmlformats.org/officeDocument/2006/relationships" id="258" r:id="R15f26f5cd1d049f3"/>
    <p:sldId xmlns:r="http://schemas.openxmlformats.org/officeDocument/2006/relationships" id="259" r:id="R283d69e17d4844b6"/>
    <p:sldId xmlns:r="http://schemas.openxmlformats.org/officeDocument/2006/relationships" id="260" r:id="R306f4e653e1c416d"/>
    <p:sldId xmlns:r="http://schemas.openxmlformats.org/officeDocument/2006/relationships" id="261" r:id="Refd33f11af484a87"/>
    <p:sldId xmlns:r="http://schemas.openxmlformats.org/officeDocument/2006/relationships" id="262" r:id="Ra5a11fca8c204178"/>
    <p:sldId xmlns:r="http://schemas.openxmlformats.org/officeDocument/2006/relationships" id="263" r:id="Raf4f29be857f4a70"/>
    <p:sldId xmlns:r="http://schemas.openxmlformats.org/officeDocument/2006/relationships" id="264" r:id="R559ecea52e774177"/>
    <p:sldId xmlns:r="http://schemas.openxmlformats.org/officeDocument/2006/relationships" id="265" r:id="Rc501f1f2f3594e4a"/>
    <p:sldId xmlns:r="http://schemas.openxmlformats.org/officeDocument/2006/relationships" id="266" r:id="R69418494d56540d0"/>
    <p:sldId xmlns:r="http://schemas.openxmlformats.org/officeDocument/2006/relationships" id="267" r:id="R930f4354dc9a49d8"/>
    <p:sldId xmlns:r="http://schemas.openxmlformats.org/officeDocument/2006/relationships" id="268" r:id="R973e7b16ca5144a9"/>
    <p:sldId xmlns:r="http://schemas.openxmlformats.org/officeDocument/2006/relationships" id="269" r:id="Raff26dbb5a3d42d6"/>
    <p:sldId xmlns:r="http://schemas.openxmlformats.org/officeDocument/2006/relationships" id="270" r:id="R6e98f1f05a01477f"/>
    <p:sldId xmlns:r="http://schemas.openxmlformats.org/officeDocument/2006/relationships" id="271" r:id="R7a2d649341a8453a"/>
    <p:sldId xmlns:r="http://schemas.openxmlformats.org/officeDocument/2006/relationships" id="272" r:id="R05d80ee482ad4a38"/>
    <p:sldId xmlns:r="http://schemas.openxmlformats.org/officeDocument/2006/relationships" id="273" r:id="R69b1ae7d29014257"/>
    <p:sldId xmlns:r="http://schemas.openxmlformats.org/officeDocument/2006/relationships" id="274" r:id="Ra981aad52a7c4bdd"/>
    <p:sldId xmlns:r="http://schemas.openxmlformats.org/officeDocument/2006/relationships" id="275" r:id="Rb7d797d782ab43f1"/>
    <p:sldId xmlns:r="http://schemas.openxmlformats.org/officeDocument/2006/relationships" id="276" r:id="R0b6d5e8ead504e71"/>
    <p:sldId xmlns:r="http://schemas.openxmlformats.org/officeDocument/2006/relationships" id="277" r:id="Rec7a265a76424cf4"/>
    <p:sldId xmlns:r="http://schemas.openxmlformats.org/officeDocument/2006/relationships" id="278" r:id="Rfa221f685c174be9"/>
    <p:sldId xmlns:r="http://schemas.openxmlformats.org/officeDocument/2006/relationships" id="279" r:id="R6a0fa6d36ade48e2"/>
    <p:sldId xmlns:r="http://schemas.openxmlformats.org/officeDocument/2006/relationships" id="280" r:id="R5a05494894cb43f7"/>
    <p:sldId xmlns:r="http://schemas.openxmlformats.org/officeDocument/2006/relationships" id="281" r:id="R5e49ccab04054e27"/>
    <p:sldId xmlns:r="http://schemas.openxmlformats.org/officeDocument/2006/relationships" id="282" r:id="Ra47cda2131bf46f8"/>
    <p:sldId xmlns:r="http://schemas.openxmlformats.org/officeDocument/2006/relationships" id="283" r:id="Reb2f54dde43b4829"/>
    <p:sldId xmlns:r="http://schemas.openxmlformats.org/officeDocument/2006/relationships" id="284" r:id="R3fb9934cd90a4a1e"/>
    <p:sldId xmlns:r="http://schemas.openxmlformats.org/officeDocument/2006/relationships" id="285" r:id="R79896a76c1b941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99e2d8bbde4da2" /><Relationship Type="http://schemas.openxmlformats.org/officeDocument/2006/relationships/slideMaster" Target="/ppt/slideMasters/slideMaster1.xml" Id="Rb5e94ffe28194d38" /><Relationship Type="http://schemas.openxmlformats.org/officeDocument/2006/relationships/notesMaster" Target="/ppt/notesMasters/notesMaster1.xml" Id="R19394660097e453b" /><Relationship Type="http://schemas.openxmlformats.org/officeDocument/2006/relationships/presProps" Target="/ppt/presProps.xml" Id="R680111576c9c403a" /><Relationship Type="http://schemas.openxmlformats.org/officeDocument/2006/relationships/tableStyles" Target="/ppt/tableStyles.xml" Id="R92506e76df0f4ba0" /><Relationship Type="http://schemas.openxmlformats.org/officeDocument/2006/relationships/slide" Target="/ppt/slides/slide1.xml" Id="Rff16d336a36b4d07" /><Relationship Type="http://schemas.openxmlformats.org/officeDocument/2006/relationships/slide" Target="/ppt/slides/slide2.xml" Id="R7e0bff10a1f443bc" /><Relationship Type="http://schemas.openxmlformats.org/officeDocument/2006/relationships/slide" Target="/ppt/slides/slide3.xml" Id="R15f26f5cd1d049f3" /><Relationship Type="http://schemas.openxmlformats.org/officeDocument/2006/relationships/slide" Target="/ppt/slides/slide4.xml" Id="R283d69e17d4844b6" /><Relationship Type="http://schemas.openxmlformats.org/officeDocument/2006/relationships/slide" Target="/ppt/slides/slide5.xml" Id="R306f4e653e1c416d" /><Relationship Type="http://schemas.openxmlformats.org/officeDocument/2006/relationships/slide" Target="/ppt/slides/slide6.xml" Id="Refd33f11af484a87" /><Relationship Type="http://schemas.openxmlformats.org/officeDocument/2006/relationships/slide" Target="/ppt/slides/slide7.xml" Id="Ra5a11fca8c204178" /><Relationship Type="http://schemas.openxmlformats.org/officeDocument/2006/relationships/slide" Target="/ppt/slides/slide8.xml" Id="Raf4f29be857f4a70" /><Relationship Type="http://schemas.openxmlformats.org/officeDocument/2006/relationships/slide" Target="/ppt/slides/slide9.xml" Id="R559ecea52e774177" /><Relationship Type="http://schemas.openxmlformats.org/officeDocument/2006/relationships/slide" Target="/ppt/slides/slide10.xml" Id="Rc501f1f2f3594e4a" /><Relationship Type="http://schemas.openxmlformats.org/officeDocument/2006/relationships/slide" Target="/ppt/slides/slide11.xml" Id="R69418494d56540d0" /><Relationship Type="http://schemas.openxmlformats.org/officeDocument/2006/relationships/slide" Target="/ppt/slides/slide12.xml" Id="R930f4354dc9a49d8" /><Relationship Type="http://schemas.openxmlformats.org/officeDocument/2006/relationships/slide" Target="/ppt/slides/slide13.xml" Id="R973e7b16ca5144a9" /><Relationship Type="http://schemas.openxmlformats.org/officeDocument/2006/relationships/slide" Target="/ppt/slides/slide14.xml" Id="Raff26dbb5a3d42d6" /><Relationship Type="http://schemas.openxmlformats.org/officeDocument/2006/relationships/slide" Target="/ppt/slides/slide15.xml" Id="R6e98f1f05a01477f" /><Relationship Type="http://schemas.openxmlformats.org/officeDocument/2006/relationships/slide" Target="/ppt/slides/slide16.xml" Id="R7a2d649341a8453a" /><Relationship Type="http://schemas.openxmlformats.org/officeDocument/2006/relationships/slide" Target="/ppt/slides/slide17.xml" Id="R05d80ee482ad4a38" /><Relationship Type="http://schemas.openxmlformats.org/officeDocument/2006/relationships/slide" Target="/ppt/slides/slide18.xml" Id="R69b1ae7d29014257" /><Relationship Type="http://schemas.openxmlformats.org/officeDocument/2006/relationships/slide" Target="/ppt/slides/slide19.xml" Id="Ra981aad52a7c4bdd" /><Relationship Type="http://schemas.openxmlformats.org/officeDocument/2006/relationships/slide" Target="/ppt/slides/slide20.xml" Id="Rb7d797d782ab43f1" /><Relationship Type="http://schemas.openxmlformats.org/officeDocument/2006/relationships/slide" Target="/ppt/slides/slide21.xml" Id="R0b6d5e8ead504e71" /><Relationship Type="http://schemas.openxmlformats.org/officeDocument/2006/relationships/slide" Target="/ppt/slides/slide22.xml" Id="Rec7a265a76424cf4" /><Relationship Type="http://schemas.openxmlformats.org/officeDocument/2006/relationships/slide" Target="/ppt/slides/slide23.xml" Id="Rfa221f685c174be9" /><Relationship Type="http://schemas.openxmlformats.org/officeDocument/2006/relationships/slide" Target="/ppt/slides/slide24.xml" Id="R6a0fa6d36ade48e2" /><Relationship Type="http://schemas.openxmlformats.org/officeDocument/2006/relationships/slide" Target="/ppt/slides/slide25.xml" Id="R5a05494894cb43f7" /><Relationship Type="http://schemas.openxmlformats.org/officeDocument/2006/relationships/slide" Target="/ppt/slides/slide26.xml" Id="R5e49ccab04054e27" /><Relationship Type="http://schemas.openxmlformats.org/officeDocument/2006/relationships/slide" Target="/ppt/slides/slide27.xml" Id="Ra47cda2131bf46f8" /><Relationship Type="http://schemas.openxmlformats.org/officeDocument/2006/relationships/slide" Target="/ppt/slides/slide28.xml" Id="Reb2f54dde43b4829" /><Relationship Type="http://schemas.openxmlformats.org/officeDocument/2006/relationships/slide" Target="/ppt/slides/slide29.xml" Id="R3fb9934cd90a4a1e" /><Relationship Type="http://schemas.openxmlformats.org/officeDocument/2006/relationships/slide" Target="/ppt/slides/slide30.xml" Id="R79896a76c1b941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12fdd413884e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3d8c07341445aa" /><Relationship Type="http://schemas.openxmlformats.org/officeDocument/2006/relationships/notesMaster" Target="/ppt/notesMasters/notesMaster1.xml" Id="R105b9ce932114a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615994e0be42ac" /><Relationship Type="http://schemas.openxmlformats.org/officeDocument/2006/relationships/notesMaster" Target="/ppt/notesMasters/notesMaster1.xml" Id="Rca5ee616994948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94428383c142c0" /><Relationship Type="http://schemas.openxmlformats.org/officeDocument/2006/relationships/notesMaster" Target="/ppt/notesMasters/notesMaster1.xml" Id="Rf69549b3999a44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3129edc4c94a37" /><Relationship Type="http://schemas.openxmlformats.org/officeDocument/2006/relationships/notesMaster" Target="/ppt/notesMasters/notesMaster1.xml" Id="Rd0ad15ced2ad4e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c7be6930bc4e77" /><Relationship Type="http://schemas.openxmlformats.org/officeDocument/2006/relationships/notesMaster" Target="/ppt/notesMasters/notesMaster1.xml" Id="R20fc80c03dd94f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007cc0cbb047c4" /><Relationship Type="http://schemas.openxmlformats.org/officeDocument/2006/relationships/notesMaster" Target="/ppt/notesMasters/notesMaster1.xml" Id="Rbdb9665a54af41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a82adf35424603" /><Relationship Type="http://schemas.openxmlformats.org/officeDocument/2006/relationships/notesMaster" Target="/ppt/notesMasters/notesMaster1.xml" Id="R4c18bb89d49c40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cab51417014b4a" /><Relationship Type="http://schemas.openxmlformats.org/officeDocument/2006/relationships/notesMaster" Target="/ppt/notesMasters/notesMaster1.xml" Id="R47b993dade994b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1481c82fa746db" /><Relationship Type="http://schemas.openxmlformats.org/officeDocument/2006/relationships/notesMaster" Target="/ppt/notesMasters/notesMaster1.xml" Id="R4993a61ccc4a4b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ee0fc3b1694626" /><Relationship Type="http://schemas.openxmlformats.org/officeDocument/2006/relationships/notesMaster" Target="/ppt/notesMasters/notesMaster1.xml" Id="Rdbd4e134b662487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0ec60681f04417" /><Relationship Type="http://schemas.openxmlformats.org/officeDocument/2006/relationships/notesMaster" Target="/ppt/notesMasters/notesMaster1.xml" Id="R1fd52fd32c7643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4150b26e07413b" /><Relationship Type="http://schemas.openxmlformats.org/officeDocument/2006/relationships/notesMaster" Target="/ppt/notesMasters/notesMaster1.xml" Id="R2d611d322fad40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8a96e064c94127" /><Relationship Type="http://schemas.openxmlformats.org/officeDocument/2006/relationships/notesMaster" Target="/ppt/notesMasters/notesMaster1.xml" Id="Re25ca33a68f4478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a7a2e587014bcb" /><Relationship Type="http://schemas.openxmlformats.org/officeDocument/2006/relationships/notesMaster" Target="/ppt/notesMasters/notesMaster1.xml" Id="R93ddba122b1c46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1936277c2540ce" /><Relationship Type="http://schemas.openxmlformats.org/officeDocument/2006/relationships/notesMaster" Target="/ppt/notesMasters/notesMaster1.xml" Id="R36b35ace098e40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5e5526e2d64e1a" /><Relationship Type="http://schemas.openxmlformats.org/officeDocument/2006/relationships/notesMaster" Target="/ppt/notesMasters/notesMaster1.xml" Id="Rf5c16f55a1574c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7affff222c49ba" /><Relationship Type="http://schemas.openxmlformats.org/officeDocument/2006/relationships/notesMaster" Target="/ppt/notesMasters/notesMaster1.xml" Id="R499cff59d57e4d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2c1c7277f843c1" /><Relationship Type="http://schemas.openxmlformats.org/officeDocument/2006/relationships/notesMaster" Target="/ppt/notesMasters/notesMaster1.xml" Id="R1d1b5b6cfe184d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b90962ee65b4a63" /><Relationship Type="http://schemas.openxmlformats.org/officeDocument/2006/relationships/notesMaster" Target="/ppt/notesMasters/notesMaster1.xml" Id="Rdd0dab8af62b4e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32837ff107410e" /><Relationship Type="http://schemas.openxmlformats.org/officeDocument/2006/relationships/notesMaster" Target="/ppt/notesMasters/notesMaster1.xml" Id="Rec17c0b8f92640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93280f4e9c4b0b" /><Relationship Type="http://schemas.openxmlformats.org/officeDocument/2006/relationships/notesMaster" Target="/ppt/notesMasters/notesMaster1.xml" Id="R594bd68cdd8445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2ec24664394852" /><Relationship Type="http://schemas.openxmlformats.org/officeDocument/2006/relationships/notesMaster" Target="/ppt/notesMasters/notesMaster1.xml" Id="Re2a80d3a44f744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83e2e2134294080" /><Relationship Type="http://schemas.openxmlformats.org/officeDocument/2006/relationships/notesMaster" Target="/ppt/notesMasters/notesMaster1.xml" Id="Rc9c253186cd64e7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608b6edc5c4283" /><Relationship Type="http://schemas.openxmlformats.org/officeDocument/2006/relationships/notesMaster" Target="/ppt/notesMasters/notesMaster1.xml" Id="R0397e11d2c2e407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d60f334698148f4" /><Relationship Type="http://schemas.openxmlformats.org/officeDocument/2006/relationships/notesMaster" Target="/ppt/notesMasters/notesMaster1.xml" Id="Rcd16e3e2e98e49e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03954ad22d544cd" /><Relationship Type="http://schemas.openxmlformats.org/officeDocument/2006/relationships/notesMaster" Target="/ppt/notesMasters/notesMaster1.xml" Id="R38634ae1650a41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d091b5744094ebe" /><Relationship Type="http://schemas.openxmlformats.org/officeDocument/2006/relationships/notesMaster" Target="/ppt/notesMasters/notesMaster1.xml" Id="R6e6d88716298472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05a59d2d704502" /><Relationship Type="http://schemas.openxmlformats.org/officeDocument/2006/relationships/notesMaster" Target="/ppt/notesMasters/notesMaster1.xml" Id="Ra3a9ee156e40472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640d5ceebf641d7" /><Relationship Type="http://schemas.openxmlformats.org/officeDocument/2006/relationships/notesMaster" Target="/ppt/notesMasters/notesMaster1.xml" Id="Refa964c87c2240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86a87234e124619" /><Relationship Type="http://schemas.openxmlformats.org/officeDocument/2006/relationships/notesMaster" Target="/ppt/notesMasters/notesMaster1.xml" Id="Rf4e2f94b220642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now records the literature hypothesis, mechanics proof, retrospective nine-ETF replay, and descriptive transport POCs across a sector-ETF fleet and eleven static stock-sector fleets. The stock results are survivor-biased and the deck grants no forward authority.</a:t>
            </a:r>
          </a:p>
          <a:p xmlns:a="http://schemas.openxmlformats.org/drawingml/2006/main">
            <a:r>
              <a:t/>
            </a:r>
          </a:p>
          <a:p xmlns:a="http://schemas.openxmlformats.org/drawingml/2006/main">
            <a:r>
              <a:t>[Sources]</a:t>
            </a:r>
          </a:p>
          <a:p xmlns:a="http://schemas.openxmlformats.org/drawingml/2006/main">
            <a:r>
              <a:t>- https://www.youtube.com/watch?v=c1HDiohiqLU</a:t>
            </a:r>
          </a:p>
          <a:p xmlns:a="http://schemas.openxmlformats.org/drawingml/2006/main">
            <a:r>
              <a:t>- https://quantpedia.com/active-dual-momentum-gtaa-strategy/</a:t>
            </a:r>
          </a:p>
          <a:p xmlns:a="http://schemas.openxmlformats.org/drawingml/2006/main">
            <a:r>
              <a:t>- C:/Users/Franc/OneDrive/Documents/Francis/Peltata Project/Time-Series-Modeling-Gen5/literature_studies/docs/GEN5_LIT_MOM_03_2_UNIVERSE_TRANSPORT_RESULTS.md</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separates a broad literature claim from the narrower Gen5 variants already tested.</a:t>
            </a:r>
          </a:p>
          <a:p xmlns:a="http://schemas.openxmlformats.org/drawingml/2006/main">
            <a:r>
              <a:t/>
            </a:r>
          </a:p>
          <a:p xmlns:a="http://schemas.openxmlformats.org/drawingml/2006/main">
            <a:r>
              <a:t>[Sources]</a:t>
            </a:r>
          </a:p>
          <a:p xmlns:a="http://schemas.openxmlformats.org/drawingml/2006/main">
            <a:r>
              <a:t>- https://doi.org/10.1111/j.1540-6261.1993.tb04702.x</a:t>
            </a:r>
          </a:p>
          <a:p xmlns:a="http://schemas.openxmlformats.org/drawingml/2006/main">
            <a:r>
              <a:t>- https://www.aqr.com/Insights/Research/Journal-Article/Time-Series-Momentum</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Project/Time-Series-Modeling-Gen5/literature_studies/docs/GEN5_LIT_MOM_01_4_MULTI_MARKET_PREDICTOR_ATLAS_RESULTS.md</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Fleet versus leaf is an operator-facing intuition developed in the 2026-09-02 huddle. The academic sources establish portfolio-level cross-sectional and time-series momentum evidence; the metaphor is original to this discussion.</a:t>
            </a:r>
          </a:p>
          <a:p xmlns:a="http://schemas.openxmlformats.org/drawingml/2006/main">
            <a:r>
              <a:t/>
            </a:r>
          </a:p>
          <a:p xmlns:a="http://schemas.openxmlformats.org/drawingml/2006/main">
            <a:r>
              <a:t>[Sources]</a:t>
            </a:r>
          </a:p>
          <a:p xmlns:a="http://schemas.openxmlformats.org/drawingml/2006/main">
            <a:r>
              <a:t>- Codex task conversation, 2026-09-02 (operator/assistant momentum interpretation huddle)</a:t>
            </a:r>
          </a:p>
          <a:p xmlns:a="http://schemas.openxmlformats.org/drawingml/2006/main">
            <a:r>
              <a:t>- https://doi.org/10.1111/j.1540-6261.1993.tb04702.x</a:t>
            </a:r>
          </a:p>
          <a:p xmlns:a="http://schemas.openxmlformats.org/drawingml/2006/main">
            <a:r>
              <a:t>- https://www.aqr.com/Insights/Research/Journal-Article/Time-Series-Momentum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formulas are compact operator-facing statements of three distinct estimands. They are not asserted to be interchangeable.</a:t>
            </a:r>
          </a:p>
          <a:p xmlns:a="http://schemas.openxmlformats.org/drawingml/2006/main">
            <a:r>
              <a:t/>
            </a:r>
          </a:p>
          <a:p xmlns:a="http://schemas.openxmlformats.org/drawingml/2006/main">
            <a:r>
              <a:t>[Sources]</a:t>
            </a:r>
          </a:p>
          <a:p xmlns:a="http://schemas.openxmlformats.org/drawingml/2006/main">
            <a:r>
              <a:t>- https://doi.org/10.1111/j.1540-6261.1993.tb04702.x</a:t>
            </a:r>
          </a:p>
          <a:p xmlns:a="http://schemas.openxmlformats.org/drawingml/2006/main">
            <a:r>
              <a:t>- https://www.aqr.com/Insights/Research/Journal-Article/Time-Series-Momentum</a:t>
            </a:r>
          </a:p>
          <a:p xmlns:a="http://schemas.openxmlformats.org/drawingml/2006/main">
            <a:r>
              <a:t>- C:/Users/Franc/OneDrive/Documents/Francis/Peltata Project/Time-Series-Modeling-Gen5/AGENTS.md</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explanations for why the stopped Gen5 implementations do not falsify the broader momentum literature. They do not rescue any stopped rule.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Project/Time-Series-Modeling-Gen5/literature_studies/docs/GEN5_LIT_MOM_01_1_INTERDAY_MOMENTUM_RESULTS.md</a:t>
            </a:r>
          </a:p>
          <a:p xmlns:a="http://schemas.openxmlformats.org/drawingml/2006/main">
            <a:r>
              <a:t>- C:/Users/Franc/OneDrive/Documents/Francis/Peltata Project/Time-Series-Modeling-Gen5/literature_studies/docs/GEN5_LIT_MOM_01_4_MULTI_MARKET_PREDICTOR_ATLAS_RESULTS.md</a:t>
            </a:r>
          </a:p>
          <a:p xmlns:a="http://schemas.openxmlformats.org/drawingml/2006/main">
            <a:r>
              <a:t>- C:/Users/Franc/OneDrive/Documents/Francis/Peltata Project/Time-Series-Modeling-Gen5/literature_studies/docs/GEN5_LIT_MOM_01_2_AUDIT_01_EXPOSURE_SELECTION_RESULTS.md</a:t>
            </a:r>
          </a:p>
          <a:p xmlns:a="http://schemas.openxmlformats.org/drawingml/2006/main">
            <a:r>
              <a:t>- https://www.nber.org/papers/w20439</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ladder reflects Gen5's prior long-only attribution work and its no-trade-first research contract.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Project/Time-Series-Modeling-Gen5/literature_studies/docs/GEN5_LIT_MOM_01_2_AUDIT_01_EXPOSURE_SELECTION_RESULTS.md</a:t>
            </a:r>
          </a:p>
          <a:p xmlns:a="http://schemas.openxmlformats.org/drawingml/2006/main">
            <a:r>
              <a:t>- C:/Users/Franc/OneDrive/Documents/Francis/Peltata Project/Time-Series-Modeling-Gen5/AGENTS.md</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persistence mechanisms are plausible interpretations, not proof that the specific Quantpedia implementation will survive Gen5 replication.</a:t>
            </a:r>
          </a:p>
          <a:p xmlns:a="http://schemas.openxmlformats.org/drawingml/2006/main">
            <a:r>
              <a:t/>
            </a:r>
          </a:p>
          <a:p xmlns:a="http://schemas.openxmlformats.org/drawingml/2006/main">
            <a:r>
              <a:t>[Sources]</a:t>
            </a:r>
          </a:p>
          <a:p xmlns:a="http://schemas.openxmlformats.org/drawingml/2006/main">
            <a:r>
              <a:t>- https://www.aqr.com/Insights/Research/Journal-Article/Time-Series-Momentum</a:t>
            </a:r>
          </a:p>
          <a:p xmlns:a="http://schemas.openxmlformats.org/drawingml/2006/main">
            <a:r>
              <a:t>- https://www.nber.org/papers/w20439</a:t>
            </a:r>
          </a:p>
          <a:p xmlns:a="http://schemas.openxmlformats.org/drawingml/2006/main">
            <a:r>
              <a:t>- https://doi.org/10.2139/ssrn.2042750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dual momentum, 'dual' means relative plus absolute momentum. The published 10- and 25-week sleeves are an additional horizon ensemble.</a:t>
            </a:r>
          </a:p>
          <a:p xmlns:a="http://schemas.openxmlformats.org/drawingml/2006/main">
            <a:r>
              <a:t/>
            </a:r>
          </a:p>
          <a:p xmlns:a="http://schemas.openxmlformats.org/drawingml/2006/main">
            <a:r>
              <a:t>[Sources]</a:t>
            </a:r>
          </a:p>
          <a:p xmlns:a="http://schemas.openxmlformats.org/drawingml/2006/main">
            <a:r>
              <a:t>- https://doi.org/10.2139/ssrn.2042750</a:t>
            </a:r>
          </a:p>
          <a:p xmlns:a="http://schemas.openxmlformats.org/drawingml/2006/main">
            <a:r>
              <a:t>- https://quantpedia.com/active-dual-momentum-gtaa-strategy/</a:t>
            </a:r>
          </a:p>
          <a:p xmlns:a="http://schemas.openxmlformats.org/drawingml/2006/main">
            <a:r>
              <a:t>- https://quantpedia.com/dual-vs-single-momentum-in-commodities-enhancing-risk-adjusted-returns-through-absolute-trend-filtering/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visible rule reproduces the May 2026 Quantpedia GTAA article referenced by the July 2026 video. It records the publisher's mechanics, not Gen5 evidence.</a:t>
            </a:r>
          </a:p>
          <a:p xmlns:a="http://schemas.openxmlformats.org/drawingml/2006/main">
            <a:r>
              <a:t/>
            </a:r>
          </a:p>
          <a:p xmlns:a="http://schemas.openxmlformats.org/drawingml/2006/main">
            <a:r>
              <a:t>[Sources]</a:t>
            </a:r>
          </a:p>
          <a:p xmlns:a="http://schemas.openxmlformats.org/drawingml/2006/main">
            <a:r>
              <a:t>- https://quantpedia.com/active-dual-momentum-gtaa-strategy/</a:t>
            </a:r>
          </a:p>
          <a:p xmlns:a="http://schemas.openxmlformats.org/drawingml/2006/main">
            <a:r>
              <a:t>- https://www.youtube.com/watch?v=c1HDiohiqLU</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Inference: because the article evaluates numerous lookbacks and selection breadths before choosing the final specification, its 2008-2026 results are discovery/replication evidence rather than untouched confirmation. Clean temporal evidence begins after the source cutoff and publication.</a:t>
            </a:r>
          </a:p>
          <a:p xmlns:a="http://schemas.openxmlformats.org/drawingml/2006/main">
            <a:r>
              <a:t/>
            </a:r>
          </a:p>
          <a:p xmlns:a="http://schemas.openxmlformats.org/drawingml/2006/main">
            <a:r>
              <a:t>[Sources]</a:t>
            </a:r>
          </a:p>
          <a:p xmlns:a="http://schemas.openxmlformats.org/drawingml/2006/main">
            <a:r>
              <a:t>- https://quantpedia.com/active-dual-momentum-gtaa-strategy/</a:t>
            </a:r>
          </a:p>
          <a:p xmlns:a="http://schemas.openxmlformats.org/drawingml/2006/main">
            <a:r>
              <a:t>- https://www.youtube.com/watch?v=c1HDiohiqLU</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first technical slice. It is narrower than a backtest: the output is an auditable signal/allocation tape and operator-facing visual sanity check.</a:t>
            </a:r>
          </a:p>
          <a:p xmlns:a="http://schemas.openxmlformats.org/drawingml/2006/main">
            <a:r>
              <a:t/>
            </a:r>
          </a:p>
          <a:p xmlns:a="http://schemas.openxmlformats.org/drawingml/2006/main">
            <a:r>
              <a:t>[Sources]</a:t>
            </a:r>
          </a:p>
          <a:p xmlns:a="http://schemas.openxmlformats.org/drawingml/2006/main">
            <a:r>
              <a:t>- https://quantpedia.com/active-dual-momentum-gtaa-strategy/</a:t>
            </a:r>
          </a:p>
          <a:p xmlns:a="http://schemas.openxmlformats.org/drawingml/2006/main">
            <a:r>
              <a:t>- C:/Users/Franc/OneDrive/Documents/Francis/Peltata Project/Time-Series-Modeling-Gen5/AGENTS.md</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equal-weight benchmark is publisher-aligned. The relative-only, absolute-only, and cash controls are Gen5 attribution devices and are not claimed as part of the published final strategy.</a:t>
            </a:r>
          </a:p>
          <a:p xmlns:a="http://schemas.openxmlformats.org/drawingml/2006/main">
            <a:r>
              <a:t/>
            </a:r>
          </a:p>
          <a:p xmlns:a="http://schemas.openxmlformats.org/drawingml/2006/main">
            <a:r>
              <a:t>[Sources]</a:t>
            </a:r>
          </a:p>
          <a:p xmlns:a="http://schemas.openxmlformats.org/drawingml/2006/main">
            <a:r>
              <a:t>- https://quantpedia.com/active-dual-momentum-gtaa-strategy/</a:t>
            </a:r>
          </a:p>
          <a:p xmlns:a="http://schemas.openxmlformats.org/drawingml/2006/main">
            <a:r>
              <a:t>- https://quantpedia.com/dual-vs-single-momentum-in-commodities-enhancing-risk-adjusted-returns-through-absolute-trend-filtering/</a:t>
            </a:r>
          </a:p>
          <a:p xmlns:a="http://schemas.openxmlformats.org/drawingml/2006/main">
            <a:r>
              <a:t>- C:/Users/Franc/OneDrive/Documents/Francis/Peltata Project/Time-Series-Modeling-Gen5/AGENTS.md</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progression preserves Gen5's research-to-execution separation. Performance analysis, strategy promotion, leverage, and live behavior require later operator gates.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Project/Time-Series-Modeling-Gen5/AGENTS.md</a:t>
            </a:r>
          </a:p>
          <a:p xmlns:a="http://schemas.openxmlformats.org/drawingml/2006/main">
            <a:r>
              <a:t>- https://quantpedia.com/active-dual-momentum-gtaa-strategy/</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closing slide freezes the study classification and next slice. Future evidence slides should be appended after the mechanics packet is generated and inspected.</a:t>
            </a:r>
          </a:p>
          <a:p xmlns:a="http://schemas.openxmlformats.org/drawingml/2006/main">
            <a:r>
              <a:t/>
            </a:r>
          </a:p>
          <a:p xmlns:a="http://schemas.openxmlformats.org/drawingml/2006/main">
            <a:r>
              <a:t>[Sources]</a:t>
            </a:r>
          </a:p>
          <a:p xmlns:a="http://schemas.openxmlformats.org/drawingml/2006/main">
            <a:r>
              <a:t>- https://www.youtube.com/watch?v=c1HDiohiqLU</a:t>
            </a:r>
          </a:p>
          <a:p xmlns:a="http://schemas.openxmlformats.org/drawingml/2006/main">
            <a:r>
              <a:t>- https://quantpedia.com/active-dual-momentum-gtaa-strategy/</a:t>
            </a:r>
          </a:p>
          <a:p xmlns:a="http://schemas.openxmlformats.org/drawingml/2006/main">
            <a:r>
              <a:t>- https://doi.org/10.1111/j.1540-6261.1993.tb04702.x</a:t>
            </a:r>
          </a:p>
          <a:p xmlns:a="http://schemas.openxmlformats.org/drawingml/2006/main">
            <a:r>
              <a:t>- https://www.aqr.com/Insights/Research/Journal-Article/Time-Series-Momentum</a:t>
            </a:r>
          </a:p>
          <a:p xmlns:a="http://schemas.openxmlformats.org/drawingml/2006/main">
            <a:r>
              <a:t>- C:/Users/Franc/OneDrive/Documents/Francis/Peltata Project/Time-Series-Modeling-Gen5/literature_studies/docs/GEN5_LITERATURE_GROUNDED_STRATEGY_RESEARCH_NOMENCLATURE.md</a:t>
            </a:r>
          </a:p>
          <a:p xmlns:a="http://schemas.openxmlformats.org/drawingml/2006/main">
            <a:r>
              <a:t>- Codex task conversation, 2026-09-02 (operator/assistant momentum interpretation huddle)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source-described ranking and allocation rule was reproduced on the clean locally admitted window. The attempted refresh did not supply pre-2016 coverage, so the published 2008-2026 span remains an explicit STOP.</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Project/Time-Series-Modeling-Gen5/runs/research_workbench/literature_grounded/lit_mom_03_1_dual_momentum_mechanics_20260902/mom031_report.md</a:t>
            </a:r>
          </a:p>
          <a:p xmlns:a="http://schemas.openxmlformats.org/drawingml/2006/main">
            <a:r>
              <a:t>- C:/Users/Franc/OneDrive/Documents/Francis/Peltata Project/Time-Series-Modeling-Gen5/literature_studies/R/gen5_lit_mom_03_1_dual_momentum_mechanics.R</a:t>
            </a:r>
          </a:p>
          <a:p xmlns:a="http://schemas.openxmlformats.org/drawingml/2006/main">
            <a:r>
              <a:t>- C:/Users/Franc/OneDrive/Documents/Francis/Peltata Project/Time-Series-Modeling-Gen5/literature_studies/scripts/run_gen5_lit_mom_03_1_dual_momentum_mechanics.R</a:t>
            </a:r>
          </a:p>
          <a:p xmlns:a="http://schemas.openxmlformats.org/drawingml/2006/main">
            <a:r>
              <a:t>- https://quantpedia.com/active-dual-momentum-gtaa-strategy/</a:t>
            </a:r>
          </a:p>
          <a:p xmlns:a="http://schemas.openxmlformats.org/drawingml/2006/main">
            <a:r>
              <a:t>- Codex task conversation, 2026-09-02 (operator approval and mechanics readout)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displays target allocations only. It is not an equity curve and contains no return outcome. Cash appears when one or more top-ranked assets have non-positive momentum in their sleeve.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Project/Time-Series-Modeling-Gen5/runs/research_workbench/literature_grounded/lit_mom_03_1_dual_momentum_mechanics_20260902/mom031_report.md</a:t>
            </a:r>
          </a:p>
          <a:p xmlns:a="http://schemas.openxmlformats.org/drawingml/2006/main">
            <a:r>
              <a:t>- C:/Users/Franc/OneDrive/Documents/Francis/Peltata Project/Time-Series-Modeling-Gen5/runs/research_workbench/literature_grounded/lit_mom_03_1_dual_momentum_mechanics_20260902/mom031_mechanics_summary.csv</a:t>
            </a:r>
          </a:p>
          <a:p xmlns:a="http://schemas.openxmlformats.org/drawingml/2006/main">
            <a:r>
              <a:t>- C:/Users/Franc/OneDrive/Documents/Francis/Peltata Project/Time-Series-Modeling-Gen5/runs/research_workbench/literature_grounded/lit_mom_03_1_dual_momentum_mechanics_20260902/visuals/mom031_allocation_timeline.png</a:t>
            </a:r>
          </a:p>
          <a:p xmlns:a="http://schemas.openxmlformats.org/drawingml/2006/main">
            <a:r>
              <a:t>- Codex task conversation, 2026-09-02 (operator approval and mechanics readout)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dates were frozen before rendering the slide. The overlap count is descriptive of allocation mechanics and does not establish that overlap helped returns.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Project/Time-Series-Modeling-Gen5/runs/research_workbench/literature_grounded/lit_mom_03_1_dual_momentum_mechanics_20260902/mom031_report.md</a:t>
            </a:r>
          </a:p>
          <a:p xmlns:a="http://schemas.openxmlformats.org/drawingml/2006/main">
            <a:r>
              <a:t>- C:/Users/Franc/OneDrive/Documents/Francis/Peltata Project/Time-Series-Modeling-Gen5/runs/research_workbench/literature_grounded/lit_mom_03_1_dual_momentum_mechanics_20260902/mom031_representative_allocations.csv</a:t>
            </a:r>
          </a:p>
          <a:p xmlns:a="http://schemas.openxmlformats.org/drawingml/2006/main">
            <a:r>
              <a:t>- C:/Users/Franc/OneDrive/Documents/Francis/Peltata Project/Time-Series-Modeling-Gen5/runs/research_workbench/literature_grounded/lit_mom_03_1_dual_momentum_mechanics_20260902/mom031_weekly_allocation_tape.csv</a:t>
            </a:r>
          </a:p>
          <a:p xmlns:a="http://schemas.openxmlformats.org/drawingml/2006/main">
            <a:r>
              <a:t>- Codex task conversation, 2026-09-02 (operator approval and mechanics readout)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closes the mechanics-only slice. The next performance gate requires explicit operator authorization under the Gen5 research contract.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Project/Time-Series-Modeling-Gen5/runs/research_workbench/literature_grounded/lit_mom_03_1_dual_momentum_mechanics_20260902/mom031_report.md</a:t>
            </a:r>
          </a:p>
          <a:p xmlns:a="http://schemas.openxmlformats.org/drawingml/2006/main">
            <a:r>
              <a:t>- C:/Users/Franc/OneDrive/Documents/Francis/Peltata Project/Time-Series-Modeling-Gen5/literature_studies/R/gen5_lit_mom_03_1_dual_momentum_mechanics.R</a:t>
            </a:r>
          </a:p>
          <a:p xmlns:a="http://schemas.openxmlformats.org/drawingml/2006/main">
            <a:r>
              <a:t>- C:/Users/Franc/OneDrive/Documents/Francis/Peltata Project/Time-Series-Modeling-Gen5/literature_studies/scripts/run_gen5_lit_mom_03_1_dual_momentum_mechanics.R</a:t>
            </a:r>
          </a:p>
          <a:p xmlns:a="http://schemas.openxmlformats.org/drawingml/2006/main">
            <a:r>
              <a:t>- https://quantpedia.com/active-dual-momentum-gtaa-strategy/</a:t>
            </a:r>
          </a:p>
          <a:p xmlns:a="http://schemas.openxmlformats.org/drawingml/2006/main">
            <a:r>
              <a:t>- Codex task conversation, 2026-09-02 (operator approval and mechanics readout)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begins the authorized economic replay. The left panel describes the complete source rule. The right panel gives the key component-attribution result: the source and relative-only paths were essentially the same.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Project/Time-Series-Modeling-Gen5/runs/research_workbench/literature_grounded/lit_mom_03_1_dual_momentum_replay_20260902/mom031r_report.md</a:t>
            </a:r>
          </a:p>
          <a:p xmlns:a="http://schemas.openxmlformats.org/drawingml/2006/main">
            <a:r>
              <a:t>- C:/Users/Franc/OneDrive/Documents/Francis/Peltata Project/Time-Series-Modeling-Gen5/runs/research_workbench/literature_grounded/lit_mom_03_1_dual_momentum_replay_20260902/mom031r_portfolio_metrics.csv</a:t>
            </a:r>
          </a:p>
          <a:p xmlns:a="http://schemas.openxmlformats.org/drawingml/2006/main">
            <a:r>
              <a:t>- C:/Users/Franc/OneDrive/Documents/Francis/Peltata Project/Time-Series-Modeling-Gen5/runs/research_workbench/literature_grounded/lit_mom_03_1_dual_momentum_replay_20260902/mom031r_source_control_comparisons.csv</a:t>
            </a:r>
          </a:p>
          <a:p xmlns:a="http://schemas.openxmlformats.org/drawingml/2006/main">
            <a:r>
              <a:t>- C:/Users/Franc/OneDrive/Documents/Francis/Peltata Project/Time-Series-Modeling-Gen5/literature_studies/R/gen5_lit_mom_03_1_dual_momentum_replay.R</a:t>
            </a:r>
          </a:p>
          <a:p xmlns:a="http://schemas.openxmlformats.org/drawingml/2006/main">
            <a:r>
              <a:t>- C:/Users/Franc/OneDrive/Documents/Francis/Peltata Project/Time-Series-Modeling-Gen5/literature_studies/scripts/run_gen5_lit_mom_03_1_dual_momentum_replay.R</a:t>
            </a:r>
          </a:p>
          <a:p xmlns:a="http://schemas.openxmlformats.org/drawingml/2006/main">
            <a:r>
              <a:t>- Codex task conversation, 2026-09-02 (operator approval and replay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paths use completed Wednesday-close signals and next-common-open execution. The log-scale chart shows that SPY finished higher, while the source and relative-only lines overlap and experience shallower drawdowns than SPY.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Project/Time-Series-Modeling-Gen5/runs/research_workbench/literature_grounded/lit_mom_03_1_dual_momentum_replay_20260902/mom031r_report.md</a:t>
            </a:r>
          </a:p>
          <a:p xmlns:a="http://schemas.openxmlformats.org/drawingml/2006/main">
            <a:r>
              <a:t>- C:/Users/Franc/OneDrive/Documents/Francis/Peltata Project/Time-Series-Modeling-Gen5/runs/research_workbench/literature_grounded/lit_mom_03_1_dual_momentum_replay_20260902/mom031r_portfolio_metrics.csv</a:t>
            </a:r>
          </a:p>
          <a:p xmlns:a="http://schemas.openxmlformats.org/drawingml/2006/main">
            <a:r>
              <a:t>- C:/Users/Franc/OneDrive/Documents/Francis/Peltata Project/Time-Series-Modeling-Gen5/runs/research_workbench/literature_grounded/lit_mom_03_1_dual_momentum_replay_20260902/visuals/mom031r_growth_of_one.png</a:t>
            </a:r>
          </a:p>
          <a:p xmlns:a="http://schemas.openxmlformats.org/drawingml/2006/main">
            <a:r>
              <a:t>- C:/Users/Franc/OneDrive/Documents/Francis/Peltata Project/Time-Series-Modeling-Gen5/literature_studies/R/gen5_lit_mom_03_1_dual_momentum_replay.R</a:t>
            </a:r>
          </a:p>
          <a:p xmlns:a="http://schemas.openxmlformats.org/drawingml/2006/main">
            <a:r>
              <a:t>- Codex task conversation, 2026-09-02 (operator approval and replay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five-control decomposition prevents the source endpoint from being mistaken for unique dual-momentum value. Source separated from absolute-only and cash after BH, but not from relative-only, equal-weight all nine, or SPY on the frozen weekly-difference test.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Project/Time-Series-Modeling-Gen5/runs/research_workbench/literature_grounded/lit_mom_03_1_dual_momentum_replay_20260902/mom031r_report.md</a:t>
            </a:r>
          </a:p>
          <a:p xmlns:a="http://schemas.openxmlformats.org/drawingml/2006/main">
            <a:r>
              <a:t>- C:/Users/Franc/OneDrive/Documents/Francis/Peltata Project/Time-Series-Modeling-Gen5/runs/research_workbench/literature_grounded/lit_mom_03_1_dual_momentum_replay_20260902/mom031r_portfolio_metrics.csv</a:t>
            </a:r>
          </a:p>
          <a:p xmlns:a="http://schemas.openxmlformats.org/drawingml/2006/main">
            <a:r>
              <a:t>- C:/Users/Franc/OneDrive/Documents/Francis/Peltata Project/Time-Series-Modeling-Gen5/runs/research_workbench/literature_grounded/lit_mom_03_1_dual_momentum_replay_20260902/mom031r_source_control_comparisons.csv</a:t>
            </a:r>
          </a:p>
          <a:p xmlns:a="http://schemas.openxmlformats.org/drawingml/2006/main">
            <a:r>
              <a:t>- Codex task conversation, 2026-09-02 (operator approval and replay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occupied an attractive middle ground: similar CAGR to relative-only, higher CAGR than equal-weight, and lower drawdown than both equal-weight and SPY. It did not dominate SPY because SPY had higher CAGR.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Project/Time-Series-Modeling-Gen5/runs/research_workbench/literature_grounded/lit_mom_03_1_dual_momentum_replay_20260902/mom031r_report.md</a:t>
            </a:r>
          </a:p>
          <a:p xmlns:a="http://schemas.openxmlformats.org/drawingml/2006/main">
            <a:r>
              <a:t>- C:/Users/Franc/OneDrive/Documents/Francis/Peltata Project/Time-Series-Modeling-Gen5/runs/research_workbench/literature_grounded/lit_mom_03_1_dual_momentum_replay_20260902/mom031r_portfolio_metrics.csv</a:t>
            </a:r>
          </a:p>
          <a:p xmlns:a="http://schemas.openxmlformats.org/drawingml/2006/main">
            <a:r>
              <a:t>- C:/Users/Franc/OneDrive/Documents/Francis/Peltata Project/Time-Series-Modeling-Gen5/runs/research_workbench/literature_grounded/lit_mom_03_1_dual_momentum_replay_20260902/visuals/mom031r_risk_return.png</a:t>
            </a:r>
          </a:p>
          <a:p xmlns:a="http://schemas.openxmlformats.org/drawingml/2006/main">
            <a:r>
              <a:t>- Codex task conversation, 2026-09-02 (operator approval and replay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result was not confined to one broad phase: each of 2016-2019, 2020-2022, and 2023-2026 was positive. Calendar-year behavior nevertheless reinforces the attribution result because relative-only follows the source almost exactly.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Project/Time-Series-Modeling-Gen5/runs/research_workbench/literature_grounded/lit_mom_03_1_dual_momentum_replay_20260902/mom031r_report.md</a:t>
            </a:r>
          </a:p>
          <a:p xmlns:a="http://schemas.openxmlformats.org/drawingml/2006/main">
            <a:r>
              <a:t>- C:/Users/Franc/OneDrive/Documents/Francis/Peltata Project/Time-Series-Modeling-Gen5/runs/research_workbench/literature_grounded/lit_mom_03_1_dual_momentum_replay_20260902/mom031r_calendar_years.csv</a:t>
            </a:r>
          </a:p>
          <a:p xmlns:a="http://schemas.openxmlformats.org/drawingml/2006/main">
            <a:r>
              <a:t>- C:/Users/Franc/OneDrive/Documents/Francis/Peltata Project/Time-Series-Modeling-Gen5/runs/research_workbench/literature_grounded/lit_mom_03_1_dual_momentum_replay_20260902/mom031r_phases.csv</a:t>
            </a:r>
          </a:p>
          <a:p xmlns:a="http://schemas.openxmlformats.org/drawingml/2006/main">
            <a:r>
              <a:t>- Codex task conversation, 2026-09-02 (operator approval and replay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the authorized retrospective replay. The evidence supports preserving the relative-rotation clue, but the result is neither an independent replication of the publisher's selected rule nor authority for forward use.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Project/Time-Series-Modeling-Gen5/runs/research_workbench/literature_grounded/lit_mom_03_1_dual_momentum_replay_20260902/mom031r_report.md</a:t>
            </a:r>
          </a:p>
          <a:p xmlns:a="http://schemas.openxmlformats.org/drawingml/2006/main">
            <a:r>
              <a:t>- C:/Users/Franc/OneDrive/Documents/Francis/Peltata Project/Time-Series-Modeling-Gen5/runs/research_workbench/literature_grounded/lit_mom_03_1_dual_momentum_replay_20260902/mom031r_portfolio_metrics.csv</a:t>
            </a:r>
          </a:p>
          <a:p xmlns:a="http://schemas.openxmlformats.org/drawingml/2006/main">
            <a:r>
              <a:t>- C:/Users/Franc/OneDrive/Documents/Francis/Peltata Project/Time-Series-Modeling-Gen5/runs/research_workbench/literature_grounded/lit_mom_03_1_dual_momentum_replay_20260902/mom031r_source_control_comparisons.csv</a:t>
            </a:r>
          </a:p>
          <a:p xmlns:a="http://schemas.openxmlformats.org/drawingml/2006/main">
            <a:r>
              <a:t>- C:/Users/Franc/OneDrive/Documents/Francis/Peltata Project/Time-Series-Modeling-Gen5/literature_studies/docs/GEN5_LIT_MOM_03_1_DUAL_MOMENTUM_REPLAY_RESULTS.md</a:t>
            </a:r>
          </a:p>
          <a:p xmlns:a="http://schemas.openxmlformats.org/drawingml/2006/main">
            <a:r>
              <a:t>- Codex task conversation, 2026-09-02 (operator approval and replay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changes only the ranking fleet while freezing the published mechanics. The clean sector-ETF test and the eleven static stock-sector POCs both challenge broad return transport.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C:/Users/Franc/OneDrive/Documents/Francis/Peltata Project/Time-Series-Modeling-Gen5/runs/research_workbench/literature_grounded/lit_mom_03_2_universe_transport_20260903/mom032_transport_summary.csv</a:t>
            </a:r>
          </a:p>
          <a:p xmlns:a="http://schemas.openxmlformats.org/drawingml/2006/main">
            <a:r>
              <a:t>- C:/Users/Franc/OneDrive/Documents/Francis/Peltata Project/Time-Series-Modeling-Gen5/runs/research_workbench/literature_grounded/lit_mom_03_2_universe_transport_20260903/mom032_portfolio_metrics.csv</a:t>
            </a:r>
          </a:p>
          <a:p xmlns:a="http://schemas.openxmlformats.org/drawingml/2006/main">
            <a:r>
              <a:t>- C:/Users/Franc/OneDrive/Documents/Francis/Peltata Project/Time-Series-Modeling-Gen5/runs/research_workbench/literature_grounded/lit_mom_03_2_universe_transport_20260903/mom032_universe_registry.csv</a:t>
            </a:r>
          </a:p>
          <a:p xmlns:a="http://schemas.openxmlformats.org/drawingml/2006/main">
            <a:r>
              <a:t>- C:/Users/Franc/OneDrive/Documents/Francis/Peltata Project/Time-Series-Modeling-Gen5/literature_studies/R/gen5_lit_mom_03_2_universe_transport.R</a:t>
            </a:r>
          </a:p>
          <a:p xmlns:a="http://schemas.openxmlformats.org/drawingml/2006/main">
            <a:r>
              <a:t>- C:/Users/Franc/OneDrive/Documents/Francis/Peltata Project/Time-Series-Modeling-Gen5/literature_studies/scripts/run_gen5_lit_mom_03_2_universe_transport.R</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universe uses the same causal 10/25-week, top-three, positive-only signal and the same execution and cost convention. XLC is excluded from the sector-ETF fleet because its inception postdates the requested history.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C:/Users/Franc/OneDrive/Documents/Francis/Peltata Project/Time-Series-Modeling-Gen5/runs/research_workbench/literature_grounded/lit_mom_03_2_universe_transport_20260903/mom032_universe_registry.csv</a:t>
            </a:r>
          </a:p>
          <a:p xmlns:a="http://schemas.openxmlformats.org/drawingml/2006/main">
            <a:r>
              <a:t>- C:/Users/Franc/OneDrive/Documents/Francis/Peltata Project/Time-Series-Modeling-Gen5/operator_hypothesis_lab/registries/return_geometry_wide_atlas.csv</a:t>
            </a:r>
          </a:p>
          <a:p xmlns:a="http://schemas.openxmlformats.org/drawingml/2006/main">
            <a:r>
              <a:t>- C:/Users/Franc/OneDrive/Documents/Francis/Peltata Project/Time-Series-Modeling-Gen5/literature_studies/R/gen5_lit_mom_03_2_universe_transport.R</a:t>
            </a:r>
          </a:p>
          <a:p xmlns:a="http://schemas.openxmlformats.org/drawingml/2006/main">
            <a:r>
              <a:t>- C:/Users/Franc/OneDrive/Documents/Francis/Peltata Project/Time-Series-Modeling-Gen5/literature_studies/scripts/run_gen5_lit_mom_03_2_universe_transport.R</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heatmap separates return enhancement from risk shaping. Technology is the only stock fleet with higher source CAGR than equal weight, and its advantage is only 0.43 percentage points. Source drawdown is shallower than equal weight in six of eleven stock sectors.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C:/Users/Franc/OneDrive/Documents/Francis/Peltata Project/Time-Series-Modeling-Gen5/runs/research_workbench/literature_grounded/lit_mom_03_2_universe_transport_20260903/mom032_transport_summary.csv</a:t>
            </a:r>
          </a:p>
          <a:p xmlns:a="http://schemas.openxmlformats.org/drawingml/2006/main">
            <a:r>
              <a:t>- C:/Users/Franc/OneDrive/Documents/Francis/Peltata Project/Time-Series-Modeling-Gen5/runs/research_workbench/literature_grounded/lit_mom_03_2_universe_transport_20260903/mom032_portfolio_metrics.csv</a:t>
            </a:r>
          </a:p>
          <a:p xmlns:a="http://schemas.openxmlformats.org/drawingml/2006/main">
            <a:r>
              <a:t>- C:/Users/Franc/OneDrive/Documents/Francis/Peltata Project/Time-Series-Modeling-Gen5/runs/research_workbench/literature_grounded/lit_mom_03_2_universe_transport_20260903/visuals/mom032_transport_scorecard.png</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Unlike the nine-ETF replay, the absolute gate is active across these fleets. It lowers CAGR in every fleet while improving maximum drawdown in nine of twelve, revealing a repeated defense-for-return tradeoff rather than free incremental alpha.</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C:/Users/Franc/OneDrive/Documents/Francis/Peltata Project/Time-Series-Modeling-Gen5/runs/research_workbench/literature_grounded/lit_mom_03_2_universe_transport_20260903/mom032_transport_summary.csv</a:t>
            </a:r>
          </a:p>
          <a:p xmlns:a="http://schemas.openxmlformats.org/drawingml/2006/main">
            <a:r>
              <a:t>- C:/Users/Franc/OneDrive/Documents/Francis/Peltata Project/Time-Series-Modeling-Gen5/runs/research_workbench/literature_grounded/lit_mom_03_2_universe_transport_20260903/mom032_portfolio_metrics.csv</a:t>
            </a:r>
          </a:p>
          <a:p xmlns:a="http://schemas.openxmlformats.org/drawingml/2006/main">
            <a:r>
              <a:t>- C:/Users/Franc/OneDrive/Documents/Francis/Peltata Project/Time-Series-Modeling-Gen5/runs/research_workbench/literature_grounded/lit_mom_03_2_universe_transport_20260903/visuals/mom032_component_attribution.png</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Stock portfolios are a legitimate way to test whether a ranking principle is mechanically asset-agnostic. Here, however, the membership list is conditioned on present availability and complete history, so it is explicitly exploratory rather than a clean confirmation panel.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C:/Users/Franc/OneDrive/Documents/Francis/Peltata Project/Time-Series-Modeling-Gen5/runs/research_workbench/literature_grounded/lit_mom_03_2_universe_transport_20260903/mom032_transport_summary.csv</a:t>
            </a:r>
          </a:p>
          <a:p xmlns:a="http://schemas.openxmlformats.org/drawingml/2006/main">
            <a:r>
              <a:t>- C:/Users/Franc/OneDrive/Documents/Francis/Peltata Project/Time-Series-Modeling-Gen5/runs/research_workbench/literature_grounded/lit_mom_03_2_universe_transport_20260903/mom032_universe_registry.csv</a:t>
            </a:r>
          </a:p>
          <a:p xmlns:a="http://schemas.openxmlformats.org/drawingml/2006/main">
            <a:r>
              <a:t>- C:/Users/Franc/OneDrive/Documents/Francis/Peltata Project/Time-Series-Modeling-Gen5/operator_hypothesis_lab/registries/return_geometry_wide_atlas.csv</a:t>
            </a:r>
          </a:p>
          <a:p xmlns:a="http://schemas.openxmlformats.org/drawingml/2006/main">
            <a:r>
              <a:t>- C:/Users/Franc/OneDrive/Documents/Francis/Peltata Project/Time-Series-Modeling-Gen5/literature_studies/docs/GEN5_LIT_MOM_03_2_UNIVERSE_TRANSPORT_RESULTS.md</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mechanics are not ETF-specific, but their economic value is universe-specific. The cleanest transported finding is that the absolute gate trades return for defense. A new research gate is required before testing a broad stock fleet or alternative risk controls.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Project/Time-Series-Modeling-Gen5/runs/research_workbench/literature_grounded/lit_mom_03_2_universe_transport_20260903/mom032_report.md</a:t>
            </a:r>
          </a:p>
          <a:p xmlns:a="http://schemas.openxmlformats.org/drawingml/2006/main">
            <a:r>
              <a:t>- C:/Users/Franc/OneDrive/Documents/Francis/Peltata Project/Time-Series-Modeling-Gen5/runs/research_workbench/literature_grounded/lit_mom_03_2_universe_transport_20260903/mom032_transport_summary.csv</a:t>
            </a:r>
          </a:p>
          <a:p xmlns:a="http://schemas.openxmlformats.org/drawingml/2006/main">
            <a:r>
              <a:t>- C:/Users/Franc/OneDrive/Documents/Francis/Peltata Project/Time-Series-Modeling-Gen5/runs/research_workbench/literature_grounded/lit_mom_03_2_universe_transport_20260903/mom032_portfolio_metrics.csv</a:t>
            </a:r>
          </a:p>
          <a:p xmlns:a="http://schemas.openxmlformats.org/drawingml/2006/main">
            <a:r>
              <a:t>- C:/Users/Franc/OneDrive/Documents/Francis/Peltata Project/Time-Series-Modeling-Gen5/literature_studies/docs/GEN5_LIT_MOM_03_2_UNIVERSE_TRANSPORT_RESULTS.md</a:t>
            </a:r>
          </a:p>
          <a:p xmlns:a="http://schemas.openxmlformats.org/drawingml/2006/main">
            <a:r>
              <a:t>- C:/Users/Franc/OneDrive/Documents/Francis/Peltata Project/Time-Series-Modeling-Gen5/literature_studies/R/gen5_lit_mom_03_2_universe_transport.R</a:t>
            </a:r>
          </a:p>
          <a:p xmlns:a="http://schemas.openxmlformats.org/drawingml/2006/main">
            <a:r>
              <a:t>- C:/Users/Franc/OneDrive/Documents/Francis/Peltata Project/Time-Series-Modeling-Gen5/literature_studies/scripts/run_gen5_lit_mom_03_2_universe_transport.R</a:t>
            </a:r>
          </a:p>
          <a:p xmlns:a="http://schemas.openxmlformats.org/drawingml/2006/main">
            <a:r>
              <a:t>- Codex task conversation, 2026-09-03 (operator approval and transport interpretation)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f310d74b8b43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327f28d5f94bf3" /><Relationship Type="http://schemas.openxmlformats.org/officeDocument/2006/relationships/slideLayout" Target="/ppt/slideLayouts/slideLayout1.xml" Id="Red431e6d64d5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431e6d64d5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613228b19d483b" /><Relationship Type="http://schemas.openxmlformats.org/officeDocument/2006/relationships/notesSlide" Target="/ppt/notesSlides/notesSlide1.xml" Id="R2140687bc95e45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3ee3a673c14292" /><Relationship Type="http://schemas.openxmlformats.org/officeDocument/2006/relationships/notesSlide" Target="/ppt/notesSlides/notesSlide2.xml" Id="R0940f7e639cc44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ea2cd4ea0e34bb0" /><Relationship Type="http://schemas.openxmlformats.org/officeDocument/2006/relationships/notesSlide" Target="/ppt/notesSlides/notesSlide3.xml" Id="Ree0a53b403ac40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a9707cd9c8409a" /><Relationship Type="http://schemas.openxmlformats.org/officeDocument/2006/relationships/notesSlide" Target="/ppt/notesSlides/notesSlide4.xml" Id="R798bf68e5d1943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20ec6aa1324b44" /><Relationship Type="http://schemas.openxmlformats.org/officeDocument/2006/relationships/notesSlide" Target="/ppt/notesSlides/notesSlide5.xml" Id="R29f148cf56d247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6fa203ced84056" /><Relationship Type="http://schemas.openxmlformats.org/officeDocument/2006/relationships/notesSlide" Target="/ppt/notesSlides/notesSlide6.xml" Id="R34585dc6562c4b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0eddd38d004b39" /><Relationship Type="http://schemas.openxmlformats.org/officeDocument/2006/relationships/notesSlide" Target="/ppt/notesSlides/notesSlide7.xml" Id="Re98273653a6142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17f6ade80e454f" /><Relationship Type="http://schemas.openxmlformats.org/officeDocument/2006/relationships/notesSlide" Target="/ppt/notesSlides/notesSlide8.xml" Id="Rd8c3e01dd0cc45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17e01016d344e49" /><Relationship Type="http://schemas.openxmlformats.org/officeDocument/2006/relationships/notesSlide" Target="/ppt/notesSlides/notesSlide9.xml" Id="Rc939cd9c2ca34d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85d367136147be" /><Relationship Type="http://schemas.openxmlformats.org/officeDocument/2006/relationships/notesSlide" Target="/ppt/notesSlides/notesSlide10.xml" Id="R0346c8937c88475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de3e22bff1413d" /><Relationship Type="http://schemas.openxmlformats.org/officeDocument/2006/relationships/notesSlide" Target="/ppt/notesSlides/notesSlide11.xml" Id="R9f3ee7d4d5f041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0d6a7e422f4ac5" /><Relationship Type="http://schemas.openxmlformats.org/officeDocument/2006/relationships/notesSlide" Target="/ppt/notesSlides/notesSlide12.xml" Id="R95fe3ae513fc4f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ea1ef474784d16" /><Relationship Type="http://schemas.openxmlformats.org/officeDocument/2006/relationships/notesSlide" Target="/ppt/notesSlides/notesSlide13.xml" Id="Rb5376a5b624747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46f90563a34ae5" /><Relationship Type="http://schemas.openxmlformats.org/officeDocument/2006/relationships/notesSlide" Target="/ppt/notesSlides/notesSlide14.xml" Id="R1fb04c04495744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40d842401064fef" /><Relationship Type="http://schemas.openxmlformats.org/officeDocument/2006/relationships/notesSlide" Target="/ppt/notesSlides/notesSlide15.xml" Id="Rd6a98de1d0e641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5bd3346cb24a6d" /><Relationship Type="http://schemas.openxmlformats.org/officeDocument/2006/relationships/image" Target="/ppt/media/image.png" Id="R140b277587264f00" /><Relationship Type="http://schemas.openxmlformats.org/officeDocument/2006/relationships/notesSlide" Target="/ppt/notesSlides/notesSlide16.xml" Id="R3ce89d59df094e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34747acd6e45e2" /><Relationship Type="http://schemas.openxmlformats.org/officeDocument/2006/relationships/image" Target="/ppt/media/image2.png" Id="R0c45ba86dc7e4f4c" /><Relationship Type="http://schemas.openxmlformats.org/officeDocument/2006/relationships/notesSlide" Target="/ppt/notesSlides/notesSlide17.xml" Id="Rcb348a408da44c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4440cb39994e55" /><Relationship Type="http://schemas.openxmlformats.org/officeDocument/2006/relationships/notesSlide" Target="/ppt/notesSlides/notesSlide18.xml" Id="R0147b1ba4b114a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91a484c1234235" /><Relationship Type="http://schemas.openxmlformats.org/officeDocument/2006/relationships/notesSlide" Target="/ppt/notesSlides/notesSlide19.xml" Id="Rfc1026c45a344c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0388c3c84b64740" /><Relationship Type="http://schemas.openxmlformats.org/officeDocument/2006/relationships/image" Target="/ppt/media/image3.png" Id="R2f43510b0ca94b09" /><Relationship Type="http://schemas.openxmlformats.org/officeDocument/2006/relationships/notesSlide" Target="/ppt/notesSlides/notesSlide20.xml" Id="R0d58ceec98a24ff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a3dfdfad8a54af9" /><Relationship Type="http://schemas.openxmlformats.org/officeDocument/2006/relationships/notesSlide" Target="/ppt/notesSlides/notesSlide21.xml" Id="Ra67541e01c5f4e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2ba62ead5bc4d2a" /><Relationship Type="http://schemas.openxmlformats.org/officeDocument/2006/relationships/image" Target="/ppt/media/image4.png" Id="Rf58f8bc329064bf7" /><Relationship Type="http://schemas.openxmlformats.org/officeDocument/2006/relationships/notesSlide" Target="/ppt/notesSlides/notesSlide22.xml" Id="R807a66678d7c43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cb9e7c04ecb4795" /><Relationship Type="http://schemas.openxmlformats.org/officeDocument/2006/relationships/notesSlide" Target="/ppt/notesSlides/notesSlide23.xml" Id="R1e855359b50848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faab907b9854159" /><Relationship Type="http://schemas.openxmlformats.org/officeDocument/2006/relationships/notesSlide" Target="/ppt/notesSlides/notesSlide24.xml" Id="R79e8582f3ba140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0b6e6b48ce64219" /><Relationship Type="http://schemas.openxmlformats.org/officeDocument/2006/relationships/notesSlide" Target="/ppt/notesSlides/notesSlide25.xml" Id="R6820ef5c18b140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d0619011a044ea6" /><Relationship Type="http://schemas.openxmlformats.org/officeDocument/2006/relationships/notesSlide" Target="/ppt/notesSlides/notesSlide26.xml" Id="R3e0670ca9e974a3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34d0f95fb02491d" /><Relationship Type="http://schemas.openxmlformats.org/officeDocument/2006/relationships/image" Target="/ppt/media/image5.png" Id="R7dda10e836344b63" /><Relationship Type="http://schemas.openxmlformats.org/officeDocument/2006/relationships/notesSlide" Target="/ppt/notesSlides/notesSlide27.xml" Id="R8179b6534b704fc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15bf539f71f41c4" /><Relationship Type="http://schemas.openxmlformats.org/officeDocument/2006/relationships/image" Target="/ppt/media/image6.png" Id="Raaa4c7bcea1b4967" /><Relationship Type="http://schemas.openxmlformats.org/officeDocument/2006/relationships/notesSlide" Target="/ppt/notesSlides/notesSlide28.xml" Id="Rb720be21084749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9f7f4fa6fc3478e" /><Relationship Type="http://schemas.openxmlformats.org/officeDocument/2006/relationships/notesSlide" Target="/ppt/notesSlides/notesSlide29.xml" Id="Rd126871ac15a4aa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1099d78768e4e98" /><Relationship Type="http://schemas.openxmlformats.org/officeDocument/2006/relationships/notesSlide" Target="/ppt/notesSlides/notesSlide30.xml" Id="R4743eee4567748d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C8F16A-1A35-4CA7-943C-329DABD86062}"/>
              </a:ext>
            </a:extLst>
          </p:cNvPr>
          <p:cNvSpPr>
            <a:spLocks xmlns:a="http://schemas.openxmlformats.org/drawingml/2006/main" noGrp="1"/>
          </p:cNvSpPr>
          <p:nvPr/>
        </p:nvSpPr>
        <p:spPr>
          <a:xfrm xmlns:a="http://schemas.openxmlformats.org/drawingml/2006/main">
            <a:off x="400050" y="4000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LITERATURE-GROUNDED STRATEGY RESEARCH</a:t>
            </a:r>
          </a:p>
        </p:txBody>
      </p:sp>
      <p:sp>
        <p:nvSpPr>
          <p:cNvPr id="2" name="cover-title">
            <a:extLst xmlns:a="http://schemas.openxmlformats.org/drawingml/2006/main">
              <a:ext uri="{FF2B5EF4-FFF2-40B4-BE49-F238E27FC236}">
                <a16:creationId xmlns:a16="http://schemas.microsoft.com/office/drawing/2014/main" id="{8BA8147F-84EE-437A-BAC9-AC160F06A692}"/>
              </a:ext>
            </a:extLst>
          </p:cNvPr>
          <p:cNvSpPr>
            <a:spLocks xmlns:a="http://schemas.openxmlformats.org/drawingml/2006/main" noGrp="1"/>
          </p:cNvSpPr>
          <p:nvPr/>
        </p:nvSpPr>
        <p:spPr>
          <a:xfrm xmlns:a="http://schemas.openxmlformats.org/drawingml/2006/main">
            <a:off x="400050" y="1352550"/>
            <a:ext cx="6858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100" b="1">
                <a:solidFill>
                  <a:srgbClr val="101820"/>
                </a:solidFill>
                <a:latin typeface="Arial"/>
                <a:ea typeface="Arial"/>
                <a:cs typeface="Arial"/>
              </a:defRPr>
            </a:pPr>
            <a:r>
              <a:rPr sz="5100" b="1">
                <a:solidFill>
                  <a:srgbClr val="101820"/>
                </a:solidFill>
                <a:latin typeface="Arial"/>
                <a:ea typeface="Arial"/>
                <a:cs typeface="Arial"/>
              </a:rPr>
              <a:t>Dual Momentum</a:t>
            </a:r>
          </a:p>
        </p:txBody>
      </p:sp>
      <p:sp>
        <p:nvSpPr>
          <p:cNvPr id="3" name="">
            <a:extLst xmlns:a="http://schemas.openxmlformats.org/drawingml/2006/main">
              <a:ext uri="{FF2B5EF4-FFF2-40B4-BE49-F238E27FC236}">
                <a16:creationId xmlns:a16="http://schemas.microsoft.com/office/drawing/2014/main" id="{08E17E48-7862-4323-ABF1-8F1A77D5A40A}"/>
              </a:ext>
            </a:extLst>
          </p:cNvPr>
          <p:cNvSpPr>
            <a:spLocks xmlns:a="http://schemas.openxmlformats.org/drawingml/2006/main" noGrp="1"/>
          </p:cNvSpPr>
          <p:nvPr/>
        </p:nvSpPr>
        <p:spPr>
          <a:xfrm xmlns:a="http://schemas.openxmlformats.org/drawingml/2006/main">
            <a:off x="400050" y="2705100"/>
            <a:ext cx="6667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0">
                <a:solidFill>
                  <a:srgbClr val="52616B"/>
                </a:solidFill>
                <a:latin typeface="Arial"/>
                <a:ea typeface="Arial"/>
                <a:cs typeface="Arial"/>
              </a:defRPr>
            </a:pPr>
            <a:r>
              <a:rPr sz="2325" b="0">
                <a:solidFill>
                  <a:srgbClr val="52616B"/>
                </a:solidFill>
                <a:latin typeface="Arial"/>
                <a:ea typeface="Arial"/>
                <a:cs typeface="Arial"/>
              </a:rPr>
              <a:t>Why established momentum can coexist with our null results—and how to test the published portfolio rule honestly</a:t>
            </a:r>
          </a:p>
        </p:txBody>
      </p:sp>
      <p:sp>
        <p:nvSpPr>
          <p:cNvPr id="4" name="">
            <a:extLst xmlns:a="http://schemas.openxmlformats.org/drawingml/2006/main">
              <a:ext uri="{FF2B5EF4-FFF2-40B4-BE49-F238E27FC236}">
                <a16:creationId xmlns:a16="http://schemas.microsoft.com/office/drawing/2014/main" id="{A567FEF6-0FE2-42EB-882F-0B7804807AD3}"/>
              </a:ext>
            </a:extLst>
          </p:cNvPr>
          <p:cNvSpPr>
            <a:spLocks xmlns:a="http://schemas.openxmlformats.org/drawingml/2006/main" noGrp="1"/>
          </p:cNvSpPr>
          <p:nvPr/>
        </p:nvSpPr>
        <p:spPr>
          <a:xfrm xmlns:a="http://schemas.openxmlformats.org/drawingml/2006/main">
            <a:off x="7715250" y="914400"/>
            <a:ext cx="3695700" cy="44577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5" name="">
            <a:extLst xmlns:a="http://schemas.openxmlformats.org/drawingml/2006/main">
              <a:ext uri="{FF2B5EF4-FFF2-40B4-BE49-F238E27FC236}">
                <a16:creationId xmlns:a16="http://schemas.microsoft.com/office/drawing/2014/main" id="{882C771D-C26D-4B0F-B299-193FE8FA3A60}"/>
              </a:ext>
            </a:extLst>
          </p:cNvPr>
          <p:cNvSpPr>
            <a:spLocks xmlns:a="http://schemas.openxmlformats.org/drawingml/2006/main" noGrp="1"/>
          </p:cNvSpPr>
          <p:nvPr/>
        </p:nvSpPr>
        <p:spPr>
          <a:xfrm xmlns:a="http://schemas.openxmlformats.org/drawingml/2006/main">
            <a:off x="8096250" y="13906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3D8DFF"/>
                </a:solidFill>
                <a:latin typeface="Arial"/>
                <a:ea typeface="Arial"/>
                <a:cs typeface="Arial"/>
              </a:defRPr>
            </a:pPr>
            <a:r>
              <a:rPr sz="1875" b="1">
                <a:solidFill>
                  <a:srgbClr val="3D8DFF"/>
                </a:solidFill>
                <a:latin typeface="Arial"/>
                <a:ea typeface="Arial"/>
                <a:cs typeface="Arial"/>
              </a:rPr>
              <a:t>LIT-MOM-03.1</a:t>
            </a:r>
          </a:p>
        </p:txBody>
      </p:sp>
      <p:sp>
        <p:nvSpPr>
          <p:cNvPr id="6" name="">
            <a:extLst xmlns:a="http://schemas.openxmlformats.org/drawingml/2006/main">
              <a:ext uri="{FF2B5EF4-FFF2-40B4-BE49-F238E27FC236}">
                <a16:creationId xmlns:a16="http://schemas.microsoft.com/office/drawing/2014/main" id="{9A4E97A2-8ABE-46BA-8501-41176A99764B}"/>
              </a:ext>
            </a:extLst>
          </p:cNvPr>
          <p:cNvSpPr>
            <a:spLocks xmlns:a="http://schemas.openxmlformats.org/drawingml/2006/main" noGrp="1"/>
          </p:cNvSpPr>
          <p:nvPr/>
        </p:nvSpPr>
        <p:spPr>
          <a:xfrm xmlns:a="http://schemas.openxmlformats.org/drawingml/2006/main">
            <a:off x="8096250" y="2305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2616B"/>
                </a:solidFill>
                <a:latin typeface="Arial"/>
                <a:ea typeface="Arial"/>
                <a:cs typeface="Arial"/>
              </a:defRPr>
            </a:pPr>
            <a:r>
              <a:rPr sz="1275" b="1">
                <a:solidFill>
                  <a:srgbClr val="52616B"/>
                </a:solidFill>
                <a:latin typeface="Arial"/>
                <a:ea typeface="Arial"/>
                <a:cs typeface="Arial"/>
              </a:rPr>
              <a:t>SOURCE</a:t>
            </a:r>
          </a:p>
        </p:txBody>
      </p:sp>
      <p:sp>
        <p:nvSpPr>
          <p:cNvPr id="7" name="">
            <a:extLst xmlns:a="http://schemas.openxmlformats.org/drawingml/2006/main">
              <a:ext uri="{FF2B5EF4-FFF2-40B4-BE49-F238E27FC236}">
                <a16:creationId xmlns:a16="http://schemas.microsoft.com/office/drawing/2014/main" id="{1E71DCE4-BDC1-49BC-B577-B36E778A17F5}"/>
              </a:ext>
            </a:extLst>
          </p:cNvPr>
          <p:cNvSpPr>
            <a:spLocks xmlns:a="http://schemas.openxmlformats.org/drawingml/2006/main" noGrp="1"/>
          </p:cNvSpPr>
          <p:nvPr/>
        </p:nvSpPr>
        <p:spPr>
          <a:xfrm xmlns:a="http://schemas.openxmlformats.org/drawingml/2006/main">
            <a:off x="8096250" y="2628900"/>
            <a:ext cx="2800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01820"/>
                </a:solidFill>
                <a:latin typeface="Arial"/>
                <a:ea typeface="Arial"/>
                <a:cs typeface="Arial"/>
              </a:defRPr>
            </a:pPr>
            <a:r>
              <a:rPr sz="1950" b="1">
                <a:solidFill>
                  <a:srgbClr val="101820"/>
                </a:solidFill>
                <a:latin typeface="Arial"/>
                <a:ea typeface="Arial"/>
                <a:cs typeface="Arial"/>
              </a:rPr>
              <a:t>Recent practitioner study + academic momentum literature</a:t>
            </a:r>
          </a:p>
        </p:txBody>
      </p:sp>
      <p:sp>
        <p:nvSpPr>
          <p:cNvPr id="8" name="">
            <a:extLst xmlns:a="http://schemas.openxmlformats.org/drawingml/2006/main">
              <a:ext uri="{FF2B5EF4-FFF2-40B4-BE49-F238E27FC236}">
                <a16:creationId xmlns:a16="http://schemas.microsoft.com/office/drawing/2014/main" id="{08E7056F-23F0-4479-BB46-F84F657A58B9}"/>
              </a:ext>
            </a:extLst>
          </p:cNvPr>
          <p:cNvSpPr>
            <a:spLocks xmlns:a="http://schemas.openxmlformats.org/drawingml/2006/main" noGrp="1"/>
          </p:cNvSpPr>
          <p:nvPr/>
        </p:nvSpPr>
        <p:spPr>
          <a:xfrm xmlns:a="http://schemas.openxmlformats.org/drawingml/2006/main">
            <a:off x="8096250" y="38862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2616B"/>
                </a:solidFill>
                <a:latin typeface="Arial"/>
                <a:ea typeface="Arial"/>
                <a:cs typeface="Arial"/>
              </a:defRPr>
            </a:pPr>
            <a:r>
              <a:rPr sz="1275" b="1">
                <a:solidFill>
                  <a:srgbClr val="52616B"/>
                </a:solidFill>
                <a:latin typeface="Arial"/>
                <a:ea typeface="Arial"/>
                <a:cs typeface="Arial"/>
              </a:rPr>
              <a:t>AUTHORITY</a:t>
            </a:r>
          </a:p>
        </p:txBody>
      </p:sp>
      <p:sp>
        <p:nvSpPr>
          <p:cNvPr id="9" name="">
            <a:extLst xmlns:a="http://schemas.openxmlformats.org/drawingml/2006/main">
              <a:ext uri="{FF2B5EF4-FFF2-40B4-BE49-F238E27FC236}">
                <a16:creationId xmlns:a16="http://schemas.microsoft.com/office/drawing/2014/main" id="{DA268B99-2739-44EB-BB01-BC1CFC86DE50}"/>
              </a:ext>
            </a:extLst>
          </p:cNvPr>
          <p:cNvSpPr>
            <a:spLocks xmlns:a="http://schemas.openxmlformats.org/drawingml/2006/main" noGrp="1"/>
          </p:cNvSpPr>
          <p:nvPr/>
        </p:nvSpPr>
        <p:spPr>
          <a:xfrm xmlns:a="http://schemas.openxmlformats.org/drawingml/2006/main">
            <a:off x="8096250" y="4210050"/>
            <a:ext cx="28003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C8553D"/>
                </a:solidFill>
                <a:latin typeface="Arial"/>
                <a:ea typeface="Arial"/>
                <a:cs typeface="Arial"/>
              </a:defRPr>
            </a:pPr>
            <a:r>
              <a:rPr sz="1950" b="1">
                <a:solidFill>
                  <a:srgbClr val="C8553D"/>
                </a:solidFill>
                <a:latin typeface="Arial"/>
                <a:ea typeface="Arial"/>
                <a:cs typeface="Arial"/>
              </a:rPr>
              <a:t>Descriptive transport POCs</a:t>
            </a:r>
          </a:p>
          <a:p xmlns:a="http://schemas.openxmlformats.org/drawingml/2006/main">
            <a:pPr algn="l">
              <a:buNone/>
              <a:defRPr sz="1950" b="1">
                <a:solidFill>
                  <a:srgbClr val="C8553D"/>
                </a:solidFill>
                <a:latin typeface="Arial"/>
                <a:ea typeface="Arial"/>
                <a:cs typeface="Arial"/>
              </a:defRPr>
            </a:pPr>
            <a:r>
              <a:rPr sz="1950" b="1">
                <a:solidFill>
                  <a:srgbClr val="C8553D"/>
                </a:solidFill>
                <a:latin typeface="Arial"/>
                <a:ea typeface="Arial"/>
                <a:cs typeface="Arial"/>
              </a:rPr>
              <a:t>No edge claim</a:t>
            </a:r>
          </a:p>
        </p:txBody>
      </p:sp>
      <p:sp>
        <p:nvSpPr>
          <p:cNvPr id="10" name="">
            <a:extLst xmlns:a="http://schemas.openxmlformats.org/drawingml/2006/main">
              <a:ext uri="{FF2B5EF4-FFF2-40B4-BE49-F238E27FC236}">
                <a16:creationId xmlns:a16="http://schemas.microsoft.com/office/drawing/2014/main" id="{1126A05F-0CC5-4122-AC21-399C94202355}"/>
              </a:ext>
            </a:extLst>
          </p:cNvPr>
          <p:cNvSpPr>
            <a:spLocks xmlns:a="http://schemas.openxmlformats.org/drawingml/2006/main" noGrp="1"/>
          </p:cNvSpPr>
          <p:nvPr/>
        </p:nvSpPr>
        <p:spPr>
          <a:xfrm xmlns:a="http://schemas.openxmlformats.org/drawingml/2006/main">
            <a:off x="400050" y="5829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52616B"/>
                </a:solidFill>
                <a:latin typeface="Arial"/>
                <a:ea typeface="Arial"/>
                <a:cs typeface="Arial"/>
              </a:defRPr>
            </a:pPr>
            <a:r>
              <a:rPr sz="1425" b="0">
                <a:solidFill>
                  <a:srgbClr val="52616B"/>
                </a:solidFill>
                <a:latin typeface="Arial"/>
                <a:ea typeface="Arial"/>
                <a:cs typeface="Arial"/>
              </a:rPr>
              <a:t>Study deck · updated 3 September 2026</a:t>
            </a:r>
          </a:p>
        </p:txBody>
      </p:sp>
      <p:sp>
        <p:nvSpPr>
          <p:cNvPr id="11" name="">
            <a:extLst xmlns:a="http://schemas.openxmlformats.org/drawingml/2006/main">
              <a:ext uri="{FF2B5EF4-FFF2-40B4-BE49-F238E27FC236}">
                <a16:creationId xmlns:a16="http://schemas.microsoft.com/office/drawing/2014/main" id="{0F995FCF-062E-4146-BD9D-390D99FED1FB}"/>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a:t>
            </a:r>
          </a:p>
        </p:txBody>
      </p:sp>
    </p:spTree>
    <p:extLst>
      <p:ext uri="{BB962C8B-B14F-4D97-AF65-F5344CB8AC3E}">
        <p14:creationId xmlns:p14="http://schemas.microsoft.com/office/powerpoint/2010/main" val="15240739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BBE501B-F7DF-49FA-A47D-C304324CED39}"/>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2-title">
            <a:extLst xmlns:a="http://schemas.openxmlformats.org/drawingml/2006/main">
              <a:ext uri="{FF2B5EF4-FFF2-40B4-BE49-F238E27FC236}">
                <a16:creationId xmlns:a16="http://schemas.microsoft.com/office/drawing/2014/main" id="{F8C7FC40-B95B-4B96-BAD9-B35A1ED82DE4}"/>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contradiction is only apparent</a:t>
            </a:r>
          </a:p>
        </p:txBody>
      </p:sp>
      <p:sp>
        <p:nvSpPr>
          <p:cNvPr id="3" name="">
            <a:extLst xmlns:a="http://schemas.openxmlformats.org/drawingml/2006/main">
              <a:ext uri="{FF2B5EF4-FFF2-40B4-BE49-F238E27FC236}">
                <a16:creationId xmlns:a16="http://schemas.microsoft.com/office/drawing/2014/main" id="{77A9408E-A936-42B7-A93A-6C3849CC4F1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2-number">
            <a:extLst xmlns:a="http://schemas.openxmlformats.org/drawingml/2006/main">
              <a:ext uri="{FF2B5EF4-FFF2-40B4-BE49-F238E27FC236}">
                <a16:creationId xmlns:a16="http://schemas.microsoft.com/office/drawing/2014/main" id="{40D5C53F-C379-44CE-96FB-2C87B79F6099}"/>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9D39C22F-BA3B-44CF-9511-B4BD71A7D425}"/>
              </a:ext>
            </a:extLst>
          </p:cNvPr>
          <p:cNvSpPr>
            <a:spLocks xmlns:a="http://schemas.openxmlformats.org/drawingml/2006/main" noGrp="1"/>
          </p:cNvSpPr>
          <p:nvPr/>
        </p:nvSpPr>
        <p:spPr>
          <a:xfrm xmlns:a="http://schemas.openxmlformats.org/drawingml/2006/main">
            <a:off x="723900" y="17145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2E7D5B"/>
                </a:solidFill>
                <a:latin typeface="Arial"/>
                <a:ea typeface="Arial"/>
                <a:cs typeface="Arial"/>
              </a:defRPr>
            </a:pPr>
            <a:r>
              <a:rPr sz="1275" b="1">
                <a:solidFill>
                  <a:srgbClr val="2E7D5B"/>
                </a:solidFill>
                <a:latin typeface="Arial"/>
                <a:ea typeface="Arial"/>
                <a:cs typeface="Arial"/>
              </a:rPr>
              <a:t>ESTABLISHED EVIDENCE</a:t>
            </a:r>
          </a:p>
        </p:txBody>
      </p:sp>
      <p:sp>
        <p:nvSpPr>
          <p:cNvPr id="6" name="">
            <a:extLst xmlns:a="http://schemas.openxmlformats.org/drawingml/2006/main">
              <a:ext uri="{FF2B5EF4-FFF2-40B4-BE49-F238E27FC236}">
                <a16:creationId xmlns:a16="http://schemas.microsoft.com/office/drawing/2014/main" id="{3FE65059-1514-48A7-A238-1120C39BF59F}"/>
              </a:ext>
            </a:extLst>
          </p:cNvPr>
          <p:cNvSpPr>
            <a:spLocks xmlns:a="http://schemas.openxmlformats.org/drawingml/2006/main" noGrp="1"/>
          </p:cNvSpPr>
          <p:nvPr/>
        </p:nvSpPr>
        <p:spPr>
          <a:xfrm xmlns:a="http://schemas.openxmlformats.org/drawingml/2006/main">
            <a:off x="723900" y="2152650"/>
            <a:ext cx="4476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01820"/>
                </a:solidFill>
                <a:latin typeface="Arial"/>
                <a:ea typeface="Arial"/>
                <a:cs typeface="Arial"/>
              </a:defRPr>
            </a:pPr>
            <a:r>
              <a:rPr sz="2250" b="1">
                <a:solidFill>
                  <a:srgbClr val="101820"/>
                </a:solidFill>
                <a:latin typeface="Arial"/>
                <a:ea typeface="Arial"/>
                <a:cs typeface="Arial"/>
              </a:rPr>
              <a:t>Momentum appears repeatedly in diversified, carefully constructed portfolios over long samples.</a:t>
            </a:r>
          </a:p>
        </p:txBody>
      </p:sp>
      <p:sp>
        <p:nvSpPr>
          <p:cNvPr id="7" name="">
            <a:extLst xmlns:a="http://schemas.openxmlformats.org/drawingml/2006/main">
              <a:ext uri="{FF2B5EF4-FFF2-40B4-BE49-F238E27FC236}">
                <a16:creationId xmlns:a16="http://schemas.microsoft.com/office/drawing/2014/main" id="{159B7070-3E8D-4697-89D7-55421C793CB7}"/>
              </a:ext>
            </a:extLst>
          </p:cNvPr>
          <p:cNvSpPr>
            <a:spLocks xmlns:a="http://schemas.openxmlformats.org/drawingml/2006/main" noGrp="1"/>
          </p:cNvSpPr>
          <p:nvPr/>
        </p:nvSpPr>
        <p:spPr>
          <a:xfrm xmlns:a="http://schemas.openxmlformats.org/drawingml/2006/main">
            <a:off x="723900" y="3790950"/>
            <a:ext cx="4476750" cy="11049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8" name="">
            <a:extLst xmlns:a="http://schemas.openxmlformats.org/drawingml/2006/main">
              <a:ext uri="{FF2B5EF4-FFF2-40B4-BE49-F238E27FC236}">
                <a16:creationId xmlns:a16="http://schemas.microsoft.com/office/drawing/2014/main" id="{7A927CF9-8DBD-4087-9706-8FE139223849}"/>
              </a:ext>
            </a:extLst>
          </p:cNvPr>
          <p:cNvSpPr>
            <a:spLocks xmlns:a="http://schemas.openxmlformats.org/drawingml/2006/main" noGrp="1"/>
          </p:cNvSpPr>
          <p:nvPr/>
        </p:nvSpPr>
        <p:spPr>
          <a:xfrm xmlns:a="http://schemas.openxmlformats.org/drawingml/2006/main">
            <a:off x="1028700" y="4114800"/>
            <a:ext cx="3867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2E7D5B"/>
                </a:solidFill>
                <a:latin typeface="Arial"/>
                <a:ea typeface="Arial"/>
                <a:cs typeface="Arial"/>
              </a:defRPr>
            </a:pPr>
            <a:r>
              <a:rPr sz="2025" b="1">
                <a:solidFill>
                  <a:srgbClr val="2E7D5B"/>
                </a:solidFill>
                <a:latin typeface="Arial"/>
                <a:ea typeface="Arial"/>
                <a:cs typeface="Arial"/>
              </a:rPr>
              <a:t>A weak average tendency can be real.</a:t>
            </a:r>
          </a:p>
        </p:txBody>
      </p:sp>
      <p:sp>
        <p:nvSpPr>
          <p:cNvPr id="9" name="">
            <a:extLst xmlns:a="http://schemas.openxmlformats.org/drawingml/2006/main">
              <a:ext uri="{FF2B5EF4-FFF2-40B4-BE49-F238E27FC236}">
                <a16:creationId xmlns:a16="http://schemas.microsoft.com/office/drawing/2014/main" id="{6EC9AE98-7934-464E-AD37-AC4F1E89C2F9}"/>
              </a:ext>
            </a:extLst>
          </p:cNvPr>
          <p:cNvSpPr>
            <a:spLocks xmlns:a="http://schemas.openxmlformats.org/drawingml/2006/main" noGrp="1"/>
          </p:cNvSpPr>
          <p:nvPr/>
        </p:nvSpPr>
        <p:spPr>
          <a:xfrm xmlns:a="http://schemas.openxmlformats.org/drawingml/2006/main">
            <a:off x="6610350" y="171450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C8553D"/>
                </a:solidFill>
                <a:latin typeface="Arial"/>
                <a:ea typeface="Arial"/>
                <a:cs typeface="Arial"/>
              </a:defRPr>
            </a:pPr>
            <a:r>
              <a:rPr sz="1275" b="1">
                <a:solidFill>
                  <a:srgbClr val="C8553D"/>
                </a:solidFill>
                <a:latin typeface="Arial"/>
                <a:ea typeface="Arial"/>
                <a:cs typeface="Arial"/>
              </a:rPr>
              <a:t>OUR EVIDENCE</a:t>
            </a:r>
          </a:p>
        </p:txBody>
      </p:sp>
      <p:sp>
        <p:nvSpPr>
          <p:cNvPr id="10" name="">
            <a:extLst xmlns:a="http://schemas.openxmlformats.org/drawingml/2006/main">
              <a:ext uri="{FF2B5EF4-FFF2-40B4-BE49-F238E27FC236}">
                <a16:creationId xmlns:a16="http://schemas.microsoft.com/office/drawing/2014/main" id="{55F28369-7034-43AB-9B93-FB4EC7336BA9}"/>
              </a:ext>
            </a:extLst>
          </p:cNvPr>
          <p:cNvSpPr>
            <a:spLocks xmlns:a="http://schemas.openxmlformats.org/drawingml/2006/main" noGrp="1"/>
          </p:cNvSpPr>
          <p:nvPr/>
        </p:nvSpPr>
        <p:spPr>
          <a:xfrm xmlns:a="http://schemas.openxmlformats.org/drawingml/2006/main">
            <a:off x="6610350" y="2152650"/>
            <a:ext cx="4476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101820"/>
                </a:solidFill>
                <a:latin typeface="Arial"/>
                <a:ea typeface="Arial"/>
                <a:cs typeface="Arial"/>
              </a:defRPr>
            </a:pPr>
            <a:r>
              <a:rPr sz="2250" b="1">
                <a:solidFill>
                  <a:srgbClr val="101820"/>
                </a:solidFill>
                <a:latin typeface="Arial"/>
                <a:ea typeface="Arial"/>
                <a:cs typeface="Arial"/>
              </a:rPr>
              <a:t>Most of our intuitive daily, intraday, and single-asset variants failed promotion.</a:t>
            </a:r>
          </a:p>
        </p:txBody>
      </p:sp>
      <p:sp>
        <p:nvSpPr>
          <p:cNvPr id="11" name="">
            <a:extLst xmlns:a="http://schemas.openxmlformats.org/drawingml/2006/main">
              <a:ext uri="{FF2B5EF4-FFF2-40B4-BE49-F238E27FC236}">
                <a16:creationId xmlns:a16="http://schemas.microsoft.com/office/drawing/2014/main" id="{4DF15382-9E54-4AC0-A808-C5552E4DDFD3}"/>
              </a:ext>
            </a:extLst>
          </p:cNvPr>
          <p:cNvSpPr>
            <a:spLocks xmlns:a="http://schemas.openxmlformats.org/drawingml/2006/main" noGrp="1"/>
          </p:cNvSpPr>
          <p:nvPr/>
        </p:nvSpPr>
        <p:spPr>
          <a:xfrm xmlns:a="http://schemas.openxmlformats.org/drawingml/2006/main">
            <a:off x="6610350" y="3790950"/>
            <a:ext cx="4476750" cy="11049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2" name="">
            <a:extLst xmlns:a="http://schemas.openxmlformats.org/drawingml/2006/main">
              <a:ext uri="{FF2B5EF4-FFF2-40B4-BE49-F238E27FC236}">
                <a16:creationId xmlns:a16="http://schemas.microsoft.com/office/drawing/2014/main" id="{75C7BCFF-B328-48E1-BA68-39400BA29231}"/>
              </a:ext>
            </a:extLst>
          </p:cNvPr>
          <p:cNvSpPr>
            <a:spLocks xmlns:a="http://schemas.openxmlformats.org/drawingml/2006/main" noGrp="1"/>
          </p:cNvSpPr>
          <p:nvPr/>
        </p:nvSpPr>
        <p:spPr>
          <a:xfrm xmlns:a="http://schemas.openxmlformats.org/drawingml/2006/main">
            <a:off x="6915150" y="4114800"/>
            <a:ext cx="3867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C8553D"/>
                </a:solidFill>
                <a:latin typeface="Arial"/>
                <a:ea typeface="Arial"/>
                <a:cs typeface="Arial"/>
              </a:defRPr>
            </a:pPr>
            <a:r>
              <a:rPr sz="2025" b="1">
                <a:solidFill>
                  <a:srgbClr val="C8553D"/>
                </a:solidFill>
                <a:latin typeface="Arial"/>
                <a:ea typeface="Arial"/>
                <a:cs typeface="Arial"/>
              </a:rPr>
              <a:t>That does not test the same proposition.</a:t>
            </a:r>
          </a:p>
        </p:txBody>
      </p:sp>
      <p:sp>
        <p:nvSpPr>
          <p:cNvPr id="13" name="">
            <a:extLst xmlns:a="http://schemas.openxmlformats.org/drawingml/2006/main">
              <a:ext uri="{FF2B5EF4-FFF2-40B4-BE49-F238E27FC236}">
                <a16:creationId xmlns:a16="http://schemas.microsoft.com/office/drawing/2014/main" id="{2F9AC486-BA3F-4838-B39F-374AAB8E1D22}"/>
              </a:ext>
            </a:extLst>
          </p:cNvPr>
          <p:cNvSpPr>
            <a:spLocks xmlns:a="http://schemas.openxmlformats.org/drawingml/2006/main" noGrp="1"/>
          </p:cNvSpPr>
          <p:nvPr/>
        </p:nvSpPr>
        <p:spPr>
          <a:xfrm xmlns:a="http://schemas.openxmlformats.org/drawingml/2006/main">
            <a:off x="1924050" y="5524500"/>
            <a:ext cx="834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01820"/>
                </a:solidFill>
                <a:latin typeface="Arial"/>
                <a:ea typeface="Arial"/>
                <a:cs typeface="Arial"/>
              </a:defRPr>
            </a:pPr>
            <a:r>
              <a:rPr sz="2025" b="1">
                <a:solidFill>
                  <a:srgbClr val="101820"/>
                </a:solidFill>
                <a:latin typeface="Arial"/>
                <a:ea typeface="Arial"/>
                <a:cs typeface="Arial"/>
              </a:rPr>
              <a:t>The unit of analysis, horizon, portfolio construction, and baseline all changed.</a:t>
            </a:r>
          </a:p>
        </p:txBody>
      </p:sp>
    </p:spTree>
    <p:extLst>
      <p:ext uri="{BB962C8B-B14F-4D97-AF65-F5344CB8AC3E}">
        <p14:creationId xmlns:p14="http://schemas.microsoft.com/office/powerpoint/2010/main" val="13474133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E3EB4AA-2DA2-4305-9945-08D8E11BE5C7}"/>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3-title">
            <a:extLst xmlns:a="http://schemas.openxmlformats.org/drawingml/2006/main">
              <a:ext uri="{FF2B5EF4-FFF2-40B4-BE49-F238E27FC236}">
                <a16:creationId xmlns:a16="http://schemas.microsoft.com/office/drawing/2014/main" id="{CD89AFCC-77FE-4A7D-A22A-F3C9F0CA2E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Momentum is a tailwind across a fleet—not a command over one leaf</a:t>
            </a:r>
          </a:p>
        </p:txBody>
      </p:sp>
      <p:sp>
        <p:nvSpPr>
          <p:cNvPr id="3" name="">
            <a:extLst xmlns:a="http://schemas.openxmlformats.org/drawingml/2006/main">
              <a:ext uri="{FF2B5EF4-FFF2-40B4-BE49-F238E27FC236}">
                <a16:creationId xmlns:a16="http://schemas.microsoft.com/office/drawing/2014/main" id="{A33D915C-6AC1-4E4D-A477-43275A6FE85F}"/>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3-number">
            <a:extLst xmlns:a="http://schemas.openxmlformats.org/drawingml/2006/main">
              <a:ext uri="{FF2B5EF4-FFF2-40B4-BE49-F238E27FC236}">
                <a16:creationId xmlns:a16="http://schemas.microsoft.com/office/drawing/2014/main" id="{52CF65A4-276D-4F2A-85C9-93E23A833760}"/>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0B061378-9410-45D6-9E4F-7877A9C3ED3F}"/>
              </a:ext>
            </a:extLst>
          </p:cNvPr>
          <p:cNvSpPr>
            <a:spLocks xmlns:a="http://schemas.openxmlformats.org/drawingml/2006/main" noGrp="1"/>
          </p:cNvSpPr>
          <p:nvPr/>
        </p:nvSpPr>
        <p:spPr>
          <a:xfrm xmlns:a="http://schemas.openxmlformats.org/drawingml/2006/main">
            <a:off x="666750" y="16764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C8553D"/>
                </a:solidFill>
                <a:latin typeface="Arial"/>
                <a:ea typeface="Arial"/>
                <a:cs typeface="Arial"/>
              </a:defRPr>
            </a:pPr>
            <a:r>
              <a:rPr sz="1275" b="1">
                <a:solidFill>
                  <a:srgbClr val="C8553D"/>
                </a:solidFill>
                <a:latin typeface="Arial"/>
                <a:ea typeface="Arial"/>
                <a:cs typeface="Arial"/>
              </a:rPr>
              <a:t>ONE LEAF</a:t>
            </a:r>
          </a:p>
        </p:txBody>
      </p:sp>
      <p:sp>
        <p:nvSpPr>
          <p:cNvPr id="6" name="">
            <a:extLst xmlns:a="http://schemas.openxmlformats.org/drawingml/2006/main">
              <a:ext uri="{FF2B5EF4-FFF2-40B4-BE49-F238E27FC236}">
                <a16:creationId xmlns:a16="http://schemas.microsoft.com/office/drawing/2014/main" id="{3838CBA8-98D4-4479-B92D-44D675199940}"/>
              </a:ext>
            </a:extLst>
          </p:cNvPr>
          <p:cNvSpPr>
            <a:spLocks xmlns:a="http://schemas.openxmlformats.org/drawingml/2006/main" noGrp="1"/>
          </p:cNvSpPr>
          <p:nvPr/>
        </p:nvSpPr>
        <p:spPr>
          <a:xfrm xmlns:a="http://schemas.openxmlformats.org/drawingml/2006/main">
            <a:off x="666750" y="2114550"/>
            <a:ext cx="3333750" cy="31051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7" name="">
            <a:extLst xmlns:a="http://schemas.openxmlformats.org/drawingml/2006/main">
              <a:ext uri="{FF2B5EF4-FFF2-40B4-BE49-F238E27FC236}">
                <a16:creationId xmlns:a16="http://schemas.microsoft.com/office/drawing/2014/main" id="{E7BBDBA6-D3D7-4F46-A780-0802D9E0EF45}"/>
              </a:ext>
            </a:extLst>
          </p:cNvPr>
          <p:cNvSpPr>
            <a:spLocks xmlns:a="http://schemas.openxmlformats.org/drawingml/2006/main" noGrp="1"/>
          </p:cNvSpPr>
          <p:nvPr/>
        </p:nvSpPr>
        <p:spPr>
          <a:xfrm xmlns:a="http://schemas.openxmlformats.org/drawingml/2006/main">
            <a:off x="1257300" y="3048000"/>
            <a:ext cx="21526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101820"/>
                </a:solidFill>
                <a:latin typeface="Arial"/>
                <a:ea typeface="Arial"/>
                <a:cs typeface="Arial"/>
              </a:defRPr>
            </a:pPr>
            <a:r>
              <a:rPr sz="2550" b="1">
                <a:solidFill>
                  <a:srgbClr val="101820"/>
                </a:solidFill>
                <a:latin typeface="Arial"/>
                <a:ea typeface="Arial"/>
                <a:cs typeface="Arial"/>
              </a:rPr>
              <a:t>TSLA</a:t>
            </a:r>
          </a:p>
          <a:p xmlns:a="http://schemas.openxmlformats.org/drawingml/2006/main">
            <a:pPr algn="ctr">
              <a:buNone/>
              <a:defRPr sz="2550" b="1">
                <a:solidFill>
                  <a:srgbClr val="101820"/>
                </a:solidFill>
                <a:latin typeface="Arial"/>
                <a:ea typeface="Arial"/>
                <a:cs typeface="Arial"/>
              </a:defRPr>
            </a:pPr>
            <a:r>
              <a:rPr sz="2550" b="1">
                <a:solidFill>
                  <a:srgbClr val="101820"/>
                </a:solidFill>
                <a:latin typeface="Arial"/>
                <a:ea typeface="Arial"/>
                <a:cs typeface="Arial"/>
              </a:rPr>
              <a:t>next day</a:t>
            </a:r>
          </a:p>
        </p:txBody>
      </p:sp>
      <p:sp>
        <p:nvSpPr>
          <p:cNvPr id="8" name="">
            <a:extLst xmlns:a="http://schemas.openxmlformats.org/drawingml/2006/main">
              <a:ext uri="{FF2B5EF4-FFF2-40B4-BE49-F238E27FC236}">
                <a16:creationId xmlns:a16="http://schemas.microsoft.com/office/drawing/2014/main" id="{181BDA19-3031-47DB-AA90-BC1508D01CF1}"/>
              </a:ext>
            </a:extLst>
          </p:cNvPr>
          <p:cNvSpPr>
            <a:spLocks xmlns:a="http://schemas.openxmlformats.org/drawingml/2006/main" noGrp="1"/>
          </p:cNvSpPr>
          <p:nvPr/>
        </p:nvSpPr>
        <p:spPr>
          <a:xfrm xmlns:a="http://schemas.openxmlformats.org/drawingml/2006/main">
            <a:off x="1257300" y="411480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0">
                <a:solidFill>
                  <a:srgbClr val="C8553D"/>
                </a:solidFill>
                <a:latin typeface="Arial"/>
                <a:ea typeface="Arial"/>
                <a:cs typeface="Arial"/>
              </a:defRPr>
            </a:pPr>
            <a:r>
              <a:rPr sz="1650" b="0">
                <a:solidFill>
                  <a:srgbClr val="C8553D"/>
                </a:solidFill>
                <a:latin typeface="Arial"/>
                <a:ea typeface="Arial"/>
                <a:cs typeface="Arial"/>
              </a:rPr>
              <a:t>noise dominates</a:t>
            </a:r>
          </a:p>
        </p:txBody>
      </p:sp>
      <p:sp>
        <p:nvSpPr>
          <p:cNvPr id="9" name="">
            <a:extLst xmlns:a="http://schemas.openxmlformats.org/drawingml/2006/main">
              <a:ext uri="{FF2B5EF4-FFF2-40B4-BE49-F238E27FC236}">
                <a16:creationId xmlns:a16="http://schemas.microsoft.com/office/drawing/2014/main" id="{C060178C-003F-4AE9-BE6E-AB4418F10513}"/>
              </a:ext>
            </a:extLst>
          </p:cNvPr>
          <p:cNvSpPr>
            <a:spLocks xmlns:a="http://schemas.openxmlformats.org/drawingml/2006/main" noGrp="1"/>
          </p:cNvSpPr>
          <p:nvPr/>
        </p:nvSpPr>
        <p:spPr>
          <a:xfrm xmlns:a="http://schemas.openxmlformats.org/drawingml/2006/main">
            <a:off x="876300" y="2457450"/>
            <a:ext cx="76200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10" name="">
            <a:extLst xmlns:a="http://schemas.openxmlformats.org/drawingml/2006/main">
              <a:ext uri="{FF2B5EF4-FFF2-40B4-BE49-F238E27FC236}">
                <a16:creationId xmlns:a16="http://schemas.microsoft.com/office/drawing/2014/main" id="{8B4512A6-ADD8-4C50-91C7-A1ABEB338048}"/>
              </a:ext>
            </a:extLst>
          </p:cNvPr>
          <p:cNvSpPr>
            <a:spLocks xmlns:a="http://schemas.openxmlformats.org/drawingml/2006/main" noGrp="1"/>
          </p:cNvSpPr>
          <p:nvPr/>
        </p:nvSpPr>
        <p:spPr>
          <a:xfrm xmlns:a="http://schemas.openxmlformats.org/drawingml/2006/main">
            <a:off x="2381250" y="2609850"/>
            <a:ext cx="1905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11" name="">
            <a:extLst xmlns:a="http://schemas.openxmlformats.org/drawingml/2006/main">
              <a:ext uri="{FF2B5EF4-FFF2-40B4-BE49-F238E27FC236}">
                <a16:creationId xmlns:a16="http://schemas.microsoft.com/office/drawing/2014/main" id="{83A6E3AB-4C10-44DB-B8BA-FA743636ACEE}"/>
              </a:ext>
            </a:extLst>
          </p:cNvPr>
          <p:cNvSpPr>
            <a:spLocks xmlns:a="http://schemas.openxmlformats.org/drawingml/2006/main" noGrp="1"/>
          </p:cNvSpPr>
          <p:nvPr/>
        </p:nvSpPr>
        <p:spPr>
          <a:xfrm xmlns:a="http://schemas.openxmlformats.org/drawingml/2006/main">
            <a:off x="2286000" y="4629150"/>
            <a:ext cx="74295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12" name="">
            <a:extLst xmlns:a="http://schemas.openxmlformats.org/drawingml/2006/main">
              <a:ext uri="{FF2B5EF4-FFF2-40B4-BE49-F238E27FC236}">
                <a16:creationId xmlns:a16="http://schemas.microsoft.com/office/drawing/2014/main" id="{7957ED5F-7BDC-499F-B642-84DC7ABFB5C3}"/>
              </a:ext>
            </a:extLst>
          </p:cNvPr>
          <p:cNvSpPr>
            <a:spLocks xmlns:a="http://schemas.openxmlformats.org/drawingml/2006/main" noGrp="1"/>
          </p:cNvSpPr>
          <p:nvPr/>
        </p:nvSpPr>
        <p:spPr>
          <a:xfrm xmlns:a="http://schemas.openxmlformats.org/drawingml/2006/main">
            <a:off x="1066800" y="4229100"/>
            <a:ext cx="1905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13" name="">
            <a:extLst xmlns:a="http://schemas.openxmlformats.org/drawingml/2006/main">
              <a:ext uri="{FF2B5EF4-FFF2-40B4-BE49-F238E27FC236}">
                <a16:creationId xmlns:a16="http://schemas.microsoft.com/office/drawing/2014/main" id="{28FB4B76-DDD4-42E4-BBBF-35FB4E8E35A3}"/>
              </a:ext>
            </a:extLst>
          </p:cNvPr>
          <p:cNvSpPr>
            <a:spLocks xmlns:a="http://schemas.openxmlformats.org/drawingml/2006/main" noGrp="1"/>
          </p:cNvSpPr>
          <p:nvPr/>
        </p:nvSpPr>
        <p:spPr>
          <a:xfrm xmlns:a="http://schemas.openxmlformats.org/drawingml/2006/main">
            <a:off x="4953000" y="16764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A FLEET</a:t>
            </a:r>
          </a:p>
        </p:txBody>
      </p:sp>
      <p:sp>
        <p:nvSpPr>
          <p:cNvPr id="14" name="">
            <a:extLst xmlns:a="http://schemas.openxmlformats.org/drawingml/2006/main">
              <a:ext uri="{FF2B5EF4-FFF2-40B4-BE49-F238E27FC236}">
                <a16:creationId xmlns:a16="http://schemas.microsoft.com/office/drawing/2014/main" id="{10DA2B6A-7695-4624-9D09-B881C12273AA}"/>
              </a:ext>
            </a:extLst>
          </p:cNvPr>
          <p:cNvSpPr>
            <a:spLocks xmlns:a="http://schemas.openxmlformats.org/drawingml/2006/main" noGrp="1"/>
          </p:cNvSpPr>
          <p:nvPr/>
        </p:nvSpPr>
        <p:spPr>
          <a:xfrm xmlns:a="http://schemas.openxmlformats.org/drawingml/2006/main">
            <a:off x="4953000" y="2114550"/>
            <a:ext cx="6572250" cy="31051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E395D235-A318-44E4-A620-3E53B5457A99}"/>
              </a:ext>
            </a:extLst>
          </p:cNvPr>
          <p:cNvSpPr>
            <a:spLocks xmlns:a="http://schemas.openxmlformats.org/drawingml/2006/main" noGrp="1"/>
          </p:cNvSpPr>
          <p:nvPr/>
        </p:nvSpPr>
        <p:spPr>
          <a:xfrm xmlns:a="http://schemas.openxmlformats.org/drawingml/2006/main">
            <a:off x="5524500" y="2647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6" name="">
            <a:extLst xmlns:a="http://schemas.openxmlformats.org/drawingml/2006/main">
              <a:ext uri="{FF2B5EF4-FFF2-40B4-BE49-F238E27FC236}">
                <a16:creationId xmlns:a16="http://schemas.microsoft.com/office/drawing/2014/main" id="{2D5C1F3A-8686-4F8D-98B1-FB129410C80A}"/>
              </a:ext>
            </a:extLst>
          </p:cNvPr>
          <p:cNvSpPr>
            <a:spLocks xmlns:a="http://schemas.openxmlformats.org/drawingml/2006/main" noGrp="1"/>
          </p:cNvSpPr>
          <p:nvPr/>
        </p:nvSpPr>
        <p:spPr>
          <a:xfrm xmlns:a="http://schemas.openxmlformats.org/drawingml/2006/main">
            <a:off x="5886450" y="2762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7" name="">
            <a:extLst xmlns:a="http://schemas.openxmlformats.org/drawingml/2006/main">
              <a:ext uri="{FF2B5EF4-FFF2-40B4-BE49-F238E27FC236}">
                <a16:creationId xmlns:a16="http://schemas.microsoft.com/office/drawing/2014/main" id="{5DAAF30B-6F3F-4566-A579-90B58001EED5}"/>
              </a:ext>
            </a:extLst>
          </p:cNvPr>
          <p:cNvSpPr>
            <a:spLocks xmlns:a="http://schemas.openxmlformats.org/drawingml/2006/main" noGrp="1"/>
          </p:cNvSpPr>
          <p:nvPr/>
        </p:nvSpPr>
        <p:spPr>
          <a:xfrm xmlns:a="http://schemas.openxmlformats.org/drawingml/2006/main">
            <a:off x="6743700" y="2647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8" name="">
            <a:extLst xmlns:a="http://schemas.openxmlformats.org/drawingml/2006/main">
              <a:ext uri="{FF2B5EF4-FFF2-40B4-BE49-F238E27FC236}">
                <a16:creationId xmlns:a16="http://schemas.microsoft.com/office/drawing/2014/main" id="{06E5C359-B250-45C7-B13A-C951A212BEAC}"/>
              </a:ext>
            </a:extLst>
          </p:cNvPr>
          <p:cNvSpPr>
            <a:spLocks xmlns:a="http://schemas.openxmlformats.org/drawingml/2006/main" noGrp="1"/>
          </p:cNvSpPr>
          <p:nvPr/>
        </p:nvSpPr>
        <p:spPr>
          <a:xfrm xmlns:a="http://schemas.openxmlformats.org/drawingml/2006/main">
            <a:off x="7105650" y="2762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9" name="">
            <a:extLst xmlns:a="http://schemas.openxmlformats.org/drawingml/2006/main">
              <a:ext uri="{FF2B5EF4-FFF2-40B4-BE49-F238E27FC236}">
                <a16:creationId xmlns:a16="http://schemas.microsoft.com/office/drawing/2014/main" id="{1568F5E1-4BB7-42C3-BEF6-2F566F2489C9}"/>
              </a:ext>
            </a:extLst>
          </p:cNvPr>
          <p:cNvSpPr>
            <a:spLocks xmlns:a="http://schemas.openxmlformats.org/drawingml/2006/main" noGrp="1"/>
          </p:cNvSpPr>
          <p:nvPr/>
        </p:nvSpPr>
        <p:spPr>
          <a:xfrm xmlns:a="http://schemas.openxmlformats.org/drawingml/2006/main">
            <a:off x="7962900" y="2647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0" name="">
            <a:extLst xmlns:a="http://schemas.openxmlformats.org/drawingml/2006/main">
              <a:ext uri="{FF2B5EF4-FFF2-40B4-BE49-F238E27FC236}">
                <a16:creationId xmlns:a16="http://schemas.microsoft.com/office/drawing/2014/main" id="{8E81D8C2-F6FF-4E11-A21B-E4E9E4BB4A8A}"/>
              </a:ext>
            </a:extLst>
          </p:cNvPr>
          <p:cNvSpPr>
            <a:spLocks xmlns:a="http://schemas.openxmlformats.org/drawingml/2006/main" noGrp="1"/>
          </p:cNvSpPr>
          <p:nvPr/>
        </p:nvSpPr>
        <p:spPr>
          <a:xfrm xmlns:a="http://schemas.openxmlformats.org/drawingml/2006/main">
            <a:off x="8324850" y="2762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1" name="">
            <a:extLst xmlns:a="http://schemas.openxmlformats.org/drawingml/2006/main">
              <a:ext uri="{FF2B5EF4-FFF2-40B4-BE49-F238E27FC236}">
                <a16:creationId xmlns:a16="http://schemas.microsoft.com/office/drawing/2014/main" id="{01B70E7C-A981-4925-82EA-469B79D8846D}"/>
              </a:ext>
            </a:extLst>
          </p:cNvPr>
          <p:cNvSpPr>
            <a:spLocks xmlns:a="http://schemas.openxmlformats.org/drawingml/2006/main" noGrp="1"/>
          </p:cNvSpPr>
          <p:nvPr/>
        </p:nvSpPr>
        <p:spPr>
          <a:xfrm xmlns:a="http://schemas.openxmlformats.org/drawingml/2006/main">
            <a:off x="9182100" y="2647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2" name="">
            <a:extLst xmlns:a="http://schemas.openxmlformats.org/drawingml/2006/main">
              <a:ext uri="{FF2B5EF4-FFF2-40B4-BE49-F238E27FC236}">
                <a16:creationId xmlns:a16="http://schemas.microsoft.com/office/drawing/2014/main" id="{33EDCB8D-85D2-4FD8-A5CB-FE4227FD74BA}"/>
              </a:ext>
            </a:extLst>
          </p:cNvPr>
          <p:cNvSpPr>
            <a:spLocks xmlns:a="http://schemas.openxmlformats.org/drawingml/2006/main" noGrp="1"/>
          </p:cNvSpPr>
          <p:nvPr/>
        </p:nvSpPr>
        <p:spPr>
          <a:xfrm xmlns:a="http://schemas.openxmlformats.org/drawingml/2006/main">
            <a:off x="9544050" y="2762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3" name="">
            <a:extLst xmlns:a="http://schemas.openxmlformats.org/drawingml/2006/main">
              <a:ext uri="{FF2B5EF4-FFF2-40B4-BE49-F238E27FC236}">
                <a16:creationId xmlns:a16="http://schemas.microsoft.com/office/drawing/2014/main" id="{F4FAF644-3F40-4B8E-ADE7-228ECDCBCB66}"/>
              </a:ext>
            </a:extLst>
          </p:cNvPr>
          <p:cNvSpPr>
            <a:spLocks xmlns:a="http://schemas.openxmlformats.org/drawingml/2006/main" noGrp="1"/>
          </p:cNvSpPr>
          <p:nvPr/>
        </p:nvSpPr>
        <p:spPr>
          <a:xfrm xmlns:a="http://schemas.openxmlformats.org/drawingml/2006/main">
            <a:off x="10401300" y="2647950"/>
            <a:ext cx="228600" cy="228600"/>
          </a:xfrm>
          <a:prstGeom xmlns:a="http://schemas.openxmlformats.org/drawingml/2006/main" prst="ellipse">
            <a:avLst/>
          </a:prstGeom>
          <a:solidFill xmlns:a="http://schemas.openxmlformats.org/drawingml/2006/main">
            <a:srgbClr val="C8553D"/>
          </a:solidFill>
          <a:ln xmlns:a="http://schemas.openxmlformats.org/drawingml/2006/main" w="9525">
            <a:solidFill>
              <a:srgbClr val="C8553D"/>
            </a:solidFill>
            <a:prstDash val="solid"/>
          </a:ln>
        </p:spPr>
      </p:sp>
      <p:sp>
        <p:nvSpPr>
          <p:cNvPr id="24" name="">
            <a:extLst xmlns:a="http://schemas.openxmlformats.org/drawingml/2006/main">
              <a:ext uri="{FF2B5EF4-FFF2-40B4-BE49-F238E27FC236}">
                <a16:creationId xmlns:a16="http://schemas.microsoft.com/office/drawing/2014/main" id="{5A301151-334B-4ACB-8B0E-9F2F2BF65296}"/>
              </a:ext>
            </a:extLst>
          </p:cNvPr>
          <p:cNvSpPr>
            <a:spLocks xmlns:a="http://schemas.openxmlformats.org/drawingml/2006/main" noGrp="1"/>
          </p:cNvSpPr>
          <p:nvPr/>
        </p:nvSpPr>
        <p:spPr>
          <a:xfrm xmlns:a="http://schemas.openxmlformats.org/drawingml/2006/main">
            <a:off x="10763250" y="2762250"/>
            <a:ext cx="41910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25" name="">
            <a:extLst xmlns:a="http://schemas.openxmlformats.org/drawingml/2006/main">
              <a:ext uri="{FF2B5EF4-FFF2-40B4-BE49-F238E27FC236}">
                <a16:creationId xmlns:a16="http://schemas.microsoft.com/office/drawing/2014/main" id="{C4B8EBE4-8F41-48AB-9E10-EADD510C810D}"/>
              </a:ext>
            </a:extLst>
          </p:cNvPr>
          <p:cNvSpPr>
            <a:spLocks xmlns:a="http://schemas.openxmlformats.org/drawingml/2006/main" noGrp="1"/>
          </p:cNvSpPr>
          <p:nvPr/>
        </p:nvSpPr>
        <p:spPr>
          <a:xfrm xmlns:a="http://schemas.openxmlformats.org/drawingml/2006/main">
            <a:off x="5524500" y="3409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6" name="">
            <a:extLst xmlns:a="http://schemas.openxmlformats.org/drawingml/2006/main">
              <a:ext uri="{FF2B5EF4-FFF2-40B4-BE49-F238E27FC236}">
                <a16:creationId xmlns:a16="http://schemas.microsoft.com/office/drawing/2014/main" id="{0B8FE3B5-DF5E-46F1-A045-0BD88B0B2CF5}"/>
              </a:ext>
            </a:extLst>
          </p:cNvPr>
          <p:cNvSpPr>
            <a:spLocks xmlns:a="http://schemas.openxmlformats.org/drawingml/2006/main" noGrp="1"/>
          </p:cNvSpPr>
          <p:nvPr/>
        </p:nvSpPr>
        <p:spPr>
          <a:xfrm xmlns:a="http://schemas.openxmlformats.org/drawingml/2006/main">
            <a:off x="5886450" y="3524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7" name="">
            <a:extLst xmlns:a="http://schemas.openxmlformats.org/drawingml/2006/main">
              <a:ext uri="{FF2B5EF4-FFF2-40B4-BE49-F238E27FC236}">
                <a16:creationId xmlns:a16="http://schemas.microsoft.com/office/drawing/2014/main" id="{9BE8EC12-3949-48F7-A0E8-E7AE8AB8E71D}"/>
              </a:ext>
            </a:extLst>
          </p:cNvPr>
          <p:cNvSpPr>
            <a:spLocks xmlns:a="http://schemas.openxmlformats.org/drawingml/2006/main" noGrp="1"/>
          </p:cNvSpPr>
          <p:nvPr/>
        </p:nvSpPr>
        <p:spPr>
          <a:xfrm xmlns:a="http://schemas.openxmlformats.org/drawingml/2006/main">
            <a:off x="6743700" y="3409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8" name="">
            <a:extLst xmlns:a="http://schemas.openxmlformats.org/drawingml/2006/main">
              <a:ext uri="{FF2B5EF4-FFF2-40B4-BE49-F238E27FC236}">
                <a16:creationId xmlns:a16="http://schemas.microsoft.com/office/drawing/2014/main" id="{481B825C-296D-4C9C-9F9D-AEB33F77B5B4}"/>
              </a:ext>
            </a:extLst>
          </p:cNvPr>
          <p:cNvSpPr>
            <a:spLocks xmlns:a="http://schemas.openxmlformats.org/drawingml/2006/main" noGrp="1"/>
          </p:cNvSpPr>
          <p:nvPr/>
        </p:nvSpPr>
        <p:spPr>
          <a:xfrm xmlns:a="http://schemas.openxmlformats.org/drawingml/2006/main">
            <a:off x="7105650" y="3524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29" name="">
            <a:extLst xmlns:a="http://schemas.openxmlformats.org/drawingml/2006/main">
              <a:ext uri="{FF2B5EF4-FFF2-40B4-BE49-F238E27FC236}">
                <a16:creationId xmlns:a16="http://schemas.microsoft.com/office/drawing/2014/main" id="{21E18E57-B13F-4407-9BCC-1CD82348415E}"/>
              </a:ext>
            </a:extLst>
          </p:cNvPr>
          <p:cNvSpPr>
            <a:spLocks xmlns:a="http://schemas.openxmlformats.org/drawingml/2006/main" noGrp="1"/>
          </p:cNvSpPr>
          <p:nvPr/>
        </p:nvSpPr>
        <p:spPr>
          <a:xfrm xmlns:a="http://schemas.openxmlformats.org/drawingml/2006/main">
            <a:off x="7962900" y="3409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0" name="">
            <a:extLst xmlns:a="http://schemas.openxmlformats.org/drawingml/2006/main">
              <a:ext uri="{FF2B5EF4-FFF2-40B4-BE49-F238E27FC236}">
                <a16:creationId xmlns:a16="http://schemas.microsoft.com/office/drawing/2014/main" id="{3A87ED8C-6B1E-422D-B600-C9F910E5DD42}"/>
              </a:ext>
            </a:extLst>
          </p:cNvPr>
          <p:cNvSpPr>
            <a:spLocks xmlns:a="http://schemas.openxmlformats.org/drawingml/2006/main" noGrp="1"/>
          </p:cNvSpPr>
          <p:nvPr/>
        </p:nvSpPr>
        <p:spPr>
          <a:xfrm xmlns:a="http://schemas.openxmlformats.org/drawingml/2006/main">
            <a:off x="8324850" y="3524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1" name="">
            <a:extLst xmlns:a="http://schemas.openxmlformats.org/drawingml/2006/main">
              <a:ext uri="{FF2B5EF4-FFF2-40B4-BE49-F238E27FC236}">
                <a16:creationId xmlns:a16="http://schemas.microsoft.com/office/drawing/2014/main" id="{45FACC71-0EA3-4802-A00F-5E8755B32D69}"/>
              </a:ext>
            </a:extLst>
          </p:cNvPr>
          <p:cNvSpPr>
            <a:spLocks xmlns:a="http://schemas.openxmlformats.org/drawingml/2006/main" noGrp="1"/>
          </p:cNvSpPr>
          <p:nvPr/>
        </p:nvSpPr>
        <p:spPr>
          <a:xfrm xmlns:a="http://schemas.openxmlformats.org/drawingml/2006/main">
            <a:off x="9182100" y="3409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2" name="">
            <a:extLst xmlns:a="http://schemas.openxmlformats.org/drawingml/2006/main">
              <a:ext uri="{FF2B5EF4-FFF2-40B4-BE49-F238E27FC236}">
                <a16:creationId xmlns:a16="http://schemas.microsoft.com/office/drawing/2014/main" id="{F5C72F99-D9FA-45BA-9E40-0F00A300216B}"/>
              </a:ext>
            </a:extLst>
          </p:cNvPr>
          <p:cNvSpPr>
            <a:spLocks xmlns:a="http://schemas.openxmlformats.org/drawingml/2006/main" noGrp="1"/>
          </p:cNvSpPr>
          <p:nvPr/>
        </p:nvSpPr>
        <p:spPr>
          <a:xfrm xmlns:a="http://schemas.openxmlformats.org/drawingml/2006/main">
            <a:off x="9544050" y="3524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3" name="">
            <a:extLst xmlns:a="http://schemas.openxmlformats.org/drawingml/2006/main">
              <a:ext uri="{FF2B5EF4-FFF2-40B4-BE49-F238E27FC236}">
                <a16:creationId xmlns:a16="http://schemas.microsoft.com/office/drawing/2014/main" id="{01CA185A-957A-4D05-9D2C-4EA4BE54CF32}"/>
              </a:ext>
            </a:extLst>
          </p:cNvPr>
          <p:cNvSpPr>
            <a:spLocks xmlns:a="http://schemas.openxmlformats.org/drawingml/2006/main" noGrp="1"/>
          </p:cNvSpPr>
          <p:nvPr/>
        </p:nvSpPr>
        <p:spPr>
          <a:xfrm xmlns:a="http://schemas.openxmlformats.org/drawingml/2006/main">
            <a:off x="10401300" y="3409950"/>
            <a:ext cx="228600" cy="228600"/>
          </a:xfrm>
          <a:prstGeom xmlns:a="http://schemas.openxmlformats.org/drawingml/2006/main" prst="ellipse">
            <a:avLst/>
          </a:prstGeom>
          <a:solidFill xmlns:a="http://schemas.openxmlformats.org/drawingml/2006/main">
            <a:srgbClr val="C8553D"/>
          </a:solidFill>
          <a:ln xmlns:a="http://schemas.openxmlformats.org/drawingml/2006/main" w="9525">
            <a:solidFill>
              <a:srgbClr val="C8553D"/>
            </a:solidFill>
            <a:prstDash val="solid"/>
          </a:ln>
        </p:spPr>
      </p:sp>
      <p:sp>
        <p:nvSpPr>
          <p:cNvPr id="34" name="">
            <a:extLst xmlns:a="http://schemas.openxmlformats.org/drawingml/2006/main">
              <a:ext uri="{FF2B5EF4-FFF2-40B4-BE49-F238E27FC236}">
                <a16:creationId xmlns:a16="http://schemas.microsoft.com/office/drawing/2014/main" id="{23BAA73E-F202-47C9-A3A0-6E0C47DA4595}"/>
              </a:ext>
            </a:extLst>
          </p:cNvPr>
          <p:cNvSpPr>
            <a:spLocks xmlns:a="http://schemas.openxmlformats.org/drawingml/2006/main" noGrp="1"/>
          </p:cNvSpPr>
          <p:nvPr/>
        </p:nvSpPr>
        <p:spPr>
          <a:xfrm xmlns:a="http://schemas.openxmlformats.org/drawingml/2006/main">
            <a:off x="10763250" y="3524250"/>
            <a:ext cx="41910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35" name="">
            <a:extLst xmlns:a="http://schemas.openxmlformats.org/drawingml/2006/main">
              <a:ext uri="{FF2B5EF4-FFF2-40B4-BE49-F238E27FC236}">
                <a16:creationId xmlns:a16="http://schemas.microsoft.com/office/drawing/2014/main" id="{ED641D95-E58F-4BF9-9926-054B5EADBC07}"/>
              </a:ext>
            </a:extLst>
          </p:cNvPr>
          <p:cNvSpPr>
            <a:spLocks xmlns:a="http://schemas.openxmlformats.org/drawingml/2006/main" noGrp="1"/>
          </p:cNvSpPr>
          <p:nvPr/>
        </p:nvSpPr>
        <p:spPr>
          <a:xfrm xmlns:a="http://schemas.openxmlformats.org/drawingml/2006/main">
            <a:off x="5524500" y="4171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6" name="">
            <a:extLst xmlns:a="http://schemas.openxmlformats.org/drawingml/2006/main">
              <a:ext uri="{FF2B5EF4-FFF2-40B4-BE49-F238E27FC236}">
                <a16:creationId xmlns:a16="http://schemas.microsoft.com/office/drawing/2014/main" id="{D9D0513D-6B53-4DE9-B413-EF2CC5FD488D}"/>
              </a:ext>
            </a:extLst>
          </p:cNvPr>
          <p:cNvSpPr>
            <a:spLocks xmlns:a="http://schemas.openxmlformats.org/drawingml/2006/main" noGrp="1"/>
          </p:cNvSpPr>
          <p:nvPr/>
        </p:nvSpPr>
        <p:spPr>
          <a:xfrm xmlns:a="http://schemas.openxmlformats.org/drawingml/2006/main">
            <a:off x="5886450" y="4286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7" name="">
            <a:extLst xmlns:a="http://schemas.openxmlformats.org/drawingml/2006/main">
              <a:ext uri="{FF2B5EF4-FFF2-40B4-BE49-F238E27FC236}">
                <a16:creationId xmlns:a16="http://schemas.microsoft.com/office/drawing/2014/main" id="{EDD197E2-827D-48BE-9C9F-0C3648C54C9B}"/>
              </a:ext>
            </a:extLst>
          </p:cNvPr>
          <p:cNvSpPr>
            <a:spLocks xmlns:a="http://schemas.openxmlformats.org/drawingml/2006/main" noGrp="1"/>
          </p:cNvSpPr>
          <p:nvPr/>
        </p:nvSpPr>
        <p:spPr>
          <a:xfrm xmlns:a="http://schemas.openxmlformats.org/drawingml/2006/main">
            <a:off x="6743700" y="4171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8" name="">
            <a:extLst xmlns:a="http://schemas.openxmlformats.org/drawingml/2006/main">
              <a:ext uri="{FF2B5EF4-FFF2-40B4-BE49-F238E27FC236}">
                <a16:creationId xmlns:a16="http://schemas.microsoft.com/office/drawing/2014/main" id="{220CD56E-4A70-492B-83BC-F0F685D2A97B}"/>
              </a:ext>
            </a:extLst>
          </p:cNvPr>
          <p:cNvSpPr>
            <a:spLocks xmlns:a="http://schemas.openxmlformats.org/drawingml/2006/main" noGrp="1"/>
          </p:cNvSpPr>
          <p:nvPr/>
        </p:nvSpPr>
        <p:spPr>
          <a:xfrm xmlns:a="http://schemas.openxmlformats.org/drawingml/2006/main">
            <a:off x="7105650" y="4286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39" name="">
            <a:extLst xmlns:a="http://schemas.openxmlformats.org/drawingml/2006/main">
              <a:ext uri="{FF2B5EF4-FFF2-40B4-BE49-F238E27FC236}">
                <a16:creationId xmlns:a16="http://schemas.microsoft.com/office/drawing/2014/main" id="{1CD9BB71-7693-4DF9-BE94-6F5BEF2B3FB3}"/>
              </a:ext>
            </a:extLst>
          </p:cNvPr>
          <p:cNvSpPr>
            <a:spLocks xmlns:a="http://schemas.openxmlformats.org/drawingml/2006/main" noGrp="1"/>
          </p:cNvSpPr>
          <p:nvPr/>
        </p:nvSpPr>
        <p:spPr>
          <a:xfrm xmlns:a="http://schemas.openxmlformats.org/drawingml/2006/main">
            <a:off x="7962900" y="4171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40" name="">
            <a:extLst xmlns:a="http://schemas.openxmlformats.org/drawingml/2006/main">
              <a:ext uri="{FF2B5EF4-FFF2-40B4-BE49-F238E27FC236}">
                <a16:creationId xmlns:a16="http://schemas.microsoft.com/office/drawing/2014/main" id="{35490AE7-9960-41D4-9633-7659A707BC5B}"/>
              </a:ext>
            </a:extLst>
          </p:cNvPr>
          <p:cNvSpPr>
            <a:spLocks xmlns:a="http://schemas.openxmlformats.org/drawingml/2006/main" noGrp="1"/>
          </p:cNvSpPr>
          <p:nvPr/>
        </p:nvSpPr>
        <p:spPr>
          <a:xfrm xmlns:a="http://schemas.openxmlformats.org/drawingml/2006/main">
            <a:off x="8324850" y="4286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41" name="">
            <a:extLst xmlns:a="http://schemas.openxmlformats.org/drawingml/2006/main">
              <a:ext uri="{FF2B5EF4-FFF2-40B4-BE49-F238E27FC236}">
                <a16:creationId xmlns:a16="http://schemas.microsoft.com/office/drawing/2014/main" id="{08729D08-6DBC-4CCD-9176-A6F73F3C74F8}"/>
              </a:ext>
            </a:extLst>
          </p:cNvPr>
          <p:cNvSpPr>
            <a:spLocks xmlns:a="http://schemas.openxmlformats.org/drawingml/2006/main" noGrp="1"/>
          </p:cNvSpPr>
          <p:nvPr/>
        </p:nvSpPr>
        <p:spPr>
          <a:xfrm xmlns:a="http://schemas.openxmlformats.org/drawingml/2006/main">
            <a:off x="9182100" y="4171950"/>
            <a:ext cx="228600" cy="2286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42" name="">
            <a:extLst xmlns:a="http://schemas.openxmlformats.org/drawingml/2006/main">
              <a:ext uri="{FF2B5EF4-FFF2-40B4-BE49-F238E27FC236}">
                <a16:creationId xmlns:a16="http://schemas.microsoft.com/office/drawing/2014/main" id="{11E46948-71D6-40AC-86EB-EBF5D4ADEB14}"/>
              </a:ext>
            </a:extLst>
          </p:cNvPr>
          <p:cNvSpPr>
            <a:spLocks xmlns:a="http://schemas.openxmlformats.org/drawingml/2006/main" noGrp="1"/>
          </p:cNvSpPr>
          <p:nvPr/>
        </p:nvSpPr>
        <p:spPr>
          <a:xfrm xmlns:a="http://schemas.openxmlformats.org/drawingml/2006/main">
            <a:off x="9544050" y="4286250"/>
            <a:ext cx="41910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43" name="">
            <a:extLst xmlns:a="http://schemas.openxmlformats.org/drawingml/2006/main">
              <a:ext uri="{FF2B5EF4-FFF2-40B4-BE49-F238E27FC236}">
                <a16:creationId xmlns:a16="http://schemas.microsoft.com/office/drawing/2014/main" id="{0CB33CDF-A2AE-4589-AED3-C1045A165B0C}"/>
              </a:ext>
            </a:extLst>
          </p:cNvPr>
          <p:cNvSpPr>
            <a:spLocks xmlns:a="http://schemas.openxmlformats.org/drawingml/2006/main" noGrp="1"/>
          </p:cNvSpPr>
          <p:nvPr/>
        </p:nvSpPr>
        <p:spPr>
          <a:xfrm xmlns:a="http://schemas.openxmlformats.org/drawingml/2006/main">
            <a:off x="10401300" y="4171950"/>
            <a:ext cx="228600" cy="228600"/>
          </a:xfrm>
          <a:prstGeom xmlns:a="http://schemas.openxmlformats.org/drawingml/2006/main" prst="ellipse">
            <a:avLst/>
          </a:prstGeom>
          <a:solidFill xmlns:a="http://schemas.openxmlformats.org/drawingml/2006/main">
            <a:srgbClr val="C8553D"/>
          </a:solidFill>
          <a:ln xmlns:a="http://schemas.openxmlformats.org/drawingml/2006/main" w="9525">
            <a:solidFill>
              <a:srgbClr val="C8553D"/>
            </a:solidFill>
            <a:prstDash val="solid"/>
          </a:ln>
        </p:spPr>
      </p:sp>
      <p:sp>
        <p:nvSpPr>
          <p:cNvPr id="44" name="">
            <a:extLst xmlns:a="http://schemas.openxmlformats.org/drawingml/2006/main">
              <a:ext uri="{FF2B5EF4-FFF2-40B4-BE49-F238E27FC236}">
                <a16:creationId xmlns:a16="http://schemas.microsoft.com/office/drawing/2014/main" id="{E9A0723B-8B85-4BE9-8E27-04DE3307B9F2}"/>
              </a:ext>
            </a:extLst>
          </p:cNvPr>
          <p:cNvSpPr>
            <a:spLocks xmlns:a="http://schemas.openxmlformats.org/drawingml/2006/main" noGrp="1"/>
          </p:cNvSpPr>
          <p:nvPr/>
        </p:nvSpPr>
        <p:spPr>
          <a:xfrm xmlns:a="http://schemas.openxmlformats.org/drawingml/2006/main">
            <a:off x="10763250" y="4286250"/>
            <a:ext cx="419100" cy="0"/>
          </a:xfrm>
          <a:prstGeom xmlns:a="http://schemas.openxmlformats.org/drawingml/2006/main" prst="line">
            <a:avLst/>
          </a:prstGeom>
          <a:noFill xmlns:a="http://schemas.openxmlformats.org/drawingml/2006/main"/>
          <a:ln xmlns:a="http://schemas.openxmlformats.org/drawingml/2006/main" w="28575">
            <a:solidFill>
              <a:srgbClr val="C8553D"/>
            </a:solidFill>
            <a:prstDash val="solid"/>
          </a:ln>
        </p:spPr>
      </p:sp>
      <p:sp>
        <p:nvSpPr>
          <p:cNvPr id="45" name="">
            <a:extLst xmlns:a="http://schemas.openxmlformats.org/drawingml/2006/main">
              <a:ext uri="{FF2B5EF4-FFF2-40B4-BE49-F238E27FC236}">
                <a16:creationId xmlns:a16="http://schemas.microsoft.com/office/drawing/2014/main" id="{9B669E8A-89F5-4D31-AAC4-C1577A31A629}"/>
              </a:ext>
            </a:extLst>
          </p:cNvPr>
          <p:cNvSpPr>
            <a:spLocks xmlns:a="http://schemas.openxmlformats.org/drawingml/2006/main" noGrp="1"/>
          </p:cNvSpPr>
          <p:nvPr/>
        </p:nvSpPr>
        <p:spPr>
          <a:xfrm xmlns:a="http://schemas.openxmlformats.org/drawingml/2006/main">
            <a:off x="5695950" y="4648200"/>
            <a:ext cx="5086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101820"/>
                </a:solidFill>
                <a:latin typeface="Arial"/>
                <a:ea typeface="Arial"/>
                <a:cs typeface="Arial"/>
              </a:defRPr>
            </a:pPr>
            <a:r>
              <a:rPr sz="1725" b="1">
                <a:solidFill>
                  <a:srgbClr val="101820"/>
                </a:solidFill>
                <a:latin typeface="Arial"/>
                <a:ea typeface="Arial"/>
                <a:cs typeface="Arial"/>
              </a:rPr>
              <a:t>A slight repeated bias becomes measurable only after many assets and periods are combined.</a:t>
            </a:r>
          </a:p>
        </p:txBody>
      </p:sp>
      <p:sp>
        <p:nvSpPr>
          <p:cNvPr id="46" name="">
            <a:extLst xmlns:a="http://schemas.openxmlformats.org/drawingml/2006/main">
              <a:ext uri="{FF2B5EF4-FFF2-40B4-BE49-F238E27FC236}">
                <a16:creationId xmlns:a16="http://schemas.microsoft.com/office/drawing/2014/main" id="{7A1700D0-6B1D-4B1B-9952-AF48A03CE501}"/>
              </a:ext>
            </a:extLst>
          </p:cNvPr>
          <p:cNvSpPr>
            <a:spLocks xmlns:a="http://schemas.openxmlformats.org/drawingml/2006/main" noGrp="1"/>
          </p:cNvSpPr>
          <p:nvPr/>
        </p:nvSpPr>
        <p:spPr>
          <a:xfrm xmlns:a="http://schemas.openxmlformats.org/drawingml/2006/main">
            <a:off x="1771650" y="5600700"/>
            <a:ext cx="864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101820"/>
                </a:solidFill>
                <a:latin typeface="Arial"/>
                <a:ea typeface="Arial"/>
                <a:cs typeface="Arial"/>
              </a:defRPr>
            </a:pPr>
            <a:r>
              <a:rPr sz="2100" b="1">
                <a:solidFill>
                  <a:srgbClr val="101820"/>
                </a:solidFill>
                <a:latin typeface="Arial"/>
                <a:ea typeface="Arial"/>
                <a:cs typeface="Arial"/>
              </a:rPr>
              <a:t>A portfolio-level tendency can coexist with an almost featureless single-asset scatterplot.</a:t>
            </a:r>
          </a:p>
        </p:txBody>
      </p:sp>
    </p:spTree>
    <p:extLst>
      <p:ext uri="{BB962C8B-B14F-4D97-AF65-F5344CB8AC3E}">
        <p14:creationId xmlns:p14="http://schemas.microsoft.com/office/powerpoint/2010/main" val="4844472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BCA943-CA5B-442E-A9EA-010C5D3BA0F8}"/>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4-title">
            <a:extLst xmlns:a="http://schemas.openxmlformats.org/drawingml/2006/main">
              <a:ext uri="{FF2B5EF4-FFF2-40B4-BE49-F238E27FC236}">
                <a16:creationId xmlns:a16="http://schemas.microsoft.com/office/drawing/2014/main" id="{FA5D2491-C978-4FD9-A11A-FCB9F08B4D27}"/>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Three similar-sounding questions test different objects</a:t>
            </a:r>
          </a:p>
        </p:txBody>
      </p:sp>
      <p:sp>
        <p:nvSpPr>
          <p:cNvPr id="3" name="">
            <a:extLst xmlns:a="http://schemas.openxmlformats.org/drawingml/2006/main">
              <a:ext uri="{FF2B5EF4-FFF2-40B4-BE49-F238E27FC236}">
                <a16:creationId xmlns:a16="http://schemas.microsoft.com/office/drawing/2014/main" id="{2AF4BF89-19EF-4F71-A971-8302AD68C7B8}"/>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4-number">
            <a:extLst xmlns:a="http://schemas.openxmlformats.org/drawingml/2006/main">
              <a:ext uri="{FF2B5EF4-FFF2-40B4-BE49-F238E27FC236}">
                <a16:creationId xmlns:a16="http://schemas.microsoft.com/office/drawing/2014/main" id="{E870A8A7-4B08-4461-A2F3-7EC05B3315E1}"/>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9645B29E-235F-4204-9FB8-2FD201CF89A3}"/>
              </a:ext>
            </a:extLst>
          </p:cNvPr>
          <p:cNvSpPr>
            <a:spLocks xmlns:a="http://schemas.openxmlformats.org/drawingml/2006/main" noGrp="1"/>
          </p:cNvSpPr>
          <p:nvPr/>
        </p:nvSpPr>
        <p:spPr>
          <a:xfrm xmlns:a="http://schemas.openxmlformats.org/drawingml/2006/main">
            <a:off x="647700" y="1771650"/>
            <a:ext cx="10896600" cy="11239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6" name="">
            <a:extLst xmlns:a="http://schemas.openxmlformats.org/drawingml/2006/main">
              <a:ext uri="{FF2B5EF4-FFF2-40B4-BE49-F238E27FC236}">
                <a16:creationId xmlns:a16="http://schemas.microsoft.com/office/drawing/2014/main" id="{47D005CC-1928-4F39-8EAE-BBE364E07B41}"/>
              </a:ext>
            </a:extLst>
          </p:cNvPr>
          <p:cNvSpPr>
            <a:spLocks xmlns:a="http://schemas.openxmlformats.org/drawingml/2006/main" noGrp="1"/>
          </p:cNvSpPr>
          <p:nvPr/>
        </p:nvSpPr>
        <p:spPr>
          <a:xfrm xmlns:a="http://schemas.openxmlformats.org/drawingml/2006/main">
            <a:off x="895350" y="19621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CROSS-SECTIONAL MOMENTUM</a:t>
            </a:r>
          </a:p>
        </p:txBody>
      </p:sp>
      <p:sp>
        <p:nvSpPr>
          <p:cNvPr id="7" name="">
            <a:extLst xmlns:a="http://schemas.openxmlformats.org/drawingml/2006/main">
              <a:ext uri="{FF2B5EF4-FFF2-40B4-BE49-F238E27FC236}">
                <a16:creationId xmlns:a16="http://schemas.microsoft.com/office/drawing/2014/main" id="{AFC9F553-4E30-4046-B38B-6A61EACF69B9}"/>
              </a:ext>
            </a:extLst>
          </p:cNvPr>
          <p:cNvSpPr>
            <a:spLocks xmlns:a="http://schemas.openxmlformats.org/drawingml/2006/main" noGrp="1"/>
          </p:cNvSpPr>
          <p:nvPr/>
        </p:nvSpPr>
        <p:spPr>
          <a:xfrm xmlns:a="http://schemas.openxmlformats.org/drawingml/2006/main">
            <a:off x="3695700" y="19431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01820"/>
                </a:solidFill>
                <a:latin typeface="Arial"/>
                <a:ea typeface="Arial"/>
                <a:cs typeface="Arial"/>
              </a:defRPr>
            </a:pPr>
            <a:r>
              <a:rPr sz="1725" b="1">
                <a:solidFill>
                  <a:srgbClr val="101820"/>
                </a:solidFill>
                <a:latin typeface="Arial"/>
                <a:ea typeface="Arial"/>
                <a:cs typeface="Arial"/>
              </a:rPr>
              <a:t>E[future winners − future losers] &gt; 0</a:t>
            </a:r>
          </a:p>
        </p:txBody>
      </p:sp>
      <p:sp>
        <p:nvSpPr>
          <p:cNvPr id="8" name="">
            <a:extLst xmlns:a="http://schemas.openxmlformats.org/drawingml/2006/main">
              <a:ext uri="{FF2B5EF4-FFF2-40B4-BE49-F238E27FC236}">
                <a16:creationId xmlns:a16="http://schemas.microsoft.com/office/drawing/2014/main" id="{AC16C930-0FA0-4BD9-B067-815728B68F83}"/>
              </a:ext>
            </a:extLst>
          </p:cNvPr>
          <p:cNvSpPr>
            <a:spLocks xmlns:a="http://schemas.openxmlformats.org/drawingml/2006/main" noGrp="1"/>
          </p:cNvSpPr>
          <p:nvPr/>
        </p:nvSpPr>
        <p:spPr>
          <a:xfrm xmlns:a="http://schemas.openxmlformats.org/drawingml/2006/main">
            <a:off x="3695700" y="24193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Rank many assets; harvest a relative spread.</a:t>
            </a:r>
          </a:p>
        </p:txBody>
      </p:sp>
      <p:sp>
        <p:nvSpPr>
          <p:cNvPr id="9" name="">
            <a:extLst xmlns:a="http://schemas.openxmlformats.org/drawingml/2006/main">
              <a:ext uri="{FF2B5EF4-FFF2-40B4-BE49-F238E27FC236}">
                <a16:creationId xmlns:a16="http://schemas.microsoft.com/office/drawing/2014/main" id="{87F5219D-1B10-45C3-811C-6C3B901C48B9}"/>
              </a:ext>
            </a:extLst>
          </p:cNvPr>
          <p:cNvSpPr>
            <a:spLocks xmlns:a="http://schemas.openxmlformats.org/drawingml/2006/main" noGrp="1"/>
          </p:cNvSpPr>
          <p:nvPr/>
        </p:nvSpPr>
        <p:spPr>
          <a:xfrm xmlns:a="http://schemas.openxmlformats.org/drawingml/2006/main">
            <a:off x="647700" y="3181350"/>
            <a:ext cx="10896600" cy="11239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01FAEE80-3DC8-4B08-97C6-CFD381AA7269}"/>
              </a:ext>
            </a:extLst>
          </p:cNvPr>
          <p:cNvSpPr>
            <a:spLocks xmlns:a="http://schemas.openxmlformats.org/drawingml/2006/main" noGrp="1"/>
          </p:cNvSpPr>
          <p:nvPr/>
        </p:nvSpPr>
        <p:spPr>
          <a:xfrm xmlns:a="http://schemas.openxmlformats.org/drawingml/2006/main">
            <a:off x="895350" y="3371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TIME-SERIES MOMENTUM</a:t>
            </a:r>
          </a:p>
        </p:txBody>
      </p:sp>
      <p:sp>
        <p:nvSpPr>
          <p:cNvPr id="11" name="">
            <a:extLst xmlns:a="http://schemas.openxmlformats.org/drawingml/2006/main">
              <a:ext uri="{FF2B5EF4-FFF2-40B4-BE49-F238E27FC236}">
                <a16:creationId xmlns:a16="http://schemas.microsoft.com/office/drawing/2014/main" id="{46F91009-DB67-4CD3-B0C3-1DC5414E6A6C}"/>
              </a:ext>
            </a:extLst>
          </p:cNvPr>
          <p:cNvSpPr>
            <a:spLocks xmlns:a="http://schemas.openxmlformats.org/drawingml/2006/main" noGrp="1"/>
          </p:cNvSpPr>
          <p:nvPr/>
        </p:nvSpPr>
        <p:spPr>
          <a:xfrm xmlns:a="http://schemas.openxmlformats.org/drawingml/2006/main">
            <a:off x="3695700" y="33528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01820"/>
                </a:solidFill>
                <a:latin typeface="Arial"/>
                <a:ea typeface="Arial"/>
                <a:cs typeface="Arial"/>
              </a:defRPr>
            </a:pPr>
            <a:r>
              <a:rPr sz="1725" b="1">
                <a:solidFill>
                  <a:srgbClr val="101820"/>
                </a:solidFill>
                <a:latin typeface="Arial"/>
                <a:ea typeface="Arial"/>
                <a:cs typeface="Arial"/>
              </a:rPr>
              <a:t>E[sign(own past return) × own future return] &gt; 0</a:t>
            </a:r>
          </a:p>
        </p:txBody>
      </p:sp>
      <p:sp>
        <p:nvSpPr>
          <p:cNvPr id="12" name="">
            <a:extLst xmlns:a="http://schemas.openxmlformats.org/drawingml/2006/main">
              <a:ext uri="{FF2B5EF4-FFF2-40B4-BE49-F238E27FC236}">
                <a16:creationId xmlns:a16="http://schemas.microsoft.com/office/drawing/2014/main" id="{824F3FC1-9A31-4090-9B29-D3CCA10FC626}"/>
              </a:ext>
            </a:extLst>
          </p:cNvPr>
          <p:cNvSpPr>
            <a:spLocks xmlns:a="http://schemas.openxmlformats.org/drawingml/2006/main" noGrp="1"/>
          </p:cNvSpPr>
          <p:nvPr/>
        </p:nvSpPr>
        <p:spPr>
          <a:xfrm xmlns:a="http://schemas.openxmlformats.org/drawingml/2006/main">
            <a:off x="3695700" y="38290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Use one asset's past direction; diversify the bets.</a:t>
            </a:r>
          </a:p>
        </p:txBody>
      </p:sp>
      <p:sp>
        <p:nvSpPr>
          <p:cNvPr id="13" name="">
            <a:extLst xmlns:a="http://schemas.openxmlformats.org/drawingml/2006/main">
              <a:ext uri="{FF2B5EF4-FFF2-40B4-BE49-F238E27FC236}">
                <a16:creationId xmlns:a16="http://schemas.microsoft.com/office/drawing/2014/main" id="{F8B910F0-BBA6-4EED-B9E3-A5838BD13196}"/>
              </a:ext>
            </a:extLst>
          </p:cNvPr>
          <p:cNvSpPr>
            <a:spLocks xmlns:a="http://schemas.openxmlformats.org/drawingml/2006/main" noGrp="1"/>
          </p:cNvSpPr>
          <p:nvPr/>
        </p:nvSpPr>
        <p:spPr>
          <a:xfrm xmlns:a="http://schemas.openxmlformats.org/drawingml/2006/main">
            <a:off x="647700" y="4591050"/>
            <a:ext cx="10896600" cy="11239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4" name="">
            <a:extLst xmlns:a="http://schemas.openxmlformats.org/drawingml/2006/main">
              <a:ext uri="{FF2B5EF4-FFF2-40B4-BE49-F238E27FC236}">
                <a16:creationId xmlns:a16="http://schemas.microsoft.com/office/drawing/2014/main" id="{84B7B671-DC6C-4B53-835C-28A9F427422F}"/>
              </a:ext>
            </a:extLst>
          </p:cNvPr>
          <p:cNvSpPr>
            <a:spLocks xmlns:a="http://schemas.openxmlformats.org/drawingml/2006/main" noGrp="1"/>
          </p:cNvSpPr>
          <p:nvPr/>
        </p:nvSpPr>
        <p:spPr>
          <a:xfrm xmlns:a="http://schemas.openxmlformats.org/drawingml/2006/main">
            <a:off x="895350" y="47815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C8553D"/>
                </a:solidFill>
                <a:latin typeface="Arial"/>
                <a:ea typeface="Arial"/>
                <a:cs typeface="Arial"/>
              </a:defRPr>
            </a:pPr>
            <a:r>
              <a:rPr sz="1350" b="1">
                <a:solidFill>
                  <a:srgbClr val="C8553D"/>
                </a:solidFill>
                <a:latin typeface="Arial"/>
                <a:ea typeface="Arial"/>
                <a:cs typeface="Arial"/>
              </a:rPr>
              <a:t>TRADABLE POLICY</a:t>
            </a:r>
          </a:p>
        </p:txBody>
      </p:sp>
      <p:sp>
        <p:nvSpPr>
          <p:cNvPr id="15" name="">
            <a:extLst xmlns:a="http://schemas.openxmlformats.org/drawingml/2006/main">
              <a:ext uri="{FF2B5EF4-FFF2-40B4-BE49-F238E27FC236}">
                <a16:creationId xmlns:a16="http://schemas.microsoft.com/office/drawing/2014/main" id="{EC38BA74-FEFC-4DF8-8382-6AE99E81C35E}"/>
              </a:ext>
            </a:extLst>
          </p:cNvPr>
          <p:cNvSpPr>
            <a:spLocks xmlns:a="http://schemas.openxmlformats.org/drawingml/2006/main" noGrp="1"/>
          </p:cNvSpPr>
          <p:nvPr/>
        </p:nvSpPr>
        <p:spPr>
          <a:xfrm xmlns:a="http://schemas.openxmlformats.org/drawingml/2006/main">
            <a:off x="3695700" y="47625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1">
                <a:solidFill>
                  <a:srgbClr val="101820"/>
                </a:solidFill>
                <a:latin typeface="Arial"/>
                <a:ea typeface="Arial"/>
                <a:cs typeface="Arial"/>
              </a:defRPr>
            </a:pPr>
            <a:r>
              <a:rPr sz="1725" b="1">
                <a:solidFill>
                  <a:srgbClr val="101820"/>
                </a:solidFill>
                <a:latin typeface="Arial"/>
                <a:ea typeface="Arial"/>
                <a:cs typeface="Arial"/>
              </a:rPr>
              <a:t>Net strategy value-add &gt; an attainable baseline</a:t>
            </a:r>
          </a:p>
        </p:txBody>
      </p:sp>
      <p:sp>
        <p:nvSpPr>
          <p:cNvPr id="16" name="">
            <a:extLst xmlns:a="http://schemas.openxmlformats.org/drawingml/2006/main">
              <a:ext uri="{FF2B5EF4-FFF2-40B4-BE49-F238E27FC236}">
                <a16:creationId xmlns:a16="http://schemas.microsoft.com/office/drawing/2014/main" id="{5CBA5E91-6C51-438D-90E5-F2DE66B95824}"/>
              </a:ext>
            </a:extLst>
          </p:cNvPr>
          <p:cNvSpPr>
            <a:spLocks xmlns:a="http://schemas.openxmlformats.org/drawingml/2006/main" noGrp="1"/>
          </p:cNvSpPr>
          <p:nvPr/>
        </p:nvSpPr>
        <p:spPr>
          <a:xfrm xmlns:a="http://schemas.openxmlformats.org/drawingml/2006/main">
            <a:off x="3695700" y="5238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Add timing, cash, costs, exposure, and an honest comparator.</a:t>
            </a:r>
          </a:p>
        </p:txBody>
      </p:sp>
    </p:spTree>
    <p:extLst>
      <p:ext uri="{BB962C8B-B14F-4D97-AF65-F5344CB8AC3E}">
        <p14:creationId xmlns:p14="http://schemas.microsoft.com/office/powerpoint/2010/main" val="11291917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860A9BF-A78A-46ED-A605-AAA973D05EA2}"/>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5-title">
            <a:extLst xmlns:a="http://schemas.openxmlformats.org/drawingml/2006/main">
              <a:ext uri="{FF2B5EF4-FFF2-40B4-BE49-F238E27FC236}">
                <a16:creationId xmlns:a16="http://schemas.microsoft.com/office/drawing/2014/main" id="{F29CC2FC-CCBF-494D-883E-98ACE84DEDEB}"/>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Our tests often asked the hardest version of the question</a:t>
            </a:r>
          </a:p>
        </p:txBody>
      </p:sp>
      <p:sp>
        <p:nvSpPr>
          <p:cNvPr id="3" name="">
            <a:extLst xmlns:a="http://schemas.openxmlformats.org/drawingml/2006/main">
              <a:ext uri="{FF2B5EF4-FFF2-40B4-BE49-F238E27FC236}">
                <a16:creationId xmlns:a16="http://schemas.microsoft.com/office/drawing/2014/main" id="{3EBE36BB-0BA0-410C-B03A-C4E16659DBAC}"/>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5-number">
            <a:extLst xmlns:a="http://schemas.openxmlformats.org/drawingml/2006/main">
              <a:ext uri="{FF2B5EF4-FFF2-40B4-BE49-F238E27FC236}">
                <a16:creationId xmlns:a16="http://schemas.microsoft.com/office/drawing/2014/main" id="{F7098DD9-BDF9-4E13-81F3-9E87031929EB}"/>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17018BCD-3E90-47F3-8C8D-48085BD3C556}"/>
              </a:ext>
            </a:extLst>
          </p:cNvPr>
          <p:cNvSpPr>
            <a:spLocks xmlns:a="http://schemas.openxmlformats.org/drawingml/2006/main" noGrp="1"/>
          </p:cNvSpPr>
          <p:nvPr/>
        </p:nvSpPr>
        <p:spPr>
          <a:xfrm xmlns:a="http://schemas.openxmlformats.org/drawingml/2006/main">
            <a:off x="609600" y="1752600"/>
            <a:ext cx="5314950" cy="16573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A04797E7-EEB4-4F3F-BEFF-26DD0821AE4D}"/>
              </a:ext>
            </a:extLst>
          </p:cNvPr>
          <p:cNvSpPr>
            <a:spLocks xmlns:a="http://schemas.openxmlformats.org/drawingml/2006/main" noGrp="1"/>
          </p:cNvSpPr>
          <p:nvPr/>
        </p:nvSpPr>
        <p:spPr>
          <a:xfrm xmlns:a="http://schemas.openxmlformats.org/drawingml/2006/main">
            <a:off x="838200" y="19621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769AA36-3893-45E5-A02F-B2A11636A9EA}"/>
              </a:ext>
            </a:extLst>
          </p:cNvPr>
          <p:cNvSpPr>
            <a:spLocks xmlns:a="http://schemas.openxmlformats.org/drawingml/2006/main" noGrp="1"/>
          </p:cNvSpPr>
          <p:nvPr/>
        </p:nvSpPr>
        <p:spPr>
          <a:xfrm xmlns:a="http://schemas.openxmlformats.org/drawingml/2006/main">
            <a:off x="1485900" y="1943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Single-asset noise</a:t>
            </a:r>
          </a:p>
        </p:txBody>
      </p:sp>
      <p:sp>
        <p:nvSpPr>
          <p:cNvPr id="8" name="">
            <a:extLst xmlns:a="http://schemas.openxmlformats.org/drawingml/2006/main">
              <a:ext uri="{FF2B5EF4-FFF2-40B4-BE49-F238E27FC236}">
                <a16:creationId xmlns:a16="http://schemas.microsoft.com/office/drawing/2014/main" id="{58933556-4ACD-43BC-9123-60E047159E2A}"/>
              </a:ext>
            </a:extLst>
          </p:cNvPr>
          <p:cNvSpPr>
            <a:spLocks xmlns:a="http://schemas.openxmlformats.org/drawingml/2006/main" noGrp="1"/>
          </p:cNvSpPr>
          <p:nvPr/>
        </p:nvSpPr>
        <p:spPr>
          <a:xfrm xmlns:a="http://schemas.openxmlformats.org/drawingml/2006/main">
            <a:off x="1485900" y="245745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A small average effect disappears inside one volatile return path.</a:t>
            </a:r>
          </a:p>
        </p:txBody>
      </p:sp>
      <p:sp>
        <p:nvSpPr>
          <p:cNvPr id="9" name="">
            <a:extLst xmlns:a="http://schemas.openxmlformats.org/drawingml/2006/main">
              <a:ext uri="{FF2B5EF4-FFF2-40B4-BE49-F238E27FC236}">
                <a16:creationId xmlns:a16="http://schemas.microsoft.com/office/drawing/2014/main" id="{472C64E6-EAB2-48AA-991A-A400D779EE19}"/>
              </a:ext>
            </a:extLst>
          </p:cNvPr>
          <p:cNvSpPr>
            <a:spLocks xmlns:a="http://schemas.openxmlformats.org/drawingml/2006/main" noGrp="1"/>
          </p:cNvSpPr>
          <p:nvPr/>
        </p:nvSpPr>
        <p:spPr>
          <a:xfrm xmlns:a="http://schemas.openxmlformats.org/drawingml/2006/main">
            <a:off x="6267450" y="1752600"/>
            <a:ext cx="5314950" cy="16573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C128F598-44E3-4B61-85D4-C7E90036DCDB}"/>
              </a:ext>
            </a:extLst>
          </p:cNvPr>
          <p:cNvSpPr>
            <a:spLocks xmlns:a="http://schemas.openxmlformats.org/drawingml/2006/main" noGrp="1"/>
          </p:cNvSpPr>
          <p:nvPr/>
        </p:nvSpPr>
        <p:spPr>
          <a:xfrm xmlns:a="http://schemas.openxmlformats.org/drawingml/2006/main">
            <a:off x="6496050" y="196215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E7AAF6FE-C5FD-472C-B13F-63BC9FBF1EF7}"/>
              </a:ext>
            </a:extLst>
          </p:cNvPr>
          <p:cNvSpPr>
            <a:spLocks xmlns:a="http://schemas.openxmlformats.org/drawingml/2006/main" noGrp="1"/>
          </p:cNvSpPr>
          <p:nvPr/>
        </p:nvSpPr>
        <p:spPr>
          <a:xfrm xmlns:a="http://schemas.openxmlformats.org/drawingml/2006/main">
            <a:off x="7143750" y="1943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Fast clocks</a:t>
            </a:r>
          </a:p>
        </p:txBody>
      </p:sp>
      <p:sp>
        <p:nvSpPr>
          <p:cNvPr id="12" name="">
            <a:extLst xmlns:a="http://schemas.openxmlformats.org/drawingml/2006/main">
              <a:ext uri="{FF2B5EF4-FFF2-40B4-BE49-F238E27FC236}">
                <a16:creationId xmlns:a16="http://schemas.microsoft.com/office/drawing/2014/main" id="{6CA67FFF-5B96-43C8-84A8-77972824D49C}"/>
              </a:ext>
            </a:extLst>
          </p:cNvPr>
          <p:cNvSpPr>
            <a:spLocks xmlns:a="http://schemas.openxmlformats.org/drawingml/2006/main" noGrp="1"/>
          </p:cNvSpPr>
          <p:nvPr/>
        </p:nvSpPr>
        <p:spPr>
          <a:xfrm xmlns:a="http://schemas.openxmlformats.org/drawingml/2006/main">
            <a:off x="7143750" y="245745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Daily and 30-minute outcomes can be dominated by reversal and microstructure noise.</a:t>
            </a:r>
          </a:p>
        </p:txBody>
      </p:sp>
      <p:sp>
        <p:nvSpPr>
          <p:cNvPr id="13" name="">
            <a:extLst xmlns:a="http://schemas.openxmlformats.org/drawingml/2006/main">
              <a:ext uri="{FF2B5EF4-FFF2-40B4-BE49-F238E27FC236}">
                <a16:creationId xmlns:a16="http://schemas.microsoft.com/office/drawing/2014/main" id="{D0CFFA19-7EF6-4098-A441-6FA1BEEF9ABD}"/>
              </a:ext>
            </a:extLst>
          </p:cNvPr>
          <p:cNvSpPr>
            <a:spLocks xmlns:a="http://schemas.openxmlformats.org/drawingml/2006/main" noGrp="1"/>
          </p:cNvSpPr>
          <p:nvPr/>
        </p:nvSpPr>
        <p:spPr>
          <a:xfrm xmlns:a="http://schemas.openxmlformats.org/drawingml/2006/main">
            <a:off x="609600" y="3905250"/>
            <a:ext cx="5314950" cy="16573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4" name="">
            <a:extLst xmlns:a="http://schemas.openxmlformats.org/drawingml/2006/main">
              <a:ext uri="{FF2B5EF4-FFF2-40B4-BE49-F238E27FC236}">
                <a16:creationId xmlns:a16="http://schemas.microsoft.com/office/drawing/2014/main" id="{5FD64D5F-6500-4C28-9DE1-9849518EAEC8}"/>
              </a:ext>
            </a:extLst>
          </p:cNvPr>
          <p:cNvSpPr>
            <a:spLocks xmlns:a="http://schemas.openxmlformats.org/drawingml/2006/main" noGrp="1"/>
          </p:cNvSpPr>
          <p:nvPr/>
        </p:nvSpPr>
        <p:spPr>
          <a:xfrm xmlns:a="http://schemas.openxmlformats.org/drawingml/2006/main">
            <a:off x="838200" y="411480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C8553D"/>
                </a:solidFill>
                <a:latin typeface="Arial"/>
                <a:ea typeface="Arial"/>
                <a:cs typeface="Arial"/>
              </a:defRPr>
            </a:pPr>
            <a:r>
              <a:rPr sz="1650" b="1">
                <a:solidFill>
                  <a:srgbClr val="C8553D"/>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6E9769C-84C5-4D9D-9FCC-79EB0347BC46}"/>
              </a:ext>
            </a:extLst>
          </p:cNvPr>
          <p:cNvSpPr>
            <a:spLocks xmlns:a="http://schemas.openxmlformats.org/drawingml/2006/main" noGrp="1"/>
          </p:cNvSpPr>
          <p:nvPr/>
        </p:nvSpPr>
        <p:spPr>
          <a:xfrm xmlns:a="http://schemas.openxmlformats.org/drawingml/2006/main">
            <a:off x="1485900" y="4095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Long-only constraint</a:t>
            </a:r>
          </a:p>
        </p:txBody>
      </p:sp>
      <p:sp>
        <p:nvSpPr>
          <p:cNvPr id="16" name="">
            <a:extLst xmlns:a="http://schemas.openxmlformats.org/drawingml/2006/main">
              <a:ext uri="{FF2B5EF4-FFF2-40B4-BE49-F238E27FC236}">
                <a16:creationId xmlns:a16="http://schemas.microsoft.com/office/drawing/2014/main" id="{2FEBE662-C042-4892-954A-43C5574A7DA5}"/>
              </a:ext>
            </a:extLst>
          </p:cNvPr>
          <p:cNvSpPr>
            <a:spLocks xmlns:a="http://schemas.openxmlformats.org/drawingml/2006/main" noGrp="1"/>
          </p:cNvSpPr>
          <p:nvPr/>
        </p:nvSpPr>
        <p:spPr>
          <a:xfrm xmlns:a="http://schemas.openxmlformats.org/drawingml/2006/main">
            <a:off x="1485900" y="461010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The academic loser leg is unavailable; cash must compete with ownership.</a:t>
            </a:r>
          </a:p>
        </p:txBody>
      </p:sp>
      <p:sp>
        <p:nvSpPr>
          <p:cNvPr id="17" name="">
            <a:extLst xmlns:a="http://schemas.openxmlformats.org/drawingml/2006/main">
              <a:ext uri="{FF2B5EF4-FFF2-40B4-BE49-F238E27FC236}">
                <a16:creationId xmlns:a16="http://schemas.microsoft.com/office/drawing/2014/main" id="{AA7314F1-12D2-4C1B-A0C0-359A561C1EA1}"/>
              </a:ext>
            </a:extLst>
          </p:cNvPr>
          <p:cNvSpPr>
            <a:spLocks xmlns:a="http://schemas.openxmlformats.org/drawingml/2006/main" noGrp="1"/>
          </p:cNvSpPr>
          <p:nvPr/>
        </p:nvSpPr>
        <p:spPr>
          <a:xfrm xmlns:a="http://schemas.openxmlformats.org/drawingml/2006/main">
            <a:off x="6267450" y="3905250"/>
            <a:ext cx="5314950" cy="16573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5A583D88-E03F-4E4A-8036-833596E2E46E}"/>
              </a:ext>
            </a:extLst>
          </p:cNvPr>
          <p:cNvSpPr>
            <a:spLocks xmlns:a="http://schemas.openxmlformats.org/drawingml/2006/main" noGrp="1"/>
          </p:cNvSpPr>
          <p:nvPr/>
        </p:nvSpPr>
        <p:spPr>
          <a:xfrm xmlns:a="http://schemas.openxmlformats.org/drawingml/2006/main">
            <a:off x="6496050" y="4114800"/>
            <a:ext cx="47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C7F97CC8-2631-435B-8E80-7A8CB31B76BA}"/>
              </a:ext>
            </a:extLst>
          </p:cNvPr>
          <p:cNvSpPr>
            <a:spLocks xmlns:a="http://schemas.openxmlformats.org/drawingml/2006/main" noGrp="1"/>
          </p:cNvSpPr>
          <p:nvPr/>
        </p:nvSpPr>
        <p:spPr>
          <a:xfrm xmlns:a="http://schemas.openxmlformats.org/drawingml/2006/main">
            <a:off x="7143750" y="4095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High evidence bar</a:t>
            </a:r>
          </a:p>
        </p:txBody>
      </p:sp>
      <p:sp>
        <p:nvSpPr>
          <p:cNvPr id="20" name="">
            <a:extLst xmlns:a="http://schemas.openxmlformats.org/drawingml/2006/main">
              <a:ext uri="{FF2B5EF4-FFF2-40B4-BE49-F238E27FC236}">
                <a16:creationId xmlns:a16="http://schemas.microsoft.com/office/drawing/2014/main" id="{13F53EED-89A8-4675-B137-122CE9CF880E}"/>
              </a:ext>
            </a:extLst>
          </p:cNvPr>
          <p:cNvSpPr>
            <a:spLocks xmlns:a="http://schemas.openxmlformats.org/drawingml/2006/main" noGrp="1"/>
          </p:cNvSpPr>
          <p:nvPr/>
        </p:nvSpPr>
        <p:spPr>
          <a:xfrm xmlns:a="http://schemas.openxmlformats.org/drawingml/2006/main">
            <a:off x="7143750" y="461010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Causal timing, controls, costs, and temporal transport remove fragile wins.</a:t>
            </a:r>
          </a:p>
        </p:txBody>
      </p:sp>
    </p:spTree>
    <p:extLst>
      <p:ext uri="{BB962C8B-B14F-4D97-AF65-F5344CB8AC3E}">
        <p14:creationId xmlns:p14="http://schemas.microsoft.com/office/powerpoint/2010/main" val="20220567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7BC65C0-B463-42E5-AA54-9083A0A103A2}"/>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6-title">
            <a:extLst xmlns:a="http://schemas.openxmlformats.org/drawingml/2006/main">
              <a:ext uri="{FF2B5EF4-FFF2-40B4-BE49-F238E27FC236}">
                <a16:creationId xmlns:a16="http://schemas.microsoft.com/office/drawing/2014/main" id="{3C412DD0-AB08-4C8F-87AB-D5C882384D3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Long-only timing must beat ownership—not merely cash</a:t>
            </a:r>
          </a:p>
        </p:txBody>
      </p:sp>
      <p:sp>
        <p:nvSpPr>
          <p:cNvPr id="3" name="">
            <a:extLst xmlns:a="http://schemas.openxmlformats.org/drawingml/2006/main">
              <a:ext uri="{FF2B5EF4-FFF2-40B4-BE49-F238E27FC236}">
                <a16:creationId xmlns:a16="http://schemas.microsoft.com/office/drawing/2014/main" id="{78D309DD-3F5F-4466-9E47-54DFE4DD382B}"/>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6-number">
            <a:extLst xmlns:a="http://schemas.openxmlformats.org/drawingml/2006/main">
              <a:ext uri="{FF2B5EF4-FFF2-40B4-BE49-F238E27FC236}">
                <a16:creationId xmlns:a16="http://schemas.microsoft.com/office/drawing/2014/main" id="{0554FF23-FEBB-413A-B0FA-52ED8FD8EFE6}"/>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A02CAF42-2FE8-4A08-A22A-E533C8273EB1}"/>
              </a:ext>
            </a:extLst>
          </p:cNvPr>
          <p:cNvSpPr>
            <a:spLocks xmlns:a="http://schemas.openxmlformats.org/drawingml/2006/main" noGrp="1"/>
          </p:cNvSpPr>
          <p:nvPr/>
        </p:nvSpPr>
        <p:spPr>
          <a:xfrm xmlns:a="http://schemas.openxmlformats.org/drawingml/2006/main">
            <a:off x="685800" y="16192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a:solidFill>
                  <a:srgbClr val="101820"/>
                </a:solidFill>
                <a:latin typeface="Arial"/>
                <a:ea typeface="Arial"/>
                <a:cs typeface="Arial"/>
              </a:defRPr>
            </a:pPr>
            <a:r>
              <a:rPr sz="2325" b="1">
                <a:solidFill>
                  <a:srgbClr val="101820"/>
                </a:solidFill>
                <a:latin typeface="Arial"/>
                <a:ea typeface="Arial"/>
                <a:cs typeface="Arial"/>
              </a:rPr>
              <a:t>An upward-drifting asset gives buy-and-hold a structural head start.</a:t>
            </a:r>
          </a:p>
        </p:txBody>
      </p:sp>
      <p:sp>
        <p:nvSpPr>
          <p:cNvPr id="6" name="">
            <a:extLst xmlns:a="http://schemas.openxmlformats.org/drawingml/2006/main">
              <a:ext uri="{FF2B5EF4-FFF2-40B4-BE49-F238E27FC236}">
                <a16:creationId xmlns:a16="http://schemas.microsoft.com/office/drawing/2014/main" id="{10E017E8-FCEC-4E37-8262-36837A2016C8}"/>
              </a:ext>
            </a:extLst>
          </p:cNvPr>
          <p:cNvSpPr>
            <a:spLocks xmlns:a="http://schemas.openxmlformats.org/drawingml/2006/main" noGrp="1"/>
          </p:cNvSpPr>
          <p:nvPr/>
        </p:nvSpPr>
        <p:spPr>
          <a:xfrm xmlns:a="http://schemas.openxmlformats.org/drawingml/2006/main">
            <a:off x="685800" y="2266950"/>
            <a:ext cx="685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52616B"/>
                </a:solidFill>
                <a:latin typeface="Arial"/>
                <a:ea typeface="Arial"/>
                <a:cs typeface="Arial"/>
              </a:defRPr>
            </a:pPr>
            <a:r>
              <a:rPr sz="1875" b="0">
                <a:solidFill>
                  <a:srgbClr val="52616B"/>
                </a:solidFill>
                <a:latin typeface="Arial"/>
                <a:ea typeface="Arial"/>
                <a:cs typeface="Arial"/>
              </a:rPr>
              <a:t>A timing rule can avoid some losses and still lose the comparison by missing rebounds or sitting out drift.</a:t>
            </a:r>
          </a:p>
        </p:txBody>
      </p:sp>
      <p:sp>
        <p:nvSpPr>
          <p:cNvPr id="7" name="">
            <a:extLst xmlns:a="http://schemas.openxmlformats.org/drawingml/2006/main">
              <a:ext uri="{FF2B5EF4-FFF2-40B4-BE49-F238E27FC236}">
                <a16:creationId xmlns:a16="http://schemas.microsoft.com/office/drawing/2014/main" id="{AD28D070-D70A-4662-98C1-4C4C2838CA42}"/>
              </a:ext>
            </a:extLst>
          </p:cNvPr>
          <p:cNvSpPr>
            <a:spLocks xmlns:a="http://schemas.openxmlformats.org/drawingml/2006/main" noGrp="1"/>
          </p:cNvSpPr>
          <p:nvPr/>
        </p:nvSpPr>
        <p:spPr>
          <a:xfrm xmlns:a="http://schemas.openxmlformats.org/drawingml/2006/main">
            <a:off x="876300" y="3371850"/>
            <a:ext cx="1000125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7B0F2217-4180-471A-94E1-4FBBE2CB9998}"/>
              </a:ext>
            </a:extLst>
          </p:cNvPr>
          <p:cNvSpPr>
            <a:spLocks xmlns:a="http://schemas.openxmlformats.org/drawingml/2006/main" noGrp="1"/>
          </p:cNvSpPr>
          <p:nvPr/>
        </p:nvSpPr>
        <p:spPr>
          <a:xfrm xmlns:a="http://schemas.openxmlformats.org/drawingml/2006/main">
            <a:off x="1104900" y="34956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01820"/>
                </a:solidFill>
                <a:latin typeface="Arial"/>
                <a:ea typeface="Arial"/>
                <a:cs typeface="Arial"/>
              </a:defRPr>
            </a:pPr>
            <a:r>
              <a:rPr sz="1575" b="1">
                <a:solidFill>
                  <a:srgbClr val="101820"/>
                </a:solidFill>
                <a:latin typeface="Arial"/>
                <a:ea typeface="Arial"/>
                <a:cs typeface="Arial"/>
              </a:rPr>
              <a:t>Cash / no trade</a:t>
            </a:r>
          </a:p>
        </p:txBody>
      </p:sp>
      <p:sp>
        <p:nvSpPr>
          <p:cNvPr id="9" name="">
            <a:extLst xmlns:a="http://schemas.openxmlformats.org/drawingml/2006/main">
              <a:ext uri="{FF2B5EF4-FFF2-40B4-BE49-F238E27FC236}">
                <a16:creationId xmlns:a16="http://schemas.microsoft.com/office/drawing/2014/main" id="{18410F88-DB09-4F82-84E4-F22058601326}"/>
              </a:ext>
            </a:extLst>
          </p:cNvPr>
          <p:cNvSpPr>
            <a:spLocks xmlns:a="http://schemas.openxmlformats.org/drawingml/2006/main" noGrp="1"/>
          </p:cNvSpPr>
          <p:nvPr/>
        </p:nvSpPr>
        <p:spPr>
          <a:xfrm xmlns:a="http://schemas.openxmlformats.org/drawingml/2006/main">
            <a:off x="3714750" y="3495675"/>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Did we earn anything at all?</a:t>
            </a:r>
          </a:p>
        </p:txBody>
      </p:sp>
      <p:sp>
        <p:nvSpPr>
          <p:cNvPr id="10" name="">
            <a:extLst xmlns:a="http://schemas.openxmlformats.org/drawingml/2006/main">
              <a:ext uri="{FF2B5EF4-FFF2-40B4-BE49-F238E27FC236}">
                <a16:creationId xmlns:a16="http://schemas.microsoft.com/office/drawing/2014/main" id="{D42398AF-EC89-4ADC-8FF8-D7C0C15E5281}"/>
              </a:ext>
            </a:extLst>
          </p:cNvPr>
          <p:cNvSpPr>
            <a:spLocks xmlns:a="http://schemas.openxmlformats.org/drawingml/2006/main" noGrp="1"/>
          </p:cNvSpPr>
          <p:nvPr/>
        </p:nvSpPr>
        <p:spPr>
          <a:xfrm xmlns:a="http://schemas.openxmlformats.org/drawingml/2006/main">
            <a:off x="876300" y="4038600"/>
            <a:ext cx="10001250" cy="5143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54A11BE0-D008-42A1-96A3-8EA2F83B9071}"/>
              </a:ext>
            </a:extLst>
          </p:cNvPr>
          <p:cNvSpPr>
            <a:spLocks xmlns:a="http://schemas.openxmlformats.org/drawingml/2006/main" noGrp="1"/>
          </p:cNvSpPr>
          <p:nvPr/>
        </p:nvSpPr>
        <p:spPr>
          <a:xfrm xmlns:a="http://schemas.openxmlformats.org/drawingml/2006/main">
            <a:off x="1104900" y="41624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01820"/>
                </a:solidFill>
                <a:latin typeface="Arial"/>
                <a:ea typeface="Arial"/>
                <a:cs typeface="Arial"/>
              </a:defRPr>
            </a:pPr>
            <a:r>
              <a:rPr sz="1575" b="1">
                <a:solidFill>
                  <a:srgbClr val="101820"/>
                </a:solidFill>
                <a:latin typeface="Arial"/>
                <a:ea typeface="Arial"/>
                <a:cs typeface="Arial"/>
              </a:rPr>
              <a:t>Drift baseline</a:t>
            </a:r>
          </a:p>
        </p:txBody>
      </p:sp>
      <p:sp>
        <p:nvSpPr>
          <p:cNvPr id="12" name="">
            <a:extLst xmlns:a="http://schemas.openxmlformats.org/drawingml/2006/main">
              <a:ext uri="{FF2B5EF4-FFF2-40B4-BE49-F238E27FC236}">
                <a16:creationId xmlns:a16="http://schemas.microsoft.com/office/drawing/2014/main" id="{54AFBF57-5C0C-47CE-9A4A-A976C8E45754}"/>
              </a:ext>
            </a:extLst>
          </p:cNvPr>
          <p:cNvSpPr>
            <a:spLocks xmlns:a="http://schemas.openxmlformats.org/drawingml/2006/main" noGrp="1"/>
          </p:cNvSpPr>
          <p:nvPr/>
        </p:nvSpPr>
        <p:spPr>
          <a:xfrm xmlns:a="http://schemas.openxmlformats.org/drawingml/2006/main">
            <a:off x="3714750" y="4162425"/>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Did the predictor add information beyond the average return?</a:t>
            </a:r>
          </a:p>
        </p:txBody>
      </p:sp>
      <p:sp>
        <p:nvSpPr>
          <p:cNvPr id="13" name="">
            <a:extLst xmlns:a="http://schemas.openxmlformats.org/drawingml/2006/main">
              <a:ext uri="{FF2B5EF4-FFF2-40B4-BE49-F238E27FC236}">
                <a16:creationId xmlns:a16="http://schemas.microsoft.com/office/drawing/2014/main" id="{A5B7509C-6BA8-41A7-925B-39F8C98433C4}"/>
              </a:ext>
            </a:extLst>
          </p:cNvPr>
          <p:cNvSpPr>
            <a:spLocks xmlns:a="http://schemas.openxmlformats.org/drawingml/2006/main" noGrp="1"/>
          </p:cNvSpPr>
          <p:nvPr/>
        </p:nvSpPr>
        <p:spPr>
          <a:xfrm xmlns:a="http://schemas.openxmlformats.org/drawingml/2006/main">
            <a:off x="876300" y="4705350"/>
            <a:ext cx="10001250" cy="51435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DC41B31B-7D86-40C3-8037-1684990588EB}"/>
              </a:ext>
            </a:extLst>
          </p:cNvPr>
          <p:cNvSpPr>
            <a:spLocks xmlns:a="http://schemas.openxmlformats.org/drawingml/2006/main" noGrp="1"/>
          </p:cNvSpPr>
          <p:nvPr/>
        </p:nvSpPr>
        <p:spPr>
          <a:xfrm xmlns:a="http://schemas.openxmlformats.org/drawingml/2006/main">
            <a:off x="1104900" y="48291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01820"/>
                </a:solidFill>
                <a:latin typeface="Arial"/>
                <a:ea typeface="Arial"/>
                <a:cs typeface="Arial"/>
              </a:defRPr>
            </a:pPr>
            <a:r>
              <a:rPr sz="1575" b="1">
                <a:solidFill>
                  <a:srgbClr val="101820"/>
                </a:solidFill>
                <a:latin typeface="Arial"/>
                <a:ea typeface="Arial"/>
                <a:cs typeface="Arial"/>
              </a:rPr>
              <a:t>Matched exposure</a:t>
            </a:r>
          </a:p>
        </p:txBody>
      </p:sp>
      <p:sp>
        <p:nvSpPr>
          <p:cNvPr id="15" name="">
            <a:extLst xmlns:a="http://schemas.openxmlformats.org/drawingml/2006/main">
              <a:ext uri="{FF2B5EF4-FFF2-40B4-BE49-F238E27FC236}">
                <a16:creationId xmlns:a16="http://schemas.microsoft.com/office/drawing/2014/main" id="{0C8D25C6-F575-403D-9297-67FCAC9EE2B1}"/>
              </a:ext>
            </a:extLst>
          </p:cNvPr>
          <p:cNvSpPr>
            <a:spLocks xmlns:a="http://schemas.openxmlformats.org/drawingml/2006/main" noGrp="1"/>
          </p:cNvSpPr>
          <p:nvPr/>
        </p:nvSpPr>
        <p:spPr>
          <a:xfrm xmlns:a="http://schemas.openxmlformats.org/drawingml/2006/main">
            <a:off x="3714750" y="4829175"/>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Was timing better than being invested for the same amount of time?</a:t>
            </a:r>
          </a:p>
        </p:txBody>
      </p:sp>
      <p:sp>
        <p:nvSpPr>
          <p:cNvPr id="16" name="">
            <a:extLst xmlns:a="http://schemas.openxmlformats.org/drawingml/2006/main">
              <a:ext uri="{FF2B5EF4-FFF2-40B4-BE49-F238E27FC236}">
                <a16:creationId xmlns:a16="http://schemas.microsoft.com/office/drawing/2014/main" id="{55B3DE74-2353-4CBB-9381-DF496EA081AA}"/>
              </a:ext>
            </a:extLst>
          </p:cNvPr>
          <p:cNvSpPr>
            <a:spLocks xmlns:a="http://schemas.openxmlformats.org/drawingml/2006/main" noGrp="1"/>
          </p:cNvSpPr>
          <p:nvPr/>
        </p:nvSpPr>
        <p:spPr>
          <a:xfrm xmlns:a="http://schemas.openxmlformats.org/drawingml/2006/main">
            <a:off x="876300" y="5372100"/>
            <a:ext cx="10001250" cy="5143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7" name="">
            <a:extLst xmlns:a="http://schemas.openxmlformats.org/drawingml/2006/main">
              <a:ext uri="{FF2B5EF4-FFF2-40B4-BE49-F238E27FC236}">
                <a16:creationId xmlns:a16="http://schemas.microsoft.com/office/drawing/2014/main" id="{962CEB7C-FB57-4AA2-9A3C-FB82F974468B}"/>
              </a:ext>
            </a:extLst>
          </p:cNvPr>
          <p:cNvSpPr>
            <a:spLocks xmlns:a="http://schemas.openxmlformats.org/drawingml/2006/main" noGrp="1"/>
          </p:cNvSpPr>
          <p:nvPr/>
        </p:nvSpPr>
        <p:spPr>
          <a:xfrm xmlns:a="http://schemas.openxmlformats.org/drawingml/2006/main">
            <a:off x="1104900" y="54959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C8553D"/>
                </a:solidFill>
                <a:latin typeface="Arial"/>
                <a:ea typeface="Arial"/>
                <a:cs typeface="Arial"/>
              </a:defRPr>
            </a:pPr>
            <a:r>
              <a:rPr sz="1575" b="1">
                <a:solidFill>
                  <a:srgbClr val="C8553D"/>
                </a:solidFill>
                <a:latin typeface="Arial"/>
                <a:ea typeface="Arial"/>
                <a:cs typeface="Arial"/>
              </a:rPr>
              <a:t>SPY or buy-and-hold</a:t>
            </a:r>
          </a:p>
        </p:txBody>
      </p:sp>
      <p:sp>
        <p:nvSpPr>
          <p:cNvPr id="18" name="">
            <a:extLst xmlns:a="http://schemas.openxmlformats.org/drawingml/2006/main">
              <a:ext uri="{FF2B5EF4-FFF2-40B4-BE49-F238E27FC236}">
                <a16:creationId xmlns:a16="http://schemas.microsoft.com/office/drawing/2014/main" id="{C6BA82D5-3D35-4ACF-944A-8EE6EDA91283}"/>
              </a:ext>
            </a:extLst>
          </p:cNvPr>
          <p:cNvSpPr>
            <a:spLocks xmlns:a="http://schemas.openxmlformats.org/drawingml/2006/main" noGrp="1"/>
          </p:cNvSpPr>
          <p:nvPr/>
        </p:nvSpPr>
        <p:spPr>
          <a:xfrm xmlns:a="http://schemas.openxmlformats.org/drawingml/2006/main">
            <a:off x="3714750" y="5495925"/>
            <a:ext cx="676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Did the long-only rule improve on attainable ownership?</a:t>
            </a:r>
          </a:p>
        </p:txBody>
      </p:sp>
    </p:spTree>
    <p:extLst>
      <p:ext uri="{BB962C8B-B14F-4D97-AF65-F5344CB8AC3E}">
        <p14:creationId xmlns:p14="http://schemas.microsoft.com/office/powerpoint/2010/main" val="18343871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5CDEE2F-5275-41AB-AD5A-EF8DC4D6BFC3}"/>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7-title">
            <a:extLst xmlns:a="http://schemas.openxmlformats.org/drawingml/2006/main">
              <a:ext uri="{FF2B5EF4-FFF2-40B4-BE49-F238E27FC236}">
                <a16:creationId xmlns:a16="http://schemas.microsoft.com/office/drawing/2014/main" id="{A3E9A657-0167-44BB-AF2D-975AA6882307}"/>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Academic support does not imply a loud or painless signal</a:t>
            </a:r>
          </a:p>
        </p:txBody>
      </p:sp>
      <p:sp>
        <p:nvSpPr>
          <p:cNvPr id="3" name="">
            <a:extLst xmlns:a="http://schemas.openxmlformats.org/drawingml/2006/main">
              <a:ext uri="{FF2B5EF4-FFF2-40B4-BE49-F238E27FC236}">
                <a16:creationId xmlns:a16="http://schemas.microsoft.com/office/drawing/2014/main" id="{328DF844-6B36-4BF1-B66E-7A840855D986}"/>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7-number">
            <a:extLst xmlns:a="http://schemas.openxmlformats.org/drawingml/2006/main">
              <a:ext uri="{FF2B5EF4-FFF2-40B4-BE49-F238E27FC236}">
                <a16:creationId xmlns:a16="http://schemas.microsoft.com/office/drawing/2014/main" id="{233BBBD9-CC6D-4158-A0B5-20FCCF3A0802}"/>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D0A332EE-0498-482E-AF55-3AF70AA4C28B}"/>
              </a:ext>
            </a:extLst>
          </p:cNvPr>
          <p:cNvSpPr>
            <a:spLocks xmlns:a="http://schemas.openxmlformats.org/drawingml/2006/main" noGrp="1"/>
          </p:cNvSpPr>
          <p:nvPr/>
        </p:nvSpPr>
        <p:spPr>
          <a:xfrm xmlns:a="http://schemas.openxmlformats.org/drawingml/2006/main">
            <a:off x="514350" y="2343150"/>
            <a:ext cx="3048000" cy="247650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6728AB27-D2A6-49EA-83BF-F8FC1A785CAB}"/>
              </a:ext>
            </a:extLst>
          </p:cNvPr>
          <p:cNvSpPr>
            <a:spLocks xmlns:a="http://schemas.openxmlformats.org/drawingml/2006/main" noGrp="1"/>
          </p:cNvSpPr>
          <p:nvPr/>
        </p:nvSpPr>
        <p:spPr>
          <a:xfrm xmlns:a="http://schemas.openxmlformats.org/drawingml/2006/main">
            <a:off x="514350" y="2343150"/>
            <a:ext cx="114300" cy="24765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D2FF5B46-49AD-4C14-9738-B5E8BB81B6EF}"/>
              </a:ext>
            </a:extLst>
          </p:cNvPr>
          <p:cNvSpPr>
            <a:spLocks xmlns:a="http://schemas.openxmlformats.org/drawingml/2006/main" noGrp="1"/>
          </p:cNvSpPr>
          <p:nvPr/>
        </p:nvSpPr>
        <p:spPr>
          <a:xfrm xmlns:a="http://schemas.openxmlformats.org/drawingml/2006/main">
            <a:off x="838200" y="2647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Weak average bias</a:t>
            </a:r>
          </a:p>
        </p:txBody>
      </p:sp>
      <p:sp>
        <p:nvSpPr>
          <p:cNvPr id="8" name="">
            <a:extLst xmlns:a="http://schemas.openxmlformats.org/drawingml/2006/main">
              <a:ext uri="{FF2B5EF4-FFF2-40B4-BE49-F238E27FC236}">
                <a16:creationId xmlns:a16="http://schemas.microsoft.com/office/drawing/2014/main" id="{6A87B7FD-1D69-4FDF-B838-EB3A63A70B19}"/>
              </a:ext>
            </a:extLst>
          </p:cNvPr>
          <p:cNvSpPr>
            <a:spLocks xmlns:a="http://schemas.openxmlformats.org/drawingml/2006/main" noGrp="1"/>
          </p:cNvSpPr>
          <p:nvPr/>
        </p:nvSpPr>
        <p:spPr>
          <a:xfrm xmlns:a="http://schemas.openxmlformats.org/drawingml/2006/main">
            <a:off x="838200" y="339090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A small edge becomes visible through breadth, repeated observations, and disciplined aggregation.</a:t>
            </a:r>
          </a:p>
        </p:txBody>
      </p:sp>
      <p:sp>
        <p:nvSpPr>
          <p:cNvPr id="9" name="">
            <a:extLst xmlns:a="http://schemas.openxmlformats.org/drawingml/2006/main">
              <a:ext uri="{FF2B5EF4-FFF2-40B4-BE49-F238E27FC236}">
                <a16:creationId xmlns:a16="http://schemas.microsoft.com/office/drawing/2014/main" id="{8B4372A5-F655-4402-9A3E-BEBAA1C5566C}"/>
              </a:ext>
            </a:extLst>
          </p:cNvPr>
          <p:cNvSpPr>
            <a:spLocks xmlns:a="http://schemas.openxmlformats.org/drawingml/2006/main" noGrp="1"/>
          </p:cNvSpPr>
          <p:nvPr/>
        </p:nvSpPr>
        <p:spPr>
          <a:xfrm xmlns:a="http://schemas.openxmlformats.org/drawingml/2006/main">
            <a:off x="4572000" y="2343150"/>
            <a:ext cx="3048000" cy="2476500"/>
          </a:xfrm>
          <a:prstGeom xmlns:a="http://schemas.openxmlformats.org/drawingml/2006/main" prst="rect">
            <a:avLst/>
          </a:prstGeom>
          <a:solidFill xmlns:a="http://schemas.openxmlformats.org/drawingml/2006/main">
            <a:srgbClr val="F7E7E2"/>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5F12E85-75BC-45B9-BEE5-82516E1CCAEA}"/>
              </a:ext>
            </a:extLst>
          </p:cNvPr>
          <p:cNvSpPr>
            <a:spLocks xmlns:a="http://schemas.openxmlformats.org/drawingml/2006/main" noGrp="1"/>
          </p:cNvSpPr>
          <p:nvPr/>
        </p:nvSpPr>
        <p:spPr>
          <a:xfrm xmlns:a="http://schemas.openxmlformats.org/drawingml/2006/main">
            <a:off x="4572000" y="2343150"/>
            <a:ext cx="114300" cy="2476500"/>
          </a:xfrm>
          <a:prstGeom xmlns:a="http://schemas.openxmlformats.org/drawingml/2006/main" prst="rect">
            <a:avLst/>
          </a:prstGeom>
          <a:solidFill xmlns:a="http://schemas.openxmlformats.org/drawingml/2006/main">
            <a:srgbClr val="C8553D"/>
          </a:solidFill>
          <a:ln xmlns:a="http://schemas.openxmlformats.org/drawingml/2006/main" w="9525">
            <a:solidFill>
              <a:srgbClr val="C8553D"/>
            </a:solidFill>
            <a:prstDash val="solid"/>
          </a:ln>
        </p:spPr>
      </p:sp>
      <p:sp>
        <p:nvSpPr>
          <p:cNvPr id="11" name="">
            <a:extLst xmlns:a="http://schemas.openxmlformats.org/drawingml/2006/main">
              <a:ext uri="{FF2B5EF4-FFF2-40B4-BE49-F238E27FC236}">
                <a16:creationId xmlns:a16="http://schemas.microsoft.com/office/drawing/2014/main" id="{176AE9ED-5913-464A-A5CC-F619B661005A}"/>
              </a:ext>
            </a:extLst>
          </p:cNvPr>
          <p:cNvSpPr>
            <a:spLocks xmlns:a="http://schemas.openxmlformats.org/drawingml/2006/main" noGrp="1"/>
          </p:cNvSpPr>
          <p:nvPr/>
        </p:nvSpPr>
        <p:spPr>
          <a:xfrm xmlns:a="http://schemas.openxmlformats.org/drawingml/2006/main">
            <a:off x="4895850" y="2647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Uncomfortable risk</a:t>
            </a:r>
          </a:p>
        </p:txBody>
      </p:sp>
      <p:sp>
        <p:nvSpPr>
          <p:cNvPr id="12" name="">
            <a:extLst xmlns:a="http://schemas.openxmlformats.org/drawingml/2006/main">
              <a:ext uri="{FF2B5EF4-FFF2-40B4-BE49-F238E27FC236}">
                <a16:creationId xmlns:a16="http://schemas.microsoft.com/office/drawing/2014/main" id="{E07A6E56-0B73-4840-8599-1934F65EA193}"/>
              </a:ext>
            </a:extLst>
          </p:cNvPr>
          <p:cNvSpPr>
            <a:spLocks xmlns:a="http://schemas.openxmlformats.org/drawingml/2006/main" noGrp="1"/>
          </p:cNvSpPr>
          <p:nvPr/>
        </p:nvSpPr>
        <p:spPr>
          <a:xfrm xmlns:a="http://schemas.openxmlformats.org/drawingml/2006/main">
            <a:off x="4895850" y="339090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Momentum can suffer violent reversals; bearing that risk may help the premium persist.</a:t>
            </a:r>
          </a:p>
        </p:txBody>
      </p:sp>
      <p:sp>
        <p:nvSpPr>
          <p:cNvPr id="13" name="">
            <a:extLst xmlns:a="http://schemas.openxmlformats.org/drawingml/2006/main">
              <a:ext uri="{FF2B5EF4-FFF2-40B4-BE49-F238E27FC236}">
                <a16:creationId xmlns:a16="http://schemas.microsoft.com/office/drawing/2014/main" id="{7D64D816-9A5E-4C0D-950A-D2D56DCE5C3B}"/>
              </a:ext>
            </a:extLst>
          </p:cNvPr>
          <p:cNvSpPr>
            <a:spLocks xmlns:a="http://schemas.openxmlformats.org/drawingml/2006/main" noGrp="1"/>
          </p:cNvSpPr>
          <p:nvPr/>
        </p:nvSpPr>
        <p:spPr>
          <a:xfrm xmlns:a="http://schemas.openxmlformats.org/drawingml/2006/main">
            <a:off x="8629650" y="2343150"/>
            <a:ext cx="3048000" cy="24765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ECB7C33D-E700-4989-A8B1-8DE1E848EE61}"/>
              </a:ext>
            </a:extLst>
          </p:cNvPr>
          <p:cNvSpPr>
            <a:spLocks xmlns:a="http://schemas.openxmlformats.org/drawingml/2006/main" noGrp="1"/>
          </p:cNvSpPr>
          <p:nvPr/>
        </p:nvSpPr>
        <p:spPr>
          <a:xfrm xmlns:a="http://schemas.openxmlformats.org/drawingml/2006/main">
            <a:off x="8629650" y="2343150"/>
            <a:ext cx="114300" cy="2476500"/>
          </a:xfrm>
          <a:prstGeom xmlns:a="http://schemas.openxmlformats.org/drawingml/2006/main" prst="rect">
            <a:avLst/>
          </a:prstGeom>
          <a:solidFill xmlns:a="http://schemas.openxmlformats.org/drawingml/2006/main">
            <a:srgbClr val="52616B"/>
          </a:solidFill>
          <a:ln xmlns:a="http://schemas.openxmlformats.org/drawingml/2006/main" w="9525">
            <a:solidFill>
              <a:srgbClr val="52616B"/>
            </a:solidFill>
            <a:prstDash val="solid"/>
          </a:ln>
        </p:spPr>
      </p:sp>
      <p:sp>
        <p:nvSpPr>
          <p:cNvPr id="15" name="">
            <a:extLst xmlns:a="http://schemas.openxmlformats.org/drawingml/2006/main">
              <a:ext uri="{FF2B5EF4-FFF2-40B4-BE49-F238E27FC236}">
                <a16:creationId xmlns:a16="http://schemas.microsoft.com/office/drawing/2014/main" id="{F50707CF-DB32-478D-BB3F-8BBC7BC8DDF2}"/>
              </a:ext>
            </a:extLst>
          </p:cNvPr>
          <p:cNvSpPr>
            <a:spLocks xmlns:a="http://schemas.openxmlformats.org/drawingml/2006/main" noGrp="1"/>
          </p:cNvSpPr>
          <p:nvPr/>
        </p:nvSpPr>
        <p:spPr>
          <a:xfrm xmlns:a="http://schemas.openxmlformats.org/drawingml/2006/main">
            <a:off x="8953500" y="2647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Real-world friction</a:t>
            </a:r>
          </a:p>
        </p:txBody>
      </p:sp>
      <p:sp>
        <p:nvSpPr>
          <p:cNvPr id="16" name="">
            <a:extLst xmlns:a="http://schemas.openxmlformats.org/drawingml/2006/main">
              <a:ext uri="{FF2B5EF4-FFF2-40B4-BE49-F238E27FC236}">
                <a16:creationId xmlns:a16="http://schemas.microsoft.com/office/drawing/2014/main" id="{53C4B117-B385-4EDC-A3CF-97401B6FB2B8}"/>
              </a:ext>
            </a:extLst>
          </p:cNvPr>
          <p:cNvSpPr>
            <a:spLocks xmlns:a="http://schemas.openxmlformats.org/drawingml/2006/main" noGrp="1"/>
          </p:cNvSpPr>
          <p:nvPr/>
        </p:nvSpPr>
        <p:spPr>
          <a:xfrm xmlns:a="http://schemas.openxmlformats.org/drawingml/2006/main">
            <a:off x="8953500" y="339090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Costs, mandates, turnover, and tracking error limit how completely institutions arbitrage it.</a:t>
            </a:r>
          </a:p>
        </p:txBody>
      </p:sp>
      <p:sp>
        <p:nvSpPr>
          <p:cNvPr id="17" name="">
            <a:extLst xmlns:a="http://schemas.openxmlformats.org/drawingml/2006/main">
              <a:ext uri="{FF2B5EF4-FFF2-40B4-BE49-F238E27FC236}">
                <a16:creationId xmlns:a16="http://schemas.microsoft.com/office/drawing/2014/main" id="{7AC5AB1C-E02D-406F-9196-8F362DB92755}"/>
              </a:ext>
            </a:extLst>
          </p:cNvPr>
          <p:cNvSpPr>
            <a:spLocks xmlns:a="http://schemas.openxmlformats.org/drawingml/2006/main" noGrp="1"/>
          </p:cNvSpPr>
          <p:nvPr/>
        </p:nvSpPr>
        <p:spPr>
          <a:xfrm xmlns:a="http://schemas.openxmlformats.org/drawingml/2006/main">
            <a:off x="1257300" y="5467350"/>
            <a:ext cx="9677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101820"/>
                </a:solidFill>
                <a:latin typeface="Arial"/>
                <a:ea typeface="Arial"/>
                <a:cs typeface="Arial"/>
              </a:defRPr>
            </a:pPr>
            <a:r>
              <a:rPr sz="2100" b="1">
                <a:solidFill>
                  <a:srgbClr val="101820"/>
                </a:solidFill>
                <a:latin typeface="Arial"/>
                <a:ea typeface="Arial"/>
                <a:cs typeface="Arial"/>
              </a:rPr>
              <a:t>Public knowledge can compress an effect without making every implementation worthless—or tradable.</a:t>
            </a:r>
          </a:p>
        </p:txBody>
      </p:sp>
    </p:spTree>
    <p:extLst>
      <p:ext uri="{BB962C8B-B14F-4D97-AF65-F5344CB8AC3E}">
        <p14:creationId xmlns:p14="http://schemas.microsoft.com/office/powerpoint/2010/main" val="6170448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F60422-9B61-47E5-852B-210104E61FE7}"/>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8-title">
            <a:extLst xmlns:a="http://schemas.openxmlformats.org/drawingml/2006/main">
              <a:ext uri="{FF2B5EF4-FFF2-40B4-BE49-F238E27FC236}">
                <a16:creationId xmlns:a16="http://schemas.microsoft.com/office/drawing/2014/main" id="{C650C114-63C2-4006-B6B2-136C31CD9722}"/>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Dual momentum changes the unit of analysis</a:t>
            </a:r>
          </a:p>
        </p:txBody>
      </p:sp>
      <p:sp>
        <p:nvSpPr>
          <p:cNvPr id="3" name="">
            <a:extLst xmlns:a="http://schemas.openxmlformats.org/drawingml/2006/main">
              <a:ext uri="{FF2B5EF4-FFF2-40B4-BE49-F238E27FC236}">
                <a16:creationId xmlns:a16="http://schemas.microsoft.com/office/drawing/2014/main" id="{187EA4F6-227C-4B9A-9E29-D3F3FFC802C0}"/>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8-number">
            <a:extLst xmlns:a="http://schemas.openxmlformats.org/drawingml/2006/main">
              <a:ext uri="{FF2B5EF4-FFF2-40B4-BE49-F238E27FC236}">
                <a16:creationId xmlns:a16="http://schemas.microsoft.com/office/drawing/2014/main" id="{D0C4A8E7-B625-4E0F-8371-817F1CE976E2}"/>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1D97235C-CBF2-47B9-B1AE-90025B71FA1D}"/>
              </a:ext>
            </a:extLst>
          </p:cNvPr>
          <p:cNvSpPr>
            <a:spLocks xmlns:a="http://schemas.openxmlformats.org/drawingml/2006/main" noGrp="1"/>
          </p:cNvSpPr>
          <p:nvPr/>
        </p:nvSpPr>
        <p:spPr>
          <a:xfrm xmlns:a="http://schemas.openxmlformats.org/drawingml/2006/main">
            <a:off x="533400" y="2343150"/>
            <a:ext cx="3048000" cy="2476500"/>
          </a:xfrm>
          <a:prstGeom xmlns:a="http://schemas.openxmlformats.org/drawingml/2006/main" prst="rect">
            <a:avLst/>
          </a:prstGeom>
          <a:solidFill xmlns:a="http://schemas.openxmlformats.org/drawingml/2006/main">
            <a:srgbClr val="EAF5FB"/>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E0074ADF-D5F7-4C74-904D-0764CC7FDBF1}"/>
              </a:ext>
            </a:extLst>
          </p:cNvPr>
          <p:cNvSpPr>
            <a:spLocks xmlns:a="http://schemas.openxmlformats.org/drawingml/2006/main" noGrp="1"/>
          </p:cNvSpPr>
          <p:nvPr/>
        </p:nvSpPr>
        <p:spPr>
          <a:xfrm xmlns:a="http://schemas.openxmlformats.org/drawingml/2006/main">
            <a:off x="533400" y="2343150"/>
            <a:ext cx="114300" cy="24765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7" name="">
            <a:extLst xmlns:a="http://schemas.openxmlformats.org/drawingml/2006/main">
              <a:ext uri="{FF2B5EF4-FFF2-40B4-BE49-F238E27FC236}">
                <a16:creationId xmlns:a16="http://schemas.microsoft.com/office/drawing/2014/main" id="{62A1A59F-E792-43EE-A28C-BDD2BA582D37}"/>
              </a:ext>
            </a:extLst>
          </p:cNvPr>
          <p:cNvSpPr>
            <a:spLocks xmlns:a="http://schemas.openxmlformats.org/drawingml/2006/main" noGrp="1"/>
          </p:cNvSpPr>
          <p:nvPr/>
        </p:nvSpPr>
        <p:spPr>
          <a:xfrm xmlns:a="http://schemas.openxmlformats.org/drawingml/2006/main">
            <a:off x="857250" y="2647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1 · Relative rank</a:t>
            </a:r>
          </a:p>
        </p:txBody>
      </p:sp>
      <p:sp>
        <p:nvSpPr>
          <p:cNvPr id="8" name="">
            <a:extLst xmlns:a="http://schemas.openxmlformats.org/drawingml/2006/main">
              <a:ext uri="{FF2B5EF4-FFF2-40B4-BE49-F238E27FC236}">
                <a16:creationId xmlns:a16="http://schemas.microsoft.com/office/drawing/2014/main" id="{69050069-7CA4-410F-9A62-4300BAB6244C}"/>
              </a:ext>
            </a:extLst>
          </p:cNvPr>
          <p:cNvSpPr>
            <a:spLocks xmlns:a="http://schemas.openxmlformats.org/drawingml/2006/main" noGrp="1"/>
          </p:cNvSpPr>
          <p:nvPr/>
        </p:nvSpPr>
        <p:spPr>
          <a:xfrm xmlns:a="http://schemas.openxmlformats.org/drawingml/2006/main">
            <a:off x="857250" y="339090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Which assets are strongest compared with the rest of the investable fleet?</a:t>
            </a:r>
          </a:p>
        </p:txBody>
      </p:sp>
      <p:sp>
        <p:nvSpPr>
          <p:cNvPr id="9" name="">
            <a:extLst xmlns:a="http://schemas.openxmlformats.org/drawingml/2006/main">
              <a:ext uri="{FF2B5EF4-FFF2-40B4-BE49-F238E27FC236}">
                <a16:creationId xmlns:a16="http://schemas.microsoft.com/office/drawing/2014/main" id="{2A08960D-E21C-4012-B08D-AF189188C782}"/>
              </a:ext>
            </a:extLst>
          </p:cNvPr>
          <p:cNvSpPr>
            <a:spLocks xmlns:a="http://schemas.openxmlformats.org/drawingml/2006/main" noGrp="1"/>
          </p:cNvSpPr>
          <p:nvPr/>
        </p:nvSpPr>
        <p:spPr>
          <a:xfrm xmlns:a="http://schemas.openxmlformats.org/drawingml/2006/main">
            <a:off x="4572000" y="2343150"/>
            <a:ext cx="3048000" cy="2476500"/>
          </a:xfrm>
          <a:prstGeom xmlns:a="http://schemas.openxmlformats.org/drawingml/2006/main" prst="rect">
            <a:avLst/>
          </a:prstGeom>
          <a:solidFill xmlns:a="http://schemas.openxmlformats.org/drawingml/2006/main">
            <a:srgbClr val="E6F2EC"/>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8BF70E36-1419-40C5-B28C-7FDF5DBF2E8C}"/>
              </a:ext>
            </a:extLst>
          </p:cNvPr>
          <p:cNvSpPr>
            <a:spLocks xmlns:a="http://schemas.openxmlformats.org/drawingml/2006/main" noGrp="1"/>
          </p:cNvSpPr>
          <p:nvPr/>
        </p:nvSpPr>
        <p:spPr>
          <a:xfrm xmlns:a="http://schemas.openxmlformats.org/drawingml/2006/main">
            <a:off x="4572000" y="2343150"/>
            <a:ext cx="114300" cy="2476500"/>
          </a:xfrm>
          <a:prstGeom xmlns:a="http://schemas.openxmlformats.org/drawingml/2006/main" prst="rect">
            <a:avLst/>
          </a:prstGeom>
          <a:solidFill xmlns:a="http://schemas.openxmlformats.org/drawingml/2006/main">
            <a:srgbClr val="2E7D5B"/>
          </a:solidFill>
          <a:ln xmlns:a="http://schemas.openxmlformats.org/drawingml/2006/main" w="9525">
            <a:solidFill>
              <a:srgbClr val="2E7D5B"/>
            </a:solidFill>
            <a:prstDash val="solid"/>
          </a:ln>
        </p:spPr>
      </p:sp>
      <p:sp>
        <p:nvSpPr>
          <p:cNvPr id="11" name="">
            <a:extLst xmlns:a="http://schemas.openxmlformats.org/drawingml/2006/main">
              <a:ext uri="{FF2B5EF4-FFF2-40B4-BE49-F238E27FC236}">
                <a16:creationId xmlns:a16="http://schemas.microsoft.com/office/drawing/2014/main" id="{FB68D41B-41C9-4FB3-BA1A-1159F64162BB}"/>
              </a:ext>
            </a:extLst>
          </p:cNvPr>
          <p:cNvSpPr>
            <a:spLocks xmlns:a="http://schemas.openxmlformats.org/drawingml/2006/main" noGrp="1"/>
          </p:cNvSpPr>
          <p:nvPr/>
        </p:nvSpPr>
        <p:spPr>
          <a:xfrm xmlns:a="http://schemas.openxmlformats.org/drawingml/2006/main">
            <a:off x="4895850" y="2647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2 · Absolute veto</a:t>
            </a:r>
          </a:p>
        </p:txBody>
      </p:sp>
      <p:sp>
        <p:nvSpPr>
          <p:cNvPr id="12" name="">
            <a:extLst xmlns:a="http://schemas.openxmlformats.org/drawingml/2006/main">
              <a:ext uri="{FF2B5EF4-FFF2-40B4-BE49-F238E27FC236}">
                <a16:creationId xmlns:a16="http://schemas.microsoft.com/office/drawing/2014/main" id="{01971F61-73AA-4D53-920F-49CC07758737}"/>
              </a:ext>
            </a:extLst>
          </p:cNvPr>
          <p:cNvSpPr>
            <a:spLocks xmlns:a="http://schemas.openxmlformats.org/drawingml/2006/main" noGrp="1"/>
          </p:cNvSpPr>
          <p:nvPr/>
        </p:nvSpPr>
        <p:spPr>
          <a:xfrm xmlns:a="http://schemas.openxmlformats.org/drawingml/2006/main">
            <a:off x="4895850" y="339090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Is each apparent winner actually rising? If not, its sleeve remains cash.</a:t>
            </a:r>
          </a:p>
        </p:txBody>
      </p:sp>
      <p:sp>
        <p:nvSpPr>
          <p:cNvPr id="13" name="">
            <a:extLst xmlns:a="http://schemas.openxmlformats.org/drawingml/2006/main">
              <a:ext uri="{FF2B5EF4-FFF2-40B4-BE49-F238E27FC236}">
                <a16:creationId xmlns:a16="http://schemas.microsoft.com/office/drawing/2014/main" id="{4FC4E6D4-AA43-4D40-8BB4-F2A017113567}"/>
              </a:ext>
            </a:extLst>
          </p:cNvPr>
          <p:cNvSpPr>
            <a:spLocks xmlns:a="http://schemas.openxmlformats.org/drawingml/2006/main" noGrp="1"/>
          </p:cNvSpPr>
          <p:nvPr/>
        </p:nvSpPr>
        <p:spPr>
          <a:xfrm xmlns:a="http://schemas.openxmlformats.org/drawingml/2006/main">
            <a:off x="8610600" y="2343150"/>
            <a:ext cx="3048000" cy="24765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AF89104A-A31C-43F1-B150-D8AB485CDE79}"/>
              </a:ext>
            </a:extLst>
          </p:cNvPr>
          <p:cNvSpPr>
            <a:spLocks xmlns:a="http://schemas.openxmlformats.org/drawingml/2006/main" noGrp="1"/>
          </p:cNvSpPr>
          <p:nvPr/>
        </p:nvSpPr>
        <p:spPr>
          <a:xfrm xmlns:a="http://schemas.openxmlformats.org/drawingml/2006/main">
            <a:off x="8610600" y="2343150"/>
            <a:ext cx="114300" cy="2476500"/>
          </a:xfrm>
          <a:prstGeom xmlns:a="http://schemas.openxmlformats.org/drawingml/2006/main" prst="rect">
            <a:avLst/>
          </a:prstGeom>
          <a:solidFill xmlns:a="http://schemas.openxmlformats.org/drawingml/2006/main">
            <a:srgbClr val="52616B"/>
          </a:solidFill>
          <a:ln xmlns:a="http://schemas.openxmlformats.org/drawingml/2006/main" w="9525">
            <a:solidFill>
              <a:srgbClr val="52616B"/>
            </a:solidFill>
            <a:prstDash val="solid"/>
          </a:ln>
        </p:spPr>
      </p:sp>
      <p:sp>
        <p:nvSpPr>
          <p:cNvPr id="15" name="">
            <a:extLst xmlns:a="http://schemas.openxmlformats.org/drawingml/2006/main">
              <a:ext uri="{FF2B5EF4-FFF2-40B4-BE49-F238E27FC236}">
                <a16:creationId xmlns:a16="http://schemas.microsoft.com/office/drawing/2014/main" id="{D328102D-8EC4-41DE-88E0-5FB003C159A4}"/>
              </a:ext>
            </a:extLst>
          </p:cNvPr>
          <p:cNvSpPr>
            <a:spLocks xmlns:a="http://schemas.openxmlformats.org/drawingml/2006/main" noGrp="1"/>
          </p:cNvSpPr>
          <p:nvPr/>
        </p:nvSpPr>
        <p:spPr>
          <a:xfrm xmlns:a="http://schemas.openxmlformats.org/drawingml/2006/main">
            <a:off x="8934450" y="2647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3 · Portfolio</a:t>
            </a:r>
          </a:p>
        </p:txBody>
      </p:sp>
      <p:sp>
        <p:nvSpPr>
          <p:cNvPr id="16" name="">
            <a:extLst xmlns:a="http://schemas.openxmlformats.org/drawingml/2006/main">
              <a:ext uri="{FF2B5EF4-FFF2-40B4-BE49-F238E27FC236}">
                <a16:creationId xmlns:a16="http://schemas.microsoft.com/office/drawing/2014/main" id="{5C9C003E-DB02-4C14-AE12-5EFA0026C3A9}"/>
              </a:ext>
            </a:extLst>
          </p:cNvPr>
          <p:cNvSpPr>
            <a:spLocks xmlns:a="http://schemas.openxmlformats.org/drawingml/2006/main" noGrp="1"/>
          </p:cNvSpPr>
          <p:nvPr/>
        </p:nvSpPr>
        <p:spPr>
          <a:xfrm xmlns:a="http://schemas.openxmlformats.org/drawingml/2006/main">
            <a:off x="8934450" y="3390900"/>
            <a:ext cx="238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Combine accepted winners across short and long horizons; rebalance weekly.</a:t>
            </a:r>
          </a:p>
        </p:txBody>
      </p:sp>
      <p:sp>
        <p:nvSpPr>
          <p:cNvPr id="17" name="">
            <a:extLst xmlns:a="http://schemas.openxmlformats.org/drawingml/2006/main">
              <a:ext uri="{FF2B5EF4-FFF2-40B4-BE49-F238E27FC236}">
                <a16:creationId xmlns:a16="http://schemas.microsoft.com/office/drawing/2014/main" id="{9267929B-2567-4687-8D3C-AAEB388A385E}"/>
              </a:ext>
            </a:extLst>
          </p:cNvPr>
          <p:cNvSpPr>
            <a:spLocks xmlns:a="http://schemas.openxmlformats.org/drawingml/2006/main" noGrp="1"/>
          </p:cNvSpPr>
          <p:nvPr/>
        </p:nvSpPr>
        <p:spPr>
          <a:xfrm xmlns:a="http://schemas.openxmlformats.org/drawingml/2006/main">
            <a:off x="1009650" y="5429250"/>
            <a:ext cx="10172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a:solidFill>
                  <a:srgbClr val="101820"/>
                </a:solidFill>
                <a:latin typeface="Arial"/>
                <a:ea typeface="Arial"/>
                <a:cs typeface="Arial"/>
              </a:defRPr>
            </a:pPr>
            <a:r>
              <a:rPr sz="2175" b="1">
                <a:solidFill>
                  <a:srgbClr val="101820"/>
                </a:solidFill>
                <a:latin typeface="Arial"/>
                <a:ea typeface="Arial"/>
                <a:cs typeface="Arial"/>
              </a:rPr>
              <a:t>Relative momentum finds the winners. Absolute momentum refuses to own a winner that is still losing money.</a:t>
            </a:r>
          </a:p>
        </p:txBody>
      </p:sp>
    </p:spTree>
    <p:extLst>
      <p:ext uri="{BB962C8B-B14F-4D97-AF65-F5344CB8AC3E}">
        <p14:creationId xmlns:p14="http://schemas.microsoft.com/office/powerpoint/2010/main" val="424510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AB4CD6-A066-4BA6-83E2-7BED7686F042}"/>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9-title">
            <a:extLst xmlns:a="http://schemas.openxmlformats.org/drawingml/2006/main">
              <a:ext uri="{FF2B5EF4-FFF2-40B4-BE49-F238E27FC236}">
                <a16:creationId xmlns:a16="http://schemas.microsoft.com/office/drawing/2014/main" id="{204441B9-2B0E-4029-B489-A1293A42A74D}"/>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published rule is simple enough to reproduce exactly</a:t>
            </a:r>
          </a:p>
        </p:txBody>
      </p:sp>
      <p:sp>
        <p:nvSpPr>
          <p:cNvPr id="3" name="">
            <a:extLst xmlns:a="http://schemas.openxmlformats.org/drawingml/2006/main">
              <a:ext uri="{FF2B5EF4-FFF2-40B4-BE49-F238E27FC236}">
                <a16:creationId xmlns:a16="http://schemas.microsoft.com/office/drawing/2014/main" id="{9C4A5C3A-384E-47D6-952B-25278B045246}"/>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9-number">
            <a:extLst xmlns:a="http://schemas.openxmlformats.org/drawingml/2006/main">
              <a:ext uri="{FF2B5EF4-FFF2-40B4-BE49-F238E27FC236}">
                <a16:creationId xmlns:a16="http://schemas.microsoft.com/office/drawing/2014/main" id="{5EBD817D-F347-40A2-BECC-BF81DCE7FD7B}"/>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CE16435F-A773-4C41-B1F9-65A53A461560}"/>
              </a:ext>
            </a:extLst>
          </p:cNvPr>
          <p:cNvSpPr>
            <a:spLocks xmlns:a="http://schemas.openxmlformats.org/drawingml/2006/main" noGrp="1"/>
          </p:cNvSpPr>
          <p:nvPr/>
        </p:nvSpPr>
        <p:spPr>
          <a:xfrm xmlns:a="http://schemas.openxmlformats.org/drawingml/2006/main">
            <a:off x="609600" y="16573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UNIVERSE</a:t>
            </a:r>
          </a:p>
        </p:txBody>
      </p:sp>
      <p:sp>
        <p:nvSpPr>
          <p:cNvPr id="6" name="">
            <a:extLst xmlns:a="http://schemas.openxmlformats.org/drawingml/2006/main">
              <a:ext uri="{FF2B5EF4-FFF2-40B4-BE49-F238E27FC236}">
                <a16:creationId xmlns:a16="http://schemas.microsoft.com/office/drawing/2014/main" id="{DA51A465-7554-45A3-89FC-97D4DC096775}"/>
              </a:ext>
            </a:extLst>
          </p:cNvPr>
          <p:cNvSpPr>
            <a:spLocks xmlns:a="http://schemas.openxmlformats.org/drawingml/2006/main" noGrp="1"/>
          </p:cNvSpPr>
          <p:nvPr/>
        </p:nvSpPr>
        <p:spPr>
          <a:xfrm xmlns:a="http://schemas.openxmlformats.org/drawingml/2006/main">
            <a:off x="609600" y="20193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SHY · IEF · UUP · GLD · USO · SPY · EFA · QQQ · EEM</a:t>
            </a:r>
          </a:p>
        </p:txBody>
      </p:sp>
      <p:sp>
        <p:nvSpPr>
          <p:cNvPr id="7" name="">
            <a:extLst xmlns:a="http://schemas.openxmlformats.org/drawingml/2006/main">
              <a:ext uri="{FF2B5EF4-FFF2-40B4-BE49-F238E27FC236}">
                <a16:creationId xmlns:a16="http://schemas.microsoft.com/office/drawing/2014/main" id="{8A9F2320-DB88-4F35-8CC6-DB00FC1B05DE}"/>
              </a:ext>
            </a:extLst>
          </p:cNvPr>
          <p:cNvSpPr>
            <a:spLocks xmlns:a="http://schemas.openxmlformats.org/drawingml/2006/main" noGrp="1"/>
          </p:cNvSpPr>
          <p:nvPr/>
        </p:nvSpPr>
        <p:spPr>
          <a:xfrm xmlns:a="http://schemas.openxmlformats.org/drawingml/2006/main">
            <a:off x="609600" y="2647950"/>
            <a:ext cx="10953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1F61F531-F8BA-48C3-B110-1E615831EA34}"/>
              </a:ext>
            </a:extLst>
          </p:cNvPr>
          <p:cNvSpPr>
            <a:spLocks xmlns:a="http://schemas.openxmlformats.org/drawingml/2006/main" noGrp="1"/>
          </p:cNvSpPr>
          <p:nvPr/>
        </p:nvSpPr>
        <p:spPr>
          <a:xfrm xmlns:a="http://schemas.openxmlformats.org/drawingml/2006/main">
            <a:off x="66675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SIGNAL CLOCK</a:t>
            </a:r>
          </a:p>
        </p:txBody>
      </p:sp>
      <p:sp>
        <p:nvSpPr>
          <p:cNvPr id="9" name="">
            <a:extLst xmlns:a="http://schemas.openxmlformats.org/drawingml/2006/main">
              <a:ext uri="{FF2B5EF4-FFF2-40B4-BE49-F238E27FC236}">
                <a16:creationId xmlns:a16="http://schemas.microsoft.com/office/drawing/2014/main" id="{47A3F430-BD14-424C-8A98-AA2A7B48047A}"/>
              </a:ext>
            </a:extLst>
          </p:cNvPr>
          <p:cNvSpPr>
            <a:spLocks xmlns:a="http://schemas.openxmlformats.org/drawingml/2006/main" noGrp="1"/>
          </p:cNvSpPr>
          <p:nvPr/>
        </p:nvSpPr>
        <p:spPr>
          <a:xfrm xmlns:a="http://schemas.openxmlformats.org/drawingml/2006/main">
            <a:off x="66675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Wednesday close</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Weekly rebalance</a:t>
            </a:r>
          </a:p>
        </p:txBody>
      </p:sp>
      <p:sp>
        <p:nvSpPr>
          <p:cNvPr id="10" name="">
            <a:extLst xmlns:a="http://schemas.openxmlformats.org/drawingml/2006/main">
              <a:ext uri="{FF2B5EF4-FFF2-40B4-BE49-F238E27FC236}">
                <a16:creationId xmlns:a16="http://schemas.microsoft.com/office/drawing/2014/main" id="{7B4B8567-8507-4AD7-A8F3-B7C8821C4E8E}"/>
              </a:ext>
            </a:extLst>
          </p:cNvPr>
          <p:cNvSpPr>
            <a:spLocks xmlns:a="http://schemas.openxmlformats.org/drawingml/2006/main" noGrp="1"/>
          </p:cNvSpPr>
          <p:nvPr/>
        </p:nvSpPr>
        <p:spPr>
          <a:xfrm xmlns:a="http://schemas.openxmlformats.org/drawingml/2006/main">
            <a:off x="342900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TWO SLEEVES</a:t>
            </a:r>
          </a:p>
        </p:txBody>
      </p:sp>
      <p:sp>
        <p:nvSpPr>
          <p:cNvPr id="11" name="">
            <a:extLst xmlns:a="http://schemas.openxmlformats.org/drawingml/2006/main">
              <a:ext uri="{FF2B5EF4-FFF2-40B4-BE49-F238E27FC236}">
                <a16:creationId xmlns:a16="http://schemas.microsoft.com/office/drawing/2014/main" id="{EE99CB67-3B4D-4239-96EC-C5AE0846EE8A}"/>
              </a:ext>
            </a:extLst>
          </p:cNvPr>
          <p:cNvSpPr>
            <a:spLocks xmlns:a="http://schemas.openxmlformats.org/drawingml/2006/main" noGrp="1"/>
          </p:cNvSpPr>
          <p:nvPr/>
        </p:nvSpPr>
        <p:spPr>
          <a:xfrm xmlns:a="http://schemas.openxmlformats.org/drawingml/2006/main">
            <a:off x="342900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10-week ROC</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25-week ROC</a:t>
            </a:r>
          </a:p>
        </p:txBody>
      </p:sp>
      <p:sp>
        <p:nvSpPr>
          <p:cNvPr id="12" name="">
            <a:extLst xmlns:a="http://schemas.openxmlformats.org/drawingml/2006/main">
              <a:ext uri="{FF2B5EF4-FFF2-40B4-BE49-F238E27FC236}">
                <a16:creationId xmlns:a16="http://schemas.microsoft.com/office/drawing/2014/main" id="{E2336303-E925-419F-BA88-E200EA9CDF26}"/>
              </a:ext>
            </a:extLst>
          </p:cNvPr>
          <p:cNvSpPr>
            <a:spLocks xmlns:a="http://schemas.openxmlformats.org/drawingml/2006/main" noGrp="1"/>
          </p:cNvSpPr>
          <p:nvPr/>
        </p:nvSpPr>
        <p:spPr>
          <a:xfrm xmlns:a="http://schemas.openxmlformats.org/drawingml/2006/main">
            <a:off x="619125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SELECTION</a:t>
            </a:r>
          </a:p>
        </p:txBody>
      </p:sp>
      <p:sp>
        <p:nvSpPr>
          <p:cNvPr id="13" name="">
            <a:extLst xmlns:a="http://schemas.openxmlformats.org/drawingml/2006/main">
              <a:ext uri="{FF2B5EF4-FFF2-40B4-BE49-F238E27FC236}">
                <a16:creationId xmlns:a16="http://schemas.microsoft.com/office/drawing/2014/main" id="{E87F69DB-3722-4584-ACD7-5794C8CC09D7}"/>
              </a:ext>
            </a:extLst>
          </p:cNvPr>
          <p:cNvSpPr>
            <a:spLocks xmlns:a="http://schemas.openxmlformats.org/drawingml/2006/main" noGrp="1"/>
          </p:cNvSpPr>
          <p:nvPr/>
        </p:nvSpPr>
        <p:spPr>
          <a:xfrm xmlns:a="http://schemas.openxmlformats.org/drawingml/2006/main">
            <a:off x="619125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Top 3 per sleeve</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Positive ROC only</a:t>
            </a:r>
          </a:p>
        </p:txBody>
      </p:sp>
      <p:sp>
        <p:nvSpPr>
          <p:cNvPr id="14" name="">
            <a:extLst xmlns:a="http://schemas.openxmlformats.org/drawingml/2006/main">
              <a:ext uri="{FF2B5EF4-FFF2-40B4-BE49-F238E27FC236}">
                <a16:creationId xmlns:a16="http://schemas.microsoft.com/office/drawing/2014/main" id="{E839D33A-5AB2-49E2-BD35-DAC5629E2C9F}"/>
              </a:ext>
            </a:extLst>
          </p:cNvPr>
          <p:cNvSpPr>
            <a:spLocks xmlns:a="http://schemas.openxmlformats.org/drawingml/2006/main" noGrp="1"/>
          </p:cNvSpPr>
          <p:nvPr/>
        </p:nvSpPr>
        <p:spPr>
          <a:xfrm xmlns:a="http://schemas.openxmlformats.org/drawingml/2006/main">
            <a:off x="895350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ALLOCATION</a:t>
            </a:r>
          </a:p>
        </p:txBody>
      </p:sp>
      <p:sp>
        <p:nvSpPr>
          <p:cNvPr id="15" name="">
            <a:extLst xmlns:a="http://schemas.openxmlformats.org/drawingml/2006/main">
              <a:ext uri="{FF2B5EF4-FFF2-40B4-BE49-F238E27FC236}">
                <a16:creationId xmlns:a16="http://schemas.microsoft.com/office/drawing/2014/main" id="{AD376B60-6F16-4D24-AAF8-36D5C9BFBC2E}"/>
              </a:ext>
            </a:extLst>
          </p:cNvPr>
          <p:cNvSpPr>
            <a:spLocks xmlns:a="http://schemas.openxmlformats.org/drawingml/2006/main" noGrp="1"/>
          </p:cNvSpPr>
          <p:nvPr/>
        </p:nvSpPr>
        <p:spPr>
          <a:xfrm xmlns:a="http://schemas.openxmlformats.org/drawingml/2006/main">
            <a:off x="895350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50% per sleeve</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Failed slots = cash</a:t>
            </a:r>
          </a:p>
        </p:txBody>
      </p:sp>
      <p:sp>
        <p:nvSpPr>
          <p:cNvPr id="16" name="">
            <a:extLst xmlns:a="http://schemas.openxmlformats.org/drawingml/2006/main">
              <a:ext uri="{FF2B5EF4-FFF2-40B4-BE49-F238E27FC236}">
                <a16:creationId xmlns:a16="http://schemas.microsoft.com/office/drawing/2014/main" id="{B7A3C9A6-4C13-47A7-A4A9-F8DE7D75F0C5}"/>
              </a:ext>
            </a:extLst>
          </p:cNvPr>
          <p:cNvSpPr>
            <a:spLocks xmlns:a="http://schemas.openxmlformats.org/drawingml/2006/main" noGrp="1"/>
          </p:cNvSpPr>
          <p:nvPr/>
        </p:nvSpPr>
        <p:spPr>
          <a:xfrm xmlns:a="http://schemas.openxmlformats.org/drawingml/2006/main">
            <a:off x="666750" y="5010150"/>
            <a:ext cx="10572750" cy="7810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7" name="">
            <a:extLst xmlns:a="http://schemas.openxmlformats.org/drawingml/2006/main">
              <a:ext uri="{FF2B5EF4-FFF2-40B4-BE49-F238E27FC236}">
                <a16:creationId xmlns:a16="http://schemas.microsoft.com/office/drawing/2014/main" id="{91F22369-1F45-4A63-B774-BEF94F9004C8}"/>
              </a:ext>
            </a:extLst>
          </p:cNvPr>
          <p:cNvSpPr>
            <a:spLocks xmlns:a="http://schemas.openxmlformats.org/drawingml/2006/main" noGrp="1"/>
          </p:cNvSpPr>
          <p:nvPr/>
        </p:nvSpPr>
        <p:spPr>
          <a:xfrm xmlns:a="http://schemas.openxmlformats.org/drawingml/2006/main">
            <a:off x="952500" y="52197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01820"/>
                </a:solidFill>
                <a:latin typeface="Arial"/>
                <a:ea typeface="Arial"/>
                <a:cs typeface="Arial"/>
              </a:defRPr>
            </a:pPr>
            <a:r>
              <a:rPr sz="1800" b="1">
                <a:solidFill>
                  <a:srgbClr val="101820"/>
                </a:solidFill>
                <a:latin typeface="Arial"/>
                <a:ea typeface="Arial"/>
                <a:cs typeface="Arial"/>
              </a:rPr>
              <a:t>An ETF selected by both sleeves can receive one-third of the portfolio; one-sleeve selections receive one-sixth.</a:t>
            </a:r>
          </a:p>
        </p:txBody>
      </p:sp>
    </p:spTree>
    <p:extLst>
      <p:ext uri="{BB962C8B-B14F-4D97-AF65-F5344CB8AC3E}">
        <p14:creationId xmlns:p14="http://schemas.microsoft.com/office/powerpoint/2010/main" val="2316514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7232C40-58B4-44EA-9680-30505462E785}"/>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10-title">
            <a:extLst xmlns:a="http://schemas.openxmlformats.org/drawingml/2006/main">
              <a:ext uri="{FF2B5EF4-FFF2-40B4-BE49-F238E27FC236}">
                <a16:creationId xmlns:a16="http://schemas.microsoft.com/office/drawing/2014/main" id="{57358990-174D-4187-8662-7D0F6085398C}"/>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Recent publication is useful—not independent confirmation</a:t>
            </a:r>
          </a:p>
        </p:txBody>
      </p:sp>
      <p:sp>
        <p:nvSpPr>
          <p:cNvPr id="3" name="">
            <a:extLst xmlns:a="http://schemas.openxmlformats.org/drawingml/2006/main">
              <a:ext uri="{FF2B5EF4-FFF2-40B4-BE49-F238E27FC236}">
                <a16:creationId xmlns:a16="http://schemas.microsoft.com/office/drawing/2014/main" id="{0F6F5FF1-50CB-4C1C-A838-E4C98DB65192}"/>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10-number">
            <a:extLst xmlns:a="http://schemas.openxmlformats.org/drawingml/2006/main">
              <a:ext uri="{FF2B5EF4-FFF2-40B4-BE49-F238E27FC236}">
                <a16:creationId xmlns:a16="http://schemas.microsoft.com/office/drawing/2014/main" id="{C5B62B3C-DA1A-4AC0-B2F1-847EBA93985A}"/>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9F75B7A-D38B-4F42-9233-C3DF04510E30}"/>
              </a:ext>
            </a:extLst>
          </p:cNvPr>
          <p:cNvSpPr>
            <a:spLocks xmlns:a="http://schemas.openxmlformats.org/drawingml/2006/main" noGrp="1"/>
          </p:cNvSpPr>
          <p:nvPr/>
        </p:nvSpPr>
        <p:spPr>
          <a:xfrm xmlns:a="http://schemas.openxmlformats.org/drawingml/2006/main">
            <a:off x="685800" y="3295650"/>
            <a:ext cx="10801350" cy="0"/>
          </a:xfrm>
          <a:prstGeom xmlns:a="http://schemas.openxmlformats.org/drawingml/2006/main" prst="line">
            <a:avLst/>
          </a:prstGeom>
          <a:noFill xmlns:a="http://schemas.openxmlformats.org/drawingml/2006/main"/>
          <a:ln xmlns:a="http://schemas.openxmlformats.org/drawingml/2006/main" w="19050">
            <a:solidFill>
              <a:srgbClr val="101820"/>
            </a:solidFill>
            <a:prstDash val="solid"/>
          </a:ln>
        </p:spPr>
      </p:sp>
      <p:sp>
        <p:nvSpPr>
          <p:cNvPr id="6" name="">
            <a:extLst xmlns:a="http://schemas.openxmlformats.org/drawingml/2006/main">
              <a:ext uri="{FF2B5EF4-FFF2-40B4-BE49-F238E27FC236}">
                <a16:creationId xmlns:a16="http://schemas.microsoft.com/office/drawing/2014/main" id="{B6E49722-6CA9-454F-B995-8CB7212F56C7}"/>
              </a:ext>
            </a:extLst>
          </p:cNvPr>
          <p:cNvSpPr>
            <a:spLocks xmlns:a="http://schemas.openxmlformats.org/drawingml/2006/main" noGrp="1"/>
          </p:cNvSpPr>
          <p:nvPr/>
        </p:nvSpPr>
        <p:spPr>
          <a:xfrm xmlns:a="http://schemas.openxmlformats.org/drawingml/2006/main">
            <a:off x="819150" y="3200400"/>
            <a:ext cx="190500" cy="190500"/>
          </a:xfrm>
          <a:prstGeom xmlns:a="http://schemas.openxmlformats.org/drawingml/2006/main" prst="ellipse">
            <a:avLst/>
          </a:prstGeom>
          <a:solidFill xmlns:a="http://schemas.openxmlformats.org/drawingml/2006/main">
            <a:srgbClr val="C8553D"/>
          </a:solidFill>
          <a:ln xmlns:a="http://schemas.openxmlformats.org/drawingml/2006/main" w="9525">
            <a:solidFill>
              <a:srgbClr val="C8553D"/>
            </a:solidFill>
            <a:prstDash val="solid"/>
          </a:ln>
        </p:spPr>
      </p:sp>
      <p:sp>
        <p:nvSpPr>
          <p:cNvPr id="7" name="">
            <a:extLst xmlns:a="http://schemas.openxmlformats.org/drawingml/2006/main">
              <a:ext uri="{FF2B5EF4-FFF2-40B4-BE49-F238E27FC236}">
                <a16:creationId xmlns:a16="http://schemas.microsoft.com/office/drawing/2014/main" id="{727C3E31-FD7D-4CA8-8C95-46F236B89825}"/>
              </a:ext>
            </a:extLst>
          </p:cNvPr>
          <p:cNvSpPr>
            <a:spLocks xmlns:a="http://schemas.openxmlformats.org/drawingml/2006/main" noGrp="1"/>
          </p:cNvSpPr>
          <p:nvPr/>
        </p:nvSpPr>
        <p:spPr>
          <a:xfrm xmlns:a="http://schemas.openxmlformats.org/drawingml/2006/main">
            <a:off x="590550" y="26098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C8553D"/>
                </a:solidFill>
                <a:latin typeface="Arial"/>
                <a:ea typeface="Arial"/>
                <a:cs typeface="Arial"/>
              </a:defRPr>
            </a:pPr>
            <a:r>
              <a:rPr sz="1350" b="1">
                <a:solidFill>
                  <a:srgbClr val="C8553D"/>
                </a:solidFill>
                <a:latin typeface="Arial"/>
                <a:ea typeface="Arial"/>
                <a:cs typeface="Arial"/>
              </a:rPr>
              <a:t>Feb 2007</a:t>
            </a:r>
          </a:p>
        </p:txBody>
      </p:sp>
      <p:sp>
        <p:nvSpPr>
          <p:cNvPr id="8" name="">
            <a:extLst xmlns:a="http://schemas.openxmlformats.org/drawingml/2006/main">
              <a:ext uri="{FF2B5EF4-FFF2-40B4-BE49-F238E27FC236}">
                <a16:creationId xmlns:a16="http://schemas.microsoft.com/office/drawing/2014/main" id="{B93D837E-678E-4066-A05C-1768BC3125EE}"/>
              </a:ext>
            </a:extLst>
          </p:cNvPr>
          <p:cNvSpPr>
            <a:spLocks xmlns:a="http://schemas.openxmlformats.org/drawingml/2006/main" noGrp="1"/>
          </p:cNvSpPr>
          <p:nvPr/>
        </p:nvSpPr>
        <p:spPr>
          <a:xfrm xmlns:a="http://schemas.openxmlformats.org/drawingml/2006/main">
            <a:off x="590550" y="36385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01820"/>
                </a:solidFill>
                <a:latin typeface="Arial"/>
                <a:ea typeface="Arial"/>
                <a:cs typeface="Arial"/>
              </a:defRPr>
            </a:pPr>
            <a:r>
              <a:rPr sz="1500" b="1">
                <a:solidFill>
                  <a:srgbClr val="101820"/>
                </a:solidFill>
                <a:latin typeface="Arial"/>
                <a:ea typeface="Arial"/>
                <a:cs typeface="Arial"/>
              </a:rPr>
              <a:t>History begins</a:t>
            </a:r>
          </a:p>
        </p:txBody>
      </p:sp>
      <p:sp>
        <p:nvSpPr>
          <p:cNvPr id="9" name="">
            <a:extLst xmlns:a="http://schemas.openxmlformats.org/drawingml/2006/main">
              <a:ext uri="{FF2B5EF4-FFF2-40B4-BE49-F238E27FC236}">
                <a16:creationId xmlns:a16="http://schemas.microsoft.com/office/drawing/2014/main" id="{C52A093B-8F87-484F-98EE-3799E05A0D9D}"/>
              </a:ext>
            </a:extLst>
          </p:cNvPr>
          <p:cNvSpPr>
            <a:spLocks xmlns:a="http://schemas.openxmlformats.org/drawingml/2006/main" noGrp="1"/>
          </p:cNvSpPr>
          <p:nvPr/>
        </p:nvSpPr>
        <p:spPr>
          <a:xfrm xmlns:a="http://schemas.openxmlformats.org/drawingml/2006/main">
            <a:off x="3314700" y="3200400"/>
            <a:ext cx="190500" cy="190500"/>
          </a:xfrm>
          <a:prstGeom xmlns:a="http://schemas.openxmlformats.org/drawingml/2006/main" prst="ellipse">
            <a:avLst/>
          </a:prstGeom>
          <a:solidFill xmlns:a="http://schemas.openxmlformats.org/drawingml/2006/main">
            <a:srgbClr val="C8553D"/>
          </a:solidFill>
          <a:ln xmlns:a="http://schemas.openxmlformats.org/drawingml/2006/main" w="9525">
            <a:solidFill>
              <a:srgbClr val="C8553D"/>
            </a:solidFill>
            <a:prstDash val="solid"/>
          </a:ln>
        </p:spPr>
      </p:sp>
      <p:sp>
        <p:nvSpPr>
          <p:cNvPr id="10" name="">
            <a:extLst xmlns:a="http://schemas.openxmlformats.org/drawingml/2006/main">
              <a:ext uri="{FF2B5EF4-FFF2-40B4-BE49-F238E27FC236}">
                <a16:creationId xmlns:a16="http://schemas.microsoft.com/office/drawing/2014/main" id="{1255D56D-26AD-43B5-8E10-805EC61898B5}"/>
              </a:ext>
            </a:extLst>
          </p:cNvPr>
          <p:cNvSpPr>
            <a:spLocks xmlns:a="http://schemas.openxmlformats.org/drawingml/2006/main" noGrp="1"/>
          </p:cNvSpPr>
          <p:nvPr/>
        </p:nvSpPr>
        <p:spPr>
          <a:xfrm xmlns:a="http://schemas.openxmlformats.org/drawingml/2006/main">
            <a:off x="3086100" y="26098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C8553D"/>
                </a:solidFill>
                <a:latin typeface="Arial"/>
                <a:ea typeface="Arial"/>
                <a:cs typeface="Arial"/>
              </a:defRPr>
            </a:pPr>
            <a:r>
              <a:rPr sz="1350" b="1">
                <a:solidFill>
                  <a:srgbClr val="C8553D"/>
                </a:solidFill>
                <a:latin typeface="Arial"/>
                <a:ea typeface="Arial"/>
                <a:cs typeface="Arial"/>
              </a:rPr>
              <a:t>Mar 25 2026</a:t>
            </a:r>
          </a:p>
        </p:txBody>
      </p:sp>
      <p:sp>
        <p:nvSpPr>
          <p:cNvPr id="11" name="">
            <a:extLst xmlns:a="http://schemas.openxmlformats.org/drawingml/2006/main">
              <a:ext uri="{FF2B5EF4-FFF2-40B4-BE49-F238E27FC236}">
                <a16:creationId xmlns:a16="http://schemas.microsoft.com/office/drawing/2014/main" id="{0B8DCF0D-53F0-466E-BD40-4DD2FE05A6C5}"/>
              </a:ext>
            </a:extLst>
          </p:cNvPr>
          <p:cNvSpPr>
            <a:spLocks xmlns:a="http://schemas.openxmlformats.org/drawingml/2006/main" noGrp="1"/>
          </p:cNvSpPr>
          <p:nvPr/>
        </p:nvSpPr>
        <p:spPr>
          <a:xfrm xmlns:a="http://schemas.openxmlformats.org/drawingml/2006/main">
            <a:off x="3086100" y="36385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01820"/>
                </a:solidFill>
                <a:latin typeface="Arial"/>
                <a:ea typeface="Arial"/>
                <a:cs typeface="Arial"/>
              </a:defRPr>
            </a:pPr>
            <a:r>
              <a:rPr sz="1500" b="1">
                <a:solidFill>
                  <a:srgbClr val="101820"/>
                </a:solidFill>
                <a:latin typeface="Arial"/>
                <a:ea typeface="Arial"/>
                <a:cs typeface="Arial"/>
              </a:rPr>
              <a:t>Publisher cutoff</a:t>
            </a:r>
          </a:p>
        </p:txBody>
      </p:sp>
      <p:sp>
        <p:nvSpPr>
          <p:cNvPr id="12" name="">
            <a:extLst xmlns:a="http://schemas.openxmlformats.org/drawingml/2006/main">
              <a:ext uri="{FF2B5EF4-FFF2-40B4-BE49-F238E27FC236}">
                <a16:creationId xmlns:a16="http://schemas.microsoft.com/office/drawing/2014/main" id="{53133AA9-FD8E-4764-90B8-D0D3B5D7FA2D}"/>
              </a:ext>
            </a:extLst>
          </p:cNvPr>
          <p:cNvSpPr>
            <a:spLocks xmlns:a="http://schemas.openxmlformats.org/drawingml/2006/main" noGrp="1"/>
          </p:cNvSpPr>
          <p:nvPr/>
        </p:nvSpPr>
        <p:spPr>
          <a:xfrm xmlns:a="http://schemas.openxmlformats.org/drawingml/2006/main">
            <a:off x="5810250" y="3200400"/>
            <a:ext cx="190500" cy="1905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A9A4A68F-2AEB-428E-9036-84DA38DECE11}"/>
              </a:ext>
            </a:extLst>
          </p:cNvPr>
          <p:cNvSpPr>
            <a:spLocks xmlns:a="http://schemas.openxmlformats.org/drawingml/2006/main" noGrp="1"/>
          </p:cNvSpPr>
          <p:nvPr/>
        </p:nvSpPr>
        <p:spPr>
          <a:xfrm xmlns:a="http://schemas.openxmlformats.org/drawingml/2006/main">
            <a:off x="5581650" y="26098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May 22 2026</a:t>
            </a:r>
          </a:p>
        </p:txBody>
      </p:sp>
      <p:sp>
        <p:nvSpPr>
          <p:cNvPr id="14" name="">
            <a:extLst xmlns:a="http://schemas.openxmlformats.org/drawingml/2006/main">
              <a:ext uri="{FF2B5EF4-FFF2-40B4-BE49-F238E27FC236}">
                <a16:creationId xmlns:a16="http://schemas.microsoft.com/office/drawing/2014/main" id="{7C1C3171-E25B-4118-A1AA-133CAF3CDCC3}"/>
              </a:ext>
            </a:extLst>
          </p:cNvPr>
          <p:cNvSpPr>
            <a:spLocks xmlns:a="http://schemas.openxmlformats.org/drawingml/2006/main" noGrp="1"/>
          </p:cNvSpPr>
          <p:nvPr/>
        </p:nvSpPr>
        <p:spPr>
          <a:xfrm xmlns:a="http://schemas.openxmlformats.org/drawingml/2006/main">
            <a:off x="5581650" y="36385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01820"/>
                </a:solidFill>
                <a:latin typeface="Arial"/>
                <a:ea typeface="Arial"/>
                <a:cs typeface="Arial"/>
              </a:defRPr>
            </a:pPr>
            <a:r>
              <a:rPr sz="1500" b="1">
                <a:solidFill>
                  <a:srgbClr val="101820"/>
                </a:solidFill>
                <a:latin typeface="Arial"/>
                <a:ea typeface="Arial"/>
                <a:cs typeface="Arial"/>
              </a:rPr>
              <a:t>Study published</a:t>
            </a:r>
          </a:p>
        </p:txBody>
      </p:sp>
      <p:sp>
        <p:nvSpPr>
          <p:cNvPr id="15" name="">
            <a:extLst xmlns:a="http://schemas.openxmlformats.org/drawingml/2006/main">
              <a:ext uri="{FF2B5EF4-FFF2-40B4-BE49-F238E27FC236}">
                <a16:creationId xmlns:a16="http://schemas.microsoft.com/office/drawing/2014/main" id="{5FEE0BD8-F56A-44B3-B3C4-18D49730BAE5}"/>
              </a:ext>
            </a:extLst>
          </p:cNvPr>
          <p:cNvSpPr>
            <a:spLocks xmlns:a="http://schemas.openxmlformats.org/drawingml/2006/main" noGrp="1"/>
          </p:cNvSpPr>
          <p:nvPr/>
        </p:nvSpPr>
        <p:spPr>
          <a:xfrm xmlns:a="http://schemas.openxmlformats.org/drawingml/2006/main">
            <a:off x="8305800" y="3200400"/>
            <a:ext cx="190500" cy="1905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6" name="">
            <a:extLst xmlns:a="http://schemas.openxmlformats.org/drawingml/2006/main">
              <a:ext uri="{FF2B5EF4-FFF2-40B4-BE49-F238E27FC236}">
                <a16:creationId xmlns:a16="http://schemas.microsoft.com/office/drawing/2014/main" id="{ABAC450A-BD3A-49AE-A0F5-C95290E95E7B}"/>
              </a:ext>
            </a:extLst>
          </p:cNvPr>
          <p:cNvSpPr>
            <a:spLocks xmlns:a="http://schemas.openxmlformats.org/drawingml/2006/main" noGrp="1"/>
          </p:cNvSpPr>
          <p:nvPr/>
        </p:nvSpPr>
        <p:spPr>
          <a:xfrm xmlns:a="http://schemas.openxmlformats.org/drawingml/2006/main">
            <a:off x="8077200" y="26098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Jul 12 2026</a:t>
            </a:r>
          </a:p>
        </p:txBody>
      </p:sp>
      <p:sp>
        <p:nvSpPr>
          <p:cNvPr id="17" name="">
            <a:extLst xmlns:a="http://schemas.openxmlformats.org/drawingml/2006/main">
              <a:ext uri="{FF2B5EF4-FFF2-40B4-BE49-F238E27FC236}">
                <a16:creationId xmlns:a16="http://schemas.microsoft.com/office/drawing/2014/main" id="{5121BEA2-DDC1-4592-877D-3251D54DA387}"/>
              </a:ext>
            </a:extLst>
          </p:cNvPr>
          <p:cNvSpPr>
            <a:spLocks xmlns:a="http://schemas.openxmlformats.org/drawingml/2006/main" noGrp="1"/>
          </p:cNvSpPr>
          <p:nvPr/>
        </p:nvSpPr>
        <p:spPr>
          <a:xfrm xmlns:a="http://schemas.openxmlformats.org/drawingml/2006/main">
            <a:off x="8077200" y="36385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01820"/>
                </a:solidFill>
                <a:latin typeface="Arial"/>
                <a:ea typeface="Arial"/>
                <a:cs typeface="Arial"/>
              </a:defRPr>
            </a:pPr>
            <a:r>
              <a:rPr sz="1500" b="1">
                <a:solidFill>
                  <a:srgbClr val="101820"/>
                </a:solidFill>
                <a:latin typeface="Arial"/>
                <a:ea typeface="Arial"/>
                <a:cs typeface="Arial"/>
              </a:rPr>
              <a:t>Video published</a:t>
            </a:r>
          </a:p>
        </p:txBody>
      </p:sp>
      <p:sp>
        <p:nvSpPr>
          <p:cNvPr id="18" name="">
            <a:extLst xmlns:a="http://schemas.openxmlformats.org/drawingml/2006/main">
              <a:ext uri="{FF2B5EF4-FFF2-40B4-BE49-F238E27FC236}">
                <a16:creationId xmlns:a16="http://schemas.microsoft.com/office/drawing/2014/main" id="{AFF70122-CD12-432F-ABF8-1335889D83F2}"/>
              </a:ext>
            </a:extLst>
          </p:cNvPr>
          <p:cNvSpPr>
            <a:spLocks xmlns:a="http://schemas.openxmlformats.org/drawingml/2006/main" noGrp="1"/>
          </p:cNvSpPr>
          <p:nvPr/>
        </p:nvSpPr>
        <p:spPr>
          <a:xfrm xmlns:a="http://schemas.openxmlformats.org/drawingml/2006/main">
            <a:off x="10572750" y="3200400"/>
            <a:ext cx="190500" cy="1905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CDA6D2ED-E92D-48E1-A139-B46951F16A53}"/>
              </a:ext>
            </a:extLst>
          </p:cNvPr>
          <p:cNvSpPr>
            <a:spLocks xmlns:a="http://schemas.openxmlformats.org/drawingml/2006/main" noGrp="1"/>
          </p:cNvSpPr>
          <p:nvPr/>
        </p:nvSpPr>
        <p:spPr>
          <a:xfrm xmlns:a="http://schemas.openxmlformats.org/drawingml/2006/main">
            <a:off x="10344150" y="26098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Sep 2 2026</a:t>
            </a:r>
          </a:p>
        </p:txBody>
      </p:sp>
      <p:sp>
        <p:nvSpPr>
          <p:cNvPr id="20" name="">
            <a:extLst xmlns:a="http://schemas.openxmlformats.org/drawingml/2006/main">
              <a:ext uri="{FF2B5EF4-FFF2-40B4-BE49-F238E27FC236}">
                <a16:creationId xmlns:a16="http://schemas.microsoft.com/office/drawing/2014/main" id="{FF0639BC-026C-42D1-9C18-79A528E583A3}"/>
              </a:ext>
            </a:extLst>
          </p:cNvPr>
          <p:cNvSpPr>
            <a:spLocks xmlns:a="http://schemas.openxmlformats.org/drawingml/2006/main" noGrp="1"/>
          </p:cNvSpPr>
          <p:nvPr/>
        </p:nvSpPr>
        <p:spPr>
          <a:xfrm xmlns:a="http://schemas.openxmlformats.org/drawingml/2006/main">
            <a:off x="10344150" y="36385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a:solidFill>
                  <a:srgbClr val="101820"/>
                </a:solidFill>
                <a:latin typeface="Arial"/>
                <a:ea typeface="Arial"/>
                <a:cs typeface="Arial"/>
              </a:defRPr>
            </a:pPr>
            <a:r>
              <a:rPr sz="1500" b="1">
                <a:solidFill>
                  <a:srgbClr val="101820"/>
                </a:solidFill>
                <a:latin typeface="Arial"/>
                <a:ea typeface="Arial"/>
                <a:cs typeface="Arial"/>
              </a:rPr>
              <a:t>Gen5 freeze</a:t>
            </a:r>
          </a:p>
        </p:txBody>
      </p:sp>
      <p:sp>
        <p:nvSpPr>
          <p:cNvPr id="21" name="">
            <a:extLst xmlns:a="http://schemas.openxmlformats.org/drawingml/2006/main">
              <a:ext uri="{FF2B5EF4-FFF2-40B4-BE49-F238E27FC236}">
                <a16:creationId xmlns:a16="http://schemas.microsoft.com/office/drawing/2014/main" id="{BDECB32F-9F96-4FFB-9BEB-E30B71CE23BE}"/>
              </a:ext>
            </a:extLst>
          </p:cNvPr>
          <p:cNvSpPr>
            <a:spLocks xmlns:a="http://schemas.openxmlformats.org/drawingml/2006/main" noGrp="1"/>
          </p:cNvSpPr>
          <p:nvPr/>
        </p:nvSpPr>
        <p:spPr>
          <a:xfrm xmlns:a="http://schemas.openxmlformats.org/drawingml/2006/main">
            <a:off x="1219200" y="4762500"/>
            <a:ext cx="9753600" cy="10096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22" name="">
            <a:extLst xmlns:a="http://schemas.openxmlformats.org/drawingml/2006/main">
              <a:ext uri="{FF2B5EF4-FFF2-40B4-BE49-F238E27FC236}">
                <a16:creationId xmlns:a16="http://schemas.microsoft.com/office/drawing/2014/main" id="{3524676D-EC8D-456C-B6A4-D2A8CDC33657}"/>
              </a:ext>
            </a:extLst>
          </p:cNvPr>
          <p:cNvSpPr>
            <a:spLocks xmlns:a="http://schemas.openxmlformats.org/drawingml/2006/main" noGrp="1"/>
          </p:cNvSpPr>
          <p:nvPr/>
        </p:nvSpPr>
        <p:spPr>
          <a:xfrm xmlns:a="http://schemas.openxmlformats.org/drawingml/2006/main">
            <a:off x="1581150" y="501015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C8553D"/>
                </a:solidFill>
                <a:latin typeface="Arial"/>
                <a:ea typeface="Arial"/>
                <a:cs typeface="Arial"/>
              </a:defRPr>
            </a:pPr>
            <a:r>
              <a:rPr sz="1875" b="1">
                <a:solidFill>
                  <a:srgbClr val="C8553D"/>
                </a:solidFill>
                <a:latin typeface="Arial"/>
                <a:ea typeface="Arial"/>
                <a:cs typeface="Arial"/>
              </a:rPr>
              <a:t>The final 10/25-week, top-three specification was chosen after inspecting multiple horizons and breadths on the same historical sample.</a:t>
            </a:r>
          </a:p>
        </p:txBody>
      </p:sp>
    </p:spTree>
    <p:extLst>
      <p:ext uri="{BB962C8B-B14F-4D97-AF65-F5344CB8AC3E}">
        <p14:creationId xmlns:p14="http://schemas.microsoft.com/office/powerpoint/2010/main" val="13399832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7F9EFBF-A65D-4A1F-A96F-4F4B1E4E03D7}"/>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11-title">
            <a:extLst xmlns:a="http://schemas.openxmlformats.org/drawingml/2006/main">
              <a:ext uri="{FF2B5EF4-FFF2-40B4-BE49-F238E27FC236}">
                <a16:creationId xmlns:a16="http://schemas.microsoft.com/office/drawing/2014/main" id="{1949FC9B-C88A-491B-A84C-DC3E760DC18C}"/>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first POC will expose mechanics before performance</a:t>
            </a:r>
          </a:p>
        </p:txBody>
      </p:sp>
      <p:sp>
        <p:nvSpPr>
          <p:cNvPr id="3" name="">
            <a:extLst xmlns:a="http://schemas.openxmlformats.org/drawingml/2006/main">
              <a:ext uri="{FF2B5EF4-FFF2-40B4-BE49-F238E27FC236}">
                <a16:creationId xmlns:a16="http://schemas.microsoft.com/office/drawing/2014/main" id="{7AFABA0B-6D80-4454-93A0-9C3EC96213C1}"/>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11-number">
            <a:extLst xmlns:a="http://schemas.openxmlformats.org/drawingml/2006/main">
              <a:ext uri="{FF2B5EF4-FFF2-40B4-BE49-F238E27FC236}">
                <a16:creationId xmlns:a16="http://schemas.microsoft.com/office/drawing/2014/main" id="{9EA5A49B-610F-443B-B205-E5A4E94CFFE9}"/>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357991AD-D723-4BD8-A25B-96372E7D864B}"/>
              </a:ext>
            </a:extLst>
          </p:cNvPr>
          <p:cNvSpPr>
            <a:spLocks xmlns:a="http://schemas.openxmlformats.org/drawingml/2006/main" noGrp="1"/>
          </p:cNvSpPr>
          <p:nvPr/>
        </p:nvSpPr>
        <p:spPr>
          <a:xfrm xmlns:a="http://schemas.openxmlformats.org/drawingml/2006/main">
            <a:off x="685800" y="1676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2E7D5B"/>
                </a:solidFill>
                <a:latin typeface="Arial"/>
                <a:ea typeface="Arial"/>
                <a:cs typeface="Arial"/>
              </a:defRPr>
            </a:pPr>
            <a:r>
              <a:rPr sz="1275" b="1">
                <a:solidFill>
                  <a:srgbClr val="2E7D5B"/>
                </a:solidFill>
                <a:latin typeface="Arial"/>
                <a:ea typeface="Arial"/>
                <a:cs typeface="Arial"/>
              </a:rPr>
              <a:t>OPEN</a:t>
            </a:r>
          </a:p>
        </p:txBody>
      </p:sp>
      <p:sp>
        <p:nvSpPr>
          <p:cNvPr id="6" name="">
            <a:extLst xmlns:a="http://schemas.openxmlformats.org/drawingml/2006/main">
              <a:ext uri="{FF2B5EF4-FFF2-40B4-BE49-F238E27FC236}">
                <a16:creationId xmlns:a16="http://schemas.microsoft.com/office/drawing/2014/main" id="{B04DE420-48DA-4CD9-9613-F6E4BCB229D6}"/>
              </a:ext>
            </a:extLst>
          </p:cNvPr>
          <p:cNvSpPr>
            <a:spLocks xmlns:a="http://schemas.openxmlformats.org/drawingml/2006/main" noGrp="1"/>
          </p:cNvSpPr>
          <p:nvPr/>
        </p:nvSpPr>
        <p:spPr>
          <a:xfrm xmlns:a="http://schemas.openxmlformats.org/drawingml/2006/main">
            <a:off x="685800" y="2038350"/>
            <a:ext cx="4914900" cy="34290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7" name="">
            <a:extLst xmlns:a="http://schemas.openxmlformats.org/drawingml/2006/main">
              <a:ext uri="{FF2B5EF4-FFF2-40B4-BE49-F238E27FC236}">
                <a16:creationId xmlns:a16="http://schemas.microsoft.com/office/drawing/2014/main" id="{CD3F3B9C-7349-42D8-9987-E659C1CC65A2}"/>
              </a:ext>
            </a:extLst>
          </p:cNvPr>
          <p:cNvSpPr>
            <a:spLocks xmlns:a="http://schemas.openxmlformats.org/drawingml/2006/main" noGrp="1"/>
          </p:cNvSpPr>
          <p:nvPr/>
        </p:nvSpPr>
        <p:spPr>
          <a:xfrm xmlns:a="http://schemas.openxmlformats.org/drawingml/2006/main">
            <a:off x="952500" y="2476500"/>
            <a:ext cx="95250" cy="95250"/>
          </a:xfrm>
          <a:prstGeom xmlns:a="http://schemas.openxmlformats.org/drawingml/2006/main" prst="rect">
            <a:avLst/>
          </a:prstGeom>
          <a:solidFill xmlns:a="http://schemas.openxmlformats.org/drawingml/2006/main">
            <a:srgbClr val="2E7D5B"/>
          </a:solidFill>
          <a:ln xmlns:a="http://schemas.openxmlformats.org/drawingml/2006/main" w="9525">
            <a:solidFill>
              <a:srgbClr val="2E7D5B"/>
            </a:solidFill>
            <a:prstDash val="solid"/>
          </a:ln>
        </p:spPr>
      </p:sp>
      <p:sp>
        <p:nvSpPr>
          <p:cNvPr id="8" name="">
            <a:extLst xmlns:a="http://schemas.openxmlformats.org/drawingml/2006/main">
              <a:ext uri="{FF2B5EF4-FFF2-40B4-BE49-F238E27FC236}">
                <a16:creationId xmlns:a16="http://schemas.microsoft.com/office/drawing/2014/main" id="{E1FAC54E-5B83-4DED-B1EF-45EB27C7AC8B}"/>
              </a:ext>
            </a:extLst>
          </p:cNvPr>
          <p:cNvSpPr>
            <a:spLocks xmlns:a="http://schemas.openxmlformats.org/drawingml/2006/main" noGrp="1"/>
          </p:cNvSpPr>
          <p:nvPr/>
        </p:nvSpPr>
        <p:spPr>
          <a:xfrm xmlns:a="http://schemas.openxmlformats.org/drawingml/2006/main">
            <a:off x="1200150" y="240030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Reconstruct weekly Wednesday signals</a:t>
            </a:r>
          </a:p>
        </p:txBody>
      </p:sp>
      <p:sp>
        <p:nvSpPr>
          <p:cNvPr id="9" name="">
            <a:extLst xmlns:a="http://schemas.openxmlformats.org/drawingml/2006/main">
              <a:ext uri="{FF2B5EF4-FFF2-40B4-BE49-F238E27FC236}">
                <a16:creationId xmlns:a16="http://schemas.microsoft.com/office/drawing/2014/main" id="{186EC40E-374C-4C28-9A95-2DB62EF66976}"/>
              </a:ext>
            </a:extLst>
          </p:cNvPr>
          <p:cNvSpPr>
            <a:spLocks xmlns:a="http://schemas.openxmlformats.org/drawingml/2006/main" noGrp="1"/>
          </p:cNvSpPr>
          <p:nvPr/>
        </p:nvSpPr>
        <p:spPr>
          <a:xfrm xmlns:a="http://schemas.openxmlformats.org/drawingml/2006/main">
            <a:off x="952500" y="3105150"/>
            <a:ext cx="95250" cy="95250"/>
          </a:xfrm>
          <a:prstGeom xmlns:a="http://schemas.openxmlformats.org/drawingml/2006/main" prst="rect">
            <a:avLst/>
          </a:prstGeom>
          <a:solidFill xmlns:a="http://schemas.openxmlformats.org/drawingml/2006/main">
            <a:srgbClr val="2E7D5B"/>
          </a:solidFill>
          <a:ln xmlns:a="http://schemas.openxmlformats.org/drawingml/2006/main" w="9525">
            <a:solidFill>
              <a:srgbClr val="2E7D5B"/>
            </a:solidFill>
            <a:prstDash val="solid"/>
          </a:ln>
        </p:spPr>
      </p:sp>
      <p:sp>
        <p:nvSpPr>
          <p:cNvPr id="10" name="">
            <a:extLst xmlns:a="http://schemas.openxmlformats.org/drawingml/2006/main">
              <a:ext uri="{FF2B5EF4-FFF2-40B4-BE49-F238E27FC236}">
                <a16:creationId xmlns:a16="http://schemas.microsoft.com/office/drawing/2014/main" id="{7406C246-C5AB-4DC0-A199-9B58863319A1}"/>
              </a:ext>
            </a:extLst>
          </p:cNvPr>
          <p:cNvSpPr>
            <a:spLocks xmlns:a="http://schemas.openxmlformats.org/drawingml/2006/main" noGrp="1"/>
          </p:cNvSpPr>
          <p:nvPr/>
        </p:nvSpPr>
        <p:spPr>
          <a:xfrm xmlns:a="http://schemas.openxmlformats.org/drawingml/2006/main">
            <a:off x="1200150" y="302895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Rank the frozen nine-ETF universe</a:t>
            </a:r>
          </a:p>
        </p:txBody>
      </p:sp>
      <p:sp>
        <p:nvSpPr>
          <p:cNvPr id="11" name="">
            <a:extLst xmlns:a="http://schemas.openxmlformats.org/drawingml/2006/main">
              <a:ext uri="{FF2B5EF4-FFF2-40B4-BE49-F238E27FC236}">
                <a16:creationId xmlns:a16="http://schemas.microsoft.com/office/drawing/2014/main" id="{DDC7D864-A8A3-44D0-9F6A-C0F90F4DDA35}"/>
              </a:ext>
            </a:extLst>
          </p:cNvPr>
          <p:cNvSpPr>
            <a:spLocks xmlns:a="http://schemas.openxmlformats.org/drawingml/2006/main" noGrp="1"/>
          </p:cNvSpPr>
          <p:nvPr/>
        </p:nvSpPr>
        <p:spPr>
          <a:xfrm xmlns:a="http://schemas.openxmlformats.org/drawingml/2006/main">
            <a:off x="952500" y="3733800"/>
            <a:ext cx="95250" cy="95250"/>
          </a:xfrm>
          <a:prstGeom xmlns:a="http://schemas.openxmlformats.org/drawingml/2006/main" prst="rect">
            <a:avLst/>
          </a:prstGeom>
          <a:solidFill xmlns:a="http://schemas.openxmlformats.org/drawingml/2006/main">
            <a:srgbClr val="2E7D5B"/>
          </a:solidFill>
          <a:ln xmlns:a="http://schemas.openxmlformats.org/drawingml/2006/main" w="9525">
            <a:solidFill>
              <a:srgbClr val="2E7D5B"/>
            </a:solidFill>
            <a:prstDash val="solid"/>
          </a:ln>
        </p:spPr>
      </p:sp>
      <p:sp>
        <p:nvSpPr>
          <p:cNvPr id="12" name="">
            <a:extLst xmlns:a="http://schemas.openxmlformats.org/drawingml/2006/main">
              <a:ext uri="{FF2B5EF4-FFF2-40B4-BE49-F238E27FC236}">
                <a16:creationId xmlns:a16="http://schemas.microsoft.com/office/drawing/2014/main" id="{F19F5DFB-9D65-41FD-A086-643A9184AAA0}"/>
              </a:ext>
            </a:extLst>
          </p:cNvPr>
          <p:cNvSpPr>
            <a:spLocks xmlns:a="http://schemas.openxmlformats.org/drawingml/2006/main" noGrp="1"/>
          </p:cNvSpPr>
          <p:nvPr/>
        </p:nvSpPr>
        <p:spPr>
          <a:xfrm xmlns:a="http://schemas.openxmlformats.org/drawingml/2006/main">
            <a:off x="1200150" y="365760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Apply the positive-momentum veto</a:t>
            </a:r>
          </a:p>
        </p:txBody>
      </p:sp>
      <p:sp>
        <p:nvSpPr>
          <p:cNvPr id="13" name="">
            <a:extLst xmlns:a="http://schemas.openxmlformats.org/drawingml/2006/main">
              <a:ext uri="{FF2B5EF4-FFF2-40B4-BE49-F238E27FC236}">
                <a16:creationId xmlns:a16="http://schemas.microsoft.com/office/drawing/2014/main" id="{CA4F6077-E4EE-4856-A422-86DFF8DFCB63}"/>
              </a:ext>
            </a:extLst>
          </p:cNvPr>
          <p:cNvSpPr>
            <a:spLocks xmlns:a="http://schemas.openxmlformats.org/drawingml/2006/main" noGrp="1"/>
          </p:cNvSpPr>
          <p:nvPr/>
        </p:nvSpPr>
        <p:spPr>
          <a:xfrm xmlns:a="http://schemas.openxmlformats.org/drawingml/2006/main">
            <a:off x="952500" y="4362450"/>
            <a:ext cx="95250" cy="95250"/>
          </a:xfrm>
          <a:prstGeom xmlns:a="http://schemas.openxmlformats.org/drawingml/2006/main" prst="rect">
            <a:avLst/>
          </a:prstGeom>
          <a:solidFill xmlns:a="http://schemas.openxmlformats.org/drawingml/2006/main">
            <a:srgbClr val="2E7D5B"/>
          </a:solidFill>
          <a:ln xmlns:a="http://schemas.openxmlformats.org/drawingml/2006/main" w="9525">
            <a:solidFill>
              <a:srgbClr val="2E7D5B"/>
            </a:solidFill>
            <a:prstDash val="solid"/>
          </a:ln>
        </p:spPr>
      </p:sp>
      <p:sp>
        <p:nvSpPr>
          <p:cNvPr id="14" name="">
            <a:extLst xmlns:a="http://schemas.openxmlformats.org/drawingml/2006/main">
              <a:ext uri="{FF2B5EF4-FFF2-40B4-BE49-F238E27FC236}">
                <a16:creationId xmlns:a16="http://schemas.microsoft.com/office/drawing/2014/main" id="{A26B87FA-9B20-4750-A534-560CFB2762B4}"/>
              </a:ext>
            </a:extLst>
          </p:cNvPr>
          <p:cNvSpPr>
            <a:spLocks xmlns:a="http://schemas.openxmlformats.org/drawingml/2006/main" noGrp="1"/>
          </p:cNvSpPr>
          <p:nvPr/>
        </p:nvSpPr>
        <p:spPr>
          <a:xfrm xmlns:a="http://schemas.openxmlformats.org/drawingml/2006/main">
            <a:off x="1200150" y="428625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Show allocation and cash tapes</a:t>
            </a:r>
          </a:p>
        </p:txBody>
      </p:sp>
      <p:sp>
        <p:nvSpPr>
          <p:cNvPr id="15" name="">
            <a:extLst xmlns:a="http://schemas.openxmlformats.org/drawingml/2006/main">
              <a:ext uri="{FF2B5EF4-FFF2-40B4-BE49-F238E27FC236}">
                <a16:creationId xmlns:a16="http://schemas.microsoft.com/office/drawing/2014/main" id="{5495E9A3-5D7D-439B-853C-DC6A2859E632}"/>
              </a:ext>
            </a:extLst>
          </p:cNvPr>
          <p:cNvSpPr>
            <a:spLocks xmlns:a="http://schemas.openxmlformats.org/drawingml/2006/main" noGrp="1"/>
          </p:cNvSpPr>
          <p:nvPr/>
        </p:nvSpPr>
        <p:spPr>
          <a:xfrm xmlns:a="http://schemas.openxmlformats.org/drawingml/2006/main">
            <a:off x="952500" y="4991100"/>
            <a:ext cx="95250" cy="95250"/>
          </a:xfrm>
          <a:prstGeom xmlns:a="http://schemas.openxmlformats.org/drawingml/2006/main" prst="rect">
            <a:avLst/>
          </a:prstGeom>
          <a:solidFill xmlns:a="http://schemas.openxmlformats.org/drawingml/2006/main">
            <a:srgbClr val="2E7D5B"/>
          </a:solidFill>
          <a:ln xmlns:a="http://schemas.openxmlformats.org/drawingml/2006/main" w="9525">
            <a:solidFill>
              <a:srgbClr val="2E7D5B"/>
            </a:solidFill>
            <a:prstDash val="solid"/>
          </a:ln>
        </p:spPr>
      </p:sp>
      <p:sp>
        <p:nvSpPr>
          <p:cNvPr id="16" name="">
            <a:extLst xmlns:a="http://schemas.openxmlformats.org/drawingml/2006/main">
              <a:ext uri="{FF2B5EF4-FFF2-40B4-BE49-F238E27FC236}">
                <a16:creationId xmlns:a16="http://schemas.microsoft.com/office/drawing/2014/main" id="{6024C787-CC8B-48B1-BD93-574CF04145F6}"/>
              </a:ext>
            </a:extLst>
          </p:cNvPr>
          <p:cNvSpPr>
            <a:spLocks xmlns:a="http://schemas.openxmlformats.org/drawingml/2006/main" noGrp="1"/>
          </p:cNvSpPr>
          <p:nvPr/>
        </p:nvSpPr>
        <p:spPr>
          <a:xfrm xmlns:a="http://schemas.openxmlformats.org/drawingml/2006/main">
            <a:off x="1200150" y="491490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Translate to next-open execution</a:t>
            </a:r>
          </a:p>
        </p:txBody>
      </p:sp>
      <p:sp>
        <p:nvSpPr>
          <p:cNvPr id="17" name="">
            <a:extLst xmlns:a="http://schemas.openxmlformats.org/drawingml/2006/main">
              <a:ext uri="{FF2B5EF4-FFF2-40B4-BE49-F238E27FC236}">
                <a16:creationId xmlns:a16="http://schemas.microsoft.com/office/drawing/2014/main" id="{3C634137-BCC5-4BE1-8588-EAEFD196CA8B}"/>
              </a:ext>
            </a:extLst>
          </p:cNvPr>
          <p:cNvSpPr>
            <a:spLocks xmlns:a="http://schemas.openxmlformats.org/drawingml/2006/main" noGrp="1"/>
          </p:cNvSpPr>
          <p:nvPr/>
        </p:nvSpPr>
        <p:spPr>
          <a:xfrm xmlns:a="http://schemas.openxmlformats.org/drawingml/2006/main">
            <a:off x="6591300" y="16764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C8553D"/>
                </a:solidFill>
                <a:latin typeface="Arial"/>
                <a:ea typeface="Arial"/>
                <a:cs typeface="Arial"/>
              </a:defRPr>
            </a:pPr>
            <a:r>
              <a:rPr sz="1275" b="1">
                <a:solidFill>
                  <a:srgbClr val="C8553D"/>
                </a:solidFill>
                <a:latin typeface="Arial"/>
                <a:ea typeface="Arial"/>
                <a:cs typeface="Arial"/>
              </a:rPr>
              <a:t>CLOSED</a:t>
            </a:r>
          </a:p>
        </p:txBody>
      </p:sp>
      <p:sp>
        <p:nvSpPr>
          <p:cNvPr id="18" name="">
            <a:extLst xmlns:a="http://schemas.openxmlformats.org/drawingml/2006/main">
              <a:ext uri="{FF2B5EF4-FFF2-40B4-BE49-F238E27FC236}">
                <a16:creationId xmlns:a16="http://schemas.microsoft.com/office/drawing/2014/main" id="{0E66FA01-5626-471B-8128-DDE63AEB8285}"/>
              </a:ext>
            </a:extLst>
          </p:cNvPr>
          <p:cNvSpPr>
            <a:spLocks xmlns:a="http://schemas.openxmlformats.org/drawingml/2006/main" noGrp="1"/>
          </p:cNvSpPr>
          <p:nvPr/>
        </p:nvSpPr>
        <p:spPr>
          <a:xfrm xmlns:a="http://schemas.openxmlformats.org/drawingml/2006/main">
            <a:off x="6591300" y="2038350"/>
            <a:ext cx="4914900" cy="34290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9" name="">
            <a:extLst xmlns:a="http://schemas.openxmlformats.org/drawingml/2006/main">
              <a:ext uri="{FF2B5EF4-FFF2-40B4-BE49-F238E27FC236}">
                <a16:creationId xmlns:a16="http://schemas.microsoft.com/office/drawing/2014/main" id="{9CC9C99B-EE19-4106-A9DF-E03DE1430AE6}"/>
              </a:ext>
            </a:extLst>
          </p:cNvPr>
          <p:cNvSpPr>
            <a:spLocks xmlns:a="http://schemas.openxmlformats.org/drawingml/2006/main" noGrp="1"/>
          </p:cNvSpPr>
          <p:nvPr/>
        </p:nvSpPr>
        <p:spPr>
          <a:xfrm xmlns:a="http://schemas.openxmlformats.org/drawingml/2006/main">
            <a:off x="6858000" y="2476500"/>
            <a:ext cx="95250" cy="95250"/>
          </a:xfrm>
          <a:prstGeom xmlns:a="http://schemas.openxmlformats.org/drawingml/2006/main" prst="rect">
            <a:avLst/>
          </a:prstGeom>
          <a:solidFill xmlns:a="http://schemas.openxmlformats.org/drawingml/2006/main">
            <a:srgbClr val="C8553D"/>
          </a:solidFill>
          <a:ln xmlns:a="http://schemas.openxmlformats.org/drawingml/2006/main" w="9525">
            <a:solidFill>
              <a:srgbClr val="C8553D"/>
            </a:solidFill>
            <a:prstDash val="solid"/>
          </a:ln>
        </p:spPr>
      </p:sp>
      <p:sp>
        <p:nvSpPr>
          <p:cNvPr id="20" name="">
            <a:extLst xmlns:a="http://schemas.openxmlformats.org/drawingml/2006/main">
              <a:ext uri="{FF2B5EF4-FFF2-40B4-BE49-F238E27FC236}">
                <a16:creationId xmlns:a16="http://schemas.microsoft.com/office/drawing/2014/main" id="{875A86A4-5C86-42C4-AF06-373B40988CF1}"/>
              </a:ext>
            </a:extLst>
          </p:cNvPr>
          <p:cNvSpPr>
            <a:spLocks xmlns:a="http://schemas.openxmlformats.org/drawingml/2006/main" noGrp="1"/>
          </p:cNvSpPr>
          <p:nvPr/>
        </p:nvSpPr>
        <p:spPr>
          <a:xfrm xmlns:a="http://schemas.openxmlformats.org/drawingml/2006/main">
            <a:off x="7105650" y="240030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new horizon or universe search</a:t>
            </a:r>
          </a:p>
        </p:txBody>
      </p:sp>
      <p:sp>
        <p:nvSpPr>
          <p:cNvPr id="21" name="">
            <a:extLst xmlns:a="http://schemas.openxmlformats.org/drawingml/2006/main">
              <a:ext uri="{FF2B5EF4-FFF2-40B4-BE49-F238E27FC236}">
                <a16:creationId xmlns:a16="http://schemas.microsoft.com/office/drawing/2014/main" id="{D58E5C82-9460-4AEA-AE2D-93F79A9FF8E3}"/>
              </a:ext>
            </a:extLst>
          </p:cNvPr>
          <p:cNvSpPr>
            <a:spLocks xmlns:a="http://schemas.openxmlformats.org/drawingml/2006/main" noGrp="1"/>
          </p:cNvSpPr>
          <p:nvPr/>
        </p:nvSpPr>
        <p:spPr>
          <a:xfrm xmlns:a="http://schemas.openxmlformats.org/drawingml/2006/main">
            <a:off x="6858000" y="3105150"/>
            <a:ext cx="95250" cy="95250"/>
          </a:xfrm>
          <a:prstGeom xmlns:a="http://schemas.openxmlformats.org/drawingml/2006/main" prst="rect">
            <a:avLst/>
          </a:prstGeom>
          <a:solidFill xmlns:a="http://schemas.openxmlformats.org/drawingml/2006/main">
            <a:srgbClr val="C8553D"/>
          </a:solidFill>
          <a:ln xmlns:a="http://schemas.openxmlformats.org/drawingml/2006/main" w="9525">
            <a:solidFill>
              <a:srgbClr val="C8553D"/>
            </a:solidFill>
            <a:prstDash val="solid"/>
          </a:ln>
        </p:spPr>
      </p:sp>
      <p:sp>
        <p:nvSpPr>
          <p:cNvPr id="22" name="">
            <a:extLst xmlns:a="http://schemas.openxmlformats.org/drawingml/2006/main">
              <a:ext uri="{FF2B5EF4-FFF2-40B4-BE49-F238E27FC236}">
                <a16:creationId xmlns:a16="http://schemas.microsoft.com/office/drawing/2014/main" id="{99901ECC-8FCB-480B-B131-0D04D6321DA2}"/>
              </a:ext>
            </a:extLst>
          </p:cNvPr>
          <p:cNvSpPr>
            <a:spLocks xmlns:a="http://schemas.openxmlformats.org/drawingml/2006/main" noGrp="1"/>
          </p:cNvSpPr>
          <p:nvPr/>
        </p:nvSpPr>
        <p:spPr>
          <a:xfrm xmlns:a="http://schemas.openxmlformats.org/drawingml/2006/main">
            <a:off x="7105650" y="302895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leverage or volatility targeting</a:t>
            </a:r>
          </a:p>
        </p:txBody>
      </p:sp>
      <p:sp>
        <p:nvSpPr>
          <p:cNvPr id="23" name="">
            <a:extLst xmlns:a="http://schemas.openxmlformats.org/drawingml/2006/main">
              <a:ext uri="{FF2B5EF4-FFF2-40B4-BE49-F238E27FC236}">
                <a16:creationId xmlns:a16="http://schemas.microsoft.com/office/drawing/2014/main" id="{A08F3C37-F81E-45D2-A2C9-569115A580B6}"/>
              </a:ext>
            </a:extLst>
          </p:cNvPr>
          <p:cNvSpPr>
            <a:spLocks xmlns:a="http://schemas.openxmlformats.org/drawingml/2006/main" noGrp="1"/>
          </p:cNvSpPr>
          <p:nvPr/>
        </p:nvSpPr>
        <p:spPr>
          <a:xfrm xmlns:a="http://schemas.openxmlformats.org/drawingml/2006/main">
            <a:off x="6858000" y="3733800"/>
            <a:ext cx="95250" cy="95250"/>
          </a:xfrm>
          <a:prstGeom xmlns:a="http://schemas.openxmlformats.org/drawingml/2006/main" prst="rect">
            <a:avLst/>
          </a:prstGeom>
          <a:solidFill xmlns:a="http://schemas.openxmlformats.org/drawingml/2006/main">
            <a:srgbClr val="C8553D"/>
          </a:solidFill>
          <a:ln xmlns:a="http://schemas.openxmlformats.org/drawingml/2006/main" w="9525">
            <a:solidFill>
              <a:srgbClr val="C8553D"/>
            </a:solidFill>
            <a:prstDash val="solid"/>
          </a:ln>
        </p:spPr>
      </p:sp>
      <p:sp>
        <p:nvSpPr>
          <p:cNvPr id="24" name="">
            <a:extLst xmlns:a="http://schemas.openxmlformats.org/drawingml/2006/main">
              <a:ext uri="{FF2B5EF4-FFF2-40B4-BE49-F238E27FC236}">
                <a16:creationId xmlns:a16="http://schemas.microsoft.com/office/drawing/2014/main" id="{29875C83-B4D5-4DC1-81C6-5095A9926E96}"/>
              </a:ext>
            </a:extLst>
          </p:cNvPr>
          <p:cNvSpPr>
            <a:spLocks xmlns:a="http://schemas.openxmlformats.org/drawingml/2006/main" noGrp="1"/>
          </p:cNvSpPr>
          <p:nvPr/>
        </p:nvSpPr>
        <p:spPr>
          <a:xfrm xmlns:a="http://schemas.openxmlformats.org/drawingml/2006/main">
            <a:off x="7105650" y="365760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Sharpe or drawdown gate yet</a:t>
            </a:r>
          </a:p>
        </p:txBody>
      </p:sp>
      <p:sp>
        <p:nvSpPr>
          <p:cNvPr id="25" name="">
            <a:extLst xmlns:a="http://schemas.openxmlformats.org/drawingml/2006/main">
              <a:ext uri="{FF2B5EF4-FFF2-40B4-BE49-F238E27FC236}">
                <a16:creationId xmlns:a16="http://schemas.microsoft.com/office/drawing/2014/main" id="{C96C2518-CB8C-4FE1-B51C-AB1D79243351}"/>
              </a:ext>
            </a:extLst>
          </p:cNvPr>
          <p:cNvSpPr>
            <a:spLocks xmlns:a="http://schemas.openxmlformats.org/drawingml/2006/main" noGrp="1"/>
          </p:cNvSpPr>
          <p:nvPr/>
        </p:nvSpPr>
        <p:spPr>
          <a:xfrm xmlns:a="http://schemas.openxmlformats.org/drawingml/2006/main">
            <a:off x="6858000" y="4362450"/>
            <a:ext cx="95250" cy="95250"/>
          </a:xfrm>
          <a:prstGeom xmlns:a="http://schemas.openxmlformats.org/drawingml/2006/main" prst="rect">
            <a:avLst/>
          </a:prstGeom>
          <a:solidFill xmlns:a="http://schemas.openxmlformats.org/drawingml/2006/main">
            <a:srgbClr val="C8553D"/>
          </a:solidFill>
          <a:ln xmlns:a="http://schemas.openxmlformats.org/drawingml/2006/main" w="9525">
            <a:solidFill>
              <a:srgbClr val="C8553D"/>
            </a:solidFill>
            <a:prstDash val="solid"/>
          </a:ln>
        </p:spPr>
      </p:sp>
      <p:sp>
        <p:nvSpPr>
          <p:cNvPr id="26" name="">
            <a:extLst xmlns:a="http://schemas.openxmlformats.org/drawingml/2006/main">
              <a:ext uri="{FF2B5EF4-FFF2-40B4-BE49-F238E27FC236}">
                <a16:creationId xmlns:a16="http://schemas.microsoft.com/office/drawing/2014/main" id="{7A293816-6CB8-474A-ACD6-D8A84550B509}"/>
              </a:ext>
            </a:extLst>
          </p:cNvPr>
          <p:cNvSpPr>
            <a:spLocks xmlns:a="http://schemas.openxmlformats.org/drawingml/2006/main" noGrp="1"/>
          </p:cNvSpPr>
          <p:nvPr/>
        </p:nvSpPr>
        <p:spPr>
          <a:xfrm xmlns:a="http://schemas.openxmlformats.org/drawingml/2006/main">
            <a:off x="7105650" y="428625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strategy or edge promotion</a:t>
            </a:r>
          </a:p>
        </p:txBody>
      </p:sp>
      <p:sp>
        <p:nvSpPr>
          <p:cNvPr id="27" name="">
            <a:extLst xmlns:a="http://schemas.openxmlformats.org/drawingml/2006/main">
              <a:ext uri="{FF2B5EF4-FFF2-40B4-BE49-F238E27FC236}">
                <a16:creationId xmlns:a16="http://schemas.microsoft.com/office/drawing/2014/main" id="{92A1D7DA-A70F-4AFC-8C6E-4710803099F6}"/>
              </a:ext>
            </a:extLst>
          </p:cNvPr>
          <p:cNvSpPr>
            <a:spLocks xmlns:a="http://schemas.openxmlformats.org/drawingml/2006/main" noGrp="1"/>
          </p:cNvSpPr>
          <p:nvPr/>
        </p:nvSpPr>
        <p:spPr>
          <a:xfrm xmlns:a="http://schemas.openxmlformats.org/drawingml/2006/main">
            <a:off x="6858000" y="4991100"/>
            <a:ext cx="95250" cy="95250"/>
          </a:xfrm>
          <a:prstGeom xmlns:a="http://schemas.openxmlformats.org/drawingml/2006/main" prst="rect">
            <a:avLst/>
          </a:prstGeom>
          <a:solidFill xmlns:a="http://schemas.openxmlformats.org/drawingml/2006/main">
            <a:srgbClr val="C8553D"/>
          </a:solidFill>
          <a:ln xmlns:a="http://schemas.openxmlformats.org/drawingml/2006/main" w="9525">
            <a:solidFill>
              <a:srgbClr val="C8553D"/>
            </a:solidFill>
            <a:prstDash val="solid"/>
          </a:ln>
        </p:spPr>
      </p:sp>
      <p:sp>
        <p:nvSpPr>
          <p:cNvPr id="28" name="">
            <a:extLst xmlns:a="http://schemas.openxmlformats.org/drawingml/2006/main">
              <a:ext uri="{FF2B5EF4-FFF2-40B4-BE49-F238E27FC236}">
                <a16:creationId xmlns:a16="http://schemas.microsoft.com/office/drawing/2014/main" id="{EA04342A-C593-423C-906A-D3F2283CFF20}"/>
              </a:ext>
            </a:extLst>
          </p:cNvPr>
          <p:cNvSpPr>
            <a:spLocks xmlns:a="http://schemas.openxmlformats.org/drawingml/2006/main" noGrp="1"/>
          </p:cNvSpPr>
          <p:nvPr/>
        </p:nvSpPr>
        <p:spPr>
          <a:xfrm xmlns:a="http://schemas.openxmlformats.org/drawingml/2006/main">
            <a:off x="7105650" y="4914900"/>
            <a:ext cx="403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post-hoc rescue from the tape</a:t>
            </a:r>
          </a:p>
        </p:txBody>
      </p:sp>
    </p:spTree>
    <p:extLst>
      <p:ext uri="{BB962C8B-B14F-4D97-AF65-F5344CB8AC3E}">
        <p14:creationId xmlns:p14="http://schemas.microsoft.com/office/powerpoint/2010/main" val="18194896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008667-9CB9-48CD-BB28-E4F7F5C9066D}"/>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12-title">
            <a:extLst xmlns:a="http://schemas.openxmlformats.org/drawingml/2006/main">
              <a:ext uri="{FF2B5EF4-FFF2-40B4-BE49-F238E27FC236}">
                <a16:creationId xmlns:a16="http://schemas.microsoft.com/office/drawing/2014/main" id="{FDE0FD4E-1F32-4370-AFE5-5C3C562F4496}"/>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Four controls reveal where any value actually comes from</a:t>
            </a:r>
          </a:p>
        </p:txBody>
      </p:sp>
      <p:sp>
        <p:nvSpPr>
          <p:cNvPr id="3" name="">
            <a:extLst xmlns:a="http://schemas.openxmlformats.org/drawingml/2006/main">
              <a:ext uri="{FF2B5EF4-FFF2-40B4-BE49-F238E27FC236}">
                <a16:creationId xmlns:a16="http://schemas.microsoft.com/office/drawing/2014/main" id="{577A529D-AE16-4051-9BF7-5A81FFC73CE4}"/>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12-number">
            <a:extLst xmlns:a="http://schemas.openxmlformats.org/drawingml/2006/main">
              <a:ext uri="{FF2B5EF4-FFF2-40B4-BE49-F238E27FC236}">
                <a16:creationId xmlns:a16="http://schemas.microsoft.com/office/drawing/2014/main" id="{F3C30950-912D-429B-9CA3-B1845E9F7A10}"/>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0C848477-AEDF-4528-81FB-693D3566B80F}"/>
              </a:ext>
            </a:extLst>
          </p:cNvPr>
          <p:cNvSpPr>
            <a:spLocks xmlns:a="http://schemas.openxmlformats.org/drawingml/2006/main" noGrp="1"/>
          </p:cNvSpPr>
          <p:nvPr/>
        </p:nvSpPr>
        <p:spPr>
          <a:xfrm xmlns:a="http://schemas.openxmlformats.org/drawingml/2006/main">
            <a:off x="571500" y="1771650"/>
            <a:ext cx="5334000" cy="16764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6" name="">
            <a:extLst xmlns:a="http://schemas.openxmlformats.org/drawingml/2006/main">
              <a:ext uri="{FF2B5EF4-FFF2-40B4-BE49-F238E27FC236}">
                <a16:creationId xmlns:a16="http://schemas.microsoft.com/office/drawing/2014/main" id="{0FE0C725-6145-4DEB-98B2-A1A71D27F145}"/>
              </a:ext>
            </a:extLst>
          </p:cNvPr>
          <p:cNvSpPr>
            <a:spLocks xmlns:a="http://schemas.openxmlformats.org/drawingml/2006/main" noGrp="1"/>
          </p:cNvSpPr>
          <p:nvPr/>
        </p:nvSpPr>
        <p:spPr>
          <a:xfrm xmlns:a="http://schemas.openxmlformats.org/drawingml/2006/main">
            <a:off x="800100" y="2019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3D8DFF"/>
                </a:solidFill>
                <a:latin typeface="Arial"/>
                <a:ea typeface="Arial"/>
                <a:cs typeface="Arial"/>
              </a:defRPr>
            </a:pPr>
            <a:r>
              <a:rPr sz="2550" b="1">
                <a:solidFill>
                  <a:srgbClr val="3D8D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1E04FB9F-3B03-489A-A31F-6F474F618058}"/>
              </a:ext>
            </a:extLst>
          </p:cNvPr>
          <p:cNvSpPr>
            <a:spLocks xmlns:a="http://schemas.openxmlformats.org/drawingml/2006/main" noGrp="1"/>
          </p:cNvSpPr>
          <p:nvPr/>
        </p:nvSpPr>
        <p:spPr>
          <a:xfrm xmlns:a="http://schemas.openxmlformats.org/drawingml/2006/main">
            <a:off x="1447800" y="20193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Equal-weight all nine</a:t>
            </a:r>
          </a:p>
        </p:txBody>
      </p:sp>
      <p:sp>
        <p:nvSpPr>
          <p:cNvPr id="8" name="">
            <a:extLst xmlns:a="http://schemas.openxmlformats.org/drawingml/2006/main">
              <a:ext uri="{FF2B5EF4-FFF2-40B4-BE49-F238E27FC236}">
                <a16:creationId xmlns:a16="http://schemas.microsoft.com/office/drawing/2014/main" id="{3E08EE4E-6513-4578-9B00-233FF213C4FF}"/>
              </a:ext>
            </a:extLst>
          </p:cNvPr>
          <p:cNvSpPr>
            <a:spLocks xmlns:a="http://schemas.openxmlformats.org/drawingml/2006/main" noGrp="1"/>
          </p:cNvSpPr>
          <p:nvPr/>
        </p:nvSpPr>
        <p:spPr>
          <a:xfrm xmlns:a="http://schemas.openxmlformats.org/drawingml/2006/main">
            <a:off x="1447800" y="25908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Does active selection improve on diversified ownership?</a:t>
            </a:r>
          </a:p>
        </p:txBody>
      </p:sp>
      <p:sp>
        <p:nvSpPr>
          <p:cNvPr id="9" name="">
            <a:extLst xmlns:a="http://schemas.openxmlformats.org/drawingml/2006/main">
              <a:ext uri="{FF2B5EF4-FFF2-40B4-BE49-F238E27FC236}">
                <a16:creationId xmlns:a16="http://schemas.microsoft.com/office/drawing/2014/main" id="{4A5BC203-B498-4367-A293-D38E60007C1D}"/>
              </a:ext>
            </a:extLst>
          </p:cNvPr>
          <p:cNvSpPr>
            <a:spLocks xmlns:a="http://schemas.openxmlformats.org/drawingml/2006/main" noGrp="1"/>
          </p:cNvSpPr>
          <p:nvPr/>
        </p:nvSpPr>
        <p:spPr>
          <a:xfrm xmlns:a="http://schemas.openxmlformats.org/drawingml/2006/main">
            <a:off x="6267450" y="1771650"/>
            <a:ext cx="5334000" cy="16764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730F40B1-CD6E-41C5-AAFB-B9C6BC6B77CA}"/>
              </a:ext>
            </a:extLst>
          </p:cNvPr>
          <p:cNvSpPr>
            <a:spLocks xmlns:a="http://schemas.openxmlformats.org/drawingml/2006/main" noGrp="1"/>
          </p:cNvSpPr>
          <p:nvPr/>
        </p:nvSpPr>
        <p:spPr>
          <a:xfrm xmlns:a="http://schemas.openxmlformats.org/drawingml/2006/main">
            <a:off x="6496050" y="2019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3D8DFF"/>
                </a:solidFill>
                <a:latin typeface="Arial"/>
                <a:ea typeface="Arial"/>
                <a:cs typeface="Arial"/>
              </a:defRPr>
            </a:pPr>
            <a:r>
              <a:rPr sz="2550" b="1">
                <a:solidFill>
                  <a:srgbClr val="3D8D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0766CBDF-E1A1-4D1C-A272-B855830F7F00}"/>
              </a:ext>
            </a:extLst>
          </p:cNvPr>
          <p:cNvSpPr>
            <a:spLocks xmlns:a="http://schemas.openxmlformats.org/drawingml/2006/main" noGrp="1"/>
          </p:cNvSpPr>
          <p:nvPr/>
        </p:nvSpPr>
        <p:spPr>
          <a:xfrm xmlns:a="http://schemas.openxmlformats.org/drawingml/2006/main">
            <a:off x="7143750" y="20193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Relative-only</a:t>
            </a:r>
          </a:p>
        </p:txBody>
      </p:sp>
      <p:sp>
        <p:nvSpPr>
          <p:cNvPr id="12" name="">
            <a:extLst xmlns:a="http://schemas.openxmlformats.org/drawingml/2006/main">
              <a:ext uri="{FF2B5EF4-FFF2-40B4-BE49-F238E27FC236}">
                <a16:creationId xmlns:a16="http://schemas.microsoft.com/office/drawing/2014/main" id="{B7096F5A-0EF0-4A42-80CF-18A55F5276A3}"/>
              </a:ext>
            </a:extLst>
          </p:cNvPr>
          <p:cNvSpPr>
            <a:spLocks xmlns:a="http://schemas.openxmlformats.org/drawingml/2006/main" noGrp="1"/>
          </p:cNvSpPr>
          <p:nvPr/>
        </p:nvSpPr>
        <p:spPr>
          <a:xfrm xmlns:a="http://schemas.openxmlformats.org/drawingml/2006/main">
            <a:off x="7143750" y="25908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Does ranking help without the absolute veto?</a:t>
            </a:r>
          </a:p>
        </p:txBody>
      </p:sp>
      <p:sp>
        <p:nvSpPr>
          <p:cNvPr id="13" name="">
            <a:extLst xmlns:a="http://schemas.openxmlformats.org/drawingml/2006/main">
              <a:ext uri="{FF2B5EF4-FFF2-40B4-BE49-F238E27FC236}">
                <a16:creationId xmlns:a16="http://schemas.microsoft.com/office/drawing/2014/main" id="{616762F4-0783-4C1C-A9FE-E0AC0D33A995}"/>
              </a:ext>
            </a:extLst>
          </p:cNvPr>
          <p:cNvSpPr>
            <a:spLocks xmlns:a="http://schemas.openxmlformats.org/drawingml/2006/main" noGrp="1"/>
          </p:cNvSpPr>
          <p:nvPr/>
        </p:nvSpPr>
        <p:spPr>
          <a:xfrm xmlns:a="http://schemas.openxmlformats.org/drawingml/2006/main">
            <a:off x="571500" y="3905250"/>
            <a:ext cx="5334000" cy="16764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53F63E88-2994-48C8-98A3-DEBB35607325}"/>
              </a:ext>
            </a:extLst>
          </p:cNvPr>
          <p:cNvSpPr>
            <a:spLocks xmlns:a="http://schemas.openxmlformats.org/drawingml/2006/main" noGrp="1"/>
          </p:cNvSpPr>
          <p:nvPr/>
        </p:nvSpPr>
        <p:spPr>
          <a:xfrm xmlns:a="http://schemas.openxmlformats.org/drawingml/2006/main">
            <a:off x="800100" y="41529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3D8DFF"/>
                </a:solidFill>
                <a:latin typeface="Arial"/>
                <a:ea typeface="Arial"/>
                <a:cs typeface="Arial"/>
              </a:defRPr>
            </a:pPr>
            <a:r>
              <a:rPr sz="2550" b="1">
                <a:solidFill>
                  <a:srgbClr val="3D8D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EAB916BA-36DA-4C14-A9A3-B5EDC891DB02}"/>
              </a:ext>
            </a:extLst>
          </p:cNvPr>
          <p:cNvSpPr>
            <a:spLocks xmlns:a="http://schemas.openxmlformats.org/drawingml/2006/main" noGrp="1"/>
          </p:cNvSpPr>
          <p:nvPr/>
        </p:nvSpPr>
        <p:spPr>
          <a:xfrm xmlns:a="http://schemas.openxmlformats.org/drawingml/2006/main">
            <a:off x="1447800" y="4152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Absolute-only</a:t>
            </a:r>
          </a:p>
        </p:txBody>
      </p:sp>
      <p:sp>
        <p:nvSpPr>
          <p:cNvPr id="16" name="">
            <a:extLst xmlns:a="http://schemas.openxmlformats.org/drawingml/2006/main">
              <a:ext uri="{FF2B5EF4-FFF2-40B4-BE49-F238E27FC236}">
                <a16:creationId xmlns:a16="http://schemas.microsoft.com/office/drawing/2014/main" id="{ECD81A5B-0910-4446-AF9D-9EFCFDB8BC06}"/>
              </a:ext>
            </a:extLst>
          </p:cNvPr>
          <p:cNvSpPr>
            <a:spLocks xmlns:a="http://schemas.openxmlformats.org/drawingml/2006/main" noGrp="1"/>
          </p:cNvSpPr>
          <p:nvPr/>
        </p:nvSpPr>
        <p:spPr>
          <a:xfrm xmlns:a="http://schemas.openxmlformats.org/drawingml/2006/main">
            <a:off x="1447800" y="47244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Does trend permission help without cross-sectional ranking?</a:t>
            </a:r>
          </a:p>
        </p:txBody>
      </p:sp>
      <p:sp>
        <p:nvSpPr>
          <p:cNvPr id="17" name="">
            <a:extLst xmlns:a="http://schemas.openxmlformats.org/drawingml/2006/main">
              <a:ext uri="{FF2B5EF4-FFF2-40B4-BE49-F238E27FC236}">
                <a16:creationId xmlns:a16="http://schemas.microsoft.com/office/drawing/2014/main" id="{C580B1AB-3993-4D62-B0A1-8C05567C4248}"/>
              </a:ext>
            </a:extLst>
          </p:cNvPr>
          <p:cNvSpPr>
            <a:spLocks xmlns:a="http://schemas.openxmlformats.org/drawingml/2006/main" noGrp="1"/>
          </p:cNvSpPr>
          <p:nvPr/>
        </p:nvSpPr>
        <p:spPr>
          <a:xfrm xmlns:a="http://schemas.openxmlformats.org/drawingml/2006/main">
            <a:off x="6267450" y="3905250"/>
            <a:ext cx="5334000" cy="16764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70779A65-DBF2-4416-8FF2-6731B5E259C0}"/>
              </a:ext>
            </a:extLst>
          </p:cNvPr>
          <p:cNvSpPr>
            <a:spLocks xmlns:a="http://schemas.openxmlformats.org/drawingml/2006/main" noGrp="1"/>
          </p:cNvSpPr>
          <p:nvPr/>
        </p:nvSpPr>
        <p:spPr>
          <a:xfrm xmlns:a="http://schemas.openxmlformats.org/drawingml/2006/main">
            <a:off x="6496050" y="41529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550" b="1">
                <a:solidFill>
                  <a:srgbClr val="3D8DFF"/>
                </a:solidFill>
                <a:latin typeface="Arial"/>
                <a:ea typeface="Arial"/>
                <a:cs typeface="Arial"/>
              </a:defRPr>
            </a:pPr>
            <a:r>
              <a:rPr sz="2550" b="1">
                <a:solidFill>
                  <a:srgbClr val="3D8D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4C06E08E-5FA8-4C85-9233-2851A44AFECB}"/>
              </a:ext>
            </a:extLst>
          </p:cNvPr>
          <p:cNvSpPr>
            <a:spLocks xmlns:a="http://schemas.openxmlformats.org/drawingml/2006/main" noGrp="1"/>
          </p:cNvSpPr>
          <p:nvPr/>
        </p:nvSpPr>
        <p:spPr>
          <a:xfrm xmlns:a="http://schemas.openxmlformats.org/drawingml/2006/main">
            <a:off x="7143750" y="4152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Cash / no trade</a:t>
            </a:r>
          </a:p>
        </p:txBody>
      </p:sp>
      <p:sp>
        <p:nvSpPr>
          <p:cNvPr id="20" name="">
            <a:extLst xmlns:a="http://schemas.openxmlformats.org/drawingml/2006/main">
              <a:ext uri="{FF2B5EF4-FFF2-40B4-BE49-F238E27FC236}">
                <a16:creationId xmlns:a16="http://schemas.microsoft.com/office/drawing/2014/main" id="{7C3869D4-CC15-4493-B23E-46A13CF960D3}"/>
              </a:ext>
            </a:extLst>
          </p:cNvPr>
          <p:cNvSpPr>
            <a:spLocks xmlns:a="http://schemas.openxmlformats.org/drawingml/2006/main" noGrp="1"/>
          </p:cNvSpPr>
          <p:nvPr/>
        </p:nvSpPr>
        <p:spPr>
          <a:xfrm xmlns:a="http://schemas.openxmlformats.org/drawingml/2006/main">
            <a:off x="7143750" y="472440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Does the complete policy earn anything at all?</a:t>
            </a:r>
          </a:p>
        </p:txBody>
      </p:sp>
    </p:spTree>
    <p:extLst>
      <p:ext uri="{BB962C8B-B14F-4D97-AF65-F5344CB8AC3E}">
        <p14:creationId xmlns:p14="http://schemas.microsoft.com/office/powerpoint/2010/main" val="11012558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10A9DAD-B730-4CDA-952D-072ED93FD2C0}"/>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13-title">
            <a:extLst xmlns:a="http://schemas.openxmlformats.org/drawingml/2006/main">
              <a:ext uri="{FF2B5EF4-FFF2-40B4-BE49-F238E27FC236}">
                <a16:creationId xmlns:a16="http://schemas.microsoft.com/office/drawing/2014/main" id="{9FC599A1-89F1-49CA-9BA7-E33ED6E3A2AB}"/>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Evidence must cross four bridges before this becomes a strategy</a:t>
            </a:r>
          </a:p>
        </p:txBody>
      </p:sp>
      <p:sp>
        <p:nvSpPr>
          <p:cNvPr id="3" name="">
            <a:extLst xmlns:a="http://schemas.openxmlformats.org/drawingml/2006/main">
              <a:ext uri="{FF2B5EF4-FFF2-40B4-BE49-F238E27FC236}">
                <a16:creationId xmlns:a16="http://schemas.microsoft.com/office/drawing/2014/main" id="{1597286A-A216-4492-B475-CB5F2D4775CA}"/>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13-number">
            <a:extLst xmlns:a="http://schemas.openxmlformats.org/drawingml/2006/main">
              <a:ext uri="{FF2B5EF4-FFF2-40B4-BE49-F238E27FC236}">
                <a16:creationId xmlns:a16="http://schemas.microsoft.com/office/drawing/2014/main" id="{18D6CFEA-C9EF-420A-A2D6-798F104DBB95}"/>
              </a:ext>
            </a:extLst>
          </p:cNvPr>
          <p:cNvSpPr>
            <a:spLocks xmlns:a="http://schemas.openxmlformats.org/drawingml/2006/main" noGrp="1"/>
          </p:cNvSpPr>
          <p:nvPr/>
        </p:nvSpPr>
        <p:spPr>
          <a:xfrm xmlns:a="http://schemas.openxmlformats.org/drawingml/2006/main">
            <a:off x="11315700" y="63627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0003BD3-2D17-4611-A202-987C05B86539}"/>
              </a:ext>
            </a:extLst>
          </p:cNvPr>
          <p:cNvSpPr>
            <a:spLocks xmlns:a="http://schemas.openxmlformats.org/drawingml/2006/main" noGrp="1"/>
          </p:cNvSpPr>
          <p:nvPr/>
        </p:nvSpPr>
        <p:spPr>
          <a:xfrm xmlns:a="http://schemas.openxmlformats.org/drawingml/2006/main">
            <a:off x="476250" y="2305050"/>
            <a:ext cx="2381250" cy="25146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6" name="">
            <a:extLst xmlns:a="http://schemas.openxmlformats.org/drawingml/2006/main">
              <a:ext uri="{FF2B5EF4-FFF2-40B4-BE49-F238E27FC236}">
                <a16:creationId xmlns:a16="http://schemas.microsoft.com/office/drawing/2014/main" id="{2F943941-A583-4152-AE96-31CC0CC98022}"/>
              </a:ext>
            </a:extLst>
          </p:cNvPr>
          <p:cNvSpPr>
            <a:spLocks xmlns:a="http://schemas.openxmlformats.org/drawingml/2006/main" noGrp="1"/>
          </p:cNvSpPr>
          <p:nvPr/>
        </p:nvSpPr>
        <p:spPr>
          <a:xfrm xmlns:a="http://schemas.openxmlformats.org/drawingml/2006/main">
            <a:off x="704850" y="26479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3D8DFF"/>
                </a:solidFill>
                <a:latin typeface="Arial"/>
                <a:ea typeface="Arial"/>
                <a:cs typeface="Arial"/>
              </a:defRPr>
            </a:pPr>
            <a:r>
              <a:rPr sz="1875" b="1">
                <a:solidFill>
                  <a:srgbClr val="3D8DFF"/>
                </a:solidFill>
                <a:latin typeface="Arial"/>
                <a:ea typeface="Arial"/>
                <a:cs typeface="Arial"/>
              </a:rPr>
              <a:t>1 · Mechanics</a:t>
            </a:r>
          </a:p>
        </p:txBody>
      </p:sp>
      <p:sp>
        <p:nvSpPr>
          <p:cNvPr id="7" name="">
            <a:extLst xmlns:a="http://schemas.openxmlformats.org/drawingml/2006/main">
              <a:ext uri="{FF2B5EF4-FFF2-40B4-BE49-F238E27FC236}">
                <a16:creationId xmlns:a16="http://schemas.microsoft.com/office/drawing/2014/main" id="{ADE2119D-8B01-445C-A1F5-6189509DBE8B}"/>
              </a:ext>
            </a:extLst>
          </p:cNvPr>
          <p:cNvSpPr>
            <a:spLocks xmlns:a="http://schemas.openxmlformats.org/drawingml/2006/main" noGrp="1"/>
          </p:cNvSpPr>
          <p:nvPr/>
        </p:nvSpPr>
        <p:spPr>
          <a:xfrm xmlns:a="http://schemas.openxmlformats.org/drawingml/2006/main">
            <a:off x="704850" y="34290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Exact ranks, vetoes, weights, holidays, and allocation tape.</a:t>
            </a:r>
          </a:p>
        </p:txBody>
      </p:sp>
      <p:sp>
        <p:nvSpPr>
          <p:cNvPr id="8" name="">
            <a:extLst xmlns:a="http://schemas.openxmlformats.org/drawingml/2006/main">
              <a:ext uri="{FF2B5EF4-FFF2-40B4-BE49-F238E27FC236}">
                <a16:creationId xmlns:a16="http://schemas.microsoft.com/office/drawing/2014/main" id="{6DA59CCB-5F66-4184-A675-ECDB71562136}"/>
              </a:ext>
            </a:extLst>
          </p:cNvPr>
          <p:cNvSpPr>
            <a:spLocks xmlns:a="http://schemas.openxmlformats.org/drawingml/2006/main" noGrp="1"/>
          </p:cNvSpPr>
          <p:nvPr/>
        </p:nvSpPr>
        <p:spPr>
          <a:xfrm xmlns:a="http://schemas.openxmlformats.org/drawingml/2006/main">
            <a:off x="2933700" y="3238500"/>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3D8DFF"/>
                </a:solidFill>
                <a:latin typeface="Arial"/>
                <a:ea typeface="Arial"/>
                <a:cs typeface="Arial"/>
              </a:defRPr>
            </a:pPr>
            <a:r>
              <a:rPr sz="2550" b="1">
                <a:solidFill>
                  <a:srgbClr val="3D8DFF"/>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0610025-D0F1-452A-A7D1-F179A5E31D39}"/>
              </a:ext>
            </a:extLst>
          </p:cNvPr>
          <p:cNvSpPr>
            <a:spLocks xmlns:a="http://schemas.openxmlformats.org/drawingml/2006/main" noGrp="1"/>
          </p:cNvSpPr>
          <p:nvPr/>
        </p:nvSpPr>
        <p:spPr>
          <a:xfrm xmlns:a="http://schemas.openxmlformats.org/drawingml/2006/main">
            <a:off x="3333750" y="2305050"/>
            <a:ext cx="2381250" cy="2514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A64A4C80-839F-458E-AF9E-BD98805BC19B}"/>
              </a:ext>
            </a:extLst>
          </p:cNvPr>
          <p:cNvSpPr>
            <a:spLocks xmlns:a="http://schemas.openxmlformats.org/drawingml/2006/main" noGrp="1"/>
          </p:cNvSpPr>
          <p:nvPr/>
        </p:nvSpPr>
        <p:spPr>
          <a:xfrm xmlns:a="http://schemas.openxmlformats.org/drawingml/2006/main">
            <a:off x="3562350" y="26479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01820"/>
                </a:solidFill>
                <a:latin typeface="Arial"/>
                <a:ea typeface="Arial"/>
                <a:cs typeface="Arial"/>
              </a:defRPr>
            </a:pPr>
            <a:r>
              <a:rPr sz="1875" b="1">
                <a:solidFill>
                  <a:srgbClr val="101820"/>
                </a:solidFill>
                <a:latin typeface="Arial"/>
                <a:ea typeface="Arial"/>
                <a:cs typeface="Arial"/>
              </a:rPr>
              <a:t>2 · Causal replay</a:t>
            </a:r>
          </a:p>
        </p:txBody>
      </p:sp>
      <p:sp>
        <p:nvSpPr>
          <p:cNvPr id="11" name="">
            <a:extLst xmlns:a="http://schemas.openxmlformats.org/drawingml/2006/main">
              <a:ext uri="{FF2B5EF4-FFF2-40B4-BE49-F238E27FC236}">
                <a16:creationId xmlns:a16="http://schemas.microsoft.com/office/drawing/2014/main" id="{DF0504A5-9694-441D-B334-87224EFEC533}"/>
              </a:ext>
            </a:extLst>
          </p:cNvPr>
          <p:cNvSpPr>
            <a:spLocks xmlns:a="http://schemas.openxmlformats.org/drawingml/2006/main" noGrp="1"/>
          </p:cNvSpPr>
          <p:nvPr/>
        </p:nvSpPr>
        <p:spPr>
          <a:xfrm xmlns:a="http://schemas.openxmlformats.org/drawingml/2006/main">
            <a:off x="3562350" y="34290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Next-open fills, controls, modest costs, turnover, and drawdown.</a:t>
            </a:r>
          </a:p>
        </p:txBody>
      </p:sp>
      <p:sp>
        <p:nvSpPr>
          <p:cNvPr id="12" name="">
            <a:extLst xmlns:a="http://schemas.openxmlformats.org/drawingml/2006/main">
              <a:ext uri="{FF2B5EF4-FFF2-40B4-BE49-F238E27FC236}">
                <a16:creationId xmlns:a16="http://schemas.microsoft.com/office/drawing/2014/main" id="{81717921-4E6F-4DDD-809E-BB0162422DCF}"/>
              </a:ext>
            </a:extLst>
          </p:cNvPr>
          <p:cNvSpPr>
            <a:spLocks xmlns:a="http://schemas.openxmlformats.org/drawingml/2006/main" noGrp="1"/>
          </p:cNvSpPr>
          <p:nvPr/>
        </p:nvSpPr>
        <p:spPr>
          <a:xfrm xmlns:a="http://schemas.openxmlformats.org/drawingml/2006/main">
            <a:off x="5791200" y="3238500"/>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3D8DFF"/>
                </a:solidFill>
                <a:latin typeface="Arial"/>
                <a:ea typeface="Arial"/>
                <a:cs typeface="Arial"/>
              </a:defRPr>
            </a:pPr>
            <a:r>
              <a:rPr sz="2550" b="1">
                <a:solidFill>
                  <a:srgbClr val="3D8DFF"/>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38AD9474-684E-4E48-AA3B-B6882B994B56}"/>
              </a:ext>
            </a:extLst>
          </p:cNvPr>
          <p:cNvSpPr>
            <a:spLocks xmlns:a="http://schemas.openxmlformats.org/drawingml/2006/main" noGrp="1"/>
          </p:cNvSpPr>
          <p:nvPr/>
        </p:nvSpPr>
        <p:spPr>
          <a:xfrm xmlns:a="http://schemas.openxmlformats.org/drawingml/2006/main">
            <a:off x="6191250" y="2305050"/>
            <a:ext cx="2381250" cy="2514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107497B9-C1FB-426B-8089-26DB014E0C47}"/>
              </a:ext>
            </a:extLst>
          </p:cNvPr>
          <p:cNvSpPr>
            <a:spLocks xmlns:a="http://schemas.openxmlformats.org/drawingml/2006/main" noGrp="1"/>
          </p:cNvSpPr>
          <p:nvPr/>
        </p:nvSpPr>
        <p:spPr>
          <a:xfrm xmlns:a="http://schemas.openxmlformats.org/drawingml/2006/main">
            <a:off x="6419850" y="26479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01820"/>
                </a:solidFill>
                <a:latin typeface="Arial"/>
                <a:ea typeface="Arial"/>
                <a:cs typeface="Arial"/>
              </a:defRPr>
            </a:pPr>
            <a:r>
              <a:rPr sz="1875" b="1">
                <a:solidFill>
                  <a:srgbClr val="101820"/>
                </a:solidFill>
                <a:latin typeface="Arial"/>
                <a:ea typeface="Arial"/>
                <a:cs typeface="Arial"/>
              </a:rPr>
              <a:t>3 · Robustness</a:t>
            </a:r>
          </a:p>
        </p:txBody>
      </p:sp>
      <p:sp>
        <p:nvSpPr>
          <p:cNvPr id="15" name="">
            <a:extLst xmlns:a="http://schemas.openxmlformats.org/drawingml/2006/main">
              <a:ext uri="{FF2B5EF4-FFF2-40B4-BE49-F238E27FC236}">
                <a16:creationId xmlns:a16="http://schemas.microsoft.com/office/drawing/2014/main" id="{F3060896-B24A-4271-BD32-344D286309BE}"/>
              </a:ext>
            </a:extLst>
          </p:cNvPr>
          <p:cNvSpPr>
            <a:spLocks xmlns:a="http://schemas.openxmlformats.org/drawingml/2006/main" noGrp="1"/>
          </p:cNvSpPr>
          <p:nvPr/>
        </p:nvSpPr>
        <p:spPr>
          <a:xfrm xmlns:a="http://schemas.openxmlformats.org/drawingml/2006/main">
            <a:off x="6419850" y="34290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Subperiods, asset attribution, parameter plateau, and concentration.</a:t>
            </a:r>
          </a:p>
        </p:txBody>
      </p:sp>
      <p:sp>
        <p:nvSpPr>
          <p:cNvPr id="16" name="">
            <a:extLst xmlns:a="http://schemas.openxmlformats.org/drawingml/2006/main">
              <a:ext uri="{FF2B5EF4-FFF2-40B4-BE49-F238E27FC236}">
                <a16:creationId xmlns:a16="http://schemas.microsoft.com/office/drawing/2014/main" id="{15937DCA-6E01-4108-B0B1-58F3F1875E0F}"/>
              </a:ext>
            </a:extLst>
          </p:cNvPr>
          <p:cNvSpPr>
            <a:spLocks xmlns:a="http://schemas.openxmlformats.org/drawingml/2006/main" noGrp="1"/>
          </p:cNvSpPr>
          <p:nvPr/>
        </p:nvSpPr>
        <p:spPr>
          <a:xfrm xmlns:a="http://schemas.openxmlformats.org/drawingml/2006/main">
            <a:off x="8648700" y="3238500"/>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3D8DFF"/>
                </a:solidFill>
                <a:latin typeface="Arial"/>
                <a:ea typeface="Arial"/>
                <a:cs typeface="Arial"/>
              </a:defRPr>
            </a:pPr>
            <a:r>
              <a:rPr sz="2550" b="1">
                <a:solidFill>
                  <a:srgbClr val="3D8DFF"/>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8887C29-CE28-4129-B9A9-A511A0CB7429}"/>
              </a:ext>
            </a:extLst>
          </p:cNvPr>
          <p:cNvSpPr>
            <a:spLocks xmlns:a="http://schemas.openxmlformats.org/drawingml/2006/main" noGrp="1"/>
          </p:cNvSpPr>
          <p:nvPr/>
        </p:nvSpPr>
        <p:spPr>
          <a:xfrm xmlns:a="http://schemas.openxmlformats.org/drawingml/2006/main">
            <a:off x="9048750" y="2305050"/>
            <a:ext cx="2381250" cy="25146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9FB45314-0CD6-451D-8EE2-7ADD84829B8D}"/>
              </a:ext>
            </a:extLst>
          </p:cNvPr>
          <p:cNvSpPr>
            <a:spLocks xmlns:a="http://schemas.openxmlformats.org/drawingml/2006/main" noGrp="1"/>
          </p:cNvSpPr>
          <p:nvPr/>
        </p:nvSpPr>
        <p:spPr>
          <a:xfrm xmlns:a="http://schemas.openxmlformats.org/drawingml/2006/main">
            <a:off x="9277350" y="2647950"/>
            <a:ext cx="1943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01820"/>
                </a:solidFill>
                <a:latin typeface="Arial"/>
                <a:ea typeface="Arial"/>
                <a:cs typeface="Arial"/>
              </a:defRPr>
            </a:pPr>
            <a:r>
              <a:rPr sz="1875" b="1">
                <a:solidFill>
                  <a:srgbClr val="101820"/>
                </a:solidFill>
                <a:latin typeface="Arial"/>
                <a:ea typeface="Arial"/>
                <a:cs typeface="Arial"/>
              </a:rPr>
              <a:t>4 · Forward use</a:t>
            </a:r>
          </a:p>
        </p:txBody>
      </p:sp>
      <p:sp>
        <p:nvSpPr>
          <p:cNvPr id="19" name="">
            <a:extLst xmlns:a="http://schemas.openxmlformats.org/drawingml/2006/main">
              <a:ext uri="{FF2B5EF4-FFF2-40B4-BE49-F238E27FC236}">
                <a16:creationId xmlns:a16="http://schemas.microsoft.com/office/drawing/2014/main" id="{E9F2A42E-90E7-49AB-A36A-B75913209F07}"/>
              </a:ext>
            </a:extLst>
          </p:cNvPr>
          <p:cNvSpPr>
            <a:spLocks xmlns:a="http://schemas.openxmlformats.org/drawingml/2006/main" noGrp="1"/>
          </p:cNvSpPr>
          <p:nvPr/>
        </p:nvSpPr>
        <p:spPr>
          <a:xfrm xmlns:a="http://schemas.openxmlformats.org/drawingml/2006/main">
            <a:off x="9277350" y="34290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52616B"/>
                </a:solidFill>
                <a:latin typeface="Arial"/>
                <a:ea typeface="Arial"/>
                <a:cs typeface="Arial"/>
              </a:defRPr>
            </a:pPr>
            <a:r>
              <a:rPr sz="1575" b="0">
                <a:solidFill>
                  <a:srgbClr val="52616B"/>
                </a:solidFill>
                <a:latin typeface="Arial"/>
                <a:ea typeface="Arial"/>
                <a:cs typeface="Arial"/>
              </a:rPr>
              <a:t>Post-publication ledger, frozen decision pack, weekly advice only.</a:t>
            </a:r>
          </a:p>
        </p:txBody>
      </p:sp>
      <p:sp>
        <p:nvSpPr>
          <p:cNvPr id="20" name="">
            <a:extLst xmlns:a="http://schemas.openxmlformats.org/drawingml/2006/main">
              <a:ext uri="{FF2B5EF4-FFF2-40B4-BE49-F238E27FC236}">
                <a16:creationId xmlns:a16="http://schemas.microsoft.com/office/drawing/2014/main" id="{F312D414-7A48-4305-A213-C771CA512E34}"/>
              </a:ext>
            </a:extLst>
          </p:cNvPr>
          <p:cNvSpPr>
            <a:spLocks xmlns:a="http://schemas.openxmlformats.org/drawingml/2006/main" noGrp="1"/>
          </p:cNvSpPr>
          <p:nvPr/>
        </p:nvSpPr>
        <p:spPr>
          <a:xfrm xmlns:a="http://schemas.openxmlformats.org/drawingml/2006/main">
            <a:off x="2057400" y="5429250"/>
            <a:ext cx="807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a:solidFill>
                  <a:srgbClr val="101820"/>
                </a:solidFill>
                <a:latin typeface="Arial"/>
                <a:ea typeface="Arial"/>
                <a:cs typeface="Arial"/>
              </a:defRPr>
            </a:pPr>
            <a:r>
              <a:rPr sz="2175" b="1">
                <a:solidFill>
                  <a:srgbClr val="101820"/>
                </a:solidFill>
                <a:latin typeface="Arial"/>
                <a:ea typeface="Arial"/>
                <a:cs typeface="Arial"/>
              </a:rPr>
              <a:t>Historical reproduction can open the next bridge. It cannot skip one.</a:t>
            </a:r>
          </a:p>
        </p:txBody>
      </p:sp>
    </p:spTree>
    <p:extLst>
      <p:ext uri="{BB962C8B-B14F-4D97-AF65-F5344CB8AC3E}">
        <p14:creationId xmlns:p14="http://schemas.microsoft.com/office/powerpoint/2010/main" val="19059613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F5101D6-2379-4B55-9AD2-58BCF23781F0}"/>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slide-14-title">
            <a:extLst xmlns:a="http://schemas.openxmlformats.org/drawingml/2006/main">
              <a:ext uri="{FF2B5EF4-FFF2-40B4-BE49-F238E27FC236}">
                <a16:creationId xmlns:a16="http://schemas.microsoft.com/office/drawing/2014/main" id="{B943FDA8-FE51-4D27-B40A-317128371EB9}"/>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Current decision: reproduce the fleet before judging the edge</a:t>
            </a:r>
          </a:p>
        </p:txBody>
      </p:sp>
      <p:sp>
        <p:nvSpPr>
          <p:cNvPr id="3" name="">
            <a:extLst xmlns:a="http://schemas.openxmlformats.org/drawingml/2006/main">
              <a:ext uri="{FF2B5EF4-FFF2-40B4-BE49-F238E27FC236}">
                <a16:creationId xmlns:a16="http://schemas.microsoft.com/office/drawing/2014/main" id="{CD496AA0-C00E-4E42-8CD1-4EB3BF1EB684}"/>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14-number">
            <a:extLst xmlns:a="http://schemas.openxmlformats.org/drawingml/2006/main">
              <a:ext uri="{FF2B5EF4-FFF2-40B4-BE49-F238E27FC236}">
                <a16:creationId xmlns:a16="http://schemas.microsoft.com/office/drawing/2014/main" id="{119FE05B-80F6-45B4-A346-97E8FBAE1C02}"/>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0639CE2-D535-47A9-92D8-ACEB8F27B12A}"/>
              </a:ext>
            </a:extLst>
          </p:cNvPr>
          <p:cNvSpPr>
            <a:spLocks xmlns:a="http://schemas.openxmlformats.org/drawingml/2006/main" noGrp="1"/>
          </p:cNvSpPr>
          <p:nvPr/>
        </p:nvSpPr>
        <p:spPr>
          <a:xfrm xmlns:a="http://schemas.openxmlformats.org/drawingml/2006/main">
            <a:off x="666750" y="16573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3D8DFF"/>
                </a:solidFill>
                <a:latin typeface="Arial"/>
                <a:ea typeface="Arial"/>
                <a:cs typeface="Arial"/>
              </a:defRPr>
            </a:pPr>
            <a:r>
              <a:rPr sz="1950" b="1">
                <a:solidFill>
                  <a:srgbClr val="3D8DFF"/>
                </a:solidFill>
                <a:latin typeface="Arial"/>
                <a:ea typeface="Arial"/>
                <a:cs typeface="Arial"/>
              </a:rPr>
              <a:t>LIT-MOM-03.1</a:t>
            </a:r>
          </a:p>
        </p:txBody>
      </p:sp>
      <p:sp>
        <p:nvSpPr>
          <p:cNvPr id="6" name="">
            <a:extLst xmlns:a="http://schemas.openxmlformats.org/drawingml/2006/main">
              <a:ext uri="{FF2B5EF4-FFF2-40B4-BE49-F238E27FC236}">
                <a16:creationId xmlns:a16="http://schemas.microsoft.com/office/drawing/2014/main" id="{D08F898C-0E16-4F97-965A-CCC86C54358E}"/>
              </a:ext>
            </a:extLst>
          </p:cNvPr>
          <p:cNvSpPr>
            <a:spLocks xmlns:a="http://schemas.openxmlformats.org/drawingml/2006/main" noGrp="1"/>
          </p:cNvSpPr>
          <p:nvPr/>
        </p:nvSpPr>
        <p:spPr>
          <a:xfrm xmlns:a="http://schemas.openxmlformats.org/drawingml/2006/main">
            <a:off x="666750" y="21907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925" b="1">
                <a:solidFill>
                  <a:srgbClr val="101820"/>
                </a:solidFill>
                <a:latin typeface="Arial"/>
                <a:ea typeface="Arial"/>
                <a:cs typeface="Arial"/>
              </a:defRPr>
            </a:pPr>
            <a:r>
              <a:rPr sz="2925" b="1">
                <a:solidFill>
                  <a:srgbClr val="101820"/>
                </a:solidFill>
                <a:latin typeface="Arial"/>
                <a:ea typeface="Arial"/>
                <a:cs typeface="Arial"/>
              </a:rPr>
              <a:t>Literature-sourced hypothesis</a:t>
            </a:r>
          </a:p>
        </p:txBody>
      </p:sp>
      <p:sp>
        <p:nvSpPr>
          <p:cNvPr id="7" name="">
            <a:extLst xmlns:a="http://schemas.openxmlformats.org/drawingml/2006/main">
              <a:ext uri="{FF2B5EF4-FFF2-40B4-BE49-F238E27FC236}">
                <a16:creationId xmlns:a16="http://schemas.microsoft.com/office/drawing/2014/main" id="{4F86D7ED-A691-4277-B1F8-6B0F28388616}"/>
              </a:ext>
            </a:extLst>
          </p:cNvPr>
          <p:cNvSpPr>
            <a:spLocks xmlns:a="http://schemas.openxmlformats.org/drawingml/2006/main" noGrp="1"/>
          </p:cNvSpPr>
          <p:nvPr/>
        </p:nvSpPr>
        <p:spPr>
          <a:xfrm xmlns:a="http://schemas.openxmlformats.org/drawingml/2006/main">
            <a:off x="666750" y="3009900"/>
            <a:ext cx="4953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0">
                <a:solidFill>
                  <a:srgbClr val="52616B"/>
                </a:solidFill>
                <a:latin typeface="Arial"/>
                <a:ea typeface="Arial"/>
                <a:cs typeface="Arial"/>
              </a:defRPr>
            </a:pPr>
            <a:r>
              <a:rPr sz="1950" b="0">
                <a:solidFill>
                  <a:srgbClr val="52616B"/>
                </a:solidFill>
                <a:latin typeface="Arial"/>
                <a:ea typeface="Arial"/>
                <a:cs typeface="Arial"/>
              </a:rPr>
              <a:t>The video contributes a recent, explicit implementation. The academic literature supplies the broader mechanism. Neither supplies Gen5 confirmation.</a:t>
            </a:r>
          </a:p>
        </p:txBody>
      </p:sp>
      <p:sp>
        <p:nvSpPr>
          <p:cNvPr id="8" name="">
            <a:extLst xmlns:a="http://schemas.openxmlformats.org/drawingml/2006/main">
              <a:ext uri="{FF2B5EF4-FFF2-40B4-BE49-F238E27FC236}">
                <a16:creationId xmlns:a16="http://schemas.microsoft.com/office/drawing/2014/main" id="{8BA46CA8-8853-4020-9489-3882D6DFE147}"/>
              </a:ext>
            </a:extLst>
          </p:cNvPr>
          <p:cNvSpPr>
            <a:spLocks xmlns:a="http://schemas.openxmlformats.org/drawingml/2006/main" noGrp="1"/>
          </p:cNvSpPr>
          <p:nvPr/>
        </p:nvSpPr>
        <p:spPr>
          <a:xfrm xmlns:a="http://schemas.openxmlformats.org/drawingml/2006/main">
            <a:off x="6381750" y="1676400"/>
            <a:ext cx="4762500" cy="32385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9" name="">
            <a:extLst xmlns:a="http://schemas.openxmlformats.org/drawingml/2006/main">
              <a:ext uri="{FF2B5EF4-FFF2-40B4-BE49-F238E27FC236}">
                <a16:creationId xmlns:a16="http://schemas.microsoft.com/office/drawing/2014/main" id="{53688088-FA60-4A4C-B061-CC4B20CDA7EE}"/>
              </a:ext>
            </a:extLst>
          </p:cNvPr>
          <p:cNvSpPr>
            <a:spLocks xmlns:a="http://schemas.openxmlformats.org/drawingml/2006/main" noGrp="1"/>
          </p:cNvSpPr>
          <p:nvPr/>
        </p:nvSpPr>
        <p:spPr>
          <a:xfrm xmlns:a="http://schemas.openxmlformats.org/drawingml/2006/main">
            <a:off x="6762750" y="20383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NEXT VISIBLE SLICE</a:t>
            </a:r>
          </a:p>
        </p:txBody>
      </p:sp>
      <p:sp>
        <p:nvSpPr>
          <p:cNvPr id="10" name="">
            <a:extLst xmlns:a="http://schemas.openxmlformats.org/drawingml/2006/main">
              <a:ext uri="{FF2B5EF4-FFF2-40B4-BE49-F238E27FC236}">
                <a16:creationId xmlns:a16="http://schemas.microsoft.com/office/drawing/2014/main" id="{ED4F9F39-57E8-4734-9ED0-6137D29C63E5}"/>
              </a:ext>
            </a:extLst>
          </p:cNvPr>
          <p:cNvSpPr>
            <a:spLocks xmlns:a="http://schemas.openxmlformats.org/drawingml/2006/main" noGrp="1"/>
          </p:cNvSpPr>
          <p:nvPr/>
        </p:nvSpPr>
        <p:spPr>
          <a:xfrm xmlns:a="http://schemas.openxmlformats.org/drawingml/2006/main">
            <a:off x="6762750" y="255270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625" b="1">
                <a:solidFill>
                  <a:srgbClr val="101820"/>
                </a:solidFill>
                <a:latin typeface="Arial"/>
                <a:ea typeface="Arial"/>
                <a:cs typeface="Arial"/>
              </a:defRPr>
            </a:pPr>
            <a:r>
              <a:rPr sz="2625" b="1">
                <a:solidFill>
                  <a:srgbClr val="101820"/>
                </a:solidFill>
                <a:latin typeface="Arial"/>
                <a:ea typeface="Arial"/>
                <a:cs typeface="Arial"/>
              </a:rPr>
              <a:t>Frozen weekly signal + allocation tape</a:t>
            </a:r>
          </a:p>
        </p:txBody>
      </p:sp>
      <p:sp>
        <p:nvSpPr>
          <p:cNvPr id="11" name="">
            <a:extLst xmlns:a="http://schemas.openxmlformats.org/drawingml/2006/main">
              <a:ext uri="{FF2B5EF4-FFF2-40B4-BE49-F238E27FC236}">
                <a16:creationId xmlns:a16="http://schemas.microsoft.com/office/drawing/2014/main" id="{7392D5AC-CFED-4715-A5C9-BC9F89695288}"/>
              </a:ext>
            </a:extLst>
          </p:cNvPr>
          <p:cNvSpPr>
            <a:spLocks xmlns:a="http://schemas.openxmlformats.org/drawingml/2006/main" noGrp="1"/>
          </p:cNvSpPr>
          <p:nvPr/>
        </p:nvSpPr>
        <p:spPr>
          <a:xfrm xmlns:a="http://schemas.openxmlformats.org/drawingml/2006/main">
            <a:off x="6762750" y="37338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Nine ETFs · 10/25 weeks · top three · positive only · next-open translation</a:t>
            </a:r>
          </a:p>
        </p:txBody>
      </p:sp>
      <p:sp>
        <p:nvSpPr>
          <p:cNvPr id="12" name="">
            <a:extLst xmlns:a="http://schemas.openxmlformats.org/drawingml/2006/main">
              <a:ext uri="{FF2B5EF4-FFF2-40B4-BE49-F238E27FC236}">
                <a16:creationId xmlns:a16="http://schemas.microsoft.com/office/drawing/2014/main" id="{18F3824A-DAD3-4679-8BCC-C96A52BBC471}"/>
              </a:ext>
            </a:extLst>
          </p:cNvPr>
          <p:cNvSpPr>
            <a:spLocks xmlns:a="http://schemas.openxmlformats.org/drawingml/2006/main" noGrp="1"/>
          </p:cNvSpPr>
          <p:nvPr/>
        </p:nvSpPr>
        <p:spPr>
          <a:xfrm xmlns:a="http://schemas.openxmlformats.org/drawingml/2006/main">
            <a:off x="666750" y="5314950"/>
            <a:ext cx="10477500" cy="5524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3" name="">
            <a:extLst xmlns:a="http://schemas.openxmlformats.org/drawingml/2006/main">
              <a:ext uri="{FF2B5EF4-FFF2-40B4-BE49-F238E27FC236}">
                <a16:creationId xmlns:a16="http://schemas.microsoft.com/office/drawing/2014/main" id="{A8AE8A13-7ADF-4652-A79E-90262EA3D63B}"/>
              </a:ext>
            </a:extLst>
          </p:cNvPr>
          <p:cNvSpPr>
            <a:spLocks xmlns:a="http://schemas.openxmlformats.org/drawingml/2006/main" noGrp="1"/>
          </p:cNvSpPr>
          <p:nvPr/>
        </p:nvSpPr>
        <p:spPr>
          <a:xfrm xmlns:a="http://schemas.openxmlformats.org/drawingml/2006/main">
            <a:off x="990600" y="5457825"/>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C8553D"/>
                </a:solidFill>
                <a:latin typeface="Arial"/>
                <a:ea typeface="Arial"/>
                <a:cs typeface="Arial"/>
              </a:defRPr>
            </a:pPr>
            <a:r>
              <a:rPr sz="1800" b="1">
                <a:solidFill>
                  <a:srgbClr val="C8553D"/>
                </a:solidFill>
                <a:latin typeface="Arial"/>
                <a:ea typeface="Arial"/>
                <a:cs typeface="Arial"/>
              </a:rPr>
              <a:t>No edge, performance, or strategy claim is open in this deck yet.</a:t>
            </a:r>
          </a:p>
        </p:txBody>
      </p:sp>
    </p:spTree>
    <p:extLst>
      <p:ext uri="{BB962C8B-B14F-4D97-AF65-F5344CB8AC3E}">
        <p14:creationId xmlns:p14="http://schemas.microsoft.com/office/powerpoint/2010/main" val="659385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43D917-60C1-49B6-A04E-D85D24522DCE}"/>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3F51F0D8-19C8-434E-90A3-9CD80434373E}"/>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rule is reproducible—but the published history is not yet</a:t>
            </a:r>
          </a:p>
        </p:txBody>
      </p:sp>
      <p:sp>
        <p:nvSpPr>
          <p:cNvPr id="3" name="">
            <a:extLst xmlns:a="http://schemas.openxmlformats.org/drawingml/2006/main">
              <a:ext uri="{FF2B5EF4-FFF2-40B4-BE49-F238E27FC236}">
                <a16:creationId xmlns:a16="http://schemas.microsoft.com/office/drawing/2014/main" id="{9C82D8E5-4706-4E1C-8A9C-3CB6FFDCDE1D}"/>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452295D-1E22-4BA1-B87C-35FC318DE242}"/>
              </a:ext>
            </a:extLst>
          </p:cNvPr>
          <p:cNvSpPr>
            <a:spLocks xmlns:a="http://schemas.openxmlformats.org/drawingml/2006/main" noGrp="1"/>
          </p:cNvSpPr>
          <p:nvPr/>
        </p:nvSpPr>
        <p:spPr>
          <a:xfrm xmlns:a="http://schemas.openxmlformats.org/drawingml/2006/main">
            <a:off x="11010900" y="63246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EA84F263-DCB7-4ECF-AC3C-B71C047C289B}"/>
              </a:ext>
            </a:extLst>
          </p:cNvPr>
          <p:cNvSpPr>
            <a:spLocks xmlns:a="http://schemas.openxmlformats.org/drawingml/2006/main" noGrp="1"/>
          </p:cNvSpPr>
          <p:nvPr/>
        </p:nvSpPr>
        <p:spPr>
          <a:xfrm xmlns:a="http://schemas.openxmlformats.org/drawingml/2006/main">
            <a:off x="628650" y="1790700"/>
            <a:ext cx="4953000" cy="325755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2535A567-86A3-447F-ABF8-3D7CC1CFCEE3}"/>
              </a:ext>
            </a:extLst>
          </p:cNvPr>
          <p:cNvSpPr>
            <a:spLocks xmlns:a="http://schemas.openxmlformats.org/drawingml/2006/main" noGrp="1"/>
          </p:cNvSpPr>
          <p:nvPr/>
        </p:nvSpPr>
        <p:spPr>
          <a:xfrm xmlns:a="http://schemas.openxmlformats.org/drawingml/2006/main">
            <a:off x="971550" y="21145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2E7D5B"/>
                </a:solidFill>
                <a:latin typeface="Arial"/>
                <a:ea typeface="Arial"/>
                <a:cs typeface="Arial"/>
              </a:defRPr>
            </a:pPr>
            <a:r>
              <a:rPr sz="1275" b="1">
                <a:solidFill>
                  <a:srgbClr val="2E7D5B"/>
                </a:solidFill>
                <a:latin typeface="Arial"/>
                <a:ea typeface="Arial"/>
                <a:cs typeface="Arial"/>
              </a:rPr>
              <a:t>PASS · LOCAL MECHANICS</a:t>
            </a:r>
          </a:p>
        </p:txBody>
      </p:sp>
      <p:sp>
        <p:nvSpPr>
          <p:cNvPr id="7" name="">
            <a:extLst xmlns:a="http://schemas.openxmlformats.org/drawingml/2006/main">
              <a:ext uri="{FF2B5EF4-FFF2-40B4-BE49-F238E27FC236}">
                <a16:creationId xmlns:a16="http://schemas.microsoft.com/office/drawing/2014/main" id="{B0EF5351-B0F9-4A7A-9512-D9DE9A581079}"/>
              </a:ext>
            </a:extLst>
          </p:cNvPr>
          <p:cNvSpPr>
            <a:spLocks xmlns:a="http://schemas.openxmlformats.org/drawingml/2006/main" noGrp="1"/>
          </p:cNvSpPr>
          <p:nvPr/>
        </p:nvSpPr>
        <p:spPr>
          <a:xfrm xmlns:a="http://schemas.openxmlformats.org/drawingml/2006/main">
            <a:off x="971550" y="2667000"/>
            <a:ext cx="180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100" b="1">
                <a:solidFill>
                  <a:srgbClr val="2E7D5B"/>
                </a:solidFill>
                <a:latin typeface="Arial"/>
                <a:ea typeface="Arial"/>
                <a:cs typeface="Arial"/>
              </a:defRPr>
            </a:pPr>
            <a:r>
              <a:rPr sz="5100" b="1">
                <a:solidFill>
                  <a:srgbClr val="2E7D5B"/>
                </a:solidFill>
                <a:latin typeface="Arial"/>
                <a:ea typeface="Arial"/>
                <a:cs typeface="Arial"/>
              </a:rPr>
              <a:t>508</a:t>
            </a:r>
          </a:p>
        </p:txBody>
      </p:sp>
      <p:sp>
        <p:nvSpPr>
          <p:cNvPr id="8" name="">
            <a:extLst xmlns:a="http://schemas.openxmlformats.org/drawingml/2006/main">
              <a:ext uri="{FF2B5EF4-FFF2-40B4-BE49-F238E27FC236}">
                <a16:creationId xmlns:a16="http://schemas.microsoft.com/office/drawing/2014/main" id="{845D259F-CD58-4A41-8E58-6185E679F682}"/>
              </a:ext>
            </a:extLst>
          </p:cNvPr>
          <p:cNvSpPr>
            <a:spLocks xmlns:a="http://schemas.openxmlformats.org/drawingml/2006/main" noGrp="1"/>
          </p:cNvSpPr>
          <p:nvPr/>
        </p:nvSpPr>
        <p:spPr>
          <a:xfrm xmlns:a="http://schemas.openxmlformats.org/drawingml/2006/main">
            <a:off x="2800350" y="29146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weekly decisions</a:t>
            </a:r>
          </a:p>
        </p:txBody>
      </p:sp>
      <p:sp>
        <p:nvSpPr>
          <p:cNvPr id="9" name="">
            <a:extLst xmlns:a="http://schemas.openxmlformats.org/drawingml/2006/main">
              <a:ext uri="{FF2B5EF4-FFF2-40B4-BE49-F238E27FC236}">
                <a16:creationId xmlns:a16="http://schemas.microsoft.com/office/drawing/2014/main" id="{2B561A00-F2ED-46FB-9D93-63A3E1AD5803}"/>
              </a:ext>
            </a:extLst>
          </p:cNvPr>
          <p:cNvSpPr>
            <a:spLocks xmlns:a="http://schemas.openxmlformats.org/drawingml/2006/main" noGrp="1"/>
          </p:cNvSpPr>
          <p:nvPr/>
        </p:nvSpPr>
        <p:spPr>
          <a:xfrm xmlns:a="http://schemas.openxmlformats.org/drawingml/2006/main">
            <a:off x="971550" y="3810000"/>
            <a:ext cx="4000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2016-06-29 → 2026-03-18</a:t>
            </a:r>
          </a:p>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All 11 mechanics checks pass</a:t>
            </a:r>
          </a:p>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No outcome metrics computed</a:t>
            </a:r>
          </a:p>
        </p:txBody>
      </p:sp>
      <p:sp>
        <p:nvSpPr>
          <p:cNvPr id="10" name="">
            <a:extLst xmlns:a="http://schemas.openxmlformats.org/drawingml/2006/main">
              <a:ext uri="{FF2B5EF4-FFF2-40B4-BE49-F238E27FC236}">
                <a16:creationId xmlns:a16="http://schemas.microsoft.com/office/drawing/2014/main" id="{D80FDF2D-786A-4D34-8C53-03F5531FEFAA}"/>
              </a:ext>
            </a:extLst>
          </p:cNvPr>
          <p:cNvSpPr>
            <a:spLocks xmlns:a="http://schemas.openxmlformats.org/drawingml/2006/main" noGrp="1"/>
          </p:cNvSpPr>
          <p:nvPr/>
        </p:nvSpPr>
        <p:spPr>
          <a:xfrm xmlns:a="http://schemas.openxmlformats.org/drawingml/2006/main">
            <a:off x="6191250" y="1790700"/>
            <a:ext cx="4953000" cy="32575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1" name="">
            <a:extLst xmlns:a="http://schemas.openxmlformats.org/drawingml/2006/main">
              <a:ext uri="{FF2B5EF4-FFF2-40B4-BE49-F238E27FC236}">
                <a16:creationId xmlns:a16="http://schemas.microsoft.com/office/drawing/2014/main" id="{E4150C52-9BF1-4205-AAE7-8463BBDA6FD9}"/>
              </a:ext>
            </a:extLst>
          </p:cNvPr>
          <p:cNvSpPr>
            <a:spLocks xmlns:a="http://schemas.openxmlformats.org/drawingml/2006/main" noGrp="1"/>
          </p:cNvSpPr>
          <p:nvPr/>
        </p:nvSpPr>
        <p:spPr>
          <a:xfrm xmlns:a="http://schemas.openxmlformats.org/drawingml/2006/main">
            <a:off x="6534150" y="21145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C8553D"/>
                </a:solidFill>
                <a:latin typeface="Arial"/>
                <a:ea typeface="Arial"/>
                <a:cs typeface="Arial"/>
              </a:defRPr>
            </a:pPr>
            <a:r>
              <a:rPr sz="1275" b="1">
                <a:solidFill>
                  <a:srgbClr val="C8553D"/>
                </a:solidFill>
                <a:latin typeface="Arial"/>
                <a:ea typeface="Arial"/>
                <a:cs typeface="Arial"/>
              </a:rPr>
              <a:t>STOP · SOURCE-SPAN COVERAGE</a:t>
            </a:r>
          </a:p>
        </p:txBody>
      </p:sp>
      <p:sp>
        <p:nvSpPr>
          <p:cNvPr id="12" name="">
            <a:extLst xmlns:a="http://schemas.openxmlformats.org/drawingml/2006/main">
              <a:ext uri="{FF2B5EF4-FFF2-40B4-BE49-F238E27FC236}">
                <a16:creationId xmlns:a16="http://schemas.microsoft.com/office/drawing/2014/main" id="{0606DC9E-2BF6-4A3D-8AA4-5B9D11332D44}"/>
              </a:ext>
            </a:extLst>
          </p:cNvPr>
          <p:cNvSpPr>
            <a:spLocks xmlns:a="http://schemas.openxmlformats.org/drawingml/2006/main" noGrp="1"/>
          </p:cNvSpPr>
          <p:nvPr/>
        </p:nvSpPr>
        <p:spPr>
          <a:xfrm xmlns:a="http://schemas.openxmlformats.org/drawingml/2006/main">
            <a:off x="6534150" y="272415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050" b="1">
                <a:solidFill>
                  <a:srgbClr val="C8553D"/>
                </a:solidFill>
                <a:latin typeface="Arial"/>
                <a:ea typeface="Arial"/>
                <a:cs typeface="Arial"/>
              </a:defRPr>
            </a:pPr>
            <a:r>
              <a:rPr sz="4050" b="1">
                <a:solidFill>
                  <a:srgbClr val="C8553D"/>
                </a:solidFill>
                <a:latin typeface="Arial"/>
                <a:ea typeface="Arial"/>
                <a:cs typeface="Arial"/>
              </a:rPr>
              <a:t>2008–2015</a:t>
            </a:r>
          </a:p>
        </p:txBody>
      </p:sp>
      <p:sp>
        <p:nvSpPr>
          <p:cNvPr id="13" name="">
            <a:extLst xmlns:a="http://schemas.openxmlformats.org/drawingml/2006/main">
              <a:ext uri="{FF2B5EF4-FFF2-40B4-BE49-F238E27FC236}">
                <a16:creationId xmlns:a16="http://schemas.microsoft.com/office/drawing/2014/main" id="{03283D39-FBEA-479D-88E1-46F1F4C330B5}"/>
              </a:ext>
            </a:extLst>
          </p:cNvPr>
          <p:cNvSpPr>
            <a:spLocks xmlns:a="http://schemas.openxmlformats.org/drawingml/2006/main" noGrp="1"/>
          </p:cNvSpPr>
          <p:nvPr/>
        </p:nvSpPr>
        <p:spPr>
          <a:xfrm xmlns:a="http://schemas.openxmlformats.org/drawingml/2006/main">
            <a:off x="6534150" y="3429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remains unreproduced</a:t>
            </a:r>
          </a:p>
        </p:txBody>
      </p:sp>
      <p:sp>
        <p:nvSpPr>
          <p:cNvPr id="14" name="">
            <a:extLst xmlns:a="http://schemas.openxmlformats.org/drawingml/2006/main">
              <a:ext uri="{FF2B5EF4-FFF2-40B4-BE49-F238E27FC236}">
                <a16:creationId xmlns:a16="http://schemas.microsoft.com/office/drawing/2014/main" id="{DB7B3C09-EAFE-41D8-880B-D0BE56096F33}"/>
              </a:ext>
            </a:extLst>
          </p:cNvPr>
          <p:cNvSpPr>
            <a:spLocks xmlns:a="http://schemas.openxmlformats.org/drawingml/2006/main" noGrp="1"/>
          </p:cNvSpPr>
          <p:nvPr/>
        </p:nvSpPr>
        <p:spPr>
          <a:xfrm xmlns:a="http://schemas.openxmlformats.org/drawingml/2006/main">
            <a:off x="6534150" y="400050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The Alpaca account returned complete common history only from 2016. The window was narrowed explicitly—not silently.</a:t>
            </a:r>
          </a:p>
        </p:txBody>
      </p:sp>
      <p:sp>
        <p:nvSpPr>
          <p:cNvPr id="15" name="">
            <a:extLst xmlns:a="http://schemas.openxmlformats.org/drawingml/2006/main">
              <a:ext uri="{FF2B5EF4-FFF2-40B4-BE49-F238E27FC236}">
                <a16:creationId xmlns:a16="http://schemas.microsoft.com/office/drawing/2014/main" id="{0DF58B95-FF34-44E3-BD69-0887709C26B4}"/>
              </a:ext>
            </a:extLst>
          </p:cNvPr>
          <p:cNvSpPr>
            <a:spLocks xmlns:a="http://schemas.openxmlformats.org/drawingml/2006/main" noGrp="1"/>
          </p:cNvSpPr>
          <p:nvPr/>
        </p:nvSpPr>
        <p:spPr>
          <a:xfrm xmlns:a="http://schemas.openxmlformats.org/drawingml/2006/main">
            <a:off x="2133600" y="5505450"/>
            <a:ext cx="792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a:solidFill>
                  <a:srgbClr val="101820"/>
                </a:solidFill>
                <a:latin typeface="Arial"/>
                <a:ea typeface="Arial"/>
                <a:cs typeface="Arial"/>
              </a:defRPr>
            </a:pPr>
            <a:r>
              <a:rPr sz="2175" b="1">
                <a:solidFill>
                  <a:srgbClr val="101820"/>
                </a:solidFill>
                <a:latin typeface="Arial"/>
                <a:ea typeface="Arial"/>
                <a:cs typeface="Arial"/>
              </a:rPr>
              <a:t>This slide proves implementation, not profitability.</a:t>
            </a:r>
          </a:p>
        </p:txBody>
      </p:sp>
    </p:spTree>
    <p:extLst>
      <p:ext uri="{BB962C8B-B14F-4D97-AF65-F5344CB8AC3E}">
        <p14:creationId xmlns:p14="http://schemas.microsoft.com/office/powerpoint/2010/main" val="15038810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AA0F3C-FA14-482C-9911-54A24769116A}"/>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522D8FEC-18D3-4EAC-98CE-20AF9D03A3AC}"/>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absolute-momentum veto is an occasional brake—not the normal state</a:t>
            </a:r>
          </a:p>
        </p:txBody>
      </p:sp>
      <p:sp>
        <p:nvSpPr>
          <p:cNvPr id="3" name="">
            <a:extLst xmlns:a="http://schemas.openxmlformats.org/drawingml/2006/main">
              <a:ext uri="{FF2B5EF4-FFF2-40B4-BE49-F238E27FC236}">
                <a16:creationId xmlns:a16="http://schemas.microsoft.com/office/drawing/2014/main" id="{21605544-2473-417D-B48F-9F8DF40D4FAF}"/>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944BF93-B836-4831-89CE-852C703D91AD}"/>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DBF73623-95B1-48A7-A168-959D4ACF9EF6}"/>
              </a:ext>
            </a:extLst>
          </p:cNvPr>
          <p:cNvSpPr>
            <a:spLocks xmlns:a="http://schemas.openxmlformats.org/drawingml/2006/main" noGrp="1"/>
          </p:cNvSpPr>
          <p:nvPr/>
        </p:nvSpPr>
        <p:spPr>
          <a:xfrm xmlns:a="http://schemas.openxmlformats.org/drawingml/2006/main">
            <a:off x="8991600" y="1733550"/>
            <a:ext cx="2724150" cy="39052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7" name="">
            <a:extLst xmlns:a="http://schemas.openxmlformats.org/drawingml/2006/main">
              <a:ext uri="{FF2B5EF4-FFF2-40B4-BE49-F238E27FC236}">
                <a16:creationId xmlns:a16="http://schemas.microsoft.com/office/drawing/2014/main" id="{454D3BC9-AB19-4F57-985E-DDB05A7434C0}"/>
              </a:ext>
            </a:extLst>
          </p:cNvPr>
          <p:cNvSpPr>
            <a:spLocks xmlns:a="http://schemas.openxmlformats.org/drawingml/2006/main" noGrp="1"/>
          </p:cNvSpPr>
          <p:nvPr/>
        </p:nvSpPr>
        <p:spPr>
          <a:xfrm xmlns:a="http://schemas.openxmlformats.org/drawingml/2006/main">
            <a:off x="9258300" y="20193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MECHANICS READOUT</a:t>
            </a:r>
          </a:p>
        </p:txBody>
      </p:sp>
      <p:sp>
        <p:nvSpPr>
          <p:cNvPr id="8" name="">
            <a:extLst xmlns:a="http://schemas.openxmlformats.org/drawingml/2006/main">
              <a:ext uri="{FF2B5EF4-FFF2-40B4-BE49-F238E27FC236}">
                <a16:creationId xmlns:a16="http://schemas.microsoft.com/office/drawing/2014/main" id="{50CF5D67-77D5-4062-92DB-E9771F376463}"/>
              </a:ext>
            </a:extLst>
          </p:cNvPr>
          <p:cNvSpPr>
            <a:spLocks xmlns:a="http://schemas.openxmlformats.org/drawingml/2006/main" noGrp="1"/>
          </p:cNvSpPr>
          <p:nvPr/>
        </p:nvSpPr>
        <p:spPr>
          <a:xfrm xmlns:a="http://schemas.openxmlformats.org/drawingml/2006/main">
            <a:off x="9258300" y="25717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01820"/>
                </a:solidFill>
                <a:latin typeface="Arial"/>
                <a:ea typeface="Arial"/>
                <a:cs typeface="Arial"/>
              </a:defRPr>
            </a:pPr>
            <a:r>
              <a:rPr sz="3000" b="1">
                <a:solidFill>
                  <a:srgbClr val="101820"/>
                </a:solidFill>
                <a:latin typeface="Arial"/>
                <a:ea typeface="Arial"/>
                <a:cs typeface="Arial"/>
              </a:rPr>
              <a:t>463 / 508</a:t>
            </a:r>
          </a:p>
        </p:txBody>
      </p:sp>
      <p:sp>
        <p:nvSpPr>
          <p:cNvPr id="9" name="">
            <a:extLst xmlns:a="http://schemas.openxmlformats.org/drawingml/2006/main">
              <a:ext uri="{FF2B5EF4-FFF2-40B4-BE49-F238E27FC236}">
                <a16:creationId xmlns:a16="http://schemas.microsoft.com/office/drawing/2014/main" id="{7C0B5D7F-B17A-4AC9-835E-6E44FD9128EC}"/>
              </a:ext>
            </a:extLst>
          </p:cNvPr>
          <p:cNvSpPr>
            <a:spLocks xmlns:a="http://schemas.openxmlformats.org/drawingml/2006/main" noGrp="1"/>
          </p:cNvSpPr>
          <p:nvPr/>
        </p:nvSpPr>
        <p:spPr>
          <a:xfrm xmlns:a="http://schemas.openxmlformats.org/drawingml/2006/main">
            <a:off x="9258300" y="3105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weeks fully invested</a:t>
            </a:r>
          </a:p>
        </p:txBody>
      </p:sp>
      <p:sp>
        <p:nvSpPr>
          <p:cNvPr id="10" name="">
            <a:extLst xmlns:a="http://schemas.openxmlformats.org/drawingml/2006/main">
              <a:ext uri="{FF2B5EF4-FFF2-40B4-BE49-F238E27FC236}">
                <a16:creationId xmlns:a16="http://schemas.microsoft.com/office/drawing/2014/main" id="{DE7E78EB-BFD1-417B-B781-C8666F0A80F8}"/>
              </a:ext>
            </a:extLst>
          </p:cNvPr>
          <p:cNvSpPr>
            <a:spLocks xmlns:a="http://schemas.openxmlformats.org/drawingml/2006/main" noGrp="1"/>
          </p:cNvSpPr>
          <p:nvPr/>
        </p:nvSpPr>
        <p:spPr>
          <a:xfrm xmlns:a="http://schemas.openxmlformats.org/drawingml/2006/main">
            <a:off x="9258300" y="37909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3D8DFF"/>
                </a:solidFill>
                <a:latin typeface="Arial"/>
                <a:ea typeface="Arial"/>
                <a:cs typeface="Arial"/>
              </a:defRPr>
            </a:pPr>
            <a:r>
              <a:rPr sz="3000" b="1">
                <a:solidFill>
                  <a:srgbClr val="3D8DFF"/>
                </a:solidFill>
                <a:latin typeface="Arial"/>
                <a:ea typeface="Arial"/>
                <a:cs typeface="Arial"/>
              </a:rPr>
              <a:t>2.6%</a:t>
            </a:r>
          </a:p>
        </p:txBody>
      </p:sp>
      <p:sp>
        <p:nvSpPr>
          <p:cNvPr id="11" name="">
            <a:extLst xmlns:a="http://schemas.openxmlformats.org/drawingml/2006/main">
              <a:ext uri="{FF2B5EF4-FFF2-40B4-BE49-F238E27FC236}">
                <a16:creationId xmlns:a16="http://schemas.microsoft.com/office/drawing/2014/main" id="{5DFE562A-9915-489A-BC82-2F762B044604}"/>
              </a:ext>
            </a:extLst>
          </p:cNvPr>
          <p:cNvSpPr>
            <a:spLocks xmlns:a="http://schemas.openxmlformats.org/drawingml/2006/main" noGrp="1"/>
          </p:cNvSpPr>
          <p:nvPr/>
        </p:nvSpPr>
        <p:spPr>
          <a:xfrm xmlns:a="http://schemas.openxmlformats.org/drawingml/2006/main">
            <a:off x="9258300" y="4324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average cash weight</a:t>
            </a:r>
          </a:p>
        </p:txBody>
      </p:sp>
      <p:sp>
        <p:nvSpPr>
          <p:cNvPr id="12" name="">
            <a:extLst xmlns:a="http://schemas.openxmlformats.org/drawingml/2006/main">
              <a:ext uri="{FF2B5EF4-FFF2-40B4-BE49-F238E27FC236}">
                <a16:creationId xmlns:a16="http://schemas.microsoft.com/office/drawing/2014/main" id="{9A127473-A846-4BDC-AD98-EA1A2A6F11AD}"/>
              </a:ext>
            </a:extLst>
          </p:cNvPr>
          <p:cNvSpPr>
            <a:spLocks xmlns:a="http://schemas.openxmlformats.org/drawingml/2006/main" noGrp="1"/>
          </p:cNvSpPr>
          <p:nvPr/>
        </p:nvSpPr>
        <p:spPr>
          <a:xfrm xmlns:a="http://schemas.openxmlformats.org/drawingml/2006/main">
            <a:off x="9258300" y="49720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01820"/>
                </a:solidFill>
                <a:latin typeface="Arial"/>
                <a:ea typeface="Arial"/>
                <a:cs typeface="Arial"/>
              </a:defRPr>
            </a:pPr>
            <a:r>
              <a:rPr sz="1950" b="1">
                <a:solidFill>
                  <a:srgbClr val="101820"/>
                </a:solidFill>
                <a:latin typeface="Arial"/>
                <a:ea typeface="Arial"/>
                <a:cs typeface="Arial"/>
              </a:rPr>
              <a:t>0% → 66.7%</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40b277587264f00"/>
          <a:stretch xmlns:a="http://schemas.openxmlformats.org/drawingml/2006/main"/>
        </p:blipFill>
        <p:spPr>
          <a:xfrm xmlns:a="http://schemas.openxmlformats.org/drawingml/2006/main">
            <a:off x="460699" y="1562100"/>
            <a:ext cx="8222602" cy="4476750"/>
          </a:xfrm>
          <a:prstGeom xmlns:a="http://schemas.openxmlformats.org/drawingml/2006/main" prst="rect">
            <a:avLst/>
          </a:prstGeom>
        </p:spPr>
      </p:pic>
    </p:spTree>
    <p:extLst>
      <p:ext uri="{BB962C8B-B14F-4D97-AF65-F5344CB8AC3E}">
        <p14:creationId xmlns:p14="http://schemas.microsoft.com/office/powerpoint/2010/main" val="10639124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B7BB28-C5CF-47BA-A918-FA17029EB44A}"/>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8C401559-67C5-4215-B579-93FC871FC00D}"/>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two horizons usually concentrate on the same winners</a:t>
            </a:r>
          </a:p>
        </p:txBody>
      </p:sp>
      <p:sp>
        <p:nvSpPr>
          <p:cNvPr id="3" name="">
            <a:extLst xmlns:a="http://schemas.openxmlformats.org/drawingml/2006/main">
              <a:ext uri="{FF2B5EF4-FFF2-40B4-BE49-F238E27FC236}">
                <a16:creationId xmlns:a16="http://schemas.microsoft.com/office/drawing/2014/main" id="{FE913BAC-F3B9-4338-8958-15CBEBB596BB}"/>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0D32FF2-05B5-4DF6-BBF4-B1464DC9B66A}"/>
              </a:ext>
            </a:extLst>
          </p:cNvPr>
          <p:cNvSpPr>
            <a:spLocks xmlns:a="http://schemas.openxmlformats.org/drawingml/2006/main" noGrp="1"/>
          </p:cNvSpPr>
          <p:nvPr/>
        </p:nvSpPr>
        <p:spPr>
          <a:xfrm xmlns:a="http://schemas.openxmlformats.org/drawingml/2006/main">
            <a:off x="11372850" y="63246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2616B"/>
                </a:solidFill>
                <a:latin typeface="Arial"/>
                <a:ea typeface="Arial"/>
                <a:cs typeface="Arial"/>
              </a:defRPr>
            </a:pPr>
            <a:r>
              <a:rPr sz="1200" b="0">
                <a:solidFill>
                  <a:srgbClr val="52616B"/>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8B7E846F-BE01-42E8-9EBB-9EA3FC7567F0}"/>
              </a:ext>
            </a:extLst>
          </p:cNvPr>
          <p:cNvSpPr>
            <a:spLocks xmlns:a="http://schemas.openxmlformats.org/drawingml/2006/main" noGrp="1"/>
          </p:cNvSpPr>
          <p:nvPr/>
        </p:nvSpPr>
        <p:spPr>
          <a:xfrm xmlns:a="http://schemas.openxmlformats.org/drawingml/2006/main">
            <a:off x="8153400" y="1695450"/>
            <a:ext cx="3429000" cy="40576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7" name="">
            <a:extLst xmlns:a="http://schemas.openxmlformats.org/drawingml/2006/main">
              <a:ext uri="{FF2B5EF4-FFF2-40B4-BE49-F238E27FC236}">
                <a16:creationId xmlns:a16="http://schemas.microsoft.com/office/drawing/2014/main" id="{7A48CFB1-8F2F-43AD-84B5-5B62F4FCE8D1}"/>
              </a:ext>
            </a:extLst>
          </p:cNvPr>
          <p:cNvSpPr>
            <a:spLocks xmlns:a="http://schemas.openxmlformats.org/drawingml/2006/main" noGrp="1"/>
          </p:cNvSpPr>
          <p:nvPr/>
        </p:nvSpPr>
        <p:spPr>
          <a:xfrm xmlns:a="http://schemas.openxmlformats.org/drawingml/2006/main">
            <a:off x="8496300" y="20002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SLEEVE OVERLAP</a:t>
            </a:r>
          </a:p>
        </p:txBody>
      </p:sp>
      <p:sp>
        <p:nvSpPr>
          <p:cNvPr id="8" name="">
            <a:extLst xmlns:a="http://schemas.openxmlformats.org/drawingml/2006/main">
              <a:ext uri="{FF2B5EF4-FFF2-40B4-BE49-F238E27FC236}">
                <a16:creationId xmlns:a16="http://schemas.microsoft.com/office/drawing/2014/main" id="{DC731ED7-5F85-42CB-A69F-0889CEA3331A}"/>
              </a:ext>
            </a:extLst>
          </p:cNvPr>
          <p:cNvSpPr>
            <a:spLocks xmlns:a="http://schemas.openxmlformats.org/drawingml/2006/main" noGrp="1"/>
          </p:cNvSpPr>
          <p:nvPr/>
        </p:nvSpPr>
        <p:spPr>
          <a:xfrm xmlns:a="http://schemas.openxmlformats.org/drawingml/2006/main">
            <a:off x="8496300" y="25336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3D8DFF"/>
                </a:solidFill>
                <a:latin typeface="Arial"/>
                <a:ea typeface="Arial"/>
                <a:cs typeface="Arial"/>
              </a:defRPr>
            </a:pPr>
            <a:r>
              <a:rPr sz="3375" b="1">
                <a:solidFill>
                  <a:srgbClr val="3D8DFF"/>
                </a:solidFill>
                <a:latin typeface="Arial"/>
                <a:ea typeface="Arial"/>
                <a:cs typeface="Arial"/>
              </a:rPr>
              <a:t>488 / 508</a:t>
            </a:r>
          </a:p>
        </p:txBody>
      </p:sp>
      <p:sp>
        <p:nvSpPr>
          <p:cNvPr id="9" name="">
            <a:extLst xmlns:a="http://schemas.openxmlformats.org/drawingml/2006/main">
              <a:ext uri="{FF2B5EF4-FFF2-40B4-BE49-F238E27FC236}">
                <a16:creationId xmlns:a16="http://schemas.microsoft.com/office/drawing/2014/main" id="{406DC0E8-33AD-4797-87D6-8B560493E789}"/>
              </a:ext>
            </a:extLst>
          </p:cNvPr>
          <p:cNvSpPr>
            <a:spLocks xmlns:a="http://schemas.openxmlformats.org/drawingml/2006/main" noGrp="1"/>
          </p:cNvSpPr>
          <p:nvPr/>
        </p:nvSpPr>
        <p:spPr>
          <a:xfrm xmlns:a="http://schemas.openxmlformats.org/drawingml/2006/main">
            <a:off x="8496300" y="31051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weeks shared ≥1 ETF</a:t>
            </a:r>
          </a:p>
        </p:txBody>
      </p:sp>
      <p:sp>
        <p:nvSpPr>
          <p:cNvPr id="10" name="">
            <a:extLst xmlns:a="http://schemas.openxmlformats.org/drawingml/2006/main">
              <a:ext uri="{FF2B5EF4-FFF2-40B4-BE49-F238E27FC236}">
                <a16:creationId xmlns:a16="http://schemas.microsoft.com/office/drawing/2014/main" id="{A0EB914A-A236-47F4-91E9-BA72FF10432A}"/>
              </a:ext>
            </a:extLst>
          </p:cNvPr>
          <p:cNvSpPr>
            <a:spLocks xmlns:a="http://schemas.openxmlformats.org/drawingml/2006/main" noGrp="1"/>
          </p:cNvSpPr>
          <p:nvPr/>
        </p:nvSpPr>
        <p:spPr>
          <a:xfrm xmlns:a="http://schemas.openxmlformats.org/drawingml/2006/main">
            <a:off x="8496300" y="3714750"/>
            <a:ext cx="2686050" cy="0"/>
          </a:xfrm>
          <a:prstGeom xmlns:a="http://schemas.openxmlformats.org/drawingml/2006/main" prst="line">
            <a:avLst/>
          </a:prstGeom>
          <a:noFill xmlns:a="http://schemas.openxmlformats.org/drawingml/2006/main"/>
          <a:ln xmlns:a="http://schemas.openxmlformats.org/drawingml/2006/main" w="19050">
            <a:solidFill>
              <a:srgbClr val="6DCBF4"/>
            </a:solidFill>
            <a:prstDash val="solid"/>
          </a:ln>
        </p:spPr>
      </p:sp>
      <p:sp>
        <p:nvSpPr>
          <p:cNvPr id="11" name="">
            <a:extLst xmlns:a="http://schemas.openxmlformats.org/drawingml/2006/main">
              <a:ext uri="{FF2B5EF4-FFF2-40B4-BE49-F238E27FC236}">
                <a16:creationId xmlns:a16="http://schemas.microsoft.com/office/drawing/2014/main" id="{63C90848-627F-4872-9F08-0BCEBC58FC88}"/>
              </a:ext>
            </a:extLst>
          </p:cNvPr>
          <p:cNvSpPr>
            <a:spLocks xmlns:a="http://schemas.openxmlformats.org/drawingml/2006/main" noGrp="1"/>
          </p:cNvSpPr>
          <p:nvPr/>
        </p:nvSpPr>
        <p:spPr>
          <a:xfrm xmlns:a="http://schemas.openxmlformats.org/drawingml/2006/main">
            <a:off x="8496300" y="3962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01820"/>
                </a:solidFill>
                <a:latin typeface="Arial"/>
                <a:ea typeface="Arial"/>
                <a:cs typeface="Arial"/>
              </a:defRPr>
            </a:pPr>
            <a:r>
              <a:rPr sz="1575" b="1">
                <a:solidFill>
                  <a:srgbClr val="101820"/>
                </a:solidFill>
                <a:latin typeface="Arial"/>
                <a:ea typeface="Arial"/>
                <a:cs typeface="Arial"/>
              </a:rPr>
              <a:t>Latest decision · 2026-03-18</a:t>
            </a:r>
          </a:p>
        </p:txBody>
      </p:sp>
      <p:sp>
        <p:nvSpPr>
          <p:cNvPr id="12" name="">
            <a:extLst xmlns:a="http://schemas.openxmlformats.org/drawingml/2006/main">
              <a:ext uri="{FF2B5EF4-FFF2-40B4-BE49-F238E27FC236}">
                <a16:creationId xmlns:a16="http://schemas.microsoft.com/office/drawing/2014/main" id="{70090FDC-931D-4B56-AD5D-C71AA6FC29F9}"/>
              </a:ext>
            </a:extLst>
          </p:cNvPr>
          <p:cNvSpPr>
            <a:spLocks xmlns:a="http://schemas.openxmlformats.org/drawingml/2006/main" noGrp="1"/>
          </p:cNvSpPr>
          <p:nvPr/>
        </p:nvSpPr>
        <p:spPr>
          <a:xfrm xmlns:a="http://schemas.openxmlformats.org/drawingml/2006/main">
            <a:off x="8496300" y="4419600"/>
            <a:ext cx="2686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10w  UUP · GLD · USO</a:t>
            </a:r>
          </a:p>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25w  GLD · USO · EEM</a:t>
            </a:r>
          </a:p>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Cash  0%</a:t>
            </a:r>
          </a:p>
        </p:txBody>
      </p:sp>
      <p:sp>
        <p:nvSpPr>
          <p:cNvPr id="13" name="">
            <a:extLst xmlns:a="http://schemas.openxmlformats.org/drawingml/2006/main">
              <a:ext uri="{FF2B5EF4-FFF2-40B4-BE49-F238E27FC236}">
                <a16:creationId xmlns:a16="http://schemas.microsoft.com/office/drawing/2014/main" id="{F166845D-8E26-4804-AAA3-D76C79B2D4FB}"/>
              </a:ext>
            </a:extLst>
          </p:cNvPr>
          <p:cNvSpPr>
            <a:spLocks xmlns:a="http://schemas.openxmlformats.org/drawingml/2006/main" noGrp="1"/>
          </p:cNvSpPr>
          <p:nvPr/>
        </p:nvSpPr>
        <p:spPr>
          <a:xfrm xmlns:a="http://schemas.openxmlformats.org/drawingml/2006/main">
            <a:off x="1066800" y="58864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01820"/>
                </a:solidFill>
                <a:latin typeface="Arial"/>
                <a:ea typeface="Arial"/>
                <a:cs typeface="Arial"/>
              </a:defRPr>
            </a:pPr>
            <a:r>
              <a:rPr sz="1800" b="1">
                <a:solidFill>
                  <a:srgbClr val="101820"/>
                </a:solidFill>
                <a:latin typeface="Arial"/>
                <a:ea typeface="Arial"/>
                <a:cs typeface="Arial"/>
              </a:rPr>
              <a:t>Shared selections stack: one ETF can receive two one-sixth slots = one-third.</a:t>
            </a:r>
          </a:p>
        </p:txBody>
      </p:sp>
      <p:sp>
        <p:nvSpPr>
          <p:cNvPr id="16" name="">
            <a:extLst xmlns:a="http://schemas.openxmlformats.org/drawingml/2006/main">
              <a:ext uri="{FF2B5EF4-FFF2-40B4-BE49-F238E27FC236}">
                <a16:creationId xmlns:a16="http://schemas.microsoft.com/office/drawing/2014/main" id="{CBB05286-4B59-4C91-A588-5CD09F062F89}"/>
              </a:ext>
            </a:extLst>
          </p:cNvPr>
          <p:cNvSpPr>
            <a:spLocks xmlns:a="http://schemas.openxmlformats.org/drawingml/2006/main" noGrp="1"/>
          </p:cNvSpPr>
          <p:nvPr/>
        </p:nvSpPr>
        <p:spPr>
          <a:xfrm xmlns:a="http://schemas.openxmlformats.org/drawingml/2006/main">
            <a:off x="11144250" y="6324600"/>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c45ba86dc7e4f4c"/>
          <a:stretch xmlns:a="http://schemas.openxmlformats.org/drawingml/2006/main"/>
        </p:blipFill>
        <p:spPr>
          <a:xfrm xmlns:a="http://schemas.openxmlformats.org/drawingml/2006/main">
            <a:off x="401022" y="1657350"/>
            <a:ext cx="7522806" cy="4095750"/>
          </a:xfrm>
          <a:prstGeom xmlns:a="http://schemas.openxmlformats.org/drawingml/2006/main" prst="rect">
            <a:avLst/>
          </a:prstGeom>
        </p:spPr>
      </p:pic>
    </p:spTree>
    <p:extLst>
      <p:ext uri="{BB962C8B-B14F-4D97-AF65-F5344CB8AC3E}">
        <p14:creationId xmlns:p14="http://schemas.microsoft.com/office/powerpoint/2010/main" val="10196637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DB7632-9321-4B0D-B49B-BAF52F1D5F3F}"/>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4F6E0FE8-6C1B-4A13-9D2D-6E11399D4D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Mechanics are now inspectable; value-add remains the next question</a:t>
            </a:r>
          </a:p>
        </p:txBody>
      </p:sp>
      <p:sp>
        <p:nvSpPr>
          <p:cNvPr id="3" name="">
            <a:extLst xmlns:a="http://schemas.openxmlformats.org/drawingml/2006/main">
              <a:ext uri="{FF2B5EF4-FFF2-40B4-BE49-F238E27FC236}">
                <a16:creationId xmlns:a16="http://schemas.microsoft.com/office/drawing/2014/main" id="{0E0B56DB-4E40-4B87-BA34-B1427431835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9465AD-88DC-48BC-BDAC-EBEFA9C8F7B5}"/>
              </a:ext>
            </a:extLst>
          </p:cNvPr>
          <p:cNvSpPr>
            <a:spLocks xmlns:a="http://schemas.openxmlformats.org/drawingml/2006/main" noGrp="1"/>
          </p:cNvSpPr>
          <p:nvPr/>
        </p:nvSpPr>
        <p:spPr>
          <a:xfrm xmlns:a="http://schemas.openxmlformats.org/drawingml/2006/main">
            <a:off x="11010900" y="63246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CD393174-0A3C-4E18-A0E5-CFFEAB42B506}"/>
              </a:ext>
            </a:extLst>
          </p:cNvPr>
          <p:cNvSpPr>
            <a:spLocks xmlns:a="http://schemas.openxmlformats.org/drawingml/2006/main" noGrp="1"/>
          </p:cNvSpPr>
          <p:nvPr/>
        </p:nvSpPr>
        <p:spPr>
          <a:xfrm xmlns:a="http://schemas.openxmlformats.org/drawingml/2006/main">
            <a:off x="666750" y="1752600"/>
            <a:ext cx="10858500" cy="10287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802C9A30-9CD1-4907-B5B7-2F6BE57885E8}"/>
              </a:ext>
            </a:extLst>
          </p:cNvPr>
          <p:cNvSpPr>
            <a:spLocks xmlns:a="http://schemas.openxmlformats.org/drawingml/2006/main" noGrp="1"/>
          </p:cNvSpPr>
          <p:nvPr/>
        </p:nvSpPr>
        <p:spPr>
          <a:xfrm xmlns:a="http://schemas.openxmlformats.org/drawingml/2006/main">
            <a:off x="952500" y="2000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2E7D5B"/>
                </a:solidFill>
                <a:latin typeface="Arial"/>
                <a:ea typeface="Arial"/>
                <a:cs typeface="Arial"/>
              </a:defRPr>
            </a:pPr>
            <a:r>
              <a:rPr sz="2025" b="1">
                <a:solidFill>
                  <a:srgbClr val="2E7D5B"/>
                </a:solidFill>
                <a:latin typeface="Arial"/>
                <a:ea typeface="Arial"/>
                <a:cs typeface="Arial"/>
              </a:rPr>
              <a:t>Established</a:t>
            </a:r>
          </a:p>
        </p:txBody>
      </p:sp>
      <p:sp>
        <p:nvSpPr>
          <p:cNvPr id="7" name="">
            <a:extLst xmlns:a="http://schemas.openxmlformats.org/drawingml/2006/main">
              <a:ext uri="{FF2B5EF4-FFF2-40B4-BE49-F238E27FC236}">
                <a16:creationId xmlns:a16="http://schemas.microsoft.com/office/drawing/2014/main" id="{4C0B6826-C1CD-407B-B1BD-7E0FDA1C4296}"/>
              </a:ext>
            </a:extLst>
          </p:cNvPr>
          <p:cNvSpPr>
            <a:spLocks xmlns:a="http://schemas.openxmlformats.org/drawingml/2006/main" noGrp="1"/>
          </p:cNvSpPr>
          <p:nvPr/>
        </p:nvSpPr>
        <p:spPr>
          <a:xfrm xmlns:a="http://schemas.openxmlformats.org/drawingml/2006/main">
            <a:off x="3276600" y="19431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Exact ranks, vetoes, one-sixth slots, duplicate-sleeve stacking, holiday fallback, and next-open designation.</a:t>
            </a:r>
          </a:p>
        </p:txBody>
      </p:sp>
      <p:sp>
        <p:nvSpPr>
          <p:cNvPr id="8" name="">
            <a:extLst xmlns:a="http://schemas.openxmlformats.org/drawingml/2006/main">
              <a:ext uri="{FF2B5EF4-FFF2-40B4-BE49-F238E27FC236}">
                <a16:creationId xmlns:a16="http://schemas.microsoft.com/office/drawing/2014/main" id="{3AFAF26A-2C8D-481A-8C17-B8A9A3967177}"/>
              </a:ext>
            </a:extLst>
          </p:cNvPr>
          <p:cNvSpPr>
            <a:spLocks xmlns:a="http://schemas.openxmlformats.org/drawingml/2006/main" noGrp="1"/>
          </p:cNvSpPr>
          <p:nvPr/>
        </p:nvSpPr>
        <p:spPr>
          <a:xfrm xmlns:a="http://schemas.openxmlformats.org/drawingml/2006/main">
            <a:off x="666750" y="3048000"/>
            <a:ext cx="10858500" cy="10287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9" name="">
            <a:extLst xmlns:a="http://schemas.openxmlformats.org/drawingml/2006/main">
              <a:ext uri="{FF2B5EF4-FFF2-40B4-BE49-F238E27FC236}">
                <a16:creationId xmlns:a16="http://schemas.microsoft.com/office/drawing/2014/main" id="{DDE8FBE1-8020-4B7A-932E-FC73716C919B}"/>
              </a:ext>
            </a:extLst>
          </p:cNvPr>
          <p:cNvSpPr>
            <a:spLocks xmlns:a="http://schemas.openxmlformats.org/drawingml/2006/main" noGrp="1"/>
          </p:cNvSpPr>
          <p:nvPr/>
        </p:nvSpPr>
        <p:spPr>
          <a:xfrm xmlns:a="http://schemas.openxmlformats.org/drawingml/2006/main">
            <a:off x="952500" y="3295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C8553D"/>
                </a:solidFill>
                <a:latin typeface="Arial"/>
                <a:ea typeface="Arial"/>
                <a:cs typeface="Arial"/>
              </a:defRPr>
            </a:pPr>
            <a:r>
              <a:rPr sz="2025" b="1">
                <a:solidFill>
                  <a:srgbClr val="C8553D"/>
                </a:solidFill>
                <a:latin typeface="Arial"/>
                <a:ea typeface="Arial"/>
                <a:cs typeface="Arial"/>
              </a:rPr>
              <a:t>Not established</a:t>
            </a:r>
          </a:p>
        </p:txBody>
      </p:sp>
      <p:sp>
        <p:nvSpPr>
          <p:cNvPr id="10" name="">
            <a:extLst xmlns:a="http://schemas.openxmlformats.org/drawingml/2006/main">
              <a:ext uri="{FF2B5EF4-FFF2-40B4-BE49-F238E27FC236}">
                <a16:creationId xmlns:a16="http://schemas.microsoft.com/office/drawing/2014/main" id="{E6DA919C-47F4-4345-87E2-1F6DF9D0EC90}"/>
              </a:ext>
            </a:extLst>
          </p:cNvPr>
          <p:cNvSpPr>
            <a:spLocks xmlns:a="http://schemas.openxmlformats.org/drawingml/2006/main" noGrp="1"/>
          </p:cNvSpPr>
          <p:nvPr/>
        </p:nvSpPr>
        <p:spPr>
          <a:xfrm xmlns:a="http://schemas.openxmlformats.org/drawingml/2006/main">
            <a:off x="3276600" y="32385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returns, costs, turnover drag, drawdown, baseline comparison, parameter robustness, or edge claim.</a:t>
            </a:r>
          </a:p>
        </p:txBody>
      </p:sp>
      <p:sp>
        <p:nvSpPr>
          <p:cNvPr id="11" name="">
            <a:extLst xmlns:a="http://schemas.openxmlformats.org/drawingml/2006/main">
              <a:ext uri="{FF2B5EF4-FFF2-40B4-BE49-F238E27FC236}">
                <a16:creationId xmlns:a16="http://schemas.microsoft.com/office/drawing/2014/main" id="{0879E259-AD91-4B41-8E67-E5334F74BAB8}"/>
              </a:ext>
            </a:extLst>
          </p:cNvPr>
          <p:cNvSpPr>
            <a:spLocks xmlns:a="http://schemas.openxmlformats.org/drawingml/2006/main" noGrp="1"/>
          </p:cNvSpPr>
          <p:nvPr/>
        </p:nvSpPr>
        <p:spPr>
          <a:xfrm xmlns:a="http://schemas.openxmlformats.org/drawingml/2006/main">
            <a:off x="666750" y="4343400"/>
            <a:ext cx="10858500" cy="1028700"/>
          </a:xfrm>
          <a:prstGeom xmlns:a="http://schemas.openxmlformats.org/drawingml/2006/main" prst="rect">
            <a:avLst/>
          </a:prstGeom>
          <a:solidFill xmlns:a="http://schemas.openxmlformats.org/drawingml/2006/main">
            <a:srgbClr val="EDEDED"/>
          </a:solidFill>
          <a:ln xmlns:a="http://schemas.openxmlformats.org/drawingml/2006/main" w="9525">
            <a:solidFill>
              <a:srgbClr val="52616B"/>
            </a:solidFill>
            <a:prstDash val="solid"/>
          </a:ln>
        </p:spPr>
      </p:sp>
      <p:sp>
        <p:nvSpPr>
          <p:cNvPr id="12" name="">
            <a:extLst xmlns:a="http://schemas.openxmlformats.org/drawingml/2006/main">
              <a:ext uri="{FF2B5EF4-FFF2-40B4-BE49-F238E27FC236}">
                <a16:creationId xmlns:a16="http://schemas.microsoft.com/office/drawing/2014/main" id="{FE0E70E3-6874-4441-9FD1-1060221212D9}"/>
              </a:ext>
            </a:extLst>
          </p:cNvPr>
          <p:cNvSpPr>
            <a:spLocks xmlns:a="http://schemas.openxmlformats.org/drawingml/2006/main" noGrp="1"/>
          </p:cNvSpPr>
          <p:nvPr/>
        </p:nvSpPr>
        <p:spPr>
          <a:xfrm xmlns:a="http://schemas.openxmlformats.org/drawingml/2006/main">
            <a:off x="952500" y="4591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52616B"/>
                </a:solidFill>
                <a:latin typeface="Arial"/>
                <a:ea typeface="Arial"/>
                <a:cs typeface="Arial"/>
              </a:defRPr>
            </a:pPr>
            <a:r>
              <a:rPr sz="2025" b="1">
                <a:solidFill>
                  <a:srgbClr val="52616B"/>
                </a:solidFill>
                <a:latin typeface="Arial"/>
                <a:ea typeface="Arial"/>
                <a:cs typeface="Arial"/>
              </a:rPr>
              <a:t>Coverage STOP</a:t>
            </a:r>
          </a:p>
        </p:txBody>
      </p:sp>
      <p:sp>
        <p:nvSpPr>
          <p:cNvPr id="13" name="">
            <a:extLst xmlns:a="http://schemas.openxmlformats.org/drawingml/2006/main">
              <a:ext uri="{FF2B5EF4-FFF2-40B4-BE49-F238E27FC236}">
                <a16:creationId xmlns:a16="http://schemas.microsoft.com/office/drawing/2014/main" id="{7D88D2F7-BBA9-4B06-83BF-EF6C40360B55}"/>
              </a:ext>
            </a:extLst>
          </p:cNvPr>
          <p:cNvSpPr>
            <a:spLocks xmlns:a="http://schemas.openxmlformats.org/drawingml/2006/main" noGrp="1"/>
          </p:cNvSpPr>
          <p:nvPr/>
        </p:nvSpPr>
        <p:spPr>
          <a:xfrm xmlns:a="http://schemas.openxmlformats.org/drawingml/2006/main">
            <a:off x="3276600" y="45339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The publisher's 2008–2015 segment is unavailable under the current Alpaca account and provider contract.</a:t>
            </a:r>
          </a:p>
        </p:txBody>
      </p:sp>
      <p:sp>
        <p:nvSpPr>
          <p:cNvPr id="14" name="">
            <a:extLst xmlns:a="http://schemas.openxmlformats.org/drawingml/2006/main">
              <a:ext uri="{FF2B5EF4-FFF2-40B4-BE49-F238E27FC236}">
                <a16:creationId xmlns:a16="http://schemas.microsoft.com/office/drawing/2014/main" id="{F7E3D076-54D1-4B3D-8F4A-D11630B25FFC}"/>
              </a:ext>
            </a:extLst>
          </p:cNvPr>
          <p:cNvSpPr>
            <a:spLocks xmlns:a="http://schemas.openxmlformats.org/drawingml/2006/main" noGrp="1"/>
          </p:cNvSpPr>
          <p:nvPr/>
        </p:nvSpPr>
        <p:spPr>
          <a:xfrm xmlns:a="http://schemas.openxmlformats.org/drawingml/2006/main">
            <a:off x="2114550" y="5753100"/>
            <a:ext cx="7962900" cy="4953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FF7807EE-5E9A-4AC4-A3F2-FA1CED7A80A8}"/>
              </a:ext>
            </a:extLst>
          </p:cNvPr>
          <p:cNvSpPr>
            <a:spLocks xmlns:a="http://schemas.openxmlformats.org/drawingml/2006/main" noGrp="1"/>
          </p:cNvSpPr>
          <p:nvPr/>
        </p:nvSpPr>
        <p:spPr>
          <a:xfrm xmlns:a="http://schemas.openxmlformats.org/drawingml/2006/main">
            <a:off x="2343150" y="57531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3D8DFF"/>
                </a:solidFill>
                <a:latin typeface="Arial"/>
                <a:ea typeface="Arial"/>
                <a:cs typeface="Arial"/>
              </a:defRPr>
            </a:pPr>
            <a:r>
              <a:rPr sz="1350" b="1">
                <a:solidFill>
                  <a:srgbClr val="3D8DFF"/>
                </a:solidFill>
                <a:latin typeface="Arial"/>
                <a:ea typeface="Arial"/>
                <a:cs typeface="Arial"/>
              </a:rPr>
              <a:t>Next proposed gate: causal 2016–2026 replay against cash, equal-weight, relative-only, absolute-only, and attainable long-only ownership.</a:t>
            </a:r>
          </a:p>
        </p:txBody>
      </p:sp>
    </p:spTree>
    <p:extLst>
      <p:ext uri="{BB962C8B-B14F-4D97-AF65-F5344CB8AC3E}">
        <p14:creationId xmlns:p14="http://schemas.microsoft.com/office/powerpoint/2010/main" val="7339180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43D917-60C1-49B6-A04E-D85D24522DCE}"/>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3F51F0D8-19C8-434E-90A3-9CD80434373E}"/>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replay looks attractive—but the dual layer adds almost nothing</a:t>
            </a:r>
          </a:p>
        </p:txBody>
      </p:sp>
      <p:sp>
        <p:nvSpPr>
          <p:cNvPr id="3" name="">
            <a:extLst xmlns:a="http://schemas.openxmlformats.org/drawingml/2006/main">
              <a:ext uri="{FF2B5EF4-FFF2-40B4-BE49-F238E27FC236}">
                <a16:creationId xmlns:a16="http://schemas.microsoft.com/office/drawing/2014/main" id="{9C82D8E5-4706-4E1C-8A9C-3CB6FFDCDE1D}"/>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452295D-1E22-4BA1-B87C-35FC318DE242}"/>
              </a:ext>
            </a:extLst>
          </p:cNvPr>
          <p:cNvSpPr>
            <a:spLocks xmlns:a="http://schemas.openxmlformats.org/drawingml/2006/main" noGrp="1"/>
          </p:cNvSpPr>
          <p:nvPr/>
        </p:nvSpPr>
        <p:spPr>
          <a:xfrm xmlns:a="http://schemas.openxmlformats.org/drawingml/2006/main">
            <a:off x="11010900" y="63246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EA84F263-DCB7-4ECF-AC3C-B71C047C289B}"/>
              </a:ext>
            </a:extLst>
          </p:cNvPr>
          <p:cNvSpPr>
            <a:spLocks xmlns:a="http://schemas.openxmlformats.org/drawingml/2006/main" noGrp="1"/>
          </p:cNvSpPr>
          <p:nvPr/>
        </p:nvSpPr>
        <p:spPr>
          <a:xfrm xmlns:a="http://schemas.openxmlformats.org/drawingml/2006/main">
            <a:off x="628650" y="1790700"/>
            <a:ext cx="4953000" cy="325755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2535A567-86A3-447F-ABF8-3D7CC1CFCEE3}"/>
              </a:ext>
            </a:extLst>
          </p:cNvPr>
          <p:cNvSpPr>
            <a:spLocks xmlns:a="http://schemas.openxmlformats.org/drawingml/2006/main" noGrp="1"/>
          </p:cNvSpPr>
          <p:nvPr/>
        </p:nvSpPr>
        <p:spPr>
          <a:xfrm xmlns:a="http://schemas.openxmlformats.org/drawingml/2006/main">
            <a:off x="971550" y="21145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2E7D5B"/>
                </a:solidFill>
                <a:latin typeface="Arial"/>
                <a:ea typeface="Arial"/>
                <a:cs typeface="Arial"/>
              </a:defRPr>
            </a:pPr>
            <a:r>
              <a:rPr sz="1275" b="1">
                <a:solidFill>
                  <a:srgbClr val="2E7D5B"/>
                </a:solidFill>
                <a:latin typeface="Arial"/>
                <a:ea typeface="Arial"/>
                <a:cs typeface="Arial"/>
              </a:rPr>
              <a:t>REPLAY · SOURCE RULE</a:t>
            </a:r>
          </a:p>
        </p:txBody>
      </p:sp>
      <p:sp>
        <p:nvSpPr>
          <p:cNvPr id="7" name="">
            <a:extLst xmlns:a="http://schemas.openxmlformats.org/drawingml/2006/main">
              <a:ext uri="{FF2B5EF4-FFF2-40B4-BE49-F238E27FC236}">
                <a16:creationId xmlns:a16="http://schemas.microsoft.com/office/drawing/2014/main" id="{B0EF5351-B0F9-4A7A-9512-D9DE9A581079}"/>
              </a:ext>
            </a:extLst>
          </p:cNvPr>
          <p:cNvSpPr>
            <a:spLocks xmlns:a="http://schemas.openxmlformats.org/drawingml/2006/main" noGrp="1"/>
          </p:cNvSpPr>
          <p:nvPr/>
        </p:nvSpPr>
        <p:spPr>
          <a:xfrm xmlns:a="http://schemas.openxmlformats.org/drawingml/2006/main">
            <a:off x="971550" y="2667000"/>
            <a:ext cx="180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100" b="1">
                <a:solidFill>
                  <a:srgbClr val="2E7D5B"/>
                </a:solidFill>
                <a:latin typeface="Arial"/>
                <a:ea typeface="Arial"/>
                <a:cs typeface="Arial"/>
              </a:defRPr>
            </a:pPr>
            <a:r>
              <a:rPr sz="5100" b="1">
                <a:solidFill>
                  <a:srgbClr val="2E7D5B"/>
                </a:solidFill>
                <a:latin typeface="Arial"/>
                <a:ea typeface="Arial"/>
                <a:cs typeface="Arial"/>
              </a:rPr>
              <a:t>3.05x</a:t>
            </a:r>
          </a:p>
        </p:txBody>
      </p:sp>
      <p:sp>
        <p:nvSpPr>
          <p:cNvPr id="8" name="">
            <a:extLst xmlns:a="http://schemas.openxmlformats.org/drawingml/2006/main">
              <a:ext uri="{FF2B5EF4-FFF2-40B4-BE49-F238E27FC236}">
                <a16:creationId xmlns:a16="http://schemas.microsoft.com/office/drawing/2014/main" id="{845D259F-CD58-4A41-8E58-6185E679F682}"/>
              </a:ext>
            </a:extLst>
          </p:cNvPr>
          <p:cNvSpPr>
            <a:spLocks xmlns:a="http://schemas.openxmlformats.org/drawingml/2006/main" noGrp="1"/>
          </p:cNvSpPr>
          <p:nvPr/>
        </p:nvSpPr>
        <p:spPr>
          <a:xfrm xmlns:a="http://schemas.openxmlformats.org/drawingml/2006/main">
            <a:off x="2800350" y="29146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ending wealth</a:t>
            </a:r>
          </a:p>
        </p:txBody>
      </p:sp>
      <p:sp>
        <p:nvSpPr>
          <p:cNvPr id="9" name="">
            <a:extLst xmlns:a="http://schemas.openxmlformats.org/drawingml/2006/main">
              <a:ext uri="{FF2B5EF4-FFF2-40B4-BE49-F238E27FC236}">
                <a16:creationId xmlns:a16="http://schemas.microsoft.com/office/drawing/2014/main" id="{2B561A00-F2ED-46FB-9D93-63A3E1AD5803}"/>
              </a:ext>
            </a:extLst>
          </p:cNvPr>
          <p:cNvSpPr>
            <a:spLocks xmlns:a="http://schemas.openxmlformats.org/drawingml/2006/main" noGrp="1"/>
          </p:cNvSpPr>
          <p:nvPr/>
        </p:nvSpPr>
        <p:spPr>
          <a:xfrm xmlns:a="http://schemas.openxmlformats.org/drawingml/2006/main">
            <a:off x="971550" y="3810000"/>
            <a:ext cx="4000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12.17% net CAGR</a:t>
            </a:r>
          </a:p>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-15.45% max drawdown</a:t>
            </a:r>
          </a:p>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507 causal intervals</a:t>
            </a:r>
          </a:p>
        </p:txBody>
      </p:sp>
      <p:sp>
        <p:nvSpPr>
          <p:cNvPr id="10" name="">
            <a:extLst xmlns:a="http://schemas.openxmlformats.org/drawingml/2006/main">
              <a:ext uri="{FF2B5EF4-FFF2-40B4-BE49-F238E27FC236}">
                <a16:creationId xmlns:a16="http://schemas.microsoft.com/office/drawing/2014/main" id="{D80FDF2D-786A-4D34-8C53-03F5531FEFAA}"/>
              </a:ext>
            </a:extLst>
          </p:cNvPr>
          <p:cNvSpPr>
            <a:spLocks xmlns:a="http://schemas.openxmlformats.org/drawingml/2006/main" noGrp="1"/>
          </p:cNvSpPr>
          <p:nvPr/>
        </p:nvSpPr>
        <p:spPr>
          <a:xfrm xmlns:a="http://schemas.openxmlformats.org/drawingml/2006/main">
            <a:off x="6191250" y="1790700"/>
            <a:ext cx="4953000" cy="32575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1" name="">
            <a:extLst xmlns:a="http://schemas.openxmlformats.org/drawingml/2006/main">
              <a:ext uri="{FF2B5EF4-FFF2-40B4-BE49-F238E27FC236}">
                <a16:creationId xmlns:a16="http://schemas.microsoft.com/office/drawing/2014/main" id="{E4150C52-9BF1-4205-AAE7-8463BBDA6FD9}"/>
              </a:ext>
            </a:extLst>
          </p:cNvPr>
          <p:cNvSpPr>
            <a:spLocks xmlns:a="http://schemas.openxmlformats.org/drawingml/2006/main" noGrp="1"/>
          </p:cNvSpPr>
          <p:nvPr/>
        </p:nvSpPr>
        <p:spPr>
          <a:xfrm xmlns:a="http://schemas.openxmlformats.org/drawingml/2006/main">
            <a:off x="6534150" y="21145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C8553D"/>
                </a:solidFill>
                <a:latin typeface="Arial"/>
                <a:ea typeface="Arial"/>
                <a:cs typeface="Arial"/>
              </a:defRPr>
            </a:pPr>
            <a:r>
              <a:rPr sz="1275" b="1">
                <a:solidFill>
                  <a:srgbClr val="C8553D"/>
                </a:solidFill>
                <a:latin typeface="Arial"/>
                <a:ea typeface="Arial"/>
                <a:cs typeface="Arial"/>
              </a:rPr>
              <a:t>ATTRIBUTION · DUAL LAYER</a:t>
            </a:r>
          </a:p>
        </p:txBody>
      </p:sp>
      <p:sp>
        <p:nvSpPr>
          <p:cNvPr id="12" name="">
            <a:extLst xmlns:a="http://schemas.openxmlformats.org/drawingml/2006/main">
              <a:ext uri="{FF2B5EF4-FFF2-40B4-BE49-F238E27FC236}">
                <a16:creationId xmlns:a16="http://schemas.microsoft.com/office/drawing/2014/main" id="{0606DC9E-2BF6-4A3D-8AA4-5B9D11332D44}"/>
              </a:ext>
            </a:extLst>
          </p:cNvPr>
          <p:cNvSpPr>
            <a:spLocks xmlns:a="http://schemas.openxmlformats.org/drawingml/2006/main" noGrp="1"/>
          </p:cNvSpPr>
          <p:nvPr/>
        </p:nvSpPr>
        <p:spPr>
          <a:xfrm xmlns:a="http://schemas.openxmlformats.org/drawingml/2006/main">
            <a:off x="6534150" y="272415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050" b="1">
                <a:solidFill>
                  <a:srgbClr val="C8553D"/>
                </a:solidFill>
                <a:latin typeface="Arial"/>
                <a:ea typeface="Arial"/>
                <a:cs typeface="Arial"/>
              </a:defRPr>
            </a:pPr>
            <a:r>
              <a:rPr sz="4050" b="1">
                <a:solidFill>
                  <a:srgbClr val="C8553D"/>
                </a:solidFill>
                <a:latin typeface="Arial"/>
                <a:ea typeface="Arial"/>
                <a:cs typeface="Arial"/>
              </a:rPr>
              <a:t>≈ 0</a:t>
            </a:r>
          </a:p>
        </p:txBody>
      </p:sp>
      <p:sp>
        <p:nvSpPr>
          <p:cNvPr id="13" name="">
            <a:extLst xmlns:a="http://schemas.openxmlformats.org/drawingml/2006/main">
              <a:ext uri="{FF2B5EF4-FFF2-40B4-BE49-F238E27FC236}">
                <a16:creationId xmlns:a16="http://schemas.microsoft.com/office/drawing/2014/main" id="{03283D39-FBEA-479D-88E1-46F1F4C330B5}"/>
              </a:ext>
            </a:extLst>
          </p:cNvPr>
          <p:cNvSpPr>
            <a:spLocks xmlns:a="http://schemas.openxmlformats.org/drawingml/2006/main" noGrp="1"/>
          </p:cNvSpPr>
          <p:nvPr/>
        </p:nvSpPr>
        <p:spPr>
          <a:xfrm xmlns:a="http://schemas.openxmlformats.org/drawingml/2006/main">
            <a:off x="6534150" y="3429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incremental value</a:t>
            </a:r>
          </a:p>
        </p:txBody>
      </p:sp>
      <p:sp>
        <p:nvSpPr>
          <p:cNvPr id="14" name="">
            <a:extLst xmlns:a="http://schemas.openxmlformats.org/drawingml/2006/main">
              <a:ext uri="{FF2B5EF4-FFF2-40B4-BE49-F238E27FC236}">
                <a16:creationId xmlns:a16="http://schemas.microsoft.com/office/drawing/2014/main" id="{DB7B3C09-EAFE-41D8-880B-D0BE56096F33}"/>
              </a:ext>
            </a:extLst>
          </p:cNvPr>
          <p:cNvSpPr>
            <a:spLocks xmlns:a="http://schemas.openxmlformats.org/drawingml/2006/main" noGrp="1"/>
          </p:cNvSpPr>
          <p:nvPr/>
        </p:nvSpPr>
        <p:spPr>
          <a:xfrm xmlns:a="http://schemas.openxmlformats.org/drawingml/2006/main">
            <a:off x="6534150" y="400050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12.17% vs 12.18% CAGR</a:t>
            </a:r>
          </a:p>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Same -15.45% max drawdown</a:t>
            </a:r>
          </a:p>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97.44% average exposure</a:t>
            </a:r>
          </a:p>
        </p:txBody>
      </p:sp>
      <p:sp>
        <p:nvSpPr>
          <p:cNvPr id="15" name="">
            <a:extLst xmlns:a="http://schemas.openxmlformats.org/drawingml/2006/main">
              <a:ext uri="{FF2B5EF4-FFF2-40B4-BE49-F238E27FC236}">
                <a16:creationId xmlns:a16="http://schemas.microsoft.com/office/drawing/2014/main" id="{0DF58B95-FF34-44E3-BD69-0887709C26B4}"/>
              </a:ext>
            </a:extLst>
          </p:cNvPr>
          <p:cNvSpPr>
            <a:spLocks xmlns:a="http://schemas.openxmlformats.org/drawingml/2006/main" noGrp="1"/>
          </p:cNvSpPr>
          <p:nvPr/>
        </p:nvSpPr>
        <p:spPr>
          <a:xfrm xmlns:a="http://schemas.openxmlformats.org/drawingml/2006/main">
            <a:off x="2133600" y="5505450"/>
            <a:ext cx="792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a:solidFill>
                  <a:srgbClr val="101820"/>
                </a:solidFill>
                <a:latin typeface="Arial"/>
                <a:ea typeface="Arial"/>
                <a:cs typeface="Arial"/>
              </a:defRPr>
            </a:pPr>
            <a:r>
              <a:rPr sz="2175" b="1">
                <a:solidFill>
                  <a:srgbClr val="101820"/>
                </a:solidFill>
                <a:latin typeface="Arial"/>
                <a:ea typeface="Arial"/>
                <a:cs typeface="Arial"/>
              </a:rPr>
              <a:t>The attractive shape came from relative selection—not the absolute veto.</a:t>
            </a:r>
          </a:p>
        </p:txBody>
      </p:sp>
    </p:spTree>
    <p:extLst>
      <p:ext uri="{BB962C8B-B14F-4D97-AF65-F5344CB8AC3E}">
        <p14:creationId xmlns:p14="http://schemas.microsoft.com/office/powerpoint/2010/main" val="15038810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AA0F3C-FA14-482C-9911-54A24769116A}"/>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522D8FEC-18D3-4EAC-98CE-20AF9D03A3AC}"/>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SPY earned more; dual momentum surrendered less in drawdowns</a:t>
            </a:r>
          </a:p>
        </p:txBody>
      </p:sp>
      <p:sp>
        <p:nvSpPr>
          <p:cNvPr id="3" name="">
            <a:extLst xmlns:a="http://schemas.openxmlformats.org/drawingml/2006/main">
              <a:ext uri="{FF2B5EF4-FFF2-40B4-BE49-F238E27FC236}">
                <a16:creationId xmlns:a16="http://schemas.microsoft.com/office/drawing/2014/main" id="{21605544-2473-417D-B48F-9F8DF40D4FAF}"/>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944BF93-B836-4831-89CE-852C703D91AD}"/>
              </a:ext>
            </a:extLst>
          </p:cNvPr>
          <p:cNvSpPr>
            <a:spLocks xmlns:a="http://schemas.openxmlformats.org/drawingml/2006/main" noGrp="1"/>
          </p:cNvSpPr>
          <p:nvPr/>
        </p:nvSpPr>
        <p:spPr>
          <a:xfrm xmlns:a="http://schemas.openxmlformats.org/drawingml/2006/main">
            <a:off x="11010900" y="63246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DBF73623-95B1-48A7-A168-959D4ACF9EF6}"/>
              </a:ext>
            </a:extLst>
          </p:cNvPr>
          <p:cNvSpPr>
            <a:spLocks xmlns:a="http://schemas.openxmlformats.org/drawingml/2006/main" noGrp="1"/>
          </p:cNvSpPr>
          <p:nvPr/>
        </p:nvSpPr>
        <p:spPr>
          <a:xfrm xmlns:a="http://schemas.openxmlformats.org/drawingml/2006/main">
            <a:off x="8991600" y="1733550"/>
            <a:ext cx="2724150" cy="39052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7" name="">
            <a:extLst xmlns:a="http://schemas.openxmlformats.org/drawingml/2006/main">
              <a:ext uri="{FF2B5EF4-FFF2-40B4-BE49-F238E27FC236}">
                <a16:creationId xmlns:a16="http://schemas.microsoft.com/office/drawing/2014/main" id="{454D3BC9-AB19-4F57-985E-DDB05A7434C0}"/>
              </a:ext>
            </a:extLst>
          </p:cNvPr>
          <p:cNvSpPr>
            <a:spLocks xmlns:a="http://schemas.openxmlformats.org/drawingml/2006/main" noGrp="1"/>
          </p:cNvSpPr>
          <p:nvPr/>
        </p:nvSpPr>
        <p:spPr>
          <a:xfrm xmlns:a="http://schemas.openxmlformats.org/drawingml/2006/main">
            <a:off x="9258300" y="20193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SOURCE RULE</a:t>
            </a:r>
          </a:p>
        </p:txBody>
      </p:sp>
      <p:sp>
        <p:nvSpPr>
          <p:cNvPr id="8" name="">
            <a:extLst xmlns:a="http://schemas.openxmlformats.org/drawingml/2006/main">
              <a:ext uri="{FF2B5EF4-FFF2-40B4-BE49-F238E27FC236}">
                <a16:creationId xmlns:a16="http://schemas.microsoft.com/office/drawing/2014/main" id="{50CF5D67-77D5-4062-92DB-E9771F376463}"/>
              </a:ext>
            </a:extLst>
          </p:cNvPr>
          <p:cNvSpPr>
            <a:spLocks xmlns:a="http://schemas.openxmlformats.org/drawingml/2006/main" noGrp="1"/>
          </p:cNvSpPr>
          <p:nvPr/>
        </p:nvSpPr>
        <p:spPr>
          <a:xfrm xmlns:a="http://schemas.openxmlformats.org/drawingml/2006/main">
            <a:off x="9258300" y="25717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01820"/>
                </a:solidFill>
                <a:latin typeface="Arial"/>
                <a:ea typeface="Arial"/>
                <a:cs typeface="Arial"/>
              </a:defRPr>
            </a:pPr>
            <a:r>
              <a:rPr sz="3000" b="1">
                <a:solidFill>
                  <a:srgbClr val="101820"/>
                </a:solidFill>
                <a:latin typeface="Arial"/>
                <a:ea typeface="Arial"/>
                <a:cs typeface="Arial"/>
              </a:rPr>
              <a:t>12.17%</a:t>
            </a:r>
          </a:p>
        </p:txBody>
      </p:sp>
      <p:sp>
        <p:nvSpPr>
          <p:cNvPr id="9" name="">
            <a:extLst xmlns:a="http://schemas.openxmlformats.org/drawingml/2006/main">
              <a:ext uri="{FF2B5EF4-FFF2-40B4-BE49-F238E27FC236}">
                <a16:creationId xmlns:a16="http://schemas.microsoft.com/office/drawing/2014/main" id="{7C0B5D7F-B17A-4AC9-835E-6E44FD9128EC}"/>
              </a:ext>
            </a:extLst>
          </p:cNvPr>
          <p:cNvSpPr>
            <a:spLocks xmlns:a="http://schemas.openxmlformats.org/drawingml/2006/main" noGrp="1"/>
          </p:cNvSpPr>
          <p:nvPr/>
        </p:nvSpPr>
        <p:spPr>
          <a:xfrm xmlns:a="http://schemas.openxmlformats.org/drawingml/2006/main">
            <a:off x="9258300" y="3105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net CAGR</a:t>
            </a:r>
          </a:p>
        </p:txBody>
      </p:sp>
      <p:sp>
        <p:nvSpPr>
          <p:cNvPr id="10" name="">
            <a:extLst xmlns:a="http://schemas.openxmlformats.org/drawingml/2006/main">
              <a:ext uri="{FF2B5EF4-FFF2-40B4-BE49-F238E27FC236}">
                <a16:creationId xmlns:a16="http://schemas.microsoft.com/office/drawing/2014/main" id="{DE7E78EB-BFD1-417B-B781-C8666F0A80F8}"/>
              </a:ext>
            </a:extLst>
          </p:cNvPr>
          <p:cNvSpPr>
            <a:spLocks xmlns:a="http://schemas.openxmlformats.org/drawingml/2006/main" noGrp="1"/>
          </p:cNvSpPr>
          <p:nvPr/>
        </p:nvSpPr>
        <p:spPr>
          <a:xfrm xmlns:a="http://schemas.openxmlformats.org/drawingml/2006/main">
            <a:off x="9258300" y="37909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3D8DFF"/>
                </a:solidFill>
                <a:latin typeface="Arial"/>
                <a:ea typeface="Arial"/>
                <a:cs typeface="Arial"/>
              </a:defRPr>
            </a:pPr>
            <a:r>
              <a:rPr sz="3000" b="1">
                <a:solidFill>
                  <a:srgbClr val="3D8DFF"/>
                </a:solidFill>
                <a:latin typeface="Arial"/>
                <a:ea typeface="Arial"/>
                <a:cs typeface="Arial"/>
              </a:rPr>
              <a:t>-15.45%</a:t>
            </a:r>
          </a:p>
        </p:txBody>
      </p:sp>
      <p:sp>
        <p:nvSpPr>
          <p:cNvPr id="11" name="">
            <a:extLst xmlns:a="http://schemas.openxmlformats.org/drawingml/2006/main">
              <a:ext uri="{FF2B5EF4-FFF2-40B4-BE49-F238E27FC236}">
                <a16:creationId xmlns:a16="http://schemas.microsoft.com/office/drawing/2014/main" id="{5DFE562A-9915-489A-BC82-2F762B044604}"/>
              </a:ext>
            </a:extLst>
          </p:cNvPr>
          <p:cNvSpPr>
            <a:spLocks xmlns:a="http://schemas.openxmlformats.org/drawingml/2006/main" noGrp="1"/>
          </p:cNvSpPr>
          <p:nvPr/>
        </p:nvSpPr>
        <p:spPr>
          <a:xfrm xmlns:a="http://schemas.openxmlformats.org/drawingml/2006/main">
            <a:off x="9258300" y="4324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maximum drawdown</a:t>
            </a:r>
          </a:p>
        </p:txBody>
      </p:sp>
      <p:sp>
        <p:nvSpPr>
          <p:cNvPr id="12" name="">
            <a:extLst xmlns:a="http://schemas.openxmlformats.org/drawingml/2006/main">
              <a:ext uri="{FF2B5EF4-FFF2-40B4-BE49-F238E27FC236}">
                <a16:creationId xmlns:a16="http://schemas.microsoft.com/office/drawing/2014/main" id="{9A127473-A846-4BDC-AD98-EA1A2A6F11AD}"/>
              </a:ext>
            </a:extLst>
          </p:cNvPr>
          <p:cNvSpPr>
            <a:spLocks xmlns:a="http://schemas.openxmlformats.org/drawingml/2006/main" noGrp="1"/>
          </p:cNvSpPr>
          <p:nvPr/>
        </p:nvSpPr>
        <p:spPr>
          <a:xfrm xmlns:a="http://schemas.openxmlformats.org/drawingml/2006/main">
            <a:off x="9258300" y="49720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01820"/>
                </a:solidFill>
                <a:latin typeface="Arial"/>
                <a:ea typeface="Arial"/>
                <a:cs typeface="Arial"/>
              </a:defRPr>
            </a:pPr>
            <a:r>
              <a:rPr sz="1950" b="1">
                <a:solidFill>
                  <a:srgbClr val="101820"/>
                </a:solidFill>
                <a:latin typeface="Arial"/>
                <a:ea typeface="Arial"/>
                <a:cs typeface="Arial"/>
              </a:rPr>
              <a:t>3.05× ending wealth</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f43510b0ca94b09"/>
          <a:stretch xmlns:a="http://schemas.openxmlformats.org/drawingml/2006/main"/>
        </p:blipFill>
        <p:spPr>
          <a:xfrm xmlns:a="http://schemas.openxmlformats.org/drawingml/2006/main">
            <a:off x="460699" y="1562100"/>
            <a:ext cx="8222602" cy="4476750"/>
          </a:xfrm>
          <a:prstGeom xmlns:a="http://schemas.openxmlformats.org/drawingml/2006/main" prst="rect">
            <a:avLst/>
          </a:prstGeom>
        </p:spPr>
      </p:pic>
    </p:spTree>
    <p:extLst>
      <p:ext uri="{BB962C8B-B14F-4D97-AF65-F5344CB8AC3E}">
        <p14:creationId xmlns:p14="http://schemas.microsoft.com/office/powerpoint/2010/main" val="106391248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DB7632-9321-4B0D-B49B-BAF52F1D5F3F}"/>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4F6E0FE8-6C1B-4A13-9D2D-6E11399D4D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controls identify relative selection as the active ingredient</a:t>
            </a:r>
          </a:p>
        </p:txBody>
      </p:sp>
      <p:sp>
        <p:nvSpPr>
          <p:cNvPr id="3" name="">
            <a:extLst xmlns:a="http://schemas.openxmlformats.org/drawingml/2006/main">
              <a:ext uri="{FF2B5EF4-FFF2-40B4-BE49-F238E27FC236}">
                <a16:creationId xmlns:a16="http://schemas.microsoft.com/office/drawing/2014/main" id="{0E0B56DB-4E40-4B87-BA34-B1427431835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9465AD-88DC-48BC-BDAC-EBEFA9C8F7B5}"/>
              </a:ext>
            </a:extLst>
          </p:cNvPr>
          <p:cNvSpPr>
            <a:spLocks xmlns:a="http://schemas.openxmlformats.org/drawingml/2006/main" noGrp="1"/>
          </p:cNvSpPr>
          <p:nvPr/>
        </p:nvSpPr>
        <p:spPr>
          <a:xfrm xmlns:a="http://schemas.openxmlformats.org/drawingml/2006/main">
            <a:off x="11010900" y="63246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CD393174-0A3C-4E18-A0E5-CFFEAB42B506}"/>
              </a:ext>
            </a:extLst>
          </p:cNvPr>
          <p:cNvSpPr>
            <a:spLocks xmlns:a="http://schemas.openxmlformats.org/drawingml/2006/main" noGrp="1"/>
          </p:cNvSpPr>
          <p:nvPr/>
        </p:nvSpPr>
        <p:spPr>
          <a:xfrm xmlns:a="http://schemas.openxmlformats.org/drawingml/2006/main">
            <a:off x="666750" y="1752600"/>
            <a:ext cx="10858500" cy="10287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802C9A30-9CD1-4907-B5B7-2F6BE57885E8}"/>
              </a:ext>
            </a:extLst>
          </p:cNvPr>
          <p:cNvSpPr>
            <a:spLocks xmlns:a="http://schemas.openxmlformats.org/drawingml/2006/main" noGrp="1"/>
          </p:cNvSpPr>
          <p:nvPr/>
        </p:nvSpPr>
        <p:spPr>
          <a:xfrm xmlns:a="http://schemas.openxmlformats.org/drawingml/2006/main">
            <a:off x="952500" y="2000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2E7D5B"/>
                </a:solidFill>
                <a:latin typeface="Arial"/>
                <a:ea typeface="Arial"/>
                <a:cs typeface="Arial"/>
              </a:defRPr>
            </a:pPr>
            <a:r>
              <a:rPr sz="2025" b="1">
                <a:solidFill>
                  <a:srgbClr val="2E7D5B"/>
                </a:solidFill>
                <a:latin typeface="Arial"/>
                <a:ea typeface="Arial"/>
                <a:cs typeface="Arial"/>
              </a:rPr>
              <a:t>Relative-only</a:t>
            </a:r>
          </a:p>
        </p:txBody>
      </p:sp>
      <p:sp>
        <p:nvSpPr>
          <p:cNvPr id="7" name="">
            <a:extLst xmlns:a="http://schemas.openxmlformats.org/drawingml/2006/main">
              <a:ext uri="{FF2B5EF4-FFF2-40B4-BE49-F238E27FC236}">
                <a16:creationId xmlns:a16="http://schemas.microsoft.com/office/drawing/2014/main" id="{4C0B6826-C1CD-407B-B1BD-7E0FDA1C4296}"/>
              </a:ext>
            </a:extLst>
          </p:cNvPr>
          <p:cNvSpPr>
            <a:spLocks xmlns:a="http://schemas.openxmlformats.org/drawingml/2006/main" noGrp="1"/>
          </p:cNvSpPr>
          <p:nvPr/>
        </p:nvSpPr>
        <p:spPr>
          <a:xfrm xmlns:a="http://schemas.openxmlformats.org/drawingml/2006/main">
            <a:off x="3276600" y="19431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Source and relative-only were virtually identical: 12.17% vs 12.18% CAGR and the same -15.45% drawdown.</a:t>
            </a:r>
          </a:p>
        </p:txBody>
      </p:sp>
      <p:sp>
        <p:nvSpPr>
          <p:cNvPr id="8" name="">
            <a:extLst xmlns:a="http://schemas.openxmlformats.org/drawingml/2006/main">
              <a:ext uri="{FF2B5EF4-FFF2-40B4-BE49-F238E27FC236}">
                <a16:creationId xmlns:a16="http://schemas.microsoft.com/office/drawing/2014/main" id="{3AFAF26A-2C8D-481A-8C17-B8A9A3967177}"/>
              </a:ext>
            </a:extLst>
          </p:cNvPr>
          <p:cNvSpPr>
            <a:spLocks xmlns:a="http://schemas.openxmlformats.org/drawingml/2006/main" noGrp="1"/>
          </p:cNvSpPr>
          <p:nvPr/>
        </p:nvSpPr>
        <p:spPr>
          <a:xfrm xmlns:a="http://schemas.openxmlformats.org/drawingml/2006/main">
            <a:off x="666750" y="3048000"/>
            <a:ext cx="10858500" cy="10287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9" name="">
            <a:extLst xmlns:a="http://schemas.openxmlformats.org/drawingml/2006/main">
              <a:ext uri="{FF2B5EF4-FFF2-40B4-BE49-F238E27FC236}">
                <a16:creationId xmlns:a16="http://schemas.microsoft.com/office/drawing/2014/main" id="{DDE8FBE1-8020-4B7A-932E-FC73716C919B}"/>
              </a:ext>
            </a:extLst>
          </p:cNvPr>
          <p:cNvSpPr>
            <a:spLocks xmlns:a="http://schemas.openxmlformats.org/drawingml/2006/main" noGrp="1"/>
          </p:cNvSpPr>
          <p:nvPr/>
        </p:nvSpPr>
        <p:spPr>
          <a:xfrm xmlns:a="http://schemas.openxmlformats.org/drawingml/2006/main">
            <a:off x="952500" y="3295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C8553D"/>
                </a:solidFill>
                <a:latin typeface="Arial"/>
                <a:ea typeface="Arial"/>
                <a:cs typeface="Arial"/>
              </a:defRPr>
            </a:pPr>
            <a:r>
              <a:rPr sz="2025" b="1">
                <a:solidFill>
                  <a:srgbClr val="C8553D"/>
                </a:solidFill>
                <a:latin typeface="Arial"/>
                <a:ea typeface="Arial"/>
                <a:cs typeface="Arial"/>
              </a:rPr>
              <a:t>SPY ownership</a:t>
            </a:r>
          </a:p>
        </p:txBody>
      </p:sp>
      <p:sp>
        <p:nvSpPr>
          <p:cNvPr id="10" name="">
            <a:extLst xmlns:a="http://schemas.openxmlformats.org/drawingml/2006/main">
              <a:ext uri="{FF2B5EF4-FFF2-40B4-BE49-F238E27FC236}">
                <a16:creationId xmlns:a16="http://schemas.microsoft.com/office/drawing/2014/main" id="{E6DA919C-47F4-4345-87E2-1F6DF9D0EC90}"/>
              </a:ext>
            </a:extLst>
          </p:cNvPr>
          <p:cNvSpPr>
            <a:spLocks xmlns:a="http://schemas.openxmlformats.org/drawingml/2006/main" noGrp="1"/>
          </p:cNvSpPr>
          <p:nvPr/>
        </p:nvSpPr>
        <p:spPr>
          <a:xfrm xmlns:a="http://schemas.openxmlformats.org/drawingml/2006/main">
            <a:off x="3276600" y="32385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SPY compounded faster at 14.36% CAGR, but suffered a much deeper -29.16% maximum drawdown.</a:t>
            </a:r>
          </a:p>
        </p:txBody>
      </p:sp>
      <p:sp>
        <p:nvSpPr>
          <p:cNvPr id="11" name="">
            <a:extLst xmlns:a="http://schemas.openxmlformats.org/drawingml/2006/main">
              <a:ext uri="{FF2B5EF4-FFF2-40B4-BE49-F238E27FC236}">
                <a16:creationId xmlns:a16="http://schemas.microsoft.com/office/drawing/2014/main" id="{0879E259-AD91-4B41-8E67-E5334F74BAB8}"/>
              </a:ext>
            </a:extLst>
          </p:cNvPr>
          <p:cNvSpPr>
            <a:spLocks xmlns:a="http://schemas.openxmlformats.org/drawingml/2006/main" noGrp="1"/>
          </p:cNvSpPr>
          <p:nvPr/>
        </p:nvSpPr>
        <p:spPr>
          <a:xfrm xmlns:a="http://schemas.openxmlformats.org/drawingml/2006/main">
            <a:off x="666750" y="4343400"/>
            <a:ext cx="10858500" cy="1028700"/>
          </a:xfrm>
          <a:prstGeom xmlns:a="http://schemas.openxmlformats.org/drawingml/2006/main" prst="rect">
            <a:avLst/>
          </a:prstGeom>
          <a:solidFill xmlns:a="http://schemas.openxmlformats.org/drawingml/2006/main">
            <a:srgbClr val="EDEDED"/>
          </a:solidFill>
          <a:ln xmlns:a="http://schemas.openxmlformats.org/drawingml/2006/main" w="9525">
            <a:solidFill>
              <a:srgbClr val="52616B"/>
            </a:solidFill>
            <a:prstDash val="solid"/>
          </a:ln>
        </p:spPr>
      </p:sp>
      <p:sp>
        <p:nvSpPr>
          <p:cNvPr id="12" name="">
            <a:extLst xmlns:a="http://schemas.openxmlformats.org/drawingml/2006/main">
              <a:ext uri="{FF2B5EF4-FFF2-40B4-BE49-F238E27FC236}">
                <a16:creationId xmlns:a16="http://schemas.microsoft.com/office/drawing/2014/main" id="{FE0E70E3-6874-4441-9FD1-1060221212D9}"/>
              </a:ext>
            </a:extLst>
          </p:cNvPr>
          <p:cNvSpPr>
            <a:spLocks xmlns:a="http://schemas.openxmlformats.org/drawingml/2006/main" noGrp="1"/>
          </p:cNvSpPr>
          <p:nvPr/>
        </p:nvSpPr>
        <p:spPr>
          <a:xfrm xmlns:a="http://schemas.openxmlformats.org/drawingml/2006/main">
            <a:off x="952500" y="4591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52616B"/>
                </a:solidFill>
                <a:latin typeface="Arial"/>
                <a:ea typeface="Arial"/>
                <a:cs typeface="Arial"/>
              </a:defRPr>
            </a:pPr>
            <a:r>
              <a:rPr sz="2025" b="1">
                <a:solidFill>
                  <a:srgbClr val="52616B"/>
                </a:solidFill>
                <a:latin typeface="Arial"/>
                <a:ea typeface="Arial"/>
                <a:cs typeface="Arial"/>
              </a:rPr>
              <a:t>Equal-weight</a:t>
            </a:r>
          </a:p>
        </p:txBody>
      </p:sp>
      <p:sp>
        <p:nvSpPr>
          <p:cNvPr id="13" name="">
            <a:extLst xmlns:a="http://schemas.openxmlformats.org/drawingml/2006/main">
              <a:ext uri="{FF2B5EF4-FFF2-40B4-BE49-F238E27FC236}">
                <a16:creationId xmlns:a16="http://schemas.microsoft.com/office/drawing/2014/main" id="{7D88D2F7-BBA9-4B06-83BF-EF6C40360B55}"/>
              </a:ext>
            </a:extLst>
          </p:cNvPr>
          <p:cNvSpPr>
            <a:spLocks xmlns:a="http://schemas.openxmlformats.org/drawingml/2006/main" noGrp="1"/>
          </p:cNvSpPr>
          <p:nvPr/>
        </p:nvSpPr>
        <p:spPr>
          <a:xfrm xmlns:a="http://schemas.openxmlformats.org/drawingml/2006/main">
            <a:off x="3276600" y="45339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Source led by 2.90 CAGR points and cut drawdown by 5.33 points; the weekly-difference interval still crossed zero.</a:t>
            </a:r>
          </a:p>
        </p:txBody>
      </p:sp>
      <p:sp>
        <p:nvSpPr>
          <p:cNvPr id="14" name="">
            <a:extLst xmlns:a="http://schemas.openxmlformats.org/drawingml/2006/main">
              <a:ext uri="{FF2B5EF4-FFF2-40B4-BE49-F238E27FC236}">
                <a16:creationId xmlns:a16="http://schemas.microsoft.com/office/drawing/2014/main" id="{F7E3D076-54D1-4B3D-8F4A-D11630B25FFC}"/>
              </a:ext>
            </a:extLst>
          </p:cNvPr>
          <p:cNvSpPr>
            <a:spLocks xmlns:a="http://schemas.openxmlformats.org/drawingml/2006/main" noGrp="1"/>
          </p:cNvSpPr>
          <p:nvPr/>
        </p:nvSpPr>
        <p:spPr>
          <a:xfrm xmlns:a="http://schemas.openxmlformats.org/drawingml/2006/main">
            <a:off x="2114550" y="5753100"/>
            <a:ext cx="7962900" cy="4953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FF7807EE-5E9A-4AC4-A3F2-FA1CED7A80A8}"/>
              </a:ext>
            </a:extLst>
          </p:cNvPr>
          <p:cNvSpPr>
            <a:spLocks xmlns:a="http://schemas.openxmlformats.org/drawingml/2006/main" noGrp="1"/>
          </p:cNvSpPr>
          <p:nvPr/>
        </p:nvSpPr>
        <p:spPr>
          <a:xfrm xmlns:a="http://schemas.openxmlformats.org/drawingml/2006/main">
            <a:off x="2343150" y="57531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3D8DFF"/>
                </a:solidFill>
                <a:latin typeface="Arial"/>
                <a:ea typeface="Arial"/>
                <a:cs typeface="Arial"/>
              </a:defRPr>
            </a:pPr>
            <a:r>
              <a:rPr sz="1350" b="1">
                <a:solidFill>
                  <a:srgbClr val="3D8DFF"/>
                </a:solidFill>
                <a:latin typeface="Arial"/>
                <a:ea typeface="Arial"/>
                <a:cs typeface="Arial"/>
              </a:rPr>
              <a:t>The clearest win is risk shaping—not demonstrated ownership outperformance.</a:t>
            </a:r>
          </a:p>
        </p:txBody>
      </p:sp>
    </p:spTree>
    <p:extLst>
      <p:ext uri="{BB962C8B-B14F-4D97-AF65-F5344CB8AC3E}">
        <p14:creationId xmlns:p14="http://schemas.microsoft.com/office/powerpoint/2010/main" val="7339180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B7BB28-C5CF-47BA-A918-FA17029EB44A}"/>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8C401559-67C5-4215-B579-93FC871FC00D}"/>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strategy bought a smoother path—not the highest return</a:t>
            </a:r>
          </a:p>
        </p:txBody>
      </p:sp>
      <p:sp>
        <p:nvSpPr>
          <p:cNvPr id="3" name="">
            <a:extLst xmlns:a="http://schemas.openxmlformats.org/drawingml/2006/main">
              <a:ext uri="{FF2B5EF4-FFF2-40B4-BE49-F238E27FC236}">
                <a16:creationId xmlns:a16="http://schemas.microsoft.com/office/drawing/2014/main" id="{FE913BAC-F3B9-4338-8958-15CBEBB596BB}"/>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0D32FF2-05B5-4DF6-BBF4-B1464DC9B66A}"/>
              </a:ext>
            </a:extLst>
          </p:cNvPr>
          <p:cNvSpPr>
            <a:spLocks xmlns:a="http://schemas.openxmlformats.org/drawingml/2006/main" noGrp="1"/>
          </p:cNvSpPr>
          <p:nvPr/>
        </p:nvSpPr>
        <p:spPr>
          <a:xfrm xmlns:a="http://schemas.openxmlformats.org/drawingml/2006/main">
            <a:off x="11372850" y="63246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2616B"/>
                </a:solidFill>
                <a:latin typeface="Arial"/>
                <a:ea typeface="Arial"/>
                <a:cs typeface="Arial"/>
              </a:defRPr>
            </a:pPr>
            <a:r>
              <a:rPr sz="1200" b="0">
                <a:solidFill>
                  <a:srgbClr val="52616B"/>
                </a:solidFill>
                <a:latin typeface="Arial"/>
                <a:ea typeface="Arial"/>
                <a:cs typeface="Arial"/>
              </a:rPr>
              <a:t>22</a:t>
            </a:r>
          </a:p>
        </p:txBody>
      </p:sp>
      <p:sp>
        <p:nvSpPr>
          <p:cNvPr id="6" name="">
            <a:extLst xmlns:a="http://schemas.openxmlformats.org/drawingml/2006/main">
              <a:ext uri="{FF2B5EF4-FFF2-40B4-BE49-F238E27FC236}">
                <a16:creationId xmlns:a16="http://schemas.microsoft.com/office/drawing/2014/main" id="{8B7E846F-BE01-42E8-9EBB-9EA3FC7567F0}"/>
              </a:ext>
            </a:extLst>
          </p:cNvPr>
          <p:cNvSpPr>
            <a:spLocks xmlns:a="http://schemas.openxmlformats.org/drawingml/2006/main" noGrp="1"/>
          </p:cNvSpPr>
          <p:nvPr/>
        </p:nvSpPr>
        <p:spPr>
          <a:xfrm xmlns:a="http://schemas.openxmlformats.org/drawingml/2006/main">
            <a:off x="8153400" y="1695450"/>
            <a:ext cx="3429000" cy="40576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7" name="">
            <a:extLst xmlns:a="http://schemas.openxmlformats.org/drawingml/2006/main">
              <a:ext uri="{FF2B5EF4-FFF2-40B4-BE49-F238E27FC236}">
                <a16:creationId xmlns:a16="http://schemas.microsoft.com/office/drawing/2014/main" id="{7A48CFB1-8F2F-43AD-84B5-5B62F4FCE8D1}"/>
              </a:ext>
            </a:extLst>
          </p:cNvPr>
          <p:cNvSpPr>
            <a:spLocks xmlns:a="http://schemas.openxmlformats.org/drawingml/2006/main" noGrp="1"/>
          </p:cNvSpPr>
          <p:nvPr/>
        </p:nvSpPr>
        <p:spPr>
          <a:xfrm xmlns:a="http://schemas.openxmlformats.org/drawingml/2006/main">
            <a:off x="8496300" y="20002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RISK / RETURN</a:t>
            </a:r>
          </a:p>
        </p:txBody>
      </p:sp>
      <p:sp>
        <p:nvSpPr>
          <p:cNvPr id="8" name="">
            <a:extLst xmlns:a="http://schemas.openxmlformats.org/drawingml/2006/main">
              <a:ext uri="{FF2B5EF4-FFF2-40B4-BE49-F238E27FC236}">
                <a16:creationId xmlns:a16="http://schemas.microsoft.com/office/drawing/2014/main" id="{DC731ED7-5F85-42CB-A69F-0889CEA3331A}"/>
              </a:ext>
            </a:extLst>
          </p:cNvPr>
          <p:cNvSpPr>
            <a:spLocks xmlns:a="http://schemas.openxmlformats.org/drawingml/2006/main" noGrp="1"/>
          </p:cNvSpPr>
          <p:nvPr/>
        </p:nvSpPr>
        <p:spPr>
          <a:xfrm xmlns:a="http://schemas.openxmlformats.org/drawingml/2006/main">
            <a:off x="8496300" y="25336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3D8DFF"/>
                </a:solidFill>
                <a:latin typeface="Arial"/>
                <a:ea typeface="Arial"/>
                <a:cs typeface="Arial"/>
              </a:defRPr>
            </a:pPr>
            <a:r>
              <a:rPr sz="3375" b="1">
                <a:solidFill>
                  <a:srgbClr val="3D8DFF"/>
                </a:solidFill>
                <a:latin typeface="Arial"/>
                <a:ea typeface="Arial"/>
                <a:cs typeface="Arial"/>
              </a:rPr>
              <a:t>-13.7 pp</a:t>
            </a:r>
          </a:p>
        </p:txBody>
      </p:sp>
      <p:sp>
        <p:nvSpPr>
          <p:cNvPr id="9" name="">
            <a:extLst xmlns:a="http://schemas.openxmlformats.org/drawingml/2006/main">
              <a:ext uri="{FF2B5EF4-FFF2-40B4-BE49-F238E27FC236}">
                <a16:creationId xmlns:a16="http://schemas.microsoft.com/office/drawing/2014/main" id="{406DC0E8-33AD-4797-87D6-8B560493E789}"/>
              </a:ext>
            </a:extLst>
          </p:cNvPr>
          <p:cNvSpPr>
            <a:spLocks xmlns:a="http://schemas.openxmlformats.org/drawingml/2006/main" noGrp="1"/>
          </p:cNvSpPr>
          <p:nvPr/>
        </p:nvSpPr>
        <p:spPr>
          <a:xfrm xmlns:a="http://schemas.openxmlformats.org/drawingml/2006/main">
            <a:off x="8496300" y="31051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max-drawdown gap vs SPY</a:t>
            </a:r>
          </a:p>
        </p:txBody>
      </p:sp>
      <p:sp>
        <p:nvSpPr>
          <p:cNvPr id="10" name="">
            <a:extLst xmlns:a="http://schemas.openxmlformats.org/drawingml/2006/main">
              <a:ext uri="{FF2B5EF4-FFF2-40B4-BE49-F238E27FC236}">
                <a16:creationId xmlns:a16="http://schemas.microsoft.com/office/drawing/2014/main" id="{A0EB914A-A236-47F4-91E9-BA72FF10432A}"/>
              </a:ext>
            </a:extLst>
          </p:cNvPr>
          <p:cNvSpPr>
            <a:spLocks xmlns:a="http://schemas.openxmlformats.org/drawingml/2006/main" noGrp="1"/>
          </p:cNvSpPr>
          <p:nvPr/>
        </p:nvSpPr>
        <p:spPr>
          <a:xfrm xmlns:a="http://schemas.openxmlformats.org/drawingml/2006/main">
            <a:off x="8496300" y="3714750"/>
            <a:ext cx="2686050" cy="0"/>
          </a:xfrm>
          <a:prstGeom xmlns:a="http://schemas.openxmlformats.org/drawingml/2006/main" prst="line">
            <a:avLst/>
          </a:prstGeom>
          <a:noFill xmlns:a="http://schemas.openxmlformats.org/drawingml/2006/main"/>
          <a:ln xmlns:a="http://schemas.openxmlformats.org/drawingml/2006/main" w="19050">
            <a:solidFill>
              <a:srgbClr val="6DCBF4"/>
            </a:solidFill>
            <a:prstDash val="solid"/>
          </a:ln>
        </p:spPr>
      </p:sp>
      <p:sp>
        <p:nvSpPr>
          <p:cNvPr id="11" name="">
            <a:extLst xmlns:a="http://schemas.openxmlformats.org/drawingml/2006/main">
              <a:ext uri="{FF2B5EF4-FFF2-40B4-BE49-F238E27FC236}">
                <a16:creationId xmlns:a16="http://schemas.microsoft.com/office/drawing/2014/main" id="{63C90848-627F-4872-9F08-0BCEBC58FC88}"/>
              </a:ext>
            </a:extLst>
          </p:cNvPr>
          <p:cNvSpPr>
            <a:spLocks xmlns:a="http://schemas.openxmlformats.org/drawingml/2006/main" noGrp="1"/>
          </p:cNvSpPr>
          <p:nvPr/>
        </p:nvSpPr>
        <p:spPr>
          <a:xfrm xmlns:a="http://schemas.openxmlformats.org/drawingml/2006/main">
            <a:off x="8496300" y="3962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01820"/>
                </a:solidFill>
                <a:latin typeface="Arial"/>
                <a:ea typeface="Arial"/>
                <a:cs typeface="Arial"/>
              </a:defRPr>
            </a:pPr>
            <a:r>
              <a:rPr sz="1575" b="1">
                <a:solidFill>
                  <a:srgbClr val="101820"/>
                </a:solidFill>
                <a:latin typeface="Arial"/>
                <a:ea typeface="Arial"/>
                <a:cs typeface="Arial"/>
              </a:rPr>
              <a:t>SPY still led</a:t>
            </a:r>
          </a:p>
        </p:txBody>
      </p:sp>
      <p:sp>
        <p:nvSpPr>
          <p:cNvPr id="12" name="">
            <a:extLst xmlns:a="http://schemas.openxmlformats.org/drawingml/2006/main">
              <a:ext uri="{FF2B5EF4-FFF2-40B4-BE49-F238E27FC236}">
                <a16:creationId xmlns:a16="http://schemas.microsoft.com/office/drawing/2014/main" id="{70090FDC-931D-4B56-AD5D-C71AA6FC29F9}"/>
              </a:ext>
            </a:extLst>
          </p:cNvPr>
          <p:cNvSpPr>
            <a:spLocks xmlns:a="http://schemas.openxmlformats.org/drawingml/2006/main" noGrp="1"/>
          </p:cNvSpPr>
          <p:nvPr/>
        </p:nvSpPr>
        <p:spPr>
          <a:xfrm xmlns:a="http://schemas.openxmlformats.org/drawingml/2006/main">
            <a:off x="8496300" y="4419600"/>
            <a:ext cx="2686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14.36% CAGR</a:t>
            </a:r>
          </a:p>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vs source 12.17%</a:t>
            </a:r>
          </a:p>
        </p:txBody>
      </p:sp>
      <p:sp>
        <p:nvSpPr>
          <p:cNvPr id="13" name="">
            <a:extLst xmlns:a="http://schemas.openxmlformats.org/drawingml/2006/main">
              <a:ext uri="{FF2B5EF4-FFF2-40B4-BE49-F238E27FC236}">
                <a16:creationId xmlns:a16="http://schemas.microsoft.com/office/drawing/2014/main" id="{F166845D-8E26-4804-AAA3-D76C79B2D4FB}"/>
              </a:ext>
            </a:extLst>
          </p:cNvPr>
          <p:cNvSpPr>
            <a:spLocks xmlns:a="http://schemas.openxmlformats.org/drawingml/2006/main" noGrp="1"/>
          </p:cNvSpPr>
          <p:nvPr/>
        </p:nvSpPr>
        <p:spPr>
          <a:xfrm xmlns:a="http://schemas.openxmlformats.org/drawingml/2006/main">
            <a:off x="1066800" y="58864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01820"/>
                </a:solidFill>
                <a:latin typeface="Arial"/>
                <a:ea typeface="Arial"/>
                <a:cs typeface="Arial"/>
              </a:defRPr>
            </a:pPr>
            <a:r>
              <a:rPr sz="1800" b="1">
                <a:solidFill>
                  <a:srgbClr val="101820"/>
                </a:solidFill>
                <a:latin typeface="Arial"/>
                <a:ea typeface="Arial"/>
                <a:cs typeface="Arial"/>
              </a:rPr>
              <a:t>Whether that tradeoff is valuable depends on the operator’s objective.</a:t>
            </a:r>
          </a:p>
        </p:txBody>
      </p:sp>
      <p:sp>
        <p:nvSpPr>
          <p:cNvPr id="16" name="">
            <a:extLst xmlns:a="http://schemas.openxmlformats.org/drawingml/2006/main">
              <a:ext uri="{FF2B5EF4-FFF2-40B4-BE49-F238E27FC236}">
                <a16:creationId xmlns:a16="http://schemas.microsoft.com/office/drawing/2014/main" id="{CBB05286-4B59-4C91-A588-5CD09F062F89}"/>
              </a:ext>
            </a:extLst>
          </p:cNvPr>
          <p:cNvSpPr>
            <a:spLocks xmlns:a="http://schemas.openxmlformats.org/drawingml/2006/main" noGrp="1"/>
          </p:cNvSpPr>
          <p:nvPr/>
        </p:nvSpPr>
        <p:spPr>
          <a:xfrm xmlns:a="http://schemas.openxmlformats.org/drawingml/2006/main">
            <a:off x="11144250" y="6324600"/>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58f8bc329064bf7"/>
          <a:stretch xmlns:a="http://schemas.openxmlformats.org/drawingml/2006/main"/>
        </p:blipFill>
        <p:spPr>
          <a:xfrm xmlns:a="http://schemas.openxmlformats.org/drawingml/2006/main">
            <a:off x="818956" y="1657350"/>
            <a:ext cx="6686939" cy="4095750"/>
          </a:xfrm>
          <a:prstGeom xmlns:a="http://schemas.openxmlformats.org/drawingml/2006/main" prst="rect">
            <a:avLst/>
          </a:prstGeom>
        </p:spPr>
      </p:pic>
    </p:spTree>
    <p:extLst>
      <p:ext uri="{BB962C8B-B14F-4D97-AF65-F5344CB8AC3E}">
        <p14:creationId xmlns:p14="http://schemas.microsoft.com/office/powerpoint/2010/main" val="10196637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DB7632-9321-4B0D-B49B-BAF52F1D5F3F}"/>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4F6E0FE8-6C1B-4A13-9D2D-6E11399D4D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Performance was broad through time—but still mirrored relative-only</a:t>
            </a:r>
          </a:p>
        </p:txBody>
      </p:sp>
      <p:sp>
        <p:nvSpPr>
          <p:cNvPr id="3" name="">
            <a:extLst xmlns:a="http://schemas.openxmlformats.org/drawingml/2006/main">
              <a:ext uri="{FF2B5EF4-FFF2-40B4-BE49-F238E27FC236}">
                <a16:creationId xmlns:a16="http://schemas.microsoft.com/office/drawing/2014/main" id="{0E0B56DB-4E40-4B87-BA34-B1427431835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9465AD-88DC-48BC-BDAC-EBEFA9C8F7B5}"/>
              </a:ext>
            </a:extLst>
          </p:cNvPr>
          <p:cNvSpPr>
            <a:spLocks xmlns:a="http://schemas.openxmlformats.org/drawingml/2006/main" noGrp="1"/>
          </p:cNvSpPr>
          <p:nvPr/>
        </p:nvSpPr>
        <p:spPr>
          <a:xfrm xmlns:a="http://schemas.openxmlformats.org/drawingml/2006/main">
            <a:off x="11010900" y="63246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CD393174-0A3C-4E18-A0E5-CFFEAB42B506}"/>
              </a:ext>
            </a:extLst>
          </p:cNvPr>
          <p:cNvSpPr>
            <a:spLocks xmlns:a="http://schemas.openxmlformats.org/drawingml/2006/main" noGrp="1"/>
          </p:cNvSpPr>
          <p:nvPr/>
        </p:nvSpPr>
        <p:spPr>
          <a:xfrm xmlns:a="http://schemas.openxmlformats.org/drawingml/2006/main">
            <a:off x="666750" y="1752600"/>
            <a:ext cx="10858500" cy="10287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802C9A30-9CD1-4907-B5B7-2F6BE57885E8}"/>
              </a:ext>
            </a:extLst>
          </p:cNvPr>
          <p:cNvSpPr>
            <a:spLocks xmlns:a="http://schemas.openxmlformats.org/drawingml/2006/main" noGrp="1"/>
          </p:cNvSpPr>
          <p:nvPr/>
        </p:nvSpPr>
        <p:spPr>
          <a:xfrm xmlns:a="http://schemas.openxmlformats.org/drawingml/2006/main">
            <a:off x="952500" y="2000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2E7D5B"/>
                </a:solidFill>
                <a:latin typeface="Arial"/>
                <a:ea typeface="Arial"/>
                <a:cs typeface="Arial"/>
              </a:defRPr>
            </a:pPr>
            <a:r>
              <a:rPr sz="2025" b="1">
                <a:solidFill>
                  <a:srgbClr val="2E7D5B"/>
                </a:solidFill>
                <a:latin typeface="Arial"/>
                <a:ea typeface="Arial"/>
                <a:cs typeface="Arial"/>
              </a:rPr>
              <a:t>2016–2019</a:t>
            </a:r>
          </a:p>
        </p:txBody>
      </p:sp>
      <p:sp>
        <p:nvSpPr>
          <p:cNvPr id="7" name="">
            <a:extLst xmlns:a="http://schemas.openxmlformats.org/drawingml/2006/main">
              <a:ext uri="{FF2B5EF4-FFF2-40B4-BE49-F238E27FC236}">
                <a16:creationId xmlns:a16="http://schemas.microsoft.com/office/drawing/2014/main" id="{4C0B6826-C1CD-407B-B1BD-7E0FDA1C4296}"/>
              </a:ext>
            </a:extLst>
          </p:cNvPr>
          <p:cNvSpPr>
            <a:spLocks xmlns:a="http://schemas.openxmlformats.org/drawingml/2006/main" noGrp="1"/>
          </p:cNvSpPr>
          <p:nvPr/>
        </p:nvSpPr>
        <p:spPr>
          <a:xfrm xmlns:a="http://schemas.openxmlformats.org/drawingml/2006/main">
            <a:off x="3276600" y="19431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+29.4% source return; relative-only +30.2%. The two paths were already close in the earliest admitted phase.</a:t>
            </a:r>
          </a:p>
        </p:txBody>
      </p:sp>
      <p:sp>
        <p:nvSpPr>
          <p:cNvPr id="8" name="">
            <a:extLst xmlns:a="http://schemas.openxmlformats.org/drawingml/2006/main">
              <a:ext uri="{FF2B5EF4-FFF2-40B4-BE49-F238E27FC236}">
                <a16:creationId xmlns:a16="http://schemas.microsoft.com/office/drawing/2014/main" id="{3AFAF26A-2C8D-481A-8C17-B8A9A3967177}"/>
              </a:ext>
            </a:extLst>
          </p:cNvPr>
          <p:cNvSpPr>
            <a:spLocks xmlns:a="http://schemas.openxmlformats.org/drawingml/2006/main" noGrp="1"/>
          </p:cNvSpPr>
          <p:nvPr/>
        </p:nvSpPr>
        <p:spPr>
          <a:xfrm xmlns:a="http://schemas.openxmlformats.org/drawingml/2006/main">
            <a:off x="666750" y="3048000"/>
            <a:ext cx="10858500" cy="10287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9" name="">
            <a:extLst xmlns:a="http://schemas.openxmlformats.org/drawingml/2006/main">
              <a:ext uri="{FF2B5EF4-FFF2-40B4-BE49-F238E27FC236}">
                <a16:creationId xmlns:a16="http://schemas.microsoft.com/office/drawing/2014/main" id="{DDE8FBE1-8020-4B7A-932E-FC73716C919B}"/>
              </a:ext>
            </a:extLst>
          </p:cNvPr>
          <p:cNvSpPr>
            <a:spLocks xmlns:a="http://schemas.openxmlformats.org/drawingml/2006/main" noGrp="1"/>
          </p:cNvSpPr>
          <p:nvPr/>
        </p:nvSpPr>
        <p:spPr>
          <a:xfrm xmlns:a="http://schemas.openxmlformats.org/drawingml/2006/main">
            <a:off x="952500" y="3295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C8553D"/>
                </a:solidFill>
                <a:latin typeface="Arial"/>
                <a:ea typeface="Arial"/>
                <a:cs typeface="Arial"/>
              </a:defRPr>
            </a:pPr>
            <a:r>
              <a:rPr sz="2025" b="1">
                <a:solidFill>
                  <a:srgbClr val="C8553D"/>
                </a:solidFill>
                <a:latin typeface="Arial"/>
                <a:ea typeface="Arial"/>
                <a:cs typeface="Arial"/>
              </a:rPr>
              <a:t>2020–2022</a:t>
            </a:r>
          </a:p>
        </p:txBody>
      </p:sp>
      <p:sp>
        <p:nvSpPr>
          <p:cNvPr id="10" name="">
            <a:extLst xmlns:a="http://schemas.openxmlformats.org/drawingml/2006/main">
              <a:ext uri="{FF2B5EF4-FFF2-40B4-BE49-F238E27FC236}">
                <a16:creationId xmlns:a16="http://schemas.microsoft.com/office/drawing/2014/main" id="{E6DA919C-47F4-4345-87E2-1F6DF9D0EC90}"/>
              </a:ext>
            </a:extLst>
          </p:cNvPr>
          <p:cNvSpPr>
            <a:spLocks xmlns:a="http://schemas.openxmlformats.org/drawingml/2006/main" noGrp="1"/>
          </p:cNvSpPr>
          <p:nvPr/>
        </p:nvSpPr>
        <p:spPr>
          <a:xfrm xmlns:a="http://schemas.openxmlformats.org/drawingml/2006/main">
            <a:off x="3276600" y="32385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+36.0% source return; relative-only +35.0%. The absolute veto was most active here, yet changed little.</a:t>
            </a:r>
          </a:p>
        </p:txBody>
      </p:sp>
      <p:sp>
        <p:nvSpPr>
          <p:cNvPr id="11" name="">
            <a:extLst xmlns:a="http://schemas.openxmlformats.org/drawingml/2006/main">
              <a:ext uri="{FF2B5EF4-FFF2-40B4-BE49-F238E27FC236}">
                <a16:creationId xmlns:a16="http://schemas.microsoft.com/office/drawing/2014/main" id="{0879E259-AD91-4B41-8E67-E5334F74BAB8}"/>
              </a:ext>
            </a:extLst>
          </p:cNvPr>
          <p:cNvSpPr>
            <a:spLocks xmlns:a="http://schemas.openxmlformats.org/drawingml/2006/main" noGrp="1"/>
          </p:cNvSpPr>
          <p:nvPr/>
        </p:nvSpPr>
        <p:spPr>
          <a:xfrm xmlns:a="http://schemas.openxmlformats.org/drawingml/2006/main">
            <a:off x="666750" y="4343400"/>
            <a:ext cx="10858500" cy="1028700"/>
          </a:xfrm>
          <a:prstGeom xmlns:a="http://schemas.openxmlformats.org/drawingml/2006/main" prst="rect">
            <a:avLst/>
          </a:prstGeom>
          <a:solidFill xmlns:a="http://schemas.openxmlformats.org/drawingml/2006/main">
            <a:srgbClr val="EDEDED"/>
          </a:solidFill>
          <a:ln xmlns:a="http://schemas.openxmlformats.org/drawingml/2006/main" w="9525">
            <a:solidFill>
              <a:srgbClr val="52616B"/>
            </a:solidFill>
            <a:prstDash val="solid"/>
          </a:ln>
        </p:spPr>
      </p:sp>
      <p:sp>
        <p:nvSpPr>
          <p:cNvPr id="12" name="">
            <a:extLst xmlns:a="http://schemas.openxmlformats.org/drawingml/2006/main">
              <a:ext uri="{FF2B5EF4-FFF2-40B4-BE49-F238E27FC236}">
                <a16:creationId xmlns:a16="http://schemas.microsoft.com/office/drawing/2014/main" id="{FE0E70E3-6874-4441-9FD1-1060221212D9}"/>
              </a:ext>
            </a:extLst>
          </p:cNvPr>
          <p:cNvSpPr>
            <a:spLocks xmlns:a="http://schemas.openxmlformats.org/drawingml/2006/main" noGrp="1"/>
          </p:cNvSpPr>
          <p:nvPr/>
        </p:nvSpPr>
        <p:spPr>
          <a:xfrm xmlns:a="http://schemas.openxmlformats.org/drawingml/2006/main">
            <a:off x="952500" y="4591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52616B"/>
                </a:solidFill>
                <a:latin typeface="Arial"/>
                <a:ea typeface="Arial"/>
                <a:cs typeface="Arial"/>
              </a:defRPr>
            </a:pPr>
            <a:r>
              <a:rPr sz="2025" b="1">
                <a:solidFill>
                  <a:srgbClr val="52616B"/>
                </a:solidFill>
                <a:latin typeface="Arial"/>
                <a:ea typeface="Arial"/>
                <a:cs typeface="Arial"/>
              </a:rPr>
              <a:t>2023–2026</a:t>
            </a:r>
          </a:p>
        </p:txBody>
      </p:sp>
      <p:sp>
        <p:nvSpPr>
          <p:cNvPr id="13" name="">
            <a:extLst xmlns:a="http://schemas.openxmlformats.org/drawingml/2006/main">
              <a:ext uri="{FF2B5EF4-FFF2-40B4-BE49-F238E27FC236}">
                <a16:creationId xmlns:a16="http://schemas.microsoft.com/office/drawing/2014/main" id="{7D88D2F7-BBA9-4B06-83BF-EF6C40360B55}"/>
              </a:ext>
            </a:extLst>
          </p:cNvPr>
          <p:cNvSpPr>
            <a:spLocks xmlns:a="http://schemas.openxmlformats.org/drawingml/2006/main" noGrp="1"/>
          </p:cNvSpPr>
          <p:nvPr/>
        </p:nvSpPr>
        <p:spPr>
          <a:xfrm xmlns:a="http://schemas.openxmlformats.org/drawingml/2006/main">
            <a:off x="3276600" y="45339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+73.5% source return; relative-only +73.8%. The near-identity persisted into the latest phase.</a:t>
            </a:r>
          </a:p>
        </p:txBody>
      </p:sp>
      <p:sp>
        <p:nvSpPr>
          <p:cNvPr id="14" name="">
            <a:extLst xmlns:a="http://schemas.openxmlformats.org/drawingml/2006/main">
              <a:ext uri="{FF2B5EF4-FFF2-40B4-BE49-F238E27FC236}">
                <a16:creationId xmlns:a16="http://schemas.microsoft.com/office/drawing/2014/main" id="{F7E3D076-54D1-4B3D-8F4A-D11630B25FFC}"/>
              </a:ext>
            </a:extLst>
          </p:cNvPr>
          <p:cNvSpPr>
            <a:spLocks xmlns:a="http://schemas.openxmlformats.org/drawingml/2006/main" noGrp="1"/>
          </p:cNvSpPr>
          <p:nvPr/>
        </p:nvSpPr>
        <p:spPr>
          <a:xfrm xmlns:a="http://schemas.openxmlformats.org/drawingml/2006/main">
            <a:off x="2114550" y="5753100"/>
            <a:ext cx="7962900" cy="4953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FF7807EE-5E9A-4AC4-A3F2-FA1CED7A80A8}"/>
              </a:ext>
            </a:extLst>
          </p:cNvPr>
          <p:cNvSpPr>
            <a:spLocks xmlns:a="http://schemas.openxmlformats.org/drawingml/2006/main" noGrp="1"/>
          </p:cNvSpPr>
          <p:nvPr/>
        </p:nvSpPr>
        <p:spPr>
          <a:xfrm xmlns:a="http://schemas.openxmlformats.org/drawingml/2006/main">
            <a:off x="2343150" y="57531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3D8DFF"/>
                </a:solidFill>
                <a:latin typeface="Arial"/>
                <a:ea typeface="Arial"/>
                <a:cs typeface="Arial"/>
              </a:defRPr>
            </a:pPr>
            <a:r>
              <a:rPr sz="1350" b="1">
                <a:solidFill>
                  <a:srgbClr val="3D8DFF"/>
                </a:solidFill>
                <a:latin typeface="Arial"/>
                <a:ea typeface="Arial"/>
                <a:cs typeface="Arial"/>
              </a:rPr>
              <a:t>Three positive phases strengthen the clue—but do not create untouched confirmation.</a:t>
            </a:r>
          </a:p>
        </p:txBody>
      </p:sp>
    </p:spTree>
    <p:extLst>
      <p:ext uri="{BB962C8B-B14F-4D97-AF65-F5344CB8AC3E}">
        <p14:creationId xmlns:p14="http://schemas.microsoft.com/office/powerpoint/2010/main" val="73391803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DB7632-9321-4B0D-B49B-BAF52F1D5F3F}"/>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LIT-MOM-03.1</a:t>
            </a:r>
          </a:p>
        </p:txBody>
      </p:sp>
      <p:sp>
        <p:nvSpPr>
          <p:cNvPr id="2" name="">
            <a:extLst xmlns:a="http://schemas.openxmlformats.org/drawingml/2006/main">
              <a:ext uri="{FF2B5EF4-FFF2-40B4-BE49-F238E27FC236}">
                <a16:creationId xmlns:a16="http://schemas.microsoft.com/office/drawing/2014/main" id="{4F6E0FE8-6C1B-4A13-9D2D-6E11399D4D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Preserve the clue: this is relative rotation, not confirmed edge</a:t>
            </a:r>
          </a:p>
        </p:txBody>
      </p:sp>
      <p:sp>
        <p:nvSpPr>
          <p:cNvPr id="3" name="">
            <a:extLst xmlns:a="http://schemas.openxmlformats.org/drawingml/2006/main">
              <a:ext uri="{FF2B5EF4-FFF2-40B4-BE49-F238E27FC236}">
                <a16:creationId xmlns:a16="http://schemas.microsoft.com/office/drawing/2014/main" id="{0E0B56DB-4E40-4B87-BA34-B1427431835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9465AD-88DC-48BC-BDAC-EBEFA9C8F7B5}"/>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CD393174-0A3C-4E18-A0E5-CFFEAB42B506}"/>
              </a:ext>
            </a:extLst>
          </p:cNvPr>
          <p:cNvSpPr>
            <a:spLocks xmlns:a="http://schemas.openxmlformats.org/drawingml/2006/main" noGrp="1"/>
          </p:cNvSpPr>
          <p:nvPr/>
        </p:nvSpPr>
        <p:spPr>
          <a:xfrm xmlns:a="http://schemas.openxmlformats.org/drawingml/2006/main">
            <a:off x="666750" y="1752600"/>
            <a:ext cx="10858500" cy="10287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802C9A30-9CD1-4907-B5B7-2F6BE57885E8}"/>
              </a:ext>
            </a:extLst>
          </p:cNvPr>
          <p:cNvSpPr>
            <a:spLocks xmlns:a="http://schemas.openxmlformats.org/drawingml/2006/main" noGrp="1"/>
          </p:cNvSpPr>
          <p:nvPr/>
        </p:nvSpPr>
        <p:spPr>
          <a:xfrm xmlns:a="http://schemas.openxmlformats.org/drawingml/2006/main">
            <a:off x="952500" y="2000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2E7D5B"/>
                </a:solidFill>
                <a:latin typeface="Arial"/>
                <a:ea typeface="Arial"/>
                <a:cs typeface="Arial"/>
              </a:defRPr>
            </a:pPr>
            <a:r>
              <a:rPr sz="2025" b="1">
                <a:solidFill>
                  <a:srgbClr val="2E7D5B"/>
                </a:solidFill>
                <a:latin typeface="Arial"/>
                <a:ea typeface="Arial"/>
                <a:cs typeface="Arial"/>
              </a:rPr>
              <a:t>Established</a:t>
            </a:r>
          </a:p>
        </p:txBody>
      </p:sp>
      <p:sp>
        <p:nvSpPr>
          <p:cNvPr id="7" name="">
            <a:extLst xmlns:a="http://schemas.openxmlformats.org/drawingml/2006/main">
              <a:ext uri="{FF2B5EF4-FFF2-40B4-BE49-F238E27FC236}">
                <a16:creationId xmlns:a16="http://schemas.microsoft.com/office/drawing/2014/main" id="{4C0B6826-C1CD-407B-B1BD-7E0FDA1C4296}"/>
              </a:ext>
            </a:extLst>
          </p:cNvPr>
          <p:cNvSpPr>
            <a:spLocks xmlns:a="http://schemas.openxmlformats.org/drawingml/2006/main" noGrp="1"/>
          </p:cNvSpPr>
          <p:nvPr/>
        </p:nvSpPr>
        <p:spPr>
          <a:xfrm xmlns:a="http://schemas.openxmlformats.org/drawingml/2006/main">
            <a:off x="3276600" y="19431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Causal replay, costs, five frozen controls, positive results in all three broad phases, and materially lower drawdown than SPY.</a:t>
            </a:r>
          </a:p>
        </p:txBody>
      </p:sp>
      <p:sp>
        <p:nvSpPr>
          <p:cNvPr id="8" name="">
            <a:extLst xmlns:a="http://schemas.openxmlformats.org/drawingml/2006/main">
              <a:ext uri="{FF2B5EF4-FFF2-40B4-BE49-F238E27FC236}">
                <a16:creationId xmlns:a16="http://schemas.microsoft.com/office/drawing/2014/main" id="{3AFAF26A-2C8D-481A-8C17-B8A9A3967177}"/>
              </a:ext>
            </a:extLst>
          </p:cNvPr>
          <p:cNvSpPr>
            <a:spLocks xmlns:a="http://schemas.openxmlformats.org/drawingml/2006/main" noGrp="1"/>
          </p:cNvSpPr>
          <p:nvPr/>
        </p:nvSpPr>
        <p:spPr>
          <a:xfrm xmlns:a="http://schemas.openxmlformats.org/drawingml/2006/main">
            <a:off x="666750" y="3048000"/>
            <a:ext cx="10858500" cy="10287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9" name="">
            <a:extLst xmlns:a="http://schemas.openxmlformats.org/drawingml/2006/main">
              <a:ext uri="{FF2B5EF4-FFF2-40B4-BE49-F238E27FC236}">
                <a16:creationId xmlns:a16="http://schemas.microsoft.com/office/drawing/2014/main" id="{DDE8FBE1-8020-4B7A-932E-FC73716C919B}"/>
              </a:ext>
            </a:extLst>
          </p:cNvPr>
          <p:cNvSpPr>
            <a:spLocks xmlns:a="http://schemas.openxmlformats.org/drawingml/2006/main" noGrp="1"/>
          </p:cNvSpPr>
          <p:nvPr/>
        </p:nvSpPr>
        <p:spPr>
          <a:xfrm xmlns:a="http://schemas.openxmlformats.org/drawingml/2006/main">
            <a:off x="952500" y="3295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C8553D"/>
                </a:solidFill>
                <a:latin typeface="Arial"/>
                <a:ea typeface="Arial"/>
                <a:cs typeface="Arial"/>
              </a:defRPr>
            </a:pPr>
            <a:r>
              <a:rPr sz="2025" b="1">
                <a:solidFill>
                  <a:srgbClr val="C8553D"/>
                </a:solidFill>
                <a:latin typeface="Arial"/>
                <a:ea typeface="Arial"/>
                <a:cs typeface="Arial"/>
              </a:rPr>
              <a:t>Not established</a:t>
            </a:r>
          </a:p>
        </p:txBody>
      </p:sp>
      <p:sp>
        <p:nvSpPr>
          <p:cNvPr id="10" name="">
            <a:extLst xmlns:a="http://schemas.openxmlformats.org/drawingml/2006/main">
              <a:ext uri="{FF2B5EF4-FFF2-40B4-BE49-F238E27FC236}">
                <a16:creationId xmlns:a16="http://schemas.microsoft.com/office/drawing/2014/main" id="{E6DA919C-47F4-4345-87E2-1F6DF9D0EC90}"/>
              </a:ext>
            </a:extLst>
          </p:cNvPr>
          <p:cNvSpPr>
            <a:spLocks xmlns:a="http://schemas.openxmlformats.org/drawingml/2006/main" noGrp="1"/>
          </p:cNvSpPr>
          <p:nvPr/>
        </p:nvSpPr>
        <p:spPr>
          <a:xfrm xmlns:a="http://schemas.openxmlformats.org/drawingml/2006/main">
            <a:off x="3276600" y="32385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incremental absolute-veto value, no stable advantage over equal-weight, no raw-CAGR win over SPY, and no untouched confirmation.</a:t>
            </a:r>
          </a:p>
        </p:txBody>
      </p:sp>
      <p:sp>
        <p:nvSpPr>
          <p:cNvPr id="11" name="">
            <a:extLst xmlns:a="http://schemas.openxmlformats.org/drawingml/2006/main">
              <a:ext uri="{FF2B5EF4-FFF2-40B4-BE49-F238E27FC236}">
                <a16:creationId xmlns:a16="http://schemas.microsoft.com/office/drawing/2014/main" id="{0879E259-AD91-4B41-8E67-E5334F74BAB8}"/>
              </a:ext>
            </a:extLst>
          </p:cNvPr>
          <p:cNvSpPr>
            <a:spLocks xmlns:a="http://schemas.openxmlformats.org/drawingml/2006/main" noGrp="1"/>
          </p:cNvSpPr>
          <p:nvPr/>
        </p:nvSpPr>
        <p:spPr>
          <a:xfrm xmlns:a="http://schemas.openxmlformats.org/drawingml/2006/main">
            <a:off x="666750" y="4343400"/>
            <a:ext cx="10858500" cy="1028700"/>
          </a:xfrm>
          <a:prstGeom xmlns:a="http://schemas.openxmlformats.org/drawingml/2006/main" prst="rect">
            <a:avLst/>
          </a:prstGeom>
          <a:solidFill xmlns:a="http://schemas.openxmlformats.org/drawingml/2006/main">
            <a:srgbClr val="EDEDED"/>
          </a:solidFill>
          <a:ln xmlns:a="http://schemas.openxmlformats.org/drawingml/2006/main" w="9525">
            <a:solidFill>
              <a:srgbClr val="52616B"/>
            </a:solidFill>
            <a:prstDash val="solid"/>
          </a:ln>
        </p:spPr>
      </p:sp>
      <p:sp>
        <p:nvSpPr>
          <p:cNvPr id="12" name="">
            <a:extLst xmlns:a="http://schemas.openxmlformats.org/drawingml/2006/main">
              <a:ext uri="{FF2B5EF4-FFF2-40B4-BE49-F238E27FC236}">
                <a16:creationId xmlns:a16="http://schemas.microsoft.com/office/drawing/2014/main" id="{FE0E70E3-6874-4441-9FD1-1060221212D9}"/>
              </a:ext>
            </a:extLst>
          </p:cNvPr>
          <p:cNvSpPr>
            <a:spLocks xmlns:a="http://schemas.openxmlformats.org/drawingml/2006/main" noGrp="1"/>
          </p:cNvSpPr>
          <p:nvPr/>
        </p:nvSpPr>
        <p:spPr>
          <a:xfrm xmlns:a="http://schemas.openxmlformats.org/drawingml/2006/main">
            <a:off x="952500" y="4591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52616B"/>
                </a:solidFill>
                <a:latin typeface="Arial"/>
                <a:ea typeface="Arial"/>
                <a:cs typeface="Arial"/>
              </a:defRPr>
            </a:pPr>
            <a:r>
              <a:rPr sz="2025" b="1">
                <a:solidFill>
                  <a:srgbClr val="52616B"/>
                </a:solidFill>
                <a:latin typeface="Arial"/>
                <a:ea typeface="Arial"/>
                <a:cs typeface="Arial"/>
              </a:rPr>
              <a:t>Coverage STOP</a:t>
            </a:r>
          </a:p>
        </p:txBody>
      </p:sp>
      <p:sp>
        <p:nvSpPr>
          <p:cNvPr id="13" name="">
            <a:extLst xmlns:a="http://schemas.openxmlformats.org/drawingml/2006/main">
              <a:ext uri="{FF2B5EF4-FFF2-40B4-BE49-F238E27FC236}">
                <a16:creationId xmlns:a16="http://schemas.microsoft.com/office/drawing/2014/main" id="{7D88D2F7-BBA9-4B06-83BF-EF6C40360B55}"/>
              </a:ext>
            </a:extLst>
          </p:cNvPr>
          <p:cNvSpPr>
            <a:spLocks xmlns:a="http://schemas.openxmlformats.org/drawingml/2006/main" noGrp="1"/>
          </p:cNvSpPr>
          <p:nvPr/>
        </p:nvSpPr>
        <p:spPr>
          <a:xfrm xmlns:a="http://schemas.openxmlformats.org/drawingml/2006/main">
            <a:off x="3276600" y="45339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The publisher’s 2008–2015 segment is unavailable; this replay overlaps the source’s parameter-selection history.</a:t>
            </a:r>
          </a:p>
        </p:txBody>
      </p:sp>
      <p:sp>
        <p:nvSpPr>
          <p:cNvPr id="14" name="">
            <a:extLst xmlns:a="http://schemas.openxmlformats.org/drawingml/2006/main">
              <a:ext uri="{FF2B5EF4-FFF2-40B4-BE49-F238E27FC236}">
                <a16:creationId xmlns:a16="http://schemas.microsoft.com/office/drawing/2014/main" id="{F7E3D076-54D1-4B3D-8F4A-D11630B25FFC}"/>
              </a:ext>
            </a:extLst>
          </p:cNvPr>
          <p:cNvSpPr>
            <a:spLocks xmlns:a="http://schemas.openxmlformats.org/drawingml/2006/main" noGrp="1"/>
          </p:cNvSpPr>
          <p:nvPr/>
        </p:nvSpPr>
        <p:spPr>
          <a:xfrm xmlns:a="http://schemas.openxmlformats.org/drawingml/2006/main">
            <a:off x="2114550" y="5753100"/>
            <a:ext cx="7962900" cy="4953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FF7807EE-5E9A-4AC4-A3F2-FA1CED7A80A8}"/>
              </a:ext>
            </a:extLst>
          </p:cNvPr>
          <p:cNvSpPr>
            <a:spLocks xmlns:a="http://schemas.openxmlformats.org/drawingml/2006/main" noGrp="1"/>
          </p:cNvSpPr>
          <p:nvPr/>
        </p:nvSpPr>
        <p:spPr>
          <a:xfrm xmlns:a="http://schemas.openxmlformats.org/drawingml/2006/main">
            <a:off x="2343150" y="57531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3D8DFF"/>
                </a:solidFill>
                <a:latin typeface="Arial"/>
                <a:ea typeface="Arial"/>
                <a:cs typeface="Arial"/>
              </a:defRPr>
            </a:pPr>
            <a:r>
              <a:rPr sz="1350" b="1">
                <a:solidFill>
                  <a:srgbClr val="3D8DFF"/>
                </a:solidFill>
                <a:latin typeface="Arial"/>
                <a:ea typeface="Arial"/>
                <a:cs typeface="Arial"/>
              </a:rPr>
              <a:t>Next proposed gate: pre-freeze robustness checks for relative rotation—then decide whether an untouched forward test is warranted.</a:t>
            </a:r>
          </a:p>
        </p:txBody>
      </p:sp>
    </p:spTree>
    <p:extLst>
      <p:ext uri="{BB962C8B-B14F-4D97-AF65-F5344CB8AC3E}">
        <p14:creationId xmlns:p14="http://schemas.microsoft.com/office/powerpoint/2010/main" val="73391803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43D917-60C1-49B6-A04E-D85D24522DCE}"/>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UNIVERSE TRANSPORT · DESCRIPTIVE POC</a:t>
            </a:r>
          </a:p>
        </p:txBody>
      </p:sp>
      <p:sp>
        <p:nvSpPr>
          <p:cNvPr id="2" name="">
            <a:extLst xmlns:a="http://schemas.openxmlformats.org/drawingml/2006/main">
              <a:ext uri="{FF2B5EF4-FFF2-40B4-BE49-F238E27FC236}">
                <a16:creationId xmlns:a16="http://schemas.microsoft.com/office/drawing/2014/main" id="{3F51F0D8-19C8-434E-90A3-9CD80434373E}"/>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same rule does not transport as a return enhancer</a:t>
            </a:r>
          </a:p>
        </p:txBody>
      </p:sp>
      <p:sp>
        <p:nvSpPr>
          <p:cNvPr id="3" name="">
            <a:extLst xmlns:a="http://schemas.openxmlformats.org/drawingml/2006/main">
              <a:ext uri="{FF2B5EF4-FFF2-40B4-BE49-F238E27FC236}">
                <a16:creationId xmlns:a16="http://schemas.microsoft.com/office/drawing/2014/main" id="{9C82D8E5-4706-4E1C-8A9C-3CB6FFDCDE1D}"/>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452295D-1E22-4BA1-B87C-35FC318DE242}"/>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EA84F263-DCB7-4ECF-AC3C-B71C047C289B}"/>
              </a:ext>
            </a:extLst>
          </p:cNvPr>
          <p:cNvSpPr>
            <a:spLocks xmlns:a="http://schemas.openxmlformats.org/drawingml/2006/main" noGrp="1"/>
          </p:cNvSpPr>
          <p:nvPr/>
        </p:nvSpPr>
        <p:spPr>
          <a:xfrm xmlns:a="http://schemas.openxmlformats.org/drawingml/2006/main">
            <a:off x="628650" y="1790700"/>
            <a:ext cx="4953000" cy="325755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2535A567-86A3-447F-ABF8-3D7CC1CFCEE3}"/>
              </a:ext>
            </a:extLst>
          </p:cNvPr>
          <p:cNvSpPr>
            <a:spLocks xmlns:a="http://schemas.openxmlformats.org/drawingml/2006/main" noGrp="1"/>
          </p:cNvSpPr>
          <p:nvPr/>
        </p:nvSpPr>
        <p:spPr>
          <a:xfrm xmlns:a="http://schemas.openxmlformats.org/drawingml/2006/main">
            <a:off x="971550" y="21145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2E7D5B"/>
                </a:solidFill>
                <a:latin typeface="Arial"/>
                <a:ea typeface="Arial"/>
                <a:cs typeface="Arial"/>
              </a:defRPr>
            </a:pPr>
            <a:r>
              <a:rPr sz="1275" b="1">
                <a:solidFill>
                  <a:srgbClr val="2E7D5B"/>
                </a:solidFill>
                <a:latin typeface="Arial"/>
                <a:ea typeface="Arial"/>
                <a:cs typeface="Arial"/>
              </a:rPr>
              <a:t>FROZEN BREADTH</a:t>
            </a:r>
          </a:p>
        </p:txBody>
      </p:sp>
      <p:sp>
        <p:nvSpPr>
          <p:cNvPr id="7" name="">
            <a:extLst xmlns:a="http://schemas.openxmlformats.org/drawingml/2006/main">
              <a:ext uri="{FF2B5EF4-FFF2-40B4-BE49-F238E27FC236}">
                <a16:creationId xmlns:a16="http://schemas.microsoft.com/office/drawing/2014/main" id="{B0EF5351-B0F9-4A7A-9512-D9DE9A581079}"/>
              </a:ext>
            </a:extLst>
          </p:cNvPr>
          <p:cNvSpPr>
            <a:spLocks xmlns:a="http://schemas.openxmlformats.org/drawingml/2006/main" noGrp="1"/>
          </p:cNvSpPr>
          <p:nvPr/>
        </p:nvSpPr>
        <p:spPr>
          <a:xfrm xmlns:a="http://schemas.openxmlformats.org/drawingml/2006/main">
            <a:off x="971550" y="2667000"/>
            <a:ext cx="1809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100" b="1">
                <a:solidFill>
                  <a:srgbClr val="2E7D5B"/>
                </a:solidFill>
                <a:latin typeface="Arial"/>
                <a:ea typeface="Arial"/>
                <a:cs typeface="Arial"/>
              </a:defRPr>
            </a:pPr>
            <a:r>
              <a:rPr sz="5100" b="1">
                <a:solidFill>
                  <a:srgbClr val="2E7D5B"/>
                </a:solidFill>
                <a:latin typeface="Arial"/>
                <a:ea typeface="Arial"/>
                <a:cs typeface="Arial"/>
              </a:rPr>
              <a:t>12</a:t>
            </a:r>
          </a:p>
        </p:txBody>
      </p:sp>
      <p:sp>
        <p:nvSpPr>
          <p:cNvPr id="8" name="">
            <a:extLst xmlns:a="http://schemas.openxmlformats.org/drawingml/2006/main">
              <a:ext uri="{FF2B5EF4-FFF2-40B4-BE49-F238E27FC236}">
                <a16:creationId xmlns:a16="http://schemas.microsoft.com/office/drawing/2014/main" id="{845D259F-CD58-4A41-8E58-6185E679F682}"/>
              </a:ext>
            </a:extLst>
          </p:cNvPr>
          <p:cNvSpPr>
            <a:spLocks xmlns:a="http://schemas.openxmlformats.org/drawingml/2006/main" noGrp="1"/>
          </p:cNvSpPr>
          <p:nvPr/>
        </p:nvSpPr>
        <p:spPr>
          <a:xfrm xmlns:a="http://schemas.openxmlformats.org/drawingml/2006/main">
            <a:off x="2800350" y="2914650"/>
            <a:ext cx="2324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101820"/>
                </a:solidFill>
                <a:latin typeface="Arial"/>
                <a:ea typeface="Arial"/>
                <a:cs typeface="Arial"/>
              </a:defRPr>
            </a:pPr>
            <a:r>
              <a:rPr sz="2100" b="1">
                <a:solidFill>
                  <a:srgbClr val="101820"/>
                </a:solidFill>
                <a:latin typeface="Arial"/>
                <a:ea typeface="Arial"/>
                <a:cs typeface="Arial"/>
              </a:rPr>
              <a:t>independent fleets</a:t>
            </a:r>
          </a:p>
        </p:txBody>
      </p:sp>
      <p:sp>
        <p:nvSpPr>
          <p:cNvPr id="9" name="">
            <a:extLst xmlns:a="http://schemas.openxmlformats.org/drawingml/2006/main">
              <a:ext uri="{FF2B5EF4-FFF2-40B4-BE49-F238E27FC236}">
                <a16:creationId xmlns:a16="http://schemas.microsoft.com/office/drawing/2014/main" id="{2B561A00-F2ED-46FB-9D93-63A3E1AD5803}"/>
              </a:ext>
            </a:extLst>
          </p:cNvPr>
          <p:cNvSpPr>
            <a:spLocks xmlns:a="http://schemas.openxmlformats.org/drawingml/2006/main" noGrp="1"/>
          </p:cNvSpPr>
          <p:nvPr/>
        </p:nvSpPr>
        <p:spPr>
          <a:xfrm xmlns:a="http://schemas.openxmlformats.org/drawingml/2006/main">
            <a:off x="971550" y="3810000"/>
            <a:ext cx="4000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1 sector-ETF fleet</a:t>
            </a:r>
          </a:p>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11 stock-sector fleets</a:t>
            </a:r>
          </a:p>
          <a:p xmlns:a="http://schemas.openxmlformats.org/drawingml/2006/main">
            <a:pPr algn="l">
              <a:buNone/>
              <a:defRPr sz="1800" b="0">
                <a:solidFill>
                  <a:srgbClr val="52616B"/>
                </a:solidFill>
                <a:latin typeface="Arial"/>
                <a:ea typeface="Arial"/>
                <a:cs typeface="Arial"/>
              </a:defRPr>
            </a:pPr>
            <a:r>
              <a:rPr sz="1800" b="0">
                <a:solidFill>
                  <a:srgbClr val="52616B"/>
                </a:solidFill>
                <a:latin typeface="Arial"/>
                <a:ea typeface="Arial"/>
                <a:cs typeface="Arial"/>
              </a:rPr>
              <a:t>507 intervals per fleet</a:t>
            </a:r>
          </a:p>
        </p:txBody>
      </p:sp>
      <p:sp>
        <p:nvSpPr>
          <p:cNvPr id="10" name="">
            <a:extLst xmlns:a="http://schemas.openxmlformats.org/drawingml/2006/main">
              <a:ext uri="{FF2B5EF4-FFF2-40B4-BE49-F238E27FC236}">
                <a16:creationId xmlns:a16="http://schemas.microsoft.com/office/drawing/2014/main" id="{D80FDF2D-786A-4D34-8C53-03F5531FEFAA}"/>
              </a:ext>
            </a:extLst>
          </p:cNvPr>
          <p:cNvSpPr>
            <a:spLocks xmlns:a="http://schemas.openxmlformats.org/drawingml/2006/main" noGrp="1"/>
          </p:cNvSpPr>
          <p:nvPr/>
        </p:nvSpPr>
        <p:spPr>
          <a:xfrm xmlns:a="http://schemas.openxmlformats.org/drawingml/2006/main">
            <a:off x="6191250" y="1790700"/>
            <a:ext cx="4953000" cy="325755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11" name="">
            <a:extLst xmlns:a="http://schemas.openxmlformats.org/drawingml/2006/main">
              <a:ext uri="{FF2B5EF4-FFF2-40B4-BE49-F238E27FC236}">
                <a16:creationId xmlns:a16="http://schemas.microsoft.com/office/drawing/2014/main" id="{E4150C52-9BF1-4205-AAE7-8463BBDA6FD9}"/>
              </a:ext>
            </a:extLst>
          </p:cNvPr>
          <p:cNvSpPr>
            <a:spLocks xmlns:a="http://schemas.openxmlformats.org/drawingml/2006/main" noGrp="1"/>
          </p:cNvSpPr>
          <p:nvPr/>
        </p:nvSpPr>
        <p:spPr>
          <a:xfrm xmlns:a="http://schemas.openxmlformats.org/drawingml/2006/main">
            <a:off x="6534150" y="21145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C8553D"/>
                </a:solidFill>
                <a:latin typeface="Arial"/>
                <a:ea typeface="Arial"/>
                <a:cs typeface="Arial"/>
              </a:defRPr>
            </a:pPr>
            <a:r>
              <a:rPr sz="1275" b="1">
                <a:solidFill>
                  <a:srgbClr val="C8553D"/>
                </a:solidFill>
                <a:latin typeface="Arial"/>
                <a:ea typeface="Arial"/>
                <a:cs typeface="Arial"/>
              </a:rPr>
              <a:t>RETURN TRANSPORT</a:t>
            </a:r>
          </a:p>
        </p:txBody>
      </p:sp>
      <p:sp>
        <p:nvSpPr>
          <p:cNvPr id="12" name="">
            <a:extLst xmlns:a="http://schemas.openxmlformats.org/drawingml/2006/main">
              <a:ext uri="{FF2B5EF4-FFF2-40B4-BE49-F238E27FC236}">
                <a16:creationId xmlns:a16="http://schemas.microsoft.com/office/drawing/2014/main" id="{0606DC9E-2BF6-4A3D-8AA4-5B9D11332D44}"/>
              </a:ext>
            </a:extLst>
          </p:cNvPr>
          <p:cNvSpPr>
            <a:spLocks xmlns:a="http://schemas.openxmlformats.org/drawingml/2006/main" noGrp="1"/>
          </p:cNvSpPr>
          <p:nvPr/>
        </p:nvSpPr>
        <p:spPr>
          <a:xfrm xmlns:a="http://schemas.openxmlformats.org/drawingml/2006/main">
            <a:off x="6534150" y="2724150"/>
            <a:ext cx="400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050" b="1">
                <a:solidFill>
                  <a:srgbClr val="C8553D"/>
                </a:solidFill>
                <a:latin typeface="Arial"/>
                <a:ea typeface="Arial"/>
                <a:cs typeface="Arial"/>
              </a:defRPr>
            </a:pPr>
            <a:r>
              <a:rPr sz="4050" b="1">
                <a:solidFill>
                  <a:srgbClr val="C8553D"/>
                </a:solidFill>
                <a:latin typeface="Arial"/>
                <a:ea typeface="Arial"/>
                <a:cs typeface="Arial"/>
              </a:rPr>
              <a:t>1 / 11</a:t>
            </a:r>
          </a:p>
        </p:txBody>
      </p:sp>
      <p:sp>
        <p:nvSpPr>
          <p:cNvPr id="13" name="">
            <a:extLst xmlns:a="http://schemas.openxmlformats.org/drawingml/2006/main">
              <a:ext uri="{FF2B5EF4-FFF2-40B4-BE49-F238E27FC236}">
                <a16:creationId xmlns:a16="http://schemas.microsoft.com/office/drawing/2014/main" id="{03283D39-FBEA-479D-88E1-46F1F4C330B5}"/>
              </a:ext>
            </a:extLst>
          </p:cNvPr>
          <p:cNvSpPr>
            <a:spLocks xmlns:a="http://schemas.openxmlformats.org/drawingml/2006/main" noGrp="1"/>
          </p:cNvSpPr>
          <p:nvPr/>
        </p:nvSpPr>
        <p:spPr>
          <a:xfrm xmlns:a="http://schemas.openxmlformats.org/drawingml/2006/main">
            <a:off x="6534150" y="3429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101820"/>
                </a:solidFill>
                <a:latin typeface="Arial"/>
                <a:ea typeface="Arial"/>
                <a:cs typeface="Arial"/>
              </a:defRPr>
            </a:pPr>
            <a:r>
              <a:rPr sz="2175" b="1">
                <a:solidFill>
                  <a:srgbClr val="101820"/>
                </a:solidFill>
                <a:latin typeface="Arial"/>
                <a:ea typeface="Arial"/>
                <a:cs typeface="Arial"/>
              </a:rPr>
              <a:t>sector wins vs equal weight</a:t>
            </a:r>
          </a:p>
        </p:txBody>
      </p:sp>
      <p:sp>
        <p:nvSpPr>
          <p:cNvPr id="14" name="">
            <a:extLst xmlns:a="http://schemas.openxmlformats.org/drawingml/2006/main">
              <a:ext uri="{FF2B5EF4-FFF2-40B4-BE49-F238E27FC236}">
                <a16:creationId xmlns:a16="http://schemas.microsoft.com/office/drawing/2014/main" id="{DB7B3C09-EAFE-41D8-880B-D0BE56096F33}"/>
              </a:ext>
            </a:extLst>
          </p:cNvPr>
          <p:cNvSpPr>
            <a:spLocks xmlns:a="http://schemas.openxmlformats.org/drawingml/2006/main" noGrp="1"/>
          </p:cNvSpPr>
          <p:nvPr/>
        </p:nvSpPr>
        <p:spPr>
          <a:xfrm xmlns:a="http://schemas.openxmlformats.org/drawingml/2006/main">
            <a:off x="6534150" y="400050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Sector ETFs: -3.45 pp</a:t>
            </a:r>
          </a:p>
          <a:p xmlns:a="http://schemas.openxmlformats.org/drawingml/2006/main">
            <a:pPr algn="l">
              <a:buNone/>
              <a:defRPr sz="1500" b="0">
                <a:solidFill>
                  <a:srgbClr val="52616B"/>
                </a:solidFill>
                <a:latin typeface="Arial"/>
                <a:ea typeface="Arial"/>
                <a:cs typeface="Arial"/>
              </a:defRPr>
            </a:pPr>
            <a:r>
              <a:rPr sz="1500" b="0">
                <a:solidFill>
                  <a:srgbClr val="52616B"/>
                </a:solidFill>
                <a:latin typeface="Arial"/>
                <a:ea typeface="Arial"/>
                <a:cs typeface="Arial"/>
              </a:rPr>
              <a:t>Static-stock evidence only</a:t>
            </a:r>
          </a:p>
        </p:txBody>
      </p:sp>
      <p:sp>
        <p:nvSpPr>
          <p:cNvPr id="15" name="">
            <a:extLst xmlns:a="http://schemas.openxmlformats.org/drawingml/2006/main">
              <a:ext uri="{FF2B5EF4-FFF2-40B4-BE49-F238E27FC236}">
                <a16:creationId xmlns:a16="http://schemas.microsoft.com/office/drawing/2014/main" id="{0DF58B95-FF34-44E3-BD69-0887709C26B4}"/>
              </a:ext>
            </a:extLst>
          </p:cNvPr>
          <p:cNvSpPr>
            <a:spLocks xmlns:a="http://schemas.openxmlformats.org/drawingml/2006/main" noGrp="1"/>
          </p:cNvSpPr>
          <p:nvPr/>
        </p:nvSpPr>
        <p:spPr>
          <a:xfrm xmlns:a="http://schemas.openxmlformats.org/drawingml/2006/main">
            <a:off x="2133600" y="5505450"/>
            <a:ext cx="792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75" b="1">
                <a:solidFill>
                  <a:srgbClr val="101820"/>
                </a:solidFill>
                <a:latin typeface="Arial"/>
                <a:ea typeface="Arial"/>
                <a:cs typeface="Arial"/>
              </a:defRPr>
            </a:pPr>
            <a:r>
              <a:rPr sz="2175" b="1">
                <a:solidFill>
                  <a:srgbClr val="101820"/>
                </a:solidFill>
                <a:latin typeface="Arial"/>
                <a:ea typeface="Arial"/>
                <a:cs typeface="Arial"/>
              </a:rPr>
              <a:t>Universe choice is part of the hypothesis—not a neutral input.</a:t>
            </a:r>
          </a:p>
        </p:txBody>
      </p:sp>
    </p:spTree>
    <p:extLst>
      <p:ext uri="{BB962C8B-B14F-4D97-AF65-F5344CB8AC3E}">
        <p14:creationId xmlns:p14="http://schemas.microsoft.com/office/powerpoint/2010/main" val="15038810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6AB4CD6-A066-4BA6-83E2-7BED7686F042}"/>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UNIVERSE TRANSPORT · FROZEN CONTRACT</a:t>
            </a:r>
          </a:p>
        </p:txBody>
      </p:sp>
      <p:sp>
        <p:nvSpPr>
          <p:cNvPr id="2" name="slide-9-title">
            <a:extLst xmlns:a="http://schemas.openxmlformats.org/drawingml/2006/main">
              <a:ext uri="{FF2B5EF4-FFF2-40B4-BE49-F238E27FC236}">
                <a16:creationId xmlns:a16="http://schemas.microsoft.com/office/drawing/2014/main" id="{204441B9-2B0E-4029-B489-A1293A42A74D}"/>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Only the fleet changes</a:t>
            </a:r>
          </a:p>
        </p:txBody>
      </p:sp>
      <p:sp>
        <p:nvSpPr>
          <p:cNvPr id="3" name="">
            <a:extLst xmlns:a="http://schemas.openxmlformats.org/drawingml/2006/main">
              <a:ext uri="{FF2B5EF4-FFF2-40B4-BE49-F238E27FC236}">
                <a16:creationId xmlns:a16="http://schemas.microsoft.com/office/drawing/2014/main" id="{9C4A5C3A-384E-47D6-952B-25278B045246}"/>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slide-9-number">
            <a:extLst xmlns:a="http://schemas.openxmlformats.org/drawingml/2006/main">
              <a:ext uri="{FF2B5EF4-FFF2-40B4-BE49-F238E27FC236}">
                <a16:creationId xmlns:a16="http://schemas.microsoft.com/office/drawing/2014/main" id="{5EBD817D-F347-40A2-BECC-BF81DCE7FD7B}"/>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26</a:t>
            </a:r>
          </a:p>
        </p:txBody>
      </p:sp>
      <p:sp>
        <p:nvSpPr>
          <p:cNvPr id="5" name="">
            <a:extLst xmlns:a="http://schemas.openxmlformats.org/drawingml/2006/main">
              <a:ext uri="{FF2B5EF4-FFF2-40B4-BE49-F238E27FC236}">
                <a16:creationId xmlns:a16="http://schemas.microsoft.com/office/drawing/2014/main" id="{CE16435F-A773-4C41-B1F9-65A53A461560}"/>
              </a:ext>
            </a:extLst>
          </p:cNvPr>
          <p:cNvSpPr>
            <a:spLocks xmlns:a="http://schemas.openxmlformats.org/drawingml/2006/main" noGrp="1"/>
          </p:cNvSpPr>
          <p:nvPr/>
        </p:nvSpPr>
        <p:spPr>
          <a:xfrm xmlns:a="http://schemas.openxmlformats.org/drawingml/2006/main">
            <a:off x="609600" y="16573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UNIVERSE</a:t>
            </a:r>
          </a:p>
        </p:txBody>
      </p:sp>
      <p:sp>
        <p:nvSpPr>
          <p:cNvPr id="6" name="">
            <a:extLst xmlns:a="http://schemas.openxmlformats.org/drawingml/2006/main">
              <a:ext uri="{FF2B5EF4-FFF2-40B4-BE49-F238E27FC236}">
                <a16:creationId xmlns:a16="http://schemas.microsoft.com/office/drawing/2014/main" id="{DA51A465-7554-45A3-89FC-97D4DC096775}"/>
              </a:ext>
            </a:extLst>
          </p:cNvPr>
          <p:cNvSpPr>
            <a:spLocks xmlns:a="http://schemas.openxmlformats.org/drawingml/2006/main" noGrp="1"/>
          </p:cNvSpPr>
          <p:nvPr/>
        </p:nvSpPr>
        <p:spPr>
          <a:xfrm xmlns:a="http://schemas.openxmlformats.org/drawingml/2006/main">
            <a:off x="609600" y="201930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10 sector ETFs + eleven 8-stock sector baskets</a:t>
            </a:r>
          </a:p>
        </p:txBody>
      </p:sp>
      <p:sp>
        <p:nvSpPr>
          <p:cNvPr id="7" name="">
            <a:extLst xmlns:a="http://schemas.openxmlformats.org/drawingml/2006/main">
              <a:ext uri="{FF2B5EF4-FFF2-40B4-BE49-F238E27FC236}">
                <a16:creationId xmlns:a16="http://schemas.microsoft.com/office/drawing/2014/main" id="{8A9F2320-DB88-4F35-8CC6-DB00FC1B05DE}"/>
              </a:ext>
            </a:extLst>
          </p:cNvPr>
          <p:cNvSpPr>
            <a:spLocks xmlns:a="http://schemas.openxmlformats.org/drawingml/2006/main" noGrp="1"/>
          </p:cNvSpPr>
          <p:nvPr/>
        </p:nvSpPr>
        <p:spPr>
          <a:xfrm xmlns:a="http://schemas.openxmlformats.org/drawingml/2006/main">
            <a:off x="609600" y="2647950"/>
            <a:ext cx="10953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1F61F531-F8BA-48C3-B110-1E615831EA34}"/>
              </a:ext>
            </a:extLst>
          </p:cNvPr>
          <p:cNvSpPr>
            <a:spLocks xmlns:a="http://schemas.openxmlformats.org/drawingml/2006/main" noGrp="1"/>
          </p:cNvSpPr>
          <p:nvPr/>
        </p:nvSpPr>
        <p:spPr>
          <a:xfrm xmlns:a="http://schemas.openxmlformats.org/drawingml/2006/main">
            <a:off x="66675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FLEETS</a:t>
            </a:r>
          </a:p>
        </p:txBody>
      </p:sp>
      <p:sp>
        <p:nvSpPr>
          <p:cNvPr id="9" name="">
            <a:extLst xmlns:a="http://schemas.openxmlformats.org/drawingml/2006/main">
              <a:ext uri="{FF2B5EF4-FFF2-40B4-BE49-F238E27FC236}">
                <a16:creationId xmlns:a16="http://schemas.microsoft.com/office/drawing/2014/main" id="{47A3F430-BD14-424C-8A98-AA2A7B48047A}"/>
              </a:ext>
            </a:extLst>
          </p:cNvPr>
          <p:cNvSpPr>
            <a:spLocks xmlns:a="http://schemas.openxmlformats.org/drawingml/2006/main" noGrp="1"/>
          </p:cNvSpPr>
          <p:nvPr/>
        </p:nvSpPr>
        <p:spPr>
          <a:xfrm xmlns:a="http://schemas.openxmlformats.org/drawingml/2006/main">
            <a:off x="66675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Frozen before outcomes</a:t>
            </a:r>
          </a:p>
        </p:txBody>
      </p:sp>
      <p:sp>
        <p:nvSpPr>
          <p:cNvPr id="10" name="">
            <a:extLst xmlns:a="http://schemas.openxmlformats.org/drawingml/2006/main">
              <a:ext uri="{FF2B5EF4-FFF2-40B4-BE49-F238E27FC236}">
                <a16:creationId xmlns:a16="http://schemas.microsoft.com/office/drawing/2014/main" id="{7B4B8567-8507-4AD7-A8F3-B7C8821C4E8E}"/>
              </a:ext>
            </a:extLst>
          </p:cNvPr>
          <p:cNvSpPr>
            <a:spLocks xmlns:a="http://schemas.openxmlformats.org/drawingml/2006/main" noGrp="1"/>
          </p:cNvSpPr>
          <p:nvPr/>
        </p:nvSpPr>
        <p:spPr>
          <a:xfrm xmlns:a="http://schemas.openxmlformats.org/drawingml/2006/main">
            <a:off x="342900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SIGNAL</a:t>
            </a:r>
          </a:p>
        </p:txBody>
      </p:sp>
      <p:sp>
        <p:nvSpPr>
          <p:cNvPr id="11" name="">
            <a:extLst xmlns:a="http://schemas.openxmlformats.org/drawingml/2006/main">
              <a:ext uri="{FF2B5EF4-FFF2-40B4-BE49-F238E27FC236}">
                <a16:creationId xmlns:a16="http://schemas.microsoft.com/office/drawing/2014/main" id="{EE99CB67-3B4D-4239-96EC-C5AE0846EE8A}"/>
              </a:ext>
            </a:extLst>
          </p:cNvPr>
          <p:cNvSpPr>
            <a:spLocks xmlns:a="http://schemas.openxmlformats.org/drawingml/2006/main" noGrp="1"/>
          </p:cNvSpPr>
          <p:nvPr/>
        </p:nvSpPr>
        <p:spPr>
          <a:xfrm xmlns:a="http://schemas.openxmlformats.org/drawingml/2006/main">
            <a:off x="342900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Wednesday close</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10- &amp; 25-week ROC</a:t>
            </a:r>
          </a:p>
        </p:txBody>
      </p:sp>
      <p:sp>
        <p:nvSpPr>
          <p:cNvPr id="12" name="">
            <a:extLst xmlns:a="http://schemas.openxmlformats.org/drawingml/2006/main">
              <a:ext uri="{FF2B5EF4-FFF2-40B4-BE49-F238E27FC236}">
                <a16:creationId xmlns:a16="http://schemas.microsoft.com/office/drawing/2014/main" id="{E2336303-E925-419F-BA88-E200EA9CDF26}"/>
              </a:ext>
            </a:extLst>
          </p:cNvPr>
          <p:cNvSpPr>
            <a:spLocks xmlns:a="http://schemas.openxmlformats.org/drawingml/2006/main" noGrp="1"/>
          </p:cNvSpPr>
          <p:nvPr/>
        </p:nvSpPr>
        <p:spPr>
          <a:xfrm xmlns:a="http://schemas.openxmlformats.org/drawingml/2006/main">
            <a:off x="619125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SELECTION</a:t>
            </a:r>
          </a:p>
        </p:txBody>
      </p:sp>
      <p:sp>
        <p:nvSpPr>
          <p:cNvPr id="13" name="">
            <a:extLst xmlns:a="http://schemas.openxmlformats.org/drawingml/2006/main">
              <a:ext uri="{FF2B5EF4-FFF2-40B4-BE49-F238E27FC236}">
                <a16:creationId xmlns:a16="http://schemas.microsoft.com/office/drawing/2014/main" id="{E87F69DB-3722-4584-ACD7-5794C8CC09D7}"/>
              </a:ext>
            </a:extLst>
          </p:cNvPr>
          <p:cNvSpPr>
            <a:spLocks xmlns:a="http://schemas.openxmlformats.org/drawingml/2006/main" noGrp="1"/>
          </p:cNvSpPr>
          <p:nvPr/>
        </p:nvSpPr>
        <p:spPr>
          <a:xfrm xmlns:a="http://schemas.openxmlformats.org/drawingml/2006/main">
            <a:off x="619125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Top 3 per sleeve</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Positive only</a:t>
            </a:r>
          </a:p>
        </p:txBody>
      </p:sp>
      <p:sp>
        <p:nvSpPr>
          <p:cNvPr id="14" name="">
            <a:extLst xmlns:a="http://schemas.openxmlformats.org/drawingml/2006/main">
              <a:ext uri="{FF2B5EF4-FFF2-40B4-BE49-F238E27FC236}">
                <a16:creationId xmlns:a16="http://schemas.microsoft.com/office/drawing/2014/main" id="{E839D33A-5AB2-49E2-BD35-DAC5629E2C9F}"/>
              </a:ext>
            </a:extLst>
          </p:cNvPr>
          <p:cNvSpPr>
            <a:spLocks xmlns:a="http://schemas.openxmlformats.org/drawingml/2006/main" noGrp="1"/>
          </p:cNvSpPr>
          <p:nvPr/>
        </p:nvSpPr>
        <p:spPr>
          <a:xfrm xmlns:a="http://schemas.openxmlformats.org/drawingml/2006/main">
            <a:off x="8953500" y="3067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AD376B60-6F16-4D24-AAF8-36D5C9BFBC2E}"/>
              </a:ext>
            </a:extLst>
          </p:cNvPr>
          <p:cNvSpPr>
            <a:spLocks xmlns:a="http://schemas.openxmlformats.org/drawingml/2006/main" noGrp="1"/>
          </p:cNvSpPr>
          <p:nvPr/>
        </p:nvSpPr>
        <p:spPr>
          <a:xfrm xmlns:a="http://schemas.openxmlformats.org/drawingml/2006/main">
            <a:off x="8953500" y="35242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Next open</a:t>
            </a:r>
          </a:p>
          <a:p xmlns:a="http://schemas.openxmlformats.org/drawingml/2006/main">
            <a:pPr algn="l">
              <a:buNone/>
              <a:defRPr sz="2025" b="1">
                <a:solidFill>
                  <a:srgbClr val="101820"/>
                </a:solidFill>
                <a:latin typeface="Arial"/>
                <a:ea typeface="Arial"/>
                <a:cs typeface="Arial"/>
              </a:defRPr>
            </a:pPr>
            <a:r>
              <a:rPr sz="2025" b="1">
                <a:solidFill>
                  <a:srgbClr val="101820"/>
                </a:solidFill>
                <a:latin typeface="Arial"/>
                <a:ea typeface="Arial"/>
                <a:cs typeface="Arial"/>
              </a:rPr>
              <a:t>5 bps one-way</a:t>
            </a:r>
          </a:p>
        </p:txBody>
      </p:sp>
      <p:sp>
        <p:nvSpPr>
          <p:cNvPr id="16" name="">
            <a:extLst xmlns:a="http://schemas.openxmlformats.org/drawingml/2006/main">
              <a:ext uri="{FF2B5EF4-FFF2-40B4-BE49-F238E27FC236}">
                <a16:creationId xmlns:a16="http://schemas.microsoft.com/office/drawing/2014/main" id="{B7A3C9A6-4C13-47A7-A4A9-F8DE7D75F0C5}"/>
              </a:ext>
            </a:extLst>
          </p:cNvPr>
          <p:cNvSpPr>
            <a:spLocks xmlns:a="http://schemas.openxmlformats.org/drawingml/2006/main" noGrp="1"/>
          </p:cNvSpPr>
          <p:nvPr/>
        </p:nvSpPr>
        <p:spPr>
          <a:xfrm xmlns:a="http://schemas.openxmlformats.org/drawingml/2006/main">
            <a:off x="666750" y="5010150"/>
            <a:ext cx="10572750" cy="7810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7" name="">
            <a:extLst xmlns:a="http://schemas.openxmlformats.org/drawingml/2006/main">
              <a:ext uri="{FF2B5EF4-FFF2-40B4-BE49-F238E27FC236}">
                <a16:creationId xmlns:a16="http://schemas.microsoft.com/office/drawing/2014/main" id="{91F22369-1F45-4A63-B774-BEF94F9004C8}"/>
              </a:ext>
            </a:extLst>
          </p:cNvPr>
          <p:cNvSpPr>
            <a:spLocks xmlns:a="http://schemas.openxmlformats.org/drawingml/2006/main" noGrp="1"/>
          </p:cNvSpPr>
          <p:nvPr/>
        </p:nvSpPr>
        <p:spPr>
          <a:xfrm xmlns:a="http://schemas.openxmlformats.org/drawingml/2006/main">
            <a:off x="952500" y="52197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01820"/>
                </a:solidFill>
                <a:latin typeface="Arial"/>
                <a:ea typeface="Arial"/>
                <a:cs typeface="Arial"/>
              </a:defRPr>
            </a:pPr>
            <a:r>
              <a:rPr sz="1800" b="1">
                <a:solidFill>
                  <a:srgbClr val="101820"/>
                </a:solidFill>
                <a:latin typeface="Arial"/>
                <a:ea typeface="Arial"/>
                <a:cs typeface="Arial"/>
              </a:rPr>
              <a:t>Stock fleets are static survivor-biased POCs; no point-in-time membership claim.</a:t>
            </a:r>
          </a:p>
        </p:txBody>
      </p:sp>
    </p:spTree>
    <p:extLst>
      <p:ext uri="{BB962C8B-B14F-4D97-AF65-F5344CB8AC3E}">
        <p14:creationId xmlns:p14="http://schemas.microsoft.com/office/powerpoint/2010/main" val="2316514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AA0F3C-FA14-482C-9911-54A24769116A}"/>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UNIVERSE TRANSPORT · SCORECARD</a:t>
            </a:r>
          </a:p>
        </p:txBody>
      </p:sp>
      <p:sp>
        <p:nvSpPr>
          <p:cNvPr id="2" name="">
            <a:extLst xmlns:a="http://schemas.openxmlformats.org/drawingml/2006/main">
              <a:ext uri="{FF2B5EF4-FFF2-40B4-BE49-F238E27FC236}">
                <a16:creationId xmlns:a16="http://schemas.microsoft.com/office/drawing/2014/main" id="{522D8FEC-18D3-4EAC-98CE-20AF9D03A3AC}"/>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Return transport fails; drawdown protection often survives</a:t>
            </a:r>
          </a:p>
        </p:txBody>
      </p:sp>
      <p:sp>
        <p:nvSpPr>
          <p:cNvPr id="3" name="">
            <a:extLst xmlns:a="http://schemas.openxmlformats.org/drawingml/2006/main">
              <a:ext uri="{FF2B5EF4-FFF2-40B4-BE49-F238E27FC236}">
                <a16:creationId xmlns:a16="http://schemas.microsoft.com/office/drawing/2014/main" id="{21605544-2473-417D-B48F-9F8DF40D4FAF}"/>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944BF93-B836-4831-89CE-852C703D91AD}"/>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27</a:t>
            </a:r>
          </a:p>
        </p:txBody>
      </p:sp>
      <p:sp>
        <p:nvSpPr>
          <p:cNvPr id="6" name="">
            <a:extLst xmlns:a="http://schemas.openxmlformats.org/drawingml/2006/main">
              <a:ext uri="{FF2B5EF4-FFF2-40B4-BE49-F238E27FC236}">
                <a16:creationId xmlns:a16="http://schemas.microsoft.com/office/drawing/2014/main" id="{DBF73623-95B1-48A7-A168-959D4ACF9EF6}"/>
              </a:ext>
            </a:extLst>
          </p:cNvPr>
          <p:cNvSpPr>
            <a:spLocks xmlns:a="http://schemas.openxmlformats.org/drawingml/2006/main" noGrp="1"/>
          </p:cNvSpPr>
          <p:nvPr/>
        </p:nvSpPr>
        <p:spPr>
          <a:xfrm xmlns:a="http://schemas.openxmlformats.org/drawingml/2006/main">
            <a:off x="8991600" y="1733550"/>
            <a:ext cx="2724150" cy="39052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7" name="">
            <a:extLst xmlns:a="http://schemas.openxmlformats.org/drawingml/2006/main">
              <a:ext uri="{FF2B5EF4-FFF2-40B4-BE49-F238E27FC236}">
                <a16:creationId xmlns:a16="http://schemas.microsoft.com/office/drawing/2014/main" id="{454D3BC9-AB19-4F57-985E-DDB05A7434C0}"/>
              </a:ext>
            </a:extLst>
          </p:cNvPr>
          <p:cNvSpPr>
            <a:spLocks xmlns:a="http://schemas.openxmlformats.org/drawingml/2006/main" noGrp="1"/>
          </p:cNvSpPr>
          <p:nvPr/>
        </p:nvSpPr>
        <p:spPr>
          <a:xfrm xmlns:a="http://schemas.openxmlformats.org/drawingml/2006/main">
            <a:off x="9258300" y="20193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TRANSPORT READOUT</a:t>
            </a:r>
          </a:p>
        </p:txBody>
      </p:sp>
      <p:sp>
        <p:nvSpPr>
          <p:cNvPr id="8" name="">
            <a:extLst xmlns:a="http://schemas.openxmlformats.org/drawingml/2006/main">
              <a:ext uri="{FF2B5EF4-FFF2-40B4-BE49-F238E27FC236}">
                <a16:creationId xmlns:a16="http://schemas.microsoft.com/office/drawing/2014/main" id="{50CF5D67-77D5-4062-92DB-E9771F376463}"/>
              </a:ext>
            </a:extLst>
          </p:cNvPr>
          <p:cNvSpPr>
            <a:spLocks xmlns:a="http://schemas.openxmlformats.org/drawingml/2006/main" noGrp="1"/>
          </p:cNvSpPr>
          <p:nvPr/>
        </p:nvSpPr>
        <p:spPr>
          <a:xfrm xmlns:a="http://schemas.openxmlformats.org/drawingml/2006/main">
            <a:off x="9258300" y="25717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101820"/>
                </a:solidFill>
                <a:latin typeface="Arial"/>
                <a:ea typeface="Arial"/>
                <a:cs typeface="Arial"/>
              </a:defRPr>
            </a:pPr>
            <a:r>
              <a:rPr sz="3000" b="1">
                <a:solidFill>
                  <a:srgbClr val="101820"/>
                </a:solidFill>
                <a:latin typeface="Arial"/>
                <a:ea typeface="Arial"/>
                <a:cs typeface="Arial"/>
              </a:rPr>
              <a:t>1 / 11</a:t>
            </a:r>
          </a:p>
        </p:txBody>
      </p:sp>
      <p:sp>
        <p:nvSpPr>
          <p:cNvPr id="9" name="">
            <a:extLst xmlns:a="http://schemas.openxmlformats.org/drawingml/2006/main">
              <a:ext uri="{FF2B5EF4-FFF2-40B4-BE49-F238E27FC236}">
                <a16:creationId xmlns:a16="http://schemas.microsoft.com/office/drawing/2014/main" id="{7C0B5D7F-B17A-4AC9-835E-6E44FD9128EC}"/>
              </a:ext>
            </a:extLst>
          </p:cNvPr>
          <p:cNvSpPr>
            <a:spLocks xmlns:a="http://schemas.openxmlformats.org/drawingml/2006/main" noGrp="1"/>
          </p:cNvSpPr>
          <p:nvPr/>
        </p:nvSpPr>
        <p:spPr>
          <a:xfrm xmlns:a="http://schemas.openxmlformats.org/drawingml/2006/main">
            <a:off x="9258300" y="3105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stock sectors beat equal weight</a:t>
            </a:r>
          </a:p>
        </p:txBody>
      </p:sp>
      <p:sp>
        <p:nvSpPr>
          <p:cNvPr id="10" name="">
            <a:extLst xmlns:a="http://schemas.openxmlformats.org/drawingml/2006/main">
              <a:ext uri="{FF2B5EF4-FFF2-40B4-BE49-F238E27FC236}">
                <a16:creationId xmlns:a16="http://schemas.microsoft.com/office/drawing/2014/main" id="{DE7E78EB-BFD1-417B-B781-C8666F0A80F8}"/>
              </a:ext>
            </a:extLst>
          </p:cNvPr>
          <p:cNvSpPr>
            <a:spLocks xmlns:a="http://schemas.openxmlformats.org/drawingml/2006/main" noGrp="1"/>
          </p:cNvSpPr>
          <p:nvPr/>
        </p:nvSpPr>
        <p:spPr>
          <a:xfrm xmlns:a="http://schemas.openxmlformats.org/drawingml/2006/main">
            <a:off x="9258300" y="37909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000" b="1">
                <a:solidFill>
                  <a:srgbClr val="3D8DFF"/>
                </a:solidFill>
                <a:latin typeface="Arial"/>
                <a:ea typeface="Arial"/>
                <a:cs typeface="Arial"/>
              </a:defRPr>
            </a:pPr>
            <a:r>
              <a:rPr sz="3000" b="1">
                <a:solidFill>
                  <a:srgbClr val="3D8DFF"/>
                </a:solidFill>
                <a:latin typeface="Arial"/>
                <a:ea typeface="Arial"/>
                <a:cs typeface="Arial"/>
              </a:rPr>
              <a:t>-3.45 pp</a:t>
            </a:r>
          </a:p>
        </p:txBody>
      </p:sp>
      <p:sp>
        <p:nvSpPr>
          <p:cNvPr id="11" name="">
            <a:extLst xmlns:a="http://schemas.openxmlformats.org/drawingml/2006/main">
              <a:ext uri="{FF2B5EF4-FFF2-40B4-BE49-F238E27FC236}">
                <a16:creationId xmlns:a16="http://schemas.microsoft.com/office/drawing/2014/main" id="{5DFE562A-9915-489A-BC82-2F762B044604}"/>
              </a:ext>
            </a:extLst>
          </p:cNvPr>
          <p:cNvSpPr>
            <a:spLocks xmlns:a="http://schemas.openxmlformats.org/drawingml/2006/main" noGrp="1"/>
          </p:cNvSpPr>
          <p:nvPr/>
        </p:nvSpPr>
        <p:spPr>
          <a:xfrm xmlns:a="http://schemas.openxmlformats.org/drawingml/2006/main">
            <a:off x="9258300" y="4324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0">
                <a:solidFill>
                  <a:srgbClr val="52616B"/>
                </a:solidFill>
                <a:latin typeface="Arial"/>
                <a:ea typeface="Arial"/>
                <a:cs typeface="Arial"/>
              </a:defRPr>
            </a:pPr>
            <a:r>
              <a:rPr sz="1650" b="0">
                <a:solidFill>
                  <a:srgbClr val="52616B"/>
                </a:solidFill>
                <a:latin typeface="Arial"/>
                <a:ea typeface="Arial"/>
                <a:cs typeface="Arial"/>
              </a:rPr>
              <a:t>sector-ETF CAGR gap</a:t>
            </a:r>
          </a:p>
        </p:txBody>
      </p:sp>
      <p:sp>
        <p:nvSpPr>
          <p:cNvPr id="12" name="">
            <a:extLst xmlns:a="http://schemas.openxmlformats.org/drawingml/2006/main">
              <a:ext uri="{FF2B5EF4-FFF2-40B4-BE49-F238E27FC236}">
                <a16:creationId xmlns:a16="http://schemas.microsoft.com/office/drawing/2014/main" id="{9A127473-A846-4BDC-AD98-EA1A2A6F11AD}"/>
              </a:ext>
            </a:extLst>
          </p:cNvPr>
          <p:cNvSpPr>
            <a:spLocks xmlns:a="http://schemas.openxmlformats.org/drawingml/2006/main" noGrp="1"/>
          </p:cNvSpPr>
          <p:nvPr/>
        </p:nvSpPr>
        <p:spPr>
          <a:xfrm xmlns:a="http://schemas.openxmlformats.org/drawingml/2006/main">
            <a:off x="9258300" y="49720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01820"/>
                </a:solidFill>
                <a:latin typeface="Arial"/>
                <a:ea typeface="Arial"/>
                <a:cs typeface="Arial"/>
              </a:defRPr>
            </a:pPr>
            <a:r>
              <a:rPr sz="1950" b="1">
                <a:solidFill>
                  <a:srgbClr val="101820"/>
                </a:solidFill>
                <a:latin typeface="Arial"/>
                <a:ea typeface="Arial"/>
                <a:cs typeface="Arial"/>
              </a:rPr>
              <a:t>6 / 11 shallower drawdown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dda10e836344b63"/>
          <a:stretch xmlns:a="http://schemas.openxmlformats.org/drawingml/2006/main"/>
        </p:blipFill>
        <p:spPr>
          <a:xfrm xmlns:a="http://schemas.openxmlformats.org/drawingml/2006/main">
            <a:off x="734786" y="1562100"/>
            <a:ext cx="7674429" cy="4476750"/>
          </a:xfrm>
          <a:prstGeom xmlns:a="http://schemas.openxmlformats.org/drawingml/2006/main" prst="rect">
            <a:avLst/>
          </a:prstGeom>
        </p:spPr>
      </p:pic>
    </p:spTree>
    <p:extLst>
      <p:ext uri="{BB962C8B-B14F-4D97-AF65-F5344CB8AC3E}">
        <p14:creationId xmlns:p14="http://schemas.microsoft.com/office/powerpoint/2010/main" val="10639124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B7BB28-C5CF-47BA-A918-FA17029EB44A}"/>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UNIVERSE TRANSPORT · COMPONENT ATTRIBUTION</a:t>
            </a:r>
          </a:p>
        </p:txBody>
      </p:sp>
      <p:sp>
        <p:nvSpPr>
          <p:cNvPr id="2" name="">
            <a:extLst xmlns:a="http://schemas.openxmlformats.org/drawingml/2006/main">
              <a:ext uri="{FF2B5EF4-FFF2-40B4-BE49-F238E27FC236}">
                <a16:creationId xmlns:a16="http://schemas.microsoft.com/office/drawing/2014/main" id="{8C401559-67C5-4215-B579-93FC871FC00D}"/>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absolute gate buys defense with return</a:t>
            </a:r>
          </a:p>
        </p:txBody>
      </p:sp>
      <p:sp>
        <p:nvSpPr>
          <p:cNvPr id="3" name="">
            <a:extLst xmlns:a="http://schemas.openxmlformats.org/drawingml/2006/main">
              <a:ext uri="{FF2B5EF4-FFF2-40B4-BE49-F238E27FC236}">
                <a16:creationId xmlns:a16="http://schemas.microsoft.com/office/drawing/2014/main" id="{FE913BAC-F3B9-4338-8958-15CBEBB596BB}"/>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0D32FF2-05B5-4DF6-BBF4-B1464DC9B66A}"/>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28</a:t>
            </a:r>
          </a:p>
        </p:txBody>
      </p:sp>
      <p:sp>
        <p:nvSpPr>
          <p:cNvPr id="6" name="">
            <a:extLst xmlns:a="http://schemas.openxmlformats.org/drawingml/2006/main">
              <a:ext uri="{FF2B5EF4-FFF2-40B4-BE49-F238E27FC236}">
                <a16:creationId xmlns:a16="http://schemas.microsoft.com/office/drawing/2014/main" id="{8B7E846F-BE01-42E8-9EBB-9EA3FC7567F0}"/>
              </a:ext>
            </a:extLst>
          </p:cNvPr>
          <p:cNvSpPr>
            <a:spLocks xmlns:a="http://schemas.openxmlformats.org/drawingml/2006/main" noGrp="1"/>
          </p:cNvSpPr>
          <p:nvPr/>
        </p:nvSpPr>
        <p:spPr>
          <a:xfrm xmlns:a="http://schemas.openxmlformats.org/drawingml/2006/main">
            <a:off x="8153400" y="1695450"/>
            <a:ext cx="3429000" cy="405765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7" name="">
            <a:extLst xmlns:a="http://schemas.openxmlformats.org/drawingml/2006/main">
              <a:ext uri="{FF2B5EF4-FFF2-40B4-BE49-F238E27FC236}">
                <a16:creationId xmlns:a16="http://schemas.microsoft.com/office/drawing/2014/main" id="{7A48CFB1-8F2F-43AD-84B5-5B62F4FCE8D1}"/>
              </a:ext>
            </a:extLst>
          </p:cNvPr>
          <p:cNvSpPr>
            <a:spLocks xmlns:a="http://schemas.openxmlformats.org/drawingml/2006/main" noGrp="1"/>
          </p:cNvSpPr>
          <p:nvPr/>
        </p:nvSpPr>
        <p:spPr>
          <a:xfrm xmlns:a="http://schemas.openxmlformats.org/drawingml/2006/main">
            <a:off x="8496300" y="20002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3D8DFF"/>
                </a:solidFill>
                <a:latin typeface="Arial"/>
                <a:ea typeface="Arial"/>
                <a:cs typeface="Arial"/>
              </a:defRPr>
            </a:pPr>
            <a:r>
              <a:rPr sz="1275" b="1">
                <a:solidFill>
                  <a:srgbClr val="3D8DFF"/>
                </a:solidFill>
                <a:latin typeface="Arial"/>
                <a:ea typeface="Arial"/>
                <a:cs typeface="Arial"/>
              </a:rPr>
              <a:t>ABSOLUTE GATE</a:t>
            </a:r>
          </a:p>
        </p:txBody>
      </p:sp>
      <p:sp>
        <p:nvSpPr>
          <p:cNvPr id="8" name="">
            <a:extLst xmlns:a="http://schemas.openxmlformats.org/drawingml/2006/main">
              <a:ext uri="{FF2B5EF4-FFF2-40B4-BE49-F238E27FC236}">
                <a16:creationId xmlns:a16="http://schemas.microsoft.com/office/drawing/2014/main" id="{DC731ED7-5F85-42CB-A69F-0889CEA3331A}"/>
              </a:ext>
            </a:extLst>
          </p:cNvPr>
          <p:cNvSpPr>
            <a:spLocks xmlns:a="http://schemas.openxmlformats.org/drawingml/2006/main" noGrp="1"/>
          </p:cNvSpPr>
          <p:nvPr/>
        </p:nvSpPr>
        <p:spPr>
          <a:xfrm xmlns:a="http://schemas.openxmlformats.org/drawingml/2006/main">
            <a:off x="8496300" y="2533650"/>
            <a:ext cx="26860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a:solidFill>
                  <a:srgbClr val="3D8DFF"/>
                </a:solidFill>
                <a:latin typeface="Arial"/>
                <a:ea typeface="Arial"/>
                <a:cs typeface="Arial"/>
              </a:defRPr>
            </a:pPr>
            <a:r>
              <a:rPr sz="3375" b="1">
                <a:solidFill>
                  <a:srgbClr val="3D8DFF"/>
                </a:solidFill>
                <a:latin typeface="Arial"/>
                <a:ea typeface="Arial"/>
                <a:cs typeface="Arial"/>
              </a:rPr>
              <a:t>12 / 12</a:t>
            </a:r>
          </a:p>
        </p:txBody>
      </p:sp>
      <p:sp>
        <p:nvSpPr>
          <p:cNvPr id="9" name="">
            <a:extLst xmlns:a="http://schemas.openxmlformats.org/drawingml/2006/main">
              <a:ext uri="{FF2B5EF4-FFF2-40B4-BE49-F238E27FC236}">
                <a16:creationId xmlns:a16="http://schemas.microsoft.com/office/drawing/2014/main" id="{406DC0E8-33AD-4797-87D6-8B560493E789}"/>
              </a:ext>
            </a:extLst>
          </p:cNvPr>
          <p:cNvSpPr>
            <a:spLocks xmlns:a="http://schemas.openxmlformats.org/drawingml/2006/main" noGrp="1"/>
          </p:cNvSpPr>
          <p:nvPr/>
        </p:nvSpPr>
        <p:spPr>
          <a:xfrm xmlns:a="http://schemas.openxmlformats.org/drawingml/2006/main">
            <a:off x="8496300" y="31051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lower CAGR than relative-only</a:t>
            </a:r>
          </a:p>
        </p:txBody>
      </p:sp>
      <p:sp>
        <p:nvSpPr>
          <p:cNvPr id="10" name="">
            <a:extLst xmlns:a="http://schemas.openxmlformats.org/drawingml/2006/main">
              <a:ext uri="{FF2B5EF4-FFF2-40B4-BE49-F238E27FC236}">
                <a16:creationId xmlns:a16="http://schemas.microsoft.com/office/drawing/2014/main" id="{A0EB914A-A236-47F4-91E9-BA72FF10432A}"/>
              </a:ext>
            </a:extLst>
          </p:cNvPr>
          <p:cNvSpPr>
            <a:spLocks xmlns:a="http://schemas.openxmlformats.org/drawingml/2006/main" noGrp="1"/>
          </p:cNvSpPr>
          <p:nvPr/>
        </p:nvSpPr>
        <p:spPr>
          <a:xfrm xmlns:a="http://schemas.openxmlformats.org/drawingml/2006/main">
            <a:off x="8496300" y="3714750"/>
            <a:ext cx="2686050" cy="0"/>
          </a:xfrm>
          <a:prstGeom xmlns:a="http://schemas.openxmlformats.org/drawingml/2006/main" prst="line">
            <a:avLst/>
          </a:prstGeom>
          <a:noFill xmlns:a="http://schemas.openxmlformats.org/drawingml/2006/main"/>
          <a:ln xmlns:a="http://schemas.openxmlformats.org/drawingml/2006/main" w="19050">
            <a:solidFill>
              <a:srgbClr val="6DCBF4"/>
            </a:solidFill>
            <a:prstDash val="solid"/>
          </a:ln>
        </p:spPr>
      </p:sp>
      <p:sp>
        <p:nvSpPr>
          <p:cNvPr id="11" name="">
            <a:extLst xmlns:a="http://schemas.openxmlformats.org/drawingml/2006/main">
              <a:ext uri="{FF2B5EF4-FFF2-40B4-BE49-F238E27FC236}">
                <a16:creationId xmlns:a16="http://schemas.microsoft.com/office/drawing/2014/main" id="{63C90848-627F-4872-9F08-0BCEBC58FC88}"/>
              </a:ext>
            </a:extLst>
          </p:cNvPr>
          <p:cNvSpPr>
            <a:spLocks xmlns:a="http://schemas.openxmlformats.org/drawingml/2006/main" noGrp="1"/>
          </p:cNvSpPr>
          <p:nvPr/>
        </p:nvSpPr>
        <p:spPr>
          <a:xfrm xmlns:a="http://schemas.openxmlformats.org/drawingml/2006/main">
            <a:off x="8496300" y="3962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101820"/>
                </a:solidFill>
                <a:latin typeface="Arial"/>
                <a:ea typeface="Arial"/>
                <a:cs typeface="Arial"/>
              </a:defRPr>
            </a:pPr>
            <a:r>
              <a:rPr sz="1575" b="1">
                <a:solidFill>
                  <a:srgbClr val="101820"/>
                </a:solidFill>
                <a:latin typeface="Arial"/>
                <a:ea typeface="Arial"/>
                <a:cs typeface="Arial"/>
              </a:rPr>
              <a:t>9 / 12</a:t>
            </a:r>
          </a:p>
        </p:txBody>
      </p:sp>
      <p:sp>
        <p:nvSpPr>
          <p:cNvPr id="12" name="">
            <a:extLst xmlns:a="http://schemas.openxmlformats.org/drawingml/2006/main">
              <a:ext uri="{FF2B5EF4-FFF2-40B4-BE49-F238E27FC236}">
                <a16:creationId xmlns:a16="http://schemas.microsoft.com/office/drawing/2014/main" id="{70090FDC-931D-4B56-AD5D-C71AA6FC29F9}"/>
              </a:ext>
            </a:extLst>
          </p:cNvPr>
          <p:cNvSpPr>
            <a:spLocks xmlns:a="http://schemas.openxmlformats.org/drawingml/2006/main" noGrp="1"/>
          </p:cNvSpPr>
          <p:nvPr/>
        </p:nvSpPr>
        <p:spPr>
          <a:xfrm xmlns:a="http://schemas.openxmlformats.org/drawingml/2006/main">
            <a:off x="8496300" y="4419600"/>
            <a:ext cx="26860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52616B"/>
                </a:solidFill>
                <a:latin typeface="Arial"/>
                <a:ea typeface="Arial"/>
                <a:cs typeface="Arial"/>
              </a:defRPr>
            </a:pPr>
            <a:r>
              <a:rPr sz="1725" b="0">
                <a:solidFill>
                  <a:srgbClr val="52616B"/>
                </a:solidFill>
                <a:latin typeface="Arial"/>
                <a:ea typeface="Arial"/>
                <a:cs typeface="Arial"/>
              </a:rPr>
              <a:t>shallower drawdown</a:t>
            </a:r>
          </a:p>
        </p:txBody>
      </p:sp>
      <p:sp>
        <p:nvSpPr>
          <p:cNvPr id="13" name="">
            <a:extLst xmlns:a="http://schemas.openxmlformats.org/drawingml/2006/main">
              <a:ext uri="{FF2B5EF4-FFF2-40B4-BE49-F238E27FC236}">
                <a16:creationId xmlns:a16="http://schemas.microsoft.com/office/drawing/2014/main" id="{F166845D-8E26-4804-AAA3-D76C79B2D4FB}"/>
              </a:ext>
            </a:extLst>
          </p:cNvPr>
          <p:cNvSpPr>
            <a:spLocks xmlns:a="http://schemas.openxmlformats.org/drawingml/2006/main" noGrp="1"/>
          </p:cNvSpPr>
          <p:nvPr/>
        </p:nvSpPr>
        <p:spPr>
          <a:xfrm xmlns:a="http://schemas.openxmlformats.org/drawingml/2006/main">
            <a:off x="1066800" y="58864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01820"/>
                </a:solidFill>
                <a:latin typeface="Arial"/>
                <a:ea typeface="Arial"/>
                <a:cs typeface="Arial"/>
              </a:defRPr>
            </a:pPr>
            <a:r>
              <a:rPr sz="1800" b="1">
                <a:solidFill>
                  <a:srgbClr val="101820"/>
                </a:solidFill>
                <a:latin typeface="Arial"/>
                <a:ea typeface="Arial"/>
                <a:cs typeface="Arial"/>
              </a:rPr>
              <a:t>Cash protection is economically active here—but it is not free.</a:t>
            </a:r>
          </a:p>
        </p:txBody>
      </p:sp>
      <p:sp>
        <p:nvSpPr>
          <p:cNvPr id="16" name="">
            <a:extLst xmlns:a="http://schemas.openxmlformats.org/drawingml/2006/main">
              <a:ext uri="{FF2B5EF4-FFF2-40B4-BE49-F238E27FC236}">
                <a16:creationId xmlns:a16="http://schemas.microsoft.com/office/drawing/2014/main" id="{CBB05286-4B59-4C91-A588-5CD09F062F89}"/>
              </a:ext>
            </a:extLst>
          </p:cNvPr>
          <p:cNvSpPr>
            <a:spLocks xmlns:a="http://schemas.openxmlformats.org/drawingml/2006/main" noGrp="1"/>
          </p:cNvSpPr>
          <p:nvPr/>
        </p:nvSpPr>
        <p:spPr>
          <a:xfrm xmlns:a="http://schemas.openxmlformats.org/drawingml/2006/main">
            <a:off x="11144250" y="6324600"/>
            <a:ext cx="628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aa4c7bcea1b4967"/>
          <a:stretch xmlns:a="http://schemas.openxmlformats.org/drawingml/2006/main"/>
        </p:blipFill>
        <p:spPr>
          <a:xfrm xmlns:a="http://schemas.openxmlformats.org/drawingml/2006/main">
            <a:off x="818956" y="1754868"/>
            <a:ext cx="6686939" cy="3900714"/>
          </a:xfrm>
          <a:prstGeom xmlns:a="http://schemas.openxmlformats.org/drawingml/2006/main" prst="rect">
            <a:avLst/>
          </a:prstGeom>
        </p:spPr>
      </p:pic>
    </p:spTree>
    <p:extLst>
      <p:ext uri="{BB962C8B-B14F-4D97-AF65-F5344CB8AC3E}">
        <p14:creationId xmlns:p14="http://schemas.microsoft.com/office/powerpoint/2010/main" val="101966379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DB7632-9321-4B0D-B49B-BAF52F1D5F3F}"/>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UNIVERSE TRANSPORT · INTERPRETATION</a:t>
            </a:r>
          </a:p>
        </p:txBody>
      </p:sp>
      <p:sp>
        <p:nvSpPr>
          <p:cNvPr id="2" name="">
            <a:extLst xmlns:a="http://schemas.openxmlformats.org/drawingml/2006/main">
              <a:ext uri="{FF2B5EF4-FFF2-40B4-BE49-F238E27FC236}">
                <a16:creationId xmlns:a16="http://schemas.microsoft.com/office/drawing/2014/main" id="{4F6E0FE8-6C1B-4A13-9D2D-6E11399D4D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Curated stock portfolios are experiments—not confirmation</a:t>
            </a:r>
          </a:p>
        </p:txBody>
      </p:sp>
      <p:sp>
        <p:nvSpPr>
          <p:cNvPr id="3" name="">
            <a:extLst xmlns:a="http://schemas.openxmlformats.org/drawingml/2006/main">
              <a:ext uri="{FF2B5EF4-FFF2-40B4-BE49-F238E27FC236}">
                <a16:creationId xmlns:a16="http://schemas.microsoft.com/office/drawing/2014/main" id="{0E0B56DB-4E40-4B87-BA34-B1427431835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9465AD-88DC-48BC-BDAC-EBEFA9C8F7B5}"/>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29</a:t>
            </a:r>
          </a:p>
        </p:txBody>
      </p:sp>
      <p:sp>
        <p:nvSpPr>
          <p:cNvPr id="5" name="">
            <a:extLst xmlns:a="http://schemas.openxmlformats.org/drawingml/2006/main">
              <a:ext uri="{FF2B5EF4-FFF2-40B4-BE49-F238E27FC236}">
                <a16:creationId xmlns:a16="http://schemas.microsoft.com/office/drawing/2014/main" id="{CD393174-0A3C-4E18-A0E5-CFFEAB42B506}"/>
              </a:ext>
            </a:extLst>
          </p:cNvPr>
          <p:cNvSpPr>
            <a:spLocks xmlns:a="http://schemas.openxmlformats.org/drawingml/2006/main" noGrp="1"/>
          </p:cNvSpPr>
          <p:nvPr/>
        </p:nvSpPr>
        <p:spPr>
          <a:xfrm xmlns:a="http://schemas.openxmlformats.org/drawingml/2006/main">
            <a:off x="666750" y="1752600"/>
            <a:ext cx="10858500" cy="10287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802C9A30-9CD1-4907-B5B7-2F6BE57885E8}"/>
              </a:ext>
            </a:extLst>
          </p:cNvPr>
          <p:cNvSpPr>
            <a:spLocks xmlns:a="http://schemas.openxmlformats.org/drawingml/2006/main" noGrp="1"/>
          </p:cNvSpPr>
          <p:nvPr/>
        </p:nvSpPr>
        <p:spPr>
          <a:xfrm xmlns:a="http://schemas.openxmlformats.org/drawingml/2006/main">
            <a:off x="952500" y="2000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2E7D5B"/>
                </a:solidFill>
                <a:latin typeface="Arial"/>
                <a:ea typeface="Arial"/>
                <a:cs typeface="Arial"/>
              </a:defRPr>
            </a:pPr>
            <a:r>
              <a:rPr sz="2025" b="1">
                <a:solidFill>
                  <a:srgbClr val="2E7D5B"/>
                </a:solidFill>
                <a:latin typeface="Arial"/>
                <a:ea typeface="Arial"/>
                <a:cs typeface="Arial"/>
              </a:rPr>
              <a:t>Mechanically valid</a:t>
            </a:r>
          </a:p>
        </p:txBody>
      </p:sp>
      <p:sp>
        <p:nvSpPr>
          <p:cNvPr id="7" name="">
            <a:extLst xmlns:a="http://schemas.openxmlformats.org/drawingml/2006/main">
              <a:ext uri="{FF2B5EF4-FFF2-40B4-BE49-F238E27FC236}">
                <a16:creationId xmlns:a16="http://schemas.microsoft.com/office/drawing/2014/main" id="{4C0B6826-C1CD-407B-B1BD-7E0FDA1C4296}"/>
              </a:ext>
            </a:extLst>
          </p:cNvPr>
          <p:cNvSpPr>
            <a:spLocks xmlns:a="http://schemas.openxmlformats.org/drawingml/2006/main" noGrp="1"/>
          </p:cNvSpPr>
          <p:nvPr/>
        </p:nvSpPr>
        <p:spPr>
          <a:xfrm xmlns:a="http://schemas.openxmlformats.org/drawingml/2006/main">
            <a:off x="3276600" y="19431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Rank-and-rotate mechanics can operate on any comparable liquid asset fleet.</a:t>
            </a:r>
          </a:p>
        </p:txBody>
      </p:sp>
      <p:sp>
        <p:nvSpPr>
          <p:cNvPr id="8" name="">
            <a:extLst xmlns:a="http://schemas.openxmlformats.org/drawingml/2006/main">
              <a:ext uri="{FF2B5EF4-FFF2-40B4-BE49-F238E27FC236}">
                <a16:creationId xmlns:a16="http://schemas.microsoft.com/office/drawing/2014/main" id="{3AFAF26A-2C8D-481A-8C17-B8A9A3967177}"/>
              </a:ext>
            </a:extLst>
          </p:cNvPr>
          <p:cNvSpPr>
            <a:spLocks xmlns:a="http://schemas.openxmlformats.org/drawingml/2006/main" noGrp="1"/>
          </p:cNvSpPr>
          <p:nvPr/>
        </p:nvSpPr>
        <p:spPr>
          <a:xfrm xmlns:a="http://schemas.openxmlformats.org/drawingml/2006/main">
            <a:off x="666750" y="3048000"/>
            <a:ext cx="10858500" cy="10287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9" name="">
            <a:extLst xmlns:a="http://schemas.openxmlformats.org/drawingml/2006/main">
              <a:ext uri="{FF2B5EF4-FFF2-40B4-BE49-F238E27FC236}">
                <a16:creationId xmlns:a16="http://schemas.microsoft.com/office/drawing/2014/main" id="{DDE8FBE1-8020-4B7A-932E-FC73716C919B}"/>
              </a:ext>
            </a:extLst>
          </p:cNvPr>
          <p:cNvSpPr>
            <a:spLocks xmlns:a="http://schemas.openxmlformats.org/drawingml/2006/main" noGrp="1"/>
          </p:cNvSpPr>
          <p:nvPr/>
        </p:nvSpPr>
        <p:spPr>
          <a:xfrm xmlns:a="http://schemas.openxmlformats.org/drawingml/2006/main">
            <a:off x="952500" y="3295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C8553D"/>
                </a:solidFill>
                <a:latin typeface="Arial"/>
                <a:ea typeface="Arial"/>
                <a:cs typeface="Arial"/>
              </a:defRPr>
            </a:pPr>
            <a:r>
              <a:rPr sz="2025" b="1">
                <a:solidFill>
                  <a:srgbClr val="C8553D"/>
                </a:solidFill>
                <a:latin typeface="Arial"/>
                <a:ea typeface="Arial"/>
                <a:cs typeface="Arial"/>
              </a:rPr>
              <a:t>Economically weak</a:t>
            </a:r>
          </a:p>
        </p:txBody>
      </p:sp>
      <p:sp>
        <p:nvSpPr>
          <p:cNvPr id="10" name="">
            <a:extLst xmlns:a="http://schemas.openxmlformats.org/drawingml/2006/main">
              <a:ext uri="{FF2B5EF4-FFF2-40B4-BE49-F238E27FC236}">
                <a16:creationId xmlns:a16="http://schemas.microsoft.com/office/drawing/2014/main" id="{E6DA919C-47F4-4345-87E2-1F6DF9D0EC90}"/>
              </a:ext>
            </a:extLst>
          </p:cNvPr>
          <p:cNvSpPr>
            <a:spLocks xmlns:a="http://schemas.openxmlformats.org/drawingml/2006/main" noGrp="1"/>
          </p:cNvSpPr>
          <p:nvPr/>
        </p:nvSpPr>
        <p:spPr>
          <a:xfrm xmlns:a="http://schemas.openxmlformats.org/drawingml/2006/main">
            <a:off x="3276600" y="32385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Ten of eleven sector baskets lagged their equal-weight ownership control on CAGR.</a:t>
            </a:r>
          </a:p>
        </p:txBody>
      </p:sp>
      <p:sp>
        <p:nvSpPr>
          <p:cNvPr id="11" name="">
            <a:extLst xmlns:a="http://schemas.openxmlformats.org/drawingml/2006/main">
              <a:ext uri="{FF2B5EF4-FFF2-40B4-BE49-F238E27FC236}">
                <a16:creationId xmlns:a16="http://schemas.microsoft.com/office/drawing/2014/main" id="{0879E259-AD91-4B41-8E67-E5334F74BAB8}"/>
              </a:ext>
            </a:extLst>
          </p:cNvPr>
          <p:cNvSpPr>
            <a:spLocks xmlns:a="http://schemas.openxmlformats.org/drawingml/2006/main" noGrp="1"/>
          </p:cNvSpPr>
          <p:nvPr/>
        </p:nvSpPr>
        <p:spPr>
          <a:xfrm xmlns:a="http://schemas.openxmlformats.org/drawingml/2006/main">
            <a:off x="666750" y="4343400"/>
            <a:ext cx="10858500" cy="1028700"/>
          </a:xfrm>
          <a:prstGeom xmlns:a="http://schemas.openxmlformats.org/drawingml/2006/main" prst="rect">
            <a:avLst/>
          </a:prstGeom>
          <a:solidFill xmlns:a="http://schemas.openxmlformats.org/drawingml/2006/main">
            <a:srgbClr val="EDEDED"/>
          </a:solidFill>
          <a:ln xmlns:a="http://schemas.openxmlformats.org/drawingml/2006/main" w="9525">
            <a:solidFill>
              <a:srgbClr val="52616B"/>
            </a:solidFill>
            <a:prstDash val="solid"/>
          </a:ln>
        </p:spPr>
      </p:sp>
      <p:sp>
        <p:nvSpPr>
          <p:cNvPr id="12" name="">
            <a:extLst xmlns:a="http://schemas.openxmlformats.org/drawingml/2006/main">
              <a:ext uri="{FF2B5EF4-FFF2-40B4-BE49-F238E27FC236}">
                <a16:creationId xmlns:a16="http://schemas.microsoft.com/office/drawing/2014/main" id="{FE0E70E3-6874-4441-9FD1-1060221212D9}"/>
              </a:ext>
            </a:extLst>
          </p:cNvPr>
          <p:cNvSpPr>
            <a:spLocks xmlns:a="http://schemas.openxmlformats.org/drawingml/2006/main" noGrp="1"/>
          </p:cNvSpPr>
          <p:nvPr/>
        </p:nvSpPr>
        <p:spPr>
          <a:xfrm xmlns:a="http://schemas.openxmlformats.org/drawingml/2006/main">
            <a:off x="952500" y="4591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52616B"/>
                </a:solidFill>
                <a:latin typeface="Arial"/>
                <a:ea typeface="Arial"/>
                <a:cs typeface="Arial"/>
              </a:defRPr>
            </a:pPr>
            <a:r>
              <a:rPr sz="2025" b="1">
                <a:solidFill>
                  <a:srgbClr val="52616B"/>
                </a:solidFill>
                <a:latin typeface="Arial"/>
                <a:ea typeface="Arial"/>
                <a:cs typeface="Arial"/>
              </a:rPr>
              <a:t>Evidence limit</a:t>
            </a:r>
          </a:p>
        </p:txBody>
      </p:sp>
      <p:sp>
        <p:nvSpPr>
          <p:cNvPr id="13" name="">
            <a:extLst xmlns:a="http://schemas.openxmlformats.org/drawingml/2006/main">
              <a:ext uri="{FF2B5EF4-FFF2-40B4-BE49-F238E27FC236}">
                <a16:creationId xmlns:a16="http://schemas.microsoft.com/office/drawing/2014/main" id="{7D88D2F7-BBA9-4B06-83BF-EF6C40360B55}"/>
              </a:ext>
            </a:extLst>
          </p:cNvPr>
          <p:cNvSpPr>
            <a:spLocks xmlns:a="http://schemas.openxmlformats.org/drawingml/2006/main" noGrp="1"/>
          </p:cNvSpPr>
          <p:nvPr/>
        </p:nvSpPr>
        <p:spPr>
          <a:xfrm xmlns:a="http://schemas.openxmlformats.org/drawingml/2006/main">
            <a:off x="3276600" y="45339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Surviving long-history stocks are not point-in-time membership and cannot establish ex-ante tradeability.</a:t>
            </a:r>
          </a:p>
        </p:txBody>
      </p:sp>
      <p:sp>
        <p:nvSpPr>
          <p:cNvPr id="14" name="">
            <a:extLst xmlns:a="http://schemas.openxmlformats.org/drawingml/2006/main">
              <a:ext uri="{FF2B5EF4-FFF2-40B4-BE49-F238E27FC236}">
                <a16:creationId xmlns:a16="http://schemas.microsoft.com/office/drawing/2014/main" id="{F7E3D076-54D1-4B3D-8F4A-D11630B25FFC}"/>
              </a:ext>
            </a:extLst>
          </p:cNvPr>
          <p:cNvSpPr>
            <a:spLocks xmlns:a="http://schemas.openxmlformats.org/drawingml/2006/main" noGrp="1"/>
          </p:cNvSpPr>
          <p:nvPr/>
        </p:nvSpPr>
        <p:spPr>
          <a:xfrm xmlns:a="http://schemas.openxmlformats.org/drawingml/2006/main">
            <a:off x="2114550" y="5753100"/>
            <a:ext cx="7962900" cy="4953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FF7807EE-5E9A-4AC4-A3F2-FA1CED7A80A8}"/>
              </a:ext>
            </a:extLst>
          </p:cNvPr>
          <p:cNvSpPr>
            <a:spLocks xmlns:a="http://schemas.openxmlformats.org/drawingml/2006/main" noGrp="1"/>
          </p:cNvSpPr>
          <p:nvPr/>
        </p:nvSpPr>
        <p:spPr>
          <a:xfrm xmlns:a="http://schemas.openxmlformats.org/drawingml/2006/main">
            <a:off x="2343150" y="57531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3D8DFF"/>
                </a:solidFill>
                <a:latin typeface="Arial"/>
                <a:ea typeface="Arial"/>
                <a:cs typeface="Arial"/>
              </a:defRPr>
            </a:pPr>
            <a:r>
              <a:rPr sz="1350" b="1">
                <a:solidFill>
                  <a:srgbClr val="3D8DFF"/>
                </a:solidFill>
                <a:latin typeface="Arial"/>
                <a:ea typeface="Arial"/>
                <a:cs typeface="Arial"/>
              </a:rPr>
              <a:t>The one green Technology cell is a clue, not permission to cherry-pick.</a:t>
            </a:r>
          </a:p>
        </p:txBody>
      </p:sp>
    </p:spTree>
    <p:extLst>
      <p:ext uri="{BB962C8B-B14F-4D97-AF65-F5344CB8AC3E}">
        <p14:creationId xmlns:p14="http://schemas.microsoft.com/office/powerpoint/2010/main" val="7339180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DB7632-9321-4B0D-B49B-BAF52F1D5F3F}"/>
              </a:ext>
            </a:extLst>
          </p:cNvPr>
          <p:cNvSpPr>
            <a:spLocks xmlns:a="http://schemas.openxmlformats.org/drawingml/2006/main" noGrp="1"/>
          </p:cNvSpPr>
          <p:nvPr/>
        </p:nvSpPr>
        <p:spPr>
          <a:xfrm xmlns:a="http://schemas.openxmlformats.org/drawingml/2006/main">
            <a:off x="400050" y="228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UNIVERSE TRANSPORT · DECISION BOUNDARY</a:t>
            </a:r>
          </a:p>
        </p:txBody>
      </p:sp>
      <p:sp>
        <p:nvSpPr>
          <p:cNvPr id="2" name="">
            <a:extLst xmlns:a="http://schemas.openxmlformats.org/drawingml/2006/main">
              <a:ext uri="{FF2B5EF4-FFF2-40B4-BE49-F238E27FC236}">
                <a16:creationId xmlns:a16="http://schemas.microsoft.com/office/drawing/2014/main" id="{4F6E0FE8-6C1B-4A13-9D2D-6E11399D4DD1}"/>
              </a:ext>
            </a:extLst>
          </p:cNvPr>
          <p:cNvSpPr>
            <a:spLocks xmlns:a="http://schemas.openxmlformats.org/drawingml/2006/main" noGrp="1"/>
          </p:cNvSpPr>
          <p:nvPr/>
        </p:nvSpPr>
        <p:spPr>
          <a:xfrm xmlns:a="http://schemas.openxmlformats.org/drawingml/2006/main">
            <a:off x="400050" y="476250"/>
            <a:ext cx="1104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101820"/>
                </a:solidFill>
                <a:latin typeface="Arial"/>
                <a:ea typeface="Arial"/>
                <a:cs typeface="Arial"/>
              </a:defRPr>
            </a:pPr>
            <a:r>
              <a:rPr sz="2700" b="1">
                <a:solidFill>
                  <a:srgbClr val="101820"/>
                </a:solidFill>
                <a:latin typeface="Arial"/>
                <a:ea typeface="Arial"/>
                <a:cs typeface="Arial"/>
              </a:rPr>
              <a:t>The principle transports as risk shaping—not return edge</a:t>
            </a:r>
          </a:p>
        </p:txBody>
      </p:sp>
      <p:sp>
        <p:nvSpPr>
          <p:cNvPr id="3" name="">
            <a:extLst xmlns:a="http://schemas.openxmlformats.org/drawingml/2006/main">
              <a:ext uri="{FF2B5EF4-FFF2-40B4-BE49-F238E27FC236}">
                <a16:creationId xmlns:a16="http://schemas.microsoft.com/office/drawing/2014/main" id="{0E0B56DB-4E40-4B87-BA34-B14274318353}"/>
              </a:ext>
            </a:extLst>
          </p:cNvPr>
          <p:cNvSpPr>
            <a:spLocks xmlns:a="http://schemas.openxmlformats.org/drawingml/2006/main" noGrp="1"/>
          </p:cNvSpPr>
          <p:nvPr/>
        </p:nvSpPr>
        <p:spPr>
          <a:xfrm xmlns:a="http://schemas.openxmlformats.org/drawingml/2006/main">
            <a:off x="400050" y="1428750"/>
            <a:ext cx="113919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9465AD-88DC-48BC-BDAC-EBEFA9C8F7B5}"/>
              </a:ext>
            </a:extLst>
          </p:cNvPr>
          <p:cNvSpPr>
            <a:spLocks xmlns:a="http://schemas.openxmlformats.org/drawingml/2006/main" noGrp="1"/>
          </p:cNvSpPr>
          <p:nvPr/>
        </p:nvSpPr>
        <p:spPr>
          <a:xfrm xmlns:a="http://schemas.openxmlformats.org/drawingml/2006/main">
            <a:off x="11163300" y="636270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200" b="0">
                <a:solidFill>
                  <a:srgbClr val="52616B"/>
                </a:solidFill>
                <a:latin typeface="Arial"/>
                <a:ea typeface="Arial"/>
                <a:cs typeface="Arial"/>
              </a:defRPr>
            </a:pPr>
            <a:r>
              <a:rPr sz="1200" b="0">
                <a:solidFill>
                  <a:srgbClr val="52616B"/>
                </a:solidFill>
                <a:latin typeface="Arial"/>
                <a:ea typeface="Arial"/>
                <a:cs typeface="Arial"/>
              </a:rPr>
              <a:t> 30</a:t>
            </a:r>
          </a:p>
        </p:txBody>
      </p:sp>
      <p:sp>
        <p:nvSpPr>
          <p:cNvPr id="5" name="">
            <a:extLst xmlns:a="http://schemas.openxmlformats.org/drawingml/2006/main">
              <a:ext uri="{FF2B5EF4-FFF2-40B4-BE49-F238E27FC236}">
                <a16:creationId xmlns:a16="http://schemas.microsoft.com/office/drawing/2014/main" id="{CD393174-0A3C-4E18-A0E5-CFFEAB42B506}"/>
              </a:ext>
            </a:extLst>
          </p:cNvPr>
          <p:cNvSpPr>
            <a:spLocks xmlns:a="http://schemas.openxmlformats.org/drawingml/2006/main" noGrp="1"/>
          </p:cNvSpPr>
          <p:nvPr/>
        </p:nvSpPr>
        <p:spPr>
          <a:xfrm xmlns:a="http://schemas.openxmlformats.org/drawingml/2006/main">
            <a:off x="666750" y="1752600"/>
            <a:ext cx="10858500" cy="1028700"/>
          </a:xfrm>
          <a:prstGeom xmlns:a="http://schemas.openxmlformats.org/drawingml/2006/main" prst="rect">
            <a:avLst/>
          </a:prstGeom>
          <a:solidFill xmlns:a="http://schemas.openxmlformats.org/drawingml/2006/main">
            <a:srgbClr val="E6F2EC"/>
          </a:solidFill>
          <a:ln xmlns:a="http://schemas.openxmlformats.org/drawingml/2006/main" w="9525">
            <a:solidFill>
              <a:srgbClr val="2E7D5B"/>
            </a:solidFill>
            <a:prstDash val="solid"/>
          </a:ln>
        </p:spPr>
      </p:sp>
      <p:sp>
        <p:nvSpPr>
          <p:cNvPr id="6" name="">
            <a:extLst xmlns:a="http://schemas.openxmlformats.org/drawingml/2006/main">
              <a:ext uri="{FF2B5EF4-FFF2-40B4-BE49-F238E27FC236}">
                <a16:creationId xmlns:a16="http://schemas.microsoft.com/office/drawing/2014/main" id="{802C9A30-9CD1-4907-B5B7-2F6BE57885E8}"/>
              </a:ext>
            </a:extLst>
          </p:cNvPr>
          <p:cNvSpPr>
            <a:spLocks xmlns:a="http://schemas.openxmlformats.org/drawingml/2006/main" noGrp="1"/>
          </p:cNvSpPr>
          <p:nvPr/>
        </p:nvSpPr>
        <p:spPr>
          <a:xfrm xmlns:a="http://schemas.openxmlformats.org/drawingml/2006/main">
            <a:off x="952500" y="2000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2E7D5B"/>
                </a:solidFill>
                <a:latin typeface="Arial"/>
                <a:ea typeface="Arial"/>
                <a:cs typeface="Arial"/>
              </a:defRPr>
            </a:pPr>
            <a:r>
              <a:rPr sz="2025" b="1">
                <a:solidFill>
                  <a:srgbClr val="2E7D5B"/>
                </a:solidFill>
                <a:latin typeface="Arial"/>
                <a:ea typeface="Arial"/>
                <a:cs typeface="Arial"/>
              </a:rPr>
              <a:t>Established</a:t>
            </a:r>
          </a:p>
        </p:txBody>
      </p:sp>
      <p:sp>
        <p:nvSpPr>
          <p:cNvPr id="7" name="">
            <a:extLst xmlns:a="http://schemas.openxmlformats.org/drawingml/2006/main">
              <a:ext uri="{FF2B5EF4-FFF2-40B4-BE49-F238E27FC236}">
                <a16:creationId xmlns:a16="http://schemas.microsoft.com/office/drawing/2014/main" id="{4C0B6826-C1CD-407B-B1BD-7E0FDA1C4296}"/>
              </a:ext>
            </a:extLst>
          </p:cNvPr>
          <p:cNvSpPr>
            <a:spLocks xmlns:a="http://schemas.openxmlformats.org/drawingml/2006/main" noGrp="1"/>
          </p:cNvSpPr>
          <p:nvPr/>
        </p:nvSpPr>
        <p:spPr>
          <a:xfrm xmlns:a="http://schemas.openxmlformats.org/drawingml/2006/main">
            <a:off x="3276600" y="19431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The same causal mechanics ran across twelve fleets; a defensive drawdown tradeoff appeared repeatedly.</a:t>
            </a:r>
          </a:p>
        </p:txBody>
      </p:sp>
      <p:sp>
        <p:nvSpPr>
          <p:cNvPr id="8" name="">
            <a:extLst xmlns:a="http://schemas.openxmlformats.org/drawingml/2006/main">
              <a:ext uri="{FF2B5EF4-FFF2-40B4-BE49-F238E27FC236}">
                <a16:creationId xmlns:a16="http://schemas.microsoft.com/office/drawing/2014/main" id="{3AFAF26A-2C8D-481A-8C17-B8A9A3967177}"/>
              </a:ext>
            </a:extLst>
          </p:cNvPr>
          <p:cNvSpPr>
            <a:spLocks xmlns:a="http://schemas.openxmlformats.org/drawingml/2006/main" noGrp="1"/>
          </p:cNvSpPr>
          <p:nvPr/>
        </p:nvSpPr>
        <p:spPr>
          <a:xfrm xmlns:a="http://schemas.openxmlformats.org/drawingml/2006/main">
            <a:off x="666750" y="3048000"/>
            <a:ext cx="10858500" cy="1028700"/>
          </a:xfrm>
          <a:prstGeom xmlns:a="http://schemas.openxmlformats.org/drawingml/2006/main" prst="rect">
            <a:avLst/>
          </a:prstGeom>
          <a:solidFill xmlns:a="http://schemas.openxmlformats.org/drawingml/2006/main">
            <a:srgbClr val="F7E7E2"/>
          </a:solidFill>
          <a:ln xmlns:a="http://schemas.openxmlformats.org/drawingml/2006/main" w="9525">
            <a:solidFill>
              <a:srgbClr val="C8553D"/>
            </a:solidFill>
            <a:prstDash val="solid"/>
          </a:ln>
        </p:spPr>
      </p:sp>
      <p:sp>
        <p:nvSpPr>
          <p:cNvPr id="9" name="">
            <a:extLst xmlns:a="http://schemas.openxmlformats.org/drawingml/2006/main">
              <a:ext uri="{FF2B5EF4-FFF2-40B4-BE49-F238E27FC236}">
                <a16:creationId xmlns:a16="http://schemas.microsoft.com/office/drawing/2014/main" id="{DDE8FBE1-8020-4B7A-932E-FC73716C919B}"/>
              </a:ext>
            </a:extLst>
          </p:cNvPr>
          <p:cNvSpPr>
            <a:spLocks xmlns:a="http://schemas.openxmlformats.org/drawingml/2006/main" noGrp="1"/>
          </p:cNvSpPr>
          <p:nvPr/>
        </p:nvSpPr>
        <p:spPr>
          <a:xfrm xmlns:a="http://schemas.openxmlformats.org/drawingml/2006/main">
            <a:off x="952500" y="32956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C8553D"/>
                </a:solidFill>
                <a:latin typeface="Arial"/>
                <a:ea typeface="Arial"/>
                <a:cs typeface="Arial"/>
              </a:defRPr>
            </a:pPr>
            <a:r>
              <a:rPr sz="2025" b="1">
                <a:solidFill>
                  <a:srgbClr val="C8553D"/>
                </a:solidFill>
                <a:latin typeface="Arial"/>
                <a:ea typeface="Arial"/>
                <a:cs typeface="Arial"/>
              </a:rPr>
              <a:t>Not established</a:t>
            </a:r>
          </a:p>
        </p:txBody>
      </p:sp>
      <p:sp>
        <p:nvSpPr>
          <p:cNvPr id="10" name="">
            <a:extLst xmlns:a="http://schemas.openxmlformats.org/drawingml/2006/main">
              <a:ext uri="{FF2B5EF4-FFF2-40B4-BE49-F238E27FC236}">
                <a16:creationId xmlns:a16="http://schemas.microsoft.com/office/drawing/2014/main" id="{E6DA919C-47F4-4345-87E2-1F6DF9D0EC90}"/>
              </a:ext>
            </a:extLst>
          </p:cNvPr>
          <p:cNvSpPr>
            <a:spLocks xmlns:a="http://schemas.openxmlformats.org/drawingml/2006/main" noGrp="1"/>
          </p:cNvSpPr>
          <p:nvPr/>
        </p:nvSpPr>
        <p:spPr>
          <a:xfrm xmlns:a="http://schemas.openxmlformats.org/drawingml/2006/main">
            <a:off x="3276600" y="32385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No broad CAGR advantage for ETFs or stocks, no Technology exception, and no forward evidence.</a:t>
            </a:r>
          </a:p>
        </p:txBody>
      </p:sp>
      <p:sp>
        <p:nvSpPr>
          <p:cNvPr id="11" name="">
            <a:extLst xmlns:a="http://schemas.openxmlformats.org/drawingml/2006/main">
              <a:ext uri="{FF2B5EF4-FFF2-40B4-BE49-F238E27FC236}">
                <a16:creationId xmlns:a16="http://schemas.microsoft.com/office/drawing/2014/main" id="{0879E259-AD91-4B41-8E67-E5334F74BAB8}"/>
              </a:ext>
            </a:extLst>
          </p:cNvPr>
          <p:cNvSpPr>
            <a:spLocks xmlns:a="http://schemas.openxmlformats.org/drawingml/2006/main" noGrp="1"/>
          </p:cNvSpPr>
          <p:nvPr/>
        </p:nvSpPr>
        <p:spPr>
          <a:xfrm xmlns:a="http://schemas.openxmlformats.org/drawingml/2006/main">
            <a:off x="666750" y="4343400"/>
            <a:ext cx="10858500" cy="1028700"/>
          </a:xfrm>
          <a:prstGeom xmlns:a="http://schemas.openxmlformats.org/drawingml/2006/main" prst="rect">
            <a:avLst/>
          </a:prstGeom>
          <a:solidFill xmlns:a="http://schemas.openxmlformats.org/drawingml/2006/main">
            <a:srgbClr val="EDEDED"/>
          </a:solidFill>
          <a:ln xmlns:a="http://schemas.openxmlformats.org/drawingml/2006/main" w="9525">
            <a:solidFill>
              <a:srgbClr val="52616B"/>
            </a:solidFill>
            <a:prstDash val="solid"/>
          </a:ln>
        </p:spPr>
      </p:sp>
      <p:sp>
        <p:nvSpPr>
          <p:cNvPr id="12" name="">
            <a:extLst xmlns:a="http://schemas.openxmlformats.org/drawingml/2006/main">
              <a:ext uri="{FF2B5EF4-FFF2-40B4-BE49-F238E27FC236}">
                <a16:creationId xmlns:a16="http://schemas.microsoft.com/office/drawing/2014/main" id="{FE0E70E3-6874-4441-9FD1-1060221212D9}"/>
              </a:ext>
            </a:extLst>
          </p:cNvPr>
          <p:cNvSpPr>
            <a:spLocks xmlns:a="http://schemas.openxmlformats.org/drawingml/2006/main" noGrp="1"/>
          </p:cNvSpPr>
          <p:nvPr/>
        </p:nvSpPr>
        <p:spPr>
          <a:xfrm xmlns:a="http://schemas.openxmlformats.org/drawingml/2006/main">
            <a:off x="952500" y="45910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52616B"/>
                </a:solidFill>
                <a:latin typeface="Arial"/>
                <a:ea typeface="Arial"/>
                <a:cs typeface="Arial"/>
              </a:defRPr>
            </a:pPr>
            <a:r>
              <a:rPr sz="2025" b="1">
                <a:solidFill>
                  <a:srgbClr val="52616B"/>
                </a:solidFill>
                <a:latin typeface="Arial"/>
                <a:ea typeface="Arial"/>
                <a:cs typeface="Arial"/>
              </a:rPr>
              <a:t>Next question</a:t>
            </a:r>
          </a:p>
        </p:txBody>
      </p:sp>
      <p:sp>
        <p:nvSpPr>
          <p:cNvPr id="13" name="">
            <a:extLst xmlns:a="http://schemas.openxmlformats.org/drawingml/2006/main">
              <a:ext uri="{FF2B5EF4-FFF2-40B4-BE49-F238E27FC236}">
                <a16:creationId xmlns:a16="http://schemas.microsoft.com/office/drawing/2014/main" id="{7D88D2F7-BBA9-4B06-83BF-EF6C40360B55}"/>
              </a:ext>
            </a:extLst>
          </p:cNvPr>
          <p:cNvSpPr>
            <a:spLocks xmlns:a="http://schemas.openxmlformats.org/drawingml/2006/main" noGrp="1"/>
          </p:cNvSpPr>
          <p:nvPr/>
        </p:nvSpPr>
        <p:spPr>
          <a:xfrm xmlns:a="http://schemas.openxmlformats.org/drawingml/2006/main">
            <a:off x="3276600" y="4533900"/>
            <a:ext cx="7772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01820"/>
                </a:solidFill>
                <a:latin typeface="Arial"/>
                <a:ea typeface="Arial"/>
                <a:cs typeface="Arial"/>
              </a:defRPr>
            </a:pPr>
            <a:r>
              <a:rPr sz="1725" b="0">
                <a:solidFill>
                  <a:srgbClr val="101820"/>
                </a:solidFill>
                <a:latin typeface="Arial"/>
                <a:ea typeface="Arial"/>
                <a:cs typeface="Arial"/>
              </a:rPr>
              <a:t>Test cross-sector substitution with breadth-preserving top-N—or compare simpler risk controls.</a:t>
            </a:r>
          </a:p>
        </p:txBody>
      </p:sp>
      <p:sp>
        <p:nvSpPr>
          <p:cNvPr id="14" name="">
            <a:extLst xmlns:a="http://schemas.openxmlformats.org/drawingml/2006/main">
              <a:ext uri="{FF2B5EF4-FFF2-40B4-BE49-F238E27FC236}">
                <a16:creationId xmlns:a16="http://schemas.microsoft.com/office/drawing/2014/main" id="{F7E3D076-54D1-4B3D-8F4A-D11630B25FFC}"/>
              </a:ext>
            </a:extLst>
          </p:cNvPr>
          <p:cNvSpPr>
            <a:spLocks xmlns:a="http://schemas.openxmlformats.org/drawingml/2006/main" noGrp="1"/>
          </p:cNvSpPr>
          <p:nvPr/>
        </p:nvSpPr>
        <p:spPr>
          <a:xfrm xmlns:a="http://schemas.openxmlformats.org/drawingml/2006/main">
            <a:off x="2114550" y="5753100"/>
            <a:ext cx="7962900" cy="495300"/>
          </a:xfrm>
          <a:prstGeom xmlns:a="http://schemas.openxmlformats.org/drawingml/2006/main" prst="rect">
            <a:avLst/>
          </a:prstGeom>
          <a:solidFill xmlns:a="http://schemas.openxmlformats.org/drawingml/2006/main">
            <a:srgbClr val="EAF5FB"/>
          </a:solidFill>
          <a:ln xmlns:a="http://schemas.openxmlformats.org/drawingml/2006/main" w="9525">
            <a:solidFill>
              <a:srgbClr val="6DCBF4"/>
            </a:solidFill>
            <a:prstDash val="solid"/>
          </a:ln>
        </p:spPr>
      </p:sp>
      <p:sp>
        <p:nvSpPr>
          <p:cNvPr id="15" name="">
            <a:extLst xmlns:a="http://schemas.openxmlformats.org/drawingml/2006/main">
              <a:ext uri="{FF2B5EF4-FFF2-40B4-BE49-F238E27FC236}">
                <a16:creationId xmlns:a16="http://schemas.microsoft.com/office/drawing/2014/main" id="{FF7807EE-5E9A-4AC4-A3F2-FA1CED7A80A8}"/>
              </a:ext>
            </a:extLst>
          </p:cNvPr>
          <p:cNvSpPr>
            <a:spLocks xmlns:a="http://schemas.openxmlformats.org/drawingml/2006/main" noGrp="1"/>
          </p:cNvSpPr>
          <p:nvPr/>
        </p:nvSpPr>
        <p:spPr>
          <a:xfrm xmlns:a="http://schemas.openxmlformats.org/drawingml/2006/main">
            <a:off x="2343150" y="57531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3D8DFF"/>
                </a:solidFill>
                <a:latin typeface="Arial"/>
                <a:ea typeface="Arial"/>
                <a:cs typeface="Arial"/>
              </a:defRPr>
            </a:pPr>
            <a:r>
              <a:rPr sz="1350" b="1">
                <a:solidFill>
                  <a:srgbClr val="3D8DFF"/>
                </a:solidFill>
                <a:latin typeface="Arial"/>
                <a:ea typeface="Arial"/>
                <a:cs typeface="Arial"/>
              </a:rPr>
              <a:t>Huddle before opening either gate; do not search for a basket that turns green.</a:t>
            </a:r>
          </a:p>
        </p:txBody>
      </p:sp>
    </p:spTree>
    <p:extLst>
      <p:ext uri="{BB962C8B-B14F-4D97-AF65-F5344CB8AC3E}">
        <p14:creationId xmlns:p14="http://schemas.microsoft.com/office/powerpoint/2010/main" val="733918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2026-09-03T03:47:35.1050000Z</dcterms:created>
  <dcterms:modified xsi:type="dcterms:W3CDTF">2026-09-03T03:47:35.1050000Z</dcterms:modified>
</coreProperties>
</file>