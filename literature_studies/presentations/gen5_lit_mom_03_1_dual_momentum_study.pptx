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a957a519494c34" /><Relationship Type="http://schemas.openxmlformats.org/officeDocument/2006/relationships/extended-properties" Target="/docProps/app.xml" Id="R35419df48a854539" /><Relationship Type="http://schemas.openxmlformats.org/officeDocument/2006/relationships/officeDocument" Target="/ppt/presentation.xml" Id="R5a6fcc66eeda48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d756b67c74bba"/>
  </p:sldMasterIdLst>
  <p:notesMasterIdLst>
    <p:notesMasterId xmlns:r="http://schemas.openxmlformats.org/officeDocument/2006/relationships" r:id="Rc099882b3f7d4749"/>
  </p:notesMasterIdLst>
  <p:sldIdLst>
    <p:sldId xmlns:r="http://schemas.openxmlformats.org/officeDocument/2006/relationships" id="256" r:id="R67d377d24c4a46c5"/>
    <p:sldId xmlns:r="http://schemas.openxmlformats.org/officeDocument/2006/relationships" id="257" r:id="R57d388cc5d7348ea"/>
    <p:sldId xmlns:r="http://schemas.openxmlformats.org/officeDocument/2006/relationships" id="258" r:id="R6874ec18b93647af"/>
    <p:sldId xmlns:r="http://schemas.openxmlformats.org/officeDocument/2006/relationships" id="259" r:id="Re5d6524ae56c4892"/>
    <p:sldId xmlns:r="http://schemas.openxmlformats.org/officeDocument/2006/relationships" id="260" r:id="Racaa33e15d8a46b8"/>
    <p:sldId xmlns:r="http://schemas.openxmlformats.org/officeDocument/2006/relationships" id="261" r:id="Rf772bcf2c3c64f2e"/>
    <p:sldId xmlns:r="http://schemas.openxmlformats.org/officeDocument/2006/relationships" id="262" r:id="R1228e3d941964d65"/>
    <p:sldId xmlns:r="http://schemas.openxmlformats.org/officeDocument/2006/relationships" id="263" r:id="Ra4b80999d6374d60"/>
    <p:sldId xmlns:r="http://schemas.openxmlformats.org/officeDocument/2006/relationships" id="264" r:id="R3bb208c373ce4cc8"/>
    <p:sldId xmlns:r="http://schemas.openxmlformats.org/officeDocument/2006/relationships" id="265" r:id="Rc0079dbb22444b13"/>
    <p:sldId xmlns:r="http://schemas.openxmlformats.org/officeDocument/2006/relationships" id="266" r:id="Rb333aafb64ce4f4b"/>
    <p:sldId xmlns:r="http://schemas.openxmlformats.org/officeDocument/2006/relationships" id="267" r:id="Rf022bfe8617b431c"/>
    <p:sldId xmlns:r="http://schemas.openxmlformats.org/officeDocument/2006/relationships" id="268" r:id="R4836f034c74e4b80"/>
    <p:sldId xmlns:r="http://schemas.openxmlformats.org/officeDocument/2006/relationships" id="269" r:id="R9932f5473614495f"/>
    <p:sldId xmlns:r="http://schemas.openxmlformats.org/officeDocument/2006/relationships" id="270" r:id="Rc9be82d4d6ec416a"/>
    <p:sldId xmlns:r="http://schemas.openxmlformats.org/officeDocument/2006/relationships" id="271" r:id="Rcaa56087912e4056"/>
    <p:sldId xmlns:r="http://schemas.openxmlformats.org/officeDocument/2006/relationships" id="272" r:id="Ra81fc72b50914992"/>
    <p:sldId xmlns:r="http://schemas.openxmlformats.org/officeDocument/2006/relationships" id="273" r:id="Rd27da6db26b849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f67818d4b2488a" /><Relationship Type="http://schemas.openxmlformats.org/officeDocument/2006/relationships/slideMaster" Target="/ppt/slideMasters/slideMaster1.xml" Id="R18cd756b67c74bba" /><Relationship Type="http://schemas.openxmlformats.org/officeDocument/2006/relationships/notesMaster" Target="/ppt/notesMasters/notesMaster1.xml" Id="Rc099882b3f7d4749" /><Relationship Type="http://schemas.openxmlformats.org/officeDocument/2006/relationships/presProps" Target="/ppt/presProps.xml" Id="R0e84f3416309459d" /><Relationship Type="http://schemas.openxmlformats.org/officeDocument/2006/relationships/tableStyles" Target="/ppt/tableStyles.xml" Id="R69b69d23f13c4cec" /><Relationship Type="http://schemas.openxmlformats.org/officeDocument/2006/relationships/slide" Target="/ppt/slides/slide1.xml" Id="R67d377d24c4a46c5" /><Relationship Type="http://schemas.openxmlformats.org/officeDocument/2006/relationships/slide" Target="/ppt/slides/slide2.xml" Id="R57d388cc5d7348ea" /><Relationship Type="http://schemas.openxmlformats.org/officeDocument/2006/relationships/slide" Target="/ppt/slides/slide3.xml" Id="R6874ec18b93647af" /><Relationship Type="http://schemas.openxmlformats.org/officeDocument/2006/relationships/slide" Target="/ppt/slides/slide4.xml" Id="Re5d6524ae56c4892" /><Relationship Type="http://schemas.openxmlformats.org/officeDocument/2006/relationships/slide" Target="/ppt/slides/slide5.xml" Id="Racaa33e15d8a46b8" /><Relationship Type="http://schemas.openxmlformats.org/officeDocument/2006/relationships/slide" Target="/ppt/slides/slide6.xml" Id="Rf772bcf2c3c64f2e" /><Relationship Type="http://schemas.openxmlformats.org/officeDocument/2006/relationships/slide" Target="/ppt/slides/slide7.xml" Id="R1228e3d941964d65" /><Relationship Type="http://schemas.openxmlformats.org/officeDocument/2006/relationships/slide" Target="/ppt/slides/slide8.xml" Id="Ra4b80999d6374d60" /><Relationship Type="http://schemas.openxmlformats.org/officeDocument/2006/relationships/slide" Target="/ppt/slides/slide9.xml" Id="R3bb208c373ce4cc8" /><Relationship Type="http://schemas.openxmlformats.org/officeDocument/2006/relationships/slide" Target="/ppt/slides/slide10.xml" Id="Rc0079dbb22444b13" /><Relationship Type="http://schemas.openxmlformats.org/officeDocument/2006/relationships/slide" Target="/ppt/slides/slide11.xml" Id="Rb333aafb64ce4f4b" /><Relationship Type="http://schemas.openxmlformats.org/officeDocument/2006/relationships/slide" Target="/ppt/slides/slide12.xml" Id="Rf022bfe8617b431c" /><Relationship Type="http://schemas.openxmlformats.org/officeDocument/2006/relationships/slide" Target="/ppt/slides/slide13.xml" Id="R4836f034c74e4b80" /><Relationship Type="http://schemas.openxmlformats.org/officeDocument/2006/relationships/slide" Target="/ppt/slides/slide14.xml" Id="R9932f5473614495f" /><Relationship Type="http://schemas.openxmlformats.org/officeDocument/2006/relationships/slide" Target="/ppt/slides/slide15.xml" Id="Rc9be82d4d6ec416a" /><Relationship Type="http://schemas.openxmlformats.org/officeDocument/2006/relationships/slide" Target="/ppt/slides/slide16.xml" Id="Rcaa56087912e4056" /><Relationship Type="http://schemas.openxmlformats.org/officeDocument/2006/relationships/slide" Target="/ppt/slides/slide17.xml" Id="Ra81fc72b50914992" /><Relationship Type="http://schemas.openxmlformats.org/officeDocument/2006/relationships/slide" Target="/ppt/slides/slide18.xml" Id="Rd27da6db26b849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a28fd811ed46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2acff407ae4703" /><Relationship Type="http://schemas.openxmlformats.org/officeDocument/2006/relationships/notesMaster" Target="/ppt/notesMasters/notesMaster1.xml" Id="R0a0e708ab60c44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e31730923d4b74" /><Relationship Type="http://schemas.openxmlformats.org/officeDocument/2006/relationships/notesMaster" Target="/ppt/notesMasters/notesMaster1.xml" Id="R506083126c2e4d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a7984c4540435d" /><Relationship Type="http://schemas.openxmlformats.org/officeDocument/2006/relationships/notesMaster" Target="/ppt/notesMasters/notesMaster1.xml" Id="Rf1d53214fb8e49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74e24ff4b243c6" /><Relationship Type="http://schemas.openxmlformats.org/officeDocument/2006/relationships/notesMaster" Target="/ppt/notesMasters/notesMaster1.xml" Id="R485dacaedbba48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ba822f2e9544a1" /><Relationship Type="http://schemas.openxmlformats.org/officeDocument/2006/relationships/notesMaster" Target="/ppt/notesMasters/notesMaster1.xml" Id="Rc5771112693049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e4235d78e7461e" /><Relationship Type="http://schemas.openxmlformats.org/officeDocument/2006/relationships/notesMaster" Target="/ppt/notesMasters/notesMaster1.xml" Id="Ra7fa52b7cc9846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f5472ba1fb40b0" /><Relationship Type="http://schemas.openxmlformats.org/officeDocument/2006/relationships/notesMaster" Target="/ppt/notesMasters/notesMaster1.xml" Id="Rccfe845bf0334d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3da64e499840e2" /><Relationship Type="http://schemas.openxmlformats.org/officeDocument/2006/relationships/notesMaster" Target="/ppt/notesMasters/notesMaster1.xml" Id="Rc33002f89e304ff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b803b2cf414245" /><Relationship Type="http://schemas.openxmlformats.org/officeDocument/2006/relationships/notesMaster" Target="/ppt/notesMasters/notesMaster1.xml" Id="R5437f618640b48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654fd0d51054630" /><Relationship Type="http://schemas.openxmlformats.org/officeDocument/2006/relationships/notesMaster" Target="/ppt/notesMasters/notesMaster1.xml" Id="R582a5e069c6b47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7dde466c244d6e" /><Relationship Type="http://schemas.openxmlformats.org/officeDocument/2006/relationships/notesMaster" Target="/ppt/notesMasters/notesMaster1.xml" Id="R83eeb09ae9fb45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3b8ace46b64d63" /><Relationship Type="http://schemas.openxmlformats.org/officeDocument/2006/relationships/notesMaster" Target="/ppt/notesMasters/notesMaster1.xml" Id="Rcf3f9127757640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c7df2108d24047" /><Relationship Type="http://schemas.openxmlformats.org/officeDocument/2006/relationships/notesMaster" Target="/ppt/notesMasters/notesMaster1.xml" Id="R9a024948e5534b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d245365327475f" /><Relationship Type="http://schemas.openxmlformats.org/officeDocument/2006/relationships/notesMaster" Target="/ppt/notesMasters/notesMaster1.xml" Id="Ra1e184eb5cdd4e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2580adaf7f24902" /><Relationship Type="http://schemas.openxmlformats.org/officeDocument/2006/relationships/notesMaster" Target="/ppt/notesMasters/notesMaster1.xml" Id="Rfb183f5d049d4e7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6e10d09dfd4386" /><Relationship Type="http://schemas.openxmlformats.org/officeDocument/2006/relationships/notesMaster" Target="/ppt/notesMasters/notesMaster1.xml" Id="R19d3cb72c07a4cb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2a2e620d1a4bda" /><Relationship Type="http://schemas.openxmlformats.org/officeDocument/2006/relationships/notesMaster" Target="/ppt/notesMasters/notesMaster1.xml" Id="R9316d518dee342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77712ca1c24bd4" /><Relationship Type="http://schemas.openxmlformats.org/officeDocument/2006/relationships/notesMaster" Target="/ppt/notesMasters/notesMaster1.xml" Id="R1b1d00aaca4e45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video is treated as a practitioner literature source that generates a falsifiable hypothesis. The deck does not import the publisher's performance claims as Gen5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Project/Time-Series-Modeling-Gen5/literature_studies/docs/GEN5_LITERATURE_GROUNDED_STRATEGY_RESEARCH_NOMENCLATURE.md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slide separates a broad literature claim from the narrower Gen5 variants already tested.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Fleet versus leaf is an operator-facing intuition developed in the 2026-09-02 huddle. The academic sources establish portfolio-level cross-sectional and time-series momentum evidence; the metaphor is original to this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formulas are compact operator-facing statements of three distinct estimands. They are not asserted to be interchangeable.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explanations for why the stopped Gen5 implementations do not falsify the broader momentum literature. They do not rescue any stopped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Project/Time-Series-Modeling-Gen5/literature_studies/docs/GEN5_LIT_MOM_01_1_INTERDAY_MOMENTUM_RESULTS.md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Project/Time-Series-Modeling-Gen5/literature_studies/docs/GEN5_LIT_MOM_01_4_MULTI_MARKET_PREDICTOR_ATLAS_RESULTS.md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baseline ladder reflects Gen5's prior long-only attribution work and its no-trade-first research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Project/Time-Series-Modeling-Gen5/literature_studies/docs/GEN5_LIT_MOM_01_2_AUDIT_01_EXPOSURE_SELECTION_RESULTS.md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persistence mechanisms are plausible interpretations, not proof that the specific Quantpedia implementation will survive Gen5 replication.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https://www.nber.org/papers/w20439</a:t>
            </a:r>
          </a:p>
          <a:p xmlns:a="http://schemas.openxmlformats.org/drawingml/2006/main">
            <a:r>
              <a:t>- https://doi.org/10.2139/ssrn.2042750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 dual momentum, 'dual' means relative plus absolute momentum. The published 10- and 25-week sleeves are an additional horizon ensemble.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https://doi.org/10.2139/ssrn.2042750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visible rule reproduces the May 2026 Quantpedia GTAA article referenced by the July 2026 video. It records the publisher's mechanics, not Gen5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Inference: because the article evaluates numerous lookbacks and selection breadths before choosing the final specification, its 2008-2026 results are discovery/replication evidence rather than untouched confirmation. Clean temporal evidence begins after the source cutoff and publication.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https://www.youtube.com/watch?v=c1HDiohiqLU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proposed first technical slice. It is narrower than a backtest: the output is an auditable signal/allocation tape and operator-facing visual sanity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equal-weight benchmark is publisher-aligned. The relative-only, absolute-only, and cash controls are Gen5 attribution devices and are not claimed as part of the published final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https://quantpedia.com/dual-vs-single-momentum-in-commodities-enhancing-risk-adjusted-returns-through-absolute-trend-filtering/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progression preserves Gen5's research-to-execution separation. Performance analysis, strategy promotion, leverage, and live behavior require later operator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Project/Time-Series-Modeling-Gen5/AGENTS.md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closing slide freezes the study classification and next slice. Future evidence slides should be appended after the mechanics packet is generated and inspected.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https://www.youtube.com/watch?v=c1HDiohiqLU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https://doi.org/10.1111/j.1540-6261.1993.tb04702.x</a:t>
            </a:r>
          </a:p>
          <a:p xmlns:a="http://schemas.openxmlformats.org/drawingml/2006/main">
            <a:r>
              <a:t>- https://www.aqr.com/Insights/Research/Journal-Article/Time-Series-Momentum</a:t>
            </a:r>
          </a:p>
          <a:p xmlns:a="http://schemas.openxmlformats.org/drawingml/2006/main">
            <a:r>
              <a:t>- C:/Users/Franc/OneDrive/Documents/Francis/Peltata Project/Time-Series-Modeling-Gen5/literature_studies/docs/GEN5_LITERATURE_GROUNDED_STRATEGY_RESEARCH_NOMENCLATURE.md</a:t>
            </a:r>
          </a:p>
          <a:p xmlns:a="http://schemas.openxmlformats.org/drawingml/2006/main">
            <a:r>
              <a:t>- Codex task conversation, 2026-09-02 (operator/assistant momentum interpretation huddle)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source-described ranking and allocation rule was reproduced on the clean locally admitted window. The attempted refresh did not supply pre-2016 coverage, so the published 2008-2026 span remains an explicit STOP.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Project/Time-Series-Modeling-Gen5/literature_studies/R/gen5_lit_mom_03_1_dual_momentum_mechanics.R</a:t>
            </a:r>
          </a:p>
          <a:p xmlns:a="http://schemas.openxmlformats.org/drawingml/2006/main">
            <a:r>
              <a:t>- C:/Users/Franc/OneDrive/Documents/Francis/Peltata Project/Time-Series-Modeling-Gen5/literature_studies/scripts/run_gen5_lit_mom_03_1_dual_momentum_mechanics.R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displays target allocations only. It is not an equity curve and contains no return outcome. Cash appears when one or more top-ranked assets have non-positive momentum in their sleeve.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Project/Time-Series-Modeling-Gen5/runs/research_workbench/literature_grounded/lit_mom_03_1_dual_momentum_mechanics_20260902/mom031_mechanics_summary.csv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Project/Time-Series-Modeling-Gen5/runs/research_workbench/literature_grounded/lit_mom_03_1_dual_momentum_mechanics_20260902/visuals/mom031_allocation_timeline.png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Representative dates were frozen before rendering the slide. The overlap count is descriptive of allocation mechanics and does not establish that overlap helped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Project/Time-Series-Modeling-Gen5/runs/research_workbench/literature_grounded/lit_mom_03_1_dual_momentum_mechanics_20260902/mom031_representative_allocations.csv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Project/Time-Series-Modeling-Gen5/runs/research_workbench/literature_grounded/lit_mom_03_1_dual_momentum_mechanics_20260902/mom031_weekly_allocation_tape.csv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closes the mechanics-only slice. The next performance gate requires explicit operator authorization under the Gen5 research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Project/Time-Series-Modeling-Gen5/runs/research_workbench/literature_grounded/lit_mom_03_1_dual_momentum_mechanics_20260902/mom031_report.md</a:t>
            </a:r>
          </a:p>
          <a:p xmlns:a="http://schemas.openxmlformats.org/drawingml/2006/main">
            <a:r>
              <a:t>- C:/Users/Franc/OneDrive/Documents/Francis/Peltata Project/Time-Series-Modeling-Gen5/literature_studies/R/gen5_lit_mom_03_1_dual_momentum_mechanics.R</a:t>
            </a:r>
          </a:p>
          <a:p xmlns:a="http://schemas.openxmlformats.org/drawingml/2006/main">
            <a:r>
              <a:t>- C:/Users/Franc/OneDrive/Documents/Francis/Peltata Project/Time-Series-Modeling-Gen5/literature_studies/scripts/run_gen5_lit_mom_03_1_dual_momentum_mechanics.R</a:t>
            </a:r>
          </a:p>
          <a:p xmlns:a="http://schemas.openxmlformats.org/drawingml/2006/main">
            <a:r>
              <a:t>- https://quantpedia.com/active-dual-momentum-gtaa-strategy/</a:t>
            </a:r>
          </a:p>
          <a:p xmlns:a="http://schemas.openxmlformats.org/drawingml/2006/main">
            <a:r>
              <a:t>- Codex task conversation, 2026-09-02 (operator approval and mechanics readout)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0e49bfaded4d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95564534824f49" /><Relationship Type="http://schemas.openxmlformats.org/officeDocument/2006/relationships/slideLayout" Target="/ppt/slideLayouts/slideLayout1.xml" Id="R0b1eab2b973f45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1eab2b973f45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7e7fc0fa440a3" /><Relationship Type="http://schemas.openxmlformats.org/officeDocument/2006/relationships/notesSlide" Target="/ppt/notesSlides/notesSlide1.xml" Id="R5dd6699cae2242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1233d406a45e4" /><Relationship Type="http://schemas.openxmlformats.org/officeDocument/2006/relationships/notesSlide" Target="/ppt/notesSlides/notesSlide2.xml" Id="R6d03bf19af6449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6239b70b64237" /><Relationship Type="http://schemas.openxmlformats.org/officeDocument/2006/relationships/notesSlide" Target="/ppt/notesSlides/notesSlide3.xml" Id="Rd24ae399bc4f44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0e1502f4f4f82" /><Relationship Type="http://schemas.openxmlformats.org/officeDocument/2006/relationships/notesSlide" Target="/ppt/notesSlides/notesSlide4.xml" Id="R7bff0a6ad4e94d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4039de36540c6" /><Relationship Type="http://schemas.openxmlformats.org/officeDocument/2006/relationships/notesSlide" Target="/ppt/notesSlides/notesSlide5.xml" Id="R8ced9def4ef544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b0311ccdb4834" /><Relationship Type="http://schemas.openxmlformats.org/officeDocument/2006/relationships/notesSlide" Target="/ppt/notesSlides/notesSlide6.xml" Id="R2c9c820e0e684c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93783630074abb" /><Relationship Type="http://schemas.openxmlformats.org/officeDocument/2006/relationships/notesSlide" Target="/ppt/notesSlides/notesSlide7.xml" Id="Rd1e926a3568543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861c1948f346c8" /><Relationship Type="http://schemas.openxmlformats.org/officeDocument/2006/relationships/notesSlide" Target="/ppt/notesSlides/notesSlide8.xml" Id="Rb191343f56ee498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511c221b24843" /><Relationship Type="http://schemas.openxmlformats.org/officeDocument/2006/relationships/notesSlide" Target="/ppt/notesSlides/notesSlide9.xml" Id="Raf1ba84c8f004c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17923a57f493b" /><Relationship Type="http://schemas.openxmlformats.org/officeDocument/2006/relationships/notesSlide" Target="/ppt/notesSlides/notesSlide10.xml" Id="Ree434535ae1042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e3895aa02484c" /><Relationship Type="http://schemas.openxmlformats.org/officeDocument/2006/relationships/notesSlide" Target="/ppt/notesSlides/notesSlide11.xml" Id="R9f72c39a2ddf46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d1ac9c7a74540" /><Relationship Type="http://schemas.openxmlformats.org/officeDocument/2006/relationships/notesSlide" Target="/ppt/notesSlides/notesSlide12.xml" Id="Rae2a5037d3a042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1d024e42c4365" /><Relationship Type="http://schemas.openxmlformats.org/officeDocument/2006/relationships/notesSlide" Target="/ppt/notesSlides/notesSlide13.xml" Id="Rd2fba7d7cb0246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c4d6b0dec4cf5" /><Relationship Type="http://schemas.openxmlformats.org/officeDocument/2006/relationships/notesSlide" Target="/ppt/notesSlides/notesSlide14.xml" Id="Rd5c193eab3ef48c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9601e1f744af2" /><Relationship Type="http://schemas.openxmlformats.org/officeDocument/2006/relationships/notesSlide" Target="/ppt/notesSlides/notesSlide15.xml" Id="R898542d51ff0405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a2c604cd24f59" /><Relationship Type="http://schemas.openxmlformats.org/officeDocument/2006/relationships/image" Target="/ppt/media/image.png" Id="Re0b0c88161b3479f" /><Relationship Type="http://schemas.openxmlformats.org/officeDocument/2006/relationships/notesSlide" Target="/ppt/notesSlides/notesSlide16.xml" Id="R23dc4f1fcbcd4eb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71b8c79ca4c1c" /><Relationship Type="http://schemas.openxmlformats.org/officeDocument/2006/relationships/image" Target="/ppt/media/image2.png" Id="Rb35fa0dd1d5040a2" /><Relationship Type="http://schemas.openxmlformats.org/officeDocument/2006/relationships/notesSlide" Target="/ppt/notesSlides/notesSlide17.xml" Id="R4efcc0127a3c49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faa5485a74262" /><Relationship Type="http://schemas.openxmlformats.org/officeDocument/2006/relationships/notesSlide" Target="/ppt/notesSlides/notesSlide18.xml" Id="Rfbe783c74f7844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8F16A-1A35-4CA7-943C-329DABD8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LITERATURE-GROUNDED STRATEGY RESEARCH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BA8147F-84EE-437A-BAC9-AC160F06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685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17E48-7862-4323-ABF1-8F1A77D5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Why established momentum can coexist with our null results—and how to test the published portfolio rule honestly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7FEF6-0FE2-42EB-882F-0B780480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914400"/>
            <a:ext cx="36957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C771D-C26D-4B0F-B299-193FE8FA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90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4E97A2-8ABE-46BA-8501-41176A99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71DCE4-BDC1-49BC-B577-B36E778A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practitioner study + academic momentum literature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E7056F-23F0-4479-BB46-F84F657A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86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68B99-2739-44EB-BB01-BC1CFC86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00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Hypothesis and mechanics only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6A05F-0CC5-4122-AC21-399C9420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Opening study deck · 2 September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95FCF-062E-4146-BD9D-390D99FE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240739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E501B-F7DF-49FA-A47D-C304324C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8C7FC40-B95B-4B96-BAD9-B35A1ED8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contradiction is only apparent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9408E-A936-42B7-A93A-6C3849CC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40D5C53F-C379-44CE-96FB-2C87B79F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9C22F-BA3B-44CF-9511-B4BD71A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65059-1514-48A7-A238-1120C39B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appears repeatedly in diversified, carefully constructed portfolios over long samples.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9B7070-3E8D-4697-89D7-55421C79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27CF9-8DBD-4087-9706-8FE13922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A weak average tendency can be real.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9AE98-7934-464E-AD37-AC4F1E89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145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OUR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28369-7034-43AB-9B93-FB4EC733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52650"/>
            <a:ext cx="4476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Most of our intuitive daily, intraday, and single-asset variants failed promotion.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15382-9E54-4AC0-A808-C5552E4D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447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7BCFF-B328-48E1-BA68-39400BA2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11480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That does not test the same proposition.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9AC486-BA3F-4838-B39F-374AAB8E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524500"/>
            <a:ext cx="834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unit of analysis, horizon, portfolio construction, and baseline all changed.</a:t>
            </a:r>
          </a:p>
        </p:txBody>
      </p:sp>
    </p:spTree>
    <p:extLst>
      <p:ext uri="{BB962C8B-B14F-4D97-AF65-F5344CB8AC3E}">
        <p14:creationId xmlns:p14="http://schemas.microsoft.com/office/powerpoint/2010/main" val="1347413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3EB4AA-2DA2-4305-9945-08D8E11B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D89AFCC-77FE-4A7D-A22A-F3C9F0CA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Momentum is a tailwind across a fleet—not a command over one leaf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D915C-6AC1-4E4D-A477-43275A6F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52CF65A4-276D-4F2A-85C9-93E23A83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61378-9410-45D6-9E4F-7877A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ONE LEAF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8CBA8-98D4-4479-B92D-44D67519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3337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BDBA6-D3D7-4F46-A780-0802D9E0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2152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TSLA</a:t>
            </a:r>
          </a:p>
          <a:p xmlns:a="http://schemas.openxmlformats.org/drawingml/2006/main">
            <a:pPr algn="ctr">
              <a:buNone/>
              <a:defRPr sz="25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next 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BDA19-3031-47DB-AA90-BC1508D0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553D"/>
                </a:solidFill>
                <a:latin typeface="Arial"/>
                <a:ea typeface="Arial"/>
                <a:cs typeface="Arial"/>
              </a:rPr>
              <a:t>noise dominates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0178C-003F-4AE9-BE6E-AB4418F1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512A6-ADD8-4C50-91C7-A1ABEB33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0985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6E3AB-4C10-44DB-B8BA-FA743636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29150"/>
            <a:ext cx="74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7ED5F-7BDC-499F-B642-84DC7ABF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19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B4B76-DDD4-42E4-BBBF-35FB4E8E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A2B6A-7695-4624-9D09-B881C122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65722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5D235-A318-44E4-A620-3E53B54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C1F3A-8686-4F8D-98B1-FB12941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AAF30B-6F3F-4566-A579-90B58001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5C359-B250-45C7-B13A-C951A212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68F5E1-4BB7-42C3-BEF6-2F566F24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81D8C2-F6FF-4E11-A21B-E4E9E4B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B70E7C-A981-4925-82EA-469B79D8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DCB8D-85D2-4FD8-A5CB-FE4227FD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FAF644-3F40-4B8E-ADE7-228ECDCB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47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301151-334B-4ACB-8B0E-9F2F2BF6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62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B8EBE4-8F41-48AB-9E10-EADD510C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8FE3B5-DF5E-46F1-A045-0BD88B0B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8EC12-3949-48F7-A0E8-E7AE8AB8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1B825C-296D-4C9C-9F9D-AEB33F77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E18E57-B13F-4407-9BCC-1CD82348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87ED8C-6B1E-422D-B600-C9F910E5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ACC71-0EA3-4802-A00F-5E8755B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C72F99-D9FA-45BA-9E40-0F00A300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CA185A-957A-4D05-9D2C-4EA4BE54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AA73E-F202-47C9-A3A0-6E0C47DA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24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641D95-E58F-4BF9-9926-054B5EAD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D0513D-6B53-4DE9-B413-EF2CC5FD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D197E2-827D-48BE-9C9F-0C3648C5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0CD56E-4A70-492B-83BC-F0F685D2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D9BB71-7693-4DF9-BE94-6F5BEF2B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490AE7-9960-41D4-9633-7659A707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729D08-6DBC-4CCD-9176-A6F73F3C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E46948-71D6-40AC-86EB-EBF5D4AD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8D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B33CDF-A2AE-4589-AED3-C1045A16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171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A0723B-8B85-4BE9-8E27-04DE3307B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862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53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669E8A-89F5-4D31-AAC4-C1577A3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48200"/>
            <a:ext cx="508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slight repeated bias becomes measurable only after many assets and periods are combined.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1700D0-6B1D-4B1B-9952-AF48A03C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600700"/>
            <a:ext cx="864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 portfolio-level tendency can coexist with an almost featureless single-asset scatterplot.</a:t>
            </a:r>
          </a:p>
        </p:txBody>
      </p:sp>
    </p:spTree>
    <p:extLst>
      <p:ext uri="{BB962C8B-B14F-4D97-AF65-F5344CB8AC3E}">
        <p14:creationId xmlns:p14="http://schemas.microsoft.com/office/powerpoint/2010/main" val="484447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CA943-CA5B-442E-A9EA-010C5D3B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FA5D2491-C978-4FD9-A11A-FCB9F08B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Three similar-sounding questions test different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4BF89-19EF-4F71-A971-8302AD68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E870A8A7-4B08-4461-A2F3-7EC05B33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5B29E-235F-4204-9FB8-2FD201CF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716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005CC-1928-4F39-8EAE-BBE364E0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621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CROSS-SECTIONAL MOMENTUM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9F553-4E30-4046-B38B-6A61EACF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431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E[future winners − future losers] 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6C930-0FA0-4BD9-B067-815728B6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193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Rank many assets; harvest a relative spread.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5219D-1B10-45C3-811C-6C3B901C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FAEE80-3DC8-4B08-97C6-CFD381AA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TIME-SERIES MOMENTUM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91009-DB67-4CD3-B0C3-1DC5414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E[sign(own past return) × own future return] &gt;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F3FC1-9A31-4090-9B29-D3CCA10F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290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Use one asset's past direction; diversify the bets.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910F0-BBA6-4EED-B9E3-A5838BD1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7B671-DC6C-4B53-835C-28A9F427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TRADABLE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38BA74-FEFC-4DF8-8382-6AE99E81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762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Net strategy value-add &gt; an attainable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A5E91-6C51-438D-90E5-F2DE66B9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238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Add timing, cash, costs, exposure, and an honest comparator.</a:t>
            </a:r>
          </a:p>
        </p:txBody>
      </p:sp>
    </p:spTree>
    <p:extLst>
      <p:ext uri="{BB962C8B-B14F-4D97-AF65-F5344CB8AC3E}">
        <p14:creationId xmlns:p14="http://schemas.microsoft.com/office/powerpoint/2010/main" val="11291917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0A9BF-A78A-46ED-A605-AAA973D0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29CC2FC-CCBF-494D-883E-98ACE84D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Our tests often asked the hardest version of the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E36BB-0BA0-410C-B03A-C4E16659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7098DD9-BDF9-4E13-81F3-9E870319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18BCD-3E90-47F3-8C8D-48085BD3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797E7-EEB4-4F3F-BEFF-26DD0821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9AA36-3893-45E5-A02F-B2A11636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Single-asset noise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33556-4ACD-43BC-9123-60E04715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average effect disappears inside one volatile return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C64E6-EAB2-48AA-991A-A400D779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8F598-44E3-4B61-85D4-C7E90036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AF6FE-C5FD-472C-B13F-63BC9FBF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431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Fast clocks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67FFF-5B96-43C8-84A8-7797282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5745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Daily and 30-minute outcomes can be dominated by reversal and microstructure noise.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FFA19-7EF6-4098-A441-6FA1BEEF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64D5F-6500-4C28-9DE1-9849518E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9769C-84C5-4D9D-9FCC-79EB0347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constraint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E662-C042-4892-954A-43C5574A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academic loser leg is unavailable; cash must compete with ownership.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314F1-12D2-4C1B-A0C0-359A561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14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83D88-E03F-4E4A-8036-833596E2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F97CC8-2631-435B-8E80-7A8CB31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High evidence bar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53EED-89A8-4675-B137-122CE9CF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10100"/>
            <a:ext cx="390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Causal timing, controls, costs, and temporal transport remove fragile wins.</a:t>
            </a:r>
          </a:p>
        </p:txBody>
      </p:sp>
    </p:spTree>
    <p:extLst>
      <p:ext uri="{BB962C8B-B14F-4D97-AF65-F5344CB8AC3E}">
        <p14:creationId xmlns:p14="http://schemas.microsoft.com/office/powerpoint/2010/main" val="2022056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C65C0-B463-42E5-AA54-9083A0A1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C412DD0-AB08-4C8F-87AB-D5C88238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Long-only timing must beat ownership—not merely 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309DD-3F5F-4466-9E47-54DFE4DD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0554FF23-FEBB-413A-B0FA-52ED8FD8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CAF42-2FE8-4A08-A22A-E533C827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upward-drifting asset gives buy-and-hold a structural head start.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017E8-FCEC-4E37-8262-36837A20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685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timing rule can avoid some losses and still lose the comparison by missing rebounds or sitting out drift.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8D070-D70A-4662-98C1-4C4C2838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F2217-4180-471A-94E1-4FBBE2CB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95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10F88-DB09-4F82-84E4-F2205860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956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we earn anything at all?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2398AF-EC89-4ADC-8FF8-D7C0C15E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11BE0-D008-42A1-96A3-8EA2F83B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62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Drift 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FBF57-5C0C-47CE-9A4A-A976C8E4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1624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predictor add information beyond the average return?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B7509C-6BA8-41A7-925B-39F8C984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1B31B-7D86-40C3-8037-16849905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29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Matched exposure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D25C6-F575-403D-9297-67FCAC9E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2917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Was timing better than being invested for the same amount of time?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3DE74-2353-4CBB-9381-DF496EA0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2CEB7C-FB57-4AA2-9A3C-FB82F974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959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SPY or buy-and-hold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BA82D5-3D35-4ACF-944A-8EE6EDA9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95925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Did the long-only rule improve on attainable ownership?</a:t>
            </a:r>
          </a:p>
        </p:txBody>
      </p:sp>
    </p:spTree>
    <p:extLst>
      <p:ext uri="{BB962C8B-B14F-4D97-AF65-F5344CB8AC3E}">
        <p14:creationId xmlns:p14="http://schemas.microsoft.com/office/powerpoint/2010/main" val="18343871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CDEE2F-5275-41AB-AD5A-EF8DC4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3E9A657-0167-44BB-AF2D-975AA688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Academic support does not imply a loud or painless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DF844-6B36-4BF1-B66E-7A840855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233BBBD9-CC6D-4158-A0B5-20FCCF3A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332EE-0498-482E-AF55-3AF70AA4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8AB27-D2A6-49EA-83BF-F8FC1A78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F5B46-49AD-4C14-9738-B5E8BB81B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Weak average bias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7B7FD-1D69-4FDF-B838-EB3A63A7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 small edge becomes visible through breadth, repeated observations, and disciplined aggregation.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372A5-F655-4402-9A3E-BEBAA1C55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12E85-75BC-45B9-BEE5-82516E1C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AE9ED-5913-464A-A5CC-F619B661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Uncomfortable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A6E56-0B73-4840-8599-1934F65E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Momentum can suffer violent reversals; bearing that risk may help the premium persist.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4D816-9A5E-4C0D-950A-D2D56DCE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7C33D-E700-4989-A8B1-8DE1E848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707CF-DB32-478D-BB3F-8BBC7BC8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Real-world friction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C4B117-B385-4EDC-A3CF-97401B6F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Costs, mandates, turnover, and tracking error limit how completely institutions arbitrage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C5AB1C-E02D-406F-9196-8F362DB9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Public knowledge can compress an effect without making every implementation worthless—or tradable.</a:t>
            </a:r>
          </a:p>
        </p:txBody>
      </p:sp>
    </p:spTree>
    <p:extLst>
      <p:ext uri="{BB962C8B-B14F-4D97-AF65-F5344CB8AC3E}">
        <p14:creationId xmlns:p14="http://schemas.microsoft.com/office/powerpoint/2010/main" val="617044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60422-9B61-47E5-852B-210104E6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650C114-63C2-4006-B6B2-136C31CD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Dual momentum changes the unit of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EA4F6-227C-4B9A-9E29-D3F3FFC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D0C4A8E7-B625-4E0F-8371-817F1CE9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7235C-CBF2-47B9-B1AE-90025B71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74ADF-D5F7-4C74-904D-0764CC7F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1A59F-E792-43EE-A28C-BDD2BA58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 · Relative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050069-7CA4-410F-9A62-4300BAB6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Which assets are strongest compared with the rest of the investable fleet?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8960D-E21C-4012-B08D-AF189188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70E36-1419-40C5-B28C-7FDF5DBF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8D41B-41C9-4FB3-BA1A-1159F641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Absolute veto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971F61-73AA-4D53-920F-49CC0775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Is each apparent winner actually rising? If not, its sleeve remains cash.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C4E6D4-AA43-4D40-8BB4-F2A01711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3048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9104A-A31C-43F1-B150-D8AB485C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1143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6B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8102D-8EC4-41DE-88E0-5FB003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47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Portfolio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C003E-DB02-4C14-AE12-5EFA0026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90900"/>
            <a:ext cx="2381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Combine accepted winners across short and long horizons; rebalance weekly.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7929B-2567-4687-8D3C-AAEB388A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 momentum finds the winners. Absolute momentum refuses to own a winner that is still losing money.</a:t>
            </a:r>
          </a:p>
        </p:txBody>
      </p:sp>
    </p:spTree>
    <p:extLst>
      <p:ext uri="{BB962C8B-B14F-4D97-AF65-F5344CB8AC3E}">
        <p14:creationId xmlns:p14="http://schemas.microsoft.com/office/powerpoint/2010/main" val="4245106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AB4CD6-A066-4BA6-83E2-7BED7686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04441B9-2B0E-4029-B489-A1293A42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published rule is simple enough to reproduce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A5C3A-384E-47D6-952B-25278B04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5EBD817D-F347-40A2-BECC-BF81DCE7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16435F-A773-4C41-B1F9-65A53A46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51A465-7554-45A3-89FC-97D4DC09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SHY · IEF · UUP · GLD · USO · SPY · EFA · QQQ · EEM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F2320-DB88-4F35-8CC6-DB00FC1B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1F531-F8BA-48C3-B110-1E61583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SIGNAL CLOCK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3F430-BD14-424C-8A98-AA2A7B48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Wednesday close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Weekly rebalance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B8567-8507-4AD7-A8F3-B7C8821C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TWO SLEEVES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9CB67-3B4D-4239-96EC-C5AE0846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10-week ROC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25-week ROC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36303-E925-419F-BA88-E200EA9C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SELECTION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F69DB-3722-4584-ACD7-5794C8CC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Top 3 per sleeve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Positive ROC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39D33A-5AB2-49E2-BD35-DAC5629E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670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ALLOCATION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76B60-6F16-4D24-AAF8-36D5C9BF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24250"/>
            <a:ext cx="2286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50% per sleeve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Failed slots = cash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3C9A6-4C13-47A7-A4A9-F8DE7D7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57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22369-1F45-4A63-B774-BEF94F90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An ETF selected by both sleeves can receive one-third of the portfolio; one-sleeve selections receive one-sixth.</a:t>
            </a:r>
          </a:p>
        </p:txBody>
      </p:sp>
    </p:spTree>
    <p:extLst>
      <p:ext uri="{BB962C8B-B14F-4D97-AF65-F5344CB8AC3E}">
        <p14:creationId xmlns:p14="http://schemas.microsoft.com/office/powerpoint/2010/main" val="2316514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32C40-58B4-44EA-9680-30505462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7358990-174D-4187-8662-7D0F6085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Recent publication is useful—not independent confirmation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6F5FF1-50CB-4C1C-A838-E4C98DB6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C5B62B3C-DA1A-4AC0-B2F1-847EBA93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75B7A-D38B-4F42-9233-C3DF0451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801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18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49722-6CA9-454F-B995-8CB7212F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C3E31-FD7D-4CA8-8C95-46F236B8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Feb 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D837E-678E-4066-A05C-1768BC31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History begins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A093B-8F87-484F-98EE-3799E05A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5D56D-26AD-43B5-8E10-805EC618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Mar 25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DCF0D-53F0-466E-BD40-4DD2FE05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Publisher cutoff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33AA9-FD8E-4764-90B8-D0D3B5D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A68F-2AEB-428E-9036-84DA38DE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May 22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C3171-E25B-4118-A1AA-133CAF3C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Study published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E0BD8-F56A-44B3-B3C4-18D49730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C450A-BD3A-49AE-A0F5-C95290E9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Jul 12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21BEA2-DDC1-4592-877D-3251D54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Video published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F70122-CD12-432F-ABF8-1335889D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6D2ED-E92D-48E1-A139-B46951F1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098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Sep 2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0639BC-026C-42D1-9C18-79A528E5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63855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Gen5 freeze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ECB32F-9F96-4FFB-9BEB-E30B71CE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97536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4676D-EC8D-456C-B6A4-D2A8CDC3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010150"/>
            <a:ext cx="9029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The final 10/25-week, top-three specification was chosen after inspecting multiple horizons and breadths on the same historical sample.</a:t>
            </a:r>
          </a:p>
        </p:txBody>
      </p:sp>
    </p:spTree>
    <p:extLst>
      <p:ext uri="{BB962C8B-B14F-4D97-AF65-F5344CB8AC3E}">
        <p14:creationId xmlns:p14="http://schemas.microsoft.com/office/powerpoint/2010/main" val="1339983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F9EFBF-A65D-4A1F-A96F-4F4B1E4E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1949FC9B-C88A-491B-A84C-DC3E760D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first POC will expose mechanics before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ABA0B-6D80-4454-93A0-9C3EC962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9EA5A49B-610F-443B-B205-E5A4E94C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991AD-D723-4BD8-A25B-96372E7D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OPEN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DE420-48DA-4CD9-9613-F6E4BCB2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F3B9C-7349-42D8-9987-E659C1C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AC54E-5B83-4DED-B1EF-45EB27C7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Reconstruct weekly Wednesday signals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EC40E-374C-4C28-9A95-2DB62EF6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6C246-C5AB-4DC0-A199-9B588633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Rank the frozen nine-ETF universe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7D864-A8A3-44D0-9F6A-C0F90F4D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9F5DFB-9D65-41FD-A086-643A9184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Apply the positive-momentum veto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F6077-E4EE-4856-A422-86DFF8DF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B87FA-9B20-4750-A534-560CFB27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Show allocation and cash tapes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5E9A3-5D7D-439B-853C-DC6A2859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24C787-CC8B-48B1-BD93-574CF041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Translate to next-open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34137-BCC5-4BE1-8588-EAEFD196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764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66FA01-5626-471B-8128-DDE63AEB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914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9C99B-EE19-4106-A9DF-E03DE14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A86A4-5C86-42C4-AF06-373B4098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003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new horizon or universe 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E5C82-9460-4AEA-AE2D-93F79A9F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901ECC-8FCB-480B-B131-0D04D632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leverage or volatility targeting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8F3C37-F81E-45D2-A2C9-569115A5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75C83-B4D5-4DC1-81C6-5095A992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576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Sharpe or drawdown gate yet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6C2518-CB8C-4FE1-B51C-AB1D7924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93816-6CB8-474A-ACD6-D8A84550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8625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strategy or edge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A1D7DA-A70F-4AFC-8C6E-47108030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53D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04342A-C593-423C-906A-D3F2283C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14900"/>
            <a:ext cx="403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post-hoc rescue from the tape</a:t>
            </a:r>
          </a:p>
        </p:txBody>
      </p:sp>
    </p:spTree>
    <p:extLst>
      <p:ext uri="{BB962C8B-B14F-4D97-AF65-F5344CB8AC3E}">
        <p14:creationId xmlns:p14="http://schemas.microsoft.com/office/powerpoint/2010/main" val="1819489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008667-9CB9-48CD-BB28-E4F7F5C9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FDE0FD4E-1F32-4370-AFE5-5C3C562F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Four controls reveal where any value actually comes from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7A529D-AE16-4051-9BF7-5A81FFC7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2-number">
            <a:extLst xmlns:a="http://schemas.openxmlformats.org/drawingml/2006/main">
              <a:ext uri="{FF2B5EF4-FFF2-40B4-BE49-F238E27FC236}">
                <a16:creationId xmlns:a16="http://schemas.microsoft.com/office/drawing/2014/main" id="{F3C30950-912D-429B-9CA3-B1845E9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48477-AEDF-4528-81FB-693D3566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0C725-6145-4DEB-98B2-A1A71D27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4FB9F-3B03-489A-A31F-6F474F61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Equal-weight all nine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8EE4E-6513-4578-9B00-233FF213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active selection improve on diversified ownership?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BC203-B498-4367-A293-D38E600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716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F40B1-CD6E-41C5-AAFB-B9C6BC6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193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6CBDF-E1A1-4D1C-A272-B855830F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19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Relative-only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96F5A-0EF0-4A42-80CF-18A55F52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908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ranking help without the absolute veto?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762F4-0783-4C1C-A9FE-E0AC0D33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63E88-2994-48C8-98A3-DEBB3560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916BA-36DA-4C14-A9A3-B5EDC891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Absolute-only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81A5B-0910-4446-AF9D-9EFCFDB8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trend permission help without cross-sectional ranking?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0B1AB-3993-4D62-B0A1-8C05567C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05250"/>
            <a:ext cx="5334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79A65-DBF2-4416-8FF2-6731B5E2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52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6E08E-5FA8-4C85-9233-2851A44A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529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Cash / no trade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3869D4-CC15-4493-B23E-46A13CF9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7244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Does the complete policy earn anything at all?</a:t>
            </a:r>
          </a:p>
        </p:txBody>
      </p:sp>
    </p:spTree>
    <p:extLst>
      <p:ext uri="{BB962C8B-B14F-4D97-AF65-F5344CB8AC3E}">
        <p14:creationId xmlns:p14="http://schemas.microsoft.com/office/powerpoint/2010/main" val="11012558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A9DAD-B730-4CDA-952D-072ED93F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9FC599A1-89F1-49CA-9BA7-E33ED6E3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Evidence must cross four bridges before this becomes a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7286A-A216-4492-B475-CB5F2D47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3-number">
            <a:extLst xmlns:a="http://schemas.openxmlformats.org/drawingml/2006/main">
              <a:ext uri="{FF2B5EF4-FFF2-40B4-BE49-F238E27FC236}">
                <a16:creationId xmlns:a16="http://schemas.microsoft.com/office/drawing/2014/main" id="{18D6CFEA-C9EF-420A-A2D6-798F104D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03BD3-2D17-4611-A202-987C05B8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43941-A583-4152-AE96-31CC0CC9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 · Mechanics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119D-8B01-445C-A1F5-6189509D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Exact ranks, vetoes, weights, holidays, and allocation tape.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59CCB-5F66-4184-A675-ECDB7156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10025-D0F1-452A-A7D1-F179A5E3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A4C80-839F-458E-AF9E-BD98805B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2 · Causal replay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504A5-9694-441D-B334-87224EFE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Next-open fills, controls, modest costs, turnover, and drawdown.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17921-4E6F-4DDD-809E-BB016242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D9474-684E-4E48-AA3B-B6882B99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7497B9-C1FB-426B-8089-26DB014E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3 · Robustness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060896-B24A-4271-BD32-344D2863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Subperiods, asset attribution, parameter plateau, and concentration.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7DCA-6E01-4108-B0B1-58F3F18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38500"/>
            <a:ext cx="32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87C29-CE28-4129-B9A9-A511A0CB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23812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B45314-0CD6-451D-8EE2-7ADD8482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795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4 · Forward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F2A42E-90E7-49AB-A36A-B7591320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29000"/>
            <a:ext cx="1943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Post-publication ledger, frozen decision pack, weekly advice only.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2D414-7A48-4305-A213-C771CA51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429250"/>
            <a:ext cx="807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Historical reproduction can open the next bridge. It cannot skip one.</a:t>
            </a:r>
          </a:p>
        </p:txBody>
      </p:sp>
    </p:spTree>
    <p:extLst>
      <p:ext uri="{BB962C8B-B14F-4D97-AF65-F5344CB8AC3E}">
        <p14:creationId xmlns:p14="http://schemas.microsoft.com/office/powerpoint/2010/main" val="1905961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101D6-2379-4B55-9AD2-58BCF237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B943FDA8-FE51-4D27-B40A-31712837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Current decision: reproduce the fleet before judging the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96AA0-C00E-4E42-8CD1-4EB3BF1E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slide-14-number">
            <a:extLst xmlns:a="http://schemas.openxmlformats.org/drawingml/2006/main">
              <a:ext uri="{FF2B5EF4-FFF2-40B4-BE49-F238E27FC236}">
                <a16:creationId xmlns:a16="http://schemas.microsoft.com/office/drawing/2014/main" id="{119FE05B-80F6-45B4-A346-97E8FBAE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62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39CE2-D535-47A9-92D8-ACEB8F27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F898C-0E16-4F97-965A-CCC86C54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Literature-sourced hypothesis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6D7ED-A691-4277-B1F8-6B0F283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53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video contributes a recent, explicit implementation. The academic literature supplies the broader mechanism. Neither supplies Gen5 confirmation.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46CA8-8853-4020-9489-3882D6DF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7640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88088-FA60-4A4C-B061-CC4B20CD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VISIBLE SLICE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F9F39-57E8-4734-9ED0-6137D29C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Frozen weekly signal + allocation tape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2D5AC-CFED-4715-A5C9-BC9F8969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3380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Nine ETFs · 10/25 weeks · top three · positive only · next-open translation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3824A-DAD3-4679-8BCC-C96A52BB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1495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E8A13-7ADF-4652-A79E-90262EA3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578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 edge, performance, or strategy claim is open in this deck yet.</a:t>
            </a:r>
          </a:p>
        </p:txBody>
      </p:sp>
    </p:spTree>
    <p:extLst>
      <p:ext uri="{BB962C8B-B14F-4D97-AF65-F5344CB8AC3E}">
        <p14:creationId xmlns:p14="http://schemas.microsoft.com/office/powerpoint/2010/main" val="659385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3D917-60C1-49B6-A04E-D85D2452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51F0D8-19C8-434E-90A3-9CD80434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rule is reproducible—but the published history is not yet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2D8E5-4706-4E1C-8A9C-3CB6FFDC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2295D-1E22-4BA1-B87C-35FC318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4F263-DCB7-4ECF-AC3C-B71C047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5A567-86A3-447F-ABF8-3D7CC1CF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PASS · LOCAL MECHANICS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EF5351-B0F9-4A7A-9512-D9DE9A58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508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D259F-CD58-4A41-8E58-6185E679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weekly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61A00-F2ED-46FB-9D93-63A3E1AD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2016-06-29 → 2026-03-18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All 11 mechanics checks pass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No outcome metrics computed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FDF2D-786A-4D34-8C53-03F5531F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9530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50C52-9BF1-4205-AAE7-8463BBDA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145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STOP · SOURCE-SPAN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6DC9E-2BF6-4A3D-8AA4-5B9D1133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2415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2008–2015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83D39-FBEA-479D-88E1-46F1F4C3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remains unreproduced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B3C09-EAFE-41D8-880B-D0BE560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0050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The Alpaca account returned complete common history only from 2016. The window was narrowed explicitly—not silently.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F58B95-FF34-44E3-BD69-0887709C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05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This slide proves implementation, not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15038810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A0F3C-FA14-482C-9911-54A24769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D8FEC-18D3-4EAC-98CE-20AF9D03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absolute-momentum veto is an occasional brake—not the normal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05544-2473-417D-B48F-9F8DF40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4BF93-B836-4831-89CE-852C703D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0c88161b3479f"/>
          <a:stretch xmlns:a="http://schemas.openxmlformats.org/drawingml/2006/main"/>
        </p:blipFill>
        <p:spPr>
          <a:xfrm xmlns:a="http://schemas.openxmlformats.org/drawingml/2006/main">
            <a:off x="460699" y="1562100"/>
            <a:ext cx="8222602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73623-95B1-48A7-A168-959D4ACF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27241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3BC9-AB19-4F57-985E-DDB05A74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19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MECHANICS 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F5D67-77D5-4062-92DB-E9771F37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463 / 508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B5D7F-B17A-4AC9-835E-6E44FD91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05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weeks fully invested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E78EB-BFD1-417B-B781-C8666F0A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7909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E562A-9915-489A-BC82-2F762B04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24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average cash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27473-A846-4BDC-AD98-EA1A2A6F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972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0% → 66.7%</a:t>
            </a:r>
          </a:p>
        </p:txBody>
      </p:sp>
    </p:spTree>
    <p:extLst>
      <p:ext uri="{BB962C8B-B14F-4D97-AF65-F5344CB8AC3E}">
        <p14:creationId xmlns:p14="http://schemas.microsoft.com/office/powerpoint/2010/main" val="10639124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7BB28-C5CF-47BA-A918-FA17029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01559-67C5-4215-B579-93FC871F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two horizons usually concentrate on the same winners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913BAC-F3B9-4338-8958-15CBEBB5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32FF2-05B5-4DF6-BBF4-B1464DC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24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fa0dd1d5040a2"/>
          <a:stretch xmlns:a="http://schemas.openxmlformats.org/drawingml/2006/main"/>
        </p:blipFill>
        <p:spPr>
          <a:xfrm xmlns:a="http://schemas.openxmlformats.org/drawingml/2006/main">
            <a:off x="401022" y="1657350"/>
            <a:ext cx="7522806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846F-BE01-42E8-9EBB-9EA3FC75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3429000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8CFB1-8F2F-43AD-84B5-5B62F4FC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SLEEVE OVERLAP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31ED7-5F85-42CB-A69F-0889CEA3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3365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488 / 508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DC0E8-33AD-4797-87D6-8B560493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weeks shared ≥1 ETF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B914A-A236-47F4-91E9-BA72FF10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90848-627F-4872-9F08-0BCEBC58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62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Latest decision · 2026-03-18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090FDC-931D-4B56-AD5D-C71AA6FC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10w  UUP · GLD · USO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25w  GLD · USO · EEM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Cash  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6845D-8E26-4804-AAA3-D76C79B2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Shared selections stack: one ETF can receive two one-sixth slots = one-third.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05286-4B59-4C91-A588-5CD09F06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96637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B7632-9321-4B0D-B49B-BAF52F1D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LIT-MOM-03.1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E0FE8-6C1B-4A13-9D2D-6E11399D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01820"/>
                </a:solidFill>
                <a:latin typeface="Arial"/>
                <a:ea typeface="Arial"/>
                <a:cs typeface="Arial"/>
              </a:rPr>
              <a:t>Mechanics are now inspectable; value-add remains the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B56DB-4E40-4B87-BA34-B1427431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465AD-88DC-48BC-BDAC-EBEFA9C8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246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1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93174-0A3C-4E18-A0E5-CFFEAB4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2EC"/>
          </a:solidFill>
          <a:ln xmlns:a="http://schemas.openxmlformats.org/drawingml/2006/main" w="9525">
            <a:solidFill>
              <a:srgbClr val="2E7D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C9A30-9CD1-4907-B5B7-2F6BE578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Established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B6826-C1CD-407B-B1BD-7E0FDA1C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Exact ranks, vetoes, one-sixth slots, duplicate-sleeve stacking, holiday fallback, and next-open designation.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AF26A-2C8D-481A-8C17-B8A9A39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7E2"/>
          </a:solidFill>
          <a:ln xmlns:a="http://schemas.openxmlformats.org/drawingml/2006/main" w="9525">
            <a:solidFill>
              <a:srgbClr val="C855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E8FBE1-8020-4B7A-932E-FC73716C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C855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8553D"/>
                </a:solidFill>
                <a:latin typeface="Arial"/>
                <a:ea typeface="Arial"/>
                <a:cs typeface="Arial"/>
              </a:rPr>
              <a:t>Not established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DA919C-47F4-4345-87E2-1F6DF9D0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385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returns, costs, turnover drag, drawdown, baseline comparison, parameter robustness, or edge claim.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79E259-AD91-4B41-8E67-E5334F74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10858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261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0E70E3-6874-4441-9FD1-10602212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2616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2616B"/>
                </a:solidFill>
                <a:latin typeface="Arial"/>
                <a:ea typeface="Arial"/>
                <a:cs typeface="Arial"/>
              </a:rPr>
              <a:t>Coverage STOP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8D2F7-BBA9-4B06-83BF-EF6C403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33900"/>
            <a:ext cx="7772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The publisher's 2008–2015 segment is unavailable under the current Alpaca account and provider contract.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3D076-54D1-4B3D-8F4A-D11630B2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753100"/>
            <a:ext cx="7962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807EE-5E9A-4AC4-A3F2-FA1CED7A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proposed gate: causal 2016–2026 replay against cash, equal-weight, relative-only, absolute-only, and attainable long-only ownership.</a:t>
            </a:r>
          </a:p>
        </p:txBody>
      </p:sp>
    </p:spTree>
    <p:extLst>
      <p:ext uri="{BB962C8B-B14F-4D97-AF65-F5344CB8AC3E}">
        <p14:creationId xmlns:p14="http://schemas.microsoft.com/office/powerpoint/2010/main" val="733918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2026-09-03T00:12:24.0610000Z</dcterms:created>
  <dcterms:modified xsi:type="dcterms:W3CDTF">2026-09-03T00:12:24.0610000Z</dcterms:modified>
</coreProperties>
</file>