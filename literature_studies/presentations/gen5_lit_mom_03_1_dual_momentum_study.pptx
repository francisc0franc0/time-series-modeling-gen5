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5fb01569ffa46b9" /><Relationship Type="http://schemas.openxmlformats.org/officeDocument/2006/relationships/extended-properties" Target="/docProps/app.xml" Id="R5d8e694525194618" /><Relationship Type="http://schemas.openxmlformats.org/officeDocument/2006/relationships/officeDocument" Target="/ppt/presentation.xml" Id="Rc399558e8e254c4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e8d336e5b5d4fbb"/>
  </p:sldMasterIdLst>
  <p:notesMasterIdLst>
    <p:notesMasterId xmlns:r="http://schemas.openxmlformats.org/officeDocument/2006/relationships" r:id="Reefde1dab9354374"/>
  </p:notesMasterIdLst>
  <p:sldIdLst>
    <p:sldId xmlns:r="http://schemas.openxmlformats.org/officeDocument/2006/relationships" id="256" r:id="Rf1f985c451244870"/>
    <p:sldId xmlns:r="http://schemas.openxmlformats.org/officeDocument/2006/relationships" id="257" r:id="R086d61e7b0e14306"/>
    <p:sldId xmlns:r="http://schemas.openxmlformats.org/officeDocument/2006/relationships" id="258" r:id="Rdb3246f22be04b89"/>
    <p:sldId xmlns:r="http://schemas.openxmlformats.org/officeDocument/2006/relationships" id="259" r:id="R3776790a6e1e478b"/>
    <p:sldId xmlns:r="http://schemas.openxmlformats.org/officeDocument/2006/relationships" id="260" r:id="R01aeeb47b2d547dc"/>
    <p:sldId xmlns:r="http://schemas.openxmlformats.org/officeDocument/2006/relationships" id="261" r:id="Re9ed46d5f5b54c0b"/>
    <p:sldId xmlns:r="http://schemas.openxmlformats.org/officeDocument/2006/relationships" id="262" r:id="R655b5d346be74df1"/>
    <p:sldId xmlns:r="http://schemas.openxmlformats.org/officeDocument/2006/relationships" id="263" r:id="R99abe4febb8e48ad"/>
    <p:sldId xmlns:r="http://schemas.openxmlformats.org/officeDocument/2006/relationships" id="264" r:id="R9c64e1fd01db478c"/>
    <p:sldId xmlns:r="http://schemas.openxmlformats.org/officeDocument/2006/relationships" id="265" r:id="Rfeb6dae1e1c74157"/>
    <p:sldId xmlns:r="http://schemas.openxmlformats.org/officeDocument/2006/relationships" id="266" r:id="Rb56e179abecd45ae"/>
    <p:sldId xmlns:r="http://schemas.openxmlformats.org/officeDocument/2006/relationships" id="267" r:id="R349ef24c29c541c6"/>
    <p:sldId xmlns:r="http://schemas.openxmlformats.org/officeDocument/2006/relationships" id="268" r:id="R82cb72ea139a4bea"/>
    <p:sldId xmlns:r="http://schemas.openxmlformats.org/officeDocument/2006/relationships" id="269" r:id="R609a8c6a49d9457a"/>
    <p:sldId xmlns:r="http://schemas.openxmlformats.org/officeDocument/2006/relationships" id="270" r:id="R66b81e4378fc4f6f"/>
    <p:sldId xmlns:r="http://schemas.openxmlformats.org/officeDocument/2006/relationships" id="271" r:id="R6f7dcb02ed7a450a"/>
    <p:sldId xmlns:r="http://schemas.openxmlformats.org/officeDocument/2006/relationships" id="272" r:id="Rd6617f9ed0864dd3"/>
    <p:sldId xmlns:r="http://schemas.openxmlformats.org/officeDocument/2006/relationships" id="273" r:id="R4bd5ace1f61640fd"/>
    <p:sldId xmlns:r="http://schemas.openxmlformats.org/officeDocument/2006/relationships" id="274" r:id="R979f8d5d87604970"/>
    <p:sldId xmlns:r="http://schemas.openxmlformats.org/officeDocument/2006/relationships" id="275" r:id="R9afc7c20eaea4eaa"/>
    <p:sldId xmlns:r="http://schemas.openxmlformats.org/officeDocument/2006/relationships" id="276" r:id="Rd67d518ba3b24696"/>
    <p:sldId xmlns:r="http://schemas.openxmlformats.org/officeDocument/2006/relationships" id="277" r:id="R8abde3f35b094194"/>
    <p:sldId xmlns:r="http://schemas.openxmlformats.org/officeDocument/2006/relationships" id="278" r:id="R744a3fb6fe464d3f"/>
    <p:sldId xmlns:r="http://schemas.openxmlformats.org/officeDocument/2006/relationships" id="279" r:id="Rcccf665801694fb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dd6f2e3ee504d2d" /><Relationship Type="http://schemas.openxmlformats.org/officeDocument/2006/relationships/slideMaster" Target="/ppt/slideMasters/slideMaster1.xml" Id="Rae8d336e5b5d4fbb" /><Relationship Type="http://schemas.openxmlformats.org/officeDocument/2006/relationships/notesMaster" Target="/ppt/notesMasters/notesMaster1.xml" Id="Reefde1dab9354374" /><Relationship Type="http://schemas.openxmlformats.org/officeDocument/2006/relationships/presProps" Target="/ppt/presProps.xml" Id="Rac99f2d824d0428f" /><Relationship Type="http://schemas.openxmlformats.org/officeDocument/2006/relationships/tableStyles" Target="/ppt/tableStyles.xml" Id="R2f1dd14eef4a42d0" /><Relationship Type="http://schemas.openxmlformats.org/officeDocument/2006/relationships/slide" Target="/ppt/slides/slide1.xml" Id="Rf1f985c451244870" /><Relationship Type="http://schemas.openxmlformats.org/officeDocument/2006/relationships/slide" Target="/ppt/slides/slide2.xml" Id="R086d61e7b0e14306" /><Relationship Type="http://schemas.openxmlformats.org/officeDocument/2006/relationships/slide" Target="/ppt/slides/slide3.xml" Id="Rdb3246f22be04b89" /><Relationship Type="http://schemas.openxmlformats.org/officeDocument/2006/relationships/slide" Target="/ppt/slides/slide4.xml" Id="R3776790a6e1e478b" /><Relationship Type="http://schemas.openxmlformats.org/officeDocument/2006/relationships/slide" Target="/ppt/slides/slide5.xml" Id="R01aeeb47b2d547dc" /><Relationship Type="http://schemas.openxmlformats.org/officeDocument/2006/relationships/slide" Target="/ppt/slides/slide6.xml" Id="Re9ed46d5f5b54c0b" /><Relationship Type="http://schemas.openxmlformats.org/officeDocument/2006/relationships/slide" Target="/ppt/slides/slide7.xml" Id="R655b5d346be74df1" /><Relationship Type="http://schemas.openxmlformats.org/officeDocument/2006/relationships/slide" Target="/ppt/slides/slide8.xml" Id="R99abe4febb8e48ad" /><Relationship Type="http://schemas.openxmlformats.org/officeDocument/2006/relationships/slide" Target="/ppt/slides/slide9.xml" Id="R9c64e1fd01db478c" /><Relationship Type="http://schemas.openxmlformats.org/officeDocument/2006/relationships/slide" Target="/ppt/slides/slide10.xml" Id="Rfeb6dae1e1c74157" /><Relationship Type="http://schemas.openxmlformats.org/officeDocument/2006/relationships/slide" Target="/ppt/slides/slide11.xml" Id="Rb56e179abecd45ae" /><Relationship Type="http://schemas.openxmlformats.org/officeDocument/2006/relationships/slide" Target="/ppt/slides/slide12.xml" Id="R349ef24c29c541c6" /><Relationship Type="http://schemas.openxmlformats.org/officeDocument/2006/relationships/slide" Target="/ppt/slides/slide13.xml" Id="R82cb72ea139a4bea" /><Relationship Type="http://schemas.openxmlformats.org/officeDocument/2006/relationships/slide" Target="/ppt/slides/slide14.xml" Id="R609a8c6a49d9457a" /><Relationship Type="http://schemas.openxmlformats.org/officeDocument/2006/relationships/slide" Target="/ppt/slides/slide15.xml" Id="R66b81e4378fc4f6f" /><Relationship Type="http://schemas.openxmlformats.org/officeDocument/2006/relationships/slide" Target="/ppt/slides/slide16.xml" Id="R6f7dcb02ed7a450a" /><Relationship Type="http://schemas.openxmlformats.org/officeDocument/2006/relationships/slide" Target="/ppt/slides/slide17.xml" Id="Rd6617f9ed0864dd3" /><Relationship Type="http://schemas.openxmlformats.org/officeDocument/2006/relationships/slide" Target="/ppt/slides/slide18.xml" Id="R4bd5ace1f61640fd" /><Relationship Type="http://schemas.openxmlformats.org/officeDocument/2006/relationships/slide" Target="/ppt/slides/slide19.xml" Id="R979f8d5d87604970" /><Relationship Type="http://schemas.openxmlformats.org/officeDocument/2006/relationships/slide" Target="/ppt/slides/slide20.xml" Id="R9afc7c20eaea4eaa" /><Relationship Type="http://schemas.openxmlformats.org/officeDocument/2006/relationships/slide" Target="/ppt/slides/slide21.xml" Id="Rd67d518ba3b24696" /><Relationship Type="http://schemas.openxmlformats.org/officeDocument/2006/relationships/slide" Target="/ppt/slides/slide22.xml" Id="R8abde3f35b094194" /><Relationship Type="http://schemas.openxmlformats.org/officeDocument/2006/relationships/slide" Target="/ppt/slides/slide23.xml" Id="R744a3fb6fe464d3f" /><Relationship Type="http://schemas.openxmlformats.org/officeDocument/2006/relationships/slide" Target="/ppt/slides/slide24.xml" Id="Rcccf665801694fb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3bd929585524b4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713580413ad4866" /><Relationship Type="http://schemas.openxmlformats.org/officeDocument/2006/relationships/notesMaster" Target="/ppt/notesMasters/notesMaster1.xml" Id="Rfa9d4d87fea3404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754441572ec4cde" /><Relationship Type="http://schemas.openxmlformats.org/officeDocument/2006/relationships/notesMaster" Target="/ppt/notesMasters/notesMaster1.xml" Id="Rf34b2916261a420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27d4192d2db466b" /><Relationship Type="http://schemas.openxmlformats.org/officeDocument/2006/relationships/notesMaster" Target="/ppt/notesMasters/notesMaster1.xml" Id="Rf4bf3f9a8f7b41e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a5fe44a77094fb7" /><Relationship Type="http://schemas.openxmlformats.org/officeDocument/2006/relationships/notesMaster" Target="/ppt/notesMasters/notesMaster1.xml" Id="Ra578d976d80a443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0b13c7808ab4e16" /><Relationship Type="http://schemas.openxmlformats.org/officeDocument/2006/relationships/notesMaster" Target="/ppt/notesMasters/notesMaster1.xml" Id="R40e14736495944f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87ac114ad0b42c6" /><Relationship Type="http://schemas.openxmlformats.org/officeDocument/2006/relationships/notesMaster" Target="/ppt/notesMasters/notesMaster1.xml" Id="Radfe821005fe40f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828dc2885f241c5" /><Relationship Type="http://schemas.openxmlformats.org/officeDocument/2006/relationships/notesMaster" Target="/ppt/notesMasters/notesMaster1.xml" Id="R67a6cee7ef8a4d9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fd7f9f8a186492a" /><Relationship Type="http://schemas.openxmlformats.org/officeDocument/2006/relationships/notesMaster" Target="/ppt/notesMasters/notesMaster1.xml" Id="R579f6374fb01480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dfe805af7724f8e" /><Relationship Type="http://schemas.openxmlformats.org/officeDocument/2006/relationships/notesMaster" Target="/ppt/notesMasters/notesMaster1.xml" Id="R8a3b6b06f579428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0661e9370e64ffb" /><Relationship Type="http://schemas.openxmlformats.org/officeDocument/2006/relationships/notesMaster" Target="/ppt/notesMasters/notesMaster1.xml" Id="R6821047ce633493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e46f32e2d9f438a" /><Relationship Type="http://schemas.openxmlformats.org/officeDocument/2006/relationships/notesMaster" Target="/ppt/notesMasters/notesMaster1.xml" Id="R859632a2e2a3401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6e3eae2b6c04b56" /><Relationship Type="http://schemas.openxmlformats.org/officeDocument/2006/relationships/notesMaster" Target="/ppt/notesMasters/notesMaster1.xml" Id="R98bc4968db5f4a8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560f9193180410e" /><Relationship Type="http://schemas.openxmlformats.org/officeDocument/2006/relationships/notesMaster" Target="/ppt/notesMasters/notesMaster1.xml" Id="Rbc196528d304455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f720d09254a433d" /><Relationship Type="http://schemas.openxmlformats.org/officeDocument/2006/relationships/notesMaster" Target="/ppt/notesMasters/notesMaster1.xml" Id="R542bfbf182c64cb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597b88ffdd44678" /><Relationship Type="http://schemas.openxmlformats.org/officeDocument/2006/relationships/notesMaster" Target="/ppt/notesMasters/notesMaster1.xml" Id="R4cc4896d60d24b4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6f77cf7180b40a6" /><Relationship Type="http://schemas.openxmlformats.org/officeDocument/2006/relationships/notesMaster" Target="/ppt/notesMasters/notesMaster1.xml" Id="Rc8849a81c4294ea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245e7f08cd34789" /><Relationship Type="http://schemas.openxmlformats.org/officeDocument/2006/relationships/notesMaster" Target="/ppt/notesMasters/notesMaster1.xml" Id="Rfaf072ea3ece4da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a3d938c9fc844e4" /><Relationship Type="http://schemas.openxmlformats.org/officeDocument/2006/relationships/notesMaster" Target="/ppt/notesMasters/notesMaster1.xml" Id="Rf93646f9e8814f0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83a94dd8e4024c9b" /><Relationship Type="http://schemas.openxmlformats.org/officeDocument/2006/relationships/notesMaster" Target="/ppt/notesMasters/notesMaster1.xml" Id="Rbd51affae218499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da748321e394d65" /><Relationship Type="http://schemas.openxmlformats.org/officeDocument/2006/relationships/notesMaster" Target="/ppt/notesMasters/notesMaster1.xml" Id="Rac2c1ee90a3d42f0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cc67efa554f49d6" /><Relationship Type="http://schemas.openxmlformats.org/officeDocument/2006/relationships/notesMaster" Target="/ppt/notesMasters/notesMaster1.xml" Id="R623fcf449ac54987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8fb07f7281694f42" /><Relationship Type="http://schemas.openxmlformats.org/officeDocument/2006/relationships/notesMaster" Target="/ppt/notesMasters/notesMaster1.xml" Id="Rf14bd8a7d5d8427f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9cc87a369d61494d" /><Relationship Type="http://schemas.openxmlformats.org/officeDocument/2006/relationships/notesMaster" Target="/ppt/notesMasters/notesMaster1.xml" Id="R553b65527fb04762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e042e61f22eb4d26" /><Relationship Type="http://schemas.openxmlformats.org/officeDocument/2006/relationships/notesMaster" Target="/ppt/notesMasters/notesMaster1.xml" Id="R0f0da6cdbbf0417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deck now contains both the source/mechanics opening and the authorized 2016-2026 causal replay. The replay remains retrospective, overlaps the source's parameter-selection history, and creates neither independent confirmation nor forward authority.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https://www.youtube.com/watch?v=c1HDiohiqLU</a:t>
            </a:r>
          </a:p>
          <a:p xmlns:a="http://schemas.openxmlformats.org/drawingml/2006/main">
            <a:r>
              <a:t>- https://quantpedia.com/active-dual-momentum-gtaa-strategy/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Project/Time-Series-Modeling-Gen5/runs/research_workbench/literature_grounded/lit_mom_03_1_dual_momentum_replay_20260902/mom031r_report.md</a:t>
            </a:r>
          </a:p>
          <a:p xmlns:a="http://schemas.openxmlformats.org/drawingml/2006/main">
            <a:r>
              <a:t>- C:/Users/Franc/OneDrive/Documents/Francis/Peltata Project/Time-Series-Modeling-Gen5/literature_studies/docs/GEN5_LIT_MOM_03_1_DUAL_MOMENTUM_REPLAY_RESULTS.md</a:t>
            </a:r>
          </a:p>
          <a:p xmlns:a="http://schemas.openxmlformats.org/drawingml/2006/main">
            <a:r>
              <a:t>- Codex task conversation, 2026-09-02 (operator approval and replay interpretation)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slide separates a broad literature claim from the narrower Gen5 variants already tested.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https://doi.org/10.1111/j.1540-6261.1993.tb04702.x</a:t>
            </a:r>
          </a:p>
          <a:p xmlns:a="http://schemas.openxmlformats.org/drawingml/2006/main">
            <a:r>
              <a:t>- https://www.aqr.com/Insights/Research/Journal-Article/Time-Series-Momentum</a:t>
            </a:r>
          </a:p>
          <a:p xmlns:a="http://schemas.openxmlformats.org/drawingml/2006/main">
            <a:r>
              <a:t>- C:/Users/Franc/OneDrive/Documents/Francis/Peltata Project/Time-Series-Modeling-Gen5/literature_studies/docs/GEN5_LIT_MOM_01_1_INTERDAY_MOMENTUM_RESULTS.md</a:t>
            </a:r>
          </a:p>
          <a:p xmlns:a="http://schemas.openxmlformats.org/drawingml/2006/main">
            <a:r>
              <a:t>- C:/Users/Franc/OneDrive/Documents/Francis/Peltata Project/Time-Series-Modeling-Gen5/literature_studies/docs/GEN5_LIT_MOM_01_4_MULTI_MARKET_PREDICTOR_ATLAS_RESULTS.md</a:t>
            </a:r>
          </a:p>
          <a:p xmlns:a="http://schemas.openxmlformats.org/drawingml/2006/main">
            <a:r>
              <a:t>- Codex task conversation, 2026-09-02 (operator/assistant momentum interpretation huddle)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Fleet versus leaf is an operator-facing intuition developed in the 2026-09-02 huddle. The academic sources establish portfolio-level cross-sectional and time-series momentum evidence; the metaphor is original to this discussion.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Codex task conversation, 2026-09-02 (operator/assistant momentum interpretation huddle)</a:t>
            </a:r>
          </a:p>
          <a:p xmlns:a="http://schemas.openxmlformats.org/drawingml/2006/main">
            <a:r>
              <a:t>- https://doi.org/10.1111/j.1540-6261.1993.tb04702.x</a:t>
            </a:r>
          </a:p>
          <a:p xmlns:a="http://schemas.openxmlformats.org/drawingml/2006/main">
            <a:r>
              <a:t>- https://www.aqr.com/Insights/Research/Journal-Article/Time-Series-Momentum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formulas are compact operator-facing statements of three distinct estimands. They are not asserted to be interchangeable.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https://doi.org/10.1111/j.1540-6261.1993.tb04702.x</a:t>
            </a:r>
          </a:p>
          <a:p xmlns:a="http://schemas.openxmlformats.org/drawingml/2006/main">
            <a:r>
              <a:t>- https://www.aqr.com/Insights/Research/Journal-Article/Time-Series-Momentum</a:t>
            </a:r>
          </a:p>
          <a:p xmlns:a="http://schemas.openxmlformats.org/drawingml/2006/main">
            <a:r>
              <a:t>- C:/Users/Franc/OneDrive/Documents/Francis/Peltata Project/Time-Series-Modeling-Gen5/AGENTS.md</a:t>
            </a:r>
          </a:p>
          <a:p xmlns:a="http://schemas.openxmlformats.org/drawingml/2006/main">
            <a:r>
              <a:t>- Codex task conversation, 2026-09-02 (operator/assistant momentum interpretation huddle)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are explanations for why the stopped Gen5 implementations do not falsify the broader momentum literature. They do not rescue any stopped rule.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Project/Time-Series-Modeling-Gen5/literature_studies/docs/GEN5_LIT_MOM_01_1_INTERDAY_MOMENTUM_RESULTS.md</a:t>
            </a:r>
          </a:p>
          <a:p xmlns:a="http://schemas.openxmlformats.org/drawingml/2006/main">
            <a:r>
              <a:t>- C:/Users/Franc/OneDrive/Documents/Francis/Peltata Project/Time-Series-Modeling-Gen5/literature_studies/docs/GEN5_LIT_MOM_01_4_MULTI_MARKET_PREDICTOR_ATLAS_RESULTS.md</a:t>
            </a:r>
          </a:p>
          <a:p xmlns:a="http://schemas.openxmlformats.org/drawingml/2006/main">
            <a:r>
              <a:t>- C:/Users/Franc/OneDrive/Documents/Francis/Peltata Project/Time-Series-Modeling-Gen5/literature_studies/docs/GEN5_LIT_MOM_01_2_AUDIT_01_EXPOSURE_SELECTION_RESULTS.md</a:t>
            </a:r>
          </a:p>
          <a:p xmlns:a="http://schemas.openxmlformats.org/drawingml/2006/main">
            <a:r>
              <a:t>- https://www.nber.org/papers/w20439</a:t>
            </a:r>
          </a:p>
          <a:p xmlns:a="http://schemas.openxmlformats.org/drawingml/2006/main">
            <a:r>
              <a:t>- Codex task conversation, 2026-09-02 (operator/assistant momentum interpretation huddle)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baseline ladder reflects Gen5's prior long-only attribution work and its no-trade-first research contract.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Project/Time-Series-Modeling-Gen5/literature_studies/docs/GEN5_LIT_MOM_01_2_AUDIT_01_EXPOSURE_SELECTION_RESULTS.md</a:t>
            </a:r>
          </a:p>
          <a:p xmlns:a="http://schemas.openxmlformats.org/drawingml/2006/main">
            <a:r>
              <a:t>- C:/Users/Franc/OneDrive/Documents/Francis/Peltata Project/Time-Series-Modeling-Gen5/AGENTS.md</a:t>
            </a:r>
          </a:p>
          <a:p xmlns:a="http://schemas.openxmlformats.org/drawingml/2006/main">
            <a:r>
              <a:t>- Codex task conversation, 2026-09-02 (operator/assistant momentum interpretation huddle)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persistence mechanisms are plausible interpretations, not proof that the specific Quantpedia implementation will survive Gen5 replication.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https://www.aqr.com/Insights/Research/Journal-Article/Time-Series-Momentum</a:t>
            </a:r>
          </a:p>
          <a:p xmlns:a="http://schemas.openxmlformats.org/drawingml/2006/main">
            <a:r>
              <a:t>- https://www.nber.org/papers/w20439</a:t>
            </a:r>
          </a:p>
          <a:p xmlns:a="http://schemas.openxmlformats.org/drawingml/2006/main">
            <a:r>
              <a:t>- https://doi.org/10.2139/ssrn.2042750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 dual momentum, 'dual' means relative plus absolute momentum. The published 10- and 25-week sleeves are an additional horizon ensemble.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https://doi.org/10.2139/ssrn.2042750</a:t>
            </a:r>
          </a:p>
          <a:p xmlns:a="http://schemas.openxmlformats.org/drawingml/2006/main">
            <a:r>
              <a:t>- https://quantpedia.com/active-dual-momentum-gtaa-strategy/</a:t>
            </a:r>
          </a:p>
          <a:p xmlns:a="http://schemas.openxmlformats.org/drawingml/2006/main">
            <a:r>
              <a:t>- https://quantpedia.com/dual-vs-single-momentum-in-commodities-enhancing-risk-adjusted-returns-through-absolute-trend-filtering/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visible rule reproduces the May 2026 Quantpedia GTAA article referenced by the July 2026 video. It records the publisher's mechanics, not Gen5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https://quantpedia.com/active-dual-momentum-gtaa-strategy/</a:t>
            </a:r>
          </a:p>
          <a:p xmlns:a="http://schemas.openxmlformats.org/drawingml/2006/main">
            <a:r>
              <a:t>- https://www.youtube.com/watch?v=c1HDiohiqLU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Inference: because the article evaluates numerous lookbacks and selection breadths before choosing the final specification, its 2008-2026 results are discovery/replication evidence rather than untouched confirmation. Clean temporal evidence begins after the source cutoff and publication.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https://quantpedia.com/active-dual-momentum-gtaa-strategy/</a:t>
            </a:r>
          </a:p>
          <a:p xmlns:a="http://schemas.openxmlformats.org/drawingml/2006/main">
            <a:r>
              <a:t>- https://www.youtube.com/watch?v=c1HDiohiqLU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proposed first technical slice. It is narrower than a backtest: the output is an auditable signal/allocation tape and operator-facing visual sanity check.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https://quantpedia.com/active-dual-momentum-gtaa-strategy/</a:t>
            </a:r>
          </a:p>
          <a:p xmlns:a="http://schemas.openxmlformats.org/drawingml/2006/main">
            <a:r>
              <a:t>- C:/Users/Franc/OneDrive/Documents/Francis/Peltata Project/Time-Series-Modeling-Gen5/AGENTS.md</a:t>
            </a:r>
          </a:p>
          <a:p xmlns:a="http://schemas.openxmlformats.org/drawingml/2006/main">
            <a:r>
              <a:t>- Codex task conversation, 2026-09-02 (operator/assistant momentum interpretation huddle)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equal-weight benchmark is publisher-aligned. The relative-only, absolute-only, and cash controls are Gen5 attribution devices and are not claimed as part of the published final strategy.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https://quantpedia.com/active-dual-momentum-gtaa-strategy/</a:t>
            </a:r>
          </a:p>
          <a:p xmlns:a="http://schemas.openxmlformats.org/drawingml/2006/main">
            <a:r>
              <a:t>- https://quantpedia.com/dual-vs-single-momentum-in-commodities-enhancing-risk-adjusted-returns-through-absolute-trend-filtering/</a:t>
            </a:r>
          </a:p>
          <a:p xmlns:a="http://schemas.openxmlformats.org/drawingml/2006/main">
            <a:r>
              <a:t>- C:/Users/Franc/OneDrive/Documents/Francis/Peltata Project/Time-Series-Modeling-Gen5/AGENTS.md</a:t>
            </a:r>
          </a:p>
          <a:p xmlns:a="http://schemas.openxmlformats.org/drawingml/2006/main">
            <a:r>
              <a:t>- Codex task conversation, 2026-09-02 (operator/assistant momentum interpretation huddle)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progression preserves Gen5's research-to-execution separation. Performance analysis, strategy promotion, leverage, and live behavior require later operator gates.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Project/Time-Series-Modeling-Gen5/AGENTS.md</a:t>
            </a:r>
          </a:p>
          <a:p xmlns:a="http://schemas.openxmlformats.org/drawingml/2006/main">
            <a:r>
              <a:t>- https://quantpedia.com/active-dual-momentum-gtaa-strategy/</a:t>
            </a:r>
          </a:p>
          <a:p xmlns:a="http://schemas.openxmlformats.org/drawingml/2006/main">
            <a:r>
              <a:t>- Codex task conversation, 2026-09-02 (operator/assistant momentum interpretation huddle)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closing slide freezes the study classification and next slice. Future evidence slides should be appended after the mechanics packet is generated and inspected.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https://www.youtube.com/watch?v=c1HDiohiqLU</a:t>
            </a:r>
          </a:p>
          <a:p xmlns:a="http://schemas.openxmlformats.org/drawingml/2006/main">
            <a:r>
              <a:t>- https://quantpedia.com/active-dual-momentum-gtaa-strategy/</a:t>
            </a:r>
          </a:p>
          <a:p xmlns:a="http://schemas.openxmlformats.org/drawingml/2006/main">
            <a:r>
              <a:t>- https://doi.org/10.1111/j.1540-6261.1993.tb04702.x</a:t>
            </a:r>
          </a:p>
          <a:p xmlns:a="http://schemas.openxmlformats.org/drawingml/2006/main">
            <a:r>
              <a:t>- https://www.aqr.com/Insights/Research/Journal-Article/Time-Series-Momentum</a:t>
            </a:r>
          </a:p>
          <a:p xmlns:a="http://schemas.openxmlformats.org/drawingml/2006/main">
            <a:r>
              <a:t>- C:/Users/Franc/OneDrive/Documents/Francis/Peltata Project/Time-Series-Modeling-Gen5/literature_studies/docs/GEN5_LITERATURE_GROUNDED_STRATEGY_RESEARCH_NOMENCLATURE.md</a:t>
            </a:r>
          </a:p>
          <a:p xmlns:a="http://schemas.openxmlformats.org/drawingml/2006/main">
            <a:r>
              <a:t>- Codex task conversation, 2026-09-02 (operator/assistant momentum interpretation huddle)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source-described ranking and allocation rule was reproduced on the clean locally admitted window. The attempted refresh did not supply pre-2016 coverage, so the published 2008-2026 span remains an explicit STOP.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Project/Time-Series-Modeling-Gen5/runs/research_workbench/literature_grounded/lit_mom_03_1_dual_momentum_mechanics_20260902/mom031_report.md</a:t>
            </a:r>
          </a:p>
          <a:p xmlns:a="http://schemas.openxmlformats.org/drawingml/2006/main">
            <a:r>
              <a:t>- C:/Users/Franc/OneDrive/Documents/Francis/Peltata Project/Time-Series-Modeling-Gen5/literature_studies/R/gen5_lit_mom_03_1_dual_momentum_mechanics.R</a:t>
            </a:r>
          </a:p>
          <a:p xmlns:a="http://schemas.openxmlformats.org/drawingml/2006/main">
            <a:r>
              <a:t>- C:/Users/Franc/OneDrive/Documents/Francis/Peltata Project/Time-Series-Modeling-Gen5/literature_studies/scripts/run_gen5_lit_mom_03_1_dual_momentum_mechanics.R</a:t>
            </a:r>
          </a:p>
          <a:p xmlns:a="http://schemas.openxmlformats.org/drawingml/2006/main">
            <a:r>
              <a:t>- https://quantpedia.com/active-dual-momentum-gtaa-strategy/</a:t>
            </a:r>
          </a:p>
          <a:p xmlns:a="http://schemas.openxmlformats.org/drawingml/2006/main">
            <a:r>
              <a:t>- Codex task conversation, 2026-09-02 (operator approval and mechanics readout)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chart displays target allocations only. It is not an equity curve and contains no return outcome. Cash appears when one or more top-ranked assets have non-positive momentum in their sleeve.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Project/Time-Series-Modeling-Gen5/runs/research_workbench/literature_grounded/lit_mom_03_1_dual_momentum_mechanics_20260902/mom031_report.md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Project/Time-Series-Modeling-Gen5/runs/research_workbench/literature_grounded/lit_mom_03_1_dual_momentum_mechanics_20260902/mom031_mechanics_summary.csv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Project/Time-Series-Modeling-Gen5/runs/research_workbench/literature_grounded/lit_mom_03_1_dual_momentum_mechanics_20260902/visuals/mom031_allocation_timeline.png</a:t>
            </a:r>
          </a:p>
          <a:p xmlns:a="http://schemas.openxmlformats.org/drawingml/2006/main">
            <a:r>
              <a:t>- Codex task conversation, 2026-09-02 (operator approval and mechanics readout)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Representative dates were frozen before rendering the slide. The overlap count is descriptive of allocation mechanics and does not establish that overlap helped returns.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Project/Time-Series-Modeling-Gen5/runs/research_workbench/literature_grounded/lit_mom_03_1_dual_momentum_mechanics_20260902/mom031_report.md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Project/Time-Series-Modeling-Gen5/runs/research_workbench/literature_grounded/lit_mom_03_1_dual_momentum_mechanics_20260902/mom031_representative_allocations.csv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Project/Time-Series-Modeling-Gen5/runs/research_workbench/literature_grounded/lit_mom_03_1_dual_momentum_mechanics_20260902/mom031_weekly_allocation_tape.csv</a:t>
            </a:r>
          </a:p>
          <a:p xmlns:a="http://schemas.openxmlformats.org/drawingml/2006/main">
            <a:r>
              <a:t>- Codex task conversation, 2026-09-02 (operator approval and mechanics readout)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closes the mechanics-only slice. The next performance gate requires explicit operator authorization under the Gen5 research contract.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Project/Time-Series-Modeling-Gen5/runs/research_workbench/literature_grounded/lit_mom_03_1_dual_momentum_mechanics_20260902/mom031_report.md</a:t>
            </a:r>
          </a:p>
          <a:p xmlns:a="http://schemas.openxmlformats.org/drawingml/2006/main">
            <a:r>
              <a:t>- C:/Users/Franc/OneDrive/Documents/Francis/Peltata Project/Time-Series-Modeling-Gen5/literature_studies/R/gen5_lit_mom_03_1_dual_momentum_mechanics.R</a:t>
            </a:r>
          </a:p>
          <a:p xmlns:a="http://schemas.openxmlformats.org/drawingml/2006/main">
            <a:r>
              <a:t>- C:/Users/Franc/OneDrive/Documents/Francis/Peltata Project/Time-Series-Modeling-Gen5/literature_studies/scripts/run_gen5_lit_mom_03_1_dual_momentum_mechanics.R</a:t>
            </a:r>
          </a:p>
          <a:p xmlns:a="http://schemas.openxmlformats.org/drawingml/2006/main">
            <a:r>
              <a:t>- https://quantpedia.com/active-dual-momentum-gtaa-strategy/</a:t>
            </a:r>
          </a:p>
          <a:p xmlns:a="http://schemas.openxmlformats.org/drawingml/2006/main">
            <a:r>
              <a:t>- Codex task conversation, 2026-09-02 (operator approval and mechanics readout)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begins the authorized economic replay. The left panel describes the complete source rule. The right panel gives the key component-attribution result: the source and relative-only paths were essentially the same.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Project/Time-Series-Modeling-Gen5/runs/research_workbench/literature_grounded/lit_mom_03_1_dual_momentum_replay_20260902/mom031r_report.md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Project/Time-Series-Modeling-Gen5/runs/research_workbench/literature_grounded/lit_mom_03_1_dual_momentum_replay_20260902/mom031r_portfolio_metrics.csv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Project/Time-Series-Modeling-Gen5/runs/research_workbench/literature_grounded/lit_mom_03_1_dual_momentum_replay_20260902/mom031r_source_control_comparisons.csv</a:t>
            </a:r>
          </a:p>
          <a:p xmlns:a="http://schemas.openxmlformats.org/drawingml/2006/main">
            <a:r>
              <a:t>- C:/Users/Franc/OneDrive/Documents/Francis/Peltata Project/Time-Series-Modeling-Gen5/literature_studies/R/gen5_lit_mom_03_1_dual_momentum_replay.R</a:t>
            </a:r>
          </a:p>
          <a:p xmlns:a="http://schemas.openxmlformats.org/drawingml/2006/main">
            <a:r>
              <a:t>- C:/Users/Franc/OneDrive/Documents/Francis/Peltata Project/Time-Series-Modeling-Gen5/literature_studies/scripts/run_gen5_lit_mom_03_1_dual_momentum_replay.R</a:t>
            </a:r>
          </a:p>
          <a:p xmlns:a="http://schemas.openxmlformats.org/drawingml/2006/main">
            <a:r>
              <a:t>- Codex task conversation, 2026-09-02 (operator approval and replay interpretation)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 paths use completed Wednesday-close signals and next-common-open execution. The log-scale chart shows that SPY finished higher, while the source and relative-only lines overlap and experience shallower drawdowns than SPY.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Project/Time-Series-Modeling-Gen5/runs/research_workbench/literature_grounded/lit_mom_03_1_dual_momentum_replay_20260902/mom031r_report.md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Project/Time-Series-Modeling-Gen5/runs/research_workbench/literature_grounded/lit_mom_03_1_dual_momentum_replay_20260902/mom031r_portfolio_metrics.csv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Project/Time-Series-Modeling-Gen5/runs/research_workbench/literature_grounded/lit_mom_03_1_dual_momentum_replay_20260902/visuals/mom031r_growth_of_one.png</a:t>
            </a:r>
          </a:p>
          <a:p xmlns:a="http://schemas.openxmlformats.org/drawingml/2006/main">
            <a:r>
              <a:t>- C:/Users/Franc/OneDrive/Documents/Francis/Peltata Project/Time-Series-Modeling-Gen5/literature_studies/R/gen5_lit_mom_03_1_dual_momentum_replay.R</a:t>
            </a:r>
          </a:p>
          <a:p xmlns:a="http://schemas.openxmlformats.org/drawingml/2006/main">
            <a:r>
              <a:t>- Codex task conversation, 2026-09-02 (operator approval and replay interpretation)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five-control decomposition prevents the source endpoint from being mistaken for unique dual-momentum value. Source separated from absolute-only and cash after BH, but not from relative-only, equal-weight all nine, or SPY on the frozen weekly-difference test.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Project/Time-Series-Modeling-Gen5/runs/research_workbench/literature_grounded/lit_mom_03_1_dual_momentum_replay_20260902/mom031r_report.md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Project/Time-Series-Modeling-Gen5/runs/research_workbench/literature_grounded/lit_mom_03_1_dual_momentum_replay_20260902/mom031r_portfolio_metrics.csv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Project/Time-Series-Modeling-Gen5/runs/research_workbench/literature_grounded/lit_mom_03_1_dual_momentum_replay_20260902/mom031r_source_control_comparisons.csv</a:t>
            </a:r>
          </a:p>
          <a:p xmlns:a="http://schemas.openxmlformats.org/drawingml/2006/main">
            <a:r>
              <a:t>- Codex task conversation, 2026-09-02 (operator approval and replay interpretation)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source occupied an attractive middle ground: similar CAGR to relative-only, higher CAGR than equal-weight, and lower drawdown than both equal-weight and SPY. It did not dominate SPY because SPY had higher CAGR.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Project/Time-Series-Modeling-Gen5/runs/research_workbench/literature_grounded/lit_mom_03_1_dual_momentum_replay_20260902/mom031r_report.md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Project/Time-Series-Modeling-Gen5/runs/research_workbench/literature_grounded/lit_mom_03_1_dual_momentum_replay_20260902/mom031r_portfolio_metrics.csv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Project/Time-Series-Modeling-Gen5/runs/research_workbench/literature_grounded/lit_mom_03_1_dual_momentum_replay_20260902/visuals/mom031r_risk_return.png</a:t>
            </a:r>
          </a:p>
          <a:p xmlns:a="http://schemas.openxmlformats.org/drawingml/2006/main">
            <a:r>
              <a:t>- Codex task conversation, 2026-09-02 (operator approval and replay interpretation)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source result was not confined to one broad phase: each of 2016-2019, 2020-2022, and 2023-2026 was positive. Calendar-year behavior nevertheless reinforces the attribution result because relative-only follows the source almost exactly.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Project/Time-Series-Modeling-Gen5/runs/research_workbench/literature_grounded/lit_mom_03_1_dual_momentum_replay_20260902/mom031r_report.md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Project/Time-Series-Modeling-Gen5/runs/research_workbench/literature_grounded/lit_mom_03_1_dual_momentum_replay_20260902/mom031r_calendar_years.csv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Project/Time-Series-Modeling-Gen5/runs/research_workbench/literature_grounded/lit_mom_03_1_dual_momentum_replay_20260902/mom031r_phases.csv</a:t>
            </a:r>
          </a:p>
          <a:p xmlns:a="http://schemas.openxmlformats.org/drawingml/2006/main">
            <a:r>
              <a:t>- Codex task conversation, 2026-09-02 (operator approval and replay interpretation)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closes the authorized retrospective replay. The evidence supports preserving the relative-rotation clue, but the result is neither an independent replication of the publisher's selected rule nor authority for forward use.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Project/Time-Series-Modeling-Gen5/runs/research_workbench/literature_grounded/lit_mom_03_1_dual_momentum_replay_20260902/mom031r_report.md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Project/Time-Series-Modeling-Gen5/runs/research_workbench/literature_grounded/lit_mom_03_1_dual_momentum_replay_20260902/mom031r_portfolio_metrics.csv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Project/Time-Series-Modeling-Gen5/runs/research_workbench/literature_grounded/lit_mom_03_1_dual_momentum_replay_20260902/mom031r_source_control_comparisons.csv</a:t>
            </a:r>
          </a:p>
          <a:p xmlns:a="http://schemas.openxmlformats.org/drawingml/2006/main">
            <a:r>
              <a:t>- C:/Users/Franc/OneDrive/Documents/Francis/Peltata Project/Time-Series-Modeling-Gen5/literature_studies/docs/GEN5_LIT_MOM_03_1_DUAL_MOMENTUM_REPLAY_RESULTS.md</a:t>
            </a:r>
          </a:p>
          <a:p xmlns:a="http://schemas.openxmlformats.org/drawingml/2006/main">
            <a:r>
              <a:t>- Codex task conversation, 2026-09-02 (operator approval and replay interpretation)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310b437df9485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1faf001a5b14305" /><Relationship Type="http://schemas.openxmlformats.org/officeDocument/2006/relationships/slideLayout" Target="/ppt/slideLayouts/slideLayout1.xml" Id="Ra685f9f8fd8d411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85f9f8fd8d411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a4de81cf3748b2" /><Relationship Type="http://schemas.openxmlformats.org/officeDocument/2006/relationships/notesSlide" Target="/ppt/notesSlides/notesSlide1.xml" Id="Rb7c7f1bb846a452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b9cc819f8c40b6" /><Relationship Type="http://schemas.openxmlformats.org/officeDocument/2006/relationships/notesSlide" Target="/ppt/notesSlides/notesSlide2.xml" Id="R01de1e0e172b466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7f6f509a694238" /><Relationship Type="http://schemas.openxmlformats.org/officeDocument/2006/relationships/notesSlide" Target="/ppt/notesSlides/notesSlide3.xml" Id="Ra6b2856fd9cc497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bcaea3a954455f" /><Relationship Type="http://schemas.openxmlformats.org/officeDocument/2006/relationships/notesSlide" Target="/ppt/notesSlides/notesSlide4.xml" Id="Rfafaa1e2b4264a8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37bb9eb96a4d8e" /><Relationship Type="http://schemas.openxmlformats.org/officeDocument/2006/relationships/notesSlide" Target="/ppt/notesSlides/notesSlide5.xml" Id="R5ca6c3ddd7a0429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c6d2c3d659442f" /><Relationship Type="http://schemas.openxmlformats.org/officeDocument/2006/relationships/notesSlide" Target="/ppt/notesSlides/notesSlide6.xml" Id="Rd0c7f3640a6a47d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652306457f4785" /><Relationship Type="http://schemas.openxmlformats.org/officeDocument/2006/relationships/notesSlide" Target="/ppt/notesSlides/notesSlide7.xml" Id="Rbfcf63d694cc487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2b74516075404e" /><Relationship Type="http://schemas.openxmlformats.org/officeDocument/2006/relationships/notesSlide" Target="/ppt/notesSlides/notesSlide8.xml" Id="Rb1302dbb945147d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1ab8585b4a42ae" /><Relationship Type="http://schemas.openxmlformats.org/officeDocument/2006/relationships/notesSlide" Target="/ppt/notesSlides/notesSlide9.xml" Id="R9c5b026b01f2470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c02aaea4c04cf1" /><Relationship Type="http://schemas.openxmlformats.org/officeDocument/2006/relationships/notesSlide" Target="/ppt/notesSlides/notesSlide10.xml" Id="R5a28abe0dd83473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b768ccd1f04878" /><Relationship Type="http://schemas.openxmlformats.org/officeDocument/2006/relationships/notesSlide" Target="/ppt/notesSlides/notesSlide11.xml" Id="R62caf7c3a457466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18d88ca3ed4664" /><Relationship Type="http://schemas.openxmlformats.org/officeDocument/2006/relationships/notesSlide" Target="/ppt/notesSlides/notesSlide12.xml" Id="Re06abb250dd4429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950bb691714528" /><Relationship Type="http://schemas.openxmlformats.org/officeDocument/2006/relationships/notesSlide" Target="/ppt/notesSlides/notesSlide13.xml" Id="R4285d5bbbc46475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bf1f1c82ef4742" /><Relationship Type="http://schemas.openxmlformats.org/officeDocument/2006/relationships/notesSlide" Target="/ppt/notesSlides/notesSlide14.xml" Id="Rcdc2f71a8ef14a3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6fb67a5d7045fe" /><Relationship Type="http://schemas.openxmlformats.org/officeDocument/2006/relationships/notesSlide" Target="/ppt/notesSlides/notesSlide15.xml" Id="R58ffb22e50dd4d8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34402e239140d9" /><Relationship Type="http://schemas.openxmlformats.org/officeDocument/2006/relationships/image" Target="/ppt/media/image.png" Id="R32eb528c5fd845d2" /><Relationship Type="http://schemas.openxmlformats.org/officeDocument/2006/relationships/notesSlide" Target="/ppt/notesSlides/notesSlide16.xml" Id="R57738978afe6447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ed8c9f32a94b18" /><Relationship Type="http://schemas.openxmlformats.org/officeDocument/2006/relationships/image" Target="/ppt/media/image2.png" Id="Rd6c1e1cddc184ce5" /><Relationship Type="http://schemas.openxmlformats.org/officeDocument/2006/relationships/notesSlide" Target="/ppt/notesSlides/notesSlide17.xml" Id="Rd45d1a42f1af4d9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424d5dc698444a" /><Relationship Type="http://schemas.openxmlformats.org/officeDocument/2006/relationships/notesSlide" Target="/ppt/notesSlides/notesSlide18.xml" Id="Rbb94a3be810841b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3ecbdac2664fdb" /><Relationship Type="http://schemas.openxmlformats.org/officeDocument/2006/relationships/notesSlide" Target="/ppt/notesSlides/notesSlide19.xml" Id="R77dbc43cf080417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ff485a99844329" /><Relationship Type="http://schemas.openxmlformats.org/officeDocument/2006/relationships/image" Target="/ppt/media/image3.png" Id="Rb5b3a08ed9974db7" /><Relationship Type="http://schemas.openxmlformats.org/officeDocument/2006/relationships/notesSlide" Target="/ppt/notesSlides/notesSlide20.xml" Id="R0e3062d76c0f4dd9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fbc021710b4495" /><Relationship Type="http://schemas.openxmlformats.org/officeDocument/2006/relationships/notesSlide" Target="/ppt/notesSlides/notesSlide21.xml" Id="R306a2498472c44ea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82959e80e04292" /><Relationship Type="http://schemas.openxmlformats.org/officeDocument/2006/relationships/image" Target="/ppt/media/image4.png" Id="R2e4dd40e4f094ae5" /><Relationship Type="http://schemas.openxmlformats.org/officeDocument/2006/relationships/notesSlide" Target="/ppt/notesSlides/notesSlide22.xml" Id="R85eec50abd0f4d08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476f047086466d" /><Relationship Type="http://schemas.openxmlformats.org/officeDocument/2006/relationships/notesSlide" Target="/ppt/notesSlides/notesSlide23.xml" Id="Rc668f6909da544d6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78c1670aba4893" /><Relationship Type="http://schemas.openxmlformats.org/officeDocument/2006/relationships/notesSlide" Target="/ppt/notesSlides/notesSlide24.xml" Id="Rfbb6774c06a64fb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C8F16A-1A35-4CA7-943C-329DABD86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LITERATURE-GROUNDED STRATEGY RESEARCH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8BA8147F-84EE-437A-BAC9-AC160F06A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52550"/>
            <a:ext cx="685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Dual Momentum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E17E48-7862-4323-ABF1-8F1A77D5A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05100"/>
            <a:ext cx="66675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32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Why established momentum can coexist with our null results—and how to test the published portfolio rule honestly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67FEF6-0FE2-42EB-882F-0B7804807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914400"/>
            <a:ext cx="3695700" cy="445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2C771D-C26D-4B0F-B299-193FE8FA3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39065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4E97A2-8ABE-46BA-8501-41176A997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050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2616B"/>
                </a:solidFill>
                <a:latin typeface="Arial"/>
                <a:ea typeface="Arial"/>
                <a:cs typeface="Arial"/>
              </a:rPr>
              <a:t>SOURCE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71DCE4-BDC1-49BC-B577-B36E778A1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628900"/>
            <a:ext cx="28003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Recent practitioner study + academic momentum literature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E7056F-23F0-4479-BB46-F84F657A5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8862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2616B"/>
                </a:solidFill>
                <a:latin typeface="Arial"/>
                <a:ea typeface="Arial"/>
                <a:cs typeface="Arial"/>
              </a:rPr>
              <a:t>AUTHORITY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268B99-2739-44EB-BB01-BC1CFC86D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0050"/>
            <a:ext cx="2800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C8553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C8553D"/>
                </a:solidFill>
                <a:latin typeface="Arial"/>
                <a:ea typeface="Arial"/>
                <a:cs typeface="Arial"/>
              </a:rPr>
              <a:t>Retrospective replay only</a:t>
            </a:r>
          </a:p>
          <a:p xmlns:a="http://schemas.openxmlformats.org/drawingml/2006/main">
            <a:pPr algn="l">
              <a:buNone/>
              <a:defRPr sz="1950" b="1">
                <a:solidFill>
                  <a:srgbClr val="C8553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C8553D"/>
                </a:solidFill>
                <a:latin typeface="Arial"/>
                <a:ea typeface="Arial"/>
                <a:cs typeface="Arial"/>
              </a:rPr>
              <a:t>No edge claim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26A05F-0CC5-4122-AC21-399C94202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293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Study deck · updated 2 September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995FCF-062E-4146-BD9D-390D99FED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62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52407390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BE501B-F7DF-49FA-A47D-C304324CE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2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F8C7FC40-B95B-4B96-BAD9-B35A1ED82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The contradiction is only apparent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A9408E-A936-42B7-A93A-6C3849CC4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slide-2-number">
            <a:extLst xmlns:a="http://schemas.openxmlformats.org/drawingml/2006/main">
              <a:ext uri="{FF2B5EF4-FFF2-40B4-BE49-F238E27FC236}">
                <a16:creationId xmlns:a16="http://schemas.microsoft.com/office/drawing/2014/main" id="{40D5C53F-C379-44CE-96FB-2C87B79F6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62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39C22F-BA3B-44CF-9511-B4BD71A7D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14500"/>
            <a:ext cx="266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E7D5B"/>
                </a:solidFill>
                <a:latin typeface="Arial"/>
                <a:ea typeface="Arial"/>
                <a:cs typeface="Arial"/>
              </a:rPr>
              <a:t>ESTABLISHED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E65059-1514-48A7-A238-1120C39BF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52650"/>
            <a:ext cx="44767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Momentum appears repeatedly in diversified, carefully constructed portfolios over long samples.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9B7070-3E8D-4697-89D7-55421C79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90950"/>
            <a:ext cx="44767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2EC"/>
          </a:solidFill>
          <a:ln xmlns:a="http://schemas.openxmlformats.org/drawingml/2006/main" w="9525">
            <a:solidFill>
              <a:srgbClr val="2E7D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927CF9-8DBD-4087-9706-8FE139223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114800"/>
            <a:ext cx="3867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E7D5B"/>
                </a:solidFill>
                <a:latin typeface="Arial"/>
                <a:ea typeface="Arial"/>
                <a:cs typeface="Arial"/>
              </a:rPr>
              <a:t>A weak average tendency can be real.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C9AE98-7934-464E-AD37-AC4F1E89C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714500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553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C8553D"/>
                </a:solidFill>
                <a:latin typeface="Arial"/>
                <a:ea typeface="Arial"/>
                <a:cs typeface="Arial"/>
              </a:rPr>
              <a:t>OUR EVIDENCE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F28369-7034-43AB-9B93-FB4EC7336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152650"/>
            <a:ext cx="44767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Most of our intuitive daily, intraday, and single-asset variants failed promotion.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F15382-9E54-4AC0-A808-C5552E4DD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790950"/>
            <a:ext cx="44767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7E2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C7BCFF-B328-48E1-BA68-39400BA29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114800"/>
            <a:ext cx="3867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C8553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C8553D"/>
                </a:solidFill>
                <a:latin typeface="Arial"/>
                <a:ea typeface="Arial"/>
                <a:cs typeface="Arial"/>
              </a:rPr>
              <a:t>That does not test the same proposition.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9AC486-BA3F-4838-B39F-374AAB8E1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524500"/>
            <a:ext cx="8343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The unit of analysis, horizon, portfolio construction, and baseline all changed.</a:t>
            </a:r>
          </a:p>
        </p:txBody>
      </p:sp>
    </p:spTree>
    <p:extLst>
      <p:ext uri="{BB962C8B-B14F-4D97-AF65-F5344CB8AC3E}">
        <p14:creationId xmlns:p14="http://schemas.microsoft.com/office/powerpoint/2010/main" val="134741334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E3EB4AA-2DA2-4305-9945-08D8E11BE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2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CD89AFCC-77FE-4A7D-A22A-F3C9F0CA2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Momentum is a tailwind across a fleet—not a command over one leaf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3D915C-6AC1-4E4D-A477-43275A6FE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slide-3-number">
            <a:extLst xmlns:a="http://schemas.openxmlformats.org/drawingml/2006/main">
              <a:ext uri="{FF2B5EF4-FFF2-40B4-BE49-F238E27FC236}">
                <a16:creationId xmlns:a16="http://schemas.microsoft.com/office/drawing/2014/main" id="{52CF65A4-276D-4F2A-85C9-93E23A833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62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061378-9410-45D6-9E4F-7877A9C3E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7640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553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C8553D"/>
                </a:solidFill>
                <a:latin typeface="Arial"/>
                <a:ea typeface="Arial"/>
                <a:cs typeface="Arial"/>
              </a:rPr>
              <a:t>ONE LEAF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38CBA8-98D4-4479-B92D-44D675199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333375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7E2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BBDBA6-D3D7-4F46-A780-0802D9E0E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48000"/>
            <a:ext cx="21526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TSLA</a:t>
            </a:r>
          </a:p>
          <a:p xmlns:a="http://schemas.openxmlformats.org/drawingml/2006/main">
            <a:pPr algn="ctr">
              <a:buNone/>
              <a:defRPr sz="255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next day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1BDA19-3031-47DB-AA90-BC1508D01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114800"/>
            <a:ext cx="2152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C8553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553D"/>
                </a:solidFill>
                <a:latin typeface="Arial"/>
                <a:ea typeface="Arial"/>
                <a:cs typeface="Arial"/>
              </a:rPr>
              <a:t>noise dominates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60178C-003F-4AE9-BE6E-AB4418F10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57450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8553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4512A6-ADD8-4C50-91C7-A1ABEB338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609850"/>
            <a:ext cx="19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8553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A6E3AB-4C10-44DB-B8BA-FA743636A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629150"/>
            <a:ext cx="742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8553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57ED5F-7BDC-499F-B642-84DC7ABFB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229100"/>
            <a:ext cx="19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8553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FB4B76-DDD4-42E4-BBBF-35FB4E8E3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67640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 FLEET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DA2B6A-7695-4624-9D09-B881C1227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114550"/>
            <a:ext cx="657225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95D235-A318-44E4-A620-3E53B5457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647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5C1F3A-8686-4F8D-98B1-FB129410C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7622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AAF30B-6F3F-4566-A579-90B58001E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647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E5C359-B250-45C7-B13A-C951A212B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7622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D8D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68F5E1-4BB7-42C3-BEF6-2F566F248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647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81D8C2-F6FF-4E11-A21B-E4E9E4BB4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7622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D8D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B70E7C-A981-4925-82EA-469B79D88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647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EDCB8D-85D2-4FD8-A5CB-FE4227FD7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7622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D8D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FAF644-3F40-4B8E-ADE7-228ECDCBC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647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553D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301151-334B-4ACB-8B0E-9F2F2BF65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7622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8553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B8EBE4-8F41-48AB-9E10-EADD510C8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409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8FE3B5-DF5E-46F1-A045-0BD88B0B2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5242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D8D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BE8EC12-3949-48F7-A0E8-E7AE8AB8E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409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81B825C-296D-4C9C-9F9D-AEB33F77B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5242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D8D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1E18E57-B13F-4407-9BCC-1CD823484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409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A87ED8C-6B1E-422D-B600-C9F910E5D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5242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D8DF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5FACC71-0EA3-4802-A00F-5E8755B32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409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5C72F99-D9FA-45BA-9E40-0F00A3002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5242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D8D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1CA185A-957A-4D05-9D2C-4EA4BE54C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3409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553D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3BAA73E-F202-47C9-A3A0-6E0C47DA4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35242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8553D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D641D95-E58F-4BF9-9926-054B5EADB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171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9D0513D-6B53-4DE9-B413-EF2CC5FD4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2862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D8DF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DD197E2-827D-48BE-9C9F-0C3648C54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71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20CD56E-4A70-492B-83BC-F0F685D2A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2862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D8DFF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CD9BB71-7693-4DF9-BE94-6F5BEF2B3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171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5490AE7-9960-41D4-9633-7659A707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2862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D8DFF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8729D08-6DBC-4CCD-9176-A6F73F3C7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4171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1E46948-71D6-40AC-86EB-EBF5D4ADE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42862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D8DFF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CB33CDF-A2AE-4589-AED3-C1045A165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4171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553D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9A0723B-8B85-4BE9-8E27-04DE3307B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2862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8553D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B669E8A-89F5-4D31-AAC4-C1577A31A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648200"/>
            <a:ext cx="5086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A slight repeated bias becomes measurable only after many assets and periods are combined.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A1700D0-6B1D-4B1B-9952-AF48A03CE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600700"/>
            <a:ext cx="8648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A portfolio-level tendency can coexist with an almost featureless single-asset scatterplot.</a:t>
            </a:r>
          </a:p>
        </p:txBody>
      </p:sp>
    </p:spTree>
    <p:extLst>
      <p:ext uri="{BB962C8B-B14F-4D97-AF65-F5344CB8AC3E}">
        <p14:creationId xmlns:p14="http://schemas.microsoft.com/office/powerpoint/2010/main" val="48444727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BCA943-CA5B-442E-A9EA-010C5D3BA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2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FA5D2491-C978-4FD9-A11A-FCB9F08B4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Three similar-sounding questions test different objects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F4BF89-19EF-4F71-A971-8302AD68C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slide-4-number">
            <a:extLst xmlns:a="http://schemas.openxmlformats.org/drawingml/2006/main">
              <a:ext uri="{FF2B5EF4-FFF2-40B4-BE49-F238E27FC236}">
                <a16:creationId xmlns:a16="http://schemas.microsoft.com/office/drawing/2014/main" id="{E870A8A7-4B08-4461-A2F3-7EC05B331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62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45B29E-235F-4204-9FB8-2FD201CF8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71650"/>
            <a:ext cx="108966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D005CC-1928-4F39-8EAE-BBE364E07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621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CROSS-SECTIONAL MOMENTUM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C9F553-4E30-4046-B38B-6A61EACF6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194310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E[future winners − future losers] &gt; 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16C930-0FA0-4BD9-B067-815728B68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4193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Rank many assets; harvest a relative spread.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F5219D-1B10-45C3-811C-6C3B901C4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81350"/>
            <a:ext cx="108966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FAEE80-3DC8-4B08-97C6-CFD381AA7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718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TIME-SERIES MOMENTUM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F91009-DB67-4CD3-B0C3-1DC5414E6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35280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E[sign(own past return) × own future return] &gt; 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4F3FC1-9A31-4090-9B29-D3CCA10FC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8290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Use one asset's past direction; diversify the bets.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B910F0-BBA6-4EED-B9E3-A5838BD13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91050"/>
            <a:ext cx="108966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7E2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B7B671-DC6C-4B53-835C-28A9F4274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815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8553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C8553D"/>
                </a:solidFill>
                <a:latin typeface="Arial"/>
                <a:ea typeface="Arial"/>
                <a:cs typeface="Arial"/>
              </a:rPr>
              <a:t>TRADABLE POLICY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38BA74-FEFC-4DF8-8382-6AE99E81C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76250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Net strategy value-add &gt; an attainable baseline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BA5E91-6C51-438D-90E5-F2DE66B95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52387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Add timing, cash, costs, exposure, and an honest comparator.</a:t>
            </a:r>
          </a:p>
        </p:txBody>
      </p:sp>
    </p:spTree>
    <p:extLst>
      <p:ext uri="{BB962C8B-B14F-4D97-AF65-F5344CB8AC3E}">
        <p14:creationId xmlns:p14="http://schemas.microsoft.com/office/powerpoint/2010/main" val="112919171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60A9BF-A78A-46ED-A605-AAA973D05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2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F29CC2FC-CCBF-494D-883E-98ACE84DE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Our tests often asked the hardest version of the question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BE36BB-0BA0-410C-B03A-C4E16659D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slide-5-number">
            <a:extLst xmlns:a="http://schemas.openxmlformats.org/drawingml/2006/main">
              <a:ext uri="{FF2B5EF4-FFF2-40B4-BE49-F238E27FC236}">
                <a16:creationId xmlns:a16="http://schemas.microsoft.com/office/drawing/2014/main" id="{F7098DD9-BDF9-4E13-81F3-9E8703192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62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018BCD-3E90-47F3-8C8D-48085BD3C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53149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4797E7-EEB4-4F3F-BEFF-26DD0821A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62150"/>
            <a:ext cx="47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69AA36-3893-45E5-A02F-B2A11636A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943100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Single-asset noise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933556-4ACD-43BC-9123-60E047159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457450"/>
            <a:ext cx="3905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A small average effect disappears inside one volatile return path.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2C64E6-EAB2-48AA-991A-A400D779E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752600"/>
            <a:ext cx="53149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28F598-44E3-4B61-85D4-C7E90036D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962150"/>
            <a:ext cx="47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AAF6FE-C5FD-472C-B13F-63BC9FBF1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943100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Fast clocks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A67FFF-5B96-43C8-84A8-77972824D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457450"/>
            <a:ext cx="3905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Daily and 30-minute outcomes can be dominated by reversal and microstructure noise.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CFFA19-7EF6-4098-A441-6FA1BEEF9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53149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7E2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D64D5F-6500-4C28-9DE1-9849518EA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14800"/>
            <a:ext cx="47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C8553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8553D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E9769C-84C5-4D9D-9FCC-79EB0347B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095750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Long-only constraint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EBE662-C042-4892-954A-43C5574A7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610100"/>
            <a:ext cx="3905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The academic loser leg is unavailable; cash must compete with ownership.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7314F1-12D2-4C1B-A0C0-359A561C1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905250"/>
            <a:ext cx="53149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583D88-E03F-4E4A-8036-833596E2E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114800"/>
            <a:ext cx="47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F97CC8-2631-435B-8E80-7A8CB31B7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095750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High evidence bar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F53EED-89A8-4675-B137-122CE9CF8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610100"/>
            <a:ext cx="3905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Causal timing, controls, costs, and temporal transport remove fragile wins.</a:t>
            </a:r>
          </a:p>
        </p:txBody>
      </p:sp>
    </p:spTree>
    <p:extLst>
      <p:ext uri="{BB962C8B-B14F-4D97-AF65-F5344CB8AC3E}">
        <p14:creationId xmlns:p14="http://schemas.microsoft.com/office/powerpoint/2010/main" val="202205678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BC65C0-B463-42E5-AA54-9083A0A10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2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3C412DD0-AB08-4C8F-87AB-D5C882384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Long-only timing must beat ownership—not merely cash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D309DD-3F5F-4466-9E47-54DFE4DD3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slide-6-number">
            <a:extLst xmlns:a="http://schemas.openxmlformats.org/drawingml/2006/main">
              <a:ext uri="{FF2B5EF4-FFF2-40B4-BE49-F238E27FC236}">
                <a16:creationId xmlns:a16="http://schemas.microsoft.com/office/drawing/2014/main" id="{0554FF23-FEBB-413A-B0FA-52ED8FD8E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62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2CAF42-2FE8-4A08-A22A-E533C8273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685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An upward-drifting asset gives buy-and-hold a structural head start.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E017E8-FCEC-4E37-8262-36837A201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685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A timing rule can avoid some losses and still lose the comparison by missing rebounds or sitting out drift.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28D070-D70A-4662-98C1-4C4C2838C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71850"/>
            <a:ext cx="1000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0F2217-4180-471A-94E1-4FBBE2CB9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9567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Cash / no trade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410F88-DB09-4F82-84E4-F22058601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495675"/>
            <a:ext cx="676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Did we earn anything at all?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2398AF-EC89-4ADC-8FF8-D7C0C15E5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38600"/>
            <a:ext cx="1000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A11BE0-D008-42A1-96A3-8EA2F83B9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16242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Drift baseline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AFBF57-5C0C-47CE-9A4A-A976C8E45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162425"/>
            <a:ext cx="676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Did the predictor add information beyond the average return?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B7509C-6BA8-41A7-925B-39F8C9843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05350"/>
            <a:ext cx="1000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41B31B-7D86-40C3-8037-168499058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82917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Matched exposure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8D25C6-F575-403D-9297-67FCAC9EE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29175"/>
            <a:ext cx="676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Was timing better than being invested for the same amount of time?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B3DE74-2353-4CBB-9381-DF496EA08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72100"/>
            <a:ext cx="1000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7E2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2CEB7C-FB57-4AA2-9A3C-FB82F9744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49592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C8553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C8553D"/>
                </a:solidFill>
                <a:latin typeface="Arial"/>
                <a:ea typeface="Arial"/>
                <a:cs typeface="Arial"/>
              </a:rPr>
              <a:t>SPY or buy-and-hold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BA82D5-3D35-4ACF-944A-8EE6EDA91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495925"/>
            <a:ext cx="676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Did the long-only rule improve on attainable ownership?</a:t>
            </a:r>
          </a:p>
        </p:txBody>
      </p:sp>
    </p:spTree>
    <p:extLst>
      <p:ext uri="{BB962C8B-B14F-4D97-AF65-F5344CB8AC3E}">
        <p14:creationId xmlns:p14="http://schemas.microsoft.com/office/powerpoint/2010/main" val="183438711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CDEE2F-5275-41AB-AD5A-EF8DC4D6B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2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A3E9A657-0167-44BB-AF2D-975AA6882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Academic support does not imply a loud or painless signal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8DF844-6B36-4BF1-B66E-7A840855D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slide-7-number">
            <a:extLst xmlns:a="http://schemas.openxmlformats.org/drawingml/2006/main">
              <a:ext uri="{FF2B5EF4-FFF2-40B4-BE49-F238E27FC236}">
                <a16:creationId xmlns:a16="http://schemas.microsoft.com/office/drawing/2014/main" id="{233BBBD9-CC6D-4158-A0B5-20FCCF3A0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62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A332EE-0498-482E-AF55-3AF70AA4C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43150"/>
            <a:ext cx="30480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28AB27-D2A6-49EA-83BF-F8FC1A785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43150"/>
            <a:ext cx="114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FF5B46-49AD-4C14-9738-B5E8BB81B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4795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Weak average bias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87B7FD-1D69-4FDF-B838-EB3A63A70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90900"/>
            <a:ext cx="23812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A small edge becomes visible through breadth, repeated observations, and disciplined aggregation.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4372A5-F655-4402-9A3E-BEBAA1C55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343150"/>
            <a:ext cx="30480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7E2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F12E85-75BC-45B9-BEE5-82516E1CC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343150"/>
            <a:ext cx="114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553D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6AE9ED-5913-464A-A5CC-F619B6610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4795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Uncomfortable risk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7A6E56-0B73-4840-8599-1934F65EA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390900"/>
            <a:ext cx="23812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Momentum can suffer violent reversals; bearing that risk may help the premium persist.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64D816-9A5E-4C0D-950A-D2D56DCE5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43150"/>
            <a:ext cx="30480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B7C33D-E700-4989-A8B1-8DE1E848E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43150"/>
            <a:ext cx="114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16B"/>
          </a:solidFill>
          <a:ln xmlns:a="http://schemas.openxmlformats.org/drawingml/2006/main" w="9525">
            <a:solidFill>
              <a:srgbClr val="52616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0707CF-DB32-478D-BB3F-8BBC7BC8D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64795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Real-world friction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C4B117-B385-4EDC-A3CF-97401B6FB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390900"/>
            <a:ext cx="23812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Costs, mandates, turnover, and tracking error limit how completely institutions arbitrage it.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C5AB1C-E02D-406F-9196-8F362DB92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467350"/>
            <a:ext cx="9677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Public knowledge can compress an effect without making every implementation worthless—or tradable.</a:t>
            </a:r>
          </a:p>
        </p:txBody>
      </p:sp>
    </p:spTree>
    <p:extLst>
      <p:ext uri="{BB962C8B-B14F-4D97-AF65-F5344CB8AC3E}">
        <p14:creationId xmlns:p14="http://schemas.microsoft.com/office/powerpoint/2010/main" val="61704483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F60422-9B61-47E5-852B-210104E61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2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C650C114-63C2-4006-B6B2-136C31CD9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Dual momentum changes the unit of analysis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7EA4F6-227C-4B9A-9E29-D3F3FFC80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slide-8-number">
            <a:extLst xmlns:a="http://schemas.openxmlformats.org/drawingml/2006/main">
              <a:ext uri="{FF2B5EF4-FFF2-40B4-BE49-F238E27FC236}">
                <a16:creationId xmlns:a16="http://schemas.microsoft.com/office/drawing/2014/main" id="{D0C4A8E7-B625-4E0F-8371-817F1CE97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62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97235C-CBF2-47B9-B1AE-90025B71F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43150"/>
            <a:ext cx="30480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074ADF-D5F7-4C74-904D-0764CC7FD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43150"/>
            <a:ext cx="114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A1A59F-E792-43EE-A28C-BDD2BA582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4795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1 · Relative rank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050069-7CA4-410F-9A62-4300BAB62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90900"/>
            <a:ext cx="23812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Which assets are strongest compared with the rest of the investable fleet?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08960D-E21C-4012-B08D-AF189188C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343150"/>
            <a:ext cx="30480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2E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F70E36-1419-40C5-B28C-7FDF5DBF2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343150"/>
            <a:ext cx="114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5B"/>
          </a:solidFill>
          <a:ln xmlns:a="http://schemas.openxmlformats.org/drawingml/2006/main" w="9525">
            <a:solidFill>
              <a:srgbClr val="2E7D5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68D41B-41C9-4FB3-BA1A-1159F6416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4795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2 · Absolute veto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971F61-73AA-4D53-920F-49CC07758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390900"/>
            <a:ext cx="23812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Is each apparent winner actually rising? If not, its sleeve remains cash.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C4E6D4-AA43-4D40-8BB4-F2A017113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343150"/>
            <a:ext cx="30480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89104A-A31C-43F1-B150-D8AB485CD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343150"/>
            <a:ext cx="114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16B"/>
          </a:solidFill>
          <a:ln xmlns:a="http://schemas.openxmlformats.org/drawingml/2006/main" w="9525">
            <a:solidFill>
              <a:srgbClr val="52616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28102D-8EC4-41DE-88E0-5FB003C15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64795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3 · Portfolio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9C003E-DB02-4C14-AE12-5EFA0026C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390900"/>
            <a:ext cx="23812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Combine accepted winners across short and long horizons; rebalance weekly.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67929B-2567-4687-8D3C-AAEB388A3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429250"/>
            <a:ext cx="10172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Relative momentum finds the winners. Absolute momentum refuses to own a winner that is still losing money.</a:t>
            </a:r>
          </a:p>
        </p:txBody>
      </p:sp>
    </p:spTree>
    <p:extLst>
      <p:ext uri="{BB962C8B-B14F-4D97-AF65-F5344CB8AC3E}">
        <p14:creationId xmlns:p14="http://schemas.microsoft.com/office/powerpoint/2010/main" val="42451062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AB4CD6-A066-4BA6-83E2-7BED7686F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2" name="slide-9-title">
            <a:extLst xmlns:a="http://schemas.openxmlformats.org/drawingml/2006/main">
              <a:ext uri="{FF2B5EF4-FFF2-40B4-BE49-F238E27FC236}">
                <a16:creationId xmlns:a16="http://schemas.microsoft.com/office/drawing/2014/main" id="{204441B9-2B0E-4029-B489-A1293A42A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The published rule is simple enough to reproduce exactly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4A5C3A-384E-47D6-952B-25278B045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slide-9-number">
            <a:extLst xmlns:a="http://schemas.openxmlformats.org/drawingml/2006/main">
              <a:ext uri="{FF2B5EF4-FFF2-40B4-BE49-F238E27FC236}">
                <a16:creationId xmlns:a16="http://schemas.microsoft.com/office/drawing/2014/main" id="{5EBD817D-F347-40A2-BECC-BF81DCE7F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62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16435F-A773-4C41-B1F9-65A53A461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UNIVERSE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51A465-7554-45A3-89FC-97D4DC096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SHY · IEF · UUP · GLD · USO · SPY · EFA · QQQ · EEM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9F2320-DB88-4F35-8CC6-DB00FC1B0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1095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61F531-F8BA-48C3-B110-1E615831E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670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SIGNAL CLOCK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A3F430-BD14-424C-8A98-AA2A7B480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24250"/>
            <a:ext cx="228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Wednesday close</a:t>
            </a:r>
          </a:p>
          <a:p xmlns:a="http://schemas.openxmlformats.org/drawingml/2006/main">
            <a:pPr algn="l">
              <a:buNone/>
              <a:defRPr sz="20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Weekly rebalance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4B8567-8507-4AD7-A8F3-B7C8821C4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0670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TWO SLEEVES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99CB67-3B4D-4239-96EC-C5AE0846E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524250"/>
            <a:ext cx="228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10-week ROC</a:t>
            </a:r>
          </a:p>
          <a:p xmlns:a="http://schemas.openxmlformats.org/drawingml/2006/main">
            <a:pPr algn="l">
              <a:buNone/>
              <a:defRPr sz="20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25-week ROC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336303-E925-419F-BA88-E200EA9CD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670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SELECTION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7F69DB-3722-4584-ACD7-5794C8CC0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524250"/>
            <a:ext cx="228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Top 3 per sleeve</a:t>
            </a:r>
          </a:p>
          <a:p xmlns:a="http://schemas.openxmlformats.org/drawingml/2006/main">
            <a:pPr algn="l">
              <a:buNone/>
              <a:defRPr sz="20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Positive ROC only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39D33A-5AB2-49E2-BD35-DAC5629E2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0670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ALLOCATION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376B60-6F16-4D24-AAF8-36D5C9BFB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524250"/>
            <a:ext cx="228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50% per sleeve</a:t>
            </a:r>
          </a:p>
          <a:p xmlns:a="http://schemas.openxmlformats.org/drawingml/2006/main">
            <a:pPr algn="l">
              <a:buNone/>
              <a:defRPr sz="20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Failed slots = cash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A3C9A6-4C13-47A7-A4A9-F8DE7D75F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0150"/>
            <a:ext cx="10572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F22369-1F45-4A63-B774-BEF94F900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19700"/>
            <a:ext cx="1000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An ETF selected by both sleeves can receive one-third of the portfolio; one-sleeve selections receive one-sixth.</a:t>
            </a:r>
          </a:p>
        </p:txBody>
      </p:sp>
    </p:spTree>
    <p:extLst>
      <p:ext uri="{BB962C8B-B14F-4D97-AF65-F5344CB8AC3E}">
        <p14:creationId xmlns:p14="http://schemas.microsoft.com/office/powerpoint/2010/main" val="23165142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232C40-58B4-44EA-9680-30505462E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2" name="slide-10-title">
            <a:extLst xmlns:a="http://schemas.openxmlformats.org/drawingml/2006/main">
              <a:ext uri="{FF2B5EF4-FFF2-40B4-BE49-F238E27FC236}">
                <a16:creationId xmlns:a16="http://schemas.microsoft.com/office/drawing/2014/main" id="{57358990-174D-4187-8662-7D0F60853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Recent publication is useful—not independent confirmation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6F5FF1-50CB-4C1C-A838-E4C98DB65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slide-10-number">
            <a:extLst xmlns:a="http://schemas.openxmlformats.org/drawingml/2006/main">
              <a:ext uri="{FF2B5EF4-FFF2-40B4-BE49-F238E27FC236}">
                <a16:creationId xmlns:a16="http://schemas.microsoft.com/office/drawing/2014/main" id="{C5B62B3C-DA1A-4AC0-B2F1-847EBA939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62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F75B7A-D38B-4F42-9233-C3DF04510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5650"/>
            <a:ext cx="10801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0182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E49722-6CA9-454F-B995-8CB7212F5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004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553D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7C3E31-FD7D-4CA8-8C95-46F236B89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098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8553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C8553D"/>
                </a:solidFill>
                <a:latin typeface="Arial"/>
                <a:ea typeface="Arial"/>
                <a:cs typeface="Arial"/>
              </a:rPr>
              <a:t>Feb 2007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3D837E-678E-4066-A05C-1768BC312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38550"/>
            <a:ext cx="1619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History begins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2A093B-8F87-484F-98EE-3799E05A0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2004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553D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55D56D-26AD-43B5-8E10-805EC6189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6098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8553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C8553D"/>
                </a:solidFill>
                <a:latin typeface="Arial"/>
                <a:ea typeface="Arial"/>
                <a:cs typeface="Arial"/>
              </a:rPr>
              <a:t>Mar 25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8DCF0D-53F0-466E-BD40-4DD2FE05A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638550"/>
            <a:ext cx="1619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Publisher cutoff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133AA9-FD8E-4764-90B8-D0D3B5D7F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2004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A4A68F-2AEB-428E-9036-84DA38DEC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6098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May 22 2026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1C3171-E25B-4118-A1AA-133CAF3CD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638550"/>
            <a:ext cx="1619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Study published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EE0BD8-F56A-44B3-B3C4-18D49730B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2004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AC450A-BD3A-49AE-A0F5-C95290E95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098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Jul 12 2026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21BEA2-DDC1-4592-877D-3251D54DA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638550"/>
            <a:ext cx="1619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Video published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F70122-CD12-432F-ABF8-1335889D8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2004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A6D2ED-E92D-48E1-A139-B46951F16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6098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Sep 2 2026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0639BC-026C-42D1-9C18-79A528E58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3638550"/>
            <a:ext cx="1619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Gen5 freeze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ECB32F-9F96-4FFB-9BEB-E30B71CE2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762500"/>
            <a:ext cx="97536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7E2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24676D-EC8D-456C-B6A4-D2A8CDC33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010150"/>
            <a:ext cx="9029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8553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C8553D"/>
                </a:solidFill>
                <a:latin typeface="Arial"/>
                <a:ea typeface="Arial"/>
                <a:cs typeface="Arial"/>
              </a:rPr>
              <a:t>The final 10/25-week, top-three specification was chosen after inspecting multiple horizons and breadths on the same historical sample.</a:t>
            </a:r>
          </a:p>
        </p:txBody>
      </p:sp>
    </p:spTree>
    <p:extLst>
      <p:ext uri="{BB962C8B-B14F-4D97-AF65-F5344CB8AC3E}">
        <p14:creationId xmlns:p14="http://schemas.microsoft.com/office/powerpoint/2010/main" val="133998328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7F9EFBF-A65D-4A1F-A96F-4F4B1E4E0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2" name="slide-11-title">
            <a:extLst xmlns:a="http://schemas.openxmlformats.org/drawingml/2006/main">
              <a:ext uri="{FF2B5EF4-FFF2-40B4-BE49-F238E27FC236}">
                <a16:creationId xmlns:a16="http://schemas.microsoft.com/office/drawing/2014/main" id="{1949FC9B-C88A-491B-A84C-DC3E760DC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The first POC will expose mechanics before performance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FABA0B-6D80-4454-93A0-9C3EC9621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slide-11-number">
            <a:extLst xmlns:a="http://schemas.openxmlformats.org/drawingml/2006/main">
              <a:ext uri="{FF2B5EF4-FFF2-40B4-BE49-F238E27FC236}">
                <a16:creationId xmlns:a16="http://schemas.microsoft.com/office/drawing/2014/main" id="{9EA5A49B-610F-443B-B205-E5A4E94CF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62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7991AD-D723-4BD8-A25B-96372E7D8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E7D5B"/>
                </a:solidFill>
                <a:latin typeface="Arial"/>
                <a:ea typeface="Arial"/>
                <a:cs typeface="Arial"/>
              </a:rPr>
              <a:t>OPEN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4DE420-48DA-4CD9-9613-F6E4BCB22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49149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2EC"/>
          </a:solidFill>
          <a:ln xmlns:a="http://schemas.openxmlformats.org/drawingml/2006/main" w="9525">
            <a:solidFill>
              <a:srgbClr val="2E7D5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3F3B9C-7349-42D8-9987-E659C1CC6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765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5B"/>
          </a:solidFill>
          <a:ln xmlns:a="http://schemas.openxmlformats.org/drawingml/2006/main" w="9525">
            <a:solidFill>
              <a:srgbClr val="2E7D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FAC54E-5B83-4DED-B1EF-45EB27C7A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400300"/>
            <a:ext cx="403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Reconstruct weekly Wednesday signals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6EC40E-374C-4C28-9A95-2DB62EF66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051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5B"/>
          </a:solidFill>
          <a:ln xmlns:a="http://schemas.openxmlformats.org/drawingml/2006/main" w="9525">
            <a:solidFill>
              <a:srgbClr val="2E7D5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06C246-C5AB-4DC0-A199-9B5886331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028950"/>
            <a:ext cx="403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Rank the frozen nine-ETF universe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C7D864-A8A3-44D0-9F6A-C0F90F4DD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338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5B"/>
          </a:solidFill>
          <a:ln xmlns:a="http://schemas.openxmlformats.org/drawingml/2006/main" w="9525">
            <a:solidFill>
              <a:srgbClr val="2E7D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9F5DFB-9D65-41FD-A086-643A9184A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57600"/>
            <a:ext cx="403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Apply the positive-momentum veto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4F6077-E4EE-4856-A422-86DFF8DFC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62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5B"/>
          </a:solidFill>
          <a:ln xmlns:a="http://schemas.openxmlformats.org/drawingml/2006/main" w="9525">
            <a:solidFill>
              <a:srgbClr val="2E7D5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6B87FA-9B20-4750-A534-560CFB276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86250"/>
            <a:ext cx="403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Show allocation and cash tapes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95E9A3-5D7D-439B-853C-DC6A2859E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9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5B"/>
          </a:solidFill>
          <a:ln xmlns:a="http://schemas.openxmlformats.org/drawingml/2006/main" w="9525">
            <a:solidFill>
              <a:srgbClr val="2E7D5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24C787-CC8B-48B1-BD93-574CF0414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14900"/>
            <a:ext cx="403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Translate to next-open execution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634137-BCC5-4BE1-8588-EAEFD196C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6764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553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C8553D"/>
                </a:solidFill>
                <a:latin typeface="Arial"/>
                <a:ea typeface="Arial"/>
                <a:cs typeface="Arial"/>
              </a:rPr>
              <a:t>CLOSED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66FA01-5626-471B-8128-DDE63AEB8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038350"/>
            <a:ext cx="49149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7E2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C9C99B-EE19-4106-A9DF-E03DE1430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4765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553D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5A86A4-5C86-42C4-AF06-373B40988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400300"/>
            <a:ext cx="403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No new horizon or universe search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8E5C82-9460-4AEA-AE2D-93F79A9FF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1051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553D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901ECC-8FCB-480B-B131-0D04D6321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028950"/>
            <a:ext cx="403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No leverage or volatility targeting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8F3C37-F81E-45D2-A2C9-569115A58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7338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553D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875C83-B4D5-4DC1-81C6-5095A9926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657600"/>
            <a:ext cx="403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No Sharpe or drawdown gate yet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96C2518-CB8C-4FE1-B51C-AB1D79243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362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553D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A293816-6CB8-474A-ACD6-D8A84550B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286250"/>
            <a:ext cx="403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No strategy or edge promotion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2A1D7DA-A70F-4AFC-8C6E-471080309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99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553D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A04342A-C593-423C-906A-D3F2283CF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914900"/>
            <a:ext cx="403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No post-hoc rescue from the tape</a:t>
            </a:r>
          </a:p>
        </p:txBody>
      </p:sp>
    </p:spTree>
    <p:extLst>
      <p:ext uri="{BB962C8B-B14F-4D97-AF65-F5344CB8AC3E}">
        <p14:creationId xmlns:p14="http://schemas.microsoft.com/office/powerpoint/2010/main" val="181948962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008667-9CB9-48CD-BB28-E4F7F5C90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2" name="slide-12-title">
            <a:extLst xmlns:a="http://schemas.openxmlformats.org/drawingml/2006/main">
              <a:ext uri="{FF2B5EF4-FFF2-40B4-BE49-F238E27FC236}">
                <a16:creationId xmlns:a16="http://schemas.microsoft.com/office/drawing/2014/main" id="{FDE0FD4E-1F32-4370-AFE5-5C3C562F4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Four controls reveal where any value actually comes from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7A529D-AE16-4051-9BF7-5A81FFC73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slide-12-number">
            <a:extLst xmlns:a="http://schemas.openxmlformats.org/drawingml/2006/main">
              <a:ext uri="{FF2B5EF4-FFF2-40B4-BE49-F238E27FC236}">
                <a16:creationId xmlns:a16="http://schemas.microsoft.com/office/drawing/2014/main" id="{F3C30950-912D-429B-9CA3-B1845E9F7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62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848477-AEDF-4528-81FB-693D3566B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71650"/>
            <a:ext cx="53340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E0C725-6145-4DEB-98B2-A1A71D27F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19300"/>
            <a:ext cx="438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04FB9F-3B03-489A-A31F-6F474F618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019300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Equal-weight all nine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08EE4E-6513-4578-9B00-233FF213C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590800"/>
            <a:ext cx="3905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Does active selection improve on diversified ownership?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5BC203-B498-4367-A293-D38E60007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771650"/>
            <a:ext cx="53340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0F40B1-CD6E-41C5-AAFB-B9C6BC6B7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019300"/>
            <a:ext cx="438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66CBDF-E1A1-4D1C-A272-B855830F7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019300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Relative-only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096F5A-0EF0-4A42-80CF-18A55F527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90800"/>
            <a:ext cx="3905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Does ranking help without the absolute veto?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6762F4-0783-4C1C-A9FE-E0AC0D33A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53340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F63E88-2994-48C8-98A3-DEBB35607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52900"/>
            <a:ext cx="438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B916BA-36DA-4C14-A9A3-B5EDC891D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152900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Absolute-only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D81A5B-0910-4446-AF9D-9EFCFDB8B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724400"/>
            <a:ext cx="3905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Does trend permission help without cross-sectional ranking?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80B1AB-3993-4D62-B0A1-8C05567C4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905250"/>
            <a:ext cx="53340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779A65-DBF2-4416-8FF2-6731B5E25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152900"/>
            <a:ext cx="438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06E08E-5FA8-4C85-9233-2851A44AF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152900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Cash / no trade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3869D4-CC15-4493-B23E-46A13CF96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724400"/>
            <a:ext cx="3905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Does the complete policy earn anything at all?</a:t>
            </a:r>
          </a:p>
        </p:txBody>
      </p:sp>
    </p:spTree>
    <p:extLst>
      <p:ext uri="{BB962C8B-B14F-4D97-AF65-F5344CB8AC3E}">
        <p14:creationId xmlns:p14="http://schemas.microsoft.com/office/powerpoint/2010/main" val="110125587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0A9DAD-B730-4CDA-952D-072ED93FD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2" name="slide-13-title">
            <a:extLst xmlns:a="http://schemas.openxmlformats.org/drawingml/2006/main">
              <a:ext uri="{FF2B5EF4-FFF2-40B4-BE49-F238E27FC236}">
                <a16:creationId xmlns:a16="http://schemas.microsoft.com/office/drawing/2014/main" id="{9FC599A1-89F1-49CA-9BA7-E33ED6E3A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Evidence must cross four bridges before this becomes a strategy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97286A-A216-4492-B475-CB5F2D477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slide-13-number">
            <a:extLst xmlns:a="http://schemas.openxmlformats.org/drawingml/2006/main">
              <a:ext uri="{FF2B5EF4-FFF2-40B4-BE49-F238E27FC236}">
                <a16:creationId xmlns:a16="http://schemas.microsoft.com/office/drawing/2014/main" id="{18D6CFEA-C9EF-420A-A2D6-798F104DB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62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003BD3-2D17-4611-A202-987C05B86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305050"/>
            <a:ext cx="23812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943941-A583-4152-AE96-31CC0CC98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47950"/>
            <a:ext cx="1943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1 · Mechanics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E2119D-8B01-445C-A1F5-6189509DB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29000"/>
            <a:ext cx="1943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Exact ranks, vetoes, weights, holidays, and allocation tape.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A59CCB-5F66-4184-A675-ECDB71562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238500"/>
            <a:ext cx="32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610025-D0F1-452A-A7D1-F179A5E31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305050"/>
            <a:ext cx="23812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4A4C80-839F-458E-AF9E-BD98805BC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647950"/>
            <a:ext cx="1943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2 · Causal replay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0504A5-9694-441D-B334-87224EFEC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429000"/>
            <a:ext cx="1943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Next-open fills, controls, modest costs, turnover, and drawdown.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717921-4E6F-4DDD-809E-BB0162422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238500"/>
            <a:ext cx="32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AD9474-684E-4E48-AA3B-B6882B994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05050"/>
            <a:ext cx="23812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7497B9-C1FB-426B-8089-26DB014E0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647950"/>
            <a:ext cx="1943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3 · Robustness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060896-B24A-4271-BD32-344D28630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429000"/>
            <a:ext cx="1943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Subperiods, asset attribution, parameter plateau, and concentration.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937DCA-6E01-4108-B0B1-58F3F1875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238500"/>
            <a:ext cx="32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887C29-CE28-4129-B9A9-A511A0CB7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305050"/>
            <a:ext cx="23812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B45314-0CD6-451D-8EE2-7ADD84829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647950"/>
            <a:ext cx="1943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4 · Forward use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F2A42E-90E7-49AB-A36A-B75913209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429000"/>
            <a:ext cx="1943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Post-publication ledger, frozen decision pack, weekly advice only.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12D414-7A48-4305-A213-C771CA512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429250"/>
            <a:ext cx="807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Historical reproduction can open the next bridge. It cannot skip one.</a:t>
            </a:r>
          </a:p>
        </p:txBody>
      </p:sp>
    </p:spTree>
    <p:extLst>
      <p:ext uri="{BB962C8B-B14F-4D97-AF65-F5344CB8AC3E}">
        <p14:creationId xmlns:p14="http://schemas.microsoft.com/office/powerpoint/2010/main" val="190596139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5101D6-2379-4B55-9AD2-58BCF2378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2" name="slide-14-title">
            <a:extLst xmlns:a="http://schemas.openxmlformats.org/drawingml/2006/main">
              <a:ext uri="{FF2B5EF4-FFF2-40B4-BE49-F238E27FC236}">
                <a16:creationId xmlns:a16="http://schemas.microsoft.com/office/drawing/2014/main" id="{B943FDA8-FE51-4D27-B40A-317128371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Current decision: reproduce the fleet before judging the edge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496AA0-C00E-4E42-8CD1-4EB3BF1EB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slide-14-number">
            <a:extLst xmlns:a="http://schemas.openxmlformats.org/drawingml/2006/main">
              <a:ext uri="{FF2B5EF4-FFF2-40B4-BE49-F238E27FC236}">
                <a16:creationId xmlns:a16="http://schemas.microsoft.com/office/drawing/2014/main" id="{119FE05B-80F6-45B4-A346-97E8FBAE1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62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639CE2-D535-47A9-92D8-ACEB8F27B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8F898C-0E16-4F97-965A-CCC86C543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Literature-sourced hypothesis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86D7ED-A691-4277-B1F8-6B0F28388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09900"/>
            <a:ext cx="49530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The video contributes a recent, explicit implementation. The academic literature supplies the broader mechanism. Neither supplies Gen5 confirmation.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A46CA8-8853-4020-9489-3882D6DFE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76400"/>
            <a:ext cx="47625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688088-FA60-4A4C-B061-CC4B20CDA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0383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NEXT VISIBLE SLICE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4F9F39-57E8-4734-9ED0-6137D29C6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552700"/>
            <a:ext cx="4000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Frozen weekly signal + allocation tape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2D5AC-CFED-4715-A5C9-BC9F89695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733800"/>
            <a:ext cx="4000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Nine ETFs · 10/25 weeks · top three · positive only · next-open translation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F3824A-DAD3-4679-8BCC-C96A52BBC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14950"/>
            <a:ext cx="1047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7E2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AE8A13-7ADF-4652-A79E-90262EA3D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457825"/>
            <a:ext cx="981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553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8553D"/>
                </a:solidFill>
                <a:latin typeface="Arial"/>
                <a:ea typeface="Arial"/>
                <a:cs typeface="Arial"/>
              </a:rPr>
              <a:t>No edge, performance, or strategy claim is open in this deck yet.</a:t>
            </a:r>
          </a:p>
        </p:txBody>
      </p:sp>
    </p:spTree>
    <p:extLst>
      <p:ext uri="{BB962C8B-B14F-4D97-AF65-F5344CB8AC3E}">
        <p14:creationId xmlns:p14="http://schemas.microsoft.com/office/powerpoint/2010/main" val="6593853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43D917-60C1-49B6-A04E-D85D24522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51F0D8-19C8-434E-90A3-9CD804343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The rule is reproducible—but the published history is not yet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82D8E5-4706-4E1C-8A9C-3CB6FFDCD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52295D-1E22-4BA1-B87C-35FC318DE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2460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84F263-DCB7-4ECF-AC3C-B71C047C2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90700"/>
            <a:ext cx="4953000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2EC"/>
          </a:solidFill>
          <a:ln xmlns:a="http://schemas.openxmlformats.org/drawingml/2006/main" w="9525">
            <a:solidFill>
              <a:srgbClr val="2E7D5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35A567-86A3-447F-ABF8-3D7CC1CFC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14550"/>
            <a:ext cx="323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E7D5B"/>
                </a:solidFill>
                <a:latin typeface="Arial"/>
                <a:ea typeface="Arial"/>
                <a:cs typeface="Arial"/>
              </a:rPr>
              <a:t>PASS · LOCAL MECHANICS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EF5351-B0F9-4A7A-9512-D9DE9A581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67000"/>
            <a:ext cx="1809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2E7D5B"/>
                </a:solidFill>
                <a:latin typeface="Arial"/>
                <a:ea typeface="Arial"/>
                <a:cs typeface="Arial"/>
              </a:rPr>
              <a:t>508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5D259F-CD58-4A41-8E58-6185E679F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914650"/>
            <a:ext cx="2324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weekly decisions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561A00-F2ED-46FB-9D93-63A3E1AD5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10000"/>
            <a:ext cx="4000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2016-06-29 → 2026-03-18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All 11 mechanics checks pass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No outcome metrics computed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0FDF2D-786A-4D34-8C53-03F5531FE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90700"/>
            <a:ext cx="4953000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7E2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150C52-9BF1-4205-AAE7-8463BBDA6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114550"/>
            <a:ext cx="371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553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C8553D"/>
                </a:solidFill>
                <a:latin typeface="Arial"/>
                <a:ea typeface="Arial"/>
                <a:cs typeface="Arial"/>
              </a:rPr>
              <a:t>STOP · SOURCE-SPAN COVERAGE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06DC9E-2BF6-4A3D-8AA4-5B9D11332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24150"/>
            <a:ext cx="4000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C8553D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C8553D"/>
                </a:solidFill>
                <a:latin typeface="Arial"/>
                <a:ea typeface="Arial"/>
                <a:cs typeface="Arial"/>
              </a:rPr>
              <a:t>2008–2015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283D39-FBEA-479D-88E1-46F1F4C33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4290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remains unreproduced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7B3C09-EAFE-41D8-880B-D0BE56096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000500"/>
            <a:ext cx="4000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The Alpaca account returned complete common history only from 2016. The window was narrowed explicitly—not silently.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F58B95-FF34-44E3-BD69-0887709C2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505450"/>
            <a:ext cx="7924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This slide proves implementation, not profitability.</a:t>
            </a:r>
          </a:p>
        </p:txBody>
      </p:sp>
    </p:spTree>
    <p:extLst>
      <p:ext uri="{BB962C8B-B14F-4D97-AF65-F5344CB8AC3E}">
        <p14:creationId xmlns:p14="http://schemas.microsoft.com/office/powerpoint/2010/main" val="150388108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AA0F3C-FA14-482C-9911-54A247691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2D8FEC-18D3-4EAC-98CE-20AF9D03A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The absolute-momentum veto is an occasional brake—not the normal state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605544-2473-417D-B48F-9F8DF40D4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44BF93-B836-4831-89CE-852C703D9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2460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F73623-95B1-48A7-A168-959D4ACF9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733550"/>
            <a:ext cx="27241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4D3BC9-AB19-4F57-985E-DDB05A743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0193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MECHANICS READOUT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CF5D67-77D5-4062-92DB-E9771F376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5717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463 / 508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0B5D7F-B17A-4AC9-835E-6E44FD912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10515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weeks fully invested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7E78EB-BFD1-417B-B781-C8666F0A8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7909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2.6%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FE562A-9915-489A-BC82-2F762B044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432435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average cash weight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127473-A846-4BDC-AD98-EA1A2A6F1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497205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0% → 66.7%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eb528c5fd845d2"/>
          <a:stretch xmlns:a="http://schemas.openxmlformats.org/drawingml/2006/main"/>
        </p:blipFill>
        <p:spPr>
          <a:xfrm xmlns:a="http://schemas.openxmlformats.org/drawingml/2006/main">
            <a:off x="460699" y="1562100"/>
            <a:ext cx="8222602" cy="4476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391248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B7BB28-C5CF-47BA-A918-FA17029EB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401559-67C5-4215-B579-93FC871FC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The two horizons usually concentrate on the same winners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913BAC-F3B9-4338-8958-15CBEBB59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D32FF2-05B5-4DF6-BBF4-B1464DC9B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3246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7E846F-BE01-42E8-9EBB-9EA3FC756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695450"/>
            <a:ext cx="3429000" cy="405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48CFB1-8F2F-43AD-84B5-5B62F4FCE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0002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SLEEVE OVERLAP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731ED7-5F85-42CB-A69F-0889CEA33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33650"/>
            <a:ext cx="26860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488 / 508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6DC0E8-33AD-4797-87D6-8B560493E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105150"/>
            <a:ext cx="268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weeks shared ≥1 ETF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EB914A-A236-47F4-91E9-BA72FF104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71475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DCBF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C90848-627F-4872-9F08-0BCEBC58F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9624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Latest decision · 2026-03-18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090FDC-931D-4B56-AD5D-C71AA6FC2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419600"/>
            <a:ext cx="26860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10w  UUP · GLD · USO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25w  GLD · USO · EEM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Cash  0%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66845D-8E26-4804-AAA3-D76C79B2D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86450"/>
            <a:ext cx="962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Shared selections stack: one ETF can receive two one-sixth slots = one-third.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B05286-4B59-4C91-A588-5CD09F062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24600"/>
            <a:ext cx="628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c1e1cddc184ce5"/>
          <a:stretch xmlns:a="http://schemas.openxmlformats.org/drawingml/2006/main"/>
        </p:blipFill>
        <p:spPr>
          <a:xfrm xmlns:a="http://schemas.openxmlformats.org/drawingml/2006/main">
            <a:off x="401022" y="1657350"/>
            <a:ext cx="7522806" cy="4095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966379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DB7632-9321-4B0D-B49B-BAF52F1D5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6E0FE8-6C1B-4A13-9D2D-6E11399D4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Mechanics are now inspectable; value-add remains the next question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0B56DB-4E40-4B87-BA34-B14274318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9465AD-88DC-48BC-BDAC-EBEFA9C8F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2460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393174-0A3C-4E18-A0E5-CFFEAB42B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52600"/>
            <a:ext cx="10858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2EC"/>
          </a:solidFill>
          <a:ln xmlns:a="http://schemas.openxmlformats.org/drawingml/2006/main" w="9525">
            <a:solidFill>
              <a:srgbClr val="2E7D5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2C9A30-9CD1-4907-B5B7-2F6BE5788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002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E7D5B"/>
                </a:solidFill>
                <a:latin typeface="Arial"/>
                <a:ea typeface="Arial"/>
                <a:cs typeface="Arial"/>
              </a:rPr>
              <a:t>Established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0B6826-C1CD-407B-B1BD-7E0FDA1C4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943100"/>
            <a:ext cx="7772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Exact ranks, vetoes, one-sixth slots, duplicate-sleeve stacking, holiday fallback, and next-open designation.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FAF26A-2C8D-481A-8C17-B8A9A3967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0"/>
            <a:ext cx="10858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7E2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E8FBE1-8020-4B7A-932E-FC73716C9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956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C8553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C8553D"/>
                </a:solidFill>
                <a:latin typeface="Arial"/>
                <a:ea typeface="Arial"/>
                <a:cs typeface="Arial"/>
              </a:rPr>
              <a:t>Not established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DA919C-47F4-4345-87E2-1F6DF9D0E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238500"/>
            <a:ext cx="7772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No returns, costs, turnover drag, drawdown, baseline comparison, parameter robustness, or edge claim.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79E259-AD91-4B41-8E67-E5334F74B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43400"/>
            <a:ext cx="10858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52616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0E70E3-6874-4441-9FD1-106022121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910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52616B"/>
                </a:solidFill>
                <a:latin typeface="Arial"/>
                <a:ea typeface="Arial"/>
                <a:cs typeface="Arial"/>
              </a:rPr>
              <a:t>Coverage STOP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88D2F7-BBA9-4B06-83BF-EF6C40360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533900"/>
            <a:ext cx="7772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The publisher's 2008–2015 segment is unavailable under the current Alpaca account and provider contract.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E3D076-54D1-4B3D-8F4A-D11630B25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753100"/>
            <a:ext cx="79629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7807EE-5E9A-4AC4-A3F2-FA1CED7A8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7505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Next proposed gate: causal 2016–2026 replay against cash, equal-weight, relative-only, absolute-only, and attainable long-only ownership.</a:t>
            </a:r>
          </a:p>
        </p:txBody>
      </p:sp>
    </p:spTree>
    <p:extLst>
      <p:ext uri="{BB962C8B-B14F-4D97-AF65-F5344CB8AC3E}">
        <p14:creationId xmlns:p14="http://schemas.microsoft.com/office/powerpoint/2010/main" val="73391803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43D917-60C1-49B6-A04E-D85D24522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51F0D8-19C8-434E-90A3-9CD804343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The replay looks attractive—but the dual layer adds almost nothing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82D8E5-4706-4E1C-8A9C-3CB6FFDCD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52295D-1E22-4BA1-B87C-35FC318DE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2460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84F263-DCB7-4ECF-AC3C-B71C047C2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90700"/>
            <a:ext cx="4953000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2EC"/>
          </a:solidFill>
          <a:ln xmlns:a="http://schemas.openxmlformats.org/drawingml/2006/main" w="9525">
            <a:solidFill>
              <a:srgbClr val="2E7D5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35A567-86A3-447F-ABF8-3D7CC1CFC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14550"/>
            <a:ext cx="323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E7D5B"/>
                </a:solidFill>
                <a:latin typeface="Arial"/>
                <a:ea typeface="Arial"/>
                <a:cs typeface="Arial"/>
              </a:rPr>
              <a:t>REPLAY · SOURCE RULE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EF5351-B0F9-4A7A-9512-D9DE9A581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67000"/>
            <a:ext cx="1809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2E7D5B"/>
                </a:solidFill>
                <a:latin typeface="Arial"/>
                <a:ea typeface="Arial"/>
                <a:cs typeface="Arial"/>
              </a:rPr>
              <a:t>3.05x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5D259F-CD58-4A41-8E58-6185E679F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914650"/>
            <a:ext cx="2324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ending wealth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561A00-F2ED-46FB-9D93-63A3E1AD5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10000"/>
            <a:ext cx="4000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12.17% net CAGR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-15.45% max drawdown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507 causal intervals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0FDF2D-786A-4D34-8C53-03F5531FE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90700"/>
            <a:ext cx="4953000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7E2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150C52-9BF1-4205-AAE7-8463BBDA6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114550"/>
            <a:ext cx="371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553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C8553D"/>
                </a:solidFill>
                <a:latin typeface="Arial"/>
                <a:ea typeface="Arial"/>
                <a:cs typeface="Arial"/>
              </a:rPr>
              <a:t>ATTRIBUTION · DUAL LAYER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06DC9E-2BF6-4A3D-8AA4-5B9D11332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24150"/>
            <a:ext cx="4000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C8553D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C8553D"/>
                </a:solidFill>
                <a:latin typeface="Arial"/>
                <a:ea typeface="Arial"/>
                <a:cs typeface="Arial"/>
              </a:rPr>
              <a:t>≈ 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283D39-FBEA-479D-88E1-46F1F4C33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4290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incremental value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7B3C09-EAFE-41D8-880B-D0BE56096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000500"/>
            <a:ext cx="4000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12.17% vs 12.18% CAGR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Same -15.45% max drawdown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97.44% average exposure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F58B95-FF34-44E3-BD69-0887709C2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505450"/>
            <a:ext cx="7924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The attractive shape came from relative selection—not the absolute veto.</a:t>
            </a:r>
          </a:p>
        </p:txBody>
      </p:sp>
    </p:spTree>
    <p:extLst>
      <p:ext uri="{BB962C8B-B14F-4D97-AF65-F5344CB8AC3E}">
        <p14:creationId xmlns:p14="http://schemas.microsoft.com/office/powerpoint/2010/main" val="150388108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AA0F3C-FA14-482C-9911-54A247691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2D8FEC-18D3-4EAC-98CE-20AF9D03A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SPY earned more; dual momentum surrendered less in drawdowns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605544-2473-417D-B48F-9F8DF40D4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44BF93-B836-4831-89CE-852C703D9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2460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F73623-95B1-48A7-A168-959D4ACF9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733550"/>
            <a:ext cx="27241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4D3BC9-AB19-4F57-985E-DDB05A743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0193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SOURCE RULE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CF5D67-77D5-4062-92DB-E9771F376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5717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12.17%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0B5D7F-B17A-4AC9-835E-6E44FD912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10515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net CAGR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7E78EB-BFD1-417B-B781-C8666F0A8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7909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-15.45%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FE562A-9915-489A-BC82-2F762B044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432435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maximum drawdown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127473-A846-4BDC-AD98-EA1A2A6F1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497205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3.05× ending wealth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b3a08ed9974db7"/>
          <a:stretch xmlns:a="http://schemas.openxmlformats.org/drawingml/2006/main"/>
        </p:blipFill>
        <p:spPr>
          <a:xfrm xmlns:a="http://schemas.openxmlformats.org/drawingml/2006/main">
            <a:off x="460699" y="1562100"/>
            <a:ext cx="8222602" cy="4476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391248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DB7632-9321-4B0D-B49B-BAF52F1D5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6E0FE8-6C1B-4A13-9D2D-6E11399D4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The controls identify relative selection as the active ingredient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0B56DB-4E40-4B87-BA34-B14274318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9465AD-88DC-48BC-BDAC-EBEFA9C8F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2460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393174-0A3C-4E18-A0E5-CFFEAB42B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52600"/>
            <a:ext cx="10858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2EC"/>
          </a:solidFill>
          <a:ln xmlns:a="http://schemas.openxmlformats.org/drawingml/2006/main" w="9525">
            <a:solidFill>
              <a:srgbClr val="2E7D5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2C9A30-9CD1-4907-B5B7-2F6BE5788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002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E7D5B"/>
                </a:solidFill>
                <a:latin typeface="Arial"/>
                <a:ea typeface="Arial"/>
                <a:cs typeface="Arial"/>
              </a:rPr>
              <a:t>Relative-only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0B6826-C1CD-407B-B1BD-7E0FDA1C4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943100"/>
            <a:ext cx="7772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Source and relative-only were virtually identical: 12.17% vs 12.18% CAGR and the same -15.45% drawdown.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FAF26A-2C8D-481A-8C17-B8A9A3967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0"/>
            <a:ext cx="10858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7E2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E8FBE1-8020-4B7A-932E-FC73716C9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956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C8553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C8553D"/>
                </a:solidFill>
                <a:latin typeface="Arial"/>
                <a:ea typeface="Arial"/>
                <a:cs typeface="Arial"/>
              </a:rPr>
              <a:t>SPY ownership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DA919C-47F4-4345-87E2-1F6DF9D0E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238500"/>
            <a:ext cx="7772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SPY compounded faster at 14.36% CAGR, but suffered a much deeper -29.16% maximum drawdown.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79E259-AD91-4B41-8E67-E5334F74B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43400"/>
            <a:ext cx="10858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52616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0E70E3-6874-4441-9FD1-106022121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910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52616B"/>
                </a:solidFill>
                <a:latin typeface="Arial"/>
                <a:ea typeface="Arial"/>
                <a:cs typeface="Arial"/>
              </a:rPr>
              <a:t>Equal-weight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88D2F7-BBA9-4B06-83BF-EF6C40360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533900"/>
            <a:ext cx="7772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Source led by 2.90 CAGR points and cut drawdown by 5.33 points; the weekly-difference interval still crossed zero.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E3D076-54D1-4B3D-8F4A-D11630B25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753100"/>
            <a:ext cx="79629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7807EE-5E9A-4AC4-A3F2-FA1CED7A8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7505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The clearest win is risk shaping—not demonstrated ownership outperformance.</a:t>
            </a:r>
          </a:p>
        </p:txBody>
      </p:sp>
    </p:spTree>
    <p:extLst>
      <p:ext uri="{BB962C8B-B14F-4D97-AF65-F5344CB8AC3E}">
        <p14:creationId xmlns:p14="http://schemas.microsoft.com/office/powerpoint/2010/main" val="73391803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B7BB28-C5CF-47BA-A918-FA17029EB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401559-67C5-4215-B579-93FC871FC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The strategy bought a smoother path—not the highest return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913BAC-F3B9-4338-8958-15CBEBB59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D32FF2-05B5-4DF6-BBF4-B1464DC9B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3246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7E846F-BE01-42E8-9EBB-9EA3FC756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695450"/>
            <a:ext cx="3429000" cy="405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48CFB1-8F2F-43AD-84B5-5B62F4FCE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0002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RISK / RETURN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731ED7-5F85-42CB-A69F-0889CEA33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33650"/>
            <a:ext cx="26860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-13.7 pp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6DC0E8-33AD-4797-87D6-8B560493E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105150"/>
            <a:ext cx="268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max-drawdown gap vs SPY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EB914A-A236-47F4-91E9-BA72FF104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71475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DCBF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C90848-627F-4872-9F08-0BCEBC58F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9624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SPY still led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090FDC-931D-4B56-AD5D-C71AA6FC2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419600"/>
            <a:ext cx="26860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14.36% CAGR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vs source 12.17%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66845D-8E26-4804-AAA3-D76C79B2D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86450"/>
            <a:ext cx="962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Whether that tradeoff is valuable depends on the operator’s objective.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B05286-4B59-4C91-A588-5CD09F062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24600"/>
            <a:ext cx="628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4dd40e4f094ae5"/>
          <a:stretch xmlns:a="http://schemas.openxmlformats.org/drawingml/2006/main"/>
        </p:blipFill>
        <p:spPr>
          <a:xfrm xmlns:a="http://schemas.openxmlformats.org/drawingml/2006/main">
            <a:off x="818956" y="1657350"/>
            <a:ext cx="6686939" cy="4095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9663795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DB7632-9321-4B0D-B49B-BAF52F1D5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6E0FE8-6C1B-4A13-9D2D-6E11399D4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Performance was broad through time—but still mirrored relative-only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0B56DB-4E40-4B87-BA34-B14274318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9465AD-88DC-48BC-BDAC-EBEFA9C8F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2460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393174-0A3C-4E18-A0E5-CFFEAB42B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52600"/>
            <a:ext cx="10858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2EC"/>
          </a:solidFill>
          <a:ln xmlns:a="http://schemas.openxmlformats.org/drawingml/2006/main" w="9525">
            <a:solidFill>
              <a:srgbClr val="2E7D5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2C9A30-9CD1-4907-B5B7-2F6BE5788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002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E7D5B"/>
                </a:solidFill>
                <a:latin typeface="Arial"/>
                <a:ea typeface="Arial"/>
                <a:cs typeface="Arial"/>
              </a:rPr>
              <a:t>2016–2019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0B6826-C1CD-407B-B1BD-7E0FDA1C4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943100"/>
            <a:ext cx="7772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+29.4% source return; relative-only +30.2%. The two paths were already close in the earliest admitted phase.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FAF26A-2C8D-481A-8C17-B8A9A3967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0"/>
            <a:ext cx="10858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7E2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E8FBE1-8020-4B7A-932E-FC73716C9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956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C8553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C8553D"/>
                </a:solidFill>
                <a:latin typeface="Arial"/>
                <a:ea typeface="Arial"/>
                <a:cs typeface="Arial"/>
              </a:rPr>
              <a:t>2020–2022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DA919C-47F4-4345-87E2-1F6DF9D0E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238500"/>
            <a:ext cx="7772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+36.0% source return; relative-only +35.0%. The absolute veto was most active here, yet changed little.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79E259-AD91-4B41-8E67-E5334F74B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43400"/>
            <a:ext cx="10858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52616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0E70E3-6874-4441-9FD1-106022121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910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52616B"/>
                </a:solidFill>
                <a:latin typeface="Arial"/>
                <a:ea typeface="Arial"/>
                <a:cs typeface="Arial"/>
              </a:rPr>
              <a:t>2023–2026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88D2F7-BBA9-4B06-83BF-EF6C40360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533900"/>
            <a:ext cx="7772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+73.5% source return; relative-only +73.8%. The near-identity persisted into the latest phase.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E3D076-54D1-4B3D-8F4A-D11630B25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753100"/>
            <a:ext cx="79629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7807EE-5E9A-4AC4-A3F2-FA1CED7A8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7505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Three positive phases strengthen the clue—but do not create untouched confirmation.</a:t>
            </a:r>
          </a:p>
        </p:txBody>
      </p:sp>
    </p:spTree>
    <p:extLst>
      <p:ext uri="{BB962C8B-B14F-4D97-AF65-F5344CB8AC3E}">
        <p14:creationId xmlns:p14="http://schemas.microsoft.com/office/powerpoint/2010/main" val="733918031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DB7632-9321-4B0D-B49B-BAF52F1D5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6E0FE8-6C1B-4A13-9D2D-6E11399D4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Preserve the clue: this is relative rotation, not confirmed edge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0B56DB-4E40-4B87-BA34-B14274318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9465AD-88DC-48BC-BDAC-EBEFA9C8F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2460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393174-0A3C-4E18-A0E5-CFFEAB42B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52600"/>
            <a:ext cx="10858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2EC"/>
          </a:solidFill>
          <a:ln xmlns:a="http://schemas.openxmlformats.org/drawingml/2006/main" w="9525">
            <a:solidFill>
              <a:srgbClr val="2E7D5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2C9A30-9CD1-4907-B5B7-2F6BE5788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002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E7D5B"/>
                </a:solidFill>
                <a:latin typeface="Arial"/>
                <a:ea typeface="Arial"/>
                <a:cs typeface="Arial"/>
              </a:rPr>
              <a:t>Established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0B6826-C1CD-407B-B1BD-7E0FDA1C4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943100"/>
            <a:ext cx="7772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Causal replay, costs, five frozen controls, positive results in all three broad phases, and materially lower drawdown than SPY.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FAF26A-2C8D-481A-8C17-B8A9A3967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0"/>
            <a:ext cx="10858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7E2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E8FBE1-8020-4B7A-932E-FC73716C9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956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C8553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C8553D"/>
                </a:solidFill>
                <a:latin typeface="Arial"/>
                <a:ea typeface="Arial"/>
                <a:cs typeface="Arial"/>
              </a:rPr>
              <a:t>Not established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DA919C-47F4-4345-87E2-1F6DF9D0E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238500"/>
            <a:ext cx="7772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No incremental absolute-veto value, no stable advantage over equal-weight, no raw-CAGR win over SPY, and no untouched confirmation.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79E259-AD91-4B41-8E67-E5334F74B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43400"/>
            <a:ext cx="10858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52616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0E70E3-6874-4441-9FD1-106022121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910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52616B"/>
                </a:solidFill>
                <a:latin typeface="Arial"/>
                <a:ea typeface="Arial"/>
                <a:cs typeface="Arial"/>
              </a:rPr>
              <a:t>Coverage STOP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88D2F7-BBA9-4B06-83BF-EF6C40360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533900"/>
            <a:ext cx="7772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The publisher’s 2008–2015 segment is unavailable; this replay overlaps the source’s parameter-selection history.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E3D076-54D1-4B3D-8F4A-D11630B25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753100"/>
            <a:ext cx="79629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7807EE-5E9A-4AC4-A3F2-FA1CED7A8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7505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Next proposed gate: pre-freeze robustness checks for relative rotation—then decide whether an untouched forward test is warranted.</a:t>
            </a:r>
          </a:p>
        </p:txBody>
      </p:sp>
    </p:spTree>
    <p:extLst>
      <p:ext uri="{BB962C8B-B14F-4D97-AF65-F5344CB8AC3E}">
        <p14:creationId xmlns:p14="http://schemas.microsoft.com/office/powerpoint/2010/main" val="7339180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2026-09-03T01:20:39.3250000Z</dcterms:created>
  <dcterms:modified xsi:type="dcterms:W3CDTF">2026-09-03T01:20:39.3250000Z</dcterms:modified>
</coreProperties>
</file>