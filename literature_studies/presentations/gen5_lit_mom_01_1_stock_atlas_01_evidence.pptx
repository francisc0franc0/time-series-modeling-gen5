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4ee9f3db5b4e9d" /><Relationship Type="http://schemas.openxmlformats.org/officeDocument/2006/relationships/extended-properties" Target="/docProps/app.xml" Id="R77b65b69b4da46c3" /><Relationship Type="http://schemas.openxmlformats.org/officeDocument/2006/relationships/officeDocument" Target="/ppt/presentation.xml" Id="R960d301e00664b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3e9ffd8cb14aa8"/>
  </p:sldMasterIdLst>
  <p:notesMasterIdLst>
    <p:notesMasterId xmlns:r="http://schemas.openxmlformats.org/officeDocument/2006/relationships" r:id="R46438314808c41d8"/>
  </p:notesMasterIdLst>
  <p:sldIdLst>
    <p:sldId xmlns:r="http://schemas.openxmlformats.org/officeDocument/2006/relationships" id="256" r:id="Rf4a6bae7aaa64fbf"/>
    <p:sldId xmlns:r="http://schemas.openxmlformats.org/officeDocument/2006/relationships" id="257" r:id="R0f63f6b1a13a4d1b"/>
    <p:sldId xmlns:r="http://schemas.openxmlformats.org/officeDocument/2006/relationships" id="258" r:id="R36b7df6ba23b4db4"/>
    <p:sldId xmlns:r="http://schemas.openxmlformats.org/officeDocument/2006/relationships" id="259" r:id="R6981b3fa38d94275"/>
    <p:sldId xmlns:r="http://schemas.openxmlformats.org/officeDocument/2006/relationships" id="260" r:id="Rd080c65195334b34"/>
    <p:sldId xmlns:r="http://schemas.openxmlformats.org/officeDocument/2006/relationships" id="261" r:id="Recb7b1ee0dff4c78"/>
    <p:sldId xmlns:r="http://schemas.openxmlformats.org/officeDocument/2006/relationships" id="262" r:id="R691b0215ebb94090"/>
    <p:sldId xmlns:r="http://schemas.openxmlformats.org/officeDocument/2006/relationships" id="263" r:id="Rb9e8ab03085140b8"/>
    <p:sldId xmlns:r="http://schemas.openxmlformats.org/officeDocument/2006/relationships" id="264" r:id="R13fcdcea897f4b2a"/>
    <p:sldId xmlns:r="http://schemas.openxmlformats.org/officeDocument/2006/relationships" id="265" r:id="Rb60e9cd56e674291"/>
    <p:sldId xmlns:r="http://schemas.openxmlformats.org/officeDocument/2006/relationships" id="266" r:id="R7ae1efbec53c4fe1"/>
    <p:sldId xmlns:r="http://schemas.openxmlformats.org/officeDocument/2006/relationships" id="267" r:id="R0b955cafc06a4406"/>
    <p:sldId xmlns:r="http://schemas.openxmlformats.org/officeDocument/2006/relationships" id="268" r:id="Rdc21e9f3177f4f12"/>
    <p:sldId xmlns:r="http://schemas.openxmlformats.org/officeDocument/2006/relationships" id="269" r:id="Rcf024a369c4d49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cb1b28ae2f44f0" /><Relationship Type="http://schemas.openxmlformats.org/officeDocument/2006/relationships/slideMaster" Target="/ppt/slideMasters/slideMaster1.xml" Id="R623e9ffd8cb14aa8" /><Relationship Type="http://schemas.openxmlformats.org/officeDocument/2006/relationships/notesMaster" Target="/ppt/notesMasters/notesMaster1.xml" Id="R46438314808c41d8" /><Relationship Type="http://schemas.openxmlformats.org/officeDocument/2006/relationships/presProps" Target="/ppt/presProps.xml" Id="R8513ec2c6a2e4dd1" /><Relationship Type="http://schemas.openxmlformats.org/officeDocument/2006/relationships/tableStyles" Target="/ppt/tableStyles.xml" Id="R1cc58adadd424f9b" /><Relationship Type="http://schemas.openxmlformats.org/officeDocument/2006/relationships/slide" Target="/ppt/slides/slide1.xml" Id="Rf4a6bae7aaa64fbf" /><Relationship Type="http://schemas.openxmlformats.org/officeDocument/2006/relationships/slide" Target="/ppt/slides/slide2.xml" Id="R0f63f6b1a13a4d1b" /><Relationship Type="http://schemas.openxmlformats.org/officeDocument/2006/relationships/slide" Target="/ppt/slides/slide3.xml" Id="R36b7df6ba23b4db4" /><Relationship Type="http://schemas.openxmlformats.org/officeDocument/2006/relationships/slide" Target="/ppt/slides/slide4.xml" Id="R6981b3fa38d94275" /><Relationship Type="http://schemas.openxmlformats.org/officeDocument/2006/relationships/slide" Target="/ppt/slides/slide5.xml" Id="Rd080c65195334b34" /><Relationship Type="http://schemas.openxmlformats.org/officeDocument/2006/relationships/slide" Target="/ppt/slides/slide6.xml" Id="Recb7b1ee0dff4c78" /><Relationship Type="http://schemas.openxmlformats.org/officeDocument/2006/relationships/slide" Target="/ppt/slides/slide7.xml" Id="R691b0215ebb94090" /><Relationship Type="http://schemas.openxmlformats.org/officeDocument/2006/relationships/slide" Target="/ppt/slides/slide8.xml" Id="Rb9e8ab03085140b8" /><Relationship Type="http://schemas.openxmlformats.org/officeDocument/2006/relationships/slide" Target="/ppt/slides/slide9.xml" Id="R13fcdcea897f4b2a" /><Relationship Type="http://schemas.openxmlformats.org/officeDocument/2006/relationships/slide" Target="/ppt/slides/slide10.xml" Id="Rb60e9cd56e674291" /><Relationship Type="http://schemas.openxmlformats.org/officeDocument/2006/relationships/slide" Target="/ppt/slides/slide11.xml" Id="R7ae1efbec53c4fe1" /><Relationship Type="http://schemas.openxmlformats.org/officeDocument/2006/relationships/slide" Target="/ppt/slides/slide12.xml" Id="R0b955cafc06a4406" /><Relationship Type="http://schemas.openxmlformats.org/officeDocument/2006/relationships/slide" Target="/ppt/slides/slide13.xml" Id="Rdc21e9f3177f4f12" /><Relationship Type="http://schemas.openxmlformats.org/officeDocument/2006/relationships/slide" Target="/ppt/slides/slide14.xml" Id="Rcf024a369c4d49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465c84dfb44a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314415985c4421" /><Relationship Type="http://schemas.openxmlformats.org/officeDocument/2006/relationships/notesMaster" Target="/ppt/notesMasters/notesMaster1.xml" Id="R1daa80320f2c4b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a0752ee6c84501" /><Relationship Type="http://schemas.openxmlformats.org/officeDocument/2006/relationships/notesMaster" Target="/ppt/notesMasters/notesMaster1.xml" Id="R494ef55aeb0542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1dbafc7ed417e" /><Relationship Type="http://schemas.openxmlformats.org/officeDocument/2006/relationships/notesMaster" Target="/ppt/notesMasters/notesMaster1.xml" Id="Rbd2b5e3aeba24b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edc0a976ff4c19" /><Relationship Type="http://schemas.openxmlformats.org/officeDocument/2006/relationships/notesMaster" Target="/ppt/notesMasters/notesMaster1.xml" Id="R9e77859afadb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fadaeca9234698" /><Relationship Type="http://schemas.openxmlformats.org/officeDocument/2006/relationships/notesMaster" Target="/ppt/notesMasters/notesMaster1.xml" Id="R25fddaaedcf644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17f80fbf174272" /><Relationship Type="http://schemas.openxmlformats.org/officeDocument/2006/relationships/notesMaster" Target="/ppt/notesMasters/notesMaster1.xml" Id="Rb79c0c62a99744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b36ba2eab940e1" /><Relationship Type="http://schemas.openxmlformats.org/officeDocument/2006/relationships/notesMaster" Target="/ppt/notesMasters/notesMaster1.xml" Id="R8b16a67d083843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d6e61dbd5946a9" /><Relationship Type="http://schemas.openxmlformats.org/officeDocument/2006/relationships/notesMaster" Target="/ppt/notesMasters/notesMaster1.xml" Id="Refa42d9e8f8b43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cb7bf1f5834179" /><Relationship Type="http://schemas.openxmlformats.org/officeDocument/2006/relationships/notesMaster" Target="/ppt/notesMasters/notesMaster1.xml" Id="R4de2a230d87042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085640fb594888" /><Relationship Type="http://schemas.openxmlformats.org/officeDocument/2006/relationships/notesMaster" Target="/ppt/notesMasters/notesMaster1.xml" Id="R219a246c87e441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ae1227c2e447bf" /><Relationship Type="http://schemas.openxmlformats.org/officeDocument/2006/relationships/notesMaster" Target="/ppt/notesMasters/notesMaster1.xml" Id="R48e43f837d404e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cdd8efb27a4481" /><Relationship Type="http://schemas.openxmlformats.org/officeDocument/2006/relationships/notesMaster" Target="/ppt/notesMasters/notesMaster1.xml" Id="Re60586db4fe24b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b6d3e44e30490b" /><Relationship Type="http://schemas.openxmlformats.org/officeDocument/2006/relationships/notesMaster" Target="/ppt/notesMasters/notesMaster1.xml" Id="R482ff682cc624d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e84cb106d84f06" /><Relationship Type="http://schemas.openxmlformats.org/officeDocument/2006/relationships/notesMaster" Target="/ppt/notesMasters/notesMaster1.xml" Id="R52b5190256b247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widens the completed interday-momentum textbook exercise without changing its mechanics. It is a finite breadth replication, not a stock-selection model or portfolio.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135–139; PDF pages 153–157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unit of evidence is one stock. The atlas cannot choose a common horizon, delete weak stocks, rank the best OOS path, or pool returns after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Project/Time-Series-Modeling-Gen5/literature_studies/docs/GEN5_LIT_MOM_01_1_STOCK_ATLAS_01_CONTRACT.md</a:t>
            </a:r>
          </a:p>
          <a:p xmlns:a="http://schemas.openxmlformats.org/drawingml/2006/main">
            <a:r>
              <a:t>- C:/Users/Franc/OneDrive/Documents/Francis/Peltata Project/Time-Series-Modeling-Gen5/literature_studies/registries/gen5_lit_mom_01_1_stock_atlas_01_registry.csv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Project/Time-Series-Modeling-Gen5/runs/research_workbench/literature_grounded/lit_mom_01_1_stock_atlas_01_20260731/stock_atlas_01_registry.csv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registry was justified by sector breadth, subindustry contrast, liquidity, public history, and symbol continuity. Because membership is defined in July 2026, the atlas is not an investable historical universe.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Project/Time-Series-Modeling-Gen5/literature_studies/registries/gen5_lit_mom_01_1_stock_atlas_01_registry.csv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Project/Time-Series-Modeling-Gen5/runs/research_workbench/literature_grounded/lit_mom_01_1_stock_atlas_01_20260731/stock_atlas_01_coverage.csv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sparse correlation rows diagnose the proposed time-series-momentum relation; daily overlapping sleeves describe the traded implementation. They answer related but different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135–139; PDF pages 153–157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Project/Time-Series-Modeling-Gen5/literature_studies/docs/GEN5_LIT_MOM_01_1_INTERDAY_TIME_SERIES_MOMENTUM_POC_CONTRACT.md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Project/Time-Series-Modeling-Gen5/runs/research_workbench/literature_grounded/lit_mom_01_1_stock_atlas_01_20260731/stock_atlas_01_horizon_screen.csv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scatter shows that the selected horizon changes the rule and often changes return materially. It does not guarantee admissible correlation evidence or a six-gate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137–139; PDF pages 155–157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Project/Time-Series-Modeling-Gen5/runs/research_workbench/literature_grounded/lit_mom_01_1_stock_atlas_01_20260731/stock_atlas_01_train_summary.csv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Project/Time-Series-Modeling-Gen5/runs/research_workbench/literature_grounded/lit_mom_01_1_stock_atlas_01_20260731/visuals/stock_atlas_01_canonical_comparison.png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 motivates the horizon screen and sleeve strategy. The exact support thresholds, costs, evidence windows, and six-gate conjunction are Gen5 project design and must not be attributed to the author.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Project/Time-Series-Modeling-Gen5/literature_studies/docs/GEN5_LITERATURE_SOURCE_LEDGER.md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Project/Time-Series-Modeling-Gen5/runs/research_workbench/literature_grounded/lit_mom_01_1_stock_atlas_01_20260731/stock_atlas_01_train_gates.csv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atlas does not claim 22 independent discovery tests or correct the nominal p-values into posterior probabilities. Its defense is predeclared identities, transparent gates, and mandatory OOS for every TRAIN passer.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Project/Time-Series-Modeling-Gen5/runs/research_workbench/literature_grounded/lit_mom_01_1_stock_atlas_01_20260731/stock_atlas_01_horizon_screen.csv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most common selected rows were 25/25, 10/10, and 5/5. Selection frequency is descriptive. Only HD at 10/10 passed the entire conjunction.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Project/Time-Series-Modeling-Gen5/runs/research_workbench/literature_grounded/lit_mom_01_1_stock_atlas_01_20260731/stock_atlas_01_train_summary.csv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Project/Time-Series-Modeling-Gen5/runs/research_workbench/literature_grounded/lit_mom_01_1_stock_atlas_01_20260731/stock_atlas_01_horizon_screen.csv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Project/Time-Series-Modeling-Gen5/runs/research_workbench/literature_grounded/lit_mom_01_1_stock_atlas_01_20260731/visuals/stock_atlas_01_selected_horizons.png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 passed 22/22, G2 3/22, G3 20/22, G4 18/22, G5 14/22, and G6 7/22. HD alone passed all six. The conjunction prevents outcome-driven promotion of a profitable but mechanistically unsupported backtest.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Project/Time-Series-Modeling-Gen5/runs/research_workbench/literature_grounded/lit_mom_01_1_stock_atlas_01_20260731/stock_atlas_01_train_gates.csv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Project/Time-Series-Modeling-Gen5/runs/research_workbench/literature_grounded/lit_mom_01_1_stock_atlas_01_20260731/visuals/stock_atlas_01_gate_matrix.png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HD passed with TRAIN correlation 0.1833, nominal p=0.0679, 61.0% direction accuracy, +41.00% primary return, and +33.44% stress return. That earned one replay, not a discovery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Project/Time-Series-Modeling-Gen5/runs/research_workbench/literature_grounded/lit_mom_01_1_stock_atlas_01_20260731/stock_atlas_01_train_summary.csv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MSFT is the clearest warning: 75.0% sign accuracy and +75.16% return, yet its selected correlation was slightly negative and nominal p was 0.916. HD is the only triangle because it alone passed every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Project/Time-Series-Modeling-Gen5/runs/research_workbench/literature_grounded/lit_mom_01_1_stock_atlas_01_20260731/stock_atlas_01_train_summary.csv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Project/Time-Series-Modeling-Gen5/runs/research_workbench/literature_grounded/lit_mom_01_1_stock_atlas_01_20260731/visuals/stock_atlas_01_train_evidence.png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HD's sparse-pair correlation stayed near 0.183 and direction accuracy remained above chance at 58.67%. Primary cumulative return reversed from +41.00% to -5.86%. Nominal OOS p was 0.116, and none of the four descriptive continuity flags passed jointly.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Project/Time-Series-Modeling-Gen5/runs/research_workbench/literature_grounded/lit_mom_01_1_stock_atlas_01_20260731/stock_atlas_01_development_summary.csv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Project/Time-Series-Modeling-Gen5/runs/research_workbench/literature_grounded/lit_mom_01_1_stock_atlas_01_20260731/visuals/stock_atlas_01_train_to_development.png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HD finished at -5.86% after primary costs with adjusted Sharpe -0.03 and maximum drawdown -29.94%; stress return was -9.82%. Long sleeves averaged +0.45%, while short sleeves averaged -0.68% with only 44.8% direction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Project/Time-Series-Modeling-Gen5/runs/research_workbench/literature_grounded/lit_mom_01_1_stock_atlas_01_20260731/stock_atlas_01_development_primary_bars.csv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Project/Time-Series-Modeling-Gen5/runs/research_workbench/literature_grounded/lit_mom_01_1_stock_atlas_01_20260731/stock_atlas_01_development_sleeves.csv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Project/Time-Series-Modeling-Gen5/runs/research_workbench/literature_grounded/lit_mom_01_1_stock_atlas_01_20260731/visuals/stock_atlas_01_development_paths.png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atlas is a useful negative result. It shows that sparse directional correlation can survive while the traded overlapping-sleeve strategy loses money, especially on the short side. Any long-only variant, cross-sectional selector, common-horizon model, or portfolio would require a new frozen hypothesis.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Project/Time-Series-Modeling-Gen5/literature_studies/docs/GEN5_LIT_MOM_01_1_STOCK_ATLAS_01_RESULTS.md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Project/Time-Series-Modeling-Gen5/literature_studies/docs/GEN5_LIT_MOM_01_1_STOCK_ATLAS_01_CONTRACT.md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Project/Time-Series-Modeling-Gen5/runs/research_workbench/literature_grounded/lit_mom_01_1_stock_atlas_01_20260731/stock_atlas_01_report.md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cd4f784d940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3d664c4d8145e5" /><Relationship Type="http://schemas.openxmlformats.org/officeDocument/2006/relationships/slideLayout" Target="/ppt/slideLayouts/slideLayout1.xml" Id="R9033fa3c49364d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33fa3c49364d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62eedc1214882" /><Relationship Type="http://schemas.openxmlformats.org/officeDocument/2006/relationships/notesSlide" Target="/ppt/notesSlides/notesSlide1.xml" Id="Re0465d1aeabe4b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35cebd5dd41d4" /><Relationship Type="http://schemas.openxmlformats.org/officeDocument/2006/relationships/notesSlide" Target="/ppt/notesSlides/notesSlide2.xml" Id="R35fd6d7d69e246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e888211df4f0c" /><Relationship Type="http://schemas.openxmlformats.org/officeDocument/2006/relationships/notesSlide" Target="/ppt/notesSlides/notesSlide3.xml" Id="Rd3ed83d0ebea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7ecdc42954861" /><Relationship Type="http://schemas.openxmlformats.org/officeDocument/2006/relationships/notesSlide" Target="/ppt/notesSlides/notesSlide4.xml" Id="Rc8fe245d4d8e4d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3ecfebc5a41f7" /><Relationship Type="http://schemas.openxmlformats.org/officeDocument/2006/relationships/image" Target="/ppt/media/image.png" Id="R7eb9a304d80d4151" /><Relationship Type="http://schemas.openxmlformats.org/officeDocument/2006/relationships/notesSlide" Target="/ppt/notesSlides/notesSlide5.xml" Id="R700a90cd950643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ba4c14c01415f" /><Relationship Type="http://schemas.openxmlformats.org/officeDocument/2006/relationships/notesSlide" Target="/ppt/notesSlides/notesSlide6.xml" Id="Re579622afd874b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b638b75ed47c9" /><Relationship Type="http://schemas.openxmlformats.org/officeDocument/2006/relationships/notesSlide" Target="/ppt/notesSlides/notesSlide7.xml" Id="R75104aa7be9545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4c121d81e49ea" /><Relationship Type="http://schemas.openxmlformats.org/officeDocument/2006/relationships/image" Target="/ppt/media/image2.png" Id="R371c49434f164120" /><Relationship Type="http://schemas.openxmlformats.org/officeDocument/2006/relationships/notesSlide" Target="/ppt/notesSlides/notesSlide8.xml" Id="R350a47d418c547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41e14b1c0499c" /><Relationship Type="http://schemas.openxmlformats.org/officeDocument/2006/relationships/image" Target="/ppt/media/image3.png" Id="R3ce070eafbe34c7c" /><Relationship Type="http://schemas.openxmlformats.org/officeDocument/2006/relationships/notesSlide" Target="/ppt/notesSlides/notesSlide9.xml" Id="Rc8f6d839c51d4e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1fa027e584c60" /><Relationship Type="http://schemas.openxmlformats.org/officeDocument/2006/relationships/notesSlide" Target="/ppt/notesSlides/notesSlide10.xml" Id="Rd2910a182ba74c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214fff14c4d4b" /><Relationship Type="http://schemas.openxmlformats.org/officeDocument/2006/relationships/image" Target="/ppt/media/image4.png" Id="Rbcec815746b94145" /><Relationship Type="http://schemas.openxmlformats.org/officeDocument/2006/relationships/notesSlide" Target="/ppt/notesSlides/notesSlide11.xml" Id="Rd14e23b46edc42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e2be881384945" /><Relationship Type="http://schemas.openxmlformats.org/officeDocument/2006/relationships/image" Target="/ppt/media/image5.png" Id="Rca21ef3393614658" /><Relationship Type="http://schemas.openxmlformats.org/officeDocument/2006/relationships/notesSlide" Target="/ppt/notesSlides/notesSlide12.xml" Id="R33bf9023980a49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3881a37b944ea" /><Relationship Type="http://schemas.openxmlformats.org/officeDocument/2006/relationships/image" Target="/ppt/media/image6.png" Id="R6e094c1192c747fe" /><Relationship Type="http://schemas.openxmlformats.org/officeDocument/2006/relationships/notesSlide" Target="/ppt/notesSlides/notesSlide13.xml" Id="Rf8643adcd24946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86c567b7c418e" /><Relationship Type="http://schemas.openxmlformats.org/officeDocument/2006/relationships/notesSlide" Target="/ppt/notesSlides/notesSlide14.xml" Id="R2db8f33379ef4d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LIT-MOM-01.1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stock breadth atlas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Twenty-two stocks. Eleven sectors. One unchanged Chapter 6 horizon screen per stock—and no permission to select a winner after outcomes.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LITERATURE-GROUNDED STRATEGY RESEARCH | 31 JUL 2026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Breadth asks whether a mechanism recurs—not which stock wins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identity was frozen before outcomes. Each stock runs its own TRAIN selector; every complete passer receives its one OOS replay. Attractive failures stay visible.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22 stocks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Exactly two per sector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Large, liquid U.S. names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49 cells each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L,H grid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deterministic selector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 portfolios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OOS ranking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capital allocation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Sector balance reduces taste-driven sampling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panel deliberately avoids concentrating on high-beta technology or meme stocks. Within each sector, the pair spans different subindustries or economic-cycle exposures where practical.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11 sectors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Broad U.S. equity taxonomy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stocks in each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roles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Stable compounder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Cyclical complement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Known bias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Static July 2026 survivors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 point-in-time membership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stock repeats Chan's two-stage logic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First compare its own past L-session return with its next H-session return on sparse TRAIN anchors. Then freeze one admissible row and trade daily overlapping 1/H sleeves with next-open execution.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Past return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C(t)/C(t-L) − 1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Predictor sign and magnitude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Future return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C(t+H)/C(t) − 1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Sparse inference outcome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Sleeve exposure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(1/H) Σ sign[Rpast]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Bounded long/short position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250/25 stays canonical; the TRAIN selector still governs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5EE0E946-4B2C-4DE9-8839-3DE0D30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E0CA677-50AA-4CCF-BC5C-CB90210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Chan's worked TU example uses a 250-session lookback and 25-session hold after inspecting the horizon table.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 each stock: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report 250/25 beside the result;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select only inside TRAIN;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require H ≥ 5 and ≥20 sparse pairs;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rank admissible rows by Pearson t-statistic;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never substitute a better-looking row after OOS.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selector can improve a backtest without validating the mechanism.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28C7B-FAD1-4EFC-8057-453D13C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6196"/>
            <a:ext cx="5314950" cy="3019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9a304d80d4151"/>
          <a:stretch xmlns:a="http://schemas.openxmlformats.org/drawingml/2006/main"/>
        </p:blipFill>
        <p:spPr>
          <a:xfrm xmlns:a="http://schemas.openxmlformats.org/drawingml/2006/main">
            <a:off x="6605588" y="1476375"/>
            <a:ext cx="4743450" cy="395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literature supplies the mechanism; Gen5 supplies the gates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six gates are conjunctive research controls. They prevent a visually attractive equity curve from substituting for integrity, source-style correlation evidence, support, prediction, cost-aware P&amp;L, or time stability.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G1–G2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Integrity and causal timing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Admissible positive correlation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G3–G4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Sparse-pair and sleeve support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Direction accuracy &gt; 50%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G5–G6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Net return and adjusted Sharpe &gt; 0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Stress return and ≥3 positive years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More stocks create more chances to fool ourselves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Twenty-two independent 49-cell screens mean 1,078 related TRAIN comparisons. Nominal p-values are admission diagnostics—not family-wise proof. The protected OOS replay remains the falsification surface.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1,078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horizon cells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22 × 49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nominal p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Useful local diagnostic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 multiplicity-adjusted truth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passers OOS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best-stock selection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hidden attrition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selected many horizons—but only HD's 10/10 cleared all gates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c49434f164120"/>
          <a:stretch xmlns:a="http://schemas.openxmlformats.org/drawingml/2006/main"/>
        </p:blipFill>
        <p:spPr>
          <a:xfrm xmlns:a="http://schemas.openxmlformats.org/drawingml/2006/main">
            <a:off x="2336483" y="1162050"/>
            <a:ext cx="752856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31B1CDB-9946-498B-901E-0A0C9C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1FC061-EE2C-48CF-9799-D85371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horizon-screen gate—not P&amp;L—was the dominant TRAIN stop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070eafbe34c7c"/>
          <a:stretch xmlns:a="http://schemas.openxmlformats.org/drawingml/2006/main"/>
        </p:blipFill>
        <p:spPr>
          <a:xfrm xmlns:a="http://schemas.openxmlformats.org/drawingml/2006/main">
            <a:off x="3178969" y="1143000"/>
            <a:ext cx="5834063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75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HD 10/10 enters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DEVELOPMENT alone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identity, horizon, long/short sleeve rule, costs, and evidence dates are frozen. The other 21 stocks stop in TRAIN; 2024+ CONFIRMATION stays sealed.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AUTHORIZED OOS REPLAY | 2021–2023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Prediction and P&amp;L were already different questions in TRAIN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c815746b94145"/>
          <a:stretch xmlns:a="http://schemas.openxmlformats.org/drawingml/2006/main"/>
        </p:blipFill>
        <p:spPr>
          <a:xfrm xmlns:a="http://schemas.openxmlformats.org/drawingml/2006/main">
            <a:off x="2336483" y="1162050"/>
            <a:ext cx="752856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HD retained directional evidence—but not economic continuity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1ef3393614658"/>
          <a:stretch xmlns:a="http://schemas.openxmlformats.org/drawingml/2006/main"/>
        </p:blipFill>
        <p:spPr>
          <a:xfrm xmlns:a="http://schemas.openxmlformats.org/drawingml/2006/main">
            <a:off x="476250" y="1291936"/>
            <a:ext cx="11239500" cy="45979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OOS path fell nearly 30% before a late recovery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94c1192c747fe"/>
          <a:stretch xmlns:a="http://schemas.openxmlformats.org/drawingml/2006/main"/>
        </p:blipFill>
        <p:spPr>
          <a:xfrm xmlns:a="http://schemas.openxmlformats.org/drawingml/2006/main">
            <a:off x="2212578" y="1162050"/>
            <a:ext cx="776684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E9F43BB9-4202-4A42-9916-7A06678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signal classified.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strategy did not pay.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F90063-BA30-438B-9FD3-13AA227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the sole honest OOS result and stop before CONFIRMATION. Do not rescue the atlas by choosing an attractive TRAIN failure, dropping shorts, retuning horizons, or pooling stocks.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5129715-75DE-4D50-B44D-3AFE3EB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BREADTH EXERCISE COMPLETE | RESEARCH DECISION</a:t>
            </a:r>
          </a:p>
        </p:txBody>
      </p:sp>
    </p:spTree>
    <p:extLst>
      <p:ext uri="{BB962C8B-B14F-4D97-AF65-F5344CB8AC3E}">
        <p14:creationId xmlns:p14="http://schemas.microsoft.com/office/powerpoint/2010/main" val="166424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2026-08-01T01:51:00.7680000Z</dcterms:created>
  <dcterms:modified xsi:type="dcterms:W3CDTF">2026-08-01T01:51:00.7690000Z</dcterms:modified>
</coreProperties>
</file>