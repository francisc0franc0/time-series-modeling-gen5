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31af2f4e914627" /><Relationship Type="http://schemas.openxmlformats.org/officeDocument/2006/relationships/extended-properties" Target="/docProps/app.xml" Id="R1f1dea2fd46440bc" /><Relationship Type="http://schemas.openxmlformats.org/officeDocument/2006/relationships/officeDocument" Target="/ppt/presentation.xml" Id="Rcf27f27708af4e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ff753aecec4cee"/>
  </p:sldMasterIdLst>
  <p:notesMasterIdLst>
    <p:notesMasterId xmlns:r="http://schemas.openxmlformats.org/officeDocument/2006/relationships" r:id="R2ef1eeee6f3843a1"/>
  </p:notesMasterIdLst>
  <p:sldIdLst>
    <p:sldId xmlns:r="http://schemas.openxmlformats.org/officeDocument/2006/relationships" id="256" r:id="Ra61263b49e094a32"/>
    <p:sldId xmlns:r="http://schemas.openxmlformats.org/officeDocument/2006/relationships" id="257" r:id="R40840131fa164931"/>
    <p:sldId xmlns:r="http://schemas.openxmlformats.org/officeDocument/2006/relationships" id="258" r:id="R2f588c39f1fb45e1"/>
    <p:sldId xmlns:r="http://schemas.openxmlformats.org/officeDocument/2006/relationships" id="259" r:id="R7b022bc4d61d4a90"/>
    <p:sldId xmlns:r="http://schemas.openxmlformats.org/officeDocument/2006/relationships" id="260" r:id="Rdf476f790bab420b"/>
    <p:sldId xmlns:r="http://schemas.openxmlformats.org/officeDocument/2006/relationships" id="261" r:id="Rd23997abb0164d11"/>
    <p:sldId xmlns:r="http://schemas.openxmlformats.org/officeDocument/2006/relationships" id="262" r:id="R0ac23751d4bd4a80"/>
    <p:sldId xmlns:r="http://schemas.openxmlformats.org/officeDocument/2006/relationships" id="263" r:id="R9eda095615234dce"/>
    <p:sldId xmlns:r="http://schemas.openxmlformats.org/officeDocument/2006/relationships" id="264" r:id="R4270662c9a8b4ed5"/>
    <p:sldId xmlns:r="http://schemas.openxmlformats.org/officeDocument/2006/relationships" id="265" r:id="R23ac30411cf8461c"/>
    <p:sldId xmlns:r="http://schemas.openxmlformats.org/officeDocument/2006/relationships" id="266" r:id="R4478d82e932b441c"/>
    <p:sldId xmlns:r="http://schemas.openxmlformats.org/officeDocument/2006/relationships" id="267" r:id="R54035be7dcac48c4"/>
    <p:sldId xmlns:r="http://schemas.openxmlformats.org/officeDocument/2006/relationships" id="268" r:id="Rc4986935cde24ff3"/>
    <p:sldId xmlns:r="http://schemas.openxmlformats.org/officeDocument/2006/relationships" id="269" r:id="Rf6f964c24dae449f"/>
    <p:sldId xmlns:r="http://schemas.openxmlformats.org/officeDocument/2006/relationships" id="270" r:id="R8f4274737dd14f29"/>
    <p:sldId xmlns:r="http://schemas.openxmlformats.org/officeDocument/2006/relationships" id="271" r:id="R4d9d18eeb1fc4bad"/>
    <p:sldId xmlns:r="http://schemas.openxmlformats.org/officeDocument/2006/relationships" id="272" r:id="R0a9a0e039c664c55"/>
    <p:sldId xmlns:r="http://schemas.openxmlformats.org/officeDocument/2006/relationships" id="273" r:id="R71061c3856054dd8"/>
    <p:sldId xmlns:r="http://schemas.openxmlformats.org/officeDocument/2006/relationships" id="274" r:id="Rcddf92a154d34c34"/>
    <p:sldId xmlns:r="http://schemas.openxmlformats.org/officeDocument/2006/relationships" id="275" r:id="Rf39be58a8a834629"/>
    <p:sldId xmlns:r="http://schemas.openxmlformats.org/officeDocument/2006/relationships" id="276" r:id="R4b0ce1daf0f746c0"/>
    <p:sldId xmlns:r="http://schemas.openxmlformats.org/officeDocument/2006/relationships" id="277" r:id="R278386d82f2142fa"/>
    <p:sldId xmlns:r="http://schemas.openxmlformats.org/officeDocument/2006/relationships" id="278" r:id="Ra79224eaa71447af"/>
    <p:sldId xmlns:r="http://schemas.openxmlformats.org/officeDocument/2006/relationships" id="279" r:id="Rc6dbf72810b1421f"/>
    <p:sldId xmlns:r="http://schemas.openxmlformats.org/officeDocument/2006/relationships" id="280" r:id="R270294d737644d2a"/>
    <p:sldId xmlns:r="http://schemas.openxmlformats.org/officeDocument/2006/relationships" id="281" r:id="R177f0d036b974123"/>
    <p:sldId xmlns:r="http://schemas.openxmlformats.org/officeDocument/2006/relationships" id="282" r:id="R310f18afe272401c"/>
    <p:sldId xmlns:r="http://schemas.openxmlformats.org/officeDocument/2006/relationships" id="283" r:id="Rf5f51eac483f4d77"/>
    <p:sldId xmlns:r="http://schemas.openxmlformats.org/officeDocument/2006/relationships" id="284" r:id="Rb0afc1daf1fb4793"/>
    <p:sldId xmlns:r="http://schemas.openxmlformats.org/officeDocument/2006/relationships" id="285" r:id="Rc682c14c2cb148da"/>
    <p:sldId xmlns:r="http://schemas.openxmlformats.org/officeDocument/2006/relationships" id="286" r:id="Rd19b543396a34276"/>
    <p:sldId xmlns:r="http://schemas.openxmlformats.org/officeDocument/2006/relationships" id="287" r:id="R0d592c7a58674688"/>
    <p:sldId xmlns:r="http://schemas.openxmlformats.org/officeDocument/2006/relationships" id="288" r:id="R6d6723ba404f4fd2"/>
    <p:sldId xmlns:r="http://schemas.openxmlformats.org/officeDocument/2006/relationships" id="289" r:id="R4e4cc931083e4e98"/>
    <p:sldId xmlns:r="http://schemas.openxmlformats.org/officeDocument/2006/relationships" id="290" r:id="R322d7d0ed59e42ae"/>
    <p:sldId xmlns:r="http://schemas.openxmlformats.org/officeDocument/2006/relationships" id="291" r:id="R535eb97c3bd44199"/>
    <p:sldId xmlns:r="http://schemas.openxmlformats.org/officeDocument/2006/relationships" id="292" r:id="Rd01389a7ddc348b3"/>
    <p:sldId xmlns:r="http://schemas.openxmlformats.org/officeDocument/2006/relationships" id="293" r:id="R0364766d4cab4777"/>
    <p:sldId xmlns:r="http://schemas.openxmlformats.org/officeDocument/2006/relationships" id="294" r:id="Rf35d415ef68848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94b62954b444ac" /><Relationship Type="http://schemas.openxmlformats.org/officeDocument/2006/relationships/slideMaster" Target="/ppt/slideMasters/slideMaster1.xml" Id="Recff753aecec4cee" /><Relationship Type="http://schemas.openxmlformats.org/officeDocument/2006/relationships/notesMaster" Target="/ppt/notesMasters/notesMaster1.xml" Id="R2ef1eeee6f3843a1" /><Relationship Type="http://schemas.openxmlformats.org/officeDocument/2006/relationships/presProps" Target="/ppt/presProps.xml" Id="R0b6bace2c0c749e6" /><Relationship Type="http://schemas.openxmlformats.org/officeDocument/2006/relationships/tableStyles" Target="/ppt/tableStyles.xml" Id="R606bae5f96814d6c" /><Relationship Type="http://schemas.openxmlformats.org/officeDocument/2006/relationships/slide" Target="/ppt/slides/slide1.xml" Id="Ra61263b49e094a32" /><Relationship Type="http://schemas.openxmlformats.org/officeDocument/2006/relationships/slide" Target="/ppt/slides/slide2.xml" Id="R40840131fa164931" /><Relationship Type="http://schemas.openxmlformats.org/officeDocument/2006/relationships/slide" Target="/ppt/slides/slide3.xml" Id="R2f588c39f1fb45e1" /><Relationship Type="http://schemas.openxmlformats.org/officeDocument/2006/relationships/slide" Target="/ppt/slides/slide4.xml" Id="R7b022bc4d61d4a90" /><Relationship Type="http://schemas.openxmlformats.org/officeDocument/2006/relationships/slide" Target="/ppt/slides/slide5.xml" Id="Rdf476f790bab420b" /><Relationship Type="http://schemas.openxmlformats.org/officeDocument/2006/relationships/slide" Target="/ppt/slides/slide6.xml" Id="Rd23997abb0164d11" /><Relationship Type="http://schemas.openxmlformats.org/officeDocument/2006/relationships/slide" Target="/ppt/slides/slide7.xml" Id="R0ac23751d4bd4a80" /><Relationship Type="http://schemas.openxmlformats.org/officeDocument/2006/relationships/slide" Target="/ppt/slides/slide8.xml" Id="R9eda095615234dce" /><Relationship Type="http://schemas.openxmlformats.org/officeDocument/2006/relationships/slide" Target="/ppt/slides/slide9.xml" Id="R4270662c9a8b4ed5" /><Relationship Type="http://schemas.openxmlformats.org/officeDocument/2006/relationships/slide" Target="/ppt/slides/slide10.xml" Id="R23ac30411cf8461c" /><Relationship Type="http://schemas.openxmlformats.org/officeDocument/2006/relationships/slide" Target="/ppt/slides/slide11.xml" Id="R4478d82e932b441c" /><Relationship Type="http://schemas.openxmlformats.org/officeDocument/2006/relationships/slide" Target="/ppt/slides/slide12.xml" Id="R54035be7dcac48c4" /><Relationship Type="http://schemas.openxmlformats.org/officeDocument/2006/relationships/slide" Target="/ppt/slides/slide13.xml" Id="Rc4986935cde24ff3" /><Relationship Type="http://schemas.openxmlformats.org/officeDocument/2006/relationships/slide" Target="/ppt/slides/slide14.xml" Id="Rf6f964c24dae449f" /><Relationship Type="http://schemas.openxmlformats.org/officeDocument/2006/relationships/slide" Target="/ppt/slides/slide15.xml" Id="R8f4274737dd14f29" /><Relationship Type="http://schemas.openxmlformats.org/officeDocument/2006/relationships/slide" Target="/ppt/slides/slide16.xml" Id="R4d9d18eeb1fc4bad" /><Relationship Type="http://schemas.openxmlformats.org/officeDocument/2006/relationships/slide" Target="/ppt/slides/slide17.xml" Id="R0a9a0e039c664c55" /><Relationship Type="http://schemas.openxmlformats.org/officeDocument/2006/relationships/slide" Target="/ppt/slides/slide18.xml" Id="R71061c3856054dd8" /><Relationship Type="http://schemas.openxmlformats.org/officeDocument/2006/relationships/slide" Target="/ppt/slides/slide19.xml" Id="Rcddf92a154d34c34" /><Relationship Type="http://schemas.openxmlformats.org/officeDocument/2006/relationships/slide" Target="/ppt/slides/slide20.xml" Id="Rf39be58a8a834629" /><Relationship Type="http://schemas.openxmlformats.org/officeDocument/2006/relationships/slide" Target="/ppt/slides/slide21.xml" Id="R4b0ce1daf0f746c0" /><Relationship Type="http://schemas.openxmlformats.org/officeDocument/2006/relationships/slide" Target="/ppt/slides/slide22.xml" Id="R278386d82f2142fa" /><Relationship Type="http://schemas.openxmlformats.org/officeDocument/2006/relationships/slide" Target="/ppt/slides/slide23.xml" Id="Ra79224eaa71447af" /><Relationship Type="http://schemas.openxmlformats.org/officeDocument/2006/relationships/slide" Target="/ppt/slides/slide24.xml" Id="Rc6dbf72810b1421f" /><Relationship Type="http://schemas.openxmlformats.org/officeDocument/2006/relationships/slide" Target="/ppt/slides/slide25.xml" Id="R270294d737644d2a" /><Relationship Type="http://schemas.openxmlformats.org/officeDocument/2006/relationships/slide" Target="/ppt/slides/slide26.xml" Id="R177f0d036b974123" /><Relationship Type="http://schemas.openxmlformats.org/officeDocument/2006/relationships/slide" Target="/ppt/slides/slide27.xml" Id="R310f18afe272401c" /><Relationship Type="http://schemas.openxmlformats.org/officeDocument/2006/relationships/slide" Target="/ppt/slides/slide28.xml" Id="Rf5f51eac483f4d77" /><Relationship Type="http://schemas.openxmlformats.org/officeDocument/2006/relationships/slide" Target="/ppt/slides/slide29.xml" Id="Rb0afc1daf1fb4793" /><Relationship Type="http://schemas.openxmlformats.org/officeDocument/2006/relationships/slide" Target="/ppt/slides/slide30.xml" Id="Rc682c14c2cb148da" /><Relationship Type="http://schemas.openxmlformats.org/officeDocument/2006/relationships/slide" Target="/ppt/slides/slide31.xml" Id="Rd19b543396a34276" /><Relationship Type="http://schemas.openxmlformats.org/officeDocument/2006/relationships/slide" Target="/ppt/slides/slide32.xml" Id="R0d592c7a58674688" /><Relationship Type="http://schemas.openxmlformats.org/officeDocument/2006/relationships/slide" Target="/ppt/slides/slide33.xml" Id="R6d6723ba404f4fd2" /><Relationship Type="http://schemas.openxmlformats.org/officeDocument/2006/relationships/slide" Target="/ppt/slides/slide34.xml" Id="R4e4cc931083e4e98" /><Relationship Type="http://schemas.openxmlformats.org/officeDocument/2006/relationships/slide" Target="/ppt/slides/slide35.xml" Id="R322d7d0ed59e42ae" /><Relationship Type="http://schemas.openxmlformats.org/officeDocument/2006/relationships/slide" Target="/ppt/slides/slide36.xml" Id="R535eb97c3bd44199" /><Relationship Type="http://schemas.openxmlformats.org/officeDocument/2006/relationships/slide" Target="/ppt/slides/slide37.xml" Id="Rd01389a7ddc348b3" /><Relationship Type="http://schemas.openxmlformats.org/officeDocument/2006/relationships/slide" Target="/ppt/slides/slide38.xml" Id="R0364766d4cab4777" /><Relationship Type="http://schemas.openxmlformats.org/officeDocument/2006/relationships/slide" Target="/ppt/slides/slide39.xml" Id="Rf35d415ef68848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29ab8cf9a14f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3dfad79e664e2e" /><Relationship Type="http://schemas.openxmlformats.org/officeDocument/2006/relationships/notesMaster" Target="/ppt/notesMasters/notesMaster1.xml" Id="Rde07c7eae96a49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7306ea64094e60" /><Relationship Type="http://schemas.openxmlformats.org/officeDocument/2006/relationships/notesMaster" Target="/ppt/notesMasters/notesMaster1.xml" Id="R2163eb840a3e4e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e88d29ec1b4f86" /><Relationship Type="http://schemas.openxmlformats.org/officeDocument/2006/relationships/notesMaster" Target="/ppt/notesMasters/notesMaster1.xml" Id="Re147561a0d7e48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f8ce552d0e44b7" /><Relationship Type="http://schemas.openxmlformats.org/officeDocument/2006/relationships/notesMaster" Target="/ppt/notesMasters/notesMaster1.xml" Id="R6215a0b5f97844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c889513e20484a" /><Relationship Type="http://schemas.openxmlformats.org/officeDocument/2006/relationships/notesMaster" Target="/ppt/notesMasters/notesMaster1.xml" Id="R298a0e35781b40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503d480cef4750" /><Relationship Type="http://schemas.openxmlformats.org/officeDocument/2006/relationships/notesMaster" Target="/ppt/notesMasters/notesMaster1.xml" Id="R9f33c85bd90a40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d29868a4424b50" /><Relationship Type="http://schemas.openxmlformats.org/officeDocument/2006/relationships/notesMaster" Target="/ppt/notesMasters/notesMaster1.xml" Id="R0aff6f1960ef41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f6d0741d884a18" /><Relationship Type="http://schemas.openxmlformats.org/officeDocument/2006/relationships/notesMaster" Target="/ppt/notesMasters/notesMaster1.xml" Id="R0f5f6fd5754241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2abd83820c48cc" /><Relationship Type="http://schemas.openxmlformats.org/officeDocument/2006/relationships/notesMaster" Target="/ppt/notesMasters/notesMaster1.xml" Id="R6b719fb4e2ad4a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00d6f0f6f14e6c" /><Relationship Type="http://schemas.openxmlformats.org/officeDocument/2006/relationships/notesMaster" Target="/ppt/notesMasters/notesMaster1.xml" Id="R509bb11ea93547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16bbe6dca74d4a" /><Relationship Type="http://schemas.openxmlformats.org/officeDocument/2006/relationships/notesMaster" Target="/ppt/notesMasters/notesMaster1.xml" Id="Rc7391a2fbc284c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72ae9e81c8491e" /><Relationship Type="http://schemas.openxmlformats.org/officeDocument/2006/relationships/notesMaster" Target="/ppt/notesMasters/notesMaster1.xml" Id="Rdc6c1742beac4c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2b7d69e8384d43" /><Relationship Type="http://schemas.openxmlformats.org/officeDocument/2006/relationships/notesMaster" Target="/ppt/notesMasters/notesMaster1.xml" Id="Raec46f1546f549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18c5ca38298466c" /><Relationship Type="http://schemas.openxmlformats.org/officeDocument/2006/relationships/notesMaster" Target="/ppt/notesMasters/notesMaster1.xml" Id="R81c231ab7e6943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6457c20893b4df8" /><Relationship Type="http://schemas.openxmlformats.org/officeDocument/2006/relationships/notesMaster" Target="/ppt/notesMasters/notesMaster1.xml" Id="R8d09ea5d7453439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de4a39d89444c5" /><Relationship Type="http://schemas.openxmlformats.org/officeDocument/2006/relationships/notesMaster" Target="/ppt/notesMasters/notesMaster1.xml" Id="Re7fbf749ede2463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22913d8508747d0" /><Relationship Type="http://schemas.openxmlformats.org/officeDocument/2006/relationships/notesMaster" Target="/ppt/notesMasters/notesMaster1.xml" Id="R5671a18d293e426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e470d31100443c5" /><Relationship Type="http://schemas.openxmlformats.org/officeDocument/2006/relationships/notesMaster" Target="/ppt/notesMasters/notesMaster1.xml" Id="R195376517a09489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3c62a7e9bfc4c6d" /><Relationship Type="http://schemas.openxmlformats.org/officeDocument/2006/relationships/notesMaster" Target="/ppt/notesMasters/notesMaster1.xml" Id="R4e75dba779d5465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9112f8a1b9d492b" /><Relationship Type="http://schemas.openxmlformats.org/officeDocument/2006/relationships/notesMaster" Target="/ppt/notesMasters/notesMaster1.xml" Id="R4551b9837d2f46c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6439a5da4b24319" /><Relationship Type="http://schemas.openxmlformats.org/officeDocument/2006/relationships/notesMaster" Target="/ppt/notesMasters/notesMaster1.xml" Id="R3e95d60bbd5b488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01f27e4d33a4b00" /><Relationship Type="http://schemas.openxmlformats.org/officeDocument/2006/relationships/notesMaster" Target="/ppt/notesMasters/notesMaster1.xml" Id="R9e567cc5d048463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80419d39e364eba" /><Relationship Type="http://schemas.openxmlformats.org/officeDocument/2006/relationships/notesMaster" Target="/ppt/notesMasters/notesMaster1.xml" Id="R5b6bf2d439244a5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bda063ed0b844cc" /><Relationship Type="http://schemas.openxmlformats.org/officeDocument/2006/relationships/notesMaster" Target="/ppt/notesMasters/notesMaster1.xml" Id="Rac020cbe4e8246b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56ed810abca4f1f" /><Relationship Type="http://schemas.openxmlformats.org/officeDocument/2006/relationships/notesMaster" Target="/ppt/notesMasters/notesMaster1.xml" Id="Rc3922ee798cd49f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65df1ea9c6b4a4b" /><Relationship Type="http://schemas.openxmlformats.org/officeDocument/2006/relationships/notesMaster" Target="/ppt/notesMasters/notesMaster1.xml" Id="R82954c25f264403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89a58145b374dbf" /><Relationship Type="http://schemas.openxmlformats.org/officeDocument/2006/relationships/notesMaster" Target="/ppt/notesMasters/notesMaster1.xml" Id="Rab87b0d479eb4b5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22e70bdac7242e3" /><Relationship Type="http://schemas.openxmlformats.org/officeDocument/2006/relationships/notesMaster" Target="/ppt/notesMasters/notesMaster1.xml" Id="R83dcac7f70a6413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50bd6de01ba487d" /><Relationship Type="http://schemas.openxmlformats.org/officeDocument/2006/relationships/notesMaster" Target="/ppt/notesMasters/notesMaster1.xml" Id="R7fd7ba62e6924ec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bdada254c174a30" /><Relationship Type="http://schemas.openxmlformats.org/officeDocument/2006/relationships/notesMaster" Target="/ppt/notesMasters/notesMaster1.xml" Id="R5461c0f0f744431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83b1100e41c4e86" /><Relationship Type="http://schemas.openxmlformats.org/officeDocument/2006/relationships/notesMaster" Target="/ppt/notesMasters/notesMaster1.xml" Id="R300026be98ce44b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9d89e04fcd74ad5" /><Relationship Type="http://schemas.openxmlformats.org/officeDocument/2006/relationships/notesMaster" Target="/ppt/notesMasters/notesMaster1.xml" Id="R1b4ef1652ecc415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e7ea10089b347d0" /><Relationship Type="http://schemas.openxmlformats.org/officeDocument/2006/relationships/notesMaster" Target="/ppt/notesMasters/notesMaster1.xml" Id="R58de2c2627eb4dd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12a5ff82e4a4561" /><Relationship Type="http://schemas.openxmlformats.org/officeDocument/2006/relationships/notesMaster" Target="/ppt/notesMasters/notesMaster1.xml" Id="R42da5de253eb4d1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f8146456b0a4c12" /><Relationship Type="http://schemas.openxmlformats.org/officeDocument/2006/relationships/notesMaster" Target="/ppt/notesMasters/notesMaster1.xml" Id="Rf05acfe3448f4c3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071e886e39147dc" /><Relationship Type="http://schemas.openxmlformats.org/officeDocument/2006/relationships/notesMaster" Target="/ppt/notesMasters/notesMaster1.xml" Id="R0182865727f34e8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3192eb3442144bd" /><Relationship Type="http://schemas.openxmlformats.org/officeDocument/2006/relationships/notesMaster" Target="/ppt/notesMasters/notesMaster1.xml" Id="Rb54430bdb553438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1f98574e4254f8a" /><Relationship Type="http://schemas.openxmlformats.org/officeDocument/2006/relationships/notesMaster" Target="/ppt/notesMasters/notesMaster1.xml" Id="R7e64b1964163429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a9b67d09e7546e1" /><Relationship Type="http://schemas.openxmlformats.org/officeDocument/2006/relationships/notesMaster" Target="/ppt/notesMasters/notesMaster1.xml" Id="Rfb9fceb9570443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deck now preserves the original example, Panels A and B, the 2018 and source-period positive controls, and Relationship Atlas 01 as a separate frozen instance batch.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Project/Time-Series-Modeling-Gen5/docs/GEN5_LIT_MR_02_1_ADAPTIVE_SPREAD_BOLLINGER_POC_CONTRACT.md</a:t>
            </a:r>
          </a:p>
          <a:p xmlns:a="http://schemas.openxmlformats.org/drawingml/2006/main">
            <a:r>
              <a:t>- C:/Users/Franc/OneDrive/Documents/Francis/Peltata Project/Time-Series-Modeling-Gen5/docs/GEN5_LIT_MR_02_1_RELATIONSHIP_ATLAS_01_CONTRACT.md</a:t>
            </a:r>
          </a:p>
          <a:p xmlns:a="http://schemas.openxmlformats.org/drawingml/2006/main">
            <a:r>
              <a:t>- C:/Users/Franc/OneDrive/Documents/Francis/Peltata Project/Time-Series-Modeling-Gen5/docs/GEN5_4_DECISION_DIALOGUE_INDEX.md — D73 and D75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book compares price spread, log-price spread, and ratio separately. Example 3.2 reuses the raw-price spread construction from Example 3.1.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2013.pdf, printed pp. 66-72; PDF pp. 84-90</a:t>
            </a:r>
          </a:p>
          <a:p xmlns:a="http://schemas.openxmlformats.org/drawingml/2006/main">
            <a:r>
              <a:t>- C:/Users/Franc/OneDrive/Documents/Francis/Peltata Project/Time-Series-Modeling-Gen5/docs/GEN5_LITERATURE_SOURCE_LEDGER.md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OLS chooses alpha and beta to minimize the sum of squared residuals in the rolling window. Beta expresses price units: if beta is 2, one unit of X hedges roughly two price units of Y under the local fitted relationship.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2013.pdf, printed pp. 66-72; PDF pp. 84-90</a:t>
            </a:r>
          </a:p>
          <a:p xmlns:a="http://schemas.openxmlformats.org/drawingml/2006/main">
            <a:r>
              <a:t>- C:/Users/Franc/OneDrive/Documents/Francis/Peltata Project/Time-Series-Modeling-Gen5/docs/GEN5_LIT_MR_02_1_PANEL_A_CONTRACT.md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z-score is unitless. It says how many rolling standard deviations the current spread is from its rolling mean. It does not by itself prove stationarity, cointegration, or profitable convergence.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2013.pdf, printed pp. 66-72; PDF pp. 84-90</a:t>
            </a:r>
          </a:p>
          <a:p xmlns:a="http://schemas.openxmlformats.org/drawingml/2006/main">
            <a:r>
              <a:t>- C:/Users/Franc/OneDrive/Documents/Francis/Peltata Project/Time-Series-Modeling-Gen5/docs/GEN5_LIT_MR_02_1_PANEL_A_CONTRACT.md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denominator gross-normalizes the two legs. The numerator preserves the beta-scaled price-unit hedge. Because beta is recomputed daily, weights can change even while the directional position remains open.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Project/Time-Series-Modeling-Gen5/docs/GEN5_LIT_MR_02_1_ADAPTIVE_SPREAD_BOLLINGER_POC_CONTRACT.md</a:t>
            </a:r>
          </a:p>
          <a:p xmlns:a="http://schemas.openxmlformats.org/drawingml/2006/main">
            <a:r>
              <a:t>- C:/Users/Franc/OneDrive/Documents/Francis/Peltata Project/Time-Series-Modeling-Gen5/docs/GEN5_LIT_MR_02_1_PANEL_A_CONTRACT.md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Project/Time-Series-Modeling-Gen5/runs/research_workbench/literature_grounded/lit_mr_02_1_panel_a_20260728/visuals/mr02_weight_mechanics.png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beta below zero, S = Y - beta X becomes Y + |beta|X. That can be statistically meaningful but it no longer describes the same opposite-leg relative-value strategy. A tradable inverse-pair design would require a new frozen variant.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Project/Time-Series-Modeling-Gen5/docs/GEN5_LIT_MR_02_1_PANEL_A_CONTRACT.md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Project/Time-Series-Modeling-Gen5/runs/research_workbench/literature_grounded/lit_mr_02_1_panel_a_20260728/mr02_panel_inverse_diagnostics.csv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literature supports evaluating both trades and bars, charging costs, examining hit rate and stability, and using statistical diagnostics. The project turns those ingredients into an auditable admission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2013.pdf, printed pp. 42-47 and 66-72; PDF pp. 60-65 and 84-90</a:t>
            </a:r>
          </a:p>
          <a:p xmlns:a="http://schemas.openxmlformats.org/drawingml/2006/main">
            <a:r>
              <a:t>- C:/Users/Franc/OneDrive/Documents/Francis/Peltata Project/Time-Series-Modeling-Gen5/docs/GEN5_LITERATURE_SOURCE_LEDGER.md</a:t>
            </a:r>
          </a:p>
          <a:p xmlns:a="http://schemas.openxmlformats.org/drawingml/2006/main">
            <a:r>
              <a:t>- C:/Users/Franc/OneDrive/Documents/Francis/Peltata Project/Time-Series-Modeling-Gen5/docs/GEN5_LIT_MR_02_1_PANEL_B_CONTRACT.md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G1 is non-negotiable. G2 protects strategy identity: negative beta changes a long-spread trade into same-side exposure. G3 is a pragmatic minimum, not a theorem, but prevents tiny samples from carrying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Project/Time-Series-Modeling-Gen5/docs/GEN5_LIT_MR_02_1_ADAPTIVE_SPREAD_BOLLINGER_POC_CONTRACT.md</a:t>
            </a:r>
          </a:p>
          <a:p xmlns:a="http://schemas.openxmlformats.org/drawingml/2006/main">
            <a:r>
              <a:t>- C:/Users/Franc/OneDrive/Documents/Francis/Peltata Project/Time-Series-Modeling-Gen5/docs/GEN5_LIT_MR_02_1_PANEL_B_CONTRACT.md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G4 is intentionally demanding because a positive point estimate alone is fragile. G5 is useful here because the mechanism claims frequent convergence, but a below-50% hit rate can be valid in positively skewed strategies. G6 is a targeted falsification control, not a generic market benchmark.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2013.pdf, printed pp. 42-47 and 66-72; PDF pp. 60-65 and 84-90</a:t>
            </a:r>
          </a:p>
          <a:p xmlns:a="http://schemas.openxmlformats.org/drawingml/2006/main">
            <a:r>
              <a:t>- C:/Users/Franc/OneDrive/Documents/Francis/Peltata Project/Time-Series-Modeling-Gen5/docs/GEN5_LIT_MR_02_1_ADAPTIVE_SPREAD_BOLLINGER_POC_CONTRACT.md</a:t>
            </a:r>
          </a:p>
          <a:p xmlns:a="http://schemas.openxmlformats.org/drawingml/2006/main">
            <a:r>
              <a:t>- C:/Users/Franc/OneDrive/Documents/Francis/Peltata Project/Time-Series-Modeling-Gen5/docs/GEN5_LIT_MR_02_1_PANEL_B_CONTRACT.md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G7 asks whether profitability is concentrated in one year. The 3-of-5 threshold is deliberately simple and soft. G8 is the direct mechanism test: a high spread z-score should predict a lower subsequent spread return. Reporting every frozen pair controls the narrative even though no formal family-wise selection correction is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Project/Time-Series-Modeling-Gen5/docs/GEN5_LIT_MR_02_1_ADAPTIVE_SPREAD_BOLLINGER_POC_CONTRACT.md</a:t>
            </a:r>
          </a:p>
          <a:p xmlns:a="http://schemas.openxmlformats.org/drawingml/2006/main">
            <a:r>
              <a:t>- C:/Users/Franc/OneDrive/Documents/Francis/Peltata Project/Time-Series-Modeling-Gen5/docs/GEN5_LIT_MR_02_1_PANEL_A_CONTRACT.md</a:t>
            </a:r>
          </a:p>
          <a:p xmlns:a="http://schemas.openxmlformats.org/drawingml/2006/main">
            <a:r>
              <a:t>- C:/Users/Franc/OneDrive/Documents/Francis/Peltata Project/Time-Series-Modeling-Gen5/docs/GEN5_LIT_MR_02_1_PANEL_B_CONTRACT.md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Canonical USO-GLD mechanics remain unchanged: raw adjusted prices, 20 sessions, +/-1 entry, zero exit, next-open execution, daily adaptive rehedging, and explicit turnover costs.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2013.pdf, printed pp. 67-72; PDF pp. 85-90</a:t>
            </a:r>
          </a:p>
          <a:p xmlns:a="http://schemas.openxmlformats.org/drawingml/2006/main">
            <a:r>
              <a:t>- C:/Users/Franc/OneDrive/Documents/Francis/Peltata Project/Time-Series-Modeling-Gen5/docs/GEN5_LIT_MR_02_1_ADAPTIVE_SPREAD_BOLLINGER_POC_CONTRACT.md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Project/Time-Series-Modeling-Gen5/runs/research_workbench/literature_grounded/lit_mr_02_1_bollinger_20260728/visuals/mr02_signal_tape.png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ADF, half-life, variance ratio, and conditional forward return test different ideas. A rolling-beta spread is not the same object as a fixed cointegrating residual.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Project/Time-Series-Modeling-Gen5/runs/research_workbench/literature_grounded/lit_mr_02_1_bollinger_20260728/mr02_train_statistical_diagnostics.csv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Project/Time-Series-Modeling-Gen5/runs/research_workbench/literature_grounded/lit_mr_02_1_bollinger_20260728/mr02_train_forward_convergence_summary.csv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Project/Time-Series-Modeling-Gen5/runs/research_workbench/literature_grounded/lit_mr_02_1_bollinger_20260728/visuals/mr02_statistical_diagnostics.png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2013.pdf, printed pp. 42-47 and 66-72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Completed trades include entries, adaptive-hedge turnover, and exits. Bar returns are next-open to next-open and use the prior close's frozen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Project/Time-Series-Modeling-Gen5/runs/research_workbench/literature_grounded/lit_mr_02_1_bollinger_20260728/mr02_train_trades.csv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Project/Time-Series-Modeling-Gen5/runs/research_workbench/literature_grounded/lit_mr_02_1_bollinger_20260728/mr02_train_bar_replay.csv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Project/Time-Series-Modeling-Gen5/runs/research_workbench/literature_grounded/lit_mr_02_1_bollinger_20260728/mr02_train_year_summary.csv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matched random-sign control breaks only the mapping from signal sign to pair direction while preserving opportunities, holding periods, realized paths, and costs.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Project/Time-Series-Modeling-Gen5/runs/research_workbench/literature_grounded/lit_mr_02_1_bollinger_20260728/mr02_train_trade_bootstrap_summary.csv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Project/Time-Series-Modeling-Gen5/runs/research_workbench/literature_grounded/lit_mr_02_1_bollinger_20260728/mr02_train_random_sign_distribution.csv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Project/Time-Series-Modeling-Gen5/runs/research_workbench/literature_grounded/lit_mr_02_1_bollinger_20260728/visuals/mr02_resampling.png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z-score crossing its rolling zero is a signal-state event, not a P&amp;L guarantee: beta, the mean, and both tradable leg prices evolve.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Project/Time-Series-Modeling-Gen5/runs/research_workbench/literature_grounded/lit_mr_02_1_bollinger_20260728/mr02_train_trades.csv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Project/Time-Series-Modeling-Gen5/runs/research_workbench/literature_grounded/lit_mr_02_1_bollinger_20260728/mr02_train_indicators.csv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Project/Time-Series-Modeling-Gen5/runs/research_workbench/literature_grounded/lit_mr_02_1_bollinger_20260728/visuals/mr02_representative_trades.png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canonical USO-GLD example passed integrity and trade-support gates only. Later partitions remained sealed.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Project/Time-Series-Modeling-Gen5/runs/research_workbench/literature_grounded/lit_mr_02_1_bollinger_20260728/mr02_gate_summary.csv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Project/Time-Series-Modeling-Gen5/runs/research_workbench/literature_grounded/lit_mr_02_1_bollinger_20260728/mr02_integrity_audit.csv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Project/Time-Series-Modeling-Gen5/runs/research_workbench/literature_grounded/lit_mr_02_1_bollinger_20260728/mr02_run_spec.csv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Pair names, Y/X orientation, categories, window, strategy mechanics, costs, and gates were frozen before running. The panel is breadth evidence, not an optimizer.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Project/Time-Series-Modeling-Gen5/docs/GEN5_LIT_MR_02_1_PANEL_A_CONTRACT.md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Project/Time-Series-Modeling-Gen5/runs/research_workbench/literature_grounded/lit_mr_02_1_panel_a_20260728/mr02_panel_pair_registry.csv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Project/Time-Series-Modeling-Gen5/runs/research_workbench/literature_grounded/lit_mr_02_1_panel_a_20260728/mr02_panel_run_spec.csv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plot retains the predeclared registry order. It is not outcome-sorted. USO-XLE's positive point estimate had a wide interval spanning zero and failed the random-sign and forward-convergence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Project/Time-Series-Modeling-Gen5/runs/research_workbench/literature_grounded/lit_mr_02_1_panel_a_20260728/mr02_panel_pair_summary.csv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Project/Time-Series-Modeling-Gen5/runs/research_workbench/literature_grounded/lit_mr_02_1_panel_a_20260728/mr02_panel_gate_summary.csv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Project/Time-Series-Modeling-Gen5/runs/research_workbench/literature_grounded/lit_mr_02_1_panel_a_20260728/visuals/mr02_panel_pair_net_return_ci.png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G4 is the cost-surviving trade-return gate. G8 is the signed forward-convergence gate. No primary pair passed either gate under the frozen definitions.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Project/Time-Series-Modeling-Gen5/runs/research_workbench/literature_grounded/lit_mr_02_1_panel_a_20260728/mr02_panel_gate_summary.csv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Project/Time-Series-Modeling-Gen5/runs/research_workbench/literature_grounded/lit_mr_02_1_panel_a_20260728/mr02_panel_forward_convergence_summary.csv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Project/Time-Series-Modeling-Gen5/runs/research_workbench/literature_grounded/lit_mr_02_1_panel_a_20260728/visuals/mr02_panel_gate_heatmap.png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IVV-SPY and IAU-GLD were especially instructive: the relation was tight, but round-trip costs dominated the small gross spread movement. GLD-UUP and TLT-SPY showed frequent beta-sign changes, reinforcing the semantic warning.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Project/Time-Series-Modeling-Gen5/runs/research_workbench/literature_grounded/lit_mr_02_1_panel_a_20260728/mr02_panel_category_summary.csv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Project/Time-Series-Modeling-Gen5/runs/research_workbench/literature_grounded/lit_mr_02_1_panel_a_20260728/mr02_panel_inverse_diagnostics.csv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Project/Time-Series-Modeling-Gen5/runs/research_workbench/literature_grounded/lit_mr_02_1_panel_a_20260728/mr02_panel_pair_summary.csv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Panel B was designed for economic variety, not expected profitability. The nine sector pairs compare broad providers; the industry pairs test related but less interchangeable exposures; GDX-GLD tests a producer/commodity relationship.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Project/Time-Series-Modeling-Gen5/docs/GEN5_LIT_MR_02_1_PANEL_B_CONTRACT.md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Project/Time-Series-Modeling-Gen5/runs/research_workbench/literature_grounded/lit_mr_02_1_panel_b_20260728/mr02_panel_pair_registry.csv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Project/Time-Series-Modeling-Gen5/runs/research_workbench/literature_grounded/lit_mr_02_1_panel_b_20260728/mr02_panel_run_spec.csv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chart is fixed in the predeclared B01-B15 order. IHI-XLV was least negative at -3.56 bp per trade; the Panel B median was -13.64 bp. No pair had a positive mean.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Project/Time-Series-Modeling-Gen5/runs/research_workbench/literature_grounded/lit_mr_02_1_panel_b_20260728/mr02_panel_pair_summary.csv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Project/Time-Series-Modeling-Gen5/runs/research_workbench/literature_grounded/lit_mr_02_1_panel_b_20260728/mr02_panel_gate_summary.csv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Project/Time-Series-Modeling-Gen5/runs/research_workbench/literature_grounded/lit_mr_02_1_panel_b_20260728/visuals/mr02_panel_pair_net_return_ci.png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XRT-XLY narrowly missed G2 with 94.3% positive-beta coverage. IHI-XLV, XRT-XLY, and XBI-IBB passed G7. Four pairs had negative forward-correlation point estimates, but every confidence interval crossed zero, so none passed G8.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Project/Time-Series-Modeling-Gen5/runs/research_workbench/literature_grounded/lit_mr_02_1_panel_b_20260728/mr02_panel_gate_summary.csv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Project/Time-Series-Modeling-Gen5/runs/research_workbench/literature_grounded/lit_mr_02_1_panel_b_20260728/mr02_panel_forward_convergence_summary.csv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Project/Time-Series-Modeling-Gen5/runs/research_workbench/literature_grounded/lit_mr_02_1_panel_b_20260728/visuals/mr02_panel_gate_heatmap.png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Panel A contained 12 primary pairs and two inverse diagnostics; Panel B added 15 primary pairs. Across the 27 primary pairs, no strategy cleared all eight gates and no pair robustly confirmed the claimed forward-convergence mechanism.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Project/Time-Series-Modeling-Gen5/runs/research_workbench/literature_grounded/lit_mr_02_1_panel_a_20260728/mr02_panel_pair_summary.csv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Project/Time-Series-Modeling-Gen5/runs/research_workbench/literature_grounded/lit_mr_02_1_panel_a_20260728/mr02_panel_gate_summary.csv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Project/Time-Series-Modeling-Gen5/runs/research_workbench/literature_grounded/lit_mr_02_1_panel_b_20260728/mr02_panel_pair_summary.csv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Project/Time-Series-Modeling-Gen5/runs/research_workbench/literature_grounded/lit_mr_02_1_panel_b_20260728/mr02_panel_gate_summary.csv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2018 is documented as a positive-control regime for the unchanged LIT-MR-02.1 mechanism. It is descriptive evidence found after the primary five-year TRAIN decision and therefore cannot reverse that STOP.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Project/Time-Series-Modeling-Gen5/docs/GEN5_LIT_MR_02_1_CASE_STUDIES.md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Project/Time-Series-Modeling-Gen5/runs/research_workbench/literature_grounded/lit_mr_02_1_case_studies_20260729/mr02_case_2018_summary.csv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Project/Time-Series-Modeling-Gen5/runs/research_workbench/literature_grounded/lit_mr_02_1_case_studies_20260729/mr02_case_studies_report.md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exact frozen primary-cost replay returned 4.82% in calendar 2018, with a 0.736 naive annualized Sharpe, a 7.64% maximum drawdown, and nine winners among 13 completed trades. The five-year context remains mixed and ultimately negative.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Project/Time-Series-Modeling-Gen5/docs/GEN5_LIT_MR_02_1_CASE_STUDIES.md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Project/Time-Series-Modeling-Gen5/runs/research_workbench/literature_grounded/lit_mr_02_1_case_studies_20260729/mr02_case_2018_summary.csv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Project/Time-Series-Modeling-Gen5/runs/research_workbench/literature_grounded/lit_mr_02_1_case_studies_20260729/visuals/mr02_case_2018_five_year_context.png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top panel shows the adaptive raw-price spread and rolling mean plus or minus one standard deviation. The middle panel shows the corresponding z-score state and long/short entries. The bottom panel ties those states to the next-open, cost-aware equity and drawdown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Project/Time-Series-Modeling-Gen5/docs/GEN5_LIT_MR_02_1_CASE_STUDIES.md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Project/Time-Series-Modeling-Gen5/runs/research_workbench/literature_grounded/lit_mr_02_1_case_studies_20260729/mr02_case_2018_summary.csv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Project/Time-Series-Modeling-Gen5/runs/research_workbench/literature_grounded/lit_mr_02_1_case_studies_20260729/visuals/mr02_case_2018_strategy_anatomy.png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representative tape is the full 2018 trade set: nine long-spread trades and four short-spread trades. It makes the timing, participation, holding periods, and concentration of gains and losses auditable.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Project/Time-Series-Modeling-Gen5/docs/GEN5_LIT_MR_02_1_CASE_STUDIES.md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Project/Time-Series-Modeling-Gen5/runs/research_workbench/literature_grounded/lit_mr_02_1_case_studies_20260729/mr02_case_2018_trades.csv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Project/Time-Series-Modeling-Gen5/runs/research_workbench/literature_grounded/lit_mr_02_1_case_studies_20260729/visuals/mr02_case_2018_trade_timeline.png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left panel shows cost drag for each completed trade. The right panel separates long- and short-spread outcomes by holding period. Costs reduced every trade, while winners remained present in both directions.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Project/Time-Series-Modeling-Gen5/docs/GEN5_LIT_MR_02_1_CASE_STUDIES.md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Project/Time-Series-Modeling-Gen5/runs/research_workbench/literature_grounded/lit_mr_02_1_case_studies_20260729/mr02_case_2018_trades.csv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Project/Time-Series-Modeling-Gen5/runs/research_workbench/literature_grounded/lit_mr_02_1_case_studies_20260729/visuals/mr02_case_2018_trade_economics.png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section reproduces the exact interval printed in Chan's Example 3.2 using quarantined Yahoo adjusted daily bars. The bars are reference evidence only and do not alter the canonical Alpaca-only Gen5 provider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— printed pages 71–72; PDF pages 89–90</a:t>
            </a:r>
          </a:p>
          <a:p xmlns:a="http://schemas.openxmlformats.org/drawingml/2006/main">
            <a:r>
              <a:t>- C:/Users/Franc/OneDrive/Documents/Francis/Peltata Project/Time-Series-Modeling-Gen5/docs/GEN5_LITERATURE_SOURCE_LEDGER.md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Project/Time-Series-Modeling-Gen5/runs/research_workbench/literature_grounded/lit_mr_02_1_case_studies_20260729/mr02_source_reference_audit.csv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Project/Time-Series-Modeling-Gen5/runs/research_workbench/literature_grounded/lit_mr_02_1_case_studies_20260729/mr02_source_reference_urls.csv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blue line approximates the book's lagged-position, close-to-close, no-cost accounting. The red line applies the same signal mechanism with Gen5 next-open timing and five basis points per one-way weight change. Both accounts remain positive, though their paths and drawdowns differ.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— printed pages 68 and 71–72; PDF pages 86 and 89–90</a:t>
            </a:r>
          </a:p>
          <a:p xmlns:a="http://schemas.openxmlformats.org/drawingml/2006/main">
            <a:r>
              <a:t>- C:/Users/Franc/OneDrive/Documents/Francis/Peltata Project/Time-Series-Modeling-Gen5/docs/GEN5_LIT_MR_02_1_CASE_STUDIES.md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Project/Time-Series-Modeling-Gen5/runs/research_workbench/literature_grounded/lit_mr_02_1_case_studies_20260729/mr02_source_period_book_style_replay.csv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Project/Time-Series-Modeling-Gen5/runs/research_workbench/literature_grounded/lit_mr_02_1_case_studies_20260729/mr02_source_period_gen5_replay.csv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Project/Time-Series-Modeling-Gen5/runs/research_workbench/literature_grounded/lit_mr_02_1_case_studies_20260729/visuals/mr02_source_period_reproduction.png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 reports 17.8% APR and 0.96 Sharpe. Using current Yahoo-adjusted bars, the book-style account reaches 15.07% APR and 0.845 Sharpe; the Gen5 translation reaches 12.93% APR and 0.933 Sharpe. We retain the discrepancy because the original data vintage and preprocessing are not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— printed pages 71–72; PDF pages 89–90</a:t>
            </a:r>
          </a:p>
          <a:p xmlns:a="http://schemas.openxmlformats.org/drawingml/2006/main">
            <a:r>
              <a:t>- C:/Users/Franc/OneDrive/Documents/Francis/Peltata Project/Time-Series-Modeling-Gen5/docs/GEN5_LIT_MR_02_1_CASE_STUDIES.md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Project/Time-Series-Modeling-Gen5/runs/research_workbench/literature_grounded/lit_mr_02_1_case_studies_20260729/mr02_source_period_comparison.csv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Project/Time-Series-Modeling-Gen5/runs/research_workbench/literature_grounded/lit_mr_02_1_case_studies_20260729/mr02_source_reference_audit.csv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Project/Time-Series-Modeling-Gen5/runs/research_workbench/literature_grounded/lit_mr_02_1_case_studies_20260729/visuals/mr02_source_period_signal_tape.png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source-period reproduction and the 2018 case study establish that the formula can produce a coherent trading result in real historical regimes. They do not create a prospective selection rule, do not clear the predeclared eight-gate modern TRAIN contract, and do not authorize retuning.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Project/Time-Series-Modeling-Gen5/docs/GEN5_LIT_MR_02_1_CASE_STUDIES.md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Project/Time-Series-Modeling-Gen5/runs/research_workbench/literature_grounded/lit_mr_02_1_case_studies_20260729/mr02_case_studies_report.md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Project/Time-Series-Modeling-Gen5/runs/research_workbench/literature_grounded/lit_mr_02_1_case_studies_20260729/mr02_case_2018_summary.csv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Project/Time-Series-Modeling-Gen5/runs/research_workbench/literature_grounded/lit_mr_02_1_case_studies_20260729/mr02_source_period_comparison.csv</a:t>
            </a:r>
          </a:p>
          <a:p xmlns:a="http://schemas.openxmlformats.org/drawingml/2006/main">
            <a:r>
              <a:t>- C:/Users/Franc/OneDrive/Documents/Francis/Peltata Project/Time-Series-Modeling-Gen5/docs/GEN5_LIT_MR_02_1_ADAPTIVE_SPREAD_BOLLINGER_POC_CONTRACT.md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section is a high-throughput demonstration of disciplined hypothesis generation. It does not change the pair mechanics or mine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Project/Time-Series-Modeling-Gen5/docs/GEN5_LIT_MR_02_1_RELATIONSHIP_ATLAS_01_CONTRACT.md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Project/Time-Series-Modeling-Gen5/runs/research_workbench/literature_grounded/lit_mr_02_1_relationship_atlas_01_20260729/mr02_panel_pair_registry.csv</a:t>
            </a:r>
          </a:p>
          <a:p xmlns:a="http://schemas.openxmlformats.org/drawingml/2006/main">
            <a:r>
              <a:t>- C:/Users/Franc/OneDrive/Documents/Francis/Peltata Project/Time-Series-Modeling-Gen5/docs/GEN5_4_DECISION_DIALOGUE_INDEX.md — D73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generator is categorical and economic, not performance-ranked. ETF–component and producer/asset-proxy relationships are explicitly distinguished from ETF–ETF and stock–stock hypotheses.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Project/Time-Series-Modeling-Gen5/docs/GEN5_LIT_MR_02_1_RELATIONSHIP_ATLAS_01_CONTRACT.md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Project/Time-Series-Modeling-Gen5/runs/research_workbench/literature_grounded/lit_mr_02_1_relationship_atlas_01_20260729/mr02_panel_pair_registry.csv</a:t>
            </a:r>
          </a:p>
          <a:p xmlns:a="http://schemas.openxmlformats.org/drawingml/2006/main">
            <a:r>
              <a:t>- C:/Users/Franc/OneDrive/Documents/Francis/Peltata Project/Time-Series-Modeling-Gen5/docs/GEN5_4_DECISION_DIALOGUE_INDEX.md — D73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Only the producer/asset-proxy cell contained a positive mean-net pair. No category produced a full eight-gate pass. The chart is descriptive; the atlas did not select a winning cell.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Project/Time-Series-Modeling-Gen5/runs/research_workbench/literature_grounded/lit_mr_02_1_relationship_atlas_01_20260729/mr02_panel_category_summary.csv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Project/Time-Series-Modeling-Gen5/runs/research_workbench/literature_grounded/lit_mr_02_1_relationship_atlas_01_20260729/visuals/mr02_panel_category_summary.png</a:t>
            </a:r>
          </a:p>
          <a:p xmlns:a="http://schemas.openxmlformats.org/drawingml/2006/main">
            <a:r>
              <a:t>- C:/Users/Franc/OneDrive/Documents/Francis/Peltata Project/Time-Series-Modeling-Gen5/docs/GEN5_LIT_MR_02_1_RELATIONSHIP_ATLAS_01_CONTRACT.md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SIL–SLV averaged +56.8 bp per completed trade, but its 95% interval was approximately -19.3 to +143.3 bp. It passed six of eight gates and was not selected because the contract requires all eight.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Project/Time-Series-Modeling-Gen5/runs/research_workbench/literature_grounded/lit_mr_02_1_relationship_atlas_01_20260729/mr02_panel_pair_summary.csv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Project/Time-Series-Modeling-Gen5/runs/research_workbench/literature_grounded/lit_mr_02_1_relationship_atlas_01_20260729/visuals/mr02_panel_pair_net_return_ci.png</a:t>
            </a:r>
          </a:p>
          <a:p xmlns:a="http://schemas.openxmlformats.org/drawingml/2006/main">
            <a:r>
              <a:t>- C:/Users/Franc/OneDrive/Documents/Francis/Peltata Project/Time-Series-Modeling-Gen5/docs/GEN5_4_DECISION_DIALOGUE_INDEX.md — D75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cold/partial-cache WARNs record the pre-refresh state. The runner refreshed all affected 2016–2020 ranges, each pair passed requested coverage, and the analysis health used by the gates was PASS.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Project/Time-Series-Modeling-Gen5/runs/research_workbench/literature_grounded/lit_mr_02_1_relationship_atlas_01_20260729/mr02_panel_gate_detail.csv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Project/Time-Series-Modeling-Gen5/runs/research_workbench/literature_grounded/lit_mr_02_1_relationship_atlas_01_20260729/mr02_panel_pair_coverage.csv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Project/Time-Series-Modeling-Gen5/runs/research_workbench/literature_grounded/lit_mr_02_1_relationship_atlas_01_20260729/mr02_panel_workbench_query_health.csv</a:t>
            </a:r>
          </a:p>
          <a:p xmlns:a="http://schemas.openxmlformats.org/drawingml/2006/main">
            <a:r>
              <a:t>- C:/Users/Franc/OneDrive/Documents/Francis/Peltata Project/Time-Series-Modeling-Gen5/docs/GEN5_4_DECISION_DIALOGUE_INDEX.md — D75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research mechanism succeeded operationally: hypotheses were generated, labeled, frozen, and fully reported. The trading mechanism did not earn OOS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Project/Time-Series-Modeling-Gen5/runs/research_workbench/literature_grounded/lit_mr_02_1_relationship_atlas_01_20260729/mr02_panel_report.md</a:t>
            </a:r>
          </a:p>
          <a:p xmlns:a="http://schemas.openxmlformats.org/drawingml/2006/main">
            <a:r>
              <a:t>- C:/Users/Franc/OneDrive/Documents/Francis/Peltata Project/Time-Series-Modeling-Gen5/docs/GEN5_LIT_MR_02_1_RELATIONSHIP_ATLAS_01_CONTRACT.md</a:t>
            </a:r>
          </a:p>
          <a:p xmlns:a="http://schemas.openxmlformats.org/drawingml/2006/main">
            <a:r>
              <a:t>- C:/Users/Franc/OneDrive/Documents/Francis/Peltata Project/Time-Series-Modeling-Gen5/docs/GEN5_4_DECISION_DIALOGUE_INDEX.md — D75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c11751c4c644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b79825ac714b74" /><Relationship Type="http://schemas.openxmlformats.org/officeDocument/2006/relationships/slideLayout" Target="/ppt/slideLayouts/slideLayout1.xml" Id="R5cc82d5a655c4a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c82d5a655c4a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96075644a46c9" /><Relationship Type="http://schemas.openxmlformats.org/officeDocument/2006/relationships/notesSlide" Target="/ppt/notesSlides/notesSlide1.xml" Id="Rea3de4eeaa4446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5fe43a88e44a7" /><Relationship Type="http://schemas.openxmlformats.org/officeDocument/2006/relationships/notesSlide" Target="/ppt/notesSlides/notesSlide2.xml" Id="R609877ce509441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3eb2cf4a54962" /><Relationship Type="http://schemas.openxmlformats.org/officeDocument/2006/relationships/notesSlide" Target="/ppt/notesSlides/notesSlide3.xml" Id="R3c167c030a474a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158b29f764235" /><Relationship Type="http://schemas.openxmlformats.org/officeDocument/2006/relationships/notesSlide" Target="/ppt/notesSlides/notesSlide4.xml" Id="R8113dd0051ce46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74c8a6fb145cd" /><Relationship Type="http://schemas.openxmlformats.org/officeDocument/2006/relationships/image" Target="/ppt/media/image.png" Id="R06a40f276fdd442c" /><Relationship Type="http://schemas.openxmlformats.org/officeDocument/2006/relationships/image" Target="/ppt/media/image2.png" Id="R9c08206f5a464b58" /><Relationship Type="http://schemas.openxmlformats.org/officeDocument/2006/relationships/notesSlide" Target="/ppt/notesSlides/notesSlide5.xml" Id="R8c5b4f64580e42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0455a58b44f01" /><Relationship Type="http://schemas.openxmlformats.org/officeDocument/2006/relationships/notesSlide" Target="/ppt/notesSlides/notesSlide6.xml" Id="R1a7464f7f9994d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d45004bd34974" /><Relationship Type="http://schemas.openxmlformats.org/officeDocument/2006/relationships/notesSlide" Target="/ppt/notesSlides/notesSlide7.xml" Id="Rad215049c49a4e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c47975bb94174" /><Relationship Type="http://schemas.openxmlformats.org/officeDocument/2006/relationships/notesSlide" Target="/ppt/notesSlides/notesSlide8.xml" Id="R17ebf0c10ff44d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324f105e74645" /><Relationship Type="http://schemas.openxmlformats.org/officeDocument/2006/relationships/notesSlide" Target="/ppt/notesSlides/notesSlide9.xml" Id="R81cad0ef872844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21d2d821c40c2" /><Relationship Type="http://schemas.openxmlformats.org/officeDocument/2006/relationships/notesSlide" Target="/ppt/notesSlides/notesSlide10.xml" Id="R94cd79ef5a1847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3edee4d54456b" /><Relationship Type="http://schemas.openxmlformats.org/officeDocument/2006/relationships/image" Target="/ppt/media/image.png" Id="Re31f76706eef43ed" /><Relationship Type="http://schemas.openxmlformats.org/officeDocument/2006/relationships/notesSlide" Target="/ppt/notesSlides/notesSlide11.xml" Id="Rfb911fc844294f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8f9a2ca3346bb" /><Relationship Type="http://schemas.openxmlformats.org/officeDocument/2006/relationships/image" Target="/ppt/media/image3.png" Id="R02cc9caa30884832" /><Relationship Type="http://schemas.openxmlformats.org/officeDocument/2006/relationships/notesSlide" Target="/ppt/notesSlides/notesSlide12.xml" Id="Rb164749d61574e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56ff20b3d4988" /><Relationship Type="http://schemas.openxmlformats.org/officeDocument/2006/relationships/image" Target="/ppt/media/image4.png" Id="R62bd80f18e0545c5" /><Relationship Type="http://schemas.openxmlformats.org/officeDocument/2006/relationships/notesSlide" Target="/ppt/notesSlides/notesSlide13.xml" Id="R669126f72ae949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40ae9438e4e54" /><Relationship Type="http://schemas.openxmlformats.org/officeDocument/2006/relationships/image" Target="/ppt/media/image5.png" Id="Racb7175d045a4f3a" /><Relationship Type="http://schemas.openxmlformats.org/officeDocument/2006/relationships/notesSlide" Target="/ppt/notesSlides/notesSlide14.xml" Id="R4beb92f00ace4c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e05c810e5473c" /><Relationship Type="http://schemas.openxmlformats.org/officeDocument/2006/relationships/image" Target="/ppt/media/image6.png" Id="Raba8d41ff27945bf" /><Relationship Type="http://schemas.openxmlformats.org/officeDocument/2006/relationships/notesSlide" Target="/ppt/notesSlides/notesSlide15.xml" Id="Ra224bb15d83449f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c9e31d5f14540" /><Relationship Type="http://schemas.openxmlformats.org/officeDocument/2006/relationships/notesSlide" Target="/ppt/notesSlides/notesSlide16.xml" Id="Rc6aad81fb57442d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f0bfbcbc64530" /><Relationship Type="http://schemas.openxmlformats.org/officeDocument/2006/relationships/notesSlide" Target="/ppt/notesSlides/notesSlide17.xml" Id="R7100803d18b64c1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0c2c6861b4fe1" /><Relationship Type="http://schemas.openxmlformats.org/officeDocument/2006/relationships/image" Target="/ppt/media/image3.png" Id="Ra39a3de3ed27442d" /><Relationship Type="http://schemas.openxmlformats.org/officeDocument/2006/relationships/image" Target="/ppt/media/image7.png" Id="R66936a1f1ce64ded" /><Relationship Type="http://schemas.openxmlformats.org/officeDocument/2006/relationships/notesSlide" Target="/ppt/notesSlides/notesSlide18.xml" Id="R83b704f69103411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bdbd1a2604667" /><Relationship Type="http://schemas.openxmlformats.org/officeDocument/2006/relationships/image" Target="/ppt/media/image6.png" Id="Rbd2aed99ddc043b1" /><Relationship Type="http://schemas.openxmlformats.org/officeDocument/2006/relationships/image" Target="/ppt/media/image8.png" Id="Rd04e5a0ac68d41bd" /><Relationship Type="http://schemas.openxmlformats.org/officeDocument/2006/relationships/notesSlide" Target="/ppt/notesSlides/notesSlide19.xml" Id="Rf2d767eefda743b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6c00f23254b3c" /><Relationship Type="http://schemas.openxmlformats.org/officeDocument/2006/relationships/notesSlide" Target="/ppt/notesSlides/notesSlide20.xml" Id="R4a56c86d6091405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49a5bab074792" /><Relationship Type="http://schemas.openxmlformats.org/officeDocument/2006/relationships/notesSlide" Target="/ppt/notesSlides/notesSlide21.xml" Id="R9aedf38aa9284c7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1a592386346fa" /><Relationship Type="http://schemas.openxmlformats.org/officeDocument/2006/relationships/image" Target="/ppt/media/image3.png" Id="Rc197fb6debf94337" /><Relationship Type="http://schemas.openxmlformats.org/officeDocument/2006/relationships/image" Target="/ppt/media/image7.png" Id="R9e526d70f7d14a3c" /><Relationship Type="http://schemas.openxmlformats.org/officeDocument/2006/relationships/image" Target="/ppt/media/image9.png" Id="R49bdd644c4354c8f" /><Relationship Type="http://schemas.openxmlformats.org/officeDocument/2006/relationships/notesSlide" Target="/ppt/notesSlides/notesSlide22.xml" Id="Rcc33fe7c64c845e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f99bdf1754ff0" /><Relationship Type="http://schemas.openxmlformats.org/officeDocument/2006/relationships/image" Target="/ppt/media/image6.png" Id="R2a9ded3584474426" /><Relationship Type="http://schemas.openxmlformats.org/officeDocument/2006/relationships/image" Target="/ppt/media/image8.png" Id="R5500d513365844d1" /><Relationship Type="http://schemas.openxmlformats.org/officeDocument/2006/relationships/image" Target="/ppt/media/image10.png" Id="R4e5e34c597044fa6" /><Relationship Type="http://schemas.openxmlformats.org/officeDocument/2006/relationships/notesSlide" Target="/ppt/notesSlides/notesSlide23.xml" Id="R14a7409631eb476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5f905e6924b19" /><Relationship Type="http://schemas.openxmlformats.org/officeDocument/2006/relationships/notesSlide" Target="/ppt/notesSlides/notesSlide24.xml" Id="Ree2898f6e5b5470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e8e962518464a" /><Relationship Type="http://schemas.openxmlformats.org/officeDocument/2006/relationships/notesSlide" Target="/ppt/notesSlides/notesSlide25.xml" Id="Rd61a619629c743c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a2d814e094b59" /><Relationship Type="http://schemas.openxmlformats.org/officeDocument/2006/relationships/image" Target="/ppt/media/image11.png" Id="R95c51f777206421c" /><Relationship Type="http://schemas.openxmlformats.org/officeDocument/2006/relationships/notesSlide" Target="/ppt/notesSlides/notesSlide26.xml" Id="Rf10126b65087485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4834eeac24439" /><Relationship Type="http://schemas.openxmlformats.org/officeDocument/2006/relationships/image" Target="/ppt/media/image12.png" Id="Ra44f53a5f694413a" /><Relationship Type="http://schemas.openxmlformats.org/officeDocument/2006/relationships/notesSlide" Target="/ppt/notesSlides/notesSlide27.xml" Id="R4296069da55f4c6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02d7e6c734fb0" /><Relationship Type="http://schemas.openxmlformats.org/officeDocument/2006/relationships/image" Target="/ppt/media/image13.png" Id="R186e7b107bec4fae" /><Relationship Type="http://schemas.openxmlformats.org/officeDocument/2006/relationships/notesSlide" Target="/ppt/notesSlides/notesSlide28.xml" Id="R594851d61fb6452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d3ee364cf4d70" /><Relationship Type="http://schemas.openxmlformats.org/officeDocument/2006/relationships/image" Target="/ppt/media/image14.png" Id="Rd2ed605e315f4efc" /><Relationship Type="http://schemas.openxmlformats.org/officeDocument/2006/relationships/notesSlide" Target="/ppt/notesSlides/notesSlide29.xml" Id="R0069de8fd5e44a1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2b911b1724dcc" /><Relationship Type="http://schemas.openxmlformats.org/officeDocument/2006/relationships/notesSlide" Target="/ppt/notesSlides/notesSlide30.xml" Id="Rea69778bf41745b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b91396e4f4021" /><Relationship Type="http://schemas.openxmlformats.org/officeDocument/2006/relationships/image" Target="/ppt/media/image15.png" Id="R65358a4d80c1491c" /><Relationship Type="http://schemas.openxmlformats.org/officeDocument/2006/relationships/notesSlide" Target="/ppt/notesSlides/notesSlide31.xml" Id="Rbc9e9943780f4c8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8e2a2cb7c4086" /><Relationship Type="http://schemas.openxmlformats.org/officeDocument/2006/relationships/image" Target="/ppt/media/image16.png" Id="Rd8c2b16c2766497c" /><Relationship Type="http://schemas.openxmlformats.org/officeDocument/2006/relationships/notesSlide" Target="/ppt/notesSlides/notesSlide32.xml" Id="R8c2fed81d67f4a1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91a6a95a546c9" /><Relationship Type="http://schemas.openxmlformats.org/officeDocument/2006/relationships/notesSlide" Target="/ppt/notesSlides/notesSlide33.xml" Id="Re7dae02cbfc8430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d28fd18ae4f71" /><Relationship Type="http://schemas.openxmlformats.org/officeDocument/2006/relationships/notesSlide" Target="/ppt/notesSlides/notesSlide34.xml" Id="Rc416a1b1afa2479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37929e0c34dc4" /><Relationship Type="http://schemas.openxmlformats.org/officeDocument/2006/relationships/notesSlide" Target="/ppt/notesSlides/notesSlide35.xml" Id="R4d28c6d4ea464d1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325069bc545e6" /><Relationship Type="http://schemas.openxmlformats.org/officeDocument/2006/relationships/image" Target="/ppt/media/image12.png" Id="R99ef0d7b425c4d1e" /><Relationship Type="http://schemas.openxmlformats.org/officeDocument/2006/relationships/image" Target="/ppt/media/image17.png" Id="R3da21b97373b4ac7" /><Relationship Type="http://schemas.openxmlformats.org/officeDocument/2006/relationships/notesSlide" Target="/ppt/notesSlides/notesSlide36.xml" Id="R5591f4c96fdb4da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e0bd98dbb4505" /><Relationship Type="http://schemas.openxmlformats.org/officeDocument/2006/relationships/image" Target="/ppt/media/image3.png" Id="Rad16f3415ede4ac9" /><Relationship Type="http://schemas.openxmlformats.org/officeDocument/2006/relationships/image" Target="/ppt/media/image7.png" Id="R4745c8f8a8cf4504" /><Relationship Type="http://schemas.openxmlformats.org/officeDocument/2006/relationships/image" Target="/ppt/media/image9.png" Id="R4296510ff1f4416f" /><Relationship Type="http://schemas.openxmlformats.org/officeDocument/2006/relationships/image" Target="/ppt/media/image18.png" Id="Rc4379cb2e5594c8f" /><Relationship Type="http://schemas.openxmlformats.org/officeDocument/2006/relationships/notesSlide" Target="/ppt/notesSlides/notesSlide37.xml" Id="R00ca8e038351420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60d065e1e4da3" /><Relationship Type="http://schemas.openxmlformats.org/officeDocument/2006/relationships/image" Target="/ppt/media/image6.png" Id="Rd9e589070cce4cf0" /><Relationship Type="http://schemas.openxmlformats.org/officeDocument/2006/relationships/image" Target="/ppt/media/image8.png" Id="R1ba8deee89174e90" /><Relationship Type="http://schemas.openxmlformats.org/officeDocument/2006/relationships/image" Target="/ppt/media/image10.png" Id="Rb8d99f43d31046ca" /><Relationship Type="http://schemas.openxmlformats.org/officeDocument/2006/relationships/image" Target="/ppt/media/image19.png" Id="Rf2801f54a9f64a86" /><Relationship Type="http://schemas.openxmlformats.org/officeDocument/2006/relationships/notesSlide" Target="/ppt/notesSlides/notesSlide38.xml" Id="Rf825aced322e42b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8d42b296d402e" /><Relationship Type="http://schemas.openxmlformats.org/officeDocument/2006/relationships/notesSlide" Target="/ppt/notesSlides/notesSlide39.xml" Id="R437aac5b4cb8449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headline">
            <a:extLst xmlns:a="http://schemas.openxmlformats.org/drawingml/2006/main">
              <a:ext uri="{FF2B5EF4-FFF2-40B4-BE49-F238E27FC236}">
                <a16:creationId xmlns:a16="http://schemas.microsoft.com/office/drawing/2014/main" id="{DA6318FA-2F99-4DF9-A744-06350F91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2870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LIT-MR-02.1
from example to breadth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169DF7F-9A3A-4AE2-8055-4ED35072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8001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USO-GLD remains the canonical literature example. Two panels, two positive controls, and a 25-pair relationship atlas now test what the exact 20-session template can and cannot do.</a:t>
            </a:r>
          </a:p>
        </p:txBody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D2399950-CA2D-41D2-BB2E-E681018A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LITERATURE-GROUNDED STRATEGY RESEARCH | 28 JUL 2026</a:t>
            </a:r>
          </a:p>
        </p:txBody>
      </p:sp>
    </p:spTree>
    <p:extLst>
      <p:ext uri="{BB962C8B-B14F-4D97-AF65-F5344CB8AC3E}">
        <p14:creationId xmlns:p14="http://schemas.microsoft.com/office/powerpoint/2010/main" val="20928933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This is not single-asset Bollinger Bands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Chan first estimates a rolling raw-price hedge ratio, builds the two-asset unit-portfolio spread, and only then standardizes that spread. Example 3.2 explicitly reuses the raw-price construction from Example 3.1.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USO - β·GLD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Adaptive raw-price spread
—not either ETF alone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 sessions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Rolling OLS beta
and spread standardization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Price, not log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Source-faithful transform
Log price is a separate test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hedge ratio is a local price-unit conversion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At each close, regress Y on X using only the latest 20 closes: Y = alpha + beta X + error. Beta is an OLS slope, not correlation and not a claim of causality.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β = Cov(X,Y) / Var(X)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Slope: expected price-unit change in Y
per one-unit change in X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α = Ȳ − βX̄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Estimated in the regression
but omitted from the traded spread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Backward only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window ends at close t
No future observations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z-score asks how unusual today's spread is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First form the two-asset spread. Then compare today's spread with its own recent level and volatility. The bands belong to the relationship, not to either asset alone.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Sₜ = Yₜ − βₜXₜ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low spread means Y is cheap
relative to the fitted X leg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μₜ and σₜ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Rolling mean and standard deviation
of the latest 20 spread values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zₜ = (Sₜ − μₜ) / σₜ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Distance from the rolling mean
measured in recent spread volatility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F272998-B60C-44E0-849E-A04A8722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16F9E5-1AF4-43B0-AB25-E3AE9829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537168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spread signal becomes two executable dollar weights</a:t>
            </a:r>
          </a:p>
        </p:txBody>
      </p:sp>
      <p:sp>
        <p:nvSpPr>
          <p:cNvPr id="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5EE0E946-4B2C-4DE9-8839-3DE0D30C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E0CA677-50AA-4CCF-BC5C-CB90210A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5537168" cy="423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Direction d = +1 when z &lt; −1
Direction d = −1 when z &gt; +1
Exit when z crosses zero
wY = dY / (Y + |β|X)
wX = −dβX / (Y + |β|X)
Gross exposure sums to one.
Signal at close; trade next open.
Daily beta changes create turnover.
Primary cost: 5 bp per one-way weight change.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40f276fdd442c"/>
          <a:stretch xmlns:a="http://schemas.openxmlformats.org/drawingml/2006/main"/>
        </p:blipFill>
        <p:spPr>
          <a:xfrm xmlns:a="http://schemas.openxmlformats.org/drawingml/2006/main">
            <a:off x="6381750" y="1776196"/>
            <a:ext cx="5314950" cy="3019858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28C7B-FAD1-4EFC-8057-453D13C9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6196"/>
            <a:ext cx="5314950" cy="3019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8206f5a464b58"/>
          <a:stretch xmlns:a="http://schemas.openxmlformats.org/drawingml/2006/main"/>
        </p:blipFill>
        <p:spPr>
          <a:xfrm xmlns:a="http://schemas.openxmlformats.org/drawingml/2006/main">
            <a:off x="6381750" y="1817520"/>
            <a:ext cx="5314950" cy="2937209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408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E92BF88A-D985-4E89-9220-AED80DBB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18F3FD71-2B01-497E-B7A5-AD72E3A3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A256A665-F93B-46DB-A120-F2929BE3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B8FEAA9-7122-4602-AAFA-C856C71C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B999DAA-321B-4DEF-AC22-1F41A5B8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Positive and negative beta imply different trades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B83D39E3-1D42-4CA4-A507-6C07CD20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algebra can fit co-moving or oppositely moving assets, but the portfolio meaning changes. We therefore trade only positive-beta pairs in this panel and treat inverse relationships as diagnostics.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CE99FBCB-3F61-4E2C-9916-C8B37E00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β &gt; 0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8D7A7BD1-1D20-421E-BAC5-DFF695BB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Relative value: long one leg,
short the other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E572DBE1-8080-407B-A0FF-815818B8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β &lt; 0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FD56EAD1-B269-48E0-9F23-33330F29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Long spread can mean long both assets;
not the same market-neutral trade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9C6C64B0-28CA-4923-800E-94342CB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β sign flips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0ED31E12-360E-4FDB-B429-1A6368F4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Position semantics can change
inside one backtest</a:t>
            </a:r>
          </a:p>
        </p:txBody>
      </p:sp>
    </p:spTree>
    <p:extLst>
      <p:ext uri="{BB962C8B-B14F-4D97-AF65-F5344CB8AC3E}">
        <p14:creationId xmlns:p14="http://schemas.microsoft.com/office/powerpoint/2010/main" val="15002617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books supply the ingredients; Gen5 supplies the checklist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Chan motivates the mechanics and the evidence categories. The exact eight-gate conjunction, thresholds, and controls are our transparent research rule—not a claim that the books prescribe them.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Literature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Spread mechanics, costs, trade/bar evaluation
hit rate, stability, uncertainty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Gen5 design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Exact thresholds, bootstrap, random-sign control
integrity and timing checks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 eight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conjunction, not a score
One failure prevents escalation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G1-G3 are firm admissibility gates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These gates ask whether the result is valid, has the intended opposite-leg meaning, and contains enough two-sided observations to interpret. Failing one makes downstream performance evidence inadmissible.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G1 · integrity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 timing, partition, accounting checks pass
Otherwise the backtest is invalid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G2 · β ≥95%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Positive-beta indicator coverage after warm-up
Preserves opposite-leg semantics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G3 · ≥30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Completed trades, with ≥10 long and ≥10 short
Minimum two-sided support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G4-G6 ask whether trades survive economics and chance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These are economic-evidence gates. G4 requires a cost-surviving positive mean with uncertainty; G5 is a softer convergence diagnostic; G6 asks whether the signal beats matched random directions.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G4 · mean &gt;0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And moving-block 95% lower bound &gt;0
Primary turnover costs included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G5 · hit &gt;50%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Soft, intuitive convergence check
Not universal for every strategy payoff shape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G6 · &gt; p90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970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Observed mean beats matched random-sign p90
Same timing, paths, holds, and costs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G7-G8 add stability and mechanism; multiplicity stays visible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result should recur through time and show the forecast sign the strategy actually claims. Even a full pass would open only a sealed-confirmation discussion—not authorize winner selection or deployment.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G7 · 3/5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TRAIN years with positive primary-cost bar return
Pragmatic soft stability rule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G8 · corr &lt;0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z vs next-5 spread return
95% bootstrap upper bound also &lt;0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Pass ≠ deploy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871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Fixed registry order; no winner selection
Only earns sealed-confirmation discussion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F272998-B60C-44E0-849E-A04A8722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16F9E5-1AF4-43B0-AB25-E3AE9829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537168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frozen rule preserved the book's core mechanics</a:t>
            </a:r>
          </a:p>
        </p:txBody>
      </p:sp>
      <p:sp>
        <p:nvSpPr>
          <p:cNvPr id="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5EE0E946-4B2C-4DE9-8839-3DE0D30C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E0CA677-50AA-4CCF-BC5C-CB90210A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5537168" cy="423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Signal after close
Execute next open
Enter long below -1z
Enter short above +1z
Exit at zero
One gross-normalized unit
Daily adaptive rehedging
5 bp per one-way weight change
No stop, target, max hold, or retuning.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f76706eef43ed"/>
          <a:stretch xmlns:a="http://schemas.openxmlformats.org/drawingml/2006/main"/>
        </p:blipFill>
        <p:spPr>
          <a:xfrm xmlns:a="http://schemas.openxmlformats.org/drawingml/2006/main">
            <a:off x="6381750" y="1776196"/>
            <a:ext cx="5314950" cy="3019858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4089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9833E848-7434-4F2E-A17C-B17541CA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7B658F-9EDE-4B04-B790-BFC2AB1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stationary-looking spread was not a trading edge</a:t>
            </a:r>
          </a:p>
        </p:txBody>
      </p:sp>
      <p:sp>
        <p:nvSpPr>
          <p:cNvPr id="3" name="left-stat-card">
            <a:extLst xmlns:a="http://schemas.openxmlformats.org/drawingml/2006/main">
              <a:ext uri="{FF2B5EF4-FFF2-40B4-BE49-F238E27FC236}">
                <a16:creationId xmlns:a16="http://schemas.microsoft.com/office/drawing/2014/main" id="{CB5A1905-9B52-4859-9721-FAA37599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ight-stat-card">
            <a:extLst xmlns:a="http://schemas.openxmlformats.org/drawingml/2006/main">
              <a:ext uri="{FF2B5EF4-FFF2-40B4-BE49-F238E27FC236}">
                <a16:creationId xmlns:a16="http://schemas.microsoft.com/office/drawing/2014/main" id="{6D7A92E4-990F-443E-AA22-280485C8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56D2558C-A20F-4C70-893B-6EAB7EAA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714500"/>
            <a:ext cx="5539835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dynamic spread produced a strongly negative ADF-style statistic and a 16.7-session half-life. But variance ratios exceeded one, and high z-scores predicted higher—not lower—forward spread returns.</a:t>
            </a:r>
          </a:p>
        </p:txBody>
      </p:sp>
      <p:sp>
        <p:nvSpPr>
          <p:cNvPr id="6" name="left-stat">
            <a:extLst xmlns:a="http://schemas.openxmlformats.org/drawingml/2006/main">
              <a:ext uri="{FF2B5EF4-FFF2-40B4-BE49-F238E27FC236}">
                <a16:creationId xmlns:a16="http://schemas.microsoft.com/office/drawing/2014/main" id="{5C6C71CB-7475-4DF6-B7F0-0931DF04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-8.43</a:t>
            </a:r>
          </a:p>
        </p:txBody>
      </p:sp>
      <p:sp>
        <p:nvSpPr>
          <p:cNvPr id="7" name="left-stat-label">
            <a:extLst xmlns:a="http://schemas.openxmlformats.org/drawingml/2006/main">
              <a:ext uri="{FF2B5EF4-FFF2-40B4-BE49-F238E27FC236}">
                <a16:creationId xmlns:a16="http://schemas.microsoft.com/office/drawing/2014/main" id="{471C1151-75AF-40A2-A5A1-4F7713D2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Dynamic-spread ADF t
Descriptive, not a verdict</a:t>
            </a:r>
          </a:p>
        </p:txBody>
      </p:sp>
      <p:sp>
        <p:nvSpPr>
          <p:cNvPr id="8" name="right-stat">
            <a:extLst xmlns:a="http://schemas.openxmlformats.org/drawingml/2006/main">
              <a:ext uri="{FF2B5EF4-FFF2-40B4-BE49-F238E27FC236}">
                <a16:creationId xmlns:a16="http://schemas.microsoft.com/office/drawing/2014/main" id="{423A9D83-D670-4C26-B583-F1C469F9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+0.095</a:t>
            </a:r>
          </a:p>
        </p:txBody>
      </p:sp>
      <p:sp>
        <p:nvSpPr>
          <p:cNvPr id="9" name="right-stat-label">
            <a:extLst xmlns:a="http://schemas.openxmlformats.org/drawingml/2006/main">
              <a:ext uri="{FF2B5EF4-FFF2-40B4-BE49-F238E27FC236}">
                <a16:creationId xmlns:a16="http://schemas.microsoft.com/office/drawing/2014/main" id="{F039A1C2-F7F7-4D0E-BDC1-2BD29C9D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z vs forward-five return
Wrong sign for reversion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c9caa30884832"/>
          <a:stretch xmlns:a="http://schemas.openxmlformats.org/drawingml/2006/main"/>
        </p:blipFill>
        <p:spPr>
          <a:xfrm xmlns:a="http://schemas.openxmlformats.org/drawingml/2006/main">
            <a:off x="385858" y="2576472"/>
            <a:ext cx="5534216" cy="23718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604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231B1CDB-9946-498B-901E-0A0C9C77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E1FC061-EE2C-48CF-9799-D8537102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Trade-level and bar-level evidence both failed</a:t>
            </a:r>
          </a:p>
        </p:txBody>
      </p:sp>
      <p:sp>
        <p:nvSpPr>
          <p:cNvPr id="3" name="left-stat-card">
            <a:extLst xmlns:a="http://schemas.openxmlformats.org/drawingml/2006/main">
              <a:ext uri="{FF2B5EF4-FFF2-40B4-BE49-F238E27FC236}">
                <a16:creationId xmlns:a16="http://schemas.microsoft.com/office/drawing/2014/main" id="{EF0AF18E-87A6-431F-8D4F-59EC8945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ight-stat-card">
            <a:extLst xmlns:a="http://schemas.openxmlformats.org/drawingml/2006/main">
              <a:ext uri="{FF2B5EF4-FFF2-40B4-BE49-F238E27FC236}">
                <a16:creationId xmlns:a16="http://schemas.microsoft.com/office/drawing/2014/main" id="{9C01B021-FDE1-4776-B2EE-ACB76D12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A2F82FC1-3249-4254-ABAA-A2D0E0F9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714500"/>
            <a:ext cx="5539835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rule generated enough trades in both directions, but the mean trade lost money, the hit rate was below 50%, and only two of five TRAIN years were positive.</a:t>
            </a:r>
          </a:p>
        </p:txBody>
      </p:sp>
      <p:sp>
        <p:nvSpPr>
          <p:cNvPr id="6" name="left-stat">
            <a:extLst xmlns:a="http://schemas.openxmlformats.org/drawingml/2006/main">
              <a:ext uri="{FF2B5EF4-FFF2-40B4-BE49-F238E27FC236}">
                <a16:creationId xmlns:a16="http://schemas.microsoft.com/office/drawing/2014/main" id="{06B274F5-6F7E-4432-B0F1-4874DA3C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-17.68 bp</a:t>
            </a:r>
          </a:p>
        </p:txBody>
      </p:sp>
      <p:sp>
        <p:nvSpPr>
          <p:cNvPr id="7" name="left-stat-label">
            <a:extLst xmlns:a="http://schemas.openxmlformats.org/drawingml/2006/main">
              <a:ext uri="{FF2B5EF4-FFF2-40B4-BE49-F238E27FC236}">
                <a16:creationId xmlns:a16="http://schemas.microsoft.com/office/drawing/2014/main" id="{99D2BB32-1C11-4B29-AF23-ED9F32D0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Mean primary-cost
net return per trade</a:t>
            </a:r>
          </a:p>
        </p:txBody>
      </p:sp>
      <p:sp>
        <p:nvSpPr>
          <p:cNvPr id="8" name="right-stat">
            <a:extLst xmlns:a="http://schemas.openxmlformats.org/drawingml/2006/main">
              <a:ext uri="{FF2B5EF4-FFF2-40B4-BE49-F238E27FC236}">
                <a16:creationId xmlns:a16="http://schemas.microsoft.com/office/drawing/2014/main" id="{2EAFD608-776D-46A1-95EA-79AF4E6F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49.1%</a:t>
            </a:r>
          </a:p>
        </p:txBody>
      </p:sp>
      <p:sp>
        <p:nvSpPr>
          <p:cNvPr id="9" name="right-stat-label">
            <a:extLst xmlns:a="http://schemas.openxmlformats.org/drawingml/2006/main">
              <a:ext uri="{FF2B5EF4-FFF2-40B4-BE49-F238E27FC236}">
                <a16:creationId xmlns:a16="http://schemas.microsoft.com/office/drawing/2014/main" id="{691BF8AE-236E-4677-8EAF-3CF0D5A2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Completed-trade
hit rate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d80f18e0545c5"/>
          <a:stretch xmlns:a="http://schemas.openxmlformats.org/drawingml/2006/main"/>
        </p:blipFill>
        <p:spPr>
          <a:xfrm xmlns:a="http://schemas.openxmlformats.org/drawingml/2006/main">
            <a:off x="385858" y="2378821"/>
            <a:ext cx="5534216" cy="27671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750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A36482E3-0836-42EE-A424-2E869BA9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C7B3E2F-B15F-4CE7-9E93-D02FFAE5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Uncertainty and falsification offered no rescue</a:t>
            </a:r>
          </a:p>
        </p:txBody>
      </p:sp>
      <p:sp>
        <p:nvSpPr>
          <p:cNvPr id="3" name="left-stat-card">
            <a:extLst xmlns:a="http://schemas.openxmlformats.org/drawingml/2006/main">
              <a:ext uri="{FF2B5EF4-FFF2-40B4-BE49-F238E27FC236}">
                <a16:creationId xmlns:a16="http://schemas.microsoft.com/office/drawing/2014/main" id="{0537132A-D0A9-4B26-9624-49D1E882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ight-stat-card">
            <a:extLst xmlns:a="http://schemas.openxmlformats.org/drawingml/2006/main">
              <a:ext uri="{FF2B5EF4-FFF2-40B4-BE49-F238E27FC236}">
                <a16:creationId xmlns:a16="http://schemas.microsoft.com/office/drawing/2014/main" id="{9AF5A6DC-5240-4747-8A2C-59E91119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87467A1C-2B62-4E3A-A37F-25E47B9B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714500"/>
            <a:ext cx="5539835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mean sat inside a very wide interval and below the p90 of random trade directions with the same timing, pair path, holding periods, and primary costs.</a:t>
            </a:r>
          </a:p>
        </p:txBody>
      </p:sp>
      <p:sp>
        <p:nvSpPr>
          <p:cNvPr id="6" name="left-stat">
            <a:extLst xmlns:a="http://schemas.openxmlformats.org/drawingml/2006/main">
              <a:ext uri="{FF2B5EF4-FFF2-40B4-BE49-F238E27FC236}">
                <a16:creationId xmlns:a16="http://schemas.microsoft.com/office/drawing/2014/main" id="{FE80A7F4-6D99-4C52-B848-EAE13056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[-121, +83]</a:t>
            </a:r>
          </a:p>
        </p:txBody>
      </p:sp>
      <p:sp>
        <p:nvSpPr>
          <p:cNvPr id="7" name="left-stat-label">
            <a:extLst xmlns:a="http://schemas.openxmlformats.org/drawingml/2006/main">
              <a:ext uri="{FF2B5EF4-FFF2-40B4-BE49-F238E27FC236}">
                <a16:creationId xmlns:a16="http://schemas.microsoft.com/office/drawing/2014/main" id="{E40BF187-37D5-4CDB-9030-4E2CB386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95% interval
bp per trade</a:t>
            </a:r>
          </a:p>
        </p:txBody>
      </p:sp>
      <p:sp>
        <p:nvSpPr>
          <p:cNvPr id="8" name="right-stat">
            <a:extLst xmlns:a="http://schemas.openxmlformats.org/drawingml/2006/main">
              <a:ext uri="{FF2B5EF4-FFF2-40B4-BE49-F238E27FC236}">
                <a16:creationId xmlns:a16="http://schemas.microsoft.com/office/drawing/2014/main" id="{D938F8F7-A9FF-49C0-ABE1-4CC871B4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t>+47.88 bp</a:t>
            </a:r>
          </a:p>
        </p:txBody>
      </p:sp>
      <p:sp>
        <p:nvSpPr>
          <p:cNvPr id="9" name="right-stat-label">
            <a:extLst xmlns:a="http://schemas.openxmlformats.org/drawingml/2006/main">
              <a:ext uri="{FF2B5EF4-FFF2-40B4-BE49-F238E27FC236}">
                <a16:creationId xmlns:a16="http://schemas.microsoft.com/office/drawing/2014/main" id="{197A8950-A2B2-4FCE-A738-88CF2DF9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Matched random-sign p90
Observed: -17.68 bp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7175d045a4f3a"/>
          <a:stretch xmlns:a="http://schemas.openxmlformats.org/drawingml/2006/main"/>
        </p:blipFill>
        <p:spPr>
          <a:xfrm xmlns:a="http://schemas.openxmlformats.org/drawingml/2006/main">
            <a:off x="385858" y="2444705"/>
            <a:ext cx="5534216" cy="26353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81272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537168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Representative trades show why zero-crossing is not enough</a:t>
            </a:r>
          </a:p>
        </p:txBody>
      </p:sp>
      <p:sp>
        <p:nvSpPr>
          <p:cNvPr id="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220C938-B9AD-4B79-90E3-107E303A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F760EC2-C6B5-4968-A4B1-EBAD286B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5537168" cy="423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tape includes both long- and short-spread trades across the return distribution.
Some z-scores crossed zero only after large adverse pair moves. A normalized z-score crossing does not guarantee that the tradable legs produced a positive return.
Worst shown: -1,254.7 bp
Best shown: +809.6 bp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8d41ff27945bf"/>
          <a:stretch xmlns:a="http://schemas.openxmlformats.org/drawingml/2006/main"/>
        </p:blipFill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E92BF88A-D985-4E89-9220-AED80DBB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18F3FD71-2B01-497E-B7A5-AD72E3A3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A256A665-F93B-46DB-A120-F2929BE3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B8FEAA9-7122-4602-AAFA-C856C71C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B999DAA-321B-4DEF-AC22-1F41A5B8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Six substantive failures force a structural STOP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B83D39E3-1D42-4CA4-A507-6C07CD20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 12 integrity checks passed and trade support was adequate. Positive-beta coverage, cost survival, hit rate, random-sign separation, yearly stability, and forward convergence all failed.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CE99FBCB-3F61-4E2C-9916-C8B37E00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2 / 8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8D7A7BD1-1D20-421E-BAC5-DFF695BB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TRAIN gates passed
Integrity and support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E572DBE1-8080-407B-A0FF-815818B8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6 / 8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FD56EAD1-B269-48E0-9F23-33330F29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TRAIN gates failed
Mechanism not admitted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9C6C64B0-28CA-4923-800E-94342CB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0ED31E12-360E-4FDB-B429-1A6368F4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Later partitions opened
No later evidence exists</a:t>
            </a:r>
          </a:p>
        </p:txBody>
      </p:sp>
    </p:spTree>
    <p:extLst>
      <p:ext uri="{BB962C8B-B14F-4D97-AF65-F5344CB8AC3E}">
        <p14:creationId xmlns:p14="http://schemas.microsoft.com/office/powerpoint/2010/main" val="150026174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panel was fixed before any outcomes were inspected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 12 primary pairs use the identical 2016-2020 TRAIN window, raw-price orientation, 20-session rule, thresholds, execution timing, costs, diagnostics, and eight gates.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5 near substitutes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IVV-SPY · IAU-GLD · SOXX-SMH
VEA-EFA · VWO-EEM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 related exposures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QQQ-XLK · IJR-IWM · KRE-XLF · IBB-XLV
USO-XLE · TLT-IEF · HYG-LQD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 inverse diagnostics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GLD-UUP · TLT-SPY
Semantics tested; no trades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9833E848-7434-4F2E-A17C-B17541CA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18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7B658F-9EDE-4B04-B790-BFC2AB1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fixed panel produced no full validation pass</a:t>
            </a:r>
          </a:p>
        </p:txBody>
      </p:sp>
      <p:sp>
        <p:nvSpPr>
          <p:cNvPr id="3" name="left-stat-card">
            <a:extLst xmlns:a="http://schemas.openxmlformats.org/drawingml/2006/main">
              <a:ext uri="{FF2B5EF4-FFF2-40B4-BE49-F238E27FC236}">
                <a16:creationId xmlns:a16="http://schemas.microsoft.com/office/drawing/2014/main" id="{CB5A1905-9B52-4859-9721-FAA37599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ight-stat-card">
            <a:extLst xmlns:a="http://schemas.openxmlformats.org/drawingml/2006/main">
              <a:ext uri="{FF2B5EF4-FFF2-40B4-BE49-F238E27FC236}">
                <a16:creationId xmlns:a16="http://schemas.microsoft.com/office/drawing/2014/main" id="{6D7A92E4-990F-443E-AA22-280485C8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56D2558C-A20F-4C70-893B-6EAB7EAA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714500"/>
            <a:ext cx="5539835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Eleven of twelve primary pairs had negative mean net trade returns. Confidence intervals and forward-convergence tests prevented the one positive point estimate from becoming a selected winner.</a:t>
            </a:r>
          </a:p>
        </p:txBody>
      </p:sp>
      <p:sp>
        <p:nvSpPr>
          <p:cNvPr id="6" name="left-stat">
            <a:extLst xmlns:a="http://schemas.openxmlformats.org/drawingml/2006/main">
              <a:ext uri="{FF2B5EF4-FFF2-40B4-BE49-F238E27FC236}">
                <a16:creationId xmlns:a16="http://schemas.microsoft.com/office/drawing/2014/main" id="{5C6C71CB-7475-4DF6-B7F0-0931DF04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 / 12</a:t>
            </a:r>
          </a:p>
        </p:txBody>
      </p:sp>
      <p:sp>
        <p:nvSpPr>
          <p:cNvPr id="7" name="left-stat-label">
            <a:extLst xmlns:a="http://schemas.openxmlformats.org/drawingml/2006/main">
              <a:ext uri="{FF2B5EF4-FFF2-40B4-BE49-F238E27FC236}">
                <a16:creationId xmlns:a16="http://schemas.microsoft.com/office/drawing/2014/main" id="{471C1151-75AF-40A2-A5A1-4F7713D2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Primary pairs passing
all eight gates</a:t>
            </a:r>
          </a:p>
        </p:txBody>
      </p:sp>
      <p:sp>
        <p:nvSpPr>
          <p:cNvPr id="8" name="right-stat">
            <a:extLst xmlns:a="http://schemas.openxmlformats.org/drawingml/2006/main">
              <a:ext uri="{FF2B5EF4-FFF2-40B4-BE49-F238E27FC236}">
                <a16:creationId xmlns:a16="http://schemas.microsoft.com/office/drawing/2014/main" id="{423A9D83-D670-4C26-B583-F1C469F9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1 / 12</a:t>
            </a:r>
          </a:p>
        </p:txBody>
      </p:sp>
      <p:sp>
        <p:nvSpPr>
          <p:cNvPr id="9" name="right-stat-label">
            <a:extLst xmlns:a="http://schemas.openxmlformats.org/drawingml/2006/main">
              <a:ext uri="{FF2B5EF4-FFF2-40B4-BE49-F238E27FC236}">
                <a16:creationId xmlns:a16="http://schemas.microsoft.com/office/drawing/2014/main" id="{F039A1C2-F7F7-4D0E-BDC1-2BD29C9D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Positive mean net return
USO-XLE only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a3de3ed27442d"/>
          <a:stretch xmlns:a="http://schemas.openxmlformats.org/drawingml/2006/main"/>
        </p:blipFill>
        <p:spPr>
          <a:xfrm xmlns:a="http://schemas.openxmlformats.org/drawingml/2006/main">
            <a:off x="385858" y="2576472"/>
            <a:ext cx="5534216" cy="23718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5C8B50-6D11-41E2-81BC-7768CA7E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58" y="2576472"/>
            <a:ext cx="5534216" cy="23718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36a1f1ce64ded"/>
          <a:stretch xmlns:a="http://schemas.openxmlformats.org/drawingml/2006/main"/>
        </p:blipFill>
        <p:spPr>
          <a:xfrm xmlns:a="http://schemas.openxmlformats.org/drawingml/2006/main">
            <a:off x="1350393" y="2576472"/>
            <a:ext cx="3605147" cy="23718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604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537168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Breadth did not rescue the 20-session template</a:t>
            </a:r>
          </a:p>
        </p:txBody>
      </p:sp>
      <p:sp>
        <p:nvSpPr>
          <p:cNvPr id="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220C938-B9AD-4B79-90E3-107E303A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F760EC2-C6B5-4968-A4B1-EBAD286B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5537168" cy="423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primary pair failed the positive-mean-with-positive-lower-bound gate.
Every primary pair also failed the forward-convergence requirement that the upper confidence bound remain below zero.
This matters: a spread can look statistically structured yet still offer no robust, cost-surviving directional forecast.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aed99ddc043b1"/>
          <a:stretch xmlns:a="http://schemas.openxmlformats.org/drawingml/2006/main"/>
        </p:blipFill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B8A64-ACC9-4498-AEAE-0060DC18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e5a0ac68d41bd"/>
          <a:stretch xmlns:a="http://schemas.openxmlformats.org/drawingml/2006/main"/>
        </p:blipFill>
        <p:spPr>
          <a:xfrm xmlns:a="http://schemas.openxmlformats.org/drawingml/2006/main">
            <a:off x="6381750" y="1704295"/>
            <a:ext cx="5314950" cy="3163661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E92BF88A-D985-4E89-9220-AED80DBB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18F3FD71-2B01-497E-B7A5-AD72E3A3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A256A665-F93B-46DB-A120-F2929BE3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B8FEAA9-7122-4602-AAFA-C856C71C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B999DAA-321B-4DEF-AC22-1F41A5B8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categories failed for different reasons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B83D39E3-1D42-4CA4-A507-6C07CD20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This is more informative than a single failed pair: tight substitutes had too little gross movement after costs; looser exposures offered more movement but unreliable convergence; inverse pairs changed the trade itself.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CE99FBCB-3F61-4E2C-9916-C8B37E00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0 / 5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8D7A7BD1-1D20-421E-BAC5-DFF695BB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980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Near substitutes with positive mean
Costs overwhelmed tiny convergence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E572DBE1-8080-407B-A0FF-815818B8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1 / 7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FD56EAD1-B269-48E0-9F23-33330F29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Related exposures with positive mean
USO-XLE still failed four gates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9C6C64B0-28CA-4923-800E-94342CB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No trades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0ED31E12-360E-4FDB-B429-1A6368F4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Inverse challengers had same-side semantics
and unstable beta signs</a:t>
            </a:r>
          </a:p>
        </p:txBody>
      </p:sp>
    </p:spTree>
    <p:extLst>
      <p:ext uri="{BB962C8B-B14F-4D97-AF65-F5344CB8AC3E}">
        <p14:creationId xmlns:p14="http://schemas.microsoft.com/office/powerpoint/2010/main" val="150026174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Panel B broadened the test across 15 ordinary industries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pairs were fixed before outcomes and deliberately avoid individual meme stocks. Every pair uses the same 2016-2020 TRAIN window, mechanics, costs, diagnostics, and eight gates.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9 sector pairs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Staples through materials
SPDR / Vanguard near-substitute exposures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 industry pairs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Defense · devices · retail
homebuilders · biotech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producer link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GDX-GLD
Gold miners versus physical gold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9833E848-7434-4F2E-A17C-B17541CA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7B658F-9EDE-4B04-B790-BFC2AB1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Panel B also produced no full validation pass</a:t>
            </a:r>
          </a:p>
        </p:txBody>
      </p:sp>
      <p:sp>
        <p:nvSpPr>
          <p:cNvPr id="3" name="left-stat-card">
            <a:extLst xmlns:a="http://schemas.openxmlformats.org/drawingml/2006/main">
              <a:ext uri="{FF2B5EF4-FFF2-40B4-BE49-F238E27FC236}">
                <a16:creationId xmlns:a16="http://schemas.microsoft.com/office/drawing/2014/main" id="{CB5A1905-9B52-4859-9721-FAA37599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ight-stat-card">
            <a:extLst xmlns:a="http://schemas.openxmlformats.org/drawingml/2006/main">
              <a:ext uri="{FF2B5EF4-FFF2-40B4-BE49-F238E27FC236}">
                <a16:creationId xmlns:a16="http://schemas.microsoft.com/office/drawing/2014/main" id="{6D7A92E4-990F-443E-AA22-280485C8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56D2558C-A20F-4C70-893B-6EAB7EAA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714500"/>
            <a:ext cx="5539835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 15 pairs generated two-sided trades. Yet every pair had a negative primary-cost mean net trade return, and no moving-block uncertainty interval cleared zero.</a:t>
            </a:r>
          </a:p>
        </p:txBody>
      </p:sp>
      <p:sp>
        <p:nvSpPr>
          <p:cNvPr id="6" name="left-stat">
            <a:extLst xmlns:a="http://schemas.openxmlformats.org/drawingml/2006/main">
              <a:ext uri="{FF2B5EF4-FFF2-40B4-BE49-F238E27FC236}">
                <a16:creationId xmlns:a16="http://schemas.microsoft.com/office/drawing/2014/main" id="{5C6C71CB-7475-4DF6-B7F0-0931DF04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 / 15</a:t>
            </a:r>
          </a:p>
        </p:txBody>
      </p:sp>
      <p:sp>
        <p:nvSpPr>
          <p:cNvPr id="7" name="left-stat-label">
            <a:extLst xmlns:a="http://schemas.openxmlformats.org/drawingml/2006/main">
              <a:ext uri="{FF2B5EF4-FFF2-40B4-BE49-F238E27FC236}">
                <a16:creationId xmlns:a16="http://schemas.microsoft.com/office/drawing/2014/main" id="{471C1151-75AF-40A2-A5A1-4F7713D2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Primary pairs passing
all eight gates</a:t>
            </a:r>
          </a:p>
        </p:txBody>
      </p:sp>
      <p:sp>
        <p:nvSpPr>
          <p:cNvPr id="8" name="right-stat">
            <a:extLst xmlns:a="http://schemas.openxmlformats.org/drawingml/2006/main">
              <a:ext uri="{FF2B5EF4-FFF2-40B4-BE49-F238E27FC236}">
                <a16:creationId xmlns:a16="http://schemas.microsoft.com/office/drawing/2014/main" id="{423A9D83-D670-4C26-B583-F1C469F9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0 / 15</a:t>
            </a:r>
          </a:p>
        </p:txBody>
      </p:sp>
      <p:sp>
        <p:nvSpPr>
          <p:cNvPr id="9" name="right-stat-label">
            <a:extLst xmlns:a="http://schemas.openxmlformats.org/drawingml/2006/main">
              <a:ext uri="{FF2B5EF4-FFF2-40B4-BE49-F238E27FC236}">
                <a16:creationId xmlns:a16="http://schemas.microsoft.com/office/drawing/2014/main" id="{F039A1C2-F7F7-4D0E-BDC1-2BD29C9D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Positive mean net return
Primary costs included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7fb6debf94337"/>
          <a:stretch xmlns:a="http://schemas.openxmlformats.org/drawingml/2006/main"/>
        </p:blipFill>
        <p:spPr>
          <a:xfrm xmlns:a="http://schemas.openxmlformats.org/drawingml/2006/main">
            <a:off x="385858" y="2576472"/>
            <a:ext cx="5534216" cy="23718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5C8B50-6D11-41E2-81BC-7768CA7E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58" y="2576472"/>
            <a:ext cx="5534216" cy="23718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26d70f7d14a3c"/>
          <a:stretch xmlns:a="http://schemas.openxmlformats.org/drawingml/2006/main"/>
        </p:blipFill>
        <p:spPr>
          <a:xfrm xmlns:a="http://schemas.openxmlformats.org/drawingml/2006/main">
            <a:off x="1350393" y="2576472"/>
            <a:ext cx="3605147" cy="2371807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F1971E-0797-4B2A-9D4E-EA0B3D57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58" y="2576472"/>
            <a:ext cx="5534216" cy="23718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dd644c4354c8f"/>
          <a:stretch xmlns:a="http://schemas.openxmlformats.org/drawingml/2006/main"/>
        </p:blipFill>
        <p:spPr>
          <a:xfrm xmlns:a="http://schemas.openxmlformats.org/drawingml/2006/main">
            <a:off x="1350393" y="2576472"/>
            <a:ext cx="3605147" cy="23718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604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537168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Failure concentrated in the economic and mechanism gates</a:t>
            </a:r>
          </a:p>
        </p:txBody>
      </p:sp>
      <p:sp>
        <p:nvSpPr>
          <p:cNvPr id="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220C938-B9AD-4B79-90E3-107E303A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F760EC2-C6B5-4968-A4B1-EBAD286B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5537168" cy="423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 15 passed G1 and G3; 14 of 15 passed G2. Data validity and two-sided trade support were not the problem.
No pair passed G4, G5, G6, or G8. Only three passed the 3-of-5-year G7 stability check.
The template generated activity—not a cost-surviving or mechanism-confirmed edge.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ded3584474426"/>
          <a:stretch xmlns:a="http://schemas.openxmlformats.org/drawingml/2006/main"/>
        </p:blipFill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B8A64-ACC9-4498-AEAE-0060DC18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0d513365844d1"/>
          <a:stretch xmlns:a="http://schemas.openxmlformats.org/drawingml/2006/main"/>
        </p:blipFill>
        <p:spPr>
          <a:xfrm xmlns:a="http://schemas.openxmlformats.org/drawingml/2006/main">
            <a:off x="6381750" y="1704295"/>
            <a:ext cx="5314950" cy="3163661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09D2C-E63E-4C2B-9C87-FE274541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e34c597044fa6"/>
          <a:stretch xmlns:a="http://schemas.openxmlformats.org/drawingml/2006/main"/>
        </p:blipFill>
        <p:spPr>
          <a:xfrm xmlns:a="http://schemas.openxmlformats.org/drawingml/2006/main">
            <a:off x="6381750" y="1704295"/>
            <a:ext cx="5314950" cy="3163661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E92BF88A-D985-4E89-9220-AED80DBB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18F3FD71-2B01-497E-B7A5-AD72E3A3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A256A665-F93B-46DB-A120-F2929BE3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B8FEAA9-7122-4602-AAFA-C856C71C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B999DAA-321B-4DEF-AC22-1F41A5B8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Across 27 primary pairs, the exact template never cleared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B83D39E3-1D42-4CA4-A507-6C07CD20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Panels A and B tested near substitutes, related exposures, sectors, industries, and a producer link with identical mechanics, costs, and gates. This is breadth falsification—not parameter search.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CE99FBCB-3F61-4E2C-9916-C8B37E00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0 / 27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8D7A7BD1-1D20-421E-BAC5-DFF695BB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Full eight-gate passes
No later partition opened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E572DBE1-8080-407B-A0FF-815818B8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1 / 27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FD56EAD1-B269-48E0-9F23-33330F29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Positive mean net return
USO-XLE; still failed four gates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9C6C64B0-28CA-4923-800E-94342CB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 / 27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0ED31E12-360E-4FDB-B429-1A6368F4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Robust G8 mechanism passes
No upper interval below zero</a:t>
            </a:r>
          </a:p>
        </p:txBody>
      </p:sp>
    </p:spTree>
    <p:extLst>
      <p:ext uri="{BB962C8B-B14F-4D97-AF65-F5344CB8AC3E}">
        <p14:creationId xmlns:p14="http://schemas.microsoft.com/office/powerpoint/2010/main" val="150026174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headline">
            <a:extLst xmlns:a="http://schemas.openxmlformats.org/drawingml/2006/main">
              <a:ext uri="{FF2B5EF4-FFF2-40B4-BE49-F238E27FC236}">
                <a16:creationId xmlns:a16="http://schemas.microsoft.com/office/drawing/2014/main" id="{DA6318FA-2F99-4DF9-A744-06350F91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2870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2018:</a:t>
            </a:r>
          </a:p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mechanism works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169DF7F-9A3A-4AE2-8055-4ED35072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8001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exact frozen USO-GLD rule produced a positive, cost-aware year. This is a retrospective case study—not a reversal of the five-year STOP.</a:t>
            </a:r>
          </a:p>
        </p:txBody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D2399950-CA2D-41D2-BB2E-E681018A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POSITIVE CONTROL | 2018 WORKING REGIME</a:t>
            </a:r>
          </a:p>
        </p:txBody>
      </p:sp>
    </p:spTree>
    <p:extLst>
      <p:ext uri="{BB962C8B-B14F-4D97-AF65-F5344CB8AC3E}">
        <p14:creationId xmlns:p14="http://schemas.microsoft.com/office/powerpoint/2010/main" val="209289339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231B1CDB-9946-498B-901E-0A0C9C77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E1FC061-EE2C-48CF-9799-D8537102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2018 produced a coherent, two-sided working example</a:t>
            </a:r>
          </a:p>
        </p:txBody>
      </p:sp>
      <p:sp>
        <p:nvSpPr>
          <p:cNvPr id="3" name="left-stat-card">
            <a:extLst xmlns:a="http://schemas.openxmlformats.org/drawingml/2006/main">
              <a:ext uri="{FF2B5EF4-FFF2-40B4-BE49-F238E27FC236}">
                <a16:creationId xmlns:a16="http://schemas.microsoft.com/office/drawing/2014/main" id="{EF0AF18E-87A6-431F-8D4F-59EC8945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ight-stat-card">
            <a:extLst xmlns:a="http://schemas.openxmlformats.org/drawingml/2006/main">
              <a:ext uri="{FF2B5EF4-FFF2-40B4-BE49-F238E27FC236}">
                <a16:creationId xmlns:a16="http://schemas.microsoft.com/office/drawing/2014/main" id="{9C01B021-FDE1-4776-B2EE-ACB76D12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A2F82FC1-3249-4254-ABAA-A2D0E0F9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714500"/>
            <a:ext cx="5539835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year finished positive after next-open execution and adaptive-hedge turnover costs. Both long- and short-spread trades contributed.</a:t>
            </a:r>
          </a:p>
        </p:txBody>
      </p:sp>
      <p:sp>
        <p:nvSpPr>
          <p:cNvPr id="6" name="left-stat">
            <a:extLst xmlns:a="http://schemas.openxmlformats.org/drawingml/2006/main">
              <a:ext uri="{FF2B5EF4-FFF2-40B4-BE49-F238E27FC236}">
                <a16:creationId xmlns:a16="http://schemas.microsoft.com/office/drawing/2014/main" id="{06B274F5-6F7E-4432-B0F1-4874DA3C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+4.82%</a:t>
            </a:r>
          </a:p>
        </p:txBody>
      </p:sp>
      <p:sp>
        <p:nvSpPr>
          <p:cNvPr id="7" name="left-stat-label">
            <a:extLst xmlns:a="http://schemas.openxmlformats.org/drawingml/2006/main">
              <a:ext uri="{FF2B5EF4-FFF2-40B4-BE49-F238E27FC236}">
                <a16:creationId xmlns:a16="http://schemas.microsoft.com/office/drawing/2014/main" id="{99D2BB32-1C11-4B29-AF23-ED9F32D0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Primary-cost</a:t>
            </a:r>
          </a:p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calendar return</a:t>
            </a:r>
          </a:p>
        </p:txBody>
      </p:sp>
      <p:sp>
        <p:nvSpPr>
          <p:cNvPr id="8" name="right-stat">
            <a:extLst xmlns:a="http://schemas.openxmlformats.org/drawingml/2006/main">
              <a:ext uri="{FF2B5EF4-FFF2-40B4-BE49-F238E27FC236}">
                <a16:creationId xmlns:a16="http://schemas.microsoft.com/office/drawing/2014/main" id="{2EAFD608-776D-46A1-95EA-79AF4E6F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69.2%</a:t>
            </a:r>
          </a:p>
        </p:txBody>
      </p:sp>
      <p:sp>
        <p:nvSpPr>
          <p:cNvPr id="9" name="right-stat-label">
            <a:extLst xmlns:a="http://schemas.openxmlformats.org/drawingml/2006/main">
              <a:ext uri="{FF2B5EF4-FFF2-40B4-BE49-F238E27FC236}">
                <a16:creationId xmlns:a16="http://schemas.microsoft.com/office/drawing/2014/main" id="{691BF8AE-236E-4677-8EAF-3CF0D5A2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Trade hit rate</a:t>
            </a:r>
          </a:p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 wins / 13 trades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51f777206421c"/>
          <a:stretch xmlns:a="http://schemas.openxmlformats.org/drawingml/2006/main"/>
        </p:blipFill>
        <p:spPr>
          <a:xfrm xmlns:a="http://schemas.openxmlformats.org/drawingml/2006/main">
            <a:off x="781159" y="2378774"/>
            <a:ext cx="4743613" cy="27671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750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27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signal, spread, and equity path line up in one view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f53a5f694413a"/>
          <a:stretch xmlns:a="http://schemas.openxmlformats.org/drawingml/2006/main"/>
        </p:blipFill>
        <p:spPr>
          <a:xfrm xmlns:a="http://schemas.openxmlformats.org/drawingml/2006/main">
            <a:off x="1891393" y="1162050"/>
            <a:ext cx="8409214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28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2018 trade is visible—wins, losses, direction, and duration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e7b107bec4fae"/>
          <a:stretch xmlns:a="http://schemas.openxmlformats.org/drawingml/2006/main"/>
        </p:blipFill>
        <p:spPr>
          <a:xfrm xmlns:a="http://schemas.openxmlformats.org/drawingml/2006/main">
            <a:off x="1891393" y="1162050"/>
            <a:ext cx="8409214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Costs mattered, yet both directions still produced winners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d605e315f4efc"/>
          <a:stretch xmlns:a="http://schemas.openxmlformats.org/drawingml/2006/main"/>
        </p:blipFill>
        <p:spPr>
          <a:xfrm xmlns:a="http://schemas.openxmlformats.org/drawingml/2006/main">
            <a:off x="1891393" y="1162050"/>
            <a:ext cx="8409214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headline">
            <a:extLst xmlns:a="http://schemas.openxmlformats.org/drawingml/2006/main">
              <a:ext uri="{FF2B5EF4-FFF2-40B4-BE49-F238E27FC236}">
                <a16:creationId xmlns:a16="http://schemas.microsoft.com/office/drawing/2014/main" id="{DA6318FA-2F99-4DF9-A744-06350F91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2870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2006–2012:</a:t>
            </a:r>
          </a:p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published regime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169DF7F-9A3A-4AE2-8055-4ED35072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8001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Yahoo adjusted daily reference bars reproduce the source-era behavior. We show the book-style account and the stricter Gen5 translation separately.</a:t>
            </a:r>
          </a:p>
        </p:txBody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D2399950-CA2D-41D2-BB2E-E681018A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SOURCE REPRODUCTION | CHAN EXAMPLE 3.2</a:t>
            </a:r>
          </a:p>
        </p:txBody>
      </p:sp>
    </p:spTree>
    <p:extLst>
      <p:ext uri="{BB962C8B-B14F-4D97-AF65-F5344CB8AC3E}">
        <p14:creationId xmlns:p14="http://schemas.microsoft.com/office/powerpoint/2010/main" val="2092893396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source-period edge survives Gen5 timing and costs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58a4d80c1491c"/>
          <a:stretch xmlns:a="http://schemas.openxmlformats.org/drawingml/2006/main"/>
        </p:blipFill>
        <p:spPr>
          <a:xfrm xmlns:a="http://schemas.openxmlformats.org/drawingml/2006/main">
            <a:off x="1891393" y="1162050"/>
            <a:ext cx="8409214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231B1CDB-9946-498B-901E-0A0C9C77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E1FC061-EE2C-48CF-9799-D8537102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reproduction lands near Chan’s published headline</a:t>
            </a:r>
          </a:p>
        </p:txBody>
      </p:sp>
      <p:sp>
        <p:nvSpPr>
          <p:cNvPr id="3" name="left-stat-card">
            <a:extLst xmlns:a="http://schemas.openxmlformats.org/drawingml/2006/main">
              <a:ext uri="{FF2B5EF4-FFF2-40B4-BE49-F238E27FC236}">
                <a16:creationId xmlns:a16="http://schemas.microsoft.com/office/drawing/2014/main" id="{EF0AF18E-87A6-431F-8D4F-59EC8945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ight-stat-card">
            <a:extLst xmlns:a="http://schemas.openxmlformats.org/drawingml/2006/main">
              <a:ext uri="{FF2B5EF4-FFF2-40B4-BE49-F238E27FC236}">
                <a16:creationId xmlns:a16="http://schemas.microsoft.com/office/drawing/2014/main" id="{9C01B021-FDE1-4776-B2EE-ACB76D12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A2F82FC1-3249-4254-ABAA-A2D0E0F9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714500"/>
            <a:ext cx="5539835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Current Yahoo-adjusted data does not match the original data vintage exactly. The difference is retained—not tuned away.</a:t>
            </a:r>
          </a:p>
        </p:txBody>
      </p:sp>
      <p:sp>
        <p:nvSpPr>
          <p:cNvPr id="6" name="left-stat">
            <a:extLst xmlns:a="http://schemas.openxmlformats.org/drawingml/2006/main">
              <a:ext uri="{FF2B5EF4-FFF2-40B4-BE49-F238E27FC236}">
                <a16:creationId xmlns:a16="http://schemas.microsoft.com/office/drawing/2014/main" id="{06B274F5-6F7E-4432-B0F1-4874DA3C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15.07%</a:t>
            </a:r>
          </a:p>
        </p:txBody>
      </p:sp>
      <p:sp>
        <p:nvSpPr>
          <p:cNvPr id="7" name="left-stat-label">
            <a:extLst xmlns:a="http://schemas.openxmlformats.org/drawingml/2006/main">
              <a:ext uri="{FF2B5EF4-FFF2-40B4-BE49-F238E27FC236}">
                <a16:creationId xmlns:a16="http://schemas.microsoft.com/office/drawing/2014/main" id="{99D2BB32-1C11-4B29-AF23-ED9F32D0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Book-style APR</a:t>
            </a:r>
          </a:p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Sharpe 0.845</a:t>
            </a:r>
          </a:p>
        </p:txBody>
      </p:sp>
      <p:sp>
        <p:nvSpPr>
          <p:cNvPr id="8" name="right-stat">
            <a:extLst xmlns:a="http://schemas.openxmlformats.org/drawingml/2006/main">
              <a:ext uri="{FF2B5EF4-FFF2-40B4-BE49-F238E27FC236}">
                <a16:creationId xmlns:a16="http://schemas.microsoft.com/office/drawing/2014/main" id="{2EAFD608-776D-46A1-95EA-79AF4E6F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12.93%</a:t>
            </a:r>
          </a:p>
        </p:txBody>
      </p:sp>
      <p:sp>
        <p:nvSpPr>
          <p:cNvPr id="9" name="right-stat-label">
            <a:extLst xmlns:a="http://schemas.openxmlformats.org/drawingml/2006/main">
              <a:ext uri="{FF2B5EF4-FFF2-40B4-BE49-F238E27FC236}">
                <a16:creationId xmlns:a16="http://schemas.microsoft.com/office/drawing/2014/main" id="{691BF8AE-236E-4677-8EAF-3CF0D5A2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Gen5 APR</a:t>
            </a:r>
          </a:p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Sharpe 0.933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2b16c2766497c"/>
          <a:stretch xmlns:a="http://schemas.openxmlformats.org/drawingml/2006/main"/>
        </p:blipFill>
        <p:spPr>
          <a:xfrm xmlns:a="http://schemas.openxmlformats.org/drawingml/2006/main">
            <a:off x="781159" y="2378774"/>
            <a:ext cx="4743613" cy="27671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7502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headline">
            <a:extLst xmlns:a="http://schemas.openxmlformats.org/drawingml/2006/main">
              <a:ext uri="{FF2B5EF4-FFF2-40B4-BE49-F238E27FC236}">
                <a16:creationId xmlns:a16="http://schemas.microsoft.com/office/drawing/2014/main" id="{E9F43BB9-4202-4A42-9916-7A066783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2870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mechanism can work.</a:t>
            </a:r>
          </a:p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It did not persist broadly.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6F90063-BA30-438B-9FD3-13AA2271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8001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Keep the 2018 and 2006–2012 results as positive controls. Keep the five-year and 27-pair STOPs intact, and move on without rescuing or retuning LIT-MR-02.1.</a:t>
            </a:r>
          </a:p>
        </p:txBody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5129715-75DE-4D50-B44D-3AFE3EBA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DECISION</a:t>
            </a:r>
          </a:p>
        </p:txBody>
      </p:sp>
    </p:spTree>
    <p:extLst>
      <p:ext uri="{BB962C8B-B14F-4D97-AF65-F5344CB8AC3E}">
        <p14:creationId xmlns:p14="http://schemas.microsoft.com/office/powerpoint/2010/main" val="1664240194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headline">
            <a:extLst xmlns:a="http://schemas.openxmlformats.org/drawingml/2006/main">
              <a:ext uri="{FF2B5EF4-FFF2-40B4-BE49-F238E27FC236}">
                <a16:creationId xmlns:a16="http://schemas.microsoft.com/office/drawing/2014/main" id="{DA6318FA-2F99-4DF9-A744-06350F91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2870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Relationship Atlas 01:</a:t>
            </a:r>
          </a:p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hypotheses, not fishing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169DF7F-9A3A-4AE2-8055-4ED35072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8001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finite generator crosses instrument topology with economic mechanism, then reports every 2016–2020 TRAIN result in frozen order.</a:t>
            </a:r>
          </a:p>
        </p:txBody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D2399950-CA2D-41D2-BB2E-E681018A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LIT-MR-02.1 INSTANCE BATCH | 29 JUL 2026</a:t>
            </a:r>
          </a:p>
        </p:txBody>
      </p:sp>
    </p:spTree>
    <p:extLst>
      <p:ext uri="{BB962C8B-B14F-4D97-AF65-F5344CB8AC3E}">
        <p14:creationId xmlns:p14="http://schemas.microsoft.com/office/powerpoint/2010/main" val="2092893396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35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atlas generates relationships before it sees returns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Each hypothesis receives an instrument topology, an economic mechanism, an orientation, and a rationale. Five candidates are frozen in each cell; repeated anchors remain visible rather than silently pooled.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5 cells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ETF substitutes · related ETFs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ETF–component · peers · asset proxies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25 pairs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Five predeclared candidates per cell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 outcomes retained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rule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Unchanged 20-session adaptive spread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Same costs and eight TRAIN gates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categories reveal breadth, not a winner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f0d7b425c4d1e"/>
          <a:stretch xmlns:a="http://schemas.openxmlformats.org/drawingml/2006/main"/>
        </p:blipFill>
        <p:spPr>
          <a:xfrm xmlns:a="http://schemas.openxmlformats.org/drawingml/2006/main">
            <a:off x="1891393" y="1162050"/>
            <a:ext cx="8409214" cy="4905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A68C6-EEAB-495D-AF3B-AF582E9F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393" y="1162050"/>
            <a:ext cx="8409214" cy="490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21b97373b4ac7"/>
          <a:stretch xmlns:a="http://schemas.openxmlformats.org/drawingml/2006/main"/>
        </p:blipFill>
        <p:spPr>
          <a:xfrm xmlns:a="http://schemas.openxmlformats.org/drawingml/2006/main">
            <a:off x="1891393" y="1278845"/>
            <a:ext cx="8409214" cy="46717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9833E848-7434-4F2E-A17C-B17541CA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37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7B658F-9EDE-4B04-B790-BFC2AB1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positive mean did not become a selected pair</a:t>
            </a:r>
          </a:p>
        </p:txBody>
      </p:sp>
      <p:sp>
        <p:nvSpPr>
          <p:cNvPr id="3" name="left-stat-card">
            <a:extLst xmlns:a="http://schemas.openxmlformats.org/drawingml/2006/main">
              <a:ext uri="{FF2B5EF4-FFF2-40B4-BE49-F238E27FC236}">
                <a16:creationId xmlns:a16="http://schemas.microsoft.com/office/drawing/2014/main" id="{CB5A1905-9B52-4859-9721-FAA37599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ight-stat-card">
            <a:extLst xmlns:a="http://schemas.openxmlformats.org/drawingml/2006/main">
              <a:ext uri="{FF2B5EF4-FFF2-40B4-BE49-F238E27FC236}">
                <a16:creationId xmlns:a16="http://schemas.microsoft.com/office/drawing/2014/main" id="{6D7A92E4-990F-443E-AA22-280485C8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56D2558C-A20F-4C70-893B-6EAB7EAA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714500"/>
            <a:ext cx="5539835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SIL–SLV produced a positive TRAIN mean, but its 95% moving-block interval crossed zero and the forward-convergence upper bound remained barely positive.</a:t>
            </a:r>
          </a:p>
        </p:txBody>
      </p:sp>
      <p:sp>
        <p:nvSpPr>
          <p:cNvPr id="6" name="left-stat">
            <a:extLst xmlns:a="http://schemas.openxmlformats.org/drawingml/2006/main">
              <a:ext uri="{FF2B5EF4-FFF2-40B4-BE49-F238E27FC236}">
                <a16:creationId xmlns:a16="http://schemas.microsoft.com/office/drawing/2014/main" id="{5C6C71CB-7475-4DF6-B7F0-0931DF04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 / 25</a:t>
            </a:r>
          </a:p>
        </p:txBody>
      </p:sp>
      <p:sp>
        <p:nvSpPr>
          <p:cNvPr id="7" name="left-stat-label">
            <a:extLst xmlns:a="http://schemas.openxmlformats.org/drawingml/2006/main">
              <a:ext uri="{FF2B5EF4-FFF2-40B4-BE49-F238E27FC236}">
                <a16:creationId xmlns:a16="http://schemas.microsoft.com/office/drawing/2014/main" id="{471C1151-75AF-40A2-A5A1-4F7713D2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Pairs passing</a:t>
            </a:r>
          </a:p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 eight TRAIN gates</a:t>
            </a:r>
          </a:p>
        </p:txBody>
      </p:sp>
      <p:sp>
        <p:nvSpPr>
          <p:cNvPr id="8" name="right-stat">
            <a:extLst xmlns:a="http://schemas.openxmlformats.org/drawingml/2006/main">
              <a:ext uri="{FF2B5EF4-FFF2-40B4-BE49-F238E27FC236}">
                <a16:creationId xmlns:a16="http://schemas.microsoft.com/office/drawing/2014/main" id="{423A9D83-D670-4C26-B583-F1C469F9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1 / 25</a:t>
            </a:r>
          </a:p>
        </p:txBody>
      </p:sp>
      <p:sp>
        <p:nvSpPr>
          <p:cNvPr id="9" name="right-stat-label">
            <a:extLst xmlns:a="http://schemas.openxmlformats.org/drawingml/2006/main">
              <a:ext uri="{FF2B5EF4-FFF2-40B4-BE49-F238E27FC236}">
                <a16:creationId xmlns:a16="http://schemas.microsoft.com/office/drawing/2014/main" id="{F039A1C2-F7F7-4D0E-BDC1-2BD29C9D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Positive mean net return</a:t>
            </a:r>
          </a:p>
          <a:p xmlns:a="http://schemas.openxmlformats.org/drawingml/2006/main">
            <a:pPr algn="l"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SIL–SLV only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6f3415ede4ac9"/>
          <a:stretch xmlns:a="http://schemas.openxmlformats.org/drawingml/2006/main"/>
        </p:blipFill>
        <p:spPr>
          <a:xfrm xmlns:a="http://schemas.openxmlformats.org/drawingml/2006/main">
            <a:off x="385858" y="2576472"/>
            <a:ext cx="5534216" cy="23718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5C8B50-6D11-41E2-81BC-7768CA7E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58" y="2576472"/>
            <a:ext cx="5534216" cy="23718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5c8f8a8cf4504"/>
          <a:stretch xmlns:a="http://schemas.openxmlformats.org/drawingml/2006/main"/>
        </p:blipFill>
        <p:spPr>
          <a:xfrm xmlns:a="http://schemas.openxmlformats.org/drawingml/2006/main">
            <a:off x="1350393" y="2576472"/>
            <a:ext cx="3605147" cy="2371807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F1971E-0797-4B2A-9D4E-EA0B3D57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58" y="2576472"/>
            <a:ext cx="5534216" cy="23718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6510ff1f4416f"/>
          <a:stretch xmlns:a="http://schemas.openxmlformats.org/drawingml/2006/main"/>
        </p:blipFill>
        <p:spPr>
          <a:xfrm xmlns:a="http://schemas.openxmlformats.org/drawingml/2006/main">
            <a:off x="1350393" y="2576472"/>
            <a:ext cx="3605147" cy="2371807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57D367-3D9B-468C-8B37-92E7AED7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58" y="2576472"/>
            <a:ext cx="5534216" cy="23718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79cb2e5594c8f"/>
          <a:stretch xmlns:a="http://schemas.openxmlformats.org/drawingml/2006/main"/>
        </p:blipFill>
        <p:spPr>
          <a:xfrm xmlns:a="http://schemas.openxmlformats.org/drawingml/2006/main">
            <a:off x="1350393" y="2576472"/>
            <a:ext cx="3605147" cy="23718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6046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38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537168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Validity and activity were common; robust economics were not</a:t>
            </a:r>
          </a:p>
        </p:txBody>
      </p:sp>
      <p:sp>
        <p:nvSpPr>
          <p:cNvPr id="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220C938-B9AD-4B79-90E3-107E303A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F760EC2-C6B5-4968-A4B1-EBAD286B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5537168" cy="423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 25 pairs passed integrity and two-sided trade support. Most retained positive-beta semantics.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Only one had a positive net mean; none cleared its uncertainty interval. Three had negative forward-correlation point estimates, but none had a robust upper bound below zero.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Because no pair cleared TRAIN, DEVELOPMENT was never opened.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e589070cce4cf0"/>
          <a:stretch xmlns:a="http://schemas.openxmlformats.org/drawingml/2006/main"/>
        </p:blipFill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B8A64-ACC9-4498-AEAE-0060DC18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8deee89174e90"/>
          <a:stretch xmlns:a="http://schemas.openxmlformats.org/drawingml/2006/main"/>
        </p:blipFill>
        <p:spPr>
          <a:xfrm xmlns:a="http://schemas.openxmlformats.org/drawingml/2006/main">
            <a:off x="6381750" y="1704295"/>
            <a:ext cx="5314950" cy="3163661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09D2C-E63E-4C2B-9C87-FE274541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99f43d31046ca"/>
          <a:stretch xmlns:a="http://schemas.openxmlformats.org/drawingml/2006/main"/>
        </p:blipFill>
        <p:spPr>
          <a:xfrm xmlns:a="http://schemas.openxmlformats.org/drawingml/2006/main">
            <a:off x="6381750" y="1704295"/>
            <a:ext cx="5314950" cy="3163661"/>
          </a:xfrm>
          <a:prstGeom xmlns:a="http://schemas.openxmlformats.org/drawingml/2006/main" prst="round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ED5F4-E309-4080-8AA8-7707B731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01f54a9f64a86"/>
          <a:stretch xmlns:a="http://schemas.openxmlformats.org/drawingml/2006/main"/>
        </p:blipFill>
        <p:spPr>
          <a:xfrm xmlns:a="http://schemas.openxmlformats.org/drawingml/2006/main">
            <a:off x="6381750" y="1704295"/>
            <a:ext cx="5314950" cy="3163661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headline">
            <a:extLst xmlns:a="http://schemas.openxmlformats.org/drawingml/2006/main">
              <a:ext uri="{FF2B5EF4-FFF2-40B4-BE49-F238E27FC236}">
                <a16:creationId xmlns:a16="http://schemas.microsoft.com/office/drawing/2014/main" id="{E9F43BB9-4202-4A42-9916-7A066783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2870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atlas worked.</a:t>
            </a:r>
          </a:p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pair rule still did not.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6F90063-BA30-438B-9FD3-13AA2271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8001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 now have a reusable, category-labeled generator and a stronger falsification result: 0 of 25 new instances cleared TRAIN, so no OOS performance claim was made.</a:t>
            </a:r>
          </a:p>
        </p:txBody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5129715-75DE-4D50-B44D-3AFE3EBA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RELATIONSHIP ATLAS 01 | STOP AT TRAIN</a:t>
            </a:r>
          </a:p>
        </p:txBody>
      </p:sp>
    </p:spTree>
    <p:extLst>
      <p:ext uri="{BB962C8B-B14F-4D97-AF65-F5344CB8AC3E}">
        <p14:creationId xmlns:p14="http://schemas.microsoft.com/office/powerpoint/2010/main" val="1664240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2026-07-29T11:46:11.5990000Z</dcterms:created>
  <dcterms:modified xsi:type="dcterms:W3CDTF">2026-07-29T11:46:11.5990000Z</dcterms:modified>
</coreProperties>
</file>