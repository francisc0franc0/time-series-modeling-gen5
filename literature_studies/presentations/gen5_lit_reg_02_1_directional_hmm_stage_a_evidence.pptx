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ae1755941c45bf" /><Relationship Type="http://schemas.openxmlformats.org/officeDocument/2006/relationships/extended-properties" Target="/docProps/app.xml" Id="R2146e1398cd04fd2" /><Relationship Type="http://schemas.openxmlformats.org/officeDocument/2006/relationships/officeDocument" Target="/ppt/presentation.xml" Id="Rff02eca6147046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ab937f82734315"/>
  </p:sldMasterIdLst>
  <p:notesMasterIdLst>
    <p:notesMasterId xmlns:r="http://schemas.openxmlformats.org/officeDocument/2006/relationships" r:id="R1d7d20cee4a247e0"/>
  </p:notesMasterIdLst>
  <p:sldIdLst>
    <p:sldId xmlns:r="http://schemas.openxmlformats.org/officeDocument/2006/relationships" id="256" r:id="Re242b0ab285b476c"/>
    <p:sldId xmlns:r="http://schemas.openxmlformats.org/officeDocument/2006/relationships" id="257" r:id="Ra23502cb0720453c"/>
    <p:sldId xmlns:r="http://schemas.openxmlformats.org/officeDocument/2006/relationships" id="258" r:id="Raaf6354653ce44e2"/>
    <p:sldId xmlns:r="http://schemas.openxmlformats.org/officeDocument/2006/relationships" id="259" r:id="R74cabe1376514cd2"/>
    <p:sldId xmlns:r="http://schemas.openxmlformats.org/officeDocument/2006/relationships" id="260" r:id="Rf265404491c34af1"/>
    <p:sldId xmlns:r="http://schemas.openxmlformats.org/officeDocument/2006/relationships" id="261" r:id="R1d60e8345fff4335"/>
    <p:sldId xmlns:r="http://schemas.openxmlformats.org/officeDocument/2006/relationships" id="262" r:id="R6078027970d84846"/>
    <p:sldId xmlns:r="http://schemas.openxmlformats.org/officeDocument/2006/relationships" id="263" r:id="Rf74765b0707e4044"/>
    <p:sldId xmlns:r="http://schemas.openxmlformats.org/officeDocument/2006/relationships" id="264" r:id="R9ed43b3019d14a5b"/>
    <p:sldId xmlns:r="http://schemas.openxmlformats.org/officeDocument/2006/relationships" id="265" r:id="Ra51d9e241ced4861"/>
    <p:sldId xmlns:r="http://schemas.openxmlformats.org/officeDocument/2006/relationships" id="266" r:id="R9a4a037e6f95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cfc880c70461f" /><Relationship Type="http://schemas.openxmlformats.org/officeDocument/2006/relationships/slideMaster" Target="/ppt/slideMasters/slideMaster1.xml" Id="R14ab937f82734315" /><Relationship Type="http://schemas.openxmlformats.org/officeDocument/2006/relationships/notesMaster" Target="/ppt/notesMasters/notesMaster1.xml" Id="R1d7d20cee4a247e0" /><Relationship Type="http://schemas.openxmlformats.org/officeDocument/2006/relationships/presProps" Target="/ppt/presProps.xml" Id="R3b996ccba4f94d2b" /><Relationship Type="http://schemas.openxmlformats.org/officeDocument/2006/relationships/tableStyles" Target="/ppt/tableStyles.xml" Id="R3f20149c3c6f4a1b" /><Relationship Type="http://schemas.openxmlformats.org/officeDocument/2006/relationships/slide" Target="/ppt/slides/slide1.xml" Id="Re242b0ab285b476c" /><Relationship Type="http://schemas.openxmlformats.org/officeDocument/2006/relationships/slide" Target="/ppt/slides/slide2.xml" Id="Ra23502cb0720453c" /><Relationship Type="http://schemas.openxmlformats.org/officeDocument/2006/relationships/slide" Target="/ppt/slides/slide3.xml" Id="Raaf6354653ce44e2" /><Relationship Type="http://schemas.openxmlformats.org/officeDocument/2006/relationships/slide" Target="/ppt/slides/slide4.xml" Id="R74cabe1376514cd2" /><Relationship Type="http://schemas.openxmlformats.org/officeDocument/2006/relationships/slide" Target="/ppt/slides/slide5.xml" Id="Rf265404491c34af1" /><Relationship Type="http://schemas.openxmlformats.org/officeDocument/2006/relationships/slide" Target="/ppt/slides/slide6.xml" Id="R1d60e8345fff4335" /><Relationship Type="http://schemas.openxmlformats.org/officeDocument/2006/relationships/slide" Target="/ppt/slides/slide7.xml" Id="R6078027970d84846" /><Relationship Type="http://schemas.openxmlformats.org/officeDocument/2006/relationships/slide" Target="/ppt/slides/slide8.xml" Id="Rf74765b0707e4044" /><Relationship Type="http://schemas.openxmlformats.org/officeDocument/2006/relationships/slide" Target="/ppt/slides/slide9.xml" Id="R9ed43b3019d14a5b" /><Relationship Type="http://schemas.openxmlformats.org/officeDocument/2006/relationships/slide" Target="/ppt/slides/slide10.xml" Id="Ra51d9e241ced4861" /><Relationship Type="http://schemas.openxmlformats.org/officeDocument/2006/relationships/slide" Target="/ppt/slides/slide11.xml" Id="R9a4a037e6f95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6e10391164c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1d315987754ef1" /><Relationship Type="http://schemas.openxmlformats.org/officeDocument/2006/relationships/notesMaster" Target="/ppt/notesMasters/notesMaster1.xml" Id="R7a99b9db4f6b49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5e7009f914497a" /><Relationship Type="http://schemas.openxmlformats.org/officeDocument/2006/relationships/notesMaster" Target="/ppt/notesMasters/notesMaster1.xml" Id="Rd6eb0a41cc17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20c69590364931" /><Relationship Type="http://schemas.openxmlformats.org/officeDocument/2006/relationships/notesMaster" Target="/ppt/notesMasters/notesMaster1.xml" Id="R5189c3a0b7bf4f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ed5ed85bc44689" /><Relationship Type="http://schemas.openxmlformats.org/officeDocument/2006/relationships/notesMaster" Target="/ppt/notesMasters/notesMaster1.xml" Id="Rc594407d9e29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dcd4b06214139" /><Relationship Type="http://schemas.openxmlformats.org/officeDocument/2006/relationships/notesMaster" Target="/ppt/notesMasters/notesMaster1.xml" Id="Rf5ab794ba60e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c8ce88a8304c3e" /><Relationship Type="http://schemas.openxmlformats.org/officeDocument/2006/relationships/notesMaster" Target="/ppt/notesMasters/notesMaster1.xml" Id="R1e8c1aaa0ca546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7bf0fe1904433c" /><Relationship Type="http://schemas.openxmlformats.org/officeDocument/2006/relationships/notesMaster" Target="/ppt/notesMasters/notesMaster1.xml" Id="Re25b68af02834d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92dc84ae7140a0" /><Relationship Type="http://schemas.openxmlformats.org/officeDocument/2006/relationships/notesMaster" Target="/ppt/notesMasters/notesMaster1.xml" Id="R4fbb0542fd534b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5639c5aa12489d" /><Relationship Type="http://schemas.openxmlformats.org/officeDocument/2006/relationships/notesMaster" Target="/ppt/notesMasters/notesMaster1.xml" Id="R718f527ff0a941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54ed04e8534b94" /><Relationship Type="http://schemas.openxmlformats.org/officeDocument/2006/relationships/notesMaster" Target="/ppt/notesMasters/notesMaster1.xml" Id="R1c56c6bd2c4849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d9610113c34134" /><Relationship Type="http://schemas.openxmlformats.org/officeDocument/2006/relationships/notesMaster" Target="/ppt/notesMasters/notesMaster1.xml" Id="Rc316f7c8ac864c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tension: the model improved proper forecast scores, but the frozen contract also demanded much stronger hard-state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results: literature_studies/docs/GEN5_LIT_REG_02_1_DIRECTIONAL_HMM_STAGE_A_RESULTS.md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correction is important: 02.1 is a new scientific question, not a post-hoc rescue of a failed directional market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decision: literature_studies/docs/GEN5_LIT_REG_02_1_DIRECTIONAL_HMM_DECISION.md</a:t>
            </a:r>
          </a:p>
          <a:p xmlns:a="http://schemas.openxmlformats.org/drawingml/2006/main">
            <a:r>
              <a:t>- Project 01.1 results: literature_studies/docs/GEN5_LIT_REG_01_1_HMM_STAGE_A_RESULTS.md</a:t>
            </a:r>
          </a:p>
          <a:p xmlns:a="http://schemas.openxmlformats.org/drawingml/2006/main">
            <a:r>
              <a:t>- Project 01.2 results: literature_studies/docs/GEN5_LIT_REG_01_2_HMM_VOLATILITY_STAGE_A_RESULTS.md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state is latent; the operational object is a probability distribution, not an oracle label.</a:t>
            </a:r>
          </a:p>
          <a:p xmlns:a="http://schemas.openxmlformats.org/drawingml/2006/main">
            <a:r>
              <a:t>The package uses a lagged return covariate on the state-dependent Gaussian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Michelot, General dependence structures in hmmTMB, section 'Autoregressive hidden Markov models': https://raw.githubusercontent.com/TheoMichelot/hmmTMB/master/vignettes/hmmTMB_general_structures.Rmd</a:t>
            </a:r>
          </a:p>
          <a:p xmlns:a="http://schemas.openxmlformats.org/drawingml/2006/main">
            <a:r>
              <a:t>- Hamilton (1989), Econometrica 57(2), pp. 357-384</a:t>
            </a:r>
          </a:p>
          <a:p xmlns:a="http://schemas.openxmlformats.org/drawingml/2006/main">
            <a:r>
              <a:t>- Project contract: literature_studies/docs/GEN5_LIT_REG_02_1_DIRECTIONAL_HMM_POC_CONTRACT.md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percentages are Gaussian approximations: Φ(μ/σ) for one day and Φ(√20·μ/σ) when drift persists and innovations are independent.</a:t>
            </a:r>
          </a:p>
          <a:p xmlns:a="http://schemas.openxmlformats.org/drawingml/2006/main">
            <a:r>
              <a:t>This motivates H20 probability scoring rather than demanding crisp next-day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decision derivation: literature_studies/docs/GEN5_LIT_REG_02_1_DIRECTIONAL_HMM_DECISION.md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plan separated positive-control qualification, power mapping, financial-noise stress, and honest market evidence.</a:t>
            </a:r>
          </a:p>
          <a:p xmlns:a="http://schemas.openxmlformats.org/drawingml/2006/main">
            <a:r>
              <a:t>The downstream steps were structurally conditional on all eight Stage A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contract, Evidence Ladder and Stages A-C: literature_studies/docs/GEN5_LIT_REG_02_1_DIRECTIONAL_HMM_POC_CONTRACT.md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fixture was meant to be an easy positive control, but the contract required both proper forecast improvement and high daily state/transition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contract, Stage A: literature_studies/docs/GEN5_LIT_REG_02_1_DIRECTIONAL_HMM_POC_CONTRACT.md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first teaching seed only; it is representative visualization, not an extra statistical observation.</a:t>
            </a:r>
          </a:p>
          <a:p xmlns:a="http://schemas.openxmlformats.org/drawingml/2006/main">
            <a:r>
              <a:t>The shaded truth is available only because the data were simulated.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figure: runs/research_workbench/literature_studies/lit_reg_02_1_directional_hmm_poc_20260819/stage_a_teaching_probability_tape.png</a:t>
            </a:r>
          </a:p>
          <a:p xmlns:a="http://schemas.openxmlformats.org/drawingml/2006/main">
            <a:r>
              <a:t>- Evidence tape: runs/research_workbench/literature_studies/lit_reg_02_1_directional_hmm_poc_20260819/stage_a_teaching_probability_tape.csv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Brier and log loss are better.</a:t>
            </a:r>
          </a:p>
          <a:p xmlns:a="http://schemas.openxmlformats.org/drawingml/2006/main">
            <a:r>
              <a:t>B0 is the constant TRAIN up frequency; B1 is the one-state Gaussian AR(1); H2 is the fitted Markov-switching AR(1); Oracle knows the true current state and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summary: runs/research_workbench/literature_studies/lit_reg_02_1_directional_hmm_poc_20260819/stage_a_case_summary.csv</a:t>
            </a:r>
          </a:p>
          <a:p xmlns:a="http://schemas.openxmlformats.org/drawingml/2006/main">
            <a:r>
              <a:t>- Evidence figure: runs/research_workbench/literature_studies/lit_reg_02_1_directional_hmm_poc_20260819/stage_a_forecast_scores.png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A5-A6 are the forward probability gates; A3-A4 are the hard state and transition recovery gates.</a:t>
            </a:r>
          </a:p>
          <a:p xmlns:a="http://schemas.openxmlformats.org/drawingml/2006/main">
            <a:r>
              <a:t>The contract required every gate, so positive proper-score evidence cannot override the recovery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 table: runs/research_workbench/literature_studies/lit_reg_02_1_directional_hmm_poc_20260819/stage_a_gates.csv</a:t>
            </a:r>
          </a:p>
          <a:p xmlns:a="http://schemas.openxmlformats.org/drawingml/2006/main">
            <a:r>
              <a:t>- Project results: literature_studies/docs/GEN5_LIT_REG_02_1_DIRECTIONAL_HMM_STAGE_A_RESULTS.md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reinterpret the failed A3/A4 gates as irrelevant after the fact. They were valid safeguards for the frozen decoding-and-forecasting question.</a:t>
            </a:r>
          </a:p>
          <a:p xmlns:a="http://schemas.openxmlformats.org/drawingml/2006/main">
            <a:r>
              <a:t>The result instead motivates a separately frozen forecast-first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results interpretation: literature_studies/docs/GEN5_LIT_REG_02_1_DIRECTIONAL_HMM_STAGE_A_RESULTS.md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recommended discussion is whether to open a forecast-first variant whose primary success criterion is calibrated H20 direction probability rather than high daily hard-state accuracy.</a:t>
            </a:r>
          </a:p>
          <a:p xmlns:a="http://schemas.openxmlformats.org/drawingml/2006/main">
            <a:r>
              <a:t>No such variant is authorized by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result and preserved paths: literature_studies/docs/GEN5_LIT_REG_02_1_DIRECTIONAL_HMM_STAGE_A_RESULTS.md</a:t>
            </a:r>
          </a:p>
          <a:p xmlns:a="http://schemas.openxmlformats.org/drawingml/2006/main">
            <a:r>
              <a:t>- Pohle et al. (2017), pragmatic HMM order/model checking: https://arxiv.org/abs/1701.08673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37549b86b42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204e95a7c43e0" /><Relationship Type="http://schemas.openxmlformats.org/officeDocument/2006/relationships/slideLayout" Target="/ppt/slideLayouts/slideLayout1.xml" Id="Rd4a80b75d3c44f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a80b75d3c44f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7ceb41c204f84" /><Relationship Type="http://schemas.openxmlformats.org/officeDocument/2006/relationships/notesSlide" Target="/ppt/notesSlides/notesSlide1.xml" Id="R6e41ac93f7f0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d0e2aed98459d" /><Relationship Type="http://schemas.openxmlformats.org/officeDocument/2006/relationships/notesSlide" Target="/ppt/notesSlides/notesSlide2.xml" Id="R99ee408d5ee847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6c61a48534a57" /><Relationship Type="http://schemas.openxmlformats.org/officeDocument/2006/relationships/notesSlide" Target="/ppt/notesSlides/notesSlide3.xml" Id="Re00841f38cd344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4f9e2ad34e2d" /><Relationship Type="http://schemas.openxmlformats.org/officeDocument/2006/relationships/notesSlide" Target="/ppt/notesSlides/notesSlide4.xml" Id="Rec64dea35b2741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1e935a4eb4b33" /><Relationship Type="http://schemas.openxmlformats.org/officeDocument/2006/relationships/notesSlide" Target="/ppt/notesSlides/notesSlide5.xml" Id="R4187dd6bba4f41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c48079f34f12" /><Relationship Type="http://schemas.openxmlformats.org/officeDocument/2006/relationships/notesSlide" Target="/ppt/notesSlides/notesSlide6.xml" Id="R302d454b24c3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3b07fa9114239" /><Relationship Type="http://schemas.openxmlformats.org/officeDocument/2006/relationships/image" Target="/ppt/media/image.png" Id="R078e7de2d48d48ec" /><Relationship Type="http://schemas.openxmlformats.org/officeDocument/2006/relationships/notesSlide" Target="/ppt/notesSlides/notesSlide7.xml" Id="Re336d0795fde4a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936abeef34d46" /><Relationship Type="http://schemas.openxmlformats.org/officeDocument/2006/relationships/image" Target="/ppt/media/image2.png" Id="R4b5a9a04f9a64c21" /><Relationship Type="http://schemas.openxmlformats.org/officeDocument/2006/relationships/notesSlide" Target="/ppt/notesSlides/notesSlide8.xml" Id="Ra06444bd8d12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5b28991c4ddc" /><Relationship Type="http://schemas.openxmlformats.org/officeDocument/2006/relationships/notesSlide" Target="/ppt/notesSlides/notesSlide9.xml" Id="Rc2459d47eda243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3ce6bede40ed" /><Relationship Type="http://schemas.openxmlformats.org/officeDocument/2006/relationships/notesSlide" Target="/ppt/notesSlides/notesSlide10.xml" Id="Rf8a8804baa3049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02d5730da4a74" /><Relationship Type="http://schemas.openxmlformats.org/officeDocument/2006/relationships/notesSlide" Target="/ppt/notesSlides/notesSlide11.xml" Id="R5a509a112d5149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2AB0F2B-6A0E-478C-997C-392CF07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LIT-REG-02.1 · DIRECTIONAL HMM</a:t>
            </a:r>
          </a:p>
        </p:txBody>
      </p:sp>
      <p:sp>
        <p:nvSpPr>
          <p:cNvPr id="2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2D112C85-7BA0-478E-88B3-753759BA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42BA8F-A339-40D8-A537-B296AEA2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04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Probabilities can work before hidden states look clean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AFBED57-3308-4E46-8887-B2A83F1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Package-native Markov-switching AR(1) · frozen synthetic Stage A · 6 of 8 gates</a:t>
            </a:r>
          </a:p>
        </p:txBody>
      </p:sp>
      <p:sp>
        <p:nvSpPr>
          <p:cNvPr id="5" name="cover-stop">
            <a:extLst xmlns:a="http://schemas.openxmlformats.org/drawingml/2006/main">
              <a:ext uri="{FF2B5EF4-FFF2-40B4-BE49-F238E27FC236}">
                <a16:creationId xmlns:a16="http://schemas.microsoft.com/office/drawing/2014/main" id="{F596E19A-4C8C-4B56-B36E-1A74741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STOP preserved</a:t>
            </a:r>
          </a:p>
        </p:txBody>
      </p:sp>
      <p:sp>
        <p:nvSpPr>
          <p:cNvPr id="6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9DE2F4C4-5BD4-4CAD-8360-2CA2D25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market data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strategy data</a:t>
            </a:r>
          </a:p>
        </p:txBody>
      </p:sp>
    </p:spTree>
    <p:extLst>
      <p:ext uri="{BB962C8B-B14F-4D97-AF65-F5344CB8AC3E}">
        <p14:creationId xmlns:p14="http://schemas.microsoft.com/office/powerpoint/2010/main" val="531347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ACE5A511-E2F1-4237-9EB9-C792DD8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 had not previously tested a market-direction HMM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B8D1A5D4-ADB4-4B7C-933F-68B48809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history-0">
            <a:extLst xmlns:a="http://schemas.openxmlformats.org/drawingml/2006/main">
              <a:ext uri="{FF2B5EF4-FFF2-40B4-BE49-F238E27FC236}">
                <a16:creationId xmlns:a16="http://schemas.microsoft.com/office/drawing/2014/main" id="{3CCCF7EE-0A8B-4171-85A7-FDD0C69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istory-head-0">
            <a:extLst xmlns:a="http://schemas.openxmlformats.org/drawingml/2006/main">
              <a:ext uri="{FF2B5EF4-FFF2-40B4-BE49-F238E27FC236}">
                <a16:creationId xmlns:a16="http://schemas.microsoft.com/office/drawing/2014/main" id="{8C8AE501-9FF3-4A6A-A6E0-CB6D5484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LIT-REG-01.1</a:t>
            </a:r>
          </a:p>
        </p:txBody>
      </p:sp>
      <p:sp>
        <p:nvSpPr>
          <p:cNvPr id="5" name="history-body-0">
            <a:extLst xmlns:a="http://schemas.openxmlformats.org/drawingml/2006/main">
              <a:ext uri="{FF2B5EF4-FFF2-40B4-BE49-F238E27FC236}">
                <a16:creationId xmlns:a16="http://schemas.microsoft.com/office/drawing/2014/main" id="{8C57DDEC-34F8-4BF9-907F-990AF107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0289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Return + normalized range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Stopped during custom-engine synthetic qualification. SPY was never read.</a:t>
            </a:r>
          </a:p>
        </p:txBody>
      </p:sp>
      <p:sp>
        <p:nvSpPr>
          <p:cNvPr id="6" name="history-1">
            <a:extLst xmlns:a="http://schemas.openxmlformats.org/drawingml/2006/main">
              <a:ext uri="{FF2B5EF4-FFF2-40B4-BE49-F238E27FC236}">
                <a16:creationId xmlns:a16="http://schemas.microsoft.com/office/drawing/2014/main" id="{F6414327-9212-40D0-8362-D7884A3B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istory-head-1">
            <a:extLst xmlns:a="http://schemas.openxmlformats.org/drawingml/2006/main">
              <a:ext uri="{FF2B5EF4-FFF2-40B4-BE49-F238E27FC236}">
                <a16:creationId xmlns:a16="http://schemas.microsoft.com/office/drawing/2014/main" id="{3D77CA83-329E-4F92-9386-0D311B9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LIT-REG-01.2</a:t>
            </a:r>
          </a:p>
        </p:txBody>
      </p:sp>
      <p:sp>
        <p:nvSpPr>
          <p:cNvPr id="8" name="history-body-1">
            <a:extLst xmlns:a="http://schemas.openxmlformats.org/drawingml/2006/main">
              <a:ext uri="{FF2B5EF4-FFF2-40B4-BE49-F238E27FC236}">
                <a16:creationId xmlns:a16="http://schemas.microsoft.com/office/drawing/2014/main" id="{AA821447-5382-4EF8-B8C3-8983CAD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289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Volatility amplitude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HiddenMarkov recovered clear states but failed weak/null classification reliability.</a:t>
            </a:r>
          </a:p>
        </p:txBody>
      </p:sp>
      <p:sp>
        <p:nvSpPr>
          <p:cNvPr id="9" name="history-2">
            <a:extLst xmlns:a="http://schemas.openxmlformats.org/drawingml/2006/main">
              <a:ext uri="{FF2B5EF4-FFF2-40B4-BE49-F238E27FC236}">
                <a16:creationId xmlns:a16="http://schemas.microsoft.com/office/drawing/2014/main" id="{3C711E4C-5F43-4685-9DB8-0A4CD880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istory-head-2">
            <a:extLst xmlns:a="http://schemas.openxmlformats.org/drawingml/2006/main">
              <a:ext uri="{FF2B5EF4-FFF2-40B4-BE49-F238E27FC236}">
                <a16:creationId xmlns:a16="http://schemas.microsoft.com/office/drawing/2014/main" id="{25A31D38-773B-4D61-979E-F4CC1F8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LIT-REG-02.1</a:t>
            </a:r>
          </a:p>
        </p:txBody>
      </p:sp>
      <p:sp>
        <p:nvSpPr>
          <p:cNvPr id="11" name="history-body-2">
            <a:extLst xmlns:a="http://schemas.openxmlformats.org/drawingml/2006/main">
              <a:ext uri="{FF2B5EF4-FFF2-40B4-BE49-F238E27FC236}">
                <a16:creationId xmlns:a16="http://schemas.microsoft.com/office/drawing/2014/main" id="{40DAED41-A891-4D31-9985-5654957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0289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Direction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Markov-switching AR(1), causal H20 probability, planted directional truth.</a:t>
            </a:r>
          </a:p>
        </p:txBody>
      </p:sp>
      <p:sp>
        <p:nvSpPr>
          <p:cNvPr id="12" name="history-takeaway">
            <a:extLst xmlns:a="http://schemas.openxmlformats.org/drawingml/2006/main">
              <a:ext uri="{FF2B5EF4-FFF2-40B4-BE49-F238E27FC236}">
                <a16:creationId xmlns:a16="http://schemas.microsoft.com/office/drawing/2014/main" id="{F7100A4E-0B94-464A-934D-253AF839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prior STOPs informed numerical discipline; they did not supply negative directional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265980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85EFBAC6-CA54-402A-8680-6680AD8B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changes drift, persistence, and noise with a hidden state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19F238A4-DD1D-4410-9424-7B4E048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509225BF-7B64-44BC-A348-0EE54FE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714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58EB5DC1-00E0-4C91-9950-DDD14776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rₜ = α[Sₜ] + φ[Sₜ] · rₜ₋₁ + σ[Sₜ] · εₜ</a:t>
            </a:r>
          </a:p>
        </p:txBody>
      </p:sp>
      <p:sp>
        <p:nvSpPr>
          <p:cNvPr id="5" name="transition">
            <a:extLst xmlns:a="http://schemas.openxmlformats.org/drawingml/2006/main">
              <a:ext uri="{FF2B5EF4-FFF2-40B4-BE49-F238E27FC236}">
                <a16:creationId xmlns:a16="http://schemas.microsoft.com/office/drawing/2014/main" id="{241C1229-9127-4463-82DA-1348D7E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P(Sₜ = j | Sₜ₋₁ = i) = Aᵢⱼ</a:t>
            </a:r>
          </a:p>
        </p:txBody>
      </p:sp>
      <p:sp>
        <p:nvSpPr>
          <p:cNvPr id="6" name="target">
            <a:extLst xmlns:a="http://schemas.openxmlformats.org/drawingml/2006/main">
              <a:ext uri="{FF2B5EF4-FFF2-40B4-BE49-F238E27FC236}">
                <a16:creationId xmlns:a16="http://schemas.microsoft.com/office/drawing/2014/main" id="{FEAFF235-1185-4757-9130-202068A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Primary forecast</a:t>
            </a:r>
          </a:p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P(rₜ₊₁ + … + rₜ₊₂₀ &gt; 0 | information through t)</a:t>
            </a:r>
          </a:p>
        </p:txBody>
      </p:sp>
      <p:sp>
        <p:nvSpPr>
          <p:cNvPr id="7" name="label-rule">
            <a:extLst xmlns:a="http://schemas.openxmlformats.org/drawingml/2006/main">
              <a:ext uri="{FF2B5EF4-FFF2-40B4-BE49-F238E27FC236}">
                <a16:creationId xmlns:a16="http://schemas.microsoft.com/office/drawing/2014/main" id="{30A88FF7-3791-49BE-A82A-91A4624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TRAIN-only state identity</a:t>
            </a:r>
          </a:p>
        </p:txBody>
      </p:sp>
      <p:sp>
        <p:nvSpPr>
          <p:cNvPr id="8" name="label-copy">
            <a:extLst xmlns:a="http://schemas.openxmlformats.org/drawingml/2006/main">
              <a:ext uri="{FF2B5EF4-FFF2-40B4-BE49-F238E27FC236}">
                <a16:creationId xmlns:a16="http://schemas.microsoft.com/office/drawing/2014/main" id="{5393A5E0-0543-4623-9242-38D98A9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238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Simulate each fitted state forward for 20 steps from return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expected sum → LESS_FAVORABLE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Higher expected sum → MORE_FAVORABLE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OOS outcomes never name or flip a state.</a:t>
            </a:r>
          </a:p>
        </p:txBody>
      </p:sp>
      <p:sp>
        <p:nvSpPr>
          <p:cNvPr id="9" name="causal-note">
            <a:extLst xmlns:a="http://schemas.openxmlformats.org/drawingml/2006/main">
              <a:ext uri="{FF2B5EF4-FFF2-40B4-BE49-F238E27FC236}">
                <a16:creationId xmlns:a16="http://schemas.microsoft.com/office/drawing/2014/main" id="{12883BC4-6F48-4A2F-B222-DBACD0B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hmmTMB estimates parameters; Gen5 independently filters causally.</a:t>
            </a:r>
          </a:p>
        </p:txBody>
      </p:sp>
    </p:spTree>
    <p:extLst>
      <p:ext uri="{BB962C8B-B14F-4D97-AF65-F5344CB8AC3E}">
        <p14:creationId xmlns:p14="http://schemas.microsoft.com/office/powerpoint/2010/main" val="1526013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0349E5B7-5DEE-4313-A9D2-02F59D2B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Direction is difficult because drift is tiny relative to daily noise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9162BE07-034A-4D0A-BAE3-7D507C1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B76CF91E-33E1-4929-9909-B3D1878F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Illustrative favorable state</a:t>
            </a:r>
          </a:p>
        </p:txBody>
      </p:sp>
      <p:sp>
        <p:nvSpPr>
          <p:cNvPr id="4" name="mu">
            <a:extLst xmlns:a="http://schemas.openxmlformats.org/drawingml/2006/main">
              <a:ext uri="{FF2B5EF4-FFF2-40B4-BE49-F238E27FC236}">
                <a16:creationId xmlns:a16="http://schemas.microsoft.com/office/drawing/2014/main" id="{BC780F3F-C1A9-4762-A7DA-DB2EBE7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 = +0.05% / day</a:t>
            </a:r>
          </a:p>
        </p:txBody>
      </p:sp>
      <p:sp>
        <p:nvSpPr>
          <p:cNvPr id="5" name="sigma">
            <a:extLst xmlns:a="http://schemas.openxmlformats.org/drawingml/2006/main">
              <a:ext uri="{FF2B5EF4-FFF2-40B4-BE49-F238E27FC236}">
                <a16:creationId xmlns:a16="http://schemas.microsoft.com/office/drawing/2014/main" id="{E778065F-D6F7-4613-A69E-79A433C4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volatility = 1.20% / day</a:t>
            </a:r>
          </a:p>
        </p:txBody>
      </p:sp>
      <p:sp>
        <p:nvSpPr>
          <p:cNvPr id="6" name="day-box">
            <a:extLst xmlns:a="http://schemas.openxmlformats.org/drawingml/2006/main">
              <a:ext uri="{FF2B5EF4-FFF2-40B4-BE49-F238E27FC236}">
                <a16:creationId xmlns:a16="http://schemas.microsoft.com/office/drawing/2014/main" id="{B6879407-3627-4F45-A218-5768E23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66850"/>
            <a:ext cx="247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wing-box">
            <a:extLst xmlns:a="http://schemas.openxmlformats.org/drawingml/2006/main">
              <a:ext uri="{FF2B5EF4-FFF2-40B4-BE49-F238E27FC236}">
                <a16:creationId xmlns:a16="http://schemas.microsoft.com/office/drawing/2014/main" id="{455390C8-F5BB-4EC9-8CC1-F4011DD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47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ay-stat">
            <a:extLst xmlns:a="http://schemas.openxmlformats.org/drawingml/2006/main">
              <a:ext uri="{FF2B5EF4-FFF2-40B4-BE49-F238E27FC236}">
                <a16:creationId xmlns:a16="http://schemas.microsoft.com/office/drawing/2014/main" id="{32071290-DD96-4614-825E-D511245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51.7%</a:t>
            </a:r>
          </a:p>
        </p:txBody>
      </p:sp>
      <p:sp>
        <p:nvSpPr>
          <p:cNvPr id="9" name="day-copy">
            <a:extLst xmlns:a="http://schemas.openxmlformats.org/drawingml/2006/main">
              <a:ext uri="{FF2B5EF4-FFF2-40B4-BE49-F238E27FC236}">
                <a16:creationId xmlns:a16="http://schemas.microsoft.com/office/drawing/2014/main" id="{A38CCCCC-A199-41F7-8F5C-0C5452C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Approximate chance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day is positive</a:t>
            </a:r>
          </a:p>
        </p:txBody>
      </p:sp>
      <p:sp>
        <p:nvSpPr>
          <p:cNvPr id="10" name="swing-stat">
            <a:extLst xmlns:a="http://schemas.openxmlformats.org/drawingml/2006/main">
              <a:ext uri="{FF2B5EF4-FFF2-40B4-BE49-F238E27FC236}">
                <a16:creationId xmlns:a16="http://schemas.microsoft.com/office/drawing/2014/main" id="{D4F8A262-F670-4FC5-8860-F40D31A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57.4%</a:t>
            </a:r>
          </a:p>
        </p:txBody>
      </p:sp>
      <p:sp>
        <p:nvSpPr>
          <p:cNvPr id="11" name="swing-copy">
            <a:extLst xmlns:a="http://schemas.openxmlformats.org/drawingml/2006/main">
              <a:ext uri="{FF2B5EF4-FFF2-40B4-BE49-F238E27FC236}">
                <a16:creationId xmlns:a16="http://schemas.microsoft.com/office/drawing/2014/main" id="{9EC60047-FFAF-4ADE-9E28-5A5DAECD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Approximate chance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20-session sum is positive</a:t>
            </a:r>
          </a:p>
        </p:txBody>
      </p:sp>
      <p:sp>
        <p:nvSpPr>
          <p:cNvPr id="12" name="intuition">
            <a:extLst xmlns:a="http://schemas.openxmlformats.org/drawingml/2006/main">
              <a:ext uri="{FF2B5EF4-FFF2-40B4-BE49-F238E27FC236}">
                <a16:creationId xmlns:a16="http://schemas.microsoft.com/office/drawing/2014/main" id="{D04884CD-30B9-40BE-9A3C-948582B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 perfect state knowledge does not imply perfect candle prediction. Swing aggregation can improve signal-to-noise when the state persists.</a:t>
            </a:r>
          </a:p>
        </p:txBody>
      </p:sp>
    </p:spTree>
    <p:extLst>
      <p:ext uri="{BB962C8B-B14F-4D97-AF65-F5344CB8AC3E}">
        <p14:creationId xmlns:p14="http://schemas.microsoft.com/office/powerpoint/2010/main" val="1983470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5">
            <a:extLst xmlns:a="http://schemas.openxmlformats.org/drawingml/2006/main">
              <a:ext uri="{FF2B5EF4-FFF2-40B4-BE49-F238E27FC236}">
                <a16:creationId xmlns:a16="http://schemas.microsoft.com/office/drawing/2014/main" id="{8BBDBB83-AD03-4459-9A73-F5CFB008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evidence ladder was designed to move from known truth to unknown markets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1B15137F-ED66-4544-A77E-202595D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20" name="ladder-line"/>
          <p:cNvCxnSpPr/>
          <p:nvPr/>
        </p:nvCxnSpPr>
        <p:spPr>
          <a:xfrm xmlns:a="http://schemas.openxmlformats.org/drawingml/2006/main">
            <a:off x="742950" y="31432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ladder-dot-0">
            <a:extLst xmlns:a="http://schemas.openxmlformats.org/drawingml/2006/main">
              <a:ext uri="{FF2B5EF4-FFF2-40B4-BE49-F238E27FC236}">
                <a16:creationId xmlns:a16="http://schemas.microsoft.com/office/drawing/2014/main" id="{9148556F-8258-4863-9FFC-3E54E871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dder-label-0">
            <a:extLst xmlns:a="http://schemas.openxmlformats.org/drawingml/2006/main">
              <a:ext uri="{FF2B5EF4-FFF2-40B4-BE49-F238E27FC236}">
                <a16:creationId xmlns:a16="http://schemas.microsoft.com/office/drawing/2014/main" id="{39D66E3C-F1CF-4DEE-8E51-0097F6DA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· Teaching</a:t>
            </a:r>
          </a:p>
        </p:txBody>
      </p:sp>
      <p:sp>
        <p:nvSpPr>
          <p:cNvPr id="6" name="ladder-copy-0">
            <a:extLst xmlns:a="http://schemas.openxmlformats.org/drawingml/2006/main">
              <a:ext uri="{FF2B5EF4-FFF2-40B4-BE49-F238E27FC236}">
                <a16:creationId xmlns:a16="http://schemas.microsoft.com/office/drawing/2014/main" id="{44674626-D773-4B42-89D7-1EA1C926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Known persistent directional process</a:t>
            </a:r>
          </a:p>
        </p:txBody>
      </p:sp>
      <p:sp>
        <p:nvSpPr>
          <p:cNvPr id="7" name="ladder-dot-1">
            <a:extLst xmlns:a="http://schemas.openxmlformats.org/drawingml/2006/main">
              <a:ext uri="{FF2B5EF4-FFF2-40B4-BE49-F238E27FC236}">
                <a16:creationId xmlns:a16="http://schemas.microsoft.com/office/drawing/2014/main" id="{81C914D0-099C-4350-890D-B1BBAE4F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dder-label-1">
            <a:extLst xmlns:a="http://schemas.openxmlformats.org/drawingml/2006/main">
              <a:ext uri="{FF2B5EF4-FFF2-40B4-BE49-F238E27FC236}">
                <a16:creationId xmlns:a16="http://schemas.microsoft.com/office/drawing/2014/main" id="{FF18D6C3-72B4-4A30-82D4-22793E3D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· Frontier</a:t>
            </a:r>
          </a:p>
        </p:txBody>
      </p:sp>
      <p:sp>
        <p:nvSpPr>
          <p:cNvPr id="9" name="ladder-copy-1">
            <a:extLst xmlns:a="http://schemas.openxmlformats.org/drawingml/2006/main">
              <a:ext uri="{FF2B5EF4-FFF2-40B4-BE49-F238E27FC236}">
                <a16:creationId xmlns:a16="http://schemas.microsoft.com/office/drawing/2014/main" id="{20DB747D-AFA4-4039-9AAF-255D063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4330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 signal × persistence × history grid</a:t>
            </a:r>
          </a:p>
        </p:txBody>
      </p:sp>
      <p:sp>
        <p:nvSpPr>
          <p:cNvPr id="10" name="ladder-dot-2">
            <a:extLst xmlns:a="http://schemas.openxmlformats.org/drawingml/2006/main">
              <a:ext uri="{FF2B5EF4-FFF2-40B4-BE49-F238E27FC236}">
                <a16:creationId xmlns:a16="http://schemas.microsoft.com/office/drawing/2014/main" id="{0D27E1B6-3FEF-4F8F-87FF-A3CAC2FF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dder-label-2">
            <a:extLst xmlns:a="http://schemas.openxmlformats.org/drawingml/2006/main">
              <a:ext uri="{FF2B5EF4-FFF2-40B4-BE49-F238E27FC236}">
                <a16:creationId xmlns:a16="http://schemas.microsoft.com/office/drawing/2014/main" id="{8608C96D-5B10-4641-BD6B-914CA4D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33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· Financial noise</a:t>
            </a:r>
          </a:p>
        </p:txBody>
      </p:sp>
      <p:sp>
        <p:nvSpPr>
          <p:cNvPr id="12" name="ladder-copy-2">
            <a:extLst xmlns:a="http://schemas.openxmlformats.org/drawingml/2006/main">
              <a:ext uri="{FF2B5EF4-FFF2-40B4-BE49-F238E27FC236}">
                <a16:creationId xmlns:a16="http://schemas.microsoft.com/office/drawing/2014/main" id="{FBA26B91-D863-44A9-A0DA-60BC44DA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Student-t GARCH misspecification stress</a:t>
            </a:r>
          </a:p>
        </p:txBody>
      </p:sp>
      <p:sp>
        <p:nvSpPr>
          <p:cNvPr id="13" name="ladder-dot-3">
            <a:extLst xmlns:a="http://schemas.openxmlformats.org/drawingml/2006/main">
              <a:ext uri="{FF2B5EF4-FFF2-40B4-BE49-F238E27FC236}">
                <a16:creationId xmlns:a16="http://schemas.microsoft.com/office/drawing/2014/main" id="{430BE729-B73A-408D-B776-4B41AEB6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dder-label-3">
            <a:extLst xmlns:a="http://schemas.openxmlformats.org/drawingml/2006/main">
              <a:ext uri="{FF2B5EF4-FFF2-40B4-BE49-F238E27FC236}">
                <a16:creationId xmlns:a16="http://schemas.microsoft.com/office/drawing/2014/main" id="{1A51FA92-0916-4A6C-B36A-0CBE0F37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33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· Market OOS</a:t>
            </a:r>
          </a:p>
        </p:txBody>
      </p:sp>
      <p:sp>
        <p:nvSpPr>
          <p:cNvPr id="15" name="ladder-copy-3">
            <a:extLst xmlns:a="http://schemas.openxmlformats.org/drawingml/2006/main">
              <a:ext uri="{FF2B5EF4-FFF2-40B4-BE49-F238E27FC236}">
                <a16:creationId xmlns:a16="http://schemas.microsoft.com/office/drawing/2014/main" id="{E46B14B1-4F35-4DA0-AB74-1379CDD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43300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 future contract and replication atlas</a:t>
            </a:r>
          </a:p>
        </p:txBody>
      </p:sp>
      <p:sp>
        <p:nvSpPr>
          <p:cNvPr id="16" name="stop-band">
            <a:extLst xmlns:a="http://schemas.openxmlformats.org/drawingml/2006/main">
              <a:ext uri="{FF2B5EF4-FFF2-40B4-BE49-F238E27FC236}">
                <a16:creationId xmlns:a16="http://schemas.microsoft.com/office/drawing/2014/main" id="{735E2BFF-5992-45B7-9691-FA92F4AF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95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op-copy">
            <a:extLst xmlns:a="http://schemas.openxmlformats.org/drawingml/2006/main">
              <a:ext uri="{FF2B5EF4-FFF2-40B4-BE49-F238E27FC236}">
                <a16:creationId xmlns:a16="http://schemas.microsoft.com/office/drawing/2014/main" id="{3FD179BF-B63B-4D37-9FA0-A78DEC8D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0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Stage A stopped at step 1. Steps 2–4 remained unread and cannot be backfilled under 02.1.</a:t>
            </a:r>
          </a:p>
        </p:txBody>
      </p:sp>
    </p:spTree>
    <p:extLst>
      <p:ext uri="{BB962C8B-B14F-4D97-AF65-F5344CB8AC3E}">
        <p14:creationId xmlns:p14="http://schemas.microsoft.com/office/powerpoint/2010/main" val="1794912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E795BA6B-35D3-447F-A3DE-9C95A83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teaching case planted large, persistent directional states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8C4E5077-EBB8-4D0D-A7CC-E8BD69FC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design-left">
            <a:extLst xmlns:a="http://schemas.openxmlformats.org/drawingml/2006/main">
              <a:ext uri="{FF2B5EF4-FFF2-40B4-BE49-F238E27FC236}">
                <a16:creationId xmlns:a16="http://schemas.microsoft.com/office/drawing/2014/main" id="{ED129DCC-35BF-44F2-8418-4BAE05BA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3340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ign-head">
            <a:extLst xmlns:a="http://schemas.openxmlformats.org/drawingml/2006/main">
              <a:ext uri="{FF2B5EF4-FFF2-40B4-BE49-F238E27FC236}">
                <a16:creationId xmlns:a16="http://schemas.microsoft.com/office/drawing/2014/main" id="{FF70170A-E6FE-4C32-825F-26EB7A5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 generator</a:t>
            </a:r>
          </a:p>
        </p:txBody>
      </p:sp>
      <p:sp>
        <p:nvSpPr>
          <p:cNvPr id="5" name="design-copy">
            <a:extLst xmlns:a="http://schemas.openxmlformats.org/drawingml/2006/main">
              <a:ext uri="{FF2B5EF4-FFF2-40B4-BE49-F238E27FC236}">
                <a16:creationId xmlns:a16="http://schemas.microsoft.com/office/drawing/2014/main" id="{84DB2C0F-E831-48FB-85CD-C4A6C56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4476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 independent seeds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2,400 sessions each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 1,800 · OOS 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α = −0.30%, +0.30% / day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φ = 0.10 in both states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σ = 1.20% / day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97% daily self-transition</a:t>
            </a:r>
          </a:p>
        </p:txBody>
      </p:sp>
      <p:sp>
        <p:nvSpPr>
          <p:cNvPr id="6" name="score-head">
            <a:extLst xmlns:a="http://schemas.openxmlformats.org/drawingml/2006/main">
              <a:ext uri="{FF2B5EF4-FFF2-40B4-BE49-F238E27FC236}">
                <a16:creationId xmlns:a16="http://schemas.microsoft.com/office/drawing/2014/main" id="{B9651CE9-BE0C-4185-85DA-B9FE875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Primary evidence</a:t>
            </a:r>
          </a:p>
        </p:txBody>
      </p:sp>
      <p:sp>
        <p:nvSpPr>
          <p:cNvPr id="7" name="metric-row-0">
            <a:extLst xmlns:a="http://schemas.openxmlformats.org/drawingml/2006/main">
              <a:ext uri="{FF2B5EF4-FFF2-40B4-BE49-F238E27FC236}">
                <a16:creationId xmlns:a16="http://schemas.microsoft.com/office/drawing/2014/main" id="{BF8079FC-930D-45DC-92FB-14084C72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04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8AECE011-07EB-4D32-9D81-3FCA1E6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812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Brier</a:t>
            </a:r>
          </a:p>
        </p:txBody>
      </p:sp>
      <p:sp>
        <p:nvSpPr>
          <p:cNvPr id="9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C82F43B9-AB8A-44CA-AA0F-BDA357E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812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H2 &lt; constant and AR(1)</a:t>
            </a:r>
          </a:p>
        </p:txBody>
      </p:sp>
      <p:sp>
        <p:nvSpPr>
          <p:cNvPr id="10" name="metric-row-1">
            <a:extLst xmlns:a="http://schemas.openxmlformats.org/drawingml/2006/main">
              <a:ext uri="{FF2B5EF4-FFF2-40B4-BE49-F238E27FC236}">
                <a16:creationId xmlns:a16="http://schemas.microsoft.com/office/drawing/2014/main" id="{3D907095-32C0-4D98-9A5B-70E77A92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504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4F1776FB-BE96-41F2-A0F3-A6E2B3C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19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Log loss</a:t>
            </a:r>
          </a:p>
        </p:txBody>
      </p:sp>
      <p:sp>
        <p:nvSpPr>
          <p:cNvPr id="12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D027B92-D62B-4AE4-91A0-C6079978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194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H2 &lt; constant and AR(1)</a:t>
            </a:r>
          </a:p>
        </p:txBody>
      </p:sp>
      <p:sp>
        <p:nvSpPr>
          <p:cNvPr id="13" name="metric-row-2">
            <a:extLst xmlns:a="http://schemas.openxmlformats.org/drawingml/2006/main">
              <a:ext uri="{FF2B5EF4-FFF2-40B4-BE49-F238E27FC236}">
                <a16:creationId xmlns:a16="http://schemas.microsoft.com/office/drawing/2014/main" id="{7E7E0221-F2BC-45A4-A6EC-BA6E9D8F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04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ABAF06BD-8F99-464C-BD94-2867DA82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5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E2E410BD-11ED-42D8-8416-5B54D1FC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576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median accuracy ≥ 85%</a:t>
            </a:r>
          </a:p>
        </p:txBody>
      </p:sp>
      <p:sp>
        <p:nvSpPr>
          <p:cNvPr id="16" name="metric-row-3">
            <a:extLst xmlns:a="http://schemas.openxmlformats.org/drawingml/2006/main">
              <a:ext uri="{FF2B5EF4-FFF2-40B4-BE49-F238E27FC236}">
                <a16:creationId xmlns:a16="http://schemas.microsoft.com/office/drawing/2014/main" id="{675EFF68-DB5D-4A4C-9008-197DB2B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04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A237D741-C4B0-4EEE-BB6E-C9F5EF18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5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Transition</a:t>
            </a:r>
          </a:p>
        </p:txBody>
      </p:sp>
      <p:sp>
        <p:nvSpPr>
          <p:cNvPr id="18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05D3E8AA-9CEA-4DA3-9C07-FAB8DCE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p90 max error ≤ 0.10</a:t>
            </a:r>
          </a:p>
        </p:txBody>
      </p:sp>
    </p:spTree>
    <p:extLst>
      <p:ext uri="{BB962C8B-B14F-4D97-AF65-F5344CB8AC3E}">
        <p14:creationId xmlns:p14="http://schemas.microsoft.com/office/powerpoint/2010/main" val="428690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971427D1-AE06-45BF-B722-AF39F1CF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causal probability tape tracks the planted state without pretending certainty</a:t>
            </a:r>
          </a:p>
        </p:txBody>
      </p:sp>
      <p:sp>
        <p:nvSpPr>
          <p:cNvPr id="2" name="footer-7">
            <a:extLst xmlns:a="http://schemas.openxmlformats.org/drawingml/2006/main">
              <a:ext uri="{FF2B5EF4-FFF2-40B4-BE49-F238E27FC236}">
                <a16:creationId xmlns:a16="http://schemas.microsoft.com/office/drawing/2014/main" id="{A204FED2-9378-4A6B-9990-852ED2C4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e7de2d48d48ec"/>
          <a:stretch xmlns:a="http://schemas.openxmlformats.org/drawingml/2006/main"/>
        </p:blipFill>
        <p:spPr>
          <a:xfrm xmlns:a="http://schemas.openxmlformats.org/drawingml/2006/main">
            <a:off x="400050" y="1470422"/>
            <a:ext cx="7810500" cy="4393406"/>
          </a:xfrm>
          <a:prstGeom xmlns:a="http://schemas.openxmlformats.org/drawingml/2006/main" prst="rect">
            <a:avLst/>
          </a:prstGeom>
        </p:spPr>
      </p:pic>
      <p:sp>
        <p:nvSpPr>
          <p:cNvPr id="4" name="tape-callout">
            <a:extLst xmlns:a="http://schemas.openxmlformats.org/drawingml/2006/main">
              <a:ext uri="{FF2B5EF4-FFF2-40B4-BE49-F238E27FC236}">
                <a16:creationId xmlns:a16="http://schemas.microsoft.com/office/drawing/2014/main" id="{026FC8BE-B9FC-4C47-9385-E8B81938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19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to look for</a:t>
            </a:r>
          </a:p>
        </p:txBody>
      </p:sp>
      <p:sp>
        <p:nvSpPr>
          <p:cNvPr id="5" name="tape-copy">
            <a:extLst xmlns:a="http://schemas.openxmlformats.org/drawingml/2006/main">
              <a:ext uri="{FF2B5EF4-FFF2-40B4-BE49-F238E27FC236}">
                <a16:creationId xmlns:a16="http://schemas.microsoft.com/office/drawing/2014/main" id="{834FBE23-FDC0-4CB8-A299-27DAC983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809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Blue probability moves with the hidden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Overlapping return distributions create uncertainty near switches and on noisy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filter never revises earlier dates when future observations are appended.</a:t>
            </a:r>
          </a:p>
        </p:txBody>
      </p:sp>
      <p:sp>
        <p:nvSpPr>
          <p:cNvPr id="6" name="tape-footer">
            <a:extLst xmlns:a="http://schemas.openxmlformats.org/drawingml/2006/main">
              <a:ext uri="{FF2B5EF4-FFF2-40B4-BE49-F238E27FC236}">
                <a16:creationId xmlns:a16="http://schemas.microsoft.com/office/drawing/2014/main" id="{1CC842C0-50FB-4E68-B2A9-356CFB82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387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Causal filtering passed exactly; hard daily labels remained imperfect.</a:t>
            </a:r>
          </a:p>
        </p:txBody>
      </p:sp>
    </p:spTree>
    <p:extLst>
      <p:ext uri="{BB962C8B-B14F-4D97-AF65-F5344CB8AC3E}">
        <p14:creationId xmlns:p14="http://schemas.microsoft.com/office/powerpoint/2010/main" val="3954879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C3478A44-3B58-4948-B109-BFD027B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HMM improved proper H20 probability scores in 9 of 10 cases</a:t>
            </a:r>
          </a:p>
        </p:txBody>
      </p:sp>
      <p:sp>
        <p:nvSpPr>
          <p:cNvPr id="2" name="footer-8">
            <a:extLst xmlns:a="http://schemas.openxmlformats.org/drawingml/2006/main">
              <a:ext uri="{FF2B5EF4-FFF2-40B4-BE49-F238E27FC236}">
                <a16:creationId xmlns:a16="http://schemas.microsoft.com/office/drawing/2014/main" id="{89C335DE-8BDA-49FE-A24A-43F915A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a9a04f9a64c21"/>
          <a:stretch xmlns:a="http://schemas.openxmlformats.org/drawingml/2006/main"/>
        </p:blipFill>
        <p:spPr>
          <a:xfrm xmlns:a="http://schemas.openxmlformats.org/drawingml/2006/main">
            <a:off x="400050" y="1676400"/>
            <a:ext cx="6858000" cy="3886200"/>
          </a:xfrm>
          <a:prstGeom xmlns:a="http://schemas.openxmlformats.org/drawingml/2006/main" prst="rect">
            <a:avLst/>
          </a:prstGeom>
        </p:spPr>
      </p:pic>
      <p:sp>
        <p:nvSpPr>
          <p:cNvPr id="4" name="score-stat-box-0">
            <a:extLst xmlns:a="http://schemas.openxmlformats.org/drawingml/2006/main">
              <a:ext uri="{FF2B5EF4-FFF2-40B4-BE49-F238E27FC236}">
                <a16:creationId xmlns:a16="http://schemas.microsoft.com/office/drawing/2014/main" id="{82A4B448-A8D8-46FC-AFC3-92911E01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95425"/>
            <a:ext cx="361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re-stat-0">
            <a:extLst xmlns:a="http://schemas.openxmlformats.org/drawingml/2006/main">
              <a:ext uri="{FF2B5EF4-FFF2-40B4-BE49-F238E27FC236}">
                <a16:creationId xmlns:a16="http://schemas.microsoft.com/office/drawing/2014/main" id="{A8FF35E4-E025-4747-8738-8FF6E8F6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0.2363</a:t>
            </a:r>
          </a:p>
        </p:txBody>
      </p:sp>
      <p:sp>
        <p:nvSpPr>
          <p:cNvPr id="6" name="score-label-0">
            <a:extLst xmlns:a="http://schemas.openxmlformats.org/drawingml/2006/main">
              <a:ext uri="{FF2B5EF4-FFF2-40B4-BE49-F238E27FC236}">
                <a16:creationId xmlns:a16="http://schemas.microsoft.com/office/drawing/2014/main" id="{47102AD7-D311-4840-B6BA-1EFC792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09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HMM mean Brier</a:t>
            </a:r>
          </a:p>
        </p:txBody>
      </p:sp>
      <p:sp>
        <p:nvSpPr>
          <p:cNvPr id="7" name="score-stat-box-1">
            <a:extLst xmlns:a="http://schemas.openxmlformats.org/drawingml/2006/main">
              <a:ext uri="{FF2B5EF4-FFF2-40B4-BE49-F238E27FC236}">
                <a16:creationId xmlns:a16="http://schemas.microsoft.com/office/drawing/2014/main" id="{020C147D-5176-4020-8CB0-036A614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05125"/>
            <a:ext cx="361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re-stat-1">
            <a:extLst xmlns:a="http://schemas.openxmlformats.org/drawingml/2006/main">
              <a:ext uri="{FF2B5EF4-FFF2-40B4-BE49-F238E27FC236}">
                <a16:creationId xmlns:a16="http://schemas.microsoft.com/office/drawing/2014/main" id="{61664FF7-1941-4419-AA32-1A7188E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051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0.6653</a:t>
            </a:r>
          </a:p>
        </p:txBody>
      </p:sp>
      <p:sp>
        <p:nvSpPr>
          <p:cNvPr id="9" name="score-label-1">
            <a:extLst xmlns:a="http://schemas.openxmlformats.org/drawingml/2006/main">
              <a:ext uri="{FF2B5EF4-FFF2-40B4-BE49-F238E27FC236}">
                <a16:creationId xmlns:a16="http://schemas.microsoft.com/office/drawing/2014/main" id="{0A7874DE-7AC3-4A87-B7A8-EF28120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HMM mean log loss</a:t>
            </a:r>
          </a:p>
        </p:txBody>
      </p:sp>
      <p:sp>
        <p:nvSpPr>
          <p:cNvPr id="10" name="score-stat-box-2">
            <a:extLst xmlns:a="http://schemas.openxmlformats.org/drawingml/2006/main">
              <a:ext uri="{FF2B5EF4-FFF2-40B4-BE49-F238E27FC236}">
                <a16:creationId xmlns:a16="http://schemas.microsoft.com/office/drawing/2014/main" id="{01BB6EEE-1BBD-415A-8676-23E7B37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14825"/>
            <a:ext cx="361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ore-stat-2">
            <a:extLst xmlns:a="http://schemas.openxmlformats.org/drawingml/2006/main">
              <a:ext uri="{FF2B5EF4-FFF2-40B4-BE49-F238E27FC236}">
                <a16:creationId xmlns:a16="http://schemas.microsoft.com/office/drawing/2014/main" id="{07C1E463-5E0B-419D-B8A8-5CC1DE8C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148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12" name="score-label-2">
            <a:extLst xmlns:a="http://schemas.openxmlformats.org/drawingml/2006/main">
              <a:ext uri="{FF2B5EF4-FFF2-40B4-BE49-F238E27FC236}">
                <a16:creationId xmlns:a16="http://schemas.microsoft.com/office/drawing/2014/main" id="{4E5015AC-0D01-41BC-B17C-4F09E1BD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29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wins vs each baseline</a:t>
            </a:r>
          </a:p>
        </p:txBody>
      </p:sp>
      <p:sp>
        <p:nvSpPr>
          <p:cNvPr id="13" name="score-boundary">
            <a:extLst xmlns:a="http://schemas.openxmlformats.org/drawingml/2006/main">
              <a:ext uri="{FF2B5EF4-FFF2-40B4-BE49-F238E27FC236}">
                <a16:creationId xmlns:a16="http://schemas.microsoft.com/office/drawing/2014/main" id="{D7E08209-9A75-4782-B824-01AFD865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721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Oracle Brier 0.2003: the fitted model improved on simple baselines but did not recover all planted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53648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9">
            <a:extLst xmlns:a="http://schemas.openxmlformats.org/drawingml/2006/main">
              <a:ext uri="{FF2B5EF4-FFF2-40B4-BE49-F238E27FC236}">
                <a16:creationId xmlns:a16="http://schemas.microsoft.com/office/drawing/2014/main" id="{1046C445-D921-4E4D-A868-2C6612DE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Six gates passed; two recovery gates stopped the lane</a:t>
            </a:r>
          </a:p>
        </p:txBody>
      </p:sp>
      <p:sp>
        <p:nvSpPr>
          <p:cNvPr id="2" name="footer-9">
            <a:extLst xmlns:a="http://schemas.openxmlformats.org/drawingml/2006/main">
              <a:ext uri="{FF2B5EF4-FFF2-40B4-BE49-F238E27FC236}">
                <a16:creationId xmlns:a16="http://schemas.microsoft.com/office/drawing/2014/main" id="{2D7E696E-0EC1-42D4-BE14-FF718FB6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gate-h1">
            <a:extLst xmlns:a="http://schemas.openxmlformats.org/drawingml/2006/main">
              <a:ext uri="{FF2B5EF4-FFF2-40B4-BE49-F238E27FC236}">
                <a16:creationId xmlns:a16="http://schemas.microsoft.com/office/drawing/2014/main" id="{DF75F23E-A111-43D5-88BA-0B57020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4" name="gate-h2">
            <a:extLst xmlns:a="http://schemas.openxmlformats.org/drawingml/2006/main">
              <a:ext uri="{FF2B5EF4-FFF2-40B4-BE49-F238E27FC236}">
                <a16:creationId xmlns:a16="http://schemas.microsoft.com/office/drawing/2014/main" id="{C60D0C8E-EC78-4E31-91F8-1408F8DE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81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5" name="gate-h3">
            <a:extLst xmlns:a="http://schemas.openxmlformats.org/drawingml/2006/main">
              <a:ext uri="{FF2B5EF4-FFF2-40B4-BE49-F238E27FC236}">
                <a16:creationId xmlns:a16="http://schemas.microsoft.com/office/drawing/2014/main" id="{C1316102-DE01-439D-8795-0B2B6B4C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811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6" name="gate-row-0">
            <a:extLst xmlns:a="http://schemas.openxmlformats.org/drawingml/2006/main">
              <a:ext uri="{FF2B5EF4-FFF2-40B4-BE49-F238E27FC236}">
                <a16:creationId xmlns:a16="http://schemas.microsoft.com/office/drawing/2014/main" id="{E56F8F19-650D-4EC8-96CF-12886A9F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id-0">
            <a:extLst xmlns:a="http://schemas.openxmlformats.org/drawingml/2006/main">
              <a:ext uri="{FF2B5EF4-FFF2-40B4-BE49-F238E27FC236}">
                <a16:creationId xmlns:a16="http://schemas.microsoft.com/office/drawing/2014/main" id="{F595A55B-B148-46A5-81AF-721DF504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8" name="gate-status-0">
            <a:extLst xmlns:a="http://schemas.openxmlformats.org/drawingml/2006/main">
              <a:ext uri="{FF2B5EF4-FFF2-40B4-BE49-F238E27FC236}">
                <a16:creationId xmlns:a16="http://schemas.microsoft.com/office/drawing/2014/main" id="{AB5DE581-05CA-4A30-B69A-43FFC1C8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57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9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9" name="gate-obs-0">
            <a:extLst xmlns:a="http://schemas.openxmlformats.org/drawingml/2006/main">
              <a:ext uri="{FF2B5EF4-FFF2-40B4-BE49-F238E27FC236}">
                <a16:creationId xmlns:a16="http://schemas.microsoft.com/office/drawing/2014/main" id="{AB4A1923-9AEA-49EF-AA7E-B4F8B6E7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573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 / 10 valid package fits</a:t>
            </a:r>
          </a:p>
        </p:txBody>
      </p:sp>
      <p:sp>
        <p:nvSpPr>
          <p:cNvPr id="10" name="gate-row-1">
            <a:extLst xmlns:a="http://schemas.openxmlformats.org/drawingml/2006/main">
              <a:ext uri="{FF2B5EF4-FFF2-40B4-BE49-F238E27FC236}">
                <a16:creationId xmlns:a16="http://schemas.microsoft.com/office/drawing/2014/main" id="{BCF57E58-3707-4B53-9060-9B72D71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ate-id-1">
            <a:extLst xmlns:a="http://schemas.openxmlformats.org/drawingml/2006/main">
              <a:ext uri="{FF2B5EF4-FFF2-40B4-BE49-F238E27FC236}">
                <a16:creationId xmlns:a16="http://schemas.microsoft.com/office/drawing/2014/main" id="{58C8CB6F-9441-441B-8D57-53457D6C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2" name="gate-status-1">
            <a:extLst xmlns:a="http://schemas.openxmlformats.org/drawingml/2006/main">
              <a:ext uri="{FF2B5EF4-FFF2-40B4-BE49-F238E27FC236}">
                <a16:creationId xmlns:a16="http://schemas.microsoft.com/office/drawing/2014/main" id="{0270FEBB-880C-4765-9AC8-00A09AA0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9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3" name="gate-obs-1">
            <a:extLst xmlns:a="http://schemas.openxmlformats.org/drawingml/2006/main">
              <a:ext uri="{FF2B5EF4-FFF2-40B4-BE49-F238E27FC236}">
                <a16:creationId xmlns:a16="http://schemas.microsoft.com/office/drawing/2014/main" id="{7FD79E93-72CC-4634-BA06-6F83CA7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append difference = 0</a:t>
            </a:r>
          </a:p>
        </p:txBody>
      </p:sp>
      <p:sp>
        <p:nvSpPr>
          <p:cNvPr id="14" name="gate-row-2">
            <a:extLst xmlns:a="http://schemas.openxmlformats.org/drawingml/2006/main">
              <a:ext uri="{FF2B5EF4-FFF2-40B4-BE49-F238E27FC236}">
                <a16:creationId xmlns:a16="http://schemas.microsoft.com/office/drawing/2014/main" id="{2EA5FFDE-959B-477E-9BF9-D92BDF1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ate-id-2">
            <a:extLst xmlns:a="http://schemas.openxmlformats.org/drawingml/2006/main">
              <a:ext uri="{FF2B5EF4-FFF2-40B4-BE49-F238E27FC236}">
                <a16:creationId xmlns:a16="http://schemas.microsoft.com/office/drawing/2014/main" id="{557835BD-D57D-4EAD-BDF3-BD9D712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6" name="gate-status-2">
            <a:extLst xmlns:a="http://schemas.openxmlformats.org/drawingml/2006/main">
              <a:ext uri="{FF2B5EF4-FFF2-40B4-BE49-F238E27FC236}">
                <a16:creationId xmlns:a16="http://schemas.microsoft.com/office/drawing/2014/main" id="{29C8E326-5D52-4B54-86CA-7A93FF3A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051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7" name="gate-obs-2">
            <a:extLst xmlns:a="http://schemas.openxmlformats.org/drawingml/2006/main">
              <a:ext uri="{FF2B5EF4-FFF2-40B4-BE49-F238E27FC236}">
                <a16:creationId xmlns:a16="http://schemas.microsoft.com/office/drawing/2014/main" id="{7B103E79-5EA0-475D-9695-D7A3827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 accuracy 72.1% median; 64.7% p10</a:t>
            </a:r>
          </a:p>
        </p:txBody>
      </p:sp>
      <p:sp>
        <p:nvSpPr>
          <p:cNvPr id="18" name="gate-row-3">
            <a:extLst xmlns:a="http://schemas.openxmlformats.org/drawingml/2006/main">
              <a:ext uri="{FF2B5EF4-FFF2-40B4-BE49-F238E27FC236}">
                <a16:creationId xmlns:a16="http://schemas.microsoft.com/office/drawing/2014/main" id="{2F666DF3-1FDC-403C-A1CB-6F75AB6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ate-id-3">
            <a:extLst xmlns:a="http://schemas.openxmlformats.org/drawingml/2006/main">
              <a:ext uri="{FF2B5EF4-FFF2-40B4-BE49-F238E27FC236}">
                <a16:creationId xmlns:a16="http://schemas.microsoft.com/office/drawing/2014/main" id="{32956681-96D9-486D-81BE-CBB5A269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20" name="gate-status-3">
            <a:extLst xmlns:a="http://schemas.openxmlformats.org/drawingml/2006/main">
              <a:ext uri="{FF2B5EF4-FFF2-40B4-BE49-F238E27FC236}">
                <a16:creationId xmlns:a16="http://schemas.microsoft.com/office/drawing/2014/main" id="{D29EC911-A42C-4B9B-855F-EE094DB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1" name="gate-obs-3">
            <a:extLst xmlns:a="http://schemas.openxmlformats.org/drawingml/2006/main">
              <a:ext uri="{FF2B5EF4-FFF2-40B4-BE49-F238E27FC236}">
                <a16:creationId xmlns:a16="http://schemas.microsoft.com/office/drawing/2014/main" id="{A65B25A0-F0E8-4FB9-BD9B-291D69AC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transition error 0.0344 median; 0.1289 p90</a:t>
            </a:r>
          </a:p>
        </p:txBody>
      </p:sp>
      <p:sp>
        <p:nvSpPr>
          <p:cNvPr id="22" name="gate-row-4">
            <a:extLst xmlns:a="http://schemas.openxmlformats.org/drawingml/2006/main">
              <a:ext uri="{FF2B5EF4-FFF2-40B4-BE49-F238E27FC236}">
                <a16:creationId xmlns:a16="http://schemas.microsoft.com/office/drawing/2014/main" id="{AE3EE794-C95D-4C95-9CA2-587DC7EA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ate-id-4">
            <a:extLst xmlns:a="http://schemas.openxmlformats.org/drawingml/2006/main">
              <a:ext uri="{FF2B5EF4-FFF2-40B4-BE49-F238E27FC236}">
                <a16:creationId xmlns:a16="http://schemas.microsoft.com/office/drawing/2014/main" id="{336F6123-DF33-42C7-B8D6-C7E7898A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24" name="gate-status-4">
            <a:extLst xmlns:a="http://schemas.openxmlformats.org/drawingml/2006/main">
              <a:ext uri="{FF2B5EF4-FFF2-40B4-BE49-F238E27FC236}">
                <a16:creationId xmlns:a16="http://schemas.microsoft.com/office/drawing/2014/main" id="{D277902D-C878-4C60-9991-C9F6248B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52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9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5" name="gate-obs-4">
            <a:extLst xmlns:a="http://schemas.openxmlformats.org/drawingml/2006/main">
              <a:ext uri="{FF2B5EF4-FFF2-40B4-BE49-F238E27FC236}">
                <a16:creationId xmlns:a16="http://schemas.microsoft.com/office/drawing/2014/main" id="{588E7ADD-2550-4D4D-B75F-7D3D2BC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528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Brier improved; 9 / 10 wins</a:t>
            </a:r>
          </a:p>
        </p:txBody>
      </p:sp>
      <p:sp>
        <p:nvSpPr>
          <p:cNvPr id="26" name="gate-row-5">
            <a:extLst xmlns:a="http://schemas.openxmlformats.org/drawingml/2006/main">
              <a:ext uri="{FF2B5EF4-FFF2-40B4-BE49-F238E27FC236}">
                <a16:creationId xmlns:a16="http://schemas.microsoft.com/office/drawing/2014/main" id="{95190481-6324-4D7A-9860-55CAE3F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ate-id-5">
            <a:extLst xmlns:a="http://schemas.openxmlformats.org/drawingml/2006/main">
              <a:ext uri="{FF2B5EF4-FFF2-40B4-BE49-F238E27FC236}">
                <a16:creationId xmlns:a16="http://schemas.microsoft.com/office/drawing/2014/main" id="{43B2EBF0-518F-4DB3-885B-723C720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A6</a:t>
            </a:r>
          </a:p>
        </p:txBody>
      </p:sp>
      <p:sp>
        <p:nvSpPr>
          <p:cNvPr id="28" name="gate-status-5">
            <a:extLst xmlns:a="http://schemas.openxmlformats.org/drawingml/2006/main">
              <a:ext uri="{FF2B5EF4-FFF2-40B4-BE49-F238E27FC236}">
                <a16:creationId xmlns:a16="http://schemas.microsoft.com/office/drawing/2014/main" id="{01694B26-764F-492B-92DA-E98DADB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9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9" name="gate-obs-5">
            <a:extLst xmlns:a="http://schemas.openxmlformats.org/drawingml/2006/main">
              <a:ext uri="{FF2B5EF4-FFF2-40B4-BE49-F238E27FC236}">
                <a16:creationId xmlns:a16="http://schemas.microsoft.com/office/drawing/2014/main" id="{DACDC8C6-FFB1-4DA1-9F18-66FF15D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 loss improved; 9 / 10 wins</a:t>
            </a:r>
          </a:p>
        </p:txBody>
      </p:sp>
      <p:sp>
        <p:nvSpPr>
          <p:cNvPr id="30" name="gate-row-6">
            <a:extLst xmlns:a="http://schemas.openxmlformats.org/drawingml/2006/main">
              <a:ext uri="{FF2B5EF4-FFF2-40B4-BE49-F238E27FC236}">
                <a16:creationId xmlns:a16="http://schemas.microsoft.com/office/drawing/2014/main" id="{5911AF73-50AA-4AB5-872B-8A7A2CF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te-id-6">
            <a:extLst xmlns:a="http://schemas.openxmlformats.org/drawingml/2006/main">
              <a:ext uri="{FF2B5EF4-FFF2-40B4-BE49-F238E27FC236}">
                <a16:creationId xmlns:a16="http://schemas.microsoft.com/office/drawing/2014/main" id="{B54D2B61-9E41-47C3-AB0D-D9DC33A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A7</a:t>
            </a:r>
          </a:p>
        </p:txBody>
      </p:sp>
      <p:sp>
        <p:nvSpPr>
          <p:cNvPr id="32" name="gate-status-6">
            <a:extLst xmlns:a="http://schemas.openxmlformats.org/drawingml/2006/main">
              <a:ext uri="{FF2B5EF4-FFF2-40B4-BE49-F238E27FC236}">
                <a16:creationId xmlns:a16="http://schemas.microsoft.com/office/drawing/2014/main" id="{6F1C4731-DC07-4B1F-BC8A-AC33F1C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00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9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3" name="gate-obs-6">
            <a:extLst xmlns:a="http://schemas.openxmlformats.org/drawingml/2006/main">
              <a:ext uri="{FF2B5EF4-FFF2-40B4-BE49-F238E27FC236}">
                <a16:creationId xmlns:a16="http://schemas.microsoft.com/office/drawing/2014/main" id="{84957A04-A49A-4CE8-8C85-C70A632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006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remained better; scores finite</a:t>
            </a:r>
          </a:p>
        </p:txBody>
      </p:sp>
      <p:sp>
        <p:nvSpPr>
          <p:cNvPr id="34" name="gate-row-7">
            <a:extLst xmlns:a="http://schemas.openxmlformats.org/drawingml/2006/main">
              <a:ext uri="{FF2B5EF4-FFF2-40B4-BE49-F238E27FC236}">
                <a16:creationId xmlns:a16="http://schemas.microsoft.com/office/drawing/2014/main" id="{6CC417B9-D563-4504-B843-D432C465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ate-id-7">
            <a:extLst xmlns:a="http://schemas.openxmlformats.org/drawingml/2006/main">
              <a:ext uri="{FF2B5EF4-FFF2-40B4-BE49-F238E27FC236}">
                <a16:creationId xmlns:a16="http://schemas.microsoft.com/office/drawing/2014/main" id="{501A593A-5EA7-46B4-B6C9-255FC414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A8</a:t>
            </a:r>
          </a:p>
        </p:txBody>
      </p:sp>
      <p:sp>
        <p:nvSpPr>
          <p:cNvPr id="36" name="gate-status-7">
            <a:extLst xmlns:a="http://schemas.openxmlformats.org/drawingml/2006/main">
              <a:ext uri="{FF2B5EF4-FFF2-40B4-BE49-F238E27FC236}">
                <a16:creationId xmlns:a16="http://schemas.microsoft.com/office/drawing/2014/main" id="{D09A7E91-B086-46C4-8311-BAC166F6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99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7" name="gate-obs-7">
            <a:extLst xmlns:a="http://schemas.openxmlformats.org/drawingml/2006/main">
              <a:ext uri="{FF2B5EF4-FFF2-40B4-BE49-F238E27FC236}">
                <a16:creationId xmlns:a16="http://schemas.microsoft.com/office/drawing/2014/main" id="{15924628-E98A-4FE9-A53E-58844928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deterministic replay</a:t>
            </a:r>
          </a:p>
        </p:txBody>
      </p:sp>
      <p:sp>
        <p:nvSpPr>
          <p:cNvPr id="38" name="gate-stop">
            <a:extLst xmlns:a="http://schemas.openxmlformats.org/drawingml/2006/main">
              <a:ext uri="{FF2B5EF4-FFF2-40B4-BE49-F238E27FC236}">
                <a16:creationId xmlns:a16="http://schemas.microsoft.com/office/drawing/2014/main" id="{98194B1B-61A1-462A-A57F-BBEECA8D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62125"/>
            <a:ext cx="2238375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ate-stop-stat">
            <a:extLst xmlns:a="http://schemas.openxmlformats.org/drawingml/2006/main">
              <a:ext uri="{FF2B5EF4-FFF2-40B4-BE49-F238E27FC236}">
                <a16:creationId xmlns:a16="http://schemas.microsoft.com/office/drawing/2014/main" id="{115ED9B5-E508-4D9B-A3C4-D93E9F55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sp>
        <p:nvSpPr>
          <p:cNvPr id="40" name="gate-stop-copy">
            <a:extLst xmlns:a="http://schemas.openxmlformats.org/drawingml/2006/main">
              <a:ext uri="{FF2B5EF4-FFF2-40B4-BE49-F238E27FC236}">
                <a16:creationId xmlns:a16="http://schemas.microsoft.com/office/drawing/2014/main" id="{61C00BD0-5A4D-49BE-AF6B-8B2E88CB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0"/>
            <a:ext cx="171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Conjunctive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Frontier not run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Stress not run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Market not read</a:t>
            </a:r>
          </a:p>
        </p:txBody>
      </p:sp>
    </p:spTree>
    <p:extLst>
      <p:ext uri="{BB962C8B-B14F-4D97-AF65-F5344CB8AC3E}">
        <p14:creationId xmlns:p14="http://schemas.microsoft.com/office/powerpoint/2010/main" val="1611062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0">
            <a:extLst xmlns:a="http://schemas.openxmlformats.org/drawingml/2006/main">
              <a:ext uri="{FF2B5EF4-FFF2-40B4-BE49-F238E27FC236}">
                <a16:creationId xmlns:a16="http://schemas.microsoft.com/office/drawing/2014/main" id="{8F8FB335-B402-4938-8665-F023FB5A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 forecasts and hard state labels answer different questions</a:t>
            </a:r>
          </a:p>
        </p:txBody>
      </p:sp>
      <p:sp>
        <p:nvSpPr>
          <p:cNvPr id="2" name="footer-10">
            <a:extLst xmlns:a="http://schemas.openxmlformats.org/drawingml/2006/main">
              <a:ext uri="{FF2B5EF4-FFF2-40B4-BE49-F238E27FC236}">
                <a16:creationId xmlns:a16="http://schemas.microsoft.com/office/drawing/2014/main" id="{1006D907-CD98-468D-AA6A-7857DB38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soft-panel">
            <a:extLst xmlns:a="http://schemas.openxmlformats.org/drawingml/2006/main">
              <a:ext uri="{FF2B5EF4-FFF2-40B4-BE49-F238E27FC236}">
                <a16:creationId xmlns:a16="http://schemas.microsoft.com/office/drawing/2014/main" id="{4E2CBCDC-06B2-4253-A8CB-44D41FBC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911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ard-panel">
            <a:extLst xmlns:a="http://schemas.openxmlformats.org/drawingml/2006/main">
              <a:ext uri="{FF2B5EF4-FFF2-40B4-BE49-F238E27FC236}">
                <a16:creationId xmlns:a16="http://schemas.microsoft.com/office/drawing/2014/main" id="{F9F68B70-2C47-45D8-9E15-D5F2ECF3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911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ft-title">
            <a:extLst xmlns:a="http://schemas.openxmlformats.org/drawingml/2006/main">
              <a:ext uri="{FF2B5EF4-FFF2-40B4-BE49-F238E27FC236}">
                <a16:creationId xmlns:a16="http://schemas.microsoft.com/office/drawing/2014/main" id="{465BA438-CE31-4BA5-96F8-9E40BC50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Soft probability</a:t>
            </a:r>
          </a:p>
        </p:txBody>
      </p:sp>
      <p:sp>
        <p:nvSpPr>
          <p:cNvPr id="6" name="soft-q">
            <a:extLst xmlns:a="http://schemas.openxmlformats.org/drawingml/2006/main">
              <a:ext uri="{FF2B5EF4-FFF2-40B4-BE49-F238E27FC236}">
                <a16:creationId xmlns:a16="http://schemas.microsoft.com/office/drawing/2014/main" id="{4743ACA8-4824-45E4-AD6E-A8D9F5CD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“How much evidence favors the more positive state?”</a:t>
            </a:r>
          </a:p>
        </p:txBody>
      </p:sp>
      <p:sp>
        <p:nvSpPr>
          <p:cNvPr id="7" name="soft-copy">
            <a:extLst xmlns:a="http://schemas.openxmlformats.org/drawingml/2006/main">
              <a:ext uri="{FF2B5EF4-FFF2-40B4-BE49-F238E27FC236}">
                <a16:creationId xmlns:a16="http://schemas.microsoft.com/office/drawing/2014/main" id="{9E2F4F9D-8CD7-429A-8A8B-2840B908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Preserves uncertainty.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improve Brier/log loss even when many individual labels are wrong.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Matches risk-aware decision inputs better than an oracle color band.</a:t>
            </a:r>
          </a:p>
        </p:txBody>
      </p:sp>
      <p:sp>
        <p:nvSpPr>
          <p:cNvPr id="8" name="hard-title">
            <a:extLst xmlns:a="http://schemas.openxmlformats.org/drawingml/2006/main">
              <a:ext uri="{FF2B5EF4-FFF2-40B4-BE49-F238E27FC236}">
                <a16:creationId xmlns:a16="http://schemas.microsoft.com/office/drawing/2014/main" id="{AD47EF58-3563-4820-9275-76C7CB49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Hard label</a:t>
            </a:r>
          </a:p>
        </p:txBody>
      </p:sp>
      <p:sp>
        <p:nvSpPr>
          <p:cNvPr id="9" name="hard-q">
            <a:extLst xmlns:a="http://schemas.openxmlformats.org/drawingml/2006/main">
              <a:ext uri="{FF2B5EF4-FFF2-40B4-BE49-F238E27FC236}">
                <a16:creationId xmlns:a16="http://schemas.microsoft.com/office/drawing/2014/main" id="{2F57D92B-E126-450A-B114-9C1F220E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“Which state has probability above 50% today?”</a:t>
            </a:r>
          </a:p>
        </p:txBody>
      </p:sp>
      <p:sp>
        <p:nvSpPr>
          <p:cNvPr id="10" name="hard-copy">
            <a:extLst xmlns:a="http://schemas.openxmlformats.org/drawingml/2006/main">
              <a:ext uri="{FF2B5EF4-FFF2-40B4-BE49-F238E27FC236}">
                <a16:creationId xmlns:a16="http://schemas.microsoft.com/office/drawing/2014/main" id="{81F7E4A0-BF84-446E-B1D4-FC250E24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Throws away probability magnitude.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Penalizes ambiguous dates as fully wrong.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Still useful for checking whether planted structure was actually recovered.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F95486BB-9F87-413B-9631-5421E7E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02.1 stopped correctly—but it revealed that a future direction lane should decide whether its scientific aim is decoding or forecasting.</a:t>
            </a:r>
          </a:p>
        </p:txBody>
      </p:sp>
    </p:spTree>
    <p:extLst>
      <p:ext uri="{BB962C8B-B14F-4D97-AF65-F5344CB8AC3E}">
        <p14:creationId xmlns:p14="http://schemas.microsoft.com/office/powerpoint/2010/main" val="1974068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1">
            <a:extLst xmlns:a="http://schemas.openxmlformats.org/drawingml/2006/main">
              <a:ext uri="{FF2B5EF4-FFF2-40B4-BE49-F238E27FC236}">
                <a16:creationId xmlns:a16="http://schemas.microsoft.com/office/drawing/2014/main" id="{A6D78E7C-55FA-46CA-86E8-A9BE912F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Preserve the STOP; carry the probabilistic clue into the next discussion</a:t>
            </a:r>
          </a:p>
        </p:txBody>
      </p:sp>
      <p:sp>
        <p:nvSpPr>
          <p:cNvPr id="2" name="footer-11">
            <a:extLst xmlns:a="http://schemas.openxmlformats.org/drawingml/2006/main">
              <a:ext uri="{FF2B5EF4-FFF2-40B4-BE49-F238E27FC236}">
                <a16:creationId xmlns:a16="http://schemas.microsoft.com/office/drawing/2014/main" id="{78D6F260-AB64-431D-A6D5-7199E2B5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verdict">
            <a:extLst xmlns:a="http://schemas.openxmlformats.org/drawingml/2006/main">
              <a:ext uri="{FF2B5EF4-FFF2-40B4-BE49-F238E27FC236}">
                <a16:creationId xmlns:a16="http://schemas.microsoft.com/office/drawing/2014/main" id="{F1828BB9-99F5-482F-B834-3FC1A543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STOP_LIT_REG_02_1_DIRECTIONAL_</a:t>
            </a:r>
          </a:p>
          <a:p xmlns:a="http://schemas.openxmlformats.org/drawingml/2006/main">
            <a:pPr algn="l">
              <a:defRPr sz="2175" b="1">
                <a:solidFill>
                  <a:srgbClr val="D95D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D6A"/>
                </a:solidFill>
                <a:latin typeface="Arial"/>
                <a:ea typeface="Arial"/>
                <a:cs typeface="Arial"/>
              </a:rPr>
              <a:t>MECHANISM_QUALIFICATION_FAILED</a:t>
            </a:r>
          </a:p>
        </p:txBody>
      </p:sp>
      <p:sp>
        <p:nvSpPr>
          <p:cNvPr id="4" name="preserve-head">
            <a:extLst xmlns:a="http://schemas.openxmlformats.org/drawingml/2006/main">
              <a:ext uri="{FF2B5EF4-FFF2-40B4-BE49-F238E27FC236}">
                <a16:creationId xmlns:a16="http://schemas.microsoft.com/office/drawing/2014/main" id="{BA512ADB-3A31-4034-91E8-89D4B41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5" name="preserve-copy">
            <a:extLst xmlns:a="http://schemas.openxmlformats.org/drawingml/2006/main">
              <a:ext uri="{FF2B5EF4-FFF2-40B4-BE49-F238E27FC236}">
                <a16:creationId xmlns:a16="http://schemas.microsoft.com/office/drawing/2014/main" id="{3DB532A9-6062-46DB-9E1F-E5743F6E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10/10 valid package fits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exact causality and replay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proper-score improvement in 9/10 cases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imperfect daily decoding and transition-tail recovery</a:t>
            </a:r>
          </a:p>
        </p:txBody>
      </p:sp>
      <p:sp>
        <p:nvSpPr>
          <p:cNvPr id="6" name="paths-head">
            <a:extLst xmlns:a="http://schemas.openxmlformats.org/drawingml/2006/main">
              <a:ext uri="{FF2B5EF4-FFF2-40B4-BE49-F238E27FC236}">
                <a16:creationId xmlns:a16="http://schemas.microsoft.com/office/drawing/2014/main" id="{67379059-63B5-4168-AABF-AB9C8D9F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Separately discuss next</a:t>
            </a:r>
          </a:p>
        </p:txBody>
      </p:sp>
      <p:sp>
        <p:nvSpPr>
          <p:cNvPr id="7" name="path-0">
            <a:extLst xmlns:a="http://schemas.openxmlformats.org/drawingml/2006/main">
              <a:ext uri="{FF2B5EF4-FFF2-40B4-BE49-F238E27FC236}">
                <a16:creationId xmlns:a16="http://schemas.microsoft.com/office/drawing/2014/main" id="{B029DA6C-F254-4F39-9FD8-CD97943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text-0">
            <a:extLst xmlns:a="http://schemas.openxmlformats.org/drawingml/2006/main">
              <a:ext uri="{FF2B5EF4-FFF2-40B4-BE49-F238E27FC236}">
                <a16:creationId xmlns:a16="http://schemas.microsoft.com/office/drawing/2014/main" id="{A2FEECA7-DB1F-4281-864E-85D49EC9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Forecast-first 02.2 detection frontier</a:t>
            </a:r>
          </a:p>
        </p:txBody>
      </p:sp>
      <p:sp>
        <p:nvSpPr>
          <p:cNvPr id="9" name="path-1">
            <a:extLst xmlns:a="http://schemas.openxmlformats.org/drawingml/2006/main">
              <a:ext uri="{FF2B5EF4-FFF2-40B4-BE49-F238E27FC236}">
                <a16:creationId xmlns:a16="http://schemas.microsoft.com/office/drawing/2014/main" id="{F50D642B-DEF9-45BD-84B7-8388214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86075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text-1">
            <a:extLst xmlns:a="http://schemas.openxmlformats.org/drawingml/2006/main">
              <a:ext uri="{FF2B5EF4-FFF2-40B4-BE49-F238E27FC236}">
                <a16:creationId xmlns:a16="http://schemas.microsoft.com/office/drawing/2014/main" id="{178B904F-9BBE-4332-A8A5-227D877D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575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Real-residual semi-synthetic bridge</a:t>
            </a:r>
          </a:p>
        </p:txBody>
      </p:sp>
      <p:sp>
        <p:nvSpPr>
          <p:cNvPr id="11" name="path-2">
            <a:extLst xmlns:a="http://schemas.openxmlformats.org/drawingml/2006/main">
              <a:ext uri="{FF2B5EF4-FFF2-40B4-BE49-F238E27FC236}">
                <a16:creationId xmlns:a16="http://schemas.microsoft.com/office/drawing/2014/main" id="{F43B222A-9533-43A4-95BD-2CB8061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7665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text-2">
            <a:extLst xmlns:a="http://schemas.openxmlformats.org/drawingml/2006/main">
              <a:ext uri="{FF2B5EF4-FFF2-40B4-BE49-F238E27FC236}">
                <a16:creationId xmlns:a16="http://schemas.microsoft.com/office/drawing/2014/main" id="{5402C1A0-818E-4915-AB1D-BB7964D1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Honest canonical market TRAIN/OOS</a:t>
            </a:r>
          </a:p>
        </p:txBody>
      </p:sp>
      <p:sp>
        <p:nvSpPr>
          <p:cNvPr id="13" name="path-3">
            <a:extLst xmlns:a="http://schemas.openxmlformats.org/drawingml/2006/main">
              <a:ext uri="{FF2B5EF4-FFF2-40B4-BE49-F238E27FC236}">
                <a16:creationId xmlns:a16="http://schemas.microsoft.com/office/drawing/2014/main" id="{831C6AFD-AE04-45CD-BD01-F9AAF55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text-3">
            <a:extLst xmlns:a="http://schemas.openxmlformats.org/drawingml/2006/main">
              <a:ext uri="{FF2B5EF4-FFF2-40B4-BE49-F238E27FC236}">
                <a16:creationId xmlns:a16="http://schemas.microsoft.com/office/drawing/2014/main" id="{529805CB-26A7-4E4D-BFB9-E4634065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386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Later: duration, covariates, shared states</a:t>
            </a:r>
          </a:p>
        </p:txBody>
      </p:sp>
      <p:sp>
        <p:nvSpPr>
          <p:cNvPr id="15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DEE5A6EA-6FE3-4F96-8B5D-899A7229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gate change, no downstream execution, and no market or strategy claim under 02.1.</a:t>
            </a:r>
          </a:p>
        </p:txBody>
      </p:sp>
    </p:spTree>
    <p:extLst>
      <p:ext uri="{BB962C8B-B14F-4D97-AF65-F5344CB8AC3E}">
        <p14:creationId xmlns:p14="http://schemas.microsoft.com/office/powerpoint/2010/main" val="1913445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2026-08-19T20:34:49.6800000Z</dcterms:created>
  <dcterms:modified xsi:type="dcterms:W3CDTF">2026-08-19T20:34:49.6810000Z</dcterms:modified>
</coreProperties>
</file>