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836a125ede419f" /><Relationship Type="http://schemas.openxmlformats.org/officeDocument/2006/relationships/extended-properties" Target="/docProps/app.xml" Id="R5538e8d211dc43a2" /><Relationship Type="http://schemas.openxmlformats.org/officeDocument/2006/relationships/officeDocument" Target="/ppt/presentation.xml" Id="R383295a3625d4cc8" /></Relationships>
</file>

<file path=ppt/presentation.xml><?xml version="1.0" encoding="utf-8"?>
<p:presentation xmlns:p="http://schemas.openxmlformats.org/presentationml/2006/main">
  <p:sldMasterIdLst>
    <p:sldMasterId xmlns:r="http://schemas.openxmlformats.org/officeDocument/2006/relationships" id="2147483648" r:id="R0755ca0810c4424c"/>
  </p:sldMasterIdLst>
  <p:notesMasterIdLst>
    <p:notesMasterId xmlns:r="http://schemas.openxmlformats.org/officeDocument/2006/relationships" r:id="Rea2a72eab34946ef"/>
  </p:notesMasterIdLst>
  <p:sldIdLst>
    <p:sldId xmlns:r="http://schemas.openxmlformats.org/officeDocument/2006/relationships" id="256" r:id="Rc2afb174e6b54611"/>
    <p:sldId xmlns:r="http://schemas.openxmlformats.org/officeDocument/2006/relationships" id="257" r:id="R585704347bfa4141"/>
    <p:sldId xmlns:r="http://schemas.openxmlformats.org/officeDocument/2006/relationships" id="258" r:id="Rccdcdb82c8584068"/>
    <p:sldId xmlns:r="http://schemas.openxmlformats.org/officeDocument/2006/relationships" id="259" r:id="Rbe67cc7c835f45a0"/>
    <p:sldId xmlns:r="http://schemas.openxmlformats.org/officeDocument/2006/relationships" id="260" r:id="Rd920adbdd08a4091"/>
    <p:sldId xmlns:r="http://schemas.openxmlformats.org/officeDocument/2006/relationships" id="261" r:id="Re8c1ce7b3af44a5d"/>
    <p:sldId xmlns:r="http://schemas.openxmlformats.org/officeDocument/2006/relationships" id="262" r:id="R94272acedb0a4770"/>
    <p:sldId xmlns:r="http://schemas.openxmlformats.org/officeDocument/2006/relationships" id="263" r:id="R05bee1f6346740a3"/>
    <p:sldId xmlns:r="http://schemas.openxmlformats.org/officeDocument/2006/relationships" id="264" r:id="R8121f5687dcb4325"/>
    <p:sldId xmlns:r="http://schemas.openxmlformats.org/officeDocument/2006/relationships" id="265" r:id="R7468cbd2e7d94ca0"/>
    <p:sldId xmlns:r="http://schemas.openxmlformats.org/officeDocument/2006/relationships" id="266" r:id="R01d3ea536dbc484c"/>
    <p:sldId xmlns:r="http://schemas.openxmlformats.org/officeDocument/2006/relationships" id="267" r:id="R04723cfa40274702"/>
    <p:sldId xmlns:r="http://schemas.openxmlformats.org/officeDocument/2006/relationships" id="268" r:id="R87038b9f55dd4304"/>
    <p:sldId xmlns:r="http://schemas.openxmlformats.org/officeDocument/2006/relationships" id="269" r:id="R3a4dda4f247d4e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48bf22e3e44ba8" /><Relationship Type="http://schemas.openxmlformats.org/officeDocument/2006/relationships/slideMaster" Target="/ppt/slideMasters/slideMaster1.xml" Id="R0755ca0810c4424c" /><Relationship Type="http://schemas.openxmlformats.org/officeDocument/2006/relationships/notesMaster" Target="/ppt/notesMasters/notesMaster1.xml" Id="Rea2a72eab34946ef" /><Relationship Type="http://schemas.openxmlformats.org/officeDocument/2006/relationships/presProps" Target="/ppt/presProps.xml" Id="Rf286c8509e974978" /><Relationship Type="http://schemas.openxmlformats.org/officeDocument/2006/relationships/tableStyles" Target="/ppt/tableStyles.xml" Id="R4000525f8ebb4290" /><Relationship Type="http://schemas.openxmlformats.org/officeDocument/2006/relationships/slide" Target="/ppt/slides/slide1.xml" Id="Rc2afb174e6b54611" /><Relationship Type="http://schemas.openxmlformats.org/officeDocument/2006/relationships/slide" Target="/ppt/slides/slide2.xml" Id="R585704347bfa4141" /><Relationship Type="http://schemas.openxmlformats.org/officeDocument/2006/relationships/slide" Target="/ppt/slides/slide3.xml" Id="Rccdcdb82c8584068" /><Relationship Type="http://schemas.openxmlformats.org/officeDocument/2006/relationships/slide" Target="/ppt/slides/slide4.xml" Id="Rbe67cc7c835f45a0" /><Relationship Type="http://schemas.openxmlformats.org/officeDocument/2006/relationships/slide" Target="/ppt/slides/slide5.xml" Id="Rd920adbdd08a4091" /><Relationship Type="http://schemas.openxmlformats.org/officeDocument/2006/relationships/slide" Target="/ppt/slides/slide6.xml" Id="Re8c1ce7b3af44a5d" /><Relationship Type="http://schemas.openxmlformats.org/officeDocument/2006/relationships/slide" Target="/ppt/slides/slide7.xml" Id="R94272acedb0a4770" /><Relationship Type="http://schemas.openxmlformats.org/officeDocument/2006/relationships/slide" Target="/ppt/slides/slide8.xml" Id="R05bee1f6346740a3" /><Relationship Type="http://schemas.openxmlformats.org/officeDocument/2006/relationships/slide" Target="/ppt/slides/slide9.xml" Id="R8121f5687dcb4325" /><Relationship Type="http://schemas.openxmlformats.org/officeDocument/2006/relationships/slide" Target="/ppt/slides/slide10.xml" Id="R7468cbd2e7d94ca0" /><Relationship Type="http://schemas.openxmlformats.org/officeDocument/2006/relationships/slide" Target="/ppt/slides/slide11.xml" Id="R01d3ea536dbc484c" /><Relationship Type="http://schemas.openxmlformats.org/officeDocument/2006/relationships/slide" Target="/ppt/slides/slide12.xml" Id="R04723cfa40274702" /><Relationship Type="http://schemas.openxmlformats.org/officeDocument/2006/relationships/slide" Target="/ppt/slides/slide13.xml" Id="R87038b9f55dd4304" /><Relationship Type="http://schemas.openxmlformats.org/officeDocument/2006/relationships/slide" Target="/ppt/slides/slide14.xml" Id="R3a4dda4f247d4e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d6ec377eda49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799e7d207642d5" /><Relationship Type="http://schemas.openxmlformats.org/officeDocument/2006/relationships/notesMaster" Target="/ppt/notesMasters/notesMaster1.xml" Id="R10af81cc239d43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138856a67e4154" /><Relationship Type="http://schemas.openxmlformats.org/officeDocument/2006/relationships/notesMaster" Target="/ppt/notesMasters/notesMaster1.xml" Id="R101b6fa5c3ca4f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8c6749d9b54079" /><Relationship Type="http://schemas.openxmlformats.org/officeDocument/2006/relationships/notesMaster" Target="/ppt/notesMasters/notesMaster1.xml" Id="Re5f8b70b41bb43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e1f7012e834ec7" /><Relationship Type="http://schemas.openxmlformats.org/officeDocument/2006/relationships/notesMaster" Target="/ppt/notesMasters/notesMaster1.xml" Id="Reef3bbeb664b4e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dcbedb7a574a00" /><Relationship Type="http://schemas.openxmlformats.org/officeDocument/2006/relationships/notesMaster" Target="/ppt/notesMasters/notesMaster1.xml" Id="R1008d0e423b54b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6c551589194726" /><Relationship Type="http://schemas.openxmlformats.org/officeDocument/2006/relationships/notesMaster" Target="/ppt/notesMasters/notesMaster1.xml" Id="R51f0960a8d7347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af41cea09343cd" /><Relationship Type="http://schemas.openxmlformats.org/officeDocument/2006/relationships/notesMaster" Target="/ppt/notesMasters/notesMaster1.xml" Id="Rc433cd1e239241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fb56b8d7234651" /><Relationship Type="http://schemas.openxmlformats.org/officeDocument/2006/relationships/notesMaster" Target="/ppt/notesMasters/notesMaster1.xml" Id="Rb06506cd90704a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b0614be60842e3" /><Relationship Type="http://schemas.openxmlformats.org/officeDocument/2006/relationships/notesMaster" Target="/ppt/notesMasters/notesMaster1.xml" Id="Rd83f17d72e3943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19a10280954bfc" /><Relationship Type="http://schemas.openxmlformats.org/officeDocument/2006/relationships/notesMaster" Target="/ppt/notesMasters/notesMaster1.xml" Id="R3d83c410c3494f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14cfe2ead9443b" /><Relationship Type="http://schemas.openxmlformats.org/officeDocument/2006/relationships/notesMaster" Target="/ppt/notesMasters/notesMaster1.xml" Id="R4470317ceaf140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ff96aa9a1b4238" /><Relationship Type="http://schemas.openxmlformats.org/officeDocument/2006/relationships/notesMaster" Target="/ppt/notesMasters/notesMaster1.xml" Id="R1938e798c4eb4c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db58bb968d42f9" /><Relationship Type="http://schemas.openxmlformats.org/officeDocument/2006/relationships/notesMaster" Target="/ppt/notesMasters/notesMaster1.xml" Id="Re3a033264df246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873780edfe425c" /><Relationship Type="http://schemas.openxmlformats.org/officeDocument/2006/relationships/notesMaster" Target="/ppt/notesMasters/notesMaster1.xml" Id="Rb9d91897c49c4d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companion deck makes the already completed Audit 01 behavior inspectable through time. It does not reopen the strategy or replace the governing 2/11 attribution STOP. The eight examples were selected by a frozen deterministic contract before any individual tape was viewed.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Project/Time-Series-Modeling-Gen5/literature_studies/docs/GEN5_LIT_MOM_01_2_AUDIT_01_TRADE_TAPE_REVIEW_CONTRACT.md</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Project/Time-Series-Modeling-Gen5/literature_studies/docs/GEN5_LIT_MOM_01_2_AUDIT_01_EXPOSURE_SELECTION_RESULTS.md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 archetypes are SHY; the robust cross-sectional medoid; positive-but-exposure-dominated; balanced attribution survivor; positive-but-bottom-quintile random timing; deep-drawdown positive finish; frozen retail-attention medoid; and the largest supported asset-level down/flat-minus-up trade-return gap. Duplicates are prohibited and ties break by symbol.</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Project/Time-Series-Modeling-Gen5/literature_studies/docs/GEN5_LIT_MOM_01_2_AUDIT_01_TRADE_TAPE_REVIEW_CONTRACT.md</a:t>
            </a:r>
          </a:p>
          <a:p xmlns:a="http://schemas.openxmlformats.org/drawingml/2006/main">
            <a:r>
              <a:t>- C:/Users/Franc/OneDrive/Documents/Francis/Peltata Project/Time-Series-Modeling-Gen5/literature_studies/R/gen5_lit_mom_01_2_audit_01_trade_tapes.R</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Normalized wealth starts at one. Selected-policy wealth compounds the exact audited daily strategy returns; buy-and-hold compounds the asset's open-to-open return. Entry-to-exit spans and trade-return stems come from the frozen selected trade schedule. Signal-state point fills come from the already computed causal environment labels.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Project/Time-Series-Modeling-Gen5/literature_studies/docs/GEN5_LIT_MOM_01_2_AUDIT_01_TRADE_TAPE_REVIEW_CONTRACT.md</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Project\Time-Series-Modeling-Gen5\runs\research_workbench\literature_grounded\lit_mom_01_2_audit_01_representative_trade_tapes_20260803\visuals/trade_tape_archetype_matrix.png</a:t>
            </a:r>
          </a:p>
          <a:p xmlns:a="http://schemas.openxmlformats.org/drawingml/2006/main">
            <a:r>
              <a:t>- C:\Users\Franc\OneDrive\Documents\Francis\Peltata Project\Time-Series-Modeling-Gen5\runs\research_workbench\literature_grounded\lit_mom_01_2_audit_01_exposure_selection_20260802/audit01_daily_paths.csv</a:t>
            </a:r>
          </a:p>
          <a:p xmlns:a="http://schemas.openxmlformats.org/drawingml/2006/main">
            <a:r>
              <a:t>- C:\Users\Franc\OneDrive\Documents\Francis\Peltata Project\Time-Series-Modeling-Gen5\runs\research_workbench\literature_grounded\lit_mom_01_2_audit_01_exposure_selection_20260802/audit01_selected_trades.csv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tape sequence begins with the mechanics anchor and median stock, then moves through two ordinary attribution failures, two superficially attractive winners with different risks, the attention-cohort center, and the strongest frozen countercyclical trade-mix example.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Project/Time-Series-Modeling-Gen5/literature_studies/docs/GEN5_LIT_MOM_01_2_AUDIT_01_TRADE_TAPE_REVIEW_CONTRACT.md</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SHY is the cleanest mechanics example. Sixty-nine five-session long blocks create only 45.8% calendar participation, yet the selected path loses 6.46% while buy-and-hold is nearly flat. The tape shows many tiny negative trades and a stepwise downward wealth path: the signal does not produce enough gross edge to pay literal round-trip costs.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Project\Time-Series-Modeling-Gen5\runs\research_workbench\literature_grounded\lit_mom_01_2_audit_01_exposure_selection_20260802/audit01_selected_trades.csv</a:t>
            </a:r>
          </a:p>
          <a:p xmlns:a="http://schemas.openxmlformats.org/drawingml/2006/main">
            <a:r>
              <a:t>- C:\Users\Franc\OneDrive\Documents\Francis\Peltata Project\Time-Series-Modeling-Gen5\runs\research_workbench\literature_grounded\lit_mom_01_2_audit_01_exposure_selection_20260802/audit01_daily_paths.csv</a:t>
            </a:r>
          </a:p>
          <a:p xmlns:a="http://schemas.openxmlformats.org/drawingml/2006/main">
            <a:r>
              <a:t>- C:\Users\Franc\OneDrive\Documents\Francis\Peltata Project\Time-Series-Modeling-Gen5\runs\research_workbench\literature_grounded\lit_mom_01_2_audit_01_representative_trade_tapes_20260803\visuals/trade_tape_01_shy_tutorial_shy.png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HD is the robust multivariate stock-path center, not a handpicked stock. It earns 21.9% but trails buy-and-hold by 17.8 percentage points and matched constant exposure by 9.4 points; its random percentile is 48.6%. The selected path broadly shadows the asset through the 2021-2022 decline and misses part of the late-2023 recovery, which is visually consistent with ordinary exposure rather than special timing.</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Project\Time-Series-Modeling-Gen5\runs\research_workbench\literature_grounded\lit_mom_01_2_audit_01_exposure_selection_20260802/audit01_selected_trades.csv</a:t>
            </a:r>
          </a:p>
          <a:p xmlns:a="http://schemas.openxmlformats.org/drawingml/2006/main">
            <a:r>
              <a:t>- C:\Users\Franc\OneDrive\Documents\Francis\Peltata Project\Time-Series-Modeling-Gen5\runs\research_workbench\literature_grounded\lit_mom_01_2_audit_01_exposure_selection_20260802/audit01_daily_paths.csv</a:t>
            </a:r>
          </a:p>
          <a:p xmlns:a="http://schemas.openxmlformats.org/drawingml/2006/main">
            <a:r>
              <a:t>- C:\Users\Franc\OneDrive\Documents\Francis\Peltata Project\Time-Series-Modeling-Gen5\runs\research_workbench\literature_grounded\lit_mom_01_2_audit_01_representative_trade_tapes_20260803\visuals/trade_tape_02_cross_sectional_medoid_hd.png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UNP demonstrates why a positive endpoint is insufficient. One hundred five-session trades finish +5.4%, while buy-and-hold earns +26.1% and matched constant exposure beats the strategy by 14.7 percentage points. The random percentile is 48.3% and estimated alpha is negative. Dense entry blocks turn the policy into high-frequency exposure sampling without evidence that the chosen dates helped.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Project\Time-Series-Modeling-Gen5\runs\research_workbench\literature_grounded\lit_mom_01_2_audit_01_exposure_selection_20260802/audit01_selected_trades.csv</a:t>
            </a:r>
          </a:p>
          <a:p xmlns:a="http://schemas.openxmlformats.org/drawingml/2006/main">
            <a:r>
              <a:t>- C:\Users\Franc\OneDrive\Documents\Francis\Peltata Project\Time-Series-Modeling-Gen5\runs\research_workbench\literature_grounded\lit_mom_01_2_audit_01_exposure_selection_20260802/audit01_daily_paths.csv</a:t>
            </a:r>
          </a:p>
          <a:p xmlns:a="http://schemas.openxmlformats.org/drawingml/2006/main">
            <a:r>
              <a:t>- C:\Users\Franc\OneDrive\Documents\Francis\Peltata Project\Time-Series-Modeling-Gen5\runs\research_workbench\literature_grounded\lit_mom_01_2_audit_01_representative_trade_tapes_20260803\visuals/trade_tape_03_positive_but_exposure_dominated_unp.png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Ford is the strongest balanced survivor under the frozen rule: +174.9%, +114.5 percentage points versus buy-and-hold, 98.9th random percentile, and +29.6% annualized SPY intercept. The tape also shows that much of the outcome is carried by a small number of 20-30% winning blocks, while the selected path still suffers a 39.9% drawdown. The organic question is trade-contribution concentration, not whether Ford should be selected.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Project\Time-Series-Modeling-Gen5\runs\research_workbench\literature_grounded\lit_mom_01_2_audit_01_exposure_selection_20260802/audit01_selected_trades.csv</a:t>
            </a:r>
          </a:p>
          <a:p xmlns:a="http://schemas.openxmlformats.org/drawingml/2006/main">
            <a:r>
              <a:t>- C:\Users\Franc\OneDrive\Documents\Francis\Peltata Project\Time-Series-Modeling-Gen5\runs\research_workbench\literature_grounded\lit_mom_01_2_audit_01_exposure_selection_20260802/audit01_daily_paths.csv</a:t>
            </a:r>
          </a:p>
          <a:p xmlns:a="http://schemas.openxmlformats.org/drawingml/2006/main">
            <a:r>
              <a:t>- C:\Users\Franc\OneDrive\Documents\Francis\Peltata Project\Time-Series-Modeling-Gen5\runs\research_workbench\literature_grounded\lit_mom_01_2_audit_01_representative_trade_tapes_20260803\visuals/trade_tape_04_attribution_survivor_f.png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TJX earns 9.8%, which looks acceptable in isolation, but buy-and-hold earns 43.6%, matched constant exposure beats it by 24.4 percentage points, and its observed calendar sits at only the 15.4th percentile of matched random schedules. The tape shows participation in 2022 losses and only partial participation in the 2023 rally.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Project\Time-Series-Modeling-Gen5\runs\research_workbench\literature_grounded\lit_mom_01_2_audit_01_exposure_selection_20260802/audit01_selected_trades.csv</a:t>
            </a:r>
          </a:p>
          <a:p xmlns:a="http://schemas.openxmlformats.org/drawingml/2006/main">
            <a:r>
              <a:t>- C:\Users\Franc\OneDrive\Documents\Francis\Peltata Project\Time-Series-Modeling-Gen5\runs\research_workbench\literature_grounded\lit_mom_01_2_audit_01_exposure_selection_20260802/audit01_daily_paths.csv</a:t>
            </a:r>
          </a:p>
          <a:p xmlns:a="http://schemas.openxmlformats.org/drawingml/2006/main">
            <a:r>
              <a:t>- C:\Users\Franc\OneDrive\Documents\Francis\Peltata Project\Time-Series-Modeling-Gen5\runs\research_workbench\literature_grounded\lit_mom_01_2_audit_01_representative_trade_tapes_20260803\visuals/trade_tape_05_random_timing_disappointment_tjx.png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META ends +46.5% and exceeds both buy-and-hold and matched constant exposure, but its selected path falls roughly 61% from peak before recovering. The strategy does not cleanly avoid the 2022 collapse; the eventual result depends on remaining viable long enough to capture the 2023 rebound. Endpoint merit and path usability are separate questions.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Project\Time-Series-Modeling-Gen5\runs\research_workbench\literature_grounded\lit_mom_01_2_audit_01_exposure_selection_20260802/audit01_selected_trades.csv</a:t>
            </a:r>
          </a:p>
          <a:p xmlns:a="http://schemas.openxmlformats.org/drawingml/2006/main">
            <a:r>
              <a:t>- C:\Users\Franc\OneDrive\Documents\Francis\Peltata Project\Time-Series-Modeling-Gen5\runs\research_workbench\literature_grounded\lit_mom_01_2_audit_01_exposure_selection_20260802/audit01_daily_paths.csv</a:t>
            </a:r>
          </a:p>
          <a:p xmlns:a="http://schemas.openxmlformats.org/drawingml/2006/main">
            <a:r>
              <a:t>- C:\Users\Franc\OneDrive\Documents\Francis\Peltata Project\Time-Series-Modeling-Gen5\runs\research_workbench\literature_grounded\lit_mom_01_2_audit_01_representative_trade_tapes_20260803\visuals/trade_tape_06_deep_drawdown_positive_finish_meta.png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AAL is the robust center of the eligible 2020 retail-attention cohort. Early gains above 50% reverse into a -28.5% endpoint and -68.5% maximum drawdown. Buy-and-hold also loses, but the selected policy trails matched constant exposure by 27.6 percentage points and has negative estimated alpha. The tape looks like serial cyclicality and whipsaw rather than protected momentum.</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Project\Time-Series-Modeling-Gen5\runs\research_workbench\literature_grounded\lit_mom_01_2_audit_01_exposure_selection_20260802/audit01_selected_trades.csv</a:t>
            </a:r>
          </a:p>
          <a:p xmlns:a="http://schemas.openxmlformats.org/drawingml/2006/main">
            <a:r>
              <a:t>- C:\Users\Franc\OneDrive\Documents\Francis\Peltata Project\Time-Series-Modeling-Gen5\runs\research_workbench\literature_grounded\lit_mom_01_2_audit_01_exposure_selection_20260802/audit01_daily_paths.csv</a:t>
            </a:r>
          </a:p>
          <a:p xmlns:a="http://schemas.openxmlformats.org/drawingml/2006/main">
            <a:r>
              <a:t>- C:\Users\Franc\OneDrive\Documents\Francis\Peltata Project\Time-Series-Modeling-Gen5\runs\research_workbench\literature_grounded\lit_mom_01_2_audit_01_representative_trade_tapes_20260803\visuals/trade_tape_07_attention_cohort_medoid_aal.png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NKE is the largest supported asset-level market-state contrast: thirteen trades signaled in SPY down/flat states average +2.57%, while forty signaled in positive states average -0.37%, a +2.94 percentage-point gap. The selected path ends +9.0% while buy-and-hold loses 21.2%, and its random percentile is 86.5%. Estimated SPY alpha remains negative, so the tape motivates a question about selective loss avoidance and state asymmetry; it does not validate a regime filter.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Project\Time-Series-Modeling-Gen5\runs\research_workbench\literature_grounded\lit_mom_01_2_audit_01_exposure_selection_20260802/audit01_asset_summary.csv</a:t>
            </a:r>
          </a:p>
          <a:p xmlns:a="http://schemas.openxmlformats.org/drawingml/2006/main">
            <a:r>
              <a:t>- C:\Users\Franc\OneDrive\Documents\Francis\Peltata Project\Time-Series-Modeling-Gen5\runs\research_workbench\literature_grounded\lit_mom_01_2_audit_01_exposure_selection_20260802/audit01_selected_trades.csv</a:t>
            </a:r>
          </a:p>
          <a:p xmlns:a="http://schemas.openxmlformats.org/drawingml/2006/main">
            <a:r>
              <a:t>- C:\Users\Franc\OneDrive\Documents\Francis\Peltata Project\Time-Series-Modeling-Gen5\runs\research_workbench\literature_grounded\lit_mom_01_2_audit_01_exposure_selection_20260802/audit01_daily_paths.csv</a:t>
            </a:r>
          </a:p>
          <a:p xmlns:a="http://schemas.openxmlformats.org/drawingml/2006/main">
            <a:r>
              <a:t>- C:\Users\Franc\OneDrive\Documents\Francis\Peltata Project\Time-Series-Modeling-Gen5\runs\research_workbench\literature_grounded\lit_mom_01_2_audit_01_representative_trade_tapes_20260803\visuals/trade_tape_08_countercyclical_trade_mix_nke.png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spans -28.5% to +174.9% selected returns, -33.9 to +114.5 percentage points versus buy-and-hold, 15th to 99th random percentiles, and -7.9% to -68.5% maximum drawdowns. SHY is cost erosion; HD and UNP are ordinary exposure failures; TJX is unlucky timing; Ford is concentrated large-winner dependence; META is drawdown-and-recovery dependence; AAL is cyclicality and whipsaw; NKE is selective avoidance/state asymmetry. This heterogeneity argues against one generic momentum-refinement story.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Project\Time-Series-Modeling-Gen5\runs\research_workbench\literature_grounded\lit_mom_01_2_audit_01_representative_trade_tapes_20260803/trade_tape_selection_manifest.csv</a:t>
            </a:r>
          </a:p>
          <a:p xmlns:a="http://schemas.openxmlformats.org/drawingml/2006/main">
            <a:r>
              <a:t>- C:\Users\Franc\OneDrive\Documents\Francis\Peltata Project\Time-Series-Modeling-Gen5\runs\research_workbench\literature_grounded\lit_mom_01_2_audit_01_representative_trade_tapes_20260803\visuals/trade_tape_archetype_matrix.png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high-signal questions emerge organically: how much of each positive path is supplied by its top one to five trades; whether apparent winners earn through crash avoidance, rebound capture, or both; and whether state asymmetry survives predeclared cross-asset aggregation and untouched data. Those are candidate research questions only. The governing conclusion remains STOP_LIT_MOM_01_2_AUDIT_01_NO_INCREMENTAL_TIMING.</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Project/Time-Series-Modeling-Gen5/literature_studies/docs/GEN5_LIT_MOM_01_2_AUDIT_01_TRADE_TAPE_REVIEW_RESULTS.md</a:t>
            </a:r>
          </a:p>
          <a:p xmlns:a="http://schemas.openxmlformats.org/drawingml/2006/main">
            <a:r>
              <a:t>- C:/Users/Franc/OneDrive/Documents/Francis/Peltata Project/Time-Series-Modeling-Gen5/literature_studies/docs/GEN5_LIT_MOM_01_2_AUDIT_01_EXPOSURE_SELECTION_RESULTS.md</a:t>
            </a:r>
          </a:p>
          <a:p xmlns:a="http://schemas.openxmlformats.org/drawingml/2006/main">
            <a:r>
              <a:t>- C:/Users/Franc/OneDrive/Documents/Francis/Peltata Project/Time-Series-Modeling-Gen5/docs/GEN5_1_POC_PROGRESS_LOG.md</a:t>
            </a:r>
          </a:p>
          <a:p xmlns:a="http://schemas.openxmlformats.org/drawingml/2006/main">
            <a:r>
              <a:t>- C:/Users/Franc/OneDrive/Documents/Francis/Peltata Project/Time-Series-Modeling-Gen5/docs/GEN5_4_DECISION_DIALOGUE_INDEX.md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71a94183f248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128cc25a534085" /><Relationship Type="http://schemas.openxmlformats.org/officeDocument/2006/relationships/slideLayout" Target="/ppt/slideLayouts/slideLayout1.xml" Id="R179f876b809344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9f876b809344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06245e084c418c" /><Relationship Type="http://schemas.openxmlformats.org/officeDocument/2006/relationships/notesSlide" Target="/ppt/notesSlides/notesSlide1.xml" Id="Rf9f3fa73a7bf4f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dcf0352c7b4fec" /><Relationship Type="http://schemas.openxmlformats.org/officeDocument/2006/relationships/notesSlide" Target="/ppt/notesSlides/notesSlide2.xml" Id="R76f5de19a28f43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c97a00aa7640c3" /><Relationship Type="http://schemas.openxmlformats.org/officeDocument/2006/relationships/image" Target="/ppt/media/image.png" Id="R269cda05cd04427d" /><Relationship Type="http://schemas.openxmlformats.org/officeDocument/2006/relationships/notesSlide" Target="/ppt/notesSlides/notesSlide3.xml" Id="R1710d6a25d9744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1a3ac1e9474027" /><Relationship Type="http://schemas.openxmlformats.org/officeDocument/2006/relationships/notesSlide" Target="/ppt/notesSlides/notesSlide4.xml" Id="Ra2a386d3772849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f6e998944e468b" /><Relationship Type="http://schemas.openxmlformats.org/officeDocument/2006/relationships/image" Target="/ppt/media/image2.png" Id="R9339c74504004c84" /><Relationship Type="http://schemas.openxmlformats.org/officeDocument/2006/relationships/notesSlide" Target="/ppt/notesSlides/notesSlide5.xml" Id="Rd69446c4481943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c118b6113a4573" /><Relationship Type="http://schemas.openxmlformats.org/officeDocument/2006/relationships/image" Target="/ppt/media/image3.png" Id="R12f0970e3f9f4db3" /><Relationship Type="http://schemas.openxmlformats.org/officeDocument/2006/relationships/notesSlide" Target="/ppt/notesSlides/notesSlide6.xml" Id="R3b30318b92f84c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5b185ef9c641a5" /><Relationship Type="http://schemas.openxmlformats.org/officeDocument/2006/relationships/image" Target="/ppt/media/image4.png" Id="Ra5a8cd64fdba45dc" /><Relationship Type="http://schemas.openxmlformats.org/officeDocument/2006/relationships/notesSlide" Target="/ppt/notesSlides/notesSlide7.xml" Id="R0d1c55ab477f44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e89760d0de438f" /><Relationship Type="http://schemas.openxmlformats.org/officeDocument/2006/relationships/image" Target="/ppt/media/image5.png" Id="R57c1583d4a42486a" /><Relationship Type="http://schemas.openxmlformats.org/officeDocument/2006/relationships/notesSlide" Target="/ppt/notesSlides/notesSlide8.xml" Id="Rc7cd17c5fdf242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de978e37174419" /><Relationship Type="http://schemas.openxmlformats.org/officeDocument/2006/relationships/image" Target="/ppt/media/image6.png" Id="R54101d7cfd4e4fd3" /><Relationship Type="http://schemas.openxmlformats.org/officeDocument/2006/relationships/notesSlide" Target="/ppt/notesSlides/notesSlide9.xml" Id="R05db17ce2c5a4a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f99efb6da424d54" /><Relationship Type="http://schemas.openxmlformats.org/officeDocument/2006/relationships/image" Target="/ppt/media/image7.png" Id="R11a68c37cc784031" /><Relationship Type="http://schemas.openxmlformats.org/officeDocument/2006/relationships/notesSlide" Target="/ppt/notesSlides/notesSlide10.xml" Id="Re45d18ac7cb94e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ca801b76684cd7" /><Relationship Type="http://schemas.openxmlformats.org/officeDocument/2006/relationships/image" Target="/ppt/media/image8.png" Id="R857e1b2836894b21" /><Relationship Type="http://schemas.openxmlformats.org/officeDocument/2006/relationships/notesSlide" Target="/ppt/notesSlides/notesSlide11.xml" Id="Rc566a9dbcb6b4b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ef305d14854a07" /><Relationship Type="http://schemas.openxmlformats.org/officeDocument/2006/relationships/image" Target="/ppt/media/image9.png" Id="Rcd5a0efa95754bf1" /><Relationship Type="http://schemas.openxmlformats.org/officeDocument/2006/relationships/notesSlide" Target="/ppt/notesSlides/notesSlide12.xml" Id="R148cb023e96f4d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c958501ca1465a" /><Relationship Type="http://schemas.openxmlformats.org/officeDocument/2006/relationships/image" Target="/ppt/media/image10.png" Id="R1c55bc0922e646de" /><Relationship Type="http://schemas.openxmlformats.org/officeDocument/2006/relationships/notesSlide" Target="/ppt/notesSlides/notesSlide13.xml" Id="R31d7781cb8144a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f13cbb4720a4aef" /><Relationship Type="http://schemas.openxmlformats.org/officeDocument/2006/relationships/notesSlide" Target="/ppt/notesSlides/notesSlide14.xml" Id="Rbe2a1e1048e84b7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LIT-MOM-01.2 / AUDIT 01 TRADE TAPES</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Eight representative paths for intuitive mechanical and behavioral review</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OUTCOME-AWARE DESCRIPTIVE SAMPLE | 2021-2023 | AUDIT STOP REMAINS</a:t>
            </a:r>
          </a:p>
        </p:txBody>
      </p:sp>
    </p:spTree>
    <p:extLst>
      <p:ext uri="{BB962C8B-B14F-4D97-AF65-F5344CB8AC3E}">
        <p14:creationId xmlns:p14="http://schemas.microsoft.com/office/powerpoint/2010/main" val="20928933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Eight frozen archetypes prevent an anecdotal winner reel</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Selection is deliberately outcome-aware but deterministic. It spans the center, contrasting failures, unusual survivors, drawdown risk, cohort behavior, and state asymmetry. No tape estimates how often an outcome occurs.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ANCHORS</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SHY tutorial + stock medoid</a:t>
            </a:r>
          </a:p>
          <a:p xmlns:a="http://schemas.openxmlformats.org/drawingml/2006/main">
            <a:pPr algn="l">
              <a:buNone/>
              <a:defRPr sz="1575">
                <a:solidFill>
                  <a:srgbClr val="000000"/>
                </a:solidFill>
                <a:latin typeface="Helvetica Neue"/>
                <a:ea typeface="Helvetica Neue"/>
                <a:cs typeface="Helvetica Neue"/>
              </a:defRPr>
            </a:pPr>
            <a:r>
              <a:t>Mechanics and typical behavior</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FAILURES</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Exposure-dominated + random disappointment</a:t>
            </a:r>
          </a:p>
          <a:p xmlns:a="http://schemas.openxmlformats.org/drawingml/2006/main">
            <a:pPr algn="l">
              <a:buNone/>
              <a:defRPr sz="1575">
                <a:solidFill>
                  <a:srgbClr val="000000"/>
                </a:solidFill>
                <a:latin typeface="Helvetica Neue"/>
                <a:ea typeface="Helvetica Neue"/>
                <a:cs typeface="Helvetica Neue"/>
              </a:defRPr>
            </a:pPr>
            <a:r>
              <a:t>Positive is not sufficient</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EDGES</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Survivor, deep drawdown, attention medoid</a:t>
            </a:r>
          </a:p>
          <a:p xmlns:a="http://schemas.openxmlformats.org/drawingml/2006/main">
            <a:pPr algn="l">
              <a:buNone/>
              <a:defRPr sz="1575">
                <a:solidFill>
                  <a:srgbClr val="000000"/>
                </a:solidFill>
                <a:latin typeface="Helvetica Neue"/>
                <a:ea typeface="Helvetica Neue"/>
                <a:cs typeface="Helvetica Neue"/>
              </a:defRPr>
            </a:pPr>
            <a:r>
              <a:t>and countercyclical mix</a:t>
            </a:r>
          </a:p>
        </p:txBody>
      </p:sp>
    </p:spTree>
    <p:extLst>
      <p:ext uri="{BB962C8B-B14F-4D97-AF65-F5344CB8AC3E}">
        <p14:creationId xmlns:p14="http://schemas.microsoft.com/office/powerpoint/2010/main" val="20982496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Read each tape from exposure to path risk to individual outcomes</a:t>
            </a:r>
          </a:p>
        </p:txBody>
      </p:sp>
      <p:sp>
        <p:nvSpPr>
          <p:cNvPr id="3" name="image-backing">
            <a:extLst xmlns:a="http://schemas.openxmlformats.org/drawingml/2006/main">
              <a:ext uri="{FF2B5EF4-FFF2-40B4-BE49-F238E27FC236}">
                <a16:creationId xmlns:a16="http://schemas.microsoft.com/office/drawing/2014/main" id="{5EE0E946-4B2C-4DE9-8839-3DE0D30C8B61}"/>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E0CA677-50AA-4CCF-BC5C-CB90210AF27E}"/>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89143"/>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TOP</a:t>
            </a:r>
          </a:p>
          <a:p xmlns:a="http://schemas.openxmlformats.org/drawingml/2006/main">
            <a:pPr algn="l">
              <a:buNone/>
              <a:defRPr sz="1950">
                <a:solidFill>
                  <a:srgbClr val="000000"/>
                </a:solidFill>
                <a:latin typeface="Helvetica Neue"/>
                <a:ea typeface="Helvetica Neue"/>
                <a:cs typeface="Helvetica Neue"/>
              </a:defRPr>
            </a:pPr>
            <a:r>
              <a:t>Blue is selected-policy wealth; gray is buy-and-hold. Pale green/red spans are profitable/losing executed blocks. Flat blue sections are cash.</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MIDDLE</a:t>
            </a:r>
          </a:p>
          <a:p xmlns:a="http://schemas.openxmlformats.org/drawingml/2006/main">
            <a:pPr algn="l">
              <a:buNone/>
              <a:defRPr sz="1950">
                <a:solidFill>
                  <a:srgbClr val="000000"/>
                </a:solidFill>
                <a:latin typeface="Helvetica Neue"/>
                <a:ea typeface="Helvetica Neue"/>
                <a:cs typeface="Helvetica Neue"/>
              </a:defRPr>
            </a:pPr>
            <a:r>
              <a:t>Selected and buy-and-hold drawdowns show the pain hidden by endpoint returns.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BOTTOM</a:t>
            </a:r>
          </a:p>
          <a:p xmlns:a="http://schemas.openxmlformats.org/drawingml/2006/main">
            <a:pPr algn="l">
              <a:buNone/>
              <a:defRPr sz="1950">
                <a:solidFill>
                  <a:srgbClr val="000000"/>
                </a:solidFill>
                <a:latin typeface="Helvetica Neue"/>
                <a:ea typeface="Helvetica Neue"/>
                <a:cs typeface="Helvetica Neue"/>
              </a:defRPr>
            </a:pPr>
            <a:r>
              <a:t>Every trade is placed at its exit date. Stem color is profit/loss; point fill is the SPY 60-session trend at the signal close.</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HEADER</a:t>
            </a:r>
          </a:p>
          <a:p xmlns:a="http://schemas.openxmlformats.org/drawingml/2006/main">
            <a:pPr algn="l">
              <a:buNone/>
              <a:defRPr sz="1950">
                <a:solidFill>
                  <a:srgbClr val="000000"/>
                </a:solidFill>
                <a:latin typeface="Helvetica Neue"/>
                <a:ea typeface="Helvetica Neue"/>
                <a:cs typeface="Helvetica Neue"/>
              </a:defRPr>
            </a:pPr>
            <a:r>
              <a:t>L/H, trades, exposure, returns, random percentile, drawdown, beta, and alpha remain visible.</a:t>
            </a:r>
          </a:p>
        </p:txBody>
      </p:sp>
      <p:sp>
        <p:nvSpPr>
          <p:cNvPr id="8" name="">
            <a:extLst xmlns:a="http://schemas.openxmlformats.org/drawingml/2006/main">
              <a:ext uri="{FF2B5EF4-FFF2-40B4-BE49-F238E27FC236}">
                <a16:creationId xmlns:a16="http://schemas.microsoft.com/office/drawing/2014/main" id="{08228C7B-FAD1-4EFC-8057-453D13C988CF}"/>
              </a:ext>
            </a:extLst>
          </p:cNvPr>
          <p:cNvSpPr>
            <a:spLocks xmlns:a="http://schemas.openxmlformats.org/drawingml/2006/main" noGrp="1"/>
          </p:cNvSpPr>
          <p:nvPr/>
        </p:nvSpPr>
        <p:spPr>
          <a:xfrm xmlns:a="http://schemas.openxmlformats.org/drawingml/2006/main">
            <a:off x="6381750" y="1776196"/>
            <a:ext cx="5314950" cy="3019858"/>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69cda05cd04427d"/>
          <a:srcRect xmlns:a="http://schemas.openxmlformats.org/drawingml/2006/main" l="0" t="1872" r="0" b="1872"/>
          <a:stretch xmlns:a="http://schemas.openxmlformats.org/drawingml/2006/main">
            <a:fillRect l="0" t="0" r="0" b="0"/>
          </a:stretch>
        </p:blipFill>
        <p:spPr>
          <a:xfrm xmlns:a="http://schemas.openxmlformats.org/drawingml/2006/main">
            <a:off x="6668595" y="2009299"/>
            <a:ext cx="4665059" cy="2744153"/>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Eight tapes, eight visibly different path mechanisms</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90278"/>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Read chronologically. Ask whether the path reflects cost erosion, ordinary exposure, missed recovery, a few concentrated winners, crash avoidance, or genuine-looking state asymmetry—without converting the answer into a filter.</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9765"/>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RETROSPECTIVE VISUAL AUDIT | QUESTIONS, NOT NEW GATES</a:t>
            </a:r>
          </a:p>
        </p:txBody>
      </p:sp>
    </p:spTree>
    <p:extLst>
      <p:ext uri="{BB962C8B-B14F-4D97-AF65-F5344CB8AC3E}">
        <p14:creationId xmlns:p14="http://schemas.microsoft.com/office/powerpoint/2010/main" val="209289339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SHY: frequent tiny trades turn a flat asset into steady cost erosion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339c74504004c84"/>
          <a:stretch xmlns:a="http://schemas.openxmlformats.org/drawingml/2006/main"/>
        </p:blipFill>
        <p:spPr>
          <a:xfrm xmlns:a="http://schemas.openxmlformats.org/drawingml/2006/main">
            <a:off x="1038225" y="1000125"/>
            <a:ext cx="10115550" cy="56197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6</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HD: the typical path made money but missed much of the asset's recovery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2f0970e3f9f4db3"/>
          <a:stretch xmlns:a="http://schemas.openxmlformats.org/drawingml/2006/main"/>
        </p:blipFill>
        <p:spPr>
          <a:xfrm xmlns:a="http://schemas.openxmlformats.org/drawingml/2006/main">
            <a:off x="1038225" y="1000125"/>
            <a:ext cx="10115550" cy="56197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UNP: 100 five-day blocks create churn without timing advantage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5a8cd64fdba45dc"/>
          <a:stretch xmlns:a="http://schemas.openxmlformats.org/drawingml/2006/main"/>
        </p:blipFill>
        <p:spPr>
          <a:xfrm xmlns:a="http://schemas.openxmlformats.org/drawingml/2006/main">
            <a:off x="1038225" y="1000125"/>
            <a:ext cx="10115550" cy="56197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F: a few outsized winners create a genuine-looking survivor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7c1583d4a42486a"/>
          <a:stretch xmlns:a="http://schemas.openxmlformats.org/drawingml/2006/main"/>
        </p:blipFill>
        <p:spPr>
          <a:xfrm xmlns:a="http://schemas.openxmlformats.org/drawingml/2006/main">
            <a:off x="1038225" y="1000125"/>
            <a:ext cx="10115550" cy="56197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TJX: positive endpoint, but matched random calendars usually did better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4101d7cfd4e4fd3"/>
          <a:stretch xmlns:a="http://schemas.openxmlformats.org/drawingml/2006/main"/>
        </p:blipFill>
        <p:spPr>
          <a:xfrm xmlns:a="http://schemas.openxmlformats.org/drawingml/2006/main">
            <a:off x="1038225" y="1000125"/>
            <a:ext cx="10115550" cy="56197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META: the apparent win requires surviving a 61% strategy drawdown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1a68c37cc784031"/>
          <a:stretch xmlns:a="http://schemas.openxmlformats.org/drawingml/2006/main"/>
        </p:blipFill>
        <p:spPr>
          <a:xfrm xmlns:a="http://schemas.openxmlformats.org/drawingml/2006/main">
            <a:off x="1038225" y="1000125"/>
            <a:ext cx="10115550" cy="56197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AAL: early gains devolve into a prolonged high-beta loss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57e1b2836894b21"/>
          <a:stretch xmlns:a="http://schemas.openxmlformats.org/drawingml/2006/main"/>
        </p:blipFill>
        <p:spPr>
          <a:xfrm xmlns:a="http://schemas.openxmlformats.org/drawingml/2006/main">
            <a:off x="1038225" y="1000125"/>
            <a:ext cx="10115550" cy="56197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99138"/>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NKE: selective loss avoidance looks more important than ordinary trend capture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d5a0efa95754bf1"/>
          <a:stretch xmlns:a="http://schemas.openxmlformats.org/drawingml/2006/main"/>
        </p:blipFill>
        <p:spPr>
          <a:xfrm xmlns:a="http://schemas.openxmlformats.org/drawingml/2006/main">
            <a:off x="1038225" y="1000125"/>
            <a:ext cx="10115550" cy="56197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13</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tapes do not express one stable mechanism</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c55bc0922e646de"/>
          <a:stretch xmlns:a="http://schemas.openxmlformats.org/drawingml/2006/main"/>
        </p:blipFill>
        <p:spPr>
          <a:xfrm xmlns:a="http://schemas.openxmlformats.org/drawingml/2006/main">
            <a:off x="1498023" y="1000125"/>
            <a:ext cx="9195955" cy="56197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E9F43BB9-4202-4A42-9916-7A06678333BD}"/>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84014"/>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The useful next questions are about trade concentration, crash avoidance, and state asymmetry—not generic momentum.</a:t>
            </a:r>
          </a:p>
        </p:txBody>
      </p:sp>
      <p:sp>
        <p:nvSpPr>
          <p:cNvPr id="2" name="cover-subtitle">
            <a:extLst xmlns:a="http://schemas.openxmlformats.org/drawingml/2006/main">
              <a:ext uri="{FF2B5EF4-FFF2-40B4-BE49-F238E27FC236}">
                <a16:creationId xmlns:a16="http://schemas.microsoft.com/office/drawing/2014/main" id="{F6F90063-BA30-438B-9FD3-13AA22719785}"/>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The tapes may inspire separately frozen diagnostics, but they do not reopen LIT-MOM-01.2, authorize a filter, or alter the 2/11 attribution STOP.</a:t>
            </a:r>
          </a:p>
        </p:txBody>
      </p:sp>
      <p:sp>
        <p:nvSpPr>
          <p:cNvPr id="3" name="cover-eyebrow">
            <a:extLst xmlns:a="http://schemas.openxmlformats.org/drawingml/2006/main">
              <a:ext uri="{FF2B5EF4-FFF2-40B4-BE49-F238E27FC236}">
                <a16:creationId xmlns:a16="http://schemas.microsoft.com/office/drawing/2014/main" id="{45129715-75DE-4D50-B44D-3AFE3EBA3F0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VISUAL REVIEW COMPLETE | 2024+ SEALED | NO ASSET OR FILTER NOMINATION</a:t>
            </a:r>
          </a:p>
        </p:txBody>
      </p:sp>
    </p:spTree>
    <p:extLst>
      <p:ext uri="{BB962C8B-B14F-4D97-AF65-F5344CB8AC3E}">
        <p14:creationId xmlns:p14="http://schemas.microsoft.com/office/powerpoint/2010/main" val="1664240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2026-08-02T21:29:23.1930000Z</dcterms:created>
  <dcterms:modified xsi:type="dcterms:W3CDTF">2026-08-02T21:29:23.1940000Z</dcterms:modified>
</coreProperties>
</file>