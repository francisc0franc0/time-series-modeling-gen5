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d023ffd6242422a" /><Relationship Type="http://schemas.openxmlformats.org/officeDocument/2006/relationships/extended-properties" Target="/docProps/app.xml" Id="R84c83a2f45c94062" /><Relationship Type="http://schemas.openxmlformats.org/officeDocument/2006/relationships/officeDocument" Target="/ppt/presentation.xml" Id="R2d7802c9e31049e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654c07f92b48da"/>
  </p:sldMasterIdLst>
  <p:notesMasterIdLst>
    <p:notesMasterId xmlns:r="http://schemas.openxmlformats.org/officeDocument/2006/relationships" r:id="R36892c7ec82f4ce9"/>
  </p:notesMasterIdLst>
  <p:sldIdLst>
    <p:sldId xmlns:r="http://schemas.openxmlformats.org/officeDocument/2006/relationships" id="256" r:id="R0be99c9c444a4861"/>
    <p:sldId xmlns:r="http://schemas.openxmlformats.org/officeDocument/2006/relationships" id="257" r:id="R6b5f2225cb2e49cd"/>
    <p:sldId xmlns:r="http://schemas.openxmlformats.org/officeDocument/2006/relationships" id="258" r:id="R01540e8b2bcd4ad8"/>
    <p:sldId xmlns:r="http://schemas.openxmlformats.org/officeDocument/2006/relationships" id="259" r:id="R87e447449e8e4bbb"/>
    <p:sldId xmlns:r="http://schemas.openxmlformats.org/officeDocument/2006/relationships" id="260" r:id="R8668f162bd4c442d"/>
    <p:sldId xmlns:r="http://schemas.openxmlformats.org/officeDocument/2006/relationships" id="261" r:id="Raba1f1a706a14ce1"/>
    <p:sldId xmlns:r="http://schemas.openxmlformats.org/officeDocument/2006/relationships" id="262" r:id="Ra7541845fa914056"/>
    <p:sldId xmlns:r="http://schemas.openxmlformats.org/officeDocument/2006/relationships" id="263" r:id="Rd8a99958be59418c"/>
    <p:sldId xmlns:r="http://schemas.openxmlformats.org/officeDocument/2006/relationships" id="264" r:id="Ra416cf5b6ca34d24"/>
    <p:sldId xmlns:r="http://schemas.openxmlformats.org/officeDocument/2006/relationships" id="265" r:id="R1834d944f8d640b1"/>
    <p:sldId xmlns:r="http://schemas.openxmlformats.org/officeDocument/2006/relationships" id="266" r:id="R444258f236e94cf1"/>
    <p:sldId xmlns:r="http://schemas.openxmlformats.org/officeDocument/2006/relationships" id="267" r:id="R9adebbcc344f4b20"/>
    <p:sldId xmlns:r="http://schemas.openxmlformats.org/officeDocument/2006/relationships" id="268" r:id="Rb63f3fd3385546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d5f3b642a34a95" /><Relationship Type="http://schemas.openxmlformats.org/officeDocument/2006/relationships/slideMaster" Target="/ppt/slideMasters/slideMaster1.xml" Id="Rcb654c07f92b48da" /><Relationship Type="http://schemas.openxmlformats.org/officeDocument/2006/relationships/notesMaster" Target="/ppt/notesMasters/notesMaster1.xml" Id="R36892c7ec82f4ce9" /><Relationship Type="http://schemas.openxmlformats.org/officeDocument/2006/relationships/presProps" Target="/ppt/presProps.xml" Id="Re83eea3943f147ef" /><Relationship Type="http://schemas.openxmlformats.org/officeDocument/2006/relationships/tableStyles" Target="/ppt/tableStyles.xml" Id="Rf12cfd2ef3bb4f5f" /><Relationship Type="http://schemas.openxmlformats.org/officeDocument/2006/relationships/slide" Target="/ppt/slides/slide1.xml" Id="R0be99c9c444a4861" /><Relationship Type="http://schemas.openxmlformats.org/officeDocument/2006/relationships/slide" Target="/ppt/slides/slide2.xml" Id="R6b5f2225cb2e49cd" /><Relationship Type="http://schemas.openxmlformats.org/officeDocument/2006/relationships/slide" Target="/ppt/slides/slide3.xml" Id="R01540e8b2bcd4ad8" /><Relationship Type="http://schemas.openxmlformats.org/officeDocument/2006/relationships/slide" Target="/ppt/slides/slide4.xml" Id="R87e447449e8e4bbb" /><Relationship Type="http://schemas.openxmlformats.org/officeDocument/2006/relationships/slide" Target="/ppt/slides/slide5.xml" Id="R8668f162bd4c442d" /><Relationship Type="http://schemas.openxmlformats.org/officeDocument/2006/relationships/slide" Target="/ppt/slides/slide6.xml" Id="Raba1f1a706a14ce1" /><Relationship Type="http://schemas.openxmlformats.org/officeDocument/2006/relationships/slide" Target="/ppt/slides/slide7.xml" Id="Ra7541845fa914056" /><Relationship Type="http://schemas.openxmlformats.org/officeDocument/2006/relationships/slide" Target="/ppt/slides/slide8.xml" Id="Rd8a99958be59418c" /><Relationship Type="http://schemas.openxmlformats.org/officeDocument/2006/relationships/slide" Target="/ppt/slides/slide9.xml" Id="Ra416cf5b6ca34d24" /><Relationship Type="http://schemas.openxmlformats.org/officeDocument/2006/relationships/slide" Target="/ppt/slides/slide10.xml" Id="R1834d944f8d640b1" /><Relationship Type="http://schemas.openxmlformats.org/officeDocument/2006/relationships/slide" Target="/ppt/slides/slide11.xml" Id="R444258f236e94cf1" /><Relationship Type="http://schemas.openxmlformats.org/officeDocument/2006/relationships/slide" Target="/ppt/slides/slide12.xml" Id="R9adebbcc344f4b20" /><Relationship Type="http://schemas.openxmlformats.org/officeDocument/2006/relationships/slide" Target="/ppt/slides/slide13.xml" Id="Rb63f3fd3385546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889223ab2c42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c9dbf8333eb455b" /><Relationship Type="http://schemas.openxmlformats.org/officeDocument/2006/relationships/notesMaster" Target="/ppt/notesMasters/notesMaster1.xml" Id="R55460bbe3acb48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b77db5303d4da1" /><Relationship Type="http://schemas.openxmlformats.org/officeDocument/2006/relationships/notesMaster" Target="/ppt/notesMasters/notesMaster1.xml" Id="R22a3075ab09c48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07bbbab95f45d1" /><Relationship Type="http://schemas.openxmlformats.org/officeDocument/2006/relationships/notesMaster" Target="/ppt/notesMasters/notesMaster1.xml" Id="R81e089717cd94d6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58e2f331944642" /><Relationship Type="http://schemas.openxmlformats.org/officeDocument/2006/relationships/notesMaster" Target="/ppt/notesMasters/notesMaster1.xml" Id="R6aae003eb6c048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6f2fd7e0ab4afe" /><Relationship Type="http://schemas.openxmlformats.org/officeDocument/2006/relationships/notesMaster" Target="/ppt/notesMasters/notesMaster1.xml" Id="R42df8d36516447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f97a8377f6e48c9" /><Relationship Type="http://schemas.openxmlformats.org/officeDocument/2006/relationships/notesMaster" Target="/ppt/notesMasters/notesMaster1.xml" Id="Rddc64282edea4d3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3a6bded6c548ac" /><Relationship Type="http://schemas.openxmlformats.org/officeDocument/2006/relationships/notesMaster" Target="/ppt/notesMasters/notesMaster1.xml" Id="Rdf9c7588828842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2db952510b4312" /><Relationship Type="http://schemas.openxmlformats.org/officeDocument/2006/relationships/notesMaster" Target="/ppt/notesMasters/notesMaster1.xml" Id="R6bd631a760f64d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0cb33e85934c31" /><Relationship Type="http://schemas.openxmlformats.org/officeDocument/2006/relationships/notesMaster" Target="/ppt/notesMasters/notesMaster1.xml" Id="Rf3125ef0e3314c8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af73406b8d645ff" /><Relationship Type="http://schemas.openxmlformats.org/officeDocument/2006/relationships/notesMaster" Target="/ppt/notesMasters/notesMaster1.xml" Id="R896290e4132d49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d6735e714947a8" /><Relationship Type="http://schemas.openxmlformats.org/officeDocument/2006/relationships/notesMaster" Target="/ppt/notesMasters/notesMaster1.xml" Id="R6b663dec596841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7ee60b3ac1f47b8" /><Relationship Type="http://schemas.openxmlformats.org/officeDocument/2006/relationships/notesMaster" Target="/ppt/notesMasters/notesMaster1.xml" Id="Re280e397528c4e1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7879ee55d044dad" /><Relationship Type="http://schemas.openxmlformats.org/officeDocument/2006/relationships/notesMaster" Target="/ppt/notesMasters/notesMaster1.xml" Id="R707d7e84c7b84c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both halves of the conclusion. The fresh positive control passed, but the broader power map and stress test constrained the claim.</a:t>
            </a:r>
          </a:p>
          <a:p xmlns:a="http://schemas.openxmlformats.org/drawingml/2006/main">
            <a:r>
              <a:t>COMPLETE refers only to completion of the synthetic evidence ladder.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literature_studies/docs/GEN5_LIT_REG_02_2_DIRECTIONAL_FORECAST_RESULTS.md</a:t>
            </a:r>
          </a:p>
          <a:p xmlns:a="http://schemas.openxmlformats.org/drawingml/2006/main">
            <a:r>
              <a:t>- runs/research_workbench/literature_studies/lit_reg_02_2_directional_forecast_frontier_20260819/report.md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changing the evaluation target is substantive enough to require decimal version 02.2.</a:t>
            </a:r>
          </a:p>
          <a:p xmlns:a="http://schemas.openxmlformats.org/drawingml/2006/main">
            <a:r>
              <a:t>The prior failure is neither erased nor counted as negative market-direction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literature_studies/docs/GEN5_LIT_REG_02_2_DIRECTIONAL_FORECAST_DECISION.md</a:t>
            </a:r>
          </a:p>
          <a:p xmlns:a="http://schemas.openxmlformats.org/drawingml/2006/main">
            <a:r>
              <a:t>- literature_studies/docs/GEN5_LIT_REG_02_1_DIRECTIONAL_HMM_STAGE_A_RESULTS.md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H2 is still the same package-native Markov-switching AR(1). Only the evaluation hierarchy changed.</a:t>
            </a:r>
          </a:p>
          <a:p xmlns:a="http://schemas.openxmlformats.org/drawingml/2006/main">
            <a:r>
              <a:t>B2 has a fixed feature set and fixed ridge penalty; no feature or penalty search occurred.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literature_studies/docs/GEN5_LIT_REG_02_2_DIRECTIONAL_FORECAST_POC_CONTRACT.md</a:t>
            </a:r>
          </a:p>
          <a:p xmlns:a="http://schemas.openxmlformats.org/drawingml/2006/main">
            <a:r>
              <a:t>- literature_studies/registries/gen5_lit_reg_02_2_directional_forecast_model_registry.csv</a:t>
            </a:r>
          </a:p>
          <a:p xmlns:a="http://schemas.openxmlformats.org/drawingml/2006/main">
            <a:r>
              <a:t>- literature_studies/docs/GEN5_LITERATURE_SOURCE_LEDGER.md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frontier and stress stages were structurally sealed until Stage A passed all eight gates.</a:t>
            </a:r>
          </a:p>
          <a:p xmlns:a="http://schemas.openxmlformats.org/drawingml/2006/main">
            <a:r>
              <a:t>The reporter-only rerun is disclosed because auditability matters even when the scientific calculations did not change.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literature_studies/docs/GEN5_LIT_REG_02_2_DIRECTIONAL_FORECAST_POC_CONTRACT.md</a:t>
            </a:r>
          </a:p>
          <a:p xmlns:a="http://schemas.openxmlformats.org/drawingml/2006/main">
            <a:r>
              <a:t>- runs/research_workbench/literature_studies/lit_reg_02_2_directional_forecast_frontier_20260819/reporter_rerun_note.txt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confirmatory teaching result. Every criterion was fixed before the 24 cases were generated.</a:t>
            </a:r>
          </a:p>
          <a:p xmlns:a="http://schemas.openxmlformats.org/drawingml/2006/main">
            <a:r>
              <a:t>The confidence-bound requirement prevents a small mean improvement driven by a few large wins from passing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runs/research_workbench/literature_studies/lit_reg_02_2_directional_forecast_frontier_20260819/stage_a_gates.csv</a:t>
            </a:r>
          </a:p>
          <a:p xmlns:a="http://schemas.openxmlformats.org/drawingml/2006/main">
            <a:r>
              <a:t>- runs/research_workbench/literature_studies/lit_reg_02_2_directional_forecast_frontier_20260819/stage_a_skill_details.csv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Lower Brier and log loss are better. H2 also beat B0 and B1 in 17 and 18 cases respectively.</a:t>
            </a:r>
          </a:p>
          <a:p xmlns:a="http://schemas.openxmlformats.org/drawingml/2006/main">
            <a:r>
              <a:t>The oracle remains clearly better, showing that the fitted model did not recover all planted information.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runs/research_workbench/literature_studies/lit_reg_02_2_directional_forecast_frontier_20260819/stage_a_case_summary.csv</a:t>
            </a:r>
          </a:p>
          <a:p xmlns:a="http://schemas.openxmlformats.org/drawingml/2006/main">
            <a:r>
              <a:t>- runs/research_workbench/literature_studies/lit_reg_02_2_directional_forecast_frontier_20260819/stage_a_forecast_scores.png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Calibration asks whether predicted probabilities match observed frequencies, not merely whether the 50 percent label was correct.</a:t>
            </a:r>
          </a:p>
          <a:p xmlns:a="http://schemas.openxmlformats.org/drawingml/2006/main">
            <a:r>
              <a:t>The bounds were frozen at intercept ±0.50 and slope 0.50–1.50.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runs/research_workbench/literature_studies/lit_reg_02_2_directional_forecast_frontier_20260819/stage_a_calibration.csv</a:t>
            </a:r>
          </a:p>
          <a:p xmlns:a="http://schemas.openxmlformats.org/drawingml/2006/main">
            <a:r>
              <a:t>- literature_studies/docs/GEN5_LIT_REG_02_2_DIRECTIONAL_FORECAST_POC_CONTRACT.md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dashed horizontal line is zero Brier gain versus the best named baseline in that case.</a:t>
            </a:r>
          </a:p>
          <a:p xmlns:a="http://schemas.openxmlformats.org/drawingml/2006/main">
            <a:r>
              <a:t>State accuracy remains useful for mechanism interpretation, but it no longer overrides the proper forecast scores.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runs/research_workbench/literature_studies/lit_reg_02_2_directional_forecast_frontier_20260819/stage_a_case_summary.csv</a:t>
            </a:r>
          </a:p>
          <a:p xmlns:a="http://schemas.openxmlformats.org/drawingml/2006/main">
            <a:r>
              <a:t>- runs/research_workbench/literature_studies/lit_reg_02_2_directional_forecast_frontier_20260819/stage_a_state_vs_skill.png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representative teaching case, not a cherry-picked market tape.</a:t>
            </a:r>
          </a:p>
          <a:p xmlns:a="http://schemas.openxmlformats.org/drawingml/2006/main">
            <a:r>
              <a:t>The probability is filtered causally; it is not a smoothed hindsight probability.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runs/research_workbench/literature_studies/lit_reg_02_2_directional_forecast_frontier_20260819/stage_a_representative_probability_tape.csv</a:t>
            </a:r>
          </a:p>
          <a:p xmlns:a="http://schemas.openxmlformats.org/drawingml/2006/main">
            <a:r>
              <a:t>- runs/research_workbench/literature_studies/lit_reg_02_2_directional_forecast_frontier_20260819/stage_a_causality_replay_checks.csv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Blue indicates positive mean Brier gain against the per-case best named baseline; red indicates loss.</a:t>
            </a:r>
          </a:p>
          <a:p xmlns:a="http://schemas.openxmlformats.org/drawingml/2006/main">
            <a:r>
              <a:t>The formal cell rule used mean H2 improvement versus each named baseline plus at least three joint replicate wins.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runs/research_workbench/literature_studies/lit_reg_02_2_directional_forecast_frontier_20260819/stage_b_frontier_summary.csv</a:t>
            </a:r>
          </a:p>
          <a:p xmlns:a="http://schemas.openxmlformats.org/drawingml/2006/main">
            <a:r>
              <a:t>- literature_studies/docs/GEN5_LIT_REG_02_2_DIRECTIONAL_FORECAST_POC_CONTRACT.md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5 bp cell passed the literal frozen definition, but the ex-post composite diagnostic shows why it should not be celebrated.</a:t>
            </a:r>
          </a:p>
          <a:p xmlns:a="http://schemas.openxmlformats.org/drawingml/2006/main">
            <a:r>
              <a:t>With four replicates per cell, the map is characterization evidence, not a smooth estimate of power.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runs/research_workbench/literature_studies/lit_reg_02_2_directional_forecast_frontier_20260819/stage_b_frontier_summary.csv</a:t>
            </a:r>
          </a:p>
          <a:p xmlns:a="http://schemas.openxmlformats.org/drawingml/2006/main">
            <a:r>
              <a:t>- literature_studies/docs/GEN5_LIT_REG_02_2_DIRECTIONAL_FORECAST_RESULTS.md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same pattern held for mean log loss: H2 0.6998 versus B0 0.6965 and B1 0.6971.</a:t>
            </a:r>
          </a:p>
          <a:p xmlns:a="http://schemas.openxmlformats.org/drawingml/2006/main">
            <a:r>
              <a:t>Stage C had no promotion gate; it was designed to reveal degradation under heavy tails and volatility clustering.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runs/research_workbench/literature_studies/lit_reg_02_2_directional_forecast_frontier_20260819/stage_c_case_summary.csv</a:t>
            </a:r>
          </a:p>
          <a:p xmlns:a="http://schemas.openxmlformats.org/drawingml/2006/main">
            <a:r>
              <a:t>- literature_studies/docs/GEN5_LIT_REG_02_2_DIRECTIONAL_FORECAST_POC_CONTRACT.md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separating the positive scientific result from any claim of deployability.</a:t>
            </a:r>
          </a:p>
          <a:p xmlns:a="http://schemas.openxmlformats.org/drawingml/2006/main">
            <a:r>
              <a:t>Neither proposed next path is authorized by this deck; each requires a new frozen contract.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literature_studies/docs/GEN5_LIT_REG_02_2_DIRECTIONAL_FORECAST_RESULTS.md</a:t>
            </a:r>
          </a:p>
          <a:p xmlns:a="http://schemas.openxmlformats.org/drawingml/2006/main">
            <a:r>
              <a:t>- runs/research_workbench/literature_studies/lit_reg_02_2_directional_forecast_frontier_20260819/verdict.txt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8a35038f34e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1c9541cccf4dd9" /><Relationship Type="http://schemas.openxmlformats.org/officeDocument/2006/relationships/slideLayout" Target="/ppt/slideLayouts/slideLayout1.xml" Id="Rfef6a17c08f24f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ef6a17c08f24f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ddb94600a4bc5" /><Relationship Type="http://schemas.openxmlformats.org/officeDocument/2006/relationships/image" Target="/ppt/media/image.png" Id="R5096a3bcf9af4b20" /><Relationship Type="http://schemas.openxmlformats.org/officeDocument/2006/relationships/notesSlide" Target="/ppt/notesSlides/notesSlide1.xml" Id="R4dd9e3665baf4a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5d4df82734954" /><Relationship Type="http://schemas.openxmlformats.org/officeDocument/2006/relationships/notesSlide" Target="/ppt/notesSlides/notesSlide2.xml" Id="Rab3fa17aaa7c40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dd204cf83b4f87" /><Relationship Type="http://schemas.openxmlformats.org/officeDocument/2006/relationships/notesSlide" Target="/ppt/notesSlides/notesSlide3.xml" Id="R3c7a7c50b9f449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0ff672b4f42d7" /><Relationship Type="http://schemas.openxmlformats.org/officeDocument/2006/relationships/notesSlide" Target="/ppt/notesSlides/notesSlide4.xml" Id="Rf057c33ca3db4b0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b3b4a705d747c7" /><Relationship Type="http://schemas.openxmlformats.org/officeDocument/2006/relationships/notesSlide" Target="/ppt/notesSlides/notesSlide5.xml" Id="R3268f29b426f47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e54099cb1d4eb9" /><Relationship Type="http://schemas.openxmlformats.org/officeDocument/2006/relationships/image" Target="/ppt/media/image2.png" Id="R77afe1b128c04aba" /><Relationship Type="http://schemas.openxmlformats.org/officeDocument/2006/relationships/notesSlide" Target="/ppt/notesSlides/notesSlide6.xml" Id="R665882db71d74a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a917471c17429b" /><Relationship Type="http://schemas.openxmlformats.org/officeDocument/2006/relationships/image" Target="/ppt/media/image3.png" Id="R7c7b699ba8d145a4" /><Relationship Type="http://schemas.openxmlformats.org/officeDocument/2006/relationships/notesSlide" Target="/ppt/notesSlides/notesSlide7.xml" Id="R1118613e818847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d6124bcbab4bea" /><Relationship Type="http://schemas.openxmlformats.org/officeDocument/2006/relationships/image" Target="/ppt/media/image4.png" Id="Rb96aabdc85204f07" /><Relationship Type="http://schemas.openxmlformats.org/officeDocument/2006/relationships/notesSlide" Target="/ppt/notesSlides/notesSlide8.xml" Id="R641d960e64a6409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e0728571c6478c" /><Relationship Type="http://schemas.openxmlformats.org/officeDocument/2006/relationships/image" Target="/ppt/media/image5.png" Id="Re3519186d7bc4b1c" /><Relationship Type="http://schemas.openxmlformats.org/officeDocument/2006/relationships/notesSlide" Target="/ppt/notesSlides/notesSlide9.xml" Id="R0fbdabd7756a487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c309ba07784c1c" /><Relationship Type="http://schemas.openxmlformats.org/officeDocument/2006/relationships/image" Target="/ppt/media/image6.png" Id="R2112b91afcf3492e" /><Relationship Type="http://schemas.openxmlformats.org/officeDocument/2006/relationships/notesSlide" Target="/ppt/notesSlides/notesSlide10.xml" Id="Rc268fc77a61342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654c5151f40c3" /><Relationship Type="http://schemas.openxmlformats.org/officeDocument/2006/relationships/notesSlide" Target="/ppt/notesSlides/notesSlide11.xml" Id="R952dc80e7ed0440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fec552f394fb9" /><Relationship Type="http://schemas.openxmlformats.org/officeDocument/2006/relationships/image" Target="/ppt/media/image7.png" Id="Re26bd1f844154609" /><Relationship Type="http://schemas.openxmlformats.org/officeDocument/2006/relationships/notesSlide" Target="/ppt/notesSlides/notesSlide12.xml" Id="Rad3e11ee4a6b46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dd0d62ae2c4f6f" /><Relationship Type="http://schemas.openxmlformats.org/officeDocument/2006/relationships/notesSlide" Target="/ppt/notesSlides/notesSlide13.xml" Id="Rc1bcd5242691430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eyebrow-1">
            <a:extLst xmlns:a="http://schemas.openxmlformats.org/drawingml/2006/main">
              <a:ext uri="{FF2B5EF4-FFF2-40B4-BE49-F238E27FC236}">
                <a16:creationId xmlns:a16="http://schemas.microsoft.com/office/drawing/2014/main" id="{E14926F5-DAD3-420D-AE4F-1E8603A4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LIT-REG-02.2 · FORECAST-FIRST DIRECTIONAL HMM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26775966-7BEE-4F0E-AFF3-A0BFD9C8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5429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Fresh forecast skill passed.</a:t>
            </a:r>
          </a:p>
          <a:p xmlns:a="http://schemas.openxmlformats.org/drawingml/2006/main">
            <a:pPr algn="l">
              <a:defRPr sz="4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Robustness remained sparse.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AC36233-FB30-4318-A460-3277BFD4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38625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24-case confirmation · 64-case frontier · financial-shaped stress</a:t>
            </a:r>
          </a:p>
          <a:p xmlns:a="http://schemas.openxmlformats.org/drawingml/2006/main">
            <a:pPr algn="l">
              <a:defRPr sz="1725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No market or strategy data</a:t>
            </a:r>
          </a:p>
        </p:txBody>
      </p:sp>
      <p:sp>
        <p:nvSpPr>
          <p:cNvPr id="4" name="cover-image-backing">
            <a:extLst xmlns:a="http://schemas.openxmlformats.org/drawingml/2006/main">
              <a:ext uri="{FF2B5EF4-FFF2-40B4-BE49-F238E27FC236}">
                <a16:creationId xmlns:a16="http://schemas.microsoft.com/office/drawing/2014/main" id="{0E86BBAC-5AAF-4792-839B-733328436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"/>
            <a:ext cx="52863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96a3bcf9af4b20"/>
          <a:stretch xmlns:a="http://schemas.openxmlformats.org/drawingml/2006/main"/>
        </p:blipFill>
        <p:spPr>
          <a:xfrm xmlns:a="http://schemas.openxmlformats.org/drawingml/2006/main">
            <a:off x="6572250" y="2012156"/>
            <a:ext cx="4905375" cy="2452688"/>
          </a:xfrm>
          <a:prstGeom xmlns:a="http://schemas.openxmlformats.org/drawingml/2006/main" prst="rect">
            <a:avLst/>
          </a:prstGeom>
        </p:spPr>
      </p:pic>
      <p:sp>
        <p:nvSpPr>
          <p:cNvPr id="6" name="cover-verdict">
            <a:extLst xmlns:a="http://schemas.openxmlformats.org/drawingml/2006/main">
              <a:ext uri="{FF2B5EF4-FFF2-40B4-BE49-F238E27FC236}">
                <a16:creationId xmlns:a16="http://schemas.microsoft.com/office/drawing/2014/main" id="{25D68C09-B8FE-488B-970C-7A1C15D5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572125"/>
            <a:ext cx="4143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05D6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05D6F"/>
                </a:solidFill>
                <a:latin typeface="Arial"/>
                <a:ea typeface="Arial"/>
                <a:cs typeface="Arial"/>
              </a:rPr>
              <a:t>COMPLETE — MARKET NOT OPENED</a:t>
            </a:r>
          </a:p>
        </p:txBody>
      </p:sp>
    </p:spTree>
    <p:extLst>
      <p:ext uri="{BB962C8B-B14F-4D97-AF65-F5344CB8AC3E}">
        <p14:creationId xmlns:p14="http://schemas.microsoft.com/office/powerpoint/2010/main" val="14582960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2">
            <a:extLst xmlns:a="http://schemas.openxmlformats.org/drawingml/2006/main">
              <a:ext uri="{FF2B5EF4-FFF2-40B4-BE49-F238E27FC236}">
                <a16:creationId xmlns:a16="http://schemas.microsoft.com/office/drawing/2014/main" id="{EA968F25-0A40-41F5-A88E-36F0ACD5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scientific target changed; the 02.1 STOP did not</a:t>
            </a:r>
          </a:p>
        </p:txBody>
      </p:sp>
      <p:sp>
        <p:nvSpPr>
          <p:cNvPr id="2" name="footer-2">
            <a:extLst xmlns:a="http://schemas.openxmlformats.org/drawingml/2006/main">
              <a:ext uri="{FF2B5EF4-FFF2-40B4-BE49-F238E27FC236}">
                <a16:creationId xmlns:a16="http://schemas.microsoft.com/office/drawing/2014/main" id="{F4621D2F-C6CD-4F66-8B10-71ED8F76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3" name="comparison-intro">
            <a:extLst xmlns:a="http://schemas.openxmlformats.org/drawingml/2006/main">
              <a:ext uri="{FF2B5EF4-FFF2-40B4-BE49-F238E27FC236}">
                <a16:creationId xmlns:a16="http://schemas.microsoft.com/office/drawing/2014/main" id="{8C596727-AA4E-498F-A8D1-C776C837C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95375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A hidden state can be useful machinery even when its daily hard label is imperfect.</a:t>
            </a:r>
          </a:p>
        </p:txBody>
      </p:sp>
      <p:sp>
        <p:nvSpPr>
          <p:cNvPr id="4" name="left-panel">
            <a:extLst xmlns:a="http://schemas.openxmlformats.org/drawingml/2006/main">
              <a:ext uri="{FF2B5EF4-FFF2-40B4-BE49-F238E27FC236}">
                <a16:creationId xmlns:a16="http://schemas.microsoft.com/office/drawing/2014/main" id="{F23E95F6-7323-44AE-9812-1342A41D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51911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ight-panel">
            <a:extLst xmlns:a="http://schemas.openxmlformats.org/drawingml/2006/main">
              <a:ext uri="{FF2B5EF4-FFF2-40B4-BE49-F238E27FC236}">
                <a16:creationId xmlns:a16="http://schemas.microsoft.com/office/drawing/2014/main" id="{6670A742-D496-483D-806F-FC4A92A7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54768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ft-head">
            <a:extLst xmlns:a="http://schemas.openxmlformats.org/drawingml/2006/main">
              <a:ext uri="{FF2B5EF4-FFF2-40B4-BE49-F238E27FC236}">
                <a16:creationId xmlns:a16="http://schemas.microsoft.com/office/drawing/2014/main" id="{4632A732-49AF-4C55-B89D-A157BE4BA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02.1 · decoding-first</a:t>
            </a:r>
          </a:p>
        </p:txBody>
      </p:sp>
      <p:sp>
        <p:nvSpPr>
          <p:cNvPr id="7" name="left-body">
            <a:extLst xmlns:a="http://schemas.openxmlformats.org/drawingml/2006/main">
              <a:ext uri="{FF2B5EF4-FFF2-40B4-BE49-F238E27FC236}">
                <a16:creationId xmlns:a16="http://schemas.microsoft.com/office/drawing/2014/main" id="{16DD7C39-7253-48C2-BEB9-FD8A3831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4381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Can H2 recover the planted state every day?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Hard-state and transition-tail gates were conjunctive.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Result: 6/8 gates; STOP preserved.</a:t>
            </a:r>
          </a:p>
        </p:txBody>
      </p:sp>
      <p:sp>
        <p:nvSpPr>
          <p:cNvPr id="8" name="right-head">
            <a:extLst xmlns:a="http://schemas.openxmlformats.org/drawingml/2006/main">
              <a:ext uri="{FF2B5EF4-FFF2-40B4-BE49-F238E27FC236}">
                <a16:creationId xmlns:a16="http://schemas.microsoft.com/office/drawing/2014/main" id="{B40E8AC5-0E45-4F96-9F5B-64148520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524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02.2 · forecast-first</a:t>
            </a:r>
          </a:p>
        </p:txBody>
      </p:sp>
      <p:sp>
        <p:nvSpPr>
          <p:cNvPr id="9" name="right-body">
            <a:extLst xmlns:a="http://schemas.openxmlformats.org/drawingml/2006/main">
              <a:ext uri="{FF2B5EF4-FFF2-40B4-BE49-F238E27FC236}">
                <a16:creationId xmlns:a16="http://schemas.microsoft.com/office/drawing/2014/main" id="{D00BF8F5-C7A5-4514-AF42-F980C7BA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48000"/>
            <a:ext cx="4619625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Do soft H20 probabilities improve proper scores?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State recovery remains diagnostic, not promotional.</a:t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Fresh seeds and a stronger B2 prevent retrospective rescue.</a:t>
            </a:r>
          </a:p>
        </p:txBody>
      </p:sp>
      <p:sp>
        <p:nvSpPr>
          <p:cNvPr id="10" name="comparison-bottom">
            <a:extLst xmlns:a="http://schemas.openxmlformats.org/drawingml/2006/main">
              <a:ext uri="{FF2B5EF4-FFF2-40B4-BE49-F238E27FC236}">
                <a16:creationId xmlns:a16="http://schemas.microsoft.com/office/drawing/2014/main" id="{CB88791C-1CD5-4A22-B261-BBAEA0DB7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Same model. New scientific estimand. New contract. No reinterpretation of old evidence.</a:t>
            </a:r>
          </a:p>
        </p:txBody>
      </p:sp>
    </p:spTree>
    <p:extLst>
      <p:ext uri="{BB962C8B-B14F-4D97-AF65-F5344CB8AC3E}">
        <p14:creationId xmlns:p14="http://schemas.microsoft.com/office/powerpoint/2010/main" val="6773410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itle-3">
            <a:extLst xmlns:a="http://schemas.openxmlformats.org/drawingml/2006/main">
              <a:ext uri="{FF2B5EF4-FFF2-40B4-BE49-F238E27FC236}">
                <a16:creationId xmlns:a16="http://schemas.microsoft.com/office/drawing/2014/main" id="{61367F42-F259-4C33-BBE6-0C9186F0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H2 turns uncertain states into an H20 probability</a:t>
            </a:r>
          </a:p>
        </p:txBody>
      </p:sp>
      <p:sp>
        <p:nvSpPr>
          <p:cNvPr id="2" name="footer-3">
            <a:extLst xmlns:a="http://schemas.openxmlformats.org/drawingml/2006/main">
              <a:ext uri="{FF2B5EF4-FFF2-40B4-BE49-F238E27FC236}">
                <a16:creationId xmlns:a16="http://schemas.microsoft.com/office/drawing/2014/main" id="{A3910408-1C85-4FB9-BD75-41D8AC09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3" name="formula-field">
            <a:extLst xmlns:a="http://schemas.openxmlformats.org/drawingml/2006/main">
              <a:ext uri="{FF2B5EF4-FFF2-40B4-BE49-F238E27FC236}">
                <a16:creationId xmlns:a16="http://schemas.microsoft.com/office/drawing/2014/main" id="{C9E30D4E-EADE-4A14-800C-1380BE31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90625"/>
            <a:ext cx="6667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rmula">
            <a:extLst xmlns:a="http://schemas.openxmlformats.org/drawingml/2006/main">
              <a:ext uri="{FF2B5EF4-FFF2-40B4-BE49-F238E27FC236}">
                <a16:creationId xmlns:a16="http://schemas.microsoft.com/office/drawing/2014/main" id="{50C6B38E-2566-45B6-A646-702A7A93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09750"/>
            <a:ext cx="5905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rₜ = α[Sₜ] + φ[Sₜ] · rₜ₋₁ + σ[Sₜ] · εₜ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P(Sₜ = j | Sₜ₋₁ = i) = Aᵢⱼ</a:t>
            </a:r>
          </a:p>
        </p:txBody>
      </p:sp>
      <p:sp>
        <p:nvSpPr>
          <p:cNvPr id="5" name="target-label">
            <a:extLst xmlns:a="http://schemas.openxmlformats.org/drawingml/2006/main">
              <a:ext uri="{FF2B5EF4-FFF2-40B4-BE49-F238E27FC236}">
                <a16:creationId xmlns:a16="http://schemas.microsoft.com/office/drawing/2014/main" id="{3CBC1DD7-3E1D-4D00-B2DC-D151D077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147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Primary causal target</a:t>
            </a:r>
          </a:p>
        </p:txBody>
      </p:sp>
      <p:sp>
        <p:nvSpPr>
          <p:cNvPr id="6" name="target">
            <a:extLst xmlns:a="http://schemas.openxmlformats.org/drawingml/2006/main">
              <a:ext uri="{FF2B5EF4-FFF2-40B4-BE49-F238E27FC236}">
                <a16:creationId xmlns:a16="http://schemas.microsoft.com/office/drawing/2014/main" id="{C2E7A2C6-BAFA-436C-96CC-AC481623C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38625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P(rₜ₊₁ + … + rₜ₊₂₀ &gt; 0 | information through t)</a:t>
            </a:r>
          </a:p>
        </p:txBody>
      </p:sp>
      <p:sp>
        <p:nvSpPr>
          <p:cNvPr id="7" name="baseline-head">
            <a:extLst xmlns:a="http://schemas.openxmlformats.org/drawingml/2006/main">
              <a:ext uri="{FF2B5EF4-FFF2-40B4-BE49-F238E27FC236}">
                <a16:creationId xmlns:a16="http://schemas.microsoft.com/office/drawing/2014/main" id="{3ECF79C4-5CC9-46D2-B2B4-3C77F260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285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Frozen challengers</a:t>
            </a:r>
          </a:p>
        </p:txBody>
      </p:sp>
      <p:sp>
        <p:nvSpPr>
          <p:cNvPr id="8" name="baseline-list">
            <a:extLst xmlns:a="http://schemas.openxmlformats.org/drawingml/2006/main">
              <a:ext uri="{FF2B5EF4-FFF2-40B4-BE49-F238E27FC236}">
                <a16:creationId xmlns:a16="http://schemas.microsoft.com/office/drawing/2014/main" id="{65064918-C97C-4CD2-A107-CAB99F870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3714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B0  TRAIN H20 base rate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B1  one-state Gaussian AR(1)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B2  λ=1 ridge logistic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      r1 · r5 · r20 · vol20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O1  planted-state oracle</a:t>
            </a:r>
          </a:p>
        </p:txBody>
      </p:sp>
      <p:sp>
        <p:nvSpPr>
          <p:cNvPr id="9" name="baseline-note">
            <a:extLst xmlns:a="http://schemas.openxmlformats.org/drawingml/2006/main">
              <a:ext uri="{FF2B5EF4-FFF2-40B4-BE49-F238E27FC236}">
                <a16:creationId xmlns:a16="http://schemas.microsoft.com/office/drawing/2014/main" id="{9F9FC84F-0BBC-4944-A676-BD4B8E8D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1911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B2 asks whether hidden states add value beyond a direct, compact return-history forecast.</a:t>
            </a:r>
          </a:p>
        </p:txBody>
      </p:sp>
    </p:spTree>
    <p:extLst>
      <p:ext uri="{BB962C8B-B14F-4D97-AF65-F5344CB8AC3E}">
        <p14:creationId xmlns:p14="http://schemas.microsoft.com/office/powerpoint/2010/main" val="203656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itle-4">
            <a:extLst xmlns:a="http://schemas.openxmlformats.org/drawingml/2006/main">
              <a:ext uri="{FF2B5EF4-FFF2-40B4-BE49-F238E27FC236}">
                <a16:creationId xmlns:a16="http://schemas.microsoft.com/office/drawing/2014/main" id="{A2D2E866-35AA-464B-AAC5-7624A55B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Fresh confirmation had to pass before the frontier could open</a:t>
            </a:r>
          </a:p>
        </p:txBody>
      </p:sp>
      <p:sp>
        <p:nvSpPr>
          <p:cNvPr id="2" name="footer-4">
            <a:extLst xmlns:a="http://schemas.openxmlformats.org/drawingml/2006/main">
              <a:ext uri="{FF2B5EF4-FFF2-40B4-BE49-F238E27FC236}">
                <a16:creationId xmlns:a16="http://schemas.microsoft.com/office/drawing/2014/main" id="{B0144E7F-6A97-4642-A8C8-0B8A8813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" name="ladder-line">
            <a:extLst xmlns:a="http://schemas.openxmlformats.org/drawingml/2006/main">
              <a:ext uri="{FF2B5EF4-FFF2-40B4-BE49-F238E27FC236}">
                <a16:creationId xmlns:a16="http://schemas.microsoft.com/office/drawing/2014/main" id="{FB4DF2FD-F36D-4396-B01C-F95DA497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885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BCC4"/>
            </a:solidFill>
            <a:prstDash val="solid"/>
          </a:ln>
        </p:spPr>
      </p:sp>
      <p:sp>
        <p:nvSpPr>
          <p:cNvPr id="4" name="node-0">
            <a:extLst xmlns:a="http://schemas.openxmlformats.org/drawingml/2006/main">
              <a:ext uri="{FF2B5EF4-FFF2-40B4-BE49-F238E27FC236}">
                <a16:creationId xmlns:a16="http://schemas.microsoft.com/office/drawing/2014/main" id="{6A16530B-50F9-4215-A096-E6C03CE90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5" name="label-0">
            <a:extLst xmlns:a="http://schemas.openxmlformats.org/drawingml/2006/main">
              <a:ext uri="{FF2B5EF4-FFF2-40B4-BE49-F238E27FC236}">
                <a16:creationId xmlns:a16="http://schemas.microsoft.com/office/drawing/2014/main" id="{B9F54C4A-A14C-43CB-AE9B-CB8DFAFE6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955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1 · Fresh confirmation</a:t>
            </a:r>
          </a:p>
        </p:txBody>
      </p:sp>
      <p:sp>
        <p:nvSpPr>
          <p:cNvPr id="6" name="body-0">
            <a:extLst xmlns:a="http://schemas.openxmlformats.org/drawingml/2006/main">
              <a:ext uri="{FF2B5EF4-FFF2-40B4-BE49-F238E27FC236}">
                <a16:creationId xmlns:a16="http://schemas.microsoft.com/office/drawing/2014/main" id="{E7F366D5-5A23-4A6D-829F-46CBF81C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429000"/>
            <a:ext cx="2143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24 new seeds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 conjunctive gates</a:t>
            </a:r>
          </a:p>
        </p:txBody>
      </p:sp>
      <p:sp>
        <p:nvSpPr>
          <p:cNvPr id="7" name="node-1">
            <a:extLst xmlns:a="http://schemas.openxmlformats.org/drawingml/2006/main">
              <a:ext uri="{FF2B5EF4-FFF2-40B4-BE49-F238E27FC236}">
                <a16:creationId xmlns:a16="http://schemas.microsoft.com/office/drawing/2014/main" id="{090B33AF-7EAB-4660-A9B7-8FE5B714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05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8" name="label-1">
            <a:extLst xmlns:a="http://schemas.openxmlformats.org/drawingml/2006/main">
              <a:ext uri="{FF2B5EF4-FFF2-40B4-BE49-F238E27FC236}">
                <a16:creationId xmlns:a16="http://schemas.microsoft.com/office/drawing/2014/main" id="{6861C65F-0DDC-4FB0-94F2-A52EE9B7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2 · Detection frontier</a:t>
            </a:r>
          </a:p>
        </p:txBody>
      </p:sp>
      <p:sp>
        <p:nvSpPr>
          <p:cNvPr id="9" name="body-1">
            <a:extLst xmlns:a="http://schemas.openxmlformats.org/drawingml/2006/main">
              <a:ext uri="{FF2B5EF4-FFF2-40B4-BE49-F238E27FC236}">
                <a16:creationId xmlns:a16="http://schemas.microsoft.com/office/drawing/2014/main" id="{7B517F8D-96CE-4E07-B7A0-57182022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143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64 unread cases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signal × persistence × history</a:t>
            </a:r>
          </a:p>
        </p:txBody>
      </p:sp>
      <p:sp>
        <p:nvSpPr>
          <p:cNvPr id="10" name="node-2">
            <a:extLst xmlns:a="http://schemas.openxmlformats.org/drawingml/2006/main">
              <a:ext uri="{FF2B5EF4-FFF2-40B4-BE49-F238E27FC236}">
                <a16:creationId xmlns:a16="http://schemas.microsoft.com/office/drawing/2014/main" id="{7C496E3D-4FB4-4087-AF81-62E481249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label-2">
            <a:extLst xmlns:a="http://schemas.openxmlformats.org/drawingml/2006/main">
              <a:ext uri="{FF2B5EF4-FFF2-40B4-BE49-F238E27FC236}">
                <a16:creationId xmlns:a16="http://schemas.microsoft.com/office/drawing/2014/main" id="{66A229BF-BA4B-4FF9-8460-98C408851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3 · Financial stress</a:t>
            </a:r>
          </a:p>
        </p:txBody>
      </p:sp>
      <p:sp>
        <p:nvSpPr>
          <p:cNvPr id="12" name="body-2">
            <a:extLst xmlns:a="http://schemas.openxmlformats.org/drawingml/2006/main">
              <a:ext uri="{FF2B5EF4-FFF2-40B4-BE49-F238E27FC236}">
                <a16:creationId xmlns:a16="http://schemas.microsoft.com/office/drawing/2014/main" id="{D4E2A62B-EFF3-4731-A3D9-32A04936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2143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 Student-t/GARCH cases</a:t>
            </a:r>
          </a:p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Gaussian H2 misspecified</a:t>
            </a:r>
          </a:p>
        </p:txBody>
      </p:sp>
      <p:sp>
        <p:nvSpPr>
          <p:cNvPr id="13" name="node-3">
            <a:extLst xmlns:a="http://schemas.openxmlformats.org/drawingml/2006/main">
              <a:ext uri="{FF2B5EF4-FFF2-40B4-BE49-F238E27FC236}">
                <a16:creationId xmlns:a16="http://schemas.microsoft.com/office/drawing/2014/main" id="{693E0466-18B3-46B9-BE15-9D93186C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051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label-3">
            <a:extLst xmlns:a="http://schemas.openxmlformats.org/drawingml/2006/main">
              <a:ext uri="{FF2B5EF4-FFF2-40B4-BE49-F238E27FC236}">
                <a16:creationId xmlns:a16="http://schemas.microsoft.com/office/drawing/2014/main" id="{B386A156-1286-431C-B8A4-5F0060A0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4 · Market evidence</a:t>
            </a:r>
          </a:p>
        </p:txBody>
      </p:sp>
      <p:sp>
        <p:nvSpPr>
          <p:cNvPr id="15" name="body-3">
            <a:extLst xmlns:a="http://schemas.openxmlformats.org/drawingml/2006/main">
              <a:ext uri="{FF2B5EF4-FFF2-40B4-BE49-F238E27FC236}">
                <a16:creationId xmlns:a16="http://schemas.microsoft.com/office/drawing/2014/main" id="{A8EA56F0-7DF4-4603-BC01-DB3B489CC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29000"/>
            <a:ext cx="2143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Still closed</a:t>
            </a:r>
          </a:p>
          <a:p xmlns:a="http://schemas.openxmlformats.org/drawingml/2006/main">
            <a:pPr algn="ctr">
              <a:defRPr sz="13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new contract required</a:t>
            </a:r>
          </a:p>
        </p:txBody>
      </p:sp>
      <p:sp>
        <p:nvSpPr>
          <p:cNvPr id="16" name="anti-rescue">
            <a:extLst xmlns:a="http://schemas.openxmlformats.org/drawingml/2006/main">
              <a:ext uri="{FF2B5EF4-FFF2-40B4-BE49-F238E27FC236}">
                <a16:creationId xmlns:a16="http://schemas.microsoft.com/office/drawing/2014/main" id="{15E92001-ED1E-4586-AABF-B023BB42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10096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anti-rescue-text">
            <a:extLst xmlns:a="http://schemas.openxmlformats.org/drawingml/2006/main">
              <a:ext uri="{FF2B5EF4-FFF2-40B4-BE49-F238E27FC236}">
                <a16:creationId xmlns:a16="http://schemas.microsoft.com/office/drawing/2014/main" id="{E4FDDF0B-AFBC-4F9F-8A13-A6DF97BF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911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E05D6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E05D6F"/>
                </a:solidFill>
                <a:latin typeface="Arial"/>
                <a:ea typeface="Arial"/>
                <a:cs typeface="Arial"/>
              </a:rPr>
              <a:t>The first run’s schema-only row-binding failure changed no seed, fit, score, gate, or verdict; the complete rerun is authoritative.</a:t>
            </a:r>
          </a:p>
        </p:txBody>
      </p:sp>
    </p:spTree>
    <p:extLst>
      <p:ext uri="{BB962C8B-B14F-4D97-AF65-F5344CB8AC3E}">
        <p14:creationId xmlns:p14="http://schemas.microsoft.com/office/powerpoint/2010/main" val="506788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-5">
            <a:extLst xmlns:a="http://schemas.openxmlformats.org/drawingml/2006/main">
              <a:ext uri="{FF2B5EF4-FFF2-40B4-BE49-F238E27FC236}">
                <a16:creationId xmlns:a16="http://schemas.microsoft.com/office/drawing/2014/main" id="{42A10C52-825A-4280-A36B-A1957C32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eight fresh forecast-confirmation gates passed</a:t>
            </a:r>
          </a:p>
        </p:txBody>
      </p:sp>
      <p:sp>
        <p:nvSpPr>
          <p:cNvPr id="2" name="footer-5">
            <a:extLst xmlns:a="http://schemas.openxmlformats.org/drawingml/2006/main">
              <a:ext uri="{FF2B5EF4-FFF2-40B4-BE49-F238E27FC236}">
                <a16:creationId xmlns:a16="http://schemas.microsoft.com/office/drawing/2014/main" id="{BF3B6A1A-FD43-46E1-9355-A81D4CDA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100FEC8E-847C-41DF-9E6C-38CF7BEF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Gate</a:t>
            </a:r>
          </a:p>
        </p:txBody>
      </p:sp>
      <p:sp>
        <p:nvSpPr>
          <p:cNvPr id="4" name="table-status">
            <a:extLst xmlns:a="http://schemas.openxmlformats.org/drawingml/2006/main">
              <a:ext uri="{FF2B5EF4-FFF2-40B4-BE49-F238E27FC236}">
                <a16:creationId xmlns:a16="http://schemas.microsoft.com/office/drawing/2014/main" id="{DFD0D232-53FD-4D7C-A7BC-D687A1A1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190625"/>
            <a:ext cx="104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Status</a:t>
            </a:r>
          </a:p>
        </p:txBody>
      </p:sp>
      <p:sp>
        <p:nvSpPr>
          <p:cNvPr id="5" name="table-evidence">
            <a:extLst xmlns:a="http://schemas.openxmlformats.org/drawingml/2006/main">
              <a:ext uri="{FF2B5EF4-FFF2-40B4-BE49-F238E27FC236}">
                <a16:creationId xmlns:a16="http://schemas.microsoft.com/office/drawing/2014/main" id="{200A7A09-8C31-4708-9250-D55A57CA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190625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Observed evidence</a:t>
            </a:r>
          </a:p>
        </p:txBody>
      </p:sp>
      <p:sp>
        <p:nvSpPr>
          <p:cNvPr id="6" name="row-bg-0">
            <a:extLst xmlns:a="http://schemas.openxmlformats.org/drawingml/2006/main">
              <a:ext uri="{FF2B5EF4-FFF2-40B4-BE49-F238E27FC236}">
                <a16:creationId xmlns:a16="http://schemas.microsoft.com/office/drawing/2014/main" id="{6BD0825B-CFA9-49CD-AEC0-7EB0F9ED6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90675"/>
            <a:ext cx="10715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ate-0">
            <a:extLst xmlns:a="http://schemas.openxmlformats.org/drawingml/2006/main">
              <a:ext uri="{FF2B5EF4-FFF2-40B4-BE49-F238E27FC236}">
                <a16:creationId xmlns:a16="http://schemas.microsoft.com/office/drawing/2014/main" id="{D4D8D762-E28D-498E-96C4-59477B31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A1</a:t>
            </a:r>
          </a:p>
        </p:txBody>
      </p:sp>
      <p:sp>
        <p:nvSpPr>
          <p:cNvPr id="8" name="status-0">
            <a:extLst xmlns:a="http://schemas.openxmlformats.org/drawingml/2006/main">
              <a:ext uri="{FF2B5EF4-FFF2-40B4-BE49-F238E27FC236}">
                <a16:creationId xmlns:a16="http://schemas.microsoft.com/office/drawing/2014/main" id="{252C0E99-2B53-4833-A1CA-C1F4CEF6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668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9E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9E91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9" name="evidence-0">
            <a:extLst xmlns:a="http://schemas.openxmlformats.org/drawingml/2006/main">
              <a:ext uri="{FF2B5EF4-FFF2-40B4-BE49-F238E27FC236}">
                <a16:creationId xmlns:a16="http://schemas.microsoft.com/office/drawing/2014/main" id="{28FF3164-CA26-4DBC-BD2E-1DB2E605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24/24 valid H2 and B2 fits</a:t>
            </a:r>
          </a:p>
        </p:txBody>
      </p:sp>
      <p:sp>
        <p:nvSpPr>
          <p:cNvPr id="10" name="gate-1">
            <a:extLst xmlns:a="http://schemas.openxmlformats.org/drawingml/2006/main">
              <a:ext uri="{FF2B5EF4-FFF2-40B4-BE49-F238E27FC236}">
                <a16:creationId xmlns:a16="http://schemas.microsoft.com/office/drawing/2014/main" id="{08DFE514-99C1-45E5-97E4-3C0E84DA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02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A2</a:t>
            </a:r>
          </a:p>
        </p:txBody>
      </p:sp>
      <p:sp>
        <p:nvSpPr>
          <p:cNvPr id="11" name="status-1">
            <a:extLst xmlns:a="http://schemas.openxmlformats.org/drawingml/2006/main">
              <a:ext uri="{FF2B5EF4-FFF2-40B4-BE49-F238E27FC236}">
                <a16:creationId xmlns:a16="http://schemas.microsoft.com/office/drawing/2014/main" id="{FC3939FF-4E72-4A8C-8C3B-CC05F1E49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002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9E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9E91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2" name="evidence-1">
            <a:extLst xmlns:a="http://schemas.openxmlformats.org/drawingml/2006/main">
              <a:ext uri="{FF2B5EF4-FFF2-40B4-BE49-F238E27FC236}">
                <a16:creationId xmlns:a16="http://schemas.microsoft.com/office/drawing/2014/main" id="{D25576BA-D4C4-4992-A3FA-AF5FFCED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002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causal append difference = 0</a:t>
            </a:r>
          </a:p>
        </p:txBody>
      </p:sp>
      <p:sp>
        <p:nvSpPr>
          <p:cNvPr id="13" name="row-bg-2">
            <a:extLst xmlns:a="http://schemas.openxmlformats.org/drawingml/2006/main">
              <a:ext uri="{FF2B5EF4-FFF2-40B4-BE49-F238E27FC236}">
                <a16:creationId xmlns:a16="http://schemas.microsoft.com/office/drawing/2014/main" id="{CC1A5FEC-EFE9-40CB-8119-67F6DF44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57475"/>
            <a:ext cx="10715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ate-2">
            <a:extLst xmlns:a="http://schemas.openxmlformats.org/drawingml/2006/main">
              <a:ext uri="{FF2B5EF4-FFF2-40B4-BE49-F238E27FC236}">
                <a16:creationId xmlns:a16="http://schemas.microsoft.com/office/drawing/2014/main" id="{17BB00FE-A3D4-4901-B937-80DB88FD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A3</a:t>
            </a:r>
          </a:p>
        </p:txBody>
      </p:sp>
      <p:sp>
        <p:nvSpPr>
          <p:cNvPr id="15" name="status-2">
            <a:extLst xmlns:a="http://schemas.openxmlformats.org/drawingml/2006/main">
              <a:ext uri="{FF2B5EF4-FFF2-40B4-BE49-F238E27FC236}">
                <a16:creationId xmlns:a16="http://schemas.microsoft.com/office/drawing/2014/main" id="{F009EEF1-97D6-4D69-A3D4-7153228BD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336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9E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9E91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6" name="evidence-2">
            <a:extLst xmlns:a="http://schemas.openxmlformats.org/drawingml/2006/main">
              <a:ext uri="{FF2B5EF4-FFF2-40B4-BE49-F238E27FC236}">
                <a16:creationId xmlns:a16="http://schemas.microsoft.com/office/drawing/2014/main" id="{1CC30560-8668-4FBF-875F-3D67E6FD9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336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exact parameter, probability, filter, and score replay</a:t>
            </a:r>
          </a:p>
        </p:txBody>
      </p:sp>
      <p:sp>
        <p:nvSpPr>
          <p:cNvPr id="17" name="gate-3">
            <a:extLst xmlns:a="http://schemas.openxmlformats.org/drawingml/2006/main">
              <a:ext uri="{FF2B5EF4-FFF2-40B4-BE49-F238E27FC236}">
                <a16:creationId xmlns:a16="http://schemas.microsoft.com/office/drawing/2014/main" id="{5E4F4FAB-4084-4DC2-8597-EA2FCC3B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670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A4</a:t>
            </a:r>
          </a:p>
        </p:txBody>
      </p:sp>
      <p:sp>
        <p:nvSpPr>
          <p:cNvPr id="18" name="status-3">
            <a:extLst xmlns:a="http://schemas.openxmlformats.org/drawingml/2006/main">
              <a:ext uri="{FF2B5EF4-FFF2-40B4-BE49-F238E27FC236}">
                <a16:creationId xmlns:a16="http://schemas.microsoft.com/office/drawing/2014/main" id="{67125C7C-7D79-4C35-84A1-745C60615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2670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9E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9E91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19" name="evidence-3">
            <a:extLst xmlns:a="http://schemas.openxmlformats.org/drawingml/2006/main">
              <a:ext uri="{FF2B5EF4-FFF2-40B4-BE49-F238E27FC236}">
                <a16:creationId xmlns:a16="http://schemas.microsoft.com/office/drawing/2014/main" id="{3C418A69-A2EB-48A8-A4BC-6BA018839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670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Brier lower than B0/B1/B2; 17/18/16 wins; upper90 &lt; 0</a:t>
            </a:r>
          </a:p>
        </p:txBody>
      </p:sp>
      <p:sp>
        <p:nvSpPr>
          <p:cNvPr id="20" name="row-bg-4">
            <a:extLst xmlns:a="http://schemas.openxmlformats.org/drawingml/2006/main">
              <a:ext uri="{FF2B5EF4-FFF2-40B4-BE49-F238E27FC236}">
                <a16:creationId xmlns:a16="http://schemas.microsoft.com/office/drawing/2014/main" id="{F7FB002F-97D6-43B7-B31F-AE0D12BC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24275"/>
            <a:ext cx="10715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gate-4">
            <a:extLst xmlns:a="http://schemas.openxmlformats.org/drawingml/2006/main">
              <a:ext uri="{FF2B5EF4-FFF2-40B4-BE49-F238E27FC236}">
                <a16:creationId xmlns:a16="http://schemas.microsoft.com/office/drawing/2014/main" id="{C9253B9C-15D5-4666-9F3C-93D7570C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004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A5</a:t>
            </a:r>
          </a:p>
        </p:txBody>
      </p:sp>
      <p:sp>
        <p:nvSpPr>
          <p:cNvPr id="22" name="status-4">
            <a:extLst xmlns:a="http://schemas.openxmlformats.org/drawingml/2006/main">
              <a:ext uri="{FF2B5EF4-FFF2-40B4-BE49-F238E27FC236}">
                <a16:creationId xmlns:a16="http://schemas.microsoft.com/office/drawing/2014/main" id="{BEA5F716-CC9B-4E1C-8645-09329A26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004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9E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9E91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3" name="evidence-4">
            <a:extLst xmlns:a="http://schemas.openxmlformats.org/drawingml/2006/main">
              <a:ext uri="{FF2B5EF4-FFF2-40B4-BE49-F238E27FC236}">
                <a16:creationId xmlns:a16="http://schemas.microsoft.com/office/drawing/2014/main" id="{6E493E71-68B5-48A0-A750-AA5540878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004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log loss lower than B0/B1/B2; 17/18/16 wins; upper90 &lt; 0</a:t>
            </a:r>
          </a:p>
        </p:txBody>
      </p:sp>
      <p:sp>
        <p:nvSpPr>
          <p:cNvPr id="24" name="gate-5">
            <a:extLst xmlns:a="http://schemas.openxmlformats.org/drawingml/2006/main">
              <a:ext uri="{FF2B5EF4-FFF2-40B4-BE49-F238E27FC236}">
                <a16:creationId xmlns:a16="http://schemas.microsoft.com/office/drawing/2014/main" id="{F9C28CE0-1B76-4796-A1D6-D4047350E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A6</a:t>
            </a:r>
          </a:p>
        </p:txBody>
      </p:sp>
      <p:sp>
        <p:nvSpPr>
          <p:cNvPr id="25" name="status-5">
            <a:extLst xmlns:a="http://schemas.openxmlformats.org/drawingml/2006/main">
              <a:ext uri="{FF2B5EF4-FFF2-40B4-BE49-F238E27FC236}">
                <a16:creationId xmlns:a16="http://schemas.microsoft.com/office/drawing/2014/main" id="{3D870823-509B-4719-BD18-6B992E85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9E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9E91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26" name="evidence-5">
            <a:extLst xmlns:a="http://schemas.openxmlformats.org/drawingml/2006/main">
              <a:ext uri="{FF2B5EF4-FFF2-40B4-BE49-F238E27FC236}">
                <a16:creationId xmlns:a16="http://schemas.microsoft.com/office/drawing/2014/main" id="{55795FAF-F622-4C0D-B05B-0BCB5EB9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calibration intercept 0.098; slope 0.725; sharpness 0.133</a:t>
            </a:r>
          </a:p>
        </p:txBody>
      </p:sp>
      <p:sp>
        <p:nvSpPr>
          <p:cNvPr id="27" name="row-bg-6">
            <a:extLst xmlns:a="http://schemas.openxmlformats.org/drawingml/2006/main">
              <a:ext uri="{FF2B5EF4-FFF2-40B4-BE49-F238E27FC236}">
                <a16:creationId xmlns:a16="http://schemas.microsoft.com/office/drawing/2014/main" id="{DB7B668B-D14D-466E-BA40-7FA675C9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91075"/>
            <a:ext cx="10715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gate-6">
            <a:extLst xmlns:a="http://schemas.openxmlformats.org/drawingml/2006/main">
              <a:ext uri="{FF2B5EF4-FFF2-40B4-BE49-F238E27FC236}">
                <a16:creationId xmlns:a16="http://schemas.microsoft.com/office/drawing/2014/main" id="{E7871694-83C6-4E1D-B83B-032D3368D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672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A7</a:t>
            </a:r>
          </a:p>
        </p:txBody>
      </p:sp>
      <p:sp>
        <p:nvSpPr>
          <p:cNvPr id="29" name="status-6">
            <a:extLst xmlns:a="http://schemas.openxmlformats.org/drawingml/2006/main">
              <a:ext uri="{FF2B5EF4-FFF2-40B4-BE49-F238E27FC236}">
                <a16:creationId xmlns:a16="http://schemas.microsoft.com/office/drawing/2014/main" id="{7BA93850-4A26-4CB3-9587-26F698BFF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672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9E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9E91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0" name="evidence-6">
            <a:extLst xmlns:a="http://schemas.openxmlformats.org/drawingml/2006/main">
              <a:ext uri="{FF2B5EF4-FFF2-40B4-BE49-F238E27FC236}">
                <a16:creationId xmlns:a16="http://schemas.microsoft.com/office/drawing/2014/main" id="{61696FF2-F312-42CE-ADF5-36642D1F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672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oracle remained better; every probability and score finite</a:t>
            </a:r>
          </a:p>
        </p:txBody>
      </p:sp>
      <p:sp>
        <p:nvSpPr>
          <p:cNvPr id="31" name="gate-7">
            <a:extLst xmlns:a="http://schemas.openxmlformats.org/drawingml/2006/main">
              <a:ext uri="{FF2B5EF4-FFF2-40B4-BE49-F238E27FC236}">
                <a16:creationId xmlns:a16="http://schemas.microsoft.com/office/drawing/2014/main" id="{1A38DD7C-BE13-43FA-BC4A-F3A311A1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00675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A8</a:t>
            </a:r>
          </a:p>
        </p:txBody>
      </p:sp>
      <p:sp>
        <p:nvSpPr>
          <p:cNvPr id="32" name="status-7">
            <a:extLst xmlns:a="http://schemas.openxmlformats.org/drawingml/2006/main">
              <a:ext uri="{FF2B5EF4-FFF2-40B4-BE49-F238E27FC236}">
                <a16:creationId xmlns:a16="http://schemas.microsoft.com/office/drawing/2014/main" id="{8B9BD563-1C59-40E5-B6FC-8BE3CE5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00675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E9E9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E9E91"/>
                </a:solidFill>
                <a:latin typeface="Arial"/>
                <a:ea typeface="Arial"/>
                <a:cs typeface="Arial"/>
              </a:rPr>
              <a:t>PASS</a:t>
            </a:r>
          </a:p>
        </p:txBody>
      </p:sp>
      <p:sp>
        <p:nvSpPr>
          <p:cNvPr id="33" name="evidence-7">
            <a:extLst xmlns:a="http://schemas.openxmlformats.org/drawingml/2006/main">
              <a:ext uri="{FF2B5EF4-FFF2-40B4-BE49-F238E27FC236}">
                <a16:creationId xmlns:a16="http://schemas.microsoft.com/office/drawing/2014/main" id="{0018D889-33E2-45F8-B7A1-EF0084C7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00675"/>
            <a:ext cx="781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fresh-seed integrity and B2 causal-origin audit</a:t>
            </a:r>
          </a:p>
        </p:txBody>
      </p:sp>
      <p:sp>
        <p:nvSpPr>
          <p:cNvPr id="34" name="gate-bottom">
            <a:extLst xmlns:a="http://schemas.openxmlformats.org/drawingml/2006/main">
              <a:ext uri="{FF2B5EF4-FFF2-40B4-BE49-F238E27FC236}">
                <a16:creationId xmlns:a16="http://schemas.microsoft.com/office/drawing/2014/main" id="{41FBC33B-F114-4A04-9FE1-3C2AC00E8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096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Fresh confirmation was genuinely stronger than 02.1: new seeds, more cases, and a direct ridge challenger.</a:t>
            </a:r>
          </a:p>
        </p:txBody>
      </p:sp>
    </p:spTree>
    <p:extLst>
      <p:ext uri="{BB962C8B-B14F-4D97-AF65-F5344CB8AC3E}">
        <p14:creationId xmlns:p14="http://schemas.microsoft.com/office/powerpoint/2010/main" val="10944933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6">
            <a:extLst xmlns:a="http://schemas.openxmlformats.org/drawingml/2006/main">
              <a:ext uri="{FF2B5EF4-FFF2-40B4-BE49-F238E27FC236}">
                <a16:creationId xmlns:a16="http://schemas.microsoft.com/office/drawing/2014/main" id="{E703E592-BEFB-4F83-A146-23671F87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H2 beat every frozen non-oracle forecast on fresh cases</a:t>
            </a:r>
          </a:p>
        </p:txBody>
      </p:sp>
      <p:sp>
        <p:nvSpPr>
          <p:cNvPr id="2" name="footer-6">
            <a:extLst xmlns:a="http://schemas.openxmlformats.org/drawingml/2006/main">
              <a:ext uri="{FF2B5EF4-FFF2-40B4-BE49-F238E27FC236}">
                <a16:creationId xmlns:a16="http://schemas.microsoft.com/office/drawing/2014/main" id="{34259FC6-DEE5-4A82-BB07-71B87C28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fe1b128c04aba"/>
          <a:stretch xmlns:a="http://schemas.openxmlformats.org/drawingml/2006/main"/>
        </p:blipFill>
        <p:spPr>
          <a:xfrm xmlns:a="http://schemas.openxmlformats.org/drawingml/2006/main">
            <a:off x="476250" y="1345406"/>
            <a:ext cx="7858125" cy="4452938"/>
          </a:xfrm>
          <a:prstGeom xmlns:a="http://schemas.openxmlformats.org/drawingml/2006/main" prst="rect">
            <a:avLst/>
          </a:prstGeom>
        </p:spPr>
      </p:pic>
      <p:sp>
        <p:nvSpPr>
          <p:cNvPr id="4" name="score-callout-1">
            <a:extLst xmlns:a="http://schemas.openxmlformats.org/drawingml/2006/main">
              <a:ext uri="{FF2B5EF4-FFF2-40B4-BE49-F238E27FC236}">
                <a16:creationId xmlns:a16="http://schemas.microsoft.com/office/drawing/2014/main" id="{967A00AF-41EC-4C14-9F30-00E806BE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7162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0.2422</a:t>
            </a:r>
          </a:p>
        </p:txBody>
      </p:sp>
      <p:sp>
        <p:nvSpPr>
          <p:cNvPr id="5" name="score-label-1">
            <a:extLst xmlns:a="http://schemas.openxmlformats.org/drawingml/2006/main">
              <a:ext uri="{FF2B5EF4-FFF2-40B4-BE49-F238E27FC236}">
                <a16:creationId xmlns:a16="http://schemas.microsoft.com/office/drawing/2014/main" id="{84EFAEA9-A6B2-4645-84F6-17009781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431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H2 mean Brier</a:t>
            </a:r>
          </a:p>
        </p:txBody>
      </p:sp>
      <p:sp>
        <p:nvSpPr>
          <p:cNvPr id="6" name="score-callout-2">
            <a:extLst xmlns:a="http://schemas.openxmlformats.org/drawingml/2006/main">
              <a:ext uri="{FF2B5EF4-FFF2-40B4-BE49-F238E27FC236}">
                <a16:creationId xmlns:a16="http://schemas.microsoft.com/office/drawing/2014/main" id="{1346E00B-8811-43FF-956B-C6C8880E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00375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0.6771</a:t>
            </a:r>
          </a:p>
        </p:txBody>
      </p:sp>
      <p:sp>
        <p:nvSpPr>
          <p:cNvPr id="7" name="score-label-2">
            <a:extLst xmlns:a="http://schemas.openxmlformats.org/drawingml/2006/main">
              <a:ext uri="{FF2B5EF4-FFF2-40B4-BE49-F238E27FC236}">
                <a16:creationId xmlns:a16="http://schemas.microsoft.com/office/drawing/2014/main" id="{AE36C55D-49FD-4B6C-9194-EF660424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71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H2 mean log loss</a:t>
            </a:r>
          </a:p>
        </p:txBody>
      </p:sp>
      <p:sp>
        <p:nvSpPr>
          <p:cNvPr id="8" name="score-win-panel">
            <a:extLst xmlns:a="http://schemas.openxmlformats.org/drawingml/2006/main">
              <a:ext uri="{FF2B5EF4-FFF2-40B4-BE49-F238E27FC236}">
                <a16:creationId xmlns:a16="http://schemas.microsoft.com/office/drawing/2014/main" id="{FA8620AF-FE47-4A52-98AF-876861EE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29125"/>
            <a:ext cx="2381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core-wins">
            <a:extLst xmlns:a="http://schemas.openxmlformats.org/drawingml/2006/main">
              <a:ext uri="{FF2B5EF4-FFF2-40B4-BE49-F238E27FC236}">
                <a16:creationId xmlns:a16="http://schemas.microsoft.com/office/drawing/2014/main" id="{70B925EC-4D9B-4D11-902A-DCDFD137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196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16 / 24</a:t>
            </a:r>
          </a:p>
        </p:txBody>
      </p:sp>
      <p:sp>
        <p:nvSpPr>
          <p:cNvPr id="10" name="score-wins-label">
            <a:extLst xmlns:a="http://schemas.openxmlformats.org/drawingml/2006/main">
              <a:ext uri="{FF2B5EF4-FFF2-40B4-BE49-F238E27FC236}">
                <a16:creationId xmlns:a16="http://schemas.microsoft.com/office/drawing/2014/main" id="{C6C47B5C-E04C-4FE8-83EB-9DA67FBC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95875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wins vs stronger B2</a:t>
            </a:r>
          </a:p>
        </p:txBody>
      </p:sp>
    </p:spTree>
    <p:extLst>
      <p:ext uri="{BB962C8B-B14F-4D97-AF65-F5344CB8AC3E}">
        <p14:creationId xmlns:p14="http://schemas.microsoft.com/office/powerpoint/2010/main" val="2017061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7">
            <a:extLst xmlns:a="http://schemas.openxmlformats.org/drawingml/2006/main">
              <a:ext uri="{FF2B5EF4-FFF2-40B4-BE49-F238E27FC236}">
                <a16:creationId xmlns:a16="http://schemas.microsoft.com/office/drawing/2014/main" id="{DD78F2AA-08DE-469C-8D87-C71CCBAA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probabilities were informative, but somewhat too extreme</a:t>
            </a:r>
          </a:p>
        </p:txBody>
      </p:sp>
      <p:sp>
        <p:nvSpPr>
          <p:cNvPr id="2" name="footer-7">
            <a:extLst xmlns:a="http://schemas.openxmlformats.org/drawingml/2006/main">
              <a:ext uri="{FF2B5EF4-FFF2-40B4-BE49-F238E27FC236}">
                <a16:creationId xmlns:a16="http://schemas.microsoft.com/office/drawing/2014/main" id="{D50CF573-FB0A-4387-91CE-2997334A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b699ba8d145a4"/>
          <a:stretch xmlns:a="http://schemas.openxmlformats.org/drawingml/2006/main"/>
        </p:blipFill>
        <p:spPr>
          <a:xfrm xmlns:a="http://schemas.openxmlformats.org/drawingml/2006/main">
            <a:off x="551447" y="1190625"/>
            <a:ext cx="6517105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calib-head">
            <a:extLst xmlns:a="http://schemas.openxmlformats.org/drawingml/2006/main">
              <a:ext uri="{FF2B5EF4-FFF2-40B4-BE49-F238E27FC236}">
                <a16:creationId xmlns:a16="http://schemas.microsoft.com/office/drawing/2014/main" id="{41690A4D-F3B9-4B53-B119-AEBCB6ACF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287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Pooled H2 calibration</a:t>
            </a:r>
          </a:p>
        </p:txBody>
      </p:sp>
      <p:sp>
        <p:nvSpPr>
          <p:cNvPr id="5" name="calib-metrics">
            <a:extLst xmlns:a="http://schemas.openxmlformats.org/drawingml/2006/main">
              <a:ext uri="{FF2B5EF4-FFF2-40B4-BE49-F238E27FC236}">
                <a16:creationId xmlns:a16="http://schemas.microsoft.com/office/drawing/2014/main" id="{1072EC9C-7273-4348-B6FC-61C2C4BB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43125"/>
            <a:ext cx="3429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intercept   +0.098</a:t>
            </a:r>
          </a:p>
          <a:p xmlns:a="http://schemas.openxmlformats.org/drawingml/2006/main">
            <a:pPr algn="l">
              <a:defRPr sz="217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slope          0.725</a:t>
            </a:r>
          </a:p>
          <a:p xmlns:a="http://schemas.openxmlformats.org/drawingml/2006/main">
            <a:pPr algn="l">
              <a:defRPr sz="2175" b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3D8DFF"/>
                </a:solidFill>
                <a:latin typeface="Arial"/>
                <a:ea typeface="Arial"/>
                <a:cs typeface="Arial"/>
              </a:rPr>
              <a:t>sharpness   0.133</a:t>
            </a:r>
          </a:p>
        </p:txBody>
      </p:sp>
      <p:sp>
        <p:nvSpPr>
          <p:cNvPr id="6" name="calib-plain">
            <a:extLst xmlns:a="http://schemas.openxmlformats.org/drawingml/2006/main">
              <a:ext uri="{FF2B5EF4-FFF2-40B4-BE49-F238E27FC236}">
                <a16:creationId xmlns:a16="http://schemas.microsoft.com/office/drawing/2014/main" id="{7C565A0F-89C1-44B0-9A63-FEE51722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57625"/>
            <a:ext cx="3429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Slope &lt; 1 means H2 separated probabilities more aggressively than outcomes justified.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positive intercept means it modestly underpredicted the positive event overall.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Both stayed inside the frozen teaching bounds.</a:t>
            </a:r>
          </a:p>
        </p:txBody>
      </p:sp>
    </p:spTree>
    <p:extLst>
      <p:ext uri="{BB962C8B-B14F-4D97-AF65-F5344CB8AC3E}">
        <p14:creationId xmlns:p14="http://schemas.microsoft.com/office/powerpoint/2010/main" val="9423807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8">
            <a:extLst xmlns:a="http://schemas.openxmlformats.org/drawingml/2006/main">
              <a:ext uri="{FF2B5EF4-FFF2-40B4-BE49-F238E27FC236}">
                <a16:creationId xmlns:a16="http://schemas.microsoft.com/office/drawing/2014/main" id="{8E3A4947-E215-4E46-BB83-2BE1C8C18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Forecast skill did not require an 85% hard-state hit rate</a:t>
            </a:r>
          </a:p>
        </p:txBody>
      </p:sp>
      <p:sp>
        <p:nvSpPr>
          <p:cNvPr id="2" name="footer-8">
            <a:extLst xmlns:a="http://schemas.openxmlformats.org/drawingml/2006/main">
              <a:ext uri="{FF2B5EF4-FFF2-40B4-BE49-F238E27FC236}">
                <a16:creationId xmlns:a16="http://schemas.microsoft.com/office/drawing/2014/main" id="{7FFB888F-B98A-4D71-B540-2EF7164C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aabdc85204f07"/>
          <a:stretch xmlns:a="http://schemas.openxmlformats.org/drawingml/2006/main"/>
        </p:blipFill>
        <p:spPr>
          <a:xfrm xmlns:a="http://schemas.openxmlformats.org/drawingml/2006/main">
            <a:off x="638735" y="1190625"/>
            <a:ext cx="6723529" cy="4762500"/>
          </a:xfrm>
          <a:prstGeom xmlns:a="http://schemas.openxmlformats.org/drawingml/2006/main" prst="rect">
            <a:avLst/>
          </a:prstGeom>
        </p:spPr>
      </p:pic>
      <p:sp>
        <p:nvSpPr>
          <p:cNvPr id="4" name="state-stat-panel">
            <a:extLst xmlns:a="http://schemas.openxmlformats.org/drawingml/2006/main">
              <a:ext uri="{FF2B5EF4-FFF2-40B4-BE49-F238E27FC236}">
                <a16:creationId xmlns:a16="http://schemas.microsoft.com/office/drawing/2014/main" id="{ED84DB5D-ADBB-4E26-A14E-09AEFA30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28750"/>
            <a:ext cx="3095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te-stat">
            <a:extLst xmlns:a="http://schemas.openxmlformats.org/drawingml/2006/main">
              <a:ext uri="{FF2B5EF4-FFF2-40B4-BE49-F238E27FC236}">
                <a16:creationId xmlns:a16="http://schemas.microsoft.com/office/drawing/2014/main" id="{03466A73-50A4-42AA-AACC-7B6C73C3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2809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71.8%</a:t>
            </a:r>
          </a:p>
        </p:txBody>
      </p:sp>
      <p:sp>
        <p:nvSpPr>
          <p:cNvPr id="6" name="state-stat-label">
            <a:extLst xmlns:a="http://schemas.openxmlformats.org/drawingml/2006/main">
              <a:ext uri="{FF2B5EF4-FFF2-40B4-BE49-F238E27FC236}">
                <a16:creationId xmlns:a16="http://schemas.microsoft.com/office/drawing/2014/main" id="{17A18C90-97AE-4CB2-A72C-34117226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33625"/>
            <a:ext cx="2809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median hard-state accuracy</a:t>
            </a:r>
          </a:p>
        </p:txBody>
      </p:sp>
      <p:sp>
        <p:nvSpPr>
          <p:cNvPr id="7" name="state-interpret">
            <a:extLst xmlns:a="http://schemas.openxmlformats.org/drawingml/2006/main">
              <a:ext uri="{FF2B5EF4-FFF2-40B4-BE49-F238E27FC236}">
                <a16:creationId xmlns:a16="http://schemas.microsoft.com/office/drawing/2014/main" id="{09A51CBD-CC89-4621-AD16-4C1EDF6D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76625"/>
            <a:ext cx="3143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Some cases gained probability skill with mediocre labels; others decoded states reasonably well without beating the strongest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Soft probabilities and hard colors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4081915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itle-9">
            <a:extLst xmlns:a="http://schemas.openxmlformats.org/drawingml/2006/main">
              <a:ext uri="{FF2B5EF4-FFF2-40B4-BE49-F238E27FC236}">
                <a16:creationId xmlns:a16="http://schemas.microsoft.com/office/drawing/2014/main" id="{5D887EFC-54C4-4AE7-9C61-24E8A962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causal tape expresses uncertainty instead of revising history</a:t>
            </a:r>
          </a:p>
        </p:txBody>
      </p:sp>
      <p:sp>
        <p:nvSpPr>
          <p:cNvPr id="2" name="footer-9">
            <a:extLst xmlns:a="http://schemas.openxmlformats.org/drawingml/2006/main">
              <a:ext uri="{FF2B5EF4-FFF2-40B4-BE49-F238E27FC236}">
                <a16:creationId xmlns:a16="http://schemas.microsoft.com/office/drawing/2014/main" id="{B767FA6D-71AF-4C28-BC72-BA5B04AA8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519186d7bc4b1c"/>
          <a:stretch xmlns:a="http://schemas.openxmlformats.org/drawingml/2006/main"/>
        </p:blipFill>
        <p:spPr>
          <a:xfrm xmlns:a="http://schemas.openxmlformats.org/drawingml/2006/main">
            <a:off x="523875" y="1166813"/>
            <a:ext cx="8001000" cy="5000625"/>
          </a:xfrm>
          <a:prstGeom xmlns:a="http://schemas.openxmlformats.org/drawingml/2006/main" prst="rect">
            <a:avLst/>
          </a:prstGeom>
        </p:spPr>
      </p:pic>
      <p:sp>
        <p:nvSpPr>
          <p:cNvPr id="4" name="tape-look">
            <a:extLst xmlns:a="http://schemas.openxmlformats.org/drawingml/2006/main">
              <a:ext uri="{FF2B5EF4-FFF2-40B4-BE49-F238E27FC236}">
                <a16:creationId xmlns:a16="http://schemas.microsoft.com/office/drawing/2014/main" id="{B83228BA-0455-44A7-9979-7FF9FEDC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76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to notice</a:t>
            </a:r>
          </a:p>
        </p:txBody>
      </p:sp>
      <p:sp>
        <p:nvSpPr>
          <p:cNvPr id="5" name="tape-points">
            <a:extLst xmlns:a="http://schemas.openxmlformats.org/drawingml/2006/main">
              <a:ext uri="{FF2B5EF4-FFF2-40B4-BE49-F238E27FC236}">
                <a16:creationId xmlns:a16="http://schemas.microsoft.com/office/drawing/2014/main" id="{865D1347-1F1D-4F62-A48E-2506ED30D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2762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Return distributions overlap even when the state is known.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Probability moves gradually and remains uncertain near switches.</a:t>
            </a:r>
          </a:p>
          <a:p xmlns:a="http://schemas.openxmlformats.org/drawingml/2006/main">
            <a:pPr algn="l"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Appending later observations changes no earlier filtered value.</a:t>
            </a:r>
          </a:p>
        </p:txBody>
      </p:sp>
      <p:sp>
        <p:nvSpPr>
          <p:cNvPr id="6" name="tape-causal">
            <a:extLst xmlns:a="http://schemas.openxmlformats.org/drawingml/2006/main">
              <a:ext uri="{FF2B5EF4-FFF2-40B4-BE49-F238E27FC236}">
                <a16:creationId xmlns:a16="http://schemas.microsoft.com/office/drawing/2014/main" id="{063C47B4-0E04-4667-9B74-4816A8A44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91125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append difference = 0</a:t>
            </a:r>
          </a:p>
        </p:txBody>
      </p:sp>
    </p:spTree>
    <p:extLst>
      <p:ext uri="{BB962C8B-B14F-4D97-AF65-F5344CB8AC3E}">
        <p14:creationId xmlns:p14="http://schemas.microsoft.com/office/powerpoint/2010/main" val="34699172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0">
            <a:extLst xmlns:a="http://schemas.openxmlformats.org/drawingml/2006/main">
              <a:ext uri="{FF2B5EF4-FFF2-40B4-BE49-F238E27FC236}">
                <a16:creationId xmlns:a16="http://schemas.microsoft.com/office/drawing/2014/main" id="{75FFD82D-F109-4F22-8D36-E1B4EDF1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broader forecast frontier was sparse and non-monotonic</a:t>
            </a:r>
          </a:p>
        </p:txBody>
      </p:sp>
      <p:sp>
        <p:nvSpPr>
          <p:cNvPr id="2" name="footer-10">
            <a:extLst xmlns:a="http://schemas.openxmlformats.org/drawingml/2006/main">
              <a:ext uri="{FF2B5EF4-FFF2-40B4-BE49-F238E27FC236}">
                <a16:creationId xmlns:a16="http://schemas.microsoft.com/office/drawing/2014/main" id="{6C8C85E4-3044-4F09-9257-4933E3566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12b91afcf3492e"/>
          <a:stretch xmlns:a="http://schemas.openxmlformats.org/drawingml/2006/main"/>
        </p:blipFill>
        <p:spPr>
          <a:xfrm xmlns:a="http://schemas.openxmlformats.org/drawingml/2006/main">
            <a:off x="428625" y="1452563"/>
            <a:ext cx="8286750" cy="4143375"/>
          </a:xfrm>
          <a:prstGeom xmlns:a="http://schemas.openxmlformats.org/drawingml/2006/main" prst="rect">
            <a:avLst/>
          </a:prstGeom>
        </p:spPr>
      </p:pic>
      <p:sp>
        <p:nvSpPr>
          <p:cNvPr id="4" name="frontier-big">
            <a:extLst xmlns:a="http://schemas.openxmlformats.org/drawingml/2006/main">
              <a:ext uri="{FF2B5EF4-FFF2-40B4-BE49-F238E27FC236}">
                <a16:creationId xmlns:a16="http://schemas.microsoft.com/office/drawing/2014/main" id="{2B3001D1-2623-449D-B17C-ABA741F0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287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E05D6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E05D6F"/>
                </a:solidFill>
                <a:latin typeface="Arial"/>
                <a:ea typeface="Arial"/>
                <a:cs typeface="Arial"/>
              </a:rPr>
              <a:t>2 / 16</a:t>
            </a:r>
          </a:p>
        </p:txBody>
      </p:sp>
      <p:sp>
        <p:nvSpPr>
          <p:cNvPr id="5" name="frontier-label">
            <a:extLst xmlns:a="http://schemas.openxmlformats.org/drawingml/2006/main">
              <a:ext uri="{FF2B5EF4-FFF2-40B4-BE49-F238E27FC236}">
                <a16:creationId xmlns:a16="http://schemas.microsoft.com/office/drawing/2014/main" id="{F17B01D0-3FE6-4B22-BD68-66836628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formal detection cells</a:t>
            </a:r>
          </a:p>
        </p:txBody>
      </p:sp>
      <p:sp>
        <p:nvSpPr>
          <p:cNvPr id="6" name="frontier-null">
            <a:extLst xmlns:a="http://schemas.openxmlformats.org/drawingml/2006/main">
              <a:ext uri="{FF2B5EF4-FFF2-40B4-BE49-F238E27FC236}">
                <a16:creationId xmlns:a16="http://schemas.microsoft.com/office/drawing/2014/main" id="{B34DA6ED-D481-406A-8271-37F7CB1B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003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1E9E91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E9E91"/>
                </a:solidFill>
                <a:latin typeface="Arial"/>
                <a:ea typeface="Arial"/>
                <a:cs typeface="Arial"/>
              </a:rPr>
              <a:t>0 / 4</a:t>
            </a:r>
          </a:p>
        </p:txBody>
      </p:sp>
      <p:sp>
        <p:nvSpPr>
          <p:cNvPr id="7" name="frontier-null-label">
            <a:extLst xmlns:a="http://schemas.openxmlformats.org/drawingml/2006/main">
              <a:ext uri="{FF2B5EF4-FFF2-40B4-BE49-F238E27FC236}">
                <a16:creationId xmlns:a16="http://schemas.microsoft.com/office/drawing/2014/main" id="{8619FD19-5B2D-401F-B370-F5ECAA2E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524250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null cells detected</a:t>
            </a:r>
          </a:p>
        </p:txBody>
      </p:sp>
      <p:sp>
        <p:nvSpPr>
          <p:cNvPr id="8" name="frontier-note">
            <a:extLst xmlns:a="http://schemas.openxmlformats.org/drawingml/2006/main">
              <a:ext uri="{FF2B5EF4-FFF2-40B4-BE49-F238E27FC236}">
                <a16:creationId xmlns:a16="http://schemas.microsoft.com/office/drawing/2014/main" id="{5BFA70E4-818C-4B18-B321-8609CE92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2667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More drift, persistence, or history did not produce a smooth improvement.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Do not treat the starred cells as chosen parameters.</a:t>
            </a:r>
          </a:p>
        </p:txBody>
      </p:sp>
    </p:spTree>
    <p:extLst>
      <p:ext uri="{BB962C8B-B14F-4D97-AF65-F5344CB8AC3E}">
        <p14:creationId xmlns:p14="http://schemas.microsoft.com/office/powerpoint/2010/main" val="88061630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-11">
            <a:extLst xmlns:a="http://schemas.openxmlformats.org/drawingml/2006/main">
              <a:ext uri="{FF2B5EF4-FFF2-40B4-BE49-F238E27FC236}">
                <a16:creationId xmlns:a16="http://schemas.microsoft.com/office/drawing/2014/main" id="{B01CA88A-4D92-478E-B2BA-CDB107D2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Two formal detections do not make a stable boundary</a:t>
            </a:r>
          </a:p>
        </p:txBody>
      </p:sp>
      <p:sp>
        <p:nvSpPr>
          <p:cNvPr id="2" name="footer-11">
            <a:extLst xmlns:a="http://schemas.openxmlformats.org/drawingml/2006/main">
              <a:ext uri="{FF2B5EF4-FFF2-40B4-BE49-F238E27FC236}">
                <a16:creationId xmlns:a16="http://schemas.microsoft.com/office/drawing/2014/main" id="{34259FDE-53BB-4432-AE36-5A790742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detect-header-1">
            <a:extLst xmlns:a="http://schemas.openxmlformats.org/drawingml/2006/main">
              <a:ext uri="{FF2B5EF4-FFF2-40B4-BE49-F238E27FC236}">
                <a16:creationId xmlns:a16="http://schemas.microsoft.com/office/drawing/2014/main" id="{91122187-C4F0-47AF-A0A2-3132DC74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81125"/>
            <a:ext cx="1095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TRAIN</a:t>
            </a:r>
          </a:p>
        </p:txBody>
      </p:sp>
      <p:sp>
        <p:nvSpPr>
          <p:cNvPr id="4" name="detect-header-2">
            <a:extLst xmlns:a="http://schemas.openxmlformats.org/drawingml/2006/main">
              <a:ext uri="{FF2B5EF4-FFF2-40B4-BE49-F238E27FC236}">
                <a16:creationId xmlns:a16="http://schemas.microsoft.com/office/drawing/2014/main" id="{0C686FDE-A862-4637-966A-8B68C0A5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381125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Persistence</a:t>
            </a:r>
          </a:p>
        </p:txBody>
      </p:sp>
      <p:sp>
        <p:nvSpPr>
          <p:cNvPr id="5" name="detect-header-3">
            <a:extLst xmlns:a="http://schemas.openxmlformats.org/drawingml/2006/main">
              <a:ext uri="{FF2B5EF4-FFF2-40B4-BE49-F238E27FC236}">
                <a16:creationId xmlns:a16="http://schemas.microsoft.com/office/drawing/2014/main" id="{D343D4DF-30EB-4AD1-AA37-B3638371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3811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Drift</a:t>
            </a:r>
          </a:p>
        </p:txBody>
      </p:sp>
      <p:sp>
        <p:nvSpPr>
          <p:cNvPr id="6" name="detect-header-4">
            <a:extLst xmlns:a="http://schemas.openxmlformats.org/drawingml/2006/main">
              <a:ext uri="{FF2B5EF4-FFF2-40B4-BE49-F238E27FC236}">
                <a16:creationId xmlns:a16="http://schemas.microsoft.com/office/drawing/2014/main" id="{D5882161-DF58-4184-A9D3-C7114301E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8112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Joint wins</a:t>
            </a:r>
          </a:p>
        </p:txBody>
      </p:sp>
      <p:sp>
        <p:nvSpPr>
          <p:cNvPr id="7" name="detect-header-5">
            <a:extLst xmlns:a="http://schemas.openxmlformats.org/drawingml/2006/main">
              <a:ext uri="{FF2B5EF4-FFF2-40B4-BE49-F238E27FC236}">
                <a16:creationId xmlns:a16="http://schemas.microsoft.com/office/drawing/2014/main" id="{D0FC5FA0-9488-4EFD-9614-7C84AEB6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Gain vs per-case best</a:t>
            </a:r>
          </a:p>
        </p:txBody>
      </p:sp>
      <p:sp>
        <p:nvSpPr>
          <p:cNvPr id="8" name="det-row-0">
            <a:extLst xmlns:a="http://schemas.openxmlformats.org/drawingml/2006/main">
              <a:ext uri="{FF2B5EF4-FFF2-40B4-BE49-F238E27FC236}">
                <a16:creationId xmlns:a16="http://schemas.microsoft.com/office/drawing/2014/main" id="{DE1278B8-B4D2-4E78-AF3C-396C2EB1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09750"/>
            <a:ext cx="966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det-0-0">
            <a:extLst xmlns:a="http://schemas.openxmlformats.org/drawingml/2006/main">
              <a:ext uri="{FF2B5EF4-FFF2-40B4-BE49-F238E27FC236}">
                <a16:creationId xmlns:a16="http://schemas.microsoft.com/office/drawing/2014/main" id="{B335FEAA-CA3D-48EE-9772-EF4907B9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10" name="det-0-1">
            <a:extLst xmlns:a="http://schemas.openxmlformats.org/drawingml/2006/main">
              <a:ext uri="{FF2B5EF4-FFF2-40B4-BE49-F238E27FC236}">
                <a16:creationId xmlns:a16="http://schemas.microsoft.com/office/drawing/2014/main" id="{A5CA098E-445F-4DF7-96BF-0C71AA1DC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9526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0.90</a:t>
            </a:r>
          </a:p>
        </p:txBody>
      </p:sp>
      <p:sp>
        <p:nvSpPr>
          <p:cNvPr id="11" name="det-0-2">
            <a:extLst xmlns:a="http://schemas.openxmlformats.org/drawingml/2006/main">
              <a:ext uri="{FF2B5EF4-FFF2-40B4-BE49-F238E27FC236}">
                <a16:creationId xmlns:a16="http://schemas.microsoft.com/office/drawing/2014/main" id="{36150BF7-26BE-4017-A648-56601A97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9526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5 bp</a:t>
            </a:r>
          </a:p>
        </p:txBody>
      </p:sp>
      <p:sp>
        <p:nvSpPr>
          <p:cNvPr id="12" name="det-0-3">
            <a:extLst xmlns:a="http://schemas.openxmlformats.org/drawingml/2006/main">
              <a:ext uri="{FF2B5EF4-FFF2-40B4-BE49-F238E27FC236}">
                <a16:creationId xmlns:a16="http://schemas.microsoft.com/office/drawing/2014/main" id="{DFE5F373-9E20-4CE8-85CC-947ECCB1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52625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/ 4</a:t>
            </a:r>
          </a:p>
        </p:txBody>
      </p:sp>
      <p:sp>
        <p:nvSpPr>
          <p:cNvPr id="13" name="det-0-4">
            <a:extLst xmlns:a="http://schemas.openxmlformats.org/drawingml/2006/main">
              <a:ext uri="{FF2B5EF4-FFF2-40B4-BE49-F238E27FC236}">
                <a16:creationId xmlns:a16="http://schemas.microsoft.com/office/drawing/2014/main" id="{C8AF7E39-79EF-4E07-ACC4-4374175C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05D6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05D6F"/>
                </a:solidFill>
                <a:latin typeface="Arial"/>
                <a:ea typeface="Arial"/>
                <a:cs typeface="Arial"/>
              </a:rPr>
              <a:t>−0.00093</a:t>
            </a:r>
          </a:p>
        </p:txBody>
      </p:sp>
      <p:sp>
        <p:nvSpPr>
          <p:cNvPr id="14" name="det-row-1">
            <a:extLst xmlns:a="http://schemas.openxmlformats.org/drawingml/2006/main">
              <a:ext uri="{FF2B5EF4-FFF2-40B4-BE49-F238E27FC236}">
                <a16:creationId xmlns:a16="http://schemas.microsoft.com/office/drawing/2014/main" id="{B35E51BD-FD9E-4429-81C5-EFFF8B56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19375"/>
            <a:ext cx="9667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det-1-0">
            <a:extLst xmlns:a="http://schemas.openxmlformats.org/drawingml/2006/main">
              <a:ext uri="{FF2B5EF4-FFF2-40B4-BE49-F238E27FC236}">
                <a16:creationId xmlns:a16="http://schemas.microsoft.com/office/drawing/2014/main" id="{209F37CB-ECCE-4DCD-BD22-7554675F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62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1,000</a:t>
            </a:r>
          </a:p>
        </p:txBody>
      </p:sp>
      <p:sp>
        <p:nvSpPr>
          <p:cNvPr id="16" name="det-1-1">
            <a:extLst xmlns:a="http://schemas.openxmlformats.org/drawingml/2006/main">
              <a:ext uri="{FF2B5EF4-FFF2-40B4-BE49-F238E27FC236}">
                <a16:creationId xmlns:a16="http://schemas.microsoft.com/office/drawing/2014/main" id="{EEADB56C-E60A-4599-899B-0FC03D43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62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0.97</a:t>
            </a:r>
          </a:p>
        </p:txBody>
      </p:sp>
      <p:sp>
        <p:nvSpPr>
          <p:cNvPr id="17" name="det-1-2">
            <a:extLst xmlns:a="http://schemas.openxmlformats.org/drawingml/2006/main">
              <a:ext uri="{FF2B5EF4-FFF2-40B4-BE49-F238E27FC236}">
                <a16:creationId xmlns:a16="http://schemas.microsoft.com/office/drawing/2014/main" id="{D3F14B52-3348-4CD3-BEE1-C1D9696A6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762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30 bp</a:t>
            </a:r>
          </a:p>
        </p:txBody>
      </p:sp>
      <p:sp>
        <p:nvSpPr>
          <p:cNvPr id="18" name="det-1-3">
            <a:extLst xmlns:a="http://schemas.openxmlformats.org/drawingml/2006/main">
              <a:ext uri="{FF2B5EF4-FFF2-40B4-BE49-F238E27FC236}">
                <a16:creationId xmlns:a16="http://schemas.microsoft.com/office/drawing/2014/main" id="{274D63DB-E2F1-4D6B-AB3B-E686B25A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622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3 / 4</a:t>
            </a:r>
          </a:p>
        </p:txBody>
      </p:sp>
      <p:sp>
        <p:nvSpPr>
          <p:cNvPr id="19" name="det-1-4">
            <a:extLst xmlns:a="http://schemas.openxmlformats.org/drawingml/2006/main">
              <a:ext uri="{FF2B5EF4-FFF2-40B4-BE49-F238E27FC236}">
                <a16:creationId xmlns:a16="http://schemas.microsoft.com/office/drawing/2014/main" id="{C04BA50E-4A55-4BC6-93A0-61BAF82C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622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+0.00025</a:t>
            </a:r>
          </a:p>
        </p:txBody>
      </p:sp>
      <p:sp>
        <p:nvSpPr>
          <p:cNvPr id="20" name="nuance-panel">
            <a:extLst xmlns:a="http://schemas.openxmlformats.org/drawingml/2006/main">
              <a:ext uri="{FF2B5EF4-FFF2-40B4-BE49-F238E27FC236}">
                <a16:creationId xmlns:a16="http://schemas.microsoft.com/office/drawing/2014/main" id="{4C7DAB7D-19C9-4C03-AD3B-28E5851E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1047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uance-title">
            <a:extLst xmlns:a="http://schemas.openxmlformats.org/drawingml/2006/main">
              <a:ext uri="{FF2B5EF4-FFF2-40B4-BE49-F238E27FC236}">
                <a16:creationId xmlns:a16="http://schemas.microsoft.com/office/drawing/2014/main" id="{8B883862-9C2B-49E5-BD82-3C1944B31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981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Why can a formal cell have negative gain versus “best”?</a:t>
            </a:r>
          </a:p>
        </p:txBody>
      </p:sp>
      <p:sp>
        <p:nvSpPr>
          <p:cNvPr id="22" name="nuance-body">
            <a:extLst xmlns:a="http://schemas.openxmlformats.org/drawingml/2006/main">
              <a:ext uri="{FF2B5EF4-FFF2-40B4-BE49-F238E27FC236}">
                <a16:creationId xmlns:a16="http://schemas.microsoft.com/office/drawing/2014/main" id="{EF9C2141-BA08-43E7-BB99-7F802655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0125"/>
            <a:ext cx="9810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contract compares H2 with each deployable baseline across the cell and requires 3/4 joint wins. The diagnostic “per-case best” composite chooses B0, B1, or B2 after seeing each replicate. It is intentionally harsher—and the negative value reveals one large losing replicate and weak stability.</a:t>
            </a:r>
          </a:p>
        </p:txBody>
      </p:sp>
    </p:spTree>
    <p:extLst>
      <p:ext uri="{BB962C8B-B14F-4D97-AF65-F5344CB8AC3E}">
        <p14:creationId xmlns:p14="http://schemas.microsoft.com/office/powerpoint/2010/main" val="12589567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itle-12">
            <a:extLst xmlns:a="http://schemas.openxmlformats.org/drawingml/2006/main">
              <a:ext uri="{FF2B5EF4-FFF2-40B4-BE49-F238E27FC236}">
                <a16:creationId xmlns:a16="http://schemas.microsoft.com/office/drawing/2014/main" id="{722C9DF3-3DA2-4825-97CA-78D67C350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Financial-shaped noise erased the average edge</a:t>
            </a:r>
          </a:p>
        </p:txBody>
      </p:sp>
      <p:sp>
        <p:nvSpPr>
          <p:cNvPr id="2" name="footer-12">
            <a:extLst xmlns:a="http://schemas.openxmlformats.org/drawingml/2006/main">
              <a:ext uri="{FF2B5EF4-FFF2-40B4-BE49-F238E27FC236}">
                <a16:creationId xmlns:a16="http://schemas.microsoft.com/office/drawing/2014/main" id="{0EB3B650-F7EB-46E6-836D-CDFCD36C8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bd1f844154609"/>
          <a:stretch xmlns:a="http://schemas.openxmlformats.org/drawingml/2006/main"/>
        </p:blipFill>
        <p:spPr>
          <a:xfrm xmlns:a="http://schemas.openxmlformats.org/drawingml/2006/main">
            <a:off x="428625" y="1382713"/>
            <a:ext cx="7810500" cy="4425950"/>
          </a:xfrm>
          <a:prstGeom xmlns:a="http://schemas.openxmlformats.org/drawingml/2006/main" prst="rect">
            <a:avLst/>
          </a:prstGeom>
        </p:spPr>
      </p:pic>
      <p:sp>
        <p:nvSpPr>
          <p:cNvPr id="4" name="stress-head">
            <a:extLst xmlns:a="http://schemas.openxmlformats.org/drawingml/2006/main">
              <a:ext uri="{FF2B5EF4-FFF2-40B4-BE49-F238E27FC236}">
                <a16:creationId xmlns:a16="http://schemas.microsoft.com/office/drawing/2014/main" id="{C9C2E86F-36AE-4A40-9E82-053F6E3C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81125"/>
            <a:ext cx="238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Mean Brier</a:t>
            </a:r>
          </a:p>
        </p:txBody>
      </p:sp>
      <p:sp>
        <p:nvSpPr>
          <p:cNvPr id="5" name="stress-values">
            <a:extLst xmlns:a="http://schemas.openxmlformats.org/drawingml/2006/main">
              <a:ext uri="{FF2B5EF4-FFF2-40B4-BE49-F238E27FC236}">
                <a16:creationId xmlns:a16="http://schemas.microsoft.com/office/drawing/2014/main" id="{79F2877D-F083-4E22-AF7C-13954D7B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52625"/>
            <a:ext cx="2000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H2    0.2532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B0    0.2517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B1    0.2519</a:t>
            </a:r>
          </a:p>
          <a:p xmlns:a="http://schemas.openxmlformats.org/drawingml/2006/main">
            <a:pPr algn="l">
              <a:defRPr sz="19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B2    0.2616</a:t>
            </a:r>
          </a:p>
        </p:txBody>
      </p:sp>
      <p:sp>
        <p:nvSpPr>
          <p:cNvPr id="6" name="stress-warning">
            <a:extLst xmlns:a="http://schemas.openxmlformats.org/drawingml/2006/main">
              <a:ext uri="{FF2B5EF4-FFF2-40B4-BE49-F238E27FC236}">
                <a16:creationId xmlns:a16="http://schemas.microsoft.com/office/drawing/2014/main" id="{C531E7BF-A0DD-4B42-98B7-899E1BD4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52875"/>
            <a:ext cx="2857500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1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ress-warning-text">
            <a:extLst xmlns:a="http://schemas.openxmlformats.org/drawingml/2006/main">
              <a:ext uri="{FF2B5EF4-FFF2-40B4-BE49-F238E27FC236}">
                <a16:creationId xmlns:a16="http://schemas.microsoft.com/office/drawing/2014/main" id="{CE90A0D3-E575-4E97-9BAD-FEF762A5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38625"/>
            <a:ext cx="228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E05D6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05D6F"/>
                </a:solidFill>
                <a:latin typeface="Arial"/>
                <a:ea typeface="Arial"/>
                <a:cs typeface="Arial"/>
              </a:rPr>
              <a:t>H2 still beat B2 in 8/10 cases, but trailed the simpler B0 and B1 on average.</a:t>
            </a:r>
          </a:p>
        </p:txBody>
      </p:sp>
      <p:sp>
        <p:nvSpPr>
          <p:cNvPr id="8" name="stress-bottom">
            <a:extLst xmlns:a="http://schemas.openxmlformats.org/drawingml/2006/main">
              <a:ext uri="{FF2B5EF4-FFF2-40B4-BE49-F238E27FC236}">
                <a16:creationId xmlns:a16="http://schemas.microsoft.com/office/drawing/2014/main" id="{CA7E6D4B-0AD7-4FFF-AF31-C4023E56F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191250"/>
            <a:ext cx="1038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Gaussian H2 was deliberately misspecified; this is a robustness boundary, not market evidence.</a:t>
            </a:r>
          </a:p>
        </p:txBody>
      </p:sp>
    </p:spTree>
    <p:extLst>
      <p:ext uri="{BB962C8B-B14F-4D97-AF65-F5344CB8AC3E}">
        <p14:creationId xmlns:p14="http://schemas.microsoft.com/office/powerpoint/2010/main" val="8119131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13">
            <a:extLst xmlns:a="http://schemas.openxmlformats.org/drawingml/2006/main">
              <a:ext uri="{FF2B5EF4-FFF2-40B4-BE49-F238E27FC236}">
                <a16:creationId xmlns:a16="http://schemas.microsoft.com/office/drawing/2014/main" id="{A96F6366-559E-47B7-823A-7B422765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480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Preserve the mechanism clue—and the robustness warning</a:t>
            </a:r>
          </a:p>
        </p:txBody>
      </p:sp>
      <p:sp>
        <p:nvSpPr>
          <p:cNvPr id="2" name="footer-13">
            <a:extLst xmlns:a="http://schemas.openxmlformats.org/drawingml/2006/main">
              <a:ext uri="{FF2B5EF4-FFF2-40B4-BE49-F238E27FC236}">
                <a16:creationId xmlns:a16="http://schemas.microsoft.com/office/drawing/2014/main" id="{ABC5C616-B1A6-47C6-A7FD-248ED72EA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F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67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close-statement">
            <a:extLst xmlns:a="http://schemas.openxmlformats.org/drawingml/2006/main">
              <a:ext uri="{FF2B5EF4-FFF2-40B4-BE49-F238E27FC236}">
                <a16:creationId xmlns:a16="http://schemas.microsoft.com/office/drawing/2014/main" id="{30FCC9DD-99C7-4ACD-9937-E33DE7246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H2 can add synthetic H20 probability information.</a:t>
            </a:r>
          </a:p>
          <a:p xmlns:a="http://schemas.openxmlformats.org/drawingml/2006/main">
            <a:pPr algn="ctr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This specification is not ready for market or strategy contact.</a:t>
            </a:r>
          </a:p>
        </p:txBody>
      </p:sp>
      <p:sp>
        <p:nvSpPr>
          <p:cNvPr id="4" name="preserve-panel">
            <a:extLst xmlns:a="http://schemas.openxmlformats.org/drawingml/2006/main">
              <a:ext uri="{FF2B5EF4-FFF2-40B4-BE49-F238E27FC236}">
                <a16:creationId xmlns:a16="http://schemas.microsoft.com/office/drawing/2014/main" id="{7E8859C0-5E71-4974-982B-0125EF92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50958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ed-panel">
            <a:extLst xmlns:a="http://schemas.openxmlformats.org/drawingml/2006/main">
              <a:ext uri="{FF2B5EF4-FFF2-40B4-BE49-F238E27FC236}">
                <a16:creationId xmlns:a16="http://schemas.microsoft.com/office/drawing/2014/main" id="{1B2E44E7-8CAE-415B-B396-00EC2083D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50958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reserve-head">
            <a:extLst xmlns:a="http://schemas.openxmlformats.org/drawingml/2006/main">
              <a:ext uri="{FF2B5EF4-FFF2-40B4-BE49-F238E27FC236}">
                <a16:creationId xmlns:a16="http://schemas.microsoft.com/office/drawing/2014/main" id="{7D5FE28D-C5C8-42F1-BF32-660BC05B4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476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7" name="preserve-body">
            <a:extLst xmlns:a="http://schemas.openxmlformats.org/drawingml/2006/main">
              <a:ext uri="{FF2B5EF4-FFF2-40B4-BE49-F238E27FC236}">
                <a16:creationId xmlns:a16="http://schemas.microsoft.com/office/drawing/2014/main" id="{E20192F0-62DE-438F-99CD-6CCA4DE3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9575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fresh 8/8 confirmation pass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skill versus stronger B2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zero null-cell detections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causal and deterministic machinery</a:t>
            </a:r>
          </a:p>
        </p:txBody>
      </p:sp>
      <p:sp>
        <p:nvSpPr>
          <p:cNvPr id="8" name="closed-head">
            <a:extLst xmlns:a="http://schemas.openxmlformats.org/drawingml/2006/main">
              <a:ext uri="{FF2B5EF4-FFF2-40B4-BE49-F238E27FC236}">
                <a16:creationId xmlns:a16="http://schemas.microsoft.com/office/drawing/2014/main" id="{B27EBE85-74B5-4327-B6AB-52A0C863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7662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E05D6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E05D6F"/>
                </a:solidFill>
                <a:latin typeface="Arial"/>
                <a:ea typeface="Arial"/>
                <a:cs typeface="Arial"/>
              </a:rPr>
              <a:t>Still closed</a:t>
            </a:r>
          </a:p>
        </p:txBody>
      </p:sp>
      <p:sp>
        <p:nvSpPr>
          <p:cNvPr id="9" name="closed-body">
            <a:extLst xmlns:a="http://schemas.openxmlformats.org/drawingml/2006/main">
              <a:ext uri="{FF2B5EF4-FFF2-40B4-BE49-F238E27FC236}">
                <a16:creationId xmlns:a16="http://schemas.microsoft.com/office/drawing/2014/main" id="{A2188C43-C19E-4A2F-9B25-DB693CD9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428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market and residual data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strategy thresholds and returns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combined volatility-direction filter</a:t>
            </a:r>
          </a:p>
          <a:p xmlns:a="http://schemas.openxmlformats.org/drawingml/2006/main">
            <a:pPr algn="l"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live advice or execution</a:t>
            </a:r>
          </a:p>
        </p:txBody>
      </p:sp>
      <p:sp>
        <p:nvSpPr>
          <p:cNvPr id="10" name="next-discussion">
            <a:extLst xmlns:a="http://schemas.openxmlformats.org/drawingml/2006/main">
              <a:ext uri="{FF2B5EF4-FFF2-40B4-BE49-F238E27FC236}">
                <a16:creationId xmlns:a16="http://schemas.microsoft.com/office/drawing/2014/main" id="{325EC41E-4E47-49C8-945E-1EAEB913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5312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Next discussion: denser predeclared replication or a real-residual semi-synthetic bridge—not retrospective parameter selection.</a:t>
            </a:r>
          </a:p>
        </p:txBody>
      </p:sp>
    </p:spTree>
    <p:extLst>
      <p:ext uri="{BB962C8B-B14F-4D97-AF65-F5344CB8AC3E}">
        <p14:creationId xmlns:p14="http://schemas.microsoft.com/office/powerpoint/2010/main" val="974191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2026-08-19T22:36:26.7570000Z</dcterms:created>
  <dcterms:modified xsi:type="dcterms:W3CDTF">2026-08-19T22:36:26.7580000Z</dcterms:modified>
</coreProperties>
</file>