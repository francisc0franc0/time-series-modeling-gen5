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6b21e39c834a81" /><Relationship Type="http://schemas.openxmlformats.org/officeDocument/2006/relationships/extended-properties" Target="/docProps/app.xml" Id="R00abc17efa3c49ea" /><Relationship Type="http://schemas.openxmlformats.org/officeDocument/2006/relationships/officeDocument" Target="/ppt/presentation.xml" Id="Rbaa6077a999247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c98a13e6ec4d75"/>
  </p:sldMasterIdLst>
  <p:notesMasterIdLst>
    <p:notesMasterId xmlns:r="http://schemas.openxmlformats.org/officeDocument/2006/relationships" r:id="R5516d1da0a334e82"/>
  </p:notesMasterIdLst>
  <p:sldIdLst>
    <p:sldId xmlns:r="http://schemas.openxmlformats.org/officeDocument/2006/relationships" id="256" r:id="Racb647e2e8a943b3"/>
    <p:sldId xmlns:r="http://schemas.openxmlformats.org/officeDocument/2006/relationships" id="257" r:id="Re5515201f4ee4ed3"/>
    <p:sldId xmlns:r="http://schemas.openxmlformats.org/officeDocument/2006/relationships" id="258" r:id="Re0b91e6efd444cd3"/>
    <p:sldId xmlns:r="http://schemas.openxmlformats.org/officeDocument/2006/relationships" id="259" r:id="Rfb1b9c62b3cd49b0"/>
    <p:sldId xmlns:r="http://schemas.openxmlformats.org/officeDocument/2006/relationships" id="260" r:id="R16634baccf8840c9"/>
    <p:sldId xmlns:r="http://schemas.openxmlformats.org/officeDocument/2006/relationships" id="261" r:id="Rd3181ab104bc4010"/>
    <p:sldId xmlns:r="http://schemas.openxmlformats.org/officeDocument/2006/relationships" id="262" r:id="Rde821fb64fe24a9d"/>
    <p:sldId xmlns:r="http://schemas.openxmlformats.org/officeDocument/2006/relationships" id="263" r:id="Re6d7bd169e914cbd"/>
    <p:sldId xmlns:r="http://schemas.openxmlformats.org/officeDocument/2006/relationships" id="264" r:id="R2748e73ec1c74474"/>
    <p:sldId xmlns:r="http://schemas.openxmlformats.org/officeDocument/2006/relationships" id="265" r:id="R3f70c389423944b3"/>
    <p:sldId xmlns:r="http://schemas.openxmlformats.org/officeDocument/2006/relationships" id="266" r:id="Ref8a02b0184842e6"/>
    <p:sldId xmlns:r="http://schemas.openxmlformats.org/officeDocument/2006/relationships" id="267" r:id="R5bb81da2070145c2"/>
    <p:sldId xmlns:r="http://schemas.openxmlformats.org/officeDocument/2006/relationships" id="268" r:id="R34d4542489114030"/>
    <p:sldId xmlns:r="http://schemas.openxmlformats.org/officeDocument/2006/relationships" id="269" r:id="R141787712364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991b8f3e7f47f3" /><Relationship Type="http://schemas.openxmlformats.org/officeDocument/2006/relationships/slideMaster" Target="/ppt/slideMasters/slideMaster1.xml" Id="Rdac98a13e6ec4d75" /><Relationship Type="http://schemas.openxmlformats.org/officeDocument/2006/relationships/notesMaster" Target="/ppt/notesMasters/notesMaster1.xml" Id="R5516d1da0a334e82" /><Relationship Type="http://schemas.openxmlformats.org/officeDocument/2006/relationships/presProps" Target="/ppt/presProps.xml" Id="R0e6ebd9895174a5a" /><Relationship Type="http://schemas.openxmlformats.org/officeDocument/2006/relationships/tableStyles" Target="/ppt/tableStyles.xml" Id="Rdd7567fdabb842e8" /><Relationship Type="http://schemas.openxmlformats.org/officeDocument/2006/relationships/slide" Target="/ppt/slides/slide1.xml" Id="Racb647e2e8a943b3" /><Relationship Type="http://schemas.openxmlformats.org/officeDocument/2006/relationships/slide" Target="/ppt/slides/slide2.xml" Id="Re5515201f4ee4ed3" /><Relationship Type="http://schemas.openxmlformats.org/officeDocument/2006/relationships/slide" Target="/ppt/slides/slide3.xml" Id="Re0b91e6efd444cd3" /><Relationship Type="http://schemas.openxmlformats.org/officeDocument/2006/relationships/slide" Target="/ppt/slides/slide4.xml" Id="Rfb1b9c62b3cd49b0" /><Relationship Type="http://schemas.openxmlformats.org/officeDocument/2006/relationships/slide" Target="/ppt/slides/slide5.xml" Id="R16634baccf8840c9" /><Relationship Type="http://schemas.openxmlformats.org/officeDocument/2006/relationships/slide" Target="/ppt/slides/slide6.xml" Id="Rd3181ab104bc4010" /><Relationship Type="http://schemas.openxmlformats.org/officeDocument/2006/relationships/slide" Target="/ppt/slides/slide7.xml" Id="Rde821fb64fe24a9d" /><Relationship Type="http://schemas.openxmlformats.org/officeDocument/2006/relationships/slide" Target="/ppt/slides/slide8.xml" Id="Re6d7bd169e914cbd" /><Relationship Type="http://schemas.openxmlformats.org/officeDocument/2006/relationships/slide" Target="/ppt/slides/slide9.xml" Id="R2748e73ec1c74474" /><Relationship Type="http://schemas.openxmlformats.org/officeDocument/2006/relationships/slide" Target="/ppt/slides/slide10.xml" Id="R3f70c389423944b3" /><Relationship Type="http://schemas.openxmlformats.org/officeDocument/2006/relationships/slide" Target="/ppt/slides/slide11.xml" Id="Ref8a02b0184842e6" /><Relationship Type="http://schemas.openxmlformats.org/officeDocument/2006/relationships/slide" Target="/ppt/slides/slide12.xml" Id="R5bb81da2070145c2" /><Relationship Type="http://schemas.openxmlformats.org/officeDocument/2006/relationships/slide" Target="/ppt/slides/slide13.xml" Id="R34d4542489114030" /><Relationship Type="http://schemas.openxmlformats.org/officeDocument/2006/relationships/slide" Target="/ppt/slides/slide14.xml" Id="R141787712364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b531dbfcfe4d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b343d93c0641ff" /><Relationship Type="http://schemas.openxmlformats.org/officeDocument/2006/relationships/notesMaster" Target="/ppt/notesMasters/notesMaster1.xml" Id="Re116285de87d46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81ddc0298d4823" /><Relationship Type="http://schemas.openxmlformats.org/officeDocument/2006/relationships/notesMaster" Target="/ppt/notesMasters/notesMaster1.xml" Id="R260f78908f8f4f6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23e8bc115b54c1c" /><Relationship Type="http://schemas.openxmlformats.org/officeDocument/2006/relationships/notesMaster" Target="/ppt/notesMasters/notesMaster1.xml" Id="R46a1da3b69624a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3a78745efc4ab4" /><Relationship Type="http://schemas.openxmlformats.org/officeDocument/2006/relationships/notesMaster" Target="/ppt/notesMasters/notesMaster1.xml" Id="R0db97641466e4f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8ae0e15af5b4873" /><Relationship Type="http://schemas.openxmlformats.org/officeDocument/2006/relationships/notesMaster" Target="/ppt/notesMasters/notesMaster1.xml" Id="Rd10d594154e54a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d855f5b00344ea" /><Relationship Type="http://schemas.openxmlformats.org/officeDocument/2006/relationships/notesMaster" Target="/ppt/notesMasters/notesMaster1.xml" Id="Rad1eb42b53b6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2fb4139878451c" /><Relationship Type="http://schemas.openxmlformats.org/officeDocument/2006/relationships/notesMaster" Target="/ppt/notesMasters/notesMaster1.xml" Id="R2f449a43da87499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4afbc6186e845a8" /><Relationship Type="http://schemas.openxmlformats.org/officeDocument/2006/relationships/notesMaster" Target="/ppt/notesMasters/notesMaster1.xml" Id="R0e429bf770e846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a84a91a0525429a" /><Relationship Type="http://schemas.openxmlformats.org/officeDocument/2006/relationships/notesMaster" Target="/ppt/notesMasters/notesMaster1.xml" Id="Ra8d7453886254a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ce3c5234dfc42af" /><Relationship Type="http://schemas.openxmlformats.org/officeDocument/2006/relationships/notesMaster" Target="/ppt/notesMasters/notesMaster1.xml" Id="R872c4f91df6040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abe7db2801421b" /><Relationship Type="http://schemas.openxmlformats.org/officeDocument/2006/relationships/notesMaster" Target="/ppt/notesMasters/notesMaster1.xml" Id="R5748c6353e384f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50671c564d44114" /><Relationship Type="http://schemas.openxmlformats.org/officeDocument/2006/relationships/notesMaster" Target="/ppt/notesMasters/notesMaster1.xml" Id="R11b0ee260650497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d6e80bae7dc477e" /><Relationship Type="http://schemas.openxmlformats.org/officeDocument/2006/relationships/notesMaster" Target="/ppt/notesMasters/notesMaster1.xml" Id="Rd5273fee5bdd4c2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28f8090da204a98" /><Relationship Type="http://schemas.openxmlformats.org/officeDocument/2006/relationships/notesMaster" Target="/ppt/notesMasters/notesMaster1.xml" Id="Re80d0a56cfb948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treats Example 4.1 as a textbook exercise, then makes one necessary causal translation: the official open may finish the signal, but it cannot also be a fill obtained after observing that signal.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Example 4.1, printed pp. 93-96; PDF pp. 111-114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Chan's code computes a 90-day standard deviation of close-to-close returns, compares the current open with the prior low, applies a 20-day moving-average filter, ranks the qualifying gaps, and holds to the close.</a:t>
            </a:r>
          </a:p>
          <a:p xmlns:a="http://schemas.openxmlformats.org/drawingml/2006/main">
            <a:r>
              <a:t>The source reports 8.7% APR and 1.5 Sharpe for May 11, 2006-April 24, 2012. It also discloses survivorship bias and excludes costs. Those figures are source context, not Gen5 authority.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93-95; PDF pp. 111-113</a:t>
            </a:r>
          </a:p>
          <a:p xmlns:a="http://schemas.openxmlformats.org/drawingml/2006/main">
            <a:r>
              <a:t>- C:/Users/Franc/OneDrive/Documents/Francis/Peltata Project/Time-Series-Modeling-Gen5/literature_studies/docs/GEN5_LITERATURE_SOURCE_LEDGER.md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gap is g_i,t = O_i,t / L_i,t-1 - 1. Sigma90 is the standard deviation of the 90 close-to-close returns ending at t-1. MA20 is the mean of the 20 closes ending at t-1.</a:t>
            </a:r>
          </a:p>
          <a:p xmlns:a="http://schemas.openxmlformats.org/drawingml/2006/main">
            <a:r>
              <a:t>The phrase 'lagged' matters: neither today's close nor today's low can enter candidate 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93-94; PDF pp. 111-112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 — Source proposition and primary causal translation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 explicitly notes that the official open cannot be known and then received as a subsequent fill. He suggests pre-open venue data as an approximation, while warning that venue prices can differ from the consolidated open.</a:t>
            </a:r>
          </a:p>
          <a:p xmlns:a="http://schemas.openxmlformats.org/drawingml/2006/main">
            <a:r>
              <a:t>Gen5's primary estimand waits until 09:31, then uses the 09:32 one-minute bar open. The adjusted daily close is a historical closing-print proxy under an assumed precommitted closing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pp. 95-96; PDF pp. 113-114</a:t>
            </a:r>
          </a:p>
          <a:p xmlns:a="http://schemas.openxmlformats.org/drawingml/2006/main">
            <a:r>
              <a:t>- https://docs.alpaca.markets/us/reference/stockbarsingle-1</a:t>
            </a:r>
          </a:p>
          <a:p xmlns:a="http://schemas.openxmlformats.org/drawingml/2006/main">
            <a:r>
              <a:t>- https://docs.alpaca.markets/docs/orders-at-alpaca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Daily portfolio return equals one tenth times the sum of selected stock returns. The denominator remains ten even when only one stock qualifies.</a:t>
            </a:r>
          </a:p>
          <a:p xmlns:a="http://schemas.openxmlformats.org/drawingml/2006/main">
            <a:r>
              <a:t>This preserves Chan's cash-sleeve semantics and prevents a rare single-stock event from being represented as 100% invested.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C:/Users/Franc/OneDrive/Documents/Francis/Trading Literature/Algorithmic Trading - Winning Strategies and Their Rationale 2013.pdf — printed p. 94; PDF p. 112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 — Primary causal translation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atlas includes a 20-stock broad control and nine 15-stock sector panels: technology, financials, energy, health care, consumer staples, industrials, consumer discretionary, communication services, and utilities.</a:t>
            </a:r>
          </a:p>
          <a:p xmlns:a="http://schemas.openxmlformats.org/drawingml/2006/main">
            <a:r>
              <a:t>Current static survivors are not point-in-time index memberships. The atlas is a pedagogical breadth test and does not support a historical-index performance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 — Frozen atlas and interpretation boundary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Project/Time-Series-Modeling-Gen5/runs/research_workbench/literature_grounded/lit_mr_06_1_buy_on_gap_20260730_v2/visuals/mr06_atlas_design.png — project-generated from the frozen registry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gates: (1) all integrity/timing checks; (2) at least 95% entry coverage; (3) at least 60 stock-events and 30 portfolio days; (4) positive primary-cost mean event return; (5) one-sided 90% block-bootstrap lower bound above zero; (6) positive matched-benchmark excess; (7) observed portfolio mean above random-control p90; (8) positive stress cumulative return and no more than 50% of positive gross P&amp;L from one symbol.</a:t>
            </a:r>
          </a:p>
          <a:p xmlns:a="http://schemas.openxmlformats.org/drawingml/2006/main">
            <a:r>
              <a:t>The gates are Gen5 design, not claims from Chan.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 — Eight TRAIN gates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145 frozen identities had at least 90% TRAIN daily coverage after the same-issuer FB-to-META alias correction. Nine panels had at least 95% selected-entry coverage; industrials had 91.7%.</a:t>
            </a:r>
          </a:p>
          <a:p xmlns:a="http://schemas.openxmlformats.org/drawingml/2006/main">
            <a:r>
              <a:t>Every panel failed the support gate. Consumer staples and discretionary were closest at six of eight, but both failed the uncertainty gate.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Project/Time-Series-Modeling-Gen5/runs/research_workbench/literature_grounded/lit_mr_06_1_buy_on_gap_20260730_v2/atlas_gates.csv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Project/Time-Series-Modeling-Gen5/runs/research_workbench/literature_grounded/lit_mr_06_1_buy_on_gap_20260730_v2/daily_coverage.csv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Project/Time-Series-Modeling-Gen5/runs/research_workbench/literature_grounded/lit_mr_06_1_buy_on_gap_20260730_v2/visuals/mr06_gate_heatmap.png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panel normalizes four prices to the prior low: prior low, current open, 09:32 entry, and close. Green paths recovered after entry; red paths continued lower.</a:t>
            </a:r>
          </a:p>
          <a:p xmlns:a="http://schemas.openxmlformats.org/drawingml/2006/main">
            <a:r>
              <a:t>This tape is the most direct explanation of the 42.1% canonical directional accuracy: the negative gap did not reliably mark the day's 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Project/Time-Series-Modeling-Gen5/runs/research_workbench/literature_grounded/lit_mr_06_1_buy_on_gap_20260730_v2/selected_event_tape.csv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Project/Time-Series-Modeling-Gen5/runs/research_workbench/literature_grounded/lit_mr_06_1_buy_on_gap_20260730_v2/visuals/mr06_representative_events.png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Canonical broad panel: 19 stock-events across 12 portfolio days; 2/8 gates. Primary cumulative return was -1.21%, stress -1.39%, maximum drawdown -1.64%, and stock-event hit/up-down accuracy 42.1%.</a:t>
            </a:r>
          </a:p>
          <a:p xmlns:a="http://schemas.openxmlformats.org/drawingml/2006/main">
            <a:r>
              <a:t>The source-style same-open diagnostic was also negative here. The delayed curve is the only one eligible for gates.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Project/Time-Series-Modeling-Gen5/runs/research_workbench/literature_grounded/lit_mr_06_1_buy_on_gap_20260730_v2/atlas_summary.csv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Project/Time-Series-Modeling-Gen5/runs/research_workbench/literature_grounded/lit_mr_06_1_buy_on_gap_20260730_v2/portfolio_day_tape.csv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Project/Time-Series-Modeling-Gen5/runs/research_workbench/literature_grounded/lit_mr_06_1_buy_on_gap_20260730_v2/visuals/mr06_canonical_equity.png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gray series buys at the same official open that forms the signal and is labeled NONCAUSAL_REFERENCE. Blue and amber use the delayed 09:32 entry with 10/20 bp round-trip costs.</a:t>
            </a:r>
          </a:p>
          <a:p xmlns:a="http://schemas.openxmlformats.org/drawingml/2006/main">
            <a:r>
              <a:t>The comparison shows why timing belongs in the hypothesis definition. Consumer staples and discretionary remained positive after the delay, while the canonical broad panel did not.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Project/Time-Series-Modeling-Gen5/runs/research_workbench/literature_grounded/lit_mr_06_1_buy_on_gap_20260730_v2/atlas_summary.csv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Project/Time-Series-Modeling-Gen5/runs/research_workbench/literature_grounded/lit_mr_06_1_buy_on_gap_20260730_v2/visuals/mr06_source_vs_causal.png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Consumer staples and discretionary had positive primary-cost point estimates. Their one-sided 90% lower bounds were -0.07 bp and -2.34 bp per portfolio day, respectively.</a:t>
            </a:r>
          </a:p>
          <a:p xmlns:a="http://schemas.openxmlformats.org/drawingml/2006/main">
            <a:r>
              <a:t>Small sample support is the dominant limitation: panels produced only 5-19 stock-events and 5-14 portfolio days against frozen minima of 60 and 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Project/Time-Series-Modeling-Gen5/runs/research_workbench/literature_grounded/lit_mr_06_1_buy_on_gap_20260730_v2/atlas_summary.csv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Project/Time-Series-Modeling-Gen5/runs/research_workbench/literature_grounded/lit_mr_06_1_buy_on_gap_20260730_v2/visuals/mr06_return_intervals.png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Consumer staples passed integrity, coverage, positive mean event return, positive benchmark excess, random-control separation, and friction/concentration. It failed support and the bootstrap lower-bound gate.</a:t>
            </a:r>
          </a:p>
          <a:p xmlns:a="http://schemas.openxmlformats.org/drawingml/2006/main">
            <a:r>
              <a:t>Consumer discretionary passed the same six gates and failed the same two.</a:t>
            </a:r>
          </a:p>
          <a:p xmlns:a="http://schemas.openxmlformats.org/drawingml/2006/main">
            <a:r>
              <a:t>Calling either a winner would turn a predeclared conjunction into an ex-post weighted score.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Project/Time-Series-Modeling-Gen5/runs/research_workbench/literature_grounded/lit_mr_06_1_buy_on_gap_20260730_v2/atlas_summary.csv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Project/Time-Series-Modeling-Gen5/runs/research_workbench/literature_grounded/lit_mr_06_1_buy_on_gap_20260730_v2/atlas_gates.csv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educational result is substantial: the plain-English rule, lagged statistics, official-open problem, sparse sleeve accounting, delayed minute entry, controls, directional accuracy, and gate logic are now operational.</a:t>
            </a:r>
          </a:p>
          <a:p xmlns:a="http://schemas.openxmlformats.org/drawingml/2006/main">
            <a:r>
              <a:t>The research conclusion is narrower: no frozen panel earned OOS. This does not prove that every buy-on-gap strategy is false; it says this specific source-faithful causal translation did not earn promotion in this TRAIN packet.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C:/Users/Franc/OneDrive/Documents/Francis/Peltata Project/Time-Series-Modeling-Gen5/runs/research_workbench/literature_grounded/lit_mr_06_1_buy_on_gap_20260730_v2/lit_mr_06_1_train_report.md</a:t>
            </a:r>
          </a:p>
          <a:p xmlns:a="http://schemas.openxmlformats.org/drawingml/2006/main">
            <a:r>
              <a:t>- C:/Users/Franc/OneDrive/Documents/Francis/Peltata Project/Time-Series-Modeling-Gen5/literature_studies/docs/GEN5_LIT_MR_06_1_CAUSAL_BUY_ON_GAP_POC_CONTRACT.md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8d2f435f49436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f6a9967af86492d" /><Relationship Type="http://schemas.openxmlformats.org/officeDocument/2006/relationships/slideLayout" Target="/ppt/slideLayouts/slideLayout1.xml" Id="R6604d35a494542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04d35a494542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f5fb8030f4b44" /><Relationship Type="http://schemas.openxmlformats.org/officeDocument/2006/relationships/notesSlide" Target="/ppt/notesSlides/notesSlide1.xml" Id="R35295066d8484e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fdaaa1eca44fe2" /><Relationship Type="http://schemas.openxmlformats.org/officeDocument/2006/relationships/notesSlide" Target="/ppt/notesSlides/notesSlide2.xml" Id="R1b9b631795ec44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49cb4db5a4b75" /><Relationship Type="http://schemas.openxmlformats.org/officeDocument/2006/relationships/notesSlide" Target="/ppt/notesSlides/notesSlide3.xml" Id="Rb196dafc81f443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30acd048d4395" /><Relationship Type="http://schemas.openxmlformats.org/officeDocument/2006/relationships/notesSlide" Target="/ppt/notesSlides/notesSlide4.xml" Id="Radf88924161e43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ea9897e5d4446" /><Relationship Type="http://schemas.openxmlformats.org/officeDocument/2006/relationships/notesSlide" Target="/ppt/notesSlides/notesSlide5.xml" Id="R084170ef4ad3410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3085b9cf74d1f" /><Relationship Type="http://schemas.openxmlformats.org/officeDocument/2006/relationships/image" Target="/ppt/media/image.png" Id="Rc0d2c739f4024469" /><Relationship Type="http://schemas.openxmlformats.org/officeDocument/2006/relationships/notesSlide" Target="/ppt/notesSlides/notesSlide6.xml" Id="R5924ae7259d041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e9e676d8c34e5b" /><Relationship Type="http://schemas.openxmlformats.org/officeDocument/2006/relationships/notesSlide" Target="/ppt/notesSlides/notesSlide7.xml" Id="Rf77450ad87ab42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8fdf9a1184b7f" /><Relationship Type="http://schemas.openxmlformats.org/officeDocument/2006/relationships/image" Target="/ppt/media/image2.png" Id="R4cd39b05393541c0" /><Relationship Type="http://schemas.openxmlformats.org/officeDocument/2006/relationships/notesSlide" Target="/ppt/notesSlides/notesSlide8.xml" Id="R921affd7e8d74e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5befd6ef146a2" /><Relationship Type="http://schemas.openxmlformats.org/officeDocument/2006/relationships/image" Target="/ppt/media/image3.png" Id="R8875b7570bad4950" /><Relationship Type="http://schemas.openxmlformats.org/officeDocument/2006/relationships/notesSlide" Target="/ppt/notesSlides/notesSlide9.xml" Id="Rcb332161f23649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3d6015bb814aae" /><Relationship Type="http://schemas.openxmlformats.org/officeDocument/2006/relationships/image" Target="/ppt/media/image4.png" Id="R6ab6c9423ca74885" /><Relationship Type="http://schemas.openxmlformats.org/officeDocument/2006/relationships/notesSlide" Target="/ppt/notesSlides/notesSlide10.xml" Id="R055d3ff96f0044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8dd2b049844e0f" /><Relationship Type="http://schemas.openxmlformats.org/officeDocument/2006/relationships/image" Target="/ppt/media/image5.png" Id="Rc6fa321b293e4036" /><Relationship Type="http://schemas.openxmlformats.org/officeDocument/2006/relationships/notesSlide" Target="/ppt/notesSlides/notesSlide11.xml" Id="R55219226a928400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73f59d35e478f" /><Relationship Type="http://schemas.openxmlformats.org/officeDocument/2006/relationships/image" Target="/ppt/media/image6.png" Id="Rddda775f71504c13" /><Relationship Type="http://schemas.openxmlformats.org/officeDocument/2006/relationships/notesSlide" Target="/ppt/notesSlides/notesSlide12.xml" Id="R2c1ca49568bd4b4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171af592924e50" /><Relationship Type="http://schemas.openxmlformats.org/officeDocument/2006/relationships/notesSlide" Target="/ppt/notesSlides/notesSlide13.xml" Id="Rf4c54172ac4940a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d9efe92794d2c" /><Relationship Type="http://schemas.openxmlformats.org/officeDocument/2006/relationships/notesSlide" Target="/ppt/notesSlides/notesSlide14.xml" Id="R4b18dfdedfa44d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DA6318FA-2F99-4DF9-A744-06350F910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Buy-on-gap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intraday reversion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E169DF7F-9A3A-4AE2-8055-4ED35072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Chan's plain-English Chapter 4 rule, rebuilt around a signal we can actually observe before we trade.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D2399950-CA2D-41D2-BB2E-E681018A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LIT-MR-06.1 | 30 JUL 2026</a:t>
            </a:r>
          </a:p>
        </p:txBody>
      </p:sp>
    </p:spTree>
    <p:extLst>
      <p:ext uri="{BB962C8B-B14F-4D97-AF65-F5344CB8AC3E}">
        <p14:creationId xmlns:p14="http://schemas.microsoft.com/office/powerpoint/2010/main" val="209289339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Chan buys a sharp gap inside a positive trend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rule asks for an unusually weak open, but only while price remains above a lagged moving average. It then ranks the deepest qualifying gaps.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GAP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Open below yesterday's low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by more than 1 × σ90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TREND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open remains above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lagged 20-session MA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Buy up to 10 deepest gaps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Exit the same day at close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Three lagged quantities define the daily candidate set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threshold is known at 09:31: prior low and closes come from completed sessions; the current input is only the official open.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 = O / L₋₁ − 1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Overnight gap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Current open versus prior low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 &lt; −σ₉₀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Volatility-scaled shock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σ uses 90 lagged close returns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 &gt; MA₂₀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Positive-trend filter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 uses 20 prior closes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official-open fill is not executable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source fills at the same price that completes its signal. Gen5 preserves that curve only as a noncausal reference and delays the executable entry.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09:30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Official open forms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Signal is not yet complete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09:31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Observe completed first minute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Rank candidates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09:32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Use next minute-bar open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Commit closing-auction exit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5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Sparse signals keep their cash sleeves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Each selected stock receives one tenth of starting-day capital. Fewer than ten candidates means lower exposure—not hidden rescaling.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1 / 10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Fixed sleeve per stock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Unused sleeves remain cash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 / O₀₉:₃₂ − 1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Causal gross return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Entry after signal; close exit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 / 20 bp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Primary / stress round trip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Deducted per selected stock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Ten panels test breadth—not ten independent ideas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canonical broad panel keeps the source's cross-sectional spirit.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Nine sector panels ask whether a more homogeneous peer group changes the signal's behavior.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Membership is static and survivor-biased. Every panel is published; none may be swapped after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BAE9-E575-4270-B93E-0747E5B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2c739f4024469"/>
          <a:stretch xmlns:a="http://schemas.openxmlformats.org/drawingml/2006/main"/>
        </p:blipFill>
        <p:spPr>
          <a:xfrm xmlns:a="http://schemas.openxmlformats.org/drawingml/2006/main" flipH="0" flipV="0">
            <a:off x="6267450" y="1995488"/>
            <a:ext cx="5429250" cy="3000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Eight gates separate mechanics, evidence, and tradability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 positive return is insufficient. The lane must first be causal and covered, then survive support, uncertainty, opportunity-cost, random-control, friction, and concentration tests.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G1–G2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Integrity + timing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≥95% selected-entry coverage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G3–G7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Support + positive return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CI, benchmark, random control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G8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stress return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≤50% from one symbol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8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panel earned all eight TRAIN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4B3C2-83ED-40A2-ACF7-D3B740A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d39b05393541c0"/>
          <a:stretch xmlns:a="http://schemas.openxmlformats.org/drawingml/2006/main"/>
        </p:blipFill>
        <p:spPr>
          <a:xfrm xmlns:a="http://schemas.openxmlformats.org/drawingml/2006/main" flipH="0" flipV="0">
            <a:off x="1428750" y="2172653"/>
            <a:ext cx="9334500" cy="28936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9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same rule can rebound—or keep falling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B68AB-291F-48F5-A4D0-74A8DF9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75b7570bad4950"/>
          <a:stretch xmlns:a="http://schemas.openxmlformats.org/drawingml/2006/main"/>
        </p:blipFill>
        <p:spPr>
          <a:xfrm xmlns:a="http://schemas.openxmlformats.org/drawingml/2006/main" flipH="0" flipV="0">
            <a:off x="1762125" y="1143000"/>
            <a:ext cx="866775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Delayed entry weakens the canonical broad panel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4B3C2-83ED-40A2-ACF7-D3B740A01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b6c9423ca74885"/>
          <a:stretch xmlns:a="http://schemas.openxmlformats.org/drawingml/2006/main"/>
        </p:blipFill>
        <p:spPr>
          <a:xfrm xmlns:a="http://schemas.openxmlformats.org/drawingml/2006/main" flipH="0" flipV="0">
            <a:off x="2509345" y="1143000"/>
            <a:ext cx="717331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95275"/>
            <a:ext cx="11404568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Execution timing materially changes several panels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B68AB-291F-48F5-A4D0-74A8DF95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1393" y="1162050"/>
            <a:ext cx="8409214" cy="490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fa321b293e4036"/>
          <a:stretch xmlns:a="http://schemas.openxmlformats.org/drawingml/2006/main"/>
        </p:blipFill>
        <p:spPr>
          <a:xfrm xmlns:a="http://schemas.openxmlformats.org/drawingml/2006/main" flipH="0" flipV="0">
            <a:off x="2101645" y="1143000"/>
            <a:ext cx="7988710" cy="4953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">
            <a:extLst xmlns:a="http://schemas.openxmlformats.org/drawingml/2006/main">
              <a:ext uri="{FF2B5EF4-FFF2-40B4-BE49-F238E27FC236}">
                <a16:creationId xmlns:a16="http://schemas.microsoft.com/office/drawing/2014/main" id="{5D1F4916-B18D-4F3F-8812-75A699D9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CB77D9D-0CB0-4878-9A4A-2687A31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537168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Positive point estimates never cleared uncertainty</a:t>
            </a:r>
          </a:p>
        </p:txBody>
      </p:sp>
      <p:sp>
        <p:nvSpPr>
          <p:cNvPr id="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220C938-B9AD-4B79-90E3-107E303A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body">
            <a:extLst xmlns:a="http://schemas.openxmlformats.org/drawingml/2006/main">
              <a:ext uri="{FF2B5EF4-FFF2-40B4-BE49-F238E27FC236}">
                <a16:creationId xmlns:a16="http://schemas.microsoft.com/office/drawing/2014/main" id="{3F760EC2-C6B5-4968-A4B1-EBAD286B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95450"/>
            <a:ext cx="5537168" cy="423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Consumer staples and discretionary stayed positive after the delay.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But their one-sided 90% lower bounds remained below zero.</a:t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9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Every panel also missed support: only 5–19 stock-events and 5–14 portfolio days.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1B8A64-ACC9-4498-AEAE-0060DC1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209D2C-E63E-4C2B-9C87-FE274541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3BAE9-E575-4270-B93E-0747E5B4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95005"/>
            <a:ext cx="5314950" cy="33822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da775f71504c13"/>
          <a:stretch xmlns:a="http://schemas.openxmlformats.org/drawingml/2006/main"/>
        </p:blipFill>
        <p:spPr>
          <a:xfrm xmlns:a="http://schemas.openxmlformats.org/drawingml/2006/main" flipH="0" flipV="0">
            <a:off x="6331744" y="1981200"/>
            <a:ext cx="5300663" cy="30289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367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tat-card-1">
            <a:extLst xmlns:a="http://schemas.openxmlformats.org/drawingml/2006/main">
              <a:ext uri="{FF2B5EF4-FFF2-40B4-BE49-F238E27FC236}">
                <a16:creationId xmlns:a16="http://schemas.microsoft.com/office/drawing/2014/main" id="{8D249104-692F-481F-82EC-326C84E90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stat-card-2">
            <a:extLst xmlns:a="http://schemas.openxmlformats.org/drawingml/2006/main">
              <a:ext uri="{FF2B5EF4-FFF2-40B4-BE49-F238E27FC236}">
                <a16:creationId xmlns:a16="http://schemas.microsoft.com/office/drawing/2014/main" id="{02412AD9-1F13-493C-BF6C-FD8BDE75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stat-card-3">
            <a:extLst xmlns:a="http://schemas.openxmlformats.org/drawingml/2006/main">
              <a:ext uri="{FF2B5EF4-FFF2-40B4-BE49-F238E27FC236}">
                <a16:creationId xmlns:a16="http://schemas.microsoft.com/office/drawing/2014/main" id="{63597CCF-F233-4A0C-BCFA-192F852F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footer">
            <a:extLst xmlns:a="http://schemas.openxmlformats.org/drawingml/2006/main">
              <a:ext uri="{FF2B5EF4-FFF2-40B4-BE49-F238E27FC236}">
                <a16:creationId xmlns:a16="http://schemas.microsoft.com/office/drawing/2014/main" id="{11E272E4-82E7-4287-91C5-21E6B629F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buNone/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A0ED332F-4F42-421E-99CF-097B6CBB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closest panels are observations—not nominees</a:t>
            </a:r>
          </a:p>
        </p:txBody>
      </p:sp>
      <p:sp>
        <p:nvSpPr>
          <p:cNvPr id="6" name="intro">
            <a:extLst xmlns:a="http://schemas.openxmlformats.org/drawingml/2006/main">
              <a:ext uri="{FF2B5EF4-FFF2-40B4-BE49-F238E27FC236}">
                <a16:creationId xmlns:a16="http://schemas.microsoft.com/office/drawing/2014/main" id="{E3D1AF2D-950D-495D-BB07-182C768A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19200"/>
            <a:ext cx="11404568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Staples and discretionary looked economically better than the other panels, but both lacked support and a positive uncertainty bound. DEVELOPMENT therefore stays sealed.</a:t>
            </a:r>
          </a:p>
        </p:txBody>
      </p:sp>
      <p:sp>
        <p:nvSpPr>
          <p:cNvPr id="7" name="stat-1">
            <a:extLst xmlns:a="http://schemas.openxmlformats.org/drawingml/2006/main">
              <a:ext uri="{FF2B5EF4-FFF2-40B4-BE49-F238E27FC236}">
                <a16:creationId xmlns:a16="http://schemas.microsoft.com/office/drawing/2014/main" id="{447A29C0-2600-4241-BF6B-6797417F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6 / 8</a:t>
            </a:r>
          </a:p>
        </p:txBody>
      </p:sp>
      <p:sp>
        <p:nvSpPr>
          <p:cNvPr id="8" name="stat-label-1">
            <a:extLst xmlns:a="http://schemas.openxmlformats.org/drawingml/2006/main">
              <a:ext uri="{FF2B5EF4-FFF2-40B4-BE49-F238E27FC236}">
                <a16:creationId xmlns:a16="http://schemas.microsoft.com/office/drawing/2014/main" id="{1D2A853D-A304-477D-B8B8-F77F0101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Consumer staples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+1.13% primary; q05 −0.07 bp</a:t>
            </a:r>
          </a:p>
        </p:txBody>
      </p:sp>
      <p:sp>
        <p:nvSpPr>
          <p:cNvPr id="9" name="stat-2">
            <a:extLst xmlns:a="http://schemas.openxmlformats.org/drawingml/2006/main">
              <a:ext uri="{FF2B5EF4-FFF2-40B4-BE49-F238E27FC236}">
                <a16:creationId xmlns:a16="http://schemas.microsoft.com/office/drawing/2014/main" id="{342C60B8-5C35-4607-932D-DFD8E206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6 / 8</a:t>
            </a:r>
          </a:p>
        </p:txBody>
      </p:sp>
      <p:sp>
        <p:nvSpPr>
          <p:cNvPr id="10" name="stat-label-2">
            <a:extLst xmlns:a="http://schemas.openxmlformats.org/drawingml/2006/main">
              <a:ext uri="{FF2B5EF4-FFF2-40B4-BE49-F238E27FC236}">
                <a16:creationId xmlns:a16="http://schemas.microsoft.com/office/drawing/2014/main" id="{3123331A-6BB6-4FC3-B18C-EE98C6A8F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Consumer discretionary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+0.45% primary; q05 −2.34 bp</a:t>
            </a:r>
          </a:p>
        </p:txBody>
      </p:sp>
      <p:sp>
        <p:nvSpPr>
          <p:cNvPr id="11" name="stat-3">
            <a:extLst xmlns:a="http://schemas.openxmlformats.org/drawingml/2006/main">
              <a:ext uri="{FF2B5EF4-FFF2-40B4-BE49-F238E27FC236}">
                <a16:creationId xmlns:a16="http://schemas.microsoft.com/office/drawing/2014/main" id="{A0AD0C21-BC31-4957-B0CB-525311D43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 / 10</a:t>
            </a:r>
          </a:p>
        </p:txBody>
      </p:sp>
      <p:sp>
        <p:nvSpPr>
          <p:cNvPr id="12" name="stat-label-3">
            <a:extLst xmlns:a="http://schemas.openxmlformats.org/drawingml/2006/main">
              <a:ext uri="{FF2B5EF4-FFF2-40B4-BE49-F238E27FC236}">
                <a16:creationId xmlns:a16="http://schemas.microsoft.com/office/drawing/2014/main" id="{86C9D445-5711-4319-B967-D72E959CA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Full TRAIN passes</a:t>
            </a:r>
          </a:p>
          <a:p xmlns:a="http://schemas.openxmlformats.org/drawingml/2006/main">
            <a:pPr algn="l">
              <a:buNone/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No 2021–2023 outcome query</a:t>
            </a:r>
          </a:p>
        </p:txBody>
      </p:sp>
    </p:spTree>
    <p:extLst>
      <p:ext uri="{BB962C8B-B14F-4D97-AF65-F5344CB8AC3E}">
        <p14:creationId xmlns:p14="http://schemas.microsoft.com/office/powerpoint/2010/main" val="209824963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ver-headline">
            <a:extLst xmlns:a="http://schemas.openxmlformats.org/drawingml/2006/main">
              <a:ext uri="{FF2B5EF4-FFF2-40B4-BE49-F238E27FC236}">
                <a16:creationId xmlns:a16="http://schemas.microsoft.com/office/drawing/2014/main" id="{E9F43BB9-4202-4A42-9916-7A066783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102870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learned the rule.</a:t>
            </a:r>
          </a:p>
          <a:p xmlns:a="http://schemas.openxmlformats.org/drawingml/2006/main">
            <a:pPr algn="l">
              <a:buNone/>
              <a:defRPr sz="57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We did not promote a strategy.</a:t>
            </a:r>
          </a:p>
        </p:txBody>
      </p:sp>
      <p:sp>
        <p:nvSpPr>
          <p:cNvPr id="2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6F90063-BA30-438B-9FD3-13AA2271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80010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The causal implementation is now concrete and reusable. Preserve the 0/10 TRAIN result, keep DEVELOPMENT sealed, and move to the next textbook exercise without rescue tuning.</a:t>
            </a:r>
          </a:p>
        </p:txBody>
      </p:sp>
      <p:sp>
        <p:nvSpPr>
          <p:cNvPr id="3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45129715-75DE-4D50-B44D-3AFE3EBA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7239000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4653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TEXTBOOK EXERCISE COMPLETE | DEVELOPMENT REMAINS SEALED</a:t>
            </a:r>
          </a:p>
        </p:txBody>
      </p:sp>
    </p:spTree>
    <p:extLst>
      <p:ext uri="{BB962C8B-B14F-4D97-AF65-F5344CB8AC3E}">
        <p14:creationId xmlns:p14="http://schemas.microsoft.com/office/powerpoint/2010/main" val="16642401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2026-07-30T07:05:43.7090000Z</dcterms:created>
  <dcterms:modified xsi:type="dcterms:W3CDTF">2026-07-30T07:05:43.7090000Z</dcterms:modified>
</coreProperties>
</file>