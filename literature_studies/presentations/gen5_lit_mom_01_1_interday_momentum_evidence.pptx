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ede5566dbcd4f15" /><Relationship Type="http://schemas.openxmlformats.org/officeDocument/2006/relationships/extended-properties" Target="/docProps/app.xml" Id="R25d8f9cf7ba446c0" /><Relationship Type="http://schemas.openxmlformats.org/officeDocument/2006/relationships/officeDocument" Target="/ppt/presentation.xml" Id="Ra2233f711ee44a34" /></Relationships>
</file>

<file path=ppt/presentation.xml><?xml version="1.0" encoding="utf-8"?>
<p:presentation xmlns:p="http://schemas.openxmlformats.org/presentationml/2006/main">
  <p:sldMasterIdLst>
    <p:sldMasterId xmlns:r="http://schemas.openxmlformats.org/officeDocument/2006/relationships" id="2147483648" r:id="Rfaa86265d23a4d3f"/>
  </p:sldMasterIdLst>
  <p:notesMasterIdLst>
    <p:notesMasterId xmlns:r="http://schemas.openxmlformats.org/officeDocument/2006/relationships" r:id="R13ee35cc556e44c0"/>
  </p:notesMasterIdLst>
  <p:sldIdLst>
    <p:sldId xmlns:r="http://schemas.openxmlformats.org/officeDocument/2006/relationships" id="256" r:id="R5d9648cc1f5f49d9"/>
    <p:sldId xmlns:r="http://schemas.openxmlformats.org/officeDocument/2006/relationships" id="257" r:id="R6e6ad08d5c354a41"/>
    <p:sldId xmlns:r="http://schemas.openxmlformats.org/officeDocument/2006/relationships" id="258" r:id="Rc16f261de4854376"/>
    <p:sldId xmlns:r="http://schemas.openxmlformats.org/officeDocument/2006/relationships" id="259" r:id="Rea9fb14c1d3548db"/>
    <p:sldId xmlns:r="http://schemas.openxmlformats.org/officeDocument/2006/relationships" id="260" r:id="R915a0ad1419b4ae2"/>
    <p:sldId xmlns:r="http://schemas.openxmlformats.org/officeDocument/2006/relationships" id="261" r:id="R40a63437929a4786"/>
    <p:sldId xmlns:r="http://schemas.openxmlformats.org/officeDocument/2006/relationships" id="262" r:id="R455dc8fbae35499e"/>
    <p:sldId xmlns:r="http://schemas.openxmlformats.org/officeDocument/2006/relationships" id="263" r:id="R4693fbc5cb444688"/>
    <p:sldId xmlns:r="http://schemas.openxmlformats.org/officeDocument/2006/relationships" id="264" r:id="R23821bdeaf024e94"/>
    <p:sldId xmlns:r="http://schemas.openxmlformats.org/officeDocument/2006/relationships" id="265" r:id="Rbf0a42662f8b4bea"/>
    <p:sldId xmlns:r="http://schemas.openxmlformats.org/officeDocument/2006/relationships" id="266" r:id="Rc68e99e2c3434856"/>
    <p:sldId xmlns:r="http://schemas.openxmlformats.org/officeDocument/2006/relationships" id="267" r:id="R788621e504394e69"/>
    <p:sldId xmlns:r="http://schemas.openxmlformats.org/officeDocument/2006/relationships" id="268" r:id="Rbbbc2a36caca47a1"/>
    <p:sldId xmlns:r="http://schemas.openxmlformats.org/officeDocument/2006/relationships" id="269" r:id="R3250356102e34e1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90dc97c33374dfc" /><Relationship Type="http://schemas.openxmlformats.org/officeDocument/2006/relationships/slideMaster" Target="/ppt/slideMasters/slideMaster1.xml" Id="Rfaa86265d23a4d3f" /><Relationship Type="http://schemas.openxmlformats.org/officeDocument/2006/relationships/notesMaster" Target="/ppt/notesMasters/notesMaster1.xml" Id="R13ee35cc556e44c0" /><Relationship Type="http://schemas.openxmlformats.org/officeDocument/2006/relationships/presProps" Target="/ppt/presProps.xml" Id="R020e5f1c075944a0" /><Relationship Type="http://schemas.openxmlformats.org/officeDocument/2006/relationships/tableStyles" Target="/ppt/tableStyles.xml" Id="Refad6f267aec4fa8" /><Relationship Type="http://schemas.openxmlformats.org/officeDocument/2006/relationships/slide" Target="/ppt/slides/slide1.xml" Id="R5d9648cc1f5f49d9" /><Relationship Type="http://schemas.openxmlformats.org/officeDocument/2006/relationships/slide" Target="/ppt/slides/slide2.xml" Id="R6e6ad08d5c354a41" /><Relationship Type="http://schemas.openxmlformats.org/officeDocument/2006/relationships/slide" Target="/ppt/slides/slide3.xml" Id="Rc16f261de4854376" /><Relationship Type="http://schemas.openxmlformats.org/officeDocument/2006/relationships/slide" Target="/ppt/slides/slide4.xml" Id="Rea9fb14c1d3548db" /><Relationship Type="http://schemas.openxmlformats.org/officeDocument/2006/relationships/slide" Target="/ppt/slides/slide5.xml" Id="R915a0ad1419b4ae2" /><Relationship Type="http://schemas.openxmlformats.org/officeDocument/2006/relationships/slide" Target="/ppt/slides/slide6.xml" Id="R40a63437929a4786" /><Relationship Type="http://schemas.openxmlformats.org/officeDocument/2006/relationships/slide" Target="/ppt/slides/slide7.xml" Id="R455dc8fbae35499e" /><Relationship Type="http://schemas.openxmlformats.org/officeDocument/2006/relationships/slide" Target="/ppt/slides/slide8.xml" Id="R4693fbc5cb444688" /><Relationship Type="http://schemas.openxmlformats.org/officeDocument/2006/relationships/slide" Target="/ppt/slides/slide9.xml" Id="R23821bdeaf024e94" /><Relationship Type="http://schemas.openxmlformats.org/officeDocument/2006/relationships/slide" Target="/ppt/slides/slide10.xml" Id="Rbf0a42662f8b4bea" /><Relationship Type="http://schemas.openxmlformats.org/officeDocument/2006/relationships/slide" Target="/ppt/slides/slide11.xml" Id="Rc68e99e2c3434856" /><Relationship Type="http://schemas.openxmlformats.org/officeDocument/2006/relationships/slide" Target="/ppt/slides/slide12.xml" Id="R788621e504394e69" /><Relationship Type="http://schemas.openxmlformats.org/officeDocument/2006/relationships/slide" Target="/ppt/slides/slide13.xml" Id="Rbbbc2a36caca47a1" /><Relationship Type="http://schemas.openxmlformats.org/officeDocument/2006/relationships/slide" Target="/ppt/slides/slide14.xml" Id="R3250356102e34e1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0dc338d38dc405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b15160229444f21" /><Relationship Type="http://schemas.openxmlformats.org/officeDocument/2006/relationships/notesMaster" Target="/ppt/notesMasters/notesMaster1.xml" Id="R22f277531c034b2a" /></Relationships>
</file>

<file path=ppt/notesSlides/_rels/notesSlide2.xml.rels>&#65279;<?xml version="1.0" encoding="utf-8"?><Relationships xmlns="http://schemas.openxmlformats.org/package/2006/relationships"><Relationship Type="http://schemas.openxmlformats.org/officeDocument/2006/relationships/slide" Target="/ppt/slides/slide2.xml" Id="Rc94797c1b55547f5" /><Relationship Type="http://schemas.openxmlformats.org/officeDocument/2006/relationships/notesMaster" Target="/ppt/notesMasters/notesMaster1.xml" Id="Re049fd2856d54e90" /></Relationships>
</file>

<file path=ppt/notesSlides/_rels/notesSlide3.xml.rels>&#65279;<?xml version="1.0" encoding="utf-8"?><Relationships xmlns="http://schemas.openxmlformats.org/package/2006/relationships"><Relationship Type="http://schemas.openxmlformats.org/officeDocument/2006/relationships/slide" Target="/ppt/slides/slide3.xml" Id="R56a4bc0793c24423" /><Relationship Type="http://schemas.openxmlformats.org/officeDocument/2006/relationships/notesMaster" Target="/ppt/notesMasters/notesMaster1.xml" Id="Rcdc6780bf9ed4d0a" /></Relationships>
</file>

<file path=ppt/notesSlides/_rels/notesSlide4.xml.rels>&#65279;<?xml version="1.0" encoding="utf-8"?><Relationships xmlns="http://schemas.openxmlformats.org/package/2006/relationships"><Relationship Type="http://schemas.openxmlformats.org/officeDocument/2006/relationships/slide" Target="/ppt/slides/slide4.xml" Id="Re48e8d8ec61a49f9" /><Relationship Type="http://schemas.openxmlformats.org/officeDocument/2006/relationships/notesMaster" Target="/ppt/notesMasters/notesMaster1.xml" Id="R93b0b611ce9549ac" /></Relationships>
</file>

<file path=ppt/notesSlides/_rels/notesSlide5.xml.rels>&#65279;<?xml version="1.0" encoding="utf-8"?><Relationships xmlns="http://schemas.openxmlformats.org/package/2006/relationships"><Relationship Type="http://schemas.openxmlformats.org/officeDocument/2006/relationships/slide" Target="/ppt/slides/slide5.xml" Id="Ra3b234b1df9e492e" /><Relationship Type="http://schemas.openxmlformats.org/officeDocument/2006/relationships/notesMaster" Target="/ppt/notesMasters/notesMaster1.xml" Id="R6b8e1e813cd14f3c" /></Relationships>
</file>

<file path=ppt/notesSlides/_rels/notesSlide6.xml.rels>&#65279;<?xml version="1.0" encoding="utf-8"?><Relationships xmlns="http://schemas.openxmlformats.org/package/2006/relationships"><Relationship Type="http://schemas.openxmlformats.org/officeDocument/2006/relationships/slide" Target="/ppt/slides/slide6.xml" Id="R6a4046f642d74b73" /><Relationship Type="http://schemas.openxmlformats.org/officeDocument/2006/relationships/notesMaster" Target="/ppt/notesMasters/notesMaster1.xml" Id="Reedb3ae5958741a5" /></Relationships>
</file>

<file path=ppt/notesSlides/_rels/notesSlide7.xml.rels>&#65279;<?xml version="1.0" encoding="utf-8"?><Relationships xmlns="http://schemas.openxmlformats.org/package/2006/relationships"><Relationship Type="http://schemas.openxmlformats.org/officeDocument/2006/relationships/slide" Target="/ppt/slides/slide7.xml" Id="R0dcf3e938c2a4ba6" /><Relationship Type="http://schemas.openxmlformats.org/officeDocument/2006/relationships/notesMaster" Target="/ppt/notesMasters/notesMaster1.xml" Id="R5251f50228f24160" /></Relationships>
</file>

<file path=ppt/notesSlides/_rels/notesSlide8.xml.rels>&#65279;<?xml version="1.0" encoding="utf-8"?><Relationships xmlns="http://schemas.openxmlformats.org/package/2006/relationships"><Relationship Type="http://schemas.openxmlformats.org/officeDocument/2006/relationships/slide" Target="/ppt/slides/slide8.xml" Id="R339064c31afe47d0" /><Relationship Type="http://schemas.openxmlformats.org/officeDocument/2006/relationships/notesMaster" Target="/ppt/notesMasters/notesMaster1.xml" Id="R31ce233689024b22" /></Relationships>
</file>

<file path=ppt/notesSlides/_rels/notesSlide9.xml.rels>&#65279;<?xml version="1.0" encoding="utf-8"?><Relationships xmlns="http://schemas.openxmlformats.org/package/2006/relationships"><Relationship Type="http://schemas.openxmlformats.org/officeDocument/2006/relationships/slide" Target="/ppt/slides/slide9.xml" Id="R4cc8f094487241d4" /><Relationship Type="http://schemas.openxmlformats.org/officeDocument/2006/relationships/notesMaster" Target="/ppt/notesMasters/notesMaster1.xml" Id="R39e28f0a5843458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de2dbd3a2564391" /><Relationship Type="http://schemas.openxmlformats.org/officeDocument/2006/relationships/notesMaster" Target="/ppt/notesMasters/notesMaster1.xml" Id="R73fce8cb3ccd43f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3f996d160c647bd" /><Relationship Type="http://schemas.openxmlformats.org/officeDocument/2006/relationships/notesMaster" Target="/ppt/notesMasters/notesMaster1.xml" Id="R9f9654a7ee124d0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7f980fec8fb476f" /><Relationship Type="http://schemas.openxmlformats.org/officeDocument/2006/relationships/notesMaster" Target="/ppt/notesMasters/notesMaster1.xml" Id="Rbe421e1adcef44a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3018acc242f4a56" /><Relationship Type="http://schemas.openxmlformats.org/officeDocument/2006/relationships/notesMaster" Target="/ppt/notesMasters/notesMaster1.xml" Id="R9668a4c3aaba45a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fe24037f7804084" /><Relationship Type="http://schemas.openxmlformats.org/officeDocument/2006/relationships/notesMaster" Target="/ppt/notesMasters/notesMaster1.xml" Id="Rf45700b3ac73476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deck treats Example 6.1 as a two-stage research exercise. The 250/25 rule is a literature-selected example, not an arbitrary starting parameter and not automatically the selected SHY rule.</a:t>
            </a:r>
          </a:p>
          <a:p xmlns:a="http://schemas.openxmlformats.org/drawingml/2006/main">
            <a:r>
              <a:t/>
            </a:r>
          </a:p>
          <a:p xmlns:a="http://schemas.openxmlformats.org/drawingml/2006/main">
            <a:r>
              <a:t>[Sources]</a:t>
            </a:r>
          </a:p>
          <a:p xmlns:a="http://schemas.openxmlformats.org/drawingml/2006/main">
            <a:r>
              <a:t>- C:/Users/Franc/OneDrive/Documents/Francis/Trading Literature/Algorithmic Trading - Winning Strategies and Their Rationale 2013.pdf — printed pages 135–139; PDF pages 153–157</a:t>
            </a:r>
          </a:p>
          <a:p xmlns:a="http://schemas.openxmlformats.org/drawingml/2006/main">
            <a:r>
              <a:t>- C:/Users/Franc/OneDrive/Documents/Francis/Peltata Project/Time-Series-Modeling-Gen5/literature_studies/docs/GEN5_LIT_MOM_01_1_INTERDAY_TIME_SERIES_MOMENTUM_POC_CONTRACT.md</a:t>
            </a:r>
          </a:p>
          <a:p xmlns:a="http://schemas.openxmlformats.org/drawingml/2006/main">
            <a:r>
              <a:t>- C:/Users/Franc/OneDrive/Documents/Francis/Peltata Project/Time-Series-Modeling-Gen5/literature_studies/docs/GEN5_LIT_MOM_01_1_INTERDAY_MOMENTUM_RESULTS.md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stage is a 7-by-7 table of past/future return correlations. Chan then narrows the candidates and chooses 250/25 for the worked TU example. The POC preserves that sequence and freezes a deterministic TRAIN-only selection rule before examining OOS.</a:t>
            </a:r>
          </a:p>
          <a:p xmlns:a="http://schemas.openxmlformats.org/drawingml/2006/main">
            <a:r>
              <a:t/>
            </a:r>
          </a:p>
          <a:p xmlns:a="http://schemas.openxmlformats.org/drawingml/2006/main">
            <a:r>
              <a:t>[Sources]</a:t>
            </a:r>
          </a:p>
          <a:p xmlns:a="http://schemas.openxmlformats.org/drawingml/2006/main">
            <a:r>
              <a:t>- C:/Users/Franc/OneDrive/Documents/Francis/Trading Literature/Algorithmic Trading - Winning Strategies and Their Rationale 2013.pdf — printed pages 136–138; PDF pages 154–156</a:t>
            </a:r>
          </a:p>
          <a:p xmlns:a="http://schemas.openxmlformats.org/drawingml/2006/main">
            <a:r>
              <a:t>- C:/Users/Franc/OneDrive/Documents/Francis/Peltata Project/Time-Series-Modeling-Gen5/literature_studies/docs/GEN5_LIT_MOM_01_1_INTERDAY_TIME_SERIES_MOMENTUM_POC_CONTRACT.md</a:t>
            </a:r>
          </a:p>
          <a:p xmlns:a="http://schemas.openxmlformats.org/drawingml/2006/main">
            <a:r>
              <a:t>- C:/Users/Franc/OneDrive/Documents/Francis/Peltata Project/Time-Series-Modeling-Gen5/runs/research_workbench/literature_grounded/lit_mom_01_1_interday_momentum_20260730_v6/lit_mom_01_1_train_horizon_screen.csv</a:t>
            </a:r>
          </a:p>
          <a:p xmlns:a="http://schemas.openxmlformats.org/drawingml/2006/main">
            <a:r>
              <a:t>- C:/Users/Franc/OneDrive/Documents/Francis/Peltata Project/Time-Series-Modeling-Gen5/runs/research_workbench/literature_grounded/lit_mom_01_1_interday_momentum_20260730_v6/lit_mom_01_1_selected_candidate.csv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CHAN_MIN_STEP advances by min(L,H), which preserves more pairs and makes the shorter leg non-overlapping. STEP_L is a useful Gen5 diagnostic for distinct formation episodes, but it does not make observations fully independent: H outcomes can overlap, and when H&lt;L a future outcome can enter the next formation window. A fixed STEP_L partition also depends on its starting phase. L+H is the strongest raw-interval separation but is often too sparse.</a:t>
            </a:r>
          </a:p>
          <a:p xmlns:a="http://schemas.openxmlformats.org/drawingml/2006/main">
            <a:r>
              <a:t/>
            </a:r>
          </a:p>
          <a:p xmlns:a="http://schemas.openxmlformats.org/drawingml/2006/main">
            <a:r>
              <a:t>[Sources]</a:t>
            </a:r>
          </a:p>
          <a:p xmlns:a="http://schemas.openxmlformats.org/drawingml/2006/main">
            <a:r>
              <a:t>- C:/Users/Franc/OneDrive/Documents/Francis/Trading Literature/Algorithmic Trading - Winning Strategies and Their Rationale 2013.pdf — printed pages 135–136; PDF pages 153–154</a:t>
            </a:r>
          </a:p>
          <a:p xmlns:a="http://schemas.openxmlformats.org/drawingml/2006/main">
            <a:r>
              <a:t>- C:/Users/Franc/OneDrive/Documents/Francis/Peltata Project/Time-Series-Modeling-Gen5/literature_studies/docs/GEN5_LIT_MOM_01_1_INTERDAY_TIME_SERIES_MOMENTUM_POC_CONTRACT.md</a:t>
            </a:r>
          </a:p>
          <a:p xmlns:a="http://schemas.openxmlformats.org/drawingml/2006/main">
            <a:r>
              <a:t>- C:/Users/Franc/OneDrive/Documents/Francis/Peltata Project/Time-Series-Modeling-Gen5/literature_studies/docs/GEN5_LIT_MOM_01_1_INTERDAY_MOMENTUM_RESULTS.md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TU screening table highlights multiple plausible combinations, including 60/10, 60/25, 250/10, 250/25, 250/60, and 250/120. Chan prefers reasonably short holding periods and implements 250/25. The cited Moskowitz, Ooi, and Pedersen paper also emphasizes a 12-month lookback with a one-month holding convention.</a:t>
            </a:r>
          </a:p>
          <a:p xmlns:a="http://schemas.openxmlformats.org/drawingml/2006/main">
            <a:r>
              <a:t/>
            </a:r>
          </a:p>
          <a:p xmlns:a="http://schemas.openxmlformats.org/drawingml/2006/main">
            <a:r>
              <a:t>[Sources]</a:t>
            </a:r>
          </a:p>
          <a:p xmlns:a="http://schemas.openxmlformats.org/drawingml/2006/main">
            <a:r>
              <a:t>- C:/Users/Franc/OneDrive/Documents/Francis/Trading Literature/Algorithmic Trading - Winning Strategies and Their Rationale 2013.pdf — printed page 137 and Example 6.1 on page 138; PDF pages 155–156</a:t>
            </a:r>
          </a:p>
          <a:p xmlns:a="http://schemas.openxmlformats.org/drawingml/2006/main">
            <a:r>
              <a:t>- https://pages.stern.nyu.edu/~lpederse/papers/TimeSeriesMomentum.pdf</a:t>
            </a:r>
          </a:p>
          <a:p xmlns:a="http://schemas.openxmlformats.org/drawingml/2006/main">
            <a:r>
              <a:t>- C:/Users/Franc/OneDrive/Documents/Francis/Peltata Project/Time-Series-Modeling-Gen5/literature_studies/docs/GEN5_LITERATURE_SOURCE_LEDGER.md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key correction is that the strategy does not spread one Day-0 forecast across H entries. It recalculates after every close. Each resulting signal starts one new 1/H sleeve at the next open, and each sleeve has its own H-session life. Adjacent L-session signals share L-1 observations, so repeated signs are highly correlated updates rather than independent confirmations.</a:t>
            </a:r>
          </a:p>
          <a:p xmlns:a="http://schemas.openxmlformats.org/drawingml/2006/main">
            <a:r>
              <a:t/>
            </a:r>
          </a:p>
          <a:p xmlns:a="http://schemas.openxmlformats.org/drawingml/2006/main">
            <a:r>
              <a:t>[Sources]</a:t>
            </a:r>
          </a:p>
          <a:p xmlns:a="http://schemas.openxmlformats.org/drawingml/2006/main">
            <a:r>
              <a:t>- C:/Users/Franc/OneDrive/Documents/Francis/Trading Literature/Algorithmic Trading - Winning Strategies and Their Rationale 2013.pdf — printed pages 138–139; PDF pages 156–157</a:t>
            </a:r>
          </a:p>
          <a:p xmlns:a="http://schemas.openxmlformats.org/drawingml/2006/main">
            <a:r>
              <a:t>- C:/Users/Franc/OneDrive/Documents/Francis/Peltata Project/Time-Series-Modeling-Gen5/literature_studies/docs/GEN5_LIT_MOM_01_1_INTERDAY_TIME_SERIES_MOMENTUM_POC_CONTRACT.md</a:t>
            </a:r>
          </a:p>
          <a:p xmlns:a="http://schemas.openxmlformats.org/drawingml/2006/main">
            <a:r>
              <a:t>- C:/Users/Franc/OneDrive/Documents/Francis/Peltata Project/Time-Series-Modeling-Gen5/runs/research_workbench/literature_grounded/lit_mom_01_1_interday_momentum_20260730_v6/development_completed_sleeves.csv</a:t>
            </a:r>
          </a:p>
          <a:p xmlns:a="http://schemas.openxmlformats.org/drawingml/2006/main">
            <a:r>
              <a:t>- C:/Users/Franc/OneDrive/Documents/Francis/Peltata Project/Time-Series-Modeling-Gen5/runs/research_workbench/literature_grounded/lit_mom_01_1_interday_momentum_20260730_v6/development_bar_replay.csv</a:t>
            </a:r>
          </a:p>
          <a:p xmlns:a="http://schemas.openxmlformats.org/drawingml/2006/main">
            <a:r>
              <a:t>- C:/Users/Franc/OneDrive/Documents/Francis/Peltata Project/Time-Series-Modeling-Gen5/literature_studies/scripts/render_gen5_lit_mom_01_1_revisit_audit.R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Using SHY answers whether the textbook workflow transfers to an accessible ETF proxy. It does not reproduce TU contract rolls or futures capital efficiency, and adjusted bars cannot prove historical borrow availability for short sleeves.</a:t>
            </a:r>
          </a:p>
          <a:p xmlns:a="http://schemas.openxmlformats.org/drawingml/2006/main">
            <a:r>
              <a:t/>
            </a:r>
          </a:p>
          <a:p xmlns:a="http://schemas.openxmlformats.org/drawingml/2006/main">
            <a:r>
              <a:t>[Sources]</a:t>
            </a:r>
          </a:p>
          <a:p xmlns:a="http://schemas.openxmlformats.org/drawingml/2006/main">
            <a:r>
              <a:t>- C:/Users/Franc/OneDrive/Documents/Francis/Trading Literature/Algorithmic Trading - Winning Strategies and Their Rationale 2013.pdf — printed pages 138–139; PDF pages 156–157</a:t>
            </a:r>
          </a:p>
          <a:p xmlns:a="http://schemas.openxmlformats.org/drawingml/2006/main">
            <a:r>
              <a:t>- C:/Users/Franc/OneDrive/Documents/Francis/Peltata Project/Time-Series-Modeling-Gen5/literature_studies/docs/GEN5_LIT_MOM_01_1_INTERDAY_TIME_SERIES_MOMENTUM_POC_CONTRACT.md</a:t>
            </a:r>
          </a:p>
          <a:p xmlns:a="http://schemas.openxmlformats.org/drawingml/2006/main">
            <a:r>
              <a:t>- C:/Users/Franc/OneDrive/Documents/Francis/Peltata Project/Time-Series-Modeling-Gen5/runs/research_workbench/literature_grounded/lit_mom_01_1_interday_momentum_20260730_v6/lit_mom_01_1_frozen_contract.csv</a:t>
            </a:r>
          </a:p>
          <a:p xmlns:a="http://schemas.openxmlformats.org/drawingml/2006/main">
            <a:r>
              <a:t>- C:/Users/Franc/OneDrive/Documents/Francis/Peltata Project/Time-Series-Modeling-Gen5/runs/research_workbench/literature_grounded/lit_mom_01_1_interday_momentum_20260730_v6/lit_mom_01_1_workbench_query_manifest.csv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gates distinguish source mechanics from project safeguards. All six must pass before the single frozen DEVELOPMENT replay is allowed. The nominal p-value is a screening statistic across 49 related tests, not multiplicity-adjusted proof; OOS is the real falsification surface.</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Project/Time-Series-Modeling-Gen5/literature_studies/docs/GEN5_LIT_MOM_01_1_INTERDAY_TIME_SERIES_MOMENTUM_POC_CONTRACT.md</a:t>
            </a:r>
          </a:p>
          <a:p xmlns:a="http://schemas.openxmlformats.org/drawingml/2006/main">
            <a:r>
              <a:t>- C:/Users/Franc/OneDrive/Documents/Francis/Peltata Project/Time-Series-Modeling-Gen5/runs/research_workbench/literature_grounded/lit_mom_01_1_interday_momentum_20260730_v6/lit_mom_01_1_train_gate_summary.csv</a:t>
            </a:r>
          </a:p>
          <a:p xmlns:a="http://schemas.openxmlformats.org/drawingml/2006/main">
            <a:r>
              <a:t>- C:/Users/Franc/OneDrive/Documents/Francis/Peltata Project/Time-Series-Modeling-Gen5/runs/research_workbench/literature_grounded/lit_mom_01_1_interday_momentum_20260730_v6/lit_mom_01_1_train_horizon_screen.csv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deterministic rule ranked supported swing candidates by the Pearson t-statistic, after requiring at least 20 sparse pairs and a holding period of at least five sessions. It selected 60/5 with n=201, correlation 0.2084, nominal p=0.0030, and 60.2% sign accuracy. High-correlation cells with too little support were not eligible.</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Project/Time-Series-Modeling-Gen5/literature_studies/docs/GEN5_LIT_MOM_01_1_INTERDAY_TIME_SERIES_MOMENTUM_POC_CONTRACT.md</a:t>
            </a:r>
          </a:p>
          <a:p xmlns:a="http://schemas.openxmlformats.org/drawingml/2006/main">
            <a:r>
              <a:t>- C:/Users/Franc/OneDrive/Documents/Francis/Peltata Project/Time-Series-Modeling-Gen5/runs/research_workbench/literature_grounded/lit_mom_01_1_interday_momentum_20260730_v6/lit_mom_01_1_train_horizon_screen.csv</a:t>
            </a:r>
          </a:p>
          <a:p xmlns:a="http://schemas.openxmlformats.org/drawingml/2006/main">
            <a:r>
              <a:t>- C:/Users/Franc/OneDrive/Documents/Francis/Peltata Project/Time-Series-Modeling-Gen5/runs/research_workbench/literature_grounded/lit_mom_01_1_interday_momentum_20260730_v6/lit_mom_01_1_selected_candidate.csv</a:t>
            </a:r>
          </a:p>
          <a:p xmlns:a="http://schemas.openxmlformats.org/drawingml/2006/main">
            <a:r>
              <a:t>- C:/Users/Franc/OneDrive/Documents/Francis/Peltata Project/Time-Series-Modeling-Gen5/runs/research_workbench/literature_grounded/lit_mom_01_1_interday_momentum_20260730_v6/visuals/lit_mom_01_1_train_horizon_map.png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 primary-cost cumulative return was 6.55%, adjusted Sharpe 1.55, and maximum drawdown 0.84%. Stress return was 4.29%, three of four calendar years were positive, and 982 sleeves completed. These results passed the frozen gates and authorized DEVELOPMENT.</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Project/Time-Series-Modeling-Gen5/literature_studies/docs/GEN5_LIT_MOM_01_1_INTERDAY_MOMENTUM_RESULTS.md</a:t>
            </a:r>
          </a:p>
          <a:p xmlns:a="http://schemas.openxmlformats.org/drawingml/2006/main">
            <a:r>
              <a:t>- C:/Users/Franc/OneDrive/Documents/Francis/Peltata Project/Time-Series-Modeling-Gen5/runs/research_workbench/literature_grounded/lit_mom_01_1_interday_momentum_20260730_v6/train_performance_metrics.csv</a:t>
            </a:r>
          </a:p>
          <a:p xmlns:a="http://schemas.openxmlformats.org/drawingml/2006/main">
            <a:r>
              <a:t>- C:/Users/Franc/OneDrive/Documents/Francis/Peltata Project/Time-Series-Modeling-Gen5/runs/research_workbench/literature_grounded/lit_mom_01_1_interday_momentum_20260730_v6/lit_mom_01_1_train_gate_summary.csv</a:t>
            </a:r>
          </a:p>
          <a:p xmlns:a="http://schemas.openxmlformats.org/drawingml/2006/main">
            <a:r>
              <a:t>- C:/Users/Franc/OneDrive/Documents/Francis/Peltata Project/Time-Series-Modeling-Gen5/runs/research_workbench/literature_grounded/lit_mom_01_1_interday_momentum_20260730_v6/visuals/train_equity_drawdown.png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TRAIN gates passed, so the POC opened the one predeclared 2021–2023 DEVELOPMENT replay with the same 60/5 rule and a flat start. No OOS promotion gate was invented after inspection.</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Project/Time-Series-Modeling-Gen5/literature_studies/docs/GEN5_LIT_MOM_01_1_INTERDAY_TIME_SERIES_MOMENTUM_POC_CONTRACT.md</a:t>
            </a:r>
          </a:p>
          <a:p xmlns:a="http://schemas.openxmlformats.org/drawingml/2006/main">
            <a:r>
              <a:t>- C:/Users/Franc/OneDrive/Documents/Francis/Peltata Project/Time-Series-Modeling-Gen5/literature_studies/docs/GEN5_LIT_MOM_01_1_INTERDAY_MOMENTUM_RESULTS.md</a:t>
            </a:r>
          </a:p>
          <a:p xmlns:a="http://schemas.openxmlformats.org/drawingml/2006/main">
            <a:r>
              <a:t>- C:/Users/Franc/OneDrive/Documents/Francis/Peltata Project/Time-Series-Modeling-Gen5/runs/research_workbench/literature_grounded/lit_mom_01_1_interday_momentum_20260730_v6/lit_mom_01_1_run_spec.csv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DEVELOPMENT, the Chan min-step correlation fell to 0.0846 with nominal p=0.303 and sign accuracy 44%. The strict 65-session view had only 12 observations and negative correlation. The daily-overlapping view is descriptive because adjacent labels heavily reuse observations.</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Project/Time-Series-Modeling-Gen5/literature_studies/docs/GEN5_LIT_MOM_01_1_INTERDAY_MOMENTUM_RESULTS.md</a:t>
            </a:r>
          </a:p>
          <a:p xmlns:a="http://schemas.openxmlformats.org/drawingml/2006/main">
            <a:r>
              <a:t>- C:/Users/Franc/OneDrive/Documents/Francis/Peltata Project/Time-Series-Modeling-Gen5/runs/research_workbench/literature_grounded/lit_mom_01_1_interday_momentum_20260730_v6/development_correlation_summary.csv</a:t>
            </a:r>
          </a:p>
          <a:p xmlns:a="http://schemas.openxmlformats.org/drawingml/2006/main">
            <a:r>
              <a:t>- C:/Users/Franc/OneDrive/Documents/Francis/Peltata Project/Time-Series-Modeling-Gen5/runs/research_workbench/literature_grounded/lit_mom_01_1_interday_momentum_20260730_v6/development_direction_confusion.csv</a:t>
            </a:r>
          </a:p>
          <a:p xmlns:a="http://schemas.openxmlformats.org/drawingml/2006/main">
            <a:r>
              <a:t>- C:/Users/Franc/OneDrive/Documents/Francis/Peltata Project/Time-Series-Modeling-Gen5/runs/research_workbench/literature_grounded/lit_mom_01_1_interday_momentum_20260730_v6/visuals/development_correlation_views.png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2021–2023 gross strategy gained 2.22%, but primary-cost cumulative return was only 0.09%, adjusted Sharpe 0.03, and maximum drawdown 4.84%. Stress return was negative 3.56%. The result is economically flat under the ordinary cost convention and negative under stress.</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Project/Time-Series-Modeling-Gen5/literature_studies/docs/GEN5_LIT_MOM_01_1_INTERDAY_MOMENTUM_RESULTS.md</a:t>
            </a:r>
          </a:p>
          <a:p xmlns:a="http://schemas.openxmlformats.org/drawingml/2006/main">
            <a:r>
              <a:t>- C:/Users/Franc/OneDrive/Documents/Francis/Peltata Project/Time-Series-Modeling-Gen5/runs/research_workbench/literature_grounded/lit_mom_01_1_interday_momentum_20260730_v6/development_performance_metrics.csv</a:t>
            </a:r>
          </a:p>
          <a:p xmlns:a="http://schemas.openxmlformats.org/drawingml/2006/main">
            <a:r>
              <a:t>- C:/Users/Franc/OneDrive/Documents/Francis/Peltata Project/Time-Series-Modeling-Gen5/runs/research_workbench/literature_grounded/lit_mom_01_1_interday_momentum_20260730_v6/development_bar_replay.csv</a:t>
            </a:r>
          </a:p>
          <a:p xmlns:a="http://schemas.openxmlformats.org/drawingml/2006/main">
            <a:r>
              <a:t>- C:/Users/Franc/OneDrive/Documents/Francis/Peltata Project/Time-Series-Modeling-Gen5/runs/research_workbench/literature_grounded/lit_mom_01_1_interday_momentum_20260730_v6/visuals/development_equity_drawdown.png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 was asymmetric: 770 long sleeves were 60.3% directionally correct and averaged +5.1 bp gross, while 212 short sleeves were 44.8% correct and slightly negative gross. In OOS, long accuracy fell to 47.2%; short accuracy was 51.1%. Both directions were mildly positive gross but averaged about -8 to -9 bp after the frozen primary round-trip cost. This is why direction prediction and implementable P&amp;L must be audited separately.</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Project/Time-Series-Modeling-Gen5/literature_studies/docs/GEN5_LIT_MOM_01_1_INTERDAY_MOMENTUM_RESULTS.md</a:t>
            </a:r>
          </a:p>
          <a:p xmlns:a="http://schemas.openxmlformats.org/drawingml/2006/main">
            <a:r>
              <a:t>- C:/Users/Franc/OneDrive/Documents/Francis/Peltata Project/Time-Series-Modeling-Gen5/runs/research_workbench/literature_grounded/lit_mom_01_1_interday_momentum_20260730_v6/train_completed_sleeves.csv</a:t>
            </a:r>
          </a:p>
          <a:p xmlns:a="http://schemas.openxmlformats.org/drawingml/2006/main">
            <a:r>
              <a:t>- C:/Users/Franc/OneDrive/Documents/Francis/Peltata Project/Time-Series-Modeling-Gen5/runs/research_workbench/literature_grounded/lit_mom_01_1_interday_momentum_20260730_v6/development_completed_sleeves.csv</a:t>
            </a:r>
          </a:p>
          <a:p xmlns:a="http://schemas.openxmlformats.org/drawingml/2006/main">
            <a:r>
              <a:t>- C:/Users/Franc/OneDrive/Documents/Francis/Peltata Project/Time-Series-Modeling-Gen5/literature_studies/scripts/render_gen5_lit_mom_01_1_revisit_audit.R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important success is methodological: the POC reproduced Chan's horizon-screening logic, distinguished sparse inference from daily sleeve trading, and produced a causal OOS test. The strong TRAIN pattern did not survive economically. The recommended decision is STOP before sealed CONFIRMATION, with no post-hoc horizon rescue.</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Project/Time-Series-Modeling-Gen5/literature_studies/docs/GEN5_LIT_MOM_01_1_INTERDAY_MOMENTUM_RESULTS.md</a:t>
            </a:r>
          </a:p>
          <a:p xmlns:a="http://schemas.openxmlformats.org/drawingml/2006/main">
            <a:r>
              <a:t>- C:/Users/Franc/OneDrive/Documents/Francis/Peltata Project/Time-Series-Modeling-Gen5/literature_studies/docs/GEN5_LIT_MOM_01_1_INTERDAY_TIME_SERIES_MOMENTUM_POC_CONTRACT.md</a:t>
            </a:r>
          </a:p>
          <a:p xmlns:a="http://schemas.openxmlformats.org/drawingml/2006/main">
            <a:r>
              <a:t>- C:/Users/Franc/OneDrive/Documents/Francis/Peltata Project/Time-Series-Modeling-Gen5/runs/research_workbench/literature_grounded/lit_mom_01_1_interday_momentum_20260730_v6/lit_mom_01_1_report.md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c31e1d6f60f42d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9df1fe457f34308" /><Relationship Type="http://schemas.openxmlformats.org/officeDocument/2006/relationships/slideLayout" Target="/ppt/slideLayouts/slideLayout1.xml" Id="R662655f1d1644ba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62655f1d1644ba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173ee0cc4f74fec" /><Relationship Type="http://schemas.openxmlformats.org/officeDocument/2006/relationships/notesSlide" Target="/ppt/notesSlides/notesSlide1.xml" Id="R6b0f6fc27901443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f600d64a8f84c7c" /><Relationship Type="http://schemas.openxmlformats.org/officeDocument/2006/relationships/notesSlide" Target="/ppt/notesSlides/notesSlide2.xml" Id="Rd429f7593334409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e4914dd082e40e0" /><Relationship Type="http://schemas.openxmlformats.org/officeDocument/2006/relationships/notesSlide" Target="/ppt/notesSlides/notesSlide3.xml" Id="Rae0cd6f23662421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07186b7c1434d08" /><Relationship Type="http://schemas.openxmlformats.org/officeDocument/2006/relationships/notesSlide" Target="/ppt/notesSlides/notesSlide4.xml" Id="Rbc196f9181c6468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2ea1b7c513c45cf" /><Relationship Type="http://schemas.openxmlformats.org/officeDocument/2006/relationships/image" Target="/ppt/media/image.png" Id="Rcb36f3062de94d04" /><Relationship Type="http://schemas.openxmlformats.org/officeDocument/2006/relationships/notesSlide" Target="/ppt/notesSlides/notesSlide5.xml" Id="R470bdbf6f331441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d87da50e0a64627" /><Relationship Type="http://schemas.openxmlformats.org/officeDocument/2006/relationships/notesSlide" Target="/ppt/notesSlides/notesSlide6.xml" Id="Ra110aac4fb0d480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cd56f62e620425f" /><Relationship Type="http://schemas.openxmlformats.org/officeDocument/2006/relationships/notesSlide" Target="/ppt/notesSlides/notesSlide7.xml" Id="R09d294dad2614c9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d5ae5f3956d48be" /><Relationship Type="http://schemas.openxmlformats.org/officeDocument/2006/relationships/image" Target="/ppt/media/image2.png" Id="R1abc5b9983464340" /><Relationship Type="http://schemas.openxmlformats.org/officeDocument/2006/relationships/notesSlide" Target="/ppt/notesSlides/notesSlide8.xml" Id="R97c667d0beed499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e266de19351448c" /><Relationship Type="http://schemas.openxmlformats.org/officeDocument/2006/relationships/image" Target="/ppt/media/image3.png" Id="R4066ca337f7e48e0" /><Relationship Type="http://schemas.openxmlformats.org/officeDocument/2006/relationships/notesSlide" Target="/ppt/notesSlides/notesSlide9.xml" Id="Raf41e0ee67ba454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7fb623fab4b4de6" /><Relationship Type="http://schemas.openxmlformats.org/officeDocument/2006/relationships/notesSlide" Target="/ppt/notesSlides/notesSlide10.xml" Id="R607a3e2bba3c487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3be33f3391644d1" /><Relationship Type="http://schemas.openxmlformats.org/officeDocument/2006/relationships/image" Target="/ppt/media/image4.png" Id="R4361224cdccc47df" /><Relationship Type="http://schemas.openxmlformats.org/officeDocument/2006/relationships/notesSlide" Target="/ppt/notesSlides/notesSlide11.xml" Id="R05d52e0f907f4e9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9dd6f5a3e334917" /><Relationship Type="http://schemas.openxmlformats.org/officeDocument/2006/relationships/image" Target="/ppt/media/image5.png" Id="Rf5580eb04aee4dec" /><Relationship Type="http://schemas.openxmlformats.org/officeDocument/2006/relationships/notesSlide" Target="/ppt/notesSlides/notesSlide12.xml" Id="R650afb4007014c6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3641172a1854a7e" /><Relationship Type="http://schemas.openxmlformats.org/officeDocument/2006/relationships/image" Target="/ppt/media/image6.png" Id="R166a7e0b10f8476a" /><Relationship Type="http://schemas.openxmlformats.org/officeDocument/2006/relationships/notesSlide" Target="/ppt/notesSlides/notesSlide13.xml" Id="Rc43d5c9da37c49b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09f29e2272f4376" /><Relationship Type="http://schemas.openxmlformats.org/officeDocument/2006/relationships/notesSlide" Target="/ppt/notesSlides/notesSlide14.xml" Id="Rafde9744c2504276"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4" name="cover-headline">
            <a:extLst xmlns:a="http://schemas.openxmlformats.org/drawingml/2006/main">
              <a:ext uri="{FF2B5EF4-FFF2-40B4-BE49-F238E27FC236}">
                <a16:creationId xmlns:a16="http://schemas.microsoft.com/office/drawing/2014/main" id="{DA6318FA-2F99-4DF9-A744-06350F910925}"/>
              </a:ext>
            </a:extLst>
          </p:cNvPr>
          <p:cNvSpPr>
            <a:spLocks xmlns:a="http://schemas.openxmlformats.org/drawingml/2006/main" noGrp="1"/>
          </p:cNvSpPr>
          <p:nvPr/>
        </p:nvSpPr>
        <p:spPr>
          <a:xfrm xmlns:a="http://schemas.openxmlformats.org/drawingml/2006/main">
            <a:off x="393668" y="1738789"/>
            <a:ext cx="10287000" cy="2491454"/>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5700">
                <a:solidFill>
                  <a:srgbClr val="000000"/>
                </a:solidFill>
                <a:latin typeface="Helvetica Neue"/>
                <a:ea typeface="Helvetica Neue"/>
                <a:cs typeface="Helvetica Neue"/>
              </a:defRPr>
            </a:pPr>
            <a:r>
              <a:t>LIT-MOM-01.1</a:t>
            </a:r>
          </a:p>
          <a:p xmlns:a="http://schemas.openxmlformats.org/drawingml/2006/main">
            <a:pPr algn="l">
              <a:buNone/>
              <a:defRPr sz="5700">
                <a:solidFill>
                  <a:srgbClr val="000000"/>
                </a:solidFill>
                <a:latin typeface="Helvetica Neue"/>
                <a:ea typeface="Helvetica Neue"/>
                <a:cs typeface="Helvetica Neue"/>
              </a:defRPr>
            </a:pPr>
            <a:r>
              <a:t>interday momentum</a:t>
            </a:r>
          </a:p>
        </p:txBody>
      </p:sp>
      <p:sp>
        <p:nvSpPr>
          <p:cNvPr id="2" name="cover-subtitle">
            <a:extLst xmlns:a="http://schemas.openxmlformats.org/drawingml/2006/main">
              <a:ext uri="{FF2B5EF4-FFF2-40B4-BE49-F238E27FC236}">
                <a16:creationId xmlns:a16="http://schemas.microsoft.com/office/drawing/2014/main" id="{E169DF7F-9A3A-4AE2-8055-4ED350724D47}"/>
              </a:ext>
            </a:extLst>
          </p:cNvPr>
          <p:cNvSpPr>
            <a:spLocks xmlns:a="http://schemas.openxmlformats.org/drawingml/2006/main" noGrp="1"/>
          </p:cNvSpPr>
          <p:nvPr/>
        </p:nvSpPr>
        <p:spPr>
          <a:xfrm xmlns:a="http://schemas.openxmlformats.org/drawingml/2006/main">
            <a:off x="393668" y="4762500"/>
            <a:ext cx="8001000" cy="1238250"/>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250">
                <a:solidFill>
                  <a:srgbClr val="000000"/>
                </a:solidFill>
                <a:latin typeface="Helvetica Neue"/>
                <a:ea typeface="Helvetica Neue"/>
                <a:cs typeface="Helvetica Neue"/>
              </a:defRPr>
            </a:pPr>
            <a:r>
              <a:t>Reconstruct Chan's full Chapter 6 workflow: screen lookback and holding horizons in TRAIN, freeze one rule, then test the causal swing strategy out of sample.</a:t>
            </a:r>
          </a:p>
        </p:txBody>
      </p:sp>
      <p:sp>
        <p:nvSpPr>
          <p:cNvPr id="3" name="cover-eyebrow">
            <a:extLst xmlns:a="http://schemas.openxmlformats.org/drawingml/2006/main">
              <a:ext uri="{FF2B5EF4-FFF2-40B4-BE49-F238E27FC236}">
                <a16:creationId xmlns:a16="http://schemas.microsoft.com/office/drawing/2014/main" id="{D2399950-CA2D-41D2-BB2E-E681018A573E}"/>
              </a:ext>
            </a:extLst>
          </p:cNvPr>
          <p:cNvSpPr>
            <a:spLocks xmlns:a="http://schemas.openxmlformats.org/drawingml/2006/main" noGrp="1"/>
          </p:cNvSpPr>
          <p:nvPr/>
        </p:nvSpPr>
        <p:spPr>
          <a:xfrm xmlns:a="http://schemas.openxmlformats.org/drawingml/2006/main">
            <a:off x="393668" y="392240"/>
            <a:ext cx="7239000" cy="649129"/>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250">
                <a:solidFill>
                  <a:srgbClr val="000000"/>
                </a:solidFill>
                <a:latin typeface="Helvetica Neue"/>
                <a:ea typeface="Helvetica Neue"/>
                <a:cs typeface="Helvetica Neue"/>
              </a:defRPr>
            </a:pPr>
            <a:r>
              <a:t>LITERATURE-GROUNDED STRATEGY RESEARCH | 30 JUL 2026</a:t>
            </a:r>
          </a:p>
        </p:txBody>
      </p:sp>
    </p:spTree>
    <p:extLst>
      <p:ext uri="{BB962C8B-B14F-4D97-AF65-F5344CB8AC3E}">
        <p14:creationId xmlns:p14="http://schemas.microsoft.com/office/powerpoint/2010/main" val="209289339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3" name="stat-card-1">
            <a:extLst xmlns:a="http://schemas.openxmlformats.org/drawingml/2006/main">
              <a:ext uri="{FF2B5EF4-FFF2-40B4-BE49-F238E27FC236}">
                <a16:creationId xmlns:a16="http://schemas.microsoft.com/office/drawing/2014/main" id="{8D249104-692F-481F-82EC-326C84E9007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stat-card-2">
            <a:extLst xmlns:a="http://schemas.openxmlformats.org/drawingml/2006/main">
              <a:ext uri="{FF2B5EF4-FFF2-40B4-BE49-F238E27FC236}">
                <a16:creationId xmlns:a16="http://schemas.microsoft.com/office/drawing/2014/main" id="{02412AD9-1F13-493C-BF6C-FD8BDE750CD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stat-card-3">
            <a:extLst xmlns:a="http://schemas.openxmlformats.org/drawingml/2006/main">
              <a:ext uri="{FF2B5EF4-FFF2-40B4-BE49-F238E27FC236}">
                <a16:creationId xmlns:a16="http://schemas.microsoft.com/office/drawing/2014/main" id="{63597CCF-F233-4A0C-BCFA-192F852FDBEA}"/>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footer">
            <a:extLst xmlns:a="http://schemas.openxmlformats.org/drawingml/2006/main">
              <a:ext uri="{FF2B5EF4-FFF2-40B4-BE49-F238E27FC236}">
                <a16:creationId xmlns:a16="http://schemas.microsoft.com/office/drawing/2014/main" id="{11E272E4-82E7-4287-91C5-21E6B629F55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2</a:t>
            </a:r>
          </a:p>
        </p:txBody>
      </p:sp>
      <p:sp>
        <p:nvSpPr>
          <p:cNvPr id="5" name="title">
            <a:extLst xmlns:a="http://schemas.openxmlformats.org/drawingml/2006/main">
              <a:ext uri="{FF2B5EF4-FFF2-40B4-BE49-F238E27FC236}">
                <a16:creationId xmlns:a16="http://schemas.microsoft.com/office/drawing/2014/main" id="{A0ED332F-4F42-421E-99CF-097B6CBB5C1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Chan screens horizons before he trades 250/25</a:t>
            </a:r>
          </a:p>
        </p:txBody>
      </p:sp>
      <p:sp>
        <p:nvSpPr>
          <p:cNvPr id="6" name="intro">
            <a:extLst xmlns:a="http://schemas.openxmlformats.org/drawingml/2006/main">
              <a:ext uri="{FF2B5EF4-FFF2-40B4-BE49-F238E27FC236}">
                <a16:creationId xmlns:a16="http://schemas.microsoft.com/office/drawing/2014/main" id="{E3D1AF2D-950D-495D-BB07-182C768AD88F}"/>
              </a:ext>
            </a:extLst>
          </p:cNvPr>
          <p:cNvSpPr>
            <a:spLocks xmlns:a="http://schemas.openxmlformats.org/drawingml/2006/main" noGrp="1"/>
          </p:cNvSpPr>
          <p:nvPr/>
        </p:nvSpPr>
        <p:spPr>
          <a:xfrm xmlns:a="http://schemas.openxmlformats.org/drawingml/2006/main">
            <a:off x="393668" y="1219200"/>
            <a:ext cx="11404568" cy="142875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a:solidFill>
                  <a:srgbClr val="000000"/>
                </a:solidFill>
                <a:latin typeface="Helvetica Neue"/>
                <a:ea typeface="Helvetica Neue"/>
                <a:cs typeface="Helvetica Neue"/>
              </a:defRPr>
            </a:pPr>
            <a:r>
              <a:t>For every lookback L and holding period H, compare the sign and magnitude of the past L-session return with the next H-session return. Only after seeing the TRAIN table does Example 6.1 choose a practical rule.</a:t>
            </a:r>
          </a:p>
        </p:txBody>
      </p:sp>
      <p:sp>
        <p:nvSpPr>
          <p:cNvPr id="7" name="stat-1">
            <a:extLst xmlns:a="http://schemas.openxmlformats.org/drawingml/2006/main">
              <a:ext uri="{FF2B5EF4-FFF2-40B4-BE49-F238E27FC236}">
                <a16:creationId xmlns:a16="http://schemas.microsoft.com/office/drawing/2014/main" id="{447A29C0-2600-4241-BF6B-6797417FC507}"/>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3D8DFF"/>
                </a:solidFill>
                <a:latin typeface="Helvetica Neue"/>
                <a:ea typeface="Helvetica Neue"/>
                <a:cs typeface="Helvetica Neue"/>
              </a:defRPr>
            </a:pPr>
            <a:r>
              <a:t>49 cells</a:t>
            </a:r>
          </a:p>
        </p:txBody>
      </p:sp>
      <p:sp>
        <p:nvSpPr>
          <p:cNvPr id="8" name="stat-label-1">
            <a:extLst xmlns:a="http://schemas.openxmlformats.org/drawingml/2006/main">
              <a:ext uri="{FF2B5EF4-FFF2-40B4-BE49-F238E27FC236}">
                <a16:creationId xmlns:a16="http://schemas.microsoft.com/office/drawing/2014/main" id="{1D2A853D-A304-477D-B8B8-F77F0101AC08}"/>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L,H in {1,5,10,25,60,120,250}</a:t>
            </a:r>
          </a:p>
          <a:p xmlns:a="http://schemas.openxmlformats.org/drawingml/2006/main">
            <a:pPr algn="l">
              <a:buNone/>
              <a:defRPr sz="1575">
                <a:solidFill>
                  <a:srgbClr val="000000"/>
                </a:solidFill>
                <a:latin typeface="Helvetica Neue"/>
                <a:ea typeface="Helvetica Neue"/>
                <a:cs typeface="Helvetica Neue"/>
              </a:defRPr>
            </a:pPr>
            <a:r>
              <a:t>Correlation, p-value, support</a:t>
            </a:r>
          </a:p>
        </p:txBody>
      </p:sp>
      <p:sp>
        <p:nvSpPr>
          <p:cNvPr id="9" name="stat-2">
            <a:extLst xmlns:a="http://schemas.openxmlformats.org/drawingml/2006/main">
              <a:ext uri="{FF2B5EF4-FFF2-40B4-BE49-F238E27FC236}">
                <a16:creationId xmlns:a16="http://schemas.microsoft.com/office/drawing/2014/main" id="{342C60B8-5C35-4607-932D-DFD8E206B634}"/>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Freeze one</a:t>
            </a:r>
          </a:p>
        </p:txBody>
      </p:sp>
      <p:sp>
        <p:nvSpPr>
          <p:cNvPr id="10" name="stat-label-2">
            <a:extLst xmlns:a="http://schemas.openxmlformats.org/drawingml/2006/main">
              <a:ext uri="{FF2B5EF4-FFF2-40B4-BE49-F238E27FC236}">
                <a16:creationId xmlns:a16="http://schemas.microsoft.com/office/drawing/2014/main" id="{3123331A-6BB6-4FC3-B18C-EE98C6A8FF13}"/>
              </a:ext>
            </a:extLst>
          </p:cNvPr>
          <p:cNvSpPr>
            <a:spLocks xmlns:a="http://schemas.openxmlformats.org/drawingml/2006/main" noGrp="1"/>
          </p:cNvSpPr>
          <p:nvPr/>
        </p:nvSpPr>
        <p:spPr>
          <a:xfrm xmlns:a="http://schemas.openxmlformats.org/drawingml/2006/main">
            <a:off x="4612958"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Select inside TRAIN only</a:t>
            </a:r>
          </a:p>
          <a:p xmlns:a="http://schemas.openxmlformats.org/drawingml/2006/main">
            <a:pPr algn="l">
              <a:buNone/>
              <a:defRPr sz="1575">
                <a:solidFill>
                  <a:srgbClr val="000000"/>
                </a:solidFill>
                <a:latin typeface="Helvetica Neue"/>
                <a:ea typeface="Helvetica Neue"/>
                <a:cs typeface="Helvetica Neue"/>
              </a:defRPr>
            </a:pPr>
            <a:r>
              <a:t>No OOS horizon shopping</a:t>
            </a:r>
          </a:p>
        </p:txBody>
      </p:sp>
      <p:sp>
        <p:nvSpPr>
          <p:cNvPr id="11" name="stat-3">
            <a:extLst xmlns:a="http://schemas.openxmlformats.org/drawingml/2006/main">
              <a:ext uri="{FF2B5EF4-FFF2-40B4-BE49-F238E27FC236}">
                <a16:creationId xmlns:a16="http://schemas.microsoft.com/office/drawing/2014/main" id="{A0AD0C21-BC31-4957-B0CB-525311D4386F}"/>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Trade OOS</a:t>
            </a:r>
          </a:p>
        </p:txBody>
      </p:sp>
      <p:sp>
        <p:nvSpPr>
          <p:cNvPr id="12" name="stat-label-3">
            <a:extLst xmlns:a="http://schemas.openxmlformats.org/drawingml/2006/main">
              <a:ext uri="{FF2B5EF4-FFF2-40B4-BE49-F238E27FC236}">
                <a16:creationId xmlns:a16="http://schemas.microsoft.com/office/drawing/2014/main" id="{86C9D445-5711-4319-B967-D72E959CA06D}"/>
              </a:ext>
            </a:extLst>
          </p:cNvPr>
          <p:cNvSpPr>
            <a:spLocks xmlns:a="http://schemas.openxmlformats.org/drawingml/2006/main" noGrp="1"/>
          </p:cNvSpPr>
          <p:nvPr/>
        </p:nvSpPr>
        <p:spPr>
          <a:xfrm xmlns:a="http://schemas.openxmlformats.org/drawingml/2006/main">
            <a:off x="856240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Daily 1/H sleeves</a:t>
            </a:r>
          </a:p>
          <a:p xmlns:a="http://schemas.openxmlformats.org/drawingml/2006/main">
            <a:pPr algn="l">
              <a:buNone/>
              <a:defRPr sz="1575">
                <a:solidFill>
                  <a:srgbClr val="000000"/>
                </a:solidFill>
                <a:latin typeface="Helvetica Neue"/>
                <a:ea typeface="Helvetica Neue"/>
                <a:cs typeface="Helvetica Neue"/>
              </a:defRPr>
            </a:pPr>
            <a:r>
              <a:t>Next-open causal execution</a:t>
            </a:r>
          </a:p>
        </p:txBody>
      </p:sp>
    </p:spTree>
    <p:extLst>
      <p:ext uri="{BB962C8B-B14F-4D97-AF65-F5344CB8AC3E}">
        <p14:creationId xmlns:p14="http://schemas.microsoft.com/office/powerpoint/2010/main" val="2098249639"/>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3" name="stat-card-1">
            <a:extLst xmlns:a="http://schemas.openxmlformats.org/drawingml/2006/main">
              <a:ext uri="{FF2B5EF4-FFF2-40B4-BE49-F238E27FC236}">
                <a16:creationId xmlns:a16="http://schemas.microsoft.com/office/drawing/2014/main" id="{8D249104-692F-481F-82EC-326C84E9007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stat-card-2">
            <a:extLst xmlns:a="http://schemas.openxmlformats.org/drawingml/2006/main">
              <a:ext uri="{FF2B5EF4-FFF2-40B4-BE49-F238E27FC236}">
                <a16:creationId xmlns:a16="http://schemas.microsoft.com/office/drawing/2014/main" id="{02412AD9-1F13-493C-BF6C-FD8BDE750CD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stat-card-3">
            <a:extLst xmlns:a="http://schemas.openxmlformats.org/drawingml/2006/main">
              <a:ext uri="{FF2B5EF4-FFF2-40B4-BE49-F238E27FC236}">
                <a16:creationId xmlns:a16="http://schemas.microsoft.com/office/drawing/2014/main" id="{63597CCF-F233-4A0C-BCFA-192F852FDBEA}"/>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footer">
            <a:extLst xmlns:a="http://schemas.openxmlformats.org/drawingml/2006/main">
              <a:ext uri="{FF2B5EF4-FFF2-40B4-BE49-F238E27FC236}">
                <a16:creationId xmlns:a16="http://schemas.microsoft.com/office/drawing/2014/main" id="{11E272E4-82E7-4287-91C5-21E6B629F55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3</a:t>
            </a:r>
          </a:p>
        </p:txBody>
      </p:sp>
      <p:sp>
        <p:nvSpPr>
          <p:cNvPr id="5" name="title">
            <a:extLst xmlns:a="http://schemas.openxmlformats.org/drawingml/2006/main">
              <a:ext uri="{FF2B5EF4-FFF2-40B4-BE49-F238E27FC236}">
                <a16:creationId xmlns:a16="http://schemas.microsoft.com/office/drawing/2014/main" id="{A0ED332F-4F42-421E-99CF-097B6CBB5C1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Spacing choices trade sample size for independence</a:t>
            </a:r>
          </a:p>
        </p:txBody>
      </p:sp>
      <p:sp>
        <p:nvSpPr>
          <p:cNvPr id="6" name="intro">
            <a:extLst xmlns:a="http://schemas.openxmlformats.org/drawingml/2006/main">
              <a:ext uri="{FF2B5EF4-FFF2-40B4-BE49-F238E27FC236}">
                <a16:creationId xmlns:a16="http://schemas.microsoft.com/office/drawing/2014/main" id="{E3D1AF2D-950D-495D-BB07-182C768AD88F}"/>
              </a:ext>
            </a:extLst>
          </p:cNvPr>
          <p:cNvSpPr>
            <a:spLocks xmlns:a="http://schemas.openxmlformats.org/drawingml/2006/main" noGrp="1"/>
          </p:cNvSpPr>
          <p:nvPr/>
        </p:nvSpPr>
        <p:spPr>
          <a:xfrm xmlns:a="http://schemas.openxmlformats.org/drawingml/2006/main">
            <a:off x="393668" y="1219200"/>
            <a:ext cx="11404568" cy="142875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a:solidFill>
                  <a:srgbClr val="000000"/>
                </a:solidFill>
                <a:latin typeface="Helvetica Neue"/>
                <a:ea typeface="Helvetica Neue"/>
                <a:cs typeface="Helvetica Neue"/>
              </a:defRPr>
            </a:pPr>
            <a:r>
              <a:t>STEP_L directly answers a distinct-formation-episode question: one phase never reuses an L-session lookback. But H outcomes can still overlap—and, when H &lt; L, an outcome can enter the next lookback. Daily execution is a separate choice.</a:t>
            </a:r>
          </a:p>
        </p:txBody>
      </p:sp>
      <p:sp>
        <p:nvSpPr>
          <p:cNvPr id="7" name="stat-1">
            <a:extLst xmlns:a="http://schemas.openxmlformats.org/drawingml/2006/main">
              <a:ext uri="{FF2B5EF4-FFF2-40B4-BE49-F238E27FC236}">
                <a16:creationId xmlns:a16="http://schemas.microsoft.com/office/drawing/2014/main" id="{447A29C0-2600-4241-BF6B-6797417FC507}"/>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3D8DFF"/>
                </a:solidFill>
                <a:latin typeface="Helvetica Neue"/>
                <a:ea typeface="Helvetica Neue"/>
                <a:cs typeface="Helvetica Neue"/>
              </a:defRPr>
            </a:pPr>
            <a:r>
              <a:t>step min(L,H)</a:t>
            </a:r>
          </a:p>
        </p:txBody>
      </p:sp>
      <p:sp>
        <p:nvSpPr>
          <p:cNvPr id="8" name="stat-label-1">
            <a:extLst xmlns:a="http://schemas.openxmlformats.org/drawingml/2006/main">
              <a:ext uri="{FF2B5EF4-FFF2-40B4-BE49-F238E27FC236}">
                <a16:creationId xmlns:a16="http://schemas.microsoft.com/office/drawing/2014/main" id="{1D2A853D-A304-477D-B8B8-F77F0101AC08}"/>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Chan prose / shorter leg non-overlap</a:t>
            </a:r>
          </a:p>
          <a:p xmlns:a="http://schemas.openxmlformats.org/drawingml/2006/main">
            <a:pPr algn="l">
              <a:buNone/>
              <a:defRPr sz="1575">
                <a:solidFill>
                  <a:srgbClr val="000000"/>
                </a:solidFill>
                <a:latin typeface="Helvetica Neue"/>
                <a:ea typeface="Helvetica Neue"/>
                <a:cs typeface="Helvetica Neue"/>
              </a:defRPr>
            </a:pPr>
            <a:r>
              <a:t>Most supported pairs</a:t>
            </a:r>
          </a:p>
        </p:txBody>
      </p:sp>
      <p:sp>
        <p:nvSpPr>
          <p:cNvPr id="9" name="stat-2">
            <a:extLst xmlns:a="http://schemas.openxmlformats.org/drawingml/2006/main">
              <a:ext uri="{FF2B5EF4-FFF2-40B4-BE49-F238E27FC236}">
                <a16:creationId xmlns:a16="http://schemas.microsoft.com/office/drawing/2014/main" id="{342C60B8-5C35-4607-932D-DFD8E206B634}"/>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step L</a:t>
            </a:r>
          </a:p>
        </p:txBody>
      </p:sp>
      <p:sp>
        <p:nvSpPr>
          <p:cNvPr id="10" name="stat-label-2">
            <a:extLst xmlns:a="http://schemas.openxmlformats.org/drawingml/2006/main">
              <a:ext uri="{FF2B5EF4-FFF2-40B4-BE49-F238E27FC236}">
                <a16:creationId xmlns:a16="http://schemas.microsoft.com/office/drawing/2014/main" id="{3123331A-6BB6-4FC3-B18C-EE98C6A8FF13}"/>
              </a:ext>
            </a:extLst>
          </p:cNvPr>
          <p:cNvSpPr>
            <a:spLocks xmlns:a="http://schemas.openxmlformats.org/drawingml/2006/main" noGrp="1"/>
          </p:cNvSpPr>
          <p:nvPr/>
        </p:nvSpPr>
        <p:spPr>
          <a:xfrm xmlns:a="http://schemas.openxmlformats.org/drawingml/2006/main">
            <a:off x="4612958"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Distinct formation chunks</a:t>
            </a:r>
          </a:p>
          <a:p xmlns:a="http://schemas.openxmlformats.org/drawingml/2006/main">
            <a:pPr algn="l">
              <a:buNone/>
              <a:defRPr sz="1575">
                <a:solidFill>
                  <a:srgbClr val="000000"/>
                </a:solidFill>
                <a:latin typeface="Helvetica Neue"/>
                <a:ea typeface="Helvetica Neue"/>
                <a:cs typeface="Helvetica Neue"/>
              </a:defRPr>
            </a:pPr>
            <a:r>
              <a:t>H may overlap; phase matters</a:t>
            </a:r>
          </a:p>
        </p:txBody>
      </p:sp>
      <p:sp>
        <p:nvSpPr>
          <p:cNvPr id="11" name="stat-3">
            <a:extLst xmlns:a="http://schemas.openxmlformats.org/drawingml/2006/main">
              <a:ext uri="{FF2B5EF4-FFF2-40B4-BE49-F238E27FC236}">
                <a16:creationId xmlns:a16="http://schemas.microsoft.com/office/drawing/2014/main" id="{A0AD0C21-BC31-4957-B0CB-525311D4386F}"/>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step L+H</a:t>
            </a:r>
          </a:p>
        </p:txBody>
      </p:sp>
      <p:sp>
        <p:nvSpPr>
          <p:cNvPr id="12" name="stat-label-3">
            <a:extLst xmlns:a="http://schemas.openxmlformats.org/drawingml/2006/main">
              <a:ext uri="{FF2B5EF4-FFF2-40B4-BE49-F238E27FC236}">
                <a16:creationId xmlns:a16="http://schemas.microsoft.com/office/drawing/2014/main" id="{86C9D445-5711-4319-B967-D72E959CA06D}"/>
              </a:ext>
            </a:extLst>
          </p:cNvPr>
          <p:cNvSpPr>
            <a:spLocks xmlns:a="http://schemas.openxmlformats.org/drawingml/2006/main" noGrp="1"/>
          </p:cNvSpPr>
          <p:nvPr/>
        </p:nvSpPr>
        <p:spPr>
          <a:xfrm xmlns:a="http://schemas.openxmlformats.org/drawingml/2006/main">
            <a:off x="856240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No raw interval reused</a:t>
            </a:r>
          </a:p>
          <a:p xmlns:a="http://schemas.openxmlformats.org/drawingml/2006/main">
            <a:pPr algn="l">
              <a:buNone/>
              <a:defRPr sz="1575">
                <a:solidFill>
                  <a:srgbClr val="000000"/>
                </a:solidFill>
                <a:latin typeface="Helvetica Neue"/>
                <a:ea typeface="Helvetica Neue"/>
                <a:cs typeface="Helvetica Neue"/>
              </a:defRPr>
            </a:pPr>
            <a:r>
              <a:t>Strongest separation; fewest pairs</a:t>
            </a:r>
          </a:p>
        </p:txBody>
      </p:sp>
    </p:spTree>
    <p:extLst>
      <p:ext uri="{BB962C8B-B14F-4D97-AF65-F5344CB8AC3E}">
        <p14:creationId xmlns:p14="http://schemas.microsoft.com/office/powerpoint/2010/main" val="209824963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3" name="stat-card-1">
            <a:extLst xmlns:a="http://schemas.openxmlformats.org/drawingml/2006/main">
              <a:ext uri="{FF2B5EF4-FFF2-40B4-BE49-F238E27FC236}">
                <a16:creationId xmlns:a16="http://schemas.microsoft.com/office/drawing/2014/main" id="{8D249104-692F-481F-82EC-326C84E9007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stat-card-2">
            <a:extLst xmlns:a="http://schemas.openxmlformats.org/drawingml/2006/main">
              <a:ext uri="{FF2B5EF4-FFF2-40B4-BE49-F238E27FC236}">
                <a16:creationId xmlns:a16="http://schemas.microsoft.com/office/drawing/2014/main" id="{02412AD9-1F13-493C-BF6C-FD8BDE750CD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stat-card-3">
            <a:extLst xmlns:a="http://schemas.openxmlformats.org/drawingml/2006/main">
              <a:ext uri="{FF2B5EF4-FFF2-40B4-BE49-F238E27FC236}">
                <a16:creationId xmlns:a16="http://schemas.microsoft.com/office/drawing/2014/main" id="{63597CCF-F233-4A0C-BCFA-192F852FDBEA}"/>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footer">
            <a:extLst xmlns:a="http://schemas.openxmlformats.org/drawingml/2006/main">
              <a:ext uri="{FF2B5EF4-FFF2-40B4-BE49-F238E27FC236}">
                <a16:creationId xmlns:a16="http://schemas.microsoft.com/office/drawing/2014/main" id="{11E272E4-82E7-4287-91C5-21E6B629F55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4</a:t>
            </a:r>
          </a:p>
        </p:txBody>
      </p:sp>
      <p:sp>
        <p:nvSpPr>
          <p:cNvPr id="5" name="title">
            <a:extLst xmlns:a="http://schemas.openxmlformats.org/drawingml/2006/main">
              <a:ext uri="{FF2B5EF4-FFF2-40B4-BE49-F238E27FC236}">
                <a16:creationId xmlns:a16="http://schemas.microsoft.com/office/drawing/2014/main" id="{A0ED332F-4F42-421E-99CF-097B6CBB5C1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250/25 is an informed choice—not a magic optimum</a:t>
            </a:r>
          </a:p>
        </p:txBody>
      </p:sp>
      <p:sp>
        <p:nvSpPr>
          <p:cNvPr id="6" name="intro">
            <a:extLst xmlns:a="http://schemas.openxmlformats.org/drawingml/2006/main">
              <a:ext uri="{FF2B5EF4-FFF2-40B4-BE49-F238E27FC236}">
                <a16:creationId xmlns:a16="http://schemas.microsoft.com/office/drawing/2014/main" id="{E3D1AF2D-950D-495D-BB07-182C768AD88F}"/>
              </a:ext>
            </a:extLst>
          </p:cNvPr>
          <p:cNvSpPr>
            <a:spLocks xmlns:a="http://schemas.openxmlformats.org/drawingml/2006/main" noGrp="1"/>
          </p:cNvSpPr>
          <p:nvPr/>
        </p:nvSpPr>
        <p:spPr>
          <a:xfrm xmlns:a="http://schemas.openxmlformats.org/drawingml/2006/main">
            <a:off x="393668" y="1219200"/>
            <a:ext cx="11404568" cy="142875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a:solidFill>
                  <a:srgbClr val="000000"/>
                </a:solidFill>
                <a:latin typeface="Helvetica Neue"/>
                <a:ea typeface="Helvetica Neue"/>
                <a:cs typeface="Helvetica Neue"/>
              </a:defRPr>
            </a:pPr>
            <a:r>
              <a:t>Chan's TU table leaves several plausible cells. He favors a roughly 12-month signal with a roughly one-month hold: a practical correlation/p-value compromise and a direct bridge to the cited time-series-momentum literature.</a:t>
            </a:r>
          </a:p>
        </p:txBody>
      </p:sp>
      <p:sp>
        <p:nvSpPr>
          <p:cNvPr id="7" name="stat-1">
            <a:extLst xmlns:a="http://schemas.openxmlformats.org/drawingml/2006/main">
              <a:ext uri="{FF2B5EF4-FFF2-40B4-BE49-F238E27FC236}">
                <a16:creationId xmlns:a16="http://schemas.microsoft.com/office/drawing/2014/main" id="{447A29C0-2600-4241-BF6B-6797417FC507}"/>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3D8DFF"/>
                </a:solidFill>
                <a:latin typeface="Helvetica Neue"/>
                <a:ea typeface="Helvetica Neue"/>
                <a:cs typeface="Helvetica Neue"/>
              </a:defRPr>
            </a:pPr>
            <a:r>
              <a:t>250</a:t>
            </a:r>
          </a:p>
        </p:txBody>
      </p:sp>
      <p:sp>
        <p:nvSpPr>
          <p:cNvPr id="8" name="stat-label-1">
            <a:extLst xmlns:a="http://schemas.openxmlformats.org/drawingml/2006/main">
              <a:ext uri="{FF2B5EF4-FFF2-40B4-BE49-F238E27FC236}">
                <a16:creationId xmlns:a16="http://schemas.microsoft.com/office/drawing/2014/main" id="{1D2A853D-A304-477D-B8B8-F77F0101AC08}"/>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About 12 trading months</a:t>
            </a:r>
          </a:p>
          <a:p xmlns:a="http://schemas.openxmlformats.org/drawingml/2006/main">
            <a:pPr algn="l">
              <a:buNone/>
              <a:defRPr sz="1575">
                <a:solidFill>
                  <a:srgbClr val="000000"/>
                </a:solidFill>
                <a:latin typeface="Helvetica Neue"/>
                <a:ea typeface="Helvetica Neue"/>
                <a:cs typeface="Helvetica Neue"/>
              </a:defRPr>
            </a:pPr>
            <a:r>
              <a:t>Past-return sign</a:t>
            </a:r>
          </a:p>
        </p:txBody>
      </p:sp>
      <p:sp>
        <p:nvSpPr>
          <p:cNvPr id="9" name="stat-2">
            <a:extLst xmlns:a="http://schemas.openxmlformats.org/drawingml/2006/main">
              <a:ext uri="{FF2B5EF4-FFF2-40B4-BE49-F238E27FC236}">
                <a16:creationId xmlns:a16="http://schemas.microsoft.com/office/drawing/2014/main" id="{342C60B8-5C35-4607-932D-DFD8E206B634}"/>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25</a:t>
            </a:r>
          </a:p>
        </p:txBody>
      </p:sp>
      <p:sp>
        <p:nvSpPr>
          <p:cNvPr id="10" name="stat-label-2">
            <a:extLst xmlns:a="http://schemas.openxmlformats.org/drawingml/2006/main">
              <a:ext uri="{FF2B5EF4-FFF2-40B4-BE49-F238E27FC236}">
                <a16:creationId xmlns:a16="http://schemas.microsoft.com/office/drawing/2014/main" id="{3123331A-6BB6-4FC3-B18C-EE98C6A8FF13}"/>
              </a:ext>
            </a:extLst>
          </p:cNvPr>
          <p:cNvSpPr>
            <a:spLocks xmlns:a="http://schemas.openxmlformats.org/drawingml/2006/main" noGrp="1"/>
          </p:cNvSpPr>
          <p:nvPr/>
        </p:nvSpPr>
        <p:spPr>
          <a:xfrm xmlns:a="http://schemas.openxmlformats.org/drawingml/2006/main">
            <a:off x="4612958"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About one trading month</a:t>
            </a:r>
          </a:p>
          <a:p xmlns:a="http://schemas.openxmlformats.org/drawingml/2006/main">
            <a:pPr algn="l">
              <a:buNone/>
              <a:defRPr sz="1575">
                <a:solidFill>
                  <a:srgbClr val="000000"/>
                </a:solidFill>
                <a:latin typeface="Helvetica Neue"/>
                <a:ea typeface="Helvetica Neue"/>
                <a:cs typeface="Helvetica Neue"/>
              </a:defRPr>
            </a:pPr>
            <a:r>
              <a:t>Shorter practical hold</a:t>
            </a:r>
          </a:p>
        </p:txBody>
      </p:sp>
      <p:sp>
        <p:nvSpPr>
          <p:cNvPr id="11" name="stat-3">
            <a:extLst xmlns:a="http://schemas.openxmlformats.org/drawingml/2006/main">
              <a:ext uri="{FF2B5EF4-FFF2-40B4-BE49-F238E27FC236}">
                <a16:creationId xmlns:a16="http://schemas.microsoft.com/office/drawing/2014/main" id="{A0AD0C21-BC31-4957-B0CB-525311D4386F}"/>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not unique</a:t>
            </a:r>
          </a:p>
        </p:txBody>
      </p:sp>
      <p:sp>
        <p:nvSpPr>
          <p:cNvPr id="12" name="stat-label-3">
            <a:extLst xmlns:a="http://schemas.openxmlformats.org/drawingml/2006/main">
              <a:ext uri="{FF2B5EF4-FFF2-40B4-BE49-F238E27FC236}">
                <a16:creationId xmlns:a16="http://schemas.microsoft.com/office/drawing/2014/main" id="{86C9D445-5711-4319-B967-D72E959CA06D}"/>
              </a:ext>
            </a:extLst>
          </p:cNvPr>
          <p:cNvSpPr>
            <a:spLocks xmlns:a="http://schemas.openxmlformats.org/drawingml/2006/main" noGrp="1"/>
          </p:cNvSpPr>
          <p:nvPr/>
        </p:nvSpPr>
        <p:spPr>
          <a:xfrm xmlns:a="http://schemas.openxmlformats.org/drawingml/2006/main">
            <a:off x="856240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Other shortlisted cells exist</a:t>
            </a:r>
          </a:p>
          <a:p xmlns:a="http://schemas.openxmlformats.org/drawingml/2006/main">
            <a:pPr algn="l">
              <a:buNone/>
              <a:defRPr sz="1575">
                <a:solidFill>
                  <a:srgbClr val="000000"/>
                </a:solidFill>
                <a:latin typeface="Helvetica Neue"/>
                <a:ea typeface="Helvetica Neue"/>
                <a:cs typeface="Helvetica Neue"/>
              </a:defRPr>
            </a:pPr>
            <a:r>
              <a:t>The table precedes the example</a:t>
            </a:r>
          </a:p>
        </p:txBody>
      </p:sp>
    </p:spTree>
    <p:extLst>
      <p:ext uri="{BB962C8B-B14F-4D97-AF65-F5344CB8AC3E}">
        <p14:creationId xmlns:p14="http://schemas.microsoft.com/office/powerpoint/2010/main" val="2098249639"/>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6" name="footer">
            <a:extLst xmlns:a="http://schemas.openxmlformats.org/drawingml/2006/main">
              <a:ext uri="{FF2B5EF4-FFF2-40B4-BE49-F238E27FC236}">
                <a16:creationId xmlns:a16="http://schemas.microsoft.com/office/drawing/2014/main" id="{4F272998-B60C-44E0-849E-A04A87223BAE}"/>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5</a:t>
            </a:r>
          </a:p>
        </p:txBody>
      </p:sp>
      <p:sp>
        <p:nvSpPr>
          <p:cNvPr id="2" name="title">
            <a:extLst xmlns:a="http://schemas.openxmlformats.org/drawingml/2006/main">
              <a:ext uri="{FF2B5EF4-FFF2-40B4-BE49-F238E27FC236}">
                <a16:creationId xmlns:a16="http://schemas.microsoft.com/office/drawing/2014/main" id="{8A16F9E5-1AF4-43B0-AB25-E3AE98294DF6}"/>
              </a:ext>
            </a:extLst>
          </p:cNvPr>
          <p:cNvSpPr>
            <a:spLocks xmlns:a="http://schemas.openxmlformats.org/drawingml/2006/main" noGrp="1"/>
          </p:cNvSpPr>
          <p:nvPr/>
        </p:nvSpPr>
        <p:spPr>
          <a:xfrm xmlns:a="http://schemas.openxmlformats.org/drawingml/2006/main">
            <a:off x="393668" y="344043"/>
            <a:ext cx="5537168" cy="114300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Every close creates a new forecast—and one new sleeve</a:t>
            </a:r>
          </a:p>
        </p:txBody>
      </p:sp>
      <p:sp>
        <p:nvSpPr>
          <p:cNvPr id="3" name="image-backing">
            <a:extLst xmlns:a="http://schemas.openxmlformats.org/drawingml/2006/main">
              <a:ext uri="{FF2B5EF4-FFF2-40B4-BE49-F238E27FC236}">
                <a16:creationId xmlns:a16="http://schemas.microsoft.com/office/drawing/2014/main" id="{5EE0E946-4B2C-4DE9-8839-3DE0D30C8B61}"/>
              </a:ext>
            </a:extLst>
          </p:cNvPr>
          <p:cNvSpPr>
            <a:spLocks xmlns:a="http://schemas.openxmlformats.org/drawingml/2006/main" noGrp="1"/>
          </p:cNvSpPr>
          <p:nvPr/>
        </p:nvSpPr>
        <p:spPr>
          <a:xfrm xmlns:a="http://schemas.openxmlformats.org/drawingml/2006/main">
            <a:off x="6269069" y="396431"/>
            <a:ext cx="5539740" cy="5602034"/>
          </a:xfrm>
          <a:prstGeom xmlns:a="http://schemas.openxmlformats.org/drawingml/2006/main" prst="roundRect">
            <a:avLst>
              <a:gd name="adj" fmla="val 1376"/>
            </a:avLst>
          </a:prstGeom>
          <a:solidFill xmlns:a="http://schemas.openxmlformats.org/drawingml/2006/main">
            <a:srgbClr val="EAF5FB"/>
          </a:solidFill>
          <a:ln xmlns:a="http://schemas.openxmlformats.org/drawingml/2006/main" w="9525">
            <a:solidFill>
              <a:srgbClr val="B8BCC4"/>
            </a:solidFill>
            <a:prstDash val="solid"/>
          </a:ln>
        </p:spPr>
      </p:sp>
      <p:sp>
        <p:nvSpPr>
          <p:cNvPr id="4" name="body">
            <a:extLst xmlns:a="http://schemas.openxmlformats.org/drawingml/2006/main">
              <a:ext uri="{FF2B5EF4-FFF2-40B4-BE49-F238E27FC236}">
                <a16:creationId xmlns:a16="http://schemas.microsoft.com/office/drawing/2014/main" id="{3E0CA677-50AA-4CCF-BC5C-CB90210AF27E}"/>
              </a:ext>
            </a:extLst>
          </p:cNvPr>
          <p:cNvSpPr>
            <a:spLocks xmlns:a="http://schemas.openxmlformats.org/drawingml/2006/main" noGrp="1"/>
          </p:cNvSpPr>
          <p:nvPr/>
        </p:nvSpPr>
        <p:spPr>
          <a:xfrm xmlns:a="http://schemas.openxmlformats.org/drawingml/2006/main">
            <a:off x="393668" y="1695450"/>
            <a:ext cx="5537168" cy="4238625"/>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950">
                <a:solidFill>
                  <a:srgbClr val="000000"/>
                </a:solidFill>
                <a:latin typeface="Helvetica Neue"/>
                <a:ea typeface="Helvetica Neue"/>
                <a:cs typeface="Helvetica Neue"/>
              </a:defRPr>
            </a:pPr>
            <a:r>
              <a:t>sₜ = sign(Cₜ / Cₜ₋ₗ − 1)</a:t>
            </a:r>
          </a:p>
          <a:p xmlns:a="http://schemas.openxmlformats.org/drawingml/2006/main">
            <a:pPr algn="l">
              <a:buNone/>
              <a:defRPr sz="1950">
                <a:solidFill>
                  <a:srgbClr val="000000"/>
                </a:solidFill>
                <a:latin typeface="Helvetica Neue"/>
                <a:ea typeface="Helvetica Neue"/>
                <a:cs typeface="Helvetica Neue"/>
              </a:defRPr>
            </a:pPr>
            <a:r>
              <a:t/>
            </a:r>
          </a:p>
          <a:p xmlns:a="http://schemas.openxmlformats.org/drawingml/2006/main">
            <a:pPr algn="l">
              <a:buNone/>
              <a:defRPr sz="1950">
                <a:solidFill>
                  <a:srgbClr val="000000"/>
                </a:solidFill>
                <a:latin typeface="Helvetica Neue"/>
                <a:ea typeface="Helvetica Neue"/>
                <a:cs typeface="Helvetica Neue"/>
              </a:defRPr>
            </a:pPr>
            <a:r>
              <a:t>After each close, recompute s_t from the newest L-session window.</a:t>
            </a:r>
          </a:p>
          <a:p xmlns:a="http://schemas.openxmlformats.org/drawingml/2006/main">
            <a:pPr algn="l">
              <a:buNone/>
              <a:defRPr sz="1950">
                <a:solidFill>
                  <a:srgbClr val="000000"/>
                </a:solidFill>
                <a:latin typeface="Helvetica Neue"/>
                <a:ea typeface="Helvetica Neue"/>
                <a:cs typeface="Helvetica Neue"/>
              </a:defRPr>
            </a:pPr>
            <a:r>
              <a:t>At next open, add one sleeve of size 1/H.</a:t>
            </a:r>
          </a:p>
          <a:p xmlns:a="http://schemas.openxmlformats.org/drawingml/2006/main">
            <a:pPr algn="l">
              <a:buNone/>
              <a:defRPr sz="1950">
                <a:solidFill>
                  <a:srgbClr val="000000"/>
                </a:solidFill>
                <a:latin typeface="Helvetica Neue"/>
                <a:ea typeface="Helvetica Neue"/>
                <a:cs typeface="Helvetica Neue"/>
              </a:defRPr>
            </a:pPr>
            <a:r>
              <a:t>Each sleeve exits H opens after its own entry.</a:t>
            </a:r>
          </a:p>
          <a:p xmlns:a="http://schemas.openxmlformats.org/drawingml/2006/main">
            <a:pPr algn="l">
              <a:buNone/>
              <a:defRPr sz="1950">
                <a:solidFill>
                  <a:srgbClr val="000000"/>
                </a:solidFill>
                <a:latin typeface="Helvetica Neue"/>
                <a:ea typeface="Helvetica Neue"/>
                <a:cs typeface="Helvetica Neue"/>
              </a:defRPr>
            </a:pPr>
            <a:r>
              <a:t/>
            </a:r>
          </a:p>
          <a:p xmlns:a="http://schemas.openxmlformats.org/drawingml/2006/main">
            <a:pPr algn="l">
              <a:buNone/>
              <a:defRPr sz="1950">
                <a:solidFill>
                  <a:srgbClr val="000000"/>
                </a:solidFill>
                <a:latin typeface="Helvetica Neue"/>
                <a:ea typeface="Helvetica Neue"/>
                <a:cs typeface="Helvetica Neue"/>
              </a:defRPr>
            </a:pPr>
            <a:r>
              <a:t>wₜ = (1/H) Σₕ₌₁ᴴ sₜ₋ₕ</a:t>
            </a:r>
          </a:p>
          <a:p xmlns:a="http://schemas.openxmlformats.org/drawingml/2006/main">
            <a:pPr algn="l">
              <a:buNone/>
              <a:defRPr sz="1950">
                <a:solidFill>
                  <a:srgbClr val="000000"/>
                </a:solidFill>
                <a:latin typeface="Helvetica Neue"/>
                <a:ea typeface="Helvetica Neue"/>
                <a:cs typeface="Helvetica Neue"/>
              </a:defRPr>
            </a:pPr>
            <a:r>
              <a:t/>
            </a:r>
          </a:p>
          <a:p xmlns:a="http://schemas.openxmlformats.org/drawingml/2006/main">
            <a:pPr algn="l">
              <a:buNone/>
              <a:defRPr sz="1950">
                <a:solidFill>
                  <a:srgbClr val="000000"/>
                </a:solidFill>
                <a:latin typeface="Helvetica Neue"/>
                <a:ea typeface="Helvetica Neue"/>
                <a:cs typeface="Helvetica Neue"/>
              </a:defRPr>
            </a:pPr>
            <a:r>
              <a:t>Repeated signs are correlated updates—not independent confirmation.</a:t>
            </a:r>
          </a:p>
          <a:p xmlns:a="http://schemas.openxmlformats.org/drawingml/2006/main">
            <a:pPr algn="l">
              <a:buNone/>
              <a:defRPr sz="1950">
                <a:solidFill>
                  <a:srgbClr val="000000"/>
                </a:solidFill>
                <a:latin typeface="Helvetica Neue"/>
                <a:ea typeface="Helvetica Neue"/>
                <a:cs typeface="Helvetica Neue"/>
              </a:defRPr>
            </a:pPr>
            <a:r>
              <a:t>A reversal adds an opposing sleeve while older sleeves age out.</a:t>
            </a:r>
          </a:p>
        </p:txBody>
      </p:sp>
      <p:sp>
        <p:nvSpPr>
          <p:cNvPr id="8" name="">
            <a:extLst xmlns:a="http://schemas.openxmlformats.org/drawingml/2006/main">
              <a:ext uri="{FF2B5EF4-FFF2-40B4-BE49-F238E27FC236}">
                <a16:creationId xmlns:a16="http://schemas.microsoft.com/office/drawing/2014/main" id="{08228C7B-FAD1-4EFC-8057-453D13C988CF}"/>
              </a:ext>
            </a:extLst>
          </p:cNvPr>
          <p:cNvSpPr>
            <a:spLocks xmlns:a="http://schemas.openxmlformats.org/drawingml/2006/main" noGrp="1"/>
          </p:cNvSpPr>
          <p:nvPr/>
        </p:nvSpPr>
        <p:spPr>
          <a:xfrm xmlns:a="http://schemas.openxmlformats.org/drawingml/2006/main">
            <a:off x="6381750" y="1776196"/>
            <a:ext cx="5314950" cy="3019858"/>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cb36f3062de94d04"/>
          <a:stretch xmlns:a="http://schemas.openxmlformats.org/drawingml/2006/main"/>
        </p:blipFill>
        <p:spPr>
          <a:xfrm xmlns:a="http://schemas.openxmlformats.org/drawingml/2006/main" flipH="0" flipV="0">
            <a:off x="6381750" y="2009321"/>
            <a:ext cx="5238750" cy="2744107"/>
          </a:xfrm>
          <a:prstGeom xmlns:a="http://schemas.openxmlformats.org/drawingml/2006/main" prst="rect">
            <a:avLst/>
          </a:prstGeom>
        </p:spPr>
      </p:pic>
    </p:spTree>
    <p:extLst>
      <p:ext uri="{BB962C8B-B14F-4D97-AF65-F5344CB8AC3E}">
        <p14:creationId xmlns:p14="http://schemas.microsoft.com/office/powerpoint/2010/main" val="187334089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 name="stat-card-1">
            <a:extLst xmlns:a="http://schemas.openxmlformats.org/drawingml/2006/main">
              <a:ext uri="{FF2B5EF4-FFF2-40B4-BE49-F238E27FC236}">
                <a16:creationId xmlns:a16="http://schemas.microsoft.com/office/drawing/2014/main" id="{E92BF88A-D985-4E89-9220-AED80DBBCF70}"/>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stat-card-2">
            <a:extLst xmlns:a="http://schemas.openxmlformats.org/drawingml/2006/main">
              <a:ext uri="{FF2B5EF4-FFF2-40B4-BE49-F238E27FC236}">
                <a16:creationId xmlns:a16="http://schemas.microsoft.com/office/drawing/2014/main" id="{18F3FD71-2B01-497E-B7A5-AD72E3A3FA93}"/>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stat-card-3">
            <a:extLst xmlns:a="http://schemas.openxmlformats.org/drawingml/2006/main">
              <a:ext uri="{FF2B5EF4-FFF2-40B4-BE49-F238E27FC236}">
                <a16:creationId xmlns:a16="http://schemas.microsoft.com/office/drawing/2014/main" id="{A256A665-F93B-46DB-A120-F2929BE31EAA}"/>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footer">
            <a:extLst xmlns:a="http://schemas.openxmlformats.org/drawingml/2006/main">
              <a:ext uri="{FF2B5EF4-FFF2-40B4-BE49-F238E27FC236}">
                <a16:creationId xmlns:a16="http://schemas.microsoft.com/office/drawing/2014/main" id="{8B8FEAA9-7122-4602-AAFA-C856C71CAA69}"/>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6</a:t>
            </a:r>
          </a:p>
        </p:txBody>
      </p:sp>
      <p:sp>
        <p:nvSpPr>
          <p:cNvPr id="5" name="title">
            <a:extLst xmlns:a="http://schemas.openxmlformats.org/drawingml/2006/main">
              <a:ext uri="{FF2B5EF4-FFF2-40B4-BE49-F238E27FC236}">
                <a16:creationId xmlns:a16="http://schemas.microsoft.com/office/drawing/2014/main" id="{6B999DAA-321B-4DEF-AC22-1F41A5B8E8C7}"/>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SHY is a retail proxy—not the TU future</a:t>
            </a:r>
          </a:p>
        </p:txBody>
      </p:sp>
      <p:sp>
        <p:nvSpPr>
          <p:cNvPr id="6" name="intro">
            <a:extLst xmlns:a="http://schemas.openxmlformats.org/drawingml/2006/main">
              <a:ext uri="{FF2B5EF4-FFF2-40B4-BE49-F238E27FC236}">
                <a16:creationId xmlns:a16="http://schemas.microsoft.com/office/drawing/2014/main" id="{B83D39E3-1D42-4CA4-A507-6C07CD200977}"/>
              </a:ext>
            </a:extLst>
          </p:cNvPr>
          <p:cNvSpPr>
            <a:spLocks xmlns:a="http://schemas.openxmlformats.org/drawingml/2006/main" noGrp="1"/>
          </p:cNvSpPr>
          <p:nvPr/>
        </p:nvSpPr>
        <p:spPr>
          <a:xfrm xmlns:a="http://schemas.openxmlformats.org/drawingml/2006/main">
            <a:off x="393668" y="1219200"/>
            <a:ext cx="11404568" cy="142875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a:solidFill>
                  <a:srgbClr val="000000"/>
                </a:solidFill>
                <a:latin typeface="Helvetica Neue"/>
                <a:ea typeface="Helvetica Neue"/>
                <a:cs typeface="Helvetica Neue"/>
              </a:defRPr>
            </a:pPr>
            <a:r>
              <a:t>The source instrument is the two-year Treasury-note future. SHY is the closest Alpaca-tradable daily ETF maturity proxy available inside the opened provider scope, but its duration, roll, financing, tax, and short-borrow mechanics differ.</a:t>
            </a:r>
          </a:p>
        </p:txBody>
      </p:sp>
      <p:sp>
        <p:nvSpPr>
          <p:cNvPr id="7" name="stat-1">
            <a:extLst xmlns:a="http://schemas.openxmlformats.org/drawingml/2006/main">
              <a:ext uri="{FF2B5EF4-FFF2-40B4-BE49-F238E27FC236}">
                <a16:creationId xmlns:a16="http://schemas.microsoft.com/office/drawing/2014/main" id="{CE99FBCB-3F61-4E2C-9916-C8B37E005A45}"/>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64748B"/>
                </a:solidFill>
                <a:latin typeface="Helvetica Neue"/>
                <a:ea typeface="Helvetica Neue"/>
                <a:cs typeface="Helvetica Neue"/>
              </a:defRPr>
            </a:pPr>
            <a:r>
              <a:t>TU future</a:t>
            </a:r>
          </a:p>
        </p:txBody>
      </p:sp>
      <p:sp>
        <p:nvSpPr>
          <p:cNvPr id="8" name="stat-label-1">
            <a:extLst xmlns:a="http://schemas.openxmlformats.org/drawingml/2006/main">
              <a:ext uri="{FF2B5EF4-FFF2-40B4-BE49-F238E27FC236}">
                <a16:creationId xmlns:a16="http://schemas.microsoft.com/office/drawing/2014/main" id="{8D7A7BD1-1D20-421E-BAC5-DFF695BBE1AF}"/>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Chan's instrument</a:t>
            </a:r>
          </a:p>
          <a:p xmlns:a="http://schemas.openxmlformats.org/drawingml/2006/main">
            <a:pPr algn="l">
              <a:buNone/>
              <a:defRPr sz="1575">
                <a:solidFill>
                  <a:srgbClr val="000000"/>
                </a:solidFill>
                <a:latin typeface="Helvetica Neue"/>
                <a:ea typeface="Helvetica Neue"/>
                <a:cs typeface="Helvetica Neue"/>
              </a:defRPr>
            </a:pPr>
            <a:r>
              <a:t>Leveraged futures economics</a:t>
            </a:r>
          </a:p>
        </p:txBody>
      </p:sp>
      <p:sp>
        <p:nvSpPr>
          <p:cNvPr id="9" name="stat-2">
            <a:extLst xmlns:a="http://schemas.openxmlformats.org/drawingml/2006/main">
              <a:ext uri="{FF2B5EF4-FFF2-40B4-BE49-F238E27FC236}">
                <a16:creationId xmlns:a16="http://schemas.microsoft.com/office/drawing/2014/main" id="{E572DBE1-8080-407B-A0FF-815818B837E6}"/>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B42318"/>
                </a:solidFill>
                <a:latin typeface="Helvetica Neue"/>
                <a:ea typeface="Helvetica Neue"/>
                <a:cs typeface="Helvetica Neue"/>
              </a:defRPr>
            </a:pPr>
            <a:r>
              <a:t>SHY ETF</a:t>
            </a:r>
          </a:p>
        </p:txBody>
      </p:sp>
      <p:sp>
        <p:nvSpPr>
          <p:cNvPr id="10" name="stat-label-2">
            <a:extLst xmlns:a="http://schemas.openxmlformats.org/drawingml/2006/main">
              <a:ext uri="{FF2B5EF4-FFF2-40B4-BE49-F238E27FC236}">
                <a16:creationId xmlns:a16="http://schemas.microsoft.com/office/drawing/2014/main" id="{FD56EAD1-B269-48E0-9F23-33330F29DCE5}"/>
              </a:ext>
            </a:extLst>
          </p:cNvPr>
          <p:cNvSpPr>
            <a:spLocks xmlns:a="http://schemas.openxmlformats.org/drawingml/2006/main" noGrp="1"/>
          </p:cNvSpPr>
          <p:nvPr/>
        </p:nvSpPr>
        <p:spPr>
          <a:xfrm xmlns:a="http://schemas.openxmlformats.org/drawingml/2006/main">
            <a:off x="4612958"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1–3 year Treasury basket</a:t>
            </a:r>
          </a:p>
          <a:p xmlns:a="http://schemas.openxmlformats.org/drawingml/2006/main">
            <a:pPr algn="l">
              <a:buNone/>
              <a:defRPr sz="1575">
                <a:solidFill>
                  <a:srgbClr val="000000"/>
                </a:solidFill>
                <a:latin typeface="Helvetica Neue"/>
                <a:ea typeface="Helvetica Neue"/>
                <a:cs typeface="Helvetica Neue"/>
              </a:defRPr>
            </a:pPr>
            <a:r>
              <a:t>Adjusted daily retail bars</a:t>
            </a:r>
          </a:p>
        </p:txBody>
      </p:sp>
      <p:sp>
        <p:nvSpPr>
          <p:cNvPr id="11" name="stat-3">
            <a:extLst xmlns:a="http://schemas.openxmlformats.org/drawingml/2006/main">
              <a:ext uri="{FF2B5EF4-FFF2-40B4-BE49-F238E27FC236}">
                <a16:creationId xmlns:a16="http://schemas.microsoft.com/office/drawing/2014/main" id="{9C6C64B0-28CA-4923-800E-94342CB69146}"/>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3D8DFF"/>
                </a:solidFill>
                <a:latin typeface="Helvetica Neue"/>
                <a:ea typeface="Helvetica Neue"/>
                <a:cs typeface="Helvetica Neue"/>
              </a:defRPr>
            </a:pPr>
            <a:r>
              <a:t>POC only</a:t>
            </a:r>
          </a:p>
        </p:txBody>
      </p:sp>
      <p:sp>
        <p:nvSpPr>
          <p:cNvPr id="12" name="stat-label-3">
            <a:extLst xmlns:a="http://schemas.openxmlformats.org/drawingml/2006/main">
              <a:ext uri="{FF2B5EF4-FFF2-40B4-BE49-F238E27FC236}">
                <a16:creationId xmlns:a16="http://schemas.microsoft.com/office/drawing/2014/main" id="{0ED31E12-360E-4FDB-B429-1A6368F41685}"/>
              </a:ext>
            </a:extLst>
          </p:cNvPr>
          <p:cNvSpPr>
            <a:spLocks xmlns:a="http://schemas.openxmlformats.org/drawingml/2006/main" noGrp="1"/>
          </p:cNvSpPr>
          <p:nvPr/>
        </p:nvSpPr>
        <p:spPr>
          <a:xfrm xmlns:a="http://schemas.openxmlformats.org/drawingml/2006/main">
            <a:off x="856240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Borrow not proven</a:t>
            </a:r>
          </a:p>
          <a:p xmlns:a="http://schemas.openxmlformats.org/drawingml/2006/main">
            <a:pPr algn="l">
              <a:buNone/>
              <a:defRPr sz="1575">
                <a:solidFill>
                  <a:srgbClr val="000000"/>
                </a:solidFill>
                <a:latin typeface="Helvetica Neue"/>
                <a:ea typeface="Helvetica Neue"/>
                <a:cs typeface="Helvetica Neue"/>
              </a:defRPr>
            </a:pPr>
            <a:r>
              <a:t>No live or leverage authority</a:t>
            </a:r>
          </a:p>
        </p:txBody>
      </p:sp>
    </p:spTree>
    <p:extLst>
      <p:ext uri="{BB962C8B-B14F-4D97-AF65-F5344CB8AC3E}">
        <p14:creationId xmlns:p14="http://schemas.microsoft.com/office/powerpoint/2010/main" val="1500261740"/>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3" name="stat-card-1">
            <a:extLst xmlns:a="http://schemas.openxmlformats.org/drawingml/2006/main">
              <a:ext uri="{FF2B5EF4-FFF2-40B4-BE49-F238E27FC236}">
                <a16:creationId xmlns:a16="http://schemas.microsoft.com/office/drawing/2014/main" id="{8D249104-692F-481F-82EC-326C84E9007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stat-card-2">
            <a:extLst xmlns:a="http://schemas.openxmlformats.org/drawingml/2006/main">
              <a:ext uri="{FF2B5EF4-FFF2-40B4-BE49-F238E27FC236}">
                <a16:creationId xmlns:a16="http://schemas.microsoft.com/office/drawing/2014/main" id="{02412AD9-1F13-493C-BF6C-FD8BDE750CD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stat-card-3">
            <a:extLst xmlns:a="http://schemas.openxmlformats.org/drawingml/2006/main">
              <a:ext uri="{FF2B5EF4-FFF2-40B4-BE49-F238E27FC236}">
                <a16:creationId xmlns:a16="http://schemas.microsoft.com/office/drawing/2014/main" id="{63597CCF-F233-4A0C-BCFA-192F852FDBEA}"/>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footer">
            <a:extLst xmlns:a="http://schemas.openxmlformats.org/drawingml/2006/main">
              <a:ext uri="{FF2B5EF4-FFF2-40B4-BE49-F238E27FC236}">
                <a16:creationId xmlns:a16="http://schemas.microsoft.com/office/drawing/2014/main" id="{11E272E4-82E7-4287-91C5-21E6B629F55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7</a:t>
            </a:r>
          </a:p>
        </p:txBody>
      </p:sp>
      <p:sp>
        <p:nvSpPr>
          <p:cNvPr id="5" name="title">
            <a:extLst xmlns:a="http://schemas.openxmlformats.org/drawingml/2006/main">
              <a:ext uri="{FF2B5EF4-FFF2-40B4-BE49-F238E27FC236}">
                <a16:creationId xmlns:a16="http://schemas.microsoft.com/office/drawing/2014/main" id="{A0ED332F-4F42-421E-99CF-097B6CBB5C1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The book supplies the screen; the POC supplies transparent gates</a:t>
            </a:r>
          </a:p>
        </p:txBody>
      </p:sp>
      <p:sp>
        <p:nvSpPr>
          <p:cNvPr id="6" name="intro">
            <a:extLst xmlns:a="http://schemas.openxmlformats.org/drawingml/2006/main">
              <a:ext uri="{FF2B5EF4-FFF2-40B4-BE49-F238E27FC236}">
                <a16:creationId xmlns:a16="http://schemas.microsoft.com/office/drawing/2014/main" id="{E3D1AF2D-950D-495D-BB07-182C768AD88F}"/>
              </a:ext>
            </a:extLst>
          </p:cNvPr>
          <p:cNvSpPr>
            <a:spLocks xmlns:a="http://schemas.openxmlformats.org/drawingml/2006/main" noGrp="1"/>
          </p:cNvSpPr>
          <p:nvPr/>
        </p:nvSpPr>
        <p:spPr>
          <a:xfrm xmlns:a="http://schemas.openxmlformats.org/drawingml/2006/main">
            <a:off x="393668" y="1219200"/>
            <a:ext cx="11404568" cy="142875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a:solidFill>
                  <a:srgbClr val="000000"/>
                </a:solidFill>
                <a:latin typeface="Helvetica Neue"/>
                <a:ea typeface="Helvetica Neue"/>
                <a:cs typeface="Helvetica Neue"/>
              </a:defRPr>
            </a:pPr>
            <a:r>
              <a:t>Chan motivates the horizon correlation and trading mechanics. The six conjunctive thresholds below are our predeclared research controls, not claims about what the book prescribes.</a:t>
            </a:r>
          </a:p>
        </p:txBody>
      </p:sp>
      <p:sp>
        <p:nvSpPr>
          <p:cNvPr id="7" name="stat-1">
            <a:extLst xmlns:a="http://schemas.openxmlformats.org/drawingml/2006/main">
              <a:ext uri="{FF2B5EF4-FFF2-40B4-BE49-F238E27FC236}">
                <a16:creationId xmlns:a16="http://schemas.microsoft.com/office/drawing/2014/main" id="{447A29C0-2600-4241-BF6B-6797417FC507}"/>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3D8DFF"/>
                </a:solidFill>
                <a:latin typeface="Helvetica Neue"/>
                <a:ea typeface="Helvetica Neue"/>
                <a:cs typeface="Helvetica Neue"/>
              </a:defRPr>
            </a:pPr>
            <a:r>
              <a:t>G1–G3</a:t>
            </a:r>
          </a:p>
        </p:txBody>
      </p:sp>
      <p:sp>
        <p:nvSpPr>
          <p:cNvPr id="8" name="stat-label-1">
            <a:extLst xmlns:a="http://schemas.openxmlformats.org/drawingml/2006/main">
              <a:ext uri="{FF2B5EF4-FFF2-40B4-BE49-F238E27FC236}">
                <a16:creationId xmlns:a16="http://schemas.microsoft.com/office/drawing/2014/main" id="{1D2A853D-A304-477D-B8B8-F77F0101AC08}"/>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Integrity; selected r&gt;0 and p≤0.10</a:t>
            </a:r>
          </a:p>
          <a:p xmlns:a="http://schemas.openxmlformats.org/drawingml/2006/main">
            <a:pPr algn="l">
              <a:buNone/>
              <a:defRPr sz="1575">
                <a:solidFill>
                  <a:srgbClr val="000000"/>
                </a:solidFill>
                <a:latin typeface="Helvetica Neue"/>
                <a:ea typeface="Helvetica Neue"/>
                <a:cs typeface="Helvetica Neue"/>
              </a:defRPr>
            </a:pPr>
            <a:r>
              <a:t>≥20 screen pairs; ≥40 pairs/sleeves</a:t>
            </a:r>
          </a:p>
        </p:txBody>
      </p:sp>
      <p:sp>
        <p:nvSpPr>
          <p:cNvPr id="9" name="stat-2">
            <a:extLst xmlns:a="http://schemas.openxmlformats.org/drawingml/2006/main">
              <a:ext uri="{FF2B5EF4-FFF2-40B4-BE49-F238E27FC236}">
                <a16:creationId xmlns:a16="http://schemas.microsoft.com/office/drawing/2014/main" id="{342C60B8-5C35-4607-932D-DFD8E206B634}"/>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G4–G5</a:t>
            </a:r>
          </a:p>
        </p:txBody>
      </p:sp>
      <p:sp>
        <p:nvSpPr>
          <p:cNvPr id="10" name="stat-label-2">
            <a:extLst xmlns:a="http://schemas.openxmlformats.org/drawingml/2006/main">
              <a:ext uri="{FF2B5EF4-FFF2-40B4-BE49-F238E27FC236}">
                <a16:creationId xmlns:a16="http://schemas.microsoft.com/office/drawing/2014/main" id="{3123331A-6BB6-4FC3-B18C-EE98C6A8FF13}"/>
              </a:ext>
            </a:extLst>
          </p:cNvPr>
          <p:cNvSpPr>
            <a:spLocks xmlns:a="http://schemas.openxmlformats.org/drawingml/2006/main" noGrp="1"/>
          </p:cNvSpPr>
          <p:nvPr/>
        </p:nvSpPr>
        <p:spPr>
          <a:xfrm xmlns:a="http://schemas.openxmlformats.org/drawingml/2006/main">
            <a:off x="4612958"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Direction accuracy &gt;50%</a:t>
            </a:r>
          </a:p>
          <a:p xmlns:a="http://schemas.openxmlformats.org/drawingml/2006/main">
            <a:pPr algn="l">
              <a:buNone/>
              <a:defRPr sz="1575">
                <a:solidFill>
                  <a:srgbClr val="000000"/>
                </a:solidFill>
                <a:latin typeface="Helvetica Neue"/>
                <a:ea typeface="Helvetica Neue"/>
                <a:cs typeface="Helvetica Neue"/>
              </a:defRPr>
            </a:pPr>
            <a:r>
              <a:t>Net return &gt;0; adjusted Sharpe &gt;0</a:t>
            </a:r>
          </a:p>
        </p:txBody>
      </p:sp>
      <p:sp>
        <p:nvSpPr>
          <p:cNvPr id="11" name="stat-3">
            <a:extLst xmlns:a="http://schemas.openxmlformats.org/drawingml/2006/main">
              <a:ext uri="{FF2B5EF4-FFF2-40B4-BE49-F238E27FC236}">
                <a16:creationId xmlns:a16="http://schemas.microsoft.com/office/drawing/2014/main" id="{A0AD0C21-BC31-4957-B0CB-525311D4386F}"/>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3225">
                <a:solidFill>
                  <a:srgbClr val="000000"/>
                </a:solidFill>
                <a:latin typeface="Helvetica Neue"/>
                <a:ea typeface="Helvetica Neue"/>
                <a:cs typeface="Helvetica Neue"/>
              </a:defRPr>
            </a:pPr>
            <a:r>
              <a:t>G6</a:t>
            </a:r>
          </a:p>
        </p:txBody>
      </p:sp>
      <p:sp>
        <p:nvSpPr>
          <p:cNvPr id="12" name="stat-label-3">
            <a:extLst xmlns:a="http://schemas.openxmlformats.org/drawingml/2006/main">
              <a:ext uri="{FF2B5EF4-FFF2-40B4-BE49-F238E27FC236}">
                <a16:creationId xmlns:a16="http://schemas.microsoft.com/office/drawing/2014/main" id="{86C9D445-5711-4319-B967-D72E959CA06D}"/>
              </a:ext>
            </a:extLst>
          </p:cNvPr>
          <p:cNvSpPr>
            <a:spLocks xmlns:a="http://schemas.openxmlformats.org/drawingml/2006/main" noGrp="1"/>
          </p:cNvSpPr>
          <p:nvPr/>
        </p:nvSpPr>
        <p:spPr>
          <a:xfrm xmlns:a="http://schemas.openxmlformats.org/drawingml/2006/main">
            <a:off x="8562404" y="4900613"/>
            <a:ext cx="2949607" cy="819150"/>
          </a:xfrm>
          <a:prstGeom xmlns:a="http://schemas.openxmlformats.org/drawingml/2006/main" prst="rect">
            <a:avLst/>
          </a:prstGeom>
        </p:spPr>
        <p:txBody>
          <a:bodyPr xmlns:a="http://schemas.openxmlformats.org/drawingml/2006/main" lIns="0" tIns="45720" rIns="91440" bIns="45720" anchor="t">
            <a:normAutofit fontScale="100000"/>
          </a:bodyPr>
          <a:lstStyle xmlns:a="http://schemas.openxmlformats.org/drawingml/2006/main"/>
          <a:p xmlns:a="http://schemas.openxmlformats.org/drawingml/2006/main">
            <a:pPr algn="l">
              <a:buNone/>
              <a:defRPr sz="1575">
                <a:solidFill>
                  <a:srgbClr val="000000"/>
                </a:solidFill>
                <a:latin typeface="Helvetica Neue"/>
                <a:ea typeface="Helvetica Neue"/>
                <a:cs typeface="Helvetica Neue"/>
              </a:defRPr>
            </a:pPr>
            <a:r>
              <a:t>Stress return &gt;0</a:t>
            </a:r>
          </a:p>
          <a:p xmlns:a="http://schemas.openxmlformats.org/drawingml/2006/main">
            <a:pPr algn="l">
              <a:buNone/>
              <a:defRPr sz="1575">
                <a:solidFill>
                  <a:srgbClr val="000000"/>
                </a:solidFill>
                <a:latin typeface="Helvetica Neue"/>
                <a:ea typeface="Helvetica Neue"/>
                <a:cs typeface="Helvetica Neue"/>
              </a:defRPr>
            </a:pPr>
            <a:r>
              <a:t>At least 3 positive TRAIN years</a:t>
            </a:r>
          </a:p>
        </p:txBody>
      </p:sp>
    </p:spTree>
    <p:extLst>
      <p:ext uri="{BB962C8B-B14F-4D97-AF65-F5344CB8AC3E}">
        <p14:creationId xmlns:p14="http://schemas.microsoft.com/office/powerpoint/2010/main" val="209824963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6" name="footer">
            <a:extLst xmlns:a="http://schemas.openxmlformats.org/drawingml/2006/main">
              <a:ext uri="{FF2B5EF4-FFF2-40B4-BE49-F238E27FC236}">
                <a16:creationId xmlns:a16="http://schemas.microsoft.com/office/drawing/2014/main" id="{4F272998-B60C-44E0-849E-A04A87223BAE}"/>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8</a:t>
            </a:r>
          </a:p>
        </p:txBody>
      </p:sp>
      <p:sp>
        <p:nvSpPr>
          <p:cNvPr id="2" name="title">
            <a:extLst xmlns:a="http://schemas.openxmlformats.org/drawingml/2006/main">
              <a:ext uri="{FF2B5EF4-FFF2-40B4-BE49-F238E27FC236}">
                <a16:creationId xmlns:a16="http://schemas.microsoft.com/office/drawing/2014/main" id="{8A16F9E5-1AF4-43B0-AB25-E3AE98294DF6}"/>
              </a:ext>
            </a:extLst>
          </p:cNvPr>
          <p:cNvSpPr>
            <a:spLocks xmlns:a="http://schemas.openxmlformats.org/drawingml/2006/main" noGrp="1"/>
          </p:cNvSpPr>
          <p:nvPr/>
        </p:nvSpPr>
        <p:spPr>
          <a:xfrm xmlns:a="http://schemas.openxmlformats.org/drawingml/2006/main">
            <a:off x="393668" y="295275"/>
            <a:ext cx="11404568" cy="87630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TRAIN selected 60/5 from the frozen 49-cell horizon screen</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1abc5b9983464340"/>
          <a:stretch xmlns:a="http://schemas.openxmlformats.org/drawingml/2006/main"/>
        </p:blipFill>
        <p:spPr>
          <a:xfrm xmlns:a="http://schemas.openxmlformats.org/drawingml/2006/main">
            <a:off x="2595563" y="1143000"/>
            <a:ext cx="7000875" cy="5000625"/>
          </a:xfrm>
          <a:prstGeom xmlns:a="http://schemas.openxmlformats.org/drawingml/2006/main" prst="rect">
            <a:avLst/>
          </a:prstGeom>
        </p:spPr>
      </p:pic>
    </p:spTree>
    <p:extLst>
      <p:ext uri="{BB962C8B-B14F-4D97-AF65-F5344CB8AC3E}">
        <p14:creationId xmlns:p14="http://schemas.microsoft.com/office/powerpoint/2010/main" val="187334089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1" name="footer">
            <a:extLst xmlns:a="http://schemas.openxmlformats.org/drawingml/2006/main">
              <a:ext uri="{FF2B5EF4-FFF2-40B4-BE49-F238E27FC236}">
                <a16:creationId xmlns:a16="http://schemas.microsoft.com/office/drawing/2014/main" id="{231B1CDB-9946-498B-901E-0A0C9C772112}"/>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9</a:t>
            </a:r>
          </a:p>
        </p:txBody>
      </p:sp>
      <p:sp>
        <p:nvSpPr>
          <p:cNvPr id="2" name="title">
            <a:extLst xmlns:a="http://schemas.openxmlformats.org/drawingml/2006/main">
              <a:ext uri="{FF2B5EF4-FFF2-40B4-BE49-F238E27FC236}">
                <a16:creationId xmlns:a16="http://schemas.microsoft.com/office/drawing/2014/main" id="{EE1FC061-EE2C-48CF-9799-D8537102BA12}"/>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The selected 60/5 rule cleared every TRAIN gate</a:t>
            </a:r>
          </a:p>
        </p:txBody>
      </p:sp>
      <p:sp>
        <p:nvSpPr>
          <p:cNvPr id="3" name="left-stat-card">
            <a:extLst xmlns:a="http://schemas.openxmlformats.org/drawingml/2006/main">
              <a:ext uri="{FF2B5EF4-FFF2-40B4-BE49-F238E27FC236}">
                <a16:creationId xmlns:a16="http://schemas.microsoft.com/office/drawing/2014/main" id="{EF0AF18E-87A6-431F-8D4F-59EC894570D3}"/>
              </a:ext>
            </a:extLst>
          </p:cNvPr>
          <p:cNvSpPr>
            <a:spLocks xmlns:a="http://schemas.openxmlformats.org/drawingml/2006/main" noGrp="1"/>
          </p:cNvSpPr>
          <p:nvPr/>
        </p:nvSpPr>
        <p:spPr>
          <a:xfrm xmlns:a="http://schemas.openxmlformats.org/drawingml/2006/main">
            <a:off x="6272022" y="3360039"/>
            <a:ext cx="2581942" cy="2656523"/>
          </a:xfrm>
          <a:prstGeom xmlns:a="http://schemas.openxmlformats.org/drawingml/2006/main" prst="roundRect">
            <a:avLst>
              <a:gd name="adj" fmla="val 2951"/>
            </a:avLst>
          </a:prstGeom>
          <a:solidFill xmlns:a="http://schemas.openxmlformats.org/drawingml/2006/main">
            <a:srgbClr val="F2F2F2"/>
          </a:solidFill>
        </p:spPr>
      </p:sp>
      <p:sp>
        <p:nvSpPr>
          <p:cNvPr id="4" name="right-stat-card">
            <a:extLst xmlns:a="http://schemas.openxmlformats.org/drawingml/2006/main">
              <a:ext uri="{FF2B5EF4-FFF2-40B4-BE49-F238E27FC236}">
                <a16:creationId xmlns:a16="http://schemas.microsoft.com/office/drawing/2014/main" id="{9C01B021-FDE1-4776-B2EE-ACB76D126DAD}"/>
              </a:ext>
            </a:extLst>
          </p:cNvPr>
          <p:cNvSpPr>
            <a:spLocks xmlns:a="http://schemas.openxmlformats.org/drawingml/2006/main" noGrp="1"/>
          </p:cNvSpPr>
          <p:nvPr/>
        </p:nvSpPr>
        <p:spPr>
          <a:xfrm xmlns:a="http://schemas.openxmlformats.org/drawingml/2006/main">
            <a:off x="9224201" y="3360039"/>
            <a:ext cx="2581942" cy="2656523"/>
          </a:xfrm>
          <a:prstGeom xmlns:a="http://schemas.openxmlformats.org/drawingml/2006/main" prst="roundRect">
            <a:avLst>
              <a:gd name="adj" fmla="val 2951"/>
            </a:avLst>
          </a:prstGeom>
          <a:solidFill xmlns:a="http://schemas.openxmlformats.org/drawingml/2006/main">
            <a:srgbClr val="F2F2F2"/>
          </a:solidFill>
        </p:spPr>
      </p:sp>
      <p:sp>
        <p:nvSpPr>
          <p:cNvPr id="5" name="summary">
            <a:extLst xmlns:a="http://schemas.openxmlformats.org/drawingml/2006/main">
              <a:ext uri="{FF2B5EF4-FFF2-40B4-BE49-F238E27FC236}">
                <a16:creationId xmlns:a16="http://schemas.microsoft.com/office/drawing/2014/main" id="{A2F82FC1-3249-4254-ABAA-A2D0E0F95848}"/>
              </a:ext>
            </a:extLst>
          </p:cNvPr>
          <p:cNvSpPr>
            <a:spLocks xmlns:a="http://schemas.openxmlformats.org/drawingml/2006/main" noGrp="1"/>
          </p:cNvSpPr>
          <p:nvPr/>
        </p:nvSpPr>
        <p:spPr>
          <a:xfrm xmlns:a="http://schemas.openxmlformats.org/drawingml/2006/main">
            <a:off x="6261068" y="1714500"/>
            <a:ext cx="5539835" cy="1381125"/>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a:solidFill>
                  <a:srgbClr val="000000"/>
                </a:solidFill>
                <a:latin typeface="Helvetica Neue"/>
                <a:ea typeface="Helvetica Neue"/>
                <a:cs typeface="Helvetica Neue"/>
              </a:defRPr>
            </a:pPr>
            <a:r>
              <a:t>2017–2020 looked unusually clean: all six gates passed, including direction, ordinary costs, stress costs, and calendar stability. That earned exactly one frozen OOS replay—not an alpha claim.</a:t>
            </a:r>
          </a:p>
        </p:txBody>
      </p:sp>
      <p:sp>
        <p:nvSpPr>
          <p:cNvPr id="6" name="left-stat">
            <a:extLst xmlns:a="http://schemas.openxmlformats.org/drawingml/2006/main">
              <a:ext uri="{FF2B5EF4-FFF2-40B4-BE49-F238E27FC236}">
                <a16:creationId xmlns:a16="http://schemas.microsoft.com/office/drawing/2014/main" id="{06B274F5-6F7E-4432-B0F1-4874DA3CABBF}"/>
              </a:ext>
            </a:extLst>
          </p:cNvPr>
          <p:cNvSpPr>
            <a:spLocks xmlns:a="http://schemas.openxmlformats.org/drawingml/2006/main" noGrp="1"/>
          </p:cNvSpPr>
          <p:nvPr/>
        </p:nvSpPr>
        <p:spPr>
          <a:xfrm xmlns:a="http://schemas.openxmlformats.org/drawingml/2006/main">
            <a:off x="6509385" y="3579971"/>
            <a:ext cx="2133314" cy="1155859"/>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700">
                <a:solidFill>
                  <a:srgbClr val="B42318"/>
                </a:solidFill>
                <a:latin typeface="Helvetica Neue"/>
                <a:ea typeface="Helvetica Neue"/>
                <a:cs typeface="Helvetica Neue"/>
              </a:defRPr>
            </a:pPr>
            <a:r>
              <a:t>+6.55%</a:t>
            </a:r>
          </a:p>
        </p:txBody>
      </p:sp>
      <p:sp>
        <p:nvSpPr>
          <p:cNvPr id="7" name="left-stat-label">
            <a:extLst xmlns:a="http://schemas.openxmlformats.org/drawingml/2006/main">
              <a:ext uri="{FF2B5EF4-FFF2-40B4-BE49-F238E27FC236}">
                <a16:creationId xmlns:a16="http://schemas.microsoft.com/office/drawing/2014/main" id="{99D2BB32-1C11-4B29-AF23-ED9F32D0BCEB}"/>
              </a:ext>
            </a:extLst>
          </p:cNvPr>
          <p:cNvSpPr>
            <a:spLocks xmlns:a="http://schemas.openxmlformats.org/drawingml/2006/main" noGrp="1"/>
          </p:cNvSpPr>
          <p:nvPr/>
        </p:nvSpPr>
        <p:spPr>
          <a:xfrm xmlns:a="http://schemas.openxmlformats.org/drawingml/2006/main">
            <a:off x="6575965" y="4953000"/>
            <a:ext cx="2066735" cy="762000"/>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1500">
                <a:solidFill>
                  <a:srgbClr val="000000"/>
                </a:solidFill>
                <a:latin typeface="Helvetica Neue"/>
                <a:ea typeface="Helvetica Neue"/>
                <a:cs typeface="Helvetica Neue"/>
              </a:defRPr>
            </a:pPr>
            <a:r>
              <a:t>Primary-cost TRAIN</a:t>
            </a:r>
          </a:p>
          <a:p xmlns:a="http://schemas.openxmlformats.org/drawingml/2006/main">
            <a:pPr algn="l">
              <a:buNone/>
              <a:defRPr sz="1500">
                <a:solidFill>
                  <a:srgbClr val="000000"/>
                </a:solidFill>
                <a:latin typeface="Helvetica Neue"/>
                <a:ea typeface="Helvetica Neue"/>
                <a:cs typeface="Helvetica Neue"/>
              </a:defRPr>
            </a:pPr>
            <a:r>
              <a:t>Max drawdown −0.84%</a:t>
            </a:r>
          </a:p>
        </p:txBody>
      </p:sp>
      <p:sp>
        <p:nvSpPr>
          <p:cNvPr id="8" name="right-stat">
            <a:extLst xmlns:a="http://schemas.openxmlformats.org/drawingml/2006/main">
              <a:ext uri="{FF2B5EF4-FFF2-40B4-BE49-F238E27FC236}">
                <a16:creationId xmlns:a16="http://schemas.microsoft.com/office/drawing/2014/main" id="{2EAFD608-776D-46A1-95EA-79AF4E6F5599}"/>
              </a:ext>
            </a:extLst>
          </p:cNvPr>
          <p:cNvSpPr>
            <a:spLocks xmlns:a="http://schemas.openxmlformats.org/drawingml/2006/main" noGrp="1"/>
          </p:cNvSpPr>
          <p:nvPr/>
        </p:nvSpPr>
        <p:spPr>
          <a:xfrm xmlns:a="http://schemas.openxmlformats.org/drawingml/2006/main">
            <a:off x="9461564" y="3579971"/>
            <a:ext cx="2133314" cy="1155859"/>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700">
                <a:solidFill>
                  <a:srgbClr val="B42318"/>
                </a:solidFill>
                <a:latin typeface="Helvetica Neue"/>
                <a:ea typeface="Helvetica Neue"/>
                <a:cs typeface="Helvetica Neue"/>
              </a:defRPr>
            </a:pPr>
            <a:r>
              <a:t>1.55</a:t>
            </a:r>
          </a:p>
        </p:txBody>
      </p:sp>
      <p:sp>
        <p:nvSpPr>
          <p:cNvPr id="9" name="right-stat-label">
            <a:extLst xmlns:a="http://schemas.openxmlformats.org/drawingml/2006/main">
              <a:ext uri="{FF2B5EF4-FFF2-40B4-BE49-F238E27FC236}">
                <a16:creationId xmlns:a16="http://schemas.microsoft.com/office/drawing/2014/main" id="{691BF8AE-236E-4677-8EAF-3CF0D5A20DB6}"/>
              </a:ext>
            </a:extLst>
          </p:cNvPr>
          <p:cNvSpPr>
            <a:spLocks xmlns:a="http://schemas.openxmlformats.org/drawingml/2006/main" noGrp="1"/>
          </p:cNvSpPr>
          <p:nvPr/>
        </p:nvSpPr>
        <p:spPr>
          <a:xfrm xmlns:a="http://schemas.openxmlformats.org/drawingml/2006/main">
            <a:off x="9528143" y="4953000"/>
            <a:ext cx="2066735" cy="762000"/>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1500">
                <a:solidFill>
                  <a:srgbClr val="000000"/>
                </a:solidFill>
                <a:latin typeface="Helvetica Neue"/>
                <a:ea typeface="Helvetica Neue"/>
                <a:cs typeface="Helvetica Neue"/>
              </a:defRPr>
            </a:pPr>
            <a:r>
              <a:t>Autocorrelation-adjusted</a:t>
            </a:r>
          </a:p>
          <a:p xmlns:a="http://schemas.openxmlformats.org/drawingml/2006/main">
            <a:pPr algn="l">
              <a:buNone/>
              <a:defRPr sz="1500">
                <a:solidFill>
                  <a:srgbClr val="000000"/>
                </a:solidFill>
                <a:latin typeface="Helvetica Neue"/>
                <a:ea typeface="Helvetica Neue"/>
                <a:cs typeface="Helvetica Neue"/>
              </a:defRPr>
            </a:pPr>
            <a:r>
              <a:t>TRAIN Sharpe</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4066ca337f7e48e0"/>
          <a:stretch xmlns:a="http://schemas.openxmlformats.org/drawingml/2006/main"/>
        </p:blipFill>
        <p:spPr>
          <a:xfrm xmlns:a="http://schemas.openxmlformats.org/drawingml/2006/main">
            <a:off x="428625" y="2371045"/>
            <a:ext cx="5429250" cy="2973161"/>
          </a:xfrm>
          <a:prstGeom xmlns:a="http://schemas.openxmlformats.org/drawingml/2006/main" prst="rect">
            <a:avLst/>
          </a:prstGeom>
        </p:spPr>
      </p:pic>
    </p:spTree>
    <p:extLst>
      <p:ext uri="{BB962C8B-B14F-4D97-AF65-F5344CB8AC3E}">
        <p14:creationId xmlns:p14="http://schemas.microsoft.com/office/powerpoint/2010/main" val="91287502"/>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4" name="cover-headline">
            <a:extLst xmlns:a="http://schemas.openxmlformats.org/drawingml/2006/main">
              <a:ext uri="{FF2B5EF4-FFF2-40B4-BE49-F238E27FC236}">
                <a16:creationId xmlns:a16="http://schemas.microsoft.com/office/drawing/2014/main" id="{DA6318FA-2F99-4DF9-A744-06350F910925}"/>
              </a:ext>
            </a:extLst>
          </p:cNvPr>
          <p:cNvSpPr>
            <a:spLocks xmlns:a="http://schemas.openxmlformats.org/drawingml/2006/main" noGrp="1"/>
          </p:cNvSpPr>
          <p:nvPr/>
        </p:nvSpPr>
        <p:spPr>
          <a:xfrm xmlns:a="http://schemas.openxmlformats.org/drawingml/2006/main">
            <a:off x="393668" y="1738789"/>
            <a:ext cx="10287000" cy="2491454"/>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5700">
                <a:solidFill>
                  <a:srgbClr val="000000"/>
                </a:solidFill>
                <a:latin typeface="Helvetica Neue"/>
                <a:ea typeface="Helvetica Neue"/>
                <a:cs typeface="Helvetica Neue"/>
              </a:defRPr>
            </a:pPr>
            <a:r>
              <a:t>Now ask whether</a:t>
            </a:r>
          </a:p>
          <a:p xmlns:a="http://schemas.openxmlformats.org/drawingml/2006/main">
            <a:pPr algn="l">
              <a:buNone/>
              <a:defRPr sz="5700">
                <a:solidFill>
                  <a:srgbClr val="000000"/>
                </a:solidFill>
                <a:latin typeface="Helvetica Neue"/>
                <a:ea typeface="Helvetica Neue"/>
                <a:cs typeface="Helvetica Neue"/>
              </a:defRPr>
            </a:pPr>
            <a:r>
              <a:t>60/5 survives</a:t>
            </a:r>
          </a:p>
        </p:txBody>
      </p:sp>
      <p:sp>
        <p:nvSpPr>
          <p:cNvPr id="2" name="cover-subtitle">
            <a:extLst xmlns:a="http://schemas.openxmlformats.org/drawingml/2006/main">
              <a:ext uri="{FF2B5EF4-FFF2-40B4-BE49-F238E27FC236}">
                <a16:creationId xmlns:a16="http://schemas.microsoft.com/office/drawing/2014/main" id="{E169DF7F-9A3A-4AE2-8055-4ED350724D47}"/>
              </a:ext>
            </a:extLst>
          </p:cNvPr>
          <p:cNvSpPr>
            <a:spLocks xmlns:a="http://schemas.openxmlformats.org/drawingml/2006/main" noGrp="1"/>
          </p:cNvSpPr>
          <p:nvPr/>
        </p:nvSpPr>
        <p:spPr>
          <a:xfrm xmlns:a="http://schemas.openxmlformats.org/drawingml/2006/main">
            <a:off x="393668" y="4762500"/>
            <a:ext cx="8001000" cy="1238250"/>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250">
                <a:solidFill>
                  <a:srgbClr val="000000"/>
                </a:solidFill>
                <a:latin typeface="Helvetica Neue"/>
                <a:ea typeface="Helvetica Neue"/>
                <a:cs typeface="Helvetica Neue"/>
              </a:defRPr>
            </a:pPr>
            <a:r>
              <a:t>No horizon, threshold, cost, instrument, or direction is reselected after seeing DEVELOPMENT. The sealed 2024+ CONFIRMATION window remains untouched.</a:t>
            </a:r>
          </a:p>
        </p:txBody>
      </p:sp>
      <p:sp>
        <p:nvSpPr>
          <p:cNvPr id="3" name="cover-eyebrow">
            <a:extLst xmlns:a="http://schemas.openxmlformats.org/drawingml/2006/main">
              <a:ext uri="{FF2B5EF4-FFF2-40B4-BE49-F238E27FC236}">
                <a16:creationId xmlns:a16="http://schemas.microsoft.com/office/drawing/2014/main" id="{D2399950-CA2D-41D2-BB2E-E681018A573E}"/>
              </a:ext>
            </a:extLst>
          </p:cNvPr>
          <p:cNvSpPr>
            <a:spLocks xmlns:a="http://schemas.openxmlformats.org/drawingml/2006/main" noGrp="1"/>
          </p:cNvSpPr>
          <p:nvPr/>
        </p:nvSpPr>
        <p:spPr>
          <a:xfrm xmlns:a="http://schemas.openxmlformats.org/drawingml/2006/main">
            <a:off x="393668" y="392240"/>
            <a:ext cx="7239000" cy="649129"/>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250">
                <a:solidFill>
                  <a:srgbClr val="000000"/>
                </a:solidFill>
                <a:latin typeface="Helvetica Neue"/>
                <a:ea typeface="Helvetica Neue"/>
                <a:cs typeface="Helvetica Neue"/>
              </a:defRPr>
            </a:pPr>
            <a:r>
              <a:t>FROZEN OOS DEVELOPMENT | 2021–2023</a:t>
            </a:r>
          </a:p>
        </p:txBody>
      </p:sp>
    </p:spTree>
    <p:extLst>
      <p:ext uri="{BB962C8B-B14F-4D97-AF65-F5344CB8AC3E}">
        <p14:creationId xmlns:p14="http://schemas.microsoft.com/office/powerpoint/2010/main" val="2092893396"/>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6" name="footer">
            <a:extLst xmlns:a="http://schemas.openxmlformats.org/drawingml/2006/main">
              <a:ext uri="{FF2B5EF4-FFF2-40B4-BE49-F238E27FC236}">
                <a16:creationId xmlns:a16="http://schemas.microsoft.com/office/drawing/2014/main" id="{5D1F4916-B18D-4F3F-8812-75A699D9A639}"/>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11</a:t>
            </a:r>
          </a:p>
        </p:txBody>
      </p:sp>
      <p:sp>
        <p:nvSpPr>
          <p:cNvPr id="2" name="title">
            <a:extLst xmlns:a="http://schemas.openxmlformats.org/drawingml/2006/main">
              <a:ext uri="{FF2B5EF4-FFF2-40B4-BE49-F238E27FC236}">
                <a16:creationId xmlns:a16="http://schemas.microsoft.com/office/drawing/2014/main" id="{ECB77D9D-0CB0-4878-9A4A-2687A311CD30}"/>
              </a:ext>
            </a:extLst>
          </p:cNvPr>
          <p:cNvSpPr>
            <a:spLocks xmlns:a="http://schemas.openxmlformats.org/drawingml/2006/main" noGrp="1"/>
          </p:cNvSpPr>
          <p:nvPr/>
        </p:nvSpPr>
        <p:spPr>
          <a:xfrm xmlns:a="http://schemas.openxmlformats.org/drawingml/2006/main">
            <a:off x="393668" y="295275"/>
            <a:ext cx="11404568" cy="87630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The TRAIN predictive relationship weakened out of sample</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4361224cdccc47df"/>
          <a:stretch xmlns:a="http://schemas.openxmlformats.org/drawingml/2006/main"/>
        </p:blipFill>
        <p:spPr>
          <a:xfrm xmlns:a="http://schemas.openxmlformats.org/drawingml/2006/main">
            <a:off x="523875" y="1555474"/>
            <a:ext cx="11144250" cy="4118527"/>
          </a:xfrm>
          <a:prstGeom xmlns:a="http://schemas.openxmlformats.org/drawingml/2006/main" prst="rect">
            <a:avLst/>
          </a:prstGeom>
        </p:spPr>
      </p:pic>
    </p:spTree>
    <p:extLst>
      <p:ext uri="{BB962C8B-B14F-4D97-AF65-F5344CB8AC3E}">
        <p14:creationId xmlns:p14="http://schemas.microsoft.com/office/powerpoint/2010/main" val="463436756"/>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6" name="footer">
            <a:extLst xmlns:a="http://schemas.openxmlformats.org/drawingml/2006/main">
              <a:ext uri="{FF2B5EF4-FFF2-40B4-BE49-F238E27FC236}">
                <a16:creationId xmlns:a16="http://schemas.microsoft.com/office/drawing/2014/main" id="{5D1F4916-B18D-4F3F-8812-75A699D9A639}"/>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12</a:t>
            </a:r>
          </a:p>
        </p:txBody>
      </p:sp>
      <p:sp>
        <p:nvSpPr>
          <p:cNvPr id="2" name="title">
            <a:extLst xmlns:a="http://schemas.openxmlformats.org/drawingml/2006/main">
              <a:ext uri="{FF2B5EF4-FFF2-40B4-BE49-F238E27FC236}">
                <a16:creationId xmlns:a16="http://schemas.microsoft.com/office/drawing/2014/main" id="{ECB77D9D-0CB0-4878-9A4A-2687A311CD30}"/>
              </a:ext>
            </a:extLst>
          </p:cNvPr>
          <p:cNvSpPr>
            <a:spLocks xmlns:a="http://schemas.openxmlformats.org/drawingml/2006/main" noGrp="1"/>
          </p:cNvSpPr>
          <p:nvPr/>
        </p:nvSpPr>
        <p:spPr>
          <a:xfrm xmlns:a="http://schemas.openxmlformats.org/drawingml/2006/main">
            <a:off x="393668" y="295275"/>
            <a:ext cx="11404568" cy="87630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Gross movement existed; ordinary costs consumed almost all of it</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f5580eb04aee4dec"/>
          <a:stretch xmlns:a="http://schemas.openxmlformats.org/drawingml/2006/main"/>
        </p:blipFill>
        <p:spPr>
          <a:xfrm xmlns:a="http://schemas.openxmlformats.org/drawingml/2006/main">
            <a:off x="1617179" y="1162050"/>
            <a:ext cx="8957641" cy="4905375"/>
          </a:xfrm>
          <a:prstGeom xmlns:a="http://schemas.openxmlformats.org/drawingml/2006/main" prst="rect">
            <a:avLst/>
          </a:prstGeom>
        </p:spPr>
      </p:pic>
    </p:spTree>
    <p:extLst>
      <p:ext uri="{BB962C8B-B14F-4D97-AF65-F5344CB8AC3E}">
        <p14:creationId xmlns:p14="http://schemas.microsoft.com/office/powerpoint/2010/main" val="463436756"/>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6" name="footer">
            <a:extLst xmlns:a="http://schemas.openxmlformats.org/drawingml/2006/main">
              <a:ext uri="{FF2B5EF4-FFF2-40B4-BE49-F238E27FC236}">
                <a16:creationId xmlns:a16="http://schemas.microsoft.com/office/drawing/2014/main" id="{5D1F4916-B18D-4F3F-8812-75A699D9A639}"/>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13</a:t>
            </a:r>
          </a:p>
        </p:txBody>
      </p:sp>
      <p:sp>
        <p:nvSpPr>
          <p:cNvPr id="2" name="title">
            <a:extLst xmlns:a="http://schemas.openxmlformats.org/drawingml/2006/main">
              <a:ext uri="{FF2B5EF4-FFF2-40B4-BE49-F238E27FC236}">
                <a16:creationId xmlns:a16="http://schemas.microsoft.com/office/drawing/2014/main" id="{ECB77D9D-0CB0-4878-9A4A-2687A311CD30}"/>
              </a:ext>
            </a:extLst>
          </p:cNvPr>
          <p:cNvSpPr>
            <a:spLocks xmlns:a="http://schemas.openxmlformats.org/drawingml/2006/main" noGrp="1"/>
          </p:cNvSpPr>
          <p:nvPr/>
        </p:nvSpPr>
        <p:spPr>
          <a:xfrm xmlns:a="http://schemas.openxmlformats.org/drawingml/2006/main">
            <a:off x="393668" y="295275"/>
            <a:ext cx="11404568" cy="87630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TRAIN’s long-side signal did not survive OOS—or ordinary costs</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166a7e0b10f8476a"/>
          <a:stretch xmlns:a="http://schemas.openxmlformats.org/drawingml/2006/main"/>
        </p:blipFill>
        <p:spPr>
          <a:xfrm xmlns:a="http://schemas.openxmlformats.org/drawingml/2006/main" flipH="0" flipV="0">
            <a:off x="1190625" y="1162050"/>
            <a:ext cx="9810750" cy="4905375"/>
          </a:xfrm>
          <a:prstGeom xmlns:a="http://schemas.openxmlformats.org/drawingml/2006/main" prst="rect">
            <a:avLst/>
          </a:prstGeom>
        </p:spPr>
      </p:pic>
    </p:spTree>
    <p:extLst>
      <p:ext uri="{BB962C8B-B14F-4D97-AF65-F5344CB8AC3E}">
        <p14:creationId xmlns:p14="http://schemas.microsoft.com/office/powerpoint/2010/main" val="463436756"/>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4" name="cover-headline">
            <a:extLst xmlns:a="http://schemas.openxmlformats.org/drawingml/2006/main">
              <a:ext uri="{FF2B5EF4-FFF2-40B4-BE49-F238E27FC236}">
                <a16:creationId xmlns:a16="http://schemas.microsoft.com/office/drawing/2014/main" id="{E9F43BB9-4202-4A42-9916-7A06678333BD}"/>
              </a:ext>
            </a:extLst>
          </p:cNvPr>
          <p:cNvSpPr>
            <a:spLocks xmlns:a="http://schemas.openxmlformats.org/drawingml/2006/main" noGrp="1"/>
          </p:cNvSpPr>
          <p:nvPr/>
        </p:nvSpPr>
        <p:spPr>
          <a:xfrm xmlns:a="http://schemas.openxmlformats.org/drawingml/2006/main">
            <a:off x="393668" y="1738789"/>
            <a:ext cx="10287000" cy="2491454"/>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5700">
                <a:solidFill>
                  <a:srgbClr val="000000"/>
                </a:solidFill>
                <a:latin typeface="Helvetica Neue"/>
                <a:ea typeface="Helvetica Neue"/>
                <a:cs typeface="Helvetica Neue"/>
              </a:defRPr>
            </a:pPr>
            <a:r>
              <a:t>The workflow worked.</a:t>
            </a:r>
          </a:p>
          <a:p xmlns:a="http://schemas.openxmlformats.org/drawingml/2006/main">
            <a:pPr algn="l">
              <a:buNone/>
              <a:defRPr sz="5700">
                <a:solidFill>
                  <a:srgbClr val="000000"/>
                </a:solidFill>
                <a:latin typeface="Helvetica Neue"/>
                <a:ea typeface="Helvetica Neue"/>
                <a:cs typeface="Helvetica Neue"/>
              </a:defRPr>
            </a:pPr>
            <a:r>
              <a:t>The edge did not persist.</a:t>
            </a:r>
          </a:p>
        </p:txBody>
      </p:sp>
      <p:sp>
        <p:nvSpPr>
          <p:cNvPr id="2" name="cover-subtitle">
            <a:extLst xmlns:a="http://schemas.openxmlformats.org/drawingml/2006/main">
              <a:ext uri="{FF2B5EF4-FFF2-40B4-BE49-F238E27FC236}">
                <a16:creationId xmlns:a16="http://schemas.microsoft.com/office/drawing/2014/main" id="{F6F90063-BA30-438B-9FD3-13AA22719785}"/>
              </a:ext>
            </a:extLst>
          </p:cNvPr>
          <p:cNvSpPr>
            <a:spLocks xmlns:a="http://schemas.openxmlformats.org/drawingml/2006/main" noGrp="1"/>
          </p:cNvSpPr>
          <p:nvPr/>
        </p:nvSpPr>
        <p:spPr>
          <a:xfrm xmlns:a="http://schemas.openxmlformats.org/drawingml/2006/main">
            <a:off x="393668" y="4762500"/>
            <a:ext cx="8001000" cy="1238250"/>
          </a:xfrm>
          <a:prstGeom xmlns:a="http://schemas.openxmlformats.org/drawingml/2006/main" prst="rect">
            <a:avLst/>
          </a:prstGeom>
        </p:spPr>
        <p:txBody>
          <a:bodyPr xmlns:a="http://schemas.openxmlformats.org/drawingml/2006/main" lIns="0" tIns="0" rIns="0" bIns="0">
            <a:normAutofit fontScale="96955"/>
          </a:bodyPr>
          <a:lstStyle xmlns:a="http://schemas.openxmlformats.org/drawingml/2006/main"/>
          <a:p xmlns:a="http://schemas.openxmlformats.org/drawingml/2006/main">
            <a:pPr algn="l">
              <a:buNone/>
              <a:defRPr sz="2250">
                <a:solidFill>
                  <a:srgbClr val="000000"/>
                </a:solidFill>
                <a:latin typeface="Helvetica Neue"/>
                <a:ea typeface="Helvetica Neue"/>
                <a:cs typeface="Helvetica Neue"/>
              </a:defRPr>
            </a:pPr>
            <a:r>
              <a:t>Keep 250/25 as the canonical literature example and 60/5 as the frozen SHY result. Record the OOS falsification, stop before CONFIRMATION, and move to the next Chapter 6 exercise without reactive retuning.</a:t>
            </a:r>
          </a:p>
        </p:txBody>
      </p:sp>
      <p:sp>
        <p:nvSpPr>
          <p:cNvPr id="3" name="cover-eyebrow">
            <a:extLst xmlns:a="http://schemas.openxmlformats.org/drawingml/2006/main">
              <a:ext uri="{FF2B5EF4-FFF2-40B4-BE49-F238E27FC236}">
                <a16:creationId xmlns:a16="http://schemas.microsoft.com/office/drawing/2014/main" id="{45129715-75DE-4D50-B44D-3AFE3EBA3F0E}"/>
              </a:ext>
            </a:extLst>
          </p:cNvPr>
          <p:cNvSpPr>
            <a:spLocks xmlns:a="http://schemas.openxmlformats.org/drawingml/2006/main" noGrp="1"/>
          </p:cNvSpPr>
          <p:nvPr/>
        </p:nvSpPr>
        <p:spPr>
          <a:xfrm xmlns:a="http://schemas.openxmlformats.org/drawingml/2006/main">
            <a:off x="393668" y="392240"/>
            <a:ext cx="7239000" cy="649129"/>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250">
                <a:solidFill>
                  <a:srgbClr val="000000"/>
                </a:solidFill>
                <a:latin typeface="Helvetica Neue"/>
                <a:ea typeface="Helvetica Neue"/>
                <a:cs typeface="Helvetica Neue"/>
              </a:defRPr>
            </a:pPr>
            <a:r>
              <a:t>TEXTBOOK EXERCISE COMPLETE | RESEARCH DECISION</a:t>
            </a:r>
          </a:p>
        </p:txBody>
      </p:sp>
    </p:spTree>
    <p:extLst>
      <p:ext uri="{BB962C8B-B14F-4D97-AF65-F5344CB8AC3E}">
        <p14:creationId xmlns:p14="http://schemas.microsoft.com/office/powerpoint/2010/main" val="16642401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2026-08-02T10:31:30.9090000Z</dcterms:created>
  <dcterms:modified xsi:type="dcterms:W3CDTF">2026-08-02T10:31:30.9090000Z</dcterms:modified>
</coreProperties>
</file>