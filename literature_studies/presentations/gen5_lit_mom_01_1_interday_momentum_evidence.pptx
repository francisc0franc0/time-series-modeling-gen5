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f27657e0224af6" /><Relationship Type="http://schemas.openxmlformats.org/officeDocument/2006/relationships/extended-properties" Target="/docProps/app.xml" Id="R2fdee8de806942f6" /><Relationship Type="http://schemas.openxmlformats.org/officeDocument/2006/relationships/officeDocument" Target="/ppt/presentation.xml" Id="R12310becbc084462" /></Relationships>
</file>

<file path=ppt/presentation.xml><?xml version="1.0" encoding="utf-8"?>
<p:presentation xmlns:p="http://schemas.openxmlformats.org/presentationml/2006/main">
  <p:sldMasterIdLst>
    <p:sldMasterId xmlns:r="http://schemas.openxmlformats.org/officeDocument/2006/relationships" id="2147483648" r:id="Ree9fca7d85e6449c"/>
  </p:sldMasterIdLst>
  <p:notesMasterIdLst>
    <p:notesMasterId xmlns:r="http://schemas.openxmlformats.org/officeDocument/2006/relationships" r:id="R9c454d1bec744c06"/>
  </p:notesMasterIdLst>
  <p:sldIdLst>
    <p:sldId xmlns:r="http://schemas.openxmlformats.org/officeDocument/2006/relationships" id="256" r:id="Rf25f8130c1a94689"/>
    <p:sldId xmlns:r="http://schemas.openxmlformats.org/officeDocument/2006/relationships" id="257" r:id="R340d4b8b3a994e97"/>
    <p:sldId xmlns:r="http://schemas.openxmlformats.org/officeDocument/2006/relationships" id="258" r:id="R98aff73773ac470b"/>
    <p:sldId xmlns:r="http://schemas.openxmlformats.org/officeDocument/2006/relationships" id="259" r:id="R4c396558efe34c16"/>
    <p:sldId xmlns:r="http://schemas.openxmlformats.org/officeDocument/2006/relationships" id="260" r:id="Ree7cbe61bc8e4835"/>
    <p:sldId xmlns:r="http://schemas.openxmlformats.org/officeDocument/2006/relationships" id="261" r:id="Rcd6c9a4db6ff4efb"/>
    <p:sldId xmlns:r="http://schemas.openxmlformats.org/officeDocument/2006/relationships" id="262" r:id="R97d988102d294f95"/>
    <p:sldId xmlns:r="http://schemas.openxmlformats.org/officeDocument/2006/relationships" id="263" r:id="R479c6111bc894d1c"/>
    <p:sldId xmlns:r="http://schemas.openxmlformats.org/officeDocument/2006/relationships" id="264" r:id="Rcd34c39cd1ff4add"/>
    <p:sldId xmlns:r="http://schemas.openxmlformats.org/officeDocument/2006/relationships" id="265" r:id="Rdc5c2dbf82d848c9"/>
    <p:sldId xmlns:r="http://schemas.openxmlformats.org/officeDocument/2006/relationships" id="266" r:id="Rf5d5e69bedaa414e"/>
    <p:sldId xmlns:r="http://schemas.openxmlformats.org/officeDocument/2006/relationships" id="267" r:id="R518f9a9740a544d6"/>
    <p:sldId xmlns:r="http://schemas.openxmlformats.org/officeDocument/2006/relationships" id="268" r:id="Ra31d76ff7ae64443"/>
    <p:sldId xmlns:r="http://schemas.openxmlformats.org/officeDocument/2006/relationships" id="269" r:id="Rca6db9d4e5854d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56990007084a68" /><Relationship Type="http://schemas.openxmlformats.org/officeDocument/2006/relationships/slideMaster" Target="/ppt/slideMasters/slideMaster1.xml" Id="Ree9fca7d85e6449c" /><Relationship Type="http://schemas.openxmlformats.org/officeDocument/2006/relationships/notesMaster" Target="/ppt/notesMasters/notesMaster1.xml" Id="R9c454d1bec744c06" /><Relationship Type="http://schemas.openxmlformats.org/officeDocument/2006/relationships/presProps" Target="/ppt/presProps.xml" Id="R27d5d466e2484a0b" /><Relationship Type="http://schemas.openxmlformats.org/officeDocument/2006/relationships/tableStyles" Target="/ppt/tableStyles.xml" Id="R4c6e796510f04662" /><Relationship Type="http://schemas.openxmlformats.org/officeDocument/2006/relationships/slide" Target="/ppt/slides/slide1.xml" Id="Rf25f8130c1a94689" /><Relationship Type="http://schemas.openxmlformats.org/officeDocument/2006/relationships/slide" Target="/ppt/slides/slide2.xml" Id="R340d4b8b3a994e97" /><Relationship Type="http://schemas.openxmlformats.org/officeDocument/2006/relationships/slide" Target="/ppt/slides/slide3.xml" Id="R98aff73773ac470b" /><Relationship Type="http://schemas.openxmlformats.org/officeDocument/2006/relationships/slide" Target="/ppt/slides/slide4.xml" Id="R4c396558efe34c16" /><Relationship Type="http://schemas.openxmlformats.org/officeDocument/2006/relationships/slide" Target="/ppt/slides/slide5.xml" Id="Ree7cbe61bc8e4835" /><Relationship Type="http://schemas.openxmlformats.org/officeDocument/2006/relationships/slide" Target="/ppt/slides/slide6.xml" Id="Rcd6c9a4db6ff4efb" /><Relationship Type="http://schemas.openxmlformats.org/officeDocument/2006/relationships/slide" Target="/ppt/slides/slide7.xml" Id="R97d988102d294f95" /><Relationship Type="http://schemas.openxmlformats.org/officeDocument/2006/relationships/slide" Target="/ppt/slides/slide8.xml" Id="R479c6111bc894d1c" /><Relationship Type="http://schemas.openxmlformats.org/officeDocument/2006/relationships/slide" Target="/ppt/slides/slide9.xml" Id="Rcd34c39cd1ff4add" /><Relationship Type="http://schemas.openxmlformats.org/officeDocument/2006/relationships/slide" Target="/ppt/slides/slide10.xml" Id="Rdc5c2dbf82d848c9" /><Relationship Type="http://schemas.openxmlformats.org/officeDocument/2006/relationships/slide" Target="/ppt/slides/slide11.xml" Id="Rf5d5e69bedaa414e" /><Relationship Type="http://schemas.openxmlformats.org/officeDocument/2006/relationships/slide" Target="/ppt/slides/slide12.xml" Id="R518f9a9740a544d6" /><Relationship Type="http://schemas.openxmlformats.org/officeDocument/2006/relationships/slide" Target="/ppt/slides/slide13.xml" Id="Ra31d76ff7ae64443" /><Relationship Type="http://schemas.openxmlformats.org/officeDocument/2006/relationships/slide" Target="/ppt/slides/slide14.xml" Id="Rca6db9d4e5854d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aa95a4e2804a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812f3495b4412c" /><Relationship Type="http://schemas.openxmlformats.org/officeDocument/2006/relationships/notesMaster" Target="/ppt/notesMasters/notesMaster1.xml" Id="R0141878b64d449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7fea58faf8445c" /><Relationship Type="http://schemas.openxmlformats.org/officeDocument/2006/relationships/notesMaster" Target="/ppt/notesMasters/notesMaster1.xml" Id="R422e1cc23da849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bed2c3d77d47d6" /><Relationship Type="http://schemas.openxmlformats.org/officeDocument/2006/relationships/notesMaster" Target="/ppt/notesMasters/notesMaster1.xml" Id="R505af29184f94e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b1ed645e8a4f13" /><Relationship Type="http://schemas.openxmlformats.org/officeDocument/2006/relationships/notesMaster" Target="/ppt/notesMasters/notesMaster1.xml" Id="R78df66a8b9f94d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524a65143e4605" /><Relationship Type="http://schemas.openxmlformats.org/officeDocument/2006/relationships/notesMaster" Target="/ppt/notesMasters/notesMaster1.xml" Id="Rbc2f138e526f47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254586ec3442b8" /><Relationship Type="http://schemas.openxmlformats.org/officeDocument/2006/relationships/notesMaster" Target="/ppt/notesMasters/notesMaster1.xml" Id="Rab22bf306c144a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efea206eaf42cd" /><Relationship Type="http://schemas.openxmlformats.org/officeDocument/2006/relationships/notesMaster" Target="/ppt/notesMasters/notesMaster1.xml" Id="R1303480e63ef41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9bb25de01e4ac5" /><Relationship Type="http://schemas.openxmlformats.org/officeDocument/2006/relationships/notesMaster" Target="/ppt/notesMasters/notesMaster1.xml" Id="R696d80afd63f41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72af7facb846b8" /><Relationship Type="http://schemas.openxmlformats.org/officeDocument/2006/relationships/notesMaster" Target="/ppt/notesMasters/notesMaster1.xml" Id="Rfee74eceda9c40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43bf7bd3ec4da4" /><Relationship Type="http://schemas.openxmlformats.org/officeDocument/2006/relationships/notesMaster" Target="/ppt/notesMasters/notesMaster1.xml" Id="R1d7f97c8ffc34c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f3644b430b4525" /><Relationship Type="http://schemas.openxmlformats.org/officeDocument/2006/relationships/notesMaster" Target="/ppt/notesMasters/notesMaster1.xml" Id="Re7b76f19f2da44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e12928755745e7" /><Relationship Type="http://schemas.openxmlformats.org/officeDocument/2006/relationships/notesMaster" Target="/ppt/notesMasters/notesMaster1.xml" Id="R2fd76afcfd8d46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ad12c664fb4300" /><Relationship Type="http://schemas.openxmlformats.org/officeDocument/2006/relationships/notesMaster" Target="/ppt/notesMasters/notesMaster1.xml" Id="R53e2eaa5772241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bad722157448b4" /><Relationship Type="http://schemas.openxmlformats.org/officeDocument/2006/relationships/notesMaster" Target="/ppt/notesMasters/notesMaster1.xml" Id="R7ee7da602c1e4a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treats Example 6.1 as a two-stage research exercise. The 250/25 rule is a literature-selected example, not an arbitrary starting parameter and not automatically the selected SHY rule.</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135–139; PDF pages 153–157</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Project/Time-Series-Modeling-Gen5/literature_studies/docs/GEN5_LIT_MOM_01_1_INTERDAY_MOMENTUM_RESULTS.md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stage is a 7-by-7 table of past/future return correlations. Chan then narrows the candidates and chooses 250/25 for the worked TU example. The POC preserves that sequence and freezes a deterministic TRAIN-only selection rule before examining OOS.</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136–138; PDF pages 154–156</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Project/Time-Series-Modeling-Gen5/runs/research_workbench/literature_grounded/lit_mom_01_1_interday_momentum_20260730_v6/lit_mom_01_1_train_horizon_screen.csv</a:t>
            </a:r>
          </a:p>
          <a:p xmlns:a="http://schemas.openxmlformats.org/drawingml/2006/main">
            <a:r>
              <a:t>- C:/Users/Franc/OneDrive/Documents/Francis/Peltata Project/Time-Series-Modeling-Gen5/runs/research_workbench/literature_grounded/lit_mom_01_1_interday_momentum_20260730_v6/lit_mom_01_1_selected_candidate.csv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Chan's prose and Figure 6.1 use anchors separated by the shorter horizon. For 250/25 that is 25 sessions: future 25-session outcomes do not overlap, but the 250-session predictors still do. A strict L+H sensitivity is more independent but sharply reduces sample size. The printed MATLAB loop advances by max(L,H), which conflicts with the prose and figure; the deck records rather than hides that inconsistency.</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135–136; PDF pages 153–154</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Project/Time-Series-Modeling-Gen5/literature_studies/docs/GEN5_LITERATURE_SOURCE_LEDGER.md</a:t>
            </a:r>
          </a:p>
          <a:p xmlns:a="http://schemas.openxmlformats.org/drawingml/2006/main">
            <a:r>
              <a:t>- C:/Users/Franc/OneDrive/Documents/Francis/Peltata Project/Time-Series-Modeling-Gen5/runs/research_workbench/literature_grounded/lit_mom_01_1_interday_momentum_20260730_v6/train_correlation_summary.csv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TU screening table highlights multiple plausible combinations, including 60/10, 60/25, 250/10, 250/25, 250/60, and 250/120. Chan prefers reasonably short holding periods and implements 250/25. The cited Moskowitz, Ooi, and Pedersen paper also emphasizes a 12-month lookback with a one-month holding convention.</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 137 and Example 6.1 on page 138; PDF pages 155–156</a:t>
            </a:r>
          </a:p>
          <a:p xmlns:a="http://schemas.openxmlformats.org/drawingml/2006/main">
            <a:r>
              <a:t>- https://pages.stern.nyu.edu/~lpederse/papers/TimeSeriesMomentum.pdf</a:t>
            </a:r>
          </a:p>
          <a:p xmlns:a="http://schemas.openxmlformats.org/drawingml/2006/main">
            <a:r>
              <a:t>- C:/Users/Franc/OneDrive/Documents/Francis/Peltata Project/Time-Series-Modeling-Gen5/literature_studies/docs/GEN5_LITERATURE_SOURCE_LEDGER.md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does not flip the whole account on one close. Each session contributes one equal sleeve, so exposure ramps as old sleeves expire and new sleeves enter. The selected SHY rule uses L=60 and H=5; Chan's canonical reference uses L=250 and H=25.</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138–139; PDF pages 156–157</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Project/Time-Series-Modeling-Gen5/runs/research_workbench/literature_grounded/lit_mom_01_1_interday_momentum_20260730_v6/train_bar_replay.csv</a:t>
            </a:r>
          </a:p>
          <a:p xmlns:a="http://schemas.openxmlformats.org/drawingml/2006/main">
            <a:r>
              <a:t>- C:/Users/Franc/OneDrive/Documents/Francis/Peltata Project/Time-Series-Modeling-Gen5/runs/research_workbench/literature_grounded/lit_mom_01_1_interday_momentum_20260730_v6/visuals/train_exposure_tape.png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SHY answers whether the textbook workflow transfers to an accessible ETF proxy. It does not reproduce TU contract rolls or futures capital efficiency, and adjusted bars cannot prove historical borrow availability for short sleeves.</a:t>
            </a:r>
          </a:p>
          <a:p xmlns:a="http://schemas.openxmlformats.org/drawingml/2006/main">
            <a:r>
              <a:t/>
            </a:r>
          </a:p>
          <a:p xmlns:a="http://schemas.openxmlformats.org/drawingml/2006/main">
            <a:r>
              <a:t>[Sources]</a:t>
            </a:r>
          </a:p>
          <a:p xmlns:a="http://schemas.openxmlformats.org/drawingml/2006/main">
            <a:r>
              <a:t>- C:/Users/Franc/OneDrive/Documents/Francis/Trading Literature/Algorithmic Trading - Winning Strategies and Their Rationale 2013.pdf — printed pages 138–139; PDF pages 156–157</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Project/Time-Series-Modeling-Gen5/runs/research_workbench/literature_grounded/lit_mom_01_1_interday_momentum_20260730_v6/lit_mom_01_1_frozen_contract.csv</a:t>
            </a:r>
          </a:p>
          <a:p xmlns:a="http://schemas.openxmlformats.org/drawingml/2006/main">
            <a:r>
              <a:t>- C:/Users/Franc/OneDrive/Documents/Francis/Peltata Project/Time-Series-Modeling-Gen5/runs/research_workbench/literature_grounded/lit_mom_01_1_interday_momentum_20260730_v6/lit_mom_01_1_workbench_query_manifest.csv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gates distinguish source mechanics from project safeguards. All six must pass before the single frozen DEVELOPMENT replay is allowed. The nominal p-value is a screening statistic across 49 related tests, not multiplicity-adjusted proof; OOS is the real falsification surface.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Project/Time-Series-Modeling-Gen5/runs/research_workbench/literature_grounded/lit_mom_01_1_interday_momentum_20260730_v6/lit_mom_01_1_train_gate_summary.csv</a:t>
            </a:r>
          </a:p>
          <a:p xmlns:a="http://schemas.openxmlformats.org/drawingml/2006/main">
            <a:r>
              <a:t>- C:/Users/Franc/OneDrive/Documents/Francis/Peltata Project/Time-Series-Modeling-Gen5/runs/research_workbench/literature_grounded/lit_mom_01_1_interday_momentum_20260730_v6/lit_mom_01_1_train_horizon_screen.csv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deterministic rule ranked supported swing candidates by the Pearson t-statistic, after requiring at least 20 sparse pairs and a holding period of at least five sessions. It selected 60/5 with n=201, correlation 0.2084, nominal p=0.0030, and 60.2% sign accuracy. High-correlation cells with too little support were not eligible.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Project/Time-Series-Modeling-Gen5/runs/research_workbench/literature_grounded/lit_mom_01_1_interday_momentum_20260730_v6/lit_mom_01_1_train_horizon_screen.csv</a:t>
            </a:r>
          </a:p>
          <a:p xmlns:a="http://schemas.openxmlformats.org/drawingml/2006/main">
            <a:r>
              <a:t>- C:/Users/Franc/OneDrive/Documents/Francis/Peltata Project/Time-Series-Modeling-Gen5/runs/research_workbench/literature_grounded/lit_mom_01_1_interday_momentum_20260730_v6/lit_mom_01_1_selected_candidate.csv</a:t>
            </a:r>
          </a:p>
          <a:p xmlns:a="http://schemas.openxmlformats.org/drawingml/2006/main">
            <a:r>
              <a:t>- C:/Users/Franc/OneDrive/Documents/Francis/Peltata Project/Time-Series-Modeling-Gen5/runs/research_workbench/literature_grounded/lit_mom_01_1_interday_momentum_20260730_v6/visuals/lit_mom_01_1_train_horizon_map.png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primary-cost cumulative return was 6.55%, adjusted Sharpe 1.55, and maximum drawdown 0.84%. Stress return was 4.29%, three of four calendar years were positive, and 982 sleeves completed. These results passed the frozen gates and authorized DEVELOPMENT.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Project/Time-Series-Modeling-Gen5/runs/research_workbench/literature_grounded/lit_mom_01_1_interday_momentum_20260730_v6/train_performance_metrics.csv</a:t>
            </a:r>
          </a:p>
          <a:p xmlns:a="http://schemas.openxmlformats.org/drawingml/2006/main">
            <a:r>
              <a:t>- C:/Users/Franc/OneDrive/Documents/Francis/Peltata Project/Time-Series-Modeling-Gen5/runs/research_workbench/literature_grounded/lit_mom_01_1_interday_momentum_20260730_v6/lit_mom_01_1_train_gate_summary.csv</a:t>
            </a:r>
          </a:p>
          <a:p xmlns:a="http://schemas.openxmlformats.org/drawingml/2006/main">
            <a:r>
              <a:t>- C:/Users/Franc/OneDrive/Documents/Francis/Peltata Project/Time-Series-Modeling-Gen5/runs/research_workbench/literature_grounded/lit_mom_01_1_interday_momentum_20260730_v6/visuals/train_equity_drawdown.png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TRAIN gates passed, so the POC opened the one predeclared 2021–2023 DEVELOPMENT replay with the same 60/5 rule and a flat start. No OOS promotion gate was invented after inspection.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Project/Time-Series-Modeling-Gen5/runs/research_workbench/literature_grounded/lit_mom_01_1_interday_momentum_20260730_v6/lit_mom_01_1_run_spec.csv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DEVELOPMENT, the Chan min-step correlation fell to 0.0846 with nominal p=0.303 and sign accuracy 44%. The strict 65-session view had only 12 observations and negative correlation. The daily-overlapping view is descriptive because adjacent labels heavily reuse observations.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Project/Time-Series-Modeling-Gen5/runs/research_workbench/literature_grounded/lit_mom_01_1_interday_momentum_20260730_v6/development_correlation_summary.csv</a:t>
            </a:r>
          </a:p>
          <a:p xmlns:a="http://schemas.openxmlformats.org/drawingml/2006/main">
            <a:r>
              <a:t>- C:/Users/Franc/OneDrive/Documents/Francis/Peltata Project/Time-Series-Modeling-Gen5/runs/research_workbench/literature_grounded/lit_mom_01_1_interday_momentum_20260730_v6/development_direction_confusion.csv</a:t>
            </a:r>
          </a:p>
          <a:p xmlns:a="http://schemas.openxmlformats.org/drawingml/2006/main">
            <a:r>
              <a:t>- C:/Users/Franc/OneDrive/Documents/Francis/Peltata Project/Time-Series-Modeling-Gen5/runs/research_workbench/literature_grounded/lit_mom_01_1_interday_momentum_20260730_v6/visuals/development_correlation_views.png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2021–2023 gross strategy gained 2.22%, but primary-cost cumulative return was only 0.09%, adjusted Sharpe 0.03, and maximum drawdown 4.84%. Stress return was negative 3.56%. The result is economically flat under the ordinary cost convention and negative under stress.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Project/Time-Series-Modeling-Gen5/runs/research_workbench/literature_grounded/lit_mom_01_1_interday_momentum_20260730_v6/development_performance_metrics.csv</a:t>
            </a:r>
          </a:p>
          <a:p xmlns:a="http://schemas.openxmlformats.org/drawingml/2006/main">
            <a:r>
              <a:t>- C:/Users/Franc/OneDrive/Documents/Francis/Peltata Project/Time-Series-Modeling-Gen5/runs/research_workbench/literature_grounded/lit_mom_01_1_interday_momentum_20260730_v6/development_bar_replay.csv</a:t>
            </a:r>
          </a:p>
          <a:p xmlns:a="http://schemas.openxmlformats.org/drawingml/2006/main">
            <a:r>
              <a:t>- C:/Users/Franc/OneDrive/Documents/Francis/Peltata Project/Time-Series-Modeling-Gen5/runs/research_workbench/literature_grounded/lit_mom_01_1_interday_momentum_20260730_v6/visuals/development_equity_drawdown.png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long sleeves averaged negative 0.087% after primary costs with 47.2% directional accuracy; short sleeves averaged negative 0.084% with 51.1% accuracy. Calendar returns were negative 1.38% in 2021, positive 1.35% in 2022, and positive 0.13% in 2023.</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Project/Time-Series-Modeling-Gen5/runs/research_workbench/literature_grounded/lit_mom_01_1_interday_momentum_20260730_v6/development_completed_sleeves.csv</a:t>
            </a:r>
          </a:p>
          <a:p xmlns:a="http://schemas.openxmlformats.org/drawingml/2006/main">
            <a:r>
              <a:t>- C:/Users/Franc/OneDrive/Documents/Francis/Peltata Project/Time-Series-Modeling-Gen5/runs/research_workbench/literature_grounded/lit_mom_01_1_interday_momentum_20260730_v6/development_calendar_year_returns.csv</a:t>
            </a:r>
          </a:p>
          <a:p xmlns:a="http://schemas.openxmlformats.org/drawingml/2006/main">
            <a:r>
              <a:t>- C:/Users/Franc/OneDrive/Documents/Francis/Peltata Project/Time-Series-Modeling-Gen5/runs/research_workbench/literature_grounded/lit_mom_01_1_interday_momentum_20260730_v6/visuals/development_sleeve_and_year_summary.png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success is methodological: the POC reproduced Chan's horizon-screening logic, distinguished sparse inference from daily sleeve trading, and produced a causal OOS test. The strong TRAIN pattern did not survive economically. The recommended decision is STOP before sealed CONFIRMATION, with no post-hoc horizon rescue.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Project/Time-Series-Modeling-Gen5/literature_studies/docs/GEN5_LIT_MOM_01_1_INTERDAY_TIME_SERIES_MOMENTUM_POC_CONTRACT.md</a:t>
            </a:r>
          </a:p>
          <a:p xmlns:a="http://schemas.openxmlformats.org/drawingml/2006/main">
            <a:r>
              <a:t>- C:/Users/Franc/OneDrive/Documents/Francis/Peltata Project/Time-Series-Modeling-Gen5/runs/research_workbench/literature_grounded/lit_mom_01_1_interday_momentum_20260730_v6/lit_mom_01_1_report.md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97b5ce474a4e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963b0d477b4211" /><Relationship Type="http://schemas.openxmlformats.org/officeDocument/2006/relationships/slideLayout" Target="/ppt/slideLayouts/slideLayout1.xml" Id="R23984a33cb544d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984a33cb544d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19c487cf8140c9" /><Relationship Type="http://schemas.openxmlformats.org/officeDocument/2006/relationships/notesSlide" Target="/ppt/notesSlides/notesSlide1.xml" Id="Rb3a410e1450440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62785d81564106" /><Relationship Type="http://schemas.openxmlformats.org/officeDocument/2006/relationships/notesSlide" Target="/ppt/notesSlides/notesSlide2.xml" Id="R8740523e11e3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488dddf5a34251" /><Relationship Type="http://schemas.openxmlformats.org/officeDocument/2006/relationships/notesSlide" Target="/ppt/notesSlides/notesSlide3.xml" Id="Re3c3eee66d7a45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2cd265ee154e63" /><Relationship Type="http://schemas.openxmlformats.org/officeDocument/2006/relationships/notesSlide" Target="/ppt/notesSlides/notesSlide4.xml" Id="R93ecf87fa1b847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23652156124ec0" /><Relationship Type="http://schemas.openxmlformats.org/officeDocument/2006/relationships/image" Target="/ppt/media/image.png" Id="R3e7d004cdd6c4605" /><Relationship Type="http://schemas.openxmlformats.org/officeDocument/2006/relationships/notesSlide" Target="/ppt/notesSlides/notesSlide5.xml" Id="R528170e3ef0842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3c56a409154791" /><Relationship Type="http://schemas.openxmlformats.org/officeDocument/2006/relationships/notesSlide" Target="/ppt/notesSlides/notesSlide6.xml" Id="R48ed4894333047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0bc7b3dcd745bc" /><Relationship Type="http://schemas.openxmlformats.org/officeDocument/2006/relationships/notesSlide" Target="/ppt/notesSlides/notesSlide7.xml" Id="R19f9c861a31345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f4fe727fac4f00" /><Relationship Type="http://schemas.openxmlformats.org/officeDocument/2006/relationships/image" Target="/ppt/media/image2.png" Id="Re7591a70b9f741b1" /><Relationship Type="http://schemas.openxmlformats.org/officeDocument/2006/relationships/notesSlide" Target="/ppt/notesSlides/notesSlide8.xml" Id="Rabf582864f5545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8ed79b67b24a20" /><Relationship Type="http://schemas.openxmlformats.org/officeDocument/2006/relationships/image" Target="/ppt/media/image3.png" Id="Rea471215755f4ae9" /><Relationship Type="http://schemas.openxmlformats.org/officeDocument/2006/relationships/notesSlide" Target="/ppt/notesSlides/notesSlide9.xml" Id="Rb2bf0c7d6f3e43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c389d953e64316" /><Relationship Type="http://schemas.openxmlformats.org/officeDocument/2006/relationships/notesSlide" Target="/ppt/notesSlides/notesSlide10.xml" Id="R36a9142cdc4b43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74050f5530473d" /><Relationship Type="http://schemas.openxmlformats.org/officeDocument/2006/relationships/image" Target="/ppt/media/image4.png" Id="R72f27ff935f843da" /><Relationship Type="http://schemas.openxmlformats.org/officeDocument/2006/relationships/notesSlide" Target="/ppt/notesSlides/notesSlide11.xml" Id="R8c8a31b5e43b4e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7afd8828964d0c" /><Relationship Type="http://schemas.openxmlformats.org/officeDocument/2006/relationships/image" Target="/ppt/media/image5.png" Id="Rb3bed2f309eb477f" /><Relationship Type="http://schemas.openxmlformats.org/officeDocument/2006/relationships/notesSlide" Target="/ppt/notesSlides/notesSlide12.xml" Id="R931354ba537846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d08e92da6d4703" /><Relationship Type="http://schemas.openxmlformats.org/officeDocument/2006/relationships/image" Target="/ppt/media/image6.png" Id="Rf4aba1fb84c04bc4" /><Relationship Type="http://schemas.openxmlformats.org/officeDocument/2006/relationships/notesSlide" Target="/ppt/notesSlides/notesSlide13.xml" Id="R71eeba98bdb549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b73f27d24c8422f" /><Relationship Type="http://schemas.openxmlformats.org/officeDocument/2006/relationships/notesSlide" Target="/ppt/notesSlides/notesSlide14.xml" Id="R02aabb27291945b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LIT-MOM-01.1</a:t>
            </a:r>
          </a:p>
          <a:p xmlns:a="http://schemas.openxmlformats.org/drawingml/2006/main">
            <a:pPr algn="l">
              <a:buNone/>
              <a:defRPr sz="5700">
                <a:solidFill>
                  <a:srgbClr val="000000"/>
                </a:solidFill>
                <a:latin typeface="Helvetica Neue"/>
                <a:ea typeface="Helvetica Neue"/>
                <a:cs typeface="Helvetica Neue"/>
              </a:defRPr>
            </a:pPr>
            <a:r>
              <a:t>interday momentum</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Reconstruct Chan's full Chapter 6 workflow: screen lookback and holding horizons in TRAIN, freeze one rule, then test the causal swing strategy out of sample.</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LITERATURE-GROUNDED STRATEGY RESEARCH | 30 JUL 2026</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Chan screens horizons before he trades 250/25</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For every lookback L and holding period H, compare the sign and magnitude of the past L-session return with the next H-session return. Only after seeing the TRAIN table does Example 6.1 choose a practical rule.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49 cells</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L,H in {1,5,10,25,60,120,250}</a:t>
            </a:r>
          </a:p>
          <a:p xmlns:a="http://schemas.openxmlformats.org/drawingml/2006/main">
            <a:pPr algn="l">
              <a:buNone/>
              <a:defRPr sz="1575">
                <a:solidFill>
                  <a:srgbClr val="000000"/>
                </a:solidFill>
                <a:latin typeface="Helvetica Neue"/>
                <a:ea typeface="Helvetica Neue"/>
                <a:cs typeface="Helvetica Neue"/>
              </a:defRPr>
            </a:pPr>
            <a:r>
              <a:t>Correlation, p-value, support</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Freeze one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Select inside TRAIN only</a:t>
            </a:r>
          </a:p>
          <a:p xmlns:a="http://schemas.openxmlformats.org/drawingml/2006/main">
            <a:pPr algn="l">
              <a:buNone/>
              <a:defRPr sz="1575">
                <a:solidFill>
                  <a:srgbClr val="000000"/>
                </a:solidFill>
                <a:latin typeface="Helvetica Neue"/>
                <a:ea typeface="Helvetica Neue"/>
                <a:cs typeface="Helvetica Neue"/>
              </a:defRPr>
            </a:pPr>
            <a:r>
              <a:t>No OOS horizon shopping</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Trade OOS</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Daily 1/H sleeves</a:t>
            </a:r>
          </a:p>
          <a:p xmlns:a="http://schemas.openxmlformats.org/drawingml/2006/main">
            <a:pPr algn="l">
              <a:buNone/>
              <a:defRPr sz="1575">
                <a:solidFill>
                  <a:srgbClr val="000000"/>
                </a:solidFill>
                <a:latin typeface="Helvetica Neue"/>
                <a:ea typeface="Helvetica Neue"/>
                <a:cs typeface="Helvetica Neue"/>
              </a:defRPr>
            </a:pPr>
            <a:r>
              <a:t>Next-open causal execution</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Non-overlap protects the effective sample size</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If adjacent labels reuse the same future days, the nominal observation count exaggerates independent evidence. Sparse anchors are for inference; daily overlapping sleeves are still allowed for the trading rule.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step min(L,H)</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Chan prose and Figure 6.1</a:t>
            </a:r>
          </a:p>
          <a:p xmlns:a="http://schemas.openxmlformats.org/drawingml/2006/main">
            <a:pPr algn="l">
              <a:buNone/>
              <a:defRPr sz="1575">
                <a:solidFill>
                  <a:srgbClr val="000000"/>
                </a:solidFill>
                <a:latin typeface="Helvetica Neue"/>
                <a:ea typeface="Helvetica Neue"/>
                <a:cs typeface="Helvetica Neue"/>
              </a:defRPr>
            </a:pPr>
            <a:r>
              <a:t>Shorter leg does not overlap</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step L+H</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Strict sensitivity view</a:t>
            </a:r>
          </a:p>
          <a:p xmlns:a="http://schemas.openxmlformats.org/drawingml/2006/main">
            <a:pPr algn="l">
              <a:buNone/>
              <a:defRPr sz="1575">
                <a:solidFill>
                  <a:srgbClr val="000000"/>
                </a:solidFill>
                <a:latin typeface="Helvetica Neue"/>
                <a:ea typeface="Helvetica Neue"/>
                <a:cs typeface="Helvetica Neue"/>
              </a:defRPr>
            </a:pPr>
            <a:r>
              <a:t>Neither return interval overlaps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daily sleeves</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Trading may rebalance daily</a:t>
            </a:r>
          </a:p>
          <a:p xmlns:a="http://schemas.openxmlformats.org/drawingml/2006/main">
            <a:pPr algn="l">
              <a:buNone/>
              <a:defRPr sz="1575">
                <a:solidFill>
                  <a:srgbClr val="000000"/>
                </a:solidFill>
                <a:latin typeface="Helvetica Neue"/>
                <a:ea typeface="Helvetica Neue"/>
                <a:cs typeface="Helvetica Neue"/>
              </a:defRPr>
            </a:pPr>
            <a:r>
              <a:t>That is not daily independent evidence</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250/25 is an informed choice—not a magic optimum</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Chan's TU table leaves several plausible cells. He favors a roughly 12-month signal with a roughly one-month hold: a practical correlation/p-value compromise and a direct bridge to the cited time-series-momentum literature.</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250</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About 12 trading months</a:t>
            </a:r>
          </a:p>
          <a:p xmlns:a="http://schemas.openxmlformats.org/drawingml/2006/main">
            <a:pPr algn="l">
              <a:buNone/>
              <a:defRPr sz="1575">
                <a:solidFill>
                  <a:srgbClr val="000000"/>
                </a:solidFill>
                <a:latin typeface="Helvetica Neue"/>
                <a:ea typeface="Helvetica Neue"/>
                <a:cs typeface="Helvetica Neue"/>
              </a:defRPr>
            </a:pPr>
            <a:r>
              <a:t>Past-return sign</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25</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About one trading month</a:t>
            </a:r>
          </a:p>
          <a:p xmlns:a="http://schemas.openxmlformats.org/drawingml/2006/main">
            <a:pPr algn="l">
              <a:buNone/>
              <a:defRPr sz="1575">
                <a:solidFill>
                  <a:srgbClr val="000000"/>
                </a:solidFill>
                <a:latin typeface="Helvetica Neue"/>
                <a:ea typeface="Helvetica Neue"/>
                <a:cs typeface="Helvetica Neue"/>
              </a:defRPr>
            </a:pPr>
            <a:r>
              <a:t>Shorter practical hold</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not unique</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Other shortlisted cells exist</a:t>
            </a:r>
          </a:p>
          <a:p xmlns:a="http://schemas.openxmlformats.org/drawingml/2006/main">
            <a:pPr algn="l">
              <a:buNone/>
              <a:defRPr sz="1575">
                <a:solidFill>
                  <a:srgbClr val="000000"/>
                </a:solidFill>
                <a:latin typeface="Helvetica Neue"/>
                <a:ea typeface="Helvetica Neue"/>
                <a:cs typeface="Helvetica Neue"/>
              </a:defRPr>
            </a:pPr>
            <a:r>
              <a:t>The table precedes the example</a:t>
            </a:r>
          </a:p>
        </p:txBody>
      </p:sp>
    </p:spTree>
    <p:extLst>
      <p:ext uri="{BB962C8B-B14F-4D97-AF65-F5344CB8AC3E}">
        <p14:creationId xmlns:p14="http://schemas.microsoft.com/office/powerpoint/2010/main" val="20982496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One sign becomes H overlapping swing sleeves</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s_t = sign(C_t / C_(t-L) - 1)</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Start one sleeve of size 1/H each session.</a:t>
            </a:r>
          </a:p>
          <a:p xmlns:a="http://schemas.openxmlformats.org/drawingml/2006/main">
            <a:pPr algn="l">
              <a:buNone/>
              <a:defRPr sz="1950">
                <a:solidFill>
                  <a:srgbClr val="000000"/>
                </a:solidFill>
                <a:latin typeface="Helvetica Neue"/>
                <a:ea typeface="Helvetica Neue"/>
                <a:cs typeface="Helvetica Neue"/>
              </a:defRPr>
            </a:pPr>
            <a:r>
              <a:t>Hold each sleeve for H opens.</a:t>
            </a:r>
          </a:p>
          <a:p xmlns:a="http://schemas.openxmlformats.org/drawingml/2006/main">
            <a:pPr algn="l">
              <a:buNone/>
              <a:defRPr sz="1950">
                <a:solidFill>
                  <a:srgbClr val="000000"/>
                </a:solidFill>
                <a:latin typeface="Helvetica Neue"/>
                <a:ea typeface="Helvetica Neue"/>
                <a:cs typeface="Helvetica Neue"/>
              </a:defRPr>
            </a:pPr>
            <a:r>
              <a:t>Aggregate exposure: w_t = (1/H) Σ s_(t-h)</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Signal after close; enter next open.</a:t>
            </a:r>
          </a:p>
          <a:p xmlns:a="http://schemas.openxmlformats.org/drawingml/2006/main">
            <a:pPr algn="l">
              <a:buNone/>
              <a:defRPr sz="1950">
                <a:solidFill>
                  <a:srgbClr val="000000"/>
                </a:solidFill>
                <a:latin typeface="Helvetica Neue"/>
                <a:ea typeface="Helvetica Neue"/>
                <a:cs typeface="Helvetica Neue"/>
              </a:defRPr>
            </a:pPr>
            <a:r>
              <a:t>Long when past return &gt; 0; short when &lt; 0.</a:t>
            </a:r>
          </a:p>
          <a:p xmlns:a="http://schemas.openxmlformats.org/drawingml/2006/main">
            <a:pPr algn="l">
              <a:buNone/>
              <a:defRPr sz="1950">
                <a:solidFill>
                  <a:srgbClr val="000000"/>
                </a:solidFill>
                <a:latin typeface="Helvetica Neue"/>
                <a:ea typeface="Helvetica Neue"/>
                <a:cs typeface="Helvetica Neue"/>
              </a:defRPr>
            </a:pPr>
            <a:r>
              <a:t>Primary cost: 5 bp per one-way net turnover.</a:t>
            </a:r>
          </a:p>
        </p:txBody>
      </p:sp>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7d004cdd6c4605"/>
          <a:stretch xmlns:a="http://schemas.openxmlformats.org/drawingml/2006/main"/>
        </p:blipFill>
        <p:spPr>
          <a:xfrm xmlns:a="http://schemas.openxmlformats.org/drawingml/2006/main">
            <a:off x="6381750" y="2009321"/>
            <a:ext cx="5238750" cy="2744107"/>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E92BF88A-D985-4E89-9220-AED80DBBCF70}"/>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18F3FD71-2B01-497E-B7A5-AD72E3A3FA93}"/>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A256A665-F93B-46DB-A120-F2929BE31EA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8B8FEAA9-7122-4602-AAFA-C856C71CAA6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5" name="title">
            <a:extLst xmlns:a="http://schemas.openxmlformats.org/drawingml/2006/main">
              <a:ext uri="{FF2B5EF4-FFF2-40B4-BE49-F238E27FC236}">
                <a16:creationId xmlns:a16="http://schemas.microsoft.com/office/drawing/2014/main" id="{6B999DAA-321B-4DEF-AC22-1F41A5B8E8C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SHY is a retail proxy—not the TU future</a:t>
            </a:r>
          </a:p>
        </p:txBody>
      </p:sp>
      <p:sp>
        <p:nvSpPr>
          <p:cNvPr id="6" name="intro">
            <a:extLst xmlns:a="http://schemas.openxmlformats.org/drawingml/2006/main">
              <a:ext uri="{FF2B5EF4-FFF2-40B4-BE49-F238E27FC236}">
                <a16:creationId xmlns:a16="http://schemas.microsoft.com/office/drawing/2014/main" id="{B83D39E3-1D42-4CA4-A507-6C07CD200977}"/>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source instrument is the two-year Treasury-note future. SHY is the closest Alpaca-tradable daily ETF maturity proxy available inside the opened provider scope, but its duration, roll, financing, tax, and short-borrow mechanics differ.</a:t>
            </a:r>
          </a:p>
        </p:txBody>
      </p:sp>
      <p:sp>
        <p:nvSpPr>
          <p:cNvPr id="7" name="stat-1">
            <a:extLst xmlns:a="http://schemas.openxmlformats.org/drawingml/2006/main">
              <a:ext uri="{FF2B5EF4-FFF2-40B4-BE49-F238E27FC236}">
                <a16:creationId xmlns:a16="http://schemas.microsoft.com/office/drawing/2014/main" id="{CE99FBCB-3F61-4E2C-9916-C8B37E005A45}"/>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64748B"/>
                </a:solidFill>
                <a:latin typeface="Helvetica Neue"/>
                <a:ea typeface="Helvetica Neue"/>
                <a:cs typeface="Helvetica Neue"/>
              </a:defRPr>
            </a:pPr>
            <a:r>
              <a:t>TU future</a:t>
            </a:r>
          </a:p>
        </p:txBody>
      </p:sp>
      <p:sp>
        <p:nvSpPr>
          <p:cNvPr id="8" name="stat-label-1">
            <a:extLst xmlns:a="http://schemas.openxmlformats.org/drawingml/2006/main">
              <a:ext uri="{FF2B5EF4-FFF2-40B4-BE49-F238E27FC236}">
                <a16:creationId xmlns:a16="http://schemas.microsoft.com/office/drawing/2014/main" id="{8D7A7BD1-1D20-421E-BAC5-DFF695BBE1AF}"/>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Chan's instrument</a:t>
            </a:r>
          </a:p>
          <a:p xmlns:a="http://schemas.openxmlformats.org/drawingml/2006/main">
            <a:pPr algn="l">
              <a:buNone/>
              <a:defRPr sz="1575">
                <a:solidFill>
                  <a:srgbClr val="000000"/>
                </a:solidFill>
                <a:latin typeface="Helvetica Neue"/>
                <a:ea typeface="Helvetica Neue"/>
                <a:cs typeface="Helvetica Neue"/>
              </a:defRPr>
            </a:pPr>
            <a:r>
              <a:t>Leveraged futures economics</a:t>
            </a:r>
          </a:p>
        </p:txBody>
      </p:sp>
      <p:sp>
        <p:nvSpPr>
          <p:cNvPr id="9" name="stat-2">
            <a:extLst xmlns:a="http://schemas.openxmlformats.org/drawingml/2006/main">
              <a:ext uri="{FF2B5EF4-FFF2-40B4-BE49-F238E27FC236}">
                <a16:creationId xmlns:a16="http://schemas.microsoft.com/office/drawing/2014/main" id="{E572DBE1-8080-407B-A0FF-815818B837E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B42318"/>
                </a:solidFill>
                <a:latin typeface="Helvetica Neue"/>
                <a:ea typeface="Helvetica Neue"/>
                <a:cs typeface="Helvetica Neue"/>
              </a:defRPr>
            </a:pPr>
            <a:r>
              <a:t>SHY ETF</a:t>
            </a:r>
          </a:p>
        </p:txBody>
      </p:sp>
      <p:sp>
        <p:nvSpPr>
          <p:cNvPr id="10" name="stat-label-2">
            <a:extLst xmlns:a="http://schemas.openxmlformats.org/drawingml/2006/main">
              <a:ext uri="{FF2B5EF4-FFF2-40B4-BE49-F238E27FC236}">
                <a16:creationId xmlns:a16="http://schemas.microsoft.com/office/drawing/2014/main" id="{FD56EAD1-B269-48E0-9F23-33330F29DCE5}"/>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1–3 year Treasury basket</a:t>
            </a:r>
          </a:p>
          <a:p xmlns:a="http://schemas.openxmlformats.org/drawingml/2006/main">
            <a:pPr algn="l">
              <a:buNone/>
              <a:defRPr sz="1575">
                <a:solidFill>
                  <a:srgbClr val="000000"/>
                </a:solidFill>
                <a:latin typeface="Helvetica Neue"/>
                <a:ea typeface="Helvetica Neue"/>
                <a:cs typeface="Helvetica Neue"/>
              </a:defRPr>
            </a:pPr>
            <a:r>
              <a:t>Adjusted daily retail bars</a:t>
            </a:r>
          </a:p>
        </p:txBody>
      </p:sp>
      <p:sp>
        <p:nvSpPr>
          <p:cNvPr id="11" name="stat-3">
            <a:extLst xmlns:a="http://schemas.openxmlformats.org/drawingml/2006/main">
              <a:ext uri="{FF2B5EF4-FFF2-40B4-BE49-F238E27FC236}">
                <a16:creationId xmlns:a16="http://schemas.microsoft.com/office/drawing/2014/main" id="{9C6C64B0-28CA-4923-800E-94342CB69146}"/>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POC only</a:t>
            </a:r>
          </a:p>
        </p:txBody>
      </p:sp>
      <p:sp>
        <p:nvSpPr>
          <p:cNvPr id="12" name="stat-label-3">
            <a:extLst xmlns:a="http://schemas.openxmlformats.org/drawingml/2006/main">
              <a:ext uri="{FF2B5EF4-FFF2-40B4-BE49-F238E27FC236}">
                <a16:creationId xmlns:a16="http://schemas.microsoft.com/office/drawing/2014/main" id="{0ED31E12-360E-4FDB-B429-1A6368F41685}"/>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Borrow not proven</a:t>
            </a:r>
          </a:p>
          <a:p xmlns:a="http://schemas.openxmlformats.org/drawingml/2006/main">
            <a:pPr algn="l">
              <a:buNone/>
              <a:defRPr sz="1575">
                <a:solidFill>
                  <a:srgbClr val="000000"/>
                </a:solidFill>
                <a:latin typeface="Helvetica Neue"/>
                <a:ea typeface="Helvetica Neue"/>
                <a:cs typeface="Helvetica Neue"/>
              </a:defRPr>
            </a:pPr>
            <a:r>
              <a:t>No live or leverage authority</a:t>
            </a:r>
          </a:p>
        </p:txBody>
      </p:sp>
    </p:spTree>
    <p:extLst>
      <p:ext uri="{BB962C8B-B14F-4D97-AF65-F5344CB8AC3E}">
        <p14:creationId xmlns:p14="http://schemas.microsoft.com/office/powerpoint/2010/main" val="150026174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book supplies the screen; the POC supplies transparent gates</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Chan motivates the horizon correlation and trading mechanics. The six conjunctive thresholds below are our predeclared research controls, not claims about what the book prescribes.</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G1–G3</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Integrity; selected r&gt;0 and p≤0.10</a:t>
            </a:r>
          </a:p>
          <a:p xmlns:a="http://schemas.openxmlformats.org/drawingml/2006/main">
            <a:pPr algn="l">
              <a:buNone/>
              <a:defRPr sz="1575">
                <a:solidFill>
                  <a:srgbClr val="000000"/>
                </a:solidFill>
                <a:latin typeface="Helvetica Neue"/>
                <a:ea typeface="Helvetica Neue"/>
                <a:cs typeface="Helvetica Neue"/>
              </a:defRPr>
            </a:pPr>
            <a:r>
              <a:t>≥20 screen pairs; ≥40 pairs/sleeves</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G4–G5</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Direction accuracy &gt;50%</a:t>
            </a:r>
          </a:p>
          <a:p xmlns:a="http://schemas.openxmlformats.org/drawingml/2006/main">
            <a:pPr algn="l">
              <a:buNone/>
              <a:defRPr sz="1575">
                <a:solidFill>
                  <a:srgbClr val="000000"/>
                </a:solidFill>
                <a:latin typeface="Helvetica Neue"/>
                <a:ea typeface="Helvetica Neue"/>
                <a:cs typeface="Helvetica Neue"/>
              </a:defRPr>
            </a:pPr>
            <a:r>
              <a:t>Net return &gt;0; adjusted Sharpe &gt;0</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G6</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Stress return &gt;0</a:t>
            </a:r>
          </a:p>
          <a:p xmlns:a="http://schemas.openxmlformats.org/drawingml/2006/main">
            <a:pPr algn="l">
              <a:buNone/>
              <a:defRPr sz="1575">
                <a:solidFill>
                  <a:srgbClr val="000000"/>
                </a:solidFill>
                <a:latin typeface="Helvetica Neue"/>
                <a:ea typeface="Helvetica Neue"/>
                <a:cs typeface="Helvetica Neue"/>
              </a:defRPr>
            </a:pPr>
            <a:r>
              <a:t>At least 3 positive TRAIN years</a:t>
            </a:r>
          </a:p>
        </p:txBody>
      </p:sp>
    </p:spTree>
    <p:extLst>
      <p:ext uri="{BB962C8B-B14F-4D97-AF65-F5344CB8AC3E}">
        <p14:creationId xmlns:p14="http://schemas.microsoft.com/office/powerpoint/2010/main" val="209824963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TRAIN selected 60/5 from the frozen 49-cell horizon screen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7591a70b9f741b1"/>
          <a:stretch xmlns:a="http://schemas.openxmlformats.org/drawingml/2006/main"/>
        </p:blipFill>
        <p:spPr>
          <a:xfrm xmlns:a="http://schemas.openxmlformats.org/drawingml/2006/main">
            <a:off x="2595563" y="1143000"/>
            <a:ext cx="7000875" cy="5000625"/>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selected 60/5 rule cleared every TRAIN gate</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2017–2020 looked unusually clean: all six gates passed, including direction, ordinary costs, stress costs, and calendar stability. That earned exactly one frozen OOS replay—not an alpha claim.</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+6.55%</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Primary-cost TRAIN</a:t>
            </a:r>
          </a:p>
          <a:p xmlns:a="http://schemas.openxmlformats.org/drawingml/2006/main">
            <a:pPr algn="l">
              <a:buNone/>
              <a:defRPr sz="1500">
                <a:solidFill>
                  <a:srgbClr val="000000"/>
                </a:solidFill>
                <a:latin typeface="Helvetica Neue"/>
                <a:ea typeface="Helvetica Neue"/>
                <a:cs typeface="Helvetica Neue"/>
              </a:defRPr>
            </a:pPr>
            <a:r>
              <a:t>Max drawdown −0.84%</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1.55</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Autocorrelation-adjusted</a:t>
            </a:r>
          </a:p>
          <a:p xmlns:a="http://schemas.openxmlformats.org/drawingml/2006/main">
            <a:pPr algn="l">
              <a:buNone/>
              <a:defRPr sz="1500">
                <a:solidFill>
                  <a:srgbClr val="000000"/>
                </a:solidFill>
                <a:latin typeface="Helvetica Neue"/>
                <a:ea typeface="Helvetica Neue"/>
                <a:cs typeface="Helvetica Neue"/>
              </a:defRPr>
            </a:pPr>
            <a:r>
              <a:t>TRAIN Sharpe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a471215755f4ae9"/>
          <a:stretch xmlns:a="http://schemas.openxmlformats.org/drawingml/2006/main"/>
        </p:blipFill>
        <p:spPr>
          <a:xfrm xmlns:a="http://schemas.openxmlformats.org/drawingml/2006/main">
            <a:off x="428625" y="2371045"/>
            <a:ext cx="5429250" cy="2973161"/>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ask whether</a:t>
            </a:r>
          </a:p>
          <a:p xmlns:a="http://schemas.openxmlformats.org/drawingml/2006/main">
            <a:pPr algn="l">
              <a:buNone/>
              <a:defRPr sz="5700">
                <a:solidFill>
                  <a:srgbClr val="000000"/>
                </a:solidFill>
                <a:latin typeface="Helvetica Neue"/>
                <a:ea typeface="Helvetica Neue"/>
                <a:cs typeface="Helvetica Neue"/>
              </a:defRPr>
            </a:pPr>
            <a:r>
              <a:t>60/5 survives</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No horizon, threshold, cost, instrument, or direction is reselected after seeing DEVELOPMENT. The sealed 2024+ CONFIRMATION window remains untouched.</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FROZEN OOS DEVELOPMENT | 2021–2023</a:t>
            </a:r>
          </a:p>
        </p:txBody>
      </p:sp>
    </p:spTree>
    <p:extLst>
      <p:ext uri="{BB962C8B-B14F-4D97-AF65-F5344CB8AC3E}">
        <p14:creationId xmlns:p14="http://schemas.microsoft.com/office/powerpoint/2010/main" val="20928933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TRAIN predictive relationship weakened out of sample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2f27ff935f843da"/>
          <a:stretch xmlns:a="http://schemas.openxmlformats.org/drawingml/2006/main"/>
        </p:blipFill>
        <p:spPr>
          <a:xfrm xmlns:a="http://schemas.openxmlformats.org/drawingml/2006/main">
            <a:off x="523875" y="1555474"/>
            <a:ext cx="11144250" cy="4118527"/>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Gross movement existed; ordinary costs consumed almost all of 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3bed2f309eb477f"/>
          <a:stretch xmlns:a="http://schemas.openxmlformats.org/drawingml/2006/main"/>
        </p:blipFill>
        <p:spPr>
          <a:xfrm xmlns:a="http://schemas.openxmlformats.org/drawingml/2006/main">
            <a:off x="1617179" y="1162050"/>
            <a:ext cx="8957641"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Neither direction supplied a durable OOS edge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4aba1fb84c04bc4"/>
          <a:stretch xmlns:a="http://schemas.openxmlformats.org/drawingml/2006/main"/>
        </p:blipFill>
        <p:spPr>
          <a:xfrm xmlns:a="http://schemas.openxmlformats.org/drawingml/2006/main">
            <a:off x="1190625" y="1162050"/>
            <a:ext cx="9810750"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The workflow worked.</a:t>
            </a:r>
          </a:p>
          <a:p xmlns:a="http://schemas.openxmlformats.org/drawingml/2006/main">
            <a:pPr algn="l">
              <a:buNone/>
              <a:defRPr sz="5700">
                <a:solidFill>
                  <a:srgbClr val="000000"/>
                </a:solidFill>
                <a:latin typeface="Helvetica Neue"/>
                <a:ea typeface="Helvetica Neue"/>
                <a:cs typeface="Helvetica Neue"/>
              </a:defRPr>
            </a:pPr>
            <a:r>
              <a:t>The edge did not persist.</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96955"/>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Keep 250/25 as the canonical literature example and 60/5 as the frozen SHY result. Record the OOS falsification, stop before CONFIRMATION, and move to the next Chapter 6 exercise without reactive retuning.</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TEXTBOOK EXERCISE COMPLETE | RESEARCH DECISION</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2026-07-30T11:35:50.6170000Z</dcterms:created>
  <dcterms:modified xsi:type="dcterms:W3CDTF">2026-07-30T11:35:50.6170000Z</dcterms:modified>
</coreProperties>
</file>