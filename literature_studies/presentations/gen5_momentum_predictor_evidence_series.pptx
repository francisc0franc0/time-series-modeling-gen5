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e8b9291ad24b29" /><Relationship Type="http://schemas.openxmlformats.org/officeDocument/2006/relationships/extended-properties" Target="/docProps/app.xml" Id="Rca51bcd498f845dc" /><Relationship Type="http://schemas.openxmlformats.org/officeDocument/2006/relationships/officeDocument" Target="/ppt/presentation.xml" Id="R1493e479e8fa4251" /></Relationships>
</file>

<file path=ppt/presentation.xml><?xml version="1.0" encoding="utf-8"?>
<p:presentation xmlns:p="http://schemas.openxmlformats.org/presentationml/2006/main">
  <p:sldMasterIdLst>
    <p:sldMasterId xmlns:r="http://schemas.openxmlformats.org/officeDocument/2006/relationships" id="2147483648" r:id="Rca4d0806456c46a9"/>
  </p:sldMasterIdLst>
  <p:notesMasterIdLst>
    <p:notesMasterId xmlns:r="http://schemas.openxmlformats.org/officeDocument/2006/relationships" r:id="R567b39325096475b"/>
  </p:notesMasterIdLst>
  <p:sldIdLst>
    <p:sldId xmlns:r="http://schemas.openxmlformats.org/officeDocument/2006/relationships" id="256" r:id="R82be1545fcb44cb1"/>
    <p:sldId xmlns:r="http://schemas.openxmlformats.org/officeDocument/2006/relationships" id="257" r:id="Rb3dc358d8a9d41d2"/>
    <p:sldId xmlns:r="http://schemas.openxmlformats.org/officeDocument/2006/relationships" id="258" r:id="R8026c59b7be647f9"/>
    <p:sldId xmlns:r="http://schemas.openxmlformats.org/officeDocument/2006/relationships" id="259" r:id="Red042c0d42e34cfb"/>
    <p:sldId xmlns:r="http://schemas.openxmlformats.org/officeDocument/2006/relationships" id="260" r:id="R4c6c85c9b69146e0"/>
    <p:sldId xmlns:r="http://schemas.openxmlformats.org/officeDocument/2006/relationships" id="261" r:id="Ra668263cdc0e4618"/>
    <p:sldId xmlns:r="http://schemas.openxmlformats.org/officeDocument/2006/relationships" id="262" r:id="R62ffaaa46f674f63"/>
    <p:sldId xmlns:r="http://schemas.openxmlformats.org/officeDocument/2006/relationships" id="263" r:id="Rc995fc795d904f0c"/>
    <p:sldId xmlns:r="http://schemas.openxmlformats.org/officeDocument/2006/relationships" id="264" r:id="R9b43a45bfead459d"/>
    <p:sldId xmlns:r="http://schemas.openxmlformats.org/officeDocument/2006/relationships" id="265" r:id="R3450effca8d64723"/>
    <p:sldId xmlns:r="http://schemas.openxmlformats.org/officeDocument/2006/relationships" id="266" r:id="Rd009b211a0b5422e"/>
    <p:sldId xmlns:r="http://schemas.openxmlformats.org/officeDocument/2006/relationships" id="267" r:id="R9ae30ad72170406b"/>
    <p:sldId xmlns:r="http://schemas.openxmlformats.org/officeDocument/2006/relationships" id="268" r:id="R8611b663422f49ca"/>
    <p:sldId xmlns:r="http://schemas.openxmlformats.org/officeDocument/2006/relationships" id="269" r:id="R079e8305f601431d"/>
    <p:sldId xmlns:r="http://schemas.openxmlformats.org/officeDocument/2006/relationships" id="270" r:id="Rb5ab9e52535b4200"/>
    <p:sldId xmlns:r="http://schemas.openxmlformats.org/officeDocument/2006/relationships" id="271" r:id="Ra8ca734b0bc04528"/>
    <p:sldId xmlns:r="http://schemas.openxmlformats.org/officeDocument/2006/relationships" id="272" r:id="R7473692e481949e6"/>
    <p:sldId xmlns:r="http://schemas.openxmlformats.org/officeDocument/2006/relationships" id="273" r:id="R5ea48709570848c3"/>
    <p:sldId xmlns:r="http://schemas.openxmlformats.org/officeDocument/2006/relationships" id="274" r:id="R5a74c6c35a044367"/>
    <p:sldId xmlns:r="http://schemas.openxmlformats.org/officeDocument/2006/relationships" id="275" r:id="Raca1b59c535e492f"/>
    <p:sldId xmlns:r="http://schemas.openxmlformats.org/officeDocument/2006/relationships" id="276" r:id="Re1e318e3b6944489"/>
    <p:sldId xmlns:r="http://schemas.openxmlformats.org/officeDocument/2006/relationships" id="277" r:id="Ra4c421972bfb4d6e"/>
    <p:sldId xmlns:r="http://schemas.openxmlformats.org/officeDocument/2006/relationships" id="278" r:id="R417b7464732f49e9"/>
    <p:sldId xmlns:r="http://schemas.openxmlformats.org/officeDocument/2006/relationships" id="279" r:id="Ra1653bb2f1ed403d"/>
    <p:sldId xmlns:r="http://schemas.openxmlformats.org/officeDocument/2006/relationships" id="280" r:id="R69d54c7c03d84196"/>
    <p:sldId xmlns:r="http://schemas.openxmlformats.org/officeDocument/2006/relationships" id="281" r:id="Re1812ac149a34350"/>
    <p:sldId xmlns:r="http://schemas.openxmlformats.org/officeDocument/2006/relationships" id="282" r:id="Re45885ba210c4603"/>
    <p:sldId xmlns:r="http://schemas.openxmlformats.org/officeDocument/2006/relationships" id="283" r:id="R6e58c1b1d0044711"/>
    <p:sldId xmlns:r="http://schemas.openxmlformats.org/officeDocument/2006/relationships" id="284" r:id="R4b65b16c41254790"/>
    <p:sldId xmlns:r="http://schemas.openxmlformats.org/officeDocument/2006/relationships" id="285" r:id="Re7605aa9de164246"/>
    <p:sldId xmlns:r="http://schemas.openxmlformats.org/officeDocument/2006/relationships" id="286" r:id="R7c9034496e2d495c"/>
    <p:sldId xmlns:r="http://schemas.openxmlformats.org/officeDocument/2006/relationships" id="287" r:id="Recc3f742d7ed4a50"/>
    <p:sldId xmlns:r="http://schemas.openxmlformats.org/officeDocument/2006/relationships" id="288" r:id="R1ae1a307bdb84b77"/>
    <p:sldId xmlns:r="http://schemas.openxmlformats.org/officeDocument/2006/relationships" id="289" r:id="Rc5860ecfab864403"/>
    <p:sldId xmlns:r="http://schemas.openxmlformats.org/officeDocument/2006/relationships" id="290" r:id="R64c6e5427cfd42cf"/>
    <p:sldId xmlns:r="http://schemas.openxmlformats.org/officeDocument/2006/relationships" id="291" r:id="R9d0f1458916c4ed3"/>
    <p:sldId xmlns:r="http://schemas.openxmlformats.org/officeDocument/2006/relationships" id="292" r:id="R03328a9c47164c6a"/>
    <p:sldId xmlns:r="http://schemas.openxmlformats.org/officeDocument/2006/relationships" id="293" r:id="R2a4ac4168e15458d"/>
    <p:sldId xmlns:r="http://schemas.openxmlformats.org/officeDocument/2006/relationships" id="294" r:id="R0fba8c0be346494c"/>
    <p:sldId xmlns:r="http://schemas.openxmlformats.org/officeDocument/2006/relationships" id="295" r:id="Rd7630054469d4c15"/>
    <p:sldId xmlns:r="http://schemas.openxmlformats.org/officeDocument/2006/relationships" id="296" r:id="R4d1bdd1ecbab4b89"/>
    <p:sldId xmlns:r="http://schemas.openxmlformats.org/officeDocument/2006/relationships" id="297" r:id="R0a615b50761e4e76"/>
    <p:sldId xmlns:r="http://schemas.openxmlformats.org/officeDocument/2006/relationships" id="298" r:id="R68d120da0014434a"/>
    <p:sldId xmlns:r="http://schemas.openxmlformats.org/officeDocument/2006/relationships" id="299" r:id="R48dbd53082e04a1b"/>
    <p:sldId xmlns:r="http://schemas.openxmlformats.org/officeDocument/2006/relationships" id="300" r:id="Rb5e60d5caab44852"/>
    <p:sldId xmlns:r="http://schemas.openxmlformats.org/officeDocument/2006/relationships" id="301" r:id="R5fed5612094b4883"/>
    <p:sldId xmlns:r="http://schemas.openxmlformats.org/officeDocument/2006/relationships" id="302" r:id="R69523c81f1fa44f9"/>
    <p:sldId xmlns:r="http://schemas.openxmlformats.org/officeDocument/2006/relationships" id="303" r:id="Rd9338b50a3a64b6f"/>
    <p:sldId xmlns:r="http://schemas.openxmlformats.org/officeDocument/2006/relationships" id="304" r:id="R61686fca980f4f6b"/>
    <p:sldId xmlns:r="http://schemas.openxmlformats.org/officeDocument/2006/relationships" id="305" r:id="Rb3e658cf7f9542e1"/>
    <p:sldId xmlns:r="http://schemas.openxmlformats.org/officeDocument/2006/relationships" id="306" r:id="Rd7b697920cfc41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98c9fe198b40c0" /><Relationship Type="http://schemas.openxmlformats.org/officeDocument/2006/relationships/slideMaster" Target="/ppt/slideMasters/slideMaster1.xml" Id="Rca4d0806456c46a9" /><Relationship Type="http://schemas.openxmlformats.org/officeDocument/2006/relationships/notesMaster" Target="/ppt/notesMasters/notesMaster1.xml" Id="R567b39325096475b" /><Relationship Type="http://schemas.openxmlformats.org/officeDocument/2006/relationships/presProps" Target="/ppt/presProps.xml" Id="Rb8b7739d02d84b58" /><Relationship Type="http://schemas.openxmlformats.org/officeDocument/2006/relationships/tableStyles" Target="/ppt/tableStyles.xml" Id="R97bce9563e894ace" /><Relationship Type="http://schemas.openxmlformats.org/officeDocument/2006/relationships/slide" Target="/ppt/slides/slide1.xml" Id="R82be1545fcb44cb1" /><Relationship Type="http://schemas.openxmlformats.org/officeDocument/2006/relationships/slide" Target="/ppt/slides/slide2.xml" Id="Rb3dc358d8a9d41d2" /><Relationship Type="http://schemas.openxmlformats.org/officeDocument/2006/relationships/slide" Target="/ppt/slides/slide3.xml" Id="R8026c59b7be647f9" /><Relationship Type="http://schemas.openxmlformats.org/officeDocument/2006/relationships/slide" Target="/ppt/slides/slide4.xml" Id="Red042c0d42e34cfb" /><Relationship Type="http://schemas.openxmlformats.org/officeDocument/2006/relationships/slide" Target="/ppt/slides/slide5.xml" Id="R4c6c85c9b69146e0" /><Relationship Type="http://schemas.openxmlformats.org/officeDocument/2006/relationships/slide" Target="/ppt/slides/slide6.xml" Id="Ra668263cdc0e4618" /><Relationship Type="http://schemas.openxmlformats.org/officeDocument/2006/relationships/slide" Target="/ppt/slides/slide7.xml" Id="R62ffaaa46f674f63" /><Relationship Type="http://schemas.openxmlformats.org/officeDocument/2006/relationships/slide" Target="/ppt/slides/slide8.xml" Id="Rc995fc795d904f0c" /><Relationship Type="http://schemas.openxmlformats.org/officeDocument/2006/relationships/slide" Target="/ppt/slides/slide9.xml" Id="R9b43a45bfead459d" /><Relationship Type="http://schemas.openxmlformats.org/officeDocument/2006/relationships/slide" Target="/ppt/slides/slide10.xml" Id="R3450effca8d64723" /><Relationship Type="http://schemas.openxmlformats.org/officeDocument/2006/relationships/slide" Target="/ppt/slides/slide11.xml" Id="Rd009b211a0b5422e" /><Relationship Type="http://schemas.openxmlformats.org/officeDocument/2006/relationships/slide" Target="/ppt/slides/slide12.xml" Id="R9ae30ad72170406b" /><Relationship Type="http://schemas.openxmlformats.org/officeDocument/2006/relationships/slide" Target="/ppt/slides/slide13.xml" Id="R8611b663422f49ca" /><Relationship Type="http://schemas.openxmlformats.org/officeDocument/2006/relationships/slide" Target="/ppt/slides/slide14.xml" Id="R079e8305f601431d" /><Relationship Type="http://schemas.openxmlformats.org/officeDocument/2006/relationships/slide" Target="/ppt/slides/slide15.xml" Id="Rb5ab9e52535b4200" /><Relationship Type="http://schemas.openxmlformats.org/officeDocument/2006/relationships/slide" Target="/ppt/slides/slide16.xml" Id="Ra8ca734b0bc04528" /><Relationship Type="http://schemas.openxmlformats.org/officeDocument/2006/relationships/slide" Target="/ppt/slides/slide17.xml" Id="R7473692e481949e6" /><Relationship Type="http://schemas.openxmlformats.org/officeDocument/2006/relationships/slide" Target="/ppt/slides/slide18.xml" Id="R5ea48709570848c3" /><Relationship Type="http://schemas.openxmlformats.org/officeDocument/2006/relationships/slide" Target="/ppt/slides/slide19.xml" Id="R5a74c6c35a044367" /><Relationship Type="http://schemas.openxmlformats.org/officeDocument/2006/relationships/slide" Target="/ppt/slides/slide20.xml" Id="Raca1b59c535e492f" /><Relationship Type="http://schemas.openxmlformats.org/officeDocument/2006/relationships/slide" Target="/ppt/slides/slide21.xml" Id="Re1e318e3b6944489" /><Relationship Type="http://schemas.openxmlformats.org/officeDocument/2006/relationships/slide" Target="/ppt/slides/slide22.xml" Id="Ra4c421972bfb4d6e" /><Relationship Type="http://schemas.openxmlformats.org/officeDocument/2006/relationships/slide" Target="/ppt/slides/slide23.xml" Id="R417b7464732f49e9" /><Relationship Type="http://schemas.openxmlformats.org/officeDocument/2006/relationships/slide" Target="/ppt/slides/slide24.xml" Id="Ra1653bb2f1ed403d" /><Relationship Type="http://schemas.openxmlformats.org/officeDocument/2006/relationships/slide" Target="/ppt/slides/slide25.xml" Id="R69d54c7c03d84196" /><Relationship Type="http://schemas.openxmlformats.org/officeDocument/2006/relationships/slide" Target="/ppt/slides/slide26.xml" Id="Re1812ac149a34350" /><Relationship Type="http://schemas.openxmlformats.org/officeDocument/2006/relationships/slide" Target="/ppt/slides/slide27.xml" Id="Re45885ba210c4603" /><Relationship Type="http://schemas.openxmlformats.org/officeDocument/2006/relationships/slide" Target="/ppt/slides/slide28.xml" Id="R6e58c1b1d0044711" /><Relationship Type="http://schemas.openxmlformats.org/officeDocument/2006/relationships/slide" Target="/ppt/slides/slide29.xml" Id="R4b65b16c41254790" /><Relationship Type="http://schemas.openxmlformats.org/officeDocument/2006/relationships/slide" Target="/ppt/slides/slide30.xml" Id="Re7605aa9de164246" /><Relationship Type="http://schemas.openxmlformats.org/officeDocument/2006/relationships/slide" Target="/ppt/slides/slide31.xml" Id="R7c9034496e2d495c" /><Relationship Type="http://schemas.openxmlformats.org/officeDocument/2006/relationships/slide" Target="/ppt/slides/slide32.xml" Id="Recc3f742d7ed4a50" /><Relationship Type="http://schemas.openxmlformats.org/officeDocument/2006/relationships/slide" Target="/ppt/slides/slide33.xml" Id="R1ae1a307bdb84b77" /><Relationship Type="http://schemas.openxmlformats.org/officeDocument/2006/relationships/slide" Target="/ppt/slides/slide34.xml" Id="Rc5860ecfab864403" /><Relationship Type="http://schemas.openxmlformats.org/officeDocument/2006/relationships/slide" Target="/ppt/slides/slide35.xml" Id="R64c6e5427cfd42cf" /><Relationship Type="http://schemas.openxmlformats.org/officeDocument/2006/relationships/slide" Target="/ppt/slides/slide36.xml" Id="R9d0f1458916c4ed3" /><Relationship Type="http://schemas.openxmlformats.org/officeDocument/2006/relationships/slide" Target="/ppt/slides/slide37.xml" Id="R03328a9c47164c6a" /><Relationship Type="http://schemas.openxmlformats.org/officeDocument/2006/relationships/slide" Target="/ppt/slides/slide38.xml" Id="R2a4ac4168e15458d" /><Relationship Type="http://schemas.openxmlformats.org/officeDocument/2006/relationships/slide" Target="/ppt/slides/slide39.xml" Id="R0fba8c0be346494c" /><Relationship Type="http://schemas.openxmlformats.org/officeDocument/2006/relationships/slide" Target="/ppt/slides/slide40.xml" Id="Rd7630054469d4c15" /><Relationship Type="http://schemas.openxmlformats.org/officeDocument/2006/relationships/slide" Target="/ppt/slides/slide41.xml" Id="R4d1bdd1ecbab4b89" /><Relationship Type="http://schemas.openxmlformats.org/officeDocument/2006/relationships/slide" Target="/ppt/slides/slide42.xml" Id="R0a615b50761e4e76" /><Relationship Type="http://schemas.openxmlformats.org/officeDocument/2006/relationships/slide" Target="/ppt/slides/slide43.xml" Id="R68d120da0014434a" /><Relationship Type="http://schemas.openxmlformats.org/officeDocument/2006/relationships/slide" Target="/ppt/slides/slide44.xml" Id="R48dbd53082e04a1b" /><Relationship Type="http://schemas.openxmlformats.org/officeDocument/2006/relationships/slide" Target="/ppt/slides/slide45.xml" Id="Rb5e60d5caab44852" /><Relationship Type="http://schemas.openxmlformats.org/officeDocument/2006/relationships/slide" Target="/ppt/slides/slide46.xml" Id="R5fed5612094b4883" /><Relationship Type="http://schemas.openxmlformats.org/officeDocument/2006/relationships/slide" Target="/ppt/slides/slide47.xml" Id="R69523c81f1fa44f9" /><Relationship Type="http://schemas.openxmlformats.org/officeDocument/2006/relationships/slide" Target="/ppt/slides/slide48.xml" Id="Rd9338b50a3a64b6f" /><Relationship Type="http://schemas.openxmlformats.org/officeDocument/2006/relationships/slide" Target="/ppt/slides/slide49.xml" Id="R61686fca980f4f6b" /><Relationship Type="http://schemas.openxmlformats.org/officeDocument/2006/relationships/slide" Target="/ppt/slides/slide50.xml" Id="Rb3e658cf7f9542e1" /><Relationship Type="http://schemas.openxmlformats.org/officeDocument/2006/relationships/slide" Target="/ppt/slides/slide51.xml" Id="Rd7b697920cfc41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44c3d2439a49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92a05c42534ad1" /><Relationship Type="http://schemas.openxmlformats.org/officeDocument/2006/relationships/notesMaster" Target="/ppt/notesMasters/notesMaster1.xml" Id="Rd1273740d2ca4f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2328b73edb4294" /><Relationship Type="http://schemas.openxmlformats.org/officeDocument/2006/relationships/notesMaster" Target="/ppt/notesMasters/notesMaster1.xml" Id="R58529303f83548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353c7424ee4088" /><Relationship Type="http://schemas.openxmlformats.org/officeDocument/2006/relationships/notesMaster" Target="/ppt/notesMasters/notesMaster1.xml" Id="R08b3d66ddc094f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38515064e6440b" /><Relationship Type="http://schemas.openxmlformats.org/officeDocument/2006/relationships/notesMaster" Target="/ppt/notesMasters/notesMaster1.xml" Id="R29b3eb26992c48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22e176ff364d2f" /><Relationship Type="http://schemas.openxmlformats.org/officeDocument/2006/relationships/notesMaster" Target="/ppt/notesMasters/notesMaster1.xml" Id="R8edd3fa47b984d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a06359979d44e0" /><Relationship Type="http://schemas.openxmlformats.org/officeDocument/2006/relationships/notesMaster" Target="/ppt/notesMasters/notesMaster1.xml" Id="R3270f8e31b414d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78c8a516d545a0" /><Relationship Type="http://schemas.openxmlformats.org/officeDocument/2006/relationships/notesMaster" Target="/ppt/notesMasters/notesMaster1.xml" Id="Ra6e9b7ece4f74e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394edfc8d84b6c" /><Relationship Type="http://schemas.openxmlformats.org/officeDocument/2006/relationships/notesMaster" Target="/ppt/notesMasters/notesMaster1.xml" Id="R9f926bd113624e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ef341d926743c2" /><Relationship Type="http://schemas.openxmlformats.org/officeDocument/2006/relationships/notesMaster" Target="/ppt/notesMasters/notesMaster1.xml" Id="Ra556d913065a45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d7f540e0dd4a25" /><Relationship Type="http://schemas.openxmlformats.org/officeDocument/2006/relationships/notesMaster" Target="/ppt/notesMasters/notesMaster1.xml" Id="R5704aae659174a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a6c4141be64c2f" /><Relationship Type="http://schemas.openxmlformats.org/officeDocument/2006/relationships/notesMaster" Target="/ppt/notesMasters/notesMaster1.xml" Id="R4494672954fe490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d42876384d41a4" /><Relationship Type="http://schemas.openxmlformats.org/officeDocument/2006/relationships/notesMaster" Target="/ppt/notesMasters/notesMaster1.xml" Id="Ra0fc039a72cf44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a0456779b841ff" /><Relationship Type="http://schemas.openxmlformats.org/officeDocument/2006/relationships/notesMaster" Target="/ppt/notesMasters/notesMaster1.xml" Id="Rd267f79c578d41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b4b5c9c7fbd4516" /><Relationship Type="http://schemas.openxmlformats.org/officeDocument/2006/relationships/notesMaster" Target="/ppt/notesMasters/notesMaster1.xml" Id="R0d7f8a0c23dd49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d06762430742a3" /><Relationship Type="http://schemas.openxmlformats.org/officeDocument/2006/relationships/notesMaster" Target="/ppt/notesMasters/notesMaster1.xml" Id="R537bf86741284c3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a7cc3a49af24344" /><Relationship Type="http://schemas.openxmlformats.org/officeDocument/2006/relationships/notesMaster" Target="/ppt/notesMasters/notesMaster1.xml" Id="Rf6a9379896a041b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a9cdb032754d37" /><Relationship Type="http://schemas.openxmlformats.org/officeDocument/2006/relationships/notesMaster" Target="/ppt/notesMasters/notesMaster1.xml" Id="R2914ea4189f84b9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252810765b4fa2" /><Relationship Type="http://schemas.openxmlformats.org/officeDocument/2006/relationships/notesMaster" Target="/ppt/notesMasters/notesMaster1.xml" Id="R139003acd58e49e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43b4cbeefd4212" /><Relationship Type="http://schemas.openxmlformats.org/officeDocument/2006/relationships/notesMaster" Target="/ppt/notesMasters/notesMaster1.xml" Id="Rda92a4a4cf6148c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0354ad3cf74aba" /><Relationship Type="http://schemas.openxmlformats.org/officeDocument/2006/relationships/notesMaster" Target="/ppt/notesMasters/notesMaster1.xml" Id="R361c5055e67c41e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a4eaaad7f3b4015" /><Relationship Type="http://schemas.openxmlformats.org/officeDocument/2006/relationships/notesMaster" Target="/ppt/notesMasters/notesMaster1.xml" Id="R69598b45ea95464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58142ec78ca48a9" /><Relationship Type="http://schemas.openxmlformats.org/officeDocument/2006/relationships/notesMaster" Target="/ppt/notesMasters/notesMaster1.xml" Id="R275e2463e86045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873114076a14f29" /><Relationship Type="http://schemas.openxmlformats.org/officeDocument/2006/relationships/notesMaster" Target="/ppt/notesMasters/notesMaster1.xml" Id="R0cd5982ee5374d1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0b8f6c3396841fa" /><Relationship Type="http://schemas.openxmlformats.org/officeDocument/2006/relationships/notesMaster" Target="/ppt/notesMasters/notesMaster1.xml" Id="R37f6e5621e2a48a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ca746a0f5c94b8e" /><Relationship Type="http://schemas.openxmlformats.org/officeDocument/2006/relationships/notesMaster" Target="/ppt/notesMasters/notesMaster1.xml" Id="R29227caa3179404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29be1725f7d4a71" /><Relationship Type="http://schemas.openxmlformats.org/officeDocument/2006/relationships/notesMaster" Target="/ppt/notesMasters/notesMaster1.xml" Id="R38aee287c17e420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c854a01d44b460c" /><Relationship Type="http://schemas.openxmlformats.org/officeDocument/2006/relationships/notesMaster" Target="/ppt/notesMasters/notesMaster1.xml" Id="R1b04d62f0d494f5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d3d1f45aebc4e9a" /><Relationship Type="http://schemas.openxmlformats.org/officeDocument/2006/relationships/notesMaster" Target="/ppt/notesMasters/notesMaster1.xml" Id="R97dfeceb6f054ef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9c8aee67c184c6e" /><Relationship Type="http://schemas.openxmlformats.org/officeDocument/2006/relationships/notesMaster" Target="/ppt/notesMasters/notesMaster1.xml" Id="R3cb793ba669b4d0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ff69bf127c74acc" /><Relationship Type="http://schemas.openxmlformats.org/officeDocument/2006/relationships/notesMaster" Target="/ppt/notesMasters/notesMaster1.xml" Id="Rdb8c9a9fd7fd4de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3f2fa0ad0ee4456" /><Relationship Type="http://schemas.openxmlformats.org/officeDocument/2006/relationships/notesMaster" Target="/ppt/notesMasters/notesMaster1.xml" Id="Re6d6084e9ed2449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429aa9318df41cb" /><Relationship Type="http://schemas.openxmlformats.org/officeDocument/2006/relationships/notesMaster" Target="/ppt/notesMasters/notesMaster1.xml" Id="R71a997b445d642f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f2af6574ef44cde" /><Relationship Type="http://schemas.openxmlformats.org/officeDocument/2006/relationships/notesMaster" Target="/ppt/notesMasters/notesMaster1.xml" Id="Ree3683f6cc384c1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45feec01f56496e" /><Relationship Type="http://schemas.openxmlformats.org/officeDocument/2006/relationships/notesMaster" Target="/ppt/notesMasters/notesMaster1.xml" Id="R47145845a2cd4f5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0a4a334c4f7405d" /><Relationship Type="http://schemas.openxmlformats.org/officeDocument/2006/relationships/notesMaster" Target="/ppt/notesMasters/notesMaster1.xml" Id="Rd4859dc288ca41d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0f306eab66c4823" /><Relationship Type="http://schemas.openxmlformats.org/officeDocument/2006/relationships/notesMaster" Target="/ppt/notesMasters/notesMaster1.xml" Id="Rbf3550ce6ad14d3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f87efe28a104844" /><Relationship Type="http://schemas.openxmlformats.org/officeDocument/2006/relationships/notesMaster" Target="/ppt/notesMasters/notesMaster1.xml" Id="R7d4e958ff072421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0bac8f8d4a54097" /><Relationship Type="http://schemas.openxmlformats.org/officeDocument/2006/relationships/notesMaster" Target="/ppt/notesMasters/notesMaster1.xml" Id="Rb5f6cb16c67e4c5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ce5196c4eb6423a" /><Relationship Type="http://schemas.openxmlformats.org/officeDocument/2006/relationships/notesMaster" Target="/ppt/notesMasters/notesMaster1.xml" Id="R7bc89002aa4f4f9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8082b0daee740de" /><Relationship Type="http://schemas.openxmlformats.org/officeDocument/2006/relationships/notesMaster" Target="/ppt/notesMasters/notesMaster1.xml" Id="R23780d65ecb9481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2b68866655b4a0d" /><Relationship Type="http://schemas.openxmlformats.org/officeDocument/2006/relationships/notesMaster" Target="/ppt/notesMasters/notesMaster1.xml" Id="R617de03324974ae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ca9f36fb7fa4d64" /><Relationship Type="http://schemas.openxmlformats.org/officeDocument/2006/relationships/notesMaster" Target="/ppt/notesMasters/notesMaster1.xml" Id="Rbb7f5f40d44b4d0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8bf10117b314fe1" /><Relationship Type="http://schemas.openxmlformats.org/officeDocument/2006/relationships/notesMaster" Target="/ppt/notesMasters/notesMaster1.xml" Id="R3cfb3becfcdc420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1f1f963570e4090" /><Relationship Type="http://schemas.openxmlformats.org/officeDocument/2006/relationships/notesMaster" Target="/ppt/notesMasters/notesMaster1.xml" Id="R958dd474b62a40d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73b0311c1b64141" /><Relationship Type="http://schemas.openxmlformats.org/officeDocument/2006/relationships/notesMaster" Target="/ppt/notesMasters/notesMaster1.xml" Id="R020c806cb71c4e7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fdfc43c2a814a27" /><Relationship Type="http://schemas.openxmlformats.org/officeDocument/2006/relationships/notesMaster" Target="/ppt/notesMasters/notesMaster1.xml" Id="R618f6be2f5eb42d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04fb4fa179e48c6" /><Relationship Type="http://schemas.openxmlformats.org/officeDocument/2006/relationships/notesMaster" Target="/ppt/notesMasters/notesMaster1.xml" Id="R12105f85a7274e7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a01895b338d45b6" /><Relationship Type="http://schemas.openxmlformats.org/officeDocument/2006/relationships/notesMaster" Target="/ppt/notesMasters/notesMaster1.xml" Id="R3b26b815cbf4467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3c504e288cd4e99" /><Relationship Type="http://schemas.openxmlformats.org/officeDocument/2006/relationships/notesMaster" Target="/ppt/notesMasters/notesMaster1.xml" Id="R33ee8381015f40a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118d826ef414baf" /><Relationship Type="http://schemas.openxmlformats.org/officeDocument/2006/relationships/notesMaster" Target="/ppt/notesMasters/notesMaster1.xml" Id="R7f951ea2999b4df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43763e62a5445dd" /><Relationship Type="http://schemas.openxmlformats.org/officeDocument/2006/relationships/notesMaster" Target="/ppt/notesMasters/notesMaster1.xml" Id="R6220c1b58c9b47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series now includes CAL-A02, which removed the crossover-entry constraint and asked a direct long/cash question. The primary ridge policy stopped; 2024+ remains sealed.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Project/Time-Series-Modeling-Gen5/operator_hypothesis_lab/docs/HYP_IMOM_04_1_CAL_A02_TSLA_DIRECT_EXPOSURE_RESULTS.md</a:t>
            </a:r>
          </a:p>
          <a:p xmlns:a="http://schemas.openxmlformats.org/drawingml/2006/main">
            <a:r>
              <a:t>- C:/Users/Franc/OneDrive/Documents/Francis/Peltata Project/Time-Series-Modeling-Gen5/docs/GEN5_1_POC_PROGRESS_LOG.md</a:t>
            </a:r>
          </a:p>
          <a:p xmlns:a="http://schemas.openxmlformats.org/drawingml/2006/main">
            <a:r>
              <a:t>- C:/Users/Franc/OneDrive/Documents/Francis/Peltata Project/Time-Series-Modeling-Gen5/runs/research_workbench/operator_hypothesis_lab/hyp_imom_04_1_cal_a02_tsla_direct_exposure_20260823/visuals/him042_capture_map.png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ladder slot groups five QQQ questions and two explicitly outcome-aware TSLA calibrations. CAL-A02 changed the action surface from crossover permission to direct next-session long/cash exposure.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Project/Time-Series-Modeling-Gen5/docs/GEN5_1_POC_PROGRESS_LOG.md</a:t>
            </a:r>
          </a:p>
          <a:p xmlns:a="http://schemas.openxmlformats.org/drawingml/2006/main">
            <a:r>
              <a:t>- C:/Users/Franc/OneDrive/Documents/Francis/Peltata Project/Time-Series-Modeling-Gen5/operator_hypothesis_lab/docs/HYP_IMOM_04_1_CAL_A02_TSLA_DIRECT_EXPOSURE_RESULTS.md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phase asks the Chan-style predictor question directly, before entry rules, overlapping sleeves, transaction costs, or portfolio construction.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Project\Time-Series-Modeling-Gen5\literature_studies\docs\GEN5_LIT_MOM_01_3_SPY_HORIZON_SURFACE_RESULTS.md</a:t>
            </a:r>
          </a:p>
          <a:p xmlns:a="http://schemas.openxmlformats.org/drawingml/2006/main">
            <a:r>
              <a:t>- C:\Users\Franc\OneDrive\Documents\Francis\Peltata Project\Time-Series-Modeling-Gen5\literature_studies\docs\GEN5_LIT_MOM_01_4_MULTI_MARKET_PREDICTOR_ATLAS_RESULTS.md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2017–2023 sandbox contained 1,699 common anchors across 28 frozen predictor-target cells. The best observed correlation was far inside the maximum-statistic null surface; 250/25 was negative rather than weakly positive.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Project\Time-Series-Modeling-Gen5\literature_studies\docs\GEN5_LIT_MOM_01_3_SPY_HORIZON_SURFACE_RESULTS.md</a:t>
            </a:r>
          </a:p>
          <a:p xmlns:a="http://schemas.openxmlformats.org/drawingml/2006/main">
            <a:r>
              <a:t>- C:\Users\Franc\OneDrive\Documents\Francis\Peltata Project\Time-Series-Modeling-Gen5\runs\research_workbench\literature_grounded\lit_mom_01_3_spy_horizon_surface_20260821\visuals\mom013_surface_heatmaps.png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92 assets were eligible. Positive TRAIN nominees received exactly one fixed DEVELOPMENT test. Plain ETFs, engineered ETFs, and stocks all failed their predeclared within-stratum multiplicity gate.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Project\Time-Series-Modeling-Gen5\literature_studies\docs\GEN5_LIT_MOM_01_4_MULTI_MARKET_PREDICTOR_ATLAS_RESULTS.md</a:t>
            </a:r>
          </a:p>
          <a:p xmlns:a="http://schemas.openxmlformats.org/drawingml/2006/main">
            <a:r>
              <a:t>- C:\Users\Franc\OneDrive\Documents\Francis\Peltata Project\Time-Series-Modeling-Gen5\runs\research_workbench\literature_grounded\lit_mom_01_4_multi_market_predictor_atlas_20260821\visuals\mom014_development_fdr.png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phase follows the intuition pump: perhaps two equal trailing returns should imply different futures when one arose smoothly and the other from a shock. The test requires that extra description to improve proper forecast loss, not merely look appealing on a chart.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Project\Time-Series-Modeling-Gen5\literature_studies\docs\GEN5_LIT_MOM_01_5_PATH_QUALITY_FORECAST_COMPARISON_RESULTS.md</a:t>
            </a:r>
          </a:p>
          <a:p xmlns:a="http://schemas.openxmlformats.org/drawingml/2006/main">
            <a:r>
              <a:t>- C:\Users\Franc\OneDrive\Documents\Francis\Peltata Project\Time-Series-Modeling-Gen5\literature_studies\docs\GEN5_LIT_IMOM_01_2_30MIN_PATH_QUALITY_FORECAST_COMPARISON_RESULTS.md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intercept-only drift baseline is deliberately hard to beat: it asks whether recent path information improves the average future-return forecast. SQQQ failed the frozen full-rank gate at L250; all its partial cells were discarded.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Project\Time-Series-Modeling-Gen5\literature_studies\docs\GEN5_LIT_MOM_01_5_PATH_QUALITY_FORECAST_COMPARISON_RESULTS.md</a:t>
            </a:r>
          </a:p>
          <a:p xmlns:a="http://schemas.openxmlformats.org/drawingml/2006/main">
            <a:r>
              <a:t>- C:\Users\Franc\OneDrive\Documents\Francis\Peltata Project\Time-Series-Modeling-Gen5\runs\research_workbench\literature_grounded\lit_mom_01_5_path_quality_forecast_comparison_20260821\visuals\mom015_model_loss_comparison.png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few point estimates looked better, but the family-level question was whether any asset carried stable incremental path-quality information after multiplicity. The answer was no.</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Project\Time-Series-Modeling-Gen5\literature_studies\docs\GEN5_LIT_MOM_01_5_PATH_QUALITY_FORECAST_COMPARISON_RESULTS.md</a:t>
            </a:r>
          </a:p>
          <a:p xmlns:a="http://schemas.openxmlformats.org/drawingml/2006/main">
            <a:r>
              <a:t>- C:\Users\Franc\OneDrive\Documents\Francis\Peltata Project\Time-Series-Modeling-Gen5\runs\research_workbench\literature_grounded\lit_mom_01_5_path_quality_forecast_comparison_20260821\visuals\mom015_primary_fdr.png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hypothesis was transported in bar units rather than rescaled to preserve daily calendar durations. Both the exact drop-in and clock-aware chains produced the same model ranking.</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Project\Time-Series-Modeling-Gen5\literature_studies\docs\GEN5_LIT_IMOM_01_2_30MIN_PATH_QUALITY_FORECAST_COMPARISON_RESULTS.md</a:t>
            </a:r>
          </a:p>
          <a:p xmlns:a="http://schemas.openxmlformats.org/drawingml/2006/main">
            <a:r>
              <a:t>- C:\Users\Franc\OneDrive\Documents\Francis\Peltata Project\Time-Series-Modeling-Gen5\runs\research_workbench\literature_grounded\lit_imom_01_2_30min_path_quality_forecast_comparison_20260821\visuals\imom012_model_loss_comparison.png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diagnostic separates targets that remain within a session from targets that cross a session boundary. Neither location produced positive path-quality improvement.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Project\Time-Series-Modeling-Gen5\literature_studies\docs\GEN5_LIT_IMOM_01_2_30MIN_PATH_QUALITY_FORECAST_COMPARISON_RESULTS.md</a:t>
            </a:r>
          </a:p>
          <a:p xmlns:a="http://schemas.openxmlformats.org/drawingml/2006/main">
            <a:r>
              <a:t>- C:\Users\Franc\OneDrive\Documents\Francis\Peltata Project\Time-Series-Modeling-Gen5\runs\research_workbench\literature_grounded\lit_imom_01_2_30min_path_quality_forecast_comparison_20260821\visuals\imom012_slot_diagnostic.png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phase introduces a distinct recurrence mechanism: a stock's relative move in one 30-minute slot may repeat in that same slot on the next session. The placebo surface asks whether the named clock alignment is actually special.</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Project\Time-Series-Modeling-Gen5\literature_studies\docs\GEN5_LIT_IMOM_01_3_SAME_SLOT_RELATIVE_MOMENTUM_RESULTS.md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same-slot term enters only after the clock baseline and the prior-day relative-return challenger. Twelve circular source-slot displacements provide a direct placebo test of clock specificity.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Project\Time-Series-Modeling-Gen5\literature_studies\docs\GEN5_LIT_IMOM_01_3_SAME_SLOT_RELATIVE_MOMENTUM_RESULTS.md</a:t>
            </a:r>
          </a:p>
          <a:p xmlns:a="http://schemas.openxmlformats.org/drawingml/2006/main">
            <a:r>
              <a:t>- C:\Users\Franc\OneDrive\Documents\Francis\Peltata Project\Time-Series-Modeling-Gen5\runs\research_workbench\literature_grounded\lit_imom_01_3_same_slot_relative_momentum_20260821\run_spec.json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panel contrasts are the primary evidence. G10, S21, S20, and the specificity contrast U were all negative, with strictly negative 90% bootstrap intervals.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Project\Time-Series-Modeling-Gen5\literature_studies\docs\GEN5_LIT_IMOM_01_3_SAME_SLOT_RELATIVE_MOMENTUM_RESULTS.md</a:t>
            </a:r>
          </a:p>
          <a:p xmlns:a="http://schemas.openxmlformats.org/drawingml/2006/main">
            <a:r>
              <a:t>- C:\Users\Franc\OneDrive\Documents\Francis\Peltata Project\Time-Series-Modeling-Gen5\runs\research_workbench\literature_grounded\lit_imom_01_3_same_slot_relative_momentum_20260821\visuals\imom013_panel_intervals.png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genuine recurring clock mechanism should make displacement zero stand out. It did not: the best displaced alignment was less harmful than the named same-slot alignment.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Project\Time-Series-Modeling-Gen5\literature_studies\docs\GEN5_LIT_IMOM_01_3_SAME_SLOT_RELATIVE_MOMENTUM_RESULTS.md</a:t>
            </a:r>
          </a:p>
          <a:p xmlns:a="http://schemas.openxmlformats.org/drawingml/2006/main">
            <a:r>
              <a:t>- C:\Users\Franc\OneDrive\Documents\Francis\Peltata Project\Time-Series-Modeling-Gen5\runs\research_workbench\literature_grounded\lit_imom_01_3_same_slot_relative_momentum_20260821\visuals\imom013_wrong_clock_surface.png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diagnostic explains why the hypothesis could feel plausible during discovery. Positive fitted recurrence was common in TRAIN, but it did not transport into broad DEVELOPMENT forecast improvement or FDR-controlled candidates.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Project\Time-Series-Modeling-Gen5\literature_studies\docs\GEN5_LIT_IMOM_01_3_SAME_SLOT_RELATIVE_MOMENTUM_RESULTS.md</a:t>
            </a:r>
          </a:p>
          <a:p xmlns:a="http://schemas.openxmlformats.org/drawingml/2006/main">
            <a:r>
              <a:t>- C:\Users\Franc\OneDrive\Documents\Francis\Peltata Project\Time-Series-Modeling-Gen5\runs\research_workbench\literature_grounded\lit_imom_01_3_same_slot_relative_momentum_20260821\visuals\imom013_same_slot_coefficients.png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positive learning: simple price-path descriptions repeatedly failed to add robust conditional forecast information. A next hypothesis should introduce a distinct, predeclared causal mechanism rather than relax these stopped specifications.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Project\Time-Series-Modeling-Gen5\literature_studies\docs\GEN5_LIT_MOM_01_3_SPY_HORIZON_SURFACE_RESULTS.md</a:t>
            </a:r>
          </a:p>
          <a:p xmlns:a="http://schemas.openxmlformats.org/drawingml/2006/main">
            <a:r>
              <a:t>- C:\Users\Franc\OneDrive\Documents\Francis\Peltata Project\Time-Series-Modeling-Gen5\literature_studies\docs\GEN5_LIT_MOM_01_4_MULTI_MARKET_PREDICTOR_ATLAS_RESULTS.md</a:t>
            </a:r>
          </a:p>
          <a:p xmlns:a="http://schemas.openxmlformats.org/drawingml/2006/main">
            <a:r>
              <a:t>- C:\Users\Franc\OneDrive\Documents\Francis\Peltata Project\Time-Series-Modeling-Gen5\literature_studies\docs\GEN5_LIT_MOM_01_5_PATH_QUALITY_FORECAST_COMPARISON_RESULTS.md</a:t>
            </a:r>
          </a:p>
          <a:p xmlns:a="http://schemas.openxmlformats.org/drawingml/2006/main">
            <a:r>
              <a:t>- C:\Users\Franc\OneDrive\Documents\Francis\Peltata Project\Time-Series-Modeling-Gen5\literature_studies\docs\GEN5_LIT_IMOM_01_2_30MIN_PATH_QUALITY_FORECAST_COMPARISON_RESULTS.md</a:t>
            </a:r>
          </a:p>
          <a:p xmlns:a="http://schemas.openxmlformats.org/drawingml/2006/main">
            <a:r>
              <a:t>- C:\Users\Franc\OneDrive\Documents\Francis\Peltata Project\Time-Series-Modeling-Gen5\literature_studies\docs\GEN5_LIT_IMOM_01_3_SAME_SLOT_RELATIVE_MOMENTUM_RESULTS.md</a:t>
            </a:r>
          </a:p>
          <a:p xmlns:a="http://schemas.openxmlformats.org/drawingml/2006/main">
            <a:r>
              <a:t>- C:\Users\Franc\OneDrive\Documents\Francis\Peltata Project\Time-Series-Modeling-Gen5\docs\GEN5_1_POC_PROGRESS_LOG.md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phase removes broad market direction from both predictor and target. QQQ is compared with QQEW, which tracked the equal-weight Nasdaq-100 through the registered evidence window.</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Project/Time-Series-Modeling-Gen5/operator_hypothesis_lab/docs/HYP_MOM_07_1_QQQ_EQUAL_WEIGHT_LEADERSHIP_CONTRACT.md</a:t>
            </a:r>
          </a:p>
          <a:p xmlns:a="http://schemas.openxmlformats.org/drawingml/2006/main">
            <a:r>
              <a:t>- https://indexes.nasdaq.com/Index/Overview/NDXE</a:t>
            </a:r>
          </a:p>
          <a:p xmlns:a="http://schemas.openxmlformats.org/drawingml/2006/main">
            <a:r>
              <a:t>- https://www.ftportfolios.com/retail/etf/etfsummary.aspx?Ticker=QQEW</a:t>
            </a:r>
          </a:p>
          <a:p xmlns:a="http://schemas.openxmlformats.org/drawingml/2006/main">
            <a:r>
              <a:t>- C:/Users/Franc/OneDrive/Documents/Francis/Peltata Project/Time-Series-Modeling-Gen5/runs/research_workbench/operator_hypothesis_lab/hyp_mom_07_1_qqq_equal_weight_leadership_20260822/visuals/hm071_train_surface.png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2017-2020 TRAIN panel crossed lookbacks 5, 20, and 60 with forward horizons 1, 5, and 20. Every correlation and every slope was negative, so the registered positive-persistence mechanism had no candidate cell.</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Project/Time-Series-Modeling-Gen5/operator_hypothesis_lab/docs/HYP_MOM_07_1_QQQ_EQUAL_WEIGHT_LEADERSHIP_RESULTS.md</a:t>
            </a:r>
          </a:p>
          <a:p xmlns:a="http://schemas.openxmlformats.org/drawingml/2006/main">
            <a:r>
              <a:t>- C:/Users/Franc/OneDrive/Documents/Francis/Peltata Project/Time-Series-Modeling-Gen5/runs/research_workbench/operator_hypothesis_lab/hyp_mom_07_1_qqq_equal_weight_leadership_20260822/hm071_train_surface.csv</a:t>
            </a:r>
          </a:p>
          <a:p xmlns:a="http://schemas.openxmlformats.org/drawingml/2006/main">
            <a:r>
              <a:t>- C:/Users/Franc/OneDrive/Documents/Francis/Peltata Project/Time-Series-Modeling-Gen5/runs/research_workbench/operator_hypothesis_lab/hyp_mom_07_1_qqq_equal_weight_leadership_20260822/visuals/hm071_train_surface.png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global control enumerated 867 admissible joint circular shifts and retained each shift's best correlation across the nine-cell surface. The observed maximum was below the entire positive search hurdle and had the wrong sign.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Project/Time-Series-Modeling-Gen5/operator_hypothesis_lab/docs/HYP_MOM_07_1_QQQ_EQUAL_WEIGHT_LEADERSHIP_RESULTS.md</a:t>
            </a:r>
          </a:p>
          <a:p xmlns:a="http://schemas.openxmlformats.org/drawingml/2006/main">
            <a:r>
              <a:t>- C:/Users/Franc/OneDrive/Documents/Francis/Peltata Project/Time-Series-Modeling-Gen5/runs/research_workbench/operator_hypothesis_lab/hyp_mom_07_1_qqq_equal_weight_leadership_20260822/hm071_train_decision.csv</a:t>
            </a:r>
          </a:p>
          <a:p xmlns:a="http://schemas.openxmlformats.org/drawingml/2006/main">
            <a:r>
              <a:t>- C:/Users/Franc/OneDrive/Documents/Francis/Peltata Project/Time-Series-Modeling-Gen5/runs/research_workbench/operator_hypothesis_lab/hyp_mom_07_1_qqq_equal_weight_leadership_20260822/visuals/hm071_train_search_control.png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negative QQQ-minus-QQEW surface is preserved as an unexpected finding. A later reversal question may investigate it independently, but it cannot be obtained by flipping this stopped persistence hypothesis.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Project/Time-Series-Modeling-Gen5/operator_hypothesis_lab/docs/HYP_MOM_07_1_QQQ_EQUAL_WEIGHT_LEADERSHIP_RESULTS.md</a:t>
            </a:r>
          </a:p>
          <a:p xmlns:a="http://schemas.openxmlformats.org/drawingml/2006/main">
            <a:r>
              <a:t>- C:/Users/Franc/OneDrive/Documents/Francis/Peltata Project/Time-Series-Modeling-Gen5/literature_studies/docs/GEN5_QQQ_MINIMAL_HYPOTHESIS_SLATE.md</a:t>
            </a:r>
          </a:p>
          <a:p xmlns:a="http://schemas.openxmlformats.org/drawingml/2006/main">
            <a:r>
              <a:t>- C:/Users/Franc/OneDrive/Documents/Francis/Peltata Project/Time-Series-Modeling-Gen5/docs/GEN5_1_POC_PROGRESS_LOG.md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phase changes from same-universe daily leadership to a causal cross-asset intraday transmission question. The three panels illustrate the fixed observation and target clock; they are not selected profitable trades.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Project/Time-Series-Modeling-Gen5/operator_hypothesis_lab/docs/HYP_IMOM_03_1_SMH_TO_QQQ_FIRST_HOUR_LEAD_LAG_CONTRACT.md</a:t>
            </a:r>
          </a:p>
          <a:p xmlns:a="http://schemas.openxmlformats.org/drawingml/2006/main">
            <a:r>
              <a:t>- C:/Users/Franc/OneDrive/Documents/Francis/Peltata Project/Time-Series-Modeling-Gen5/runs/research_workbench/operator_hypothesis_lab/hyp_imom_03_1_smh_qqq_lead_lag_20260822/him031_report.md</a:t>
            </a:r>
          </a:p>
          <a:p xmlns:a="http://schemas.openxmlformats.org/drawingml/2006/main">
            <a:r>
              <a:t>- C:/Users/Franc/OneDrive/Documents/Francis/Peltata Project/Time-Series-Modeling-Gen5/runs/research_workbench/operator_hypothesis_lab/hyp_imom_03_1_smh_qqq_lead_lag_20260822/visuals/him031_representative_event_tapes.png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predictor is fully known at 10:30 ET and the target begins at the next bar's open, so signal and target do not overlap. Expanding folds score 2019 and 2020 without training on the scored year.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Project/Time-Series-Modeling-Gen5/operator_hypothesis_lab/docs/HYP_IMOM_03_1_SMH_TO_QQQ_FIRST_HOUR_LEAD_LAG_CONTRACT.md</a:t>
            </a:r>
          </a:p>
          <a:p xmlns:a="http://schemas.openxmlformats.org/drawingml/2006/main">
            <a:r>
              <a:t>- C:/Users/Franc/OneDrive/Documents/Francis/Peltata Project/Time-Series-Modeling-Gen5/operator_hypothesis_lab/R/gen5_hyp_imom_03_1_smh_qqq_lead_lag.R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partial slope is the coefficient on first-hour SMH-minus-QQQ leadership after controlling for weekday and both QQQ and SPY first-hour returns. The registered mechanism required a positive coefficient.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Project/Time-Series-Modeling-Gen5/runs/research_workbench/operator_hypothesis_lab/hyp_imom_03_1_smh_qqq_lead_lag_20260822/him031_train_coefficients.csv</a:t>
            </a:r>
          </a:p>
          <a:p xmlns:a="http://schemas.openxmlformats.org/drawingml/2006/main">
            <a:r>
              <a:t>- C:/Users/Franc/OneDrive/Documents/Francis/Peltata Project/Time-Series-Modeling-Gen5/runs/research_workbench/operator_hypothesis_lab/hyp_imom_03_1_smh_qqq_lead_lag_20260822/him031_train_gates.csv</a:t>
            </a:r>
          </a:p>
          <a:p xmlns:a="http://schemas.openxmlformats.org/drawingml/2006/main">
            <a:r>
              <a:t>- C:/Users/Franc/OneDrive/Documents/Francis/Peltata Project/Time-Series-Modeling-Gen5/runs/research_workbench/operator_hypothesis_lab/hyp_imom_03_1_smh_qqq_lead_lag_20260822/visuals/him031_train_partial_relationship.png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LEADER model was effectively tied with its own-market control on MSE, slightly better on MAE, and worse than the prior-session wrong-clock placebo. A 2,000-replicate stationary bootstrap did not establish positive loss improvement.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Project/Time-Series-Modeling-Gen5/runs/research_workbench/operator_hypothesis_lab/hyp_imom_03_1_smh_qqq_lead_lag_20260822/him031_train_model_metrics.csv</a:t>
            </a:r>
          </a:p>
          <a:p xmlns:a="http://schemas.openxmlformats.org/drawingml/2006/main">
            <a:r>
              <a:t>- C:/Users/Franc/OneDrive/Documents/Francis/Peltata Project/Time-Series-Modeling-Gen5/runs/research_workbench/operator_hypothesis_lab/hyp_imom_03_1_smh_qqq_lead_lag_20260822/him031_train_loss_improvement.csv</a:t>
            </a:r>
          </a:p>
          <a:p xmlns:a="http://schemas.openxmlformats.org/drawingml/2006/main">
            <a:r>
              <a:t>- C:/Users/Franc/OneDrive/Documents/Francis/Peltata Project/Time-Series-Modeling-Gen5/runs/research_workbench/operator_hypothesis_lab/hyp_imom_03_1_smh_qqq_lead_lag_20260822/him031_train_gates.csv</a:t>
            </a:r>
          </a:p>
          <a:p xmlns:a="http://schemas.openxmlformats.org/drawingml/2006/main">
            <a:r>
              <a:t>- C:/Users/Franc/OneDrive/Documents/Francis/Peltata Project/Time-Series-Modeling-Gen5/runs/research_workbench/operator_hypothesis_lab/hyp_imom_03_1_smh_qqq_lead_lag_20260822/visuals/him031_train_model_loss.png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and data audit passed, but the proposed cross-asset lead-lag did not. Four of six frozen TRAIN gates failed, so neither DEVELOPMENT nor confirmation was constructed. The next authorized slate item is the daily QQQ-versus-SPY relative-trend question.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Project/Time-Series-Modeling-Gen5/operator_hypothesis_lab/docs/HYP_IMOM_03_1_SMH_TO_QQQ_FIRST_HOUR_LEAD_LAG_RESULTS.md</a:t>
            </a:r>
          </a:p>
          <a:p xmlns:a="http://schemas.openxmlformats.org/drawingml/2006/main">
            <a:r>
              <a:t>- C:/Users/Franc/OneDrive/Documents/Francis/Peltata Project/Time-Series-Modeling-Gen5/runs/research_workbench/operator_hypothesis_lab/hyp_imom_03_1_smh_qqq_lead_lag_20260822/him031_train_decision.csv</a:t>
            </a:r>
          </a:p>
          <a:p xmlns:a="http://schemas.openxmlformats.org/drawingml/2006/main">
            <a:r>
              <a:t>- C:/Users/Franc/OneDrive/Documents/Francis/Peltata Project/Time-Series-Modeling-Gen5/literature_studies/docs/GEN5_QQQ_MINIMAL_HYPOTHESIS_SLATE.md</a:t>
            </a:r>
          </a:p>
          <a:p xmlns:a="http://schemas.openxmlformats.org/drawingml/2006/main">
            <a:r>
              <a:t>- C:/Users/Franc/OneDrive/Documents/Francis/Peltata Project/Time-Series-Modeling-Gen5/docs/GEN5_1_POC_PROGRESS_LOG.md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phase changes from same-session cross-asset transmission to daily style-relative continuation. Both predictor and target are QQQ return minus SPY return, so broad-market direction is removed by construction.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Project/Time-Series-Modeling-Gen5/operator_hypothesis_lab/docs/HYP_MOM_08_1_QQQ_SPY_RELATIVE_STRENGTH_CONTRACT.md</a:t>
            </a:r>
          </a:p>
          <a:p xmlns:a="http://schemas.openxmlformats.org/drawingml/2006/main">
            <a:r>
              <a:t>- C:/Users/Franc/OneDrive/Documents/Francis/Peltata Project/Time-Series-Modeling-Gen5/runs/research_workbench/operator_hypothesis_lab/hyp_mom_08_1_qqq_spy_relative_strength_20260822/hm081_report.md</a:t>
            </a:r>
          </a:p>
          <a:p xmlns:a="http://schemas.openxmlformats.org/drawingml/2006/main">
            <a:r>
              <a:t>- C:/Users/Franc/OneDrive/Documents/Francis/Peltata Project/Time-Series-Modeling-Gen5/runs/research_workbench/operator_hypothesis_lab/hyp_mom_08_1_qqq_spy_relative_strength_20260822/visuals/hm081_train_surface.png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registered grid used lookbacks 5, 20, and 60 sessions and horizons 1, 5, and 20 sessions. Eight correlations and eight slopes were negative. The single positive correlation was the longest lookback and longest horizon.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Project/Time-Series-Modeling-Gen5/runs/research_workbench/operator_hypothesis_lab/hyp_mom_08_1_qqq_spy_relative_strength_20260822/hm081_train_surface.csv</a:t>
            </a:r>
          </a:p>
          <a:p xmlns:a="http://schemas.openxmlformats.org/drawingml/2006/main">
            <a:r>
              <a:t>- C:/Users/Franc/OneDrive/Documents/Francis/Peltata Project/Time-Series-Modeling-Gen5/runs/research_workbench/operator_hypothesis_lab/hyp_mom_08_1_qqq_spy_relative_strength_20260822/hm081_train_coverage.csv</a:t>
            </a:r>
          </a:p>
          <a:p xmlns:a="http://schemas.openxmlformats.org/drawingml/2006/main">
            <a:r>
              <a:t>- C:/Users/Franc/OneDrive/Documents/Francis/Peltata Project/Time-Series-Modeling-Gen5/runs/research_workbench/operator_hypothesis_lab/hyp_mom_08_1_qqq_spy_relative_strength_20260822/visuals/hm081_train_surface.png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eligible joint circular shift preserved the QQQ/SPY relative-return structure while displacing predictor from target by at least 60 sessions. Each shifted sample contributed its maximum across all nine cells, controlling the frozen search family.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Project/Time-Series-Modeling-Gen5/runs/research_workbench/operator_hypothesis_lab/hyp_mom_08_1_qqq_spy_relative_strength_20260822/hm081_train_shift_maxima.csv</a:t>
            </a:r>
          </a:p>
          <a:p xmlns:a="http://schemas.openxmlformats.org/drawingml/2006/main">
            <a:r>
              <a:t>- C:/Users/Franc/OneDrive/Documents/Francis/Peltata Project/Time-Series-Modeling-Gen5/runs/research_workbench/operator_hypothesis_lab/hyp_mom_08_1_qqq_spy_relative_strength_20260822/hm081_train_decision.csv</a:t>
            </a:r>
          </a:p>
          <a:p xmlns:a="http://schemas.openxmlformats.org/drawingml/2006/main">
            <a:r>
              <a:t>- C:/Users/Franc/OneDrive/Documents/Francis/Peltata Project/Time-Series-Modeling-Gen5/runs/research_workbench/operator_hypothesis_lab/hyp_mom_08_1_qqq_spy_relative_strength_20260822/visuals/hm081_train_search_control.png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historical source and exact requested range were valid. The health WARN reflects the intentionally bounded TRAIN query ending in 2020, not missing requested bars. The search-adjusted TRAIN rule failed, so DEVELOPMENT and confirmation were never constructed. QQQ-S5 volume-confirmed continuation is the next authorized slate item.</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Project/Time-Series-Modeling-Gen5/operator_hypothesis_lab/docs/HYP_MOM_08_1_QQQ_SPY_RELATIVE_STRENGTH_RESULTS.md</a:t>
            </a:r>
          </a:p>
          <a:p xmlns:a="http://schemas.openxmlformats.org/drawingml/2006/main">
            <a:r>
              <a:t>- C:/Users/Franc/OneDrive/Documents/Francis/Peltata Project/Time-Series-Modeling-Gen5/runs/research_workbench/operator_hypothesis_lab/hyp_mom_08_1_qqq_spy_relative_strength_20260822/hm081_train_decision.csv</a:t>
            </a:r>
          </a:p>
          <a:p xmlns:a="http://schemas.openxmlformats.org/drawingml/2006/main">
            <a:r>
              <a:t>- C:/Users/Franc/OneDrive/Documents/Francis/Peltata Project/Time-Series-Modeling-Gen5/literature_studies/docs/GEN5_QQQ_MINIMAL_HYPOTHESIS_SLATE.md</a:t>
            </a:r>
          </a:p>
          <a:p xmlns:a="http://schemas.openxmlformats.org/drawingml/2006/main">
            <a:r>
              <a:t>- C:/Users/Franc/OneDrive/Documents/Francis/Peltata Project/Time-Series-Modeling-Gen5/docs/GEN5_1_POC_PROGRESS_LOG.md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phase changes from relative style leadership to participation-conditioned own-return continuation. The event panels show representative high-participation episodes; they are behavioral context, not selected targets or strategy examples.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Project/Time-Series-Modeling-Gen5/operator_hypothesis_lab/docs/HYP_MOM_09_1_QQQ_VOLUME_CONFIRMED_CONTINUATION_CONTRACT.md</a:t>
            </a:r>
          </a:p>
          <a:p xmlns:a="http://schemas.openxmlformats.org/drawingml/2006/main">
            <a:r>
              <a:t>- C:/Users/Franc/OneDrive/Documents/Francis/Peltata Project/Time-Series-Modeling-Gen5/runs/research_workbench/operator_hypothesis_lab/hyp_mom_09_1_qqq_volume_confirmed_continuation_20260822/hm091_train_participation_audit.csv</a:t>
            </a:r>
          </a:p>
          <a:p xmlns:a="http://schemas.openxmlformats.org/drawingml/2006/main">
            <a:r>
              <a:t>- C:/Users/Franc/OneDrive/Documents/Francis/Peltata Project/Time-Series-Modeling-Gen5/runs/research_workbench/operator_hypothesis_lab/hyp_mom_09_1_qqq_volume_confirmed_continuation_20260822/visuals/hm091_train_participation_events.png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date is excluded from its own 60-session dollar-volume reference. The registered interaction must add information after intercept, signed return, positive participation surprise, and absolute return are removed. Targets start at the next open.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Project/Time-Series-Modeling-Gen5/operator_hypothesis_lab/docs/HYP_MOM_09_1_QQQ_VOLUME_CONFIRMED_CONTINUATION_CONTRACT.md</a:t>
            </a:r>
          </a:p>
          <a:p xmlns:a="http://schemas.openxmlformats.org/drawingml/2006/main">
            <a:r>
              <a:t>- C:/Users/Franc/OneDrive/Documents/Francis/Peltata Project/Time-Series-Modeling-Gen5/runs/research_workbench/operator_hypothesis_lab/hyp_mom_09_1_qqq_volume_confirmed_continuation_20260822/hm091_frozen_contract.csv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registered grid crossed return and participation lookbacks 1, 5, and 20 sessions with forward horizons 1, 5, and 20. The maximum positive cell used the shortest lookback and longest horizon, while the longest-longest cell was materially negative.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Project/Time-Series-Modeling-Gen5/runs/research_workbench/operator_hypothesis_lab/hyp_mom_09_1_qqq_volume_confirmed_continuation_20260822/hm091_train_surface.csv</a:t>
            </a:r>
          </a:p>
          <a:p xmlns:a="http://schemas.openxmlformats.org/drawingml/2006/main">
            <a:r>
              <a:t>- C:/Users/Franc/OneDrive/Documents/Francis/Peltata Project/Time-Series-Modeling-Gen5/runs/research_workbench/operator_hypothesis_lab/hyp_mom_09_1_qqq_volume_confirmed_continuation_20260822/hm091_train_coverage.csv</a:t>
            </a:r>
          </a:p>
          <a:p xmlns:a="http://schemas.openxmlformats.org/drawingml/2006/main">
            <a:r>
              <a:t>- C:/Users/Franc/OneDrive/Documents/Francis/Peltata Project/Time-Series-Modeling-Gen5/runs/research_workbench/operator_hypothesis_lab/hyp_mom_09_1_qqq_volume_confirmed_continuation_20260822/visuals/hm091_train_surface.png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admissible joint circular shift displaced the three target horizons from the feature rows by at least 60 anchors. Each shift contributed its maximum across all nine cells, preserving the full registered search family. The observed peak did not clear the p90 threshold.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Project/Time-Series-Modeling-Gen5/runs/research_workbench/operator_hypothesis_lab/hyp_mom_09_1_qqq_volume_confirmed_continuation_20260822/hm091_train_shift_maxima.csv</a:t>
            </a:r>
          </a:p>
          <a:p xmlns:a="http://schemas.openxmlformats.org/drawingml/2006/main">
            <a:r>
              <a:t>- C:/Users/Franc/OneDrive/Documents/Francis/Peltata Project/Time-Series-Modeling-Gen5/runs/research_workbench/operator_hypothesis_lab/hyp_mom_09_1_qqq_volume_confirmed_continuation_20260822/hm091_train_decision.csv</a:t>
            </a:r>
          </a:p>
          <a:p xmlns:a="http://schemas.openxmlformats.org/drawingml/2006/main">
            <a:r>
              <a:t>- C:/Users/Franc/OneDrive/Documents/Francis/Peltata Project/Time-Series-Modeling-Gen5/runs/research_workbench/operator_hypothesis_lab/hyp_mom_09_1_qqq_volume_confirmed_continuation_20260822/visuals/hm091_train_search_control.png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historical-range health WARN was harmless because every requested session through 2020 was already cached. The frozen TRAIN gate failed, so no nominee, DEVELOPMENT calculation, strategy result, or confirmation read exists. QQQ breadth remains distinct but data-authority constrained.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Project/Time-Series-Modeling-Gen5/operator_hypothesis_lab/docs/HYP_MOM_09_1_QQQ_VOLUME_CONFIRMED_CONTINUATION_RESULTS.md</a:t>
            </a:r>
          </a:p>
          <a:p xmlns:a="http://schemas.openxmlformats.org/drawingml/2006/main">
            <a:r>
              <a:t>- C:/Users/Franc/OneDrive/Documents/Francis/Peltata Project/Time-Series-Modeling-Gen5/runs/research_workbench/operator_hypothesis_lab/hyp_mom_09_1_qqq_volume_confirmed_continuation_20260822/hm091_report.md</a:t>
            </a:r>
          </a:p>
          <a:p xmlns:a="http://schemas.openxmlformats.org/drawingml/2006/main">
            <a:r>
              <a:t>- C:/Users/Franc/OneDrive/Documents/Francis/Peltata Project/Time-Series-Modeling-Gen5/literature_studies/docs/GEN5_QQQ_MINIMAL_HYPOTHESIS_SLATE.md</a:t>
            </a:r>
          </a:p>
          <a:p xmlns:a="http://schemas.openxmlformats.org/drawingml/2006/main">
            <a:r>
              <a:t>- C:/Users/Franc/OneDrive/Documents/Francis/Peltata Project/Time-Series-Modeling-Gen5/docs/GEN5_1_POC_PROGRESS_LOG.md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operator_hypothesis_lab/docs/HYP_MOM_10_1_QQQ_ADJACENT_ETF_CROSS_SECTIONAL_MOMENTUM_RESULTS.md</a:t>
            </a:r>
          </a:p>
          <a:p xmlns:a="http://schemas.openxmlformats.org/drawingml/2006/main">
            <a:r>
              <a:t>- runs/research_workbench/operator_hypothesis_lab/hyp_mom_10_1_qqq_adjacent_etf_cross_sectional_momentum_20260822/visuals/hm101_train_overlap.png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operator_hypothesis_lab/docs/HYP_MOM_10_1_QQQ_ADJACENT_ETF_CROSS_SECTIONAL_MOMENTUM_CONTRACT.md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operator_hypothesis_lab/docs/HYP_MOM_10_1_QQQ_ADJACENT_ETF_CROSS_SECTIONAL_MOMENTUM_RESULTS.md</a:t>
            </a:r>
          </a:p>
          <a:p xmlns:a="http://schemas.openxmlformats.org/drawingml/2006/main">
            <a:r>
              <a:t>- runs/research_workbench/operator_hypothesis_lab/hyp_mom_10_1_qqq_adjacent_etf_cross_sectional_momentum_20260822/visuals/hm101_train_surface.png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operator_hypothesis_lab/docs/HYP_MOM_10_1_QQQ_ADJACENT_ETF_CROSS_SECTIONAL_MOMENTUM_RESULTS.md</a:t>
            </a:r>
          </a:p>
          <a:p xmlns:a="http://schemas.openxmlformats.org/drawingml/2006/main">
            <a:r>
              <a:t>- runs/research_workbench/operator_hypothesis_lab/hyp_mom_10_1_qqq_adjacent_etf_cross_sectional_momentum_20260822/visuals/hm101_train_search_control.png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operator_hypothesis_lab/docs/HYP_MOM_10_1_QQQ_ADJACENT_ETF_CROSS_SECTIONAL_MOMENTUM_RESULTS.md</a:t>
            </a:r>
          </a:p>
          <a:p xmlns:a="http://schemas.openxmlformats.org/drawingml/2006/main">
            <a:r>
              <a:t>- runs/research_workbench/operator_hypothesis_lab/hyp_mom_10_1_qqq_adjacent_etf_cross_sectional_momentum_20260822/hm101_report.md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TSLA was an acknowledged remembered winner from the earlier intraday study, so this phase is explicitly outcome-aware calibration. The trade panels show why a remembered asset-level winner is not the same thing as a known feature-level permission mechanism.</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Project/Time-Series-Modeling-Gen5/operator_hypothesis_lab/docs/HYP_IMOM_04_1_TSLA_30MIN_SMA_PERMISSION_POSITIVE_CONTROL_RESULTS.md</a:t>
            </a:r>
          </a:p>
          <a:p xmlns:a="http://schemas.openxmlformats.org/drawingml/2006/main">
            <a:r>
              <a:t>- C:/Users/Franc/OneDrive/Documents/Francis/Peltata Project/Time-Series-Modeling-Gen5/runs/research_workbench/operator_hypothesis_lab/hyp_imom_04_1_tsla_30min_sma_permission_positive_control_20260823/visuals/him041_representative_trade_tapes.png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nine candidates shared one complete-case event ledger. Monotone thresholds were fitted inside expanding TRAIN data only. The familywise control compared the observed winner with the best of all nine variants in each shifted world.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Project/Time-Series-Modeling-Gen5/operator_hypothesis_lab/docs/HYP_IMOM_04_1_TSLA_30MIN_SMA_PERMISSION_POSITIVE_CONTROL_PLAN.md</a:t>
            </a:r>
          </a:p>
          <a:p xmlns:a="http://schemas.openxmlformats.org/drawingml/2006/main">
            <a:r>
              <a:t>- C:/Users/Franc/OneDrive/Documents/Francis/Peltata Project/Time-Series-Modeling-Gen5/runs/research_workbench/operator_hypothesis_lab/hyp_imom_04_1_tsla_30min_sma_permission_positive_control_20260823/him041_run_spec.csv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synthetic suite established that the implementation could recover each registered univariate and interaction mechanism. In TSLA, prior-day trend was the nominal proper-score winner, but it selected economically weaker trades.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Project/Time-Series-Modeling-Gen5/operator_hypothesis_lab/docs/HYP_IMOM_04_1_TSLA_30MIN_SMA_PERMISSION_POSITIVE_CONTROL_RESULTS.md</a:t>
            </a:r>
          </a:p>
          <a:p xmlns:a="http://schemas.openxmlformats.org/drawingml/2006/main">
            <a:r>
              <a:t>- C:/Users/Franc/OneDrive/Documents/Francis/Peltata Project/Time-Series-Modeling-Gen5/runs/research_workbench/operator_hypothesis_lab/hyp_imom_04_1_tsla_30min_sma_permission_positive_control_20260823/him041_synthetic_recovery.csv</a:t>
            </a:r>
          </a:p>
          <a:p xmlns:a="http://schemas.openxmlformats.org/drawingml/2006/main">
            <a:r>
              <a:t>- C:/Users/Franc/OneDrive/Documents/Francis/Peltata Project/Time-Series-Modeling-Gen5/runs/research_workbench/operator_hypothesis_lab/hyp_imom_04_1_tsla_30min_sma_permission_positive_control_20260823/him041_model_metrics.csv</a:t>
            </a:r>
          </a:p>
          <a:p xmlns:a="http://schemas.openxmlformats.org/drawingml/2006/main">
            <a:r>
              <a:t>- C:/Users/Franc/OneDrive/Documents/Francis/Peltata Project/Time-Series-Modeling-Gen5/runs/research_workbench/operator_hypothesis_lab/hyp_imom_04_1_tsla_30min_sma_permission_positive_control_20260823/visuals/him041_feature_atlas.png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control asks whether any equally sparse random subset of parent trades would have done better. The right control refits all nine variants after session shifts and records the best Brier improvement in each shifted world.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Project/Time-Series-Modeling-Gen5/operator_hypothesis_lab/docs/HYP_IMOM_04_1_TSLA_30MIN_SMA_PERMISSION_POSITIVE_CONTROL_RESULTS.md</a:t>
            </a:r>
          </a:p>
          <a:p xmlns:a="http://schemas.openxmlformats.org/drawingml/2006/main">
            <a:r>
              <a:t>- C:/Users/Franc/OneDrive/Documents/Francis/Peltata Project/Time-Series-Modeling-Gen5/runs/research_workbench/operator_hypothesis_lab/hyp_imom_04_1_tsla_30min_sma_permission_positive_control_20260823/him041_matched_random_permission_controls.csv</a:t>
            </a:r>
          </a:p>
          <a:p xmlns:a="http://schemas.openxmlformats.org/drawingml/2006/main">
            <a:r>
              <a:t>- C:/Users/Franc/OneDrive/Documents/Francis/Peltata Project/Time-Series-Modeling-Gen5/runs/research_workbench/operator_hypothesis_lab/hyp_imom_04_1_tsla_30min_sma_permission_positive_control_20260823/him041_familywise_session_shift_controls.csv</a:t>
            </a:r>
          </a:p>
          <a:p xmlns:a="http://schemas.openxmlformats.org/drawingml/2006/main">
            <a:r>
              <a:t>- C:/Users/Franc/OneDrive/Documents/Francis/Peltata Project/Time-Series-Modeling-Gen5/runs/research_workbench/operator_hypothesis_lab/hyp_imom_04_1_tsla_30min_sma_permission_positive_control_20260823/visuals/him041_falsification_controls.png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model cut exposure to 9.6% and mean annual turnover to 48.4x, but its gross gain of 14.1% became a loss after primary costs. The unchanged parent was unusually profitable in this reused period, yet the feature model removed rather than concentrated that profitable exposure.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Project/Time-Series-Modeling-Gen5/operator_hypothesis_lab/docs/HYP_IMOM_04_1_TSLA_30MIN_SMA_PERMISSION_POSITIVE_CONTROL_RESULTS.md</a:t>
            </a:r>
          </a:p>
          <a:p xmlns:a="http://schemas.openxmlformats.org/drawingml/2006/main">
            <a:r>
              <a:t>- C:/Users/Franc/OneDrive/Documents/Francis/Peltata Project/Time-Series-Modeling-Gen5/runs/research_workbench/operator_hypothesis_lab/hyp_imom_04_1_tsla_30min_sma_permission_positive_control_20260823/him041_policy_summary.csv</a:t>
            </a:r>
          </a:p>
          <a:p xmlns:a="http://schemas.openxmlformats.org/drawingml/2006/main">
            <a:r>
              <a:t>- C:/Users/Franc/OneDrive/Documents/Francis/Peltata Project/Time-Series-Modeling-Gen5/runs/research_workbench/operator_hypothesis_lab/hyp_imom_04_1_tsla_30min_sma_permission_positive_control_20260823/visuals/him041_policy_equity_curves.png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CAL-A01 ends with a synthetic-engine PASS and a TSLA market-calibration STOP. This result does not authorize fresh transport. Any further iteration must be separately logged as CAL-A02 and remain explicitly outcome-aware.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Project/Time-Series-Modeling-Gen5/operator_hypothesis_lab/docs/HYP_IMOM_04_1_TSLA_30MIN_SMA_PERMISSION_POSITIVE_CONTROL_RESULTS.md</a:t>
            </a:r>
          </a:p>
          <a:p xmlns:a="http://schemas.openxmlformats.org/drawingml/2006/main">
            <a:r>
              <a:t>- C:/Users/Franc/OneDrive/Documents/Francis/Peltata Project/Time-Series-Modeling-Gen5/runs/research_workbench/operator_hypothesis_lab/hyp_imom_04_1_tsla_30min_sma_permission_positive_control_20260823/him041_calibration_gates.csv</a:t>
            </a:r>
          </a:p>
          <a:p xmlns:a="http://schemas.openxmlformats.org/drawingml/2006/main">
            <a:r>
              <a:t>- C:/Users/Franc/OneDrive/Documents/Francis/Peltata Project/Time-Series-Modeling-Gen5/docs/GEN5_1_POC_PROGRESS_LOG.md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CAL-A02 tests the user's desired action pattern directly: hold TSLA during favorable states and otherwise remain in cash. The representative tapes expose where the learned state did and did not align with price behavior.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Project/Time-Series-Modeling-Gen5/operator_hypothesis_lab/docs/HYP_IMOM_04_1_CAL_A02_TSLA_DIRECT_EXPOSURE_RESULTS.md</a:t>
            </a:r>
          </a:p>
          <a:p xmlns:a="http://schemas.openxmlformats.org/drawingml/2006/main">
            <a:r>
              <a:t>- C:/Users/Franc/OneDrive/Documents/Francis/Peltata Project/Time-Series-Modeling-Gen5/runs/research_workbench/operator_hypothesis_lab/hyp_imom_04_1_cal_a02_tsla_direct_exposure_20260823/visuals/him042_representative_exposure_tapes.png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R1 is the prespecified primary model with TRAIN-only standardization and chronological lambda selection. T1 is a prespecified shallow diagnostic, but CAL-A02 did not register separate tree-specific policy-inference gates.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Project/Time-Series-Modeling-Gen5/operator_hypothesis_lab/docs/HYP_IMOM_04_1_CAL_A02_TSLA_DIRECT_EXPOSURE_PLAN.md</a:t>
            </a:r>
          </a:p>
          <a:p xmlns:a="http://schemas.openxmlformats.org/drawingml/2006/main">
            <a:r>
              <a:t>- C:/Users/Franc/OneDrive/Documents/Francis/Peltata Project/Time-Series-Modeling-Gen5/runs/research_workbench/operator_hypothesis_lab/hyp_imom_04_1_cal_a02_tsla_direct_exposure_20260823/him042_run_spec.csv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policy was active often enough to capture most upside, but it was not selective: it also captured nearly the same share of downside. The oracle confirms the accounting and policy engine can express the intended upper-left behavior.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Project/Time-Series-Modeling-Gen5/operator_hypothesis_lab/docs/HYP_IMOM_04_1_CAL_A02_TSLA_DIRECT_EXPOSURE_RESULTS.md</a:t>
            </a:r>
          </a:p>
          <a:p xmlns:a="http://schemas.openxmlformats.org/drawingml/2006/main">
            <a:r>
              <a:t>- C:/Users/Franc/OneDrive/Documents/Francis/Peltata Project/Time-Series-Modeling-Gen5/runs/research_workbench/operator_hypothesis_lab/hyp_imom_04_1_cal_a02_tsla_direct_exposure_20260823/him042_policy_summary.csv</a:t>
            </a:r>
          </a:p>
          <a:p xmlns:a="http://schemas.openxmlformats.org/drawingml/2006/main">
            <a:r>
              <a:t>- C:/Users/Franc/OneDrive/Documents/Francis/Peltata Project/Time-Series-Modeling-Gen5/runs/research_workbench/operator_hypothesis_lab/hyp_imom_04_1_cal_a02_tsla_direct_exposure_20260823/him042_oracle_accounting.csv</a:t>
            </a:r>
          </a:p>
          <a:p xmlns:a="http://schemas.openxmlformats.org/drawingml/2006/main">
            <a:r>
              <a:t>- C:/Users/Franc/OneDrive/Documents/Francis/Peltata Project/Time-Series-Modeling-Gen5/runs/research_workbench/operator_hypothesis_lab/hyp_imom_04_1_cal_a02_tsla_direct_exposure_20260823/visuals/him042_capture_map.png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ridge forecast was worse than the intercept-only TRAIN drift baseline. Its policy replay was better than many matched circular permissions, but did not clear the frozen 90th-percentile bar.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Project/Time-Series-Modeling-Gen5/operator_hypothesis_lab/docs/HYP_IMOM_04_1_CAL_A02_TSLA_DIRECT_EXPOSURE_RESULTS.md</a:t>
            </a:r>
          </a:p>
          <a:p xmlns:a="http://schemas.openxmlformats.org/drawingml/2006/main">
            <a:r>
              <a:t>- C:/Users/Franc/OneDrive/Documents/Francis/Peltata Project/Time-Series-Modeling-Gen5/runs/research_workbench/operator_hypothesis_lab/hyp_imom_04_1_cal_a02_tsla_direct_exposure_20260823/him042_model_metrics.csv</a:t>
            </a:r>
          </a:p>
          <a:p xmlns:a="http://schemas.openxmlformats.org/drawingml/2006/main">
            <a:r>
              <a:t>- C:/Users/Franc/OneDrive/Documents/Francis/Peltata Project/Time-Series-Modeling-Gen5/runs/research_workbench/operator_hypothesis_lab/hyp_imom_04_1_cal_a02_tsla_direct_exposure_20260823/him042_familywise_target_shift_controls.csv</a:t>
            </a:r>
          </a:p>
          <a:p xmlns:a="http://schemas.openxmlformats.org/drawingml/2006/main">
            <a:r>
              <a:t>- C:/Users/Franc/OneDrive/Documents/Francis/Peltata Project/Time-Series-Modeling-Gen5/runs/research_workbench/operator_hypothesis_lab/hyp_imom_04_1_cal_a02_tsla_direct_exposure_20260823/him042_matched_permission_controls.csv</a:t>
            </a:r>
          </a:p>
          <a:p xmlns:a="http://schemas.openxmlformats.org/drawingml/2006/main">
            <a:r>
              <a:t>- C:/Users/Franc/OneDrive/Documents/Francis/Peltata Project/Time-Series-Modeling-Gen5/runs/research_workbench/operator_hypothesis_lab/hyp_imom_04_1_cal_a02_tsla_direct_exposure_20260823/visuals/him042_falsification_controls.png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depth-two diagnostic generated a large positive replay despite worse MSE, but its gains were concentrated and its root feature changed across folds. Because tree-specific economic inference was not preregistered, this is a hypothesis-generating clue only.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Project/Time-Series-Modeling-Gen5/operator_hypothesis_lab/docs/HYP_IMOM_04_1_CAL_A02_TSLA_DIRECT_EXPOSURE_RESULTS.md</a:t>
            </a:r>
          </a:p>
          <a:p xmlns:a="http://schemas.openxmlformats.org/drawingml/2006/main">
            <a:r>
              <a:t>- C:/Users/Franc/OneDrive/Documents/Francis/Peltata Project/Time-Series-Modeling-Gen5/runs/research_workbench/operator_hypothesis_lab/hyp_imom_04_1_cal_a02_tsla_direct_exposure_20260823/him042_policy_summary.csv</a:t>
            </a:r>
          </a:p>
          <a:p xmlns:a="http://schemas.openxmlformats.org/drawingml/2006/main">
            <a:r>
              <a:t>- C:/Users/Franc/OneDrive/Documents/Francis/Peltata Project/Time-Series-Modeling-Gen5/runs/research_workbench/operator_hypothesis_lab/hyp_imom_04_1_cal_a02_tsla_direct_exposure_20260823/him042_policy_quarterly_returns.csv</a:t>
            </a:r>
          </a:p>
          <a:p xmlns:a="http://schemas.openxmlformats.org/drawingml/2006/main">
            <a:r>
              <a:t>- C:/Users/Franc/OneDrive/Documents/Francis/Peltata Project/Time-Series-Modeling-Gen5/runs/research_workbench/operator_hypothesis_lab/hyp_imom_04_1_cal_a02_tsla_direct_exposure_20260823/him042_tree_structure_ledger.csv</a:t>
            </a:r>
          </a:p>
          <a:p xmlns:a="http://schemas.openxmlformats.org/drawingml/2006/main">
            <a:r>
              <a:t>- C:/Users/Franc/OneDrive/Documents/Francis/Peltata Project/Time-Series-Modeling-Gen5/runs/research_workbench/operator_hypothesis_lab/hyp_imom_04_1_cal_a02_tsla_direct_exposure_20260823/visuals/him042_direct_exposure_equity_curves.png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CAL-A02 ends with a primary-model STOP. The positive tree replay is deliberately separated from confirmation language; a follow-up would require a new frozen question, controls targeted to tree policy selection, and the same sealed 2024+ boundary.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Project/Time-Series-Modeling-Gen5/operator_hypothesis_lab/docs/HYP_IMOM_04_1_CAL_A02_TSLA_DIRECT_EXPOSURE_RESULTS.md</a:t>
            </a:r>
          </a:p>
          <a:p xmlns:a="http://schemas.openxmlformats.org/drawingml/2006/main">
            <a:r>
              <a:t>- C:/Users/Franc/OneDrive/Documents/Francis/Peltata Project/Time-Series-Modeling-Gen5/runs/research_workbench/operator_hypothesis_lab/hyp_imom_04_1_cal_a02_tsla_direct_exposure_20260823/him042_calibration_gates.csv</a:t>
            </a:r>
          </a:p>
          <a:p xmlns:a="http://schemas.openxmlformats.org/drawingml/2006/main">
            <a:r>
              <a:t>- C:/Users/Franc/OneDrive/Documents/Francis/Peltata Project/Time-Series-Modeling-Gen5/docs/GEN5_1_POC_PROGRESS_LOG.md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a4cbe57caf45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f6a315a27d43b8" /><Relationship Type="http://schemas.openxmlformats.org/officeDocument/2006/relationships/slideLayout" Target="/ppt/slideLayouts/slideLayout1.xml" Id="R8c780104a9284d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780104a9284d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6a0e595ab24a66" /><Relationship Type="http://schemas.openxmlformats.org/officeDocument/2006/relationships/image" Target="/ppt/media/image.png" Id="R867eadc4cc9e4bb4" /><Relationship Type="http://schemas.openxmlformats.org/officeDocument/2006/relationships/notesSlide" Target="/ppt/notesSlides/notesSlide1.xml" Id="R104d2a50265044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f594e88e43445c" /><Relationship Type="http://schemas.openxmlformats.org/officeDocument/2006/relationships/notesSlide" Target="/ppt/notesSlides/notesSlide2.xml" Id="Rfdd297d8d11f45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fc31b725af4446" /><Relationship Type="http://schemas.openxmlformats.org/officeDocument/2006/relationships/image" Target="/ppt/media/image2.png" Id="R453a716a7bab4238" /><Relationship Type="http://schemas.openxmlformats.org/officeDocument/2006/relationships/notesSlide" Target="/ppt/notesSlides/notesSlide3.xml" Id="Ra3d3e434cb5c4e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c50cc9472345f2" /><Relationship Type="http://schemas.openxmlformats.org/officeDocument/2006/relationships/image" Target="/ppt/media/image3.png" Id="Redcad0bdd2334630" /><Relationship Type="http://schemas.openxmlformats.org/officeDocument/2006/relationships/notesSlide" Target="/ppt/notesSlides/notesSlide4.xml" Id="Rd84f3c5355494a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20725b1074454c" /><Relationship Type="http://schemas.openxmlformats.org/officeDocument/2006/relationships/image" Target="/ppt/media/image4.png" Id="Rd4d010767fc94459" /><Relationship Type="http://schemas.openxmlformats.org/officeDocument/2006/relationships/notesSlide" Target="/ppt/notesSlides/notesSlide5.xml" Id="R835c8a30700c49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ac2bb587e04feb" /><Relationship Type="http://schemas.openxmlformats.org/officeDocument/2006/relationships/image" Target="/ppt/media/image5.png" Id="R18ba664918a840e2" /><Relationship Type="http://schemas.openxmlformats.org/officeDocument/2006/relationships/notesSlide" Target="/ppt/notesSlides/notesSlide6.xml" Id="R883fa4a63b8c44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19bdd40b6d4224" /><Relationship Type="http://schemas.openxmlformats.org/officeDocument/2006/relationships/image" Target="/ppt/media/image6.png" Id="Rf034907387ae4753" /><Relationship Type="http://schemas.openxmlformats.org/officeDocument/2006/relationships/notesSlide" Target="/ppt/notesSlides/notesSlide7.xml" Id="Rcb63de49346a4b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25e092d002c4cf5" /><Relationship Type="http://schemas.openxmlformats.org/officeDocument/2006/relationships/image" Target="/ppt/media/image7.png" Id="Rff0236e30cbe41b9" /><Relationship Type="http://schemas.openxmlformats.org/officeDocument/2006/relationships/notesSlide" Target="/ppt/notesSlides/notesSlide8.xml" Id="Rcd6e0007834a48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52dfe458784be7" /><Relationship Type="http://schemas.openxmlformats.org/officeDocument/2006/relationships/image" Target="/ppt/media/image8.png" Id="Rf61ff63caa62452a" /><Relationship Type="http://schemas.openxmlformats.org/officeDocument/2006/relationships/notesSlide" Target="/ppt/notesSlides/notesSlide9.xml" Id="Rcbe0a2a639af4c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c27ae9464d43a0" /><Relationship Type="http://schemas.openxmlformats.org/officeDocument/2006/relationships/image" Target="/ppt/media/image9.png" Id="R5bed10e5dead40cd" /><Relationship Type="http://schemas.openxmlformats.org/officeDocument/2006/relationships/notesSlide" Target="/ppt/notesSlides/notesSlide10.xml" Id="R48e8033b426b4e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d08ee709a014b32" /><Relationship Type="http://schemas.openxmlformats.org/officeDocument/2006/relationships/image" Target="/ppt/media/image10.png" Id="R3517b07cf6e94c1a" /><Relationship Type="http://schemas.openxmlformats.org/officeDocument/2006/relationships/notesSlide" Target="/ppt/notesSlides/notesSlide11.xml" Id="R60ff9d124aa542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f8f78a9b4dc48e5" /><Relationship Type="http://schemas.openxmlformats.org/officeDocument/2006/relationships/notesSlide" Target="/ppt/notesSlides/notesSlide12.xml" Id="R8e8aafee85e54d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59fa10f280f493e" /><Relationship Type="http://schemas.openxmlformats.org/officeDocument/2006/relationships/image" Target="/ppt/media/image11.png" Id="R23f5f2fc8a9b47e6" /><Relationship Type="http://schemas.openxmlformats.org/officeDocument/2006/relationships/notesSlide" Target="/ppt/notesSlides/notesSlide13.xml" Id="R1a5c8415abcd4b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797525c923448d4" /><Relationship Type="http://schemas.openxmlformats.org/officeDocument/2006/relationships/image" Target="/ppt/media/image12.png" Id="Rfd886f701d4a485e" /><Relationship Type="http://schemas.openxmlformats.org/officeDocument/2006/relationships/notesSlide" Target="/ppt/notesSlides/notesSlide14.xml" Id="R36df5d02d8ce4b3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56ffeedd68a43ae" /><Relationship Type="http://schemas.openxmlformats.org/officeDocument/2006/relationships/image" Target="/ppt/media/image13.png" Id="R4bc00246a9374f60" /><Relationship Type="http://schemas.openxmlformats.org/officeDocument/2006/relationships/notesSlide" Target="/ppt/notesSlides/notesSlide15.xml" Id="Ra560aba2988d4b3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4bb020e54cf4078" /><Relationship Type="http://schemas.openxmlformats.org/officeDocument/2006/relationships/notesSlide" Target="/ppt/notesSlides/notesSlide16.xml" Id="R2f66e862e88f47e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e26a20598754c52" /><Relationship Type="http://schemas.openxmlformats.org/officeDocument/2006/relationships/image" Target="/ppt/media/image2.png" Id="R97dbc3eb4cdd436e" /><Relationship Type="http://schemas.openxmlformats.org/officeDocument/2006/relationships/image" Target="/ppt/media/image14.png" Id="R1efb9c6b55fe4186" /><Relationship Type="http://schemas.openxmlformats.org/officeDocument/2006/relationships/notesSlide" Target="/ppt/notesSlides/notesSlide17.xml" Id="R77ee733cd7154ef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3451167451f4a33" /><Relationship Type="http://schemas.openxmlformats.org/officeDocument/2006/relationships/image" Target="/ppt/media/image3.png" Id="R06d46c77501a4834" /><Relationship Type="http://schemas.openxmlformats.org/officeDocument/2006/relationships/image" Target="/ppt/media/image15.png" Id="R2df4b570038f4acb" /><Relationship Type="http://schemas.openxmlformats.org/officeDocument/2006/relationships/notesSlide" Target="/ppt/notesSlides/notesSlide18.xml" Id="R553a6f76543d4f1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c43e0d9bf344d22" /><Relationship Type="http://schemas.openxmlformats.org/officeDocument/2006/relationships/image" Target="/ppt/media/image3.png" Id="Rd84a272d14dc4959" /><Relationship Type="http://schemas.openxmlformats.org/officeDocument/2006/relationships/image" Target="/ppt/media/image16.png" Id="R6fe308151bfb4d9b" /><Relationship Type="http://schemas.openxmlformats.org/officeDocument/2006/relationships/notesSlide" Target="/ppt/notesSlides/notesSlide19.xml" Id="R7820c2d77237447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d86a911ce7b411e" /><Relationship Type="http://schemas.openxmlformats.org/officeDocument/2006/relationships/notesSlide" Target="/ppt/notesSlides/notesSlide20.xml" Id="R5516ab1087014a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dec1b1769ca4df8" /><Relationship Type="http://schemas.openxmlformats.org/officeDocument/2006/relationships/image" Target="/ppt/media/image2.png" Id="R16b165e8e0eb4973" /><Relationship Type="http://schemas.openxmlformats.org/officeDocument/2006/relationships/image" Target="/ppt/media/image14.png" Id="R214ae5a258b84fb6" /><Relationship Type="http://schemas.openxmlformats.org/officeDocument/2006/relationships/image" Target="/ppt/media/image17.png" Id="Ra732fb6d68114d07" /><Relationship Type="http://schemas.openxmlformats.org/officeDocument/2006/relationships/notesSlide" Target="/ppt/notesSlides/notesSlide21.xml" Id="Re218ff23be294b2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94a799a076f41fe" /><Relationship Type="http://schemas.openxmlformats.org/officeDocument/2006/relationships/notesSlide" Target="/ppt/notesSlides/notesSlide22.xml" Id="R2a6902db1a564d7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e64682a8f074ea4" /><Relationship Type="http://schemas.openxmlformats.org/officeDocument/2006/relationships/image" Target="/ppt/media/image3.png" Id="R98be973fe7e242f6" /><Relationship Type="http://schemas.openxmlformats.org/officeDocument/2006/relationships/image" Target="/ppt/media/image15.png" Id="R38bc71bf63c74ba4" /><Relationship Type="http://schemas.openxmlformats.org/officeDocument/2006/relationships/image" Target="/ppt/media/image18.png" Id="R84dcf89659a441af" /><Relationship Type="http://schemas.openxmlformats.org/officeDocument/2006/relationships/notesSlide" Target="/ppt/notesSlides/notesSlide23.xml" Id="R110efe2aebea4ea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c5d3baaa1834085" /><Relationship Type="http://schemas.openxmlformats.org/officeDocument/2006/relationships/image" Target="/ppt/media/image3.png" Id="Rdb52483e01b54db7" /><Relationship Type="http://schemas.openxmlformats.org/officeDocument/2006/relationships/image" Target="/ppt/media/image15.png" Id="Rc54c3f90c40f4470" /><Relationship Type="http://schemas.openxmlformats.org/officeDocument/2006/relationships/image" Target="/ppt/media/image19.png" Id="R2e228374247f4443" /><Relationship Type="http://schemas.openxmlformats.org/officeDocument/2006/relationships/notesSlide" Target="/ppt/notesSlides/notesSlide24.xml" Id="R95d95a69f12f464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1582ab743134392" /><Relationship Type="http://schemas.openxmlformats.org/officeDocument/2006/relationships/notesSlide" Target="/ppt/notesSlides/notesSlide25.xml" Id="Rc2394f6b3ea6472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ef957574aa64de2" /><Relationship Type="http://schemas.openxmlformats.org/officeDocument/2006/relationships/image" Target="/ppt/media/image2.png" Id="Rc4ffcd848590440c" /><Relationship Type="http://schemas.openxmlformats.org/officeDocument/2006/relationships/image" Target="/ppt/media/image14.png" Id="R0f872063ad894759" /><Relationship Type="http://schemas.openxmlformats.org/officeDocument/2006/relationships/image" Target="/ppt/media/image17.png" Id="R23b07eaf9cdb42a8" /><Relationship Type="http://schemas.openxmlformats.org/officeDocument/2006/relationships/image" Target="/ppt/media/image20.png" Id="R609aba1c665c47d8" /><Relationship Type="http://schemas.openxmlformats.org/officeDocument/2006/relationships/notesSlide" Target="/ppt/notesSlides/notesSlide26.xml" Id="R597c77b324e9459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b4705acd8dc4b4f" /><Relationship Type="http://schemas.openxmlformats.org/officeDocument/2006/relationships/image" Target="/ppt/media/image3.png" Id="R0b19acdb40be495f" /><Relationship Type="http://schemas.openxmlformats.org/officeDocument/2006/relationships/image" Target="/ppt/media/image15.png" Id="R54044a65a0454955" /><Relationship Type="http://schemas.openxmlformats.org/officeDocument/2006/relationships/image" Target="/ppt/media/image18.png" Id="Rd1650f1a15cf4df9" /><Relationship Type="http://schemas.openxmlformats.org/officeDocument/2006/relationships/image" Target="/ppt/media/image21.png" Id="R0382e12a07e344bd" /><Relationship Type="http://schemas.openxmlformats.org/officeDocument/2006/relationships/notesSlide" Target="/ppt/notesSlides/notesSlide27.xml" Id="R08897f568778408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f7ff78e0d4847a2" /><Relationship Type="http://schemas.openxmlformats.org/officeDocument/2006/relationships/image" Target="/ppt/media/image3.png" Id="Rbd7f241790474173" /><Relationship Type="http://schemas.openxmlformats.org/officeDocument/2006/relationships/image" Target="/ppt/media/image15.png" Id="Re00fb5c7550d4a11" /><Relationship Type="http://schemas.openxmlformats.org/officeDocument/2006/relationships/image" Target="/ppt/media/image19.png" Id="Rb26e7747ac9a456b" /><Relationship Type="http://schemas.openxmlformats.org/officeDocument/2006/relationships/image" Target="/ppt/media/image22.png" Id="R50d5384394a148ee" /><Relationship Type="http://schemas.openxmlformats.org/officeDocument/2006/relationships/notesSlide" Target="/ppt/notesSlides/notesSlide28.xml" Id="R71fc3dfab41a4f2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e779f40a28848dd" /><Relationship Type="http://schemas.openxmlformats.org/officeDocument/2006/relationships/notesSlide" Target="/ppt/notesSlides/notesSlide29.xml" Id="Rc754c27497e64a9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4bce716a6ce4618" /><Relationship Type="http://schemas.openxmlformats.org/officeDocument/2006/relationships/image" Target="/ppt/media/image23.png" Id="R7cf026ac7e1641c6" /><Relationship Type="http://schemas.openxmlformats.org/officeDocument/2006/relationships/notesSlide" Target="/ppt/notesSlides/notesSlide30.xml" Id="R7bcb3f6b65a0422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a216d65635548ad" /><Relationship Type="http://schemas.openxmlformats.org/officeDocument/2006/relationships/notesSlide" Target="/ppt/notesSlides/notesSlide31.xml" Id="Red59f8c044a4498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576f067f43e4956" /><Relationship Type="http://schemas.openxmlformats.org/officeDocument/2006/relationships/image" Target="/ppt/media/image24.png" Id="R8c5081cb19f9491e" /><Relationship Type="http://schemas.openxmlformats.org/officeDocument/2006/relationships/notesSlide" Target="/ppt/notesSlides/notesSlide32.xml" Id="Re06a4035bae1431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849f233c94c45cc" /><Relationship Type="http://schemas.openxmlformats.org/officeDocument/2006/relationships/image" Target="/ppt/media/image25.png" Id="Ra18c9dcdc4a44988" /><Relationship Type="http://schemas.openxmlformats.org/officeDocument/2006/relationships/notesSlide" Target="/ppt/notesSlides/notesSlide33.xml" Id="R455df1b1cf66440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d23760a5b3d4a26" /><Relationship Type="http://schemas.openxmlformats.org/officeDocument/2006/relationships/notesSlide" Target="/ppt/notesSlides/notesSlide34.xml" Id="R989dfaf8edb549b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852c6c7a85c458b" /><Relationship Type="http://schemas.openxmlformats.org/officeDocument/2006/relationships/image" Target="/ppt/media/image26.png" Id="R39a1e4f967224af4" /><Relationship Type="http://schemas.openxmlformats.org/officeDocument/2006/relationships/notesSlide" Target="/ppt/notesSlides/notesSlide35.xml" Id="Rfd62bb37dd46486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9ce6b3a15d44e0c" /><Relationship Type="http://schemas.openxmlformats.org/officeDocument/2006/relationships/notesSlide" Target="/ppt/notesSlides/notesSlide36.xml" Id="R5cc94f8c0dd4420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0408c73daec47b3" /><Relationship Type="http://schemas.openxmlformats.org/officeDocument/2006/relationships/image" Target="/ppt/media/image27.png" Id="Rde199cdc350046b5" /><Relationship Type="http://schemas.openxmlformats.org/officeDocument/2006/relationships/notesSlide" Target="/ppt/notesSlides/notesSlide37.xml" Id="R3e4cd7b5b8c14de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b18c77adbdd4f95" /><Relationship Type="http://schemas.openxmlformats.org/officeDocument/2006/relationships/image" Target="/ppt/media/image28.png" Id="R3d89ee6d12944645" /><Relationship Type="http://schemas.openxmlformats.org/officeDocument/2006/relationships/notesSlide" Target="/ppt/notesSlides/notesSlide38.xml" Id="R07c0c3b2b1ec4dc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ed985919eab4bc1" /><Relationship Type="http://schemas.openxmlformats.org/officeDocument/2006/relationships/notesSlide" Target="/ppt/notesSlides/notesSlide39.xml" Id="R21e3f8c8e5f7428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bc7edbcdb7a4d40" /><Relationship Type="http://schemas.openxmlformats.org/officeDocument/2006/relationships/image" Target="/ppt/media/image29.png" Id="R75b16763a812453d" /><Relationship Type="http://schemas.openxmlformats.org/officeDocument/2006/relationships/notesSlide" Target="/ppt/notesSlides/notesSlide40.xml" Id="R79dc570cccc147b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d0599d6feaa4239" /><Relationship Type="http://schemas.openxmlformats.org/officeDocument/2006/relationships/notesSlide" Target="/ppt/notesSlides/notesSlide41.xml" Id="Ra6d034ad11a5460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9aff98cadc145ae" /><Relationship Type="http://schemas.openxmlformats.org/officeDocument/2006/relationships/image" Target="/ppt/media/image30.png" Id="Ra58c13786f044ea6" /><Relationship Type="http://schemas.openxmlformats.org/officeDocument/2006/relationships/notesSlide" Target="/ppt/notesSlides/notesSlide42.xml" Id="Rb959a062abae429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6ea9f827ed74e26" /><Relationship Type="http://schemas.openxmlformats.org/officeDocument/2006/relationships/image" Target="/ppt/media/image31.png" Id="R688d8532e90844fa" /><Relationship Type="http://schemas.openxmlformats.org/officeDocument/2006/relationships/notesSlide" Target="/ppt/notesSlides/notesSlide43.xml" Id="R2440f4f9a76045b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d5a0fcfd2eb4d01" /><Relationship Type="http://schemas.openxmlformats.org/officeDocument/2006/relationships/image" Target="/ppt/media/image32.png" Id="Rbc5228f483644f95" /><Relationship Type="http://schemas.openxmlformats.org/officeDocument/2006/relationships/notesSlide" Target="/ppt/notesSlides/notesSlide44.xml" Id="R1d6c54a0be91403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e8b86fe8a2584399" /><Relationship Type="http://schemas.openxmlformats.org/officeDocument/2006/relationships/notesSlide" Target="/ppt/notesSlides/notesSlide45.xml" Id="R65a12908faba446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381552a87964c5a" /><Relationship Type="http://schemas.openxmlformats.org/officeDocument/2006/relationships/image" Target="/ppt/media/image33.png" Id="Rea1925e838ec45bb" /><Relationship Type="http://schemas.openxmlformats.org/officeDocument/2006/relationships/notesSlide" Target="/ppt/notesSlides/notesSlide46.xml" Id="Rb655d4ff4bf4414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74e40f632aa4741" /><Relationship Type="http://schemas.openxmlformats.org/officeDocument/2006/relationships/notesSlide" Target="/ppt/notesSlides/notesSlide47.xml" Id="R9a926faec5c64fe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8de2d3f03b04bcd" /><Relationship Type="http://schemas.openxmlformats.org/officeDocument/2006/relationships/image" Target="/ppt/media/image34.png" Id="Rd4527c317a014d55" /><Relationship Type="http://schemas.openxmlformats.org/officeDocument/2006/relationships/notesSlide" Target="/ppt/notesSlides/notesSlide48.xml" Id="R2a48ee3cde1d4dc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f67c9e1719fc4bb8" /><Relationship Type="http://schemas.openxmlformats.org/officeDocument/2006/relationships/image" Target="/ppt/media/image35.png" Id="Rb7df8e796fbb49f8" /><Relationship Type="http://schemas.openxmlformats.org/officeDocument/2006/relationships/notesSlide" Target="/ppt/notesSlides/notesSlide49.xml" Id="R449694c6774b437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56b227eb27f441d" /><Relationship Type="http://schemas.openxmlformats.org/officeDocument/2006/relationships/image" Target="/ppt/media/image36.png" Id="R4e6d1e2433d849d0" /><Relationship Type="http://schemas.openxmlformats.org/officeDocument/2006/relationships/notesSlide" Target="/ppt/notesSlides/notesSlide50.xml" Id="Rff131d841c0b448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67e1c33ef8d45c0" /><Relationship Type="http://schemas.openxmlformats.org/officeDocument/2006/relationships/notesSlide" Target="/ppt/notesSlides/notesSlide51.xml" Id="R60b3d5ab198d460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ro-backing">
            <a:extLst xmlns:a="http://schemas.openxmlformats.org/drawingml/2006/main">
              <a:ext uri="{FF2B5EF4-FFF2-40B4-BE49-F238E27FC236}">
                <a16:creationId xmlns:a16="http://schemas.microsoft.com/office/drawing/2014/main" id="{DBF2003E-F000-4B81-8BC8-7F1E69E9FEF2}"/>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3" name="cover-eyebrow">
            <a:extLst xmlns:a="http://schemas.openxmlformats.org/drawingml/2006/main">
              <a:ext uri="{FF2B5EF4-FFF2-40B4-BE49-F238E27FC236}">
                <a16:creationId xmlns:a16="http://schemas.microsoft.com/office/drawing/2014/main" id="{5255774B-7429-47C5-A3C4-7E685BB305DD}"/>
              </a:ext>
            </a:extLst>
          </p:cNvPr>
          <p:cNvSpPr>
            <a:spLocks xmlns:a="http://schemas.openxmlformats.org/drawingml/2006/main" noGrp="1"/>
          </p:cNvSpPr>
          <p:nvPr/>
        </p:nvSpPr>
        <p:spPr>
          <a:xfrm xmlns:a="http://schemas.openxmlformats.org/drawingml/2006/main">
            <a:off x="457200" y="4000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MOMENTUM PREDICTOR SERIES · THROUGH HYP-IMOM-04.1 CAL-A02</a:t>
            </a:r>
          </a:p>
        </p:txBody>
      </p:sp>
      <p:sp>
        <p:nvSpPr>
          <p:cNvPr id="4" name="cover-title">
            <a:extLst xmlns:a="http://schemas.openxmlformats.org/drawingml/2006/main">
              <a:ext uri="{FF2B5EF4-FFF2-40B4-BE49-F238E27FC236}">
                <a16:creationId xmlns:a16="http://schemas.microsoft.com/office/drawing/2014/main" id="{14653E3E-0AC9-494A-98EA-9ACACAA94767}"/>
              </a:ext>
            </a:extLst>
          </p:cNvPr>
          <p:cNvSpPr>
            <a:spLocks xmlns:a="http://schemas.openxmlformats.org/drawingml/2006/main" noGrp="1"/>
          </p:cNvSpPr>
          <p:nvPr/>
        </p:nvSpPr>
        <p:spPr>
          <a:xfrm xmlns:a="http://schemas.openxmlformats.org/drawingml/2006/main">
            <a:off x="457200" y="1009650"/>
            <a:ext cx="5286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11827"/>
                </a:solidFill>
              </a:defRPr>
            </a:pPr>
            <a:r>
              <a:rPr sz="3900" b="1">
                <a:solidFill>
                  <a:srgbClr val="111827"/>
                </a:solidFill>
              </a:rPr>
              <a:t>Momentum prediction</a:t>
            </a:r>
          </a:p>
          <a:p xmlns:a="http://schemas.openxmlformats.org/drawingml/2006/main">
            <a:pPr algn="l">
              <a:buNone/>
              <a:defRPr sz="3900" b="1">
                <a:solidFill>
                  <a:srgbClr val="111827"/>
                </a:solidFill>
              </a:defRPr>
            </a:pPr>
            <a:r>
              <a:rPr sz="3900" b="1">
                <a:solidFill>
                  <a:srgbClr val="111827"/>
                </a:solidFill>
              </a:rPr>
              <a:t>under falsification</a:t>
            </a:r>
          </a:p>
        </p:txBody>
      </p:sp>
      <p:sp>
        <p:nvSpPr>
          <p:cNvPr id="5" name="cover-subtitle">
            <a:extLst xmlns:a="http://schemas.openxmlformats.org/drawingml/2006/main">
              <a:ext uri="{FF2B5EF4-FFF2-40B4-BE49-F238E27FC236}">
                <a16:creationId xmlns:a16="http://schemas.microsoft.com/office/drawing/2014/main" id="{6BE5B062-40D5-406B-8B38-6A85DE05AF71}"/>
              </a:ext>
            </a:extLst>
          </p:cNvPr>
          <p:cNvSpPr>
            <a:spLocks xmlns:a="http://schemas.openxmlformats.org/drawingml/2006/main" noGrp="1"/>
          </p:cNvSpPr>
          <p:nvPr/>
        </p:nvSpPr>
        <p:spPr>
          <a:xfrm xmlns:a="http://schemas.openxmlformats.org/drawingml/2006/main">
            <a:off x="457200" y="314325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Twelve market tests · daily and 30-minute</a:t>
            </a:r>
          </a:p>
          <a:p xmlns:a="http://schemas.openxmlformats.org/drawingml/2006/main">
            <a:pPr algn="l">
              <a:buNone/>
              <a:defRPr sz="1800" b="0">
                <a:solidFill>
                  <a:srgbClr val="5A6470"/>
                </a:solidFill>
              </a:defRPr>
            </a:pPr>
            <a:r>
              <a:rPr sz="1800" b="0">
                <a:solidFill>
                  <a:srgbClr val="5A6470"/>
                </a:solidFill>
              </a:rPr>
              <a:t>No deployable trading policy opened</a:t>
            </a:r>
          </a:p>
        </p:txBody>
      </p:sp>
      <p:sp>
        <p:nvSpPr>
          <p:cNvPr id="6" name="cover-status">
            <a:extLst xmlns:a="http://schemas.openxmlformats.org/drawingml/2006/main">
              <a:ext uri="{FF2B5EF4-FFF2-40B4-BE49-F238E27FC236}">
                <a16:creationId xmlns:a16="http://schemas.microsoft.com/office/drawing/2014/main" id="{1D8FB125-2A7F-4508-B65E-85B47214E273}"/>
              </a:ext>
            </a:extLst>
          </p:cNvPr>
          <p:cNvSpPr>
            <a:spLocks xmlns:a="http://schemas.openxmlformats.org/drawingml/2006/main" noGrp="1"/>
          </p:cNvSpPr>
          <p:nvPr/>
        </p:nvSpPr>
        <p:spPr>
          <a:xfrm xmlns:a="http://schemas.openxmlformats.org/drawingml/2006/main">
            <a:off x="457200" y="54292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46A47"/>
                </a:solidFill>
              </a:defRPr>
            </a:pPr>
            <a:r>
              <a:rPr sz="1350" b="1">
                <a:solidFill>
                  <a:srgbClr val="E46A47"/>
                </a:solidFill>
              </a:rPr>
              <a:t>TWELVE MARKET TESTS STOP · SYNTHETIC CONTROLS PASSED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67eadc4cc9e4bb4"/>
          <a:stretch xmlns:a="http://schemas.openxmlformats.org/drawingml/2006/main"/>
        </p:blipFill>
        <p:spPr>
          <a:xfrm xmlns:a="http://schemas.openxmlformats.org/drawingml/2006/main" flipH="0" flipV="0">
            <a:off x="6267450" y="1814513"/>
            <a:ext cx="5543550" cy="2771775"/>
          </a:xfrm>
          <a:prstGeom xmlns:a="http://schemas.openxmlformats.org/drawingml/2006/main" prst="rect">
            <a:avLst/>
          </a:prstGeom>
        </p:spPr>
      </p:pic>
    </p:spTree>
    <p:extLst>
      <p:ext uri="{BB962C8B-B14F-4D97-AF65-F5344CB8AC3E}">
        <p14:creationId xmlns:p14="http://schemas.microsoft.com/office/powerpoint/2010/main" val="1082798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5">
            <a:extLst xmlns:a="http://schemas.openxmlformats.org/drawingml/2006/main">
              <a:ext uri="{FF2B5EF4-FFF2-40B4-BE49-F238E27FC236}">
                <a16:creationId xmlns:a16="http://schemas.microsoft.com/office/drawing/2014/main" id="{FE5C6AA5-A332-48B8-8B13-FED934A6815C}"/>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Twelve tests narrowed the momentum story before strategy</a:t>
            </a:r>
          </a:p>
        </p:txBody>
      </p:sp>
      <p:sp>
        <p:nvSpPr>
          <p:cNvPr id="2" name="section-5">
            <a:extLst xmlns:a="http://schemas.openxmlformats.org/drawingml/2006/main">
              <a:ext uri="{FF2B5EF4-FFF2-40B4-BE49-F238E27FC236}">
                <a16:creationId xmlns:a16="http://schemas.microsoft.com/office/drawing/2014/main" id="{7FD00113-27FC-4972-9844-E7411177DAF1}"/>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EVIDENCE LADDER</a:t>
            </a:r>
          </a:p>
        </p:txBody>
      </p:sp>
      <p:sp>
        <p:nvSpPr>
          <p:cNvPr id="3" name="page-5">
            <a:extLst xmlns:a="http://schemas.openxmlformats.org/drawingml/2006/main">
              <a:ext uri="{FF2B5EF4-FFF2-40B4-BE49-F238E27FC236}">
                <a16:creationId xmlns:a16="http://schemas.microsoft.com/office/drawing/2014/main" id="{D6B86FFB-6852-4634-9E3C-7F3F1426E866}"/>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2</a:t>
            </a:r>
          </a:p>
        </p:txBody>
      </p:sp>
      <p:sp>
        <p:nvSpPr>
          <p:cNvPr id="4" name="gate-lead">
            <a:extLst xmlns:a="http://schemas.openxmlformats.org/drawingml/2006/main">
              <a:ext uri="{FF2B5EF4-FFF2-40B4-BE49-F238E27FC236}">
                <a16:creationId xmlns:a16="http://schemas.microsoft.com/office/drawing/2014/main" id="{6E131196-0832-46F0-BA7B-3B712B4AD992}"/>
              </a:ext>
            </a:extLst>
          </p:cNvPr>
          <p:cNvSpPr>
            <a:spLocks xmlns:a="http://schemas.openxmlformats.org/drawingml/2006/main" noGrp="1"/>
          </p:cNvSpPr>
          <p:nvPr/>
        </p:nvSpPr>
        <p:spPr>
          <a:xfrm xmlns:a="http://schemas.openxmlformats.org/drawingml/2006/main">
            <a:off x="457200" y="1428750"/>
            <a:ext cx="1114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Each pivot changed one scientific question while preserving causal timing, fresh DEVELOPMENT evidence, multiplicity control, and sealed confirmation data.</a:t>
            </a:r>
          </a:p>
        </p:txBody>
      </p:sp>
      <p:sp>
        <p:nvSpPr>
          <p:cNvPr id="5" name="gmark-0">
            <a:extLst xmlns:a="http://schemas.openxmlformats.org/drawingml/2006/main">
              <a:ext uri="{FF2B5EF4-FFF2-40B4-BE49-F238E27FC236}">
                <a16:creationId xmlns:a16="http://schemas.microsoft.com/office/drawing/2014/main" id="{FD6D821B-36EC-48EB-8BB4-FA6F1C3BCBF1}"/>
              </a:ext>
            </a:extLst>
          </p:cNvPr>
          <p:cNvSpPr>
            <a:spLocks xmlns:a="http://schemas.openxmlformats.org/drawingml/2006/main" noGrp="1"/>
          </p:cNvSpPr>
          <p:nvPr/>
        </p:nvSpPr>
        <p:spPr>
          <a:xfrm xmlns:a="http://schemas.openxmlformats.org/drawingml/2006/main">
            <a:off x="457200" y="2543175"/>
            <a:ext cx="142875" cy="142875"/>
          </a:xfrm>
          <a:prstGeom xmlns:a="http://schemas.openxmlformats.org/drawingml/2006/main" prst="rect">
            <a:avLst/>
          </a:prstGeom>
          <a:solidFill xmlns:a="http://schemas.openxmlformats.org/drawingml/2006/main">
            <a:srgbClr val="167D8D"/>
          </a:solidFill>
          <a:ln xmlns:a="http://schemas.openxmlformats.org/drawingml/2006/main" w="9525">
            <a:solidFill>
              <a:srgbClr val="167D8D"/>
            </a:solidFill>
            <a:prstDash val="solid"/>
          </a:ln>
        </p:spPr>
      </p:sp>
      <p:sp>
        <p:nvSpPr>
          <p:cNvPr id="6" name="gate-0">
            <a:extLst xmlns:a="http://schemas.openxmlformats.org/drawingml/2006/main">
              <a:ext uri="{FF2B5EF4-FFF2-40B4-BE49-F238E27FC236}">
                <a16:creationId xmlns:a16="http://schemas.microsoft.com/office/drawing/2014/main" id="{60B1149B-F06F-48E7-B200-A79D428C6BE2}"/>
              </a:ext>
            </a:extLst>
          </p:cNvPr>
          <p:cNvSpPr>
            <a:spLocks xmlns:a="http://schemas.openxmlformats.org/drawingml/2006/main" noGrp="1"/>
          </p:cNvSpPr>
          <p:nvPr/>
        </p:nvSpPr>
        <p:spPr>
          <a:xfrm xmlns:a="http://schemas.openxmlformats.org/drawingml/2006/main">
            <a:off x="762000" y="2476500"/>
            <a:ext cx="504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11827"/>
                </a:solidFill>
              </a:defRPr>
            </a:pPr>
            <a:r>
              <a:rPr sz="1575" b="0">
                <a:solidFill>
                  <a:srgbClr val="111827"/>
                </a:solidFill>
              </a:rPr>
              <a:t>01.3 · SPY horizon surface: no search-adjusted cell</a:t>
            </a:r>
          </a:p>
        </p:txBody>
      </p:sp>
      <p:sp>
        <p:nvSpPr>
          <p:cNvPr id="7" name="gmark-1">
            <a:extLst xmlns:a="http://schemas.openxmlformats.org/drawingml/2006/main">
              <a:ext uri="{FF2B5EF4-FFF2-40B4-BE49-F238E27FC236}">
                <a16:creationId xmlns:a16="http://schemas.microsoft.com/office/drawing/2014/main" id="{AD59BB0C-6B50-4E8A-9E2C-3FF9C622E942}"/>
              </a:ext>
            </a:extLst>
          </p:cNvPr>
          <p:cNvSpPr>
            <a:spLocks xmlns:a="http://schemas.openxmlformats.org/drawingml/2006/main" noGrp="1"/>
          </p:cNvSpPr>
          <p:nvPr/>
        </p:nvSpPr>
        <p:spPr>
          <a:xfrm xmlns:a="http://schemas.openxmlformats.org/drawingml/2006/main">
            <a:off x="457200" y="3400425"/>
            <a:ext cx="142875" cy="142875"/>
          </a:xfrm>
          <a:prstGeom xmlns:a="http://schemas.openxmlformats.org/drawingml/2006/main" prst="rect">
            <a:avLst/>
          </a:prstGeom>
          <a:solidFill xmlns:a="http://schemas.openxmlformats.org/drawingml/2006/main">
            <a:srgbClr val="167D8D"/>
          </a:solidFill>
          <a:ln xmlns:a="http://schemas.openxmlformats.org/drawingml/2006/main" w="9525">
            <a:solidFill>
              <a:srgbClr val="167D8D"/>
            </a:solidFill>
            <a:prstDash val="solid"/>
          </a:ln>
        </p:spPr>
      </p:sp>
      <p:sp>
        <p:nvSpPr>
          <p:cNvPr id="8" name="gate-1">
            <a:extLst xmlns:a="http://schemas.openxmlformats.org/drawingml/2006/main">
              <a:ext uri="{FF2B5EF4-FFF2-40B4-BE49-F238E27FC236}">
                <a16:creationId xmlns:a16="http://schemas.microsoft.com/office/drawing/2014/main" id="{AF6DB276-A095-47D5-A8EA-306196F5737D}"/>
              </a:ext>
            </a:extLst>
          </p:cNvPr>
          <p:cNvSpPr>
            <a:spLocks xmlns:a="http://schemas.openxmlformats.org/drawingml/2006/main" noGrp="1"/>
          </p:cNvSpPr>
          <p:nvPr/>
        </p:nvSpPr>
        <p:spPr>
          <a:xfrm xmlns:a="http://schemas.openxmlformats.org/drawingml/2006/main">
            <a:off x="762000" y="3333750"/>
            <a:ext cx="504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11827"/>
                </a:solidFill>
              </a:defRPr>
            </a:pPr>
            <a:r>
              <a:rPr sz="1575" b="0">
                <a:solidFill>
                  <a:srgbClr val="111827"/>
                </a:solidFill>
              </a:rPr>
              <a:t>01.4 · 92-asset transport: zero FDR survivors</a:t>
            </a:r>
          </a:p>
        </p:txBody>
      </p:sp>
      <p:sp>
        <p:nvSpPr>
          <p:cNvPr id="9" name="gmark-2">
            <a:extLst xmlns:a="http://schemas.openxmlformats.org/drawingml/2006/main">
              <a:ext uri="{FF2B5EF4-FFF2-40B4-BE49-F238E27FC236}">
                <a16:creationId xmlns:a16="http://schemas.microsoft.com/office/drawing/2014/main" id="{ED202B14-EC23-4C32-88C3-B432C7E6C532}"/>
              </a:ext>
            </a:extLst>
          </p:cNvPr>
          <p:cNvSpPr>
            <a:spLocks xmlns:a="http://schemas.openxmlformats.org/drawingml/2006/main" noGrp="1"/>
          </p:cNvSpPr>
          <p:nvPr/>
        </p:nvSpPr>
        <p:spPr>
          <a:xfrm xmlns:a="http://schemas.openxmlformats.org/drawingml/2006/main">
            <a:off x="457200" y="4257675"/>
            <a:ext cx="142875" cy="142875"/>
          </a:xfrm>
          <a:prstGeom xmlns:a="http://schemas.openxmlformats.org/drawingml/2006/main" prst="rect">
            <a:avLst/>
          </a:prstGeom>
          <a:solidFill xmlns:a="http://schemas.openxmlformats.org/drawingml/2006/main">
            <a:srgbClr val="167D8D"/>
          </a:solidFill>
          <a:ln xmlns:a="http://schemas.openxmlformats.org/drawingml/2006/main" w="9525">
            <a:solidFill>
              <a:srgbClr val="167D8D"/>
            </a:solidFill>
            <a:prstDash val="solid"/>
          </a:ln>
        </p:spPr>
      </p:sp>
      <p:sp>
        <p:nvSpPr>
          <p:cNvPr id="10" name="gate-2">
            <a:extLst xmlns:a="http://schemas.openxmlformats.org/drawingml/2006/main">
              <a:ext uri="{FF2B5EF4-FFF2-40B4-BE49-F238E27FC236}">
                <a16:creationId xmlns:a16="http://schemas.microsoft.com/office/drawing/2014/main" id="{0CCA4E25-C0DD-4AFA-98AD-1B9DDDC228DE}"/>
              </a:ext>
            </a:extLst>
          </p:cNvPr>
          <p:cNvSpPr>
            <a:spLocks xmlns:a="http://schemas.openxmlformats.org/drawingml/2006/main" noGrp="1"/>
          </p:cNvSpPr>
          <p:nvPr/>
        </p:nvSpPr>
        <p:spPr>
          <a:xfrm xmlns:a="http://schemas.openxmlformats.org/drawingml/2006/main">
            <a:off x="762000" y="4191000"/>
            <a:ext cx="504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11827"/>
                </a:solidFill>
              </a:defRPr>
            </a:pPr>
            <a:r>
              <a:rPr sz="1575" b="0">
                <a:solidFill>
                  <a:srgbClr val="111827"/>
                </a:solidFill>
              </a:rPr>
              <a:t>01.5 · Daily path quality: drift best for 77/91</a:t>
            </a:r>
          </a:p>
        </p:txBody>
      </p:sp>
      <p:sp>
        <p:nvSpPr>
          <p:cNvPr id="11" name="gmark-3">
            <a:extLst xmlns:a="http://schemas.openxmlformats.org/drawingml/2006/main">
              <a:ext uri="{FF2B5EF4-FFF2-40B4-BE49-F238E27FC236}">
                <a16:creationId xmlns:a16="http://schemas.microsoft.com/office/drawing/2014/main" id="{74668BA7-D973-493C-955B-25BB04108836}"/>
              </a:ext>
            </a:extLst>
          </p:cNvPr>
          <p:cNvSpPr>
            <a:spLocks xmlns:a="http://schemas.openxmlformats.org/drawingml/2006/main" noGrp="1"/>
          </p:cNvSpPr>
          <p:nvPr/>
        </p:nvSpPr>
        <p:spPr>
          <a:xfrm xmlns:a="http://schemas.openxmlformats.org/drawingml/2006/main">
            <a:off x="6191250" y="2543175"/>
            <a:ext cx="142875" cy="142875"/>
          </a:xfrm>
          <a:prstGeom xmlns:a="http://schemas.openxmlformats.org/drawingml/2006/main" prst="rect">
            <a:avLst/>
          </a:prstGeom>
          <a:solidFill xmlns:a="http://schemas.openxmlformats.org/drawingml/2006/main">
            <a:srgbClr val="D3A73A"/>
          </a:solidFill>
          <a:ln xmlns:a="http://schemas.openxmlformats.org/drawingml/2006/main" w="9525">
            <a:solidFill>
              <a:srgbClr val="D3A73A"/>
            </a:solidFill>
            <a:prstDash val="solid"/>
          </a:ln>
        </p:spPr>
      </p:sp>
      <p:sp>
        <p:nvSpPr>
          <p:cNvPr id="12" name="gate-3">
            <a:extLst xmlns:a="http://schemas.openxmlformats.org/drawingml/2006/main">
              <a:ext uri="{FF2B5EF4-FFF2-40B4-BE49-F238E27FC236}">
                <a16:creationId xmlns:a16="http://schemas.microsoft.com/office/drawing/2014/main" id="{FDAADC50-1106-49C2-8E84-C4708E8BCE2A}"/>
              </a:ext>
            </a:extLst>
          </p:cNvPr>
          <p:cNvSpPr>
            <a:spLocks xmlns:a="http://schemas.openxmlformats.org/drawingml/2006/main" noGrp="1"/>
          </p:cNvSpPr>
          <p:nvPr/>
        </p:nvSpPr>
        <p:spPr>
          <a:xfrm xmlns:a="http://schemas.openxmlformats.org/drawingml/2006/main">
            <a:off x="6496050" y="2476500"/>
            <a:ext cx="504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11827"/>
                </a:solidFill>
              </a:defRPr>
            </a:pPr>
            <a:r>
              <a:rPr sz="1575" b="0">
                <a:solidFill>
                  <a:srgbClr val="111827"/>
                </a:solidFill>
              </a:rPr>
              <a:t>01.2 · 30-minute path quality: path best for 0/26</a:t>
            </a:r>
          </a:p>
        </p:txBody>
      </p:sp>
      <p:sp>
        <p:nvSpPr>
          <p:cNvPr id="13" name="gmark-4">
            <a:extLst xmlns:a="http://schemas.openxmlformats.org/drawingml/2006/main">
              <a:ext uri="{FF2B5EF4-FFF2-40B4-BE49-F238E27FC236}">
                <a16:creationId xmlns:a16="http://schemas.microsoft.com/office/drawing/2014/main" id="{44E2DCDC-C427-4B36-BB2B-E12CDE278301}"/>
              </a:ext>
            </a:extLst>
          </p:cNvPr>
          <p:cNvSpPr>
            <a:spLocks xmlns:a="http://schemas.openxmlformats.org/drawingml/2006/main" noGrp="1"/>
          </p:cNvSpPr>
          <p:nvPr/>
        </p:nvSpPr>
        <p:spPr>
          <a:xfrm xmlns:a="http://schemas.openxmlformats.org/drawingml/2006/main">
            <a:off x="6191250" y="3400425"/>
            <a:ext cx="142875" cy="142875"/>
          </a:xfrm>
          <a:prstGeom xmlns:a="http://schemas.openxmlformats.org/drawingml/2006/main" prst="rect">
            <a:avLst/>
          </a:prstGeom>
          <a:solidFill xmlns:a="http://schemas.openxmlformats.org/drawingml/2006/main">
            <a:srgbClr val="D3A73A"/>
          </a:solidFill>
          <a:ln xmlns:a="http://schemas.openxmlformats.org/drawingml/2006/main" w="9525">
            <a:solidFill>
              <a:srgbClr val="D3A73A"/>
            </a:solidFill>
            <a:prstDash val="solid"/>
          </a:ln>
        </p:spPr>
      </p:sp>
      <p:sp>
        <p:nvSpPr>
          <p:cNvPr id="14" name="gate-4">
            <a:extLst xmlns:a="http://schemas.openxmlformats.org/drawingml/2006/main">
              <a:ext uri="{FF2B5EF4-FFF2-40B4-BE49-F238E27FC236}">
                <a16:creationId xmlns:a16="http://schemas.microsoft.com/office/drawing/2014/main" id="{384B3A1A-8F7A-4FE9-931F-C314AF347ADA}"/>
              </a:ext>
            </a:extLst>
          </p:cNvPr>
          <p:cNvSpPr>
            <a:spLocks xmlns:a="http://schemas.openxmlformats.org/drawingml/2006/main" noGrp="1"/>
          </p:cNvSpPr>
          <p:nvPr/>
        </p:nvSpPr>
        <p:spPr>
          <a:xfrm xmlns:a="http://schemas.openxmlformats.org/drawingml/2006/main">
            <a:off x="6496050" y="3333750"/>
            <a:ext cx="504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11827"/>
                </a:solidFill>
              </a:defRPr>
            </a:pPr>
            <a:r>
              <a:rPr sz="1575" b="0">
                <a:solidFill>
                  <a:srgbClr val="111827"/>
                </a:solidFill>
              </a:rPr>
              <a:t>01.3 · Same slot: every panel contrast was negative</a:t>
            </a:r>
          </a:p>
        </p:txBody>
      </p:sp>
      <p:sp>
        <p:nvSpPr>
          <p:cNvPr id="15" name="gmark-5">
            <a:extLst xmlns:a="http://schemas.openxmlformats.org/drawingml/2006/main">
              <a:ext uri="{FF2B5EF4-FFF2-40B4-BE49-F238E27FC236}">
                <a16:creationId xmlns:a16="http://schemas.microsoft.com/office/drawing/2014/main" id="{98618CDA-898C-47CB-8351-6029438DBAEA}"/>
              </a:ext>
            </a:extLst>
          </p:cNvPr>
          <p:cNvSpPr>
            <a:spLocks xmlns:a="http://schemas.openxmlformats.org/drawingml/2006/main" noGrp="1"/>
          </p:cNvSpPr>
          <p:nvPr/>
        </p:nvSpPr>
        <p:spPr>
          <a:xfrm xmlns:a="http://schemas.openxmlformats.org/drawingml/2006/main">
            <a:off x="6191250" y="4257675"/>
            <a:ext cx="142875" cy="142875"/>
          </a:xfrm>
          <a:prstGeom xmlns:a="http://schemas.openxmlformats.org/drawingml/2006/main" prst="rect">
            <a:avLst/>
          </a:prstGeom>
          <a:solidFill xmlns:a="http://schemas.openxmlformats.org/drawingml/2006/main">
            <a:srgbClr val="D3A73A"/>
          </a:solidFill>
          <a:ln xmlns:a="http://schemas.openxmlformats.org/drawingml/2006/main" w="9525">
            <a:solidFill>
              <a:srgbClr val="D3A73A"/>
            </a:solidFill>
            <a:prstDash val="solid"/>
          </a:ln>
        </p:spPr>
      </p:sp>
      <p:sp>
        <p:nvSpPr>
          <p:cNvPr id="16" name="gate-5">
            <a:extLst xmlns:a="http://schemas.openxmlformats.org/drawingml/2006/main">
              <a:ext uri="{FF2B5EF4-FFF2-40B4-BE49-F238E27FC236}">
                <a16:creationId xmlns:a16="http://schemas.microsoft.com/office/drawing/2014/main" id="{5255271D-D86A-4A1D-9B71-1D057F58A8C0}"/>
              </a:ext>
            </a:extLst>
          </p:cNvPr>
          <p:cNvSpPr>
            <a:spLocks xmlns:a="http://schemas.openxmlformats.org/drawingml/2006/main" noGrp="1"/>
          </p:cNvSpPr>
          <p:nvPr/>
        </p:nvSpPr>
        <p:spPr>
          <a:xfrm xmlns:a="http://schemas.openxmlformats.org/drawingml/2006/main">
            <a:off x="6496050" y="4191000"/>
            <a:ext cx="504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11827"/>
                </a:solidFill>
              </a:defRPr>
            </a:pPr>
            <a:r>
              <a:rPr sz="1575" b="0">
                <a:solidFill>
                  <a:srgbClr val="111827"/>
                </a:solidFill>
              </a:rPr>
              <a:t>Five QQQ stories + two TSLA calibrations · all stopped</a:t>
            </a:r>
          </a:p>
        </p:txBody>
      </p:sp>
    </p:spTree>
    <p:extLst>
      <p:ext uri="{BB962C8B-B14F-4D97-AF65-F5344CB8AC3E}">
        <p14:creationId xmlns:p14="http://schemas.microsoft.com/office/powerpoint/2010/main" val="9954249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ro-backing">
            <a:extLst xmlns:a="http://schemas.openxmlformats.org/drawingml/2006/main">
              <a:ext uri="{FF2B5EF4-FFF2-40B4-BE49-F238E27FC236}">
                <a16:creationId xmlns:a16="http://schemas.microsoft.com/office/drawing/2014/main" id="{DBF2003E-F000-4B81-8BC8-7F1E69E9FEF2}"/>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3" name="cover-eyebrow">
            <a:extLst xmlns:a="http://schemas.openxmlformats.org/drawingml/2006/main">
              <a:ext uri="{FF2B5EF4-FFF2-40B4-BE49-F238E27FC236}">
                <a16:creationId xmlns:a16="http://schemas.microsoft.com/office/drawing/2014/main" id="{5255774B-7429-47C5-A3C4-7E685BB305DD}"/>
              </a:ext>
            </a:extLst>
          </p:cNvPr>
          <p:cNvSpPr>
            <a:spLocks xmlns:a="http://schemas.openxmlformats.org/drawingml/2006/main" noGrp="1"/>
          </p:cNvSpPr>
          <p:nvPr/>
        </p:nvSpPr>
        <p:spPr>
          <a:xfrm xmlns:a="http://schemas.openxmlformats.org/drawingml/2006/main">
            <a:off x="457200" y="4000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PHASE 1 · DAILY OWN-RETURN</a:t>
            </a:r>
          </a:p>
        </p:txBody>
      </p:sp>
      <p:sp>
        <p:nvSpPr>
          <p:cNvPr id="4" name="cover-title">
            <a:extLst xmlns:a="http://schemas.openxmlformats.org/drawingml/2006/main">
              <a:ext uri="{FF2B5EF4-FFF2-40B4-BE49-F238E27FC236}">
                <a16:creationId xmlns:a16="http://schemas.microsoft.com/office/drawing/2014/main" id="{14653E3E-0AC9-494A-98EA-9ACACAA94767}"/>
              </a:ext>
            </a:extLst>
          </p:cNvPr>
          <p:cNvSpPr>
            <a:spLocks xmlns:a="http://schemas.openxmlformats.org/drawingml/2006/main" noGrp="1"/>
          </p:cNvSpPr>
          <p:nvPr/>
        </p:nvSpPr>
        <p:spPr>
          <a:xfrm xmlns:a="http://schemas.openxmlformats.org/drawingml/2006/main">
            <a:off x="457200" y="1009650"/>
            <a:ext cx="5286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11827"/>
                </a:solidFill>
              </a:defRPr>
            </a:pPr>
            <a:r>
              <a:rPr sz="3900" b="1">
                <a:solidFill>
                  <a:srgbClr val="111827"/>
                </a:solidFill>
              </a:rPr>
              <a:t>Does raw continuation</a:t>
            </a:r>
          </a:p>
          <a:p xmlns:a="http://schemas.openxmlformats.org/drawingml/2006/main">
            <a:pPr algn="l">
              <a:buNone/>
              <a:defRPr sz="3900" b="1">
                <a:solidFill>
                  <a:srgbClr val="111827"/>
                </a:solidFill>
              </a:defRPr>
            </a:pPr>
            <a:r>
              <a:rPr sz="3900" b="1">
                <a:solidFill>
                  <a:srgbClr val="111827"/>
                </a:solidFill>
              </a:rPr>
              <a:t>survive direct prediction?</a:t>
            </a:r>
          </a:p>
        </p:txBody>
      </p:sp>
      <p:sp>
        <p:nvSpPr>
          <p:cNvPr id="5" name="cover-subtitle">
            <a:extLst xmlns:a="http://schemas.openxmlformats.org/drawingml/2006/main">
              <a:ext uri="{FF2B5EF4-FFF2-40B4-BE49-F238E27FC236}">
                <a16:creationId xmlns:a16="http://schemas.microsoft.com/office/drawing/2014/main" id="{6BE5B062-40D5-406B-8B38-6A85DE05AF71}"/>
              </a:ext>
            </a:extLst>
          </p:cNvPr>
          <p:cNvSpPr>
            <a:spLocks xmlns:a="http://schemas.openxmlformats.org/drawingml/2006/main" noGrp="1"/>
          </p:cNvSpPr>
          <p:nvPr/>
        </p:nvSpPr>
        <p:spPr>
          <a:xfrm xmlns:a="http://schemas.openxmlformats.org/drawingml/2006/main">
            <a:off x="457200" y="314325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Start with SPY, then demand transport across a frozen 92-asset atlas.</a:t>
            </a:r>
          </a:p>
        </p:txBody>
      </p:sp>
      <p:sp>
        <p:nvSpPr>
          <p:cNvPr id="6" name="cover-status">
            <a:extLst xmlns:a="http://schemas.openxmlformats.org/drawingml/2006/main">
              <a:ext uri="{FF2B5EF4-FFF2-40B4-BE49-F238E27FC236}">
                <a16:creationId xmlns:a16="http://schemas.microsoft.com/office/drawing/2014/main" id="{1D8FB125-2A7F-4508-B65E-85B47214E273}"/>
              </a:ext>
            </a:extLst>
          </p:cNvPr>
          <p:cNvSpPr>
            <a:spLocks xmlns:a="http://schemas.openxmlformats.org/drawingml/2006/main" noGrp="1"/>
          </p:cNvSpPr>
          <p:nvPr/>
        </p:nvSpPr>
        <p:spPr>
          <a:xfrm xmlns:a="http://schemas.openxmlformats.org/drawingml/2006/main">
            <a:off x="457200" y="54292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46A47"/>
                </a:solidFill>
              </a:defRPr>
            </a:pPr>
            <a:r>
              <a:rPr sz="1350" b="1">
                <a:solidFill>
                  <a:srgbClr val="E46A47"/>
                </a:solidFill>
              </a:rPr>
              <a:t>TESTS 01.3–01.4 · STRATEGY CLOSED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53a716a7bab4238"/>
          <a:stretch xmlns:a="http://schemas.openxmlformats.org/drawingml/2006/main"/>
        </p:blipFill>
        <p:spPr>
          <a:xfrm xmlns:a="http://schemas.openxmlformats.org/drawingml/2006/main" flipH="0" flipV="0">
            <a:off x="6267450" y="1660525"/>
            <a:ext cx="5543550" cy="3079750"/>
          </a:xfrm>
          <a:prstGeom xmlns:a="http://schemas.openxmlformats.org/drawingml/2006/main" prst="rect">
            <a:avLst/>
          </a:prstGeom>
        </p:spPr>
      </p:pic>
    </p:spTree>
    <p:extLst>
      <p:ext uri="{BB962C8B-B14F-4D97-AF65-F5344CB8AC3E}">
        <p14:creationId xmlns:p14="http://schemas.microsoft.com/office/powerpoint/2010/main" val="1082798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SPY's horizon surface was reversal-shaped, not continuation-shaped</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DAILY</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4</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Largest rho was +0.0162 versus a +0.1771 search-adjusted p90 threshold; canonical 250/25 rho was −0.1186.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dcad0bdd2334630"/>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Breadth did not rescue the daily own-return clue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TRANSPORT</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5</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Seventy-nine fixed nominees produced 19 positive DEVELOPMENT rhos—and zero within-stratum BH q ≤ 0.10 survivors.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4d010767fc94459"/>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ro-backing">
            <a:extLst xmlns:a="http://schemas.openxmlformats.org/drawingml/2006/main">
              <a:ext uri="{FF2B5EF4-FFF2-40B4-BE49-F238E27FC236}">
                <a16:creationId xmlns:a16="http://schemas.microsoft.com/office/drawing/2014/main" id="{DBF2003E-F000-4B81-8BC8-7F1E69E9FEF2}"/>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3" name="cover-eyebrow">
            <a:extLst xmlns:a="http://schemas.openxmlformats.org/drawingml/2006/main">
              <a:ext uri="{FF2B5EF4-FFF2-40B4-BE49-F238E27FC236}">
                <a16:creationId xmlns:a16="http://schemas.microsoft.com/office/drawing/2014/main" id="{5255774B-7429-47C5-A3C4-7E685BB305DD}"/>
              </a:ext>
            </a:extLst>
          </p:cNvPr>
          <p:cNvSpPr>
            <a:spLocks xmlns:a="http://schemas.openxmlformats.org/drawingml/2006/main" noGrp="1"/>
          </p:cNvSpPr>
          <p:nvPr/>
        </p:nvSpPr>
        <p:spPr>
          <a:xfrm xmlns:a="http://schemas.openxmlformats.org/drawingml/2006/main">
            <a:off x="457200" y="4000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PHASE 2 · PATH QUALITY</a:t>
            </a:r>
          </a:p>
        </p:txBody>
      </p:sp>
      <p:sp>
        <p:nvSpPr>
          <p:cNvPr id="4" name="cover-title">
            <a:extLst xmlns:a="http://schemas.openxmlformats.org/drawingml/2006/main">
              <a:ext uri="{FF2B5EF4-FFF2-40B4-BE49-F238E27FC236}">
                <a16:creationId xmlns:a16="http://schemas.microsoft.com/office/drawing/2014/main" id="{14653E3E-0AC9-494A-98EA-9ACACAA94767}"/>
              </a:ext>
            </a:extLst>
          </p:cNvPr>
          <p:cNvSpPr>
            <a:spLocks xmlns:a="http://schemas.openxmlformats.org/drawingml/2006/main" noGrp="1"/>
          </p:cNvSpPr>
          <p:nvPr/>
        </p:nvSpPr>
        <p:spPr>
          <a:xfrm xmlns:a="http://schemas.openxmlformats.org/drawingml/2006/main">
            <a:off x="457200" y="1009650"/>
            <a:ext cx="5286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11827"/>
                </a:solidFill>
              </a:defRPr>
            </a:pPr>
            <a:r>
              <a:rPr sz="3900" b="1">
                <a:solidFill>
                  <a:srgbClr val="111827"/>
                </a:solidFill>
              </a:rPr>
              <a:t>Does a coherent path</a:t>
            </a:r>
          </a:p>
          <a:p xmlns:a="http://schemas.openxmlformats.org/drawingml/2006/main">
            <a:pPr algn="l">
              <a:buNone/>
              <a:defRPr sz="3900" b="1">
                <a:solidFill>
                  <a:srgbClr val="111827"/>
                </a:solidFill>
              </a:defRPr>
            </a:pPr>
            <a:r>
              <a:rPr sz="3900" b="1">
                <a:solidFill>
                  <a:srgbClr val="111827"/>
                </a:solidFill>
              </a:rPr>
              <a:t>forecast better than its endpoint?</a:t>
            </a:r>
          </a:p>
        </p:txBody>
      </p:sp>
      <p:sp>
        <p:nvSpPr>
          <p:cNvPr id="5" name="cover-subtitle">
            <a:extLst xmlns:a="http://schemas.openxmlformats.org/drawingml/2006/main">
              <a:ext uri="{FF2B5EF4-FFF2-40B4-BE49-F238E27FC236}">
                <a16:creationId xmlns:a16="http://schemas.microsoft.com/office/drawing/2014/main" id="{6BE5B062-40D5-406B-8B38-6A85DE05AF71}"/>
              </a:ext>
            </a:extLst>
          </p:cNvPr>
          <p:cNvSpPr>
            <a:spLocks xmlns:a="http://schemas.openxmlformats.org/drawingml/2006/main" noGrp="1"/>
          </p:cNvSpPr>
          <p:nvPr/>
        </p:nvSpPr>
        <p:spPr>
          <a:xfrm xmlns:a="http://schemas.openxmlformats.org/drawingml/2006/main">
            <a:off x="457200" y="314325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Add causal path coherence and shock concentration—then compare them with drift and raw return.</a:t>
            </a:r>
          </a:p>
        </p:txBody>
      </p:sp>
      <p:sp>
        <p:nvSpPr>
          <p:cNvPr id="6" name="cover-status">
            <a:extLst xmlns:a="http://schemas.openxmlformats.org/drawingml/2006/main">
              <a:ext uri="{FF2B5EF4-FFF2-40B4-BE49-F238E27FC236}">
                <a16:creationId xmlns:a16="http://schemas.microsoft.com/office/drawing/2014/main" id="{1D8FB125-2A7F-4508-B65E-85B47214E273}"/>
              </a:ext>
            </a:extLst>
          </p:cNvPr>
          <p:cNvSpPr>
            <a:spLocks xmlns:a="http://schemas.openxmlformats.org/drawingml/2006/main" noGrp="1"/>
          </p:cNvSpPr>
          <p:nvPr/>
        </p:nvSpPr>
        <p:spPr>
          <a:xfrm xmlns:a="http://schemas.openxmlformats.org/drawingml/2006/main">
            <a:off x="457200" y="54292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46A47"/>
                </a:solidFill>
              </a:defRPr>
            </a:pPr>
            <a:r>
              <a:rPr sz="1350" b="1">
                <a:solidFill>
                  <a:srgbClr val="E46A47"/>
                </a:solidFill>
              </a:rPr>
              <a:t>DAILY + 30-MINUTE · TESTS 01.5 AND 01.2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8ba664918a840e2"/>
          <a:stretch xmlns:a="http://schemas.openxmlformats.org/drawingml/2006/main"/>
        </p:blipFill>
        <p:spPr>
          <a:xfrm xmlns:a="http://schemas.openxmlformats.org/drawingml/2006/main" flipH="0" flipV="0">
            <a:off x="6267450" y="1660525"/>
            <a:ext cx="5543550" cy="3079750"/>
          </a:xfrm>
          <a:prstGeom xmlns:a="http://schemas.openxmlformats.org/drawingml/2006/main" prst="rect">
            <a:avLst/>
          </a:prstGeom>
        </p:spPr>
      </p:pic>
    </p:spTree>
    <p:extLst>
      <p:ext uri="{BB962C8B-B14F-4D97-AF65-F5344CB8AC3E}">
        <p14:creationId xmlns:p14="http://schemas.microsoft.com/office/powerpoint/2010/main" val="1082798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Path quality lost to a constant-drift forecast on most daily assets</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DAILY</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7</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Across 91 eligible assets and 2,184 cells, drift was lowest-loss for 77 assets, raw return for 13, and path quality for one.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034907387ae4753"/>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Isolated path wins vanished under asset-level multiplicity control</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MULTIPLICITY</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8</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Path beat raw return in 14/90 assets, but no controlled clue survived; the minimum D21 BH q was 0.3765.</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f0236e30cbe41b9"/>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A 30-minute drop-in preserved the ranking: baseline, raw, then path</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30-MINUTE</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9</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All 26 instruments and 624 cells were eligible; the baseline was lowest-loss for 21/26 and path quality for 0/26.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61ff63caa62452a"/>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Intraday slot and session boundaries did not hide a rescue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DIAGNOSTIC</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10</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Every L/H cell median and every predeclared slot/session-crossing path diagnostic was negative.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bed10e5dead40cd"/>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ro-backing">
            <a:extLst xmlns:a="http://schemas.openxmlformats.org/drawingml/2006/main">
              <a:ext uri="{FF2B5EF4-FFF2-40B4-BE49-F238E27FC236}">
                <a16:creationId xmlns:a16="http://schemas.microsoft.com/office/drawing/2014/main" id="{DBF2003E-F000-4B81-8BC8-7F1E69E9FEF2}"/>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3" name="cover-eyebrow">
            <a:extLst xmlns:a="http://schemas.openxmlformats.org/drawingml/2006/main">
              <a:ext uri="{FF2B5EF4-FFF2-40B4-BE49-F238E27FC236}">
                <a16:creationId xmlns:a16="http://schemas.microsoft.com/office/drawing/2014/main" id="{5255774B-7429-47C5-A3C4-7E685BB305DD}"/>
              </a:ext>
            </a:extLst>
          </p:cNvPr>
          <p:cNvSpPr>
            <a:spLocks xmlns:a="http://schemas.openxmlformats.org/drawingml/2006/main" noGrp="1"/>
          </p:cNvSpPr>
          <p:nvPr/>
        </p:nvSpPr>
        <p:spPr>
          <a:xfrm xmlns:a="http://schemas.openxmlformats.org/drawingml/2006/main">
            <a:off x="457200" y="4000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PHASE 3 · CLOCK-SPECIFIC RECURRENCE</a:t>
            </a:r>
          </a:p>
        </p:txBody>
      </p:sp>
      <p:sp>
        <p:nvSpPr>
          <p:cNvPr id="4" name="cover-title">
            <a:extLst xmlns:a="http://schemas.openxmlformats.org/drawingml/2006/main">
              <a:ext uri="{FF2B5EF4-FFF2-40B4-BE49-F238E27FC236}">
                <a16:creationId xmlns:a16="http://schemas.microsoft.com/office/drawing/2014/main" id="{14653E3E-0AC9-494A-98EA-9ACACAA94767}"/>
              </a:ext>
            </a:extLst>
          </p:cNvPr>
          <p:cNvSpPr>
            <a:spLocks xmlns:a="http://schemas.openxmlformats.org/drawingml/2006/main" noGrp="1"/>
          </p:cNvSpPr>
          <p:nvPr/>
        </p:nvSpPr>
        <p:spPr>
          <a:xfrm xmlns:a="http://schemas.openxmlformats.org/drawingml/2006/main">
            <a:off x="457200" y="1009650"/>
            <a:ext cx="5286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11827"/>
                </a:solidFill>
              </a:defRPr>
            </a:pPr>
            <a:r>
              <a:rPr sz="3900" b="1">
                <a:solidFill>
                  <a:srgbClr val="111827"/>
                </a:solidFill>
              </a:rPr>
              <a:t>Does relative momentum</a:t>
            </a:r>
          </a:p>
          <a:p xmlns:a="http://schemas.openxmlformats.org/drawingml/2006/main">
            <a:pPr algn="l">
              <a:buNone/>
              <a:defRPr sz="3900" b="1">
                <a:solidFill>
                  <a:srgbClr val="111827"/>
                </a:solidFill>
              </a:defRPr>
            </a:pPr>
            <a:r>
              <a:rPr sz="3900" b="1">
                <a:solidFill>
                  <a:srgbClr val="111827"/>
                </a:solidFill>
              </a:rPr>
              <a:t>repeat by clock time?</a:t>
            </a:r>
          </a:p>
        </p:txBody>
      </p:sp>
      <p:sp>
        <p:nvSpPr>
          <p:cNvPr id="5" name="cover-subtitle">
            <a:extLst xmlns:a="http://schemas.openxmlformats.org/drawingml/2006/main">
              <a:ext uri="{FF2B5EF4-FFF2-40B4-BE49-F238E27FC236}">
                <a16:creationId xmlns:a16="http://schemas.microsoft.com/office/drawing/2014/main" id="{6BE5B062-40D5-406B-8B38-6A85DE05AF71}"/>
              </a:ext>
            </a:extLst>
          </p:cNvPr>
          <p:cNvSpPr>
            <a:spLocks xmlns:a="http://schemas.openxmlformats.org/drawingml/2006/main" noGrp="1"/>
          </p:cNvSpPr>
          <p:nvPr/>
        </p:nvSpPr>
        <p:spPr>
          <a:xfrm xmlns:a="http://schemas.openxmlformats.org/drawingml/2006/main">
            <a:off x="457200" y="314325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Replace generic trend with a narrower market-microstructure story—and demand wrong-clock specificity.</a:t>
            </a:r>
          </a:p>
        </p:txBody>
      </p:sp>
      <p:sp>
        <p:nvSpPr>
          <p:cNvPr id="6" name="cover-status">
            <a:extLst xmlns:a="http://schemas.openxmlformats.org/drawingml/2006/main">
              <a:ext uri="{FF2B5EF4-FFF2-40B4-BE49-F238E27FC236}">
                <a16:creationId xmlns:a16="http://schemas.microsoft.com/office/drawing/2014/main" id="{1D8FB125-2A7F-4508-B65E-85B47214E273}"/>
              </a:ext>
            </a:extLst>
          </p:cNvPr>
          <p:cNvSpPr>
            <a:spLocks xmlns:a="http://schemas.openxmlformats.org/drawingml/2006/main" noGrp="1"/>
          </p:cNvSpPr>
          <p:nvPr/>
        </p:nvSpPr>
        <p:spPr>
          <a:xfrm xmlns:a="http://schemas.openxmlformats.org/drawingml/2006/main">
            <a:off x="457200" y="54292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46A47"/>
                </a:solidFill>
              </a:defRPr>
            </a:pPr>
            <a:r>
              <a:rPr sz="1350" b="1">
                <a:solidFill>
                  <a:srgbClr val="E46A47"/>
                </a:solidFill>
              </a:rPr>
              <a:t>LIT-IMOM-01.3 · 2024+ SEALED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517b07cf6e94c1a"/>
          <a:stretch xmlns:a="http://schemas.openxmlformats.org/drawingml/2006/main"/>
        </p:blipFill>
        <p:spPr>
          <a:xfrm xmlns:a="http://schemas.openxmlformats.org/drawingml/2006/main" flipH="0" flipV="0">
            <a:off x="6267450" y="1660525"/>
            <a:ext cx="5543550" cy="3079750"/>
          </a:xfrm>
          <a:prstGeom xmlns:a="http://schemas.openxmlformats.org/drawingml/2006/main" prst="rect">
            <a:avLst/>
          </a:prstGeom>
        </p:spPr>
      </p:pic>
    </p:spTree>
    <p:extLst>
      <p:ext uri="{BB962C8B-B14F-4D97-AF65-F5344CB8AC3E}">
        <p14:creationId xmlns:p14="http://schemas.microsoft.com/office/powerpoint/2010/main" val="1082798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2">
            <a:extLst xmlns:a="http://schemas.openxmlformats.org/drawingml/2006/main">
              <a:ext uri="{FF2B5EF4-FFF2-40B4-BE49-F238E27FC236}">
                <a16:creationId xmlns:a16="http://schemas.microsoft.com/office/drawing/2014/main" id="{CC57C1DA-22D2-4393-A478-876E6061E9F4}"/>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Same-slot momentum asked for recurrence—not generic intraday trend</a:t>
            </a:r>
          </a:p>
        </p:txBody>
      </p:sp>
      <p:sp>
        <p:nvSpPr>
          <p:cNvPr id="2" name="section-2">
            <a:extLst xmlns:a="http://schemas.openxmlformats.org/drawingml/2006/main">
              <a:ext uri="{FF2B5EF4-FFF2-40B4-BE49-F238E27FC236}">
                <a16:creationId xmlns:a16="http://schemas.microsoft.com/office/drawing/2014/main" id="{B10797AA-5F17-46BF-A209-C0012CAA4180}"/>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LIT-IMOM-01.3 · DESIGN</a:t>
            </a:r>
          </a:p>
        </p:txBody>
      </p:sp>
      <p:sp>
        <p:nvSpPr>
          <p:cNvPr id="3" name="page-2">
            <a:extLst xmlns:a="http://schemas.openxmlformats.org/drawingml/2006/main">
              <a:ext uri="{FF2B5EF4-FFF2-40B4-BE49-F238E27FC236}">
                <a16:creationId xmlns:a16="http://schemas.microsoft.com/office/drawing/2014/main" id="{027AA98B-7DC4-44D5-91EF-0CBB3B009F64}"/>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12</a:t>
            </a:r>
          </a:p>
        </p:txBody>
      </p:sp>
      <p:sp>
        <p:nvSpPr>
          <p:cNvPr id="4" name="lead-2">
            <a:extLst xmlns:a="http://schemas.openxmlformats.org/drawingml/2006/main">
              <a:ext uri="{FF2B5EF4-FFF2-40B4-BE49-F238E27FC236}">
                <a16:creationId xmlns:a16="http://schemas.microsoft.com/office/drawing/2014/main" id="{8AEB2C29-A634-46E4-A808-F88FB54BA88F}"/>
              </a:ext>
            </a:extLst>
          </p:cNvPr>
          <p:cNvSpPr>
            <a:spLocks xmlns:a="http://schemas.openxmlformats.org/drawingml/2006/main" noGrp="1"/>
          </p:cNvSpPr>
          <p:nvPr/>
        </p:nvSpPr>
        <p:spPr>
          <a:xfrm xmlns:a="http://schemas.openxmlformats.org/drawingml/2006/main">
            <a:off x="457200" y="1571625"/>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For each stock and 30-minute slot k, use yesterday's SPY-relative return in slot k to forecast today's relative return in the same slot. The target must improve on clock seasonality and prior-day momentum.</a:t>
            </a:r>
          </a:p>
        </p:txBody>
      </p:sp>
      <p:sp>
        <p:nvSpPr>
          <p:cNvPr id="5" name="formula-panel-2">
            <a:extLst xmlns:a="http://schemas.openxmlformats.org/drawingml/2006/main">
              <a:ext uri="{FF2B5EF4-FFF2-40B4-BE49-F238E27FC236}">
                <a16:creationId xmlns:a16="http://schemas.microsoft.com/office/drawing/2014/main" id="{DFB5541A-647E-4DE5-9984-503C77AD83F4}"/>
              </a:ext>
            </a:extLst>
          </p:cNvPr>
          <p:cNvSpPr>
            <a:spLocks xmlns:a="http://schemas.openxmlformats.org/drawingml/2006/main" noGrp="1"/>
          </p:cNvSpPr>
          <p:nvPr/>
        </p:nvSpPr>
        <p:spPr>
          <a:xfrm xmlns:a="http://schemas.openxmlformats.org/drawingml/2006/main">
            <a:off x="6286500" y="1524000"/>
            <a:ext cx="5381625" cy="3000375"/>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6" name="formula-2-0">
            <a:extLst xmlns:a="http://schemas.openxmlformats.org/drawingml/2006/main">
              <a:ext uri="{FF2B5EF4-FFF2-40B4-BE49-F238E27FC236}">
                <a16:creationId xmlns:a16="http://schemas.microsoft.com/office/drawing/2014/main" id="{63BF4897-DE0F-49BB-B76D-202A2819D600}"/>
              </a:ext>
            </a:extLst>
          </p:cNvPr>
          <p:cNvSpPr>
            <a:spLocks xmlns:a="http://schemas.openxmlformats.org/drawingml/2006/main" noGrp="1"/>
          </p:cNvSpPr>
          <p:nvPr/>
        </p:nvSpPr>
        <p:spPr>
          <a:xfrm xmlns:a="http://schemas.openxmlformats.org/drawingml/2006/main">
            <a:off x="6667500" y="18288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67D8D"/>
                </a:solidFill>
              </a:defRPr>
            </a:pPr>
            <a:r>
              <a:rPr sz="1950" b="1">
                <a:solidFill>
                  <a:srgbClr val="167D8D"/>
                </a:solidFill>
              </a:rPr>
              <a:t>xₜ,ₖ = rstockₜ₋₁,ₖ − rSPYₜ₋₁,ₖ</a:t>
            </a:r>
          </a:p>
        </p:txBody>
      </p:sp>
      <p:sp>
        <p:nvSpPr>
          <p:cNvPr id="7" name="formula-2-1">
            <a:extLst xmlns:a="http://schemas.openxmlformats.org/drawingml/2006/main">
              <a:ext uri="{FF2B5EF4-FFF2-40B4-BE49-F238E27FC236}">
                <a16:creationId xmlns:a16="http://schemas.microsoft.com/office/drawing/2014/main" id="{C4E3869B-07C3-4612-873A-415453670FBF}"/>
              </a:ext>
            </a:extLst>
          </p:cNvPr>
          <p:cNvSpPr>
            <a:spLocks xmlns:a="http://schemas.openxmlformats.org/drawingml/2006/main" noGrp="1"/>
          </p:cNvSpPr>
          <p:nvPr/>
        </p:nvSpPr>
        <p:spPr>
          <a:xfrm xmlns:a="http://schemas.openxmlformats.org/drawingml/2006/main">
            <a:off x="6667500" y="260985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111827"/>
                </a:solidFill>
              </a:defRPr>
            </a:pPr>
            <a:r>
              <a:rPr sz="1950" b="0">
                <a:solidFill>
                  <a:srgbClr val="111827"/>
                </a:solidFill>
              </a:rPr>
              <a:t>yₜ,ₖ = rstockₜ,ₖ − rSPYₜ,ₖ</a:t>
            </a:r>
          </a:p>
        </p:txBody>
      </p:sp>
      <p:sp>
        <p:nvSpPr>
          <p:cNvPr id="8" name="formula-2-2">
            <a:extLst xmlns:a="http://schemas.openxmlformats.org/drawingml/2006/main">
              <a:ext uri="{FF2B5EF4-FFF2-40B4-BE49-F238E27FC236}">
                <a16:creationId xmlns:a16="http://schemas.microsoft.com/office/drawing/2014/main" id="{C85D3FBA-447E-47ED-A5DC-0D60E81D8774}"/>
              </a:ext>
            </a:extLst>
          </p:cNvPr>
          <p:cNvSpPr>
            <a:spLocks xmlns:a="http://schemas.openxmlformats.org/drawingml/2006/main" noGrp="1"/>
          </p:cNvSpPr>
          <p:nvPr/>
        </p:nvSpPr>
        <p:spPr>
          <a:xfrm xmlns:a="http://schemas.openxmlformats.org/drawingml/2006/main">
            <a:off x="6667500" y="33909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111827"/>
                </a:solidFill>
              </a:defRPr>
            </a:pPr>
            <a:r>
              <a:rPr sz="1950" b="0">
                <a:solidFill>
                  <a:srgbClr val="111827"/>
                </a:solidFill>
              </a:rPr>
              <a:t>CLOCK → PRIOR DAY → SAME SLOT → WRONG CLOCK</a:t>
            </a:r>
          </a:p>
        </p:txBody>
      </p:sp>
      <p:sp>
        <p:nvSpPr>
          <p:cNvPr id="9" name="interpret-2">
            <a:extLst xmlns:a="http://schemas.openxmlformats.org/drawingml/2006/main">
              <a:ext uri="{FF2B5EF4-FFF2-40B4-BE49-F238E27FC236}">
                <a16:creationId xmlns:a16="http://schemas.microsoft.com/office/drawing/2014/main" id="{E546D95B-DAC4-429E-A8CB-A7454C1A252A}"/>
              </a:ext>
            </a:extLst>
          </p:cNvPr>
          <p:cNvSpPr>
            <a:spLocks xmlns:a="http://schemas.openxmlformats.org/drawingml/2006/main" noGrp="1"/>
          </p:cNvSpPr>
          <p:nvPr/>
        </p:nvSpPr>
        <p:spPr>
          <a:xfrm xmlns:a="http://schemas.openxmlformats.org/drawingml/2006/main">
            <a:off x="457200" y="4857750"/>
            <a:ext cx="11191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827"/>
                </a:solidFill>
              </a:defRPr>
            </a:pPr>
            <a:r>
              <a:rPr sz="1650" b="1">
                <a:solidFill>
                  <a:srgbClr val="111827"/>
                </a:solidFill>
              </a:rPr>
              <a:t>Fresh DEVELOPMENT only · equal-weight 22-stock panel · 12 circular wrong-clock offsets · no target-slot selection · 2024+ sealed.</a:t>
            </a:r>
          </a:p>
        </p:txBody>
      </p:sp>
    </p:spTree>
    <p:extLst>
      <p:ext uri="{BB962C8B-B14F-4D97-AF65-F5344CB8AC3E}">
        <p14:creationId xmlns:p14="http://schemas.microsoft.com/office/powerpoint/2010/main" val="3982597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Every panel-level same-slot contrast was negative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DEVELOPMENT</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13</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All four 90% intervals lie below zero: same slot worsened loss versus clock, prior day, and the best wrong-clock placebo.</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3f5f2fc8a9b47e6"/>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named clock alignment was no better than displaced placebos</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FALSIFICATION</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14</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Same-slot improvement was −0.000360; wrong-clock offset 7 was less negative at −0.000197.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d886f701d4a485e"/>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A positive TRAIN coefficient was common—and still not predictive enough</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BREADTH</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15</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Thirteen of 22 candidate coefficients were positive in TRAIN; same slot was lowest-loss for only 5/22 in DEVELOPMENT; 0 survived.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bc00246a9374f60"/>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0">
            <a:extLst xmlns:a="http://schemas.openxmlformats.org/drawingml/2006/main">
              <a:ext uri="{FF2B5EF4-FFF2-40B4-BE49-F238E27FC236}">
                <a16:creationId xmlns:a16="http://schemas.microsoft.com/office/drawing/2014/main" id="{328B673C-2321-490C-8E31-7D95273CC675}"/>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Three increasingly specific momentum stories failed</a:t>
            </a:r>
          </a:p>
        </p:txBody>
      </p:sp>
      <p:sp>
        <p:nvSpPr>
          <p:cNvPr id="2" name="section-10">
            <a:extLst xmlns:a="http://schemas.openxmlformats.org/drawingml/2006/main">
              <a:ext uri="{FF2B5EF4-FFF2-40B4-BE49-F238E27FC236}">
                <a16:creationId xmlns:a16="http://schemas.microsoft.com/office/drawing/2014/main" id="{03C0456A-3709-406E-8FF6-EA187948C7CD}"/>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DECISION</a:t>
            </a:r>
          </a:p>
        </p:txBody>
      </p:sp>
      <p:sp>
        <p:nvSpPr>
          <p:cNvPr id="3" name="page-10">
            <a:extLst xmlns:a="http://schemas.openxmlformats.org/drawingml/2006/main">
              <a:ext uri="{FF2B5EF4-FFF2-40B4-BE49-F238E27FC236}">
                <a16:creationId xmlns:a16="http://schemas.microsoft.com/office/drawing/2014/main" id="{E4ABC01A-A7D2-42AF-9EAA-2B202CE63E57}"/>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16</a:t>
            </a:r>
          </a:p>
        </p:txBody>
      </p:sp>
      <p:sp>
        <p:nvSpPr>
          <p:cNvPr id="4" name="thesis-10">
            <a:extLst xmlns:a="http://schemas.openxmlformats.org/drawingml/2006/main">
              <a:ext uri="{FF2B5EF4-FFF2-40B4-BE49-F238E27FC236}">
                <a16:creationId xmlns:a16="http://schemas.microsoft.com/office/drawing/2014/main" id="{C1CD9618-B6B8-4D0A-AD5F-E334D12C2395}"/>
              </a:ext>
            </a:extLst>
          </p:cNvPr>
          <p:cNvSpPr>
            <a:spLocks xmlns:a="http://schemas.openxmlformats.org/drawingml/2006/main" noGrp="1"/>
          </p:cNvSpPr>
          <p:nvPr/>
        </p:nvSpPr>
        <p:spPr>
          <a:xfrm xmlns:a="http://schemas.openxmlformats.org/drawingml/2006/main">
            <a:off x="457200" y="1524000"/>
            <a:ext cx="11191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11827"/>
                </a:solidFill>
              </a:defRPr>
            </a:pPr>
            <a:r>
              <a:rPr sz="2175" b="1">
                <a:solidFill>
                  <a:srgbClr val="111827"/>
                </a:solidFill>
              </a:rPr>
              <a:t>These were rigorous falsifications—not evidence that every possible momentum mechanism is absent.</a:t>
            </a:r>
          </a:p>
        </p:txBody>
      </p:sp>
      <p:sp>
        <p:nvSpPr>
          <p:cNvPr id="5" name="bullet-mark-10-0">
            <a:extLst xmlns:a="http://schemas.openxmlformats.org/drawingml/2006/main">
              <a:ext uri="{FF2B5EF4-FFF2-40B4-BE49-F238E27FC236}">
                <a16:creationId xmlns:a16="http://schemas.microsoft.com/office/drawing/2014/main" id="{D6A9FE8D-75B2-416A-ADB7-1A96C567A65C}"/>
              </a:ext>
            </a:extLst>
          </p:cNvPr>
          <p:cNvSpPr>
            <a:spLocks xmlns:a="http://schemas.openxmlformats.org/drawingml/2006/main" noGrp="1"/>
          </p:cNvSpPr>
          <p:nvPr/>
        </p:nvSpPr>
        <p:spPr>
          <a:xfrm xmlns:a="http://schemas.openxmlformats.org/drawingml/2006/main">
            <a:off x="523875" y="2990850"/>
            <a:ext cx="114300" cy="114300"/>
          </a:xfrm>
          <a:prstGeom xmlns:a="http://schemas.openxmlformats.org/drawingml/2006/main" prst="rect">
            <a:avLst/>
          </a:prstGeom>
          <a:solidFill xmlns:a="http://schemas.openxmlformats.org/drawingml/2006/main">
            <a:srgbClr val="167D8D"/>
          </a:solidFill>
          <a:ln xmlns:a="http://schemas.openxmlformats.org/drawingml/2006/main" w="9525">
            <a:solidFill>
              <a:srgbClr val="167D8D"/>
            </a:solidFill>
            <a:prstDash val="solid"/>
          </a:ln>
        </p:spPr>
      </p:sp>
      <p:sp>
        <p:nvSpPr>
          <p:cNvPr id="6" name="bullet-10-0">
            <a:extLst xmlns:a="http://schemas.openxmlformats.org/drawingml/2006/main">
              <a:ext uri="{FF2B5EF4-FFF2-40B4-BE49-F238E27FC236}">
                <a16:creationId xmlns:a16="http://schemas.microsoft.com/office/drawing/2014/main" id="{E4A179DE-2CB6-4686-B532-3B56AFA11E8B}"/>
              </a:ext>
            </a:extLst>
          </p:cNvPr>
          <p:cNvSpPr>
            <a:spLocks xmlns:a="http://schemas.openxmlformats.org/drawingml/2006/main" noGrp="1"/>
          </p:cNvSpPr>
          <p:nvPr/>
        </p:nvSpPr>
        <p:spPr>
          <a:xfrm xmlns:a="http://schemas.openxmlformats.org/drawingml/2006/main">
            <a:off x="819150" y="2914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Raw own-return continuation failed SPY search adjustment and cross-market FDR transport.</a:t>
            </a:r>
          </a:p>
        </p:txBody>
      </p:sp>
      <p:sp>
        <p:nvSpPr>
          <p:cNvPr id="7" name="bullet-mark-10-1">
            <a:extLst xmlns:a="http://schemas.openxmlformats.org/drawingml/2006/main">
              <a:ext uri="{FF2B5EF4-FFF2-40B4-BE49-F238E27FC236}">
                <a16:creationId xmlns:a16="http://schemas.microsoft.com/office/drawing/2014/main" id="{4E2CA250-A245-43AA-BCF2-1D4F24851D28}"/>
              </a:ext>
            </a:extLst>
          </p:cNvPr>
          <p:cNvSpPr>
            <a:spLocks xmlns:a="http://schemas.openxmlformats.org/drawingml/2006/main" noGrp="1"/>
          </p:cNvSpPr>
          <p:nvPr/>
        </p:nvSpPr>
        <p:spPr>
          <a:xfrm xmlns:a="http://schemas.openxmlformats.org/drawingml/2006/main">
            <a:off x="523875" y="3752850"/>
            <a:ext cx="114300" cy="114300"/>
          </a:xfrm>
          <a:prstGeom xmlns:a="http://schemas.openxmlformats.org/drawingml/2006/main" prst="rect">
            <a:avLst/>
          </a:prstGeom>
          <a:solidFill xmlns:a="http://schemas.openxmlformats.org/drawingml/2006/main">
            <a:srgbClr val="E46A47"/>
          </a:solidFill>
          <a:ln xmlns:a="http://schemas.openxmlformats.org/drawingml/2006/main" w="9525">
            <a:solidFill>
              <a:srgbClr val="E46A47"/>
            </a:solidFill>
            <a:prstDash val="solid"/>
          </a:ln>
        </p:spPr>
      </p:sp>
      <p:sp>
        <p:nvSpPr>
          <p:cNvPr id="8" name="bullet-10-1">
            <a:extLst xmlns:a="http://schemas.openxmlformats.org/drawingml/2006/main">
              <a:ext uri="{FF2B5EF4-FFF2-40B4-BE49-F238E27FC236}">
                <a16:creationId xmlns:a16="http://schemas.microsoft.com/office/drawing/2014/main" id="{03DE52E0-B7C7-4ECA-8DC5-AF61B9F5831E}"/>
              </a:ext>
            </a:extLst>
          </p:cNvPr>
          <p:cNvSpPr>
            <a:spLocks xmlns:a="http://schemas.openxmlformats.org/drawingml/2006/main" noGrp="1"/>
          </p:cNvSpPr>
          <p:nvPr/>
        </p:nvSpPr>
        <p:spPr>
          <a:xfrm xmlns:a="http://schemas.openxmlformats.org/drawingml/2006/main">
            <a:off x="819150" y="3676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Path coherence added no stable forecast skill at daily or 30-minute resolution.</a:t>
            </a:r>
          </a:p>
        </p:txBody>
      </p:sp>
      <p:sp>
        <p:nvSpPr>
          <p:cNvPr id="9" name="bullet-mark-10-2">
            <a:extLst xmlns:a="http://schemas.openxmlformats.org/drawingml/2006/main">
              <a:ext uri="{FF2B5EF4-FFF2-40B4-BE49-F238E27FC236}">
                <a16:creationId xmlns:a16="http://schemas.microsoft.com/office/drawing/2014/main" id="{7037D4C5-A588-4871-AED3-4D739A7E2CB3}"/>
              </a:ext>
            </a:extLst>
          </p:cNvPr>
          <p:cNvSpPr>
            <a:spLocks xmlns:a="http://schemas.openxmlformats.org/drawingml/2006/main" noGrp="1"/>
          </p:cNvSpPr>
          <p:nvPr/>
        </p:nvSpPr>
        <p:spPr>
          <a:xfrm xmlns:a="http://schemas.openxmlformats.org/drawingml/2006/main">
            <a:off x="523875" y="4514850"/>
            <a:ext cx="114300" cy="114300"/>
          </a:xfrm>
          <a:prstGeom xmlns:a="http://schemas.openxmlformats.org/drawingml/2006/main" prst="rect">
            <a:avLst/>
          </a:prstGeom>
          <a:solidFill xmlns:a="http://schemas.openxmlformats.org/drawingml/2006/main">
            <a:srgbClr val="D3A73A"/>
          </a:solidFill>
          <a:ln xmlns:a="http://schemas.openxmlformats.org/drawingml/2006/main" w="9525">
            <a:solidFill>
              <a:srgbClr val="D3A73A"/>
            </a:solidFill>
            <a:prstDash val="solid"/>
          </a:ln>
        </p:spPr>
      </p:sp>
      <p:sp>
        <p:nvSpPr>
          <p:cNvPr id="10" name="bullet-10-2">
            <a:extLst xmlns:a="http://schemas.openxmlformats.org/drawingml/2006/main">
              <a:ext uri="{FF2B5EF4-FFF2-40B4-BE49-F238E27FC236}">
                <a16:creationId xmlns:a16="http://schemas.microsoft.com/office/drawing/2014/main" id="{55809576-D5E7-42E1-9311-CBA192247633}"/>
              </a:ext>
            </a:extLst>
          </p:cNvPr>
          <p:cNvSpPr>
            <a:spLocks xmlns:a="http://schemas.openxmlformats.org/drawingml/2006/main" noGrp="1"/>
          </p:cNvSpPr>
          <p:nvPr/>
        </p:nvSpPr>
        <p:spPr>
          <a:xfrm xmlns:a="http://schemas.openxmlformats.org/drawingml/2006/main">
            <a:off x="819150" y="4438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Clock-specific recurrence lost to seasonality, prior-day momentum, and wrong-clock controls.</a:t>
            </a:r>
          </a:p>
        </p:txBody>
      </p:sp>
      <p:sp>
        <p:nvSpPr>
          <p:cNvPr id="11" name="stop-10">
            <a:extLst xmlns:a="http://schemas.openxmlformats.org/drawingml/2006/main">
              <a:ext uri="{FF2B5EF4-FFF2-40B4-BE49-F238E27FC236}">
                <a16:creationId xmlns:a16="http://schemas.microsoft.com/office/drawing/2014/main" id="{653A3B9E-8A5D-416C-B2EA-41EB99E61D73}"/>
              </a:ext>
            </a:extLst>
          </p:cNvPr>
          <p:cNvSpPr>
            <a:spLocks xmlns:a="http://schemas.openxmlformats.org/drawingml/2006/main" noGrp="1"/>
          </p:cNvSpPr>
          <p:nvPr/>
        </p:nvSpPr>
        <p:spPr>
          <a:xfrm xmlns:a="http://schemas.openxmlformats.org/drawingml/2006/main">
            <a:off x="457200" y="5657850"/>
            <a:ext cx="11191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46A47"/>
                </a:solidFill>
              </a:defRPr>
            </a:pPr>
            <a:r>
              <a:rPr sz="1500" b="1">
                <a:solidFill>
                  <a:srgbClr val="E46A47"/>
                </a:solidFill>
              </a:rPr>
              <a:t>STOP: preserve 2024+ and do not rescue these specifications by mining horizons, assets, slots, baselines, or policies.</a:t>
            </a:r>
          </a:p>
        </p:txBody>
      </p:sp>
    </p:spTree>
    <p:extLst>
      <p:ext uri="{BB962C8B-B14F-4D97-AF65-F5344CB8AC3E}">
        <p14:creationId xmlns:p14="http://schemas.microsoft.com/office/powerpoint/2010/main" val="12503585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ro-backing">
            <a:extLst xmlns:a="http://schemas.openxmlformats.org/drawingml/2006/main">
              <a:ext uri="{FF2B5EF4-FFF2-40B4-BE49-F238E27FC236}">
                <a16:creationId xmlns:a16="http://schemas.microsoft.com/office/drawing/2014/main" id="{DBF2003E-F000-4B81-8BC8-7F1E69E9FEF2}"/>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3" name="cover-eyebrow">
            <a:extLst xmlns:a="http://schemas.openxmlformats.org/drawingml/2006/main">
              <a:ext uri="{FF2B5EF4-FFF2-40B4-BE49-F238E27FC236}">
                <a16:creationId xmlns:a16="http://schemas.microsoft.com/office/drawing/2014/main" id="{5255774B-7429-47C5-A3C4-7E685BB305DD}"/>
              </a:ext>
            </a:extLst>
          </p:cNvPr>
          <p:cNvSpPr>
            <a:spLocks xmlns:a="http://schemas.openxmlformats.org/drawingml/2006/main" noGrp="1"/>
          </p:cNvSpPr>
          <p:nvPr/>
        </p:nvSpPr>
        <p:spPr>
          <a:xfrm xmlns:a="http://schemas.openxmlformats.org/drawingml/2006/main">
            <a:off x="457200" y="4000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PHASE 4 · WITHIN-UNIVERSE LEADERSHIP</a:t>
            </a:r>
          </a:p>
        </p:txBody>
      </p:sp>
      <p:sp>
        <p:nvSpPr>
          <p:cNvPr id="4" name="cover-title">
            <a:extLst xmlns:a="http://schemas.openxmlformats.org/drawingml/2006/main">
              <a:ext uri="{FF2B5EF4-FFF2-40B4-BE49-F238E27FC236}">
                <a16:creationId xmlns:a16="http://schemas.microsoft.com/office/drawing/2014/main" id="{14653E3E-0AC9-494A-98EA-9ACACAA94767}"/>
              </a:ext>
            </a:extLst>
          </p:cNvPr>
          <p:cNvSpPr>
            <a:spLocks xmlns:a="http://schemas.openxmlformats.org/drawingml/2006/main" noGrp="1"/>
          </p:cNvSpPr>
          <p:nvPr/>
        </p:nvSpPr>
        <p:spPr>
          <a:xfrm xmlns:a="http://schemas.openxmlformats.org/drawingml/2006/main">
            <a:off x="457200" y="1009650"/>
            <a:ext cx="5286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11827"/>
                </a:solidFill>
              </a:defRPr>
            </a:pPr>
            <a:r>
              <a:rPr sz="3900" b="1">
                <a:solidFill>
                  <a:srgbClr val="111827"/>
                </a:solidFill>
              </a:rPr>
              <a:t>Does Nasdaq-100 leadership</a:t>
            </a:r>
          </a:p>
          <a:p xmlns:a="http://schemas.openxmlformats.org/drawingml/2006/main">
            <a:pPr algn="l">
              <a:buNone/>
              <a:defRPr sz="3900" b="1">
                <a:solidFill>
                  <a:srgbClr val="111827"/>
                </a:solidFill>
              </a:defRPr>
            </a:pPr>
            <a:r>
              <a:rPr sz="3900" b="1">
                <a:solidFill>
                  <a:srgbClr val="111827"/>
                </a:solidFill>
              </a:rPr>
              <a:t>persist?</a:t>
            </a:r>
          </a:p>
        </p:txBody>
      </p:sp>
      <p:sp>
        <p:nvSpPr>
          <p:cNvPr id="5" name="cover-subtitle">
            <a:extLst xmlns:a="http://schemas.openxmlformats.org/drawingml/2006/main">
              <a:ext uri="{FF2B5EF4-FFF2-40B4-BE49-F238E27FC236}">
                <a16:creationId xmlns:a16="http://schemas.microsoft.com/office/drawing/2014/main" id="{6BE5B062-40D5-406B-8B38-6A85DE05AF71}"/>
              </a:ext>
            </a:extLst>
          </p:cNvPr>
          <p:cNvSpPr>
            <a:spLocks xmlns:a="http://schemas.openxmlformats.org/drawingml/2006/main" noGrp="1"/>
          </p:cNvSpPr>
          <p:nvPr/>
        </p:nvSpPr>
        <p:spPr>
          <a:xfrm xmlns:a="http://schemas.openxmlformats.org/drawingml/2006/main">
            <a:off x="457200" y="314325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Compare QQQ with the same universe through pre-change QQEW—before strategy or confirmation.</a:t>
            </a:r>
          </a:p>
        </p:txBody>
      </p:sp>
      <p:sp>
        <p:nvSpPr>
          <p:cNvPr id="6" name="cover-status">
            <a:extLst xmlns:a="http://schemas.openxmlformats.org/drawingml/2006/main">
              <a:ext uri="{FF2B5EF4-FFF2-40B4-BE49-F238E27FC236}">
                <a16:creationId xmlns:a16="http://schemas.microsoft.com/office/drawing/2014/main" id="{1D8FB125-2A7F-4508-B65E-85B47214E273}"/>
              </a:ext>
            </a:extLst>
          </p:cNvPr>
          <p:cNvSpPr>
            <a:spLocks xmlns:a="http://schemas.openxmlformats.org/drawingml/2006/main" noGrp="1"/>
          </p:cNvSpPr>
          <p:nvPr/>
        </p:nvSpPr>
        <p:spPr>
          <a:xfrm xmlns:a="http://schemas.openxmlformats.org/drawingml/2006/main">
            <a:off x="457200" y="54292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46A47"/>
                </a:solidFill>
              </a:defRPr>
            </a:pPr>
            <a:r>
              <a:rPr sz="1350" b="1">
                <a:solidFill>
                  <a:srgbClr val="E46A47"/>
                </a:solidFill>
              </a:rPr>
              <a:t>HYP-MOM-07.1 · TRAIN ONLY · DEVELOPMENT SEALED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7dbc3eb4cdd436e"/>
          <a:stretch xmlns:a="http://schemas.openxmlformats.org/drawingml/2006/main"/>
        </p:blipFill>
        <p:spPr>
          <a:xfrm xmlns:a="http://schemas.openxmlformats.org/drawingml/2006/main" flipH="0" flipV="0">
            <a:off x="6267450" y="1660525"/>
            <a:ext cx="5543550" cy="30797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efb9c6b55fe4186"/>
          <a:stretch xmlns:a="http://schemas.openxmlformats.org/drawingml/2006/main"/>
        </p:blipFill>
        <p:spPr>
          <a:xfrm xmlns:a="http://schemas.openxmlformats.org/drawingml/2006/main">
            <a:off x="6267450" y="1814513"/>
            <a:ext cx="5543550" cy="2771775"/>
          </a:xfrm>
          <a:prstGeom xmlns:a="http://schemas.openxmlformats.org/drawingml/2006/main" prst="rect">
            <a:avLst/>
          </a:prstGeom>
        </p:spPr>
      </p:pic>
    </p:spTree>
    <p:extLst>
      <p:ext uri="{BB962C8B-B14F-4D97-AF65-F5344CB8AC3E}">
        <p14:creationId xmlns:p14="http://schemas.microsoft.com/office/powerpoint/2010/main" val="10827983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Every frozen leadership cell pointed away from persistence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TRAIN</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18</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All nine correlations were negative; least-negative L20/H1 rho was −0.0382 across 986 common anchors.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6d46c77501a4834"/>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df4b570038f4acb"/>
          <a:stretch xmlns:a="http://schemas.openxmlformats.org/drawingml/2006/main"/>
        </p:blipFill>
        <p:spPr>
          <a:xfrm xmlns:a="http://schemas.openxmlformats.org/drawingml/2006/main">
            <a:off x="2131695" y="1627823"/>
            <a:ext cx="7852410" cy="3926205"/>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best observed cell missed every search-adjusted hurdle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FALSIFICATION</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19</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Observed maximum −0.0382 versus shift-null p90 +0.1663; empirical upper-tail probability was 1.000.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84a272d14dc4959"/>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fe308151bfb4d9b"/>
          <a:stretch xmlns:a="http://schemas.openxmlformats.org/drawingml/2006/main"/>
        </p:blipFill>
        <p:spPr>
          <a:xfrm xmlns:a="http://schemas.openxmlformats.org/drawingml/2006/main">
            <a:off x="2422525" y="1409700"/>
            <a:ext cx="727075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0">
            <a:extLst xmlns:a="http://schemas.openxmlformats.org/drawingml/2006/main">
              <a:ext uri="{FF2B5EF4-FFF2-40B4-BE49-F238E27FC236}">
                <a16:creationId xmlns:a16="http://schemas.microsoft.com/office/drawing/2014/main" id="{328B673C-2321-490C-8E31-7D95273CC675}"/>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QQQ leadership persistence stopped before DEVELOPMENT</a:t>
            </a:r>
          </a:p>
        </p:txBody>
      </p:sp>
      <p:sp>
        <p:nvSpPr>
          <p:cNvPr id="2" name="section-10">
            <a:extLst xmlns:a="http://schemas.openxmlformats.org/drawingml/2006/main">
              <a:ext uri="{FF2B5EF4-FFF2-40B4-BE49-F238E27FC236}">
                <a16:creationId xmlns:a16="http://schemas.microsoft.com/office/drawing/2014/main" id="{03C0456A-3709-406E-8FF6-EA187948C7CD}"/>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DECISION</a:t>
            </a:r>
          </a:p>
        </p:txBody>
      </p:sp>
      <p:sp>
        <p:nvSpPr>
          <p:cNvPr id="3" name="page-10">
            <a:extLst xmlns:a="http://schemas.openxmlformats.org/drawingml/2006/main">
              <a:ext uri="{FF2B5EF4-FFF2-40B4-BE49-F238E27FC236}">
                <a16:creationId xmlns:a16="http://schemas.microsoft.com/office/drawing/2014/main" id="{E4ABC01A-A7D2-42AF-9EAA-2B202CE63E57}"/>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20</a:t>
            </a:r>
          </a:p>
        </p:txBody>
      </p:sp>
      <p:sp>
        <p:nvSpPr>
          <p:cNvPr id="4" name="thesis-10">
            <a:extLst xmlns:a="http://schemas.openxmlformats.org/drawingml/2006/main">
              <a:ext uri="{FF2B5EF4-FFF2-40B4-BE49-F238E27FC236}">
                <a16:creationId xmlns:a16="http://schemas.microsoft.com/office/drawing/2014/main" id="{C1CD9618-B6B8-4D0A-AD5F-E334D12C2395}"/>
              </a:ext>
            </a:extLst>
          </p:cNvPr>
          <p:cNvSpPr>
            <a:spLocks xmlns:a="http://schemas.openxmlformats.org/drawingml/2006/main" noGrp="1"/>
          </p:cNvSpPr>
          <p:nvPr/>
        </p:nvSpPr>
        <p:spPr>
          <a:xfrm xmlns:a="http://schemas.openxmlformats.org/drawingml/2006/main">
            <a:off x="457200" y="1524000"/>
            <a:ext cx="11191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11827"/>
                </a:solidFill>
              </a:defRPr>
            </a:pPr>
            <a:r>
              <a:rPr sz="2175" b="1">
                <a:solidFill>
                  <a:srgbClr val="111827"/>
                </a:solidFill>
              </a:rPr>
              <a:t>The source was valid; the registered persistence mechanism was not.</a:t>
            </a:r>
          </a:p>
        </p:txBody>
      </p:sp>
      <p:sp>
        <p:nvSpPr>
          <p:cNvPr id="5" name="bullet-mark-10-0">
            <a:extLst xmlns:a="http://schemas.openxmlformats.org/drawingml/2006/main">
              <a:ext uri="{FF2B5EF4-FFF2-40B4-BE49-F238E27FC236}">
                <a16:creationId xmlns:a16="http://schemas.microsoft.com/office/drawing/2014/main" id="{D6A9FE8D-75B2-416A-ADB7-1A96C567A65C}"/>
              </a:ext>
            </a:extLst>
          </p:cNvPr>
          <p:cNvSpPr>
            <a:spLocks xmlns:a="http://schemas.openxmlformats.org/drawingml/2006/main" noGrp="1"/>
          </p:cNvSpPr>
          <p:nvPr/>
        </p:nvSpPr>
        <p:spPr>
          <a:xfrm xmlns:a="http://schemas.openxmlformats.org/drawingml/2006/main">
            <a:off x="523875" y="2990850"/>
            <a:ext cx="114300" cy="114300"/>
          </a:xfrm>
          <a:prstGeom xmlns:a="http://schemas.openxmlformats.org/drawingml/2006/main" prst="rect">
            <a:avLst/>
          </a:prstGeom>
          <a:solidFill xmlns:a="http://schemas.openxmlformats.org/drawingml/2006/main">
            <a:srgbClr val="167D8D"/>
          </a:solidFill>
          <a:ln xmlns:a="http://schemas.openxmlformats.org/drawingml/2006/main" w="9525">
            <a:solidFill>
              <a:srgbClr val="167D8D"/>
            </a:solidFill>
            <a:prstDash val="solid"/>
          </a:ln>
        </p:spPr>
      </p:sp>
      <p:sp>
        <p:nvSpPr>
          <p:cNvPr id="6" name="bullet-10-0">
            <a:extLst xmlns:a="http://schemas.openxmlformats.org/drawingml/2006/main">
              <a:ext uri="{FF2B5EF4-FFF2-40B4-BE49-F238E27FC236}">
                <a16:creationId xmlns:a16="http://schemas.microsoft.com/office/drawing/2014/main" id="{E4A179DE-2CB6-4686-B532-3B56AFA11E8B}"/>
              </a:ext>
            </a:extLst>
          </p:cNvPr>
          <p:cNvSpPr>
            <a:spLocks xmlns:a="http://schemas.openxmlformats.org/drawingml/2006/main" noGrp="1"/>
          </p:cNvSpPr>
          <p:nvPr/>
        </p:nvSpPr>
        <p:spPr>
          <a:xfrm xmlns:a="http://schemas.openxmlformats.org/drawingml/2006/main">
            <a:off x="819150" y="2914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QQQ and QQEW supplied 1,259 aligned daily sessions; the pre-change proxy audit passed 5/5.</a:t>
            </a:r>
          </a:p>
        </p:txBody>
      </p:sp>
      <p:sp>
        <p:nvSpPr>
          <p:cNvPr id="7" name="bullet-mark-10-1">
            <a:extLst xmlns:a="http://schemas.openxmlformats.org/drawingml/2006/main">
              <a:ext uri="{FF2B5EF4-FFF2-40B4-BE49-F238E27FC236}">
                <a16:creationId xmlns:a16="http://schemas.microsoft.com/office/drawing/2014/main" id="{4E2CA250-A245-43AA-BCF2-1D4F24851D28}"/>
              </a:ext>
            </a:extLst>
          </p:cNvPr>
          <p:cNvSpPr>
            <a:spLocks xmlns:a="http://schemas.openxmlformats.org/drawingml/2006/main" noGrp="1"/>
          </p:cNvSpPr>
          <p:nvPr/>
        </p:nvSpPr>
        <p:spPr>
          <a:xfrm xmlns:a="http://schemas.openxmlformats.org/drawingml/2006/main">
            <a:off x="523875" y="3752850"/>
            <a:ext cx="114300" cy="114300"/>
          </a:xfrm>
          <a:prstGeom xmlns:a="http://schemas.openxmlformats.org/drawingml/2006/main" prst="rect">
            <a:avLst/>
          </a:prstGeom>
          <a:solidFill xmlns:a="http://schemas.openxmlformats.org/drawingml/2006/main">
            <a:srgbClr val="E46A47"/>
          </a:solidFill>
          <a:ln xmlns:a="http://schemas.openxmlformats.org/drawingml/2006/main" w="9525">
            <a:solidFill>
              <a:srgbClr val="E46A47"/>
            </a:solidFill>
            <a:prstDash val="solid"/>
          </a:ln>
        </p:spPr>
      </p:sp>
      <p:sp>
        <p:nvSpPr>
          <p:cNvPr id="8" name="bullet-10-1">
            <a:extLst xmlns:a="http://schemas.openxmlformats.org/drawingml/2006/main">
              <a:ext uri="{FF2B5EF4-FFF2-40B4-BE49-F238E27FC236}">
                <a16:creationId xmlns:a16="http://schemas.microsoft.com/office/drawing/2014/main" id="{03DE52E0-B7C7-4ECA-8DC5-AF61B9F5831E}"/>
              </a:ext>
            </a:extLst>
          </p:cNvPr>
          <p:cNvSpPr>
            <a:spLocks xmlns:a="http://schemas.openxmlformats.org/drawingml/2006/main" noGrp="1"/>
          </p:cNvSpPr>
          <p:nvPr/>
        </p:nvSpPr>
        <p:spPr>
          <a:xfrm xmlns:a="http://schemas.openxmlformats.org/drawingml/2006/main">
            <a:off x="819150" y="3676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Every TRAIN cell was negative, so no lookback or horizon earned nomination.</a:t>
            </a:r>
          </a:p>
        </p:txBody>
      </p:sp>
      <p:sp>
        <p:nvSpPr>
          <p:cNvPr id="9" name="bullet-mark-10-2">
            <a:extLst xmlns:a="http://schemas.openxmlformats.org/drawingml/2006/main">
              <a:ext uri="{FF2B5EF4-FFF2-40B4-BE49-F238E27FC236}">
                <a16:creationId xmlns:a16="http://schemas.microsoft.com/office/drawing/2014/main" id="{7037D4C5-A588-4871-AED3-4D739A7E2CB3}"/>
              </a:ext>
            </a:extLst>
          </p:cNvPr>
          <p:cNvSpPr>
            <a:spLocks xmlns:a="http://schemas.openxmlformats.org/drawingml/2006/main" noGrp="1"/>
          </p:cNvSpPr>
          <p:nvPr/>
        </p:nvSpPr>
        <p:spPr>
          <a:xfrm xmlns:a="http://schemas.openxmlformats.org/drawingml/2006/main">
            <a:off x="523875" y="4514850"/>
            <a:ext cx="114300" cy="114300"/>
          </a:xfrm>
          <a:prstGeom xmlns:a="http://schemas.openxmlformats.org/drawingml/2006/main" prst="rect">
            <a:avLst/>
          </a:prstGeom>
          <a:solidFill xmlns:a="http://schemas.openxmlformats.org/drawingml/2006/main">
            <a:srgbClr val="D3A73A"/>
          </a:solidFill>
          <a:ln xmlns:a="http://schemas.openxmlformats.org/drawingml/2006/main" w="9525">
            <a:solidFill>
              <a:srgbClr val="D3A73A"/>
            </a:solidFill>
            <a:prstDash val="solid"/>
          </a:ln>
        </p:spPr>
      </p:sp>
      <p:sp>
        <p:nvSpPr>
          <p:cNvPr id="10" name="bullet-10-2">
            <a:extLst xmlns:a="http://schemas.openxmlformats.org/drawingml/2006/main">
              <a:ext uri="{FF2B5EF4-FFF2-40B4-BE49-F238E27FC236}">
                <a16:creationId xmlns:a16="http://schemas.microsoft.com/office/drawing/2014/main" id="{55809576-D5E7-42E1-9311-CBA192247633}"/>
              </a:ext>
            </a:extLst>
          </p:cNvPr>
          <p:cNvSpPr>
            <a:spLocks xmlns:a="http://schemas.openxmlformats.org/drawingml/2006/main" noGrp="1"/>
          </p:cNvSpPr>
          <p:nvPr/>
        </p:nvSpPr>
        <p:spPr>
          <a:xfrm xmlns:a="http://schemas.openxmlformats.org/drawingml/2006/main">
            <a:off x="819150" y="4438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A wrong-sign reversal follow-up is bookmarked under a fresh future contract; this identifier remains stopped.</a:t>
            </a:r>
          </a:p>
        </p:txBody>
      </p:sp>
      <p:sp>
        <p:nvSpPr>
          <p:cNvPr id="11" name="stop-10">
            <a:extLst xmlns:a="http://schemas.openxmlformats.org/drawingml/2006/main">
              <a:ext uri="{FF2B5EF4-FFF2-40B4-BE49-F238E27FC236}">
                <a16:creationId xmlns:a16="http://schemas.microsoft.com/office/drawing/2014/main" id="{653A3B9E-8A5D-416C-B2EA-41EB99E61D73}"/>
              </a:ext>
            </a:extLst>
          </p:cNvPr>
          <p:cNvSpPr>
            <a:spLocks xmlns:a="http://schemas.openxmlformats.org/drawingml/2006/main" noGrp="1"/>
          </p:cNvSpPr>
          <p:nvPr/>
        </p:nvSpPr>
        <p:spPr>
          <a:xfrm xmlns:a="http://schemas.openxmlformats.org/drawingml/2006/main">
            <a:off x="457200" y="5657850"/>
            <a:ext cx="11191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46A47"/>
                </a:solidFill>
              </a:defRPr>
            </a:pPr>
            <a:r>
              <a:rPr sz="1500" b="1">
                <a:solidFill>
                  <a:srgbClr val="E46A47"/>
                </a:solidFill>
              </a:rPr>
              <a:t>STOP: do not invert the sign, mine nearby windows, or reinterpret this wrong-sign surface as a reversal strategy.</a:t>
            </a:r>
          </a:p>
        </p:txBody>
      </p:sp>
    </p:spTree>
    <p:extLst>
      <p:ext uri="{BB962C8B-B14F-4D97-AF65-F5344CB8AC3E}">
        <p14:creationId xmlns:p14="http://schemas.microsoft.com/office/powerpoint/2010/main" val="125035851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ro-backing">
            <a:extLst xmlns:a="http://schemas.openxmlformats.org/drawingml/2006/main">
              <a:ext uri="{FF2B5EF4-FFF2-40B4-BE49-F238E27FC236}">
                <a16:creationId xmlns:a16="http://schemas.microsoft.com/office/drawing/2014/main" id="{DBF2003E-F000-4B81-8BC8-7F1E69E9FEF2}"/>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3" name="cover-eyebrow">
            <a:extLst xmlns:a="http://schemas.openxmlformats.org/drawingml/2006/main">
              <a:ext uri="{FF2B5EF4-FFF2-40B4-BE49-F238E27FC236}">
                <a16:creationId xmlns:a16="http://schemas.microsoft.com/office/drawing/2014/main" id="{5255774B-7429-47C5-A3C4-7E685BB305DD}"/>
              </a:ext>
            </a:extLst>
          </p:cNvPr>
          <p:cNvSpPr>
            <a:spLocks xmlns:a="http://schemas.openxmlformats.org/drawingml/2006/main" noGrp="1"/>
          </p:cNvSpPr>
          <p:nvPr/>
        </p:nvSpPr>
        <p:spPr>
          <a:xfrm xmlns:a="http://schemas.openxmlformats.org/drawingml/2006/main">
            <a:off x="457200" y="4000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PHASE 5 · CROSS-ASSET INTRADAY TRANSMISSION</a:t>
            </a:r>
          </a:p>
        </p:txBody>
      </p:sp>
      <p:sp>
        <p:nvSpPr>
          <p:cNvPr id="4" name="cover-title">
            <a:extLst xmlns:a="http://schemas.openxmlformats.org/drawingml/2006/main">
              <a:ext uri="{FF2B5EF4-FFF2-40B4-BE49-F238E27FC236}">
                <a16:creationId xmlns:a16="http://schemas.microsoft.com/office/drawing/2014/main" id="{14653E3E-0AC9-494A-98EA-9ACACAA94767}"/>
              </a:ext>
            </a:extLst>
          </p:cNvPr>
          <p:cNvSpPr>
            <a:spLocks xmlns:a="http://schemas.openxmlformats.org/drawingml/2006/main" noGrp="1"/>
          </p:cNvSpPr>
          <p:nvPr/>
        </p:nvSpPr>
        <p:spPr>
          <a:xfrm xmlns:a="http://schemas.openxmlformats.org/drawingml/2006/main">
            <a:off x="457200" y="1009650"/>
            <a:ext cx="5286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11827"/>
                </a:solidFill>
              </a:defRPr>
            </a:pPr>
            <a:r>
              <a:rPr sz="3900" b="1">
                <a:solidFill>
                  <a:srgbClr val="111827"/>
                </a:solidFill>
              </a:rPr>
              <a:t>Do semiconductors</a:t>
            </a:r>
          </a:p>
          <a:p xmlns:a="http://schemas.openxmlformats.org/drawingml/2006/main">
            <a:pPr algn="l">
              <a:buNone/>
              <a:defRPr sz="3900" b="1">
                <a:solidFill>
                  <a:srgbClr val="111827"/>
                </a:solidFill>
              </a:defRPr>
            </a:pPr>
            <a:r>
              <a:rPr sz="3900" b="1">
                <a:solidFill>
                  <a:srgbClr val="111827"/>
                </a:solidFill>
              </a:rPr>
              <a:t>lead QQQ after 10:30?</a:t>
            </a:r>
          </a:p>
        </p:txBody>
      </p:sp>
      <p:sp>
        <p:nvSpPr>
          <p:cNvPr id="5" name="cover-subtitle">
            <a:extLst xmlns:a="http://schemas.openxmlformats.org/drawingml/2006/main">
              <a:ext uri="{FF2B5EF4-FFF2-40B4-BE49-F238E27FC236}">
                <a16:creationId xmlns:a16="http://schemas.microsoft.com/office/drawing/2014/main" id="{6BE5B062-40D5-406B-8B38-6A85DE05AF71}"/>
              </a:ext>
            </a:extLst>
          </p:cNvPr>
          <p:cNvSpPr>
            <a:spLocks xmlns:a="http://schemas.openxmlformats.org/drawingml/2006/main" noGrp="1"/>
          </p:cNvSpPr>
          <p:nvPr/>
        </p:nvSpPr>
        <p:spPr>
          <a:xfrm xmlns:a="http://schemas.openxmlformats.org/drawingml/2006/main">
            <a:off x="457200" y="314325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Use first-hour SMH leadership to forecast QQQ-minus-SPY through the same session's close.</a:t>
            </a:r>
          </a:p>
        </p:txBody>
      </p:sp>
      <p:sp>
        <p:nvSpPr>
          <p:cNvPr id="6" name="cover-status">
            <a:extLst xmlns:a="http://schemas.openxmlformats.org/drawingml/2006/main">
              <a:ext uri="{FF2B5EF4-FFF2-40B4-BE49-F238E27FC236}">
                <a16:creationId xmlns:a16="http://schemas.microsoft.com/office/drawing/2014/main" id="{1D8FB125-2A7F-4508-B65E-85B47214E273}"/>
              </a:ext>
            </a:extLst>
          </p:cNvPr>
          <p:cNvSpPr>
            <a:spLocks xmlns:a="http://schemas.openxmlformats.org/drawingml/2006/main" noGrp="1"/>
          </p:cNvSpPr>
          <p:nvPr/>
        </p:nvSpPr>
        <p:spPr>
          <a:xfrm xmlns:a="http://schemas.openxmlformats.org/drawingml/2006/main">
            <a:off x="457200" y="54292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46A47"/>
                </a:solidFill>
              </a:defRPr>
            </a:pPr>
            <a:r>
              <a:rPr sz="1350" b="1">
                <a:solidFill>
                  <a:srgbClr val="E46A47"/>
                </a:solidFill>
              </a:rPr>
              <a:t>HYP-IMOM-03.1 · TRAIN ONLY · DEVELOPMENT SEALED</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6b165e8e0eb4973"/>
          <a:stretch xmlns:a="http://schemas.openxmlformats.org/drawingml/2006/main"/>
        </p:blipFill>
        <p:spPr>
          <a:xfrm xmlns:a="http://schemas.openxmlformats.org/drawingml/2006/main" flipH="0" flipV="0">
            <a:off x="6267450" y="1660525"/>
            <a:ext cx="5543550" cy="307975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14ae5a258b84fb6"/>
          <a:stretch xmlns:a="http://schemas.openxmlformats.org/drawingml/2006/main"/>
        </p:blipFill>
        <p:spPr>
          <a:xfrm xmlns:a="http://schemas.openxmlformats.org/drawingml/2006/main">
            <a:off x="6267450" y="1814513"/>
            <a:ext cx="5543550" cy="277177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732fb6d68114d07"/>
          <a:stretch xmlns:a="http://schemas.openxmlformats.org/drawingml/2006/main"/>
        </p:blipFill>
        <p:spPr>
          <a:xfrm xmlns:a="http://schemas.openxmlformats.org/drawingml/2006/main">
            <a:off x="6267450" y="1814513"/>
            <a:ext cx="5543550" cy="2771775"/>
          </a:xfrm>
          <a:prstGeom xmlns:a="http://schemas.openxmlformats.org/drawingml/2006/main" prst="rect">
            <a:avLst/>
          </a:prstGeom>
        </p:spPr>
      </p:pic>
    </p:spTree>
    <p:extLst>
      <p:ext uri="{BB962C8B-B14F-4D97-AF65-F5344CB8AC3E}">
        <p14:creationId xmlns:p14="http://schemas.microsoft.com/office/powerpoint/2010/main" val="10827983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2">
            <a:extLst xmlns:a="http://schemas.openxmlformats.org/drawingml/2006/main">
              <a:ext uri="{FF2B5EF4-FFF2-40B4-BE49-F238E27FC236}">
                <a16:creationId xmlns:a16="http://schemas.microsoft.com/office/drawing/2014/main" id="{CC57C1DA-22D2-4393-A478-876E6061E9F4}"/>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clock was fixed before outcomes were read</a:t>
            </a:r>
          </a:p>
        </p:txBody>
      </p:sp>
      <p:sp>
        <p:nvSpPr>
          <p:cNvPr id="2" name="section-2">
            <a:extLst xmlns:a="http://schemas.openxmlformats.org/drawingml/2006/main">
              <a:ext uri="{FF2B5EF4-FFF2-40B4-BE49-F238E27FC236}">
                <a16:creationId xmlns:a16="http://schemas.microsoft.com/office/drawing/2014/main" id="{B10797AA-5F17-46BF-A209-C0012CAA4180}"/>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HYP-IMOM-03.1 · DESIGN</a:t>
            </a:r>
          </a:p>
        </p:txBody>
      </p:sp>
      <p:sp>
        <p:nvSpPr>
          <p:cNvPr id="3" name="page-2">
            <a:extLst xmlns:a="http://schemas.openxmlformats.org/drawingml/2006/main">
              <a:ext uri="{FF2B5EF4-FFF2-40B4-BE49-F238E27FC236}">
                <a16:creationId xmlns:a16="http://schemas.microsoft.com/office/drawing/2014/main" id="{027AA98B-7DC4-44D5-91EF-0CBB3B009F64}"/>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22</a:t>
            </a:r>
          </a:p>
        </p:txBody>
      </p:sp>
      <p:sp>
        <p:nvSpPr>
          <p:cNvPr id="4" name="lead-2">
            <a:extLst xmlns:a="http://schemas.openxmlformats.org/drawingml/2006/main">
              <a:ext uri="{FF2B5EF4-FFF2-40B4-BE49-F238E27FC236}">
                <a16:creationId xmlns:a16="http://schemas.microsoft.com/office/drawing/2014/main" id="{8AEB2C29-A634-46E4-A808-F88FB54BA88F}"/>
              </a:ext>
            </a:extLst>
          </p:cNvPr>
          <p:cNvSpPr>
            <a:spLocks xmlns:a="http://schemas.openxmlformats.org/drawingml/2006/main" noGrp="1"/>
          </p:cNvSpPr>
          <p:nvPr/>
        </p:nvSpPr>
        <p:spPr>
          <a:xfrm xmlns:a="http://schemas.openxmlformats.org/drawingml/2006/main">
            <a:off x="457200" y="1571625"/>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Measure SMH-minus-QQQ from 09:30 to 10:30 ET. After that bar closes, forecast QQQ-minus-SPY from the next bar's open through the regular-session close.</a:t>
            </a:r>
          </a:p>
        </p:txBody>
      </p:sp>
      <p:sp>
        <p:nvSpPr>
          <p:cNvPr id="5" name="formula-panel-2">
            <a:extLst xmlns:a="http://schemas.openxmlformats.org/drawingml/2006/main">
              <a:ext uri="{FF2B5EF4-FFF2-40B4-BE49-F238E27FC236}">
                <a16:creationId xmlns:a16="http://schemas.microsoft.com/office/drawing/2014/main" id="{DFB5541A-647E-4DE5-9984-503C77AD83F4}"/>
              </a:ext>
            </a:extLst>
          </p:cNvPr>
          <p:cNvSpPr>
            <a:spLocks xmlns:a="http://schemas.openxmlformats.org/drawingml/2006/main" noGrp="1"/>
          </p:cNvSpPr>
          <p:nvPr/>
        </p:nvSpPr>
        <p:spPr>
          <a:xfrm xmlns:a="http://schemas.openxmlformats.org/drawingml/2006/main">
            <a:off x="6286500" y="1524000"/>
            <a:ext cx="5381625" cy="3000375"/>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6" name="formula-2-0">
            <a:extLst xmlns:a="http://schemas.openxmlformats.org/drawingml/2006/main">
              <a:ext uri="{FF2B5EF4-FFF2-40B4-BE49-F238E27FC236}">
                <a16:creationId xmlns:a16="http://schemas.microsoft.com/office/drawing/2014/main" id="{63BF4897-DE0F-49BB-B76D-202A2819D600}"/>
              </a:ext>
            </a:extLst>
          </p:cNvPr>
          <p:cNvSpPr>
            <a:spLocks xmlns:a="http://schemas.openxmlformats.org/drawingml/2006/main" noGrp="1"/>
          </p:cNvSpPr>
          <p:nvPr/>
        </p:nvSpPr>
        <p:spPr>
          <a:xfrm xmlns:a="http://schemas.openxmlformats.org/drawingml/2006/main">
            <a:off x="6667500" y="18288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67D8D"/>
                </a:solidFill>
              </a:defRPr>
            </a:pPr>
            <a:r>
              <a:rPr sz="1950" b="1">
                <a:solidFill>
                  <a:srgbClr val="167D8D"/>
                </a:solidFill>
              </a:rPr>
              <a:t>xₜ = rSMHₜ,first hour − rQQQₜ,first hour</a:t>
            </a:r>
          </a:p>
        </p:txBody>
      </p:sp>
      <p:sp>
        <p:nvSpPr>
          <p:cNvPr id="7" name="formula-2-1">
            <a:extLst xmlns:a="http://schemas.openxmlformats.org/drawingml/2006/main">
              <a:ext uri="{FF2B5EF4-FFF2-40B4-BE49-F238E27FC236}">
                <a16:creationId xmlns:a16="http://schemas.microsoft.com/office/drawing/2014/main" id="{C4E3869B-07C3-4612-873A-415453670FBF}"/>
              </a:ext>
            </a:extLst>
          </p:cNvPr>
          <p:cNvSpPr>
            <a:spLocks xmlns:a="http://schemas.openxmlformats.org/drawingml/2006/main" noGrp="1"/>
          </p:cNvSpPr>
          <p:nvPr/>
        </p:nvSpPr>
        <p:spPr>
          <a:xfrm xmlns:a="http://schemas.openxmlformats.org/drawingml/2006/main">
            <a:off x="6667500" y="260985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111827"/>
                </a:solidFill>
              </a:defRPr>
            </a:pPr>
            <a:r>
              <a:rPr sz="1950" b="0">
                <a:solidFill>
                  <a:srgbClr val="111827"/>
                </a:solidFill>
              </a:rPr>
              <a:t>yₜ = rQQQₜ,remainder − rSPYₜ,remainder</a:t>
            </a:r>
          </a:p>
        </p:txBody>
      </p:sp>
      <p:sp>
        <p:nvSpPr>
          <p:cNvPr id="8" name="formula-2-2">
            <a:extLst xmlns:a="http://schemas.openxmlformats.org/drawingml/2006/main">
              <a:ext uri="{FF2B5EF4-FFF2-40B4-BE49-F238E27FC236}">
                <a16:creationId xmlns:a16="http://schemas.microsoft.com/office/drawing/2014/main" id="{C85D3FBA-447E-47ED-A5DC-0D60E81D8774}"/>
              </a:ext>
            </a:extLst>
          </p:cNvPr>
          <p:cNvSpPr>
            <a:spLocks xmlns:a="http://schemas.openxmlformats.org/drawingml/2006/main" noGrp="1"/>
          </p:cNvSpPr>
          <p:nvPr/>
        </p:nvSpPr>
        <p:spPr>
          <a:xfrm xmlns:a="http://schemas.openxmlformats.org/drawingml/2006/main">
            <a:off x="6667500" y="33909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111827"/>
                </a:solidFill>
              </a:defRPr>
            </a:pPr>
            <a:r>
              <a:rPr sz="1950" b="0">
                <a:solidFill>
                  <a:srgbClr val="111827"/>
                </a:solidFill>
              </a:rPr>
              <a:t>FIRST HOUR → NEXT-BAR OPEN → SESSION CLOSE</a:t>
            </a:r>
          </a:p>
        </p:txBody>
      </p:sp>
      <p:sp>
        <p:nvSpPr>
          <p:cNvPr id="9" name="interpret-2">
            <a:extLst xmlns:a="http://schemas.openxmlformats.org/drawingml/2006/main">
              <a:ext uri="{FF2B5EF4-FFF2-40B4-BE49-F238E27FC236}">
                <a16:creationId xmlns:a16="http://schemas.microsoft.com/office/drawing/2014/main" id="{E546D95B-DAC4-429E-A8CB-A7454C1A252A}"/>
              </a:ext>
            </a:extLst>
          </p:cNvPr>
          <p:cNvSpPr>
            <a:spLocks xmlns:a="http://schemas.openxmlformats.org/drawingml/2006/main" noGrp="1"/>
          </p:cNvSpPr>
          <p:nvPr/>
        </p:nvSpPr>
        <p:spPr>
          <a:xfrm xmlns:a="http://schemas.openxmlformats.org/drawingml/2006/main">
            <a:off x="457200" y="4857750"/>
            <a:ext cx="11191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827"/>
                </a:solidFill>
              </a:defRPr>
            </a:pPr>
            <a:r>
              <a:rPr sz="1650" b="1">
                <a:solidFill>
                  <a:srgbClr val="111827"/>
                </a:solidFill>
              </a:rPr>
              <a:t>TRAIN 2018–2020 · weekday + QQQ/SPY controls · prior-session wrong-clock placebo · 2021+ sealed</a:t>
            </a:r>
          </a:p>
        </p:txBody>
      </p:sp>
    </p:spTree>
    <p:extLst>
      <p:ext uri="{BB962C8B-B14F-4D97-AF65-F5344CB8AC3E}">
        <p14:creationId xmlns:p14="http://schemas.microsoft.com/office/powerpoint/2010/main" val="3982597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Controlled semiconductor leadership was flat to slightly negative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TRAIN</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23</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Partial slope −0.0064 after weekday, QQQ, and SPY first-hour controls across 751 TRAIN sessions.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8be973fe7e242f6"/>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8bc71bf63c74ba4"/>
          <a:stretch xmlns:a="http://schemas.openxmlformats.org/drawingml/2006/main"/>
        </p:blipFill>
        <p:spPr>
          <a:xfrm xmlns:a="http://schemas.openxmlformats.org/drawingml/2006/main">
            <a:off x="2131695" y="1627823"/>
            <a:ext cx="7852410" cy="3926205"/>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4dcf89659a441af"/>
          <a:stretch xmlns:a="http://schemas.openxmlformats.org/drawingml/2006/main"/>
        </p:blipFill>
        <p:spPr>
          <a:xfrm xmlns:a="http://schemas.openxmlformats.org/drawingml/2006/main">
            <a:off x="2180167" y="1409700"/>
            <a:ext cx="7755467"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Adding SMH leadership did not improve frozen forecast loss</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FALSIFICATION</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24</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LEADER MSE 1.360170e−05 versus 1.360170e−05 control; wrong-clock placebo was lower and bootstrap P(improvement) = 0.514.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b52483e01b54db7"/>
          <a:stretch xmlns:a="http://schemas.openxmlformats.org/drawingml/2006/main"/>
        </p:blipFill>
        <p:spPr>
          <a:xfrm xmlns:a="http://schemas.openxmlformats.org/drawingml/2006/main" flipH="0" flipV="0">
            <a:off x="2131695" y="1409700"/>
            <a:ext cx="7852410" cy="43624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54c3f90c40f4470"/>
          <a:stretch xmlns:a="http://schemas.openxmlformats.org/drawingml/2006/main"/>
        </p:blipFill>
        <p:spPr>
          <a:xfrm xmlns:a="http://schemas.openxmlformats.org/drawingml/2006/main">
            <a:off x="2131695" y="1627823"/>
            <a:ext cx="7852410" cy="3926205"/>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e228374247f4443"/>
          <a:stretch xmlns:a="http://schemas.openxmlformats.org/drawingml/2006/main"/>
        </p:blipFill>
        <p:spPr>
          <a:xfrm xmlns:a="http://schemas.openxmlformats.org/drawingml/2006/main">
            <a:off x="2180167" y="1409700"/>
            <a:ext cx="7755467"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0">
            <a:extLst xmlns:a="http://schemas.openxmlformats.org/drawingml/2006/main">
              <a:ext uri="{FF2B5EF4-FFF2-40B4-BE49-F238E27FC236}">
                <a16:creationId xmlns:a16="http://schemas.microsoft.com/office/drawing/2014/main" id="{328B673C-2321-490C-8E31-7D95273CC675}"/>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SMH-to-QQQ lead-lag stopped before DEVELOPMENT</a:t>
            </a:r>
          </a:p>
        </p:txBody>
      </p:sp>
      <p:sp>
        <p:nvSpPr>
          <p:cNvPr id="2" name="section-10">
            <a:extLst xmlns:a="http://schemas.openxmlformats.org/drawingml/2006/main">
              <a:ext uri="{FF2B5EF4-FFF2-40B4-BE49-F238E27FC236}">
                <a16:creationId xmlns:a16="http://schemas.microsoft.com/office/drawing/2014/main" id="{03C0456A-3709-406E-8FF6-EA187948C7CD}"/>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DECISION</a:t>
            </a:r>
          </a:p>
        </p:txBody>
      </p:sp>
      <p:sp>
        <p:nvSpPr>
          <p:cNvPr id="3" name="page-10">
            <a:extLst xmlns:a="http://schemas.openxmlformats.org/drawingml/2006/main">
              <a:ext uri="{FF2B5EF4-FFF2-40B4-BE49-F238E27FC236}">
                <a16:creationId xmlns:a16="http://schemas.microsoft.com/office/drawing/2014/main" id="{E4ABC01A-A7D2-42AF-9EAA-2B202CE63E57}"/>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25</a:t>
            </a:r>
          </a:p>
        </p:txBody>
      </p:sp>
      <p:sp>
        <p:nvSpPr>
          <p:cNvPr id="4" name="thesis-10">
            <a:extLst xmlns:a="http://schemas.openxmlformats.org/drawingml/2006/main">
              <a:ext uri="{FF2B5EF4-FFF2-40B4-BE49-F238E27FC236}">
                <a16:creationId xmlns:a16="http://schemas.microsoft.com/office/drawing/2014/main" id="{C1CD9618-B6B8-4D0A-AD5F-E334D12C2395}"/>
              </a:ext>
            </a:extLst>
          </p:cNvPr>
          <p:cNvSpPr>
            <a:spLocks xmlns:a="http://schemas.openxmlformats.org/drawingml/2006/main" noGrp="1"/>
          </p:cNvSpPr>
          <p:nvPr/>
        </p:nvSpPr>
        <p:spPr>
          <a:xfrm xmlns:a="http://schemas.openxmlformats.org/drawingml/2006/main">
            <a:off x="457200" y="1524000"/>
            <a:ext cx="11191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11827"/>
                </a:solidFill>
              </a:defRPr>
            </a:pPr>
            <a:r>
              <a:rPr sz="2175" b="1">
                <a:solidFill>
                  <a:srgbClr val="111827"/>
                </a:solidFill>
              </a:rPr>
              <a:t>The source and clock were valid; the proposed transmission mechanism was not.</a:t>
            </a:r>
          </a:p>
        </p:txBody>
      </p:sp>
      <p:sp>
        <p:nvSpPr>
          <p:cNvPr id="5" name="bullet-mark-10-0">
            <a:extLst xmlns:a="http://schemas.openxmlformats.org/drawingml/2006/main">
              <a:ext uri="{FF2B5EF4-FFF2-40B4-BE49-F238E27FC236}">
                <a16:creationId xmlns:a16="http://schemas.microsoft.com/office/drawing/2014/main" id="{D6A9FE8D-75B2-416A-ADB7-1A96C567A65C}"/>
              </a:ext>
            </a:extLst>
          </p:cNvPr>
          <p:cNvSpPr>
            <a:spLocks xmlns:a="http://schemas.openxmlformats.org/drawingml/2006/main" noGrp="1"/>
          </p:cNvSpPr>
          <p:nvPr/>
        </p:nvSpPr>
        <p:spPr>
          <a:xfrm xmlns:a="http://schemas.openxmlformats.org/drawingml/2006/main">
            <a:off x="523875" y="2990850"/>
            <a:ext cx="114300" cy="114300"/>
          </a:xfrm>
          <a:prstGeom xmlns:a="http://schemas.openxmlformats.org/drawingml/2006/main" prst="rect">
            <a:avLst/>
          </a:prstGeom>
          <a:solidFill xmlns:a="http://schemas.openxmlformats.org/drawingml/2006/main">
            <a:srgbClr val="167D8D"/>
          </a:solidFill>
          <a:ln xmlns:a="http://schemas.openxmlformats.org/drawingml/2006/main" w="9525">
            <a:solidFill>
              <a:srgbClr val="167D8D"/>
            </a:solidFill>
            <a:prstDash val="solid"/>
          </a:ln>
        </p:spPr>
      </p:sp>
      <p:sp>
        <p:nvSpPr>
          <p:cNvPr id="6" name="bullet-10-0">
            <a:extLst xmlns:a="http://schemas.openxmlformats.org/drawingml/2006/main">
              <a:ext uri="{FF2B5EF4-FFF2-40B4-BE49-F238E27FC236}">
                <a16:creationId xmlns:a16="http://schemas.microsoft.com/office/drawing/2014/main" id="{E4A179DE-2CB6-4686-B532-3B56AFA11E8B}"/>
              </a:ext>
            </a:extLst>
          </p:cNvPr>
          <p:cNvSpPr>
            <a:spLocks xmlns:a="http://schemas.openxmlformats.org/drawingml/2006/main" noGrp="1"/>
          </p:cNvSpPr>
          <p:nvPr/>
        </p:nvSpPr>
        <p:spPr>
          <a:xfrm xmlns:a="http://schemas.openxmlformats.org/drawingml/2006/main">
            <a:off x="819150" y="2914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Exact SMH/QQQ/SPY calendars supplied 751 TRAIN sessions and 503 expanding-fold scores.</a:t>
            </a:r>
          </a:p>
        </p:txBody>
      </p:sp>
      <p:sp>
        <p:nvSpPr>
          <p:cNvPr id="7" name="bullet-mark-10-1">
            <a:extLst xmlns:a="http://schemas.openxmlformats.org/drawingml/2006/main">
              <a:ext uri="{FF2B5EF4-FFF2-40B4-BE49-F238E27FC236}">
                <a16:creationId xmlns:a16="http://schemas.microsoft.com/office/drawing/2014/main" id="{4E2CA250-A245-43AA-BCF2-1D4F24851D28}"/>
              </a:ext>
            </a:extLst>
          </p:cNvPr>
          <p:cNvSpPr>
            <a:spLocks xmlns:a="http://schemas.openxmlformats.org/drawingml/2006/main" noGrp="1"/>
          </p:cNvSpPr>
          <p:nvPr/>
        </p:nvSpPr>
        <p:spPr>
          <a:xfrm xmlns:a="http://schemas.openxmlformats.org/drawingml/2006/main">
            <a:off x="523875" y="3752850"/>
            <a:ext cx="114300" cy="114300"/>
          </a:xfrm>
          <a:prstGeom xmlns:a="http://schemas.openxmlformats.org/drawingml/2006/main" prst="rect">
            <a:avLst/>
          </a:prstGeom>
          <a:solidFill xmlns:a="http://schemas.openxmlformats.org/drawingml/2006/main">
            <a:srgbClr val="E46A47"/>
          </a:solidFill>
          <a:ln xmlns:a="http://schemas.openxmlformats.org/drawingml/2006/main" w="9525">
            <a:solidFill>
              <a:srgbClr val="E46A47"/>
            </a:solidFill>
            <a:prstDash val="solid"/>
          </a:ln>
        </p:spPr>
      </p:sp>
      <p:sp>
        <p:nvSpPr>
          <p:cNvPr id="8" name="bullet-10-1">
            <a:extLst xmlns:a="http://schemas.openxmlformats.org/drawingml/2006/main">
              <a:ext uri="{FF2B5EF4-FFF2-40B4-BE49-F238E27FC236}">
                <a16:creationId xmlns:a16="http://schemas.microsoft.com/office/drawing/2014/main" id="{03DE52E0-B7C7-4ECA-8DC5-AF61B9F5831E}"/>
              </a:ext>
            </a:extLst>
          </p:cNvPr>
          <p:cNvSpPr>
            <a:spLocks xmlns:a="http://schemas.openxmlformats.org/drawingml/2006/main" noGrp="1"/>
          </p:cNvSpPr>
          <p:nvPr/>
        </p:nvSpPr>
        <p:spPr>
          <a:xfrm xmlns:a="http://schemas.openxmlformats.org/drawingml/2006/main">
            <a:off x="819150" y="3676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Leadership beta was −0.00635; four of six TRAIN gates failed and the wrong-clock placebo was better.</a:t>
            </a:r>
          </a:p>
        </p:txBody>
      </p:sp>
      <p:sp>
        <p:nvSpPr>
          <p:cNvPr id="9" name="bullet-mark-10-2">
            <a:extLst xmlns:a="http://schemas.openxmlformats.org/drawingml/2006/main">
              <a:ext uri="{FF2B5EF4-FFF2-40B4-BE49-F238E27FC236}">
                <a16:creationId xmlns:a16="http://schemas.microsoft.com/office/drawing/2014/main" id="{7037D4C5-A588-4871-AED3-4D739A7E2CB3}"/>
              </a:ext>
            </a:extLst>
          </p:cNvPr>
          <p:cNvSpPr>
            <a:spLocks xmlns:a="http://schemas.openxmlformats.org/drawingml/2006/main" noGrp="1"/>
          </p:cNvSpPr>
          <p:nvPr/>
        </p:nvSpPr>
        <p:spPr>
          <a:xfrm xmlns:a="http://schemas.openxmlformats.org/drawingml/2006/main">
            <a:off x="523875" y="4514850"/>
            <a:ext cx="114300" cy="114300"/>
          </a:xfrm>
          <a:prstGeom xmlns:a="http://schemas.openxmlformats.org/drawingml/2006/main" prst="rect">
            <a:avLst/>
          </a:prstGeom>
          <a:solidFill xmlns:a="http://schemas.openxmlformats.org/drawingml/2006/main">
            <a:srgbClr val="D3A73A"/>
          </a:solidFill>
          <a:ln xmlns:a="http://schemas.openxmlformats.org/drawingml/2006/main" w="9525">
            <a:solidFill>
              <a:srgbClr val="D3A73A"/>
            </a:solidFill>
            <a:prstDash val="solid"/>
          </a:ln>
        </p:spPr>
      </p:sp>
      <p:sp>
        <p:nvSpPr>
          <p:cNvPr id="10" name="bullet-10-2">
            <a:extLst xmlns:a="http://schemas.openxmlformats.org/drawingml/2006/main">
              <a:ext uri="{FF2B5EF4-FFF2-40B4-BE49-F238E27FC236}">
                <a16:creationId xmlns:a16="http://schemas.microsoft.com/office/drawing/2014/main" id="{55809576-D5E7-42E1-9311-CBA192247633}"/>
              </a:ext>
            </a:extLst>
          </p:cNvPr>
          <p:cNvSpPr>
            <a:spLocks xmlns:a="http://schemas.openxmlformats.org/drawingml/2006/main" noGrp="1"/>
          </p:cNvSpPr>
          <p:nvPr/>
        </p:nvSpPr>
        <p:spPr>
          <a:xfrm xmlns:a="http://schemas.openxmlformats.org/drawingml/2006/main">
            <a:off x="819150" y="4438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2021–2022 DEVELOPMENT and 2023 confirmation remain unread; QQQ-S3 is next.</a:t>
            </a:r>
          </a:p>
        </p:txBody>
      </p:sp>
      <p:sp>
        <p:nvSpPr>
          <p:cNvPr id="11" name="stop-10">
            <a:extLst xmlns:a="http://schemas.openxmlformats.org/drawingml/2006/main">
              <a:ext uri="{FF2B5EF4-FFF2-40B4-BE49-F238E27FC236}">
                <a16:creationId xmlns:a16="http://schemas.microsoft.com/office/drawing/2014/main" id="{653A3B9E-8A5D-416C-B2EA-41EB99E61D73}"/>
              </a:ext>
            </a:extLst>
          </p:cNvPr>
          <p:cNvSpPr>
            <a:spLocks xmlns:a="http://schemas.openxmlformats.org/drawingml/2006/main" noGrp="1"/>
          </p:cNvSpPr>
          <p:nvPr/>
        </p:nvSpPr>
        <p:spPr>
          <a:xfrm xmlns:a="http://schemas.openxmlformats.org/drawingml/2006/main">
            <a:off x="457200" y="5657850"/>
            <a:ext cx="11191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46A47"/>
                </a:solidFill>
              </a:defRPr>
            </a:pPr>
            <a:r>
              <a:rPr sz="1500" b="1">
                <a:solidFill>
                  <a:srgbClr val="E46A47"/>
                </a:solidFill>
              </a:rPr>
              <a:t>STOP: do not mine nearby clocks, swap semiconductor ETFs, condition on large moves, or invert the sign under this identifier.</a:t>
            </a:r>
          </a:p>
        </p:txBody>
      </p:sp>
    </p:spTree>
    <p:extLst>
      <p:ext uri="{BB962C8B-B14F-4D97-AF65-F5344CB8AC3E}">
        <p14:creationId xmlns:p14="http://schemas.microsoft.com/office/powerpoint/2010/main" val="125035851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ro-backing">
            <a:extLst xmlns:a="http://schemas.openxmlformats.org/drawingml/2006/main">
              <a:ext uri="{FF2B5EF4-FFF2-40B4-BE49-F238E27FC236}">
                <a16:creationId xmlns:a16="http://schemas.microsoft.com/office/drawing/2014/main" id="{DBF2003E-F000-4B81-8BC8-7F1E69E9FEF2}"/>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3" name="cover-eyebrow">
            <a:extLst xmlns:a="http://schemas.openxmlformats.org/drawingml/2006/main">
              <a:ext uri="{FF2B5EF4-FFF2-40B4-BE49-F238E27FC236}">
                <a16:creationId xmlns:a16="http://schemas.microsoft.com/office/drawing/2014/main" id="{5255774B-7429-47C5-A3C4-7E685BB305DD}"/>
              </a:ext>
            </a:extLst>
          </p:cNvPr>
          <p:cNvSpPr>
            <a:spLocks xmlns:a="http://schemas.openxmlformats.org/drawingml/2006/main" noGrp="1"/>
          </p:cNvSpPr>
          <p:nvPr/>
        </p:nvSpPr>
        <p:spPr>
          <a:xfrm xmlns:a="http://schemas.openxmlformats.org/drawingml/2006/main">
            <a:off x="457200" y="4000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PHASE 6 · DAILY RELATIVE STYLE LEADERSHIP</a:t>
            </a:r>
          </a:p>
        </p:txBody>
      </p:sp>
      <p:sp>
        <p:nvSpPr>
          <p:cNvPr id="4" name="cover-title">
            <a:extLst xmlns:a="http://schemas.openxmlformats.org/drawingml/2006/main">
              <a:ext uri="{FF2B5EF4-FFF2-40B4-BE49-F238E27FC236}">
                <a16:creationId xmlns:a16="http://schemas.microsoft.com/office/drawing/2014/main" id="{14653E3E-0AC9-494A-98EA-9ACACAA94767}"/>
              </a:ext>
            </a:extLst>
          </p:cNvPr>
          <p:cNvSpPr>
            <a:spLocks xmlns:a="http://schemas.openxmlformats.org/drawingml/2006/main" noGrp="1"/>
          </p:cNvSpPr>
          <p:nvPr/>
        </p:nvSpPr>
        <p:spPr>
          <a:xfrm xmlns:a="http://schemas.openxmlformats.org/drawingml/2006/main">
            <a:off x="457200" y="1009650"/>
            <a:ext cx="5286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11827"/>
                </a:solidFill>
              </a:defRPr>
            </a:pPr>
            <a:r>
              <a:rPr sz="3900" b="1">
                <a:solidFill>
                  <a:srgbClr val="111827"/>
                </a:solidFill>
              </a:rPr>
              <a:t>Does QQQ leadership</a:t>
            </a:r>
          </a:p>
          <a:p xmlns:a="http://schemas.openxmlformats.org/drawingml/2006/main">
            <a:pPr algn="l">
              <a:buNone/>
              <a:defRPr sz="3900" b="1">
                <a:solidFill>
                  <a:srgbClr val="111827"/>
                </a:solidFill>
              </a:defRPr>
            </a:pPr>
            <a:r>
              <a:rPr sz="3900" b="1">
                <a:solidFill>
                  <a:srgbClr val="111827"/>
                </a:solidFill>
              </a:rPr>
              <a:t>over SPY persist?</a:t>
            </a:r>
          </a:p>
        </p:txBody>
      </p:sp>
      <p:sp>
        <p:nvSpPr>
          <p:cNvPr id="5" name="cover-subtitle">
            <a:extLst xmlns:a="http://schemas.openxmlformats.org/drawingml/2006/main">
              <a:ext uri="{FF2B5EF4-FFF2-40B4-BE49-F238E27FC236}">
                <a16:creationId xmlns:a16="http://schemas.microsoft.com/office/drawing/2014/main" id="{6BE5B062-40D5-406B-8B38-6A85DE05AF71}"/>
              </a:ext>
            </a:extLst>
          </p:cNvPr>
          <p:cNvSpPr>
            <a:spLocks xmlns:a="http://schemas.openxmlformats.org/drawingml/2006/main" noGrp="1"/>
          </p:cNvSpPr>
          <p:nvPr/>
        </p:nvSpPr>
        <p:spPr>
          <a:xfrm xmlns:a="http://schemas.openxmlformats.org/drawingml/2006/main">
            <a:off x="457200" y="314325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Remove broad-market direction from predictor and target—then demand search-adjusted evidence.</a:t>
            </a:r>
          </a:p>
        </p:txBody>
      </p:sp>
      <p:sp>
        <p:nvSpPr>
          <p:cNvPr id="6" name="cover-status">
            <a:extLst xmlns:a="http://schemas.openxmlformats.org/drawingml/2006/main">
              <a:ext uri="{FF2B5EF4-FFF2-40B4-BE49-F238E27FC236}">
                <a16:creationId xmlns:a16="http://schemas.microsoft.com/office/drawing/2014/main" id="{1D8FB125-2A7F-4508-B65E-85B47214E273}"/>
              </a:ext>
            </a:extLst>
          </p:cNvPr>
          <p:cNvSpPr>
            <a:spLocks xmlns:a="http://schemas.openxmlformats.org/drawingml/2006/main" noGrp="1"/>
          </p:cNvSpPr>
          <p:nvPr/>
        </p:nvSpPr>
        <p:spPr>
          <a:xfrm xmlns:a="http://schemas.openxmlformats.org/drawingml/2006/main">
            <a:off x="457200" y="54292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46A47"/>
                </a:solidFill>
              </a:defRPr>
            </a:pPr>
            <a:r>
              <a:rPr sz="1350" b="1">
                <a:solidFill>
                  <a:srgbClr val="E46A47"/>
                </a:solidFill>
              </a:rPr>
              <a:t>HYP-MOM-08.1 · TRAIN ONLY · DEVELOPMENT SEALED</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4ffcd848590440c"/>
          <a:stretch xmlns:a="http://schemas.openxmlformats.org/drawingml/2006/main"/>
        </p:blipFill>
        <p:spPr>
          <a:xfrm xmlns:a="http://schemas.openxmlformats.org/drawingml/2006/main" flipH="0" flipV="0">
            <a:off x="6267450" y="1660525"/>
            <a:ext cx="9525" cy="952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f872063ad894759"/>
          <a:stretch xmlns:a="http://schemas.openxmlformats.org/drawingml/2006/main"/>
        </p:blipFill>
        <p:spPr>
          <a:xfrm xmlns:a="http://schemas.openxmlformats.org/drawingml/2006/main">
            <a:off x="6267450" y="1660525"/>
            <a:ext cx="9525" cy="9525"/>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3b07eaf9cdb42a8"/>
          <a:stretch xmlns:a="http://schemas.openxmlformats.org/drawingml/2006/main"/>
        </p:blipFill>
        <p:spPr>
          <a:xfrm xmlns:a="http://schemas.openxmlformats.org/drawingml/2006/main">
            <a:off x="6267450" y="1660525"/>
            <a:ext cx="9525" cy="952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09aba1c665c47d8"/>
          <a:stretch xmlns:a="http://schemas.openxmlformats.org/drawingml/2006/main"/>
        </p:blipFill>
        <p:spPr>
          <a:xfrm xmlns:a="http://schemas.openxmlformats.org/drawingml/2006/main">
            <a:off x="6267450" y="1814513"/>
            <a:ext cx="5543550" cy="2771775"/>
          </a:xfrm>
          <a:prstGeom xmlns:a="http://schemas.openxmlformats.org/drawingml/2006/main" prst="rect">
            <a:avLst/>
          </a:prstGeom>
        </p:spPr>
      </p:pic>
    </p:spTree>
    <p:extLst>
      <p:ext uri="{BB962C8B-B14F-4D97-AF65-F5344CB8AC3E}">
        <p14:creationId xmlns:p14="http://schemas.microsoft.com/office/powerpoint/2010/main" val="108279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Eight of nine relative-strength cells pointed away from persistence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TRAIN</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27</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Only L60/H20 was positive: rho +0.0752 across 986 common anchors; every shorter cell was negative.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b19acdb40be495f"/>
          <a:stretch xmlns:a="http://schemas.openxmlformats.org/drawingml/2006/main"/>
        </p:blipFill>
        <p:spPr>
          <a:xfrm xmlns:a="http://schemas.openxmlformats.org/drawingml/2006/main" flipH="0" flipV="0">
            <a:off x="2131695" y="1409700"/>
            <a:ext cx="9525" cy="9525"/>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4044a65a0454955"/>
          <a:stretch xmlns:a="http://schemas.openxmlformats.org/drawingml/2006/main"/>
        </p:blipFill>
        <p:spPr>
          <a:xfrm xmlns:a="http://schemas.openxmlformats.org/drawingml/2006/main">
            <a:off x="2131695" y="1409700"/>
            <a:ext cx="9525" cy="952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1650f1a15cf4df9"/>
          <a:stretch xmlns:a="http://schemas.openxmlformats.org/drawingml/2006/main"/>
        </p:blipFill>
        <p:spPr>
          <a:xfrm xmlns:a="http://schemas.openxmlformats.org/drawingml/2006/main">
            <a:off x="2131695" y="1409700"/>
            <a:ext cx="9525" cy="952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382e12a07e344bd"/>
          <a:stretch xmlns:a="http://schemas.openxmlformats.org/drawingml/2006/main"/>
        </p:blipFill>
        <p:spPr>
          <a:xfrm xmlns:a="http://schemas.openxmlformats.org/drawingml/2006/main">
            <a:off x="2131695" y="1627823"/>
            <a:ext cx="7852410" cy="3926205"/>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lone positive cell missed the search-adjusted hurdle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FALSIFICATION</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28</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Observed maximum +0.0752 versus shift-null p90 +0.1514; empirical upper-tail probability was 0.321.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d7f241790474173"/>
          <a:stretch xmlns:a="http://schemas.openxmlformats.org/drawingml/2006/main"/>
        </p:blipFill>
        <p:spPr>
          <a:xfrm xmlns:a="http://schemas.openxmlformats.org/drawingml/2006/main" flipH="0" flipV="0">
            <a:off x="2131695" y="1409700"/>
            <a:ext cx="9525" cy="9525"/>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00fb5c7550d4a11"/>
          <a:stretch xmlns:a="http://schemas.openxmlformats.org/drawingml/2006/main"/>
        </p:blipFill>
        <p:spPr>
          <a:xfrm xmlns:a="http://schemas.openxmlformats.org/drawingml/2006/main">
            <a:off x="2131695" y="1409700"/>
            <a:ext cx="9525" cy="952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26e7747ac9a456b"/>
          <a:stretch xmlns:a="http://schemas.openxmlformats.org/drawingml/2006/main"/>
        </p:blipFill>
        <p:spPr>
          <a:xfrm xmlns:a="http://schemas.openxmlformats.org/drawingml/2006/main">
            <a:off x="2131695" y="1409700"/>
            <a:ext cx="9525" cy="952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0d5384394a148ee"/>
          <a:stretch xmlns:a="http://schemas.openxmlformats.org/drawingml/2006/main"/>
        </p:blipFill>
        <p:spPr>
          <a:xfrm xmlns:a="http://schemas.openxmlformats.org/drawingml/2006/main">
            <a:off x="2422525" y="1409700"/>
            <a:ext cx="727075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0">
            <a:extLst xmlns:a="http://schemas.openxmlformats.org/drawingml/2006/main">
              <a:ext uri="{FF2B5EF4-FFF2-40B4-BE49-F238E27FC236}">
                <a16:creationId xmlns:a16="http://schemas.microsoft.com/office/drawing/2014/main" id="{328B673C-2321-490C-8E31-7D95273CC675}"/>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QQQ-versus-SPY persistence stopped before DEVELOPMENT</a:t>
            </a:r>
          </a:p>
        </p:txBody>
      </p:sp>
      <p:sp>
        <p:nvSpPr>
          <p:cNvPr id="2" name="section-10">
            <a:extLst xmlns:a="http://schemas.openxmlformats.org/drawingml/2006/main">
              <a:ext uri="{FF2B5EF4-FFF2-40B4-BE49-F238E27FC236}">
                <a16:creationId xmlns:a16="http://schemas.microsoft.com/office/drawing/2014/main" id="{03C0456A-3709-406E-8FF6-EA187948C7CD}"/>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DECISION</a:t>
            </a:r>
          </a:p>
        </p:txBody>
      </p:sp>
      <p:sp>
        <p:nvSpPr>
          <p:cNvPr id="3" name="page-10">
            <a:extLst xmlns:a="http://schemas.openxmlformats.org/drawingml/2006/main">
              <a:ext uri="{FF2B5EF4-FFF2-40B4-BE49-F238E27FC236}">
                <a16:creationId xmlns:a16="http://schemas.microsoft.com/office/drawing/2014/main" id="{E4ABC01A-A7D2-42AF-9EAA-2B202CE63E57}"/>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29</a:t>
            </a:r>
          </a:p>
        </p:txBody>
      </p:sp>
      <p:sp>
        <p:nvSpPr>
          <p:cNvPr id="4" name="thesis-10">
            <a:extLst xmlns:a="http://schemas.openxmlformats.org/drawingml/2006/main">
              <a:ext uri="{FF2B5EF4-FFF2-40B4-BE49-F238E27FC236}">
                <a16:creationId xmlns:a16="http://schemas.microsoft.com/office/drawing/2014/main" id="{C1CD9618-B6B8-4D0A-AD5F-E334D12C2395}"/>
              </a:ext>
            </a:extLst>
          </p:cNvPr>
          <p:cNvSpPr>
            <a:spLocks xmlns:a="http://schemas.openxmlformats.org/drawingml/2006/main" noGrp="1"/>
          </p:cNvSpPr>
          <p:nvPr/>
        </p:nvSpPr>
        <p:spPr>
          <a:xfrm xmlns:a="http://schemas.openxmlformats.org/drawingml/2006/main">
            <a:off x="457200" y="1524000"/>
            <a:ext cx="11191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11827"/>
                </a:solidFill>
              </a:defRPr>
            </a:pPr>
            <a:r>
              <a:rPr sz="2175" b="1">
                <a:solidFill>
                  <a:srgbClr val="111827"/>
                </a:solidFill>
              </a:rPr>
              <a:t>Removing broad-market direction changed the question, but not the outcome.</a:t>
            </a:r>
          </a:p>
        </p:txBody>
      </p:sp>
      <p:sp>
        <p:nvSpPr>
          <p:cNvPr id="5" name="bullet-mark-10-0">
            <a:extLst xmlns:a="http://schemas.openxmlformats.org/drawingml/2006/main">
              <a:ext uri="{FF2B5EF4-FFF2-40B4-BE49-F238E27FC236}">
                <a16:creationId xmlns:a16="http://schemas.microsoft.com/office/drawing/2014/main" id="{D6A9FE8D-75B2-416A-ADB7-1A96C567A65C}"/>
              </a:ext>
            </a:extLst>
          </p:cNvPr>
          <p:cNvSpPr>
            <a:spLocks xmlns:a="http://schemas.openxmlformats.org/drawingml/2006/main" noGrp="1"/>
          </p:cNvSpPr>
          <p:nvPr/>
        </p:nvSpPr>
        <p:spPr>
          <a:xfrm xmlns:a="http://schemas.openxmlformats.org/drawingml/2006/main">
            <a:off x="523875" y="2990850"/>
            <a:ext cx="114300" cy="114300"/>
          </a:xfrm>
          <a:prstGeom xmlns:a="http://schemas.openxmlformats.org/drawingml/2006/main" prst="rect">
            <a:avLst/>
          </a:prstGeom>
          <a:solidFill xmlns:a="http://schemas.openxmlformats.org/drawingml/2006/main">
            <a:srgbClr val="167D8D"/>
          </a:solidFill>
          <a:ln xmlns:a="http://schemas.openxmlformats.org/drawingml/2006/main" w="9525">
            <a:solidFill>
              <a:srgbClr val="167D8D"/>
            </a:solidFill>
            <a:prstDash val="solid"/>
          </a:ln>
        </p:spPr>
      </p:sp>
      <p:sp>
        <p:nvSpPr>
          <p:cNvPr id="6" name="bullet-10-0">
            <a:extLst xmlns:a="http://schemas.openxmlformats.org/drawingml/2006/main">
              <a:ext uri="{FF2B5EF4-FFF2-40B4-BE49-F238E27FC236}">
                <a16:creationId xmlns:a16="http://schemas.microsoft.com/office/drawing/2014/main" id="{E4A179DE-2CB6-4686-B532-3B56AFA11E8B}"/>
              </a:ext>
            </a:extLst>
          </p:cNvPr>
          <p:cNvSpPr>
            <a:spLocks xmlns:a="http://schemas.openxmlformats.org/drawingml/2006/main" noGrp="1"/>
          </p:cNvSpPr>
          <p:nvPr/>
        </p:nvSpPr>
        <p:spPr>
          <a:xfrm xmlns:a="http://schemas.openxmlformats.org/drawingml/2006/main">
            <a:off x="819150" y="2914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QQQ and SPY supplied 1,259 exact adjusted-daily sessions and 986 common TRAIN anchors.</a:t>
            </a:r>
          </a:p>
        </p:txBody>
      </p:sp>
      <p:sp>
        <p:nvSpPr>
          <p:cNvPr id="7" name="bullet-mark-10-1">
            <a:extLst xmlns:a="http://schemas.openxmlformats.org/drawingml/2006/main">
              <a:ext uri="{FF2B5EF4-FFF2-40B4-BE49-F238E27FC236}">
                <a16:creationId xmlns:a16="http://schemas.microsoft.com/office/drawing/2014/main" id="{4E2CA250-A245-43AA-BCF2-1D4F24851D28}"/>
              </a:ext>
            </a:extLst>
          </p:cNvPr>
          <p:cNvSpPr>
            <a:spLocks xmlns:a="http://schemas.openxmlformats.org/drawingml/2006/main" noGrp="1"/>
          </p:cNvSpPr>
          <p:nvPr/>
        </p:nvSpPr>
        <p:spPr>
          <a:xfrm xmlns:a="http://schemas.openxmlformats.org/drawingml/2006/main">
            <a:off x="523875" y="3752850"/>
            <a:ext cx="114300" cy="114300"/>
          </a:xfrm>
          <a:prstGeom xmlns:a="http://schemas.openxmlformats.org/drawingml/2006/main" prst="rect">
            <a:avLst/>
          </a:prstGeom>
          <a:solidFill xmlns:a="http://schemas.openxmlformats.org/drawingml/2006/main">
            <a:srgbClr val="E46A47"/>
          </a:solidFill>
          <a:ln xmlns:a="http://schemas.openxmlformats.org/drawingml/2006/main" w="9525">
            <a:solidFill>
              <a:srgbClr val="E46A47"/>
            </a:solidFill>
            <a:prstDash val="solid"/>
          </a:ln>
        </p:spPr>
      </p:sp>
      <p:sp>
        <p:nvSpPr>
          <p:cNvPr id="8" name="bullet-10-1">
            <a:extLst xmlns:a="http://schemas.openxmlformats.org/drawingml/2006/main">
              <a:ext uri="{FF2B5EF4-FFF2-40B4-BE49-F238E27FC236}">
                <a16:creationId xmlns:a16="http://schemas.microsoft.com/office/drawing/2014/main" id="{03DE52E0-B7C7-4ECA-8DC5-AF61B9F5831E}"/>
              </a:ext>
            </a:extLst>
          </p:cNvPr>
          <p:cNvSpPr>
            <a:spLocks xmlns:a="http://schemas.openxmlformats.org/drawingml/2006/main" noGrp="1"/>
          </p:cNvSpPr>
          <p:nvPr/>
        </p:nvSpPr>
        <p:spPr>
          <a:xfrm xmlns:a="http://schemas.openxmlformats.org/drawingml/2006/main">
            <a:off x="819150" y="3676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Eight of nine cells were negative; lone-positive L60/H20 missed the family-wise hurdle.</a:t>
            </a:r>
          </a:p>
        </p:txBody>
      </p:sp>
      <p:sp>
        <p:nvSpPr>
          <p:cNvPr id="9" name="bullet-mark-10-2">
            <a:extLst xmlns:a="http://schemas.openxmlformats.org/drawingml/2006/main">
              <a:ext uri="{FF2B5EF4-FFF2-40B4-BE49-F238E27FC236}">
                <a16:creationId xmlns:a16="http://schemas.microsoft.com/office/drawing/2014/main" id="{7037D4C5-A588-4871-AED3-4D739A7E2CB3}"/>
              </a:ext>
            </a:extLst>
          </p:cNvPr>
          <p:cNvSpPr>
            <a:spLocks xmlns:a="http://schemas.openxmlformats.org/drawingml/2006/main" noGrp="1"/>
          </p:cNvSpPr>
          <p:nvPr/>
        </p:nvSpPr>
        <p:spPr>
          <a:xfrm xmlns:a="http://schemas.openxmlformats.org/drawingml/2006/main">
            <a:off x="523875" y="4514850"/>
            <a:ext cx="114300" cy="114300"/>
          </a:xfrm>
          <a:prstGeom xmlns:a="http://schemas.openxmlformats.org/drawingml/2006/main" prst="rect">
            <a:avLst/>
          </a:prstGeom>
          <a:solidFill xmlns:a="http://schemas.openxmlformats.org/drawingml/2006/main">
            <a:srgbClr val="D3A73A"/>
          </a:solidFill>
          <a:ln xmlns:a="http://schemas.openxmlformats.org/drawingml/2006/main" w="9525">
            <a:solidFill>
              <a:srgbClr val="D3A73A"/>
            </a:solidFill>
            <a:prstDash val="solid"/>
          </a:ln>
        </p:spPr>
      </p:sp>
      <p:sp>
        <p:nvSpPr>
          <p:cNvPr id="10" name="bullet-10-2">
            <a:extLst xmlns:a="http://schemas.openxmlformats.org/drawingml/2006/main">
              <a:ext uri="{FF2B5EF4-FFF2-40B4-BE49-F238E27FC236}">
                <a16:creationId xmlns:a16="http://schemas.microsoft.com/office/drawing/2014/main" id="{55809576-D5E7-42E1-9311-CBA192247633}"/>
              </a:ext>
            </a:extLst>
          </p:cNvPr>
          <p:cNvSpPr>
            <a:spLocks xmlns:a="http://schemas.openxmlformats.org/drawingml/2006/main" noGrp="1"/>
          </p:cNvSpPr>
          <p:nvPr/>
        </p:nvSpPr>
        <p:spPr>
          <a:xfrm xmlns:a="http://schemas.openxmlformats.org/drawingml/2006/main">
            <a:off x="819150" y="4438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2021–2023 DEVELOPMENT and 2024–2025 confirmation remain unread; volume confirmation is next.</a:t>
            </a:r>
          </a:p>
        </p:txBody>
      </p:sp>
      <p:sp>
        <p:nvSpPr>
          <p:cNvPr id="11" name="stop-10">
            <a:extLst xmlns:a="http://schemas.openxmlformats.org/drawingml/2006/main">
              <a:ext uri="{FF2B5EF4-FFF2-40B4-BE49-F238E27FC236}">
                <a16:creationId xmlns:a16="http://schemas.microsoft.com/office/drawing/2014/main" id="{653A3B9E-8A5D-416C-B2EA-41EB99E61D73}"/>
              </a:ext>
            </a:extLst>
          </p:cNvPr>
          <p:cNvSpPr>
            <a:spLocks xmlns:a="http://schemas.openxmlformats.org/drawingml/2006/main" noGrp="1"/>
          </p:cNvSpPr>
          <p:nvPr/>
        </p:nvSpPr>
        <p:spPr>
          <a:xfrm xmlns:a="http://schemas.openxmlformats.org/drawingml/2006/main">
            <a:off x="457200" y="5657850"/>
            <a:ext cx="11191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46A47"/>
                </a:solidFill>
              </a:defRPr>
            </a:pPr>
            <a:r>
              <a:rPr sz="1500" b="1">
                <a:solidFill>
                  <a:srgbClr val="E46A47"/>
                </a:solidFill>
              </a:rPr>
              <a:t>STOP: do not select L60/H20, invert wrong-sign cells, beta-residualize after inspection, or mine nearby windows.</a:t>
            </a:r>
          </a:p>
        </p:txBody>
      </p:sp>
    </p:spTree>
    <p:extLst>
      <p:ext uri="{BB962C8B-B14F-4D97-AF65-F5344CB8AC3E}">
        <p14:creationId xmlns:p14="http://schemas.microsoft.com/office/powerpoint/2010/main" val="125035851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ro-backing">
            <a:extLst xmlns:a="http://schemas.openxmlformats.org/drawingml/2006/main">
              <a:ext uri="{FF2B5EF4-FFF2-40B4-BE49-F238E27FC236}">
                <a16:creationId xmlns:a16="http://schemas.microsoft.com/office/drawing/2014/main" id="{DBF2003E-F000-4B81-8BC8-7F1E69E9FEF2}"/>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3" name="cover-eyebrow">
            <a:extLst xmlns:a="http://schemas.openxmlformats.org/drawingml/2006/main">
              <a:ext uri="{FF2B5EF4-FFF2-40B4-BE49-F238E27FC236}">
                <a16:creationId xmlns:a16="http://schemas.microsoft.com/office/drawing/2014/main" id="{5255774B-7429-47C5-A3C4-7E685BB305DD}"/>
              </a:ext>
            </a:extLst>
          </p:cNvPr>
          <p:cNvSpPr>
            <a:spLocks xmlns:a="http://schemas.openxmlformats.org/drawingml/2006/main" noGrp="1"/>
          </p:cNvSpPr>
          <p:nvPr/>
        </p:nvSpPr>
        <p:spPr>
          <a:xfrm xmlns:a="http://schemas.openxmlformats.org/drawingml/2006/main">
            <a:off x="457200" y="4000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PHASE 7 · PARTICIPATION-CONDITIONED CONTINUATION</a:t>
            </a:r>
          </a:p>
        </p:txBody>
      </p:sp>
      <p:sp>
        <p:nvSpPr>
          <p:cNvPr id="4" name="cover-title">
            <a:extLst xmlns:a="http://schemas.openxmlformats.org/drawingml/2006/main">
              <a:ext uri="{FF2B5EF4-FFF2-40B4-BE49-F238E27FC236}">
                <a16:creationId xmlns:a16="http://schemas.microsoft.com/office/drawing/2014/main" id="{14653E3E-0AC9-494A-98EA-9ACACAA94767}"/>
              </a:ext>
            </a:extLst>
          </p:cNvPr>
          <p:cNvSpPr>
            <a:spLocks xmlns:a="http://schemas.openxmlformats.org/drawingml/2006/main" noGrp="1"/>
          </p:cNvSpPr>
          <p:nvPr/>
        </p:nvSpPr>
        <p:spPr>
          <a:xfrm xmlns:a="http://schemas.openxmlformats.org/drawingml/2006/main">
            <a:off x="457200" y="1009650"/>
            <a:ext cx="5286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11827"/>
                </a:solidFill>
              </a:defRPr>
            </a:pPr>
            <a:r>
              <a:rPr sz="3900" b="1">
                <a:solidFill>
                  <a:srgbClr val="111827"/>
                </a:solidFill>
              </a:rPr>
              <a:t>Does heavy QQQ participation</a:t>
            </a:r>
          </a:p>
          <a:p xmlns:a="http://schemas.openxmlformats.org/drawingml/2006/main">
            <a:pPr algn="l">
              <a:buNone/>
              <a:defRPr sz="3900" b="1">
                <a:solidFill>
                  <a:srgbClr val="111827"/>
                </a:solidFill>
              </a:defRPr>
            </a:pPr>
            <a:r>
              <a:rPr sz="3900" b="1">
                <a:solidFill>
                  <a:srgbClr val="111827"/>
                </a:solidFill>
              </a:rPr>
              <a:t>confirm continuation?</a:t>
            </a:r>
          </a:p>
        </p:txBody>
      </p:sp>
      <p:sp>
        <p:nvSpPr>
          <p:cNvPr id="5" name="cover-subtitle">
            <a:extLst xmlns:a="http://schemas.openxmlformats.org/drawingml/2006/main">
              <a:ext uri="{FF2B5EF4-FFF2-40B4-BE49-F238E27FC236}">
                <a16:creationId xmlns:a16="http://schemas.microsoft.com/office/drawing/2014/main" id="{6BE5B062-40D5-406B-8B38-6A85DE05AF71}"/>
              </a:ext>
            </a:extLst>
          </p:cNvPr>
          <p:cNvSpPr>
            <a:spLocks xmlns:a="http://schemas.openxmlformats.org/drawingml/2006/main" noGrp="1"/>
          </p:cNvSpPr>
          <p:nvPr/>
        </p:nvSpPr>
        <p:spPr>
          <a:xfrm xmlns:a="http://schemas.openxmlformats.org/drawingml/2006/main">
            <a:off x="457200" y="314325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Condition recent return on a causal dollar-volume surprise—then require incremental, search-adjusted evidence.</a:t>
            </a:r>
          </a:p>
        </p:txBody>
      </p:sp>
      <p:sp>
        <p:nvSpPr>
          <p:cNvPr id="6" name="cover-status">
            <a:extLst xmlns:a="http://schemas.openxmlformats.org/drawingml/2006/main">
              <a:ext uri="{FF2B5EF4-FFF2-40B4-BE49-F238E27FC236}">
                <a16:creationId xmlns:a16="http://schemas.microsoft.com/office/drawing/2014/main" id="{1D8FB125-2A7F-4508-B65E-85B47214E273}"/>
              </a:ext>
            </a:extLst>
          </p:cNvPr>
          <p:cNvSpPr>
            <a:spLocks xmlns:a="http://schemas.openxmlformats.org/drawingml/2006/main" noGrp="1"/>
          </p:cNvSpPr>
          <p:nvPr/>
        </p:nvSpPr>
        <p:spPr>
          <a:xfrm xmlns:a="http://schemas.openxmlformats.org/drawingml/2006/main">
            <a:off x="457200" y="54292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46A47"/>
                </a:solidFill>
              </a:defRPr>
            </a:pPr>
            <a:r>
              <a:rPr sz="1350" b="1">
                <a:solidFill>
                  <a:srgbClr val="E46A47"/>
                </a:solidFill>
              </a:rPr>
              <a:t>HYP-MOM-09.1 · TRAIN ONLY · DEVELOPMENT SEALED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cf026ac7e1641c6"/>
          <a:stretch xmlns:a="http://schemas.openxmlformats.org/drawingml/2006/main"/>
        </p:blipFill>
        <p:spPr>
          <a:xfrm xmlns:a="http://schemas.openxmlformats.org/drawingml/2006/main" flipH="0" flipV="0">
            <a:off x="6267450" y="1968501"/>
            <a:ext cx="5543550" cy="2463800"/>
          </a:xfrm>
          <a:prstGeom xmlns:a="http://schemas.openxmlformats.org/drawingml/2006/main" prst="rect">
            <a:avLst/>
          </a:prstGeom>
        </p:spPr>
      </p:pic>
    </p:spTree>
    <p:extLst>
      <p:ext uri="{BB962C8B-B14F-4D97-AF65-F5344CB8AC3E}">
        <p14:creationId xmlns:p14="http://schemas.microsoft.com/office/powerpoint/2010/main" val="10827983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2">
            <a:extLst xmlns:a="http://schemas.openxmlformats.org/drawingml/2006/main">
              <a:ext uri="{FF2B5EF4-FFF2-40B4-BE49-F238E27FC236}">
                <a16:creationId xmlns:a16="http://schemas.microsoft.com/office/drawing/2014/main" id="{CC57C1DA-22D2-4393-A478-876E6061E9F4}"/>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interaction was defined before outcomes were read</a:t>
            </a:r>
          </a:p>
        </p:txBody>
      </p:sp>
      <p:sp>
        <p:nvSpPr>
          <p:cNvPr id="2" name="section-2">
            <a:extLst xmlns:a="http://schemas.openxmlformats.org/drawingml/2006/main">
              <a:ext uri="{FF2B5EF4-FFF2-40B4-BE49-F238E27FC236}">
                <a16:creationId xmlns:a16="http://schemas.microsoft.com/office/drawing/2014/main" id="{B10797AA-5F17-46BF-A209-C0012CAA4180}"/>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HYP-MOM-09.1 · DESIGN</a:t>
            </a:r>
          </a:p>
        </p:txBody>
      </p:sp>
      <p:sp>
        <p:nvSpPr>
          <p:cNvPr id="3" name="page-2">
            <a:extLst xmlns:a="http://schemas.openxmlformats.org/drawingml/2006/main">
              <a:ext uri="{FF2B5EF4-FFF2-40B4-BE49-F238E27FC236}">
                <a16:creationId xmlns:a16="http://schemas.microsoft.com/office/drawing/2014/main" id="{027AA98B-7DC4-44D5-91EF-0CBB3B009F64}"/>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31</a:t>
            </a:r>
          </a:p>
        </p:txBody>
      </p:sp>
      <p:sp>
        <p:nvSpPr>
          <p:cNvPr id="4" name="lead-2">
            <a:extLst xmlns:a="http://schemas.openxmlformats.org/drawingml/2006/main">
              <a:ext uri="{FF2B5EF4-FFF2-40B4-BE49-F238E27FC236}">
                <a16:creationId xmlns:a16="http://schemas.microsoft.com/office/drawing/2014/main" id="{8AEB2C29-A634-46E4-A808-F88FB54BA88F}"/>
              </a:ext>
            </a:extLst>
          </p:cNvPr>
          <p:cNvSpPr>
            <a:spLocks xmlns:a="http://schemas.openxmlformats.org/drawingml/2006/main" noGrp="1"/>
          </p:cNvSpPr>
          <p:nvPr/>
        </p:nvSpPr>
        <p:spPr>
          <a:xfrm xmlns:a="http://schemas.openxmlformats.org/drawingml/2006/main">
            <a:off x="457200" y="1571625"/>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Compare adjusted dollar volume with the median of the strictly prior 60 sessions. Ask whether participation changes the forward content of signed QQQ return after return, volume surprise, and move size are controlled.</a:t>
            </a:r>
          </a:p>
        </p:txBody>
      </p:sp>
      <p:sp>
        <p:nvSpPr>
          <p:cNvPr id="5" name="formula-panel-2">
            <a:extLst xmlns:a="http://schemas.openxmlformats.org/drawingml/2006/main">
              <a:ext uri="{FF2B5EF4-FFF2-40B4-BE49-F238E27FC236}">
                <a16:creationId xmlns:a16="http://schemas.microsoft.com/office/drawing/2014/main" id="{DFB5541A-647E-4DE5-9984-503C77AD83F4}"/>
              </a:ext>
            </a:extLst>
          </p:cNvPr>
          <p:cNvSpPr>
            <a:spLocks xmlns:a="http://schemas.openxmlformats.org/drawingml/2006/main" noGrp="1"/>
          </p:cNvSpPr>
          <p:nvPr/>
        </p:nvSpPr>
        <p:spPr>
          <a:xfrm xmlns:a="http://schemas.openxmlformats.org/drawingml/2006/main">
            <a:off x="6286500" y="1524000"/>
            <a:ext cx="5381625" cy="3000375"/>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6" name="formula-2-0">
            <a:extLst xmlns:a="http://schemas.openxmlformats.org/drawingml/2006/main">
              <a:ext uri="{FF2B5EF4-FFF2-40B4-BE49-F238E27FC236}">
                <a16:creationId xmlns:a16="http://schemas.microsoft.com/office/drawing/2014/main" id="{63BF4897-DE0F-49BB-B76D-202A2819D600}"/>
              </a:ext>
            </a:extLst>
          </p:cNvPr>
          <p:cNvSpPr>
            <a:spLocks xmlns:a="http://schemas.openxmlformats.org/drawingml/2006/main" noGrp="1"/>
          </p:cNvSpPr>
          <p:nvPr/>
        </p:nvSpPr>
        <p:spPr>
          <a:xfrm xmlns:a="http://schemas.openxmlformats.org/drawingml/2006/main">
            <a:off x="6667500" y="18288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67D8D"/>
                </a:solidFill>
              </a:defRPr>
            </a:pPr>
            <a:r>
              <a:rPr sz="1950" b="1">
                <a:solidFill>
                  <a:srgbClr val="167D8D"/>
                </a:solidFill>
              </a:rPr>
              <a:t>Pₜ = clip₊[log(DVₜ / median(DVₜ₋₆₀:ₜ₋₁))], cap log(5)</a:t>
            </a:r>
          </a:p>
        </p:txBody>
      </p:sp>
      <p:sp>
        <p:nvSpPr>
          <p:cNvPr id="7" name="formula-2-1">
            <a:extLst xmlns:a="http://schemas.openxmlformats.org/drawingml/2006/main">
              <a:ext uri="{FF2B5EF4-FFF2-40B4-BE49-F238E27FC236}">
                <a16:creationId xmlns:a16="http://schemas.microsoft.com/office/drawing/2014/main" id="{C4E3869B-07C3-4612-873A-415453670FBF}"/>
              </a:ext>
            </a:extLst>
          </p:cNvPr>
          <p:cNvSpPr>
            <a:spLocks xmlns:a="http://schemas.openxmlformats.org/drawingml/2006/main" noGrp="1"/>
          </p:cNvSpPr>
          <p:nvPr/>
        </p:nvSpPr>
        <p:spPr>
          <a:xfrm xmlns:a="http://schemas.openxmlformats.org/drawingml/2006/main">
            <a:off x="6667500" y="260985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111827"/>
                </a:solidFill>
              </a:defRPr>
            </a:pPr>
            <a:r>
              <a:rPr sz="1950" b="0">
                <a:solidFill>
                  <a:srgbClr val="111827"/>
                </a:solidFill>
              </a:rPr>
              <a:t>Iᴸₜ = Rᴸₜ × mean(Pₜ₋ᴸ₊₁:ₜ)</a:t>
            </a:r>
          </a:p>
        </p:txBody>
      </p:sp>
      <p:sp>
        <p:nvSpPr>
          <p:cNvPr id="8" name="formula-2-2">
            <a:extLst xmlns:a="http://schemas.openxmlformats.org/drawingml/2006/main">
              <a:ext uri="{FF2B5EF4-FFF2-40B4-BE49-F238E27FC236}">
                <a16:creationId xmlns:a16="http://schemas.microsoft.com/office/drawing/2014/main" id="{C85D3FBA-447E-47ED-A5DC-0D60E81D8774}"/>
              </a:ext>
            </a:extLst>
          </p:cNvPr>
          <p:cNvSpPr>
            <a:spLocks xmlns:a="http://schemas.openxmlformats.org/drawingml/2006/main" noGrp="1"/>
          </p:cNvSpPr>
          <p:nvPr/>
        </p:nvSpPr>
        <p:spPr>
          <a:xfrm xmlns:a="http://schemas.openxmlformats.org/drawingml/2006/main">
            <a:off x="6667500" y="33909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111827"/>
                </a:solidFill>
              </a:defRPr>
            </a:pPr>
            <a:r>
              <a:rPr sz="1950" b="0">
                <a:solidFill>
                  <a:srgbClr val="111827"/>
                </a:solidFill>
              </a:rPr>
              <a:t>Yᴴₜ = log(openₜ₊₁₊ᴴ / openₜ₊₁)</a:t>
            </a:r>
          </a:p>
        </p:txBody>
      </p:sp>
      <p:sp>
        <p:nvSpPr>
          <p:cNvPr id="9" name="interpret-2">
            <a:extLst xmlns:a="http://schemas.openxmlformats.org/drawingml/2006/main">
              <a:ext uri="{FF2B5EF4-FFF2-40B4-BE49-F238E27FC236}">
                <a16:creationId xmlns:a16="http://schemas.microsoft.com/office/drawing/2014/main" id="{E546D95B-DAC4-429E-A8CB-A7454C1A252A}"/>
              </a:ext>
            </a:extLst>
          </p:cNvPr>
          <p:cNvSpPr>
            <a:spLocks xmlns:a="http://schemas.openxmlformats.org/drawingml/2006/main" noGrp="1"/>
          </p:cNvSpPr>
          <p:nvPr/>
        </p:nvSpPr>
        <p:spPr>
          <a:xfrm xmlns:a="http://schemas.openxmlformats.org/drawingml/2006/main">
            <a:off x="457200" y="4857750"/>
            <a:ext cx="11191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827"/>
                </a:solidFill>
              </a:defRPr>
            </a:pPr>
            <a:r>
              <a:rPr sz="1650" b="1">
                <a:solidFill>
                  <a:srgbClr val="111827"/>
                </a:solidFill>
              </a:rPr>
              <a:t>TRAIN 2017–2020 · L,H ∈ {1,5,20} · partial interaction correlation · 867 joint shifts · 2021+ sealed</a:t>
            </a:r>
          </a:p>
        </p:txBody>
      </p:sp>
    </p:spTree>
    <p:extLst>
      <p:ext uri="{BB962C8B-B14F-4D97-AF65-F5344CB8AC3E}">
        <p14:creationId xmlns:p14="http://schemas.microsoft.com/office/powerpoint/2010/main" val="39825976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interaction peak was isolated, not stable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TRAIN</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32</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Best L1/H20 partial rho +0.1205; L20/H20 was −0.1420 across the same 986 anchors.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c5081cb19f9491e"/>
          <a:stretch xmlns:a="http://schemas.openxmlformats.org/drawingml/2006/main"/>
        </p:blipFill>
        <p:spPr>
          <a:xfrm xmlns:a="http://schemas.openxmlformats.org/drawingml/2006/main" flipH="0" flipV="0">
            <a:off x="2131695" y="1627823"/>
            <a:ext cx="7852410" cy="3926205"/>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best interaction still missed the search-adjusted hurdle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FALSIFICATION</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33</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Observed maximum +0.1205 versus shift-null p90 +0.1372; empirical upper-tail probability was 0.167.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18c9dcdc4a44988"/>
          <a:stretch xmlns:a="http://schemas.openxmlformats.org/drawingml/2006/main"/>
        </p:blipFill>
        <p:spPr>
          <a:xfrm xmlns:a="http://schemas.openxmlformats.org/drawingml/2006/main" flipH="0" flipV="0">
            <a:off x="2422525" y="1409700"/>
            <a:ext cx="727075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0">
            <a:extLst xmlns:a="http://schemas.openxmlformats.org/drawingml/2006/main">
              <a:ext uri="{FF2B5EF4-FFF2-40B4-BE49-F238E27FC236}">
                <a16:creationId xmlns:a16="http://schemas.microsoft.com/office/drawing/2014/main" id="{328B673C-2321-490C-8E31-7D95273CC675}"/>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Volume-confirmed continuation stopped before DEVELOPMENT</a:t>
            </a:r>
          </a:p>
        </p:txBody>
      </p:sp>
      <p:sp>
        <p:nvSpPr>
          <p:cNvPr id="2" name="section-10">
            <a:extLst xmlns:a="http://schemas.openxmlformats.org/drawingml/2006/main">
              <a:ext uri="{FF2B5EF4-FFF2-40B4-BE49-F238E27FC236}">
                <a16:creationId xmlns:a16="http://schemas.microsoft.com/office/drawing/2014/main" id="{03C0456A-3709-406E-8FF6-EA187948C7CD}"/>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DECISION</a:t>
            </a:r>
          </a:p>
        </p:txBody>
      </p:sp>
      <p:sp>
        <p:nvSpPr>
          <p:cNvPr id="3" name="page-10">
            <a:extLst xmlns:a="http://schemas.openxmlformats.org/drawingml/2006/main">
              <a:ext uri="{FF2B5EF4-FFF2-40B4-BE49-F238E27FC236}">
                <a16:creationId xmlns:a16="http://schemas.microsoft.com/office/drawing/2014/main" id="{E4ABC01A-A7D2-42AF-9EAA-2B202CE63E57}"/>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34</a:t>
            </a:r>
          </a:p>
        </p:txBody>
      </p:sp>
      <p:sp>
        <p:nvSpPr>
          <p:cNvPr id="4" name="thesis-10">
            <a:extLst xmlns:a="http://schemas.openxmlformats.org/drawingml/2006/main">
              <a:ext uri="{FF2B5EF4-FFF2-40B4-BE49-F238E27FC236}">
                <a16:creationId xmlns:a16="http://schemas.microsoft.com/office/drawing/2014/main" id="{C1CD9618-B6B8-4D0A-AD5F-E334D12C2395}"/>
              </a:ext>
            </a:extLst>
          </p:cNvPr>
          <p:cNvSpPr>
            <a:spLocks xmlns:a="http://schemas.openxmlformats.org/drawingml/2006/main" noGrp="1"/>
          </p:cNvSpPr>
          <p:nvPr/>
        </p:nvSpPr>
        <p:spPr>
          <a:xfrm xmlns:a="http://schemas.openxmlformats.org/drawingml/2006/main">
            <a:off x="457200" y="1524000"/>
            <a:ext cx="11191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11827"/>
                </a:solidFill>
              </a:defRPr>
            </a:pPr>
            <a:r>
              <a:rPr sz="2175" b="1">
                <a:solidFill>
                  <a:srgbClr val="111827"/>
                </a:solidFill>
              </a:rPr>
              <a:t>Participation changed the model, but not enough to earn later evidence.</a:t>
            </a:r>
          </a:p>
        </p:txBody>
      </p:sp>
      <p:sp>
        <p:nvSpPr>
          <p:cNvPr id="5" name="bullet-mark-10-0">
            <a:extLst xmlns:a="http://schemas.openxmlformats.org/drawingml/2006/main">
              <a:ext uri="{FF2B5EF4-FFF2-40B4-BE49-F238E27FC236}">
                <a16:creationId xmlns:a16="http://schemas.microsoft.com/office/drawing/2014/main" id="{D6A9FE8D-75B2-416A-ADB7-1A96C567A65C}"/>
              </a:ext>
            </a:extLst>
          </p:cNvPr>
          <p:cNvSpPr>
            <a:spLocks xmlns:a="http://schemas.openxmlformats.org/drawingml/2006/main" noGrp="1"/>
          </p:cNvSpPr>
          <p:nvPr/>
        </p:nvSpPr>
        <p:spPr>
          <a:xfrm xmlns:a="http://schemas.openxmlformats.org/drawingml/2006/main">
            <a:off x="523875" y="2990850"/>
            <a:ext cx="114300" cy="114300"/>
          </a:xfrm>
          <a:prstGeom xmlns:a="http://schemas.openxmlformats.org/drawingml/2006/main" prst="rect">
            <a:avLst/>
          </a:prstGeom>
          <a:solidFill xmlns:a="http://schemas.openxmlformats.org/drawingml/2006/main">
            <a:srgbClr val="167D8D"/>
          </a:solidFill>
          <a:ln xmlns:a="http://schemas.openxmlformats.org/drawingml/2006/main" w="9525">
            <a:solidFill>
              <a:srgbClr val="167D8D"/>
            </a:solidFill>
            <a:prstDash val="solid"/>
          </a:ln>
        </p:spPr>
      </p:sp>
      <p:sp>
        <p:nvSpPr>
          <p:cNvPr id="6" name="bullet-10-0">
            <a:extLst xmlns:a="http://schemas.openxmlformats.org/drawingml/2006/main">
              <a:ext uri="{FF2B5EF4-FFF2-40B4-BE49-F238E27FC236}">
                <a16:creationId xmlns:a16="http://schemas.microsoft.com/office/drawing/2014/main" id="{E4A179DE-2CB6-4686-B532-3B56AFA11E8B}"/>
              </a:ext>
            </a:extLst>
          </p:cNvPr>
          <p:cNvSpPr>
            <a:spLocks xmlns:a="http://schemas.openxmlformats.org/drawingml/2006/main" noGrp="1"/>
          </p:cNvSpPr>
          <p:nvPr/>
        </p:nvSpPr>
        <p:spPr>
          <a:xfrm xmlns:a="http://schemas.openxmlformats.org/drawingml/2006/main">
            <a:off x="819150" y="2914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QQQ supplied 1,259 adjusted-daily sessions; all 8 source gates passed and 986 TRAIN anchors were common.</a:t>
            </a:r>
          </a:p>
        </p:txBody>
      </p:sp>
      <p:sp>
        <p:nvSpPr>
          <p:cNvPr id="7" name="bullet-mark-10-1">
            <a:extLst xmlns:a="http://schemas.openxmlformats.org/drawingml/2006/main">
              <a:ext uri="{FF2B5EF4-FFF2-40B4-BE49-F238E27FC236}">
                <a16:creationId xmlns:a16="http://schemas.microsoft.com/office/drawing/2014/main" id="{4E2CA250-A245-43AA-BCF2-1D4F24851D28}"/>
              </a:ext>
            </a:extLst>
          </p:cNvPr>
          <p:cNvSpPr>
            <a:spLocks xmlns:a="http://schemas.openxmlformats.org/drawingml/2006/main" noGrp="1"/>
          </p:cNvSpPr>
          <p:nvPr/>
        </p:nvSpPr>
        <p:spPr>
          <a:xfrm xmlns:a="http://schemas.openxmlformats.org/drawingml/2006/main">
            <a:off x="523875" y="3752850"/>
            <a:ext cx="114300" cy="114300"/>
          </a:xfrm>
          <a:prstGeom xmlns:a="http://schemas.openxmlformats.org/drawingml/2006/main" prst="rect">
            <a:avLst/>
          </a:prstGeom>
          <a:solidFill xmlns:a="http://schemas.openxmlformats.org/drawingml/2006/main">
            <a:srgbClr val="E46A47"/>
          </a:solidFill>
          <a:ln xmlns:a="http://schemas.openxmlformats.org/drawingml/2006/main" w="9525">
            <a:solidFill>
              <a:srgbClr val="E46A47"/>
            </a:solidFill>
            <a:prstDash val="solid"/>
          </a:ln>
        </p:spPr>
      </p:sp>
      <p:sp>
        <p:nvSpPr>
          <p:cNvPr id="8" name="bullet-10-1">
            <a:extLst xmlns:a="http://schemas.openxmlformats.org/drawingml/2006/main">
              <a:ext uri="{FF2B5EF4-FFF2-40B4-BE49-F238E27FC236}">
                <a16:creationId xmlns:a16="http://schemas.microsoft.com/office/drawing/2014/main" id="{03DE52E0-B7C7-4ECA-8DC5-AF61B9F5831E}"/>
              </a:ext>
            </a:extLst>
          </p:cNvPr>
          <p:cNvSpPr>
            <a:spLocks xmlns:a="http://schemas.openxmlformats.org/drawingml/2006/main" noGrp="1"/>
          </p:cNvSpPr>
          <p:nvPr/>
        </p:nvSpPr>
        <p:spPr>
          <a:xfrm xmlns:a="http://schemas.openxmlformats.org/drawingml/2006/main">
            <a:off x="819150" y="3676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Best L1/H20 partial rho +0.1205 missed p90 +0.1372, so no cell earned nomination.</a:t>
            </a:r>
          </a:p>
        </p:txBody>
      </p:sp>
      <p:sp>
        <p:nvSpPr>
          <p:cNvPr id="9" name="bullet-mark-10-2">
            <a:extLst xmlns:a="http://schemas.openxmlformats.org/drawingml/2006/main">
              <a:ext uri="{FF2B5EF4-FFF2-40B4-BE49-F238E27FC236}">
                <a16:creationId xmlns:a16="http://schemas.microsoft.com/office/drawing/2014/main" id="{7037D4C5-A588-4871-AED3-4D739A7E2CB3}"/>
              </a:ext>
            </a:extLst>
          </p:cNvPr>
          <p:cNvSpPr>
            <a:spLocks xmlns:a="http://schemas.openxmlformats.org/drawingml/2006/main" noGrp="1"/>
          </p:cNvSpPr>
          <p:nvPr/>
        </p:nvSpPr>
        <p:spPr>
          <a:xfrm xmlns:a="http://schemas.openxmlformats.org/drawingml/2006/main">
            <a:off x="523875" y="4514850"/>
            <a:ext cx="114300" cy="114300"/>
          </a:xfrm>
          <a:prstGeom xmlns:a="http://schemas.openxmlformats.org/drawingml/2006/main" prst="rect">
            <a:avLst/>
          </a:prstGeom>
          <a:solidFill xmlns:a="http://schemas.openxmlformats.org/drawingml/2006/main">
            <a:srgbClr val="D3A73A"/>
          </a:solidFill>
          <a:ln xmlns:a="http://schemas.openxmlformats.org/drawingml/2006/main" w="9525">
            <a:solidFill>
              <a:srgbClr val="D3A73A"/>
            </a:solidFill>
            <a:prstDash val="solid"/>
          </a:ln>
        </p:spPr>
      </p:sp>
      <p:sp>
        <p:nvSpPr>
          <p:cNvPr id="10" name="bullet-10-2">
            <a:extLst xmlns:a="http://schemas.openxmlformats.org/drawingml/2006/main">
              <a:ext uri="{FF2B5EF4-FFF2-40B4-BE49-F238E27FC236}">
                <a16:creationId xmlns:a16="http://schemas.microsoft.com/office/drawing/2014/main" id="{55809576-D5E7-42E1-9311-CBA192247633}"/>
              </a:ext>
            </a:extLst>
          </p:cNvPr>
          <p:cNvSpPr>
            <a:spLocks xmlns:a="http://schemas.openxmlformats.org/drawingml/2006/main" noGrp="1"/>
          </p:cNvSpPr>
          <p:nvPr/>
        </p:nvSpPr>
        <p:spPr>
          <a:xfrm xmlns:a="http://schemas.openxmlformats.org/drawingml/2006/main">
            <a:off x="819150" y="4438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2021–2023 DEVELOPMENT and 2024–2025 confirmation remain unread; QQQ breadth still needs point-in-time membership.</a:t>
            </a:r>
          </a:p>
        </p:txBody>
      </p:sp>
      <p:sp>
        <p:nvSpPr>
          <p:cNvPr id="11" name="stop-10">
            <a:extLst xmlns:a="http://schemas.openxmlformats.org/drawingml/2006/main">
              <a:ext uri="{FF2B5EF4-FFF2-40B4-BE49-F238E27FC236}">
                <a16:creationId xmlns:a16="http://schemas.microsoft.com/office/drawing/2014/main" id="{653A3B9E-8A5D-416C-B2EA-41EB99E61D73}"/>
              </a:ext>
            </a:extLst>
          </p:cNvPr>
          <p:cNvSpPr>
            <a:spLocks xmlns:a="http://schemas.openxmlformats.org/drawingml/2006/main" noGrp="1"/>
          </p:cNvSpPr>
          <p:nvPr/>
        </p:nvSpPr>
        <p:spPr>
          <a:xfrm xmlns:a="http://schemas.openxmlformats.org/drawingml/2006/main">
            <a:off x="457200" y="5657850"/>
            <a:ext cx="11191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46A47"/>
                </a:solidFill>
              </a:defRPr>
            </a:pPr>
            <a:r>
              <a:rPr sz="1500" b="1">
                <a:solidFill>
                  <a:srgbClr val="E46A47"/>
                </a:solidFill>
              </a:rPr>
              <a:t>STOP: do not swap volume definitions, threshold big moves, condition on positive days, change assets, or mine nearby windows.</a:t>
            </a:r>
          </a:p>
        </p:txBody>
      </p:sp>
    </p:spTree>
    <p:extLst>
      <p:ext uri="{BB962C8B-B14F-4D97-AF65-F5344CB8AC3E}">
        <p14:creationId xmlns:p14="http://schemas.microsoft.com/office/powerpoint/2010/main" val="125035851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ro-backing">
            <a:extLst xmlns:a="http://schemas.openxmlformats.org/drawingml/2006/main">
              <a:ext uri="{FF2B5EF4-FFF2-40B4-BE49-F238E27FC236}">
                <a16:creationId xmlns:a16="http://schemas.microsoft.com/office/drawing/2014/main" id="{DBF2003E-F000-4B81-8BC8-7F1E69E9FEF2}"/>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3" name="cover-eyebrow">
            <a:extLst xmlns:a="http://schemas.openxmlformats.org/drawingml/2006/main">
              <a:ext uri="{FF2B5EF4-FFF2-40B4-BE49-F238E27FC236}">
                <a16:creationId xmlns:a16="http://schemas.microsoft.com/office/drawing/2014/main" id="{5255774B-7429-47C5-A3C4-7E685BB305DD}"/>
              </a:ext>
            </a:extLst>
          </p:cNvPr>
          <p:cNvSpPr>
            <a:spLocks xmlns:a="http://schemas.openxmlformats.org/drawingml/2006/main" noGrp="1"/>
          </p:cNvSpPr>
          <p:nvPr/>
        </p:nvSpPr>
        <p:spPr>
          <a:xfrm xmlns:a="http://schemas.openxmlformats.org/drawingml/2006/main">
            <a:off x="457200" y="4000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PHASE 8 · CROSS-SECTIONAL ETF LEADERSHIP</a:t>
            </a:r>
          </a:p>
        </p:txBody>
      </p:sp>
      <p:sp>
        <p:nvSpPr>
          <p:cNvPr id="4" name="cover-title">
            <a:extLst xmlns:a="http://schemas.openxmlformats.org/drawingml/2006/main">
              <a:ext uri="{FF2B5EF4-FFF2-40B4-BE49-F238E27FC236}">
                <a16:creationId xmlns:a16="http://schemas.microsoft.com/office/drawing/2014/main" id="{14653E3E-0AC9-494A-98EA-9ACACAA94767}"/>
              </a:ext>
            </a:extLst>
          </p:cNvPr>
          <p:cNvSpPr>
            <a:spLocks xmlns:a="http://schemas.openxmlformats.org/drawingml/2006/main" noGrp="1"/>
          </p:cNvSpPr>
          <p:nvPr/>
        </p:nvSpPr>
        <p:spPr>
          <a:xfrm xmlns:a="http://schemas.openxmlformats.org/drawingml/2006/main">
            <a:off x="457200" y="1009650"/>
            <a:ext cx="5286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11827"/>
                </a:solidFill>
              </a:defRPr>
            </a:pPr>
            <a:r>
              <a:rPr sz="3900" b="1">
                <a:solidFill>
                  <a:srgbClr val="111827"/>
                </a:solidFill>
              </a:rPr>
              <a:t>Do relative ETF leaders</a:t>
            </a:r>
          </a:p>
          <a:p xmlns:a="http://schemas.openxmlformats.org/drawingml/2006/main">
            <a:pPr algn="l">
              <a:buNone/>
              <a:defRPr sz="3900" b="1">
                <a:solidFill>
                  <a:srgbClr val="111827"/>
                </a:solidFill>
              </a:defRPr>
            </a:pPr>
            <a:r>
              <a:rPr sz="3900" b="1">
                <a:solidFill>
                  <a:srgbClr val="111827"/>
                </a:solidFill>
              </a:rPr>
              <a:t>keep leading?</a:t>
            </a:r>
          </a:p>
        </p:txBody>
      </p:sp>
      <p:sp>
        <p:nvSpPr>
          <p:cNvPr id="5" name="cover-subtitle">
            <a:extLst xmlns:a="http://schemas.openxmlformats.org/drawingml/2006/main">
              <a:ext uri="{FF2B5EF4-FFF2-40B4-BE49-F238E27FC236}">
                <a16:creationId xmlns:a16="http://schemas.microsoft.com/office/drawing/2014/main" id="{6BE5B062-40D5-406B-8B38-6A85DE05AF71}"/>
              </a:ext>
            </a:extLst>
          </p:cNvPr>
          <p:cNvSpPr>
            <a:spLocks xmlns:a="http://schemas.openxmlformats.org/drawingml/2006/main" noGrp="1"/>
          </p:cNvSpPr>
          <p:nvPr/>
        </p:nvSpPr>
        <p:spPr>
          <a:xfrm xmlns:a="http://schemas.openxmlformats.org/drawingml/2006/main">
            <a:off x="457200" y="314325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Rank a frozen 12-fund growth/technology basket after removing its same-date common return—and expose overlap explicitly.</a:t>
            </a:r>
          </a:p>
        </p:txBody>
      </p:sp>
      <p:sp>
        <p:nvSpPr>
          <p:cNvPr id="6" name="cover-status">
            <a:extLst xmlns:a="http://schemas.openxmlformats.org/drawingml/2006/main">
              <a:ext uri="{FF2B5EF4-FFF2-40B4-BE49-F238E27FC236}">
                <a16:creationId xmlns:a16="http://schemas.microsoft.com/office/drawing/2014/main" id="{1D8FB125-2A7F-4508-B65E-85B47214E273}"/>
              </a:ext>
            </a:extLst>
          </p:cNvPr>
          <p:cNvSpPr>
            <a:spLocks xmlns:a="http://schemas.openxmlformats.org/drawingml/2006/main" noGrp="1"/>
          </p:cNvSpPr>
          <p:nvPr/>
        </p:nvSpPr>
        <p:spPr>
          <a:xfrm xmlns:a="http://schemas.openxmlformats.org/drawingml/2006/main">
            <a:off x="457200" y="54292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46A47"/>
                </a:solidFill>
              </a:defRPr>
            </a:pPr>
            <a:r>
              <a:rPr sz="1350" b="1">
                <a:solidFill>
                  <a:srgbClr val="E46A47"/>
                </a:solidFill>
              </a:rPr>
              <a:t>HYP-MOM-10.1 · TRAIN ONLY · DEVELOPMENT SEALED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9a1e4f967224af4"/>
          <a:stretch xmlns:a="http://schemas.openxmlformats.org/drawingml/2006/main"/>
        </p:blipFill>
        <p:spPr>
          <a:xfrm xmlns:a="http://schemas.openxmlformats.org/drawingml/2006/main" flipH="0" flipV="0">
            <a:off x="6267450" y="1968501"/>
            <a:ext cx="5543550" cy="2463800"/>
          </a:xfrm>
          <a:prstGeom xmlns:a="http://schemas.openxmlformats.org/drawingml/2006/main" prst="rect">
            <a:avLst/>
          </a:prstGeom>
        </p:spPr>
      </p:pic>
    </p:spTree>
    <p:extLst>
      <p:ext uri="{BB962C8B-B14F-4D97-AF65-F5344CB8AC3E}">
        <p14:creationId xmlns:p14="http://schemas.microsoft.com/office/powerpoint/2010/main" val="10827983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2">
            <a:extLst xmlns:a="http://schemas.openxmlformats.org/drawingml/2006/main">
              <a:ext uri="{FF2B5EF4-FFF2-40B4-BE49-F238E27FC236}">
                <a16:creationId xmlns:a16="http://schemas.microsoft.com/office/drawing/2014/main" id="{CC57C1DA-22D2-4393-A478-876E6061E9F4}"/>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rank question was frozen before outcomes were read</a:t>
            </a:r>
          </a:p>
        </p:txBody>
      </p:sp>
      <p:sp>
        <p:nvSpPr>
          <p:cNvPr id="2" name="section-2">
            <a:extLst xmlns:a="http://schemas.openxmlformats.org/drawingml/2006/main">
              <a:ext uri="{FF2B5EF4-FFF2-40B4-BE49-F238E27FC236}">
                <a16:creationId xmlns:a16="http://schemas.microsoft.com/office/drawing/2014/main" id="{B10797AA-5F17-46BF-A209-C0012CAA4180}"/>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HYP-MOM-10.1 · DESIGN</a:t>
            </a:r>
          </a:p>
        </p:txBody>
      </p:sp>
      <p:sp>
        <p:nvSpPr>
          <p:cNvPr id="3" name="page-2">
            <a:extLst xmlns:a="http://schemas.openxmlformats.org/drawingml/2006/main">
              <a:ext uri="{FF2B5EF4-FFF2-40B4-BE49-F238E27FC236}">
                <a16:creationId xmlns:a16="http://schemas.microsoft.com/office/drawing/2014/main" id="{027AA98B-7DC4-44D5-91EF-0CBB3B009F64}"/>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36</a:t>
            </a:r>
          </a:p>
        </p:txBody>
      </p:sp>
      <p:sp>
        <p:nvSpPr>
          <p:cNvPr id="4" name="lead-2">
            <a:extLst xmlns:a="http://schemas.openxmlformats.org/drawingml/2006/main">
              <a:ext uri="{FF2B5EF4-FFF2-40B4-BE49-F238E27FC236}">
                <a16:creationId xmlns:a16="http://schemas.microsoft.com/office/drawing/2014/main" id="{8AEB2C29-A634-46E4-A808-F88FB54BA88F}"/>
              </a:ext>
            </a:extLst>
          </p:cNvPr>
          <p:cNvSpPr>
            <a:spLocks xmlns:a="http://schemas.openxmlformats.org/drawingml/2006/main" noGrp="1"/>
          </p:cNvSpPr>
          <p:nvPr/>
        </p:nvSpPr>
        <p:spPr>
          <a:xfrm xmlns:a="http://schemas.openxmlformats.org/drawingml/2006/main">
            <a:off x="457200" y="1571625"/>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Rank each ETF by trailing return after subtracting the basket's same-date common return. Ask whether that ordering predicts next-open-to-later-open relative return without treating overlapping funds as independent evidence.</a:t>
            </a:r>
          </a:p>
        </p:txBody>
      </p:sp>
      <p:sp>
        <p:nvSpPr>
          <p:cNvPr id="5" name="formula-panel-2">
            <a:extLst xmlns:a="http://schemas.openxmlformats.org/drawingml/2006/main">
              <a:ext uri="{FF2B5EF4-FFF2-40B4-BE49-F238E27FC236}">
                <a16:creationId xmlns:a16="http://schemas.microsoft.com/office/drawing/2014/main" id="{DFB5541A-647E-4DE5-9984-503C77AD83F4}"/>
              </a:ext>
            </a:extLst>
          </p:cNvPr>
          <p:cNvSpPr>
            <a:spLocks xmlns:a="http://schemas.openxmlformats.org/drawingml/2006/main" noGrp="1"/>
          </p:cNvSpPr>
          <p:nvPr/>
        </p:nvSpPr>
        <p:spPr>
          <a:xfrm xmlns:a="http://schemas.openxmlformats.org/drawingml/2006/main">
            <a:off x="6286500" y="1524000"/>
            <a:ext cx="5381625" cy="3000375"/>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6" name="formula-2-0">
            <a:extLst xmlns:a="http://schemas.openxmlformats.org/drawingml/2006/main">
              <a:ext uri="{FF2B5EF4-FFF2-40B4-BE49-F238E27FC236}">
                <a16:creationId xmlns:a16="http://schemas.microsoft.com/office/drawing/2014/main" id="{63BF4897-DE0F-49BB-B76D-202A2819D600}"/>
              </a:ext>
            </a:extLst>
          </p:cNvPr>
          <p:cNvSpPr>
            <a:spLocks xmlns:a="http://schemas.openxmlformats.org/drawingml/2006/main" noGrp="1"/>
          </p:cNvSpPr>
          <p:nvPr/>
        </p:nvSpPr>
        <p:spPr>
          <a:xfrm xmlns:a="http://schemas.openxmlformats.org/drawingml/2006/main">
            <a:off x="6667500" y="18288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67D8D"/>
                </a:solidFill>
              </a:defRPr>
            </a:pPr>
            <a:r>
              <a:rPr sz="1950" b="1">
                <a:solidFill>
                  <a:srgbClr val="167D8D"/>
                </a:solidFill>
              </a:rPr>
              <a:t>Xⱼ,ₜ,ᴸ = Rⱼ,ₜ,ᴸ − meanⱼ(Rⱼ,ₜ,ᴸ)</a:t>
            </a:r>
          </a:p>
        </p:txBody>
      </p:sp>
      <p:sp>
        <p:nvSpPr>
          <p:cNvPr id="7" name="formula-2-1">
            <a:extLst xmlns:a="http://schemas.openxmlformats.org/drawingml/2006/main">
              <a:ext uri="{FF2B5EF4-FFF2-40B4-BE49-F238E27FC236}">
                <a16:creationId xmlns:a16="http://schemas.microsoft.com/office/drawing/2014/main" id="{C4E3869B-07C3-4612-873A-415453670FBF}"/>
              </a:ext>
            </a:extLst>
          </p:cNvPr>
          <p:cNvSpPr>
            <a:spLocks xmlns:a="http://schemas.openxmlformats.org/drawingml/2006/main" noGrp="1"/>
          </p:cNvSpPr>
          <p:nvPr/>
        </p:nvSpPr>
        <p:spPr>
          <a:xfrm xmlns:a="http://schemas.openxmlformats.org/drawingml/2006/main">
            <a:off x="6667500" y="260985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111827"/>
                </a:solidFill>
              </a:defRPr>
            </a:pPr>
            <a:r>
              <a:rPr sz="1950" b="0">
                <a:solidFill>
                  <a:srgbClr val="111827"/>
                </a:solidFill>
              </a:rPr>
              <a:t>Yⱼ,ₜ,ᴴ = Fⱼ,ₜ,ᴴ − meanⱼ(Fⱼ,ₜ,ᴴ)</a:t>
            </a:r>
          </a:p>
        </p:txBody>
      </p:sp>
      <p:sp>
        <p:nvSpPr>
          <p:cNvPr id="8" name="formula-2-2">
            <a:extLst xmlns:a="http://schemas.openxmlformats.org/drawingml/2006/main">
              <a:ext uri="{FF2B5EF4-FFF2-40B4-BE49-F238E27FC236}">
                <a16:creationId xmlns:a16="http://schemas.microsoft.com/office/drawing/2014/main" id="{C85D3FBA-447E-47ED-A5DC-0D60E81D8774}"/>
              </a:ext>
            </a:extLst>
          </p:cNvPr>
          <p:cNvSpPr>
            <a:spLocks xmlns:a="http://schemas.openxmlformats.org/drawingml/2006/main" noGrp="1"/>
          </p:cNvSpPr>
          <p:nvPr/>
        </p:nvSpPr>
        <p:spPr>
          <a:xfrm xmlns:a="http://schemas.openxmlformats.org/drawingml/2006/main">
            <a:off x="6667500" y="33909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111827"/>
                </a:solidFill>
              </a:defRPr>
            </a:pPr>
            <a:r>
              <a:rPr sz="1950" b="0">
                <a:solidFill>
                  <a:srgbClr val="111827"/>
                </a:solidFill>
              </a:rPr>
              <a:t>RANK IC → TOP 3 − BOTTOM 3 → LEAVE ONE SLEEVE OUT</a:t>
            </a:r>
          </a:p>
        </p:txBody>
      </p:sp>
      <p:sp>
        <p:nvSpPr>
          <p:cNvPr id="9" name="interpret-2">
            <a:extLst xmlns:a="http://schemas.openxmlformats.org/drawingml/2006/main">
              <a:ext uri="{FF2B5EF4-FFF2-40B4-BE49-F238E27FC236}">
                <a16:creationId xmlns:a16="http://schemas.microsoft.com/office/drawing/2014/main" id="{E546D95B-DAC4-429E-A8CB-A7454C1A252A}"/>
              </a:ext>
            </a:extLst>
          </p:cNvPr>
          <p:cNvSpPr>
            <a:spLocks xmlns:a="http://schemas.openxmlformats.org/drawingml/2006/main" noGrp="1"/>
          </p:cNvSpPr>
          <p:nvPr/>
        </p:nvSpPr>
        <p:spPr>
          <a:xfrm xmlns:a="http://schemas.openxmlformats.org/drawingml/2006/main">
            <a:off x="457200" y="4857750"/>
            <a:ext cx="11191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827"/>
                </a:solidFill>
              </a:defRPr>
            </a:pPr>
            <a:r>
              <a:rPr sz="1650" b="1">
                <a:solidFill>
                  <a:srgbClr val="111827"/>
                </a:solidFill>
              </a:rPr>
              <a:t>TRAIN 2017–2020 · L ∈ {5,20,60} · H ∈ {1,5,20} · 867 joint shifts · 2021+ sealed</a:t>
            </a:r>
          </a:p>
        </p:txBody>
      </p:sp>
    </p:spTree>
    <p:extLst>
      <p:ext uri="{BB962C8B-B14F-4D97-AF65-F5344CB8AC3E}">
        <p14:creationId xmlns:p14="http://schemas.microsoft.com/office/powerpoint/2010/main" val="39825976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Every registered relative-leadership cell was negative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TRAIN</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37</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Best L5/H1 mean rank IC −0.0093; L20/H20 was −0.1246 across the same 986 dates.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e199cdc350046b5"/>
          <a:stretch xmlns:a="http://schemas.openxmlformats.org/drawingml/2006/main"/>
        </p:blipFill>
        <p:spPr>
          <a:xfrm xmlns:a="http://schemas.openxmlformats.org/drawingml/2006/main" flipH="0" flipV="0">
            <a:off x="2131695" y="1627823"/>
            <a:ext cx="7852410" cy="3926205"/>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best cell sat below every search-adjusted hurdle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FALSIFICATION</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38</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Observed maximum −0.0093 versus shift-null p90 +0.0966; randomized-rank upper-tail probability was 0.944.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d89ee6d12944645"/>
          <a:stretch xmlns:a="http://schemas.openxmlformats.org/drawingml/2006/main"/>
        </p:blipFill>
        <p:spPr>
          <a:xfrm xmlns:a="http://schemas.openxmlformats.org/drawingml/2006/main" flipH="0" flipV="0">
            <a:off x="2422525" y="1409700"/>
            <a:ext cx="727075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0">
            <a:extLst xmlns:a="http://schemas.openxmlformats.org/drawingml/2006/main">
              <a:ext uri="{FF2B5EF4-FFF2-40B4-BE49-F238E27FC236}">
                <a16:creationId xmlns:a16="http://schemas.microsoft.com/office/drawing/2014/main" id="{328B673C-2321-490C-8E31-7D95273CC675}"/>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Cross-sectional ETF continuation stopped before DEVELOPMENT</a:t>
            </a:r>
          </a:p>
        </p:txBody>
      </p:sp>
      <p:sp>
        <p:nvSpPr>
          <p:cNvPr id="2" name="section-10">
            <a:extLst xmlns:a="http://schemas.openxmlformats.org/drawingml/2006/main">
              <a:ext uri="{FF2B5EF4-FFF2-40B4-BE49-F238E27FC236}">
                <a16:creationId xmlns:a16="http://schemas.microsoft.com/office/drawing/2014/main" id="{03C0456A-3709-406E-8FF6-EA187948C7CD}"/>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DECISION</a:t>
            </a:r>
          </a:p>
        </p:txBody>
      </p:sp>
      <p:sp>
        <p:nvSpPr>
          <p:cNvPr id="3" name="page-10">
            <a:extLst xmlns:a="http://schemas.openxmlformats.org/drawingml/2006/main">
              <a:ext uri="{FF2B5EF4-FFF2-40B4-BE49-F238E27FC236}">
                <a16:creationId xmlns:a16="http://schemas.microsoft.com/office/drawing/2014/main" id="{E4ABC01A-A7D2-42AF-9EAA-2B202CE63E57}"/>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39</a:t>
            </a:r>
          </a:p>
        </p:txBody>
      </p:sp>
      <p:sp>
        <p:nvSpPr>
          <p:cNvPr id="4" name="thesis-10">
            <a:extLst xmlns:a="http://schemas.openxmlformats.org/drawingml/2006/main">
              <a:ext uri="{FF2B5EF4-FFF2-40B4-BE49-F238E27FC236}">
                <a16:creationId xmlns:a16="http://schemas.microsoft.com/office/drawing/2014/main" id="{C1CD9618-B6B8-4D0A-AD5F-E334D12C2395}"/>
              </a:ext>
            </a:extLst>
          </p:cNvPr>
          <p:cNvSpPr>
            <a:spLocks xmlns:a="http://schemas.openxmlformats.org/drawingml/2006/main" noGrp="1"/>
          </p:cNvSpPr>
          <p:nvPr/>
        </p:nvSpPr>
        <p:spPr>
          <a:xfrm xmlns:a="http://schemas.openxmlformats.org/drawingml/2006/main">
            <a:off x="457200" y="1524000"/>
            <a:ext cx="11191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11827"/>
                </a:solidFill>
              </a:defRPr>
            </a:pPr>
            <a:r>
              <a:rPr sz="2175" b="1">
                <a:solidFill>
                  <a:srgbClr val="111827"/>
                </a:solidFill>
              </a:rPr>
              <a:t>The basket was valid; relative continuation was not.</a:t>
            </a:r>
          </a:p>
        </p:txBody>
      </p:sp>
      <p:sp>
        <p:nvSpPr>
          <p:cNvPr id="5" name="bullet-mark-10-0">
            <a:extLst xmlns:a="http://schemas.openxmlformats.org/drawingml/2006/main">
              <a:ext uri="{FF2B5EF4-FFF2-40B4-BE49-F238E27FC236}">
                <a16:creationId xmlns:a16="http://schemas.microsoft.com/office/drawing/2014/main" id="{D6A9FE8D-75B2-416A-ADB7-1A96C567A65C}"/>
              </a:ext>
            </a:extLst>
          </p:cNvPr>
          <p:cNvSpPr>
            <a:spLocks xmlns:a="http://schemas.openxmlformats.org/drawingml/2006/main" noGrp="1"/>
          </p:cNvSpPr>
          <p:nvPr/>
        </p:nvSpPr>
        <p:spPr>
          <a:xfrm xmlns:a="http://schemas.openxmlformats.org/drawingml/2006/main">
            <a:off x="523875" y="2990850"/>
            <a:ext cx="114300" cy="114300"/>
          </a:xfrm>
          <a:prstGeom xmlns:a="http://schemas.openxmlformats.org/drawingml/2006/main" prst="rect">
            <a:avLst/>
          </a:prstGeom>
          <a:solidFill xmlns:a="http://schemas.openxmlformats.org/drawingml/2006/main">
            <a:srgbClr val="167D8D"/>
          </a:solidFill>
          <a:ln xmlns:a="http://schemas.openxmlformats.org/drawingml/2006/main" w="9525">
            <a:solidFill>
              <a:srgbClr val="167D8D"/>
            </a:solidFill>
            <a:prstDash val="solid"/>
          </a:ln>
        </p:spPr>
      </p:sp>
      <p:sp>
        <p:nvSpPr>
          <p:cNvPr id="6" name="bullet-10-0">
            <a:extLst xmlns:a="http://schemas.openxmlformats.org/drawingml/2006/main">
              <a:ext uri="{FF2B5EF4-FFF2-40B4-BE49-F238E27FC236}">
                <a16:creationId xmlns:a16="http://schemas.microsoft.com/office/drawing/2014/main" id="{E4A179DE-2CB6-4686-B532-3B56AFA11E8B}"/>
              </a:ext>
            </a:extLst>
          </p:cNvPr>
          <p:cNvSpPr>
            <a:spLocks xmlns:a="http://schemas.openxmlformats.org/drawingml/2006/main" noGrp="1"/>
          </p:cNvSpPr>
          <p:nvPr/>
        </p:nvSpPr>
        <p:spPr>
          <a:xfrm xmlns:a="http://schemas.openxmlformats.org/drawingml/2006/main">
            <a:off x="819150" y="2914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Twelve frozen ETFs supplied 1,259 TRAIN sessions and 986 common anchor dates; all integrity gates passed.</a:t>
            </a:r>
          </a:p>
        </p:txBody>
      </p:sp>
      <p:sp>
        <p:nvSpPr>
          <p:cNvPr id="7" name="bullet-mark-10-1">
            <a:extLst xmlns:a="http://schemas.openxmlformats.org/drawingml/2006/main">
              <a:ext uri="{FF2B5EF4-FFF2-40B4-BE49-F238E27FC236}">
                <a16:creationId xmlns:a16="http://schemas.microsoft.com/office/drawing/2014/main" id="{4E2CA250-A245-43AA-BCF2-1D4F24851D28}"/>
              </a:ext>
            </a:extLst>
          </p:cNvPr>
          <p:cNvSpPr>
            <a:spLocks xmlns:a="http://schemas.openxmlformats.org/drawingml/2006/main" noGrp="1"/>
          </p:cNvSpPr>
          <p:nvPr/>
        </p:nvSpPr>
        <p:spPr>
          <a:xfrm xmlns:a="http://schemas.openxmlformats.org/drawingml/2006/main">
            <a:off x="523875" y="3752850"/>
            <a:ext cx="114300" cy="114300"/>
          </a:xfrm>
          <a:prstGeom xmlns:a="http://schemas.openxmlformats.org/drawingml/2006/main" prst="rect">
            <a:avLst/>
          </a:prstGeom>
          <a:solidFill xmlns:a="http://schemas.openxmlformats.org/drawingml/2006/main">
            <a:srgbClr val="E46A47"/>
          </a:solidFill>
          <a:ln xmlns:a="http://schemas.openxmlformats.org/drawingml/2006/main" w="9525">
            <a:solidFill>
              <a:srgbClr val="E46A47"/>
            </a:solidFill>
            <a:prstDash val="solid"/>
          </a:ln>
        </p:spPr>
      </p:sp>
      <p:sp>
        <p:nvSpPr>
          <p:cNvPr id="8" name="bullet-10-1">
            <a:extLst xmlns:a="http://schemas.openxmlformats.org/drawingml/2006/main">
              <a:ext uri="{FF2B5EF4-FFF2-40B4-BE49-F238E27FC236}">
                <a16:creationId xmlns:a16="http://schemas.microsoft.com/office/drawing/2014/main" id="{03DE52E0-B7C7-4ECA-8DC5-AF61B9F5831E}"/>
              </a:ext>
            </a:extLst>
          </p:cNvPr>
          <p:cNvSpPr>
            <a:spLocks xmlns:a="http://schemas.openxmlformats.org/drawingml/2006/main" noGrp="1"/>
          </p:cNvSpPr>
          <p:nvPr/>
        </p:nvSpPr>
        <p:spPr>
          <a:xfrm xmlns:a="http://schemas.openxmlformats.org/drawingml/2006/main">
            <a:off x="819150" y="3676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All nine rank ICs and top-minus-bottom orderings were negative; mean pairwise daily-return correlation was 0.866.</a:t>
            </a:r>
          </a:p>
        </p:txBody>
      </p:sp>
      <p:sp>
        <p:nvSpPr>
          <p:cNvPr id="9" name="bullet-mark-10-2">
            <a:extLst xmlns:a="http://schemas.openxmlformats.org/drawingml/2006/main">
              <a:ext uri="{FF2B5EF4-FFF2-40B4-BE49-F238E27FC236}">
                <a16:creationId xmlns:a16="http://schemas.microsoft.com/office/drawing/2014/main" id="{7037D4C5-A588-4871-AED3-4D739A7E2CB3}"/>
              </a:ext>
            </a:extLst>
          </p:cNvPr>
          <p:cNvSpPr>
            <a:spLocks xmlns:a="http://schemas.openxmlformats.org/drawingml/2006/main" noGrp="1"/>
          </p:cNvSpPr>
          <p:nvPr/>
        </p:nvSpPr>
        <p:spPr>
          <a:xfrm xmlns:a="http://schemas.openxmlformats.org/drawingml/2006/main">
            <a:off x="523875" y="4514850"/>
            <a:ext cx="114300" cy="114300"/>
          </a:xfrm>
          <a:prstGeom xmlns:a="http://schemas.openxmlformats.org/drawingml/2006/main" prst="rect">
            <a:avLst/>
          </a:prstGeom>
          <a:solidFill xmlns:a="http://schemas.openxmlformats.org/drawingml/2006/main">
            <a:srgbClr val="D3A73A"/>
          </a:solidFill>
          <a:ln xmlns:a="http://schemas.openxmlformats.org/drawingml/2006/main" w="9525">
            <a:solidFill>
              <a:srgbClr val="D3A73A"/>
            </a:solidFill>
            <a:prstDash val="solid"/>
          </a:ln>
        </p:spPr>
      </p:sp>
      <p:sp>
        <p:nvSpPr>
          <p:cNvPr id="10" name="bullet-10-2">
            <a:extLst xmlns:a="http://schemas.openxmlformats.org/drawingml/2006/main">
              <a:ext uri="{FF2B5EF4-FFF2-40B4-BE49-F238E27FC236}">
                <a16:creationId xmlns:a16="http://schemas.microsoft.com/office/drawing/2014/main" id="{55809576-D5E7-42E1-9311-CBA192247633}"/>
              </a:ext>
            </a:extLst>
          </p:cNvPr>
          <p:cNvSpPr>
            <a:spLocks xmlns:a="http://schemas.openxmlformats.org/drawingml/2006/main" noGrp="1"/>
          </p:cNvSpPr>
          <p:nvPr/>
        </p:nvSpPr>
        <p:spPr>
          <a:xfrm xmlns:a="http://schemas.openxmlformats.org/drawingml/2006/main">
            <a:off x="819150" y="4438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2021–2023 DEVELOPMENT and 2024–2025 confirmation remain unread; QQQ breadth still needs point-in-time membership.</a:t>
            </a:r>
          </a:p>
        </p:txBody>
      </p:sp>
      <p:sp>
        <p:nvSpPr>
          <p:cNvPr id="11" name="stop-10">
            <a:extLst xmlns:a="http://schemas.openxmlformats.org/drawingml/2006/main">
              <a:ext uri="{FF2B5EF4-FFF2-40B4-BE49-F238E27FC236}">
                <a16:creationId xmlns:a16="http://schemas.microsoft.com/office/drawing/2014/main" id="{653A3B9E-8A5D-416C-B2EA-41EB99E61D73}"/>
              </a:ext>
            </a:extLst>
          </p:cNvPr>
          <p:cNvSpPr>
            <a:spLocks xmlns:a="http://schemas.openxmlformats.org/drawingml/2006/main" noGrp="1"/>
          </p:cNvSpPr>
          <p:nvPr/>
        </p:nvSpPr>
        <p:spPr>
          <a:xfrm xmlns:a="http://schemas.openxmlformats.org/drawingml/2006/main">
            <a:off x="457200" y="5657850"/>
            <a:ext cx="11191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46A47"/>
                </a:solidFill>
              </a:defRPr>
            </a:pPr>
            <a:r>
              <a:rPr sz="1500" b="1">
                <a:solidFill>
                  <a:srgbClr val="E46A47"/>
                </a:solidFill>
              </a:rPr>
              <a:t>STOP: do not invert the sign, drop weak sleeves, swap ETFs, mine nearby horizons, or call correlated funds independent evidence.</a:t>
            </a:r>
          </a:p>
        </p:txBody>
      </p:sp>
    </p:spTree>
    <p:extLst>
      <p:ext uri="{BB962C8B-B14F-4D97-AF65-F5344CB8AC3E}">
        <p14:creationId xmlns:p14="http://schemas.microsoft.com/office/powerpoint/2010/main" val="125035851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ro-backing">
            <a:extLst xmlns:a="http://schemas.openxmlformats.org/drawingml/2006/main">
              <a:ext uri="{FF2B5EF4-FFF2-40B4-BE49-F238E27FC236}">
                <a16:creationId xmlns:a16="http://schemas.microsoft.com/office/drawing/2014/main" id="{DBF2003E-F000-4B81-8BC8-7F1E69E9FEF2}"/>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3" name="cover-eyebrow">
            <a:extLst xmlns:a="http://schemas.openxmlformats.org/drawingml/2006/main">
              <a:ext uri="{FF2B5EF4-FFF2-40B4-BE49-F238E27FC236}">
                <a16:creationId xmlns:a16="http://schemas.microsoft.com/office/drawing/2014/main" id="{5255774B-7429-47C5-A3C4-7E685BB305DD}"/>
              </a:ext>
            </a:extLst>
          </p:cNvPr>
          <p:cNvSpPr>
            <a:spLocks xmlns:a="http://schemas.openxmlformats.org/drawingml/2006/main" noGrp="1"/>
          </p:cNvSpPr>
          <p:nvPr/>
        </p:nvSpPr>
        <p:spPr>
          <a:xfrm xmlns:a="http://schemas.openxmlformats.org/drawingml/2006/main">
            <a:off x="457200" y="4000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PHASE 9 · CONDITIONAL INTRADAY PERMISSION</a:t>
            </a:r>
          </a:p>
        </p:txBody>
      </p:sp>
      <p:sp>
        <p:nvSpPr>
          <p:cNvPr id="4" name="cover-title">
            <a:extLst xmlns:a="http://schemas.openxmlformats.org/drawingml/2006/main">
              <a:ext uri="{FF2B5EF4-FFF2-40B4-BE49-F238E27FC236}">
                <a16:creationId xmlns:a16="http://schemas.microsoft.com/office/drawing/2014/main" id="{14653E3E-0AC9-494A-98EA-9ACACAA94767}"/>
              </a:ext>
            </a:extLst>
          </p:cNvPr>
          <p:cNvSpPr>
            <a:spLocks xmlns:a="http://schemas.openxmlformats.org/drawingml/2006/main" noGrp="1"/>
          </p:cNvSpPr>
          <p:nvPr/>
        </p:nvSpPr>
        <p:spPr>
          <a:xfrm xmlns:a="http://schemas.openxmlformats.org/drawingml/2006/main">
            <a:off x="457200" y="1009650"/>
            <a:ext cx="5286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11827"/>
                </a:solidFill>
              </a:defRPr>
            </a:pPr>
            <a:r>
              <a:rPr sz="3900" b="1">
                <a:solidFill>
                  <a:srgbClr val="111827"/>
                </a:solidFill>
              </a:rPr>
              <a:t>Can a simple model</a:t>
            </a:r>
          </a:p>
          <a:p xmlns:a="http://schemas.openxmlformats.org/drawingml/2006/main">
            <a:pPr algn="l">
              <a:buNone/>
              <a:defRPr sz="3900" b="1">
                <a:solidFill>
                  <a:srgbClr val="111827"/>
                </a:solidFill>
              </a:defRPr>
            </a:pPr>
            <a:r>
              <a:rPr sz="3900" b="1">
                <a:solidFill>
                  <a:srgbClr val="111827"/>
                </a:solidFill>
              </a:rPr>
              <a:t>permit the right crosses?</a:t>
            </a:r>
          </a:p>
        </p:txBody>
      </p:sp>
      <p:sp>
        <p:nvSpPr>
          <p:cNvPr id="5" name="cover-subtitle">
            <a:extLst xmlns:a="http://schemas.openxmlformats.org/drawingml/2006/main">
              <a:ext uri="{FF2B5EF4-FFF2-40B4-BE49-F238E27FC236}">
                <a16:creationId xmlns:a16="http://schemas.microsoft.com/office/drawing/2014/main" id="{6BE5B062-40D5-406B-8B38-6A85DE05AF71}"/>
              </a:ext>
            </a:extLst>
          </p:cNvPr>
          <p:cNvSpPr>
            <a:spLocks xmlns:a="http://schemas.openxmlformats.org/drawingml/2006/main" noGrp="1"/>
          </p:cNvSpPr>
          <p:nvPr/>
        </p:nvSpPr>
        <p:spPr>
          <a:xfrm xmlns:a="http://schemas.openxmlformats.org/drawingml/2006/main">
            <a:off x="457200" y="314325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Keep TSLA's 30-minute SMA8/SMA14 entries and exits fixed—then ask which completed crosses can survive costs.</a:t>
            </a:r>
          </a:p>
        </p:txBody>
      </p:sp>
      <p:sp>
        <p:nvSpPr>
          <p:cNvPr id="6" name="cover-status">
            <a:extLst xmlns:a="http://schemas.openxmlformats.org/drawingml/2006/main">
              <a:ext uri="{FF2B5EF4-FFF2-40B4-BE49-F238E27FC236}">
                <a16:creationId xmlns:a16="http://schemas.microsoft.com/office/drawing/2014/main" id="{1D8FB125-2A7F-4508-B65E-85B47214E273}"/>
              </a:ext>
            </a:extLst>
          </p:cNvPr>
          <p:cNvSpPr>
            <a:spLocks xmlns:a="http://schemas.openxmlformats.org/drawingml/2006/main" noGrp="1"/>
          </p:cNvSpPr>
          <p:nvPr/>
        </p:nvSpPr>
        <p:spPr>
          <a:xfrm xmlns:a="http://schemas.openxmlformats.org/drawingml/2006/main">
            <a:off x="457200" y="54292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46A47"/>
                </a:solidFill>
              </a:defRPr>
            </a:pPr>
            <a:r>
              <a:rPr sz="1350" b="1">
                <a:solidFill>
                  <a:srgbClr val="E46A47"/>
                </a:solidFill>
              </a:rPr>
              <a:t>HYP-IMOM-04.1 · OUTCOME-AWARE CALIBRATION · 2024+ SEALED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5b16763a812453d"/>
          <a:stretch xmlns:a="http://schemas.openxmlformats.org/drawingml/2006/main"/>
        </p:blipFill>
        <p:spPr>
          <a:xfrm xmlns:a="http://schemas.openxmlformats.org/drawingml/2006/main" flipH="0" flipV="0">
            <a:off x="6267450" y="1968501"/>
            <a:ext cx="5543550" cy="2463800"/>
          </a:xfrm>
          <a:prstGeom xmlns:a="http://schemas.openxmlformats.org/drawingml/2006/main" prst="rect">
            <a:avLst/>
          </a:prstGeom>
        </p:spPr>
      </p:pic>
    </p:spTree>
    <p:extLst>
      <p:ext uri="{BB962C8B-B14F-4D97-AF65-F5344CB8AC3E}">
        <p14:creationId xmlns:p14="http://schemas.microsoft.com/office/powerpoint/2010/main" val="10827983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2">
            <a:extLst xmlns:a="http://schemas.openxmlformats.org/drawingml/2006/main">
              <a:ext uri="{FF2B5EF4-FFF2-40B4-BE49-F238E27FC236}">
                <a16:creationId xmlns:a16="http://schemas.microsoft.com/office/drawing/2014/main" id="{CC57C1DA-22D2-4393-A478-876E6061E9F4}"/>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One ledger carried six features and three fixed gates</a:t>
            </a:r>
          </a:p>
        </p:txBody>
      </p:sp>
      <p:sp>
        <p:nvSpPr>
          <p:cNvPr id="2" name="section-2">
            <a:extLst xmlns:a="http://schemas.openxmlformats.org/drawingml/2006/main">
              <a:ext uri="{FF2B5EF4-FFF2-40B4-BE49-F238E27FC236}">
                <a16:creationId xmlns:a16="http://schemas.microsoft.com/office/drawing/2014/main" id="{B10797AA-5F17-46BF-A209-C0012CAA4180}"/>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HYP-IMOM-04.1 · CAL-A01 DESIGN</a:t>
            </a:r>
          </a:p>
        </p:txBody>
      </p:sp>
      <p:sp>
        <p:nvSpPr>
          <p:cNvPr id="3" name="page-2">
            <a:extLst xmlns:a="http://schemas.openxmlformats.org/drawingml/2006/main">
              <a:ext uri="{FF2B5EF4-FFF2-40B4-BE49-F238E27FC236}">
                <a16:creationId xmlns:a16="http://schemas.microsoft.com/office/drawing/2014/main" id="{027AA98B-7DC4-44D5-91EF-0CBB3B009F64}"/>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41</a:t>
            </a:r>
          </a:p>
        </p:txBody>
      </p:sp>
      <p:sp>
        <p:nvSpPr>
          <p:cNvPr id="4" name="lead-2">
            <a:extLst xmlns:a="http://schemas.openxmlformats.org/drawingml/2006/main">
              <a:ext uri="{FF2B5EF4-FFF2-40B4-BE49-F238E27FC236}">
                <a16:creationId xmlns:a16="http://schemas.microsoft.com/office/drawing/2014/main" id="{8AEB2C29-A634-46E4-A808-F88FB54BA88F}"/>
              </a:ext>
            </a:extLst>
          </p:cNvPr>
          <p:cNvSpPr>
            <a:spLocks xmlns:a="http://schemas.openxmlformats.org/drawingml/2006/main" noGrp="1"/>
          </p:cNvSpPr>
          <p:nvPr/>
        </p:nvSpPr>
        <p:spPr>
          <a:xfrm xmlns:a="http://schemas.openxmlformats.org/drawingml/2006/main">
            <a:off x="457200" y="1571625"/>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Every fresh parent crossover kept its original next-bar entry, exit, and costs. Completed-bar features could suppress an entry, but never create a new one or change the parent trade.</a:t>
            </a:r>
          </a:p>
        </p:txBody>
      </p:sp>
      <p:sp>
        <p:nvSpPr>
          <p:cNvPr id="5" name="formula-panel-2">
            <a:extLst xmlns:a="http://schemas.openxmlformats.org/drawingml/2006/main">
              <a:ext uri="{FF2B5EF4-FFF2-40B4-BE49-F238E27FC236}">
                <a16:creationId xmlns:a16="http://schemas.microsoft.com/office/drawing/2014/main" id="{DFB5541A-647E-4DE5-9984-503C77AD83F4}"/>
              </a:ext>
            </a:extLst>
          </p:cNvPr>
          <p:cNvSpPr>
            <a:spLocks xmlns:a="http://schemas.openxmlformats.org/drawingml/2006/main" noGrp="1"/>
          </p:cNvSpPr>
          <p:nvPr/>
        </p:nvSpPr>
        <p:spPr>
          <a:xfrm xmlns:a="http://schemas.openxmlformats.org/drawingml/2006/main">
            <a:off x="6286500" y="1524000"/>
            <a:ext cx="5381625" cy="3000375"/>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6" name="formula-2-0">
            <a:extLst xmlns:a="http://schemas.openxmlformats.org/drawingml/2006/main">
              <a:ext uri="{FF2B5EF4-FFF2-40B4-BE49-F238E27FC236}">
                <a16:creationId xmlns:a16="http://schemas.microsoft.com/office/drawing/2014/main" id="{63BF4897-DE0F-49BB-B76D-202A2819D600}"/>
              </a:ext>
            </a:extLst>
          </p:cNvPr>
          <p:cNvSpPr>
            <a:spLocks xmlns:a="http://schemas.openxmlformats.org/drawingml/2006/main" noGrp="1"/>
          </p:cNvSpPr>
          <p:nvPr/>
        </p:nvSpPr>
        <p:spPr>
          <a:xfrm xmlns:a="http://schemas.openxmlformats.org/drawingml/2006/main">
            <a:off x="6667500" y="18288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67D8D"/>
                </a:solidFill>
              </a:defRPr>
            </a:pPr>
            <a:r>
              <a:rPr sz="1950" b="1">
                <a:solidFill>
                  <a:srgbClr val="167D8D"/>
                </a:solidFill>
              </a:rPr>
              <a:t>T trend · V ATR% · I impulse</a:t>
            </a:r>
          </a:p>
        </p:txBody>
      </p:sp>
      <p:sp>
        <p:nvSpPr>
          <p:cNvPr id="7" name="formula-2-1">
            <a:extLst xmlns:a="http://schemas.openxmlformats.org/drawingml/2006/main">
              <a:ext uri="{FF2B5EF4-FFF2-40B4-BE49-F238E27FC236}">
                <a16:creationId xmlns:a16="http://schemas.microsoft.com/office/drawing/2014/main" id="{C4E3869B-07C3-4612-873A-415453670FBF}"/>
              </a:ext>
            </a:extLst>
          </p:cNvPr>
          <p:cNvSpPr>
            <a:spLocks xmlns:a="http://schemas.openxmlformats.org/drawingml/2006/main" noGrp="1"/>
          </p:cNvSpPr>
          <p:nvPr/>
        </p:nvSpPr>
        <p:spPr>
          <a:xfrm xmlns:a="http://schemas.openxmlformats.org/drawingml/2006/main">
            <a:off x="6667500" y="260985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111827"/>
                </a:solidFill>
              </a:defRPr>
            </a:pPr>
            <a:r>
              <a:rPr sz="1950" b="0">
                <a:solidFill>
                  <a:srgbClr val="111827"/>
                </a:solidFill>
              </a:rPr>
              <a:t>W whipsaw · P participation · M market</a:t>
            </a:r>
          </a:p>
        </p:txBody>
      </p:sp>
      <p:sp>
        <p:nvSpPr>
          <p:cNvPr id="8" name="formula-2-2">
            <a:extLst xmlns:a="http://schemas.openxmlformats.org/drawingml/2006/main">
              <a:ext uri="{FF2B5EF4-FFF2-40B4-BE49-F238E27FC236}">
                <a16:creationId xmlns:a16="http://schemas.microsoft.com/office/drawing/2014/main" id="{C85D3FBA-447E-47ED-A5DC-0D60E81D8774}"/>
              </a:ext>
            </a:extLst>
          </p:cNvPr>
          <p:cNvSpPr>
            <a:spLocks xmlns:a="http://schemas.openxmlformats.org/drawingml/2006/main" noGrp="1"/>
          </p:cNvSpPr>
          <p:nvPr/>
        </p:nvSpPr>
        <p:spPr>
          <a:xfrm xmlns:a="http://schemas.openxmlformats.org/drawingml/2006/main">
            <a:off x="6667500" y="33909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111827"/>
                </a:solidFill>
              </a:defRPr>
            </a:pPr>
            <a:r>
              <a:rPr sz="1950" b="0">
                <a:solidFill>
                  <a:srgbClr val="111827"/>
                </a:solidFill>
              </a:rPr>
              <a:t>T∧V   ·   I∧W   ·   T∧P</a:t>
            </a:r>
          </a:p>
        </p:txBody>
      </p:sp>
      <p:sp>
        <p:nvSpPr>
          <p:cNvPr id="9" name="interpret-2">
            <a:extLst xmlns:a="http://schemas.openxmlformats.org/drawingml/2006/main">
              <a:ext uri="{FF2B5EF4-FFF2-40B4-BE49-F238E27FC236}">
                <a16:creationId xmlns:a16="http://schemas.microsoft.com/office/drawing/2014/main" id="{E546D95B-DAC4-429E-A8CB-A7454C1A252A}"/>
              </a:ext>
            </a:extLst>
          </p:cNvPr>
          <p:cNvSpPr>
            <a:spLocks xmlns:a="http://schemas.openxmlformats.org/drawingml/2006/main" noGrp="1"/>
          </p:cNvSpPr>
          <p:nvPr/>
        </p:nvSpPr>
        <p:spPr>
          <a:xfrm xmlns:a="http://schemas.openxmlformats.org/drawingml/2006/main">
            <a:off x="457200" y="4857750"/>
            <a:ext cx="11191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827"/>
                </a:solidFill>
              </a:defRPr>
            </a:pPr>
            <a:r>
              <a:rPr sz="1650" b="1">
                <a:solidFill>
                  <a:srgbClr val="111827"/>
                </a:solidFill>
              </a:rPr>
              <a:t>727 parent events · 637 complete-feature events · 12 expanding quarters · 200 random permissions · 200 familywise session shifts · 2024+ sealed</a:t>
            </a:r>
          </a:p>
        </p:txBody>
      </p:sp>
    </p:spTree>
    <p:extLst>
      <p:ext uri="{BB962C8B-B14F-4D97-AF65-F5344CB8AC3E}">
        <p14:creationId xmlns:p14="http://schemas.microsoft.com/office/powerpoint/2010/main" val="39825976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engine recovered all nine plants; TSLA did not separate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SYNTHETIC PASS · MARKET STOP</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42</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Synthetic recovery 9/9. Nominal T Brier gain +0.000943; permitted mean +0.028% versus +0.312% when rejected.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58c13786f044ea6"/>
          <a:stretch xmlns:a="http://schemas.openxmlformats.org/drawingml/2006/main"/>
        </p:blipFill>
        <p:spPr>
          <a:xfrm xmlns:a="http://schemas.openxmlformats.org/drawingml/2006/main" flipH="0" flipV="0">
            <a:off x="2131695" y="1627823"/>
            <a:ext cx="7852410" cy="3926205"/>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nominal winner was ordinary under falsification</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MULTIPLICITY</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43</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Selected return −1.19% ranked at 3.5% of matched random permissions; Brier gain ranked at 66.5% of familywise shifts.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88d8532e90844fa"/>
          <a:stretch xmlns:a="http://schemas.openxmlformats.org/drawingml/2006/main"/>
        </p:blipFill>
        <p:spPr>
          <a:xfrm xmlns:a="http://schemas.openxmlformats.org/drawingml/2006/main" flipH="0" flipV="0">
            <a:off x="2422525" y="1409700"/>
            <a:ext cx="727075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Filtering reduced turnover—and removed the profitable exposure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POLICY REPLAY</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44</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2021–2023 at 10 bp/side: selected T −1.19%, hand trend gate +34.00%, unfiltered TSLA parent +91.32%.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c5228f483644f95"/>
          <a:stretch xmlns:a="http://schemas.openxmlformats.org/drawingml/2006/main"/>
        </p:blipFill>
        <p:spPr>
          <a:xfrm xmlns:a="http://schemas.openxmlformats.org/drawingml/2006/main" flipH="0" flipV="0">
            <a:off x="2131695" y="1627823"/>
            <a:ext cx="7852410" cy="3926205"/>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0">
            <a:extLst xmlns:a="http://schemas.openxmlformats.org/drawingml/2006/main">
              <a:ext uri="{FF2B5EF4-FFF2-40B4-BE49-F238E27FC236}">
                <a16:creationId xmlns:a16="http://schemas.microsoft.com/office/drawing/2014/main" id="{328B673C-2321-490C-8E31-7D95273CC675}"/>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TSLA permission stopped before fresh transport</a:t>
            </a:r>
          </a:p>
        </p:txBody>
      </p:sp>
      <p:sp>
        <p:nvSpPr>
          <p:cNvPr id="2" name="section-10">
            <a:extLst xmlns:a="http://schemas.openxmlformats.org/drawingml/2006/main">
              <a:ext uri="{FF2B5EF4-FFF2-40B4-BE49-F238E27FC236}">
                <a16:creationId xmlns:a16="http://schemas.microsoft.com/office/drawing/2014/main" id="{03C0456A-3709-406E-8FF6-EA187948C7CD}"/>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DECISION</a:t>
            </a:r>
          </a:p>
        </p:txBody>
      </p:sp>
      <p:sp>
        <p:nvSpPr>
          <p:cNvPr id="3" name="page-10">
            <a:extLst xmlns:a="http://schemas.openxmlformats.org/drawingml/2006/main">
              <a:ext uri="{FF2B5EF4-FFF2-40B4-BE49-F238E27FC236}">
                <a16:creationId xmlns:a16="http://schemas.microsoft.com/office/drawing/2014/main" id="{E4ABC01A-A7D2-42AF-9EAA-2B202CE63E57}"/>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45</a:t>
            </a:r>
          </a:p>
        </p:txBody>
      </p:sp>
      <p:sp>
        <p:nvSpPr>
          <p:cNvPr id="4" name="thesis-10">
            <a:extLst xmlns:a="http://schemas.openxmlformats.org/drawingml/2006/main">
              <a:ext uri="{FF2B5EF4-FFF2-40B4-BE49-F238E27FC236}">
                <a16:creationId xmlns:a16="http://schemas.microsoft.com/office/drawing/2014/main" id="{C1CD9618-B6B8-4D0A-AD5F-E334D12C2395}"/>
              </a:ext>
            </a:extLst>
          </p:cNvPr>
          <p:cNvSpPr>
            <a:spLocks xmlns:a="http://schemas.openxmlformats.org/drawingml/2006/main" noGrp="1"/>
          </p:cNvSpPr>
          <p:nvPr/>
        </p:nvSpPr>
        <p:spPr>
          <a:xfrm xmlns:a="http://schemas.openxmlformats.org/drawingml/2006/main">
            <a:off x="457200" y="1524000"/>
            <a:ext cx="11191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11827"/>
                </a:solidFill>
              </a:defRPr>
            </a:pPr>
            <a:r>
              <a:rPr sz="2175" b="1">
                <a:solidFill>
                  <a:srgbClr val="111827"/>
                </a:solidFill>
              </a:rPr>
              <a:t>The engine was valid; the market permission mechanism was not.</a:t>
            </a:r>
          </a:p>
        </p:txBody>
      </p:sp>
      <p:sp>
        <p:nvSpPr>
          <p:cNvPr id="5" name="bullet-mark-10-0">
            <a:extLst xmlns:a="http://schemas.openxmlformats.org/drawingml/2006/main">
              <a:ext uri="{FF2B5EF4-FFF2-40B4-BE49-F238E27FC236}">
                <a16:creationId xmlns:a16="http://schemas.microsoft.com/office/drawing/2014/main" id="{D6A9FE8D-75B2-416A-ADB7-1A96C567A65C}"/>
              </a:ext>
            </a:extLst>
          </p:cNvPr>
          <p:cNvSpPr>
            <a:spLocks xmlns:a="http://schemas.openxmlformats.org/drawingml/2006/main" noGrp="1"/>
          </p:cNvSpPr>
          <p:nvPr/>
        </p:nvSpPr>
        <p:spPr>
          <a:xfrm xmlns:a="http://schemas.openxmlformats.org/drawingml/2006/main">
            <a:off x="523875" y="2990850"/>
            <a:ext cx="114300" cy="114300"/>
          </a:xfrm>
          <a:prstGeom xmlns:a="http://schemas.openxmlformats.org/drawingml/2006/main" prst="rect">
            <a:avLst/>
          </a:prstGeom>
          <a:solidFill xmlns:a="http://schemas.openxmlformats.org/drawingml/2006/main">
            <a:srgbClr val="167D8D"/>
          </a:solidFill>
          <a:ln xmlns:a="http://schemas.openxmlformats.org/drawingml/2006/main" w="9525">
            <a:solidFill>
              <a:srgbClr val="167D8D"/>
            </a:solidFill>
            <a:prstDash val="solid"/>
          </a:ln>
        </p:spPr>
      </p:sp>
      <p:sp>
        <p:nvSpPr>
          <p:cNvPr id="6" name="bullet-10-0">
            <a:extLst xmlns:a="http://schemas.openxmlformats.org/drawingml/2006/main">
              <a:ext uri="{FF2B5EF4-FFF2-40B4-BE49-F238E27FC236}">
                <a16:creationId xmlns:a16="http://schemas.microsoft.com/office/drawing/2014/main" id="{E4A179DE-2CB6-4686-B532-3B56AFA11E8B}"/>
              </a:ext>
            </a:extLst>
          </p:cNvPr>
          <p:cNvSpPr>
            <a:spLocks xmlns:a="http://schemas.openxmlformats.org/drawingml/2006/main" noGrp="1"/>
          </p:cNvSpPr>
          <p:nvPr/>
        </p:nvSpPr>
        <p:spPr>
          <a:xfrm xmlns:a="http://schemas.openxmlformats.org/drawingml/2006/main">
            <a:off x="819150" y="2914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All 727 parent events reproduced exactly; every one of the nine planted synthetic mechanisms was recovered.</a:t>
            </a:r>
          </a:p>
        </p:txBody>
      </p:sp>
      <p:sp>
        <p:nvSpPr>
          <p:cNvPr id="7" name="bullet-mark-10-1">
            <a:extLst xmlns:a="http://schemas.openxmlformats.org/drawingml/2006/main">
              <a:ext uri="{FF2B5EF4-FFF2-40B4-BE49-F238E27FC236}">
                <a16:creationId xmlns:a16="http://schemas.microsoft.com/office/drawing/2014/main" id="{4E2CA250-A245-43AA-BCF2-1D4F24851D28}"/>
              </a:ext>
            </a:extLst>
          </p:cNvPr>
          <p:cNvSpPr>
            <a:spLocks xmlns:a="http://schemas.openxmlformats.org/drawingml/2006/main" noGrp="1"/>
          </p:cNvSpPr>
          <p:nvPr/>
        </p:nvSpPr>
        <p:spPr>
          <a:xfrm xmlns:a="http://schemas.openxmlformats.org/drawingml/2006/main">
            <a:off x="523875" y="3752850"/>
            <a:ext cx="114300" cy="114300"/>
          </a:xfrm>
          <a:prstGeom xmlns:a="http://schemas.openxmlformats.org/drawingml/2006/main" prst="rect">
            <a:avLst/>
          </a:prstGeom>
          <a:solidFill xmlns:a="http://schemas.openxmlformats.org/drawingml/2006/main">
            <a:srgbClr val="E46A47"/>
          </a:solidFill>
          <a:ln xmlns:a="http://schemas.openxmlformats.org/drawingml/2006/main" w="9525">
            <a:solidFill>
              <a:srgbClr val="E46A47"/>
            </a:solidFill>
            <a:prstDash val="solid"/>
          </a:ln>
        </p:spPr>
      </p:sp>
      <p:sp>
        <p:nvSpPr>
          <p:cNvPr id="8" name="bullet-10-1">
            <a:extLst xmlns:a="http://schemas.openxmlformats.org/drawingml/2006/main">
              <a:ext uri="{FF2B5EF4-FFF2-40B4-BE49-F238E27FC236}">
                <a16:creationId xmlns:a16="http://schemas.microsoft.com/office/drawing/2014/main" id="{03DE52E0-B7C7-4ECA-8DC5-AF61B9F5831E}"/>
              </a:ext>
            </a:extLst>
          </p:cNvPr>
          <p:cNvSpPr>
            <a:spLocks xmlns:a="http://schemas.openxmlformats.org/drawingml/2006/main" noGrp="1"/>
          </p:cNvSpPr>
          <p:nvPr/>
        </p:nvSpPr>
        <p:spPr>
          <a:xfrm xmlns:a="http://schemas.openxmlformats.org/drawingml/2006/main">
            <a:off x="819150" y="3676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T improved OOF Brier by 0.000943 but missed familywise p90, retained 20.1%, and selected weaker trades.</a:t>
            </a:r>
          </a:p>
        </p:txBody>
      </p:sp>
      <p:sp>
        <p:nvSpPr>
          <p:cNvPr id="9" name="bullet-mark-10-2">
            <a:extLst xmlns:a="http://schemas.openxmlformats.org/drawingml/2006/main">
              <a:ext uri="{FF2B5EF4-FFF2-40B4-BE49-F238E27FC236}">
                <a16:creationId xmlns:a16="http://schemas.microsoft.com/office/drawing/2014/main" id="{7037D4C5-A588-4871-AED3-4D739A7E2CB3}"/>
              </a:ext>
            </a:extLst>
          </p:cNvPr>
          <p:cNvSpPr>
            <a:spLocks xmlns:a="http://schemas.openxmlformats.org/drawingml/2006/main" noGrp="1"/>
          </p:cNvSpPr>
          <p:nvPr/>
        </p:nvSpPr>
        <p:spPr>
          <a:xfrm xmlns:a="http://schemas.openxmlformats.org/drawingml/2006/main">
            <a:off x="523875" y="4514850"/>
            <a:ext cx="114300" cy="114300"/>
          </a:xfrm>
          <a:prstGeom xmlns:a="http://schemas.openxmlformats.org/drawingml/2006/main" prst="rect">
            <a:avLst/>
          </a:prstGeom>
          <a:solidFill xmlns:a="http://schemas.openxmlformats.org/drawingml/2006/main">
            <a:srgbClr val="D3A73A"/>
          </a:solidFill>
          <a:ln xmlns:a="http://schemas.openxmlformats.org/drawingml/2006/main" w="9525">
            <a:solidFill>
              <a:srgbClr val="D3A73A"/>
            </a:solidFill>
            <a:prstDash val="solid"/>
          </a:ln>
        </p:spPr>
      </p:sp>
      <p:sp>
        <p:nvSpPr>
          <p:cNvPr id="10" name="bullet-10-2">
            <a:extLst xmlns:a="http://schemas.openxmlformats.org/drawingml/2006/main">
              <a:ext uri="{FF2B5EF4-FFF2-40B4-BE49-F238E27FC236}">
                <a16:creationId xmlns:a16="http://schemas.microsoft.com/office/drawing/2014/main" id="{55809576-D5E7-42E1-9311-CBA192247633}"/>
              </a:ext>
            </a:extLst>
          </p:cNvPr>
          <p:cNvSpPr>
            <a:spLocks xmlns:a="http://schemas.openxmlformats.org/drawingml/2006/main" noGrp="1"/>
          </p:cNvSpPr>
          <p:nvPr/>
        </p:nvSpPr>
        <p:spPr>
          <a:xfrm xmlns:a="http://schemas.openxmlformats.org/drawingml/2006/main">
            <a:off x="819150" y="4438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Only 3/8 calibration gates passed; 2024+ remains unread. Any new outcome-aware attempt becomes CAL-A02.</a:t>
            </a:r>
          </a:p>
        </p:txBody>
      </p:sp>
      <p:sp>
        <p:nvSpPr>
          <p:cNvPr id="11" name="stop-10">
            <a:extLst xmlns:a="http://schemas.openxmlformats.org/drawingml/2006/main">
              <a:ext uri="{FF2B5EF4-FFF2-40B4-BE49-F238E27FC236}">
                <a16:creationId xmlns:a16="http://schemas.microsoft.com/office/drawing/2014/main" id="{653A3B9E-8A5D-416C-B2EA-41EB99E61D73}"/>
              </a:ext>
            </a:extLst>
          </p:cNvPr>
          <p:cNvSpPr>
            <a:spLocks xmlns:a="http://schemas.openxmlformats.org/drawingml/2006/main" noGrp="1"/>
          </p:cNvSpPr>
          <p:nvPr/>
        </p:nvSpPr>
        <p:spPr>
          <a:xfrm xmlns:a="http://schemas.openxmlformats.org/drawingml/2006/main">
            <a:off x="457200" y="5657850"/>
            <a:ext cx="11191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46A47"/>
                </a:solidFill>
              </a:defRPr>
            </a:pPr>
            <a:r>
              <a:rPr sz="1500" b="1">
                <a:solidFill>
                  <a:srgbClr val="E46A47"/>
                </a:solidFill>
              </a:rPr>
              <a:t>STOP: do not change feature windows, directions, thresholds, combinations, labels, costs, or open 2024+ under CAL-A01.</a:t>
            </a:r>
          </a:p>
        </p:txBody>
      </p:sp>
    </p:spTree>
    <p:extLst>
      <p:ext uri="{BB962C8B-B14F-4D97-AF65-F5344CB8AC3E}">
        <p14:creationId xmlns:p14="http://schemas.microsoft.com/office/powerpoint/2010/main" val="125035851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ro-backing">
            <a:extLst xmlns:a="http://schemas.openxmlformats.org/drawingml/2006/main">
              <a:ext uri="{FF2B5EF4-FFF2-40B4-BE49-F238E27FC236}">
                <a16:creationId xmlns:a16="http://schemas.microsoft.com/office/drawing/2014/main" id="{DBF2003E-F000-4B81-8BC8-7F1E69E9FEF2}"/>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3" name="cover-eyebrow">
            <a:extLst xmlns:a="http://schemas.openxmlformats.org/drawingml/2006/main">
              <a:ext uri="{FF2B5EF4-FFF2-40B4-BE49-F238E27FC236}">
                <a16:creationId xmlns:a16="http://schemas.microsoft.com/office/drawing/2014/main" id="{5255774B-7429-47C5-A3C4-7E685BB305DD}"/>
              </a:ext>
            </a:extLst>
          </p:cNvPr>
          <p:cNvSpPr>
            <a:spLocks xmlns:a="http://schemas.openxmlformats.org/drawingml/2006/main" noGrp="1"/>
          </p:cNvSpPr>
          <p:nvPr/>
        </p:nvSpPr>
        <p:spPr>
          <a:xfrm xmlns:a="http://schemas.openxmlformats.org/drawingml/2006/main">
            <a:off x="457200" y="4000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PHASE 10 · DIRECT INTRADAY EXPOSURE</a:t>
            </a:r>
          </a:p>
        </p:txBody>
      </p:sp>
      <p:sp>
        <p:nvSpPr>
          <p:cNvPr id="4" name="cover-title">
            <a:extLst xmlns:a="http://schemas.openxmlformats.org/drawingml/2006/main">
              <a:ext uri="{FF2B5EF4-FFF2-40B4-BE49-F238E27FC236}">
                <a16:creationId xmlns:a16="http://schemas.microsoft.com/office/drawing/2014/main" id="{14653E3E-0AC9-494A-98EA-9ACACAA94767}"/>
              </a:ext>
            </a:extLst>
          </p:cNvPr>
          <p:cNvSpPr>
            <a:spLocks xmlns:a="http://schemas.openxmlformats.org/drawingml/2006/main" noGrp="1"/>
          </p:cNvSpPr>
          <p:nvPr/>
        </p:nvSpPr>
        <p:spPr>
          <a:xfrm xmlns:a="http://schemas.openxmlformats.org/drawingml/2006/main">
            <a:off x="457200" y="1009650"/>
            <a:ext cx="5286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11827"/>
                </a:solidFill>
              </a:defRPr>
            </a:pPr>
            <a:r>
              <a:rPr sz="3900" b="1">
                <a:solidFill>
                  <a:srgbClr val="111827"/>
                </a:solidFill>
              </a:rPr>
              <a:t>Can state features hold TSLA</a:t>
            </a:r>
          </a:p>
          <a:p xmlns:a="http://schemas.openxmlformats.org/drawingml/2006/main">
            <a:pPr algn="l">
              <a:buNone/>
              <a:defRPr sz="3900" b="1">
                <a:solidFill>
                  <a:srgbClr val="111827"/>
                </a:solidFill>
              </a:defRPr>
            </a:pPr>
            <a:r>
              <a:rPr sz="3900" b="1">
                <a:solidFill>
                  <a:srgbClr val="111827"/>
                </a:solidFill>
              </a:rPr>
              <a:t>only when it helps?</a:t>
            </a:r>
          </a:p>
        </p:txBody>
      </p:sp>
      <p:sp>
        <p:nvSpPr>
          <p:cNvPr id="5" name="cover-subtitle">
            <a:extLst xmlns:a="http://schemas.openxmlformats.org/drawingml/2006/main">
              <a:ext uri="{FF2B5EF4-FFF2-40B4-BE49-F238E27FC236}">
                <a16:creationId xmlns:a16="http://schemas.microsoft.com/office/drawing/2014/main" id="{6BE5B062-40D5-406B-8B38-6A85DE05AF71}"/>
              </a:ext>
            </a:extLst>
          </p:cNvPr>
          <p:cNvSpPr>
            <a:spLocks xmlns:a="http://schemas.openxmlformats.org/drawingml/2006/main" noGrp="1"/>
          </p:cNvSpPr>
          <p:nvPr/>
        </p:nvSpPr>
        <p:spPr>
          <a:xfrm xmlns:a="http://schemas.openxmlformats.org/drawingml/2006/main">
            <a:off x="457200" y="314325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Completed-session features choose the next open-to-open long/cash state—without requiring a crossover event.</a:t>
            </a:r>
          </a:p>
        </p:txBody>
      </p:sp>
      <p:sp>
        <p:nvSpPr>
          <p:cNvPr id="6" name="cover-status">
            <a:extLst xmlns:a="http://schemas.openxmlformats.org/drawingml/2006/main">
              <a:ext uri="{FF2B5EF4-FFF2-40B4-BE49-F238E27FC236}">
                <a16:creationId xmlns:a16="http://schemas.microsoft.com/office/drawing/2014/main" id="{1D8FB125-2A7F-4508-B65E-85B47214E273}"/>
              </a:ext>
            </a:extLst>
          </p:cNvPr>
          <p:cNvSpPr>
            <a:spLocks xmlns:a="http://schemas.openxmlformats.org/drawingml/2006/main" noGrp="1"/>
          </p:cNvSpPr>
          <p:nvPr/>
        </p:nvSpPr>
        <p:spPr>
          <a:xfrm xmlns:a="http://schemas.openxmlformats.org/drawingml/2006/main">
            <a:off x="457200" y="54292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46A47"/>
                </a:solidFill>
              </a:defRPr>
            </a:pPr>
            <a:r>
              <a:rPr sz="1350" b="1">
                <a:solidFill>
                  <a:srgbClr val="E46A47"/>
                </a:solidFill>
              </a:rPr>
              <a:t>HYP-IMOM-04.1 · CAL-A02 · 2024+ SEALED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a1925e838ec45bb"/>
          <a:stretch xmlns:a="http://schemas.openxmlformats.org/drawingml/2006/main"/>
        </p:blipFill>
        <p:spPr>
          <a:xfrm xmlns:a="http://schemas.openxmlformats.org/drawingml/2006/main" flipH="0" flipV="0">
            <a:off x="6267450" y="1968501"/>
            <a:ext cx="5543550" cy="2463800"/>
          </a:xfrm>
          <a:prstGeom xmlns:a="http://schemas.openxmlformats.org/drawingml/2006/main" prst="rect">
            <a:avLst/>
          </a:prstGeom>
        </p:spPr>
      </p:pic>
    </p:spTree>
    <p:extLst>
      <p:ext uri="{BB962C8B-B14F-4D97-AF65-F5344CB8AC3E}">
        <p14:creationId xmlns:p14="http://schemas.microsoft.com/office/powerpoint/2010/main" val="10827983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2">
            <a:extLst xmlns:a="http://schemas.openxmlformats.org/drawingml/2006/main">
              <a:ext uri="{FF2B5EF4-FFF2-40B4-BE49-F238E27FC236}">
                <a16:creationId xmlns:a16="http://schemas.microsoft.com/office/drawing/2014/main" id="{CC57C1DA-22D2-4393-A478-876E6061E9F4}"/>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Direct exposure removed the crossover action constraint</a:t>
            </a:r>
          </a:p>
        </p:txBody>
      </p:sp>
      <p:sp>
        <p:nvSpPr>
          <p:cNvPr id="2" name="section-2">
            <a:extLst xmlns:a="http://schemas.openxmlformats.org/drawingml/2006/main">
              <a:ext uri="{FF2B5EF4-FFF2-40B4-BE49-F238E27FC236}">
                <a16:creationId xmlns:a16="http://schemas.microsoft.com/office/drawing/2014/main" id="{B10797AA-5F17-46BF-A209-C0012CAA4180}"/>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HYP-IMOM-04.1 · CAL-A02 DESIGN</a:t>
            </a:r>
          </a:p>
        </p:txBody>
      </p:sp>
      <p:sp>
        <p:nvSpPr>
          <p:cNvPr id="3" name="page-2">
            <a:extLst xmlns:a="http://schemas.openxmlformats.org/drawingml/2006/main">
              <a:ext uri="{FF2B5EF4-FFF2-40B4-BE49-F238E27FC236}">
                <a16:creationId xmlns:a16="http://schemas.microsoft.com/office/drawing/2014/main" id="{027AA98B-7DC4-44D5-91EF-0CBB3B009F64}"/>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47</a:t>
            </a:r>
          </a:p>
        </p:txBody>
      </p:sp>
      <p:sp>
        <p:nvSpPr>
          <p:cNvPr id="4" name="lead-2">
            <a:extLst xmlns:a="http://schemas.openxmlformats.org/drawingml/2006/main">
              <a:ext uri="{FF2B5EF4-FFF2-40B4-BE49-F238E27FC236}">
                <a16:creationId xmlns:a16="http://schemas.microsoft.com/office/drawing/2014/main" id="{8AEB2C29-A634-46E4-A808-F88FB54BA88F}"/>
              </a:ext>
            </a:extLst>
          </p:cNvPr>
          <p:cNvSpPr>
            <a:spLocks xmlns:a="http://schemas.openxmlformats.org/drawingml/2006/main" noGrp="1"/>
          </p:cNvSpPr>
          <p:nvPr/>
        </p:nvSpPr>
        <p:spPr>
          <a:xfrm xmlns:a="http://schemas.openxmlformats.org/drawingml/2006/main">
            <a:off x="457200" y="1571625"/>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A6470"/>
                </a:solidFill>
              </a:defRPr>
            </a:pPr>
            <a:r>
              <a:rPr sz="1800" b="0">
                <a:solidFill>
                  <a:srgbClr val="5A6470"/>
                </a:solidFill>
              </a:rPr>
              <a:t>Completed session t features set the position at the next open. The target is the following open-to-open log return; consecutive long decisions stay invested and pay costs only on transitions.</a:t>
            </a:r>
          </a:p>
        </p:txBody>
      </p:sp>
      <p:sp>
        <p:nvSpPr>
          <p:cNvPr id="5" name="formula-panel-2">
            <a:extLst xmlns:a="http://schemas.openxmlformats.org/drawingml/2006/main">
              <a:ext uri="{FF2B5EF4-FFF2-40B4-BE49-F238E27FC236}">
                <a16:creationId xmlns:a16="http://schemas.microsoft.com/office/drawing/2014/main" id="{DFB5541A-647E-4DE5-9984-503C77AD83F4}"/>
              </a:ext>
            </a:extLst>
          </p:cNvPr>
          <p:cNvSpPr>
            <a:spLocks xmlns:a="http://schemas.openxmlformats.org/drawingml/2006/main" noGrp="1"/>
          </p:cNvSpPr>
          <p:nvPr/>
        </p:nvSpPr>
        <p:spPr>
          <a:xfrm xmlns:a="http://schemas.openxmlformats.org/drawingml/2006/main">
            <a:off x="6286500" y="1524000"/>
            <a:ext cx="5381625" cy="3000375"/>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6" name="formula-2-0">
            <a:extLst xmlns:a="http://schemas.openxmlformats.org/drawingml/2006/main">
              <a:ext uri="{FF2B5EF4-FFF2-40B4-BE49-F238E27FC236}">
                <a16:creationId xmlns:a16="http://schemas.microsoft.com/office/drawing/2014/main" id="{63BF4897-DE0F-49BB-B76D-202A2819D600}"/>
              </a:ext>
            </a:extLst>
          </p:cNvPr>
          <p:cNvSpPr>
            <a:spLocks xmlns:a="http://schemas.openxmlformats.org/drawingml/2006/main" noGrp="1"/>
          </p:cNvSpPr>
          <p:nvPr/>
        </p:nvSpPr>
        <p:spPr>
          <a:xfrm xmlns:a="http://schemas.openxmlformats.org/drawingml/2006/main">
            <a:off x="6667500" y="18288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67D8D"/>
                </a:solidFill>
              </a:defRPr>
            </a:pPr>
            <a:r>
              <a:rPr sz="1950" b="1">
                <a:solidFill>
                  <a:srgbClr val="167D8D"/>
                </a:solidFill>
              </a:rPr>
              <a:t>Trend · path quality · volatility quality</a:t>
            </a:r>
          </a:p>
        </p:txBody>
      </p:sp>
      <p:sp>
        <p:nvSpPr>
          <p:cNvPr id="7" name="formula-2-1">
            <a:extLst xmlns:a="http://schemas.openxmlformats.org/drawingml/2006/main">
              <a:ext uri="{FF2B5EF4-FFF2-40B4-BE49-F238E27FC236}">
                <a16:creationId xmlns:a16="http://schemas.microsoft.com/office/drawing/2014/main" id="{C4E3869B-07C3-4612-873A-415453670FBF}"/>
              </a:ext>
            </a:extLst>
          </p:cNvPr>
          <p:cNvSpPr>
            <a:spLocks xmlns:a="http://schemas.openxmlformats.org/drawingml/2006/main" noGrp="1"/>
          </p:cNvSpPr>
          <p:nvPr/>
        </p:nvSpPr>
        <p:spPr>
          <a:xfrm xmlns:a="http://schemas.openxmlformats.org/drawingml/2006/main">
            <a:off x="6667500" y="260985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111827"/>
                </a:solidFill>
              </a:defRPr>
            </a:pPr>
            <a:r>
              <a:rPr sz="1950" b="0">
                <a:solidFill>
                  <a:srgbClr val="111827"/>
                </a:solidFill>
              </a:rPr>
              <a:t>Participation · QQQ/SMH confirmation</a:t>
            </a:r>
          </a:p>
        </p:txBody>
      </p:sp>
      <p:sp>
        <p:nvSpPr>
          <p:cNvPr id="8" name="formula-2-2">
            <a:extLst xmlns:a="http://schemas.openxmlformats.org/drawingml/2006/main">
              <a:ext uri="{FF2B5EF4-FFF2-40B4-BE49-F238E27FC236}">
                <a16:creationId xmlns:a16="http://schemas.microsoft.com/office/drawing/2014/main" id="{C85D3FBA-447E-47ED-A5DC-0D60E81D8774}"/>
              </a:ext>
            </a:extLst>
          </p:cNvPr>
          <p:cNvSpPr>
            <a:spLocks xmlns:a="http://schemas.openxmlformats.org/drawingml/2006/main" noGrp="1"/>
          </p:cNvSpPr>
          <p:nvPr/>
        </p:nvSpPr>
        <p:spPr>
          <a:xfrm xmlns:a="http://schemas.openxmlformats.org/drawingml/2006/main">
            <a:off x="6667500" y="33909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111827"/>
                </a:solidFill>
              </a:defRPr>
            </a:pPr>
            <a:r>
              <a:rPr sz="1950" b="0">
                <a:solidFill>
                  <a:srgbClr val="111827"/>
                </a:solidFill>
              </a:rPr>
              <a:t>R1 ridge primary · T1 depth-two diagnostic</a:t>
            </a:r>
          </a:p>
        </p:txBody>
      </p:sp>
      <p:sp>
        <p:nvSpPr>
          <p:cNvPr id="9" name="interpret-2">
            <a:extLst xmlns:a="http://schemas.openxmlformats.org/drawingml/2006/main">
              <a:ext uri="{FF2B5EF4-FFF2-40B4-BE49-F238E27FC236}">
                <a16:creationId xmlns:a16="http://schemas.microsoft.com/office/drawing/2014/main" id="{E546D95B-DAC4-429E-A8CB-A7454C1A252A}"/>
              </a:ext>
            </a:extLst>
          </p:cNvPr>
          <p:cNvSpPr>
            <a:spLocks xmlns:a="http://schemas.openxmlformats.org/drawingml/2006/main" noGrp="1"/>
          </p:cNvSpPr>
          <p:nvPr/>
        </p:nvSpPr>
        <p:spPr>
          <a:xfrm xmlns:a="http://schemas.openxmlformats.org/drawingml/2006/main">
            <a:off x="457200" y="4857750"/>
            <a:ext cx="11191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827"/>
                </a:solidFill>
              </a:defRPr>
            </a:pPr>
            <a:r>
              <a:rPr sz="1650" b="1">
                <a:solidFill>
                  <a:srgbClr val="111827"/>
                </a:solidFill>
              </a:rPr>
              <a:t>1,380 sessions · 746 OOF · 12 quarters · 200 target shifts · 200 matched permissions · 2024+ sealed</a:t>
            </a:r>
          </a:p>
        </p:txBody>
      </p:sp>
    </p:spTree>
    <p:extLst>
      <p:ext uri="{BB962C8B-B14F-4D97-AF65-F5344CB8AC3E}">
        <p14:creationId xmlns:p14="http://schemas.microsoft.com/office/powerpoint/2010/main" val="39825976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ridge captured upside and downside almost equally</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CAPTURE</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48</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R1 held 72.1% of intervals: 71.8% upside capture and 72.2% downside capture. The desired upper-left region remained empty.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4527c317a014d55"/>
          <a:stretch xmlns:a="http://schemas.openxmlformats.org/drawingml/2006/main"/>
        </p:blipFill>
        <p:spPr>
          <a:xfrm xmlns:a="http://schemas.openxmlformats.org/drawingml/2006/main" flipH="0" flipV="0">
            <a:off x="2131695" y="1627823"/>
            <a:ext cx="7852410" cy="3926205"/>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Primary forecast lost to drift and timing controls</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FALSIFICATION</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49</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R1 MSE improvement −0.00000639; 36.5th percentile of familywise target shifts. Matched timing ranked 87th, below p90.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7df8e796fbb49f8"/>
          <a:stretch xmlns:a="http://schemas.openxmlformats.org/drawingml/2006/main"/>
        </p:blipFill>
        <p:spPr>
          <a:xfrm xmlns:a="http://schemas.openxmlformats.org/drawingml/2006/main" flipH="0" flipV="0">
            <a:off x="2422525" y="1409700"/>
            <a:ext cx="7270750" cy="4362450"/>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6">
            <a:extLst xmlns:a="http://schemas.openxmlformats.org/drawingml/2006/main">
              <a:ext uri="{FF2B5EF4-FFF2-40B4-BE49-F238E27FC236}">
                <a16:creationId xmlns:a16="http://schemas.microsoft.com/office/drawing/2014/main" id="{2D20EA2F-B831-4C95-80A2-D804E295339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The primary lost; the tree exposed a nonlinear clue</a:t>
            </a:r>
          </a:p>
        </p:txBody>
      </p:sp>
      <p:sp>
        <p:nvSpPr>
          <p:cNvPr id="2" name="section-6">
            <a:extLst xmlns:a="http://schemas.openxmlformats.org/drawingml/2006/main">
              <a:ext uri="{FF2B5EF4-FFF2-40B4-BE49-F238E27FC236}">
                <a16:creationId xmlns:a16="http://schemas.microsoft.com/office/drawing/2014/main" id="{B608694E-A84D-4B34-A7ED-535FAA3D2B92}"/>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POLICY REPLAY</a:t>
            </a:r>
          </a:p>
        </p:txBody>
      </p:sp>
      <p:sp>
        <p:nvSpPr>
          <p:cNvPr id="3" name="page-6">
            <a:extLst xmlns:a="http://schemas.openxmlformats.org/drawingml/2006/main">
              <a:ext uri="{FF2B5EF4-FFF2-40B4-BE49-F238E27FC236}">
                <a16:creationId xmlns:a16="http://schemas.microsoft.com/office/drawing/2014/main" id="{416BB4A2-0EF7-49FA-B524-967F1C227E6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50</a:t>
            </a:r>
          </a:p>
        </p:txBody>
      </p:sp>
      <p:sp>
        <p:nvSpPr>
          <p:cNvPr id="5" name="caption-6">
            <a:extLst xmlns:a="http://schemas.openxmlformats.org/drawingml/2006/main">
              <a:ext uri="{FF2B5EF4-FFF2-40B4-BE49-F238E27FC236}">
                <a16:creationId xmlns:a16="http://schemas.microsoft.com/office/drawing/2014/main" id="{64B5140C-FDDD-4B5C-815E-87C7DCAB466F}"/>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5A6470"/>
                </a:solidFill>
              </a:defRPr>
            </a:pPr>
            <a:r>
              <a:rPr sz="1350" b="0">
                <a:solidFill>
                  <a:srgbClr val="5A6470"/>
                </a:solidFill>
              </a:rPr>
              <a:t>At 10 bp/side: R1 −7.48%, always long +5.54%, T1 +55.68%—but T1 had 6/12 positive quarters and 63.2% downside capture.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e6d1e2433d849d0"/>
          <a:stretch xmlns:a="http://schemas.openxmlformats.org/drawingml/2006/main"/>
        </p:blipFill>
        <p:spPr>
          <a:xfrm xmlns:a="http://schemas.openxmlformats.org/drawingml/2006/main" flipH="0" flipV="0">
            <a:off x="2131695" y="1627823"/>
            <a:ext cx="7852410" cy="3926205"/>
          </a:xfrm>
          <a:prstGeom xmlns:a="http://schemas.openxmlformats.org/drawingml/2006/main" prst="rect">
            <a:avLst/>
          </a:prstGeom>
        </p:spPr>
      </p:pic>
    </p:spTree>
    <p:extLst>
      <p:ext uri="{BB962C8B-B14F-4D97-AF65-F5344CB8AC3E}">
        <p14:creationId xmlns:p14="http://schemas.microsoft.com/office/powerpoint/2010/main" val="34204114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0">
            <a:extLst xmlns:a="http://schemas.openxmlformats.org/drawingml/2006/main">
              <a:ext uri="{FF2B5EF4-FFF2-40B4-BE49-F238E27FC236}">
                <a16:creationId xmlns:a16="http://schemas.microsoft.com/office/drawing/2014/main" id="{328B673C-2321-490C-8E31-7D95273CC675}"/>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75" b="1">
                <a:solidFill>
                  <a:srgbClr val="111827"/>
                </a:solidFill>
              </a:defRPr>
            </a:pPr>
            <a:r>
              <a:rPr sz="2775" b="1">
                <a:solidFill>
                  <a:srgbClr val="111827"/>
                </a:solidFill>
              </a:rPr>
              <a:t>Direct exposure stopped before fresh transport</a:t>
            </a:r>
          </a:p>
        </p:txBody>
      </p:sp>
      <p:sp>
        <p:nvSpPr>
          <p:cNvPr id="2" name="section-10">
            <a:extLst xmlns:a="http://schemas.openxmlformats.org/drawingml/2006/main">
              <a:ext uri="{FF2B5EF4-FFF2-40B4-BE49-F238E27FC236}">
                <a16:creationId xmlns:a16="http://schemas.microsoft.com/office/drawing/2014/main" id="{03C0456A-3709-406E-8FF6-EA187948C7CD}"/>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67D8D"/>
                </a:solidFill>
              </a:defRPr>
            </a:pPr>
            <a:r>
              <a:rPr sz="1200" b="1">
                <a:solidFill>
                  <a:srgbClr val="167D8D"/>
                </a:solidFill>
              </a:rPr>
              <a:t>DECISION</a:t>
            </a:r>
          </a:p>
        </p:txBody>
      </p:sp>
      <p:sp>
        <p:nvSpPr>
          <p:cNvPr id="3" name="page-10">
            <a:extLst xmlns:a="http://schemas.openxmlformats.org/drawingml/2006/main">
              <a:ext uri="{FF2B5EF4-FFF2-40B4-BE49-F238E27FC236}">
                <a16:creationId xmlns:a16="http://schemas.microsoft.com/office/drawing/2014/main" id="{E4ABC01A-A7D2-42AF-9EAA-2B202CE63E57}"/>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A6470"/>
                </a:solidFill>
              </a:defRPr>
            </a:pPr>
            <a:r>
              <a:rPr sz="975" b="0">
                <a:solidFill>
                  <a:srgbClr val="5A6470"/>
                </a:solidFill>
              </a:rPr>
              <a:t>51</a:t>
            </a:r>
          </a:p>
        </p:txBody>
      </p:sp>
      <p:sp>
        <p:nvSpPr>
          <p:cNvPr id="4" name="thesis-10">
            <a:extLst xmlns:a="http://schemas.openxmlformats.org/drawingml/2006/main">
              <a:ext uri="{FF2B5EF4-FFF2-40B4-BE49-F238E27FC236}">
                <a16:creationId xmlns:a16="http://schemas.microsoft.com/office/drawing/2014/main" id="{C1CD9618-B6B8-4D0A-AD5F-E334D12C2395}"/>
              </a:ext>
            </a:extLst>
          </p:cNvPr>
          <p:cNvSpPr>
            <a:spLocks xmlns:a="http://schemas.openxmlformats.org/drawingml/2006/main" noGrp="1"/>
          </p:cNvSpPr>
          <p:nvPr/>
        </p:nvSpPr>
        <p:spPr>
          <a:xfrm xmlns:a="http://schemas.openxmlformats.org/drawingml/2006/main">
            <a:off x="457200" y="1524000"/>
            <a:ext cx="11191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11827"/>
                </a:solidFill>
              </a:defRPr>
            </a:pPr>
            <a:r>
              <a:rPr sz="2175" b="1">
                <a:solidFill>
                  <a:srgbClr val="111827"/>
                </a:solidFill>
              </a:rPr>
              <a:t>The policy engine was expressive; the learned state boundary was not reliable.</a:t>
            </a:r>
          </a:p>
        </p:txBody>
      </p:sp>
      <p:sp>
        <p:nvSpPr>
          <p:cNvPr id="5" name="bullet-mark-10-0">
            <a:extLst xmlns:a="http://schemas.openxmlformats.org/drawingml/2006/main">
              <a:ext uri="{FF2B5EF4-FFF2-40B4-BE49-F238E27FC236}">
                <a16:creationId xmlns:a16="http://schemas.microsoft.com/office/drawing/2014/main" id="{D6A9FE8D-75B2-416A-ADB7-1A96C567A65C}"/>
              </a:ext>
            </a:extLst>
          </p:cNvPr>
          <p:cNvSpPr>
            <a:spLocks xmlns:a="http://schemas.openxmlformats.org/drawingml/2006/main" noGrp="1"/>
          </p:cNvSpPr>
          <p:nvPr/>
        </p:nvSpPr>
        <p:spPr>
          <a:xfrm xmlns:a="http://schemas.openxmlformats.org/drawingml/2006/main">
            <a:off x="523875" y="2990850"/>
            <a:ext cx="114300" cy="114300"/>
          </a:xfrm>
          <a:prstGeom xmlns:a="http://schemas.openxmlformats.org/drawingml/2006/main" prst="rect">
            <a:avLst/>
          </a:prstGeom>
          <a:solidFill xmlns:a="http://schemas.openxmlformats.org/drawingml/2006/main">
            <a:srgbClr val="167D8D"/>
          </a:solidFill>
          <a:ln xmlns:a="http://schemas.openxmlformats.org/drawingml/2006/main" w="9525">
            <a:solidFill>
              <a:srgbClr val="167D8D"/>
            </a:solidFill>
            <a:prstDash val="solid"/>
          </a:ln>
        </p:spPr>
      </p:sp>
      <p:sp>
        <p:nvSpPr>
          <p:cNvPr id="6" name="bullet-10-0">
            <a:extLst xmlns:a="http://schemas.openxmlformats.org/drawingml/2006/main">
              <a:ext uri="{FF2B5EF4-FFF2-40B4-BE49-F238E27FC236}">
                <a16:creationId xmlns:a16="http://schemas.microsoft.com/office/drawing/2014/main" id="{E4A179DE-2CB6-4686-B532-3B56AFA11E8B}"/>
              </a:ext>
            </a:extLst>
          </p:cNvPr>
          <p:cNvSpPr>
            <a:spLocks xmlns:a="http://schemas.openxmlformats.org/drawingml/2006/main" noGrp="1"/>
          </p:cNvSpPr>
          <p:nvPr/>
        </p:nvSpPr>
        <p:spPr>
          <a:xfrm xmlns:a="http://schemas.openxmlformats.org/drawingml/2006/main">
            <a:off x="819150" y="2914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Source timing, embargo, both synthetic plants, and all four oracle-accounting checks passed.</a:t>
            </a:r>
          </a:p>
        </p:txBody>
      </p:sp>
      <p:sp>
        <p:nvSpPr>
          <p:cNvPr id="7" name="bullet-mark-10-1">
            <a:extLst xmlns:a="http://schemas.openxmlformats.org/drawingml/2006/main">
              <a:ext uri="{FF2B5EF4-FFF2-40B4-BE49-F238E27FC236}">
                <a16:creationId xmlns:a16="http://schemas.microsoft.com/office/drawing/2014/main" id="{4E2CA250-A245-43AA-BCF2-1D4F24851D28}"/>
              </a:ext>
            </a:extLst>
          </p:cNvPr>
          <p:cNvSpPr>
            <a:spLocks xmlns:a="http://schemas.openxmlformats.org/drawingml/2006/main" noGrp="1"/>
          </p:cNvSpPr>
          <p:nvPr/>
        </p:nvSpPr>
        <p:spPr>
          <a:xfrm xmlns:a="http://schemas.openxmlformats.org/drawingml/2006/main">
            <a:off x="523875" y="3752850"/>
            <a:ext cx="114300" cy="114300"/>
          </a:xfrm>
          <a:prstGeom xmlns:a="http://schemas.openxmlformats.org/drawingml/2006/main" prst="rect">
            <a:avLst/>
          </a:prstGeom>
          <a:solidFill xmlns:a="http://schemas.openxmlformats.org/drawingml/2006/main">
            <a:srgbClr val="E46A47"/>
          </a:solidFill>
          <a:ln xmlns:a="http://schemas.openxmlformats.org/drawingml/2006/main" w="9525">
            <a:solidFill>
              <a:srgbClr val="E46A47"/>
            </a:solidFill>
            <a:prstDash val="solid"/>
          </a:ln>
        </p:spPr>
      </p:sp>
      <p:sp>
        <p:nvSpPr>
          <p:cNvPr id="8" name="bullet-10-1">
            <a:extLst xmlns:a="http://schemas.openxmlformats.org/drawingml/2006/main">
              <a:ext uri="{FF2B5EF4-FFF2-40B4-BE49-F238E27FC236}">
                <a16:creationId xmlns:a16="http://schemas.microsoft.com/office/drawing/2014/main" id="{03DE52E0-B7C7-4ECA-8DC5-AF61B9F5831E}"/>
              </a:ext>
            </a:extLst>
          </p:cNvPr>
          <p:cNvSpPr>
            <a:spLocks xmlns:a="http://schemas.openxmlformats.org/drawingml/2006/main" noGrp="1"/>
          </p:cNvSpPr>
          <p:nvPr/>
        </p:nvSpPr>
        <p:spPr>
          <a:xfrm xmlns:a="http://schemas.openxmlformats.org/drawingml/2006/main">
            <a:off x="819150" y="3676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R1 was worse than drift, lost after costs, and captured upside and downside at nearly the same rate.</a:t>
            </a:r>
          </a:p>
        </p:txBody>
      </p:sp>
      <p:sp>
        <p:nvSpPr>
          <p:cNvPr id="9" name="bullet-mark-10-2">
            <a:extLst xmlns:a="http://schemas.openxmlformats.org/drawingml/2006/main">
              <a:ext uri="{FF2B5EF4-FFF2-40B4-BE49-F238E27FC236}">
                <a16:creationId xmlns:a16="http://schemas.microsoft.com/office/drawing/2014/main" id="{7037D4C5-A588-4871-AED3-4D739A7E2CB3}"/>
              </a:ext>
            </a:extLst>
          </p:cNvPr>
          <p:cNvSpPr>
            <a:spLocks xmlns:a="http://schemas.openxmlformats.org/drawingml/2006/main" noGrp="1"/>
          </p:cNvSpPr>
          <p:nvPr/>
        </p:nvSpPr>
        <p:spPr>
          <a:xfrm xmlns:a="http://schemas.openxmlformats.org/drawingml/2006/main">
            <a:off x="523875" y="4514850"/>
            <a:ext cx="114300" cy="114300"/>
          </a:xfrm>
          <a:prstGeom xmlns:a="http://schemas.openxmlformats.org/drawingml/2006/main" prst="rect">
            <a:avLst/>
          </a:prstGeom>
          <a:solidFill xmlns:a="http://schemas.openxmlformats.org/drawingml/2006/main">
            <a:srgbClr val="D3A73A"/>
          </a:solidFill>
          <a:ln xmlns:a="http://schemas.openxmlformats.org/drawingml/2006/main" w="9525">
            <a:solidFill>
              <a:srgbClr val="D3A73A"/>
            </a:solidFill>
            <a:prstDash val="solid"/>
          </a:ln>
        </p:spPr>
      </p:sp>
      <p:sp>
        <p:nvSpPr>
          <p:cNvPr id="10" name="bullet-10-2">
            <a:extLst xmlns:a="http://schemas.openxmlformats.org/drawingml/2006/main">
              <a:ext uri="{FF2B5EF4-FFF2-40B4-BE49-F238E27FC236}">
                <a16:creationId xmlns:a16="http://schemas.microsoft.com/office/drawing/2014/main" id="{55809576-D5E7-42E1-9311-CBA192247633}"/>
              </a:ext>
            </a:extLst>
          </p:cNvPr>
          <p:cNvSpPr>
            <a:spLocks xmlns:a="http://schemas.openxmlformats.org/drawingml/2006/main" noGrp="1"/>
          </p:cNvSpPr>
          <p:nvPr/>
        </p:nvSpPr>
        <p:spPr>
          <a:xfrm xmlns:a="http://schemas.openxmlformats.org/drawingml/2006/main">
            <a:off x="819150" y="4438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111827"/>
                </a:solidFill>
              </a:defRPr>
            </a:pPr>
            <a:r>
              <a:rPr sz="1650" b="0">
                <a:solidFill>
                  <a:srgbClr val="111827"/>
                </a:solidFill>
              </a:rPr>
              <a:t>Only 5/11 gates passed. T1 is a CAL-A03 clue, not a survivor; 2024+ remains unread.</a:t>
            </a:r>
          </a:p>
        </p:txBody>
      </p:sp>
      <p:sp>
        <p:nvSpPr>
          <p:cNvPr id="11" name="stop-10">
            <a:extLst xmlns:a="http://schemas.openxmlformats.org/drawingml/2006/main">
              <a:ext uri="{FF2B5EF4-FFF2-40B4-BE49-F238E27FC236}">
                <a16:creationId xmlns:a16="http://schemas.microsoft.com/office/drawing/2014/main" id="{653A3B9E-8A5D-416C-B2EA-41EB99E61D73}"/>
              </a:ext>
            </a:extLst>
          </p:cNvPr>
          <p:cNvSpPr>
            <a:spLocks xmlns:a="http://schemas.openxmlformats.org/drawingml/2006/main" noGrp="1"/>
          </p:cNvSpPr>
          <p:nvPr/>
        </p:nvSpPr>
        <p:spPr>
          <a:xfrm xmlns:a="http://schemas.openxmlformats.org/drawingml/2006/main">
            <a:off x="457200" y="5657850"/>
            <a:ext cx="11191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46A47"/>
                </a:solidFill>
              </a:defRPr>
            </a:pPr>
            <a:r>
              <a:rPr sz="1500" b="1">
                <a:solidFill>
                  <a:srgbClr val="E46A47"/>
                </a:solidFill>
              </a:rPr>
              <a:t>STOP: do not tune CAL-A02 or open 2024+. Any nonlinear tail-capture question requires a separately frozen CAL-A03.</a:t>
            </a:r>
          </a:p>
        </p:txBody>
      </p:sp>
    </p:spTree>
    <p:extLst>
      <p:ext uri="{BB962C8B-B14F-4D97-AF65-F5344CB8AC3E}">
        <p14:creationId xmlns:p14="http://schemas.microsoft.com/office/powerpoint/2010/main" val="12503585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2026-08-23T20:54:25.7480000Z</dcterms:created>
  <dcterms:modified xsi:type="dcterms:W3CDTF">2026-08-23T20:54:25.7480000Z</dcterms:modified>
</coreProperties>
</file>