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8412a16f554f63" /><Relationship Type="http://schemas.openxmlformats.org/officeDocument/2006/relationships/extended-properties" Target="/docProps/app.xml" Id="Rfaed96b821984a21" /><Relationship Type="http://schemas.openxmlformats.org/officeDocument/2006/relationships/officeDocument" Target="/ppt/presentation.xml" Id="Rc8f2fc8049c84b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57296e78fe4c30"/>
  </p:sldMasterIdLst>
  <p:notesMasterIdLst>
    <p:notesMasterId xmlns:r="http://schemas.openxmlformats.org/officeDocument/2006/relationships" r:id="Rc0c242984bf44131"/>
  </p:notesMasterIdLst>
  <p:sldIdLst>
    <p:sldId xmlns:r="http://schemas.openxmlformats.org/officeDocument/2006/relationships" id="256" r:id="R3b934cbff32d4a41"/>
    <p:sldId xmlns:r="http://schemas.openxmlformats.org/officeDocument/2006/relationships" id="257" r:id="R95f1314bb7ae4edd"/>
    <p:sldId xmlns:r="http://schemas.openxmlformats.org/officeDocument/2006/relationships" id="258" r:id="R81ef5baa23aa45d9"/>
    <p:sldId xmlns:r="http://schemas.openxmlformats.org/officeDocument/2006/relationships" id="259" r:id="R38065415f25d4af0"/>
    <p:sldId xmlns:r="http://schemas.openxmlformats.org/officeDocument/2006/relationships" id="260" r:id="Rd3d531289aeb4103"/>
    <p:sldId xmlns:r="http://schemas.openxmlformats.org/officeDocument/2006/relationships" id="261" r:id="R6c9b2ee8388e4911"/>
    <p:sldId xmlns:r="http://schemas.openxmlformats.org/officeDocument/2006/relationships" id="262" r:id="R54118d76b47a4c35"/>
    <p:sldId xmlns:r="http://schemas.openxmlformats.org/officeDocument/2006/relationships" id="263" r:id="Rfb5767fea72a4fe0"/>
    <p:sldId xmlns:r="http://schemas.openxmlformats.org/officeDocument/2006/relationships" id="264" r:id="R9501799956fe4ed0"/>
    <p:sldId xmlns:r="http://schemas.openxmlformats.org/officeDocument/2006/relationships" id="265" r:id="R04ed857b9c4e4350"/>
    <p:sldId xmlns:r="http://schemas.openxmlformats.org/officeDocument/2006/relationships" id="266" r:id="R66c27742523c44bf"/>
    <p:sldId xmlns:r="http://schemas.openxmlformats.org/officeDocument/2006/relationships" id="267" r:id="R8217728b5afd4e45"/>
    <p:sldId xmlns:r="http://schemas.openxmlformats.org/officeDocument/2006/relationships" id="268" r:id="Reb0f99e50af6437f"/>
    <p:sldId xmlns:r="http://schemas.openxmlformats.org/officeDocument/2006/relationships" id="269" r:id="R8db7ff91239648a7"/>
    <p:sldId xmlns:r="http://schemas.openxmlformats.org/officeDocument/2006/relationships" id="270" r:id="Recd0c6b323f443c9"/>
    <p:sldId xmlns:r="http://schemas.openxmlformats.org/officeDocument/2006/relationships" id="271" r:id="Rb43a4d854cd54c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29448aaa874048" /><Relationship Type="http://schemas.openxmlformats.org/officeDocument/2006/relationships/slideMaster" Target="/ppt/slideMasters/slideMaster1.xml" Id="R8257296e78fe4c30" /><Relationship Type="http://schemas.openxmlformats.org/officeDocument/2006/relationships/notesMaster" Target="/ppt/notesMasters/notesMaster1.xml" Id="Rc0c242984bf44131" /><Relationship Type="http://schemas.openxmlformats.org/officeDocument/2006/relationships/presProps" Target="/ppt/presProps.xml" Id="Rbc293355b62e4eaf" /><Relationship Type="http://schemas.openxmlformats.org/officeDocument/2006/relationships/tableStyles" Target="/ppt/tableStyles.xml" Id="Ra4c2ccc8fe024f1b" /><Relationship Type="http://schemas.openxmlformats.org/officeDocument/2006/relationships/slide" Target="/ppt/slides/slide1.xml" Id="R3b934cbff32d4a41" /><Relationship Type="http://schemas.openxmlformats.org/officeDocument/2006/relationships/slide" Target="/ppt/slides/slide2.xml" Id="R95f1314bb7ae4edd" /><Relationship Type="http://schemas.openxmlformats.org/officeDocument/2006/relationships/slide" Target="/ppt/slides/slide3.xml" Id="R81ef5baa23aa45d9" /><Relationship Type="http://schemas.openxmlformats.org/officeDocument/2006/relationships/slide" Target="/ppt/slides/slide4.xml" Id="R38065415f25d4af0" /><Relationship Type="http://schemas.openxmlformats.org/officeDocument/2006/relationships/slide" Target="/ppt/slides/slide5.xml" Id="Rd3d531289aeb4103" /><Relationship Type="http://schemas.openxmlformats.org/officeDocument/2006/relationships/slide" Target="/ppt/slides/slide6.xml" Id="R6c9b2ee8388e4911" /><Relationship Type="http://schemas.openxmlformats.org/officeDocument/2006/relationships/slide" Target="/ppt/slides/slide7.xml" Id="R54118d76b47a4c35" /><Relationship Type="http://schemas.openxmlformats.org/officeDocument/2006/relationships/slide" Target="/ppt/slides/slide8.xml" Id="Rfb5767fea72a4fe0" /><Relationship Type="http://schemas.openxmlformats.org/officeDocument/2006/relationships/slide" Target="/ppt/slides/slide9.xml" Id="R9501799956fe4ed0" /><Relationship Type="http://schemas.openxmlformats.org/officeDocument/2006/relationships/slide" Target="/ppt/slides/slide10.xml" Id="R04ed857b9c4e4350" /><Relationship Type="http://schemas.openxmlformats.org/officeDocument/2006/relationships/slide" Target="/ppt/slides/slide11.xml" Id="R66c27742523c44bf" /><Relationship Type="http://schemas.openxmlformats.org/officeDocument/2006/relationships/slide" Target="/ppt/slides/slide12.xml" Id="R8217728b5afd4e45" /><Relationship Type="http://schemas.openxmlformats.org/officeDocument/2006/relationships/slide" Target="/ppt/slides/slide13.xml" Id="Reb0f99e50af6437f" /><Relationship Type="http://schemas.openxmlformats.org/officeDocument/2006/relationships/slide" Target="/ppt/slides/slide14.xml" Id="R8db7ff91239648a7" /><Relationship Type="http://schemas.openxmlformats.org/officeDocument/2006/relationships/slide" Target="/ppt/slides/slide15.xml" Id="Recd0c6b323f443c9" /><Relationship Type="http://schemas.openxmlformats.org/officeDocument/2006/relationships/slide" Target="/ppt/slides/slide16.xml" Id="Rb43a4d854cd54c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dbf73cbb6c40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f40de22b2a475c" /><Relationship Type="http://schemas.openxmlformats.org/officeDocument/2006/relationships/notesMaster" Target="/ppt/notesMasters/notesMaster1.xml" Id="Rb7c6828118d04b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6cd5b4e1c74f57" /><Relationship Type="http://schemas.openxmlformats.org/officeDocument/2006/relationships/notesMaster" Target="/ppt/notesMasters/notesMaster1.xml" Id="Ra9e0e22fd64c4e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f8e91321d54155" /><Relationship Type="http://schemas.openxmlformats.org/officeDocument/2006/relationships/notesMaster" Target="/ppt/notesMasters/notesMaster1.xml" Id="R533a486bbacd4d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ba7a6532f944f0" /><Relationship Type="http://schemas.openxmlformats.org/officeDocument/2006/relationships/notesMaster" Target="/ppt/notesMasters/notesMaster1.xml" Id="Rc99e55ce369e434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58594c85c849af" /><Relationship Type="http://schemas.openxmlformats.org/officeDocument/2006/relationships/notesMaster" Target="/ppt/notesMasters/notesMaster1.xml" Id="R75f4b9c0215244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4a00efab9e44bf3" /><Relationship Type="http://schemas.openxmlformats.org/officeDocument/2006/relationships/notesMaster" Target="/ppt/notesMasters/notesMaster1.xml" Id="R30e07fc6b6d642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f86249fc7b4524" /><Relationship Type="http://schemas.openxmlformats.org/officeDocument/2006/relationships/notesMaster" Target="/ppt/notesMasters/notesMaster1.xml" Id="R8af08cf790ff47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a9ff36d3a045c7" /><Relationship Type="http://schemas.openxmlformats.org/officeDocument/2006/relationships/notesMaster" Target="/ppt/notesMasters/notesMaster1.xml" Id="R42c61662abe74a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1b787b1f0fa41b7" /><Relationship Type="http://schemas.openxmlformats.org/officeDocument/2006/relationships/notesMaster" Target="/ppt/notesMasters/notesMaster1.xml" Id="R798e4433e97248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2273eb22b343b1" /><Relationship Type="http://schemas.openxmlformats.org/officeDocument/2006/relationships/notesMaster" Target="/ppt/notesMasters/notesMaster1.xml" Id="Re36b3f71f91848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00058816074204" /><Relationship Type="http://schemas.openxmlformats.org/officeDocument/2006/relationships/notesMaster" Target="/ppt/notesMasters/notesMaster1.xml" Id="R80b243e186a341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59e0da73ac490e" /><Relationship Type="http://schemas.openxmlformats.org/officeDocument/2006/relationships/notesMaster" Target="/ppt/notesMasters/notesMaster1.xml" Id="Re5118c82576740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b6c60b1b5a04b47" /><Relationship Type="http://schemas.openxmlformats.org/officeDocument/2006/relationships/notesMaster" Target="/ppt/notesMasters/notesMaster1.xml" Id="R00dd3e77b4ee483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0135a9210449c9" /><Relationship Type="http://schemas.openxmlformats.org/officeDocument/2006/relationships/notesMaster" Target="/ppt/notesMasters/notesMaster1.xml" Id="R48dfde1718cf48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b8ddb564104020" /><Relationship Type="http://schemas.openxmlformats.org/officeDocument/2006/relationships/notesMaster" Target="/ppt/notesMasters/notesMaster1.xml" Id="R2d785cca0f394e4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585b4427a3430b" /><Relationship Type="http://schemas.openxmlformats.org/officeDocument/2006/relationships/notesMaster" Target="/ppt/notesMasters/notesMaster1.xml" Id="R0a253cbc276f49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cumulative question: did progressively richer versions of a simple momentum story survive direct forecast falsification? All five tests completed cleanly and stopped without opening strategy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Project\Time-Series-Modeling-Gen5\literature_studies\docs\GEN5_LIT_MOM_01_3_SPY_HORIZON_SURFACE_RESULTS.md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map. The sequence moves from raw own-return continuation, to a richer description of the past path, to a clock-specific relative recurrence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Project\Time-Series-Modeling-Gen5\docs\GEN5_1_POC_PROGRESS_LOG.md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Project\Time-Series-Modeling-Gen5\literature_studies\docs\GEN5_LIT_MOM_01_3_SPY_HORIZON_SURFACE_RESULTS.md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Project\Time-Series-Modeling-Gen5\literature_studies\docs\GEN5_LIT_MOM_01_4_MULTI_MARKET_PREDICTOR_ATLAS_RESULTS.md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Project\Time-Series-Modeling-Gen5\literature_studies\docs\GEN5_LIT_MOM_01_5_PATH_QUALITY_FORECAST_COMPARISON_RESULTS.md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Project\Time-Series-Modeling-Gen5\literature_studies\docs\GEN5_LIT_IMOM_01_2_30MIN_PATH_QUALITY_FORECAST_COMPARISON_RESULTS.md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phase asks the Chan-style predictor question directly, before entry rules, overlapping sleeves, transaction costs, or portfolio construction.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Project\Time-Series-Modeling-Gen5\literature_studies\docs\GEN5_LIT_MOM_01_3_SPY_HORIZON_SURFACE_RESULTS.md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Project\Time-Series-Modeling-Gen5\literature_studies\docs\GEN5_LIT_MOM_01_4_MULTI_MARKET_PREDICTOR_ATLAS_RESULTS.md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2017–2023 sandbox contained 1,699 common anchors across 28 frozen predictor-target cells. The best observed correlation was far inside the maximum-statistic null surface; 250/25 was negative rather than weakly positive.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Project\Time-Series-Modeling-Gen5\literature_studies\docs\GEN5_LIT_MOM_01_3_SPY_HORIZON_SURFACE_RESULTS.md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Project\Time-Series-Modeling-Gen5\runs\research_workbench\literature_grounded\lit_mom_01_3_spy_horizon_surface_20260821\visuals\mom013_surface_heatmaps.png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92 assets were eligible. Positive TRAIN nominees received exactly one fixed DEVELOPMENT test. Plain ETFs, engineered ETFs, and stocks all failed their predeclared within-stratum multiplicity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Project\Time-Series-Modeling-Gen5\literature_studies\docs\GEN5_LIT_MOM_01_4_MULTI_MARKET_PREDICTOR_ATLAS_RESULTS.md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Project\Time-Series-Modeling-Gen5\runs\research_workbench\literature_grounded\lit_mom_01_4_multi_market_predictor_atlas_20260821\visuals\mom014_development_fdr.png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second phase follows the intuition pump: perhaps two equal trailing returns should imply different futures when one arose smoothly and the other from a shock. The test requires that extra description to improve proper forecast loss, not merely look appealing on a chart.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Project\Time-Series-Modeling-Gen5\literature_studies\docs\GEN5_LIT_MOM_01_5_PATH_QUALITY_FORECAST_COMPARISON_RESULTS.md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Project\Time-Series-Modeling-Gen5\literature_studies\docs\GEN5_LIT_IMOM_01_2_30MIN_PATH_QUALITY_FORECAST_COMPARISON_RESULTS.md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intercept-only drift baseline is deliberately hard to beat: it asks whether recent path information improves the average future-return forecast. SQQQ failed the frozen full-rank gate at L250; all its partial cells were discarded.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Project\Time-Series-Modeling-Gen5\literature_studies\docs\GEN5_LIT_MOM_01_5_PATH_QUALITY_FORECAST_COMPARISON_RESULTS.md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Project\Time-Series-Modeling-Gen5\runs\research_workbench\literature_grounded\lit_mom_01_5_path_quality_forecast_comparison_20260821\visuals\mom015_model_loss_comparison.png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few point estimates looked better, but the family-level question was whether any asset carried stable incremental path-quality information after multiplicity. The answer was no.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Project\Time-Series-Modeling-Gen5\literature_studies\docs\GEN5_LIT_MOM_01_5_PATH_QUALITY_FORECAST_COMPARISON_RESULTS.md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Project\Time-Series-Modeling-Gen5\runs\research_workbench\literature_grounded\lit_mom_01_5_path_quality_forecast_comparison_20260821\visuals\mom015_primary_fdr.png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hypothesis was transported in bar units rather than rescaled to preserve daily calendar durations. Both the exact drop-in and clock-aware chains produced the same model ranking.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Project\Time-Series-Modeling-Gen5\literature_studies\docs\GEN5_LIT_IMOM_01_2_30MIN_PATH_QUALITY_FORECAST_COMPARISON_RESULTS.md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Project\Time-Series-Modeling-Gen5\runs\research_workbench\literature_grounded\lit_imom_01_2_30min_path_quality_forecast_comparison_20260821\visuals\imom012_model_loss_comparison.png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diagnostic separates targets that remain within a session from targets that cross a session boundary. Neither location produced positive path-quality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Project\Time-Series-Modeling-Gen5\literature_studies\docs\GEN5_LIT_IMOM_01_2_30MIN_PATH_QUALITY_FORECAST_COMPARISON_RESULTS.md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Project\Time-Series-Modeling-Gen5\runs\research_workbench\literature_grounded\lit_imom_01_2_30min_path_quality_forecast_comparison_20260821\visuals\imom012_slot_diagnostic.png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phase introduces a distinct recurrence mechanism: a stock's relative move in one 30-minute slot may repeat in that same slot on the next session. The placebo surface asks whether the named clock alignment is actually special.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same-slot term enters only after the clock baseline and the prior-day relative-return challenger. Twelve circular source-slot displacements provide a direct placebo test of clock specificity.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Project\Time-Series-Modeling-Gen5\runs\research_workbench\literature_grounded\lit_imom_01_3_same_slot_relative_momentum_20260821\run_spec.json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panel contrasts are the primary evidence. G10, S21, S20, and the specificity contrast U were all negative, with strictly negative 90% bootstrap intervals.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Project\Time-Series-Modeling-Gen5\runs\research_workbench\literature_grounded\lit_imom_01_3_same_slot_relative_momentum_20260821\visuals\imom013_panel_intervals.png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genuine recurring clock mechanism should make displacement zero stand out. It did not: the best displaced alignment was less harmful than the named same-slot alignment.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Project\Time-Series-Modeling-Gen5\runs\research_workbench\literature_grounded\lit_imom_01_3_same_slot_relative_momentum_20260821\visuals\imom013_wrong_clock_surface.png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diagnostic explains why the hypothesis could feel plausible during discovery. Positive fitted recurrence was common in TRAIN, but it did not transport into broad DEVELOPMENT forecast improvement or FDR-controlled candidates.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  <a:p xmlns:a="http://schemas.openxmlformats.org/drawingml/2006/main">
            <a:r>
              <a:t>- C:\Users\Franc\OneDrive\Documents\Francis\Peltata Project\Time-Series-Modeling-Gen5\runs\research_workbench\literature_grounded\lit_imom_01_3_same_slot_relative_momentum_20260821\visuals\imom013_same_slot_coefficients.png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positive learning: simple price-path descriptions repeatedly failed to add robust conditional forecast information. A next hypothesis should introduce a distinct, predeclared causal mechanism rather than relax these stopped specifications.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Project\Time-Series-Modeling-Gen5\literature_studies\docs\GEN5_LIT_MOM_01_3_SPY_HORIZON_SURFACE_RESULTS.md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Project\Time-Series-Modeling-Gen5\literature_studies\docs\GEN5_LIT_MOM_01_4_MULTI_MARKET_PREDICTOR_ATLAS_RESULTS.md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Project\Time-Series-Modeling-Gen5\literature_studies\docs\GEN5_LIT_MOM_01_5_PATH_QUALITY_FORECAST_COMPARISON_RESULTS.md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Project\Time-Series-Modeling-Gen5\literature_studies\docs\GEN5_LIT_IMOM_01_2_30MIN_PATH_QUALITY_FORECAST_COMPARISON_RESULTS.md</a:t>
            </a:r>
          </a:p>
          <a:p xmlns:a="http://schemas.openxmlformats.org/drawingml/2006/main">
            <a:r>
              <a:t>- C:\Users\Franc\OneDrive\Documents\Francis\Peltata Project\Time-Series-Modeling-Gen5\literature_studies\docs\GEN5_LIT_IMOM_01_3_SAME_SLOT_RELATIVE_MOMENTUM_RESULTS.md</a:t>
            </a:r>
          </a:p>
          <a:p xmlns:a="http://schemas.openxmlformats.org/drawingml/2006/main">
            <a:r>
              <a:t>- C:\Users\Franc\OneDrive\Documents\Francis\Peltata Project\Time-Series-Modeling-Gen5\docs\GEN5_1_POC_PROGRESS_LOG.md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71b1e112a4b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110aa9e53a24427" /><Relationship Type="http://schemas.openxmlformats.org/officeDocument/2006/relationships/slideLayout" Target="/ppt/slideLayouts/slideLayout1.xml" Id="R59b52f74b71c46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b52f74b71c46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ba9eaa18748eb" /><Relationship Type="http://schemas.openxmlformats.org/officeDocument/2006/relationships/image" Target="/ppt/media/image.png" Id="R804fd33d42614007" /><Relationship Type="http://schemas.openxmlformats.org/officeDocument/2006/relationships/notesSlide" Target="/ppt/notesSlides/notesSlide1.xml" Id="R9e32cc17e33841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3b24bddbe4d9e" /><Relationship Type="http://schemas.openxmlformats.org/officeDocument/2006/relationships/notesSlide" Target="/ppt/notesSlides/notesSlide2.xml" Id="R8469a89691e348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1c757251bb4f9c" /><Relationship Type="http://schemas.openxmlformats.org/officeDocument/2006/relationships/image" Target="/ppt/media/image2.png" Id="Rfabce573265444b2" /><Relationship Type="http://schemas.openxmlformats.org/officeDocument/2006/relationships/notesSlide" Target="/ppt/notesSlides/notesSlide3.xml" Id="R01e49283ab2a4c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5cfe06b7740c1" /><Relationship Type="http://schemas.openxmlformats.org/officeDocument/2006/relationships/image" Target="/ppt/media/image3.png" Id="R3e0ba3e59cb84e7e" /><Relationship Type="http://schemas.openxmlformats.org/officeDocument/2006/relationships/notesSlide" Target="/ppt/notesSlides/notesSlide4.xml" Id="Recccead0bc6547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a4a72944c4fe2" /><Relationship Type="http://schemas.openxmlformats.org/officeDocument/2006/relationships/image" Target="/ppt/media/image4.png" Id="Rfbe8a54073254002" /><Relationship Type="http://schemas.openxmlformats.org/officeDocument/2006/relationships/notesSlide" Target="/ppt/notesSlides/notesSlide5.xml" Id="R30b703d0628a40b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8eca8e4394414" /><Relationship Type="http://schemas.openxmlformats.org/officeDocument/2006/relationships/image" Target="/ppt/media/image5.png" Id="Rfc42d67a55c2488a" /><Relationship Type="http://schemas.openxmlformats.org/officeDocument/2006/relationships/notesSlide" Target="/ppt/notesSlides/notesSlide6.xml" Id="R92f0d044cb3f43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250e24b5d4937" /><Relationship Type="http://schemas.openxmlformats.org/officeDocument/2006/relationships/image" Target="/ppt/media/image6.png" Id="Ra1883ba40523488c" /><Relationship Type="http://schemas.openxmlformats.org/officeDocument/2006/relationships/notesSlide" Target="/ppt/notesSlides/notesSlide7.xml" Id="Ra68810b34b254e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5bf37a9104f40" /><Relationship Type="http://schemas.openxmlformats.org/officeDocument/2006/relationships/image" Target="/ppt/media/image7.png" Id="Rc1c24f189ee14f4d" /><Relationship Type="http://schemas.openxmlformats.org/officeDocument/2006/relationships/notesSlide" Target="/ppt/notesSlides/notesSlide8.xml" Id="R07fb6b62140a47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d86744f0a4f75" /><Relationship Type="http://schemas.openxmlformats.org/officeDocument/2006/relationships/image" Target="/ppt/media/image8.png" Id="R6d7194ae46ff4708" /><Relationship Type="http://schemas.openxmlformats.org/officeDocument/2006/relationships/notesSlide" Target="/ppt/notesSlides/notesSlide9.xml" Id="R8ea5ece29ea440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9da900c4b4cd1" /><Relationship Type="http://schemas.openxmlformats.org/officeDocument/2006/relationships/image" Target="/ppt/media/image9.png" Id="Ra4cfa26d5f3046e3" /><Relationship Type="http://schemas.openxmlformats.org/officeDocument/2006/relationships/notesSlide" Target="/ppt/notesSlides/notesSlide10.xml" Id="Ra05d549c004f48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97a2f59344a82" /><Relationship Type="http://schemas.openxmlformats.org/officeDocument/2006/relationships/image" Target="/ppt/media/image10.png" Id="Rd726a71fe8484959" /><Relationship Type="http://schemas.openxmlformats.org/officeDocument/2006/relationships/notesSlide" Target="/ppt/notesSlides/notesSlide11.xml" Id="R94f1be7467254e4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c30492330477d" /><Relationship Type="http://schemas.openxmlformats.org/officeDocument/2006/relationships/notesSlide" Target="/ppt/notesSlides/notesSlide12.xml" Id="R0f310fafe6db49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eace4500e847e9" /><Relationship Type="http://schemas.openxmlformats.org/officeDocument/2006/relationships/image" Target="/ppt/media/image11.png" Id="R6ec8edf1b4054406" /><Relationship Type="http://schemas.openxmlformats.org/officeDocument/2006/relationships/notesSlide" Target="/ppt/notesSlides/notesSlide13.xml" Id="R92a90ac7ce9e47b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7a63a523ec45b8" /><Relationship Type="http://schemas.openxmlformats.org/officeDocument/2006/relationships/image" Target="/ppt/media/image12.png" Id="Rc905a9990a4241f6" /><Relationship Type="http://schemas.openxmlformats.org/officeDocument/2006/relationships/notesSlide" Target="/ppt/notesSlides/notesSlide14.xml" Id="R9819400a33ab4f4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85ddf202443ca" /><Relationship Type="http://schemas.openxmlformats.org/officeDocument/2006/relationships/image" Target="/ppt/media/image13.png" Id="R68e2f7d972384bcc" /><Relationship Type="http://schemas.openxmlformats.org/officeDocument/2006/relationships/notesSlide" Target="/ppt/notesSlides/notesSlide15.xml" Id="R43e9d2d1eb1e4e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8583d86784f85" /><Relationship Type="http://schemas.openxmlformats.org/officeDocument/2006/relationships/notesSlide" Target="/ppt/notesSlides/notesSlide16.xml" Id="R29c9350b78e244c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DBF2003E-F000-4B81-8BC8-7F1E69E9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255774B-7429-47C5-A3C4-7E685BB3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LIT-MOM-01.3–01.5 + LIT-IMOM-01.2–01.3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4653E3E-0AC9-494A-98EA-9ACACAA9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9650"/>
            <a:ext cx="5286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Momentum prediction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under falsification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BE5B062-40D5-406B-8B38-6A85DE05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Five direct forecast tests · daily and 30-minute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No trading policy opened</a:t>
            </a:r>
          </a:p>
        </p:txBody>
      </p:sp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1D8FB125-2A7F-4508-B65E-85B47214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28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6A47"/>
                </a:solidFill>
              </a:defRPr>
            </a:pPr>
            <a:r>
              <a:rPr sz="1350" b="1">
                <a:solidFill>
                  <a:srgbClr val="E46A47"/>
                </a:solidFill>
              </a:rPr>
              <a:t>EVIDENCE SERIES COMPLETE · ALL FIVE STOP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4fd33d42614007"/>
          <a:stretch xmlns:a="http://schemas.openxmlformats.org/drawingml/2006/main"/>
        </p:blipFill>
        <p:spPr>
          <a:xfrm xmlns:a="http://schemas.openxmlformats.org/drawingml/2006/main" flipH="0" flipV="0">
            <a:off x="6267450" y="1660525"/>
            <a:ext cx="5543550" cy="307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98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5">
            <a:extLst xmlns:a="http://schemas.openxmlformats.org/drawingml/2006/main">
              <a:ext uri="{FF2B5EF4-FFF2-40B4-BE49-F238E27FC236}">
                <a16:creationId xmlns:a16="http://schemas.microsoft.com/office/drawing/2014/main" id="{FE5C6AA5-A332-48B8-8B13-FED934A6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Five tests narrowed the momentum story before strategy</a:t>
            </a:r>
          </a:p>
        </p:txBody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7FD00113-27FC-4972-9844-E7411177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EVIDENCE LADDER</a:t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D6B86FFB-6852-4634-9E3C-7F3F1426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2</a:t>
            </a:r>
          </a:p>
        </p:txBody>
      </p:sp>
      <p:sp>
        <p:nvSpPr>
          <p:cNvPr id="4" name="gate-lead">
            <a:extLst xmlns:a="http://schemas.openxmlformats.org/drawingml/2006/main">
              <a:ext uri="{FF2B5EF4-FFF2-40B4-BE49-F238E27FC236}">
                <a16:creationId xmlns:a16="http://schemas.microsoft.com/office/drawing/2014/main" id="{6E131196-0832-46F0-BA7B-3B712B4A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0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Each pivot changed one scientific question while preserving causal timing, fresh DEVELOPMENT evidence, multiplicity control, and sealed confirmation data.</a:t>
            </a:r>
          </a:p>
        </p:txBody>
      </p:sp>
      <p:sp>
        <p:nvSpPr>
          <p:cNvPr id="5" name="gmark-0">
            <a:extLst xmlns:a="http://schemas.openxmlformats.org/drawingml/2006/main">
              <a:ext uri="{FF2B5EF4-FFF2-40B4-BE49-F238E27FC236}">
                <a16:creationId xmlns:a16="http://schemas.microsoft.com/office/drawing/2014/main" id="{FD6D821B-36EC-48EB-8BB4-FA6F1C3B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31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8D"/>
          </a:solidFill>
          <a:ln xmlns:a="http://schemas.openxmlformats.org/drawingml/2006/main" w="9525">
            <a:solidFill>
              <a:srgbClr val="167D8D"/>
            </a:solidFill>
            <a:prstDash val="solid"/>
          </a:ln>
        </p:spPr>
      </p:sp>
      <p:sp>
        <p:nvSpPr>
          <p:cNvPr id="6" name="gate-0">
            <a:extLst xmlns:a="http://schemas.openxmlformats.org/drawingml/2006/main">
              <a:ext uri="{FF2B5EF4-FFF2-40B4-BE49-F238E27FC236}">
                <a16:creationId xmlns:a16="http://schemas.microsoft.com/office/drawing/2014/main" id="{60B1149B-F06F-48E7-B200-A79D428C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01.3 · SPY horizon surface: no search-adjusted cell</a:t>
            </a:r>
          </a:p>
        </p:txBody>
      </p:sp>
      <p:sp>
        <p:nvSpPr>
          <p:cNvPr id="7" name="gmark-1">
            <a:extLst xmlns:a="http://schemas.openxmlformats.org/drawingml/2006/main">
              <a:ext uri="{FF2B5EF4-FFF2-40B4-BE49-F238E27FC236}">
                <a16:creationId xmlns:a16="http://schemas.microsoft.com/office/drawing/2014/main" id="{AD59BB0C-6B50-4E8A-9E2C-3FF9C622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042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8D"/>
          </a:solidFill>
          <a:ln xmlns:a="http://schemas.openxmlformats.org/drawingml/2006/main" w="9525">
            <a:solidFill>
              <a:srgbClr val="167D8D"/>
            </a:solidFill>
            <a:prstDash val="solid"/>
          </a:ln>
        </p:spPr>
      </p:sp>
      <p:sp>
        <p:nvSpPr>
          <p:cNvPr id="8" name="gate-1">
            <a:extLst xmlns:a="http://schemas.openxmlformats.org/drawingml/2006/main">
              <a:ext uri="{FF2B5EF4-FFF2-40B4-BE49-F238E27FC236}">
                <a16:creationId xmlns:a16="http://schemas.microsoft.com/office/drawing/2014/main" id="{AF6DB276-A095-47D5-A8EA-306196F5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01.4 · 92-asset transport: zero FDR survivors</a:t>
            </a:r>
          </a:p>
        </p:txBody>
      </p:sp>
      <p:sp>
        <p:nvSpPr>
          <p:cNvPr id="9" name="gmark-2">
            <a:extLst xmlns:a="http://schemas.openxmlformats.org/drawingml/2006/main">
              <a:ext uri="{FF2B5EF4-FFF2-40B4-BE49-F238E27FC236}">
                <a16:creationId xmlns:a16="http://schemas.microsoft.com/office/drawing/2014/main" id="{ED202B14-EC23-4C32-88C3-B432C7E6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76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8D"/>
          </a:solidFill>
          <a:ln xmlns:a="http://schemas.openxmlformats.org/drawingml/2006/main" w="9525">
            <a:solidFill>
              <a:srgbClr val="167D8D"/>
            </a:solidFill>
            <a:prstDash val="solid"/>
          </a:ln>
        </p:spPr>
      </p:sp>
      <p:sp>
        <p:nvSpPr>
          <p:cNvPr id="10" name="gate-2">
            <a:extLst xmlns:a="http://schemas.openxmlformats.org/drawingml/2006/main">
              <a:ext uri="{FF2B5EF4-FFF2-40B4-BE49-F238E27FC236}">
                <a16:creationId xmlns:a16="http://schemas.microsoft.com/office/drawing/2014/main" id="{0CCA4E25-C0DD-4AFA-98AD-1B9DDDC2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01.5 · Daily path quality: drift best for 77/91</a:t>
            </a:r>
          </a:p>
        </p:txBody>
      </p:sp>
      <p:sp>
        <p:nvSpPr>
          <p:cNvPr id="11" name="gmark-3">
            <a:extLst xmlns:a="http://schemas.openxmlformats.org/drawingml/2006/main">
              <a:ext uri="{FF2B5EF4-FFF2-40B4-BE49-F238E27FC236}">
                <a16:creationId xmlns:a16="http://schemas.microsoft.com/office/drawing/2014/main" id="{74668BA7-D973-493C-955B-25BB0410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431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73A"/>
          </a:solidFill>
          <a:ln xmlns:a="http://schemas.openxmlformats.org/drawingml/2006/main" w="9525">
            <a:solidFill>
              <a:srgbClr val="D3A73A"/>
            </a:solidFill>
            <a:prstDash val="solid"/>
          </a:ln>
        </p:spPr>
      </p:sp>
      <p:sp>
        <p:nvSpPr>
          <p:cNvPr id="12" name="gate-3">
            <a:extLst xmlns:a="http://schemas.openxmlformats.org/drawingml/2006/main">
              <a:ext uri="{FF2B5EF4-FFF2-40B4-BE49-F238E27FC236}">
                <a16:creationId xmlns:a16="http://schemas.microsoft.com/office/drawing/2014/main" id="{FDAADC50-1106-49C2-8E84-C4708E8B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7650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01.2 · 30-minute path quality: path best for 0/26</a:t>
            </a:r>
          </a:p>
        </p:txBody>
      </p:sp>
      <p:sp>
        <p:nvSpPr>
          <p:cNvPr id="13" name="gmark-4">
            <a:extLst xmlns:a="http://schemas.openxmlformats.org/drawingml/2006/main">
              <a:ext uri="{FF2B5EF4-FFF2-40B4-BE49-F238E27FC236}">
                <a16:creationId xmlns:a16="http://schemas.microsoft.com/office/drawing/2014/main" id="{44E2DCDC-C427-4B36-BB2B-E12CDE27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73A"/>
          </a:solidFill>
          <a:ln xmlns:a="http://schemas.openxmlformats.org/drawingml/2006/main" w="9525">
            <a:solidFill>
              <a:srgbClr val="D3A73A"/>
            </a:solidFill>
            <a:prstDash val="solid"/>
          </a:ln>
        </p:spPr>
      </p:sp>
      <p:sp>
        <p:nvSpPr>
          <p:cNvPr id="14" name="gate-4">
            <a:extLst xmlns:a="http://schemas.openxmlformats.org/drawingml/2006/main">
              <a:ext uri="{FF2B5EF4-FFF2-40B4-BE49-F238E27FC236}">
                <a16:creationId xmlns:a16="http://schemas.microsoft.com/office/drawing/2014/main" id="{384B3A1A-8F7A-4FE9-931F-C314AF34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01.3 · Same slot: every panel contrast was negative</a:t>
            </a:r>
          </a:p>
        </p:txBody>
      </p:sp>
      <p:sp>
        <p:nvSpPr>
          <p:cNvPr id="15" name="gmark-5">
            <a:extLst xmlns:a="http://schemas.openxmlformats.org/drawingml/2006/main">
              <a:ext uri="{FF2B5EF4-FFF2-40B4-BE49-F238E27FC236}">
                <a16:creationId xmlns:a16="http://schemas.microsoft.com/office/drawing/2014/main" id="{98618CDA-898C-47CB-8351-6029438D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57675"/>
            <a:ext cx="14287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73A"/>
          </a:solidFill>
          <a:ln xmlns:a="http://schemas.openxmlformats.org/drawingml/2006/main" w="9525">
            <a:solidFill>
              <a:srgbClr val="D3A73A"/>
            </a:solidFill>
            <a:prstDash val="solid"/>
          </a:ln>
        </p:spPr>
      </p:sp>
      <p:sp>
        <p:nvSpPr>
          <p:cNvPr id="16" name="gate-5">
            <a:extLst xmlns:a="http://schemas.openxmlformats.org/drawingml/2006/main">
              <a:ext uri="{FF2B5EF4-FFF2-40B4-BE49-F238E27FC236}">
                <a16:creationId xmlns:a16="http://schemas.microsoft.com/office/drawing/2014/main" id="{5255271D-D86A-4A1D-9B71-1D057F58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91000"/>
            <a:ext cx="504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Across all five: preserve 2024+ and keep policy surfaces closed</a:t>
            </a:r>
          </a:p>
        </p:txBody>
      </p:sp>
    </p:spTree>
    <p:extLst>
      <p:ext uri="{BB962C8B-B14F-4D97-AF65-F5344CB8AC3E}">
        <p14:creationId xmlns:p14="http://schemas.microsoft.com/office/powerpoint/2010/main" val="9954249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DBF2003E-F000-4B81-8BC8-7F1E69E9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255774B-7429-47C5-A3C4-7E685BB3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PHASE 1 · DAILY OWN-RETURN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4653E3E-0AC9-494A-98EA-9ACACAA9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9650"/>
            <a:ext cx="5286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Does raw continuation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survive direct prediction?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BE5B062-40D5-406B-8B38-6A85DE05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Start with SPY, then demand transport across a frozen 92-asset atlas.</a:t>
            </a:r>
          </a:p>
        </p:txBody>
      </p:sp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1D8FB125-2A7F-4508-B65E-85B47214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28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6A47"/>
                </a:solidFill>
              </a:defRPr>
            </a:pPr>
            <a:r>
              <a:rPr sz="1350" b="1">
                <a:solidFill>
                  <a:srgbClr val="E46A47"/>
                </a:solidFill>
              </a:rPr>
              <a:t>TESTS 01.3–01.4 · STRATEGY CLOSED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bce573265444b2"/>
          <a:stretch xmlns:a="http://schemas.openxmlformats.org/drawingml/2006/main"/>
        </p:blipFill>
        <p:spPr>
          <a:xfrm xmlns:a="http://schemas.openxmlformats.org/drawingml/2006/main" flipH="0" flipV="0">
            <a:off x="6267450" y="1660525"/>
            <a:ext cx="5543550" cy="307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98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SPY's horizon surface was reversal-shaped, not continuation-shaped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DAILY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4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Largest rho was +0.0162 versus a +0.1771 search-adjusted p90 threshold; canonical 250/25 rho was −0.1186.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0ba3e59cb84e7e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Breadth did not rescue the daily own-return clue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TRANSPORT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5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Seventy-nine fixed nominees produced 19 positive DEVELOPMENT rhos—and zero within-stratum BH q ≤ 0.10 survivors.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8a54073254002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DBF2003E-F000-4B81-8BC8-7F1E69E9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255774B-7429-47C5-A3C4-7E685BB3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PHASE 2 · PATH QUALITY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4653E3E-0AC9-494A-98EA-9ACACAA9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9650"/>
            <a:ext cx="5286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Does a coherent path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forecast better than its endpoint?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BE5B062-40D5-406B-8B38-6A85DE05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Add causal path coherence and shock concentration—then compare them with drift and raw return.</a:t>
            </a:r>
          </a:p>
        </p:txBody>
      </p:sp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1D8FB125-2A7F-4508-B65E-85B47214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28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6A47"/>
                </a:solidFill>
              </a:defRPr>
            </a:pPr>
            <a:r>
              <a:rPr sz="1350" b="1">
                <a:solidFill>
                  <a:srgbClr val="E46A47"/>
                </a:solidFill>
              </a:rPr>
              <a:t>DAILY + 30-MINUTE · TESTS 01.5 AND 01.2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42d67a55c2488a"/>
          <a:stretch xmlns:a="http://schemas.openxmlformats.org/drawingml/2006/main"/>
        </p:blipFill>
        <p:spPr>
          <a:xfrm xmlns:a="http://schemas.openxmlformats.org/drawingml/2006/main" flipH="0" flipV="0">
            <a:off x="6267450" y="1660525"/>
            <a:ext cx="5543550" cy="307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98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Path quality lost to a constant-drift forecast on most daily assets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DAILY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7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Across 91 eligible assets and 2,184 cells, drift was lowest-loss for 77 assets, raw return for 13, and path quality for one.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83ba40523488c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Isolated path wins vanished under asset-level multiplicity control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MULTIPLICITY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8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Path beat raw return in 14/90 assets, but no controlled clue survived; the minimum D21 BH q was 0.3765.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c24f189ee14f4d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A 30-minute drop-in preserved the ranking: baseline, raw, then path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30-MINUTE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9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All 26 instruments and 624 cells were eligible; the baseline was lowest-loss for 21/26 and path quality for 0/26.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194ae46ff4708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Intraday slot and session boundaries did not hide a rescue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DIAGNOSTIC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10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Every L/H cell median and every predeclared slot/session-crossing path diagnostic was negative.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cfa26d5f3046e3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DBF2003E-F000-4B81-8BC8-7F1E69E9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255774B-7429-47C5-A3C4-7E685BB3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PHASE 3 · CLOCK-SPECIFIC RECURRENCE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4653E3E-0AC9-494A-98EA-9ACACAA9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09650"/>
            <a:ext cx="5286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Does relative momentum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111827"/>
                </a:solidFill>
              </a:defRPr>
            </a:pPr>
            <a:r>
              <a:rPr sz="3900" b="1">
                <a:solidFill>
                  <a:srgbClr val="111827"/>
                </a:solidFill>
              </a:rPr>
              <a:t>repeat by clock time?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BE5B062-40D5-406B-8B38-6A85DE05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Replace generic trend with a narrower market-microstructure story—and demand wrong-clock specificity.</a:t>
            </a:r>
          </a:p>
        </p:txBody>
      </p:sp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1D8FB125-2A7F-4508-B65E-85B47214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2863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6A47"/>
                </a:solidFill>
              </a:defRPr>
            </a:pPr>
            <a:r>
              <a:rPr sz="1350" b="1">
                <a:solidFill>
                  <a:srgbClr val="E46A47"/>
                </a:solidFill>
              </a:rPr>
              <a:t>LIT-IMOM-01.3 · 2024+ SEALED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26a71fe8484959"/>
          <a:stretch xmlns:a="http://schemas.openxmlformats.org/drawingml/2006/main"/>
        </p:blipFill>
        <p:spPr>
          <a:xfrm xmlns:a="http://schemas.openxmlformats.org/drawingml/2006/main" flipH="0" flipV="0">
            <a:off x="6267450" y="1660525"/>
            <a:ext cx="5543550" cy="3079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798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2">
            <a:extLst xmlns:a="http://schemas.openxmlformats.org/drawingml/2006/main">
              <a:ext uri="{FF2B5EF4-FFF2-40B4-BE49-F238E27FC236}">
                <a16:creationId xmlns:a16="http://schemas.microsoft.com/office/drawing/2014/main" id="{CC57C1DA-22D2-4393-A478-876E6061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Same-slot momentum asked for recurrence—not generic intraday trend</a:t>
            </a:r>
          </a:p>
        </p:txBody>
      </p:sp>
      <p:sp>
        <p:nvSpPr>
          <p:cNvPr id="2" name="section-2">
            <a:extLst xmlns:a="http://schemas.openxmlformats.org/drawingml/2006/main">
              <a:ext uri="{FF2B5EF4-FFF2-40B4-BE49-F238E27FC236}">
                <a16:creationId xmlns:a16="http://schemas.microsoft.com/office/drawing/2014/main" id="{B10797AA-5F17-46BF-A209-C0012CAA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LIT-IMOM-01.3 · DESIGN</a:t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027AA98B-7DC4-44D5-91EF-0CBB3B00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12</a:t>
            </a:r>
          </a:p>
        </p:txBody>
      </p:sp>
      <p:sp>
        <p:nvSpPr>
          <p:cNvPr id="4" name="lead-2">
            <a:extLst xmlns:a="http://schemas.openxmlformats.org/drawingml/2006/main">
              <a:ext uri="{FF2B5EF4-FFF2-40B4-BE49-F238E27FC236}">
                <a16:creationId xmlns:a16="http://schemas.microsoft.com/office/drawing/2014/main" id="{8AEB2C29-A634-46E4-A808-F88FB54B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71625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A6470"/>
                </a:solidFill>
              </a:defRPr>
            </a:pPr>
            <a:r>
              <a:rPr sz="1800" b="0">
                <a:solidFill>
                  <a:srgbClr val="5A6470"/>
                </a:solidFill>
              </a:rPr>
              <a:t>For each stock and 30-minute slot k, use yesterday's SPY-relative return in slot k to forecast today's relative return in the same slot. The target must improve on clock seasonality and prior-day momentum.</a:t>
            </a:r>
          </a:p>
        </p:txBody>
      </p:sp>
      <p:sp>
        <p:nvSpPr>
          <p:cNvPr id="5" name="formula-panel-2">
            <a:extLst xmlns:a="http://schemas.openxmlformats.org/drawingml/2006/main">
              <a:ext uri="{FF2B5EF4-FFF2-40B4-BE49-F238E27FC236}">
                <a16:creationId xmlns:a16="http://schemas.microsoft.com/office/drawing/2014/main" id="{DFB5541A-647E-4DE5-9984-503C77AD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538162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F2F2F2"/>
            </a:solidFill>
            <a:prstDash val="solid"/>
          </a:ln>
        </p:spPr>
      </p:sp>
      <p:sp>
        <p:nvSpPr>
          <p:cNvPr id="6" name="formula-2-0">
            <a:extLst xmlns:a="http://schemas.openxmlformats.org/drawingml/2006/main">
              <a:ext uri="{FF2B5EF4-FFF2-40B4-BE49-F238E27FC236}">
                <a16:creationId xmlns:a16="http://schemas.microsoft.com/office/drawing/2014/main" id="{63BF4897-DE0F-49BB-B76D-202A2819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28800"/>
            <a:ext cx="461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67D8D"/>
                </a:solidFill>
              </a:defRPr>
            </a:pPr>
            <a:r>
              <a:rPr sz="1950" b="1">
                <a:solidFill>
                  <a:srgbClr val="167D8D"/>
                </a:solidFill>
              </a:rPr>
              <a:t>xₜ,ₖ = rstockₜ₋₁,ₖ − rSPYₜ₋₁,ₖ</a:t>
            </a:r>
          </a:p>
        </p:txBody>
      </p:sp>
      <p:sp>
        <p:nvSpPr>
          <p:cNvPr id="7" name="formula-2-1">
            <a:extLst xmlns:a="http://schemas.openxmlformats.org/drawingml/2006/main">
              <a:ext uri="{FF2B5EF4-FFF2-40B4-BE49-F238E27FC236}">
                <a16:creationId xmlns:a16="http://schemas.microsoft.com/office/drawing/2014/main" id="{C4E3869B-07C3-4612-873A-41545367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61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27"/>
                </a:solidFill>
              </a:defRPr>
            </a:pPr>
            <a:r>
              <a:rPr sz="1950" b="0">
                <a:solidFill>
                  <a:srgbClr val="111827"/>
                </a:solidFill>
              </a:rPr>
              <a:t>yₜ,ₖ = rstockₜ,ₖ − rSPYₜ,ₖ</a:t>
            </a:r>
          </a:p>
        </p:txBody>
      </p:sp>
      <p:sp>
        <p:nvSpPr>
          <p:cNvPr id="8" name="formula-2-2">
            <a:extLst xmlns:a="http://schemas.openxmlformats.org/drawingml/2006/main">
              <a:ext uri="{FF2B5EF4-FFF2-40B4-BE49-F238E27FC236}">
                <a16:creationId xmlns:a16="http://schemas.microsoft.com/office/drawing/2014/main" id="{C85D3FBA-447E-47ED-A5DC-0D60E81D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4619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27"/>
                </a:solidFill>
              </a:defRPr>
            </a:pPr>
            <a:r>
              <a:rPr sz="1950" b="0">
                <a:solidFill>
                  <a:srgbClr val="111827"/>
                </a:solidFill>
              </a:rPr>
              <a:t>CLOCK → PRIOR DAY → SAME SLOT → WRONG CLOCK</a:t>
            </a:r>
          </a:p>
        </p:txBody>
      </p:sp>
      <p:sp>
        <p:nvSpPr>
          <p:cNvPr id="9" name="interpret-2">
            <a:extLst xmlns:a="http://schemas.openxmlformats.org/drawingml/2006/main">
              <a:ext uri="{FF2B5EF4-FFF2-40B4-BE49-F238E27FC236}">
                <a16:creationId xmlns:a16="http://schemas.microsoft.com/office/drawing/2014/main" id="{E546D95B-DAC4-429E-A8CB-A7454C1A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57750"/>
            <a:ext cx="111918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Fresh DEVELOPMENT only · equal-weight 22-stock panel · 12 circular wrong-clock offsets · no target-slot selection · 2024+ sealed.</a:t>
            </a:r>
          </a:p>
        </p:txBody>
      </p:sp>
    </p:spTree>
    <p:extLst>
      <p:ext uri="{BB962C8B-B14F-4D97-AF65-F5344CB8AC3E}">
        <p14:creationId xmlns:p14="http://schemas.microsoft.com/office/powerpoint/2010/main" val="3982597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Every panel-level same-slot contrast was negative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DEVELOPMENT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13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All four 90% intervals lie below zero: same slot worsened loss versus clock, prior day, and the best wrong-clock placebo.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8edf1b4054406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The named clock alignment was no better than displaced placebos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FALSIFICATION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14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Same-slot improvement was −0.000360; wrong-clock offset 7 was less negative at −0.000197.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5a9990a4241f6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2D20EA2F-B831-4C95-80A2-D804E295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A positive TRAIN coefficient was common—and still not predictive enough</a:t>
            </a:r>
          </a:p>
        </p:txBody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B608694E-A84D-4B34-A7ED-535FAA3D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BREADTH</a:t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416BB4A2-0EF7-49FA-B524-967F1C2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15</a:t>
            </a:r>
          </a:p>
        </p:txBody>
      </p:sp>
      <p:sp>
        <p:nvSpPr>
          <p:cNvPr id="5" name="caption-6">
            <a:extLst xmlns:a="http://schemas.openxmlformats.org/drawingml/2006/main">
              <a:ext uri="{FF2B5EF4-FFF2-40B4-BE49-F238E27FC236}">
                <a16:creationId xmlns:a16="http://schemas.microsoft.com/office/drawing/2014/main" id="{64B5140C-FDDD-4B5C-815E-87C7DCA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6470"/>
                </a:solidFill>
              </a:defRPr>
            </a:pPr>
            <a:r>
              <a:rPr sz="1350" b="0">
                <a:solidFill>
                  <a:srgbClr val="5A6470"/>
                </a:solidFill>
              </a:rPr>
              <a:t>Thirteen of 22 candidate coefficients were positive in TRAIN; same slot was lowest-loss for only 5/22 in DEVELOPMENT; 0 survived.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2f7d972384bcc"/>
          <a:stretch xmlns:a="http://schemas.openxmlformats.org/drawingml/2006/main"/>
        </p:blipFill>
        <p:spPr>
          <a:xfrm xmlns:a="http://schemas.openxmlformats.org/drawingml/2006/main" flipH="0" flipV="0">
            <a:off x="2131695" y="1409700"/>
            <a:ext cx="7852410" cy="436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4114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10">
            <a:extLst xmlns:a="http://schemas.openxmlformats.org/drawingml/2006/main">
              <a:ext uri="{FF2B5EF4-FFF2-40B4-BE49-F238E27FC236}">
                <a16:creationId xmlns:a16="http://schemas.microsoft.com/office/drawing/2014/main" id="{328B673C-2321-490C-8E31-7D95273C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11827"/>
                </a:solidFill>
              </a:defRPr>
            </a:pPr>
            <a:r>
              <a:rPr sz="2775" b="1">
                <a:solidFill>
                  <a:srgbClr val="111827"/>
                </a:solidFill>
              </a:rPr>
              <a:t>Three increasingly specific momentum stories failed</a:t>
            </a:r>
          </a:p>
        </p:txBody>
      </p:sp>
      <p:sp>
        <p:nvSpPr>
          <p:cNvPr id="2" name="section-10">
            <a:extLst xmlns:a="http://schemas.openxmlformats.org/drawingml/2006/main">
              <a:ext uri="{FF2B5EF4-FFF2-40B4-BE49-F238E27FC236}">
                <a16:creationId xmlns:a16="http://schemas.microsoft.com/office/drawing/2014/main" id="{03C0456A-3709-406E-8FF6-EA187948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57275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D8D"/>
                </a:solidFill>
              </a:defRPr>
            </a:pPr>
            <a:r>
              <a:rPr sz="1200" b="1">
                <a:solidFill>
                  <a:srgbClr val="167D8D"/>
                </a:solidFill>
              </a:rPr>
              <a:t>DECISION</a:t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E4ABC01A-A7D2-42AF-9EAA-2B202CE6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28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A6470"/>
                </a:solidFill>
              </a:defRPr>
            </a:pPr>
            <a:r>
              <a:rPr sz="975" b="0">
                <a:solidFill>
                  <a:srgbClr val="5A6470"/>
                </a:solidFill>
              </a:rPr>
              <a:t>16</a:t>
            </a:r>
          </a:p>
        </p:txBody>
      </p:sp>
      <p:sp>
        <p:nvSpPr>
          <p:cNvPr id="4" name="thesis-10">
            <a:extLst xmlns:a="http://schemas.openxmlformats.org/drawingml/2006/main">
              <a:ext uri="{FF2B5EF4-FFF2-40B4-BE49-F238E27FC236}">
                <a16:creationId xmlns:a16="http://schemas.microsoft.com/office/drawing/2014/main" id="{C1CD9618-B6B8-4D0A-AD5F-E334D12C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111918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These were rigorous falsifications—not evidence that every possible momentum mechanism is absent.</a:t>
            </a:r>
          </a:p>
        </p:txBody>
      </p:sp>
      <p:sp>
        <p:nvSpPr>
          <p:cNvPr id="5" name="bullet-mark-10-0">
            <a:extLst xmlns:a="http://schemas.openxmlformats.org/drawingml/2006/main">
              <a:ext uri="{FF2B5EF4-FFF2-40B4-BE49-F238E27FC236}">
                <a16:creationId xmlns:a16="http://schemas.microsoft.com/office/drawing/2014/main" id="{D6A9FE8D-75B2-416A-ADB7-1A96C567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8D"/>
          </a:solidFill>
          <a:ln xmlns:a="http://schemas.openxmlformats.org/drawingml/2006/main" w="9525">
            <a:solidFill>
              <a:srgbClr val="167D8D"/>
            </a:solidFill>
            <a:prstDash val="solid"/>
          </a:ln>
        </p:spPr>
      </p:sp>
      <p:sp>
        <p:nvSpPr>
          <p:cNvPr id="6" name="bullet-10-0">
            <a:extLst xmlns:a="http://schemas.openxmlformats.org/drawingml/2006/main">
              <a:ext uri="{FF2B5EF4-FFF2-40B4-BE49-F238E27FC236}">
                <a16:creationId xmlns:a16="http://schemas.microsoft.com/office/drawing/2014/main" id="{E4A179DE-2CB6-4686-B532-3B56AFA1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Raw own-return continuation failed SPY search adjustment and cross-market FDR transport.</a:t>
            </a:r>
          </a:p>
        </p:txBody>
      </p:sp>
      <p:sp>
        <p:nvSpPr>
          <p:cNvPr id="7" name="bullet-mark-10-1">
            <a:extLst xmlns:a="http://schemas.openxmlformats.org/drawingml/2006/main">
              <a:ext uri="{FF2B5EF4-FFF2-40B4-BE49-F238E27FC236}">
                <a16:creationId xmlns:a16="http://schemas.microsoft.com/office/drawing/2014/main" id="{4E2CA250-A245-43AA-BCF2-1D4F2485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52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6A47"/>
          </a:solidFill>
          <a:ln xmlns:a="http://schemas.openxmlformats.org/drawingml/2006/main" w="9525">
            <a:solidFill>
              <a:srgbClr val="E46A47"/>
            </a:solidFill>
            <a:prstDash val="solid"/>
          </a:ln>
        </p:spPr>
      </p:sp>
      <p:sp>
        <p:nvSpPr>
          <p:cNvPr id="8" name="bullet-10-1">
            <a:extLst xmlns:a="http://schemas.openxmlformats.org/drawingml/2006/main">
              <a:ext uri="{FF2B5EF4-FFF2-40B4-BE49-F238E27FC236}">
                <a16:creationId xmlns:a16="http://schemas.microsoft.com/office/drawing/2014/main" id="{03DE52E0-B7C7-4ECA-8DC5-AF61B9F5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76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Path coherence added no stable forecast skill at daily or 30-minute resolution.</a:t>
            </a:r>
          </a:p>
        </p:txBody>
      </p:sp>
      <p:sp>
        <p:nvSpPr>
          <p:cNvPr id="9" name="bullet-mark-10-2">
            <a:extLst xmlns:a="http://schemas.openxmlformats.org/drawingml/2006/main">
              <a:ext uri="{FF2B5EF4-FFF2-40B4-BE49-F238E27FC236}">
                <a16:creationId xmlns:a16="http://schemas.microsoft.com/office/drawing/2014/main" id="{7037D4C5-A588-4871-AED3-4D739A7E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14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73A"/>
          </a:solidFill>
          <a:ln xmlns:a="http://schemas.openxmlformats.org/drawingml/2006/main" w="9525">
            <a:solidFill>
              <a:srgbClr val="D3A73A"/>
            </a:solidFill>
            <a:prstDash val="solid"/>
          </a:ln>
        </p:spPr>
      </p:sp>
      <p:sp>
        <p:nvSpPr>
          <p:cNvPr id="10" name="bullet-10-2">
            <a:extLst xmlns:a="http://schemas.openxmlformats.org/drawingml/2006/main">
              <a:ext uri="{FF2B5EF4-FFF2-40B4-BE49-F238E27FC236}">
                <a16:creationId xmlns:a16="http://schemas.microsoft.com/office/drawing/2014/main" id="{55809576-D5E7-42E1-9311-CBA19224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Clock-specific recurrence lost to seasonality, prior-day momentum, and wrong-clock controls.</a:t>
            </a:r>
          </a:p>
        </p:txBody>
      </p:sp>
      <p:sp>
        <p:nvSpPr>
          <p:cNvPr id="11" name="stop-10">
            <a:extLst xmlns:a="http://schemas.openxmlformats.org/drawingml/2006/main">
              <a:ext uri="{FF2B5EF4-FFF2-40B4-BE49-F238E27FC236}">
                <a16:creationId xmlns:a16="http://schemas.microsoft.com/office/drawing/2014/main" id="{653A3B9E-8A5D-416C-B2EA-41EB99E6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1119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E46A47"/>
                </a:solidFill>
              </a:defRPr>
            </a:pPr>
            <a:r>
              <a:rPr sz="1500" b="1">
                <a:solidFill>
                  <a:srgbClr val="E46A47"/>
                </a:solidFill>
              </a:rPr>
              <a:t>STOP: preserve 2024+ and do not rescue these specifications by mining horizons, assets, slots, baselines, or policies.</a:t>
            </a:r>
          </a:p>
        </p:txBody>
      </p:sp>
    </p:spTree>
    <p:extLst>
      <p:ext uri="{BB962C8B-B14F-4D97-AF65-F5344CB8AC3E}">
        <p14:creationId xmlns:p14="http://schemas.microsoft.com/office/powerpoint/2010/main" val="12503585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2026-08-22T06:11:58.1980000Z</dcterms:created>
  <dcterms:modified xsi:type="dcterms:W3CDTF">2026-08-22T06:11:58.1980000Z</dcterms:modified>
</coreProperties>
</file>