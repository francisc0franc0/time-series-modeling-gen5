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dd72423c514e2c" /><Relationship Type="http://schemas.openxmlformats.org/officeDocument/2006/relationships/extended-properties" Target="/docProps/app.xml" Id="R4eb81781c9f14ef6" /><Relationship Type="http://schemas.openxmlformats.org/officeDocument/2006/relationships/officeDocument" Target="/ppt/presentation.xml" Id="R2233724fe1c449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ace628c9a7478a"/>
  </p:sldMasterIdLst>
  <p:notesMasterIdLst>
    <p:notesMasterId xmlns:r="http://schemas.openxmlformats.org/officeDocument/2006/relationships" r:id="Radb139084b0a4142"/>
  </p:notesMasterIdLst>
  <p:sldIdLst>
    <p:sldId xmlns:r="http://schemas.openxmlformats.org/officeDocument/2006/relationships" id="256" r:id="R43c9a22b127b45b1"/>
    <p:sldId xmlns:r="http://schemas.openxmlformats.org/officeDocument/2006/relationships" id="257" r:id="R981d16434c09456a"/>
    <p:sldId xmlns:r="http://schemas.openxmlformats.org/officeDocument/2006/relationships" id="258" r:id="R1dde37bddfc94ef9"/>
    <p:sldId xmlns:r="http://schemas.openxmlformats.org/officeDocument/2006/relationships" id="259" r:id="R1d120e65cccc4cb6"/>
    <p:sldId xmlns:r="http://schemas.openxmlformats.org/officeDocument/2006/relationships" id="260" r:id="R52d2f0e3837348f9"/>
    <p:sldId xmlns:r="http://schemas.openxmlformats.org/officeDocument/2006/relationships" id="261" r:id="Re2d58b098a0446a0"/>
    <p:sldId xmlns:r="http://schemas.openxmlformats.org/officeDocument/2006/relationships" id="262" r:id="R5dcc8352274e4431"/>
    <p:sldId xmlns:r="http://schemas.openxmlformats.org/officeDocument/2006/relationships" id="263" r:id="R8d6ce360255a4e4c"/>
    <p:sldId xmlns:r="http://schemas.openxmlformats.org/officeDocument/2006/relationships" id="264" r:id="R5d226ef2eb714949"/>
    <p:sldId xmlns:r="http://schemas.openxmlformats.org/officeDocument/2006/relationships" id="265" r:id="R023af3b6ccbd4181"/>
    <p:sldId xmlns:r="http://schemas.openxmlformats.org/officeDocument/2006/relationships" id="266" r:id="R53ee9f86f1f2449b"/>
    <p:sldId xmlns:r="http://schemas.openxmlformats.org/officeDocument/2006/relationships" id="267" r:id="R9265e2f685284044"/>
    <p:sldId xmlns:r="http://schemas.openxmlformats.org/officeDocument/2006/relationships" id="268" r:id="Rf321cec2fd5d4b38"/>
    <p:sldId xmlns:r="http://schemas.openxmlformats.org/officeDocument/2006/relationships" id="269" r:id="R8afd5e9bb92f44f6"/>
    <p:sldId xmlns:r="http://schemas.openxmlformats.org/officeDocument/2006/relationships" id="270" r:id="R21903bbcc9024232"/>
    <p:sldId xmlns:r="http://schemas.openxmlformats.org/officeDocument/2006/relationships" id="271" r:id="Rdd8bbd632d544f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015b8783bf464d" /><Relationship Type="http://schemas.openxmlformats.org/officeDocument/2006/relationships/slideMaster" Target="/ppt/slideMasters/slideMaster1.xml" Id="R0bace628c9a7478a" /><Relationship Type="http://schemas.openxmlformats.org/officeDocument/2006/relationships/notesMaster" Target="/ppt/notesMasters/notesMaster1.xml" Id="Radb139084b0a4142" /><Relationship Type="http://schemas.openxmlformats.org/officeDocument/2006/relationships/presProps" Target="/ppt/presProps.xml" Id="R50db4b7b5008418e" /><Relationship Type="http://schemas.openxmlformats.org/officeDocument/2006/relationships/tableStyles" Target="/ppt/tableStyles.xml" Id="R86b89f702ebe4650" /><Relationship Type="http://schemas.openxmlformats.org/officeDocument/2006/relationships/slide" Target="/ppt/slides/slide1.xml" Id="R43c9a22b127b45b1" /><Relationship Type="http://schemas.openxmlformats.org/officeDocument/2006/relationships/slide" Target="/ppt/slides/slide2.xml" Id="R981d16434c09456a" /><Relationship Type="http://schemas.openxmlformats.org/officeDocument/2006/relationships/slide" Target="/ppt/slides/slide3.xml" Id="R1dde37bddfc94ef9" /><Relationship Type="http://schemas.openxmlformats.org/officeDocument/2006/relationships/slide" Target="/ppt/slides/slide4.xml" Id="R1d120e65cccc4cb6" /><Relationship Type="http://schemas.openxmlformats.org/officeDocument/2006/relationships/slide" Target="/ppt/slides/slide5.xml" Id="R52d2f0e3837348f9" /><Relationship Type="http://schemas.openxmlformats.org/officeDocument/2006/relationships/slide" Target="/ppt/slides/slide6.xml" Id="Re2d58b098a0446a0" /><Relationship Type="http://schemas.openxmlformats.org/officeDocument/2006/relationships/slide" Target="/ppt/slides/slide7.xml" Id="R5dcc8352274e4431" /><Relationship Type="http://schemas.openxmlformats.org/officeDocument/2006/relationships/slide" Target="/ppt/slides/slide8.xml" Id="R8d6ce360255a4e4c" /><Relationship Type="http://schemas.openxmlformats.org/officeDocument/2006/relationships/slide" Target="/ppt/slides/slide9.xml" Id="R5d226ef2eb714949" /><Relationship Type="http://schemas.openxmlformats.org/officeDocument/2006/relationships/slide" Target="/ppt/slides/slide10.xml" Id="R023af3b6ccbd4181" /><Relationship Type="http://schemas.openxmlformats.org/officeDocument/2006/relationships/slide" Target="/ppt/slides/slide11.xml" Id="R53ee9f86f1f2449b" /><Relationship Type="http://schemas.openxmlformats.org/officeDocument/2006/relationships/slide" Target="/ppt/slides/slide12.xml" Id="R9265e2f685284044" /><Relationship Type="http://schemas.openxmlformats.org/officeDocument/2006/relationships/slide" Target="/ppt/slides/slide13.xml" Id="Rf321cec2fd5d4b38" /><Relationship Type="http://schemas.openxmlformats.org/officeDocument/2006/relationships/slide" Target="/ppt/slides/slide14.xml" Id="R8afd5e9bb92f44f6" /><Relationship Type="http://schemas.openxmlformats.org/officeDocument/2006/relationships/slide" Target="/ppt/slides/slide15.xml" Id="R21903bbcc9024232" /><Relationship Type="http://schemas.openxmlformats.org/officeDocument/2006/relationships/slide" Target="/ppt/slides/slide16.xml" Id="Rdd8bbd632d544f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d4dba3025748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059e711cb04076" /><Relationship Type="http://schemas.openxmlformats.org/officeDocument/2006/relationships/notesMaster" Target="/ppt/notesMasters/notesMaster1.xml" Id="R674bc0eab4bd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73b3daaca84ad7" /><Relationship Type="http://schemas.openxmlformats.org/officeDocument/2006/relationships/notesMaster" Target="/ppt/notesMasters/notesMaster1.xml" Id="Re15d99b561724f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51f47412fc4f64" /><Relationship Type="http://schemas.openxmlformats.org/officeDocument/2006/relationships/notesMaster" Target="/ppt/notesMasters/notesMaster1.xml" Id="R72e0d27dbb6a44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384b6fb5754a8f" /><Relationship Type="http://schemas.openxmlformats.org/officeDocument/2006/relationships/notesMaster" Target="/ppt/notesMasters/notesMaster1.xml" Id="R82ff14731bc042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35926f0d93403c" /><Relationship Type="http://schemas.openxmlformats.org/officeDocument/2006/relationships/notesMaster" Target="/ppt/notesMasters/notesMaster1.xml" Id="Rdcc96a6c808346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fae68530234541" /><Relationship Type="http://schemas.openxmlformats.org/officeDocument/2006/relationships/notesMaster" Target="/ppt/notesMasters/notesMaster1.xml" Id="R2712c681a16143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bb920b05548c6" /><Relationship Type="http://schemas.openxmlformats.org/officeDocument/2006/relationships/notesMaster" Target="/ppt/notesMasters/notesMaster1.xml" Id="Rb7ba0ae1b11346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5d0a5551964fb5" /><Relationship Type="http://schemas.openxmlformats.org/officeDocument/2006/relationships/notesMaster" Target="/ppt/notesMasters/notesMaster1.xml" Id="R61933a4a9c2049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27b5962dc9497e" /><Relationship Type="http://schemas.openxmlformats.org/officeDocument/2006/relationships/notesMaster" Target="/ppt/notesMasters/notesMaster1.xml" Id="Rf875f08f76b04f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a69d20c75e4c45" /><Relationship Type="http://schemas.openxmlformats.org/officeDocument/2006/relationships/notesMaster" Target="/ppt/notesMasters/notesMaster1.xml" Id="R8373e2c4434f4a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c44d3078954500" /><Relationship Type="http://schemas.openxmlformats.org/officeDocument/2006/relationships/notesMaster" Target="/ppt/notesMasters/notesMaster1.xml" Id="Re066c57a66a242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abe121e2424f13" /><Relationship Type="http://schemas.openxmlformats.org/officeDocument/2006/relationships/notesMaster" Target="/ppt/notesMasters/notesMaster1.xml" Id="R2964af3a39114b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4cddb1bdca4ab5" /><Relationship Type="http://schemas.openxmlformats.org/officeDocument/2006/relationships/notesMaster" Target="/ppt/notesMasters/notesMaster1.xml" Id="R1e0bb2bec10445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abab440c6148ad" /><Relationship Type="http://schemas.openxmlformats.org/officeDocument/2006/relationships/notesMaster" Target="/ppt/notesMasters/notesMaster1.xml" Id="Rf87cd53000b64e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edc6adc3b14d8d" /><Relationship Type="http://schemas.openxmlformats.org/officeDocument/2006/relationships/notesMaster" Target="/ppt/notesMasters/notesMaster1.xml" Id="R9be69bd568e044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78c5a12b07414e" /><Relationship Type="http://schemas.openxmlformats.org/officeDocument/2006/relationships/notesMaster" Target="/ppt/notesMasters/notesMaster1.xml" Id="R7f3184165dc741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records a textbook-style opening-gap momentum exercise. It is a research POC, not an execution recommendation or production strategy.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- printed pages 156-157; PDF pages 174-175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Project/Time-Series-Modeling-Gen5/literature_studies/docs/GEN5_LIT_MOM_02_1_OPENING_GAP_MOMENTUM_CONTRACT.md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 reports the EURO STOXX 50 futures result after trying the rule on several futures. Exact continuous-contract roll construction and source data were unavailable, so the reported metrics are not presented as reproduction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- printed pages 156-157; PDF pages 174-175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prior high, prior low, and lagged volatility estimate are all known before the current open. The source-style signal is therefore observable at the opening print, but a fill at that same print is not automatically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- printed pages 156-157; PDF pages 174-175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source-code sign inconsistency, not a judgment call about the test result. The narrative-consistent sign is primary; the literal printed sign remains in the output for traceability.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- printed pages 156-157; PDF pages 174-175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Project/Time-Series-Modeling-Gen5/literature_studies/docs/GEN5_LIT_MOM_02_1_OPENING_GAP_MOMENTUM_CONTRACT.md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09:32 entry is a conservative one-minute causal translation. The same-open return remains descriptive because it cannot be assumed fillable after the opening condition is 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Project/Time-Series-Modeling-Gen5/runs/research_workbench/literature_grounded/lit_mom_02_1_opening_gap_atlas_01_20260801/visuals/mom02_mechanics.png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 - D97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small POC is evaluated first. The predeclared atlas is then run unchanged as a breadth demonstration. No instrument, cost, threshold, or gate is edited after seeing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Project/Time-Series-Modeling-Gen5/literature_studies/docs/GEN5_LIT_MOM_02_1_OPENING_GAP_MOMENTUM_CONTRACT.md</a:t>
            </a:r>
          </a:p>
          <a:p xmlns:a="http://schemas.openxmlformats.org/drawingml/2006/main">
            <a:r>
              <a:t>- C:/Users/Franc/OneDrive/Documents/Francis/Peltata Project/Time-Series-Modeling-Gen5/literature_studies/registries/gen5_lit_mom_02_1_opening_gap_atlas_registry.csv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G1-G3 protect data integrity and minimum support. G4-G7 ask whether direction and payoff exceed simple nulls. G8 asks whether the already-small edge survives a deliberately harsher cost assumption and persists across years.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Project/Time-Series-Modeling-Gen5/literature_studies/docs/GEN5_LIT_MOM_02_1_OPENING_GAP_MOMENTUM_CONTRACT.md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SPY reached five of eight gates, the best among the anchors, but its primary-cost mean was -4.25 bp per event. All eight failed the complete conjunction.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Project/Time-Series-Modeling-Gen5/runs/research_workbench/literature_grounded/lit_mom_02_1_opening_gap_atlas_01_20260801/train_small_poc_summary.csv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Project/Time-Series-Modeling-Gen5/runs/research_workbench/literature_grounded/lit_mom_02_1_opening_gap_atlas_01_20260801/visuals/mom02_small_poc_gate_heatmap.png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intervals show estimation uncertainty, but the more immediate issue is economic scale: every point estimate is below zero after the frozen 10 bp round-trip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Project/Time-Series-Modeling-Gen5/runs/research_workbench/literature_grounded/lit_mom_02_1_opening_gap_atlas_01_20260801/train_small_poc_summary.csv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Project/Time-Series-Modeling-Gen5/runs/research_workbench/literature_grounded/lit_mom_02_1_opening_gap_atlas_01_20260801/visuals/mom02_small_poc_return_intervals.png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transition marks the predeclared breadth stage. The small POC's failure does not cause any parameter relaxation or special asset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Project/Time-Series-Modeling-Gen5/literature_studies/docs/GEN5_LIT_MOM_02_1_OPENING_GAP_MOMENTUM_CONTRACT.md</a:t>
            </a:r>
          </a:p>
          <a:p xmlns:a="http://schemas.openxmlformats.org/drawingml/2006/main">
            <a:r>
              <a:t>- C:/Users/Franc/OneDrive/Documents/Francis/Peltata Project/Time-Series-Modeling-Gen5/literature_studies/registries/gen5_lit_mom_02_1_opening_gap_atlas_registry.csv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92 passed integrity and minimum event support. Seventy-one passed 09:32 entry coverage, 45 exceeded 50% direction accuracy, seven had a positive primary mean, one passed the bootstrap lower bound, and none passed stress durability.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Project/Time-Series-Modeling-Gen5/runs/research_workbench/literature_grounded/lit_mom_02_1_opening_gap_atlas_01_20260801/train_atlas_gates.csv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Project/Time-Series-Modeling-Gen5/runs/research_workbench/literature_grounded/lit_mom_02_1_opening_gap_atlas_01_20260801/visuals/mom02_atlas_gate_heatmap.png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Across 28,189 valid atlas events, causal gross continuation averaged +0.48 bp per event. The frozen 10 bp cost converts that to -9.52 bp. Same-open accounting is shown only to isolate the effect of causal timing and costs.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Project/Time-Series-Modeling-Gen5/runs/research_workbench/literature_grounded/lit_mom_02_1_opening_gap_atlas_01_20260801/train_event_tape.csv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Project/Time-Series-Modeling-Gen5/runs/research_workbench/literature_grounded/lit_mom_02_1_opening_gap_atlas_01_20260801/visuals/mom02_source_vs_causal.png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Leveraged or inverse ETFs had the least-negative category median at -4.88 bp per event. US industries were worst at -12.98 bp. These medians are descriptive and do not authorize category-specific retuning.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Project/Time-Series-Modeling-Gen5/runs/research_workbench/literature_grounded/lit_mom_02_1_opening_gap_atlas_01_20260801/train_category_summary.csv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Project/Time-Series-Modeling-Gen5/runs/research_workbench/literature_grounded/lit_mom_02_1_opening_gap_atlas_01_20260801/visuals/mom02_category_summary.png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panels are selected mechanically from the most positive and most negative event returns, not as proof of a usable strategy. They make the causal delay visible: price can continue between the open and 09:32, or reverse after entry.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Project/Time-Series-Modeling-Gen5/runs/research_workbench/literature_grounded/lit_mom_02_1_opening_gap_atlas_01_20260801/train_event_tape.csv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Project/Time-Series-Modeling-Gen5/runs/research_workbench/literature_grounded/lit_mom_02_1_opening_gap_atlas_01_20260801/visuals/mom02_representative_events.png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XLP had 201 valid events, 54.7% direction accuracy, +7.61 bp primary mean, and a +0.71 bp one-sided bootstrap lower bound. But its 20 bp stress cumulative return was -5.49%, so G8 fails. Inspecting DEVELOPMENT now would convert a transparent near-miss into post-hoc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Project/Time-Series-Modeling-Gen5/runs/research_workbench/literature_grounded/lit_mom_02_1_opening_gap_atlas_01_20260801/train_atlas_summary.csv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Project/Time-Series-Modeling-Gen5/runs/research_workbench/literature_grounded/lit_mom_02_1_opening_gap_atlas_01_20260801/visuals/mom02_atlas_return_tails.png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result is a clean null, not a failed exercise. We recapitulated the source, exposed a printed sign discrepancy, built a causal retail translation, and tested a broad predeclared atlas without rescuing a near-miss.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Project/Time-Series-Modeling-Gen5/literature_studies/docs/GEN5_LIT_MOM_02_1_OPENING_GAP_MOMENTUM_RESULTS.md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Project/Time-Series-Modeling-Gen5/literature_studies/docs/GEN5_LIT_MOM_02_1_OPENING_GAP_MOMENTUM_CONTRACT.md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 - D97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Project/Time-Series-Modeling-Gen5/runs/research_workbench/literature_grounded/lit_mom_02_1_opening_gap_atlas_01_20260801/lit_mom_02_1_report.md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e8b6c14e74a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0a3f6a4ee6418e" /><Relationship Type="http://schemas.openxmlformats.org/officeDocument/2006/relationships/slideLayout" Target="/ppt/slideLayouts/slideLayout1.xml" Id="R352b740c7e644e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2b740c7e644e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52858e68d43b2" /><Relationship Type="http://schemas.openxmlformats.org/officeDocument/2006/relationships/notesSlide" Target="/ppt/notesSlides/notesSlide1.xml" Id="Rc258bf873e9b4b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05cc059aa4121" /><Relationship Type="http://schemas.openxmlformats.org/officeDocument/2006/relationships/notesSlide" Target="/ppt/notesSlides/notesSlide2.xml" Id="R6efc94f0eebb4c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50969194543f1" /><Relationship Type="http://schemas.openxmlformats.org/officeDocument/2006/relationships/notesSlide" Target="/ppt/notesSlides/notesSlide3.xml" Id="R0b19bd6c5e4e49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c98b2352a4265" /><Relationship Type="http://schemas.openxmlformats.org/officeDocument/2006/relationships/notesSlide" Target="/ppt/notesSlides/notesSlide4.xml" Id="R2c7cc613c7504b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fbfa6ddb3411e" /><Relationship Type="http://schemas.openxmlformats.org/officeDocument/2006/relationships/image" Target="/ppt/media/image.png" Id="Rbdc4f7a55a6742de" /><Relationship Type="http://schemas.openxmlformats.org/officeDocument/2006/relationships/notesSlide" Target="/ppt/notesSlides/notesSlide5.xml" Id="Rf958ebf860b944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3719588a04a95" /><Relationship Type="http://schemas.openxmlformats.org/officeDocument/2006/relationships/notesSlide" Target="/ppt/notesSlides/notesSlide6.xml" Id="R3d680bf662ab42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a0463631f4e9f" /><Relationship Type="http://schemas.openxmlformats.org/officeDocument/2006/relationships/notesSlide" Target="/ppt/notesSlides/notesSlide7.xml" Id="R82260749a90e41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5dd085a9a47b9" /><Relationship Type="http://schemas.openxmlformats.org/officeDocument/2006/relationships/image" Target="/ppt/media/image2.png" Id="Rb23ecd02ec3d4701" /><Relationship Type="http://schemas.openxmlformats.org/officeDocument/2006/relationships/notesSlide" Target="/ppt/notesSlides/notesSlide8.xml" Id="Rd954f420c4fd48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02bf97d8e4b54" /><Relationship Type="http://schemas.openxmlformats.org/officeDocument/2006/relationships/image" Target="/ppt/media/image3.png" Id="R796db4764e38472f" /><Relationship Type="http://schemas.openxmlformats.org/officeDocument/2006/relationships/notesSlide" Target="/ppt/notesSlides/notesSlide9.xml" Id="R7342e71dbf6a45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284b577874c97" /><Relationship Type="http://schemas.openxmlformats.org/officeDocument/2006/relationships/notesSlide" Target="/ppt/notesSlides/notesSlide10.xml" Id="R895af45816d045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0fd4263334760" /><Relationship Type="http://schemas.openxmlformats.org/officeDocument/2006/relationships/image" Target="/ppt/media/image4.png" Id="R625c608087534de2" /><Relationship Type="http://schemas.openxmlformats.org/officeDocument/2006/relationships/notesSlide" Target="/ppt/notesSlides/notesSlide11.xml" Id="Ra9849b9ef2e240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33d12f565481f" /><Relationship Type="http://schemas.openxmlformats.org/officeDocument/2006/relationships/image" Target="/ppt/media/image5.png" Id="R3fcdffdcee744a2a" /><Relationship Type="http://schemas.openxmlformats.org/officeDocument/2006/relationships/notesSlide" Target="/ppt/notesSlides/notesSlide12.xml" Id="R0a0906b806a94c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1156093864cc5" /><Relationship Type="http://schemas.openxmlformats.org/officeDocument/2006/relationships/image" Target="/ppt/media/image6.png" Id="Rf2de7d58ed634d19" /><Relationship Type="http://schemas.openxmlformats.org/officeDocument/2006/relationships/notesSlide" Target="/ppt/notesSlides/notesSlide13.xml" Id="R009d8c3c1f5d40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c2755801b4c58" /><Relationship Type="http://schemas.openxmlformats.org/officeDocument/2006/relationships/image" Target="/ppt/media/image7.png" Id="R5d1c0d59ff3249fb" /><Relationship Type="http://schemas.openxmlformats.org/officeDocument/2006/relationships/notesSlide" Target="/ppt/notesSlides/notesSlide14.xml" Id="R62e6f227ef5d42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3bfdcadee4f6b" /><Relationship Type="http://schemas.openxmlformats.org/officeDocument/2006/relationships/image" Target="/ppt/media/image8.png" Id="R3e11900e31f449c9" /><Relationship Type="http://schemas.openxmlformats.org/officeDocument/2006/relationships/notesSlide" Target="/ppt/notesSlides/notesSlide15.xml" Id="Ra15311ae98b942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6d5908ac24956" /><Relationship Type="http://schemas.openxmlformats.org/officeDocument/2006/relationships/notesSlide" Target="/ppt/notesSlides/notesSlide16.xml" Id="R1cecc651973c44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LIT-MOM-02.1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opening-gap momentum atlas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Chan's Example 7.1 recapitulated, translated to a causal 09:32 retail fill, and tested unchanged across eight anchors and a 92-instrument atlas.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LITERATURE-GROUNDED STRATEGY RESEARCH | 1 AUG 2026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 combines an opening gap with a prior-range breakout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open must clear yesterday's high or low by a volatility-scaled buffer. Direction then follows the gap through the same close. The source result is context, not locally reproduced evidence.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FSTX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EURO STOXX 50 futures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2004-2012 source example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13% / 1.4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Reported APR / Sharpe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Source reference only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Several futures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 tried a broader set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 a pre-registered one-shot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rule has only one threshold and one volatility estimate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Let sigma(t-1) be the lagged 90-session standard deviation of close-to-close returns. The 0.1 multiplier scales the required gap to the instrument's own recent volatility.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z = 0.1 sigma90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Lagged volatility buffer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same-day information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&gt; Hprev(1+z)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Long opening breakout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Hold to today's close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&lt; Lprev(1-z)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Short opening breakdown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Hold to today's close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printed return line reverses the strategy sign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prose, long/short labels, and rising source equity curve imply position x (close-open)/open. The printed line uses open-close. We preserve that literal sign only as an audit diagnostic.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Printed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position x (O-C) / O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Opposite of the narrative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Implemented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position x (C-O) / O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Long profits when price rises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Transparent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Both versions retained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silent correction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272998-B60C-44E0-849E-A04A872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16F9E5-1AF4-43B0-AB25-E3AE982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tradable test must separate the opening signal from the fill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5EE0E946-4B2C-4DE9-8839-3DE0D30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E0CA677-50AA-4CCF-BC5C-CB90210A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Source-style accounting uses the same opening print both to trigger and to enter.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Our primary retail translation: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observe the completed 09:31 ET auction/minute;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enter at the adjusted-SIP 09:32 bar open;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exit at the adjusted daily close;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 charge 10 bp round trip, then 20 bp stress.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This deliberately prices the delay required to know the signal.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28C7B-FAD1-4EFC-8057-453D13C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6196"/>
            <a:ext cx="5314950" cy="3019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4f7a55a6742de"/>
          <a:stretch xmlns:a="http://schemas.openxmlformats.org/drawingml/2006/main"/>
        </p:blipFill>
        <p:spPr>
          <a:xfrm xmlns:a="http://schemas.openxmlformats.org/drawingml/2006/main">
            <a:off x="6334125" y="1865974"/>
            <a:ext cx="5381625" cy="284030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408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92BF88A-D985-4E89-9220-AED80DB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18F3FD71-2B01-497E-B7A5-AD72E3A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A256A665-F93B-46DB-A120-F2929BE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8FEAA9-7122-4602-AAFA-C856C71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999DAA-321B-4DEF-AC22-1F41A5B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breadth expansion was frozen before any outcome was inspected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83D39E3-1D42-4CA4-A507-6C07CD2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is 2017-2020. DEVELOPMENT is conditional on a complete TRAIN pass. CONFIRMATION begins in 2024 and remains sealed. The wide atlas changes only the universe, not the rule or gates.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CE99FBCB-3F61-4E2C-9916-C8B37E0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8 anchors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D7A7BD1-1D20-421E-BAC5-DFF695B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FEZ, SPY, QQQ, IWM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TLT, GLD, USO, UUP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E572DBE1-8080-407B-A0FF-815818B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92 instruments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D56EAD1-B269-48E0-9F23-33330F2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Nine justified categories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ETFs plus stock challengers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9C6C64B0-28CA-4923-800E-94342CB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OOS conditional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0ED31E12-360E-4FDB-B429-1A6368F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TRAIN nominee, no query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2024+ stays sealed</a:t>
            </a:r>
          </a:p>
        </p:txBody>
      </p:sp>
    </p:spTree>
    <p:extLst>
      <p:ext uri="{BB962C8B-B14F-4D97-AF65-F5344CB8AC3E}">
        <p14:creationId xmlns:p14="http://schemas.microsoft.com/office/powerpoint/2010/main" val="15002617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Eight conjunctive gates ask different questions about tradability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full pass requires every gate. The scheme is intentionally transparent: some gates are hard data/support checks, while others are statistical or economic evidence. Near-passes are diagnoses, not nominations.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G1-G3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Integrity, &gt;=95% entry coverage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Events, direction, years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G4-G7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Accuracy, positive mean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Bootstrap and sign-flip evidence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G8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20 bp stress path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 least 3 positive years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272998-B60C-44E0-849E-A04A872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16F9E5-1AF4-43B0-AB25-E3AE982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eight-instrument POC produced no complete TRAIN pass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ecd02ec3d4701"/>
          <a:stretch xmlns:a="http://schemas.openxmlformats.org/drawingml/2006/main"/>
        </p:blipFill>
        <p:spPr>
          <a:xfrm xmlns:a="http://schemas.openxmlformats.org/drawingml/2006/main">
            <a:off x="1905000" y="1263650"/>
            <a:ext cx="8382000" cy="4749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408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31B1CDB-9946-498B-901E-0A0C9C77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1FC061-EE2C-48CF-9799-D8537102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anchor's primary-cost estimate was negative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db4764e38472f"/>
          <a:stretch xmlns:a="http://schemas.openxmlformats.org/drawingml/2006/main"/>
        </p:blipFill>
        <p:spPr>
          <a:xfrm xmlns:a="http://schemas.openxmlformats.org/drawingml/2006/main">
            <a:off x="1714500" y="1318932"/>
            <a:ext cx="8763000" cy="46392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75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 / 8 pass.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Widen without rescuing.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Ninety-two instruments now receive the same 0.1 x sigma90 rule, 09:32 entry, costs, dates, and eight gates. Breadth can reveal heterogeneity; it cannot rewrite the hypothesis.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UNCHANGED WIDE ATLAS | NINE PREDECLARED CATEGORIES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92-instrument atlas also produced zero complete passes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c608087534de2"/>
          <a:stretch xmlns:a="http://schemas.openxmlformats.org/drawingml/2006/main"/>
        </p:blipFill>
        <p:spPr>
          <a:xfrm xmlns:a="http://schemas.openxmlformats.org/drawingml/2006/main">
            <a:off x="730250" y="1162050"/>
            <a:ext cx="107315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tiny gross continuation effect did not clear retail cost scale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dffdcee744a2a"/>
          <a:stretch xmlns:a="http://schemas.openxmlformats.org/drawingml/2006/main"/>
        </p:blipFill>
        <p:spPr>
          <a:xfrm xmlns:a="http://schemas.openxmlformats.org/drawingml/2006/main">
            <a:off x="1955483" y="1285875"/>
            <a:ext cx="8281035" cy="4600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predeclared category had a negative median estimate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e7d58ed634d19"/>
          <a:stretch xmlns:a="http://schemas.openxmlformats.org/drawingml/2006/main"/>
        </p:blipFill>
        <p:spPr>
          <a:xfrm xmlns:a="http://schemas.openxmlformats.org/drawingml/2006/main">
            <a:off x="1926431" y="1162050"/>
            <a:ext cx="8339138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Representative events show both continuation and post-gap reversal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c0d59ff3249fb"/>
          <a:stretch xmlns:a="http://schemas.openxmlformats.org/drawingml/2006/main"/>
        </p:blipFill>
        <p:spPr>
          <a:xfrm xmlns:a="http://schemas.openxmlformats.org/drawingml/2006/main">
            <a:off x="1657804" y="1162050"/>
            <a:ext cx="8876393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XLP reached 7/8 gates; the stress failure still closes the lane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1900e31f449c9"/>
          <a:stretch xmlns:a="http://schemas.openxmlformats.org/drawingml/2006/main"/>
        </p:blipFill>
        <p:spPr>
          <a:xfrm xmlns:a="http://schemas.openxmlformats.org/drawingml/2006/main">
            <a:off x="3007431" y="1162050"/>
            <a:ext cx="6177139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E9F43BB9-4202-4A42-9916-7A066783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rule is clear.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TRAIN edge is not.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F90063-BA30-438B-9FD3-13AA227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662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STOP_LIT_MOM_02_1_OPENING_GAP_NO_TRAIN_NOMINEE. Do not open DEVELOPMENT or 2024+ CONFIRMATION. A future revisit must be a new, prospectively frozen substantive variant.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5129715-75DE-4D50-B44D-3AFE3EB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4653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OPENING-GAP MOMENTUM ATLAS COMPLETE | RESEARCH DECISION</a:t>
            </a:r>
          </a:p>
        </p:txBody>
      </p:sp>
    </p:spTree>
    <p:extLst>
      <p:ext uri="{BB962C8B-B14F-4D97-AF65-F5344CB8AC3E}">
        <p14:creationId xmlns:p14="http://schemas.microsoft.com/office/powerpoint/2010/main" val="1664240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2026-08-01T06:28:21.6410000Z</dcterms:created>
  <dcterms:modified xsi:type="dcterms:W3CDTF">2026-08-01T06:28:21.6410000Z</dcterms:modified>
</coreProperties>
</file>