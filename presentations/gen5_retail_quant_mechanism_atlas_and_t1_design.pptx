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39181c58a84ab0" /><Relationship Type="http://schemas.openxmlformats.org/officeDocument/2006/relationships/extended-properties" Target="/docProps/app.xml" Id="Ref78f47035d3403e" /><Relationship Type="http://schemas.openxmlformats.org/officeDocument/2006/relationships/officeDocument" Target="/ppt/presentation.xml" Id="R05d7599169af49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c609fce1174403"/>
  </p:sldMasterIdLst>
  <p:notesMasterIdLst>
    <p:notesMasterId xmlns:r="http://schemas.openxmlformats.org/officeDocument/2006/relationships" r:id="R196a30745fc64127"/>
  </p:notesMasterIdLst>
  <p:sldIdLst>
    <p:sldId xmlns:r="http://schemas.openxmlformats.org/officeDocument/2006/relationships" id="256" r:id="Red13013a3946418e"/>
    <p:sldId xmlns:r="http://schemas.openxmlformats.org/officeDocument/2006/relationships" id="257" r:id="R59a0f50575ed4e4c"/>
    <p:sldId xmlns:r="http://schemas.openxmlformats.org/officeDocument/2006/relationships" id="258" r:id="R20fc809a0e524225"/>
    <p:sldId xmlns:r="http://schemas.openxmlformats.org/officeDocument/2006/relationships" id="259" r:id="R0d7b77dcd3ac45c8"/>
    <p:sldId xmlns:r="http://schemas.openxmlformats.org/officeDocument/2006/relationships" id="260" r:id="R9a898aea58f74ff3"/>
    <p:sldId xmlns:r="http://schemas.openxmlformats.org/officeDocument/2006/relationships" id="261" r:id="R4788dba3d3d2409e"/>
    <p:sldId xmlns:r="http://schemas.openxmlformats.org/officeDocument/2006/relationships" id="262" r:id="Rc8836f0f98d14fdb"/>
    <p:sldId xmlns:r="http://schemas.openxmlformats.org/officeDocument/2006/relationships" id="263" r:id="R058d2a3fb1f646e8"/>
    <p:sldId xmlns:r="http://schemas.openxmlformats.org/officeDocument/2006/relationships" id="264" r:id="Rdd3f08b99d954b58"/>
    <p:sldId xmlns:r="http://schemas.openxmlformats.org/officeDocument/2006/relationships" id="265" r:id="R8609000482e043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7f09f7344d4906" /><Relationship Type="http://schemas.openxmlformats.org/officeDocument/2006/relationships/slideMaster" Target="/ppt/slideMasters/slideMaster1.xml" Id="R29c609fce1174403" /><Relationship Type="http://schemas.openxmlformats.org/officeDocument/2006/relationships/notesMaster" Target="/ppt/notesMasters/notesMaster1.xml" Id="R196a30745fc64127" /><Relationship Type="http://schemas.openxmlformats.org/officeDocument/2006/relationships/presProps" Target="/ppt/presProps.xml" Id="R4932078bed7d4b0b" /><Relationship Type="http://schemas.openxmlformats.org/officeDocument/2006/relationships/tableStyles" Target="/ppt/tableStyles.xml" Id="R6e6cf8ce925a40cb" /><Relationship Type="http://schemas.openxmlformats.org/officeDocument/2006/relationships/slide" Target="/ppt/slides/slide1.xml" Id="Red13013a3946418e" /><Relationship Type="http://schemas.openxmlformats.org/officeDocument/2006/relationships/slide" Target="/ppt/slides/slide2.xml" Id="R59a0f50575ed4e4c" /><Relationship Type="http://schemas.openxmlformats.org/officeDocument/2006/relationships/slide" Target="/ppt/slides/slide3.xml" Id="R20fc809a0e524225" /><Relationship Type="http://schemas.openxmlformats.org/officeDocument/2006/relationships/slide" Target="/ppt/slides/slide4.xml" Id="R0d7b77dcd3ac45c8" /><Relationship Type="http://schemas.openxmlformats.org/officeDocument/2006/relationships/slide" Target="/ppt/slides/slide5.xml" Id="R9a898aea58f74ff3" /><Relationship Type="http://schemas.openxmlformats.org/officeDocument/2006/relationships/slide" Target="/ppt/slides/slide6.xml" Id="R4788dba3d3d2409e" /><Relationship Type="http://schemas.openxmlformats.org/officeDocument/2006/relationships/slide" Target="/ppt/slides/slide7.xml" Id="Rc8836f0f98d14fdb" /><Relationship Type="http://schemas.openxmlformats.org/officeDocument/2006/relationships/slide" Target="/ppt/slides/slide8.xml" Id="R058d2a3fb1f646e8" /><Relationship Type="http://schemas.openxmlformats.org/officeDocument/2006/relationships/slide" Target="/ppt/slides/slide9.xml" Id="Rdd3f08b99d954b58" /><Relationship Type="http://schemas.openxmlformats.org/officeDocument/2006/relationships/slide" Target="/ppt/slides/slide10.xml" Id="R8609000482e043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c804c333154b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504a9b48e64e39" /><Relationship Type="http://schemas.openxmlformats.org/officeDocument/2006/relationships/notesMaster" Target="/ppt/notesMasters/notesMaster1.xml" Id="R49bc5d9378cc48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2f5055bd9c4ec8" /><Relationship Type="http://schemas.openxmlformats.org/officeDocument/2006/relationships/notesMaster" Target="/ppt/notesMasters/notesMaster1.xml" Id="R57bd4f6991ba45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35a2bf8383475c" /><Relationship Type="http://schemas.openxmlformats.org/officeDocument/2006/relationships/notesMaster" Target="/ppt/notesMasters/notesMaster1.xml" Id="Raa2c773302674b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0e9317ed454f44" /><Relationship Type="http://schemas.openxmlformats.org/officeDocument/2006/relationships/notesMaster" Target="/ppt/notesMasters/notesMaster1.xml" Id="Rab9a6c24ec6446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5e15c78d144114" /><Relationship Type="http://schemas.openxmlformats.org/officeDocument/2006/relationships/notesMaster" Target="/ppt/notesMasters/notesMaster1.xml" Id="Re1a9ee0469e549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86727a6ae540a4" /><Relationship Type="http://schemas.openxmlformats.org/officeDocument/2006/relationships/notesMaster" Target="/ppt/notesMasters/notesMaster1.xml" Id="R55a4bfe41e144c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afaf5ca464490e" /><Relationship Type="http://schemas.openxmlformats.org/officeDocument/2006/relationships/notesMaster" Target="/ppt/notesMasters/notesMaster1.xml" Id="R044e8eb99a7841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f68c90995846f7" /><Relationship Type="http://schemas.openxmlformats.org/officeDocument/2006/relationships/notesMaster" Target="/ppt/notesMasters/notesMaster1.xml" Id="R6728c9c0fa9b44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f270bdfc5f4418" /><Relationship Type="http://schemas.openxmlformats.org/officeDocument/2006/relationships/notesMaster" Target="/ppt/notesMasters/notesMaster1.xml" Id="R8a4165e5180e43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be8963b9f14e15" /><Relationship Type="http://schemas.openxmlformats.org/officeDocument/2006/relationships/notesMaster" Target="/ppt/notesMasters/notesMaster1.xml" Id="R08fa4b7a096546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bookmark for the mechanism-first detour and the selection of T1 as its first deliberately minimal proof of concept.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D49-D50 -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Project/Time-Series-Modeling-Gen5/docs/GEN5_RETAIL_QUANT_MECHANISM_POC_ATLAS.md</a:t>
            </a:r>
          </a:p>
          <a:p xmlns:a="http://schemas.openxmlformats.org/drawingml/2006/main">
            <a:r>
              <a:t>- C:/Users/Franc/OneDrive/Documents/Francis/Peltata Project/Time-Series-Modeling-Gen5/docs/GEN5_T1_MULTI_ASSET_TREND_POC_CONTRACT.md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detour changes the organizing principle from model classes to economic mechanisms. PCA, Markov models, and ML remain possible tools, but none is itself a source of return.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D49 -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Project/Time-Series-Modeling-Gen5/docs/GEN5_RETAIL_QUANT_MECHANISM_POC_ATLAS.md</a:t>
            </a:r>
          </a:p>
          <a:p xmlns:a="http://schemas.openxmlformats.org/drawingml/2006/main">
            <a:r>
              <a:t>- https://papers.ssrn.com/sol3/papers.cfm?abstract_id=2089463</a:t>
            </a:r>
          </a:p>
          <a:p xmlns:a="http://schemas.openxmlformats.org/drawingml/2006/main">
            <a:r>
              <a:t>- https://www.nber.org/papers/w7032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atlas ranks ideas by whether a retail operator can test and deploy the claimed mechanism with available data, realistic costs, and operational constraints.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D49 -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Project/Time-Series-Modeling-Gen5/docs/GEN5_RETAIL_QUANT_MECHANISM_POC_ATLAS.md</a:t>
            </a:r>
          </a:p>
          <a:p xmlns:a="http://schemas.openxmlformats.org/drawingml/2006/main">
            <a:r>
              <a:t>- https://academic.oup.com/rfs/article-abstract/29/1/104/1844518</a:t>
            </a:r>
          </a:p>
          <a:p xmlns:a="http://schemas.openxmlformats.org/drawingml/2006/main">
            <a:r>
              <a:t>- https://docs.alpaca.markets/us/docs/historical-option-data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T1, M1, and S0 are complementary rather than competing model choices: they test persistence, ranking, and convergence. T1 is first because it has the cleanest data and operational contract.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D49 -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Project/Time-Series-Modeling-Gen5/docs/GEN5_RETAIL_QUANT_MECHANISM_POC_ATLAS.md</a:t>
            </a:r>
          </a:p>
          <a:p xmlns:a="http://schemas.openxmlformats.org/drawingml/2006/main">
            <a:r>
              <a:t>- https://www.nber.org/papers/w7159</a:t>
            </a:r>
          </a:p>
          <a:p xmlns:a="http://schemas.openxmlformats.org/drawingml/2006/main">
            <a:r>
              <a:t>- https://papers.ssrn.com/sol3/papers.cfm?abstract_id=2089463</a:t>
            </a:r>
          </a:p>
          <a:p xmlns:a="http://schemas.openxmlformats.org/drawingml/2006/main">
            <a:r>
              <a:t>- https://www.nber.org/papers/w7032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transition from the broad mechanism atlas into the exact T1 contract. Simplicity here is an experimental control, not a claim that trend following is easy.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D50 -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Project/Time-Series-Modeling-Gen5/docs/GEN5_T1_MULTI_ASSET_TREND_POC_CONTRACT.md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universe is fixed in advance to span major liquid risk sleeves without introducing universe selection, ranking, or parameter optimization. BIL is the single cash proxy.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D50 -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Project/Time-Series-Modeling-Gen5/docs/GEN5_T1_MULTI_ASSET_TREND_POC_CONTRACT.md</a:t>
            </a:r>
          </a:p>
          <a:p xmlns:a="http://schemas.openxmlformats.org/drawingml/2006/main">
            <a:r>
              <a:t>- https://docs.alpaca.markets/us/docs/about-market-data-api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signal uses completed month-end adjusted closes and is acted on only at the following open. Asset return is compared with BIL return, so the test asks whether the risk asset has outpaced cash.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D50 -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Project/Time-Series-Modeling-Gen5/docs/GEN5_T1_MULTI_ASSET_TREND_POC_CONTRACT.md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sleeve makes a binary asset-versus-BIL decision, while the portfolio remains fully funded. Fixed equal sleeves isolate trend persistence from position-sizing sophistication.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D50 -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Project/Time-Series-Modeling-Gen5/docs/GEN5_T1_MULTI_ASSET_TREND_POC_CONTRACT.md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three controls separate ownership, cash, and exposure timing. The exposure-matched equal-weight control asks whether selecting ON sleeves adds more than mechanical de-risking.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D50 -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Project/Time-Series-Modeling-Gen5/docs/GEN5_T1_MULTI_ASSET_TREND_POC_CONTRACT.md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T1 advances only if every frozen gate passes. The immediate operator decision is whether to approve or revise the exact contract; implementation and performance remain stopped.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D50 -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Project/Time-Series-Modeling-Gen5/docs/GEN5_T1_MULTI_ASSET_TREND_POC_CONTRACT.md</a:t>
            </a:r>
          </a:p>
          <a:p xmlns:a="http://schemas.openxmlformats.org/drawingml/2006/main">
            <a:r>
              <a:t>- C:/Users/Franc/OneDrive/Documents/Francis/Peltata Project/Time-Series-Modeling-Gen5/docs/GEN5_4_DECISION_DIALOGUE_INDEX.md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222c55218641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0b7227b6194a56" /><Relationship Type="http://schemas.openxmlformats.org/officeDocument/2006/relationships/slideLayout" Target="/ppt/slideLayouts/slideLayout1.xml" Id="Rda56d333a8494b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56d333a8494b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ee8739f3d4196" /><Relationship Type="http://schemas.openxmlformats.org/officeDocument/2006/relationships/notesSlide" Target="/ppt/notesSlides/notesSlide1.xml" Id="R25145233e8b242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2c0c96f4046b6" /><Relationship Type="http://schemas.openxmlformats.org/officeDocument/2006/relationships/notesSlide" Target="/ppt/notesSlides/notesSlide2.xml" Id="R8e1165aedeba4f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a77d7dbf74441" /><Relationship Type="http://schemas.openxmlformats.org/officeDocument/2006/relationships/notesSlide" Target="/ppt/notesSlides/notesSlide3.xml" Id="R7772c6c7935d4a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033b5b4d741d3" /><Relationship Type="http://schemas.openxmlformats.org/officeDocument/2006/relationships/notesSlide" Target="/ppt/notesSlides/notesSlide4.xml" Id="Re9838acac00241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466dbcdcb49d8" /><Relationship Type="http://schemas.openxmlformats.org/officeDocument/2006/relationships/notesSlide" Target="/ppt/notesSlides/notesSlide5.xml" Id="R301e4c6942954c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4ca9a33734fbf" /><Relationship Type="http://schemas.openxmlformats.org/officeDocument/2006/relationships/notesSlide" Target="/ppt/notesSlides/notesSlide6.xml" Id="Rb325003d73424b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c5e05e8c84c1f" /><Relationship Type="http://schemas.openxmlformats.org/officeDocument/2006/relationships/notesSlide" Target="/ppt/notesSlides/notesSlide7.xml" Id="R1b1a0ff9a8cc4c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60572d9d840c1" /><Relationship Type="http://schemas.openxmlformats.org/officeDocument/2006/relationships/notesSlide" Target="/ppt/notesSlides/notesSlide8.xml" Id="R93499fee947146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977771430427a" /><Relationship Type="http://schemas.openxmlformats.org/officeDocument/2006/relationships/notesSlide" Target="/ppt/notesSlides/notesSlide9.xml" Id="R1aaed60074d548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feea3f828440f" /><Relationship Type="http://schemas.openxmlformats.org/officeDocument/2006/relationships/notesSlide" Target="/ppt/notesSlides/notesSlide10.xml" Id="Rc13500d0beb340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E8BF6413-CE70-42A5-A957-D7DB1F41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FRESH-EYE RESEARCH DETOUR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A20325B-18EF-4827-8364-B5778146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857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A mechanism-first detour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B2BAF6C-72C7-4F75-80A1-653E0C9C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Bookmark the retail-deployable ideas.</a:t>
            </a:r>
          </a:p>
          <a:p xmlns:a="http://schemas.openxmlformats.org/drawingml/2006/main">
            <a:pPr algn="l">
              <a:defRPr sz="23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Freeze the smallest serious test.</a:t>
            </a:r>
          </a:p>
        </p:txBody>
      </p:sp>
      <p:sp>
        <p:nvSpPr>
          <p:cNvPr id="4" name="rule-42-500-600">
            <a:extLst xmlns:a="http://schemas.openxmlformats.org/drawingml/2006/main">
              <a:ext uri="{FF2B5EF4-FFF2-40B4-BE49-F238E27FC236}">
                <a16:creationId xmlns:a16="http://schemas.microsoft.com/office/drawing/2014/main" id="{F6907ED2-E930-4BEC-A4B2-59F2BA87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571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cope">
            <a:extLst xmlns:a="http://schemas.openxmlformats.org/drawingml/2006/main">
              <a:ext uri="{FF2B5EF4-FFF2-40B4-BE49-F238E27FC236}">
                <a16:creationId xmlns:a16="http://schemas.microsoft.com/office/drawing/2014/main" id="{BBD19556-02C5-4F03-920F-00FF25F5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This deck narrows into T1: multi-asset trend persistence.</a:t>
            </a:r>
          </a:p>
          <a:p xmlns:a="http://schemas.openxmlformats.org/drawingml/2006/main">
            <a:pPr algn="l"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It does not authorize strategy code or performance claims.</a:t>
            </a:r>
          </a:p>
        </p:txBody>
      </p:sp>
      <p:sp>
        <p:nvSpPr>
          <p:cNvPr id="6" name="accent">
            <a:extLst xmlns:a="http://schemas.openxmlformats.org/drawingml/2006/main">
              <a:ext uri="{FF2B5EF4-FFF2-40B4-BE49-F238E27FC236}">
                <a16:creationId xmlns:a16="http://schemas.microsoft.com/office/drawing/2014/main" id="{94201F6C-D76C-4937-9C77-E02DAEBB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0"/>
            <a:ext cx="1657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1">
            <a:extLst xmlns:a="http://schemas.openxmlformats.org/drawingml/2006/main">
              <a:ext uri="{FF2B5EF4-FFF2-40B4-BE49-F238E27FC236}">
                <a16:creationId xmlns:a16="http://schemas.microsoft.com/office/drawing/2014/main" id="{A493E545-AC55-4184-9F92-46ADD006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43150"/>
            <a:ext cx="109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T1</a:t>
            </a:r>
          </a:p>
        </p:txBody>
      </p:sp>
      <p:sp>
        <p:nvSpPr>
          <p:cNvPr id="8" name="t1-label">
            <a:extLst xmlns:a="http://schemas.openxmlformats.org/drawingml/2006/main">
              <a:ext uri="{FF2B5EF4-FFF2-40B4-BE49-F238E27FC236}">
                <a16:creationId xmlns:a16="http://schemas.microsoft.com/office/drawing/2014/main" id="{A6B42214-6CC2-46BA-B5C2-789D8705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124200"/>
            <a:ext cx="1466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multi-asset</a:t>
            </a:r>
          </a:p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trend</a:t>
            </a:r>
          </a:p>
        </p:txBody>
      </p:sp>
      <p:sp>
        <p:nvSpPr>
          <p:cNvPr id="9" name="bookmark-D49–D50">
            <a:extLst xmlns:a="http://schemas.openxmlformats.org/drawingml/2006/main">
              <a:ext uri="{FF2B5EF4-FFF2-40B4-BE49-F238E27FC236}">
                <a16:creationId xmlns:a16="http://schemas.microsoft.com/office/drawing/2014/main" id="{662A8DAF-7B49-4AAD-BCF7-5B02FFFB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57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D49–D50</a:t>
            </a:r>
          </a:p>
        </p:txBody>
      </p:sp>
    </p:spTree>
    <p:extLst>
      <p:ext uri="{BB962C8B-B14F-4D97-AF65-F5344CB8AC3E}">
        <p14:creationId xmlns:p14="http://schemas.microsoft.com/office/powerpoint/2010/main" val="11765830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A3025509-5D65-4B3B-8E61-84A39355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RETAIL QUANT MECHANISM ATLAS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1DB9334-8414-4861-82D6-9A3734D7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Models are tools; mechanisms are what pay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0CCF1107-AF0D-45C5-9279-F93BFC09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49">
            <a:extLst xmlns:a="http://schemas.openxmlformats.org/drawingml/2006/main">
              <a:ext uri="{FF2B5EF4-FFF2-40B4-BE49-F238E27FC236}">
                <a16:creationId xmlns:a16="http://schemas.microsoft.com/office/drawing/2014/main" id="{AE2ABF51-23BB-415F-9440-EB914160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57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D49</a:t>
            </a:r>
          </a:p>
        </p:txBody>
      </p:sp>
      <p:sp>
        <p:nvSpPr>
          <p:cNvPr id="5" name="mechanism-01-marker">
            <a:extLst xmlns:a="http://schemas.openxmlformats.org/drawingml/2006/main">
              <a:ext uri="{FF2B5EF4-FFF2-40B4-BE49-F238E27FC236}">
                <a16:creationId xmlns:a16="http://schemas.microsoft.com/office/drawing/2014/main" id="{07457C24-2E5C-45F3-B64B-D1B340E7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9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chanism-01-number">
            <a:extLst xmlns:a="http://schemas.openxmlformats.org/drawingml/2006/main">
              <a:ext uri="{FF2B5EF4-FFF2-40B4-BE49-F238E27FC236}">
                <a16:creationId xmlns:a16="http://schemas.microsoft.com/office/drawing/2014/main" id="{34439E5F-F46B-4A3C-ACA7-BBB168F4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mechanism-01-title">
            <a:extLst xmlns:a="http://schemas.openxmlformats.org/drawingml/2006/main">
              <a:ext uri="{FF2B5EF4-FFF2-40B4-BE49-F238E27FC236}">
                <a16:creationId xmlns:a16="http://schemas.microsoft.com/office/drawing/2014/main" id="{68018B2F-186C-4DEC-B106-5F398C2B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716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Risk bearing</a:t>
            </a:r>
          </a:p>
        </p:txBody>
      </p:sp>
      <p:sp>
        <p:nvSpPr>
          <p:cNvPr id="8" name="mechanism-01-body">
            <a:extLst xmlns:a="http://schemas.openxmlformats.org/drawingml/2006/main">
              <a:ext uri="{FF2B5EF4-FFF2-40B4-BE49-F238E27FC236}">
                <a16:creationId xmlns:a16="http://schemas.microsoft.com/office/drawing/2014/main" id="{1120D1BF-2208-4D6D-BE00-3322510E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24075"/>
            <a:ext cx="400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Compensation for tolerating losses that others avoid.</a:t>
            </a:r>
          </a:p>
        </p:txBody>
      </p:sp>
      <p:sp>
        <p:nvSpPr>
          <p:cNvPr id="9" name="mechanism-02-marker">
            <a:extLst xmlns:a="http://schemas.openxmlformats.org/drawingml/2006/main">
              <a:ext uri="{FF2B5EF4-FFF2-40B4-BE49-F238E27FC236}">
                <a16:creationId xmlns:a16="http://schemas.microsoft.com/office/drawing/2014/main" id="{BBA4B07F-68DC-4646-B593-BD1893CB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9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chanism-02-number">
            <a:extLst xmlns:a="http://schemas.openxmlformats.org/drawingml/2006/main">
              <a:ext uri="{FF2B5EF4-FFF2-40B4-BE49-F238E27FC236}">
                <a16:creationId xmlns:a16="http://schemas.microsoft.com/office/drawing/2014/main" id="{B77F08AB-7D5D-4AC4-8DE4-88D8E6BB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mechanism-02-title">
            <a:extLst xmlns:a="http://schemas.openxmlformats.org/drawingml/2006/main">
              <a:ext uri="{FF2B5EF4-FFF2-40B4-BE49-F238E27FC236}">
                <a16:creationId xmlns:a16="http://schemas.microsoft.com/office/drawing/2014/main" id="{395FBEDC-C534-4177-99E3-50900E0A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813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Behavioral persistence</a:t>
            </a:r>
          </a:p>
        </p:txBody>
      </p:sp>
      <p:sp>
        <p:nvSpPr>
          <p:cNvPr id="12" name="mechanism-02-body">
            <a:extLst xmlns:a="http://schemas.openxmlformats.org/drawingml/2006/main">
              <a:ext uri="{FF2B5EF4-FFF2-40B4-BE49-F238E27FC236}">
                <a16:creationId xmlns:a16="http://schemas.microsoft.com/office/drawing/2014/main" id="{09DA39EC-C519-4648-B9F3-F3799A40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33725"/>
            <a:ext cx="400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Slow reaction, herding, and gradual capital reallocation.</a:t>
            </a:r>
          </a:p>
        </p:txBody>
      </p:sp>
      <p:sp>
        <p:nvSpPr>
          <p:cNvPr id="13" name="mechanism-03-marker">
            <a:extLst xmlns:a="http://schemas.openxmlformats.org/drawingml/2006/main">
              <a:ext uri="{FF2B5EF4-FFF2-40B4-BE49-F238E27FC236}">
                <a16:creationId xmlns:a16="http://schemas.microsoft.com/office/drawing/2014/main" id="{66D704EC-3ECC-45D1-91D0-0E9C05A0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9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B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chanism-03-number">
            <a:extLst xmlns:a="http://schemas.openxmlformats.org/drawingml/2006/main">
              <a:ext uri="{FF2B5EF4-FFF2-40B4-BE49-F238E27FC236}">
                <a16:creationId xmlns:a16="http://schemas.microsoft.com/office/drawing/2014/main" id="{F2DA9184-E51C-4A4F-8C2F-21049E97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C46B0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46B0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mechanism-03-title">
            <a:extLst xmlns:a="http://schemas.openxmlformats.org/drawingml/2006/main">
              <a:ext uri="{FF2B5EF4-FFF2-40B4-BE49-F238E27FC236}">
                <a16:creationId xmlns:a16="http://schemas.microsoft.com/office/drawing/2014/main" id="{C8112B27-FD93-45FF-BD60-7249C5C8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Liquidity provision</a:t>
            </a:r>
          </a:p>
        </p:txBody>
      </p:sp>
      <p:sp>
        <p:nvSpPr>
          <p:cNvPr id="16" name="mechanism-03-body">
            <a:extLst xmlns:a="http://schemas.openxmlformats.org/drawingml/2006/main">
              <a:ext uri="{FF2B5EF4-FFF2-40B4-BE49-F238E27FC236}">
                <a16:creationId xmlns:a16="http://schemas.microsoft.com/office/drawing/2014/main" id="{697F745B-FB45-486A-9796-A25E81BB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400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Temporarily absorb forced or impatient order flow.</a:t>
            </a:r>
          </a:p>
        </p:txBody>
      </p:sp>
      <p:sp>
        <p:nvSpPr>
          <p:cNvPr id="17" name="mechanism-04-marker">
            <a:extLst xmlns:a="http://schemas.openxmlformats.org/drawingml/2006/main">
              <a:ext uri="{FF2B5EF4-FFF2-40B4-BE49-F238E27FC236}">
                <a16:creationId xmlns:a16="http://schemas.microsoft.com/office/drawing/2014/main" id="{FB33AA52-4CFE-4646-AF0E-D10CFC60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9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chanism-04-number">
            <a:extLst xmlns:a="http://schemas.openxmlformats.org/drawingml/2006/main">
              <a:ext uri="{FF2B5EF4-FFF2-40B4-BE49-F238E27FC236}">
                <a16:creationId xmlns:a16="http://schemas.microsoft.com/office/drawing/2014/main" id="{1DC6DBD7-C032-4325-9831-B867E3C2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mechanism-04-title">
            <a:extLst xmlns:a="http://schemas.openxmlformats.org/drawingml/2006/main">
              <a:ext uri="{FF2B5EF4-FFF2-40B4-BE49-F238E27FC236}">
                <a16:creationId xmlns:a16="http://schemas.microsoft.com/office/drawing/2014/main" id="{8FB7595B-E062-43E5-B8A3-72CCF4DD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006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Relative value</a:t>
            </a:r>
          </a:p>
        </p:txBody>
      </p:sp>
      <p:sp>
        <p:nvSpPr>
          <p:cNvPr id="20" name="mechanism-04-body">
            <a:extLst xmlns:a="http://schemas.openxmlformats.org/drawingml/2006/main">
              <a:ext uri="{FF2B5EF4-FFF2-40B4-BE49-F238E27FC236}">
                <a16:creationId xmlns:a16="http://schemas.microsoft.com/office/drawing/2014/main" id="{5D4B5FCD-B1F6-4B91-95E9-AD53C833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53025"/>
            <a:ext cx="400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Exploit divergence between economically related instruments.</a:t>
            </a:r>
          </a:p>
        </p:txBody>
      </p:sp>
      <p:sp>
        <p:nvSpPr>
          <p:cNvPr id="21" name="right-panel">
            <a:extLst xmlns:a="http://schemas.openxmlformats.org/drawingml/2006/main">
              <a:ext uri="{FF2B5EF4-FFF2-40B4-BE49-F238E27FC236}">
                <a16:creationId xmlns:a16="http://schemas.microsoft.com/office/drawing/2014/main" id="{04A6B726-508F-41F0-84CD-37756E4E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2387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ight-title">
            <a:extLst xmlns:a="http://schemas.openxmlformats.org/drawingml/2006/main">
              <a:ext uri="{FF2B5EF4-FFF2-40B4-BE49-F238E27FC236}">
                <a16:creationId xmlns:a16="http://schemas.microsoft.com/office/drawing/2014/main" id="{BDC06DE4-A220-496E-8FBF-1AA5C539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The remaining two mechanisms</a:t>
            </a:r>
          </a:p>
        </p:txBody>
      </p:sp>
      <p:sp>
        <p:nvSpPr>
          <p:cNvPr id="23" name="rule-686-275-460">
            <a:extLst xmlns:a="http://schemas.openxmlformats.org/drawingml/2006/main">
              <a:ext uri="{FF2B5EF4-FFF2-40B4-BE49-F238E27FC236}">
                <a16:creationId xmlns:a16="http://schemas.microsoft.com/office/drawing/2014/main" id="{BD62B088-4755-428A-8E84-A37172B2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19375"/>
            <a:ext cx="438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nfo-title">
            <a:extLst xmlns:a="http://schemas.openxmlformats.org/drawingml/2006/main">
              <a:ext uri="{FF2B5EF4-FFF2-40B4-BE49-F238E27FC236}">
                <a16:creationId xmlns:a16="http://schemas.microsoft.com/office/drawing/2014/main" id="{8E6413A7-FDBF-4710-B8C4-A671705F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527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  Information diffusion</a:t>
            </a:r>
          </a:p>
        </p:txBody>
      </p:sp>
      <p:sp>
        <p:nvSpPr>
          <p:cNvPr id="25" name="info-body">
            <a:extLst xmlns:a="http://schemas.openxmlformats.org/drawingml/2006/main">
              <a:ext uri="{FF2B5EF4-FFF2-40B4-BE49-F238E27FC236}">
                <a16:creationId xmlns:a16="http://schemas.microsoft.com/office/drawing/2014/main" id="{C4C21C86-8889-40F8-B4C9-5DF67969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81375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Prices can adjust over hours or days when information is processed unevenly.</a:t>
            </a:r>
          </a:p>
        </p:txBody>
      </p:sp>
      <p:sp>
        <p:nvSpPr>
          <p:cNvPr id="26" name="impl-title">
            <a:extLst xmlns:a="http://schemas.openxmlformats.org/drawingml/2006/main">
              <a:ext uri="{FF2B5EF4-FFF2-40B4-BE49-F238E27FC236}">
                <a16:creationId xmlns:a16="http://schemas.microsoft.com/office/drawing/2014/main" id="{03A4D0E3-94F8-4C0D-9599-397D7C65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624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06  Implementation structure</a:t>
            </a:r>
          </a:p>
        </p:txBody>
      </p:sp>
      <p:sp>
        <p:nvSpPr>
          <p:cNvPr id="27" name="impl-body">
            <a:extLst xmlns:a="http://schemas.openxmlformats.org/drawingml/2006/main">
              <a:ext uri="{FF2B5EF4-FFF2-40B4-BE49-F238E27FC236}">
                <a16:creationId xmlns:a16="http://schemas.microsoft.com/office/drawing/2014/main" id="{4DEC578E-CB24-4DCD-8A9B-D99BE90B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91075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Trading rules, benchmark constraints, and institutional schedules can create recurring flows.</a:t>
            </a:r>
          </a:p>
        </p:txBody>
      </p:sp>
      <p:sp>
        <p:nvSpPr>
          <p:cNvPr id="28" name="footer">
            <a:extLst xmlns:a="http://schemas.openxmlformats.org/drawingml/2006/main">
              <a:ext uri="{FF2B5EF4-FFF2-40B4-BE49-F238E27FC236}">
                <a16:creationId xmlns:a16="http://schemas.microsoft.com/office/drawing/2014/main" id="{F7A78F80-03CB-48F1-961D-806C0423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8170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A model is useful only if it measures, combines, or controls one of these mechanisms without introducing leakage.</a:t>
            </a:r>
          </a:p>
        </p:txBody>
      </p:sp>
    </p:spTree>
    <p:extLst>
      <p:ext uri="{BB962C8B-B14F-4D97-AF65-F5344CB8AC3E}">
        <p14:creationId xmlns:p14="http://schemas.microsoft.com/office/powerpoint/2010/main" val="5371876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kicker">
            <a:extLst xmlns:a="http://schemas.openxmlformats.org/drawingml/2006/main">
              <a:ext uri="{FF2B5EF4-FFF2-40B4-BE49-F238E27FC236}">
                <a16:creationId xmlns:a16="http://schemas.microsoft.com/office/drawing/2014/main" id="{29AEFDC1-7618-4090-8E78-46B2FAA1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RETAIL QUANT MECHANISM ATLAS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23C9405-6B7E-4236-AD79-781B9AA8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Some ideas fit retail infrastructure; others do not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D109F5C9-56AC-4256-9569-2F476BEF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49">
            <a:extLst xmlns:a="http://schemas.openxmlformats.org/drawingml/2006/main">
              <a:ext uri="{FF2B5EF4-FFF2-40B4-BE49-F238E27FC236}">
                <a16:creationId xmlns:a16="http://schemas.microsoft.com/office/drawing/2014/main" id="{D492C4AA-449B-4024-968A-35A6825A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57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D49</a:t>
            </a:r>
          </a:p>
        </p:txBody>
      </p:sp>
      <p:sp>
        <p:nvSpPr>
          <p:cNvPr id="5" name="h-approach">
            <a:extLst xmlns:a="http://schemas.openxmlformats.org/drawingml/2006/main">
              <a:ext uri="{FF2B5EF4-FFF2-40B4-BE49-F238E27FC236}">
                <a16:creationId xmlns:a16="http://schemas.microsoft.com/office/drawing/2014/main" id="{91CF418C-B017-4A80-BF69-3A949AE9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APPROACH</a:t>
            </a:r>
          </a:p>
        </p:txBody>
      </p:sp>
      <p:sp>
        <p:nvSpPr>
          <p:cNvPr id="6" name="h-mechanism">
            <a:extLst xmlns:a="http://schemas.openxmlformats.org/drawingml/2006/main">
              <a:ext uri="{FF2B5EF4-FFF2-40B4-BE49-F238E27FC236}">
                <a16:creationId xmlns:a16="http://schemas.microsoft.com/office/drawing/2014/main" id="{BBD93F0C-9282-4D0E-836E-076F2157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287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WHY IT MIGHT EXIST</a:t>
            </a:r>
          </a:p>
        </p:txBody>
      </p:sp>
      <p:sp>
        <p:nvSpPr>
          <p:cNvPr id="7" name="h-fit">
            <a:extLst xmlns:a="http://schemas.openxmlformats.org/drawingml/2006/main">
              <a:ext uri="{FF2B5EF4-FFF2-40B4-BE49-F238E27FC236}">
                <a16:creationId xmlns:a16="http://schemas.microsoft.com/office/drawing/2014/main" id="{0397455D-FE4E-4D11-85D3-1437AF5D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287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RETAIL FIT</a:t>
            </a:r>
          </a:p>
        </p:txBody>
      </p:sp>
      <p:sp>
        <p:nvSpPr>
          <p:cNvPr id="8" name="h-test">
            <a:extLst xmlns:a="http://schemas.openxmlformats.org/drawingml/2006/main">
              <a:ext uri="{FF2B5EF4-FFF2-40B4-BE49-F238E27FC236}">
                <a16:creationId xmlns:a16="http://schemas.microsoft.com/office/drawing/2014/main" id="{4366373C-DB3D-4B48-9165-5E921606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28775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FIRST POC</a:t>
            </a:r>
          </a:p>
        </p:txBody>
      </p:sp>
      <p:sp>
        <p:nvSpPr>
          <p:cNvPr id="9" name="rule-56-203-1168">
            <a:extLst xmlns:a="http://schemas.openxmlformats.org/drawingml/2006/main">
              <a:ext uri="{FF2B5EF4-FFF2-40B4-BE49-F238E27FC236}">
                <a16:creationId xmlns:a16="http://schemas.microsoft.com/office/drawing/2014/main" id="{8F120A55-D5E1-413C-A34C-711762CB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33575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ow-bg-214">
            <a:extLst xmlns:a="http://schemas.openxmlformats.org/drawingml/2006/main">
              <a:ext uri="{FF2B5EF4-FFF2-40B4-BE49-F238E27FC236}">
                <a16:creationId xmlns:a16="http://schemas.microsoft.com/office/drawing/2014/main" id="{593B2321-13A7-41AE-B412-4AA3C48B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90725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pproach-214">
            <a:extLst xmlns:a="http://schemas.openxmlformats.org/drawingml/2006/main">
              <a:ext uri="{FF2B5EF4-FFF2-40B4-BE49-F238E27FC236}">
                <a16:creationId xmlns:a16="http://schemas.microsoft.com/office/drawing/2014/main" id="{63D189DC-FE78-4157-9152-D7215411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Multi-asset trend</a:t>
            </a:r>
          </a:p>
        </p:txBody>
      </p:sp>
      <p:sp>
        <p:nvSpPr>
          <p:cNvPr id="12" name="mechanism-214">
            <a:extLst xmlns:a="http://schemas.openxmlformats.org/drawingml/2006/main">
              <a:ext uri="{FF2B5EF4-FFF2-40B4-BE49-F238E27FC236}">
                <a16:creationId xmlns:a16="http://schemas.microsoft.com/office/drawing/2014/main" id="{13B67E73-DB0E-42C4-88D6-0577CA52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859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Behavior + risk management</a:t>
            </a:r>
          </a:p>
        </p:txBody>
      </p:sp>
      <p:sp>
        <p:nvSpPr>
          <p:cNvPr id="13" name="fit-214">
            <a:extLst xmlns:a="http://schemas.openxmlformats.org/drawingml/2006/main">
              <a:ext uri="{FF2B5EF4-FFF2-40B4-BE49-F238E27FC236}">
                <a16:creationId xmlns:a16="http://schemas.microsoft.com/office/drawing/2014/main" id="{C4C12FB0-D1DE-4501-A175-08C695F5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859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HIGH  /  FIRST</a:t>
            </a:r>
          </a:p>
        </p:txBody>
      </p:sp>
      <p:sp>
        <p:nvSpPr>
          <p:cNvPr id="14" name="test-214">
            <a:extLst xmlns:a="http://schemas.openxmlformats.org/drawingml/2006/main">
              <a:ext uri="{FF2B5EF4-FFF2-40B4-BE49-F238E27FC236}">
                <a16:creationId xmlns:a16="http://schemas.microsoft.com/office/drawing/2014/main" id="{2A9AAB75-18EA-4BA1-9A5E-ABA3FCDC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85975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T1 persistence + portfolio</a:t>
            </a:r>
          </a:p>
        </p:txBody>
      </p:sp>
      <p:sp>
        <p:nvSpPr>
          <p:cNvPr id="15" name="row-bg-266">
            <a:extLst xmlns:a="http://schemas.openxmlformats.org/drawingml/2006/main">
              <a:ext uri="{FF2B5EF4-FFF2-40B4-BE49-F238E27FC236}">
                <a16:creationId xmlns:a16="http://schemas.microsoft.com/office/drawing/2014/main" id="{7BB4169D-6DB2-4524-9BA5-514CC3D5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86025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pproach-266">
            <a:extLst xmlns:a="http://schemas.openxmlformats.org/drawingml/2006/main">
              <a:ext uri="{FF2B5EF4-FFF2-40B4-BE49-F238E27FC236}">
                <a16:creationId xmlns:a16="http://schemas.microsoft.com/office/drawing/2014/main" id="{71229580-0258-4ADA-A55F-7C980E4D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Cross-sectional momentum</a:t>
            </a:r>
          </a:p>
        </p:txBody>
      </p:sp>
      <p:sp>
        <p:nvSpPr>
          <p:cNvPr id="17" name="mechanism-266">
            <a:extLst xmlns:a="http://schemas.openxmlformats.org/drawingml/2006/main">
              <a:ext uri="{FF2B5EF4-FFF2-40B4-BE49-F238E27FC236}">
                <a16:creationId xmlns:a16="http://schemas.microsoft.com/office/drawing/2014/main" id="{42654D3D-DF39-4126-A877-B0510835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812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Relative behavioral persistence</a:t>
            </a:r>
          </a:p>
        </p:txBody>
      </p:sp>
      <p:sp>
        <p:nvSpPr>
          <p:cNvPr id="18" name="fit-266">
            <a:extLst xmlns:a="http://schemas.openxmlformats.org/drawingml/2006/main">
              <a:ext uri="{FF2B5EF4-FFF2-40B4-BE49-F238E27FC236}">
                <a16:creationId xmlns:a16="http://schemas.microsoft.com/office/drawing/2014/main" id="{27627E46-961F-4D85-A665-70EAF745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812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HIGH  /  FIRST</a:t>
            </a:r>
          </a:p>
        </p:txBody>
      </p:sp>
      <p:sp>
        <p:nvSpPr>
          <p:cNvPr id="19" name="test-266">
            <a:extLst xmlns:a="http://schemas.openxmlformats.org/drawingml/2006/main">
              <a:ext uri="{FF2B5EF4-FFF2-40B4-BE49-F238E27FC236}">
                <a16:creationId xmlns:a16="http://schemas.microsoft.com/office/drawing/2014/main" id="{7EB4A3BB-1418-4FB1-B721-261D700C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81275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M1 ranking test</a:t>
            </a:r>
          </a:p>
        </p:txBody>
      </p:sp>
      <p:sp>
        <p:nvSpPr>
          <p:cNvPr id="20" name="approach-318">
            <a:extLst xmlns:a="http://schemas.openxmlformats.org/drawingml/2006/main">
              <a:ext uri="{FF2B5EF4-FFF2-40B4-BE49-F238E27FC236}">
                <a16:creationId xmlns:a16="http://schemas.microsoft.com/office/drawing/2014/main" id="{98C599A6-F037-409B-8289-B405B2AD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Post-earnings drift</a:t>
            </a:r>
          </a:p>
        </p:txBody>
      </p:sp>
      <p:sp>
        <p:nvSpPr>
          <p:cNvPr id="21" name="mechanism-318">
            <a:extLst xmlns:a="http://schemas.openxmlformats.org/drawingml/2006/main">
              <a:ext uri="{FF2B5EF4-FFF2-40B4-BE49-F238E27FC236}">
                <a16:creationId xmlns:a16="http://schemas.microsoft.com/office/drawing/2014/main" id="{66937039-407E-405D-82B0-DC18340B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765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Information diffusion</a:t>
            </a:r>
          </a:p>
        </p:txBody>
      </p:sp>
      <p:sp>
        <p:nvSpPr>
          <p:cNvPr id="22" name="fit-318">
            <a:extLst xmlns:a="http://schemas.openxmlformats.org/drawingml/2006/main">
              <a:ext uri="{FF2B5EF4-FFF2-40B4-BE49-F238E27FC236}">
                <a16:creationId xmlns:a16="http://schemas.microsoft.com/office/drawing/2014/main" id="{6096A994-D40B-4269-878B-09057F55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765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MEDIUM  /  SECOND</a:t>
            </a:r>
          </a:p>
        </p:txBody>
      </p:sp>
      <p:sp>
        <p:nvSpPr>
          <p:cNvPr id="23" name="test-318">
            <a:extLst xmlns:a="http://schemas.openxmlformats.org/drawingml/2006/main">
              <a:ext uri="{FF2B5EF4-FFF2-40B4-BE49-F238E27FC236}">
                <a16:creationId xmlns:a16="http://schemas.microsoft.com/office/drawing/2014/main" id="{2345A57E-29B1-4DAC-889F-FE7DB745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76575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E2 timestamp audit</a:t>
            </a:r>
          </a:p>
        </p:txBody>
      </p:sp>
      <p:sp>
        <p:nvSpPr>
          <p:cNvPr id="24" name="approach-370">
            <a:extLst xmlns:a="http://schemas.openxmlformats.org/drawingml/2006/main">
              <a:ext uri="{FF2B5EF4-FFF2-40B4-BE49-F238E27FC236}">
                <a16:creationId xmlns:a16="http://schemas.microsoft.com/office/drawing/2014/main" id="{DE3C6201-3B51-469A-AF11-863DDCE5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Pairs / relative value</a:t>
            </a:r>
          </a:p>
        </p:txBody>
      </p:sp>
      <p:sp>
        <p:nvSpPr>
          <p:cNvPr id="25" name="mechanism-370">
            <a:extLst xmlns:a="http://schemas.openxmlformats.org/drawingml/2006/main">
              <a:ext uri="{FF2B5EF4-FFF2-40B4-BE49-F238E27FC236}">
                <a16:creationId xmlns:a16="http://schemas.microsoft.com/office/drawing/2014/main" id="{35D66654-4388-4410-AF89-996FAEA3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718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Temporary divergence</a:t>
            </a:r>
          </a:p>
        </p:txBody>
      </p:sp>
      <p:sp>
        <p:nvSpPr>
          <p:cNvPr id="26" name="fit-370">
            <a:extLst xmlns:a="http://schemas.openxmlformats.org/drawingml/2006/main">
              <a:ext uri="{FF2B5EF4-FFF2-40B4-BE49-F238E27FC236}">
                <a16:creationId xmlns:a16="http://schemas.microsoft.com/office/drawing/2014/main" id="{B4F33D08-280E-4532-A9CF-ABD93B5B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718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27" name="test-370">
            <a:extLst xmlns:a="http://schemas.openxmlformats.org/drawingml/2006/main">
              <a:ext uri="{FF2B5EF4-FFF2-40B4-BE49-F238E27FC236}">
                <a16:creationId xmlns:a16="http://schemas.microsoft.com/office/drawing/2014/main" id="{0124FC63-2229-4CDC-92FA-9FFF42EF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71875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S0 admissibility before PnL</a:t>
            </a:r>
          </a:p>
        </p:txBody>
      </p:sp>
      <p:sp>
        <p:nvSpPr>
          <p:cNvPr id="28" name="approach-422">
            <a:extLst xmlns:a="http://schemas.openxmlformats.org/drawingml/2006/main">
              <a:ext uri="{FF2B5EF4-FFF2-40B4-BE49-F238E27FC236}">
                <a16:creationId xmlns:a16="http://schemas.microsoft.com/office/drawing/2014/main" id="{3A899F85-ACB9-40C6-90AC-953ECF51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Short-run reversal</a:t>
            </a:r>
          </a:p>
        </p:txBody>
      </p:sp>
      <p:sp>
        <p:nvSpPr>
          <p:cNvPr id="29" name="mechanism-422">
            <a:extLst xmlns:a="http://schemas.openxmlformats.org/drawingml/2006/main">
              <a:ext uri="{FF2B5EF4-FFF2-40B4-BE49-F238E27FC236}">
                <a16:creationId xmlns:a16="http://schemas.microsoft.com/office/drawing/2014/main" id="{CB708178-DAA8-4B3C-91FF-45894840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0671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Liquidity provision</a:t>
            </a:r>
          </a:p>
        </p:txBody>
      </p:sp>
      <p:sp>
        <p:nvSpPr>
          <p:cNvPr id="30" name="fit-422">
            <a:extLst xmlns:a="http://schemas.openxmlformats.org/drawingml/2006/main">
              <a:ext uri="{FF2B5EF4-FFF2-40B4-BE49-F238E27FC236}">
                <a16:creationId xmlns:a16="http://schemas.microsoft.com/office/drawing/2014/main" id="{DB9D9879-7074-49F9-B4FD-46139945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671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DATA-SENSITIVE</a:t>
            </a:r>
          </a:p>
        </p:txBody>
      </p:sp>
      <p:sp>
        <p:nvSpPr>
          <p:cNvPr id="31" name="test-422">
            <a:extLst xmlns:a="http://schemas.openxmlformats.org/drawingml/2006/main">
              <a:ext uri="{FF2B5EF4-FFF2-40B4-BE49-F238E27FC236}">
                <a16:creationId xmlns:a16="http://schemas.microsoft.com/office/drawing/2014/main" id="{CF6AAFBF-3035-4E25-BDB3-AC6C29E2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67175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Only with suitable feed</a:t>
            </a:r>
          </a:p>
        </p:txBody>
      </p:sp>
      <p:sp>
        <p:nvSpPr>
          <p:cNvPr id="32" name="approach-474">
            <a:extLst xmlns:a="http://schemas.openxmlformats.org/drawingml/2006/main">
              <a:ext uri="{FF2B5EF4-FFF2-40B4-BE49-F238E27FC236}">
                <a16:creationId xmlns:a16="http://schemas.microsoft.com/office/drawing/2014/main" id="{5CC5AD8A-3322-44AA-AB20-9859054F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Overnight / intraday</a:t>
            </a:r>
          </a:p>
        </p:txBody>
      </p:sp>
      <p:sp>
        <p:nvSpPr>
          <p:cNvPr id="33" name="mechanism-474">
            <a:extLst xmlns:a="http://schemas.openxmlformats.org/drawingml/2006/main">
              <a:ext uri="{FF2B5EF4-FFF2-40B4-BE49-F238E27FC236}">
                <a16:creationId xmlns:a16="http://schemas.microsoft.com/office/drawing/2014/main" id="{1714377F-CA70-4E4D-90F2-C3D61EA4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624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Implementation structure</a:t>
            </a:r>
          </a:p>
        </p:txBody>
      </p:sp>
      <p:sp>
        <p:nvSpPr>
          <p:cNvPr id="34" name="fit-474">
            <a:extLst xmlns:a="http://schemas.openxmlformats.org/drawingml/2006/main">
              <a:ext uri="{FF2B5EF4-FFF2-40B4-BE49-F238E27FC236}">
                <a16:creationId xmlns:a16="http://schemas.microsoft.com/office/drawing/2014/main" id="{4681B67A-42E6-4081-9BA9-44901820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624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MEASUREMENT FIRST</a:t>
            </a:r>
          </a:p>
        </p:txBody>
      </p:sp>
      <p:sp>
        <p:nvSpPr>
          <p:cNvPr id="35" name="test-474">
            <a:extLst xmlns:a="http://schemas.openxmlformats.org/drawingml/2006/main">
              <a:ext uri="{FF2B5EF4-FFF2-40B4-BE49-F238E27FC236}">
                <a16:creationId xmlns:a16="http://schemas.microsoft.com/office/drawing/2014/main" id="{0E6089F1-DBD0-41E0-9B2D-1526EF70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62475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I0 decomposition</a:t>
            </a:r>
          </a:p>
        </p:txBody>
      </p:sp>
      <p:sp>
        <p:nvSpPr>
          <p:cNvPr id="36" name="approach-526">
            <a:extLst xmlns:a="http://schemas.openxmlformats.org/drawingml/2006/main">
              <a:ext uri="{FF2B5EF4-FFF2-40B4-BE49-F238E27FC236}">
                <a16:creationId xmlns:a16="http://schemas.microsoft.com/office/drawing/2014/main" id="{D7F294E1-BA2F-4C91-ABF1-1BF9C8C1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Volatility overlay</a:t>
            </a:r>
          </a:p>
        </p:txBody>
      </p:sp>
      <p:sp>
        <p:nvSpPr>
          <p:cNvPr id="37" name="mechanism-526">
            <a:extLst xmlns:a="http://schemas.openxmlformats.org/drawingml/2006/main">
              <a:ext uri="{FF2B5EF4-FFF2-40B4-BE49-F238E27FC236}">
                <a16:creationId xmlns:a16="http://schemas.microsoft.com/office/drawing/2014/main" id="{5D2E09A1-A9C8-4042-AF13-9CB00FC5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577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Risk timing</a:t>
            </a:r>
          </a:p>
        </p:txBody>
      </p:sp>
      <p:sp>
        <p:nvSpPr>
          <p:cNvPr id="38" name="fit-526">
            <a:extLst xmlns:a="http://schemas.openxmlformats.org/drawingml/2006/main">
              <a:ext uri="{FF2B5EF4-FFF2-40B4-BE49-F238E27FC236}">
                <a16:creationId xmlns:a16="http://schemas.microsoft.com/office/drawing/2014/main" id="{7F5650F1-B252-44C6-9243-E3E3D55D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577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LATER LAYER</a:t>
            </a:r>
          </a:p>
        </p:txBody>
      </p:sp>
      <p:sp>
        <p:nvSpPr>
          <p:cNvPr id="39" name="test-526">
            <a:extLst xmlns:a="http://schemas.openxmlformats.org/drawingml/2006/main">
              <a:ext uri="{FF2B5EF4-FFF2-40B4-BE49-F238E27FC236}">
                <a16:creationId xmlns:a16="http://schemas.microsoft.com/office/drawing/2014/main" id="{6F99A17E-CB6E-4AFF-9D78-9A5E5243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57775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V1 after base strategy</a:t>
            </a:r>
          </a:p>
        </p:txBody>
      </p:sp>
      <p:sp>
        <p:nvSpPr>
          <p:cNvPr id="40" name="row-bg-578">
            <a:extLst xmlns:a="http://schemas.openxmlformats.org/drawingml/2006/main">
              <a:ext uri="{FF2B5EF4-FFF2-40B4-BE49-F238E27FC236}">
                <a16:creationId xmlns:a16="http://schemas.microsoft.com/office/drawing/2014/main" id="{581E1F4F-A2EE-4F96-B0CC-F2F6A286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57825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approach-578">
            <a:extLst xmlns:a="http://schemas.openxmlformats.org/drawingml/2006/main">
              <a:ext uri="{FF2B5EF4-FFF2-40B4-BE49-F238E27FC236}">
                <a16:creationId xmlns:a16="http://schemas.microsoft.com/office/drawing/2014/main" id="{6F2B8F78-77F7-4E6C-9BB4-A8267610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Scalping / option premia</a:t>
            </a:r>
          </a:p>
        </p:txBody>
      </p:sp>
      <p:sp>
        <p:nvSpPr>
          <p:cNvPr id="42" name="mechanism-578">
            <a:extLst xmlns:a="http://schemas.openxmlformats.org/drawingml/2006/main">
              <a:ext uri="{FF2B5EF4-FFF2-40B4-BE49-F238E27FC236}">
                <a16:creationId xmlns:a16="http://schemas.microsoft.com/office/drawing/2014/main" id="{82E730D7-4AC0-483B-981F-6876B68F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5530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Microstructure / insurance</a:t>
            </a:r>
          </a:p>
        </p:txBody>
      </p:sp>
      <p:sp>
        <p:nvSpPr>
          <p:cNvPr id="43" name="fit-578">
            <a:extLst xmlns:a="http://schemas.openxmlformats.org/drawingml/2006/main">
              <a:ext uri="{FF2B5EF4-FFF2-40B4-BE49-F238E27FC236}">
                <a16:creationId xmlns:a16="http://schemas.microsoft.com/office/drawing/2014/main" id="{DC287159-B1D5-4F44-98B7-53161EDB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530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DEFER</a:t>
            </a:r>
          </a:p>
        </p:txBody>
      </p:sp>
      <p:sp>
        <p:nvSpPr>
          <p:cNvPr id="44" name="test-578">
            <a:extLst xmlns:a="http://schemas.openxmlformats.org/drawingml/2006/main">
              <a:ext uri="{FF2B5EF4-FFF2-40B4-BE49-F238E27FC236}">
                <a16:creationId xmlns:a16="http://schemas.microsoft.com/office/drawing/2014/main" id="{0B825B77-08B0-40FB-9B35-87A87B2D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553075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Costs + data dominate</a:t>
            </a:r>
          </a:p>
        </p:txBody>
      </p:sp>
    </p:spTree>
    <p:extLst>
      <p:ext uri="{BB962C8B-B14F-4D97-AF65-F5344CB8AC3E}">
        <p14:creationId xmlns:p14="http://schemas.microsoft.com/office/powerpoint/2010/main" val="5436184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0FAB2437-CBF6-4DBD-8FAA-77C85A7C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RETAIL QUANT MECHANISM ATLAS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F0CBBEB-9E7A-4925-A6D3-681B4E66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Three mechanisms anchor the detour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11EF4780-389B-42E6-9DCA-94A20440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49">
            <a:extLst xmlns:a="http://schemas.openxmlformats.org/drawingml/2006/main">
              <a:ext uri="{FF2B5EF4-FFF2-40B4-BE49-F238E27FC236}">
                <a16:creationId xmlns:a16="http://schemas.microsoft.com/office/drawing/2014/main" id="{575AD200-8960-4829-95E1-17BDC5C6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57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D49</a:t>
            </a:r>
          </a:p>
        </p:txBody>
      </p:sp>
      <p:sp>
        <p:nvSpPr>
          <p:cNvPr id="5" name="T1-panel">
            <a:extLst xmlns:a="http://schemas.openxmlformats.org/drawingml/2006/main">
              <a:ext uri="{FF2B5EF4-FFF2-40B4-BE49-F238E27FC236}">
                <a16:creationId xmlns:a16="http://schemas.microsoft.com/office/drawing/2014/main" id="{BDB0C80C-4FAA-4899-9037-A3658103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1432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T1-code">
            <a:extLst xmlns:a="http://schemas.openxmlformats.org/drawingml/2006/main">
              <a:ext uri="{FF2B5EF4-FFF2-40B4-BE49-F238E27FC236}">
                <a16:creationId xmlns:a16="http://schemas.microsoft.com/office/drawing/2014/main" id="{0B7E70EC-ECFA-47BC-8036-6FF00692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2860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T1</a:t>
            </a:r>
          </a:p>
        </p:txBody>
      </p:sp>
      <p:sp>
        <p:nvSpPr>
          <p:cNvPr id="7" name="T1-title">
            <a:extLst xmlns:a="http://schemas.openxmlformats.org/drawingml/2006/main">
              <a:ext uri="{FF2B5EF4-FFF2-40B4-BE49-F238E27FC236}">
                <a16:creationId xmlns:a16="http://schemas.microsoft.com/office/drawing/2014/main" id="{F1FE3F71-028C-4A9C-8F60-7F41263C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9527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Persistence</a:t>
            </a:r>
          </a:p>
        </p:txBody>
      </p:sp>
      <p:sp>
        <p:nvSpPr>
          <p:cNvPr id="8" name="T1-body">
            <a:extLst xmlns:a="http://schemas.openxmlformats.org/drawingml/2006/main">
              <a:ext uri="{FF2B5EF4-FFF2-40B4-BE49-F238E27FC236}">
                <a16:creationId xmlns:a16="http://schemas.microsoft.com/office/drawing/2014/main" id="{C5DB4456-0AC2-4C84-9091-0B5B7E7B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600450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Does an asset that has outpaced cash over twelve months remain the better place to bear risk?</a:t>
            </a:r>
          </a:p>
        </p:txBody>
      </p:sp>
      <p:sp>
        <p:nvSpPr>
          <p:cNvPr id="9" name="M1-panel">
            <a:extLst xmlns:a="http://schemas.openxmlformats.org/drawingml/2006/main">
              <a:ext uri="{FF2B5EF4-FFF2-40B4-BE49-F238E27FC236}">
                <a16:creationId xmlns:a16="http://schemas.microsoft.com/office/drawing/2014/main" id="{F02DE842-9DD6-474D-AD09-8F47AA6D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31432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177245"/>
            </a:solidFill>
            <a:prstDash val="solid"/>
          </a:ln>
        </p:spPr>
      </p:sp>
      <p:sp>
        <p:nvSpPr>
          <p:cNvPr id="10" name="M1-code">
            <a:extLst xmlns:a="http://schemas.openxmlformats.org/drawingml/2006/main">
              <a:ext uri="{FF2B5EF4-FFF2-40B4-BE49-F238E27FC236}">
                <a16:creationId xmlns:a16="http://schemas.microsoft.com/office/drawing/2014/main" id="{2C85D683-3DFA-43C7-B43E-230EAE60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860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M1</a:t>
            </a:r>
          </a:p>
        </p:txBody>
      </p:sp>
      <p:sp>
        <p:nvSpPr>
          <p:cNvPr id="11" name="M1-title">
            <a:extLst xmlns:a="http://schemas.openxmlformats.org/drawingml/2006/main">
              <a:ext uri="{FF2B5EF4-FFF2-40B4-BE49-F238E27FC236}">
                <a16:creationId xmlns:a16="http://schemas.microsoft.com/office/drawing/2014/main" id="{E0AE622E-1CF3-473C-88A7-3D7F71C2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Ranking</a:t>
            </a:r>
          </a:p>
        </p:txBody>
      </p:sp>
      <p:sp>
        <p:nvSpPr>
          <p:cNvPr id="12" name="M1-body">
            <a:extLst xmlns:a="http://schemas.openxmlformats.org/drawingml/2006/main">
              <a:ext uri="{FF2B5EF4-FFF2-40B4-BE49-F238E27FC236}">
                <a16:creationId xmlns:a16="http://schemas.microsoft.com/office/drawing/2014/main" id="{3BC826B7-AA15-47F8-AFD8-79E3D5B0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00450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Do relative winners continue to outperform relative losers within a broad, point-in-time universe?</a:t>
            </a:r>
          </a:p>
        </p:txBody>
      </p:sp>
      <p:sp>
        <p:nvSpPr>
          <p:cNvPr id="13" name="S0-panel">
            <a:extLst xmlns:a="http://schemas.openxmlformats.org/drawingml/2006/main">
              <a:ext uri="{FF2B5EF4-FFF2-40B4-BE49-F238E27FC236}">
                <a16:creationId xmlns:a16="http://schemas.microsoft.com/office/drawing/2014/main" id="{F0081ADA-E081-4140-B4BD-252C1FAF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52625"/>
            <a:ext cx="31432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C46B08"/>
            </a:solidFill>
            <a:prstDash val="solid"/>
          </a:ln>
        </p:spPr>
      </p:sp>
      <p:sp>
        <p:nvSpPr>
          <p:cNvPr id="14" name="S0-code">
            <a:extLst xmlns:a="http://schemas.openxmlformats.org/drawingml/2006/main">
              <a:ext uri="{FF2B5EF4-FFF2-40B4-BE49-F238E27FC236}">
                <a16:creationId xmlns:a16="http://schemas.microsoft.com/office/drawing/2014/main" id="{CECE7A6D-64E9-4B11-9446-49E1726A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2860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C46B08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C46B08"/>
                </a:solidFill>
                <a:latin typeface="Arial"/>
                <a:ea typeface="Arial"/>
                <a:cs typeface="Arial"/>
              </a:rPr>
              <a:t>S0</a:t>
            </a:r>
          </a:p>
        </p:txBody>
      </p:sp>
      <p:sp>
        <p:nvSpPr>
          <p:cNvPr id="15" name="S0-title">
            <a:extLst xmlns:a="http://schemas.openxmlformats.org/drawingml/2006/main">
              <a:ext uri="{FF2B5EF4-FFF2-40B4-BE49-F238E27FC236}">
                <a16:creationId xmlns:a16="http://schemas.microsoft.com/office/drawing/2014/main" id="{DDC5052B-ACEF-4D92-A7FA-1E58B90F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527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Convergence</a:t>
            </a:r>
          </a:p>
        </p:txBody>
      </p:sp>
      <p:sp>
        <p:nvSpPr>
          <p:cNvPr id="16" name="S0-body">
            <a:extLst xmlns:a="http://schemas.openxmlformats.org/drawingml/2006/main">
              <a:ext uri="{FF2B5EF4-FFF2-40B4-BE49-F238E27FC236}">
                <a16:creationId xmlns:a16="http://schemas.microsoft.com/office/drawing/2014/main" id="{32F3D5AC-5A21-4CF0-AA87-A9A6117D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600450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Do any candidate relationships meet stability, tradability, and shortability requirements before a PnL test?</a:t>
            </a:r>
          </a:p>
        </p:txBody>
      </p:sp>
      <p:sp>
        <p:nvSpPr>
          <p:cNvPr id="17" name="later">
            <a:extLst xmlns:a="http://schemas.openxmlformats.org/drawingml/2006/main">
              <a:ext uri="{FF2B5EF4-FFF2-40B4-BE49-F238E27FC236}">
                <a16:creationId xmlns:a16="http://schemas.microsoft.com/office/drawing/2014/main" id="{0C8DA230-9CFF-4E3E-BF3C-A30A5BE7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7150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Later bookmarks: I0 overnight/intraday measurement  •  E2 earnings drift  •  V1 volatility overlay</a:t>
            </a:r>
          </a:p>
        </p:txBody>
      </p:sp>
    </p:spTree>
    <p:extLst>
      <p:ext uri="{BB962C8B-B14F-4D97-AF65-F5344CB8AC3E}">
        <p14:creationId xmlns:p14="http://schemas.microsoft.com/office/powerpoint/2010/main" val="2049313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ransition">
            <a:extLst xmlns:a="http://schemas.openxmlformats.org/drawingml/2006/main">
              <a:ext uri="{FF2B5EF4-FFF2-40B4-BE49-F238E27FC236}">
                <a16:creationId xmlns:a16="http://schemas.microsoft.com/office/drawing/2014/main" id="{E242B5EB-CBF2-44CB-8C38-4F626164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TRANSITION  /  T1 CONTRACT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CF6426AC-E928-4386-87E0-7FABABE8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87153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T1 is deliberately boring—</a:t>
            </a:r>
          </a:p>
          <a:p xmlns:a="http://schemas.openxmlformats.org/drawingml/2006/main">
            <a:pPr algn="l">
              <a:defRPr sz="4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therefore testable</a:t>
            </a:r>
          </a:p>
        </p:txBody>
      </p:sp>
      <p:sp>
        <p:nvSpPr>
          <p:cNvPr id="3" name="rule-62-430-620">
            <a:extLst xmlns:a="http://schemas.openxmlformats.org/drawingml/2006/main">
              <a:ext uri="{FF2B5EF4-FFF2-40B4-BE49-F238E27FC236}">
                <a16:creationId xmlns:a16="http://schemas.microsoft.com/office/drawing/2014/main" id="{4894D98D-141C-4EA7-BB60-D415F976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590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27129FB-E8B1-4343-9302-3B8A2975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742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signal. One monthly clock. Fixed sleeves.</a:t>
            </a:r>
          </a:p>
          <a:p xmlns:a="http://schemas.openxmlformats.org/drawingml/2006/main">
            <a:pPr algn="l">
              <a:defRPr sz="21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optimization layer hiding inside the POC.</a:t>
            </a:r>
          </a:p>
        </p:txBody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CDE5FBB4-9210-4434-9BCC-381C09C4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622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T1</a:t>
            </a:r>
          </a:p>
        </p:txBody>
      </p:sp>
      <p:sp>
        <p:nvSpPr>
          <p:cNvPr id="6" name="status">
            <a:extLst xmlns:a="http://schemas.openxmlformats.org/drawingml/2006/main">
              <a:ext uri="{FF2B5EF4-FFF2-40B4-BE49-F238E27FC236}">
                <a16:creationId xmlns:a16="http://schemas.microsoft.com/office/drawing/2014/main" id="{14335121-1C56-41C7-B59E-CBBDEA5F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86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DRAFT CONTRACT</a:t>
            </a:r>
          </a:p>
        </p:txBody>
      </p:sp>
      <p:sp>
        <p:nvSpPr>
          <p:cNvPr id="7" name="bookmark-D50">
            <a:extLst xmlns:a="http://schemas.openxmlformats.org/drawingml/2006/main">
              <a:ext uri="{FF2B5EF4-FFF2-40B4-BE49-F238E27FC236}">
                <a16:creationId xmlns:a16="http://schemas.microsoft.com/office/drawing/2014/main" id="{94F25D00-C490-4956-B4DE-0A462E4F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57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D50</a:t>
            </a:r>
          </a:p>
        </p:txBody>
      </p:sp>
    </p:spTree>
    <p:extLst>
      <p:ext uri="{BB962C8B-B14F-4D97-AF65-F5344CB8AC3E}">
        <p14:creationId xmlns:p14="http://schemas.microsoft.com/office/powerpoint/2010/main" val="15018897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">
            <a:extLst xmlns:a="http://schemas.openxmlformats.org/drawingml/2006/main">
              <a:ext uri="{FF2B5EF4-FFF2-40B4-BE49-F238E27FC236}">
                <a16:creationId xmlns:a16="http://schemas.microsoft.com/office/drawing/2014/main" id="{14075F3A-6B4B-46F7-81DD-A10D7C1F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T1 MULTI-ASSET TREND CONTRACT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21BE7C3-D01B-4882-8D3E-CD1FDDA5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Fourteen sleeves span more than equity beta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8F5C3FD1-22EB-4083-8355-7E39F5F5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0">
            <a:extLst xmlns:a="http://schemas.openxmlformats.org/drawingml/2006/main">
              <a:ext uri="{FF2B5EF4-FFF2-40B4-BE49-F238E27FC236}">
                <a16:creationId xmlns:a16="http://schemas.microsoft.com/office/drawing/2014/main" id="{8810A641-CF3C-4D5F-B83B-3A683E23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57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D50</a:t>
            </a:r>
          </a:p>
        </p:txBody>
      </p:sp>
      <p:sp>
        <p:nvSpPr>
          <p:cNvPr id="5" name="Equity beta-group">
            <a:extLst xmlns:a="http://schemas.openxmlformats.org/drawingml/2006/main">
              <a:ext uri="{FF2B5EF4-FFF2-40B4-BE49-F238E27FC236}">
                <a16:creationId xmlns:a16="http://schemas.microsoft.com/office/drawing/2014/main" id="{DBFC916B-1F38-43E4-BD80-4F52DEF2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25241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Equity beta-top">
            <a:extLst xmlns:a="http://schemas.openxmlformats.org/drawingml/2006/main">
              <a:ext uri="{FF2B5EF4-FFF2-40B4-BE49-F238E27FC236}">
                <a16:creationId xmlns:a16="http://schemas.microsoft.com/office/drawing/2014/main" id="{E9A12D65-1168-45BE-ACBC-767553E1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2524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quity beta-label">
            <a:extLst xmlns:a="http://schemas.openxmlformats.org/drawingml/2006/main">
              <a:ext uri="{FF2B5EF4-FFF2-40B4-BE49-F238E27FC236}">
                <a16:creationId xmlns:a16="http://schemas.microsoft.com/office/drawing/2014/main" id="{FF197720-0D6E-426E-80EA-A7E7E78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Equity beta</a:t>
            </a:r>
          </a:p>
        </p:txBody>
      </p:sp>
      <p:sp>
        <p:nvSpPr>
          <p:cNvPr id="8" name="Equity beta-tickers">
            <a:extLst xmlns:a="http://schemas.openxmlformats.org/drawingml/2006/main">
              <a:ext uri="{FF2B5EF4-FFF2-40B4-BE49-F238E27FC236}">
                <a16:creationId xmlns:a16="http://schemas.microsoft.com/office/drawing/2014/main" id="{CAE1010D-4F9B-4FC3-BAAC-AFD55EEB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SPY  IWM  EFA  EEM</a:t>
            </a:r>
          </a:p>
        </p:txBody>
      </p:sp>
      <p:sp>
        <p:nvSpPr>
          <p:cNvPr id="9" name="Rates + credit-group">
            <a:extLst xmlns:a="http://schemas.openxmlformats.org/drawingml/2006/main">
              <a:ext uri="{FF2B5EF4-FFF2-40B4-BE49-F238E27FC236}">
                <a16:creationId xmlns:a16="http://schemas.microsoft.com/office/drawing/2014/main" id="{8152D93E-A15C-4995-A7B0-88065A9E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52625"/>
            <a:ext cx="25241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177245"/>
            </a:solidFill>
            <a:prstDash val="solid"/>
          </a:ln>
        </p:spPr>
      </p:sp>
      <p:sp>
        <p:nvSpPr>
          <p:cNvPr id="10" name="Rates + credit-top">
            <a:extLst xmlns:a="http://schemas.openxmlformats.org/drawingml/2006/main">
              <a:ext uri="{FF2B5EF4-FFF2-40B4-BE49-F238E27FC236}">
                <a16:creationId xmlns:a16="http://schemas.microsoft.com/office/drawing/2014/main" id="{DC1DBAD9-048A-4829-9AAB-23FC58C0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52625"/>
            <a:ext cx="2524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tes + credit-label">
            <a:extLst xmlns:a="http://schemas.openxmlformats.org/drawingml/2006/main">
              <a:ext uri="{FF2B5EF4-FFF2-40B4-BE49-F238E27FC236}">
                <a16:creationId xmlns:a16="http://schemas.microsoft.com/office/drawing/2014/main" id="{602BDD42-C0FA-4C3C-96B8-2A4F4AF8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381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Rates + credit</a:t>
            </a:r>
          </a:p>
        </p:txBody>
      </p:sp>
      <p:sp>
        <p:nvSpPr>
          <p:cNvPr id="12" name="Rates + credit-tickers">
            <a:extLst xmlns:a="http://schemas.openxmlformats.org/drawingml/2006/main">
              <a:ext uri="{FF2B5EF4-FFF2-40B4-BE49-F238E27FC236}">
                <a16:creationId xmlns:a16="http://schemas.microsoft.com/office/drawing/2014/main" id="{1A38CB7B-2D46-47D8-A942-90B6F03A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1432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TLT  IEF  LQD  HYG</a:t>
            </a:r>
          </a:p>
        </p:txBody>
      </p:sp>
      <p:sp>
        <p:nvSpPr>
          <p:cNvPr id="13" name="Real assets-group">
            <a:extLst xmlns:a="http://schemas.openxmlformats.org/drawingml/2006/main">
              <a:ext uri="{FF2B5EF4-FFF2-40B4-BE49-F238E27FC236}">
                <a16:creationId xmlns:a16="http://schemas.microsoft.com/office/drawing/2014/main" id="{CD76131A-A20A-4A97-A2A1-F0D23A4D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5241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C46B08"/>
            </a:solidFill>
            <a:prstDash val="solid"/>
          </a:ln>
        </p:spPr>
      </p:sp>
      <p:sp>
        <p:nvSpPr>
          <p:cNvPr id="14" name="Real assets-top">
            <a:extLst xmlns:a="http://schemas.openxmlformats.org/drawingml/2006/main">
              <a:ext uri="{FF2B5EF4-FFF2-40B4-BE49-F238E27FC236}">
                <a16:creationId xmlns:a16="http://schemas.microsoft.com/office/drawing/2014/main" id="{D04EBA4F-C7DA-46DE-A668-8B2C3165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524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B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al assets-label">
            <a:extLst xmlns:a="http://schemas.openxmlformats.org/drawingml/2006/main">
              <a:ext uri="{FF2B5EF4-FFF2-40B4-BE49-F238E27FC236}">
                <a16:creationId xmlns:a16="http://schemas.microsoft.com/office/drawing/2014/main" id="{A96B3675-6FB9-4846-A209-1147D9DB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Real assets</a:t>
            </a:r>
          </a:p>
        </p:txBody>
      </p:sp>
      <p:sp>
        <p:nvSpPr>
          <p:cNvPr id="16" name="Real assets-tickers">
            <a:extLst xmlns:a="http://schemas.openxmlformats.org/drawingml/2006/main">
              <a:ext uri="{FF2B5EF4-FFF2-40B4-BE49-F238E27FC236}">
                <a16:creationId xmlns:a16="http://schemas.microsoft.com/office/drawing/2014/main" id="{339C650F-3150-4F32-A01F-7606363B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C46B0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46B08"/>
                </a:solidFill>
                <a:latin typeface="Arial"/>
                <a:ea typeface="Arial"/>
                <a:cs typeface="Arial"/>
              </a:rPr>
              <a:t>GLD  SLV  DBC</a:t>
            </a:r>
          </a:p>
        </p:txBody>
      </p:sp>
      <p:sp>
        <p:nvSpPr>
          <p:cNvPr id="17" name="Diversifiers-group">
            <a:extLst xmlns:a="http://schemas.openxmlformats.org/drawingml/2006/main">
              <a:ext uri="{FF2B5EF4-FFF2-40B4-BE49-F238E27FC236}">
                <a16:creationId xmlns:a16="http://schemas.microsoft.com/office/drawing/2014/main" id="{89E94698-5BE4-4DD0-B32B-DF4D5965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952625"/>
            <a:ext cx="25241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8" name="Diversifiers-top">
            <a:extLst xmlns:a="http://schemas.openxmlformats.org/drawingml/2006/main">
              <a:ext uri="{FF2B5EF4-FFF2-40B4-BE49-F238E27FC236}">
                <a16:creationId xmlns:a16="http://schemas.microsoft.com/office/drawing/2014/main" id="{A0513DE8-8CE6-4826-9297-79859005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952625"/>
            <a:ext cx="2524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iversifiers-label">
            <a:extLst xmlns:a="http://schemas.openxmlformats.org/drawingml/2006/main">
              <a:ext uri="{FF2B5EF4-FFF2-40B4-BE49-F238E27FC236}">
                <a16:creationId xmlns:a16="http://schemas.microsoft.com/office/drawing/2014/main" id="{2703BB05-13E6-40A7-94DA-BADC475C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381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Diversifiers</a:t>
            </a:r>
          </a:p>
        </p:txBody>
      </p:sp>
      <p:sp>
        <p:nvSpPr>
          <p:cNvPr id="20" name="Diversifiers-tickers">
            <a:extLst xmlns:a="http://schemas.openxmlformats.org/drawingml/2006/main">
              <a:ext uri="{FF2B5EF4-FFF2-40B4-BE49-F238E27FC236}">
                <a16:creationId xmlns:a16="http://schemas.microsoft.com/office/drawing/2014/main" id="{0934FA09-B269-4A91-A3FB-F9990BCD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1432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UUP  VNQ  XLE</a:t>
            </a:r>
          </a:p>
        </p:txBody>
      </p:sp>
      <p:sp>
        <p:nvSpPr>
          <p:cNvPr id="21" name="cash-strip">
            <a:extLst xmlns:a="http://schemas.openxmlformats.org/drawingml/2006/main">
              <a:ext uri="{FF2B5EF4-FFF2-40B4-BE49-F238E27FC236}">
                <a16:creationId xmlns:a16="http://schemas.microsoft.com/office/drawing/2014/main" id="{C0D40866-6168-40B2-9231-8E88F692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sh-label">
            <a:extLst xmlns:a="http://schemas.openxmlformats.org/drawingml/2006/main">
              <a:ext uri="{FF2B5EF4-FFF2-40B4-BE49-F238E27FC236}">
                <a16:creationId xmlns:a16="http://schemas.microsoft.com/office/drawing/2014/main" id="{5695DC7E-04F7-4624-9178-0A223763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673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Cash proxy</a:t>
            </a:r>
          </a:p>
        </p:txBody>
      </p:sp>
      <p:sp>
        <p:nvSpPr>
          <p:cNvPr id="23" name="cash-ticker">
            <a:extLst xmlns:a="http://schemas.openxmlformats.org/drawingml/2006/main">
              <a:ext uri="{FF2B5EF4-FFF2-40B4-BE49-F238E27FC236}">
                <a16:creationId xmlns:a16="http://schemas.microsoft.com/office/drawing/2014/main" id="{C362F3EF-6616-4FA1-BF77-7CEF7967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911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BIL</a:t>
            </a:r>
          </a:p>
        </p:txBody>
      </p:sp>
      <p:sp>
        <p:nvSpPr>
          <p:cNvPr id="24" name="cash-purpose">
            <a:extLst xmlns:a="http://schemas.openxmlformats.org/drawingml/2006/main">
              <a:ext uri="{FF2B5EF4-FFF2-40B4-BE49-F238E27FC236}">
                <a16:creationId xmlns:a16="http://schemas.microsoft.com/office/drawing/2014/main" id="{DC7E6BDA-3517-45FE-AF2F-7E2AA759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7682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signal hurdle  +  OFF-sleeve destination  +  cash benchmark</a:t>
            </a:r>
          </a:p>
        </p:txBody>
      </p:sp>
      <p:sp>
        <p:nvSpPr>
          <p:cNvPr id="25" name="scope">
            <a:extLst xmlns:a="http://schemas.openxmlformats.org/drawingml/2006/main">
              <a:ext uri="{FF2B5EF4-FFF2-40B4-BE49-F238E27FC236}">
                <a16:creationId xmlns:a16="http://schemas.microsoft.com/office/drawing/2014/main" id="{500AA6FA-1018-4959-849C-DF1B8C91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00750"/>
            <a:ext cx="900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Adjusted daily Alpaca SIP bars only  •  explicit as-of timestamp  •  no new provider</a:t>
            </a:r>
          </a:p>
        </p:txBody>
      </p:sp>
    </p:spTree>
    <p:extLst>
      <p:ext uri="{BB962C8B-B14F-4D97-AF65-F5344CB8AC3E}">
        <p14:creationId xmlns:p14="http://schemas.microsoft.com/office/powerpoint/2010/main" val="18665327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CA476BDE-F350-418F-A552-1B34561B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T1 MULTI-ASSET TREND CONTRACT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0433660-7D9E-4E8D-8A94-6F421D36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One month-end observation, one next-open decision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31A233CF-F033-45A9-BD55-1DFECE9C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0">
            <a:extLst xmlns:a="http://schemas.openxmlformats.org/drawingml/2006/main">
              <a:ext uri="{FF2B5EF4-FFF2-40B4-BE49-F238E27FC236}">
                <a16:creationId xmlns:a16="http://schemas.microsoft.com/office/drawing/2014/main" id="{9CDF23B9-E6B1-4DC8-90B6-AF6A627F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57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D50</a:t>
            </a:r>
          </a:p>
        </p:txBody>
      </p:sp>
      <p:sp>
        <p:nvSpPr>
          <p:cNvPr id="5" name="formula-label">
            <a:extLst xmlns:a="http://schemas.openxmlformats.org/drawingml/2006/main">
              <a:ext uri="{FF2B5EF4-FFF2-40B4-BE49-F238E27FC236}">
                <a16:creationId xmlns:a16="http://schemas.microsoft.com/office/drawing/2014/main" id="{72767857-7061-45AC-BFB6-469DE8D8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PRIMARY SIGNAL</a:t>
            </a:r>
          </a:p>
        </p:txBody>
      </p:sp>
      <p:sp>
        <p:nvSpPr>
          <p:cNvPr id="6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1E9869D2-19C4-4B8A-BD71-4F592C06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085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formula">
            <a:extLst xmlns:a="http://schemas.openxmlformats.org/drawingml/2006/main">
              <a:ext uri="{FF2B5EF4-FFF2-40B4-BE49-F238E27FC236}">
                <a16:creationId xmlns:a16="http://schemas.microsoft.com/office/drawing/2014/main" id="{13989CF5-D24E-4B54-831E-83737BC4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12-month log return of asset  −  12-month log return of BIL  &gt;  0</a:t>
            </a:r>
          </a:p>
        </p:txBody>
      </p:sp>
      <p:sp>
        <p:nvSpPr>
          <p:cNvPr id="8" name="rule-100-420-1065">
            <a:extLst xmlns:a="http://schemas.openxmlformats.org/drawingml/2006/main">
              <a:ext uri="{FF2B5EF4-FFF2-40B4-BE49-F238E27FC236}">
                <a16:creationId xmlns:a16="http://schemas.microsoft.com/office/drawing/2014/main" id="{0D4F047B-7C94-4351-A74B-ED3371C4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10144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de-145">
            <a:extLst xmlns:a="http://schemas.openxmlformats.org/drawingml/2006/main">
              <a:ext uri="{FF2B5EF4-FFF2-40B4-BE49-F238E27FC236}">
                <a16:creationId xmlns:a16="http://schemas.microsoft.com/office/drawing/2014/main" id="{6A5CBC6E-EE1E-4B29-871C-4C9209AF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ode-label-145">
            <a:extLst xmlns:a="http://schemas.openxmlformats.org/drawingml/2006/main">
              <a:ext uri="{FF2B5EF4-FFF2-40B4-BE49-F238E27FC236}">
                <a16:creationId xmlns:a16="http://schemas.microsoft.com/office/drawing/2014/main" id="{88496044-1101-4FD1-B928-1FF69842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053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 − 12 months</a:t>
            </a:r>
          </a:p>
        </p:txBody>
      </p:sp>
      <p:sp>
        <p:nvSpPr>
          <p:cNvPr id="11" name="node-sub-145">
            <a:extLst xmlns:a="http://schemas.openxmlformats.org/drawingml/2006/main">
              <a:ext uri="{FF2B5EF4-FFF2-40B4-BE49-F238E27FC236}">
                <a16:creationId xmlns:a16="http://schemas.microsoft.com/office/drawing/2014/main" id="{768C2BEF-4E64-4224-98E7-6FFC4A85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6482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starting month-end</a:t>
            </a:r>
          </a:p>
          <a:p xmlns:a="http://schemas.openxmlformats.org/drawingml/2006/main">
            <a:pPr algn="ctr"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adjusted close</a:t>
            </a:r>
          </a:p>
        </p:txBody>
      </p:sp>
      <p:sp>
        <p:nvSpPr>
          <p:cNvPr id="12" name="node-475">
            <a:extLst xmlns:a="http://schemas.openxmlformats.org/drawingml/2006/main">
              <a:ext uri="{FF2B5EF4-FFF2-40B4-BE49-F238E27FC236}">
                <a16:creationId xmlns:a16="http://schemas.microsoft.com/office/drawing/2014/main" id="{ACD55EAB-C174-4C41-ABF0-9FA84F80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de-label-475">
            <a:extLst xmlns:a="http://schemas.openxmlformats.org/drawingml/2006/main">
              <a:ext uri="{FF2B5EF4-FFF2-40B4-BE49-F238E27FC236}">
                <a16:creationId xmlns:a16="http://schemas.microsoft.com/office/drawing/2014/main" id="{5E0F7763-5B29-43A0-9B6B-E29F574E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3053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month-end close</a:t>
            </a:r>
          </a:p>
        </p:txBody>
      </p:sp>
      <p:sp>
        <p:nvSpPr>
          <p:cNvPr id="14" name="node-sub-475">
            <a:extLst xmlns:a="http://schemas.openxmlformats.org/drawingml/2006/main">
              <a:ext uri="{FF2B5EF4-FFF2-40B4-BE49-F238E27FC236}">
                <a16:creationId xmlns:a16="http://schemas.microsoft.com/office/drawing/2014/main" id="{FACF6E5A-C918-4C44-ACA3-3FCE0F26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6482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complete close observed;</a:t>
            </a:r>
          </a:p>
          <a:p xmlns:a="http://schemas.openxmlformats.org/drawingml/2006/main">
            <a:pPr algn="ctr"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decision after 17:30 ET</a:t>
            </a:r>
          </a:p>
        </p:txBody>
      </p:sp>
      <p:sp>
        <p:nvSpPr>
          <p:cNvPr id="15" name="node-805">
            <a:extLst xmlns:a="http://schemas.openxmlformats.org/drawingml/2006/main">
              <a:ext uri="{FF2B5EF4-FFF2-40B4-BE49-F238E27FC236}">
                <a16:creationId xmlns:a16="http://schemas.microsoft.com/office/drawing/2014/main" id="{4C64659F-5E5A-4AFA-806F-4D32AB23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de-label-805">
            <a:extLst xmlns:a="http://schemas.openxmlformats.org/drawingml/2006/main">
              <a:ext uri="{FF2B5EF4-FFF2-40B4-BE49-F238E27FC236}">
                <a16:creationId xmlns:a16="http://schemas.microsoft.com/office/drawing/2014/main" id="{D283F225-494E-4553-AF65-F181716C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3053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next open</a:t>
            </a:r>
          </a:p>
        </p:txBody>
      </p:sp>
      <p:sp>
        <p:nvSpPr>
          <p:cNvPr id="17" name="node-sub-805">
            <a:extLst xmlns:a="http://schemas.openxmlformats.org/drawingml/2006/main">
              <a:ext uri="{FF2B5EF4-FFF2-40B4-BE49-F238E27FC236}">
                <a16:creationId xmlns:a16="http://schemas.microsoft.com/office/drawing/2014/main" id="{AA5D7261-71CE-43A1-8878-0FE20950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6482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earliest permitted</a:t>
            </a:r>
          </a:p>
          <a:p xmlns:a="http://schemas.openxmlformats.org/drawingml/2006/main">
            <a:pPr algn="ctr"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rebalance</a:t>
            </a:r>
          </a:p>
        </p:txBody>
      </p:sp>
      <p:sp>
        <p:nvSpPr>
          <p:cNvPr id="18" name="node-1135">
            <a:extLst xmlns:a="http://schemas.openxmlformats.org/drawingml/2006/main">
              <a:ext uri="{FF2B5EF4-FFF2-40B4-BE49-F238E27FC236}">
                <a16:creationId xmlns:a16="http://schemas.microsoft.com/office/drawing/2014/main" id="{4979FA79-C2C3-4567-942B-BF75D703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ode-label-1135">
            <a:extLst xmlns:a="http://schemas.openxmlformats.org/drawingml/2006/main">
              <a:ext uri="{FF2B5EF4-FFF2-40B4-BE49-F238E27FC236}">
                <a16:creationId xmlns:a16="http://schemas.microsoft.com/office/drawing/2014/main" id="{72C2DD7F-17E0-49AE-BF08-745E7D9F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3053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next month</a:t>
            </a:r>
          </a:p>
        </p:txBody>
      </p:sp>
      <p:sp>
        <p:nvSpPr>
          <p:cNvPr id="20" name="node-sub-1135">
            <a:extLst xmlns:a="http://schemas.openxmlformats.org/drawingml/2006/main">
              <a:ext uri="{FF2B5EF4-FFF2-40B4-BE49-F238E27FC236}">
                <a16:creationId xmlns:a16="http://schemas.microsoft.com/office/drawing/2014/main" id="{07C5E8D8-1061-4F4D-A201-05406BA9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6482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hold until the next</a:t>
            </a:r>
          </a:p>
          <a:p xmlns:a="http://schemas.openxmlformats.org/drawingml/2006/main">
            <a:pPr algn="ctr"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scheduled open</a:t>
            </a:r>
          </a:p>
        </p:txBody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2241F282-161B-4311-8873-DCE26299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857875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No same-close execution. No incomplete month. No future membership or revision.</a:t>
            </a:r>
          </a:p>
        </p:txBody>
      </p:sp>
    </p:spTree>
    <p:extLst>
      <p:ext uri="{BB962C8B-B14F-4D97-AF65-F5344CB8AC3E}">
        <p14:creationId xmlns:p14="http://schemas.microsoft.com/office/powerpoint/2010/main" val="13224714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09628A2C-093E-40FB-96BE-C80E489F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T1 MULTI-ASSET TREND CONTRACT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7CB2E3D-5E3B-458E-9757-20427A51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Fixed sleeves prevent hidden optimization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A87BA77B-748C-4C00-97E6-F78A6900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0">
            <a:extLst xmlns:a="http://schemas.openxmlformats.org/drawingml/2006/main">
              <a:ext uri="{FF2B5EF4-FFF2-40B4-BE49-F238E27FC236}">
                <a16:creationId xmlns:a16="http://schemas.microsoft.com/office/drawing/2014/main" id="{1695FE79-8C71-4524-8269-941D96C5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57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D50</a:t>
            </a:r>
          </a:p>
        </p:txBody>
      </p:sp>
      <p:sp>
        <p:nvSpPr>
          <p:cNvPr id="5" name="sleeve">
            <a:extLst xmlns:a="http://schemas.openxmlformats.org/drawingml/2006/main">
              <a:ext uri="{FF2B5EF4-FFF2-40B4-BE49-F238E27FC236}">
                <a16:creationId xmlns:a16="http://schemas.microsoft.com/office/drawing/2014/main" id="{7CD640FE-AB0F-4841-98C0-2FBB0A44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Each risk asset owns exactly</a:t>
            </a:r>
          </a:p>
        </p:txBody>
      </p:sp>
      <p:sp>
        <p:nvSpPr>
          <p:cNvPr id="6" name="fraction">
            <a:extLst xmlns:a="http://schemas.openxmlformats.org/drawingml/2006/main">
              <a:ext uri="{FF2B5EF4-FFF2-40B4-BE49-F238E27FC236}">
                <a16:creationId xmlns:a16="http://schemas.microsoft.com/office/drawing/2014/main" id="{FF579B30-BC36-4FD6-B2CF-CE609CA8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 / 14</a:t>
            </a:r>
          </a:p>
        </p:txBody>
      </p:sp>
      <p:sp>
        <p:nvSpPr>
          <p:cNvPr id="7" name="fraction-copy">
            <a:extLst xmlns:a="http://schemas.openxmlformats.org/drawingml/2006/main">
              <a:ext uri="{FF2B5EF4-FFF2-40B4-BE49-F238E27FC236}">
                <a16:creationId xmlns:a16="http://schemas.microsoft.com/office/drawing/2014/main" id="{B373B681-F984-4F9F-9812-93DB050E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of the fully funded portfolio.</a:t>
            </a:r>
          </a:p>
        </p:txBody>
      </p:sp>
      <p:sp>
        <p:nvSpPr>
          <p:cNvPr id="8" name="rule-525-182-2">
            <a:extLst xmlns:a="http://schemas.openxmlformats.org/drawingml/2006/main">
              <a:ext uri="{FF2B5EF4-FFF2-40B4-BE49-F238E27FC236}">
                <a16:creationId xmlns:a16="http://schemas.microsoft.com/office/drawing/2014/main" id="{BBAA2C16-4F0A-4C9B-A685-85C5D53F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7335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n">
            <a:extLst xmlns:a="http://schemas.openxmlformats.org/drawingml/2006/main">
              <a:ext uri="{FF2B5EF4-FFF2-40B4-BE49-F238E27FC236}">
                <a16:creationId xmlns:a16="http://schemas.microsoft.com/office/drawing/2014/main" id="{CBED2AF7-FAA8-4FD9-901B-7367E57D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57375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177245"/>
            </a:solidFill>
            <a:prstDash val="solid"/>
          </a:ln>
        </p:spPr>
      </p:sp>
      <p:sp>
        <p:nvSpPr>
          <p:cNvPr id="10" name="on-label">
            <a:extLst xmlns:a="http://schemas.openxmlformats.org/drawingml/2006/main">
              <a:ext uri="{FF2B5EF4-FFF2-40B4-BE49-F238E27FC236}">
                <a16:creationId xmlns:a16="http://schemas.microsoft.com/office/drawing/2014/main" id="{5A7C73A5-6714-4B14-9C0A-F0AA8B24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3837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SIGNAL ON</a:t>
            </a:r>
          </a:p>
        </p:txBody>
      </p:sp>
      <p:sp>
        <p:nvSpPr>
          <p:cNvPr id="11" name="on-body">
            <a:extLst xmlns:a="http://schemas.openxmlformats.org/drawingml/2006/main">
              <a:ext uri="{FF2B5EF4-FFF2-40B4-BE49-F238E27FC236}">
                <a16:creationId xmlns:a16="http://schemas.microsoft.com/office/drawing/2014/main" id="{0E0C2671-E2F3-4ADE-BFD5-107BA66B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05125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Hold the</a:t>
            </a:r>
          </a:p>
          <a:p xmlns:a="http://schemas.openxmlformats.org/drawingml/2006/main">
            <a:pPr algn="ctr">
              <a:defRPr sz="23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risk asset</a:t>
            </a:r>
          </a:p>
        </p:txBody>
      </p:sp>
      <p:sp>
        <p:nvSpPr>
          <p:cNvPr id="12" name="off">
            <a:extLst xmlns:a="http://schemas.openxmlformats.org/drawingml/2006/main">
              <a:ext uri="{FF2B5EF4-FFF2-40B4-BE49-F238E27FC236}">
                <a16:creationId xmlns:a16="http://schemas.microsoft.com/office/drawing/2014/main" id="{077E6597-A5CD-4DDA-887C-6D45557D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57375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9525">
            <a:solidFill>
              <a:srgbClr val="5B6472"/>
            </a:solidFill>
            <a:prstDash val="solid"/>
          </a:ln>
        </p:spPr>
      </p:sp>
      <p:sp>
        <p:nvSpPr>
          <p:cNvPr id="13" name="off-label">
            <a:extLst xmlns:a="http://schemas.openxmlformats.org/drawingml/2006/main">
              <a:ext uri="{FF2B5EF4-FFF2-40B4-BE49-F238E27FC236}">
                <a16:creationId xmlns:a16="http://schemas.microsoft.com/office/drawing/2014/main" id="{09D38188-A570-41CA-8CC3-7497686D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3837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SIGNAL OFF</a:t>
            </a:r>
          </a:p>
        </p:txBody>
      </p:sp>
      <p:sp>
        <p:nvSpPr>
          <p:cNvPr id="14" name="off-body">
            <a:extLst xmlns:a="http://schemas.openxmlformats.org/drawingml/2006/main">
              <a:ext uri="{FF2B5EF4-FFF2-40B4-BE49-F238E27FC236}">
                <a16:creationId xmlns:a16="http://schemas.microsoft.com/office/drawing/2014/main" id="{F202F331-F521-4267-9AA1-F7A035D9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05125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Hold</a:t>
            </a:r>
          </a:p>
          <a:p xmlns:a="http://schemas.openxmlformats.org/drawingml/2006/main">
            <a:pPr algn="ctr">
              <a:defRPr sz="23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BIL</a:t>
            </a:r>
          </a:p>
        </p:txBody>
      </p:sp>
      <p:sp>
        <p:nvSpPr>
          <p:cNvPr id="15" name="forbidden-title">
            <a:extLst xmlns:a="http://schemas.openxmlformats.org/drawingml/2006/main">
              <a:ext uri="{FF2B5EF4-FFF2-40B4-BE49-F238E27FC236}">
                <a16:creationId xmlns:a16="http://schemas.microsoft.com/office/drawing/2014/main" id="{EF685002-DB8D-4404-8584-340BCE68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148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Not inside T1</a:t>
            </a:r>
          </a:p>
        </p:txBody>
      </p:sp>
      <p:sp>
        <p:nvSpPr>
          <p:cNvPr id="16" name="forbidden">
            <a:extLst xmlns:a="http://schemas.openxmlformats.org/drawingml/2006/main">
              <a:ext uri="{FF2B5EF4-FFF2-40B4-BE49-F238E27FC236}">
                <a16:creationId xmlns:a16="http://schemas.microsoft.com/office/drawing/2014/main" id="{805003FF-356B-4D2A-9237-DD17CC22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2445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no leverage  •  no volatility scaling  •  no ranking  •  no weighting optimizer  •  no ML gate</a:t>
            </a:r>
          </a:p>
        </p:txBody>
      </p:sp>
      <p:sp>
        <p:nvSpPr>
          <p:cNvPr id="17" name="costs">
            <a:extLst xmlns:a="http://schemas.openxmlformats.org/drawingml/2006/main">
              <a:ext uri="{FF2B5EF4-FFF2-40B4-BE49-F238E27FC236}">
                <a16:creationId xmlns:a16="http://schemas.microsoft.com/office/drawing/2014/main" id="{35A111FA-8EDB-4EAF-96B8-719D0741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00075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Trading costs: 5 bp one-way primary  /  10 bp stress</a:t>
            </a:r>
          </a:p>
        </p:txBody>
      </p:sp>
    </p:spTree>
    <p:extLst>
      <p:ext uri="{BB962C8B-B14F-4D97-AF65-F5344CB8AC3E}">
        <p14:creationId xmlns:p14="http://schemas.microsoft.com/office/powerpoint/2010/main" val="8755592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869E9ECC-0517-43A8-9AFC-073669AD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T1 MULTI-ASSET TREND CONTRACT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75D0EEC-B399-4E64-974F-75D816C4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Three controls answer three different questions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80CB30F0-23A9-4CBC-9F59-D7CE992C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0">
            <a:extLst xmlns:a="http://schemas.openxmlformats.org/drawingml/2006/main">
              <a:ext uri="{FF2B5EF4-FFF2-40B4-BE49-F238E27FC236}">
                <a16:creationId xmlns:a16="http://schemas.microsoft.com/office/drawing/2014/main" id="{893A05FE-9276-4698-9954-07323DBC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57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D50</a:t>
            </a:r>
          </a:p>
        </p:txBody>
      </p:sp>
      <p:sp>
        <p:nvSpPr>
          <p:cNvPr id="5" name="Static equal-weight-panel">
            <a:extLst xmlns:a="http://schemas.openxmlformats.org/drawingml/2006/main">
              <a:ext uri="{FF2B5EF4-FFF2-40B4-BE49-F238E27FC236}">
                <a16:creationId xmlns:a16="http://schemas.microsoft.com/office/drawing/2014/main" id="{8E8679BC-E075-4B4C-A467-89A862D7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333375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Static equal-weight-bar">
            <a:extLst xmlns:a="http://schemas.openxmlformats.org/drawingml/2006/main">
              <a:ext uri="{FF2B5EF4-FFF2-40B4-BE49-F238E27FC236}">
                <a16:creationId xmlns:a16="http://schemas.microsoft.com/office/drawing/2014/main" id="{FC046AE6-5325-4BC0-BCF5-36ECE963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tic equal-weight-label">
            <a:extLst xmlns:a="http://schemas.openxmlformats.org/drawingml/2006/main">
              <a:ext uri="{FF2B5EF4-FFF2-40B4-BE49-F238E27FC236}">
                <a16:creationId xmlns:a16="http://schemas.microsoft.com/office/drawing/2014/main" id="{F289ED8F-0A82-44F6-BE9C-2E3210CB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876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Static equal-weight</a:t>
            </a:r>
          </a:p>
        </p:txBody>
      </p:sp>
      <p:sp>
        <p:nvSpPr>
          <p:cNvPr id="8" name="Static equal-weight-question">
            <a:extLst xmlns:a="http://schemas.openxmlformats.org/drawingml/2006/main">
              <a:ext uri="{FF2B5EF4-FFF2-40B4-BE49-F238E27FC236}">
                <a16:creationId xmlns:a16="http://schemas.microsoft.com/office/drawing/2014/main" id="{73CB73CB-D91B-4B0B-BEB8-8E6C930F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28765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Does the timing rule improve the experience relative to simply owning all fourteen risk assets?</a:t>
            </a:r>
          </a:p>
        </p:txBody>
      </p:sp>
      <p:sp>
        <p:nvSpPr>
          <p:cNvPr id="9" name="100% BIL-panel">
            <a:extLst xmlns:a="http://schemas.openxmlformats.org/drawingml/2006/main">
              <a:ext uri="{FF2B5EF4-FFF2-40B4-BE49-F238E27FC236}">
                <a16:creationId xmlns:a16="http://schemas.microsoft.com/office/drawing/2014/main" id="{6F28A9C6-187D-4E8A-8D79-C41266EA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9525">
            <a:solidFill>
              <a:srgbClr val="5B6472"/>
            </a:solidFill>
            <a:prstDash val="solid"/>
          </a:ln>
        </p:spPr>
      </p:sp>
      <p:sp>
        <p:nvSpPr>
          <p:cNvPr id="10" name="100% BIL-bar">
            <a:extLst xmlns:a="http://schemas.openxmlformats.org/drawingml/2006/main">
              <a:ext uri="{FF2B5EF4-FFF2-40B4-BE49-F238E27FC236}">
                <a16:creationId xmlns:a16="http://schemas.microsoft.com/office/drawing/2014/main" id="{7168D9EE-1B25-4B02-8258-E7B56F6C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100% BIL-label">
            <a:extLst xmlns:a="http://schemas.openxmlformats.org/drawingml/2006/main">
              <a:ext uri="{FF2B5EF4-FFF2-40B4-BE49-F238E27FC236}">
                <a16:creationId xmlns:a16="http://schemas.microsoft.com/office/drawing/2014/main" id="{83127CE5-97CA-4B35-86DA-1535E689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76500"/>
            <a:ext cx="2876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100% BIL</a:t>
            </a:r>
          </a:p>
        </p:txBody>
      </p:sp>
      <p:sp>
        <p:nvSpPr>
          <p:cNvPr id="12" name="100% BIL-question">
            <a:extLst xmlns:a="http://schemas.openxmlformats.org/drawingml/2006/main">
              <a:ext uri="{FF2B5EF4-FFF2-40B4-BE49-F238E27FC236}">
                <a16:creationId xmlns:a16="http://schemas.microsoft.com/office/drawing/2014/main" id="{88CD68B3-F949-49F4-AB21-147344BE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29000"/>
            <a:ext cx="28765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Does bearing any risk earn enough to matter relative to the designated cash proxy?</a:t>
            </a:r>
          </a:p>
        </p:txBody>
      </p:sp>
      <p:sp>
        <p:nvSpPr>
          <p:cNvPr id="13" name="Exposure-matched EW-panel">
            <a:extLst xmlns:a="http://schemas.openxmlformats.org/drawingml/2006/main">
              <a:ext uri="{FF2B5EF4-FFF2-40B4-BE49-F238E27FC236}">
                <a16:creationId xmlns:a16="http://schemas.microsoft.com/office/drawing/2014/main" id="{407BC5BA-E924-4806-90C3-FD340728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33375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177245"/>
            </a:solidFill>
            <a:prstDash val="solid"/>
          </a:ln>
        </p:spPr>
      </p:sp>
      <p:sp>
        <p:nvSpPr>
          <p:cNvPr id="14" name="Exposure-matched EW-bar">
            <a:extLst xmlns:a="http://schemas.openxmlformats.org/drawingml/2006/main">
              <a:ext uri="{FF2B5EF4-FFF2-40B4-BE49-F238E27FC236}">
                <a16:creationId xmlns:a16="http://schemas.microsoft.com/office/drawing/2014/main" id="{F4C78024-5B6D-42F0-8613-1DFE0A87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xposure-matched EW-label">
            <a:extLst xmlns:a="http://schemas.openxmlformats.org/drawingml/2006/main">
              <a:ext uri="{FF2B5EF4-FFF2-40B4-BE49-F238E27FC236}">
                <a16:creationId xmlns:a16="http://schemas.microsoft.com/office/drawing/2014/main" id="{20789C81-DF61-4EB1-B9B1-87A65D21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76500"/>
            <a:ext cx="2876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Exposure-matched EW</a:t>
            </a:r>
          </a:p>
        </p:txBody>
      </p:sp>
      <p:sp>
        <p:nvSpPr>
          <p:cNvPr id="16" name="Exposure-matched EW-question">
            <a:extLst xmlns:a="http://schemas.openxmlformats.org/drawingml/2006/main">
              <a:ext uri="{FF2B5EF4-FFF2-40B4-BE49-F238E27FC236}">
                <a16:creationId xmlns:a16="http://schemas.microsoft.com/office/drawing/2014/main" id="{7DE92247-AFC6-440F-8D15-F31D4C67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29000"/>
            <a:ext cx="28765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Does trend selection add value beyond merely holding less risk when many sleeves are OFF?</a:t>
            </a:r>
          </a:p>
        </p:txBody>
      </p:sp>
      <p:sp>
        <p:nvSpPr>
          <p:cNvPr id="17" name="key">
            <a:extLst xmlns:a="http://schemas.openxmlformats.org/drawingml/2006/main">
              <a:ext uri="{FF2B5EF4-FFF2-40B4-BE49-F238E27FC236}">
                <a16:creationId xmlns:a16="http://schemas.microsoft.com/office/drawing/2014/main" id="{2B2A90D3-BA04-41DD-8B59-3B707013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667375"/>
            <a:ext cx="804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The exposure-matched control is the key causal comparator.</a:t>
            </a:r>
          </a:p>
        </p:txBody>
      </p:sp>
      <p:sp>
        <p:nvSpPr>
          <p:cNvPr id="18" name="key2">
            <a:extLst xmlns:a="http://schemas.openxmlformats.org/drawingml/2006/main">
              <a:ext uri="{FF2B5EF4-FFF2-40B4-BE49-F238E27FC236}">
                <a16:creationId xmlns:a16="http://schemas.microsoft.com/office/drawing/2014/main" id="{B43E7FF1-A2F1-48BC-A8FA-238AF6D2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1150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It holds the same total risky fraction as T1, spreads that risk across all fourteen assets, and puts the balance in BIL.</a:t>
            </a:r>
          </a:p>
        </p:txBody>
      </p:sp>
    </p:spTree>
    <p:extLst>
      <p:ext uri="{BB962C8B-B14F-4D97-AF65-F5344CB8AC3E}">
        <p14:creationId xmlns:p14="http://schemas.microsoft.com/office/powerpoint/2010/main" val="2509478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kicker">
            <a:extLst xmlns:a="http://schemas.openxmlformats.org/drawingml/2006/main">
              <a:ext uri="{FF2B5EF4-FFF2-40B4-BE49-F238E27FC236}">
                <a16:creationId xmlns:a16="http://schemas.microsoft.com/office/drawing/2014/main" id="{8CAD1909-69AE-4011-87C2-6AAAF80D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T1 MULTI-ASSET TREND CONTRACT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9986ED-C51B-4D05-A323-E02379E9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The contract can stop T1 before code becomes conviction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457265E4-3E89-40F6-A12F-0ACA035E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0">
            <a:extLst xmlns:a="http://schemas.openxmlformats.org/drawingml/2006/main">
              <a:ext uri="{FF2B5EF4-FFF2-40B4-BE49-F238E27FC236}">
                <a16:creationId xmlns:a16="http://schemas.microsoft.com/office/drawing/2014/main" id="{C5020B8A-24BC-4E59-9FDD-3B6B72B9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57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D50</a:t>
            </a:r>
          </a:p>
        </p:txBody>
      </p:sp>
      <p:sp>
        <p:nvSpPr>
          <p:cNvPr id="5" name="Mechanics-panel">
            <a:extLst xmlns:a="http://schemas.openxmlformats.org/drawingml/2006/main">
              <a:ext uri="{FF2B5EF4-FFF2-40B4-BE49-F238E27FC236}">
                <a16:creationId xmlns:a16="http://schemas.microsoft.com/office/drawing/2014/main" id="{E5856AA4-AC54-4ED0-9E7C-5DD399AA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476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Mechanics-bar">
            <a:extLst xmlns:a="http://schemas.openxmlformats.org/drawingml/2006/main">
              <a:ext uri="{FF2B5EF4-FFF2-40B4-BE49-F238E27FC236}">
                <a16:creationId xmlns:a16="http://schemas.microsoft.com/office/drawing/2014/main" id="{931B8080-466E-4819-8629-3F536CED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chanics-label">
            <a:extLst xmlns:a="http://schemas.openxmlformats.org/drawingml/2006/main">
              <a:ext uri="{FF2B5EF4-FFF2-40B4-BE49-F238E27FC236}">
                <a16:creationId xmlns:a16="http://schemas.microsoft.com/office/drawing/2014/main" id="{E9292E17-9F50-4BF7-B3DE-521A6C31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Mechanics</a:t>
            </a:r>
          </a:p>
        </p:txBody>
      </p:sp>
      <p:sp>
        <p:nvSpPr>
          <p:cNvPr id="8" name="Mechanics-dot-0">
            <a:extLst xmlns:a="http://schemas.openxmlformats.org/drawingml/2006/main">
              <a:ext uri="{FF2B5EF4-FFF2-40B4-BE49-F238E27FC236}">
                <a16:creationId xmlns:a16="http://schemas.microsoft.com/office/drawing/2014/main" id="{8AFAA8AA-DA24-4E9F-9420-4384BD40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Mechanics-item-0">
            <a:extLst xmlns:a="http://schemas.openxmlformats.org/drawingml/2006/main">
              <a:ext uri="{FF2B5EF4-FFF2-40B4-BE49-F238E27FC236}">
                <a16:creationId xmlns:a16="http://schemas.microsoft.com/office/drawing/2014/main" id="{31D967D6-866D-40D8-A450-2B808E04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3370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Explicit as-of</a:t>
            </a:r>
          </a:p>
        </p:txBody>
      </p:sp>
      <p:sp>
        <p:nvSpPr>
          <p:cNvPr id="10" name="Mechanics-dot-1">
            <a:extLst xmlns:a="http://schemas.openxmlformats.org/drawingml/2006/main">
              <a:ext uri="{FF2B5EF4-FFF2-40B4-BE49-F238E27FC236}">
                <a16:creationId xmlns:a16="http://schemas.microsoft.com/office/drawing/2014/main" id="{8953DEAC-2467-4913-A425-88A13A2E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Mechanics-item-1">
            <a:extLst xmlns:a="http://schemas.openxmlformats.org/drawingml/2006/main">
              <a:ext uri="{FF2B5EF4-FFF2-40B4-BE49-F238E27FC236}">
                <a16:creationId xmlns:a16="http://schemas.microsoft.com/office/drawing/2014/main" id="{1FF63DC5-9472-4798-ADD1-588E5F32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8140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Complete months only</a:t>
            </a:r>
          </a:p>
        </p:txBody>
      </p:sp>
      <p:sp>
        <p:nvSpPr>
          <p:cNvPr id="12" name="Mechanics-dot-2">
            <a:extLst xmlns:a="http://schemas.openxmlformats.org/drawingml/2006/main">
              <a:ext uri="{FF2B5EF4-FFF2-40B4-BE49-F238E27FC236}">
                <a16:creationId xmlns:a16="http://schemas.microsoft.com/office/drawing/2014/main" id="{91B65E59-251F-4638-BC30-2389061C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Mechanics-item-2">
            <a:extLst xmlns:a="http://schemas.openxmlformats.org/drawingml/2006/main">
              <a:ext uri="{FF2B5EF4-FFF2-40B4-BE49-F238E27FC236}">
                <a16:creationId xmlns:a16="http://schemas.microsoft.com/office/drawing/2014/main" id="{B4A0DD3D-0051-43AA-940E-B720CE37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2910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Next-open execution</a:t>
            </a:r>
          </a:p>
        </p:txBody>
      </p:sp>
      <p:sp>
        <p:nvSpPr>
          <p:cNvPr id="14" name="Mechanism-panel">
            <a:extLst xmlns:a="http://schemas.openxmlformats.org/drawingml/2006/main">
              <a:ext uri="{FF2B5EF4-FFF2-40B4-BE49-F238E27FC236}">
                <a16:creationId xmlns:a16="http://schemas.microsoft.com/office/drawing/2014/main" id="{3231B25E-462C-4D2F-A729-B188A782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476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177245"/>
            </a:solidFill>
            <a:prstDash val="solid"/>
          </a:ln>
        </p:spPr>
      </p:sp>
      <p:sp>
        <p:nvSpPr>
          <p:cNvPr id="15" name="Mechanism-bar">
            <a:extLst xmlns:a="http://schemas.openxmlformats.org/drawingml/2006/main">
              <a:ext uri="{FF2B5EF4-FFF2-40B4-BE49-F238E27FC236}">
                <a16:creationId xmlns:a16="http://schemas.microsoft.com/office/drawing/2014/main" id="{D83B8923-A3FC-461D-960E-9D168F56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chanism-label">
            <a:extLst xmlns:a="http://schemas.openxmlformats.org/drawingml/2006/main">
              <a:ext uri="{FF2B5EF4-FFF2-40B4-BE49-F238E27FC236}">
                <a16:creationId xmlns:a16="http://schemas.microsoft.com/office/drawing/2014/main" id="{64195B4F-F28B-44D8-8B13-96C0C6A3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Mechanism</a:t>
            </a:r>
          </a:p>
        </p:txBody>
      </p:sp>
      <p:sp>
        <p:nvSpPr>
          <p:cNvPr id="17" name="Mechanism-dot-0">
            <a:extLst xmlns:a="http://schemas.openxmlformats.org/drawingml/2006/main">
              <a:ext uri="{FF2B5EF4-FFF2-40B4-BE49-F238E27FC236}">
                <a16:creationId xmlns:a16="http://schemas.microsoft.com/office/drawing/2014/main" id="{6B3905A9-64A3-4722-8E1C-80651E44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527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Mechanism-item-0">
            <a:extLst xmlns:a="http://schemas.openxmlformats.org/drawingml/2006/main">
              <a:ext uri="{FF2B5EF4-FFF2-40B4-BE49-F238E27FC236}">
                <a16:creationId xmlns:a16="http://schemas.microsoft.com/office/drawing/2014/main" id="{527AC227-0AF2-4C51-8DBB-9E36188B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93370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Positive pooled ON−OFF</a:t>
            </a:r>
          </a:p>
        </p:txBody>
      </p:sp>
      <p:sp>
        <p:nvSpPr>
          <p:cNvPr id="19" name="Mechanism-dot-1">
            <a:extLst xmlns:a="http://schemas.openxmlformats.org/drawingml/2006/main">
              <a:ext uri="{FF2B5EF4-FFF2-40B4-BE49-F238E27FC236}">
                <a16:creationId xmlns:a16="http://schemas.microsoft.com/office/drawing/2014/main" id="{9ECA1200-9EC0-453B-B6DE-E5B18565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004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Mechanism-item-1">
            <a:extLst xmlns:a="http://schemas.openxmlformats.org/drawingml/2006/main">
              <a:ext uri="{FF2B5EF4-FFF2-40B4-BE49-F238E27FC236}">
                <a16:creationId xmlns:a16="http://schemas.microsoft.com/office/drawing/2014/main" id="{7FD03C64-DBD0-4615-BC87-E4D73338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58140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At least 8 of 14 assets</a:t>
            </a:r>
          </a:p>
        </p:txBody>
      </p:sp>
      <p:sp>
        <p:nvSpPr>
          <p:cNvPr id="21" name="Mechanism-dot-2">
            <a:extLst xmlns:a="http://schemas.openxmlformats.org/drawingml/2006/main">
              <a:ext uri="{FF2B5EF4-FFF2-40B4-BE49-F238E27FC236}">
                <a16:creationId xmlns:a16="http://schemas.microsoft.com/office/drawing/2014/main" id="{94DEED00-B104-446D-BA78-7F96219E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481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Mechanism-item-2">
            <a:extLst xmlns:a="http://schemas.openxmlformats.org/drawingml/2006/main">
              <a:ext uri="{FF2B5EF4-FFF2-40B4-BE49-F238E27FC236}">
                <a16:creationId xmlns:a16="http://schemas.microsoft.com/office/drawing/2014/main" id="{3886D634-2F65-4A79-8497-F03E8B92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22910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No single-asset dependence</a:t>
            </a:r>
          </a:p>
        </p:txBody>
      </p:sp>
      <p:sp>
        <p:nvSpPr>
          <p:cNvPr id="23" name="Portfolio-panel">
            <a:extLst xmlns:a="http://schemas.openxmlformats.org/drawingml/2006/main">
              <a:ext uri="{FF2B5EF4-FFF2-40B4-BE49-F238E27FC236}">
                <a16:creationId xmlns:a16="http://schemas.microsoft.com/office/drawing/2014/main" id="{1464EB82-9293-4F5F-B0E6-C5B9DBEB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2476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C46B08"/>
            </a:solidFill>
            <a:prstDash val="solid"/>
          </a:ln>
        </p:spPr>
      </p:sp>
      <p:sp>
        <p:nvSpPr>
          <p:cNvPr id="24" name="Portfolio-bar">
            <a:extLst xmlns:a="http://schemas.openxmlformats.org/drawingml/2006/main">
              <a:ext uri="{FF2B5EF4-FFF2-40B4-BE49-F238E27FC236}">
                <a16:creationId xmlns:a16="http://schemas.microsoft.com/office/drawing/2014/main" id="{03B80AE0-CA32-423C-A58E-8D8AC34A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B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ortfolio-label">
            <a:extLst xmlns:a="http://schemas.openxmlformats.org/drawingml/2006/main">
              <a:ext uri="{FF2B5EF4-FFF2-40B4-BE49-F238E27FC236}">
                <a16:creationId xmlns:a16="http://schemas.microsoft.com/office/drawing/2014/main" id="{9A2C7FF8-3B48-4220-911D-F5B312A7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C46B0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46B08"/>
                </a:solidFill>
                <a:latin typeface="Arial"/>
                <a:ea typeface="Arial"/>
                <a:cs typeface="Arial"/>
              </a:rPr>
              <a:t>Portfolio</a:t>
            </a:r>
          </a:p>
        </p:txBody>
      </p:sp>
      <p:sp>
        <p:nvSpPr>
          <p:cNvPr id="26" name="Portfolio-dot-0">
            <a:extLst xmlns:a="http://schemas.openxmlformats.org/drawingml/2006/main">
              <a:ext uri="{FF2B5EF4-FFF2-40B4-BE49-F238E27FC236}">
                <a16:creationId xmlns:a16="http://schemas.microsoft.com/office/drawing/2014/main" id="{4C934B50-2EAC-4CFC-9777-3D62EF06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527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46B0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46B0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7" name="Portfolio-item-0">
            <a:extLst xmlns:a="http://schemas.openxmlformats.org/drawingml/2006/main">
              <a:ext uri="{FF2B5EF4-FFF2-40B4-BE49-F238E27FC236}">
                <a16:creationId xmlns:a16="http://schemas.microsoft.com/office/drawing/2014/main" id="{ABFADF38-8588-4C8D-AE4D-723D809F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93370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Beat exposure-matched EW</a:t>
            </a:r>
          </a:p>
        </p:txBody>
      </p:sp>
      <p:sp>
        <p:nvSpPr>
          <p:cNvPr id="28" name="Portfolio-dot-1">
            <a:extLst xmlns:a="http://schemas.openxmlformats.org/drawingml/2006/main">
              <a:ext uri="{FF2B5EF4-FFF2-40B4-BE49-F238E27FC236}">
                <a16:creationId xmlns:a16="http://schemas.microsoft.com/office/drawing/2014/main" id="{DA50036D-7A15-48FB-8793-9BE002A3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04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46B0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46B0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9" name="Portfolio-item-1">
            <a:extLst xmlns:a="http://schemas.openxmlformats.org/drawingml/2006/main">
              <a:ext uri="{FF2B5EF4-FFF2-40B4-BE49-F238E27FC236}">
                <a16:creationId xmlns:a16="http://schemas.microsoft.com/office/drawing/2014/main" id="{84B3D572-CB54-4FA9-868E-EF168F5E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58140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≥10% relative DD reduction</a:t>
            </a:r>
          </a:p>
        </p:txBody>
      </p:sp>
      <p:sp>
        <p:nvSpPr>
          <p:cNvPr id="30" name="Portfolio-dot-2">
            <a:extLst xmlns:a="http://schemas.openxmlformats.org/drawingml/2006/main">
              <a:ext uri="{FF2B5EF4-FFF2-40B4-BE49-F238E27FC236}">
                <a16:creationId xmlns:a16="http://schemas.microsoft.com/office/drawing/2014/main" id="{6B7C649D-2500-457A-A0AA-7EC29EB4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481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46B0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46B0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1" name="Portfolio-item-2">
            <a:extLst xmlns:a="http://schemas.openxmlformats.org/drawingml/2006/main">
              <a:ext uri="{FF2B5EF4-FFF2-40B4-BE49-F238E27FC236}">
                <a16:creationId xmlns:a16="http://schemas.microsoft.com/office/drawing/2014/main" id="{4EA9F3FA-46EE-4011-96C0-BAF74B63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22910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≤2 pp return sacrifice</a:t>
            </a:r>
          </a:p>
        </p:txBody>
      </p:sp>
      <p:sp>
        <p:nvSpPr>
          <p:cNvPr id="32" name="Robustness-panel">
            <a:extLst xmlns:a="http://schemas.openxmlformats.org/drawingml/2006/main">
              <a:ext uri="{FF2B5EF4-FFF2-40B4-BE49-F238E27FC236}">
                <a16:creationId xmlns:a16="http://schemas.microsoft.com/office/drawing/2014/main" id="{05CB3714-831F-4DD5-8B28-F4F9F59A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09750"/>
            <a:ext cx="2476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33" name="Robustness-bar">
            <a:extLst xmlns:a="http://schemas.openxmlformats.org/drawingml/2006/main">
              <a:ext uri="{FF2B5EF4-FFF2-40B4-BE49-F238E27FC236}">
                <a16:creationId xmlns:a16="http://schemas.microsoft.com/office/drawing/2014/main" id="{77B0F948-4BF1-4176-9AB0-5DA3DA16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097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Robustness-label">
            <a:extLst xmlns:a="http://schemas.openxmlformats.org/drawingml/2006/main">
              <a:ext uri="{FF2B5EF4-FFF2-40B4-BE49-F238E27FC236}">
                <a16:creationId xmlns:a16="http://schemas.microsoft.com/office/drawing/2014/main" id="{A304A4ED-99EA-438E-875C-57D6D0F7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Robustness</a:t>
            </a:r>
          </a:p>
        </p:txBody>
      </p:sp>
      <p:sp>
        <p:nvSpPr>
          <p:cNvPr id="35" name="Robustness-dot-0">
            <a:extLst xmlns:a="http://schemas.openxmlformats.org/drawingml/2006/main">
              <a:ext uri="{FF2B5EF4-FFF2-40B4-BE49-F238E27FC236}">
                <a16:creationId xmlns:a16="http://schemas.microsoft.com/office/drawing/2014/main" id="{FFB8C4DE-67C3-4884-9771-64B103DE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527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6" name="Robustness-item-0">
            <a:extLst xmlns:a="http://schemas.openxmlformats.org/drawingml/2006/main">
              <a:ext uri="{FF2B5EF4-FFF2-40B4-BE49-F238E27FC236}">
                <a16:creationId xmlns:a16="http://schemas.microsoft.com/office/drawing/2014/main" id="{F8229075-0831-4D7D-956B-1B3A6555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93370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Survive 10 bp costs</a:t>
            </a:r>
          </a:p>
        </p:txBody>
      </p:sp>
      <p:sp>
        <p:nvSpPr>
          <p:cNvPr id="37" name="Robustness-dot-1">
            <a:extLst xmlns:a="http://schemas.openxmlformats.org/drawingml/2006/main">
              <a:ext uri="{FF2B5EF4-FFF2-40B4-BE49-F238E27FC236}">
                <a16:creationId xmlns:a16="http://schemas.microsoft.com/office/drawing/2014/main" id="{51B04F8E-28C3-4786-A00F-2F43F635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004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8" name="Robustness-item-1">
            <a:extLst xmlns:a="http://schemas.openxmlformats.org/drawingml/2006/main">
              <a:ext uri="{FF2B5EF4-FFF2-40B4-BE49-F238E27FC236}">
                <a16:creationId xmlns:a16="http://schemas.microsoft.com/office/drawing/2014/main" id="{D3B0FE2B-FBE6-4137-AD88-98AB52A4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58140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9m / 15m do not both reverse</a:t>
            </a:r>
          </a:p>
        </p:txBody>
      </p:sp>
      <p:sp>
        <p:nvSpPr>
          <p:cNvPr id="39" name="Robustness-dot-2">
            <a:extLst xmlns:a="http://schemas.openxmlformats.org/drawingml/2006/main">
              <a:ext uri="{FF2B5EF4-FFF2-40B4-BE49-F238E27FC236}">
                <a16:creationId xmlns:a16="http://schemas.microsoft.com/office/drawing/2014/main" id="{5DFC352E-55EE-4698-BCA4-45EBBD95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481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0" name="Robustness-item-2">
            <a:extLst xmlns:a="http://schemas.openxmlformats.org/drawingml/2006/main">
              <a:ext uri="{FF2B5EF4-FFF2-40B4-BE49-F238E27FC236}">
                <a16:creationId xmlns:a16="http://schemas.microsoft.com/office/drawing/2014/main" id="{694492B8-862B-4CC8-94B7-38326885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22910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No rescue tuning</a:t>
            </a:r>
          </a:p>
        </p:txBody>
      </p:sp>
      <p:sp>
        <p:nvSpPr>
          <p:cNvPr id="41" name="approval-boundary">
            <a:extLst xmlns:a="http://schemas.openxmlformats.org/drawingml/2006/main">
              <a:ext uri="{FF2B5EF4-FFF2-40B4-BE49-F238E27FC236}">
                <a16:creationId xmlns:a16="http://schemas.microsoft.com/office/drawing/2014/main" id="{1A302021-38E8-4D7E-8D96-AA68DFC6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619750"/>
            <a:ext cx="981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42" name="approval-copy">
            <a:extLst xmlns:a="http://schemas.openxmlformats.org/drawingml/2006/main">
              <a:ext uri="{FF2B5EF4-FFF2-40B4-BE49-F238E27FC236}">
                <a16:creationId xmlns:a16="http://schemas.microsoft.com/office/drawing/2014/main" id="{4F27D012-64AE-4D28-AAC5-D5DA3F3A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00725"/>
            <a:ext cx="933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NEXT GATE  /  Approve or revise this contract before strategy code or performance calculation.</a:t>
            </a:r>
          </a:p>
        </p:txBody>
      </p:sp>
    </p:spTree>
    <p:extLst>
      <p:ext uri="{BB962C8B-B14F-4D97-AF65-F5344CB8AC3E}">
        <p14:creationId xmlns:p14="http://schemas.microsoft.com/office/powerpoint/2010/main" val="13243844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2026-07-27T10:42:57.1030000Z</dcterms:created>
  <dcterms:modified xsi:type="dcterms:W3CDTF">2026-07-27T10:42:57.1030000Z</dcterms:modified>
</coreProperties>
</file>