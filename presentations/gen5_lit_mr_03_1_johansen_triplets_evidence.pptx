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04fd073f33445a" /><Relationship Type="http://schemas.openxmlformats.org/officeDocument/2006/relationships/extended-properties" Target="/docProps/app.xml" Id="R49343c13829f4732" /><Relationship Type="http://schemas.openxmlformats.org/officeDocument/2006/relationships/officeDocument" Target="/ppt/presentation.xml" Id="Rf92fbaeab0564c2d" /></Relationships>
</file>

<file path=ppt/presentation.xml><?xml version="1.0" encoding="utf-8"?>
<p:presentation xmlns:p="http://schemas.openxmlformats.org/presentationml/2006/main">
  <p:sldMasterIdLst>
    <p:sldMasterId xmlns:r="http://schemas.openxmlformats.org/officeDocument/2006/relationships" id="2147483648" r:id="R735cadacbb084fe7"/>
  </p:sldMasterIdLst>
  <p:notesMasterIdLst>
    <p:notesMasterId xmlns:r="http://schemas.openxmlformats.org/officeDocument/2006/relationships" r:id="R1578da46e450415a"/>
  </p:notesMasterIdLst>
  <p:sldIdLst>
    <p:sldId xmlns:r="http://schemas.openxmlformats.org/officeDocument/2006/relationships" id="256" r:id="R03524df5aef84667"/>
    <p:sldId xmlns:r="http://schemas.openxmlformats.org/officeDocument/2006/relationships" id="257" r:id="Rdab53e84176147b5"/>
    <p:sldId xmlns:r="http://schemas.openxmlformats.org/officeDocument/2006/relationships" id="258" r:id="Rc5a2b377d59d441b"/>
    <p:sldId xmlns:r="http://schemas.openxmlformats.org/officeDocument/2006/relationships" id="259" r:id="R5022d94273774918"/>
    <p:sldId xmlns:r="http://schemas.openxmlformats.org/officeDocument/2006/relationships" id="260" r:id="R0c2eafb802144c7d"/>
    <p:sldId xmlns:r="http://schemas.openxmlformats.org/officeDocument/2006/relationships" id="261" r:id="R3ef8f1b5a525482a"/>
    <p:sldId xmlns:r="http://schemas.openxmlformats.org/officeDocument/2006/relationships" id="262" r:id="R2b0eb3ad66914c70"/>
    <p:sldId xmlns:r="http://schemas.openxmlformats.org/officeDocument/2006/relationships" id="263" r:id="Rc3a6be65762f46ed"/>
    <p:sldId xmlns:r="http://schemas.openxmlformats.org/officeDocument/2006/relationships" id="264" r:id="Rf2ccf79eb06a446a"/>
    <p:sldId xmlns:r="http://schemas.openxmlformats.org/officeDocument/2006/relationships" id="265" r:id="R88fc48ad418f4bae"/>
    <p:sldId xmlns:r="http://schemas.openxmlformats.org/officeDocument/2006/relationships" id="266" r:id="R3c1d2708e8e4430c"/>
    <p:sldId xmlns:r="http://schemas.openxmlformats.org/officeDocument/2006/relationships" id="267" r:id="Rf1aa577df71b4371"/>
    <p:sldId xmlns:r="http://schemas.openxmlformats.org/officeDocument/2006/relationships" id="268" r:id="Rd62b989eab744351"/>
    <p:sldId xmlns:r="http://schemas.openxmlformats.org/officeDocument/2006/relationships" id="269" r:id="Rbbc485ec0b404dc9"/>
    <p:sldId xmlns:r="http://schemas.openxmlformats.org/officeDocument/2006/relationships" id="270" r:id="R6c14ff785bb14119"/>
    <p:sldId xmlns:r="http://schemas.openxmlformats.org/officeDocument/2006/relationships" id="271" r:id="Rf1a899fda132434d"/>
    <p:sldId xmlns:r="http://schemas.openxmlformats.org/officeDocument/2006/relationships" id="272" r:id="Rf095f381d52649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f2849ebadc46ff" /><Relationship Type="http://schemas.openxmlformats.org/officeDocument/2006/relationships/slideMaster" Target="/ppt/slideMasters/slideMaster1.xml" Id="R735cadacbb084fe7" /><Relationship Type="http://schemas.openxmlformats.org/officeDocument/2006/relationships/notesMaster" Target="/ppt/notesMasters/notesMaster1.xml" Id="R1578da46e450415a" /><Relationship Type="http://schemas.openxmlformats.org/officeDocument/2006/relationships/presProps" Target="/ppt/presProps.xml" Id="Rb5e5290c61ae4159" /><Relationship Type="http://schemas.openxmlformats.org/officeDocument/2006/relationships/tableStyles" Target="/ppt/tableStyles.xml" Id="R164070aae96f4367" /><Relationship Type="http://schemas.openxmlformats.org/officeDocument/2006/relationships/slide" Target="/ppt/slides/slide1.xml" Id="R03524df5aef84667" /><Relationship Type="http://schemas.openxmlformats.org/officeDocument/2006/relationships/slide" Target="/ppt/slides/slide2.xml" Id="Rdab53e84176147b5" /><Relationship Type="http://schemas.openxmlformats.org/officeDocument/2006/relationships/slide" Target="/ppt/slides/slide3.xml" Id="Rc5a2b377d59d441b" /><Relationship Type="http://schemas.openxmlformats.org/officeDocument/2006/relationships/slide" Target="/ppt/slides/slide4.xml" Id="R5022d94273774918" /><Relationship Type="http://schemas.openxmlformats.org/officeDocument/2006/relationships/slide" Target="/ppt/slides/slide5.xml" Id="R0c2eafb802144c7d" /><Relationship Type="http://schemas.openxmlformats.org/officeDocument/2006/relationships/slide" Target="/ppt/slides/slide6.xml" Id="R3ef8f1b5a525482a" /><Relationship Type="http://schemas.openxmlformats.org/officeDocument/2006/relationships/slide" Target="/ppt/slides/slide7.xml" Id="R2b0eb3ad66914c70" /><Relationship Type="http://schemas.openxmlformats.org/officeDocument/2006/relationships/slide" Target="/ppt/slides/slide8.xml" Id="Rc3a6be65762f46ed" /><Relationship Type="http://schemas.openxmlformats.org/officeDocument/2006/relationships/slide" Target="/ppt/slides/slide9.xml" Id="Rf2ccf79eb06a446a" /><Relationship Type="http://schemas.openxmlformats.org/officeDocument/2006/relationships/slide" Target="/ppt/slides/slide10.xml" Id="R88fc48ad418f4bae" /><Relationship Type="http://schemas.openxmlformats.org/officeDocument/2006/relationships/slide" Target="/ppt/slides/slide11.xml" Id="R3c1d2708e8e4430c" /><Relationship Type="http://schemas.openxmlformats.org/officeDocument/2006/relationships/slide" Target="/ppt/slides/slide12.xml" Id="Rf1aa577df71b4371" /><Relationship Type="http://schemas.openxmlformats.org/officeDocument/2006/relationships/slide" Target="/ppt/slides/slide13.xml" Id="Rd62b989eab744351" /><Relationship Type="http://schemas.openxmlformats.org/officeDocument/2006/relationships/slide" Target="/ppt/slides/slide14.xml" Id="Rbbc485ec0b404dc9" /><Relationship Type="http://schemas.openxmlformats.org/officeDocument/2006/relationships/slide" Target="/ppt/slides/slide15.xml" Id="R6c14ff785bb14119" /><Relationship Type="http://schemas.openxmlformats.org/officeDocument/2006/relationships/slide" Target="/ppt/slides/slide16.xml" Id="Rf1a899fda132434d" /><Relationship Type="http://schemas.openxmlformats.org/officeDocument/2006/relationships/slide" Target="/ppt/slides/slide17.xml" Id="Rf095f381d52649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6bfe43815c45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302bc79aec4a2c" /><Relationship Type="http://schemas.openxmlformats.org/officeDocument/2006/relationships/notesMaster" Target="/ppt/notesMasters/notesMaster1.xml" Id="R004adb8494344d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45313e6b984355" /><Relationship Type="http://schemas.openxmlformats.org/officeDocument/2006/relationships/notesMaster" Target="/ppt/notesMasters/notesMaster1.xml" Id="R9d7cb6bd638443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013fd1bdee4568" /><Relationship Type="http://schemas.openxmlformats.org/officeDocument/2006/relationships/notesMaster" Target="/ppt/notesMasters/notesMaster1.xml" Id="R4015d3d6c11b47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ca0111f4384c63" /><Relationship Type="http://schemas.openxmlformats.org/officeDocument/2006/relationships/notesMaster" Target="/ppt/notesMasters/notesMaster1.xml" Id="R0da4258d296c4c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dad77387424e95" /><Relationship Type="http://schemas.openxmlformats.org/officeDocument/2006/relationships/notesMaster" Target="/ppt/notesMasters/notesMaster1.xml" Id="Rccdf6e0466cc43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fb714129fc4a73" /><Relationship Type="http://schemas.openxmlformats.org/officeDocument/2006/relationships/notesMaster" Target="/ppt/notesMasters/notesMaster1.xml" Id="R7efe26d303d342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937547accd4adb" /><Relationship Type="http://schemas.openxmlformats.org/officeDocument/2006/relationships/notesMaster" Target="/ppt/notesMasters/notesMaster1.xml" Id="R3d9064ca13f843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90fc3025014df6" /><Relationship Type="http://schemas.openxmlformats.org/officeDocument/2006/relationships/notesMaster" Target="/ppt/notesMasters/notesMaster1.xml" Id="R03577e5992a84d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02511434eb4372" /><Relationship Type="http://schemas.openxmlformats.org/officeDocument/2006/relationships/notesMaster" Target="/ppt/notesMasters/notesMaster1.xml" Id="R7de704c3910c45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78f41fc37e4b74" /><Relationship Type="http://schemas.openxmlformats.org/officeDocument/2006/relationships/notesMaster" Target="/ppt/notesMasters/notesMaster1.xml" Id="Rebde5b372bd6408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f19c196bf94b81" /><Relationship Type="http://schemas.openxmlformats.org/officeDocument/2006/relationships/notesMaster" Target="/ppt/notesMasters/notesMaster1.xml" Id="R284ac6faba1945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3b72dcc240442f2" /><Relationship Type="http://schemas.openxmlformats.org/officeDocument/2006/relationships/notesMaster" Target="/ppt/notesMasters/notesMaster1.xml" Id="Rb6f19ce7b80f4f9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3a5ea0daa024a78" /><Relationship Type="http://schemas.openxmlformats.org/officeDocument/2006/relationships/notesMaster" Target="/ppt/notesMasters/notesMaster1.xml" Id="Rfb83c97ffc054c5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a1abf957ea74fe6" /><Relationship Type="http://schemas.openxmlformats.org/officeDocument/2006/relationships/notesMaster" Target="/ppt/notesMasters/notesMaster1.xml" Id="Rdb22ed072670436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7225e003db84568" /><Relationship Type="http://schemas.openxmlformats.org/officeDocument/2006/relationships/notesMaster" Target="/ppt/notesMasters/notesMaster1.xml" Id="R58e274d2401e429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949f5571bf44712" /><Relationship Type="http://schemas.openxmlformats.org/officeDocument/2006/relationships/notesMaster" Target="/ppt/notesMasters/notesMaster1.xml" Id="Re1b4bc7685df4b1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ba0402342434923" /><Relationship Type="http://schemas.openxmlformats.org/officeDocument/2006/relationships/notesMaster" Target="/ppt/notesMasters/notesMaster1.xml" Id="Rbbd8b83988ce4e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is the conceptual sequel to LIT-MR-02.1. It preserves the same theory-first, next-open, cost-aware evidence style while moving from a rolling pair hedge ratio to a TRAIN-frozen three-leg cointegrating vector.</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Project/Time-Series-Modeling-Gen5/presentations/gen5_lit_mr_02_1_bollinger_evidence.pptx</a:t>
            </a:r>
          </a:p>
          <a:p xmlns:a="http://schemas.openxmlformats.org/drawingml/2006/main">
            <a:r>
              <a:t>- C:/Users/Franc/OneDrive/Documents/Francis/Peltata Project/Time-Series-Modeling-Gen5/docs/GEN5_LIT_MR_03_1_JOHANSEN_TRIPLET_POC_CONTRACT.md</a:t>
            </a:r>
          </a:p>
          <a:p xmlns:a="http://schemas.openxmlformats.org/drawingml/2006/main">
            <a:r>
              <a:t>- C:/Users/Franc/OneDrive/Documents/Francis/Peltata Project/Time-Series-Modeling-Gen5/docs/GEN5_4_DECISION_DIALOGUE_INDEX.md — D74 and D76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Chan defines the Johansen eigenvector as the share allocation of a unit portfolio. The third leg can encode a common factor that a pair omitted.</a:t>
            </a:r>
          </a:p>
          <a:p xmlns:a="http://schemas.openxmlformats.org/drawingml/2006/main">
            <a:r>
              <a:t/>
            </a:r>
          </a:p>
          <a:p xmlns:a="http://schemas.openxmlformats.org/drawingml/2006/main">
            <a:r>
              <a:t>[Sources]</a:t>
            </a:r>
          </a:p>
          <a:p xmlns:a="http://schemas.openxmlformats.org/drawingml/2006/main">
            <a:r>
              <a:t>- C:/Users/Franc/OneDrive/Documents/Francis/Trading Literature/Algorithmic Trading - Winning Strategies and Their Rationale 2013.pdf, printed pp. 51–59; PDF pp. 69–77</a:t>
            </a:r>
          </a:p>
          <a:p xmlns:a="http://schemas.openxmlformats.org/drawingml/2006/main">
            <a:r>
              <a:t>- C:/Users/Franc/OneDrive/Documents/Francis/Peltata Project/Time-Series-Modeling-Gen5/presentations/gen5_lit_mr_02_1_bollinger_evidence.pptx, slides 2–6</a:t>
            </a:r>
          </a:p>
          <a:p xmlns:a="http://schemas.openxmlformats.org/drawingml/2006/main">
            <a:r>
              <a:t>- C:/Users/Franc/OneDrive/Documents/Francis/Peltata Project/Time-Series-Modeling-Gen5/docs/GEN5_4_DECISION_DIALOGUE_INDEX.md — D74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component I(1) check and stationary-combination concept are distinct. A p-value is interpreted under the null, not as the probability that the hypothesis is true.</a:t>
            </a:r>
          </a:p>
          <a:p xmlns:a="http://schemas.openxmlformats.org/drawingml/2006/main">
            <a:r>
              <a:t/>
            </a:r>
          </a:p>
          <a:p xmlns:a="http://schemas.openxmlformats.org/drawingml/2006/main">
            <a:r>
              <a:t>[Sources]</a:t>
            </a:r>
          </a:p>
          <a:p xmlns:a="http://schemas.openxmlformats.org/drawingml/2006/main">
            <a:r>
              <a:t>- C:/Users/Franc/OneDrive/Documents/Francis/Trading Literature/Algorithmic Trading - Winning Strategies and Their Rationale 2013.pdf, printed pp. 51–55; PDF pp. 69–73</a:t>
            </a:r>
          </a:p>
          <a:p xmlns:a="http://schemas.openxmlformats.org/drawingml/2006/main">
            <a:r>
              <a:t>- C:/Users/Franc/OneDrive/Documents/Francis/Peltata Project/Time-Series-Modeling-Gen5/docs/GEN5_LITERATURE_SOURCE_LEDGER.md</a:t>
            </a:r>
          </a:p>
          <a:p xmlns:a="http://schemas.openxmlformats.org/drawingml/2006/main">
            <a:r>
              <a:t>- C:/Users/Franc/OneDrive/Documents/Francis/Peltata Project/Time-Series-Modeling-Gen5/docs/GEN5_LIT_MR_03_1_JOHANSEN_TRIPLET_POC_CONTRACT.md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trace statistic is Jtrace(r) = -T Σᵢ₌ᵣ₊₁³ log(1-λᵢ). Gen5 obtains empirical p-values from seeded null simulations instead of importing package-specific tables.</a:t>
            </a:r>
          </a:p>
          <a:p xmlns:a="http://schemas.openxmlformats.org/drawingml/2006/main">
            <a:r>
              <a:t/>
            </a:r>
          </a:p>
          <a:p xmlns:a="http://schemas.openxmlformats.org/drawingml/2006/main">
            <a:r>
              <a:t>[Sources]</a:t>
            </a:r>
          </a:p>
          <a:p xmlns:a="http://schemas.openxmlformats.org/drawingml/2006/main">
            <a:r>
              <a:t>- C:/Users/Franc/OneDrive/Documents/Francis/Trading Literature/Algorithmic Trading - Winning Strategies and Their Rationale 2013.pdf, printed pp. 54–58; PDF pp. 72–76</a:t>
            </a:r>
          </a:p>
          <a:p xmlns:a="http://schemas.openxmlformats.org/drawingml/2006/main">
            <a:r>
              <a:t>- C:/Users/Franc/OneDrive/Documents/Francis/Peltata Project/Time-Series-Modeling-Gen5/docs/GEN5_LIT_MR_03_1_JOHANSEN_TRIPLET_POC_CONTRACT.md</a:t>
            </a:r>
          </a:p>
          <a:p xmlns:a="http://schemas.openxmlformats.org/drawingml/2006/main">
            <a:r>
              <a:t>- C:/Users/Franc/OneDrive/Documents/Francis/Peltata Project/Time-Series-Modeling-Gen5/R/gen5_lit_mr_03_1_triplet_poc.R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eigenvector is in shares, not dollars. Multiplying each coefficient by its price gives dollar exposure; dividing by total absolute dollar exposure makes candidates comparable and keeps the replay at one gross unit.</a:t>
            </a:r>
          </a:p>
          <a:p xmlns:a="http://schemas.openxmlformats.org/drawingml/2006/main">
            <a:r>
              <a:t/>
            </a:r>
          </a:p>
          <a:p xmlns:a="http://schemas.openxmlformats.org/drawingml/2006/main">
            <a:r>
              <a:t>[Sources]</a:t>
            </a:r>
          </a:p>
          <a:p xmlns:a="http://schemas.openxmlformats.org/drawingml/2006/main">
            <a:r>
              <a:t>- C:/Users/Franc/OneDrive/Documents/Francis/Trading Literature/Algorithmic Trading - Winning Strategies and Their Rationale 2013.pdf, printed pp. 55–59; PDF pp. 73–77</a:t>
            </a:r>
          </a:p>
          <a:p xmlns:a="http://schemas.openxmlformats.org/drawingml/2006/main">
            <a:r>
              <a:t>- C:/Users/Franc/OneDrive/Documents/Francis/Peltata Project/Time-Series-Modeling-Gen5/runs/research_workbench/literature_grounded/lit_mr_03_1_triplets_20260729/mr03_cointegrating_vectors.csv</a:t>
            </a:r>
          </a:p>
          <a:p xmlns:a="http://schemas.openxmlformats.org/drawingml/2006/main">
            <a:r>
              <a:t>- C:/Users/Franc/OneDrive/Documents/Francis/Peltata Project/Time-Series-Modeling-Gen5/runs/research_workbench/literature_grounded/lit_mr_03_1_triplets_20260729/visuals/mr03_train_dollar_exposures.png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Chan's printed example reports all three relations rejected up to full rank in his sample, then uses the first eigenvector as the strongest relation. Gen5 pushes back: full rank needs careful interpretation, so this POC requires exactly rank one for a minimal unambiguous portfolio.</a:t>
            </a:r>
          </a:p>
          <a:p xmlns:a="http://schemas.openxmlformats.org/drawingml/2006/main">
            <a:r>
              <a:t/>
            </a:r>
          </a:p>
          <a:p xmlns:a="http://schemas.openxmlformats.org/drawingml/2006/main">
            <a:r>
              <a:t>[Sources]</a:t>
            </a:r>
          </a:p>
          <a:p xmlns:a="http://schemas.openxmlformats.org/drawingml/2006/main">
            <a:r>
              <a:t>- C:/Users/Franc/OneDrive/Documents/Francis/Trading Literature/Algorithmic Trading - Winning Strategies and Their Rationale 2013.pdf, printed pp. 55–60; PDF pp. 73–78</a:t>
            </a:r>
          </a:p>
          <a:p xmlns:a="http://schemas.openxmlformats.org/drawingml/2006/main">
            <a:r>
              <a:t>- C:/Users/Franc/OneDrive/Documents/Francis/Peltata Project/Time-Series-Modeling-Gen5/docs/GEN5_LIT_MR_03_1_JOHANSEN_TRIPLET_POC_CONTRACT.md</a:t>
            </a:r>
          </a:p>
          <a:p xmlns:a="http://schemas.openxmlformats.org/drawingml/2006/main">
            <a:r>
              <a:t>- C:/Users/Franc/OneDrive/Documents/Francis/Peltata Project/Time-Series-Modeling-Gen5/docs/GEN5_4_DECISION_DIALOGUE_INDEX.md — D76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scientific omitted-factor hypothesis, not a generic instruction to add more legs. Chan also warns that USO holds futures rather than spot oil, so commodity-producer relationships can fail through roll and basis behavior.</a:t>
            </a:r>
          </a:p>
          <a:p xmlns:a="http://schemas.openxmlformats.org/drawingml/2006/main">
            <a:r>
              <a:t/>
            </a:r>
          </a:p>
          <a:p xmlns:a="http://schemas.openxmlformats.org/drawingml/2006/main">
            <a:r>
              <a:t>[Sources]</a:t>
            </a:r>
          </a:p>
          <a:p xmlns:a="http://schemas.openxmlformats.org/drawingml/2006/main">
            <a:r>
              <a:t>- C:/Users/Franc/OneDrive/Documents/Francis/Trading Literature/Algorithmic Trading - Winning Strategies and Their Rationale 2013.pdf, printed pp. 91–92; PDF pp. 109–110</a:t>
            </a:r>
          </a:p>
          <a:p xmlns:a="http://schemas.openxmlformats.org/drawingml/2006/main">
            <a:r>
              <a:t>- C:/Users/Franc/OneDrive/Documents/Francis/Peltata Project/Time-Series-Modeling-Gen5/docs/GEN5_LIT_MR_03_1_JOHANSEN_TRIPLET_POC_CONTRACT.md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registry contains eight candidates and 21 unique US-listed ETF or equity symbols, all with complete 2016–2020 adjusted-daily coverage after refresh.</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Project/Time-Series-Modeling-Gen5/docs/GEN5_LIT_MR_03_1_JOHANSEN_TRIPLET_POC_CONTRACT.md</a:t>
            </a:r>
          </a:p>
          <a:p xmlns:a="http://schemas.openxmlformats.org/drawingml/2006/main">
            <a:r>
              <a:t>- C:/Users/Franc/OneDrive/Documents/Francis/Peltata Project/Time-Series-Modeling-Gen5/runs/research_workbench/literature_grounded/lit_mr_03_1_triplets_20260729/mr03_triplet_registry.csv</a:t>
            </a:r>
          </a:p>
          <a:p xmlns:a="http://schemas.openxmlformats.org/drawingml/2006/main">
            <a:r>
              <a:t>- C:/Users/Franc/OneDrive/Documents/Francis/Peltata Project/Time-Series-Modeling-Gen5/runs/research_workbench/literature_grounded/lit_mr_03_1_triplets_20260729/mr03_train_coverage.csv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CONFIRMATION beginning 2024 remains sealed regardless of the DEVELOPMENT result. Because no candidate fully passed TRAIN, the runner did not query DEVELOPMENT for strategy evaluation.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Project/Time-Series-Modeling-Gen5/docs/GEN5_LIT_MR_03_1_JOHANSEN_TRIPLET_POC_CONTRACT.md</a:t>
            </a:r>
          </a:p>
          <a:p xmlns:a="http://schemas.openxmlformats.org/drawingml/2006/main">
            <a:r>
              <a:t>- C:/Users/Franc/OneDrive/Documents/Francis/Peltata Project/Time-Series-Modeling-Gen5/runs/research_workbench/literature_grounded/lit_mr_03_1_triplets_20260729/mr03_run_spec.csv</a:t>
            </a:r>
          </a:p>
          <a:p xmlns:a="http://schemas.openxmlformats.org/drawingml/2006/main">
            <a:r>
              <a:t>- C:/Users/Franc/OneDrive/Documents/Francis/Peltata Project/Time-Series-Modeling-Gen5/docs/GEN5_4_DECISION_DIALOGUE_INDEX.md — D74 and D77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ADF cutoff, exact-rank rule, and 0.85 cosine are project-designed thresholds. Chan motivates the tests and eigenvectors; he does not publish this admission checklist.</a:t>
            </a:r>
          </a:p>
          <a:p xmlns:a="http://schemas.openxmlformats.org/drawingml/2006/main">
            <a:r>
              <a:t/>
            </a:r>
          </a:p>
          <a:p xmlns:a="http://schemas.openxmlformats.org/drawingml/2006/main">
            <a:r>
              <a:t>[Sources]</a:t>
            </a:r>
          </a:p>
          <a:p xmlns:a="http://schemas.openxmlformats.org/drawingml/2006/main">
            <a:r>
              <a:t>- C:/Users/Franc/OneDrive/Documents/Francis/Trading Literature/Algorithmic Trading - Winning Strategies and Their Rationale 2013.pdf, printed pp. 42–58; PDF pp. 60–76</a:t>
            </a:r>
          </a:p>
          <a:p xmlns:a="http://schemas.openxmlformats.org/drawingml/2006/main">
            <a:r>
              <a:t>- C:/Users/Franc/OneDrive/Documents/Francis/Peltata Project/Time-Series-Modeling-Gen5/docs/GEN5_LIT_MR_03_1_JOHANSEN_TRIPLET_POC_CONTRACT.md</a:t>
            </a:r>
          </a:p>
          <a:p xmlns:a="http://schemas.openxmlformats.org/drawingml/2006/main">
            <a:r>
              <a:t>- C:/Users/Franc/OneDrive/Documents/Francis/Peltata Project/Time-Series-Modeling-Gen5/runs/research_workbench/literature_grounded/lit_mr_03_1_triplets_20260729/mr03_train_gate_detail.csv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eight are conjunctive. This deliberately prevents a profitable TRAIN replay from substituting for mechanism evidence, or a cointegration test from substituting for costs.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Project/Time-Series-Modeling-Gen5/docs/GEN5_LIT_MR_03_1_JOHANSEN_TRIPLET_POC_CONTRACT.md</a:t>
            </a:r>
          </a:p>
          <a:p xmlns:a="http://schemas.openxmlformats.org/drawingml/2006/main">
            <a:r>
              <a:t>- C:/Users/Franc/OneDrive/Documents/Francis/Peltata Project/Time-Series-Modeling-Gen5/runs/research_workbench/literature_grounded/lit_mr_03_1_triplets_20260729/mr03_train_gate_detail.csv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Rank one requires rejecting rank 0 while not rejecting rank at most one. EWA–EWC–IGE, GLD–GDX–USO, SHY–IEF–TLT, XLE–XOP–USO, and GLD–SLV–GDX passed this diagnostic.</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Project/Time-Series-Modeling-Gen5/runs/research_workbench/literature_grounded/lit_mr_03_1_triplets_20260729/mr03_johansen_bootstrap_summary.csv</a:t>
            </a:r>
          </a:p>
          <a:p xmlns:a="http://schemas.openxmlformats.org/drawingml/2006/main">
            <a:r>
              <a:t>- C:/Users/Franc/OneDrive/Documents/Francis/Peltata Project/Time-Series-Modeling-Gen5/runs/research_workbench/literature_grounded/lit_mr_03_1_triplets_20260729/visuals/mr03_johansen_rank_diagnostics.png</a:t>
            </a:r>
          </a:p>
          <a:p xmlns:a="http://schemas.openxmlformats.org/drawingml/2006/main">
            <a:r>
              <a:t>- C:/Users/Franc/OneDrive/Documents/Francis/Peltata Project/Time-Series-Modeling-Gen5/R/gen5_lit_mr_03_1_triplet_poc.R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TRAIN diagnostics, not trading claims. The duplicate-claim triplet reverts extremely quickly and fails the exact-rank and half-life gates, illustrating how micro-differences and adjustment noise can mimic an attractive spread.</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Project/Time-Series-Modeling-Gen5/runs/research_workbench/literature_grounded/lit_mr_03_1_triplets_20260729/mr03_train_summary.csv</a:t>
            </a:r>
          </a:p>
          <a:p xmlns:a="http://schemas.openxmlformats.org/drawingml/2006/main">
            <a:r>
              <a:t>- C:/Users/Franc/OneDrive/Documents/Francis/Peltata Project/Time-Series-Modeling-Gen5/runs/research_workbench/literature_grounded/lit_mr_03_1_triplets_20260729/visuals/mr03_train_signal_tapes.png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curves are shown to connect statistical diagnostics to the implemented strategy. They are explicitly in-sample: TRAIN estimates each vector and evaluates its rule. A positive TRAIN curve cannot be described as simulated trading performance.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Project/Time-Series-Modeling-Gen5/runs/research_workbench/literature_grounded/lit_mr_03_1_triplets_20260729/mr03_train_replay.csv</a:t>
            </a:r>
          </a:p>
          <a:p xmlns:a="http://schemas.openxmlformats.org/drawingml/2006/main">
            <a:r>
              <a:t>- C:/Users/Franc/OneDrive/Documents/Francis/Peltata Project/Time-Series-Modeling-Gen5/runs/research_workbench/literature_grounded/lit_mr_03_1_triplets_20260729/visuals/mr03_train_equity_curves.png</a:t>
            </a:r>
          </a:p>
          <a:p xmlns:a="http://schemas.openxmlformats.org/drawingml/2006/main">
            <a:r>
              <a:t>- C:/Users/Franc/OneDrive/Documents/Francis/Peltata Project/Time-Series-Modeling-Gen5/docs/GEN5_4_DECISION_DIALOGUE_INDEX.md — D77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seven-of-eight near-misses fail different gates. That disagreement is precisely why the gate is conjunctive: EWA–EWC–IGE has economic TRAIN performance without robust forward-correlation uncertainty; SHY–IEF–TLT has robust forward convergence without positive net economics.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Project/Time-Series-Modeling-Gen5/runs/research_workbench/literature_grounded/lit_mr_03_1_triplets_20260729/mr03_train_gate_detail.csv</a:t>
            </a:r>
          </a:p>
          <a:p xmlns:a="http://schemas.openxmlformats.org/drawingml/2006/main">
            <a:r>
              <a:t>- C:/Users/Franc/OneDrive/Documents/Francis/Peltata Project/Time-Series-Modeling-Gen5/runs/research_workbench/literature_grounded/lit_mr_03_1_triplets_20260729/mr03_train_summary.csv</a:t>
            </a:r>
          </a:p>
          <a:p xmlns:a="http://schemas.openxmlformats.org/drawingml/2006/main">
            <a:r>
              <a:t>- C:/Users/Franc/OneDrive/Documents/Francis/Peltata Project/Time-Series-Modeling-Gen5/runs/research_workbench/literature_grounded/lit_mr_03_1_triplets_20260729/visuals/mr03_train_gate_heatmap.png</a:t>
            </a:r>
          </a:p>
          <a:p xmlns:a="http://schemas.openxmlformats.org/drawingml/2006/main">
            <a:r>
              <a:t>- C:/Users/Franc/OneDrive/Documents/Francis/Peltata Project/Time-Series-Modeling-Gen5/docs/GEN5_4_DECISION_DIALOGUE_INDEX.md — D77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professional pushback against a tempting rescue. T01 may warrant a future substantively different contract, but LIT-MR-03.1 itself stops exactly where frozen.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Project/Time-Series-Modeling-Gen5/runs/research_workbench/literature_grounded/lit_mr_03_1_triplets_20260729/mr03_train_summary.csv</a:t>
            </a:r>
          </a:p>
          <a:p xmlns:a="http://schemas.openxmlformats.org/drawingml/2006/main">
            <a:r>
              <a:t>- C:/Users/Franc/OneDrive/Documents/Francis/Peltata Project/Time-Series-Modeling-Gen5/runs/research_workbench/literature_grounded/lit_mr_03_1_triplets_20260729/mr03_train_gate_detail.csv</a:t>
            </a:r>
          </a:p>
          <a:p xmlns:a="http://schemas.openxmlformats.org/drawingml/2006/main">
            <a:r>
              <a:t>- C:/Users/Franc/OneDrive/Documents/Francis/Peltata Project/Time-Series-Modeling-Gen5/docs/GEN5_LIT_MR_03_1_JOHANSEN_TRIPLET_POC_CONTRACT.md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POC concretely tests a different literature mechanism from the rolling pair spread. Its null result is a valid research increment: the implementation works, the statistical distinctions are visible, and no in-sample result is mislabeled as OOS.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Project/Time-Series-Modeling-Gen5/runs/research_workbench/literature_grounded/lit_mr_03_1_triplets_20260729/mr03_report.md</a:t>
            </a:r>
          </a:p>
          <a:p xmlns:a="http://schemas.openxmlformats.org/drawingml/2006/main">
            <a:r>
              <a:t>- C:/Users/Franc/OneDrive/Documents/Francis/Peltata Project/Time-Series-Modeling-Gen5/docs/GEN5_LIT_MR_03_1_JOHANSEN_TRIPLET_POC_CONTRACT.md</a:t>
            </a:r>
          </a:p>
          <a:p xmlns:a="http://schemas.openxmlformats.org/drawingml/2006/main">
            <a:r>
              <a:t>- C:/Users/Franc/OneDrive/Documents/Francis/Peltata Project/Time-Series-Modeling-Gen5/docs/GEN5_4_DECISION_DIALOGUE_INDEX.md — D77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596487505049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45b63f2a5049ea" /><Relationship Type="http://schemas.openxmlformats.org/officeDocument/2006/relationships/slideLayout" Target="/ppt/slideLayouts/slideLayout1.xml" Id="R8f0df389a1bc4d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0df389a1bc4d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f8eb3e9a68d49ee" /><Relationship Type="http://schemas.openxmlformats.org/officeDocument/2006/relationships/notesSlide" Target="/ppt/notesSlides/notesSlide1.xml" Id="R5ac84a1b52884a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ad4b7fb4c54c80" /><Relationship Type="http://schemas.openxmlformats.org/officeDocument/2006/relationships/notesSlide" Target="/ppt/notesSlides/notesSlide2.xml" Id="R431ddfeef2fe4f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5ed916000e5469f" /><Relationship Type="http://schemas.openxmlformats.org/officeDocument/2006/relationships/notesSlide" Target="/ppt/notesSlides/notesSlide3.xml" Id="R671b4fa4a0a447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6703dcc350c4c9e" /><Relationship Type="http://schemas.openxmlformats.org/officeDocument/2006/relationships/notesSlide" Target="/ppt/notesSlides/notesSlide4.xml" Id="R93ab3e418b1c4a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292cd7f30443cd" /><Relationship Type="http://schemas.openxmlformats.org/officeDocument/2006/relationships/image" Target="/ppt/media/image.png" Id="Rde3cc0e97e7845ad" /><Relationship Type="http://schemas.openxmlformats.org/officeDocument/2006/relationships/image" Target="/ppt/media/image2.png" Id="Rb926537c619a451e" /><Relationship Type="http://schemas.openxmlformats.org/officeDocument/2006/relationships/image" Target="/ppt/media/image3.png" Id="R17b552f3cec64b0a" /><Relationship Type="http://schemas.openxmlformats.org/officeDocument/2006/relationships/notesSlide" Target="/ppt/notesSlides/notesSlide5.xml" Id="R6ff837adfb5042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e87268e6efc489f" /><Relationship Type="http://schemas.openxmlformats.org/officeDocument/2006/relationships/notesSlide" Target="/ppt/notesSlides/notesSlide6.xml" Id="R1232893ed66148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ad6f647fad6410e" /><Relationship Type="http://schemas.openxmlformats.org/officeDocument/2006/relationships/notesSlide" Target="/ppt/notesSlides/notesSlide7.xml" Id="Rd67d05b5128142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6017b8009e44473" /><Relationship Type="http://schemas.openxmlformats.org/officeDocument/2006/relationships/notesSlide" Target="/ppt/notesSlides/notesSlide8.xml" Id="R344cb8c8384f4c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8722a1b046843a8" /><Relationship Type="http://schemas.openxmlformats.org/officeDocument/2006/relationships/notesSlide" Target="/ppt/notesSlides/notesSlide9.xml" Id="R5cd5408b9e8e42b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c76fc2876bb4645" /><Relationship Type="http://schemas.openxmlformats.org/officeDocument/2006/relationships/notesSlide" Target="/ppt/notesSlides/notesSlide10.xml" Id="Rb4b9bac712824a9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0789552109340ec" /><Relationship Type="http://schemas.openxmlformats.org/officeDocument/2006/relationships/notesSlide" Target="/ppt/notesSlides/notesSlide11.xml" Id="R7f81b66cad284bd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b77a8f817f8473e" /><Relationship Type="http://schemas.openxmlformats.org/officeDocument/2006/relationships/image" Target="/ppt/media/image4.png" Id="Rb89b61b6126d4c83" /><Relationship Type="http://schemas.openxmlformats.org/officeDocument/2006/relationships/image" Target="/ppt/media/image5.png" Id="R9508d4c1c7474d48" /><Relationship Type="http://schemas.openxmlformats.org/officeDocument/2006/relationships/notesSlide" Target="/ppt/notesSlides/notesSlide12.xml" Id="Rc991487598f34d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8bf3d0809154ab8" /><Relationship Type="http://schemas.openxmlformats.org/officeDocument/2006/relationships/image" Target="/ppt/media/image4.png" Id="R0c31fc0628164f49" /><Relationship Type="http://schemas.openxmlformats.org/officeDocument/2006/relationships/image" Target="/ppt/media/image6.png" Id="R5aa1338256da41c6" /><Relationship Type="http://schemas.openxmlformats.org/officeDocument/2006/relationships/notesSlide" Target="/ppt/notesSlides/notesSlide13.xml" Id="Rb36d15dbd1a946d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702b236ef744e44" /><Relationship Type="http://schemas.openxmlformats.org/officeDocument/2006/relationships/image" Target="/ppt/media/image4.png" Id="R7213b850c1164249" /><Relationship Type="http://schemas.openxmlformats.org/officeDocument/2006/relationships/image" Target="/ppt/media/image7.png" Id="R7d7809c2f81a4bec" /><Relationship Type="http://schemas.openxmlformats.org/officeDocument/2006/relationships/notesSlide" Target="/ppt/notesSlides/notesSlide14.xml" Id="R49e42fc475c349d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228af82a47d4df6" /><Relationship Type="http://schemas.openxmlformats.org/officeDocument/2006/relationships/image" Target="/ppt/media/image8.png" Id="R622e4d64fa3a4b41" /><Relationship Type="http://schemas.openxmlformats.org/officeDocument/2006/relationships/image" Target="/ppt/media/image9.png" Id="R761b048578c74469" /><Relationship Type="http://schemas.openxmlformats.org/officeDocument/2006/relationships/image" Target="/ppt/media/image10.png" Id="Re0c607c4ef424f00" /><Relationship Type="http://schemas.openxmlformats.org/officeDocument/2006/relationships/image" Target="/ppt/media/image11.png" Id="Re8e9a39f63904f5a" /><Relationship Type="http://schemas.openxmlformats.org/officeDocument/2006/relationships/notesSlide" Target="/ppt/notesSlides/notesSlide15.xml" Id="Rf59e5ddb114441f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8493a93bb1a4d9e" /><Relationship Type="http://schemas.openxmlformats.org/officeDocument/2006/relationships/notesSlide" Target="/ppt/notesSlides/notesSlide16.xml" Id="Rc753cdc7597e458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f44d64da91942b2" /><Relationship Type="http://schemas.openxmlformats.org/officeDocument/2006/relationships/notesSlide" Target="/ppt/notesSlides/notesSlide17.xml" Id="R5f56710ea05f43a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DA6318FA-2F99-4DF9-A744-06350F910925}"/>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LIT-MR-03.1</a:t>
            </a:r>
          </a:p>
          <a:p xmlns:a="http://schemas.openxmlformats.org/drawingml/2006/main">
            <a:pPr algn="l">
              <a:buNone/>
              <a:defRPr sz="5700">
                <a:solidFill>
                  <a:srgbClr val="000000"/>
                </a:solidFill>
                <a:latin typeface="Helvetica Neue"/>
                <a:ea typeface="Helvetica Neue"/>
                <a:cs typeface="Helvetica Neue"/>
              </a:defRPr>
            </a:pPr>
            <a:r>
              <a:t>from pair to triplet</a:t>
            </a:r>
          </a:p>
        </p:txBody>
      </p:sp>
      <p:sp>
        <p:nvSpPr>
          <p:cNvPr id="2" name="cover-subtitle">
            <a:extLst xmlns:a="http://schemas.openxmlformats.org/drawingml/2006/main">
              <a:ext uri="{FF2B5EF4-FFF2-40B4-BE49-F238E27FC236}">
                <a16:creationId xmlns:a16="http://schemas.microsoft.com/office/drawing/2014/main" id="{E169DF7F-9A3A-4AE2-8055-4ED350724D47}"/>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Johansen turns three nonstationary price series into candidate stationary portfolios. Gen5 freezes one TRAIN vector before any OOS replay.</a:t>
            </a:r>
          </a:p>
        </p:txBody>
      </p:sp>
      <p:sp>
        <p:nvSpPr>
          <p:cNvPr id="3" name="cover-eyebrow">
            <a:extLst xmlns:a="http://schemas.openxmlformats.org/drawingml/2006/main">
              <a:ext uri="{FF2B5EF4-FFF2-40B4-BE49-F238E27FC236}">
                <a16:creationId xmlns:a16="http://schemas.microsoft.com/office/drawing/2014/main" id="{D2399950-CA2D-41D2-BB2E-E681018A573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LITERATURE-GROUNDED STRATEGY RESEARCH | 29 JUL 2026</a:t>
            </a:r>
          </a:p>
        </p:txBody>
      </p:sp>
    </p:spTree>
    <p:extLst>
      <p:ext uri="{BB962C8B-B14F-4D97-AF65-F5344CB8AC3E}">
        <p14:creationId xmlns:p14="http://schemas.microsoft.com/office/powerpoint/2010/main" val="209289339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2</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A triplet is one portfolio price built from three share prices</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Pairs ask whether one weighted difference is stationary. Triplets let a third asset represent an omitted common driver and ask whether one or more independent stationary portfolios exist.</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Pair</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sₜ = Yₜ − βXₜ</a:t>
            </a:r>
          </a:p>
          <a:p xmlns:a="http://schemas.openxmlformats.org/drawingml/2006/main">
            <a:pPr algn="l">
              <a:buNone/>
              <a:defRPr sz="1575">
                <a:solidFill>
                  <a:srgbClr val="000000"/>
                </a:solidFill>
                <a:latin typeface="Helvetica Neue"/>
                <a:ea typeface="Helvetica Neue"/>
                <a:cs typeface="Helvetica Neue"/>
              </a:defRPr>
            </a:pPr>
            <a:r>
              <a:t>One fitted hedge ratio</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Triplet</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sₜ = β₁P₁,ₜ + β₂P₂,ₜ + β₃P₃,ₜ</a:t>
            </a:r>
          </a:p>
          <a:p xmlns:a="http://schemas.openxmlformats.org/drawingml/2006/main">
            <a:pPr algn="l">
              <a:buNone/>
              <a:defRPr sz="1575">
                <a:solidFill>
                  <a:srgbClr val="000000"/>
                </a:solidFill>
                <a:latin typeface="Helvetica Neue"/>
                <a:ea typeface="Helvetica Neue"/>
                <a:cs typeface="Helvetica Neue"/>
              </a:defRPr>
            </a:pPr>
            <a:r>
              <a:t>One unit-portfolio price</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Same test</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91579"/>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Does today’s deviation predict convergence?</a:t>
            </a:r>
          </a:p>
          <a:p xmlns:a="http://schemas.openxmlformats.org/drawingml/2006/main">
            <a:pPr algn="l">
              <a:buNone/>
              <a:defRPr sz="1575">
                <a:solidFill>
                  <a:srgbClr val="000000"/>
                </a:solidFill>
                <a:latin typeface="Helvetica Neue"/>
                <a:ea typeface="Helvetica Neue"/>
                <a:cs typeface="Helvetica Neue"/>
              </a:defRPr>
            </a:pPr>
            <a:r>
              <a:t>Then does a cost-aware rule exploit it?</a:t>
            </a:r>
          </a:p>
        </p:txBody>
      </p:sp>
    </p:spTree>
    <p:extLst>
      <p:ext uri="{BB962C8B-B14F-4D97-AF65-F5344CB8AC3E}">
        <p14:creationId xmlns:p14="http://schemas.microsoft.com/office/powerpoint/2010/main" val="209824963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3</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Cointegration is a stationary combination—not high correlation</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Each price may be I(1): shocks accumulate and the level is nonstationary. Cointegration asks whether a particular non-zero vector cancels the shared stochastic trends.</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pₜ ∈ ℝ³</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Three adjusted price levels</a:t>
            </a:r>
          </a:p>
          <a:p xmlns:a="http://schemas.openxmlformats.org/drawingml/2006/main">
            <a:pPr algn="l">
              <a:buNone/>
              <a:defRPr sz="1575">
                <a:solidFill>
                  <a:srgbClr val="000000"/>
                </a:solidFill>
                <a:latin typeface="Helvetica Neue"/>
                <a:ea typeface="Helvetica Neue"/>
                <a:cs typeface="Helvetica Neue"/>
              </a:defRPr>
            </a:pPr>
            <a:r>
              <a:t>Individually diagnosed as I(1)</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sₜ = βᵀpₜ</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β contains shares, including negative shares</a:t>
            </a:r>
          </a:p>
          <a:p xmlns:a="http://schemas.openxmlformats.org/drawingml/2006/main">
            <a:pPr algn="l">
              <a:buNone/>
              <a:defRPr sz="1575">
                <a:solidFill>
                  <a:srgbClr val="000000"/>
                </a:solidFill>
                <a:latin typeface="Helvetica Neue"/>
                <a:ea typeface="Helvetica Neue"/>
                <a:cs typeface="Helvetica Neue"/>
              </a:defRPr>
            </a:pPr>
            <a:r>
              <a:t>Its scale and sign are arbitrary</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sₜ is I(0)</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91907"/>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A stationary portfolio can mean-revert</a:t>
            </a:r>
          </a:p>
          <a:p xmlns:a="http://schemas.openxmlformats.org/drawingml/2006/main">
            <a:pPr algn="l">
              <a:buNone/>
              <a:defRPr sz="1575">
                <a:solidFill>
                  <a:srgbClr val="000000"/>
                </a:solidFill>
                <a:latin typeface="Helvetica Neue"/>
                <a:ea typeface="Helvetica Neue"/>
                <a:cs typeface="Helvetica Neue"/>
              </a:defRPr>
            </a:pPr>
            <a:r>
              <a:t>Correlation alone does not establish this</a:t>
            </a:r>
          </a:p>
        </p:txBody>
      </p:sp>
    </p:spTree>
    <p:extLst>
      <p:ext uri="{BB962C8B-B14F-4D97-AF65-F5344CB8AC3E}">
        <p14:creationId xmlns:p14="http://schemas.microsoft.com/office/powerpoint/2010/main" val="209824963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4</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Johansen estimates rank and the portfolio vectors together</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With one lag and a constant, the VECM is Δpₜ = Πpₜ₋₁ + c + εₜ, where Π = αβᵀ. The rank of Π counts independent stationary relations.</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r = 0</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No detected cointegrating relation</a:t>
            </a:r>
          </a:p>
          <a:p xmlns:a="http://schemas.openxmlformats.org/drawingml/2006/main">
            <a:pPr algn="l">
              <a:buNone/>
              <a:defRPr sz="1575">
                <a:solidFill>
                  <a:srgbClr val="000000"/>
                </a:solidFill>
                <a:latin typeface="Helvetica Neue"/>
                <a:ea typeface="Helvetica Neue"/>
                <a:cs typeface="Helvetica Neue"/>
              </a:defRPr>
            </a:pPr>
            <a:r>
              <a:t>No triplet portfolio to trade</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r = 1</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One independent relation</a:t>
            </a:r>
          </a:p>
          <a:p xmlns:a="http://schemas.openxmlformats.org/drawingml/2006/main">
            <a:pPr algn="l">
              <a:buNone/>
              <a:defRPr sz="1575">
                <a:solidFill>
                  <a:srgbClr val="000000"/>
                </a:solidFill>
                <a:latin typeface="Helvetica Neue"/>
                <a:ea typeface="Helvetica Neue"/>
                <a:cs typeface="Helvetica Neue"/>
              </a:defRPr>
            </a:pPr>
            <a:r>
              <a:t>The minimal target in LIT-MR-03.1</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r ≥ 2</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Multiple relations require a selection rule</a:t>
            </a:r>
          </a:p>
          <a:p xmlns:a="http://schemas.openxmlformats.org/drawingml/2006/main">
            <a:pPr algn="l">
              <a:buNone/>
              <a:defRPr sz="1575">
                <a:solidFill>
                  <a:srgbClr val="000000"/>
                </a:solidFill>
                <a:latin typeface="Helvetica Neue"/>
                <a:ea typeface="Helvetica Neue"/>
                <a:cs typeface="Helvetica Neue"/>
              </a:defRPr>
            </a:pPr>
            <a:r>
              <a:t>Outside this minimal POC</a:t>
            </a:r>
          </a:p>
        </p:txBody>
      </p:sp>
    </p:spTree>
    <p:extLst>
      <p:ext uri="{BB962C8B-B14F-4D97-AF65-F5344CB8AC3E}">
        <p14:creationId xmlns:p14="http://schemas.microsoft.com/office/powerpoint/2010/main" val="209824963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4F272998-B60C-44E0-849E-A04A87223BA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5</a:t>
            </a:r>
          </a:p>
        </p:txBody>
      </p:sp>
      <p:sp>
        <p:nvSpPr>
          <p:cNvPr id="2" name="title">
            <a:extLst xmlns:a="http://schemas.openxmlformats.org/drawingml/2006/main">
              <a:ext uri="{FF2B5EF4-FFF2-40B4-BE49-F238E27FC236}">
                <a16:creationId xmlns:a16="http://schemas.microsoft.com/office/drawing/2014/main" id="{8A16F9E5-1AF4-43B0-AB25-E3AE98294DF6}"/>
              </a:ext>
            </a:extLst>
          </p:cNvPr>
          <p:cNvSpPr>
            <a:spLocks xmlns:a="http://schemas.openxmlformats.org/drawingml/2006/main" noGrp="1"/>
          </p:cNvSpPr>
          <p:nvPr/>
        </p:nvSpPr>
        <p:spPr>
          <a:xfrm xmlns:a="http://schemas.openxmlformats.org/drawingml/2006/main">
            <a:off x="393668" y="344043"/>
            <a:ext cx="5537168" cy="1143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A share vector becomes daily executable dollar weights</a:t>
            </a:r>
          </a:p>
        </p:txBody>
      </p:sp>
      <p:sp>
        <p:nvSpPr>
          <p:cNvPr id="3" name="image-backing">
            <a:extLst xmlns:a="http://schemas.openxmlformats.org/drawingml/2006/main">
              <a:ext uri="{FF2B5EF4-FFF2-40B4-BE49-F238E27FC236}">
                <a16:creationId xmlns:a16="http://schemas.microsoft.com/office/drawing/2014/main" id="{5EE0E946-4B2C-4DE9-8839-3DE0D30C8B61}"/>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4" name="body">
            <a:extLst xmlns:a="http://schemas.openxmlformats.org/drawingml/2006/main">
              <a:ext uri="{FF2B5EF4-FFF2-40B4-BE49-F238E27FC236}">
                <a16:creationId xmlns:a16="http://schemas.microsoft.com/office/drawing/2014/main" id="{3E0CA677-50AA-4CCF-BC5C-CB90210AF27E}"/>
              </a:ext>
            </a:extLst>
          </p:cNvPr>
          <p:cNvSpPr>
            <a:spLocks xmlns:a="http://schemas.openxmlformats.org/drawingml/2006/main" noGrp="1"/>
          </p:cNvSpPr>
          <p:nvPr/>
        </p:nvSpPr>
        <p:spPr>
          <a:xfrm xmlns:a="http://schemas.openxmlformats.org/drawingml/2006/main">
            <a:off x="393668" y="1695450"/>
            <a:ext cx="5537168" cy="423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a:solidFill>
                  <a:srgbClr val="000000"/>
                </a:solidFill>
                <a:latin typeface="Helvetica Neue"/>
                <a:ea typeface="Helvetica Neue"/>
                <a:cs typeface="Helvetica Neue"/>
              </a:defRPr>
            </a:pPr>
            <a:r>
              <a:t>TRAIN estimates β̂ once.</a:t>
            </a:r>
          </a:p>
          <a:p xmlns:a="http://schemas.openxmlformats.org/drawingml/2006/main">
            <a:pPr algn="l">
              <a:buNone/>
              <a:defRPr sz="1950">
                <a:solidFill>
                  <a:srgbClr val="000000"/>
                </a:solidFill>
                <a:latin typeface="Helvetica Neue"/>
                <a:ea typeface="Helvetica Neue"/>
                <a:cs typeface="Helvetica Neue"/>
              </a:defRPr>
            </a:pPr>
            <a:r>
              <a:t>Development never refits it.</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Unit-portfolio price:</a:t>
            </a:r>
          </a:p>
          <a:p xmlns:a="http://schemas.openxmlformats.org/drawingml/2006/main">
            <a:pPr algn="l">
              <a:buNone/>
              <a:defRPr sz="1950">
                <a:solidFill>
                  <a:srgbClr val="000000"/>
                </a:solidFill>
                <a:latin typeface="Helvetica Neue"/>
                <a:ea typeface="Helvetica Neue"/>
                <a:cs typeface="Helvetica Neue"/>
              </a:defRPr>
            </a:pPr>
            <a:r>
              <a:t>sₜ = β̂ᵀpₜ</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For direction d ∈ {−1,+1}:</a:t>
            </a:r>
          </a:p>
          <a:p xmlns:a="http://schemas.openxmlformats.org/drawingml/2006/main">
            <a:pPr algn="l">
              <a:buNone/>
              <a:defRPr sz="1950">
                <a:solidFill>
                  <a:srgbClr val="000000"/>
                </a:solidFill>
                <a:latin typeface="Helvetica Neue"/>
                <a:ea typeface="Helvetica Neue"/>
                <a:cs typeface="Helvetica Neue"/>
              </a:defRPr>
            </a:pPr>
            <a:r>
              <a:t>wᵢ,ₜ = d·β̂ᵢPᵢ,ₜ / Σⱼ|β̂ⱼPⱼ,ₜ|</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Signal after close; execute next open.</a:t>
            </a:r>
          </a:p>
          <a:p xmlns:a="http://schemas.openxmlformats.org/drawingml/2006/main">
            <a:pPr algn="l">
              <a:buNone/>
              <a:defRPr sz="1950">
                <a:solidFill>
                  <a:srgbClr val="000000"/>
                </a:solidFill>
                <a:latin typeface="Helvetica Neue"/>
                <a:ea typeface="Helvetica Neue"/>
                <a:cs typeface="Helvetica Neue"/>
              </a:defRPr>
            </a:pPr>
            <a:r>
              <a:t>Gross exposure sums to one.</a:t>
            </a:r>
          </a:p>
          <a:p xmlns:a="http://schemas.openxmlformats.org/drawingml/2006/main">
            <a:pPr algn="l">
              <a:buNone/>
              <a:defRPr sz="1950">
                <a:solidFill>
                  <a:srgbClr val="000000"/>
                </a:solidFill>
                <a:latin typeface="Helvetica Neue"/>
                <a:ea typeface="Helvetica Neue"/>
                <a:cs typeface="Helvetica Neue"/>
              </a:defRPr>
            </a:pPr>
            <a:r>
              <a:t>Primary cost: 5 bp per one-way weight change.</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e3cc0e97e7845ad"/>
          <a:stretch xmlns:a="http://schemas.openxmlformats.org/drawingml/2006/main"/>
        </p:blipFill>
        <p:spPr>
          <a:xfrm xmlns:a="http://schemas.openxmlformats.org/drawingml/2006/main">
            <a:off x="6381750" y="1776196"/>
            <a:ext cx="5314950" cy="3019858"/>
          </a:xfrm>
          <a:prstGeom xmlns:a="http://schemas.openxmlformats.org/drawingml/2006/main" prst="roundRect">
            <a:avLst/>
          </a:prstGeom>
        </p:spPr>
      </p:pic>
      <p:sp>
        <p:nvSpPr>
          <p:cNvPr id="8" name="">
            <a:extLst xmlns:a="http://schemas.openxmlformats.org/drawingml/2006/main">
              <a:ext uri="{FF2B5EF4-FFF2-40B4-BE49-F238E27FC236}">
                <a16:creationId xmlns:a16="http://schemas.microsoft.com/office/drawing/2014/main" id="{08228C7B-FAD1-4EFC-8057-453D13C988CF}"/>
              </a:ext>
            </a:extLst>
          </p:cNvPr>
          <p:cNvSpPr>
            <a:spLocks xmlns:a="http://schemas.openxmlformats.org/drawingml/2006/main" noGrp="1"/>
          </p:cNvSpPr>
          <p:nvPr/>
        </p:nvSpPr>
        <p:spPr>
          <a:xfrm xmlns:a="http://schemas.openxmlformats.org/drawingml/2006/main">
            <a:off x="6381750" y="1776196"/>
            <a:ext cx="5314950" cy="3019858"/>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926537c619a451e"/>
          <a:stretch xmlns:a="http://schemas.openxmlformats.org/drawingml/2006/main"/>
        </p:blipFill>
        <p:spPr>
          <a:xfrm xmlns:a="http://schemas.openxmlformats.org/drawingml/2006/main">
            <a:off x="6381750" y="1817520"/>
            <a:ext cx="5314950" cy="2937209"/>
          </a:xfrm>
          <a:prstGeom xmlns:a="http://schemas.openxmlformats.org/drawingml/2006/main" prst="roundRect">
            <a:avLst/>
          </a:prstGeom>
        </p:spPr>
      </p:pic>
      <p:sp>
        <p:nvSpPr>
          <p:cNvPr id="11" name="">
            <a:extLst xmlns:a="http://schemas.openxmlformats.org/drawingml/2006/main">
              <a:ext uri="{FF2B5EF4-FFF2-40B4-BE49-F238E27FC236}">
                <a16:creationId xmlns:a16="http://schemas.microsoft.com/office/drawing/2014/main" id="{FC730AB4-81C1-4024-8038-DBCB80C489AE}"/>
              </a:ext>
            </a:extLst>
          </p:cNvPr>
          <p:cNvSpPr>
            <a:spLocks xmlns:a="http://schemas.openxmlformats.org/drawingml/2006/main" noGrp="1"/>
          </p:cNvSpPr>
          <p:nvPr/>
        </p:nvSpPr>
        <p:spPr>
          <a:xfrm xmlns:a="http://schemas.openxmlformats.org/drawingml/2006/main">
            <a:off x="6381750" y="1776196"/>
            <a:ext cx="5314950" cy="3019858"/>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7b552f3cec64b0a"/>
          <a:stretch xmlns:a="http://schemas.openxmlformats.org/drawingml/2006/main"/>
        </p:blipFill>
        <p:spPr>
          <a:xfrm xmlns:a="http://schemas.openxmlformats.org/drawingml/2006/main">
            <a:off x="6648504" y="1776196"/>
            <a:ext cx="4781442" cy="3019858"/>
          </a:xfrm>
          <a:prstGeom xmlns:a="http://schemas.openxmlformats.org/drawingml/2006/main" prst="roundRect">
            <a:avLst/>
          </a:prstGeom>
        </p:spPr>
      </p:pic>
    </p:spTree>
    <p:extLst>
      <p:ext uri="{BB962C8B-B14F-4D97-AF65-F5344CB8AC3E}">
        <p14:creationId xmlns:p14="http://schemas.microsoft.com/office/powerpoint/2010/main" val="187334089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6</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Chan’s EWA–EWC–IGE example supplies the direct anchor</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Australia and Canada share commodity exposure; IGE adds natural-resource equities. Chan selects the leading Johansen eigenvector, treats it as shares, and reports a 23-day half-life in his sample.</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EWA</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Australian equity ETF</a:t>
            </a:r>
          </a:p>
          <a:p xmlns:a="http://schemas.openxmlformats.org/drawingml/2006/main">
            <a:pPr algn="l">
              <a:buNone/>
              <a:defRPr sz="1575">
                <a:solidFill>
                  <a:srgbClr val="000000"/>
                </a:solidFill>
                <a:latin typeface="Helvetica Neue"/>
                <a:ea typeface="Helvetica Neue"/>
                <a:cs typeface="Helvetica Neue"/>
              </a:defRPr>
            </a:pPr>
            <a:r>
              <a:t>Commodity-sensitive economy</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EWC</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Canadian equity ETF</a:t>
            </a:r>
          </a:p>
          <a:p xmlns:a="http://schemas.openxmlformats.org/drawingml/2006/main">
            <a:pPr algn="l">
              <a:buNone/>
              <a:defRPr sz="1575">
                <a:solidFill>
                  <a:srgbClr val="000000"/>
                </a:solidFill>
                <a:latin typeface="Helvetica Neue"/>
                <a:ea typeface="Helvetica Neue"/>
                <a:cs typeface="Helvetica Neue"/>
              </a:defRPr>
            </a:pPr>
            <a:r>
              <a:t>Commodity-sensitive economy</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IGE</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Natural-resource equity ETF</a:t>
            </a:r>
          </a:p>
          <a:p xmlns:a="http://schemas.openxmlformats.org/drawingml/2006/main">
            <a:pPr algn="l">
              <a:buNone/>
              <a:defRPr sz="1575">
                <a:solidFill>
                  <a:srgbClr val="000000"/>
                </a:solidFill>
                <a:latin typeface="Helvetica Neue"/>
                <a:ea typeface="Helvetica Neue"/>
                <a:cs typeface="Helvetica Neue"/>
              </a:defRPr>
            </a:pPr>
            <a:r>
              <a:t>Potential common driver</a:t>
            </a:r>
          </a:p>
        </p:txBody>
      </p:sp>
    </p:spTree>
    <p:extLst>
      <p:ext uri="{BB962C8B-B14F-4D97-AF65-F5344CB8AC3E}">
        <p14:creationId xmlns:p14="http://schemas.microsoft.com/office/powerpoint/2010/main" val="209824963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7</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GLD–GDX–USO shows why a third leg can matter</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Chan argues that GLD–GDX broke when oil made gold mining unusually expensive. Adding USO tests whether energy costs explain the pair’s failure rather than merely adding a convenient extra asset.</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GLD</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Physical-gold proxy</a:t>
            </a:r>
          </a:p>
          <a:p xmlns:a="http://schemas.openxmlformats.org/drawingml/2006/main">
            <a:pPr algn="l">
              <a:buNone/>
              <a:defRPr sz="1575">
                <a:solidFill>
                  <a:srgbClr val="000000"/>
                </a:solidFill>
                <a:latin typeface="Helvetica Neue"/>
                <a:ea typeface="Helvetica Neue"/>
                <a:cs typeface="Helvetica Neue"/>
              </a:defRPr>
            </a:pPr>
            <a:r>
              <a:t>Underlying output value</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GDX</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Gold-miner equities</a:t>
            </a:r>
          </a:p>
          <a:p xmlns:a="http://schemas.openxmlformats.org/drawingml/2006/main">
            <a:pPr algn="l">
              <a:buNone/>
              <a:defRPr sz="1575">
                <a:solidFill>
                  <a:srgbClr val="000000"/>
                </a:solidFill>
                <a:latin typeface="Helvetica Neue"/>
                <a:ea typeface="Helvetica Neue"/>
                <a:cs typeface="Helvetica Neue"/>
              </a:defRPr>
            </a:pPr>
            <a:r>
              <a:t>Output value minus production costs</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USO</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Oil-futures ETF</a:t>
            </a:r>
          </a:p>
          <a:p xmlns:a="http://schemas.openxmlformats.org/drawingml/2006/main">
            <a:pPr algn="l">
              <a:buNone/>
              <a:defRPr sz="1575">
                <a:solidFill>
                  <a:srgbClr val="000000"/>
                </a:solidFill>
                <a:latin typeface="Helvetica Neue"/>
                <a:ea typeface="Helvetica Neue"/>
                <a:cs typeface="Helvetica Neue"/>
              </a:defRPr>
            </a:pPr>
            <a:r>
              <a:t>Imperfect energy-cost proxy</a:t>
            </a:r>
          </a:p>
        </p:txBody>
      </p:sp>
    </p:spTree>
    <p:extLst>
      <p:ext uri="{BB962C8B-B14F-4D97-AF65-F5344CB8AC3E}">
        <p14:creationId xmlns:p14="http://schemas.microsoft.com/office/powerpoint/2010/main" val="209824963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8</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Eight predeclared triplets cover anchors, duplicates, curves, and factors</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The registry is intentionally small and mechanism-diverse. It is frozen before outcomes, and registry order—not return—would break a tie among full TRAIN passes.</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2 anchors</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EWA–EWC–IGE</a:t>
            </a:r>
          </a:p>
          <a:p xmlns:a="http://schemas.openxmlformats.org/drawingml/2006/main">
            <a:pPr algn="l">
              <a:buNone/>
              <a:defRPr sz="1575">
                <a:solidFill>
                  <a:srgbClr val="000000"/>
                </a:solidFill>
                <a:latin typeface="Helvetica Neue"/>
                <a:ea typeface="Helvetica Neue"/>
                <a:cs typeface="Helvetica Neue"/>
              </a:defRPr>
            </a:pPr>
            <a:r>
              <a:t>GLD–GDX–USO</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3 complexes</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Treasuries · energy · precious metals</a:t>
            </a:r>
          </a:p>
          <a:p xmlns:a="http://schemas.openxmlformats.org/drawingml/2006/main">
            <a:pPr algn="l">
              <a:buNone/>
              <a:defRPr sz="1575">
                <a:solidFill>
                  <a:srgbClr val="000000"/>
                </a:solidFill>
                <a:latin typeface="Helvetica Neue"/>
                <a:ea typeface="Helvetica Neue"/>
                <a:cs typeface="Helvetica Neue"/>
              </a:defRPr>
            </a:pPr>
            <a:r>
              <a:t>Shared economic drivers</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3 structures</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Duplicate claim · technology factor</a:t>
            </a:r>
          </a:p>
          <a:p xmlns:a="http://schemas.openxmlformats.org/drawingml/2006/main">
            <a:pPr algn="l">
              <a:buNone/>
              <a:defRPr sz="1575">
                <a:solidFill>
                  <a:srgbClr val="000000"/>
                </a:solidFill>
                <a:latin typeface="Helvetica Neue"/>
                <a:ea typeface="Helvetica Neue"/>
                <a:cs typeface="Helvetica Neue"/>
              </a:defRPr>
            </a:pPr>
            <a:r>
              <a:t>Financial basket/components</a:t>
            </a:r>
          </a:p>
        </p:txBody>
      </p:sp>
    </p:spTree>
    <p:extLst>
      <p:ext uri="{BB962C8B-B14F-4D97-AF65-F5344CB8AC3E}">
        <p14:creationId xmlns:p14="http://schemas.microsoft.com/office/powerpoint/2010/main" val="209824963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9</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leakage boundary is a one-way door</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TRAIN may diagnose, estimate, and nominate. It may not generate a simulated OOS claim. Only a full pass freezes one identity and one vector before DEVELOPMENT is queried.</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TRAIN</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2016–2020</a:t>
            </a:r>
          </a:p>
          <a:p xmlns:a="http://schemas.openxmlformats.org/drawingml/2006/main">
            <a:pPr algn="l">
              <a:buNone/>
              <a:defRPr sz="1575">
                <a:solidFill>
                  <a:srgbClr val="000000"/>
                </a:solidFill>
                <a:latin typeface="Helvetica Neue"/>
                <a:ea typeface="Helvetica Neue"/>
                <a:cs typeface="Helvetica Neue"/>
              </a:defRPr>
            </a:pPr>
            <a:r>
              <a:t>Eight triplets · rank · stability · trading gates</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Freeze</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First full pass in registry order</a:t>
            </a:r>
          </a:p>
          <a:p xmlns:a="http://schemas.openxmlformats.org/drawingml/2006/main">
            <a:pPr algn="l">
              <a:buNone/>
              <a:defRPr sz="1575">
                <a:solidFill>
                  <a:srgbClr val="000000"/>
                </a:solidFill>
                <a:latin typeface="Helvetica Neue"/>
                <a:ea typeface="Helvetica Neue"/>
                <a:cs typeface="Helvetica Neue"/>
              </a:defRPr>
            </a:pPr>
            <a:r>
              <a:t>Identity and β̂ locked</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DEVELOPMENT</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2021–2023 queried only after nomination</a:t>
            </a:r>
          </a:p>
          <a:p xmlns:a="http://schemas.openxmlformats.org/drawingml/2006/main">
            <a:pPr algn="l">
              <a:buNone/>
              <a:defRPr sz="1575">
                <a:solidFill>
                  <a:srgbClr val="000000"/>
                </a:solidFill>
                <a:latin typeface="Helvetica Neue"/>
                <a:ea typeface="Helvetica Neue"/>
                <a:cs typeface="Helvetica Neue"/>
              </a:defRPr>
            </a:pPr>
            <a:r>
              <a:t>One replay; no replacement</a:t>
            </a:r>
          </a:p>
        </p:txBody>
      </p:sp>
    </p:spTree>
    <p:extLst>
      <p:ext uri="{BB962C8B-B14F-4D97-AF65-F5344CB8AC3E}">
        <p14:creationId xmlns:p14="http://schemas.microsoft.com/office/powerpoint/2010/main" val="209824963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10</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G1–G4 establish admissibility, integration, rank, and vector stability</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A triplet is not admitted merely because one spread looks quiet. The data and execution must be valid, the legs must behave like I(1), rank must be exactly one, and the vector must persist across TRAIN halves.</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G1 · integrity</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13 timing, coverage, weight, cost checks</a:t>
            </a:r>
          </a:p>
          <a:p xmlns:a="http://schemas.openxmlformats.org/drawingml/2006/main">
            <a:pPr algn="l">
              <a:buNone/>
              <a:defRPr sz="1575">
                <a:solidFill>
                  <a:srgbClr val="000000"/>
                </a:solidFill>
                <a:latin typeface="Helvetica Neue"/>
                <a:ea typeface="Helvetica Neue"/>
                <a:cs typeface="Helvetica Neue"/>
              </a:defRPr>
            </a:pPr>
            <a:r>
              <a:t>Mixed-sign vector required</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G2–G3 · structure</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Level/difference ADF-style diagnostics</a:t>
            </a:r>
          </a:p>
          <a:p xmlns:a="http://schemas.openxmlformats.org/drawingml/2006/main">
            <a:pPr algn="l">
              <a:buNone/>
              <a:defRPr sz="1575">
                <a:solidFill>
                  <a:srgbClr val="000000"/>
                </a:solidFill>
                <a:latin typeface="Helvetica Neue"/>
                <a:ea typeface="Helvetica Neue"/>
                <a:cs typeface="Helvetica Neue"/>
              </a:defRPr>
            </a:pPr>
            <a:r>
              <a:t>Seeded rank-null bootstrap</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G4 · cosine ≥.85</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Compare split-TRAIN dollar-exposure vectors</a:t>
            </a:r>
          </a:p>
          <a:p xmlns:a="http://schemas.openxmlformats.org/drawingml/2006/main">
            <a:pPr algn="l">
              <a:buNone/>
              <a:defRPr sz="1575">
                <a:solidFill>
                  <a:srgbClr val="000000"/>
                </a:solidFill>
                <a:latin typeface="Helvetica Neue"/>
                <a:ea typeface="Helvetica Neue"/>
                <a:cs typeface="Helvetica Neue"/>
              </a:defRPr>
            </a:pPr>
            <a:r>
              <a:t>Sign-invariant similarity</a:t>
            </a:r>
          </a:p>
        </p:txBody>
      </p:sp>
    </p:spTree>
    <p:extLst>
      <p:ext uri="{BB962C8B-B14F-4D97-AF65-F5344CB8AC3E}">
        <p14:creationId xmlns:p14="http://schemas.microsoft.com/office/powerpoint/2010/main" val="209824963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11</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G5–G8 ask whether the stationary portfolio is plausibly tradeable</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Statistical structure and strategy performance are separate claims. The remaining gates require a usable time scale, two-sided support, cost-aware return uncertainty, and direct forward convergence.</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G5 · 2–60</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Session half-life range</a:t>
            </a:r>
          </a:p>
          <a:p xmlns:a="http://schemas.openxmlformats.org/drawingml/2006/main">
            <a:pPr algn="l">
              <a:buNone/>
              <a:defRPr sz="1575">
                <a:solidFill>
                  <a:srgbClr val="000000"/>
                </a:solidFill>
                <a:latin typeface="Helvetica Neue"/>
                <a:ea typeface="Helvetica Neue"/>
                <a:cs typeface="Helvetica Neue"/>
              </a:defRPr>
            </a:pPr>
            <a:r>
              <a:t>Avoid near-noise and glacial reversion</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G6–G7 · trades</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≥30 completed · ≥10 each direction</a:t>
            </a:r>
          </a:p>
          <a:p xmlns:a="http://schemas.openxmlformats.org/drawingml/2006/main">
            <a:pPr algn="l">
              <a:buNone/>
              <a:defRPr sz="1575">
                <a:solidFill>
                  <a:srgbClr val="000000"/>
                </a:solidFill>
                <a:latin typeface="Helvetica Neue"/>
                <a:ea typeface="Helvetica Neue"/>
                <a:cs typeface="Helvetica Neue"/>
              </a:defRPr>
            </a:pPr>
            <a:r>
              <a:t>Mean net &gt;0 and lower 95% &gt;0</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G8 · corr &lt;0</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z versus next-five return</a:t>
            </a:r>
          </a:p>
          <a:p xmlns:a="http://schemas.openxmlformats.org/drawingml/2006/main">
            <a:pPr algn="l">
              <a:buNone/>
              <a:defRPr sz="1575">
                <a:solidFill>
                  <a:srgbClr val="000000"/>
                </a:solidFill>
                <a:latin typeface="Helvetica Neue"/>
                <a:ea typeface="Helvetica Neue"/>
                <a:cs typeface="Helvetica Neue"/>
              </a:defRPr>
            </a:pPr>
            <a:r>
              <a:t>Upper 95% bound must stay below zero</a:t>
            </a:r>
          </a:p>
        </p:txBody>
      </p:sp>
    </p:spTree>
    <p:extLst>
      <p:ext uri="{BB962C8B-B14F-4D97-AF65-F5344CB8AC3E}">
        <p14:creationId xmlns:p14="http://schemas.microsoft.com/office/powerpoint/2010/main" val="209824963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12</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Five of eight triplets met the exact rank-one diagnostic</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89b61b6126d4c83"/>
          <a:stretch xmlns:a="http://schemas.openxmlformats.org/drawingml/2006/main"/>
        </p:blipFill>
        <p:spPr>
          <a:xfrm xmlns:a="http://schemas.openxmlformats.org/drawingml/2006/main">
            <a:off x="1891393" y="1162050"/>
            <a:ext cx="8409214" cy="4905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694B3C2-83ED-40A2-ACF7-D3B740A01244}"/>
              </a:ext>
            </a:extLst>
          </p:cNvPr>
          <p:cNvSpPr>
            <a:spLocks xmlns:a="http://schemas.openxmlformats.org/drawingml/2006/main" noGrp="1"/>
          </p:cNvSpPr>
          <p:nvPr/>
        </p:nvSpPr>
        <p:spPr>
          <a:xfrm xmlns:a="http://schemas.openxmlformats.org/drawingml/2006/main">
            <a:off x="1891393" y="1162050"/>
            <a:ext cx="8409214" cy="4905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508d4c1c7474d48"/>
          <a:stretch xmlns:a="http://schemas.openxmlformats.org/drawingml/2006/main"/>
        </p:blipFill>
        <p:spPr>
          <a:xfrm xmlns:a="http://schemas.openxmlformats.org/drawingml/2006/main">
            <a:off x="2212578" y="1162050"/>
            <a:ext cx="7766844" cy="4905375"/>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13</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frozen-vector signal has visibly different behavior by triplet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c31fc0628164f49"/>
          <a:stretch xmlns:a="http://schemas.openxmlformats.org/drawingml/2006/main"/>
        </p:blipFill>
        <p:spPr>
          <a:xfrm xmlns:a="http://schemas.openxmlformats.org/drawingml/2006/main">
            <a:off x="1891393" y="1162050"/>
            <a:ext cx="8409214" cy="4905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58B68AB-291F-48F5-A4D0-74A8DF95C102}"/>
              </a:ext>
            </a:extLst>
          </p:cNvPr>
          <p:cNvSpPr>
            <a:spLocks xmlns:a="http://schemas.openxmlformats.org/drawingml/2006/main" noGrp="1"/>
          </p:cNvSpPr>
          <p:nvPr/>
        </p:nvSpPr>
        <p:spPr>
          <a:xfrm xmlns:a="http://schemas.openxmlformats.org/drawingml/2006/main">
            <a:off x="1891393" y="1162050"/>
            <a:ext cx="8409214" cy="4905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aa1338256da41c6"/>
          <a:stretch xmlns:a="http://schemas.openxmlformats.org/drawingml/2006/main"/>
        </p:blipFill>
        <p:spPr>
          <a:xfrm xmlns:a="http://schemas.openxmlformats.org/drawingml/2006/main">
            <a:off x="2723555" y="1162050"/>
            <a:ext cx="6744891" cy="4905375"/>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14</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Every TRAIN equity path is shown—and none is OOS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213b850c1164249"/>
          <a:stretch xmlns:a="http://schemas.openxmlformats.org/drawingml/2006/main"/>
        </p:blipFill>
        <p:spPr>
          <a:xfrm xmlns:a="http://schemas.openxmlformats.org/drawingml/2006/main">
            <a:off x="1891393" y="1162050"/>
            <a:ext cx="8409214" cy="4905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5C15786-D669-4042-BBFD-D504E39ABEA2}"/>
              </a:ext>
            </a:extLst>
          </p:cNvPr>
          <p:cNvSpPr>
            <a:spLocks xmlns:a="http://schemas.openxmlformats.org/drawingml/2006/main" noGrp="1"/>
          </p:cNvSpPr>
          <p:nvPr/>
        </p:nvSpPr>
        <p:spPr>
          <a:xfrm xmlns:a="http://schemas.openxmlformats.org/drawingml/2006/main">
            <a:off x="1891393" y="1162050"/>
            <a:ext cx="8409214" cy="4905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d7809c2f81a4bec"/>
          <a:stretch xmlns:a="http://schemas.openxmlformats.org/drawingml/2006/main"/>
        </p:blipFill>
        <p:spPr>
          <a:xfrm xmlns:a="http://schemas.openxmlformats.org/drawingml/2006/main">
            <a:off x="2043734" y="1162050"/>
            <a:ext cx="8104533" cy="4905375"/>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15</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344043"/>
            <a:ext cx="5537168" cy="1143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No triplet cleared all eight gates</a:t>
            </a:r>
          </a:p>
        </p:txBody>
      </p:sp>
      <p:sp>
        <p:nvSpPr>
          <p:cNvPr id="3" name="image-backing">
            <a:extLst xmlns:a="http://schemas.openxmlformats.org/drawingml/2006/main">
              <a:ext uri="{FF2B5EF4-FFF2-40B4-BE49-F238E27FC236}">
                <a16:creationId xmlns:a16="http://schemas.microsoft.com/office/drawing/2014/main" id="{6220C938-B9AD-4B79-90E3-107E303A9D02}"/>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4" name="body">
            <a:extLst xmlns:a="http://schemas.openxmlformats.org/drawingml/2006/main">
              <a:ext uri="{FF2B5EF4-FFF2-40B4-BE49-F238E27FC236}">
                <a16:creationId xmlns:a16="http://schemas.microsoft.com/office/drawing/2014/main" id="{3F760EC2-C6B5-4968-A4B1-EBAD286BA351}"/>
              </a:ext>
            </a:extLst>
          </p:cNvPr>
          <p:cNvSpPr>
            <a:spLocks xmlns:a="http://schemas.openxmlformats.org/drawingml/2006/main" noGrp="1"/>
          </p:cNvSpPr>
          <p:nvPr/>
        </p:nvSpPr>
        <p:spPr>
          <a:xfrm xmlns:a="http://schemas.openxmlformats.org/drawingml/2006/main">
            <a:off x="393668" y="1695450"/>
            <a:ext cx="5537168" cy="423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a:solidFill>
                  <a:srgbClr val="000000"/>
                </a:solidFill>
                <a:latin typeface="Helvetica Neue"/>
                <a:ea typeface="Helvetica Neue"/>
                <a:cs typeface="Helvetica Neue"/>
              </a:defRPr>
            </a:pPr>
            <a:r>
              <a:t>Five passed exact rank one; three passed vector stability; seven passed half-life; all eight had two-sided support.</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Only EWA–EWC–IGE passed cost-aware return uncertainty. Its convergence point estimate was negative, but the 95% upper bound was +0.028.</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SHY–IEF–TLT robustly predicted convergence, but its mean net trade return was negative.</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No nomination → no DEVELOPMENT replay.</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22e4d64fa3a4b41"/>
          <a:stretch xmlns:a="http://schemas.openxmlformats.org/drawingml/2006/main"/>
        </p:blipFill>
        <p:spPr>
          <a:xfrm xmlns:a="http://schemas.openxmlformats.org/drawingml/2006/main">
            <a:off x="6381750" y="1595005"/>
            <a:ext cx="5314950" cy="3382241"/>
          </a:xfrm>
          <a:prstGeom xmlns:a="http://schemas.openxmlformats.org/drawingml/2006/main" prst="roundRect">
            <a:avLst/>
          </a:prstGeom>
        </p:spPr>
      </p:pic>
      <p:sp>
        <p:nvSpPr>
          <p:cNvPr id="8" name="">
            <a:extLst xmlns:a="http://schemas.openxmlformats.org/drawingml/2006/main">
              <a:ext uri="{FF2B5EF4-FFF2-40B4-BE49-F238E27FC236}">
                <a16:creationId xmlns:a16="http://schemas.microsoft.com/office/drawing/2014/main" id="{5F1B8A64-ACC9-4498-AEAE-0060DC180571}"/>
              </a:ext>
            </a:extLst>
          </p:cNvPr>
          <p:cNvSpPr>
            <a:spLocks xmlns:a="http://schemas.openxmlformats.org/drawingml/2006/main" noGrp="1"/>
          </p:cNvSpPr>
          <p:nvPr/>
        </p:nvSpPr>
        <p:spPr>
          <a:xfrm xmlns:a="http://schemas.openxmlformats.org/drawingml/2006/main">
            <a:off x="6381750" y="1595005"/>
            <a:ext cx="5314950" cy="3382241"/>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61b048578c74469"/>
          <a:stretch xmlns:a="http://schemas.openxmlformats.org/drawingml/2006/main"/>
        </p:blipFill>
        <p:spPr>
          <a:xfrm xmlns:a="http://schemas.openxmlformats.org/drawingml/2006/main">
            <a:off x="6381750" y="1704295"/>
            <a:ext cx="5314950" cy="3163661"/>
          </a:xfrm>
          <a:prstGeom xmlns:a="http://schemas.openxmlformats.org/drawingml/2006/main" prst="roundRect">
            <a:avLst/>
          </a:prstGeom>
        </p:spPr>
      </p:pic>
      <p:sp>
        <p:nvSpPr>
          <p:cNvPr id="11" name="">
            <a:extLst xmlns:a="http://schemas.openxmlformats.org/drawingml/2006/main">
              <a:ext uri="{FF2B5EF4-FFF2-40B4-BE49-F238E27FC236}">
                <a16:creationId xmlns:a16="http://schemas.microsoft.com/office/drawing/2014/main" id="{25209D2C-E63E-4C2B-9C87-FE274541976C}"/>
              </a:ext>
            </a:extLst>
          </p:cNvPr>
          <p:cNvSpPr>
            <a:spLocks xmlns:a="http://schemas.openxmlformats.org/drawingml/2006/main" noGrp="1"/>
          </p:cNvSpPr>
          <p:nvPr/>
        </p:nvSpPr>
        <p:spPr>
          <a:xfrm xmlns:a="http://schemas.openxmlformats.org/drawingml/2006/main">
            <a:off x="6381750" y="1595005"/>
            <a:ext cx="5314950" cy="3382241"/>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e0c607c4ef424f00"/>
          <a:stretch xmlns:a="http://schemas.openxmlformats.org/drawingml/2006/main"/>
        </p:blipFill>
        <p:spPr>
          <a:xfrm xmlns:a="http://schemas.openxmlformats.org/drawingml/2006/main">
            <a:off x="6381750" y="1704295"/>
            <a:ext cx="5314950" cy="3163661"/>
          </a:xfrm>
          <a:prstGeom xmlns:a="http://schemas.openxmlformats.org/drawingml/2006/main" prst="roundRect">
            <a:avLst/>
          </a:prstGeom>
        </p:spPr>
      </p:pic>
      <p:sp>
        <p:nvSpPr>
          <p:cNvPr id="15" name="">
            <a:extLst xmlns:a="http://schemas.openxmlformats.org/drawingml/2006/main">
              <a:ext uri="{FF2B5EF4-FFF2-40B4-BE49-F238E27FC236}">
                <a16:creationId xmlns:a16="http://schemas.microsoft.com/office/drawing/2014/main" id="{E253BAE9-E575-4270-B93E-0747E5B445A0}"/>
              </a:ext>
            </a:extLst>
          </p:cNvPr>
          <p:cNvSpPr>
            <a:spLocks xmlns:a="http://schemas.openxmlformats.org/drawingml/2006/main" noGrp="1"/>
          </p:cNvSpPr>
          <p:nvPr/>
        </p:nvSpPr>
        <p:spPr>
          <a:xfrm xmlns:a="http://schemas.openxmlformats.org/drawingml/2006/main">
            <a:off x="6381750" y="1595005"/>
            <a:ext cx="5314950" cy="3382241"/>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8e9a39f63904f5a"/>
          <a:stretch xmlns:a="http://schemas.openxmlformats.org/drawingml/2006/main"/>
        </p:blipFill>
        <p:spPr>
          <a:xfrm xmlns:a="http://schemas.openxmlformats.org/drawingml/2006/main">
            <a:off x="6381750" y="1735932"/>
            <a:ext cx="5314950" cy="3100388"/>
          </a:xfrm>
          <a:prstGeom xmlns:a="http://schemas.openxmlformats.org/drawingml/2006/main" prst="roundRect">
            <a:avLst/>
          </a:prstGeom>
        </p:spPr>
      </p:pic>
    </p:spTree>
    <p:extLst>
      <p:ext uri="{BB962C8B-B14F-4D97-AF65-F5344CB8AC3E}">
        <p14:creationId xmlns:p14="http://schemas.microsoft.com/office/powerpoint/2010/main" val="46343675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16</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near-misses are informative, but they do not authorize OOS</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EWA–EWC–IGE and SHY–IEF–TLT each passed seven gates for opposite reasons. Reactively dropping one gate would redefine success after seeing the result.</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T01 · 7/8</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+17.3 bp/trade · lower CI barely &gt;0</a:t>
            </a:r>
          </a:p>
          <a:p xmlns:a="http://schemas.openxmlformats.org/drawingml/2006/main">
            <a:pPr algn="l">
              <a:buNone/>
              <a:defRPr sz="1575">
                <a:solidFill>
                  <a:srgbClr val="000000"/>
                </a:solidFill>
                <a:latin typeface="Helvetica Neue"/>
                <a:ea typeface="Helvetica Neue"/>
                <a:cs typeface="Helvetica Neue"/>
              </a:defRPr>
            </a:pPr>
            <a:r>
              <a:t>G8 upper bound +0.028</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T04 · 7/8</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G8 upper bound −0.021</a:t>
            </a:r>
          </a:p>
          <a:p xmlns:a="http://schemas.openxmlformats.org/drawingml/2006/main">
            <a:pPr algn="l">
              <a:buNone/>
              <a:defRPr sz="1575">
                <a:solidFill>
                  <a:srgbClr val="000000"/>
                </a:solidFill>
                <a:latin typeface="Helvetica Neue"/>
                <a:ea typeface="Helvetica Neue"/>
                <a:cs typeface="Helvetica Neue"/>
              </a:defRPr>
            </a:pPr>
            <a:r>
              <a:t>Mean net −3.3 bp/trade</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0 nominated</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DEVELOPMENT not queried for performance</a:t>
            </a:r>
          </a:p>
          <a:p xmlns:a="http://schemas.openxmlformats.org/drawingml/2006/main">
            <a:pPr algn="l">
              <a:buNone/>
              <a:defRPr sz="1575">
                <a:solidFill>
                  <a:srgbClr val="000000"/>
                </a:solidFill>
                <a:latin typeface="Helvetica Neue"/>
                <a:ea typeface="Helvetica Neue"/>
                <a:cs typeface="Helvetica Neue"/>
              </a:defRPr>
            </a:pPr>
            <a:r>
              <a:t>2024+ confirmation sealed</a:t>
            </a:r>
          </a:p>
        </p:txBody>
      </p:sp>
    </p:spTree>
    <p:extLst>
      <p:ext uri="{BB962C8B-B14F-4D97-AF65-F5344CB8AC3E}">
        <p14:creationId xmlns:p14="http://schemas.microsoft.com/office/powerpoint/2010/main" val="209824963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E9F43BB9-4202-4A42-9916-7A06678333BD}"/>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Triplets added structure.</a:t>
            </a:r>
          </a:p>
          <a:p xmlns:a="http://schemas.openxmlformats.org/drawingml/2006/main">
            <a:pPr algn="l">
              <a:buNone/>
              <a:defRPr sz="5700">
                <a:solidFill>
                  <a:srgbClr val="000000"/>
                </a:solidFill>
                <a:latin typeface="Helvetica Neue"/>
                <a:ea typeface="Helvetica Neue"/>
                <a:cs typeface="Helvetica Neue"/>
              </a:defRPr>
            </a:pPr>
            <a:r>
              <a:t>They did not earn OOS.</a:t>
            </a:r>
          </a:p>
        </p:txBody>
      </p:sp>
      <p:sp>
        <p:nvSpPr>
          <p:cNvPr id="2" name="cover-subtitle">
            <a:extLst xmlns:a="http://schemas.openxmlformats.org/drawingml/2006/main">
              <a:ext uri="{FF2B5EF4-FFF2-40B4-BE49-F238E27FC236}">
                <a16:creationId xmlns:a16="http://schemas.microsoft.com/office/drawing/2014/main" id="{F6F90063-BA30-438B-9FD3-13AA22719785}"/>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93212"/>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Record five modern rank-one relationships and two instructive seven-of-eight near-misses. Preserve the TRAIN stop, keep DEVELOPMENT and confirmation sealed, and do not weaken the gates after inspection.</a:t>
            </a:r>
          </a:p>
        </p:txBody>
      </p:sp>
      <p:sp>
        <p:nvSpPr>
          <p:cNvPr id="3" name="cover-eyebrow">
            <a:extLst xmlns:a="http://schemas.openxmlformats.org/drawingml/2006/main">
              <a:ext uri="{FF2B5EF4-FFF2-40B4-BE49-F238E27FC236}">
                <a16:creationId xmlns:a16="http://schemas.microsoft.com/office/drawing/2014/main" id="{45129715-75DE-4D50-B44D-3AFE3EBA3F0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LIT-MR-03.1 | STOP AT TRAIN</a:t>
            </a:r>
          </a:p>
        </p:txBody>
      </p:sp>
    </p:spTree>
    <p:extLst>
      <p:ext uri="{BB962C8B-B14F-4D97-AF65-F5344CB8AC3E}">
        <p14:creationId xmlns:p14="http://schemas.microsoft.com/office/powerpoint/2010/main" val="16642401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2026-07-29T11:47:14.9870000Z</dcterms:created>
  <dcterms:modified xsi:type="dcterms:W3CDTF">2026-07-29T11:47:14.9880000Z</dcterms:modified>
</coreProperties>
</file>