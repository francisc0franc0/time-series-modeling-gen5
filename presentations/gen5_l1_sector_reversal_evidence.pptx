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b94da9fb63494d" /><Relationship Type="http://schemas.openxmlformats.org/officeDocument/2006/relationships/extended-properties" Target="/docProps/app.xml" Id="R38e2fbedb8614071" /><Relationship Type="http://schemas.openxmlformats.org/officeDocument/2006/relationships/officeDocument" Target="/ppt/presentation.xml" Id="R74f2c2f8e5e14d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3767d65d764f91"/>
  </p:sldMasterIdLst>
  <p:notesMasterIdLst>
    <p:notesMasterId xmlns:r="http://schemas.openxmlformats.org/officeDocument/2006/relationships" r:id="R0511b951f7784d7e"/>
  </p:notesMasterIdLst>
  <p:sldIdLst>
    <p:sldId xmlns:r="http://schemas.openxmlformats.org/officeDocument/2006/relationships" id="256" r:id="Rcb3e877282224cf1"/>
    <p:sldId xmlns:r="http://schemas.openxmlformats.org/officeDocument/2006/relationships" id="257" r:id="Re1728d4485a64b0c"/>
    <p:sldId xmlns:r="http://schemas.openxmlformats.org/officeDocument/2006/relationships" id="258" r:id="Re9bdda1743804bb5"/>
    <p:sldId xmlns:r="http://schemas.openxmlformats.org/officeDocument/2006/relationships" id="259" r:id="R766d51d6e6dd4ab6"/>
    <p:sldId xmlns:r="http://schemas.openxmlformats.org/officeDocument/2006/relationships" id="260" r:id="R53c650f635384772"/>
    <p:sldId xmlns:r="http://schemas.openxmlformats.org/officeDocument/2006/relationships" id="261" r:id="Rc2e273c3406e4adf"/>
    <p:sldId xmlns:r="http://schemas.openxmlformats.org/officeDocument/2006/relationships" id="262" r:id="Rfbe2041484474936"/>
    <p:sldId xmlns:r="http://schemas.openxmlformats.org/officeDocument/2006/relationships" id="263" r:id="Rcb13ac8bf8994c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1b4490667b405c" /><Relationship Type="http://schemas.openxmlformats.org/officeDocument/2006/relationships/slideMaster" Target="/ppt/slideMasters/slideMaster1.xml" Id="R383767d65d764f91" /><Relationship Type="http://schemas.openxmlformats.org/officeDocument/2006/relationships/notesMaster" Target="/ppt/notesMasters/notesMaster1.xml" Id="R0511b951f7784d7e" /><Relationship Type="http://schemas.openxmlformats.org/officeDocument/2006/relationships/presProps" Target="/ppt/presProps.xml" Id="R81a343c8b9e94012" /><Relationship Type="http://schemas.openxmlformats.org/officeDocument/2006/relationships/tableStyles" Target="/ppt/tableStyles.xml" Id="Rcce9115f8c96414a" /><Relationship Type="http://schemas.openxmlformats.org/officeDocument/2006/relationships/slide" Target="/ppt/slides/slide1.xml" Id="Rcb3e877282224cf1" /><Relationship Type="http://schemas.openxmlformats.org/officeDocument/2006/relationships/slide" Target="/ppt/slides/slide2.xml" Id="Re1728d4485a64b0c" /><Relationship Type="http://schemas.openxmlformats.org/officeDocument/2006/relationships/slide" Target="/ppt/slides/slide3.xml" Id="Re9bdda1743804bb5" /><Relationship Type="http://schemas.openxmlformats.org/officeDocument/2006/relationships/slide" Target="/ppt/slides/slide4.xml" Id="R766d51d6e6dd4ab6" /><Relationship Type="http://schemas.openxmlformats.org/officeDocument/2006/relationships/slide" Target="/ppt/slides/slide5.xml" Id="R53c650f635384772" /><Relationship Type="http://schemas.openxmlformats.org/officeDocument/2006/relationships/slide" Target="/ppt/slides/slide6.xml" Id="Rc2e273c3406e4adf" /><Relationship Type="http://schemas.openxmlformats.org/officeDocument/2006/relationships/slide" Target="/ppt/slides/slide7.xml" Id="Rfbe2041484474936" /><Relationship Type="http://schemas.openxmlformats.org/officeDocument/2006/relationships/slide" Target="/ppt/slides/slide8.xml" Id="Rcb13ac8bf8994c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d95bd1e00f4d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80eefc24474123" /><Relationship Type="http://schemas.openxmlformats.org/officeDocument/2006/relationships/notesMaster" Target="/ppt/notesMasters/notesMaster1.xml" Id="R7d7c76cab9db48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05896b14d74bd2" /><Relationship Type="http://schemas.openxmlformats.org/officeDocument/2006/relationships/notesMaster" Target="/ppt/notesMasters/notesMaster1.xml" Id="R2d2602dc7e5246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233e9767634e8c" /><Relationship Type="http://schemas.openxmlformats.org/officeDocument/2006/relationships/notesMaster" Target="/ppt/notesMasters/notesMaster1.xml" Id="Rac6af3ca87b443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f88f0e9ba748a9" /><Relationship Type="http://schemas.openxmlformats.org/officeDocument/2006/relationships/notesMaster" Target="/ppt/notesMasters/notesMaster1.xml" Id="R73d3cabd2ac141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010516f35d4c7c" /><Relationship Type="http://schemas.openxmlformats.org/officeDocument/2006/relationships/notesMaster" Target="/ppt/notesMasters/notesMaster1.xml" Id="R18703230ec4c40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da4b52ebd748af" /><Relationship Type="http://schemas.openxmlformats.org/officeDocument/2006/relationships/notesMaster" Target="/ppt/notesMasters/notesMaster1.xml" Id="R389560ee7a864c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ca078db3af4219" /><Relationship Type="http://schemas.openxmlformats.org/officeDocument/2006/relationships/notesMaster" Target="/ppt/notesMasters/notesMaster1.xml" Id="Rbf6059dae74146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e35320528e46f2" /><Relationship Type="http://schemas.openxmlformats.org/officeDocument/2006/relationships/notesMaster" Target="/ppt/notesMasters/notesMaster1.xml" Id="R3707394f8aeb43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decision, not the mechanics. The useful result is that the staged contract prevented an unpromising TRAIN effect from becoming a full backtest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Project/Time-Series-Modeling-Gen5/docs/GEN5_L1_LONG_SHORT_SECTOR_REVERSAL_POC_CONTRACT.md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Project/Time-Series-Modeling-Gen5/runs/research_workbench/retail_quant_mechanisms/l1_sector_reversal_20260728/l1_report.md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formula deliberately omits volatility scaling, beta fitting, stop losses, regimes, and parameter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Project/Time-Series-Modeling-Gen5/docs/GEN5_L1_LONG_SHORT_SECTOR_REVERSAL_POC_CONTRACT.md</a:t>
            </a:r>
          </a:p>
          <a:p xmlns:a="http://schemas.openxmlformats.org/drawingml/2006/main">
            <a:r>
              <a:t>- Ernest P. Chan, Algorithmic Trading (2013), printed pp. 6-7 and 102-106.</a:t>
            </a:r>
          </a:p>
          <a:p xmlns:a="http://schemas.openxmlformats.org/drawingml/2006/main">
            <a:r>
              <a:t>- Michael L. Halls-Moore, Successful Algorithmic Trading, printed pp. 16-20.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Negative IC is in the hypothesized direction, but the interval crosses zero. Economic results were negative in every TRAIN year after 5 bp one-way entry and exit costs.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Project/Time-Series-Modeling-Gen5/runs/research_workbench/retail_quant_mechanisms/l1_sector_reversal_20260728/l1_train_bootstrap_summary.csv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Project/Time-Series-Modeling-Gen5/runs/research_workbench/retail_quant_mechanisms/l1_sector_reversal_20260728/l1_train_year_summary.csv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Project/Time-Series-Modeling-Gen5/runs/research_workbench/retail_quant_mechanisms/l1_sector_reversal_20260728/visuals/l1_train_stability.png</a:t>
            </a:r>
          </a:p>
          <a:p xmlns:a="http://schemas.openxmlformats.org/drawingml/2006/main">
            <a:r>
              <a:t>- Ernest P. Chan, Algorithmic Trading (2013), printed pp. 133-136 on horizon-specific, nonoverlapping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randomized control preserves each cohort's realized cross-section while removing the frozen loser/winner labels. The observed rank was worse than the random p90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Project/Time-Series-Modeling-Gen5/runs/research_workbench/retail_quant_mechanisms/l1_sector_reversal_20260728/l1_train_bootstrap_draws.csv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Project/Time-Series-Modeling-Gen5/runs/research_workbench/retail_quant_mechanisms/l1_sector_reversal_20260728/l1_train_random_policy_distribution.csv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Project/Time-Series-Modeling-Gen5/runs/research_workbench/retail_quant_mechanisms/l1_sector_reversal_20260728/visuals/l1_train_resampling.png</a:t>
            </a:r>
          </a:p>
          <a:p xmlns:a="http://schemas.openxmlformats.org/drawingml/2006/main">
            <a:r>
              <a:t>- C:/Users/Franc/OneDrive/Documents/Francis/Peltata Project/Time-Series-Modeling-Gen5/docs/GEN5_L1_LONG_SHORT_SECTOR_REVERSAL_POC_CONTRACT.md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profitable spread can exist even when both legs move in the same absolute direction. Here neither the relative spread hit rate (49.6%) nor the combined absolute classifier supported the hypothesis.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Project/Time-Series-Modeling-Gen5/runs/research_workbench/retail_quant_mechanisms/l1_sector_reversal_20260728/l1_train_direction_scorecard.csv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Project/Time-Series-Modeling-Gen5/runs/research_workbench/retail_quant_mechanisms/l1_sector_reversal_20260728/l1_train_direction_confusion.csv</a:t>
            </a:r>
          </a:p>
          <a:p xmlns:a="http://schemas.openxmlformats.org/drawingml/2006/main">
            <a:r>
              <a:t>- Ernest P. Chan, Algorithmic Trading (2013), printed p. 134 on sign-based 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panels span the cohort-return distribution. Gray bars are the ranking window; blue bars are the following five-session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Project/Time-Series-Modeling-Gen5/runs/research_workbench/retail_quant_mechanisms/l1_sector_reversal_20260728/l1_train_cohorts.csv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Project/Time-Series-Modeling-Gen5/runs/research_workbench/retail_quant_mechanisms/l1_sector_reversal_20260728/l1_train_panel.csv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Project/Time-Series-Modeling-Gen5/runs/research_workbench/retail_quant_mechanisms/l1_sector_reversal_20260728/visuals/l1_representative_cohorts.png</a:t>
            </a:r>
          </a:p>
          <a:p xmlns:a="http://schemas.openxmlformats.org/drawingml/2006/main">
            <a:r>
              <a:t>- Michael L. Halls-Moore, Successful Algorithmic Trading, printed pp. 109-111 on trade- and bar-level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structural NOT_RUN, not missing reporting. Later outcome functions were not called after the L1A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Project/Time-Series-Modeling-Gen5/runs/research_workbench/retail_quant_mechanisms/l1_sector_reversal_20260728/l1_gate_summary.csv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Project/Time-Series-Modeling-Gen5/runs/research_workbench/retail_quant_mechanisms/l1_sector_reversal_20260728/l1_run_spec.csv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Project/Time-Series-Modeling-Gen5/runs/research_workbench/retail_quant_mechanisms/l1_sector_reversal_20260728/l1_integrity_audit.csv</a:t>
            </a:r>
          </a:p>
          <a:p xmlns:a="http://schemas.openxmlformats.org/drawingml/2006/main">
            <a:r>
              <a:t>- C:/Users/Franc/OneDrive/Documents/Francis/Peltata Project/Time-Series-Modeling-Gen5/docs/GEN5_L1_LONG_SHORT_SECTOR_REVERSAL_POC_CONTRACT.md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research gate belongs to the operator. A separately frozen momentum POC remains a serious candidate, but this deck does not open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Project/Time-Series-Modeling-Gen5/docs/GEN5_L1_LONG_SHORT_SECTOR_REVERSAL_POC_CONTRACT.md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Project/Time-Series-Modeling-Gen5/runs/research_workbench/retail_quant_mechanisms/l1_sector_reversal_20260728/l1_report.md</a:t>
            </a:r>
          </a:p>
          <a:p xmlns:a="http://schemas.openxmlformats.org/drawingml/2006/main">
            <a:r>
              <a:t>- C:/Users/Franc/OneDrive/Documents/Francis/Peltata Project/Time-Series-Modeling-Gen5/docs/GEN5_LITERATURE_SOURCE_LEDGER.md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8f9d546a64e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d92162851e487e" /><Relationship Type="http://schemas.openxmlformats.org/officeDocument/2006/relationships/slideLayout" Target="/ppt/slideLayouts/slideLayout1.xml" Id="R3c3a6787f3b440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3a6787f3b440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45f82ae9140e0" /><Relationship Type="http://schemas.openxmlformats.org/officeDocument/2006/relationships/notesSlide" Target="/ppt/notesSlides/notesSlide1.xml" Id="Rf0f33a832d5946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57689077f42d2" /><Relationship Type="http://schemas.openxmlformats.org/officeDocument/2006/relationships/notesSlide" Target="/ppt/notesSlides/notesSlide2.xml" Id="R655ddf28f67a4d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76dc059774220" /><Relationship Type="http://schemas.openxmlformats.org/officeDocument/2006/relationships/image" Target="/ppt/media/image.png" Id="R23d78b98fd7348fb" /><Relationship Type="http://schemas.openxmlformats.org/officeDocument/2006/relationships/notesSlide" Target="/ppt/notesSlides/notesSlide3.xml" Id="R66f8c5a87ead4f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bb27f12b34108" /><Relationship Type="http://schemas.openxmlformats.org/officeDocument/2006/relationships/image" Target="/ppt/media/image2.png" Id="R8ff6a751fba64bbd" /><Relationship Type="http://schemas.openxmlformats.org/officeDocument/2006/relationships/notesSlide" Target="/ppt/notesSlides/notesSlide4.xml" Id="R87886ff90c8b43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a7fbf7cf94fe3" /><Relationship Type="http://schemas.openxmlformats.org/officeDocument/2006/relationships/notesSlide" Target="/ppt/notesSlides/notesSlide5.xml" Id="R190ee6a5c8974d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7fa2602c74ddc" /><Relationship Type="http://schemas.openxmlformats.org/officeDocument/2006/relationships/image" Target="/ppt/media/image3.png" Id="R1b94ad1b23bc43d2" /><Relationship Type="http://schemas.openxmlformats.org/officeDocument/2006/relationships/notesSlide" Target="/ppt/notesSlides/notesSlide6.xml" Id="Rca86d738478641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7965f8dcd42ca" /><Relationship Type="http://schemas.openxmlformats.org/officeDocument/2006/relationships/notesSlide" Target="/ppt/notesSlides/notesSlide7.xml" Id="R307e0042fc9443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092ca94d04810" /><Relationship Type="http://schemas.openxmlformats.org/officeDocument/2006/relationships/notesSlide" Target="/ppt/notesSlides/notesSlide8.xml" Id="R8dbb0edfe45f44e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C369D787-716F-4083-BC23-88DB77E2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906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L1 sector reversal
stops at TRAIN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4F348D1-154A-4110-A6C1-C9F02F1B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72390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simple long-short rule failed before later evidence was opened.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81C7D2C-B476-466D-AE6E-23BC1304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858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GEN5 LITERATURE-GROUNDED POC | 28 JUL 2026</a:t>
            </a:r>
          </a:p>
        </p:txBody>
      </p:sp>
    </p:spTree>
    <p:extLst>
      <p:ext uri="{BB962C8B-B14F-4D97-AF65-F5344CB8AC3E}">
        <p14:creationId xmlns:p14="http://schemas.microsoft.com/office/powerpoint/2010/main" val="1710788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E1AE384B-58C9-4E93-98F0-BF777906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2AC65061-E925-4EA4-957F-CEC020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9DFD9BEA-AABE-43AB-9B1E-B368019E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CB22539-164A-456E-9863-8DA1F7CD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72C05B3-13E4-4A32-AB5A-87BA170E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rule was simple enough to falsify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C714263F-AACC-4F20-9ECE-46E71071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38250"/>
            <a:ext cx="11404568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fifth session, rank nine sector ETFs by trailing five-session return. Buy the two losers, short the two winners, and hold from the following open for five sessions.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E66BE88-7185-4AA4-AAF3-AC20A93F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 + 2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735289F9-4D6F-4163-8DF4-309636F2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equal-weight longs
Two equal-weight shorts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6B855B10-A2BA-49A0-848C-CB44BFA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/ 5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AD921497-E4EF-4ED6-81C8-DBE391EB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Five-session lookback
Five-session holding period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E6EA6CB4-C246-47E1-AE3B-EFA3C559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100% / 0%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6E8A186D-8F7E-427D-8A50-B7BCDB7F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Gross exposure / net dollar exposure</a:t>
            </a:r>
          </a:p>
        </p:txBody>
      </p:sp>
    </p:spTree>
    <p:extLst>
      <p:ext uri="{BB962C8B-B14F-4D97-AF65-F5344CB8AC3E}">
        <p14:creationId xmlns:p14="http://schemas.microsoft.com/office/powerpoint/2010/main" val="3999456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711C9A8-A8B8-4CC6-9742-2963DE5C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F40360-D07A-4E87-B6E1-12C9DF4B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showed no reliable reversal edge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B0658FF7-70A6-436D-83D0-0D0BCF35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5696182-0A56-4BF5-965F-60EB529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09750"/>
            <a:ext cx="5537168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250 nonoverlapping cohorts
Mean rank IC: -0.0188
95% interval: [-0.0704, 0.0321]
Mean net return: -10.47 bp per cohort
All five TRAIN years were negative after primary costs.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78b98fd7348fb"/>
          <a:stretch xmlns:a="http://schemas.openxmlformats.org/drawingml/2006/main"/>
        </p:blipFill>
        <p:spPr>
          <a:xfrm xmlns:a="http://schemas.openxmlformats.org/drawingml/2006/main">
            <a:off x="6381750" y="1713820"/>
            <a:ext cx="5314950" cy="316366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880354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BA6E669-63B4-4EF9-8302-B3B13B15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6A3829E-EE3D-429C-AA6E-1A52B110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frozen rank underperformed random policies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8256E1A0-8D25-41BF-AB51-0C5D79B5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DD4B3A06-4C18-4E1C-B31C-2EF30CA0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6132F256-2ED5-4AC5-AA4E-61E38140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observed rule sat inside a wide uncertainty band and below the p90 of 2,000 random long-short policies. It did not isolate a useful ranking mechanism.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F241E00F-0E62-49A5-AF3C-65F92EC6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-10.47 bp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1BCB69D0-7F44-4356-8BDC-33656177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Observed mean net return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63ED7AD0-DD43-4A01-A4EB-055D1756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-2.46 bp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63A0DB61-126F-48EC-9B7F-338D7500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Random-policy p90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6a751fba64bbd"/>
          <a:stretch xmlns:a="http://schemas.openxmlformats.org/drawingml/2006/main"/>
        </p:blipFill>
        <p:spPr>
          <a:xfrm xmlns:a="http://schemas.openxmlformats.org/drawingml/2006/main">
            <a:off x="385858" y="2444705"/>
            <a:ext cx="5534216" cy="26353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467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9E95CF07-C718-49C9-A16B-2135AC73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10A0F29E-78D6-4249-A623-E1D99F0A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5CB45A86-EB2C-4FBD-9C50-9B0AF57F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5ECAFE1-FB62-4C91-9488-4C56EDAC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16FBD3-86CC-42A2-B9D9-5E163534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Absolute direction also missed the baseline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00E7AAED-1189-457E-A4AC-CE4C9518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38250"/>
            <a:ext cx="11404568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relative spread prediction and absolute up/down prediction were scored separately. Long selections rose more often than shorts fell, but the combined classifier was no better than chance.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3B86E28E-4E2E-4603-BC27-58535E01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48.7%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94144411-27C9-44F3-B21E-F2EC2AD5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Raw and balanced
directional accuracy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24F0461D-15DC-4291-9CEA-80F004DC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solidFill>
                  <a:srgbClr val="177245"/>
                </a:solidFill>
                <a:latin typeface="Helvetica Neue"/>
                <a:ea typeface="Helvetica Neue"/>
                <a:cs typeface="Helvetica Neue"/>
              </a:defRPr>
            </a:pPr>
            <a:r>
              <a:t>56.2%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2D2234F-7419-49A0-A3B2-B3F572C8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Long selections
that subsequently rose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F02F7F61-3D67-4A5E-BB6C-5667C5C3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41.2%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CA3339F3-7D0B-4F13-A08B-F993060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Short selections
that subsequently fell</a:t>
            </a:r>
          </a:p>
        </p:txBody>
      </p:sp>
    </p:spTree>
    <p:extLst>
      <p:ext uri="{BB962C8B-B14F-4D97-AF65-F5344CB8AC3E}">
        <p14:creationId xmlns:p14="http://schemas.microsoft.com/office/powerpoint/2010/main" val="17085428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7B1E6D3-4AD1-4D87-B0B2-E8E25D5F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DC16531-7F72-42E8-B273-778E669C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Representative tapes reveal unstable outcomes</a:t>
            </a:r>
          </a:p>
        </p:txBody>
      </p:sp>
      <p:sp>
        <p:nvSpPr>
          <p:cNvPr id="3" name="left-stat-card">
            <a:extLst xmlns:a="http://schemas.openxmlformats.org/drawingml/2006/main">
              <a:ext uri="{FF2B5EF4-FFF2-40B4-BE49-F238E27FC236}">
                <a16:creationId xmlns:a16="http://schemas.microsoft.com/office/drawing/2014/main" id="{7C27E6CD-BE78-4CD5-B208-B62C3701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ight-stat-card">
            <a:extLst xmlns:a="http://schemas.openxmlformats.org/drawingml/2006/main">
              <a:ext uri="{FF2B5EF4-FFF2-40B4-BE49-F238E27FC236}">
                <a16:creationId xmlns:a16="http://schemas.microsoft.com/office/drawing/2014/main" id="{B4D24467-20E8-4113-8CF5-7B78AFEF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CD200DC9-C78A-429C-A89C-53BB9CBA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Large wins and losses both occurred, but they did not form a repeatable, cost-aware distribution. The cohort - not its four ETF legs - is the independent trade unit.</a:t>
            </a:r>
          </a:p>
        </p:txBody>
      </p:sp>
      <p:sp>
        <p:nvSpPr>
          <p:cNvPr id="6" name="left-stat">
            <a:extLst xmlns:a="http://schemas.openxmlformats.org/drawingml/2006/main">
              <a:ext uri="{FF2B5EF4-FFF2-40B4-BE49-F238E27FC236}">
                <a16:creationId xmlns:a16="http://schemas.microsoft.com/office/drawing/2014/main" id="{5A232936-BFB4-4FAC-BCF2-916C0FE6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-884.6 bp</a:t>
            </a:r>
          </a:p>
        </p:txBody>
      </p:sp>
      <p:sp>
        <p:nvSpPr>
          <p:cNvPr id="7" name="left-stat-label">
            <a:extLst xmlns:a="http://schemas.openxmlformats.org/drawingml/2006/main">
              <a:ext uri="{FF2B5EF4-FFF2-40B4-BE49-F238E27FC236}">
                <a16:creationId xmlns:a16="http://schemas.microsoft.com/office/drawing/2014/main" id="{5899B4F8-8884-4356-AD99-E1CABF7E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Worst representative cohort</a:t>
            </a:r>
          </a:p>
        </p:txBody>
      </p:sp>
      <p:sp>
        <p:nvSpPr>
          <p:cNvPr id="8" name="right-stat">
            <a:extLst xmlns:a="http://schemas.openxmlformats.org/drawingml/2006/main">
              <a:ext uri="{FF2B5EF4-FFF2-40B4-BE49-F238E27FC236}">
                <a16:creationId xmlns:a16="http://schemas.microsoft.com/office/drawing/2014/main" id="{3D3A8C84-0E68-483F-95CD-AE856A5C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177245"/>
                </a:solidFill>
                <a:latin typeface="Helvetica Neue"/>
                <a:ea typeface="Helvetica Neue"/>
                <a:cs typeface="Helvetica Neue"/>
              </a:defRPr>
            </a:pPr>
            <a:r>
              <a:t>+341.3 bp</a:t>
            </a:r>
          </a:p>
        </p:txBody>
      </p:sp>
      <p:sp>
        <p:nvSpPr>
          <p:cNvPr id="9" name="right-stat-label">
            <a:extLst xmlns:a="http://schemas.openxmlformats.org/drawingml/2006/main">
              <a:ext uri="{FF2B5EF4-FFF2-40B4-BE49-F238E27FC236}">
                <a16:creationId xmlns:a16="http://schemas.microsoft.com/office/drawing/2014/main" id="{97DDB6B9-8227-4993-87D3-BC5A7749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53000"/>
            <a:ext cx="206673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Best representative cohort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4ad1b23bc43d2"/>
          <a:stretch xmlns:a="http://schemas.openxmlformats.org/drawingml/2006/main"/>
        </p:blipFill>
        <p:spPr>
          <a:xfrm xmlns:a="http://schemas.openxmlformats.org/drawingml/2006/main">
            <a:off x="385858" y="1979128"/>
            <a:ext cx="5534216" cy="35664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15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EAE4D493-29A1-4617-97DF-48C95FD2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75E6F22A-7C8A-42C8-8CCE-C29FC0D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1198DE2A-A46A-4B06-8EAE-4A7E5C77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6B575BE-BF0F-4F81-9907-A8566469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A8079D1-B143-443E-8607-7E1409FA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correct output is STOP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5FA68AFB-339E-4C5D-A743-7C713857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38250"/>
            <a:ext cx="11404568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Integrity passed, but every substantive TRAIN gate failed. The contract therefore withheld DEVELOPMENT, CONFIRMATION, Sharpe, drawdown, trade PnL, and equity replay.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FCACAF80-7192-451D-8C44-8A22D1DA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1 / 6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96B36-23A2-4F1A-8E6D-F691EFEE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gates passed
Integrity only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2BF40E38-5969-4CCB-8C80-E81FA904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5 / 6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26479BC6-9D08-4180-AD23-5DC9FB6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gates failed
Mechanism not admitted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FCEFDAA1-09D1-4990-87D1-B52BB9E9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CD98F10A-594C-4892-95A8-5335085E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Later partitions opened
No performance claims</a:t>
            </a:r>
          </a:p>
        </p:txBody>
      </p:sp>
    </p:spTree>
    <p:extLst>
      <p:ext uri="{BB962C8B-B14F-4D97-AF65-F5344CB8AC3E}">
        <p14:creationId xmlns:p14="http://schemas.microsoft.com/office/powerpoint/2010/main" val="7867009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losing-headline">
            <a:extLst xmlns:a="http://schemas.openxmlformats.org/drawingml/2006/main">
              <a:ext uri="{FF2B5EF4-FFF2-40B4-BE49-F238E27FC236}">
                <a16:creationId xmlns:a16="http://schemas.microsoft.com/office/drawing/2014/main" id="{4DA024DF-22EF-4B3D-A3C6-6217160F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906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 not rescue L1.</a:t>
            </a:r>
          </a:p>
        </p:txBody>
      </p:sp>
      <p:sp>
        <p:nvSpPr>
          <p:cNvPr id="2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7599EF11-8473-4344-842A-DE64C5CB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7620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Preserve DEVELOPMENT and CONFIRMATION. Return to literature for a genuinely different mechanism - not a nearby horizon, filter, or universe tweak.</a:t>
            </a:r>
          </a:p>
        </p:txBody>
      </p:sp>
      <p:sp>
        <p:nvSpPr>
          <p:cNvPr id="3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144E0A50-7272-42AD-86C3-48D2F50C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667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622617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2026-07-28T10:13:51.1340000Z</dcterms:created>
  <dcterms:modified xsi:type="dcterms:W3CDTF">2026-07-28T10:13:51.1340000Z</dcterms:modified>
</coreProperties>
</file>