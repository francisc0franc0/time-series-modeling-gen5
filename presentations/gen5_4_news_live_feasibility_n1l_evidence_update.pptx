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3c0cd9efc64e75" /><Relationship Type="http://schemas.openxmlformats.org/officeDocument/2006/relationships/extended-properties" Target="/docProps/app.xml" Id="Ra5603cc1fdee42ee" /><Relationship Type="http://schemas.openxmlformats.org/officeDocument/2006/relationships/officeDocument" Target="/ppt/presentation.xml" Id="R6a341b39d843490e" /></Relationships>
</file>

<file path=ppt/presentation.xml><?xml version="1.0" encoding="utf-8"?>
<p:presentation xmlns:p="http://schemas.openxmlformats.org/presentationml/2006/main">
  <p:sldMasterIdLst>
    <p:sldMasterId xmlns:r="http://schemas.openxmlformats.org/officeDocument/2006/relationships" id="2147483648" r:id="R5ecfe3561dd94d19"/>
  </p:sldMasterIdLst>
  <p:notesMasterIdLst>
    <p:notesMasterId xmlns:r="http://schemas.openxmlformats.org/officeDocument/2006/relationships" r:id="Re0fded4363a14961"/>
  </p:notesMasterIdLst>
  <p:sldIdLst>
    <p:sldId xmlns:r="http://schemas.openxmlformats.org/officeDocument/2006/relationships" id="256" r:id="R78fab4a500864799"/>
    <p:sldId xmlns:r="http://schemas.openxmlformats.org/officeDocument/2006/relationships" id="257" r:id="R8cb41a7d47584f7d"/>
    <p:sldId xmlns:r="http://schemas.openxmlformats.org/officeDocument/2006/relationships" id="258" r:id="R131bcd73733e4e84"/>
    <p:sldId xmlns:r="http://schemas.openxmlformats.org/officeDocument/2006/relationships" id="259" r:id="R0f366d74a24c4b3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bb147e0c3a47e8" /><Relationship Type="http://schemas.openxmlformats.org/officeDocument/2006/relationships/slideMaster" Target="/ppt/slideMasters/slideMaster1.xml" Id="R5ecfe3561dd94d19" /><Relationship Type="http://schemas.openxmlformats.org/officeDocument/2006/relationships/notesMaster" Target="/ppt/notesMasters/notesMaster1.xml" Id="Re0fded4363a14961" /><Relationship Type="http://schemas.openxmlformats.org/officeDocument/2006/relationships/presProps" Target="/ppt/presProps.xml" Id="R913ff5803540495d" /><Relationship Type="http://schemas.openxmlformats.org/officeDocument/2006/relationships/tableStyles" Target="/ppt/tableStyles.xml" Id="Rfcf758cd676f41f2" /><Relationship Type="http://schemas.openxmlformats.org/officeDocument/2006/relationships/slide" Target="/ppt/slides/slide1.xml" Id="R78fab4a500864799" /><Relationship Type="http://schemas.openxmlformats.org/officeDocument/2006/relationships/slide" Target="/ppt/slides/slide2.xml" Id="R8cb41a7d47584f7d" /><Relationship Type="http://schemas.openxmlformats.org/officeDocument/2006/relationships/slide" Target="/ppt/slides/slide3.xml" Id="R131bcd73733e4e84" /><Relationship Type="http://schemas.openxmlformats.org/officeDocument/2006/relationships/slide" Target="/ppt/slides/slide4.xml" Id="R0f366d74a24c4b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ac268b659343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2965954eca48e2" /><Relationship Type="http://schemas.openxmlformats.org/officeDocument/2006/relationships/notesMaster" Target="/ppt/notesMasters/notesMaster1.xml" Id="R295f9aa014d640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c806c156be41f7" /><Relationship Type="http://schemas.openxmlformats.org/officeDocument/2006/relationships/notesMaster" Target="/ppt/notesMasters/notesMaster1.xml" Id="R5244fbacbfbb46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5379033b414801" /><Relationship Type="http://schemas.openxmlformats.org/officeDocument/2006/relationships/notesMaster" Target="/ppt/notesMasters/notesMaster1.xml" Id="R799e53c0254144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77e46471fd4945" /><Relationship Type="http://schemas.openxmlformats.org/officeDocument/2006/relationships/notesMaster" Target="/ppt/notesMasters/notesMaster1.xml" Id="Rc8ee811835324a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SESSION 11 - NEWS LIVE FEASIBILITY N1L</a:t>
            </a:r>
          </a:p>
          <a:p xmlns:a="http://schemas.openxmlformats.org/drawingml/2006/main">
            <a:r>
              <a:t/>
            </a:r>
          </a:p>
          <a:p xmlns:a="http://schemas.openxmlformats.org/drawingml/2006/main">
            <a:r>
              <a:t>Question</a:t>
            </a:r>
          </a:p>
          <a:p xmlns:a="http://schemas.openxmlformats.org/drawingml/2006/main">
            <a:r>
              <a:t>Can the Alpaca account receive locally timestamped real-time news, reconnect deliberately, and reconcile a REST overlap before any market outcome is inspected?</a:t>
            </a:r>
          </a:p>
          <a:p xmlns:a="http://schemas.openxmlformats.org/drawingml/2006/main">
            <a:r>
              <a:t/>
            </a:r>
          </a:p>
          <a:p xmlns:a="http://schemas.openxmlformats.org/drawingml/2006/main">
            <a:r>
              <a:t>Result</a:t>
            </a:r>
          </a:p>
          <a:p xmlns:a="http://schemas.openxmlformats.org/drawingml/2006/main">
            <a:r>
              <a:t>All 13 hard transport and reconciliation gates passed. No live candidate article arrived during two 120-second connections, so the predeclared result is a partial pass rather than full prospective payload equivalence.</a:t>
            </a:r>
          </a:p>
          <a:p xmlns:a="http://schemas.openxmlformats.org/drawingml/2006/main">
            <a:r>
              <a:t/>
            </a:r>
          </a:p>
          <a:p xmlns:a="http://schemas.openxmlformats.org/drawingml/2006/main">
            <a:r>
              <a:t>Contract: docs/GEN5_4_NEWS_LIVE_FEASIBILITY_N1L_CONTRACT.md</a:t>
            </a:r>
          </a:p>
          <a:p xmlns:a="http://schemas.openxmlformats.org/drawingml/2006/main">
            <a:r>
              <a:t>Report: C:/Users/Franc/OneDrive/Documents/Francis/Peltata Project/Time-Series-Modeling-Gen5/runs/research_workbench/gen54_ml_decision_engine/g54_news_n1l_20260721/n1l_report.md</a:t>
            </a:r>
          </a:p>
          <a:p xmlns:a="http://schemas.openxmlformats.org/drawingml/2006/main">
            <a:r>
              <a:t>Conversation: codex://threads/019f741e-615f-7fd0-90f7-edce12b5cb66</a:t>
            </a:r>
          </a:p>
          <a:p xmlns:a="http://schemas.openxmlformats.org/drawingml/2006/main">
            <a:r>
              <a:t>Find in chat: These are all wonderful suggestions. Let's proceed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D33 - TRANSPORT GATES PASS</a:t>
            </a:r>
          </a:p>
          <a:p xmlns:a="http://schemas.openxmlformats.org/drawingml/2006/main">
            <a:r>
              <a:t/>
            </a:r>
          </a:p>
          <a:p xmlns:a="http://schemas.openxmlformats.org/drawingml/2006/main">
            <a:r>
              <a:t>Evidence</a:t>
            </a:r>
          </a:p>
          <a:p xmlns:a="http://schemas.openxmlformats.org/drawingml/2006/main">
            <a:r>
              <a:t>Both connections opened, authenticated, and received Alpaca subscription acknowledgements for all 25 requested symbol keys. The first connection closed with code 1000 and the second connection then opened.</a:t>
            </a:r>
          </a:p>
          <a:p xmlns:a="http://schemas.openxmlformats.org/drawingml/2006/main">
            <a:r>
              <a:t/>
            </a:r>
          </a:p>
          <a:p xmlns:a="http://schemas.openxmlformats.org/drawingml/2006/main">
            <a:r>
              <a:t>Receipt authority</a:t>
            </a:r>
          </a:p>
          <a:p xmlns:a="http://schemas.openxmlformats.org/drawingml/2006/main">
            <a:r>
              <a:t>Every received frame was stored with a local UTC receipt timestamp and connection ID before parsing. Six control frames parsed without error.</a:t>
            </a:r>
          </a:p>
          <a:p xmlns:a="http://schemas.openxmlformats.org/drawingml/2006/main">
            <a:r>
              <a:t/>
            </a:r>
          </a:p>
          <a:p xmlns:a="http://schemas.openxmlformats.org/drawingml/2006/main">
            <a:r>
              <a:t>Boundary</a:t>
            </a:r>
          </a:p>
          <a:p xmlns:a="http://schemas.openxmlformats.org/drawingml/2006/main">
            <a:r>
              <a:t>Transport evidence is not predictive evidence and does not itself prove a live news article payload.</a:t>
            </a:r>
          </a:p>
          <a:p xmlns:a="http://schemas.openxmlformats.org/drawingml/2006/main">
            <a:r>
              <a:t/>
            </a:r>
          </a:p>
          <a:p xmlns:a="http://schemas.openxmlformats.org/drawingml/2006/main">
            <a:r>
              <a:t>Lifecycle: C:/Users/Franc/OneDrive/Documents/Francis/Peltata Project/Time-Series-Modeling-Gen5/runs/research_workbench/gen54_ml_decision_engine/g54_news_n1l_20260721/n1l_connection_lifecycle.csv</a:t>
            </a:r>
          </a:p>
          <a:p xmlns:a="http://schemas.openxmlformats.org/drawingml/2006/main">
            <a:r>
              <a:t>Official stream: https://docs.alpaca.markets/us/docs/streaming-real-time-news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D33 - NO LIVE ARTICLE OBSERVED</a:t>
            </a:r>
          </a:p>
          <a:p xmlns:a="http://schemas.openxmlformats.org/drawingml/2006/main">
            <a:r>
              <a:t/>
            </a:r>
          </a:p>
          <a:p xmlns:a="http://schemas.openxmlformats.org/drawingml/2006/main">
            <a:r>
              <a:t>Evidence</a:t>
            </a:r>
          </a:p>
          <a:p xmlns:a="http://schemas.openxmlformats.org/drawingml/2006/main">
            <a:r>
              <a:t>The explicit REST window ran from 06:58:55.963Z through 07:18:01.044Z and exhausted one HTTP 200 page. Its one candidate article was updated at 07:13:09Z, before the first subscription acknowledgement.</a:t>
            </a:r>
          </a:p>
          <a:p xmlns:a="http://schemas.openxmlformats.org/drawingml/2006/main">
            <a:r>
              <a:t/>
            </a:r>
          </a:p>
          <a:p xmlns:a="http://schemas.openxmlformats.org/drawingml/2006/main">
            <a:r>
              <a:t>Meaning</a:t>
            </a:r>
          </a:p>
          <a:p xmlns:a="http://schemas.openxmlformats.org/drawingml/2006/main">
            <a:r>
              <a:t>REST confirms that the archive path was active, but it cannot manufacture a stream match for an article that predated subscription. Zero live articles is therefore a quiet-window observation, not a transport failure.</a:t>
            </a:r>
          </a:p>
          <a:p xmlns:a="http://schemas.openxmlformats.org/drawingml/2006/main">
            <a:r>
              <a:t/>
            </a:r>
          </a:p>
          <a:p xmlns:a="http://schemas.openxmlformats.org/drawingml/2006/main">
            <a:r>
              <a:t>Correction</a:t>
            </a:r>
          </a:p>
          <a:p xmlns:a="http://schemas.openxmlformats.org/drawingml/2006/main">
            <a:r>
              <a:t>An earlier interrupted run exposed local-time parsing in the REST start boundary. The authority packet uses the corrected UTC parser and exact 15-minute start.</a:t>
            </a:r>
          </a:p>
          <a:p xmlns:a="http://schemas.openxmlformats.org/drawingml/2006/main">
            <a:r>
              <a:t/>
            </a:r>
          </a:p>
          <a:p xmlns:a="http://schemas.openxmlformats.org/drawingml/2006/main">
            <a:r>
              <a:t>Reconciliation: C:/Users/Franc/OneDrive/Documents/Francis/Peltata Project/Time-Series-Modeling-Gen5/runs/research_workbench/gen54_ml_decision_engine/g54_news_n1l_20260721/n1l_reconciliation.csv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D33 - PARTIAL_PASS_N1L_TRANSPORT_READY_NO_LIVE_ARTICLE</a:t>
            </a:r>
          </a:p>
          <a:p xmlns:a="http://schemas.openxmlformats.org/drawingml/2006/main">
            <a:r>
              <a:t/>
            </a:r>
          </a:p>
          <a:p xmlns:a="http://schemas.openxmlformats.org/drawingml/2006/main">
            <a:r>
              <a:t>What passed</a:t>
            </a:r>
          </a:p>
          <a:p xmlns:a="http://schemas.openxmlformats.org/drawingml/2006/main">
            <a:r>
              <a:t>Connection, authentication, subscription, deliberate reconnect, local receipt metadata, frame parsing, REST HTTP/pagination, and same-version conflict gates.</a:t>
            </a:r>
          </a:p>
          <a:p xmlns:a="http://schemas.openxmlformats.org/drawingml/2006/main">
            <a:r>
              <a:t/>
            </a:r>
          </a:p>
          <a:p xmlns:a="http://schemas.openxmlformats.org/drawingml/2006/main">
            <a:r>
              <a:t>What did not occur</a:t>
            </a:r>
          </a:p>
          <a:p xmlns:a="http://schemas.openxmlformats.org/drawingml/2006/main">
            <a:r>
              <a:t>No candidate article arrived after subscription during the combined four-minute observation. Full live payload equivalence remains unobserved.</a:t>
            </a:r>
          </a:p>
          <a:p xmlns:a="http://schemas.openxmlformats.org/drawingml/2006/main">
            <a:r>
              <a:t/>
            </a:r>
          </a:p>
          <a:p xmlns:a="http://schemas.openxmlformats.org/drawingml/2006/main">
            <a:r>
              <a:t>Recommendation</a:t>
            </a:r>
          </a:p>
          <a:p xmlns:a="http://schemas.openxmlformats.org/drawingml/2006/main">
            <a:r>
              <a:t>Run a later bounded shadow observation during an active US news window. Do not open the frozen N1B outcome join by assumption. The operator may explicitly accept the limitation, but the recommended default is to observe one valid live candidate payload first.</a:t>
            </a:r>
          </a:p>
          <a:p xmlns:a="http://schemas.openxmlformats.org/drawingml/2006/main">
            <a:r>
              <a:t/>
            </a:r>
          </a:p>
          <a:p xmlns:a="http://schemas.openxmlformats.org/drawingml/2006/main">
            <a:r>
              <a:t>Still zero</a:t>
            </a:r>
          </a:p>
          <a:p xmlns:a="http://schemas.openxmlformats.org/drawingml/2006/main">
            <a:r>
              <a:t>Sentiment, features, outcomes, OHLCV joins, correlations, models, allocation, and live advice.</a:t>
            </a:r>
          </a:p>
          <a:p xmlns:a="http://schemas.openxmlformats.org/drawingml/2006/main">
            <a:r>
              <a:t/>
            </a:r>
          </a:p>
          <a:p xmlns:a="http://schemas.openxmlformats.org/drawingml/2006/main">
            <a:r>
              <a:t>Report: C:/Users/Franc/OneDrive/Documents/Francis/Peltata Project/Time-Series-Modeling-Gen5/runs/research_workbench/gen54_ml_decision_engine/g54_news_n1l_20260721/n1l_report.md</a:t>
            </a:r>
          </a:p>
          <a:p xmlns:a="http://schemas.openxmlformats.org/drawingml/2006/main">
            <a:r>
              <a:t>Conversation: codex://threads/019f741e-615f-7fd0-90f7-edce12b5cb66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0045f02fcb4a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c04828100a4a94" /><Relationship Type="http://schemas.openxmlformats.org/officeDocument/2006/relationships/slideLayout" Target="/ppt/slideLayouts/slideLayout1.xml" Id="R6b7193c0785142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7193c0785142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9d9c60a47e84f95" /><Relationship Type="http://schemas.openxmlformats.org/officeDocument/2006/relationships/notesSlide" Target="/ppt/notesSlides/notesSlide1.xml" Id="R54cffe991c8345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3e52b355b846c6" /><Relationship Type="http://schemas.openxmlformats.org/officeDocument/2006/relationships/image" Target="/ppt/media/image.png" Id="Rf11b8501e3634f71" /><Relationship Type="http://schemas.openxmlformats.org/officeDocument/2006/relationships/image" Target="/ppt/media/image2.png" Id="Rddc09cd8bce24ba5" /><Relationship Type="http://schemas.openxmlformats.org/officeDocument/2006/relationships/image" Target="/ppt/media/image3.png" Id="Ra8a4a28bdc1a4bce" /><Relationship Type="http://schemas.openxmlformats.org/officeDocument/2006/relationships/notesSlide" Target="/ppt/notesSlides/notesSlide2.xml" Id="Rcd9b857b754749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42ab91848f645ec" /><Relationship Type="http://schemas.openxmlformats.org/officeDocument/2006/relationships/image" Target="/ppt/media/image.png" Id="R5f74f88362fe4c6e" /><Relationship Type="http://schemas.openxmlformats.org/officeDocument/2006/relationships/image" Target="/ppt/media/image2.png" Id="Rda2401360c2c4042" /><Relationship Type="http://schemas.openxmlformats.org/officeDocument/2006/relationships/image" Target="/ppt/media/image4.png" Id="R8ca73ad15cee4d24" /><Relationship Type="http://schemas.openxmlformats.org/officeDocument/2006/relationships/notesSlide" Target="/ppt/notesSlides/notesSlide3.xml" Id="Rafbeb024fc3346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a44d3f552104be0" /><Relationship Type="http://schemas.openxmlformats.org/officeDocument/2006/relationships/image" Target="/ppt/media/image5.png" Id="R9de81dada3c94842" /><Relationship Type="http://schemas.openxmlformats.org/officeDocument/2006/relationships/image" Target="/ppt/media/image6.png" Id="R4109e17d5a0f40c6" /><Relationship Type="http://schemas.openxmlformats.org/officeDocument/2006/relationships/image" Target="/ppt/media/image7.png" Id="R20b93dbb4516431b" /><Relationship Type="http://schemas.openxmlformats.org/officeDocument/2006/relationships/notesSlide" Target="/ppt/notesSlides/notesSlide4.xml" Id="R933cbb5005f4429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6E9F33-2E02-4887-9BA5-D4C283F72274}"/>
              </a:ext>
            </a:extLst>
          </p:cNvPr>
          <p:cNvSpPr>
            <a:spLocks xmlns:a="http://schemas.openxmlformats.org/drawingml/2006/main" noGrp="1"/>
          </p:cNvSpPr>
          <p:nvPr/>
        </p:nvSpPr>
        <p:spPr>
          <a:xfrm xmlns:a="http://schemas.openxmlformats.org/drawingml/2006/main">
            <a:off x="11277600" y="6305550"/>
            <a:ext cx="5143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5F6570"/>
                </a:solidFill>
                <a:latin typeface="Arial"/>
                <a:ea typeface="Arial"/>
                <a:cs typeface="Arial"/>
              </a:defRPr>
            </a:pPr>
            <a:r>
              <a:t>S11/01</a:t>
            </a:r>
          </a:p>
        </p:txBody>
      </p:sp>
      <p:sp>
        <p:nvSpPr>
          <p:cNvPr id="2" name="">
            <a:extLst xmlns:a="http://schemas.openxmlformats.org/drawingml/2006/main">
              <a:ext uri="{FF2B5EF4-FFF2-40B4-BE49-F238E27FC236}">
                <a16:creationId xmlns:a16="http://schemas.microsoft.com/office/drawing/2014/main" id="{5FA10206-C75C-445A-A56D-E05DAD2DA7ED}"/>
              </a:ext>
            </a:extLst>
          </p:cNvPr>
          <p:cNvSpPr>
            <a:spLocks xmlns:a="http://schemas.openxmlformats.org/drawingml/2006/main" noGrp="1"/>
          </p:cNvSpPr>
          <p:nvPr/>
        </p:nvSpPr>
        <p:spPr>
          <a:xfrm xmlns:a="http://schemas.openxmlformats.org/drawingml/2006/main">
            <a:off x="400050" y="419100"/>
            <a:ext cx="24765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5F6570"/>
                </a:solidFill>
                <a:latin typeface="Arial"/>
                <a:ea typeface="Arial"/>
                <a:cs typeface="Arial"/>
              </a:defRPr>
            </a:pPr>
            <a:r>
              <a:t>SESSION 11</a:t>
            </a:r>
          </a:p>
        </p:txBody>
      </p:sp>
      <p:sp>
        <p:nvSpPr>
          <p:cNvPr id="3" name="">
            <a:extLst xmlns:a="http://schemas.openxmlformats.org/drawingml/2006/main">
              <a:ext uri="{FF2B5EF4-FFF2-40B4-BE49-F238E27FC236}">
                <a16:creationId xmlns:a16="http://schemas.microsoft.com/office/drawing/2014/main" id="{044625A6-0B63-4E1C-81ED-B9E78F888E51}"/>
              </a:ext>
            </a:extLst>
          </p:cNvPr>
          <p:cNvSpPr>
            <a:spLocks xmlns:a="http://schemas.openxmlformats.org/drawingml/2006/main" noGrp="1"/>
          </p:cNvSpPr>
          <p:nvPr/>
        </p:nvSpPr>
        <p:spPr>
          <a:xfrm xmlns:a="http://schemas.openxmlformats.org/drawingml/2006/main">
            <a:off x="400050" y="1714500"/>
            <a:ext cx="10763250" cy="2381250"/>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buNone/>
              <a:defRPr sz="4950" b="1">
                <a:solidFill>
                  <a:srgbClr val="000000"/>
                </a:solidFill>
                <a:latin typeface="Arial"/>
                <a:ea typeface="Arial"/>
                <a:cs typeface="Arial"/>
              </a:defRPr>
            </a:pPr>
            <a:r>
              <a:t>N1L proves the live path;</a:t>
            </a:r>
          </a:p>
          <a:p xmlns:a="http://schemas.openxmlformats.org/drawingml/2006/main">
            <a:pPr algn="l">
              <a:buNone/>
              <a:defRPr sz="4950" b="1">
                <a:solidFill>
                  <a:srgbClr val="000000"/>
                </a:solidFill>
                <a:latin typeface="Arial"/>
                <a:ea typeface="Arial"/>
                <a:cs typeface="Arial"/>
              </a:defRPr>
            </a:pPr>
            <a:r>
              <a:t>live payload remains unobserved.</a:t>
            </a:r>
          </a:p>
        </p:txBody>
      </p:sp>
      <p:sp>
        <p:nvSpPr>
          <p:cNvPr id="4" name="">
            <a:extLst xmlns:a="http://schemas.openxmlformats.org/drawingml/2006/main">
              <a:ext uri="{FF2B5EF4-FFF2-40B4-BE49-F238E27FC236}">
                <a16:creationId xmlns:a16="http://schemas.microsoft.com/office/drawing/2014/main" id="{89DACAB6-605B-492B-8C9A-F7560B4A6A46}"/>
              </a:ext>
            </a:extLst>
          </p:cNvPr>
          <p:cNvSpPr>
            <a:spLocks xmlns:a="http://schemas.openxmlformats.org/drawingml/2006/main" noGrp="1"/>
          </p:cNvSpPr>
          <p:nvPr/>
        </p:nvSpPr>
        <p:spPr>
          <a:xfrm xmlns:a="http://schemas.openxmlformats.org/drawingml/2006/main">
            <a:off x="400050" y="5010150"/>
            <a:ext cx="1000125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00" b="1">
                <a:solidFill>
                  <a:srgbClr val="3D8DFF"/>
                </a:solidFill>
                <a:latin typeface="Arial"/>
                <a:ea typeface="Arial"/>
                <a:cs typeface="Arial"/>
              </a:defRPr>
            </a:pPr>
            <a:r>
              <a:t>13/13 gates  |  2 × 120 seconds  |  0 live articles  |  outcomes and models: zero</a:t>
            </a:r>
          </a:p>
        </p:txBody>
      </p:sp>
    </p:spTree>
    <p:extLst>
      <p:ext uri="{BB962C8B-B14F-4D97-AF65-F5344CB8AC3E}">
        <p14:creationId xmlns:p14="http://schemas.microsoft.com/office/powerpoint/2010/main" val="18048084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3DC877-F75F-4919-9031-29F99D007D3E}"/>
              </a:ext>
            </a:extLst>
          </p:cNvPr>
          <p:cNvSpPr>
            <a:spLocks xmlns:a="http://schemas.openxmlformats.org/drawingml/2006/main" noGrp="1"/>
          </p:cNvSpPr>
          <p:nvPr/>
        </p:nvSpPr>
        <p:spPr>
          <a:xfrm xmlns:a="http://schemas.openxmlformats.org/drawingml/2006/main">
            <a:off x="400050" y="514350"/>
            <a:ext cx="11391900"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000000"/>
                </a:solidFill>
                <a:latin typeface="Arial"/>
                <a:ea typeface="Arial"/>
                <a:cs typeface="Arial"/>
              </a:defRPr>
            </a:pPr>
            <a:r>
              <a:t>Authentication and reconnect work as designed</a:t>
            </a:r>
          </a:p>
        </p:txBody>
      </p:sp>
      <p:sp>
        <p:nvSpPr>
          <p:cNvPr id="2" name="">
            <a:extLst xmlns:a="http://schemas.openxmlformats.org/drawingml/2006/main">
              <a:ext uri="{FF2B5EF4-FFF2-40B4-BE49-F238E27FC236}">
                <a16:creationId xmlns:a16="http://schemas.microsoft.com/office/drawing/2014/main" id="{63443778-7507-4614-8B69-EE17D1B8630A}"/>
              </a:ext>
            </a:extLst>
          </p:cNvPr>
          <p:cNvSpPr>
            <a:spLocks xmlns:a="http://schemas.openxmlformats.org/drawingml/2006/main" noGrp="1"/>
          </p:cNvSpPr>
          <p:nvPr/>
        </p:nvSpPr>
        <p:spPr>
          <a:xfrm xmlns:a="http://schemas.openxmlformats.org/drawingml/2006/main">
            <a:off x="11277600" y="6305550"/>
            <a:ext cx="5143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5F6570"/>
                </a:solidFill>
                <a:latin typeface="Arial"/>
                <a:ea typeface="Arial"/>
                <a:cs typeface="Arial"/>
              </a:defRPr>
            </a:pPr>
            <a:r>
              <a:t>D33/02</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11b8501e3634f71"/>
          <a:stretch xmlns:a="http://schemas.openxmlformats.org/drawingml/2006/main"/>
        </p:blipFill>
        <p:spPr>
          <a:xfrm xmlns:a="http://schemas.openxmlformats.org/drawingml/2006/main" flipH="0" flipV="0">
            <a:off x="3810000" y="1381125"/>
            <a:ext cx="4572000" cy="45720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dc09cd8bce24ba5"/>
          <a:stretch xmlns:a="http://schemas.openxmlformats.org/drawingml/2006/main"/>
        </p:blipFill>
        <p:spPr>
          <a:xfrm xmlns:a="http://schemas.openxmlformats.org/drawingml/2006/main" flipH="0" flipV="0">
            <a:off x="3810000" y="1381125"/>
            <a:ext cx="4572000" cy="45720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8a4a28bdc1a4bce"/>
          <a:stretch xmlns:a="http://schemas.openxmlformats.org/drawingml/2006/main"/>
        </p:blipFill>
        <p:spPr>
          <a:xfrm xmlns:a="http://schemas.openxmlformats.org/drawingml/2006/main" flipH="0" flipV="0">
            <a:off x="2286000" y="1381125"/>
            <a:ext cx="7620000" cy="4572000"/>
          </a:xfrm>
          <a:prstGeom xmlns:a="http://schemas.openxmlformats.org/drawingml/2006/main" prst="rect">
            <a:avLst/>
          </a:prstGeom>
        </p:spPr>
      </p:pic>
    </p:spTree>
    <p:extLst>
      <p:ext uri="{BB962C8B-B14F-4D97-AF65-F5344CB8AC3E}">
        <p14:creationId xmlns:p14="http://schemas.microsoft.com/office/powerpoint/2010/main" val="5181134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3DC877-F75F-4919-9031-29F99D007D3E}"/>
              </a:ext>
            </a:extLst>
          </p:cNvPr>
          <p:cNvSpPr>
            <a:spLocks xmlns:a="http://schemas.openxmlformats.org/drawingml/2006/main" noGrp="1"/>
          </p:cNvSpPr>
          <p:nvPr/>
        </p:nvSpPr>
        <p:spPr>
          <a:xfrm xmlns:a="http://schemas.openxmlformats.org/drawingml/2006/main">
            <a:off x="400050" y="514350"/>
            <a:ext cx="11391900"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000000"/>
                </a:solidFill>
                <a:latin typeface="Arial"/>
                <a:ea typeface="Arial"/>
                <a:cs typeface="Arial"/>
              </a:defRPr>
            </a:pPr>
            <a:r>
              <a:t>The corrected overlap confirms a quiet candidate window</a:t>
            </a:r>
          </a:p>
        </p:txBody>
      </p:sp>
      <p:sp>
        <p:nvSpPr>
          <p:cNvPr id="2" name="">
            <a:extLst xmlns:a="http://schemas.openxmlformats.org/drawingml/2006/main">
              <a:ext uri="{FF2B5EF4-FFF2-40B4-BE49-F238E27FC236}">
                <a16:creationId xmlns:a16="http://schemas.microsoft.com/office/drawing/2014/main" id="{63443778-7507-4614-8B69-EE17D1B8630A}"/>
              </a:ext>
            </a:extLst>
          </p:cNvPr>
          <p:cNvSpPr>
            <a:spLocks xmlns:a="http://schemas.openxmlformats.org/drawingml/2006/main" noGrp="1"/>
          </p:cNvSpPr>
          <p:nvPr/>
        </p:nvSpPr>
        <p:spPr>
          <a:xfrm xmlns:a="http://schemas.openxmlformats.org/drawingml/2006/main">
            <a:off x="11277600" y="6305550"/>
            <a:ext cx="5143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5F6570"/>
                </a:solidFill>
                <a:latin typeface="Arial"/>
                <a:ea typeface="Arial"/>
                <a:cs typeface="Arial"/>
              </a:defRPr>
            </a:pPr>
            <a:r>
              <a:t>D33/03</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f74f88362fe4c6e"/>
          <a:stretch xmlns:a="http://schemas.openxmlformats.org/drawingml/2006/main"/>
        </p:blipFill>
        <p:spPr>
          <a:xfrm xmlns:a="http://schemas.openxmlformats.org/drawingml/2006/main" flipH="0" flipV="0">
            <a:off x="3810000" y="1381125"/>
            <a:ext cx="4572000" cy="45720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a2401360c2c4042"/>
          <a:stretch xmlns:a="http://schemas.openxmlformats.org/drawingml/2006/main"/>
        </p:blipFill>
        <p:spPr>
          <a:xfrm xmlns:a="http://schemas.openxmlformats.org/drawingml/2006/main" flipH="0" flipV="0">
            <a:off x="3810000" y="1381125"/>
            <a:ext cx="4572000" cy="45720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ca73ad15cee4d24"/>
          <a:stretch xmlns:a="http://schemas.openxmlformats.org/drawingml/2006/main"/>
        </p:blipFill>
        <p:spPr>
          <a:xfrm xmlns:a="http://schemas.openxmlformats.org/drawingml/2006/main" flipH="0" flipV="0">
            <a:off x="2286000" y="1381125"/>
            <a:ext cx="7620000" cy="4572000"/>
          </a:xfrm>
          <a:prstGeom xmlns:a="http://schemas.openxmlformats.org/drawingml/2006/main" prst="rect">
            <a:avLst/>
          </a:prstGeom>
        </p:spPr>
      </p:pic>
    </p:spTree>
    <p:extLst>
      <p:ext uri="{BB962C8B-B14F-4D97-AF65-F5344CB8AC3E}">
        <p14:creationId xmlns:p14="http://schemas.microsoft.com/office/powerpoint/2010/main" val="5181134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3DC877-F75F-4919-9031-29F99D007D3E}"/>
              </a:ext>
            </a:extLst>
          </p:cNvPr>
          <p:cNvSpPr>
            <a:spLocks xmlns:a="http://schemas.openxmlformats.org/drawingml/2006/main" noGrp="1"/>
          </p:cNvSpPr>
          <p:nvPr/>
        </p:nvSpPr>
        <p:spPr>
          <a:xfrm xmlns:a="http://schemas.openxmlformats.org/drawingml/2006/main">
            <a:off x="400050" y="514350"/>
            <a:ext cx="11391900"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000" b="1">
                <a:solidFill>
                  <a:srgbClr val="000000"/>
                </a:solidFill>
                <a:latin typeface="Arial"/>
                <a:ea typeface="Arial"/>
                <a:cs typeface="Arial"/>
              </a:defRPr>
            </a:pPr>
            <a:r>
              <a:t> Transport passes; N1B outcome testing remains closed</a:t>
            </a:r>
          </a:p>
        </p:txBody>
      </p:sp>
      <p:sp>
        <p:nvSpPr>
          <p:cNvPr id="2" name="">
            <a:extLst xmlns:a="http://schemas.openxmlformats.org/drawingml/2006/main">
              <a:ext uri="{FF2B5EF4-FFF2-40B4-BE49-F238E27FC236}">
                <a16:creationId xmlns:a16="http://schemas.microsoft.com/office/drawing/2014/main" id="{63443778-7507-4614-8B69-EE17D1B8630A}"/>
              </a:ext>
            </a:extLst>
          </p:cNvPr>
          <p:cNvSpPr>
            <a:spLocks xmlns:a="http://schemas.openxmlformats.org/drawingml/2006/main" noGrp="1"/>
          </p:cNvSpPr>
          <p:nvPr/>
        </p:nvSpPr>
        <p:spPr>
          <a:xfrm xmlns:a="http://schemas.openxmlformats.org/drawingml/2006/main">
            <a:off x="11277600" y="6305550"/>
            <a:ext cx="5143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975" b="0">
                <a:solidFill>
                  <a:srgbClr val="5F6570"/>
                </a:solidFill>
                <a:latin typeface="Arial"/>
                <a:ea typeface="Arial"/>
                <a:cs typeface="Arial"/>
              </a:defRPr>
            </a:pPr>
            <a:r>
              <a:t>D33/04</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de81dada3c94842"/>
          <a:stretch xmlns:a="http://schemas.openxmlformats.org/drawingml/2006/main"/>
        </p:blipFill>
        <p:spPr>
          <a:xfrm xmlns:a="http://schemas.openxmlformats.org/drawingml/2006/main" flipH="0" flipV="0">
            <a:off x="1558620" y="1992007"/>
            <a:ext cx="3159736" cy="3159736"/>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0D00E1C-C4F4-42C7-BF5A-8463531752B5}"/>
              </a:ext>
            </a:extLst>
          </p:cNvPr>
          <p:cNvSpPr>
            <a:spLocks xmlns:a="http://schemas.openxmlformats.org/drawingml/2006/main" noGrp="1"/>
          </p:cNvSpPr>
          <p:nvPr/>
        </p:nvSpPr>
        <p:spPr>
          <a:xfrm xmlns:a="http://schemas.openxmlformats.org/drawingml/2006/main">
            <a:off x="6172200" y="1619250"/>
            <a:ext cx="5334000" cy="3857625"/>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txBody>
          <a:bodyPr xmlns:a="http://schemas.openxmlformats.org/drawingml/2006/main" anchor="ctr"/>
          <a:lstStyle xmlns:a="http://schemas.openxmlformats.org/drawingml/2006/main"/>
          <a:p xmlns:a="http://schemas.openxmlformats.org/drawingml/2006/main">
            <a:pPr algn="l">
              <a:buNone/>
              <a:defRPr sz="2025">
                <a:solidFill>
                  <a:srgbClr val="000000"/>
                </a:solidFill>
                <a:latin typeface="Arial"/>
                <a:ea typeface="Arial"/>
                <a:cs typeface="Arial"/>
              </a:defRPr>
            </a:pPr>
            <a:r>
              <a:t>OVERALL: PARTIAL PASS</a:t>
            </a:r>
          </a:p>
          <a:p xmlns:a="http://schemas.openxmlformats.org/drawingml/2006/main">
            <a:pPr algn="l">
              <a:buNone/>
              <a:defRPr sz="2025">
                <a:solidFill>
                  <a:srgbClr val="000000"/>
                </a:solidFill>
                <a:latin typeface="Arial"/>
                <a:ea typeface="Arial"/>
                <a:cs typeface="Arial"/>
              </a:defRPr>
            </a:pPr>
            <a:r>
              <a:t/>
            </a:r>
          </a:p>
          <a:p xmlns:a="http://schemas.openxmlformats.org/drawingml/2006/main">
            <a:pPr algn="l">
              <a:buNone/>
              <a:defRPr sz="2025">
                <a:solidFill>
                  <a:srgbClr val="000000"/>
                </a:solidFill>
                <a:latin typeface="Arial"/>
                <a:ea typeface="Arial"/>
                <a:cs typeface="Arial"/>
              </a:defRPr>
            </a:pPr>
            <a:r>
              <a:t>PASS  13 / 13 hard gates</a:t>
            </a:r>
          </a:p>
          <a:p xmlns:a="http://schemas.openxmlformats.org/drawingml/2006/main">
            <a:pPr algn="l">
              <a:buNone/>
              <a:defRPr sz="2025">
                <a:solidFill>
                  <a:srgbClr val="000000"/>
                </a:solidFill>
                <a:latin typeface="Arial"/>
                <a:ea typeface="Arial"/>
                <a:cs typeface="Arial"/>
              </a:defRPr>
            </a:pPr>
            <a:r>
              <a:t>PASS  2 authenticated subscriptions</a:t>
            </a:r>
          </a:p>
          <a:p xmlns:a="http://schemas.openxmlformats.org/drawingml/2006/main">
            <a:pPr algn="l">
              <a:buNone/>
              <a:defRPr sz="2025">
                <a:solidFill>
                  <a:srgbClr val="000000"/>
                </a:solidFill>
                <a:latin typeface="Arial"/>
                <a:ea typeface="Arial"/>
                <a:cs typeface="Arial"/>
              </a:defRPr>
            </a:pPr>
            <a:r>
              <a:t>PASS  deliberate reconnect + REST</a:t>
            </a:r>
          </a:p>
          <a:p xmlns:a="http://schemas.openxmlformats.org/drawingml/2006/main">
            <a:pPr algn="l">
              <a:buNone/>
              <a:defRPr sz="2025">
                <a:solidFill>
                  <a:srgbClr val="000000"/>
                </a:solidFill>
                <a:latin typeface="Arial"/>
                <a:ea typeface="Arial"/>
                <a:cs typeface="Arial"/>
              </a:defRPr>
            </a:pPr>
            <a:r>
              <a:t>WATCH 0 live candidate articles</a:t>
            </a:r>
          </a:p>
          <a:p xmlns:a="http://schemas.openxmlformats.org/drawingml/2006/main">
            <a:pPr algn="l">
              <a:buNone/>
              <a:defRPr sz="2025">
                <a:solidFill>
                  <a:srgbClr val="000000"/>
                </a:solidFill>
                <a:latin typeface="Arial"/>
                <a:ea typeface="Arial"/>
                <a:cs typeface="Arial"/>
              </a:defRPr>
            </a:pPr>
            <a:r>
              <a:t>WATCH 1 REST-only pre-subscription</a:t>
            </a:r>
          </a:p>
          <a:p xmlns:a="http://schemas.openxmlformats.org/drawingml/2006/main">
            <a:pPr algn="l">
              <a:buNone/>
              <a:defRPr sz="2025">
                <a:solidFill>
                  <a:srgbClr val="000000"/>
                </a:solidFill>
                <a:latin typeface="Arial"/>
                <a:ea typeface="Arial"/>
                <a:cs typeface="Arial"/>
              </a:defRPr>
            </a:pPr>
            <a:r>
              <a:t>STOP  no news / outcome join</a:t>
            </a:r>
          </a:p>
          <a:p xmlns:a="http://schemas.openxmlformats.org/drawingml/2006/main">
            <a:pPr algn="l">
              <a:buNone/>
              <a:defRPr sz="2025">
                <a:solidFill>
                  <a:srgbClr val="000000"/>
                </a:solidFill>
                <a:latin typeface="Arial"/>
                <a:ea typeface="Arial"/>
                <a:cs typeface="Arial"/>
              </a:defRPr>
            </a:pPr>
            <a:r>
              <a:t>NEXT  observe one live payload</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109e17d5a0f40c6"/>
          <a:stretch xmlns:a="http://schemas.openxmlformats.org/drawingml/2006/main"/>
        </p:blipFill>
        <p:spPr>
          <a:xfrm xmlns:a="http://schemas.openxmlformats.org/drawingml/2006/main" flipH="0" flipV="0">
            <a:off x="1558620" y="1992007"/>
            <a:ext cx="3159736" cy="3159736"/>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0b93dbb4516431b"/>
          <a:stretch xmlns:a="http://schemas.openxmlformats.org/drawingml/2006/main"/>
        </p:blipFill>
        <p:spPr>
          <a:xfrm xmlns:a="http://schemas.openxmlformats.org/drawingml/2006/main" flipH="0" flipV="0">
            <a:off x="400050" y="1992007"/>
            <a:ext cx="5476875" cy="3159736"/>
          </a:xfrm>
          <a:prstGeom xmlns:a="http://schemas.openxmlformats.org/drawingml/2006/main" prst="rect">
            <a:avLst/>
          </a:prstGeom>
        </p:spPr>
      </p:pic>
    </p:spTree>
    <p:extLst>
      <p:ext uri="{BB962C8B-B14F-4D97-AF65-F5344CB8AC3E}">
        <p14:creationId xmlns:p14="http://schemas.microsoft.com/office/powerpoint/2010/main" val="5181134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2026-07-21T07:30:09.5170000Z</dcterms:created>
  <dcterms:modified xsi:type="dcterms:W3CDTF">2026-07-21T07:30:09.5170000Z</dcterms:modified>
</coreProperties>
</file>