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448bba2ebb4520" /><Relationship Type="http://schemas.openxmlformats.org/officeDocument/2006/relationships/extended-properties" Target="/docProps/app.xml" Id="R705f2c9e156a42c9" /><Relationship Type="http://schemas.openxmlformats.org/officeDocument/2006/relationships/officeDocument" Target="/ppt/presentation.xml" Id="Rcdf147685ce344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71dcb1b9a94a91"/>
  </p:sldMasterIdLst>
  <p:notesMasterIdLst>
    <p:notesMasterId xmlns:r="http://schemas.openxmlformats.org/officeDocument/2006/relationships" r:id="R70a8892c30854971"/>
  </p:notesMasterIdLst>
  <p:sldIdLst>
    <p:sldId xmlns:r="http://schemas.openxmlformats.org/officeDocument/2006/relationships" id="256" r:id="Re07d1a639cfb400e"/>
    <p:sldId xmlns:r="http://schemas.openxmlformats.org/officeDocument/2006/relationships" id="257" r:id="R0537bfc4125b4446"/>
    <p:sldId xmlns:r="http://schemas.openxmlformats.org/officeDocument/2006/relationships" id="258" r:id="R7be67d48a2444d88"/>
    <p:sldId xmlns:r="http://schemas.openxmlformats.org/officeDocument/2006/relationships" id="259" r:id="R3cd8532f2c614bf3"/>
    <p:sldId xmlns:r="http://schemas.openxmlformats.org/officeDocument/2006/relationships" id="260" r:id="R2a6527d8e94646e9"/>
    <p:sldId xmlns:r="http://schemas.openxmlformats.org/officeDocument/2006/relationships" id="261" r:id="R6e96a4e423cb4b0a"/>
    <p:sldId xmlns:r="http://schemas.openxmlformats.org/officeDocument/2006/relationships" id="262" r:id="Rb9a86a1ab61b49d9"/>
    <p:sldId xmlns:r="http://schemas.openxmlformats.org/officeDocument/2006/relationships" id="263" r:id="R052fbd5ae74f49cd"/>
    <p:sldId xmlns:r="http://schemas.openxmlformats.org/officeDocument/2006/relationships" id="264" r:id="Rf71579cbbe2a4b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6de2fb2b364bef" /><Relationship Type="http://schemas.openxmlformats.org/officeDocument/2006/relationships/slideMaster" Target="/ppt/slideMasters/slideMaster1.xml" Id="Rc371dcb1b9a94a91" /><Relationship Type="http://schemas.openxmlformats.org/officeDocument/2006/relationships/notesMaster" Target="/ppt/notesMasters/notesMaster1.xml" Id="R70a8892c30854971" /><Relationship Type="http://schemas.openxmlformats.org/officeDocument/2006/relationships/presProps" Target="/ppt/presProps.xml" Id="R99edcb09dfd54b96" /><Relationship Type="http://schemas.openxmlformats.org/officeDocument/2006/relationships/tableStyles" Target="/ppt/tableStyles.xml" Id="R879941a5472f4ff3" /><Relationship Type="http://schemas.openxmlformats.org/officeDocument/2006/relationships/slide" Target="/ppt/slides/slide1.xml" Id="Re07d1a639cfb400e" /><Relationship Type="http://schemas.openxmlformats.org/officeDocument/2006/relationships/slide" Target="/ppt/slides/slide2.xml" Id="R0537bfc4125b4446" /><Relationship Type="http://schemas.openxmlformats.org/officeDocument/2006/relationships/slide" Target="/ppt/slides/slide3.xml" Id="R7be67d48a2444d88" /><Relationship Type="http://schemas.openxmlformats.org/officeDocument/2006/relationships/slide" Target="/ppt/slides/slide4.xml" Id="R3cd8532f2c614bf3" /><Relationship Type="http://schemas.openxmlformats.org/officeDocument/2006/relationships/slide" Target="/ppt/slides/slide5.xml" Id="R2a6527d8e94646e9" /><Relationship Type="http://schemas.openxmlformats.org/officeDocument/2006/relationships/slide" Target="/ppt/slides/slide6.xml" Id="R6e96a4e423cb4b0a" /><Relationship Type="http://schemas.openxmlformats.org/officeDocument/2006/relationships/slide" Target="/ppt/slides/slide7.xml" Id="Rb9a86a1ab61b49d9" /><Relationship Type="http://schemas.openxmlformats.org/officeDocument/2006/relationships/slide" Target="/ppt/slides/slide8.xml" Id="R052fbd5ae74f49cd" /><Relationship Type="http://schemas.openxmlformats.org/officeDocument/2006/relationships/slide" Target="/ppt/slides/slide9.xml" Id="Rf71579cbbe2a4b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377bb8430441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9028e8dce04352" /><Relationship Type="http://schemas.openxmlformats.org/officeDocument/2006/relationships/notesMaster" Target="/ppt/notesMasters/notesMaster1.xml" Id="Re96339b1dc8740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738f076e7d4f90" /><Relationship Type="http://schemas.openxmlformats.org/officeDocument/2006/relationships/notesMaster" Target="/ppt/notesMasters/notesMaster1.xml" Id="R2d9a9944947343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beaf4212b24f64" /><Relationship Type="http://schemas.openxmlformats.org/officeDocument/2006/relationships/notesMaster" Target="/ppt/notesMasters/notesMaster1.xml" Id="R54523b5a74f948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046bc7d8b945a9" /><Relationship Type="http://schemas.openxmlformats.org/officeDocument/2006/relationships/notesMaster" Target="/ppt/notesMasters/notesMaster1.xml" Id="R78a7c46fe6ed4a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040cf64b3b4020" /><Relationship Type="http://schemas.openxmlformats.org/officeDocument/2006/relationships/notesMaster" Target="/ppt/notesMasters/notesMaster1.xml" Id="R54e91a4a1dc943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e5edb592de426a" /><Relationship Type="http://schemas.openxmlformats.org/officeDocument/2006/relationships/notesMaster" Target="/ppt/notesMasters/notesMaster1.xml" Id="Rcbe487043caf48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f53fa7357d4738" /><Relationship Type="http://schemas.openxmlformats.org/officeDocument/2006/relationships/notesMaster" Target="/ppt/notesMasters/notesMaster1.xml" Id="R94ed6720f8974d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208027cd864214" /><Relationship Type="http://schemas.openxmlformats.org/officeDocument/2006/relationships/notesMaster" Target="/ppt/notesMasters/notesMaster1.xml" Id="R740b3f064ac448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f61649714346b9" /><Relationship Type="http://schemas.openxmlformats.org/officeDocument/2006/relationships/notesMaster" Target="/ppt/notesMasters/notesMaster1.xml" Id="R3cb3430581b34c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claim: E0 establishes a leakage-safe construction layer only. It does not claim predictability.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D45 —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Project/Time-Series-Modeling-Gen5/docs/GEN5_4_EVENT_CONSTRUCTION_E0_CONTRACT.md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Project/Time-Series-Modeling-Gen5/runs/research_workbench/gen54_ml_decision_engine/g54_event_e0_20260726/e0_report.md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unit is intentionally operational. Semantic clustering would introduce an additional modeling choice that has not been opened.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D45 —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Project/Time-Series-Modeling-Gen5/docs/GEN5_4_EVENT_CONSTRUCTION_E0_CONTRACT.md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Availability and execution timing are frozen before any price-response theory is opened.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D45 —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Project/Time-Series-Modeling-Gen5/docs/GEN5_4_EVENT_CONSTRUCTION_E0_CONTRACT.md</a:t>
            </a:r>
          </a:p>
          <a:p xmlns:a="http://schemas.openxmlformats.org/drawingml/2006/main">
            <a:r>
              <a:t>- C:/Users/Franc/OneDrive/Documents/Francis/Peltata Project/Time-Series-Modeling-Gen5/R/gen54_event_construction_e0.R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exact-match gate compares article ID, issuer, decision session, and exact-title cluster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D46 —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Project/Time-Series-Modeling-Gen5/runs/research_workbench/gen54_ml_decision_engine/g54_event_e0_20260726/e0_run_spec.csv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Project/Time-Series-Modeling-Gen5/runs/research_workbench/gen54_ml_decision_engine/g54_event_e0_20260726/e0_integrity_audit.csv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Project/Time-Series-Modeling-Gen5/runs/research_workbench/gen54_ml_decision_engine/g54_event_e0_20260726/e0_report.md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 is a construction-sufficiency result, not statistical power for a predictive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D46 —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Project/Time-Series-Modeling-Gen5/runs/research_workbench/gen54_ml_decision_engine/g54_event_e0_20260726/e0_issuer_quarter_coverage.csv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Project/Time-Series-Modeling-Gen5/runs/research_workbench/gen54_ml_decision_engine/g54_event_e0_20260726/visuals/e0_issuer_quarter_coverage.png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descriptive construction diagnostics. They do not connect information arrival to later returns.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D46 —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Project/Time-Series-Modeling-Gen5/runs/research_workbench/gen54_ml_decision_engine/g54_event_e0_20260726/e0_information_cycles.csv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Project/Time-Series-Modeling-Gen5/runs/research_workbench/gen54_ml_decision_engine/g54_event_e0_20260726/e0_admissible_associations.csv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Project/Time-Series-Modeling-Gen5/runs/research_workbench/gen54_ml_decision_engine/g54_event_e0_20260726/visuals/e0_cycle_intensity.png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Project/Time-Series-Modeling-Gen5/runs/research_workbench/gen54_ml_decision_engine/g54_event_e0_20260726/visuals/e0_article_age_at_decision.png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panels are audit examples selected for visibility, not case studies of successful trades.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D46 —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Project/Time-Series-Modeling-Gen5/runs/research_workbench/gen54_ml_decision_engine/g54_event_e0_20260726/e0_representative_cycle_tape.csv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Project/Time-Series-Modeling-Gen5/runs/research_workbench/gen54_ml_decision_engine/g54_event_e0_20260726/visuals/e0_representative_cycle_tapes.png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Single-source concentration is a formal limitation. Source identity cannot become a comparative feature in this sample.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D46 —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Project/Time-Series-Modeling-Gen5/runs/research_workbench/gen54_ml_decision_engine/g54_event_e0_20260726/e0_source_summary.csv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Project/Time-Series-Modeling-Gen5/runs/research_workbench/gen54_ml_decision_engine/g54_event_e0_20260726/e0_report.md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boundary: E0 authorizes a theory discussion, not a predictive experiment.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D46 —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Project/Time-Series-Modeling-Gen5/runs/research_workbench/gen54_ml_decision_engine/g54_event_e0_20260726/e0_integrity_audit.csv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Project/Time-Series-Modeling-Gen5/runs/research_workbench/gen54_ml_decision_engine/g54_event_e0_20260726/visuals/e0_gate_summary.png</a:t>
            </a:r>
          </a:p>
          <a:p xmlns:a="http://schemas.openxmlformats.org/drawingml/2006/main">
            <a:r>
              <a:t>- C:/Users/Franc/OneDrive/Documents/Francis/Peltata Project/Time-Series-Modeling-Gen5/docs/GEN5_4_EVENT_CONSTRUCTION_E0_CONTRACT.md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9a54a767045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1701e3639b4d42" /><Relationship Type="http://schemas.openxmlformats.org/officeDocument/2006/relationships/slideLayout" Target="/ppt/slideLayouts/slideLayout1.xml" Id="R1cd076c8751340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d076c8751340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fdd21ed53459b" /><Relationship Type="http://schemas.openxmlformats.org/officeDocument/2006/relationships/notesSlide" Target="/ppt/notesSlides/notesSlide1.xml" Id="Rd37a21c64e184b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4afae8dd94f1e" /><Relationship Type="http://schemas.openxmlformats.org/officeDocument/2006/relationships/notesSlide" Target="/ppt/notesSlides/notesSlide2.xml" Id="Rf7f35446978c4a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b757340bb4d4a" /><Relationship Type="http://schemas.openxmlformats.org/officeDocument/2006/relationships/notesSlide" Target="/ppt/notesSlides/notesSlide3.xml" Id="R75f1b489027d4d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bde4e25f94d6b" /><Relationship Type="http://schemas.openxmlformats.org/officeDocument/2006/relationships/notesSlide" Target="/ppt/notesSlides/notesSlide4.xml" Id="R0791559193d941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887c9c5eb4531" /><Relationship Type="http://schemas.openxmlformats.org/officeDocument/2006/relationships/image" Target="/ppt/media/image.png" Id="R650c5b8f8de743d5" /><Relationship Type="http://schemas.openxmlformats.org/officeDocument/2006/relationships/notesSlide" Target="/ppt/notesSlides/notesSlide5.xml" Id="R1861e3a0e06e46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6f6c1d05e430b" /><Relationship Type="http://schemas.openxmlformats.org/officeDocument/2006/relationships/image" Target="/ppt/media/image2.png" Id="R213bb84791c74841" /><Relationship Type="http://schemas.openxmlformats.org/officeDocument/2006/relationships/image" Target="/ppt/media/image3.png" Id="R6d77e3a5460f485b" /><Relationship Type="http://schemas.openxmlformats.org/officeDocument/2006/relationships/notesSlide" Target="/ppt/notesSlides/notesSlide6.xml" Id="R331ce7016f8f40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05362fdfb469f" /><Relationship Type="http://schemas.openxmlformats.org/officeDocument/2006/relationships/image" Target="/ppt/media/image4.png" Id="Rfa957e49e8364b1c" /><Relationship Type="http://schemas.openxmlformats.org/officeDocument/2006/relationships/notesSlide" Target="/ppt/notesSlides/notesSlide7.xml" Id="Rb8863a3c216349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74fa1369a4921" /><Relationship Type="http://schemas.openxmlformats.org/officeDocument/2006/relationships/notesSlide" Target="/ppt/notesSlides/notesSlide8.xml" Id="R423f29eebad940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34f2cd6534753" /><Relationship Type="http://schemas.openxmlformats.org/officeDocument/2006/relationships/image" Target="/ppt/media/image5.png" Id="R62ed1a562d434d5d" /><Relationship Type="http://schemas.openxmlformats.org/officeDocument/2006/relationships/notesSlide" Target="/ppt/notesSlides/notesSlide9.xml" Id="Rb50dcbc33a9a47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F53C4E53-5768-4415-B6AC-7A327843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EVENT-CONDITIONED RESEARCH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DD6EB65-4198-47F1-9240-7D691BD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Issuer information cycles are reproducible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3F198EE-0AA9-4BDA-8B9B-ADB5DEAB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52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E0 constructs the observable news tape before any price, outcome, sentiment, or model join.</a:t>
            </a:r>
          </a:p>
        </p:txBody>
      </p:sp>
      <p:sp>
        <p:nvSpPr>
          <p:cNvPr id="4" name="accent">
            <a:extLst xmlns:a="http://schemas.openxmlformats.org/drawingml/2006/main">
              <a:ext uri="{FF2B5EF4-FFF2-40B4-BE49-F238E27FC236}">
                <a16:creationId xmlns:a16="http://schemas.microsoft.com/office/drawing/2014/main" id="{1735634C-4E1D-484B-ACC3-38EF39FD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1447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3072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B51D107F-9847-4949-B3F1-C5CCA52A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E0 CONSTRUCTION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BEFDC1-458C-4C2E-99A1-6E46781B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Call it an information cycle—not a semantic event</a:t>
            </a:r>
          </a:p>
        </p:txBody>
      </p:sp>
      <p:sp>
        <p:nvSpPr>
          <p:cNvPr id="3" name="rule-42-142">
            <a:extLst xmlns:a="http://schemas.openxmlformats.org/drawingml/2006/main">
              <a:ext uri="{FF2B5EF4-FFF2-40B4-BE49-F238E27FC236}">
                <a16:creationId xmlns:a16="http://schemas.microsoft.com/office/drawing/2014/main" id="{8C06841E-0FB5-44A8-99A8-40EE3A3F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finition">
            <a:extLst xmlns:a="http://schemas.openxmlformats.org/drawingml/2006/main">
              <a:ext uri="{FF2B5EF4-FFF2-40B4-BE49-F238E27FC236}">
                <a16:creationId xmlns:a16="http://schemas.microsoft.com/office/drawing/2014/main" id="{E7AEA291-98BA-44A8-9094-15D02585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observable unit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BE160C13-F71B-4CDB-863E-9C466D8C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issuer  ×  scheduled 17:30 ET decision</a:t>
            </a:r>
          </a:p>
        </p:txBody>
      </p:sp>
      <p:sp>
        <p:nvSpPr>
          <p:cNvPr id="6" name="why">
            <a:extLst xmlns:a="http://schemas.openxmlformats.org/drawingml/2006/main">
              <a:ext uri="{FF2B5EF4-FFF2-40B4-BE49-F238E27FC236}">
                <a16:creationId xmlns:a16="http://schemas.microsoft.com/office/drawing/2014/main" id="{BDEC8336-566F-4109-8E0C-757753AF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5429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admissible, novel article clusters known for that issuer are aggregated at the decision cutoff.</a:t>
            </a:r>
          </a:p>
        </p:txBody>
      </p:sp>
      <p:sp>
        <p:nvSpPr>
          <p:cNvPr id="7" name="boundary-panel">
            <a:extLst xmlns:a="http://schemas.openxmlformats.org/drawingml/2006/main">
              <a:ext uri="{FF2B5EF4-FFF2-40B4-BE49-F238E27FC236}">
                <a16:creationId xmlns:a16="http://schemas.microsoft.com/office/drawing/2014/main" id="{66421122-0A22-4598-8CD4-4E098469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48196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D35630B9-BF76-4CE0-8EE4-DD2079C4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95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this wording matters</a:t>
            </a:r>
          </a:p>
        </p:txBody>
      </p:sp>
      <p:sp>
        <p:nvSpPr>
          <p:cNvPr id="9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3AF86377-B2B3-490C-A1CE-9883537B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24150"/>
            <a:ext cx="390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Same-day articles may concern different real-world happenings.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E0 preserves their timestamps and issuer association without pretending they form one coherent semantic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That keeps construction observable and postpones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297038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603CA9F0-3266-4FE8-93E8-1846923E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E0 CONSTRUCTION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AFB7F9-D165-4F4D-B34B-485542F5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cutoff makes admissibility a point-in-time fact</a:t>
            </a:r>
          </a:p>
        </p:txBody>
      </p:sp>
      <p:sp>
        <p:nvSpPr>
          <p:cNvPr id="3" name="rule-42-142">
            <a:extLst xmlns:a="http://schemas.openxmlformats.org/drawingml/2006/main">
              <a:ext uri="{FF2B5EF4-FFF2-40B4-BE49-F238E27FC236}">
                <a16:creationId xmlns:a16="http://schemas.microsoft.com/office/drawing/2014/main" id="{DDD22A89-8EA9-4914-9217-24FE568E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-105-340">
            <a:extLst xmlns:a="http://schemas.openxmlformats.org/drawingml/2006/main">
              <a:ext uri="{FF2B5EF4-FFF2-40B4-BE49-F238E27FC236}">
                <a16:creationId xmlns:a16="http://schemas.microsoft.com/office/drawing/2014/main" id="{B63C03B1-7A0E-448D-8176-C7E2B4FD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985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node-130">
            <a:extLst xmlns:a="http://schemas.openxmlformats.org/drawingml/2006/main">
              <a:ext uri="{FF2B5EF4-FFF2-40B4-BE49-F238E27FC236}">
                <a16:creationId xmlns:a16="http://schemas.microsoft.com/office/drawing/2014/main" id="{90C7ACDD-E046-45DF-9944-02277D4D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130">
            <a:extLst xmlns:a="http://schemas.openxmlformats.org/drawingml/2006/main">
              <a:ext uri="{FF2B5EF4-FFF2-40B4-BE49-F238E27FC236}">
                <a16:creationId xmlns:a16="http://schemas.microsoft.com/office/drawing/2014/main" id="{FB24753B-AE59-4B6F-84AF-76C813EB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article created</a:t>
            </a:r>
          </a:p>
        </p:txBody>
      </p:sp>
      <p:sp>
        <p:nvSpPr>
          <p:cNvPr id="7" name="sub-130">
            <a:extLst xmlns:a="http://schemas.openxmlformats.org/drawingml/2006/main">
              <a:ext uri="{FF2B5EF4-FFF2-40B4-BE49-F238E27FC236}">
                <a16:creationId xmlns:a16="http://schemas.microsoft.com/office/drawing/2014/main" id="{79FD338C-A347-436D-998A-121AF149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624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descriptive only</a:t>
            </a:r>
          </a:p>
        </p:txBody>
      </p:sp>
      <p:sp>
        <p:nvSpPr>
          <p:cNvPr id="8" name="node-390">
            <a:extLst xmlns:a="http://schemas.openxmlformats.org/drawingml/2006/main">
              <a:ext uri="{FF2B5EF4-FFF2-40B4-BE49-F238E27FC236}">
                <a16:creationId xmlns:a16="http://schemas.microsoft.com/office/drawing/2014/main" id="{D09BA708-E4F5-4EC6-867B-DADD5B34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bel-390">
            <a:extLst xmlns:a="http://schemas.openxmlformats.org/drawingml/2006/main">
              <a:ext uri="{FF2B5EF4-FFF2-40B4-BE49-F238E27FC236}">
                <a16:creationId xmlns:a16="http://schemas.microsoft.com/office/drawing/2014/main" id="{AE98E447-4964-43BF-8FC8-E8F6F857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7187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article updated</a:t>
            </a:r>
          </a:p>
        </p:txBody>
      </p:sp>
      <p:sp>
        <p:nvSpPr>
          <p:cNvPr id="10" name="sub-390">
            <a:extLst xmlns:a="http://schemas.openxmlformats.org/drawingml/2006/main">
              <a:ext uri="{FF2B5EF4-FFF2-40B4-BE49-F238E27FC236}">
                <a16:creationId xmlns:a16="http://schemas.microsoft.com/office/drawing/2014/main" id="{94D808BA-9F6A-4E17-BC7F-CEBFB3AB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624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historical availability</a:t>
            </a:r>
          </a:p>
        </p:txBody>
      </p:sp>
      <p:sp>
        <p:nvSpPr>
          <p:cNvPr id="11" name="node-720">
            <a:extLst xmlns:a="http://schemas.openxmlformats.org/drawingml/2006/main">
              <a:ext uri="{FF2B5EF4-FFF2-40B4-BE49-F238E27FC236}">
                <a16:creationId xmlns:a16="http://schemas.microsoft.com/office/drawing/2014/main" id="{852B98BB-1B92-4B05-A7A1-1EDC66D3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bel-720">
            <a:extLst xmlns:a="http://schemas.openxmlformats.org/drawingml/2006/main">
              <a:ext uri="{FF2B5EF4-FFF2-40B4-BE49-F238E27FC236}">
                <a16:creationId xmlns:a16="http://schemas.microsoft.com/office/drawing/2014/main" id="{3C7E4DF8-B203-44E7-93F1-CC7B4E1B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7187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17:30 ET</a:t>
            </a:r>
          </a:p>
        </p:txBody>
      </p:sp>
      <p:sp>
        <p:nvSpPr>
          <p:cNvPr id="13" name="sub-720">
            <a:extLst xmlns:a="http://schemas.openxmlformats.org/drawingml/2006/main">
              <a:ext uri="{FF2B5EF4-FFF2-40B4-BE49-F238E27FC236}">
                <a16:creationId xmlns:a16="http://schemas.microsoft.com/office/drawing/2014/main" id="{68754ABB-EADF-485E-BFCD-EE5A7DC3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624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decision cutoff</a:t>
            </a:r>
          </a:p>
        </p:txBody>
      </p:sp>
      <p:sp>
        <p:nvSpPr>
          <p:cNvPr id="14" name="node-1015">
            <a:extLst xmlns:a="http://schemas.openxmlformats.org/drawingml/2006/main">
              <a:ext uri="{FF2B5EF4-FFF2-40B4-BE49-F238E27FC236}">
                <a16:creationId xmlns:a16="http://schemas.microsoft.com/office/drawing/2014/main" id="{55DB19BE-DF11-4E04-AF3D-5E3586DF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bel-1015">
            <a:extLst xmlns:a="http://schemas.openxmlformats.org/drawingml/2006/main">
              <a:ext uri="{FF2B5EF4-FFF2-40B4-BE49-F238E27FC236}">
                <a16:creationId xmlns:a16="http://schemas.microsoft.com/office/drawing/2014/main" id="{2384E085-7242-438B-A511-624FA52A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57187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open</a:t>
            </a:r>
          </a:p>
        </p:txBody>
      </p:sp>
      <p:sp>
        <p:nvSpPr>
          <p:cNvPr id="16" name="sub-1015">
            <a:extLst xmlns:a="http://schemas.openxmlformats.org/drawingml/2006/main">
              <a:ext uri="{FF2B5EF4-FFF2-40B4-BE49-F238E27FC236}">
                <a16:creationId xmlns:a16="http://schemas.microsoft.com/office/drawing/2014/main" id="{2B316A83-904A-495B-9B9A-4849438E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624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earliest execution</a:t>
            </a:r>
          </a:p>
        </p:txBody>
      </p:sp>
      <p:sp>
        <p:nvSpPr>
          <p:cNvPr id="17" name="top-note">
            <a:extLst xmlns:a="http://schemas.openxmlformats.org/drawingml/2006/main">
              <a:ext uri="{FF2B5EF4-FFF2-40B4-BE49-F238E27FC236}">
                <a16:creationId xmlns:a16="http://schemas.microsoft.com/office/drawing/2014/main" id="{0102DD21-5ECE-480F-98B6-F2C238EA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80975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Historical E0 uses updated_at; prospective authority must use local receipt time.</a:t>
            </a:r>
          </a:p>
        </p:txBody>
      </p:sp>
      <p:sp>
        <p:nvSpPr>
          <p:cNvPr id="18" name="filters">
            <a:extLst xmlns:a="http://schemas.openxmlformats.org/drawingml/2006/main">
              <a:ext uri="{FF2B5EF4-FFF2-40B4-BE49-F238E27FC236}">
                <a16:creationId xmlns:a16="http://schemas.microsoft.com/office/drawing/2014/main" id="{8F5BD999-2208-42ED-9908-CDEF479B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81625"/>
            <a:ext cx="853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Maximum update delay: 24h   |   Backward-only exact-title repeat exclusion: 72h</a:t>
            </a:r>
          </a:p>
        </p:txBody>
      </p:sp>
    </p:spTree>
    <p:extLst>
      <p:ext uri="{BB962C8B-B14F-4D97-AF65-F5344CB8AC3E}">
        <p14:creationId xmlns:p14="http://schemas.microsoft.com/office/powerpoint/2010/main" val="2038159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75DFC604-5ADC-4BE6-BBBF-27C421D3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E0 CONSTRUCTION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4952CAD-EBA0-462D-B641-A9BCE4E9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Raw-page replay exactly reproduces accepted authority</a:t>
            </a:r>
          </a:p>
        </p:txBody>
      </p:sp>
      <p:sp>
        <p:nvSpPr>
          <p:cNvPr id="3" name="rule-42-142">
            <a:extLst xmlns:a="http://schemas.openxmlformats.org/drawingml/2006/main">
              <a:ext uri="{FF2B5EF4-FFF2-40B4-BE49-F238E27FC236}">
                <a16:creationId xmlns:a16="http://schemas.microsoft.com/office/drawing/2014/main" id="{175E0136-C94B-4283-A568-CB8690DE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1F51C09E-C280-4C21-AD6C-0517F576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698</a:t>
            </a:r>
          </a:p>
        </p:txBody>
      </p:sp>
      <p:sp>
        <p:nvSpPr>
          <p:cNvPr id="5" name="rule-42-310">
            <a:extLst xmlns:a="http://schemas.openxmlformats.org/drawingml/2006/main">
              <a:ext uri="{FF2B5EF4-FFF2-40B4-BE49-F238E27FC236}">
                <a16:creationId xmlns:a16="http://schemas.microsoft.com/office/drawing/2014/main" id="{0AA08DF5-71E3-4A50-B150-10ECB35C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4F0A2266-3B46-44FE-9C3D-E255E0F5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cached raw pages</a:t>
            </a:r>
          </a:p>
        </p:txBody>
      </p:sp>
      <p:sp>
        <p:nvSpPr>
          <p:cNvPr id="7" name="metric-1">
            <a:extLst xmlns:a="http://schemas.openxmlformats.org/drawingml/2006/main">
              <a:ext uri="{FF2B5EF4-FFF2-40B4-BE49-F238E27FC236}">
                <a16:creationId xmlns:a16="http://schemas.microsoft.com/office/drawing/2014/main" id="{8631AC82-AC52-4E14-B725-47B8EEB3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00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34,871</a:t>
            </a:r>
          </a:p>
        </p:txBody>
      </p:sp>
      <p:sp>
        <p:nvSpPr>
          <p:cNvPr id="8" name="rule-342-310">
            <a:extLst xmlns:a="http://schemas.openxmlformats.org/drawingml/2006/main">
              <a:ext uri="{FF2B5EF4-FFF2-40B4-BE49-F238E27FC236}">
                <a16:creationId xmlns:a16="http://schemas.microsoft.com/office/drawing/2014/main" id="{60AED3E7-29AF-4533-AF25-3BCA9ED5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527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D9C7FF9B-FBF7-49D1-979C-8C61B020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8135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raw articles</a:t>
            </a:r>
          </a:p>
        </p:txBody>
      </p:sp>
      <p:sp>
        <p:nvSpPr>
          <p:cNvPr id="10" name="metric-2">
            <a:extLst xmlns:a="http://schemas.openxmlformats.org/drawingml/2006/main">
              <a:ext uri="{FF2B5EF4-FFF2-40B4-BE49-F238E27FC236}">
                <a16:creationId xmlns:a16="http://schemas.microsoft.com/office/drawing/2014/main" id="{18989F17-5C78-48BC-8D76-65B4BD96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49,590</a:t>
            </a:r>
          </a:p>
        </p:txBody>
      </p:sp>
      <p:sp>
        <p:nvSpPr>
          <p:cNvPr id="11" name="rule-642-310">
            <a:extLst xmlns:a="http://schemas.openxmlformats.org/drawingml/2006/main">
              <a:ext uri="{FF2B5EF4-FFF2-40B4-BE49-F238E27FC236}">
                <a16:creationId xmlns:a16="http://schemas.microsoft.com/office/drawing/2014/main" id="{0CC30F26-8EFE-4D5F-8B24-F011FC94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8E219C19-5AD6-448B-BA4A-FCD9B44D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8135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admitted article-issuer associations</a:t>
            </a:r>
          </a:p>
        </p:txBody>
      </p:sp>
      <p:sp>
        <p:nvSpPr>
          <p:cNvPr id="13" name="metric-3">
            <a:extLst xmlns:a="http://schemas.openxmlformats.org/drawingml/2006/main">
              <a:ext uri="{FF2B5EF4-FFF2-40B4-BE49-F238E27FC236}">
                <a16:creationId xmlns:a16="http://schemas.microsoft.com/office/drawing/2014/main" id="{1EE3BC63-094F-4616-A8CF-2A4339F1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00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49,590</a:t>
            </a:r>
          </a:p>
        </p:txBody>
      </p:sp>
      <p:sp>
        <p:nvSpPr>
          <p:cNvPr id="14" name="rule-942-310">
            <a:extLst xmlns:a="http://schemas.openxmlformats.org/drawingml/2006/main">
              <a:ext uri="{FF2B5EF4-FFF2-40B4-BE49-F238E27FC236}">
                <a16:creationId xmlns:a16="http://schemas.microsoft.com/office/drawing/2014/main" id="{F2398747-066F-4184-A337-4490A933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527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CD53BAC0-B934-4739-B49B-7085D9C6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8135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exactly reproduced keys</a:t>
            </a:r>
          </a:p>
        </p:txBody>
      </p:sp>
      <p:sp>
        <p:nvSpPr>
          <p:cNvPr id="16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61FC07AE-9345-41C0-AEC5-78C34B1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125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terpretation-copy">
            <a:extLst xmlns:a="http://schemas.openxmlformats.org/drawingml/2006/main">
              <a:ext uri="{FF2B5EF4-FFF2-40B4-BE49-F238E27FC236}">
                <a16:creationId xmlns:a16="http://schemas.microsoft.com/office/drawing/2014/main" id="{BCC61AC3-BFFE-4DDD-8A8A-EC745E88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The derived tape can be rebuilt from provider evidence. No derived CSV is trusted as self-authenticating authority.</a:t>
            </a:r>
          </a:p>
        </p:txBody>
      </p:sp>
    </p:spTree>
    <p:extLst>
      <p:ext uri="{BB962C8B-B14F-4D97-AF65-F5344CB8AC3E}">
        <p14:creationId xmlns:p14="http://schemas.microsoft.com/office/powerpoint/2010/main" val="16503779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B0FC3296-2B90-4940-A7B6-EA5FF275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E0 CONSTRUCTION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D9F843F-4A09-4999-9F32-4F3B63C0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issuer-quarter has usable construction support</a:t>
            </a:r>
          </a:p>
        </p:txBody>
      </p:sp>
      <p:sp>
        <p:nvSpPr>
          <p:cNvPr id="3" name="rule-42-142">
            <a:extLst xmlns:a="http://schemas.openxmlformats.org/drawingml/2006/main">
              <a:ext uri="{FF2B5EF4-FFF2-40B4-BE49-F238E27FC236}">
                <a16:creationId xmlns:a16="http://schemas.microsoft.com/office/drawing/2014/main" id="{1DCFB5BB-D1EE-4CF9-81C3-7D8DF83A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c5b8f8de743d5"/>
          <a:stretch xmlns:a="http://schemas.openxmlformats.org/drawingml/2006/main"/>
        </p:blipFill>
        <p:spPr>
          <a:xfrm xmlns:a="http://schemas.openxmlformats.org/drawingml/2006/main">
            <a:off x="1372333" y="1571625"/>
            <a:ext cx="622788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coverage-callout">
            <a:extLst xmlns:a="http://schemas.openxmlformats.org/drawingml/2006/main">
              <a:ext uri="{FF2B5EF4-FFF2-40B4-BE49-F238E27FC236}">
                <a16:creationId xmlns:a16="http://schemas.microsoft.com/office/drawing/2014/main" id="{6072E944-55C9-4101-B7BF-C58BCB45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266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in-value">
            <a:extLst xmlns:a="http://schemas.openxmlformats.org/drawingml/2006/main">
              <a:ext uri="{FF2B5EF4-FFF2-40B4-BE49-F238E27FC236}">
                <a16:creationId xmlns:a16="http://schemas.microsoft.com/office/drawing/2014/main" id="{227908CE-8752-4956-8A7C-DE418D64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min-label">
            <a:extLst xmlns:a="http://schemas.openxmlformats.org/drawingml/2006/main">
              <a:ext uri="{FF2B5EF4-FFF2-40B4-BE49-F238E27FC236}">
                <a16:creationId xmlns:a16="http://schemas.microsoft.com/office/drawing/2014/main" id="{E99C467F-87E9-4DF8-8DFA-3C0C0941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0512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minimum cycles in any issuer-quarter</a:t>
            </a:r>
          </a:p>
        </p:txBody>
      </p:sp>
      <p:sp>
        <p:nvSpPr>
          <p:cNvPr id="8" name="coverage-note">
            <a:extLst xmlns:a="http://schemas.openxmlformats.org/drawingml/2006/main">
              <a:ext uri="{FF2B5EF4-FFF2-40B4-BE49-F238E27FC236}">
                <a16:creationId xmlns:a16="http://schemas.microsoft.com/office/drawing/2014/main" id="{8D415760-357C-4F18-8D7E-1E8F7748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62450"/>
            <a:ext cx="2457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 required ≥5.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Observed panel: 24 issuers × 6 quarters.</a:t>
            </a:r>
          </a:p>
        </p:txBody>
      </p:sp>
    </p:spTree>
    <p:extLst>
      <p:ext uri="{BB962C8B-B14F-4D97-AF65-F5344CB8AC3E}">
        <p14:creationId xmlns:p14="http://schemas.microsoft.com/office/powerpoint/2010/main" val="1903345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7167FB04-53FB-4600-9716-77A2AE50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E0 CONSTRUCTION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72EFFF-5B6F-4C68-9FB6-FA09C926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tape contains both sparse and dense information arrival</a:t>
            </a:r>
          </a:p>
        </p:txBody>
      </p:sp>
      <p:sp>
        <p:nvSpPr>
          <p:cNvPr id="3" name="rule-42-142">
            <a:extLst xmlns:a="http://schemas.openxmlformats.org/drawingml/2006/main">
              <a:ext uri="{FF2B5EF4-FFF2-40B4-BE49-F238E27FC236}">
                <a16:creationId xmlns:a16="http://schemas.microsoft.com/office/drawing/2014/main" id="{F77A57F2-025D-4146-B541-0ABBEF63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bb84791c74841"/>
          <a:stretch xmlns:a="http://schemas.openxmlformats.org/drawingml/2006/main"/>
        </p:blipFill>
        <p:spPr>
          <a:xfrm xmlns:a="http://schemas.openxmlformats.org/drawingml/2006/main">
            <a:off x="333375" y="2047875"/>
            <a:ext cx="5715000" cy="32385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7e3a5460f485b"/>
          <a:stretch xmlns:a="http://schemas.openxmlformats.org/drawingml/2006/main"/>
        </p:blipFill>
        <p:spPr>
          <a:xfrm xmlns:a="http://schemas.openxmlformats.org/drawingml/2006/main">
            <a:off x="6191250" y="2047875"/>
            <a:ext cx="5715000" cy="3238500"/>
          </a:xfrm>
          <a:prstGeom xmlns:a="http://schemas.openxmlformats.org/drawingml/2006/main" prst="rect">
            <a:avLst/>
          </a:prstGeom>
        </p:spPr>
      </p:pic>
      <p:sp>
        <p:nvSpPr>
          <p:cNvPr id="6" name="left-caption">
            <a:extLst xmlns:a="http://schemas.openxmlformats.org/drawingml/2006/main">
              <a:ext uri="{FF2B5EF4-FFF2-40B4-BE49-F238E27FC236}">
                <a16:creationId xmlns:a16="http://schemas.microsoft.com/office/drawing/2014/main" id="{9DA7E31D-31C8-4A3C-A1F3-5C886DC0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 cycles are small; a long tail is news-dense.</a:t>
            </a:r>
          </a:p>
        </p:txBody>
      </p:sp>
      <p:sp>
        <p:nvSpPr>
          <p:cNvPr id="7" name="right-caption">
            <a:extLst xmlns:a="http://schemas.openxmlformats.org/drawingml/2006/main">
              <a:ext uri="{FF2B5EF4-FFF2-40B4-BE49-F238E27FC236}">
                <a16:creationId xmlns:a16="http://schemas.microsoft.com/office/drawing/2014/main" id="{AA26441C-DB2D-401C-9215-FBF227B4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91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 admitted associations are 3–24 hours old at decision.</a:t>
            </a:r>
          </a:p>
        </p:txBody>
      </p:sp>
    </p:spTree>
    <p:extLst>
      <p:ext uri="{BB962C8B-B14F-4D97-AF65-F5344CB8AC3E}">
        <p14:creationId xmlns:p14="http://schemas.microsoft.com/office/powerpoint/2010/main" val="20974742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0D5C5FF2-E9C1-49D0-8262-4BAC64AC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E0 CONSTRUCTION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C8CEDF-D0A3-465B-A710-8F4F959F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Representative cycles show what the observable unit contains</a:t>
            </a:r>
          </a:p>
        </p:txBody>
      </p:sp>
      <p:sp>
        <p:nvSpPr>
          <p:cNvPr id="3" name="rule-42-142">
            <a:extLst xmlns:a="http://schemas.openxmlformats.org/drawingml/2006/main">
              <a:ext uri="{FF2B5EF4-FFF2-40B4-BE49-F238E27FC236}">
                <a16:creationId xmlns:a16="http://schemas.microsoft.com/office/drawing/2014/main" id="{4CA8DC99-69F1-4CD8-BE6E-C9EE5AEF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57e49e8364b1c"/>
          <a:stretch xmlns:a="http://schemas.openxmlformats.org/drawingml/2006/main"/>
        </p:blipFill>
        <p:spPr>
          <a:xfrm xmlns:a="http://schemas.openxmlformats.org/drawingml/2006/main">
            <a:off x="2171700" y="1476375"/>
            <a:ext cx="7848600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1128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081248A7-E378-41EE-B37D-1ED76FA1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E0 CONSTRUCTION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C74A488-DF2D-4364-88C5-B2B6BE09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source is operationally usable—but not diverse</a:t>
            </a:r>
          </a:p>
        </p:txBody>
      </p:sp>
      <p:sp>
        <p:nvSpPr>
          <p:cNvPr id="3" name="rule-42-142">
            <a:extLst xmlns:a="http://schemas.openxmlformats.org/drawingml/2006/main">
              <a:ext uri="{FF2B5EF4-FFF2-40B4-BE49-F238E27FC236}">
                <a16:creationId xmlns:a16="http://schemas.microsoft.com/office/drawing/2014/main" id="{3C636F14-1455-4FAD-8D9E-EC8EE77E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ne-source">
            <a:extLst xmlns:a="http://schemas.openxmlformats.org/drawingml/2006/main">
              <a:ext uri="{FF2B5EF4-FFF2-40B4-BE49-F238E27FC236}">
                <a16:creationId xmlns:a16="http://schemas.microsoft.com/office/drawing/2014/main" id="{6132D2EC-4461-4EA1-9F7C-DCD30650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" name="one-source-label">
            <a:extLst xmlns:a="http://schemas.openxmlformats.org/drawingml/2006/main">
              <a:ext uri="{FF2B5EF4-FFF2-40B4-BE49-F238E27FC236}">
                <a16:creationId xmlns:a16="http://schemas.microsoft.com/office/drawing/2014/main" id="{E6E13378-3FBA-44E7-819B-FF501F55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4524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of historical articles in this Alpaca sample are sourced from Benzinga</a:t>
            </a:r>
          </a:p>
        </p:txBody>
      </p:sp>
      <p:sp>
        <p:nvSpPr>
          <p:cNvPr id="6" name="rule-42-486">
            <a:extLst xmlns:a="http://schemas.openxmlformats.org/drawingml/2006/main">
              <a:ext uri="{FF2B5EF4-FFF2-40B4-BE49-F238E27FC236}">
                <a16:creationId xmlns:a16="http://schemas.microsoft.com/office/drawing/2014/main" id="{BACEF040-99C6-4A7C-82BA-F362D751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4524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6C188EBC-667F-4C48-8D69-25EED652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E0 proves</a:t>
            </a:r>
          </a:p>
        </p:txBody>
      </p:sp>
      <p:sp>
        <p:nvSpPr>
          <p:cNvPr id="8" name="proves">
            <a:extLst xmlns:a="http://schemas.openxmlformats.org/drawingml/2006/main">
              <a:ext uri="{FF2B5EF4-FFF2-40B4-BE49-F238E27FC236}">
                <a16:creationId xmlns:a16="http://schemas.microsoft.com/office/drawing/2014/main" id="{5774A6CA-E0DB-4C1C-9657-42E44A47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4000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Timestamped construction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Issuer association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Coverage across the panel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Deterministic replay</a:t>
            </a:r>
          </a:p>
        </p:txBody>
      </p:sp>
      <p:sp>
        <p:nvSpPr>
          <p:cNvPr id="9" name="does-not">
            <a:extLst xmlns:a="http://schemas.openxmlformats.org/drawingml/2006/main">
              <a:ext uri="{FF2B5EF4-FFF2-40B4-BE49-F238E27FC236}">
                <a16:creationId xmlns:a16="http://schemas.microsoft.com/office/drawing/2014/main" id="{A8150878-06A9-480C-8A94-661FCF86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What E0 does not prove</a:t>
            </a:r>
          </a:p>
        </p:txBody>
      </p:sp>
      <p:sp>
        <p:nvSpPr>
          <p:cNvPr id="10" name="not-proves">
            <a:extLst xmlns:a="http://schemas.openxmlformats.org/drawingml/2006/main">
              <a:ext uri="{FF2B5EF4-FFF2-40B4-BE49-F238E27FC236}">
                <a16:creationId xmlns:a16="http://schemas.microsoft.com/office/drawing/2014/main" id="{E26A1DB9-EE65-4F7E-81CF-FB6DFBBF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291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 diversity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Cross-provider robustness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Sentiment validity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Predictive value</a:t>
            </a:r>
          </a:p>
        </p:txBody>
      </p:sp>
    </p:spTree>
    <p:extLst>
      <p:ext uri="{BB962C8B-B14F-4D97-AF65-F5344CB8AC3E}">
        <p14:creationId xmlns:p14="http://schemas.microsoft.com/office/powerpoint/2010/main" val="1145323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07228AF2-7491-4B7F-AF69-2B04970A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E0 CONSTRUCTION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CA5B89-6ABE-4328-921D-80958BF0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construction gates pass; prediction remains unopened</a:t>
            </a:r>
          </a:p>
        </p:txBody>
      </p:sp>
      <p:sp>
        <p:nvSpPr>
          <p:cNvPr id="3" name="rule-42-142">
            <a:extLst xmlns:a="http://schemas.openxmlformats.org/drawingml/2006/main">
              <a:ext uri="{FF2B5EF4-FFF2-40B4-BE49-F238E27FC236}">
                <a16:creationId xmlns:a16="http://schemas.microsoft.com/office/drawing/2014/main" id="{31E1089F-6135-4EC2-978A-A34E64C1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d1a562d434d5d"/>
          <a:stretch xmlns:a="http://schemas.openxmlformats.org/drawingml/2006/main"/>
        </p:blipFill>
        <p:spPr>
          <a:xfrm xmlns:a="http://schemas.openxmlformats.org/drawingml/2006/main">
            <a:off x="285750" y="1640086"/>
            <a:ext cx="7096125" cy="4435078"/>
          </a:xfrm>
          <a:prstGeom xmlns:a="http://schemas.openxmlformats.org/drawingml/2006/main" prst="rect">
            <a:avLst/>
          </a:prstGeom>
        </p:spPr>
      </p:pic>
      <p:sp>
        <p:nvSpPr>
          <p:cNvPr id="5" name="next">
            <a:extLst xmlns:a="http://schemas.openxmlformats.org/drawingml/2006/main">
              <a:ext uri="{FF2B5EF4-FFF2-40B4-BE49-F238E27FC236}">
                <a16:creationId xmlns:a16="http://schemas.microsoft.com/office/drawing/2014/main" id="{FC31C847-4186-4B3F-8E2B-B8B3C0E5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7147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ext-title">
            <a:extLst xmlns:a="http://schemas.openxmlformats.org/drawingml/2006/main">
              <a:ext uri="{FF2B5EF4-FFF2-40B4-BE49-F238E27FC236}">
                <a16:creationId xmlns:a16="http://schemas.microsoft.com/office/drawing/2014/main" id="{E611FF1C-4DBF-41D3-8500-DD065645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193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theory gate</a:t>
            </a:r>
          </a:p>
        </p:txBody>
      </p:sp>
      <p:sp>
        <p:nvSpPr>
          <p:cNvPr id="7" name="next-copy">
            <a:extLst xmlns:a="http://schemas.openxmlformats.org/drawingml/2006/main">
              <a:ext uri="{FF2B5EF4-FFF2-40B4-BE49-F238E27FC236}">
                <a16:creationId xmlns:a16="http://schemas.microsoft.com/office/drawing/2014/main" id="{8F9BAA3A-942D-41EA-87DB-04433AC8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67000"/>
            <a:ext cx="29051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Define exactly one initial-reaction measurement and one prospective confirmation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after that contract is agreed should E1 join information cycles to price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Still unopened: sentiment, model training, portfolio policy, PnL, or live behavior.</a:t>
            </a:r>
          </a:p>
        </p:txBody>
      </p:sp>
      <p:sp>
        <p:nvSpPr>
          <p:cNvPr id="8" name="status">
            <a:extLst xmlns:a="http://schemas.openxmlformats.org/drawingml/2006/main">
              <a:ext uri="{FF2B5EF4-FFF2-40B4-BE49-F238E27FC236}">
                <a16:creationId xmlns:a16="http://schemas.microsoft.com/office/drawing/2014/main" id="{8358D0B3-B73F-4434-973B-20B32BF6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91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 E0  /  READY FOR FEATURE THEORY</a:t>
            </a:r>
          </a:p>
        </p:txBody>
      </p:sp>
    </p:spTree>
    <p:extLst>
      <p:ext uri="{BB962C8B-B14F-4D97-AF65-F5344CB8AC3E}">
        <p14:creationId xmlns:p14="http://schemas.microsoft.com/office/powerpoint/2010/main" val="1625760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2026-07-27T01:51:59.3390000Z</dcterms:created>
  <dcterms:modified xsi:type="dcterms:W3CDTF">2026-07-27T01:51:59.3390000Z</dcterms:modified>
</coreProperties>
</file>