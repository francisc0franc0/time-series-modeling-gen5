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4cec301f03468d" /><Relationship Type="http://schemas.openxmlformats.org/officeDocument/2006/relationships/extended-properties" Target="/docProps/app.xml" Id="R0350631e285b4965" /><Relationship Type="http://schemas.openxmlformats.org/officeDocument/2006/relationships/officeDocument" Target="/ppt/presentation.xml" Id="R2a1c77a996d44b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dd946a55654d40"/>
  </p:sldMasterIdLst>
  <p:notesMasterIdLst>
    <p:notesMasterId xmlns:r="http://schemas.openxmlformats.org/officeDocument/2006/relationships" r:id="R6da0d953f80d49ec"/>
  </p:notesMasterIdLst>
  <p:sldIdLst>
    <p:sldId xmlns:r="http://schemas.openxmlformats.org/officeDocument/2006/relationships" id="256" r:id="Rff57193b78854c75"/>
    <p:sldId xmlns:r="http://schemas.openxmlformats.org/officeDocument/2006/relationships" id="257" r:id="Re83d8a4c950b49d8"/>
    <p:sldId xmlns:r="http://schemas.openxmlformats.org/officeDocument/2006/relationships" id="258" r:id="R9328288f14d546f9"/>
    <p:sldId xmlns:r="http://schemas.openxmlformats.org/officeDocument/2006/relationships" id="259" r:id="R718f3ae406014425"/>
    <p:sldId xmlns:r="http://schemas.openxmlformats.org/officeDocument/2006/relationships" id="260" r:id="R82c8fbb5ee764e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6901c6e7a94637" /><Relationship Type="http://schemas.openxmlformats.org/officeDocument/2006/relationships/slideMaster" Target="/ppt/slideMasters/slideMaster1.xml" Id="Rb3dd946a55654d40" /><Relationship Type="http://schemas.openxmlformats.org/officeDocument/2006/relationships/notesMaster" Target="/ppt/notesMasters/notesMaster1.xml" Id="R6da0d953f80d49ec" /><Relationship Type="http://schemas.openxmlformats.org/officeDocument/2006/relationships/presProps" Target="/ppt/presProps.xml" Id="R0464ab607f664aa0" /><Relationship Type="http://schemas.openxmlformats.org/officeDocument/2006/relationships/tableStyles" Target="/ppt/tableStyles.xml" Id="Rf15af43a877c4505" /><Relationship Type="http://schemas.openxmlformats.org/officeDocument/2006/relationships/slide" Target="/ppt/slides/slide1.xml" Id="Rff57193b78854c75" /><Relationship Type="http://schemas.openxmlformats.org/officeDocument/2006/relationships/slide" Target="/ppt/slides/slide2.xml" Id="Re83d8a4c950b49d8" /><Relationship Type="http://schemas.openxmlformats.org/officeDocument/2006/relationships/slide" Target="/ppt/slides/slide3.xml" Id="R9328288f14d546f9" /><Relationship Type="http://schemas.openxmlformats.org/officeDocument/2006/relationships/slide" Target="/ppt/slides/slide4.xml" Id="R718f3ae406014425" /><Relationship Type="http://schemas.openxmlformats.org/officeDocument/2006/relationships/slide" Target="/ppt/slides/slide5.xml" Id="R82c8fbb5ee764e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5b760812bd44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dfb89b97e2410b" /><Relationship Type="http://schemas.openxmlformats.org/officeDocument/2006/relationships/notesMaster" Target="/ppt/notesMasters/notesMaster1.xml" Id="R31d0a26a34be4d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94486664304bc1" /><Relationship Type="http://schemas.openxmlformats.org/officeDocument/2006/relationships/notesMaster" Target="/ppt/notesMasters/notesMaster1.xml" Id="Rc489e655dd4041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1c0db98c7b4662" /><Relationship Type="http://schemas.openxmlformats.org/officeDocument/2006/relationships/notesMaster" Target="/ppt/notesMasters/notesMaster1.xml" Id="R4acfabdd03ef47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3e084457c7427e" /><Relationship Type="http://schemas.openxmlformats.org/officeDocument/2006/relationships/notesMaster" Target="/ppt/notesMasters/notesMaster1.xml" Id="Rb90e43a31ff147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9204ca5e7c45d2" /><Relationship Type="http://schemas.openxmlformats.org/officeDocument/2006/relationships/notesMaster" Target="/ppt/notesMasters/notesMaster1.xml" Id="Re75642bc0dca46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SESSION 9 - ALPACA CONTEXT CAPABILITY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Purpose</a:t>
            </a:r>
          </a:p>
          <a:p xmlns:a="http://schemas.openxmlformats.org/drawingml/2006/main">
            <a:r>
              <a:t>Prove which non-OHLCV streams the existing Alpaca account can retrieve before defining any feature or research hypothesis.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maybe even a simple POC where we display and prove that we indeed just pulled some data</a:t>
            </a:r>
          </a:p>
          <a:p xmlns:a="http://schemas.openxmlformats.org/drawingml/2006/main">
            <a:r>
              <a:t>Artifact: docs/GEN5_4_ALPACA_CONTEXT_CAPABILITY_POC.md</a:t>
            </a:r>
          </a:p>
          <a:p xmlns:a="http://schemas.openxmlformats.org/drawingml/2006/main">
            <a:r>
              <a:t>Boundary: retrieval and audit only; no sentiment, features, outcomes, models, or live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D28 - FROZEN N0/I0 CONTRACT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N0 news</a:t>
            </a:r>
          </a:p>
          <a:p xmlns:a="http://schemas.openxmlformats.org/drawingml/2006/main">
            <a:r>
              <a:t>Request AAPL, AMD, NVDA, TSLA, and MSTR from 2024-01-02 through 2024-01-08. Traverse every page token. Normalize metadata but exclude article content and images from the research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I0 index values</a:t>
            </a:r>
          </a:p>
          <a:p xmlns:a="http://schemas.openxmlformats.org/drawingml/2006/main">
            <a:r>
              <a:t>Probe VIX, SPX, and NDX through /v1beta1/indices/values. HTTP 200 proves account access; HTTP 403 records an entitlement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Success</a:t>
            </a:r>
          </a:p>
          <a:p xmlns:a="http://schemas.openxmlformats.org/drawingml/2006/main">
            <a:r>
              <a:t>Authenticated retrieval, complete pagination, raw provenance, unique IDs, complete timestamps and headlines, readable samples, and simple inspection charts.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sources</a:t>
            </a:r>
          </a:p>
          <a:p xmlns:a="http://schemas.openxmlformats.org/drawingml/2006/main">
            <a:r>
              <a:t>News guide: https://docs.alpaca.markets/us/docs/historical-news-data</a:t>
            </a:r>
          </a:p>
          <a:p xmlns:a="http://schemas.openxmlformats.org/drawingml/2006/main">
            <a:r>
              <a:t>News endpoint: https://docs.alpaca.markets/us/reference/news-3</a:t>
            </a:r>
          </a:p>
          <a:p xmlns:a="http://schemas.openxmlformats.org/drawingml/2006/main">
            <a:r>
              <a:t>Index changelog: https://docs.alpaca.markets/us/changelog/2026-06-03-market-data-9dddd18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Okay, let's proceed</a:t>
            </a:r>
          </a:p>
          <a:p xmlns:a="http://schemas.openxmlformats.org/drawingml/2006/main">
            <a:r>
              <a:t>Run spec: C:/Users/Franc/OneDrive/Documents/Francis/Peltata Project/Time-Series-Modeling-Gen5/runs/research_workbench/gen54_ml_decision_engine/g54_alpaca_context_n0_i0_20260721/capability_run_spec.csv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D29 - NEWS PAGINATION PASSES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Five pages returned HTTP 200. The first four pages supplied a next-page token; the fifth did not. Total raw response size was 209,710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The wrapper did not silently stop after the first 50 records. It traversed the complete requested result set and retained each raw page locally for 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Okay, let's proceed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Project/Time-Series-Modeling-Gen5/runs/research_workbench/gen54_ml_decision_engine/g54_alpaca_context_n0_i0_20260721/context_capability_report.md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D29 - HISTORICAL NEWS AVAILABILITY PASSES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Evidence</a:t>
            </a:r>
          </a:p>
          <a:p xmlns:a="http://schemas.openxmlformats.org/drawingml/2006/main">
            <a:r>
              <a:t>The account returned 239 articles dated from January 2 through January 8, 2024. There were zero duplicate article IDs, zero missing headlines, zero missing created or updated timestamps, and zero created dates outside the request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Meaning</a:t>
            </a:r>
          </a:p>
          <a:p xmlns:a="http://schemas.openxmlformats.org/drawingml/2006/main">
            <a:r>
              <a:t>Historical news is accessible through the existing credentials and can support later point-in-time design discussions. Article counts are inventory evidence, not signal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get my feet wet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Project/Time-Series-Modeling-Gen5/runs/research_workbench/gen54_ml_decision_engine/g54_alpaca_context_n0_i0_20260721/context_capability_report.md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D29 - PARTIAL_PASS_NEWS_AVAILABLE_INDEX_NOT_AUTHORIZED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Readout</a:t>
            </a:r>
          </a:p>
          <a:p xmlns:a="http://schemas.openxmlformats.org/drawingml/2006/main">
            <a:r>
              <a:t>Historical news works through the existing Alpaca account and is auditable by date and symbol. Alpaca's newly added historical index-values endpoint returned HTTP 403 with "not authorized for index data."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Authority</a:t>
            </a:r>
          </a:p>
          <a:p xmlns:a="http://schemas.openxmlformats.org/drawingml/2006/main">
            <a:r>
              <a:t>Five HTTP 200 news pages; 239 normalized metadata rows; zero duplicate IDs; complete headline, created_at, and updated_at fields; raw pages retained locally. Normalized tables exclude full article content and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Next theory gate</a:t>
            </a:r>
          </a:p>
          <a:p xmlns:a="http://schemas.openxmlformats.org/drawingml/2006/main">
            <a:r>
              <a:t>Decide whether to stop after capability proof or freeze a point-in-time news-representation contract. Do not begin with generic sentiment or inspect market outcomes before that contract exists.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Conversation: codex://threads/019f741e-615f-7fd0-90f7-edce12b5cb66</a:t>
            </a:r>
          </a:p>
          <a:p xmlns:a="http://schemas.openxmlformats.org/drawingml/2006/main">
            <a:r>
              <a:t>Find in chat: Okay, let's proceed</a:t>
            </a:r>
          </a:p>
          <a:p xmlns:a="http://schemas.openxmlformats.org/drawingml/2006/main">
            <a:r>
              <a:t>Report: C:/Users/Franc/OneDrive/Documents/Francis/Peltata Project/Time-Series-Modeling-Gen5/runs/research_workbench/gen54_ml_decision_engine/g54_alpaca_context_n0_i0_20260721/context_capability_report.md</a:t>
            </a:r>
          </a:p>
          <a:p xmlns:a="http://schemas.openxmlformats.org/drawingml/2006/main">
            <a:r>
              <a:t>Status: PARTIAL_PASS_NEWS_AVAILABLE_INDEX_NOT_AUTHORIZED.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8dcf09da345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629e48dd854909" /><Relationship Type="http://schemas.openxmlformats.org/officeDocument/2006/relationships/slideLayout" Target="/ppt/slideLayouts/slideLayout1.xml" Id="R7aea6d9e2986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ea6d9e2986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5ec5e705045e4" /><Relationship Type="http://schemas.openxmlformats.org/officeDocument/2006/relationships/notesSlide" Target="/ppt/notesSlides/notesSlide1.xml" Id="R4e44de5d866a4e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1f2eda1c94f0c" /><Relationship Type="http://schemas.openxmlformats.org/officeDocument/2006/relationships/notesSlide" Target="/ppt/notesSlides/notesSlide2.xml" Id="Rfe5c20e59d4746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646a60c654ea8" /><Relationship Type="http://schemas.openxmlformats.org/officeDocument/2006/relationships/image" Target="/ppt/media/image.png" Id="Rf47f06bbcccf4fe6" /><Relationship Type="http://schemas.openxmlformats.org/officeDocument/2006/relationships/notesSlide" Target="/ppt/notesSlides/notesSlide3.xml" Id="Rb389dc3446f1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59667817404b0f" /><Relationship Type="http://schemas.openxmlformats.org/officeDocument/2006/relationships/image" Target="/ppt/media/image2.png" Id="R9445d63cf8874dae" /><Relationship Type="http://schemas.openxmlformats.org/officeDocument/2006/relationships/notesSlide" Target="/ppt/notesSlides/notesSlide4.xml" Id="Rb75cb85233094c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876f59c4041fb" /><Relationship Type="http://schemas.openxmlformats.org/officeDocument/2006/relationships/image" Target="/ppt/media/image3.png" Id="R7c868c6d1c234da3" /><Relationship Type="http://schemas.openxmlformats.org/officeDocument/2006/relationships/notesSlide" Target="/ppt/notesSlides/notesSlide5.xml" Id="Rca4095ee73c645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E9F33-2E02-4887-9BA5-D4C283F7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S9/01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10206-C75C-445A-A56D-E05DAD2D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2476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SESSION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625A6-0B63-4E1C-81ED-B9E78F88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10763250" cy="2381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Historical news plumbing works;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index access is account-blocked.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ACAB6-605B-492B-8C9A-F7560B4A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100012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239 articles  |  five pages  |  metadata only  |  no signal claims</a:t>
            </a:r>
          </a:p>
        </p:txBody>
      </p:sp>
    </p:spTree>
    <p:extLst>
      <p:ext uri="{BB962C8B-B14F-4D97-AF65-F5344CB8AC3E}">
        <p14:creationId xmlns:p14="http://schemas.microsoft.com/office/powerpoint/2010/main" val="18048084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337DE-1564-4CEA-B7B6-C1A9FD80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capability POC proves retrieval - not predictive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6D795-41F9-4DB7-9099-EC48DEC9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D28/02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66750" y="3124200"/>
            <a:ext cx="10287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FB53C-0264-4D46-A2E8-A3B6F307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E284B-98CD-40CC-BECA-F4B7B3E4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3C6243-0F8C-4A38-9888-EF2824DA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09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A5C70-6898-4F96-9947-2F85AED5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90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NEWS 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15B3C-F39A-4E90-9150-8002EDF2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276225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47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 symbols, seven days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metadata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722BFC-B68D-488F-929D-4939A7B77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3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AUDIT CONTRACT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6681A-4E7A-4BA0-B61A-73DFB448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62350"/>
            <a:ext cx="2857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8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Raw JSON, page tokens,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IDs and timestamps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9A921-CA0E-41AF-AEC6-CCF88037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479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INDEX PROBE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0D44CB-FC2E-4D38-9C42-CC9A84E2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62350"/>
            <a:ext cx="3238500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VIX, SPX, NDX through</a:t>
            </a:r>
          </a:p>
          <a:p xmlns:a="http://schemas.openxmlformats.org/drawingml/2006/main">
            <a:pPr algn="l">
              <a:buNone/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new index endpoint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8A186-326F-4097-AAA4-3983A65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2870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Sentiment, features, outcomes, OHLCV joins, and model fits: zero.</a:t>
            </a:r>
          </a:p>
        </p:txBody>
      </p:sp>
    </p:spTree>
    <p:extLst>
      <p:ext uri="{BB962C8B-B14F-4D97-AF65-F5344CB8AC3E}">
        <p14:creationId xmlns:p14="http://schemas.microsoft.com/office/powerpoint/2010/main" val="15343699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Five pages prove the archive was fully traversed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D29/03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f06bbcccf4fe6"/>
          <a:stretch xmlns:a="http://schemas.openxmlformats.org/drawingml/2006/main"/>
        </p:blipFill>
        <p:spPr>
          <a:xfrm xmlns:a="http://schemas.openxmlformats.org/drawingml/2006/main" flipH="0" flipV="0">
            <a:off x="2286000" y="1381125"/>
            <a:ext cx="76200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retrieved week is visible and auditable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D29/04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45d63cf8874dae"/>
          <a:stretch xmlns:a="http://schemas.openxmlformats.org/drawingml/2006/main"/>
        </p:blipFill>
        <p:spPr>
          <a:xfrm xmlns:a="http://schemas.openxmlformats.org/drawingml/2006/main" flipH="0" flipV="0">
            <a:off x="2133600" y="1381125"/>
            <a:ext cx="7924800" cy="4572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1134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DC877-F75F-4919-9031-29F99D00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4350"/>
            <a:ext cx="1139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News access passes; index entitlement stops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43778-7507-4614-8B69-EE17D1B8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F6570"/>
                </a:solidFill>
                <a:latin typeface="Arial"/>
                <a:ea typeface="Arial"/>
                <a:cs typeface="Arial"/>
              </a:defRPr>
            </a:pPr>
            <a:r>
              <a:t>D29/05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868c6d1c234da3"/>
          <a:stretch xmlns:a="http://schemas.openxmlformats.org/drawingml/2006/main"/>
        </p:blipFill>
        <p:spPr>
          <a:xfrm xmlns:a="http://schemas.openxmlformats.org/drawingml/2006/main" flipH="0" flipV="0">
            <a:off x="400050" y="1992007"/>
            <a:ext cx="5476875" cy="3159736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00E1C-C4F4-42C7-BF5A-8463531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19250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OVERALL: PARTIAL CAPABILITY PASS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Historical news: 239 articles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Pagination: 5 complete pages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PASS  IDs, headlines, timestamps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Index values: HTTP 403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STOP  No news representation yet</a:t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2025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Sentiment / features / models: 0</a:t>
            </a:r>
          </a:p>
        </p:txBody>
      </p:sp>
    </p:spTree>
    <p:extLst>
      <p:ext uri="{BB962C8B-B14F-4D97-AF65-F5344CB8AC3E}">
        <p14:creationId xmlns:p14="http://schemas.microsoft.com/office/powerpoint/2010/main" val="5181134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2026-07-21T03:28:37.6350000Z</dcterms:created>
  <dcterms:modified xsi:type="dcterms:W3CDTF">2026-07-21T03:28:37.6350000Z</dcterms:modified>
</coreProperties>
</file>