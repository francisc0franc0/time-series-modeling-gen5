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bf4d09472477b" /><Relationship Type="http://schemas.openxmlformats.org/officeDocument/2006/relationships/extended-properties" Target="/docProps/app.xml" Id="R4bf567391c724cf8" /><Relationship Type="http://schemas.openxmlformats.org/officeDocument/2006/relationships/officeDocument" Target="/ppt/presentation.xml" Id="Rde94a5f51d414d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4690ce09e409e"/>
  </p:sldMasterIdLst>
  <p:notesMasterIdLst>
    <p:notesMasterId xmlns:r="http://schemas.openxmlformats.org/officeDocument/2006/relationships" r:id="R27853207392c4ee4"/>
  </p:notesMasterIdLst>
  <p:sldIdLst>
    <p:sldId xmlns:r="http://schemas.openxmlformats.org/officeDocument/2006/relationships" id="256" r:id="Ra9aba7b44a914804"/>
    <p:sldId xmlns:r="http://schemas.openxmlformats.org/officeDocument/2006/relationships" id="257" r:id="Rf1d60bb6aa9145c9"/>
    <p:sldId xmlns:r="http://schemas.openxmlformats.org/officeDocument/2006/relationships" id="258" r:id="Rbb9aa296ce484a5b"/>
    <p:sldId xmlns:r="http://schemas.openxmlformats.org/officeDocument/2006/relationships" id="259" r:id="Rc26ca9fc56d54daf"/>
    <p:sldId xmlns:r="http://schemas.openxmlformats.org/officeDocument/2006/relationships" id="260" r:id="R8306f113e2b8448c"/>
    <p:sldId xmlns:r="http://schemas.openxmlformats.org/officeDocument/2006/relationships" id="261" r:id="R7163f7a7d11e46b4"/>
    <p:sldId xmlns:r="http://schemas.openxmlformats.org/officeDocument/2006/relationships" id="262" r:id="R2a68574b45444edd"/>
    <p:sldId xmlns:r="http://schemas.openxmlformats.org/officeDocument/2006/relationships" id="263" r:id="Ree8474855c3a4b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0a5b0b6cd94aeb" /><Relationship Type="http://schemas.openxmlformats.org/officeDocument/2006/relationships/slideMaster" Target="/ppt/slideMasters/slideMaster1.xml" Id="R49e4690ce09e409e" /><Relationship Type="http://schemas.openxmlformats.org/officeDocument/2006/relationships/notesMaster" Target="/ppt/notesMasters/notesMaster1.xml" Id="R27853207392c4ee4" /><Relationship Type="http://schemas.openxmlformats.org/officeDocument/2006/relationships/presProps" Target="/ppt/presProps.xml" Id="R95dc8a02d4a94175" /><Relationship Type="http://schemas.openxmlformats.org/officeDocument/2006/relationships/tableStyles" Target="/ppt/tableStyles.xml" Id="R63493dd0d90c4ba8" /><Relationship Type="http://schemas.openxmlformats.org/officeDocument/2006/relationships/slide" Target="/ppt/slides/slide1.xml" Id="Ra9aba7b44a914804" /><Relationship Type="http://schemas.openxmlformats.org/officeDocument/2006/relationships/slide" Target="/ppt/slides/slide2.xml" Id="Rf1d60bb6aa9145c9" /><Relationship Type="http://schemas.openxmlformats.org/officeDocument/2006/relationships/slide" Target="/ppt/slides/slide3.xml" Id="Rbb9aa296ce484a5b" /><Relationship Type="http://schemas.openxmlformats.org/officeDocument/2006/relationships/slide" Target="/ppt/slides/slide4.xml" Id="Rc26ca9fc56d54daf" /><Relationship Type="http://schemas.openxmlformats.org/officeDocument/2006/relationships/slide" Target="/ppt/slides/slide5.xml" Id="R8306f113e2b8448c" /><Relationship Type="http://schemas.openxmlformats.org/officeDocument/2006/relationships/slide" Target="/ppt/slides/slide6.xml" Id="R7163f7a7d11e46b4" /><Relationship Type="http://schemas.openxmlformats.org/officeDocument/2006/relationships/slide" Target="/ppt/slides/slide7.xml" Id="R2a68574b45444edd" /><Relationship Type="http://schemas.openxmlformats.org/officeDocument/2006/relationships/slide" Target="/ppt/slides/slide8.xml" Id="Ree8474855c3a4b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004fda8e444f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8eb4dd0a9476b" /><Relationship Type="http://schemas.openxmlformats.org/officeDocument/2006/relationships/notesMaster" Target="/ppt/notesMasters/notesMaster1.xml" Id="Rcd58e124860f47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d392821c44632" /><Relationship Type="http://schemas.openxmlformats.org/officeDocument/2006/relationships/notesMaster" Target="/ppt/notesMasters/notesMaster1.xml" Id="R01f2288eb3d1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035ad6bd3f4a47" /><Relationship Type="http://schemas.openxmlformats.org/officeDocument/2006/relationships/notesMaster" Target="/ppt/notesMasters/notesMaster1.xml" Id="R8192742599654e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232737a8b441f9" /><Relationship Type="http://schemas.openxmlformats.org/officeDocument/2006/relationships/notesMaster" Target="/ppt/notesMasters/notesMaster1.xml" Id="Rad54f214da9f42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9eec46f4c43f4" /><Relationship Type="http://schemas.openxmlformats.org/officeDocument/2006/relationships/notesMaster" Target="/ppt/notesMasters/notesMaster1.xml" Id="R3a12303b263242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1448b69b854586" /><Relationship Type="http://schemas.openxmlformats.org/officeDocument/2006/relationships/notesMaster" Target="/ppt/notesMasters/notesMaster1.xml" Id="R066626b5e8e744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26e4a331d14e1e" /><Relationship Type="http://schemas.openxmlformats.org/officeDocument/2006/relationships/notesMaster" Target="/ppt/notesMasters/notesMaster1.xml" Id="R61529ddcba2c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2d7a98cf84587" /><Relationship Type="http://schemas.openxmlformats.org/officeDocument/2006/relationships/notesMaster" Target="/ppt/notesMasters/notesMaster1.xml" Id="Rfc38ab2f2cb04c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15 - NEWS RECENCY REPRESENTATION N1D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Test exactly one fixed 24-hour exponential-recency representation against the accepted equal-count news measure on untouched 2025Q1-2026Q2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</a:t>
            </a:r>
          </a:p>
          <a:p xmlns:a="http://schemas.openxmlformats.org/drawingml/2006/main">
            <a:r>
              <a:t>Integrity passed 15/15. Recency remained positive in 5/6 quarters, but mean conditional ordering fell from 0.038762 to 0.036938. Mean lift was -0.001824 and positive in only 3/6 quarters.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Retain equal count and close representation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Please try again</a:t>
            </a:r>
          </a:p>
          <a:p xmlns:a="http://schemas.openxmlformats.org/drawingml/2006/main">
            <a:r>
              <a:t>Decision: D39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- docs/GEN5_4_NEWS_RECENCY_N1D_CONTRACT.md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D38 - FROZEN N1D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Challenger</a:t>
            </a:r>
          </a:p>
          <a:p xmlns:a="http://schemas.openxmlformats.org/drawingml/2006/main">
            <a:r>
              <a:t>Each accepted novel cluster receives weight 2^(-age_hours/24) at the scheduled 17:30 America/New_York cutoff. The cycle weights are summed and mapped through an issuer-local eight-quarter TRAIN ECDF.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Unchanged authority</a:t>
            </a:r>
          </a:p>
          <a:p xmlns:a="http://schemas.openxmlformats.org/drawingml/2006/main">
            <a:r>
              <a:t>Article admissibility, stale-update and novelty rules, issuer identity, future h5 path-volatility outcome, prior-h5 path-volatility control, current/prior-60 dollar-volume control, and next-open alignment remain frozen.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Confirmation</a:t>
            </a:r>
          </a:p>
          <a:p xmlns:a="http://schemas.openxmlformats.org/drawingml/2006/main">
            <a:r>
              <a:t>Only 2025Q1 through 2026Q2 are evaluated. Success requires all integrity checks, positive mean recency ordering, positive recency ordering in at least 4/6 quarters, mean lift of at least 0.01, and positive lift in at least 4/6 quarters.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docs/GEN5_4_NEWS_RECENCY_N1D_CONTRACT.md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D38 - FIXED DECAY SEMANTICS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the curve</a:t>
            </a:r>
          </a:p>
          <a:p xmlns:a="http://schemas.openxmlformats.org/drawingml/2006/main">
            <a:r>
              <a:t>An article cluster at the cutoff receives weight 1.0; the weight halves every 24 calendar hours. At 72 hours the weight is 0.125.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Why this form</a:t>
            </a:r>
          </a:p>
          <a:p xmlns:a="http://schemas.openxmlformats.org/drawingml/2006/main">
            <a:r>
              <a:t>The clock-time decay is simple, monotone, auditable, and fixed before confirmation inspection. It expresses the hypothesis that recently arrived information may remain less 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</a:t>
            </a:r>
          </a:p>
          <a:p xmlns:a="http://schemas.openxmlformats.org/drawingml/2006/main">
            <a:r>
              <a:t>No grid search, TRAIN selection, alternate half-life, market-hours clock, source weighting, sentiment, or text model was evaluated.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docs/GEN5_4_NEWS_RECENCY_N1D_CONTRACT.md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D39 - PRIMARY CONFIRMATION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Absolute ordering</a:t>
            </a:r>
          </a:p>
          <a:p xmlns:a="http://schemas.openxmlformats.org/drawingml/2006/main">
            <a:r>
              <a:t>Recency partial Spearman is positive in 5/6 quarters and averages 0.036938, so the representation still carries modest uncertainty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Relative ordering</a:t>
            </a:r>
          </a:p>
          <a:p xmlns:a="http://schemas.openxmlformats.org/drawingml/2006/main">
            <a:r>
              <a:t>Equal count averages 0.038762. Recency lift averages -0.001824, not the required +0.01. Lift is positive in only 3/6 quarters, not the required 4/6.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 logic</a:t>
            </a:r>
          </a:p>
          <a:p xmlns:a="http://schemas.openxmlformats.org/drawingml/2006/main">
            <a:r>
              <a:t>The challenger must beat the simpler accepted measure, not merely remain positive. Both complexity-penalty gates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- runs/research_workbench/gen54_ml_decision_engine/g54_news_n1d_20260725/n1d_fold_summary.csv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D39 - TIE RESOLUTION IS DIAGNOSTIC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The recency representation produces substantially more distinct issuer-local TRAIN percentile values in every confirmation quarter than equal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Recency does what it was mechanically intended to do: it distinguishes cycles with equal article counts but different timing. That additional granularity did not improve conditional future-volatility ordering.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point</a:t>
            </a:r>
          </a:p>
          <a:p xmlns:a="http://schemas.openxmlformats.org/drawingml/2006/main">
            <a:r>
              <a:t>Feature richness, variance, and tie resolution are not substitutes for incremental predictive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- runs/research_workbench/gen54_ml_decision_engine/g54_news_n1d_20260725/n1d_fold_summary.csv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D39 - CONFIRMATION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Every one of the 24 issuers contributes admissible novel-news observations in every confirmation quarter. There are zero issuer-quarter coverage failures and zero representation or control TRAIN-support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Concentration boundary</a:t>
            </a:r>
          </a:p>
          <a:p xmlns:a="http://schemas.openxmlformats.org/drawingml/2006/main">
            <a:r>
              <a:t>Coverage volume is still uneven across issuers, as expected from the historical archive. The gate asks whether the intended panel is represented, not whether article counts are uniform.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The N1D STOP is evidence about the fixed challenger, not an artifact of a missing issuer or quarter.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runs/research_workbench/gen54_ml_decision_engine/g54_news_n1d_20260725/n1d_confirmation_news_coverage.csv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D39 - HUMAN-FACING TIMING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Selection rule</a:t>
            </a:r>
          </a:p>
          <a:p xmlns:a="http://schemas.openxmlformats.org/drawingml/2006/main">
            <a:r>
              <a:t>Pairs were selected only by issuer, fold, equal count, and recency-mass spread before revealing future outcomes. The examples do not enter the statistic or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the chart</a:t>
            </a:r>
          </a:p>
          <a:p xmlns:a="http://schemas.openxmlformats.org/drawingml/2006/main">
            <a:r>
              <a:t>Fresher news mixes sometimes precede wider future paths and sometimes do not. Equal counts can hide timing differences, but timing alone is not a deterministic volatility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Boundary</a:t>
            </a:r>
          </a:p>
          <a:p xmlns:a="http://schemas.openxmlformats.org/drawingml/2006/main">
            <a:r>
              <a:t>These examples explain the tested mechanism; they do not rescue a challenger that failed its aggregate frozen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runs/research_workbench/gen54_ml_decision_engine/g54_news_n1d_20260725/n1d_equal_count_timing_pairs.csv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D39 - STOP_N1D_KEEP_EQUAL_COUNT_AND_CLOSE_REPRESENTATION_EXPANSION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</a:t>
            </a:r>
          </a:p>
          <a:p xmlns:a="http://schemas.openxmlformats.org/drawingml/2006/main">
            <a:r>
              <a:t>All 15 timing, population, TRAIN-support, control, data, and leakage checks pass. The untouched confirmation contains 8,232 observations across all 24 issuers and six quarters.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Decision</a:t>
            </a:r>
          </a:p>
          <a:p xmlns:a="http://schemas.openxmlformats.org/drawingml/2006/main">
            <a:r>
              <a:t>Recency passes the integrity and absolute-ordering gates but fails both incremental-improvement gates. Retain equal count as the simpler descriptive uncertainty-context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boundary</a:t>
            </a:r>
          </a:p>
          <a:p xmlns:a="http://schemas.openxmlformats.org/drawingml/2006/main">
            <a:r>
              <a:t>Do not try another half-life, sentiment, source weight, embedding, model, policy, exposure, allocation, PnL, or live-facing change on these outcomes. A future news test requires a genuinely new economic hypothesis and fresh uninspected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Please try again</a:t>
            </a:r>
          </a:p>
          <a:p xmlns:a="http://schemas.openxmlformats.org/drawingml/2006/main">
            <a:r>
              <a:t>Decision: D39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runs/research_workbench/gen54_ml_decision_engine/g54_news_n1d_20260725/n1d_report.md</a:t>
            </a:r>
          </a:p>
          <a:p xmlns:a="http://schemas.openxmlformats.org/drawingml/2006/main">
            <a:r>
              <a:t>- runs/research_workbench/gen54_ml_decision_engine/g54_news_n1d_20260725/n1d_success_gates.csv</a:t>
            </a:r>
          </a:p>
          <a:p xmlns:a="http://schemas.openxmlformats.org/drawingml/2006/main">
            <a:r>
              <a:t>- runs/research_workbench/gen54_ml_decision_engine/g54_news_n1d_20260725/n1d_leakage_audit.csv</a:t>
            </a:r>
          </a:p>
          <a:p xmlns:a="http://schemas.openxmlformats.org/drawingml/2006/main">
            <a:r>
              <a:t>- docs/GEN5_4_NEWS_RECENCY_N1D_CONTRACT.md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050073fbe4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6402d07534fac" /><Relationship Type="http://schemas.openxmlformats.org/officeDocument/2006/relationships/slideLayout" Target="/ppt/slideLayouts/slideLayout1.xml" Id="R4511b87b7d764f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1b87b7d764f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02404ff374e1d" /><Relationship Type="http://schemas.openxmlformats.org/officeDocument/2006/relationships/notesSlide" Target="/ppt/notesSlides/notesSlide1.xml" Id="R05607ceb6adc4b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acbbbab734308" /><Relationship Type="http://schemas.openxmlformats.org/officeDocument/2006/relationships/notesSlide" Target="/ppt/notesSlides/notesSlide2.xml" Id="Rf6f01688dcc447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9e7a00e440f7" /><Relationship Type="http://schemas.openxmlformats.org/officeDocument/2006/relationships/image" Target="/ppt/media/image.png" Id="R9042c96448214a6f" /><Relationship Type="http://schemas.openxmlformats.org/officeDocument/2006/relationships/notesSlide" Target="/ppt/notesSlides/notesSlide3.xml" Id="R99730428ab6846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9ebd24fd14564" /><Relationship Type="http://schemas.openxmlformats.org/officeDocument/2006/relationships/image" Target="/ppt/media/image2.png" Id="R57ec9633f2204cd5" /><Relationship Type="http://schemas.openxmlformats.org/officeDocument/2006/relationships/notesSlide" Target="/ppt/notesSlides/notesSlide4.xml" Id="Ra34d584f9fc14c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493a6fbc64f9f" /><Relationship Type="http://schemas.openxmlformats.org/officeDocument/2006/relationships/image" Target="/ppt/media/image3.png" Id="Re28c560c5b4945d2" /><Relationship Type="http://schemas.openxmlformats.org/officeDocument/2006/relationships/notesSlide" Target="/ppt/notesSlides/notesSlide5.xml" Id="R658994710723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bc0c7c2b24369" /><Relationship Type="http://schemas.openxmlformats.org/officeDocument/2006/relationships/image" Target="/ppt/media/image4.png" Id="R06f7aa900ec14105" /><Relationship Type="http://schemas.openxmlformats.org/officeDocument/2006/relationships/notesSlide" Target="/ppt/notesSlides/notesSlide6.xml" Id="R0a77026069264f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23580fd6d4940" /><Relationship Type="http://schemas.openxmlformats.org/officeDocument/2006/relationships/image" Target="/ppt/media/image5.png" Id="R89d69f1e4c574c45" /><Relationship Type="http://schemas.openxmlformats.org/officeDocument/2006/relationships/notesSlide" Target="/ppt/notesSlides/notesSlide7.xml" Id="Rbf1bc8fde74649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29d0673c64238" /><Relationship Type="http://schemas.openxmlformats.org/officeDocument/2006/relationships/image" Target="/ppt/media/image6.png" Id="Rf1d22344f3b8417c" /><Relationship Type="http://schemas.openxmlformats.org/officeDocument/2006/relationships/notesSlide" Target="/ppt/notesSlides/notesSlide8.xml" Id="R8587c4056e0140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S15/01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Recency resolves count ties;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it does not improve uncertainty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5/6 positive recency  |  mean lift -0.0018  |  retain equal count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N1D changed one representation and froze the confirmation clock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D38/02</a:t>
            </a:r>
          </a:p>
        </p:txBody>
      </p:sp>
      <p:cxnSp>
        <p:nvCxnSpPr>
          <p:cNvPr id="76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CHALLENGER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24-hour exponential decay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same admissible novel 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CONFIRMATION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5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2025Q1 through 2026Q2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issuer-local TRAIN ECDF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4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COMPLEXITY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positive + improvement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mean lift &gt;= 0.01 and 4 /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3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Alternate decay, sentiment, source weights, embeddings, models, exposure, allocation, and PnL: zero.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689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challenger makes freshness explicit without changing admissibility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D38/03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2c96448214a6f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Recency stays positive, but fails to improve on equal 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D39/04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c9633f2204cd5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More percentile resolution does not mean more predictive ordering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D39/05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c560c5b4945d2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STOP is not caused by issuer or quarter coverage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D39/06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7aa900ec14105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5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Equal-count pairs show why timing remains probabilistic, not deterministic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D39/07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69f1e4c574c45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794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N1D fails the complexity penalty; retain the simpler representation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D39/08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STOP RECENCY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REPRESENTATION EXPANSION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15 / 15 integrity checks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recency positive in 5 / 6 quarters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FAIL  mean lift -0.0018 vs +0.0100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FAIL  positive lift 3 / 6 vs 4 / 6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KEEP  frozen equal count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alternate decay / text rescue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model / exposure / allocation / PnL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22344f3b8417c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2026-07-26T04:13:52.3270000Z</dcterms:created>
  <dcterms:modified xsi:type="dcterms:W3CDTF">2026-07-26T04:13:52.3280000Z</dcterms:modified>
</coreProperties>
</file>