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ebaa2b7c844d69" /><Relationship Type="http://schemas.openxmlformats.org/officeDocument/2006/relationships/extended-properties" Target="/docProps/app.xml" Id="R75deb8c9d8b0401d" /><Relationship Type="http://schemas.openxmlformats.org/officeDocument/2006/relationships/officeDocument" Target="/ppt/presentation.xml" Id="R48c487361cff40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21da95a75645fe"/>
  </p:sldMasterIdLst>
  <p:notesMasterIdLst>
    <p:notesMasterId xmlns:r="http://schemas.openxmlformats.org/officeDocument/2006/relationships" r:id="R1aaa3717c9fe4e57"/>
  </p:notesMasterIdLst>
  <p:sldIdLst>
    <p:sldId xmlns:r="http://schemas.openxmlformats.org/officeDocument/2006/relationships" id="256" r:id="R1e8567ea74e145df"/>
    <p:sldId xmlns:r="http://schemas.openxmlformats.org/officeDocument/2006/relationships" id="257" r:id="R9fb0191772494a44"/>
    <p:sldId xmlns:r="http://schemas.openxmlformats.org/officeDocument/2006/relationships" id="258" r:id="R7fdf6253daba4510"/>
    <p:sldId xmlns:r="http://schemas.openxmlformats.org/officeDocument/2006/relationships" id="259" r:id="R696c4a6ac1304ffc"/>
    <p:sldId xmlns:r="http://schemas.openxmlformats.org/officeDocument/2006/relationships" id="260" r:id="R4ee9a09f8dfc4a63"/>
    <p:sldId xmlns:r="http://schemas.openxmlformats.org/officeDocument/2006/relationships" id="261" r:id="Reb476934dd094fe7"/>
    <p:sldId xmlns:r="http://schemas.openxmlformats.org/officeDocument/2006/relationships" id="262" r:id="Rc8c8d5f817a3468f"/>
    <p:sldId xmlns:r="http://schemas.openxmlformats.org/officeDocument/2006/relationships" id="263" r:id="R6eccdcbdbf6d45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3593097aa44e8c" /><Relationship Type="http://schemas.openxmlformats.org/officeDocument/2006/relationships/slideMaster" Target="/ppt/slideMasters/slideMaster1.xml" Id="R5721da95a75645fe" /><Relationship Type="http://schemas.openxmlformats.org/officeDocument/2006/relationships/notesMaster" Target="/ppt/notesMasters/notesMaster1.xml" Id="R1aaa3717c9fe4e57" /><Relationship Type="http://schemas.openxmlformats.org/officeDocument/2006/relationships/presProps" Target="/ppt/presProps.xml" Id="R84dfd98b14d240db" /><Relationship Type="http://schemas.openxmlformats.org/officeDocument/2006/relationships/tableStyles" Target="/ppt/tableStyles.xml" Id="R3bef97b68e324b95" /><Relationship Type="http://schemas.openxmlformats.org/officeDocument/2006/relationships/slide" Target="/ppt/slides/slide1.xml" Id="R1e8567ea74e145df" /><Relationship Type="http://schemas.openxmlformats.org/officeDocument/2006/relationships/slide" Target="/ppt/slides/slide2.xml" Id="R9fb0191772494a44" /><Relationship Type="http://schemas.openxmlformats.org/officeDocument/2006/relationships/slide" Target="/ppt/slides/slide3.xml" Id="R7fdf6253daba4510" /><Relationship Type="http://schemas.openxmlformats.org/officeDocument/2006/relationships/slide" Target="/ppt/slides/slide4.xml" Id="R696c4a6ac1304ffc" /><Relationship Type="http://schemas.openxmlformats.org/officeDocument/2006/relationships/slide" Target="/ppt/slides/slide5.xml" Id="R4ee9a09f8dfc4a63" /><Relationship Type="http://schemas.openxmlformats.org/officeDocument/2006/relationships/slide" Target="/ppt/slides/slide6.xml" Id="Reb476934dd094fe7" /><Relationship Type="http://schemas.openxmlformats.org/officeDocument/2006/relationships/slide" Target="/ppt/slides/slide7.xml" Id="Rc8c8d5f817a3468f" /><Relationship Type="http://schemas.openxmlformats.org/officeDocument/2006/relationships/slide" Target="/ppt/slides/slide8.xml" Id="R6eccdcbdbf6d45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aeffd971d342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e1142c34514368" /><Relationship Type="http://schemas.openxmlformats.org/officeDocument/2006/relationships/notesMaster" Target="/ppt/notesMasters/notesMaster1.xml" Id="Raab03b66805c48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40e8c7d47e42ef" /><Relationship Type="http://schemas.openxmlformats.org/officeDocument/2006/relationships/notesMaster" Target="/ppt/notesMasters/notesMaster1.xml" Id="R3b17d3762aca4a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84190b84dd4170" /><Relationship Type="http://schemas.openxmlformats.org/officeDocument/2006/relationships/notesMaster" Target="/ppt/notesMasters/notesMaster1.xml" Id="Rdc18d46548c341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e74722da854edb" /><Relationship Type="http://schemas.openxmlformats.org/officeDocument/2006/relationships/notesMaster" Target="/ppt/notesMasters/notesMaster1.xml" Id="R5cc24e12151844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101ac765e14896" /><Relationship Type="http://schemas.openxmlformats.org/officeDocument/2006/relationships/notesMaster" Target="/ppt/notesMasters/notesMaster1.xml" Id="Rb599409bfbdb4e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5d2d247dcf4206" /><Relationship Type="http://schemas.openxmlformats.org/officeDocument/2006/relationships/notesMaster" Target="/ppt/notesMasters/notesMaster1.xml" Id="R662ce577c60349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d62d71f3974cf2" /><Relationship Type="http://schemas.openxmlformats.org/officeDocument/2006/relationships/notesMaster" Target="/ppt/notesMasters/notesMaster1.xml" Id="Rb69f2aaf4ab349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dd2d247fa64849" /><Relationship Type="http://schemas.openxmlformats.org/officeDocument/2006/relationships/notesMaster" Target="/ppt/notesMasters/notesMaster1.xml" Id="R104dcdeee51a46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D44 — X2a evidence summary.</a:t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Project\Time-Series-Modeling-Gen5\runs\research_workbench\gen54_ml_decision_engine\g54_xs_x2a_20260726\x2a_report.md</a:t>
            </a:r>
          </a:p>
          <a:p xmlns:a="http://schemas.openxmlformats.org/drawingml/2006/main">
            <a:r>
              <a:t>- C:\Users\Franc\OneDrive\Documents\Francis\Peltata Project\Time-Series-Modeling-Gen5\docs\GEN5_4_CROSS_SECTIONAL_X2A_LINEAR_RANKER_CONTRACT.md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D43 — Freeze the smallest serious ranking model.</a:t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Project\Time-Series-Modeling-Gen5\docs\GEN5_4_CROSS_SECTIONAL_X2A_LINEAR_RANKER_CONTRACT.md</a:t>
            </a:r>
          </a:p>
          <a:p xmlns:a="http://schemas.openxmlformats.org/drawingml/2006/main">
            <a:r>
              <a:t>- C:\Users\Franc\OneDrive\Documents\Francis\Peltata Project\Time-Series-Modeling-Gen5\runs\research_workbench\gen54_ml_decision_engine\g54_xs_x2a_20260726\x2a_run_spec.csv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D43 — Timing and label-purge contract.</a:t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Project\Time-Series-Modeling-Gen5\runs\research_workbench\gen54_ml_decision_engine\g54_xs_x2a_20260726\x2a_leakage_audit.csv</a:t>
            </a:r>
          </a:p>
          <a:p xmlns:a="http://schemas.openxmlformats.org/drawingml/2006/main">
            <a:r>
              <a:t>- C:\Users\Franc\OneDrive\Documents\Francis\Peltata Project\Time-Series-Modeling-Gen5\runs\research_workbench\gen54_ml_decision_engine\g54_xs_x2a_20260726\x2a_fold_spec.csv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D43 — Frozen competitors and conservative comparator hurdle.</a:t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Project\Time-Series-Modeling-Gen5\docs\GEN5_4_CROSS_SECTIONAL_X2A_LINEAR_RANKER_CONTRACT.md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D44 — The model did not transport.</a:t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Project\Time-Series-Modeling-Gen5\runs\research_workbench\gen54_ml_decision_engine\g54_xs_x2a_20260726\x2a_fold_summary.csv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Project\Time-Series-Modeling-Gen5\runs\research_workbench\gen54_ml_decision_engine\g54_xs_x2a_20260726\x2a_method_summary.csv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Project\Time-Series-Modeling-Gen5\runs\research_workbench\gen54_ml_decision_engine\g54_xs_x2a_20260726\visuals\x2a_fold_rank_ic.png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D44 — Coefficient signs changed across TRAIN windows; concentration gates still passed.</a:t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Project\Time-Series-Modeling-Gen5\runs\research_workbench\gen54_ml_decision_engine\g54_xs_x2a_20260726\x2a_fold_coefficients.csv</a:t>
            </a:r>
          </a:p>
          <a:p xmlns:a="http://schemas.openxmlformats.org/drawingml/2006/main">
            <a:r>
              <a:t>- C:\Users\Franc\OneDrive\Documents\Francis\Peltata Project\Time-Series-Modeling-Gen5\runs\research_workbench\gen54_ml_decision_engine\g54_xs_x2a_20260726\x2a_gate_audit.csv</a:t>
            </a:r>
          </a:p>
          <a:p xmlns:a="http://schemas.openxmlformats.org/drawingml/2006/main">
            <a:r>
              <a:t>- C:\Users\Franc\OneDrive\Documents\Francis\Peltata Project\Time-Series-Modeling-Gen5\runs\research_workbench\gen54_ml_decision_engine\g54_xs_x2a_20260726\visuals\x2a_coefficients.png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D44 — Representative diagnostic tapes; not portfolio evidence.</a:t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Project\Time-Series-Modeling-Gen5\runs\research_workbench\gen54_ml_decision_engine\g54_xs_x2a_20260726\x2a_representative_ranking_tapes.csv</a:t>
            </a:r>
          </a:p>
          <a:p xmlns:a="http://schemas.openxmlformats.org/drawingml/2006/main">
            <a:r>
              <a:t>- C:\Users\Franc\OneDrive\Documents\Francis\Peltata Project\Time-Series-Modeling-Gen5\runs\research_workbench\gen54_ml_decision_engine\g54_xs_x2a_20260726\visuals\x2a_representative_ranking_tapes.png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D44 — Final stop state and next theory boundary.</a:t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Project\Time-Series-Modeling-Gen5\runs\research_workbench\gen54_ml_decision_engine\g54_xs_x2a_20260726\x2a_gate_audit.csv</a:t>
            </a:r>
          </a:p>
          <a:p xmlns:a="http://schemas.openxmlformats.org/drawingml/2006/main">
            <a:r>
              <a:t>- C:\Users\Franc\OneDrive\Documents\Francis\Peltata Project\Time-Series-Modeling-Gen5\runs\research_workbench\gen54_ml_decision_engine\g54_xs_x2a_20260726\x2a_report.md</a:t>
            </a:r>
          </a:p>
          <a:p xmlns:a="http://schemas.openxmlformats.org/drawingml/2006/main">
            <a:r>
              <a:t>- C:\Users\Franc\OneDrive\Documents\Francis\Peltata Project\Time-Series-Modeling-Gen5\docs\GEN5_4_DECISION_DIALOGUE_INDEX.md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94674071d74e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227b08c93c4bb5" /><Relationship Type="http://schemas.openxmlformats.org/officeDocument/2006/relationships/slideLayout" Target="/ppt/slideLayouts/slideLayout1.xml" Id="R01ab2bb0318d4d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b2bb0318d4d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f7558a5a54e87" /><Relationship Type="http://schemas.openxmlformats.org/officeDocument/2006/relationships/notesSlide" Target="/ppt/notesSlides/notesSlide1.xml" Id="Rf332250f1a474d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3c6593582487b" /><Relationship Type="http://schemas.openxmlformats.org/officeDocument/2006/relationships/notesSlide" Target="/ppt/notesSlides/notesSlide2.xml" Id="Rf260d66123bb44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be2269f114c10" /><Relationship Type="http://schemas.openxmlformats.org/officeDocument/2006/relationships/notesSlide" Target="/ppt/notesSlides/notesSlide3.xml" Id="R9298c56b64644f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4dcc8404c4b09" /><Relationship Type="http://schemas.openxmlformats.org/officeDocument/2006/relationships/notesSlide" Target="/ppt/notesSlides/notesSlide4.xml" Id="R15dc7fd4669b41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aeccf57714f25" /><Relationship Type="http://schemas.openxmlformats.org/officeDocument/2006/relationships/image" Target="/ppt/media/image.png" Id="Re0051b4c202a4616" /><Relationship Type="http://schemas.openxmlformats.org/officeDocument/2006/relationships/notesSlide" Target="/ppt/notesSlides/notesSlide5.xml" Id="Rff820424a36342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854e39bd14f22" /><Relationship Type="http://schemas.openxmlformats.org/officeDocument/2006/relationships/image" Target="/ppt/media/image2.png" Id="R676ef912c34e4c0f" /><Relationship Type="http://schemas.openxmlformats.org/officeDocument/2006/relationships/notesSlide" Target="/ppt/notesSlides/notesSlide6.xml" Id="Rd13f1807a1f141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c74571a204a52" /><Relationship Type="http://schemas.openxmlformats.org/officeDocument/2006/relationships/image" Target="/ppt/media/image3.png" Id="Rdfc92b4900f440fb" /><Relationship Type="http://schemas.openxmlformats.org/officeDocument/2006/relationships/notesSlide" Target="/ppt/notesSlides/notesSlide7.xml" Id="R719613d959d74b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99e6990eb4829" /><Relationship Type="http://schemas.openxmlformats.org/officeDocument/2006/relationships/notesSlide" Target="/ppt/notesSlides/notesSlide8.xml" Id="R84c0e68e273440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9DE6084-AB82-4C76-808B-0E8832A4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GEN5.4 • CROSS-SECTIONAL RANKING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3C1377C-5AD6-47F8-ADB8-5D03EA1F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9906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two-feature</a:t>
            </a:r>
          </a:p>
          <a:p xmlns:a="http://schemas.openxmlformats.org/drawingml/2006/main">
            <a:pPr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linear ranker failed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F645E82-E741-4F97-8EDC-2D1F88DB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6250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Leakage-safe confirmation • 2025Q1–2026Q2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682D2-6AA5-471C-891C-E4718995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11410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94661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2">
            <a:extLst xmlns:a="http://schemas.openxmlformats.org/drawingml/2006/main">
              <a:ext uri="{FF2B5EF4-FFF2-40B4-BE49-F238E27FC236}">
                <a16:creationId xmlns:a16="http://schemas.microsoft.com/office/drawing/2014/main" id="{B3B7A743-1540-47CA-BB7F-9745C786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test was deliberately smaller than a trading system</a:t>
            </a:r>
          </a:p>
        </p:txBody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34F0D8E7-C25E-472A-B69D-B1E85FF9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57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GEN5.4 • X2a CONFIRMATION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BF92E-3D52-41F0-89E8-E677E31B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C3F0C783-A864-4642-AC66-8525CE1B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961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count-0">
            <a:extLst xmlns:a="http://schemas.openxmlformats.org/drawingml/2006/main">
              <a:ext uri="{FF2B5EF4-FFF2-40B4-BE49-F238E27FC236}">
                <a16:creationId xmlns:a16="http://schemas.microsoft.com/office/drawing/2014/main" id="{09C49B3D-AE62-4323-B0D9-2E793085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label-0">
            <a:extLst xmlns:a="http://schemas.openxmlformats.org/drawingml/2006/main">
              <a:ext uri="{FF2B5EF4-FFF2-40B4-BE49-F238E27FC236}">
                <a16:creationId xmlns:a16="http://schemas.microsoft.com/office/drawing/2014/main" id="{24CC987F-1510-4EC6-832F-00597296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289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predictive inputs</a:t>
            </a:r>
          </a:p>
        </p:txBody>
      </p:sp>
      <p:sp>
        <p:nvSpPr>
          <p:cNvPr id="7" name="body-0">
            <a:extLst xmlns:a="http://schemas.openxmlformats.org/drawingml/2006/main">
              <a:ext uri="{FF2B5EF4-FFF2-40B4-BE49-F238E27FC236}">
                <a16:creationId xmlns:a16="http://schemas.microsoft.com/office/drawing/2014/main" id="{BBB52A2F-864F-4C62-97DD-387A8EEB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7187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9616D"/>
                </a:solidFill>
                <a:latin typeface="Arial"/>
                <a:ea typeface="Arial"/>
                <a:cs typeface="Arial"/>
              </a:rPr>
              <a:t>Only the two previously admitted OHLCV ranks entered the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341F7-0FCF-49F7-895A-0DBAE4E8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52625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count-1">
            <a:extLst xmlns:a="http://schemas.openxmlformats.org/drawingml/2006/main">
              <a:ext uri="{FF2B5EF4-FFF2-40B4-BE49-F238E27FC236}">
                <a16:creationId xmlns:a16="http://schemas.microsoft.com/office/drawing/2014/main" id="{94F0919D-2CFF-4798-9650-8A7EB488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1962150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" name="label-1">
            <a:extLst xmlns:a="http://schemas.openxmlformats.org/drawingml/2006/main">
              <a:ext uri="{FF2B5EF4-FFF2-40B4-BE49-F238E27FC236}">
                <a16:creationId xmlns:a16="http://schemas.microsoft.com/office/drawing/2014/main" id="{87FC75A6-EFD7-4EDE-8816-53B744F7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0289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quarterly folds</a:t>
            </a:r>
          </a:p>
        </p:txBody>
      </p:sp>
      <p:sp>
        <p:nvSpPr>
          <p:cNvPr id="11" name="body-1">
            <a:extLst xmlns:a="http://schemas.openxmlformats.org/drawingml/2006/main">
              <a:ext uri="{FF2B5EF4-FFF2-40B4-BE49-F238E27FC236}">
                <a16:creationId xmlns:a16="http://schemas.microsoft.com/office/drawing/2014/main" id="{0B954279-C159-4FAF-9262-A578CAD9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57187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9616D"/>
                </a:solidFill>
                <a:latin typeface="Arial"/>
                <a:ea typeface="Arial"/>
                <a:cs typeface="Arial"/>
              </a:rPr>
              <a:t>Each OOS quarter used the preceding eight quarters for TRAIN.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0E25B-3877-46AB-AD5B-9C822486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088" y="1952625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count-2">
            <a:extLst xmlns:a="http://schemas.openxmlformats.org/drawingml/2006/main">
              <a:ext uri="{FF2B5EF4-FFF2-40B4-BE49-F238E27FC236}">
                <a16:creationId xmlns:a16="http://schemas.microsoft.com/office/drawing/2014/main" id="{24B1B5EB-D667-4A8E-B401-6F8FDDBC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2150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label-2">
            <a:extLst xmlns:a="http://schemas.openxmlformats.org/drawingml/2006/main">
              <a:ext uri="{FF2B5EF4-FFF2-40B4-BE49-F238E27FC236}">
                <a16:creationId xmlns:a16="http://schemas.microsoft.com/office/drawing/2014/main" id="{A53D5B39-70DE-4F99-81A4-23C4272E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portfolio outputs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ADDF598E-91DC-4957-9CE0-AE1A45B1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7187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9616D"/>
                </a:solidFill>
                <a:latin typeface="Arial"/>
                <a:ea typeface="Arial"/>
                <a:cs typeface="Arial"/>
              </a:rPr>
              <a:t>No PnL, exposure, costs, allocation, or live behavior was computed.</a:t>
            </a:r>
          </a:p>
        </p:txBody>
      </p:sp>
    </p:spTree>
    <p:extLst>
      <p:ext uri="{BB962C8B-B14F-4D97-AF65-F5344CB8AC3E}">
        <p14:creationId xmlns:p14="http://schemas.microsoft.com/office/powerpoint/2010/main" val="538635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-3">
            <a:extLst xmlns:a="http://schemas.openxmlformats.org/drawingml/2006/main">
              <a:ext uri="{FF2B5EF4-FFF2-40B4-BE49-F238E27FC236}">
                <a16:creationId xmlns:a16="http://schemas.microsoft.com/office/drawing/2014/main" id="{ED88202F-3E7E-417F-8B28-06B37BEB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prediction respects the next-open boundary</a:t>
            </a:r>
          </a:p>
        </p:txBody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101C94ED-FC23-4E4C-881D-452FF3DC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57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GEN5.4 • X2a CONFIRMATION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D11BD-747E-4F0F-92D3-CA8A3F4A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C752539A-3E51-4A5F-AEB2-9BA4AA4A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961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74236-9418-4046-962E-BF178B15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9CB3A-8A81-49B2-9B04-6919B471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ime-0">
            <a:extLst xmlns:a="http://schemas.openxmlformats.org/drawingml/2006/main">
              <a:ext uri="{FF2B5EF4-FFF2-40B4-BE49-F238E27FC236}">
                <a16:creationId xmlns:a16="http://schemas.microsoft.com/office/drawing/2014/main" id="{E9F6D575-83B4-4E67-8755-28B1A05B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431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Close t</a:t>
            </a:r>
          </a:p>
        </p:txBody>
      </p:sp>
      <p:sp>
        <p:nvSpPr>
          <p:cNvPr id="8" name="time-body-0">
            <a:extLst xmlns:a="http://schemas.openxmlformats.org/drawingml/2006/main">
              <a:ext uri="{FF2B5EF4-FFF2-40B4-BE49-F238E27FC236}">
                <a16:creationId xmlns:a16="http://schemas.microsoft.com/office/drawing/2014/main" id="{FEA73CCE-897B-44F5-B7FF-E111B154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3337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9616D"/>
                </a:solidFill>
                <a:latin typeface="Arial"/>
                <a:ea typeface="Arial"/>
                <a:cs typeface="Arial"/>
              </a:rPr>
              <a:t>Features frozen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86DDD-89D3-4FE1-B8EE-7397B049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38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time-1">
            <a:extLst xmlns:a="http://schemas.openxmlformats.org/drawingml/2006/main">
              <a:ext uri="{FF2B5EF4-FFF2-40B4-BE49-F238E27FC236}">
                <a16:creationId xmlns:a16="http://schemas.microsoft.com/office/drawing/2014/main" id="{8A178EC7-8E2D-4F98-A835-4B8B5FEF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431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 t+1</a:t>
            </a:r>
          </a:p>
        </p:txBody>
      </p:sp>
      <p:sp>
        <p:nvSpPr>
          <p:cNvPr id="11" name="time-body-1">
            <a:extLst xmlns:a="http://schemas.openxmlformats.org/drawingml/2006/main">
              <a:ext uri="{FF2B5EF4-FFF2-40B4-BE49-F238E27FC236}">
                <a16:creationId xmlns:a16="http://schemas.microsoft.com/office/drawing/2014/main" id="{0BBB2CAB-FF37-49E0-94C1-E9CD6D57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9616D"/>
                </a:solidFill>
                <a:latin typeface="Arial"/>
                <a:ea typeface="Arial"/>
                <a:cs typeface="Arial"/>
              </a:rPr>
              <a:t>Hypothetical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DEBA9-BBA9-4F05-8EF2-877B65BE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time-2">
            <a:extLst xmlns:a="http://schemas.openxmlformats.org/drawingml/2006/main">
              <a:ext uri="{FF2B5EF4-FFF2-40B4-BE49-F238E27FC236}">
                <a16:creationId xmlns:a16="http://schemas.microsoft.com/office/drawing/2014/main" id="{C9A94EA2-E5DC-450B-80F7-D000A2B6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431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 t+6</a:t>
            </a:r>
          </a:p>
        </p:txBody>
      </p:sp>
      <p:sp>
        <p:nvSpPr>
          <p:cNvPr id="14" name="time-body-2">
            <a:extLst xmlns:a="http://schemas.openxmlformats.org/drawingml/2006/main">
              <a:ext uri="{FF2B5EF4-FFF2-40B4-BE49-F238E27FC236}">
                <a16:creationId xmlns:a16="http://schemas.microsoft.com/office/drawing/2014/main" id="{1933E731-8026-4B06-874B-44D6B52B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337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9616D"/>
                </a:solidFill>
                <a:latin typeface="Arial"/>
                <a:ea typeface="Arial"/>
                <a:cs typeface="Arial"/>
              </a:rPr>
              <a:t>Relative h5 label ends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8749C-9686-4AB8-BF37-7ACF1CD3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38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6" name="time-3">
            <a:extLst xmlns:a="http://schemas.openxmlformats.org/drawingml/2006/main">
              <a:ext uri="{FF2B5EF4-FFF2-40B4-BE49-F238E27FC236}">
                <a16:creationId xmlns:a16="http://schemas.microsoft.com/office/drawing/2014/main" id="{B0B3B754-50C5-4A8C-BB8D-23490831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431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Quarter edge</a:t>
            </a:r>
          </a:p>
        </p:txBody>
      </p:sp>
      <p:sp>
        <p:nvSpPr>
          <p:cNvPr id="17" name="time-body-3">
            <a:extLst xmlns:a="http://schemas.openxmlformats.org/drawingml/2006/main">
              <a:ext uri="{FF2B5EF4-FFF2-40B4-BE49-F238E27FC236}">
                <a16:creationId xmlns:a16="http://schemas.microsoft.com/office/drawing/2014/main" id="{70FE75DC-7634-4C84-BAD2-C26BE52F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37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9616D"/>
                </a:solidFill>
                <a:latin typeface="Arial"/>
                <a:ea typeface="Arial"/>
                <a:cs typeface="Arial"/>
              </a:rPr>
              <a:t>Crossing labels excluded</a:t>
            </a:r>
          </a:p>
        </p:txBody>
      </p:sp>
      <p:sp>
        <p:nvSpPr>
          <p:cNvPr id="18" name="metric-all integrity and leakage checks">
            <a:extLst xmlns:a="http://schemas.openxmlformats.org/drawingml/2006/main">
              <a:ext uri="{FF2B5EF4-FFF2-40B4-BE49-F238E27FC236}">
                <a16:creationId xmlns:a16="http://schemas.microsoft.com/office/drawing/2014/main" id="{9D46488E-BE59-48A9-A571-44E3B8C4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9" name="metric-value-all integrity and leakage checks">
            <a:extLst xmlns:a="http://schemas.openxmlformats.org/drawingml/2006/main">
              <a:ext uri="{FF2B5EF4-FFF2-40B4-BE49-F238E27FC236}">
                <a16:creationId xmlns:a16="http://schemas.microsoft.com/office/drawing/2014/main" id="{961958FD-0A95-427F-84A8-7E199BF5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0" name="metric-label-all integrity and leakage checks">
            <a:extLst xmlns:a="http://schemas.openxmlformats.org/drawingml/2006/main">
              <a:ext uri="{FF2B5EF4-FFF2-40B4-BE49-F238E27FC236}">
                <a16:creationId xmlns:a16="http://schemas.microsoft.com/office/drawing/2014/main" id="{10D86ED1-B4D9-4056-B6D8-BD5BF576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9616D"/>
                </a:solidFill>
                <a:latin typeface="Arial"/>
                <a:ea typeface="Arial"/>
                <a:cs typeface="Arial"/>
              </a:rPr>
              <a:t>all integrity and leakage checks</a:t>
            </a:r>
          </a:p>
        </p:txBody>
      </p:sp>
      <p:sp>
        <p:nvSpPr>
          <p:cNvPr id="21" name="metric-six independent model fits">
            <a:extLst xmlns:a="http://schemas.openxmlformats.org/drawingml/2006/main">
              <a:ext uri="{FF2B5EF4-FFF2-40B4-BE49-F238E27FC236}">
                <a16:creationId xmlns:a16="http://schemas.microsoft.com/office/drawing/2014/main" id="{1DA0CCB0-5CD6-4AD8-93A7-DF798336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4820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2" name="metric-value-six independent model fits">
            <a:extLst xmlns:a="http://schemas.openxmlformats.org/drawingml/2006/main">
              <a:ext uri="{FF2B5EF4-FFF2-40B4-BE49-F238E27FC236}">
                <a16:creationId xmlns:a16="http://schemas.microsoft.com/office/drawing/2014/main" id="{539D03CD-D964-4ADC-BA74-4BA6910D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96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TRAIN only</a:t>
            </a:r>
          </a:p>
        </p:txBody>
      </p:sp>
      <p:sp>
        <p:nvSpPr>
          <p:cNvPr id="23" name="metric-label-six independent model fits">
            <a:extLst xmlns:a="http://schemas.openxmlformats.org/drawingml/2006/main">
              <a:ext uri="{FF2B5EF4-FFF2-40B4-BE49-F238E27FC236}">
                <a16:creationId xmlns:a16="http://schemas.microsoft.com/office/drawing/2014/main" id="{6FA893A2-55CD-4EEC-A47B-2C9C086C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81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9616D"/>
                </a:solidFill>
                <a:latin typeface="Arial"/>
                <a:ea typeface="Arial"/>
                <a:cs typeface="Arial"/>
              </a:rPr>
              <a:t>six independent model fits</a:t>
            </a:r>
          </a:p>
        </p:txBody>
      </p:sp>
      <p:sp>
        <p:nvSpPr>
          <p:cNvPr id="24" name="metric-OOS predictions ranked cross-sectionally">
            <a:extLst xmlns:a="http://schemas.openxmlformats.org/drawingml/2006/main">
              <a:ext uri="{FF2B5EF4-FFF2-40B4-BE49-F238E27FC236}">
                <a16:creationId xmlns:a16="http://schemas.microsoft.com/office/drawing/2014/main" id="{280B1B63-1CA2-4DFF-9D62-563D90C9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5" name="metric-value-OOS predictions ranked cross-sectionally">
            <a:extLst xmlns:a="http://schemas.openxmlformats.org/drawingml/2006/main">
              <a:ext uri="{FF2B5EF4-FFF2-40B4-BE49-F238E27FC236}">
                <a16:creationId xmlns:a16="http://schemas.microsoft.com/office/drawing/2014/main" id="{5E2AF5C6-4095-41C9-98C8-DA16EC12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196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Same date</a:t>
            </a:r>
          </a:p>
        </p:txBody>
      </p:sp>
      <p:sp>
        <p:nvSpPr>
          <p:cNvPr id="26" name="metric-label-OOS predictions ranked cross-sectionally">
            <a:extLst xmlns:a="http://schemas.openxmlformats.org/drawingml/2006/main">
              <a:ext uri="{FF2B5EF4-FFF2-40B4-BE49-F238E27FC236}">
                <a16:creationId xmlns:a16="http://schemas.microsoft.com/office/drawing/2014/main" id="{E786B7C0-4424-44EF-AD30-06084563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81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9616D"/>
                </a:solidFill>
                <a:latin typeface="Arial"/>
                <a:ea typeface="Arial"/>
                <a:cs typeface="Arial"/>
              </a:rPr>
              <a:t>OOS predictions ranked cross-sectionally</a:t>
            </a:r>
          </a:p>
        </p:txBody>
      </p:sp>
    </p:spTree>
    <p:extLst>
      <p:ext uri="{BB962C8B-B14F-4D97-AF65-F5344CB8AC3E}">
        <p14:creationId xmlns:p14="http://schemas.microsoft.com/office/powerpoint/2010/main" val="18618626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4">
            <a:extLst xmlns:a="http://schemas.openxmlformats.org/drawingml/2006/main">
              <a:ext uri="{FF2B5EF4-FFF2-40B4-BE49-F238E27FC236}">
                <a16:creationId xmlns:a16="http://schemas.microsoft.com/office/drawing/2014/main" id="{A33BCBB1-C383-43B6-83EF-F6CA105F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 frozen competitors faced one conservative hurdle</a:t>
            </a:r>
          </a:p>
        </p:txBody>
      </p:sp>
      <p:sp>
        <p:nvSpPr>
          <p:cNvPr id="2" name="eyebrow-4">
            <a:extLst xmlns:a="http://schemas.openxmlformats.org/drawingml/2006/main">
              <a:ext uri="{FF2B5EF4-FFF2-40B4-BE49-F238E27FC236}">
                <a16:creationId xmlns:a16="http://schemas.microsoft.com/office/drawing/2014/main" id="{14BCE4A9-829B-461A-B78B-942152F0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57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GEN5.4 • X2a CONFIRMATION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A57B1-C811-4A18-A680-AD15E553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7F1BD05E-C385-40E5-B4E9-59B32468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961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method-id-0">
            <a:extLst xmlns:a="http://schemas.openxmlformats.org/drawingml/2006/main">
              <a:ext uri="{FF2B5EF4-FFF2-40B4-BE49-F238E27FC236}">
                <a16:creationId xmlns:a16="http://schemas.microsoft.com/office/drawing/2014/main" id="{2F883297-B3E4-4278-9B32-CBAA911A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method-name-0">
            <a:extLst xmlns:a="http://schemas.openxmlformats.org/drawingml/2006/main">
              <a:ext uri="{FF2B5EF4-FFF2-40B4-BE49-F238E27FC236}">
                <a16:creationId xmlns:a16="http://schemas.microsoft.com/office/drawing/2014/main" id="{39DC1557-21FF-4DF5-9901-57490258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289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Group momentum</a:t>
            </a:r>
          </a:p>
        </p:txBody>
      </p:sp>
      <p:sp>
        <p:nvSpPr>
          <p:cNvPr id="7" name="method-desc-0">
            <a:extLst xmlns:a="http://schemas.openxmlformats.org/drawingml/2006/main">
              <a:ext uri="{FF2B5EF4-FFF2-40B4-BE49-F238E27FC236}">
                <a16:creationId xmlns:a16="http://schemas.microsoft.com/office/drawing/2014/main" id="{1F2840FB-A5CB-4836-B714-07B09034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0"/>
            <a:ext cx="2428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9616D"/>
                </a:solidFill>
                <a:latin typeface="Arial"/>
                <a:ea typeface="Arial"/>
                <a:cs typeface="Arial"/>
              </a:rPr>
              <a:t>Raw group-relative 20-session rank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D4BF7-8100-4166-9558-7E82CCCA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81550"/>
            <a:ext cx="2428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method-id-1">
            <a:extLst xmlns:a="http://schemas.openxmlformats.org/drawingml/2006/main">
              <a:ext uri="{FF2B5EF4-FFF2-40B4-BE49-F238E27FC236}">
                <a16:creationId xmlns:a16="http://schemas.microsoft.com/office/drawing/2014/main" id="{EC6D73D1-7BB3-4A50-8ED5-589FC7B7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180975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" name="method-name-1">
            <a:extLst xmlns:a="http://schemas.openxmlformats.org/drawingml/2006/main">
              <a:ext uri="{FF2B5EF4-FFF2-40B4-BE49-F238E27FC236}">
                <a16:creationId xmlns:a16="http://schemas.microsoft.com/office/drawing/2014/main" id="{D65FCEEB-3BD4-48EE-8D70-7B70E8FB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26289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Intraday structure</a:t>
            </a:r>
          </a:p>
        </p:txBody>
      </p:sp>
      <p:sp>
        <p:nvSpPr>
          <p:cNvPr id="11" name="method-desc-1">
            <a:extLst xmlns:a="http://schemas.openxmlformats.org/drawingml/2006/main">
              <a:ext uri="{FF2B5EF4-FFF2-40B4-BE49-F238E27FC236}">
                <a16:creationId xmlns:a16="http://schemas.microsoft.com/office/drawing/2014/main" id="{9F968971-7031-483F-B719-7C09FC86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3429000"/>
            <a:ext cx="2428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9616D"/>
                </a:solidFill>
                <a:latin typeface="Arial"/>
                <a:ea typeface="Arial"/>
                <a:cs typeface="Arial"/>
              </a:rPr>
              <a:t>Raw intraday-minus-overnight rank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43195-A1ED-45C5-A9EB-BF0BD883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4781550"/>
            <a:ext cx="2428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method-id-2">
            <a:extLst xmlns:a="http://schemas.openxmlformats.org/drawingml/2006/main">
              <a:ext uri="{FF2B5EF4-FFF2-40B4-BE49-F238E27FC236}">
                <a16:creationId xmlns:a16="http://schemas.microsoft.com/office/drawing/2014/main" id="{CE19B39F-6CB6-41E3-BB03-91A7CB04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method-name-2">
            <a:extLst xmlns:a="http://schemas.openxmlformats.org/drawingml/2006/main">
              <a:ext uri="{FF2B5EF4-FFF2-40B4-BE49-F238E27FC236}">
                <a16:creationId xmlns:a16="http://schemas.microsoft.com/office/drawing/2014/main" id="{2391BB30-7AB3-4B76-8C52-E7C439F4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composite</a:t>
            </a:r>
          </a:p>
        </p:txBody>
      </p:sp>
      <p:sp>
        <p:nvSpPr>
          <p:cNvPr id="15" name="method-desc-2">
            <a:extLst xmlns:a="http://schemas.openxmlformats.org/drawingml/2006/main">
              <a:ext uri="{FF2B5EF4-FFF2-40B4-BE49-F238E27FC236}">
                <a16:creationId xmlns:a16="http://schemas.microsoft.com/office/drawing/2014/main" id="{26B11482-F4FC-4E47-9020-9980BA75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2428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9616D"/>
                </a:solidFill>
                <a:latin typeface="Arial"/>
                <a:ea typeface="Arial"/>
                <a:cs typeface="Arial"/>
              </a:rPr>
              <a:t>Transparent 50/50 average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7388D-B6E6-4B7D-B587-DAB46A16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81550"/>
            <a:ext cx="2428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method-id-3">
            <a:extLst xmlns:a="http://schemas.openxmlformats.org/drawingml/2006/main">
              <a:ext uri="{FF2B5EF4-FFF2-40B4-BE49-F238E27FC236}">
                <a16:creationId xmlns:a16="http://schemas.microsoft.com/office/drawing/2014/main" id="{FC1EAF37-F33E-4DEA-B1EF-651593CA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180975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method-name-3">
            <a:extLst xmlns:a="http://schemas.openxmlformats.org/drawingml/2006/main">
              <a:ext uri="{FF2B5EF4-FFF2-40B4-BE49-F238E27FC236}">
                <a16:creationId xmlns:a16="http://schemas.microsoft.com/office/drawing/2014/main" id="{AB74890A-A228-4F55-94C5-C44748B5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6289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Linear ranker</a:t>
            </a:r>
          </a:p>
        </p:txBody>
      </p:sp>
      <p:sp>
        <p:nvSpPr>
          <p:cNvPr id="19" name="method-desc-3">
            <a:extLst xmlns:a="http://schemas.openxmlformats.org/drawingml/2006/main">
              <a:ext uri="{FF2B5EF4-FFF2-40B4-BE49-F238E27FC236}">
                <a16:creationId xmlns:a16="http://schemas.microsoft.com/office/drawing/2014/main" id="{E4D1136E-B399-45D0-A1DD-04692773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3429000"/>
            <a:ext cx="2428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9616D"/>
                </a:solidFill>
                <a:latin typeface="Arial"/>
                <a:ea typeface="Arial"/>
                <a:cs typeface="Arial"/>
              </a:rPr>
              <a:t>OLS intercept + two main effects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A611B4-47E1-48B8-9E33-644F35F7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4781550"/>
            <a:ext cx="2428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hurdle">
            <a:extLst xmlns:a="http://schemas.openxmlformats.org/drawingml/2006/main">
              <a:ext uri="{FF2B5EF4-FFF2-40B4-BE49-F238E27FC236}">
                <a16:creationId xmlns:a16="http://schemas.microsoft.com/office/drawing/2014/main" id="{BB371DD2-1F17-4205-8F60-104CEAAF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0"/>
            <a:ext cx="11410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22" name="hurdle-text">
            <a:extLst xmlns:a="http://schemas.openxmlformats.org/drawingml/2006/main">
              <a:ext uri="{FF2B5EF4-FFF2-40B4-BE49-F238E27FC236}">
                <a16:creationId xmlns:a16="http://schemas.microsoft.com/office/drawing/2014/main" id="{A1EFA89F-65F2-4799-89C2-E6AF0D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Promotion required ≥0.005 mean IC lift over the best of A, B, and C—not merely a positive model result.</a:t>
            </a:r>
          </a:p>
        </p:txBody>
      </p:sp>
    </p:spTree>
    <p:extLst>
      <p:ext uri="{BB962C8B-B14F-4D97-AF65-F5344CB8AC3E}">
        <p14:creationId xmlns:p14="http://schemas.microsoft.com/office/powerpoint/2010/main" val="12136089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5">
            <a:extLst xmlns:a="http://schemas.openxmlformats.org/drawingml/2006/main">
              <a:ext uri="{FF2B5EF4-FFF2-40B4-BE49-F238E27FC236}">
                <a16:creationId xmlns:a16="http://schemas.microsoft.com/office/drawing/2014/main" id="{66A97FAD-9201-447B-ADA1-AEB3F78D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trained model failed five of six confirmation quarters</a:t>
            </a:r>
          </a:p>
        </p:txBody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474E288D-18AD-485D-ABBB-2C26013F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57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GEN5.4 • X2a CONFIRMATION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074B7-150E-4C08-AA9A-04F862C2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9565E30F-9922-4F8D-9165-2AD7F63A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9616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51b4c202a4616"/>
          <a:stretch xmlns:a="http://schemas.openxmlformats.org/drawingml/2006/main"/>
        </p:blipFill>
        <p:spPr>
          <a:xfrm xmlns:a="http://schemas.openxmlformats.org/drawingml/2006/main">
            <a:off x="400050" y="1633273"/>
            <a:ext cx="7905750" cy="4172479"/>
          </a:xfrm>
          <a:prstGeom xmlns:a="http://schemas.openxmlformats.org/drawingml/2006/main" prst="rect">
            <a:avLst/>
          </a:prstGeom>
        </p:spPr>
      </p:pic>
      <p:sp>
        <p:nvSpPr>
          <p:cNvPr id="6" name="metric-linear-model mean OOS IC">
            <a:extLst xmlns:a="http://schemas.openxmlformats.org/drawingml/2006/main">
              <a:ext uri="{FF2B5EF4-FFF2-40B4-BE49-F238E27FC236}">
                <a16:creationId xmlns:a16="http://schemas.microsoft.com/office/drawing/2014/main" id="{44191753-598A-4775-B27C-714B3D89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667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metric-value-linear-model mean OOS IC">
            <a:extLst xmlns:a="http://schemas.openxmlformats.org/drawingml/2006/main">
              <a:ext uri="{FF2B5EF4-FFF2-40B4-BE49-F238E27FC236}">
                <a16:creationId xmlns:a16="http://schemas.microsoft.com/office/drawing/2014/main" id="{FD5B5C82-9CDD-4CB4-87C0-CF0756F2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812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−0.0485</a:t>
            </a:r>
          </a:p>
        </p:txBody>
      </p:sp>
      <p:sp>
        <p:nvSpPr>
          <p:cNvPr id="8" name="metric-label-linear-model mean OOS IC">
            <a:extLst xmlns:a="http://schemas.openxmlformats.org/drawingml/2006/main">
              <a:ext uri="{FF2B5EF4-FFF2-40B4-BE49-F238E27FC236}">
                <a16:creationId xmlns:a16="http://schemas.microsoft.com/office/drawing/2014/main" id="{816D7CD7-7520-4EAB-9BB6-65D2B6AB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431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9616D"/>
                </a:solidFill>
                <a:latin typeface="Arial"/>
                <a:ea typeface="Arial"/>
                <a:cs typeface="Arial"/>
              </a:rPr>
              <a:t>linear-model mean OOS IC</a:t>
            </a:r>
          </a:p>
        </p:txBody>
      </p:sp>
      <p:sp>
        <p:nvSpPr>
          <p:cNvPr id="9" name="metric-quarters with positive IC">
            <a:extLst xmlns:a="http://schemas.openxmlformats.org/drawingml/2006/main">
              <a:ext uri="{FF2B5EF4-FFF2-40B4-BE49-F238E27FC236}">
                <a16:creationId xmlns:a16="http://schemas.microsoft.com/office/drawing/2014/main" id="{2EC5206F-BD2A-4800-B0E4-A4BF5FFF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57550"/>
            <a:ext cx="2667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0" name="metric-value-quarters with positive IC">
            <a:extLst xmlns:a="http://schemas.openxmlformats.org/drawingml/2006/main">
              <a:ext uri="{FF2B5EF4-FFF2-40B4-BE49-F238E27FC236}">
                <a16:creationId xmlns:a16="http://schemas.microsoft.com/office/drawing/2014/main" id="{929B184E-F225-467F-BA4E-FEC2519E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1 / 6</a:t>
            </a:r>
          </a:p>
        </p:txBody>
      </p:sp>
      <p:sp>
        <p:nvSpPr>
          <p:cNvPr id="11" name="metric-label-quarters with positive IC">
            <a:extLst xmlns:a="http://schemas.openxmlformats.org/drawingml/2006/main">
              <a:ext uri="{FF2B5EF4-FFF2-40B4-BE49-F238E27FC236}">
                <a16:creationId xmlns:a16="http://schemas.microsoft.com/office/drawing/2014/main" id="{D6A45B2C-A3EB-4779-A0B6-0D9A787E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909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9616D"/>
                </a:solidFill>
                <a:latin typeface="Arial"/>
                <a:ea typeface="Arial"/>
                <a:cs typeface="Arial"/>
              </a:rPr>
              <a:t>quarters with positive IC</a:t>
            </a:r>
          </a:p>
        </p:txBody>
      </p:sp>
      <p:sp>
        <p:nvSpPr>
          <p:cNvPr id="12" name="metric-IC lift vs best comparator">
            <a:extLst xmlns:a="http://schemas.openxmlformats.org/drawingml/2006/main">
              <a:ext uri="{FF2B5EF4-FFF2-40B4-BE49-F238E27FC236}">
                <a16:creationId xmlns:a16="http://schemas.microsoft.com/office/drawing/2014/main" id="{D7F4A316-E0D9-4C4A-840A-26853EC9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05350"/>
            <a:ext cx="2667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metric-value-IC lift vs best comparator">
            <a:extLst xmlns:a="http://schemas.openxmlformats.org/drawingml/2006/main">
              <a:ext uri="{FF2B5EF4-FFF2-40B4-BE49-F238E27FC236}">
                <a16:creationId xmlns:a16="http://schemas.microsoft.com/office/drawing/2014/main" id="{2AB469B8-E7E0-4151-88C0-E9717E28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768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−0.0965</a:t>
            </a:r>
          </a:p>
        </p:txBody>
      </p:sp>
      <p:sp>
        <p:nvSpPr>
          <p:cNvPr id="14" name="metric-label-IC lift vs best comparator">
            <a:extLst xmlns:a="http://schemas.openxmlformats.org/drawingml/2006/main">
              <a:ext uri="{FF2B5EF4-FFF2-40B4-BE49-F238E27FC236}">
                <a16:creationId xmlns:a16="http://schemas.microsoft.com/office/drawing/2014/main" id="{F8BFC0B0-EC4D-44DC-A86F-212D1932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387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9616D"/>
                </a:solidFill>
                <a:latin typeface="Arial"/>
                <a:ea typeface="Arial"/>
                <a:cs typeface="Arial"/>
              </a:rPr>
              <a:t>IC lift vs best comparator</a:t>
            </a:r>
          </a:p>
        </p:txBody>
      </p:sp>
    </p:spTree>
    <p:extLst>
      <p:ext uri="{BB962C8B-B14F-4D97-AF65-F5344CB8AC3E}">
        <p14:creationId xmlns:p14="http://schemas.microsoft.com/office/powerpoint/2010/main" val="14313929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6">
            <a:extLst xmlns:a="http://schemas.openxmlformats.org/drawingml/2006/main">
              <a:ext uri="{FF2B5EF4-FFF2-40B4-BE49-F238E27FC236}">
                <a16:creationId xmlns:a16="http://schemas.microsoft.com/office/drawing/2014/main" id="{0A088CE4-04AA-4D54-AFA9-BB4CCAA4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learned weights did not transport</a:t>
            </a:r>
          </a:p>
        </p:txBody>
      </p:sp>
      <p:sp>
        <p:nvSpPr>
          <p:cNvPr id="2" name="eyebrow-6">
            <a:extLst xmlns:a="http://schemas.openxmlformats.org/drawingml/2006/main">
              <a:ext uri="{FF2B5EF4-FFF2-40B4-BE49-F238E27FC236}">
                <a16:creationId xmlns:a16="http://schemas.microsoft.com/office/drawing/2014/main" id="{3F3B6327-FA84-46A5-9207-8BD820A0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57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GEN5.4 • X2a CONFIRMATION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2F15E-A05C-4358-B56A-00C3B5AE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6CB5F036-6D3B-4A48-96F7-13C63055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9616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ef912c34e4c0f"/>
          <a:stretch xmlns:a="http://schemas.openxmlformats.org/drawingml/2006/main"/>
        </p:blipFill>
        <p:spPr>
          <a:xfrm xmlns:a="http://schemas.openxmlformats.org/drawingml/2006/main">
            <a:off x="390525" y="1668363"/>
            <a:ext cx="7524750" cy="3997523"/>
          </a:xfrm>
          <a:prstGeom xmlns:a="http://schemas.openxmlformats.org/drawingml/2006/main" prst="rect">
            <a:avLst/>
          </a:prstGeom>
        </p:spPr>
      </p:pic>
      <p:sp>
        <p:nvSpPr>
          <p:cNvPr id="6" name="coef-callout">
            <a:extLst xmlns:a="http://schemas.openxmlformats.org/drawingml/2006/main">
              <a:ext uri="{FF2B5EF4-FFF2-40B4-BE49-F238E27FC236}">
                <a16:creationId xmlns:a16="http://schemas.microsoft.com/office/drawing/2014/main" id="{E62B6F3F-7E24-4D00-959F-B7280D96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Both slopes changed sign</a:t>
            </a:r>
          </a:p>
        </p:txBody>
      </p:sp>
      <p:sp>
        <p:nvSpPr>
          <p:cNvPr id="7" name="coef-body">
            <a:extLst xmlns:a="http://schemas.openxmlformats.org/drawingml/2006/main">
              <a:ext uri="{FF2B5EF4-FFF2-40B4-BE49-F238E27FC236}">
                <a16:creationId xmlns:a16="http://schemas.microsoft.com/office/drawing/2014/main" id="{7DE86EEE-05AD-4F79-A670-27D82051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 model learned a moving historical relationship and then ranked the fresh quarter in the wrong direction. That is exactly the kind of instability walk-forward confirmation is meant to expose.</a:t>
            </a:r>
          </a:p>
        </p:txBody>
      </p:sp>
      <p:sp>
        <p:nvSpPr>
          <p:cNvPr id="8" name="metric-max group share (%)">
            <a:extLst xmlns:a="http://schemas.openxmlformats.org/drawingml/2006/main">
              <a:ext uri="{FF2B5EF4-FFF2-40B4-BE49-F238E27FC236}">
                <a16:creationId xmlns:a16="http://schemas.microsoft.com/office/drawing/2014/main" id="{8B060301-FFB4-4A7A-AB8F-A3F2890A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95800"/>
            <a:ext cx="1428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metric-value-max group share (%)">
            <a:extLst xmlns:a="http://schemas.openxmlformats.org/drawingml/2006/main">
              <a:ext uri="{FF2B5EF4-FFF2-40B4-BE49-F238E27FC236}">
                <a16:creationId xmlns:a16="http://schemas.microsoft.com/office/drawing/2014/main" id="{231D0BD0-A76B-41D4-BC2C-F2A6B3AB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672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35.6</a:t>
            </a:r>
          </a:p>
        </p:txBody>
      </p:sp>
      <p:sp>
        <p:nvSpPr>
          <p:cNvPr id="10" name="metric-label-max group share (%)">
            <a:extLst xmlns:a="http://schemas.openxmlformats.org/drawingml/2006/main">
              <a:ext uri="{FF2B5EF4-FFF2-40B4-BE49-F238E27FC236}">
                <a16:creationId xmlns:a16="http://schemas.microsoft.com/office/drawing/2014/main" id="{2F2CEE39-97BD-482D-A758-F0A4FA37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292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9616D"/>
                </a:solidFill>
                <a:latin typeface="Arial"/>
                <a:ea typeface="Arial"/>
                <a:cs typeface="Arial"/>
              </a:rPr>
              <a:t>max group share (%)</a:t>
            </a:r>
          </a:p>
        </p:txBody>
      </p:sp>
      <p:sp>
        <p:nvSpPr>
          <p:cNvPr id="11" name="metric-max symbol share (%)">
            <a:extLst xmlns:a="http://schemas.openxmlformats.org/drawingml/2006/main">
              <a:ext uri="{FF2B5EF4-FFF2-40B4-BE49-F238E27FC236}">
                <a16:creationId xmlns:a16="http://schemas.microsoft.com/office/drawing/2014/main" id="{4C9BA158-6BBF-48B1-A97B-322A75E9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95800"/>
            <a:ext cx="1428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metric-value-max symbol share (%)">
            <a:extLst xmlns:a="http://schemas.openxmlformats.org/drawingml/2006/main">
              <a:ext uri="{FF2B5EF4-FFF2-40B4-BE49-F238E27FC236}">
                <a16:creationId xmlns:a16="http://schemas.microsoft.com/office/drawing/2014/main" id="{5312187C-C868-464E-AC06-26EBF0E4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672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16.6</a:t>
            </a:r>
          </a:p>
        </p:txBody>
      </p:sp>
      <p:sp>
        <p:nvSpPr>
          <p:cNvPr id="13" name="metric-label-max symbol share (%)">
            <a:extLst xmlns:a="http://schemas.openxmlformats.org/drawingml/2006/main">
              <a:ext uri="{FF2B5EF4-FFF2-40B4-BE49-F238E27FC236}">
                <a16:creationId xmlns:a16="http://schemas.microsoft.com/office/drawing/2014/main" id="{9A88FD28-E59B-41A4-9606-DFFF3870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292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9616D"/>
                </a:solidFill>
                <a:latin typeface="Arial"/>
                <a:ea typeface="Arial"/>
                <a:cs typeface="Arial"/>
              </a:rPr>
              <a:t>max symbol share (%)</a:t>
            </a:r>
          </a:p>
        </p:txBody>
      </p:sp>
    </p:spTree>
    <p:extLst>
      <p:ext uri="{BB962C8B-B14F-4D97-AF65-F5344CB8AC3E}">
        <p14:creationId xmlns:p14="http://schemas.microsoft.com/office/powerpoint/2010/main" val="15923913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7">
            <a:extLst xmlns:a="http://schemas.openxmlformats.org/drawingml/2006/main">
              <a:ext uri="{FF2B5EF4-FFF2-40B4-BE49-F238E27FC236}">
                <a16:creationId xmlns:a16="http://schemas.microsoft.com/office/drawing/2014/main" id="{B2D08089-D319-4359-8E91-048B4C96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Representative tapes make the unstable ordering tangible</a:t>
            </a:r>
          </a:p>
        </p:txBody>
      </p:sp>
      <p:sp>
        <p:nvSpPr>
          <p:cNvPr id="2" name="eyebrow-7">
            <a:extLst xmlns:a="http://schemas.openxmlformats.org/drawingml/2006/main">
              <a:ext uri="{FF2B5EF4-FFF2-40B4-BE49-F238E27FC236}">
                <a16:creationId xmlns:a16="http://schemas.microsoft.com/office/drawing/2014/main" id="{06005463-168F-465B-AC38-EA163C63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57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GEN5.4 • X2a CONFIRMATION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BDCB6-E31C-4E14-AFC8-337C3609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3C1A298E-1DF2-4A73-9A6A-A2EFB73F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9616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92b4900f440fb"/>
          <a:stretch xmlns:a="http://schemas.openxmlformats.org/drawingml/2006/main"/>
        </p:blipFill>
        <p:spPr>
          <a:xfrm xmlns:a="http://schemas.openxmlformats.org/drawingml/2006/main">
            <a:off x="932656" y="1552575"/>
            <a:ext cx="7088188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tape-callout">
            <a:extLst xmlns:a="http://schemas.openxmlformats.org/drawingml/2006/main">
              <a:ext uri="{FF2B5EF4-FFF2-40B4-BE49-F238E27FC236}">
                <a16:creationId xmlns:a16="http://schemas.microsoft.com/office/drawing/2014/main" id="{DDDA6998-F943-4045-9C84-0DFD1335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2880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 each panel as a ranking diagnostic</a:t>
            </a:r>
          </a:p>
        </p:txBody>
      </p:sp>
      <p:sp>
        <p:nvSpPr>
          <p:cNvPr id="7" name="tape-body">
            <a:extLst xmlns:a="http://schemas.openxmlformats.org/drawingml/2006/main">
              <a:ext uri="{FF2B5EF4-FFF2-40B4-BE49-F238E27FC236}">
                <a16:creationId xmlns:a16="http://schemas.microsoft.com/office/drawing/2014/main" id="{3469B1A7-0B00-47C4-9277-3749AEA4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2762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9616D"/>
                </a:solidFill>
                <a:latin typeface="Arial"/>
                <a:ea typeface="Arial"/>
                <a:cs typeface="Arial"/>
              </a:rPr>
              <a:t>Bars show the later relative h5 outcome of the model’s top five on one representative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9616D"/>
                </a:solidFill>
                <a:latin typeface="Arial"/>
                <a:ea typeface="Arial"/>
                <a:cs typeface="Arial"/>
              </a:rPr>
              <a:t>They are not trades or PnL. The mix of green and red outcomes illustrates why a visually plausible score still needs cross-quarter validation.</a:t>
            </a:r>
          </a:p>
        </p:txBody>
      </p:sp>
    </p:spTree>
    <p:extLst>
      <p:ext uri="{BB962C8B-B14F-4D97-AF65-F5344CB8AC3E}">
        <p14:creationId xmlns:p14="http://schemas.microsoft.com/office/powerpoint/2010/main" val="3407611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E7035E14-070A-466F-BD2D-C3F91A8F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DECISION • D44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8CE53F4E-6426-4E86-9318-C5A27211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Stop the multivariate</a:t>
            </a:r>
          </a:p>
          <a:p xmlns:a="http://schemas.openxmlformats.org/drawingml/2006/main">
            <a:pPr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ranking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0C606-16FD-4546-B93D-F6A9BF1D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43300"/>
            <a:ext cx="11410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4" name="close-boundary">
            <a:extLst xmlns:a="http://schemas.openxmlformats.org/drawingml/2006/main">
              <a:ext uri="{FF2B5EF4-FFF2-40B4-BE49-F238E27FC236}">
                <a16:creationId xmlns:a16="http://schemas.microsoft.com/office/drawing/2014/main" id="{F74CFA24-37F9-497D-8E03-056BADAB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0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Do not rescue this result with tuned weights, interactions, regularization, nonlinear ML, or a top-five portfolio replay.</a:t>
            </a:r>
          </a:p>
        </p:txBody>
      </p:sp>
      <p:sp>
        <p:nvSpPr>
          <p:cNvPr id="5" name="next-question">
            <a:extLst xmlns:a="http://schemas.openxmlformats.org/drawingml/2006/main">
              <a:ext uri="{FF2B5EF4-FFF2-40B4-BE49-F238E27FC236}">
                <a16:creationId xmlns:a16="http://schemas.microsoft.com/office/drawing/2014/main" id="{CCD31FB4-795A-4206-9A9D-B2474C4C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47800"/>
            <a:ext cx="304800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next-header">
            <a:extLst xmlns:a="http://schemas.openxmlformats.org/drawingml/2006/main">
              <a:ext uri="{FF2B5EF4-FFF2-40B4-BE49-F238E27FC236}">
                <a16:creationId xmlns:a16="http://schemas.microsoft.com/office/drawing/2014/main" id="{82CF7431-C44F-401B-B788-FF86CD54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335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remains valid</a:t>
            </a:r>
          </a:p>
        </p:txBody>
      </p:sp>
      <p:sp>
        <p:nvSpPr>
          <p:cNvPr id="7" name="next-body">
            <a:extLst xmlns:a="http://schemas.openxmlformats.org/drawingml/2006/main">
              <a:ext uri="{FF2B5EF4-FFF2-40B4-BE49-F238E27FC236}">
                <a16:creationId xmlns:a16="http://schemas.microsoft.com/office/drawing/2014/main" id="{BB83A660-032A-4830-8336-5CF7E277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0300"/>
            <a:ext cx="2476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Raw group-relative momentum remains a useful research comparator.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The next theory session must choose a genuinely different information mechanism—or stop this ranking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763083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2026-07-27T00:32:05.9540000Z</dcterms:created>
  <dcterms:modified xsi:type="dcterms:W3CDTF">2026-07-27T00:32:05.9540000Z</dcterms:modified>
</coreProperties>
</file>