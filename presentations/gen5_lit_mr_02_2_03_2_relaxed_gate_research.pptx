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3ead3df4d44f75" /><Relationship Type="http://schemas.openxmlformats.org/officeDocument/2006/relationships/extended-properties" Target="/docProps/app.xml" Id="Rfd2c987be94542c0" /><Relationship Type="http://schemas.openxmlformats.org/officeDocument/2006/relationships/officeDocument" Target="/ppt/presentation.xml" Id="R040097547b4044a6" /></Relationships>
</file>

<file path=ppt/presentation.xml><?xml version="1.0" encoding="utf-8"?>
<p:presentation xmlns:p="http://schemas.openxmlformats.org/presentationml/2006/main">
  <p:sldMasterIdLst>
    <p:sldMasterId xmlns:r="http://schemas.openxmlformats.org/officeDocument/2006/relationships" id="2147483648" r:id="R07e226f233d04fae"/>
  </p:sldMasterIdLst>
  <p:notesMasterIdLst>
    <p:notesMasterId xmlns:r="http://schemas.openxmlformats.org/officeDocument/2006/relationships" r:id="R30a6493ac3924d9e"/>
  </p:notesMasterIdLst>
  <p:sldIdLst>
    <p:sldId xmlns:r="http://schemas.openxmlformats.org/officeDocument/2006/relationships" id="256" r:id="Ra90b598eac744ab8"/>
    <p:sldId xmlns:r="http://schemas.openxmlformats.org/officeDocument/2006/relationships" id="257" r:id="R7d2d86e44038424b"/>
    <p:sldId xmlns:r="http://schemas.openxmlformats.org/officeDocument/2006/relationships" id="258" r:id="R24b5f9d651684049"/>
    <p:sldId xmlns:r="http://schemas.openxmlformats.org/officeDocument/2006/relationships" id="259" r:id="Rc4d0f4cb22734a9e"/>
    <p:sldId xmlns:r="http://schemas.openxmlformats.org/officeDocument/2006/relationships" id="260" r:id="Re1ad80219ebe4884"/>
    <p:sldId xmlns:r="http://schemas.openxmlformats.org/officeDocument/2006/relationships" id="261" r:id="R345d72975f674519"/>
    <p:sldId xmlns:r="http://schemas.openxmlformats.org/officeDocument/2006/relationships" id="262" r:id="R2fd16b37d4db488b"/>
    <p:sldId xmlns:r="http://schemas.openxmlformats.org/officeDocument/2006/relationships" id="263" r:id="Ra26ab09ed4834ec2"/>
    <p:sldId xmlns:r="http://schemas.openxmlformats.org/officeDocument/2006/relationships" id="264" r:id="Rc9a24dbb4c904f00"/>
    <p:sldId xmlns:r="http://schemas.openxmlformats.org/officeDocument/2006/relationships" id="265" r:id="R516dac351da244f8"/>
    <p:sldId xmlns:r="http://schemas.openxmlformats.org/officeDocument/2006/relationships" id="266" r:id="R3d7f1fd2dc0c49fe"/>
    <p:sldId xmlns:r="http://schemas.openxmlformats.org/officeDocument/2006/relationships" id="267" r:id="R4462bcf94c434699"/>
    <p:sldId xmlns:r="http://schemas.openxmlformats.org/officeDocument/2006/relationships" id="268" r:id="Rbda54266b6eb4f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fdf18a98484b8c" /><Relationship Type="http://schemas.openxmlformats.org/officeDocument/2006/relationships/slideMaster" Target="/ppt/slideMasters/slideMaster1.xml" Id="R07e226f233d04fae" /><Relationship Type="http://schemas.openxmlformats.org/officeDocument/2006/relationships/notesMaster" Target="/ppt/notesMasters/notesMaster1.xml" Id="R30a6493ac3924d9e" /><Relationship Type="http://schemas.openxmlformats.org/officeDocument/2006/relationships/presProps" Target="/ppt/presProps.xml" Id="Rb9b3995132ea4ce5" /><Relationship Type="http://schemas.openxmlformats.org/officeDocument/2006/relationships/tableStyles" Target="/ppt/tableStyles.xml" Id="R6e89a229d01d4acf" /><Relationship Type="http://schemas.openxmlformats.org/officeDocument/2006/relationships/slide" Target="/ppt/slides/slide1.xml" Id="Ra90b598eac744ab8" /><Relationship Type="http://schemas.openxmlformats.org/officeDocument/2006/relationships/slide" Target="/ppt/slides/slide2.xml" Id="R7d2d86e44038424b" /><Relationship Type="http://schemas.openxmlformats.org/officeDocument/2006/relationships/slide" Target="/ppt/slides/slide3.xml" Id="R24b5f9d651684049" /><Relationship Type="http://schemas.openxmlformats.org/officeDocument/2006/relationships/slide" Target="/ppt/slides/slide4.xml" Id="Rc4d0f4cb22734a9e" /><Relationship Type="http://schemas.openxmlformats.org/officeDocument/2006/relationships/slide" Target="/ppt/slides/slide5.xml" Id="Re1ad80219ebe4884" /><Relationship Type="http://schemas.openxmlformats.org/officeDocument/2006/relationships/slide" Target="/ppt/slides/slide6.xml" Id="R345d72975f674519" /><Relationship Type="http://schemas.openxmlformats.org/officeDocument/2006/relationships/slide" Target="/ppt/slides/slide7.xml" Id="R2fd16b37d4db488b" /><Relationship Type="http://schemas.openxmlformats.org/officeDocument/2006/relationships/slide" Target="/ppt/slides/slide8.xml" Id="Ra26ab09ed4834ec2" /><Relationship Type="http://schemas.openxmlformats.org/officeDocument/2006/relationships/slide" Target="/ppt/slides/slide9.xml" Id="Rc9a24dbb4c904f00" /><Relationship Type="http://schemas.openxmlformats.org/officeDocument/2006/relationships/slide" Target="/ppt/slides/slide10.xml" Id="R516dac351da244f8" /><Relationship Type="http://schemas.openxmlformats.org/officeDocument/2006/relationships/slide" Target="/ppt/slides/slide11.xml" Id="R3d7f1fd2dc0c49fe" /><Relationship Type="http://schemas.openxmlformats.org/officeDocument/2006/relationships/slide" Target="/ppt/slides/slide12.xml" Id="R4462bcf94c434699" /><Relationship Type="http://schemas.openxmlformats.org/officeDocument/2006/relationships/slide" Target="/ppt/slides/slide13.xml" Id="Rbda54266b6eb4f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03ba88183d45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db6add05e747a6" /><Relationship Type="http://schemas.openxmlformats.org/officeDocument/2006/relationships/notesMaster" Target="/ppt/notesMasters/notesMaster1.xml" Id="R9157c82e8c6244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109a6354ee4697" /><Relationship Type="http://schemas.openxmlformats.org/officeDocument/2006/relationships/notesMaster" Target="/ppt/notesMasters/notesMaster1.xml" Id="Ra0d31a3269bd4d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61d0f48bcc4bab" /><Relationship Type="http://schemas.openxmlformats.org/officeDocument/2006/relationships/notesMaster" Target="/ppt/notesMasters/notesMaster1.xml" Id="R2cf8857134204c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d11d6934c34435" /><Relationship Type="http://schemas.openxmlformats.org/officeDocument/2006/relationships/notesMaster" Target="/ppt/notesMasters/notesMaster1.xml" Id="R2655017ef9e243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a7414b596f404d" /><Relationship Type="http://schemas.openxmlformats.org/officeDocument/2006/relationships/notesMaster" Target="/ppt/notesMasters/notesMaster1.xml" Id="R24447999dbbb43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a740c2ee7a4e96" /><Relationship Type="http://schemas.openxmlformats.org/officeDocument/2006/relationships/notesMaster" Target="/ppt/notesMasters/notesMaster1.xml" Id="R8165b402ebcc4e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d1dabc78d64ccf" /><Relationship Type="http://schemas.openxmlformats.org/officeDocument/2006/relationships/notesMaster" Target="/ppt/notesMasters/notesMaster1.xml" Id="Rf4fdfbe8198046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312a037f8a4352" /><Relationship Type="http://schemas.openxmlformats.org/officeDocument/2006/relationships/notesMaster" Target="/ppt/notesMasters/notesMaster1.xml" Id="R2a746fa341b34d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3961d1282b4300" /><Relationship Type="http://schemas.openxmlformats.org/officeDocument/2006/relationships/notesMaster" Target="/ppt/notesMasters/notesMaster1.xml" Id="Re870c3f012a941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ab0a51fc2d407b" /><Relationship Type="http://schemas.openxmlformats.org/officeDocument/2006/relationships/notesMaster" Target="/ppt/notesMasters/notesMaster1.xml" Id="R27c8f10b5d784e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0ef03669404dc9" /><Relationship Type="http://schemas.openxmlformats.org/officeDocument/2006/relationships/notesMaster" Target="/ppt/notesMasters/notesMaster1.xml" Id="Rbd380768bffa44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ba2539caf74eff" /><Relationship Type="http://schemas.openxmlformats.org/officeDocument/2006/relationships/notesMaster" Target="/ppt/notesMasters/notesMaster1.xml" Id="Raa28f3fc62714b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762367d41343a5" /><Relationship Type="http://schemas.openxmlformats.org/officeDocument/2006/relationships/notesMaster" Target="/ppt/notesMasters/notesMaster1.xml" Id="R05df477e425448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02.1 and 03.1 specifications remain intact. This deck documents separate .2 challengers with quantitatively frozen relaxations and unchanged trading mechanics.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Project/Time-Series-Modeling-Gen5/docs/GEN5_LIT_MR_RELAXED_GATE_QUANTITATIVE_REVIEW.md</a:t>
            </a:r>
          </a:p>
          <a:p xmlns:a="http://schemas.openxmlformats.org/drawingml/2006/main">
            <a:r>
              <a:t>- C:/Users/Franc/OneDrive/Documents/Francis/Peltata Project/Time-Series-Modeling-Gen5/docs/GEN5_LIT_MR_02_2_RELAXED_PAIR_CONTRACT.md</a:t>
            </a:r>
          </a:p>
          <a:p xmlns:a="http://schemas.openxmlformats.org/drawingml/2006/main">
            <a:r>
              <a:t>- C:/Users/Franc/OneDrive/Documents/Francis/Peltata Project/Time-Series-Modeling-Gen5/docs/GEN5_LIT_MR_03_2_RELAXED_TRIPLET_CONTRACT.md</a:t>
            </a:r>
          </a:p>
          <a:p xmlns:a="http://schemas.openxmlformats.org/drawingml/2006/main">
            <a:r>
              <a:t>- C:/Users/Franc/OneDrive/Documents/Francis/Peltata Project/Time-Series-Modeling-Gen5/docs/GEN5_4_DECISION_DIALOGUE_INDEX.md — D85–D88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firm gates protect test validity or define the object being traded. The softened gates express finite-sample confidence. Hit rate and positive-year counts remain visible diagnostics, but no longer carry mandatory veto power.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Project/Time-Series-Modeling-Gen5/docs/GEN5_LIT_MR_RELAXED_GATE_QUANTITATIVE_REVIEW.md</a:t>
            </a:r>
          </a:p>
          <a:p xmlns:a="http://schemas.openxmlformats.org/drawingml/2006/main">
            <a:r>
              <a:t>- C:/Users/Franc/OneDrive/Documents/Francis/Peltata Project/Time-Series-Modeling-Gen5/docs/GEN5_LIT_MR_02_2_RELAXED_PAIR_CONTRACT.md</a:t>
            </a:r>
          </a:p>
          <a:p xmlns:a="http://schemas.openxmlformats.org/drawingml/2006/main">
            <a:r>
              <a:t>- C:/Users/Franc/OneDrive/Documents/Francis/Peltata Project/Time-Series-Modeling-Gen5/docs/GEN5_LIT_MR_03_2_RELAXED_TRIPLET_CONTRACT.md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02.1 support was 30 total / 10 each direction. Original return and convergence intervals used 95% two-sided bounds. The relaxed contract switches only those confidence and support requirements.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Project/Time-Series-Modeling-Gen5/docs/GEN5_LIT_MR_02_2_RELAXED_PAIR_CONTRACT.md</a:t>
            </a:r>
          </a:p>
          <a:p xmlns:a="http://schemas.openxmlformats.org/drawingml/2006/main">
            <a:r>
              <a:t>- C:/Users/Franc/OneDrive/Documents/Francis/Peltata Project/Time-Series-Modeling-Gen5/docs/GEN5_LIT_MR_RELAXED_GATE_QUANTITATIVE_REVIEW.md</a:t>
            </a:r>
          </a:p>
          <a:p xmlns:a="http://schemas.openxmlformats.org/drawingml/2006/main">
            <a:r>
              <a:t>- C:/Users/Franc/OneDrive/Documents/Francis/Peltata Project/Time-Series-Modeling-Gen5/docs/GEN5_4_DECISION_DIALOGUE_INDEX.md — D85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SIL–SLV was the sole relaxed full pass. It was not a strict 02.1 pass. The retrospective lane is descriptive: the prior candidate list was known before this challenger, so the result cannot be promoted as a prospective discovery claim.</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Project/Time-Series-Modeling-Gen5/runs/research_workbench/literature_grounded/lit_mr_02_2_retrospective_20260729/mr022_train_gate_detail.csv</a:t>
            </a:r>
          </a:p>
          <a:p xmlns:a="http://schemas.openxmlformats.org/drawingml/2006/main">
            <a:r>
              <a:t>- C:/Users/Franc/OneDrive/Documents/Francis/Peltata Project/Time-Series-Modeling-Gen5/runs/research_workbench/literature_grounded/lit_mr_02_2_retrospective_20260729/mr022_run_spec.csv</a:t>
            </a:r>
          </a:p>
          <a:p xmlns:a="http://schemas.openxmlformats.org/drawingml/2006/main">
            <a:r>
              <a:t>- C:/Users/Franc/OneDrive/Documents/Francis/Peltata Project/Time-Series-Modeling-Gen5/docs/GEN5_LIT_MR_02_2_03_2_RELAXED_GATE_RESULTS.md</a:t>
            </a:r>
          </a:p>
          <a:p xmlns:a="http://schemas.openxmlformats.org/drawingml/2006/main">
            <a:r>
              <a:t>- C:/Users/Franc/OneDrive/Documents/Francis/Peltata Project/Time-Series-Modeling-Gen5/docs/GEN5_4_DECISION_DIALOGUE_INDEX.md — D85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69 trades, +56.8 bp mean net return, q10 +3.0 bp, 53.6% hit rate. OOS 2021–2023: 47 trades, +7.7 bp mean trade return and 63.8% hit rate, yet -1.36% primary-cost cumulative return, -7.94% stress return, and -16.34% maximum drawdown.</a:t>
            </a:r>
          </a:p>
          <a:p xmlns:a="http://schemas.openxmlformats.org/drawingml/2006/main">
            <a:r>
              <a:t>The divergence is not a contradiction. A completed-trade average and hit rate ignore bar-by-bar exposure, rehedging, path dependence, and compounding. Both accounting views are needed.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Project/Time-Series-Modeling-Gen5/runs/research_workbench/literature_grounded/lit_mr_02_2_retrospective_20260729/mr022_development_summary.csv</a:t>
            </a:r>
          </a:p>
          <a:p xmlns:a="http://schemas.openxmlformats.org/drawingml/2006/main">
            <a:r>
              <a:t>- C:/Users/Franc/OneDrive/Documents/Francis/Peltata Project/Time-Series-Modeling-Gen5/runs/research_workbench/literature_grounded/lit_mr_02_2_retrospective_20260729/mr022_development_trades.csv</a:t>
            </a:r>
          </a:p>
          <a:p xmlns:a="http://schemas.openxmlformats.org/drawingml/2006/main">
            <a:r>
              <a:t>- C:/Users/Franc/OneDrive/Documents/Francis/Peltata Project/Time-Series-Modeling-Gen5/runs/research_workbench/literature_grounded/lit_mr_02_2_retrospective_20260729/visuals/mr022_development_cost_comparison.png</a:t>
            </a:r>
          </a:p>
          <a:p xmlns:a="http://schemas.openxmlformats.org/drawingml/2006/main">
            <a:r>
              <a:t>- C:/Users/Franc/OneDrive/Documents/Francis/Peltata Project/Time-Series-Modeling-Gen5/docs/GEN5_4_DECISION_DIALOGUE_INDEX.md — D85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fresh registry was frozen before evaluation. F17 XOM–CVX reached four of six mandatory gates but missed beta coverage, q10 return, and the full conjunction. The correct outcome is STOP_LIT_MR_02_2_FRESH_ATLAS_01_NO_PASS.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Project/Time-Series-Modeling-Gen5/runs/research_workbench/literature_grounded/lit_mr_02_2_fresh_atlas_01_20260729/mr022_registry.csv</a:t>
            </a:r>
          </a:p>
          <a:p xmlns:a="http://schemas.openxmlformats.org/drawingml/2006/main">
            <a:r>
              <a:t>- C:/Users/Franc/OneDrive/Documents/Francis/Peltata Project/Time-Series-Modeling-Gen5/runs/research_workbench/literature_grounded/lit_mr_02_2_fresh_atlas_01_20260729/mr022_train_gate_detail.csv</a:t>
            </a:r>
          </a:p>
          <a:p xmlns:a="http://schemas.openxmlformats.org/drawingml/2006/main">
            <a:r>
              <a:t>- C:/Users/Franc/OneDrive/Documents/Francis/Peltata Project/Time-Series-Modeling-Gen5/runs/research_workbench/literature_grounded/lit_mr_02_2_fresh_atlas_01_20260729/mr022_report.md</a:t>
            </a:r>
          </a:p>
          <a:p xmlns:a="http://schemas.openxmlformats.org/drawingml/2006/main">
            <a:r>
              <a:t>- C:/Users/Franc/OneDrive/Documents/Francis/Peltata Project/Time-Series-Modeling-Gen5/docs/GEN5_LIT_MR_02_2_03_2_RELAXED_GATE_RESULTS.md</a:t>
            </a:r>
          </a:p>
          <a:p xmlns:a="http://schemas.openxmlformats.org/drawingml/2006/main">
            <a:r>
              <a:t>- C:/Users/Franc/OneDrive/Documents/Francis/Peltata Project/Time-Series-Modeling-Gen5/docs/GEN5_4_DECISION_DIALOGUE_INDEX.md — D86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exact-rank-one requirement remains because the strategy needs one interpretable stationary combination rather than an unstable or underidentified portfolio. The support, return, and convergence changes mirror the pair challenger.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Project/Time-Series-Modeling-Gen5/docs/GEN5_LIT_MR_03_2_RELAXED_TRIPLET_CONTRACT.md</a:t>
            </a:r>
          </a:p>
          <a:p xmlns:a="http://schemas.openxmlformats.org/drawingml/2006/main">
            <a:r>
              <a:t>- C:/Users/Franc/OneDrive/Documents/Francis/Peltata Project/Time-Series-Modeling-Gen5/docs/GEN5_LIT_MR_RELAXED_GATE_QUANTITATIVE_REVIEW.md</a:t>
            </a:r>
          </a:p>
          <a:p xmlns:a="http://schemas.openxmlformats.org/drawingml/2006/main">
            <a:r>
              <a:t>- C:/Users/Franc/OneDrive/Documents/Francis/Peltata Project/Time-Series-Modeling-Gen5/docs/GEN5_4_DECISION_DIALOGUE_INDEX.md — D86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of 36 prior triplets passed the relaxed conjunction. A25 EWA–EWC–EWZ had already passed all strict gates and remains the known survivor: +3.73% primary, -3.23% stress. T01 EWA–EWC–IGE was added only by q90 convergence: +0.38% primary, -6.13% stress.</a:t>
            </a:r>
          </a:p>
          <a:p xmlns:a="http://schemas.openxmlformats.org/drawingml/2006/main">
            <a:r>
              <a:t>This is useful sensitivity evidence, not a discovery victory. The incremental relaxed survivor had almost no primary-cost margin.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Project/Time-Series-Modeling-Gen5/runs/research_workbench/literature_grounded/lit_mr_03_2_retrospective_20260729/mr032_train_gate_detail.csv</a:t>
            </a:r>
          </a:p>
          <a:p xmlns:a="http://schemas.openxmlformats.org/drawingml/2006/main">
            <a:r>
              <a:t>- C:/Users/Franc/OneDrive/Documents/Francis/Peltata Project/Time-Series-Modeling-Gen5/runs/research_workbench/literature_grounded/lit_mr_03_2_retrospective_20260729/mr032_development_summary.csv</a:t>
            </a:r>
          </a:p>
          <a:p xmlns:a="http://schemas.openxmlformats.org/drawingml/2006/main">
            <a:r>
              <a:t>- C:/Users/Franc/OneDrive/Documents/Francis/Peltata Project/Time-Series-Modeling-Gen5/runs/research_workbench/literature_grounded/lit_mr_03_2_retrospective_20260729/visuals/mr032_development_cost_comparison.png</a:t>
            </a:r>
          </a:p>
          <a:p xmlns:a="http://schemas.openxmlformats.org/drawingml/2006/main">
            <a:r>
              <a:t>- C:/Users/Franc/OneDrive/Documents/Francis/Peltata Project/Time-Series-Modeling-Gen5/docs/GEN5_LIT_MR_02_2_03_2_RELAXED_GATE_RESULTS.md</a:t>
            </a:r>
          </a:p>
          <a:p xmlns:a="http://schemas.openxmlformats.org/drawingml/2006/main">
            <a:r>
              <a:t>- C:/Users/Franc/OneDrive/Documents/Francis/Peltata Project/Time-Series-Modeling-Gen5/docs/GEN5_4_DECISION_DIALOGUE_INDEX.md — D86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failures were retained rather than silently replaced, preserving the frozen registry. F20 was the first and only full pass in that registry, so its identity and vector were locked before OOS.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Project/Time-Series-Modeling-Gen5/runs/research_workbench/literature_grounded/lit_mr_03_2_fresh_atlas_01_20260729/mr032_registry.csv</a:t>
            </a:r>
          </a:p>
          <a:p xmlns:a="http://schemas.openxmlformats.org/drawingml/2006/main">
            <a:r>
              <a:t>- C:/Users/Franc/OneDrive/Documents/Francis/Peltata Project/Time-Series-Modeling-Gen5/runs/research_workbench/literature_grounded/lit_mr_03_2_fresh_atlas_01_20260729/mr032_train_coverage.csv</a:t>
            </a:r>
          </a:p>
          <a:p xmlns:a="http://schemas.openxmlformats.org/drawingml/2006/main">
            <a:r>
              <a:t>- C:/Users/Franc/OneDrive/Documents/Francis/Peltata Project/Time-Series-Modeling-Gen5/runs/research_workbench/literature_grounded/lit_mr_03_2_fresh_atlas_01_20260729/mr032_train_gate_detail.csv</a:t>
            </a:r>
          </a:p>
          <a:p xmlns:a="http://schemas.openxmlformats.org/drawingml/2006/main">
            <a:r>
              <a:t>- C:/Users/Franc/OneDrive/Documents/Francis/Peltata Project/Time-Series-Modeling-Gen5/docs/GEN5_LIT_MR_02_2_03_2_RELAXED_GATE_RESULTS.md</a:t>
            </a:r>
          </a:p>
          <a:p xmlns:a="http://schemas.openxmlformats.org/drawingml/2006/main">
            <a:r>
              <a:t>- C:/Users/Franc/OneDrive/Documents/Francis/Peltata Project/Time-Series-Modeling-Gen5/docs/GEN5_4_DECISION_DIALOGUE_INDEX.md — D87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vector was estimated once on 2016–2020. OOS used the frozen coefficients and unchanged 20-session z-score trading rule. Passing the strict contract eliminates relaxed-threshold leniency as the explanation for the later failure.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Project/Time-Series-Modeling-Gen5/runs/research_workbench/literature_grounded/lit_mr_03_2_fresh_atlas_01_20260729/mr032_cointegrating_vectors.csv</a:t>
            </a:r>
          </a:p>
          <a:p xmlns:a="http://schemas.openxmlformats.org/drawingml/2006/main">
            <a:r>
              <a:t>- C:/Users/Franc/OneDrive/Documents/Francis/Peltata Project/Time-Series-Modeling-Gen5/runs/research_workbench/literature_grounded/lit_mr_03_2_fresh_atlas_01_20260729/mr032_train_summary.csv</a:t>
            </a:r>
          </a:p>
          <a:p xmlns:a="http://schemas.openxmlformats.org/drawingml/2006/main">
            <a:r>
              <a:t>- C:/Users/Franc/OneDrive/Documents/Francis/Peltata Project/Time-Series-Modeling-Gen5/runs/research_workbench/literature_grounded/lit_mr_03_2_fresh_atlas_01_20260729/mr032_train_gate_detail.csv</a:t>
            </a:r>
          </a:p>
          <a:p xmlns:a="http://schemas.openxmlformats.org/drawingml/2006/main">
            <a:r>
              <a:t>- C:/Users/Franc/OneDrive/Documents/Francis/Peltata Project/Time-Series-Modeling-Gen5/docs/GEN5_4_DECISION_DIALOGUE_INDEX.md — D87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OOS 2021–2023: 40 completed trades, -36.2 bp mean net return, 52.5% hit rate, +0.0143 forward-five correlation, -14.25% primary-cost cumulative return, -18.68% stress return, -0.870 autocorrelation-adjusted Sharpe, and -19.02% maximum drawdown.</a:t>
            </a:r>
          </a:p>
          <a:p xmlns:a="http://schemas.openxmlformats.org/drawingml/2006/main">
            <a:r>
              <a:t>This is the most informative result in the study. A relationship can look statistically coherent throughout TRAIN and still cease to mean-revert in the future.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Project/Time-Series-Modeling-Gen5/runs/research_workbench/literature_grounded/lit_mr_03_2_fresh_atlas_01_20260729/mr032_development_summary.csv</a:t>
            </a:r>
          </a:p>
          <a:p xmlns:a="http://schemas.openxmlformats.org/drawingml/2006/main">
            <a:r>
              <a:t>- C:/Users/Franc/OneDrive/Documents/Francis/Peltata Project/Time-Series-Modeling-Gen5/runs/research_workbench/literature_grounded/lit_mr_03_2_fresh_atlas_01_20260729/mr032_development_trades.csv</a:t>
            </a:r>
          </a:p>
          <a:p xmlns:a="http://schemas.openxmlformats.org/drawingml/2006/main">
            <a:r>
              <a:t>- C:/Users/Franc/OneDrive/Documents/Francis/Peltata Project/Time-Series-Modeling-Gen5/runs/research_workbench/literature_grounded/lit_mr_03_2_fresh_atlas_01_20260729/visuals/mr032_development_cost_comparison.png</a:t>
            </a:r>
          </a:p>
          <a:p xmlns:a="http://schemas.openxmlformats.org/drawingml/2006/main">
            <a:r>
              <a:t>- C:/Users/Franc/OneDrive/Documents/Francis/Peltata Project/Time-Series-Modeling-Gen5/docs/GEN5_LIT_MR_02_2_03_2_RELAXED_GATE_RESULTS.md</a:t>
            </a:r>
          </a:p>
          <a:p xmlns:a="http://schemas.openxmlformats.org/drawingml/2006/main">
            <a:r>
              <a:t>- C:/Users/Franc/OneDrive/Documents/Francis/Peltata Project/Time-Series-Modeling-Gen5/docs/GEN5_4_DECISION_DIALOGUE_INDEX.md — D87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Retrospective replay helps interpret gate sensitivity and accounting behavior. It is not an admissible way to search backward for candidates and claim prospective alpha. Fresh results show that even strict TRAIN evidence can fail when the relationship changes.</a:t>
            </a:r>
          </a:p>
          <a:p xmlns:a="http://schemas.openxmlformats.org/drawingml/2006/main">
            <a:r>
              <a:t>A future contract could examine rolling or expanding requalification, coefficient drift, rank breaks, and a no-trade state. That is a new research gate and remains discussion-only.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Project/Time-Series-Modeling-Gen5/docs/GEN5_LIT_MR_02_2_03_2_RELAXED_GATE_RESULTS.md</a:t>
            </a:r>
          </a:p>
          <a:p xmlns:a="http://schemas.openxmlformats.org/drawingml/2006/main">
            <a:r>
              <a:t>- C:/Users/Franc/OneDrive/Documents/Francis/Peltata Project/Time-Series-Modeling-Gen5/docs/GEN5_LIT_MR_RELAXED_GATE_QUANTITATIVE_REVIEW.md</a:t>
            </a:r>
          </a:p>
          <a:p xmlns:a="http://schemas.openxmlformats.org/drawingml/2006/main">
            <a:r>
              <a:t>- C:/Users/Franc/OneDrive/Documents/Francis/Peltata Project/Time-Series-Modeling-Gen5/docs/GEN5_4_DECISION_DIALOGUE_INDEX.md — D85–D88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a productive null: finite-sample easing was not the missing mechanism. The next high-signal question is whether relationship validity can be requalified over time without leakage or outcome-driven tuning.</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Project/Time-Series-Modeling-Gen5/docs/GEN5_LIT_MR_02_2_03_2_RELAXED_GATE_RESULTS.md</a:t>
            </a:r>
          </a:p>
          <a:p xmlns:a="http://schemas.openxmlformats.org/drawingml/2006/main">
            <a:r>
              <a:t>- C:/Users/Franc/OneDrive/Documents/Francis/Peltata Project/Time-Series-Modeling-Gen5/docs/GEN5_LIT_MR_RELAXED_GATE_QUANTITATIVE_REVIEW.md</a:t>
            </a:r>
          </a:p>
          <a:p xmlns:a="http://schemas.openxmlformats.org/drawingml/2006/main">
            <a:r>
              <a:t>- C:/Users/Franc/OneDrive/Documents/Francis/Peltata Project/Time-Series-Modeling-Gen5/docs/GEN5_4_DECISION_DIALOGUE_INDEX.md — D88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c5c9d3241e41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e64dac814b4a33" /><Relationship Type="http://schemas.openxmlformats.org/officeDocument/2006/relationships/slideLayout" Target="/ppt/slideLayouts/slideLayout1.xml" Id="R9f113cc8d0fb43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113cc8d0fb43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3e190843c44c37" /><Relationship Type="http://schemas.openxmlformats.org/officeDocument/2006/relationships/notesSlide" Target="/ppt/notesSlides/notesSlide1.xml" Id="R7c9e0433527b45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a299e3adf84a36" /><Relationship Type="http://schemas.openxmlformats.org/officeDocument/2006/relationships/notesSlide" Target="/ppt/notesSlides/notesSlide2.xml" Id="Rc90ed17e43594f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af63b0fcba4f4d" /><Relationship Type="http://schemas.openxmlformats.org/officeDocument/2006/relationships/notesSlide" Target="/ppt/notesSlides/notesSlide3.xml" Id="R1097df8d0ad241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deff8ab55549bc" /><Relationship Type="http://schemas.openxmlformats.org/officeDocument/2006/relationships/image" Target="/ppt/media/image.png" Id="R96d3b438452d429f" /><Relationship Type="http://schemas.openxmlformats.org/officeDocument/2006/relationships/notesSlide" Target="/ppt/notesSlides/notesSlide4.xml" Id="R4bba6eb72a1941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88b92199f544b3" /><Relationship Type="http://schemas.openxmlformats.org/officeDocument/2006/relationships/image" Target="/ppt/media/image2.png" Id="Rffe4339dd42c4c4e" /><Relationship Type="http://schemas.openxmlformats.org/officeDocument/2006/relationships/notesSlide" Target="/ppt/notesSlides/notesSlide5.xml" Id="Rd21548f0ea624b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80e237ca8c4beb" /><Relationship Type="http://schemas.openxmlformats.org/officeDocument/2006/relationships/image" Target="/ppt/media/image3.png" Id="Rf97a82847ff940d2" /><Relationship Type="http://schemas.openxmlformats.org/officeDocument/2006/relationships/notesSlide" Target="/ppt/notesSlides/notesSlide6.xml" Id="R922c8f7ec2b540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8b58b30ed34e37" /><Relationship Type="http://schemas.openxmlformats.org/officeDocument/2006/relationships/notesSlide" Target="/ppt/notesSlides/notesSlide7.xml" Id="Rf8d3136fabd74c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fd53d5db0d4b93" /><Relationship Type="http://schemas.openxmlformats.org/officeDocument/2006/relationships/image" Target="/ppt/media/image4.png" Id="Rb117a8b418c0474d" /><Relationship Type="http://schemas.openxmlformats.org/officeDocument/2006/relationships/notesSlide" Target="/ppt/notesSlides/notesSlide8.xml" Id="R82d5778c683d41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01609958994b81" /><Relationship Type="http://schemas.openxmlformats.org/officeDocument/2006/relationships/image" Target="/ppt/media/image5.png" Id="Rbf0a4e75d8514bd4" /><Relationship Type="http://schemas.openxmlformats.org/officeDocument/2006/relationships/notesSlide" Target="/ppt/notesSlides/notesSlide9.xml" Id="Rd76de796954845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037facd61e4063" /><Relationship Type="http://schemas.openxmlformats.org/officeDocument/2006/relationships/notesSlide" Target="/ppt/notesSlides/notesSlide10.xml" Id="R74dfb2e86eb747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b0b3f61f624e09" /><Relationship Type="http://schemas.openxmlformats.org/officeDocument/2006/relationships/image" Target="/ppt/media/image6.png" Id="R835f13795afe4862" /><Relationship Type="http://schemas.openxmlformats.org/officeDocument/2006/relationships/notesSlide" Target="/ppt/notesSlides/notesSlide11.xml" Id="R42124212444b4f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51364b1d2f04781" /><Relationship Type="http://schemas.openxmlformats.org/officeDocument/2006/relationships/notesSlide" Target="/ppt/notesSlides/notesSlide12.xml" Id="R1cb4a6f6d9d144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741403197434453" /><Relationship Type="http://schemas.openxmlformats.org/officeDocument/2006/relationships/notesSlide" Target="/ppt/notesSlides/notesSlide13.xml" Id="R3f17194dbd9d4c5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Measured gate easing</a:t>
            </a:r>
          </a:p>
          <a:p xmlns:a="http://schemas.openxmlformats.org/drawingml/2006/main">
            <a:pPr algn="l">
              <a:buNone/>
              <a:defRPr sz="5700">
                <a:solidFill>
                  <a:srgbClr val="000000"/>
                </a:solidFill>
                <a:latin typeface="Helvetica Neue"/>
                <a:ea typeface="Helvetica Neue"/>
                <a:cs typeface="Helvetica Neue"/>
              </a:defRPr>
            </a:pPr>
            <a:r>
              <a:t>pairs and triplets</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A preregistered relaxed lane replays prior candidates for curiosity and screens fresh candidates prospectively—without treating retrospective rescue as an alpha-discovery method.</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LIT-MR-02.2 + LIT-MR-03.2 | 29 JUL 2026</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Ease uncertainty thresholds—not integrity or identification</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A gate should be relaxed only when it plausibly rejects a real but noisy effect. Data integrity, causal ordering, and basic relationship identification are not statistical luxuries.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KEEP</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Coverage · no leakage · stable sign</a:t>
            </a:r>
          </a:p>
          <a:p xmlns:a="http://schemas.openxmlformats.org/drawingml/2006/main">
            <a:pPr algn="l">
              <a:buNone/>
              <a:defRPr sz="1575">
                <a:solidFill>
                  <a:srgbClr val="000000"/>
                </a:solidFill>
                <a:latin typeface="Helvetica Neue"/>
                <a:ea typeface="Helvetica Neue"/>
                <a:cs typeface="Helvetica Neue"/>
              </a:defRPr>
            </a:pPr>
            <a:r>
              <a:t>I(1) and rank-one logic for triplets</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EASE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Support · bootstrap quantiles</a:t>
            </a:r>
          </a:p>
          <a:p xmlns:a="http://schemas.openxmlformats.org/drawingml/2006/main">
            <a:pPr algn="l">
              <a:buNone/>
              <a:defRPr sz="1575">
                <a:solidFill>
                  <a:srgbClr val="000000"/>
                </a:solidFill>
                <a:latin typeface="Helvetica Neue"/>
                <a:ea typeface="Helvetica Neue"/>
                <a:cs typeface="Helvetica Neue"/>
              </a:defRPr>
            </a:pPr>
            <a:r>
              <a:t>Convergence and persistence ranges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SEPARATE</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Retrospective curiosity lane</a:t>
            </a:r>
          </a:p>
          <a:p xmlns:a="http://schemas.openxmlformats.org/drawingml/2006/main">
            <a:pPr algn="l">
              <a:buNone/>
              <a:defRPr sz="1575">
                <a:solidFill>
                  <a:srgbClr val="000000"/>
                </a:solidFill>
                <a:latin typeface="Helvetica Neue"/>
                <a:ea typeface="Helvetica Neue"/>
                <a:cs typeface="Helvetica Neue"/>
              </a:defRPr>
            </a:pPr>
            <a:r>
              <a:t>Fresh preregistered discovery lane</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LIT-MR-02.2 makes three measured changes to the pair screen</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Positive rolling beta coverage (≥95%) and random-sign superiority remain mandatory. Hit rate and positive TRAIN years become diagnostics; mechanics, costs, dates, and the 2024+ seal are unchanged.</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24 / 8</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Completed TRAIN trades</a:t>
            </a:r>
          </a:p>
          <a:p xmlns:a="http://schemas.openxmlformats.org/drawingml/2006/main">
            <a:pPr algn="l">
              <a:buNone/>
              <a:defRPr sz="1575">
                <a:solidFill>
                  <a:srgbClr val="000000"/>
                </a:solidFill>
                <a:latin typeface="Helvetica Neue"/>
                <a:ea typeface="Helvetica Neue"/>
                <a:cs typeface="Helvetica Neue"/>
              </a:defRPr>
            </a:pPr>
            <a:r>
              <a:t>At least eight each direction</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q10 &gt; 0</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One-sided 90% bootstrap</a:t>
            </a:r>
          </a:p>
          <a:p xmlns:a="http://schemas.openxmlformats.org/drawingml/2006/main">
            <a:pPr algn="l">
              <a:buNone/>
              <a:defRPr sz="1575">
                <a:solidFill>
                  <a:srgbClr val="000000"/>
                </a:solidFill>
                <a:latin typeface="Helvetica Neue"/>
                <a:ea typeface="Helvetica Neue"/>
                <a:cs typeface="Helvetica Neue"/>
              </a:defRPr>
            </a:pPr>
            <a:r>
              <a:t>Net trade-return uncertainty</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q90 &lt; 0</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One-sided 90% convergence</a:t>
            </a:r>
          </a:p>
          <a:p xmlns:a="http://schemas.openxmlformats.org/drawingml/2006/main">
            <a:pPr algn="l">
              <a:buNone/>
              <a:defRPr sz="1575">
                <a:solidFill>
                  <a:srgbClr val="000000"/>
                </a:solidFill>
                <a:latin typeface="Helvetica Neue"/>
                <a:ea typeface="Helvetica Neue"/>
                <a:cs typeface="Helvetica Neue"/>
              </a:defRPr>
            </a:pPr>
            <a:r>
              <a:t>Forward spread-change evidence</a:t>
            </a:r>
          </a:p>
        </p:txBody>
      </p:sp>
    </p:spTree>
    <p:extLst>
      <p:ext uri="{BB962C8B-B14F-4D97-AF65-F5344CB8AC3E}">
        <p14:creationId xmlns:p14="http://schemas.microsoft.com/office/powerpoint/2010/main" val="20982496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Retrospective pairs: one of 44 prior candidates entered OOS</a:t>
            </a:r>
          </a:p>
        </p:txBody>
      </p:sp>
      <p:sp>
        <p:nvSpPr>
          <p:cNvPr id="8" name="">
            <a:extLst xmlns:a="http://schemas.openxmlformats.org/drawingml/2006/main">
              <a:ext uri="{FF2B5EF4-FFF2-40B4-BE49-F238E27FC236}">
                <a16:creationId xmlns:a16="http://schemas.microsoft.com/office/drawing/2014/main" id="{8694B3C2-83ED-40A2-ACF7-D3B740A01244}"/>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6d3b438452d429f"/>
          <a:stretch xmlns:a="http://schemas.openxmlformats.org/drawingml/2006/main"/>
        </p:blipFill>
        <p:spPr>
          <a:xfrm xmlns:a="http://schemas.openxmlformats.org/drawingml/2006/main">
            <a:off x="1638300" y="1143000"/>
            <a:ext cx="8915400" cy="495300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SIL–SLV looked acceptable by trade—and lost money bar by bar</a:t>
            </a:r>
          </a:p>
        </p:txBody>
      </p:sp>
      <p:sp>
        <p:nvSpPr>
          <p:cNvPr id="8" name="">
            <a:extLst xmlns:a="http://schemas.openxmlformats.org/drawingml/2006/main">
              <a:ext uri="{FF2B5EF4-FFF2-40B4-BE49-F238E27FC236}">
                <a16:creationId xmlns:a16="http://schemas.microsoft.com/office/drawing/2014/main" id="{C58B68AB-291F-48F5-A4D0-74A8DF95C102}"/>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fe4339dd42c4c4e"/>
          <a:stretch xmlns:a="http://schemas.openxmlformats.org/drawingml/2006/main"/>
        </p:blipFill>
        <p:spPr>
          <a:xfrm xmlns:a="http://schemas.openxmlformats.org/drawingml/2006/main">
            <a:off x="1524000" y="1333500"/>
            <a:ext cx="9144000" cy="457200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Fresh pairs: broader economic logic still produced no nomination</a:t>
            </a:r>
          </a:p>
        </p:txBody>
      </p:sp>
      <p:sp>
        <p:nvSpPr>
          <p:cNvPr id="3" name="image-backing">
            <a:extLst xmlns:a="http://schemas.openxmlformats.org/drawingml/2006/main">
              <a:ext uri="{FF2B5EF4-FFF2-40B4-BE49-F238E27FC236}">
                <a16:creationId xmlns:a16="http://schemas.microsoft.com/office/drawing/2014/main" id="{6220C938-B9AD-4B79-90E3-107E303A9D0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F760EC2-C6B5-4968-A4B1-EBAD286BA351}"/>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Twenty preregistered pairs crossed broad substitutes, factors, industries, curves, credit, and stock peers.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All passed integrity and support. Sixteen passed beta coverage.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Zero passed the relaxed q10 return gate. Only one passed random-sign superiority and one robust convergence.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No OOS pair was opened.</a:t>
            </a:r>
          </a:p>
        </p:txBody>
      </p:sp>
      <p:sp>
        <p:nvSpPr>
          <p:cNvPr id="8" name="">
            <a:extLst xmlns:a="http://schemas.openxmlformats.org/drawingml/2006/main">
              <a:ext uri="{FF2B5EF4-FFF2-40B4-BE49-F238E27FC236}">
                <a16:creationId xmlns:a16="http://schemas.microsoft.com/office/drawing/2014/main" id="{5F1B8A64-ACC9-4498-AEAE-0060DC180571}"/>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25209D2C-E63E-4C2B-9C87-FE274541976C}"/>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E253BAE9-E575-4270-B93E-0747E5B445A0}"/>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97a82847ff940d2"/>
          <a:stretch xmlns:a="http://schemas.openxmlformats.org/drawingml/2006/main"/>
        </p:blipFill>
        <p:spPr>
          <a:xfrm xmlns:a="http://schemas.openxmlformats.org/drawingml/2006/main">
            <a:off x="6267450" y="2016125"/>
            <a:ext cx="5429250" cy="30162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LIT-MR-03.2 widens persistence tolerance without changing rank logic</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Integrity, all-leg I(1), exact Johansen rank one, support, return uncertainty, and convergence remain mandatory. The cointegrating vector is still estimated only in TRAIN and frozen for OOS.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0.80</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Minimum split-sample cosine</a:t>
            </a:r>
          </a:p>
          <a:p xmlns:a="http://schemas.openxmlformats.org/drawingml/2006/main">
            <a:pPr algn="l">
              <a:buNone/>
              <a:defRPr sz="1575">
                <a:solidFill>
                  <a:srgbClr val="000000"/>
                </a:solidFill>
                <a:latin typeface="Helvetica Neue"/>
                <a:ea typeface="Helvetica Neue"/>
                <a:cs typeface="Helvetica Neue"/>
              </a:defRPr>
            </a:pPr>
            <a:r>
              <a:t>Down from 0.85</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2–90</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Accepted half-life sessions</a:t>
            </a:r>
          </a:p>
          <a:p xmlns:a="http://schemas.openxmlformats.org/drawingml/2006/main">
            <a:pPr algn="l">
              <a:buNone/>
              <a:defRPr sz="1575">
                <a:solidFill>
                  <a:srgbClr val="000000"/>
                </a:solidFill>
                <a:latin typeface="Helvetica Neue"/>
                <a:ea typeface="Helvetica Neue"/>
                <a:cs typeface="Helvetica Neue"/>
              </a:defRPr>
            </a:pPr>
            <a:r>
              <a:t>Upper bound widened from 60</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24 / 8</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Completed TRAIN trades</a:t>
            </a:r>
          </a:p>
          <a:p xmlns:a="http://schemas.openxmlformats.org/drawingml/2006/main">
            <a:pPr algn="l">
              <a:buNone/>
              <a:defRPr sz="1575">
                <a:solidFill>
                  <a:srgbClr val="000000"/>
                </a:solidFill>
                <a:latin typeface="Helvetica Neue"/>
                <a:ea typeface="Helvetica Neue"/>
                <a:cs typeface="Helvetica Neue"/>
              </a:defRPr>
            </a:pPr>
            <a:r>
              <a:t>With q10 return and q90 convergence</a:t>
            </a:r>
          </a:p>
        </p:txBody>
      </p:sp>
    </p:spTree>
    <p:extLst>
      <p:ext uri="{BB962C8B-B14F-4D97-AF65-F5344CB8AC3E}">
        <p14:creationId xmlns:p14="http://schemas.microsoft.com/office/powerpoint/2010/main" val="20982496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Retrospective triplets: easing added one weak OOS candidate</a:t>
            </a:r>
          </a:p>
        </p:txBody>
      </p:sp>
      <p:sp>
        <p:nvSpPr>
          <p:cNvPr id="8" name="">
            <a:extLst xmlns:a="http://schemas.openxmlformats.org/drawingml/2006/main">
              <a:ext uri="{FF2B5EF4-FFF2-40B4-BE49-F238E27FC236}">
                <a16:creationId xmlns:a16="http://schemas.microsoft.com/office/drawing/2014/main" id="{8694B3C2-83ED-40A2-ACF7-D3B740A01244}"/>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117a8b418c0474d"/>
          <a:stretch xmlns:a="http://schemas.openxmlformats.org/drawingml/2006/main"/>
        </p:blipFill>
        <p:spPr>
          <a:xfrm xmlns:a="http://schemas.openxmlformats.org/drawingml/2006/main">
            <a:off x="1524000" y="1333500"/>
            <a:ext cx="9144000" cy="457200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Fresh triplets: one clean TRAIN pass, three honest coverage failures</a:t>
            </a:r>
          </a:p>
        </p:txBody>
      </p:sp>
      <p:sp>
        <p:nvSpPr>
          <p:cNvPr id="3" name="image-backing">
            <a:extLst xmlns:a="http://schemas.openxmlformats.org/drawingml/2006/main">
              <a:ext uri="{FF2B5EF4-FFF2-40B4-BE49-F238E27FC236}">
                <a16:creationId xmlns:a16="http://schemas.microsoft.com/office/drawing/2014/main" id="{6220C938-B9AD-4B79-90E3-107E303A9D0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F760EC2-C6B5-4968-A4B1-EBAD286BA351}"/>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Twenty frozen hypotheses spanned near substitutes, sectors, curves, basket/components, and stock peers.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SPLG, REMX, and IGIB lacked full TRAIN history. Their three candidates remained in the ledger as ineligible—no replacements.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Among 17 eligible triplets, F20 UNP–CSX–NSC alone passed all relaxed gates.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It also passed every original strict gate.</a:t>
            </a:r>
          </a:p>
        </p:txBody>
      </p:sp>
      <p:sp>
        <p:nvSpPr>
          <p:cNvPr id="8" name="">
            <a:extLst xmlns:a="http://schemas.openxmlformats.org/drawingml/2006/main">
              <a:ext uri="{FF2B5EF4-FFF2-40B4-BE49-F238E27FC236}">
                <a16:creationId xmlns:a16="http://schemas.microsoft.com/office/drawing/2014/main" id="{5F1B8A64-ACC9-4498-AEAE-0060DC180571}"/>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25209D2C-E63E-4C2B-9C87-FE274541976C}"/>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E253BAE9-E575-4270-B93E-0747E5B445A0}"/>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f0a4e75d8514bd4"/>
          <a:stretch xmlns:a="http://schemas.openxmlformats.org/drawingml/2006/main"/>
        </p:blipFill>
        <p:spPr>
          <a:xfrm xmlns:a="http://schemas.openxmlformats.org/drawingml/2006/main">
            <a:off x="6267450" y="2016125"/>
            <a:ext cx="5429250" cy="301625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UNP–CSX–NSC was not a marginal relaxed-gate nomination</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full-TRAIN vector was sₜ = UNPₜ + 1.9029·CSXₜ − 1.0922·NSCₜ. It passed both 03.2 and the original 03.1 thresholds before any 2021–2023 result was queried.</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8 / 8</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Strict and relaxed gates</a:t>
            </a:r>
          </a:p>
          <a:p xmlns:a="http://schemas.openxmlformats.org/drawingml/2006/main">
            <a:pPr algn="l">
              <a:buNone/>
              <a:defRPr sz="1575">
                <a:solidFill>
                  <a:srgbClr val="000000"/>
                </a:solidFill>
                <a:latin typeface="Helvetica Neue"/>
                <a:ea typeface="Helvetica Neue"/>
                <a:cs typeface="Helvetica Neue"/>
              </a:defRPr>
            </a:pPr>
            <a:r>
              <a:t>Cosine .9828 · half-life 14.75</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+31.1 bp</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84 completed TRAIN trades</a:t>
            </a:r>
          </a:p>
          <a:p xmlns:a="http://schemas.openxmlformats.org/drawingml/2006/main">
            <a:pPr algn="l">
              <a:buNone/>
              <a:defRPr sz="1575">
                <a:solidFill>
                  <a:srgbClr val="000000"/>
                </a:solidFill>
                <a:latin typeface="Helvetica Neue"/>
                <a:ea typeface="Helvetica Neue"/>
                <a:cs typeface="Helvetica Neue"/>
              </a:defRPr>
            </a:pPr>
            <a:r>
              <a:t>q10 +15.3 bp · hit 70.2%</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−0.105</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Forward-five correlation</a:t>
            </a:r>
          </a:p>
          <a:p xmlns:a="http://schemas.openxmlformats.org/drawingml/2006/main">
            <a:pPr algn="l">
              <a:buNone/>
              <a:defRPr sz="1575">
                <a:solidFill>
                  <a:srgbClr val="000000"/>
                </a:solidFill>
                <a:latin typeface="Helvetica Neue"/>
                <a:ea typeface="Helvetica Neue"/>
                <a:cs typeface="Helvetica Neue"/>
              </a:defRPr>
            </a:pPr>
            <a:r>
              <a:t>q90 convergence −0.0460</a:t>
            </a:r>
          </a:p>
        </p:txBody>
      </p:sp>
    </p:spTree>
    <p:extLst>
      <p:ext uri="{BB962C8B-B14F-4D97-AF65-F5344CB8AC3E}">
        <p14:creationId xmlns:p14="http://schemas.microsoft.com/office/powerpoint/2010/main" val="209824963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strongest fresh TRAIN candidate broke decisively OOS</a:t>
            </a:r>
          </a:p>
        </p:txBody>
      </p:sp>
      <p:sp>
        <p:nvSpPr>
          <p:cNvPr id="8" name="">
            <a:extLst xmlns:a="http://schemas.openxmlformats.org/drawingml/2006/main">
              <a:ext uri="{FF2B5EF4-FFF2-40B4-BE49-F238E27FC236}">
                <a16:creationId xmlns:a16="http://schemas.microsoft.com/office/drawing/2014/main" id="{C58B68AB-291F-48F5-A4D0-74A8DF95C102}"/>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35f13795afe4862"/>
          <a:stretch xmlns:a="http://schemas.openxmlformats.org/drawingml/2006/main"/>
        </p:blipFill>
        <p:spPr>
          <a:xfrm xmlns:a="http://schemas.openxmlformats.org/drawingml/2006/main">
            <a:off x="1524000" y="1333500"/>
            <a:ext cx="9144000" cy="4572000"/>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Gate easing improved sensitivity—but did not solve persistence</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experiment did what a challenger should do: it exposed whether conservative cutoffs were hiding durable effects. The answer was mostly no.</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RETRO</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Useful counterfactuals</a:t>
            </a:r>
          </a:p>
          <a:p xmlns:a="http://schemas.openxmlformats.org/drawingml/2006/main">
            <a:pPr algn="l">
              <a:buNone/>
              <a:defRPr sz="1575">
                <a:solidFill>
                  <a:srgbClr val="000000"/>
                </a:solidFill>
                <a:latin typeface="Helvetica Neue"/>
                <a:ea typeface="Helvetica Neue"/>
                <a:cs typeface="Helvetica Neue"/>
              </a:defRPr>
            </a:pPr>
            <a:r>
              <a:t>Never rebranded as prospective alpha</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FRESH</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One strict-quality triplet failed OOS</a:t>
            </a:r>
          </a:p>
          <a:p xmlns:a="http://schemas.openxmlformats.org/drawingml/2006/main">
            <a:pPr algn="l">
              <a:buNone/>
              <a:defRPr sz="1575">
                <a:solidFill>
                  <a:srgbClr val="000000"/>
                </a:solidFill>
                <a:latin typeface="Helvetica Neue"/>
                <a:ea typeface="Helvetica Neue"/>
                <a:cs typeface="Helvetica Neue"/>
              </a:defRPr>
            </a:pPr>
            <a:r>
              <a:t>Fresh pairs produced no nomination</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STOP</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Do not relax further</a:t>
            </a:r>
          </a:p>
          <a:p xmlns:a="http://schemas.openxmlformats.org/drawingml/2006/main">
            <a:pPr algn="l">
              <a:buNone/>
              <a:defRPr sz="1575">
                <a:solidFill>
                  <a:srgbClr val="000000"/>
                </a:solidFill>
                <a:latin typeface="Helvetica Neue"/>
                <a:ea typeface="Helvetica Neue"/>
                <a:cs typeface="Helvetica Neue"/>
              </a:defRPr>
            </a:pPr>
            <a:r>
              <a:t>The bottleneck is time stability, not gate width</a:t>
            </a:r>
          </a:p>
        </p:txBody>
      </p:sp>
    </p:spTree>
    <p:extLst>
      <p:ext uri="{BB962C8B-B14F-4D97-AF65-F5344CB8AC3E}">
        <p14:creationId xmlns:p14="http://schemas.microsoft.com/office/powerpoint/2010/main" val="209824963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Keep the gates where they are.</a:t>
            </a:r>
          </a:p>
          <a:p xmlns:a="http://schemas.openxmlformats.org/drawingml/2006/main">
            <a:pPr algn="l">
              <a:buNone/>
              <a:defRPr sz="5700">
                <a:solidFill>
                  <a:srgbClr val="000000"/>
                </a:solidFill>
                <a:latin typeface="Helvetica Neue"/>
                <a:ea typeface="Helvetica Neue"/>
                <a:cs typeface="Helvetica Neue"/>
              </a:defRPr>
            </a:pPr>
            <a:r>
              <a:t>Study when relationships expire.</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LIT-MR-02.2 and 03.2 are complete challengers. Preserve the retrospective/fresh lane boundary, keep 2024+ sealed, and stop before opening any adaptive requalification design.</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DECISION: NO FURTHER EASING | NEXT GATE BELONGS TO THE OPERATOR</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2026-07-29T17:29:25.7470000Z</dcterms:created>
  <dcterms:modified xsi:type="dcterms:W3CDTF">2026-07-29T17:29:25.7470000Z</dcterms:modified>
</coreProperties>
</file>