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140c95961d4360" /><Relationship Type="http://schemas.openxmlformats.org/officeDocument/2006/relationships/extended-properties" Target="/docProps/app.xml" Id="R7c1614206dfe4279" /><Relationship Type="http://schemas.openxmlformats.org/officeDocument/2006/relationships/officeDocument" Target="/ppt/presentation.xml" Id="Re8591ebff1e9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6f38e4c4b64edd"/>
  </p:sldMasterIdLst>
  <p:notesMasterIdLst>
    <p:notesMasterId xmlns:r="http://schemas.openxmlformats.org/officeDocument/2006/relationships" r:id="R50205e602cd4440e"/>
  </p:notesMasterIdLst>
  <p:sldIdLst>
    <p:sldId xmlns:r="http://schemas.openxmlformats.org/officeDocument/2006/relationships" id="256" r:id="R4150f7e318804f49"/>
    <p:sldId xmlns:r="http://schemas.openxmlformats.org/officeDocument/2006/relationships" id="257" r:id="R041bae1af6a34c98"/>
    <p:sldId xmlns:r="http://schemas.openxmlformats.org/officeDocument/2006/relationships" id="258" r:id="R3151020f1b8b44c1"/>
    <p:sldId xmlns:r="http://schemas.openxmlformats.org/officeDocument/2006/relationships" id="259" r:id="Rd8e8f9051c8f4edf"/>
    <p:sldId xmlns:r="http://schemas.openxmlformats.org/officeDocument/2006/relationships" id="260" r:id="Rf8e6ffdb227d4570"/>
    <p:sldId xmlns:r="http://schemas.openxmlformats.org/officeDocument/2006/relationships" id="261" r:id="R2b252dea4ff74005"/>
    <p:sldId xmlns:r="http://schemas.openxmlformats.org/officeDocument/2006/relationships" id="262" r:id="Rc63fce82d6d24f35"/>
    <p:sldId xmlns:r="http://schemas.openxmlformats.org/officeDocument/2006/relationships" id="263" r:id="R692204baac0d4a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f8338ea00a46ec" /><Relationship Type="http://schemas.openxmlformats.org/officeDocument/2006/relationships/slideMaster" Target="/ppt/slideMasters/slideMaster1.xml" Id="Rc46f38e4c4b64edd" /><Relationship Type="http://schemas.openxmlformats.org/officeDocument/2006/relationships/notesMaster" Target="/ppt/notesMasters/notesMaster1.xml" Id="R50205e602cd4440e" /><Relationship Type="http://schemas.openxmlformats.org/officeDocument/2006/relationships/presProps" Target="/ppt/presProps.xml" Id="Re3f9a6551dcd484e" /><Relationship Type="http://schemas.openxmlformats.org/officeDocument/2006/relationships/tableStyles" Target="/ppt/tableStyles.xml" Id="R1ddb750f317d483c" /><Relationship Type="http://schemas.openxmlformats.org/officeDocument/2006/relationships/slide" Target="/ppt/slides/slide1.xml" Id="R4150f7e318804f49" /><Relationship Type="http://schemas.openxmlformats.org/officeDocument/2006/relationships/slide" Target="/ppt/slides/slide2.xml" Id="R041bae1af6a34c98" /><Relationship Type="http://schemas.openxmlformats.org/officeDocument/2006/relationships/slide" Target="/ppt/slides/slide3.xml" Id="R3151020f1b8b44c1" /><Relationship Type="http://schemas.openxmlformats.org/officeDocument/2006/relationships/slide" Target="/ppt/slides/slide4.xml" Id="Rd8e8f9051c8f4edf" /><Relationship Type="http://schemas.openxmlformats.org/officeDocument/2006/relationships/slide" Target="/ppt/slides/slide5.xml" Id="Rf8e6ffdb227d4570" /><Relationship Type="http://schemas.openxmlformats.org/officeDocument/2006/relationships/slide" Target="/ppt/slides/slide6.xml" Id="R2b252dea4ff74005" /><Relationship Type="http://schemas.openxmlformats.org/officeDocument/2006/relationships/slide" Target="/ppt/slides/slide7.xml" Id="Rc63fce82d6d24f35" /><Relationship Type="http://schemas.openxmlformats.org/officeDocument/2006/relationships/slide" Target="/ppt/slides/slide8.xml" Id="R692204baac0d4a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b8e9574b3346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8968993bea406d" /><Relationship Type="http://schemas.openxmlformats.org/officeDocument/2006/relationships/notesMaster" Target="/ppt/notesMasters/notesMaster1.xml" Id="R8d3fb2292e6d4e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54d1aab1364114" /><Relationship Type="http://schemas.openxmlformats.org/officeDocument/2006/relationships/notesMaster" Target="/ppt/notesMasters/notesMaster1.xml" Id="R23fb3761368d44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8c9a10869e4fe5" /><Relationship Type="http://schemas.openxmlformats.org/officeDocument/2006/relationships/notesMaster" Target="/ppt/notesMasters/notesMaster1.xml" Id="Rc60e1c8775714c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be946d4e8486d" /><Relationship Type="http://schemas.openxmlformats.org/officeDocument/2006/relationships/notesMaster" Target="/ppt/notesMasters/notesMaster1.xml" Id="R139f655acd7f42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13fc31657f44a8" /><Relationship Type="http://schemas.openxmlformats.org/officeDocument/2006/relationships/notesMaster" Target="/ppt/notesMasters/notesMaster1.xml" Id="R0649b96a644f43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f235bf8daf48af" /><Relationship Type="http://schemas.openxmlformats.org/officeDocument/2006/relationships/notesMaster" Target="/ppt/notesMasters/notesMaster1.xml" Id="R467ee9eec6b04e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2ee350dd644d7d" /><Relationship Type="http://schemas.openxmlformats.org/officeDocument/2006/relationships/notesMaster" Target="/ppt/notesMasters/notesMaster1.xml" Id="R0249c3742ba245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f223d1c1194b21" /><Relationship Type="http://schemas.openxmlformats.org/officeDocument/2006/relationships/notesMaster" Target="/ppt/notesMasters/notesMaster1.xml" Id="R6ffe4278f6f1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 opens a distinct relative-value mechanism after the frozen T1 and M1 falsifications. The deck records an exact proposal, not implementation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D54 -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- https://www.nber.org/papers/w7032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professional distinction is explicit: correlation, residual unusualness, historical convergence, and point-in-time executability are four different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D54 -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- https://www.nber.org/papers/w7032</a:t>
            </a:r>
          </a:p>
          <a:p xmlns:a="http://schemas.openxmlformats.org/drawingml/2006/main">
            <a:r>
              <a:t>- https://docs.alpaca.markets/us/docs/margin-and-short-selling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survivor panel deliberately favors clean retail plumbing. Point-in-time eligibility controls when a member can enter; it does not create a reconstructed historical ETF universe.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D54 -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- https://docs.alpaca.markets/us/docs/market-data-faq</a:t>
            </a:r>
          </a:p>
          <a:p xmlns:a="http://schemas.openxmlformats.org/drawingml/2006/main">
            <a:r>
              <a:t>- https://docs.alpaca.markets/us/changelog/2026-06-05-borrow-status-6b96a5a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Quarterly rolling TRAIN prevents OOS information from changing pair membership, hedge ratio, residual center, scale, or event threshold. Ten sessions is primary; five and twenty are diagnostics.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D54 -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Gross absolute exposure is normalized to one with beta-informed leg weights. Fixed positions isolate residual convergence but do not guarantee complete market, sector, or factor neutrality.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D54 -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- https://docs.alpaca.markets/us/docs/margin-and-short-selling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Random-pair policies test formation skill, same-pair quiet dates test whether dislocation matters, and no-trade tests whether ordinary cost-adjusted convergence is positive.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D54 -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nine gates are conjunctive. The slide compresses them into mechanics, mechanism support, controls, and robustness; the contract contains the exact definitions and STOP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D54 -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action is operator review of the exact contract. No S0A retrieval, relationship fitting, outcome calculation, control simulation, or short-side activity is authorized by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Dialogue reference: D54 - codex://threads/019f741e-615f-7fd0-90f7-edce12b5cb66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Project/Time-Series-Modeling-Gen5/docs/GEN5_S0_STATISTICAL_ARBITRAGE_ADMISSIBILITY_CONTRACT.md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  <a:p xmlns:a="http://schemas.openxmlformats.org/drawingml/2006/main">
            <a:r>
              <a:t>- C:/Users/Franc/OneDrive/Documents/Francis/Peltata Project/Time-Series-Modeling-Gen5/docs/GEN5_4_DECISION_DIALOGUE_INDEX.md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a4b5d0847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a8428936d74e36" /><Relationship Type="http://schemas.openxmlformats.org/officeDocument/2006/relationships/slideLayout" Target="/ppt/slideLayouts/slideLayout1.xml" Id="Rd558ed14d1944f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58ed14d1944f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6742f12f74cea" /><Relationship Type="http://schemas.openxmlformats.org/officeDocument/2006/relationships/notesSlide" Target="/ppt/notesSlides/notesSlide1.xml" Id="R4e6eb7fe96b048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fe189f3434bf1" /><Relationship Type="http://schemas.openxmlformats.org/officeDocument/2006/relationships/notesSlide" Target="/ppt/notesSlides/notesSlide2.xml" Id="R42300decb0b84f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473f86eda47a4" /><Relationship Type="http://schemas.openxmlformats.org/officeDocument/2006/relationships/notesSlide" Target="/ppt/notesSlides/notesSlide3.xml" Id="R7929b8e52f644a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65a27a8c84890" /><Relationship Type="http://schemas.openxmlformats.org/officeDocument/2006/relationships/notesSlide" Target="/ppt/notesSlides/notesSlide4.xml" Id="Rc669a1ae4d7c43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168b0d8e74743" /><Relationship Type="http://schemas.openxmlformats.org/officeDocument/2006/relationships/notesSlide" Target="/ppt/notesSlides/notesSlide5.xml" Id="R841d2b8d881240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76782428f4f50" /><Relationship Type="http://schemas.openxmlformats.org/officeDocument/2006/relationships/notesSlide" Target="/ppt/notesSlides/notesSlide6.xml" Id="R731d4b6657d541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94be42fdc49d2" /><Relationship Type="http://schemas.openxmlformats.org/officeDocument/2006/relationships/notesSlide" Target="/ppt/notesSlides/notesSlide7.xml" Id="R81da9f5befb345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e9ae3eeff4dd5" /><Relationship Type="http://schemas.openxmlformats.org/officeDocument/2006/relationships/notesSlide" Target="/ppt/notesSlides/notesSlide8.xml" Id="Rc0c2a15ae8144d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8BF6413-CE70-42A5-A957-D7DB1F41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STATISTICAL-ARBITRAGE DETOUR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20325B-18EF-4827-8364-B577814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Convergence before trading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B2BAF6C-72C7-4F75-80A1-653E0C9C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Test the mechanism before portfolio P&amp;L.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Separate convergence from borrow executability.</a:t>
            </a:r>
          </a:p>
        </p:txBody>
      </p:sp>
      <p:sp>
        <p:nvSpPr>
          <p:cNvPr id="4" name="rule-42-500-600">
            <a:extLst xmlns:a="http://schemas.openxmlformats.org/drawingml/2006/main">
              <a:ext uri="{FF2B5EF4-FFF2-40B4-BE49-F238E27FC236}">
                <a16:creationId xmlns:a16="http://schemas.microsoft.com/office/drawing/2014/main" id="{F6907ED2-E930-4BEC-A4B2-59F2BA87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71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BBD19556-02C5-4F03-920F-00FF25F5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This deck freezes the proposed S0A experiment.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It does not authorize pair fitting, outcome inspection, or short orders.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94201F6C-D76C-4937-9C77-E02DAEB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0"/>
            <a:ext cx="1657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1">
            <a:extLst xmlns:a="http://schemas.openxmlformats.org/drawingml/2006/main">
              <a:ext uri="{FF2B5EF4-FFF2-40B4-BE49-F238E27FC236}">
                <a16:creationId xmlns:a16="http://schemas.microsoft.com/office/drawing/2014/main" id="{A493E545-AC55-4184-9F92-46ADD00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43150"/>
            <a:ext cx="1095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8" name="t1-label">
            <a:extLst xmlns:a="http://schemas.openxmlformats.org/drawingml/2006/main">
              <a:ext uri="{FF2B5EF4-FFF2-40B4-BE49-F238E27FC236}">
                <a16:creationId xmlns:a16="http://schemas.microsoft.com/office/drawing/2014/main" id="{A6B42214-6CC2-46BA-B5C2-789D8705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124200"/>
            <a:ext cx="1466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convergence</a:t>
            </a:r>
          </a:p>
        </p:txBody>
      </p:sp>
      <p:sp>
        <p:nvSpPr>
          <p:cNvPr id="9" name="bookmark-D49–D50">
            <a:extLst xmlns:a="http://schemas.openxmlformats.org/drawingml/2006/main">
              <a:ext uri="{FF2B5EF4-FFF2-40B4-BE49-F238E27FC236}">
                <a16:creationId xmlns:a16="http://schemas.microsoft.com/office/drawing/2014/main" id="{662A8DAF-7B49-4AAD-BCF7-5B02FFFB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D54</a:t>
            </a:r>
          </a:p>
        </p:txBody>
      </p:sp>
    </p:spTree>
    <p:extLst>
      <p:ext uri="{BB962C8B-B14F-4D97-AF65-F5344CB8AC3E}">
        <p14:creationId xmlns:p14="http://schemas.microsoft.com/office/powerpoint/2010/main" val="1176583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ransition">
            <a:extLst xmlns:a="http://schemas.openxmlformats.org/drawingml/2006/main">
              <a:ext uri="{FF2B5EF4-FFF2-40B4-BE49-F238E27FC236}">
                <a16:creationId xmlns:a16="http://schemas.microsoft.com/office/drawing/2014/main" id="{E242B5EB-CBF2-44CB-8C38-4F62616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TRANSITION  /  S0 CONTRACT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F6426AC-E928-4386-87E0-7FABABE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15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Correlation ≠ convergence.</a:t>
            </a:r>
          </a:p>
          <a:p xmlns:a="http://schemas.openxmlformats.org/drawingml/2006/main">
            <a:pPr algn="l">
              <a:buNone/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Convergence ≠ execution.</a:t>
            </a:r>
          </a:p>
        </p:txBody>
      </p:sp>
      <p:sp>
        <p:nvSpPr>
          <p:cNvPr id="3" name="rule-62-430-620">
            <a:extLst xmlns:a="http://schemas.openxmlformats.org/drawingml/2006/main">
              <a:ext uri="{FF2B5EF4-FFF2-40B4-BE49-F238E27FC236}">
                <a16:creationId xmlns:a16="http://schemas.microsoft.com/office/drawing/2014/main" id="{4894D98D-141C-4EA7-BB60-D415F976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7129FB-E8B1-4343-9302-3B8A297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z-score measures unusualness. Only OOS reversal, controls,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costs, and breadth can admit the mechanism.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CDE5FBB4-9210-4434-9BCC-381C09C4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6" name="status">
            <a:extLst xmlns:a="http://schemas.openxmlformats.org/drawingml/2006/main">
              <a:ext uri="{FF2B5EF4-FFF2-40B4-BE49-F238E27FC236}">
                <a16:creationId xmlns:a16="http://schemas.microsoft.com/office/drawing/2014/main" id="{14335121-1C56-41C7-B59E-CBBDEA5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86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EXACT PROPOSAL</a:t>
            </a:r>
          </a:p>
        </p:txBody>
      </p:sp>
      <p:sp>
        <p:nvSpPr>
          <p:cNvPr id="7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94F25D00-C490-4956-B4DE-0A462E4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D54</a:t>
            </a:r>
          </a:p>
        </p:txBody>
      </p:sp>
    </p:spTree>
    <p:extLst>
      <p:ext uri="{BB962C8B-B14F-4D97-AF65-F5344CB8AC3E}">
        <p14:creationId xmlns:p14="http://schemas.microsoft.com/office/powerpoint/2010/main" val="1501889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14075F3A-6B4B-46F7-81DD-A10D7C1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 STATISTICAL-ARBITRAGE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1BE7C3-D01B-4882-8D3E-CD1FDDA5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Thirty-seven ETFs create four economic comparison groups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8F5C3FD1-22EB-4083-8355-7E39F5F5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8810A641-CF3C-4D5F-B83B-3A683E2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D54</a:t>
            </a:r>
          </a:p>
        </p:txBody>
      </p:sp>
      <p:sp>
        <p:nvSpPr>
          <p:cNvPr id="5" name="Equity beta-group">
            <a:extLst xmlns:a="http://schemas.openxmlformats.org/drawingml/2006/main">
              <a:ext uri="{FF2B5EF4-FFF2-40B4-BE49-F238E27FC236}">
                <a16:creationId xmlns:a16="http://schemas.microsoft.com/office/drawing/2014/main" id="{DBFC916B-1F38-43E4-BD80-4F52DEF2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524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Equity beta-top">
            <a:extLst xmlns:a="http://schemas.openxmlformats.org/drawingml/2006/main">
              <a:ext uri="{FF2B5EF4-FFF2-40B4-BE49-F238E27FC236}">
                <a16:creationId xmlns:a16="http://schemas.microsoft.com/office/drawing/2014/main" id="{E9A12D65-1168-45BE-ACBC-767553E1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524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quity beta-label">
            <a:extLst xmlns:a="http://schemas.openxmlformats.org/drawingml/2006/main">
              <a:ext uri="{FF2B5EF4-FFF2-40B4-BE49-F238E27FC236}">
                <a16:creationId xmlns:a16="http://schemas.microsoft.com/office/drawing/2014/main" id="{FF197720-0D6E-426E-80EA-A7E7E78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US sectors</a:t>
            </a:r>
          </a:p>
        </p:txBody>
      </p:sp>
      <p:sp>
        <p:nvSpPr>
          <p:cNvPr id="8" name="Equity beta-tickers">
            <a:extLst xmlns:a="http://schemas.openxmlformats.org/drawingml/2006/main">
              <a:ext uri="{FF2B5EF4-FFF2-40B4-BE49-F238E27FC236}">
                <a16:creationId xmlns:a16="http://schemas.microsoft.com/office/drawing/2014/main" id="{CAE1010D-4F9B-4FC3-BAAC-AFD55EEB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XLB  XLC  XLE  XLF  XLI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XLK  XLP  XLRE  XLU  XLV  XLY</a:t>
            </a:r>
          </a:p>
        </p:txBody>
      </p:sp>
      <p:sp>
        <p:nvSpPr>
          <p:cNvPr id="9" name="Rates + credit-group">
            <a:extLst xmlns:a="http://schemas.openxmlformats.org/drawingml/2006/main">
              <a:ext uri="{FF2B5EF4-FFF2-40B4-BE49-F238E27FC236}">
                <a16:creationId xmlns:a16="http://schemas.microsoft.com/office/drawing/2014/main" id="{8152D93E-A15C-4995-A7B0-88065A9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524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0" name="Rates + credit-top">
            <a:extLst xmlns:a="http://schemas.openxmlformats.org/drawingml/2006/main">
              <a:ext uri="{FF2B5EF4-FFF2-40B4-BE49-F238E27FC236}">
                <a16:creationId xmlns:a16="http://schemas.microsoft.com/office/drawing/2014/main" id="{DC1DBAD9-048A-4829-9AAB-23FC58C0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524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tes + credit-label">
            <a:extLst xmlns:a="http://schemas.openxmlformats.org/drawingml/2006/main">
              <a:ext uri="{FF2B5EF4-FFF2-40B4-BE49-F238E27FC236}">
                <a16:creationId xmlns:a16="http://schemas.microsoft.com/office/drawing/2014/main" id="{602BDD42-C0FA-4C3C-96B8-2A4F4AF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81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US size + style</a:t>
            </a:r>
          </a:p>
        </p:txBody>
      </p:sp>
      <p:sp>
        <p:nvSpPr>
          <p:cNvPr id="12" name="Rates + credit-tickers">
            <a:extLst xmlns:a="http://schemas.openxmlformats.org/drawingml/2006/main">
              <a:ext uri="{FF2B5EF4-FFF2-40B4-BE49-F238E27FC236}">
                <a16:creationId xmlns:a16="http://schemas.microsoft.com/office/drawing/2014/main" id="{1A38CB7B-2D46-47D8-A942-90B6F03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432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IWB  IWM  IWD  IWF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IWN  IWO  MDY  IJR</a:t>
            </a:r>
          </a:p>
        </p:txBody>
      </p:sp>
      <p:sp>
        <p:nvSpPr>
          <p:cNvPr id="13" name="Real assets-group">
            <a:extLst xmlns:a="http://schemas.openxmlformats.org/drawingml/2006/main">
              <a:ext uri="{FF2B5EF4-FFF2-40B4-BE49-F238E27FC236}">
                <a16:creationId xmlns:a16="http://schemas.microsoft.com/office/drawing/2014/main" id="{CD76131A-A20A-4A97-A2A1-F0D23A4D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524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46B08"/>
            </a:solidFill>
            <a:prstDash val="solid"/>
          </a:ln>
        </p:spPr>
      </p:sp>
      <p:sp>
        <p:nvSpPr>
          <p:cNvPr id="14" name="Real assets-top">
            <a:extLst xmlns:a="http://schemas.openxmlformats.org/drawingml/2006/main">
              <a:ext uri="{FF2B5EF4-FFF2-40B4-BE49-F238E27FC236}">
                <a16:creationId xmlns:a16="http://schemas.microsoft.com/office/drawing/2014/main" id="{D04EBA4F-C7DA-46DE-A668-8B2C3165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524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al assets-label">
            <a:extLst xmlns:a="http://schemas.openxmlformats.org/drawingml/2006/main">
              <a:ext uri="{FF2B5EF4-FFF2-40B4-BE49-F238E27FC236}">
                <a16:creationId xmlns:a16="http://schemas.microsoft.com/office/drawing/2014/main" id="{A96B3675-6FB9-4846-A209-1147D9D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Developed countries</a:t>
            </a:r>
          </a:p>
        </p:txBody>
      </p:sp>
      <p:sp>
        <p:nvSpPr>
          <p:cNvPr id="16" name="Real assets-tickers">
            <a:extLst xmlns:a="http://schemas.openxmlformats.org/drawingml/2006/main">
              <a:ext uri="{FF2B5EF4-FFF2-40B4-BE49-F238E27FC236}">
                <a16:creationId xmlns:a16="http://schemas.microsoft.com/office/drawing/2014/main" id="{339C650F-3150-4F32-A01F-7606363B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EWA  EWC  EWG  EWH  EWI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EWJ  EWL  EWN  EWS  EWU</a:t>
            </a:r>
          </a:p>
        </p:txBody>
      </p:sp>
      <p:sp>
        <p:nvSpPr>
          <p:cNvPr id="17" name="Diversifiers-group">
            <a:extLst xmlns:a="http://schemas.openxmlformats.org/drawingml/2006/main">
              <a:ext uri="{FF2B5EF4-FFF2-40B4-BE49-F238E27FC236}">
                <a16:creationId xmlns:a16="http://schemas.microsoft.com/office/drawing/2014/main" id="{89E94698-5BE4-4DD0-B32B-DF4D5965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524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8" name="Diversifiers-top">
            <a:extLst xmlns:a="http://schemas.openxmlformats.org/drawingml/2006/main">
              <a:ext uri="{FF2B5EF4-FFF2-40B4-BE49-F238E27FC236}">
                <a16:creationId xmlns:a16="http://schemas.microsoft.com/office/drawing/2014/main" id="{A0513DE8-8CE6-4826-9297-79859005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524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versifiers-label">
            <a:extLst xmlns:a="http://schemas.openxmlformats.org/drawingml/2006/main">
              <a:ext uri="{FF2B5EF4-FFF2-40B4-BE49-F238E27FC236}">
                <a16:creationId xmlns:a16="http://schemas.microsoft.com/office/drawing/2014/main" id="{2703BB05-13E6-40A7-94DA-BADC475C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Emerging countries</a:t>
            </a:r>
          </a:p>
        </p:txBody>
      </p:sp>
      <p:sp>
        <p:nvSpPr>
          <p:cNvPr id="20" name="Diversifiers-tickers">
            <a:extLst xmlns:a="http://schemas.openxmlformats.org/drawingml/2006/main">
              <a:ext uri="{FF2B5EF4-FFF2-40B4-BE49-F238E27FC236}">
                <a16:creationId xmlns:a16="http://schemas.microsoft.com/office/drawing/2014/main" id="{0934FA09-B269-4A91-A3FB-F9990BC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432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EEM  EWT  EWY  EWW</a:t>
            </a:r>
          </a:p>
          <a:p xmlns:a="http://schemas.openxmlformats.org/drawingml/2006/main">
            <a:pPr algn="l">
              <a:buNone/>
              <a:defRPr sz="15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EWZ  FXI  INDA  TUR</a:t>
            </a:r>
          </a:p>
        </p:txBody>
      </p:sp>
      <p:sp>
        <p:nvSpPr>
          <p:cNvPr id="21" name="cash-strip">
            <a:extLst xmlns:a="http://schemas.openxmlformats.org/drawingml/2006/main">
              <a:ext uri="{FF2B5EF4-FFF2-40B4-BE49-F238E27FC236}">
                <a16:creationId xmlns:a16="http://schemas.microsoft.com/office/drawing/2014/main" id="{C0D40866-6168-40B2-9231-8E88F692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sh-label">
            <a:extLst xmlns:a="http://schemas.openxmlformats.org/drawingml/2006/main">
              <a:ext uri="{FF2B5EF4-FFF2-40B4-BE49-F238E27FC236}">
                <a16:creationId xmlns:a16="http://schemas.microsoft.com/office/drawing/2014/main" id="{5695DC7E-04F7-4624-9178-0A223763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673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Claim boundary</a:t>
            </a:r>
          </a:p>
        </p:txBody>
      </p:sp>
      <p:sp>
        <p:nvSpPr>
          <p:cNvPr id="23" name="cash-ticker">
            <a:extLst xmlns:a="http://schemas.openxmlformats.org/drawingml/2006/main">
              <a:ext uri="{FF2B5EF4-FFF2-40B4-BE49-F238E27FC236}">
                <a16:creationId xmlns:a16="http://schemas.microsoft.com/office/drawing/2014/main" id="{C362F3EF-6616-4FA1-BF77-7CEF796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911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S0A</a:t>
            </a:r>
          </a:p>
        </p:txBody>
      </p:sp>
      <p:sp>
        <p:nvSpPr>
          <p:cNvPr id="24" name="cash-purpose">
            <a:extLst xmlns:a="http://schemas.openxmlformats.org/drawingml/2006/main">
              <a:ext uri="{FF2B5EF4-FFF2-40B4-BE49-F238E27FC236}">
                <a16:creationId xmlns:a16="http://schemas.microsoft.com/office/drawing/2014/main" id="{DC7E6BDA-3517-45FE-AF2F-7E2AA759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768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historical convergence after ordinary costs—not historical borrow</a:t>
            </a:r>
          </a:p>
        </p:txBody>
      </p:sp>
      <p:sp>
        <p:nvSpPr>
          <p:cNvPr id="25" name="scope">
            <a:extLst xmlns:a="http://schemas.openxmlformats.org/drawingml/2006/main">
              <a:ext uri="{FF2B5EF4-FFF2-40B4-BE49-F238E27FC236}">
                <a16:creationId xmlns:a16="http://schemas.microsoft.com/office/drawing/2014/main" id="{500AA6FA-1018-4959-849C-DF1B8C91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900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Adjusted daily Alpaca bars only  •  explicit as-of  •  fixed survivor panel  •  no new provider</a:t>
            </a:r>
          </a:p>
        </p:txBody>
      </p:sp>
    </p:spTree>
    <p:extLst>
      <p:ext uri="{BB962C8B-B14F-4D97-AF65-F5344CB8AC3E}">
        <p14:creationId xmlns:p14="http://schemas.microsoft.com/office/powerpoint/2010/main" val="1866532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CA476BDE-F350-418F-A552-1B34561B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 STATISTICAL-ARBITRAGE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433660-7D9E-4E8D-8A94-6F421D3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Every relationship is frozen before its OOS quarter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31A233CF-F033-45A9-BD55-1DFECE9C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9CDF23B9-E6B1-4DC8-90B6-AF6A627F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D54</a:t>
            </a:r>
          </a:p>
        </p:txBody>
      </p:sp>
      <p:sp>
        <p:nvSpPr>
          <p:cNvPr id="5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72767857-7061-45AC-BFB6-469DE8D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TRAIN-ONLY PAIR MODEL</a:t>
            </a:r>
          </a:p>
        </p:txBody>
      </p:sp>
      <p:sp>
        <p:nvSpPr>
          <p:cNvPr id="6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1E9869D2-19C4-4B8A-BD71-4F592C06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13989CF5-D24E-4B54-831E-83737BC4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log(A)  =  αTRAIN  +  βTRAIN log(B)  +  residual</a:t>
            </a:r>
          </a:p>
        </p:txBody>
      </p:sp>
      <p:sp>
        <p:nvSpPr>
          <p:cNvPr id="8" name="rule-100-420-1065">
            <a:extLst xmlns:a="http://schemas.openxmlformats.org/drawingml/2006/main">
              <a:ext uri="{FF2B5EF4-FFF2-40B4-BE49-F238E27FC236}">
                <a16:creationId xmlns:a16="http://schemas.microsoft.com/office/drawing/2014/main" id="{0D4F047B-7C94-4351-A74B-ED3371C4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14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145">
            <a:extLst xmlns:a="http://schemas.openxmlformats.org/drawingml/2006/main">
              <a:ext uri="{FF2B5EF4-FFF2-40B4-BE49-F238E27FC236}">
                <a16:creationId xmlns:a16="http://schemas.microsoft.com/office/drawing/2014/main" id="{6A5CBC6E-EE1E-4B29-871C-4C9209AF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label-145">
            <a:extLst xmlns:a="http://schemas.openxmlformats.org/drawingml/2006/main">
              <a:ext uri="{FF2B5EF4-FFF2-40B4-BE49-F238E27FC236}">
                <a16:creationId xmlns:a16="http://schemas.microsoft.com/office/drawing/2014/main" id="{88496044-1101-4FD1-B928-1FF6984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504 sessions</a:t>
            </a:r>
          </a:p>
        </p:txBody>
      </p:sp>
      <p:sp>
        <p:nvSpPr>
          <p:cNvPr id="11" name="node-sub-145">
            <a:extLst xmlns:a="http://schemas.openxmlformats.org/drawingml/2006/main">
              <a:ext uri="{FF2B5EF4-FFF2-40B4-BE49-F238E27FC236}">
                <a16:creationId xmlns:a16="http://schemas.microsoft.com/office/drawing/2014/main" id="{768C2BEF-4E64-4224-98E7-6FFC4A85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fit relationship;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rank stability</a:t>
            </a:r>
          </a:p>
        </p:txBody>
      </p:sp>
      <p:sp>
        <p:nvSpPr>
          <p:cNvPr id="12" name="node-475">
            <a:extLst xmlns:a="http://schemas.openxmlformats.org/drawingml/2006/main">
              <a:ext uri="{FF2B5EF4-FFF2-40B4-BE49-F238E27FC236}">
                <a16:creationId xmlns:a16="http://schemas.microsoft.com/office/drawing/2014/main" id="{ACD55EAB-C174-4C41-ABF0-9FA84F80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label-475">
            <a:extLst xmlns:a="http://schemas.openxmlformats.org/drawingml/2006/main">
              <a:ext uri="{FF2B5EF4-FFF2-40B4-BE49-F238E27FC236}">
                <a16:creationId xmlns:a16="http://schemas.microsoft.com/office/drawing/2014/main" id="{5E0F7763-5B29-43A0-9B6B-E29F574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formation close</a:t>
            </a:r>
          </a:p>
        </p:txBody>
      </p:sp>
      <p:sp>
        <p:nvSpPr>
          <p:cNvPr id="14" name="node-sub-475">
            <a:extLst xmlns:a="http://schemas.openxmlformats.org/drawingml/2006/main">
              <a:ext uri="{FF2B5EF4-FFF2-40B4-BE49-F238E27FC236}">
                <a16:creationId xmlns:a16="http://schemas.microsoft.com/office/drawing/2014/main" id="{FACF6E5A-C918-4C44-ACA3-3FCE0F26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select ≤3 pairs/group;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freeze parameters</a:t>
            </a:r>
          </a:p>
        </p:txBody>
      </p:sp>
      <p:sp>
        <p:nvSpPr>
          <p:cNvPr id="15" name="node-805">
            <a:extLst xmlns:a="http://schemas.openxmlformats.org/drawingml/2006/main">
              <a:ext uri="{FF2B5EF4-FFF2-40B4-BE49-F238E27FC236}">
                <a16:creationId xmlns:a16="http://schemas.microsoft.com/office/drawing/2014/main" id="{4C64659F-5E5A-4AFA-806F-4D32AB23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-805">
            <a:extLst xmlns:a="http://schemas.openxmlformats.org/drawingml/2006/main">
              <a:ext uri="{FF2B5EF4-FFF2-40B4-BE49-F238E27FC236}">
                <a16:creationId xmlns:a16="http://schemas.microsoft.com/office/drawing/2014/main" id="{D283F225-494E-4553-AF65-F181716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event close</a:t>
            </a:r>
          </a:p>
        </p:txBody>
      </p:sp>
      <p:sp>
        <p:nvSpPr>
          <p:cNvPr id="17" name="node-sub-805">
            <a:extLst xmlns:a="http://schemas.openxmlformats.org/drawingml/2006/main">
              <a:ext uri="{FF2B5EF4-FFF2-40B4-BE49-F238E27FC236}">
                <a16:creationId xmlns:a16="http://schemas.microsoft.com/office/drawing/2014/main" id="{AA5D7261-71CE-43A1-8878-0FE20950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|z| ≥ 2 observed;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direction becomes known</a:t>
            </a:r>
          </a:p>
        </p:txBody>
      </p:sp>
      <p:sp>
        <p:nvSpPr>
          <p:cNvPr id="18" name="node-1135">
            <a:extLst xmlns:a="http://schemas.openxmlformats.org/drawingml/2006/main">
              <a:ext uri="{FF2B5EF4-FFF2-40B4-BE49-F238E27FC236}">
                <a16:creationId xmlns:a16="http://schemas.microsoft.com/office/drawing/2014/main" id="{4979FA79-C2C3-4567-942B-BF75D703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-1135">
            <a:extLst xmlns:a="http://schemas.openxmlformats.org/drawingml/2006/main">
              <a:ext uri="{FF2B5EF4-FFF2-40B4-BE49-F238E27FC236}">
                <a16:creationId xmlns:a16="http://schemas.microsoft.com/office/drawing/2014/main" id="{72C2DD7F-17E0-49AE-BF08-745E7D9F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05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 open → endpoints</a:t>
            </a:r>
          </a:p>
        </p:txBody>
      </p:sp>
      <p:sp>
        <p:nvSpPr>
          <p:cNvPr id="20" name="node-sub-1135">
            <a:extLst xmlns:a="http://schemas.openxmlformats.org/drawingml/2006/main">
              <a:ext uri="{FF2B5EF4-FFF2-40B4-BE49-F238E27FC236}">
                <a16:creationId xmlns:a16="http://schemas.microsoft.com/office/drawing/2014/main" id="{07C5E8D8-1061-4F4D-A201-05406BA9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648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enter next open;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measure +5 / +10 / +20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2241F282-161B-4311-8873-DCE26299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578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full-history fit. No same-close execution. No outcome-informed pair selection or exit.</a:t>
            </a:r>
          </a:p>
        </p:txBody>
      </p:sp>
    </p:spTree>
    <p:extLst>
      <p:ext uri="{BB962C8B-B14F-4D97-AF65-F5344CB8AC3E}">
        <p14:creationId xmlns:p14="http://schemas.microsoft.com/office/powerpoint/2010/main" val="1322471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09628A2C-093E-40FB-96BE-C80E489F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 STATISTICAL-ARBITRAGE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CB2E3D-5E3B-458E-9757-20427A5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One dislocation becomes one fixed residual hedge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A87BA77B-748C-4C00-97E6-F78A690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1695FE79-8C71-4524-8269-941D96C5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D54</a:t>
            </a:r>
          </a:p>
        </p:txBody>
      </p:sp>
      <p:sp>
        <p:nvSpPr>
          <p:cNvPr id="5" name="sleeve">
            <a:extLst xmlns:a="http://schemas.openxmlformats.org/drawingml/2006/main">
              <a:ext uri="{FF2B5EF4-FFF2-40B4-BE49-F238E27FC236}">
                <a16:creationId xmlns:a16="http://schemas.microsoft.com/office/drawing/2014/main" id="{7CD640FE-AB0F-4841-98C0-2FBB0A44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Primary diagnostic</a:t>
            </a:r>
          </a:p>
        </p:txBody>
      </p:sp>
      <p:sp>
        <p:nvSpPr>
          <p:cNvPr id="6" name="fraction">
            <a:extLst xmlns:a="http://schemas.openxmlformats.org/drawingml/2006/main">
              <a:ext uri="{FF2B5EF4-FFF2-40B4-BE49-F238E27FC236}">
                <a16:creationId xmlns:a16="http://schemas.microsoft.com/office/drawing/2014/main" id="{FF579B30-BC36-4FD6-B2CF-CE609CA8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10 days</a:t>
            </a:r>
          </a:p>
        </p:txBody>
      </p:sp>
      <p:sp>
        <p:nvSpPr>
          <p:cNvPr id="7" name="fraction-copy">
            <a:extLst xmlns:a="http://schemas.openxmlformats.org/drawingml/2006/main">
              <a:ext uri="{FF2B5EF4-FFF2-40B4-BE49-F238E27FC236}">
                <a16:creationId xmlns:a16="http://schemas.microsoft.com/office/drawing/2014/main" id="{B373B681-F984-4F9F-9812-93DB050E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entry-open to endpoint-open</a:t>
            </a:r>
          </a:p>
        </p:txBody>
      </p:sp>
      <p:sp>
        <p:nvSpPr>
          <p:cNvPr id="8" name="rule-525-182-2">
            <a:extLst xmlns:a="http://schemas.openxmlformats.org/drawingml/2006/main">
              <a:ext uri="{FF2B5EF4-FFF2-40B4-BE49-F238E27FC236}">
                <a16:creationId xmlns:a16="http://schemas.microsoft.com/office/drawing/2014/main" id="{BBAA2C16-4F0A-4C9B-A685-85C5D53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335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n">
            <a:extLst xmlns:a="http://schemas.openxmlformats.org/drawingml/2006/main">
              <a:ext uri="{FF2B5EF4-FFF2-40B4-BE49-F238E27FC236}">
                <a16:creationId xmlns:a16="http://schemas.microsoft.com/office/drawing/2014/main" id="{CBED2AF7-FAA8-4FD9-901B-7367E57D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0" name="on-label">
            <a:extLst xmlns:a="http://schemas.openxmlformats.org/drawingml/2006/main">
              <a:ext uri="{FF2B5EF4-FFF2-40B4-BE49-F238E27FC236}">
                <a16:creationId xmlns:a16="http://schemas.microsoft.com/office/drawing/2014/main" id="{5A7C73A5-6714-4B14-9C0A-F0AA8B24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z &gt; +2</a:t>
            </a:r>
          </a:p>
        </p:txBody>
      </p:sp>
      <p:sp>
        <p:nvSpPr>
          <p:cNvPr id="11" name="on-body">
            <a:extLst xmlns:a="http://schemas.openxmlformats.org/drawingml/2006/main">
              <a:ext uri="{FF2B5EF4-FFF2-40B4-BE49-F238E27FC236}">
                <a16:creationId xmlns:a16="http://schemas.microsoft.com/office/drawing/2014/main" id="{0E0C2671-E2F3-4ADE-BFD5-107BA66B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Short A</a:t>
            </a:r>
          </a:p>
          <a:p xmlns:a="http://schemas.openxmlformats.org/drawingml/2006/main">
            <a:pPr algn="ctr">
              <a:buNone/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Long βB</a:t>
            </a:r>
          </a:p>
        </p:txBody>
      </p:sp>
      <p:sp>
        <p:nvSpPr>
          <p:cNvPr id="12" name="off">
            <a:extLst xmlns:a="http://schemas.openxmlformats.org/drawingml/2006/main">
              <a:ext uri="{FF2B5EF4-FFF2-40B4-BE49-F238E27FC236}">
                <a16:creationId xmlns:a16="http://schemas.microsoft.com/office/drawing/2014/main" id="{077E6597-A5CD-4DDA-887C-6D45557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5B6472"/>
            </a:solidFill>
            <a:prstDash val="solid"/>
          </a:ln>
        </p:spPr>
      </p:sp>
      <p:sp>
        <p:nvSpPr>
          <p:cNvPr id="13" name="off-label">
            <a:extLst xmlns:a="http://schemas.openxmlformats.org/drawingml/2006/main">
              <a:ext uri="{FF2B5EF4-FFF2-40B4-BE49-F238E27FC236}">
                <a16:creationId xmlns:a16="http://schemas.microsoft.com/office/drawing/2014/main" id="{09D38188-A570-41CA-8CC3-7497686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z &lt; −2</a:t>
            </a:r>
          </a:p>
        </p:txBody>
      </p:sp>
      <p:sp>
        <p:nvSpPr>
          <p:cNvPr id="14" name="off-body">
            <a:extLst xmlns:a="http://schemas.openxmlformats.org/drawingml/2006/main">
              <a:ext uri="{FF2B5EF4-FFF2-40B4-BE49-F238E27FC236}">
                <a16:creationId xmlns:a16="http://schemas.microsoft.com/office/drawing/2014/main" id="{F202F331-F521-4267-9AA1-F7A035D9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Long A</a:t>
            </a:r>
          </a:p>
          <a:p xmlns:a="http://schemas.openxmlformats.org/drawingml/2006/main">
            <a:pPr algn="ctr">
              <a:buNone/>
              <a:defRPr sz="23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Short βB</a:t>
            </a:r>
          </a:p>
        </p:txBody>
      </p:sp>
      <p:sp>
        <p:nvSpPr>
          <p:cNvPr id="15" name="forbidden-title">
            <a:extLst xmlns:a="http://schemas.openxmlformats.org/drawingml/2006/main">
              <a:ext uri="{FF2B5EF4-FFF2-40B4-BE49-F238E27FC236}">
                <a16:creationId xmlns:a16="http://schemas.microsoft.com/office/drawing/2014/main" id="{EF685002-DB8D-4404-8584-340BCE68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14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Not claimed by S0A</a:t>
            </a:r>
          </a:p>
        </p:txBody>
      </p:sp>
      <p:sp>
        <p:nvSpPr>
          <p:cNvPr id="16" name="forbidden">
            <a:extLst xmlns:a="http://schemas.openxmlformats.org/drawingml/2006/main">
              <a:ext uri="{FF2B5EF4-FFF2-40B4-BE49-F238E27FC236}">
                <a16:creationId xmlns:a16="http://schemas.microsoft.com/office/drawing/2014/main" id="{805003FF-356B-4D2A-9237-DD17CC22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244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not factor-neutral  •  no historical borrow proof  •  no portfolio allocation  •  no optimized exit</a:t>
            </a:r>
          </a:p>
        </p:txBody>
      </p:sp>
      <p:sp>
        <p:nvSpPr>
          <p:cNvPr id="17" name="costs">
            <a:extLst xmlns:a="http://schemas.openxmlformats.org/drawingml/2006/main">
              <a:ext uri="{FF2B5EF4-FFF2-40B4-BE49-F238E27FC236}">
                <a16:creationId xmlns:a16="http://schemas.microsoft.com/office/drawing/2014/main" id="{35A111FA-8EDB-4EAF-96B8-719D074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007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Ordinary costs: 5 bp one-way primary  /  10 bp stress  •  borrow excluded</a:t>
            </a:r>
          </a:p>
        </p:txBody>
      </p:sp>
    </p:spTree>
    <p:extLst>
      <p:ext uri="{BB962C8B-B14F-4D97-AF65-F5344CB8AC3E}">
        <p14:creationId xmlns:p14="http://schemas.microsoft.com/office/powerpoint/2010/main" val="875559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869E9ECC-0517-43A8-9AFC-073669AD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 STATISTICAL-ARBITRAGE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5D0EEC-B399-4E64-974F-75D816C4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Three controls challenge three different explanations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80CB30F0-23A9-4CBC-9F59-D7CE992C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893A05FE-9276-4698-9954-07323DB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D54</a:t>
            </a:r>
          </a:p>
        </p:txBody>
      </p:sp>
      <p:sp>
        <p:nvSpPr>
          <p:cNvPr id="5" name="Static equal-weight-panel">
            <a:extLst xmlns:a="http://schemas.openxmlformats.org/drawingml/2006/main">
              <a:ext uri="{FF2B5EF4-FFF2-40B4-BE49-F238E27FC236}">
                <a16:creationId xmlns:a16="http://schemas.microsoft.com/office/drawing/2014/main" id="{8E8679BC-E075-4B4C-A467-89A862D7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33337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Static equal-weight-bar">
            <a:extLst xmlns:a="http://schemas.openxmlformats.org/drawingml/2006/main">
              <a:ext uri="{FF2B5EF4-FFF2-40B4-BE49-F238E27FC236}">
                <a16:creationId xmlns:a16="http://schemas.microsoft.com/office/drawing/2014/main" id="{FC046AE6-5325-4BC0-BCF5-36ECE963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ic equal-weight-label">
            <a:extLst xmlns:a="http://schemas.openxmlformats.org/drawingml/2006/main">
              <a:ext uri="{FF2B5EF4-FFF2-40B4-BE49-F238E27FC236}">
                <a16:creationId xmlns:a16="http://schemas.microsoft.com/office/drawing/2014/main" id="{F289ED8F-0A82-44F6-BE9C-2E3210CB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Random eligible pairs</a:t>
            </a:r>
          </a:p>
        </p:txBody>
      </p:sp>
      <p:sp>
        <p:nvSpPr>
          <p:cNvPr id="8" name="Static equal-weight-question">
            <a:extLst xmlns:a="http://schemas.openxmlformats.org/drawingml/2006/main">
              <a:ext uri="{FF2B5EF4-FFF2-40B4-BE49-F238E27FC236}">
                <a16:creationId xmlns:a16="http://schemas.microsoft.com/office/drawing/2014/main" id="{73CB73CB-D91B-4B0B-BEB8-8E6C930F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Did the residual-stability rule select better relationships than 2,000 seeded within-group policies?</a:t>
            </a:r>
          </a:p>
        </p:txBody>
      </p:sp>
      <p:sp>
        <p:nvSpPr>
          <p:cNvPr id="9" name="100% BIL-panel">
            <a:extLst xmlns:a="http://schemas.openxmlformats.org/drawingml/2006/main">
              <a:ext uri="{FF2B5EF4-FFF2-40B4-BE49-F238E27FC236}">
                <a16:creationId xmlns:a16="http://schemas.microsoft.com/office/drawing/2014/main" id="{6F28A9C6-187D-4E8A-8D79-C41266E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5B6472"/>
            </a:solidFill>
            <a:prstDash val="solid"/>
          </a:ln>
        </p:spPr>
      </p:sp>
      <p:sp>
        <p:nvSpPr>
          <p:cNvPr id="10" name="100% BIL-bar">
            <a:extLst xmlns:a="http://schemas.openxmlformats.org/drawingml/2006/main">
              <a:ext uri="{FF2B5EF4-FFF2-40B4-BE49-F238E27FC236}">
                <a16:creationId xmlns:a16="http://schemas.microsoft.com/office/drawing/2014/main" id="{7168D9EE-1B25-4B02-8258-E7B56F6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00% BIL-label">
            <a:extLst xmlns:a="http://schemas.openxmlformats.org/drawingml/2006/main">
              <a:ext uri="{FF2B5EF4-FFF2-40B4-BE49-F238E27FC236}">
                <a16:creationId xmlns:a16="http://schemas.microsoft.com/office/drawing/2014/main" id="{83127CE5-97CA-4B35-86DA-1535E689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Same-pair non-events</a:t>
            </a:r>
          </a:p>
        </p:txBody>
      </p:sp>
      <p:sp>
        <p:nvSpPr>
          <p:cNvPr id="12" name="100% BIL-question">
            <a:extLst xmlns:a="http://schemas.openxmlformats.org/drawingml/2006/main">
              <a:ext uri="{FF2B5EF4-FFF2-40B4-BE49-F238E27FC236}">
                <a16:creationId xmlns:a16="http://schemas.microsoft.com/office/drawing/2014/main" id="{88CD68B3-F949-49F4-AB21-147344BE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9000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 |z| ≥ 2 dislocations converge more than quiet |z| &lt; 0.5 dates for the identical pair and fold?</a:t>
            </a:r>
          </a:p>
        </p:txBody>
      </p:sp>
      <p:sp>
        <p:nvSpPr>
          <p:cNvPr id="13" name="Exposure-matched EW-panel">
            <a:extLst xmlns:a="http://schemas.openxmlformats.org/drawingml/2006/main">
              <a:ext uri="{FF2B5EF4-FFF2-40B4-BE49-F238E27FC236}">
                <a16:creationId xmlns:a16="http://schemas.microsoft.com/office/drawing/2014/main" id="{407BC5BA-E924-4806-90C3-FD34072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337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4" name="Exposure-matched EW-bar">
            <a:extLst xmlns:a="http://schemas.openxmlformats.org/drawingml/2006/main">
              <a:ext uri="{FF2B5EF4-FFF2-40B4-BE49-F238E27FC236}">
                <a16:creationId xmlns:a16="http://schemas.microsoft.com/office/drawing/2014/main" id="{F4C78024-5B6D-42F0-8613-1DFE0A8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33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posure-matched EW-label">
            <a:extLst xmlns:a="http://schemas.openxmlformats.org/drawingml/2006/main">
              <a:ext uri="{FF2B5EF4-FFF2-40B4-BE49-F238E27FC236}">
                <a16:creationId xmlns:a16="http://schemas.microsoft.com/office/drawing/2014/main" id="{20789C81-DF61-4EB1-B9B1-87A65D21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No-trade</a:t>
            </a:r>
          </a:p>
        </p:txBody>
      </p:sp>
      <p:sp>
        <p:nvSpPr>
          <p:cNvPr id="16" name="Exposure-matched EW-question">
            <a:extLst xmlns:a="http://schemas.openxmlformats.org/drawingml/2006/main">
              <a:ext uri="{FF2B5EF4-FFF2-40B4-BE49-F238E27FC236}">
                <a16:creationId xmlns:a16="http://schemas.microsoft.com/office/drawing/2014/main" id="{7DE92247-AFC6-440F-8D15-F31D4C67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Does pair-equal, quarter-equal convergence remain positive after both legs enter and exit at ordinary costs?</a:t>
            </a:r>
          </a:p>
        </p:txBody>
      </p:sp>
      <p:sp>
        <p:nvSpPr>
          <p:cNvPr id="17" name="key">
            <a:extLst xmlns:a="http://schemas.openxmlformats.org/drawingml/2006/main">
              <a:ext uri="{FF2B5EF4-FFF2-40B4-BE49-F238E27FC236}">
                <a16:creationId xmlns:a16="http://schemas.microsoft.com/office/drawing/2014/main" id="{2B2A90D3-BA04-41DD-8B59-3B707013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67375"/>
            <a:ext cx="804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The controls test selection, conditionality, and commercial magnitude.</a:t>
            </a:r>
          </a:p>
        </p:txBody>
      </p:sp>
      <p:sp>
        <p:nvSpPr>
          <p:cNvPr id="18" name="key2">
            <a:extLst xmlns:a="http://schemas.openxmlformats.org/drawingml/2006/main">
              <a:ext uri="{FF2B5EF4-FFF2-40B4-BE49-F238E27FC236}">
                <a16:creationId xmlns:a16="http://schemas.microsoft.com/office/drawing/2014/main" id="{B43E7FF1-A2F1-48BC-A8FA-238AF6D2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150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No control supplies historical borrow availability; that evidence can only be collected prospectively.</a:t>
            </a:r>
          </a:p>
        </p:txBody>
      </p:sp>
    </p:spTree>
    <p:extLst>
      <p:ext uri="{BB962C8B-B14F-4D97-AF65-F5344CB8AC3E}">
        <p14:creationId xmlns:p14="http://schemas.microsoft.com/office/powerpoint/2010/main" val="250947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8CAD1909-69AE-4011-87C2-6AAAF80D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GEN5  /  S0 STATISTICAL-ARBITRAGE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9986ED-C51B-4D05-A323-E02379E9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Nine gates can stop S0 before a portfolio exists</a:t>
            </a:r>
          </a:p>
        </p:txBody>
      </p:sp>
      <p:sp>
        <p:nvSpPr>
          <p:cNvPr id="3" name="rule-42-139-1196">
            <a:extLst xmlns:a="http://schemas.openxmlformats.org/drawingml/2006/main">
              <a:ext uri="{FF2B5EF4-FFF2-40B4-BE49-F238E27FC236}">
                <a16:creationId xmlns:a16="http://schemas.microsoft.com/office/drawing/2014/main" id="{457265E4-3E89-40F6-A12F-0ACA035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C5020B8A-24BC-4E59-9FDD-3B6B72B9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D54</a:t>
            </a:r>
          </a:p>
        </p:txBody>
      </p:sp>
      <p:sp>
        <p:nvSpPr>
          <p:cNvPr id="5" name="Mechanics-panel">
            <a:extLst xmlns:a="http://schemas.openxmlformats.org/drawingml/2006/main">
              <a:ext uri="{FF2B5EF4-FFF2-40B4-BE49-F238E27FC236}">
                <a16:creationId xmlns:a16="http://schemas.microsoft.com/office/drawing/2014/main" id="{E5856AA4-AC54-4ED0-9E7C-5DD399AA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Mechanics-bar">
            <a:extLst xmlns:a="http://schemas.openxmlformats.org/drawingml/2006/main">
              <a:ext uri="{FF2B5EF4-FFF2-40B4-BE49-F238E27FC236}">
                <a16:creationId xmlns:a16="http://schemas.microsoft.com/office/drawing/2014/main" id="{931B8080-466E-4819-8629-3F536CED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chanics-label">
            <a:extLst xmlns:a="http://schemas.openxmlformats.org/drawingml/2006/main">
              <a:ext uri="{FF2B5EF4-FFF2-40B4-BE49-F238E27FC236}">
                <a16:creationId xmlns:a16="http://schemas.microsoft.com/office/drawing/2014/main" id="{E9292E17-9F50-4BF7-B3DE-521A6C31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Mechanics</a:t>
            </a:r>
          </a:p>
        </p:txBody>
      </p:sp>
      <p:sp>
        <p:nvSpPr>
          <p:cNvPr id="8" name="Mechanics-dot-0">
            <a:extLst xmlns:a="http://schemas.openxmlformats.org/drawingml/2006/main">
              <a:ext uri="{FF2B5EF4-FFF2-40B4-BE49-F238E27FC236}">
                <a16:creationId xmlns:a16="http://schemas.microsoft.com/office/drawing/2014/main" id="{8AFAA8AA-DA24-4E9F-9420-4384BD40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Mechanics-item-0">
            <a:extLst xmlns:a="http://schemas.openxmlformats.org/drawingml/2006/main">
              <a:ext uri="{FF2B5EF4-FFF2-40B4-BE49-F238E27FC236}">
                <a16:creationId xmlns:a16="http://schemas.microsoft.com/office/drawing/2014/main" id="{31D967D6-866D-40D8-A450-2B808E0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337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Explicit as-of + TRAIN only</a:t>
            </a:r>
          </a:p>
        </p:txBody>
      </p:sp>
      <p:sp>
        <p:nvSpPr>
          <p:cNvPr id="10" name="Mechanics-dot-1">
            <a:extLst xmlns:a="http://schemas.openxmlformats.org/drawingml/2006/main">
              <a:ext uri="{FF2B5EF4-FFF2-40B4-BE49-F238E27FC236}">
                <a16:creationId xmlns:a16="http://schemas.microsoft.com/office/drawing/2014/main" id="{8953DEAC-2467-4913-A425-88A13A2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Mechanics-item-1">
            <a:extLst xmlns:a="http://schemas.openxmlformats.org/drawingml/2006/main">
              <a:ext uri="{FF2B5EF4-FFF2-40B4-BE49-F238E27FC236}">
                <a16:creationId xmlns:a16="http://schemas.microsoft.com/office/drawing/2014/main" id="{1FF63DC5-9472-4798-ADD1-588E5F32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Next-open + 20d embargo</a:t>
            </a:r>
          </a:p>
        </p:txBody>
      </p:sp>
      <p:sp>
        <p:nvSpPr>
          <p:cNvPr id="12" name="Mechanics-dot-2">
            <a:extLst xmlns:a="http://schemas.openxmlformats.org/drawingml/2006/main">
              <a:ext uri="{FF2B5EF4-FFF2-40B4-BE49-F238E27FC236}">
                <a16:creationId xmlns:a16="http://schemas.microsoft.com/office/drawing/2014/main" id="{91B65E59-251F-4638-BC30-2389061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Mechanics-item-2">
            <a:extLst xmlns:a="http://schemas.openxmlformats.org/drawingml/2006/main">
              <a:ext uri="{FF2B5EF4-FFF2-40B4-BE49-F238E27FC236}">
                <a16:creationId xmlns:a16="http://schemas.microsoft.com/office/drawing/2014/main" id="{B4A0DD3D-0051-43AA-940E-B720CE3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291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Common 5 / 10 / 20 endpoints</a:t>
            </a:r>
          </a:p>
        </p:txBody>
      </p:sp>
      <p:sp>
        <p:nvSpPr>
          <p:cNvPr id="14" name="Mechanism-panel">
            <a:extLst xmlns:a="http://schemas.openxmlformats.org/drawingml/2006/main">
              <a:ext uri="{FF2B5EF4-FFF2-40B4-BE49-F238E27FC236}">
                <a16:creationId xmlns:a16="http://schemas.microsoft.com/office/drawing/2014/main" id="{3231B25E-462C-4D2F-A729-B188A782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177245"/>
            </a:solidFill>
            <a:prstDash val="solid"/>
          </a:ln>
        </p:spPr>
      </p:sp>
      <p:sp>
        <p:nvSpPr>
          <p:cNvPr id="15" name="Mechanism-bar">
            <a:extLst xmlns:a="http://schemas.openxmlformats.org/drawingml/2006/main">
              <a:ext uri="{FF2B5EF4-FFF2-40B4-BE49-F238E27FC236}">
                <a16:creationId xmlns:a16="http://schemas.microsoft.com/office/drawing/2014/main" id="{D83B8923-A3FC-461D-960E-9D168F5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chanism-label">
            <a:extLst xmlns:a="http://schemas.openxmlformats.org/drawingml/2006/main">
              <a:ext uri="{FF2B5EF4-FFF2-40B4-BE49-F238E27FC236}">
                <a16:creationId xmlns:a16="http://schemas.microsoft.com/office/drawing/2014/main" id="{64195B4F-F28B-44D8-8B13-96C0C6A3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17" name="Mechanism-dot-0">
            <a:extLst xmlns:a="http://schemas.openxmlformats.org/drawingml/2006/main">
              <a:ext uri="{FF2B5EF4-FFF2-40B4-BE49-F238E27FC236}">
                <a16:creationId xmlns:a16="http://schemas.microsoft.com/office/drawing/2014/main" id="{6B3905A9-64A3-4722-8E1C-80651E44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Mechanism-item-0">
            <a:extLst xmlns:a="http://schemas.openxmlformats.org/drawingml/2006/main">
              <a:ext uri="{FF2B5EF4-FFF2-40B4-BE49-F238E27FC236}">
                <a16:creationId xmlns:a16="http://schemas.microsoft.com/office/drawing/2014/main" id="{527AC227-0AF2-4C51-8DBB-9E36188B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≥8 pairs / ≥3 groups</a:t>
            </a:r>
          </a:p>
        </p:txBody>
      </p:sp>
      <p:sp>
        <p:nvSpPr>
          <p:cNvPr id="19" name="Mechanism-dot-1">
            <a:extLst xmlns:a="http://schemas.openxmlformats.org/drawingml/2006/main">
              <a:ext uri="{FF2B5EF4-FFF2-40B4-BE49-F238E27FC236}">
                <a16:creationId xmlns:a16="http://schemas.microsoft.com/office/drawing/2014/main" id="{9ECA1200-9EC0-453B-B6DE-E5B18565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Mechanism-item-1">
            <a:extLst xmlns:a="http://schemas.openxmlformats.org/drawingml/2006/main">
              <a:ext uri="{FF2B5EF4-FFF2-40B4-BE49-F238E27FC236}">
                <a16:creationId xmlns:a16="http://schemas.microsoft.com/office/drawing/2014/main" id="{7FD03C64-DBD0-4615-BC87-E4D7333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814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≥120 independent events</a:t>
            </a:r>
          </a:p>
        </p:txBody>
      </p:sp>
      <p:sp>
        <p:nvSpPr>
          <p:cNvPr id="21" name="Mechanism-dot-2">
            <a:extLst xmlns:a="http://schemas.openxmlformats.org/drawingml/2006/main">
              <a:ext uri="{FF2B5EF4-FFF2-40B4-BE49-F238E27FC236}">
                <a16:creationId xmlns:a16="http://schemas.microsoft.com/office/drawing/2014/main" id="{94DEED00-B104-446D-BA78-7F96219E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72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24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Mechanism-item-2">
            <a:extLst xmlns:a="http://schemas.openxmlformats.org/drawingml/2006/main">
              <a:ext uri="{FF2B5EF4-FFF2-40B4-BE49-F238E27FC236}">
                <a16:creationId xmlns:a16="http://schemas.microsoft.com/office/drawing/2014/main" id="{3886D634-2F65-4A79-8497-F03E8B92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Positive in ≥8 / 12 quarters</a:t>
            </a:r>
          </a:p>
        </p:txBody>
      </p:sp>
      <p:sp>
        <p:nvSpPr>
          <p:cNvPr id="23" name="Portfolio-panel">
            <a:extLst xmlns:a="http://schemas.openxmlformats.org/drawingml/2006/main">
              <a:ext uri="{FF2B5EF4-FFF2-40B4-BE49-F238E27FC236}">
                <a16:creationId xmlns:a16="http://schemas.microsoft.com/office/drawing/2014/main" id="{1464EB82-9293-4F5F-B0E6-C5B9DBEB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C46B08"/>
            </a:solidFill>
            <a:prstDash val="solid"/>
          </a:ln>
        </p:spPr>
      </p:sp>
      <p:sp>
        <p:nvSpPr>
          <p:cNvPr id="24" name="Portfolio-bar">
            <a:extLst xmlns:a="http://schemas.openxmlformats.org/drawingml/2006/main">
              <a:ext uri="{FF2B5EF4-FFF2-40B4-BE49-F238E27FC236}">
                <a16:creationId xmlns:a16="http://schemas.microsoft.com/office/drawing/2014/main" id="{03B80AE0-CA32-423C-A58E-8D8AC34A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ortfolio-label">
            <a:extLst xmlns:a="http://schemas.openxmlformats.org/drawingml/2006/main">
              <a:ext uri="{FF2B5EF4-FFF2-40B4-BE49-F238E27FC236}">
                <a16:creationId xmlns:a16="http://schemas.microsoft.com/office/drawing/2014/main" id="{9A2C7FF8-3B48-4220-911D-F5B312A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6" name="Portfolio-dot-0">
            <a:extLst xmlns:a="http://schemas.openxmlformats.org/drawingml/2006/main">
              <a:ext uri="{FF2B5EF4-FFF2-40B4-BE49-F238E27FC236}">
                <a16:creationId xmlns:a16="http://schemas.microsoft.com/office/drawing/2014/main" id="{4C934B50-2EAC-4CFC-9777-3D62EF06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Portfolio-item-0">
            <a:extLst xmlns:a="http://schemas.openxmlformats.org/drawingml/2006/main">
              <a:ext uri="{FF2B5EF4-FFF2-40B4-BE49-F238E27FC236}">
                <a16:creationId xmlns:a16="http://schemas.microsoft.com/office/drawing/2014/main" id="{ABFADF38-8588-4C8D-AE4D-723D809F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337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Beat random-policy p90</a:t>
            </a:r>
          </a:p>
        </p:txBody>
      </p:sp>
      <p:sp>
        <p:nvSpPr>
          <p:cNvPr id="28" name="Portfolio-dot-1">
            <a:extLst xmlns:a="http://schemas.openxmlformats.org/drawingml/2006/main">
              <a:ext uri="{FF2B5EF4-FFF2-40B4-BE49-F238E27FC236}">
                <a16:creationId xmlns:a16="http://schemas.microsoft.com/office/drawing/2014/main" id="{DA50036D-7A15-48FB-8793-9BE002A3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9" name="Portfolio-item-1">
            <a:extLst xmlns:a="http://schemas.openxmlformats.org/drawingml/2006/main">
              <a:ext uri="{FF2B5EF4-FFF2-40B4-BE49-F238E27FC236}">
                <a16:creationId xmlns:a16="http://schemas.microsoft.com/office/drawing/2014/main" id="{84B3D572-CB54-4FA9-868E-EF168F5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814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Beat same-pair non-events</a:t>
            </a:r>
          </a:p>
        </p:txBody>
      </p:sp>
      <p:sp>
        <p:nvSpPr>
          <p:cNvPr id="30" name="Portfolio-dot-2">
            <a:extLst xmlns:a="http://schemas.openxmlformats.org/drawingml/2006/main">
              <a:ext uri="{FF2B5EF4-FFF2-40B4-BE49-F238E27FC236}">
                <a16:creationId xmlns:a16="http://schemas.microsoft.com/office/drawing/2014/main" id="{6B7C649D-2500-457A-A0AA-7EC29EB4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46B0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46B0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Portfolio-item-2">
            <a:extLst xmlns:a="http://schemas.openxmlformats.org/drawingml/2006/main">
              <a:ext uri="{FF2B5EF4-FFF2-40B4-BE49-F238E27FC236}">
                <a16:creationId xmlns:a16="http://schemas.microsoft.com/office/drawing/2014/main" id="{4EA9F3FA-46EE-4011-96C0-BAF74B6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291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≥80% control matching</a:t>
            </a:r>
          </a:p>
        </p:txBody>
      </p:sp>
      <p:sp>
        <p:nvSpPr>
          <p:cNvPr id="32" name="Robustness-panel">
            <a:extLst xmlns:a="http://schemas.openxmlformats.org/drawingml/2006/main">
              <a:ext uri="{FF2B5EF4-FFF2-40B4-BE49-F238E27FC236}">
                <a16:creationId xmlns:a16="http://schemas.microsoft.com/office/drawing/2014/main" id="{05CB3714-831F-4DD5-8B28-F4F9F59A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33" name="Robustness-bar">
            <a:extLst xmlns:a="http://schemas.openxmlformats.org/drawingml/2006/main">
              <a:ext uri="{FF2B5EF4-FFF2-40B4-BE49-F238E27FC236}">
                <a16:creationId xmlns:a16="http://schemas.microsoft.com/office/drawing/2014/main" id="{77B0F948-4BF1-4176-9AB0-5DA3DA16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476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obustness-label">
            <a:extLst xmlns:a="http://schemas.openxmlformats.org/drawingml/2006/main">
              <a:ext uri="{FF2B5EF4-FFF2-40B4-BE49-F238E27FC236}">
                <a16:creationId xmlns:a16="http://schemas.microsoft.com/office/drawing/2014/main" id="{A304A4ED-99EA-438E-875C-57D6D0F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35" name="Robustness-dot-0">
            <a:extLst xmlns:a="http://schemas.openxmlformats.org/drawingml/2006/main">
              <a:ext uri="{FF2B5EF4-FFF2-40B4-BE49-F238E27FC236}">
                <a16:creationId xmlns:a16="http://schemas.microsoft.com/office/drawing/2014/main" id="{FFB8C4DE-67C3-4884-9771-64B103DE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6" name="Robustness-item-0">
            <a:extLst xmlns:a="http://schemas.openxmlformats.org/drawingml/2006/main">
              <a:ext uri="{FF2B5EF4-FFF2-40B4-BE49-F238E27FC236}">
                <a16:creationId xmlns:a16="http://schemas.microsoft.com/office/drawing/2014/main" id="{F8229075-0831-4D7D-956B-1B3A6555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337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Nonnegative at 10 bp</a:t>
            </a:r>
          </a:p>
        </p:txBody>
      </p:sp>
      <p:sp>
        <p:nvSpPr>
          <p:cNvPr id="37" name="Robustness-dot-1">
            <a:extLst xmlns:a="http://schemas.openxmlformats.org/drawingml/2006/main">
              <a:ext uri="{FF2B5EF4-FFF2-40B4-BE49-F238E27FC236}">
                <a16:creationId xmlns:a16="http://schemas.microsoft.com/office/drawing/2014/main" id="{51B04F8E-28C3-4786-A00F-2F43F635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Robustness-item-1">
            <a:extLst xmlns:a="http://schemas.openxmlformats.org/drawingml/2006/main">
              <a:ext uri="{FF2B5EF4-FFF2-40B4-BE49-F238E27FC236}">
                <a16:creationId xmlns:a16="http://schemas.microsoft.com/office/drawing/2014/main" id="{D3B0FE2B-FBE6-4137-AD88-98AB52A4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5814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Pair / group / year caps</a:t>
            </a:r>
          </a:p>
        </p:txBody>
      </p:sp>
      <p:sp>
        <p:nvSpPr>
          <p:cNvPr id="39" name="Robustness-dot-2">
            <a:extLst xmlns:a="http://schemas.openxmlformats.org/drawingml/2006/main">
              <a:ext uri="{FF2B5EF4-FFF2-40B4-BE49-F238E27FC236}">
                <a16:creationId xmlns:a16="http://schemas.microsoft.com/office/drawing/2014/main" id="{5DFC352E-55EE-4698-BCA4-45EBBD95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481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Robustness-item-2">
            <a:extLst xmlns:a="http://schemas.openxmlformats.org/drawingml/2006/main">
              <a:ext uri="{FF2B5EF4-FFF2-40B4-BE49-F238E27FC236}">
                <a16:creationId xmlns:a16="http://schemas.microsoft.com/office/drawing/2014/main" id="{694492B8-862B-4CC8-94B7-38326885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2910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≥60% survive next formation</a:t>
            </a:r>
          </a:p>
        </p:txBody>
      </p:sp>
      <p:sp>
        <p:nvSpPr>
          <p:cNvPr id="41" name="approval-boundary">
            <a:extLst xmlns:a="http://schemas.openxmlformats.org/drawingml/2006/main">
              <a:ext uri="{FF2B5EF4-FFF2-40B4-BE49-F238E27FC236}">
                <a16:creationId xmlns:a16="http://schemas.microsoft.com/office/drawing/2014/main" id="{1A302021-38E8-4D7E-8D96-AA68DFC6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42" name="approval-copy">
            <a:extLst xmlns:a="http://schemas.openxmlformats.org/drawingml/2006/main">
              <a:ext uri="{FF2B5EF4-FFF2-40B4-BE49-F238E27FC236}">
                <a16:creationId xmlns:a16="http://schemas.microsoft.com/office/drawing/2014/main" id="{4F27D012-64AE-4D28-AAC5-D5DA3F3A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00725"/>
            <a:ext cx="933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NEXT GATE  /  Approve or revise the exact contract before data retrieval or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324384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ransition">
            <a:extLst xmlns:a="http://schemas.openxmlformats.org/drawingml/2006/main">
              <a:ext uri="{FF2B5EF4-FFF2-40B4-BE49-F238E27FC236}">
                <a16:creationId xmlns:a16="http://schemas.microsoft.com/office/drawing/2014/main" id="{E242B5EB-CBF2-44CB-8C38-4F62616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TRANSITION  /  OPERATOR GATE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F6426AC-E928-4386-87E0-7FABABE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715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experiment is ready to freeze—</a:t>
            </a:r>
          </a:p>
          <a:p xmlns:a="http://schemas.openxmlformats.org/drawingml/2006/main">
            <a:pPr algn="l">
              <a:buNone/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ready to run</a:t>
            </a:r>
          </a:p>
        </p:txBody>
      </p:sp>
      <p:sp>
        <p:nvSpPr>
          <p:cNvPr id="3" name="rule-62-430-620">
            <a:extLst xmlns:a="http://schemas.openxmlformats.org/drawingml/2006/main">
              <a:ext uri="{FF2B5EF4-FFF2-40B4-BE49-F238E27FC236}">
                <a16:creationId xmlns:a16="http://schemas.microsoft.com/office/drawing/2014/main" id="{4894D98D-141C-4EA7-BB60-D415F976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7129FB-E8B1-4343-9302-3B8A297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742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Universe. Formation. Signal. Timing. Costs. Controls. Nine gates.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 locks them before outcomes can answer back.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CDE5FBB4-9210-4434-9BCC-381C09C4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62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6" name="status">
            <a:extLst xmlns:a="http://schemas.openxmlformats.org/drawingml/2006/main">
              <a:ext uri="{FF2B5EF4-FFF2-40B4-BE49-F238E27FC236}">
                <a16:creationId xmlns:a16="http://schemas.microsoft.com/office/drawing/2014/main" id="{14335121-1C56-41C7-B59E-CBBDEA5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86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AWAITING APPROVAL</a:t>
            </a:r>
          </a:p>
        </p:txBody>
      </p:sp>
      <p:sp>
        <p:nvSpPr>
          <p:cNvPr id="7" name="bookmark-D50">
            <a:extLst xmlns:a="http://schemas.openxmlformats.org/drawingml/2006/main">
              <a:ext uri="{FF2B5EF4-FFF2-40B4-BE49-F238E27FC236}">
                <a16:creationId xmlns:a16="http://schemas.microsoft.com/office/drawing/2014/main" id="{94F25D00-C490-4956-B4DE-0A462E4F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6457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DIALOGUE  D54</a:t>
            </a:r>
          </a:p>
        </p:txBody>
      </p:sp>
    </p:spTree>
    <p:extLst>
      <p:ext uri="{BB962C8B-B14F-4D97-AF65-F5344CB8AC3E}">
        <p14:creationId xmlns:p14="http://schemas.microsoft.com/office/powerpoint/2010/main" val="1501889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2026-07-27T14:31:30.6020000Z</dcterms:created>
  <dcterms:modified xsi:type="dcterms:W3CDTF">2026-07-27T14:31:30.6020000Z</dcterms:modified>
</coreProperties>
</file>