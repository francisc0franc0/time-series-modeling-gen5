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cf0c4817f94f6f" /><Relationship Type="http://schemas.openxmlformats.org/officeDocument/2006/relationships/extended-properties" Target="/docProps/app.xml" Id="R84c9f02a8e984685" /><Relationship Type="http://schemas.openxmlformats.org/officeDocument/2006/relationships/officeDocument" Target="/ppt/presentation.xml" Id="R50f595cc6a6246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dd8fdcd06a409e"/>
  </p:sldMasterIdLst>
  <p:notesMasterIdLst>
    <p:notesMasterId xmlns:r="http://schemas.openxmlformats.org/officeDocument/2006/relationships" r:id="Rd047a9e29efc4424"/>
  </p:notesMasterIdLst>
  <p:sldIdLst>
    <p:sldId xmlns:r="http://schemas.openxmlformats.org/officeDocument/2006/relationships" id="256" r:id="R9c2a850610634dae"/>
    <p:sldId xmlns:r="http://schemas.openxmlformats.org/officeDocument/2006/relationships" id="257" r:id="R81107305f8af4439"/>
    <p:sldId xmlns:r="http://schemas.openxmlformats.org/officeDocument/2006/relationships" id="258" r:id="R573b09f460cd46ed"/>
    <p:sldId xmlns:r="http://schemas.openxmlformats.org/officeDocument/2006/relationships" id="259" r:id="Rc202f6eda1774d06"/>
    <p:sldId xmlns:r="http://schemas.openxmlformats.org/officeDocument/2006/relationships" id="260" r:id="R669025a1c7524cc3"/>
    <p:sldId xmlns:r="http://schemas.openxmlformats.org/officeDocument/2006/relationships" id="261" r:id="Re43e41f6a0124639"/>
    <p:sldId xmlns:r="http://schemas.openxmlformats.org/officeDocument/2006/relationships" id="262" r:id="Rb0de59b1b9ee4c9b"/>
    <p:sldId xmlns:r="http://schemas.openxmlformats.org/officeDocument/2006/relationships" id="263" r:id="R416094a8b3784a4c"/>
    <p:sldId xmlns:r="http://schemas.openxmlformats.org/officeDocument/2006/relationships" id="264" r:id="Rb1951f7a702a4739"/>
    <p:sldId xmlns:r="http://schemas.openxmlformats.org/officeDocument/2006/relationships" id="265" r:id="R36cadc532c09415c"/>
    <p:sldId xmlns:r="http://schemas.openxmlformats.org/officeDocument/2006/relationships" id="266" r:id="R1242aae3fbde43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f3df6f35b14005" /><Relationship Type="http://schemas.openxmlformats.org/officeDocument/2006/relationships/slideMaster" Target="/ppt/slideMasters/slideMaster1.xml" Id="R31dd8fdcd06a409e" /><Relationship Type="http://schemas.openxmlformats.org/officeDocument/2006/relationships/notesMaster" Target="/ppt/notesMasters/notesMaster1.xml" Id="Rd047a9e29efc4424" /><Relationship Type="http://schemas.openxmlformats.org/officeDocument/2006/relationships/presProps" Target="/ppt/presProps.xml" Id="Rc3c04db9875e4a9b" /><Relationship Type="http://schemas.openxmlformats.org/officeDocument/2006/relationships/tableStyles" Target="/ppt/tableStyles.xml" Id="R43bcf2ae207f4ce7" /><Relationship Type="http://schemas.openxmlformats.org/officeDocument/2006/relationships/slide" Target="/ppt/slides/slide1.xml" Id="R9c2a850610634dae" /><Relationship Type="http://schemas.openxmlformats.org/officeDocument/2006/relationships/slide" Target="/ppt/slides/slide2.xml" Id="R81107305f8af4439" /><Relationship Type="http://schemas.openxmlformats.org/officeDocument/2006/relationships/slide" Target="/ppt/slides/slide3.xml" Id="R573b09f460cd46ed" /><Relationship Type="http://schemas.openxmlformats.org/officeDocument/2006/relationships/slide" Target="/ppt/slides/slide4.xml" Id="Rc202f6eda1774d06" /><Relationship Type="http://schemas.openxmlformats.org/officeDocument/2006/relationships/slide" Target="/ppt/slides/slide5.xml" Id="R669025a1c7524cc3" /><Relationship Type="http://schemas.openxmlformats.org/officeDocument/2006/relationships/slide" Target="/ppt/slides/slide6.xml" Id="Re43e41f6a0124639" /><Relationship Type="http://schemas.openxmlformats.org/officeDocument/2006/relationships/slide" Target="/ppt/slides/slide7.xml" Id="Rb0de59b1b9ee4c9b" /><Relationship Type="http://schemas.openxmlformats.org/officeDocument/2006/relationships/slide" Target="/ppt/slides/slide8.xml" Id="R416094a8b3784a4c" /><Relationship Type="http://schemas.openxmlformats.org/officeDocument/2006/relationships/slide" Target="/ppt/slides/slide9.xml" Id="Rb1951f7a702a4739" /><Relationship Type="http://schemas.openxmlformats.org/officeDocument/2006/relationships/slide" Target="/ppt/slides/slide10.xml" Id="R36cadc532c09415c" /><Relationship Type="http://schemas.openxmlformats.org/officeDocument/2006/relationships/slide" Target="/ppt/slides/slide11.xml" Id="R1242aae3fbde43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5830ccd5d246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a8683fc0d8496c" /><Relationship Type="http://schemas.openxmlformats.org/officeDocument/2006/relationships/notesMaster" Target="/ppt/notesMasters/notesMaster1.xml" Id="Rdc394520f06543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e00b3d2b174698" /><Relationship Type="http://schemas.openxmlformats.org/officeDocument/2006/relationships/notesMaster" Target="/ppt/notesMasters/notesMaster1.xml" Id="R9bb20ac69f3949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4fef428df249be" /><Relationship Type="http://schemas.openxmlformats.org/officeDocument/2006/relationships/notesMaster" Target="/ppt/notesMasters/notesMaster1.xml" Id="Rfaf377c7bb894d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ddbd67717d42a3" /><Relationship Type="http://schemas.openxmlformats.org/officeDocument/2006/relationships/notesMaster" Target="/ppt/notesMasters/notesMaster1.xml" Id="R1816bb31eb634d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12dbadac1b4358" /><Relationship Type="http://schemas.openxmlformats.org/officeDocument/2006/relationships/notesMaster" Target="/ppt/notesMasters/notesMaster1.xml" Id="Ra0468d99c20846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95dfc605b94b16" /><Relationship Type="http://schemas.openxmlformats.org/officeDocument/2006/relationships/notesMaster" Target="/ppt/notesMasters/notesMaster1.xml" Id="R3d7b5d93d18643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98026306604bc1" /><Relationship Type="http://schemas.openxmlformats.org/officeDocument/2006/relationships/notesMaster" Target="/ppt/notesMasters/notesMaster1.xml" Id="R341978125fc941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ed3966ac064e8d" /><Relationship Type="http://schemas.openxmlformats.org/officeDocument/2006/relationships/notesMaster" Target="/ppt/notesMasters/notesMaster1.xml" Id="R53858a41a8ea4f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167b4a9f014b2b" /><Relationship Type="http://schemas.openxmlformats.org/officeDocument/2006/relationships/notesMaster" Target="/ppt/notesMasters/notesMaster1.xml" Id="Re9ba4443eede4f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1e99f74fbe4480" /><Relationship Type="http://schemas.openxmlformats.org/officeDocument/2006/relationships/notesMaster" Target="/ppt/notesMasters/notesMaster1.xml" Id="R16a9554c45844cb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3cc6dc6ef734764" /><Relationship Type="http://schemas.openxmlformats.org/officeDocument/2006/relationships/notesMaster" Target="/ppt/notesMasters/notesMaster1.xml" Id="Rffd4f42caafe42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result. The implementation honored the frozen contract and produced valid evidence, but the primary persistence and exposure-matched return gates failed.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D51 -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Project/Time-Series-Modeling-Gen5/docs/GEN5_T1_MULTI_ASSET_TREND_POC_CONTRACT.md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Project/Time-Series-Modeling-Gen5/runs/research_workbench/retail_quant_mechanisms/t1_multi_asset_trend_20260727/t1_report.md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T1 used the predeclared universe, signal, timing, fixed-sleeve portfolio, controls, cost assumptions, windows, and nine gates. Nothing was optimized after seeing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D50-D51 -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Project/Time-Series-Modeling-Gen5/docs/GEN5_T1_MULTI_ASSET_TREND_POC_CONTRACT.md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Project/Time-Series-Modeling-Gen5/runs/research_workbench/retail_quant_mechanisms/t1_multi_asset_trend_20260727/t1_frozen_contract.csv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generic workbench warning is a calendar-boundary artifact, not partial market history. T1 retains the raw warning while separately proving exact reference-session coverage for all fifteen symbols.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D51 -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Project/Time-Series-Modeling-Gen5/runs/research_workbench/retail_quant_mechanisms/t1_multi_asset_trend_20260727/t1_integrity_audit.csv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Project/Time-Series-Modeling-Gen5/runs/research_workbench/retail_quant_mechanisms/t1_multi_asset_trend_20260727/t1_session_coverage_audit.csv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Project/Time-Series-Modeling-Gen5/runs/research_workbench/retail_quant_mechanisms/t1_multi_asset_trend_20260727/t1_workbench_query_health.csv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primary mechanism gate asks whether ON observations subsequently beat OFF observations relative to BIL. In confirmation, the sign is negative despite adequate support in both states.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D51 -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Project/Time-Series-Modeling-Gen5/runs/research_workbench/retail_quant_mechanisms/t1_multi_asset_trend_20260727/t1_signal_support.csv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Project/Time-Series-Modeling-Gen5/runs/research_workbench/retail_quant_mechanisms/t1_multi_asset_trend_20260727/t1_measurement_pooled.csv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Project/Time-Series-Modeling-Gen5/runs/research_workbench/retail_quant_mechanisms/t1_multi_asset_trend_20260727/visuals/t1_signal_support.png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Only five frozen risk assets show positive full-history state separation. The result therefore cannot be attributed to one isolated bad asset or rescued by deleting weak sleeves after inspection.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D51 -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Project/Time-Series-Modeling-Gen5/runs/research_workbench/retail_quant_mechanisms/t1_multi_asset_trend_20260727/t1_measurement_by_asset.csv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Project/Time-Series-Modeling-Gen5/runs/research_workbench/retail_quant_mechanisms/t1_multi_asset_trend_20260727/visuals/t1_asset_separation.png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central interpretive distinction. A strategy can reduce drawdown by spending less time in risk assets even when its asset-specific signal adds no selection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D51 -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Project/Time-Series-Modeling-Gen5/runs/research_workbench/retail_quant_mechanisms/t1_multi_asset_trend_20260727/t1_report.md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Project/Time-Series-Modeling-Gen5/runs/research_workbench/retail_quant_mechanisms/t1_multi_asset_trend_20260727/t1_gate_summary.csv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portfolio-level defense is economically visible: T1's maximum drawdown is much smaller than static equal weight. The exposure-matched control, however, compounds faster, so the frozen asset-selection gate fails.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D51 -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Project/Time-Series-Modeling-Gen5/runs/research_workbench/retail_quant_mechanisms/t1_multi_asset_trend_20260727/t1_primary_confirmation_metrics.csv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Project/Time-Series-Modeling-Gen5/runs/research_workbench/retail_quant_mechanisms/t1_multi_asset_trend_20260727/visuals/t1_equity_drawdown.png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fixed binary sleeves produce continuous portfolio-level risky exposure because different assets switch at different dates. That makes the exposure-matched control essential.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D51 -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Project/Time-Series-Modeling-Gen5/runs/research_workbench/retail_quant_mechanisms/t1_multi_asset_trend_20260727/t1_primary_replay.csv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Project/Time-Series-Modeling-Gen5/runs/research_workbench/retail_quant_mechanisms/t1_multi_asset_trend_20260727/visuals/t1_risky_exposure_tape.png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panels expose signal formation, the BIL-relative hurdle, and next-open execution on representative ON and OFF decisions. They provide a human check against same-close leakage or hidden timing assumptions.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D51 -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Project/Time-Series-Modeling-Gen5/runs/research_workbench/retail_quant_mechanisms/t1_multi_asset_trend_20260727/t1_observation_panel.csv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Project/Time-Series-Modeling-Gen5/runs/research_workbench/retail_quant_mechanisms/t1_multi_asset_trend_20260727/visuals/t1_representative_decision_tapes.png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Concentration control passes: no asset contributes more than 35% of positive arithmetic advantage. That verifies diversification but cannot rescue the failed aggregate exposure-matched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D51 -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Project/Time-Series-Modeling-Gen5/runs/research_workbench/retail_quant_mechanisms/t1_multi_asset_trend_20260727/t1_attribution_summary.csv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Project/Time-Series-Modeling-Gen5/runs/research_workbench/retail_quant_mechanisms/t1_multi_asset_trend_20260727/visuals/t1_asset_attribution.png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T1 stops because the frozen mechanism gates fail, not because the run was invalid. The next serious avenue is a separately frozen cross-sectional momentum discussion, which asks a different ranking question rather than retuning T1.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D51 -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Project/Time-Series-Modeling-Gen5/runs/research_workbench/retail_quant_mechanisms/t1_multi_asset_trend_20260727/t1_gate_summary.csv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Project/Time-Series-Modeling-Gen5/runs/research_workbench/retail_quant_mechanisms/t1_multi_asset_trend_20260727/visuals/t1_gate_summary.png</a:t>
            </a:r>
          </a:p>
          <a:p xmlns:a="http://schemas.openxmlformats.org/drawingml/2006/main">
            <a:r>
              <a:t>- C:/Users/Franc/OneDrive/Documents/Francis/Peltata Project/Time-Series-Modeling-Gen5/docs/GEN5_RETAIL_QUANT_MECHANISM_POC_ATLAS.md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5e7590e21943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20bf19741c425d" /><Relationship Type="http://schemas.openxmlformats.org/officeDocument/2006/relationships/slideLayout" Target="/ppt/slideLayouts/slideLayout1.xml" Id="Rf6f8a763f34c45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f8a763f34c45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b5b3b4ea54bbf" /><Relationship Type="http://schemas.openxmlformats.org/officeDocument/2006/relationships/notesSlide" Target="/ppt/notesSlides/notesSlide1.xml" Id="R044a3041cd6240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f28b3e87044f9" /><Relationship Type="http://schemas.openxmlformats.org/officeDocument/2006/relationships/notesSlide" Target="/ppt/notesSlides/notesSlide2.xml" Id="R54f3b9aa938341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d736802d44a5f" /><Relationship Type="http://schemas.openxmlformats.org/officeDocument/2006/relationships/notesSlide" Target="/ppt/notesSlides/notesSlide3.xml" Id="Ra4187069712d4e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1e2b7203e47fb" /><Relationship Type="http://schemas.openxmlformats.org/officeDocument/2006/relationships/image" Target="/ppt/media/image.png" Id="R01207f24f5a74ef7" /><Relationship Type="http://schemas.openxmlformats.org/officeDocument/2006/relationships/notesSlide" Target="/ppt/notesSlides/notesSlide4.xml" Id="R600ab139e8064d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103f4307d4085" /><Relationship Type="http://schemas.openxmlformats.org/officeDocument/2006/relationships/image" Target="/ppt/media/image2.png" Id="R6a7918b0b95f40c6" /><Relationship Type="http://schemas.openxmlformats.org/officeDocument/2006/relationships/notesSlide" Target="/ppt/notesSlides/notesSlide5.xml" Id="R79791482638845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40b947fad4a2b" /><Relationship Type="http://schemas.openxmlformats.org/officeDocument/2006/relationships/notesSlide" Target="/ppt/notesSlides/notesSlide6.xml" Id="R3e40efca24b845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d659025094d3c" /><Relationship Type="http://schemas.openxmlformats.org/officeDocument/2006/relationships/image" Target="/ppt/media/image3.png" Id="Rc48c14e9d9cf476d" /><Relationship Type="http://schemas.openxmlformats.org/officeDocument/2006/relationships/notesSlide" Target="/ppt/notesSlides/notesSlide7.xml" Id="Re47d65f75b4c4e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8119058d34345" /><Relationship Type="http://schemas.openxmlformats.org/officeDocument/2006/relationships/image" Target="/ppt/media/image4.png" Id="R0aa95206e1534996" /><Relationship Type="http://schemas.openxmlformats.org/officeDocument/2006/relationships/notesSlide" Target="/ppt/notesSlides/notesSlide8.xml" Id="Ra4913315925e48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b6a2b9ce94c08" /><Relationship Type="http://schemas.openxmlformats.org/officeDocument/2006/relationships/image" Target="/ppt/media/image5.png" Id="R6cc6349ee03c4a78" /><Relationship Type="http://schemas.openxmlformats.org/officeDocument/2006/relationships/notesSlide" Target="/ppt/notesSlides/notesSlide9.xml" Id="R4182765f0b124a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f870e8d474b67" /><Relationship Type="http://schemas.openxmlformats.org/officeDocument/2006/relationships/image" Target="/ppt/media/image6.png" Id="Rfc18da74c35e4545" /><Relationship Type="http://schemas.openxmlformats.org/officeDocument/2006/relationships/notesSlide" Target="/ppt/notesSlides/notesSlide10.xml" Id="R7c20d9e2b06d4fa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7969abf5c440a" /><Relationship Type="http://schemas.openxmlformats.org/officeDocument/2006/relationships/image" Target="/ppt/media/image7.png" Id="Rbc45b101a9b3492e" /><Relationship Type="http://schemas.openxmlformats.org/officeDocument/2006/relationships/notesSlide" Target="/ppt/notesSlides/notesSlide11.xml" Id="Re88d47cdb5154d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DE04A474-56FA-4CA5-81DF-87E604F0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FROZEN T1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EC01AF7-A81D-46A9-B739-7B9898D0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87630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T1 stops at the</a:t>
            </a:r>
          </a:p>
          <a:p xmlns:a="http://schemas.openxmlformats.org/drawingml/2006/main">
            <a:pPr algn="l">
              <a:defRPr sz="51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mechanism gate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44DB1EE-DE52-4C07-8CDF-21F26088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A valid monthly trend test produced useful defense,</a:t>
            </a:r>
          </a:p>
          <a:p xmlns:a="http://schemas.openxmlformats.org/drawingml/2006/main">
            <a:pPr algn="l">
              <a:defRPr sz="217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not reliable asset-selection edge.</a:t>
            </a:r>
          </a:p>
        </p:txBody>
      </p:sp>
      <p:sp>
        <p:nvSpPr>
          <p:cNvPr id="4" name="rule-42-577-820">
            <a:extLst xmlns:a="http://schemas.openxmlformats.org/drawingml/2006/main">
              <a:ext uri="{FF2B5EF4-FFF2-40B4-BE49-F238E27FC236}">
                <a16:creationId xmlns:a16="http://schemas.microsoft.com/office/drawing/2014/main" id="{06A16488-62A7-4562-A356-CF6C3D18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95925"/>
            <a:ext cx="781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atus">
            <a:extLst xmlns:a="http://schemas.openxmlformats.org/drawingml/2006/main">
              <a:ext uri="{FF2B5EF4-FFF2-40B4-BE49-F238E27FC236}">
                <a16:creationId xmlns:a16="http://schemas.microsoft.com/office/drawing/2014/main" id="{5DAEFBEC-2EA6-48C9-80D1-300B08FB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62625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STOP_T1_TREND_PERSISTENCE</a:t>
            </a:r>
          </a:p>
        </p:txBody>
      </p:sp>
      <p:sp>
        <p:nvSpPr>
          <p:cNvPr id="6" name="accent">
            <a:extLst xmlns:a="http://schemas.openxmlformats.org/drawingml/2006/main">
              <a:ext uri="{FF2B5EF4-FFF2-40B4-BE49-F238E27FC236}">
                <a16:creationId xmlns:a16="http://schemas.microsoft.com/office/drawing/2014/main" id="{32EA0E0B-65DF-40EA-AA6A-A7A7B2B1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0"/>
            <a:ext cx="161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ark">
            <a:extLst xmlns:a="http://schemas.openxmlformats.org/drawingml/2006/main">
              <a:ext uri="{FF2B5EF4-FFF2-40B4-BE49-F238E27FC236}">
                <a16:creationId xmlns:a16="http://schemas.microsoft.com/office/drawing/2014/main" id="{2826802C-98E5-4B85-845F-1D8646C2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381250"/>
            <a:ext cx="1238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T1</a:t>
            </a:r>
          </a:p>
        </p:txBody>
      </p:sp>
      <p:sp>
        <p:nvSpPr>
          <p:cNvPr id="8" name="mark-label">
            <a:extLst xmlns:a="http://schemas.openxmlformats.org/drawingml/2006/main">
              <a:ext uri="{FF2B5EF4-FFF2-40B4-BE49-F238E27FC236}">
                <a16:creationId xmlns:a16="http://schemas.microsoft.com/office/drawing/2014/main" id="{AF43365E-6731-48E4-BB61-23FF9A8F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314700"/>
            <a:ext cx="135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 / 9</a:t>
            </a:r>
          </a:p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gates pass</a:t>
            </a:r>
          </a:p>
        </p:txBody>
      </p:sp>
      <p:sp>
        <p:nvSpPr>
          <p:cNvPr id="9" name="bookmark-D51">
            <a:extLst xmlns:a="http://schemas.openxmlformats.org/drawingml/2006/main">
              <a:ext uri="{FF2B5EF4-FFF2-40B4-BE49-F238E27FC236}">
                <a16:creationId xmlns:a16="http://schemas.microsoft.com/office/drawing/2014/main" id="{AFEE2494-60E9-47F4-9840-93388E7B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67475"/>
            <a:ext cx="195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D51</a:t>
            </a:r>
          </a:p>
        </p:txBody>
      </p:sp>
    </p:spTree>
    <p:extLst>
      <p:ext uri="{BB962C8B-B14F-4D97-AF65-F5344CB8AC3E}">
        <p14:creationId xmlns:p14="http://schemas.microsoft.com/office/powerpoint/2010/main" val="5945118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614CD066-6083-4249-9D81-64A65B50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T1 MULTI-ASSET TREND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74D2783-983C-4CD4-8304-ED9D8342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The experiment stayed exactly frozen</a:t>
            </a:r>
          </a:p>
        </p:txBody>
      </p:sp>
      <p:sp>
        <p:nvSpPr>
          <p:cNvPr id="3" name="rule-42-139-1196">
            <a:extLst xmlns:a="http://schemas.openxmlformats.org/drawingml/2006/main">
              <a:ext uri="{FF2B5EF4-FFF2-40B4-BE49-F238E27FC236}">
                <a16:creationId xmlns:a16="http://schemas.microsoft.com/office/drawing/2014/main" id="{F0C2A7E0-29EC-4DEB-A92B-61DC454F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okmark-D50-D51">
            <a:extLst xmlns:a="http://schemas.openxmlformats.org/drawingml/2006/main">
              <a:ext uri="{FF2B5EF4-FFF2-40B4-BE49-F238E27FC236}">
                <a16:creationId xmlns:a16="http://schemas.microsoft.com/office/drawing/2014/main" id="{A7FFFBBB-8BEF-4B4B-9BAA-F6A04ACE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67475"/>
            <a:ext cx="195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D50-D51</a:t>
            </a:r>
          </a:p>
        </p:txBody>
      </p:sp>
      <p:sp>
        <p:nvSpPr>
          <p:cNvPr id="5" name="signal-label">
            <a:extLst xmlns:a="http://schemas.openxmlformats.org/drawingml/2006/main">
              <a:ext uri="{FF2B5EF4-FFF2-40B4-BE49-F238E27FC236}">
                <a16:creationId xmlns:a16="http://schemas.microsoft.com/office/drawing/2014/main" id="{41F2F6A4-730E-4BDD-9AF7-9BEA820D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SIGNAL</a:t>
            </a:r>
          </a:p>
        </p:txBody>
      </p:sp>
      <p:sp>
        <p:nvSpPr>
          <p:cNvPr id="6" name="formula">
            <a:extLst xmlns:a="http://schemas.openxmlformats.org/drawingml/2006/main">
              <a:ext uri="{FF2B5EF4-FFF2-40B4-BE49-F238E27FC236}">
                <a16:creationId xmlns:a16="http://schemas.microsoft.com/office/drawing/2014/main" id="{EF9CF779-9A46-44C9-9612-73D8160F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1104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formula-text">
            <a:extLst xmlns:a="http://schemas.openxmlformats.org/drawingml/2006/main">
              <a:ext uri="{FF2B5EF4-FFF2-40B4-BE49-F238E27FC236}">
                <a16:creationId xmlns:a16="http://schemas.microsoft.com/office/drawing/2014/main" id="{BBD6379B-6661-45A0-A538-CB8D4EF5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1932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12-month asset log return  −  12-month BIL log return  &gt;  0</a:t>
            </a:r>
          </a:p>
        </p:txBody>
      </p:sp>
      <p:sp>
        <p:nvSpPr>
          <p:cNvPr id="8" name="rule-105-395-1040">
            <a:extLst xmlns:a="http://schemas.openxmlformats.org/drawingml/2006/main">
              <a:ext uri="{FF2B5EF4-FFF2-40B4-BE49-F238E27FC236}">
                <a16:creationId xmlns:a16="http://schemas.microsoft.com/office/drawing/2014/main" id="{AEC15ECC-1AD2-40A3-82C6-66F355A3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62375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ode-120">
            <a:extLst xmlns:a="http://schemas.openxmlformats.org/drawingml/2006/main">
              <a:ext uri="{FF2B5EF4-FFF2-40B4-BE49-F238E27FC236}">
                <a16:creationId xmlns:a16="http://schemas.microsoft.com/office/drawing/2014/main" id="{9D48C79E-7D98-464E-AA32-73D93262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node-label-120">
            <a:extLst xmlns:a="http://schemas.openxmlformats.org/drawingml/2006/main">
              <a:ext uri="{FF2B5EF4-FFF2-40B4-BE49-F238E27FC236}">
                <a16:creationId xmlns:a16="http://schemas.microsoft.com/office/drawing/2014/main" id="{C88FDB1B-C965-4D7D-AD5D-7BAA193F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0527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Month-end close</a:t>
            </a:r>
          </a:p>
        </p:txBody>
      </p:sp>
      <p:sp>
        <p:nvSpPr>
          <p:cNvPr id="11" name="node-body-120">
            <a:extLst xmlns:a="http://schemas.openxmlformats.org/drawingml/2006/main">
              <a:ext uri="{FF2B5EF4-FFF2-40B4-BE49-F238E27FC236}">
                <a16:creationId xmlns:a16="http://schemas.microsoft.com/office/drawing/2014/main" id="{D45C86C0-1BC8-44DE-9781-0F0C57DB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4817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observe completed month</a:t>
            </a:r>
          </a:p>
        </p:txBody>
      </p:sp>
      <p:sp>
        <p:nvSpPr>
          <p:cNvPr id="12" name="node-390">
            <a:extLst xmlns:a="http://schemas.openxmlformats.org/drawingml/2006/main">
              <a:ext uri="{FF2B5EF4-FFF2-40B4-BE49-F238E27FC236}">
                <a16:creationId xmlns:a16="http://schemas.microsoft.com/office/drawing/2014/main" id="{4F0137E3-1B32-4D47-A1A5-25911FF4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ode-label-390">
            <a:extLst xmlns:a="http://schemas.openxmlformats.org/drawingml/2006/main">
              <a:ext uri="{FF2B5EF4-FFF2-40B4-BE49-F238E27FC236}">
                <a16:creationId xmlns:a16="http://schemas.microsoft.com/office/drawing/2014/main" id="{227A8D68-F001-4F1A-ADDC-CC7FF0CF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0527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17:30 ET</a:t>
            </a:r>
          </a:p>
        </p:txBody>
      </p:sp>
      <p:sp>
        <p:nvSpPr>
          <p:cNvPr id="14" name="node-body-390">
            <a:extLst xmlns:a="http://schemas.openxmlformats.org/drawingml/2006/main">
              <a:ext uri="{FF2B5EF4-FFF2-40B4-BE49-F238E27FC236}">
                <a16:creationId xmlns:a16="http://schemas.microsoft.com/office/drawing/2014/main" id="{213AABA9-6EE4-4290-9B68-65B7E655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44817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compute ON / OFF</a:t>
            </a:r>
          </a:p>
        </p:txBody>
      </p:sp>
      <p:sp>
        <p:nvSpPr>
          <p:cNvPr id="15" name="node-665">
            <a:extLst xmlns:a="http://schemas.openxmlformats.org/drawingml/2006/main">
              <a:ext uri="{FF2B5EF4-FFF2-40B4-BE49-F238E27FC236}">
                <a16:creationId xmlns:a16="http://schemas.microsoft.com/office/drawing/2014/main" id="{704C377C-6969-4AD1-8EC4-C936F0D2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38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ode-label-665">
            <a:extLst xmlns:a="http://schemas.openxmlformats.org/drawingml/2006/main">
              <a:ext uri="{FF2B5EF4-FFF2-40B4-BE49-F238E27FC236}">
                <a16:creationId xmlns:a16="http://schemas.microsoft.com/office/drawing/2014/main" id="{82D271CE-E3B8-4B7B-A83C-954F405A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10527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Following open</a:t>
            </a:r>
          </a:p>
        </p:txBody>
      </p:sp>
      <p:sp>
        <p:nvSpPr>
          <p:cNvPr id="17" name="node-body-665">
            <a:extLst xmlns:a="http://schemas.openxmlformats.org/drawingml/2006/main">
              <a:ext uri="{FF2B5EF4-FFF2-40B4-BE49-F238E27FC236}">
                <a16:creationId xmlns:a16="http://schemas.microsoft.com/office/drawing/2014/main" id="{3F90F2B6-D02F-4A82-8A93-B2D87251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44817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rebalance 14 fixed sleeves</a:t>
            </a:r>
          </a:p>
        </p:txBody>
      </p:sp>
      <p:sp>
        <p:nvSpPr>
          <p:cNvPr id="18" name="node-950">
            <a:extLst xmlns:a="http://schemas.openxmlformats.org/drawingml/2006/main">
              <a:ext uri="{FF2B5EF4-FFF2-40B4-BE49-F238E27FC236}">
                <a16:creationId xmlns:a16="http://schemas.microsoft.com/office/drawing/2014/main" id="{EC001DC1-F3EB-4AB2-8422-3C29C987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38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node-label-950">
            <a:extLst xmlns:a="http://schemas.openxmlformats.org/drawingml/2006/main">
              <a:ext uri="{FF2B5EF4-FFF2-40B4-BE49-F238E27FC236}">
                <a16:creationId xmlns:a16="http://schemas.microsoft.com/office/drawing/2014/main" id="{A89465CC-84FB-4A36-9B28-2D771828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Next following open</a:t>
            </a:r>
          </a:p>
        </p:txBody>
      </p:sp>
      <p:sp>
        <p:nvSpPr>
          <p:cNvPr id="20" name="node-body-950">
            <a:extLst xmlns:a="http://schemas.openxmlformats.org/drawingml/2006/main">
              <a:ext uri="{FF2B5EF4-FFF2-40B4-BE49-F238E27FC236}">
                <a16:creationId xmlns:a16="http://schemas.microsoft.com/office/drawing/2014/main" id="{9A4E4AC4-868F-4ED7-BAC6-DCF7CF73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4817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measure monthly result</a:t>
            </a:r>
          </a:p>
        </p:txBody>
      </p:sp>
      <p:sp>
        <p:nvSpPr>
          <p:cNvPr id="21" name="rules">
            <a:extLst xmlns:a="http://schemas.openxmlformats.org/drawingml/2006/main">
              <a:ext uri="{FF2B5EF4-FFF2-40B4-BE49-F238E27FC236}">
                <a16:creationId xmlns:a16="http://schemas.microsoft.com/office/drawing/2014/main" id="{4DA4A198-8ECB-43A3-A032-9655515B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Equal 1/14 sleeves  •  OFF to BIL  •  5 bp primary / 10 bp stress  •  no fitting, scaling, ranking, leverage, or same-close execution</a:t>
            </a:r>
          </a:p>
        </p:txBody>
      </p:sp>
    </p:spTree>
    <p:extLst>
      <p:ext uri="{BB962C8B-B14F-4D97-AF65-F5344CB8AC3E}">
        <p14:creationId xmlns:p14="http://schemas.microsoft.com/office/powerpoint/2010/main" val="18934414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C8EC005A-A8F6-408C-8383-07DC821A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T1 MULTI-ASSET TREND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EACED16-926F-491F-974F-05187E56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All fifteen histories match the reference calendar</a:t>
            </a:r>
          </a:p>
        </p:txBody>
      </p:sp>
      <p:sp>
        <p:nvSpPr>
          <p:cNvPr id="3" name="rule-42-139-1196">
            <a:extLst xmlns:a="http://schemas.openxmlformats.org/drawingml/2006/main">
              <a:ext uri="{FF2B5EF4-FFF2-40B4-BE49-F238E27FC236}">
                <a16:creationId xmlns:a16="http://schemas.microsoft.com/office/drawing/2014/main" id="{CE825C7F-11DB-44B9-9C34-2FD4C80B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okmark-D51">
            <a:extLst xmlns:a="http://schemas.openxmlformats.org/drawingml/2006/main">
              <a:ext uri="{FF2B5EF4-FFF2-40B4-BE49-F238E27FC236}">
                <a16:creationId xmlns:a16="http://schemas.microsoft.com/office/drawing/2014/main" id="{E00A0030-3A61-4572-AF58-3AD06C51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67475"/>
            <a:ext cx="195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D51</a:t>
            </a:r>
          </a:p>
        </p:txBody>
      </p:sp>
      <p:sp>
        <p:nvSpPr>
          <p:cNvPr id="5" name="sessions-panel">
            <a:extLst xmlns:a="http://schemas.openxmlformats.org/drawingml/2006/main">
              <a:ext uri="{FF2B5EF4-FFF2-40B4-BE49-F238E27FC236}">
                <a16:creationId xmlns:a16="http://schemas.microsoft.com/office/drawing/2014/main" id="{1F3F758D-7ED5-4E39-A4FF-A80C718B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2428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ssions-value">
            <a:extLst xmlns:a="http://schemas.openxmlformats.org/drawingml/2006/main">
              <a:ext uri="{FF2B5EF4-FFF2-40B4-BE49-F238E27FC236}">
                <a16:creationId xmlns:a16="http://schemas.microsoft.com/office/drawing/2014/main" id="{07E4A65C-DF5F-4F96-8624-95D6A735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943100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2,638</a:t>
            </a:r>
          </a:p>
        </p:txBody>
      </p:sp>
      <p:sp>
        <p:nvSpPr>
          <p:cNvPr id="7" name="sessions-label">
            <a:extLst xmlns:a="http://schemas.openxmlformats.org/drawingml/2006/main">
              <a:ext uri="{FF2B5EF4-FFF2-40B4-BE49-F238E27FC236}">
                <a16:creationId xmlns:a16="http://schemas.microsoft.com/office/drawing/2014/main" id="{75A3AE5D-C87C-433C-9E4A-AEE8168B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457450"/>
            <a:ext cx="2124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sessions per symbol</a:t>
            </a:r>
          </a:p>
        </p:txBody>
      </p:sp>
      <p:sp>
        <p:nvSpPr>
          <p:cNvPr id="8" name="symbols-panel">
            <a:extLst xmlns:a="http://schemas.openxmlformats.org/drawingml/2006/main">
              <a:ext uri="{FF2B5EF4-FFF2-40B4-BE49-F238E27FC236}">
                <a16:creationId xmlns:a16="http://schemas.microsoft.com/office/drawing/2014/main" id="{D7157258-63AB-406E-A640-C0057AED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809750"/>
            <a:ext cx="2428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ymbols-value">
            <a:extLst xmlns:a="http://schemas.openxmlformats.org/drawingml/2006/main">
              <a:ext uri="{FF2B5EF4-FFF2-40B4-BE49-F238E27FC236}">
                <a16:creationId xmlns:a16="http://schemas.microsoft.com/office/drawing/2014/main" id="{6C70B6AC-48A7-46AB-BB08-8A037E7D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943100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7245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77245"/>
                </a:solidFill>
                <a:latin typeface="Arial"/>
                <a:ea typeface="Arial"/>
                <a:cs typeface="Arial"/>
              </a:rPr>
              <a:t>15 / 15</a:t>
            </a:r>
          </a:p>
        </p:txBody>
      </p:sp>
      <p:sp>
        <p:nvSpPr>
          <p:cNvPr id="10" name="symbols-label">
            <a:extLst xmlns:a="http://schemas.openxmlformats.org/drawingml/2006/main">
              <a:ext uri="{FF2B5EF4-FFF2-40B4-BE49-F238E27FC236}">
                <a16:creationId xmlns:a16="http://schemas.microsoft.com/office/drawing/2014/main" id="{25063779-D691-4A55-B813-5CB7324F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457450"/>
            <a:ext cx="2124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complete symbols</a:t>
            </a:r>
          </a:p>
        </p:txBody>
      </p:sp>
      <p:sp>
        <p:nvSpPr>
          <p:cNvPr id="11" name="missing-panel">
            <a:extLst xmlns:a="http://schemas.openxmlformats.org/drawingml/2006/main">
              <a:ext uri="{FF2B5EF4-FFF2-40B4-BE49-F238E27FC236}">
                <a16:creationId xmlns:a16="http://schemas.microsoft.com/office/drawing/2014/main" id="{4DA1948B-D37A-4B87-AF76-A7208FF9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809750"/>
            <a:ext cx="2428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issing-value">
            <a:extLst xmlns:a="http://schemas.openxmlformats.org/drawingml/2006/main">
              <a:ext uri="{FF2B5EF4-FFF2-40B4-BE49-F238E27FC236}">
                <a16:creationId xmlns:a16="http://schemas.microsoft.com/office/drawing/2014/main" id="{4C1312A3-12F9-4BD1-9844-627B6A5D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943100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7245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7724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" name="missing-label">
            <a:extLst xmlns:a="http://schemas.openxmlformats.org/drawingml/2006/main">
              <a:ext uri="{FF2B5EF4-FFF2-40B4-BE49-F238E27FC236}">
                <a16:creationId xmlns:a16="http://schemas.microsoft.com/office/drawing/2014/main" id="{8E48F22B-9ABD-4A46-BAC3-7E2FAA36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457450"/>
            <a:ext cx="2124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missing sessions</a:t>
            </a:r>
          </a:p>
        </p:txBody>
      </p:sp>
      <p:sp>
        <p:nvSpPr>
          <p:cNvPr id="14" name="integrity-panel">
            <a:extLst xmlns:a="http://schemas.openxmlformats.org/drawingml/2006/main">
              <a:ext uri="{FF2B5EF4-FFF2-40B4-BE49-F238E27FC236}">
                <a16:creationId xmlns:a16="http://schemas.microsoft.com/office/drawing/2014/main" id="{A3C2D23D-4DBA-4ED8-AE51-E804D986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0975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ntegrity-value">
            <a:extLst xmlns:a="http://schemas.openxmlformats.org/drawingml/2006/main">
              <a:ext uri="{FF2B5EF4-FFF2-40B4-BE49-F238E27FC236}">
                <a16:creationId xmlns:a16="http://schemas.microsoft.com/office/drawing/2014/main" id="{790E3D30-31D1-4865-9518-1B5CD114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943100"/>
            <a:ext cx="2647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7245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77245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  <p:sp>
        <p:nvSpPr>
          <p:cNvPr id="16" name="integrity-label">
            <a:extLst xmlns:a="http://schemas.openxmlformats.org/drawingml/2006/main">
              <a:ext uri="{FF2B5EF4-FFF2-40B4-BE49-F238E27FC236}">
                <a16:creationId xmlns:a16="http://schemas.microsoft.com/office/drawing/2014/main" id="{B36F1C97-F868-4F5D-B0F9-46122D17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5745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integrity checks</a:t>
            </a:r>
          </a:p>
        </p:txBody>
      </p:sp>
      <p:sp>
        <p:nvSpPr>
          <p:cNvPr id="17" name="calendar">
            <a:extLst xmlns:a="http://schemas.openxmlformats.org/drawingml/2006/main">
              <a:ext uri="{FF2B5EF4-FFF2-40B4-BE49-F238E27FC236}">
                <a16:creationId xmlns:a16="http://schemas.microsoft.com/office/drawing/2014/main" id="{CB41F5D9-17A2-4A32-8DE6-7E791248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76625"/>
            <a:ext cx="10953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lendar-date">
            <a:extLst xmlns:a="http://schemas.openxmlformats.org/drawingml/2006/main">
              <a:ext uri="{FF2B5EF4-FFF2-40B4-BE49-F238E27FC236}">
                <a16:creationId xmlns:a16="http://schemas.microsoft.com/office/drawing/2014/main" id="{6048E47D-B22F-40E7-AE29-AE21778F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6237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2016-01-04  →  2026-07-01</a:t>
            </a:r>
          </a:p>
        </p:txBody>
      </p:sp>
      <p:sp>
        <p:nvSpPr>
          <p:cNvPr id="19" name="calendar-copy">
            <a:extLst xmlns:a="http://schemas.openxmlformats.org/drawingml/2006/main">
              <a:ext uri="{FF2B5EF4-FFF2-40B4-BE49-F238E27FC236}">
                <a16:creationId xmlns:a16="http://schemas.microsoft.com/office/drawing/2014/main" id="{98A0C0AA-C3A0-473E-AC54-21AD3AB3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243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Every risk ETF and BIL has the same first session, last session, and reference-session count.</a:t>
            </a:r>
          </a:p>
        </p:txBody>
      </p:sp>
      <p:sp>
        <p:nvSpPr>
          <p:cNvPr id="20" name="warn">
            <a:extLst xmlns:a="http://schemas.openxmlformats.org/drawingml/2006/main">
              <a:ext uri="{FF2B5EF4-FFF2-40B4-BE49-F238E27FC236}">
                <a16:creationId xmlns:a16="http://schemas.microsoft.com/office/drawing/2014/main" id="{15447075-4BC3-42D8-A295-88159684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91125"/>
            <a:ext cx="1095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E"/>
          </a:solidFill>
          <a:ln xmlns:a="http://schemas.openxmlformats.org/drawingml/2006/main" w="9525">
            <a:solidFill>
              <a:srgbClr val="C46B08"/>
            </a:solidFill>
            <a:prstDash val="solid"/>
          </a:ln>
        </p:spPr>
      </p:sp>
      <p:sp>
        <p:nvSpPr>
          <p:cNvPr id="21" name="warn-copy">
            <a:extLst xmlns:a="http://schemas.openxmlformats.org/drawingml/2006/main">
              <a:ext uri="{FF2B5EF4-FFF2-40B4-BE49-F238E27FC236}">
                <a16:creationId xmlns:a16="http://schemas.microsoft.com/office/drawing/2014/main" id="{2A82821E-FEA9-4C26-958B-34AF840C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C46B0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46B08"/>
                </a:solidFill>
                <a:latin typeface="Arial"/>
                <a:ea typeface="Arial"/>
                <a:cs typeface="Arial"/>
              </a:rPr>
              <a:t>The generic workbench keeps a WARN because the calendar request starts on a holiday and ends before the run date. The T1-specific session audit proves there are no missing or extra market sessions; the raw warning remains visible.</a:t>
            </a:r>
          </a:p>
        </p:txBody>
      </p:sp>
    </p:spTree>
    <p:extLst>
      <p:ext uri="{BB962C8B-B14F-4D97-AF65-F5344CB8AC3E}">
        <p14:creationId xmlns:p14="http://schemas.microsoft.com/office/powerpoint/2010/main" val="12355149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A6D7F6AD-99C8-46D7-A484-BAFEE8C2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T1 MULTI-ASSET TREND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619779B-5D1E-40E8-86C5-D8AA038A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The persistence mechanism failed in confirmation</a:t>
            </a:r>
          </a:p>
        </p:txBody>
      </p:sp>
      <p:sp>
        <p:nvSpPr>
          <p:cNvPr id="3" name="rule-42-139-1196">
            <a:extLst xmlns:a="http://schemas.openxmlformats.org/drawingml/2006/main">
              <a:ext uri="{FF2B5EF4-FFF2-40B4-BE49-F238E27FC236}">
                <a16:creationId xmlns:a16="http://schemas.microsoft.com/office/drawing/2014/main" id="{2E767807-8885-4664-ABDD-F770D663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okmark-D51">
            <a:extLst xmlns:a="http://schemas.openxmlformats.org/drawingml/2006/main">
              <a:ext uri="{FF2B5EF4-FFF2-40B4-BE49-F238E27FC236}">
                <a16:creationId xmlns:a16="http://schemas.microsoft.com/office/drawing/2014/main" id="{11831844-C83E-45B7-BD2F-A393EFE3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67475"/>
            <a:ext cx="195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D51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207f24f5a74ef7"/>
          <a:stretch xmlns:a="http://schemas.openxmlformats.org/drawingml/2006/main"/>
        </p:blipFill>
        <p:spPr>
          <a:xfrm xmlns:a="http://schemas.openxmlformats.org/drawingml/2006/main">
            <a:off x="335540" y="1476375"/>
            <a:ext cx="7949045" cy="4857750"/>
          </a:xfrm>
          <a:prstGeom xmlns:a="http://schemas.openxmlformats.org/drawingml/2006/main" prst="rect">
            <a:avLst/>
          </a:prstGeom>
        </p:spPr>
      </p:pic>
      <p:sp>
        <p:nvSpPr>
          <p:cNvPr id="6" name="result">
            <a:extLst xmlns:a="http://schemas.openxmlformats.org/drawingml/2006/main">
              <a:ext uri="{FF2B5EF4-FFF2-40B4-BE49-F238E27FC236}">
                <a16:creationId xmlns:a16="http://schemas.microsoft.com/office/drawing/2014/main" id="{8A430A45-8874-4870-AC96-591DBE21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733550"/>
            <a:ext cx="28098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7" name="sep">
            <a:extLst xmlns:a="http://schemas.openxmlformats.org/drawingml/2006/main">
              <a:ext uri="{FF2B5EF4-FFF2-40B4-BE49-F238E27FC236}">
                <a16:creationId xmlns:a16="http://schemas.microsoft.com/office/drawing/2014/main" id="{8C6E6D1C-E83F-4FAD-AC0E-E5953277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95500"/>
            <a:ext cx="2238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−29.7 bp</a:t>
            </a:r>
          </a:p>
        </p:txBody>
      </p:sp>
      <p:sp>
        <p:nvSpPr>
          <p:cNvPr id="8" name="sep-label">
            <a:extLst xmlns:a="http://schemas.openxmlformats.org/drawingml/2006/main">
              <a:ext uri="{FF2B5EF4-FFF2-40B4-BE49-F238E27FC236}">
                <a16:creationId xmlns:a16="http://schemas.microsoft.com/office/drawing/2014/main" id="{C38717E9-A401-4523-9F66-DE389901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57500"/>
            <a:ext cx="223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confirmation ON − OFF</a:t>
            </a:r>
          </a:p>
          <a:p xmlns:a="http://schemas.openxmlformats.org/drawingml/2006/main">
            <a:pPr algn="l"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next-month excess return</a:t>
            </a:r>
          </a:p>
        </p:txBody>
      </p:sp>
      <p:sp>
        <p:nvSpPr>
          <p:cNvPr id="9" name="rule-945-382-230">
            <a:extLst xmlns:a="http://schemas.openxmlformats.org/drawingml/2006/main">
              <a:ext uri="{FF2B5EF4-FFF2-40B4-BE49-F238E27FC236}">
                <a16:creationId xmlns:a16="http://schemas.microsoft.com/office/drawing/2014/main" id="{83267940-2D35-4C83-9A4F-C8807CA1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6385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upport-copy">
            <a:extLst xmlns:a="http://schemas.openxmlformats.org/drawingml/2006/main">
              <a:ext uri="{FF2B5EF4-FFF2-40B4-BE49-F238E27FC236}">
                <a16:creationId xmlns:a16="http://schemas.microsoft.com/office/drawing/2014/main" id="{551E384D-A65B-413B-A860-A761AFD0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9575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The failure is not caused by an empty state: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238 ON observations</a:t>
            </a:r>
          </a:p>
          <a:p xmlns:a="http://schemas.openxmlformats.org/drawingml/2006/main">
            <a:pPr algn="l">
              <a:defRPr sz="14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266 OFF observations</a:t>
            </a:r>
          </a:p>
          <a:p xmlns:a="http://schemas.openxmlformats.org/drawingml/2006/main">
            <a:pPr algn="l">
              <a:defRPr sz="14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across 2022–2024.</a:t>
            </a:r>
          </a:p>
        </p:txBody>
      </p:sp>
      <p:sp>
        <p:nvSpPr>
          <p:cNvPr id="11" name="gate">
            <a:extLst xmlns:a="http://schemas.openxmlformats.org/drawingml/2006/main">
              <a:ext uri="{FF2B5EF4-FFF2-40B4-BE49-F238E27FC236}">
                <a16:creationId xmlns:a16="http://schemas.microsoft.com/office/drawing/2014/main" id="{8B444DAE-13B6-4A25-A9C5-452989CE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0007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G2  FAIL</a:t>
            </a:r>
          </a:p>
        </p:txBody>
      </p:sp>
    </p:spTree>
    <p:extLst>
      <p:ext uri="{BB962C8B-B14F-4D97-AF65-F5344CB8AC3E}">
        <p14:creationId xmlns:p14="http://schemas.microsoft.com/office/powerpoint/2010/main" val="3076058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7D5A5E05-0C95-467E-95BD-47474D9B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T1 MULTI-ASSET TREND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0A537B6-E6ED-4EDC-A6B4-F3C7DDC3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The failure is broad, not one unlucky sleeve</a:t>
            </a:r>
          </a:p>
        </p:txBody>
      </p:sp>
      <p:sp>
        <p:nvSpPr>
          <p:cNvPr id="3" name="rule-42-139-1196">
            <a:extLst xmlns:a="http://schemas.openxmlformats.org/drawingml/2006/main">
              <a:ext uri="{FF2B5EF4-FFF2-40B4-BE49-F238E27FC236}">
                <a16:creationId xmlns:a16="http://schemas.microsoft.com/office/drawing/2014/main" id="{F471B9C4-A9D2-475D-9A42-3EAC2A3E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okmark-D51">
            <a:extLst xmlns:a="http://schemas.openxmlformats.org/drawingml/2006/main">
              <a:ext uri="{FF2B5EF4-FFF2-40B4-BE49-F238E27FC236}">
                <a16:creationId xmlns:a16="http://schemas.microsoft.com/office/drawing/2014/main" id="{90DF9920-BB51-42C2-91C8-DEA9DE3F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67475"/>
            <a:ext cx="195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D51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7918b0b95f40c6"/>
          <a:stretch xmlns:a="http://schemas.openxmlformats.org/drawingml/2006/main"/>
        </p:blipFill>
        <p:spPr>
          <a:xfrm xmlns:a="http://schemas.openxmlformats.org/drawingml/2006/main">
            <a:off x="209550" y="1785938"/>
            <a:ext cx="8572500" cy="4286250"/>
          </a:xfrm>
          <a:prstGeom xmlns:a="http://schemas.openxmlformats.org/drawingml/2006/main" prst="rect">
            <a:avLst/>
          </a:prstGeom>
        </p:spPr>
      </p:pic>
      <p:sp>
        <p:nvSpPr>
          <p:cNvPr id="6" name="breadth">
            <a:extLst xmlns:a="http://schemas.openxmlformats.org/drawingml/2006/main">
              <a:ext uri="{FF2B5EF4-FFF2-40B4-BE49-F238E27FC236}">
                <a16:creationId xmlns:a16="http://schemas.microsoft.com/office/drawing/2014/main" id="{DFB2F070-311B-4D46-80DA-746E1F99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62125"/>
            <a:ext cx="2476500" cy="376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7" name="fraction">
            <a:extLst xmlns:a="http://schemas.openxmlformats.org/drawingml/2006/main">
              <a:ext uri="{FF2B5EF4-FFF2-40B4-BE49-F238E27FC236}">
                <a16:creationId xmlns:a16="http://schemas.microsoft.com/office/drawing/2014/main" id="{3F93C66C-9088-453F-8648-75D98F64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431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5 / 14</a:t>
            </a:r>
          </a:p>
        </p:txBody>
      </p:sp>
      <p:sp>
        <p:nvSpPr>
          <p:cNvPr id="8" name="fraction-label">
            <a:extLst xmlns:a="http://schemas.openxmlformats.org/drawingml/2006/main">
              <a:ext uri="{FF2B5EF4-FFF2-40B4-BE49-F238E27FC236}">
                <a16:creationId xmlns:a16="http://schemas.microsoft.com/office/drawing/2014/main" id="{B616D25C-E843-4BDC-9074-BDDA0739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0512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assets with positive</a:t>
            </a:r>
          </a:p>
          <a:p xmlns:a="http://schemas.openxmlformats.org/drawingml/2006/main">
            <a:pPr algn="l"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full-history separation</a:t>
            </a:r>
          </a:p>
        </p:txBody>
      </p:sp>
      <p:sp>
        <p:nvSpPr>
          <p:cNvPr id="9" name="rule-980-383-195">
            <a:extLst xmlns:a="http://schemas.openxmlformats.org/drawingml/2006/main">
              <a:ext uri="{FF2B5EF4-FFF2-40B4-BE49-F238E27FC236}">
                <a16:creationId xmlns:a16="http://schemas.microsoft.com/office/drawing/2014/main" id="{FC99E7AD-86FF-4366-8D8D-AD8D4120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48075"/>
            <a:ext cx="1857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ositive">
            <a:extLst xmlns:a="http://schemas.openxmlformats.org/drawingml/2006/main">
              <a:ext uri="{FF2B5EF4-FFF2-40B4-BE49-F238E27FC236}">
                <a16:creationId xmlns:a16="http://schemas.microsoft.com/office/drawing/2014/main" id="{89F22350-3A4B-43F1-91B3-D33380A1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95750"/>
            <a:ext cx="1857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Positive:</a:t>
            </a:r>
          </a:p>
          <a:p xmlns:a="http://schemas.openxmlformats.org/drawingml/2006/main">
            <a:pPr algn="l">
              <a:defRPr sz="14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EEM  TLT  IEF</a:t>
            </a:r>
          </a:p>
          <a:p xmlns:a="http://schemas.openxmlformats.org/drawingml/2006/main">
            <a:pPr algn="l">
              <a:defRPr sz="14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LQD  DBC</a:t>
            </a:r>
          </a:p>
        </p:txBody>
      </p:sp>
      <p:sp>
        <p:nvSpPr>
          <p:cNvPr id="11" name="threshold">
            <a:extLst xmlns:a="http://schemas.openxmlformats.org/drawingml/2006/main">
              <a:ext uri="{FF2B5EF4-FFF2-40B4-BE49-F238E27FC236}">
                <a16:creationId xmlns:a16="http://schemas.microsoft.com/office/drawing/2014/main" id="{DD202064-3CAC-4B2F-8548-2F058ED5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857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Frozen gate: at least 8 / 14</a:t>
            </a:r>
          </a:p>
        </p:txBody>
      </p:sp>
    </p:spTree>
    <p:extLst>
      <p:ext uri="{BB962C8B-B14F-4D97-AF65-F5344CB8AC3E}">
        <p14:creationId xmlns:p14="http://schemas.microsoft.com/office/powerpoint/2010/main" val="6398425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C1774E8B-F727-4931-AA4D-3DAB987B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TRANSITION  /  MECHANISM VERSUS RISK SHAPING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BB93A5C1-407B-492E-936B-6D0E9D06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9429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Defense is real.</a:t>
            </a:r>
          </a:p>
          <a:p xmlns:a="http://schemas.openxmlformats.org/drawingml/2006/main">
            <a:pPr algn="l">
              <a:defRPr sz="4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It is not selection alpha.</a:t>
            </a:r>
          </a:p>
        </p:txBody>
      </p:sp>
      <p:sp>
        <p:nvSpPr>
          <p:cNvPr id="3" name="rule-62-430-650">
            <a:extLst xmlns:a="http://schemas.openxmlformats.org/drawingml/2006/main">
              <a:ext uri="{FF2B5EF4-FFF2-40B4-BE49-F238E27FC236}">
                <a16:creationId xmlns:a16="http://schemas.microsoft.com/office/drawing/2014/main" id="{59E9B7CD-A918-47AE-BEA7-527AB01D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619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64A7E9C-EDC1-4C6E-97D7-CC2076AD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52950"/>
            <a:ext cx="8382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T1 reduced risky exposure in damaging periods.</a:t>
            </a:r>
          </a:p>
          <a:p xmlns:a="http://schemas.openxmlformats.org/drawingml/2006/main">
            <a:pPr algn="l">
              <a:defRPr sz="21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But the asset-specific trend choices did not beat a control</a:t>
            </a:r>
          </a:p>
          <a:p xmlns:a="http://schemas.openxmlformats.org/drawingml/2006/main">
            <a:pPr algn="l">
              <a:defRPr sz="21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 the same aggregate risky exposure.</a:t>
            </a:r>
          </a:p>
        </p:txBody>
      </p:sp>
      <p:sp>
        <p:nvSpPr>
          <p:cNvPr id="5" name="mark">
            <a:extLst xmlns:a="http://schemas.openxmlformats.org/drawingml/2006/main">
              <a:ext uri="{FF2B5EF4-FFF2-40B4-BE49-F238E27FC236}">
                <a16:creationId xmlns:a16="http://schemas.microsoft.com/office/drawing/2014/main" id="{A20F3045-C76A-410D-861E-28EF4BAB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38375"/>
            <a:ext cx="14763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ark-text">
            <a:extLst xmlns:a="http://schemas.openxmlformats.org/drawingml/2006/main">
              <a:ext uri="{FF2B5EF4-FFF2-40B4-BE49-F238E27FC236}">
                <a16:creationId xmlns:a16="http://schemas.microsoft.com/office/drawing/2014/main" id="{83A7BF30-5136-4943-885C-E204FD0F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00300"/>
            <a:ext cx="904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≠</a:t>
            </a:r>
          </a:p>
        </p:txBody>
      </p:sp>
      <p:sp>
        <p:nvSpPr>
          <p:cNvPr id="7" name="mark-label">
            <a:extLst xmlns:a="http://schemas.openxmlformats.org/drawingml/2006/main">
              <a:ext uri="{FF2B5EF4-FFF2-40B4-BE49-F238E27FC236}">
                <a16:creationId xmlns:a16="http://schemas.microsoft.com/office/drawing/2014/main" id="{84C6B0B4-9AAB-4D18-A7AA-EE3CB4B8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00500"/>
            <a:ext cx="1638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risk control</a:t>
            </a:r>
          </a:p>
          <a:p xmlns:a="http://schemas.openxmlformats.org/drawingml/2006/main">
            <a:pPr algn="ctr">
              <a:defRPr sz="1500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≠ alpha</a:t>
            </a:r>
          </a:p>
        </p:txBody>
      </p:sp>
      <p:sp>
        <p:nvSpPr>
          <p:cNvPr id="8" name="bookmark-D51">
            <a:extLst xmlns:a="http://schemas.openxmlformats.org/drawingml/2006/main">
              <a:ext uri="{FF2B5EF4-FFF2-40B4-BE49-F238E27FC236}">
                <a16:creationId xmlns:a16="http://schemas.microsoft.com/office/drawing/2014/main" id="{6FAD46E4-E8FC-4FAB-81DE-7ED04031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67475"/>
            <a:ext cx="195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D51</a:t>
            </a:r>
          </a:p>
        </p:txBody>
      </p:sp>
    </p:spTree>
    <p:extLst>
      <p:ext uri="{BB962C8B-B14F-4D97-AF65-F5344CB8AC3E}">
        <p14:creationId xmlns:p14="http://schemas.microsoft.com/office/powerpoint/2010/main" val="5312279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46810BF-70CB-4C18-A4D3-82615034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T1 MULTI-ASSET TREND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B290BAB-1B99-4F04-9CA3-1210CB4B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T1 cut drawdown—but trailed the exposure-matched control</a:t>
            </a:r>
          </a:p>
        </p:txBody>
      </p:sp>
      <p:sp>
        <p:nvSpPr>
          <p:cNvPr id="3" name="rule-42-139-1196">
            <a:extLst xmlns:a="http://schemas.openxmlformats.org/drawingml/2006/main">
              <a:ext uri="{FF2B5EF4-FFF2-40B4-BE49-F238E27FC236}">
                <a16:creationId xmlns:a16="http://schemas.microsoft.com/office/drawing/2014/main" id="{DC2F0709-D802-4AE1-B95B-3D7A1803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okmark-D51">
            <a:extLst xmlns:a="http://schemas.openxmlformats.org/drawingml/2006/main">
              <a:ext uri="{FF2B5EF4-FFF2-40B4-BE49-F238E27FC236}">
                <a16:creationId xmlns:a16="http://schemas.microsoft.com/office/drawing/2014/main" id="{C0458FEC-DF07-4D91-B739-CB948A8B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67475"/>
            <a:ext cx="195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D51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c14e9d9cf476d"/>
          <a:stretch xmlns:a="http://schemas.openxmlformats.org/drawingml/2006/main"/>
        </p:blipFill>
        <p:spPr>
          <a:xfrm xmlns:a="http://schemas.openxmlformats.org/drawingml/2006/main">
            <a:off x="431731" y="1524000"/>
            <a:ext cx="7947163" cy="4810125"/>
          </a:xfrm>
          <a:prstGeom xmlns:a="http://schemas.openxmlformats.org/drawingml/2006/main" prst="rect">
            <a:avLst/>
          </a:prstGeom>
        </p:spPr>
      </p:pic>
      <p:sp>
        <p:nvSpPr>
          <p:cNvPr id="6" name="t1-cagr-panel">
            <a:extLst xmlns:a="http://schemas.openxmlformats.org/drawingml/2006/main">
              <a:ext uri="{FF2B5EF4-FFF2-40B4-BE49-F238E27FC236}">
                <a16:creationId xmlns:a16="http://schemas.microsoft.com/office/drawing/2014/main" id="{A6D8A017-30E8-4433-81D6-1B5587F7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3355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1-cagr-value">
            <a:extLst xmlns:a="http://schemas.openxmlformats.org/drawingml/2006/main">
              <a:ext uri="{FF2B5EF4-FFF2-40B4-BE49-F238E27FC236}">
                <a16:creationId xmlns:a16="http://schemas.microsoft.com/office/drawing/2014/main" id="{065D4D0D-4024-437E-8E04-1175BD5C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86690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3.29%</a:t>
            </a:r>
          </a:p>
        </p:txBody>
      </p:sp>
      <p:sp>
        <p:nvSpPr>
          <p:cNvPr id="8" name="t1-cagr-label">
            <a:extLst xmlns:a="http://schemas.openxmlformats.org/drawingml/2006/main">
              <a:ext uri="{FF2B5EF4-FFF2-40B4-BE49-F238E27FC236}">
                <a16:creationId xmlns:a16="http://schemas.microsoft.com/office/drawing/2014/main" id="{48B5D66C-1257-4994-81A4-A8C5D705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3812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T1 CAGR</a:t>
            </a:r>
          </a:p>
        </p:txBody>
      </p:sp>
      <p:sp>
        <p:nvSpPr>
          <p:cNvPr id="9" name="t1-dd-panel">
            <a:extLst xmlns:a="http://schemas.openxmlformats.org/drawingml/2006/main">
              <a:ext uri="{FF2B5EF4-FFF2-40B4-BE49-F238E27FC236}">
                <a16:creationId xmlns:a16="http://schemas.microsoft.com/office/drawing/2014/main" id="{BF73981F-9AAF-42BA-99BB-F529FD2E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0990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1-dd-value">
            <a:extLst xmlns:a="http://schemas.openxmlformats.org/drawingml/2006/main">
              <a:ext uri="{FF2B5EF4-FFF2-40B4-BE49-F238E27FC236}">
                <a16:creationId xmlns:a16="http://schemas.microsoft.com/office/drawing/2014/main" id="{5489C0BF-A001-49C2-85CE-0BF56383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432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7245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77245"/>
                </a:solidFill>
                <a:latin typeface="Arial"/>
                <a:ea typeface="Arial"/>
                <a:cs typeface="Arial"/>
              </a:rPr>
              <a:t>−3.51%</a:t>
            </a:r>
          </a:p>
        </p:txBody>
      </p:sp>
      <p:sp>
        <p:nvSpPr>
          <p:cNvPr id="11" name="t1-dd-label">
            <a:extLst xmlns:a="http://schemas.openxmlformats.org/drawingml/2006/main">
              <a:ext uri="{FF2B5EF4-FFF2-40B4-BE49-F238E27FC236}">
                <a16:creationId xmlns:a16="http://schemas.microsoft.com/office/drawing/2014/main" id="{0C2C762C-2F23-4CC8-BB96-67F5FA5A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6576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T1 max drawdown</a:t>
            </a:r>
          </a:p>
        </p:txBody>
      </p:sp>
      <p:sp>
        <p:nvSpPr>
          <p:cNvPr id="12" name="control-panel">
            <a:extLst xmlns:a="http://schemas.openxmlformats.org/drawingml/2006/main">
              <a:ext uri="{FF2B5EF4-FFF2-40B4-BE49-F238E27FC236}">
                <a16:creationId xmlns:a16="http://schemas.microsoft.com/office/drawing/2014/main" id="{9F7D3C8D-6FE6-46C9-944B-F9F9D795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28625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ntrol-value">
            <a:extLst xmlns:a="http://schemas.openxmlformats.org/drawingml/2006/main">
              <a:ext uri="{FF2B5EF4-FFF2-40B4-BE49-F238E27FC236}">
                <a16:creationId xmlns:a16="http://schemas.microsoft.com/office/drawing/2014/main" id="{2D51729A-9543-4B46-95DE-3F60B423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41960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3.88%</a:t>
            </a:r>
          </a:p>
        </p:txBody>
      </p:sp>
      <p:sp>
        <p:nvSpPr>
          <p:cNvPr id="14" name="control-label">
            <a:extLst xmlns:a="http://schemas.openxmlformats.org/drawingml/2006/main">
              <a:ext uri="{FF2B5EF4-FFF2-40B4-BE49-F238E27FC236}">
                <a16:creationId xmlns:a16="http://schemas.microsoft.com/office/drawing/2014/main" id="{DC5C7323-3F4A-4214-920C-4969DFD9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9339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exposure-matched CAGR</a:t>
            </a:r>
          </a:p>
        </p:txBody>
      </p:sp>
      <p:sp>
        <p:nvSpPr>
          <p:cNvPr id="15" name="comparison">
            <a:extLst xmlns:a="http://schemas.openxmlformats.org/drawingml/2006/main">
              <a:ext uri="{FF2B5EF4-FFF2-40B4-BE49-F238E27FC236}">
                <a16:creationId xmlns:a16="http://schemas.microsoft.com/office/drawing/2014/main" id="{5CDBF201-0642-4B84-A810-3F81CE52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50545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T1 disadvantage: −0.59 pp</a:t>
            </a:r>
          </a:p>
          <a:p xmlns:a="http://schemas.openxmlformats.org/drawingml/2006/main">
            <a:pPr algn="ctr">
              <a:defRPr sz="112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Static EW drawdown: −12.79%</a:t>
            </a:r>
          </a:p>
          <a:p xmlns:a="http://schemas.openxmlformats.org/drawingml/2006/main">
            <a:pPr algn="ctr">
              <a:defRPr sz="112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Drawdown reduction: 72.5%</a:t>
            </a:r>
          </a:p>
        </p:txBody>
      </p:sp>
    </p:spTree>
    <p:extLst>
      <p:ext uri="{BB962C8B-B14F-4D97-AF65-F5344CB8AC3E}">
        <p14:creationId xmlns:p14="http://schemas.microsoft.com/office/powerpoint/2010/main" val="15953189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76AAB791-1059-4FC6-9BB6-359668FE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T1 MULTI-ASSET TREND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F5D1B9F-3571-4F0C-B1E2-10189C42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The exposure tape shows what the rule actually did</a:t>
            </a:r>
          </a:p>
        </p:txBody>
      </p:sp>
      <p:sp>
        <p:nvSpPr>
          <p:cNvPr id="3" name="rule-42-139-1196">
            <a:extLst xmlns:a="http://schemas.openxmlformats.org/drawingml/2006/main">
              <a:ext uri="{FF2B5EF4-FFF2-40B4-BE49-F238E27FC236}">
                <a16:creationId xmlns:a16="http://schemas.microsoft.com/office/drawing/2014/main" id="{46B7418D-206D-4E09-9D2D-CEBCEC69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okmark-D51">
            <a:extLst xmlns:a="http://schemas.openxmlformats.org/drawingml/2006/main">
              <a:ext uri="{FF2B5EF4-FFF2-40B4-BE49-F238E27FC236}">
                <a16:creationId xmlns:a16="http://schemas.microsoft.com/office/drawing/2014/main" id="{E3616864-03C2-4514-A226-16F7F53C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67475"/>
            <a:ext cx="195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D51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a95206e1534996"/>
          <a:stretch xmlns:a="http://schemas.openxmlformats.org/drawingml/2006/main"/>
        </p:blipFill>
        <p:spPr>
          <a:xfrm xmlns:a="http://schemas.openxmlformats.org/drawingml/2006/main">
            <a:off x="209550" y="1982077"/>
            <a:ext cx="8810625" cy="3941595"/>
          </a:xfrm>
          <a:prstGeom xmlns:a="http://schemas.openxmlformats.org/drawingml/2006/main" prst="rect">
            <a:avLst/>
          </a:prstGeom>
        </p:spPr>
      </p:pic>
      <p:sp>
        <p:nvSpPr>
          <p:cNvPr id="6" name="exposure-panel">
            <a:extLst xmlns:a="http://schemas.openxmlformats.org/drawingml/2006/main">
              <a:ext uri="{FF2B5EF4-FFF2-40B4-BE49-F238E27FC236}">
                <a16:creationId xmlns:a16="http://schemas.microsoft.com/office/drawing/2014/main" id="{3E6A6933-B39E-4227-8D14-1AC22240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762125"/>
            <a:ext cx="2238375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exposure-number">
            <a:extLst xmlns:a="http://schemas.openxmlformats.org/drawingml/2006/main">
              <a:ext uri="{FF2B5EF4-FFF2-40B4-BE49-F238E27FC236}">
                <a16:creationId xmlns:a16="http://schemas.microsoft.com/office/drawing/2014/main" id="{1D8552A1-F939-49F8-8E80-02BD3C81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190750"/>
            <a:ext cx="1857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47.2%</a:t>
            </a:r>
          </a:p>
        </p:txBody>
      </p:sp>
      <p:sp>
        <p:nvSpPr>
          <p:cNvPr id="8" name="exposure-label">
            <a:extLst xmlns:a="http://schemas.openxmlformats.org/drawingml/2006/main">
              <a:ext uri="{FF2B5EF4-FFF2-40B4-BE49-F238E27FC236}">
                <a16:creationId xmlns:a16="http://schemas.microsoft.com/office/drawing/2014/main" id="{B6329C8B-0673-4BFC-B8C0-3EDF74C4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0"/>
            <a:ext cx="1857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mean risky exposure</a:t>
            </a:r>
          </a:p>
          <a:p xmlns:a="http://schemas.openxmlformats.org/drawingml/2006/main">
            <a:pPr algn="ctr">
              <a:defRPr sz="15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in confirmation</a:t>
            </a:r>
          </a:p>
        </p:txBody>
      </p:sp>
      <p:sp>
        <p:nvSpPr>
          <p:cNvPr id="9" name="rule-1005-405-175">
            <a:extLst xmlns:a="http://schemas.openxmlformats.org/drawingml/2006/main">
              <a:ext uri="{FF2B5EF4-FFF2-40B4-BE49-F238E27FC236}">
                <a16:creationId xmlns:a16="http://schemas.microsoft.com/office/drawing/2014/main" id="{E66E1687-0279-481E-BBAD-CDFA3528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857625"/>
            <a:ext cx="1666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xposure-copy">
            <a:extLst xmlns:a="http://schemas.openxmlformats.org/drawingml/2006/main">
              <a:ext uri="{FF2B5EF4-FFF2-40B4-BE49-F238E27FC236}">
                <a16:creationId xmlns:a16="http://schemas.microsoft.com/office/drawing/2014/main" id="{84ECB18A-0F8B-4723-AFDB-60687036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43375"/>
            <a:ext cx="1809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OFF sleeves moved to BIL.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0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Fourteen binary sleeves therefore created variable portfolio exposure.</a:t>
            </a:r>
          </a:p>
        </p:txBody>
      </p:sp>
      <p:sp>
        <p:nvSpPr>
          <p:cNvPr id="11" name="lesson">
            <a:extLst xmlns:a="http://schemas.openxmlformats.org/drawingml/2006/main">
              <a:ext uri="{FF2B5EF4-FFF2-40B4-BE49-F238E27FC236}">
                <a16:creationId xmlns:a16="http://schemas.microsoft.com/office/drawing/2014/main" id="{12848011-1EB8-49D5-AF35-AAC277F0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857875"/>
            <a:ext cx="252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Measure exposure separately from selection.</a:t>
            </a:r>
          </a:p>
        </p:txBody>
      </p:sp>
    </p:spTree>
    <p:extLst>
      <p:ext uri="{BB962C8B-B14F-4D97-AF65-F5344CB8AC3E}">
        <p14:creationId xmlns:p14="http://schemas.microsoft.com/office/powerpoint/2010/main" val="18545670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5F80FFDD-2FC1-4725-AF23-6741EC1C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T1 MULTI-ASSET TREND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A6CE207-173B-40FC-A03A-8391D53E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Representative decisions make the timing inspectable</a:t>
            </a:r>
          </a:p>
        </p:txBody>
      </p:sp>
      <p:sp>
        <p:nvSpPr>
          <p:cNvPr id="3" name="rule-42-139-1196">
            <a:extLst xmlns:a="http://schemas.openxmlformats.org/drawingml/2006/main">
              <a:ext uri="{FF2B5EF4-FFF2-40B4-BE49-F238E27FC236}">
                <a16:creationId xmlns:a16="http://schemas.microsoft.com/office/drawing/2014/main" id="{C79C3439-5D6F-45DC-91E4-9AAAA5E0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okmark-D51">
            <a:extLst xmlns:a="http://schemas.openxmlformats.org/drawingml/2006/main">
              <a:ext uri="{FF2B5EF4-FFF2-40B4-BE49-F238E27FC236}">
                <a16:creationId xmlns:a16="http://schemas.microsoft.com/office/drawing/2014/main" id="{2603B5FB-9507-47A1-87E2-2829A8FF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67475"/>
            <a:ext cx="195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c6349ee03c4a78"/>
          <a:stretch xmlns:a="http://schemas.openxmlformats.org/drawingml/2006/main"/>
        </p:blipFill>
        <p:spPr>
          <a:xfrm xmlns:a="http://schemas.openxmlformats.org/drawingml/2006/main">
            <a:off x="2166938" y="1476375"/>
            <a:ext cx="7848600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0904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308DB8AB-9DE6-4990-8DBC-893D070E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T1 MULTI-ASSET TREND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5388377-B643-46FF-9EFA-51DF0EE5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No single winner rescues the aggregate result</a:t>
            </a:r>
          </a:p>
        </p:txBody>
      </p:sp>
      <p:sp>
        <p:nvSpPr>
          <p:cNvPr id="3" name="rule-42-139-1196">
            <a:extLst xmlns:a="http://schemas.openxmlformats.org/drawingml/2006/main">
              <a:ext uri="{FF2B5EF4-FFF2-40B4-BE49-F238E27FC236}">
                <a16:creationId xmlns:a16="http://schemas.microsoft.com/office/drawing/2014/main" id="{F844312C-3191-4FFB-B3D6-0CA7CE14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okmark-D51">
            <a:extLst xmlns:a="http://schemas.openxmlformats.org/drawingml/2006/main">
              <a:ext uri="{FF2B5EF4-FFF2-40B4-BE49-F238E27FC236}">
                <a16:creationId xmlns:a16="http://schemas.microsoft.com/office/drawing/2014/main" id="{62CAF49D-6B6C-40A3-A6B3-0E55761C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67475"/>
            <a:ext cx="195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D51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18da74c35e4545"/>
          <a:stretch xmlns:a="http://schemas.openxmlformats.org/drawingml/2006/main"/>
        </p:blipFill>
        <p:spPr>
          <a:xfrm xmlns:a="http://schemas.openxmlformats.org/drawingml/2006/main">
            <a:off x="271463" y="1524000"/>
            <a:ext cx="8658225" cy="4810125"/>
          </a:xfrm>
          <a:prstGeom xmlns:a="http://schemas.openxmlformats.org/drawingml/2006/main" prst="rect">
            <a:avLst/>
          </a:prstGeom>
        </p:spPr>
      </p:pic>
      <p:sp>
        <p:nvSpPr>
          <p:cNvPr id="6" name="attrib-panel">
            <a:extLst xmlns:a="http://schemas.openxmlformats.org/drawingml/2006/main">
              <a:ext uri="{FF2B5EF4-FFF2-40B4-BE49-F238E27FC236}">
                <a16:creationId xmlns:a16="http://schemas.microsoft.com/office/drawing/2014/main" id="{D16E51C1-8E29-49F8-8B8F-00201991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762125"/>
            <a:ext cx="2238375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ap">
            <a:extLst xmlns:a="http://schemas.openxmlformats.org/drawingml/2006/main">
              <a:ext uri="{FF2B5EF4-FFF2-40B4-BE49-F238E27FC236}">
                <a16:creationId xmlns:a16="http://schemas.microsoft.com/office/drawing/2014/main" id="{BBD44EAE-01C1-4438-B7E4-4B9A7894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143125"/>
            <a:ext cx="1857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17724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7245"/>
                </a:solidFill>
                <a:latin typeface="Arial"/>
                <a:ea typeface="Arial"/>
                <a:cs typeface="Arial"/>
              </a:rPr>
              <a:t>23.4%</a:t>
            </a:r>
          </a:p>
        </p:txBody>
      </p:sp>
      <p:sp>
        <p:nvSpPr>
          <p:cNvPr id="8" name="cap-label">
            <a:extLst xmlns:a="http://schemas.openxmlformats.org/drawingml/2006/main">
              <a:ext uri="{FF2B5EF4-FFF2-40B4-BE49-F238E27FC236}">
                <a16:creationId xmlns:a16="http://schemas.microsoft.com/office/drawing/2014/main" id="{3297E50F-7493-48C2-BA17-78BD14AE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895600"/>
            <a:ext cx="1857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largest positive</a:t>
            </a:r>
          </a:p>
          <a:p xmlns:a="http://schemas.openxmlformats.org/drawingml/2006/main">
            <a:pPr algn="ctr">
              <a:defRPr sz="15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contribution share</a:t>
            </a:r>
          </a:p>
        </p:txBody>
      </p:sp>
      <p:sp>
        <p:nvSpPr>
          <p:cNvPr id="9" name="rule-1005-395-175">
            <a:extLst xmlns:a="http://schemas.openxmlformats.org/drawingml/2006/main">
              <a:ext uri="{FF2B5EF4-FFF2-40B4-BE49-F238E27FC236}">
                <a16:creationId xmlns:a16="http://schemas.microsoft.com/office/drawing/2014/main" id="{38CBE511-61C9-4896-85F0-514E8D2E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762375"/>
            <a:ext cx="1666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p-copy">
            <a:extLst xmlns:a="http://schemas.openxmlformats.org/drawingml/2006/main">
              <a:ext uri="{FF2B5EF4-FFF2-40B4-BE49-F238E27FC236}">
                <a16:creationId xmlns:a16="http://schemas.microsoft.com/office/drawing/2014/main" id="{E991BFF0-3694-49B7-8255-C6B87CDE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057650"/>
            <a:ext cx="1809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Frozen cap: 35%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0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G7 passes.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0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Diversification does not rescue a negative aggregate advantage.</a:t>
            </a:r>
          </a:p>
        </p:txBody>
      </p:sp>
    </p:spTree>
    <p:extLst>
      <p:ext uri="{BB962C8B-B14F-4D97-AF65-F5344CB8AC3E}">
        <p14:creationId xmlns:p14="http://schemas.microsoft.com/office/powerpoint/2010/main" val="11516695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">
            <a:extLst xmlns:a="http://schemas.openxmlformats.org/drawingml/2006/main">
              <a:ext uri="{FF2B5EF4-FFF2-40B4-BE49-F238E27FC236}">
                <a16:creationId xmlns:a16="http://schemas.microsoft.com/office/drawing/2014/main" id="{EE534C77-9A98-4B66-9EEE-BA3744CC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T1 MULTI-ASSET TREND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27AB371-F977-45AE-A891-57520CCF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Five gates pass; four mechanism gates stop T1</a:t>
            </a:r>
          </a:p>
        </p:txBody>
      </p:sp>
      <p:sp>
        <p:nvSpPr>
          <p:cNvPr id="3" name="rule-42-139-1196">
            <a:extLst xmlns:a="http://schemas.openxmlformats.org/drawingml/2006/main">
              <a:ext uri="{FF2B5EF4-FFF2-40B4-BE49-F238E27FC236}">
                <a16:creationId xmlns:a16="http://schemas.microsoft.com/office/drawing/2014/main" id="{71F729A2-70F3-4881-9437-B711A845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okmark-D51">
            <a:extLst xmlns:a="http://schemas.openxmlformats.org/drawingml/2006/main">
              <a:ext uri="{FF2B5EF4-FFF2-40B4-BE49-F238E27FC236}">
                <a16:creationId xmlns:a16="http://schemas.microsoft.com/office/drawing/2014/main" id="{90CFFFF2-B116-45D3-A8E5-A4F971E2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67475"/>
            <a:ext cx="195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D51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45b101a9b3492e"/>
          <a:stretch xmlns:a="http://schemas.openxmlformats.org/drawingml/2006/main"/>
        </p:blipFill>
        <p:spPr>
          <a:xfrm xmlns:a="http://schemas.openxmlformats.org/drawingml/2006/main">
            <a:off x="190500" y="1723273"/>
            <a:ext cx="7810500" cy="4316329"/>
          </a:xfrm>
          <a:prstGeom xmlns:a="http://schemas.openxmlformats.org/drawingml/2006/main" prst="rect">
            <a:avLst/>
          </a:prstGeom>
        </p:spPr>
      </p:pic>
      <p:sp>
        <p:nvSpPr>
          <p:cNvPr id="6" name="decision">
            <a:extLst xmlns:a="http://schemas.openxmlformats.org/drawingml/2006/main">
              <a:ext uri="{FF2B5EF4-FFF2-40B4-BE49-F238E27FC236}">
                <a16:creationId xmlns:a16="http://schemas.microsoft.com/office/drawing/2014/main" id="{5E3636CE-392F-4A35-B2CA-5A3BCBC3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76400"/>
            <a:ext cx="3238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7" name="decision-count">
            <a:extLst xmlns:a="http://schemas.openxmlformats.org/drawingml/2006/main">
              <a:ext uri="{FF2B5EF4-FFF2-40B4-BE49-F238E27FC236}">
                <a16:creationId xmlns:a16="http://schemas.microsoft.com/office/drawing/2014/main" id="{DF98F588-C773-4DC7-8AD3-DC8FF994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193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900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5 / 9</a:t>
            </a:r>
          </a:p>
        </p:txBody>
      </p:sp>
      <p:sp>
        <p:nvSpPr>
          <p:cNvPr id="8" name="decision-label">
            <a:extLst xmlns:a="http://schemas.openxmlformats.org/drawingml/2006/main">
              <a:ext uri="{FF2B5EF4-FFF2-40B4-BE49-F238E27FC236}">
                <a16:creationId xmlns:a16="http://schemas.microsoft.com/office/drawing/2014/main" id="{C405F18E-55F9-4DF8-B08F-ADE8CBEB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813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frozen gates pass</a:t>
            </a:r>
          </a:p>
        </p:txBody>
      </p:sp>
      <p:sp>
        <p:nvSpPr>
          <p:cNvPr id="9" name="rule-905-356-270">
            <a:extLst xmlns:a="http://schemas.openxmlformats.org/drawingml/2006/main">
              <a:ext uri="{FF2B5EF4-FFF2-40B4-BE49-F238E27FC236}">
                <a16:creationId xmlns:a16="http://schemas.microsoft.com/office/drawing/2014/main" id="{C7E8F284-77EC-4D05-B908-5EF7F79D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9090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ailed-title">
            <a:extLst xmlns:a="http://schemas.openxmlformats.org/drawingml/2006/main">
              <a:ext uri="{FF2B5EF4-FFF2-40B4-BE49-F238E27FC236}">
                <a16:creationId xmlns:a16="http://schemas.microsoft.com/office/drawing/2014/main" id="{BC7AA844-EB38-4AF3-905F-BAF53317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671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FAILED</a:t>
            </a:r>
          </a:p>
        </p:txBody>
      </p:sp>
      <p:sp>
        <p:nvSpPr>
          <p:cNvPr id="11" name="failed">
            <a:extLst xmlns:a="http://schemas.openxmlformats.org/drawingml/2006/main">
              <a:ext uri="{FF2B5EF4-FFF2-40B4-BE49-F238E27FC236}">
                <a16:creationId xmlns:a16="http://schemas.microsoft.com/office/drawing/2014/main" id="{3C6F98FC-4EE2-47E3-B543-40D632F4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0"/>
            <a:ext cx="247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confirmation ON−OFF sign</a:t>
            </a:r>
          </a:p>
          <a:p xmlns:a="http://schemas.openxmlformats.org/drawingml/2006/main">
            <a:pPr algn="l">
              <a:defRPr sz="14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asset breadth</a:t>
            </a:r>
          </a:p>
          <a:p xmlns:a="http://schemas.openxmlformats.org/drawingml/2006/main">
            <a:pPr algn="l">
              <a:defRPr sz="14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exposure-matched return</a:t>
            </a:r>
          </a:p>
          <a:p xmlns:a="http://schemas.openxmlformats.org/drawingml/2006/main">
            <a:pPr algn="l">
              <a:defRPr sz="14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10 bp central conclusion</a:t>
            </a:r>
          </a:p>
        </p:txBody>
      </p:sp>
      <p:sp>
        <p:nvSpPr>
          <p:cNvPr id="12" name="stop">
            <a:extLst xmlns:a="http://schemas.openxmlformats.org/drawingml/2006/main">
              <a:ext uri="{FF2B5EF4-FFF2-40B4-BE49-F238E27FC236}">
                <a16:creationId xmlns:a16="http://schemas.microsoft.com/office/drawing/2014/main" id="{EB81966E-2558-4989-9BF4-52F2B5EB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817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STOP_T1_TREND_PERSISTENCE</a:t>
            </a:r>
          </a:p>
        </p:txBody>
      </p:sp>
      <p:sp>
        <p:nvSpPr>
          <p:cNvPr id="13" name="next">
            <a:extLst xmlns:a="http://schemas.openxmlformats.org/drawingml/2006/main">
              <a:ext uri="{FF2B5EF4-FFF2-40B4-BE49-F238E27FC236}">
                <a16:creationId xmlns:a16="http://schemas.microsoft.com/office/drawing/2014/main" id="{606CBD84-91ED-4F3B-8B70-9B694DDD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What survives: the fixed-sleeve measurement architecture and the exposure-matched control.</a:t>
            </a:r>
          </a:p>
          <a:p xmlns:a="http://schemas.openxmlformats.org/drawingml/2006/main">
            <a:pPr algn="ctr">
              <a:defRPr sz="127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Next operator discussion: M1 cross-sectional momentum—not a T1 rescue.</a:t>
            </a:r>
          </a:p>
        </p:txBody>
      </p:sp>
    </p:spTree>
    <p:extLst>
      <p:ext uri="{BB962C8B-B14F-4D97-AF65-F5344CB8AC3E}">
        <p14:creationId xmlns:p14="http://schemas.microsoft.com/office/powerpoint/2010/main" val="2089743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2026-07-27T11:20:34.1960000Z</dcterms:created>
  <dcterms:modified xsi:type="dcterms:W3CDTF">2026-07-27T11:20:34.1960000Z</dcterms:modified>
</coreProperties>
</file>