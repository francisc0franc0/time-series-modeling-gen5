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8d1f26a90c4d2d" /><Relationship Type="http://schemas.openxmlformats.org/officeDocument/2006/relationships/extended-properties" Target="/docProps/app.xml" Id="R2d5f78b664f748df" /><Relationship Type="http://schemas.openxmlformats.org/officeDocument/2006/relationships/officeDocument" Target="/ppt/presentation.xml" Id="R7e1ff805284a4d00" /></Relationships>
</file>

<file path=ppt/presentation.xml><?xml version="1.0" encoding="utf-8"?>
<p:presentation xmlns:p="http://schemas.openxmlformats.org/presentationml/2006/main">
  <p:sldMasterIdLst>
    <p:sldMasterId xmlns:r="http://schemas.openxmlformats.org/officeDocument/2006/relationships" id="2147483648" r:id="Rf65c3cf9841c4681"/>
  </p:sldMasterIdLst>
  <p:notesMasterIdLst>
    <p:notesMasterId xmlns:r="http://schemas.openxmlformats.org/officeDocument/2006/relationships" r:id="Rfc1c307fc04d42ff"/>
  </p:notesMasterIdLst>
  <p:sldIdLst>
    <p:sldId xmlns:r="http://schemas.openxmlformats.org/officeDocument/2006/relationships" id="256" r:id="R1dab5ca6ff5d4e09"/>
    <p:sldId xmlns:r="http://schemas.openxmlformats.org/officeDocument/2006/relationships" id="257" r:id="Rd241d462a42f4ab1"/>
    <p:sldId xmlns:r="http://schemas.openxmlformats.org/officeDocument/2006/relationships" id="258" r:id="R57c57136b0864ef9"/>
    <p:sldId xmlns:r="http://schemas.openxmlformats.org/officeDocument/2006/relationships" id="259" r:id="Rf3b758b37082490f"/>
    <p:sldId xmlns:r="http://schemas.openxmlformats.org/officeDocument/2006/relationships" id="260" r:id="R1285d309a6984b91"/>
    <p:sldId xmlns:r="http://schemas.openxmlformats.org/officeDocument/2006/relationships" id="261" r:id="R2be69085b24d49a5"/>
    <p:sldId xmlns:r="http://schemas.openxmlformats.org/officeDocument/2006/relationships" id="262" r:id="R6109ec91ad9a4d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4e66b67ac842cb" /><Relationship Type="http://schemas.openxmlformats.org/officeDocument/2006/relationships/slideMaster" Target="/ppt/slideMasters/slideMaster1.xml" Id="Rf65c3cf9841c4681" /><Relationship Type="http://schemas.openxmlformats.org/officeDocument/2006/relationships/notesMaster" Target="/ppt/notesMasters/notesMaster1.xml" Id="Rfc1c307fc04d42ff" /><Relationship Type="http://schemas.openxmlformats.org/officeDocument/2006/relationships/presProps" Target="/ppt/presProps.xml" Id="R14905c1c7f9740e3" /><Relationship Type="http://schemas.openxmlformats.org/officeDocument/2006/relationships/tableStyles" Target="/ppt/tableStyles.xml" Id="R89d02cf238d04a90" /><Relationship Type="http://schemas.openxmlformats.org/officeDocument/2006/relationships/slide" Target="/ppt/slides/slide1.xml" Id="R1dab5ca6ff5d4e09" /><Relationship Type="http://schemas.openxmlformats.org/officeDocument/2006/relationships/slide" Target="/ppt/slides/slide2.xml" Id="Rd241d462a42f4ab1" /><Relationship Type="http://schemas.openxmlformats.org/officeDocument/2006/relationships/slide" Target="/ppt/slides/slide3.xml" Id="R57c57136b0864ef9" /><Relationship Type="http://schemas.openxmlformats.org/officeDocument/2006/relationships/slide" Target="/ppt/slides/slide4.xml" Id="Rf3b758b37082490f" /><Relationship Type="http://schemas.openxmlformats.org/officeDocument/2006/relationships/slide" Target="/ppt/slides/slide5.xml" Id="R1285d309a6984b91" /><Relationship Type="http://schemas.openxmlformats.org/officeDocument/2006/relationships/slide" Target="/ppt/slides/slide6.xml" Id="R2be69085b24d49a5" /><Relationship Type="http://schemas.openxmlformats.org/officeDocument/2006/relationships/slide" Target="/ppt/slides/slide7.xml" Id="R6109ec91ad9a4d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76843a3bd14e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2b62ff0fe84c47" /><Relationship Type="http://schemas.openxmlformats.org/officeDocument/2006/relationships/notesMaster" Target="/ppt/notesMasters/notesMaster1.xml" Id="Rc57ac3e7810d4e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72a9af18c5429d" /><Relationship Type="http://schemas.openxmlformats.org/officeDocument/2006/relationships/notesMaster" Target="/ppt/notesMasters/notesMaster1.xml" Id="R309aacfc5faf4d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b32b977cfc42eb" /><Relationship Type="http://schemas.openxmlformats.org/officeDocument/2006/relationships/notesMaster" Target="/ppt/notesMasters/notesMaster1.xml" Id="Rd570defce39d47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803fac271941a2" /><Relationship Type="http://schemas.openxmlformats.org/officeDocument/2006/relationships/notesMaster" Target="/ppt/notesMasters/notesMaster1.xml" Id="Rf5708ab83c3d45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b11c640f3746dc" /><Relationship Type="http://schemas.openxmlformats.org/officeDocument/2006/relationships/notesMaster" Target="/ppt/notesMasters/notesMaster1.xml" Id="Rd0b2a009bd7041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701867450b44da" /><Relationship Type="http://schemas.openxmlformats.org/officeDocument/2006/relationships/notesMaster" Target="/ppt/notesMasters/notesMaster1.xml" Id="Raa5302a57a054b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f79197f813491a" /><Relationship Type="http://schemas.openxmlformats.org/officeDocument/2006/relationships/notesMaster" Target="/ppt/notesMasters/notesMaster1.xml" Id="R5ae88e71c2904b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SESSION 14 — OPTIONS IMPLIED-MOVE O0</a:t>
            </a:r>
          </a:p>
          <a:p xmlns:a="http://schemas.openxmlformats.org/drawingml/2006/main">
            <a:r>
              <a:t/>
            </a:r>
          </a:p>
          <a:p xmlns:a="http://schemas.openxmlformats.org/drawingml/2006/main">
            <a:r>
              <a:t>Purpose</a:t>
            </a:r>
          </a:p>
          <a:p xmlns:a="http://schemas.openxmlformats.org/drawingml/2006/main">
            <a:r>
              <a:t>Test whether the existing Alpaca account can reproducibly reconstruct a fixed-time, same-strike, same-expiry ATM straddle before any outcome join or model.</a:t>
            </a:r>
          </a:p>
          <a:p xmlns:a="http://schemas.openxmlformats.org/drawingml/2006/main">
            <a:r>
              <a:t/>
            </a:r>
          </a:p>
          <a:p xmlns:a="http://schemas.openxmlformats.org/drawingml/2006/main">
            <a:r>
              <a:t>Find in chat: One thing that I would like to test is options data</a:t>
            </a:r>
          </a:p>
          <a:p xmlns:a="http://schemas.openxmlformats.org/drawingml/2006/main">
            <a:r>
              <a:t>Boundary: reconstruction only; no sentiment, future outcome, model, policy, PnL, allocation, or live change.</a:t>
            </a:r>
          </a:p>
          <a:p xmlns:a="http://schemas.openxmlformats.org/drawingml/2006/main">
            <a:r>
              <a:t/>
            </a:r>
          </a:p>
          <a:p xmlns:a="http://schemas.openxmlformats.org/drawingml/2006/main">
            <a:r>
              <a:t>Conversation: codex://threads/019f741e-615f-7fd0-90f7-edce12b5cb66</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Project/Time-Series-Modeling-Gen5/docs/GEN5_4_OPTIONS_IMPLIED_MOVE_O0_O1_CONTRACT.md</a:t>
            </a:r>
          </a:p>
          <a:p xmlns:a="http://schemas.openxmlformats.org/drawingml/2006/main">
            <a:r>
              <a:t>- C:/Users/Franc/OneDrive/Documents/Francis/Peltata Project/Time-Series-Modeling-Gen5/runs/research_workbench/gen54_ml_decision_engine/g54_options_o0_20260726/o0_report.md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D40 — FORWARD-RISK MEASUREMENT, NOT SENTIMENT</a:t>
            </a:r>
          </a:p>
          <a:p xmlns:a="http://schemas.openxmlformats.org/drawingml/2006/main">
            <a:r>
              <a:t/>
            </a:r>
          </a:p>
          <a:p xmlns:a="http://schemas.openxmlformats.org/drawingml/2006/main">
            <a:r>
              <a:t>Question</a:t>
            </a:r>
          </a:p>
          <a:p xmlns:a="http://schemas.openxmlformats.org/drawingml/2006/main">
            <a:r>
              <a:t>What is the minimal professional interpretation of an ATM straddle before outcome analysis?</a:t>
            </a:r>
          </a:p>
          <a:p xmlns:a="http://schemas.openxmlformats.org/drawingml/2006/main">
            <a:r>
              <a:t/>
            </a:r>
          </a:p>
          <a:p xmlns:a="http://schemas.openxmlformats.org/drawingml/2006/main">
            <a:r>
              <a:t>Decision</a:t>
            </a:r>
          </a:p>
          <a:p xmlns:a="http://schemas.openxmlformats.org/drawingml/2006/main">
            <a:r>
              <a:t>Treat the normalized call-plus-put price as an asset-specific forward-risk measurement. Do not label it sentiment or directional conviction.</a:t>
            </a:r>
          </a:p>
          <a:p xmlns:a="http://schemas.openxmlformats.org/drawingml/2006/main">
            <a:r>
              <a:t/>
            </a:r>
          </a:p>
          <a:p xmlns:a="http://schemas.openxmlformats.org/drawingml/2006/main">
            <a:r>
              <a:t>Why</a:t>
            </a:r>
          </a:p>
          <a:p xmlns:a="http://schemas.openxmlformats.org/drawingml/2006/main">
            <a:r>
              <a:t>Option prices jointly reflect expected variability, jump/event risk, risk premia, supply and demand, and microstructure. A useful measurement need not identify each component, but its interpretation must remain narrower than its data.</a:t>
            </a:r>
          </a:p>
          <a:p xmlns:a="http://schemas.openxmlformats.org/drawingml/2006/main">
            <a:r>
              <a:t/>
            </a:r>
          </a:p>
          <a:p xmlns:a="http://schemas.openxmlformats.org/drawingml/2006/main">
            <a:r>
              <a:t>Find in chat: whereas pulling from quantitative data</a:t>
            </a:r>
          </a:p>
          <a:p xmlns:a="http://schemas.openxmlformats.org/drawingml/2006/main">
            <a:r>
              <a:t/>
            </a:r>
          </a:p>
          <a:p xmlns:a="http://schemas.openxmlformats.org/drawingml/2006/main">
            <a:r>
              <a:t>Conversation: codex://threads/019f741e-615f-7fd0-90f7-edce12b5cb66</a:t>
            </a:r>
          </a:p>
          <a:p xmlns:a="http://schemas.openxmlformats.org/drawingml/2006/main">
            <a:r>
              <a:t/>
            </a:r>
          </a:p>
          <a:p xmlns:a="http://schemas.openxmlformats.org/drawingml/2006/main">
            <a:r>
              <a:t>[Sources]</a:t>
            </a:r>
          </a:p>
          <a:p xmlns:a="http://schemas.openxmlformats.org/drawingml/2006/main">
            <a:r>
              <a:t>- https://docs.alpaca.markets/us/docs/historical-option-data</a:t>
            </a:r>
          </a:p>
          <a:p xmlns:a="http://schemas.openxmlformats.org/drawingml/2006/main">
            <a:r>
              <a:t>- C:/Users/Franc/OneDrive/Documents/Francis/Peltata Project/Time-Series-Modeling-Gen5/docs/GEN5_4_OPTIONS_IMPLIED_MOVE_O0_O1_CONTRACT.md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D40 — FROZEN O0 CONTRACT</a:t>
            </a:r>
          </a:p>
          <a:p xmlns:a="http://schemas.openxmlformats.org/drawingml/2006/main">
            <a:r>
              <a:t/>
            </a:r>
          </a:p>
          <a:p xmlns:a="http://schemas.openxmlformats.org/drawingml/2006/main">
            <a:r>
              <a:t>Scope</a:t>
            </a:r>
          </a:p>
          <a:p xmlns:a="http://schemas.openxmlformats.org/drawingml/2006/main">
            <a:r>
              <a:t>SPY, QQQ, and IWM. After-close 17:30 ET authority. Expiry nearest 30 calendar days inside 21–45 DTE. Strike nearest raw underlying 15:45 ET VWAP. Both option legs must share strike, expiry, and timestamp. The feature is normalized to 30 days.</a:t>
            </a:r>
          </a:p>
          <a:p xmlns:a="http://schemas.openxmlformats.org/drawingml/2006/main">
            <a:r>
              <a:t/>
            </a:r>
          </a:p>
          <a:p xmlns:a="http://schemas.openxmlformats.org/drawingml/2006/main">
            <a:r>
              <a:t>Promotion</a:t>
            </a:r>
          </a:p>
          <a:p xmlns:a="http://schemas.openxmlformats.org/drawingml/2006/main">
            <a:r>
              <a:t>At least 90% matched-pair coverage for every ETF plus timestamp, feed, provenance, and leakage integrity.</a:t>
            </a:r>
          </a:p>
          <a:p xmlns:a="http://schemas.openxmlformats.org/drawingml/2006/main">
            <a:r>
              <a:t/>
            </a:r>
          </a:p>
          <a:p xmlns:a="http://schemas.openxmlformats.org/drawingml/2006/main">
            <a:r>
              <a:t>Prohibited rescues</a:t>
            </a:r>
          </a:p>
          <a:p xmlns:a="http://schemas.openxmlformats.org/drawingml/2006/main">
            <a:r>
              <a:t>No missing-leg interpolation, one-sided substitution, timestamp mixing, DTE-window loosening, outcome join, or model.</a:t>
            </a:r>
          </a:p>
          <a:p xmlns:a="http://schemas.openxmlformats.org/drawingml/2006/main">
            <a:r>
              <a:t/>
            </a:r>
          </a:p>
          <a:p xmlns:a="http://schemas.openxmlformats.org/drawingml/2006/main">
            <a:r>
              <a:t>Find in chat: What would a minimal POC look like for options</a:t>
            </a:r>
          </a:p>
          <a:p xmlns:a="http://schemas.openxmlformats.org/drawingml/2006/main">
            <a:r>
              <a:t/>
            </a:r>
          </a:p>
          <a:p xmlns:a="http://schemas.openxmlformats.org/drawingml/2006/main">
            <a:r>
              <a:t>Conversation: codex://threads/019f741e-615f-7fd0-90f7-edce12b5cb66</a:t>
            </a:r>
          </a:p>
          <a:p xmlns:a="http://schemas.openxmlformats.org/drawingml/2006/main">
            <a:r>
              <a:t/>
            </a:r>
          </a:p>
          <a:p xmlns:a="http://schemas.openxmlformats.org/drawingml/2006/main">
            <a:r>
              <a:t>[Sources]</a:t>
            </a:r>
          </a:p>
          <a:p xmlns:a="http://schemas.openxmlformats.org/drawingml/2006/main">
            <a:r>
              <a:t>- https://docs.alpaca.markets/us/reference/optionbars</a:t>
            </a:r>
          </a:p>
          <a:p xmlns:a="http://schemas.openxmlformats.org/drawingml/2006/main">
            <a:r>
              <a:t>- https://docs.alpaca.markets/us/reference/get-options-contracts</a:t>
            </a:r>
          </a:p>
          <a:p xmlns:a="http://schemas.openxmlformats.org/drawingml/2006/main">
            <a:r>
              <a:t>- C:/Users/Franc/OneDrive/Documents/Francis/Peltata Project/Time-Series-Modeling-Gen5/docs/GEN5_4_OPTIONS_IMPLIED_MOVE_O0_O1_CONTRACT.md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D41 — ACCOUNT CAPABILITY NARROWS O0</a:t>
            </a:r>
          </a:p>
          <a:p xmlns:a="http://schemas.openxmlformats.org/drawingml/2006/main">
            <a:r>
              <a:t/>
            </a:r>
          </a:p>
          <a:p xmlns:a="http://schemas.openxmlformats.org/drawingml/2006/main">
            <a:r>
              <a:t>Evidence</a:t>
            </a:r>
          </a:p>
          <a:p xmlns:a="http://schemas.openxmlformats.org/drawingml/2006/main">
            <a:r>
              <a:t>Paper-host contract retrieval passed; 5,456 immutable active definitions were admitted. The feed-selectable snapshot probe returned HTTP 403 for OPRA and HTTP 200 for indicative. Historical bars use the account-default feed because that endpoint currently rejects a feed query parameter.</a:t>
            </a:r>
          </a:p>
          <a:p xmlns:a="http://schemas.openxmlformats.org/drawingml/2006/main">
            <a:r>
              <a:t/>
            </a:r>
          </a:p>
          <a:p xmlns:a="http://schemas.openxmlformats.org/drawingml/2006/main">
            <a:r>
              <a:t>History limitation</a:t>
            </a:r>
          </a:p>
          <a:p xmlns:a="http://schemas.openxmlformats.org/drawingml/2006/main">
            <a:r>
              <a:t>The paper contract endpoint returned no expired contracts for the probe date. O0 was therefore frozen to July 20–24, 2026, when the selected August 21 expiries remained active at retrieval. This avoids fabricating or applying current mutable metadata historically.</a:t>
            </a:r>
          </a:p>
          <a:p xmlns:a="http://schemas.openxmlformats.org/drawingml/2006/main">
            <a:r>
              <a:t/>
            </a:r>
          </a:p>
          <a:p xmlns:a="http://schemas.openxmlformats.org/drawingml/2006/main">
            <a:r>
              <a:t>Meaning</a:t>
            </a:r>
          </a:p>
          <a:p xmlns:a="http://schemas.openxmlformats.org/drawingml/2006/main">
            <a:r>
              <a:t>This is a retail-accessible indicative-feed plumbing proof, not OPRA-quality or February-2024 backfill evidence.</a:t>
            </a:r>
          </a:p>
          <a:p xmlns:a="http://schemas.openxmlformats.org/drawingml/2006/main">
            <a:r>
              <a:t/>
            </a:r>
          </a:p>
          <a:p xmlns:a="http://schemas.openxmlformats.org/drawingml/2006/main">
            <a:r>
              <a:t>Find in chat: available timeframe from Alpaca is short</a:t>
            </a:r>
          </a:p>
          <a:p xmlns:a="http://schemas.openxmlformats.org/drawingml/2006/main">
            <a:r>
              <a:t/>
            </a:r>
          </a:p>
          <a:p xmlns:a="http://schemas.openxmlformats.org/drawingml/2006/main">
            <a:r>
              <a:t>Conversation: codex://threads/019f741e-615f-7fd0-90f7-edce12b5cb66</a:t>
            </a:r>
          </a:p>
          <a:p xmlns:a="http://schemas.openxmlformats.org/drawingml/2006/main">
            <a:r>
              <a:t/>
            </a:r>
          </a:p>
          <a:p xmlns:a="http://schemas.openxmlformats.org/drawingml/2006/main">
            <a:r>
              <a:t>[Sources]</a:t>
            </a:r>
          </a:p>
          <a:p xmlns:a="http://schemas.openxmlformats.org/drawingml/2006/main">
            <a:r>
              <a:t>- https://docs.alpaca.markets/us/docs/about-market-data-api</a:t>
            </a:r>
          </a:p>
          <a:p xmlns:a="http://schemas.openxmlformats.org/drawingml/2006/main">
            <a:r>
              <a:t>- https://docs.alpaca.markets/us/docs/historical-option-data</a:t>
            </a:r>
          </a:p>
          <a:p xmlns:a="http://schemas.openxmlformats.org/drawingml/2006/main">
            <a:r>
              <a:t>- C:/Users/Franc/OneDrive/Documents/Francis/Peltata Project/Time-Series-Modeling-Gen5/runs/research_workbench/gen54_ml_decision_engine/g54_options_o0_20260726/o0_data_health.csv</a:t>
            </a:r>
          </a:p>
          <a:p xmlns:a="http://schemas.openxmlformats.org/drawingml/2006/main">
            <a:r>
              <a:t>- C:/Users/Franc/OneDrive/Documents/Francis/Peltata Project/Time-Series-Modeling-Gen5/runs/research_workbench/gen54_ml_decision_engine/g54_options_o0_20260726/o0_feed_entitlement.csv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D42 — STOP O0 RECONSTRUCTION</a:t>
            </a:r>
          </a:p>
          <a:p xmlns:a="http://schemas.openxmlformats.org/drawingml/2006/main">
            <a:r>
              <a:t/>
            </a:r>
          </a:p>
          <a:p xmlns:a="http://schemas.openxmlformats.org/drawingml/2006/main">
            <a:r>
              <a:t>Coverage</a:t>
            </a:r>
          </a:p>
          <a:p xmlns:a="http://schemas.openxmlformats.org/drawingml/2006/main">
            <a:r>
              <a:t>SPY passed at 5/5. QQQ stopped at 4/5 because its July 22 call had no 15:45 bar. IWM stopped at 3/5 because the July 23 put and July 24 call had no 15:45 bar.</a:t>
            </a:r>
          </a:p>
          <a:p xmlns:a="http://schemas.openxmlformats.org/drawingml/2006/main">
            <a:r>
              <a:t/>
            </a:r>
          </a:p>
          <a:p xmlns:a="http://schemas.openxmlformats.org/drawingml/2006/main">
            <a:r>
              <a:t>Diagnosis</a:t>
            </a:r>
          </a:p>
          <a:p xmlns:a="http://schemas.openxmlformats.org/drawingml/2006/main">
            <a:r>
              <a:t>Underlying final bars were complete at 15/15 and same-strike same-expiry definitions were complete at 15/15. The failure is option-leg bar sparsity on the indicative feed at the frozen timestamp.</a:t>
            </a:r>
          </a:p>
          <a:p xmlns:a="http://schemas.openxmlformats.org/drawingml/2006/main">
            <a:r>
              <a:t/>
            </a:r>
          </a:p>
          <a:p xmlns:a="http://schemas.openxmlformats.org/drawingml/2006/main">
            <a:r>
              <a:t>Gate logic</a:t>
            </a:r>
          </a:p>
          <a:p xmlns:a="http://schemas.openxmlformats.org/drawingml/2006/main">
            <a:r>
              <a:t>The contract required at least 90% for every ETF. QQQ at 80% and IWM at 60% cannot be averaged away by SPY's 100%.</a:t>
            </a:r>
          </a:p>
          <a:p xmlns:a="http://schemas.openxmlformats.org/drawingml/2006/main">
            <a:r>
              <a:t/>
            </a:r>
          </a:p>
          <a:p xmlns:a="http://schemas.openxmlformats.org/drawingml/2006/main">
            <a:r>
              <a:t>Find in chat: Proceed, then let's also document in a new slide deck</a:t>
            </a:r>
          </a:p>
          <a:p xmlns:a="http://schemas.openxmlformats.org/drawingml/2006/main">
            <a:r>
              <a:t/>
            </a:r>
          </a:p>
          <a:p xmlns:a="http://schemas.openxmlformats.org/drawingml/2006/main">
            <a:r>
              <a:t>Conversation: codex://threads/019f741e-615f-7fd0-90f7-edce12b5cb66</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Project/Time-Series-Modeling-Gen5/runs/research_workbench/gen54_ml_decision_engine/g54_options_o0_20260726/o0_coverage_summary.csv</a:t>
            </a:r>
          </a:p>
          <a:p xmlns:a="http://schemas.openxmlformats.org/drawingml/2006/main">
            <a:r>
              <a:t>- C:/Users/Franc/OneDrive/Documents/Francis/Peltata Project/Time-Series-Modeling-Gen5/runs/research_workbench/gen54_ml_decision_engine/g54_options_o0_20260726/o0_implied_move_measure.csv</a:t>
            </a:r>
          </a:p>
          <a:p xmlns:a="http://schemas.openxmlformats.org/drawingml/2006/main">
            <a:r>
              <a:t>- C:/Users/Franc/OneDrive/Documents/Francis/Peltata Project/Time-Series-Modeling-Gen5/runs/research_workbench/gen54_ml_decision_engine/g54_options_o0_20260726/visuals/o0_pair_coverage.png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D42 — VISUAL READOUT DOES NOT OVERRIDE COVERAGE</a:t>
            </a:r>
          </a:p>
          <a:p xmlns:a="http://schemas.openxmlformats.org/drawingml/2006/main">
            <a:r>
              <a:t/>
            </a:r>
          </a:p>
          <a:p xmlns:a="http://schemas.openxmlformats.org/drawingml/2006/main">
            <a:r>
              <a:t>Observation</a:t>
            </a:r>
          </a:p>
          <a:p xmlns:a="http://schemas.openxmlformats.org/drawingml/2006/main">
            <a:r>
              <a:t>Where both indicative legs exist, the normalized measure is numerically coherent: SPY is complete, QQQ has one gap, and IWM has two gaps.</a:t>
            </a:r>
          </a:p>
          <a:p xmlns:a="http://schemas.openxmlformats.org/drawingml/2006/main">
            <a:r>
              <a:t/>
            </a:r>
          </a:p>
          <a:p xmlns:a="http://schemas.openxmlformats.org/drawingml/2006/main">
            <a:r>
              <a:t>Why the stop still matters</a:t>
            </a:r>
          </a:p>
          <a:p xmlns:a="http://schemas.openxmlformats.org/drawingml/2006/main">
            <a:r>
              <a:t>A visually smooth or economically plausible subset does not make missing decision rows safe. Any fill rule would become a new representation choice requiring its own frozen justification and confirmation data.</a:t>
            </a:r>
          </a:p>
          <a:p xmlns:a="http://schemas.openxmlformats.org/drawingml/2006/main">
            <a:r>
              <a:t/>
            </a:r>
          </a:p>
          <a:p xmlns:a="http://schemas.openxmlformats.org/drawingml/2006/main">
            <a:r>
              <a:t>Boundary</a:t>
            </a:r>
          </a:p>
          <a:p xmlns:a="http://schemas.openxmlformats.org/drawingml/2006/main">
            <a:r>
              <a:t>No future realized volatility, return direction, VIX control, model, or PnL appears on these tapes.</a:t>
            </a:r>
          </a:p>
          <a:p xmlns:a="http://schemas.openxmlformats.org/drawingml/2006/main">
            <a:r>
              <a:t/>
            </a:r>
          </a:p>
          <a:p xmlns:a="http://schemas.openxmlformats.org/drawingml/2006/main">
            <a:r>
              <a:t>Conversation: codex://threads/019f741e-615f-7fd0-90f7-edce12b5cb66</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Project/Time-Series-Modeling-Gen5/runs/research_workbench/gen54_ml_decision_engine/g54_options_o0_20260726/visuals/o0_implied_move_tapes.png</a:t>
            </a:r>
          </a:p>
          <a:p xmlns:a="http://schemas.openxmlformats.org/drawingml/2006/main">
            <a:r>
              <a:t>- C:/Users/Franc/OneDrive/Documents/Francis/Peltata Project/Time-Series-Modeling-Gen5/runs/research_workbench/gen54_ml_decision_engine/g54_options_o0_20260726/o0_implied_move_measure.csv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D42 — O1 REMAINS CLOSED</a:t>
            </a:r>
          </a:p>
          <a:p xmlns:a="http://schemas.openxmlformats.org/drawingml/2006/main">
            <a:r>
              <a:t/>
            </a:r>
          </a:p>
          <a:p xmlns:a="http://schemas.openxmlformats.org/drawingml/2006/main">
            <a:r>
              <a:t>Decision</a:t>
            </a:r>
          </a:p>
          <a:p xmlns:a="http://schemas.openxmlformats.org/drawingml/2006/main">
            <a:r>
              <a:t>Record STOP_O0_RECONSTRUCTION. Do not test the implied-move proxy against future volatility on this five-session, incomplete indicative surface.</a:t>
            </a:r>
          </a:p>
          <a:p xmlns:a="http://schemas.openxmlformats.org/drawingml/2006/main">
            <a:r>
              <a:t/>
            </a:r>
          </a:p>
          <a:p xmlns:a="http://schemas.openxmlformats.org/drawingml/2006/main">
            <a:r>
              <a:t>What the POC accomplished</a:t>
            </a:r>
          </a:p>
          <a:p xmlns:a="http://schemas.openxmlformats.org/drawingml/2006/main">
            <a:r>
              <a:t>It proved contract access, feed entitlement, raw-underlying alignment, same-strike same-expiry selection, formula construction, and auditable missing-leg detection. It also falsified the assumption that the current retail feed can supply the frozen final-bar measure reliably across all three ETFs.</a:t>
            </a:r>
          </a:p>
          <a:p xmlns:a="http://schemas.openxmlformats.org/drawingml/2006/main">
            <a:r>
              <a:t/>
            </a:r>
          </a:p>
          <a:p xmlns:a="http://schemas.openxmlformats.org/drawingml/2006/main">
            <a:r>
              <a:t>Possible future reopeners</a:t>
            </a:r>
          </a:p>
          <a:p xmlns:a="http://schemas.openxmlformats.org/drawingml/2006/main">
            <a:r>
              <a:t>A defensible expired-contract catalog, OPRA access or another suitably dense equivalent feed, or a separate theory-first contract for a different pricing timestamp/missing-data representation. Each would be a new gate, not a rescue on these inspected rows.</a:t>
            </a:r>
          </a:p>
          <a:p xmlns:a="http://schemas.openxmlformats.org/drawingml/2006/main">
            <a:r>
              <a:t/>
            </a:r>
          </a:p>
          <a:p xmlns:a="http://schemas.openxmlformats.org/drawingml/2006/main">
            <a:r>
              <a:t>Find in chat: Okay, sounds good. Proceed</a:t>
            </a:r>
          </a:p>
          <a:p xmlns:a="http://schemas.openxmlformats.org/drawingml/2006/main">
            <a:r>
              <a:t/>
            </a:r>
          </a:p>
          <a:p xmlns:a="http://schemas.openxmlformats.org/drawingml/2006/main">
            <a:r>
              <a:t>Conversation: codex://threads/019f741e-615f-7fd0-90f7-edce12b5cb66</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Project/Time-Series-Modeling-Gen5/runs/research_workbench/gen54_ml_decision_engine/g54_options_o0_20260726/o0_report.md</a:t>
            </a:r>
          </a:p>
          <a:p xmlns:a="http://schemas.openxmlformats.org/drawingml/2006/main">
            <a:r>
              <a:t>- C:/Users/Franc/OneDrive/Documents/Francis/Peltata Project/Time-Series-Modeling-Gen5/docs/GEN5_4_OPTIONS_IMPLIED_MOVE_O0_O1_CONTRACT.md</a:t>
            </a:r>
          </a:p>
          <a:p xmlns:a="http://schemas.openxmlformats.org/drawingml/2006/main">
            <a:r>
              <a:t>- C:/Users/Franc/OneDrive/Documents/Francis/Peltata Project/Time-Series-Modeling-Gen5/docs/GEN5_1_POC_PROGRESS_LOG.md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543296e20c4c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c05c61462e4f21" /><Relationship Type="http://schemas.openxmlformats.org/officeDocument/2006/relationships/slideLayout" Target="/ppt/slideLayouts/slideLayout1.xml" Id="R6da336a0fefe49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a336a0fefe49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d96d6cc60347fd" /><Relationship Type="http://schemas.openxmlformats.org/officeDocument/2006/relationships/notesSlide" Target="/ppt/notesSlides/notesSlide1.xml" Id="R8717ef441a0d4a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d82af7713b4f10" /><Relationship Type="http://schemas.openxmlformats.org/officeDocument/2006/relationships/notesSlide" Target="/ppt/notesSlides/notesSlide2.xml" Id="Ra0207fb41ee04d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65317dabeb4566" /><Relationship Type="http://schemas.openxmlformats.org/officeDocument/2006/relationships/notesSlide" Target="/ppt/notesSlides/notesSlide3.xml" Id="Rf4bfd78313994a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b00845c05747f9" /><Relationship Type="http://schemas.openxmlformats.org/officeDocument/2006/relationships/notesSlide" Target="/ppt/notesSlides/notesSlide4.xml" Id="R86642433281443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4abbefdd4244ca" /><Relationship Type="http://schemas.openxmlformats.org/officeDocument/2006/relationships/image" Target="/ppt/media/image.png" Id="Raa75b8ee11834c5f" /><Relationship Type="http://schemas.openxmlformats.org/officeDocument/2006/relationships/notesSlide" Target="/ppt/notesSlides/notesSlide5.xml" Id="R1d39c6ec4f7c4f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61e78946df45c2" /><Relationship Type="http://schemas.openxmlformats.org/officeDocument/2006/relationships/image" Target="/ppt/media/image2.png" Id="Rd8eca5f87cfb4e0e" /><Relationship Type="http://schemas.openxmlformats.org/officeDocument/2006/relationships/notesSlide" Target="/ppt/notesSlides/notesSlide6.xml" Id="R23f1fb7e021242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3e0d2603644ee7" /><Relationship Type="http://schemas.openxmlformats.org/officeDocument/2006/relationships/notesSlide" Target="/ppt/notesSlides/notesSlide7.xml" Id="Rccd76a130686496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eyebrow-1">
            <a:extLst xmlns:a="http://schemas.openxmlformats.org/drawingml/2006/main">
              <a:ext uri="{FF2B5EF4-FFF2-40B4-BE49-F238E27FC236}">
                <a16:creationId xmlns:a16="http://schemas.microsoft.com/office/drawing/2014/main" id="{0B93594C-2E55-494B-A22D-090BBF21A4D6}"/>
              </a:ext>
            </a:extLst>
          </p:cNvPr>
          <p:cNvSpPr>
            <a:spLocks xmlns:a="http://schemas.openxmlformats.org/drawingml/2006/main" noGrp="1"/>
          </p:cNvSpPr>
          <p:nvPr/>
        </p:nvSpPr>
        <p:spPr>
          <a:xfrm xmlns:a="http://schemas.openxmlformats.org/drawingml/2006/main">
            <a:off x="400050" y="400050"/>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0F766E"/>
                </a:solidFill>
                <a:latin typeface="Helvetica Neue"/>
                <a:ea typeface="Helvetica Neue"/>
                <a:cs typeface="Helvetica Neue"/>
              </a:defRPr>
            </a:pPr>
            <a:r>
              <a:rPr sz="1800" b="1">
                <a:solidFill>
                  <a:srgbClr val="0F766E"/>
                </a:solidFill>
                <a:latin typeface="Helvetica Neue"/>
                <a:ea typeface="Helvetica Neue"/>
                <a:cs typeface="Helvetica Neue"/>
              </a:rPr>
              <a:t>GEN5.4 • OPTIONS DATA POC</a:t>
            </a:r>
          </a:p>
        </p:txBody>
      </p:sp>
      <p:sp>
        <p:nvSpPr>
          <p:cNvPr id="2" name="hero-1">
            <a:extLst xmlns:a="http://schemas.openxmlformats.org/drawingml/2006/main">
              <a:ext uri="{FF2B5EF4-FFF2-40B4-BE49-F238E27FC236}">
                <a16:creationId xmlns:a16="http://schemas.microsoft.com/office/drawing/2014/main" id="{5856DD0B-8FEE-451B-AE60-E69DCB1CDB86}"/>
              </a:ext>
            </a:extLst>
          </p:cNvPr>
          <p:cNvSpPr>
            <a:spLocks xmlns:a="http://schemas.openxmlformats.org/drawingml/2006/main" noGrp="1"/>
          </p:cNvSpPr>
          <p:nvPr/>
        </p:nvSpPr>
        <p:spPr>
          <a:xfrm xmlns:a="http://schemas.openxmlformats.org/drawingml/2006/main">
            <a:off x="400050" y="1695450"/>
            <a:ext cx="9810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5100" b="1">
                <a:solidFill>
                  <a:srgbClr val="111111"/>
                </a:solidFill>
                <a:latin typeface="Helvetica Neue"/>
                <a:ea typeface="Helvetica Neue"/>
                <a:cs typeface="Helvetica Neue"/>
              </a:defRPr>
            </a:pPr>
            <a:r>
              <a:rPr sz="5100" b="1">
                <a:solidFill>
                  <a:srgbClr val="111111"/>
                </a:solidFill>
                <a:latin typeface="Helvetica Neue"/>
                <a:ea typeface="Helvetica Neue"/>
                <a:cs typeface="Helvetica Neue"/>
              </a:rPr>
              <a:t>Options implied move</a:t>
            </a:r>
          </a:p>
          <a:p xmlns:a="http://schemas.openxmlformats.org/drawingml/2006/main">
            <a:pPr algn="l">
              <a:defRPr sz="5100" b="1">
                <a:solidFill>
                  <a:srgbClr val="111111"/>
                </a:solidFill>
                <a:latin typeface="Helvetica Neue"/>
                <a:ea typeface="Helvetica Neue"/>
                <a:cs typeface="Helvetica Neue"/>
              </a:defRPr>
            </a:pPr>
            <a:r>
              <a:rPr sz="5100" b="1">
                <a:solidFill>
                  <a:srgbClr val="111111"/>
                </a:solidFill>
                <a:latin typeface="Helvetica Neue"/>
                <a:ea typeface="Helvetica Neue"/>
                <a:cs typeface="Helvetica Neue"/>
              </a:rPr>
              <a:t>O0 reconstruction proof</a:t>
            </a:r>
          </a:p>
        </p:txBody>
      </p:sp>
      <p:sp>
        <p:nvSpPr>
          <p:cNvPr id="3" name="subtitle-1">
            <a:extLst xmlns:a="http://schemas.openxmlformats.org/drawingml/2006/main">
              <a:ext uri="{FF2B5EF4-FFF2-40B4-BE49-F238E27FC236}">
                <a16:creationId xmlns:a16="http://schemas.microsoft.com/office/drawing/2014/main" id="{865A8CDD-4170-4BDC-A73B-CDA9F4CA819F}"/>
              </a:ext>
            </a:extLst>
          </p:cNvPr>
          <p:cNvSpPr>
            <a:spLocks xmlns:a="http://schemas.openxmlformats.org/drawingml/2006/main" noGrp="1"/>
          </p:cNvSpPr>
          <p:nvPr/>
        </p:nvSpPr>
        <p:spPr>
          <a:xfrm xmlns:a="http://schemas.openxmlformats.org/drawingml/2006/main">
            <a:off x="400050" y="4905375"/>
            <a:ext cx="8382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0">
                <a:solidFill>
                  <a:srgbClr val="5B6470"/>
                </a:solidFill>
                <a:latin typeface="Helvetica Neue"/>
                <a:ea typeface="Helvetica Neue"/>
                <a:cs typeface="Helvetica Neue"/>
              </a:defRPr>
            </a:pPr>
            <a:r>
              <a:rPr sz="2250" b="0">
                <a:solidFill>
                  <a:srgbClr val="5B6470"/>
                </a:solidFill>
                <a:latin typeface="Helvetica Neue"/>
                <a:ea typeface="Helvetica Neue"/>
                <a:cs typeface="Helvetica Neue"/>
              </a:rPr>
              <a:t>A leakage-safe plumbing gate ended in a useful STOP</a:t>
            </a:r>
          </a:p>
        </p:txBody>
      </p:sp>
      <p:sp>
        <p:nvSpPr>
          <p:cNvPr id="4" name="date-1">
            <a:extLst xmlns:a="http://schemas.openxmlformats.org/drawingml/2006/main">
              <a:ext uri="{FF2B5EF4-FFF2-40B4-BE49-F238E27FC236}">
                <a16:creationId xmlns:a16="http://schemas.microsoft.com/office/drawing/2014/main" id="{B906F30F-7BD7-43F8-A022-1F2383357ABE}"/>
              </a:ext>
            </a:extLst>
          </p:cNvPr>
          <p:cNvSpPr>
            <a:spLocks xmlns:a="http://schemas.openxmlformats.org/drawingml/2006/main" noGrp="1"/>
          </p:cNvSpPr>
          <p:nvPr/>
        </p:nvSpPr>
        <p:spPr>
          <a:xfrm xmlns:a="http://schemas.openxmlformats.org/drawingml/2006/main">
            <a:off x="400050" y="604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5B6470"/>
                </a:solidFill>
                <a:latin typeface="Helvetica Neue"/>
                <a:ea typeface="Helvetica Neue"/>
                <a:cs typeface="Helvetica Neue"/>
              </a:defRPr>
            </a:pPr>
            <a:r>
              <a:rPr sz="1125" b="0">
                <a:solidFill>
                  <a:srgbClr val="5B6470"/>
                </a:solidFill>
                <a:latin typeface="Helvetica Neue"/>
                <a:ea typeface="Helvetica Neue"/>
                <a:cs typeface="Helvetica Neue"/>
              </a:rPr>
              <a:t>July 26, 2026</a:t>
            </a:r>
          </a:p>
        </p:txBody>
      </p:sp>
    </p:spTree>
    <p:extLst>
      <p:ext uri="{BB962C8B-B14F-4D97-AF65-F5344CB8AC3E}">
        <p14:creationId xmlns:p14="http://schemas.microsoft.com/office/powerpoint/2010/main" val="10730568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2">
            <a:extLst xmlns:a="http://schemas.openxmlformats.org/drawingml/2006/main">
              <a:ext uri="{FF2B5EF4-FFF2-40B4-BE49-F238E27FC236}">
                <a16:creationId xmlns:a16="http://schemas.microsoft.com/office/drawing/2014/main" id="{AFFB32EB-EF82-42DF-B1B0-62ADEC878EDD}"/>
              </a:ext>
            </a:extLst>
          </p:cNvPr>
          <p:cNvSpPr>
            <a:spLocks xmlns:a="http://schemas.openxmlformats.org/drawingml/2006/main" noGrp="1"/>
          </p:cNvSpPr>
          <p:nvPr/>
        </p:nvSpPr>
        <p:spPr>
          <a:xfrm xmlns:a="http://schemas.openxmlformats.org/drawingml/2006/main">
            <a:off x="400050" y="323850"/>
            <a:ext cx="1104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11111"/>
                </a:solidFill>
                <a:latin typeface="Helvetica Neue"/>
                <a:ea typeface="Helvetica Neue"/>
                <a:cs typeface="Helvetica Neue"/>
              </a:defRPr>
            </a:pPr>
            <a:r>
              <a:rPr sz="2925" b="1">
                <a:solidFill>
                  <a:srgbClr val="111111"/>
                </a:solidFill>
                <a:latin typeface="Helvetica Neue"/>
                <a:ea typeface="Helvetica Neue"/>
                <a:cs typeface="Helvetica Neue"/>
              </a:rPr>
              <a:t>What an ATM straddle can—and cannot—tell us</a:t>
            </a:r>
          </a:p>
        </p:txBody>
      </p:sp>
      <p:sp>
        <p:nvSpPr>
          <p:cNvPr id="2" name="number-2">
            <a:extLst xmlns:a="http://schemas.openxmlformats.org/drawingml/2006/main">
              <a:ext uri="{FF2B5EF4-FFF2-40B4-BE49-F238E27FC236}">
                <a16:creationId xmlns:a16="http://schemas.microsoft.com/office/drawing/2014/main" id="{F0AF5D9B-6018-4C93-A4DB-E6BAE54AC815}"/>
              </a:ext>
            </a:extLst>
          </p:cNvPr>
          <p:cNvSpPr>
            <a:spLocks xmlns:a="http://schemas.openxmlformats.org/drawingml/2006/main" noGrp="1"/>
          </p:cNvSpPr>
          <p:nvPr/>
        </p:nvSpPr>
        <p:spPr>
          <a:xfrm xmlns:a="http://schemas.openxmlformats.org/drawingml/2006/main">
            <a:off x="11239500" y="6286500"/>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92308"/>
          </a:bodyPr>
          <a:lstStyle xmlns:a="http://schemas.openxmlformats.org/drawingml/2006/main"/>
          <a:p xmlns:a="http://schemas.openxmlformats.org/drawingml/2006/main">
            <a:pPr algn="r">
              <a:defRPr sz="975" b="0">
                <a:solidFill>
                  <a:srgbClr val="5B6470"/>
                </a:solidFill>
                <a:latin typeface="Helvetica Neue"/>
                <a:ea typeface="Helvetica Neue"/>
                <a:cs typeface="Helvetica Neue"/>
              </a:defRPr>
            </a:pPr>
            <a:r>
              <a:rPr sz="975" b="0">
                <a:solidFill>
                  <a:srgbClr val="5B6470"/>
                </a:solidFill>
                <a:latin typeface="Helvetica Neue"/>
                <a:ea typeface="Helvetica Neue"/>
                <a:cs typeface="Helvetica Neue"/>
              </a:rPr>
              <a:t>2</a:t>
            </a:r>
          </a:p>
        </p:txBody>
      </p:sp>
      <p:sp>
        <p:nvSpPr>
          <p:cNvPr id="3" name="decision-2">
            <a:extLst xmlns:a="http://schemas.openxmlformats.org/drawingml/2006/main">
              <a:ext uri="{FF2B5EF4-FFF2-40B4-BE49-F238E27FC236}">
                <a16:creationId xmlns:a16="http://schemas.microsoft.com/office/drawing/2014/main" id="{BCDA85DD-D114-4551-A26C-4AF5C245242E}"/>
              </a:ext>
            </a:extLst>
          </p:cNvPr>
          <p:cNvSpPr>
            <a:spLocks xmlns:a="http://schemas.openxmlformats.org/drawingml/2006/main" noGrp="1"/>
          </p:cNvSpPr>
          <p:nvPr/>
        </p:nvSpPr>
        <p:spPr>
          <a:xfrm xmlns:a="http://schemas.openxmlformats.org/drawingml/2006/main">
            <a:off x="10382250" y="59055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B6470"/>
                </a:solidFill>
                <a:latin typeface="Helvetica Neue"/>
                <a:ea typeface="Helvetica Neue"/>
                <a:cs typeface="Helvetica Neue"/>
              </a:defRPr>
            </a:pPr>
            <a:r>
              <a:rPr sz="1050" b="1">
                <a:solidFill>
                  <a:srgbClr val="5B6470"/>
                </a:solidFill>
                <a:latin typeface="Helvetica Neue"/>
                <a:ea typeface="Helvetica Neue"/>
                <a:cs typeface="Helvetica Neue"/>
              </a:rPr>
              <a:t>D40</a:t>
            </a:r>
          </a:p>
        </p:txBody>
      </p:sp>
      <p:sp>
        <p:nvSpPr>
          <p:cNvPr id="4" name="Observable-card">
            <a:extLst xmlns:a="http://schemas.openxmlformats.org/drawingml/2006/main">
              <a:ext uri="{FF2B5EF4-FFF2-40B4-BE49-F238E27FC236}">
                <a16:creationId xmlns:a16="http://schemas.microsoft.com/office/drawing/2014/main" id="{CCB9FCE8-AD83-44AD-8ABD-E0586738C067}"/>
              </a:ext>
            </a:extLst>
          </p:cNvPr>
          <p:cNvSpPr>
            <a:spLocks xmlns:a="http://schemas.openxmlformats.org/drawingml/2006/main" noGrp="1"/>
          </p:cNvSpPr>
          <p:nvPr/>
        </p:nvSpPr>
        <p:spPr>
          <a:xfrm xmlns:a="http://schemas.openxmlformats.org/drawingml/2006/main">
            <a:off x="400050" y="2714625"/>
            <a:ext cx="3571875" cy="3000375"/>
          </a:xfrm>
          <a:prstGeom xmlns:a="http://schemas.openxmlformats.org/drawingml/2006/main" prst="roundRect">
            <a:avLst>
              <a:gd name="adj" fmla="val 2540"/>
            </a:avLst>
          </a:prstGeom>
          <a:solidFill xmlns:a="http://schemas.openxmlformats.org/drawingml/2006/main">
            <a:srgbClr val="DDF4EE"/>
          </a:solidFill>
          <a:ln xmlns:a="http://schemas.openxmlformats.org/drawingml/2006/main" w="0">
            <a:noFill/>
            <a:prstDash val="solid"/>
          </a:ln>
        </p:spPr>
      </p:sp>
      <p:sp>
        <p:nvSpPr>
          <p:cNvPr id="5" name="Observable-head">
            <a:extLst xmlns:a="http://schemas.openxmlformats.org/drawingml/2006/main">
              <a:ext uri="{FF2B5EF4-FFF2-40B4-BE49-F238E27FC236}">
                <a16:creationId xmlns:a16="http://schemas.microsoft.com/office/drawing/2014/main" id="{E6C8E905-6F57-4D18-AD0D-5F09C24CF34E}"/>
              </a:ext>
            </a:extLst>
          </p:cNvPr>
          <p:cNvSpPr>
            <a:spLocks xmlns:a="http://schemas.openxmlformats.org/drawingml/2006/main" noGrp="1"/>
          </p:cNvSpPr>
          <p:nvPr/>
        </p:nvSpPr>
        <p:spPr>
          <a:xfrm xmlns:a="http://schemas.openxmlformats.org/drawingml/2006/main">
            <a:off x="666750" y="3048000"/>
            <a:ext cx="3000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Observable</a:t>
            </a:r>
          </a:p>
        </p:txBody>
      </p:sp>
      <p:sp>
        <p:nvSpPr>
          <p:cNvPr id="6" name="Observable-body">
            <a:extLst xmlns:a="http://schemas.openxmlformats.org/drawingml/2006/main">
              <a:ext uri="{FF2B5EF4-FFF2-40B4-BE49-F238E27FC236}">
                <a16:creationId xmlns:a16="http://schemas.microsoft.com/office/drawing/2014/main" id="{D877E227-2413-4777-AA76-48539DF29910}"/>
              </a:ext>
            </a:extLst>
          </p:cNvPr>
          <p:cNvSpPr>
            <a:spLocks xmlns:a="http://schemas.openxmlformats.org/drawingml/2006/main" noGrp="1"/>
          </p:cNvSpPr>
          <p:nvPr/>
        </p:nvSpPr>
        <p:spPr>
          <a:xfrm xmlns:a="http://schemas.openxmlformats.org/drawingml/2006/main">
            <a:off x="666750" y="3857625"/>
            <a:ext cx="3000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Call price + put price</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at one strike, expiry,</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and decision timestamp</a:t>
            </a:r>
          </a:p>
        </p:txBody>
      </p:sp>
      <p:sp>
        <p:nvSpPr>
          <p:cNvPr id="7" name="Economic role-card">
            <a:extLst xmlns:a="http://schemas.openxmlformats.org/drawingml/2006/main">
              <a:ext uri="{FF2B5EF4-FFF2-40B4-BE49-F238E27FC236}">
                <a16:creationId xmlns:a16="http://schemas.microsoft.com/office/drawing/2014/main" id="{17F5F53A-37F6-4C8A-AB66-68EA3AE522C1}"/>
              </a:ext>
            </a:extLst>
          </p:cNvPr>
          <p:cNvSpPr>
            <a:spLocks xmlns:a="http://schemas.openxmlformats.org/drawingml/2006/main" noGrp="1"/>
          </p:cNvSpPr>
          <p:nvPr/>
        </p:nvSpPr>
        <p:spPr>
          <a:xfrm xmlns:a="http://schemas.openxmlformats.org/drawingml/2006/main">
            <a:off x="4314825" y="2714625"/>
            <a:ext cx="3571875" cy="3000375"/>
          </a:xfrm>
          <a:prstGeom xmlns:a="http://schemas.openxmlformats.org/drawingml/2006/main" prst="roundRect">
            <a:avLst>
              <a:gd name="adj" fmla="val 2540"/>
            </a:avLst>
          </a:prstGeom>
          <a:solidFill xmlns:a="http://schemas.openxmlformats.org/drawingml/2006/main">
            <a:srgbClr val="E8F0FF"/>
          </a:solidFill>
          <a:ln xmlns:a="http://schemas.openxmlformats.org/drawingml/2006/main" w="0">
            <a:noFill/>
            <a:prstDash val="solid"/>
          </a:ln>
        </p:spPr>
      </p:sp>
      <p:sp>
        <p:nvSpPr>
          <p:cNvPr id="8" name="Economic role-head">
            <a:extLst xmlns:a="http://schemas.openxmlformats.org/drawingml/2006/main">
              <a:ext uri="{FF2B5EF4-FFF2-40B4-BE49-F238E27FC236}">
                <a16:creationId xmlns:a16="http://schemas.microsoft.com/office/drawing/2014/main" id="{CD7B2193-FF6A-43E1-BEEF-991A75579DB7}"/>
              </a:ext>
            </a:extLst>
          </p:cNvPr>
          <p:cNvSpPr>
            <a:spLocks xmlns:a="http://schemas.openxmlformats.org/drawingml/2006/main" noGrp="1"/>
          </p:cNvSpPr>
          <p:nvPr/>
        </p:nvSpPr>
        <p:spPr>
          <a:xfrm xmlns:a="http://schemas.openxmlformats.org/drawingml/2006/main">
            <a:off x="4581525" y="3048000"/>
            <a:ext cx="3000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Economic role</a:t>
            </a:r>
          </a:p>
        </p:txBody>
      </p:sp>
      <p:sp>
        <p:nvSpPr>
          <p:cNvPr id="9" name="Economic role-body">
            <a:extLst xmlns:a="http://schemas.openxmlformats.org/drawingml/2006/main">
              <a:ext uri="{FF2B5EF4-FFF2-40B4-BE49-F238E27FC236}">
                <a16:creationId xmlns:a16="http://schemas.microsoft.com/office/drawing/2014/main" id="{7AB46E33-0A6F-45FF-94C9-7CF741A89C99}"/>
              </a:ext>
            </a:extLst>
          </p:cNvPr>
          <p:cNvSpPr>
            <a:spLocks xmlns:a="http://schemas.openxmlformats.org/drawingml/2006/main" noGrp="1"/>
          </p:cNvSpPr>
          <p:nvPr/>
        </p:nvSpPr>
        <p:spPr>
          <a:xfrm xmlns:a="http://schemas.openxmlformats.org/drawingml/2006/main">
            <a:off x="4581525" y="3857625"/>
            <a:ext cx="3000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A forward-risk price mixing</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expected variability, event risk,</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risk premia, and microstructure</a:t>
            </a:r>
          </a:p>
        </p:txBody>
      </p:sp>
      <p:sp>
        <p:nvSpPr>
          <p:cNvPr id="10" name="Not identified-card">
            <a:extLst xmlns:a="http://schemas.openxmlformats.org/drawingml/2006/main">
              <a:ext uri="{FF2B5EF4-FFF2-40B4-BE49-F238E27FC236}">
                <a16:creationId xmlns:a16="http://schemas.microsoft.com/office/drawing/2014/main" id="{51566054-7C73-4833-AD54-70CFF5276BC0}"/>
              </a:ext>
            </a:extLst>
          </p:cNvPr>
          <p:cNvSpPr>
            <a:spLocks xmlns:a="http://schemas.openxmlformats.org/drawingml/2006/main" noGrp="1"/>
          </p:cNvSpPr>
          <p:nvPr/>
        </p:nvSpPr>
        <p:spPr>
          <a:xfrm xmlns:a="http://schemas.openxmlformats.org/drawingml/2006/main">
            <a:off x="8229600" y="2714625"/>
            <a:ext cx="3571875" cy="3000375"/>
          </a:xfrm>
          <a:prstGeom xmlns:a="http://schemas.openxmlformats.org/drawingml/2006/main" prst="roundRect">
            <a:avLst>
              <a:gd name="adj" fmla="val 2540"/>
            </a:avLst>
          </a:prstGeom>
          <a:solidFill xmlns:a="http://schemas.openxmlformats.org/drawingml/2006/main">
            <a:srgbClr val="FEF0C7"/>
          </a:solidFill>
          <a:ln xmlns:a="http://schemas.openxmlformats.org/drawingml/2006/main" w="0">
            <a:noFill/>
            <a:prstDash val="solid"/>
          </a:ln>
        </p:spPr>
      </p:sp>
      <p:sp>
        <p:nvSpPr>
          <p:cNvPr id="11" name="Not identified-head">
            <a:extLst xmlns:a="http://schemas.openxmlformats.org/drawingml/2006/main">
              <a:ext uri="{FF2B5EF4-FFF2-40B4-BE49-F238E27FC236}">
                <a16:creationId xmlns:a16="http://schemas.microsoft.com/office/drawing/2014/main" id="{9DA6777B-D97C-4224-9005-54B28144D7A9}"/>
              </a:ext>
            </a:extLst>
          </p:cNvPr>
          <p:cNvSpPr>
            <a:spLocks xmlns:a="http://schemas.openxmlformats.org/drawingml/2006/main" noGrp="1"/>
          </p:cNvSpPr>
          <p:nvPr/>
        </p:nvSpPr>
        <p:spPr>
          <a:xfrm xmlns:a="http://schemas.openxmlformats.org/drawingml/2006/main">
            <a:off x="8496300" y="3048000"/>
            <a:ext cx="3000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Not identified</a:t>
            </a:r>
          </a:p>
        </p:txBody>
      </p:sp>
      <p:sp>
        <p:nvSpPr>
          <p:cNvPr id="12" name="Not identified-body">
            <a:extLst xmlns:a="http://schemas.openxmlformats.org/drawingml/2006/main">
              <a:ext uri="{FF2B5EF4-FFF2-40B4-BE49-F238E27FC236}">
                <a16:creationId xmlns:a16="http://schemas.microsoft.com/office/drawing/2014/main" id="{2F613D47-31CB-4260-9288-6622C2BFC7C3}"/>
              </a:ext>
            </a:extLst>
          </p:cNvPr>
          <p:cNvSpPr>
            <a:spLocks xmlns:a="http://schemas.openxmlformats.org/drawingml/2006/main" noGrp="1"/>
          </p:cNvSpPr>
          <p:nvPr/>
        </p:nvSpPr>
        <p:spPr>
          <a:xfrm xmlns:a="http://schemas.openxmlformats.org/drawingml/2006/main">
            <a:off x="8496300" y="3857625"/>
            <a:ext cx="3000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Not pure sentiment.</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Not expected return direction.</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Not automatically tradeable alpha.</a:t>
            </a:r>
          </a:p>
        </p:txBody>
      </p:sp>
      <p:sp>
        <p:nvSpPr>
          <p:cNvPr id="13" name="thesis-2">
            <a:extLst xmlns:a="http://schemas.openxmlformats.org/drawingml/2006/main">
              <a:ext uri="{FF2B5EF4-FFF2-40B4-BE49-F238E27FC236}">
                <a16:creationId xmlns:a16="http://schemas.microsoft.com/office/drawing/2014/main" id="{ED8F43C2-387E-46F0-AA1A-1CF307783D94}"/>
              </a:ext>
            </a:extLst>
          </p:cNvPr>
          <p:cNvSpPr>
            <a:spLocks xmlns:a="http://schemas.openxmlformats.org/drawingml/2006/main" noGrp="1"/>
          </p:cNvSpPr>
          <p:nvPr/>
        </p:nvSpPr>
        <p:spPr>
          <a:xfrm xmlns:a="http://schemas.openxmlformats.org/drawingml/2006/main">
            <a:off x="400050" y="14287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0">
                <a:solidFill>
                  <a:srgbClr val="5B6470"/>
                </a:solidFill>
                <a:latin typeface="Helvetica Neue"/>
                <a:ea typeface="Helvetica Neue"/>
                <a:cs typeface="Helvetica Neue"/>
              </a:defRPr>
            </a:pPr>
            <a:r>
              <a:rPr sz="2100" b="0">
                <a:solidFill>
                  <a:srgbClr val="5B6470"/>
                </a:solidFill>
                <a:latin typeface="Helvetica Neue"/>
                <a:ea typeface="Helvetica Neue"/>
                <a:cs typeface="Helvetica Neue"/>
              </a:rPr>
              <a:t>The first professional question is measurement integrity—not prediction.</a:t>
            </a:r>
          </a:p>
        </p:txBody>
      </p:sp>
    </p:spTree>
    <p:extLst>
      <p:ext uri="{BB962C8B-B14F-4D97-AF65-F5344CB8AC3E}">
        <p14:creationId xmlns:p14="http://schemas.microsoft.com/office/powerpoint/2010/main" val="12573964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3">
            <a:extLst xmlns:a="http://schemas.openxmlformats.org/drawingml/2006/main">
              <a:ext uri="{FF2B5EF4-FFF2-40B4-BE49-F238E27FC236}">
                <a16:creationId xmlns:a16="http://schemas.microsoft.com/office/drawing/2014/main" id="{5D59A094-4020-4189-AE96-62A7CC6D6536}"/>
              </a:ext>
            </a:extLst>
          </p:cNvPr>
          <p:cNvSpPr>
            <a:spLocks xmlns:a="http://schemas.openxmlformats.org/drawingml/2006/main" noGrp="1"/>
          </p:cNvSpPr>
          <p:nvPr/>
        </p:nvSpPr>
        <p:spPr>
          <a:xfrm xmlns:a="http://schemas.openxmlformats.org/drawingml/2006/main">
            <a:off x="400050" y="323850"/>
            <a:ext cx="1104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11111"/>
                </a:solidFill>
                <a:latin typeface="Helvetica Neue"/>
                <a:ea typeface="Helvetica Neue"/>
                <a:cs typeface="Helvetica Neue"/>
              </a:defRPr>
            </a:pPr>
            <a:r>
              <a:rPr sz="2925" b="1">
                <a:solidFill>
                  <a:srgbClr val="111111"/>
                </a:solidFill>
                <a:latin typeface="Helvetica Neue"/>
                <a:ea typeface="Helvetica Neue"/>
                <a:cs typeface="Helvetica Neue"/>
              </a:rPr>
              <a:t>O0 froze the construction before inspecting outcomes</a:t>
            </a:r>
          </a:p>
        </p:txBody>
      </p:sp>
      <p:sp>
        <p:nvSpPr>
          <p:cNvPr id="2" name="number-3">
            <a:extLst xmlns:a="http://schemas.openxmlformats.org/drawingml/2006/main">
              <a:ext uri="{FF2B5EF4-FFF2-40B4-BE49-F238E27FC236}">
                <a16:creationId xmlns:a16="http://schemas.microsoft.com/office/drawing/2014/main" id="{1A7902BD-8BC5-4740-8505-C3E2C90BD69F}"/>
              </a:ext>
            </a:extLst>
          </p:cNvPr>
          <p:cNvSpPr>
            <a:spLocks xmlns:a="http://schemas.openxmlformats.org/drawingml/2006/main" noGrp="1"/>
          </p:cNvSpPr>
          <p:nvPr/>
        </p:nvSpPr>
        <p:spPr>
          <a:xfrm xmlns:a="http://schemas.openxmlformats.org/drawingml/2006/main">
            <a:off x="11239500" y="6286500"/>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92308"/>
          </a:bodyPr>
          <a:lstStyle xmlns:a="http://schemas.openxmlformats.org/drawingml/2006/main"/>
          <a:p xmlns:a="http://schemas.openxmlformats.org/drawingml/2006/main">
            <a:pPr algn="r">
              <a:defRPr sz="975" b="0">
                <a:solidFill>
                  <a:srgbClr val="5B6470"/>
                </a:solidFill>
                <a:latin typeface="Helvetica Neue"/>
                <a:ea typeface="Helvetica Neue"/>
                <a:cs typeface="Helvetica Neue"/>
              </a:defRPr>
            </a:pPr>
            <a:r>
              <a:rPr sz="975" b="0">
                <a:solidFill>
                  <a:srgbClr val="5B6470"/>
                </a:solidFill>
                <a:latin typeface="Helvetica Neue"/>
                <a:ea typeface="Helvetica Neue"/>
                <a:cs typeface="Helvetica Neue"/>
              </a:rPr>
              <a:t>3</a:t>
            </a:r>
          </a:p>
        </p:txBody>
      </p:sp>
      <p:sp>
        <p:nvSpPr>
          <p:cNvPr id="3" name="decision-3">
            <a:extLst xmlns:a="http://schemas.openxmlformats.org/drawingml/2006/main">
              <a:ext uri="{FF2B5EF4-FFF2-40B4-BE49-F238E27FC236}">
                <a16:creationId xmlns:a16="http://schemas.microsoft.com/office/drawing/2014/main" id="{82F9197D-38CC-4B63-AA7D-104453269F9B}"/>
              </a:ext>
            </a:extLst>
          </p:cNvPr>
          <p:cNvSpPr>
            <a:spLocks xmlns:a="http://schemas.openxmlformats.org/drawingml/2006/main" noGrp="1"/>
          </p:cNvSpPr>
          <p:nvPr/>
        </p:nvSpPr>
        <p:spPr>
          <a:xfrm xmlns:a="http://schemas.openxmlformats.org/drawingml/2006/main">
            <a:off x="10382250" y="59055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B6470"/>
                </a:solidFill>
                <a:latin typeface="Helvetica Neue"/>
                <a:ea typeface="Helvetica Neue"/>
                <a:cs typeface="Helvetica Neue"/>
              </a:defRPr>
            </a:pPr>
            <a:r>
              <a:rPr sz="1050" b="1">
                <a:solidFill>
                  <a:srgbClr val="5B6470"/>
                </a:solidFill>
                <a:latin typeface="Helvetica Neue"/>
                <a:ea typeface="Helvetica Neue"/>
                <a:cs typeface="Helvetica Neue"/>
              </a:rPr>
              <a:t>D40</a:t>
            </a:r>
          </a:p>
        </p:txBody>
      </p:sp>
      <p:sp>
        <p:nvSpPr>
          <p:cNvPr id="4" name="step-0">
            <a:extLst xmlns:a="http://schemas.openxmlformats.org/drawingml/2006/main">
              <a:ext uri="{FF2B5EF4-FFF2-40B4-BE49-F238E27FC236}">
                <a16:creationId xmlns:a16="http://schemas.microsoft.com/office/drawing/2014/main" id="{2029B3A2-3B36-462F-9119-3FB443324F45}"/>
              </a:ext>
            </a:extLst>
          </p:cNvPr>
          <p:cNvSpPr>
            <a:spLocks xmlns:a="http://schemas.openxmlformats.org/drawingml/2006/main" noGrp="1"/>
          </p:cNvSpPr>
          <p:nvPr/>
        </p:nvSpPr>
        <p:spPr>
          <a:xfrm xmlns:a="http://schemas.openxmlformats.org/drawingml/2006/main">
            <a:off x="400050" y="2333625"/>
            <a:ext cx="2428875" cy="2667000"/>
          </a:xfrm>
          <a:prstGeom xmlns:a="http://schemas.openxmlformats.org/drawingml/2006/main" prst="roundRect">
            <a:avLst>
              <a:gd name="adj" fmla="val 3137"/>
            </a:avLst>
          </a:prstGeom>
          <a:solidFill xmlns:a="http://schemas.openxmlformats.org/drawingml/2006/main">
            <a:srgbClr val="F2F2F2"/>
          </a:solidFill>
          <a:ln xmlns:a="http://schemas.openxmlformats.org/drawingml/2006/main" w="0">
            <a:noFill/>
            <a:prstDash val="solid"/>
          </a:ln>
        </p:spPr>
      </p:sp>
      <p:sp>
        <p:nvSpPr>
          <p:cNvPr id="5" name="step-num-0">
            <a:extLst xmlns:a="http://schemas.openxmlformats.org/drawingml/2006/main">
              <a:ext uri="{FF2B5EF4-FFF2-40B4-BE49-F238E27FC236}">
                <a16:creationId xmlns:a16="http://schemas.microsoft.com/office/drawing/2014/main" id="{612D8FC3-951E-4453-88B5-18DD15F5A57B}"/>
              </a:ext>
            </a:extLst>
          </p:cNvPr>
          <p:cNvSpPr>
            <a:spLocks xmlns:a="http://schemas.openxmlformats.org/drawingml/2006/main" noGrp="1"/>
          </p:cNvSpPr>
          <p:nvPr/>
        </p:nvSpPr>
        <p:spPr>
          <a:xfrm xmlns:a="http://schemas.openxmlformats.org/drawingml/2006/main">
            <a:off x="628650" y="25717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F766E"/>
                </a:solidFill>
                <a:latin typeface="Helvetica Neue"/>
                <a:ea typeface="Helvetica Neue"/>
                <a:cs typeface="Helvetica Neue"/>
              </a:defRPr>
            </a:pPr>
            <a:r>
              <a:rPr sz="2100" b="1">
                <a:solidFill>
                  <a:srgbClr val="0F766E"/>
                </a:solidFill>
                <a:latin typeface="Helvetica Neue"/>
                <a:ea typeface="Helvetica Neue"/>
                <a:cs typeface="Helvetica Neue"/>
              </a:rPr>
              <a:t>1</a:t>
            </a:r>
          </a:p>
        </p:txBody>
      </p:sp>
      <p:sp>
        <p:nvSpPr>
          <p:cNvPr id="6" name="step-head-0">
            <a:extLst xmlns:a="http://schemas.openxmlformats.org/drawingml/2006/main">
              <a:ext uri="{FF2B5EF4-FFF2-40B4-BE49-F238E27FC236}">
                <a16:creationId xmlns:a16="http://schemas.microsoft.com/office/drawing/2014/main" id="{43181D02-5523-4AE1-BC8A-44A5C7C1AD42}"/>
              </a:ext>
            </a:extLst>
          </p:cNvPr>
          <p:cNvSpPr>
            <a:spLocks xmlns:a="http://schemas.openxmlformats.org/drawingml/2006/main" noGrp="1"/>
          </p:cNvSpPr>
          <p:nvPr/>
        </p:nvSpPr>
        <p:spPr>
          <a:xfrm xmlns:a="http://schemas.openxmlformats.org/drawingml/2006/main">
            <a:off x="628650" y="3286125"/>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Raw spot</a:t>
            </a:r>
          </a:p>
        </p:txBody>
      </p:sp>
      <p:sp>
        <p:nvSpPr>
          <p:cNvPr id="7" name="step-body-0">
            <a:extLst xmlns:a="http://schemas.openxmlformats.org/drawingml/2006/main">
              <a:ext uri="{FF2B5EF4-FFF2-40B4-BE49-F238E27FC236}">
                <a16:creationId xmlns:a16="http://schemas.microsoft.com/office/drawing/2014/main" id="{C509F87E-F34C-455E-AAA6-18A66BA62ADF}"/>
              </a:ext>
            </a:extLst>
          </p:cNvPr>
          <p:cNvSpPr>
            <a:spLocks xmlns:a="http://schemas.openxmlformats.org/drawingml/2006/main" noGrp="1"/>
          </p:cNvSpPr>
          <p:nvPr/>
        </p:nvSpPr>
        <p:spPr>
          <a:xfrm xmlns:a="http://schemas.openxmlformats.org/drawingml/2006/main">
            <a:off x="628650" y="4000500"/>
            <a:ext cx="1952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15:45 ET</a:t>
            </a:r>
          </a:p>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15Min VWAP</a:t>
            </a:r>
          </a:p>
        </p:txBody>
      </p:sp>
      <p:sp>
        <p:nvSpPr>
          <p:cNvPr id="8" name="arrow-0">
            <a:extLst xmlns:a="http://schemas.openxmlformats.org/drawingml/2006/main">
              <a:ext uri="{FF2B5EF4-FFF2-40B4-BE49-F238E27FC236}">
                <a16:creationId xmlns:a16="http://schemas.microsoft.com/office/drawing/2014/main" id="{3B933274-827C-481D-8FD8-05C3C17FA803}"/>
              </a:ext>
            </a:extLst>
          </p:cNvPr>
          <p:cNvSpPr>
            <a:spLocks xmlns:a="http://schemas.openxmlformats.org/drawingml/2006/main" noGrp="1"/>
          </p:cNvSpPr>
          <p:nvPr/>
        </p:nvSpPr>
        <p:spPr>
          <a:xfrm xmlns:a="http://schemas.openxmlformats.org/drawingml/2006/main">
            <a:off x="2886075" y="3381375"/>
            <a:ext cx="361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52"/>
          </a:bodyPr>
          <a:lstStyle xmlns:a="http://schemas.openxmlformats.org/drawingml/2006/main"/>
          <a:p xmlns:a="http://schemas.openxmlformats.org/drawingml/2006/main">
            <a:pPr algn="ctr">
              <a:defRPr sz="2100" b="1">
                <a:solidFill>
                  <a:srgbClr val="5B6470"/>
                </a:solidFill>
                <a:latin typeface="Helvetica Neue"/>
                <a:ea typeface="Helvetica Neue"/>
                <a:cs typeface="Helvetica Neue"/>
              </a:defRPr>
            </a:pPr>
            <a:r>
              <a:rPr sz="2100" b="1">
                <a:solidFill>
                  <a:srgbClr val="5B6470"/>
                </a:solidFill>
                <a:latin typeface="Helvetica Neue"/>
                <a:ea typeface="Helvetica Neue"/>
                <a:cs typeface="Helvetica Neue"/>
              </a:rPr>
              <a:t>→</a:t>
            </a:r>
          </a:p>
        </p:txBody>
      </p:sp>
      <p:sp>
        <p:nvSpPr>
          <p:cNvPr id="9" name="step-1">
            <a:extLst xmlns:a="http://schemas.openxmlformats.org/drawingml/2006/main">
              <a:ext uri="{FF2B5EF4-FFF2-40B4-BE49-F238E27FC236}">
                <a16:creationId xmlns:a16="http://schemas.microsoft.com/office/drawing/2014/main" id="{634B6769-D3AC-4B52-B374-FBA9DB8102C3}"/>
              </a:ext>
            </a:extLst>
          </p:cNvPr>
          <p:cNvSpPr>
            <a:spLocks xmlns:a="http://schemas.openxmlformats.org/drawingml/2006/main" noGrp="1"/>
          </p:cNvSpPr>
          <p:nvPr/>
        </p:nvSpPr>
        <p:spPr>
          <a:xfrm xmlns:a="http://schemas.openxmlformats.org/drawingml/2006/main">
            <a:off x="3257550" y="2333625"/>
            <a:ext cx="2428875" cy="2667000"/>
          </a:xfrm>
          <a:prstGeom xmlns:a="http://schemas.openxmlformats.org/drawingml/2006/main" prst="roundRect">
            <a:avLst>
              <a:gd name="adj" fmla="val 3137"/>
            </a:avLst>
          </a:prstGeom>
          <a:solidFill xmlns:a="http://schemas.openxmlformats.org/drawingml/2006/main">
            <a:srgbClr val="F2F2F2"/>
          </a:solidFill>
          <a:ln xmlns:a="http://schemas.openxmlformats.org/drawingml/2006/main" w="0">
            <a:noFill/>
            <a:prstDash val="solid"/>
          </a:ln>
        </p:spPr>
      </p:sp>
      <p:sp>
        <p:nvSpPr>
          <p:cNvPr id="10" name="step-num-1">
            <a:extLst xmlns:a="http://schemas.openxmlformats.org/drawingml/2006/main">
              <a:ext uri="{FF2B5EF4-FFF2-40B4-BE49-F238E27FC236}">
                <a16:creationId xmlns:a16="http://schemas.microsoft.com/office/drawing/2014/main" id="{C40E9CE9-D7A9-4EA9-835B-B3A1F53AC88F}"/>
              </a:ext>
            </a:extLst>
          </p:cNvPr>
          <p:cNvSpPr>
            <a:spLocks xmlns:a="http://schemas.openxmlformats.org/drawingml/2006/main" noGrp="1"/>
          </p:cNvSpPr>
          <p:nvPr/>
        </p:nvSpPr>
        <p:spPr>
          <a:xfrm xmlns:a="http://schemas.openxmlformats.org/drawingml/2006/main">
            <a:off x="3486150" y="25717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F766E"/>
                </a:solidFill>
                <a:latin typeface="Helvetica Neue"/>
                <a:ea typeface="Helvetica Neue"/>
                <a:cs typeface="Helvetica Neue"/>
              </a:defRPr>
            </a:pPr>
            <a:r>
              <a:rPr sz="2100" b="1">
                <a:solidFill>
                  <a:srgbClr val="0F766E"/>
                </a:solidFill>
                <a:latin typeface="Helvetica Neue"/>
                <a:ea typeface="Helvetica Neue"/>
                <a:cs typeface="Helvetica Neue"/>
              </a:rPr>
              <a:t>2</a:t>
            </a:r>
          </a:p>
        </p:txBody>
      </p:sp>
      <p:sp>
        <p:nvSpPr>
          <p:cNvPr id="11" name="step-head-1">
            <a:extLst xmlns:a="http://schemas.openxmlformats.org/drawingml/2006/main">
              <a:ext uri="{FF2B5EF4-FFF2-40B4-BE49-F238E27FC236}">
                <a16:creationId xmlns:a16="http://schemas.microsoft.com/office/drawing/2014/main" id="{DE806F8B-C460-4220-A918-892983837E39}"/>
              </a:ext>
            </a:extLst>
          </p:cNvPr>
          <p:cNvSpPr>
            <a:spLocks xmlns:a="http://schemas.openxmlformats.org/drawingml/2006/main" noGrp="1"/>
          </p:cNvSpPr>
          <p:nvPr/>
        </p:nvSpPr>
        <p:spPr>
          <a:xfrm xmlns:a="http://schemas.openxmlformats.org/drawingml/2006/main">
            <a:off x="3486150" y="3286125"/>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Expiry</a:t>
            </a:r>
          </a:p>
        </p:txBody>
      </p:sp>
      <p:sp>
        <p:nvSpPr>
          <p:cNvPr id="12" name="step-body-1">
            <a:extLst xmlns:a="http://schemas.openxmlformats.org/drawingml/2006/main">
              <a:ext uri="{FF2B5EF4-FFF2-40B4-BE49-F238E27FC236}">
                <a16:creationId xmlns:a16="http://schemas.microsoft.com/office/drawing/2014/main" id="{BA68612C-E19B-4A59-A6DC-8F5A27943170}"/>
              </a:ext>
            </a:extLst>
          </p:cNvPr>
          <p:cNvSpPr>
            <a:spLocks xmlns:a="http://schemas.openxmlformats.org/drawingml/2006/main" noGrp="1"/>
          </p:cNvSpPr>
          <p:nvPr/>
        </p:nvSpPr>
        <p:spPr>
          <a:xfrm xmlns:a="http://schemas.openxmlformats.org/drawingml/2006/main">
            <a:off x="3486150" y="4000500"/>
            <a:ext cx="1952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Nearest 30 DTE</a:t>
            </a:r>
          </a:p>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inside 21–45</a:t>
            </a:r>
          </a:p>
        </p:txBody>
      </p:sp>
      <p:sp>
        <p:nvSpPr>
          <p:cNvPr id="13" name="arrow-1">
            <a:extLst xmlns:a="http://schemas.openxmlformats.org/drawingml/2006/main">
              <a:ext uri="{FF2B5EF4-FFF2-40B4-BE49-F238E27FC236}">
                <a16:creationId xmlns:a16="http://schemas.microsoft.com/office/drawing/2014/main" id="{19D4BCD6-884C-458C-BEA9-117E43831C54}"/>
              </a:ext>
            </a:extLst>
          </p:cNvPr>
          <p:cNvSpPr>
            <a:spLocks xmlns:a="http://schemas.openxmlformats.org/drawingml/2006/main" noGrp="1"/>
          </p:cNvSpPr>
          <p:nvPr/>
        </p:nvSpPr>
        <p:spPr>
          <a:xfrm xmlns:a="http://schemas.openxmlformats.org/drawingml/2006/main">
            <a:off x="5743575" y="3381375"/>
            <a:ext cx="361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52"/>
          </a:bodyPr>
          <a:lstStyle xmlns:a="http://schemas.openxmlformats.org/drawingml/2006/main"/>
          <a:p xmlns:a="http://schemas.openxmlformats.org/drawingml/2006/main">
            <a:pPr algn="ctr">
              <a:defRPr sz="2100" b="1">
                <a:solidFill>
                  <a:srgbClr val="5B6470"/>
                </a:solidFill>
                <a:latin typeface="Helvetica Neue"/>
                <a:ea typeface="Helvetica Neue"/>
                <a:cs typeface="Helvetica Neue"/>
              </a:defRPr>
            </a:pPr>
            <a:r>
              <a:rPr sz="2100" b="1">
                <a:solidFill>
                  <a:srgbClr val="5B6470"/>
                </a:solidFill>
                <a:latin typeface="Helvetica Neue"/>
                <a:ea typeface="Helvetica Neue"/>
                <a:cs typeface="Helvetica Neue"/>
              </a:rPr>
              <a:t>→</a:t>
            </a:r>
          </a:p>
        </p:txBody>
      </p:sp>
      <p:sp>
        <p:nvSpPr>
          <p:cNvPr id="14" name="step-2">
            <a:extLst xmlns:a="http://schemas.openxmlformats.org/drawingml/2006/main">
              <a:ext uri="{FF2B5EF4-FFF2-40B4-BE49-F238E27FC236}">
                <a16:creationId xmlns:a16="http://schemas.microsoft.com/office/drawing/2014/main" id="{88F5E86C-E9A3-4EBF-9D72-FB140C187FDB}"/>
              </a:ext>
            </a:extLst>
          </p:cNvPr>
          <p:cNvSpPr>
            <a:spLocks xmlns:a="http://schemas.openxmlformats.org/drawingml/2006/main" noGrp="1"/>
          </p:cNvSpPr>
          <p:nvPr/>
        </p:nvSpPr>
        <p:spPr>
          <a:xfrm xmlns:a="http://schemas.openxmlformats.org/drawingml/2006/main">
            <a:off x="6115050" y="2333625"/>
            <a:ext cx="2428875" cy="2667000"/>
          </a:xfrm>
          <a:prstGeom xmlns:a="http://schemas.openxmlformats.org/drawingml/2006/main" prst="roundRect">
            <a:avLst>
              <a:gd name="adj" fmla="val 3137"/>
            </a:avLst>
          </a:prstGeom>
          <a:solidFill xmlns:a="http://schemas.openxmlformats.org/drawingml/2006/main">
            <a:srgbClr val="F2F2F2"/>
          </a:solidFill>
          <a:ln xmlns:a="http://schemas.openxmlformats.org/drawingml/2006/main" w="0">
            <a:noFill/>
            <a:prstDash val="solid"/>
          </a:ln>
        </p:spPr>
      </p:sp>
      <p:sp>
        <p:nvSpPr>
          <p:cNvPr id="15" name="step-num-2">
            <a:extLst xmlns:a="http://schemas.openxmlformats.org/drawingml/2006/main">
              <a:ext uri="{FF2B5EF4-FFF2-40B4-BE49-F238E27FC236}">
                <a16:creationId xmlns:a16="http://schemas.microsoft.com/office/drawing/2014/main" id="{613177DC-BB37-4A80-B773-2E84E20F3A2D}"/>
              </a:ext>
            </a:extLst>
          </p:cNvPr>
          <p:cNvSpPr>
            <a:spLocks xmlns:a="http://schemas.openxmlformats.org/drawingml/2006/main" noGrp="1"/>
          </p:cNvSpPr>
          <p:nvPr/>
        </p:nvSpPr>
        <p:spPr>
          <a:xfrm xmlns:a="http://schemas.openxmlformats.org/drawingml/2006/main">
            <a:off x="6343650" y="25717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F766E"/>
                </a:solidFill>
                <a:latin typeface="Helvetica Neue"/>
                <a:ea typeface="Helvetica Neue"/>
                <a:cs typeface="Helvetica Neue"/>
              </a:defRPr>
            </a:pPr>
            <a:r>
              <a:rPr sz="2100" b="1">
                <a:solidFill>
                  <a:srgbClr val="0F766E"/>
                </a:solidFill>
                <a:latin typeface="Helvetica Neue"/>
                <a:ea typeface="Helvetica Neue"/>
                <a:cs typeface="Helvetica Neue"/>
              </a:rPr>
              <a:t>3</a:t>
            </a:r>
          </a:p>
        </p:txBody>
      </p:sp>
      <p:sp>
        <p:nvSpPr>
          <p:cNvPr id="16" name="step-head-2">
            <a:extLst xmlns:a="http://schemas.openxmlformats.org/drawingml/2006/main">
              <a:ext uri="{FF2B5EF4-FFF2-40B4-BE49-F238E27FC236}">
                <a16:creationId xmlns:a16="http://schemas.microsoft.com/office/drawing/2014/main" id="{C0C8E01B-09B6-4A8D-86B1-9F29EC0FA2E1}"/>
              </a:ext>
            </a:extLst>
          </p:cNvPr>
          <p:cNvSpPr>
            <a:spLocks xmlns:a="http://schemas.openxmlformats.org/drawingml/2006/main" noGrp="1"/>
          </p:cNvSpPr>
          <p:nvPr/>
        </p:nvSpPr>
        <p:spPr>
          <a:xfrm xmlns:a="http://schemas.openxmlformats.org/drawingml/2006/main">
            <a:off x="6343650" y="3286125"/>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Strike</a:t>
            </a:r>
          </a:p>
        </p:txBody>
      </p:sp>
      <p:sp>
        <p:nvSpPr>
          <p:cNvPr id="17" name="step-body-2">
            <a:extLst xmlns:a="http://schemas.openxmlformats.org/drawingml/2006/main">
              <a:ext uri="{FF2B5EF4-FFF2-40B4-BE49-F238E27FC236}">
                <a16:creationId xmlns:a16="http://schemas.microsoft.com/office/drawing/2014/main" id="{CDD46BF5-C93E-49A4-945B-7822CBB13D2E}"/>
              </a:ext>
            </a:extLst>
          </p:cNvPr>
          <p:cNvSpPr>
            <a:spLocks xmlns:a="http://schemas.openxmlformats.org/drawingml/2006/main" noGrp="1"/>
          </p:cNvSpPr>
          <p:nvPr/>
        </p:nvSpPr>
        <p:spPr>
          <a:xfrm xmlns:a="http://schemas.openxmlformats.org/drawingml/2006/main">
            <a:off x="6343650" y="4000500"/>
            <a:ext cx="1952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Nearest listed</a:t>
            </a:r>
          </a:p>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call/put pair</a:t>
            </a:r>
          </a:p>
        </p:txBody>
      </p:sp>
      <p:sp>
        <p:nvSpPr>
          <p:cNvPr id="18" name="arrow-2">
            <a:extLst xmlns:a="http://schemas.openxmlformats.org/drawingml/2006/main">
              <a:ext uri="{FF2B5EF4-FFF2-40B4-BE49-F238E27FC236}">
                <a16:creationId xmlns:a16="http://schemas.microsoft.com/office/drawing/2014/main" id="{42708774-BAA9-4AA3-9EFE-23A294E7A520}"/>
              </a:ext>
            </a:extLst>
          </p:cNvPr>
          <p:cNvSpPr>
            <a:spLocks xmlns:a="http://schemas.openxmlformats.org/drawingml/2006/main" noGrp="1"/>
          </p:cNvSpPr>
          <p:nvPr/>
        </p:nvSpPr>
        <p:spPr>
          <a:xfrm xmlns:a="http://schemas.openxmlformats.org/drawingml/2006/main">
            <a:off x="8601075" y="3381375"/>
            <a:ext cx="361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52"/>
          </a:bodyPr>
          <a:lstStyle xmlns:a="http://schemas.openxmlformats.org/drawingml/2006/main"/>
          <a:p xmlns:a="http://schemas.openxmlformats.org/drawingml/2006/main">
            <a:pPr algn="ctr">
              <a:defRPr sz="2100" b="1">
                <a:solidFill>
                  <a:srgbClr val="5B6470"/>
                </a:solidFill>
                <a:latin typeface="Helvetica Neue"/>
                <a:ea typeface="Helvetica Neue"/>
                <a:cs typeface="Helvetica Neue"/>
              </a:defRPr>
            </a:pPr>
            <a:r>
              <a:rPr sz="2100" b="1">
                <a:solidFill>
                  <a:srgbClr val="5B6470"/>
                </a:solidFill>
                <a:latin typeface="Helvetica Neue"/>
                <a:ea typeface="Helvetica Neue"/>
                <a:cs typeface="Helvetica Neue"/>
              </a:rPr>
              <a:t>→</a:t>
            </a:r>
          </a:p>
        </p:txBody>
      </p:sp>
      <p:sp>
        <p:nvSpPr>
          <p:cNvPr id="19" name="step-3">
            <a:extLst xmlns:a="http://schemas.openxmlformats.org/drawingml/2006/main">
              <a:ext uri="{FF2B5EF4-FFF2-40B4-BE49-F238E27FC236}">
                <a16:creationId xmlns:a16="http://schemas.microsoft.com/office/drawing/2014/main" id="{D8265A8E-DF8B-45D1-A423-D8FE2FEF5AEA}"/>
              </a:ext>
            </a:extLst>
          </p:cNvPr>
          <p:cNvSpPr>
            <a:spLocks xmlns:a="http://schemas.openxmlformats.org/drawingml/2006/main" noGrp="1"/>
          </p:cNvSpPr>
          <p:nvPr/>
        </p:nvSpPr>
        <p:spPr>
          <a:xfrm xmlns:a="http://schemas.openxmlformats.org/drawingml/2006/main">
            <a:off x="8972550" y="2333625"/>
            <a:ext cx="2428875" cy="2667000"/>
          </a:xfrm>
          <a:prstGeom xmlns:a="http://schemas.openxmlformats.org/drawingml/2006/main" prst="roundRect">
            <a:avLst>
              <a:gd name="adj" fmla="val 3137"/>
            </a:avLst>
          </a:prstGeom>
          <a:solidFill xmlns:a="http://schemas.openxmlformats.org/drawingml/2006/main">
            <a:srgbClr val="F2F2F2"/>
          </a:solidFill>
          <a:ln xmlns:a="http://schemas.openxmlformats.org/drawingml/2006/main" w="0">
            <a:noFill/>
            <a:prstDash val="solid"/>
          </a:ln>
        </p:spPr>
      </p:sp>
      <p:sp>
        <p:nvSpPr>
          <p:cNvPr id="20" name="step-num-3">
            <a:extLst xmlns:a="http://schemas.openxmlformats.org/drawingml/2006/main">
              <a:ext uri="{FF2B5EF4-FFF2-40B4-BE49-F238E27FC236}">
                <a16:creationId xmlns:a16="http://schemas.microsoft.com/office/drawing/2014/main" id="{AC5FD445-48FD-4725-98DD-8AEE873CA379}"/>
              </a:ext>
            </a:extLst>
          </p:cNvPr>
          <p:cNvSpPr>
            <a:spLocks xmlns:a="http://schemas.openxmlformats.org/drawingml/2006/main" noGrp="1"/>
          </p:cNvSpPr>
          <p:nvPr/>
        </p:nvSpPr>
        <p:spPr>
          <a:xfrm xmlns:a="http://schemas.openxmlformats.org/drawingml/2006/main">
            <a:off x="9201150" y="25717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F766E"/>
                </a:solidFill>
                <a:latin typeface="Helvetica Neue"/>
                <a:ea typeface="Helvetica Neue"/>
                <a:cs typeface="Helvetica Neue"/>
              </a:defRPr>
            </a:pPr>
            <a:r>
              <a:rPr sz="2100" b="1">
                <a:solidFill>
                  <a:srgbClr val="0F766E"/>
                </a:solidFill>
                <a:latin typeface="Helvetica Neue"/>
                <a:ea typeface="Helvetica Neue"/>
                <a:cs typeface="Helvetica Neue"/>
              </a:rPr>
              <a:t>4</a:t>
            </a:r>
          </a:p>
        </p:txBody>
      </p:sp>
      <p:sp>
        <p:nvSpPr>
          <p:cNvPr id="21" name="step-head-3">
            <a:extLst xmlns:a="http://schemas.openxmlformats.org/drawingml/2006/main">
              <a:ext uri="{FF2B5EF4-FFF2-40B4-BE49-F238E27FC236}">
                <a16:creationId xmlns:a16="http://schemas.microsoft.com/office/drawing/2014/main" id="{EF369F23-E405-428B-BC8A-D4A1A91C0EBD}"/>
              </a:ext>
            </a:extLst>
          </p:cNvPr>
          <p:cNvSpPr>
            <a:spLocks xmlns:a="http://schemas.openxmlformats.org/drawingml/2006/main" noGrp="1"/>
          </p:cNvSpPr>
          <p:nvPr/>
        </p:nvSpPr>
        <p:spPr>
          <a:xfrm xmlns:a="http://schemas.openxmlformats.org/drawingml/2006/main">
            <a:off x="9201150" y="3286125"/>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Measure</a:t>
            </a:r>
          </a:p>
        </p:txBody>
      </p:sp>
      <p:sp>
        <p:nvSpPr>
          <p:cNvPr id="22" name="step-body-3">
            <a:extLst xmlns:a="http://schemas.openxmlformats.org/drawingml/2006/main">
              <a:ext uri="{FF2B5EF4-FFF2-40B4-BE49-F238E27FC236}">
                <a16:creationId xmlns:a16="http://schemas.microsoft.com/office/drawing/2014/main" id="{FBCC6326-83F2-4266-BDD3-98E023440299}"/>
              </a:ext>
            </a:extLst>
          </p:cNvPr>
          <p:cNvSpPr>
            <a:spLocks xmlns:a="http://schemas.openxmlformats.org/drawingml/2006/main" noGrp="1"/>
          </p:cNvSpPr>
          <p:nvPr/>
        </p:nvSpPr>
        <p:spPr>
          <a:xfrm xmlns:a="http://schemas.openxmlformats.org/drawingml/2006/main">
            <a:off x="9201150" y="4000500"/>
            <a:ext cx="1952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(C + P) / spot</a:t>
            </a:r>
          </a:p>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 √(30 / DTE)</a:t>
            </a:r>
          </a:p>
        </p:txBody>
      </p:sp>
      <p:sp>
        <p:nvSpPr>
          <p:cNvPr id="23" name="gate-3">
            <a:extLst xmlns:a="http://schemas.openxmlformats.org/drawingml/2006/main">
              <a:ext uri="{FF2B5EF4-FFF2-40B4-BE49-F238E27FC236}">
                <a16:creationId xmlns:a16="http://schemas.microsoft.com/office/drawing/2014/main" id="{98AFA0C3-8281-4ACF-9986-1D2A349E3E5D}"/>
              </a:ext>
            </a:extLst>
          </p:cNvPr>
          <p:cNvSpPr>
            <a:spLocks xmlns:a="http://schemas.openxmlformats.org/drawingml/2006/main" noGrp="1"/>
          </p:cNvSpPr>
          <p:nvPr/>
        </p:nvSpPr>
        <p:spPr>
          <a:xfrm xmlns:a="http://schemas.openxmlformats.org/drawingml/2006/main">
            <a:off x="400050" y="557212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Pass gate: ≥90% valid matched sessions for each of SPY, QQQ, and IWM.</a:t>
            </a:r>
          </a:p>
        </p:txBody>
      </p:sp>
    </p:spTree>
    <p:extLst>
      <p:ext uri="{BB962C8B-B14F-4D97-AF65-F5344CB8AC3E}">
        <p14:creationId xmlns:p14="http://schemas.microsoft.com/office/powerpoint/2010/main" val="470776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4">
            <a:extLst xmlns:a="http://schemas.openxmlformats.org/drawingml/2006/main">
              <a:ext uri="{FF2B5EF4-FFF2-40B4-BE49-F238E27FC236}">
                <a16:creationId xmlns:a16="http://schemas.microsoft.com/office/drawing/2014/main" id="{36650655-BE2E-4976-B5E0-4DF2F15BA88E}"/>
              </a:ext>
            </a:extLst>
          </p:cNvPr>
          <p:cNvSpPr>
            <a:spLocks xmlns:a="http://schemas.openxmlformats.org/drawingml/2006/main" noGrp="1"/>
          </p:cNvSpPr>
          <p:nvPr/>
        </p:nvSpPr>
        <p:spPr>
          <a:xfrm xmlns:a="http://schemas.openxmlformats.org/drawingml/2006/main">
            <a:off x="400050" y="323850"/>
            <a:ext cx="1104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11111"/>
                </a:solidFill>
                <a:latin typeface="Helvetica Neue"/>
                <a:ea typeface="Helvetica Neue"/>
                <a:cs typeface="Helvetica Neue"/>
              </a:defRPr>
            </a:pPr>
            <a:r>
              <a:rPr sz="2925" b="1">
                <a:solidFill>
                  <a:srgbClr val="111111"/>
                </a:solidFill>
                <a:latin typeface="Helvetica Neue"/>
                <a:ea typeface="Helvetica Neue"/>
                <a:cs typeface="Helvetica Neue"/>
              </a:rPr>
              <a:t>The account proved access—but only on a narrow indicative lane</a:t>
            </a:r>
          </a:p>
        </p:txBody>
      </p:sp>
      <p:sp>
        <p:nvSpPr>
          <p:cNvPr id="2" name="number-4">
            <a:extLst xmlns:a="http://schemas.openxmlformats.org/drawingml/2006/main">
              <a:ext uri="{FF2B5EF4-FFF2-40B4-BE49-F238E27FC236}">
                <a16:creationId xmlns:a16="http://schemas.microsoft.com/office/drawing/2014/main" id="{19C81D0D-DD91-4F63-8128-6BB5131DD279}"/>
              </a:ext>
            </a:extLst>
          </p:cNvPr>
          <p:cNvSpPr>
            <a:spLocks xmlns:a="http://schemas.openxmlformats.org/drawingml/2006/main" noGrp="1"/>
          </p:cNvSpPr>
          <p:nvPr/>
        </p:nvSpPr>
        <p:spPr>
          <a:xfrm xmlns:a="http://schemas.openxmlformats.org/drawingml/2006/main">
            <a:off x="11239500" y="6286500"/>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92308"/>
          </a:bodyPr>
          <a:lstStyle xmlns:a="http://schemas.openxmlformats.org/drawingml/2006/main"/>
          <a:p xmlns:a="http://schemas.openxmlformats.org/drawingml/2006/main">
            <a:pPr algn="r">
              <a:defRPr sz="975" b="0">
                <a:solidFill>
                  <a:srgbClr val="5B6470"/>
                </a:solidFill>
                <a:latin typeface="Helvetica Neue"/>
                <a:ea typeface="Helvetica Neue"/>
                <a:cs typeface="Helvetica Neue"/>
              </a:defRPr>
            </a:pPr>
            <a:r>
              <a:rPr sz="975" b="0">
                <a:solidFill>
                  <a:srgbClr val="5B6470"/>
                </a:solidFill>
                <a:latin typeface="Helvetica Neue"/>
                <a:ea typeface="Helvetica Neue"/>
                <a:cs typeface="Helvetica Neue"/>
              </a:rPr>
              <a:t>4</a:t>
            </a:r>
          </a:p>
        </p:txBody>
      </p:sp>
      <p:sp>
        <p:nvSpPr>
          <p:cNvPr id="3" name="decision-4">
            <a:extLst xmlns:a="http://schemas.openxmlformats.org/drawingml/2006/main">
              <a:ext uri="{FF2B5EF4-FFF2-40B4-BE49-F238E27FC236}">
                <a16:creationId xmlns:a16="http://schemas.microsoft.com/office/drawing/2014/main" id="{D3DCA997-6EE7-46B8-BF5F-24B855D39F59}"/>
              </a:ext>
            </a:extLst>
          </p:cNvPr>
          <p:cNvSpPr>
            <a:spLocks xmlns:a="http://schemas.openxmlformats.org/drawingml/2006/main" noGrp="1"/>
          </p:cNvSpPr>
          <p:nvPr/>
        </p:nvSpPr>
        <p:spPr>
          <a:xfrm xmlns:a="http://schemas.openxmlformats.org/drawingml/2006/main">
            <a:off x="10382250" y="59055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B6470"/>
                </a:solidFill>
                <a:latin typeface="Helvetica Neue"/>
                <a:ea typeface="Helvetica Neue"/>
                <a:cs typeface="Helvetica Neue"/>
              </a:defRPr>
            </a:pPr>
            <a:r>
              <a:rPr sz="1050" b="1">
                <a:solidFill>
                  <a:srgbClr val="5B6470"/>
                </a:solidFill>
                <a:latin typeface="Helvetica Neue"/>
                <a:ea typeface="Helvetica Neue"/>
                <a:cs typeface="Helvetica Neue"/>
              </a:rPr>
              <a:t>D41</a:t>
            </a:r>
          </a:p>
        </p:txBody>
      </p:sp>
      <p:sp>
        <p:nvSpPr>
          <p:cNvPr id="4" name="context-4">
            <a:extLst xmlns:a="http://schemas.openxmlformats.org/drawingml/2006/main">
              <a:ext uri="{FF2B5EF4-FFF2-40B4-BE49-F238E27FC236}">
                <a16:creationId xmlns:a16="http://schemas.microsoft.com/office/drawing/2014/main" id="{F06C85DA-9E89-4B31-8691-988B95A5E1B3}"/>
              </a:ext>
            </a:extLst>
          </p:cNvPr>
          <p:cNvSpPr>
            <a:spLocks xmlns:a="http://schemas.openxmlformats.org/drawingml/2006/main" noGrp="1"/>
          </p:cNvSpPr>
          <p:nvPr/>
        </p:nvSpPr>
        <p:spPr>
          <a:xfrm xmlns:a="http://schemas.openxmlformats.org/drawingml/2006/main">
            <a:off x="400050" y="138112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B6470"/>
                </a:solidFill>
                <a:latin typeface="Helvetica Neue"/>
                <a:ea typeface="Helvetica Neue"/>
                <a:cs typeface="Helvetica Neue"/>
              </a:defRPr>
            </a:pPr>
            <a:r>
              <a:rPr sz="1800" b="0">
                <a:solidFill>
                  <a:srgbClr val="5B6470"/>
                </a:solidFill>
                <a:latin typeface="Helvetica Neue"/>
                <a:ea typeface="Helvetica Neue"/>
                <a:cs typeface="Helvetica Neue"/>
              </a:rPr>
              <a:t>The endpoint behavior changed the admissible proof before any statistical test.</a:t>
            </a:r>
          </a:p>
        </p:txBody>
      </p:sp>
      <p:sp>
        <p:nvSpPr>
          <p:cNvPr id="5" name="stat-card-0">
            <a:extLst xmlns:a="http://schemas.openxmlformats.org/drawingml/2006/main">
              <a:ext uri="{FF2B5EF4-FFF2-40B4-BE49-F238E27FC236}">
                <a16:creationId xmlns:a16="http://schemas.microsoft.com/office/drawing/2014/main" id="{5E67F4EF-50B0-4C58-BB1C-EEFF8056F73D}"/>
              </a:ext>
            </a:extLst>
          </p:cNvPr>
          <p:cNvSpPr>
            <a:spLocks xmlns:a="http://schemas.openxmlformats.org/drawingml/2006/main" noGrp="1"/>
          </p:cNvSpPr>
          <p:nvPr/>
        </p:nvSpPr>
        <p:spPr>
          <a:xfrm xmlns:a="http://schemas.openxmlformats.org/drawingml/2006/main">
            <a:off x="400050" y="2714625"/>
            <a:ext cx="3571875" cy="3000375"/>
          </a:xfrm>
          <a:prstGeom xmlns:a="http://schemas.openxmlformats.org/drawingml/2006/main" prst="roundRect">
            <a:avLst>
              <a:gd name="adj" fmla="val 2540"/>
            </a:avLst>
          </a:prstGeom>
          <a:solidFill xmlns:a="http://schemas.openxmlformats.org/drawingml/2006/main">
            <a:srgbClr val="E8F0FF"/>
          </a:solidFill>
          <a:ln xmlns:a="http://schemas.openxmlformats.org/drawingml/2006/main" w="0">
            <a:noFill/>
            <a:prstDash val="solid"/>
          </a:ln>
        </p:spPr>
      </p:sp>
      <p:sp>
        <p:nvSpPr>
          <p:cNvPr id="6" name="stat-value-0">
            <a:extLst xmlns:a="http://schemas.openxmlformats.org/drawingml/2006/main">
              <a:ext uri="{FF2B5EF4-FFF2-40B4-BE49-F238E27FC236}">
                <a16:creationId xmlns:a16="http://schemas.microsoft.com/office/drawing/2014/main" id="{63285ADA-0B5C-4E17-B9D0-93762D32A414}"/>
              </a:ext>
            </a:extLst>
          </p:cNvPr>
          <p:cNvSpPr>
            <a:spLocks xmlns:a="http://schemas.openxmlformats.org/drawingml/2006/main" noGrp="1"/>
          </p:cNvSpPr>
          <p:nvPr/>
        </p:nvSpPr>
        <p:spPr>
          <a:xfrm xmlns:a="http://schemas.openxmlformats.org/drawingml/2006/main">
            <a:off x="685800" y="3143250"/>
            <a:ext cx="3000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5,456</a:t>
            </a:r>
          </a:p>
        </p:txBody>
      </p:sp>
      <p:sp>
        <p:nvSpPr>
          <p:cNvPr id="7" name="stat-label-0">
            <a:extLst xmlns:a="http://schemas.openxmlformats.org/drawingml/2006/main">
              <a:ext uri="{FF2B5EF4-FFF2-40B4-BE49-F238E27FC236}">
                <a16:creationId xmlns:a16="http://schemas.microsoft.com/office/drawing/2014/main" id="{C8C1A41F-730A-4811-B4A9-FCD734E4E05D}"/>
              </a:ext>
            </a:extLst>
          </p:cNvPr>
          <p:cNvSpPr>
            <a:spLocks xmlns:a="http://schemas.openxmlformats.org/drawingml/2006/main" noGrp="1"/>
          </p:cNvSpPr>
          <p:nvPr/>
        </p:nvSpPr>
        <p:spPr>
          <a:xfrm xmlns:a="http://schemas.openxmlformats.org/drawingml/2006/main">
            <a:off x="685800" y="4476750"/>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5B6470"/>
                </a:solidFill>
                <a:latin typeface="Helvetica Neue"/>
                <a:ea typeface="Helvetica Neue"/>
                <a:cs typeface="Helvetica Neue"/>
              </a:defRPr>
            </a:pPr>
            <a:r>
              <a:rPr sz="1575" b="0">
                <a:solidFill>
                  <a:srgbClr val="5B6470"/>
                </a:solidFill>
                <a:latin typeface="Helvetica Neue"/>
                <a:ea typeface="Helvetica Neue"/>
                <a:cs typeface="Helvetica Neue"/>
              </a:rPr>
              <a:t>active immutable</a:t>
            </a:r>
          </a:p>
          <a:p xmlns:a="http://schemas.openxmlformats.org/drawingml/2006/main">
            <a:pPr algn="l">
              <a:defRPr sz="1575" b="0">
                <a:solidFill>
                  <a:srgbClr val="5B6470"/>
                </a:solidFill>
                <a:latin typeface="Helvetica Neue"/>
                <a:ea typeface="Helvetica Neue"/>
                <a:cs typeface="Helvetica Neue"/>
              </a:defRPr>
            </a:pPr>
            <a:r>
              <a:rPr sz="1575" b="0">
                <a:solidFill>
                  <a:srgbClr val="5B6470"/>
                </a:solidFill>
                <a:latin typeface="Helvetica Neue"/>
                <a:ea typeface="Helvetica Neue"/>
                <a:cs typeface="Helvetica Neue"/>
              </a:rPr>
              <a:t>contract definitions</a:t>
            </a:r>
          </a:p>
        </p:txBody>
      </p:sp>
      <p:sp>
        <p:nvSpPr>
          <p:cNvPr id="8" name="stat-card-1">
            <a:extLst xmlns:a="http://schemas.openxmlformats.org/drawingml/2006/main">
              <a:ext uri="{FF2B5EF4-FFF2-40B4-BE49-F238E27FC236}">
                <a16:creationId xmlns:a16="http://schemas.microsoft.com/office/drawing/2014/main" id="{DCC5AE13-2DD1-458B-B333-CC738A8C90A0}"/>
              </a:ext>
            </a:extLst>
          </p:cNvPr>
          <p:cNvSpPr>
            <a:spLocks xmlns:a="http://schemas.openxmlformats.org/drawingml/2006/main" noGrp="1"/>
          </p:cNvSpPr>
          <p:nvPr/>
        </p:nvSpPr>
        <p:spPr>
          <a:xfrm xmlns:a="http://schemas.openxmlformats.org/drawingml/2006/main">
            <a:off x="4314825" y="2714625"/>
            <a:ext cx="3571875" cy="3000375"/>
          </a:xfrm>
          <a:prstGeom xmlns:a="http://schemas.openxmlformats.org/drawingml/2006/main" prst="roundRect">
            <a:avLst>
              <a:gd name="adj" fmla="val 2540"/>
            </a:avLst>
          </a:prstGeom>
          <a:solidFill xmlns:a="http://schemas.openxmlformats.org/drawingml/2006/main">
            <a:srgbClr val="FEF0C7"/>
          </a:solidFill>
          <a:ln xmlns:a="http://schemas.openxmlformats.org/drawingml/2006/main" w="0">
            <a:noFill/>
            <a:prstDash val="solid"/>
          </a:ln>
        </p:spPr>
      </p:sp>
      <p:sp>
        <p:nvSpPr>
          <p:cNvPr id="9" name="stat-value-1">
            <a:extLst xmlns:a="http://schemas.openxmlformats.org/drawingml/2006/main">
              <a:ext uri="{FF2B5EF4-FFF2-40B4-BE49-F238E27FC236}">
                <a16:creationId xmlns:a16="http://schemas.microsoft.com/office/drawing/2014/main" id="{3CA98C65-C450-430E-A835-A2809F93D29E}"/>
              </a:ext>
            </a:extLst>
          </p:cNvPr>
          <p:cNvSpPr>
            <a:spLocks xmlns:a="http://schemas.openxmlformats.org/drawingml/2006/main" noGrp="1"/>
          </p:cNvSpPr>
          <p:nvPr/>
        </p:nvSpPr>
        <p:spPr>
          <a:xfrm xmlns:a="http://schemas.openxmlformats.org/drawingml/2006/main">
            <a:off x="4600575" y="3143250"/>
            <a:ext cx="3000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INDICATIVE</a:t>
            </a:r>
          </a:p>
        </p:txBody>
      </p:sp>
      <p:sp>
        <p:nvSpPr>
          <p:cNvPr id="10" name="stat-label-1">
            <a:extLst xmlns:a="http://schemas.openxmlformats.org/drawingml/2006/main">
              <a:ext uri="{FF2B5EF4-FFF2-40B4-BE49-F238E27FC236}">
                <a16:creationId xmlns:a16="http://schemas.microsoft.com/office/drawing/2014/main" id="{3F1EBC84-166C-477B-A95A-76C1FAEF88CD}"/>
              </a:ext>
            </a:extLst>
          </p:cNvPr>
          <p:cNvSpPr>
            <a:spLocks xmlns:a="http://schemas.openxmlformats.org/drawingml/2006/main" noGrp="1"/>
          </p:cNvSpPr>
          <p:nvPr/>
        </p:nvSpPr>
        <p:spPr>
          <a:xfrm xmlns:a="http://schemas.openxmlformats.org/drawingml/2006/main">
            <a:off x="4600575" y="4476750"/>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5B6470"/>
                </a:solidFill>
                <a:latin typeface="Helvetica Neue"/>
                <a:ea typeface="Helvetica Neue"/>
                <a:cs typeface="Helvetica Neue"/>
              </a:defRPr>
            </a:pPr>
            <a:r>
              <a:rPr sz="1575" b="0">
                <a:solidFill>
                  <a:srgbClr val="5B6470"/>
                </a:solidFill>
                <a:latin typeface="Helvetica Neue"/>
                <a:ea typeface="Helvetica Neue"/>
                <a:cs typeface="Helvetica Neue"/>
              </a:rPr>
              <a:t>feed authorized</a:t>
            </a:r>
          </a:p>
          <a:p xmlns:a="http://schemas.openxmlformats.org/drawingml/2006/main">
            <a:pPr algn="l">
              <a:defRPr sz="1575" b="0">
                <a:solidFill>
                  <a:srgbClr val="5B6470"/>
                </a:solidFill>
                <a:latin typeface="Helvetica Neue"/>
                <a:ea typeface="Helvetica Neue"/>
                <a:cs typeface="Helvetica Neue"/>
              </a:defRPr>
            </a:pPr>
            <a:r>
              <a:rPr sz="1575" b="0">
                <a:solidFill>
                  <a:srgbClr val="5B6470"/>
                </a:solidFill>
                <a:latin typeface="Helvetica Neue"/>
                <a:ea typeface="Helvetica Neue"/>
                <a:cs typeface="Helvetica Neue"/>
              </a:rPr>
              <a:t>OPRA returned 403</a:t>
            </a:r>
          </a:p>
        </p:txBody>
      </p:sp>
      <p:sp>
        <p:nvSpPr>
          <p:cNvPr id="11" name="stat-card-2">
            <a:extLst xmlns:a="http://schemas.openxmlformats.org/drawingml/2006/main">
              <a:ext uri="{FF2B5EF4-FFF2-40B4-BE49-F238E27FC236}">
                <a16:creationId xmlns:a16="http://schemas.microsoft.com/office/drawing/2014/main" id="{C00FCA7F-753A-410C-AB5F-0280E177AC45}"/>
              </a:ext>
            </a:extLst>
          </p:cNvPr>
          <p:cNvSpPr>
            <a:spLocks xmlns:a="http://schemas.openxmlformats.org/drawingml/2006/main" noGrp="1"/>
          </p:cNvSpPr>
          <p:nvPr/>
        </p:nvSpPr>
        <p:spPr>
          <a:xfrm xmlns:a="http://schemas.openxmlformats.org/drawingml/2006/main">
            <a:off x="8229600" y="2714625"/>
            <a:ext cx="3571875" cy="3000375"/>
          </a:xfrm>
          <a:prstGeom xmlns:a="http://schemas.openxmlformats.org/drawingml/2006/main" prst="roundRect">
            <a:avLst>
              <a:gd name="adj" fmla="val 2540"/>
            </a:avLst>
          </a:prstGeom>
          <a:solidFill xmlns:a="http://schemas.openxmlformats.org/drawingml/2006/main">
            <a:srgbClr val="DDF4EE"/>
          </a:solidFill>
          <a:ln xmlns:a="http://schemas.openxmlformats.org/drawingml/2006/main" w="0">
            <a:noFill/>
            <a:prstDash val="solid"/>
          </a:ln>
        </p:spPr>
      </p:sp>
      <p:sp>
        <p:nvSpPr>
          <p:cNvPr id="12" name="stat-value-2">
            <a:extLst xmlns:a="http://schemas.openxmlformats.org/drawingml/2006/main">
              <a:ext uri="{FF2B5EF4-FFF2-40B4-BE49-F238E27FC236}">
                <a16:creationId xmlns:a16="http://schemas.microsoft.com/office/drawing/2014/main" id="{C2A22151-7A9B-4414-AE96-CC29FEF099DC}"/>
              </a:ext>
            </a:extLst>
          </p:cNvPr>
          <p:cNvSpPr>
            <a:spLocks xmlns:a="http://schemas.openxmlformats.org/drawingml/2006/main" noGrp="1"/>
          </p:cNvSpPr>
          <p:nvPr/>
        </p:nvSpPr>
        <p:spPr>
          <a:xfrm xmlns:a="http://schemas.openxmlformats.org/drawingml/2006/main">
            <a:off x="8515350" y="3143250"/>
            <a:ext cx="3000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5 SESSIONS</a:t>
            </a:r>
          </a:p>
        </p:txBody>
      </p:sp>
      <p:sp>
        <p:nvSpPr>
          <p:cNvPr id="13" name="stat-label-2">
            <a:extLst xmlns:a="http://schemas.openxmlformats.org/drawingml/2006/main">
              <a:ext uri="{FF2B5EF4-FFF2-40B4-BE49-F238E27FC236}">
                <a16:creationId xmlns:a16="http://schemas.microsoft.com/office/drawing/2014/main" id="{E6D66615-CF40-4D28-A9A8-A1C7C33753B5}"/>
              </a:ext>
            </a:extLst>
          </p:cNvPr>
          <p:cNvSpPr>
            <a:spLocks xmlns:a="http://schemas.openxmlformats.org/drawingml/2006/main" noGrp="1"/>
          </p:cNvSpPr>
          <p:nvPr/>
        </p:nvSpPr>
        <p:spPr>
          <a:xfrm xmlns:a="http://schemas.openxmlformats.org/drawingml/2006/main">
            <a:off x="8515350" y="4476750"/>
            <a:ext cx="3000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5B6470"/>
                </a:solidFill>
                <a:latin typeface="Helvetica Neue"/>
                <a:ea typeface="Helvetica Neue"/>
                <a:cs typeface="Helvetica Neue"/>
              </a:defRPr>
            </a:pPr>
            <a:r>
              <a:rPr sz="1575" b="0">
                <a:solidFill>
                  <a:srgbClr val="5B6470"/>
                </a:solidFill>
                <a:latin typeface="Helvetica Neue"/>
                <a:ea typeface="Helvetica Neue"/>
                <a:cs typeface="Helvetica Neue"/>
              </a:rPr>
              <a:t>July 20–24, 2026</a:t>
            </a:r>
          </a:p>
          <a:p xmlns:a="http://schemas.openxmlformats.org/drawingml/2006/main">
            <a:pPr algn="l">
              <a:defRPr sz="1575" b="0">
                <a:solidFill>
                  <a:srgbClr val="5B6470"/>
                </a:solidFill>
                <a:latin typeface="Helvetica Neue"/>
                <a:ea typeface="Helvetica Neue"/>
                <a:cs typeface="Helvetica Neue"/>
              </a:defRPr>
            </a:pPr>
            <a:r>
              <a:rPr sz="1575" b="0">
                <a:solidFill>
                  <a:srgbClr val="5B6470"/>
                </a:solidFill>
                <a:latin typeface="Helvetica Neue"/>
                <a:ea typeface="Helvetica Neue"/>
                <a:cs typeface="Helvetica Neue"/>
              </a:rPr>
              <a:t>no expired-catalog claim</a:t>
            </a:r>
          </a:p>
        </p:txBody>
      </p:sp>
    </p:spTree>
    <p:extLst>
      <p:ext uri="{BB962C8B-B14F-4D97-AF65-F5344CB8AC3E}">
        <p14:creationId xmlns:p14="http://schemas.microsoft.com/office/powerpoint/2010/main" val="17584568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5">
            <a:extLst xmlns:a="http://schemas.openxmlformats.org/drawingml/2006/main">
              <a:ext uri="{FF2B5EF4-FFF2-40B4-BE49-F238E27FC236}">
                <a16:creationId xmlns:a16="http://schemas.microsoft.com/office/drawing/2014/main" id="{FB5114D2-C049-408B-9930-E848DDAB7A16}"/>
              </a:ext>
            </a:extLst>
          </p:cNvPr>
          <p:cNvSpPr>
            <a:spLocks xmlns:a="http://schemas.openxmlformats.org/drawingml/2006/main" noGrp="1"/>
          </p:cNvSpPr>
          <p:nvPr/>
        </p:nvSpPr>
        <p:spPr>
          <a:xfrm xmlns:a="http://schemas.openxmlformats.org/drawingml/2006/main">
            <a:off x="400050" y="323850"/>
            <a:ext cx="1104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11111"/>
                </a:solidFill>
                <a:latin typeface="Helvetica Neue"/>
                <a:ea typeface="Helvetica Neue"/>
                <a:cs typeface="Helvetica Neue"/>
              </a:defRPr>
            </a:pPr>
            <a:r>
              <a:rPr sz="2925" b="1">
                <a:solidFill>
                  <a:srgbClr val="111111"/>
                </a:solidFill>
                <a:latin typeface="Helvetica Neue"/>
                <a:ea typeface="Helvetica Neue"/>
                <a:cs typeface="Helvetica Neue"/>
              </a:rPr>
              <a:t>Matched-pair coverage failed for QQQ and IWM</a:t>
            </a:r>
          </a:p>
        </p:txBody>
      </p:sp>
      <p:sp>
        <p:nvSpPr>
          <p:cNvPr id="2" name="number-5">
            <a:extLst xmlns:a="http://schemas.openxmlformats.org/drawingml/2006/main">
              <a:ext uri="{FF2B5EF4-FFF2-40B4-BE49-F238E27FC236}">
                <a16:creationId xmlns:a16="http://schemas.microsoft.com/office/drawing/2014/main" id="{E652D0BE-DA35-41ED-8D32-16CB464279E6}"/>
              </a:ext>
            </a:extLst>
          </p:cNvPr>
          <p:cNvSpPr>
            <a:spLocks xmlns:a="http://schemas.openxmlformats.org/drawingml/2006/main" noGrp="1"/>
          </p:cNvSpPr>
          <p:nvPr/>
        </p:nvSpPr>
        <p:spPr>
          <a:xfrm xmlns:a="http://schemas.openxmlformats.org/drawingml/2006/main">
            <a:off x="11239500" y="6286500"/>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92308"/>
          </a:bodyPr>
          <a:lstStyle xmlns:a="http://schemas.openxmlformats.org/drawingml/2006/main"/>
          <a:p xmlns:a="http://schemas.openxmlformats.org/drawingml/2006/main">
            <a:pPr algn="r">
              <a:defRPr sz="975" b="0">
                <a:solidFill>
                  <a:srgbClr val="5B6470"/>
                </a:solidFill>
                <a:latin typeface="Helvetica Neue"/>
                <a:ea typeface="Helvetica Neue"/>
                <a:cs typeface="Helvetica Neue"/>
              </a:defRPr>
            </a:pPr>
            <a:r>
              <a:rPr sz="975" b="0">
                <a:solidFill>
                  <a:srgbClr val="5B6470"/>
                </a:solidFill>
                <a:latin typeface="Helvetica Neue"/>
                <a:ea typeface="Helvetica Neue"/>
                <a:cs typeface="Helvetica Neue"/>
              </a:rPr>
              <a:t>5</a:t>
            </a:r>
          </a:p>
        </p:txBody>
      </p:sp>
      <p:sp>
        <p:nvSpPr>
          <p:cNvPr id="3" name="decision-5">
            <a:extLst xmlns:a="http://schemas.openxmlformats.org/drawingml/2006/main">
              <a:ext uri="{FF2B5EF4-FFF2-40B4-BE49-F238E27FC236}">
                <a16:creationId xmlns:a16="http://schemas.microsoft.com/office/drawing/2014/main" id="{A067A7F9-6ED2-4940-A5DA-E8EC35E83DAF}"/>
              </a:ext>
            </a:extLst>
          </p:cNvPr>
          <p:cNvSpPr>
            <a:spLocks xmlns:a="http://schemas.openxmlformats.org/drawingml/2006/main" noGrp="1"/>
          </p:cNvSpPr>
          <p:nvPr/>
        </p:nvSpPr>
        <p:spPr>
          <a:xfrm xmlns:a="http://schemas.openxmlformats.org/drawingml/2006/main">
            <a:off x="10382250" y="59055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B6470"/>
                </a:solidFill>
                <a:latin typeface="Helvetica Neue"/>
                <a:ea typeface="Helvetica Neue"/>
                <a:cs typeface="Helvetica Neue"/>
              </a:defRPr>
            </a:pPr>
            <a:r>
              <a:rPr sz="1050" b="1">
                <a:solidFill>
                  <a:srgbClr val="5B6470"/>
                </a:solidFill>
                <a:latin typeface="Helvetica Neue"/>
                <a:ea typeface="Helvetica Neue"/>
                <a:cs typeface="Helvetica Neue"/>
              </a:rPr>
              <a:t>D42</a:t>
            </a:r>
          </a:p>
        </p:txBody>
      </p:sp>
      <p:sp>
        <p:nvSpPr>
          <p:cNvPr id="4" name="coverage-frame">
            <a:extLst xmlns:a="http://schemas.openxmlformats.org/drawingml/2006/main">
              <a:ext uri="{FF2B5EF4-FFF2-40B4-BE49-F238E27FC236}">
                <a16:creationId xmlns:a16="http://schemas.microsoft.com/office/drawing/2014/main" id="{7025C573-61E9-4D71-BD00-72B3F32A81E5}"/>
              </a:ext>
            </a:extLst>
          </p:cNvPr>
          <p:cNvSpPr>
            <a:spLocks xmlns:a="http://schemas.openxmlformats.org/drawingml/2006/main" noGrp="1"/>
          </p:cNvSpPr>
          <p:nvPr/>
        </p:nvSpPr>
        <p:spPr>
          <a:xfrm xmlns:a="http://schemas.openxmlformats.org/drawingml/2006/main">
            <a:off x="5476875" y="1381125"/>
            <a:ext cx="6334125" cy="4476750"/>
          </a:xfrm>
          <a:prstGeom xmlns:a="http://schemas.openxmlformats.org/drawingml/2006/main" prst="roundRect">
            <a:avLst>
              <a:gd name="adj" fmla="val 1702"/>
            </a:avLst>
          </a:prstGeom>
          <a:solidFill xmlns:a="http://schemas.openxmlformats.org/drawingml/2006/main">
            <a:srgbClr val="FFFFFF"/>
          </a:solidFill>
          <a:ln xmlns:a="http://schemas.openxmlformats.org/drawingml/2006/main" w="9525">
            <a:solidFill>
              <a:srgbClr val="D7DBE0"/>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a75b8ee11834c5f"/>
          <a:stretch xmlns:a="http://schemas.openxmlformats.org/drawingml/2006/main"/>
        </p:blipFill>
        <p:spPr>
          <a:xfrm xmlns:a="http://schemas.openxmlformats.org/drawingml/2006/main">
            <a:off x="5619750" y="2208213"/>
            <a:ext cx="6048375" cy="2822575"/>
          </a:xfrm>
          <a:prstGeom xmlns:a="http://schemas.openxmlformats.org/drawingml/2006/main" prst="rect">
            <a:avLst/>
          </a:prstGeom>
        </p:spPr>
      </p:pic>
      <p:sp>
        <p:nvSpPr>
          <p:cNvPr id="6" name="cov-symbol-0">
            <a:extLst xmlns:a="http://schemas.openxmlformats.org/drawingml/2006/main">
              <a:ext uri="{FF2B5EF4-FFF2-40B4-BE49-F238E27FC236}">
                <a16:creationId xmlns:a16="http://schemas.microsoft.com/office/drawing/2014/main" id="{C580440A-6862-4647-A9D4-7F51A6DB15C7}"/>
              </a:ext>
            </a:extLst>
          </p:cNvPr>
          <p:cNvSpPr>
            <a:spLocks xmlns:a="http://schemas.openxmlformats.org/drawingml/2006/main" noGrp="1"/>
          </p:cNvSpPr>
          <p:nvPr/>
        </p:nvSpPr>
        <p:spPr>
          <a:xfrm xmlns:a="http://schemas.openxmlformats.org/drawingml/2006/main">
            <a:off x="400050" y="195262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SPY</a:t>
            </a:r>
          </a:p>
        </p:txBody>
      </p:sp>
      <p:sp>
        <p:nvSpPr>
          <p:cNvPr id="7" name="cov-count-0">
            <a:extLst xmlns:a="http://schemas.openxmlformats.org/drawingml/2006/main">
              <a:ext uri="{FF2B5EF4-FFF2-40B4-BE49-F238E27FC236}">
                <a16:creationId xmlns:a16="http://schemas.microsoft.com/office/drawing/2014/main" id="{3FE6971B-1F04-460D-9A0D-C0713D633D00}"/>
              </a:ext>
            </a:extLst>
          </p:cNvPr>
          <p:cNvSpPr>
            <a:spLocks xmlns:a="http://schemas.openxmlformats.org/drawingml/2006/main" noGrp="1"/>
          </p:cNvSpPr>
          <p:nvPr/>
        </p:nvSpPr>
        <p:spPr>
          <a:xfrm xmlns:a="http://schemas.openxmlformats.org/drawingml/2006/main">
            <a:off x="1571625" y="1952625"/>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5 / 5</a:t>
            </a:r>
          </a:p>
        </p:txBody>
      </p:sp>
      <p:sp>
        <p:nvSpPr>
          <p:cNvPr id="8" name="cov-status-0">
            <a:extLst xmlns:a="http://schemas.openxmlformats.org/drawingml/2006/main">
              <a:ext uri="{FF2B5EF4-FFF2-40B4-BE49-F238E27FC236}">
                <a16:creationId xmlns:a16="http://schemas.microsoft.com/office/drawing/2014/main" id="{2A8B6456-F3C3-424F-AF76-3B06CCA5F898}"/>
              </a:ext>
            </a:extLst>
          </p:cNvPr>
          <p:cNvSpPr>
            <a:spLocks xmlns:a="http://schemas.openxmlformats.org/drawingml/2006/main" noGrp="1"/>
          </p:cNvSpPr>
          <p:nvPr/>
        </p:nvSpPr>
        <p:spPr>
          <a:xfrm xmlns:a="http://schemas.openxmlformats.org/drawingml/2006/main">
            <a:off x="3095625" y="19526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0F766E"/>
                </a:solidFill>
                <a:latin typeface="Helvetica Neue"/>
                <a:ea typeface="Helvetica Neue"/>
                <a:cs typeface="Helvetica Neue"/>
              </a:defRPr>
            </a:pPr>
            <a:r>
              <a:rPr sz="1650" b="1">
                <a:solidFill>
                  <a:srgbClr val="0F766E"/>
                </a:solidFill>
                <a:latin typeface="Helvetica Neue"/>
                <a:ea typeface="Helvetica Neue"/>
                <a:cs typeface="Helvetica Neue"/>
              </a:rPr>
              <a:t>PASS</a:t>
            </a:r>
          </a:p>
        </p:txBody>
      </p:sp>
      <p:sp>
        <p:nvSpPr>
          <p:cNvPr id="9" name="cov-symbol-1">
            <a:extLst xmlns:a="http://schemas.openxmlformats.org/drawingml/2006/main">
              <a:ext uri="{FF2B5EF4-FFF2-40B4-BE49-F238E27FC236}">
                <a16:creationId xmlns:a16="http://schemas.microsoft.com/office/drawing/2014/main" id="{1FCC8E2B-6FEA-4066-B233-E3306BDAD92D}"/>
              </a:ext>
            </a:extLst>
          </p:cNvPr>
          <p:cNvSpPr>
            <a:spLocks xmlns:a="http://schemas.openxmlformats.org/drawingml/2006/main" noGrp="1"/>
          </p:cNvSpPr>
          <p:nvPr/>
        </p:nvSpPr>
        <p:spPr>
          <a:xfrm xmlns:a="http://schemas.openxmlformats.org/drawingml/2006/main">
            <a:off x="400050" y="30480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QQQ</a:t>
            </a:r>
          </a:p>
        </p:txBody>
      </p:sp>
      <p:sp>
        <p:nvSpPr>
          <p:cNvPr id="10" name="cov-count-1">
            <a:extLst xmlns:a="http://schemas.openxmlformats.org/drawingml/2006/main">
              <a:ext uri="{FF2B5EF4-FFF2-40B4-BE49-F238E27FC236}">
                <a16:creationId xmlns:a16="http://schemas.microsoft.com/office/drawing/2014/main" id="{4FD8DA16-B7B9-4CD7-8335-4BA15AEFC9E7}"/>
              </a:ext>
            </a:extLst>
          </p:cNvPr>
          <p:cNvSpPr>
            <a:spLocks xmlns:a="http://schemas.openxmlformats.org/drawingml/2006/main" noGrp="1"/>
          </p:cNvSpPr>
          <p:nvPr/>
        </p:nvSpPr>
        <p:spPr>
          <a:xfrm xmlns:a="http://schemas.openxmlformats.org/drawingml/2006/main">
            <a:off x="1571625" y="30480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4 / 5</a:t>
            </a:r>
          </a:p>
        </p:txBody>
      </p:sp>
      <p:sp>
        <p:nvSpPr>
          <p:cNvPr id="11" name="cov-status-1">
            <a:extLst xmlns:a="http://schemas.openxmlformats.org/drawingml/2006/main">
              <a:ext uri="{FF2B5EF4-FFF2-40B4-BE49-F238E27FC236}">
                <a16:creationId xmlns:a16="http://schemas.microsoft.com/office/drawing/2014/main" id="{D4544A1E-36F6-431E-B77C-DF973E7D20AC}"/>
              </a:ext>
            </a:extLst>
          </p:cNvPr>
          <p:cNvSpPr>
            <a:spLocks xmlns:a="http://schemas.openxmlformats.org/drawingml/2006/main" noGrp="1"/>
          </p:cNvSpPr>
          <p:nvPr/>
        </p:nvSpPr>
        <p:spPr>
          <a:xfrm xmlns:a="http://schemas.openxmlformats.org/drawingml/2006/main">
            <a:off x="3095625" y="30480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B42318"/>
                </a:solidFill>
                <a:latin typeface="Helvetica Neue"/>
                <a:ea typeface="Helvetica Neue"/>
                <a:cs typeface="Helvetica Neue"/>
              </a:defRPr>
            </a:pPr>
            <a:r>
              <a:rPr sz="1650" b="1">
                <a:solidFill>
                  <a:srgbClr val="B42318"/>
                </a:solidFill>
                <a:latin typeface="Helvetica Neue"/>
                <a:ea typeface="Helvetica Neue"/>
                <a:cs typeface="Helvetica Neue"/>
              </a:rPr>
              <a:t>STOP</a:t>
            </a:r>
          </a:p>
        </p:txBody>
      </p:sp>
      <p:sp>
        <p:nvSpPr>
          <p:cNvPr id="12" name="cov-symbol-2">
            <a:extLst xmlns:a="http://schemas.openxmlformats.org/drawingml/2006/main">
              <a:ext uri="{FF2B5EF4-FFF2-40B4-BE49-F238E27FC236}">
                <a16:creationId xmlns:a16="http://schemas.microsoft.com/office/drawing/2014/main" id="{4F48E096-CC82-43A0-9544-AD5603127F3B}"/>
              </a:ext>
            </a:extLst>
          </p:cNvPr>
          <p:cNvSpPr>
            <a:spLocks xmlns:a="http://schemas.openxmlformats.org/drawingml/2006/main" noGrp="1"/>
          </p:cNvSpPr>
          <p:nvPr/>
        </p:nvSpPr>
        <p:spPr>
          <a:xfrm xmlns:a="http://schemas.openxmlformats.org/drawingml/2006/main">
            <a:off x="400050" y="414337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IWM</a:t>
            </a:r>
          </a:p>
        </p:txBody>
      </p:sp>
      <p:sp>
        <p:nvSpPr>
          <p:cNvPr id="13" name="cov-count-2">
            <a:extLst xmlns:a="http://schemas.openxmlformats.org/drawingml/2006/main">
              <a:ext uri="{FF2B5EF4-FFF2-40B4-BE49-F238E27FC236}">
                <a16:creationId xmlns:a16="http://schemas.microsoft.com/office/drawing/2014/main" id="{C9D70C92-E517-42E9-9ADB-648E50AD7C64}"/>
              </a:ext>
            </a:extLst>
          </p:cNvPr>
          <p:cNvSpPr>
            <a:spLocks xmlns:a="http://schemas.openxmlformats.org/drawingml/2006/main" noGrp="1"/>
          </p:cNvSpPr>
          <p:nvPr/>
        </p:nvSpPr>
        <p:spPr>
          <a:xfrm xmlns:a="http://schemas.openxmlformats.org/drawingml/2006/main">
            <a:off x="1571625" y="4143375"/>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3 / 5</a:t>
            </a:r>
          </a:p>
        </p:txBody>
      </p:sp>
      <p:sp>
        <p:nvSpPr>
          <p:cNvPr id="14" name="cov-status-2">
            <a:extLst xmlns:a="http://schemas.openxmlformats.org/drawingml/2006/main">
              <a:ext uri="{FF2B5EF4-FFF2-40B4-BE49-F238E27FC236}">
                <a16:creationId xmlns:a16="http://schemas.microsoft.com/office/drawing/2014/main" id="{96D851CE-E129-46DC-81D9-99A95EA8B81D}"/>
              </a:ext>
            </a:extLst>
          </p:cNvPr>
          <p:cNvSpPr>
            <a:spLocks xmlns:a="http://schemas.openxmlformats.org/drawingml/2006/main" noGrp="1"/>
          </p:cNvSpPr>
          <p:nvPr/>
        </p:nvSpPr>
        <p:spPr>
          <a:xfrm xmlns:a="http://schemas.openxmlformats.org/drawingml/2006/main">
            <a:off x="3095625" y="414337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B42318"/>
                </a:solidFill>
                <a:latin typeface="Helvetica Neue"/>
                <a:ea typeface="Helvetica Neue"/>
                <a:cs typeface="Helvetica Neue"/>
              </a:defRPr>
            </a:pPr>
            <a:r>
              <a:rPr sz="1650" b="1">
                <a:solidFill>
                  <a:srgbClr val="B42318"/>
                </a:solidFill>
                <a:latin typeface="Helvetica Neue"/>
                <a:ea typeface="Helvetica Neue"/>
                <a:cs typeface="Helvetica Neue"/>
              </a:rPr>
              <a:t>STOP</a:t>
            </a:r>
          </a:p>
        </p:txBody>
      </p:sp>
      <p:sp>
        <p:nvSpPr>
          <p:cNvPr id="15" name="cause-5">
            <a:extLst xmlns:a="http://schemas.openxmlformats.org/drawingml/2006/main">
              <a:ext uri="{FF2B5EF4-FFF2-40B4-BE49-F238E27FC236}">
                <a16:creationId xmlns:a16="http://schemas.microsoft.com/office/drawing/2014/main" id="{957D1EE2-CAB6-427B-AFB2-0CD378C5765D}"/>
              </a:ext>
            </a:extLst>
          </p:cNvPr>
          <p:cNvSpPr>
            <a:spLocks xmlns:a="http://schemas.openxmlformats.org/drawingml/2006/main" noGrp="1"/>
          </p:cNvSpPr>
          <p:nvPr/>
        </p:nvSpPr>
        <p:spPr>
          <a:xfrm xmlns:a="http://schemas.openxmlformats.org/drawingml/2006/main">
            <a:off x="400050" y="5334000"/>
            <a:ext cx="4524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defRPr sz="1575" b="0">
                <a:solidFill>
                  <a:srgbClr val="5B6470"/>
                </a:solidFill>
                <a:latin typeface="Helvetica Neue"/>
                <a:ea typeface="Helvetica Neue"/>
                <a:cs typeface="Helvetica Neue"/>
              </a:defRPr>
            </a:pPr>
            <a:r>
              <a:rPr sz="1575" b="0">
                <a:solidFill>
                  <a:srgbClr val="5B6470"/>
                </a:solidFill>
                <a:latin typeface="Helvetica Neue"/>
                <a:ea typeface="Helvetica Neue"/>
                <a:cs typeface="Helvetica Neue"/>
              </a:rPr>
              <a:t>Missing final bars—not contract matching—caused the stop.</a:t>
            </a:r>
          </a:p>
        </p:txBody>
      </p:sp>
    </p:spTree>
    <p:extLst>
      <p:ext uri="{BB962C8B-B14F-4D97-AF65-F5344CB8AC3E}">
        <p14:creationId xmlns:p14="http://schemas.microsoft.com/office/powerpoint/2010/main" val="7291247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6">
            <a:extLst xmlns:a="http://schemas.openxmlformats.org/drawingml/2006/main">
              <a:ext uri="{FF2B5EF4-FFF2-40B4-BE49-F238E27FC236}">
                <a16:creationId xmlns:a16="http://schemas.microsoft.com/office/drawing/2014/main" id="{7A6D07B5-1221-44AD-8A1A-A358623B9EF2}"/>
              </a:ext>
            </a:extLst>
          </p:cNvPr>
          <p:cNvSpPr>
            <a:spLocks xmlns:a="http://schemas.openxmlformats.org/drawingml/2006/main" noGrp="1"/>
          </p:cNvSpPr>
          <p:nvPr/>
        </p:nvSpPr>
        <p:spPr>
          <a:xfrm xmlns:a="http://schemas.openxmlformats.org/drawingml/2006/main">
            <a:off x="400050" y="323850"/>
            <a:ext cx="1104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11111"/>
                </a:solidFill>
                <a:latin typeface="Helvetica Neue"/>
                <a:ea typeface="Helvetica Neue"/>
                <a:cs typeface="Helvetica Neue"/>
              </a:defRPr>
            </a:pPr>
            <a:r>
              <a:rPr sz="2925" b="1">
                <a:solidFill>
                  <a:srgbClr val="111111"/>
                </a:solidFill>
                <a:latin typeface="Helvetica Neue"/>
                <a:ea typeface="Helvetica Neue"/>
                <a:cs typeface="Helvetica Neue"/>
              </a:rPr>
              <a:t>The constructed values look coherent where both legs exist</a:t>
            </a:r>
          </a:p>
        </p:txBody>
      </p:sp>
      <p:sp>
        <p:nvSpPr>
          <p:cNvPr id="2" name="number-6">
            <a:extLst xmlns:a="http://schemas.openxmlformats.org/drawingml/2006/main">
              <a:ext uri="{FF2B5EF4-FFF2-40B4-BE49-F238E27FC236}">
                <a16:creationId xmlns:a16="http://schemas.microsoft.com/office/drawing/2014/main" id="{AF298979-043C-47BD-BF10-6683151606E8}"/>
              </a:ext>
            </a:extLst>
          </p:cNvPr>
          <p:cNvSpPr>
            <a:spLocks xmlns:a="http://schemas.openxmlformats.org/drawingml/2006/main" noGrp="1"/>
          </p:cNvSpPr>
          <p:nvPr/>
        </p:nvSpPr>
        <p:spPr>
          <a:xfrm xmlns:a="http://schemas.openxmlformats.org/drawingml/2006/main">
            <a:off x="11239500" y="6286500"/>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92308"/>
          </a:bodyPr>
          <a:lstStyle xmlns:a="http://schemas.openxmlformats.org/drawingml/2006/main"/>
          <a:p xmlns:a="http://schemas.openxmlformats.org/drawingml/2006/main">
            <a:pPr algn="r">
              <a:defRPr sz="975" b="0">
                <a:solidFill>
                  <a:srgbClr val="5B6470"/>
                </a:solidFill>
                <a:latin typeface="Helvetica Neue"/>
                <a:ea typeface="Helvetica Neue"/>
                <a:cs typeface="Helvetica Neue"/>
              </a:defRPr>
            </a:pPr>
            <a:r>
              <a:rPr sz="975" b="0">
                <a:solidFill>
                  <a:srgbClr val="5B6470"/>
                </a:solidFill>
                <a:latin typeface="Helvetica Neue"/>
                <a:ea typeface="Helvetica Neue"/>
                <a:cs typeface="Helvetica Neue"/>
              </a:rPr>
              <a:t>6</a:t>
            </a:r>
          </a:p>
        </p:txBody>
      </p:sp>
      <p:sp>
        <p:nvSpPr>
          <p:cNvPr id="3" name="decision-6">
            <a:extLst xmlns:a="http://schemas.openxmlformats.org/drawingml/2006/main">
              <a:ext uri="{FF2B5EF4-FFF2-40B4-BE49-F238E27FC236}">
                <a16:creationId xmlns:a16="http://schemas.microsoft.com/office/drawing/2014/main" id="{2C113E48-0CC3-4DB5-AF25-796701C73DB8}"/>
              </a:ext>
            </a:extLst>
          </p:cNvPr>
          <p:cNvSpPr>
            <a:spLocks xmlns:a="http://schemas.openxmlformats.org/drawingml/2006/main" noGrp="1"/>
          </p:cNvSpPr>
          <p:nvPr/>
        </p:nvSpPr>
        <p:spPr>
          <a:xfrm xmlns:a="http://schemas.openxmlformats.org/drawingml/2006/main">
            <a:off x="10382250" y="59055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B6470"/>
                </a:solidFill>
                <a:latin typeface="Helvetica Neue"/>
                <a:ea typeface="Helvetica Neue"/>
                <a:cs typeface="Helvetica Neue"/>
              </a:defRPr>
            </a:pPr>
            <a:r>
              <a:rPr sz="1050" b="1">
                <a:solidFill>
                  <a:srgbClr val="5B6470"/>
                </a:solidFill>
                <a:latin typeface="Helvetica Neue"/>
                <a:ea typeface="Helvetica Neue"/>
                <a:cs typeface="Helvetica Neue"/>
              </a:rPr>
              <a:t>D42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8eca5f87cfb4e0e"/>
          <a:stretch xmlns:a="http://schemas.openxmlformats.org/drawingml/2006/main"/>
        </p:blipFill>
        <p:spPr>
          <a:xfrm xmlns:a="http://schemas.openxmlformats.org/drawingml/2006/main">
            <a:off x="400050" y="1291167"/>
            <a:ext cx="8382000" cy="4656667"/>
          </a:xfrm>
          <a:prstGeom xmlns:a="http://schemas.openxmlformats.org/drawingml/2006/main" prst="rect">
            <a:avLst/>
          </a:prstGeom>
        </p:spPr>
      </p:pic>
      <p:sp>
        <p:nvSpPr>
          <p:cNvPr id="5" name="teaching-card-6">
            <a:extLst xmlns:a="http://schemas.openxmlformats.org/drawingml/2006/main">
              <a:ext uri="{FF2B5EF4-FFF2-40B4-BE49-F238E27FC236}">
                <a16:creationId xmlns:a16="http://schemas.microsoft.com/office/drawing/2014/main" id="{08BFE6FF-99B7-43A6-B27C-262CEBB3DFB3}"/>
              </a:ext>
            </a:extLst>
          </p:cNvPr>
          <p:cNvSpPr>
            <a:spLocks xmlns:a="http://schemas.openxmlformats.org/drawingml/2006/main" noGrp="1"/>
          </p:cNvSpPr>
          <p:nvPr/>
        </p:nvSpPr>
        <p:spPr>
          <a:xfrm xmlns:a="http://schemas.openxmlformats.org/drawingml/2006/main">
            <a:off x="9096375" y="1695450"/>
            <a:ext cx="2714625" cy="3619500"/>
          </a:xfrm>
          <a:prstGeom xmlns:a="http://schemas.openxmlformats.org/drawingml/2006/main" prst="roundRect">
            <a:avLst>
              <a:gd name="adj" fmla="val 2807"/>
            </a:avLst>
          </a:prstGeom>
          <a:solidFill xmlns:a="http://schemas.openxmlformats.org/drawingml/2006/main">
            <a:srgbClr val="F2F2F2"/>
          </a:solidFill>
          <a:ln xmlns:a="http://schemas.openxmlformats.org/drawingml/2006/main" w="0">
            <a:noFill/>
            <a:prstDash val="solid"/>
          </a:ln>
        </p:spPr>
      </p:sp>
      <p:sp>
        <p:nvSpPr>
          <p:cNvPr id="6" name="teaching-head-6">
            <a:extLst xmlns:a="http://schemas.openxmlformats.org/drawingml/2006/main">
              <a:ext uri="{FF2B5EF4-FFF2-40B4-BE49-F238E27FC236}">
                <a16:creationId xmlns:a16="http://schemas.microsoft.com/office/drawing/2014/main" id="{CDA3A703-1015-43DB-A27B-7B7EE9BC4615}"/>
              </a:ext>
            </a:extLst>
          </p:cNvPr>
          <p:cNvSpPr>
            <a:spLocks xmlns:a="http://schemas.openxmlformats.org/drawingml/2006/main" noGrp="1"/>
          </p:cNvSpPr>
          <p:nvPr/>
        </p:nvSpPr>
        <p:spPr>
          <a:xfrm xmlns:a="http://schemas.openxmlformats.org/drawingml/2006/main">
            <a:off x="9382125" y="2047875"/>
            <a:ext cx="2143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Teaching point</a:t>
            </a:r>
          </a:p>
        </p:txBody>
      </p:sp>
      <p:sp>
        <p:nvSpPr>
          <p:cNvPr id="7" name="teaching-body-6">
            <a:extLst xmlns:a="http://schemas.openxmlformats.org/drawingml/2006/main">
              <a:ext uri="{FF2B5EF4-FFF2-40B4-BE49-F238E27FC236}">
                <a16:creationId xmlns:a16="http://schemas.microsoft.com/office/drawing/2014/main" id="{061932F9-4B35-415D-9306-9E8500D935A6}"/>
              </a:ext>
            </a:extLst>
          </p:cNvPr>
          <p:cNvSpPr>
            <a:spLocks xmlns:a="http://schemas.openxmlformats.org/drawingml/2006/main" noGrp="1"/>
          </p:cNvSpPr>
          <p:nvPr/>
        </p:nvSpPr>
        <p:spPr>
          <a:xfrm xmlns:a="http://schemas.openxmlformats.org/drawingml/2006/main">
            <a:off x="9382125" y="2809875"/>
            <a:ext cx="21431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30"/>
          </a:bodyPr>
          <a:lstStyle xmlns:a="http://schemas.openxmlformats.org/drawingml/2006/main"/>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A plausible-looking line is not enough.</a:t>
            </a:r>
          </a:p>
          <a:p xmlns:a="http://schemas.openxmlformats.org/drawingml/2006/main">
            <a:r>
              <a:t/>
            </a:r>
          </a:p>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Sparse missing legs make the feature operationally undefined on some days.</a:t>
            </a:r>
          </a:p>
          <a:p xmlns:a="http://schemas.openxmlformats.org/drawingml/2006/main">
            <a:r>
              <a:t/>
            </a:r>
          </a:p>
          <a:p xmlns:a="http://schemas.openxmlformats.org/drawingml/2006/main">
            <a:pPr algn="l">
              <a:defRPr sz="1500" b="0">
                <a:solidFill>
                  <a:srgbClr val="5B6470"/>
                </a:solidFill>
                <a:latin typeface="Helvetica Neue"/>
                <a:ea typeface="Helvetica Neue"/>
                <a:cs typeface="Helvetica Neue"/>
              </a:defRPr>
            </a:pPr>
            <a:r>
              <a:rPr sz="1500" b="0">
                <a:solidFill>
                  <a:srgbClr val="5B6470"/>
                </a:solidFill>
                <a:latin typeface="Helvetica Neue"/>
                <a:ea typeface="Helvetica Neue"/>
                <a:cs typeface="Helvetica Neue"/>
              </a:rPr>
              <a:t>Integrity precedes predictiveness.</a:t>
            </a:r>
          </a:p>
        </p:txBody>
      </p:sp>
    </p:spTree>
    <p:extLst>
      <p:ext uri="{BB962C8B-B14F-4D97-AF65-F5344CB8AC3E}">
        <p14:creationId xmlns:p14="http://schemas.microsoft.com/office/powerpoint/2010/main" val="383755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7">
            <a:extLst xmlns:a="http://schemas.openxmlformats.org/drawingml/2006/main">
              <a:ext uri="{FF2B5EF4-FFF2-40B4-BE49-F238E27FC236}">
                <a16:creationId xmlns:a16="http://schemas.microsoft.com/office/drawing/2014/main" id="{1AE2A89A-8E37-47CA-AE8D-1002FB7F4436}"/>
              </a:ext>
            </a:extLst>
          </p:cNvPr>
          <p:cNvSpPr>
            <a:spLocks xmlns:a="http://schemas.openxmlformats.org/drawingml/2006/main" noGrp="1"/>
          </p:cNvSpPr>
          <p:nvPr/>
        </p:nvSpPr>
        <p:spPr>
          <a:xfrm xmlns:a="http://schemas.openxmlformats.org/drawingml/2006/main">
            <a:off x="400050" y="4000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B42318"/>
                </a:solidFill>
                <a:latin typeface="Helvetica Neue"/>
                <a:ea typeface="Helvetica Neue"/>
                <a:cs typeface="Helvetica Neue"/>
              </a:defRPr>
            </a:pPr>
            <a:r>
              <a:rPr sz="1800" b="1">
                <a:solidFill>
                  <a:srgbClr val="B42318"/>
                </a:solidFill>
                <a:latin typeface="Helvetica Neue"/>
                <a:ea typeface="Helvetica Neue"/>
                <a:cs typeface="Helvetica Neue"/>
              </a:rPr>
              <a:t>DECISION</a:t>
            </a:r>
          </a:p>
        </p:txBody>
      </p:sp>
      <p:sp>
        <p:nvSpPr>
          <p:cNvPr id="2" name="hero-7">
            <a:extLst xmlns:a="http://schemas.openxmlformats.org/drawingml/2006/main">
              <a:ext uri="{FF2B5EF4-FFF2-40B4-BE49-F238E27FC236}">
                <a16:creationId xmlns:a16="http://schemas.microsoft.com/office/drawing/2014/main" id="{8DE2EFA4-04FD-43FD-A8E2-7763E40B8FA4}"/>
              </a:ext>
            </a:extLst>
          </p:cNvPr>
          <p:cNvSpPr>
            <a:spLocks xmlns:a="http://schemas.openxmlformats.org/drawingml/2006/main" noGrp="1"/>
          </p:cNvSpPr>
          <p:nvPr/>
        </p:nvSpPr>
        <p:spPr>
          <a:xfrm xmlns:a="http://schemas.openxmlformats.org/drawingml/2006/main">
            <a:off x="400050" y="1571625"/>
            <a:ext cx="685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950" b="1">
                <a:solidFill>
                  <a:srgbClr val="111111"/>
                </a:solidFill>
                <a:latin typeface="Helvetica Neue"/>
                <a:ea typeface="Helvetica Neue"/>
                <a:cs typeface="Helvetica Neue"/>
              </a:defRPr>
            </a:pPr>
            <a:r>
              <a:rPr sz="4950" b="1">
                <a:solidFill>
                  <a:srgbClr val="111111"/>
                </a:solidFill>
                <a:latin typeface="Helvetica Neue"/>
                <a:ea typeface="Helvetica Neue"/>
                <a:cs typeface="Helvetica Neue"/>
              </a:rPr>
              <a:t>STOP O0.</a:t>
            </a:r>
          </a:p>
          <a:p xmlns:a="http://schemas.openxmlformats.org/drawingml/2006/main">
            <a:pPr algn="l">
              <a:defRPr sz="4950" b="1">
                <a:solidFill>
                  <a:srgbClr val="111111"/>
                </a:solidFill>
                <a:latin typeface="Helvetica Neue"/>
                <a:ea typeface="Helvetica Neue"/>
                <a:cs typeface="Helvetica Neue"/>
              </a:defRPr>
            </a:pPr>
            <a:r>
              <a:rPr sz="4950" b="1">
                <a:solidFill>
                  <a:srgbClr val="111111"/>
                </a:solidFill>
                <a:latin typeface="Helvetica Neue"/>
                <a:ea typeface="Helvetica Neue"/>
                <a:cs typeface="Helvetica Neue"/>
              </a:rPr>
              <a:t>Keep O1 closed.</a:t>
            </a:r>
          </a:p>
        </p:txBody>
      </p:sp>
      <p:sp>
        <p:nvSpPr>
          <p:cNvPr id="3" name="next-7">
            <a:extLst xmlns:a="http://schemas.openxmlformats.org/drawingml/2006/main">
              <a:ext uri="{FF2B5EF4-FFF2-40B4-BE49-F238E27FC236}">
                <a16:creationId xmlns:a16="http://schemas.microsoft.com/office/drawing/2014/main" id="{1823046F-DA67-47D6-BB6C-18DFD894EBDE}"/>
              </a:ext>
            </a:extLst>
          </p:cNvPr>
          <p:cNvSpPr>
            <a:spLocks xmlns:a="http://schemas.openxmlformats.org/drawingml/2006/main" noGrp="1"/>
          </p:cNvSpPr>
          <p:nvPr/>
        </p:nvSpPr>
        <p:spPr>
          <a:xfrm xmlns:a="http://schemas.openxmlformats.org/drawingml/2006/main">
            <a:off x="7953375" y="1952625"/>
            <a:ext cx="3524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5B6470"/>
                </a:solidFill>
                <a:latin typeface="Helvetica Neue"/>
                <a:ea typeface="Helvetica Neue"/>
                <a:cs typeface="Helvetica Neue"/>
              </a:defRPr>
            </a:pPr>
            <a:r>
              <a:rPr sz="1650" b="0">
                <a:solidFill>
                  <a:srgbClr val="5B6470"/>
                </a:solidFill>
                <a:latin typeface="Helvetica Neue"/>
                <a:ea typeface="Helvetica Neue"/>
                <a:cs typeface="Helvetica Neue"/>
              </a:rPr>
              <a:t>What would reopen the lane?</a:t>
            </a:r>
          </a:p>
          <a:p xmlns:a="http://schemas.openxmlformats.org/drawingml/2006/main">
            <a:r>
              <a:t/>
            </a:r>
          </a:p>
          <a:p xmlns:a="http://schemas.openxmlformats.org/drawingml/2006/main">
            <a:pPr algn="l">
              <a:defRPr sz="1650" b="0">
                <a:solidFill>
                  <a:srgbClr val="5B6470"/>
                </a:solidFill>
                <a:latin typeface="Helvetica Neue"/>
                <a:ea typeface="Helvetica Neue"/>
                <a:cs typeface="Helvetica Neue"/>
              </a:defRPr>
            </a:pPr>
            <a:r>
              <a:rPr sz="1650" b="0">
                <a:solidFill>
                  <a:srgbClr val="5B6470"/>
                </a:solidFill>
                <a:latin typeface="Helvetica Neue"/>
                <a:ea typeface="Helvetica Neue"/>
                <a:cs typeface="Helvetica Neue"/>
              </a:rPr>
              <a:t>• A defensible historical contract catalog</a:t>
            </a:r>
          </a:p>
          <a:p xmlns:a="http://schemas.openxmlformats.org/drawingml/2006/main">
            <a:pPr algn="l">
              <a:defRPr sz="1650" b="0">
                <a:solidFill>
                  <a:srgbClr val="5B6470"/>
                </a:solidFill>
                <a:latin typeface="Helvetica Neue"/>
                <a:ea typeface="Helvetica Neue"/>
                <a:cs typeface="Helvetica Neue"/>
              </a:defRPr>
            </a:pPr>
            <a:r>
              <a:rPr sz="1650" b="0">
                <a:solidFill>
                  <a:srgbClr val="5B6470"/>
                </a:solidFill>
                <a:latin typeface="Helvetica Neue"/>
                <a:ea typeface="Helvetica Neue"/>
                <a:cs typeface="Helvetica Neue"/>
              </a:rPr>
              <a:t>• A denser/official OPRA feed</a:t>
            </a:r>
          </a:p>
          <a:p xmlns:a="http://schemas.openxmlformats.org/drawingml/2006/main">
            <a:pPr algn="l">
              <a:defRPr sz="1650" b="0">
                <a:solidFill>
                  <a:srgbClr val="5B6470"/>
                </a:solidFill>
                <a:latin typeface="Helvetica Neue"/>
                <a:ea typeface="Helvetica Neue"/>
                <a:cs typeface="Helvetica Neue"/>
              </a:defRPr>
            </a:pPr>
            <a:r>
              <a:rPr sz="1650" b="0">
                <a:solidFill>
                  <a:srgbClr val="5B6470"/>
                </a:solidFill>
                <a:latin typeface="Helvetica Neue"/>
                <a:ea typeface="Helvetica Neue"/>
                <a:cs typeface="Helvetica Neue"/>
              </a:rPr>
              <a:t>• Or a newly frozen missing-data construction</a:t>
            </a:r>
          </a:p>
          <a:p xmlns:a="http://schemas.openxmlformats.org/drawingml/2006/main">
            <a:r>
              <a:t/>
            </a:r>
          </a:p>
          <a:p xmlns:a="http://schemas.openxmlformats.org/drawingml/2006/main">
            <a:pPr algn="l">
              <a:defRPr sz="1650" b="0">
                <a:solidFill>
                  <a:srgbClr val="5B6470"/>
                </a:solidFill>
                <a:latin typeface="Helvetica Neue"/>
                <a:ea typeface="Helvetica Neue"/>
                <a:cs typeface="Helvetica Neue"/>
              </a:defRPr>
            </a:pPr>
            <a:r>
              <a:rPr sz="1650" b="0">
                <a:solidFill>
                  <a:srgbClr val="5B6470"/>
                </a:solidFill>
                <a:latin typeface="Helvetica Neue"/>
                <a:ea typeface="Helvetica Neue"/>
                <a:cs typeface="Helvetica Neue"/>
              </a:rPr>
              <a:t>None is assumed here.</a:t>
            </a:r>
          </a:p>
        </p:txBody>
      </p:sp>
      <p:sp>
        <p:nvSpPr>
          <p:cNvPr id="4" name="boundary-7">
            <a:extLst xmlns:a="http://schemas.openxmlformats.org/drawingml/2006/main">
              <a:ext uri="{FF2B5EF4-FFF2-40B4-BE49-F238E27FC236}">
                <a16:creationId xmlns:a16="http://schemas.microsoft.com/office/drawing/2014/main" id="{07E6528D-7D6C-4B5A-BC4B-22E7BB25FAA9}"/>
              </a:ext>
            </a:extLst>
          </p:cNvPr>
          <p:cNvSpPr>
            <a:spLocks xmlns:a="http://schemas.openxmlformats.org/drawingml/2006/main" noGrp="1"/>
          </p:cNvSpPr>
          <p:nvPr/>
        </p:nvSpPr>
        <p:spPr>
          <a:xfrm xmlns:a="http://schemas.openxmlformats.org/drawingml/2006/main">
            <a:off x="400050" y="5476875"/>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0F766E"/>
                </a:solidFill>
                <a:latin typeface="Helvetica Neue"/>
                <a:ea typeface="Helvetica Neue"/>
                <a:cs typeface="Helvetica Neue"/>
              </a:defRPr>
            </a:pPr>
            <a:r>
              <a:rPr sz="1800" b="1">
                <a:solidFill>
                  <a:srgbClr val="0F766E"/>
                </a:solidFill>
                <a:latin typeface="Helvetica Neue"/>
                <a:ea typeface="Helvetica Neue"/>
                <a:cs typeface="Helvetica Neue"/>
              </a:rPr>
              <a:t>No outcome join • no model • no trading claim</a:t>
            </a:r>
          </a:p>
        </p:txBody>
      </p:sp>
      <p:sp>
        <p:nvSpPr>
          <p:cNvPr id="5" name="decision-7">
            <a:extLst xmlns:a="http://schemas.openxmlformats.org/drawingml/2006/main">
              <a:ext uri="{FF2B5EF4-FFF2-40B4-BE49-F238E27FC236}">
                <a16:creationId xmlns:a16="http://schemas.microsoft.com/office/drawing/2014/main" id="{92EACB88-FD9E-41E5-AA2D-D7991BC442A1}"/>
              </a:ext>
            </a:extLst>
          </p:cNvPr>
          <p:cNvSpPr>
            <a:spLocks xmlns:a="http://schemas.openxmlformats.org/drawingml/2006/main" noGrp="1"/>
          </p:cNvSpPr>
          <p:nvPr/>
        </p:nvSpPr>
        <p:spPr>
          <a:xfrm xmlns:a="http://schemas.openxmlformats.org/drawingml/2006/main">
            <a:off x="10382250" y="59055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1050" b="1">
                <a:solidFill>
                  <a:srgbClr val="5B6470"/>
                </a:solidFill>
                <a:latin typeface="Helvetica Neue"/>
                <a:ea typeface="Helvetica Neue"/>
                <a:cs typeface="Helvetica Neue"/>
              </a:defRPr>
            </a:pPr>
            <a:r>
              <a:rPr sz="1050" b="1">
                <a:solidFill>
                  <a:srgbClr val="5B6470"/>
                </a:solidFill>
                <a:latin typeface="Helvetica Neue"/>
                <a:ea typeface="Helvetica Neue"/>
                <a:cs typeface="Helvetica Neue"/>
              </a:rPr>
              <a:t>D42</a:t>
            </a:r>
          </a:p>
        </p:txBody>
      </p:sp>
    </p:spTree>
    <p:extLst>
      <p:ext uri="{BB962C8B-B14F-4D97-AF65-F5344CB8AC3E}">
        <p14:creationId xmlns:p14="http://schemas.microsoft.com/office/powerpoint/2010/main" val="12993092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2026-07-26T10:33:38.9370000Z</dcterms:created>
  <dcterms:modified xsi:type="dcterms:W3CDTF">2026-07-26T10:33:38.9380000Z</dcterms:modified>
</coreProperties>
</file>