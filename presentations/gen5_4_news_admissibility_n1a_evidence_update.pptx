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f094fd3cf427a" /><Relationship Type="http://schemas.openxmlformats.org/officeDocument/2006/relationships/extended-properties" Target="/docProps/app.xml" Id="Rb0ba060c24b942ee" /><Relationship Type="http://schemas.openxmlformats.org/officeDocument/2006/relationships/officeDocument" Target="/ppt/presentation.xml" Id="R373fd44a32fc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96620631194a54"/>
  </p:sldMasterIdLst>
  <p:notesMasterIdLst>
    <p:notesMasterId xmlns:r="http://schemas.openxmlformats.org/officeDocument/2006/relationships" r:id="R19177b20598342ed"/>
  </p:notesMasterIdLst>
  <p:sldIdLst>
    <p:sldId xmlns:r="http://schemas.openxmlformats.org/officeDocument/2006/relationships" id="256" r:id="R2947cb2361264f1e"/>
    <p:sldId xmlns:r="http://schemas.openxmlformats.org/officeDocument/2006/relationships" id="257" r:id="R9730d85c252745cd"/>
    <p:sldId xmlns:r="http://schemas.openxmlformats.org/officeDocument/2006/relationships" id="258" r:id="Rebfbffa7b1994f3c"/>
    <p:sldId xmlns:r="http://schemas.openxmlformats.org/officeDocument/2006/relationships" id="259" r:id="R42fba79cc623402e"/>
    <p:sldId xmlns:r="http://schemas.openxmlformats.org/officeDocument/2006/relationships" id="260" r:id="R0c22774becac46b2"/>
    <p:sldId xmlns:r="http://schemas.openxmlformats.org/officeDocument/2006/relationships" id="261" r:id="R3ff8da73ccd646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9ec00e5854114" /><Relationship Type="http://schemas.openxmlformats.org/officeDocument/2006/relationships/slideMaster" Target="/ppt/slideMasters/slideMaster1.xml" Id="Ra796620631194a54" /><Relationship Type="http://schemas.openxmlformats.org/officeDocument/2006/relationships/notesMaster" Target="/ppt/notesMasters/notesMaster1.xml" Id="R19177b20598342ed" /><Relationship Type="http://schemas.openxmlformats.org/officeDocument/2006/relationships/presProps" Target="/ppt/presProps.xml" Id="Rd5a44e558cb84826" /><Relationship Type="http://schemas.openxmlformats.org/officeDocument/2006/relationships/tableStyles" Target="/ppt/tableStyles.xml" Id="Rba62f80e8ae04b48" /><Relationship Type="http://schemas.openxmlformats.org/officeDocument/2006/relationships/slide" Target="/ppt/slides/slide1.xml" Id="R2947cb2361264f1e" /><Relationship Type="http://schemas.openxmlformats.org/officeDocument/2006/relationships/slide" Target="/ppt/slides/slide2.xml" Id="R9730d85c252745cd" /><Relationship Type="http://schemas.openxmlformats.org/officeDocument/2006/relationships/slide" Target="/ppt/slides/slide3.xml" Id="Rebfbffa7b1994f3c" /><Relationship Type="http://schemas.openxmlformats.org/officeDocument/2006/relationships/slide" Target="/ppt/slides/slide4.xml" Id="R42fba79cc623402e" /><Relationship Type="http://schemas.openxmlformats.org/officeDocument/2006/relationships/slide" Target="/ppt/slides/slide5.xml" Id="R0c22774becac46b2" /><Relationship Type="http://schemas.openxmlformats.org/officeDocument/2006/relationships/slide" Target="/ppt/slides/slide6.xml" Id="R3ff8da73ccd6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435ce6350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5746d044c4e4c" /><Relationship Type="http://schemas.openxmlformats.org/officeDocument/2006/relationships/notesMaster" Target="/ppt/notesMasters/notesMaster1.xml" Id="Rbf5f7c60050b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94ce28e8a43a7" /><Relationship Type="http://schemas.openxmlformats.org/officeDocument/2006/relationships/notesMaster" Target="/ppt/notesMasters/notesMaster1.xml" Id="R5c848fe82bca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832f656bd45cf" /><Relationship Type="http://schemas.openxmlformats.org/officeDocument/2006/relationships/notesMaster" Target="/ppt/notesMasters/notesMaster1.xml" Id="R9a54ba295004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3df74ddbb4687" /><Relationship Type="http://schemas.openxmlformats.org/officeDocument/2006/relationships/notesMaster" Target="/ppt/notesMasters/notesMaster1.xml" Id="Rf83f79bd733e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feeb6073864ea5" /><Relationship Type="http://schemas.openxmlformats.org/officeDocument/2006/relationships/notesMaster" Target="/ppt/notesMasters/notesMaster1.xml" Id="Ra37097fefef9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0f3b17b474014" /><Relationship Type="http://schemas.openxmlformats.org/officeDocument/2006/relationships/notesMaster" Target="/ppt/notesMasters/notesMaster1.xml" Id="R1fafe52a860d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10 - NEWS ADMISSIBILITY N1A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Determine whether Alpaca historical news can support a conservative point-in-time symbol-session event panel before any market outcome is inspected.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</a:t>
            </a:r>
          </a:p>
          <a:p xmlns:a="http://schemas.openxmlformats.org/drawingml/2006/main">
            <a:r>
              <a:t>All nine frozen hard gates passed. The result admits an N1B theory discussion only; it does not create sentiment, a feature, a signal, or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This sounds great to me. Proceed.</a:t>
            </a:r>
          </a:p>
          <a:p xmlns:a="http://schemas.openxmlformats.org/drawingml/2006/main">
            <a:r>
              <a:t>Artifact: docs/GEN5_4_NEWS_ADMISSIBILITY_N1A_CONTRACT.md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Project/Time-Series-Modeling-Gen5/runs/research_workbench/gen54_ml_decision_engine/g54_news_n1a_20260721/n1a_report.md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D30 - FROZEN N1A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Economic role</a:t>
            </a:r>
          </a:p>
          <a:p xmlns:a="http://schemas.openxmlformats.org/drawingml/2006/main">
            <a:r>
              <a:t>News is treated first as possible information arrival and uncertainty context, not directional sentiment.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</a:t>
            </a:r>
          </a:p>
          <a:p xmlns:a="http://schemas.openxmlformats.org/drawingml/2006/main">
            <a:r>
              <a:t>The archived headline/summary enters at the first scheduled 17:30 America/New_York decision at or after updated_at. Hypothetical execution is the following market session. created_at remains provenance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Duplicates</a:t>
            </a:r>
          </a:p>
          <a:p xmlns:a="http://schemas.openxmlformats.org/drawingml/2006/main">
            <a:r>
              <a:t>Identical normalized titles within 72 hours are clustered using prior articles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</a:t>
            </a:r>
          </a:p>
          <a:p xmlns:a="http://schemas.openxmlformats.org/drawingml/2006/main">
            <a:r>
              <a:t>Historical news: https://docs.alpaca.markets/us/docs/historical-news-data</a:t>
            </a:r>
          </a:p>
          <a:p xmlns:a="http://schemas.openxmlformats.org/drawingml/2006/main">
            <a:r>
              <a:t>Endpoint: https://docs.alpaca.markets/us/reference/news-3</a:t>
            </a:r>
          </a:p>
          <a:p xmlns:a="http://schemas.openxmlformats.org/drawingml/2006/main">
            <a:r>
              <a:t>Real-time stream: https://docs.alpaca.markets/us/docs/streaming-real-time-news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This sounds great to me. Proceed.</a:t>
            </a:r>
          </a:p>
          <a:p xmlns:a="http://schemas.openxmlformats.org/drawingml/2006/main">
            <a:r>
              <a:t>Contract: docs/GEN5_4_NEWS_ADMISSIBILITY_N1A_CONTRACT.md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D31 - DENSITY GATE PASSES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The minimum yearly density result was 23 of 24 candidates meeting at least 20 novel exact-title clusters. All 24 met the threshold from 2022 onward.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</a:t>
            </a:r>
          </a:p>
          <a:p xmlns:a="http://schemas.openxmlformats.org/drawingml/2006/main">
            <a:r>
              <a:t>META has zero qualifying clusters in 2020 and 12 in 2021 under the current symbol key. This is a symbol-history discontinuity, not evidence that the company had no news.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archive is broad enough for measurement design, but N1B must freeze a point-in-time symbol-history treatment before outcome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Project/Time-Series-Modeling-Gen5/runs/research_workbench/gen54_ml_decision_engine/g54_news_n1a_20260721/n1a_report.md</a:t>
            </a:r>
          </a:p>
          <a:p xmlns:a="http://schemas.openxmlformats.org/drawingml/2006/main">
            <a:r>
              <a:t>Conversation: codex://threads/019f741e-615f-7fd0-90f7-edce12b5cb66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D31 - RAW COUNTS ARE NOT COMPARABLE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Event-bearing session shares rise through the archive and vary sharply by symbol. The five most-covered candidates supply 60.15% of all association rows, even though the largest single symbol remains below the frozen 25% cap at 19.29%.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Any later news-intensity measure must be normalized inside each symbol using TRAIN data only. A pooled raw article count would mostly encode company popularity and changing vendor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</a:t>
            </a:r>
          </a:p>
          <a:p xmlns:a="http://schemas.openxmlformats.org/drawingml/2006/main">
            <a:r>
              <a:t>No outcome was joined and no normalization was selected in N1A.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Project/Time-Series-Modeling-Gen5/runs/research_workbench/gen54_ml_decision_engine/g54_news_n1a_20260721/n1a_report.md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D31 - STALE UPDATE TAIL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Most updates are immediate, but 630 articles have creation-to-final-update delays above 24 hours, 159 exceed 30 days, and 39 exceed one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Assigning these articles at updated_at is leakage-conservative, but an archival backfill or very late edit is not necessarily fresh economic information. N1B needs a frozen stale-update exclusion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post hoc gate change</a:t>
            </a:r>
          </a:p>
          <a:p xmlns:a="http://schemas.openxmlformats.org/drawingml/2006/main">
            <a:r>
              <a:t>The predeclared decision-cycle crossing WARN threshold did not fire. These tail counts are carried forward as a design limitation rather than used to rewrite the N1A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Project/Time-Series-Modeling-Gen5/runs/research_workbench/gen54_ml_decision_engine/g54_news_n1a_20260721/n1a_report.md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D31 - PASS_N1A_ADMISSIBLE_FOR_N1B_DISCUSSION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95,126 articles; 1,904 complete HTTP 200 pages; 130,695 candidate associations; 1,258 market sessions; unique IDs; complete required fields; complete decision and execution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Duplicate control</a:t>
            </a:r>
          </a:p>
          <a:p xmlns:a="http://schemas.openxmlformats.org/drawingml/2006/main">
            <a:r>
              <a:t>Backward-looking exact-title repeats are 1.76%. Representative clusters show why multiple headlines cannot be assumed to be independent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theory gate</a:t>
            </a:r>
          </a:p>
          <a:p xmlns:a="http://schemas.openxmlformats.org/drawingml/2006/main">
            <a:r>
              <a:t>Before N1B implementation, freeze:</a:t>
            </a:r>
          </a:p>
          <a:p xmlns:a="http://schemas.openxmlformats.org/drawingml/2006/main">
            <a:r>
              <a:t>1. point-in-time treatment of the pre-META symbol history;</a:t>
            </a:r>
          </a:p>
          <a:p xmlns:a="http://schemas.openxmlformats.org/drawingml/2006/main">
            <a:r>
              <a:t>2. a stale-update exclusion rule;</a:t>
            </a:r>
          </a:p>
          <a:p xmlns:a="http://schemas.openxmlformats.org/drawingml/2006/main">
            <a:r>
              <a:t>3. one symbol-local TRAIN-only intensity normalization;</a:t>
            </a:r>
          </a:p>
          <a:p xmlns:a="http://schemas.openxmlformats.org/drawingml/2006/main">
            <a:r>
              <a:t>4. one post-entry uncertainty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Still closed</a:t>
            </a:r>
          </a:p>
          <a:p xmlns:a="http://schemas.openxmlformats.org/drawingml/2006/main">
            <a:r>
              <a:t>Generic sentiment, directional-return prediction, allocation, replay, and model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This sounds great to me. Proceed.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Project/Time-Series-Modeling-Gen5/runs/research_workbench/gen54_ml_decision_engine/g54_news_n1a_20260721/n1a_report.md</a:t>
            </a:r>
          </a:p>
          <a:p xmlns:a="http://schemas.openxmlformats.org/drawingml/2006/main">
            <a:r>
              <a:t>Status: PASS_N1A_ADMISSIBLE_FOR_N1B_DISCUSSION.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30a7789a2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c9d0da0a94f29" /><Relationship Type="http://schemas.openxmlformats.org/officeDocument/2006/relationships/slideLayout" Target="/ppt/slideLayouts/slideLayout1.xml" Id="R441d8ca30e2149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d8ca30e2149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f10bfabd4d19" /><Relationship Type="http://schemas.openxmlformats.org/officeDocument/2006/relationships/notesSlide" Target="/ppt/notesSlides/notesSlide1.xml" Id="R7de19cb7e8f542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611b22d904e1c" /><Relationship Type="http://schemas.openxmlformats.org/officeDocument/2006/relationships/notesSlide" Target="/ppt/notesSlides/notesSlide2.xml" Id="Rdb1caa48c681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c04406944746" /><Relationship Type="http://schemas.openxmlformats.org/officeDocument/2006/relationships/image" Target="/ppt/media/image.png" Id="Rc10360ca9ccd41c4" /><Relationship Type="http://schemas.openxmlformats.org/officeDocument/2006/relationships/image" Target="/ppt/media/image2.png" Id="Rcdb6eb777bf4462d" /><Relationship Type="http://schemas.openxmlformats.org/officeDocument/2006/relationships/notesSlide" Target="/ppt/notesSlides/notesSlide3.xml" Id="Rd158ed068985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53ab9838e454e" /><Relationship Type="http://schemas.openxmlformats.org/officeDocument/2006/relationships/image" Target="/ppt/media/image3.png" Id="Rc3cd852a7c5241cc" /><Relationship Type="http://schemas.openxmlformats.org/officeDocument/2006/relationships/image" Target="/ppt/media/image4.png" Id="R7d8f6d27426e4b14" /><Relationship Type="http://schemas.openxmlformats.org/officeDocument/2006/relationships/notesSlide" Target="/ppt/notesSlides/notesSlide4.xml" Id="R91bb76fb37a648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d4e98273d4b48" /><Relationship Type="http://schemas.openxmlformats.org/officeDocument/2006/relationships/image" Target="/ppt/media/image.png" Id="R7d0d479a19104857" /><Relationship Type="http://schemas.openxmlformats.org/officeDocument/2006/relationships/image" Target="/ppt/media/image5.png" Id="R996ac1dd834a44f1" /><Relationship Type="http://schemas.openxmlformats.org/officeDocument/2006/relationships/notesSlide" Target="/ppt/notesSlides/notesSlide5.xml" Id="Racaca01c8fc7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05d72a699441f" /><Relationship Type="http://schemas.openxmlformats.org/officeDocument/2006/relationships/image" Target="/ppt/media/image6.png" Id="R3789815b598245a0" /><Relationship Type="http://schemas.openxmlformats.org/officeDocument/2006/relationships/image" Target="/ppt/media/image7.png" Id="R6824e5afc07f4175" /><Relationship Type="http://schemas.openxmlformats.org/officeDocument/2006/relationships/notesSlide" Target="/ppt/notesSlides/notesSlide6.xml" Id="R749f6fd678fd41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S10/01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N1A passes archive admission;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representation remains unproven.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95,126 articles  |  1,904 pages  |  9/9 gates  |  outcomes and models: zero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3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point-in-time contract was frozen before archive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D30/02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ARCHIVE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 candidates, 2020-2024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metadata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6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POINT-IN-TIME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updated_at authority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17:30 cutoff; next-open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ADMISSION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72-hour exact titles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nine frozen hard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Sentiment, outcomes, OHLCV joins, correlations, and model fits: zero.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Coverage is broad, but the META history gap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D31/03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360ca9ccd41c4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6eb777bf4462d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News availability changes materially through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D31/04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d852a7c5241cc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f6d27426e4b14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Timestamp-safe does not always mean economically fresh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D31/05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d479a19104857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ac1dd834a44f1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archive passes; representation remains a separate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D31/06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9815b598245a0"/>
          <a:stretch xmlns:a="http://schemas.openxmlformats.org/drawingml/2006/main"/>
        </p:blipFill>
        <p:spPr>
          <a:xfrm xmlns:a="http://schemas.openxmlformats.org/drawingml/2006/main" flipH="0" flipV="0">
            <a:off x="1558620" y="1992007"/>
            <a:ext cx="3159736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PASS FOR N1B DISCUSSION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9 / 9 hard admission gates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23 / 24 minimum yearly density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WATCH META symbol-history gap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WATCH Top five names: 60.15%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WATCH 630 updates exceed 24 hours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raw cross-symbol counts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sentiment / outcomes / models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4e5afc07f4175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2026-07-21T06:14:46.6500000Z</dcterms:created>
  <dcterms:modified xsi:type="dcterms:W3CDTF">2026-07-21T06:14:46.6500000Z</dcterms:modified>
</coreProperties>
</file>