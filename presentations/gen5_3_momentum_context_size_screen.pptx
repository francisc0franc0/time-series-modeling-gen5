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af38d4fa1a47c3" /><Relationship Type="http://schemas.openxmlformats.org/officeDocument/2006/relationships/extended-properties" Target="/docProps/app.xml" Id="R3f46fe1c151d403d" /><Relationship Type="http://schemas.openxmlformats.org/officeDocument/2006/relationships/officeDocument" Target="/ppt/presentation.xml" Id="R35742d83df9e4c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551cb32ace4b71"/>
  </p:sldMasterIdLst>
  <p:notesMasterIdLst>
    <p:notesMasterId xmlns:r="http://schemas.openxmlformats.org/officeDocument/2006/relationships" r:id="Rf589f343556f4ac0"/>
  </p:notesMasterIdLst>
  <p:sldIdLst>
    <p:sldId xmlns:r="http://schemas.openxmlformats.org/officeDocument/2006/relationships" id="256" r:id="R4dfe841699a04824"/>
    <p:sldId xmlns:r="http://schemas.openxmlformats.org/officeDocument/2006/relationships" id="257" r:id="R13318fffb8094f1f"/>
    <p:sldId xmlns:r="http://schemas.openxmlformats.org/officeDocument/2006/relationships" id="258" r:id="R0127ce08210049e5"/>
    <p:sldId xmlns:r="http://schemas.openxmlformats.org/officeDocument/2006/relationships" id="259" r:id="R77535d8b9bf64e79"/>
    <p:sldId xmlns:r="http://schemas.openxmlformats.org/officeDocument/2006/relationships" id="260" r:id="R28e59d8f8da344d7"/>
    <p:sldId xmlns:r="http://schemas.openxmlformats.org/officeDocument/2006/relationships" id="261" r:id="R7e7b5704b34a4973"/>
    <p:sldId xmlns:r="http://schemas.openxmlformats.org/officeDocument/2006/relationships" id="262" r:id="R59adbf8bf8a34c38"/>
    <p:sldId xmlns:r="http://schemas.openxmlformats.org/officeDocument/2006/relationships" id="263" r:id="R587e5448c800495e"/>
    <p:sldId xmlns:r="http://schemas.openxmlformats.org/officeDocument/2006/relationships" id="264" r:id="Ra621199db219472d"/>
    <p:sldId xmlns:r="http://schemas.openxmlformats.org/officeDocument/2006/relationships" id="265" r:id="Rb96bd90e5f0d4e97"/>
    <p:sldId xmlns:r="http://schemas.openxmlformats.org/officeDocument/2006/relationships" id="266" r:id="R0f75a4e890224489"/>
    <p:sldId xmlns:r="http://schemas.openxmlformats.org/officeDocument/2006/relationships" id="267" r:id="R72b14d7fadf942d8"/>
    <p:sldId xmlns:r="http://schemas.openxmlformats.org/officeDocument/2006/relationships" id="268" r:id="R898ea2b94c6f4754"/>
    <p:sldId xmlns:r="http://schemas.openxmlformats.org/officeDocument/2006/relationships" id="269" r:id="Rdc562687721a4d85"/>
    <p:sldId xmlns:r="http://schemas.openxmlformats.org/officeDocument/2006/relationships" id="270" r:id="Rbc22b14572a84b36"/>
    <p:sldId xmlns:r="http://schemas.openxmlformats.org/officeDocument/2006/relationships" id="271" r:id="R36f7423ec74046e3"/>
    <p:sldId xmlns:r="http://schemas.openxmlformats.org/officeDocument/2006/relationships" id="272" r:id="Rc361465475bd4cfa"/>
    <p:sldId xmlns:r="http://schemas.openxmlformats.org/officeDocument/2006/relationships" id="273" r:id="R70b5a09f425b4d61"/>
    <p:sldId xmlns:r="http://schemas.openxmlformats.org/officeDocument/2006/relationships" id="274" r:id="Rc5c17f71b88c4c88"/>
    <p:sldId xmlns:r="http://schemas.openxmlformats.org/officeDocument/2006/relationships" id="275" r:id="R56f4e4659d824859"/>
    <p:sldId xmlns:r="http://schemas.openxmlformats.org/officeDocument/2006/relationships" id="276" r:id="R71614f4390c6461f"/>
    <p:sldId xmlns:r="http://schemas.openxmlformats.org/officeDocument/2006/relationships" id="277" r:id="R68623071fa3f4adc"/>
    <p:sldId xmlns:r="http://schemas.openxmlformats.org/officeDocument/2006/relationships" id="278" r:id="Rb163dc6b3bc044b3"/>
    <p:sldId xmlns:r="http://schemas.openxmlformats.org/officeDocument/2006/relationships" id="279" r:id="R49a838c23ed146be"/>
    <p:sldId xmlns:r="http://schemas.openxmlformats.org/officeDocument/2006/relationships" id="280" r:id="R555efda99d3a4f76"/>
    <p:sldId xmlns:r="http://schemas.openxmlformats.org/officeDocument/2006/relationships" id="281" r:id="Re25b263c59da4a88"/>
    <p:sldId xmlns:r="http://schemas.openxmlformats.org/officeDocument/2006/relationships" id="282" r:id="Ra9c91b8c8203404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815fffab2544a2" /><Relationship Type="http://schemas.openxmlformats.org/officeDocument/2006/relationships/slideMaster" Target="/ppt/slideMasters/slideMaster1.xml" Id="R6d551cb32ace4b71" /><Relationship Type="http://schemas.openxmlformats.org/officeDocument/2006/relationships/notesMaster" Target="/ppt/notesMasters/notesMaster1.xml" Id="Rf589f343556f4ac0" /><Relationship Type="http://schemas.openxmlformats.org/officeDocument/2006/relationships/presProps" Target="/ppt/presProps.xml" Id="Rafa997d5fb43447b" /><Relationship Type="http://schemas.openxmlformats.org/officeDocument/2006/relationships/tableStyles" Target="/ppt/tableStyles.xml" Id="Rdd86ad1f06a04062" /><Relationship Type="http://schemas.openxmlformats.org/officeDocument/2006/relationships/slide" Target="/ppt/slides/slide1.xml" Id="R4dfe841699a04824" /><Relationship Type="http://schemas.openxmlformats.org/officeDocument/2006/relationships/slide" Target="/ppt/slides/slide2.xml" Id="R13318fffb8094f1f" /><Relationship Type="http://schemas.openxmlformats.org/officeDocument/2006/relationships/slide" Target="/ppt/slides/slide3.xml" Id="R0127ce08210049e5" /><Relationship Type="http://schemas.openxmlformats.org/officeDocument/2006/relationships/slide" Target="/ppt/slides/slide4.xml" Id="R77535d8b9bf64e79" /><Relationship Type="http://schemas.openxmlformats.org/officeDocument/2006/relationships/slide" Target="/ppt/slides/slide5.xml" Id="R28e59d8f8da344d7" /><Relationship Type="http://schemas.openxmlformats.org/officeDocument/2006/relationships/slide" Target="/ppt/slides/slide6.xml" Id="R7e7b5704b34a4973" /><Relationship Type="http://schemas.openxmlformats.org/officeDocument/2006/relationships/slide" Target="/ppt/slides/slide7.xml" Id="R59adbf8bf8a34c38" /><Relationship Type="http://schemas.openxmlformats.org/officeDocument/2006/relationships/slide" Target="/ppt/slides/slide8.xml" Id="R587e5448c800495e" /><Relationship Type="http://schemas.openxmlformats.org/officeDocument/2006/relationships/slide" Target="/ppt/slides/slide9.xml" Id="Ra621199db219472d" /><Relationship Type="http://schemas.openxmlformats.org/officeDocument/2006/relationships/slide" Target="/ppt/slides/slide10.xml" Id="Rb96bd90e5f0d4e97" /><Relationship Type="http://schemas.openxmlformats.org/officeDocument/2006/relationships/slide" Target="/ppt/slides/slide11.xml" Id="R0f75a4e890224489" /><Relationship Type="http://schemas.openxmlformats.org/officeDocument/2006/relationships/slide" Target="/ppt/slides/slide12.xml" Id="R72b14d7fadf942d8" /><Relationship Type="http://schemas.openxmlformats.org/officeDocument/2006/relationships/slide" Target="/ppt/slides/slide13.xml" Id="R898ea2b94c6f4754" /><Relationship Type="http://schemas.openxmlformats.org/officeDocument/2006/relationships/slide" Target="/ppt/slides/slide14.xml" Id="Rdc562687721a4d85" /><Relationship Type="http://schemas.openxmlformats.org/officeDocument/2006/relationships/slide" Target="/ppt/slides/slide15.xml" Id="Rbc22b14572a84b36" /><Relationship Type="http://schemas.openxmlformats.org/officeDocument/2006/relationships/slide" Target="/ppt/slides/slide16.xml" Id="R36f7423ec74046e3" /><Relationship Type="http://schemas.openxmlformats.org/officeDocument/2006/relationships/slide" Target="/ppt/slides/slide17.xml" Id="Rc361465475bd4cfa" /><Relationship Type="http://schemas.openxmlformats.org/officeDocument/2006/relationships/slide" Target="/ppt/slides/slide18.xml" Id="R70b5a09f425b4d61" /><Relationship Type="http://schemas.openxmlformats.org/officeDocument/2006/relationships/slide" Target="/ppt/slides/slide19.xml" Id="Rc5c17f71b88c4c88" /><Relationship Type="http://schemas.openxmlformats.org/officeDocument/2006/relationships/slide" Target="/ppt/slides/slide20.xml" Id="R56f4e4659d824859" /><Relationship Type="http://schemas.openxmlformats.org/officeDocument/2006/relationships/slide" Target="/ppt/slides/slide21.xml" Id="R71614f4390c6461f" /><Relationship Type="http://schemas.openxmlformats.org/officeDocument/2006/relationships/slide" Target="/ppt/slides/slide22.xml" Id="R68623071fa3f4adc" /><Relationship Type="http://schemas.openxmlformats.org/officeDocument/2006/relationships/slide" Target="/ppt/slides/slide23.xml" Id="Rb163dc6b3bc044b3" /><Relationship Type="http://schemas.openxmlformats.org/officeDocument/2006/relationships/slide" Target="/ppt/slides/slide24.xml" Id="R49a838c23ed146be" /><Relationship Type="http://schemas.openxmlformats.org/officeDocument/2006/relationships/slide" Target="/ppt/slides/slide25.xml" Id="R555efda99d3a4f76" /><Relationship Type="http://schemas.openxmlformats.org/officeDocument/2006/relationships/slide" Target="/ppt/slides/slide26.xml" Id="Re25b263c59da4a88" /><Relationship Type="http://schemas.openxmlformats.org/officeDocument/2006/relationships/slide" Target="/ppt/slides/slide27.xml" Id="Ra9c91b8c820340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bcbb4f621a41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ea7255ea1d4f4c" /><Relationship Type="http://schemas.openxmlformats.org/officeDocument/2006/relationships/notesMaster" Target="/ppt/notesMasters/notesMaster1.xml" Id="R33dd9ed0e90f4f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2bf1aa845f46bb" /><Relationship Type="http://schemas.openxmlformats.org/officeDocument/2006/relationships/notesMaster" Target="/ppt/notesMasters/notesMaster1.xml" Id="Rb9c963b17a3b42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adaad768e14a32" /><Relationship Type="http://schemas.openxmlformats.org/officeDocument/2006/relationships/notesMaster" Target="/ppt/notesMasters/notesMaster1.xml" Id="R059b499b9a394f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2b7dc8d8ea44e8" /><Relationship Type="http://schemas.openxmlformats.org/officeDocument/2006/relationships/notesMaster" Target="/ppt/notesMasters/notesMaster1.xml" Id="Rd0ca4114128946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1106f2dac94372" /><Relationship Type="http://schemas.openxmlformats.org/officeDocument/2006/relationships/notesMaster" Target="/ppt/notesMasters/notesMaster1.xml" Id="Raa836c6097134d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ebbb09b2c741e5" /><Relationship Type="http://schemas.openxmlformats.org/officeDocument/2006/relationships/notesMaster" Target="/ppt/notesMasters/notesMaster1.xml" Id="R4ad12556dfc24d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46b4f20108435f" /><Relationship Type="http://schemas.openxmlformats.org/officeDocument/2006/relationships/notesMaster" Target="/ppt/notesMasters/notesMaster1.xml" Id="R336ea629ab9844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f4b4422f044136" /><Relationship Type="http://schemas.openxmlformats.org/officeDocument/2006/relationships/notesMaster" Target="/ppt/notesMasters/notesMaster1.xml" Id="R21d04cca6ec94d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666cda3438449c" /><Relationship Type="http://schemas.openxmlformats.org/officeDocument/2006/relationships/notesMaster" Target="/ppt/notesMasters/notesMaster1.xml" Id="R23813253a417476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0ef8f6e9f4c4619" /><Relationship Type="http://schemas.openxmlformats.org/officeDocument/2006/relationships/notesMaster" Target="/ppt/notesMasters/notesMaster1.xml" Id="R86268108177e46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ae801443cef4c9f" /><Relationship Type="http://schemas.openxmlformats.org/officeDocument/2006/relationships/notesMaster" Target="/ppt/notesMasters/notesMaster1.xml" Id="Rcaf94c1aff6347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e102df6cb24975" /><Relationship Type="http://schemas.openxmlformats.org/officeDocument/2006/relationships/notesMaster" Target="/ppt/notesMasters/notesMaster1.xml" Id="R6b11f5c7e5484b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bca8773a9734312" /><Relationship Type="http://schemas.openxmlformats.org/officeDocument/2006/relationships/notesMaster" Target="/ppt/notesMasters/notesMaster1.xml" Id="Rea220da767644de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494b0de82f49c9" /><Relationship Type="http://schemas.openxmlformats.org/officeDocument/2006/relationships/notesMaster" Target="/ppt/notesMasters/notesMaster1.xml" Id="Rddc3e7e5e209446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ffdef471a35416b" /><Relationship Type="http://schemas.openxmlformats.org/officeDocument/2006/relationships/notesMaster" Target="/ppt/notesMasters/notesMaster1.xml" Id="R449aa601c1c14c3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1d7efaf3e5f499a" /><Relationship Type="http://schemas.openxmlformats.org/officeDocument/2006/relationships/notesMaster" Target="/ppt/notesMasters/notesMaster1.xml" Id="Rcbb571ff521c4cb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b54b774ac7849fa" /><Relationship Type="http://schemas.openxmlformats.org/officeDocument/2006/relationships/notesMaster" Target="/ppt/notesMasters/notesMaster1.xml" Id="Rdc263c07e4b140e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764f6458b5941e6" /><Relationship Type="http://schemas.openxmlformats.org/officeDocument/2006/relationships/notesMaster" Target="/ppt/notesMasters/notesMaster1.xml" Id="R0fc0c4e7c2f0425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8323b19117143bd" /><Relationship Type="http://schemas.openxmlformats.org/officeDocument/2006/relationships/notesMaster" Target="/ppt/notesMasters/notesMaster1.xml" Id="R2be8ade0e246492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59fa9be519f4095" /><Relationship Type="http://schemas.openxmlformats.org/officeDocument/2006/relationships/notesMaster" Target="/ppt/notesMasters/notesMaster1.xml" Id="Rfa9b133acbbd4e3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1ebb87e684040fb" /><Relationship Type="http://schemas.openxmlformats.org/officeDocument/2006/relationships/notesMaster" Target="/ppt/notesMasters/notesMaster1.xml" Id="R98ecdc166846413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988924a1cbd4536" /><Relationship Type="http://schemas.openxmlformats.org/officeDocument/2006/relationships/notesMaster" Target="/ppt/notesMasters/notesMaster1.xml" Id="Raf0aff86d26b43f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48f4dcc85ca4dbd" /><Relationship Type="http://schemas.openxmlformats.org/officeDocument/2006/relationships/notesMaster" Target="/ppt/notesMasters/notesMaster1.xml" Id="Rc9ae1c8420a1454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915cfb5415a42a1" /><Relationship Type="http://schemas.openxmlformats.org/officeDocument/2006/relationships/notesMaster" Target="/ppt/notesMasters/notesMaster1.xml" Id="R652ea839ff374df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7afedd2ea0c455c" /><Relationship Type="http://schemas.openxmlformats.org/officeDocument/2006/relationships/notesMaster" Target="/ppt/notesMasters/notesMaster1.xml" Id="Re6dd5a23a5814bc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8dc4d5367324b6d" /><Relationship Type="http://schemas.openxmlformats.org/officeDocument/2006/relationships/notesMaster" Target="/ppt/notesMasters/notesMaster1.xml" Id="R29ab1e78f706434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e9a0cc2b1dc4e19" /><Relationship Type="http://schemas.openxmlformats.org/officeDocument/2006/relationships/notesMaster" Target="/ppt/notesMasters/notesMaster1.xml" Id="Rbc53344fd56749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b02d6158da4f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a83b9427a04491" /><Relationship Type="http://schemas.openxmlformats.org/officeDocument/2006/relationships/slideLayout" Target="/ppt/slideLayouts/slideLayout1.xml" Id="R8a34e41437df41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34e41437df41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1c6308adc40ad" /><Relationship Type="http://schemas.openxmlformats.org/officeDocument/2006/relationships/notesSlide" Target="/ppt/notesSlides/notesSlide1.xml" Id="R90362de1920a43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2710110964670" /><Relationship Type="http://schemas.openxmlformats.org/officeDocument/2006/relationships/notesSlide" Target="/ppt/notesSlides/notesSlide2.xml" Id="R00c927e69bc341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23add3dbe491c" /><Relationship Type="http://schemas.openxmlformats.org/officeDocument/2006/relationships/notesSlide" Target="/ppt/notesSlides/notesSlide3.xml" Id="R9b6600b57af040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19f65004840d2" /><Relationship Type="http://schemas.openxmlformats.org/officeDocument/2006/relationships/notesSlide" Target="/ppt/notesSlides/notesSlide4.xml" Id="R13c79965b8b144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71728ba97436c" /><Relationship Type="http://schemas.openxmlformats.org/officeDocument/2006/relationships/notesSlide" Target="/ppt/notesSlides/notesSlide5.xml" Id="R00cbd58e4d8d4e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8731be46b490c" /><Relationship Type="http://schemas.openxmlformats.org/officeDocument/2006/relationships/image" Target="/ppt/media/image.png" Id="Rd4debfb3b161468f" /><Relationship Type="http://schemas.openxmlformats.org/officeDocument/2006/relationships/notesSlide" Target="/ppt/notesSlides/notesSlide6.xml" Id="R1dde41d2465d4e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4e4b457e440ea" /><Relationship Type="http://schemas.openxmlformats.org/officeDocument/2006/relationships/notesSlide" Target="/ppt/notesSlides/notesSlide7.xml" Id="R09ef7c0bd4f04f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cade7ec6a455b" /><Relationship Type="http://schemas.openxmlformats.org/officeDocument/2006/relationships/image" Target="/ppt/media/image2.png" Id="R22cf3ee5f2714329" /><Relationship Type="http://schemas.openxmlformats.org/officeDocument/2006/relationships/notesSlide" Target="/ppt/notesSlides/notesSlide8.xml" Id="Rd87d8df105d641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6ce669ea5461c" /><Relationship Type="http://schemas.openxmlformats.org/officeDocument/2006/relationships/chart" Target="/ppt/slides/charts/chart1.xml" Id="Ra03e362de12644df" /><Relationship Type="http://schemas.openxmlformats.org/officeDocument/2006/relationships/notesSlide" Target="/ppt/notesSlides/notesSlide9.xml" Id="R02c330d5ea1b47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7518853524417" /><Relationship Type="http://schemas.openxmlformats.org/officeDocument/2006/relationships/image" Target="/ppt/media/image3.png" Id="Red83da94636e4a42" /><Relationship Type="http://schemas.openxmlformats.org/officeDocument/2006/relationships/notesSlide" Target="/ppt/notesSlides/notesSlide10.xml" Id="R05721202151a44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90ab64e00e48f3" /><Relationship Type="http://schemas.openxmlformats.org/officeDocument/2006/relationships/image" Target="/ppt/media/image4.png" Id="R81b5ada3154b4cd0" /><Relationship Type="http://schemas.openxmlformats.org/officeDocument/2006/relationships/notesSlide" Target="/ppt/notesSlides/notesSlide11.xml" Id="R9dee39a14bc14f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6852ab07554317" /><Relationship Type="http://schemas.openxmlformats.org/officeDocument/2006/relationships/image" Target="/ppt/media/image5.png" Id="R55375516739e4302" /><Relationship Type="http://schemas.openxmlformats.org/officeDocument/2006/relationships/notesSlide" Target="/ppt/notesSlides/notesSlide12.xml" Id="R0fe34264b5bb4cf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0c5696f5349c1" /><Relationship Type="http://schemas.openxmlformats.org/officeDocument/2006/relationships/notesSlide" Target="/ppt/notesSlides/notesSlide13.xml" Id="R976ff7f111b649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7d55128894314" /><Relationship Type="http://schemas.openxmlformats.org/officeDocument/2006/relationships/notesSlide" Target="/ppt/notesSlides/notesSlide14.xml" Id="Rac735a56fef94ce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cbfe5564cd4c1d" /><Relationship Type="http://schemas.openxmlformats.org/officeDocument/2006/relationships/notesSlide" Target="/ppt/notesSlides/notesSlide15.xml" Id="Ra9a721e39bcf408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95504810e4422" /><Relationship Type="http://schemas.openxmlformats.org/officeDocument/2006/relationships/image" Target="/ppt/media/image6.png" Id="Rd58678aa8fbd4aed" /><Relationship Type="http://schemas.openxmlformats.org/officeDocument/2006/relationships/notesSlide" Target="/ppt/notesSlides/notesSlide16.xml" Id="Rc69994b8d46c46a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b43952b404d0b" /><Relationship Type="http://schemas.openxmlformats.org/officeDocument/2006/relationships/notesSlide" Target="/ppt/notesSlides/notesSlide17.xml" Id="Re6e514a8dbe244e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220464842d4b29" /><Relationship Type="http://schemas.openxmlformats.org/officeDocument/2006/relationships/image" Target="/ppt/media/image7.png" Id="R0f39e20e71e9409b" /><Relationship Type="http://schemas.openxmlformats.org/officeDocument/2006/relationships/notesSlide" Target="/ppt/notesSlides/notesSlide18.xml" Id="R57c4891746a442b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79ef6742b49bb" /><Relationship Type="http://schemas.openxmlformats.org/officeDocument/2006/relationships/notesSlide" Target="/ppt/notesSlides/notesSlide19.xml" Id="R2a1987b72570462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0bee3f7df452c" /><Relationship Type="http://schemas.openxmlformats.org/officeDocument/2006/relationships/image" Target="/ppt/media/image8.png" Id="R255b3b14750c4c67" /><Relationship Type="http://schemas.openxmlformats.org/officeDocument/2006/relationships/notesSlide" Target="/ppt/notesSlides/notesSlide20.xml" Id="R138c076b7dc3484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8d2cc7402745e6" /><Relationship Type="http://schemas.openxmlformats.org/officeDocument/2006/relationships/notesSlide" Target="/ppt/notesSlides/notesSlide21.xml" Id="R14a287dc35504a3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e6b56a2ed4fc3" /><Relationship Type="http://schemas.openxmlformats.org/officeDocument/2006/relationships/image" Target="/ppt/media/image9.png" Id="R50a39305d65e48ac" /><Relationship Type="http://schemas.openxmlformats.org/officeDocument/2006/relationships/notesSlide" Target="/ppt/notesSlides/notesSlide22.xml" Id="R3cb4b1146173443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1145b6c904953" /><Relationship Type="http://schemas.openxmlformats.org/officeDocument/2006/relationships/image" Target="/ppt/media/image10.png" Id="R9e58fc7c6f61491d" /><Relationship Type="http://schemas.openxmlformats.org/officeDocument/2006/relationships/notesSlide" Target="/ppt/notesSlides/notesSlide23.xml" Id="R5dda0f38147e429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042c7c5d4443ce" /><Relationship Type="http://schemas.openxmlformats.org/officeDocument/2006/relationships/notesSlide" Target="/ppt/notesSlides/notesSlide24.xml" Id="R810efce3dcfc46e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a2f38fc674f92" /><Relationship Type="http://schemas.openxmlformats.org/officeDocument/2006/relationships/notesSlide" Target="/ppt/notesSlides/notesSlide25.xml" Id="Re1864ea5a86b4d4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9e5e2eebe4f54" /><Relationship Type="http://schemas.openxmlformats.org/officeDocument/2006/relationships/image" Target="/ppt/media/image11.png" Id="R0ef4ceb6d94a4b6b" /><Relationship Type="http://schemas.openxmlformats.org/officeDocument/2006/relationships/notesSlide" Target="/ppt/notesSlides/notesSlide26.xml" Id="Re7ededae6563492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b6b4040964b0a" /><Relationship Type="http://schemas.openxmlformats.org/officeDocument/2006/relationships/image" Target="/ppt/media/image12.png" Id="Rb1877753551041ff" /><Relationship Type="http://schemas.openxmlformats.org/officeDocument/2006/relationships/notesSlide" Target="/ppt/notesSlides/notesSlide27.xml" Id="Rdbed3d841b2a40f2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Strategy</c:v>
          </c:tx>
          <c:spPr>
            <a:solidFill xmlns:a="http://schemas.openxmlformats.org/drawingml/2006/main">
              <a:srgbClr val="FF6B35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2.23827026790857</c:v>
              </c:pt>
              <c:pt idx="1">
                <c:v>105.99847113368699</c:v>
              </c:pt>
              <c:pt idx="2">
                <c:v>-22.6109990928716</c:v>
              </c:pt>
              <c:pt idx="3">
                <c:v>138.140043213633</c:v>
              </c:pt>
            </c:numLit>
          </c:val>
        </c:ser>
        <c:ser>
          <c:idx val="1"/>
          <c:order val="1"/>
          <c:tx>
            <c:v>Basket hold</c:v>
          </c:tx>
          <c:spPr>
            <a:solidFill xmlns:a="http://schemas.openxmlformats.org/drawingml/2006/main">
              <a:srgbClr val="000000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58.442044682227504</c:v>
              </c:pt>
              <c:pt idx="1">
                <c:v>227.277921974783</c:v>
              </c:pt>
              <c:pt idx="2">
                <c:v>-53.0417801301569</c:v>
              </c:pt>
              <c:pt idx="3">
                <c:v>133.45555861176902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01D65F-02EC-4C30-BC47-D326DDC1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GEN5.3 RESEARCH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125A8-0A30-411C-BFF1-9CD61B64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9334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Annual continuity replay made the next strategy question sharper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2C0A8-EFAF-450E-AE0A-6FE57C78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The corrected one-year screen keeps risk-aware context, the workhorse PCA surface, and continuation replay as the control lane. It also shows that the EMA-only pool may be too narrow to judge the broader hypothesis.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1D54A-20B2-48CD-9104-2096A848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2225A-7068-4BBE-85B1-200D3F40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Continuity packet: runs/research_workbench/gen53_momentum_context_size/g53_momctx_20260711continuity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0943C0-9834-4F1E-9B10-6C18EB77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9836177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C485CC-F13E-4F5C-8DE8-33BDAEFB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2C0FF3-45BF-4697-B47D-053426EA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test changed because one quarter was too sparse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FE5C3-D337-47DE-B114-91BB40DD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D2B29-3BC9-45E4-BA49-34484BAF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514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prior slices were useful for mechanics, but they did not give much OOS surface area: a five-symbol live basket can easily look good or bad from a handful of trades in one quarter.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3956B-4B11-4980-8184-A4A4D9E3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62150"/>
            <a:ext cx="4229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399F8-19F6-4C89-B37E-20602BCD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90900"/>
            <a:ext cx="42291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717C9-F10C-4B2A-A7BE-E761F783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067479-A4CD-4EF8-BBF6-6D53EAFE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One OOS quarter. Faster, but low resolution for alpha and trade behavior.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A9B92-9F4F-4EB9-8A5C-D507F019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67647"/>
                </a:solidFill>
              </a:defRPr>
            </a:pPr>
            <a:r>
              <a:rPr sz="1650" b="1">
                <a:solidFill>
                  <a:srgbClr val="067647"/>
                </a:solidFill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6BCCB-B920-4DF4-AD7B-0A0F1704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62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Four independent quarterly TRAIN authorities replayed across one year, with open trades carrying until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1DEFF-A3EE-46B6-ADD3-006EAA80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This keeps the leakage boundary and avoids artificial quarter-end trade resets.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245C93-449B-4B33-A9C7-AB35AE93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6313455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522DE5-E6CD-499B-B18C-17467831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42C6CE-29C3-475D-A478-9B48EC75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screen isolates a narrow EMA-only participation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25CAF4-4C47-495E-9B3A-8D026E0B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CA1C6-5673-4512-8D4F-C5EC47E6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9260F-2A3C-49D9-A723-427D941D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D7937-9D10-4F30-825A-97FDDF68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AMD, NVDA, TSLA, MSTR, AVGO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0DDF7-2BEE-49B4-B666-F5F00366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28630-A868-4E9A-B3C8-88B5CD2A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Context 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9DA939-36E8-49F5-9321-5452F081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5 self assets; 12 with high-beta peers; 18 with peers and risk anchors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E385C-39B3-48FE-92A1-DBF4857B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421DD8-D3FF-406E-9710-841DF338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Feature axis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F8C812-8595-4D8A-8C3F-A4666895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Workhorse enriched; momentum participation; momentum plus stress; market-relative momentum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926CF6-3192-4CA8-8AC1-D9AC42FF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C494D-7CCB-4D06-B4B1-32F6A53A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Strategy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34FDFA-6E6E-493F-AA84-176E6C26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EMA cross, EMA trend, no-trade, no-trade exit-immediate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0EA5BE-1586-4BD3-9599-F512C81D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Selection policy stayed fixed at pooled-family asset-variant, so this slice asks about feature design, context size, and replay semantics rather than reopening the whole Gen4-vs-Gen5 selection debate.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AB806-40C9-45FD-AC8F-D4B8B7E1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6507155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28B4DE-FC0A-431C-9AEB-EC02DF2B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9FAFF-A71C-4CB3-BD24-5CBF9794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aggregate lane was risk-aware context plus the workhorse feature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DB369-72DE-47EC-B8B2-C52EA6BF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423CD-D4E7-4D1A-8585-8CEF9E0F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9886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3D2EA-31F6-47B9-8118-CE69D07C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Best lane: Live + peers + risk anchors + Workhorse enriched + continuation. Mean return 55.9%, mean alpha -35.6 pp, exposure 40.3%.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FE5FC5-7483-408B-8A9A-FC54C86C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A19F8-E16E-40F8-9F79-2CC8BCFF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1E703-2CBE-45F0-8B06-014EC956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C6B4A-5EEE-48A2-A02B-654750B1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76C7DE-4E94-471F-B591-29E0D8BF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FEBCF7-BC4C-4466-A799-534524BC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417F1-5895-49AE-9813-3AB78724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E34433-9A8B-4468-9746-AB988D02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F3E7F-91C4-444F-ADD2-9C6903C7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9A287E-0987-497A-A11A-9C102631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E60EF2-63EE-48FD-AE29-1C96A612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8EA4F0-A432-463F-97A8-D1340DF1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F16771-A6CF-4AE0-9E05-EA638CAB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2DF9E8-C366-4D4C-826F-6AF2884F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C12C0C-7E19-4E04-A00B-1EF51B23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147981-450B-4C60-A220-9BA4A79E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A50874-8F28-4FE5-8325-89663284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23B905-0B58-42EE-BF04-B6FB690B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34B468-817E-4687-A824-94A4CB17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57E29A-0B0C-488C-A4B8-6A8B3E71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A2E524-93D3-4BFD-B500-48BA6AFB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7F5C3B-BE25-4E2F-9919-5B5237C6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CFABCA-02B8-4828-9F1D-5E2DF277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0CF844-B1A5-4B0B-8714-D2F17746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D33244-0A02-42A0-BB08-62400E72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36C228-030F-4CB9-B669-7106F67F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30E1FC-77C4-4A8D-A5E8-B244D2E1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25056C-31BB-47C2-A09B-A59224A0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9861BE-3549-437A-A5A7-D03B5276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7B29FE-EF89-451F-A426-0506B4DC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1479AD-6A08-4F9D-B68C-4D3D398B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347EE4-72CC-420D-91A5-37DBB8D7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76F201-87DD-4720-AA9A-365D0D01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5CD153-B258-482B-BF07-16E139FE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fresh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C119CC-E881-4859-87EC-A5F75CAB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DC80DA-07CA-40E7-8B7B-4171EDAE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F44F5D-B385-418F-B7C1-6725D387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4A8839-51EB-4C4F-9D18-A002911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38.6%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9FEB20-59D3-45FE-B44A-359472CD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5ECB88-28DE-4767-8630-623E23EC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-52.9 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D561207-91EA-428E-A87C-F857EF74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C2B7939-9FD7-4027-93C2-D08F5D78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26.3%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D25FCF-8F79-4F83-A7E7-B2646C4E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97E199-612F-483D-96CA-59191B7F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651BA8-C2C3-4248-B96B-AFA6BDB5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4019B9C-32CC-4170-86D2-749B7513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F1DC89-586C-4B29-8EB3-199E6082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B2097C2-744B-4DF6-8E43-3638BB62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802D9A0-A030-4C62-B8E4-F260C665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01C6A05-977D-4CA8-A67E-C9372D16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3FDC2B9-2FA8-4377-B9C7-FA4E529D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281E12F-47B0-4EB2-BE74-CC5A352F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A3612D1-7E37-4F9A-ADEC-F6B0760A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22A2FEF-D253-4F6C-A535-A6F4C2E7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038E97B-7065-4235-A03A-0841747F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633EDCC-E7F0-4729-94FE-B86827BD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960CD36-2A77-4239-B115-E3421DCE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3CE06D2-7F03-428C-8CC9-45729643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basket only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9B31D92-02AC-4C7E-BA9D-A3473F5E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D493590-6093-4F89-B16E-54A81BAB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participation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03CE77E-112F-4534-AE1A-BB64C07F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9848FD8-022E-4133-AB44-BC5C7560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910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FF4E87A-6D7C-4F0D-9634-2F6E0271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69BE197-CE42-4509-917F-06D3FEC7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937DCF4-AFCC-4123-BC29-B542A621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B3FAD76-E9BB-470B-AF67-02A6EF3B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30.9%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821FF3D-956E-443E-9BF2-F894D5C4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672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731CFF0-3FAC-4B17-8CB8-DADD3A16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910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-60.6 pp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621C2F9-5E93-4332-848A-22F87DDC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37CE8E9-AB89-4CC8-850C-51013161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3910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39.3%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3D54F57-C218-41ED-A8BA-910EB161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8A96FF3-BCDA-4E7C-B929-D0B7FE16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high-beta peers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E32BAE1-0929-4369-89DB-D73E6DD4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67A9016-7601-4DAE-82CA-4BDEA1C5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9B1E90F-B06D-47CE-A3E8-93A202EB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7815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5D6B35C-B02F-431F-9C3E-DB53F2B5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9053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7D80444-4112-4A26-874D-40308E86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9F7E0B4-8BFE-4E4D-AB8A-3B76D344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5FE999B-BE91-4D87-A78E-E16F7EAE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1223D91-E057-4EE0-95C5-A431365C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29.8%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8EAD02E-5D5C-4D86-A926-8CC58018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815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62BE1AD-B020-4255-918C-B0E33270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053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-61.8 pp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7149354-9936-4F07-AB55-69160AC9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815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8F508AE-5A67-4D6F-B828-707B86C6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053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34.0%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D4415D0-043E-468C-BDE9-93CDBA06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Even the best lane did not beat equal-weight high-beta hold on average. The signal is subtler: broader risk-aware context made the specialist less bad against a very hard benchmark and produced positive alpha in two annual windows.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EFA74C5-F9BB-4DA9-8D16-BA88C2D0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6870685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C56CD3-AC37-432C-AA9D-1A54B47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AB90D5-FB97-45EE-8364-41F2CB95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Continuity replay corrected the optimistic annual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DC8C9-3660-450D-B16B-97960FBF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80807B-A25B-485B-B025-8B67B5AD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independent-stitch packet was useful as a first annual inspection, but it could reset open trades at quarter boundaries. The continuity packet asks the live-like question: keep the quarterly authorities independent, but let open trades carry until flat.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432A88-18AE-4606-922E-02BA7A17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324D4A-D360-4E46-84EA-941A724A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return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6ECAA-044B-47B9-BF5B-94D959D3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81.7%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FB5F87-8738-443A-8421-E69CFEE6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99816E-F34E-4D16-85D4-E238744D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55.9%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142368-83A3-4EC1-BC9E-C8BD8C58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60515-45DB-4538-AB6C-441791FE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Alpha vs basket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0386D8-81A3-4FB3-BF89-CB0CE438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-9.8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B9C3B-8BB5-4938-ACB9-4F153EA6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DF5C8E-35CC-4B30-89BC-3AFA7327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16C6A2-3025-4EF3-8327-4C4812B7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CC970A-36A1-4B03-8CF9-92A13307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exposure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64B7C1-F2AB-4479-9986-78AEDFB6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64.6%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9A148B-4312-46BF-9FE5-6723F410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2A1FA0-9618-4941-B979-F9483D75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40.3%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32424B-6E19-4CDA-8935-10A9BAE9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A33D92-6C28-435D-868C-E7655B31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9B81D7-79D3-4A6D-BBEB-ED116E84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2/4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AB38F9-9367-4B86-8C37-46CDF614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2C2DA7-3293-481C-9BF8-96BE3599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C45796-C8B1-4370-86A1-38698A56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962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448 symbol/boundary cases carried prior authority until flat, and 4 carried through annual as-of. The boundary mechanic materially changed the evidence.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B707F9-0DE4-4E2B-8785-B9C36BCB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7894970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E93978-9003-4751-8EA0-830FD51F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D7C5B-9778-4404-9485-C7539D3A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annual heatmap shows why this is not a simple feature-set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54928B-A8C4-471F-8FF3-DD46D129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debfb3b161468f"/>
          <a:stretch xmlns:a="http://schemas.openxmlformats.org/drawingml/2006/main"/>
        </p:blipFill>
        <p:spPr>
          <a:xfrm xmlns:a="http://schemas.openxmlformats.org/drawingml/2006/main">
            <a:off x="2659700" y="1695450"/>
            <a:ext cx="2091049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30EC7-7CD1-45DE-9FCC-7E9EF245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34290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FF0933-8A8D-427E-B03F-11BFF3F0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050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941ED9-5181-46E8-922E-E075A02B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71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D9AA9-2AC1-4104-A7AD-5A6226E8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765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 remains punishing because basket hold returned about 227%.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EF5CA-E24E-411E-AC95-A7224F68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39FBFC-26CD-42DA-998A-3C3C5A72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 rewards staying out of a falling high-beta basket.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F9BD5D-1743-4881-A2C2-72D8EC0C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6FD0E4-496C-4F99-9C21-332281D5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147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2024 is the clean positive clue for risk-aware workhorse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3DB954-4333-4D5C-90D7-2FCDAA51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B85DC4-E3F2-49F7-99BC-424101A7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338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New momentum feature sets did not become the aggregate default.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7364A-1B8F-47D8-82E1-26B8479E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5645498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AF90C2-EA4D-4138-B30D-E4A6AA0D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5BA78B-C485-49E6-91B6-825C375A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still tells a mixed window-by-window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1AD71-2CE9-48AB-9656-E50BAA19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2F30ED-15BE-4BD4-A344-C6EB1E27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056F7-C249-4E74-ABA2-D3B3241E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42B4C-0E43-4FAC-9983-E335FEC9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-56.2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68AD9F-0DA1-4D9F-A083-53FD0DFA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D1BD9-7027-4143-804A-6576BEC9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2.2%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5183E-B996-4A0E-A83D-D007332C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58.4%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5ED5FD-ACA4-456D-AAB7-44C33BD7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44DF16-2691-4650-8E7E-A1B28077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1B416A-A69C-461A-A2D1-73CB7B6C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83E30D-0178-4742-82D0-F3C4ADA9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5FBCE5-85ED-45D2-9ADF-F44BF473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106.0%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54DB56-E9BA-4520-9979-758715AD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227.3%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3B6D82-681A-495E-884D-D682329B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1767B8-1E45-46A9-8400-BE5F31D3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A1DF4E-5F76-41E3-8563-CBEB02F8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40268-C27B-46CC-B59C-D7C8C300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37C2B4-7CB8-421E-9A3F-4FF752D6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-22.6%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A48C46-8D82-4416-BF04-E829E279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-53.0%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5BB39B-F721-414C-81FC-04AD7CD8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3745AE-6909-4E2A-A2B4-D0C30956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B94F0F-7A76-4CDC-900F-C224D3BF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+4.7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1B5007-AE70-49C9-AA0C-AB0D17FE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4E30B2-0BA7-4ADE-B3C8-323202C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138.1%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D82A8D-C128-4243-9642-1B3C73A5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133.5%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824734-A4DD-4363-8397-B7437F77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Annual windows reveal a useful profile: strong 2024 participation and decent 2022 defense, but still serious undercapture in 2019 and 2020 high-beta upside.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F96C53-317B-46F0-80D3-D575BDD7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834415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C2A18E-FDD9-4751-BF8D-66745088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E09C4-F66C-45A0-AC64-B9EC4415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Exposure helps, but simply being long more is not the whole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E17C7-45B8-4E90-B1AD-9A48CF66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cf3ee5f2714329"/>
          <a:stretch xmlns:a="http://schemas.openxmlformats.org/drawingml/2006/main"/>
        </p:blipFill>
        <p:spPr>
          <a:xfrm xmlns:a="http://schemas.openxmlformats.org/drawingml/2006/main">
            <a:off x="967154" y="1695450"/>
            <a:ext cx="6066692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39007D-6335-432C-BE29-6A60F42F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1EF19-D31D-45F3-B881-CD12A537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Readout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ED20A-0919-4ED8-A179-FD0D1717A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Continuation generally lifts exposure, and the better lanes cluster at moderate-to-high participation. But many high-exposure points are still deeply negative versus basket hold, so timing and state discrimination still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55756-2918-4CD4-B6FE-0753B6E0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910256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8C6B30-4D7D-4BE2-8548-D5803358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2F956D-2CA4-42B9-AAF7-2BEB3C57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beats in 2022 and 2024, but misses the big upside years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13A81B-0A61-48F0-A85F-D023F900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38200" y="2000250"/>
          <a:ext xmlns:a="http://schemas.openxmlformats.org/drawingml/2006/main" cx="6572250" cy="3600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3e362de12644d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B8558-AB57-4FAC-A4AA-75142E43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29146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7A32C-73B9-4F38-B197-5179CDF7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What the chart adds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9C8567-B7D3-4A31-939C-02517087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634B5-D21C-4FD1-95B0-306C7C58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2020, the benchmark was too strong for a timing layer to catch.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596CF-71DE-462B-82F0-D9CE944C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E9D1CA-EB68-4B06-805B-51CB13DC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2022, the system's partial exposure was valuable.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DF6077-53AA-4F30-96A5-A678C628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9656AB-F0E2-414C-980C-04441A98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2024, the same lane finally beat the high-beta basket while still trading selectively.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BD4818-90EA-4B27-BD55-94CD33D5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3702677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D4555A-21A7-4464-A918-233E69BC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3E7AF-5083-435E-AB4C-2983DA79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authority map is cash-dominant, which explains part of the underparticipation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A1337C-834C-4B4E-B1EA-C7395FC7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83da94636e4a42"/>
          <a:stretch xmlns:a="http://schemas.openxmlformats.org/drawingml/2006/main"/>
        </p:blipFill>
        <p:spPr>
          <a:xfrm xmlns:a="http://schemas.openxmlformats.org/drawingml/2006/main">
            <a:off x="792256" y="1790700"/>
            <a:ext cx="6264088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4D988-7B66-444C-A23A-26C80824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71700"/>
            <a:ext cx="3219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32BF60-CC48-48E3-9A4D-B7CC72BA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Sanity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9D02B-8C77-445C-A7E7-DD95FDD8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257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Across the full annual screen, no-trade remains the dominant selected authority in many asset-state cells. That is philosophically clean for a specialist, but it also means missed upside is expected unless the favorable states are timely and persistent.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5073F-8905-4196-B905-31F341FC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242539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54C9E1-29DB-4FFF-9587-2FDD314F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DF4F47-88AA-46A4-8782-7EF4D5A6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Representative tapes show both the promise and the weakness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944D7-FA98-45E0-96F6-6D5D4A6A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5ada3154b4cd0"/>
          <a:stretch xmlns:a="http://schemas.openxmlformats.org/drawingml/2006/main"/>
        </p:blipFill>
        <p:spPr>
          <a:xfrm xmlns:a="http://schemas.openxmlformats.org/drawingml/2006/main">
            <a:off x="2237466" y="1638300"/>
            <a:ext cx="375466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97EE96-977D-403D-B6D6-F88FA4DC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2857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A630CD-F108-4837-9ED2-F9F30FF5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5165FE-5238-4A6F-8980-5430C866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EE7152-28C4-4EF1-9BAB-A134EA4D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AMD shows churn and missed/stopped participation.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44458D-6E0B-477F-912C-4DEC88F3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12948-A29F-4F87-BE6F-BAFF9F98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NVDA, TSLA, and MSTR show the lane can ride substantial trends.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E08F51-EEBA-4AB5-953B-EB197BD8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E37966-AF89-4BB7-80F2-DD306752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433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Open exit signals at year end should be inspected in the next tape audit.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23B2CB-7823-4B91-9068-901A2AAB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0313555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7CEF36-8CE2-46C1-B5BA-F4433732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7B1D7F-EDCB-48F3-9647-AC33AB5C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2020 tapes show late and uneven bullish 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90713-9894-4233-8839-8CB87DC4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75516739e4302"/>
          <a:stretch xmlns:a="http://schemas.openxmlformats.org/drawingml/2006/main"/>
        </p:blipFill>
        <p:spPr>
          <a:xfrm xmlns:a="http://schemas.openxmlformats.org/drawingml/2006/main">
            <a:off x="1417493" y="1600200"/>
            <a:ext cx="5585114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7611C-7379-4BC4-B0C5-FBD2A596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2781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A0F9D-82C2-4DCE-867D-AD927B6F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241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to notice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C2C8F3-AC4C-4465-BC9A-D0F77345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499934-E7ED-4D96-BC98-0F773DF8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146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TSLA and MSTR rally for long stretches before entries appear.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7C4CE-984D-40CB-B87E-79C60E63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DF404-7331-4804-9D56-89B6BAC0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71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State bands change often, but many strong stretches stay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D5E7A-5267-499C-B555-901647D4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AE5822-E0A9-4CFA-AE50-5092F85B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290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EMA overlays show price trend was visible.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EE1482-769C-4693-83B1-9FE91B15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962650"/>
            <a:ext cx="954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The engine did trade, but it did not stay long enough early enough in the strongest bullish year.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23FB06-95C3-4A8A-8841-738F3171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956898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9FA055-3D4A-4315-9D4A-450A3925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40ACE8-8684-4EDC-85D8-80FA70F1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next narrow screen should reopen strategy diversity carefully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B0307-6F84-4858-82FC-09F652E5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8B728B-061B-4601-ACE5-BB4A3802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27DEB5-3700-4975-AF21-98C686B5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94145-86A6-4261-B749-A618974B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Hold fixed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2168F-E6ED-428A-9EA3-B0E0B41B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D548C-E196-4C98-AB6B-3316CD62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Context: hb_risk_aware_18.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A016C7-E12B-4BA1-B61E-7D2C9AA5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C15636-2A3C-4C54-9A98-4D564556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Feature control: workhorse_enriched.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A10596-2A75-4456-95F9-F87F4297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B0AC2A-773A-454E-973F-CBA6F2DB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Replay: quarter_continuity_replay plus state-switch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4AC61C-ECAC-48BE-AFBE-A61E0063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ECBBCA-B846-4E0B-B053-7D13AA2A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Benchmark: equal-weight high-beta basket hold.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D4AB6D-499A-4ED6-80E0-C3A52C83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67647"/>
                </a:solidFill>
              </a:defRPr>
            </a:pPr>
            <a:r>
              <a:rPr sz="2100" b="1">
                <a:solidFill>
                  <a:srgbClr val="067647"/>
                </a:solidFill>
              </a:rPr>
              <a:t>Vary first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451F9-5511-4C09-85DA-E08FA52F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FA04E6-A657-4345-A3A8-4268723A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EMA-only momentum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5FAD20-6D22-48E6-9B2B-DF6DE46E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DA06C2-6BE0-4729-961E-11F4D6C9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Trend plus breakout expansion.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053B73-FACF-42B4-868B-1CF6A6E0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575A42-C168-451E-9DBE-AB0072BE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Mean-reversion diagnostic pool.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59A386-322B-4E5D-A7E6-45C64415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9B4ECF-B36A-4C69-9EFA-CDBBAECD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Classical full reopened pool.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94B072-A852-45D8-8F6C-B3D148DB3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967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cleanest next question is whether the strategy pool was too narrow under the now-correct annual continuity surface.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117641-6DDE-4B1A-9E5F-94E6D5DD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6001568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5FB50A-28A6-400B-8502-0DAD91BC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1A978-8738-43E3-8ADC-4AD40115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Feature sets should support the strategy question, not explode the grid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6E2BC-E1EC-47DE-9505-5B601700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E51ABC-235A-46B1-8C44-2F322B54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FC73A-F5A0-46BD-BD88-D896272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ECFFE-E320-43AA-A493-022CFAC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workhorse_enriched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36D4AE-1684-4BDE-8735-0DE9EC2F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Keeps the best observed continuity lane intact.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5F4A7-4EEB-4F06-807E-D8FAC55E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64A78-8BF1-4011-ABEC-3BCDE700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Momentum challenger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1D26A2-2A30-49A6-B024-FE02D4BE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momentum_plus_stress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B6B382-C0CD-47AF-A71D-856F682D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Checks whether richer trend and stress descriptors help once strategies are reopened.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62AC2-F027-4471-9AAD-D5F0F66A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32EAAC-642C-4F38-91DE-5B0430F5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New diagnostic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A2E653-E437-4751-8EAB-B428504E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reversion_breakout_context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D2E305-ED1F-4E17-B3DB-DBE34E36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Adds range location, volatility compression, stretch, chop, impulse, and recovery cues for non-EMA families.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CDF7FB-3B07-4BE0-B8FF-1D8993D8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673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If the reopened strategy pools do not help under these feature sets, the next problem is probably state timing/exposure design rather than missing mean-reversion or breakout families.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645466-C987-4565-95D3-17659BD3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7369592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C32465-2793-4240-AE6F-86EFB4E9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DEDB9E-B476-4578-9D61-1E7F94FD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 targeted EMA feature diagnostic improved returns, but did not clear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DA3A2E-C842-4579-A2DD-02EE7090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AD7F4-F22A-46D9-AE33-98BC97A9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After the annual continuity control lane was identified, the next quick test held the high-beta risk-aware context, EMA-only pool, and continuation replay fixed while comparing three PCA feature surfaces.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ECB0F-2189-448E-9483-A91B3A56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AA8AB5-4D51-48A8-A1B7-E825069B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254E4-7F32-4A3B-AAE0-E6F86B8E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FACD9B-2970-4667-ACFF-86E7F467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7A831-C03F-4237-9E02-FC7B80AE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F4764-2FAE-4555-9405-F66A8AF8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162789-31CE-4847-80CD-E95DC44B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4ADAD-F69D-445E-914A-070A8D8D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108C9-D4E6-4EB7-91B9-0A5434A3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B74BAC-7818-4803-9DC1-D8C2CCD1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C5ADEC-51FD-4F6B-A837-78E107AD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267D61-A9AF-439F-A409-A793DB8F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B20B06-8CFD-4DA2-9FF1-37618BAC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4BCB5-95C8-4DD7-8809-C9F32368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49CFBC-2268-48A9-90F1-6C603097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5A8693-875E-4FED-A75F-660A688F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C4A2FA-929B-46E0-B9BD-03A21A9C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A57843-D4D3-4779-8AEF-F1D8DFC6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Reversion-breakout 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98652-D109-41E0-80F5-4F053227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A0BC6E-75F5-45F7-813B-E22E4165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F8B9B1-8DD2-4865-8FB4-52254A96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22E6E9-0A52-47DE-A937-35FB60C7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F5C104-E496-4D5F-9A7B-385BB75C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FE8C56-90F3-4B71-9005-BBE18994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68.1%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EF99BE-CFDE-4544-B3D1-9DE9D5BB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FC3EAF-60C2-45CC-9DAB-6D27A0AE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-23.4 pp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31F042-CD13-4D3F-A372-51D65F0E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1BD60D-0B94-43B6-BF9B-6D3B4212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48.0%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75635E-40D6-4963-8B7E-BDFCEAFA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E62574-B67A-4C54-9E1D-80BF5302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175D22-3038-46CA-A24E-0C7799FC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81D475-184E-419E-A842-C89C4B2C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42EF75-EF33-4AAE-80CF-14F47E21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A5068A-B479-4DA4-A678-A163778F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BDDEFA-1EA7-4819-9641-15BE7E94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8FA6F7-8497-4EDD-9779-850D1F00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488876-E97F-43C7-8B36-363BD536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E1C2A2-6954-4D47-AC45-BE52F034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8FB86D-311C-4F01-AC4E-51797390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C44C252-6A97-4622-8228-4C118A83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AD6AA4-DC06-4BBC-B8A5-E5C24CF6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354CD4-B141-4D65-BDAC-143085C4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888D8E-F5C0-4897-AC1D-CA91D1E8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7EBBAB6-7ABD-41FB-9329-737C9B7D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8B8AB61-8FA6-4156-9FB5-E664AD8B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64E5A39-B2C0-4E38-A4F9-6E7941F7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DD73B8-A37F-4EE6-A204-784170CC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9C04198-2D40-46EC-BD3A-809E8DB2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CD3BBE-D992-411A-902B-29444A6C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AB041A4-6197-44AE-8608-41D2E7A1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D15D099-E1A9-4FC0-9EEC-56C9E222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93A6C5F-FA07-4930-8140-0CFBBB49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05D2EA6-1F7C-4128-B0AA-F556A13B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B989C77-76E8-44DC-92A8-BF5B9884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27BFCAA-FE3D-425A-873D-24F465D6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BC664BB-2255-44AE-86EB-50C59618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89ED50E-4652-4644-ACAB-35270286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Best diagnostic feature set: Reversion-breakout context. It averaged 68.1% return, -23.4 pp alpha versus basket hold, 48.0% exposure, and beat the basket in 1/4 annual windows.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5FCAD5D-9018-48C2-9BC8-09AD3C5D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7485206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E56196-62C2-4D54-8EDA-843D7E57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6C9322-64F1-48FA-970D-09575FE9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reversion-breakout feature set raised participation without solving upside capture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3509BB-F6D5-41B3-92D1-AE3D0FDF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678aa8fbd4aed"/>
          <a:stretch xmlns:a="http://schemas.openxmlformats.org/drawingml/2006/main"/>
        </p:blipFill>
        <p:spPr>
          <a:xfrm xmlns:a="http://schemas.openxmlformats.org/drawingml/2006/main">
            <a:off x="1211507" y="1695450"/>
            <a:ext cx="5120787" cy="4591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4AB5E-C036-4E7D-8A17-A848C2C0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76450"/>
            <a:ext cx="3238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2D6D7-FCBC-491E-A4C1-9C887ACB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62200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Interpretation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C79D5A-A0A5-4D1A-B7F4-8F657823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6E7DAD-9FDD-44FE-928C-C66BA55C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Reversion-breakout context lifted mean return versus the workhorse control.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49BC8-FF75-4B1E-8E5C-E80028D5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D8CDF5-4896-4CDF-BAF8-461D20F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480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It came close in 2024 and improved 2019/2020 participation, but still lagged the basket in 3 of 4 years.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341EFB-B669-4C2F-9B0A-54AEE38F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17BDB2-1A99-445B-858E-A0BE0338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433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argues for better state timing, not a feature-set promotion yet.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D84D6F-B5AB-4BD5-B59A-2E5F58DD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74572523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85D511-76D7-4893-AC86-DB804D50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2A542B-6E60-46B2-B017-2C3DE843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Trend and breakout families made the lane more defensive, not more participatory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9EFB5-0A90-4261-9DDC-2426B803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BE6B8-AEB7-442D-B267-5AF27D55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838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BF3DF-8816-4A35-B386-54E7B55C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40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D46D15-901A-464D-89C9-5D5311BE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03835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9621A-BCAF-4D38-B7AD-A5D70C98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24075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Pool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D677A-514E-42FE-ACDA-87F622D6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383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10A22F-1213-4317-B039-53806125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24075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C6B0EB-15EB-4AD4-82BB-63A184D7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58BBA8-5F16-4601-B383-C8A4EDB3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023A0A-B428-4471-9726-9B1662B2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E0EA29-E090-4004-8BED-10AF1203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B1F1CA-E39D-401E-9D7F-1B9E0243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EA30FF-956C-4EC9-B952-F5513556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E8865E-9B20-438C-BFFE-7DEC6337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DD7E4E-60BB-42E2-8679-BB771ADE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24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82F9C7-040B-4DBB-A5FD-29D3F1DD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C55464-84E0-4396-B8DE-19ACADEF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D08494-94A9-45E7-9FDF-24B55B46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4003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24E716-6CF0-4C04-AF8A-92F7C1A7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717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14D94F-5113-40F5-9A31-7B8C70ED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03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683B3D-3C4E-4BAD-BCAE-B5B6890C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106.0%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66421C-A4CC-4C37-9945-450F5CDA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A1AC66-70DF-4B8A-B9B3-0847B89C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A12175-8104-4B28-AF37-8ABB97FC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1FF3A8-5276-415A-809E-AC354FB6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58.5%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C7199E-8E81-4461-991A-84702759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440CC5-8E12-4D67-BB5A-C53B5E6A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-18.0%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2B715B-4311-4479-B412-45CED223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D2665D-CCD5-4803-A708-1A976A7F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0EFDA8-9924-4F5E-893E-B6203189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10F7E8-C572-4CA8-A0DF-D253294F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DD145B-A130-4D57-8D13-BCB99619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908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C54D41-89C2-4150-99CE-1FBF0703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623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36BE90-3F4B-47B9-B73D-10D394D9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908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9968D4-49CB-421D-BE96-1F145844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623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53.3%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2C2C70-9D4F-4FEC-9F39-5E01D70E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919ACB-DA21-4FC9-9D76-6074753F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-173.9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B23063-6BC2-4C94-B424-E6C3D166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AB3ECE-E95B-44EE-A356-0C1F4F7E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36.8%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D089B1B-207B-4010-8807-C59EE33D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95AF6F-986F-4317-9D6C-9905ABD0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-11.6%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7CD8252-8133-496A-A056-5F8FC399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908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965F459-CF59-4183-A47E-03438463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63D8C3-F40C-455A-B1A0-24596653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CFE71F4-1F82-4BAE-BF55-7BF3359F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AEF323-34BC-4777-BA14-14A0A17C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814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EA55BB8-B63D-4C53-8684-42BBFB7F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528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FEB0134-5659-49BA-9E96-BD134D5D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BF48802-85B6-480D-8203-0A8B3C49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528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-22.6%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6E164A2-3242-4388-9C8F-16181DCB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34579E-A560-42DC-8E43-285CE0AC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A3B8F1-E47D-43F5-97AD-058B43C0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B7F00E3-06FD-4C78-BB20-DC8CE606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16.8%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4FDB4F-1412-40D5-9B4E-A31CFE4C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9C66344-719B-4533-AB1B-5C8AD1A9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-25.0%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19A90E0-AF27-4152-8D90-E4EF86E9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814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E73CE49-F588-4AE9-AB68-EF75C36F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52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4351F6-ADCB-44F8-8D30-999C33C0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849EA50-DC69-4ACD-AEA2-6DBD5CD5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70B66C3-39D9-4B12-BDC4-C19AB06C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1719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DB4271B-05D1-4C07-99EB-AAB3BC00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434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00C07A8-6E5D-428F-9A3E-2F8814E8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719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FB7F9FC-401E-4FB9-B65D-4B6EAE84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434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-10.8%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1D2E7D7-3D8F-4900-BB66-B18800A5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397DA7-8CA4-413B-A8F1-AAB4B050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+42.2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3CAFA1D-B2BF-4EA2-BDB9-6F24BC70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521FE05-08E4-4D18-927D-A5C48B8D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19.3%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F817AB0-A893-4062-9399-6927331B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0BAF4B6-4AF6-4468-AB63-F9AC74A6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-12.8%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61CE5B-8132-432F-906C-A0D3AAF7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719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8FFF842-3278-4733-88AD-A3B7DD0B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78CE75A-ED75-40E5-9627-E00D9C28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91150"/>
            <a:ext cx="975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reopened pool improved 2022 defense, but it cut 2020 exposure and return sharply. That is useful selectivity evidence, not a solution to the high-beta upside capture problem.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7B71F24-EC76-453A-8FE6-2D783C61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12246966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6A3591-5CF8-4C40-B7B9-4EA6DE2B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F1CCC-9865-4C54-B39D-22D47F1B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strategy map explains the defensive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7B582F-D13C-43BA-9284-33262A96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9e20e71e9409b"/>
          <a:stretch xmlns:a="http://schemas.openxmlformats.org/drawingml/2006/main"/>
        </p:blipFill>
        <p:spPr>
          <a:xfrm xmlns:a="http://schemas.openxmlformats.org/drawingml/2006/main">
            <a:off x="571500" y="1744540"/>
            <a:ext cx="6667500" cy="435951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DE01A-EEC3-46FB-AB0D-7C67FAE4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71700"/>
            <a:ext cx="3181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199F5-C205-4C50-9878-FCA6054C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1E2E1F-FFBC-4AFF-8093-2D265662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43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573F0-B922-4D3B-B6B8-E6694B0F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480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Most asset-state cells still select cash.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DB724F-5BDA-4993-968A-BEC1A59D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FF6F0C-D3CF-4704-9082-61B782C2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Breakout additions appear only in narrow pockets.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7F3B00-003D-497D-8430-F007A95A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95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3A9F05-0D46-4416-A4D6-6073591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005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The pool reduced drawdown but did not keep the system long enough in 2020.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28325B-5EF4-4798-BCCE-7AFA695D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Next question: improve state timing and hold participation directly, instead of assuming a broader family list will create upside capture.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831210-65C0-4442-B354-6615EB05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83268513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F19B6E-EF74-418E-AC7C-E3C3A7A6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C58C8-03A3-4536-81ED-C8ABA6E2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Mean reversion did not solve the upside participation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E4412-3CD3-43C8-B1F4-D984F294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76E90-F25F-49F0-9EA1-FA86F39C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838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6ED833-9941-4FDE-9FB0-A8A04C97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240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17811-39D3-40D8-8EE7-3054D115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3835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BFE91-506C-4256-AC54-22D9819A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12407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F40D26-4C14-4049-9A2B-DEFDCB85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38350"/>
            <a:ext cx="1238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82F01-36D4-4E49-9DEF-82071C52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124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4167F6-6803-46A6-BDB0-BFC95077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68717-1948-4AE1-9356-C523932F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B5B4B-7CA7-4989-A93C-2D0ECDCC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02E70D-CFAD-4897-9B22-7408B76E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36EB8F-CD2A-4EE2-9F89-AEE35E54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BC0728-5BE9-42B8-A0F4-1B622779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1E91CF-BCA6-4375-A442-79D33317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383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99A7DF-8ACF-4709-9E95-A9EC7C47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24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D63919-A896-4F95-BE5F-6FE86B21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04363-B9EF-47C6-8B57-B89AA315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2D0918-36ED-4352-A937-DB3ED420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DE67CB-E199-466C-86A8-7FAE730C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571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D442A8-DEDE-4B3A-ACE5-DBE36945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003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ACC116-B7C2-4049-8F5D-10A494E5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717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20.3%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0FA90C-0942-472C-AA54-9D9DAD8A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865D7F-A6E5-4E4C-A2ED-A432FF54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-207.0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37E028-5709-4525-9293-BF9DC129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58E08E-765A-4CEA-B0A1-9BAA680E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21.3%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E6DF2B-E4C0-4B35-9E20-977CAAF0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2CA3E1-6D92-40BC-BB25-C8CA73DE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-34.9%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948B9E-7060-4580-A5FF-34E26E3B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D4C325-E10D-4F41-BB10-F9B74566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717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B68F2D-B892-4A8E-9F7C-3C10E216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3C05DA-5859-4985-BCED-26B98A0A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61C04-7019-4B19-9314-317F1126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908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E694A0-5ABA-4A57-9E09-DA9D9914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342CD4-793F-4C85-B3B7-6017B78A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908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088BED-6A20-4DD8-981C-38A58230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623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13.6%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3C665F-9908-4619-AD0F-98B9E0B3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D25452-A107-4A49-AEE0-3A7B0063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-213.7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BEECAC-2B4A-428B-A20A-EA5FB4BB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4DC68D-4214-4C81-9E26-AD38D98D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19.8%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46811E2-4DFB-4965-A41A-D1802094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FBBF1E-7E91-4D25-9906-6792B146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-32.0%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18E005-6F5A-48CF-801B-A8D4D3D7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908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C99B5C-02AC-4B85-9DAE-A34F5BB8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8D493C8-55A7-456F-BEC8-F3F0FD39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1D38A3-7E18-4ED0-8602-CA74B2C8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8F599A-8D13-4DC6-8957-5B44F9F7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D527E6-1B2F-47C5-8039-99667D1F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528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230D955-0FD8-4EA1-BF18-11FD0CC3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814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BA0EFC-082D-4243-A873-8A1A5D79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528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-12.9%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777146D-C971-4BDE-8D45-19D585F5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B859D93-E719-47F7-BD7D-99AE2D76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+40.1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3F209E6-5107-4EA8-99CA-F1E94770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66F7164-4A1E-4DA9-844D-978C0F218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25.9%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638D1C1-BCC9-4C89-8B45-46B74607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6E83D90-F8F9-4621-A878-7C24553E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-17.6%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9BFBC19-8FE9-41A9-AFC5-F9C79E5E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814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3D418A5-B3CF-40DC-8938-34F86FA9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52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D94A30B-D73C-4041-8868-043A9C6D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0093CB-5B0E-4CA2-A46F-BAABEC94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434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DB4D9C5-0E22-4590-8F2A-E14EA528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719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6FF199B-4624-4659-B9D9-94C53714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343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FA4B12A-A926-4F0E-AA4E-1EB31AC7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719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A09980E-6570-4FD3-B347-83665755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434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-17.6%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774D1ED-41ED-435D-BB48-331F312C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8070CBE-F19C-4F51-AD9C-311CB0C6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+35.4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8D67413-43DB-4E0F-AE9E-A6555C4E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F7DD296-3403-4F2C-A599-4D565F6A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27.3%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68B7A1F-BEBC-46DB-8F76-C9ACA80C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68E51D6-BF31-4EB4-ADF8-2B517185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-19.5%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42EE953-1E37-4404-BCF2-DDFE19F2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719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05CD611-FF65-4942-94AA-062CBCE4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434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A919D1C-5E39-4A94-B759-0703E4E6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91150"/>
            <a:ext cx="975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diagnostic behaved like a defensive/range-trading probe: it reduced 2022 damage versus basket hold, but it badly lagged the 2020 rally and did not improve on the EMA control.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4AD8D38-E2B6-4DCB-8115-64AA26DB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9193890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AA03D3-E607-4F07-B9A0-767233A0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1DF01D-B7AD-49D5-826B-D7AE6DB0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mean-reversion map is mostly cash with narrow Bollinger pockets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3D4254-6DCE-4460-A9C2-E2346A08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5b3b14750c4c67"/>
          <a:stretch xmlns:a="http://schemas.openxmlformats.org/drawingml/2006/main"/>
        </p:blipFill>
        <p:spPr>
          <a:xfrm xmlns:a="http://schemas.openxmlformats.org/drawingml/2006/main">
            <a:off x="552450" y="1716332"/>
            <a:ext cx="6724650" cy="439688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AD789-F1B5-46F8-87BA-B5435627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52650"/>
            <a:ext cx="31813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7775B-2E2F-41FB-B4F4-551799E4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D7AC17-41B0-46FF-938A-8BD11A0E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10C56-BB50-4406-9989-B936C19E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90850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No-trade still dominates many asset-state cells.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B4A529-2A1F-4CA6-B7FD-0EA4EC21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495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643D8-D8E7-4025-84A8-D3D2A2AF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00425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Bollinger variants appear in selective pockets, especially AVGO.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D5934-3DA9-43D2-BC56-177251BB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05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159E6B-4365-412D-AF32-3563C9F0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10000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RSI and z-return did not become dominant state 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BEE1A9-4BCB-4E30-95FE-0D14595A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148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52B031-17C6-4077-B3D4-DC2F620A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19575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is not a high-beta upside engine in its current form.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24740F-8FB4-48D3-8A9C-E46E76A7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The trade tapes reinforce the same story: countertrend chips and defensive abstention, not early sticky participation in a broad high-beta rally.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553DC8-041C-4C3A-8EFA-61555615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3762283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5FC9FD-9B85-4997-974F-0E5BD097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D7CF27-F378-4B1F-8CB2-ABF8CA9E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Leveraged active trading needs a same-leverage passive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80EEB-4827-498D-AE71-AB261730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8B568-403C-452A-A4DB-E211BD81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leverage slice keeps signals, states, entries, exits, and quarterly authority unchanged. Only the portfolio sizing layer changes from 1x to 1.8x.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B09283-276B-411F-BF1B-07A01C89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44958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9E475C-6564-4E9D-B15A-A0CFF359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76550"/>
            <a:ext cx="44958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F63EBD-A5CF-4089-B98B-E7F12796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43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B42318"/>
                </a:solidFill>
              </a:defRPr>
            </a:pPr>
            <a:r>
              <a:rPr sz="2025" b="1">
                <a:solidFill>
                  <a:srgbClr val="B42318"/>
                </a:solidFill>
              </a:rPr>
              <a:t>Wrong 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09994-CAC1-4CDA-B486-23A22996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Compare 1.8x active return to 1x basket hold, then call the extra return alpha.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B2FA76-6C89-454B-A053-EAEC05F5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7647"/>
                </a:solidFill>
              </a:defRPr>
            </a:pPr>
            <a:r>
              <a:rPr sz="2025" b="1">
                <a:solidFill>
                  <a:srgbClr val="067647"/>
                </a:solidFill>
              </a:rPr>
              <a:t>Fair read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819B0-13A5-43AD-9391-DE126ABA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385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Compare 1.8x active return to 1.8x equal-weight basket hold over the same dates.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B2AF9F-97D0-4AE1-8821-E997C20C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911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This keeps leverage as a risk overlay. It prevents sizing from masquerading as a better entry/exit engine.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FCBA3C-C558-4230-ADF9-D9401F77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68586220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E93F00-D285-4800-9994-0EEB95C3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B0094-1D58-4CF3-AE93-0B188F6B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Trend/breakout leverage made the defensive profile more obvious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BEF6A-5FAB-414A-95DC-441020D2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a39305d65e48ac"/>
          <a:stretch xmlns:a="http://schemas.openxmlformats.org/drawingml/2006/main"/>
        </p:blipFill>
        <p:spPr>
          <a:xfrm xmlns:a="http://schemas.openxmlformats.org/drawingml/2006/main">
            <a:off x="1585913" y="1752600"/>
            <a:ext cx="4143375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CC302-1F80-4CB0-89FE-55DB8114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14550"/>
            <a:ext cx="34671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1793E-3A08-4D92-8766-FAA8E847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0030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Same-leverage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12045-6BBB-4B58-B99F-A8717F13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CFDF9C-08BC-40BF-8691-1E849DE4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908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2020: active 108.1%, but 1.8x basket 409.1%.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22291-F888-4005-9FA1-7C500792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AC6F0A-B87B-46AC-871F-39969CE0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052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2022: +76.4 pp alpha because the levered basket drawdown was severe.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BD420E-87EE-4CBC-908D-D41FC2E2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85926-399E-408E-99DC-3D953CA5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195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is defense, not solved upside participation.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B90B1-8EB5-4244-8A3B-8BC75CC8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91200"/>
            <a:ext cx="975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At 1.8x, the same lane produced -301.0 pp alpha in 2020 and +76.4 pp in 2022.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D78E9C-07C7-401E-95C5-100166F1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5698282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F715C8-630F-42DC-B015-9283C831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9D8D0-0A38-4CBB-9112-094C9AA2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Mean reversion with leverage still looks like defense, not upside capture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251FC2-D9BB-40E1-BC2C-2AA8CE14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8fc7c6f61491d"/>
          <a:stretch xmlns:a="http://schemas.openxmlformats.org/drawingml/2006/main"/>
        </p:blipFill>
        <p:spPr>
          <a:xfrm xmlns:a="http://schemas.openxmlformats.org/drawingml/2006/main">
            <a:off x="1585913" y="1752600"/>
            <a:ext cx="4143375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63CE7-93CC-4ACC-8EEF-2D8C5C5D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14550"/>
            <a:ext cx="34671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EB775-2D18-4868-8B21-530440DD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0030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Same-leverage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30606A-417C-471E-AD41-190EB369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B86F29-AB65-40C8-B313-C92F2B65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908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2020: active 37.3%, far below the 1.8x basket.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CE7519-7C6A-43FB-9C9D-81076887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E5237-5BE1-466F-BB50-74FA0D84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052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2022: active beat the levered basket by +72.4 pp.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F6F7E-8138-4D29-B3E6-8C387707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73DB5-2F7F-42FA-B605-8CE2F5F7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195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Leverage amplified the defensive value and the rally underparticipation.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90B462-4FDB-489E-9552-C9855818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91200"/>
            <a:ext cx="975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At 1.8x, workhorse mean reversion produced -371.8 pp alpha in 2020 and +72.4 pp in 2022.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AF787-29A5-4FD9-A45D-E9E67CFA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07646768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415139-24A6-4094-8187-D4F4D83C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A0DA4C-4642-4C30-B48B-5599A333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State-only exposure asks whether PCA states can time the hold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60784F-DB9C-4A9F-96BD-844C27B9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0EAD4-3F65-44CD-8CD4-6A37403A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prior lanes asked PCA states to choose a downstream technical strategy, then waited for that strategy to emit entries and exits. This diagnostic removes that second layer.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CA86F-B9F6-47A4-A85D-919FF488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48000"/>
            <a:ext cx="4476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5B4DA-5919-4450-B5C1-B4DC643C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8000"/>
            <a:ext cx="4476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BD581-2F2D-4CB8-A94C-D249C193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337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67647"/>
                </a:solidFill>
              </a:defRPr>
            </a:pPr>
            <a:r>
              <a:rPr sz="2100" b="1">
                <a:solidFill>
                  <a:srgbClr val="067647"/>
                </a:solidFill>
              </a:rPr>
              <a:t>Favorable state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326E7-DEEA-4D22-843A-C0138B7C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Enter next open if flat. Stay long while selected states remain favorable.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594D6-03A7-491F-9E60-700438C0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33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Unfavorable 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C7CD1-55E6-4A2E-B34E-C203A899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4810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Exit next open if long. Remain flat while cash/exit-cash states persist.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C0E46-93FA-4FAD-BF73-D20AE4BC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8640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This is a direct test of whether the regime engine itself has enough directional value to act as an exposure switch.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8B1785-E6E8-40B2-BBE3-A771A698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5262808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B1836F-8D2A-4FFB-B98F-83FF5EBF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59C82-E1DE-444B-BA55-393E04CA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State-only exposure improved rally participation, but still did not beat 2020 basket hold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AC45F-6AC3-455C-B768-10740A96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BF9EC-72A3-4E58-994E-9273C84B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78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F03BA-8F1B-4BB5-8C4A-2CF37B37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62175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5CE29-CE0D-421B-9E37-580B43C3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76450"/>
            <a:ext cx="1943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4B92F2-BBF3-4733-A054-5DE142AF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62175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AEAC3-A8C7-4FDC-BA6D-327C464C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76450"/>
            <a:ext cx="1257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D2DDE-E899-4C71-9A32-4DA01601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62175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D19D4-CBB0-4969-911B-51D065D2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764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C2B3A-B770-49B3-B4E9-E4BC68E1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621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A2CBC6-7681-415C-BA95-ACDD7D4A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764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4AE0D-6901-48B5-B260-CA8FFB20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621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9A9A3-227C-4738-BF43-B74DD5F2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764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98F2C2-D0AE-48E9-8799-9CCDD53D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621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A7A71-61A9-44CC-B13F-955BA586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76450"/>
            <a:ext cx="1028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3F79B2-0513-4BE4-81FB-04F69839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62175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CD0181-68C9-4333-9F45-C18AF3C6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38400"/>
            <a:ext cx="781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145F1-40AF-486F-97B2-946FC63F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A6D31F-B1AF-4E87-ADEE-012585FB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43840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051AD3-85EA-4B34-825A-6F1AF54A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0985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236FC8-012B-4C40-B960-7C0A79BD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38400"/>
            <a:ext cx="1257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C60BAA-D0CA-4D73-87C6-575EDF9E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0985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175.1%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5F5DB7-6FA5-4835-B01B-1339899C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38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469FDE-A429-48FF-89A8-CACE6B27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609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-52.2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8ABD93-A0D4-4AE1-A0EC-F055F01A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38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27BDC-7227-407E-B7FD-4C26A055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09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85.5%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49CF18-EBE6-4627-A9C1-DC75049D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38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3D40FB-14D0-4599-B683-91B65AE2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09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-37.6%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B8A1B6-113C-4B71-A777-63F0C7EE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38400"/>
            <a:ext cx="1028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D512F9-04A3-43AD-BB38-B97229D8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98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CCFFD5-C859-4209-8806-26F19EF4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781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60B387-ADB6-435C-BE9E-008EC36C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CDFB04-9734-4AFB-BE50-836FBE1C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70AB80-2161-4B25-A91D-11F403D4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004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953839-6925-49F8-B83D-FB93464C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28950"/>
            <a:ext cx="1257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4BA975-C4BF-4BAD-B125-90C96EFC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004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189.8%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ED57BC-E02B-4117-A5AC-3BC2B180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28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C20D9E-2B9E-43EA-B9A4-04D55C62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200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-37.5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D63049-F91D-459A-80F2-5168B8E3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28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912DDA-F693-4B0B-9A7D-77A0FE4E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200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78.7%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21BF0D-D1D7-4890-A933-28FB9454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789694-3DFB-4E22-A027-E34794A6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00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-39.4%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9A1D2E-C922-4097-965A-208B4F55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28950"/>
            <a:ext cx="1028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1B1FAA-64E0-4C4C-9493-8BBE3B05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040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B57296-ABC7-42F5-8C3C-67A2ED20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781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7D5064-4B2E-48E5-B98A-38577FF0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9095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31288C-E20D-4161-B49F-02F0D518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1950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8BCD94-19CD-4B59-997B-4B89D31D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9095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3C9479C-2675-4E42-84BE-A7BD5510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19500"/>
            <a:ext cx="1257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2F7FD8C-C7B3-4B85-8A88-47B8061A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-50.9%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A03B313-6452-4429-B8E3-EF354145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195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9E81FC5-4BA9-4910-B8A6-1EC4FF9E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7909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+2.1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92B8A71-4C76-473E-ABDA-A502E246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6195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EF3094-8597-4B63-9448-1DD5CF9C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909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98.9%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42ADB3-C179-40FE-9255-2CA72FDC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195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C8A2004-1BDC-49D5-92B0-0CE2A842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909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-52.9%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6F30AEB-46FE-4936-8B2F-FB45CE39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1028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ADC92C-5FFE-4C18-AC9A-3E10A877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DFE85CB-444F-4E59-A7D4-6BA13454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7810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9CDD235-9BE7-42B0-AB39-4E07B8E6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CCE5A63-322A-448A-88F5-21EC8B6C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1005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5B2C151-D15D-4BA8-A09C-79D8BB8F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815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8709F64-8297-4508-9E20-AE6E1D2A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210050"/>
            <a:ext cx="1257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68808DB-F453-4E35-A35A-E42DD619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815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-49.8%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836E24A-9850-4E0C-B9DB-BD1A13A6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100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6214273-DEC9-4961-A825-0C2D9ADD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815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+3.2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B390ADC-47A2-4D1E-B969-AD139F08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2100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9520753-E9EE-49C3-81C3-6127A75E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815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99.0%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E7810E8-3378-43D9-AAD1-8E87EEEA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100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402FB74-0A12-49E4-842D-FFB8228C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815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-51.9%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855910C-D2E8-452A-9F94-E60FD136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10050"/>
            <a:ext cx="1028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FEBA023-2650-4319-9015-D0703CA8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8150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6F09487-7121-41EA-BD11-37FBDC0D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This is the strongest 2020 participation read so far, but the equal-weight high-beta basket still won. In 2022, the state-only policy stayed almost fully exposed, so its edge over the falling basket was small.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09E32AA-D895-4A75-A255-878A9294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38282883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92667F-D650-4622-A4D0-BCE3C9D6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460D3-0B4A-466E-8960-15BD3F13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state-only map is a true binary exposure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9A8D1-AEFA-4F76-81E6-D05C1D6D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4ceb6d94a4b6b"/>
          <a:stretch xmlns:a="http://schemas.openxmlformats.org/drawingml/2006/main"/>
        </p:blipFill>
        <p:spPr>
          <a:xfrm xmlns:a="http://schemas.openxmlformats.org/drawingml/2006/main">
            <a:off x="552450" y="1699480"/>
            <a:ext cx="6572250" cy="429724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215D2-1F11-4842-AA12-10499B06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95500"/>
            <a:ext cx="33337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3A7E1-D688-4A47-AB05-488F4FC5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81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Sanity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CB224F-B362-415A-B79A-2127A3AA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D09F9-0B67-49C6-A3C8-470BAE84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908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Selections are only State hold or Exit cash.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1DF574-65C1-4FB6-9FEE-ED2ADC7B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48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0C623-EF5C-4EAE-9B40-22B47B6A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528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AVGO was almost always favorable.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01BD86-AB33-4CFD-9054-030FC4A8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99771-E8A0-433F-AA52-34B2778F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14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MSTR and TSLA were more selective.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F94BD-04B0-49F0-B8DC-AE39A31B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7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F0BF3D-E734-4F68-B8F7-5B32ED63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767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Cash states force exit, not passive holding.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F250CF-2F39-4B38-85FF-DE7AAC6E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99650831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D14B31-1A0F-4C56-8FEE-5536268B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01CFF5-69F5-4032-8B61-C2C680DD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visual audit shows why this deserves a wider but careful follow-up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DAA8AF-D3E4-48FA-AC07-D93B0F6D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77753551041ff"/>
          <a:stretch xmlns:a="http://schemas.openxmlformats.org/drawingml/2006/main"/>
        </p:blipFill>
        <p:spPr>
          <a:xfrm xmlns:a="http://schemas.openxmlformats.org/drawingml/2006/main">
            <a:off x="1306657" y="1581150"/>
            <a:ext cx="5844886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0D617-3D96-428E-9EC0-DAD17029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38350"/>
            <a:ext cx="2724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D98BB9-3886-4B49-A8B4-359A9163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241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Interpretation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57136D-9FAF-4342-B819-51966A9F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20FAC9-B76A-4777-A644-2EC108DF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9085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Much stronger 2020 upside participation.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C4B0A8-53CB-4B69-ABAC-81FD1850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33744-A01F-4B8A-991B-F6840A0D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290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Too much 2022 exposure.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FCE490-8A38-446A-ACBD-39694CDE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62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CFC83-91A2-4D4B-9B63-B7C17218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6715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Next: test a hold-only middle action.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A1123C-5F11-4B00-BA6D-40DBB9A0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7878153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2026-07-13T04:35:20.9340000Z</dcterms:created>
  <dcterms:modified xsi:type="dcterms:W3CDTF">2026-07-13T04:35:20.9340000Z</dcterms:modified>
</coreProperties>
</file>