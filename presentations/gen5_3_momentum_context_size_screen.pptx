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9d99de138ca4ff2" /><Relationship Type="http://schemas.openxmlformats.org/officeDocument/2006/relationships/extended-properties" Target="/docProps/app.xml" Id="Raec5e0938e7f4c41" /><Relationship Type="http://schemas.openxmlformats.org/officeDocument/2006/relationships/officeDocument" Target="/ppt/presentation.xml" Id="R4bfd41c52ca5426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86a72ed5afc466d"/>
  </p:sldMasterIdLst>
  <p:notesMasterIdLst>
    <p:notesMasterId xmlns:r="http://schemas.openxmlformats.org/officeDocument/2006/relationships" r:id="Rfe1e93b13b224ffd"/>
  </p:notesMasterIdLst>
  <p:sldIdLst>
    <p:sldId xmlns:r="http://schemas.openxmlformats.org/officeDocument/2006/relationships" id="256" r:id="R7a27974dc02341c1"/>
    <p:sldId xmlns:r="http://schemas.openxmlformats.org/officeDocument/2006/relationships" id="257" r:id="R7845f4e43432461d"/>
    <p:sldId xmlns:r="http://schemas.openxmlformats.org/officeDocument/2006/relationships" id="258" r:id="Rab8e7b9cd3af4281"/>
    <p:sldId xmlns:r="http://schemas.openxmlformats.org/officeDocument/2006/relationships" id="259" r:id="Rffcfbf1fa70f405a"/>
    <p:sldId xmlns:r="http://schemas.openxmlformats.org/officeDocument/2006/relationships" id="260" r:id="R2a238072d3c242d0"/>
    <p:sldId xmlns:r="http://schemas.openxmlformats.org/officeDocument/2006/relationships" id="261" r:id="R147a4e89511d4c16"/>
    <p:sldId xmlns:r="http://schemas.openxmlformats.org/officeDocument/2006/relationships" id="262" r:id="Re6b55dad719b46ca"/>
    <p:sldId xmlns:r="http://schemas.openxmlformats.org/officeDocument/2006/relationships" id="263" r:id="Ra6ba0dcfda5f4f39"/>
    <p:sldId xmlns:r="http://schemas.openxmlformats.org/officeDocument/2006/relationships" id="264" r:id="Rd3b18f852f4e4f81"/>
    <p:sldId xmlns:r="http://schemas.openxmlformats.org/officeDocument/2006/relationships" id="265" r:id="R998a3fea02c246e2"/>
    <p:sldId xmlns:r="http://schemas.openxmlformats.org/officeDocument/2006/relationships" id="266" r:id="Radfd5912f3c843a2"/>
    <p:sldId xmlns:r="http://schemas.openxmlformats.org/officeDocument/2006/relationships" id="267" r:id="Re233fcad24394677"/>
    <p:sldId xmlns:r="http://schemas.openxmlformats.org/officeDocument/2006/relationships" id="268" r:id="R4f9a9631d95b4399"/>
    <p:sldId xmlns:r="http://schemas.openxmlformats.org/officeDocument/2006/relationships" id="269" r:id="R986c0fc4f31e4f0f"/>
    <p:sldId xmlns:r="http://schemas.openxmlformats.org/officeDocument/2006/relationships" id="270" r:id="R7250bd5e5da342a3"/>
    <p:sldId xmlns:r="http://schemas.openxmlformats.org/officeDocument/2006/relationships" id="271" r:id="R9aa3ac4ebd9c4eb0"/>
    <p:sldId xmlns:r="http://schemas.openxmlformats.org/officeDocument/2006/relationships" id="272" r:id="Rbcd45905ada945b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c1f99cd5ba84a6e" /><Relationship Type="http://schemas.openxmlformats.org/officeDocument/2006/relationships/slideMaster" Target="/ppt/slideMasters/slideMaster1.xml" Id="R486a72ed5afc466d" /><Relationship Type="http://schemas.openxmlformats.org/officeDocument/2006/relationships/notesMaster" Target="/ppt/notesMasters/notesMaster1.xml" Id="Rfe1e93b13b224ffd" /><Relationship Type="http://schemas.openxmlformats.org/officeDocument/2006/relationships/presProps" Target="/ppt/presProps.xml" Id="Rcb443e2fb92d42b0" /><Relationship Type="http://schemas.openxmlformats.org/officeDocument/2006/relationships/tableStyles" Target="/ppt/tableStyles.xml" Id="R2ebd5561ba394e4e" /><Relationship Type="http://schemas.openxmlformats.org/officeDocument/2006/relationships/slide" Target="/ppt/slides/slide1.xml" Id="R7a27974dc02341c1" /><Relationship Type="http://schemas.openxmlformats.org/officeDocument/2006/relationships/slide" Target="/ppt/slides/slide2.xml" Id="R7845f4e43432461d" /><Relationship Type="http://schemas.openxmlformats.org/officeDocument/2006/relationships/slide" Target="/ppt/slides/slide3.xml" Id="Rab8e7b9cd3af4281" /><Relationship Type="http://schemas.openxmlformats.org/officeDocument/2006/relationships/slide" Target="/ppt/slides/slide4.xml" Id="Rffcfbf1fa70f405a" /><Relationship Type="http://schemas.openxmlformats.org/officeDocument/2006/relationships/slide" Target="/ppt/slides/slide5.xml" Id="R2a238072d3c242d0" /><Relationship Type="http://schemas.openxmlformats.org/officeDocument/2006/relationships/slide" Target="/ppt/slides/slide6.xml" Id="R147a4e89511d4c16" /><Relationship Type="http://schemas.openxmlformats.org/officeDocument/2006/relationships/slide" Target="/ppt/slides/slide7.xml" Id="Re6b55dad719b46ca" /><Relationship Type="http://schemas.openxmlformats.org/officeDocument/2006/relationships/slide" Target="/ppt/slides/slide8.xml" Id="Ra6ba0dcfda5f4f39" /><Relationship Type="http://schemas.openxmlformats.org/officeDocument/2006/relationships/slide" Target="/ppt/slides/slide9.xml" Id="Rd3b18f852f4e4f81" /><Relationship Type="http://schemas.openxmlformats.org/officeDocument/2006/relationships/slide" Target="/ppt/slides/slide10.xml" Id="R998a3fea02c246e2" /><Relationship Type="http://schemas.openxmlformats.org/officeDocument/2006/relationships/slide" Target="/ppt/slides/slide11.xml" Id="Radfd5912f3c843a2" /><Relationship Type="http://schemas.openxmlformats.org/officeDocument/2006/relationships/slide" Target="/ppt/slides/slide12.xml" Id="Re233fcad24394677" /><Relationship Type="http://schemas.openxmlformats.org/officeDocument/2006/relationships/slide" Target="/ppt/slides/slide13.xml" Id="R4f9a9631d95b4399" /><Relationship Type="http://schemas.openxmlformats.org/officeDocument/2006/relationships/slide" Target="/ppt/slides/slide14.xml" Id="R986c0fc4f31e4f0f" /><Relationship Type="http://schemas.openxmlformats.org/officeDocument/2006/relationships/slide" Target="/ppt/slides/slide15.xml" Id="R7250bd5e5da342a3" /><Relationship Type="http://schemas.openxmlformats.org/officeDocument/2006/relationships/slide" Target="/ppt/slides/slide16.xml" Id="R9aa3ac4ebd9c4eb0" /><Relationship Type="http://schemas.openxmlformats.org/officeDocument/2006/relationships/slide" Target="/ppt/slides/slide17.xml" Id="Rbcd45905ada945b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cfcfe12f9fb48c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4c2b1a4c47c4f98" /><Relationship Type="http://schemas.openxmlformats.org/officeDocument/2006/relationships/notesMaster" Target="/ppt/notesMasters/notesMaster1.xml" Id="Rc861d77887a6407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5fe7ce15068413c" /><Relationship Type="http://schemas.openxmlformats.org/officeDocument/2006/relationships/notesMaster" Target="/ppt/notesMasters/notesMaster1.xml" Id="Rc680cce57ff3462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9cd0fbc58e24c02" /><Relationship Type="http://schemas.openxmlformats.org/officeDocument/2006/relationships/notesMaster" Target="/ppt/notesMasters/notesMaster1.xml" Id="R816a21734da84c4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b8b6a71ba094179" /><Relationship Type="http://schemas.openxmlformats.org/officeDocument/2006/relationships/notesMaster" Target="/ppt/notesMasters/notesMaster1.xml" Id="R6aab16705ab4496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d418c0fa6854269" /><Relationship Type="http://schemas.openxmlformats.org/officeDocument/2006/relationships/notesMaster" Target="/ppt/notesMasters/notesMaster1.xml" Id="Rfb80d8c40b06461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4135c0229194966" /><Relationship Type="http://schemas.openxmlformats.org/officeDocument/2006/relationships/notesMaster" Target="/ppt/notesMasters/notesMaster1.xml" Id="R434e21416e11448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3aa6b8fcbbc4875" /><Relationship Type="http://schemas.openxmlformats.org/officeDocument/2006/relationships/notesMaster" Target="/ppt/notesMasters/notesMaster1.xml" Id="R5eb7a30aa20c464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427e6b7334c462b" /><Relationship Type="http://schemas.openxmlformats.org/officeDocument/2006/relationships/notesMaster" Target="/ppt/notesMasters/notesMaster1.xml" Id="R261376adc9e9468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dd17b97df22433d" /><Relationship Type="http://schemas.openxmlformats.org/officeDocument/2006/relationships/notesMaster" Target="/ppt/notesMasters/notesMaster1.xml" Id="R370fdc1f758740a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97af5eeccc84864" /><Relationship Type="http://schemas.openxmlformats.org/officeDocument/2006/relationships/notesMaster" Target="/ppt/notesMasters/notesMaster1.xml" Id="Rd86b38883d8841d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4146462ff0b4c9a" /><Relationship Type="http://schemas.openxmlformats.org/officeDocument/2006/relationships/notesMaster" Target="/ppt/notesMasters/notesMaster1.xml" Id="Rd6d656eba69b4e1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801be0a9b2b4f23" /><Relationship Type="http://schemas.openxmlformats.org/officeDocument/2006/relationships/notesMaster" Target="/ppt/notesMasters/notesMaster1.xml" Id="Rfca5c9f65d45470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5b5d0f4f801434a" /><Relationship Type="http://schemas.openxmlformats.org/officeDocument/2006/relationships/notesMaster" Target="/ppt/notesMasters/notesMaster1.xml" Id="R8ed0657e5a314f3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a37661f857d42d7" /><Relationship Type="http://schemas.openxmlformats.org/officeDocument/2006/relationships/notesMaster" Target="/ppt/notesMasters/notesMaster1.xml" Id="Rc98a9f6a9b3a488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34343836b4045f4" /><Relationship Type="http://schemas.openxmlformats.org/officeDocument/2006/relationships/notesMaster" Target="/ppt/notesMasters/notesMaster1.xml" Id="R0b41316ae9fb4f8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75c89517d6043af" /><Relationship Type="http://schemas.openxmlformats.org/officeDocument/2006/relationships/notesMaster" Target="/ppt/notesMasters/notesMaster1.xml" Id="R9d14bf0048a04b7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c4f92112489419f" /><Relationship Type="http://schemas.openxmlformats.org/officeDocument/2006/relationships/notesMaster" Target="/ppt/notesMasters/notesMaster1.xml" Id="R6dda4ed348ac4a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c03f1669a6435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40b428d196449dc" /><Relationship Type="http://schemas.openxmlformats.org/officeDocument/2006/relationships/slideLayout" Target="/ppt/slideLayouts/slideLayout1.xml" Id="R95bf8d53bcd34e9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bf8d53bcd34e9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12a2777f2d4305" /><Relationship Type="http://schemas.openxmlformats.org/officeDocument/2006/relationships/notesSlide" Target="/ppt/notesSlides/notesSlide1.xml" Id="Ra5c2c09af2c24a8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bda31bc1e64ba1" /><Relationship Type="http://schemas.openxmlformats.org/officeDocument/2006/relationships/notesSlide" Target="/ppt/notesSlides/notesSlide2.xml" Id="R5cdee57fef3c45a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37485c86744d92" /><Relationship Type="http://schemas.openxmlformats.org/officeDocument/2006/relationships/notesSlide" Target="/ppt/notesSlides/notesSlide3.xml" Id="Rd57b3466cee7473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c19cf373bf47a0" /><Relationship Type="http://schemas.openxmlformats.org/officeDocument/2006/relationships/notesSlide" Target="/ppt/notesSlides/notesSlide4.xml" Id="Rf73cc33654a44d9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b2365617ca40f9" /><Relationship Type="http://schemas.openxmlformats.org/officeDocument/2006/relationships/notesSlide" Target="/ppt/notesSlides/notesSlide5.xml" Id="R69523e1b7ae743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3cdbfa0e1b4871" /><Relationship Type="http://schemas.openxmlformats.org/officeDocument/2006/relationships/image" Target="/ppt/media/image.png" Id="R4404628e44524cb7" /><Relationship Type="http://schemas.openxmlformats.org/officeDocument/2006/relationships/notesSlide" Target="/ppt/notesSlides/notesSlide6.xml" Id="Rf1f7b3d7770941f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92609bc6e54259" /><Relationship Type="http://schemas.openxmlformats.org/officeDocument/2006/relationships/notesSlide" Target="/ppt/notesSlides/notesSlide7.xml" Id="R16c8d0725b7f46b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19a74c0c4d43c9" /><Relationship Type="http://schemas.openxmlformats.org/officeDocument/2006/relationships/image" Target="/ppt/media/image2.png" Id="R6b30e39bd4d343e6" /><Relationship Type="http://schemas.openxmlformats.org/officeDocument/2006/relationships/notesSlide" Target="/ppt/notesSlides/notesSlide8.xml" Id="R1ccf0a9f1a114f5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7ed1e76b7b458e" /><Relationship Type="http://schemas.openxmlformats.org/officeDocument/2006/relationships/chart" Target="/ppt/slides/charts/chart1.xml" Id="R3b089e004fa04ff1" /><Relationship Type="http://schemas.openxmlformats.org/officeDocument/2006/relationships/notesSlide" Target="/ppt/notesSlides/notesSlide9.xml" Id="R56233c294b90417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72e11c71484679" /><Relationship Type="http://schemas.openxmlformats.org/officeDocument/2006/relationships/image" Target="/ppt/media/image3.png" Id="R95888b7b1db64d09" /><Relationship Type="http://schemas.openxmlformats.org/officeDocument/2006/relationships/notesSlide" Target="/ppt/notesSlides/notesSlide10.xml" Id="R4ce75ddf4177463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b2cd54416f42da" /><Relationship Type="http://schemas.openxmlformats.org/officeDocument/2006/relationships/image" Target="/ppt/media/image4.png" Id="R5bb077d58de34c28" /><Relationship Type="http://schemas.openxmlformats.org/officeDocument/2006/relationships/notesSlide" Target="/ppt/notesSlides/notesSlide11.xml" Id="R26dfbe6efd4c4f1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fd48e249d64ebd" /><Relationship Type="http://schemas.openxmlformats.org/officeDocument/2006/relationships/notesSlide" Target="/ppt/notesSlides/notesSlide12.xml" Id="Re542e51520554a5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35f450d71a4d75" /><Relationship Type="http://schemas.openxmlformats.org/officeDocument/2006/relationships/notesSlide" Target="/ppt/notesSlides/notesSlide13.xml" Id="R769c3b6a1f6c4dc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61f370d38745a2" /><Relationship Type="http://schemas.openxmlformats.org/officeDocument/2006/relationships/notesSlide" Target="/ppt/notesSlides/notesSlide14.xml" Id="Rd1fb9cb2c3004ce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8a7c3a0c19404f" /><Relationship Type="http://schemas.openxmlformats.org/officeDocument/2006/relationships/image" Target="/ppt/media/image5.png" Id="R107094f3b789441d" /><Relationship Type="http://schemas.openxmlformats.org/officeDocument/2006/relationships/notesSlide" Target="/ppt/notesSlides/notesSlide15.xml" Id="Rbe02d0589a7c4c3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2a03fc34da408f" /><Relationship Type="http://schemas.openxmlformats.org/officeDocument/2006/relationships/notesSlide" Target="/ppt/notesSlides/notesSlide16.xml" Id="R03592632725c4c7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d1280c048b4523" /><Relationship Type="http://schemas.openxmlformats.org/officeDocument/2006/relationships/image" Target="/ppt/media/image6.png" Id="R0c1bec96a69743c6" /><Relationship Type="http://schemas.openxmlformats.org/officeDocument/2006/relationships/notesSlide" Target="/ppt/notesSlides/notesSlide17.xml" Id="Rf1826855e0dc49ca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Strategy</c:v>
          </c:tx>
          <c:spPr>
            <a:solidFill xmlns:a="http://schemas.openxmlformats.org/drawingml/2006/main">
              <a:srgbClr val="FF6B35"/>
            </a:solidFill>
          </c:spPr>
          <c:invertIfNegative val="0"/>
          <c:dLbls/>
          <c:cat>
            <c:numLit>
              <c:formatCode>General</c:formatCode>
              <c:ptCount val="4"/>
              <c:pt idx="0">
                <c:v>2019</c:v>
              </c:pt>
              <c:pt idx="1">
                <c:v>2020</c:v>
              </c:pt>
              <c:pt idx="2">
                <c:v>2022</c:v>
              </c:pt>
              <c:pt idx="3">
                <c:v>2024</c:v>
              </c:pt>
            </c:numLit>
          </c:cat>
          <c:val>
            <c:numLit>
              <c:formatCode>General</c:formatCode>
              <c:ptCount val="4"/>
              <c:pt idx="0">
                <c:v>2.23827026790857</c:v>
              </c:pt>
              <c:pt idx="1">
                <c:v>105.99847113368699</c:v>
              </c:pt>
              <c:pt idx="2">
                <c:v>-22.6109990928716</c:v>
              </c:pt>
              <c:pt idx="3">
                <c:v>138.140043213633</c:v>
              </c:pt>
            </c:numLit>
          </c:val>
        </c:ser>
        <c:ser>
          <c:idx val="1"/>
          <c:order val="1"/>
          <c:tx>
            <c:v>Basket hold</c:v>
          </c:tx>
          <c:spPr>
            <a:solidFill xmlns:a="http://schemas.openxmlformats.org/drawingml/2006/main">
              <a:srgbClr val="000000"/>
            </a:solidFill>
          </c:spPr>
          <c:invertIfNegative val="0"/>
          <c:dLbls/>
          <c:cat>
            <c:numLit>
              <c:formatCode>General</c:formatCode>
              <c:ptCount val="4"/>
              <c:pt idx="0">
                <c:v>2019</c:v>
              </c:pt>
              <c:pt idx="1">
                <c:v>2020</c:v>
              </c:pt>
              <c:pt idx="2">
                <c:v>2022</c:v>
              </c:pt>
              <c:pt idx="3">
                <c:v>2024</c:v>
              </c:pt>
            </c:numLit>
          </c:cat>
          <c:val>
            <c:numLit>
              <c:formatCode>General</c:formatCode>
              <c:ptCount val="4"/>
              <c:pt idx="0">
                <c:v>58.442044682227504</c:v>
              </c:pt>
              <c:pt idx="1">
                <c:v>227.277921974783</c:v>
              </c:pt>
              <c:pt idx="2">
                <c:v>-53.0417801301569</c:v>
              </c:pt>
              <c:pt idx="3">
                <c:v>133.45555861176902</c:v>
              </c:pt>
            </c:numLit>
          </c:val>
        </c:ser>
        <c:dLbls>
          <c:dLblPos val="outEnd"/>
          <c:showVal val="1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B537F7F-98B8-4947-9075-0E8EB1209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GEN5.3 RESEARCH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2B5D59-0220-4285-A510-CF154686D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38250"/>
            <a:ext cx="9334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Annual continuity replay made the next strategy question sharper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205CB1-AD2C-425A-A40D-65D101A49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8191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55555"/>
                </a:solidFill>
              </a:defRPr>
            </a:pPr>
            <a:r>
              <a:rPr sz="1800" b="0">
                <a:solidFill>
                  <a:srgbClr val="555555"/>
                </a:solidFill>
              </a:rPr>
              <a:t>The corrected one-year screen keeps risk-aware context, the workhorse PCA surface, and continuation replay as the control lane. It also shows that the EMA-only pool may be too narrow to judge the broader hypothesis.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73A5AA-8ACE-4B6F-BC21-F4CF98E2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540987-B6D1-4D88-81AF-34454F073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Continuity packet: runs/research_workbench/gen53_momentum_context_size/g53_momctx_20260711continuity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AFB728-595A-4E53-9773-6369FC510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3092694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9718DA-D3C7-463A-B2E5-A9D2CB2AE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24582A-977A-45C8-964C-61101641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test changed because one quarter was too sparse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E9A176-2E20-443C-9D85-3CAE626E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8B4B9B-8DD0-4ADA-A6F3-A110568D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19300"/>
            <a:ext cx="5143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00000"/>
                </a:solidFill>
              </a:defRPr>
            </a:pPr>
            <a:r>
              <a:rPr sz="1875" b="0">
                <a:solidFill>
                  <a:srgbClr val="000000"/>
                </a:solidFill>
              </a:rPr>
              <a:t>The prior slices were useful for mechanics, but they did not give much OOS surface area: a five-symbol live basket can easily look good or bad from a handful of trades in one quarter.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44FC28-C8BE-4D20-99CF-4B90049E9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62150"/>
            <a:ext cx="42291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ACA5F2-11BA-4E93-866E-18D05E440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90900"/>
            <a:ext cx="42291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940397-8C31-4D7D-89CB-49A9071E7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1717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B42318"/>
                </a:solidFill>
              </a:defRPr>
            </a:pPr>
            <a:r>
              <a:rPr sz="1650" b="1">
                <a:solidFill>
                  <a:srgbClr val="B42318"/>
                </a:solidFill>
              </a:rPr>
              <a:t>Before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72D7DA-A243-4786-B19C-3A9AA6BBC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4955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One OOS quarter. Faster, but low resolution for alpha and trade behavior.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621012-053B-4921-84B8-CD7B46D5C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6195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67647"/>
                </a:solidFill>
              </a:defRPr>
            </a:pPr>
            <a:r>
              <a:rPr sz="1650" b="1">
                <a:solidFill>
                  <a:srgbClr val="067647"/>
                </a:solidFill>
              </a:rPr>
              <a:t>Now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235F44-128A-44DF-86B5-30019C07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9624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Four independent quarterly TRAIN authorities replayed across one year, with open trades carrying until flat.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3C8FD3-A9EA-4009-B1EF-3089B4AF1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4355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This keeps the leakage boundary and avoids artificial quarter-end trade resets.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5D37DE-7ECD-42E4-8C36-12E6340A8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5528738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B62335-07D3-41BF-BCAA-D5799FAD9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820520-0FBE-47EC-8896-2E7729C34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screen isolates a narrow EMA-only participation hypothesis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DEFB04-594F-4785-B367-28C106CF6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0E8165-3676-4B92-91AE-9EA78BAEC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21DB6F-E1DE-4975-A3BB-D4AAAE00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Live basket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82EF54-5959-466B-BA89-D7C97370E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AMD, NVDA, TSLA, MSTR, AVGO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B42FA7-324B-4A6A-A57E-A796FDC55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054DA0-1CEB-45B3-A540-9EB563C5B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Context axis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1A77BF-1451-4ABA-B598-1ACA3350D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5 self assets; 12 with high-beta peers; 18 with peers and risk anchors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5E1A4B-DC56-4065-9882-94DE4136B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92EF56-52D4-468F-9579-0950E3C29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Feature axis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59FEFE-9F96-4175-A6AB-C54D999EE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Workhorse enriched; momentum participation; momentum plus stress; market-relative momentum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BEC1A9-D665-4284-B15A-149ABC46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2EAC67-6565-42FE-9093-85381A0D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Strategy pool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7B9104-299B-4F60-BEE9-04759C536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EMA cross, EMA trend, no-trade, no-trade exit-immediate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C4D01F-5DDF-4B95-A802-1BB533D5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149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Selection policy stayed fixed at pooled-family asset-variant, so this slice asks about feature design, context size, and replay semantics rather than reopening the whole Gen4-vs-Gen5 selection debate.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108CF8-5CAB-44DC-BAAC-DB7A81AFB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7590630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6B2049-F3D0-469F-BF8D-3E4D114BD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68FB2A-63D6-435E-8E66-E271A3C8E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best aggregate lane was risk-aware context plus the workhorse feature set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F214D0-39F0-43BF-A998-71750AAE1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BE6C19-5BF9-4273-9FAF-B537D2B44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66900"/>
            <a:ext cx="9886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4B2DF2-297A-4C73-AE85-38CCB79AF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52625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Best lane: Live + peers + risk anchors + Workhorse enriched + continuation. Mean return 55.9%, mean alpha -35.6 pp, exposure 40.3%.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885B1E-00E9-4647-B438-83B5B48CD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12E351-3B6B-44D4-8D82-9BF6C7F29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574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7F9C2A-6896-4AD1-A5D6-2BC792D01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812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463A05-698F-4DE9-AD1D-F11877E75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574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Feature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B4D693-7F70-41C5-9E37-D07A60B28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81250"/>
            <a:ext cx="1162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2C263C-3E49-44EC-9220-76F6D0EB2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57450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Replay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F95263-2444-44D5-9681-60AED5867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81250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717E8B-23E5-4913-BE41-94153A5D1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Win years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D07A00-4A92-48C3-BD19-90FF56148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81250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95A631-F196-4F63-A108-759CCB675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5745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Mean ret.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0DBC61-9653-4AC9-B8B0-1484104D2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81250"/>
            <a:ext cx="1066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9AF510-370F-47C8-89AA-BE284FD73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4574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Mean alpha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1D4C30-A270-47BF-899C-363D0E242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81250"/>
            <a:ext cx="1028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399D91-CF20-4472-A588-D8363C5A5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457450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Exposure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15B74F-39C3-4C33-B717-9974731B7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A4E25A-96CE-461E-9705-A0B962834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0182B3-AE2D-4A66-A9B5-971920D89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7241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54E54F-2610-4BCE-BCC9-9B4E7E06B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479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Workhorse enriched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B91022-DF04-4AF6-B625-D60E391DC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241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28B5BD-B8D6-40C2-B6DD-95D9C381C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479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597EA9-3268-42AE-8F17-296E0D22D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241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76EC5E-297D-41C3-9D15-7E3D945B3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479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2/4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5DB463-BA44-4DAA-B858-3282C2838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7241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3D8CD5-C212-4E3B-A97A-8EF8F7A25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479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55.9%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99AD39-5BAC-437B-93BB-F2192CE43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241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3A4550F-D340-4CE3-AACF-3D018C3EB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479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-35.6 pp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6811CDE-FFBC-4ECB-863C-3C49CE94C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7241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A43D0AB-B9D1-42F1-B595-A0AEF7848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8479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40.3%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2909BB7-4410-45AC-B704-2C656D4DD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C523BFD-FBB0-4BD6-A7E5-5FDB0C21D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623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4D03376-0DE5-474B-BC51-3019C705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385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62338C5-2FB1-4DB4-B7F0-CC27B513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623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Workhorse enriched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9449DB7-B73B-4CCB-BC19-4774C13E2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23850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A915683-47BF-4B11-B38F-FF2F2DF4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36232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fresh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EC9C39F-1878-473F-8A29-74DC712E6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385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1D5550B-4F9F-49C5-9F94-33A2AC548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623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2E60012-4BDD-4EE5-8E87-0F9427724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385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DE62AB6-DB72-447F-BB6E-366DD901E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3623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38.6%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FE72D27-DF97-4184-889E-3FAA6BB19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3850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071E366-65B9-489B-86CD-F80B9EF9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6232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-52.9 pp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8DC42C2-CFE8-46B9-8298-C7AEDBD1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23850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9FCBA01-3638-44EF-9660-413387197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36232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26.3%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9E33F16-B9AD-4D69-BEDB-9A1352CA9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C356CD8-21E8-43B8-9C4E-C7A61054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766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F33CD1F-D7C3-4DA7-AA3A-ECF22D49F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7528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E2CDDFC-9A3F-413A-9554-35D130B16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766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Momentum plus stress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0AD8F10-C978-4452-A0E4-5D7BA77A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7528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B853C00-6BE6-49EF-B77E-219AD4FB3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8766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069235A-1872-4F50-8CC2-CB41ECDBA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528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E4B4756-D3CD-483F-B45E-85306A11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766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0DC9B50-91A6-44FE-BA4D-04E947431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7528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21B0A11-8ED0-416E-95C6-480743A24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8766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33.1%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3CAE622-A9A7-467A-B5C3-7CC280A3E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528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05DB361-8792-40ED-B4DF-055D63C9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8766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-58.5 pp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2E30466-9E11-4DF4-9FD6-50E1C9EB3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7528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DB22EBA-4BF7-4025-9280-9A5AADB5B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8766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35.0%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0C866AC-CB80-4144-A6F1-739F7261C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672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F8598C7-F0C2-41A7-AAD0-1D34E8EDA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910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basket only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53C57DF-C247-48A6-81D7-9F3AB762E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2672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55ED6A3-0FE1-4C38-971A-A89B68AB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3910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Momentum participation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A872389-E4CB-4271-88BC-47577B6B8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26720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93FF0DA-0379-4C6A-8E79-348951FF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39102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8BE83BB-D576-4821-AC95-75F41229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672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327113D-0942-4BC1-935E-D785106CD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910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4418FB3-AD9F-4B69-BE0A-38A358E47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2672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F296C89-ED78-4E80-8E14-9DDE0DCD9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3910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30.9%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5430AB0-D9AA-4A62-B154-B1CC80312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26720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A97E30D-CBFB-48C3-87D4-F69413E2D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39102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-60.6 pp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553FE0F-004A-49D7-B021-228B7A9E8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26720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253E7D4-7AC3-4897-98DA-C72606287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39102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39.3%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382B430-F94B-4E0A-A8EF-F0307C6ED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815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1D0FB18-951E-4681-ABEE-46EDF0D24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053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high-beta peers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A619B87-9A78-4882-88EF-B321D885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7815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CC1FA2D-C1E6-43B4-9615-366A4E679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9053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Momentum plus stress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121D637-4D79-48FC-9709-E811FDFAE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7815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51595E8-F1C4-43A2-A49C-1833E2143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9053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4D983EA-2338-4D9C-939A-E9A4053D2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815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6602370-CCD9-4888-84C1-022DEAD37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9053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6DCA1B80-226E-416C-BD9C-99E624E75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7815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601A09A-73A7-4B11-9D46-7253E802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9053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29.8%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DC7CC1E-8BC3-4F46-B20B-1413313BF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7815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04C1B30-1F84-4C79-9BB4-31B3E957D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9053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-61.8 pp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32AB428-C936-4E66-8A2D-07F033A25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7815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ACEFA03-4EFA-40AC-882E-D0C67FD78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9053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34.0%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0257847-4D95-43CD-96A5-290755D8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388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Even the best lane did not beat equal-weight high-beta hold on average. The signal is subtler: broader risk-aware context made the specialist less bad against a very hard benchmark and produced positive alpha in two annual windows.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EC092CF-55B9-451F-87B2-02711A96B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21406731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CF1D53-D8EE-4A64-95DB-F15A7AC3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929C5B-5173-4FDE-997A-FB7AC1368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Continuity replay corrected the optimistic annual readout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1E82DD-4375-458E-8D98-DE6FEAFD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E1C3D9-5B8A-44D4-8552-2D5793840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24050"/>
            <a:ext cx="990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The independent-stitch packet was useful as a first annual inspection, but it could reset open trades at quarter boundaries. The continuity packet asks the live-like question: keep the quarterly authorities independent, but let open trades carry until flat.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08C045-6F55-4D28-B4C7-5B0D4C497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2190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E2331D-9039-420F-87F9-C4312FA6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71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Mean return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00D29D-2822-4A72-B310-486EED42D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33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81.7%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744B83-FA72-4F9D-874C-281E37FBD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76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independent stitch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DB3DE8-68A1-428D-B56F-FA2212101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00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42318"/>
                </a:solidFill>
              </a:defRPr>
            </a:pPr>
            <a:r>
              <a:rPr sz="2175" b="1">
                <a:solidFill>
                  <a:srgbClr val="B42318"/>
                </a:solidFill>
              </a:rPr>
              <a:t>55.9%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047D0A-D7E5-409A-9126-4DAF27DA4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62300"/>
            <a:ext cx="2190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D26DDF-C656-4A9D-B153-52E71C4E2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371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Alpha vs basket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9A702D-DBCC-4CBF-8169-E4B71B318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733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-9.8 pp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F7CC58-C376-4749-AFDC-A70268AF2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076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independent stitch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0A9DA2-491C-484D-A31E-3B5EE3228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400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42318"/>
                </a:solidFill>
              </a:defRPr>
            </a:pPr>
            <a:r>
              <a:rPr sz="2175" b="1">
                <a:solidFill>
                  <a:srgbClr val="B42318"/>
                </a:solidFill>
              </a:rPr>
              <a:t>-35.6 pp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FDBBF6-3F2A-43AF-BD16-D6B6A8951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62300"/>
            <a:ext cx="2190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ED78BC-5058-4FC9-B8F5-40C7A3937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71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Mean exposure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7DF176-2022-424F-A93F-A04774B5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33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64.6%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18A154-7B04-4247-89E6-2D643E7F8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76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independent stitch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9C9BC5-B051-499F-B274-DF0C799D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00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42318"/>
                </a:solidFill>
              </a:defRPr>
            </a:pPr>
            <a:r>
              <a:rPr sz="2175" b="1">
                <a:solidFill>
                  <a:srgbClr val="B42318"/>
                </a:solidFill>
              </a:rPr>
              <a:t>40.3%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E30835-25F5-416D-BB86-9543AD21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62300"/>
            <a:ext cx="2190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FFDC2A-DA9C-448D-9BA9-9B48EE8B0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371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Win years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9B4F69-6120-4D99-99AB-6BA427481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733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2/4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EAB48E-2C7B-4E08-8EA0-E2CB4756F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076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independent stitch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5941BA-D672-4208-AB21-7165C61F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400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00000"/>
                </a:solidFill>
              </a:defRPr>
            </a:pPr>
            <a:r>
              <a:rPr sz="2175" b="1">
                <a:solidFill>
                  <a:srgbClr val="000000"/>
                </a:solidFill>
              </a:rPr>
              <a:t>2/4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5EFE2B-99C2-4859-9EB1-ECE9A5F4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43550"/>
            <a:ext cx="962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448 symbol/boundary cases carried prior authority until flat, and 4 carried through annual as-of. The boundary mechanic materially changed the evidence.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CE2296-BDF7-4157-BCDA-1BBB30C4D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4145035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B0A8261-ECC4-464D-AE07-BE2AF593F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0A2293-EE99-4228-8BB6-9964406F8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annual heatmap shows why this is not a simple feature-set win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7765F7-388D-4822-A43A-46D2640CA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04628e44524cb7"/>
          <a:stretch xmlns:a="http://schemas.openxmlformats.org/drawingml/2006/main"/>
        </p:blipFill>
        <p:spPr>
          <a:xfrm xmlns:a="http://schemas.openxmlformats.org/drawingml/2006/main">
            <a:off x="2659700" y="1695450"/>
            <a:ext cx="2091049" cy="4629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43528D-B4D6-4093-A81F-B29A7B3DF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38350"/>
            <a:ext cx="34290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21A4B1-9FB8-4C56-B4B5-D1786199A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3050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What matters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F5B14B-1223-4DAB-91B1-34B025402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71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976E29-4984-459D-A437-F61024A7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765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 remains punishing because basket hold returned about 227%.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D314BD-CA28-4F75-9083-89BBA3366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390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52735A-9A82-46EC-916D-B8CC28D79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2956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 rewards staying out of a falling high-beta basket.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2E1CF4-8139-40FD-BD9E-FE3A9957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10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09CD90-6256-4F9A-B809-226F0A49D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147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2024 is the clean positive clue for risk-aware workhorse continuation.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F67DB7-CB9C-41C0-9F9D-C0847D67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29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967B0B-A535-4F69-9AAA-8829ADC43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1338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New momentum feature sets did not become the aggregate default.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DCD478-96C2-4D2A-AD6C-8BCDCF8D9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72513715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C3FB24-741F-47AD-AEFC-19C09F3A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9E5EBB-DA9B-42AB-91D1-8C491377C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best lane still tells a mixed window-by-window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00A5E2-5565-4C37-A06D-B87F88640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0D8CC2-B119-43F2-BD30-3619302DF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736706-A03E-4CC7-A3FC-5E0F06FC1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C425AB-09E8-4AAC-ACEA-D57BE18EE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B42318"/>
                </a:solidFill>
              </a:defRPr>
            </a:pPr>
            <a:r>
              <a:rPr sz="2325" b="1">
                <a:solidFill>
                  <a:srgbClr val="B42318"/>
                </a:solidFill>
              </a:rPr>
              <a:t>-56.2 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F761BD-4C8D-422B-9D70-E06A8797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02D4ED-1EBC-461F-8731-E099F52C7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2.2%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EFF304-F0BB-41C7-9958-3DE28C274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58.4%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7B2FDD-3858-4B25-AE34-0E94DD0E7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F0F1D1-D8F4-4BA9-9DDA-04BC04B81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2020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83C5E3-0A72-458F-870C-54A64987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B42318"/>
                </a:solidFill>
              </a:defRPr>
            </a:pPr>
            <a:r>
              <a:rPr sz="2325" b="1">
                <a:solidFill>
                  <a:srgbClr val="B42318"/>
                </a:solidFill>
              </a:rPr>
              <a:t>-121.3 pp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BA6667-1B1D-419B-8188-71387DC01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CA5840-E48E-40B5-A65E-377F15D4D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106.0%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685404-534C-4AD1-8A40-D14F60623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227.3%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328291-9BA0-4DAC-BDBD-E89DA042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6CD971-76F4-4EEE-8E4B-5E1EA00DD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552457-6AB8-426E-9699-7108C5D00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67647"/>
                </a:solidFill>
              </a:defRPr>
            </a:pPr>
            <a:r>
              <a:rPr sz="2325" b="1">
                <a:solidFill>
                  <a:srgbClr val="067647"/>
                </a:solidFill>
              </a:rPr>
              <a:t>+30.4 pp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344C3F-AB7F-4A60-A56F-B7165C220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E1A29B-2DF3-4623-A56F-A5BBD635C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-22.6%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82EE77-C43F-4A8E-9604-624098FFA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-53.0%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BAD9AA-B10E-40C0-8518-1588039B6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EB322E-BCA1-49F3-B6C3-FA7B9B2C9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2024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BB63A4-4E2B-4390-9DE0-BF50930A9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67647"/>
                </a:solidFill>
              </a:defRPr>
            </a:pPr>
            <a:r>
              <a:rPr sz="2325" b="1">
                <a:solidFill>
                  <a:srgbClr val="067647"/>
                </a:solidFill>
              </a:rPr>
              <a:t>+4.7 pp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010F40-C2AA-4259-86DA-38D4D22B6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37A120-2FA0-442D-827D-8B2C9CA53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138.1%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DF001E-02D2-4181-9E23-359DDF1DD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133.5%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E7AAC40-7B16-4E8D-8C90-C48EABF5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429250"/>
            <a:ext cx="962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Annual windows reveal a useful profile: strong 2024 participation and decent 2022 defense, but still serious undercapture in 2019 and 2020 high-beta upside.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2889710-2341-4F74-B90F-30379C5C2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65808799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AB6ACA-8BEC-4D29-AD90-97D023975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F2DE94-E69C-4296-A688-8D4C48EFF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Exposure helps, but simply being long more is not the whole answer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F6BD4F-9C00-401F-910F-DC7F045A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30e39bd4d343e6"/>
          <a:stretch xmlns:a="http://schemas.openxmlformats.org/drawingml/2006/main"/>
        </p:blipFill>
        <p:spPr>
          <a:xfrm xmlns:a="http://schemas.openxmlformats.org/drawingml/2006/main">
            <a:off x="967154" y="1695450"/>
            <a:ext cx="6066692" cy="438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AA3E1A-1115-4435-9DC9-0BCC2A8E5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266950"/>
            <a:ext cx="314325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0523AB-D59C-4AF1-9009-966F84C15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5270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Readout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7966B1-7276-4F24-86FE-B06656700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105150"/>
            <a:ext cx="2476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Continuation generally lifts exposure, and the better lanes cluster at moderate-to-high participation. But many high-exposure points are still deeply negative versus basket hold, so timing and state discrimination still matter.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29266D-F30E-46C0-8BD3-3C2594E0A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259493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F3F8A95-3A3D-4A67-8FBD-A09BD814D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94CA3F-5F32-4656-A5DF-53C84879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best lane beats in 2022 and 2024, but misses the big upside years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5A482D-D599-4BCB-8488-C11B54257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838200" y="2000250"/>
          <a:ext xmlns:a="http://schemas.openxmlformats.org/drawingml/2006/main" cx="6572250" cy="3600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b089e004fa04ff1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842D15-5AF7-4CC4-805B-5BB6D7DD1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29146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CA1D50-1091-4CD5-A2CA-111B879B3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3840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What the chart adds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5105C1-965F-47C5-8ED2-51192AA6C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24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ADCFA2-1D77-4509-BECE-5F12FB98D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2895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In 2020, the benchmark was too strong for a timing layer to catch.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8DAD91-E6DA-420E-A9B3-A852F7F10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00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A23DB3-0332-4BE7-97C1-D1BB3097A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052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In 2022, the system's partial exposure was valuable.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AC7A92-BB7E-4E29-9C00-7A3E86CC6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767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98AF49-BC8D-4FEE-8F1B-3370E2BB2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8145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In 2024, the same lane finally beat the high-beta basket while still trading selectively.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F19255-0965-4DBE-9100-1C8B7A498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25444526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CFDB12-3BB2-4D73-94A0-F8B044F77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47AE5B-DCDB-4C8F-B953-729F4E06B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authority map is cash-dominant, which explains part of the underparticipation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F768E9-7B3A-4472-B563-9AE3A6258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888b7b1db64d09"/>
          <a:stretch xmlns:a="http://schemas.openxmlformats.org/drawingml/2006/main"/>
        </p:blipFill>
        <p:spPr>
          <a:xfrm xmlns:a="http://schemas.openxmlformats.org/drawingml/2006/main">
            <a:off x="792256" y="1790700"/>
            <a:ext cx="6264088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E5BCFE-2D14-4C13-A680-582C8827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171700"/>
            <a:ext cx="3219450" cy="255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580949-F926-40DF-BA39-5D592A481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574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Sanity check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CD5033-20F2-4751-B9E8-B00E146B0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48000"/>
            <a:ext cx="2571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Across the full annual screen, no-trade remains the dominant selected authority in many asset-state cells. That is philosophically clean for a specialist, but it also means missed upside is expected unless the favorable states are timely and persistent.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6A573E-1793-4332-91EA-A763FF1DA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77927162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1183633-0605-4A53-BF70-9289941E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412CAA-B28F-40DF-BBC1-1EAB7139F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Representative tapes show both the promise and the weakness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7D2DAD-B4B0-40AE-AA3C-6B3CEBFF4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b077d58de34c28"/>
          <a:stretch xmlns:a="http://schemas.openxmlformats.org/drawingml/2006/main"/>
        </p:blipFill>
        <p:spPr>
          <a:xfrm xmlns:a="http://schemas.openxmlformats.org/drawingml/2006/main">
            <a:off x="2237466" y="1638300"/>
            <a:ext cx="3754668" cy="4762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A5B1C6-390A-4475-92F1-D5B072DEC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00250"/>
            <a:ext cx="285750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29EB82-6AD0-4EC3-82BE-F252E6209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2860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Visual audit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4C4D22-2E59-44F7-8206-B8F4B9C44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009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F64F5C-A6CB-4A6A-A1E3-8E9E297C4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1465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AMD shows churn and missed/stopped participation.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E0081C-63FC-45A1-9821-94FE51F31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524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AB375A-D3BB-48E2-AE11-DFCA33E50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42900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NVDA, TSLA, and MSTR show the lane can ride substantial trends.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CF7EF4-6F98-4119-BD3F-7F56E6F9E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038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92B34B-A08C-4124-8B5B-CB5261020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4335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Open exit signals at year end should be inspected in the next tape audit.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A800A7-70E1-4E74-B808-C6F6B491F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10116000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C8B257-2FC4-4C0F-AFB7-5B4DC8FDF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247149-EC1A-460F-A680-8FEB9A23B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next narrow screen should reopen strategy diversity carefully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228FF5-3A79-489C-8722-581263569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962C03-FB12-4816-BA8D-55070F54B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00250"/>
            <a:ext cx="44767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0727EE-63D6-472A-8C12-04CC3B64E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00250"/>
            <a:ext cx="44767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DB5A9A-5001-4A91-8352-1302E0CF1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324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42318"/>
                </a:solidFill>
              </a:defRPr>
            </a:pPr>
            <a:r>
              <a:rPr sz="2100" b="1">
                <a:solidFill>
                  <a:srgbClr val="B42318"/>
                </a:solidFill>
              </a:rPr>
              <a:t>Hold fixed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1345FF-08AA-493D-B5B3-C9949F8BB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EC2CA5-1F0B-4823-8371-405DF3C46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952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Context: hb_risk_aware_18.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1FF9DA-5064-4718-B56B-595E85C1C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29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0BBE3C-18A2-46EC-8561-37083D8E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333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Feature control: workhorse_enriched.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9DD365-D0BF-4FEC-9F0D-AAACB0BD2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0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76FE01-69CC-402D-9EAD-11CD84643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714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Replay: quarter_continuity_replay plus state-switch continuation.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6B2DAE-8E2A-4057-B4F5-63DCDE32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91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DD849C-C7D9-432A-B668-2DEBCA896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095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Benchmark: equal-weight high-beta basket hold.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13212B-C4D6-4DA9-A81A-6AEFBCBD6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24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67647"/>
                </a:solidFill>
              </a:defRPr>
            </a:pPr>
            <a:r>
              <a:rPr sz="2100" b="1">
                <a:solidFill>
                  <a:srgbClr val="067647"/>
                </a:solidFill>
              </a:rPr>
              <a:t>Vary first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7F3FA9-A509-4FB3-95D7-48B82AAFD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048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24D99D-78F6-49E9-8600-E745E713C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952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EMA-only momentum control.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4F3F8F-CD53-4B11-9C38-DF4EE8354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429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1EE73D-B992-4D63-A13B-92692D19F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333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Trend plus breakout expansion.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99D366-7124-4D60-9B66-4AEB65B9A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810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A9F99D-EE98-4BEC-BC44-110BA3686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714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Mean-reversion diagnostic pool.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7BFC67-DFB0-4783-822E-372395430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191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2A11AF-D6CE-45F1-A5F7-524487F5B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095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Classical full reopened pool.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63D3B7-85A1-457F-B1A1-7907D6DF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562600"/>
            <a:ext cx="967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The cleanest next question is whether the strategy pool was too narrow under the now-correct annual continuity surface.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34920D-21C2-459D-806B-DCDB245DB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38109401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6B1878-DB1E-43B5-84D9-62A6B97F2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642B94-1B08-4C34-9F2F-8DD2DCCCF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Feature sets should support the strategy question, not explode the grid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3B6DD9-CBBC-4233-AB4D-8DB71409C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7F47E1-A583-4A90-93C2-9CE2F22F2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29146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700E65-FB50-43FA-A7F2-DBD958317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Control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BF450E-2105-41CB-8A88-157198D97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337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6B35"/>
                </a:solidFill>
              </a:defRPr>
            </a:pPr>
            <a:r>
              <a:rPr sz="1425" b="1">
                <a:solidFill>
                  <a:srgbClr val="FF6B35"/>
                </a:solidFill>
              </a:rPr>
              <a:t>workhorse_enriched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8260C3-C812-4245-AF5F-E75333F2C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05200"/>
            <a:ext cx="2266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Keeps the best observed continuity lane intact.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920C47-A691-41CB-B43D-0DEDE7639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152650"/>
            <a:ext cx="29146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650AB5-CFEF-4B11-B4AE-5EC4A3143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003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Momentum challenger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021AE0-9831-4037-8A38-DC67DF381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9337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6B35"/>
                </a:solidFill>
              </a:defRPr>
            </a:pPr>
            <a:r>
              <a:rPr sz="1425" b="1">
                <a:solidFill>
                  <a:srgbClr val="FF6B35"/>
                </a:solidFill>
              </a:rPr>
              <a:t>momentum_plus_stress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EC26D0-9B0A-45E4-8369-E7535782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05200"/>
            <a:ext cx="2266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Checks whether richer trend and stress descriptors help once strategies are reopened.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FD60E1-E136-49A7-A16B-AC6316A9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52650"/>
            <a:ext cx="29146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470086-2B35-43AB-A658-3B7969A74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003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New diagnostic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6CC893-41B5-4C68-B05F-58DF2A605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9337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6B35"/>
                </a:solidFill>
              </a:defRPr>
            </a:pPr>
            <a:r>
              <a:rPr sz="1425" b="1">
                <a:solidFill>
                  <a:srgbClr val="FF6B35"/>
                </a:solidFill>
              </a:rPr>
              <a:t>reversion_breakout_context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2E1DE5-B550-419E-955A-D81E51B6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05200"/>
            <a:ext cx="2266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Adds range location, volatility compression, stretch, chop, impulse, and recovery cues for non-EMA families.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E21FFF-0A8C-4D36-AFBF-8E201E353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46735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If the reopened strategy pools do not help under these feature sets, the next problem is probably state timing/exposure design rather than missing mean-reversion or breakout families.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E9295A-D8AF-44FA-84AA-543FBD917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207241071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0FA088-3710-417D-BABE-A5B884B0B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41DB43-BFB2-4DCC-A6EE-67D8581B2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A targeted EMA feature diagnostic improved returns, but did not clear the benchmark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9ECEBC-BCC8-4F5E-8082-82983B242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853331-40F7-46B2-8822-5CE3E2EC0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4310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After the annual continuity control lane was identified, the next quick test held the high-beta risk-aware context, EMA-only pool, and continuation replay fixed while comparing three PCA feature surfaces.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72038B-F503-4A12-B3AA-71080F3D6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762AF5-DC59-423A-A417-E2FA62C3D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574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Context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C48612-421D-4519-A8D2-1C9E6C17E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812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677DB5-D5B6-4915-A3F4-4B2F44692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574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Feature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7886DF-BB6B-416E-ACDC-8FFEA775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81250"/>
            <a:ext cx="1162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3D33AF-4095-44AA-8529-301075E6D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57450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Replay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B62933-4976-4EAA-8C32-68C8D60D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81250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39B5D1-CD04-46B9-ADA2-7D1CD572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Win years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DDA912-55DA-4BC1-BEA1-251FD11F9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81250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C82932-70C3-41ED-A1C3-EEAA48FF9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5745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Mean ret.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8F3BBB-6965-4677-A1E4-6083A998D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81250"/>
            <a:ext cx="1066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0662A8-6E18-4A44-8187-66408471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4574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Mean alpha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E7A979-6138-4B91-97AD-1B52E7845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81250"/>
            <a:ext cx="1028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1C15ED-BC5B-4B10-91D9-620917ABC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457450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Exposure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13C226-5A51-480E-88C4-AE3F0F60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399CBD-FB68-4B3B-B7C4-8EC5845BA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DEC743-83CA-4BAC-ABFF-B98E7F41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7241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F00390-5E64-42FC-91D4-CF0BC745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479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Reversion-breakout context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39F344-9309-453F-B7D0-1FFD0B7F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241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F83538-3353-4A60-9A3C-0E697AFEF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479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5EA486-80F6-4146-9C37-1F84CE0A7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241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612A51-7B1D-43F7-BC5F-9DD2179A8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479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A2FA94-DEC6-48C6-B225-59E84D653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7241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A4C113-38DD-4E71-AB4F-73F18DCC3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479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68.1%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231889-B7E2-4058-8DE7-95A0A67C3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241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DC1E30-8B68-4799-B86E-81FE5BAD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479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-23.4 pp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A8088B-51EE-47A2-AF09-01E37988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7241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BEE100-AE80-4658-AD6B-3C69B8FAA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8479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48.0%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3F13B76-F1E0-4BDA-9EAE-2202AD170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6FAF8EF-C519-445B-B91D-FC83C1636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623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27BA85C-4733-4B6C-9D5F-A8EB2068F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385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52B822B-1B3B-45D3-90F8-F0F25DD21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623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Workhorse enriched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77BCC36-F58F-44C8-9211-2780C035A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23850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187BFA8-AA18-4F20-AC31-16E046B9A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36232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2D2E097-905B-4030-85E3-A4DB44C88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385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849AA47-4957-4570-8A64-A495A18AA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623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2/4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077E04F-6F5A-4A02-BF33-3A0A9386F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385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B745314-8505-410E-89A0-7F15D696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3623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55.9%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B0B1E67-2C05-40AA-8CB9-938307F1A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3850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7A81933-2067-48BF-AC27-E636666AF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6232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-35.6 pp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EF02516-F400-4D4C-B5B5-A3D3ABA3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23850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8AA48D2-DB83-416E-AB88-4C2009E45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36232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40.3%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E0CA93E-48D2-4AB6-89FE-96DDC6623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4AD8A15-8E85-4A0B-903D-4AA2F74FD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766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5E05742-1287-4E06-BEA7-D1986706B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7528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B534415-24F7-4517-939B-C256E8D9C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766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Momentum plus stress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7B137C9-FB9C-44E6-9C3A-01C7813B8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7528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1061939-CF11-449E-BFA5-750502C97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8766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640A070-3B98-42FE-B686-A501F5BB1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528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9BA33F4-8624-4F91-9DD4-2FC848100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766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82993AB-FCD4-4734-928D-9E573E0F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7528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D5354B0-ECBD-4846-9FB2-DA30A9EE1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8766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33.1%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FE1CF58-1B14-4D5A-957D-0E232CB2D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528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2245CAC-C8F3-46B2-B947-30E48E2FF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8766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-58.5 pp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0E32950-BB51-44FD-853A-37F402B32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7528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3C4B54A-D941-4EAF-AB24-7EB49B68C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8766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35.0%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4E3EB77-BF4D-47BC-8DE7-8C176C7DE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38800"/>
            <a:ext cx="1009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Best diagnostic feature set: Reversion-breakout context. It averaged 68.1% return, -23.4 pp alpha versus basket hold, 48.0% exposure, and beat the basket in 1/4 annual windows.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AF0B30F-60E4-4ACA-AB74-71477A69D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52642391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17CE85-EF67-485B-A25B-507CD6175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6B6BAB-2B4C-469D-A5CC-D636EC5F3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reversion-breakout feature set raised participation without solving upside capture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AC20F4-282E-4E35-BBCE-66DB80A2E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7094f3b789441d"/>
          <a:stretch xmlns:a="http://schemas.openxmlformats.org/drawingml/2006/main"/>
        </p:blipFill>
        <p:spPr>
          <a:xfrm xmlns:a="http://schemas.openxmlformats.org/drawingml/2006/main">
            <a:off x="1211507" y="1695450"/>
            <a:ext cx="5120787" cy="45910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2B6F37-1F64-4330-A15F-7F79251FB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076450"/>
            <a:ext cx="32385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00E7B0-15D1-4F9A-99DD-7BFB9E45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362200"/>
            <a:ext cx="2343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Interpretation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F35011-6436-40C5-AD21-74544FF5A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48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3946F2-4F59-4A00-984F-329A2B450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133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Reversion-breakout context lifted mean return versus the workhorse control.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14FBAD-7C71-4B93-878D-6FD5446E8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543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61AAE7-84A9-4EDB-8A76-DA72663F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448050"/>
            <a:ext cx="2133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It came close in 2024 and improved 2019/2020 participation, but still lagged the basket in 3 of 4 years.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180B0E-9E46-4A03-891A-A7DC4D44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038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9A8541-1BDA-4543-A47B-41121482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943350"/>
            <a:ext cx="2133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This argues for better state timing, not a feature-set promotion yet.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647BFA-0813-4A3B-93D9-C128D17D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04108089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B5ED1F7-DAAD-496E-BD29-153A5FC12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166D49-41DC-4143-84FA-53B156ED2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Trend and breakout families made the lane more defensive, not more participatory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6D7BF5-246C-4419-995E-4EB9CABB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50271E-96EE-4D54-A8DA-B3879E3E0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38350"/>
            <a:ext cx="838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2A485C-40AF-4F5E-8FD9-9C007F6F1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2407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Year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16C350-33AB-4A75-B5BC-7C789579D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038350"/>
            <a:ext cx="1809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091499-4B89-4660-87EB-029CE98EA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124075"/>
            <a:ext cx="1657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Pool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46EEDE-20D9-46EA-8043-64E70E17F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038350"/>
            <a:ext cx="1276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81EDDA-36DD-49F1-B161-062E1ED3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124075"/>
            <a:ext cx="1123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Return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459CF7-2193-4A5F-A3DA-28A8A62FB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383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FF926C-1BA3-4662-B485-A46979E41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1240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Alpha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4FCD10-6B7A-4D80-8E7A-588CD994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0383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32D84C-4A7B-44EC-BBA1-E43AFFCBE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1240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Exposure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D944F9-5799-442A-A2F4-989EF961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0383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2E8992-A138-4356-9E09-12AFA2D6D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1240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Drawdown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2CDBFC-1D90-4D32-8680-A1736DA65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38350"/>
            <a:ext cx="104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18F889-C836-41D6-BA67-3F3E678C1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124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Entries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623A85-7426-4E1E-B513-D160A560D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030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F9D969-9A0F-48CB-A829-BF238D11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C83342-04F3-4FFA-88C4-1B5374075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400300"/>
            <a:ext cx="1809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85A83E-5A0B-4467-A260-18ADBB49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7175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EMA-only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F71575-A584-4296-BC3C-0F804624B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400300"/>
            <a:ext cx="1276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094F57-127E-4D89-831F-D8543352C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5717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106.0%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A2A9B1-F388-499F-8CA3-1217FE75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003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BD1193-B71F-4EC4-B65F-9FF184BA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571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2318"/>
                </a:solidFill>
              </a:defRPr>
            </a:pPr>
            <a:r>
              <a:rPr sz="1200" b="0">
                <a:solidFill>
                  <a:srgbClr val="B42318"/>
                </a:solidFill>
              </a:rPr>
              <a:t>-121.3 pp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0BC112-9B4F-40DD-9670-9EF1663A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003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776F0B-1315-4F6C-8E08-314C84206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71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58.5%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FE52DA-05D5-4885-9D62-A68A33A2D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003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BF58C9-E1BF-46FC-8DAA-B32761B9D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571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-18.0%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1D0BC6-AF85-4313-A02C-B0EEF7A4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0030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A340C6F-50D8-4B6B-8559-24BD1B536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36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5C1B867-6AC9-421C-8FDF-895D1B208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9085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1E026CB-312C-40B6-9B33-0F18F46D6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7393017-AA61-4E48-BDBA-E5E97CBB3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990850"/>
            <a:ext cx="1809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5204BD0-6172-4B09-AF2F-D0077D6C2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6230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Trend/breakout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65CE0BE-FD7C-471D-B521-C035657A8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990850"/>
            <a:ext cx="1276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F6A6C18-DBD4-4A52-9543-20DF5FC5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16230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53.3%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46A94DE-B2E4-4153-88FB-909E6B338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908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E9EB8AA-B741-493C-B2A6-5B4AB846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1623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2318"/>
                </a:solidFill>
              </a:defRPr>
            </a:pPr>
            <a:r>
              <a:rPr sz="1200" b="0">
                <a:solidFill>
                  <a:srgbClr val="B42318"/>
                </a:solidFill>
              </a:rPr>
              <a:t>-173.9 pp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F5FCC58-E1A1-4C05-8469-2A79E1045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9908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42FDE7C-C78B-407F-B81F-68678C97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1623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36.8%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FB03A9D-07C5-4C7B-AE88-920810BCF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9908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60398B5-4963-47D0-B7FC-F41A70B2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623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-11.6%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B974C63-D12A-4D55-8CB5-84A97C2F1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99085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73CC6A9-3A8B-4480-BDA3-816A65F35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6230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47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F2DE8AE-E232-4C85-A769-5E2998480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8140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AD2034A-E496-4194-BF21-C7101190B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0843DD9-D740-4C17-A0F0-B1B796F8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581400"/>
            <a:ext cx="1809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8BA69BA-5937-410E-A0A3-5E79C7359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75285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EMA-only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C4ABDFC-6E63-493E-8EF7-48FAF05A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581400"/>
            <a:ext cx="1276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514B5AB-16D6-4D0C-B993-7779377F2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528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-22.6%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06E0D97-A069-4F4F-B7C5-5F07990A2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81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6A3B81B-29B4-4728-A42A-299642DD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752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67647"/>
                </a:solidFill>
              </a:defRPr>
            </a:pPr>
            <a:r>
              <a:rPr sz="1200" b="0">
                <a:solidFill>
                  <a:srgbClr val="067647"/>
                </a:solidFill>
              </a:rPr>
              <a:t>+30.4 pp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38176FA-2533-4E93-8921-5F0794ED2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581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0B5D150-E55E-4D23-92C8-C6419AFDE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752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16.8%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2CE3AFC-E21C-48AB-B5FA-7922CD215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581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19825C2-8B47-4CB1-8874-2CBF16881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752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-25.0%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30135E1-DAF9-4E28-96E9-182782021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58140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D360FF4-248C-40C7-992C-D314766AD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75285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42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D4FC99C-1453-4A33-9A08-C3BCCDE3D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7195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6C56B7E-3904-4DBA-BCFF-DD87D85D8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8D0CD3F-EE96-4A55-85BF-EE29A13AE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171950"/>
            <a:ext cx="1809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AEC4AE5-CA98-4F6C-A749-BDD24B26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4340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Trend/breakout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8272D09-9E98-472E-86A9-D5A2AB14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171950"/>
            <a:ext cx="1276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9655FF5-4CE2-4B0B-A47F-E4CF015F6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34340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-10.8%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297FCCC-E192-4FCD-9047-AC3B2A4D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71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87C8CF5-6D38-45D1-99F4-04530BF5B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43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67647"/>
                </a:solidFill>
              </a:defRPr>
            </a:pPr>
            <a:r>
              <a:rPr sz="1200" b="0">
                <a:solidFill>
                  <a:srgbClr val="067647"/>
                </a:solidFill>
              </a:rPr>
              <a:t>+42.2 pp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1DC3243-FFF6-4966-AE84-848FEDDB7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171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57D9E9F-B6B7-4AE5-9B7E-5B1A39429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343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19.3%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539FCF2-8005-41E6-BF21-BFB4766C9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171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278E7AE-F323-4F1F-8F30-7696A197E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343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-12.8%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8822748-1C65-4A21-B7A1-C7285390A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17195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4F50586-20BF-4513-ADB9-E23230E78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4340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19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B3C8B4F-01CD-4A87-A309-03CD9F7AA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91150"/>
            <a:ext cx="9753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The reopened pool improved 2022 defense, but it cut 2020 exposure and return sharply. That is useful selectivity evidence, not a solution to the high-beta upside capture problem.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3ACE3C3-9D17-4233-A1ED-5AF319545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0466095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3F7137-2BC7-48D5-8B5C-3AB81FDBC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6E7909-ED18-456E-B89C-60F0E7F1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strategy map explains the defensive readout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4A86E7-5997-449F-9828-1314BBDE6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1bec96a69743c6"/>
          <a:stretch xmlns:a="http://schemas.openxmlformats.org/drawingml/2006/main"/>
        </p:blipFill>
        <p:spPr>
          <a:xfrm xmlns:a="http://schemas.openxmlformats.org/drawingml/2006/main">
            <a:off x="571500" y="1744540"/>
            <a:ext cx="6667500" cy="4359519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75E13C-97C8-4F82-8E91-BA643A026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71700"/>
            <a:ext cx="31813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A85324-F310-4463-B659-4D69BD7A4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574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Visual read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B3F744-8855-419E-9366-703943E30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143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EF0CA4-5F5B-43B2-AAA0-2504F1C66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048000"/>
            <a:ext cx="2133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Most asset-state cells still select cash.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F1CA95-0C49-46B6-8962-B83025F95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619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DA70D5-3858-4C8F-8810-C517368A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24250"/>
            <a:ext cx="2133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Breakout additions appear only in narrow pockets.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730A53-9EFD-4733-B9AC-C87C2D197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95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96E7D1-5955-4CD5-998D-6AA1A09FA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000500"/>
            <a:ext cx="2133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The pool reduced drawdown but did not keep the system long enough in 2020.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D3DC73-A490-4BCA-A4B8-28B4473D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197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Next question: improve state timing and hold participation directly, instead of assuming a broader family list will create upside capture.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3A9EA7-1DAF-4C61-9CBC-789A7AE2E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3805852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2026-07-12T08:43:16.8520000Z</dcterms:created>
  <dcterms:modified xsi:type="dcterms:W3CDTF">2026-07-12T08:43:16.8530000Z</dcterms:modified>
</coreProperties>
</file>