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acddb4cb454556" /><Relationship Type="http://schemas.openxmlformats.org/officeDocument/2006/relationships/extended-properties" Target="/docProps/app.xml" Id="R270d1a7637aa4252" /><Relationship Type="http://schemas.openxmlformats.org/officeDocument/2006/relationships/officeDocument" Target="/ppt/presentation.xml" Id="R5d5dcc36c64d46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aadb270da4564"/>
  </p:sldMasterIdLst>
  <p:notesMasterIdLst>
    <p:notesMasterId xmlns:r="http://schemas.openxmlformats.org/officeDocument/2006/relationships" r:id="R08055b08452349c2"/>
  </p:notesMasterIdLst>
  <p:sldIdLst>
    <p:sldId xmlns:r="http://schemas.openxmlformats.org/officeDocument/2006/relationships" id="256" r:id="R3c382c85fa0f4831"/>
    <p:sldId xmlns:r="http://schemas.openxmlformats.org/officeDocument/2006/relationships" id="257" r:id="R0e6e685302eb4ab3"/>
    <p:sldId xmlns:r="http://schemas.openxmlformats.org/officeDocument/2006/relationships" id="258" r:id="Rce6568ef56e64f32"/>
    <p:sldId xmlns:r="http://schemas.openxmlformats.org/officeDocument/2006/relationships" id="259" r:id="Rb6cfcbad15fa4e0c"/>
    <p:sldId xmlns:r="http://schemas.openxmlformats.org/officeDocument/2006/relationships" id="260" r:id="Rff363b4062914b36"/>
    <p:sldId xmlns:r="http://schemas.openxmlformats.org/officeDocument/2006/relationships" id="261" r:id="R698cb6183ad94e43"/>
    <p:sldId xmlns:r="http://schemas.openxmlformats.org/officeDocument/2006/relationships" id="262" r:id="R4c0343f4740b4be8"/>
    <p:sldId xmlns:r="http://schemas.openxmlformats.org/officeDocument/2006/relationships" id="263" r:id="R750d2eea64fb48dc"/>
    <p:sldId xmlns:r="http://schemas.openxmlformats.org/officeDocument/2006/relationships" id="264" r:id="Rc0966e4a0e5348b2"/>
    <p:sldId xmlns:r="http://schemas.openxmlformats.org/officeDocument/2006/relationships" id="265" r:id="R1136b960126542c0"/>
    <p:sldId xmlns:r="http://schemas.openxmlformats.org/officeDocument/2006/relationships" id="266" r:id="R8b8a685211e940f0"/>
    <p:sldId xmlns:r="http://schemas.openxmlformats.org/officeDocument/2006/relationships" id="267" r:id="R48e26a6f49f844cc"/>
    <p:sldId xmlns:r="http://schemas.openxmlformats.org/officeDocument/2006/relationships" id="268" r:id="R69e7f7a0b4c94f67"/>
    <p:sldId xmlns:r="http://schemas.openxmlformats.org/officeDocument/2006/relationships" id="269" r:id="R55da06b4022549aa"/>
    <p:sldId xmlns:r="http://schemas.openxmlformats.org/officeDocument/2006/relationships" id="270" r:id="R7d036a7757fa4444"/>
    <p:sldId xmlns:r="http://schemas.openxmlformats.org/officeDocument/2006/relationships" id="271" r:id="R566f4644b5fe4fdd"/>
    <p:sldId xmlns:r="http://schemas.openxmlformats.org/officeDocument/2006/relationships" id="272" r:id="R10043d47d9e84281"/>
    <p:sldId xmlns:r="http://schemas.openxmlformats.org/officeDocument/2006/relationships" id="273" r:id="R3c3e783652ec478a"/>
    <p:sldId xmlns:r="http://schemas.openxmlformats.org/officeDocument/2006/relationships" id="274" r:id="Re9cb61c5ce7843b9"/>
    <p:sldId xmlns:r="http://schemas.openxmlformats.org/officeDocument/2006/relationships" id="275" r:id="R6081ee74230e40f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08787be28d4211" /><Relationship Type="http://schemas.openxmlformats.org/officeDocument/2006/relationships/slideMaster" Target="/ppt/slideMasters/slideMaster1.xml" Id="R068aadb270da4564" /><Relationship Type="http://schemas.openxmlformats.org/officeDocument/2006/relationships/notesMaster" Target="/ppt/notesMasters/notesMaster1.xml" Id="R08055b08452349c2" /><Relationship Type="http://schemas.openxmlformats.org/officeDocument/2006/relationships/presProps" Target="/ppt/presProps.xml" Id="R5eabb25162bb41a5" /><Relationship Type="http://schemas.openxmlformats.org/officeDocument/2006/relationships/tableStyles" Target="/ppt/tableStyles.xml" Id="Reb18bd8ecf6c40e7" /><Relationship Type="http://schemas.openxmlformats.org/officeDocument/2006/relationships/slide" Target="/ppt/slides/slide1.xml" Id="R3c382c85fa0f4831" /><Relationship Type="http://schemas.openxmlformats.org/officeDocument/2006/relationships/slide" Target="/ppt/slides/slide2.xml" Id="R0e6e685302eb4ab3" /><Relationship Type="http://schemas.openxmlformats.org/officeDocument/2006/relationships/slide" Target="/ppt/slides/slide3.xml" Id="Rce6568ef56e64f32" /><Relationship Type="http://schemas.openxmlformats.org/officeDocument/2006/relationships/slide" Target="/ppt/slides/slide4.xml" Id="Rb6cfcbad15fa4e0c" /><Relationship Type="http://schemas.openxmlformats.org/officeDocument/2006/relationships/slide" Target="/ppt/slides/slide5.xml" Id="Rff363b4062914b36" /><Relationship Type="http://schemas.openxmlformats.org/officeDocument/2006/relationships/slide" Target="/ppt/slides/slide6.xml" Id="R698cb6183ad94e43" /><Relationship Type="http://schemas.openxmlformats.org/officeDocument/2006/relationships/slide" Target="/ppt/slides/slide7.xml" Id="R4c0343f4740b4be8" /><Relationship Type="http://schemas.openxmlformats.org/officeDocument/2006/relationships/slide" Target="/ppt/slides/slide8.xml" Id="R750d2eea64fb48dc" /><Relationship Type="http://schemas.openxmlformats.org/officeDocument/2006/relationships/slide" Target="/ppt/slides/slide9.xml" Id="Rc0966e4a0e5348b2" /><Relationship Type="http://schemas.openxmlformats.org/officeDocument/2006/relationships/slide" Target="/ppt/slides/slide10.xml" Id="R1136b960126542c0" /><Relationship Type="http://schemas.openxmlformats.org/officeDocument/2006/relationships/slide" Target="/ppt/slides/slide11.xml" Id="R8b8a685211e940f0" /><Relationship Type="http://schemas.openxmlformats.org/officeDocument/2006/relationships/slide" Target="/ppt/slides/slide12.xml" Id="R48e26a6f49f844cc" /><Relationship Type="http://schemas.openxmlformats.org/officeDocument/2006/relationships/slide" Target="/ppt/slides/slide13.xml" Id="R69e7f7a0b4c94f67" /><Relationship Type="http://schemas.openxmlformats.org/officeDocument/2006/relationships/slide" Target="/ppt/slides/slide14.xml" Id="R55da06b4022549aa" /><Relationship Type="http://schemas.openxmlformats.org/officeDocument/2006/relationships/slide" Target="/ppt/slides/slide15.xml" Id="R7d036a7757fa4444" /><Relationship Type="http://schemas.openxmlformats.org/officeDocument/2006/relationships/slide" Target="/ppt/slides/slide16.xml" Id="R566f4644b5fe4fdd" /><Relationship Type="http://schemas.openxmlformats.org/officeDocument/2006/relationships/slide" Target="/ppt/slides/slide17.xml" Id="R10043d47d9e84281" /><Relationship Type="http://schemas.openxmlformats.org/officeDocument/2006/relationships/slide" Target="/ppt/slides/slide18.xml" Id="R3c3e783652ec478a" /><Relationship Type="http://schemas.openxmlformats.org/officeDocument/2006/relationships/slide" Target="/ppt/slides/slide19.xml" Id="Re9cb61c5ce7843b9" /><Relationship Type="http://schemas.openxmlformats.org/officeDocument/2006/relationships/slide" Target="/ppt/slides/slide20.xml" Id="R6081ee74230e40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912ac8e20a43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7f1000544b428a" /><Relationship Type="http://schemas.openxmlformats.org/officeDocument/2006/relationships/notesMaster" Target="/ppt/notesMasters/notesMaster1.xml" Id="R9c75039db06841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0145dafe2e44cf" /><Relationship Type="http://schemas.openxmlformats.org/officeDocument/2006/relationships/notesMaster" Target="/ppt/notesMasters/notesMaster1.xml" Id="R7078d0321c8b4f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0b2ce622d54981" /><Relationship Type="http://schemas.openxmlformats.org/officeDocument/2006/relationships/notesMaster" Target="/ppt/notesMasters/notesMaster1.xml" Id="R0039a19989d54c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2e32d128634497" /><Relationship Type="http://schemas.openxmlformats.org/officeDocument/2006/relationships/notesMaster" Target="/ppt/notesMasters/notesMaster1.xml" Id="R3801ee5747e54f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39543b07da44ba" /><Relationship Type="http://schemas.openxmlformats.org/officeDocument/2006/relationships/notesMaster" Target="/ppt/notesMasters/notesMaster1.xml" Id="Rb8ddd599795341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be39a82c694deb" /><Relationship Type="http://schemas.openxmlformats.org/officeDocument/2006/relationships/notesMaster" Target="/ppt/notesMasters/notesMaster1.xml" Id="Rd75351945ec34c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5155b6ee6945ed" /><Relationship Type="http://schemas.openxmlformats.org/officeDocument/2006/relationships/notesMaster" Target="/ppt/notesMasters/notesMaster1.xml" Id="R601cb6f38eb542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4b9a6f59fb40fe" /><Relationship Type="http://schemas.openxmlformats.org/officeDocument/2006/relationships/notesMaster" Target="/ppt/notesMasters/notesMaster1.xml" Id="R6f29daaba14e49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d57332030a48ee" /><Relationship Type="http://schemas.openxmlformats.org/officeDocument/2006/relationships/notesMaster" Target="/ppt/notesMasters/notesMaster1.xml" Id="R562874486e9f43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9f021212014908" /><Relationship Type="http://schemas.openxmlformats.org/officeDocument/2006/relationships/notesMaster" Target="/ppt/notesMasters/notesMaster1.xml" Id="R3e313710bcc648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3574b4eba64d8f" /><Relationship Type="http://schemas.openxmlformats.org/officeDocument/2006/relationships/notesMaster" Target="/ppt/notesMasters/notesMaster1.xml" Id="R6f05f7ea9fb24e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119a05303a4698" /><Relationship Type="http://schemas.openxmlformats.org/officeDocument/2006/relationships/notesMaster" Target="/ppt/notesMasters/notesMaster1.xml" Id="R78ca69283dd247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bf8c866e444bc6" /><Relationship Type="http://schemas.openxmlformats.org/officeDocument/2006/relationships/notesMaster" Target="/ppt/notesMasters/notesMaster1.xml" Id="R3ad1e780f6aa49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803e7cdbd44716" /><Relationship Type="http://schemas.openxmlformats.org/officeDocument/2006/relationships/notesMaster" Target="/ppt/notesMasters/notesMaster1.xml" Id="R659ea4011de246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17bf7e1d8a42f0" /><Relationship Type="http://schemas.openxmlformats.org/officeDocument/2006/relationships/notesMaster" Target="/ppt/notesMasters/notesMaster1.xml" Id="R0944b981fb4f44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ad3516d6d1c4397" /><Relationship Type="http://schemas.openxmlformats.org/officeDocument/2006/relationships/notesMaster" Target="/ppt/notesMasters/notesMaster1.xml" Id="Reec658599be0485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8aa3c7834e4c01" /><Relationship Type="http://schemas.openxmlformats.org/officeDocument/2006/relationships/notesMaster" Target="/ppt/notesMasters/notesMaster1.xml" Id="R078a4e9e347244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1f558887cb54cee" /><Relationship Type="http://schemas.openxmlformats.org/officeDocument/2006/relationships/notesMaster" Target="/ppt/notesMasters/notesMaster1.xml" Id="R875f4370f8ba457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9bd792511134e5c" /><Relationship Type="http://schemas.openxmlformats.org/officeDocument/2006/relationships/notesMaster" Target="/ppt/notesMasters/notesMaster1.xml" Id="R0799e927c098403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f259fc55a6f47b9" /><Relationship Type="http://schemas.openxmlformats.org/officeDocument/2006/relationships/notesMaster" Target="/ppt/notesMasters/notesMaster1.xml" Id="Raa951a12e8404f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773df130e04e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8c3b9c920f42f5" /><Relationship Type="http://schemas.openxmlformats.org/officeDocument/2006/relationships/slideLayout" Target="/ppt/slideLayouts/slideLayout1.xml" Id="R808dc483939d47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8dc483939d47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9761774614301" /><Relationship Type="http://schemas.openxmlformats.org/officeDocument/2006/relationships/notesSlide" Target="/ppt/notesSlides/notesSlide1.xml" Id="Rf6fee425652045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d952ec45f4f79" /><Relationship Type="http://schemas.openxmlformats.org/officeDocument/2006/relationships/notesSlide" Target="/ppt/notesSlides/notesSlide2.xml" Id="Rfe92ea3fdefb48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f5b12ce704bdf" /><Relationship Type="http://schemas.openxmlformats.org/officeDocument/2006/relationships/notesSlide" Target="/ppt/notesSlides/notesSlide3.xml" Id="Raf6709c9654241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2b0b79467404f" /><Relationship Type="http://schemas.openxmlformats.org/officeDocument/2006/relationships/notesSlide" Target="/ppt/notesSlides/notesSlide4.xml" Id="Ra19c7b0f8b6748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c96b52af7429e" /><Relationship Type="http://schemas.openxmlformats.org/officeDocument/2006/relationships/notesSlide" Target="/ppt/notesSlides/notesSlide5.xml" Id="Rf72517ec926c46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13c076d944281" /><Relationship Type="http://schemas.openxmlformats.org/officeDocument/2006/relationships/image" Target="/ppt/media/image.png" Id="Rc01854266c7345dc" /><Relationship Type="http://schemas.openxmlformats.org/officeDocument/2006/relationships/notesSlide" Target="/ppt/notesSlides/notesSlide6.xml" Id="R8553d8317ab64f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bd464d07348e0" /><Relationship Type="http://schemas.openxmlformats.org/officeDocument/2006/relationships/notesSlide" Target="/ppt/notesSlides/notesSlide7.xml" Id="R611f36b1601244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c6dd04d354ab8" /><Relationship Type="http://schemas.openxmlformats.org/officeDocument/2006/relationships/image" Target="/ppt/media/image2.png" Id="Raa539ca13ce144fe" /><Relationship Type="http://schemas.openxmlformats.org/officeDocument/2006/relationships/notesSlide" Target="/ppt/notesSlides/notesSlide8.xml" Id="Rd2d0114046ec45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0282a84974a80" /><Relationship Type="http://schemas.openxmlformats.org/officeDocument/2006/relationships/chart" Target="/ppt/slides/charts/chart1.xml" Id="R8f30d75547ae4a0c" /><Relationship Type="http://schemas.openxmlformats.org/officeDocument/2006/relationships/notesSlide" Target="/ppt/notesSlides/notesSlide9.xml" Id="Rabf3c9f90a0243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ee269732340dd" /><Relationship Type="http://schemas.openxmlformats.org/officeDocument/2006/relationships/image" Target="/ppt/media/image3.png" Id="Rdb60e2dae6ee4fd0" /><Relationship Type="http://schemas.openxmlformats.org/officeDocument/2006/relationships/notesSlide" Target="/ppt/notesSlides/notesSlide10.xml" Id="R7afaba76ccc04b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3ee0be5554611" /><Relationship Type="http://schemas.openxmlformats.org/officeDocument/2006/relationships/image" Target="/ppt/media/image4.png" Id="R2da844c898bc47c4" /><Relationship Type="http://schemas.openxmlformats.org/officeDocument/2006/relationships/notesSlide" Target="/ppt/notesSlides/notesSlide11.xml" Id="Rc24305cbd32343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bcfe37fb14e8c" /><Relationship Type="http://schemas.openxmlformats.org/officeDocument/2006/relationships/image" Target="/ppt/media/image5.png" Id="Rcdd001ca0e074661" /><Relationship Type="http://schemas.openxmlformats.org/officeDocument/2006/relationships/notesSlide" Target="/ppt/notesSlides/notesSlide12.xml" Id="R88aaee454945438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bd07b58c646a0" /><Relationship Type="http://schemas.openxmlformats.org/officeDocument/2006/relationships/notesSlide" Target="/ppt/notesSlides/notesSlide13.xml" Id="R8fd8329557a84d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86cac7ba947ec" /><Relationship Type="http://schemas.openxmlformats.org/officeDocument/2006/relationships/notesSlide" Target="/ppt/notesSlides/notesSlide14.xml" Id="R1b837b92881941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c5fa3609c74520" /><Relationship Type="http://schemas.openxmlformats.org/officeDocument/2006/relationships/notesSlide" Target="/ppt/notesSlides/notesSlide15.xml" Id="Rabadc63e1d3142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cd818c0b944ab" /><Relationship Type="http://schemas.openxmlformats.org/officeDocument/2006/relationships/image" Target="/ppt/media/image6.png" Id="Rc102204624534844" /><Relationship Type="http://schemas.openxmlformats.org/officeDocument/2006/relationships/notesSlide" Target="/ppt/notesSlides/notesSlide16.xml" Id="R9660d7355510416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2b283c3e94fdc" /><Relationship Type="http://schemas.openxmlformats.org/officeDocument/2006/relationships/notesSlide" Target="/ppt/notesSlides/notesSlide17.xml" Id="Rf778bc0efaa74b3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2ebf8ae834606" /><Relationship Type="http://schemas.openxmlformats.org/officeDocument/2006/relationships/image" Target="/ppt/media/image7.png" Id="R9ac9f6fdc3f2403a" /><Relationship Type="http://schemas.openxmlformats.org/officeDocument/2006/relationships/notesSlide" Target="/ppt/notesSlides/notesSlide18.xml" Id="R28601a68e3324f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ff536de9a461a" /><Relationship Type="http://schemas.openxmlformats.org/officeDocument/2006/relationships/notesSlide" Target="/ppt/notesSlides/notesSlide19.xml" Id="Rf2ce632970bd4df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f2aea2dff4ab4" /><Relationship Type="http://schemas.openxmlformats.org/officeDocument/2006/relationships/image" Target="/ppt/media/image8.png" Id="R281602a4e7f641d7" /><Relationship Type="http://schemas.openxmlformats.org/officeDocument/2006/relationships/notesSlide" Target="/ppt/notesSlides/notesSlide20.xml" Id="R69536e96e6c84c3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Strategy</c:v>
          </c:tx>
          <c:spPr>
            <a:solidFill xmlns:a="http://schemas.openxmlformats.org/drawingml/2006/main">
              <a:srgbClr val="FF6B35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2.23827026790857</c:v>
              </c:pt>
              <c:pt idx="1">
                <c:v>105.99847113368699</c:v>
              </c:pt>
              <c:pt idx="2">
                <c:v>-22.6109990928716</c:v>
              </c:pt>
              <c:pt idx="3">
                <c:v>138.140043213633</c:v>
              </c:pt>
            </c:numLit>
          </c:val>
        </c:ser>
        <c:ser>
          <c:idx val="1"/>
          <c:order val="1"/>
          <c:tx>
            <c:v>Basket hold</c:v>
          </c:tx>
          <c:spPr>
            <a:solidFill xmlns:a="http://schemas.openxmlformats.org/drawingml/2006/main">
              <a:srgbClr val="000000"/>
            </a:solidFill>
          </c:spPr>
          <c:invertIfNegative val="0"/>
          <c:dLbls/>
          <c:cat>
            <c:numLit>
              <c:formatCode>General</c:formatCode>
              <c:ptCount val="4"/>
              <c:pt idx="0">
                <c:v>2019</c:v>
              </c:pt>
              <c:pt idx="1">
                <c:v>2020</c:v>
              </c:pt>
              <c:pt idx="2">
                <c:v>2022</c:v>
              </c:pt>
              <c:pt idx="3">
                <c:v>2024</c:v>
              </c:pt>
            </c:numLit>
          </c:cat>
          <c:val>
            <c:numLit>
              <c:formatCode>General</c:formatCode>
              <c:ptCount val="4"/>
              <c:pt idx="0">
                <c:v>58.442044682227504</c:v>
              </c:pt>
              <c:pt idx="1">
                <c:v>227.277921974783</c:v>
              </c:pt>
              <c:pt idx="2">
                <c:v>-53.0417801301569</c:v>
              </c:pt>
              <c:pt idx="3">
                <c:v>133.45555861176902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95AEA2-8A8B-4536-BB6C-62C8DC0C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GEN5.3 RESEARCH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8F2D2-4CCA-4C9E-8318-7F73C874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9334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Annual continuity replay made the next strategy question sharper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D56B1-F3E4-4E2F-B410-E464C38E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8191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The corrected one-year screen keeps risk-aware context, the workhorse PCA surface, and continuation replay as the control lane. It also shows that the EMA-only pool may be too narrow to judge the broader hypothesis.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BD806-30EA-4055-AC66-90454C31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A5655-0304-45E1-89B7-3C9315A4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Continuity packet: runs/research_workbench/gen53_momentum_context_size/g53_momctx_20260711continuity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01832-566A-4685-B3DB-D1A6A8A9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836903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A8550A-59D2-4C8F-8E19-7B305279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5D9C7A-B248-472D-81E9-2528FCAF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test changed because one quarter was too sparse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5256A-A0E7-4C11-BDE4-ED5F2E3F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D782F-618F-4A31-BD67-2853681C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514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The prior slices were useful for mechanics, but they did not give much OOS surface area: a five-symbol live basket can easily look good or bad from a handful of trades in one quarter.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F0DEA-8BEF-40CD-AE7B-09AF1D5C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62150"/>
            <a:ext cx="4229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AF9BF-C691-48D8-BF51-02B4BEC1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90900"/>
            <a:ext cx="42291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9B857-E9C7-4D72-AB32-BB64175B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B5CB0-AC9B-4CEA-97C5-9C9D3642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One OOS quarter. Faster, but low resolution for alpha and trade behavior.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E93A2-EA95-4278-B5C4-B7A6F1DB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19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67647"/>
                </a:solidFill>
              </a:defRPr>
            </a:pPr>
            <a:r>
              <a:rPr sz="1650" b="1">
                <a:solidFill>
                  <a:srgbClr val="067647"/>
                </a:solidFill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803C9-C653-4D69-BE6B-59CA6A5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62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Four independent quarterly TRAIN authorities replayed across one year, with open trades carrying until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0477E-703B-446E-8209-1BC12269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5435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This keeps the leakage boundary and avoids artificial quarter-end trade resets.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B21F3-9CF3-43FC-9749-8DAFFA76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9289449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67122B-C1EE-41A3-832E-43FC0BB9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2A2B3-6101-48F0-89CD-79E2FE1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screen isolates a narrow EMA-only participation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E9DBD-B300-4C81-A348-BD39385D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91108-AC33-41E3-8682-8A1F6BDE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909A7-162F-41B0-9136-CAE7BB4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A8B77F-E17C-4710-9F44-ED17FBAB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AMD, NVDA, TSLA, MSTR, AVGO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27E116-21AF-4721-85B0-C6F5DBEC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83D6F-2F99-469D-9A06-C54D777F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Context 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AD413-7D36-4F82-8CD5-3C9E0487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5 self assets; 12 with high-beta peers; 18 with peers and risk anchors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A77A2-F658-4A14-889F-7178866A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48A70-4D20-489B-B98D-C40061B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Feature axis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30FB25-2D57-4406-BFE0-13C81F4B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Workhorse enriched; momentum participation; momentum plus stress; market-relative momentum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0C7F79-83E4-4839-8C2B-8DF906F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14550"/>
            <a:ext cx="2381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2DFAE0-6012-4BD0-B515-5325663F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Strategy pool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D598B-345D-467E-90F7-85063694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1981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EMA cross, EMA trend, no-trade, no-trade exit-immediate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4E4A2-A1F0-49E8-B2E2-D8EC4207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Selection policy stayed fixed at pooled-family asset-variant, so this slice asks about feature design, context size, and replay semantics rather than reopening the whole Gen4-vs-Gen5 selection debate.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ECA59-C66E-4078-B1AA-4B048E42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3971637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FC6F0C-14B1-4287-ADA9-5503B1D5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66DC0-EF00-46BE-9FB6-756995D0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aggregate lane was risk-aware context plus the workhorse feature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62E4FC-96D7-4812-877C-F129451F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8C082-2714-4946-BA96-B1869E30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66900"/>
            <a:ext cx="9886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3026E8-2364-4D3E-8381-5A638A08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526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Best lane: Live + peers + risk anchors + Workhorse enriched + continuation. Mean return 55.9%, mean alpha -35.6 pp, exposure 40.3%.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79A04-E2B1-4413-A7E7-3CC2BA6D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9EED1-47DA-40B4-AF99-44D8292D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3F212-EB94-48FB-83B7-39A4BE0A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E607C-67D1-492D-AB99-8EF5F160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C36A4-57EB-404A-A0DB-4600E0E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B07D2-BFBA-449C-8D3E-DE47E7A5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D6B04-4686-40D2-99F4-45C4C388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A5401-A3CE-4BBB-93EC-AEAC2198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87CD0-9B0B-4144-A1A1-C1925FC6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F56877-8A08-4350-B4CA-E8B6967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86EF76-68F2-4585-A630-718D137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01552-0168-40A5-A0C8-0EBF2FE7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50C43-3392-4C5D-B8F4-6ECBF070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5A1ED8-6434-43CB-BDCF-1C3A35AE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13838-54BB-4718-B8F7-0E37BAC7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0B9602-43AF-410C-BC45-5146B81D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55AF0D-6134-4BA6-A6EA-399FE401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9872C1-BF9C-4956-8F15-7ADEE5E7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A3006C-4782-42C7-A40C-8B9A5432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25228-42F0-4A18-87CA-6749F8DF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A8C72-7F0A-4C79-A634-26592F0F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81D8F-E447-49E0-BFE6-8CC4F8D6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3B8A0A-A72E-4A71-A4BE-DF813DCD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A0638B-3863-4E84-9D8F-B2343DC3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5CE252-BE70-479C-ACC0-3D3963BA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40EC50-EE63-480C-A9B5-434E2023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9FE49D-2B23-4CEF-B31D-A407C60B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57C66C-04EE-4BBD-ABC3-B5B6C170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DB8ABF-3EBE-4F93-8BF5-38C9C683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B01E2C-20CF-4965-A518-476888FF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4FD51A-47A5-4B18-AB3E-1A1C1A4F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7C08CA-29D7-4585-BD56-961E365B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4642E4-BCFE-4C5D-BD49-2F49EDF9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0B19F7-599B-429B-8CCA-0E2A5752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fresh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CD7677-47F4-4C1C-B36A-CAEBAA2B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E1BB13-EB1E-43D7-924F-FA0B53DB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C5D4444-62A6-4A1A-8FD5-A0655FF2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1E0AFB-8605-463C-9392-08EF402C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38.6%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DF26BC-6CFB-4051-A49F-45AA73E1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45BC1EF-9690-4D45-A6B7-1B1DF1C4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-52.9 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E8049AC-DC32-4B9A-83C5-20680652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881BEA-708C-4322-8734-8B285793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26.3%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AEF974-EFD4-43A3-A1B0-59628523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3BEC1A-0E6C-4EFC-B971-05C1E6E4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D9AB1C-0F0B-4D1E-AA00-5CBE52F2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3F13C6-FF72-48BF-A957-C7603BB6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68CA33-A1C1-4CE1-AC11-53ABA4D2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77D5AD-A628-41AA-B757-7303FB40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30840D-4DEA-4868-9428-D0136E44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FF7E74-3BF5-4C92-B348-B361F57C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E4C8279-B52C-4BAF-ACF5-0B99AA58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573545-8D4E-4B17-9D80-65D4AD00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F086BD-3B67-401A-8743-4CBFFBA1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216CA4-E7FE-418D-955B-63EB3ECB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36B6993-50D9-4C32-B561-1D8D140D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5C9BF8D-C4FB-42A3-957E-A686E957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F2A60CC-45FB-4209-A64E-973E5DB1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1E9FD8E-C1E7-4C31-9295-C743ED85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basket only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FB2D20-781D-4525-A13A-5A23A94A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672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106AC58-4C82-4CC0-9D8A-53602879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910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participation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122D3D-000C-4D14-B7B7-BFCCD262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672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322F89F-3353-4ED1-8563-9488D8CD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910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24F7FC6-1539-42A3-ACDA-4BEEE72D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FD008F-7D01-4FA8-81AF-220C60A3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2A3CE43-07B6-4EC4-91B4-46B7DAE2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672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6077A26-B557-40CF-89F1-3263599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910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30.9%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95FCE40-2C8F-4799-AFCA-C3D4222C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2672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4F6982A-E4D6-4E18-BA84-FEAD08CD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910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-60.6 pp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35F7B6-B10E-4CCE-A669-715428D4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6A20761-7F00-49FD-B73C-2509446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3910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39.3%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79186F0-6243-4C8D-B00B-CEA1F859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D7EB9CA-BC48-4A93-A256-E5EBBD5D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high-beta peers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C269E9F-E79A-477A-9D9B-C42A7756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3C25F97-DB23-4DD2-A748-B42E75B8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053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8878484-BF62-4B80-B7DE-7F26A010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815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446BD89-D84C-443C-83C0-33C411CF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9053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36359DD-ACA3-446C-992E-CD479E45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F7CB421-4DF6-40F8-AB5E-FDDDFC5F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A9C78B-606D-4E02-AEB7-08516CF7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815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125AECF-8099-4A9E-B5E2-FEB16F9D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053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29.8%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5E65064-7C3C-408C-AFF6-7F958DDC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815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E77664-7BAA-40E8-A015-688E68F9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053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-61.8 pp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3E018DC-52CD-44CC-A9A4-1333ED48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815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80515EE-E028-448B-B610-144026CA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053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34.0%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264EEC8-1B41-484F-B599-B5B82225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Even the best lane did not beat equal-weight high-beta hold on average. The signal is subtler: broader risk-aware context made the specialist less bad against a very hard benchmark and produced positive alpha in two annual windows.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204FFA5-6E25-4DC5-8A57-E32FB7BC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4959473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67674A-B9EB-4E8B-A201-02F3AE84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2F3AE-CD93-451F-9462-D6F129FD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Continuity replay corrected the optimistic annual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03CE9-DDE4-4773-9184-0561A30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A5B3C-5CEE-4FDA-96B8-B84FEE15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The independent-stitch packet was useful as a first annual inspection, but it could reset open trades at quarter boundaries. The continuity packet asks the live-like question: keep the quarterly authorities independent, but let open trades carry until flat.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35195-5BC7-4629-9C74-5EB8D1AE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F153A-AD3C-47D1-B016-0B4A74D6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08405-D72E-4655-9242-47983105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81.7%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9F22A-C1A4-48B8-9167-A71C7E9F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965092-CD89-4C5F-ADB0-8CB55276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55.9%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98B626-751E-4F1F-A407-809851D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81A85-6F4C-4F4C-8A17-3380C717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Alpha vs basket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1F1FC-0B55-47B5-B7FE-F9422EA2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-9.8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28F646-0273-43E4-AD2F-FE375907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9E65F-8DE7-4A18-9A9F-FD324EC2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86989-1FAD-4E6B-AE76-885C1CA5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02DD8-DFB5-4954-8E9A-B991B26E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Mean exposure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7349A-C985-47A1-AA4C-15523BF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64.6%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BC2E3-451A-41A0-B500-08300135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8DB5F-1C8B-4955-AADA-E004C07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42318"/>
                </a:solidFill>
              </a:defRPr>
            </a:pPr>
            <a:r>
              <a:rPr sz="2175" b="1">
                <a:solidFill>
                  <a:srgbClr val="B42318"/>
                </a:solidFill>
              </a:rPr>
              <a:t>40.3%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AE9D46-5A75-4F0A-8346-5C08000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62300"/>
            <a:ext cx="2190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79F296-1ED3-4448-A39D-A5207F1D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71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35B0C-5DD3-4987-A33F-C0198330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33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2/4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060CC1-A95A-4B59-A2BB-ED4811D6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independent stitch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C5ABE6-2C8C-4C53-A299-F53E880D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00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06F4F-A693-48D3-A6F8-6BD4678A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435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448 symbol/boundary cases carried prior authority until flat, and 4 carried through annual as-of. The boundary mechanic materially changed the evidence.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DE423D-95A2-43D4-A96D-5D5B784B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0914039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5F868B-2240-41CA-A2CC-24B826E7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BF93E-CE4D-4F53-A62A-C4E19743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annual heatmap shows why this is not a simple feature-set 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E8AE5-8066-4BD7-8521-76E63ABC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854266c7345dc"/>
          <a:stretch xmlns:a="http://schemas.openxmlformats.org/drawingml/2006/main"/>
        </p:blipFill>
        <p:spPr>
          <a:xfrm xmlns:a="http://schemas.openxmlformats.org/drawingml/2006/main">
            <a:off x="2659700" y="1695450"/>
            <a:ext cx="2091049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897D3-3BCE-4A27-B262-4A372063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4290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C74A1-44CC-41CB-88D5-48264F32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050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35D8F-7AC3-4E55-BCE2-377C881A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71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35357-DA67-40CB-9ACB-19792002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 remains punishing because basket hold returned about 227%.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0551F-B700-404B-95CB-9DE95FA3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1DD7B-0C54-4752-91DD-7E2EA44A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956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 rewards staying out of a falling high-beta basket.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D50BA-581A-4595-84C7-9A1749DD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D6CE43-1BB6-4B4E-A9A4-09FEEBF9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147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2024 is the clean positive clue for risk-aware workhorse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F7D0ED-DFB3-496E-A8ED-E946121C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EAF29-F7F9-4126-9170-871A718D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3385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New momentum feature sets did not become the aggregate default.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65A63-042B-4D08-9791-BEDD3B89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29378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A0317B-DA61-45B5-AC8E-DD889815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B21EA-59FA-478F-908E-899071AC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still tells a mixed window-by-window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3C711-00A6-4484-8D3E-13BC2399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C4D26-A749-4F47-AA23-9CE63DF0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43152-9BB6-4ACE-9053-B6606C19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31A37-889F-4A10-B953-026B3506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-56.2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C4E73-429E-48B3-B9CD-C73B7424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3F791-5FA8-44B7-A6D1-C807EFFB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2.2%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F2886-CC98-4414-924E-2C2E4253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58.4%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EB181-DAE4-4074-BC60-65114892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50A92-3F47-4E82-AFA8-92F36971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879B9-D314-4298-B8AD-ACF17280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EFB33-B69C-4D42-A481-B63BE9A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A4EAD-CCA8-4E3C-B416-6A946398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106.0%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A61823-2F9F-4CEC-AD9B-00478BA8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227.3%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93E844-9FCA-4CA6-904B-B236B70D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A181A-E644-4FE8-BF1E-14428C29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7DDAA-65CE-49A5-96E2-1F847E3E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5D5A25-D117-4221-8514-430CC994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C8A193-EC46-4DDF-B244-51E97327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-22.6%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60261C-2ADE-4BC5-8A3C-FD04DEB9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-53.0%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6717D-D729-4765-A3BE-A6CAC237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23050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BDF4D-50E8-4570-AA90-CE439CF2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8D998-6DEB-4887-AB1E-9C2952A3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7647"/>
                </a:solidFill>
              </a:defRPr>
            </a:pPr>
            <a:r>
              <a:rPr sz="2325" b="1">
                <a:solidFill>
                  <a:srgbClr val="067647"/>
                </a:solidFill>
              </a:rPr>
              <a:t>+4.7 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770B23-3C20-4A9D-8831-0137E3CF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909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alpha vs basket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B959A-AE7D-47A0-A0E7-0F43EC52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290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strategy 138.1%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C10161-9A68-4906-84EA-02C0D0F2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95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basket 133.5%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32C2B-7798-47C0-A2A4-34860EDD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29250"/>
            <a:ext cx="962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Annual windows reveal a useful profile: strong 2024 participation and decent 2022 defense, but still serious undercapture in 2019 and 2020 high-beta upside.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29D5FC-1A49-43E6-BAC4-07241DF5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752155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BCA81E-25EB-4236-90E5-09FC4B62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C5405-B169-4961-B6C9-0318E742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Exposure helps, but simply being long more is not the whole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7AC66-5910-43C8-B04A-B76BB526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539ca13ce144fe"/>
          <a:stretch xmlns:a="http://schemas.openxmlformats.org/drawingml/2006/main"/>
        </p:blipFill>
        <p:spPr>
          <a:xfrm xmlns:a="http://schemas.openxmlformats.org/drawingml/2006/main">
            <a:off x="967154" y="1695450"/>
            <a:ext cx="6066692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EC750-80A0-426F-B065-432519AE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31432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B09879-FA20-428A-9574-33134174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Readout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1173F-4415-446D-843A-C55ACBD6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Continuation generally lifts exposure, and the better lanes cluster at moderate-to-high participation. But many high-exposure points are still deeply negative versus basket hold, so timing and state discrimination still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D8EB4-A775-4433-A856-DF48AB98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909124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E14FBD-5C19-4B4C-826F-77311781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0685F4-9A1C-4AC4-961C-B2CE2223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best lane beats in 2022 and 2024, but misses the big upside years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FC68C-6F64-4A80-A953-FA0CC7D6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38200" y="2000250"/>
          <a:ext xmlns:a="http://schemas.openxmlformats.org/drawingml/2006/main" cx="6572250" cy="3600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30d75547ae4a0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29B1AB-4F14-44C7-93AA-7E1320C5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29146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40809-EA6B-4078-AEAB-A8699752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What the chart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0E0EB-4D1D-48DB-B879-60AF9C4E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F0742-B603-4C3A-BDAE-B0B97437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2020, the benchmark was too strong for a timing layer to catch.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ACD31-FC5D-4D55-9443-96741103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00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81770A-019F-4615-BD39-B1E3E1FE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2022, the system's partial exposure was valuable.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A749C-CCB9-4ED7-BF1C-ADEC7D04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2B3DE-97E1-4F86-8B48-E763D123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In 2024, the same lane finally beat the high-beta basket while still trading selectively.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8E5F1-9D00-417F-8038-11E30369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4426274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1A7131-3BB7-4190-A5AE-5E68EE83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3775E-0B65-42CD-B594-814660F4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authority map is cash-dominant, which explains part of the underparticipation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66749-0DDC-49BA-A99F-482577FB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0e2dae6ee4fd0"/>
          <a:stretch xmlns:a="http://schemas.openxmlformats.org/drawingml/2006/main"/>
        </p:blipFill>
        <p:spPr>
          <a:xfrm xmlns:a="http://schemas.openxmlformats.org/drawingml/2006/main">
            <a:off x="792256" y="1790700"/>
            <a:ext cx="6264088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A871F-E066-4CED-BCB0-08C69CD9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71700"/>
            <a:ext cx="3219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2CD78-A5DA-499D-B01C-A4C9B754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Sanity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55213-CFAC-4FD6-A9C0-D8182962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48000"/>
            <a:ext cx="257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Across the full annual screen, no-trade remains the dominant selected authority in many asset-state cells. That is philosophically clean for a specialist, but it also means missed upside is expected unless the favorable states are timely and persistent.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9AB68-F1BD-418D-92E2-BF3789E9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4649728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BFFDF1-5FF1-4222-995F-C59141F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226EF-9FC1-4B14-9C49-2163A7F3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Representative tapes show both the promise and the weakness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A8D35-6873-489B-83C4-7B86EA3C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844c898bc47c4"/>
          <a:stretch xmlns:a="http://schemas.openxmlformats.org/drawingml/2006/main"/>
        </p:blipFill>
        <p:spPr>
          <a:xfrm xmlns:a="http://schemas.openxmlformats.org/drawingml/2006/main">
            <a:off x="2237466" y="1638300"/>
            <a:ext cx="375466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D7D54-CEAA-46DF-A6D6-9286E4E7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2857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C1594-5DDD-40AB-95C2-268D94E4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audit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3F84B8-A967-440B-90FA-051F1838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40AFA-BCB1-4340-B6BF-AEDBA149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AMD shows churn and missed/stopped participation.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584C4-ED8E-4B4B-BDBF-6DAB879A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24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51259-4812-480A-AA74-F1C34D52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2900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NVDA, TSLA, and MSTR show the lane can ride substantial trends.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447BA7-11B5-456C-B36E-B71CC3C1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202642-9D74-41EC-A7A0-10019C85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43350"/>
            <a:ext cx="2038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Open exit signals at year end should be inspected in the next tape audit.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2EA647-5652-4F6C-ABDF-1E905DF5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9552433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CAF542-3E19-48C8-8322-F1206C74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752ACB-ABEB-4C10-B52F-86F42C65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2020 tapes show late and uneven bullish participation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90D27-AB07-448A-9E4D-98F1462F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001ca0e074661"/>
          <a:stretch xmlns:a="http://schemas.openxmlformats.org/drawingml/2006/main"/>
        </p:blipFill>
        <p:spPr>
          <a:xfrm xmlns:a="http://schemas.openxmlformats.org/drawingml/2006/main">
            <a:off x="1417493" y="1600200"/>
            <a:ext cx="5585114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8EAFB-8E19-4DE4-82E4-D0EC9035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781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DFCF7-DE37-40AD-AF97-DD17B8BA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241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What to notice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15E8F-95C9-462C-9D26-D656C1C2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09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5844E-A92D-42F4-923C-7AF60272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146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TSLA and MSTR rally for long stretches before entries appear.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00BA5-0899-47A8-8C7C-1ED525C3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02496-BE92-4998-AC39-F4A93E7E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71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State bands change often, but many strong stretches stay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01D10-04CF-429A-B250-92D59253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D901C-0464-458F-8D6A-1A13601D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290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EMA overlays show price trend was visible.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2E5211-A474-4464-ACEC-78CA9CBB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62650"/>
            <a:ext cx="954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The engine did trade, but it did not stay long enough early enough in the strongest bullish year.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740BF-E70A-4008-A5D4-B6977467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6688519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57DC00-6714-4D6E-9050-DFC6B080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C1BE9-5FA0-4B9D-87F8-67DDA924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next narrow screen should reopen strategy diversity carefully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392B22-0C7E-4291-965E-C53F2662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94B6E-2790-441E-B16F-A42605FB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26B12-18EA-4C6B-B362-62D96026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44767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C7515-645B-4234-BDF5-B1E54E30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Hold fixed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19B3C-91BB-404C-8ED9-B8F2B993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D5591-4944-4B49-8FD8-2AF08EB1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Context: hb_risk_aware_18.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47FB0-3391-427A-BD40-B7CBC57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CE62E-3624-4941-B72C-35FC8C56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Feature control: workhorse_enriched.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77E3E-0BE9-4B15-A555-3D4D853A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700AD-3A43-42BC-B55F-9AA6CB32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Replay: quarter_continuity_replay plus state-switch continuation.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2A8089-8435-47FE-88E7-3E4F8469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327AA-C708-472E-B22D-FA170816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Benchmark: equal-weight high-beta basket hold.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6B3063-C894-449A-89C0-8AEC1853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241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67647"/>
                </a:solidFill>
              </a:defRPr>
            </a:pPr>
            <a:r>
              <a:rPr sz="2100" b="1">
                <a:solidFill>
                  <a:srgbClr val="067647"/>
                </a:solidFill>
              </a:rPr>
              <a:t>Vary first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5E159B-EAC8-4894-9049-C6F9C145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F9849-CF04-419C-A518-79875543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EMA-only momentum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DD9AC-0F15-43E9-8AE3-8EE44211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A521A1-C74D-4360-A92F-A9C609D4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33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Trend plus breakout expansion.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AD529-149B-4E5F-BE68-EA5BE20D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0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3D5142-B3CD-4AC6-AD19-FD1F7E8E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14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Mean-reversion diagnostic pool.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C5F6F-B539-43DE-BA32-2819CA2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91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9525">
            <a:solidFill>
              <a:srgbClr val="06764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918AA7-D348-40B0-A761-A6E5A113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321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Classical full reopened pool.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F44CD3-2839-4F6F-96B3-31ED1BEB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967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cleanest next question is whether the strategy pool was too narrow under the now-correct annual continuity surface.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B886FB-A17B-4D0B-A0D5-5C713DC7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147003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E03B20-BA77-4DFA-A1BF-F690DE63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9CE33-0CF8-4ADF-B495-D8BDC9F1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Feature sets should support the strategy question, not explode the grid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C0C81-AE0D-4F41-B57A-4EE2171A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556E0-66B4-44EB-955C-3C8DD2B2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AF9BE-5802-44DB-B259-D7F3C5C7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Control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EEEAA-333A-4773-A47B-0A05AF3F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workhorse_enriched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23D3E-BC9D-4915-8350-BD5336B7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Keeps the best observed continuity lane intact.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3A8AD-8CCC-4BC6-9A78-3298FAE0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E9E80-11EA-4797-8C2A-DDA567A0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Momentum challenger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A1621E-36BA-4963-96E2-BC262A08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momentum_plus_stress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236CC-59F1-45B5-ABBC-FD4E728B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Checks whether richer trend and stress descriptors help once strategies are reopened.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A81E-6295-477E-8C3F-166D095A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29146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63BCA-AF78-47FE-BEDF-3ABC618C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New diagnostic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2BB79-80A3-49BD-B1ED-14730217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337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B35"/>
                </a:solidFill>
              </a:defRPr>
            </a:pPr>
            <a:r>
              <a:rPr sz="1425" b="1">
                <a:solidFill>
                  <a:srgbClr val="FF6B35"/>
                </a:solidFill>
              </a:rPr>
              <a:t>reversion_breakout_context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8E1B61-FC24-4F87-8319-3D0609C4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052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Adds range location, volatility compression, stretch, chop, impulse, and recovery cues for non-EMA families.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5DEEE2-7ACE-4D8A-9ACC-69247AC2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If the reopened strategy pools do not help under these feature sets, the next problem is probably state timing/exposure design rather than missing mean-reversion or breakout families.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78383-1D2C-467C-9DDC-D451F854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5638666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3EAE01-7D40-477C-9624-120B0D14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E0298-37AA-4388-B4ED-EF093DDB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A targeted EMA feature diagnostic improved returns, but did not clear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EFA3A-FB1A-42BB-8C47-C8E70A79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9D6EC-15B8-4066-A5EB-D7A33A16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After the annual continuity control lane was identified, the next quick test held the high-beta risk-aware context, EMA-only pool, and continuation replay fixed while comparing three PCA feature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CCFD8-CECB-4C43-BFBE-896FD02D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6D6D0-583D-4657-B8EC-78549C94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F90ED-A61D-471F-A461-9AF19210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219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9BACB-C4AE-4C32-96C1-E49A4C5C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574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A1CCD9-EEA8-41E1-B972-F6BB8610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81250"/>
            <a:ext cx="1162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D3448-0115-42B3-B53A-5F76AAF5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E489E-5220-462C-B3EC-9B99AA5E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25B03-A81F-46CB-B1A1-09EEA36B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Win years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781EA7-F05A-4364-AAF4-66D1FD0D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112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EAAD7-EC29-4A5E-B01B-83363E97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574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ret.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CB1AB9-0D8C-42B1-B25E-8ABE9195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066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21DA4-104C-467F-9301-9DB42089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574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Mean alpha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750EC7-060E-402F-9FC1-4960F13E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028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7F8E66-D93C-4671-9B54-9D022390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4574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0000"/>
                </a:solidFill>
              </a:defRPr>
            </a:pPr>
            <a:r>
              <a:rPr sz="10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BDA03-ADB2-4F07-9DEE-27E5E9CF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EBE594-EFC8-4511-BB46-298AD299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60A78-877D-4D65-9094-5A99D516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241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F93234-BB13-4340-B4E8-947A68A3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479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Reversion-breakout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D1409E-C00D-470B-ACEA-D91AC020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241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3CE19A-7031-49FF-9F7B-0443CB5A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479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983D5D-361E-4EFE-A78E-F0EF4485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6AF930-FA46-4430-9CAA-E1018734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18AA8-80E5-4915-B8AC-FC9F68C3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241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EFD19D-4C8A-4425-870E-142FAE66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479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0268A9-D5DA-4B1A-81C3-8FA63B40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6423E9-ACFE-4DEE-AEF7-D181AE18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479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-23.4 pp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07F305-F5AE-41FB-8B5C-D79374A0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241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645BC3-91BE-4A1E-94AD-447EEF37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479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48.0%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147225-11EB-460E-B6E5-75373C31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0B9069-295E-4534-ADE1-10947E1D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1CA870-703A-4B04-8B39-7D952C27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5A4D43-F774-416B-A629-2C2A87D6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623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Workhorse enriched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244743-2EAD-43ED-A5DD-9B5CD60A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385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CB99DF-4C18-45A9-AA9E-7688677C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A2BDDE-0A32-41B6-8E5C-7A58F985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1FD70A-ABBD-47D8-98B7-A2D8117D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2/4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0F8E59-24B5-4AB0-B548-7B5B1412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5171AC-0AEF-4F11-B8D1-FE26B38E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623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55.9%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DAC601-23AC-49AA-BDEF-695580C8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3850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1A2D8C-742F-4E1D-A77E-BFD2ECF9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6232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-35.6 pp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05AA6F-7A5D-46D1-BADF-8B07B5C7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3850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3A010C-3177-4B44-94EE-834F3412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6232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40.3%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8A9442-75B3-44B8-B177-D29AA2D8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0E4100-2C55-41BE-B878-532A9C13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Live + peers + risk anchors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AD98DE-DC93-4484-99F6-87828A953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3B3524-CFEB-4BC5-99D0-DDAEA79E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766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Momentum plus stress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2B29E77-7F91-4819-8552-F9BFC15B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994612-A936-4316-AA59-A25202DE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76675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continuation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5E4FA3-838D-48AD-917A-F925876F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220FFFC-35E2-4474-9091-94091C0C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1/4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6DAC22-6C33-49FD-A5F7-EF236E09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52850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FA7CD9E-8EEF-4CDF-B109-521BA601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33.1%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43EA3E-9604-4C07-84C0-87A54D03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52850"/>
            <a:ext cx="1066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E2EC930-6675-4861-B395-81AAB730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766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B42318"/>
                </a:solidFill>
              </a:defRPr>
            </a:pPr>
            <a:r>
              <a:rPr sz="1125" b="0">
                <a:solidFill>
                  <a:srgbClr val="B42318"/>
                </a:solidFill>
              </a:rPr>
              <a:t>-58.5 pp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5CFCA91-79DD-4ABB-B809-E4EE069B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752850"/>
            <a:ext cx="1028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D1D3D2-7D0F-4F88-BF84-05E45269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876675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35.0%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5425047-7323-4E6B-B601-EF28FA3A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Best diagnostic feature set: Reversion-breakout context. It averaged 68.1% return, -23.4 pp alpha versus basket hold, 48.0% exposure, and beat the basket in 1/4 annual windows.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28EE0E5-A883-4B37-9AAE-E4250A40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3672905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CA2551-FBC8-4C56-851C-46266FD0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C7614-CDCA-4F92-AC14-FC0BE1D3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reversion-breakout feature set raised participation without solving upside capture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00D92-0741-4983-9064-25457D01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2204624534844"/>
          <a:stretch xmlns:a="http://schemas.openxmlformats.org/drawingml/2006/main"/>
        </p:blipFill>
        <p:spPr>
          <a:xfrm xmlns:a="http://schemas.openxmlformats.org/drawingml/2006/main">
            <a:off x="1211507" y="1695450"/>
            <a:ext cx="5120787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34AE9-9812-4020-B805-615921B6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76450"/>
            <a:ext cx="32385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E7905-EFFA-468D-A3C5-81A0C997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62200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63E2A-E863-451F-A1EE-FB2410BE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48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5C0D2D-ADB2-4A14-B91F-F969672D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Reversion-breakout context lifted mean return versus the workhorse control.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1E9EB-A5D9-4AE5-B909-45AF3543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B4245-35BC-4794-9DBE-C0ACADCE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480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It came close in 2024 and improved 2019/2020 participation, but still lagged the basket in 3 of 4 years.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26357-1E4A-4AAB-9380-6AD5E27D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38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54B33-63E0-486E-80DB-61D38D99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43350"/>
            <a:ext cx="2133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argues for better state timing, not a feature-set promotion yet.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7E885-173B-4EA8-ADC5-B09C4FF8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8747210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A60D17-6452-4BD6-8919-872644CD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7F11A-8BEB-4C02-B62B-B5958C42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Trend and breakout families made the lane more defensive, not more participatory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E40FA-A189-46FA-938D-E8714A11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C9E28-8012-4175-9FAE-321B2649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BEF6F-9AE0-48FB-B557-971867A1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C0D79D-F499-4EE9-9B01-60A8F0D8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5CF07F-F2EF-4A48-A1E3-B8792AB9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24075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Pool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4DCF5-1DC3-48A3-939D-FF01E314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1276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4E108-5229-4255-8BF0-38E57057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24075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DDB75-D148-4876-B94B-886E2B3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67815-3198-4CCE-8A31-CBDF862C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4E7FB-B2A6-4C4E-89EE-31816723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5464F-0187-471B-A154-0775F393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BBB92-FC9F-48FB-B4D4-34158A74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42E93-7075-4D89-99B1-C0D23FD1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DBE2B-E674-4D64-813F-D9235895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519090-CDAB-492E-8ADD-770496C1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293116-DDBA-4AD4-AC50-E9A3C381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6BFF55-A12D-4D59-BFA1-205E1E23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47090C-B63F-47A4-98DF-B4986BA4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4003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8DB6AF-6240-4F50-97E2-31B505C4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717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E8547B-9438-4659-BEEA-22A01939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8BA7F-CFE4-4FC9-9932-1429F80F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106.0%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B0654B-F9DA-4145-BD0D-A6F21F92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8A490C-9F04-490D-AAB2-6AC9946A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-121.3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6436C9-0D3A-4075-AB6D-73594A61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AE214C-413C-4FD0-AF36-9B1DD4D7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58.5%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D67739-391B-4F89-9D2E-3AD3E87F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426893-6626-4472-8E35-96468784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-18.0%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9B7CC2-0090-400D-9FAE-757ED630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EAD454-C67E-4DB9-97FC-E3BA0E42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4474A7-0B56-4DC0-AAD3-586D4095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C2E35B-2D11-447A-AE96-648CFF57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BD751F-271D-405A-AF11-4ECDBD2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908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C94949-E361-4DEF-B310-73C61F0C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623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1BBA3B-CF20-4B05-9678-F45DF221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B9FBF2-B77A-4856-8FE2-710674B0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623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53.3%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BAA375-0B4B-4A15-B9F6-D0E19BAC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94AC29-17C4-4BF1-9821-BCFA36F5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-173.9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F35F9A-F06B-4ED8-8AF0-8E163AFC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693034-21AC-45EC-A6F0-EA34BEE6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36.8%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3548B1-B907-4435-A7D2-B0321EC9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FFDF85-AC0D-40D4-832D-9E13A55B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-11.6%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770A4D-A9F8-41DF-877D-A6F31471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907AF4F-E083-4A5A-89F1-B378D598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9DAE4F-F4B3-437E-9340-0F588A09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D20B2A-ACB4-4500-BC9C-6DEB7753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69AE71-1BB0-4A99-8B90-D8009AA0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8140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4221D8-B40A-4BC1-8BFE-4701782C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EMA-only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875FBC-7DA8-4FE3-9D70-1BEF5875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5CC5983-5F6A-462E-AE6D-50E0E5CE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528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-22.6%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74D2C0-63CE-4ADE-8696-ACF87335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6CF08E4-86C9-414F-A37C-2DA16E50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+30.4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00E2F43-71FD-4670-B73C-B224F30A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C75D1F0-EB9F-465A-B879-CC7FC017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16.8%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86FEBBA-6049-43BD-9877-450A1946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68C634-BAC2-42EC-B645-A317CC75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-25.0%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CCA7D4-271E-418E-AAE8-12EB514E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619B3A-6050-4D82-99E3-3867E92E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6EA40E-3C13-4349-ACDB-50DE6352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CC6A14-94C5-433C-8882-9005393B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D270FBC-1AEF-4874-90A7-9C4F459B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71950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80948B0-E33D-4527-93AE-90496860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434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Trend/breakout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4DF621-9100-429D-B286-407BE2D4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276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4CFB26-E3A5-483F-951C-6971F9E7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434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-10.8%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AB4634-7FB3-4A5F-8062-AC174AD3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CE0F344-B56A-41A1-8657-EF0D98E1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+42.2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947FECD-2580-419A-B231-F74BF9C2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D977B85-E734-4507-9810-EACCAA9D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BCF639A-9031-4B46-A463-D89B171D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1E785A7-1C0F-426E-96EE-5ECD8508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-12.8%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0071BA0-881C-40D6-A57C-E55AA3B3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E4E799E-450A-4359-A589-80A666A1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0D654F4-48B2-45DE-9634-D7891EA5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reopened pool improved 2022 defense, but it cut 2020 exposure and return sharply. That is useful selectivity evidence, not a solution to the high-beta upside capture problem.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9420F5D-4DE0-4CE6-97F2-DD7A8E34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08417057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BC8AF-1C13-4748-9C14-96F6BD03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5853D-87B1-4393-A60C-0696797D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strategy map explains the defensive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1DBB4-235F-4CB1-9453-4B9A8663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9f6fdc3f2403a"/>
          <a:stretch xmlns:a="http://schemas.openxmlformats.org/drawingml/2006/main"/>
        </p:blipFill>
        <p:spPr>
          <a:xfrm xmlns:a="http://schemas.openxmlformats.org/drawingml/2006/main">
            <a:off x="571500" y="1744540"/>
            <a:ext cx="6667500" cy="43595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7DF7F-D5CE-4A19-A37F-CE536D90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81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22AD2-67D4-4B0A-8463-D46AFC89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C515D-88E5-462A-A078-D617219C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C4ECB-2954-4332-B249-81E99DFA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480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Most asset-state cells still select cash.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368C8-E5A5-4F8C-A58C-367644C2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19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9553D-F948-4083-9926-123EECF9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Breakout additions appear only in narrow pockets.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C5D8C4-7295-4F86-8755-747379A0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3FE3FB-97D4-49C4-A54F-B072DCA1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2133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The pool reduced drawdown but did not keep the system long enough in 2020.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BD4DA0-D55A-4BAC-9759-8291247B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981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Next question: improve state timing and hold participation directly, instead of assuming a broader family list will create upside capture.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A8F0A-92EA-4CB8-BE50-9CD9821E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50468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5432F-CD74-4F0C-9E51-34C9A89A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56671-08FB-49F7-BB6E-EF3A9ED6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Mean reversion did not solve the upside participation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B7BB1-B43A-46FA-86F9-7871C519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73850-051B-493C-B650-9B24D479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838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79899-A77E-4BAA-B050-4D11F565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2407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C7985-1978-4B53-B6C8-C4F5E98B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3835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CCC55-5976-4F50-8EDC-3C3DDFB6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240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Feature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6361C-F48D-4C86-8C4D-18B3A8C1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E92B2-B4AD-4E28-B9D9-E5C684A9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24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F8EF4-E806-4BA6-9CA3-C3CC60CC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25BFF-4268-483E-8CB5-A3CC3022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1FBD8-C6E5-4158-B064-1561D1F3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8FB15-A07B-48A4-926C-DF5B3B1E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9CF651-B636-4306-8467-C7287335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1219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ACF5B-E5E8-40CE-9A51-F8A26B05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24075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Drawdown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0E2C2-EBC5-47D7-991F-CE30F7FE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383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50D72-7613-4AEE-B7D7-C390CEE6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24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Entries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CE45E0-CD53-43E7-A301-F991A183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FC94F-F576-490E-BA10-3B8813E0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E82D53-969D-449A-B267-AAEEB4C5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E42459-574F-4E88-B7C9-E432CDB3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71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86540E-A9E2-4597-90D1-EB79661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6AF182-2126-42FA-89B0-F3BD73B3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20.3%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F0614D-8F0A-4CCB-A4F7-E51C94AF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FA6649-CE02-4F45-AAC4-53C891B6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-207.0 pp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C1F386-F9F2-4798-8AE3-68454264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E830E7-38A7-4FA4-8344-BE7DA77B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21.3%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7DF9D3-4F59-430E-87D2-7439BB6A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2D9F42-5167-4849-8AA8-1E617AA6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-34.9%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358EAC-3F9A-42DE-B980-ABD70650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1879DB-A567-4093-912E-304D844D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717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F4BBA9-091C-40F0-9525-2960933B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B20AA2-79FE-429D-8037-32043033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F87317-4491-4925-99E0-BEE57B0D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D4192B-3BCE-4DE9-A7CA-9E48D02B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D35966-AD2C-409A-AF94-9CB2731D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E4D3B6-13A4-4446-B501-A5268C8E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623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13.6%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74470E-52FF-465C-92F2-3F0950B9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1524BB-1E2D-468E-81F4-7CF2E77B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42318"/>
                </a:solidFill>
              </a:defRPr>
            </a:pPr>
            <a:r>
              <a:rPr sz="1200" b="0">
                <a:solidFill>
                  <a:srgbClr val="B42318"/>
                </a:solidFill>
              </a:rPr>
              <a:t>-213.7 pp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7BDF11-E1A5-4942-B950-44F73A27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A51447-405D-4FAA-A2FE-D0883F6C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19.8%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FF14C2-6633-4DDC-B9A6-EDE96F86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908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3CC13C-07E3-4570-8C2C-C1A74C69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-32.0%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BF2FFC-2E5F-4295-9799-250DE44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C0806B-E128-4E07-9FA1-A37082CF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DC4224-6953-4422-B68B-7DF2FAC8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31EFD3-7C2B-4130-9379-1F4D8F98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7E2E43F-7D34-4DB1-AB56-BF586CB4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32AB21-F93F-4AF8-AFD5-9A15AB7C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528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Workhorse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9A2829-4091-495D-B193-B81CF9C0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814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199780D-1EC6-4C7C-B8CE-5D65B406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-12.9%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AA1F182-A18D-4486-8977-EA0813F1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746A77D-931D-4E6C-B3A5-8CCE6526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+40.1 pp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31BAA4B-BFF0-47E1-B708-69DBD2F6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5B829AF-188E-473B-9CC0-FE4E048C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25.9%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62B5D9B-A6AE-48B6-A58A-8D23B017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8140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900F59-A381-4702-8D31-3B9D813D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5285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7D59F7-1B56-4220-A5F9-D69E958F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FDCBCEB-BA25-479D-8D84-DE757F09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52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BC98AF3-DB43-4DCB-ACB0-5C282C54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53FD7A2-2462-4952-8F65-73FDC9BF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5A4CCC7-FEF7-4B18-B676-1C28719C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55ABE01-EF79-4BB9-AADF-AAFDA68A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343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Reversion context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5AB6AA-BFF5-47F9-B75D-1BFA7D1B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F37124E-269F-444D-8469-03D38676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43400"/>
            <a:ext cx="1085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-17.6%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C5DE558-DDE8-4393-BC92-486C3F0D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5C5FE5A-D3CB-4C70-B2DB-4EB446DF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67647"/>
                </a:solidFill>
              </a:defRPr>
            </a:pPr>
            <a:r>
              <a:rPr sz="1200" b="0">
                <a:solidFill>
                  <a:srgbClr val="067647"/>
                </a:solidFill>
              </a:rPr>
              <a:t>+35.4 pp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07EDB5F-BB98-4383-9C69-74E646F4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5B909A-5D61-43AF-A41E-982266CD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27.3%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4283BF9-11BF-40CA-93BD-45F9D600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171950"/>
            <a:ext cx="1219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DA5E48B-1757-4A00-87C6-0274C606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343400"/>
            <a:ext cx="1066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-19.5%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2449E89-99EF-416E-8079-F42CE647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171950"/>
            <a:ext cx="1047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2896A24-5107-4B9D-BE88-36D3C05F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44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6EF4109-58DA-495A-A426-6C2E317A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91150"/>
            <a:ext cx="9753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The diagnostic behaved like a defensive/range-trading probe: it reduced 2022 damage versus basket hold, but it badly lagged the 2020 rally and did not improve on the EMA control.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C67FA08-D655-4E37-9C42-1AA73955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6518930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C6E41F-C404-4FB9-BE1B-D174B11A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GEN5.3 MOMENTUM CONTEXT-SIZE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A3AF7-770D-4FFC-A35D-7EAFB2A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The mean-reversion map is mostly cash with narrow Bollinger pockets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15118-CC4D-4EA0-9716-17E1722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192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602a4e7f641d7"/>
          <a:stretch xmlns:a="http://schemas.openxmlformats.org/drawingml/2006/main"/>
        </p:blipFill>
        <p:spPr>
          <a:xfrm xmlns:a="http://schemas.openxmlformats.org/drawingml/2006/main">
            <a:off x="552450" y="1716332"/>
            <a:ext cx="6724650" cy="439688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7CB70-C795-4967-B4AC-7AAB3903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181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4E161-51DC-4436-834E-89BA463E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Visual read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D6B31-4F25-4EEF-BDEF-9753B2BB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86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2810A-65A4-4DFE-8373-DC2B4F43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99085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No-trade still dominates many asset-state cells.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2E0C7-088C-46D9-BFA1-C35724F4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95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92957B-F5EC-4E91-9190-48C58172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0042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Bollinger variants appear in selective pockets, especially AVGO.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60E46-4BEE-4FF7-AFE2-60E9A6B4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F5E15-389B-49C5-9A4B-7F2BAB49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10000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RSI and z-return did not become dominant state 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64C2F-A824-4BA9-95A3-6FE8047F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148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00A8A1-385C-443F-9E0E-C13E7913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19575"/>
            <a:ext cx="2133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000000"/>
                </a:solidFill>
              </a:defRPr>
            </a:pPr>
            <a:r>
              <a:rPr sz="1200" b="0">
                <a:solidFill>
                  <a:srgbClr val="000000"/>
                </a:solidFill>
              </a:rPr>
              <a:t>This is not a high-beta upside engine in its current form.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1CFEF-0491-43C9-84E1-C0AAFE2C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The trade tapes reinforce the same story: countertrend chips and defensive abstention, not early sticky participation in a broad high-beta rally.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818AB-56E1-4362-9062-3DA61618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Research/inspection only. Not allocation evidence or live-advice behavior.</a:t>
            </a:r>
          </a:p>
        </p:txBody>
      </p:sp>
    </p:spTree>
    <p:extLst>
      <p:ext uri="{BB962C8B-B14F-4D97-AF65-F5344CB8AC3E}">
        <p14:creationId xmlns:p14="http://schemas.microsoft.com/office/powerpoint/2010/main" val="2140011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2026-07-13T01:53:39.0890000Z</dcterms:created>
  <dcterms:modified xsi:type="dcterms:W3CDTF">2026-07-13T01:53:39.0890000Z</dcterms:modified>
</coreProperties>
</file>