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e82180615c4450" /><Relationship Type="http://schemas.openxmlformats.org/officeDocument/2006/relationships/extended-properties" Target="/docProps/app.xml" Id="R298f6f2dae89499d" /><Relationship Type="http://schemas.openxmlformats.org/officeDocument/2006/relationships/officeDocument" Target="/ppt/presentation.xml" Id="R26175c5a6b8e45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e13fc2ddf047a3"/>
  </p:sldMasterIdLst>
  <p:notesMasterIdLst>
    <p:notesMasterId xmlns:r="http://schemas.openxmlformats.org/officeDocument/2006/relationships" r:id="R62451b7c8a1d4aa9"/>
  </p:notesMasterIdLst>
  <p:sldIdLst>
    <p:sldId xmlns:r="http://schemas.openxmlformats.org/officeDocument/2006/relationships" id="256" r:id="Rda702161f5f349e9"/>
    <p:sldId xmlns:r="http://schemas.openxmlformats.org/officeDocument/2006/relationships" id="257" r:id="R9354c2deedb64f87"/>
    <p:sldId xmlns:r="http://schemas.openxmlformats.org/officeDocument/2006/relationships" id="258" r:id="R1cd4bfbb6f344c34"/>
    <p:sldId xmlns:r="http://schemas.openxmlformats.org/officeDocument/2006/relationships" id="259" r:id="R11b9b5120ddd4921"/>
    <p:sldId xmlns:r="http://schemas.openxmlformats.org/officeDocument/2006/relationships" id="260" r:id="Ra6ed8abb7232468f"/>
    <p:sldId xmlns:r="http://schemas.openxmlformats.org/officeDocument/2006/relationships" id="261" r:id="R8e0755f565984ae1"/>
    <p:sldId xmlns:r="http://schemas.openxmlformats.org/officeDocument/2006/relationships" id="262" r:id="R344b117d67e849cc"/>
    <p:sldId xmlns:r="http://schemas.openxmlformats.org/officeDocument/2006/relationships" id="263" r:id="R0135a618b5be4ad6"/>
    <p:sldId xmlns:r="http://schemas.openxmlformats.org/officeDocument/2006/relationships" id="264" r:id="R4eb6cf59cb0f44df"/>
    <p:sldId xmlns:r="http://schemas.openxmlformats.org/officeDocument/2006/relationships" id="265" r:id="Rda304b248ab14402"/>
    <p:sldId xmlns:r="http://schemas.openxmlformats.org/officeDocument/2006/relationships" id="266" r:id="R1010a3b979ff4421"/>
    <p:sldId xmlns:r="http://schemas.openxmlformats.org/officeDocument/2006/relationships" id="267" r:id="R56fe4c6a71ae4a17"/>
    <p:sldId xmlns:r="http://schemas.openxmlformats.org/officeDocument/2006/relationships" id="268" r:id="Ra909f7323e0c4a9e"/>
    <p:sldId xmlns:r="http://schemas.openxmlformats.org/officeDocument/2006/relationships" id="269" r:id="R61b4ec7689b946e1"/>
    <p:sldId xmlns:r="http://schemas.openxmlformats.org/officeDocument/2006/relationships" id="270" r:id="Rf0a77a97b84442fa"/>
    <p:sldId xmlns:r="http://schemas.openxmlformats.org/officeDocument/2006/relationships" id="271" r:id="R1a26299127b74132"/>
    <p:sldId xmlns:r="http://schemas.openxmlformats.org/officeDocument/2006/relationships" id="272" r:id="R9715ec55d33e4b1e"/>
    <p:sldId xmlns:r="http://schemas.openxmlformats.org/officeDocument/2006/relationships" id="273" r:id="Rd1c161443a0e42d9"/>
    <p:sldId xmlns:r="http://schemas.openxmlformats.org/officeDocument/2006/relationships" id="274" r:id="Rf20acb8ce3fa4df0"/>
    <p:sldId xmlns:r="http://schemas.openxmlformats.org/officeDocument/2006/relationships" id="275" r:id="R88e2ecb83ce341bc"/>
    <p:sldId xmlns:r="http://schemas.openxmlformats.org/officeDocument/2006/relationships" id="276" r:id="R9a966e7b3d9f43ae"/>
    <p:sldId xmlns:r="http://schemas.openxmlformats.org/officeDocument/2006/relationships" id="277" r:id="Rb1a0f81593bb4845"/>
    <p:sldId xmlns:r="http://schemas.openxmlformats.org/officeDocument/2006/relationships" id="278" r:id="Red8d2a90f9d14d95"/>
    <p:sldId xmlns:r="http://schemas.openxmlformats.org/officeDocument/2006/relationships" id="279" r:id="R52deade42b4a4301"/>
    <p:sldId xmlns:r="http://schemas.openxmlformats.org/officeDocument/2006/relationships" id="280" r:id="Rd9f6080abcec4831"/>
    <p:sldId xmlns:r="http://schemas.openxmlformats.org/officeDocument/2006/relationships" id="281" r:id="Ra21d470cecbc4458"/>
    <p:sldId xmlns:r="http://schemas.openxmlformats.org/officeDocument/2006/relationships" id="282" r:id="R0f02223e21da494d"/>
    <p:sldId xmlns:r="http://schemas.openxmlformats.org/officeDocument/2006/relationships" id="283" r:id="Raba9dca8876b44e5"/>
    <p:sldId xmlns:r="http://schemas.openxmlformats.org/officeDocument/2006/relationships" id="284" r:id="R2bcb8fb0705a4cbf"/>
    <p:sldId xmlns:r="http://schemas.openxmlformats.org/officeDocument/2006/relationships" id="285" r:id="Rc59bca3da85f4dd1"/>
    <p:sldId xmlns:r="http://schemas.openxmlformats.org/officeDocument/2006/relationships" id="286" r:id="Rddd16714796f4e66"/>
    <p:sldId xmlns:r="http://schemas.openxmlformats.org/officeDocument/2006/relationships" id="287" r:id="Rfb04b88db63b4e62"/>
    <p:sldId xmlns:r="http://schemas.openxmlformats.org/officeDocument/2006/relationships" id="288" r:id="R4a9123a2279848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0f77a3b63a4ea7" /><Relationship Type="http://schemas.openxmlformats.org/officeDocument/2006/relationships/slideMaster" Target="/ppt/slideMasters/slideMaster1.xml" Id="Rf5e13fc2ddf047a3" /><Relationship Type="http://schemas.openxmlformats.org/officeDocument/2006/relationships/notesMaster" Target="/ppt/notesMasters/notesMaster1.xml" Id="R62451b7c8a1d4aa9" /><Relationship Type="http://schemas.openxmlformats.org/officeDocument/2006/relationships/presProps" Target="/ppt/presProps.xml" Id="R0b23777f0e9d4594" /><Relationship Type="http://schemas.openxmlformats.org/officeDocument/2006/relationships/tableStyles" Target="/ppt/tableStyles.xml" Id="R988c787071bc463d" /><Relationship Type="http://schemas.openxmlformats.org/officeDocument/2006/relationships/slide" Target="/ppt/slides/slide1.xml" Id="Rda702161f5f349e9" /><Relationship Type="http://schemas.openxmlformats.org/officeDocument/2006/relationships/slide" Target="/ppt/slides/slide2.xml" Id="R9354c2deedb64f87" /><Relationship Type="http://schemas.openxmlformats.org/officeDocument/2006/relationships/slide" Target="/ppt/slides/slide3.xml" Id="R1cd4bfbb6f344c34" /><Relationship Type="http://schemas.openxmlformats.org/officeDocument/2006/relationships/slide" Target="/ppt/slides/slide4.xml" Id="R11b9b5120ddd4921" /><Relationship Type="http://schemas.openxmlformats.org/officeDocument/2006/relationships/slide" Target="/ppt/slides/slide5.xml" Id="Ra6ed8abb7232468f" /><Relationship Type="http://schemas.openxmlformats.org/officeDocument/2006/relationships/slide" Target="/ppt/slides/slide6.xml" Id="R8e0755f565984ae1" /><Relationship Type="http://schemas.openxmlformats.org/officeDocument/2006/relationships/slide" Target="/ppt/slides/slide7.xml" Id="R344b117d67e849cc" /><Relationship Type="http://schemas.openxmlformats.org/officeDocument/2006/relationships/slide" Target="/ppt/slides/slide8.xml" Id="R0135a618b5be4ad6" /><Relationship Type="http://schemas.openxmlformats.org/officeDocument/2006/relationships/slide" Target="/ppt/slides/slide9.xml" Id="R4eb6cf59cb0f44df" /><Relationship Type="http://schemas.openxmlformats.org/officeDocument/2006/relationships/slide" Target="/ppt/slides/slide10.xml" Id="Rda304b248ab14402" /><Relationship Type="http://schemas.openxmlformats.org/officeDocument/2006/relationships/slide" Target="/ppt/slides/slide11.xml" Id="R1010a3b979ff4421" /><Relationship Type="http://schemas.openxmlformats.org/officeDocument/2006/relationships/slide" Target="/ppt/slides/slide12.xml" Id="R56fe4c6a71ae4a17" /><Relationship Type="http://schemas.openxmlformats.org/officeDocument/2006/relationships/slide" Target="/ppt/slides/slide13.xml" Id="Ra909f7323e0c4a9e" /><Relationship Type="http://schemas.openxmlformats.org/officeDocument/2006/relationships/slide" Target="/ppt/slides/slide14.xml" Id="R61b4ec7689b946e1" /><Relationship Type="http://schemas.openxmlformats.org/officeDocument/2006/relationships/slide" Target="/ppt/slides/slide15.xml" Id="Rf0a77a97b84442fa" /><Relationship Type="http://schemas.openxmlformats.org/officeDocument/2006/relationships/slide" Target="/ppt/slides/slide16.xml" Id="R1a26299127b74132" /><Relationship Type="http://schemas.openxmlformats.org/officeDocument/2006/relationships/slide" Target="/ppt/slides/slide17.xml" Id="R9715ec55d33e4b1e" /><Relationship Type="http://schemas.openxmlformats.org/officeDocument/2006/relationships/slide" Target="/ppt/slides/slide18.xml" Id="Rd1c161443a0e42d9" /><Relationship Type="http://schemas.openxmlformats.org/officeDocument/2006/relationships/slide" Target="/ppt/slides/slide19.xml" Id="Rf20acb8ce3fa4df0" /><Relationship Type="http://schemas.openxmlformats.org/officeDocument/2006/relationships/slide" Target="/ppt/slides/slide20.xml" Id="R88e2ecb83ce341bc" /><Relationship Type="http://schemas.openxmlformats.org/officeDocument/2006/relationships/slide" Target="/ppt/slides/slide21.xml" Id="R9a966e7b3d9f43ae" /><Relationship Type="http://schemas.openxmlformats.org/officeDocument/2006/relationships/slide" Target="/ppt/slides/slide22.xml" Id="Rb1a0f81593bb4845" /><Relationship Type="http://schemas.openxmlformats.org/officeDocument/2006/relationships/slide" Target="/ppt/slides/slide23.xml" Id="Red8d2a90f9d14d95" /><Relationship Type="http://schemas.openxmlformats.org/officeDocument/2006/relationships/slide" Target="/ppt/slides/slide24.xml" Id="R52deade42b4a4301" /><Relationship Type="http://schemas.openxmlformats.org/officeDocument/2006/relationships/slide" Target="/ppt/slides/slide25.xml" Id="Rd9f6080abcec4831" /><Relationship Type="http://schemas.openxmlformats.org/officeDocument/2006/relationships/slide" Target="/ppt/slides/slide26.xml" Id="Ra21d470cecbc4458" /><Relationship Type="http://schemas.openxmlformats.org/officeDocument/2006/relationships/slide" Target="/ppt/slides/slide27.xml" Id="R0f02223e21da494d" /><Relationship Type="http://schemas.openxmlformats.org/officeDocument/2006/relationships/slide" Target="/ppt/slides/slide28.xml" Id="Raba9dca8876b44e5" /><Relationship Type="http://schemas.openxmlformats.org/officeDocument/2006/relationships/slide" Target="/ppt/slides/slide29.xml" Id="R2bcb8fb0705a4cbf" /><Relationship Type="http://schemas.openxmlformats.org/officeDocument/2006/relationships/slide" Target="/ppt/slides/slide30.xml" Id="Rc59bca3da85f4dd1" /><Relationship Type="http://schemas.openxmlformats.org/officeDocument/2006/relationships/slide" Target="/ppt/slides/slide31.xml" Id="Rddd16714796f4e66" /><Relationship Type="http://schemas.openxmlformats.org/officeDocument/2006/relationships/slide" Target="/ppt/slides/slide32.xml" Id="Rfb04b88db63b4e62" /><Relationship Type="http://schemas.openxmlformats.org/officeDocument/2006/relationships/slide" Target="/ppt/slides/slide33.xml" Id="R4a9123a2279848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3b025289ab4d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82c9841a354013" /><Relationship Type="http://schemas.openxmlformats.org/officeDocument/2006/relationships/notesMaster" Target="/ppt/notesMasters/notesMaster1.xml" Id="R8c4db9d2de0443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4bbad9891046e3" /><Relationship Type="http://schemas.openxmlformats.org/officeDocument/2006/relationships/notesMaster" Target="/ppt/notesMasters/notesMaster1.xml" Id="R7be02e50feb543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3ed571aa8b4c5f" /><Relationship Type="http://schemas.openxmlformats.org/officeDocument/2006/relationships/notesMaster" Target="/ppt/notesMasters/notesMaster1.xml" Id="Rad5162bbb3d446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682f3ed1524b1c" /><Relationship Type="http://schemas.openxmlformats.org/officeDocument/2006/relationships/notesMaster" Target="/ppt/notesMasters/notesMaster1.xml" Id="R10d03adeb3ea44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e9b5ed2f5c4114" /><Relationship Type="http://schemas.openxmlformats.org/officeDocument/2006/relationships/notesMaster" Target="/ppt/notesMasters/notesMaster1.xml" Id="R60c000ebd6e94c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75ac61140e4b0c" /><Relationship Type="http://schemas.openxmlformats.org/officeDocument/2006/relationships/notesMaster" Target="/ppt/notesMasters/notesMaster1.xml" Id="Rf56dae12968a41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5af667a4b84cfd" /><Relationship Type="http://schemas.openxmlformats.org/officeDocument/2006/relationships/notesMaster" Target="/ppt/notesMasters/notesMaster1.xml" Id="R122f7c06446446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9f168fa1ca413b" /><Relationship Type="http://schemas.openxmlformats.org/officeDocument/2006/relationships/notesMaster" Target="/ppt/notesMasters/notesMaster1.xml" Id="R52ca91e3cac34f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373a46ff304390" /><Relationship Type="http://schemas.openxmlformats.org/officeDocument/2006/relationships/notesMaster" Target="/ppt/notesMasters/notesMaster1.xml" Id="Rcba5fc7ed8e943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ea1e1485b544b4" /><Relationship Type="http://schemas.openxmlformats.org/officeDocument/2006/relationships/notesMaster" Target="/ppt/notesMasters/notesMaster1.xml" Id="R96bd0b80e9cf46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dbe75b5f814a6f" /><Relationship Type="http://schemas.openxmlformats.org/officeDocument/2006/relationships/notesMaster" Target="/ppt/notesMasters/notesMaster1.xml" Id="R2cea750db47e47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128e955f61466b" /><Relationship Type="http://schemas.openxmlformats.org/officeDocument/2006/relationships/notesMaster" Target="/ppt/notesMasters/notesMaster1.xml" Id="Rd5d0d3aad63b48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e4c13893ec41ea" /><Relationship Type="http://schemas.openxmlformats.org/officeDocument/2006/relationships/notesMaster" Target="/ppt/notesMasters/notesMaster1.xml" Id="Re6cb174a8e6548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0c4210fdd14f78" /><Relationship Type="http://schemas.openxmlformats.org/officeDocument/2006/relationships/notesMaster" Target="/ppt/notesMasters/notesMaster1.xml" Id="R214b45ae191641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8e035b1bcf4b7c" /><Relationship Type="http://schemas.openxmlformats.org/officeDocument/2006/relationships/notesMaster" Target="/ppt/notesMasters/notesMaster1.xml" Id="Rf9bedc9a80704a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64d7374ed14b94" /><Relationship Type="http://schemas.openxmlformats.org/officeDocument/2006/relationships/notesMaster" Target="/ppt/notesMasters/notesMaster1.xml" Id="Rff2513c20db64c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b109d2601e48a7" /><Relationship Type="http://schemas.openxmlformats.org/officeDocument/2006/relationships/notesMaster" Target="/ppt/notesMasters/notesMaster1.xml" Id="R482a2bcdd6224a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9a1ccc0d0c45be" /><Relationship Type="http://schemas.openxmlformats.org/officeDocument/2006/relationships/notesMaster" Target="/ppt/notesMasters/notesMaster1.xml" Id="Rc1029642780a424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415af28e6404378" /><Relationship Type="http://schemas.openxmlformats.org/officeDocument/2006/relationships/notesMaster" Target="/ppt/notesMasters/notesMaster1.xml" Id="Ra0365c5d10b146d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2d5194a3a14ae9" /><Relationship Type="http://schemas.openxmlformats.org/officeDocument/2006/relationships/notesMaster" Target="/ppt/notesMasters/notesMaster1.xml" Id="R5d0213ef6607444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6b80ae0f1594fce" /><Relationship Type="http://schemas.openxmlformats.org/officeDocument/2006/relationships/notesMaster" Target="/ppt/notesMasters/notesMaster1.xml" Id="R6dfae59969a74f2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62297dddbef4356" /><Relationship Type="http://schemas.openxmlformats.org/officeDocument/2006/relationships/notesMaster" Target="/ppt/notesMasters/notesMaster1.xml" Id="R5706109afb5e4ba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60c106f85014181" /><Relationship Type="http://schemas.openxmlformats.org/officeDocument/2006/relationships/notesMaster" Target="/ppt/notesMasters/notesMaster1.xml" Id="Rd4c53c99fbe44aa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b17f3e440734a7f" /><Relationship Type="http://schemas.openxmlformats.org/officeDocument/2006/relationships/notesMaster" Target="/ppt/notesMasters/notesMaster1.xml" Id="R764caa2f29c645e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2eaf810334f4070" /><Relationship Type="http://schemas.openxmlformats.org/officeDocument/2006/relationships/notesMaster" Target="/ppt/notesMasters/notesMaster1.xml" Id="Rce62a19ea026437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57554b310724f44" /><Relationship Type="http://schemas.openxmlformats.org/officeDocument/2006/relationships/notesMaster" Target="/ppt/notesMasters/notesMaster1.xml" Id="R8fd2fab624304cc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adefe2ffde74060" /><Relationship Type="http://schemas.openxmlformats.org/officeDocument/2006/relationships/notesMaster" Target="/ppt/notesMasters/notesMaster1.xml" Id="Rf0733677c3d54dd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7acdc6e87cb4c5f" /><Relationship Type="http://schemas.openxmlformats.org/officeDocument/2006/relationships/notesMaster" Target="/ppt/notesMasters/notesMaster1.xml" Id="Rd684a2ee110e418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8bd2577036a4509" /><Relationship Type="http://schemas.openxmlformats.org/officeDocument/2006/relationships/notesMaster" Target="/ppt/notesMasters/notesMaster1.xml" Id="Rb4c14a1d33da4de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7b717e998964731" /><Relationship Type="http://schemas.openxmlformats.org/officeDocument/2006/relationships/notesMaster" Target="/ppt/notesMasters/notesMaster1.xml" Id="R1d6200215c9648e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ec230ff81bf4b08" /><Relationship Type="http://schemas.openxmlformats.org/officeDocument/2006/relationships/notesMaster" Target="/ppt/notesMasters/notesMaster1.xml" Id="Rb34c9a8b8ae54a1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721ab7a8c4844e9" /><Relationship Type="http://schemas.openxmlformats.org/officeDocument/2006/relationships/notesMaster" Target="/ppt/notesMasters/notesMaster1.xml" Id="Rfb936c1f359e4bb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116ddaff0354d25" /><Relationship Type="http://schemas.openxmlformats.org/officeDocument/2006/relationships/notesMaster" Target="/ppt/notesMasters/notesMaster1.xml" Id="Rc93986dbca624e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c49a5b598c4b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ce3c121b004bda" /><Relationship Type="http://schemas.openxmlformats.org/officeDocument/2006/relationships/slideLayout" Target="/ppt/slideLayouts/slideLayout1.xml" Id="R4a87ab7f77464a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87ab7f77464a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66008230f4a65" /><Relationship Type="http://schemas.openxmlformats.org/officeDocument/2006/relationships/notesSlide" Target="/ppt/notesSlides/notesSlide1.xml" Id="R58f0b3e7eeb746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2c1cf5f2348d5" /><Relationship Type="http://schemas.openxmlformats.org/officeDocument/2006/relationships/notesSlide" Target="/ppt/notesSlides/notesSlide2.xml" Id="Re6442b2190d741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486aa746a4fda" /><Relationship Type="http://schemas.openxmlformats.org/officeDocument/2006/relationships/notesSlide" Target="/ppt/notesSlides/notesSlide3.xml" Id="Rbce9a91d6e674d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ac58300e44358" /><Relationship Type="http://schemas.openxmlformats.org/officeDocument/2006/relationships/notesSlide" Target="/ppt/notesSlides/notesSlide4.xml" Id="R0782bab9b99f4e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e2686f3c546ae" /><Relationship Type="http://schemas.openxmlformats.org/officeDocument/2006/relationships/notesSlide" Target="/ppt/notesSlides/notesSlide5.xml" Id="R7e5f17448c7b4c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d19f760974b2d" /><Relationship Type="http://schemas.openxmlformats.org/officeDocument/2006/relationships/image" Target="/ppt/media/image.png" Id="Re05639701a47481a" /><Relationship Type="http://schemas.openxmlformats.org/officeDocument/2006/relationships/notesSlide" Target="/ppt/notesSlides/notesSlide6.xml" Id="Rb04739c37caa4a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3b91a87c54587" /><Relationship Type="http://schemas.openxmlformats.org/officeDocument/2006/relationships/notesSlide" Target="/ppt/notesSlides/notesSlide7.xml" Id="R802ae2637a5b43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fb7f5a539411f" /><Relationship Type="http://schemas.openxmlformats.org/officeDocument/2006/relationships/image" Target="/ppt/media/image2.png" Id="R6ae6fba598b5461a" /><Relationship Type="http://schemas.openxmlformats.org/officeDocument/2006/relationships/notesSlide" Target="/ppt/notesSlides/notesSlide8.xml" Id="R167b228b192e4a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c2b1997534a53" /><Relationship Type="http://schemas.openxmlformats.org/officeDocument/2006/relationships/chart" Target="/ppt/slides/charts/chart1.xml" Id="R15fca1a090f1422a" /><Relationship Type="http://schemas.openxmlformats.org/officeDocument/2006/relationships/notesSlide" Target="/ppt/notesSlides/notesSlide9.xml" Id="Rd8a976d6dbf14f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870eac3d34de1" /><Relationship Type="http://schemas.openxmlformats.org/officeDocument/2006/relationships/image" Target="/ppt/media/image3.png" Id="Rc7e9507c109d4f95" /><Relationship Type="http://schemas.openxmlformats.org/officeDocument/2006/relationships/notesSlide" Target="/ppt/notesSlides/notesSlide10.xml" Id="R71dea877e29642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846ba9f404c97" /><Relationship Type="http://schemas.openxmlformats.org/officeDocument/2006/relationships/image" Target="/ppt/media/image4.png" Id="R462f10b70c8e4bc7" /><Relationship Type="http://schemas.openxmlformats.org/officeDocument/2006/relationships/notesSlide" Target="/ppt/notesSlides/notesSlide11.xml" Id="R418f8dac3a814f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aae3108c74260" /><Relationship Type="http://schemas.openxmlformats.org/officeDocument/2006/relationships/image" Target="/ppt/media/image5.png" Id="R3cc6cb8fb9ec4712" /><Relationship Type="http://schemas.openxmlformats.org/officeDocument/2006/relationships/notesSlide" Target="/ppt/notesSlides/notesSlide12.xml" Id="R65f32a25bae34e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f5898d5134c69" /><Relationship Type="http://schemas.openxmlformats.org/officeDocument/2006/relationships/notesSlide" Target="/ppt/notesSlides/notesSlide13.xml" Id="Red850e3f9d984e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3f1259cdd4b76" /><Relationship Type="http://schemas.openxmlformats.org/officeDocument/2006/relationships/notesSlide" Target="/ppt/notesSlides/notesSlide14.xml" Id="R34d94a139cea47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acc0253724238" /><Relationship Type="http://schemas.openxmlformats.org/officeDocument/2006/relationships/notesSlide" Target="/ppt/notesSlides/notesSlide15.xml" Id="Rc4813c053e0642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496f61bd248c6" /><Relationship Type="http://schemas.openxmlformats.org/officeDocument/2006/relationships/image" Target="/ppt/media/image6.png" Id="Rd26776b875074c4e" /><Relationship Type="http://schemas.openxmlformats.org/officeDocument/2006/relationships/notesSlide" Target="/ppt/notesSlides/notesSlide16.xml" Id="R587f7869cfba492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032fd1f9a41cc" /><Relationship Type="http://schemas.openxmlformats.org/officeDocument/2006/relationships/notesSlide" Target="/ppt/notesSlides/notesSlide17.xml" Id="R45e95a48cd9a4e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7db6b367442a8" /><Relationship Type="http://schemas.openxmlformats.org/officeDocument/2006/relationships/image" Target="/ppt/media/image7.png" Id="Rb2b532ec530c4dbf" /><Relationship Type="http://schemas.openxmlformats.org/officeDocument/2006/relationships/notesSlide" Target="/ppt/notesSlides/notesSlide18.xml" Id="Rcceae153b7ab4b9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801f10d8c4e33" /><Relationship Type="http://schemas.openxmlformats.org/officeDocument/2006/relationships/notesSlide" Target="/ppt/notesSlides/notesSlide19.xml" Id="Rb5d55078620b433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3f2728d294366" /><Relationship Type="http://schemas.openxmlformats.org/officeDocument/2006/relationships/image" Target="/ppt/media/image8.png" Id="R03abbc59f09449f6" /><Relationship Type="http://schemas.openxmlformats.org/officeDocument/2006/relationships/notesSlide" Target="/ppt/notesSlides/notesSlide20.xml" Id="R3c9f697196454ce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a426d56bf4ae9" /><Relationship Type="http://schemas.openxmlformats.org/officeDocument/2006/relationships/notesSlide" Target="/ppt/notesSlides/notesSlide21.xml" Id="Ra97016ed0915417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53763420b46a1" /><Relationship Type="http://schemas.openxmlformats.org/officeDocument/2006/relationships/image" Target="/ppt/media/image9.png" Id="R28659346a89c49c1" /><Relationship Type="http://schemas.openxmlformats.org/officeDocument/2006/relationships/notesSlide" Target="/ppt/notesSlides/notesSlide22.xml" Id="R5b3596825b5f402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6477a13d94968" /><Relationship Type="http://schemas.openxmlformats.org/officeDocument/2006/relationships/image" Target="/ppt/media/image10.png" Id="Rb445c185f40a4ea3" /><Relationship Type="http://schemas.openxmlformats.org/officeDocument/2006/relationships/notesSlide" Target="/ppt/notesSlides/notesSlide23.xml" Id="Ra8aab7bdb9a645b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76d3c40bc4c65" /><Relationship Type="http://schemas.openxmlformats.org/officeDocument/2006/relationships/notesSlide" Target="/ppt/notesSlides/notesSlide24.xml" Id="R1e79e9bbfb70466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511c40753438b" /><Relationship Type="http://schemas.openxmlformats.org/officeDocument/2006/relationships/notesSlide" Target="/ppt/notesSlides/notesSlide25.xml" Id="R30c397f1702b45e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c0205eba34ca6" /><Relationship Type="http://schemas.openxmlformats.org/officeDocument/2006/relationships/notesSlide" Target="/ppt/notesSlides/notesSlide26.xml" Id="R50bc9b06456d495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a053024384342" /><Relationship Type="http://schemas.openxmlformats.org/officeDocument/2006/relationships/image" Target="/ppt/media/image11.png" Id="R2ae60ec64e824c24" /><Relationship Type="http://schemas.openxmlformats.org/officeDocument/2006/relationships/notesSlide" Target="/ppt/notesSlides/notesSlide27.xml" Id="R11eb6fd716e0450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08cfdfd594be7" /><Relationship Type="http://schemas.openxmlformats.org/officeDocument/2006/relationships/image" Target="/ppt/media/image12.png" Id="R55c6643aece347e8" /><Relationship Type="http://schemas.openxmlformats.org/officeDocument/2006/relationships/notesSlide" Target="/ppt/notesSlides/notesSlide28.xml" Id="Rd80bda4a6c60427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558b3221d4fb3" /><Relationship Type="http://schemas.openxmlformats.org/officeDocument/2006/relationships/notesSlide" Target="/ppt/notesSlides/notesSlide29.xml" Id="R882f69ee1b10468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3b1cbbebf4f72" /><Relationship Type="http://schemas.openxmlformats.org/officeDocument/2006/relationships/notesSlide" Target="/ppt/notesSlides/notesSlide30.xml" Id="R5ec0502d526946d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30e4ef0494ee9" /><Relationship Type="http://schemas.openxmlformats.org/officeDocument/2006/relationships/notesSlide" Target="/ppt/notesSlides/notesSlide31.xml" Id="Rdd63ac038f5c4cd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e2b704ddd49e0" /><Relationship Type="http://schemas.openxmlformats.org/officeDocument/2006/relationships/image" Target="/ppt/media/image13.png" Id="R5bb819b1015b4443" /><Relationship Type="http://schemas.openxmlformats.org/officeDocument/2006/relationships/notesSlide" Target="/ppt/notesSlides/notesSlide32.xml" Id="R0358558e2522404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5d7dde1574307" /><Relationship Type="http://schemas.openxmlformats.org/officeDocument/2006/relationships/image" Target="/ppt/media/image14.png" Id="R9f9608f04f8e4fe8" /><Relationship Type="http://schemas.openxmlformats.org/officeDocument/2006/relationships/notesSlide" Target="/ppt/notesSlides/notesSlide33.xml" Id="R22077185cfe244e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Strategy</c:v>
          </c:tx>
          <c:spPr>
            <a:solidFill xmlns:a="http://schemas.openxmlformats.org/drawingml/2006/main">
              <a:srgbClr val="FF6B35"/>
            </a:solidFill>
          </c:spPr>
          <c:invertIfNegative val="0"/>
          <c:dLbls/>
          <c:cat>
            <c:numLit>
              <c:formatCode>General</c:formatCode>
              <c:ptCount val="4"/>
              <c:pt idx="0">
                <c:v>2019</c:v>
              </c:pt>
              <c:pt idx="1">
                <c:v>2020</c:v>
              </c:pt>
              <c:pt idx="2">
                <c:v>2022</c:v>
              </c:pt>
              <c:pt idx="3">
                <c:v>2024</c:v>
              </c:pt>
            </c:numLit>
          </c:cat>
          <c:val>
            <c:numLit>
              <c:formatCode>General</c:formatCode>
              <c:ptCount val="4"/>
              <c:pt idx="0">
                <c:v>2.23827026790857</c:v>
              </c:pt>
              <c:pt idx="1">
                <c:v>105.99847113368699</c:v>
              </c:pt>
              <c:pt idx="2">
                <c:v>-22.6109990928716</c:v>
              </c:pt>
              <c:pt idx="3">
                <c:v>138.140043213633</c:v>
              </c:pt>
            </c:numLit>
          </c:val>
        </c:ser>
        <c:ser>
          <c:idx val="1"/>
          <c:order val="1"/>
          <c:tx>
            <c:v>Basket hold</c:v>
          </c:tx>
          <c:spPr>
            <a:solidFill xmlns:a="http://schemas.openxmlformats.org/drawingml/2006/main">
              <a:srgbClr val="000000"/>
            </a:solidFill>
          </c:spPr>
          <c:invertIfNegative val="0"/>
          <c:dLbls/>
          <c:cat>
            <c:numLit>
              <c:formatCode>General</c:formatCode>
              <c:ptCount val="4"/>
              <c:pt idx="0">
                <c:v>2019</c:v>
              </c:pt>
              <c:pt idx="1">
                <c:v>2020</c:v>
              </c:pt>
              <c:pt idx="2">
                <c:v>2022</c:v>
              </c:pt>
              <c:pt idx="3">
                <c:v>2024</c:v>
              </c:pt>
            </c:numLit>
          </c:cat>
          <c:val>
            <c:numLit>
              <c:formatCode>General</c:formatCode>
              <c:ptCount val="4"/>
              <c:pt idx="0">
                <c:v>58.442044682227504</c:v>
              </c:pt>
              <c:pt idx="1">
                <c:v>227.277921974783</c:v>
              </c:pt>
              <c:pt idx="2">
                <c:v>-53.0417801301569</c:v>
              </c:pt>
              <c:pt idx="3">
                <c:v>133.45555861176902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E506B7-FFC8-4AB8-B92C-1827607C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GEN5.3 RESEARCH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B7C05-17A0-48E5-864C-68BC6D72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9334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Annual continuity replay made the next strategy question sharper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32D8F-D34A-42A4-A77A-DB9DFB67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The corrected one-year screen keeps risk-aware context, the workhorse PCA surface, and continuation replay as the control lane. It also shows that the EMA-only pool may be too narrow to judge the broader hypothesis.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B2386-BEE6-405A-BDFB-0631DEFD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03405-7651-4990-8E28-630F4654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Continuity packet: runs/research_workbench/gen53_momentum_context_size/g53_momctx_20260711continuity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4B265-897A-4598-B7FD-B32CA0B0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9702839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5B5D7D-9A58-46C1-AF57-A75B0197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1FEE7-2A8F-4DCE-ABC3-EEDD7D1D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test changed because one quarter was too sparse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5C20F-8DA2-484F-80B5-7E90A065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6C13E-3028-4E17-A98E-616F27C2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143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The prior slices were useful for mechanics, but they did not give much OOS surface area: a five-symbol live basket can easily look good or bad from a handful of trades in one quarter.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51117-65CB-4098-9AC3-ACAC522E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62150"/>
            <a:ext cx="4229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32383-21F9-440D-89A9-C86B543E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90900"/>
            <a:ext cx="42291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1CEE8-756A-4969-8DE0-25113940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717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D3A10-A601-4438-B5BE-A13E7E6C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955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One OOS quarter. Faster, but low resolution for alpha and trade behavior.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0DC5A-E244-4949-9E37-CE4B62FE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19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7647"/>
                </a:solidFill>
              </a:defRPr>
            </a:pPr>
            <a:r>
              <a:rPr sz="1650" b="1">
                <a:solidFill>
                  <a:srgbClr val="067647"/>
                </a:solidFill>
              </a:rPr>
              <a:t>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AA010-D628-4B55-8D32-99AC71BB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624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Four independent quarterly TRAIN authorities replayed across one year, with open trades carrying until flat.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5FA87-9CC1-478D-B97C-6380F42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4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This keeps the leakage boundary and avoids artificial quarter-end trade resets.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E38B1-B892-4EC0-BFEA-6896EEDC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9224936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E6E711-7E72-41DF-ABC9-E0A24B2F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158F8-B1C1-4AC7-A25C-15494C75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screen isolates a narrow EMA-only participation hypothesis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221F0-0FDD-4826-A6A8-13C427AB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55C9D-90C7-4566-B620-71EC0138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2381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64EFC-3D0C-40C1-A9F2-42483F62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Live basket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58781-0454-4AEB-AB20-324FABC7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981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AMD, NVDA, TSLA, MSTR, AVGO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67BD7-CB16-4856-896C-50A1D3CD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2381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12F10-AEDE-46CF-8F5B-F6C79089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43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Context axis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60517-0D4D-45DB-8292-06F76CA6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33700"/>
            <a:ext cx="1981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5 self assets; 12 with high-beta peers; 18 with peers and risk anchors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9C927-FA98-42F0-BC96-7E68208C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14550"/>
            <a:ext cx="2381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88F35-9741-4497-8E1D-D958A021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Feature axis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97F54-7B65-484D-9654-EC9EF699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33700"/>
            <a:ext cx="1981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Workhorse enriched; momentum participation; momentum plus stress; market-relative momentum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51850-058F-4C54-A488-2708DD0E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14550"/>
            <a:ext cx="2381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5E6DD-29E9-489C-BEA8-A3409D67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Strategy pool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F5793-FCDF-470C-A0EA-464F4D9C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33700"/>
            <a:ext cx="1981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EMA cross, EMA trend, no-trade, no-trade exit-immediate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19204-8185-41D0-870F-52D1B990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Selection policy stayed fixed at pooled-family asset-variant, so this slice asks about feature design, context size, and replay semantics rather than reopening the whole Gen4-vs-Gen5 selection debate.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217CA-3D93-4DAD-AB01-1737B3FC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814646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62D984-FC90-41D9-8B82-E8620BA3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8B02E-904D-4B72-A4BC-B9E3B835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best aggregate lane was risk-aware context plus the workhorse feature 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22D9A-A31F-44F6-821C-ED9CE730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FC0E1-2C44-421F-B870-AEBF72BE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988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40352-6780-41A2-BD10-F692EE9B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Best lane: Live + peers + risk anchors + Workhorse enriched + continuation. Mean return 55.9%, mean alpha -35.6 pp, exposure 40.3%.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E4494-2752-4995-9AA3-826BA888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9D7E2-9008-48BF-A57B-E3B0785E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D20B9-D839-4EE5-853A-AFFA5F9C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1DEA8-D7C7-47C1-9375-D0F7E641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57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Feature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4C2D5-A162-4368-A7BB-2AC5F927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69F2D-3E5C-4A6B-93AC-1D87D248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574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Replay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D0E0A-CCBD-4E29-B9F9-05CF7C48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F2D45-6301-4E33-8621-2C4A97EC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Win years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02285-4E30-4B13-9F41-F566338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DFDE2-F830-41E8-AEE9-3F8F5CBD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574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Mean ret.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887B9-4028-4F39-99EB-EEDD129F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BDBC0-956B-4EC9-ABBD-A43A16C1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Mean alpha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C1AB2-2F29-4093-99FF-E235C12A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FE24E-E24B-407D-AD7F-61D26A64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574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Exposure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8A6B3-5DC0-4E6F-B726-17331FFC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76406-F396-417E-82C3-AF9A52B0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Live + peers + risk anchors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F5425-4528-4C2D-98A3-92DEE10F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241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A2E24-90BE-4E26-AB04-1652EE3E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479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Workhorse enriched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2993E8-E47D-4FE2-B674-6F6FCBA2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24150"/>
            <a:ext cx="116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E26D4-5804-4024-8E7A-314D8666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4797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continuation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C54B8A-BADC-4797-8C11-7A791B0A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474F37-2394-4C93-BC22-7C008948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479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2/4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7B255D-E193-44EE-816C-918F78CC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415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B775D6-060B-4244-A9E7-14795ACB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479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55.9%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E75B63-E030-4B89-AB94-7690DBC8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94FA2F-3904-4777-A369-A2286939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479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42318"/>
                </a:solidFill>
              </a:defRPr>
            </a:pPr>
            <a:r>
              <a:rPr sz="1125" b="0">
                <a:solidFill>
                  <a:srgbClr val="B42318"/>
                </a:solidFill>
              </a:rPr>
              <a:t>-35.6 pp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9C4451-B98E-495C-915B-CD498262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2415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E78054-067C-4FE6-B78C-1AE43235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479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40.3%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EDB894-E6B1-4F8F-96CC-B9E81567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AB46D-3A1E-4A5E-A2C1-316E7FBA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Live + peers + risk anchors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8D5042-F0F1-4719-B349-08FA2DEB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385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FCFF0F-0723-4720-A118-848ED62B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623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Workhorse enriched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B4F65F-AB59-4003-9168-DDFFB0D3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38500"/>
            <a:ext cx="116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CEE22A-0B69-4BED-9167-E3C734B3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6232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fresh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87E5AC-C1F8-4D50-9F2C-602A84F0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07DD03-B985-49D8-95F8-367B7C22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6232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1/4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7E9944-1E8C-4F8F-81D9-B737D7DA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3850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9425AC-15A8-4A6D-AB89-CCBB35BE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6232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38.6%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2D779F-6094-4E46-B723-37DDEED7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425C86-04A9-4B83-BC04-7473E3DC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623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42318"/>
                </a:solidFill>
              </a:defRPr>
            </a:pPr>
            <a:r>
              <a:rPr sz="1125" b="0">
                <a:solidFill>
                  <a:srgbClr val="B42318"/>
                </a:solidFill>
              </a:rPr>
              <a:t>-52.9 pp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03D6E9-496C-48A2-BC58-C8DEC119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385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A25A9F-BCC2-4B1D-84EB-A0DB41F3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623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26.3%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D739D1-CEB3-4354-AE70-EC96A3DB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DAFA3B-046C-41D1-BE0E-7F339833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Live + peers + risk anchors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8BA505-6923-4FF1-AD89-B6066E54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528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C811E2-77DA-4EAE-B61E-DC4BAD78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766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Momentum plus stress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AC1756-6B58-48B0-BF08-BB848BA8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52850"/>
            <a:ext cx="116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98F449-98E1-45B5-AFCC-1B4EDC99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7667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continuation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B28718-B257-4C52-B5D5-60A78E15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92767F-B3C1-4A59-8CB3-EA874D2D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766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1/4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61BF84-829A-49D7-BC87-A50BD834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5285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2ABC6F-978C-4B6C-ADF7-32FAB7CE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766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33.1%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570556-BF06-429E-A9D2-213C60B6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5285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673D35-3848-4A7C-A3A2-3F484E04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766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42318"/>
                </a:solidFill>
              </a:defRPr>
            </a:pPr>
            <a:r>
              <a:rPr sz="1125" b="0">
                <a:solidFill>
                  <a:srgbClr val="B42318"/>
                </a:solidFill>
              </a:rPr>
              <a:t>-58.5 pp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3BA044-B9AB-42C1-B4C7-4AEC16A6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5285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35514D-E29A-4812-9D7B-32507A54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766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35.0%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851846-FA42-4A4F-992A-CBA76F42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95FB981-C958-4E0A-A0E5-EAF6E821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910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Live basket only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79E0CC0-540D-4ACB-B41E-EF6EB74E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672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B2A088A-47D2-484E-9C22-6FE3AE15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910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Momentum participation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8027661-5E28-46FD-A63A-C7B23BAB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67200"/>
            <a:ext cx="116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0909515-5C85-4460-94AF-EA7105A0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9102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continuation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EAFF581-C58E-4789-9EA6-86F06226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C7E4E6D-5713-412A-89D0-20D3999F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9102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1/4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A7344F0-C183-4671-A1AD-32F399B8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6720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F71FA05-60A9-4D84-A13A-4A07D9AC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9102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30.9%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6317519-627E-4043-892A-CBDDFE25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6720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4F00BB1-162B-40FA-BF59-DC784D9A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91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42318"/>
                </a:solidFill>
              </a:defRPr>
            </a:pPr>
            <a:r>
              <a:rPr sz="1125" b="0">
                <a:solidFill>
                  <a:srgbClr val="B42318"/>
                </a:solidFill>
              </a:rPr>
              <a:t>-60.6 pp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4E14A07-6B96-4F0B-BBEB-BD50AD7C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D06C458-5154-448B-B242-5FBC175E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3910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39.3%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8B052FD-B555-43C2-9A50-5BFB1BD4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40EDA2A-BD26-4457-9017-B8ADA56F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Live + high-beta peers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88D9A14-DCEC-4F4D-A861-FBDCCD3F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815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56A04EA-B86C-4BA6-A1B1-E5B53435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053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Momentum plus stress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6864A9E-1DC3-4D46-A5E9-D69B5A0A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81550"/>
            <a:ext cx="116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0A03BB4-B5F2-462E-B874-4AF1E588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0537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continuation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F9D5F61-7DD4-4ED6-8784-A1C0CE73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8155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32E9E5C-010E-4520-AC0C-87320613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053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1/4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D1702D5-46E2-4B48-B441-395B97DD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8155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94E5193-C190-43DE-AE1E-71075BA4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053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29.8%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493FE5C-00D9-4CCB-AC7C-70AE3D70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8155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C14E573-62FA-4F51-9009-8A629DBB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053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42318"/>
                </a:solidFill>
              </a:defRPr>
            </a:pPr>
            <a:r>
              <a:rPr sz="1125" b="0">
                <a:solidFill>
                  <a:srgbClr val="B42318"/>
                </a:solidFill>
              </a:rPr>
              <a:t>-61.8 pp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66C07D2-31A7-408B-A071-B4AD1E3C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8155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30C36ED-2D66-4D15-8EF4-B8E780D5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053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34.0%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16EB58D-DEC2-455F-AA27-2602C533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Even the best lane did not beat equal-weight high-beta hold on average. The signal is subtler: broader risk-aware context made the specialist less bad against a very hard benchmark and produced positive alpha in two annual windows.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9F7A9DD-DF1E-4476-B61A-AF1329E8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4178059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EC57BD-B72A-4535-8DD7-5F2C5DC4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EB037-FDFD-42E8-8986-DFE2A96C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Continuity replay corrected the optimistic annual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640C7-1E73-4A4E-8DF9-ACDF5CE5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00EF1-CAC3-4262-8E64-7C94CF1A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The independent-stitch packet was useful as a first annual inspection, but it could reset open trades at quarter boundaries. The continuity packet asks the live-like question: keep the quarterly authorities independent, but let open trades carry until flat.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06A43-D356-481C-9537-5655A79D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190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08995-3220-4A81-B3EB-B25FABF1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Mean 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39D47-B192-43D7-AE55-AC487A1B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81.7%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E3287-2966-4B20-89B3-17D1B0C0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independent stitch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79A16-7564-4310-9F38-C8DB604F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42318"/>
                </a:solidFill>
              </a:defRPr>
            </a:pPr>
            <a:r>
              <a:rPr sz="2175" b="1">
                <a:solidFill>
                  <a:srgbClr val="B42318"/>
                </a:solidFill>
              </a:rPr>
              <a:t>55.9%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FA233-9C9E-4994-BFE1-8D54C8B2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2190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82935-A065-40E1-9B1B-9D280167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71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Alpha vs basket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AC64D-2A3C-4F00-B377-BDCE6DDD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-9.8 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395FB-D47C-4478-9132-93049207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76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independent stitch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9A909-20D4-4150-AE25-EE85D651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00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42318"/>
                </a:solidFill>
              </a:defRPr>
            </a:pPr>
            <a:r>
              <a:rPr sz="2175" b="1">
                <a:solidFill>
                  <a:srgbClr val="B42318"/>
                </a:solidFill>
              </a:rPr>
              <a:t>-35.6 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652B9-0531-4973-A43F-44F5CBC3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2190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3ECBF-BDCC-490D-A278-A6B9E604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Mean exposure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8ED89-6997-424F-95A5-B80C05DF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64.6%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B04F8-4436-404F-A818-82482438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76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independent stitch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B80D9A-3C81-4284-9B45-7CDD5785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42318"/>
                </a:solidFill>
              </a:defRPr>
            </a:pPr>
            <a:r>
              <a:rPr sz="2175" b="1">
                <a:solidFill>
                  <a:srgbClr val="B42318"/>
                </a:solidFill>
              </a:rPr>
              <a:t>40.3%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EE39F-F076-4805-AB02-BF5F2E09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62300"/>
            <a:ext cx="2190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FD6EE-81DB-42EB-BCD4-0748BC89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71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Win years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5D3A97-836C-45A8-8026-158B9E03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2/4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21A2E-55A3-4DBF-9296-533EB7EA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76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independent stitch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BF8231-EE44-46A5-A2BA-2803749B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00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2/4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BE7BCE-9711-43C5-BCDD-0F02E9A3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435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448 symbol/boundary cases carried prior authority until flat, and 4 carried through annual as-of. The boundary mechanic materially changed the evidence.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3470CD-C37B-45EA-86DD-9B5820D8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56498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5DD8CC-D178-4E67-A299-3B17C29A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32099-9D5C-4DF4-AD54-E2788B2F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annual heatmap shows why this is not a simple feature-set win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89076-9125-4C17-9717-44C6B1BB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639701a47481a"/>
          <a:stretch xmlns:a="http://schemas.openxmlformats.org/drawingml/2006/main"/>
        </p:blipFill>
        <p:spPr>
          <a:xfrm xmlns:a="http://schemas.openxmlformats.org/drawingml/2006/main">
            <a:off x="2659700" y="1695450"/>
            <a:ext cx="2091049" cy="4629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753D3-B738-4B65-BDE3-C72065C4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34290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85BD1-6792-470A-A699-D66481B6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05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What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0F393-30A0-4683-BE0F-6902F79D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034FE-9DB8-49D6-8D60-B8429B0C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765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2020 remains punishing because basket hold returned about 227%.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9DD67-833C-4015-8F9E-D2FFEB8C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6AA2F-477B-430F-BC55-24A90F1D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2022 rewards staying out of a falling high-beta basket.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85358-DC6A-4578-AEE2-37F57A4E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BE65F-EF02-4D20-B45E-EAEA1F05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2024 is the clean positive clue for risk-aware workhorse continuation.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B4E5B-7E7C-4CC7-BC56-9209CA5F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9FE2D-C921-4DD8-88B6-51C9C7CE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338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New momentum feature sets did not become the aggregate default.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AE64C-2E42-476E-9BAE-8F4F416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7666754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67B5E7-37FB-420D-AE76-14A92836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3572E-2654-4E70-BB37-4C3D98C1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best lane still tells a mixed window-by-window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2E979-15CC-43D6-BA18-2D909073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EC1B0-C4DE-4241-8709-D663BF0F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305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AA65B-55AB-4CC0-8DFC-0848B1D0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2019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37F6F-DABA-47F2-AC29-5518EEC1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42318"/>
                </a:solidFill>
              </a:defRPr>
            </a:pPr>
            <a:r>
              <a:rPr sz="2325" b="1">
                <a:solidFill>
                  <a:srgbClr val="B42318"/>
                </a:solidFill>
              </a:rPr>
              <a:t>-56.2 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F24EB-33CA-429B-B6ED-D40003CE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alpha vs basket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D9376-261E-46FB-80B2-61311921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strategy 2.2%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C1E33-FDFE-4358-8FA5-370FB4EC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basket 58.4%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1F2D6-F7E4-4243-8BBB-F9318BD5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2305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76609-8F2C-42E7-9648-4935DC19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24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ADB3E-BCBE-4601-9268-34EEA8E3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146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42318"/>
                </a:solidFill>
              </a:defRPr>
            </a:pPr>
            <a:r>
              <a:rPr sz="2325" b="1">
                <a:solidFill>
                  <a:srgbClr val="B42318"/>
                </a:solidFill>
              </a:rPr>
              <a:t>-121.3 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DA27E-2701-434B-96EC-ED275FB6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90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alpha vs basket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D1728-1658-42DD-8127-D1E3E5AD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strategy 106.0%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63CA4-0355-4173-BAD8-8200C2AB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95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basket 227.3%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1255A-45D7-4084-B170-170348C1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305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BC1A9-A789-4CB3-8B37-D78C98CF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2022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F0858-C50D-4BB8-94C0-34C5D138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67647"/>
                </a:solidFill>
              </a:defRPr>
            </a:pPr>
            <a:r>
              <a:rPr sz="2325" b="1">
                <a:solidFill>
                  <a:srgbClr val="067647"/>
                </a:solidFill>
              </a:rPr>
              <a:t>+30.4 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ABBA8B-EC45-4A71-8253-25B2325D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0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alpha vs basket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1BD67-7B87-4686-9EDC-7675B4B2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strategy -22.6%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80C903-10B4-4296-B183-B504F406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basket -53.0%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CA41D-B53D-4020-8277-0ADA8CB2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95500"/>
            <a:ext cx="2305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60163C-D0C4-4A1E-9124-1A5EEB58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2024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2BFD55-019F-4D38-8E21-633FBAF0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146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67647"/>
                </a:solidFill>
              </a:defRPr>
            </a:pPr>
            <a:r>
              <a:rPr sz="2325" b="1">
                <a:solidFill>
                  <a:srgbClr val="067647"/>
                </a:solidFill>
              </a:rPr>
              <a:t>+4.7 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CFA65F-ABB7-4E81-8876-3E6BDA66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90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alpha vs basket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6C93AF-AE03-46B8-8DEF-F5DB36DE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strategy 138.1%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65DD13-FD93-46E3-B3DE-5F06DD77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95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basket 133.5%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1E2211-4ED2-4870-833C-60D3E72D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Annual windows reveal a useful profile: strong 2024 participation and decent 2022 defense, but still serious undercapture in 2019 and 2020 high-beta upside.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C0F6A8-4172-4A28-B32D-090C3FBA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357112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D5A283-973F-4011-A7DE-2DFC021C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417BD-7C9F-4A6E-AB90-23C151B0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Exposure helps, but simply being long more is not the whole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4AA3B-0BE8-4006-B2C9-B19AEF29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6fba598b5461a"/>
          <a:stretch xmlns:a="http://schemas.openxmlformats.org/drawingml/2006/main"/>
        </p:blipFill>
        <p:spPr>
          <a:xfrm xmlns:a="http://schemas.openxmlformats.org/drawingml/2006/main">
            <a:off x="967154" y="1695450"/>
            <a:ext cx="6066692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3A0AA-BBB0-4D57-BD09-6D0DE374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31432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7EFDF-4E3E-4FF8-9A6E-AE8B4AA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Readout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D169C-F694-4B1C-9795-B75000B3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247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Continuation generally lifts exposure, and the better lanes cluster at moderate-to-high participation. But many high-exposure points are still deeply negative versus basket hold, so timing and state discrimination still matter.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5D2A4-3111-49BC-8AF4-241BF9D7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806687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27D9ED-B659-495E-962A-965273F9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90A99-F510-4565-AEAA-5AC285F1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best lane beats in 2022 and 2024, but misses the big upside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C752D-2995-4E64-A187-50DA97B5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38200" y="2000250"/>
          <a:ext xmlns:a="http://schemas.openxmlformats.org/drawingml/2006/main" cx="657225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fca1a090f1422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59FD6-C44E-4F96-B69A-27696E17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29146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BAC95-A850-443C-9915-8B4471E3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384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What the chart adds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90F0E-82F2-4811-BC26-FD35A79D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B1EA9-C413-4D02-96EC-E8C9FFA9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In 2020, the benchmark was too strong for a timing layer to catch.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082BF-A03D-4196-B4B9-988FADA2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E133E-FC74-434C-AFA2-C1BA0085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052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In 2022, the system's partial exposure was valuable.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F6361-6810-4193-A8BC-A7C1D8D0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76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6102F-343A-424B-9485-971F90F7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814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In 2024, the same lane finally beat the high-beta basket while still trading selectively.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DA4FA-2B36-4AD9-B138-A3243B3A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6111751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DCA1A-3E48-4391-A1F2-3789B07B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0D65B-3A9B-4B2B-826B-32199577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authority map is cash-dominant, which explains part of the underparticipation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EE4C9-43CD-4F9A-8BDF-52CBBDDE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9507c109d4f95"/>
          <a:stretch xmlns:a="http://schemas.openxmlformats.org/drawingml/2006/main"/>
        </p:blipFill>
        <p:spPr>
          <a:xfrm xmlns:a="http://schemas.openxmlformats.org/drawingml/2006/main">
            <a:off x="792256" y="1790700"/>
            <a:ext cx="6264088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E7BEA-0380-40F3-969E-6F387A95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71700"/>
            <a:ext cx="32194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E6902-8992-4B7A-9D1C-3C51F1E2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Sanity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61660-37D3-4769-B092-BD45EBA8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48000"/>
            <a:ext cx="2571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Across the full annual screen, no-trade remains the dominant selected authority in many asset-state cells. That is philosophically clean for a specialist, but it also means missed upside is expected unless the favorable states are timely and persistent.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13F34-C9C5-494E-BB12-2E4FAB17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9259499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8B04B4-1DDE-4261-B596-F0C9D336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D3A9C-109C-4249-9667-AB1A3C75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Representative tapes show both the promise and the weakness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A16A0-5F18-4734-ABB6-34AE3215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f10b70c8e4bc7"/>
          <a:stretch xmlns:a="http://schemas.openxmlformats.org/drawingml/2006/main"/>
        </p:blipFill>
        <p:spPr>
          <a:xfrm xmlns:a="http://schemas.openxmlformats.org/drawingml/2006/main">
            <a:off x="2237466" y="1638300"/>
            <a:ext cx="3754668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89450-A949-4A4A-A35C-33D4A27B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28575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35F17-F9B0-49F3-8CE1-96FC51AF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86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Visual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F83B4-2D46-4239-9DD3-F60FA50A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9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B18DD-FCFC-4EED-BB55-1B6A0521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146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AMD shows churn and missed/stopped participation.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9F1DF-F1FF-408F-921B-AAE05C3F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D0E95-1CF2-4B6A-8E6B-1B6CB5B9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NVDA, TSLA, and MSTR show the lane can ride substantial trends.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75AA3-1D99-490E-A66B-AE192567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38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46EFD-8EED-4291-BA1F-48C186C8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Open exit signals at year end should be inspected in the next tape audit.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93333-41E9-4129-8611-1663E3DD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828681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5495FF-D74F-450B-8789-3FF4565D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9EB76-63B8-4B91-844E-F2931F04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2020 tapes show late and uneven bullish participation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74286-B1DD-4800-BD9F-847AB30A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6cb8fb9ec4712"/>
          <a:stretch xmlns:a="http://schemas.openxmlformats.org/drawingml/2006/main"/>
        </p:blipFill>
        <p:spPr>
          <a:xfrm xmlns:a="http://schemas.openxmlformats.org/drawingml/2006/main">
            <a:off x="1417493" y="1600200"/>
            <a:ext cx="5585114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86701-6C99-439F-A369-F10DF50C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2781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E7B8F-3C27-4484-AA1A-EAF53DCE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24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What to notice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0E600-90E3-4DC6-B2CA-463E4527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E5595-8D28-42AE-BE18-AEA0C442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TSLA and MSTR rally for long stretches before entries appear.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1DDB0-3B47-478F-8797-CE91B96E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8A7E9-5D56-4E6E-B9D4-3A39529A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State bands change often, but many strong stretches stay flat.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BF328-427B-4A5F-B034-86CF5A43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1E78C-CEB4-40F8-9143-A12EB7C6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290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EMA overlays show price trend was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C95DC-C73A-4D0D-A1CD-D883CC4E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962650"/>
            <a:ext cx="954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The engine did trade, but it did not stay long enough early enough in the strongest bullish year.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F9E63-3EE5-41E2-AFF9-B5A98DD4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9081595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99734D-23F3-4542-8B8C-2EE2AF6A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8E63F-CA05-4C08-93DF-394BD105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next narrow screen should reopen strategy diversity carefully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8198E-938F-4399-85DC-43C72CEF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951FD-7448-431D-B08E-364E0655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476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C742B-04E9-491B-B4EB-59F665C8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76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6D01B-D08E-41F8-94D7-47E1DED7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24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2318"/>
                </a:solidFill>
              </a:defRPr>
            </a:pPr>
            <a:r>
              <a:rPr sz="2100" b="1">
                <a:solidFill>
                  <a:srgbClr val="B42318"/>
                </a:solidFill>
              </a:rPr>
              <a:t>Hold fixed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2BFB9-04DD-4CB9-9E64-FB74547D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20BAE-B479-4832-A60C-66B2DD6C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5275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Context: hb_risk_aware_18.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0FDA0-D441-453E-860B-80B4A6E7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767C8-B765-41CC-8DFF-C2C93B6D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Feature control: workhorse_enriched.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D3FB9-C3C3-4EB7-AD12-98D60268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D3680-B495-4412-923C-27CB7B5E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Replay: quarter_continuity_replay plus state-switch continuation.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FF8EF-01DC-4DB8-99D6-32359422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46D3F-D89E-4B1F-A9DB-6ED2D407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9575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Benchmark: equal-weight high-beta basket hold.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81A84-3CCD-46E2-B04D-A4CE471A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24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67647"/>
                </a:solidFill>
              </a:defRPr>
            </a:pPr>
            <a:r>
              <a:rPr sz="2100" b="1">
                <a:solidFill>
                  <a:srgbClr val="067647"/>
                </a:solidFill>
              </a:rPr>
              <a:t>Vary 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F07AC-502F-4D77-9C8D-57980BFF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7647"/>
          </a:solidFill>
          <a:ln xmlns:a="http://schemas.openxmlformats.org/drawingml/2006/main" w="9525">
            <a:solidFill>
              <a:srgbClr val="0676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DF2A1-3BBF-43F2-B15E-D049A740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5275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EMA-only momentum control.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C7576-9861-4D6B-AC89-127B1FD0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7647"/>
          </a:solidFill>
          <a:ln xmlns:a="http://schemas.openxmlformats.org/drawingml/2006/main" w="9525">
            <a:solidFill>
              <a:srgbClr val="06764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A67C3-FF96-40FC-8C73-29E0F6CF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3375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Trend plus breakout expansion.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7E528-E022-4F70-94E8-2DD44488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7647"/>
          </a:solidFill>
          <a:ln xmlns:a="http://schemas.openxmlformats.org/drawingml/2006/main" w="9525">
            <a:solidFill>
              <a:srgbClr val="0676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8C6761-6602-4A6B-A87B-0621A68B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Mean-reversion diagnostic pool.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7A6AD-DDB0-4BEC-9FE1-2EFBB6B2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91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7647"/>
          </a:solidFill>
          <a:ln xmlns:a="http://schemas.openxmlformats.org/drawingml/2006/main" w="9525">
            <a:solidFill>
              <a:srgbClr val="0676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E4833D-DACC-45F8-A6AC-BC47CD84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95750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Classical full reopened pool.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9E93ED-7B2A-4081-BB32-C5177794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62600"/>
            <a:ext cx="967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The cleanest next question is whether the strategy pool was too narrow under the now-correct annual continuity surface.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9EE2BF-560D-4E93-8E92-04354FE1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7438061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27C1FE-2691-43F5-93BD-06F5812E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E631A-9D7A-4DC3-885A-669691BC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Feature sets should support the strategy question, not explode the grid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185C2-455C-4695-9338-EE640C9A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2BA19-F84F-4A01-B74F-F04B7B55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9146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96149-4DD3-4C8D-988D-670A2C5C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330A0-D186-409C-B34D-9312E544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workhorse_enriched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34F31-B14E-479F-A121-11EA30C1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2266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Keeps the best observed continuity lane intact.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A5C77-08CB-4824-AA7C-87E5B97E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52650"/>
            <a:ext cx="29146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875C0-F8FC-47CC-9006-E89F4F73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Momentum challenger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5CABC-FE16-46A9-B2A7-80820524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337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momentum_plus_stress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D025F-3A35-49C4-A794-C24FB6F3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05200"/>
            <a:ext cx="2266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Checks whether richer trend and stress descriptors help once strategies are reopened.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9FA07-B874-45D1-A74A-315757FB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52650"/>
            <a:ext cx="29146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AAD26-822A-43E3-8175-A656BD55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03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New diagnostic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72C45-53A0-4E40-950B-BE8021D3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reversion_breakout_context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45CE4-778E-4295-BED0-566C79AB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05200"/>
            <a:ext cx="2266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Adds range location, volatility compression, stretch, chop, impulse, and recovery cues for non-EMA families.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E81187-FAF8-4814-974D-7B24FC7D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673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If the reopened strategy pools do not help under these feature sets, the next problem is probably state timing/exposure design rather than missing mean-reversion or breakout families.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4A121-49CD-4D36-828D-EC4A257F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110222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71AA25-8D46-46B7-86C1-C5A3E8E6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BE392-9EC1-49F2-9FCE-031D2F87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 targeted EMA feature diagnostic improved returns, but did not clear the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AFE20-C4C7-492A-BADC-ED46FBDE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88B32-67C3-4DE5-AA04-C62D573B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After the annual continuity control lane was identified, the next quick test held the high-beta risk-aware context, EMA-only pool, and continuation replay fixed while comparing three PCA feature surfaces.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D43F0-F05A-4A7D-93AD-DBD3E745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F6C0F-931C-43AC-A7F4-44D32790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7F5C2-0C40-4B6F-BB94-39AE8E6A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EE815-67A0-4940-9397-B902C6EE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57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Feature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24E7E-B44E-47B5-859D-DCD15223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B8A30-24B4-4131-B92E-7F88A2DD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574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Replay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D10C5-8735-494B-95BB-030AA1B1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C0F90-C346-4EE2-9994-A64D7462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Win years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F568A-FB63-4F71-857D-D854168B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4E4A7-FD93-4E3C-8E7E-CD0C3824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574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Mean ret.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E0073-6409-461F-AB96-C008C4E2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E99D9-1109-4F79-BC7A-66BFE7E5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Mean alpha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BECAD-1290-4FF8-AE24-649EE0B0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41696-9606-4C87-860C-8D992CC9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574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Exposure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A65EC6-9685-42D2-9229-5202BE5F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E1F33-CC4A-4982-A280-C8237874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Live + peers + risk anchors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C909D-48A8-4B7B-8868-A8A98E92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241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C399C-198E-40FB-ADEC-EB3BE6A5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479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Reversion-breakout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A6D060-4323-48FC-A886-3A85B31D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24150"/>
            <a:ext cx="116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B2EF18-0B11-4ED9-A813-E724BFFE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4797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continuation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4CD718-AF46-49A6-8A23-C9F6046B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21E0D8-BF80-4E31-94B0-C73EDB21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479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1/4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57824-0103-4AC8-9139-928AE8C0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415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59098E-D241-49E3-B363-57C896A8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479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68.1%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6B8D90-35A7-40BF-96F6-8E62ADD3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FC0823-6F34-4859-AB58-38E01995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479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42318"/>
                </a:solidFill>
              </a:defRPr>
            </a:pPr>
            <a:r>
              <a:rPr sz="1125" b="0">
                <a:solidFill>
                  <a:srgbClr val="B42318"/>
                </a:solidFill>
              </a:rPr>
              <a:t>-23.4 pp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B951A8-6B93-4D76-A6E8-BDEE3CFD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2415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4E3C1F-17DA-43C8-B99A-978EBF53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479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48.0%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82D69D-40A6-4B22-A742-5EDF28CE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DA996E-E461-4A2A-9F5C-5F2E420B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Live + peers + risk anchors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24A4DB-9345-4F9E-9BF6-D17264A0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385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E173A8-3F4B-40C3-89BA-CD321C85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623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Workhorse enriched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586F5A-E461-4602-8417-E1820910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38500"/>
            <a:ext cx="116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56E059-A069-417A-9E03-725103EE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6232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continuation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E02195-FC03-4806-AFA0-48BA3EBF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FC2372-7C63-498C-ACDD-B71C3F3F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6232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2/4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23723E-6DD9-49C2-A2FD-44D6795A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3850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A9EF51-ACC0-4AAF-A9E6-262399F2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6232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55.9%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FE93F0-91AB-443C-B74E-CDEF9893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3E7B39-2B27-462E-A42C-EDFEC1E3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623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42318"/>
                </a:solidFill>
              </a:defRPr>
            </a:pPr>
            <a:r>
              <a:rPr sz="1125" b="0">
                <a:solidFill>
                  <a:srgbClr val="B42318"/>
                </a:solidFill>
              </a:rPr>
              <a:t>-35.6 pp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C390A2-62F0-4738-B9F2-87DA3C65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385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FDE9D6-D086-4F9D-849A-DFE6BF44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623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40.3%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32756C-A31D-4CA2-9C93-A63BA2DD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BC949B-D30F-4D9D-B463-F14BE2CD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Live + peers + risk anchors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9BEAC7-63D4-4639-88EE-4BA27458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528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ACD047-8B65-4F7D-9236-D5BF8680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766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Momentum plus stress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17CFB6-65B1-4C0D-A96D-4570AF4D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52850"/>
            <a:ext cx="116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A29630-D903-43BF-AF2D-42CE7EC3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7667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continuation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5D21A2-2F87-4991-905C-0232DF76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F0BCE9-3332-46ED-AB36-FA3D2241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766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1/4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FA2532-EE9D-4547-9096-F3C77F67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5285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AB37F4-7924-429E-8C8F-FEBCD9E2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766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33.1%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A71209-6926-434A-ABB7-8839084C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52850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C423D8-D4A4-4A32-BCF9-080BDA3A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766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42318"/>
                </a:solidFill>
              </a:defRPr>
            </a:pPr>
            <a:r>
              <a:rPr sz="1125" b="0">
                <a:solidFill>
                  <a:srgbClr val="B42318"/>
                </a:solidFill>
              </a:rPr>
              <a:t>-58.5 pp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16D0E3-2717-4725-A3DC-32289F66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5285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2D458D-C62D-4F18-B632-FF778BA4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766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35.0%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FAB9779-67BF-4913-9C16-D2BEF1B8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Best diagnostic feature set: Reversion-breakout context. It averaged 68.1% return, -23.4 pp alpha versus basket hold, 48.0% exposure, and beat the basket in 1/4 annual windows.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006EB3-C64B-48AF-8656-157B6522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7449866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2329B9-65AE-4F73-B231-8E54157B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5539F-96BD-44D9-9E7B-C5F324CB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reversion-breakout feature set raised participation without solving upside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FA21F-5E8E-4799-A7B1-48F5D4A3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776b875074c4e"/>
          <a:stretch xmlns:a="http://schemas.openxmlformats.org/drawingml/2006/main"/>
        </p:blipFill>
        <p:spPr>
          <a:xfrm xmlns:a="http://schemas.openxmlformats.org/drawingml/2006/main">
            <a:off x="1211507" y="1695450"/>
            <a:ext cx="5120787" cy="4591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42EAE-DE33-4776-9E38-801060DF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76450"/>
            <a:ext cx="3238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36EE3-B1B8-4F0A-A472-5B6B54B6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89AD0-A5A2-4A68-B115-127F8774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8D6C4-82F8-447D-A996-6856ED16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Reversion-breakout context lifted mean return versus the workhorse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14E52-8DCA-4291-8B7C-9F41414D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89B3A-4F56-4734-835C-80910F21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480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It came close in 2024 and improved 2019/2020 participation, but still lagged the basket in 3 of 4 years.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96ABF-34F3-4711-8F58-84173938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38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32AFE-032C-4631-99CA-7F8C4646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433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This argues for better state timing, not a feature-set promotion yet.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DFBA0-45F2-4651-9555-40CF4645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371726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985E8B-70EF-4066-8885-CF8CCE40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F0950-BEC6-40E1-8181-55B7CEA8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Trend and breakout families made the lane more defensive, not more participatory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A48DD-DF06-454C-B62C-F3DD1F8F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19880-E069-4231-9B5B-CADA929F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8844E-3A92-4242-AAAE-8FD0ABDD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40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Year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C94EA-F93D-4F98-8E13-E432CCAC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383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224BF-5CF6-4FBF-84EC-30CCEDC7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240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Pool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1EB42-A012-44B6-B0E1-CADDD487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38350"/>
            <a:ext cx="1276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AAB31-E2C0-49C4-8AA7-F8145BD8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24075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Return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0C14C-E68C-4E96-BF84-E4C4DE32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F1C11-0792-4B64-8D35-C877D594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Alpha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B70C3-DFEC-4EA2-99BB-A3E1026A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85CAF-0E9E-41DF-B2F6-5A2010D1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Exposure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71547-51EE-4DF0-8B13-6A95B2FC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383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9AC87-E974-4667-BA8B-2C5EA5FE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Drawdown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46A1D-E263-4F71-AE7B-859E56CD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F04941-7D51-4C98-9177-20F5F19E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240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Entries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5479F9-1769-4120-838D-EA52D722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48993-86F9-4153-B729-2CB6E3F7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E679A-1A34-4E67-BFDA-C2989413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239101-92E5-4FE4-A94A-BA187016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717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EMA-only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20D419-6AED-4E44-9F1A-B6F8CB1D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1276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85512-3D0E-45BA-9A30-13BA5C55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106.0%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B0ED8-6D6F-42D3-8A0B-B703B728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0283EC-3A6B-49D0-84D1-F738B134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71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2318"/>
                </a:solidFill>
              </a:defRPr>
            </a:pPr>
            <a:r>
              <a:rPr sz="1200" b="0">
                <a:solidFill>
                  <a:srgbClr val="B42318"/>
                </a:solidFill>
              </a:rPr>
              <a:t>-121.3 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36DA87-3E07-4C3C-9A4B-49B75C20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003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5EF9B4-8A2F-4497-8FB2-A47E5406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58.5%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9F5F8F-D7BB-47A1-B38F-E260ED86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03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9F6C32-B3DC-4EC9-9F53-362DA12A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71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-18.0%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2F33D2-A135-4025-BFD9-F2E5419A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104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FFC5CE-DE27-4689-AE40-AE476B7A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36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5FD0DD-82AA-4763-ADA5-8D068165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E78513-6C5B-400C-B415-2E051A42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E0E9DD-1ADB-4DF1-820A-97D7B1B2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908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48C8B9-2559-4436-BF73-BEFDF1F0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623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Trend/breakout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1FE230-AC1C-4FD2-B8CE-59A07B40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90850"/>
            <a:ext cx="1276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6AC0C3-EF19-42D4-82CE-5D63E518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623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53.3%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02EF7D-A90F-4FCC-822D-0A485DA1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78271C-B219-4E51-BCF4-64E92CD8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623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2318"/>
                </a:solidFill>
              </a:defRPr>
            </a:pPr>
            <a:r>
              <a:rPr sz="1200" b="0">
                <a:solidFill>
                  <a:srgbClr val="B42318"/>
                </a:solidFill>
              </a:rPr>
              <a:t>-173.9 pp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2A6E44-1B6A-4503-A16E-1B44300F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908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EF4A4B-AF00-4053-A59C-15F83F42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623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36.8%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C9F9BC-8C76-4086-A36A-EAE526AA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908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65A374-1702-462B-98C1-109DDDC3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623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-11.6%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838B1A-452A-40B4-BEF1-F8E76CB0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104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F237D3-4389-4067-929C-5BA11985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47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C5A186-AB24-4FB6-9B4E-2EAB2A40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8DBA41-7C02-4E28-B840-D66E0527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6ED4B3-9A43-4553-8488-246ECF01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814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737F8F-4DC8-4D79-BF83-D5C3B836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528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EMA-only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AD1322-A256-4BB1-8AAB-41660E87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81400"/>
            <a:ext cx="1276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BA61FC-FA31-49F5-A857-349955FF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528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-22.6%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D3A01F-E47A-45F7-8181-3D0AEB8E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AB48A7-585D-49F3-8C64-31A5DB29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528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67647"/>
                </a:solidFill>
              </a:defRPr>
            </a:pPr>
            <a:r>
              <a:rPr sz="1200" b="0">
                <a:solidFill>
                  <a:srgbClr val="067647"/>
                </a:solidFill>
              </a:rPr>
              <a:t>+30.4 pp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765C18-EFC1-418D-B9DF-58D29E4B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814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C3339F-166C-4D98-A122-DEC33C48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528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16.8%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C0C2C16-CB38-4549-B1B0-32E1EAAE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814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0D27F9-A4F9-4548-A505-D59322E8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528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-25.0%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93BC7D-1F3C-470C-95C2-BE9962ED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81400"/>
            <a:ext cx="104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A91EEE-86A3-4488-8E6D-02DB3E42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528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42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94AD42-5C1D-4DC4-B5CF-8505B3DE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DB5982B-772D-4939-A240-BD855910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C9624D-512B-44DA-A76D-52C48465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71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91647C-1050-4855-B32A-51AB5F6B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434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Trend/breakout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46CB55-AE62-422D-925C-BD14F779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276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E33CD8-FDA9-4321-829A-219F049B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434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-10.8%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025252D-79A6-4654-BA50-C08E1D9D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719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0DD9A8A-1B26-44D1-8625-4C700A90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434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67647"/>
                </a:solidFill>
              </a:defRPr>
            </a:pPr>
            <a:r>
              <a:rPr sz="1200" b="0">
                <a:solidFill>
                  <a:srgbClr val="067647"/>
                </a:solidFill>
              </a:rPr>
              <a:t>+42.2 pp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925D44-C682-4B2B-BB57-EF28C4D1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719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DF89CA7-28CB-4E12-AF56-1C3C41BB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434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19.3%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1953E5D-01AD-4FE5-8AA5-509608F5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719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8C68AA2-1663-4139-8F41-8AB0B802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434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-12.8%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F49248D-D878-4AF1-9A88-9349FB06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71950"/>
            <a:ext cx="104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8900309-5595-4EEF-B485-BEEA23D6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19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C0F013F-1CCB-455C-81CD-C23C6FBC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The reopened pool improved 2022 defense, but it cut 2020 exposure and return sharply. That is useful selectivity evidence, not a solution to the high-beta upside capture problem.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DE8BAAC-C2DB-4904-8A57-5299A089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337497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15B806-91EF-43CA-AA3C-4DEDD2D7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FC6E5-8C00-4BA9-A67B-8C45ED85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strategy map explains the defensive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A46C6-C479-4C5E-84BE-E09C7648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532ec530c4dbf"/>
          <a:stretch xmlns:a="http://schemas.openxmlformats.org/drawingml/2006/main"/>
        </p:blipFill>
        <p:spPr>
          <a:xfrm xmlns:a="http://schemas.openxmlformats.org/drawingml/2006/main">
            <a:off x="571500" y="1744540"/>
            <a:ext cx="6667500" cy="435951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AAC83-0EFB-4F16-A16A-A4B0554D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181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8C9D9-06F5-48DD-B17E-50B79A47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Visual 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F56CD-BA56-4DFA-B4DE-3EFCA4F1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A5A38-E517-4E3D-ADC1-0CF65B70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Most asset-state cells still select cash.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FEA87-CCAF-4E5E-A960-D84F5AB9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3ADC7-ADA1-40AC-851E-DFBC37F7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Breakout additions appear only in narrow pockets.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4BF26-0407-42BB-9F8F-17291CE5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47D7B-1056-4DB6-A904-F9718F53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The pool reduced drawdown but did not keep the system long enough in 2020.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C44EB-B296-451C-9888-615AAAB0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Next question: improve state timing and hold participation directly, instead of assuming a broader family list will create upside capture.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7E71B-373C-49F6-A9E5-B04A7427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322800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8F4537-D65B-4F16-8267-F9BB53A9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FD3A4-7424-456A-A460-0D73D5A5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Mean reversion did not solve the upside participation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87CC4-CAAE-47EC-A4CF-58F24E89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D3132-23E1-43AE-AAA0-AB4B3144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838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C4995-20E3-4225-B20C-7F59D4D1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Year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8983B-E329-4493-8EFF-DBFD4581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3835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0C42D-1C0D-4C82-88F9-2072285D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240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Feature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E849F-CF59-458A-8CE7-B8C821AF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58E7A-368C-4202-9272-83BF5E3A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240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Return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7C297-EE90-46F6-95A0-6186CB05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383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08A65-A661-42F5-AAAE-EA5E92CC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Alpha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8ED1B-5D06-493B-B743-4E6FBCEE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6D769-6951-44E6-B6C2-FFEDDE29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Exposure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E246B-5BB3-47A5-820D-046BFB1F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3173A-8FF0-4D68-AC5F-586E885A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240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Drawdown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3D884-0E9D-4945-84F2-284A7AC6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A5698-1889-481E-8BB1-86618BD6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240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Entries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9F1A2-6617-4DBF-821A-812C5F09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FA32E-648C-4E15-B4BF-1EE5977B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53AFAB-FE93-4422-B443-7F6F1C3E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00300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3C3A3-CF0A-49EE-80A4-8CCF96AE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71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Workhorse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E42750-A4EE-4122-B23C-F95A5634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D7299E-66F3-44B4-91CA-508803E4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717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20.3%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42B2F9-B753-4392-8F89-B687A562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003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CA0C6-B50D-44F4-AB28-67D52F01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2318"/>
                </a:solidFill>
              </a:defRPr>
            </a:pPr>
            <a:r>
              <a:rPr sz="1200" b="0">
                <a:solidFill>
                  <a:srgbClr val="B42318"/>
                </a:solidFill>
              </a:rPr>
              <a:t>-207.0 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56FD8A-CF92-45A5-B6C2-05BD6D64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003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EE822D-BEC8-45DA-9276-A8F37214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21.3%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B19DDC-B2EE-47F1-A5D4-BBF3BFC1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003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3380AF-CEE0-4872-A405-F64026FD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71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-34.9%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236B9F-C12D-48EA-9E2C-E2B707EF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104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02E515-A472-4B46-A317-3EAAF4AB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24C4B5-33A7-4662-A53A-0B9AB8DB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CE30F1-A139-4D9D-A4C7-883AB848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2E178F-A9F4-4DE4-8B6A-791D45BB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90850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BADBE7-F256-40A0-AB85-D3822B6D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62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Reversion context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AB16FE-EC58-4559-809E-C1624F46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908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C8016A-6001-419D-8128-D546B563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623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13.6%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C4AA66-59B6-4CA2-96C2-E7A1CF36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908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35E4BB-9EAE-40A8-9A20-5A644D81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623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2318"/>
                </a:solidFill>
              </a:defRPr>
            </a:pPr>
            <a:r>
              <a:rPr sz="1200" b="0">
                <a:solidFill>
                  <a:srgbClr val="B42318"/>
                </a:solidFill>
              </a:rPr>
              <a:t>-213.7 pp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F79FB5-0BF9-42E6-8AEA-54CD765C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A122B9-5134-42FD-A82F-671F60B7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623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19.8%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3965D7-7F46-4506-82E0-76685BFC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908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DE77EF-C058-4BE6-81C2-CF5AE7DF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623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-32.0%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2FCEE7-E885-4DB8-93F8-1DABA7E5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90850"/>
            <a:ext cx="104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10781E-592E-4419-A744-AB40E32F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6230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30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D776B1-1A6E-474B-9F8C-F50482E9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5FE941-0BA8-4970-828A-A9EF5002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A0FE73-D515-484B-ACD0-9CE8CF62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81400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5CD046-F29A-4CB8-B652-BF5663D8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52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Workhorse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18B377-6C50-4C05-86C4-2B493543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8140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B403FA-9088-4085-A780-D73210EB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528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-12.9%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F9BB04-901E-4514-A6F2-F566834C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816DCF-1D9F-4563-B57C-BFE6081D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528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67647"/>
                </a:solidFill>
              </a:defRPr>
            </a:pPr>
            <a:r>
              <a:rPr sz="1200" b="0">
                <a:solidFill>
                  <a:srgbClr val="067647"/>
                </a:solidFill>
              </a:rPr>
              <a:t>+40.1 pp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9731F1-98DB-4867-9D2B-2F151876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814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526A2E-16C3-414E-B107-3124773E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25.9%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F84849-E703-44C0-88FE-D1CBF599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814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581905-FA09-410D-BB34-31D445B0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528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-17.6%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C9D3F2-B3D5-4E00-80FD-3C3827E2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81400"/>
            <a:ext cx="104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D120946-5390-493F-BD55-FE6230B0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528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41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28628B4-2A75-45FC-A53C-4F99F445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D679BF2-3C67-41ED-87C7-468143D0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0464F9-CB6A-422E-BD2A-647329E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71950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635B7E8-EC91-4100-A82B-2C0EC666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434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Reversion context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C4ABE5-B4D2-4452-A8C8-608112AC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719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CAB32C-1C8D-4A77-B5C5-23E03DCD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434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-17.6%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F96EE8-8596-4994-B5A6-5F789EE9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719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BE97602-0128-4EDA-861C-34F5CE4B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434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67647"/>
                </a:solidFill>
              </a:defRPr>
            </a:pPr>
            <a:r>
              <a:rPr sz="1200" b="0">
                <a:solidFill>
                  <a:srgbClr val="067647"/>
                </a:solidFill>
              </a:rPr>
              <a:t>+35.4 pp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829842-F6EB-47F4-94C1-6759DE7F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719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D80820C-8765-4586-A4AD-57C9CC31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27.3%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DB4AB56-A6B1-4E47-B721-74AFB3DE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719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12576AE-C403-48C3-BAC1-E0E79522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434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-19.5%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45F2BAB-DC03-4D90-8C83-B5619690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71950"/>
            <a:ext cx="104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DA6F688-8616-4EB3-A8CE-359C8D78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4340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44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ADF5167-5EF8-4E8D-A0C3-D91A1C50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975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The diagnostic behaved like a defensive/range-trading probe: it reduced 2022 damage versus basket hold, but it badly lagged the 2020 rally and did not improve on the EMA control.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86DB121-19A3-4B77-B687-68FF2495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4127455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FA07FA-1F37-486F-9506-ACC61767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DB2FC-5AC1-4CCD-8E42-9DE0193C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mean-reversion map is mostly cash with narrow Bollinger pockets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7CF80-0A95-4B65-B919-A0E92B70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bbc59f09449f6"/>
          <a:stretch xmlns:a="http://schemas.openxmlformats.org/drawingml/2006/main"/>
        </p:blipFill>
        <p:spPr>
          <a:xfrm xmlns:a="http://schemas.openxmlformats.org/drawingml/2006/main">
            <a:off x="552450" y="1716332"/>
            <a:ext cx="6724650" cy="439688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4C450-EA94-420A-ABCF-21DAE31A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1813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33668-26AB-44CF-9EDA-C8F17016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384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Visual 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EF4E5-8BD5-4031-9BDE-826E8393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38219-9F3B-46EB-8751-D584E753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90850"/>
            <a:ext cx="2133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No-trade still dominates many asset-state cells.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EBB37-2D91-4388-AD54-ADC366E4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68235-5AD2-4C4E-A85D-EC13B984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00425"/>
            <a:ext cx="2133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Bollinger variants appear in selective pockets, especially AVGO.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0BFD3-3C91-4F5B-96BC-12F2EA30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B77A8-6D90-4BE4-9247-34B7FF8F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2133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RSI and z-return did not become dominant state 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F3CAA-3CB7-41E8-9E4A-97B1E5FF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14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AA9FD-1BC7-401D-B201-20DC3422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9575"/>
            <a:ext cx="2133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This is not a high-beta upside engine in its current form.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D6068-2D6C-4384-8180-C063EF49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19750"/>
            <a:ext cx="998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The trade tapes reinforce the same story: countertrend chips and defensive abstention, not early sticky participation in a broad high-beta rally.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E7419-FC3C-483A-955A-3357C837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5597369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EA07B5-2462-49CF-B809-E7688A68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1D6C2-4003-4749-94BE-2E21F65F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Leveraged active trading needs a same-leverage passive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41E77-5B0B-41AB-94FA-BB411F2B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86066-BA3D-4EF7-B8E8-181A5F38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The leverage slice keeps signals, states, entries, exits, and quarterly authority unchanged. Only the portfolio sizing layer changes from 1x to 1.8x.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4FBE1-032A-4017-B4AF-78CE26BB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44958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B0779-ECEA-480C-AFE2-CD1FFBB1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44958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5C301-B37E-456C-9A3C-CB10F705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42318"/>
                </a:solidFill>
              </a:defRPr>
            </a:pPr>
            <a:r>
              <a:rPr sz="2025" b="1">
                <a:solidFill>
                  <a:srgbClr val="B42318"/>
                </a:solidFill>
              </a:rPr>
              <a:t>Wrong 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1102D-04FC-4B6C-86F9-873D44AE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Compare 1.8x active return to 1x basket hold, then call the extra return alpha.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906F4-5935-4985-B3BB-734C5720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67647"/>
                </a:solidFill>
              </a:defRPr>
            </a:pPr>
            <a:r>
              <a:rPr sz="2025" b="1">
                <a:solidFill>
                  <a:srgbClr val="067647"/>
                </a:solidFill>
              </a:rPr>
              <a:t>Fair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54F4F-04CD-4210-8E61-EE331C16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Compare 1.8x active return to 1.8x equal-weight basket hold over the same dates.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21D27-4744-4A1C-BC6B-12246A15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91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This keeps leverage as a risk overlay. It prevents sizing from masquerading as a better entry/exit engine.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6DDC5-1080-4A25-AE05-5A4704BA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8136936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41FA4D-721A-473B-9B05-8DAE7CF7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504F6-B73A-4BBE-85C9-E5F81FEF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Trend/breakout leverage made the defensive profile more obvious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B2DB3-71ED-41A3-ACB5-49345749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59346a89c49c1"/>
          <a:stretch xmlns:a="http://schemas.openxmlformats.org/drawingml/2006/main"/>
        </p:blipFill>
        <p:spPr>
          <a:xfrm xmlns:a="http://schemas.openxmlformats.org/drawingml/2006/main">
            <a:off x="1585913" y="1752600"/>
            <a:ext cx="4143375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DE58E-6450-4542-B11C-22E006C9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34671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24896-976A-4981-A4D7-2200C0E4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003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Same-leverage 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C93CB-B9AB-43EA-8A0B-24B678F1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56F5F-8B2B-4DFD-8C84-39C4451A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908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2020: active 108.1%, but 1.8x basket 409.1%.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F6C8A-07F9-437F-B1AC-1D6AB6BE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2D7D9-003D-4139-9EAA-B434DDD7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2022: +76.4 pp alpha because the levered basket drawdown was severe.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8DAE8-9BE5-4591-A42E-F48F1569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D2065-4787-4BA8-B09B-D722B531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195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This is defense, not solved upside participation.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4C07C-364A-4F37-918E-6CF0813D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91200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At 1.8x, the same lane produced -301.0 pp alpha in 2020 and +76.4 pp in 2022.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035BF-BA26-4EC7-8A5E-9C114E36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9929648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BB40BB-B957-43B5-B994-85998A40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01750-05BF-44FC-AB19-398B8C3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Mean reversion with leverage still looks like defense, not upside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B49A7-2A87-4DC9-B977-E5C0515A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5c185f40a4ea3"/>
          <a:stretch xmlns:a="http://schemas.openxmlformats.org/drawingml/2006/main"/>
        </p:blipFill>
        <p:spPr>
          <a:xfrm xmlns:a="http://schemas.openxmlformats.org/drawingml/2006/main">
            <a:off x="1585913" y="1752600"/>
            <a:ext cx="4143375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EAE37-7715-4763-93B7-425A1568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34671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9A059-A028-447E-B2C1-97716CB6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003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Same-leverage 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74115-15E0-47E6-B27C-1D8C1FA4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A26DB-9756-4225-8143-B35C5A87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908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2020: active 37.3%, far below the 1.8x basket.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793D8-C102-4376-B134-FF17890E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916E9-E262-40A6-BA42-D73236EA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2022: active beat the levered basket by +72.4 pp.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647C2-9434-45A1-8FE5-0E7975D8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0A390-AC9D-4CA8-AB53-5871B358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195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Leverage amplified the defensive value and the rally underparticipation.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8ABBB-7032-4228-82BC-B7D5AC3B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91200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At 1.8x, workhorse mean reversion produced -371.8 pp alpha in 2020 and +72.4 pp in 2022.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66E5D-4C05-4326-9B50-7E882F37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4852082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095698-89BB-474B-AE31-441A0B80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5CD3"/>
                </a:solidFill>
              </a:defRPr>
            </a:pPr>
            <a:r>
              <a:rPr sz="1125" b="1">
                <a:solidFill>
                  <a:srgbClr val="175CD3"/>
                </a:solidFill>
              </a:rPr>
              <a:t>SECTION TRANSITION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DF655-8BAC-483A-9765-B0B578BE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Pivot: stop asking technical strategies to do all the timing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65AD8-0D6F-42CB-BD12-2515C578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857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The prior sections tested EMA, breakout, mean-reversion, and leverage overlays. The next diagnostic asks whether PCA states themselves can be used as the exposure decision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4C3A7-98C0-41FB-B81C-A5EB574F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8678E-16C9-4387-874E-653A43A6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Binary state packet: runs/research_workbench/gen53_momentum_context_size/g53_momctx_statehold2feat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9CE11-F2EE-4640-99DB-52250FF5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1390627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01ADAA-61F2-4276-8136-A6E98201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D146B-7293-4F28-AF95-CC77573C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State-only exposure asks whether PCA states can time the hold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624A2-767E-4EF7-A7B8-0ABF49F6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7EBDC-77C5-4230-8A7B-3071EA8B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The prior lanes asked PCA states to choose a downstream technical strategy, then waited for that strategy to emit entries and exits. This diagnostic removes that second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1E372-2C98-47D4-8F07-46EBEA72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4476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EC8DC-5EEC-4004-9BC3-9393294B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8000"/>
            <a:ext cx="4476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16E8A-3781-4D5E-8A98-43837B4B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67647"/>
                </a:solidFill>
              </a:defRPr>
            </a:pPr>
            <a:r>
              <a:rPr sz="2100" b="1">
                <a:solidFill>
                  <a:srgbClr val="067647"/>
                </a:solidFill>
              </a:rPr>
              <a:t>Favorable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BEE67-31DE-4097-B116-73CA7775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Enter next open if flat. Stay long while selected states remain favorable.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7EA2B-417E-4ECD-9EB2-CF659308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2318"/>
                </a:solidFill>
              </a:defRPr>
            </a:pPr>
            <a:r>
              <a:rPr sz="2100" b="1">
                <a:solidFill>
                  <a:srgbClr val="B42318"/>
                </a:solidFill>
              </a:rPr>
              <a:t>Unfavorable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DCC4E-B909-4F6E-B037-BC7F91A3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Exit next open if long. Remain flat while cash/exit-cash states persist.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08BC5-06F0-4688-94FF-2F1722FF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8640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This is a direct test of whether the regime engine itself has enough directional value to act as an exposure switch.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6B89C-96EC-450A-949E-673C24A2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5547778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99F058-CDCC-4FB7-92A0-A3EBDC4B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4F367-625B-4850-8673-9D302348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State-only exposure improved rally participation, but still did not beat 2020 basket 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291B7-474F-4439-887C-F0334B31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1EB78-37D7-48EF-8CEB-65A6D5B4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CFEBF-B96D-4FE6-97AB-C4340046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Year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D0E25-4DF0-4ADC-9CE1-BEFCEE5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76450"/>
            <a:ext cx="1943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D08FA-117C-4B63-9D40-19776BC1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62175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Feature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2566E-C887-4C3A-93E2-6DEFD828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7645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EE9F5-AF3C-4177-8273-AD219973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621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Return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912EC-6812-4B6C-AE15-3192F380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764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33613-EACB-4A3C-B390-26DDD6F8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621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Alpha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DB050-246D-482B-B432-58651D4C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764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FE16C-6FEE-464A-A336-9B8A518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621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Exposure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00FDE-D852-49A6-B8BE-139DF7C5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64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DDAD4-D55D-4420-B5B9-553F79FA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621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Drawdown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893FC-CA97-4BCF-A6E8-C8A57F96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FF007-31D6-4765-88D6-4B7CBE30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6217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Entries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FD847-1E15-4802-97DA-73DECA0D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78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E8C0F-E596-4258-A2F2-81AB2589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5AFEF-C772-4690-A22B-CC5DDF6C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38400"/>
            <a:ext cx="1943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64777-8924-4FF3-8011-6D15337D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098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Workhorse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88E33-A84F-4202-B50B-F4806BA9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384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A48516-98BB-4C88-B553-7F333F1C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175.1%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366521-C687-43A8-87D2-0E11D336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384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FBB45B-36DF-45A9-91F6-11C553B5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098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2318"/>
                </a:solidFill>
              </a:defRPr>
            </a:pPr>
            <a:r>
              <a:rPr sz="1200" b="0">
                <a:solidFill>
                  <a:srgbClr val="B42318"/>
                </a:solidFill>
              </a:rPr>
              <a:t>-52.2 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681B58-92F4-40DE-8194-BDAE1598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384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688108-BE77-4E10-A12A-991CCA3F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098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85.5%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8BD79E-20B4-462C-B142-0C82907D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384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E07FFD-F0F5-495F-8518-939FFB90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-37.6%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0C0669-4C4A-4C7B-ABB8-71BB269C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3840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E62B37-57AD-407C-B73E-F9F6CEE3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51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88BCBE-768A-418D-A6A7-EA0DF165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8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89F7CF-1FF9-4544-A314-F9CD6E1F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458D0F-2487-4656-8D0C-CBDFF627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1943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4B8624-33F5-4130-9889-00E3CDED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004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Reversion context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13DA11-FDEB-410A-9A36-2733E974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2895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9A84A3-BA8C-4F51-B94B-83984A22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189.8%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92F219-E2A7-4C20-8488-DC56A7EC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8A6A01-2975-4BF4-9F2D-365B54D7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004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2318"/>
                </a:solidFill>
              </a:defRPr>
            </a:pPr>
            <a:r>
              <a:rPr sz="1200" b="0">
                <a:solidFill>
                  <a:srgbClr val="B42318"/>
                </a:solidFill>
              </a:rPr>
              <a:t>-37.5 pp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F61AB7-D3D2-4C3B-AB70-B7CED877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289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231527-01FE-4BA1-BCE5-7D9E37F5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004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78.7%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22101C-A248-4570-82EE-309EA8E0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1A0144-7094-40D7-87CE-5CF41470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004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-39.4%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A55BF6-C4F1-47CE-8820-251BF203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B4AD21-8D64-48E3-A174-6E4DA700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04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54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E2FBE9-C06A-4356-A14E-090344F8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78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298259-3E1F-452B-8D9C-7EEE8819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A31FF4-FEE8-414B-920D-B9A6B224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19500"/>
            <a:ext cx="1943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CB00F0-008B-43D8-A64F-1889A2D3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909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Workhorse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8DBAF5-FF67-4E89-82C5-830D04C2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195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2DABC2-3CA0-42B3-9B4D-2D5C51BB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-50.9%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1AA743-5331-4093-9105-647267DD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195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B3D8BA-4761-49B7-8D77-8C1985DF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909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67647"/>
                </a:solidFill>
              </a:defRPr>
            </a:pPr>
            <a:r>
              <a:rPr sz="1200" b="0">
                <a:solidFill>
                  <a:srgbClr val="067647"/>
                </a:solidFill>
              </a:rPr>
              <a:t>+2.1 pp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D9276B-3BEC-42CD-9FEF-6386FE44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195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5D33A4-8650-4579-A69B-3F4937EE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909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98.9%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5D894B-798E-497E-ABBB-AF95222A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1950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22F5D6-8028-4563-A797-9F2B9DA2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909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-52.9%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DE0203F-5EF0-4404-B112-82E36287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F415B8-E51F-4B84-852F-DB264518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909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26A9A8-FF4E-4C6E-B49A-F43DD76C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78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BA437DE-C2F9-4E90-AD91-814034D3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34FD32-3B53-4935-8740-E0AFD9E8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10050"/>
            <a:ext cx="1943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EF0B01-6621-4462-9A35-1DAC9930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815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Reversion context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0144F6-3EC5-45CB-ABA1-094C741C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1005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29942D-BBE8-493F-868C-F7358B05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815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-49.8%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D9A4E3-4AE5-439E-8312-95D1B551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100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8D439B-7B8B-49F4-9F29-544244E1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815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67647"/>
                </a:solidFill>
              </a:defRPr>
            </a:pPr>
            <a:r>
              <a:rPr sz="1200" b="0">
                <a:solidFill>
                  <a:srgbClr val="067647"/>
                </a:solidFill>
              </a:rPr>
              <a:t>+3.2 pp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0DE5CA1-72A7-4C4A-B4FD-9E4ED833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100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5F41E6-167C-4331-89F9-3EED8D1C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815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99.0%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3537AD-CF73-4857-81C4-2F2BA1A1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10050"/>
            <a:ext cx="1219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ACA48F7-3E42-4E20-8EBB-1CD74407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815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-51.9%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D22DEE8-D37A-4999-9CF5-525C483B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102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F5A310E-A1A3-4E52-9595-B05C653D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815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E64821C-74EC-4CBE-9021-E89EA171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This is the strongest 2020 participation read so far, but the equal-weight high-beta basket still won. In 2022, the state-only policy stayed almost fully exposed, so its edge over the falling basket was small.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B2F7738-DBB6-4E86-BDD7-28C76F1E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3285757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641D68-ADC5-4446-B947-FC3480F0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B6592-7B0B-4C7E-B0E0-94477043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state-only map is a true binary exposure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76ECB-E14D-4735-9D45-99385089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60ec64e824c24"/>
          <a:stretch xmlns:a="http://schemas.openxmlformats.org/drawingml/2006/main"/>
        </p:blipFill>
        <p:spPr>
          <a:xfrm xmlns:a="http://schemas.openxmlformats.org/drawingml/2006/main">
            <a:off x="552450" y="1699480"/>
            <a:ext cx="6572250" cy="42972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9AF65-DDB5-4267-98B0-76C2FAF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616C1-406E-4D75-AAC4-DDE1D82B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Sanity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685E3-42F3-48DA-89CF-C5318462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493C2-1B1F-49C3-9BB3-9E127E39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908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Selections are only State hold or Exit cash.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D1B4E-C77A-4657-9699-2F086833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48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9BD2D-B47B-4ECC-AFCE-25734767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AVGO was almost always favorable.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E5260-F0CC-415C-9393-0EE5E1A0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91A61-C8D9-4931-9822-5E14FF25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MSTR and TSLA were more selective.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68F56-142A-439F-B20C-FFFBD7FF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220F5-78C4-4A9D-A046-3EC58408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767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Cash states force exit, not passive holding.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2888B-6D9D-432D-98E1-02784722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8614228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EF054F-01C0-4125-973A-F48ACB46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AAF0E-9F39-477B-8E49-17E1BEFE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visual audit shows why this deserves a wider but careful follow-up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5042F-676A-44D3-8692-EE73E63F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6643aece347e8"/>
          <a:stretch xmlns:a="http://schemas.openxmlformats.org/drawingml/2006/main"/>
        </p:blipFill>
        <p:spPr>
          <a:xfrm xmlns:a="http://schemas.openxmlformats.org/drawingml/2006/main">
            <a:off x="1306657" y="1581150"/>
            <a:ext cx="5844886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DE333-D08A-4595-9A75-84838519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2724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DF0D5-FA0F-495C-842D-918FD9B9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24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A4269-6252-436F-B4EE-443BA68A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E483D-6C5D-4A7B-BD4F-0346DE4D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908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Much stronger 2020 upside participation.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F16E4-0F62-493B-93ED-FD22C514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DE440-9DD4-4B22-8E96-DC5D72E5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Too much 2022 exposure.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BD563-0C13-4FC4-AB35-C8E598ED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6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2AF64-595B-41D6-9E9C-D92B9ACD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6715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Next: test a hold-only middle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D112E-5CB0-4263-9423-4C6F29F4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2927669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D023D1-00C9-4B19-A3E7-7CFEA9EF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5CD3"/>
                </a:solidFill>
              </a:defRPr>
            </a:pPr>
            <a:r>
              <a:rPr sz="1125" b="1">
                <a:solidFill>
                  <a:srgbClr val="175CD3"/>
                </a:solidFill>
              </a:rPr>
              <a:t>SECTION TRANSITION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E9724-BA28-422F-9D44-A21A032A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Pivot: add a neutral gear to the state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F7FEA-29C4-48CA-AB56-CB7808A0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857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The binary state-only run treated every non-favorable state as an exit. The next slice tests a three-action policy: enter/hold, hold-only/no-new-entry, and exit/flat.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5DBB8-2AF6-4A98-AD45-34885F80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12CA0-51EA-4296-AA34-4B1362C0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Three-action packet: runs/research_workbench/gen53_momentum_context_size/g53_momctx_state3action2feat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39DB3-00BA-4826-8706-9071502A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85771932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35FEB0-73B2-417D-8272-47D3A03A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09729-CDAB-41CB-BC34-E6A86D3C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three-action policy made the state map more realistic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33E5F-3F7F-42A6-8332-A5479C6C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D672E-C878-43AD-82AC-3D960FC3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This slice keeps the same two windows, context, features, and annual continuity replay as the binary diagnostic. Only the state action grammar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6534D-7135-4681-9E52-C95DBF11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3009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E62CA-70F2-4566-AD72-21300898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Enter / 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64669-9521-4157-B970-2C2907C1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State selected state_buy_hold. Enter next open if flat; stay long while no exit state appears.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5E775-F17A-4467-ACBC-C8F02D16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28950"/>
            <a:ext cx="3009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7D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DE32B-F56B-4391-ACB0-CB0EAC14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95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Hold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7D6CF-A423-4773-B0EB-CB287419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81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State selected state_hold_only. Do not open a new trade, but allow an existing trade to continue.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18DB8-A72F-486E-84B8-AFFA2571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28950"/>
            <a:ext cx="3009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3AF9F-EE46-416F-9ECA-87DC3F3F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95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Exit / flat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E6D76-355C-487A-B22B-2B3C6193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State selected no_trade_exit_immediate. Exit next open if long; remain flat while the state persists.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57646-F03F-4716-8077-C491439B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The policy is still TRAIN-only: cash states are converted to exit only when state-hold TRAIN evidence is negative; otherwise they become hold-only.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B5DE8-232D-4FB7-995C-CD4E5728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104502175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B162E3-624F-4919-9DF4-54694A17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63F7A-6932-4D2D-B9BD-A52EF1D5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Three-action improved nuance, but did not solve 2022 over-participation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366BB-1D81-4B98-A6A3-052F4778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416EF-A890-47F3-8431-3F700573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14243-0389-436C-9C49-F816837B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716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56570-B492-476C-8F2E-D8B2E513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859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DF1E0-637C-4131-85AE-9F34E0E4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716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Window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12FF0-153B-49ED-8790-3DDE9F41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859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26EF3-AFD0-4666-B712-10F52AB2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716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Binary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76CB1-4502-4759-8D63-5C488C27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859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C0491-D3A2-4C42-8722-34A60886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716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3-action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B8E30-56E0-4302-B1E5-FA19BDA8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BA564-1E26-47BA-94FE-B7F0D7E5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7167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3-action alpha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DAA2C-1E88-46A8-820F-1CDBAC71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859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35C3A-A265-487F-9974-6103B5D7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716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Exposure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9F74B-04AB-4D98-8D1E-AAB6531A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A2225-852D-4B35-A0BB-DDCD4B7B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Workhorse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EE80A-939B-4E96-B317-C10CEE49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479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06BB31-75D3-432E-A5CC-328CDD3F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193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095D0-924E-4EAF-A34C-0B76FD44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479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09431-DD45-46B7-9B4C-5C60692C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193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175.1%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B49038-8B27-4135-BE33-D3CB9CD3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479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7FB1D-A96D-4A96-ACC1-21056FD8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193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185.3%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A623F-FA4F-4698-93DB-78202CB9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190FE9-CBCD-4901-922D-FA6FD5D4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-42.0 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678F2B-E9D4-4646-9EF2-3C9CB40A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479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7743B-979D-48AB-AB40-6EFF520F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193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90.8%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E0A370-806E-4FE1-A0D3-54A49A8C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8C733C-27C5-4BBD-90DE-787FD4C2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Workhorse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D8CF94-FA22-4C3B-BAE4-8E64A885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384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C4D6F9-9C1F-42AA-B23D-7C7DBE8B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099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785CB4-891A-4057-B813-D8B5E688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384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07BE92-C580-4145-B61A-501C189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-50.9%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2BC855-6E9B-4B85-A5C2-51F6CE80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384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705DA9-0010-4A21-B47A-5B537AB2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099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-52.5%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2BF37F-F00B-4219-9187-5C090645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384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5DC772-AFA9-4FD3-8F49-7DE7D644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099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7647"/>
                </a:solidFill>
              </a:defRPr>
            </a:pPr>
            <a:r>
              <a:rPr sz="1200" b="1">
                <a:solidFill>
                  <a:srgbClr val="067647"/>
                </a:solidFill>
              </a:rPr>
              <a:t>+0.6 pp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3217AA-5F10-4255-AB16-D8195D82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384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594DC2-A8C6-478C-AFD5-E53441DE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99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99.6%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11A25E-066F-4569-9B32-5A05062F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87DEE4-800B-46BA-8625-858A4F8C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Rev/BO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55AF51-A20C-47C0-B88D-186F7BF0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290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9BECE4-9548-49D2-B083-085D1BE1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004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B2B816-D3D3-4752-A3D7-150B3396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290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8F5269-D9D7-4BBF-B310-4A6B2182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189.8%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84A952-9838-4BF4-8883-461AAE83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290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DC0CA4-7F3F-4439-937A-C684AA59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004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187.2%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04E44B-4766-4437-9CF3-F64A1576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5357E2-BC37-4A0E-8060-F78686A8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004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-40.1 pp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6B1FE0-3AC4-446F-A8EE-8E3FF72C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30FEFA-139B-4E90-B140-ED40A8A1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004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86.1%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E5CA52-A91F-419D-A1E2-E414D5BF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7CD425-3622-4CE1-A9D6-7A65141E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Rev/BO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C65A12-0CB3-4D63-BBDD-EABCACFB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195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14929B-D206-451F-94BB-E6367921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910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2022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A90633-0346-467B-89D4-A502F4A0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195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221B47A-CAEF-4DC7-9F5C-5E8CC65B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910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-49.8%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0FDABB-4268-4980-A3CC-149C9D2A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195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6A642A-7C6F-48B3-8581-227BCE90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910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-51.6%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0BF27F-8566-4B82-A2B7-1FD48688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B42987-3CF4-4EEF-8C6F-3C747861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910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7647"/>
                </a:solidFill>
              </a:defRPr>
            </a:pPr>
            <a:r>
              <a:rPr sz="1200" b="1">
                <a:solidFill>
                  <a:srgbClr val="067647"/>
                </a:solidFill>
              </a:rPr>
              <a:t>+1.5 pp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57A4DA7-CD50-4585-88B5-BC0FC4CB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195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145A6B2-7189-42C7-BD2D-D7C3EFD9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910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99.4%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3B9FCD0-854F-44EC-BAFB-DC0646DC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The neutral gear reduced entry churn, but 2022 exposure stayed around 99%. That points back to feature/state discrimination, not merely the lack of a hold-only action.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DF6A52A-C4B7-43CF-B666-7A99A09F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9435007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528B43-A70D-4CCE-8A94-5231C9F0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3A015-8779-4645-BDB4-0D99F130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action map confirms the neutral gear is active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721BB-21BB-46FD-9EBD-93376178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819b1015b4443"/>
          <a:stretch xmlns:a="http://schemas.openxmlformats.org/drawingml/2006/main"/>
        </p:blipFill>
        <p:spPr>
          <a:xfrm xmlns:a="http://schemas.openxmlformats.org/drawingml/2006/main">
            <a:off x="552450" y="1699480"/>
            <a:ext cx="6572250" cy="42972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5705E-1D9B-4310-9578-BDDDDE24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38350"/>
            <a:ext cx="33528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C1E3F-F662-45FB-927C-C5C4F6F7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Action 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9E86F-228A-4E54-84EF-DBA2E3D0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765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State hold: 399</a:t>
            </a:r>
          </a:p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Hold only: 213</a:t>
            </a:r>
          </a:p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Exit cash: 108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79C58-4EC7-41BF-A856-0A6BDA55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386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This is not just relabeling. The map contains all three actions, but the dominant action remains state hold, especially in the 2022 authorities.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9AB03-6183-416E-8E98-FECDC175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82231767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457639-BA4F-43F0-BD8D-CE495FEA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GEN5.3 MOMENTUM CONTEXT-SIZE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1255F-0F39-4D3E-928F-0F321FB1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Visual audit: the policy still participates too much when defense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05F1E-776D-4F56-8BFF-41FC4477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608f04f8e4fe8"/>
          <a:stretch xmlns:a="http://schemas.openxmlformats.org/drawingml/2006/main"/>
        </p:blipFill>
        <p:spPr>
          <a:xfrm xmlns:a="http://schemas.openxmlformats.org/drawingml/2006/main">
            <a:off x="1306657" y="1581150"/>
            <a:ext cx="5844886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CBCB2-D905-43F4-BE16-42CFA286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2724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404A6-4D65-4E8E-BFD8-2AFE383C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24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DF8FD-37E2-4928-AA3D-2AB11D48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09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AD618-B817-4FD2-A87A-A6603EE7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Fewer entries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F0838-C6F8-4236-B3E9-5D0ACDAC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E8C62-CB3A-4065-8854-87AC477E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2020 still strong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75112-42AF-40B6-9B62-60D5D473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34E18-F1D3-4F1A-AD4E-D288BC05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2022 still lacks risk-off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AD3B5-5A7F-470F-94F5-4A2EF005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81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EC80B-4684-4F58-9DF7-712D5230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8620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Next: 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654C6-354E-4F52-BB68-30A507E1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Research/inspection only. Not allocation evidence or live-advice behavior.</a:t>
            </a:r>
          </a:p>
        </p:txBody>
      </p:sp>
    </p:spTree>
    <p:extLst>
      <p:ext uri="{BB962C8B-B14F-4D97-AF65-F5344CB8AC3E}">
        <p14:creationId xmlns:p14="http://schemas.microsoft.com/office/powerpoint/2010/main" val="716404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2026-07-13T07:09:56.2590000Z</dcterms:created>
  <dcterms:modified xsi:type="dcterms:W3CDTF">2026-07-13T07:09:56.2590000Z</dcterms:modified>
</coreProperties>
</file>