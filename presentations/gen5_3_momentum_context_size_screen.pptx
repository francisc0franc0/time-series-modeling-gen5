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ab10881f4f4990" /><Relationship Type="http://schemas.openxmlformats.org/officeDocument/2006/relationships/extended-properties" Target="/docProps/app.xml" Id="R3c18438e44d04d52" /><Relationship Type="http://schemas.openxmlformats.org/officeDocument/2006/relationships/officeDocument" Target="/ppt/presentation.xml" Id="Ra5fc6a6c9fe946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e77e705aba46e7"/>
  </p:sldMasterIdLst>
  <p:notesMasterIdLst>
    <p:notesMasterId xmlns:r="http://schemas.openxmlformats.org/officeDocument/2006/relationships" r:id="R81c7118714de4830"/>
  </p:notesMasterIdLst>
  <p:sldIdLst>
    <p:sldId xmlns:r="http://schemas.openxmlformats.org/officeDocument/2006/relationships" id="256" r:id="Rbfbc70a39bb54535"/>
    <p:sldId xmlns:r="http://schemas.openxmlformats.org/officeDocument/2006/relationships" id="257" r:id="R5c1760f6f4874236"/>
    <p:sldId xmlns:r="http://schemas.openxmlformats.org/officeDocument/2006/relationships" id="258" r:id="R626d44a2ebd04938"/>
    <p:sldId xmlns:r="http://schemas.openxmlformats.org/officeDocument/2006/relationships" id="259" r:id="R6171334ebaf4478d"/>
    <p:sldId xmlns:r="http://schemas.openxmlformats.org/officeDocument/2006/relationships" id="260" r:id="Rbb413dbf6cab49d0"/>
    <p:sldId xmlns:r="http://schemas.openxmlformats.org/officeDocument/2006/relationships" id="261" r:id="Rffed8fa5c990400e"/>
    <p:sldId xmlns:r="http://schemas.openxmlformats.org/officeDocument/2006/relationships" id="262" r:id="R7502c4eb518f4f8a"/>
    <p:sldId xmlns:r="http://schemas.openxmlformats.org/officeDocument/2006/relationships" id="263" r:id="R69aae2de5d9f4246"/>
    <p:sldId xmlns:r="http://schemas.openxmlformats.org/officeDocument/2006/relationships" id="264" r:id="Recd6c2e252134af5"/>
    <p:sldId xmlns:r="http://schemas.openxmlformats.org/officeDocument/2006/relationships" id="265" r:id="Rf6e24173cb3c47d1"/>
    <p:sldId xmlns:r="http://schemas.openxmlformats.org/officeDocument/2006/relationships" id="266" r:id="Re34bd2e828ba4115"/>
    <p:sldId xmlns:r="http://schemas.openxmlformats.org/officeDocument/2006/relationships" id="267" r:id="R6f3754f1cdb5482b"/>
    <p:sldId xmlns:r="http://schemas.openxmlformats.org/officeDocument/2006/relationships" id="268" r:id="R900420333ed04027"/>
    <p:sldId xmlns:r="http://schemas.openxmlformats.org/officeDocument/2006/relationships" id="269" r:id="R05c1f046d6824e00"/>
    <p:sldId xmlns:r="http://schemas.openxmlformats.org/officeDocument/2006/relationships" id="270" r:id="R4ce78c4cb6c14482"/>
    <p:sldId xmlns:r="http://schemas.openxmlformats.org/officeDocument/2006/relationships" id="271" r:id="R550c6eef596d4e62"/>
    <p:sldId xmlns:r="http://schemas.openxmlformats.org/officeDocument/2006/relationships" id="272" r:id="R222bb9fe8ef748cc"/>
    <p:sldId xmlns:r="http://schemas.openxmlformats.org/officeDocument/2006/relationships" id="273" r:id="R929ce603653d4a79"/>
    <p:sldId xmlns:r="http://schemas.openxmlformats.org/officeDocument/2006/relationships" id="274" r:id="Raa1f2042b8d54be0"/>
    <p:sldId xmlns:r="http://schemas.openxmlformats.org/officeDocument/2006/relationships" id="275" r:id="R021b82227f424146"/>
    <p:sldId xmlns:r="http://schemas.openxmlformats.org/officeDocument/2006/relationships" id="276" r:id="R7d7dfb7024c14a9a"/>
    <p:sldId xmlns:r="http://schemas.openxmlformats.org/officeDocument/2006/relationships" id="277" r:id="R47e18b3e7ab944cb"/>
    <p:sldId xmlns:r="http://schemas.openxmlformats.org/officeDocument/2006/relationships" id="278" r:id="R038cbfb99b06459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e776169c0f4079" /><Relationship Type="http://schemas.openxmlformats.org/officeDocument/2006/relationships/slideMaster" Target="/ppt/slideMasters/slideMaster1.xml" Id="R11e77e705aba46e7" /><Relationship Type="http://schemas.openxmlformats.org/officeDocument/2006/relationships/notesMaster" Target="/ppt/notesMasters/notesMaster1.xml" Id="R81c7118714de4830" /><Relationship Type="http://schemas.openxmlformats.org/officeDocument/2006/relationships/presProps" Target="/ppt/presProps.xml" Id="Raaba14e11c564055" /><Relationship Type="http://schemas.openxmlformats.org/officeDocument/2006/relationships/tableStyles" Target="/ppt/tableStyles.xml" Id="Rc0d0efeadeec4171" /><Relationship Type="http://schemas.openxmlformats.org/officeDocument/2006/relationships/slide" Target="/ppt/slides/slide1.xml" Id="Rbfbc70a39bb54535" /><Relationship Type="http://schemas.openxmlformats.org/officeDocument/2006/relationships/slide" Target="/ppt/slides/slide2.xml" Id="R5c1760f6f4874236" /><Relationship Type="http://schemas.openxmlformats.org/officeDocument/2006/relationships/slide" Target="/ppt/slides/slide3.xml" Id="R626d44a2ebd04938" /><Relationship Type="http://schemas.openxmlformats.org/officeDocument/2006/relationships/slide" Target="/ppt/slides/slide4.xml" Id="R6171334ebaf4478d" /><Relationship Type="http://schemas.openxmlformats.org/officeDocument/2006/relationships/slide" Target="/ppt/slides/slide5.xml" Id="Rbb413dbf6cab49d0" /><Relationship Type="http://schemas.openxmlformats.org/officeDocument/2006/relationships/slide" Target="/ppt/slides/slide6.xml" Id="Rffed8fa5c990400e" /><Relationship Type="http://schemas.openxmlformats.org/officeDocument/2006/relationships/slide" Target="/ppt/slides/slide7.xml" Id="R7502c4eb518f4f8a" /><Relationship Type="http://schemas.openxmlformats.org/officeDocument/2006/relationships/slide" Target="/ppt/slides/slide8.xml" Id="R69aae2de5d9f4246" /><Relationship Type="http://schemas.openxmlformats.org/officeDocument/2006/relationships/slide" Target="/ppt/slides/slide9.xml" Id="Recd6c2e252134af5" /><Relationship Type="http://schemas.openxmlformats.org/officeDocument/2006/relationships/slide" Target="/ppt/slides/slide10.xml" Id="Rf6e24173cb3c47d1" /><Relationship Type="http://schemas.openxmlformats.org/officeDocument/2006/relationships/slide" Target="/ppt/slides/slide11.xml" Id="Re34bd2e828ba4115" /><Relationship Type="http://schemas.openxmlformats.org/officeDocument/2006/relationships/slide" Target="/ppt/slides/slide12.xml" Id="R6f3754f1cdb5482b" /><Relationship Type="http://schemas.openxmlformats.org/officeDocument/2006/relationships/slide" Target="/ppt/slides/slide13.xml" Id="R900420333ed04027" /><Relationship Type="http://schemas.openxmlformats.org/officeDocument/2006/relationships/slide" Target="/ppt/slides/slide14.xml" Id="R05c1f046d6824e00" /><Relationship Type="http://schemas.openxmlformats.org/officeDocument/2006/relationships/slide" Target="/ppt/slides/slide15.xml" Id="R4ce78c4cb6c14482" /><Relationship Type="http://schemas.openxmlformats.org/officeDocument/2006/relationships/slide" Target="/ppt/slides/slide16.xml" Id="R550c6eef596d4e62" /><Relationship Type="http://schemas.openxmlformats.org/officeDocument/2006/relationships/slide" Target="/ppt/slides/slide17.xml" Id="R222bb9fe8ef748cc" /><Relationship Type="http://schemas.openxmlformats.org/officeDocument/2006/relationships/slide" Target="/ppt/slides/slide18.xml" Id="R929ce603653d4a79" /><Relationship Type="http://schemas.openxmlformats.org/officeDocument/2006/relationships/slide" Target="/ppt/slides/slide19.xml" Id="Raa1f2042b8d54be0" /><Relationship Type="http://schemas.openxmlformats.org/officeDocument/2006/relationships/slide" Target="/ppt/slides/slide20.xml" Id="R021b82227f424146" /><Relationship Type="http://schemas.openxmlformats.org/officeDocument/2006/relationships/slide" Target="/ppt/slides/slide21.xml" Id="R7d7dfb7024c14a9a" /><Relationship Type="http://schemas.openxmlformats.org/officeDocument/2006/relationships/slide" Target="/ppt/slides/slide22.xml" Id="R47e18b3e7ab944cb" /><Relationship Type="http://schemas.openxmlformats.org/officeDocument/2006/relationships/slide" Target="/ppt/slides/slide23.xml" Id="R038cbfb99b0645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a3ecfe165841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17004b6ee2469e" /><Relationship Type="http://schemas.openxmlformats.org/officeDocument/2006/relationships/notesMaster" Target="/ppt/notesMasters/notesMaster1.xml" Id="R7cb90c34c2b248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ef0d3d146249f4" /><Relationship Type="http://schemas.openxmlformats.org/officeDocument/2006/relationships/notesMaster" Target="/ppt/notesMasters/notesMaster1.xml" Id="R3fe720513d044c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4d908fc2814c2f" /><Relationship Type="http://schemas.openxmlformats.org/officeDocument/2006/relationships/notesMaster" Target="/ppt/notesMasters/notesMaster1.xml" Id="Ref574b043a4542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44c00fa230413c" /><Relationship Type="http://schemas.openxmlformats.org/officeDocument/2006/relationships/notesMaster" Target="/ppt/notesMasters/notesMaster1.xml" Id="R87bdd87f7e4543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4315d39035419d" /><Relationship Type="http://schemas.openxmlformats.org/officeDocument/2006/relationships/notesMaster" Target="/ppt/notesMasters/notesMaster1.xml" Id="R780d2f446df348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4f8ce66fab42dc" /><Relationship Type="http://schemas.openxmlformats.org/officeDocument/2006/relationships/notesMaster" Target="/ppt/notesMasters/notesMaster1.xml" Id="Rb3fc380c400247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bb61d6964a43b5" /><Relationship Type="http://schemas.openxmlformats.org/officeDocument/2006/relationships/notesMaster" Target="/ppt/notesMasters/notesMaster1.xml" Id="R0356a73c59814f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df0191d27d49c8" /><Relationship Type="http://schemas.openxmlformats.org/officeDocument/2006/relationships/notesMaster" Target="/ppt/notesMasters/notesMaster1.xml" Id="R59ca611c63e946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faf3550b08e40ff" /><Relationship Type="http://schemas.openxmlformats.org/officeDocument/2006/relationships/notesMaster" Target="/ppt/notesMasters/notesMaster1.xml" Id="R373800f4a5d341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74dbab43de4468" /><Relationship Type="http://schemas.openxmlformats.org/officeDocument/2006/relationships/notesMaster" Target="/ppt/notesMasters/notesMaster1.xml" Id="R4980be8ac84943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77a97636ae4667" /><Relationship Type="http://schemas.openxmlformats.org/officeDocument/2006/relationships/notesMaster" Target="/ppt/notesMasters/notesMaster1.xml" Id="R57922021ae26451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933583d92874256" /><Relationship Type="http://schemas.openxmlformats.org/officeDocument/2006/relationships/notesMaster" Target="/ppt/notesMasters/notesMaster1.xml" Id="R7e349e8403b641a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5e68a3c74de4ae7" /><Relationship Type="http://schemas.openxmlformats.org/officeDocument/2006/relationships/notesMaster" Target="/ppt/notesMasters/notesMaster1.xml" Id="R0372efb89f4243d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674a839ceca4729" /><Relationship Type="http://schemas.openxmlformats.org/officeDocument/2006/relationships/notesMaster" Target="/ppt/notesMasters/notesMaster1.xml" Id="Rf6a72e3bbf7c421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a05268edfd463b" /><Relationship Type="http://schemas.openxmlformats.org/officeDocument/2006/relationships/notesMaster" Target="/ppt/notesMasters/notesMaster1.xml" Id="R2416415109dc4ef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31d9ec5a4454fcc" /><Relationship Type="http://schemas.openxmlformats.org/officeDocument/2006/relationships/notesMaster" Target="/ppt/notesMasters/notesMaster1.xml" Id="Redd98584035e44f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b2c5efd8f534d6a" /><Relationship Type="http://schemas.openxmlformats.org/officeDocument/2006/relationships/notesMaster" Target="/ppt/notesMasters/notesMaster1.xml" Id="R213c02950bb6462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ce398cfc7b0441c" /><Relationship Type="http://schemas.openxmlformats.org/officeDocument/2006/relationships/notesMaster" Target="/ppt/notesMasters/notesMaster1.xml" Id="R486ee7130a54424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b9f0f66bb504012" /><Relationship Type="http://schemas.openxmlformats.org/officeDocument/2006/relationships/notesMaster" Target="/ppt/notesMasters/notesMaster1.xml" Id="R00fac52a82694a7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4aee0f537854d32" /><Relationship Type="http://schemas.openxmlformats.org/officeDocument/2006/relationships/notesMaster" Target="/ppt/notesMasters/notesMaster1.xml" Id="Rf19f6170c07d467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0bfb603cfbb48c8" /><Relationship Type="http://schemas.openxmlformats.org/officeDocument/2006/relationships/notesMaster" Target="/ppt/notesMasters/notesMaster1.xml" Id="R73686acdfa4d4a1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bfea484f4db426f" /><Relationship Type="http://schemas.openxmlformats.org/officeDocument/2006/relationships/notesMaster" Target="/ppt/notesMasters/notesMaster1.xml" Id="Ra79456c56cad447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35a6c9bceb341da" /><Relationship Type="http://schemas.openxmlformats.org/officeDocument/2006/relationships/notesMaster" Target="/ppt/notesMasters/notesMaster1.xml" Id="R8dedd71464314c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c7c1a3db3747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4c0e29f69843b9" /><Relationship Type="http://schemas.openxmlformats.org/officeDocument/2006/relationships/slideLayout" Target="/ppt/slideLayouts/slideLayout1.xml" Id="R28ac90b3edd844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ac90b3edd844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64953b5ce4848" /><Relationship Type="http://schemas.openxmlformats.org/officeDocument/2006/relationships/notesSlide" Target="/ppt/notesSlides/notesSlide1.xml" Id="R9c64a60bc32249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12c02c17e4379" /><Relationship Type="http://schemas.openxmlformats.org/officeDocument/2006/relationships/notesSlide" Target="/ppt/notesSlides/notesSlide2.xml" Id="R5d7aeeeb29b74d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40f8eb9a274d74" /><Relationship Type="http://schemas.openxmlformats.org/officeDocument/2006/relationships/notesSlide" Target="/ppt/notesSlides/notesSlide3.xml" Id="R80dec24a06cb47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a6bd39421542bc" /><Relationship Type="http://schemas.openxmlformats.org/officeDocument/2006/relationships/notesSlide" Target="/ppt/notesSlides/notesSlide4.xml" Id="Rfcdbdc5b770d44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35ba6c96b435f" /><Relationship Type="http://schemas.openxmlformats.org/officeDocument/2006/relationships/notesSlide" Target="/ppt/notesSlides/notesSlide5.xml" Id="R98425e14997442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7e6ef1468e4c42" /><Relationship Type="http://schemas.openxmlformats.org/officeDocument/2006/relationships/image" Target="/ppt/media/image.png" Id="R669171a201d944e2" /><Relationship Type="http://schemas.openxmlformats.org/officeDocument/2006/relationships/notesSlide" Target="/ppt/notesSlides/notesSlide6.xml" Id="Rb43516d7d17b41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4f784818f40e3" /><Relationship Type="http://schemas.openxmlformats.org/officeDocument/2006/relationships/notesSlide" Target="/ppt/notesSlides/notesSlide7.xml" Id="R7c88797f37f640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8eabd6c624d9e" /><Relationship Type="http://schemas.openxmlformats.org/officeDocument/2006/relationships/image" Target="/ppt/media/image2.png" Id="Rbbdb3e2d2c294e5e" /><Relationship Type="http://schemas.openxmlformats.org/officeDocument/2006/relationships/notesSlide" Target="/ppt/notesSlides/notesSlide8.xml" Id="Rdaee511185fb40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3be78db3e4216" /><Relationship Type="http://schemas.openxmlformats.org/officeDocument/2006/relationships/chart" Target="/ppt/slides/charts/chart1.xml" Id="R569f0d813cdd47db" /><Relationship Type="http://schemas.openxmlformats.org/officeDocument/2006/relationships/notesSlide" Target="/ppt/notesSlides/notesSlide9.xml" Id="Rd030029b67cd45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b13bb30734f65" /><Relationship Type="http://schemas.openxmlformats.org/officeDocument/2006/relationships/image" Target="/ppt/media/image3.png" Id="R54c47b7dbe9248f6" /><Relationship Type="http://schemas.openxmlformats.org/officeDocument/2006/relationships/notesSlide" Target="/ppt/notesSlides/notesSlide10.xml" Id="Re5fa8a33996b4c4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61c01afd648f3" /><Relationship Type="http://schemas.openxmlformats.org/officeDocument/2006/relationships/image" Target="/ppt/media/image4.png" Id="R899787cdf8a74a25" /><Relationship Type="http://schemas.openxmlformats.org/officeDocument/2006/relationships/notesSlide" Target="/ppt/notesSlides/notesSlide11.xml" Id="Rc45dbd5648064e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eead75e9d4bf8" /><Relationship Type="http://schemas.openxmlformats.org/officeDocument/2006/relationships/image" Target="/ppt/media/image5.png" Id="Rcb4e92a619af423f" /><Relationship Type="http://schemas.openxmlformats.org/officeDocument/2006/relationships/notesSlide" Target="/ppt/notesSlides/notesSlide12.xml" Id="Rb8b0ac9a9064443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6c28d3f5e45f9" /><Relationship Type="http://schemas.openxmlformats.org/officeDocument/2006/relationships/notesSlide" Target="/ppt/notesSlides/notesSlide13.xml" Id="Rdec43eadbcd943c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ca6d658d14fe0" /><Relationship Type="http://schemas.openxmlformats.org/officeDocument/2006/relationships/notesSlide" Target="/ppt/notesSlides/notesSlide14.xml" Id="R613e897d71b94a7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5af53250c4087" /><Relationship Type="http://schemas.openxmlformats.org/officeDocument/2006/relationships/notesSlide" Target="/ppt/notesSlides/notesSlide15.xml" Id="Rfbe772d61253460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4104e19174c72" /><Relationship Type="http://schemas.openxmlformats.org/officeDocument/2006/relationships/image" Target="/ppt/media/image6.png" Id="Rfde9b9bc7951430f" /><Relationship Type="http://schemas.openxmlformats.org/officeDocument/2006/relationships/notesSlide" Target="/ppt/notesSlides/notesSlide16.xml" Id="R77a4291e912f4f0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dbea3891c453b" /><Relationship Type="http://schemas.openxmlformats.org/officeDocument/2006/relationships/notesSlide" Target="/ppt/notesSlides/notesSlide17.xml" Id="R48e7edf74c8c468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1401287017411f" /><Relationship Type="http://schemas.openxmlformats.org/officeDocument/2006/relationships/image" Target="/ppt/media/image7.png" Id="Rdc38b0dbfa054cc3" /><Relationship Type="http://schemas.openxmlformats.org/officeDocument/2006/relationships/notesSlide" Target="/ppt/notesSlides/notesSlide18.xml" Id="R16ab4c56139a466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c360dabd24765" /><Relationship Type="http://schemas.openxmlformats.org/officeDocument/2006/relationships/notesSlide" Target="/ppt/notesSlides/notesSlide19.xml" Id="Ra862c2d494a2459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23bbc1cc74922" /><Relationship Type="http://schemas.openxmlformats.org/officeDocument/2006/relationships/image" Target="/ppt/media/image8.png" Id="Rb89d5f5972214f00" /><Relationship Type="http://schemas.openxmlformats.org/officeDocument/2006/relationships/notesSlide" Target="/ppt/notesSlides/notesSlide20.xml" Id="R15f83c9b0bc146d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404e5a4b44181" /><Relationship Type="http://schemas.openxmlformats.org/officeDocument/2006/relationships/notesSlide" Target="/ppt/notesSlides/notesSlide21.xml" Id="Ra0ec1861325f49a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25c0b534b4d91" /><Relationship Type="http://schemas.openxmlformats.org/officeDocument/2006/relationships/image" Target="/ppt/media/image9.png" Id="R9790f149f3da4ac8" /><Relationship Type="http://schemas.openxmlformats.org/officeDocument/2006/relationships/notesSlide" Target="/ppt/notesSlides/notesSlide22.xml" Id="Ree219507fba946c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39c1689164b45" /><Relationship Type="http://schemas.openxmlformats.org/officeDocument/2006/relationships/image" Target="/ppt/media/image10.png" Id="R685021adc2aa4820" /><Relationship Type="http://schemas.openxmlformats.org/officeDocument/2006/relationships/notesSlide" Target="/ppt/notesSlides/notesSlide23.xml" Id="R433ebe6b67704906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Strategy</c:v>
          </c:tx>
          <c:spPr>
            <a:solidFill xmlns:a="http://schemas.openxmlformats.org/drawingml/2006/main">
              <a:srgbClr val="FF6B35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2.23827026790857</c:v>
              </c:pt>
              <c:pt idx="1">
                <c:v>105.99847113368699</c:v>
              </c:pt>
              <c:pt idx="2">
                <c:v>-22.6109990928716</c:v>
              </c:pt>
              <c:pt idx="3">
                <c:v>138.140043213633</c:v>
              </c:pt>
            </c:numLit>
          </c:val>
        </c:ser>
        <c:ser>
          <c:idx val="1"/>
          <c:order val="1"/>
          <c:tx>
            <c:v>Basket hold</c:v>
          </c:tx>
          <c:spPr>
            <a:solidFill xmlns:a="http://schemas.openxmlformats.org/drawingml/2006/main">
              <a:srgbClr val="000000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58.442044682227504</c:v>
              </c:pt>
              <c:pt idx="1">
                <c:v>227.277921974783</c:v>
              </c:pt>
              <c:pt idx="2">
                <c:v>-53.0417801301569</c:v>
              </c:pt>
              <c:pt idx="3">
                <c:v>133.45555861176902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C61443-AE02-4BA7-8A5D-4F908549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GEN5.3 RESEARCH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99652-6195-4522-8B9E-19A8550C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9334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Annual continuity replay made the next strategy question sharper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F3FC37-1A1E-4534-8223-C33C2F02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The corrected one-year screen keeps risk-aware context, the workhorse PCA surface, and continuation replay as the control lane. It also shows that the EMA-only pool may be too narrow to judge the broader hypothesis.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5127B-D8A1-4C7E-A57E-6E4436C2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899C1-9985-46A7-9E2A-174A4482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Continuity packet: runs/research_workbench/gen53_momentum_context_size/g53_momctx_20260711continuity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0FFF8-F8E8-4524-98F5-727E0B4A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605852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9EFEB7-3314-407B-831D-FFB8A9ED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818A01-8870-4138-9E6D-66ED3637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test changed because one quarter was too sparse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09BC37-9025-4C4A-A4F0-874D29F7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5C7FC6-5FF6-4B50-9BB9-4946871B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514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prior slices were useful for mechanics, but they did not give much OOS surface area: a five-symbol live basket can easily look good or bad from a handful of trades in one quarter.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2FE05-2480-41CD-A3E7-0411147E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62150"/>
            <a:ext cx="4229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757E6-8100-431E-BF54-128EEF5A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90900"/>
            <a:ext cx="42291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4A9E8D-D4A3-427D-8200-4C8E0C0E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8695EB-007C-4155-944E-BFB695B5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One OOS quarter. Faster, but low resolution for alpha and trade behavior.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2F02C-4C5C-4543-8DF6-32715DF3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67647"/>
                </a:solidFill>
              </a:defRPr>
            </a:pPr>
            <a:r>
              <a:rPr sz="1650" b="1">
                <a:solidFill>
                  <a:srgbClr val="067647"/>
                </a:solidFill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3AA4C-888F-4920-A3BD-2B796E0A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62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Four independent quarterly TRAIN authorities replayed across one year, with open trades carrying until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37BE3-0395-4B77-905D-035B82D1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This keeps the leakage boundary and avoids artificial quarter-end trade resets.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79DF80-CCD9-4DE0-8AA0-FE4E215C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352271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6423A7-7B58-475A-9546-013FFE49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F8716-3F8E-4FAA-9546-1F3DFAEC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screen isolates a narrow EMA-only participation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27FD1-0BC8-498B-A871-6F1A19C2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612DC-DE16-4967-A2C2-DF08E324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E3A92-B046-4635-82CC-E3477340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A222FE-A170-459E-83D2-B1EA14EF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AMD, NVDA, TSLA, MSTR, AVGO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8B6F35-9DEB-40BE-BC26-A846D4FD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EB5979-8035-40FC-AC84-500C2A7A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Context 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40208-D438-451D-AF25-32C59675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5 self assets; 12 with high-beta peers; 18 with peers and risk anchors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55369-E351-4FCE-9DDB-A45FEBDB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EFC78-B782-4F97-9818-6F0C7E80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Feature axis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00CD74-081C-4D51-B24F-5028C451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Workhorse enriched; momentum participation; momentum plus stress; market-relative momentum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70F1CD-DA38-425B-8372-DE9CA119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6F40DF-8BAB-46C3-A470-581ED9AA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Strategy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99F6DB-9A14-46DF-8DC0-BCA9E089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EMA cross, EMA trend, no-trade, no-trade exit-immediate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7B853B-E2B5-4E56-BA62-2D52FA7E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Selection policy stayed fixed at pooled-family asset-variant, so this slice asks about feature design, context size, and replay semantics rather than reopening the whole Gen4-vs-Gen5 selection debate.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A696AB-42A6-4955-B52A-6AE50700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9978575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0B77D-9DD9-4959-95AD-26B2C8FC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1751C-B65E-4823-BCFF-99D9AB28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aggregate lane was risk-aware context plus the workhorse feature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B66475-724B-4EE3-B212-C5FCC79A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8BA925-2730-4B97-BC6B-3BD9E9EE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9886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44626D-BEA0-4A3E-8D3F-D0A9AE50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Best lane: Live + peers + risk anchors + Workhorse enriched + continuation. Mean return 55.9%, mean alpha -35.6 pp, exposure 40.3%.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9830E-B618-4F18-9793-79FB5C27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0FDD1-AB4E-4081-85C3-166E8CC8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5C85CE-11F7-4084-A344-8A6BFAA0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ADAD67-8B49-461B-802F-3782BB3E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0252A-A5C0-4411-960D-254F80A6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3E27D-1247-4AC6-9951-33CF9505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691199-FC2E-48DC-9DFB-4F9574E1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376D34-3B91-4ECA-84F2-1F56961F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E405FB-5635-4218-B046-4739102B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0928D-E914-45DD-89E6-C89FFF47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F3B904-5093-4673-903A-6E8F1A7C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E6839F-FE36-4100-8620-764F3355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B87430-A6A2-49A1-9509-41466EDC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30CFE0-AF39-425C-8581-BFF116A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A6F2D6-ADE6-4BD1-B03C-7CC4D892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B191E-1478-4433-BF1D-678BD504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98D05-3B6A-406F-BE33-758580B5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F0AF00-78D6-4057-9E84-E01B77CD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7B56D6-8F66-479A-AF9D-3403FAA3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119364-32E9-4F89-8AF7-DFB45D87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0D7C58-457D-4A7D-A79E-3B830BCC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629CBD-9143-46C4-8379-23C5609C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9CF662-5625-444A-9B2B-0AF7B2B5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8D263A-5E3D-4DAB-89E8-4AE680D2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C66B78-AD44-42AA-A5DC-EF915FD6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9F4255-0DFE-4E82-8089-344977A5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5F0A38-EE36-41CE-8567-2A78A135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B8AE46-5CC4-45B7-9B5B-4102D928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261556-DB05-4CB7-8E14-B2522D8B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75C01FA-037C-4059-9774-8CE166B5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E02EAD-C20C-416F-BEBA-CD858454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8AAF2C-0C84-43E9-9C3B-F953BBFD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9D35CE-D7AC-4ADE-A020-00074542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7B560B-450D-4D63-B8AD-009E81A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fresh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BA2926-CF04-4782-9A0E-623DC716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1B22FA-0126-4698-AA02-7DDBCEA1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4721272-634E-4F85-A9A9-E547EC3F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EE04122-61A5-4A48-A37E-14EB164E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38.6%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EA9B41-1AB4-40B1-A6DB-08DCC862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0AEADD-FA15-45AC-9D3D-57C18050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-52.9 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BB14FF-211C-4936-B678-577E068C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0CBF4AD-61C0-4173-B3E7-443903A8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26.3%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66DE90D-0C12-4937-8D46-03782F6D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56E0713-E5B5-40AB-B61D-14042200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8E74D8-DC54-440E-9E7E-4635C66C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5CB6D52-00CC-43C3-8CB2-C2B97972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D8FD9AE-B544-431F-8554-0CAD8AA2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23FA2F-7F23-4070-84DA-8E8CF0CD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5874A33-1955-463D-AE19-E5BDA2A0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2F175E7-8D8A-480F-B9A7-4582BAD7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64ABDDD-8AF8-45AF-B586-2B2449CA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5A94769-8458-47AB-B228-6C1BDDD3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7AF0B8C-4F97-46AB-B3E0-F67DF9AE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5E13A47-D976-4A29-9C1F-5A7B9DE9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0E60C1F-7E11-4363-B0A5-77632E14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77BC4B-EFB9-4CEB-BCBF-50FBD7A8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CC723BC-9388-4587-A950-FFCC4F66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77110CB-1200-481E-AF23-5DA0D077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basket only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58630E0-2A29-4788-AE76-2B7E95B5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AC43E40-C635-42C8-9920-E2BA7B7E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participation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19B18F-CCD6-46C2-9F58-0A1C74AF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8DA1523-FA6E-4E78-B342-545DDBCE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910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37F5814-156F-4F79-AA61-9EF18D23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F97E4F9-C5FD-4CA8-87E9-EAA1883D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D0CAEB3-99EE-4B8C-B9F3-35BF2C43D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41E553F-7D84-4DDF-A502-240B3C68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30.9%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0E97BC0-D519-4A30-BC8D-27528655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672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024CF13-0D0F-4D86-8DF1-FD09EA21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910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-60.6 pp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0617935-9143-49AD-9948-CEFA9C41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05B4B73-E899-4530-81EF-6C1A482B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3910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39.3%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23C698B-B26A-4F95-AF39-F9D4282D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97BAF86-82E2-42BB-AF88-77016C91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high-beta peers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2FB21C8-DED1-4911-BC78-C9286C0B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68EC748-C733-40D0-A2D0-29191107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6AA640F-B1C8-4F30-8D9B-A4DCA0C6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7815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82447B6-D02C-4632-AFA7-8CBAC55D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9053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39FED04-C52E-4E27-A017-3665D239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93B71A5-42D0-4889-A850-DDE29A27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E571296-6395-4FD0-98FA-60BBD87F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ED9061C-2F87-4999-A458-66E7A1F2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29.8%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14F8DB7-3083-4486-9719-4BE8EAAE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815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E9932FC-4BA3-43A5-9745-985DE0EB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053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-61.8 pp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7737E7C-8EB4-494E-9DF7-6EA8548F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815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854C1BE-DDFD-4C4E-A560-91454983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053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34.0%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2E31A7F-2797-4231-A60F-59C020CF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Even the best lane did not beat equal-weight high-beta hold on average. The signal is subtler: broader risk-aware context made the specialist less bad against a very hard benchmark and produced positive alpha in two annual windows.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26F4F51-8837-46E0-954E-ECF88D83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648904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909B29-4D92-4774-8CFE-D963F528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6BC6F0-AEB2-495D-B217-7940EFE0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Continuity replay corrected the optimistic annual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5E5FA-D7DE-4C50-91DB-944CB135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45BE8-5665-4B89-92B8-02E4FA00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independent-stitch packet was useful as a first annual inspection, but it could reset open trades at quarter boundaries. The continuity packet asks the live-like question: keep the quarterly authorities independent, but let open trades carry until flat.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15E656-24E6-4210-A3CE-804BE156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19FA1-429B-4A78-B9D5-82BF1E27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return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6E0F07-7C20-4C25-915A-B0FF9842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81.7%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745B8-1137-4261-A815-F166C9E9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42DD6-C549-4D97-8FC0-2E81B6B0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55.9%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57CAE-275F-44E3-9ABD-BB8799A4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F01E8-5198-41D8-BB33-E966FE5D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Alpha vs basket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B233F9-5295-4C8D-864A-EA082646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-9.8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F2BD32-CECE-4561-B82F-184FB98B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247A00-F7F5-4D99-876E-20950EE1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7A4C51-E36D-4349-8FE0-FE0AFB21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27EAC7-8469-4447-B910-8F10A715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exposure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EACBC-5F22-4FED-A6C6-9EA59364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64.6%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6AD3CC-EB5A-4FC5-B1F4-7F9F9F80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524B85-F060-490C-807D-92BEACBC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40.3%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78DB44-CFAA-4F29-8CB8-6DBD14F2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BA9EFC-58DB-4FF7-B5B0-C8D0D179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EA727D-B2FE-4B25-922E-246CFC72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2/4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855C0D-081D-4B3C-A5A9-E03DDF8A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A4EF0A-732A-4887-8D02-A0201BA3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DE73A9-FDC6-4248-9F7F-DEC39C5B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962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448 symbol/boundary cases carried prior authority until flat, and 4 carried through annual as-of. The boundary mechanic materially changed the evidence.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FBE86-540A-40EE-9370-4ECCAB6A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808184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D971BB-A3A7-466C-9153-99DA905F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018193-833F-4CBC-AC4D-2597ECEA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annual heatmap shows why this is not a simple feature-set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55B920-5D65-4403-BAB0-2647D777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171a201d944e2"/>
          <a:stretch xmlns:a="http://schemas.openxmlformats.org/drawingml/2006/main"/>
        </p:blipFill>
        <p:spPr>
          <a:xfrm xmlns:a="http://schemas.openxmlformats.org/drawingml/2006/main">
            <a:off x="2659700" y="1695450"/>
            <a:ext cx="2091049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B6B9D1-2670-4787-8139-42CBC843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34290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664B3-D470-4054-AAC1-F97300E8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050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8C648-383C-4009-BBDD-21A6D889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71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B37632-2BB9-4F88-92C8-558FECD3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765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 remains punishing because basket hold returned about 227%.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DCEC75-6465-402D-860A-3779B6E0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B068EB-8F6E-475A-A79B-50AA9402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 rewards staying out of a falling high-beta basket.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9D0AF-90DE-4AFA-ABFF-24D67BA0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870754-CBE1-4749-8777-5A687211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147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2024 is the clean positive clue for risk-aware workhorse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5A20CD-887D-48C6-A115-F17AA471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36EECA-147B-4AD8-A515-30790C68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338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New momentum feature sets did not become the aggregate default.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5B357-5E76-43C1-9BA6-F088FF1B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887114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A57D36-F0FA-4A6A-9162-952DD4F0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7F9A4-0E31-4135-8842-775B4B57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still tells a mixed window-by-window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DEE6B-75F5-4FE4-A3F9-5DED4CB0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40F72-4439-4C7C-863C-6D906B86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001C3-E9D4-4E2A-B4A2-4643742D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78468-6E77-4795-B520-D2043752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-56.2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C78A9E-1274-40D2-9E15-7E4A392A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C4261-D3B1-49ED-AAED-97220D89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2.2%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68602-8065-471F-B345-01AA43E4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58.4%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DED15-9E3D-4555-B41B-E091FF87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153E3E-5204-4199-99B3-92B2984A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BE0B0-19CF-49F5-B7C7-D28D6F0E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1AD324-5B83-4AFF-946E-B4487786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6C8001-44AA-40D3-8B64-A64AA050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106.0%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BAFEC-6F26-4028-B0FC-47813B15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227.3%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9F9F3A-C9CD-4008-854A-A17FDCE5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BA95D-BF06-4DA5-9B33-1F733A4F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301139-1340-4DFA-B889-C932D29E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A1CF7A-0699-4B0E-9CDB-4B4B63E2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B58C3C-201A-4D65-ABC7-B100F814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-22.6%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AC8672-DEF5-44C3-84BB-76E992BD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-53.0%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A62DE6-C04D-473E-9A85-74E100C0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AA5320-CA48-4C39-B177-12E82161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FE69BA-E403-4D72-9D76-F4772C75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+4.7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9436F5-3E5C-4FEC-AEB0-616C3BF6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B42670-9BE4-48FD-AA5D-5AADC4E6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138.1%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06B44B-EC4B-46EA-A26C-E1BD6D3D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133.5%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C65C2C-A637-403D-9D23-C8046ABC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Annual windows reveal a useful profile: strong 2024 participation and decent 2022 defense, but still serious undercapture in 2019 and 2020 high-beta upside.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1073E0-11AB-4FA9-9782-2FE38008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641196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5B30E0-B741-4046-9947-FA7F0919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1A416-E5D5-4CD9-8F98-2C07A12D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Exposure helps, but simply being long more is not the whole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B83F9-FFC1-4CA3-B0BB-1142D52A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b3e2d2c294e5e"/>
          <a:stretch xmlns:a="http://schemas.openxmlformats.org/drawingml/2006/main"/>
        </p:blipFill>
        <p:spPr>
          <a:xfrm xmlns:a="http://schemas.openxmlformats.org/drawingml/2006/main">
            <a:off x="967154" y="1695450"/>
            <a:ext cx="6066692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29930C-58A3-4AAB-95AD-EE50BEF9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F3939A-0728-4867-BF40-C0D41719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Readout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CF292-A002-4FE9-BA46-80F6817F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Continuation generally lifts exposure, and the better lanes cluster at moderate-to-high participation. But many high-exposure points are still deeply negative versus basket hold, so timing and state discrimination still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3034BD-0B1E-4BCF-A823-2D425019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0058504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F40D3D-B7FE-4178-92A2-B7B0F614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B52053-6B38-4443-9F69-49953C4B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beats in 2022 and 2024, but misses the big upside years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4CFA1F-D613-4315-AAA7-7859BE2B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38200" y="2000250"/>
          <a:ext xmlns:a="http://schemas.openxmlformats.org/drawingml/2006/main" cx="6572250" cy="3600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9f0d813cdd47d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8C9781-ADFA-47F8-8592-22E4A573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29146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F0DD6-E7DF-4176-8703-D9915390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What the chart adds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16BD0-0A33-450C-9DD4-C4A0E920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AF5E7-5D18-4E29-87C9-03DBB9D6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2020, the benchmark was too strong for a timing layer to catch.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15974-8BDB-4859-80F5-21036E3B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81B90-81F5-480E-B98D-49D98DCC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2022, the system's partial exposure was valuable.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2B9EEC-F634-452F-AEA1-8BA8439D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E92AAA-C056-42F2-8007-B4666823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2024, the same lane finally beat the high-beta basket while still trading selectively.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B99B26-4909-4262-8593-5DF02C69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19711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30A29B-B070-42C5-ABAD-EE4ED30C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D7E1C9-2620-4CCB-ADB6-3388200E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authority map is cash-dominant, which explains part of the underparticipation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1C084F-CE07-47A6-83C8-311232AC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c47b7dbe9248f6"/>
          <a:stretch xmlns:a="http://schemas.openxmlformats.org/drawingml/2006/main"/>
        </p:blipFill>
        <p:spPr>
          <a:xfrm xmlns:a="http://schemas.openxmlformats.org/drawingml/2006/main">
            <a:off x="792256" y="1790700"/>
            <a:ext cx="6264088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245FA9-0A1B-44C4-9B1C-36C0139D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71700"/>
            <a:ext cx="3219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D40EB-FF72-43A1-BF79-6D01A620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Sanity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1DDEE-828F-4815-B6C4-12458A77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257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Across the full annual screen, no-trade remains the dominant selected authority in many asset-state cells. That is philosophically clean for a specialist, but it also means missed upside is expected unless the favorable states are timely and persistent.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042F13-2327-41D3-B2C5-15136BAC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171038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840C7B-93B0-46E0-8B0E-A5FDB65C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BB623F-B96E-4149-80B9-C308BC65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Representative tapes show both the promise and the weakness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E4D51-730B-4C26-8703-E945BDF8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9787cdf8a74a25"/>
          <a:stretch xmlns:a="http://schemas.openxmlformats.org/drawingml/2006/main"/>
        </p:blipFill>
        <p:spPr>
          <a:xfrm xmlns:a="http://schemas.openxmlformats.org/drawingml/2006/main">
            <a:off x="2237466" y="1638300"/>
            <a:ext cx="375466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906CDF-0C45-4102-AE0F-213BF5A9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2857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370501-1718-40CA-AC20-F5563E53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516AAD-580E-42CD-B82C-F9DC0F05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4799B8-A667-4D68-83D4-AE834461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AMD shows churn and missed/stopped participation.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468F1B-AE66-45CE-A0D2-80572C88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6F80FB-41D1-4776-A731-544FDD16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NVDA, TSLA, and MSTR show the lane can ride substantial trends.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F945A-9470-465C-A157-1126CDF0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0C24D9-8BEA-4D0B-9B9B-2D2AE540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433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Open exit signals at year end should be inspected in the next tape audit.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ADD6FC-0214-48E7-867C-CC4DA1B2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909099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F32B35-0D3E-42E0-BE01-BB3AA0C9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D612C-9765-4916-AF1C-673FCDA6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2020 tapes show late and uneven bullish 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6D85F4-9D72-4F2E-8427-47BE831F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e92a619af423f"/>
          <a:stretch xmlns:a="http://schemas.openxmlformats.org/drawingml/2006/main"/>
        </p:blipFill>
        <p:spPr>
          <a:xfrm xmlns:a="http://schemas.openxmlformats.org/drawingml/2006/main">
            <a:off x="1417493" y="1600200"/>
            <a:ext cx="5585114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EBA9E-06F4-41AF-92FA-BDFEACC2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2781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FB0297-3552-4040-9E99-EAC48588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241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to notice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5DB621-6E39-4D49-BCC2-1FD9C64F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605A7A-8F6C-45F9-B3F4-DCBC8B02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146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TSLA and MSTR rally for long stretches before entries appear.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C4F628-F979-448B-9C87-ACAC76D8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67DD2-8559-48A1-905A-0AF2C965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71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State bands change often, but many strong stretches stay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FFB7EC-125C-46DF-BEBE-64D10C3C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47F5DA-B3AE-400E-8745-F93F1A5C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290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EMA overlays show price trend was visible.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715C98-9C28-4037-A4DE-78B62E1F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962650"/>
            <a:ext cx="954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The engine did trade, but it did not stay long enough early enough in the strongest bullish year.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231C23-031A-4BF5-9FEF-B3E2D0A2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0564291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D4CE58-2061-4383-8F09-16766D1A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14F3AF-A0C9-4867-9FD4-6FDF12E4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next narrow screen should reopen strategy diversity carefully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CEDD5-4E82-47CF-996A-CB0BDE4C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9DBE52-A6DF-4930-97BA-60E04ED4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FABA5-B41B-468F-B289-FF46A873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2D83E8-4AB8-499E-BFB6-98AFF5C7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Hold fixed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D176D1-46BE-41F8-8ECE-C8260B5F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BA6EE9-1B13-4F1D-853F-AD11652E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Context: hb_risk_aware_18.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F72E2-4F95-4ED3-B4EB-9DF07D50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B4B8FD-151F-46B5-B6FB-4E0342BA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Feature control: workhorse_enriched.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C59603-6386-41A3-A8B4-E1A7C57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E2C093-DCA9-4D86-A821-9BADC096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Replay: quarter_continuity_replay plus state-switch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7B01F8-01B3-4CEC-AECD-F203BD6F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BABE03-F688-49A8-8B39-03AEBEEB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Benchmark: equal-weight high-beta basket hold.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B268BE-3701-4A97-9E81-24F6E2BA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67647"/>
                </a:solidFill>
              </a:defRPr>
            </a:pPr>
            <a:r>
              <a:rPr sz="2100" b="1">
                <a:solidFill>
                  <a:srgbClr val="067647"/>
                </a:solidFill>
              </a:rPr>
              <a:t>Vary first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6E73E9-8A41-4A33-B4A7-93AC4FD4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1C9EAB-EA56-4DFB-A963-7AD7592A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EMA-only momentum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4E0B23-A879-42FF-8A1F-AF346FB3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889C64-AC60-48FB-9065-14C3E88C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Trend plus breakout expansion.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70F321-6FBA-44C0-A0F1-3A53C72A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9A2848-CF13-480F-82AD-37D927A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Mean-reversion diagnostic pool.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2C6CB8-C224-4092-9255-E99A3D29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59115C-9BA7-482B-86B6-B4750698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Classical full reopened pool.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D43C90-E2BF-475C-97C1-5E72835B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967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cleanest next question is whether the strategy pool was too narrow under the now-correct annual continuity surface.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31BFD4-A462-4464-B47F-DD8E98CC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0855426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379BD3-22E5-4B0E-BD4B-BC4C3D0B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8FCCCA-44A0-4931-9ABE-53F9DAB5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Feature sets should support the strategy question, not explode the grid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7C4E2-F70E-45CB-8EBF-E05C481D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FCBA2-29EF-47BB-B7AC-2A96C545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6DC5D-FDBC-44FF-AA8E-C751D43A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DCF39E-2CD3-43C8-BB96-38BB36C6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workhorse_enriched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42E11-418C-45A0-8D44-89702C4F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Keeps the best observed continuity lane intact.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0E1E8A-CF1B-4B70-979C-8ED0104B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BC987A-D9C2-4FCD-8B27-141C6AE3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Momentum challenger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E3C13-77AD-465A-A166-FCCF779F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momentum_plus_stress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2A2BA-1F57-4C29-B533-DBE7F3FE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Checks whether richer trend and stress descriptors help once strategies are reopened.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D0B467-3E92-44D1-A65A-891CF68B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962FFA-11F9-47FE-8280-834DA550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New diagnostic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45F6B-819B-4777-AF3A-E48B3E32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reversion_breakout_context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DA5433-F9F4-4F69-BCB1-249D9742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Adds range location, volatility compression, stretch, chop, impulse, and recovery cues for non-EMA families.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385646-0F44-47A5-811B-9CB083CD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673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If the reopened strategy pools do not help under these feature sets, the next problem is probably state timing/exposure design rather than missing mean-reversion or breakout families.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4AA988-AFC3-4450-B721-448C8D9B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1146424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135B6E-4691-41A3-9F93-5A4B9E02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8B453-2BB7-4D4E-802D-3BD30EFB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 targeted EMA feature diagnostic improved returns, but did not clear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293B-511B-4295-BFA3-781DF23C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0A1B77-3329-4EBB-8FE4-577C8FB5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After the annual continuity control lane was identified, the next quick test held the high-beta risk-aware context, EMA-only pool, and continuation replay fixed while comparing three PCA feature surfaces.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DC4F3-23F5-4C08-98E7-E8C14E75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A93E9-0A9C-475E-9E21-FB43435C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E18255-AB59-42F1-A606-3BD4D98B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97AC8-171D-451F-8742-076308B4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F1A83-5F13-4B56-95BF-D3AE4CFB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93E24-7D73-440A-B95E-D15C332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B47EA-2774-4D62-AE45-53F8C8E2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F853D5-6D6B-48DA-A5E6-5F0D7438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B9E389-02C2-43A9-9E68-5ACF5D53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DFE290-57D1-4A57-BFFC-AC780360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C8897A-9C1C-4A44-8E86-C3E9F353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FC8257-5D88-4D74-AEA0-CF8BDAAF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459B33-857B-4BC2-B638-845ABA9B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CB84F9-687E-488C-933C-47EB1B9A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CA665-94A7-4448-BBC4-DB6C3D33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60E5B2-5168-47C5-85C3-8AB3C929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1D0225-42D7-4778-9775-3866A32E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F611B2-6436-4D92-ABB6-F5CEBB7C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Reversion-breakout 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D285BD-63E7-4096-8B0B-959E102A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FFC72E-CD71-49A4-AC58-DFC2201F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1CF10D-6A99-4A13-A79B-2C9320D2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2EC67A-365C-4102-BAE1-E2931135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DE7509-C745-48A6-BA15-B841AD8E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CFA003-3682-45E3-8323-03EDB546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68.1%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6AD228-0147-403C-BF2D-C393AC36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5CFEB3-C1E0-462E-90A3-9492EE47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-23.4 pp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EBFC46-2327-421A-9A8A-E4E05501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3015E7-0705-4201-A9D2-51782CA0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48.0%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D93893-D6A2-4CA8-9288-43C76BC3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221408-26AF-4F70-931D-BAB17400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295B51-57E3-48FC-A35E-771DBFAF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14B016-566D-4668-8431-9CD660A2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65E4E5-37E2-45BD-951A-7382361B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A46D2C-36A9-4303-8449-DD8C140E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B026F9-460D-4372-99AD-CEE358BF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A7CF91-34DE-4C7C-81A7-CD9A13F2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A2D3C9-87F1-445A-A0A6-DC545BF2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7F16B76-2935-433A-9930-9BE9D627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DF87F3-BED5-41B6-AFE4-FC8E72A6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96078D3-1BC2-456A-86DA-D904B26F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E45FBA-EADA-4C81-B243-77E30CF5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AC874E0-204F-4D9E-966A-6D6FC1EA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D13A00-93EB-4B2F-A734-33C3F90D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179F2B-0D9D-40AC-A712-F26DC596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5498B49-D7ED-4BB1-8A3A-3B819ED5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B91F7C-39DF-4519-A267-23CD33C1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AB1667-9AA1-4460-9812-E9051408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4B862B5-F5A4-4DC2-949C-05D5D925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76BB332-1A25-416A-B348-BE00D560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BC839C1-2494-433D-99AC-51E16E12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E177AF-4A73-4049-BA5A-73089D8B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5880E0A-690C-41BA-9B41-61768BFA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433A101-0372-4874-A0B3-7A80195B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07B55DC-7646-4953-8967-513FF6E3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1891743-C015-4DB0-A07C-BD901D9B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BFB9993-37A2-4179-B17C-DF514021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30DC902-E365-4B4D-B6AE-EA9712ED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Best diagnostic feature set: Reversion-breakout context. It averaged 68.1% return, -23.4 pp alpha versus basket hold, 48.0% exposure, and beat the basket in 1/4 annual windows.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338139E-5799-47E1-8BE8-508CDDA9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13960626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DC903D-AF55-426E-B4DB-07B0AB3D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442BDC-EBB8-4B14-90B8-510338C3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reversion-breakout feature set raised participation without solving upside capture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35D69-1694-4126-8C79-1A890C6C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e9b9bc7951430f"/>
          <a:stretch xmlns:a="http://schemas.openxmlformats.org/drawingml/2006/main"/>
        </p:blipFill>
        <p:spPr>
          <a:xfrm xmlns:a="http://schemas.openxmlformats.org/drawingml/2006/main">
            <a:off x="1211507" y="1695450"/>
            <a:ext cx="5120787" cy="4591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92EFF-7A98-44CC-8BFF-54DB12BA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76450"/>
            <a:ext cx="3238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C7107-0075-4E35-9D45-A4FDB342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62200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Interpretation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D158A-F03E-4E53-8EC4-4B273169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3C4702-2456-4C09-A14D-A28CC2C1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Reversion-breakout context lifted mean return versus the workhorse control.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4FD8A-B830-4754-A25D-3BB66DD0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2B0D9-1BBE-4A2F-A9B5-082E80CC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480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It came close in 2024 and improved 2019/2020 participation, but still lagged the basket in 3 of 4 years.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574E06-1FC5-45D9-9D11-FA9A4D1C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2ADBA-DC9B-4F40-9E29-E8715F1B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433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argues for better state timing, not a feature-set promotion yet.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628A5A-845B-4517-B87E-5C5453FF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9530530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DA0E35-114D-48BD-8C40-F8BC4579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FCC46-BBD1-46D5-83C0-37173050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Trend and breakout families made the lane more defensive, not more participatory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A30F00-9659-4AC6-BB89-F9806C47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2FCDE-76CB-4461-9D52-591874D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838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EE33C-D1D8-43F5-8DA8-9764D5E2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40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5E281-31EE-48D2-BD5B-A6CCD6F8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03835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0B37A-DDEA-4C82-A936-1D9846F6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24075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Pool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A1563E-D6B7-4CBF-B5E6-AFE59A64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383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8094B2-9EF4-4709-81D8-EDEFFEDF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24075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B025A-83F7-4BBD-B85A-EB8E823C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817A20-818F-4F32-9E18-81238BDF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2BAAA8-9FDC-41F5-B683-1A0271CD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ED70FD-93BB-44B8-BB5D-65C8AAEE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A2282-405C-4956-8608-AA1552CB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070661-6866-4A3C-8704-1055B36F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11ED70-F431-4244-A095-1E0F0F30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405A94-7A3C-4ECB-B4BA-7F4BE328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24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1CA934-DF75-497D-BF3D-1B464CD1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BC12A5-2E6E-474B-8F09-97FFB436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C6A0BB-1D33-4C64-8453-EB321BA8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4003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CD55FA-A535-4DD4-A9DD-F090C2B5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717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91055F-A62D-40E7-875E-5494B37F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03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B93208-B56F-496D-8E2E-440D37C1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106.0%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FE4730-F724-4462-8323-39A32058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EF8F73-7FDD-465A-9106-12BFC6C0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D12632-D84D-4109-AACE-E4CADF68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612F8B-3458-403C-9657-A2DB25B9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58.5%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A304E4-1027-4F30-942B-82869383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06F186-16E1-4A30-9A3F-123A00E7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-18.0%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B07803-A506-4386-AE22-DE728E9F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1DDA19-7189-4608-90A9-4E2D0AFF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FBA34A-6FC2-4DAA-B1A1-F9D70E11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2A6978-BB52-4E69-8962-C5F28DC7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96EFD3-3469-48FB-B5A7-5D9F431D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908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3B1EAB-8101-478C-8DB1-205B8FF1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623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41C9BE-A0C3-4851-876F-7AA83E47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908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E318A5-B90E-49E9-85D7-CC5D9997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623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53.3%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7EE74C-936C-4E22-B849-0798C984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844F18-805B-4DA7-97DB-09601C08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-173.9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2DED86-1494-441E-8038-91D9B15A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C92E1B-F4F3-4F12-B1EE-7DA292FB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36.8%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F9BE8B-CE1D-4F3B-834E-0E790AED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D116DC-A01C-4511-9F74-0C323BBF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-11.6%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AA4E3E-DCEC-4AB2-AF49-B7657D03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908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3EFAF6-46DA-472B-9430-7728292C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AA951B-93E1-4271-8DCC-D600D9F2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B809575-E7CC-43AD-A5D0-91B0AE39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22F70C-DF47-402D-A4F6-03B6275B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814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9C424C0-72E9-4A01-AB0A-D206FB30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528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801AB5-FDF5-4A01-A2FB-4D4BB705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EAC99FC-85AA-4FF3-BA2E-E789DDC9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528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-22.6%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80C58E2-011B-4D84-A4AE-84197D9C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960839-E2CA-4C67-AEE9-34DE4C83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B6AB5E-9D51-41E3-AF7A-B5F0FEBC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7EBEB77-1EFB-409C-BCB1-84B5AE74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16.8%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D7562C-36AC-4312-9CF1-EEB431E2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D14F29F-E786-402F-9CD7-D39BC6EF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-25.0%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515A1C7-531C-4120-AF0E-0BB252BC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814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A6EDAA9-6743-4BD3-9D31-0036424F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52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D4CB75D-06F7-42F9-9B3B-6576645E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3C0F43-1A13-45FF-8A05-AEEFEDBB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CC851AC-5F4C-4CF4-95B8-B4F0F9B6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1719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6EA0F97-FACE-4E89-8C49-52BE973B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434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D0B9442-BC72-4BF2-BD81-3D90B915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719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0F89439-7703-46FC-98FD-077AFEF8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434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-10.8%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14B27AD-5B31-47F1-8FCF-C24FBF39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DF1EBEB-776D-4DCF-A676-1319E2FD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+42.2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9EC006F-F042-4380-A53D-374A3516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859938F-4E56-4238-B346-3EA96338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19.3%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52772A9-EF34-4A46-AE39-2B8D0F59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029D8EF-BD1C-426C-B697-3DFCB489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-12.8%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8ABF115-C2F8-4A04-B9AB-4CA5FA3F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719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4549D6A-EEE1-4F21-AF80-C9D38962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6558537-6AB6-4CF1-B7C3-6F3BCEBD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91150"/>
            <a:ext cx="975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reopened pool improved 2022 defense, but it cut 2020 exposure and return sharply. That is useful selectivity evidence, not a solution to the high-beta upside capture problem.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5C297AB-C929-41B0-881B-389B2B79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6587745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AC7AB4-7FD3-47A5-881F-84409E8F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992191-D587-42CE-ADD1-388D63E0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strategy map explains the defensive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5ABF7-C365-40DB-846D-A60168C0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8b0dbfa054cc3"/>
          <a:stretch xmlns:a="http://schemas.openxmlformats.org/drawingml/2006/main"/>
        </p:blipFill>
        <p:spPr>
          <a:xfrm xmlns:a="http://schemas.openxmlformats.org/drawingml/2006/main">
            <a:off x="571500" y="1744540"/>
            <a:ext cx="6667500" cy="435951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6448D9-FA70-43E4-8E35-A761D54B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71700"/>
            <a:ext cx="3181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1A96A-72C3-4F28-908D-6FA9A22B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09FAB-9C8C-40EF-B73C-B4AECDB6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43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1CDD29-C894-4C59-82D1-7CBA4136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480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Most asset-state cells still select cash.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5FE861-9979-4C46-9D12-A819D36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22F28B-49AA-45AE-88B4-B092038B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Breakout additions appear only in narrow pockets.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829D99-537C-4829-BC18-7B394788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95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54E8BA-1485-482A-AA5B-72FC640B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005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The pool reduced drawdown but did not keep the system long enough in 2020.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9B6DC2-4033-475E-AFA3-209F7571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Next question: improve state timing and hold participation directly, instead of assuming a broader family list will create upside capture.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BF684E-3A4C-41F3-AA15-E2DF0CE6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94515717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EAF74B-49D2-4D2B-898A-86795391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520B15-F5DC-413D-8F16-5D2071A3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Mean reversion did not solve the upside participation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550AF-0637-4C97-9F15-2E1FBCF8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F4E2E-8AD2-4258-A589-749BE0EB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838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C6FF3-7DEA-4707-BF21-CB20B003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240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85E18B-8533-4DF5-8785-88F6AE15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3835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29CA8-0DC2-4B48-BA5B-5BD8F72F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12407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7875D-667B-4F15-9C97-FA039991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38350"/>
            <a:ext cx="1238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DF205-CAA5-4C22-8126-4CA04BA8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124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BBBC4-F816-42D8-828A-AF1EAE9F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799AE-3D30-4581-BC39-5D325045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8970D-3A99-49E7-880A-9982507A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37C2D-7684-4CA5-952D-20C013A1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E224B4-49E9-4361-9522-C58D574E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362905-1DA6-4761-9A99-60BF11C7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67390-6E33-4BAA-9A07-D4CED57F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383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73C59D-558F-49E9-84C0-4F753154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24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FDFBBC-38A6-4ABF-BA46-D9E92F56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34F64E-4A0B-4E64-8205-7526A478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C98E75-E37D-4A1E-8733-C76639C4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EEC1A5-9588-4B9F-AAB9-1F9C5B3B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571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F8BFF1-1060-4F23-A2CD-A67147C6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003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71D70F-C427-4AF1-945D-C8DB0376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717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20.3%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467363-BE91-4620-A700-2E6BFC5E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A75355-3600-4C81-85B5-95E41FE0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-207.0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BA79BB-46B7-492D-84B0-2E8B53B1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85C46E-3D61-41EF-B500-4DA27809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21.3%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5CD0A8-FAC3-4544-ADC4-B1B6766A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5A4FB7-7EF8-4368-9848-C78A8361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-34.9%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0E40B7-559F-4DE0-9C2C-32A3A99C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883483-BF5B-4A00-8B47-3EF5B06E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717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5F98AA-651C-4616-829F-4F6D9FB6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EA0C16-80E6-453B-9A38-AAA94B7E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76353F-52C7-4A3C-8D90-B3B40187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908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B19618-CC83-4716-B7DE-76A22E91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F1BADA-F84D-4EEF-A53F-2CE24357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908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166F83-E699-4C1C-9FAC-84274683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623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13.6%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74A904-FA98-4699-980B-1924A681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A8FC39-BBE9-45B7-951E-5D68438D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-213.7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ABDC55-1F9E-4AB3-B7C4-9B38DEC4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D3EEB3-1CF4-4473-84CD-C30DEA9F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19.8%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0674BE-DDDE-45CF-8FAB-C915984E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E458C7-8EA9-4799-AB0A-56E64B8D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-32.0%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5765B80-1383-4B2D-97DE-67027D2E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908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7F5A68C-D15C-41A6-86D1-FF18E6B3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021CB3-792D-4232-937C-80BEF423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B1B6A98-F396-409E-A84E-A80AE2AF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31CC53-F6C0-4925-8A8D-DA5D686D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B4329A-0B84-49B3-98EC-D835998A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528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0ACE60F-130F-4EC0-93F7-1CF847BF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814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D89F7DD-35CD-47C9-AA28-47B99BC8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528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-12.9%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26E7216-C49A-4D6D-8B1B-D6B405DD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AF9F3EA-6074-4B5F-BAA2-5FEDB5ED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+40.1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97EF355-BC99-43D0-836B-787AAAB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DB68CC2-0E5C-48B9-BCF6-B10BB4D1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25.9%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CE68C0-0E77-4761-8BD6-FEF1510F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8A1CC4A-9D88-4EC5-9163-878612E2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-17.6%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72F5538-975D-456E-8543-4FB73316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814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5CB665F-4976-453F-AE57-7BF48370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52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4189F9-2DD3-4266-A007-3A5D9047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C9E408E-7953-427D-8945-49F0FBFA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434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17715D9-FDB6-47F8-BD33-0DD434E2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719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364AF4D-689C-4B3D-8801-B00C3D6B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343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2A7F9E0-CD0C-47A5-ACE7-D1EE542C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719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F55595D-16AE-422A-AB1D-83A7B771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434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-17.6%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CEDE14B-7B2A-4796-9872-44CF38D3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3B983B6-BBB2-4D27-B4C9-5E09C39D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+35.4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4060AC2-0463-4FFD-8097-078844A8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9732097-5BD1-4146-8EED-F251F177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27.3%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1F53094-349F-4D4E-9047-26E2C32E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3CB4A75-051A-4224-91C3-397E451F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-19.5%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023F059-0E1E-423C-B39F-DDE1B0F8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719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AB16F97-0D26-41B8-9574-8ED3CFBF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434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4150335-B6B8-4FC7-BDBD-79C0D3CF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91150"/>
            <a:ext cx="975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diagnostic behaved like a defensive/range-trading probe: it reduced 2022 damage versus basket hold, but it badly lagged the 2020 rally and did not improve on the EMA control.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C4C9CAA-8D42-4622-8F46-5F2DA9D5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10357435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AC81BB-5A30-4388-9518-23F4B651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1FB5C-A767-43CF-B965-F36D5FB0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mean-reversion map is mostly cash with narrow Bollinger pockets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ED25F-4FC0-418C-B072-41C20B40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d5f5972214f00"/>
          <a:stretch xmlns:a="http://schemas.openxmlformats.org/drawingml/2006/main"/>
        </p:blipFill>
        <p:spPr>
          <a:xfrm xmlns:a="http://schemas.openxmlformats.org/drawingml/2006/main">
            <a:off x="552450" y="1716332"/>
            <a:ext cx="6724650" cy="439688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C0096-0081-4E9D-9492-3BBF4634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52650"/>
            <a:ext cx="31813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69035-B13B-45F4-B8B0-5944598D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C06BF-29C3-4D22-8F61-F0CEAFE5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F605EA-7591-4781-9C17-91C19992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90850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No-trade still dominates many asset-state cells.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A9795-5F17-4896-9D0C-FCCCDD6E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495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705561-CACF-4A51-B9C5-A974B427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00425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Bollinger variants appear in selective pockets, especially AVGO.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4D46AA-7AA5-462C-A6F9-7CD0F762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05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9C93D0-9593-4007-98B8-A499BC26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10000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RSI and z-return did not become dominant state 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B04F71-BE9B-4A14-A183-2A06A12F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148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B3E30-DA05-4653-A46A-BA804BC6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19575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is not a high-beta upside engine in its current form.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6698CF-A5CF-4EF2-92B6-2C37D0B3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The trade tapes reinforce the same story: countertrend chips and defensive abstention, not early sticky participation in a broad high-beta rally.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24035B-D998-48F1-A8CB-B2EF3B5F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90016933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157B4B-3B97-45B4-9850-BED1FA3F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5835D-3486-42D1-AA89-D312A771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Leveraged active trading needs a same-leverage passive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277DF3-7808-4D42-B7EC-31ED6298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94ACED-173C-4209-997D-69837A0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leverage slice keeps signals, states, entries, exits, and quarterly authority unchanged. Only the portfolio sizing layer changes from 1x to 1.8x.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3DA3EA-FDA0-4FE1-8FFE-F8974167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44958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1823E5-C003-41E4-9288-50844F4C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76550"/>
            <a:ext cx="44958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1D683A-1132-44E1-95E6-75E2BA61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43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B42318"/>
                </a:solidFill>
              </a:defRPr>
            </a:pPr>
            <a:r>
              <a:rPr sz="2025" b="1">
                <a:solidFill>
                  <a:srgbClr val="B42318"/>
                </a:solidFill>
              </a:rPr>
              <a:t>Wrong 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1E19C4-E635-4507-9843-0F23A85A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Compare 1.8x active return to 1x basket hold, then call the extra return alpha.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AE3297-8045-42DA-A9E1-F73465D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7647"/>
                </a:solidFill>
              </a:defRPr>
            </a:pPr>
            <a:r>
              <a:rPr sz="2025" b="1">
                <a:solidFill>
                  <a:srgbClr val="067647"/>
                </a:solidFill>
              </a:rPr>
              <a:t>Fair read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B0191-70F5-4A2B-8C5B-26096129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385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Compare 1.8x active return to 1.8x equal-weight basket hold over the same dates.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093F68-0E4F-42F1-8A30-5D6F6CDA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911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This keeps leverage as a risk overlay. It prevents sizing from masquerading as a better entry/exit engine.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65A93C-388F-42F1-95CF-82A9F171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5982672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E79A88-F41D-4801-BBD9-237A4566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2850DB-CECA-4479-B55D-2DBCAF36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Trend/breakout leverage made the defensive profile more obvious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37F9C8-6CE9-4E30-AB9B-0B7C9884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0f149f3da4ac8"/>
          <a:stretch xmlns:a="http://schemas.openxmlformats.org/drawingml/2006/main"/>
        </p:blipFill>
        <p:spPr>
          <a:xfrm xmlns:a="http://schemas.openxmlformats.org/drawingml/2006/main">
            <a:off x="1585913" y="1752600"/>
            <a:ext cx="4143375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A0679-AF6E-4505-869E-45813FDE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14550"/>
            <a:ext cx="34671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71E1C8-8557-4A0A-9C11-6E44A999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0030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Same-leverage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FD6ED3-4F62-41BE-9648-7427A271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2B9A2D-5C51-428C-A91E-421B3D5B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908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2020: active 108.1%, but 1.8x basket 409.1%.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B7DD4-DDA7-466F-B8E8-F1B4C6B1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21072-2875-4061-9670-1C208A8E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052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2022: +76.4 pp alpha because the levered basket drawdown was severe.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5A54E3-CCF6-42FC-AAA9-FB48F639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358BE-DFFD-42AB-822A-FFBE94AC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195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is defense, not solved upside participation.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A88842-D297-406B-A2AD-F061AB7C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91200"/>
            <a:ext cx="975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At 1.8x, the same lane produced -301.0 pp alpha in 2020 and +76.4 pp in 2022.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60C645-67E8-4998-B1F6-FED0D81A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0286652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02DBC2-D42B-448A-9F46-3F759820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F63AD-2F96-4393-8394-2ADB6311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Mean reversion with leverage still looks like defense, not upside capture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6C57B-1FCA-4646-A3A1-8F1781A91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021adc2aa4820"/>
          <a:stretch xmlns:a="http://schemas.openxmlformats.org/drawingml/2006/main"/>
        </p:blipFill>
        <p:spPr>
          <a:xfrm xmlns:a="http://schemas.openxmlformats.org/drawingml/2006/main">
            <a:off x="1585913" y="1752600"/>
            <a:ext cx="4143375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16C73-4835-4BE2-BDFF-5666264B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14550"/>
            <a:ext cx="34671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89B5EE-EDAD-4D58-8AF7-0FB1B97D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0030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Same-leverage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454D3-3C84-481A-AD58-1E27BACD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F757D-8BF7-44DA-9AC5-40B29114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908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2020: active 37.3%, far below the 1.8x basket.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51B76-572B-405C-8336-4227F3AD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C967A9-E71D-4278-8BF3-1BF24A43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052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2022: active beat the levered basket by +72.4 pp.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A9B8BD-D8D5-4342-8EA8-FC0F5931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DF4395-A365-446F-994F-A40D280F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195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Leverage amplified the defensive value and the rally underparticipation.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F9CAB1-1281-46F7-A54B-6732F054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91200"/>
            <a:ext cx="975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At 1.8x, workhorse mean reversion produced -371.8 pp alpha in 2020 and +72.4 pp in 2022.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9E04B-15D5-4BA2-B1B6-6C439D94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4677537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2026-07-13T02:52:03.1040000Z</dcterms:created>
  <dcterms:modified xsi:type="dcterms:W3CDTF">2026-07-13T02:52:03.1040000Z</dcterms:modified>
</coreProperties>
</file>