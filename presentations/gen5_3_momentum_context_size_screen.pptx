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8c945524714eff" /><Relationship Type="http://schemas.openxmlformats.org/officeDocument/2006/relationships/extended-properties" Target="/docProps/app.xml" Id="R6cfb33ba0d0b4406" /><Relationship Type="http://schemas.openxmlformats.org/officeDocument/2006/relationships/officeDocument" Target="/ppt/presentation.xml" Id="R8978ccfa7ca44d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43813055974d51"/>
  </p:sldMasterIdLst>
  <p:notesMasterIdLst>
    <p:notesMasterId xmlns:r="http://schemas.openxmlformats.org/officeDocument/2006/relationships" r:id="R76e7a490e0034cab"/>
  </p:notesMasterIdLst>
  <p:sldIdLst>
    <p:sldId xmlns:r="http://schemas.openxmlformats.org/officeDocument/2006/relationships" id="256" r:id="R70655a87746949e6"/>
    <p:sldId xmlns:r="http://schemas.openxmlformats.org/officeDocument/2006/relationships" id="257" r:id="Rd7082de2ff414a1d"/>
    <p:sldId xmlns:r="http://schemas.openxmlformats.org/officeDocument/2006/relationships" id="258" r:id="R5fc3a0c322594945"/>
    <p:sldId xmlns:r="http://schemas.openxmlformats.org/officeDocument/2006/relationships" id="259" r:id="Ree967d8153a24915"/>
    <p:sldId xmlns:r="http://schemas.openxmlformats.org/officeDocument/2006/relationships" id="260" r:id="Ra40f65b491304938"/>
    <p:sldId xmlns:r="http://schemas.openxmlformats.org/officeDocument/2006/relationships" id="261" r:id="R7274204bc1e54d0b"/>
    <p:sldId xmlns:r="http://schemas.openxmlformats.org/officeDocument/2006/relationships" id="262" r:id="R46055a6855bd4467"/>
    <p:sldId xmlns:r="http://schemas.openxmlformats.org/officeDocument/2006/relationships" id="263" r:id="R3e4e85b35d164f71"/>
    <p:sldId xmlns:r="http://schemas.openxmlformats.org/officeDocument/2006/relationships" id="264" r:id="R8228526393494ddc"/>
    <p:sldId xmlns:r="http://schemas.openxmlformats.org/officeDocument/2006/relationships" id="265" r:id="R924d52b959dc4167"/>
    <p:sldId xmlns:r="http://schemas.openxmlformats.org/officeDocument/2006/relationships" id="266" r:id="Re190f9dc39e2487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a9e1871ae546a0" /><Relationship Type="http://schemas.openxmlformats.org/officeDocument/2006/relationships/slideMaster" Target="/ppt/slideMasters/slideMaster1.xml" Id="R0e43813055974d51" /><Relationship Type="http://schemas.openxmlformats.org/officeDocument/2006/relationships/notesMaster" Target="/ppt/notesMasters/notesMaster1.xml" Id="R76e7a490e0034cab" /><Relationship Type="http://schemas.openxmlformats.org/officeDocument/2006/relationships/presProps" Target="/ppt/presProps.xml" Id="R29f990aa0bcc4cd6" /><Relationship Type="http://schemas.openxmlformats.org/officeDocument/2006/relationships/tableStyles" Target="/ppt/tableStyles.xml" Id="Ree6275de9f04416c" /><Relationship Type="http://schemas.openxmlformats.org/officeDocument/2006/relationships/slide" Target="/ppt/slides/slide1.xml" Id="R70655a87746949e6" /><Relationship Type="http://schemas.openxmlformats.org/officeDocument/2006/relationships/slide" Target="/ppt/slides/slide2.xml" Id="Rd7082de2ff414a1d" /><Relationship Type="http://schemas.openxmlformats.org/officeDocument/2006/relationships/slide" Target="/ppt/slides/slide3.xml" Id="R5fc3a0c322594945" /><Relationship Type="http://schemas.openxmlformats.org/officeDocument/2006/relationships/slide" Target="/ppt/slides/slide4.xml" Id="Ree967d8153a24915" /><Relationship Type="http://schemas.openxmlformats.org/officeDocument/2006/relationships/slide" Target="/ppt/slides/slide5.xml" Id="Ra40f65b491304938" /><Relationship Type="http://schemas.openxmlformats.org/officeDocument/2006/relationships/slide" Target="/ppt/slides/slide6.xml" Id="R7274204bc1e54d0b" /><Relationship Type="http://schemas.openxmlformats.org/officeDocument/2006/relationships/slide" Target="/ppt/slides/slide7.xml" Id="R46055a6855bd4467" /><Relationship Type="http://schemas.openxmlformats.org/officeDocument/2006/relationships/slide" Target="/ppt/slides/slide8.xml" Id="R3e4e85b35d164f71" /><Relationship Type="http://schemas.openxmlformats.org/officeDocument/2006/relationships/slide" Target="/ppt/slides/slide9.xml" Id="R8228526393494ddc" /><Relationship Type="http://schemas.openxmlformats.org/officeDocument/2006/relationships/slide" Target="/ppt/slides/slide10.xml" Id="R924d52b959dc4167" /><Relationship Type="http://schemas.openxmlformats.org/officeDocument/2006/relationships/slide" Target="/ppt/slides/slide11.xml" Id="Re190f9dc39e248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e6df5cf8654f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fd80273ba948f7" /><Relationship Type="http://schemas.openxmlformats.org/officeDocument/2006/relationships/notesMaster" Target="/ppt/notesMasters/notesMaster1.xml" Id="Rcc5771c3a14c4c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1276b394df43dd" /><Relationship Type="http://schemas.openxmlformats.org/officeDocument/2006/relationships/notesMaster" Target="/ppt/notesMasters/notesMaster1.xml" Id="R4debde5be7e64e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ab6c8517b4241a3" /><Relationship Type="http://schemas.openxmlformats.org/officeDocument/2006/relationships/notesMaster" Target="/ppt/notesMasters/notesMaster1.xml" Id="R2e5f79e5a10e40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6d3aecdba044517" /><Relationship Type="http://schemas.openxmlformats.org/officeDocument/2006/relationships/notesMaster" Target="/ppt/notesMasters/notesMaster1.xml" Id="R96b8e3a0b30b43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f0c3ccfeec4343" /><Relationship Type="http://schemas.openxmlformats.org/officeDocument/2006/relationships/notesMaster" Target="/ppt/notesMasters/notesMaster1.xml" Id="R866dc39c2abf41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14733bdba846ab" /><Relationship Type="http://schemas.openxmlformats.org/officeDocument/2006/relationships/notesMaster" Target="/ppt/notesMasters/notesMaster1.xml" Id="R3653a0fc422c4b7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d9e947de53b4fdb" /><Relationship Type="http://schemas.openxmlformats.org/officeDocument/2006/relationships/notesMaster" Target="/ppt/notesMasters/notesMaster1.xml" Id="R444808878d5041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838ca3b0644fc1" /><Relationship Type="http://schemas.openxmlformats.org/officeDocument/2006/relationships/notesMaster" Target="/ppt/notesMasters/notesMaster1.xml" Id="R902ad21c325b41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5bcb860f83420d" /><Relationship Type="http://schemas.openxmlformats.org/officeDocument/2006/relationships/notesMaster" Target="/ppt/notesMasters/notesMaster1.xml" Id="R6a935ddf73db40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5be26ec1624b29" /><Relationship Type="http://schemas.openxmlformats.org/officeDocument/2006/relationships/notesMaster" Target="/ppt/notesMasters/notesMaster1.xml" Id="R72f635f8000349a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f91d093f8c844b6" /><Relationship Type="http://schemas.openxmlformats.org/officeDocument/2006/relationships/notesMaster" Target="/ppt/notesMasters/notesMaster1.xml" Id="R9843b19951f04f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5a32b93fea4d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7c0e31d0b44d4b" /><Relationship Type="http://schemas.openxmlformats.org/officeDocument/2006/relationships/slideLayout" Target="/ppt/slideLayouts/slideLayout1.xml" Id="R03e67c14702146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e67c14702146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442212cf6e42c7" /><Relationship Type="http://schemas.openxmlformats.org/officeDocument/2006/relationships/notesSlide" Target="/ppt/notesSlides/notesSlide1.xml" Id="R606e574c359243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fda55e967c4c99" /><Relationship Type="http://schemas.openxmlformats.org/officeDocument/2006/relationships/notesSlide" Target="/ppt/notesSlides/notesSlide2.xml" Id="R19e2a13f9b404e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432cedb7848ac" /><Relationship Type="http://schemas.openxmlformats.org/officeDocument/2006/relationships/notesSlide" Target="/ppt/notesSlides/notesSlide3.xml" Id="Rfbd113e6be4044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d794dc3bf44f67" /><Relationship Type="http://schemas.openxmlformats.org/officeDocument/2006/relationships/notesSlide" Target="/ppt/notesSlides/notesSlide4.xml" Id="R08dd5c45a1a643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eb9671c48419e" /><Relationship Type="http://schemas.openxmlformats.org/officeDocument/2006/relationships/image" Target="/ppt/media/image.png" Id="R43ffe0550bc64783" /><Relationship Type="http://schemas.openxmlformats.org/officeDocument/2006/relationships/notesSlide" Target="/ppt/notesSlides/notesSlide5.xml" Id="R4325ae1bd85d4f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a3c4ac28d24d2a" /><Relationship Type="http://schemas.openxmlformats.org/officeDocument/2006/relationships/notesSlide" Target="/ppt/notesSlides/notesSlide6.xml" Id="Ra729e86b985a412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ae18e1d0814b31" /><Relationship Type="http://schemas.openxmlformats.org/officeDocument/2006/relationships/image" Target="/ppt/media/image2.png" Id="R8604684fc9f3425b" /><Relationship Type="http://schemas.openxmlformats.org/officeDocument/2006/relationships/notesSlide" Target="/ppt/notesSlides/notesSlide7.xml" Id="R638866896373442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6cafdab65641be" /><Relationship Type="http://schemas.openxmlformats.org/officeDocument/2006/relationships/chart" Target="/ppt/slides/charts/chart1.xml" Id="R861561e19b344a77" /><Relationship Type="http://schemas.openxmlformats.org/officeDocument/2006/relationships/notesSlide" Target="/ppt/notesSlides/notesSlide8.xml" Id="R5a0fb18d98d342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ecf75c7a214b08" /><Relationship Type="http://schemas.openxmlformats.org/officeDocument/2006/relationships/image" Target="/ppt/media/image3.png" Id="Rd961abb0711142e2" /><Relationship Type="http://schemas.openxmlformats.org/officeDocument/2006/relationships/notesSlide" Target="/ppt/notesSlides/notesSlide9.xml" Id="R2b35f396f1b9444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d56b76723c4315" /><Relationship Type="http://schemas.openxmlformats.org/officeDocument/2006/relationships/image" Target="/ppt/media/image4.png" Id="R0d6363c9cd6e4f2f" /><Relationship Type="http://schemas.openxmlformats.org/officeDocument/2006/relationships/notesSlide" Target="/ppt/notesSlides/notesSlide10.xml" Id="R8f665fe4079343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7ad97396741a1" /><Relationship Type="http://schemas.openxmlformats.org/officeDocument/2006/relationships/notesSlide" Target="/ppt/notesSlides/notesSlide11.xml" Id="R1fb3d175062c4db3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Strategy</c:v>
          </c:tx>
          <c:spPr>
            <a:solidFill xmlns:a="http://schemas.openxmlformats.org/drawingml/2006/main">
              <a:srgbClr val="FF6B35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32.7121250932126</c:v>
              </c:pt>
              <c:pt idx="1">
                <c:v>158.321348341353</c:v>
              </c:pt>
              <c:pt idx="2">
                <c:v>-36.051818270429195</c:v>
              </c:pt>
              <c:pt idx="3">
                <c:v>171.795901572598</c:v>
              </c:pt>
            </c:numLit>
          </c:val>
        </c:ser>
        <c:ser>
          <c:idx val="1"/>
          <c:order val="1"/>
          <c:tx>
            <c:v>Basket hold</c:v>
          </c:tx>
          <c:spPr>
            <a:solidFill xmlns:a="http://schemas.openxmlformats.org/drawingml/2006/main">
              <a:srgbClr val="000000"/>
            </a:solidFill>
          </c:spPr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NaN</c:v>
              </c:pt>
              <c:pt idx="1">
                <c:v>NaN</c:v>
              </c:pt>
              <c:pt idx="2">
                <c:v>NaN</c:v>
              </c:pt>
              <c:pt idx="3">
                <c:v>NaN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65151F-C2D3-4E83-B867-E20034E5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GEN5.3 RESEARCH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977F0B-6AC8-4CF5-96A5-ACE76A37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8572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Annual windows made the momentum-specialist question sharper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4E4030-5AF8-42E4-9A65-4DF8055B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781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The first one-year context-size screen suggests the best current lane is not the newest feature set. It is broader risk-aware context, the existing workhorse PCA surface, and continuation replay.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4301D-874D-42B2-B76B-3161D35E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4BA6B5-6300-4233-B98D-1FF576828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942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Packet: runs/research_workbench/gen53_momentum_context_size/g53_momctx_20260710ctxsize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D1D0D9-3E99-48BC-A742-68668DE1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4745466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393E2F-C0F2-42AA-B9FC-81DFF87E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0D3F80-940B-44B6-A046-E7588073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test changed because one quarter was too sparse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11306-2B26-42B4-89F2-50FF6AA0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5F4214-B7F0-4A9B-9372-BEB20C30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5143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The prior slices were useful for mechanics, but they did not give much OOS surface area: a five-symbol live basket can easily look good or bad from a handful of trades in one quarter.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AC7CE0-B386-4975-A061-DFFB3411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62150"/>
            <a:ext cx="4229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D380F0-F0C3-4B62-B3E4-B5743EE8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90900"/>
            <a:ext cx="42291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6C9960-B395-4F0C-9033-5006E3D4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71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D8328E-09BF-40AA-90C1-DA2DB726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955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One OOS quarter. Faster, but low resolution for alpha and trade behavior.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A7FC08-04E4-4833-B207-8E5CF70A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195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67647"/>
                </a:solidFill>
              </a:defRPr>
            </a:pPr>
            <a:r>
              <a:rPr sz="1650" b="1">
                <a:solidFill>
                  <a:srgbClr val="067647"/>
                </a:solidFill>
              </a:rPr>
              <a:t>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CC7B82-9E3E-4DEB-97BE-FF3699B4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62400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Four independent quarterly TRAIN authorities stitched into a one-year OOS/accounting window.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70E6F7-BD63-47D7-9A70-65FF7169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This keeps the leakage boundary while making each condition easier to judge.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18C44A-F994-44A0-989B-7ECD49AE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406662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8C2F5B-6106-481A-9437-63E0E289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472333-49ED-497A-A276-6DFC8515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screen isolates a narrow EMA-only participation hypothesis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8C69C-C852-453F-A810-97268019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F95EAC-2436-4ADD-A86E-760E8E63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147E0F-3803-433E-BF84-D43A15DA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Live basket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D7242-BCCB-472B-AE95-AD3FB526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AMD, NVDA, TSLA, MSTR, AVGO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7B934E-17A6-40BD-8605-6B8B167C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7579A1-8A85-4737-94F2-9A34A239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Context 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FE4166-824A-4DD9-8EDF-86085332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5 self assets; 12 with high-beta peers; 18 with peers and risk anchors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CA586-D551-450B-B4FC-757D8996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FD038F-E7FB-4EAF-AA11-18869B0B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Feature axis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22B3B5-C3C8-433E-BA7F-D2AD9B94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Workhorse enriched; momentum participation; momentum plus stress; market-relative momentum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025CDA-4C48-4FDC-94D3-4600C831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FD495D-5212-4750-95D3-0C2613A0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Strategy pool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417B73-912F-4383-AF6D-E908F78D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EMA cross, EMA trend, no-trade, no-trade exit-immediate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2F7B7F-5E21-4CF2-A39C-B2C4AFA4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Selection policy stayed fixed at pooled-family asset-variant, so this slice asks about feature design, context size, and replay semantics rather than reopening the whole Gen4-vs-Gen5 selection debate.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35EB82-3DB3-4A66-9D81-D8C3988D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537523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3BDD6B-A679-49D7-B36B-5276DB45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996F70-2169-4F7B-8D71-88ED84E5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aggregate lane was risk-aware context plus the workhorse feature 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2B7A55-B566-4423-AF23-7D9A08C0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720547-9D7B-46C1-B2B6-2A8E5964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9886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A3A783-8245-4B25-A3FF-00A2CBBD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2625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Best lane: Live + peers + risk anchors + Workhorse enriched + continuation. Mean return 81.7%, mean alpha -9.8 pp, exposure 64.6%.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3B8155-BBC3-4A19-9893-09CCD108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D8DFE3-A655-4F32-BA13-F4EA0359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B3505B-4A48-4BAD-89F7-077128CE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A72BAB-ECEE-4E77-A980-50F7BEC52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FB623F-27EA-4C53-8642-BAB0DCC7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D72470-92D2-4F73-B867-88314133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855D59-B894-471E-866A-F37ECB20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D500B3-55E2-4FE5-815F-CE3C4935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B1C63A-B1C7-4001-824F-32D8A383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E02D70-3305-48C8-974C-A4201417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3DFE90-CED7-4EB6-9E7C-B0904800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68155B-7A5E-4364-8092-B0238838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6DD0F3-5D67-4A70-B49E-05CC3FAF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AD51F-4072-4F89-B1E2-23D49B17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45EC66-7715-4440-94E8-A458817F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DC6CE3-5E6A-4FFF-803D-CD930C76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B05256-DCED-4A2E-BD17-59823FF7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4ACDEB-E7E0-48AA-A5F5-743D1BF2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F23471-4E2E-4EE2-9C12-3BAA5709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A28075-2E73-485C-8748-071275DD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D97AB4-50EB-4BDA-BC45-62AF11C8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B489FB-A854-40D1-9EE1-C761DD4E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41844-2186-46A2-8D5F-44741D72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3CD4A4-4A69-4A85-9906-5F6C1BC9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81.7%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AF4122-831E-4327-833D-ECC1A82F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DADD2A-13D5-4026-ADA1-3D5AF682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-9.8 pp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543588-7060-4D78-A9EE-270BD762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54EACA-58E8-4015-972B-BD8845D3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64.6%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CA2047-5A72-4185-B251-919997DD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6C665B-EA3E-4D2F-A80D-2124EC91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basket only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E60250-B16D-4916-A801-BED0B325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0FACB41-6A25-4E12-BC9C-35CF603C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Market-relative momentum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0C6AC0-42B0-4E8D-BA1E-A0D5D0CB5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838DC0-C1C5-46CC-8418-E53F7275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484E92-7AA8-4194-AF53-662B9AA6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3BC5F4-7FD8-46AE-81C5-E20AAE65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2CAAFA-DECF-4882-BA9E-509F9422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8B187A-36C4-4898-802F-BDB12F6A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69.3%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2309D4-53E9-4A9B-988B-4C66E5A4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468992A-3F41-4FE1-8F2B-76F65F03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-22.3 pp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68AA997-180D-429B-93C3-2BEAAD79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EA717CB-F777-42D5-9433-FE9C1D66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57.1%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5B5D771-1C6B-4342-9A2E-31C104DF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F08DD35-E0E1-4103-BD6B-D9CDA6F3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6158B16-BAEE-4631-BB94-7E644727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340C102-D83E-4BEF-843B-1E7DA4A0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C0A1C1-97FA-437D-A603-B57EA62B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151B15F-83E4-42B9-9D57-2EA3D4F6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fresh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9846874-BAB9-48F6-9183-F61CE287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4806900-AD7B-4DA1-BC3B-C0D111CF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BF2D9BF-DE23-4882-89F8-73A776E5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CCF07C-9C57-4DF4-B9E8-D99DD954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68.5%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4937464-94EA-4E6C-8860-45C681DB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A42E738-E24D-47D4-9413-EBCF9531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-23.1 pp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96880C2-0AA6-41AA-8EAD-8563F72C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3BA2CE1-CCFE-48BD-AAA3-A8D84311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49.2%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8CC2ABB-1E9F-4D12-A7B9-5B778A25F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DBEC12E-83EB-47FA-A3D6-363753A2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high-beta peers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78ECAA2-D863-450C-8DB3-C13E09F0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9BCA651-DC09-4AAD-BF50-B3F1615EA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637CEAF-EF63-4220-90EF-3D640785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672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0527532-EDA9-420D-A757-B293A336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910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2DD4F3F-EE58-4451-82B8-0060B0D0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D8019DD-56FD-452C-BC06-98DD19888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53C2439-4A3B-43D6-874A-83F1E66D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5611BF1-BDEE-44BA-B849-46336C68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64.1%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9D03FB4-087F-411D-8554-E9545554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2672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F597093-85D7-4F57-8729-AB242A1F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910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-27.4 pp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6053F65-EFB7-4CC8-A328-E87B4CF1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672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82D1FE9-E430-4C74-AE22-5379DBDF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3910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68.5%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3976F42-142E-487D-B5C4-D714C8C7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4FABCCE-68F6-4AC7-9D31-A05432AC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high-beta peers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145E35F-ED28-42DA-8823-91DFF204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F41A4F2-260D-4C74-B3C8-108D816C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Market-relative momentum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E88E74B-990A-4C89-9F72-620CCDB42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7815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3553375-7DF0-495C-928A-8A951968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9053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D7D9BD1-2963-453C-8294-B828D0AB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75FD7C4-A76D-447A-B3C5-00CBA718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9C58F38-53D8-4556-A79E-619601B5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8BC0279-434F-4387-8820-CA1EA56D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61.8%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9B65593-5DCB-4C0C-BD13-8E5E62C2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815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82367DB-0B2D-4AA5-8210-EF13B4BD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9053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-29.8 pp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0A6A8C3-E67D-4A8B-B5FF-F5BB2DD7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7815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8AD78AE-E469-491D-BB92-C61021DC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053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54.8%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FA03C00-F97E-40F3-867D-38E80F10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Even the best lane did not beat equal-weight high-beta hold on average. The signal is subtler: broader risk-aware context made the specialist less bad against a very hard benchmark and produced positive alpha in two annual windows.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E8D6904-531E-4F25-9E46-B8C0102C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137444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919C56-047B-4334-9FB6-D445099D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684EA-4A0E-4317-B8B5-942ABD32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annual heatmap shows why this is not a simple feature-set 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7679E-D8C6-4C5A-955B-025458B8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fe0550bc64783"/>
          <a:stretch xmlns:a="http://schemas.openxmlformats.org/drawingml/2006/main"/>
        </p:blipFill>
        <p:spPr>
          <a:xfrm xmlns:a="http://schemas.openxmlformats.org/drawingml/2006/main">
            <a:off x="2659700" y="1695450"/>
            <a:ext cx="2091049" cy="4629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20C58D-6702-48BC-A35D-A8D29952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34290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53F7CA-8ED3-441D-8EB9-25133483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050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What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C3BF9-F133-4008-886C-119CB33E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71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6EFF2D-80E0-4734-9550-72A2A389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765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 remains punishing because basket hold returned about 227%.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EA233-735D-41BF-836E-20994761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90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2BE41-C874-4D91-9027-C69766B7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 rewards staying out of a falling high-beta basket.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55126C-9387-441E-A3EE-6EFB3CE8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B076C-0A0F-43A6-B604-A43A85DD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147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2024 is the clean positive clue for risk-aware workhorse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620F29-BF24-4130-B2C3-4613E619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C14080-3FFD-431A-BB4A-6ADAE9FA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338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New momentum feature sets did not become the aggregate default.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16AD7F-37A7-499D-9E74-28D762DE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885652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53526F-8503-4CCA-91CA-018A6AED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CEC682-7AE1-4313-8722-B9FC0EB7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still tells a mixed window-by-window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45AD62-78F2-45F3-A64E-82104386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2242A3-0097-42E9-BA45-034A7119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03AC39-4F09-4584-807A-B0FDD1BD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5A84F-AD26-474F-957D-F4504A2C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-25.7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4C1F95-69DC-4E83-8A60-214B28A3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2ECCB-F1BA-4AD1-88F8-E05A94F6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32.7%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84555-FD5F-40DA-B557-572912D3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NA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604946-DD5B-46E2-8CB5-3A5336CE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1DA9D-EC39-4A2D-90A4-1606A30F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E1C757-9B09-4A14-8217-E55DE9B7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-69.0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2CF239-CE2D-4AF8-B2B7-0459FCBD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C45CE6-DC88-4371-AAB7-20506C80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158.3%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361DA6-FF35-411D-994E-E1B0D5F6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NA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220996-5ACF-4AC4-8A9F-4AE37388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80EE10-BC01-4320-BDF3-49B03D3B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A26A24-7CEF-42B0-A8CF-98E8BE78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+17.0 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ABE092-4230-40E5-A8B4-C7C32DD6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123003-3C5F-45C4-B037-40200356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-36.1%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CF63F6-C479-47EE-AAFE-8C003429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NA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A8BEC3-3801-4C20-A446-73511098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5706CF-9C0F-4370-A9B1-34CD7ACB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D9EF96-6650-4DF7-B600-B8EF56CD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+38.3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95F61B-CE01-4C78-ABC1-CCA1E29D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838D63-E4C6-4F5F-92D8-7F5181D4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171.8%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80B485-5983-49D4-8A8F-0DB2496A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NA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91230D-3CD6-4581-B3A9-E6BA6F63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29250"/>
            <a:ext cx="962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Annual windows reveal a useful profile: strong 2024 participation and decent 2022 defense, but still serious undercapture in 2019 and 2020 high-beta upside.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03FC6E-DAFA-4789-A9EE-B8E2D368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476064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1A187F-74A5-4ED0-9453-FEDDFDF6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41A408-5388-4EC3-9C89-8F04C591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Exposure helps, but simply being long more is not the whole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C35DBC-6955-42C2-BB4A-86DFD237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4684fc9f3425b"/>
          <a:stretch xmlns:a="http://schemas.openxmlformats.org/drawingml/2006/main"/>
        </p:blipFill>
        <p:spPr>
          <a:xfrm xmlns:a="http://schemas.openxmlformats.org/drawingml/2006/main">
            <a:off x="967154" y="1695450"/>
            <a:ext cx="6066692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088F76-92DD-4496-9943-5A44C1E8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66950"/>
            <a:ext cx="31432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9E4D66-4E7F-4D75-9D00-3D0F1C5D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Readout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685095-4FE4-4953-8317-A8CFAFE7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05150"/>
            <a:ext cx="2476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Continuation generally lifts exposure, and the better lanes cluster at moderate-to-high participation. But many high-exposure points are still deeply negative versus basket hold, so timing and state discrimination still matter.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50894-7AB7-494B-8734-AACC5CF89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576040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559825-AB82-465D-AB92-A7C044BD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BBF852-2AF3-4431-A3D4-252D274C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beats in 2022 and 2024, but misses the big upside years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19DCB-87C0-4D06-A08C-C7E0FC74C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38200" y="2000250"/>
          <a:ext xmlns:a="http://schemas.openxmlformats.org/drawingml/2006/main" cx="6572250" cy="3600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1561e19b344a77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2C3EBB-70C3-435F-B505-5324C127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29146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95746C-3D3B-48B0-BBA2-8E37D769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384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What the chart adds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37CC1F-CC18-4701-8052-371D8E7A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D69CE2-4095-4F2F-9C25-2FCA70F0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289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2020, the benchmark was too strong for a timing layer to catch.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CDAC3-28DD-4693-9C1E-2E808253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B853BD-4A76-4C81-B1C9-6847EDE9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05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2022, the system's partial exposure was valuable.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319E14-D254-4309-9B9B-A0A5BC6E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76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D4E592-4957-4E35-9523-47CCB44C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814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2024, the same lane finally beat the high-beta basket while still trading selectively.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80D16E-B6FE-40C9-B334-81C0184E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1192561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CC8622-7A6A-4C80-8392-65370526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7FD8AE-8232-4CE8-8E3C-83A0B2CC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authority map is cash-dominant, which explains part of the underparticipation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779CF6-5C4A-4A75-BA50-D92C173A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61abb0711142e2"/>
          <a:stretch xmlns:a="http://schemas.openxmlformats.org/drawingml/2006/main"/>
        </p:blipFill>
        <p:spPr>
          <a:xfrm xmlns:a="http://schemas.openxmlformats.org/drawingml/2006/main">
            <a:off x="792256" y="1790700"/>
            <a:ext cx="6264088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66A497-D6F2-4AF5-B473-59A11D6C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71700"/>
            <a:ext cx="32194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DEC0BC-D7BB-406A-B763-58D5CEFA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57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Sanity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1159D-DEB2-4AD0-8167-F3B28CE9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48000"/>
            <a:ext cx="2571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Across the full annual screen, no-trade remains the dominant selected authority in many asset-state cells. That is philosophically clean for a specialist, but it also means missed upside is expected unless the favorable states are timely and persistent.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D524F7-9FCC-4FFB-AEF1-D4842612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13264095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7C7738-D8E9-41A1-8C61-B1290F9A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750A1-51FD-4AA4-BF54-E529EC9F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Representative tapes show both the promise and the weakness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6BF45-A20C-45D6-BE3A-542B33EB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363c9cd6e4f2f"/>
          <a:stretch xmlns:a="http://schemas.openxmlformats.org/drawingml/2006/main"/>
        </p:blipFill>
        <p:spPr>
          <a:xfrm xmlns:a="http://schemas.openxmlformats.org/drawingml/2006/main">
            <a:off x="856247" y="1638300"/>
            <a:ext cx="6517105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DA56F-C307-43A1-A5CC-BAA6E3E6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2857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0F0EC8-ECAD-4529-8B1E-46EE2EAA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860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audit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1CC8C-C9F7-4AE8-8EAC-28C85B5F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09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9AD182-A043-479B-A327-62065A77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146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AMD shows churn and missed/stopped participation.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102D9F-F774-4023-A18C-8CB167FA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955F49-F3A4-47FE-A88B-E8BDD29F9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NVDA, TSLA, and MSTR show the lane can ride substantial trends.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8610B5-23DF-4190-83D7-2C140F58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38F539-6703-48A0-8952-72505AEF4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433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Open exit signals at year end should be inspected in the next tape audit.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DA6DF1-DFD5-431E-A6A0-CF774569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9659465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62E9E6-7BC2-4A8F-8051-710F2AEF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2B571D-D9E1-401D-80F0-6491A817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annual screen changes the next research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D25D8-9E88-4329-A6BD-FCEC1527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E49071-F950-4A87-B7CF-F2164A7E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C41E95-BF1E-4026-BA2A-3B96C0B8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3FB33F-AA17-4805-84F2-300D2D02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Do not chase yet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CBB7D9-1858-48E2-AED3-3D027D28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5AFCE4-CCC0-4130-B1CE-9BEB0194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5275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Do not promote the new momentum feature sets as defaults.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403AB-6EB5-47F7-A873-5EEF95B14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67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B5031F-1089-4135-80C7-1070B382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7185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Do not treat positive 2024 alpha as allocation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820B86-A4E3-46C4-A81B-C3A5ADBF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86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CDD5F-7CED-4FAB-AA1A-ECD813EB3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9095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Do not widen the strategy grid until the state layer looks cleaner.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3C796D-88A1-4601-89DE-E17326E8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67647"/>
                </a:solidFill>
              </a:defRPr>
            </a:pPr>
            <a:r>
              <a:rPr sz="2100" b="1">
                <a:solidFill>
                  <a:srgbClr val="067647"/>
                </a:solidFill>
              </a:rPr>
              <a:t>Do probe next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F017D5-91CC-442A-989D-191E0896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B4DC2D-55B4-4359-A3ED-68AF0C91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5275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Use risk-aware context plus workhorse as the near-term control.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FE867A-BED9-4CA4-8FE3-80E2F1D2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67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4A779A-281B-4BF7-9E14-C94588A3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37185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Audit full trade tapes for 2024 and missed upside in 2020.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C63AE5-FD23-450F-B562-FB238C03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86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ED9828-A96E-4FF8-8021-7091E5F4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9095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Test whether annual windows need true cross-quarter continuity, not only stitched quarterly authorities.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5CA133-A7ED-4740-8848-5BA87996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62600"/>
            <a:ext cx="967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core lesson is methodological: longer OOS windows are now the default for alpha-oriented screens because sparse one-quarter results were too easy to overread.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ABD717-C139-4D32-9CBC-8AF64DB1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7848475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2026-07-11T17:05:49.3130000Z</dcterms:created>
  <dcterms:modified xsi:type="dcterms:W3CDTF">2026-07-11T17:05:49.3130000Z</dcterms:modified>
</coreProperties>
</file>