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8a5a1c13af475b" /><Relationship Type="http://schemas.openxmlformats.org/officeDocument/2006/relationships/extended-properties" Target="/docProps/app.xml" Id="Rf57eff0da3dd4da2" /><Relationship Type="http://schemas.openxmlformats.org/officeDocument/2006/relationships/officeDocument" Target="/ppt/presentation.xml" Id="R429ecc06c11142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6a1e50bec4081"/>
  </p:sldMasterIdLst>
  <p:notesMasterIdLst>
    <p:notesMasterId xmlns:r="http://schemas.openxmlformats.org/officeDocument/2006/relationships" r:id="Rb6e31dedb4fc4350"/>
  </p:notesMasterIdLst>
  <p:sldIdLst>
    <p:sldId xmlns:r="http://schemas.openxmlformats.org/officeDocument/2006/relationships" id="256" r:id="R516916111f5743e7"/>
    <p:sldId xmlns:r="http://schemas.openxmlformats.org/officeDocument/2006/relationships" id="257" r:id="R83c884b3309646a7"/>
    <p:sldId xmlns:r="http://schemas.openxmlformats.org/officeDocument/2006/relationships" id="258" r:id="R6693ae1d48e3405e"/>
    <p:sldId xmlns:r="http://schemas.openxmlformats.org/officeDocument/2006/relationships" id="259" r:id="R7fd2cc982abb4e35"/>
    <p:sldId xmlns:r="http://schemas.openxmlformats.org/officeDocument/2006/relationships" id="260" r:id="R985dfd598bb04098"/>
    <p:sldId xmlns:r="http://schemas.openxmlformats.org/officeDocument/2006/relationships" id="261" r:id="Rbed9a885ffc94911"/>
    <p:sldId xmlns:r="http://schemas.openxmlformats.org/officeDocument/2006/relationships" id="262" r:id="R7ffd4c916660471a"/>
    <p:sldId xmlns:r="http://schemas.openxmlformats.org/officeDocument/2006/relationships" id="263" r:id="R820ff6b13cbe4dee"/>
    <p:sldId xmlns:r="http://schemas.openxmlformats.org/officeDocument/2006/relationships" id="264" r:id="Re02f7fde22a240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8b17f0ac634090" /><Relationship Type="http://schemas.openxmlformats.org/officeDocument/2006/relationships/slideMaster" Target="/ppt/slideMasters/slideMaster1.xml" Id="Rc346a1e50bec4081" /><Relationship Type="http://schemas.openxmlformats.org/officeDocument/2006/relationships/notesMaster" Target="/ppt/notesMasters/notesMaster1.xml" Id="Rb6e31dedb4fc4350" /><Relationship Type="http://schemas.openxmlformats.org/officeDocument/2006/relationships/presProps" Target="/ppt/presProps.xml" Id="R5ca78f8638fd49f1" /><Relationship Type="http://schemas.openxmlformats.org/officeDocument/2006/relationships/tableStyles" Target="/ppt/tableStyles.xml" Id="R3172899c4e844c10" /><Relationship Type="http://schemas.openxmlformats.org/officeDocument/2006/relationships/slide" Target="/ppt/slides/slide1.xml" Id="R516916111f5743e7" /><Relationship Type="http://schemas.openxmlformats.org/officeDocument/2006/relationships/slide" Target="/ppt/slides/slide2.xml" Id="R83c884b3309646a7" /><Relationship Type="http://schemas.openxmlformats.org/officeDocument/2006/relationships/slide" Target="/ppt/slides/slide3.xml" Id="R6693ae1d48e3405e" /><Relationship Type="http://schemas.openxmlformats.org/officeDocument/2006/relationships/slide" Target="/ppt/slides/slide4.xml" Id="R7fd2cc982abb4e35" /><Relationship Type="http://schemas.openxmlformats.org/officeDocument/2006/relationships/slide" Target="/ppt/slides/slide5.xml" Id="R985dfd598bb04098" /><Relationship Type="http://schemas.openxmlformats.org/officeDocument/2006/relationships/slide" Target="/ppt/slides/slide6.xml" Id="Rbed9a885ffc94911" /><Relationship Type="http://schemas.openxmlformats.org/officeDocument/2006/relationships/slide" Target="/ppt/slides/slide7.xml" Id="R7ffd4c916660471a" /><Relationship Type="http://schemas.openxmlformats.org/officeDocument/2006/relationships/slide" Target="/ppt/slides/slide8.xml" Id="R820ff6b13cbe4dee" /><Relationship Type="http://schemas.openxmlformats.org/officeDocument/2006/relationships/slide" Target="/ppt/slides/slide9.xml" Id="Re02f7fde22a2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2d45a7332743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cde023b1f247f1" /><Relationship Type="http://schemas.openxmlformats.org/officeDocument/2006/relationships/notesMaster" Target="/ppt/notesMasters/notesMaster1.xml" Id="Re1fc1e7991e545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952e9900744bee" /><Relationship Type="http://schemas.openxmlformats.org/officeDocument/2006/relationships/notesMaster" Target="/ppt/notesMasters/notesMaster1.xml" Id="R2f8533f88d5745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73df79f8194850" /><Relationship Type="http://schemas.openxmlformats.org/officeDocument/2006/relationships/notesMaster" Target="/ppt/notesMasters/notesMaster1.xml" Id="R4d377da92432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f535c3735848ef" /><Relationship Type="http://schemas.openxmlformats.org/officeDocument/2006/relationships/notesMaster" Target="/ppt/notesMasters/notesMaster1.xml" Id="R3eb326709fab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90651693024bef" /><Relationship Type="http://schemas.openxmlformats.org/officeDocument/2006/relationships/notesMaster" Target="/ppt/notesMasters/notesMaster1.xml" Id="R9e7ed3e351bb42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ad99995323482a" /><Relationship Type="http://schemas.openxmlformats.org/officeDocument/2006/relationships/notesMaster" Target="/ppt/notesMasters/notesMaster1.xml" Id="Rb76fa3bf6ee54e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289eeff1f24d84" /><Relationship Type="http://schemas.openxmlformats.org/officeDocument/2006/relationships/notesMaster" Target="/ppt/notesMasters/notesMaster1.xml" Id="R85c9858f22b940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4ca63bc5444be5" /><Relationship Type="http://schemas.openxmlformats.org/officeDocument/2006/relationships/notesMaster" Target="/ppt/notesMasters/notesMaster1.xml" Id="R340abc99e8284e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38f1668e664024" /><Relationship Type="http://schemas.openxmlformats.org/officeDocument/2006/relationships/notesMaster" Target="/ppt/notesMasters/notesMaster1.xml" Id="R595f224057714f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result: E1 is a development mechanics audit. It correctly stops because only 26.2% of eligible signals receive a control under the frozen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D48 -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Project/Time-Series-Modeling-Gen5/docs/GEN5_4_EVENT_REACTION_E1_CONTRACT.md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signal is not actionable until the next-session close. The earliest permitted entry is the following open, which prevents using an observation and trading at the same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D47 -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Project/Time-Series-Modeling-Gen5/docs/GEN5_4_EVENT_REACTION_E1_CONTRACT.md</a:t>
            </a:r>
          </a:p>
          <a:p xmlns:a="http://schemas.openxmlformats.org/drawingml/2006/main">
            <a:r>
              <a:t>- C:/Users/Franc/OneDrive/Documents/Francis/Peltata Project/Time-Series-Modeling-Gen5/R/gen54_event_reaction_e1.R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 and price-reaction construction itself is not data-starved: support exceeds the frozen minimum counts, issuer coverage, and quarter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D48 -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Project/Time-Series-Modeling-Gen5/runs/research_workbench/gen54_ml_decision_engine/g54_event_e1_20260727/e1_signal_funnel.csv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Project/Time-Series-Modeling-Gen5/runs/research_workbench/gen54_ml_decision_engine/g54_event_e1_20260727/visuals/e1_signal_funnel.png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not repaired by widening the caliper or changing zero-news after seeing the result. That would change the frozen experiment post hoc.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D48 -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Project/Time-Series-Modeling-Gen5/runs/research_workbench/gen54_ml_decision_engine/g54_event_e1_20260727/e1_match_support_diagnostic.csv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Project/Time-Series-Modeling-Gen5/runs/research_workbench/gen54_ml_decision_engine/g54_event_e1_20260727/visuals/e1_match_support.png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Project/Time-Series-Modeling-Gen5/runs/research_workbench/gen54_ml_decision_engine/g54_event_e1_20260727/e1_integrity_audit.csv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chart checks the quality of the 122 accepted matches. It must not be read as evidence that the matched subset represents the full E1 signal population.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D48 -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Project/Time-Series-Modeling-Gen5/runs/research_workbench/gen54_ml_decision_engine/g54_event_e1_20260727/e1_matched_controls.csv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Project/Time-Series-Modeling-Gen5/runs/research_workbench/gen54_ml_decision_engine/g54_event_e1_20260727/visuals/e1_match_quality.png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pooled difference is nearly zero and the fold effects are heterogeneous. Because the match-support gate failed, these values cannot promote or reject a predictive theory.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D48 -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Project/Time-Series-Modeling-Gen5/runs/research_workbench/gen54_ml_decision_engine/g54_event_e1_20260727/e1_fold_summary.csv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Project/Time-Series-Modeling-Gen5/runs/research_workbench/gen54_ml_decision_engine/g54_event_e1_20260727/visuals/e1_fold_readout.png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panels make the mechanics inspectable: information intensity, overnight and intraday reactions, delayed entry, matched control, and five-session relative continuation.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D48 -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Project/Time-Series-Modeling-Gen5/runs/research_workbench/gen54_ml_decision_engine/g54_event_e1_20260727/e1_representative_tape.csv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Project/Time-Series-Modeling-Gen5/runs/research_workbench/gen54_ml_decision_engine/g54_event_e1_20260727/visuals/e1_representative_event_reaction_tapes.png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frozen gate is meaningful only if one failure can stop the program. E1 therefore does not advance to prospective confirmation as currently defined.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D48 -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Project/Time-Series-Modeling-Gen5/runs/research_workbench/gen54_ml_decision_engine/g54_event_e1_20260727/e1_integrity_audit.csv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Project/Time-Series-Modeling-Gen5/runs/research_workbench/gen54_ml_decision_engine/g54_event_e1_20260727/visuals/e1_gate_summary.png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recommended redesign changes the scientific question openly: unusual versus ordinary information intensity within issuer. It must be agreed before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D48 -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Project/Time-Series-Modeling-Gen5/docs/GEN5_4_EVENT_REACTION_E1_CONTRACT.md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Project/Time-Series-Modeling-Gen5/runs/research_workbench/gen54_ml_decision_engine/g54_event_e1_20260727/e1_match_support_diagnostic.csv</a:t>
            </a:r>
          </a:p>
          <a:p xmlns:a="http://schemas.openxmlformats.org/drawingml/2006/main">
            <a:r>
              <a:t>- C:/Users/Franc/OneDrive/Documents/Francis/Peltata Project/Time-Series-Modeling-Gen5/runs/research_workbench/gen54_ml_decision_engine/g54_event_e1_20260727/e1_prospective_shadow_status.csv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2ff4c0e4041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3ab49a84a74e68" /><Relationship Type="http://schemas.openxmlformats.org/officeDocument/2006/relationships/slideLayout" Target="/ppt/slideLayouts/slideLayout1.xml" Id="R65b45fd3f6794f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45fd3f6794f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8e576e4bf4bc3" /><Relationship Type="http://schemas.openxmlformats.org/officeDocument/2006/relationships/notesSlide" Target="/ppt/notesSlides/notesSlide1.xml" Id="R99bbf921dcda4f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24c4675e044f1" /><Relationship Type="http://schemas.openxmlformats.org/officeDocument/2006/relationships/notesSlide" Target="/ppt/notesSlides/notesSlide2.xml" Id="R1efcda8c880d44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45c46613d48e5" /><Relationship Type="http://schemas.openxmlformats.org/officeDocument/2006/relationships/image" Target="/ppt/media/image.png" Id="Rd3991f9d98f943ce" /><Relationship Type="http://schemas.openxmlformats.org/officeDocument/2006/relationships/notesSlide" Target="/ppt/notesSlides/notesSlide3.xml" Id="Rddb0194d582e42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cfcc4b8014bfc" /><Relationship Type="http://schemas.openxmlformats.org/officeDocument/2006/relationships/image" Target="/ppt/media/image2.png" Id="Rfaa7c70715d543bd" /><Relationship Type="http://schemas.openxmlformats.org/officeDocument/2006/relationships/notesSlide" Target="/ppt/notesSlides/notesSlide4.xml" Id="R59d9f0c8370548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ff2fa71274cd0" /><Relationship Type="http://schemas.openxmlformats.org/officeDocument/2006/relationships/image" Target="/ppt/media/image3.png" Id="Rcd79d47869fa4e19" /><Relationship Type="http://schemas.openxmlformats.org/officeDocument/2006/relationships/notesSlide" Target="/ppt/notesSlides/notesSlide5.xml" Id="R8870b54ee18b47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78558ce2f484c" /><Relationship Type="http://schemas.openxmlformats.org/officeDocument/2006/relationships/image" Target="/ppt/media/image4.png" Id="Ra1aabeb749d2443b" /><Relationship Type="http://schemas.openxmlformats.org/officeDocument/2006/relationships/notesSlide" Target="/ppt/notesSlides/notesSlide6.xml" Id="Rf41ec8d51b154b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b4a1c80e84c3f" /><Relationship Type="http://schemas.openxmlformats.org/officeDocument/2006/relationships/image" Target="/ppt/media/image5.png" Id="R1c4213f7e4194cc4" /><Relationship Type="http://schemas.openxmlformats.org/officeDocument/2006/relationships/notesSlide" Target="/ppt/notesSlides/notesSlide7.xml" Id="Rd6559aee098549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71d7c494e4803" /><Relationship Type="http://schemas.openxmlformats.org/officeDocument/2006/relationships/image" Target="/ppt/media/image6.png" Id="R96b19175a57247f9" /><Relationship Type="http://schemas.openxmlformats.org/officeDocument/2006/relationships/notesSlide" Target="/ppt/notesSlides/notesSlide8.xml" Id="Racc6c45f3aa74e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bebc27e164014" /><Relationship Type="http://schemas.openxmlformats.org/officeDocument/2006/relationships/notesSlide" Target="/ppt/notesSlides/notesSlide9.xml" Id="Rafa6d914d5174d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B89303D9-AB28-4877-9501-E9440CB8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EVENT-REACTION DEVELOPMENT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017458-9C97-43F0-99F8-9A024DE5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E1 stops before prospective confirmation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2352BAC-6D89-4B99-A657-9C267A1A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 construction is leakage-safe and well supported. The frozen matched-control gate is not.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12C19BEC-2539-4DFA-ACB7-E17353C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1447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7676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323F6C50-9802-4C73-AA7C-A7B88AF3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E1 EVENT-REACTION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1BE057-9658-48D4-83F0-8EB3A6C4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estimand respects when each fact becomes knowable</a:t>
            </a:r>
          </a:p>
        </p:txBody>
      </p:sp>
      <p:sp>
        <p:nvSpPr>
          <p:cNvPr id="3" name="rule-42-142-1196">
            <a:extLst xmlns:a="http://schemas.openxmlformats.org/drawingml/2006/main">
              <a:ext uri="{FF2B5EF4-FFF2-40B4-BE49-F238E27FC236}">
                <a16:creationId xmlns:a16="http://schemas.microsoft.com/office/drawing/2014/main" id="{02DA3EDC-0DFB-4B2B-8524-2702B37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ule-92-345-1080">
            <a:extLst xmlns:a="http://schemas.openxmlformats.org/drawingml/2006/main">
              <a:ext uri="{FF2B5EF4-FFF2-40B4-BE49-F238E27FC236}">
                <a16:creationId xmlns:a16="http://schemas.microsoft.com/office/drawing/2014/main" id="{D85DFBA5-F116-44E7-887E-168CFAD9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de-105">
            <a:extLst xmlns:a="http://schemas.openxmlformats.org/drawingml/2006/main">
              <a:ext uri="{FF2B5EF4-FFF2-40B4-BE49-F238E27FC236}">
                <a16:creationId xmlns:a16="http://schemas.microsoft.com/office/drawing/2014/main" id="{FBAE8AE7-6DE1-482A-BC05-1CF69E4D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105">
            <a:extLst xmlns:a="http://schemas.openxmlformats.org/drawingml/2006/main">
              <a:ext uri="{FF2B5EF4-FFF2-40B4-BE49-F238E27FC236}">
                <a16:creationId xmlns:a16="http://schemas.microsoft.com/office/drawing/2014/main" id="{B55AEF9A-2763-44B1-90E5-FD81A061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195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17:30 close</a:t>
            </a:r>
          </a:p>
        </p:txBody>
      </p:sp>
      <p:sp>
        <p:nvSpPr>
          <p:cNvPr id="7" name="sub-105">
            <a:extLst xmlns:a="http://schemas.openxmlformats.org/drawingml/2006/main">
              <a:ext uri="{FF2B5EF4-FFF2-40B4-BE49-F238E27FC236}">
                <a16:creationId xmlns:a16="http://schemas.microsoft.com/office/drawing/2014/main" id="{390D20E9-6084-47C1-89C4-6BB12D7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10025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unusual news cycle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known</a:t>
            </a:r>
          </a:p>
        </p:txBody>
      </p:sp>
      <p:sp>
        <p:nvSpPr>
          <p:cNvPr id="8" name="node-360">
            <a:extLst xmlns:a="http://schemas.openxmlformats.org/drawingml/2006/main">
              <a:ext uri="{FF2B5EF4-FFF2-40B4-BE49-F238E27FC236}">
                <a16:creationId xmlns:a16="http://schemas.microsoft.com/office/drawing/2014/main" id="{1E881CB5-E6BC-4909-B3E9-D9DF7C5B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360">
            <a:extLst xmlns:a="http://schemas.openxmlformats.org/drawingml/2006/main">
              <a:ext uri="{FF2B5EF4-FFF2-40B4-BE49-F238E27FC236}">
                <a16:creationId xmlns:a16="http://schemas.microsoft.com/office/drawing/2014/main" id="{BBF878F6-4EF6-48A1-B86F-982FE757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195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open</a:t>
            </a:r>
          </a:p>
        </p:txBody>
      </p:sp>
      <p:sp>
        <p:nvSpPr>
          <p:cNvPr id="10" name="sub-360">
            <a:extLst xmlns:a="http://schemas.openxmlformats.org/drawingml/2006/main">
              <a:ext uri="{FF2B5EF4-FFF2-40B4-BE49-F238E27FC236}">
                <a16:creationId xmlns:a16="http://schemas.microsoft.com/office/drawing/2014/main" id="{59941C55-B601-4EA5-B53A-928BDAA1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10025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overnight reaction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1" name="node-615">
            <a:extLst xmlns:a="http://schemas.openxmlformats.org/drawingml/2006/main">
              <a:ext uri="{FF2B5EF4-FFF2-40B4-BE49-F238E27FC236}">
                <a16:creationId xmlns:a16="http://schemas.microsoft.com/office/drawing/2014/main" id="{B94F6F89-DE27-4FB1-9CB6-C676D3A5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-615">
            <a:extLst xmlns:a="http://schemas.openxmlformats.org/drawingml/2006/main">
              <a:ext uri="{FF2B5EF4-FFF2-40B4-BE49-F238E27FC236}">
                <a16:creationId xmlns:a16="http://schemas.microsoft.com/office/drawing/2014/main" id="{C4DDD0C2-0E17-4E38-840D-DCBB0B4D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6195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close</a:t>
            </a:r>
          </a:p>
        </p:txBody>
      </p:sp>
      <p:sp>
        <p:nvSpPr>
          <p:cNvPr id="13" name="sub-615">
            <a:extLst xmlns:a="http://schemas.openxmlformats.org/drawingml/2006/main">
              <a:ext uri="{FF2B5EF4-FFF2-40B4-BE49-F238E27FC236}">
                <a16:creationId xmlns:a16="http://schemas.microsoft.com/office/drawing/2014/main" id="{3C6BFBD6-B59B-4C0C-B9AB-278C8086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0025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intraday reaction observed;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signal becomes known</a:t>
            </a:r>
          </a:p>
        </p:txBody>
      </p:sp>
      <p:sp>
        <p:nvSpPr>
          <p:cNvPr id="14" name="node-875">
            <a:extLst xmlns:a="http://schemas.openxmlformats.org/drawingml/2006/main">
              <a:ext uri="{FF2B5EF4-FFF2-40B4-BE49-F238E27FC236}">
                <a16:creationId xmlns:a16="http://schemas.microsoft.com/office/drawing/2014/main" id="{79D2B375-4CAE-40EC-925D-71146877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875">
            <a:extLst xmlns:a="http://schemas.openxmlformats.org/drawingml/2006/main">
              <a:ext uri="{FF2B5EF4-FFF2-40B4-BE49-F238E27FC236}">
                <a16:creationId xmlns:a16="http://schemas.microsoft.com/office/drawing/2014/main" id="{0F85BFF1-ED26-4A4D-AB94-2A7FE62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195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following open</a:t>
            </a:r>
          </a:p>
        </p:txBody>
      </p:sp>
      <p:sp>
        <p:nvSpPr>
          <p:cNvPr id="16" name="sub-875">
            <a:extLst xmlns:a="http://schemas.openxmlformats.org/drawingml/2006/main">
              <a:ext uri="{FF2B5EF4-FFF2-40B4-BE49-F238E27FC236}">
                <a16:creationId xmlns:a16="http://schemas.microsoft.com/office/drawing/2014/main" id="{23B280DF-2E32-4156-A82E-9200A4C2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earliest entry</a:t>
            </a:r>
          </a:p>
        </p:txBody>
      </p:sp>
      <p:sp>
        <p:nvSpPr>
          <p:cNvPr id="17" name="node-1120">
            <a:extLst xmlns:a="http://schemas.openxmlformats.org/drawingml/2006/main">
              <a:ext uri="{FF2B5EF4-FFF2-40B4-BE49-F238E27FC236}">
                <a16:creationId xmlns:a16="http://schemas.microsoft.com/office/drawing/2014/main" id="{E1153F8F-5F0C-4533-A2CB-894987CD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bel-1120">
            <a:extLst xmlns:a="http://schemas.openxmlformats.org/drawingml/2006/main">
              <a:ext uri="{FF2B5EF4-FFF2-40B4-BE49-F238E27FC236}">
                <a16:creationId xmlns:a16="http://schemas.microsoft.com/office/drawing/2014/main" id="{0B1A1081-E0FA-4B27-A478-97AFF166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195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+5 sessions</a:t>
            </a:r>
          </a:p>
        </p:txBody>
      </p:sp>
      <p:sp>
        <p:nvSpPr>
          <p:cNvPr id="19" name="sub-1120">
            <a:extLst xmlns:a="http://schemas.openxmlformats.org/drawingml/2006/main">
              <a:ext uri="{FF2B5EF4-FFF2-40B4-BE49-F238E27FC236}">
                <a16:creationId xmlns:a16="http://schemas.microsoft.com/office/drawing/2014/main" id="{89C79501-52D8-443A-9C0C-01C29E89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10025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endpoint open</a:t>
            </a:r>
          </a:p>
        </p:txBody>
      </p:sp>
      <p:sp>
        <p:nvSpPr>
          <p:cNvPr id="20" name="formula">
            <a:extLst xmlns:a="http://schemas.openxmlformats.org/drawingml/2006/main">
              <a:ext uri="{FF2B5EF4-FFF2-40B4-BE49-F238E27FC236}">
                <a16:creationId xmlns:a16="http://schemas.microsoft.com/office/drawing/2014/main" id="{9DA53134-B3E2-4B37-81D9-1C2679B1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positive SPY-adjusted overnight  +  positive SPY-adjusted intraday</a:t>
            </a:r>
          </a:p>
        </p:txBody>
      </p:sp>
      <p:sp>
        <p:nvSpPr>
          <p:cNvPr id="21" name="outcome">
            <a:extLst xmlns:a="http://schemas.openxmlformats.org/drawingml/2006/main">
              <a:ext uri="{FF2B5EF4-FFF2-40B4-BE49-F238E27FC236}">
                <a16:creationId xmlns:a16="http://schemas.microsoft.com/office/drawing/2014/main" id="{180DBC34-EED0-4B02-917C-B2F90EC3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Outcome: entry-open to endpoint-open return minus SPY over the identical interval.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82D684B7-A64A-4BC1-A6D9-1E96219E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9055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No close-to-close shortcut. No same-close execution.</a:t>
            </a:r>
          </a:p>
        </p:txBody>
      </p:sp>
    </p:spTree>
    <p:extLst>
      <p:ext uri="{BB962C8B-B14F-4D97-AF65-F5344CB8AC3E}">
        <p14:creationId xmlns:p14="http://schemas.microsoft.com/office/powerpoint/2010/main" val="1986732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CC9564B1-6E92-4A1C-8B6F-2995BA62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E1 EVENT-REACTION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274D94-66B7-4FB2-A05E-FA9D280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unusual-news reaction funnel has broad support</a:t>
            </a:r>
          </a:p>
        </p:txBody>
      </p:sp>
      <p:sp>
        <p:nvSpPr>
          <p:cNvPr id="3" name="rule-42-142-1196">
            <a:extLst xmlns:a="http://schemas.openxmlformats.org/drawingml/2006/main">
              <a:ext uri="{FF2B5EF4-FFF2-40B4-BE49-F238E27FC236}">
                <a16:creationId xmlns:a16="http://schemas.microsoft.com/office/drawing/2014/main" id="{9B70C0FD-27B7-48B6-9D52-129BF05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91f9d98f943ce"/>
          <a:stretch xmlns:a="http://schemas.openxmlformats.org/drawingml/2006/main"/>
        </p:blipFill>
        <p:spPr>
          <a:xfrm xmlns:a="http://schemas.openxmlformats.org/drawingml/2006/main">
            <a:off x="333375" y="1675805"/>
            <a:ext cx="8096250" cy="4554141"/>
          </a:xfrm>
          <a:prstGeom xmlns:a="http://schemas.openxmlformats.org/drawingml/2006/main" prst="rect">
            <a:avLst/>
          </a:prstGeom>
        </p:spPr>
      </p:pic>
      <p:sp>
        <p:nvSpPr>
          <p:cNvPr id="5" name="support">
            <a:extLst xmlns:a="http://schemas.openxmlformats.org/drawingml/2006/main">
              <a:ext uri="{FF2B5EF4-FFF2-40B4-BE49-F238E27FC236}">
                <a16:creationId xmlns:a16="http://schemas.microsoft.com/office/drawing/2014/main" id="{055F513A-70EF-4D7F-B629-D4CC1ACF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52600"/>
            <a:ext cx="276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ignals">
            <a:extLst xmlns:a="http://schemas.openxmlformats.org/drawingml/2006/main">
              <a:ext uri="{FF2B5EF4-FFF2-40B4-BE49-F238E27FC236}">
                <a16:creationId xmlns:a16="http://schemas.microsoft.com/office/drawing/2014/main" id="{DCA5003E-5894-49EA-B0D4-51D2C1EE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465</a:t>
            </a:r>
          </a:p>
        </p:txBody>
      </p:sp>
      <p:sp>
        <p:nvSpPr>
          <p:cNvPr id="7" name="signals-label">
            <a:extLst xmlns:a="http://schemas.openxmlformats.org/drawingml/2006/main">
              <a:ext uri="{FF2B5EF4-FFF2-40B4-BE49-F238E27FC236}">
                <a16:creationId xmlns:a16="http://schemas.microsoft.com/office/drawing/2014/main" id="{7EDA86F3-E92A-48F7-8F70-A3F82A95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146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non-overlapping signals</a:t>
            </a:r>
          </a:p>
        </p:txBody>
      </p:sp>
      <p:sp>
        <p:nvSpPr>
          <p:cNvPr id="8" name="rule-955-388-225">
            <a:extLst xmlns:a="http://schemas.openxmlformats.org/drawingml/2006/main">
              <a:ext uri="{FF2B5EF4-FFF2-40B4-BE49-F238E27FC236}">
                <a16:creationId xmlns:a16="http://schemas.microsoft.com/office/drawing/2014/main" id="{6F6C9DEF-4540-44B8-972F-1B551EDD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95700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ssuers">
            <a:extLst xmlns:a="http://schemas.openxmlformats.org/drawingml/2006/main">
              <a:ext uri="{FF2B5EF4-FFF2-40B4-BE49-F238E27FC236}">
                <a16:creationId xmlns:a16="http://schemas.microsoft.com/office/drawing/2014/main" id="{C826978D-7810-4E24-A89F-12DA6A28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00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24 / 24 issuers</a:t>
            </a:r>
          </a:p>
        </p:txBody>
      </p:sp>
      <p:sp>
        <p:nvSpPr>
          <p:cNvPr id="10" name="quarters">
            <a:extLst xmlns:a="http://schemas.openxmlformats.org/drawingml/2006/main">
              <a:ext uri="{FF2B5EF4-FFF2-40B4-BE49-F238E27FC236}">
                <a16:creationId xmlns:a16="http://schemas.microsoft.com/office/drawing/2014/main" id="{243FA95F-6929-4E0A-873C-9F04FC7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33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 / 6 quarters</a:t>
            </a:r>
          </a:p>
        </p:txBody>
      </p:sp>
      <p:sp>
        <p:nvSpPr>
          <p:cNvPr id="11" name="scope">
            <a:extLst xmlns:a="http://schemas.openxmlformats.org/drawingml/2006/main">
              <a:ext uri="{FF2B5EF4-FFF2-40B4-BE49-F238E27FC236}">
                <a16:creationId xmlns:a16="http://schemas.microsoft.com/office/drawing/2014/main" id="{47B9DB4F-33F6-4D19-9BC6-F0ED55F5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625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Development window: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2025Q1-2026Q2</a:t>
            </a:r>
          </a:p>
        </p:txBody>
      </p:sp>
    </p:spTree>
    <p:extLst>
      <p:ext uri="{BB962C8B-B14F-4D97-AF65-F5344CB8AC3E}">
        <p14:creationId xmlns:p14="http://schemas.microsoft.com/office/powerpoint/2010/main" val="1298234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EA83AE38-2BA6-4679-9D83-DB36A8C9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E1 EVENT-REACTION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1B3887-842E-4A18-A983-09EEC19F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zero-news control is too sparse to carry the claim</a:t>
            </a:r>
          </a:p>
        </p:txBody>
      </p:sp>
      <p:sp>
        <p:nvSpPr>
          <p:cNvPr id="3" name="rule-42-142-1196">
            <a:extLst xmlns:a="http://schemas.openxmlformats.org/drawingml/2006/main">
              <a:ext uri="{FF2B5EF4-FFF2-40B4-BE49-F238E27FC236}">
                <a16:creationId xmlns:a16="http://schemas.microsoft.com/office/drawing/2014/main" id="{24DB45A0-577B-4DE0-B314-CF0BC73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7c70715d543bd"/>
          <a:stretch xmlns:a="http://schemas.openxmlformats.org/drawingml/2006/main"/>
        </p:blipFill>
        <p:spPr>
          <a:xfrm xmlns:a="http://schemas.openxmlformats.org/drawingml/2006/main">
            <a:off x="266700" y="1797050"/>
            <a:ext cx="7524750" cy="4264025"/>
          </a:xfrm>
          <a:prstGeom xmlns:a="http://schemas.openxmlformats.org/drawingml/2006/main" prst="rect">
            <a:avLst/>
          </a:prstGeom>
        </p:spPr>
      </p:pic>
      <p:sp>
        <p:nvSpPr>
          <p:cNvPr id="5" name="stop-panel">
            <a:extLst xmlns:a="http://schemas.openxmlformats.org/drawingml/2006/main">
              <a:ext uri="{FF2B5EF4-FFF2-40B4-BE49-F238E27FC236}">
                <a16:creationId xmlns:a16="http://schemas.microsoft.com/office/drawing/2014/main" id="{3DE58A23-0049-4F9E-A8AC-AD89FC7F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ch-share">
            <a:extLst xmlns:a="http://schemas.openxmlformats.org/drawingml/2006/main">
              <a:ext uri="{FF2B5EF4-FFF2-40B4-BE49-F238E27FC236}">
                <a16:creationId xmlns:a16="http://schemas.microsoft.com/office/drawing/2014/main" id="{8D16BB47-F1DD-4E16-B2F1-01B97A6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26.2%</a:t>
            </a:r>
          </a:p>
        </p:txBody>
      </p:sp>
      <p:sp>
        <p:nvSpPr>
          <p:cNvPr id="7" name="threshold">
            <a:extLst xmlns:a="http://schemas.openxmlformats.org/drawingml/2006/main">
              <a:ext uri="{FF2B5EF4-FFF2-40B4-BE49-F238E27FC236}">
                <a16:creationId xmlns:a16="http://schemas.microsoft.com/office/drawing/2014/main" id="{0C760366-6DC3-4C44-ACC1-B73BDA91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03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matched vs. frozen 70% minimum</a:t>
            </a:r>
          </a:p>
        </p:txBody>
      </p:sp>
      <p:sp>
        <p:nvSpPr>
          <p:cNvPr id="8" name="rule-885-400-285">
            <a:extLst xmlns:a="http://schemas.openxmlformats.org/drawingml/2006/main">
              <a:ext uri="{FF2B5EF4-FFF2-40B4-BE49-F238E27FC236}">
                <a16:creationId xmlns:a16="http://schemas.microsoft.com/office/drawing/2014/main" id="{8994C026-B5F1-48EA-B375-E7FB2F74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1000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reakdown">
            <a:extLst xmlns:a="http://schemas.openxmlformats.org/drawingml/2006/main">
              <a:ext uri="{FF2B5EF4-FFF2-40B4-BE49-F238E27FC236}">
                <a16:creationId xmlns:a16="http://schemas.microsoft.com/office/drawing/2014/main" id="{3B0CDD65-4340-4182-88A7-034012F2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714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122 matched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160 had no same-issuer zero-news candidate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183 had candidates only outside the 0.50z caliper</a:t>
            </a:r>
          </a:p>
        </p:txBody>
      </p:sp>
      <p:sp>
        <p:nvSpPr>
          <p:cNvPr id="10" name="status">
            <a:extLst xmlns:a="http://schemas.openxmlformats.org/drawingml/2006/main">
              <a:ext uri="{FF2B5EF4-FFF2-40B4-BE49-F238E27FC236}">
                <a16:creationId xmlns:a16="http://schemas.microsoft.com/office/drawing/2014/main" id="{A49F0554-BD95-4A0E-8E40-6151A56F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096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STOP  /  DO NOT RELAX AFTER SEEING</a:t>
            </a:r>
          </a:p>
        </p:txBody>
      </p:sp>
    </p:spTree>
    <p:extLst>
      <p:ext uri="{BB962C8B-B14F-4D97-AF65-F5344CB8AC3E}">
        <p14:creationId xmlns:p14="http://schemas.microsoft.com/office/powerpoint/2010/main" val="44612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0F15DC3-8F00-4575-8112-C59085AF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E1 EVENT-REACTION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FF7A8E-81E7-42AF-B493-A004903B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Accepted controls are close on the frozen price pattern</a:t>
            </a:r>
          </a:p>
        </p:txBody>
      </p:sp>
      <p:sp>
        <p:nvSpPr>
          <p:cNvPr id="3" name="rule-42-142-1196">
            <a:extLst xmlns:a="http://schemas.openxmlformats.org/drawingml/2006/main">
              <a:ext uri="{FF2B5EF4-FFF2-40B4-BE49-F238E27FC236}">
                <a16:creationId xmlns:a16="http://schemas.microsoft.com/office/drawing/2014/main" id="{AA413452-06FF-4051-A1A2-7004506A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9d47869fa4e19"/>
          <a:stretch xmlns:a="http://schemas.openxmlformats.org/drawingml/2006/main"/>
        </p:blipFill>
        <p:spPr>
          <a:xfrm xmlns:a="http://schemas.openxmlformats.org/drawingml/2006/main">
            <a:off x="361950" y="2094379"/>
            <a:ext cx="7858125" cy="3697941"/>
          </a:xfrm>
          <a:prstGeom xmlns:a="http://schemas.openxmlformats.org/drawingml/2006/main" prst="rect">
            <a:avLst/>
          </a:prstGeom>
        </p:spPr>
      </p:pic>
      <p:sp>
        <p:nvSpPr>
          <p:cNvPr id="5" name="quality-note">
            <a:extLst xmlns:a="http://schemas.openxmlformats.org/drawingml/2006/main">
              <a:ext uri="{FF2B5EF4-FFF2-40B4-BE49-F238E27FC236}">
                <a16:creationId xmlns:a16="http://schemas.microsoft.com/office/drawing/2014/main" id="{CBC42FF2-8130-4C82-ADDD-E1A0C537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90700"/>
            <a:ext cx="2905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DA6D73FB-066E-478B-AECE-E663D39B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passed</a:t>
            </a:r>
          </a:p>
        </p:txBody>
      </p:sp>
      <p:sp>
        <p:nvSpPr>
          <p:cNvPr id="7" name="quality-copy">
            <a:extLst xmlns:a="http://schemas.openxmlformats.org/drawingml/2006/main">
              <a:ext uri="{FF2B5EF4-FFF2-40B4-BE49-F238E27FC236}">
                <a16:creationId xmlns:a16="http://schemas.microsoft.com/office/drawing/2014/main" id="{E8449948-3873-4AA2-AF6F-EE6773DF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238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issuer and fold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Zero news at the decision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Positive overnight reaction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Positive intraday reaction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robust-z distance &lt;= 0.50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outcome used in matching</a:t>
            </a:r>
          </a:p>
        </p:txBody>
      </p:sp>
      <p:sp>
        <p:nvSpPr>
          <p:cNvPr id="8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176F08C7-9C55-4CB3-8CD6-347CF29C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Good local matches do not compensate for missing controls on 73.8% of signals.</a:t>
            </a:r>
          </a:p>
        </p:txBody>
      </p:sp>
    </p:spTree>
    <p:extLst>
      <p:ext uri="{BB962C8B-B14F-4D97-AF65-F5344CB8AC3E}">
        <p14:creationId xmlns:p14="http://schemas.microsoft.com/office/powerpoint/2010/main" val="1717157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F824F083-D1CB-4140-A10E-87EE89CA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E1 EVENT-REACTION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1ED862-52C4-4B57-8CD8-31DEAC44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development-only effect is unstable across quarters</a:t>
            </a:r>
          </a:p>
        </p:txBody>
      </p:sp>
      <p:sp>
        <p:nvSpPr>
          <p:cNvPr id="3" name="rule-42-142-1196">
            <a:extLst xmlns:a="http://schemas.openxmlformats.org/drawingml/2006/main">
              <a:ext uri="{FF2B5EF4-FFF2-40B4-BE49-F238E27FC236}">
                <a16:creationId xmlns:a16="http://schemas.microsoft.com/office/drawing/2014/main" id="{E5C71D56-BAB6-4FA2-A05F-D78E0492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abeb749d2443b"/>
          <a:stretch xmlns:a="http://schemas.openxmlformats.org/drawingml/2006/main"/>
        </p:blipFill>
        <p:spPr>
          <a:xfrm xmlns:a="http://schemas.openxmlformats.org/drawingml/2006/main">
            <a:off x="345281" y="1524000"/>
            <a:ext cx="8177213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readout">
            <a:extLst xmlns:a="http://schemas.openxmlformats.org/drawingml/2006/main">
              <a:ext uri="{FF2B5EF4-FFF2-40B4-BE49-F238E27FC236}">
                <a16:creationId xmlns:a16="http://schemas.microsoft.com/office/drawing/2014/main" id="{BDAC072C-03A3-4A2C-90F5-6613AA3D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33550"/>
            <a:ext cx="2571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an">
            <a:extLst xmlns:a="http://schemas.openxmlformats.org/drawingml/2006/main">
              <a:ext uri="{FF2B5EF4-FFF2-40B4-BE49-F238E27FC236}">
                <a16:creationId xmlns:a16="http://schemas.microsoft.com/office/drawing/2014/main" id="{339FB51C-57CB-4797-90F4-61353746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04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-0.4 bp</a:t>
            </a:r>
          </a:p>
        </p:txBody>
      </p:sp>
      <p:sp>
        <p:nvSpPr>
          <p:cNvPr id="7" name="mean-label">
            <a:extLst xmlns:a="http://schemas.openxmlformats.org/drawingml/2006/main">
              <a:ext uri="{FF2B5EF4-FFF2-40B4-BE49-F238E27FC236}">
                <a16:creationId xmlns:a16="http://schemas.microsoft.com/office/drawing/2014/main" id="{1E395095-C0E5-4BA9-8DE3-0E9F432B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0350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pooled mean difference</a:t>
            </a:r>
          </a:p>
        </p:txBody>
      </p:sp>
      <p:sp>
        <p:nvSpPr>
          <p:cNvPr id="8" name="rule-965-370-210">
            <a:extLst xmlns:a="http://schemas.openxmlformats.org/drawingml/2006/main">
              <a:ext uri="{FF2B5EF4-FFF2-40B4-BE49-F238E27FC236}">
                <a16:creationId xmlns:a16="http://schemas.microsoft.com/office/drawing/2014/main" id="{2D91DA59-FDD0-42BE-ABFA-63ED3675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gnal">
            <a:extLst xmlns:a="http://schemas.openxmlformats.org/drawingml/2006/main">
              <a:ext uri="{FF2B5EF4-FFF2-40B4-BE49-F238E27FC236}">
                <a16:creationId xmlns:a16="http://schemas.microsoft.com/office/drawing/2014/main" id="{8F94DF52-A2B6-46EC-9099-D37FEBAB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2905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Signal: -39.4 bp</a:t>
            </a:r>
          </a:p>
        </p:txBody>
      </p:sp>
      <p:sp>
        <p:nvSpPr>
          <p:cNvPr id="10" name="control">
            <a:extLst xmlns:a="http://schemas.openxmlformats.org/drawingml/2006/main">
              <a:ext uri="{FF2B5EF4-FFF2-40B4-BE49-F238E27FC236}">
                <a16:creationId xmlns:a16="http://schemas.microsoft.com/office/drawing/2014/main" id="{D1C66F70-3A3C-466B-AA5E-219521C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053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Control: -39.0 bp</a:t>
            </a:r>
          </a:p>
        </p:txBody>
      </p:sp>
      <p:sp>
        <p:nvSpPr>
          <p:cNvPr id="11" name="warn">
            <a:extLst xmlns:a="http://schemas.openxmlformats.org/drawingml/2006/main">
              <a:ext uri="{FF2B5EF4-FFF2-40B4-BE49-F238E27FC236}">
                <a16:creationId xmlns:a16="http://schemas.microsoft.com/office/drawing/2014/main" id="{52866BA4-EE9A-4EEB-B622-A4044E74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76800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Quarter effects change sign and exceed +/-90 bp. This is descriptive development evidence only.</a:t>
            </a:r>
          </a:p>
        </p:txBody>
      </p:sp>
    </p:spTree>
    <p:extLst>
      <p:ext uri="{BB962C8B-B14F-4D97-AF65-F5344CB8AC3E}">
        <p14:creationId xmlns:p14="http://schemas.microsoft.com/office/powerpoint/2010/main" val="505764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72BA824F-D3D4-4CB1-AF06-37FA7C43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E1 EVENT-REACTION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54F3FC-B81E-4D12-B981-B8F2F710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Representative tapes expose the full timing chain</a:t>
            </a:r>
          </a:p>
        </p:txBody>
      </p:sp>
      <p:sp>
        <p:nvSpPr>
          <p:cNvPr id="3" name="rule-42-142-1196">
            <a:extLst xmlns:a="http://schemas.openxmlformats.org/drawingml/2006/main">
              <a:ext uri="{FF2B5EF4-FFF2-40B4-BE49-F238E27FC236}">
                <a16:creationId xmlns:a16="http://schemas.microsoft.com/office/drawing/2014/main" id="{6C0FD593-9290-4954-8961-2F5E1736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213f7e4194cc4"/>
          <a:stretch xmlns:a="http://schemas.openxmlformats.org/drawingml/2006/main"/>
        </p:blipFill>
        <p:spPr>
          <a:xfrm xmlns:a="http://schemas.openxmlformats.org/drawingml/2006/main">
            <a:off x="2171700" y="1476375"/>
            <a:ext cx="78486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0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146F75A4-C6DA-4102-95E1-EFC4B3DD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E1 EVENT-REACTION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E40B30-E940-434A-AB80-38E207BA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Fourteen gates pass; one gate determines the decision</a:t>
            </a:r>
          </a:p>
        </p:txBody>
      </p:sp>
      <p:sp>
        <p:nvSpPr>
          <p:cNvPr id="3" name="rule-42-142-1196">
            <a:extLst xmlns:a="http://schemas.openxmlformats.org/drawingml/2006/main">
              <a:ext uri="{FF2B5EF4-FFF2-40B4-BE49-F238E27FC236}">
                <a16:creationId xmlns:a16="http://schemas.microsoft.com/office/drawing/2014/main" id="{F5BA8442-EC11-40BB-9FE8-F6E6D921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19175a57247f9"/>
          <a:stretch xmlns:a="http://schemas.openxmlformats.org/drawingml/2006/main"/>
        </p:blipFill>
        <p:spPr>
          <a:xfrm xmlns:a="http://schemas.openxmlformats.org/drawingml/2006/main">
            <a:off x="307398" y="1476375"/>
            <a:ext cx="7433830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DA560B4D-A46D-4A99-8D83-C5E35B3D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urteen">
            <a:extLst xmlns:a="http://schemas.openxmlformats.org/drawingml/2006/main">
              <a:ext uri="{FF2B5EF4-FFF2-40B4-BE49-F238E27FC236}">
                <a16:creationId xmlns:a16="http://schemas.microsoft.com/office/drawing/2014/main" id="{BF13709B-D168-4C86-8B9D-EDDB33C4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7" name="fourteen-label">
            <a:extLst xmlns:a="http://schemas.openxmlformats.org/drawingml/2006/main">
              <a:ext uri="{FF2B5EF4-FFF2-40B4-BE49-F238E27FC236}">
                <a16:creationId xmlns:a16="http://schemas.microsoft.com/office/drawing/2014/main" id="{5EED9BF0-9ABC-4588-97B0-B6FB3E6D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gates pass</a:t>
            </a:r>
          </a:p>
        </p:txBody>
      </p:sp>
      <p:sp>
        <p:nvSpPr>
          <p:cNvPr id="8" name="passed">
            <a:extLst xmlns:a="http://schemas.openxmlformats.org/drawingml/2006/main">
              <a:ext uri="{FF2B5EF4-FFF2-40B4-BE49-F238E27FC236}">
                <a16:creationId xmlns:a16="http://schemas.microsoft.com/office/drawing/2014/main" id="{F58365E4-D46C-4049-8239-1E273233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2714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Passed: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authority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point-in-time timing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TRAIN-only thresholds/scales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 support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coverage and overlap controls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outcome-free matching</a:t>
            </a:r>
          </a:p>
        </p:txBody>
      </p:sp>
      <p:sp>
        <p:nvSpPr>
          <p:cNvPr id="9" name="stop">
            <a:extLst xmlns:a="http://schemas.openxmlformats.org/drawingml/2006/main">
              <a:ext uri="{FF2B5EF4-FFF2-40B4-BE49-F238E27FC236}">
                <a16:creationId xmlns:a16="http://schemas.microsoft.com/office/drawing/2014/main" id="{3F2DDA29-A0A6-494D-A2E5-0BF2C667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96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STOP_E1_DEVELOPMENT_MECHANICS</a:t>
            </a:r>
          </a:p>
        </p:txBody>
      </p:sp>
    </p:spTree>
    <p:extLst>
      <p:ext uri="{BB962C8B-B14F-4D97-AF65-F5344CB8AC3E}">
        <p14:creationId xmlns:p14="http://schemas.microsoft.com/office/powerpoint/2010/main" val="66438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C88F7CC-3449-436D-9B1A-8ECE473E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GEN5.4  /  E1 EVENT-REACTION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881425-A925-4E89-95EB-A6B01FCA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step is a theory choice, not a parameter tweak</a:t>
            </a:r>
          </a:p>
        </p:txBody>
      </p:sp>
      <p:sp>
        <p:nvSpPr>
          <p:cNvPr id="3" name="rule-42-142-1196">
            <a:extLst xmlns:a="http://schemas.openxmlformats.org/drawingml/2006/main">
              <a:ext uri="{FF2B5EF4-FFF2-40B4-BE49-F238E27FC236}">
                <a16:creationId xmlns:a16="http://schemas.microsoft.com/office/drawing/2014/main" id="{9674B3A7-5804-400E-A5E3-15BB5B1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ommend-title">
            <a:extLst xmlns:a="http://schemas.openxmlformats.org/drawingml/2006/main">
              <a:ext uri="{FF2B5EF4-FFF2-40B4-BE49-F238E27FC236}">
                <a16:creationId xmlns:a16="http://schemas.microsoft.com/office/drawing/2014/main" id="{719F0F50-2B95-49FD-9733-A4432CD8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Recommended redesign</a:t>
            </a:r>
          </a:p>
        </p:txBody>
      </p:sp>
      <p:sp>
        <p:nvSpPr>
          <p:cNvPr id="5" name="recommend">
            <a:extLst xmlns:a="http://schemas.openxmlformats.org/drawingml/2006/main">
              <a:ext uri="{FF2B5EF4-FFF2-40B4-BE49-F238E27FC236}">
                <a16:creationId xmlns:a16="http://schemas.microsoft.com/office/drawing/2014/main" id="{975E49F4-7D00-462B-90FB-3ECEEDA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issuer, same fold, similar positive price reaction - but ordinary news intensity below the TRAIN p80 threshold.</a:t>
            </a:r>
          </a:p>
        </p:txBody>
      </p:sp>
      <p:sp>
        <p:nvSpPr>
          <p:cNvPr id="6" name="estimand">
            <a:extLst xmlns:a="http://schemas.openxmlformats.org/drawingml/2006/main">
              <a:ext uri="{FF2B5EF4-FFF2-40B4-BE49-F238E27FC236}">
                <a16:creationId xmlns:a16="http://schemas.microsoft.com/office/drawing/2014/main" id="{056BE9F4-0CE0-4BD0-94B7-A113C47F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05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estimand: does unusually intense information arrival differ from ordinary information arrival when the issuer and initial price reaction are comparable?</a:t>
            </a:r>
          </a:p>
        </p:txBody>
      </p:sp>
      <p:sp>
        <p:nvSpPr>
          <p:cNvPr id="7" name="rule-627-185-2">
            <a:extLst xmlns:a="http://schemas.openxmlformats.org/drawingml/2006/main">
              <a:ext uri="{FF2B5EF4-FFF2-40B4-BE49-F238E27FC236}">
                <a16:creationId xmlns:a16="http://schemas.microsoft.com/office/drawing/2014/main" id="{A89EE58E-033E-4446-AAD3-8943108F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76212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lternative-title">
            <a:extLst xmlns:a="http://schemas.openxmlformats.org/drawingml/2006/main">
              <a:ext uri="{FF2B5EF4-FFF2-40B4-BE49-F238E27FC236}">
                <a16:creationId xmlns:a16="http://schemas.microsoft.com/office/drawing/2014/main" id="{C00843C9-7C30-4BD5-BE5C-92E5B4F4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Real alternative</a:t>
            </a:r>
          </a:p>
        </p:txBody>
      </p:sp>
      <p:sp>
        <p:nvSpPr>
          <p:cNvPr id="9" name="alternative">
            <a:extLst xmlns:a="http://schemas.openxmlformats.org/drawingml/2006/main">
              <a:ext uri="{FF2B5EF4-FFF2-40B4-BE49-F238E27FC236}">
                <a16:creationId xmlns:a16="http://schemas.microsoft.com/office/drawing/2014/main" id="{77641459-756C-4EA0-AB56-2C6D83E4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zero-news controls, but permit a predeclared economic peer group when same-issuer support is absent.</a:t>
            </a:r>
          </a:p>
        </p:txBody>
      </p:sp>
      <p:sp>
        <p:nvSpPr>
          <p:cNvPr id="10" name="tradeoff">
            <a:extLst xmlns:a="http://schemas.openxmlformats.org/drawingml/2006/main">
              <a:ext uri="{FF2B5EF4-FFF2-40B4-BE49-F238E27FC236}">
                <a16:creationId xmlns:a16="http://schemas.microsoft.com/office/drawing/2014/main" id="{C3186428-00DB-482F-8A59-891A90CB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preserves the zero-news comparison but weakens issuer comparability and requires a new, point-in-time group definition.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12E37DD0-73D1-4884-80C5-FE494CB8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44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B30E600D-AB63-476A-8843-E790CCA0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1C1C"/>
                </a:solidFill>
                <a:latin typeface="Arial"/>
                <a:ea typeface="Arial"/>
                <a:cs typeface="Arial"/>
              </a:rPr>
              <a:t>Do not widen the 0.50z caliper, change the current outcome, or treat the empty shadow schema as confirmation.</a:t>
            </a:r>
          </a:p>
        </p:txBody>
      </p:sp>
    </p:spTree>
    <p:extLst>
      <p:ext uri="{BB962C8B-B14F-4D97-AF65-F5344CB8AC3E}">
        <p14:creationId xmlns:p14="http://schemas.microsoft.com/office/powerpoint/2010/main" val="805666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2026-07-27T09:46:09.5370000Z</dcterms:created>
  <dcterms:modified xsi:type="dcterms:W3CDTF">2026-07-27T09:46:09.5370000Z</dcterms:modified>
</coreProperties>
</file>