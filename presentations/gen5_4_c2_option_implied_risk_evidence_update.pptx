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1ad9d118d4564" /><Relationship Type="http://schemas.openxmlformats.org/officeDocument/2006/relationships/extended-properties" Target="/docProps/app.xml" Id="R69fc56231ba5435c" /><Relationship Type="http://schemas.openxmlformats.org/officeDocument/2006/relationships/officeDocument" Target="/ppt/presentation.xml" Id="Rf9c323b41076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39ed1f43f84734"/>
  </p:sldMasterIdLst>
  <p:notesMasterIdLst>
    <p:notesMasterId xmlns:r="http://schemas.openxmlformats.org/officeDocument/2006/relationships" r:id="Ra033202af8804191"/>
  </p:notesMasterIdLst>
  <p:sldIdLst>
    <p:sldId xmlns:r="http://schemas.openxmlformats.org/officeDocument/2006/relationships" id="256" r:id="R43217dcd152343c6"/>
    <p:sldId xmlns:r="http://schemas.openxmlformats.org/officeDocument/2006/relationships" id="257" r:id="R50e8f689f25744ea"/>
    <p:sldId xmlns:r="http://schemas.openxmlformats.org/officeDocument/2006/relationships" id="258" r:id="R42cd11fa81974283"/>
    <p:sldId xmlns:r="http://schemas.openxmlformats.org/officeDocument/2006/relationships" id="259" r:id="Rc4de2507169f4c43"/>
    <p:sldId xmlns:r="http://schemas.openxmlformats.org/officeDocument/2006/relationships" id="260" r:id="R8e6219909b9748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c92dabff3341b9" /><Relationship Type="http://schemas.openxmlformats.org/officeDocument/2006/relationships/slideMaster" Target="/ppt/slideMasters/slideMaster1.xml" Id="Re839ed1f43f84734" /><Relationship Type="http://schemas.openxmlformats.org/officeDocument/2006/relationships/notesMaster" Target="/ppt/notesMasters/notesMaster1.xml" Id="Ra033202af8804191" /><Relationship Type="http://schemas.openxmlformats.org/officeDocument/2006/relationships/presProps" Target="/ppt/presProps.xml" Id="R7c78579d477e4c26" /><Relationship Type="http://schemas.openxmlformats.org/officeDocument/2006/relationships/tableStyles" Target="/ppt/tableStyles.xml" Id="R874fa7e0edb84005" /><Relationship Type="http://schemas.openxmlformats.org/officeDocument/2006/relationships/slide" Target="/ppt/slides/slide1.xml" Id="R43217dcd152343c6" /><Relationship Type="http://schemas.openxmlformats.org/officeDocument/2006/relationships/slide" Target="/ppt/slides/slide2.xml" Id="R50e8f689f25744ea" /><Relationship Type="http://schemas.openxmlformats.org/officeDocument/2006/relationships/slide" Target="/ppt/slides/slide3.xml" Id="R42cd11fa81974283" /><Relationship Type="http://schemas.openxmlformats.org/officeDocument/2006/relationships/slide" Target="/ppt/slides/slide4.xml" Id="Rc4de2507169f4c43" /><Relationship Type="http://schemas.openxmlformats.org/officeDocument/2006/relationships/slide" Target="/ppt/slides/slide5.xml" Id="R8e6219909b9748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0e82a81fb54b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519306b314ab8" /><Relationship Type="http://schemas.openxmlformats.org/officeDocument/2006/relationships/notesMaster" Target="/ppt/notesMasters/notesMaster1.xml" Id="R3b5a729f2dee4d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75d3e785c340e3" /><Relationship Type="http://schemas.openxmlformats.org/officeDocument/2006/relationships/notesMaster" Target="/ppt/notesMasters/notesMaster1.xml" Id="R44892c94446742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316a51432e420e" /><Relationship Type="http://schemas.openxmlformats.org/officeDocument/2006/relationships/notesMaster" Target="/ppt/notesMasters/notesMaster1.xml" Id="R5d926c90224a41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82e7ac6f7b4ec9" /><Relationship Type="http://schemas.openxmlformats.org/officeDocument/2006/relationships/notesMaster" Target="/ppt/notesMasters/notesMaster1.xml" Id="R7e3e05b03e7644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7d0bc9259245a7" /><Relationship Type="http://schemas.openxmlformats.org/officeDocument/2006/relationships/notesMaster" Target="/ppt/notesMasters/notesMaster1.xml" Id="R1cc0eb60d998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8 - C2 OPTION-IMPLIED RISK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Test one retail-accessible non-OHLCV primitive without opening a model, scaler, allocation rule, or live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small proof of concept using non-technical or non-OHLCV indicators</a:t>
            </a:r>
          </a:p>
          <a:p xmlns:a="http://schemas.openxmlformats.org/drawingml/2006/main">
            <a:r>
              <a:t>Artifact: docs/GEN5_4_CROSS_SECTIONAL_ASSET_SELECTION_POC_PLAN.md</a:t>
            </a:r>
          </a:p>
          <a:p xmlns:a="http://schemas.openxmlformats.org/drawingml/2006/main">
            <a:r>
              <a:t>Boundary: official Cboe VIX is research-only; Alpaca remains the canonical adjusted daily OHLCV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D26 - PROVIDER BOUNDARY AND FROZEN C2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Provider decision</a:t>
            </a:r>
          </a:p>
          <a:p xmlns:a="http://schemas.openxmlformats.org/drawingml/2006/main">
            <a:r>
              <a:t>The existing Alpaca stock-bars path returned zero VIX bars for 2024-01-02 through 2024-01-10. VIXY returned seven bars but is a futures-roll ETF and cannot substitute for spot VIX. C2 therefore uses the official Cboe daily VIX history as a research-only input. Alpaca remains canonical for adjusted daily OHLCV.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</a:t>
            </a:r>
          </a:p>
          <a:p xmlns:a="http://schemas.openxmlformats.org/drawingml/2006/main">
            <a:r>
              <a:t>Same-session official VIX close divided by 100, known after close t. Dates are joined exactly; there is no carry-forward or backward fill.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and folds</a:t>
            </a:r>
          </a:p>
          <a:p xmlns:a="http://schemas.openxmlformats.org/drawingml/2006/main">
            <a:r>
              <a:t>Same 18-of-24 executable equal-weight reference basket, next-open h5 and h20 realized volatility, 20 quarterly OOS folds from 2020Q1 through 2024Q4, and the preceding eight quarters as TRAIN.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Promotion</a:t>
            </a:r>
          </a:p>
          <a:p xmlns:a="http://schemas.openxmlformats.org/drawingml/2006/main">
            <a:r>
              <a:t>At both horizons: positive mean direct Spearman correlation, at least 12/20 positive direct folds, positive mean high-minus-low realized-volatility separation, at least 12/20 positive-separation folds, and 25%-75% high-state share. Incremental evidence additionally requires positive partial correlation controlling SPY drawdown and at least 12/20 positive partial folds.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</a:t>
            </a:r>
          </a:p>
          <a:p xmlns:a="http://schemas.openxmlformats.org/drawingml/2006/main">
            <a:r>
              <a:t>Alpaca stock bars: https://docs.alpaca.markets/us/v1.1/reference/stockbars</a:t>
            </a:r>
          </a:p>
          <a:p xmlns:a="http://schemas.openxmlformats.org/drawingml/2006/main">
            <a:r>
              <a:t>Alpaca options history: https://docs.alpaca.markets/us/docs/historical-option-data</a:t>
            </a:r>
          </a:p>
          <a:p xmlns:a="http://schemas.openxmlformats.org/drawingml/2006/main">
            <a:r>
              <a:t>Cboe VIX history: https://www.cboe.com/tradable_products/vix/vix_historical_data</a:t>
            </a:r>
          </a:p>
          <a:p xmlns:a="http://schemas.openxmlformats.org/drawingml/2006/main">
            <a:r>
              <a:t>Cboe VIX methodology: https://www.cboe.com/tradable_products/vix/faqs</a:t>
            </a:r>
          </a:p>
          <a:p xmlns:a="http://schemas.openxmlformats.org/drawingml/2006/main">
            <a:r>
              <a:t>ProShares VIXY: https://www.proshares.com/our-etfs/strategic/vixy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this data should be available through the Alpaca API</a:t>
            </a:r>
          </a:p>
          <a:p xmlns:a="http://schemas.openxmlformats.org/drawingml/2006/main">
            <a:r>
              <a:t>Run spec: C:/Users/Franc/OneDrive/Documents/Francis/Peltata Project/Time-Series-Modeling-Gen5/runs/research_workbench/gen54_ml_decision_engine/g54_c2_vix_risk_20260721/c2_run_spec.csv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D27 - CONTINUOUS ORDERING PASSES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h5</a:t>
            </a:r>
          </a:p>
          <a:p xmlns:a="http://schemas.openxmlformats.org/drawingml/2006/main">
            <a:r>
              <a:t>Direct: 15/20 positive folds; mean rank correlation 0.272.</a:t>
            </a:r>
          </a:p>
          <a:p xmlns:a="http://schemas.openxmlformats.org/drawingml/2006/main">
            <a:r>
              <a:t>Partial controlling SPY drawdown: 15/20 positive folds; mean partial rank correlation 0.155.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h20</a:t>
            </a:r>
          </a:p>
          <a:p xmlns:a="http://schemas.openxmlformats.org/drawingml/2006/main">
            <a:r>
              <a:t>Direct: 12/20 positive folds; mean rank correlation 0.131.</a:t>
            </a:r>
          </a:p>
          <a:p xmlns:a="http://schemas.openxmlformats.org/drawingml/2006/main">
            <a:r>
              <a:t>Partial controlling SPY drawdown: 15/20 positive folds; mean partial rank correlation 0.220.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Official VIX contains multi-horizon risk information and is not merely a restatement of recent SPY drawdown. This is measurement evidence, not yet an exposure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I agree with this direction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Project/Time-Series-Modeling-Gen5/runs/research_workbench/gen54_ml_decision_engine/g54_c2_vix_risk_20260721/c2_report.md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D27 - MEDIAN-STATE SEPARATION STOPS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h5</a:t>
            </a:r>
          </a:p>
          <a:p xmlns:a="http://schemas.openxmlformats.org/drawingml/2006/main">
            <a:r>
              <a:t>Positive high-minus-low separation in 10/20 folds; mean separation +0.053 annualized realized volatility; high-state share 47.4%.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h20</a:t>
            </a:r>
          </a:p>
          <a:p xmlns:a="http://schemas.openxmlformats.org/drawingml/2006/main">
            <a:r>
              <a:t>Positive separation in 8/20 folds; mean separation +0.018; high-state share 45.1%.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The pooled direction is sensible, but the binary conversion is not stable across quarterly authorities. The frozen gate required at least 12/20 positive-separation folds at both horizons.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not tune now</a:t>
            </a:r>
          </a:p>
          <a:p xmlns:a="http://schemas.openxmlformats.org/drawingml/2006/main">
            <a:r>
              <a:t>Choosing a new threshold, quantile, smoothing rule, or nonlinear map after inspecting these folds would convert diagnostic evidence into selection leakage.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I agree with this direction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Project/Time-Series-Modeling-Gen5/runs/research_workbench/gen54_ml_decision_engine/g54_c2_vix_risk_20260721/c2_report.md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D27 - STOP_THRESHOLD_INSTABILITY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Readout</a:t>
            </a:r>
          </a:p>
          <a:p xmlns:a="http://schemas.openxmlformats.org/drawingml/2006/main">
            <a:r>
              <a:t>Official VIX is a credible continuous risk measurement across both horizons and retains information after controlling SPY drawdown. The frozen TRAIN-median high/low state does not transport consistently enough to become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</a:t>
            </a:r>
          </a:p>
          <a:p xmlns:a="http://schemas.openxmlformats.org/drawingml/2006/main">
            <a:r>
              <a:t>Cboe HTTP 200; 1,780 accepted rows from 2018-01-02 through 2024-12-31; 100% exact-date join coverage; zero filled dates; zero duplicates; zero future rows admitted. Alpaca OHLCV health INFO. Nine of nine leakage checks passed. Model, scaler, replay, allocation, and live counts are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theory gate</a:t>
            </a:r>
          </a:p>
          <a:p xmlns:a="http://schemas.openxmlformats.org/drawingml/2006/main">
            <a:r>
              <a:t>Either predeclare one monotone calibration rule and evaluate it only on untouched post-2024 data, or stop the risk-policy lane. Do not choose a threshold or mapping from the inspected 2020-2024 folds.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this data should be available through the Alpaca API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Project/Time-Series-Modeling-Gen5/runs/research_workbench/gen54_ml_decision_engine/g54_c2_vix_risk_20260721/c2_report.md</a:t>
            </a:r>
          </a:p>
          <a:p xmlns:a="http://schemas.openxmlformats.org/drawingml/2006/main">
            <a:r>
              <a:t>Status: STOP_THRESHOLD_INSTABILITY.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900f186fc4e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663b494808427d" /><Relationship Type="http://schemas.openxmlformats.org/officeDocument/2006/relationships/slideLayout" Target="/ppt/slideLayouts/slideLayout1.xml" Id="R35f118eb8adb49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118eb8adb49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196ca60b6454b" /><Relationship Type="http://schemas.openxmlformats.org/officeDocument/2006/relationships/notesSlide" Target="/ppt/notesSlides/notesSlide1.xml" Id="R3e9b24f0cd5344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72ae6457b474e" /><Relationship Type="http://schemas.openxmlformats.org/officeDocument/2006/relationships/notesSlide" Target="/ppt/notesSlides/notesSlide2.xml" Id="R8d9675a59d8f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2039adb294e23" /><Relationship Type="http://schemas.openxmlformats.org/officeDocument/2006/relationships/image" Target="/ppt/media/image.png" Id="Rb532c52f828448e5" /><Relationship Type="http://schemas.openxmlformats.org/officeDocument/2006/relationships/notesSlide" Target="/ppt/notesSlides/notesSlide3.xml" Id="Rdbe522fe2fe243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6cf30f9794a89" /><Relationship Type="http://schemas.openxmlformats.org/officeDocument/2006/relationships/image" Target="/ppt/media/image2.png" Id="R74449265931848ee" /><Relationship Type="http://schemas.openxmlformats.org/officeDocument/2006/relationships/notesSlide" Target="/ppt/notesSlides/notesSlide4.xml" Id="Ra031a15c5908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418b62c224772" /><Relationship Type="http://schemas.openxmlformats.org/officeDocument/2006/relationships/image" Target="/ppt/media/image3.png" Id="R2e036320860b4217" /><Relationship Type="http://schemas.openxmlformats.org/officeDocument/2006/relationships/notesSlide" Target="/ppt/notesSlides/notesSlide5.xml" Id="R0d74d3d1bb7846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S8/01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VIX measures risk across both horizons;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median state still fails.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Official VIX  |  continuous ordering  |  incremental evidence  |  frozen STOP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C2 adds one official VIX primitive without changing the trading-data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D26/02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RISK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Official VIX close / 100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exact-date join; no fill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7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EXECUTABLE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h5 + h20 realized volatility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after next-open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PROMOTION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Direct + partial ordering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and median-state stability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3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Alpaca preflight: VIX returned 0 bars. VIXY was rejected because it tracks rolling VIX futures, not spot VIX.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VIX adds continuous risk ordering beyond SPY drawdown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D27/03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2c52f828448e5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frozen median state does not transport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D27/04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49265931848ee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Measurement passes; policy conversion stops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D27/05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36320860b4217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STOP THRESHOLD INSTABILITY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9 / 9 leakage checks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Direct ordering at h5 + h20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Incremental ordering at h5 + h20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Median state: 10 / 20 at h5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Median state: 8 / 20 at h20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scaler, replay, or allocation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Policy fits: 0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2026-07-21T02:55:04.4710000Z</dcterms:created>
  <dcterms:modified xsi:type="dcterms:W3CDTF">2026-07-21T02:55:04.4720000Z</dcterms:modified>
</coreProperties>
</file>