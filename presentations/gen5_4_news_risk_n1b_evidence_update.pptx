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3e4d244b74635" /><Relationship Type="http://schemas.openxmlformats.org/officeDocument/2006/relationships/extended-properties" Target="/docProps/app.xml" Id="R43ccf7887ed6486f" /><Relationship Type="http://schemas.openxmlformats.org/officeDocument/2006/relationships/officeDocument" Target="/ppt/presentation.xml" Id="Rb2ff6a6c301041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f3c66801384b7f"/>
  </p:sldMasterIdLst>
  <p:notesMasterIdLst>
    <p:notesMasterId xmlns:r="http://schemas.openxmlformats.org/officeDocument/2006/relationships" r:id="Rdb7badc5826e43f5"/>
  </p:notesMasterIdLst>
  <p:sldIdLst>
    <p:sldId xmlns:r="http://schemas.openxmlformats.org/officeDocument/2006/relationships" id="256" r:id="R748bbe97d7b9482f"/>
    <p:sldId xmlns:r="http://schemas.openxmlformats.org/officeDocument/2006/relationships" id="257" r:id="R6f01f3ce2b544099"/>
    <p:sldId xmlns:r="http://schemas.openxmlformats.org/officeDocument/2006/relationships" id="258" r:id="R3b07969249024bef"/>
    <p:sldId xmlns:r="http://schemas.openxmlformats.org/officeDocument/2006/relationships" id="259" r:id="R833b9a6b63194369"/>
    <p:sldId xmlns:r="http://schemas.openxmlformats.org/officeDocument/2006/relationships" id="260" r:id="R858b5208ecac4392"/>
    <p:sldId xmlns:r="http://schemas.openxmlformats.org/officeDocument/2006/relationships" id="261" r:id="Ra6af6c2c45014565"/>
    <p:sldId xmlns:r="http://schemas.openxmlformats.org/officeDocument/2006/relationships" id="262" r:id="Re6035ed96b744b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173b5ac6544f09" /><Relationship Type="http://schemas.openxmlformats.org/officeDocument/2006/relationships/slideMaster" Target="/ppt/slideMasters/slideMaster1.xml" Id="R2af3c66801384b7f" /><Relationship Type="http://schemas.openxmlformats.org/officeDocument/2006/relationships/notesMaster" Target="/ppt/notesMasters/notesMaster1.xml" Id="Rdb7badc5826e43f5" /><Relationship Type="http://schemas.openxmlformats.org/officeDocument/2006/relationships/presProps" Target="/ppt/presProps.xml" Id="R0c8391c89f2c4052" /><Relationship Type="http://schemas.openxmlformats.org/officeDocument/2006/relationships/tableStyles" Target="/ppt/tableStyles.xml" Id="Rfa1eeadc08e94d9e" /><Relationship Type="http://schemas.openxmlformats.org/officeDocument/2006/relationships/slide" Target="/ppt/slides/slide1.xml" Id="R748bbe97d7b9482f" /><Relationship Type="http://schemas.openxmlformats.org/officeDocument/2006/relationships/slide" Target="/ppt/slides/slide2.xml" Id="R6f01f3ce2b544099" /><Relationship Type="http://schemas.openxmlformats.org/officeDocument/2006/relationships/slide" Target="/ppt/slides/slide3.xml" Id="R3b07969249024bef" /><Relationship Type="http://schemas.openxmlformats.org/officeDocument/2006/relationships/slide" Target="/ppt/slides/slide4.xml" Id="R833b9a6b63194369" /><Relationship Type="http://schemas.openxmlformats.org/officeDocument/2006/relationships/slide" Target="/ppt/slides/slide5.xml" Id="R858b5208ecac4392" /><Relationship Type="http://schemas.openxmlformats.org/officeDocument/2006/relationships/slide" Target="/ppt/slides/slide6.xml" Id="Ra6af6c2c45014565" /><Relationship Type="http://schemas.openxmlformats.org/officeDocument/2006/relationships/slide" Target="/ppt/slides/slide7.xml" Id="Re6035ed96b744b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8cf97ef2db4c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9a0c276c3446a7" /><Relationship Type="http://schemas.openxmlformats.org/officeDocument/2006/relationships/notesMaster" Target="/ppt/notesMasters/notesMaster1.xml" Id="Re585301f7af4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7c7f4ef3044617" /><Relationship Type="http://schemas.openxmlformats.org/officeDocument/2006/relationships/notesMaster" Target="/ppt/notesMasters/notesMaster1.xml" Id="R6e4855710f4649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10d67a6962472c" /><Relationship Type="http://schemas.openxmlformats.org/officeDocument/2006/relationships/notesMaster" Target="/ppt/notesMasters/notesMaster1.xml" Id="R41e2279d75124b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978333c36c4e5e" /><Relationship Type="http://schemas.openxmlformats.org/officeDocument/2006/relationships/notesMaster" Target="/ppt/notesMasters/notesMaster1.xml" Id="R1c584dd99ced47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7b3b427d52413b" /><Relationship Type="http://schemas.openxmlformats.org/officeDocument/2006/relationships/notesMaster" Target="/ppt/notesMasters/notesMaster1.xml" Id="R9a1144c617a44d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d1b655eff74022" /><Relationship Type="http://schemas.openxmlformats.org/officeDocument/2006/relationships/notesMaster" Target="/ppt/notesMasters/notesMaster1.xml" Id="R224c76c7533c45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8120364e3c4ff7" /><Relationship Type="http://schemas.openxmlformats.org/officeDocument/2006/relationships/notesMaster" Target="/ppt/notesMasters/notesMaster1.xml" Id="Rca67a1b4eef849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13 - NEWS RISK MEASUREMENT N1B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Test one frozen measurement-only claim: unusually high issuer-local novel-news activity should order unusually wide five-session realized price paths beginning at the next executable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</a:t>
            </a:r>
          </a:p>
          <a:p xmlns:a="http://schemas.openxmlformats.org/drawingml/2006/main">
            <a:r>
              <a:t>All frozen data, leakage, support, and association gates passed. This opens a representation discussion only; it does not create a forecast, signal, exposure rule, or trading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Proceed</a:t>
            </a:r>
          </a:p>
          <a:p xmlns:a="http://schemas.openxmlformats.org/drawingml/2006/main">
            <a:r>
              <a:t>Decision: D35</a:t>
            </a:r>
          </a:p>
          <a:p xmlns:a="http://schemas.openxmlformats.org/drawingml/2006/main">
            <a:r>
              <a:t>Contract: docs/GEN5_4_NEWS_RISK_N1B_CONTRACT.md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Project/Time-Series-Modeling-Gen5/runs/research_workbench/gen54_ml_decision_engine/g54_news_n1b_20260721/n1b_report.md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D35 - FROZEN N1B MEASUREMENT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News state</a:t>
            </a:r>
          </a:p>
          <a:p xmlns:a="http://schemas.openxmlformats.org/drawingml/2006/main">
            <a:r>
              <a:t>For each issuer and fold, count admissible novel exact-title clusters in a decision cycle, apply log1p, then map the value through the preceding eight-quarter TRAIN empirical distribution. High intensity requires a nonzero count and percentile at least 0.80.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Outcome</a:t>
            </a:r>
          </a:p>
          <a:p xmlns:a="http://schemas.openxmlformats.org/drawingml/2006/main">
            <a:r>
              <a:t>From the following session open, compute the square root of the sum of squared log moves across five sessions, then divide by the issuer's TRAIN median five-session path volatility.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Leakage controls</a:t>
            </a:r>
          </a:p>
          <a:p xmlns:a="http://schemas.openxmlformats.org/drawingml/2006/main">
            <a:r>
              <a:t>Outcome paths must end inside the same OOS quarter. ECDFs and volatility scales use TRAIN-complete rows only. FB and META are one issuer with point-in-time ticker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Proceed</a:t>
            </a:r>
          </a:p>
          <a:p xmlns:a="http://schemas.openxmlformats.org/drawingml/2006/main">
            <a:r>
              <a:t>Contract: docs/GEN5_4_NEWS_RISK_N1B_CONTRACT.md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D35 - ALL THREE FROZEN ASSOCIATION GATES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Mean fold Spearman correlation is 0.107321. All 12 OOS quarters have positive rank correlation between issuer-local news intensity and relative future path volatility. All 12 also have positive high-intensity-minus-other separation.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The association is modest in rank magnitude but unusually stable across the frozen quarter sequence. Stability, not one pooled headline number, is the core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</a:t>
            </a:r>
          </a:p>
          <a:p xmlns:a="http://schemas.openxmlformats.org/drawingml/2006/main">
            <a:r>
              <a:t>Five-session outcomes overlap, so daily issuer observations are not independent hypothesis-test trials. No p-value, causal claim, or policy return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Project/Time-Series-Modeling-Gen5/runs/research_workbench/gen54_ml_decision_engine/g54_news_n1b_20260721/n1b_report.md</a:t>
            </a:r>
          </a:p>
          <a:p xmlns:a="http://schemas.openxmlformats.org/drawingml/2006/main">
            <a:r>
              <a:t>Conversation: codex://threads/019f741e-615f-7fd0-90f7-edce12b5cb66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D35 - COVERAGE NON-STATIONARITY REMAINS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The FB historical lane adds 4,757 articles before issuer mapping, closing the pre-META ticker-history gap. The final admissible archive supplies 130,763 issuer-news associations after the 24-hour staleness and 72-hour repeat exclusions.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Coverage remains strongly issuer- and time-dependent. A pooled article count would still encode vendor attention and company popularity. The N1B pass depends on issuer-local TRAIN normalization, not on treating raw counts as comparable.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Project/Time-Series-Modeling-Gen5/runs/research_workbench/gen54_ml_decision_engine/g54_news_n1b_20260721/n1b_report.md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D35 - LOCAL CALIBRATION IS ESSENTIAL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In the 2024Q4 fold, the p80 raw-count threshold is 20 clusters for AAPL and 27 for TSLA, versus only one for CAT and KO. CAT and KO also have zero-news shares near 50 percent, while AAPL and TSLA have none.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Tie caveat</a:t>
            </a:r>
          </a:p>
          <a:p xmlns:a="http://schemas.openxmlformats.org/drawingml/2006/main">
            <a:r>
              <a:t>Counts are discrete. When many TRAIN days share the threshold count, the ECDF rule marks a broader state than a literal top 20 percent. Across OOS quarters, the high-state share ranges from 24.8 percent to 46.8 percent.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The frozen gate tested a reproducible high-state definition; it did not prove that 0.80 is an optimal operational cutoff. Threshold search remains closed.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Calibration table: C:/Users/Franc/OneDrive/Documents/Francis/Peltata Project/Time-Series-Modeling-Gen5/runs/research_workbench/gen54_ml_decision_engine/g54_news_n1b_20260721/n1b_train_calibration.csv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D35 - HUMAN-FACING EVENT TAPE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the chart</a:t>
            </a:r>
          </a:p>
          <a:p xmlns:a="http://schemas.openxmlformats.org/drawingml/2006/main">
            <a:r>
              <a:t>The line is each issuer's TRAIN-scaled future five-session path volatility. Orange points mark high-news-intensity decision cycles. A value of one equals the issuer's TRAIN median path volatility for that 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High-news states frequently coincide with wider paths, but many high states are ordinary and some large volatility bursts occur outside them. This is uncertainty context, not a deterministic event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Selection</a:t>
            </a:r>
          </a:p>
          <a:p xmlns:a="http://schemas.openxmlformats.org/drawingml/2006/main">
            <a:r>
              <a:t>The four panels are the issuers with the most high-intensity OOS observations. They are representative evidence surfaces, not a ranking or investable basket.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Tape: C:/Users/Franc/OneDrive/Documents/Francis/Peltata Project/Time-Series-Modeling-Gen5/runs/research_workbench/gen54_ml_decision_engine/g54_news_n1b_20260721/n1b_representative_event_tape.csv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D35 - PASS_N1B_TO_REPRESENTATION_DISCUSSION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Authority</a:t>
            </a:r>
          </a:p>
          <a:p xmlns:a="http://schemas.openxmlformats.org/drawingml/2006/main">
            <a:r>
              <a:t>All 24 issuers have complete adjusted bars from 2019-12-20 through 2024-12-31. All 288 issuer-fold TRAIN support checks pass the 400-complete-row and 20-nonzero-cycle minima. All 11 leakage and boundary checks pass. No material cache warning remains after refresh and hot-cache rerun.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Concentration</a:t>
            </a:r>
          </a:p>
          <a:p xmlns:a="http://schemas.openxmlformats.org/drawingml/2006/main">
            <a:r>
              <a:t>No single issuer dominates the high-state evidence: NVDA is largest at 6.99 percent, followed by AVGO and CAT near 6 percent. Coverage remains non-uniform, so later representation work must retain issuer identity and local calibration.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 gate</a:t>
            </a:r>
          </a:p>
          <a:p xmlns:a="http://schemas.openxmlformats.org/drawingml/2006/main">
            <a:r>
              <a:t>Discuss whether a minimal representation challenger should add recency, source, or cross-issuer context without opening generic sentiment, embeddings, direction, or policy optimization. Do not convert the p80 measurement boundary directly into an exposure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Proceed</a:t>
            </a:r>
          </a:p>
          <a:p xmlns:a="http://schemas.openxmlformats.org/drawingml/2006/main">
            <a:r>
              <a:t>Decision: D35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Project/Time-Series-Modeling-Gen5/runs/research_workbench/gen54_ml_decision_engine/g54_news_n1b_20260721/n1b_report.md</a:t>
            </a:r>
          </a:p>
          <a:p xmlns:a="http://schemas.openxmlformats.org/drawingml/2006/main">
            <a:r>
              <a:t>Status: PASS_N1B_TO_REPRESENTATION_DISCUSSION.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e526b462643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e7d34a89334b99" /><Relationship Type="http://schemas.openxmlformats.org/officeDocument/2006/relationships/slideLayout" Target="/ppt/slideLayouts/slideLayout1.xml" Id="Rf0830ddb6e924b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830ddb6e924b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5a1b869744c90" /><Relationship Type="http://schemas.openxmlformats.org/officeDocument/2006/relationships/notesSlide" Target="/ppt/notesSlides/notesSlide1.xml" Id="R8d0108cafaf14e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00a83be574dae" /><Relationship Type="http://schemas.openxmlformats.org/officeDocument/2006/relationships/notesSlide" Target="/ppt/notesSlides/notesSlide2.xml" Id="R8d050aba350f46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87a7badab4e0f" /><Relationship Type="http://schemas.openxmlformats.org/officeDocument/2006/relationships/image" Target="/ppt/media/image.png" Id="R5291a2ba1b8846ed" /><Relationship Type="http://schemas.openxmlformats.org/officeDocument/2006/relationships/image" Target="/ppt/media/image2.png" Id="R9270a03bd41646cd" /><Relationship Type="http://schemas.openxmlformats.org/officeDocument/2006/relationships/image" Target="/ppt/media/image3.png" Id="R7da2f4393d6f4e9f" /><Relationship Type="http://schemas.openxmlformats.org/officeDocument/2006/relationships/notesSlide" Target="/ppt/notesSlides/notesSlide3.xml" Id="R48482d4628b143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f9547080a4af5" /><Relationship Type="http://schemas.openxmlformats.org/officeDocument/2006/relationships/image" Target="/ppt/media/image4.png" Id="R5f362c2c033a4211" /><Relationship Type="http://schemas.openxmlformats.org/officeDocument/2006/relationships/image" Target="/ppt/media/image5.png" Id="Rfa6e6165272840b5" /><Relationship Type="http://schemas.openxmlformats.org/officeDocument/2006/relationships/image" Target="/ppt/media/image6.png" Id="R222a94e069f54fde" /><Relationship Type="http://schemas.openxmlformats.org/officeDocument/2006/relationships/notesSlide" Target="/ppt/notesSlides/notesSlide4.xml" Id="Rbcfcf32150e441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30af78aad476c" /><Relationship Type="http://schemas.openxmlformats.org/officeDocument/2006/relationships/image" Target="/ppt/media/image.png" Id="R71115c37b5d4479f" /><Relationship Type="http://schemas.openxmlformats.org/officeDocument/2006/relationships/image" Target="/ppt/media/image2.png" Id="R62e959c051e545d0" /><Relationship Type="http://schemas.openxmlformats.org/officeDocument/2006/relationships/image" Target="/ppt/media/image7.png" Id="R54ff274bb75449b5" /><Relationship Type="http://schemas.openxmlformats.org/officeDocument/2006/relationships/notesSlide" Target="/ppt/notesSlides/notesSlide5.xml" Id="R15d586ed493a44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5e6d4dc01435c" /><Relationship Type="http://schemas.openxmlformats.org/officeDocument/2006/relationships/image" Target="/ppt/media/image.png" Id="R57cad4ffb13542e0" /><Relationship Type="http://schemas.openxmlformats.org/officeDocument/2006/relationships/image" Target="/ppt/media/image2.png" Id="Rdbb1e64d899b4ab8" /><Relationship Type="http://schemas.openxmlformats.org/officeDocument/2006/relationships/image" Target="/ppt/media/image8.png" Id="Re451f50df69c4a98" /><Relationship Type="http://schemas.openxmlformats.org/officeDocument/2006/relationships/notesSlide" Target="/ppt/notesSlides/notesSlide6.xml" Id="R88a5c4d9a80441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eb3b3d28e4da9" /><Relationship Type="http://schemas.openxmlformats.org/officeDocument/2006/relationships/image" Target="/ppt/media/image9.png" Id="R0664b1c94b404f49" /><Relationship Type="http://schemas.openxmlformats.org/officeDocument/2006/relationships/image" Target="/ppt/media/image10.png" Id="R197ed3b0b0bf4767" /><Relationship Type="http://schemas.openxmlformats.org/officeDocument/2006/relationships/image" Target="/ppt/media/image11.png" Id="R48b380bbfbe34bbc" /><Relationship Type="http://schemas.openxmlformats.org/officeDocument/2006/relationships/notesSlide" Target="/ppt/notesSlides/notesSlide7.xml" Id="Rda429df11c06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S13/01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N1B finds stable uncertainty context;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trading value remains unproven.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12/12 rank + 12/12 separation  |  mean rho 0.107  |  policies/models zero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test asked one narrow question and froze every clock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D35/02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NEWS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2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issuer-local TRAIN ECDF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nonzero and &gt;= p80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17:30 decision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following-session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five-session path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TRAIN-median scaled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Sentiment, direction, search, models, exposure, allocation, and PnL: zero.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News intensity orders wider future paths in all 12 OOS quarters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D35/03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1a2ba1b8846ed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0a03bd41646cd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2f4393d6f4e9f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Coverage still varies sharply by issuer and calendar quarter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D35/04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62c2c033a4211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e6165272840b5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a94e069f54fde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3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Issuer-local calibration prevents popularity from masquerading as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D35/05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15c37b5d4479f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959c051e545d0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f274bb75449b5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0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Representative tapes show context—not a deterministic forecast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D35/06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ad4ffb13542e0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1e64d899b4ab8"/>
          <a:stretch xmlns:a="http://schemas.openxmlformats.org/drawingml/2006/main"/>
        </p:blipFill>
        <p:spPr>
          <a:xfrm xmlns:a="http://schemas.openxmlformats.org/drawingml/2006/main" flipH="0" flipV="0">
            <a:off x="3810000" y="1381125"/>
            <a:ext cx="4572000" cy="4572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1f50df69c4a98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N1B passes the measurement gate; policy design stays closed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D35/07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4b1c94b404f49"/>
          <a:stretch xmlns:a="http://schemas.openxmlformats.org/drawingml/2006/main"/>
        </p:blipFill>
        <p:spPr>
          <a:xfrm xmlns:a="http://schemas.openxmlformats.org/drawingml/2006/main" flipH="0" flipV="0">
            <a:off x="1558620" y="1992007"/>
            <a:ext cx="3159736" cy="315973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PASS TO REPRESENTATION DISCUSSION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11 / 11 leakage + boundary checks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12 / 12 positive rank quarters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12 / 12 positive separation quarters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WATCH p80 ties broaden the high state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WATCH coverage varies by issuer / time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directional or causal claim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exposure / allocation / PnL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ed3b0b0bf4767"/>
          <a:stretch xmlns:a="http://schemas.openxmlformats.org/drawingml/2006/main"/>
        </p:blipFill>
        <p:spPr>
          <a:xfrm xmlns:a="http://schemas.openxmlformats.org/drawingml/2006/main" flipH="0" flipV="0">
            <a:off x="1558620" y="1992007"/>
            <a:ext cx="3159736" cy="3159736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380bbfbe34bbc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2026-07-21T09:53:29.9740000Z</dcterms:created>
  <dcterms:modified xsi:type="dcterms:W3CDTF">2026-07-21T09:53:29.9740000Z</dcterms:modified>
</coreProperties>
</file>