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75063e1df54292" /><Relationship Type="http://schemas.openxmlformats.org/officeDocument/2006/relationships/extended-properties" Target="/docProps/app.xml" Id="R71748b119b5c4e60" /><Relationship Type="http://schemas.openxmlformats.org/officeDocument/2006/relationships/officeDocument" Target="/ppt/presentation.xml" Id="R8b8b79f6d847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8519265564489"/>
  </p:sldMasterIdLst>
  <p:notesMasterIdLst>
    <p:notesMasterId xmlns:r="http://schemas.openxmlformats.org/officeDocument/2006/relationships" r:id="R8a3a27e73f114234"/>
  </p:notesMasterIdLst>
  <p:sldIdLst>
    <p:sldId xmlns:r="http://schemas.openxmlformats.org/officeDocument/2006/relationships" id="256" r:id="R333fbfa99c424177"/>
    <p:sldId xmlns:r="http://schemas.openxmlformats.org/officeDocument/2006/relationships" id="257" r:id="R69e4cf217b4e4cd5"/>
    <p:sldId xmlns:r="http://schemas.openxmlformats.org/officeDocument/2006/relationships" id="258" r:id="R13774dcaad9c43e6"/>
    <p:sldId xmlns:r="http://schemas.openxmlformats.org/officeDocument/2006/relationships" id="259" r:id="Rc18d2a881f754140"/>
    <p:sldId xmlns:r="http://schemas.openxmlformats.org/officeDocument/2006/relationships" id="260" r:id="R1be0dc228ecd4301"/>
    <p:sldId xmlns:r="http://schemas.openxmlformats.org/officeDocument/2006/relationships" id="261" r:id="Re443c96696164a7c"/>
    <p:sldId xmlns:r="http://schemas.openxmlformats.org/officeDocument/2006/relationships" id="262" r:id="R76a1f60e5f6d4371"/>
    <p:sldId xmlns:r="http://schemas.openxmlformats.org/officeDocument/2006/relationships" id="263" r:id="R2aa53d2a726b443e"/>
    <p:sldId xmlns:r="http://schemas.openxmlformats.org/officeDocument/2006/relationships" id="264" r:id="Rdae693a4eaf54bba"/>
    <p:sldId xmlns:r="http://schemas.openxmlformats.org/officeDocument/2006/relationships" id="265" r:id="R8de316a321e149a1"/>
    <p:sldId xmlns:r="http://schemas.openxmlformats.org/officeDocument/2006/relationships" id="266" r:id="R6094a833cee34d89"/>
    <p:sldId xmlns:r="http://schemas.openxmlformats.org/officeDocument/2006/relationships" id="267" r:id="R23cc5a74a42540d7"/>
    <p:sldId xmlns:r="http://schemas.openxmlformats.org/officeDocument/2006/relationships" id="268" r:id="Ra468a2a12d8a4f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f1047eb924c17" /><Relationship Type="http://schemas.openxmlformats.org/officeDocument/2006/relationships/slideMaster" Target="/ppt/slideMasters/slideMaster1.xml" Id="Rd7f8519265564489" /><Relationship Type="http://schemas.openxmlformats.org/officeDocument/2006/relationships/notesMaster" Target="/ppt/notesMasters/notesMaster1.xml" Id="R8a3a27e73f114234" /><Relationship Type="http://schemas.openxmlformats.org/officeDocument/2006/relationships/presProps" Target="/ppt/presProps.xml" Id="Rf82dc2583f8e43b0" /><Relationship Type="http://schemas.openxmlformats.org/officeDocument/2006/relationships/tableStyles" Target="/ppt/tableStyles.xml" Id="R8a7a2cee70384e61" /><Relationship Type="http://schemas.openxmlformats.org/officeDocument/2006/relationships/slide" Target="/ppt/slides/slide1.xml" Id="R333fbfa99c424177" /><Relationship Type="http://schemas.openxmlformats.org/officeDocument/2006/relationships/slide" Target="/ppt/slides/slide2.xml" Id="R69e4cf217b4e4cd5" /><Relationship Type="http://schemas.openxmlformats.org/officeDocument/2006/relationships/slide" Target="/ppt/slides/slide3.xml" Id="R13774dcaad9c43e6" /><Relationship Type="http://schemas.openxmlformats.org/officeDocument/2006/relationships/slide" Target="/ppt/slides/slide4.xml" Id="Rc18d2a881f754140" /><Relationship Type="http://schemas.openxmlformats.org/officeDocument/2006/relationships/slide" Target="/ppt/slides/slide5.xml" Id="R1be0dc228ecd4301" /><Relationship Type="http://schemas.openxmlformats.org/officeDocument/2006/relationships/slide" Target="/ppt/slides/slide6.xml" Id="Re443c96696164a7c" /><Relationship Type="http://schemas.openxmlformats.org/officeDocument/2006/relationships/slide" Target="/ppt/slides/slide7.xml" Id="R76a1f60e5f6d4371" /><Relationship Type="http://schemas.openxmlformats.org/officeDocument/2006/relationships/slide" Target="/ppt/slides/slide8.xml" Id="R2aa53d2a726b443e" /><Relationship Type="http://schemas.openxmlformats.org/officeDocument/2006/relationships/slide" Target="/ppt/slides/slide9.xml" Id="Rdae693a4eaf54bba" /><Relationship Type="http://schemas.openxmlformats.org/officeDocument/2006/relationships/slide" Target="/ppt/slides/slide10.xml" Id="R8de316a321e149a1" /><Relationship Type="http://schemas.openxmlformats.org/officeDocument/2006/relationships/slide" Target="/ppt/slides/slide11.xml" Id="R6094a833cee34d89" /><Relationship Type="http://schemas.openxmlformats.org/officeDocument/2006/relationships/slide" Target="/ppt/slides/slide12.xml" Id="R23cc5a74a42540d7" /><Relationship Type="http://schemas.openxmlformats.org/officeDocument/2006/relationships/slide" Target="/ppt/slides/slide13.xml" Id="Ra468a2a12d8a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a2b0ac4fe4e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df429c139f42a1" /><Relationship Type="http://schemas.openxmlformats.org/officeDocument/2006/relationships/notesMaster" Target="/ppt/notesMasters/notesMaster1.xml" Id="R88bd91325a20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0b2ad84cbd41f1" /><Relationship Type="http://schemas.openxmlformats.org/officeDocument/2006/relationships/notesMaster" Target="/ppt/notesMasters/notesMaster1.xml" Id="Rdae5890313c841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78fb95ee5c495f" /><Relationship Type="http://schemas.openxmlformats.org/officeDocument/2006/relationships/notesMaster" Target="/ppt/notesMasters/notesMaster1.xml" Id="Rb24d9a96e131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2d8f7495d7454f" /><Relationship Type="http://schemas.openxmlformats.org/officeDocument/2006/relationships/notesMaster" Target="/ppt/notesMasters/notesMaster1.xml" Id="Rd99ecb4f64c64e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66834d4fe6439e" /><Relationship Type="http://schemas.openxmlformats.org/officeDocument/2006/relationships/notesMaster" Target="/ppt/notesMasters/notesMaster1.xml" Id="Ra73e59e5160541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e1581caef747d2" /><Relationship Type="http://schemas.openxmlformats.org/officeDocument/2006/relationships/notesMaster" Target="/ppt/notesMasters/notesMaster1.xml" Id="Ra433660d367348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1603204b54ad9" /><Relationship Type="http://schemas.openxmlformats.org/officeDocument/2006/relationships/notesMaster" Target="/ppt/notesMasters/notesMaster1.xml" Id="Rdce540f32fb141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3ce672a1774531" /><Relationship Type="http://schemas.openxmlformats.org/officeDocument/2006/relationships/notesMaster" Target="/ppt/notesMasters/notesMaster1.xml" Id="Rccb6d27832f44e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f0957672e441d6" /><Relationship Type="http://schemas.openxmlformats.org/officeDocument/2006/relationships/notesMaster" Target="/ppt/notesMasters/notesMaster1.xml" Id="Rb70ad3ca03dd4d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a2ad4b57b8431b" /><Relationship Type="http://schemas.openxmlformats.org/officeDocument/2006/relationships/notesMaster" Target="/ppt/notesMasters/notesMaster1.xml" Id="R33e205c07ab247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6c33fb25b24fcc" /><Relationship Type="http://schemas.openxmlformats.org/officeDocument/2006/relationships/notesMaster" Target="/ppt/notesMasters/notesMaster1.xml" Id="R8ca80ede6a3443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2dff6ec40f4272" /><Relationship Type="http://schemas.openxmlformats.org/officeDocument/2006/relationships/notesMaster" Target="/ppt/notesMasters/notesMaster1.xml" Id="Ra6741ef5a66e44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690e70c0e947a8" /><Relationship Type="http://schemas.openxmlformats.org/officeDocument/2006/relationships/notesMaster" Target="/ppt/notesMasters/notesMaster1.xml" Id="R901be63fcc7b45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works Chan's Kalman-filter example as a student exercise, then extends the same scalar-observation filter from one regressor to two. It is not framed as an alpha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75-82; PDF pp. 93-100</a:t>
            </a:r>
          </a:p>
          <a:p xmlns:a="http://schemas.openxmlformats.org/drawingml/2006/main">
            <a:r>
              <a:t>- C:/Users/Franc/OneDrive/Documents/Francis/Peltata Project/Time-Series-Modeling-Gen5/docs/GEN5_LIT_MR_04_1_KALMAN_PAIR_POC_CONTRACT.md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 motivates Kalman filtering as an alternative to moving-window regression because a rolling window imposes an arbitrary cutoff. Recursive weighting removes the cutoff, but it does not prove that forecast errors are transitory.</a:t>
            </a:r>
          </a:p>
          <a:p xmlns:a="http://schemas.openxmlformats.org/drawingml/2006/main">
            <a:r>
              <a:t>Chan's source example reports 26.2% APR and 2.4 Sharpe in sample. Those figures are context only; the Gen5 interval is not tuned to reproduce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75 and 81; PDF pp. 93 and 99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pair, y is EWC and x is [EWA, 1]. For the triplet, x is [EWA, IGE, 1]. Before seeing y_t, the filter predicts theta_t and P_t. The innovation e_t = y_t - x_t theta_(t|t-1), with variance S_t = x_t P_(t|t-1) x_t' + R.</a:t>
            </a:r>
          </a:p>
          <a:p xmlns:a="http://schemas.openxmlformats.org/drawingml/2006/main">
            <a:r>
              <a:t>The Kalman gain K_t = P_(t|t-1) x_t' / S_t updates theta_(t|t) = theta_(t|t-1) + K_t e_t.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equations 3.7-3.13, printed pp. 76-77; PDF pp. 94-95</a:t>
            </a:r>
          </a:p>
          <a:p xmlns:a="http://schemas.openxmlformats.org/drawingml/2006/main">
            <a:r>
              <a:t>- C:/Users/Franc/OneDrive/Documents/Francis/Peltata Project/Time-Series-Modeling-Gen5/docs/GEN5_LIT_MR_04_1_KALMAN_PAIR_POC_CONTRACT.md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pair is frozen as EWC ~ EWA. The Kalman EWA slope begins near 1.76 after the 252-session warm-up and ends near 1.33. Its mean absolute daily change is 0.00077, versus 0.0871 for rolling OLS.</a:t>
            </a:r>
          </a:p>
          <a:p xmlns:a="http://schemas.openxmlformats.org/drawingml/2006/main">
            <a:r>
              <a:t>Smoothness is the intended estimator behavior, not a performance result. The 20-session OLS coefficient can change sharply as observations enter and leave the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75-78; PDF pp. 93-96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Project/Time-Series-Modeling-Gen5/runs/research_workbench/literature_grounded/lit_mr_04_1_05_1_kalman_textbook_20260729/mr04_coefficient_metrics.csv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Project/Time-Series-Modeling-Gen5/runs/research_workbench/literature_grounded/lit_mr_04_1_05_1_kalman_textbook_20260729/mr04_state_path.csv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Entry occurs when the pre-update standardized innovation is below -1 or above +1. Exit occurs on the zero crossing. The state machine prohibits same-bar reversal.</a:t>
            </a:r>
          </a:p>
          <a:p xmlns:a="http://schemas.openxmlformats.org/drawingml/2006/main">
            <a:r>
              <a:t>The posterior residual is mechanically smaller because the filter has already used y_t to update theta. Treating that residual as convergence evidence would be circular. Gen5 therefore tests the pre-update z-score against a future five-session fixed-posterior-vector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76-81; PDF pp. 94-99</a:t>
            </a:r>
          </a:p>
          <a:p xmlns:a="http://schemas.openxmlformats.org/drawingml/2006/main">
            <a:r>
              <a:t>- C:/Users/Franc/OneDrive/Documents/Francis/Peltata Project/Time-Series-Modeling-Gen5/docs/GEN5_LIT_MR_04_1_KALMAN_PAIR_POC_CONTRACT.md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Project/Time-Series-Modeling-Gen5/runs/research_workbench/literature_grounded/lit_mr_04_1_05_1_kalman_textbook_20260729/mr04_state_path.csv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Project/Time-Series-Modeling-Gen5/runs/research_workbench/literature_grounded/lit_mr_04_1_05_1_kalman_textbook_20260729/mr04_forward_convergence.csv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 parameterizes Vw as delta/(1-delta) times the identity and uses Ve=0.001. A fixed observation variance has units of price squared, so it is not scale invariant. The Gen5 translation estimates R and P0 once from TRAIN warm-up, then freezes Q and R.</a:t>
            </a:r>
          </a:p>
          <a:p xmlns:a="http://schemas.openxmlformats.org/drawingml/2006/main">
            <a:r>
              <a:t>Pair RMSE: Kalman 0.5003 versus rolling OLS 0.3078. Triplet RMSE: Kalman 0.3280 versus rolling OLS 0.2039. Kalman standardized-error lag-one correlation is also high (0.908 pair; 0.871 triplet), so the innovation is not white noise. These are diagnostics, not hidden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77-78; PDF pp. 95-96</a:t>
            </a:r>
          </a:p>
          <a:p xmlns:a="http://schemas.openxmlformats.org/drawingml/2006/main">
            <a:r>
              <a:t>- C:/Users/Franc/OneDrive/Documents/Francis/Peltata Project/Time-Series-Modeling-Gen5/docs/GEN5_LIT_MR_04_1_KALMAN_PAIR_POC_CONTRACT.md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Project/Time-Series-Modeling-Gen5/runs/research_workbench/literature_grounded/lit_mr_04_1_05_1_kalman_textbook_20260729/mr04_calibration.csv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Project/Time-Series-Modeling-Gen5/runs/research_workbench/literature_grounded/lit_mr_04_1_05_1_kalman_textbook_20260729/mr05_calibration.csv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pair returned +14.21% cumulatively after 5 bp turnover costs on TRAIN, with -5.41% maximum drawdown and 0.716 autocorrelation-adjusted Sharpe. Mean completed-trade return was +67.76 bp and hit rate 90.5%.</a:t>
            </a:r>
          </a:p>
          <a:p xmlns:a="http://schemas.openxmlformats.org/drawingml/2006/main">
            <a:r>
              <a:t>The STOP is deliberate. A 21-trade near miss is informative but does not authorize changing the threshold after inspection or opening OOS.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Project/Time-Series-Modeling-Gen5/runs/research_workbench/literature_grounded/lit_mr_04_1_05_1_kalman_textbook_20260729/mr04_train_gates.csv</a:t>
            </a:r>
          </a:p>
          <a:p xmlns:a="http://schemas.openxmlformats.org/drawingml/2006/main">
            <a:r>
              <a:t>- C:/Users/Franc/OneDrive/Documents/Francis/Peltata Project/Time-Series-Modeling-Gen5/docs/GEN5_LIT_MR_04_1_KALMAN_PAIR_POC_CONTRACT.md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top panel compounds next-open-to-next-open bar returns after primary costs; the middle panel shows drawdown; the bottom panel shows gross bar-level spread P&amp;L.</a:t>
            </a:r>
          </a:p>
          <a:p xmlns:a="http://schemas.openxmlformats.org/drawingml/2006/main">
            <a:r>
              <a:t>The bar-level spread-direction hit rate was 53.5%. The same position state predicted EWC's absolute up/down move only 47.6% of the time. Relative-spread success and absolute-direction prediction are different estimands.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Project/Time-Series-Modeling-Gen5/runs/research_workbench/literature_grounded/lit_mr_04_1_05_1_kalman_textbook_20260729/mr04_train_replay.csv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Project/Time-Series-Modeling-Gen5/runs/research_workbench/literature_grounded/lit_mr_04_1_05_1_kalman_textbook_20260729/mr04_train_summary.csv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Project/Time-Series-Modeling-Gen5/runs/research_workbench/literature_grounded/lit_mr_04_1_05_1_kalman_textbook_20260729/visuals/mr04_strategy_anatomy.png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Chan's printed Kalman example is a pair. The two-regressor extension is Gen5 design. It uses the same scalar-observation state-space recursion, not a time-varying Johansen rank estimator.</a:t>
            </a:r>
          </a:p>
          <a:p xmlns:a="http://schemas.openxmlformats.org/drawingml/2006/main">
            <a:r>
              <a:t>IGE was predeclared as a natural-resource factor that might absorb commodity-sensitive variation shared by Australia and Canada. No alternate response orientation or triplet search was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75-82; PDF pp. 93-100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D89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Project/Time-Series-Modeling-Gen5/runs/research_workbench/literature_grounded/lit_mr_04_1_05_1_kalman_textbook_20260729/mr05_state_path.csv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signal is calculated after close t. The posterior slopes are then known and used for the next-open hedge. Daily rehedging makes coefficient movement economically real through turnover.</a:t>
            </a:r>
          </a:p>
          <a:p xmlns:a="http://schemas.openxmlformats.org/drawingml/2006/main">
            <a:r>
              <a:t>The pair and triplet both use +/-1 innovation entries, zero-crossing exits, no same-bar reversal, next-open execution, gross normalization, 5 bp primary turnover cost, 10 bp stress cost, and 100 bp annualized short-leg borrow stress.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80-81; PDF pp. 98-99</a:t>
            </a:r>
          </a:p>
          <a:p xmlns:a="http://schemas.openxmlformats.org/drawingml/2006/main">
            <a:r>
              <a:t>- C:/Users/Franc/OneDrive/Documents/Francis/Peltata Project/Time-Series-Modeling-Gen5/docs/GEN5_LIT_MR_04_1_KALMAN_PAIR_POC_CONTRACT.md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EWA slope moves from about 0.507 to 0.919; the IGE slope moves from about 0.466 to 0.357. Their mean absolute daily changes are 0.00123 and 0.00037, versus 0.0823 and 0.0423 for rolling OLS.</a:t>
            </a:r>
          </a:p>
          <a:p xmlns:a="http://schemas.openxmlformats.org/drawingml/2006/main">
            <a:r>
              <a:t>The slow coefficient paths show the imposed state memory. They do not establish that residual shocks are profitable; that remains a separate future-return and strategy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Project/Time-Series-Modeling-Gen5/runs/research_workbench/literature_grounded/lit_mr_04_1_05_1_kalman_textbook_20260729/mr05_coefficient_metrics.csv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Project/Time-Series-Modeling-Gen5/runs/research_workbench/literature_grounded/lit_mr_04_1_05_1_kalman_textbook_20260729/mr05_state_path.csv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triplet's forward-five correlation was -0.0932 with a 90% upper bound of -0.0034, so convergence passed. But the trade-return lower bound was -20.26 bp and the observed +3.57 bp mean did not exceed the random-sign p90 of +9.65 bp.</a:t>
            </a:r>
          </a:p>
          <a:p xmlns:a="http://schemas.openxmlformats.org/drawingml/2006/main">
            <a:r>
              <a:t>The strategy's primary cumulative return was +0.71%, stress return -3.79%, maximum drawdown -4.94%, and autocorrelation-adjusted Sharpe 0.083. DEVELOPMENT remained sealed.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Project/Time-Series-Modeling-Gen5/runs/research_workbench/literature_grounded/lit_mr_04_1_05_1_kalman_textbook_20260729/mr05_train_summary.csv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Project/Time-Series-Modeling-Gen5/runs/research_workbench/literature_grounded/lit_mr_04_1_05_1_kalman_textbook_20260729/mr05_train_gates.csv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exercise achieved its educational purpose: the state-space equations, causal innovation, gain update, dynamic hedge ratios, uncertainty, executable weights, and evaluation layers are now concrete.</a:t>
            </a:r>
          </a:p>
          <a:p xmlns:a="http://schemas.openxmlformats.org/drawingml/2006/main">
            <a:r>
              <a:t>The correct research close is not that Kalman filtering failed. The estimator worked structurally. The conclusion is narrower: neither frozen trading interpretation earned conditional OOS under the predeclared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Project/Time-Series-Modeling-Gen5/runs/research_workbench/literature_grounded/lit_mr_04_1_05_1_kalman_textbook_20260729/kalman_textbook_report.md</a:t>
            </a:r>
          </a:p>
          <a:p xmlns:a="http://schemas.openxmlformats.org/drawingml/2006/main">
            <a:r>
              <a:t>- C:/Users/Franc/OneDrive/Documents/Francis/Peltata Project/Time-Series-Modeling-Gen5/docs/GEN5_LIT_MR_04_1_KALMAN_PAIR_POC_CONTRACT.md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Project/Time-Series-Modeling-Gen5/docs/GEN5_LIT_MR_05_1_KALMAN_TRIPLET_POC_CONTRACT.md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b133ff9704a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36afd82ac417b" /><Relationship Type="http://schemas.openxmlformats.org/officeDocument/2006/relationships/slideLayout" Target="/ppt/slideLayouts/slideLayout1.xml" Id="Rae6c20db017e49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c20db017e49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716326c0c4e39" /><Relationship Type="http://schemas.openxmlformats.org/officeDocument/2006/relationships/notesSlide" Target="/ppt/notesSlides/notesSlide1.xml" Id="R852f45379850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b47445b614f39" /><Relationship Type="http://schemas.openxmlformats.org/officeDocument/2006/relationships/notesSlide" Target="/ppt/notesSlides/notesSlide2.xml" Id="Rddfa331f5474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33393f6274f3d" /><Relationship Type="http://schemas.openxmlformats.org/officeDocument/2006/relationships/notesSlide" Target="/ppt/notesSlides/notesSlide3.xml" Id="Rf8a29e29644f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178f4ed9e467c" /><Relationship Type="http://schemas.openxmlformats.org/officeDocument/2006/relationships/image" Target="/ppt/media/image.png" Id="R719bc88ee59e4c15" /><Relationship Type="http://schemas.openxmlformats.org/officeDocument/2006/relationships/notesSlide" Target="/ppt/notesSlides/notesSlide4.xml" Id="R1eb88e72bd70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552c32ac64ea5" /><Relationship Type="http://schemas.openxmlformats.org/officeDocument/2006/relationships/image" Target="/ppt/media/image2.png" Id="Rb1fcf84abc964b17" /><Relationship Type="http://schemas.openxmlformats.org/officeDocument/2006/relationships/notesSlide" Target="/ppt/notesSlides/notesSlide5.xml" Id="R1434a48d9d7a4c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56cdc4c2a47bf" /><Relationship Type="http://schemas.openxmlformats.org/officeDocument/2006/relationships/image" Target="/ppt/media/image3.png" Id="Rac60d0a9611d4771" /><Relationship Type="http://schemas.openxmlformats.org/officeDocument/2006/relationships/notesSlide" Target="/ppt/notesSlides/notesSlide6.xml" Id="R2947a0614bfd43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c1f74d3ef4e8c" /><Relationship Type="http://schemas.openxmlformats.org/officeDocument/2006/relationships/notesSlide" Target="/ppt/notesSlides/notesSlide7.xml" Id="R8e681d95a28e46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e04de212e4a0f" /><Relationship Type="http://schemas.openxmlformats.org/officeDocument/2006/relationships/image" Target="/ppt/media/image4.png" Id="Reaa394db6eb648b0" /><Relationship Type="http://schemas.openxmlformats.org/officeDocument/2006/relationships/notesSlide" Target="/ppt/notesSlides/notesSlide8.xml" Id="R9a791665a9ab4a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fba663836463e" /><Relationship Type="http://schemas.openxmlformats.org/officeDocument/2006/relationships/image" Target="/ppt/media/image5.png" Id="Rce640fee2e19460b" /><Relationship Type="http://schemas.openxmlformats.org/officeDocument/2006/relationships/notesSlide" Target="/ppt/notesSlides/notesSlide9.xml" Id="R672f98b04eed4c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aabfa892e4038" /><Relationship Type="http://schemas.openxmlformats.org/officeDocument/2006/relationships/notesSlide" Target="/ppt/notesSlides/notesSlide10.xml" Id="R7a28ffdc714b4e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6ca545fcc4b8c" /><Relationship Type="http://schemas.openxmlformats.org/officeDocument/2006/relationships/image" Target="/ppt/media/image6.png" Id="Re4481176fb524abc" /><Relationship Type="http://schemas.openxmlformats.org/officeDocument/2006/relationships/notesSlide" Target="/ppt/notesSlides/notesSlide11.xml" Id="R61f0f497c10040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a367a952447e9" /><Relationship Type="http://schemas.openxmlformats.org/officeDocument/2006/relationships/notesSlide" Target="/ppt/notesSlides/notesSlide12.xml" Id="R1ed6cfb1e0274b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a1a74b25543e8" /><Relationship Type="http://schemas.openxmlformats.org/officeDocument/2006/relationships/notesSlide" Target="/ppt/notesSlides/notesSlide13.xml" Id="R5f4536a3b7e64f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Kalman filtering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pairs and triplets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source-grounded textbook exercise in dynamic regression: estimate a changing hedge ratio, trade only causal innovations, and keep prediction evidence separate from estimator elegance.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LIT-MR-04.1 + LIT-MR-05.1 | 29 JUL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Kalman removes the rolling window's hard memory cutoff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20-session regression forgets day 21 all at once. A Kalman filter carries the state forward and lets new observations revise it recursively—but smoother memory is not the same thing as better prediction.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ROLL 20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Refit on a fixed recent sample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Abrupt inclusion and exclusion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KALMAN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Predict → observe → update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Uncertainty governs the adjustment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CAUTION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921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changing hedge ratio is an estimator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reversion still needs future evidence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state-space equations turn a fixed regression into a moving one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observation equation explains today's response price. The state equation says the slope and intercept may drift. The innovation measures what yesterday's state failed to predict.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y = xθ + ε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Observation equation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θ contains slope(s) and intercept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θₜ = θₜ₋₁ + ω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Random-walk state equation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 controls how fast coefficients may move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 = e / √S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98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Standardized pre-update innovation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Signal first; posterior update second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Kalman slope moves smoothly; rolling OLS jumps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4B3C2-83ED-40A2-ACF7-D3B740A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bc88ee59e4c15"/>
          <a:stretch xmlns:a="http://schemas.openxmlformats.org/drawingml/2006/main"/>
        </p:blipFill>
        <p:spPr>
          <a:xfrm xmlns:a="http://schemas.openxmlformats.org/drawingml/2006/main">
            <a:off x="1428750" y="2172653"/>
            <a:ext cx="9334500" cy="28936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signal is the surprise before the state learns from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B68AB-291F-48F5-A4D0-74A8DF9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cf84abc964b17"/>
          <a:stretch xmlns:a="http://schemas.openxmlformats.org/drawingml/2006/main"/>
        </p:blipFill>
        <p:spPr>
          <a:xfrm xmlns:a="http://schemas.openxmlformats.org/drawingml/2006/main">
            <a:off x="1762125" y="1143000"/>
            <a:ext cx="866775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 fidelity still requires a scale-aware causal translation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 fixes δ = 0.0001 and Ve = 0.001, and explicitly notes hindsight.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Gen5 keeps δ, but learns R from a 252-session TRAIN warm-up and sets Q = δ/(1−δ) · diag(diag(P₀)).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That preserves the random-walk state while respecting price scale. It also exposes an honest lesson: rolling OLS had lower one-step RMSE; Kalman mainly bought smoother coefficients.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9D2C-E63E-4C2B-9C87-FE27454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BAE9-E575-4270-B93E-0747E5B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0d0a9611d4771"/>
          <a:stretch xmlns:a="http://schemas.openxmlformats.org/drawingml/2006/main"/>
        </p:blipFill>
        <p:spPr>
          <a:xfrm xmlns:a="http://schemas.openxmlformats.org/drawingml/2006/main">
            <a:off x="6267450" y="1995488"/>
            <a:ext cx="5429250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Pair: strong TRAIN mechanics stopped on one support gate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EWC ~ EWA passed integrity, filter, sign, return, uncertainty, random-sign, and future-convergence gates. It completed 21 trades—not the frozen 24—so DEVELOPMENT remained sealed.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7 / 8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passed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 trades: 12 long, 9 short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+67.8 bp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net trade return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90% lower bound +42.3 bp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−0.157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Forward-five correlation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90% upper bound −0.0436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Pair gains were real inside TRAIN—but never earned OOS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4B3C2-83ED-40A2-ACF7-D3B740A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394db6eb648b0"/>
          <a:stretch xmlns:a="http://schemas.openxmlformats.org/drawingml/2006/main"/>
        </p:blipFill>
        <p:spPr>
          <a:xfrm xmlns:a="http://schemas.openxmlformats.org/drawingml/2006/main">
            <a:off x="2509345" y="1143000"/>
            <a:ext cx="717331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triplet is an asymmetric dynamic regression—not Johansen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Adding IGE changes xₜ to [EWA, IGE, 1] and the state to [βEWA, βIGE, α].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orientation stays frozen as EWC ~ EWA + IGE. Choosing a different response would estimate a different conditional equation.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That is fundamentally unlike Johansen, which estimates a cointegrating subspace. The pair's filter structure passed, so this second textbook exercise could run even though the pair did not earn OOS.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9D2C-E63E-4C2B-9C87-FE27454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BAE9-E575-4270-B93E-0747E5B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40fee2e19460b"/>
          <a:stretch xmlns:a="http://schemas.openxmlformats.org/drawingml/2006/main"/>
        </p:blipFill>
        <p:spPr>
          <a:xfrm xmlns:a="http://schemas.openxmlformats.org/drawingml/2006/main">
            <a:off x="6331744" y="1981200"/>
            <a:ext cx="5300663" cy="3028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Dynamic coefficients become trades only after price normalization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Posterior slope(s) known after close t define a share vector. At the next open, multiply by prices, gross-normalize to one, execute, and rehedge daily while the bounded state remains active.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PAIR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spread ∝ [1, −β]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Dollar legs ∝ [P_EWC, −βP_EWA]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TRIPLET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spread ∝ [1, −β₁, −β₂]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Response plus two dynamic hedges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COSTS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bp turnover; 10 bp stress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 bp annual short-leg stress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regressors evolve slowly—and independently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B68AB-291F-48F5-A4D0-74A8DF9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81176fb524abc"/>
          <a:stretch xmlns:a="http://schemas.openxmlformats.org/drawingml/2006/main"/>
        </p:blipFill>
        <p:spPr>
          <a:xfrm xmlns:a="http://schemas.openxmlformats.org/drawingml/2006/main">
            <a:off x="2101645" y="1143000"/>
            <a:ext cx="798871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Triplet: convergence appeared, but return uncertainty did not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EWC ~ EWA + IGE passed structure, two-sided support, positive mean, and robust forward convergence. Its return interval crossed zero and the mean failed the randomized-direction control.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6 / 8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passed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 trades: 12 long, 19 short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+3.6 bp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net trade return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71.0% hit; +0.71% cumulative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q05 −20.3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bootstrap lower bound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Random-sign p90 was +9.65 bp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learned the filter.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did not promote a strategy.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pair produced a compelling TRAIN near miss; the triplet showed weak economics despite convergence. Preserve both STOPs, keep 2021–2023 strategy outcomes unopened, and move to the next textbook concept without rescue tuning.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65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TEXTBOOK EXERCISE COMPLETE | CONFIRMATION REMAINS SEALED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2026-07-30T03:09:03.3890000Z</dcterms:created>
  <dcterms:modified xsi:type="dcterms:W3CDTF">2026-07-30T03:09:03.3890000Z</dcterms:modified>
</coreProperties>
</file>