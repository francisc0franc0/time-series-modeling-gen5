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2daf4ecbfc3413b" /><Relationship Type="http://schemas.openxmlformats.org/officeDocument/2006/relationships/extended-properties" Target="/docProps/app.xml" Id="R1edec215cb0c453b" /><Relationship Type="http://schemas.openxmlformats.org/officeDocument/2006/relationships/officeDocument" Target="/ppt/presentation.xml" Id="Rd00745f34a7042a1" /></Relationships>
</file>

<file path=ppt/presentation.xml><?xml version="1.0" encoding="utf-8"?>
<p:presentation xmlns:p="http://schemas.openxmlformats.org/presentationml/2006/main">
  <p:sldMasterIdLst>
    <p:sldMasterId xmlns:r="http://schemas.openxmlformats.org/officeDocument/2006/relationships" id="2147483648" r:id="Rf7120e30c67343fd"/>
  </p:sldMasterIdLst>
  <p:notesMasterIdLst>
    <p:notesMasterId xmlns:r="http://schemas.openxmlformats.org/officeDocument/2006/relationships" r:id="R04a60be7080f4b3a"/>
  </p:notesMasterIdLst>
  <p:sldIdLst>
    <p:sldId xmlns:r="http://schemas.openxmlformats.org/officeDocument/2006/relationships" id="256" r:id="R934766297fcb481f"/>
    <p:sldId xmlns:r="http://schemas.openxmlformats.org/officeDocument/2006/relationships" id="257" r:id="Rcefc6905155342d9"/>
    <p:sldId xmlns:r="http://schemas.openxmlformats.org/officeDocument/2006/relationships" id="258" r:id="R123812390b004b4d"/>
    <p:sldId xmlns:r="http://schemas.openxmlformats.org/officeDocument/2006/relationships" id="259" r:id="R0894c816d083443d"/>
    <p:sldId xmlns:r="http://schemas.openxmlformats.org/officeDocument/2006/relationships" id="260" r:id="R5d2a47a042a846b2"/>
    <p:sldId xmlns:r="http://schemas.openxmlformats.org/officeDocument/2006/relationships" id="261" r:id="R90aa4972bab7484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ddffd53edb44b4b" /><Relationship Type="http://schemas.openxmlformats.org/officeDocument/2006/relationships/slideMaster" Target="/ppt/slideMasters/slideMaster1.xml" Id="Rf7120e30c67343fd" /><Relationship Type="http://schemas.openxmlformats.org/officeDocument/2006/relationships/notesMaster" Target="/ppt/notesMasters/notesMaster1.xml" Id="R04a60be7080f4b3a" /><Relationship Type="http://schemas.openxmlformats.org/officeDocument/2006/relationships/presProps" Target="/ppt/presProps.xml" Id="Re2f6c1484890427f" /><Relationship Type="http://schemas.openxmlformats.org/officeDocument/2006/relationships/tableStyles" Target="/ppt/tableStyles.xml" Id="R2759b44cb74f4ceb" /><Relationship Type="http://schemas.openxmlformats.org/officeDocument/2006/relationships/slide" Target="/ppt/slides/slide1.xml" Id="R934766297fcb481f" /><Relationship Type="http://schemas.openxmlformats.org/officeDocument/2006/relationships/slide" Target="/ppt/slides/slide2.xml" Id="Rcefc6905155342d9" /><Relationship Type="http://schemas.openxmlformats.org/officeDocument/2006/relationships/slide" Target="/ppt/slides/slide3.xml" Id="R123812390b004b4d" /><Relationship Type="http://schemas.openxmlformats.org/officeDocument/2006/relationships/slide" Target="/ppt/slides/slide4.xml" Id="R0894c816d083443d" /><Relationship Type="http://schemas.openxmlformats.org/officeDocument/2006/relationships/slide" Target="/ppt/slides/slide5.xml" Id="R5d2a47a042a846b2" /><Relationship Type="http://schemas.openxmlformats.org/officeDocument/2006/relationships/slide" Target="/ppt/slides/slide6.xml" Id="R90aa4972bab7484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150dca49e114ac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eef30ea73ef4c73" /><Relationship Type="http://schemas.openxmlformats.org/officeDocument/2006/relationships/notesMaster" Target="/ppt/notesMasters/notesMaster1.xml" Id="R4a20c7a05cdc462a" /></Relationships>
</file>

<file path=ppt/notesSlides/_rels/notesSlide2.xml.rels>&#65279;<?xml version="1.0" encoding="utf-8"?><Relationships xmlns="http://schemas.openxmlformats.org/package/2006/relationships"><Relationship Type="http://schemas.openxmlformats.org/officeDocument/2006/relationships/slide" Target="/ppt/slides/slide2.xml" Id="Re7fda63893484f76" /><Relationship Type="http://schemas.openxmlformats.org/officeDocument/2006/relationships/notesMaster" Target="/ppt/notesMasters/notesMaster1.xml" Id="Rdad0037d4fbf4ffb" /></Relationships>
</file>

<file path=ppt/notesSlides/_rels/notesSlide3.xml.rels>&#65279;<?xml version="1.0" encoding="utf-8"?><Relationships xmlns="http://schemas.openxmlformats.org/package/2006/relationships"><Relationship Type="http://schemas.openxmlformats.org/officeDocument/2006/relationships/slide" Target="/ppt/slides/slide3.xml" Id="R273f893774f644a3" /><Relationship Type="http://schemas.openxmlformats.org/officeDocument/2006/relationships/notesMaster" Target="/ppt/notesMasters/notesMaster1.xml" Id="R60a4fe44f3884117" /></Relationships>
</file>

<file path=ppt/notesSlides/_rels/notesSlide4.xml.rels>&#65279;<?xml version="1.0" encoding="utf-8"?><Relationships xmlns="http://schemas.openxmlformats.org/package/2006/relationships"><Relationship Type="http://schemas.openxmlformats.org/officeDocument/2006/relationships/slide" Target="/ppt/slides/slide4.xml" Id="R11fa4ab0713f46e0" /><Relationship Type="http://schemas.openxmlformats.org/officeDocument/2006/relationships/notesMaster" Target="/ppt/notesMasters/notesMaster1.xml" Id="R862a47ed830d4b9b" /></Relationships>
</file>

<file path=ppt/notesSlides/_rels/notesSlide5.xml.rels>&#65279;<?xml version="1.0" encoding="utf-8"?><Relationships xmlns="http://schemas.openxmlformats.org/package/2006/relationships"><Relationship Type="http://schemas.openxmlformats.org/officeDocument/2006/relationships/slide" Target="/ppt/slides/slide5.xml" Id="R5c01c7b3750d443f" /><Relationship Type="http://schemas.openxmlformats.org/officeDocument/2006/relationships/notesMaster" Target="/ppt/notesMasters/notesMaster1.xml" Id="R3f3aae16e5b54ef7" /></Relationships>
</file>

<file path=ppt/notesSlides/_rels/notesSlide6.xml.rels>&#65279;<?xml version="1.0" encoding="utf-8"?><Relationships xmlns="http://schemas.openxmlformats.org/package/2006/relationships"><Relationship Type="http://schemas.openxmlformats.org/officeDocument/2006/relationships/slide" Target="/ppt/slides/slide6.xml" Id="R0e1cfdd759b4441e" /><Relationship Type="http://schemas.openxmlformats.org/officeDocument/2006/relationships/notesMaster" Target="/ppt/notesMasters/notesMaster1.xml" Id="R4426af43492c49a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SESSION 14 - NEWS NONREDUNDANCY N1C</a:t>
            </a:r>
          </a:p>
          <a:p xmlns:a="http://schemas.openxmlformats.org/drawingml/2006/main">
            <a:r>
              <a:t/>
            </a:r>
          </a:p>
          <a:p xmlns:a="http://schemas.openxmlformats.org/drawingml/2006/main">
            <a:r>
              <a:t>Purpose</a:t>
            </a:r>
          </a:p>
          <a:p xmlns:a="http://schemas.openxmlformats.org/drawingml/2006/main">
            <a:r>
              <a:t>Test whether the frozen N1B issuer-local news intensity retains future h5 path-volatility ordering after accounting for prior h5 path volatility and current dollar-volume surprise.</a:t>
            </a:r>
          </a:p>
          <a:p xmlns:a="http://schemas.openxmlformats.org/drawingml/2006/main">
            <a:r>
              <a:t/>
            </a:r>
          </a:p>
          <a:p xmlns:a="http://schemas.openxmlformats.org/drawingml/2006/main">
            <a:r>
              <a:t>Result</a:t>
            </a:r>
          </a:p>
          <a:p xmlns:a="http://schemas.openxmlformats.org/drawingml/2006/main">
            <a:r>
              <a:t>Mean fold correlation declines from 0.1073 raw to 0.0878 conditional and remains positive in all 12 quarters. This is stable but modest incremental uncertainty information, not a trade signal.</a:t>
            </a:r>
          </a:p>
          <a:p xmlns:a="http://schemas.openxmlformats.org/drawingml/2006/main">
            <a:r>
              <a:t/>
            </a:r>
          </a:p>
          <a:p xmlns:a="http://schemas.openxmlformats.org/drawingml/2006/main">
            <a:r>
              <a:t>Conversation: codex://threads/019f741e-615f-7fd0-90f7-edce12b5cb66</a:t>
            </a:r>
          </a:p>
          <a:p xmlns:a="http://schemas.openxmlformats.org/drawingml/2006/main">
            <a:r>
              <a:t>Find in chat: Approved, proceed</a:t>
            </a:r>
          </a:p>
          <a:p xmlns:a="http://schemas.openxmlformats.org/drawingml/2006/main">
            <a:r>
              <a:t>Decision: D37</a:t>
            </a:r>
          </a:p>
          <a:p xmlns:a="http://schemas.openxmlformats.org/drawingml/2006/main">
            <a:r>
              <a:t/>
            </a:r>
          </a:p>
          <a:p xmlns:a="http://schemas.openxmlformats.org/drawingml/2006/main">
            <a:r>
              <a:t>[Sources]</a:t>
            </a:r>
          </a:p>
          <a:p xmlns:a="http://schemas.openxmlformats.org/drawingml/2006/main">
            <a:r>
              <a:t>- runs/research_workbench/gen54_ml_decision_engine/g54_news_n1c_20260725/n1c_report.md</a:t>
            </a:r>
          </a:p>
          <a:p xmlns:a="http://schemas.openxmlformats.org/drawingml/2006/main">
            <a:r>
              <a:t>- docs/GEN5_4_NEWS_NONREDUNDANCY_N1C_CONTRACT.md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DECISION D37 - FROZEN N1C METHOD</a:t>
            </a:r>
          </a:p>
          <a:p xmlns:a="http://schemas.openxmlformats.org/drawingml/2006/main">
            <a:r>
              <a:t/>
            </a:r>
          </a:p>
          <a:p xmlns:a="http://schemas.openxmlformats.org/drawingml/2006/main">
            <a:r>
              <a:t>Input and outcome</a:t>
            </a:r>
          </a:p>
          <a:p xmlns:a="http://schemas.openxmlformats.org/drawingml/2006/main">
            <a:r>
              <a:t>N1C consumes the accepted N1B OOS population without changing its issuer-local TRAIN ECDF news measurement or TRAIN-scaled future h5 path-volatility outcome.</a:t>
            </a:r>
          </a:p>
          <a:p xmlns:a="http://schemas.openxmlformats.org/drawingml/2006/main">
            <a:r>
              <a:t/>
            </a:r>
          </a:p>
          <a:p xmlns:a="http://schemas.openxmlformats.org/drawingml/2006/main">
            <a:r>
              <a:t>Controls</a:t>
            </a:r>
          </a:p>
          <a:p xmlns:a="http://schemas.openxmlformats.org/drawingml/2006/main">
            <a:r>
              <a:t>The prior-volatility control is the backward five-session path ending on the decision session, divided by the issuer-fold TRAIN median. Dollar-volume surprise is log of current adjusted close times volume divided by the median of exactly the prior 60 sessions; the current session is excluded from that baseline.</a:t>
            </a:r>
          </a:p>
          <a:p xmlns:a="http://schemas.openxmlformats.org/drawingml/2006/main">
            <a:r>
              <a:t/>
            </a:r>
          </a:p>
          <a:p xmlns:a="http://schemas.openxmlformats.org/drawingml/2006/main">
            <a:r>
              <a:t>Statistic</a:t>
            </a:r>
          </a:p>
          <a:p xmlns:a="http://schemas.openxmlformats.org/drawingml/2006/main">
            <a:r>
              <a:t>Within each OOS quarter, rank news, outcome, and both controls. Residualize the news and outcome ranks against both control ranks, then correlate the residuals. This is evaluation, not model fitting.</a:t>
            </a:r>
          </a:p>
          <a:p xmlns:a="http://schemas.openxmlformats.org/drawingml/2006/main">
            <a:r>
              <a:t/>
            </a:r>
          </a:p>
          <a:p xmlns:a="http://schemas.openxmlformats.org/drawingml/2006/main">
            <a:r>
              <a:t>[Sources]</a:t>
            </a:r>
          </a:p>
          <a:p xmlns:a="http://schemas.openxmlformats.org/drawingml/2006/main">
            <a:r>
              <a:t>- docs/GEN5_4_NEWS_NONREDUNDANCY_N1C_CONTRACT.md</a:t>
            </a:r>
          </a:p>
          <a:p xmlns:a="http://schemas.openxmlformats.org/drawingml/2006/main">
            <a:r>
              <a:t>- runs/research_workbench/gen54_ml_decision_engine/g54_news_n1c_20260725/n1c_report.md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DECISION D37 - PRIMARY NONREDUNDANCY EVIDENCE</a:t>
            </a:r>
          </a:p>
          <a:p xmlns:a="http://schemas.openxmlformats.org/drawingml/2006/main">
            <a:r>
              <a:t/>
            </a:r>
          </a:p>
          <a:p xmlns:a="http://schemas.openxmlformats.org/drawingml/2006/main">
            <a:r>
              <a:t>Evidence</a:t>
            </a:r>
          </a:p>
          <a:p xmlns:a="http://schemas.openxmlformats.org/drawingml/2006/main">
            <a:r>
              <a:t>Mean raw fold Spearman is 0.1073. Mean conditional fold Spearman is 0.0878, an average attenuation of 0.0195. Conditional correlation is positive in all 12 OOS quarters versus the frozen requirement of at least 8.</a:t>
            </a:r>
          </a:p>
          <a:p xmlns:a="http://schemas.openxmlformats.org/drawingml/2006/main">
            <a:r>
              <a:t/>
            </a:r>
          </a:p>
          <a:p xmlns:a="http://schemas.openxmlformats.org/drawingml/2006/main">
            <a:r>
              <a:t>Meaning</a:t>
            </a:r>
          </a:p>
          <a:p xmlns:a="http://schemas.openxmlformats.org/drawingml/2006/main">
            <a:r>
              <a:t>The two OHLCV controls explain part of the association, as expected, but do not remove its cross-quarter ordering. The magnitude remains modest; stability is the main evidence.</a:t>
            </a:r>
          </a:p>
          <a:p xmlns:a="http://schemas.openxmlformats.org/drawingml/2006/main">
            <a:r>
              <a:t/>
            </a:r>
          </a:p>
          <a:p xmlns:a="http://schemas.openxmlformats.org/drawingml/2006/main">
            <a:r>
              <a:t>Boundary</a:t>
            </a:r>
          </a:p>
          <a:p xmlns:a="http://schemas.openxmlformats.org/drawingml/2006/main">
            <a:r>
              <a:t>Overlapping h5 outcomes make naive row-level significance tests inappropriate. No causal, directional, or trading claim follows.</a:t>
            </a:r>
          </a:p>
          <a:p xmlns:a="http://schemas.openxmlformats.org/drawingml/2006/main">
            <a:r>
              <a:t/>
            </a:r>
          </a:p>
          <a:p xmlns:a="http://schemas.openxmlformats.org/drawingml/2006/main">
            <a:r>
              <a:t>[Sources]</a:t>
            </a:r>
          </a:p>
          <a:p xmlns:a="http://schemas.openxmlformats.org/drawingml/2006/main">
            <a:r>
              <a:t>- runs/research_workbench/gen54_ml_decision_engine/g54_news_n1c_20260725/n1c_report.md</a:t>
            </a:r>
          </a:p>
          <a:p xmlns:a="http://schemas.openxmlformats.org/drawingml/2006/main">
            <a:r>
              <a:t>- runs/research_workbench/gen54_ml_decision_engine/g54_news_n1c_20260725/n1c_fold_summary.csv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DECISION D37 - WHAT THE CONTROLS ABSORB</a:t>
            </a:r>
          </a:p>
          <a:p xmlns:a="http://schemas.openxmlformats.org/drawingml/2006/main">
            <a:r>
              <a:t/>
            </a:r>
          </a:p>
          <a:p xmlns:a="http://schemas.openxmlformats.org/drawingml/2006/main">
            <a:r>
              <a:t>Evidence</a:t>
            </a:r>
          </a:p>
          <a:p xmlns:a="http://schemas.openxmlformats.org/drawingml/2006/main">
            <a:r>
              <a:t>News intensity is positively associated with prior volatility and especially with same-day dollar-volume surprise in every quarter. Prior volatility also orders future volatility in most quarters. These are genuine redundancy channels.</a:t>
            </a:r>
          </a:p>
          <a:p xmlns:a="http://schemas.openxmlformats.org/drawingml/2006/main">
            <a:r>
              <a:t/>
            </a:r>
          </a:p>
          <a:p xmlns:a="http://schemas.openxmlformats.org/drawingml/2006/main">
            <a:r>
              <a:t>Meaning</a:t>
            </a:r>
          </a:p>
          <a:p xmlns:a="http://schemas.openxmlformats.org/drawingml/2006/main">
            <a:r>
              <a:t>Conditioning is necessary: raw news counts partly reflect turbulence and attention already visible in the tape. The surviving partial relationship is therefore more informative than the raw relationship alone.</a:t>
            </a:r>
          </a:p>
          <a:p xmlns:a="http://schemas.openxmlformats.org/drawingml/2006/main">
            <a:r>
              <a:t/>
            </a:r>
          </a:p>
          <a:p xmlns:a="http://schemas.openxmlformats.org/drawingml/2006/main">
            <a:r>
              <a:t>Causal boundary</a:t>
            </a:r>
          </a:p>
          <a:p xmlns:a="http://schemas.openxmlformats.org/drawingml/2006/main">
            <a:r>
              <a:t>Same-day volume may partly mediate the same event as news. That is acceptable here because the question is incremental system information, not causal attribution.</a:t>
            </a:r>
          </a:p>
          <a:p xmlns:a="http://schemas.openxmlformats.org/drawingml/2006/main">
            <a:r>
              <a:t/>
            </a:r>
          </a:p>
          <a:p xmlns:a="http://schemas.openxmlformats.org/drawingml/2006/main">
            <a:r>
              <a:t>[Sources]</a:t>
            </a:r>
          </a:p>
          <a:p xmlns:a="http://schemas.openxmlformats.org/drawingml/2006/main">
            <a:r>
              <a:t>- runs/research_workbench/gen54_ml_decision_engine/g54_news_n1c_20260725/n1c_fold_summary.csv</a:t>
            </a:r>
          </a:p>
          <a:p xmlns:a="http://schemas.openxmlformats.org/drawingml/2006/main">
            <a:r>
              <a:t>- docs/GEN5_4_NEWS_NONREDUNDANCY_N1C_CONTRACT.md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DECISION D37 - HUMAN-FACING MATCHED EXAMPLES</a:t>
            </a:r>
          </a:p>
          <a:p xmlns:a="http://schemas.openxmlformats.org/drawingml/2006/main">
            <a:r>
              <a:t/>
            </a:r>
          </a:p>
          <a:p xmlns:a="http://schemas.openxmlformats.org/drawingml/2006/main">
            <a:r>
              <a:t>Reading the chart</a:t>
            </a:r>
          </a:p>
          <a:p xmlns:a="http://schemas.openxmlformats.org/drawingml/2006/main">
            <a:r>
              <a:t>Each pair contains a frozen high-news observation and the nearest no-news observation for the same issuer and OOS quarter in the two control ranks. The bars show relative future h5 path volatility.</a:t>
            </a:r>
          </a:p>
          <a:p xmlns:a="http://schemas.openxmlformats.org/drawingml/2006/main">
            <a:r>
              <a:t/>
            </a:r>
          </a:p>
          <a:p xmlns:a="http://schemas.openxmlformats.org/drawingml/2006/main">
            <a:r>
              <a:t>Meaning</a:t>
            </a:r>
          </a:p>
          <a:p xmlns:a="http://schemas.openxmlformats.org/drawingml/2006/main">
            <a:r>
              <a:t>Some high-news observations have wider future paths and some do not. These six nearest-control pairs are illustrations of uncertainty context, not independent tests or a deterministic forecast.</a:t>
            </a:r>
          </a:p>
          <a:p xmlns:a="http://schemas.openxmlformats.org/drawingml/2006/main">
            <a:r>
              <a:t/>
            </a:r>
          </a:p>
          <a:p xmlns:a="http://schemas.openxmlformats.org/drawingml/2006/main">
            <a:r>
              <a:t>Selection boundary</a:t>
            </a:r>
          </a:p>
          <a:p xmlns:a="http://schemas.openxmlformats.org/drawingml/2006/main">
            <a:r>
              <a:t>The pair-selection rule affects only the human-facing example surface. It does not enter the N1C statistic or gates.</a:t>
            </a:r>
          </a:p>
          <a:p xmlns:a="http://schemas.openxmlformats.org/drawingml/2006/main">
            <a:r>
              <a:t/>
            </a:r>
          </a:p>
          <a:p xmlns:a="http://schemas.openxmlformats.org/drawingml/2006/main">
            <a:r>
              <a:t>[Sources]</a:t>
            </a:r>
          </a:p>
          <a:p xmlns:a="http://schemas.openxmlformats.org/drawingml/2006/main">
            <a:r>
              <a:t>- runs/research_workbench/gen54_ml_decision_engine/g54_news_n1c_20260725/n1c_report.md</a:t>
            </a:r>
          </a:p>
          <a:p xmlns:a="http://schemas.openxmlformats.org/drawingml/2006/main">
            <a:r>
              <a:t>- runs/research_workbench/gen54_ml_decision_engine/g54_news_n1c_20260725/n1c_representative_matched_pairs.csv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DECISION D37 - PASS_N1C_TO_MINIMAL_REPRESENTATION_DISCUSSION</a:t>
            </a:r>
          </a:p>
          <a:p xmlns:a="http://schemas.openxmlformats.org/drawingml/2006/main">
            <a:r>
              <a:t/>
            </a:r>
          </a:p>
          <a:p xmlns:a="http://schemas.openxmlformats.org/drawingml/2006/main">
            <a:r>
              <a:t>Authority</a:t>
            </a:r>
          </a:p>
          <a:p xmlns:a="http://schemas.openxmlformats.org/drawingml/2006/main">
            <a:r>
              <a:t>All 11 population, timing, TRAIN-support, and leakage checks pass. Every N1B OOS row has both controls. Raw N1B fold correlations reproduce with maximum absolute difference 4.44e-16. There are zero issuer-fold control-support failures.</a:t>
            </a:r>
          </a:p>
          <a:p xmlns:a="http://schemas.openxmlformats.org/drawingml/2006/main">
            <a:r>
              <a:t/>
            </a:r>
          </a:p>
          <a:p xmlns:a="http://schemas.openxmlformats.org/drawingml/2006/main">
            <a:r>
              <a:t>Decision</a:t>
            </a:r>
          </a:p>
          <a:p xmlns:a="http://schemas.openxmlformats.org/drawingml/2006/main">
            <a:r>
              <a:t>All three frozen N1C gates pass. News intensity retains stable incremental uncertainty ordering beyond recent path volatility and current dollar-volume surprise.</a:t>
            </a:r>
          </a:p>
          <a:p xmlns:a="http://schemas.openxmlformats.org/drawingml/2006/main">
            <a:r>
              <a:t/>
            </a:r>
          </a:p>
          <a:p xmlns:a="http://schemas.openxmlformats.org/drawingml/2006/main">
            <a:r>
              <a:t>Next boundary</a:t>
            </a:r>
          </a:p>
          <a:p xmlns:a="http://schemas.openxmlformats.org/drawingml/2006/main">
            <a:r>
              <a:t>Open only a theory-first discussion of one minimal representation challenger. Recency weighting is the leading candidate because information arrival should decay with age, but no challenger is yet authorized. Sentiment, direction, policy, exposure, allocation, PnL, and live advice stay closed.</a:t>
            </a:r>
          </a:p>
          <a:p xmlns:a="http://schemas.openxmlformats.org/drawingml/2006/main">
            <a:r>
              <a:t/>
            </a:r>
          </a:p>
          <a:p xmlns:a="http://schemas.openxmlformats.org/drawingml/2006/main">
            <a:r>
              <a:t>Conversation: codex://threads/019f741e-615f-7fd0-90f7-edce12b5cb66</a:t>
            </a:r>
          </a:p>
          <a:p xmlns:a="http://schemas.openxmlformats.org/drawingml/2006/main">
            <a:r>
              <a:t>Find in chat: Approved, proceed</a:t>
            </a:r>
          </a:p>
          <a:p xmlns:a="http://schemas.openxmlformats.org/drawingml/2006/main">
            <a:r>
              <a:t>Decision: D37</a:t>
            </a:r>
          </a:p>
          <a:p xmlns:a="http://schemas.openxmlformats.org/drawingml/2006/main">
            <a:r>
              <a:t/>
            </a:r>
          </a:p>
          <a:p xmlns:a="http://schemas.openxmlformats.org/drawingml/2006/main">
            <a:r>
              <a:t>[Sources]</a:t>
            </a:r>
          </a:p>
          <a:p xmlns:a="http://schemas.openxmlformats.org/drawingml/2006/main">
            <a:r>
              <a:t>- runs/research_workbench/gen54_ml_decision_engine/g54_news_n1c_20260725/n1c_report.md</a:t>
            </a:r>
          </a:p>
          <a:p xmlns:a="http://schemas.openxmlformats.org/drawingml/2006/main">
            <a:r>
              <a:t>- runs/research_workbench/gen54_ml_decision_engine/g54_news_n1c_20260725/n1c_leakage_audit.csv</a:t>
            </a:r>
          </a:p>
          <a:p xmlns:a="http://schemas.openxmlformats.org/drawingml/2006/main">
            <a:r>
              <a:t>- docs/GEN5_4_NEWS_NONREDUNDANCY_N1C_CONTRACT.md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0dcab537f8c42a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afc01c36eb94c48" /><Relationship Type="http://schemas.openxmlformats.org/officeDocument/2006/relationships/slideLayout" Target="/ppt/slideLayouts/slideLayout1.xml" Id="R50e43c92c3a4446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0e43c92c3a4446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aef27a3108841ee" /><Relationship Type="http://schemas.openxmlformats.org/officeDocument/2006/relationships/notesSlide" Target="/ppt/notesSlides/notesSlide1.xml" Id="R6224cfdd8e1f417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db5b503d86c4363" /><Relationship Type="http://schemas.openxmlformats.org/officeDocument/2006/relationships/notesSlide" Target="/ppt/notesSlides/notesSlide2.xml" Id="R360d61c738484a2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2710439e62646d4" /><Relationship Type="http://schemas.openxmlformats.org/officeDocument/2006/relationships/image" Target="/ppt/media/image.png" Id="R096d0768650f4acf" /><Relationship Type="http://schemas.openxmlformats.org/officeDocument/2006/relationships/notesSlide" Target="/ppt/notesSlides/notesSlide3.xml" Id="Raca2cbe07f2f4dc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400a50d1b0a4f55" /><Relationship Type="http://schemas.openxmlformats.org/officeDocument/2006/relationships/image" Target="/ppt/media/image2.png" Id="Ree69b49db04949e6" /><Relationship Type="http://schemas.openxmlformats.org/officeDocument/2006/relationships/notesSlide" Target="/ppt/notesSlides/notesSlide4.xml" Id="R93a4d3279c7b405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2a7c3dcc6f94dfb" /><Relationship Type="http://schemas.openxmlformats.org/officeDocument/2006/relationships/image" Target="/ppt/media/image3.png" Id="R7db3be8a02584ed2" /><Relationship Type="http://schemas.openxmlformats.org/officeDocument/2006/relationships/notesSlide" Target="/ppt/notesSlides/notesSlide5.xml" Id="R037c6c5bb5c2479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22edd4ea6ec417e" /><Relationship Type="http://schemas.openxmlformats.org/officeDocument/2006/relationships/image" Target="/ppt/media/image4.png" Id="R62a20f9ae13c4ee6" /><Relationship Type="http://schemas.openxmlformats.org/officeDocument/2006/relationships/notesSlide" Target="/ppt/notesSlides/notesSlide6.xml" Id="R8352d5ea806446a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06E9F33-2E02-4887-9BA5-D4C283F72274}"/>
              </a:ext>
            </a:extLst>
          </p:cNvPr>
          <p:cNvSpPr>
            <a:spLocks xmlns:a="http://schemas.openxmlformats.org/drawingml/2006/main" noGrp="1"/>
          </p:cNvSpPr>
          <p:nvPr/>
        </p:nvSpPr>
        <p:spPr>
          <a:xfrm xmlns:a="http://schemas.openxmlformats.org/drawingml/2006/main">
            <a:off x="11277600" y="6305550"/>
            <a:ext cx="51435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75" b="0">
                <a:solidFill>
                  <a:srgbClr val="5F6570"/>
                </a:solidFill>
                <a:latin typeface="Arial"/>
                <a:ea typeface="Arial"/>
                <a:cs typeface="Arial"/>
              </a:defRPr>
            </a:pPr>
            <a:r>
              <a:t>S14/01</a:t>
            </a:r>
          </a:p>
        </p:txBody>
      </p:sp>
      <p:sp>
        <p:nvSpPr>
          <p:cNvPr id="2" name="">
            <a:extLst xmlns:a="http://schemas.openxmlformats.org/drawingml/2006/main">
              <a:ext uri="{FF2B5EF4-FFF2-40B4-BE49-F238E27FC236}">
                <a16:creationId xmlns:a16="http://schemas.microsoft.com/office/drawing/2014/main" id="{5FA10206-C75C-445A-A56D-E05DAD2DA7ED}"/>
              </a:ext>
            </a:extLst>
          </p:cNvPr>
          <p:cNvSpPr>
            <a:spLocks xmlns:a="http://schemas.openxmlformats.org/drawingml/2006/main" noGrp="1"/>
          </p:cNvSpPr>
          <p:nvPr/>
        </p:nvSpPr>
        <p:spPr>
          <a:xfrm xmlns:a="http://schemas.openxmlformats.org/drawingml/2006/main">
            <a:off x="400050" y="419100"/>
            <a:ext cx="247650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5F6570"/>
                </a:solidFill>
                <a:latin typeface="Arial"/>
                <a:ea typeface="Arial"/>
                <a:cs typeface="Arial"/>
              </a:defRPr>
            </a:pPr>
            <a:r>
              <a:t>SESSION 14</a:t>
            </a:r>
          </a:p>
        </p:txBody>
      </p:sp>
      <p:sp>
        <p:nvSpPr>
          <p:cNvPr id="3" name="">
            <a:extLst xmlns:a="http://schemas.openxmlformats.org/drawingml/2006/main">
              <a:ext uri="{FF2B5EF4-FFF2-40B4-BE49-F238E27FC236}">
                <a16:creationId xmlns:a16="http://schemas.microsoft.com/office/drawing/2014/main" id="{044625A6-0B63-4E1C-81ED-B9E78F888E51}"/>
              </a:ext>
            </a:extLst>
          </p:cNvPr>
          <p:cNvSpPr>
            <a:spLocks xmlns:a="http://schemas.openxmlformats.org/drawingml/2006/main" noGrp="1"/>
          </p:cNvSpPr>
          <p:nvPr/>
        </p:nvSpPr>
        <p:spPr>
          <a:xfrm xmlns:a="http://schemas.openxmlformats.org/drawingml/2006/main">
            <a:off x="400050" y="1714500"/>
            <a:ext cx="10763250" cy="2381250"/>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l">
              <a:buNone/>
              <a:defRPr sz="4950" b="1">
                <a:solidFill>
                  <a:srgbClr val="000000"/>
                </a:solidFill>
                <a:latin typeface="Arial"/>
                <a:ea typeface="Arial"/>
                <a:cs typeface="Arial"/>
              </a:defRPr>
            </a:pPr>
            <a:r>
              <a:t>News adds modest uncertainty information</a:t>
            </a:r>
          </a:p>
          <a:p xmlns:a="http://schemas.openxmlformats.org/drawingml/2006/main">
            <a:pPr algn="l">
              <a:buNone/>
              <a:defRPr sz="4950" b="1">
                <a:solidFill>
                  <a:srgbClr val="000000"/>
                </a:solidFill>
                <a:latin typeface="Arial"/>
                <a:ea typeface="Arial"/>
                <a:cs typeface="Arial"/>
              </a:defRPr>
            </a:pPr>
            <a:r>
              <a:t>beyond the observable tape.</a:t>
            </a:r>
          </a:p>
        </p:txBody>
      </p:sp>
      <p:sp>
        <p:nvSpPr>
          <p:cNvPr id="4" name="">
            <a:extLst xmlns:a="http://schemas.openxmlformats.org/drawingml/2006/main">
              <a:ext uri="{FF2B5EF4-FFF2-40B4-BE49-F238E27FC236}">
                <a16:creationId xmlns:a16="http://schemas.microsoft.com/office/drawing/2014/main" id="{89DACAB6-605B-492B-8C9A-F7560B4A6A46}"/>
              </a:ext>
            </a:extLst>
          </p:cNvPr>
          <p:cNvSpPr>
            <a:spLocks xmlns:a="http://schemas.openxmlformats.org/drawingml/2006/main" noGrp="1"/>
          </p:cNvSpPr>
          <p:nvPr/>
        </p:nvSpPr>
        <p:spPr>
          <a:xfrm xmlns:a="http://schemas.openxmlformats.org/drawingml/2006/main">
            <a:off x="400050" y="5010150"/>
            <a:ext cx="10001250" cy="476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100" b="1">
                <a:solidFill>
                  <a:srgbClr val="3D8DFF"/>
                </a:solidFill>
                <a:latin typeface="Arial"/>
                <a:ea typeface="Arial"/>
                <a:cs typeface="Arial"/>
              </a:defRPr>
            </a:pPr>
            <a:r>
              <a:t>12/12 conditional quarters  |  mean rho 0.088  |  policies/models zero</a:t>
            </a:r>
          </a:p>
        </p:txBody>
      </p:sp>
    </p:spTree>
    <p:extLst>
      <p:ext uri="{BB962C8B-B14F-4D97-AF65-F5344CB8AC3E}">
        <p14:creationId xmlns:p14="http://schemas.microsoft.com/office/powerpoint/2010/main" val="180480846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E2337DE-1564-4CEA-B7B6-C1A9FD804D92}"/>
              </a:ext>
            </a:extLst>
          </p:cNvPr>
          <p:cNvSpPr>
            <a:spLocks xmlns:a="http://schemas.openxmlformats.org/drawingml/2006/main" noGrp="1"/>
          </p:cNvSpPr>
          <p:nvPr/>
        </p:nvSpPr>
        <p:spPr>
          <a:xfrm xmlns:a="http://schemas.openxmlformats.org/drawingml/2006/main">
            <a:off x="400050" y="514350"/>
            <a:ext cx="11391900" cy="762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000" b="1">
                <a:solidFill>
                  <a:srgbClr val="000000"/>
                </a:solidFill>
                <a:latin typeface="Arial"/>
                <a:ea typeface="Arial"/>
                <a:cs typeface="Arial"/>
              </a:defRPr>
            </a:pPr>
            <a:r>
              <a:t>N1C froze the N1B signal and added only two tape controls</a:t>
            </a:r>
          </a:p>
        </p:txBody>
      </p:sp>
      <p:sp>
        <p:nvSpPr>
          <p:cNvPr id="2" name="">
            <a:extLst xmlns:a="http://schemas.openxmlformats.org/drawingml/2006/main">
              <a:ext uri="{FF2B5EF4-FFF2-40B4-BE49-F238E27FC236}">
                <a16:creationId xmlns:a16="http://schemas.microsoft.com/office/drawing/2014/main" id="{8FF6D795-41F9-4DB7-9099-EC48DEC93282}"/>
              </a:ext>
            </a:extLst>
          </p:cNvPr>
          <p:cNvSpPr>
            <a:spLocks xmlns:a="http://schemas.openxmlformats.org/drawingml/2006/main" noGrp="1"/>
          </p:cNvSpPr>
          <p:nvPr/>
        </p:nvSpPr>
        <p:spPr>
          <a:xfrm xmlns:a="http://schemas.openxmlformats.org/drawingml/2006/main">
            <a:off x="11277600" y="6305550"/>
            <a:ext cx="51435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75" b="0">
                <a:solidFill>
                  <a:srgbClr val="5F6570"/>
                </a:solidFill>
                <a:latin typeface="Arial"/>
                <a:ea typeface="Arial"/>
                <a:cs typeface="Arial"/>
              </a:defRPr>
            </a:pPr>
            <a:r>
              <a:t>D37/02</a:t>
            </a:r>
          </a:p>
        </p:txBody>
      </p:sp>
      <p:cxnSp>
        <p:nvCxnSpPr>
          <p:cNvPr id="70" name=""/>
          <p:cNvCxnSpPr/>
          <p:nvPr/>
        </p:nvCxnSpPr>
        <p:spPr>
          <a:xfrm xmlns:a="http://schemas.openxmlformats.org/drawingml/2006/main">
            <a:off x="666750" y="3124200"/>
            <a:ext cx="10287000" cy="9525"/>
          </a:xfrm>
          <a:prstGeom xmlns:a="http://schemas.openxmlformats.org/drawingml/2006/main" prst="straightConnector1">
            <a:avLst/>
          </a:prstGeom>
          <a:ln xmlns:a="http://schemas.openxmlformats.org/drawingml/2006/main" w="19050">
            <a:solidFill>
              <a:srgbClr val="000000"/>
            </a:solidFill>
            <a:prstDash val="solid"/>
          </a:ln>
        </p:spPr>
      </p:cxnSp>
      <p:sp>
        <p:nvSpPr>
          <p:cNvPr id="4" name="">
            <a:extLst xmlns:a="http://schemas.openxmlformats.org/drawingml/2006/main">
              <a:ext uri="{FF2B5EF4-FFF2-40B4-BE49-F238E27FC236}">
                <a16:creationId xmlns:a16="http://schemas.microsoft.com/office/drawing/2014/main" id="{B3DFB53C-0264-4D46-A2E8-A3B6F30799D0}"/>
              </a:ext>
            </a:extLst>
          </p:cNvPr>
          <p:cNvSpPr>
            <a:spLocks xmlns:a="http://schemas.openxmlformats.org/drawingml/2006/main" noGrp="1"/>
          </p:cNvSpPr>
          <p:nvPr/>
        </p:nvSpPr>
        <p:spPr>
          <a:xfrm xmlns:a="http://schemas.openxmlformats.org/drawingml/2006/main">
            <a:off x="838200" y="3009900"/>
            <a:ext cx="190500" cy="19050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D2DE284B-98CD-40CC-BECA-F4B7B3E46AE1}"/>
              </a:ext>
            </a:extLst>
          </p:cNvPr>
          <p:cNvSpPr>
            <a:spLocks xmlns:a="http://schemas.openxmlformats.org/drawingml/2006/main" noGrp="1"/>
          </p:cNvSpPr>
          <p:nvPr/>
        </p:nvSpPr>
        <p:spPr>
          <a:xfrm xmlns:a="http://schemas.openxmlformats.org/drawingml/2006/main">
            <a:off x="4229100" y="3009900"/>
            <a:ext cx="190500" cy="19050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CB3C6243-0F8C-4A38-9888-EF2824DAF5E6}"/>
              </a:ext>
            </a:extLst>
          </p:cNvPr>
          <p:cNvSpPr>
            <a:spLocks xmlns:a="http://schemas.openxmlformats.org/drawingml/2006/main" noGrp="1"/>
          </p:cNvSpPr>
          <p:nvPr/>
        </p:nvSpPr>
        <p:spPr>
          <a:xfrm xmlns:a="http://schemas.openxmlformats.org/drawingml/2006/main">
            <a:off x="7620000" y="3009900"/>
            <a:ext cx="190500" cy="19050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307A5C70-6898-4F96-9947-2F85AED5A095}"/>
              </a:ext>
            </a:extLst>
          </p:cNvPr>
          <p:cNvSpPr>
            <a:spLocks xmlns:a="http://schemas.openxmlformats.org/drawingml/2006/main" noGrp="1"/>
          </p:cNvSpPr>
          <p:nvPr/>
        </p:nvSpPr>
        <p:spPr>
          <a:xfrm xmlns:a="http://schemas.openxmlformats.org/drawingml/2006/main">
            <a:off x="666750" y="2247900"/>
            <a:ext cx="11430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5F6570"/>
                </a:solidFill>
                <a:latin typeface="Arial"/>
                <a:ea typeface="Arial"/>
                <a:cs typeface="Arial"/>
              </a:defRPr>
            </a:pPr>
            <a:r>
              <a:t>FROZEN INPUT</a:t>
            </a:r>
          </a:p>
        </p:txBody>
      </p:sp>
      <p:sp>
        <p:nvSpPr>
          <p:cNvPr id="8" name="">
            <a:extLst xmlns:a="http://schemas.openxmlformats.org/drawingml/2006/main">
              <a:ext uri="{FF2B5EF4-FFF2-40B4-BE49-F238E27FC236}">
                <a16:creationId xmlns:a16="http://schemas.microsoft.com/office/drawing/2014/main" id="{93515B3C-F39A-4E90-9150-8002EDF2287E}"/>
              </a:ext>
            </a:extLst>
          </p:cNvPr>
          <p:cNvSpPr>
            <a:spLocks xmlns:a="http://schemas.openxmlformats.org/drawingml/2006/main" noGrp="1"/>
          </p:cNvSpPr>
          <p:nvPr/>
        </p:nvSpPr>
        <p:spPr>
          <a:xfrm xmlns:a="http://schemas.openxmlformats.org/drawingml/2006/main">
            <a:off x="666750" y="3562350"/>
            <a:ext cx="2762250" cy="819150"/>
          </a:xfrm>
          <a:prstGeom xmlns:a="http://schemas.openxmlformats.org/drawingml/2006/main" prst="rect">
            <a:avLst/>
          </a:prstGeom>
        </p:spPr>
        <p:txBody>
          <a:bodyPr xmlns:a="http://schemas.openxmlformats.org/drawingml/2006/main" wrap="square" lIns="0" tIns="0" rIns="0" bIns="0" anchor="t">
            <a:normAutofit fontScale="88477"/>
          </a:bodyPr>
          <a:lstStyle xmlns:a="http://schemas.openxmlformats.org/drawingml/2006/main"/>
          <a:p xmlns:a="http://schemas.openxmlformats.org/drawingml/2006/main">
            <a:pPr algn="l">
              <a:buNone/>
              <a:defRPr sz="2025" b="1">
                <a:solidFill>
                  <a:srgbClr val="000000"/>
                </a:solidFill>
                <a:latin typeface="Arial"/>
                <a:ea typeface="Arial"/>
                <a:cs typeface="Arial"/>
              </a:defRPr>
            </a:pPr>
            <a:r>
              <a:t>same N1B rows + news ECDF</a:t>
            </a:r>
          </a:p>
          <a:p xmlns:a="http://schemas.openxmlformats.org/drawingml/2006/main">
            <a:pPr algn="l">
              <a:buNone/>
              <a:defRPr sz="2025" b="1">
                <a:solidFill>
                  <a:srgbClr val="000000"/>
                </a:solidFill>
                <a:latin typeface="Arial"/>
                <a:ea typeface="Arial"/>
                <a:cs typeface="Arial"/>
              </a:defRPr>
            </a:pPr>
            <a:r>
              <a:t>same future h5 outcome</a:t>
            </a:r>
          </a:p>
        </p:txBody>
      </p:sp>
      <p:sp>
        <p:nvSpPr>
          <p:cNvPr id="9" name="">
            <a:extLst xmlns:a="http://schemas.openxmlformats.org/drawingml/2006/main">
              <a:ext uri="{FF2B5EF4-FFF2-40B4-BE49-F238E27FC236}">
                <a16:creationId xmlns:a16="http://schemas.microsoft.com/office/drawing/2014/main" id="{34722BFC-B68D-488F-929D-4939A7B77C19}"/>
              </a:ext>
            </a:extLst>
          </p:cNvPr>
          <p:cNvSpPr>
            <a:spLocks xmlns:a="http://schemas.openxmlformats.org/drawingml/2006/main" noGrp="1"/>
          </p:cNvSpPr>
          <p:nvPr/>
        </p:nvSpPr>
        <p:spPr>
          <a:xfrm xmlns:a="http://schemas.openxmlformats.org/drawingml/2006/main">
            <a:off x="4057650" y="2247900"/>
            <a:ext cx="1143000" cy="228600"/>
          </a:xfrm>
          <a:prstGeom xmlns:a="http://schemas.openxmlformats.org/drawingml/2006/main" prst="rect">
            <a:avLst/>
          </a:prstGeom>
        </p:spPr>
        <p:txBody>
          <a:bodyPr xmlns:a="http://schemas.openxmlformats.org/drawingml/2006/main" wrap="square" lIns="0" tIns="0" rIns="0" bIns="0" anchor="t">
            <a:normAutofit fontScale="80016"/>
          </a:bodyPr>
          <a:lstStyle xmlns:a="http://schemas.openxmlformats.org/drawingml/2006/main"/>
          <a:p xmlns:a="http://schemas.openxmlformats.org/drawingml/2006/main">
            <a:pPr algn="l">
              <a:buNone/>
              <a:defRPr sz="1200" b="1">
                <a:solidFill>
                  <a:srgbClr val="5F6570"/>
                </a:solidFill>
                <a:latin typeface="Arial"/>
                <a:ea typeface="Arial"/>
                <a:cs typeface="Arial"/>
              </a:defRPr>
            </a:pPr>
            <a:r>
              <a:t>OHLCV CONTROLS</a:t>
            </a:r>
          </a:p>
        </p:txBody>
      </p:sp>
      <p:sp>
        <p:nvSpPr>
          <p:cNvPr id="10" name="">
            <a:extLst xmlns:a="http://schemas.openxmlformats.org/drawingml/2006/main">
              <a:ext uri="{FF2B5EF4-FFF2-40B4-BE49-F238E27FC236}">
                <a16:creationId xmlns:a16="http://schemas.microsoft.com/office/drawing/2014/main" id="{1006681A-4E7A-4BA0-B61A-73DFB448DC5F}"/>
              </a:ext>
            </a:extLst>
          </p:cNvPr>
          <p:cNvSpPr>
            <a:spLocks xmlns:a="http://schemas.openxmlformats.org/drawingml/2006/main" noGrp="1"/>
          </p:cNvSpPr>
          <p:nvPr/>
        </p:nvSpPr>
        <p:spPr>
          <a:xfrm xmlns:a="http://schemas.openxmlformats.org/drawingml/2006/main">
            <a:off x="4057650" y="3562350"/>
            <a:ext cx="2857500" cy="819150"/>
          </a:xfrm>
          <a:prstGeom xmlns:a="http://schemas.openxmlformats.org/drawingml/2006/main" prst="rect">
            <a:avLst/>
          </a:prstGeom>
        </p:spPr>
        <p:txBody>
          <a:bodyPr xmlns:a="http://schemas.openxmlformats.org/drawingml/2006/main" wrap="square" lIns="0" tIns="0" rIns="0" bIns="0" anchor="t">
            <a:normAutofit fontScale="88477"/>
          </a:bodyPr>
          <a:lstStyle xmlns:a="http://schemas.openxmlformats.org/drawingml/2006/main"/>
          <a:p xmlns:a="http://schemas.openxmlformats.org/drawingml/2006/main">
            <a:pPr algn="l">
              <a:buNone/>
              <a:defRPr sz="2025" b="1">
                <a:solidFill>
                  <a:srgbClr val="000000"/>
                </a:solidFill>
                <a:latin typeface="Arial"/>
                <a:ea typeface="Arial"/>
                <a:cs typeface="Arial"/>
              </a:defRPr>
            </a:pPr>
            <a:r>
              <a:t>prior h5 path volatility</a:t>
            </a:r>
          </a:p>
          <a:p xmlns:a="http://schemas.openxmlformats.org/drawingml/2006/main">
            <a:pPr algn="l">
              <a:buNone/>
              <a:defRPr sz="2025" b="1">
                <a:solidFill>
                  <a:srgbClr val="000000"/>
                </a:solidFill>
                <a:latin typeface="Arial"/>
                <a:ea typeface="Arial"/>
                <a:cs typeface="Arial"/>
              </a:defRPr>
            </a:pPr>
            <a:r>
              <a:t>current / prior-60 dollar volume</a:t>
            </a:r>
          </a:p>
        </p:txBody>
      </p:sp>
      <p:sp>
        <p:nvSpPr>
          <p:cNvPr id="11" name="">
            <a:extLst xmlns:a="http://schemas.openxmlformats.org/drawingml/2006/main">
              <a:ext uri="{FF2B5EF4-FFF2-40B4-BE49-F238E27FC236}">
                <a16:creationId xmlns:a16="http://schemas.microsoft.com/office/drawing/2014/main" id="{AD89A921-CA0E-41AF-AEC6-CCF880371FFF}"/>
              </a:ext>
            </a:extLst>
          </p:cNvPr>
          <p:cNvSpPr>
            <a:spLocks xmlns:a="http://schemas.openxmlformats.org/drawingml/2006/main" noGrp="1"/>
          </p:cNvSpPr>
          <p:nvPr/>
        </p:nvSpPr>
        <p:spPr>
          <a:xfrm xmlns:a="http://schemas.openxmlformats.org/drawingml/2006/main">
            <a:off x="7448550" y="2247900"/>
            <a:ext cx="11430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5F6570"/>
                </a:solidFill>
                <a:latin typeface="Arial"/>
                <a:ea typeface="Arial"/>
                <a:cs typeface="Arial"/>
              </a:defRPr>
            </a:pPr>
            <a:r>
              <a:t>PRIMARY TEST</a:t>
            </a:r>
          </a:p>
        </p:txBody>
      </p:sp>
      <p:sp>
        <p:nvSpPr>
          <p:cNvPr id="12" name="">
            <a:extLst xmlns:a="http://schemas.openxmlformats.org/drawingml/2006/main">
              <a:ext uri="{FF2B5EF4-FFF2-40B4-BE49-F238E27FC236}">
                <a16:creationId xmlns:a16="http://schemas.microsoft.com/office/drawing/2014/main" id="{430D44CB-FC2E-4D38-9C42-CC9A84E234F9}"/>
              </a:ext>
            </a:extLst>
          </p:cNvPr>
          <p:cNvSpPr>
            <a:spLocks xmlns:a="http://schemas.openxmlformats.org/drawingml/2006/main" noGrp="1"/>
          </p:cNvSpPr>
          <p:nvPr/>
        </p:nvSpPr>
        <p:spPr>
          <a:xfrm xmlns:a="http://schemas.openxmlformats.org/drawingml/2006/main">
            <a:off x="7448550" y="3562350"/>
            <a:ext cx="3238500" cy="8191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025" b="1">
                <a:solidFill>
                  <a:srgbClr val="000000"/>
                </a:solidFill>
                <a:latin typeface="Arial"/>
                <a:ea typeface="Arial"/>
                <a:cs typeface="Arial"/>
              </a:defRPr>
            </a:pPr>
            <a:r>
              <a:t>fold partial Spearman</a:t>
            </a:r>
          </a:p>
          <a:p xmlns:a="http://schemas.openxmlformats.org/drawingml/2006/main">
            <a:pPr algn="l">
              <a:buNone/>
              <a:defRPr sz="2025" b="1">
                <a:solidFill>
                  <a:srgbClr val="000000"/>
                </a:solidFill>
                <a:latin typeface="Arial"/>
                <a:ea typeface="Arial"/>
                <a:cs typeface="Arial"/>
              </a:defRPr>
            </a:pPr>
            <a:r>
              <a:t>mean &gt; 0 and &gt;= 8 / 12</a:t>
            </a:r>
          </a:p>
        </p:txBody>
      </p:sp>
      <p:sp>
        <p:nvSpPr>
          <p:cNvPr id="13" name="">
            <a:extLst xmlns:a="http://schemas.openxmlformats.org/drawingml/2006/main">
              <a:ext uri="{FF2B5EF4-FFF2-40B4-BE49-F238E27FC236}">
                <a16:creationId xmlns:a16="http://schemas.microsoft.com/office/drawing/2014/main" id="{3F88A186-326F-4097-AAA4-3983A6582F91}"/>
              </a:ext>
            </a:extLst>
          </p:cNvPr>
          <p:cNvSpPr>
            <a:spLocks xmlns:a="http://schemas.openxmlformats.org/drawingml/2006/main" noGrp="1"/>
          </p:cNvSpPr>
          <p:nvPr/>
        </p:nvSpPr>
        <p:spPr>
          <a:xfrm xmlns:a="http://schemas.openxmlformats.org/drawingml/2006/main">
            <a:off x="666750" y="5086350"/>
            <a:ext cx="10287000" cy="476250"/>
          </a:xfrm>
          <a:prstGeom xmlns:a="http://schemas.openxmlformats.org/drawingml/2006/main" prst="rect">
            <a:avLst/>
          </a:prstGeom>
        </p:spPr>
        <p:txBody>
          <a:bodyPr xmlns:a="http://schemas.openxmlformats.org/drawingml/2006/main" wrap="square" lIns="0" tIns="0" rIns="0" bIns="0" anchor="t">
            <a:normAutofit fontScale="99320"/>
          </a:bodyPr>
          <a:lstStyle xmlns:a="http://schemas.openxmlformats.org/drawingml/2006/main"/>
          <a:p xmlns:a="http://schemas.openxmlformats.org/drawingml/2006/main">
            <a:pPr algn="l">
              <a:buNone/>
              <a:defRPr sz="2025" b="1">
                <a:solidFill>
                  <a:srgbClr val="3D8DFF"/>
                </a:solidFill>
                <a:latin typeface="Arial"/>
                <a:ea typeface="Arial"/>
                <a:cs typeface="Arial"/>
              </a:defRPr>
            </a:pPr>
            <a:r>
              <a:t>Alternate controls, horizons, sentiment, models, exposure, allocation, and PnL: zero.</a:t>
            </a:r>
          </a:p>
        </p:txBody>
      </p:sp>
    </p:spTree>
    <p:extLst>
      <p:ext uri="{BB962C8B-B14F-4D97-AF65-F5344CB8AC3E}">
        <p14:creationId xmlns:p14="http://schemas.microsoft.com/office/powerpoint/2010/main" val="153436995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13DC877-F75F-4919-9031-29F99D007D3E}"/>
              </a:ext>
            </a:extLst>
          </p:cNvPr>
          <p:cNvSpPr>
            <a:spLocks xmlns:a="http://schemas.openxmlformats.org/drawingml/2006/main" noGrp="1"/>
          </p:cNvSpPr>
          <p:nvPr/>
        </p:nvSpPr>
        <p:spPr>
          <a:xfrm xmlns:a="http://schemas.openxmlformats.org/drawingml/2006/main">
            <a:off x="400050" y="514350"/>
            <a:ext cx="11391900" cy="762000"/>
          </a:xfrm>
          <a:prstGeom xmlns:a="http://schemas.openxmlformats.org/drawingml/2006/main" prst="rect">
            <a:avLst/>
          </a:prstGeom>
        </p:spPr>
        <p:txBody>
          <a:bodyPr xmlns:a="http://schemas.openxmlformats.org/drawingml/2006/main" wrap="square" lIns="0" tIns="0" rIns="0" bIns="0" anchor="t">
            <a:normAutofit fontScale="97959"/>
          </a:bodyPr>
          <a:lstStyle xmlns:a="http://schemas.openxmlformats.org/drawingml/2006/main"/>
          <a:p xmlns:a="http://schemas.openxmlformats.org/drawingml/2006/main">
            <a:pPr algn="l">
              <a:buNone/>
              <a:defRPr sz="3000" b="1">
                <a:solidFill>
                  <a:srgbClr val="000000"/>
                </a:solidFill>
                <a:latin typeface="Arial"/>
                <a:ea typeface="Arial"/>
                <a:cs typeface="Arial"/>
              </a:defRPr>
            </a:pPr>
            <a:r>
              <a:t>Conditioning trims the effect, but every quarter remains positive</a:t>
            </a:r>
          </a:p>
        </p:txBody>
      </p:sp>
      <p:sp>
        <p:nvSpPr>
          <p:cNvPr id="2" name="">
            <a:extLst xmlns:a="http://schemas.openxmlformats.org/drawingml/2006/main">
              <a:ext uri="{FF2B5EF4-FFF2-40B4-BE49-F238E27FC236}">
                <a16:creationId xmlns:a16="http://schemas.microsoft.com/office/drawing/2014/main" id="{63443778-7507-4614-8B69-EE17D1B8630A}"/>
              </a:ext>
            </a:extLst>
          </p:cNvPr>
          <p:cNvSpPr>
            <a:spLocks xmlns:a="http://schemas.openxmlformats.org/drawingml/2006/main" noGrp="1"/>
          </p:cNvSpPr>
          <p:nvPr/>
        </p:nvSpPr>
        <p:spPr>
          <a:xfrm xmlns:a="http://schemas.openxmlformats.org/drawingml/2006/main">
            <a:off x="11277600" y="6305550"/>
            <a:ext cx="51435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75" b="0">
                <a:solidFill>
                  <a:srgbClr val="5F6570"/>
                </a:solidFill>
                <a:latin typeface="Arial"/>
                <a:ea typeface="Arial"/>
                <a:cs typeface="Arial"/>
              </a:defRPr>
            </a:pPr>
            <a:r>
              <a:t>D37/03</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96d0768650f4acf"/>
          <a:stretch xmlns:a="http://schemas.openxmlformats.org/drawingml/2006/main"/>
        </p:blipFill>
        <p:spPr>
          <a:xfrm xmlns:a="http://schemas.openxmlformats.org/drawingml/2006/main" flipH="0" flipV="0">
            <a:off x="2286000" y="1381125"/>
            <a:ext cx="7620000" cy="4572000"/>
          </a:xfrm>
          <a:prstGeom xmlns:a="http://schemas.openxmlformats.org/drawingml/2006/main" prst="rect">
            <a:avLst/>
          </a:prstGeom>
        </p:spPr>
      </p:pic>
    </p:spTree>
    <p:extLst>
      <p:ext uri="{BB962C8B-B14F-4D97-AF65-F5344CB8AC3E}">
        <p14:creationId xmlns:p14="http://schemas.microsoft.com/office/powerpoint/2010/main" val="51811342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13DC877-F75F-4919-9031-29F99D007D3E}"/>
              </a:ext>
            </a:extLst>
          </p:cNvPr>
          <p:cNvSpPr>
            <a:spLocks xmlns:a="http://schemas.openxmlformats.org/drawingml/2006/main" noGrp="1"/>
          </p:cNvSpPr>
          <p:nvPr/>
        </p:nvSpPr>
        <p:spPr>
          <a:xfrm xmlns:a="http://schemas.openxmlformats.org/drawingml/2006/main">
            <a:off x="400050" y="514350"/>
            <a:ext cx="11391900" cy="762000"/>
          </a:xfrm>
          <a:prstGeom xmlns:a="http://schemas.openxmlformats.org/drawingml/2006/main" prst="rect">
            <a:avLst/>
          </a:prstGeom>
        </p:spPr>
        <p:txBody>
          <a:bodyPr xmlns:a="http://schemas.openxmlformats.org/drawingml/2006/main" wrap="square" lIns="0" tIns="0" rIns="0" bIns="0" anchor="t">
            <a:normAutofit fontScale="83333"/>
          </a:bodyPr>
          <a:lstStyle xmlns:a="http://schemas.openxmlformats.org/drawingml/2006/main"/>
          <a:p xmlns:a="http://schemas.openxmlformats.org/drawingml/2006/main">
            <a:pPr algn="l">
              <a:buNone/>
              <a:defRPr sz="3000" b="1">
                <a:solidFill>
                  <a:srgbClr val="000000"/>
                </a:solidFill>
                <a:latin typeface="Arial"/>
                <a:ea typeface="Arial"/>
                <a:cs typeface="Arial"/>
              </a:defRPr>
            </a:pPr>
            <a:r>
              <a:t>The controls capture real persistence and attention—not the whole relationship</a:t>
            </a:r>
          </a:p>
        </p:txBody>
      </p:sp>
      <p:sp>
        <p:nvSpPr>
          <p:cNvPr id="2" name="">
            <a:extLst xmlns:a="http://schemas.openxmlformats.org/drawingml/2006/main">
              <a:ext uri="{FF2B5EF4-FFF2-40B4-BE49-F238E27FC236}">
                <a16:creationId xmlns:a16="http://schemas.microsoft.com/office/drawing/2014/main" id="{63443778-7507-4614-8B69-EE17D1B8630A}"/>
              </a:ext>
            </a:extLst>
          </p:cNvPr>
          <p:cNvSpPr>
            <a:spLocks xmlns:a="http://schemas.openxmlformats.org/drawingml/2006/main" noGrp="1"/>
          </p:cNvSpPr>
          <p:nvPr/>
        </p:nvSpPr>
        <p:spPr>
          <a:xfrm xmlns:a="http://schemas.openxmlformats.org/drawingml/2006/main">
            <a:off x="11277600" y="6305550"/>
            <a:ext cx="51435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75" b="0">
                <a:solidFill>
                  <a:srgbClr val="5F6570"/>
                </a:solidFill>
                <a:latin typeface="Arial"/>
                <a:ea typeface="Arial"/>
                <a:cs typeface="Arial"/>
              </a:defRPr>
            </a:pPr>
            <a:r>
              <a:t>D37/04</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ee69b49db04949e6"/>
          <a:stretch xmlns:a="http://schemas.openxmlformats.org/drawingml/2006/main"/>
        </p:blipFill>
        <p:spPr>
          <a:xfrm xmlns:a="http://schemas.openxmlformats.org/drawingml/2006/main" flipH="0" flipV="0">
            <a:off x="2133600" y="1381125"/>
            <a:ext cx="7924800" cy="4572000"/>
          </a:xfrm>
          <a:prstGeom xmlns:a="http://schemas.openxmlformats.org/drawingml/2006/main" prst="rect">
            <a:avLst/>
          </a:prstGeom>
        </p:spPr>
      </p:pic>
    </p:spTree>
    <p:extLst>
      <p:ext uri="{BB962C8B-B14F-4D97-AF65-F5344CB8AC3E}">
        <p14:creationId xmlns:p14="http://schemas.microsoft.com/office/powerpoint/2010/main" val="51811342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13DC877-F75F-4919-9031-29F99D007D3E}"/>
              </a:ext>
            </a:extLst>
          </p:cNvPr>
          <p:cNvSpPr>
            <a:spLocks xmlns:a="http://schemas.openxmlformats.org/drawingml/2006/main" noGrp="1"/>
          </p:cNvSpPr>
          <p:nvPr/>
        </p:nvSpPr>
        <p:spPr>
          <a:xfrm xmlns:a="http://schemas.openxmlformats.org/drawingml/2006/main">
            <a:off x="400050" y="514350"/>
            <a:ext cx="11391900" cy="762000"/>
          </a:xfrm>
          <a:prstGeom xmlns:a="http://schemas.openxmlformats.org/drawingml/2006/main" prst="rect">
            <a:avLst/>
          </a:prstGeom>
        </p:spPr>
        <p:txBody>
          <a:bodyPr xmlns:a="http://schemas.openxmlformats.org/drawingml/2006/main" wrap="square" lIns="0" tIns="0" rIns="0" bIns="0" anchor="t">
            <a:normAutofit fontScale="88996"/>
          </a:bodyPr>
          <a:lstStyle xmlns:a="http://schemas.openxmlformats.org/drawingml/2006/main"/>
          <a:p xmlns:a="http://schemas.openxmlformats.org/drawingml/2006/main">
            <a:pPr algn="l">
              <a:buNone/>
              <a:defRPr sz="3000" b="1">
                <a:solidFill>
                  <a:srgbClr val="000000"/>
                </a:solidFill>
                <a:latin typeface="Arial"/>
                <a:ea typeface="Arial"/>
                <a:cs typeface="Arial"/>
              </a:defRPr>
            </a:pPr>
            <a:r>
              <a:t>Matched examples reinforce the boundary: this is probabilistic context</a:t>
            </a:r>
          </a:p>
        </p:txBody>
      </p:sp>
      <p:sp>
        <p:nvSpPr>
          <p:cNvPr id="2" name="">
            <a:extLst xmlns:a="http://schemas.openxmlformats.org/drawingml/2006/main">
              <a:ext uri="{FF2B5EF4-FFF2-40B4-BE49-F238E27FC236}">
                <a16:creationId xmlns:a16="http://schemas.microsoft.com/office/drawing/2014/main" id="{63443778-7507-4614-8B69-EE17D1B8630A}"/>
              </a:ext>
            </a:extLst>
          </p:cNvPr>
          <p:cNvSpPr>
            <a:spLocks xmlns:a="http://schemas.openxmlformats.org/drawingml/2006/main" noGrp="1"/>
          </p:cNvSpPr>
          <p:nvPr/>
        </p:nvSpPr>
        <p:spPr>
          <a:xfrm xmlns:a="http://schemas.openxmlformats.org/drawingml/2006/main">
            <a:off x="11277600" y="6305550"/>
            <a:ext cx="51435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75" b="0">
                <a:solidFill>
                  <a:srgbClr val="5F6570"/>
                </a:solidFill>
                <a:latin typeface="Arial"/>
                <a:ea typeface="Arial"/>
                <a:cs typeface="Arial"/>
              </a:defRPr>
            </a:pPr>
            <a:r>
              <a:t>D37/05</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7db3be8a02584ed2"/>
          <a:stretch xmlns:a="http://schemas.openxmlformats.org/drawingml/2006/main"/>
        </p:blipFill>
        <p:spPr>
          <a:xfrm xmlns:a="http://schemas.openxmlformats.org/drawingml/2006/main" flipH="0" flipV="0">
            <a:off x="2286000" y="1381125"/>
            <a:ext cx="7620000" cy="4572000"/>
          </a:xfrm>
          <a:prstGeom xmlns:a="http://schemas.openxmlformats.org/drawingml/2006/main" prst="rect">
            <a:avLst/>
          </a:prstGeom>
        </p:spPr>
      </p:pic>
    </p:spTree>
    <p:extLst>
      <p:ext uri="{BB962C8B-B14F-4D97-AF65-F5344CB8AC3E}">
        <p14:creationId xmlns:p14="http://schemas.microsoft.com/office/powerpoint/2010/main" val="51811342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13DC877-F75F-4919-9031-29F99D007D3E}"/>
              </a:ext>
            </a:extLst>
          </p:cNvPr>
          <p:cNvSpPr>
            <a:spLocks xmlns:a="http://schemas.openxmlformats.org/drawingml/2006/main" noGrp="1"/>
          </p:cNvSpPr>
          <p:nvPr/>
        </p:nvSpPr>
        <p:spPr>
          <a:xfrm xmlns:a="http://schemas.openxmlformats.org/drawingml/2006/main">
            <a:off x="400050" y="514350"/>
            <a:ext cx="11391900" cy="762000"/>
          </a:xfrm>
          <a:prstGeom xmlns:a="http://schemas.openxmlformats.org/drawingml/2006/main" prst="rect">
            <a:avLst/>
          </a:prstGeom>
        </p:spPr>
        <p:txBody>
          <a:bodyPr xmlns:a="http://schemas.openxmlformats.org/drawingml/2006/main" wrap="square" lIns="0" tIns="0" rIns="0" bIns="0" anchor="t">
            <a:normAutofit fontScale="83556"/>
          </a:bodyPr>
          <a:lstStyle xmlns:a="http://schemas.openxmlformats.org/drawingml/2006/main"/>
          <a:p xmlns:a="http://schemas.openxmlformats.org/drawingml/2006/main">
            <a:pPr algn="l">
              <a:buNone/>
              <a:defRPr sz="3000" b="1">
                <a:solidFill>
                  <a:srgbClr val="000000"/>
                </a:solidFill>
                <a:latin typeface="Arial"/>
                <a:ea typeface="Arial"/>
                <a:cs typeface="Arial"/>
              </a:defRPr>
            </a:pPr>
            <a:r>
              <a:t>N1C passes nonredundancy; richer representation remains a separate gate</a:t>
            </a:r>
          </a:p>
        </p:txBody>
      </p:sp>
      <p:sp>
        <p:nvSpPr>
          <p:cNvPr id="2" name="">
            <a:extLst xmlns:a="http://schemas.openxmlformats.org/drawingml/2006/main">
              <a:ext uri="{FF2B5EF4-FFF2-40B4-BE49-F238E27FC236}">
                <a16:creationId xmlns:a16="http://schemas.microsoft.com/office/drawing/2014/main" id="{63443778-7507-4614-8B69-EE17D1B8630A}"/>
              </a:ext>
            </a:extLst>
          </p:cNvPr>
          <p:cNvSpPr>
            <a:spLocks xmlns:a="http://schemas.openxmlformats.org/drawingml/2006/main" noGrp="1"/>
          </p:cNvSpPr>
          <p:nvPr/>
        </p:nvSpPr>
        <p:spPr>
          <a:xfrm xmlns:a="http://schemas.openxmlformats.org/drawingml/2006/main">
            <a:off x="11277600" y="6305550"/>
            <a:ext cx="51435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75" b="0">
                <a:solidFill>
                  <a:srgbClr val="5F6570"/>
                </a:solidFill>
                <a:latin typeface="Arial"/>
                <a:ea typeface="Arial"/>
                <a:cs typeface="Arial"/>
              </a:defRPr>
            </a:pPr>
            <a:r>
              <a:t>D37/06</a:t>
            </a:r>
          </a:p>
        </p:txBody>
      </p:sp>
      <p:sp>
        <p:nvSpPr>
          <p:cNvPr id="12" name="">
            <a:extLst xmlns:a="http://schemas.openxmlformats.org/drawingml/2006/main">
              <a:ext uri="{FF2B5EF4-FFF2-40B4-BE49-F238E27FC236}">
                <a16:creationId xmlns:a16="http://schemas.microsoft.com/office/drawing/2014/main" id="{B0D00E1C-C4F4-42C7-BF5A-8463531752B5}"/>
              </a:ext>
            </a:extLst>
          </p:cNvPr>
          <p:cNvSpPr>
            <a:spLocks xmlns:a="http://schemas.openxmlformats.org/drawingml/2006/main" noGrp="1"/>
          </p:cNvSpPr>
          <p:nvPr/>
        </p:nvSpPr>
        <p:spPr>
          <a:xfrm xmlns:a="http://schemas.openxmlformats.org/drawingml/2006/main">
            <a:off x="6172200" y="1619250"/>
            <a:ext cx="5334000" cy="3857625"/>
          </a:xfrm>
          <a:prstGeom xmlns:a="http://schemas.openxmlformats.org/drawingml/2006/main" prst="rect">
            <a:avLst/>
          </a:prstGeom>
          <a:solidFill xmlns:a="http://schemas.openxmlformats.org/drawingml/2006/main">
            <a:srgbClr val="EDEDED"/>
          </a:solidFill>
          <a:ln xmlns:a="http://schemas.openxmlformats.org/drawingml/2006/main" w="0">
            <a:solidFill>
              <a:srgbClr val="EDEDED"/>
            </a:solidFill>
            <a:prstDash val="solid"/>
          </a:ln>
        </p:spPr>
        <p:txBody>
          <a:bodyPr xmlns:a="http://schemas.openxmlformats.org/drawingml/2006/main" anchor="ctr"/>
          <a:lstStyle xmlns:a="http://schemas.openxmlformats.org/drawingml/2006/main"/>
          <a:p xmlns:a="http://schemas.openxmlformats.org/drawingml/2006/main">
            <a:pPr algn="l">
              <a:buNone/>
              <a:defRPr sz="2025">
                <a:solidFill>
                  <a:srgbClr val="000000"/>
                </a:solidFill>
                <a:latin typeface="Arial"/>
                <a:ea typeface="Arial"/>
                <a:cs typeface="Arial"/>
              </a:defRPr>
            </a:pPr>
            <a:r>
              <a:t>OVERALL: PASS TO MINIMAL</a:t>
            </a:r>
          </a:p>
          <a:p xmlns:a="http://schemas.openxmlformats.org/drawingml/2006/main">
            <a:pPr algn="l">
              <a:buNone/>
              <a:defRPr sz="2025">
                <a:solidFill>
                  <a:srgbClr val="000000"/>
                </a:solidFill>
                <a:latin typeface="Arial"/>
                <a:ea typeface="Arial"/>
                <a:cs typeface="Arial"/>
              </a:defRPr>
            </a:pPr>
            <a:r>
              <a:t>REPRESENTATION DISCUSSION</a:t>
            </a:r>
          </a:p>
          <a:p xmlns:a="http://schemas.openxmlformats.org/drawingml/2006/main">
            <a:pPr algn="l">
              <a:buNone/>
              <a:defRPr sz="2025">
                <a:solidFill>
                  <a:srgbClr val="000000"/>
                </a:solidFill>
                <a:latin typeface="Arial"/>
                <a:ea typeface="Arial"/>
                <a:cs typeface="Arial"/>
              </a:defRPr>
            </a:pPr>
            <a:r>
              <a:t/>
            </a:r>
          </a:p>
          <a:p xmlns:a="http://schemas.openxmlformats.org/drawingml/2006/main">
            <a:pPr algn="l">
              <a:buNone/>
              <a:defRPr sz="2025">
                <a:solidFill>
                  <a:srgbClr val="000000"/>
                </a:solidFill>
                <a:latin typeface="Arial"/>
                <a:ea typeface="Arial"/>
                <a:cs typeface="Arial"/>
              </a:defRPr>
            </a:pPr>
            <a:r>
              <a:t>PASS  11 / 11 integrity checks</a:t>
            </a:r>
          </a:p>
          <a:p xmlns:a="http://schemas.openxmlformats.org/drawingml/2006/main">
            <a:pPr algn="l">
              <a:buNone/>
              <a:defRPr sz="2025">
                <a:solidFill>
                  <a:srgbClr val="000000"/>
                </a:solidFill>
                <a:latin typeface="Arial"/>
                <a:ea typeface="Arial"/>
                <a:cs typeface="Arial"/>
              </a:defRPr>
            </a:pPr>
            <a:r>
              <a:t>PASS  12 / 12 conditional quarters</a:t>
            </a:r>
          </a:p>
          <a:p xmlns:a="http://schemas.openxmlformats.org/drawingml/2006/main">
            <a:pPr algn="l">
              <a:buNone/>
              <a:defRPr sz="2025">
                <a:solidFill>
                  <a:srgbClr val="000000"/>
                </a:solidFill>
                <a:latin typeface="Arial"/>
                <a:ea typeface="Arial"/>
                <a:cs typeface="Arial"/>
              </a:defRPr>
            </a:pPr>
            <a:r>
              <a:t>PASS  mean conditional rho 0.088</a:t>
            </a:r>
          </a:p>
          <a:p xmlns:a="http://schemas.openxmlformats.org/drawingml/2006/main">
            <a:pPr algn="l">
              <a:buNone/>
              <a:defRPr sz="2025">
                <a:solidFill>
                  <a:srgbClr val="000000"/>
                </a:solidFill>
                <a:latin typeface="Arial"/>
                <a:ea typeface="Arial"/>
                <a:cs typeface="Arial"/>
              </a:defRPr>
            </a:pPr>
            <a:r>
              <a:t>WATCH modest effect; attenuation 0.020</a:t>
            </a:r>
          </a:p>
          <a:p xmlns:a="http://schemas.openxmlformats.org/drawingml/2006/main">
            <a:pPr algn="l">
              <a:buNone/>
              <a:defRPr sz="2025">
                <a:solidFill>
                  <a:srgbClr val="000000"/>
                </a:solidFill>
                <a:latin typeface="Arial"/>
                <a:ea typeface="Arial"/>
                <a:cs typeface="Arial"/>
              </a:defRPr>
            </a:pPr>
            <a:r>
              <a:t>STOP  No causal or directional claim</a:t>
            </a:r>
          </a:p>
          <a:p xmlns:a="http://schemas.openxmlformats.org/drawingml/2006/main">
            <a:pPr algn="l">
              <a:buNone/>
              <a:defRPr sz="2025">
                <a:solidFill>
                  <a:srgbClr val="000000"/>
                </a:solidFill>
                <a:latin typeface="Arial"/>
                <a:ea typeface="Arial"/>
                <a:cs typeface="Arial"/>
              </a:defRPr>
            </a:pPr>
            <a:r>
              <a:t>STOP  No model / exposure / allocation / PnL</a:t>
            </a:r>
          </a:p>
          <a:p xmlns:a="http://schemas.openxmlformats.org/drawingml/2006/main">
            <a:pPr algn="l">
              <a:buNone/>
              <a:defRPr sz="2025">
                <a:solidFill>
                  <a:srgbClr val="000000"/>
                </a:solidFill>
                <a:latin typeface="Arial"/>
                <a:ea typeface="Arial"/>
                <a:cs typeface="Arial"/>
              </a:defRPr>
            </a:pPr>
            <a:r>
              <a:t>NEXT  Discuss one recency-weighted challenger</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62a20f9ae13c4ee6"/>
          <a:stretch xmlns:a="http://schemas.openxmlformats.org/drawingml/2006/main"/>
        </p:blipFill>
        <p:spPr>
          <a:xfrm xmlns:a="http://schemas.openxmlformats.org/drawingml/2006/main" flipH="0" flipV="0">
            <a:off x="400050" y="1992007"/>
            <a:ext cx="5476875" cy="3159736"/>
          </a:xfrm>
          <a:prstGeom xmlns:a="http://schemas.openxmlformats.org/drawingml/2006/main" prst="rect">
            <a:avLst/>
          </a:prstGeom>
        </p:spPr>
      </p:pic>
    </p:spTree>
    <p:extLst>
      <p:ext uri="{BB962C8B-B14F-4D97-AF65-F5344CB8AC3E}">
        <p14:creationId xmlns:p14="http://schemas.microsoft.com/office/powerpoint/2010/main" val="5181134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2026-07-25T12:59:54.8340000Z</dcterms:created>
  <dcterms:modified xsi:type="dcterms:W3CDTF">2026-07-25T12:59:54.8340000Z</dcterms:modified>
</coreProperties>
</file>