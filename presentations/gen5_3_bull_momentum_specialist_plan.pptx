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a1c702113d42e9" /><Relationship Type="http://schemas.openxmlformats.org/officeDocument/2006/relationships/extended-properties" Target="/docProps/app.xml" Id="Ra69240b431324d92" /><Relationship Type="http://schemas.openxmlformats.org/officeDocument/2006/relationships/officeDocument" Target="/ppt/presentation.xml" Id="R0206707b2c3349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08a83ccf4749f3"/>
  </p:sldMasterIdLst>
  <p:notesMasterIdLst>
    <p:notesMasterId xmlns:r="http://schemas.openxmlformats.org/officeDocument/2006/relationships" r:id="R62331f5d41c146ac"/>
  </p:notesMasterIdLst>
  <p:sldIdLst>
    <p:sldId xmlns:r="http://schemas.openxmlformats.org/officeDocument/2006/relationships" id="256" r:id="R2a98d75fbd184a2f"/>
    <p:sldId xmlns:r="http://schemas.openxmlformats.org/officeDocument/2006/relationships" id="257" r:id="Ra52276e0be264374"/>
    <p:sldId xmlns:r="http://schemas.openxmlformats.org/officeDocument/2006/relationships" id="258" r:id="R1e068268f6ee4d33"/>
    <p:sldId xmlns:r="http://schemas.openxmlformats.org/officeDocument/2006/relationships" id="259" r:id="R7fb047e1af7a4c5e"/>
    <p:sldId xmlns:r="http://schemas.openxmlformats.org/officeDocument/2006/relationships" id="260" r:id="Rdc60a233dd744f91"/>
    <p:sldId xmlns:r="http://schemas.openxmlformats.org/officeDocument/2006/relationships" id="261" r:id="Rcc85551454ba452c"/>
    <p:sldId xmlns:r="http://schemas.openxmlformats.org/officeDocument/2006/relationships" id="262" r:id="Rc7614790dd2c467f"/>
    <p:sldId xmlns:r="http://schemas.openxmlformats.org/officeDocument/2006/relationships" id="263" r:id="R06ae6ff0240649c8"/>
    <p:sldId xmlns:r="http://schemas.openxmlformats.org/officeDocument/2006/relationships" id="264" r:id="R6a0115684f0e474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d4efa0131c42ae" /><Relationship Type="http://schemas.openxmlformats.org/officeDocument/2006/relationships/slideMaster" Target="/ppt/slideMasters/slideMaster1.xml" Id="Rca08a83ccf4749f3" /><Relationship Type="http://schemas.openxmlformats.org/officeDocument/2006/relationships/notesMaster" Target="/ppt/notesMasters/notesMaster1.xml" Id="R62331f5d41c146ac" /><Relationship Type="http://schemas.openxmlformats.org/officeDocument/2006/relationships/presProps" Target="/ppt/presProps.xml" Id="R79fbfca3f13d4099" /><Relationship Type="http://schemas.openxmlformats.org/officeDocument/2006/relationships/tableStyles" Target="/ppt/tableStyles.xml" Id="R23790e34462441c6" /><Relationship Type="http://schemas.openxmlformats.org/officeDocument/2006/relationships/slide" Target="/ppt/slides/slide1.xml" Id="R2a98d75fbd184a2f" /><Relationship Type="http://schemas.openxmlformats.org/officeDocument/2006/relationships/slide" Target="/ppt/slides/slide2.xml" Id="Ra52276e0be264374" /><Relationship Type="http://schemas.openxmlformats.org/officeDocument/2006/relationships/slide" Target="/ppt/slides/slide3.xml" Id="R1e068268f6ee4d33" /><Relationship Type="http://schemas.openxmlformats.org/officeDocument/2006/relationships/slide" Target="/ppt/slides/slide4.xml" Id="R7fb047e1af7a4c5e" /><Relationship Type="http://schemas.openxmlformats.org/officeDocument/2006/relationships/slide" Target="/ppt/slides/slide5.xml" Id="Rdc60a233dd744f91" /><Relationship Type="http://schemas.openxmlformats.org/officeDocument/2006/relationships/slide" Target="/ppt/slides/slide6.xml" Id="Rcc85551454ba452c" /><Relationship Type="http://schemas.openxmlformats.org/officeDocument/2006/relationships/slide" Target="/ppt/slides/slide7.xml" Id="Rc7614790dd2c467f" /><Relationship Type="http://schemas.openxmlformats.org/officeDocument/2006/relationships/slide" Target="/ppt/slides/slide8.xml" Id="R06ae6ff0240649c8" /><Relationship Type="http://schemas.openxmlformats.org/officeDocument/2006/relationships/slide" Target="/ppt/slides/slide9.xml" Id="R6a0115684f0e47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501955f91e4b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8f3e6a54704053" /><Relationship Type="http://schemas.openxmlformats.org/officeDocument/2006/relationships/notesMaster" Target="/ppt/notesMasters/notesMaster1.xml" Id="R75c7f90d41734d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9cc89a2ae74ad8" /><Relationship Type="http://schemas.openxmlformats.org/officeDocument/2006/relationships/notesMaster" Target="/ppt/notesMasters/notesMaster1.xml" Id="R7cf7731e525642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b97cfbbe9242fc" /><Relationship Type="http://schemas.openxmlformats.org/officeDocument/2006/relationships/notesMaster" Target="/ppt/notesMasters/notesMaster1.xml" Id="R6fee092864494d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eef71488af4cbd" /><Relationship Type="http://schemas.openxmlformats.org/officeDocument/2006/relationships/notesMaster" Target="/ppt/notesMasters/notesMaster1.xml" Id="Ra423fda043b24d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2e4e051b0e403c" /><Relationship Type="http://schemas.openxmlformats.org/officeDocument/2006/relationships/notesMaster" Target="/ppt/notesMasters/notesMaster1.xml" Id="Rc24b3cdadb5e43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14605cf62a4e27" /><Relationship Type="http://schemas.openxmlformats.org/officeDocument/2006/relationships/notesMaster" Target="/ppt/notesMasters/notesMaster1.xml" Id="R580d3482c9e847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f814ed072d452b" /><Relationship Type="http://schemas.openxmlformats.org/officeDocument/2006/relationships/notesMaster" Target="/ppt/notesMasters/notesMaster1.xml" Id="R442fc0af3e124d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2192d91d1b48e9" /><Relationship Type="http://schemas.openxmlformats.org/officeDocument/2006/relationships/notesMaster" Target="/ppt/notesMasters/notesMaster1.xml" Id="R19882dd5332b41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a05915f2bc458b" /><Relationship Type="http://schemas.openxmlformats.org/officeDocument/2006/relationships/notesMaster" Target="/ppt/notesMasters/notesMaster1.xml" Id="R05e9e9689fe941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41020c2fad46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978eed28cf45d9" /><Relationship Type="http://schemas.openxmlformats.org/officeDocument/2006/relationships/slideLayout" Target="/ppt/slideLayouts/slideLayout1.xml" Id="R08e151bbc53a42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e151bbc53a42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eb9650edf48fe" /><Relationship Type="http://schemas.openxmlformats.org/officeDocument/2006/relationships/notesSlide" Target="/ppt/notesSlides/notesSlide1.xml" Id="R35b0f2882e744a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539e885184cd2" /><Relationship Type="http://schemas.openxmlformats.org/officeDocument/2006/relationships/notesSlide" Target="/ppt/notesSlides/notesSlide2.xml" Id="Rfd5c0a3257bb48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85c4af6ef4112" /><Relationship Type="http://schemas.openxmlformats.org/officeDocument/2006/relationships/notesSlide" Target="/ppt/notesSlides/notesSlide3.xml" Id="R46904ad46d7744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cc1e24903420b" /><Relationship Type="http://schemas.openxmlformats.org/officeDocument/2006/relationships/notesSlide" Target="/ppt/notesSlides/notesSlide4.xml" Id="Rf6a79030ce9b41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fa956386b4612" /><Relationship Type="http://schemas.openxmlformats.org/officeDocument/2006/relationships/notesSlide" Target="/ppt/notesSlides/notesSlide5.xml" Id="R61294b27a3314d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8aec0389a49ce" /><Relationship Type="http://schemas.openxmlformats.org/officeDocument/2006/relationships/notesSlide" Target="/ppt/notesSlides/notesSlide6.xml" Id="Rac4a99edc00444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56c50d8b347f6" /><Relationship Type="http://schemas.openxmlformats.org/officeDocument/2006/relationships/notesSlide" Target="/ppt/notesSlides/notesSlide7.xml" Id="R50e506cf66f84a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dec7c4d48412a" /><Relationship Type="http://schemas.openxmlformats.org/officeDocument/2006/relationships/notesSlide" Target="/ppt/notesSlides/notesSlide8.xml" Id="R0cd813b7ff544d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f65d1826747fe" /><Relationship Type="http://schemas.openxmlformats.org/officeDocument/2006/relationships/notesSlide" Target="/ppt/notesSlides/notesSlide9.xml" Id="R5bc104391fdb49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ACC6C8-FC0D-458B-92C3-472017CA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GEN5.3 PLANNING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579332-4178-4F0D-8EED-9D17FFD0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Bullish Momentum Specialist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5E8B0-34C7-4E9A-AD99-A89D440B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B6472"/>
                </a:solidFill>
              </a:defRPr>
            </a:pPr>
            <a:r>
              <a:rPr sz="1800" b="0">
                <a:solidFill>
                  <a:srgbClr val="5B6472"/>
                </a:solidFill>
              </a:rPr>
              <a:t>Narrow the PCA engine before expanding it: first test whether a high-beta bullish participation specialist can beat the simple act of holding strong assets.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6ADAA-6B90-4C42-A9D3-93AAA6A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9906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7D5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60087-AF58-4F08-BF09-E77CC83F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339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Core shift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551BC-743D-4BA3-81E8-C072F31E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76750"/>
            <a:ext cx="771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Use PCA less as a universal market-regime oracle and more as a participation filter around a narrow momentum hypothesis set.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BAD15-A19A-4F86-9CBD-F3CBFE8A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704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B6472"/>
                </a:solidFill>
              </a:defRPr>
            </a:pPr>
            <a:r>
              <a:rPr sz="1125" b="0">
                <a:solidFill>
                  <a:srgbClr val="5B6472"/>
                </a:solidFill>
              </a:rPr>
              <a:t>Research only. Not allocation evidence or live-execution approval.</a:t>
            </a:r>
          </a:p>
        </p:txBody>
      </p:sp>
    </p:spTree>
    <p:extLst>
      <p:ext uri="{BB962C8B-B14F-4D97-AF65-F5344CB8AC3E}">
        <p14:creationId xmlns:p14="http://schemas.microsoft.com/office/powerpoint/2010/main" val="9878759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A73E12-C761-4208-8A64-AFB697F1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E3F0A1-6F84-42B9-A6CF-1249E599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broad engine is asking one PCA layer to solve too many market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0565A-88BA-4767-8267-57A4AE3D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B146B-6FCE-47F1-96B3-38522498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4857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2C48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252CB-FB18-4175-84C1-A9683963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Current broad ambition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F182E-AF1B-45C7-A324-C8AB937D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47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30F4C-F8B7-4B6A-BBDD-F5F9B685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62250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Dynamic bull markets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EB970E-B6BF-4448-AD95-7D21898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74B6A-1FF1-48DF-BB21-1129EF00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57525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Quiet bull markets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6EFD-6BF0-441E-9C43-79C93FF4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9C328-02F2-4068-813F-E2454BB1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52800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Sideways mean reversion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31394-429A-48B4-94E5-9E5C7492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00C4C-A4C3-419A-AD1C-DCF8FAA9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48075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Turbulent ranges and breakouts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7E221-9BC4-4A08-BE2D-36F55694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F31EC-49B2-496E-A01E-5EF68B6F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Rallies inside downtrends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4710D-F146-43B8-A44D-32FAE950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6291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47732A-42D8-43F2-8166-3924962F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9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Observed bottleneck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7F3E51-2558-41D7-8D9F-E2D66D0A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A3CB1-D27F-4459-923F-193520DF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8130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Positive tactical trades can still lag basket 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EA1BED-1298-4DCE-83D5-4C26FB70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47369E-6DBE-4C77-A56C-589211A9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76575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Upside windows expose underparticipation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AB5E69-6CD1-460F-9784-537E95EE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57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7F47ED-9371-403B-92E3-6A96C2F2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7185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Large strategy grids make interpretation noisy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2ED345-C7DB-44A1-811E-9AB7CEF0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A6E6C7-C9C1-49B4-9DF4-9862DB92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67125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Feature quality is hard to judge through one universal score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0CC7C2-CF07-46B6-BB19-46B21AA1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816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The next useful question is not whether PCA can trade everything. It is whether PCA can help us participate better when the target opportunity is already defined.</a:t>
            </a:r>
          </a:p>
        </p:txBody>
      </p:sp>
    </p:spTree>
    <p:extLst>
      <p:ext uri="{BB962C8B-B14F-4D97-AF65-F5344CB8AC3E}">
        <p14:creationId xmlns:p14="http://schemas.microsoft.com/office/powerpoint/2010/main" val="887187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3F643C-1317-424E-872C-92982363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67FA3-510C-444C-99CF-595354A9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specialist narrows the mandate to bullish high-beta 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044CC-4330-42B5-B670-F0330F52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BC9219-EC69-42D1-8EE5-D8F73B77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E0F2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EB0ED-A6FE-4983-9F26-52166E59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1465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Curate bullish high-beta assets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68A71-8274-4A0A-A3B4-728366C9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86100"/>
            <a:ext cx="666750" cy="2667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EBA2D-BAFE-4D5A-90D7-FFE9DC51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813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0213C-275C-414B-94B9-C54230F3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7A55"/>
                </a:solidFill>
              </a:defRPr>
            </a:pPr>
            <a:r>
              <a:rPr sz="1350" b="1">
                <a:solidFill>
                  <a:srgbClr val="177A55"/>
                </a:solidFill>
              </a:rPr>
              <a:t>Build PCA participation states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5C528-552F-4948-B8A1-FA568573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666750" cy="2667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5C78D-FEB9-4A3E-892D-C2337C0A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813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3E8FF"/>
          </a:solidFill>
          <a:ln xmlns:a="http://schemas.openxmlformats.org/drawingml/2006/main" w="9525">
            <a:solidFill>
              <a:srgbClr val="F3E8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3008E-DC38-42B8-8A7E-BACAF37F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1465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Route momentum-only hypotheses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A7B76-0F06-41BC-9E52-148F03EF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86100"/>
            <a:ext cx="666750" cy="2667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0CBA53-68BF-47D0-B2BF-A0241C71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781300"/>
            <a:ext cx="1238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2194B-E1DF-46B0-B830-80CFC81D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14650"/>
            <a:ext cx="933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Audit against basket hold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6B960D-CD88-4ECC-93B5-7514FD5E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10477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CBD3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6F740-333A-4E80-B8E4-0E894F72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10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specialization is intentional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39E00-EFF1-471A-AD29-CC644F84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72000"/>
            <a:ext cx="5962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The engine can stay out of non-bullish conditions because an earlier selection layer has already chosen assets where upside participation is the point.</a:t>
            </a:r>
          </a:p>
        </p:txBody>
      </p:sp>
    </p:spTree>
    <p:extLst>
      <p:ext uri="{BB962C8B-B14F-4D97-AF65-F5344CB8AC3E}">
        <p14:creationId xmlns:p14="http://schemas.microsoft.com/office/powerpoint/2010/main" val="19912085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4EA7C2-683A-4106-A8A9-C85901CF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C2EE0F-8DAC-4049-B3B3-2311D394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same PCA machinery gets a different job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84582-EBC1-4F39-A984-500DA343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7D129-BB05-422C-9A44-15B87DC1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97205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A4A70-5F03-4F1A-B21A-8BE9AEB1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57400"/>
            <a:ext cx="497205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62C55-69E8-4500-9A45-96F3CC59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Universal router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CDD46C-6EBE-404C-8178-C887CE63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43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Momentum specialist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96731-294E-4627-B4CE-751D50A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1DFBB-5A62-4136-97CB-CAC31EE0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0990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Each state may imply trend, mean reversion, breakout, risk-off, or noise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73292-7EFB-4686-85AC-F06A283D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90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1979B-3A4C-40AE-AF83-D7D560F8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0517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Many strategy families compete downstream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6CA24-85B9-42B7-A0BD-E7A62E1F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429EF-79F6-4D45-875A-9CFF672D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0045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 state can be useful even when simple forward return looks poor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5C85E-EF50-49E7-B2A1-2FC00482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41F8C-E27C-4CDC-9768-AF9C8593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9572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Interpretation comes late and can be messy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0DF7F-A80F-46FE-96FB-2BDF85DF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82F0B-10A9-4454-AE89-04A0FA91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Each state asks whether bullish participation is favorable, stalled, extended, or risky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E82B3C-63CB-433D-BB93-BC1FBAD2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90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92C15-A4BA-436C-91B9-C8760A0C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0517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Only momentum-compatible families compete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07892-C845-43B2-88E7-B482169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5519C-B13E-4FDB-9670-A8F529D5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0045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Forward path metrics become more directly relevant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F2ADE9-9822-4C8B-8CB2-0C6C7F15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EB6B80-9100-434B-954B-C20EE88F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9572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Interpretation is narrower and easier to falsify</a:t>
            </a:r>
          </a:p>
        </p:txBody>
      </p:sp>
    </p:spTree>
    <p:extLst>
      <p:ext uri="{BB962C8B-B14F-4D97-AF65-F5344CB8AC3E}">
        <p14:creationId xmlns:p14="http://schemas.microsoft.com/office/powerpoint/2010/main" val="16521705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0F26AD-CC0E-4F56-84B5-C3AEC6F3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DD8F47-1FF8-45EC-A36C-60784049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This resembles how a real momentum trader narrows 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E1A05-53B2-4204-ABCA-AE68182D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D5D2B-C39D-4EF5-AB92-B0E47769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F220B-A0F7-44D5-9162-97FDE09C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193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184D0-6288-4DEF-996E-E6B4F211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85068-F631-4A45-8842-BBD99DB9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Screen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1B10E-940F-4982-8297-27453084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33700"/>
            <a:ext cx="238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Trade a list of liquid, strong, volatile assets rather than the whole market.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B844F-F86E-43BF-8DAD-FCE69364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43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7A55"/>
                </a:solidFill>
              </a:defRPr>
            </a:pPr>
            <a:r>
              <a:rPr sz="1875" b="1">
                <a:solidFill>
                  <a:srgbClr val="177A55"/>
                </a:solidFill>
              </a:rPr>
              <a:t>Filter exposure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96E07-6F5C-4E75-9C87-6EA14A7C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33700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Use trend, breadth, volatility, and risk context to decide when participation is still healthy.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872D7D-8D9E-47EA-AFA2-2A30AF86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431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97706"/>
                </a:solidFill>
              </a:defRPr>
            </a:pPr>
            <a:r>
              <a:rPr sz="1875" b="1">
                <a:solidFill>
                  <a:srgbClr val="D97706"/>
                </a:solidFill>
              </a:rPr>
              <a:t>Benchmark honestly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BE6663-1CD9-4250-9C90-77FC3D30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38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A bullish specialist must compete with simply holding the bullish basket.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64C52-5664-4E35-9120-193A1488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676900"/>
            <a:ext cx="937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The narrowing does not make the system less serious. It makes the hypothesis test cleaner.</a:t>
            </a:r>
          </a:p>
        </p:txBody>
      </p:sp>
    </p:spTree>
    <p:extLst>
      <p:ext uri="{BB962C8B-B14F-4D97-AF65-F5344CB8AC3E}">
        <p14:creationId xmlns:p14="http://schemas.microsoft.com/office/powerpoint/2010/main" val="11364340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D0E76B-962D-494C-9F04-9AFDB4EA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069F2-9B07-4ABE-9A71-26B871EE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Feature sets should be audited through participation, not only point-to-point return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E3635-78B7-49AE-928E-46C7E15D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00960-8AEE-4848-A777-24BE5B0D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71B70-02CF-469B-8E95-9C1CDDEB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State mechanics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083DB-99B4-4123-A1FC-8B070726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A97D9-EEBE-4F0B-8D18-D22F8121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95F8D8-5954-427A-AE71-4D8EDF15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ECBF7-B8CF-4E58-9F6E-974C6C0D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Persistence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8F50E-660B-44E6-B860-76866254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F804CC-C438-4E79-A4C7-CABE4D58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Fold stability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EC131-BFAA-407C-9CB3-4D03D800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B8DB7E-594A-4BAF-977E-A0B095FB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State transitions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713AA-A00B-41FF-B230-FD631A34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D6A035-EE9B-4F44-8E54-327BBE4B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9F8F"/>
                </a:solidFill>
              </a:defRPr>
            </a:pPr>
            <a:r>
              <a:rPr sz="1050" b="1">
                <a:solidFill>
                  <a:srgbClr val="0F9F8F"/>
                </a:solidFill>
              </a:rPr>
              <a:t>Forward path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E8485E-7A6B-466C-8BF2-1F985850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5DFC83-9D25-453F-9EBB-D8FB2302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2BE5BA-79C0-4E36-BD60-9616ECF4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CCE8EA-CE35-42A0-9C6D-0115CDBC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Volatility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1474C3-049C-4BA7-AF0F-E9D717D1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2A0478-B6DF-42F7-B747-A5CF7EE5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Favorable excursion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B618A-8CF4-4D90-AA80-0E1A8A64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DA6E1C-6486-4E1A-84F4-C885BD4B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Adverse excursion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ED9FB2-28EC-4120-85BB-E03CAF67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B08E7-5C27-4936-8D6A-669BFCEB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7C3AED"/>
                </a:solidFill>
              </a:defRPr>
            </a:pPr>
            <a:r>
              <a:rPr sz="1050" b="1">
                <a:solidFill>
                  <a:srgbClr val="7C3AED"/>
                </a:solidFill>
              </a:rPr>
              <a:t>Momentum fit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2436E6-F374-4C65-8EEF-EEB455AE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D74C28-DAF9-4B92-9A65-65E91B3E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Family by state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E31E10-E21A-4829-AF07-DD1E7ADF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3B1313-7112-44C8-AA3F-EAB7FCF8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Spec stability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2D323E-01B7-44FC-B354-C1A58E2F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2FA2E4-C756-41F3-873D-00FFD1C3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Trend exposure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4C7076-6529-4FCE-A758-0BBADEB5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A103EA-58BE-4369-B397-3274EBF3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No-trade discipline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A90780-FDE2-4D73-A917-A30BBFC9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9E0B81-EACC-44F0-8E07-7BF023B6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Portfolio replay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250177-7DC4-43BD-BF38-25398977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809749-0370-4795-8018-CCEC7502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Live capital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05986E-652A-49A9-9968-197E1B2F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58CC91-AF4B-4809-A0F6-37C12ECA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Basket alpha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29C235-4EC7-4A2A-9142-8F2653DB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A26C57-CA36-4ADF-82D7-67EE2BAA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Time in market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93B418-BEC6-4A1D-8D53-8CAF1E3D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CA1FEB-FD69-47AA-AD53-EDCBBB57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Trade tapes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C40F52-31DA-42F0-B536-3A44136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53100"/>
            <a:ext cx="979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final judge remains strategy-conditioned replay, but cheaper diagnostics should explain why a feature set did or did not help.</a:t>
            </a:r>
          </a:p>
        </p:txBody>
      </p:sp>
    </p:spTree>
    <p:extLst>
      <p:ext uri="{BB962C8B-B14F-4D97-AF65-F5344CB8AC3E}">
        <p14:creationId xmlns:p14="http://schemas.microsoft.com/office/powerpoint/2010/main" val="8334820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CD4D1D-03AA-4663-9DF8-B0B8AE09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485CA-7DB3-426D-8283-007E7221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first run should be small enough to fail clearly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76897-E523-4973-A38F-3E9D99FC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68611-D2B3-4C77-964A-DD0E03B0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4762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0FE27-90C1-4CE9-AC34-D3DE6107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762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4FC0F-8C7E-4630-B0E3-C87E6A5B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Recommended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6F69A-313C-44DC-9569-C6D40BE3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81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52A69-6D5B-4F0A-AABC-B4C60FD4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956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Basket: AMD, NVDA, TSLA, AAPL, MSTR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F7325-0E5A-43CA-9450-CB36ED1A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05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990B8-D136-4286-BB4A-C8B3B817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194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PCA: behavioral pool, 3x3 quantile states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779E9-162A-44BD-BC5D-53933CD9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29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DFE46E-3E6F-468D-A12C-CDD19A06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Context: active-plus-risk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0537C-49C3-45B1-BD38-B07AB2C5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52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141405-8B1A-4B3F-8F16-63B33370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671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Families: implemented momentum candidates plus no-trade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75E77-EB16-41A1-93E3-507F3F3C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76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4F0CEC-24EA-44EA-A206-A7BF8B8E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Accounting: true live-capital replay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4F030-52BE-4B6C-8D65-2F375618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479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Success diagnostics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7480D5-D6AD-465D-8F5C-3A8A5654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81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172C9C-A02A-440D-A2A6-E27D533A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956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Benchmark-relative alpha versus equal-weight 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EFE5C-3485-4EE7-B8F0-FB95176E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05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E8D8D-A05F-4CCF-94B3-2D7DD9FA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194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Upside capture during bullish windows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6B446E-571E-435A-9E82-0823B69C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29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D70CF1-0703-49A1-BDC6-A75E7EC0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433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Downside avoidance during stalls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797125-7ABE-4BF3-B0BC-A69BCE9F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52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70231A-EC74-4AAE-B92C-2CE84FC6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671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State and family heatmaps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2B13AF-B30E-4BFC-A498-3E3ECC74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76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91BCAE-0D6A-4384-8F42-86C83D14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910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Representative trade tapes</a:t>
            </a:r>
          </a:p>
        </p:txBody>
      </p:sp>
    </p:spTree>
    <p:extLst>
      <p:ext uri="{BB962C8B-B14F-4D97-AF65-F5344CB8AC3E}">
        <p14:creationId xmlns:p14="http://schemas.microsoft.com/office/powerpoint/2010/main" val="6358409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53863B-00FD-4F33-B1C0-988F87EE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217F2-478D-4904-82AD-5C5368A6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narrow specialist has clear weaknesses that should stay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CA937-6FD6-480A-BB4E-499B2C9C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F3392-ABC1-407D-A6C4-BD7202A1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5010150" cy="3181350"/>
          </a:xfrm>
          <a:prstGeom xmlns:a="http://schemas.openxmlformats.org/drawingml/2006/main" prst="roundRect">
            <a:avLst>
              <a:gd name="adj" fmla="val 2395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DA4A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F4D32-1F9D-46B5-A5F1-1279D78A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D1495B"/>
                </a:solidFill>
              </a:defRPr>
            </a:pPr>
            <a:r>
              <a:rPr sz="2025" b="1">
                <a:solidFill>
                  <a:srgbClr val="D1495B"/>
                </a:solidFill>
              </a:rPr>
              <a:t>Main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51248-F07A-4856-8FEA-182D31A9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00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21B55-3E41-411D-9E13-CEA97237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14650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Overfits to high-beta bull windows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04774-A442-497C-AAE4-BAE21C9A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5AB6C-2B5F-49CD-BCED-8CAAEAE1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28975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Exits too often and lags 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7B7907-912A-479E-A1B1-54D130F8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29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8F3D9-1AAD-4FD1-BF9D-932BCA0C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Selects assets after momentum is exhausted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102BB-15F6-47AD-A1C4-B2DA90FD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6E059-8F9C-4948-AF2F-B7DA4FA6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57625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Fails in slow or range-bound markets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C9554C-EACD-4BBD-9FD4-52778684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17A06C-7148-448B-B593-8E042909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Concentrates risk in a few themes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0BDC0-8CFF-4800-B280-80E5A5E9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38350"/>
            <a:ext cx="5010150" cy="3181350"/>
          </a:xfrm>
          <a:prstGeom xmlns:a="http://schemas.openxmlformats.org/drawingml/2006/main" prst="roundRect">
            <a:avLst>
              <a:gd name="adj" fmla="val 239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C535B-525C-4880-AFC5-99E9C96D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563EB"/>
                </a:solidFill>
              </a:defRPr>
            </a:pPr>
            <a:r>
              <a:rPr sz="2025" b="1">
                <a:solidFill>
                  <a:srgbClr val="2563EB"/>
                </a:solidFill>
              </a:rPr>
              <a:t>Guardrails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D829F-74C3-432C-9768-525829A6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00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D9D4C1-6643-4933-BA8F-2A867378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Keep benchmark hold as the primary comparator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CF8C7C-4DEC-4718-82AA-5F82390D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753F43-E765-4290-BD66-5D32CC8D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766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Separate curation, PCA states, and replay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4A7E84-BCB3-4620-AA8F-D98C59A9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24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C7103-2291-4337-ABBE-E56F4DA8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3855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Do not add SMA or mean reversion yet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66F099-6C2B-4D73-B7EF-08E687B4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86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BAD1CA-0169-46EF-AAD3-2EBED673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005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Report failures as useful falsification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505205-A510-4D2C-B2BC-1895B71E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F7665B-A9DE-49B9-9756-977C86EC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Keep live bridge walled off</a:t>
            </a:r>
          </a:p>
        </p:txBody>
      </p:sp>
    </p:spTree>
    <p:extLst>
      <p:ext uri="{BB962C8B-B14F-4D97-AF65-F5344CB8AC3E}">
        <p14:creationId xmlns:p14="http://schemas.microsoft.com/office/powerpoint/2010/main" val="3757660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1F1DC0-5166-476F-8AA2-2D8FCBE7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52E64-4C54-41B8-9DDB-B625284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next decision is a research gate, not a performance 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F6855-7EF6-48F9-95A3-9BEDBAD0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AC494-DE83-408A-99CB-63AD861C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03822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F5479-AC19-4E67-9A61-B518C679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241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Default next slice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C33AF2-A81A-4496-87A0-82701BB6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0505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Run the small momentum-specialist baseline and compare it to equal-weight basket hold with participation and trade-tape diagnostics.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A1A93-8811-4D9D-8EE3-5DF92BB3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10382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85633-7C48-44D9-B383-91EAE084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STOP decisions before implementation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3C56B-3832-46A8-B22F-C5791487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05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CEF72C-CF0F-47EC-A37B-E3BE5F7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19600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Confirm Gen5.3 naming for this research lane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6BEC5-DD0E-4949-A702-921F84F9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BA426-5726-46E5-8C4C-CA41B70E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14875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Exclude mean-reversion families from the first specialist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AF9CD-9A16-4158-86CA-12894FA5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95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93D43A-6947-4061-8ECA-19A99AC9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10150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Defer SMA until EMA and breakout-only evidence exists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B3BF0-EA8C-49F7-80A4-EB6AFB42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91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C67C4E-3707-417B-9F6A-801A7862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05425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Use hand-picked basket first, then add TRAIN-only curation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FED356-48FB-4F2D-B6A7-74ABAED8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62650"/>
            <a:ext cx="967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If the specialist cannot improve participation in its own chosen domain, the broader universal router should not be trusted to solve it by accident.</a:t>
            </a:r>
          </a:p>
        </p:txBody>
      </p:sp>
    </p:spTree>
    <p:extLst>
      <p:ext uri="{BB962C8B-B14F-4D97-AF65-F5344CB8AC3E}">
        <p14:creationId xmlns:p14="http://schemas.microsoft.com/office/powerpoint/2010/main" val="20290244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2026-07-10T21:40:57.4400000Z</dcterms:created>
  <dcterms:modified xsi:type="dcterms:W3CDTF">2026-07-10T21:40:57.4400000Z</dcterms:modified>
</coreProperties>
</file>