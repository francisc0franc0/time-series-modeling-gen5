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d07b9af4624de6" /><Relationship Type="http://schemas.openxmlformats.org/officeDocument/2006/relationships/extended-properties" Target="/docProps/app.xml" Id="R686449bd4bc74a74" /><Relationship Type="http://schemas.openxmlformats.org/officeDocument/2006/relationships/officeDocument" Target="/ppt/presentation.xml" Id="R629afe1e37c044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45211ec0ff4887"/>
  </p:sldMasterIdLst>
  <p:notesMasterIdLst>
    <p:notesMasterId xmlns:r="http://schemas.openxmlformats.org/officeDocument/2006/relationships" r:id="Reef466d9dcfa4e89"/>
  </p:notesMasterIdLst>
  <p:sldIdLst>
    <p:sldId xmlns:r="http://schemas.openxmlformats.org/officeDocument/2006/relationships" id="256" r:id="Rb3c30fb8852c4220"/>
    <p:sldId xmlns:r="http://schemas.openxmlformats.org/officeDocument/2006/relationships" id="257" r:id="Rc706546d613c48a2"/>
    <p:sldId xmlns:r="http://schemas.openxmlformats.org/officeDocument/2006/relationships" id="258" r:id="R74eb1b3da3984f7a"/>
    <p:sldId xmlns:r="http://schemas.openxmlformats.org/officeDocument/2006/relationships" id="259" r:id="R05e1e9f00d1940c2"/>
    <p:sldId xmlns:r="http://schemas.openxmlformats.org/officeDocument/2006/relationships" id="260" r:id="R2b29d76b352e42b3"/>
    <p:sldId xmlns:r="http://schemas.openxmlformats.org/officeDocument/2006/relationships" id="261" r:id="Rbc4a5ad60a984fb0"/>
    <p:sldId xmlns:r="http://schemas.openxmlformats.org/officeDocument/2006/relationships" id="262" r:id="Rd74302f855894819"/>
    <p:sldId xmlns:r="http://schemas.openxmlformats.org/officeDocument/2006/relationships" id="263" r:id="R61570a3bb4194786"/>
    <p:sldId xmlns:r="http://schemas.openxmlformats.org/officeDocument/2006/relationships" id="264" r:id="Rd48d3ce50e4f4b52"/>
    <p:sldId xmlns:r="http://schemas.openxmlformats.org/officeDocument/2006/relationships" id="265" r:id="R0d3e502721fb46f5"/>
    <p:sldId xmlns:r="http://schemas.openxmlformats.org/officeDocument/2006/relationships" id="266" r:id="R5bfe041ab62f409b"/>
    <p:sldId xmlns:r="http://schemas.openxmlformats.org/officeDocument/2006/relationships" id="267" r:id="R2b782f655cc94610"/>
    <p:sldId xmlns:r="http://schemas.openxmlformats.org/officeDocument/2006/relationships" id="268" r:id="Rd4617074c7834014"/>
    <p:sldId xmlns:r="http://schemas.openxmlformats.org/officeDocument/2006/relationships" id="269" r:id="R60b5437a28c24c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965c8aa6874db0" /><Relationship Type="http://schemas.openxmlformats.org/officeDocument/2006/relationships/slideMaster" Target="/ppt/slideMasters/slideMaster1.xml" Id="Raa45211ec0ff4887" /><Relationship Type="http://schemas.openxmlformats.org/officeDocument/2006/relationships/notesMaster" Target="/ppt/notesMasters/notesMaster1.xml" Id="Reef466d9dcfa4e89" /><Relationship Type="http://schemas.openxmlformats.org/officeDocument/2006/relationships/presProps" Target="/ppt/presProps.xml" Id="Rdeeede6e4ae042c6" /><Relationship Type="http://schemas.openxmlformats.org/officeDocument/2006/relationships/tableStyles" Target="/ppt/tableStyles.xml" Id="R79b4a0ec1555483e" /><Relationship Type="http://schemas.openxmlformats.org/officeDocument/2006/relationships/slide" Target="/ppt/slides/slide1.xml" Id="Rb3c30fb8852c4220" /><Relationship Type="http://schemas.openxmlformats.org/officeDocument/2006/relationships/slide" Target="/ppt/slides/slide2.xml" Id="Rc706546d613c48a2" /><Relationship Type="http://schemas.openxmlformats.org/officeDocument/2006/relationships/slide" Target="/ppt/slides/slide3.xml" Id="R74eb1b3da3984f7a" /><Relationship Type="http://schemas.openxmlformats.org/officeDocument/2006/relationships/slide" Target="/ppt/slides/slide4.xml" Id="R05e1e9f00d1940c2" /><Relationship Type="http://schemas.openxmlformats.org/officeDocument/2006/relationships/slide" Target="/ppt/slides/slide5.xml" Id="R2b29d76b352e42b3" /><Relationship Type="http://schemas.openxmlformats.org/officeDocument/2006/relationships/slide" Target="/ppt/slides/slide6.xml" Id="Rbc4a5ad60a984fb0" /><Relationship Type="http://schemas.openxmlformats.org/officeDocument/2006/relationships/slide" Target="/ppt/slides/slide7.xml" Id="Rd74302f855894819" /><Relationship Type="http://schemas.openxmlformats.org/officeDocument/2006/relationships/slide" Target="/ppt/slides/slide8.xml" Id="R61570a3bb4194786" /><Relationship Type="http://schemas.openxmlformats.org/officeDocument/2006/relationships/slide" Target="/ppt/slides/slide9.xml" Id="Rd48d3ce50e4f4b52" /><Relationship Type="http://schemas.openxmlformats.org/officeDocument/2006/relationships/slide" Target="/ppt/slides/slide10.xml" Id="R0d3e502721fb46f5" /><Relationship Type="http://schemas.openxmlformats.org/officeDocument/2006/relationships/slide" Target="/ppt/slides/slide11.xml" Id="R5bfe041ab62f409b" /><Relationship Type="http://schemas.openxmlformats.org/officeDocument/2006/relationships/slide" Target="/ppt/slides/slide12.xml" Id="R2b782f655cc94610" /><Relationship Type="http://schemas.openxmlformats.org/officeDocument/2006/relationships/slide" Target="/ppt/slides/slide13.xml" Id="Rd4617074c7834014" /><Relationship Type="http://schemas.openxmlformats.org/officeDocument/2006/relationships/slide" Target="/ppt/slides/slide14.xml" Id="R60b5437a28c24c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e80ea9a88143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482506601146aa" /><Relationship Type="http://schemas.openxmlformats.org/officeDocument/2006/relationships/notesMaster" Target="/ppt/notesMasters/notesMaster1.xml" Id="R59d6ea63573447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9431abf9924889" /><Relationship Type="http://schemas.openxmlformats.org/officeDocument/2006/relationships/notesMaster" Target="/ppt/notesMasters/notesMaster1.xml" Id="R575d4b5339bb4e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d18b73235c407f" /><Relationship Type="http://schemas.openxmlformats.org/officeDocument/2006/relationships/notesMaster" Target="/ppt/notesMasters/notesMaster1.xml" Id="R3dbcbc3f92b04d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c20b92b1464802" /><Relationship Type="http://schemas.openxmlformats.org/officeDocument/2006/relationships/notesMaster" Target="/ppt/notesMasters/notesMaster1.xml" Id="Rb34711cf58ee49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5064f8715e463a" /><Relationship Type="http://schemas.openxmlformats.org/officeDocument/2006/relationships/notesMaster" Target="/ppt/notesMasters/notesMaster1.xml" Id="R34098231976546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bc698332ec4845" /><Relationship Type="http://schemas.openxmlformats.org/officeDocument/2006/relationships/notesMaster" Target="/ppt/notesMasters/notesMaster1.xml" Id="Rfaebc5a17f254d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d7f7a1f4224375" /><Relationship Type="http://schemas.openxmlformats.org/officeDocument/2006/relationships/notesMaster" Target="/ppt/notesMasters/notesMaster1.xml" Id="R47ce321b87414c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e7bae47af14f76" /><Relationship Type="http://schemas.openxmlformats.org/officeDocument/2006/relationships/notesMaster" Target="/ppt/notesMasters/notesMaster1.xml" Id="R188e1c5bcfe341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efc6b3cc054127" /><Relationship Type="http://schemas.openxmlformats.org/officeDocument/2006/relationships/notesMaster" Target="/ppt/notesMasters/notesMaster1.xml" Id="Re32115d9b5c84d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c6af3cb55e4ec5" /><Relationship Type="http://schemas.openxmlformats.org/officeDocument/2006/relationships/notesMaster" Target="/ppt/notesMasters/notesMaster1.xml" Id="Rc0d20e107fcc42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3b15e84e1541b2" /><Relationship Type="http://schemas.openxmlformats.org/officeDocument/2006/relationships/notesMaster" Target="/ppt/notesMasters/notesMaster1.xml" Id="Rba466d51e5d949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0f04f614734526" /><Relationship Type="http://schemas.openxmlformats.org/officeDocument/2006/relationships/notesMaster" Target="/ppt/notesMasters/notesMaster1.xml" Id="Rad608233a67843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eef2c2b16a47f6" /><Relationship Type="http://schemas.openxmlformats.org/officeDocument/2006/relationships/notesMaster" Target="/ppt/notesMasters/notesMaster1.xml" Id="R108fd262a77d40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e00dc07736444a0" /><Relationship Type="http://schemas.openxmlformats.org/officeDocument/2006/relationships/notesMaster" Target="/ppt/notesMasters/notesMaster1.xml" Id="R21e73c58758341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96b8622204c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16e04277474bf1" /><Relationship Type="http://schemas.openxmlformats.org/officeDocument/2006/relationships/slideLayout" Target="/ppt/slideLayouts/slideLayout1.xml" Id="R667a5a04854547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7a5a04854547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21874c9f947c5" /><Relationship Type="http://schemas.openxmlformats.org/officeDocument/2006/relationships/notesSlide" Target="/ppt/notesSlides/notesSlide1.xml" Id="R1ea8765f54e745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d5415daca4e98" /><Relationship Type="http://schemas.openxmlformats.org/officeDocument/2006/relationships/notesSlide" Target="/ppt/notesSlides/notesSlide2.xml" Id="Re4cef211eac241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a7dd59eb44dd0" /><Relationship Type="http://schemas.openxmlformats.org/officeDocument/2006/relationships/notesSlide" Target="/ppt/notesSlides/notesSlide3.xml" Id="R12ebd98c78d143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9a561575664699" /><Relationship Type="http://schemas.openxmlformats.org/officeDocument/2006/relationships/notesSlide" Target="/ppt/notesSlides/notesSlide4.xml" Id="R2c6f0b7c1c7a43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f41b6e5e4494b" /><Relationship Type="http://schemas.openxmlformats.org/officeDocument/2006/relationships/notesSlide" Target="/ppt/notesSlides/notesSlide5.xml" Id="Rba3c64539f3b4d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5180f0c3c46f1" /><Relationship Type="http://schemas.openxmlformats.org/officeDocument/2006/relationships/notesSlide" Target="/ppt/notesSlides/notesSlide6.xml" Id="R7a4b2201037d47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7466807224590" /><Relationship Type="http://schemas.openxmlformats.org/officeDocument/2006/relationships/notesSlide" Target="/ppt/notesSlides/notesSlide7.xml" Id="R51e69e8de7f341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a4c9aec37c4121" /><Relationship Type="http://schemas.openxmlformats.org/officeDocument/2006/relationships/notesSlide" Target="/ppt/notesSlides/notesSlide8.xml" Id="R80d2873713834e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f9b6f73594fdc" /><Relationship Type="http://schemas.openxmlformats.org/officeDocument/2006/relationships/notesSlide" Target="/ppt/notesSlides/notesSlide9.xml" Id="Rb10de719ea5141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d8ba22449426a" /><Relationship Type="http://schemas.openxmlformats.org/officeDocument/2006/relationships/notesSlide" Target="/ppt/notesSlides/notesSlide10.xml" Id="R805d671f060c40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25d85b5f947ca" /><Relationship Type="http://schemas.openxmlformats.org/officeDocument/2006/relationships/image" Target="/ppt/media/image.png" Id="R00fde917fbcb4c62" /><Relationship Type="http://schemas.openxmlformats.org/officeDocument/2006/relationships/notesSlide" Target="/ppt/notesSlides/notesSlide11.xml" Id="Re1ebcabd0ef640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aeb3eea814fcc" /><Relationship Type="http://schemas.openxmlformats.org/officeDocument/2006/relationships/image" Target="/ppt/media/image2.png" Id="Rc0afda9ebc1b4c29" /><Relationship Type="http://schemas.openxmlformats.org/officeDocument/2006/relationships/image" Target="/ppt/media/image3.png" Id="R4e64226368784307" /><Relationship Type="http://schemas.openxmlformats.org/officeDocument/2006/relationships/notesSlide" Target="/ppt/notesSlides/notesSlide12.xml" Id="R4affaf63c11e43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09cbaf4214886" /><Relationship Type="http://schemas.openxmlformats.org/officeDocument/2006/relationships/image" Target="/ppt/media/image4.png" Id="R1e78d08c35044ac2" /><Relationship Type="http://schemas.openxmlformats.org/officeDocument/2006/relationships/notesSlide" Target="/ppt/notesSlides/notesSlide13.xml" Id="Rd24780f684cd48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975aba4e94817" /><Relationship Type="http://schemas.openxmlformats.org/officeDocument/2006/relationships/notesSlide" Target="/ppt/notesSlides/notesSlide14.xml" Id="R695e41181dc64e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7000B1-E6FC-4252-A977-DC7F313F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GEN5.3 PLANNING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99581-2A1C-4D0C-8672-C9616676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810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Bullish Momentum Specialist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38FDC5-C479-49A3-8117-0EA5AC58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B6472"/>
                </a:solidFill>
              </a:defRPr>
            </a:pPr>
            <a:r>
              <a:rPr sz="1800" b="0">
                <a:solidFill>
                  <a:srgbClr val="5B6472"/>
                </a:solidFill>
              </a:rPr>
              <a:t>Narrow the PCA engine before expanding it: first test whether a high-beta bullish participation specialist can beat the simple act of holding strong assets.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403A8-37E3-4075-B560-E6761779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9906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B7D5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18E2C-609A-485D-8693-32FD01A0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339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Core shift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9A9B9-23AF-4332-AA42-E764F10A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76750"/>
            <a:ext cx="771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Use PCA less as a universal market-regime oracle and more as a participation filter around a narrow momentum hypothesis set.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6C031-6524-428F-822B-BF3AEDA2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704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B6472"/>
                </a:solidFill>
              </a:defRPr>
            </a:pPr>
            <a:r>
              <a:rPr sz="1125" b="0">
                <a:solidFill>
                  <a:srgbClr val="5B6472"/>
                </a:solidFill>
              </a:rPr>
              <a:t>Research only. Not allocation evidence or live-execution approval.</a:t>
            </a:r>
          </a:p>
        </p:txBody>
      </p:sp>
    </p:spTree>
    <p:extLst>
      <p:ext uri="{BB962C8B-B14F-4D97-AF65-F5344CB8AC3E}">
        <p14:creationId xmlns:p14="http://schemas.microsoft.com/office/powerpoint/2010/main" val="3559229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E0DA4E-2A5A-4143-864B-B03F4913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6C719-33F5-4D52-AC8F-C6944F85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broad engine is asking one PCA layer to solve too many market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90007-8DFB-425F-9AD4-6388B895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A1610-68D6-4C50-9EF4-C88C358A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48577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2C48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EA3DCB-A856-4051-A366-AAA135A0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Current broad ambition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D0F24-3378-4D19-B9AE-71931527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47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E09788-8B43-45DA-9447-E84EFA2B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62250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Dynamic bull markets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AC6FB2-956C-4731-9471-12E60065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28120-AF67-4780-A9AF-A7E11FC0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57525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Quiet bull markets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6DA876-E51D-4279-8969-A49082AF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38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59F405-447C-4137-A4F6-40F6FAC9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52800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Sideways mean reversion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0AB8F-742D-4654-967C-B4620E06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33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CD89D2-AD27-416D-A2B3-3A6A7FA8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48075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Turbulent ranges and breakouts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922AE-E2D4-4938-9335-1F5BCAE2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41E48-17B3-4FF5-92B1-761A069F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3790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Rallies inside downtrends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46A760-138C-4EF3-8895-26483272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6291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EAA359-9E00-4943-93DF-E4C38F3A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9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Observed bottleneck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CF6CA0-327E-4846-9924-D5A71EC4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2BE86C-5F0D-48F9-8CFB-EC43AD8D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8130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Positive tactical trades can still lag basket 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0215F-9D9D-4B1E-9A31-02F79C35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6C6AE-7FD6-4FC4-B525-A42CDCB7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76575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Upside windows expose underparticipation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54BC0-B30E-4725-B0B7-DAF51E70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57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54C1C3-853F-4158-A650-89296055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7185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Large strategy grids make interpretation noisy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266711-0298-411C-B716-76852D66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FBF112-BB6F-4504-B029-C11E37F4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67125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Feature quality is hard to judge through one universal score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F493FF-C33C-44B8-B27B-332AD176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816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The next useful question is not whether PCA can trade everything. It is whether PCA can help us participate better when the target opportunity is already defined.</a:t>
            </a:r>
          </a:p>
        </p:txBody>
      </p:sp>
    </p:spTree>
    <p:extLst>
      <p:ext uri="{BB962C8B-B14F-4D97-AF65-F5344CB8AC3E}">
        <p14:creationId xmlns:p14="http://schemas.microsoft.com/office/powerpoint/2010/main" val="16959629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840E08-C67F-4D29-8350-C5800C17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3AFFA-8663-49B0-8D80-D36BFC03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specialist narrows the mandate to bullish high-beta 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854DF-8FDD-4D3D-AFC2-1A3279B4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13309-8E05-416C-9D15-7D5D7A2D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E0F2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8D470-1FE3-4826-973D-C51D593E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1465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Curate bullish high-beta assets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42E8E7-D448-4DB1-BD79-FE89822E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86100"/>
            <a:ext cx="666750" cy="2667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A491D-B115-443C-A18B-3F1BE83A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813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22CF6-CAE4-4F04-A1BD-36318400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1465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7A55"/>
                </a:solidFill>
              </a:defRPr>
            </a:pPr>
            <a:r>
              <a:rPr sz="1350" b="1">
                <a:solidFill>
                  <a:srgbClr val="177A55"/>
                </a:solidFill>
              </a:rPr>
              <a:t>Build PCA participation states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117E9-093C-4F57-B62C-CC8CF211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666750" cy="2667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13534-0B45-4277-A66F-3BE47ADB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813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3E8FF"/>
          </a:solidFill>
          <a:ln xmlns:a="http://schemas.openxmlformats.org/drawingml/2006/main" w="9525">
            <a:solidFill>
              <a:srgbClr val="F3E8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A480E-7668-4B98-A75D-D16A6FF6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14650"/>
            <a:ext cx="1885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Route momentum-only hypotheses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D7D8CB-C828-4DBD-8B87-9165170D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86100"/>
            <a:ext cx="666750" cy="2667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3FBD33-D260-430E-9EF0-B939D200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781300"/>
            <a:ext cx="1238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5389FB-8945-4D51-BD00-F9C56689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14650"/>
            <a:ext cx="933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Audit against basket hold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E107D-F137-4AFA-9318-E221DDA4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10477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CBD3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8DB2C-935C-44EF-B56A-2843D527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10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specialization is intentional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88127-D66C-4CAA-BCAF-3B77643C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72000"/>
            <a:ext cx="5962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The engine can stay out of non-bullish conditions because an earlier selection layer has already chosen assets where upside participation is the point.</a:t>
            </a:r>
          </a:p>
        </p:txBody>
      </p:sp>
    </p:spTree>
    <p:extLst>
      <p:ext uri="{BB962C8B-B14F-4D97-AF65-F5344CB8AC3E}">
        <p14:creationId xmlns:p14="http://schemas.microsoft.com/office/powerpoint/2010/main" val="17272694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23FE18-49C8-4C39-B352-7D4F101C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759A4-99E1-4FA2-9073-157D5C9D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same PCA machinery gets a different job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F0FF0-4E95-429D-AE04-E913F6C0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798DA-C16A-4CAB-9AFA-9877F605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972050" cy="32004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6E540-1FC4-4C5E-89FB-4192A436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57400"/>
            <a:ext cx="4972050" cy="32004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0F001A-AE11-4725-9D49-0E223B76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Universal router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8A66F-1BF8-4F9D-B0A9-AA6818D1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43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7A55"/>
                </a:solidFill>
              </a:defRPr>
            </a:pPr>
            <a:r>
              <a:rPr sz="2025" b="1">
                <a:solidFill>
                  <a:srgbClr val="177A55"/>
                </a:solidFill>
              </a:rPr>
              <a:t>Momentum specialist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6F89E-CC2D-4294-902C-59375AE8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95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8682C-66A7-4F59-8827-160A800E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0990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Each state may imply trend, mean reversion, breakout, risk-off, or noise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F803A-D8B8-421C-B260-918EAEEA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90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5B968B-BBC9-4B63-883F-E0FBFF4F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0517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Many strategy families compete downstream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B4318D-1616-4699-8420-CA743EA5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18905C-B2A5-4C05-9D82-E80F0BC8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0045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 state can be useful even when simple forward return looks poor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DF0C6-F60A-493C-AB55-3A3742C7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64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227A99-73E3-4C78-AF48-50AEF3E8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9572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Interpretation comes late and can be messy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89206B-6294-434D-B049-EDEABA36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95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B62372-87D4-43E6-840A-731D9B2B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0990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Each state asks whether bullish participation is favorable, stalled, extended, or risky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CD1280-FD28-48B2-BF63-42D44839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90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5DE92B-61F7-48B3-BDAB-FEA46F39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0517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Only momentum-compatible families compete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133AA9-684F-4D66-9B33-B8509A1B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86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FA0F5D-EC87-4188-89A6-F95D966A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0045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Forward path metrics become more directly relevant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FF4E0D-D2AC-42AA-8731-24D9C741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3426F0-B7B7-45A3-A468-DB0D524F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95725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Interpretation is narrower and easier to falsify</a:t>
            </a:r>
          </a:p>
        </p:txBody>
      </p:sp>
    </p:spTree>
    <p:extLst>
      <p:ext uri="{BB962C8B-B14F-4D97-AF65-F5344CB8AC3E}">
        <p14:creationId xmlns:p14="http://schemas.microsoft.com/office/powerpoint/2010/main" val="20087083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4AA359-3563-444C-B55E-F5879203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5A48C0-BC00-4C88-A764-A3203DB7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This resembles how a real momentum trader narrows 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0E0CA-8ABC-4EAC-B0C2-12C615A0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3A0FD-A358-4229-B1B3-1FCB56FC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CEA44-D6BB-4DE6-A92B-9BFC2CC3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193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9AAF8-AB11-40BC-8208-A580F89F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193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37C13-C84F-4646-B25F-969BC134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Screen 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80A79-F8B2-4BF8-AA4A-C5A0E534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33700"/>
            <a:ext cx="238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Trade a list of liquid, strong, volatile assets rather than the whole market.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6D08E-5A54-468A-B9BE-30CA0375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43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7A55"/>
                </a:solidFill>
              </a:defRPr>
            </a:pPr>
            <a:r>
              <a:rPr sz="1875" b="1">
                <a:solidFill>
                  <a:srgbClr val="177A55"/>
                </a:solidFill>
              </a:rPr>
              <a:t>Filter exposure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178E92-587B-4B1E-AB38-6A874BB8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33700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Use trend, breadth, volatility, and risk context to decide when participation is still healthy.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02757-D6D2-45B0-AFB4-8363A3C7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431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97706"/>
                </a:solidFill>
              </a:defRPr>
            </a:pPr>
            <a:r>
              <a:rPr sz="1875" b="1">
                <a:solidFill>
                  <a:srgbClr val="D97706"/>
                </a:solidFill>
              </a:rPr>
              <a:t>Benchmark honestly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5F805B-057C-486A-9310-26D86E45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38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A bullish specialist must compete with simply holding the bullish basket.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6F7B0D-E5A9-4EC5-B872-5D9CCD83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676900"/>
            <a:ext cx="937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The narrowing does not make the system less serious. It makes the hypothesis test cleaner.</a:t>
            </a:r>
          </a:p>
        </p:txBody>
      </p:sp>
    </p:spTree>
    <p:extLst>
      <p:ext uri="{BB962C8B-B14F-4D97-AF65-F5344CB8AC3E}">
        <p14:creationId xmlns:p14="http://schemas.microsoft.com/office/powerpoint/2010/main" val="3596856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32A811-E5AB-48FB-A9B0-3B57C992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92119-5453-4296-8DA9-919803DA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Feature sets should be audited through participation, not only point-to-point return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7F188-08E8-40EE-B871-048AAE84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41CB6-9DD8-4E90-B352-66283FB5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25E74B-C24B-41F8-AC30-39A5C947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State mechanics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1FD01-9301-4BD9-A835-EED4782E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C15502-0682-43F1-86BD-ADAEC479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Population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B4E3E-1DAF-4446-B9F7-CB82F1DE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9B4C9-E1B8-414C-B5F4-80F15E2F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Persistence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0DA46C-ECDC-48EF-82E9-A154D851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E0F941-3587-4E2C-9BF5-37EFFB5B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Fold stability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220817-FDFA-45FF-8A20-B956BFD1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AB0FFB-8111-468C-A51A-8BBB5411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State transitions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EE69CA-526F-4846-824E-23B781A9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E47B87-E538-4C97-9D58-74E1AF29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9F8F"/>
                </a:solidFill>
              </a:defRPr>
            </a:pPr>
            <a:r>
              <a:rPr sz="1050" b="1">
                <a:solidFill>
                  <a:srgbClr val="0F9F8F"/>
                </a:solidFill>
              </a:rPr>
              <a:t>Forward path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534865-3C49-4652-81B3-4C9535F9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0AE5E-8D41-4D48-986E-4CA4BC5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Return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07EB2-FDDE-4B7C-BDA6-5326DE6D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069432-DA0A-4182-AC1A-CFA2CB5E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Volatility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FBD00D-5B60-48CF-B48B-E6A55963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AA6431-963A-4C08-B232-29FE23E8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Favorable excursion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881C80-47E8-463D-8D74-362CCB0B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4CF5A3-9FBE-46BF-9A5F-9BDE45DC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Adverse excursion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90D80C-4506-40A7-9ED3-4B963CE8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87C020-EDF9-481F-B4C0-B9999F7D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7C3AED"/>
                </a:solidFill>
              </a:defRPr>
            </a:pPr>
            <a:r>
              <a:rPr sz="1050" b="1">
                <a:solidFill>
                  <a:srgbClr val="7C3AED"/>
                </a:solidFill>
              </a:rPr>
              <a:t>Momentum fit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732429-724E-452F-A562-5994D5FE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83682C-48BB-4008-BE7D-F243C3CF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Family by state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886314-B04A-4F9F-85BB-E3B007C7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04A199-189B-4B6C-AEFE-FB91DF90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Spec stability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82C4B0-4458-440A-9539-92978800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7287B8-22DC-42D1-A29B-48A10D2A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Trend exposure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6124E0-4F4F-492F-9224-BA76E551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DB92D5-96F0-40CB-BAAB-CF4192D6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No-trade discipline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C05822-ACFC-4834-8F18-FFC55B05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476500" cy="30861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7F5512-7731-4592-9666-F0FAD833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Portfolio replay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4CEE3A-EA28-42FF-9333-9AC72DAD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170797-9D27-42E2-8C07-DC7F14FC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718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Live capital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8A2FDA-0B25-4AE3-BFA6-37758FD0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81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C508D1-4AC3-42AD-8969-95D8E343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956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Basket alpha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A2E119-649A-46BF-8451-62B74CF7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F58C8D-90EE-4946-A843-70B4848B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Time in market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7B678F-F936-43AD-AF2D-0AF4D88B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5954F-5279-414E-BA72-F0129833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43350"/>
            <a:ext cx="182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Trade tapes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4DEDC6-04D7-4B99-B6D9-6ABAEDE8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53100"/>
            <a:ext cx="9791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final judge remains strategy-conditioned replay, but cheaper diagnostics should explain why a feature set did or did not help.</a:t>
            </a:r>
          </a:p>
        </p:txBody>
      </p:sp>
    </p:spTree>
    <p:extLst>
      <p:ext uri="{BB962C8B-B14F-4D97-AF65-F5344CB8AC3E}">
        <p14:creationId xmlns:p14="http://schemas.microsoft.com/office/powerpoint/2010/main" val="12292547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6ED6DA-3467-4AFB-A7A8-0A1D6574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87ED3-7CE4-4391-8BE3-E7B07A5C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first run should be small enough to fail clearly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AD400-C4BA-439F-BA92-8D086063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293B7-8928-4756-8C88-60525265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4762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84E98-5CD9-4AA7-B902-EC9A7393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762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358F0-CFAF-4E55-BB65-5A23E27F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Recommended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C1646-905F-481C-AB9E-42F83EF4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81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CC915C-F0CA-42E5-9EDF-81307565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956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Basket: AMD, NVDA, TSLA, AAPL, MSTR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5FEF6D-34CE-44D1-BD3A-2198BEEF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05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32DC8-09F4-4CE5-9B42-F1EDA018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194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PCA: behavioral pool, 3x3 quantile states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25FD8-14B6-430C-9395-D08E7AB9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29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7E951-FB66-4D15-B040-CE9A26C8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Context: active-plus-risk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368A6-0748-4A92-B7C7-ACCEBDE0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52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99D9B-F06B-4802-88B4-A26291DC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671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Families: implemented momentum candidates plus no-trade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6F06F-3886-485D-A64E-796C945C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76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AA904-5F24-425E-BBE7-DA8DE5FF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Accounting: true live-capital replay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3FB37-5B51-4460-8B47-D52A021D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479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7A55"/>
                </a:solidFill>
              </a:defRPr>
            </a:pPr>
            <a:r>
              <a:rPr sz="2025" b="1">
                <a:solidFill>
                  <a:srgbClr val="177A55"/>
                </a:solidFill>
              </a:rPr>
              <a:t>Success diagnostics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C5BE08-A79D-44DF-AD94-04F0D18F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81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1B8650-0CA2-489B-BB9B-23C59E03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956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Benchmark-relative alpha versus equal-weight 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42FB7F-77EC-4FFF-AEB4-82AFEDD7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05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6E9EF0-F4FD-4BF8-A55A-4E244710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194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Upside capture during bullish windows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C8774F-B4AC-4E5F-A9DE-15AA47C2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29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E3284-BF96-4D99-A225-A8AF3570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433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Downside avoidance during stalls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9059DA-A156-4932-9EB7-47D2D926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52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FD26D6-7E64-4A79-BA59-2C225492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6715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State and family heatmaps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521710-D3DF-4235-841D-9103BA9C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76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3B1D21-59A4-445E-B3AC-8F14A369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910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Representative trade tapes</a:t>
            </a:r>
          </a:p>
        </p:txBody>
      </p:sp>
    </p:spTree>
    <p:extLst>
      <p:ext uri="{BB962C8B-B14F-4D97-AF65-F5344CB8AC3E}">
        <p14:creationId xmlns:p14="http://schemas.microsoft.com/office/powerpoint/2010/main" val="1291274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6CDB7C-284E-401B-8C56-E56DA74B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EDAC2-5D05-4181-978C-AF922CC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narrow specialist has clear weaknesses that should stay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66DFF6-EEBD-418B-BD5D-5D93F69F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A84ABF-41CF-4766-86EA-05F83527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5010150" cy="3181350"/>
          </a:xfrm>
          <a:prstGeom xmlns:a="http://schemas.openxmlformats.org/drawingml/2006/main" prst="roundRect">
            <a:avLst>
              <a:gd name="adj" fmla="val 2395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DA4A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23CD1-1CA0-474B-875D-A6750957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D1495B"/>
                </a:solidFill>
              </a:defRPr>
            </a:pPr>
            <a:r>
              <a:rPr sz="2025" b="1">
                <a:solidFill>
                  <a:srgbClr val="D1495B"/>
                </a:solidFill>
              </a:rPr>
              <a:t>Main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E92A9-9509-419A-A9BC-84605253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00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61E31-F741-4E02-8899-827FD1AC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14650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Overfits to high-beta bull windows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51F5B-6088-44ED-9A07-08C586F2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4DC5-58C2-4001-BC56-392828B7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28975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Exits too often and lags hold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CE372-017A-4DCF-BF78-709820F7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29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DFC1C-B0B2-442D-BDAB-B18FE038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Selects assets after momentum is exhausted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2EF3D-7CB2-42B8-AEEE-707C8267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45F10E-1165-4E54-9391-7999225B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57625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Fails in slow or range-bound markets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ABA04B-F1E7-4405-BA7E-4CF6A232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E7DE7B-5E79-43AB-97B0-0FFC3A78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3638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Concentrates risk in a few themes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A837EB-E01D-45B4-A768-D56E0258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38350"/>
            <a:ext cx="5010150" cy="3181350"/>
          </a:xfrm>
          <a:prstGeom xmlns:a="http://schemas.openxmlformats.org/drawingml/2006/main" prst="roundRect">
            <a:avLst>
              <a:gd name="adj" fmla="val 239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93FC30-BE95-4CED-A2CC-FEA21896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05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563EB"/>
                </a:solidFill>
              </a:defRPr>
            </a:pPr>
            <a:r>
              <a:rPr sz="2025" b="1">
                <a:solidFill>
                  <a:srgbClr val="2563EB"/>
                </a:solidFill>
              </a:rPr>
              <a:t>Guardrails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086AAD-35B9-4711-8864-497BCF8D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00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4FECEE-2678-4D8C-B334-7D41C104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1465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Keep benchmark hold as the primary comparator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39450C-CC7B-4C1F-B21F-B06A6DDA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62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51CC34-4BFD-4B51-AB17-713AB578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766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Separate curation, PCA states, and replay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7A66DA-163D-40D3-A266-89A44E9A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24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429C3A-BC11-4736-8338-AE1443CA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3855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Do not add SMA or mean reversion yet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8CACE-6433-4AC1-BCF9-ED56293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86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5177CE-5831-48A2-816C-67F70ED2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005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Report failures as useful falsification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920F93-20A2-4070-92CC-1C758FE0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2EEA85-A27E-4719-9E32-EF451E9D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6245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Keep live bridge walled off</a:t>
            </a:r>
          </a:p>
        </p:txBody>
      </p:sp>
    </p:spTree>
    <p:extLst>
      <p:ext uri="{BB962C8B-B14F-4D97-AF65-F5344CB8AC3E}">
        <p14:creationId xmlns:p14="http://schemas.microsoft.com/office/powerpoint/2010/main" val="1082897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ACF61B-1944-477E-8A75-9EF9F207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20278-EF78-4BB3-965C-02351F79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next decision is a research gate, not a performance 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157BD-15DB-42E2-AD1D-61A7FEBC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90ED0-E2F4-44B2-9ADF-26C9C17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03822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C685F-7D37-4580-BDDF-F387356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241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7A55"/>
                </a:solidFill>
              </a:defRPr>
            </a:pPr>
            <a:r>
              <a:rPr sz="2025" b="1">
                <a:solidFill>
                  <a:srgbClr val="177A55"/>
                </a:solidFill>
              </a:rPr>
              <a:t>Default next slice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0F78CC-11BB-4C7F-999E-45A6E326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0505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Run the small momentum-specialist baseline and compare it to equal-weight basket hold with participation and trade-tape diagnostics.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8887B-EF82-4194-B819-840D01C4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10382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25001-D29A-4731-B5C3-50603041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STOP decisions before implementation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D0133-C76C-4A84-A275-4904F665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05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4F95D-F0D2-435C-B7E2-236852B9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19600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Confirm Gen5.3 naming for this research lane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24FCE-6EE4-4082-B235-2959D607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AB775-DC68-450B-872E-4EB8A7DD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14875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Exclude mean-reversion families from the first specialist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799D0-986F-448F-9E5C-8D472C24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95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61B5C4-D339-4C33-AC80-1DFF7091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10150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Defer SMA until EMA and breakout-only evidence exists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D34907-9886-47BA-B036-B991DE61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91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C10A4C-4073-4F96-AA8A-02E3A71E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05425"/>
            <a:ext cx="874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Use hand-picked basket first, then add TRAIN-only curation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B9574-D93A-4E2E-98E5-2A743029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62650"/>
            <a:ext cx="967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If the specialist cannot improve participation in its own chosen domain, the broader universal router should not be trusted to solve it by accident.</a:t>
            </a:r>
          </a:p>
        </p:txBody>
      </p:sp>
    </p:spTree>
    <p:extLst>
      <p:ext uri="{BB962C8B-B14F-4D97-AF65-F5344CB8AC3E}">
        <p14:creationId xmlns:p14="http://schemas.microsoft.com/office/powerpoint/2010/main" val="7876807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F9134A-B2C0-4660-8A56-79B3ACB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B2261E-2117-442A-AB03-1E7B2F6B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first baseline gives us a clean, bounded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693E31-E2D4-4A38-83B0-B6CC1242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144CBD-EC85-47A2-A2DA-BFC5B466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95C2AB-622C-46DA-92E0-E4824F8B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479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563EB"/>
                </a:solidFill>
              </a:defRPr>
            </a:pPr>
            <a:r>
              <a:rPr sz="2025" b="1">
                <a:solidFill>
                  <a:srgbClr val="2563EB"/>
                </a:solidFill>
              </a:rPr>
              <a:t>What we tested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67922-11D4-457B-8C19-61524740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24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441526-D86A-4809-9451-5CD07645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38450"/>
            <a:ext cx="3695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High-beta basket: AMD, NVDA, TSLA, AAPL, MSTR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4629-D0A3-4212-A7E2-CF785CA4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48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F420F-C7D7-4706-83C8-19BB37C0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62300"/>
            <a:ext cx="3695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Context: basket + SPY/QQQ/IWM/SMH/TLT/GLD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C8F83F-E7A5-429A-BD1F-91A8A042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71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F79D4-6C0B-4F0A-A538-6D3A15CD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86150"/>
            <a:ext cx="3695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PCA: behavioral-pool, 3x3 quantile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B49F8B-0263-490F-9D44-C6335DF4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95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D7936D-AA14-42E4-B363-8217A4AE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10000"/>
            <a:ext cx="3695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Policy: pooled-family asset-variant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0AC52F-13E8-4CBF-BA34-5B912240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19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07A93-3118-4255-ACD3-4166B8A1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33850"/>
            <a:ext cx="3695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Families: EMA, breakout, pullback, volatility breakout, no-trade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B03C8B-C1AE-4FC6-8724-20B9C7B7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296602-EB28-49F0-9F0C-B3975742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479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7A55"/>
                </a:solidFill>
              </a:defRPr>
            </a:pPr>
            <a:r>
              <a:rPr sz="2025" b="1">
                <a:solidFill>
                  <a:srgbClr val="177A55"/>
                </a:solidFill>
              </a:rPr>
              <a:t>Why this matters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3CE8B-F00B-42EF-AABB-910B047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00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9247C3-DD73-4B51-A8C3-7094ADA2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146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It tests participation quality before adding basket curation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7AFD57-0124-480C-B50D-A772EF90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FE5E65-0542-4DF5-809C-691E9EEA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861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It keeps mean reversion and SMA out of the first specialist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9E18C-F325-4AAE-8C03-A5C32CB4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43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036279-6843-40A5-8BBE-E80C5687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576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It judges the system against the hard comparator: holding the exact basket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94E94-122B-428D-9750-10C59BA6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7A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44AA0E-A1F1-4A0C-A3A1-B87CD226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290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It separates upside capture from drawdown avoidance</a:t>
            </a:r>
          </a:p>
        </p:txBody>
      </p:sp>
    </p:spTree>
    <p:extLst>
      <p:ext uri="{BB962C8B-B14F-4D97-AF65-F5344CB8AC3E}">
        <p14:creationId xmlns:p14="http://schemas.microsoft.com/office/powerpoint/2010/main" val="13963993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9F7537-583E-4CDE-80E2-8B33C29F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2230D-2AF8-44DC-AE47-C9E67A7D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baseline protected capital in stress but still undercaptured the rebound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7C5AE-8CC7-466A-9A5F-019174F6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7A81E-87DB-467D-BD99-B4C8875E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571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DA4A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F8B982-3B6C-409D-9108-92612075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1495B"/>
                </a:solidFill>
              </a:defRPr>
            </a:pPr>
            <a:r>
              <a:rPr sz="2550" b="1">
                <a:solidFill>
                  <a:srgbClr val="D1495B"/>
                </a:solidFill>
              </a:rPr>
              <a:t>-31.9 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37049-1753-4E42-8858-C251CD0E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Continuation alpha vs hold in 2020Q3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2C28A-98AF-406F-B8EF-E9109F13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2571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BF121-9DC3-45DD-BBEF-73683C84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7A55"/>
                </a:solidFill>
              </a:defRPr>
            </a:pPr>
            <a:r>
              <a:rPr sz="2550" b="1">
                <a:solidFill>
                  <a:srgbClr val="177A55"/>
                </a:solidFill>
              </a:rPr>
              <a:t>+12.2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027C1D-F24C-49B7-B2F3-C1966ECE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14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Continuation alpha vs hold in 2022Q1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4463B-7216-4906-9F65-EEC1047B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00250"/>
            <a:ext cx="2571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FDE75D-5577-43C0-AAFE-3C51CBDE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2669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9F8F"/>
                </a:solidFill>
              </a:defRPr>
            </a:pPr>
            <a:r>
              <a:rPr sz="2550" b="1">
                <a:solidFill>
                  <a:srgbClr val="0F9F8F"/>
                </a:solidFill>
              </a:rPr>
              <a:t>57.2%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D45ED-25A2-4A04-9CE6-E845AB67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003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Continuation exposure in 2020Q3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96AF4E-E30D-4A71-9D76-945AB50C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14750"/>
            <a:ext cx="2571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13CF60-63DA-4664-BF1F-0CA2A4CA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9814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9F8F"/>
                </a:solidFill>
              </a:defRPr>
            </a:pPr>
            <a:r>
              <a:rPr sz="2550" b="1">
                <a:solidFill>
                  <a:srgbClr val="0F9F8F"/>
                </a:solidFill>
              </a:rPr>
              <a:t>12.6%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1046F-2141-4944-A1F8-18AD9AD5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514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Continuation exposure in 2022Q1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de917fbcb4c62"/>
          <a:stretch xmlns:a="http://schemas.openxmlformats.org/drawingml/2006/main"/>
        </p:blipFill>
        <p:spPr>
          <a:xfrm xmlns:a="http://schemas.openxmlformats.org/drawingml/2006/main">
            <a:off x="7091570" y="1809750"/>
            <a:ext cx="3571461" cy="37338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A16371-B82E-4848-BDCE-4B76AD1E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7690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Aggregate mean alpha was -13.5 pp for fresh and -9.8 pp for continuation. This is not a victory lap; it is a sharper diagnosis.</a:t>
            </a:r>
          </a:p>
        </p:txBody>
      </p:sp>
    </p:spTree>
    <p:extLst>
      <p:ext uri="{BB962C8B-B14F-4D97-AF65-F5344CB8AC3E}">
        <p14:creationId xmlns:p14="http://schemas.microsoft.com/office/powerpoint/2010/main" val="14482274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1E2AA2-27C8-43C7-8269-8728E6D5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25699-8E57-49C3-8705-F465473B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audit points to participation timing, not just strategy availability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11341-B0D5-4011-8E66-EC0B8E9B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fda9ebc1b4c29"/>
          <a:stretch xmlns:a="http://schemas.openxmlformats.org/drawingml/2006/main"/>
        </p:blipFill>
        <p:spPr>
          <a:xfrm xmlns:a="http://schemas.openxmlformats.org/drawingml/2006/main">
            <a:off x="698256" y="1809750"/>
            <a:ext cx="5671038" cy="409575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4226368784307"/>
          <a:stretch xmlns:a="http://schemas.openxmlformats.org/drawingml/2006/main"/>
        </p:blipFill>
        <p:spPr>
          <a:xfrm xmlns:a="http://schemas.openxmlformats.org/drawingml/2006/main">
            <a:off x="6877050" y="1929179"/>
            <a:ext cx="4762500" cy="311394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7862E-9659-48BE-82BA-6113549A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276850"/>
            <a:ext cx="4191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The state/family map selected plenty of momentum candidates, so the first failure mode is not that no-trade swallowed the whole system. The problem is more specific: exposure still arrived too late or too lightly in the rebound while drawdown avoidance worked better in the stress window.</a:t>
            </a:r>
          </a:p>
        </p:txBody>
      </p:sp>
    </p:spTree>
    <p:extLst>
      <p:ext uri="{BB962C8B-B14F-4D97-AF65-F5344CB8AC3E}">
        <p14:creationId xmlns:p14="http://schemas.microsoft.com/office/powerpoint/2010/main" val="20344785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49CE19-4708-4CCB-9256-165C27CF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7C673-C2A4-4F73-9425-60168B86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Representative trade tapes show the system joined the move but did not stay with enough of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60BA35-98BB-48A4-B1AD-092AC139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8d08c35044ac2"/>
          <a:stretch xmlns:a="http://schemas.openxmlformats.org/drawingml/2006/main"/>
        </p:blipFill>
        <p:spPr>
          <a:xfrm xmlns:a="http://schemas.openxmlformats.org/drawingml/2006/main">
            <a:off x="1225717" y="1695450"/>
            <a:ext cx="5930566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C7019C-E289-4BCC-A149-EEF64D8D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62150"/>
            <a:ext cx="3048000" cy="32194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AB060-612F-47B2-81A0-AFBD6C53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47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What to look for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027923-78BB-48AE-9339-92859393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05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DE182-F029-433F-A645-126896DF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Blue markers are entries; yellow markers are exits.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121F3-A0E9-4F50-9C4C-E3136732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00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18AB2-A17F-42E3-8199-678CCBE0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147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Dashed lines trace completed or open trades.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48097-B65D-4190-A1FF-66D0BAA8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95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8AEC8-3A93-4578-97B3-AEFD798C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100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State bands often change after the trend is underway.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D8EAD-356B-46D5-9303-840C642D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391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B06686-B98F-42CD-A7E4-0DF90FE4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3053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Continuation helps, but it still misses part of the move.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43B7F-4896-47BD-A452-F2C9CE6E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722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For exploratory POCs, include representative trade tapes whenever timing, participation, or state behavior is central.</a:t>
            </a:r>
          </a:p>
        </p:txBody>
      </p:sp>
    </p:spTree>
    <p:extLst>
      <p:ext uri="{BB962C8B-B14F-4D97-AF65-F5344CB8AC3E}">
        <p14:creationId xmlns:p14="http://schemas.microsoft.com/office/powerpoint/2010/main" val="16505199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D326F1-D9B4-4207-863E-76E2C37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GEN5.3 PCA RESEARCH PIVOT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6E8DD-493E-4A39-8FF3-35A16863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Next Gen5.3 slice: diagnose why bullish participation is still late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E6A1F6-684A-4614-8BB0-BB35FAB6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DD"/>
          </a:solidFill>
          <a:ln xmlns:a="http://schemas.openxmlformats.org/drawingml/2006/main" w="0">
            <a:solidFill>
              <a:srgbClr val="CBD3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B8F3AF-64F1-46D3-A0CA-3FD974AB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10382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C030A-04F8-408F-95EF-82ED9D7E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Recommended next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7FC39-3F15-44B2-BCB2-FE01A3B6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Do improved momentum-participation features make PCA states enter and stay long earlier during obvious high-beta upside without surrendering the 2022 drawdown protection?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E5DA0-6873-4B17-A0BF-90BB939B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7FD213-C355-4854-A17A-A5C78F4D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Keep the same basket, context, 3x3 PCA, pooled-family policy, and benchmark.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77EBD-2667-4D29-B856-7E5E5BAA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86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C0C929-6633-4EFC-B8C9-DF9F3A52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0055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Add one compact feature-set challenger focused on trend slope, relative strength, and drawdown recovery.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500A9-8E13-4A10-BBE6-CFD3075D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91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87EF0-2676-4A3B-A928-10F85ECD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0535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Run 2020Q3 and 2022Q1 first; expand windows only if the behavior changes mechanically.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D3758-C954-4F19-8CF1-5186036A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102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Compute note: full Gen4 daily-default breadth is expensive enough that feature engineering should start with compact grids, then confirm with full breadth after the mechanism is visible.</a:t>
            </a:r>
          </a:p>
        </p:txBody>
      </p:sp>
    </p:spTree>
    <p:extLst>
      <p:ext uri="{BB962C8B-B14F-4D97-AF65-F5344CB8AC3E}">
        <p14:creationId xmlns:p14="http://schemas.microsoft.com/office/powerpoint/2010/main" val="12634804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2026-07-10T23:07:28.3500000Z</dcterms:created>
  <dcterms:modified xsi:type="dcterms:W3CDTF">2026-07-10T23:07:28.3500000Z</dcterms:modified>
</coreProperties>
</file>