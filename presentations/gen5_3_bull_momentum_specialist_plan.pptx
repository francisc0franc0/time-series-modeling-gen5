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1bdb085ab04a77" /><Relationship Type="http://schemas.openxmlformats.org/officeDocument/2006/relationships/extended-properties" Target="/docProps/app.xml" Id="R95e18160de2f4372" /><Relationship Type="http://schemas.openxmlformats.org/officeDocument/2006/relationships/officeDocument" Target="/ppt/presentation.xml" Id="R3e7055635a24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c1a028262e4739"/>
  </p:sldMasterIdLst>
  <p:notesMasterIdLst>
    <p:notesMasterId xmlns:r="http://schemas.openxmlformats.org/officeDocument/2006/relationships" r:id="Re5715b932fd345ed"/>
  </p:notesMasterIdLst>
  <p:sldIdLst>
    <p:sldId xmlns:r="http://schemas.openxmlformats.org/officeDocument/2006/relationships" id="256" r:id="Rf1bb3d7fb46c447c"/>
    <p:sldId xmlns:r="http://schemas.openxmlformats.org/officeDocument/2006/relationships" id="257" r:id="R88a8ef7417ba4719"/>
    <p:sldId xmlns:r="http://schemas.openxmlformats.org/officeDocument/2006/relationships" id="258" r:id="R6f6780d49d6f4419"/>
    <p:sldId xmlns:r="http://schemas.openxmlformats.org/officeDocument/2006/relationships" id="259" r:id="R93af5d5a86d24e96"/>
    <p:sldId xmlns:r="http://schemas.openxmlformats.org/officeDocument/2006/relationships" id="260" r:id="R684b6c2954884bc8"/>
    <p:sldId xmlns:r="http://schemas.openxmlformats.org/officeDocument/2006/relationships" id="261" r:id="R8a05b78f19694027"/>
    <p:sldId xmlns:r="http://schemas.openxmlformats.org/officeDocument/2006/relationships" id="262" r:id="R8073d5dd73ab41b8"/>
    <p:sldId xmlns:r="http://schemas.openxmlformats.org/officeDocument/2006/relationships" id="263" r:id="R1491b24603014c2b"/>
    <p:sldId xmlns:r="http://schemas.openxmlformats.org/officeDocument/2006/relationships" id="264" r:id="R16b1a4373991483b"/>
    <p:sldId xmlns:r="http://schemas.openxmlformats.org/officeDocument/2006/relationships" id="265" r:id="Ra7d3c940f4d6418d"/>
    <p:sldId xmlns:r="http://schemas.openxmlformats.org/officeDocument/2006/relationships" id="266" r:id="R319079a09bab4c78"/>
    <p:sldId xmlns:r="http://schemas.openxmlformats.org/officeDocument/2006/relationships" id="267" r:id="R14ac2b761943420d"/>
    <p:sldId xmlns:r="http://schemas.openxmlformats.org/officeDocument/2006/relationships" id="268" r:id="R38acd66fbbad4d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7111b6703742c6" /><Relationship Type="http://schemas.openxmlformats.org/officeDocument/2006/relationships/slideMaster" Target="/ppt/slideMasters/slideMaster1.xml" Id="Rffc1a028262e4739" /><Relationship Type="http://schemas.openxmlformats.org/officeDocument/2006/relationships/notesMaster" Target="/ppt/notesMasters/notesMaster1.xml" Id="Re5715b932fd345ed" /><Relationship Type="http://schemas.openxmlformats.org/officeDocument/2006/relationships/presProps" Target="/ppt/presProps.xml" Id="R29a8c61d79b047aa" /><Relationship Type="http://schemas.openxmlformats.org/officeDocument/2006/relationships/tableStyles" Target="/ppt/tableStyles.xml" Id="R30b38e7e003e4df0" /><Relationship Type="http://schemas.openxmlformats.org/officeDocument/2006/relationships/slide" Target="/ppt/slides/slide1.xml" Id="Rf1bb3d7fb46c447c" /><Relationship Type="http://schemas.openxmlformats.org/officeDocument/2006/relationships/slide" Target="/ppt/slides/slide2.xml" Id="R88a8ef7417ba4719" /><Relationship Type="http://schemas.openxmlformats.org/officeDocument/2006/relationships/slide" Target="/ppt/slides/slide3.xml" Id="R6f6780d49d6f4419" /><Relationship Type="http://schemas.openxmlformats.org/officeDocument/2006/relationships/slide" Target="/ppt/slides/slide4.xml" Id="R93af5d5a86d24e96" /><Relationship Type="http://schemas.openxmlformats.org/officeDocument/2006/relationships/slide" Target="/ppt/slides/slide5.xml" Id="R684b6c2954884bc8" /><Relationship Type="http://schemas.openxmlformats.org/officeDocument/2006/relationships/slide" Target="/ppt/slides/slide6.xml" Id="R8a05b78f19694027" /><Relationship Type="http://schemas.openxmlformats.org/officeDocument/2006/relationships/slide" Target="/ppt/slides/slide7.xml" Id="R8073d5dd73ab41b8" /><Relationship Type="http://schemas.openxmlformats.org/officeDocument/2006/relationships/slide" Target="/ppt/slides/slide8.xml" Id="R1491b24603014c2b" /><Relationship Type="http://schemas.openxmlformats.org/officeDocument/2006/relationships/slide" Target="/ppt/slides/slide9.xml" Id="R16b1a4373991483b" /><Relationship Type="http://schemas.openxmlformats.org/officeDocument/2006/relationships/slide" Target="/ppt/slides/slide10.xml" Id="Ra7d3c940f4d6418d" /><Relationship Type="http://schemas.openxmlformats.org/officeDocument/2006/relationships/slide" Target="/ppt/slides/slide11.xml" Id="R319079a09bab4c78" /><Relationship Type="http://schemas.openxmlformats.org/officeDocument/2006/relationships/slide" Target="/ppt/slides/slide12.xml" Id="R14ac2b761943420d" /><Relationship Type="http://schemas.openxmlformats.org/officeDocument/2006/relationships/slide" Target="/ppt/slides/slide13.xml" Id="R38acd66fbbad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ef225a640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bd0541b80450a" /><Relationship Type="http://schemas.openxmlformats.org/officeDocument/2006/relationships/notesMaster" Target="/ppt/notesMasters/notesMaster1.xml" Id="R11d4157f379b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6ef4dc06e4a92" /><Relationship Type="http://schemas.openxmlformats.org/officeDocument/2006/relationships/notesMaster" Target="/ppt/notesMasters/notesMaster1.xml" Id="R4e9011f77318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f5a911d6a4bd3" /><Relationship Type="http://schemas.openxmlformats.org/officeDocument/2006/relationships/notesMaster" Target="/ppt/notesMasters/notesMaster1.xml" Id="Rdc8ba7d990dc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c391f20e9f433f" /><Relationship Type="http://schemas.openxmlformats.org/officeDocument/2006/relationships/notesMaster" Target="/ppt/notesMasters/notesMaster1.xml" Id="R27f3947a0df8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baa22c547741ae" /><Relationship Type="http://schemas.openxmlformats.org/officeDocument/2006/relationships/notesMaster" Target="/ppt/notesMasters/notesMaster1.xml" Id="R64b9caa59cec4a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227097e03445a8" /><Relationship Type="http://schemas.openxmlformats.org/officeDocument/2006/relationships/notesMaster" Target="/ppt/notesMasters/notesMaster1.xml" Id="Re15da2bd5fef4a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029f671ec34ffa" /><Relationship Type="http://schemas.openxmlformats.org/officeDocument/2006/relationships/notesMaster" Target="/ppt/notesMasters/notesMaster1.xml" Id="R1bb4fac2761c46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83e8efe2243b8" /><Relationship Type="http://schemas.openxmlformats.org/officeDocument/2006/relationships/notesMaster" Target="/ppt/notesMasters/notesMaster1.xml" Id="R7426b1f7de4a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e0903b07d34b82" /><Relationship Type="http://schemas.openxmlformats.org/officeDocument/2006/relationships/notesMaster" Target="/ppt/notesMasters/notesMaster1.xml" Id="R362e22857ac04d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43a70c439642e9" /><Relationship Type="http://schemas.openxmlformats.org/officeDocument/2006/relationships/notesMaster" Target="/ppt/notesMasters/notesMaster1.xml" Id="R883b2970963446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31f452e1e04444" /><Relationship Type="http://schemas.openxmlformats.org/officeDocument/2006/relationships/notesMaster" Target="/ppt/notesMasters/notesMaster1.xml" Id="R265ad043002d40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534f65ef374d20" /><Relationship Type="http://schemas.openxmlformats.org/officeDocument/2006/relationships/notesMaster" Target="/ppt/notesMasters/notesMaster1.xml" Id="R5d53ac4cdb4a42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eb0cb71a0348f1" /><Relationship Type="http://schemas.openxmlformats.org/officeDocument/2006/relationships/notesMaster" Target="/ppt/notesMasters/notesMaster1.xml" Id="R4f78dc5deb5a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e4500fb364c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75099409f14b61" /><Relationship Type="http://schemas.openxmlformats.org/officeDocument/2006/relationships/slideLayout" Target="/ppt/slideLayouts/slideLayout1.xml" Id="R240ed903c0b3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ed903c0b3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0dd47665e49a8" /><Relationship Type="http://schemas.openxmlformats.org/officeDocument/2006/relationships/notesSlide" Target="/ppt/notesSlides/notesSlide1.xml" Id="R44db9cabcc10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c5f427cac4fd4" /><Relationship Type="http://schemas.openxmlformats.org/officeDocument/2006/relationships/notesSlide" Target="/ppt/notesSlides/notesSlide2.xml" Id="Rf409eab8c88946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4ae94da7b4e4b" /><Relationship Type="http://schemas.openxmlformats.org/officeDocument/2006/relationships/notesSlide" Target="/ppt/notesSlides/notesSlide3.xml" Id="Rd620196a6f08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0fef9b9614084" /><Relationship Type="http://schemas.openxmlformats.org/officeDocument/2006/relationships/notesSlide" Target="/ppt/notesSlides/notesSlide4.xml" Id="Ra3c4078a8cd7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6d6ea20bc4329" /><Relationship Type="http://schemas.openxmlformats.org/officeDocument/2006/relationships/notesSlide" Target="/ppt/notesSlides/notesSlide5.xml" Id="R03853f09da3f47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f717b10a2426c" /><Relationship Type="http://schemas.openxmlformats.org/officeDocument/2006/relationships/notesSlide" Target="/ppt/notesSlides/notesSlide6.xml" Id="R9727745104b541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29a3bea964518" /><Relationship Type="http://schemas.openxmlformats.org/officeDocument/2006/relationships/notesSlide" Target="/ppt/notesSlides/notesSlide7.xml" Id="Rcce1b31fa924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3787cf22f4e30" /><Relationship Type="http://schemas.openxmlformats.org/officeDocument/2006/relationships/notesSlide" Target="/ppt/notesSlides/notesSlide8.xml" Id="Re4acc2ee4a7648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3bab90b4243b3" /><Relationship Type="http://schemas.openxmlformats.org/officeDocument/2006/relationships/notesSlide" Target="/ppt/notesSlides/notesSlide9.xml" Id="R49dd4066a2c549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481875d3f40e5" /><Relationship Type="http://schemas.openxmlformats.org/officeDocument/2006/relationships/notesSlide" Target="/ppt/notesSlides/notesSlide10.xml" Id="R9e833536083349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c62396616481f" /><Relationship Type="http://schemas.openxmlformats.org/officeDocument/2006/relationships/image" Target="/ppt/media/image.png" Id="R278f100491ba4b25" /><Relationship Type="http://schemas.openxmlformats.org/officeDocument/2006/relationships/notesSlide" Target="/ppt/notesSlides/notesSlide11.xml" Id="R326ba6575eb442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d80f1b2814b6d" /><Relationship Type="http://schemas.openxmlformats.org/officeDocument/2006/relationships/image" Target="/ppt/media/image2.png" Id="R79cdf432fdbc4868" /><Relationship Type="http://schemas.openxmlformats.org/officeDocument/2006/relationships/image" Target="/ppt/media/image3.png" Id="R62952b35a6db4f65" /><Relationship Type="http://schemas.openxmlformats.org/officeDocument/2006/relationships/notesSlide" Target="/ppt/notesSlides/notesSlide12.xml" Id="R31d6e8df94f047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00c0ae148427a" /><Relationship Type="http://schemas.openxmlformats.org/officeDocument/2006/relationships/notesSlide" Target="/ppt/notesSlides/notesSlide13.xml" Id="Rf580b5250857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EAC4A-957D-4A47-95DB-6A56AC60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GEN5.3 PLANNING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76554-9CF5-46F4-B0B1-F6945E83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Bullish Momentum Specialist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32ACF-A13F-4192-9AD8-C30CE7E3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Narrow the PCA engine before expanding it: first test whether a high-beta bullish participation specialist can beat the simple act of holding strong assets.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9F2DA-D573-4559-9FFF-47C11C7D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9906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5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A605F-C51F-4C6C-B7F6-97CD7934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Core shift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3B4CB-0407-4782-8CAE-FDFCF653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PCA less as a universal market-regime oracle and more as a participation filter around a narrow momentum hypothesis 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AA75E-F23C-4F30-B972-C2A1265B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Research only. Not allocation evidence or live-execution approval.</a:t>
            </a:r>
          </a:p>
        </p:txBody>
      </p:sp>
    </p:spTree>
    <p:extLst>
      <p:ext uri="{BB962C8B-B14F-4D97-AF65-F5344CB8AC3E}">
        <p14:creationId xmlns:p14="http://schemas.microsoft.com/office/powerpoint/2010/main" val="563850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F4BE9-853A-4D90-A041-E3F808D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71AA7-C3BB-47BE-97AD-DC12E67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broad engine is asking one PCA layer to solve too many market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4441C-47DF-4A3B-AC0A-3894885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A394C-50C7-471B-8C22-9BB1A250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8577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2C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CFF40-39F5-4437-8BAE-B814631A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Current broad ambition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0750A-7CB9-41D9-8EBE-A8D10DF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74954-FBEC-483B-B138-85AE35B0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Dynamic bull markets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A7F49-5706-4F19-BC04-E3D740E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857AC-5EA5-4446-A0A2-5ECCBB27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Quiet bull markets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7332E-78CF-4343-A53B-277E98DD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38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E3D20-2538-47DD-B072-F282387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Sideways mean reversion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E0167-547C-482F-B78E-A5EF1D1F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CF127-389E-47ED-B0B2-617D692B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Turbulent ranges and breakouts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793A2-C081-45B1-834A-9E5E8E5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A4997-78B9-46B7-A02C-264EB4FE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3790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Rallies inside downtrends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06B2A-C501-41BB-B677-F2FCDE45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46291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FF216-BA8B-4AC5-A13F-D0D6254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Observed bottleneck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661A5-A840-4B6A-8BA7-638C73AA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BBF29-7D38-4E93-93E9-3ADC9664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Positive tactical trades can still lag basket 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0D305-4ED3-4D1B-8944-3C78885C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E2957-721F-4D22-A5FB-A802DD76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Upside windows expose underparticipation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FA570-664A-4441-8CFB-96881B24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33EE2-0DFF-496C-A049-875D671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718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Large strategy grids make interpretation noisy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A309B-B513-421F-8D24-38B1F029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F9C7C-B1B2-43C9-8A0B-283A4F6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6712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Feature quality is hard to judge through one universal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F6F11-E197-4588-953A-FA82B478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81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next useful question is not whether PCA can trade everything. It is whether PCA can help us participate better when the target opportunity is already defined.</a:t>
            </a:r>
          </a:p>
        </p:txBody>
      </p:sp>
    </p:spTree>
    <p:extLst>
      <p:ext uri="{BB962C8B-B14F-4D97-AF65-F5344CB8AC3E}">
        <p14:creationId xmlns:p14="http://schemas.microsoft.com/office/powerpoint/2010/main" val="138071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DB844-203E-4B76-83AC-ABF7E1D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7AF1B-EE97-466D-8235-14881E0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specialist narrows the mandate to bullish high-beta 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C106-91BA-4226-BFDA-3324D76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18FA5-5856-4786-A876-9F78BF4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0F2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B28B0-2934-4492-A20C-5EF25752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Curate bullish high-beta assets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51813-8BE4-47EB-91D4-75EC2967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666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D013A-30B6-489A-B37B-91F09E4D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35D39-9F8C-4517-A239-A2E47C4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A55"/>
                </a:solidFill>
              </a:defRPr>
            </a:pPr>
            <a:r>
              <a:rPr sz="1350" b="1">
                <a:solidFill>
                  <a:srgbClr val="177A55"/>
                </a:solidFill>
              </a:rPr>
              <a:t>Build PCA participation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7FE6-F5B8-4B8F-8C4D-47A2BB9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666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FF066-BF73-4D6D-861B-D7D9D8F0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F3E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7F05B-960C-47AA-9ADF-8D066C83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Route momentum-only hypotheses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60358-2E2C-44A0-9338-C2967EAA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66675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2F0FD-3477-40A5-9136-AB936622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38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92E67-1725-44B3-810C-FBE6CAE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14650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Audit against basket 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54890-1D3B-43A3-91AC-51560F0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7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BD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048F9-EB4E-4077-92CD-ECE17172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The specialization is intentional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F367-4D20-436E-BC2C-CBC8F24D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72000"/>
            <a:ext cx="596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The engine can stay out of non-bullish conditions because an earlier selection layer has already chosen assets where upside participation is the point.</a:t>
            </a:r>
          </a:p>
        </p:txBody>
      </p:sp>
    </p:spTree>
    <p:extLst>
      <p:ext uri="{BB962C8B-B14F-4D97-AF65-F5344CB8AC3E}">
        <p14:creationId xmlns:p14="http://schemas.microsoft.com/office/powerpoint/2010/main" val="2002627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F6DBB-CC7D-4EBD-BB07-D6F9D329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98F62-C008-4FB2-AF3F-86DBBD24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same PCA machinery gets a different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93D7C-3021-4458-869D-820E63C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6D7ED-87FC-43DC-B44D-B1003355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49720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B821C-60FA-434F-8BF2-95762B9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49720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24997-3FDD-4164-AA8E-037211CB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Universal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50622-B418-45EF-8803-5B302920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A55"/>
                </a:solidFill>
              </a:defRPr>
            </a:pPr>
            <a:r>
              <a:rPr sz="2025" b="1">
                <a:solidFill>
                  <a:srgbClr val="177A55"/>
                </a:solidFill>
              </a:rPr>
              <a:t>Momentum specialist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B00C2-7B08-42F7-AED8-7DC001D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8822D-511A-4F2A-A409-7FF15DC9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Each state may imply trend, mean reversion, breakout, risk-off, or 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41EA0-F8CE-4C7C-A62B-9AB7DF5F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8222B-6AD0-4123-BA27-84902E66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05175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Many strategy families compete downstream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73205-E61D-49BD-9F21-B362356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FEFA9-3421-4F34-A284-682E5C90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 state can be useful even when simple forward return looks poor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29E7A-5070-4C70-9144-E8AB1B07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03A76-4BAC-407C-8E15-08F56F7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Interpretation comes late and can be messy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F9DF3-5E29-46C2-814E-A67B44E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D026A-4174-4406-9F8F-23102F7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Each state asks whether bullish participation is favorable, stalled, extended, or risky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2516C-0586-45E5-9D88-A97853DA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C9635-1D94-4F5E-AA03-7F1A129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05175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Only momentum-compatible families compete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E08F9-CB24-45BC-802F-626AC991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0289E-6001-4106-86D5-EF4122F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Forward path metrics become more directly relevant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AAC33-05FA-474B-A984-920B8C39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FA9B6-BAFF-4E61-97E0-F01A283E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95725"/>
            <a:ext cx="3638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Interpretation is narrower and easier to falsify</a:t>
            </a:r>
          </a:p>
        </p:txBody>
      </p:sp>
    </p:spTree>
    <p:extLst>
      <p:ext uri="{BB962C8B-B14F-4D97-AF65-F5344CB8AC3E}">
        <p14:creationId xmlns:p14="http://schemas.microsoft.com/office/powerpoint/2010/main" val="1094014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7E6DF-8D33-48F0-BFD5-07A2B86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23E1B-4541-469A-A946-29C0C8B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This resembles how a real momentum trader narrows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21B9D-0B0E-4783-BFBA-6390CE34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F84EB-DE9D-4180-9A77-9F795A62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10A29-0109-4B97-8D1C-B275B98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930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230A1-5BA5-4702-A822-DDA122EA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3219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348D2-EDE4-4EC3-B216-3F53FA0C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Screen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0BD6A-EEE3-432D-B9D2-59957176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Trade a list of liquid, strong, volatile assets rather than the whole market.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9B5CF-AA58-4B4A-9247-E6CB868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7A55"/>
                </a:solidFill>
              </a:defRPr>
            </a:pPr>
            <a:r>
              <a:rPr sz="1875" b="1">
                <a:solidFill>
                  <a:srgbClr val="177A55"/>
                </a:solidFill>
              </a:rPr>
              <a:t>Filter exposure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9A663-6CAF-438F-8021-2908343E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Use trend, breadth, volatility, and risk context to decide when participation is still healthy.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BAE1E-D37E-468E-8CAA-5FF9A7D1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Benchmark honestly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2EEA2-35B6-4345-8C7C-574EA0B4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bullish specialist must compete with simply holding the bullish basket.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08A7D-6002-4052-8683-7943D1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76900"/>
            <a:ext cx="937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The narrowing does not make the system less serious. It makes the hypothesis test cleaner.</a:t>
            </a:r>
          </a:p>
        </p:txBody>
      </p:sp>
    </p:spTree>
    <p:extLst>
      <p:ext uri="{BB962C8B-B14F-4D97-AF65-F5344CB8AC3E}">
        <p14:creationId xmlns:p14="http://schemas.microsoft.com/office/powerpoint/2010/main" val="1404789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4F06C-685D-4FB0-A1F7-77EADF53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44397-8ED2-4192-81AF-FB1BC2C5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Feature sets should be audited through participation, not only point-to-point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2D3F-9004-49CC-93EF-FC14EFD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4C8D9-CBEE-4149-A7DA-F9EA53C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30861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6BC0E-3A56-4921-85FD-F766A57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State mechanics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85949-F335-4448-8DF2-7A1C1895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54F95-8511-4FC9-8B43-DB13C12F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2D281-7496-4142-8A75-842F52FC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19489-3C17-47C3-987B-13F433A2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Persistence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80CA1-48DA-4A19-ADF3-1CEB47F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3EFB7-D871-43AB-A38B-66F2D960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Fold 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BE44E-CE9B-4CFA-BC12-0121E770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988AF-C765-41B1-A38A-5C77F29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State transitions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91A29-20C3-4098-97ED-B1C41F1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476500" cy="30861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B2C7D-2A68-45CC-95AC-DFAB12F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8F"/>
                </a:solidFill>
              </a:defRPr>
            </a:pPr>
            <a:r>
              <a:rPr sz="1050" b="1">
                <a:solidFill>
                  <a:srgbClr val="0F9F8F"/>
                </a:solidFill>
              </a:rPr>
              <a:t>Forward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6B165-BB8A-4DC0-8742-DD49081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493C1-0437-44E4-B728-561519AE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28B99-A0D4-4973-A1A2-2E7C644F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6EDD3-3943-4ADF-99E9-D27B00A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956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Volatility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2B66F-22D6-4E62-8F2D-EC65E951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57169-0B98-42EC-B805-39988D01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195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Favorable excursion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7FE2E-3109-49D2-B732-6BA880E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63C90-6CFF-447B-ABA0-1597606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433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Adverse excursion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D460C-7163-425D-B61A-9092E69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0" cy="30861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B0DAB-50A1-4597-B47D-E1807133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Momentum fit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412B8-EB74-4A78-AB4B-0C19578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7A64A5-F2B0-46D1-9F3A-91F7DAA0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Family by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C4305-DA21-482E-BA3A-AD92FCA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AC21E-9303-4B7E-BBB1-17D0E831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956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Spec stability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978CC-66A6-4858-8C0E-D1731A08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8F6ED-DBA3-42B3-A5D1-FEDF775A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Trend exposure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EF79DA-FA80-4901-9639-F84E0BE3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CDB32-E6EC-48F8-9C0B-6ADB2BB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No-trade discipline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80D554-77EC-4DFD-B443-4507B8E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476500" cy="30861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B1AB8B-F3F8-48C3-A6A6-74605F88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Portfolio replay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9D0240-2780-45B9-830B-5A429C1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FBFAF0-52B6-4D3C-BD0F-82241EA6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Live capital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677099-F116-43B0-AD51-1E179C83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47728-B64B-45C9-B801-FE2DFD54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956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Basket alpha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59A0AB-16A3-428D-B523-3E3B1DB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295C43-B9D9-467C-B4B8-1DF91FF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Time in market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AA5F9B-29FF-4639-9933-0428E1E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94972A-891C-4AED-B5B5-681228FA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433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Trade tapes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C407D1-67AF-4A6A-A24F-3117419E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979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The final judge remains strategy-conditioned replay, but cheaper diagnostics should explain why a feature set did or did not help.</a:t>
            </a:r>
          </a:p>
        </p:txBody>
      </p:sp>
    </p:spTree>
    <p:extLst>
      <p:ext uri="{BB962C8B-B14F-4D97-AF65-F5344CB8AC3E}">
        <p14:creationId xmlns:p14="http://schemas.microsoft.com/office/powerpoint/2010/main" val="483779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6A956C-4E27-4AD1-9576-0EBD8A4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26F6E-CC1F-47C5-AD54-D74FBF8C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first run should be small enough to fail clearly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E49DA-FD9A-4924-809A-D10C1A0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DFE06-2867-4D16-B214-7A0AC662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3349B-5DF6-46F3-A8CF-FB44EE4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499FF-AB35-42FB-9FB5-20AD512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Recommended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7BE81-E7AA-48A6-B870-6C15B0A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57EFC-7D8F-4368-8F06-F97111A0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Basket: AMD, NVDA, TSLA, AAPL, MSTR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A5754-166C-4E66-ACC9-666B48E2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D618F-7983-491B-85E2-270E178B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PCA: behavioral pool, 3x3 quantile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72EDB-D6ED-41B1-A38B-0F1D2916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F9544-D978-41D7-B0DE-5B3D30DA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Context: active-plus-risk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AA124-7991-4002-BEB0-ACBABE3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E5E4A-8568-4372-BCAD-3860EBD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Families: implemented momentum candidates plus no-trade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5EFC7-A4B4-4973-A1DE-8FC12322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B1705-5B33-4A5D-B074-7D89D5DC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Accounting: true live-capital 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2FF90-713C-4833-96BE-50FA473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A55"/>
                </a:solidFill>
              </a:defRPr>
            </a:pPr>
            <a:r>
              <a:rPr sz="2025" b="1">
                <a:solidFill>
                  <a:srgbClr val="177A55"/>
                </a:solidFill>
              </a:rPr>
              <a:t>Success diagnostics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14AC8-554C-4C32-BBFB-B6C24D0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EB681-4F75-4633-B7E1-3382109E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Benchmark-relative alpha versus equal-weight 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CFAF3-B2D7-42DE-81A5-FFD4F836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4B05A-0A9B-49A4-8946-C5AA0C2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Upside capture during bullish 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3D37B-11D0-4702-9789-D0D0C6A3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D0D79-A11A-4940-BEC6-CF728A6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Downside avoidance during stalls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A5C98-5D4C-4040-853D-88936201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52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D8E6A-20B4-4E12-A8A0-C7B81E44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State and family heatmaps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C8295-3C64-48FA-BDC1-F40BDAC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0BC24-CF7A-46B6-ADF8-3D24FE06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Representative trade tapes</a:t>
            </a:r>
          </a:p>
        </p:txBody>
      </p:sp>
    </p:spTree>
    <p:extLst>
      <p:ext uri="{BB962C8B-B14F-4D97-AF65-F5344CB8AC3E}">
        <p14:creationId xmlns:p14="http://schemas.microsoft.com/office/powerpoint/2010/main" val="1222737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739F3-E4E2-4386-8C6F-C1A92E0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5765E-ED48-4188-906A-96F05F77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narrow specialist has clear weaknesses that should stay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01075-0734-4C0C-92D7-94F23300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01B92-BF97-46F7-A832-90257EE2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50101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A012F-BC1B-4241-B906-587C5DC4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1495B"/>
                </a:solidFill>
              </a:defRPr>
            </a:pPr>
            <a:r>
              <a:rPr sz="2025" b="1">
                <a:solidFill>
                  <a:srgbClr val="D1495B"/>
                </a:solidFill>
              </a:rPr>
              <a:t>Main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3E5FD-C5D0-41E7-8733-62AA07F9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2C42D-0D22-418B-A7B6-9B8852C4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Overfits to high-beta bull 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C6970-9560-4BBE-8574-D411BCC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12D7D-EF2D-4744-8F38-31D66768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28975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Exits too often and lags 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9A0E3-6224-4287-9D12-7E649166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B76B2-363D-4071-B575-52B747C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Selects assets after momentum is exhausted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95184-7FCB-49D6-8979-1BEA7F86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FE570-02AD-4ED2-8A44-4277EE8A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Fails in slow or range-bound markets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2F7D1-6FB2-4619-A386-B58A816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2D9F3-13C7-46B0-9DAA-91183F64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3638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Concentrates risk in a few themes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EF156-8836-4ED3-9E70-D95A3D2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101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7325-C61F-4CC0-BEE5-E881856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Guardrails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FAF69-2690-49E8-AAC5-9256120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092FB-6AA2-4D5B-8093-EF4C05E0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Keep benchmark hold as the primary comparator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BCAE5-30DC-4780-A94B-5431EFC9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EFB06-8D1E-4515-8DE8-101CA3EC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766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Separate curation, PCA states, and replay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EAAA9-88D2-4F8B-BDFB-EF36AE06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2785F-F410-40A1-A386-FE50B8CB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385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Do not add SMA or mean reversion yet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ACE8C-5DAB-4C97-84C1-7468A294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EAA42-F412-45DF-8A27-15A5C0D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00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Report failures as useful falsification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432BB-6AF3-4375-B4BE-A6672F82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1F110-620B-4A2D-84EA-03D7A77B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624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Keep live bridge walled off</a:t>
            </a:r>
          </a:p>
        </p:txBody>
      </p:sp>
    </p:spTree>
    <p:extLst>
      <p:ext uri="{BB962C8B-B14F-4D97-AF65-F5344CB8AC3E}">
        <p14:creationId xmlns:p14="http://schemas.microsoft.com/office/powerpoint/2010/main" val="139311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CFE4B-ADFF-4A97-AC14-BFCBA9E7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79B16-C44F-4C19-9B9B-BB057B5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next decision is a research gate, not a performance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2B354-683B-47E9-93C7-CC6C0BF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25E80-7B50-43B4-A713-F3FF703F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0382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25BCF-2B76-4C40-B1C7-C3A39E20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A55"/>
                </a:solidFill>
              </a:defRPr>
            </a:pPr>
            <a:r>
              <a:rPr sz="2025" b="1">
                <a:solidFill>
                  <a:srgbClr val="177A55"/>
                </a:solidFill>
              </a:rPr>
              <a:t>Default next slice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F0B49-C6FF-4035-ABE1-96E99C62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Run the small momentum-specialist baseline and compare it to equal-weight basket hold with participation and trade-tape diagnostics.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DED2C-6AAF-4CAA-813D-DE233C5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038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403BC-6D00-4688-A5C2-01DA5ABE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STOP decisions before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670DD-7F47-4655-B269-7D3CC9D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416F0-3103-446E-A79E-2983475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19600"/>
            <a:ext cx="874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Confirm Gen5.3 naming for this research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C40C0-5A11-4EE8-903D-6640A28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68646-A00A-4992-BD04-9E3645E8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14875"/>
            <a:ext cx="874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Exclude mean-reversion families from the first specialist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1DDCE-CBAC-42B7-A646-AC78CDFC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D4DE7-9EF7-4DCD-AF5D-2B880AFD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874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Defer SMA until EMA and breakout-only evidence exists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6AF1F-3798-41BC-9ED3-D715D81B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20B9E-4068-4BE7-A32A-0280D0FA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05425"/>
            <a:ext cx="874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Use hand-picked basket first, then add TRAIN-only curation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FE26B-8FC4-4988-B039-08DF9F6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6265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If the specialist cannot improve participation in its own chosen domain, the broader universal router should not be trusted to solve it by accident.</a:t>
            </a:r>
          </a:p>
        </p:txBody>
      </p:sp>
    </p:spTree>
    <p:extLst>
      <p:ext uri="{BB962C8B-B14F-4D97-AF65-F5344CB8AC3E}">
        <p14:creationId xmlns:p14="http://schemas.microsoft.com/office/powerpoint/2010/main" val="2492560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FC7A45-F790-4641-956E-1021CB3C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9BC32-4796-4D97-AE25-5A65F73F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first baseline gives us a clean, bounded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DE787-D63A-4D71-8268-0A833CB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41BA6-A0C7-4389-A348-0EDE8444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ECB9C-7386-4FAC-8147-EE10B72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What we 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1386-E841-49EF-A08F-F88963D6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94EC5-F88D-419C-8787-27A92ECA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High-beta basket: AMD, NVDA, TSLA, AAPL, MSTR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BC21C-1006-4A43-B782-46DF7D13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EE91E-4877-4D4A-A319-37CFDBA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Context: basket + SPY/QQQ/IWM/SMH/TLT/GLD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40544-8A0A-4C1A-A2D3-5611291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A11B9-23ED-4EA7-A27E-52D9F1B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PCA: behavioral-pool, 3x3 quantile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126D9-1435-48C4-99F2-63BC7F4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BBC96-9B67-4488-8414-423F59D7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Policy: pooled-family asset-variant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8D719-5AF5-42F6-8F17-11DA2E7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81309-8F0C-412D-8A67-C6DB508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Families: EMA, breakout, pullback, volatility breakout, no-trade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06206-3877-438C-B4D1-926C5A9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66629-F56D-4D53-AB7E-44ECB1F2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7A55"/>
                </a:solidFill>
              </a:defRPr>
            </a:pPr>
            <a:r>
              <a:rPr sz="2025" b="1">
                <a:solidFill>
                  <a:srgbClr val="177A55"/>
                </a:solidFill>
              </a:rPr>
              <a:t>Why this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C6ADF-34D4-49F1-BCDF-3AFCDD95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1659A-0079-400B-9CDD-D13683EE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14650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It tests participation quality before adding basket curation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7CB97-20AC-400D-AF2D-3AB96B6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F09B5-2693-4564-B5CF-03A4D31D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86125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It keeps mean reversion and SMA out of the first specialist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E38F8-E3EA-44F9-96D0-EE718C4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FA4CF-E644-41F2-8418-05E44954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57600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It judges the system against the hard comparator: holding the exact basket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B37E7-8306-433D-B7C3-5E95DCFA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77C2E-399A-4358-91A6-A325F98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29075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It separates upside capture from drawdown avoidance</a:t>
            </a:r>
          </a:p>
        </p:txBody>
      </p:sp>
    </p:spTree>
    <p:extLst>
      <p:ext uri="{BB962C8B-B14F-4D97-AF65-F5344CB8AC3E}">
        <p14:creationId xmlns:p14="http://schemas.microsoft.com/office/powerpoint/2010/main" val="1282990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D79F7-CC52-4B5B-9E87-16A3294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4786C-A965-468D-98B5-1E1DC94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baseline protected capital in stress but still undercaptured the rebound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1C752-0696-46AC-A71B-53B41F53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E189A-3DFF-4A5E-B1DE-9358766A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DA4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838EE-EB96-4EEC-832C-583C99B9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1495B"/>
                </a:solidFill>
              </a:defRPr>
            </a:pPr>
            <a:r>
              <a:rPr sz="2550" b="1">
                <a:solidFill>
                  <a:srgbClr val="D1495B"/>
                </a:solidFill>
              </a:rPr>
              <a:t>-31.9 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DBB9B-A087-47E9-B5A0-840B923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Continuation alpha vs hold in 2020Q3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24DF0-767F-4E4F-ABF6-1103290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8CE07-F207-43E9-B447-C4675B4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7A55"/>
                </a:solidFill>
              </a:defRPr>
            </a:pPr>
            <a:r>
              <a:rPr sz="2550" b="1">
                <a:solidFill>
                  <a:srgbClr val="177A55"/>
                </a:solidFill>
              </a:rPr>
              <a:t>+12.2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7CF44-E324-476F-B66F-A92273B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Continuation alpha vs hold in 2022Q1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BBEF9-5B1D-4F04-862D-80266BD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08763-2A0D-4849-9048-B4E69D45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9F8F"/>
                </a:solidFill>
              </a:defRPr>
            </a:pPr>
            <a:r>
              <a:rPr sz="2550" b="1">
                <a:solidFill>
                  <a:srgbClr val="0F9F8F"/>
                </a:solidFill>
              </a:rPr>
              <a:t>57.2%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8C620-B4FD-4BE9-996B-09E6C17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Continuation exposure in 2020Q3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AA798-8273-420D-953D-0C81C2AC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E8E46-A404-4138-A0C0-323D2D4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9F8F"/>
                </a:solidFill>
              </a:defRPr>
            </a:pPr>
            <a:r>
              <a:rPr sz="2550" b="1">
                <a:solidFill>
                  <a:srgbClr val="0F9F8F"/>
                </a:solidFill>
              </a:rPr>
              <a:t>12.6%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826CE-F39B-4959-BD8C-4B72E8A4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Continuation exposure in 2022Q1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f100491ba4b25"/>
          <a:stretch xmlns:a="http://schemas.openxmlformats.org/drawingml/2006/main"/>
        </p:blipFill>
        <p:spPr>
          <a:xfrm xmlns:a="http://schemas.openxmlformats.org/drawingml/2006/main">
            <a:off x="7091570" y="1809750"/>
            <a:ext cx="3571461" cy="3733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20455-213F-4FC2-A029-0A0A975B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Aggregate mean alpha was -13.5 pp for fresh and -9.8 pp for continuation. This is not a victory lap; it is a sharper diagnosis.</a:t>
            </a:r>
          </a:p>
        </p:txBody>
      </p:sp>
    </p:spTree>
    <p:extLst>
      <p:ext uri="{BB962C8B-B14F-4D97-AF65-F5344CB8AC3E}">
        <p14:creationId xmlns:p14="http://schemas.microsoft.com/office/powerpoint/2010/main" val="1358957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C3F20-768F-423E-9B77-847C6688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3A5C7-EB63-489A-9AFC-4F47C39D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audit points to participation timing, not just strategy availability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F025A-78A2-42A2-8D0B-FB7AA17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df432fdbc4868"/>
          <a:stretch xmlns:a="http://schemas.openxmlformats.org/drawingml/2006/main"/>
        </p:blipFill>
        <p:spPr>
          <a:xfrm xmlns:a="http://schemas.openxmlformats.org/drawingml/2006/main">
            <a:off x="698256" y="1809750"/>
            <a:ext cx="5671038" cy="40957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52b35a6db4f65"/>
          <a:stretch xmlns:a="http://schemas.openxmlformats.org/drawingml/2006/main"/>
        </p:blipFill>
        <p:spPr>
          <a:xfrm xmlns:a="http://schemas.openxmlformats.org/drawingml/2006/main">
            <a:off x="6877050" y="1929179"/>
            <a:ext cx="4762500" cy="311394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A4F32-5D3E-48CE-BE03-D089C82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state/family map selected plenty of momentum candidates, so the first failure mode is not that no-trade swallowed the whole system. The problem is more specific: exposure still arrived too late or too lightly in the rebound while drawdown avoidance worked better in the stress window.</a:t>
            </a:r>
          </a:p>
        </p:txBody>
      </p:sp>
    </p:spTree>
    <p:extLst>
      <p:ext uri="{BB962C8B-B14F-4D97-AF65-F5344CB8AC3E}">
        <p14:creationId xmlns:p14="http://schemas.microsoft.com/office/powerpoint/2010/main" val="7663578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2EB45-078B-4261-8835-BB19AD1F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GEN5.3 PCA RESEARCH PIVOT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37E4E-DC9D-4D4B-A15C-37818A5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Next Gen5.3 slice: diagnose why bullish participation is still 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7B80E-D94E-41C7-A38A-5530914D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D"/>
          </a:solidFill>
          <a:ln xmlns:a="http://schemas.openxmlformats.org/drawingml/2006/main" w="0">
            <a:solidFill>
              <a:srgbClr val="CBD3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9F19F-1B92-46A0-BCC1-5C44691B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8FB16-782F-4777-BBDE-1BFA4DF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Recommended next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F9BD9-D933-4A2C-AC6A-0D194C21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Do improved momentum-participation features make PCA states enter and stay long earlier during obvious high-beta upside without surrendering the 2022 drawdown protection?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5F196-1666-49A7-BCD6-EC81AD2B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FAC86-95B7-4BF9-91F0-0ECA9CB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Keep the same basket, context, 3x3 PCA, pooled-family policy, and benchmark.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72D4A-C5A1-4A50-AF2D-A8DE6D0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86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DB32A-5FF4-4F4A-BF49-5D777F71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Add one compact feature-set challenger focused on trend slope, relative strength, and drawdown recovery.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0D0AA-86EE-4B9A-B254-0571CF43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9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09877-F53F-465F-98E0-F2F73361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Run 2020Q3 and 2022Q1 first; expand windows only if the behavior changes mechanically.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ED8C5-8ECF-41C7-B5AA-37414E0C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Compute note: full Gen4 daily-default breadth is expensive enough that feature engineering should start with compact grids, then confirm with full breadth after the mechanism is visible.</a:t>
            </a:r>
          </a:p>
        </p:txBody>
      </p:sp>
    </p:spTree>
    <p:extLst>
      <p:ext uri="{BB962C8B-B14F-4D97-AF65-F5344CB8AC3E}">
        <p14:creationId xmlns:p14="http://schemas.microsoft.com/office/powerpoint/2010/main" val="71963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2026-07-10T22:32:52.9870000Z</dcterms:created>
  <dcterms:modified xsi:type="dcterms:W3CDTF">2026-07-10T22:32:52.9870000Z</dcterms:modified>
</coreProperties>
</file>