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9f9199cde24746fa" /><Relationship Type="http://schemas.openxmlformats.org/officeDocument/2006/relationships/extended-properties" Target="/docProps/app.xml" Id="R7bab71f5c3d14f91" /><Relationship Type="http://schemas.openxmlformats.org/officeDocument/2006/relationships/officeDocument" Target="/ppt/presentation.xml" Id="R5b87cb28fe56467e" /></Relationships>
</file>

<file path=ppt/presentation.xml><?xml version="1.0" encoding="utf-8"?>
<p:presentation xmlns:p="http://schemas.openxmlformats.org/presentationml/2006/main">
  <p:sldMasterIdLst>
    <p:sldMasterId xmlns:r="http://schemas.openxmlformats.org/officeDocument/2006/relationships" id="2147483648" r:id="R3bf8cdb30e874077"/>
  </p:sldMasterIdLst>
  <p:notesMasterIdLst>
    <p:notesMasterId xmlns:r="http://schemas.openxmlformats.org/officeDocument/2006/relationships" r:id="Rffbb19cc19114fef"/>
  </p:notesMasterIdLst>
  <p:sldIdLst>
    <p:sldId xmlns:r="http://schemas.openxmlformats.org/officeDocument/2006/relationships" id="256" r:id="Rab3edeeac19c47b3"/>
    <p:sldId xmlns:r="http://schemas.openxmlformats.org/officeDocument/2006/relationships" id="257" r:id="R436d6d6545e64879"/>
    <p:sldId xmlns:r="http://schemas.openxmlformats.org/officeDocument/2006/relationships" id="258" r:id="Rd013866a8cb64fb9"/>
    <p:sldId xmlns:r="http://schemas.openxmlformats.org/officeDocument/2006/relationships" id="259" r:id="Re0735c978cc04416"/>
    <p:sldId xmlns:r="http://schemas.openxmlformats.org/officeDocument/2006/relationships" id="260" r:id="R261af10914f547f4"/>
    <p:sldId xmlns:r="http://schemas.openxmlformats.org/officeDocument/2006/relationships" id="261" r:id="R499009c40e9d4812"/>
    <p:sldId xmlns:r="http://schemas.openxmlformats.org/officeDocument/2006/relationships" id="262" r:id="Reb249ed2f6404238"/>
    <p:sldId xmlns:r="http://schemas.openxmlformats.org/officeDocument/2006/relationships" id="263" r:id="R7b816fdbec4b433b"/>
    <p:sldId xmlns:r="http://schemas.openxmlformats.org/officeDocument/2006/relationships" id="264" r:id="R6d2c39a9c35349b8"/>
    <p:sldId xmlns:r="http://schemas.openxmlformats.org/officeDocument/2006/relationships" id="265" r:id="Rc6655ca5b4e246c9"/>
    <p:sldId xmlns:r="http://schemas.openxmlformats.org/officeDocument/2006/relationships" id="266" r:id="R9db36d7bb8b94e75"/>
    <p:sldId xmlns:r="http://schemas.openxmlformats.org/officeDocument/2006/relationships" id="267" r:id="R0f7507c77b5142a1"/>
    <p:sldId xmlns:r="http://schemas.openxmlformats.org/officeDocument/2006/relationships" id="268" r:id="R79bc5ef61cdb4df7"/>
    <p:sldId xmlns:r="http://schemas.openxmlformats.org/officeDocument/2006/relationships" id="269" r:id="Rccdbebc4192844f5"/>
    <p:sldId xmlns:r="http://schemas.openxmlformats.org/officeDocument/2006/relationships" id="270" r:id="Rbc63b81c410042be"/>
  </p:sldIdLst>
  <p:sldSz cx="12192000" cy="6858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d669105a2c9c44d3" /><Relationship Type="http://schemas.openxmlformats.org/officeDocument/2006/relationships/slideMaster" Target="/ppt/slideMasters/slideMaster1.xml" Id="R3bf8cdb30e874077" /><Relationship Type="http://schemas.openxmlformats.org/officeDocument/2006/relationships/notesMaster" Target="/ppt/notesMasters/notesMaster1.xml" Id="Rffbb19cc19114fef" /><Relationship Type="http://schemas.openxmlformats.org/officeDocument/2006/relationships/presProps" Target="/ppt/presProps.xml" Id="R4e0921211a2e4990" /><Relationship Type="http://schemas.openxmlformats.org/officeDocument/2006/relationships/tableStyles" Target="/ppt/tableStyles.xml" Id="Rbc3a5a1df64c4e8b" /><Relationship Type="http://schemas.openxmlformats.org/officeDocument/2006/relationships/slide" Target="/ppt/slides/slide1.xml" Id="Rab3edeeac19c47b3" /><Relationship Type="http://schemas.openxmlformats.org/officeDocument/2006/relationships/slide" Target="/ppt/slides/slide2.xml" Id="R436d6d6545e64879" /><Relationship Type="http://schemas.openxmlformats.org/officeDocument/2006/relationships/slide" Target="/ppt/slides/slide3.xml" Id="Rd013866a8cb64fb9" /><Relationship Type="http://schemas.openxmlformats.org/officeDocument/2006/relationships/slide" Target="/ppt/slides/slide4.xml" Id="Re0735c978cc04416" /><Relationship Type="http://schemas.openxmlformats.org/officeDocument/2006/relationships/slide" Target="/ppt/slides/slide5.xml" Id="R261af10914f547f4" /><Relationship Type="http://schemas.openxmlformats.org/officeDocument/2006/relationships/slide" Target="/ppt/slides/slide6.xml" Id="R499009c40e9d4812" /><Relationship Type="http://schemas.openxmlformats.org/officeDocument/2006/relationships/slide" Target="/ppt/slides/slide7.xml" Id="Reb249ed2f6404238" /><Relationship Type="http://schemas.openxmlformats.org/officeDocument/2006/relationships/slide" Target="/ppt/slides/slide8.xml" Id="R7b816fdbec4b433b" /><Relationship Type="http://schemas.openxmlformats.org/officeDocument/2006/relationships/slide" Target="/ppt/slides/slide9.xml" Id="R6d2c39a9c35349b8" /><Relationship Type="http://schemas.openxmlformats.org/officeDocument/2006/relationships/slide" Target="/ppt/slides/slide10.xml" Id="Rc6655ca5b4e246c9" /><Relationship Type="http://schemas.openxmlformats.org/officeDocument/2006/relationships/slide" Target="/ppt/slides/slide11.xml" Id="R9db36d7bb8b94e75" /><Relationship Type="http://schemas.openxmlformats.org/officeDocument/2006/relationships/slide" Target="/ppt/slides/slide12.xml" Id="R0f7507c77b5142a1" /><Relationship Type="http://schemas.openxmlformats.org/officeDocument/2006/relationships/slide" Target="/ppt/slides/slide13.xml" Id="R79bc5ef61cdb4df7" /><Relationship Type="http://schemas.openxmlformats.org/officeDocument/2006/relationships/slide" Target="/ppt/slides/slide14.xml" Id="Rccdbebc4192844f5" /><Relationship Type="http://schemas.openxmlformats.org/officeDocument/2006/relationships/slide" Target="/ppt/slides/slide15.xml" Id="Rbc63b81c410042be"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fedf3cc230504f2e"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b4fa6d0f54f4733" /><Relationship Type="http://schemas.openxmlformats.org/officeDocument/2006/relationships/notesMaster" Target="/ppt/notesMasters/notesMaster1.xml" Id="R53e5d1e77aba44ae" /></Relationships>
</file>

<file path=ppt/notesSlides/_rels/notesSlide2.xml.rels>&#65279;<?xml version="1.0" encoding="utf-8"?><Relationships xmlns="http://schemas.openxmlformats.org/package/2006/relationships"><Relationship Type="http://schemas.openxmlformats.org/officeDocument/2006/relationships/slide" Target="/ppt/slides/slide2.xml" Id="R60a90ec945bd4ea5" /><Relationship Type="http://schemas.openxmlformats.org/officeDocument/2006/relationships/notesMaster" Target="/ppt/notesMasters/notesMaster1.xml" Id="R2928006b07e94bce" /></Relationships>
</file>

<file path=ppt/notesSlides/_rels/notesSlide3.xml.rels>&#65279;<?xml version="1.0" encoding="utf-8"?><Relationships xmlns="http://schemas.openxmlformats.org/package/2006/relationships"><Relationship Type="http://schemas.openxmlformats.org/officeDocument/2006/relationships/slide" Target="/ppt/slides/slide3.xml" Id="R47ae8f7df6234014" /><Relationship Type="http://schemas.openxmlformats.org/officeDocument/2006/relationships/notesMaster" Target="/ppt/notesMasters/notesMaster1.xml" Id="R086ca6aa340f4c07" /></Relationships>
</file>

<file path=ppt/notesSlides/_rels/notesSlide4.xml.rels>&#65279;<?xml version="1.0" encoding="utf-8"?><Relationships xmlns="http://schemas.openxmlformats.org/package/2006/relationships"><Relationship Type="http://schemas.openxmlformats.org/officeDocument/2006/relationships/slide" Target="/ppt/slides/slide4.xml" Id="R2694203df1944f83" /><Relationship Type="http://schemas.openxmlformats.org/officeDocument/2006/relationships/notesMaster" Target="/ppt/notesMasters/notesMaster1.xml" Id="R5618914bd43146c5" /></Relationships>
</file>

<file path=ppt/notesSlides/_rels/notesSlide5.xml.rels>&#65279;<?xml version="1.0" encoding="utf-8"?><Relationships xmlns="http://schemas.openxmlformats.org/package/2006/relationships"><Relationship Type="http://schemas.openxmlformats.org/officeDocument/2006/relationships/slide" Target="/ppt/slides/slide5.xml" Id="R56d7ba5dfb8a4193" /><Relationship Type="http://schemas.openxmlformats.org/officeDocument/2006/relationships/notesMaster" Target="/ppt/notesMasters/notesMaster1.xml" Id="Ra76d54eefb134eef" /></Relationships>
</file>

<file path=ppt/notesSlides/_rels/notesSlide6.xml.rels>&#65279;<?xml version="1.0" encoding="utf-8"?><Relationships xmlns="http://schemas.openxmlformats.org/package/2006/relationships"><Relationship Type="http://schemas.openxmlformats.org/officeDocument/2006/relationships/slide" Target="/ppt/slides/slide6.xml" Id="R8275af7d4cb04182" /><Relationship Type="http://schemas.openxmlformats.org/officeDocument/2006/relationships/notesMaster" Target="/ppt/notesMasters/notesMaster1.xml" Id="Rde936af3b51c4d65" /></Relationships>
</file>

<file path=ppt/notesSlides/_rels/notesSlide7.xml.rels>&#65279;<?xml version="1.0" encoding="utf-8"?><Relationships xmlns="http://schemas.openxmlformats.org/package/2006/relationships"><Relationship Type="http://schemas.openxmlformats.org/officeDocument/2006/relationships/slide" Target="/ppt/slides/slide7.xml" Id="Rc40413c9fb02484f" /><Relationship Type="http://schemas.openxmlformats.org/officeDocument/2006/relationships/notesMaster" Target="/ppt/notesMasters/notesMaster1.xml" Id="R00400f8bcc5a4cb6" /></Relationships>
</file>

<file path=ppt/notesSlides/_rels/notesSlide8.xml.rels>&#65279;<?xml version="1.0" encoding="utf-8"?><Relationships xmlns="http://schemas.openxmlformats.org/package/2006/relationships"><Relationship Type="http://schemas.openxmlformats.org/officeDocument/2006/relationships/slide" Target="/ppt/slides/slide8.xml" Id="R54c8836b46f84fb1" /><Relationship Type="http://schemas.openxmlformats.org/officeDocument/2006/relationships/notesMaster" Target="/ppt/notesMasters/notesMaster1.xml" Id="R1aaafc1b00ee483c" /></Relationships>
</file>

<file path=ppt/notesSlides/_rels/notesSlide9.xml.rels>&#65279;<?xml version="1.0" encoding="utf-8"?><Relationships xmlns="http://schemas.openxmlformats.org/package/2006/relationships"><Relationship Type="http://schemas.openxmlformats.org/officeDocument/2006/relationships/slide" Target="/ppt/slides/slide9.xml" Id="Rd4b13030309c4e06" /><Relationship Type="http://schemas.openxmlformats.org/officeDocument/2006/relationships/notesMaster" Target="/ppt/notesMasters/notesMaster1.xml" Id="R9c116c65ab544d96"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042fa12b6b6c408f" /><Relationship Type="http://schemas.openxmlformats.org/officeDocument/2006/relationships/notesMaster" Target="/ppt/notesMasters/notesMaster1.xml" Id="Rc12cf11b61c7487f"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bc21a420815c4d45" /><Relationship Type="http://schemas.openxmlformats.org/officeDocument/2006/relationships/notesMaster" Target="/ppt/notesMasters/notesMaster1.xml" Id="R5736ecd635a44503"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e23b9b940c6a408c" /><Relationship Type="http://schemas.openxmlformats.org/officeDocument/2006/relationships/notesMaster" Target="/ppt/notesMasters/notesMaster1.xml" Id="Rb3cb610d10944621"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7dec279463c24829" /><Relationship Type="http://schemas.openxmlformats.org/officeDocument/2006/relationships/notesMaster" Target="/ppt/notesMasters/notesMaster1.xml" Id="R65d4d12174df4ec3"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a8ff517e3860440f" /><Relationship Type="http://schemas.openxmlformats.org/officeDocument/2006/relationships/notesMaster" Target="/ppt/notesMasters/notesMaster1.xml" Id="R0bc5960bb8014225"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4be470719a014a7d" /><Relationship Type="http://schemas.openxmlformats.org/officeDocument/2006/relationships/notesMaster" Target="/ppt/notesMasters/notesMaster1.xml" Id="R05b20ca7a833446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d20b66931ab46c8"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0fbe47280972490f" /><Relationship Type="http://schemas.openxmlformats.org/officeDocument/2006/relationships/slideLayout" Target="/ppt/slideLayouts/slideLayout1.xml" Id="R5b95051b2687426e"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b95051b2687426e"/>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ec58d10f9da04914" /><Relationship Type="http://schemas.openxmlformats.org/officeDocument/2006/relationships/notesSlide" Target="/ppt/notesSlides/notesSlide1.xml" Id="R6c70ff8c144a4362"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b8d5b9a7c3124f92" /><Relationship Type="http://schemas.openxmlformats.org/officeDocument/2006/relationships/notesSlide" Target="/ppt/notesSlides/notesSlide2.xml" Id="Rb906b70a56c74f85"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79d21a883f934eed" /><Relationship Type="http://schemas.openxmlformats.org/officeDocument/2006/relationships/notesSlide" Target="/ppt/notesSlides/notesSlide3.xml" Id="Rf086d150178e4157"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a3d4a0a80dfa48ef" /><Relationship Type="http://schemas.openxmlformats.org/officeDocument/2006/relationships/notesSlide" Target="/ppt/notesSlides/notesSlide4.xml" Id="Rd91e1307d57d4416"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82a0a52bf3454672" /><Relationship Type="http://schemas.openxmlformats.org/officeDocument/2006/relationships/notesSlide" Target="/ppt/notesSlides/notesSlide5.xml" Id="R885503e58cfb4209"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84898b8b27db4011" /><Relationship Type="http://schemas.openxmlformats.org/officeDocument/2006/relationships/notesSlide" Target="/ppt/notesSlides/notesSlide6.xml" Id="R0478fd61d4ba4e90"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ed16c172ee754333" /><Relationship Type="http://schemas.openxmlformats.org/officeDocument/2006/relationships/notesSlide" Target="/ppt/notesSlides/notesSlide7.xml" Id="R23588faf04d64d6b"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7c40359a7c36494e" /><Relationship Type="http://schemas.openxmlformats.org/officeDocument/2006/relationships/notesSlide" Target="/ppt/notesSlides/notesSlide8.xml" Id="Rcf360e581f524eb3"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748e47cae5094b83" /><Relationship Type="http://schemas.openxmlformats.org/officeDocument/2006/relationships/notesSlide" Target="/ppt/notesSlides/notesSlide9.xml" Id="R9d9e13b99d9a4c81"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cdd6a59066e84acf" /><Relationship Type="http://schemas.openxmlformats.org/officeDocument/2006/relationships/notesSlide" Target="/ppt/notesSlides/notesSlide10.xml" Id="R8fd5d18d4f354be9"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d5f875d10d214f51" /><Relationship Type="http://schemas.openxmlformats.org/officeDocument/2006/relationships/notesSlide" Target="/ppt/notesSlides/notesSlide11.xml" Id="Rd6b521c463be4cc9"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0ee646bf1db64f04" /><Relationship Type="http://schemas.openxmlformats.org/officeDocument/2006/relationships/image" Target="/ppt/media/image.png" Id="Rcece4ccee2524eb8" /><Relationship Type="http://schemas.openxmlformats.org/officeDocument/2006/relationships/notesSlide" Target="/ppt/notesSlides/notesSlide12.xml" Id="Re54c27ecc3c9403d"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f1de358ce5704801" /><Relationship Type="http://schemas.openxmlformats.org/officeDocument/2006/relationships/image" Target="/ppt/media/image2.png" Id="R7e773a7d53f04a10" /><Relationship Type="http://schemas.openxmlformats.org/officeDocument/2006/relationships/image" Target="/ppt/media/image3.png" Id="R0dc6fafee0294e87" /><Relationship Type="http://schemas.openxmlformats.org/officeDocument/2006/relationships/notesSlide" Target="/ppt/notesSlides/notesSlide13.xml" Id="R2f5a8d41e6d3495a"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59a70c96622d45a0" /><Relationship Type="http://schemas.openxmlformats.org/officeDocument/2006/relationships/image" Target="/ppt/media/image4.png" Id="R0444fe9b30724562" /><Relationship Type="http://schemas.openxmlformats.org/officeDocument/2006/relationships/notesSlide" Target="/ppt/notesSlides/notesSlide14.xml" Id="Rf6fc51f7b9204338"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7cc0b17c814248e4" /><Relationship Type="http://schemas.openxmlformats.org/officeDocument/2006/relationships/notesSlide" Target="/ppt/notesSlides/notesSlide15.xml" Id="Rcd7367a27aa7463c"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6F98EF5A-B381-414A-99C2-78DF7DCBEF0B}"/>
              </a:ext>
            </a:extLst>
          </p:cNvPr>
          <p:cNvSpPr>
            <a:spLocks xmlns:a="http://schemas.openxmlformats.org/drawingml/2006/main" noGrp="1"/>
          </p:cNvSpPr>
          <p:nvPr/>
        </p:nvSpPr>
        <p:spPr>
          <a:xfrm xmlns:a="http://schemas.openxmlformats.org/drawingml/2006/main">
            <a:off x="685800" y="57150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050" b="1">
                <a:solidFill>
                  <a:srgbClr val="2563EB"/>
                </a:solidFill>
              </a:defRPr>
            </a:pPr>
            <a:r>
              <a:rPr sz="1050" b="1">
                <a:solidFill>
                  <a:srgbClr val="2563EB"/>
                </a:solidFill>
              </a:rPr>
              <a:t>GEN5.3 PLANNING BRIEF</a:t>
            </a:r>
          </a:p>
        </p:txBody>
      </p:sp>
      <p:sp>
        <p:nvSpPr>
          <p:cNvPr id="2" name="">
            <a:extLst xmlns:a="http://schemas.openxmlformats.org/drawingml/2006/main">
              <a:ext uri="{FF2B5EF4-FFF2-40B4-BE49-F238E27FC236}">
                <a16:creationId xmlns:a16="http://schemas.microsoft.com/office/drawing/2014/main" id="{FC039AD9-C8B3-4330-8111-D235328ADBD4}"/>
              </a:ext>
            </a:extLst>
          </p:cNvPr>
          <p:cNvSpPr>
            <a:spLocks xmlns:a="http://schemas.openxmlformats.org/drawingml/2006/main" noGrp="1"/>
          </p:cNvSpPr>
          <p:nvPr/>
        </p:nvSpPr>
        <p:spPr>
          <a:xfrm xmlns:a="http://schemas.openxmlformats.org/drawingml/2006/main">
            <a:off x="685800" y="1257300"/>
            <a:ext cx="7810500" cy="1162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4050" b="1">
                <a:solidFill>
                  <a:srgbClr val="111827"/>
                </a:solidFill>
              </a:defRPr>
            </a:pPr>
            <a:r>
              <a:rPr sz="4050" b="1">
                <a:solidFill>
                  <a:srgbClr val="111827"/>
                </a:solidFill>
              </a:rPr>
              <a:t>Bullish Momentum Specialist</a:t>
            </a:r>
          </a:p>
        </p:txBody>
      </p:sp>
      <p:sp>
        <p:nvSpPr>
          <p:cNvPr id="3" name="">
            <a:extLst xmlns:a="http://schemas.openxmlformats.org/drawingml/2006/main">
              <a:ext uri="{FF2B5EF4-FFF2-40B4-BE49-F238E27FC236}">
                <a16:creationId xmlns:a16="http://schemas.microsoft.com/office/drawing/2014/main" id="{3770F7E4-0F7F-4277-8F45-674746452F0C}"/>
              </a:ext>
            </a:extLst>
          </p:cNvPr>
          <p:cNvSpPr>
            <a:spLocks xmlns:a="http://schemas.openxmlformats.org/drawingml/2006/main" noGrp="1"/>
          </p:cNvSpPr>
          <p:nvPr/>
        </p:nvSpPr>
        <p:spPr>
          <a:xfrm xmlns:a="http://schemas.openxmlformats.org/drawingml/2006/main">
            <a:off x="723900" y="2686050"/>
            <a:ext cx="72390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800" b="0">
                <a:solidFill>
                  <a:srgbClr val="5B6472"/>
                </a:solidFill>
              </a:defRPr>
            </a:pPr>
            <a:r>
              <a:rPr sz="1800" b="0">
                <a:solidFill>
                  <a:srgbClr val="5B6472"/>
                </a:solidFill>
              </a:rPr>
              <a:t>Narrow the PCA engine before expanding it: first test whether a high-beta bullish participation specialist can beat the simple act of holding strong assets.</a:t>
            </a:r>
          </a:p>
        </p:txBody>
      </p:sp>
      <p:sp>
        <p:nvSpPr>
          <p:cNvPr id="4" name="">
            <a:extLst xmlns:a="http://schemas.openxmlformats.org/drawingml/2006/main">
              <a:ext uri="{FF2B5EF4-FFF2-40B4-BE49-F238E27FC236}">
                <a16:creationId xmlns:a16="http://schemas.microsoft.com/office/drawing/2014/main" id="{A06B567C-6C3C-4EFF-9F02-05A001C2EC82}"/>
              </a:ext>
            </a:extLst>
          </p:cNvPr>
          <p:cNvSpPr>
            <a:spLocks xmlns:a="http://schemas.openxmlformats.org/drawingml/2006/main" noGrp="1"/>
          </p:cNvSpPr>
          <p:nvPr/>
        </p:nvSpPr>
        <p:spPr>
          <a:xfrm xmlns:a="http://schemas.openxmlformats.org/drawingml/2006/main">
            <a:off x="723900" y="4305300"/>
            <a:ext cx="9906000" cy="1009650"/>
          </a:xfrm>
          <a:prstGeom xmlns:a="http://schemas.openxmlformats.org/drawingml/2006/main" prst="roundRect">
            <a:avLst>
              <a:gd name="adj" fmla="val 7547"/>
            </a:avLst>
          </a:prstGeom>
          <a:solidFill xmlns:a="http://schemas.openxmlformats.org/drawingml/2006/main">
            <a:srgbClr val="EEF6FF"/>
          </a:solidFill>
          <a:ln xmlns:a="http://schemas.openxmlformats.org/drawingml/2006/main" w="9525">
            <a:solidFill>
              <a:srgbClr val="B7D5FF"/>
            </a:solidFill>
            <a:prstDash val="solid"/>
          </a:ln>
        </p:spPr>
      </p:sp>
      <p:sp>
        <p:nvSpPr>
          <p:cNvPr id="5" name="">
            <a:extLst xmlns:a="http://schemas.openxmlformats.org/drawingml/2006/main">
              <a:ext uri="{FF2B5EF4-FFF2-40B4-BE49-F238E27FC236}">
                <a16:creationId xmlns:a16="http://schemas.microsoft.com/office/drawing/2014/main" id="{28042FE7-DD9D-458B-B692-203E36EC8C90}"/>
              </a:ext>
            </a:extLst>
          </p:cNvPr>
          <p:cNvSpPr>
            <a:spLocks xmlns:a="http://schemas.openxmlformats.org/drawingml/2006/main" noGrp="1"/>
          </p:cNvSpPr>
          <p:nvPr/>
        </p:nvSpPr>
        <p:spPr>
          <a:xfrm xmlns:a="http://schemas.openxmlformats.org/drawingml/2006/main">
            <a:off x="1009650" y="4533900"/>
            <a:ext cx="1524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350" b="1">
                <a:solidFill>
                  <a:srgbClr val="2563EB"/>
                </a:solidFill>
              </a:defRPr>
            </a:pPr>
            <a:r>
              <a:rPr sz="1350" b="1">
                <a:solidFill>
                  <a:srgbClr val="2563EB"/>
                </a:solidFill>
              </a:rPr>
              <a:t>Core shift</a:t>
            </a:r>
          </a:p>
        </p:txBody>
      </p:sp>
      <p:sp>
        <p:nvSpPr>
          <p:cNvPr id="6" name="">
            <a:extLst xmlns:a="http://schemas.openxmlformats.org/drawingml/2006/main">
              <a:ext uri="{FF2B5EF4-FFF2-40B4-BE49-F238E27FC236}">
                <a16:creationId xmlns:a16="http://schemas.microsoft.com/office/drawing/2014/main" id="{EC883CD1-4018-4B0E-A0B5-92DAA87B2BA1}"/>
              </a:ext>
            </a:extLst>
          </p:cNvPr>
          <p:cNvSpPr>
            <a:spLocks xmlns:a="http://schemas.openxmlformats.org/drawingml/2006/main" noGrp="1"/>
          </p:cNvSpPr>
          <p:nvPr/>
        </p:nvSpPr>
        <p:spPr>
          <a:xfrm xmlns:a="http://schemas.openxmlformats.org/drawingml/2006/main">
            <a:off x="2476500" y="4476750"/>
            <a:ext cx="7715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725" b="0">
                <a:solidFill>
                  <a:srgbClr val="111827"/>
                </a:solidFill>
              </a:defRPr>
            </a:pPr>
            <a:r>
              <a:rPr sz="1725" b="0">
                <a:solidFill>
                  <a:srgbClr val="111827"/>
                </a:solidFill>
              </a:rPr>
              <a:t>Use PCA less as a universal market-regime oracle and more as a participation filter around a narrow momentum hypothesis set.</a:t>
            </a:r>
          </a:p>
        </p:txBody>
      </p:sp>
      <p:sp>
        <p:nvSpPr>
          <p:cNvPr id="7" name="">
            <a:extLst xmlns:a="http://schemas.openxmlformats.org/drawingml/2006/main">
              <a:ext uri="{FF2B5EF4-FFF2-40B4-BE49-F238E27FC236}">
                <a16:creationId xmlns:a16="http://schemas.microsoft.com/office/drawing/2014/main" id="{583DC855-5C08-4600-B7D8-38B64FBA910C}"/>
              </a:ext>
            </a:extLst>
          </p:cNvPr>
          <p:cNvSpPr>
            <a:spLocks xmlns:a="http://schemas.openxmlformats.org/drawingml/2006/main" noGrp="1"/>
          </p:cNvSpPr>
          <p:nvPr/>
        </p:nvSpPr>
        <p:spPr>
          <a:xfrm xmlns:a="http://schemas.openxmlformats.org/drawingml/2006/main">
            <a:off x="723900" y="6115050"/>
            <a:ext cx="7048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125" b="0">
                <a:solidFill>
                  <a:srgbClr val="5B6472"/>
                </a:solidFill>
              </a:defRPr>
            </a:pPr>
            <a:r>
              <a:rPr sz="1125" b="0">
                <a:solidFill>
                  <a:srgbClr val="5B6472"/>
                </a:solidFill>
              </a:rPr>
              <a:t>Research only. Not allocation evidence or live-execution approval.</a:t>
            </a:r>
          </a:p>
        </p:txBody>
      </p:sp>
    </p:spTree>
    <p:extLst>
      <p:ext uri="{BB962C8B-B14F-4D97-AF65-F5344CB8AC3E}">
        <p14:creationId xmlns:p14="http://schemas.microsoft.com/office/powerpoint/2010/main" val="248369817"/>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328FF8E6-D83B-4405-A555-B98A546ABB54}"/>
              </a:ext>
            </a:extLst>
          </p:cNvPr>
          <p:cNvSpPr>
            <a:spLocks xmlns:a="http://schemas.openxmlformats.org/drawingml/2006/main" noGrp="1"/>
          </p:cNvSpPr>
          <p:nvPr/>
        </p:nvSpPr>
        <p:spPr>
          <a:xfrm xmlns:a="http://schemas.openxmlformats.org/drawingml/2006/main">
            <a:off x="609600" y="304800"/>
            <a:ext cx="5334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975" b="1">
                <a:solidFill>
                  <a:srgbClr val="2563EB"/>
                </a:solidFill>
              </a:defRPr>
            </a:pPr>
            <a:r>
              <a:rPr sz="975" b="1">
                <a:solidFill>
                  <a:srgbClr val="2563EB"/>
                </a:solidFill>
              </a:rPr>
              <a:t>GEN5.3 PCA RESEARCH PIVOT</a:t>
            </a:r>
          </a:p>
        </p:txBody>
      </p:sp>
      <p:sp>
        <p:nvSpPr>
          <p:cNvPr id="2" name="">
            <a:extLst xmlns:a="http://schemas.openxmlformats.org/drawingml/2006/main">
              <a:ext uri="{FF2B5EF4-FFF2-40B4-BE49-F238E27FC236}">
                <a16:creationId xmlns:a16="http://schemas.microsoft.com/office/drawing/2014/main" id="{5E1365D7-F409-4531-A096-D14E1A1AD074}"/>
              </a:ext>
            </a:extLst>
          </p:cNvPr>
          <p:cNvSpPr>
            <a:spLocks xmlns:a="http://schemas.openxmlformats.org/drawingml/2006/main" noGrp="1"/>
          </p:cNvSpPr>
          <p:nvPr/>
        </p:nvSpPr>
        <p:spPr>
          <a:xfrm xmlns:a="http://schemas.openxmlformats.org/drawingml/2006/main">
            <a:off x="609600" y="647700"/>
            <a:ext cx="9334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2775" b="1">
                <a:solidFill>
                  <a:srgbClr val="111827"/>
                </a:solidFill>
              </a:defRPr>
            </a:pPr>
            <a:r>
              <a:rPr sz="2775" b="1">
                <a:solidFill>
                  <a:srgbClr val="111827"/>
                </a:solidFill>
              </a:rPr>
              <a:t>The broad engine is asking one PCA layer to solve too many market types</a:t>
            </a:r>
          </a:p>
        </p:txBody>
      </p:sp>
      <p:sp>
        <p:nvSpPr>
          <p:cNvPr id="3" name="">
            <a:extLst xmlns:a="http://schemas.openxmlformats.org/drawingml/2006/main">
              <a:ext uri="{FF2B5EF4-FFF2-40B4-BE49-F238E27FC236}">
                <a16:creationId xmlns:a16="http://schemas.microsoft.com/office/drawing/2014/main" id="{EFC11BF5-9506-4BFC-A0D3-F891091B86FF}"/>
              </a:ext>
            </a:extLst>
          </p:cNvPr>
          <p:cNvSpPr>
            <a:spLocks xmlns:a="http://schemas.openxmlformats.org/drawingml/2006/main" noGrp="1"/>
          </p:cNvSpPr>
          <p:nvPr/>
        </p:nvSpPr>
        <p:spPr>
          <a:xfrm xmlns:a="http://schemas.openxmlformats.org/drawingml/2006/main">
            <a:off x="609600" y="1485900"/>
            <a:ext cx="10572750" cy="9525"/>
          </a:xfrm>
          <a:prstGeom xmlns:a="http://schemas.openxmlformats.org/drawingml/2006/main" prst="rect">
            <a:avLst/>
          </a:prstGeom>
          <a:solidFill xmlns:a="http://schemas.openxmlformats.org/drawingml/2006/main">
            <a:srgbClr val="CBD3DD"/>
          </a:solidFill>
          <a:ln xmlns:a="http://schemas.openxmlformats.org/drawingml/2006/main" w="0">
            <a:solidFill>
              <a:srgbClr val="CBD3DD"/>
            </a:solidFill>
            <a:prstDash val="solid"/>
          </a:ln>
        </p:spPr>
      </p:sp>
      <p:sp>
        <p:nvSpPr>
          <p:cNvPr id="4" name="">
            <a:extLst xmlns:a="http://schemas.openxmlformats.org/drawingml/2006/main">
              <a:ext uri="{FF2B5EF4-FFF2-40B4-BE49-F238E27FC236}">
                <a16:creationId xmlns:a16="http://schemas.microsoft.com/office/drawing/2014/main" id="{23CBCC1E-2FB6-4BAF-8CA6-32B4034A528C}"/>
              </a:ext>
            </a:extLst>
          </p:cNvPr>
          <p:cNvSpPr>
            <a:spLocks xmlns:a="http://schemas.openxmlformats.org/drawingml/2006/main" noGrp="1"/>
          </p:cNvSpPr>
          <p:nvPr/>
        </p:nvSpPr>
        <p:spPr>
          <a:xfrm xmlns:a="http://schemas.openxmlformats.org/drawingml/2006/main">
            <a:off x="723900" y="1962150"/>
            <a:ext cx="4857750" cy="3028950"/>
          </a:xfrm>
          <a:prstGeom xmlns:a="http://schemas.openxmlformats.org/drawingml/2006/main" prst="roundRect">
            <a:avLst>
              <a:gd name="adj" fmla="val 2516"/>
            </a:avLst>
          </a:prstGeom>
          <a:solidFill xmlns:a="http://schemas.openxmlformats.org/drawingml/2006/main">
            <a:srgbClr val="FFF7ED"/>
          </a:solidFill>
          <a:ln xmlns:a="http://schemas.openxmlformats.org/drawingml/2006/main" w="9525">
            <a:solidFill>
              <a:srgbClr val="F2C48D"/>
            </a:solidFill>
            <a:prstDash val="solid"/>
          </a:ln>
        </p:spPr>
      </p:sp>
      <p:sp>
        <p:nvSpPr>
          <p:cNvPr id="5" name="">
            <a:extLst xmlns:a="http://schemas.openxmlformats.org/drawingml/2006/main">
              <a:ext uri="{FF2B5EF4-FFF2-40B4-BE49-F238E27FC236}">
                <a16:creationId xmlns:a16="http://schemas.microsoft.com/office/drawing/2014/main" id="{0C2684B6-2253-425B-A88E-BEA6E1E58188}"/>
              </a:ext>
            </a:extLst>
          </p:cNvPr>
          <p:cNvSpPr>
            <a:spLocks xmlns:a="http://schemas.openxmlformats.org/drawingml/2006/main" noGrp="1"/>
          </p:cNvSpPr>
          <p:nvPr/>
        </p:nvSpPr>
        <p:spPr>
          <a:xfrm xmlns:a="http://schemas.openxmlformats.org/drawingml/2006/main">
            <a:off x="990600" y="2209800"/>
            <a:ext cx="3619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800" b="1">
                <a:solidFill>
                  <a:srgbClr val="D97706"/>
                </a:solidFill>
              </a:defRPr>
            </a:pPr>
            <a:r>
              <a:rPr sz="1800" b="1">
                <a:solidFill>
                  <a:srgbClr val="D97706"/>
                </a:solidFill>
              </a:rPr>
              <a:t>Current broad ambition</a:t>
            </a:r>
          </a:p>
        </p:txBody>
      </p:sp>
      <p:sp>
        <p:nvSpPr>
          <p:cNvPr id="6" name="">
            <a:extLst xmlns:a="http://schemas.openxmlformats.org/drawingml/2006/main">
              <a:ext uri="{FF2B5EF4-FFF2-40B4-BE49-F238E27FC236}">
                <a16:creationId xmlns:a16="http://schemas.microsoft.com/office/drawing/2014/main" id="{5BD07B27-8C0D-454F-9305-18BF295904EA}"/>
              </a:ext>
            </a:extLst>
          </p:cNvPr>
          <p:cNvSpPr>
            <a:spLocks xmlns:a="http://schemas.openxmlformats.org/drawingml/2006/main" noGrp="1"/>
          </p:cNvSpPr>
          <p:nvPr/>
        </p:nvSpPr>
        <p:spPr>
          <a:xfrm xmlns:a="http://schemas.openxmlformats.org/drawingml/2006/main">
            <a:off x="1028700" y="2847975"/>
            <a:ext cx="76200" cy="76200"/>
          </a:xfrm>
          <a:prstGeom xmlns:a="http://schemas.openxmlformats.org/drawingml/2006/main" prst="ellipse">
            <a:avLst/>
          </a:prstGeom>
          <a:solidFill xmlns:a="http://schemas.openxmlformats.org/drawingml/2006/main">
            <a:srgbClr val="D97706"/>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6AC0D855-EA92-4A53-A23E-D0AE47EE410B}"/>
              </a:ext>
            </a:extLst>
          </p:cNvPr>
          <p:cNvSpPr>
            <a:spLocks xmlns:a="http://schemas.openxmlformats.org/drawingml/2006/main" noGrp="1"/>
          </p:cNvSpPr>
          <p:nvPr/>
        </p:nvSpPr>
        <p:spPr>
          <a:xfrm xmlns:a="http://schemas.openxmlformats.org/drawingml/2006/main">
            <a:off x="1238250" y="2762250"/>
            <a:ext cx="37909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425" b="0">
                <a:solidFill>
                  <a:srgbClr val="111827"/>
                </a:solidFill>
              </a:defRPr>
            </a:pPr>
            <a:r>
              <a:rPr sz="1425" b="0">
                <a:solidFill>
                  <a:srgbClr val="111827"/>
                </a:solidFill>
              </a:rPr>
              <a:t>Dynamic bull markets</a:t>
            </a:r>
          </a:p>
        </p:txBody>
      </p:sp>
      <p:sp>
        <p:nvSpPr>
          <p:cNvPr id="8" name="">
            <a:extLst xmlns:a="http://schemas.openxmlformats.org/drawingml/2006/main">
              <a:ext uri="{FF2B5EF4-FFF2-40B4-BE49-F238E27FC236}">
                <a16:creationId xmlns:a16="http://schemas.microsoft.com/office/drawing/2014/main" id="{E7AE89B0-6763-411A-962D-DAC9B1DD35DC}"/>
              </a:ext>
            </a:extLst>
          </p:cNvPr>
          <p:cNvSpPr>
            <a:spLocks xmlns:a="http://schemas.openxmlformats.org/drawingml/2006/main" noGrp="1"/>
          </p:cNvSpPr>
          <p:nvPr/>
        </p:nvSpPr>
        <p:spPr>
          <a:xfrm xmlns:a="http://schemas.openxmlformats.org/drawingml/2006/main">
            <a:off x="1028700" y="3143250"/>
            <a:ext cx="76200" cy="76200"/>
          </a:xfrm>
          <a:prstGeom xmlns:a="http://schemas.openxmlformats.org/drawingml/2006/main" prst="ellipse">
            <a:avLst/>
          </a:prstGeom>
          <a:solidFill xmlns:a="http://schemas.openxmlformats.org/drawingml/2006/main">
            <a:srgbClr val="D97706"/>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D1282CFA-05F3-4C2E-9DA1-20955CE056C7}"/>
              </a:ext>
            </a:extLst>
          </p:cNvPr>
          <p:cNvSpPr>
            <a:spLocks xmlns:a="http://schemas.openxmlformats.org/drawingml/2006/main" noGrp="1"/>
          </p:cNvSpPr>
          <p:nvPr/>
        </p:nvSpPr>
        <p:spPr>
          <a:xfrm xmlns:a="http://schemas.openxmlformats.org/drawingml/2006/main">
            <a:off x="1238250" y="3057525"/>
            <a:ext cx="37909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425" b="0">
                <a:solidFill>
                  <a:srgbClr val="111827"/>
                </a:solidFill>
              </a:defRPr>
            </a:pPr>
            <a:r>
              <a:rPr sz="1425" b="0">
                <a:solidFill>
                  <a:srgbClr val="111827"/>
                </a:solidFill>
              </a:rPr>
              <a:t>Quiet bull markets</a:t>
            </a:r>
          </a:p>
        </p:txBody>
      </p:sp>
      <p:sp>
        <p:nvSpPr>
          <p:cNvPr id="10" name="">
            <a:extLst xmlns:a="http://schemas.openxmlformats.org/drawingml/2006/main">
              <a:ext uri="{FF2B5EF4-FFF2-40B4-BE49-F238E27FC236}">
                <a16:creationId xmlns:a16="http://schemas.microsoft.com/office/drawing/2014/main" id="{9111C6D0-2A2C-4903-85DF-930E225AC291}"/>
              </a:ext>
            </a:extLst>
          </p:cNvPr>
          <p:cNvSpPr>
            <a:spLocks xmlns:a="http://schemas.openxmlformats.org/drawingml/2006/main" noGrp="1"/>
          </p:cNvSpPr>
          <p:nvPr/>
        </p:nvSpPr>
        <p:spPr>
          <a:xfrm xmlns:a="http://schemas.openxmlformats.org/drawingml/2006/main">
            <a:off x="1028700" y="3438525"/>
            <a:ext cx="76200" cy="76200"/>
          </a:xfrm>
          <a:prstGeom xmlns:a="http://schemas.openxmlformats.org/drawingml/2006/main" prst="ellipse">
            <a:avLst/>
          </a:prstGeom>
          <a:solidFill xmlns:a="http://schemas.openxmlformats.org/drawingml/2006/main">
            <a:srgbClr val="D97706"/>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2A83B4D2-EA5F-4533-9C7D-2019757ACDB3}"/>
              </a:ext>
            </a:extLst>
          </p:cNvPr>
          <p:cNvSpPr>
            <a:spLocks xmlns:a="http://schemas.openxmlformats.org/drawingml/2006/main" noGrp="1"/>
          </p:cNvSpPr>
          <p:nvPr/>
        </p:nvSpPr>
        <p:spPr>
          <a:xfrm xmlns:a="http://schemas.openxmlformats.org/drawingml/2006/main">
            <a:off x="1238250" y="3352800"/>
            <a:ext cx="37909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425" b="0">
                <a:solidFill>
                  <a:srgbClr val="111827"/>
                </a:solidFill>
              </a:defRPr>
            </a:pPr>
            <a:r>
              <a:rPr sz="1425" b="0">
                <a:solidFill>
                  <a:srgbClr val="111827"/>
                </a:solidFill>
              </a:rPr>
              <a:t>Sideways mean reversion</a:t>
            </a:r>
          </a:p>
        </p:txBody>
      </p:sp>
      <p:sp>
        <p:nvSpPr>
          <p:cNvPr id="12" name="">
            <a:extLst xmlns:a="http://schemas.openxmlformats.org/drawingml/2006/main">
              <a:ext uri="{FF2B5EF4-FFF2-40B4-BE49-F238E27FC236}">
                <a16:creationId xmlns:a16="http://schemas.microsoft.com/office/drawing/2014/main" id="{D9D07C88-A9CE-4AC0-B67D-5DDE26961BE1}"/>
              </a:ext>
            </a:extLst>
          </p:cNvPr>
          <p:cNvSpPr>
            <a:spLocks xmlns:a="http://schemas.openxmlformats.org/drawingml/2006/main" noGrp="1"/>
          </p:cNvSpPr>
          <p:nvPr/>
        </p:nvSpPr>
        <p:spPr>
          <a:xfrm xmlns:a="http://schemas.openxmlformats.org/drawingml/2006/main">
            <a:off x="1028700" y="3733800"/>
            <a:ext cx="76200" cy="76200"/>
          </a:xfrm>
          <a:prstGeom xmlns:a="http://schemas.openxmlformats.org/drawingml/2006/main" prst="ellipse">
            <a:avLst/>
          </a:prstGeom>
          <a:solidFill xmlns:a="http://schemas.openxmlformats.org/drawingml/2006/main">
            <a:srgbClr val="D97706"/>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D29849F8-E7D0-4D3B-A3C8-426F9F9F6CE7}"/>
              </a:ext>
            </a:extLst>
          </p:cNvPr>
          <p:cNvSpPr>
            <a:spLocks xmlns:a="http://schemas.openxmlformats.org/drawingml/2006/main" noGrp="1"/>
          </p:cNvSpPr>
          <p:nvPr/>
        </p:nvSpPr>
        <p:spPr>
          <a:xfrm xmlns:a="http://schemas.openxmlformats.org/drawingml/2006/main">
            <a:off x="1238250" y="3648075"/>
            <a:ext cx="37909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425" b="0">
                <a:solidFill>
                  <a:srgbClr val="111827"/>
                </a:solidFill>
              </a:defRPr>
            </a:pPr>
            <a:r>
              <a:rPr sz="1425" b="0">
                <a:solidFill>
                  <a:srgbClr val="111827"/>
                </a:solidFill>
              </a:rPr>
              <a:t>Turbulent ranges and breakouts</a:t>
            </a:r>
          </a:p>
        </p:txBody>
      </p:sp>
      <p:sp>
        <p:nvSpPr>
          <p:cNvPr id="14" name="">
            <a:extLst xmlns:a="http://schemas.openxmlformats.org/drawingml/2006/main">
              <a:ext uri="{FF2B5EF4-FFF2-40B4-BE49-F238E27FC236}">
                <a16:creationId xmlns:a16="http://schemas.microsoft.com/office/drawing/2014/main" id="{EB70C62B-ED73-4B23-8FE7-01ADD6864356}"/>
              </a:ext>
            </a:extLst>
          </p:cNvPr>
          <p:cNvSpPr>
            <a:spLocks xmlns:a="http://schemas.openxmlformats.org/drawingml/2006/main" noGrp="1"/>
          </p:cNvSpPr>
          <p:nvPr/>
        </p:nvSpPr>
        <p:spPr>
          <a:xfrm xmlns:a="http://schemas.openxmlformats.org/drawingml/2006/main">
            <a:off x="1028700" y="4029075"/>
            <a:ext cx="76200" cy="76200"/>
          </a:xfrm>
          <a:prstGeom xmlns:a="http://schemas.openxmlformats.org/drawingml/2006/main" prst="ellipse">
            <a:avLst/>
          </a:prstGeom>
          <a:solidFill xmlns:a="http://schemas.openxmlformats.org/drawingml/2006/main">
            <a:srgbClr val="D97706"/>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BC76EB12-5333-4389-AD33-E14A04D35874}"/>
              </a:ext>
            </a:extLst>
          </p:cNvPr>
          <p:cNvSpPr>
            <a:spLocks xmlns:a="http://schemas.openxmlformats.org/drawingml/2006/main" noGrp="1"/>
          </p:cNvSpPr>
          <p:nvPr/>
        </p:nvSpPr>
        <p:spPr>
          <a:xfrm xmlns:a="http://schemas.openxmlformats.org/drawingml/2006/main">
            <a:off x="1238250" y="3943350"/>
            <a:ext cx="37909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425" b="0">
                <a:solidFill>
                  <a:srgbClr val="111827"/>
                </a:solidFill>
              </a:defRPr>
            </a:pPr>
            <a:r>
              <a:rPr sz="1425" b="0">
                <a:solidFill>
                  <a:srgbClr val="111827"/>
                </a:solidFill>
              </a:rPr>
              <a:t>Rallies inside downtrends</a:t>
            </a:r>
          </a:p>
        </p:txBody>
      </p:sp>
      <p:sp>
        <p:nvSpPr>
          <p:cNvPr id="16" name="">
            <a:extLst xmlns:a="http://schemas.openxmlformats.org/drawingml/2006/main">
              <a:ext uri="{FF2B5EF4-FFF2-40B4-BE49-F238E27FC236}">
                <a16:creationId xmlns:a16="http://schemas.microsoft.com/office/drawing/2014/main" id="{C7BD721F-4884-41ED-932D-22326F78C2DF}"/>
              </a:ext>
            </a:extLst>
          </p:cNvPr>
          <p:cNvSpPr>
            <a:spLocks xmlns:a="http://schemas.openxmlformats.org/drawingml/2006/main" noGrp="1"/>
          </p:cNvSpPr>
          <p:nvPr/>
        </p:nvSpPr>
        <p:spPr>
          <a:xfrm xmlns:a="http://schemas.openxmlformats.org/drawingml/2006/main">
            <a:off x="6305550" y="1962150"/>
            <a:ext cx="4629150" cy="3028950"/>
          </a:xfrm>
          <a:prstGeom xmlns:a="http://schemas.openxmlformats.org/drawingml/2006/main" prst="roundRect">
            <a:avLst>
              <a:gd name="adj" fmla="val 2516"/>
            </a:avLst>
          </a:prstGeom>
          <a:solidFill xmlns:a="http://schemas.openxmlformats.org/drawingml/2006/main">
            <a:srgbClr val="F3F4F6"/>
          </a:solidFill>
          <a:ln xmlns:a="http://schemas.openxmlformats.org/drawingml/2006/main" w="9525">
            <a:solidFill>
              <a:srgbClr val="D1D5DB"/>
            </a:solidFill>
            <a:prstDash val="solid"/>
          </a:ln>
        </p:spPr>
      </p:sp>
      <p:sp>
        <p:nvSpPr>
          <p:cNvPr id="17" name="">
            <a:extLst xmlns:a="http://schemas.openxmlformats.org/drawingml/2006/main">
              <a:ext uri="{FF2B5EF4-FFF2-40B4-BE49-F238E27FC236}">
                <a16:creationId xmlns:a16="http://schemas.microsoft.com/office/drawing/2014/main" id="{36FF9AFC-9A22-4808-B60D-DF254FC7A2DA}"/>
              </a:ext>
            </a:extLst>
          </p:cNvPr>
          <p:cNvSpPr>
            <a:spLocks xmlns:a="http://schemas.openxmlformats.org/drawingml/2006/main" noGrp="1"/>
          </p:cNvSpPr>
          <p:nvPr/>
        </p:nvSpPr>
        <p:spPr>
          <a:xfrm xmlns:a="http://schemas.openxmlformats.org/drawingml/2006/main">
            <a:off x="6572250" y="2209800"/>
            <a:ext cx="3429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800" b="1">
                <a:solidFill>
                  <a:srgbClr val="111827"/>
                </a:solidFill>
              </a:defRPr>
            </a:pPr>
            <a:r>
              <a:rPr sz="1800" b="1">
                <a:solidFill>
                  <a:srgbClr val="111827"/>
                </a:solidFill>
              </a:rPr>
              <a:t>Observed bottleneck</a:t>
            </a:r>
          </a:p>
        </p:txBody>
      </p:sp>
      <p:sp>
        <p:nvSpPr>
          <p:cNvPr id="18" name="">
            <a:extLst xmlns:a="http://schemas.openxmlformats.org/drawingml/2006/main">
              <a:ext uri="{FF2B5EF4-FFF2-40B4-BE49-F238E27FC236}">
                <a16:creationId xmlns:a16="http://schemas.microsoft.com/office/drawing/2014/main" id="{A8310CD2-55B2-4616-9518-9DE090A0089B}"/>
              </a:ext>
            </a:extLst>
          </p:cNvPr>
          <p:cNvSpPr>
            <a:spLocks xmlns:a="http://schemas.openxmlformats.org/drawingml/2006/main" noGrp="1"/>
          </p:cNvSpPr>
          <p:nvPr/>
        </p:nvSpPr>
        <p:spPr>
          <a:xfrm xmlns:a="http://schemas.openxmlformats.org/drawingml/2006/main">
            <a:off x="6610350" y="2867025"/>
            <a:ext cx="76200" cy="76200"/>
          </a:xfrm>
          <a:prstGeom xmlns:a="http://schemas.openxmlformats.org/drawingml/2006/main" prst="ellipse">
            <a:avLst/>
          </a:prstGeom>
          <a:solidFill xmlns:a="http://schemas.openxmlformats.org/drawingml/2006/main">
            <a:srgbClr val="D1495B"/>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F8CEA906-35B5-4B9B-B8B9-DA4DD1E1E58B}"/>
              </a:ext>
            </a:extLst>
          </p:cNvPr>
          <p:cNvSpPr>
            <a:spLocks xmlns:a="http://schemas.openxmlformats.org/drawingml/2006/main" noGrp="1"/>
          </p:cNvSpPr>
          <p:nvPr/>
        </p:nvSpPr>
        <p:spPr>
          <a:xfrm xmlns:a="http://schemas.openxmlformats.org/drawingml/2006/main">
            <a:off x="6819900" y="2781300"/>
            <a:ext cx="35242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425" b="0">
                <a:solidFill>
                  <a:srgbClr val="111827"/>
                </a:solidFill>
              </a:defRPr>
            </a:pPr>
            <a:r>
              <a:rPr sz="1425" b="0">
                <a:solidFill>
                  <a:srgbClr val="111827"/>
                </a:solidFill>
              </a:rPr>
              <a:t>Positive tactical trades can still lag basket hold</a:t>
            </a:r>
          </a:p>
        </p:txBody>
      </p:sp>
      <p:sp>
        <p:nvSpPr>
          <p:cNvPr id="20" name="">
            <a:extLst xmlns:a="http://schemas.openxmlformats.org/drawingml/2006/main">
              <a:ext uri="{FF2B5EF4-FFF2-40B4-BE49-F238E27FC236}">
                <a16:creationId xmlns:a16="http://schemas.microsoft.com/office/drawing/2014/main" id="{15E2CF2B-F6CA-40F2-BB01-D92CD5F8E0B1}"/>
              </a:ext>
            </a:extLst>
          </p:cNvPr>
          <p:cNvSpPr>
            <a:spLocks xmlns:a="http://schemas.openxmlformats.org/drawingml/2006/main" noGrp="1"/>
          </p:cNvSpPr>
          <p:nvPr/>
        </p:nvSpPr>
        <p:spPr>
          <a:xfrm xmlns:a="http://schemas.openxmlformats.org/drawingml/2006/main">
            <a:off x="6610350" y="3162300"/>
            <a:ext cx="76200" cy="76200"/>
          </a:xfrm>
          <a:prstGeom xmlns:a="http://schemas.openxmlformats.org/drawingml/2006/main" prst="ellipse">
            <a:avLst/>
          </a:prstGeom>
          <a:solidFill xmlns:a="http://schemas.openxmlformats.org/drawingml/2006/main">
            <a:srgbClr val="D1495B"/>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2E5488E5-28F0-4A59-A675-4524D5D27CDA}"/>
              </a:ext>
            </a:extLst>
          </p:cNvPr>
          <p:cNvSpPr>
            <a:spLocks xmlns:a="http://schemas.openxmlformats.org/drawingml/2006/main" noGrp="1"/>
          </p:cNvSpPr>
          <p:nvPr/>
        </p:nvSpPr>
        <p:spPr>
          <a:xfrm xmlns:a="http://schemas.openxmlformats.org/drawingml/2006/main">
            <a:off x="6819900" y="3076575"/>
            <a:ext cx="35242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425" b="0">
                <a:solidFill>
                  <a:srgbClr val="111827"/>
                </a:solidFill>
              </a:defRPr>
            </a:pPr>
            <a:r>
              <a:rPr sz="1425" b="0">
                <a:solidFill>
                  <a:srgbClr val="111827"/>
                </a:solidFill>
              </a:rPr>
              <a:t>Upside windows expose underparticipation</a:t>
            </a:r>
          </a:p>
        </p:txBody>
      </p:sp>
      <p:sp>
        <p:nvSpPr>
          <p:cNvPr id="22" name="">
            <a:extLst xmlns:a="http://schemas.openxmlformats.org/drawingml/2006/main">
              <a:ext uri="{FF2B5EF4-FFF2-40B4-BE49-F238E27FC236}">
                <a16:creationId xmlns:a16="http://schemas.microsoft.com/office/drawing/2014/main" id="{8F521A85-9F51-40B2-8833-71C9CA86E429}"/>
              </a:ext>
            </a:extLst>
          </p:cNvPr>
          <p:cNvSpPr>
            <a:spLocks xmlns:a="http://schemas.openxmlformats.org/drawingml/2006/main" noGrp="1"/>
          </p:cNvSpPr>
          <p:nvPr/>
        </p:nvSpPr>
        <p:spPr>
          <a:xfrm xmlns:a="http://schemas.openxmlformats.org/drawingml/2006/main">
            <a:off x="6610350" y="3457575"/>
            <a:ext cx="76200" cy="76200"/>
          </a:xfrm>
          <a:prstGeom xmlns:a="http://schemas.openxmlformats.org/drawingml/2006/main" prst="ellipse">
            <a:avLst/>
          </a:prstGeom>
          <a:solidFill xmlns:a="http://schemas.openxmlformats.org/drawingml/2006/main">
            <a:srgbClr val="D1495B"/>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3D6ACFFC-5B4C-4EDB-A54D-91867088EF98}"/>
              </a:ext>
            </a:extLst>
          </p:cNvPr>
          <p:cNvSpPr>
            <a:spLocks xmlns:a="http://schemas.openxmlformats.org/drawingml/2006/main" noGrp="1"/>
          </p:cNvSpPr>
          <p:nvPr/>
        </p:nvSpPr>
        <p:spPr>
          <a:xfrm xmlns:a="http://schemas.openxmlformats.org/drawingml/2006/main">
            <a:off x="6819900" y="3371850"/>
            <a:ext cx="35242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425" b="0">
                <a:solidFill>
                  <a:srgbClr val="111827"/>
                </a:solidFill>
              </a:defRPr>
            </a:pPr>
            <a:r>
              <a:rPr sz="1425" b="0">
                <a:solidFill>
                  <a:srgbClr val="111827"/>
                </a:solidFill>
              </a:rPr>
              <a:t>Large strategy grids make interpretation noisy</a:t>
            </a:r>
          </a:p>
        </p:txBody>
      </p:sp>
      <p:sp>
        <p:nvSpPr>
          <p:cNvPr id="24" name="">
            <a:extLst xmlns:a="http://schemas.openxmlformats.org/drawingml/2006/main">
              <a:ext uri="{FF2B5EF4-FFF2-40B4-BE49-F238E27FC236}">
                <a16:creationId xmlns:a16="http://schemas.microsoft.com/office/drawing/2014/main" id="{16D254AB-9E55-43AA-9C1A-49C0AC122F98}"/>
              </a:ext>
            </a:extLst>
          </p:cNvPr>
          <p:cNvSpPr>
            <a:spLocks xmlns:a="http://schemas.openxmlformats.org/drawingml/2006/main" noGrp="1"/>
          </p:cNvSpPr>
          <p:nvPr/>
        </p:nvSpPr>
        <p:spPr>
          <a:xfrm xmlns:a="http://schemas.openxmlformats.org/drawingml/2006/main">
            <a:off x="6610350" y="3752850"/>
            <a:ext cx="76200" cy="76200"/>
          </a:xfrm>
          <a:prstGeom xmlns:a="http://schemas.openxmlformats.org/drawingml/2006/main" prst="ellipse">
            <a:avLst/>
          </a:prstGeom>
          <a:solidFill xmlns:a="http://schemas.openxmlformats.org/drawingml/2006/main">
            <a:srgbClr val="D1495B"/>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48FEC56D-EA8C-46DC-986B-33FDE0DA4726}"/>
              </a:ext>
            </a:extLst>
          </p:cNvPr>
          <p:cNvSpPr>
            <a:spLocks xmlns:a="http://schemas.openxmlformats.org/drawingml/2006/main" noGrp="1"/>
          </p:cNvSpPr>
          <p:nvPr/>
        </p:nvSpPr>
        <p:spPr>
          <a:xfrm xmlns:a="http://schemas.openxmlformats.org/drawingml/2006/main">
            <a:off x="6819900" y="3667125"/>
            <a:ext cx="35242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425" b="0">
                <a:solidFill>
                  <a:srgbClr val="111827"/>
                </a:solidFill>
              </a:defRPr>
            </a:pPr>
            <a:r>
              <a:rPr sz="1425" b="0">
                <a:solidFill>
                  <a:srgbClr val="111827"/>
                </a:solidFill>
              </a:rPr>
              <a:t>Feature quality is hard to judge through one universal score</a:t>
            </a:r>
          </a:p>
        </p:txBody>
      </p:sp>
      <p:sp>
        <p:nvSpPr>
          <p:cNvPr id="26" name="">
            <a:extLst xmlns:a="http://schemas.openxmlformats.org/drawingml/2006/main">
              <a:ext uri="{FF2B5EF4-FFF2-40B4-BE49-F238E27FC236}">
                <a16:creationId xmlns:a16="http://schemas.microsoft.com/office/drawing/2014/main" id="{F94F3288-20B9-4992-AA4E-78BE167EA700}"/>
              </a:ext>
            </a:extLst>
          </p:cNvPr>
          <p:cNvSpPr>
            <a:spLocks xmlns:a="http://schemas.openxmlformats.org/drawingml/2006/main" noGrp="1"/>
          </p:cNvSpPr>
          <p:nvPr/>
        </p:nvSpPr>
        <p:spPr>
          <a:xfrm xmlns:a="http://schemas.openxmlformats.org/drawingml/2006/main">
            <a:off x="971550" y="5581650"/>
            <a:ext cx="9906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75" b="1">
                <a:solidFill>
                  <a:srgbClr val="111827"/>
                </a:solidFill>
              </a:defRPr>
            </a:pPr>
            <a:r>
              <a:rPr sz="1875" b="1">
                <a:solidFill>
                  <a:srgbClr val="111827"/>
                </a:solidFill>
              </a:rPr>
              <a:t>The next useful question is not whether PCA can trade everything. It is whether PCA can help us participate better when the target opportunity is already defined.</a:t>
            </a:r>
          </a:p>
        </p:txBody>
      </p:sp>
    </p:spTree>
    <p:extLst>
      <p:ext uri="{BB962C8B-B14F-4D97-AF65-F5344CB8AC3E}">
        <p14:creationId xmlns:p14="http://schemas.microsoft.com/office/powerpoint/2010/main" val="608214803"/>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C15F214E-05B8-44B8-B819-18238C46B9AD}"/>
              </a:ext>
            </a:extLst>
          </p:cNvPr>
          <p:cNvSpPr>
            <a:spLocks xmlns:a="http://schemas.openxmlformats.org/drawingml/2006/main" noGrp="1"/>
          </p:cNvSpPr>
          <p:nvPr/>
        </p:nvSpPr>
        <p:spPr>
          <a:xfrm xmlns:a="http://schemas.openxmlformats.org/drawingml/2006/main">
            <a:off x="609600" y="304800"/>
            <a:ext cx="5334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975" b="1">
                <a:solidFill>
                  <a:srgbClr val="2563EB"/>
                </a:solidFill>
              </a:defRPr>
            </a:pPr>
            <a:r>
              <a:rPr sz="975" b="1">
                <a:solidFill>
                  <a:srgbClr val="2563EB"/>
                </a:solidFill>
              </a:rPr>
              <a:t>GEN5.3 PCA RESEARCH PIVOT</a:t>
            </a:r>
          </a:p>
        </p:txBody>
      </p:sp>
      <p:sp>
        <p:nvSpPr>
          <p:cNvPr id="2" name="">
            <a:extLst xmlns:a="http://schemas.openxmlformats.org/drawingml/2006/main">
              <a:ext uri="{FF2B5EF4-FFF2-40B4-BE49-F238E27FC236}">
                <a16:creationId xmlns:a16="http://schemas.microsoft.com/office/drawing/2014/main" id="{BD5B5437-3F2B-4BCD-A185-DC1300F2AD7D}"/>
              </a:ext>
            </a:extLst>
          </p:cNvPr>
          <p:cNvSpPr>
            <a:spLocks xmlns:a="http://schemas.openxmlformats.org/drawingml/2006/main" noGrp="1"/>
          </p:cNvSpPr>
          <p:nvPr/>
        </p:nvSpPr>
        <p:spPr>
          <a:xfrm xmlns:a="http://schemas.openxmlformats.org/drawingml/2006/main">
            <a:off x="609600" y="647700"/>
            <a:ext cx="9334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2775" b="1">
                <a:solidFill>
                  <a:srgbClr val="111827"/>
                </a:solidFill>
              </a:defRPr>
            </a:pPr>
            <a:r>
              <a:rPr sz="2775" b="1">
                <a:solidFill>
                  <a:srgbClr val="111827"/>
                </a:solidFill>
              </a:rPr>
              <a:t>The specialist narrows the mandate to bullish high-beta participation</a:t>
            </a:r>
          </a:p>
        </p:txBody>
      </p:sp>
      <p:sp>
        <p:nvSpPr>
          <p:cNvPr id="3" name="">
            <a:extLst xmlns:a="http://schemas.openxmlformats.org/drawingml/2006/main">
              <a:ext uri="{FF2B5EF4-FFF2-40B4-BE49-F238E27FC236}">
                <a16:creationId xmlns:a16="http://schemas.microsoft.com/office/drawing/2014/main" id="{4C99609A-BD6D-4809-B7BC-C5951C0AD8E8}"/>
              </a:ext>
            </a:extLst>
          </p:cNvPr>
          <p:cNvSpPr>
            <a:spLocks xmlns:a="http://schemas.openxmlformats.org/drawingml/2006/main" noGrp="1"/>
          </p:cNvSpPr>
          <p:nvPr/>
        </p:nvSpPr>
        <p:spPr>
          <a:xfrm xmlns:a="http://schemas.openxmlformats.org/drawingml/2006/main">
            <a:off x="609600" y="1485900"/>
            <a:ext cx="10572750" cy="9525"/>
          </a:xfrm>
          <a:prstGeom xmlns:a="http://schemas.openxmlformats.org/drawingml/2006/main" prst="rect">
            <a:avLst/>
          </a:prstGeom>
          <a:solidFill xmlns:a="http://schemas.openxmlformats.org/drawingml/2006/main">
            <a:srgbClr val="CBD3DD"/>
          </a:solidFill>
          <a:ln xmlns:a="http://schemas.openxmlformats.org/drawingml/2006/main" w="0">
            <a:solidFill>
              <a:srgbClr val="CBD3DD"/>
            </a:solidFill>
            <a:prstDash val="solid"/>
          </a:ln>
        </p:spPr>
      </p:sp>
      <p:sp>
        <p:nvSpPr>
          <p:cNvPr id="4" name="">
            <a:extLst xmlns:a="http://schemas.openxmlformats.org/drawingml/2006/main">
              <a:ext uri="{FF2B5EF4-FFF2-40B4-BE49-F238E27FC236}">
                <a16:creationId xmlns:a16="http://schemas.microsoft.com/office/drawing/2014/main" id="{3084BD9D-812C-4F29-AC95-87E750C8FB0F}"/>
              </a:ext>
            </a:extLst>
          </p:cNvPr>
          <p:cNvSpPr>
            <a:spLocks xmlns:a="http://schemas.openxmlformats.org/drawingml/2006/main" noGrp="1"/>
          </p:cNvSpPr>
          <p:nvPr/>
        </p:nvSpPr>
        <p:spPr>
          <a:xfrm xmlns:a="http://schemas.openxmlformats.org/drawingml/2006/main">
            <a:off x="857250" y="2781300"/>
            <a:ext cx="2190750" cy="876300"/>
          </a:xfrm>
          <a:prstGeom xmlns:a="http://schemas.openxmlformats.org/drawingml/2006/main" prst="roundRect">
            <a:avLst>
              <a:gd name="adj" fmla="val 8696"/>
            </a:avLst>
          </a:prstGeom>
          <a:solidFill xmlns:a="http://schemas.openxmlformats.org/drawingml/2006/main">
            <a:srgbClr val="E0F2FE"/>
          </a:solidFill>
          <a:ln xmlns:a="http://schemas.openxmlformats.org/drawingml/2006/main" w="9525">
            <a:solidFill>
              <a:srgbClr val="E0F2FE"/>
            </a:solidFill>
            <a:prstDash val="solid"/>
          </a:ln>
        </p:spPr>
      </p:sp>
      <p:sp>
        <p:nvSpPr>
          <p:cNvPr id="5" name="">
            <a:extLst xmlns:a="http://schemas.openxmlformats.org/drawingml/2006/main">
              <a:ext uri="{FF2B5EF4-FFF2-40B4-BE49-F238E27FC236}">
                <a16:creationId xmlns:a16="http://schemas.microsoft.com/office/drawing/2014/main" id="{CD8B3127-48AD-4C89-BAF5-92F66F87C049}"/>
              </a:ext>
            </a:extLst>
          </p:cNvPr>
          <p:cNvSpPr>
            <a:spLocks xmlns:a="http://schemas.openxmlformats.org/drawingml/2006/main" noGrp="1"/>
          </p:cNvSpPr>
          <p:nvPr/>
        </p:nvSpPr>
        <p:spPr>
          <a:xfrm xmlns:a="http://schemas.openxmlformats.org/drawingml/2006/main">
            <a:off x="1009650" y="2914650"/>
            <a:ext cx="18859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350" b="1">
                <a:solidFill>
                  <a:srgbClr val="2563EB"/>
                </a:solidFill>
              </a:defRPr>
            </a:pPr>
            <a:r>
              <a:rPr sz="1350" b="1">
                <a:solidFill>
                  <a:srgbClr val="2563EB"/>
                </a:solidFill>
              </a:rPr>
              <a:t>Curate bullish high-beta assets</a:t>
            </a:r>
          </a:p>
        </p:txBody>
      </p:sp>
      <p:sp>
        <p:nvSpPr>
          <p:cNvPr id="6" name="">
            <a:extLst xmlns:a="http://schemas.openxmlformats.org/drawingml/2006/main">
              <a:ext uri="{FF2B5EF4-FFF2-40B4-BE49-F238E27FC236}">
                <a16:creationId xmlns:a16="http://schemas.microsoft.com/office/drawing/2014/main" id="{440572C4-91C1-43CC-8BFF-EF1E2D3418F4}"/>
              </a:ext>
            </a:extLst>
          </p:cNvPr>
          <p:cNvSpPr>
            <a:spLocks xmlns:a="http://schemas.openxmlformats.org/drawingml/2006/main" noGrp="1"/>
          </p:cNvSpPr>
          <p:nvPr/>
        </p:nvSpPr>
        <p:spPr>
          <a:xfrm xmlns:a="http://schemas.openxmlformats.org/drawingml/2006/main">
            <a:off x="3162300" y="3086100"/>
            <a:ext cx="666750" cy="266700"/>
          </a:xfrm>
          <a:prstGeom xmlns:a="http://schemas.openxmlformats.org/drawingml/2006/main" prst="chevron">
            <a:avLst/>
          </a:prstGeom>
          <a:solidFill xmlns:a="http://schemas.openxmlformats.org/drawingml/2006/main">
            <a:srgbClr val="CBD3DD"/>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4380645D-4121-43D0-9240-D92528B08C48}"/>
              </a:ext>
            </a:extLst>
          </p:cNvPr>
          <p:cNvSpPr>
            <a:spLocks xmlns:a="http://schemas.openxmlformats.org/drawingml/2006/main" noGrp="1"/>
          </p:cNvSpPr>
          <p:nvPr/>
        </p:nvSpPr>
        <p:spPr>
          <a:xfrm xmlns:a="http://schemas.openxmlformats.org/drawingml/2006/main">
            <a:off x="3943350" y="2781300"/>
            <a:ext cx="2190750" cy="876300"/>
          </a:xfrm>
          <a:prstGeom xmlns:a="http://schemas.openxmlformats.org/drawingml/2006/main" prst="roundRect">
            <a:avLst>
              <a:gd name="adj" fmla="val 8696"/>
            </a:avLst>
          </a:prstGeom>
          <a:solidFill xmlns:a="http://schemas.openxmlformats.org/drawingml/2006/main">
            <a:srgbClr val="DCFCE7"/>
          </a:solidFill>
          <a:ln xmlns:a="http://schemas.openxmlformats.org/drawingml/2006/main" w="9525">
            <a:solidFill>
              <a:srgbClr val="DCFCE7"/>
            </a:solidFill>
            <a:prstDash val="solid"/>
          </a:ln>
        </p:spPr>
      </p:sp>
      <p:sp>
        <p:nvSpPr>
          <p:cNvPr id="8" name="">
            <a:extLst xmlns:a="http://schemas.openxmlformats.org/drawingml/2006/main">
              <a:ext uri="{FF2B5EF4-FFF2-40B4-BE49-F238E27FC236}">
                <a16:creationId xmlns:a16="http://schemas.microsoft.com/office/drawing/2014/main" id="{5FC4C560-C946-4F15-A47B-97A56922FE5B}"/>
              </a:ext>
            </a:extLst>
          </p:cNvPr>
          <p:cNvSpPr>
            <a:spLocks xmlns:a="http://schemas.openxmlformats.org/drawingml/2006/main" noGrp="1"/>
          </p:cNvSpPr>
          <p:nvPr/>
        </p:nvSpPr>
        <p:spPr>
          <a:xfrm xmlns:a="http://schemas.openxmlformats.org/drawingml/2006/main">
            <a:off x="4095750" y="2914650"/>
            <a:ext cx="18859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350" b="1">
                <a:solidFill>
                  <a:srgbClr val="177A55"/>
                </a:solidFill>
              </a:defRPr>
            </a:pPr>
            <a:r>
              <a:rPr sz="1350" b="1">
                <a:solidFill>
                  <a:srgbClr val="177A55"/>
                </a:solidFill>
              </a:rPr>
              <a:t>Build PCA participation states</a:t>
            </a:r>
          </a:p>
        </p:txBody>
      </p:sp>
      <p:sp>
        <p:nvSpPr>
          <p:cNvPr id="9" name="">
            <a:extLst xmlns:a="http://schemas.openxmlformats.org/drawingml/2006/main">
              <a:ext uri="{FF2B5EF4-FFF2-40B4-BE49-F238E27FC236}">
                <a16:creationId xmlns:a16="http://schemas.microsoft.com/office/drawing/2014/main" id="{6864993D-ED4C-4085-9F5D-2D3AB612DA96}"/>
              </a:ext>
            </a:extLst>
          </p:cNvPr>
          <p:cNvSpPr>
            <a:spLocks xmlns:a="http://schemas.openxmlformats.org/drawingml/2006/main" noGrp="1"/>
          </p:cNvSpPr>
          <p:nvPr/>
        </p:nvSpPr>
        <p:spPr>
          <a:xfrm xmlns:a="http://schemas.openxmlformats.org/drawingml/2006/main">
            <a:off x="6248400" y="3086100"/>
            <a:ext cx="666750" cy="266700"/>
          </a:xfrm>
          <a:prstGeom xmlns:a="http://schemas.openxmlformats.org/drawingml/2006/main" prst="chevron">
            <a:avLst/>
          </a:prstGeom>
          <a:solidFill xmlns:a="http://schemas.openxmlformats.org/drawingml/2006/main">
            <a:srgbClr val="CBD3DD"/>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05608B71-171C-446A-9600-86F450A2B8FC}"/>
              </a:ext>
            </a:extLst>
          </p:cNvPr>
          <p:cNvSpPr>
            <a:spLocks xmlns:a="http://schemas.openxmlformats.org/drawingml/2006/main" noGrp="1"/>
          </p:cNvSpPr>
          <p:nvPr/>
        </p:nvSpPr>
        <p:spPr>
          <a:xfrm xmlns:a="http://schemas.openxmlformats.org/drawingml/2006/main">
            <a:off x="7029450" y="2781300"/>
            <a:ext cx="2190750" cy="876300"/>
          </a:xfrm>
          <a:prstGeom xmlns:a="http://schemas.openxmlformats.org/drawingml/2006/main" prst="roundRect">
            <a:avLst>
              <a:gd name="adj" fmla="val 8696"/>
            </a:avLst>
          </a:prstGeom>
          <a:solidFill xmlns:a="http://schemas.openxmlformats.org/drawingml/2006/main">
            <a:srgbClr val="F3E8FF"/>
          </a:solidFill>
          <a:ln xmlns:a="http://schemas.openxmlformats.org/drawingml/2006/main" w="9525">
            <a:solidFill>
              <a:srgbClr val="F3E8FF"/>
            </a:solidFill>
            <a:prstDash val="solid"/>
          </a:ln>
        </p:spPr>
      </p:sp>
      <p:sp>
        <p:nvSpPr>
          <p:cNvPr id="11" name="">
            <a:extLst xmlns:a="http://schemas.openxmlformats.org/drawingml/2006/main">
              <a:ext uri="{FF2B5EF4-FFF2-40B4-BE49-F238E27FC236}">
                <a16:creationId xmlns:a16="http://schemas.microsoft.com/office/drawing/2014/main" id="{7A36E81D-E8AD-470B-B434-4B95E809D5D2}"/>
              </a:ext>
            </a:extLst>
          </p:cNvPr>
          <p:cNvSpPr>
            <a:spLocks xmlns:a="http://schemas.openxmlformats.org/drawingml/2006/main" noGrp="1"/>
          </p:cNvSpPr>
          <p:nvPr/>
        </p:nvSpPr>
        <p:spPr>
          <a:xfrm xmlns:a="http://schemas.openxmlformats.org/drawingml/2006/main">
            <a:off x="7181850" y="2914650"/>
            <a:ext cx="18859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350" b="1">
                <a:solidFill>
                  <a:srgbClr val="7C3AED"/>
                </a:solidFill>
              </a:defRPr>
            </a:pPr>
            <a:r>
              <a:rPr sz="1350" b="1">
                <a:solidFill>
                  <a:srgbClr val="7C3AED"/>
                </a:solidFill>
              </a:rPr>
              <a:t>Route momentum-only hypotheses</a:t>
            </a:r>
          </a:p>
        </p:txBody>
      </p:sp>
      <p:sp>
        <p:nvSpPr>
          <p:cNvPr id="12" name="">
            <a:extLst xmlns:a="http://schemas.openxmlformats.org/drawingml/2006/main">
              <a:ext uri="{FF2B5EF4-FFF2-40B4-BE49-F238E27FC236}">
                <a16:creationId xmlns:a16="http://schemas.microsoft.com/office/drawing/2014/main" id="{C85B3B56-C2A4-4D06-A0C2-D9D7984B0C23}"/>
              </a:ext>
            </a:extLst>
          </p:cNvPr>
          <p:cNvSpPr>
            <a:spLocks xmlns:a="http://schemas.openxmlformats.org/drawingml/2006/main" noGrp="1"/>
          </p:cNvSpPr>
          <p:nvPr/>
        </p:nvSpPr>
        <p:spPr>
          <a:xfrm xmlns:a="http://schemas.openxmlformats.org/drawingml/2006/main">
            <a:off x="9334500" y="3086100"/>
            <a:ext cx="666750" cy="266700"/>
          </a:xfrm>
          <a:prstGeom xmlns:a="http://schemas.openxmlformats.org/drawingml/2006/main" prst="chevron">
            <a:avLst/>
          </a:prstGeom>
          <a:solidFill xmlns:a="http://schemas.openxmlformats.org/drawingml/2006/main">
            <a:srgbClr val="CBD3DD"/>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5F2514EA-65B4-471A-8787-173AA32F9A0C}"/>
              </a:ext>
            </a:extLst>
          </p:cNvPr>
          <p:cNvSpPr>
            <a:spLocks xmlns:a="http://schemas.openxmlformats.org/drawingml/2006/main" noGrp="1"/>
          </p:cNvSpPr>
          <p:nvPr/>
        </p:nvSpPr>
        <p:spPr>
          <a:xfrm xmlns:a="http://schemas.openxmlformats.org/drawingml/2006/main">
            <a:off x="10115550" y="2781300"/>
            <a:ext cx="1238250" cy="876300"/>
          </a:xfrm>
          <a:prstGeom xmlns:a="http://schemas.openxmlformats.org/drawingml/2006/main" prst="roundRect">
            <a:avLst>
              <a:gd name="adj" fmla="val 8696"/>
            </a:avLst>
          </a:prstGeom>
          <a:solidFill xmlns:a="http://schemas.openxmlformats.org/drawingml/2006/main">
            <a:srgbClr val="FEF3C7"/>
          </a:solidFill>
          <a:ln xmlns:a="http://schemas.openxmlformats.org/drawingml/2006/main" w="9525">
            <a:solidFill>
              <a:srgbClr val="FEF3C7"/>
            </a:solidFill>
            <a:prstDash val="solid"/>
          </a:ln>
        </p:spPr>
      </p:sp>
      <p:sp>
        <p:nvSpPr>
          <p:cNvPr id="14" name="">
            <a:extLst xmlns:a="http://schemas.openxmlformats.org/drawingml/2006/main">
              <a:ext uri="{FF2B5EF4-FFF2-40B4-BE49-F238E27FC236}">
                <a16:creationId xmlns:a16="http://schemas.microsoft.com/office/drawing/2014/main" id="{6586D373-A48A-42CA-9F59-947787BFD276}"/>
              </a:ext>
            </a:extLst>
          </p:cNvPr>
          <p:cNvSpPr>
            <a:spLocks xmlns:a="http://schemas.openxmlformats.org/drawingml/2006/main" noGrp="1"/>
          </p:cNvSpPr>
          <p:nvPr/>
        </p:nvSpPr>
        <p:spPr>
          <a:xfrm xmlns:a="http://schemas.openxmlformats.org/drawingml/2006/main">
            <a:off x="10267950" y="2914650"/>
            <a:ext cx="9334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350" b="1">
                <a:solidFill>
                  <a:srgbClr val="D97706"/>
                </a:solidFill>
              </a:defRPr>
            </a:pPr>
            <a:r>
              <a:rPr sz="1350" b="1">
                <a:solidFill>
                  <a:srgbClr val="D97706"/>
                </a:solidFill>
              </a:rPr>
              <a:t>Audit against basket hold</a:t>
            </a:r>
          </a:p>
        </p:txBody>
      </p:sp>
      <p:sp>
        <p:nvSpPr>
          <p:cNvPr id="15" name="">
            <a:extLst xmlns:a="http://schemas.openxmlformats.org/drawingml/2006/main">
              <a:ext uri="{FF2B5EF4-FFF2-40B4-BE49-F238E27FC236}">
                <a16:creationId xmlns:a16="http://schemas.microsoft.com/office/drawing/2014/main" id="{E757C160-D7D0-4F3F-B431-9E24B69B9F1C}"/>
              </a:ext>
            </a:extLst>
          </p:cNvPr>
          <p:cNvSpPr>
            <a:spLocks xmlns:a="http://schemas.openxmlformats.org/drawingml/2006/main" noGrp="1"/>
          </p:cNvSpPr>
          <p:nvPr/>
        </p:nvSpPr>
        <p:spPr>
          <a:xfrm xmlns:a="http://schemas.openxmlformats.org/drawingml/2006/main">
            <a:off x="876300" y="4381500"/>
            <a:ext cx="10477500" cy="1009650"/>
          </a:xfrm>
          <a:prstGeom xmlns:a="http://schemas.openxmlformats.org/drawingml/2006/main" prst="roundRect">
            <a:avLst>
              <a:gd name="adj" fmla="val 7547"/>
            </a:avLst>
          </a:prstGeom>
          <a:solidFill xmlns:a="http://schemas.openxmlformats.org/drawingml/2006/main">
            <a:srgbClr val="F5F7FA"/>
          </a:solidFill>
          <a:ln xmlns:a="http://schemas.openxmlformats.org/drawingml/2006/main" w="9525">
            <a:solidFill>
              <a:srgbClr val="CBD3DD"/>
            </a:solidFill>
            <a:prstDash val="solid"/>
          </a:ln>
        </p:spPr>
      </p:sp>
      <p:sp>
        <p:nvSpPr>
          <p:cNvPr id="16" name="">
            <a:extLst xmlns:a="http://schemas.openxmlformats.org/drawingml/2006/main">
              <a:ext uri="{FF2B5EF4-FFF2-40B4-BE49-F238E27FC236}">
                <a16:creationId xmlns:a16="http://schemas.microsoft.com/office/drawing/2014/main" id="{CDEDC66F-94CE-4C0E-8420-180C5529D0C7}"/>
              </a:ext>
            </a:extLst>
          </p:cNvPr>
          <p:cNvSpPr>
            <a:spLocks xmlns:a="http://schemas.openxmlformats.org/drawingml/2006/main" noGrp="1"/>
          </p:cNvSpPr>
          <p:nvPr/>
        </p:nvSpPr>
        <p:spPr>
          <a:xfrm xmlns:a="http://schemas.openxmlformats.org/drawingml/2006/main">
            <a:off x="1162050" y="4610100"/>
            <a:ext cx="3714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800" b="1">
                <a:solidFill>
                  <a:srgbClr val="111827"/>
                </a:solidFill>
              </a:defRPr>
            </a:pPr>
            <a:r>
              <a:rPr sz="1800" b="1">
                <a:solidFill>
                  <a:srgbClr val="111827"/>
                </a:solidFill>
              </a:rPr>
              <a:t>The specialization is intentional</a:t>
            </a:r>
          </a:p>
        </p:txBody>
      </p:sp>
      <p:sp>
        <p:nvSpPr>
          <p:cNvPr id="17" name="">
            <a:extLst xmlns:a="http://schemas.openxmlformats.org/drawingml/2006/main">
              <a:ext uri="{FF2B5EF4-FFF2-40B4-BE49-F238E27FC236}">
                <a16:creationId xmlns:a16="http://schemas.microsoft.com/office/drawing/2014/main" id="{A7D12426-D345-4598-AA63-D20BECC1F4A6}"/>
              </a:ext>
            </a:extLst>
          </p:cNvPr>
          <p:cNvSpPr>
            <a:spLocks xmlns:a="http://schemas.openxmlformats.org/drawingml/2006/main" noGrp="1"/>
          </p:cNvSpPr>
          <p:nvPr/>
        </p:nvSpPr>
        <p:spPr>
          <a:xfrm xmlns:a="http://schemas.openxmlformats.org/drawingml/2006/main">
            <a:off x="4914900" y="4572000"/>
            <a:ext cx="59626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650" b="0">
                <a:solidFill>
                  <a:srgbClr val="5B6472"/>
                </a:solidFill>
              </a:defRPr>
            </a:pPr>
            <a:r>
              <a:rPr sz="1650" b="0">
                <a:solidFill>
                  <a:srgbClr val="5B6472"/>
                </a:solidFill>
              </a:rPr>
              <a:t>The engine can stay out of non-bullish conditions because an earlier selection layer has already chosen assets where upside participation is the point.</a:t>
            </a:r>
          </a:p>
        </p:txBody>
      </p:sp>
    </p:spTree>
    <p:extLst>
      <p:ext uri="{BB962C8B-B14F-4D97-AF65-F5344CB8AC3E}">
        <p14:creationId xmlns:p14="http://schemas.microsoft.com/office/powerpoint/2010/main" val="1783061376"/>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BB0D77D7-9D9F-4F19-A1CB-C1145724C5E6}"/>
              </a:ext>
            </a:extLst>
          </p:cNvPr>
          <p:cNvSpPr>
            <a:spLocks xmlns:a="http://schemas.openxmlformats.org/drawingml/2006/main" noGrp="1"/>
          </p:cNvSpPr>
          <p:nvPr/>
        </p:nvSpPr>
        <p:spPr>
          <a:xfrm xmlns:a="http://schemas.openxmlformats.org/drawingml/2006/main">
            <a:off x="609600" y="304800"/>
            <a:ext cx="5334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975" b="1">
                <a:solidFill>
                  <a:srgbClr val="2563EB"/>
                </a:solidFill>
              </a:defRPr>
            </a:pPr>
            <a:r>
              <a:rPr sz="975" b="1">
                <a:solidFill>
                  <a:srgbClr val="2563EB"/>
                </a:solidFill>
              </a:rPr>
              <a:t>GEN5.3 PCA RESEARCH PIVOT</a:t>
            </a:r>
          </a:p>
        </p:txBody>
      </p:sp>
      <p:sp>
        <p:nvSpPr>
          <p:cNvPr id="2" name="">
            <a:extLst xmlns:a="http://schemas.openxmlformats.org/drawingml/2006/main">
              <a:ext uri="{FF2B5EF4-FFF2-40B4-BE49-F238E27FC236}">
                <a16:creationId xmlns:a16="http://schemas.microsoft.com/office/drawing/2014/main" id="{02712F4B-E246-48E4-89F4-851E44168DBC}"/>
              </a:ext>
            </a:extLst>
          </p:cNvPr>
          <p:cNvSpPr>
            <a:spLocks xmlns:a="http://schemas.openxmlformats.org/drawingml/2006/main" noGrp="1"/>
          </p:cNvSpPr>
          <p:nvPr/>
        </p:nvSpPr>
        <p:spPr>
          <a:xfrm xmlns:a="http://schemas.openxmlformats.org/drawingml/2006/main">
            <a:off x="609600" y="647700"/>
            <a:ext cx="9334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2775" b="1">
                <a:solidFill>
                  <a:srgbClr val="111827"/>
                </a:solidFill>
              </a:defRPr>
            </a:pPr>
            <a:r>
              <a:rPr sz="2775" b="1">
                <a:solidFill>
                  <a:srgbClr val="111827"/>
                </a:solidFill>
              </a:rPr>
              <a:t>The same PCA machinery gets a different job</a:t>
            </a:r>
          </a:p>
        </p:txBody>
      </p:sp>
      <p:sp>
        <p:nvSpPr>
          <p:cNvPr id="3" name="">
            <a:extLst xmlns:a="http://schemas.openxmlformats.org/drawingml/2006/main">
              <a:ext uri="{FF2B5EF4-FFF2-40B4-BE49-F238E27FC236}">
                <a16:creationId xmlns:a16="http://schemas.microsoft.com/office/drawing/2014/main" id="{BA2A289F-4A8F-4F1A-94F2-923A5F4F6A48}"/>
              </a:ext>
            </a:extLst>
          </p:cNvPr>
          <p:cNvSpPr>
            <a:spLocks xmlns:a="http://schemas.openxmlformats.org/drawingml/2006/main" noGrp="1"/>
          </p:cNvSpPr>
          <p:nvPr/>
        </p:nvSpPr>
        <p:spPr>
          <a:xfrm xmlns:a="http://schemas.openxmlformats.org/drawingml/2006/main">
            <a:off x="609600" y="1485900"/>
            <a:ext cx="10572750" cy="9525"/>
          </a:xfrm>
          <a:prstGeom xmlns:a="http://schemas.openxmlformats.org/drawingml/2006/main" prst="rect">
            <a:avLst/>
          </a:prstGeom>
          <a:solidFill xmlns:a="http://schemas.openxmlformats.org/drawingml/2006/main">
            <a:srgbClr val="CBD3DD"/>
          </a:solidFill>
          <a:ln xmlns:a="http://schemas.openxmlformats.org/drawingml/2006/main" w="0">
            <a:solidFill>
              <a:srgbClr val="CBD3DD"/>
            </a:solidFill>
            <a:prstDash val="solid"/>
          </a:ln>
        </p:spPr>
      </p:sp>
      <p:sp>
        <p:nvSpPr>
          <p:cNvPr id="4" name="">
            <a:extLst xmlns:a="http://schemas.openxmlformats.org/drawingml/2006/main">
              <a:ext uri="{FF2B5EF4-FFF2-40B4-BE49-F238E27FC236}">
                <a16:creationId xmlns:a16="http://schemas.microsoft.com/office/drawing/2014/main" id="{6363BE9D-C247-4B68-89A6-6EAFD4C1CD1D}"/>
              </a:ext>
            </a:extLst>
          </p:cNvPr>
          <p:cNvSpPr>
            <a:spLocks xmlns:a="http://schemas.openxmlformats.org/drawingml/2006/main" noGrp="1"/>
          </p:cNvSpPr>
          <p:nvPr/>
        </p:nvSpPr>
        <p:spPr>
          <a:xfrm xmlns:a="http://schemas.openxmlformats.org/drawingml/2006/main">
            <a:off x="781050" y="2057400"/>
            <a:ext cx="4972050" cy="3200400"/>
          </a:xfrm>
          <a:prstGeom xmlns:a="http://schemas.openxmlformats.org/drawingml/2006/main" prst="roundRect">
            <a:avLst>
              <a:gd name="adj" fmla="val 2381"/>
            </a:avLst>
          </a:prstGeom>
          <a:solidFill xmlns:a="http://schemas.openxmlformats.org/drawingml/2006/main">
            <a:srgbClr val="F8FAFC"/>
          </a:solidFill>
          <a:ln xmlns:a="http://schemas.openxmlformats.org/drawingml/2006/main" w="9525">
            <a:solidFill>
              <a:srgbClr val="CAD5E2"/>
            </a:solidFill>
            <a:prstDash val="solid"/>
          </a:ln>
        </p:spPr>
      </p:sp>
      <p:sp>
        <p:nvSpPr>
          <p:cNvPr id="5" name="">
            <a:extLst xmlns:a="http://schemas.openxmlformats.org/drawingml/2006/main">
              <a:ext uri="{FF2B5EF4-FFF2-40B4-BE49-F238E27FC236}">
                <a16:creationId xmlns:a16="http://schemas.microsoft.com/office/drawing/2014/main" id="{6DF38026-FB0A-4CD8-98EC-B260AE5A024A}"/>
              </a:ext>
            </a:extLst>
          </p:cNvPr>
          <p:cNvSpPr>
            <a:spLocks xmlns:a="http://schemas.openxmlformats.org/drawingml/2006/main" noGrp="1"/>
          </p:cNvSpPr>
          <p:nvPr/>
        </p:nvSpPr>
        <p:spPr>
          <a:xfrm xmlns:a="http://schemas.openxmlformats.org/drawingml/2006/main">
            <a:off x="6438900" y="2057400"/>
            <a:ext cx="4972050" cy="3200400"/>
          </a:xfrm>
          <a:prstGeom xmlns:a="http://schemas.openxmlformats.org/drawingml/2006/main" prst="roundRect">
            <a:avLst>
              <a:gd name="adj" fmla="val 2381"/>
            </a:avLst>
          </a:prstGeom>
          <a:solidFill xmlns:a="http://schemas.openxmlformats.org/drawingml/2006/main">
            <a:srgbClr val="F0FDF4"/>
          </a:solidFill>
          <a:ln xmlns:a="http://schemas.openxmlformats.org/drawingml/2006/main" w="9525">
            <a:solidFill>
              <a:srgbClr val="A7F3D0"/>
            </a:solidFill>
            <a:prstDash val="solid"/>
          </a:ln>
        </p:spPr>
      </p:sp>
      <p:sp>
        <p:nvSpPr>
          <p:cNvPr id="6" name="">
            <a:extLst xmlns:a="http://schemas.openxmlformats.org/drawingml/2006/main">
              <a:ext uri="{FF2B5EF4-FFF2-40B4-BE49-F238E27FC236}">
                <a16:creationId xmlns:a16="http://schemas.microsoft.com/office/drawing/2014/main" id="{BF32F31E-403A-44D6-80C2-F75BA79716F7}"/>
              </a:ext>
            </a:extLst>
          </p:cNvPr>
          <p:cNvSpPr>
            <a:spLocks xmlns:a="http://schemas.openxmlformats.org/drawingml/2006/main" noGrp="1"/>
          </p:cNvSpPr>
          <p:nvPr/>
        </p:nvSpPr>
        <p:spPr>
          <a:xfrm xmlns:a="http://schemas.openxmlformats.org/drawingml/2006/main">
            <a:off x="1143000" y="2343150"/>
            <a:ext cx="3619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2025" b="1">
                <a:solidFill>
                  <a:srgbClr val="111827"/>
                </a:solidFill>
              </a:defRPr>
            </a:pPr>
            <a:r>
              <a:rPr sz="2025" b="1">
                <a:solidFill>
                  <a:srgbClr val="111827"/>
                </a:solidFill>
              </a:rPr>
              <a:t>Universal router</a:t>
            </a:r>
          </a:p>
        </p:txBody>
      </p:sp>
      <p:sp>
        <p:nvSpPr>
          <p:cNvPr id="7" name="">
            <a:extLst xmlns:a="http://schemas.openxmlformats.org/drawingml/2006/main">
              <a:ext uri="{FF2B5EF4-FFF2-40B4-BE49-F238E27FC236}">
                <a16:creationId xmlns:a16="http://schemas.microsoft.com/office/drawing/2014/main" id="{2D2164C8-C351-428D-B1C2-BF1F73F3D742}"/>
              </a:ext>
            </a:extLst>
          </p:cNvPr>
          <p:cNvSpPr>
            <a:spLocks xmlns:a="http://schemas.openxmlformats.org/drawingml/2006/main" noGrp="1"/>
          </p:cNvSpPr>
          <p:nvPr/>
        </p:nvSpPr>
        <p:spPr>
          <a:xfrm xmlns:a="http://schemas.openxmlformats.org/drawingml/2006/main">
            <a:off x="6800850" y="2343150"/>
            <a:ext cx="3714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2025" b="1">
                <a:solidFill>
                  <a:srgbClr val="177A55"/>
                </a:solidFill>
              </a:defRPr>
            </a:pPr>
            <a:r>
              <a:rPr sz="2025" b="1">
                <a:solidFill>
                  <a:srgbClr val="177A55"/>
                </a:solidFill>
              </a:rPr>
              <a:t>Momentum specialist</a:t>
            </a:r>
          </a:p>
        </p:txBody>
      </p:sp>
      <p:sp>
        <p:nvSpPr>
          <p:cNvPr id="8" name="">
            <a:extLst xmlns:a="http://schemas.openxmlformats.org/drawingml/2006/main">
              <a:ext uri="{FF2B5EF4-FFF2-40B4-BE49-F238E27FC236}">
                <a16:creationId xmlns:a16="http://schemas.microsoft.com/office/drawing/2014/main" id="{325CC5B1-CA68-4D9E-A030-7EFFCB7A637D}"/>
              </a:ext>
            </a:extLst>
          </p:cNvPr>
          <p:cNvSpPr>
            <a:spLocks xmlns:a="http://schemas.openxmlformats.org/drawingml/2006/main" noGrp="1"/>
          </p:cNvSpPr>
          <p:nvPr/>
        </p:nvSpPr>
        <p:spPr>
          <a:xfrm xmlns:a="http://schemas.openxmlformats.org/drawingml/2006/main">
            <a:off x="1162050" y="3095625"/>
            <a:ext cx="76200" cy="76200"/>
          </a:xfrm>
          <a:prstGeom xmlns:a="http://schemas.openxmlformats.org/drawingml/2006/main" prst="ellipse">
            <a:avLst/>
          </a:prstGeom>
          <a:solidFill xmlns:a="http://schemas.openxmlformats.org/drawingml/2006/main">
            <a:srgbClr val="5B6472"/>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B6C10154-6A7D-4F4E-9F7F-8A2B4BE69702}"/>
              </a:ext>
            </a:extLst>
          </p:cNvPr>
          <p:cNvSpPr>
            <a:spLocks xmlns:a="http://schemas.openxmlformats.org/drawingml/2006/main" noGrp="1"/>
          </p:cNvSpPr>
          <p:nvPr/>
        </p:nvSpPr>
        <p:spPr>
          <a:xfrm xmlns:a="http://schemas.openxmlformats.org/drawingml/2006/main">
            <a:off x="1371600" y="3009900"/>
            <a:ext cx="36385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350" b="0">
                <a:solidFill>
                  <a:srgbClr val="111827"/>
                </a:solidFill>
              </a:defRPr>
            </a:pPr>
            <a:r>
              <a:rPr sz="1350" b="0">
                <a:solidFill>
                  <a:srgbClr val="111827"/>
                </a:solidFill>
              </a:rPr>
              <a:t>Each state may imply trend, mean reversion, breakout, risk-off, or noise</a:t>
            </a:r>
          </a:p>
        </p:txBody>
      </p:sp>
      <p:sp>
        <p:nvSpPr>
          <p:cNvPr id="10" name="">
            <a:extLst xmlns:a="http://schemas.openxmlformats.org/drawingml/2006/main">
              <a:ext uri="{FF2B5EF4-FFF2-40B4-BE49-F238E27FC236}">
                <a16:creationId xmlns:a16="http://schemas.microsoft.com/office/drawing/2014/main" id="{23659408-B76E-4B35-A565-6E23373A0122}"/>
              </a:ext>
            </a:extLst>
          </p:cNvPr>
          <p:cNvSpPr>
            <a:spLocks xmlns:a="http://schemas.openxmlformats.org/drawingml/2006/main" noGrp="1"/>
          </p:cNvSpPr>
          <p:nvPr/>
        </p:nvSpPr>
        <p:spPr>
          <a:xfrm xmlns:a="http://schemas.openxmlformats.org/drawingml/2006/main">
            <a:off x="1162050" y="3390900"/>
            <a:ext cx="76200" cy="76200"/>
          </a:xfrm>
          <a:prstGeom xmlns:a="http://schemas.openxmlformats.org/drawingml/2006/main" prst="ellipse">
            <a:avLst/>
          </a:prstGeom>
          <a:solidFill xmlns:a="http://schemas.openxmlformats.org/drawingml/2006/main">
            <a:srgbClr val="5B6472"/>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AEEC7B8D-92C3-4841-94FF-FABDC81B3E34}"/>
              </a:ext>
            </a:extLst>
          </p:cNvPr>
          <p:cNvSpPr>
            <a:spLocks xmlns:a="http://schemas.openxmlformats.org/drawingml/2006/main" noGrp="1"/>
          </p:cNvSpPr>
          <p:nvPr/>
        </p:nvSpPr>
        <p:spPr>
          <a:xfrm xmlns:a="http://schemas.openxmlformats.org/drawingml/2006/main">
            <a:off x="1371600" y="3305175"/>
            <a:ext cx="36385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350" b="0">
                <a:solidFill>
                  <a:srgbClr val="111827"/>
                </a:solidFill>
              </a:defRPr>
            </a:pPr>
            <a:r>
              <a:rPr sz="1350" b="0">
                <a:solidFill>
                  <a:srgbClr val="111827"/>
                </a:solidFill>
              </a:rPr>
              <a:t>Many strategy families compete downstream</a:t>
            </a:r>
          </a:p>
        </p:txBody>
      </p:sp>
      <p:sp>
        <p:nvSpPr>
          <p:cNvPr id="12" name="">
            <a:extLst xmlns:a="http://schemas.openxmlformats.org/drawingml/2006/main">
              <a:ext uri="{FF2B5EF4-FFF2-40B4-BE49-F238E27FC236}">
                <a16:creationId xmlns:a16="http://schemas.microsoft.com/office/drawing/2014/main" id="{B8D4D3ED-BC22-4664-A3E5-C3A0FC803B01}"/>
              </a:ext>
            </a:extLst>
          </p:cNvPr>
          <p:cNvSpPr>
            <a:spLocks xmlns:a="http://schemas.openxmlformats.org/drawingml/2006/main" noGrp="1"/>
          </p:cNvSpPr>
          <p:nvPr/>
        </p:nvSpPr>
        <p:spPr>
          <a:xfrm xmlns:a="http://schemas.openxmlformats.org/drawingml/2006/main">
            <a:off x="1162050" y="3686175"/>
            <a:ext cx="76200" cy="76200"/>
          </a:xfrm>
          <a:prstGeom xmlns:a="http://schemas.openxmlformats.org/drawingml/2006/main" prst="ellipse">
            <a:avLst/>
          </a:prstGeom>
          <a:solidFill xmlns:a="http://schemas.openxmlformats.org/drawingml/2006/main">
            <a:srgbClr val="5B6472"/>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B49F24CD-16DC-4B17-BF9F-6DBA84204795}"/>
              </a:ext>
            </a:extLst>
          </p:cNvPr>
          <p:cNvSpPr>
            <a:spLocks xmlns:a="http://schemas.openxmlformats.org/drawingml/2006/main" noGrp="1"/>
          </p:cNvSpPr>
          <p:nvPr/>
        </p:nvSpPr>
        <p:spPr>
          <a:xfrm xmlns:a="http://schemas.openxmlformats.org/drawingml/2006/main">
            <a:off x="1371600" y="3600450"/>
            <a:ext cx="36385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350" b="0">
                <a:solidFill>
                  <a:srgbClr val="111827"/>
                </a:solidFill>
              </a:defRPr>
            </a:pPr>
            <a:r>
              <a:rPr sz="1350" b="0">
                <a:solidFill>
                  <a:srgbClr val="111827"/>
                </a:solidFill>
              </a:rPr>
              <a:t>A state can be useful even when simple forward return looks poor</a:t>
            </a:r>
          </a:p>
        </p:txBody>
      </p:sp>
      <p:sp>
        <p:nvSpPr>
          <p:cNvPr id="14" name="">
            <a:extLst xmlns:a="http://schemas.openxmlformats.org/drawingml/2006/main">
              <a:ext uri="{FF2B5EF4-FFF2-40B4-BE49-F238E27FC236}">
                <a16:creationId xmlns:a16="http://schemas.microsoft.com/office/drawing/2014/main" id="{D3960873-0A85-4CAD-9E28-7C6F3161795D}"/>
              </a:ext>
            </a:extLst>
          </p:cNvPr>
          <p:cNvSpPr>
            <a:spLocks xmlns:a="http://schemas.openxmlformats.org/drawingml/2006/main" noGrp="1"/>
          </p:cNvSpPr>
          <p:nvPr/>
        </p:nvSpPr>
        <p:spPr>
          <a:xfrm xmlns:a="http://schemas.openxmlformats.org/drawingml/2006/main">
            <a:off x="1162050" y="3981450"/>
            <a:ext cx="76200" cy="76200"/>
          </a:xfrm>
          <a:prstGeom xmlns:a="http://schemas.openxmlformats.org/drawingml/2006/main" prst="ellipse">
            <a:avLst/>
          </a:prstGeom>
          <a:solidFill xmlns:a="http://schemas.openxmlformats.org/drawingml/2006/main">
            <a:srgbClr val="5B6472"/>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183FEC08-32CF-4132-83B7-114102C9F118}"/>
              </a:ext>
            </a:extLst>
          </p:cNvPr>
          <p:cNvSpPr>
            <a:spLocks xmlns:a="http://schemas.openxmlformats.org/drawingml/2006/main" noGrp="1"/>
          </p:cNvSpPr>
          <p:nvPr/>
        </p:nvSpPr>
        <p:spPr>
          <a:xfrm xmlns:a="http://schemas.openxmlformats.org/drawingml/2006/main">
            <a:off x="1371600" y="3895725"/>
            <a:ext cx="36385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350" b="0">
                <a:solidFill>
                  <a:srgbClr val="111827"/>
                </a:solidFill>
              </a:defRPr>
            </a:pPr>
            <a:r>
              <a:rPr sz="1350" b="0">
                <a:solidFill>
                  <a:srgbClr val="111827"/>
                </a:solidFill>
              </a:rPr>
              <a:t>Interpretation comes late and can be messy</a:t>
            </a:r>
          </a:p>
        </p:txBody>
      </p:sp>
      <p:sp>
        <p:nvSpPr>
          <p:cNvPr id="16" name="">
            <a:extLst xmlns:a="http://schemas.openxmlformats.org/drawingml/2006/main">
              <a:ext uri="{FF2B5EF4-FFF2-40B4-BE49-F238E27FC236}">
                <a16:creationId xmlns:a16="http://schemas.microsoft.com/office/drawing/2014/main" id="{0D24FAD6-9377-4968-BEB8-2E00DB4C6B63}"/>
              </a:ext>
            </a:extLst>
          </p:cNvPr>
          <p:cNvSpPr>
            <a:spLocks xmlns:a="http://schemas.openxmlformats.org/drawingml/2006/main" noGrp="1"/>
          </p:cNvSpPr>
          <p:nvPr/>
        </p:nvSpPr>
        <p:spPr>
          <a:xfrm xmlns:a="http://schemas.openxmlformats.org/drawingml/2006/main">
            <a:off x="6819900" y="3095625"/>
            <a:ext cx="76200" cy="76200"/>
          </a:xfrm>
          <a:prstGeom xmlns:a="http://schemas.openxmlformats.org/drawingml/2006/main" prst="ellipse">
            <a:avLst/>
          </a:prstGeom>
          <a:solidFill xmlns:a="http://schemas.openxmlformats.org/drawingml/2006/main">
            <a:srgbClr val="177A55"/>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F647F7F5-EA02-4DDF-918E-0A2340CAC3D0}"/>
              </a:ext>
            </a:extLst>
          </p:cNvPr>
          <p:cNvSpPr>
            <a:spLocks xmlns:a="http://schemas.openxmlformats.org/drawingml/2006/main" noGrp="1"/>
          </p:cNvSpPr>
          <p:nvPr/>
        </p:nvSpPr>
        <p:spPr>
          <a:xfrm xmlns:a="http://schemas.openxmlformats.org/drawingml/2006/main">
            <a:off x="7029450" y="3009900"/>
            <a:ext cx="36385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350" b="0">
                <a:solidFill>
                  <a:srgbClr val="111827"/>
                </a:solidFill>
              </a:defRPr>
            </a:pPr>
            <a:r>
              <a:rPr sz="1350" b="0">
                <a:solidFill>
                  <a:srgbClr val="111827"/>
                </a:solidFill>
              </a:rPr>
              <a:t>Each state asks whether bullish participation is favorable, stalled, extended, or risky</a:t>
            </a:r>
          </a:p>
        </p:txBody>
      </p:sp>
      <p:sp>
        <p:nvSpPr>
          <p:cNvPr id="18" name="">
            <a:extLst xmlns:a="http://schemas.openxmlformats.org/drawingml/2006/main">
              <a:ext uri="{FF2B5EF4-FFF2-40B4-BE49-F238E27FC236}">
                <a16:creationId xmlns:a16="http://schemas.microsoft.com/office/drawing/2014/main" id="{0AA8260A-0B8E-4378-8D91-4F41765AC5E7}"/>
              </a:ext>
            </a:extLst>
          </p:cNvPr>
          <p:cNvSpPr>
            <a:spLocks xmlns:a="http://schemas.openxmlformats.org/drawingml/2006/main" noGrp="1"/>
          </p:cNvSpPr>
          <p:nvPr/>
        </p:nvSpPr>
        <p:spPr>
          <a:xfrm xmlns:a="http://schemas.openxmlformats.org/drawingml/2006/main">
            <a:off x="6819900" y="3390900"/>
            <a:ext cx="76200" cy="76200"/>
          </a:xfrm>
          <a:prstGeom xmlns:a="http://schemas.openxmlformats.org/drawingml/2006/main" prst="ellipse">
            <a:avLst/>
          </a:prstGeom>
          <a:solidFill xmlns:a="http://schemas.openxmlformats.org/drawingml/2006/main">
            <a:srgbClr val="177A55"/>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15B74287-9027-46A5-936E-A763EBD671D2}"/>
              </a:ext>
            </a:extLst>
          </p:cNvPr>
          <p:cNvSpPr>
            <a:spLocks xmlns:a="http://schemas.openxmlformats.org/drawingml/2006/main" noGrp="1"/>
          </p:cNvSpPr>
          <p:nvPr/>
        </p:nvSpPr>
        <p:spPr>
          <a:xfrm xmlns:a="http://schemas.openxmlformats.org/drawingml/2006/main">
            <a:off x="7029450" y="3305175"/>
            <a:ext cx="36385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350" b="0">
                <a:solidFill>
                  <a:srgbClr val="111827"/>
                </a:solidFill>
              </a:defRPr>
            </a:pPr>
            <a:r>
              <a:rPr sz="1350" b="0">
                <a:solidFill>
                  <a:srgbClr val="111827"/>
                </a:solidFill>
              </a:rPr>
              <a:t>Only momentum-compatible families compete</a:t>
            </a:r>
          </a:p>
        </p:txBody>
      </p:sp>
      <p:sp>
        <p:nvSpPr>
          <p:cNvPr id="20" name="">
            <a:extLst xmlns:a="http://schemas.openxmlformats.org/drawingml/2006/main">
              <a:ext uri="{FF2B5EF4-FFF2-40B4-BE49-F238E27FC236}">
                <a16:creationId xmlns:a16="http://schemas.microsoft.com/office/drawing/2014/main" id="{E4810946-8487-4032-AE3E-C7A86E822BB0}"/>
              </a:ext>
            </a:extLst>
          </p:cNvPr>
          <p:cNvSpPr>
            <a:spLocks xmlns:a="http://schemas.openxmlformats.org/drawingml/2006/main" noGrp="1"/>
          </p:cNvSpPr>
          <p:nvPr/>
        </p:nvSpPr>
        <p:spPr>
          <a:xfrm xmlns:a="http://schemas.openxmlformats.org/drawingml/2006/main">
            <a:off x="6819900" y="3686175"/>
            <a:ext cx="76200" cy="76200"/>
          </a:xfrm>
          <a:prstGeom xmlns:a="http://schemas.openxmlformats.org/drawingml/2006/main" prst="ellipse">
            <a:avLst/>
          </a:prstGeom>
          <a:solidFill xmlns:a="http://schemas.openxmlformats.org/drawingml/2006/main">
            <a:srgbClr val="177A55"/>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84A02C58-8475-4055-A895-E29BCCE9AC90}"/>
              </a:ext>
            </a:extLst>
          </p:cNvPr>
          <p:cNvSpPr>
            <a:spLocks xmlns:a="http://schemas.openxmlformats.org/drawingml/2006/main" noGrp="1"/>
          </p:cNvSpPr>
          <p:nvPr/>
        </p:nvSpPr>
        <p:spPr>
          <a:xfrm xmlns:a="http://schemas.openxmlformats.org/drawingml/2006/main">
            <a:off x="7029450" y="3600450"/>
            <a:ext cx="36385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350" b="0">
                <a:solidFill>
                  <a:srgbClr val="111827"/>
                </a:solidFill>
              </a:defRPr>
            </a:pPr>
            <a:r>
              <a:rPr sz="1350" b="0">
                <a:solidFill>
                  <a:srgbClr val="111827"/>
                </a:solidFill>
              </a:rPr>
              <a:t>Forward path metrics become more directly relevant</a:t>
            </a:r>
          </a:p>
        </p:txBody>
      </p:sp>
      <p:sp>
        <p:nvSpPr>
          <p:cNvPr id="22" name="">
            <a:extLst xmlns:a="http://schemas.openxmlformats.org/drawingml/2006/main">
              <a:ext uri="{FF2B5EF4-FFF2-40B4-BE49-F238E27FC236}">
                <a16:creationId xmlns:a16="http://schemas.microsoft.com/office/drawing/2014/main" id="{5C4A3295-81A8-4F50-B881-8DED63C277C1}"/>
              </a:ext>
            </a:extLst>
          </p:cNvPr>
          <p:cNvSpPr>
            <a:spLocks xmlns:a="http://schemas.openxmlformats.org/drawingml/2006/main" noGrp="1"/>
          </p:cNvSpPr>
          <p:nvPr/>
        </p:nvSpPr>
        <p:spPr>
          <a:xfrm xmlns:a="http://schemas.openxmlformats.org/drawingml/2006/main">
            <a:off x="6819900" y="3981450"/>
            <a:ext cx="76200" cy="76200"/>
          </a:xfrm>
          <a:prstGeom xmlns:a="http://schemas.openxmlformats.org/drawingml/2006/main" prst="ellipse">
            <a:avLst/>
          </a:prstGeom>
          <a:solidFill xmlns:a="http://schemas.openxmlformats.org/drawingml/2006/main">
            <a:srgbClr val="177A55"/>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CE33B0DF-1EDE-4668-8505-D104A01B1D33}"/>
              </a:ext>
            </a:extLst>
          </p:cNvPr>
          <p:cNvSpPr>
            <a:spLocks xmlns:a="http://schemas.openxmlformats.org/drawingml/2006/main" noGrp="1"/>
          </p:cNvSpPr>
          <p:nvPr/>
        </p:nvSpPr>
        <p:spPr>
          <a:xfrm xmlns:a="http://schemas.openxmlformats.org/drawingml/2006/main">
            <a:off x="7029450" y="3895725"/>
            <a:ext cx="36385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350" b="0">
                <a:solidFill>
                  <a:srgbClr val="111827"/>
                </a:solidFill>
              </a:defRPr>
            </a:pPr>
            <a:r>
              <a:rPr sz="1350" b="0">
                <a:solidFill>
                  <a:srgbClr val="111827"/>
                </a:solidFill>
              </a:rPr>
              <a:t>Interpretation is narrower and easier to falsify</a:t>
            </a:r>
          </a:p>
        </p:txBody>
      </p:sp>
    </p:spTree>
    <p:extLst>
      <p:ext uri="{BB962C8B-B14F-4D97-AF65-F5344CB8AC3E}">
        <p14:creationId xmlns:p14="http://schemas.microsoft.com/office/powerpoint/2010/main" val="1284975108"/>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1AFFCF48-B574-4CAE-A9FB-37D5CC28FF39}"/>
              </a:ext>
            </a:extLst>
          </p:cNvPr>
          <p:cNvSpPr>
            <a:spLocks xmlns:a="http://schemas.openxmlformats.org/drawingml/2006/main" noGrp="1"/>
          </p:cNvSpPr>
          <p:nvPr/>
        </p:nvSpPr>
        <p:spPr>
          <a:xfrm xmlns:a="http://schemas.openxmlformats.org/drawingml/2006/main">
            <a:off x="609600" y="304800"/>
            <a:ext cx="5334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975" b="1">
                <a:solidFill>
                  <a:srgbClr val="2563EB"/>
                </a:solidFill>
              </a:defRPr>
            </a:pPr>
            <a:r>
              <a:rPr sz="975" b="1">
                <a:solidFill>
                  <a:srgbClr val="2563EB"/>
                </a:solidFill>
              </a:rPr>
              <a:t>GEN5.3 PCA RESEARCH PIVOT</a:t>
            </a:r>
          </a:p>
        </p:txBody>
      </p:sp>
      <p:sp>
        <p:nvSpPr>
          <p:cNvPr id="2" name="">
            <a:extLst xmlns:a="http://schemas.openxmlformats.org/drawingml/2006/main">
              <a:ext uri="{FF2B5EF4-FFF2-40B4-BE49-F238E27FC236}">
                <a16:creationId xmlns:a16="http://schemas.microsoft.com/office/drawing/2014/main" id="{F342AEB0-25FC-4D89-9BBC-86181F1A5137}"/>
              </a:ext>
            </a:extLst>
          </p:cNvPr>
          <p:cNvSpPr>
            <a:spLocks xmlns:a="http://schemas.openxmlformats.org/drawingml/2006/main" noGrp="1"/>
          </p:cNvSpPr>
          <p:nvPr/>
        </p:nvSpPr>
        <p:spPr>
          <a:xfrm xmlns:a="http://schemas.openxmlformats.org/drawingml/2006/main">
            <a:off x="609600" y="647700"/>
            <a:ext cx="9334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2775" b="1">
                <a:solidFill>
                  <a:srgbClr val="111827"/>
                </a:solidFill>
              </a:defRPr>
            </a:pPr>
            <a:r>
              <a:rPr sz="2775" b="1">
                <a:solidFill>
                  <a:srgbClr val="111827"/>
                </a:solidFill>
              </a:rPr>
              <a:t>This resembles how a real momentum trader narrows the problem</a:t>
            </a:r>
          </a:p>
        </p:txBody>
      </p:sp>
      <p:sp>
        <p:nvSpPr>
          <p:cNvPr id="3" name="">
            <a:extLst xmlns:a="http://schemas.openxmlformats.org/drawingml/2006/main">
              <a:ext uri="{FF2B5EF4-FFF2-40B4-BE49-F238E27FC236}">
                <a16:creationId xmlns:a16="http://schemas.microsoft.com/office/drawing/2014/main" id="{2E115C22-19D1-4367-AD7C-2FFFACC79DA5}"/>
              </a:ext>
            </a:extLst>
          </p:cNvPr>
          <p:cNvSpPr>
            <a:spLocks xmlns:a="http://schemas.openxmlformats.org/drawingml/2006/main" noGrp="1"/>
          </p:cNvSpPr>
          <p:nvPr/>
        </p:nvSpPr>
        <p:spPr>
          <a:xfrm xmlns:a="http://schemas.openxmlformats.org/drawingml/2006/main">
            <a:off x="609600" y="1485900"/>
            <a:ext cx="10572750" cy="9525"/>
          </a:xfrm>
          <a:prstGeom xmlns:a="http://schemas.openxmlformats.org/drawingml/2006/main" prst="rect">
            <a:avLst/>
          </a:prstGeom>
          <a:solidFill xmlns:a="http://schemas.openxmlformats.org/drawingml/2006/main">
            <a:srgbClr val="CBD3DD"/>
          </a:solidFill>
          <a:ln xmlns:a="http://schemas.openxmlformats.org/drawingml/2006/main" w="0">
            <a:solidFill>
              <a:srgbClr val="CBD3DD"/>
            </a:solidFill>
            <a:prstDash val="solid"/>
          </a:ln>
        </p:spPr>
      </p:sp>
      <p:sp>
        <p:nvSpPr>
          <p:cNvPr id="4" name="">
            <a:extLst xmlns:a="http://schemas.openxmlformats.org/drawingml/2006/main">
              <a:ext uri="{FF2B5EF4-FFF2-40B4-BE49-F238E27FC236}">
                <a16:creationId xmlns:a16="http://schemas.microsoft.com/office/drawing/2014/main" id="{32CEFB55-27A8-4764-B964-7A1276B0E5FD}"/>
              </a:ext>
            </a:extLst>
          </p:cNvPr>
          <p:cNvSpPr>
            <a:spLocks xmlns:a="http://schemas.openxmlformats.org/drawingml/2006/main" noGrp="1"/>
          </p:cNvSpPr>
          <p:nvPr/>
        </p:nvSpPr>
        <p:spPr>
          <a:xfrm xmlns:a="http://schemas.openxmlformats.org/drawingml/2006/main">
            <a:off x="723900" y="2019300"/>
            <a:ext cx="3219450" cy="3028950"/>
          </a:xfrm>
          <a:prstGeom xmlns:a="http://schemas.openxmlformats.org/drawingml/2006/main" prst="roundRect">
            <a:avLst>
              <a:gd name="adj" fmla="val 2516"/>
            </a:avLst>
          </a:prstGeom>
          <a:solidFill xmlns:a="http://schemas.openxmlformats.org/drawingml/2006/main">
            <a:srgbClr val="EFF6FF"/>
          </a:solidFill>
          <a:ln xmlns:a="http://schemas.openxmlformats.org/drawingml/2006/main" w="9525">
            <a:solidFill>
              <a:srgbClr val="BFDBFE"/>
            </a:solidFill>
            <a:prstDash val="solid"/>
          </a:ln>
        </p:spPr>
      </p:sp>
      <p:sp>
        <p:nvSpPr>
          <p:cNvPr id="5" name="">
            <a:extLst xmlns:a="http://schemas.openxmlformats.org/drawingml/2006/main">
              <a:ext uri="{FF2B5EF4-FFF2-40B4-BE49-F238E27FC236}">
                <a16:creationId xmlns:a16="http://schemas.microsoft.com/office/drawing/2014/main" id="{D261A113-87B1-4B4A-8206-DDE5680F8F11}"/>
              </a:ext>
            </a:extLst>
          </p:cNvPr>
          <p:cNvSpPr>
            <a:spLocks xmlns:a="http://schemas.openxmlformats.org/drawingml/2006/main" noGrp="1"/>
          </p:cNvSpPr>
          <p:nvPr/>
        </p:nvSpPr>
        <p:spPr>
          <a:xfrm xmlns:a="http://schemas.openxmlformats.org/drawingml/2006/main">
            <a:off x="4495800" y="2019300"/>
            <a:ext cx="3219450" cy="3028950"/>
          </a:xfrm>
          <a:prstGeom xmlns:a="http://schemas.openxmlformats.org/drawingml/2006/main" prst="roundRect">
            <a:avLst>
              <a:gd name="adj" fmla="val 2516"/>
            </a:avLst>
          </a:prstGeom>
          <a:solidFill xmlns:a="http://schemas.openxmlformats.org/drawingml/2006/main">
            <a:srgbClr val="F0FDF4"/>
          </a:solidFill>
          <a:ln xmlns:a="http://schemas.openxmlformats.org/drawingml/2006/main" w="9525">
            <a:solidFill>
              <a:srgbClr val="BBF7D0"/>
            </a:solidFill>
            <a:prstDash val="solid"/>
          </a:ln>
        </p:spPr>
      </p:sp>
      <p:sp>
        <p:nvSpPr>
          <p:cNvPr id="6" name="">
            <a:extLst xmlns:a="http://schemas.openxmlformats.org/drawingml/2006/main">
              <a:ext uri="{FF2B5EF4-FFF2-40B4-BE49-F238E27FC236}">
                <a16:creationId xmlns:a16="http://schemas.microsoft.com/office/drawing/2014/main" id="{36CDC9BB-C72A-4820-AB95-6C83F2F191BC}"/>
              </a:ext>
            </a:extLst>
          </p:cNvPr>
          <p:cNvSpPr>
            <a:spLocks xmlns:a="http://schemas.openxmlformats.org/drawingml/2006/main" noGrp="1"/>
          </p:cNvSpPr>
          <p:nvPr/>
        </p:nvSpPr>
        <p:spPr>
          <a:xfrm xmlns:a="http://schemas.openxmlformats.org/drawingml/2006/main">
            <a:off x="8267700" y="2019300"/>
            <a:ext cx="3219450" cy="3028950"/>
          </a:xfrm>
          <a:prstGeom xmlns:a="http://schemas.openxmlformats.org/drawingml/2006/main" prst="roundRect">
            <a:avLst>
              <a:gd name="adj" fmla="val 2516"/>
            </a:avLst>
          </a:prstGeom>
          <a:solidFill xmlns:a="http://schemas.openxmlformats.org/drawingml/2006/main">
            <a:srgbClr val="FFF7ED"/>
          </a:solidFill>
          <a:ln xmlns:a="http://schemas.openxmlformats.org/drawingml/2006/main" w="9525">
            <a:solidFill>
              <a:srgbClr val="FED7AA"/>
            </a:solidFill>
            <a:prstDash val="solid"/>
          </a:ln>
        </p:spPr>
      </p:sp>
      <p:sp>
        <p:nvSpPr>
          <p:cNvPr id="7" name="">
            <a:extLst xmlns:a="http://schemas.openxmlformats.org/drawingml/2006/main">
              <a:ext uri="{FF2B5EF4-FFF2-40B4-BE49-F238E27FC236}">
                <a16:creationId xmlns:a16="http://schemas.microsoft.com/office/drawing/2014/main" id="{E4CF92B6-5FA9-45BE-BCE2-FD5418952BBD}"/>
              </a:ext>
            </a:extLst>
          </p:cNvPr>
          <p:cNvSpPr>
            <a:spLocks xmlns:a="http://schemas.openxmlformats.org/drawingml/2006/main" noGrp="1"/>
          </p:cNvSpPr>
          <p:nvPr/>
        </p:nvSpPr>
        <p:spPr>
          <a:xfrm xmlns:a="http://schemas.openxmlformats.org/drawingml/2006/main">
            <a:off x="990600" y="2343150"/>
            <a:ext cx="2381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875" b="1">
                <a:solidFill>
                  <a:srgbClr val="2563EB"/>
                </a:solidFill>
              </a:defRPr>
            </a:pPr>
            <a:r>
              <a:rPr sz="1875" b="1">
                <a:solidFill>
                  <a:srgbClr val="2563EB"/>
                </a:solidFill>
              </a:rPr>
              <a:t>Screen first</a:t>
            </a:r>
          </a:p>
        </p:txBody>
      </p:sp>
      <p:sp>
        <p:nvSpPr>
          <p:cNvPr id="8" name="">
            <a:extLst xmlns:a="http://schemas.openxmlformats.org/drawingml/2006/main">
              <a:ext uri="{FF2B5EF4-FFF2-40B4-BE49-F238E27FC236}">
                <a16:creationId xmlns:a16="http://schemas.microsoft.com/office/drawing/2014/main" id="{D6D66BAC-C64E-4642-93D2-B1A5525FC7BD}"/>
              </a:ext>
            </a:extLst>
          </p:cNvPr>
          <p:cNvSpPr>
            <a:spLocks xmlns:a="http://schemas.openxmlformats.org/drawingml/2006/main" noGrp="1"/>
          </p:cNvSpPr>
          <p:nvPr/>
        </p:nvSpPr>
        <p:spPr>
          <a:xfrm xmlns:a="http://schemas.openxmlformats.org/drawingml/2006/main">
            <a:off x="990600" y="2933700"/>
            <a:ext cx="238125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575" b="0">
                <a:solidFill>
                  <a:srgbClr val="111827"/>
                </a:solidFill>
              </a:defRPr>
            </a:pPr>
            <a:r>
              <a:rPr sz="1575" b="0">
                <a:solidFill>
                  <a:srgbClr val="111827"/>
                </a:solidFill>
              </a:rPr>
              <a:t>Trade a list of liquid, strong, volatile assets rather than the whole market.</a:t>
            </a:r>
          </a:p>
        </p:txBody>
      </p:sp>
      <p:sp>
        <p:nvSpPr>
          <p:cNvPr id="9" name="">
            <a:extLst xmlns:a="http://schemas.openxmlformats.org/drawingml/2006/main">
              <a:ext uri="{FF2B5EF4-FFF2-40B4-BE49-F238E27FC236}">
                <a16:creationId xmlns:a16="http://schemas.microsoft.com/office/drawing/2014/main" id="{B827CFA7-4FE3-45F7-A3DD-F0D725E4D737}"/>
              </a:ext>
            </a:extLst>
          </p:cNvPr>
          <p:cNvSpPr>
            <a:spLocks xmlns:a="http://schemas.openxmlformats.org/drawingml/2006/main" noGrp="1"/>
          </p:cNvSpPr>
          <p:nvPr/>
        </p:nvSpPr>
        <p:spPr>
          <a:xfrm xmlns:a="http://schemas.openxmlformats.org/drawingml/2006/main">
            <a:off x="4762500" y="2343150"/>
            <a:ext cx="2381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875" b="1">
                <a:solidFill>
                  <a:srgbClr val="177A55"/>
                </a:solidFill>
              </a:defRPr>
            </a:pPr>
            <a:r>
              <a:rPr sz="1875" b="1">
                <a:solidFill>
                  <a:srgbClr val="177A55"/>
                </a:solidFill>
              </a:rPr>
              <a:t>Filter exposure</a:t>
            </a:r>
          </a:p>
        </p:txBody>
      </p:sp>
      <p:sp>
        <p:nvSpPr>
          <p:cNvPr id="10" name="">
            <a:extLst xmlns:a="http://schemas.openxmlformats.org/drawingml/2006/main">
              <a:ext uri="{FF2B5EF4-FFF2-40B4-BE49-F238E27FC236}">
                <a16:creationId xmlns:a16="http://schemas.microsoft.com/office/drawing/2014/main" id="{5FD6B84C-58AD-4C0B-8C10-1BE7895187E7}"/>
              </a:ext>
            </a:extLst>
          </p:cNvPr>
          <p:cNvSpPr>
            <a:spLocks xmlns:a="http://schemas.openxmlformats.org/drawingml/2006/main" noGrp="1"/>
          </p:cNvSpPr>
          <p:nvPr/>
        </p:nvSpPr>
        <p:spPr>
          <a:xfrm xmlns:a="http://schemas.openxmlformats.org/drawingml/2006/main">
            <a:off x="4762500" y="2933700"/>
            <a:ext cx="238125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575" b="0">
                <a:solidFill>
                  <a:srgbClr val="111827"/>
                </a:solidFill>
              </a:defRPr>
            </a:pPr>
            <a:r>
              <a:rPr sz="1575" b="0">
                <a:solidFill>
                  <a:srgbClr val="111827"/>
                </a:solidFill>
              </a:rPr>
              <a:t>Use trend, breadth, volatility, and risk context to decide when participation is still healthy.</a:t>
            </a:r>
          </a:p>
        </p:txBody>
      </p:sp>
      <p:sp>
        <p:nvSpPr>
          <p:cNvPr id="11" name="">
            <a:extLst xmlns:a="http://schemas.openxmlformats.org/drawingml/2006/main">
              <a:ext uri="{FF2B5EF4-FFF2-40B4-BE49-F238E27FC236}">
                <a16:creationId xmlns:a16="http://schemas.microsoft.com/office/drawing/2014/main" id="{A7DFC46E-91F1-4B54-A25F-F5E126B8A95A}"/>
              </a:ext>
            </a:extLst>
          </p:cNvPr>
          <p:cNvSpPr>
            <a:spLocks xmlns:a="http://schemas.openxmlformats.org/drawingml/2006/main" noGrp="1"/>
          </p:cNvSpPr>
          <p:nvPr/>
        </p:nvSpPr>
        <p:spPr>
          <a:xfrm xmlns:a="http://schemas.openxmlformats.org/drawingml/2006/main">
            <a:off x="8534400" y="2343150"/>
            <a:ext cx="2476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875" b="1">
                <a:solidFill>
                  <a:srgbClr val="D97706"/>
                </a:solidFill>
              </a:defRPr>
            </a:pPr>
            <a:r>
              <a:rPr sz="1875" b="1">
                <a:solidFill>
                  <a:srgbClr val="D97706"/>
                </a:solidFill>
              </a:rPr>
              <a:t>Benchmark honestly</a:t>
            </a:r>
          </a:p>
        </p:txBody>
      </p:sp>
      <p:sp>
        <p:nvSpPr>
          <p:cNvPr id="12" name="">
            <a:extLst xmlns:a="http://schemas.openxmlformats.org/drawingml/2006/main">
              <a:ext uri="{FF2B5EF4-FFF2-40B4-BE49-F238E27FC236}">
                <a16:creationId xmlns:a16="http://schemas.microsoft.com/office/drawing/2014/main" id="{F3820D36-ACF8-44D6-B0A3-19F97BEFE44F}"/>
              </a:ext>
            </a:extLst>
          </p:cNvPr>
          <p:cNvSpPr>
            <a:spLocks xmlns:a="http://schemas.openxmlformats.org/drawingml/2006/main" noGrp="1"/>
          </p:cNvSpPr>
          <p:nvPr/>
        </p:nvSpPr>
        <p:spPr>
          <a:xfrm xmlns:a="http://schemas.openxmlformats.org/drawingml/2006/main">
            <a:off x="8534400" y="2933700"/>
            <a:ext cx="238125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575" b="0">
                <a:solidFill>
                  <a:srgbClr val="111827"/>
                </a:solidFill>
              </a:defRPr>
            </a:pPr>
            <a:r>
              <a:rPr sz="1575" b="0">
                <a:solidFill>
                  <a:srgbClr val="111827"/>
                </a:solidFill>
              </a:rPr>
              <a:t>A bullish specialist must compete with simply holding the bullish basket.</a:t>
            </a:r>
          </a:p>
        </p:txBody>
      </p:sp>
      <p:sp>
        <p:nvSpPr>
          <p:cNvPr id="13" name="">
            <a:extLst xmlns:a="http://schemas.openxmlformats.org/drawingml/2006/main">
              <a:ext uri="{FF2B5EF4-FFF2-40B4-BE49-F238E27FC236}">
                <a16:creationId xmlns:a16="http://schemas.microsoft.com/office/drawing/2014/main" id="{A2CD96FB-A0C0-4F02-881F-307390AF3163}"/>
              </a:ext>
            </a:extLst>
          </p:cNvPr>
          <p:cNvSpPr>
            <a:spLocks xmlns:a="http://schemas.openxmlformats.org/drawingml/2006/main" noGrp="1"/>
          </p:cNvSpPr>
          <p:nvPr/>
        </p:nvSpPr>
        <p:spPr>
          <a:xfrm xmlns:a="http://schemas.openxmlformats.org/drawingml/2006/main">
            <a:off x="1409700" y="5676900"/>
            <a:ext cx="93726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950" b="1">
                <a:solidFill>
                  <a:srgbClr val="111827"/>
                </a:solidFill>
              </a:defRPr>
            </a:pPr>
            <a:r>
              <a:rPr sz="1950" b="1">
                <a:solidFill>
                  <a:srgbClr val="111827"/>
                </a:solidFill>
              </a:rPr>
              <a:t>The narrowing does not make the system less serious. It makes the hypothesis test cleaner.</a:t>
            </a:r>
          </a:p>
        </p:txBody>
      </p:sp>
    </p:spTree>
    <p:extLst>
      <p:ext uri="{BB962C8B-B14F-4D97-AF65-F5344CB8AC3E}">
        <p14:creationId xmlns:p14="http://schemas.microsoft.com/office/powerpoint/2010/main" val="1750168220"/>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91780806-35CA-423F-BDEB-57DFD9D95CE5}"/>
              </a:ext>
            </a:extLst>
          </p:cNvPr>
          <p:cNvSpPr>
            <a:spLocks xmlns:a="http://schemas.openxmlformats.org/drawingml/2006/main" noGrp="1"/>
          </p:cNvSpPr>
          <p:nvPr/>
        </p:nvSpPr>
        <p:spPr>
          <a:xfrm xmlns:a="http://schemas.openxmlformats.org/drawingml/2006/main">
            <a:off x="609600" y="304800"/>
            <a:ext cx="5334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975" b="1">
                <a:solidFill>
                  <a:srgbClr val="2563EB"/>
                </a:solidFill>
              </a:defRPr>
            </a:pPr>
            <a:r>
              <a:rPr sz="975" b="1">
                <a:solidFill>
                  <a:srgbClr val="2563EB"/>
                </a:solidFill>
              </a:rPr>
              <a:t>GEN5.3 PCA RESEARCH PIVOT</a:t>
            </a:r>
          </a:p>
        </p:txBody>
      </p:sp>
      <p:sp>
        <p:nvSpPr>
          <p:cNvPr id="2" name="">
            <a:extLst xmlns:a="http://schemas.openxmlformats.org/drawingml/2006/main">
              <a:ext uri="{FF2B5EF4-FFF2-40B4-BE49-F238E27FC236}">
                <a16:creationId xmlns:a16="http://schemas.microsoft.com/office/drawing/2014/main" id="{6821D755-8018-405A-9790-304CF08451A8}"/>
              </a:ext>
            </a:extLst>
          </p:cNvPr>
          <p:cNvSpPr>
            <a:spLocks xmlns:a="http://schemas.openxmlformats.org/drawingml/2006/main" noGrp="1"/>
          </p:cNvSpPr>
          <p:nvPr/>
        </p:nvSpPr>
        <p:spPr>
          <a:xfrm xmlns:a="http://schemas.openxmlformats.org/drawingml/2006/main">
            <a:off x="609600" y="647700"/>
            <a:ext cx="9334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2775" b="1">
                <a:solidFill>
                  <a:srgbClr val="111827"/>
                </a:solidFill>
              </a:defRPr>
            </a:pPr>
            <a:r>
              <a:rPr sz="2775" b="1">
                <a:solidFill>
                  <a:srgbClr val="111827"/>
                </a:solidFill>
              </a:rPr>
              <a:t>Feature sets should be audited through participation, not only point-to-point return</a:t>
            </a:r>
          </a:p>
        </p:txBody>
      </p:sp>
      <p:sp>
        <p:nvSpPr>
          <p:cNvPr id="3" name="">
            <a:extLst xmlns:a="http://schemas.openxmlformats.org/drawingml/2006/main">
              <a:ext uri="{FF2B5EF4-FFF2-40B4-BE49-F238E27FC236}">
                <a16:creationId xmlns:a16="http://schemas.microsoft.com/office/drawing/2014/main" id="{028E71B6-81B2-49A7-B6F8-30303FC2CF95}"/>
              </a:ext>
            </a:extLst>
          </p:cNvPr>
          <p:cNvSpPr>
            <a:spLocks xmlns:a="http://schemas.openxmlformats.org/drawingml/2006/main" noGrp="1"/>
          </p:cNvSpPr>
          <p:nvPr/>
        </p:nvSpPr>
        <p:spPr>
          <a:xfrm xmlns:a="http://schemas.openxmlformats.org/drawingml/2006/main">
            <a:off x="609600" y="1485900"/>
            <a:ext cx="10572750" cy="9525"/>
          </a:xfrm>
          <a:prstGeom xmlns:a="http://schemas.openxmlformats.org/drawingml/2006/main" prst="rect">
            <a:avLst/>
          </a:prstGeom>
          <a:solidFill xmlns:a="http://schemas.openxmlformats.org/drawingml/2006/main">
            <a:srgbClr val="CBD3DD"/>
          </a:solidFill>
          <a:ln xmlns:a="http://schemas.openxmlformats.org/drawingml/2006/main" w="0">
            <a:solidFill>
              <a:srgbClr val="CBD3DD"/>
            </a:solidFill>
            <a:prstDash val="solid"/>
          </a:ln>
        </p:spPr>
      </p:sp>
      <p:sp>
        <p:nvSpPr>
          <p:cNvPr id="4" name="">
            <a:extLst xmlns:a="http://schemas.openxmlformats.org/drawingml/2006/main">
              <a:ext uri="{FF2B5EF4-FFF2-40B4-BE49-F238E27FC236}">
                <a16:creationId xmlns:a16="http://schemas.microsoft.com/office/drawing/2014/main" id="{3E874118-4541-4B73-8BDA-BD3065113EDA}"/>
              </a:ext>
            </a:extLst>
          </p:cNvPr>
          <p:cNvSpPr>
            <a:spLocks xmlns:a="http://schemas.openxmlformats.org/drawingml/2006/main" noGrp="1"/>
          </p:cNvSpPr>
          <p:nvPr/>
        </p:nvSpPr>
        <p:spPr>
          <a:xfrm xmlns:a="http://schemas.openxmlformats.org/drawingml/2006/main">
            <a:off x="685800" y="2095500"/>
            <a:ext cx="2476500" cy="3086100"/>
          </a:xfrm>
          <a:prstGeom xmlns:a="http://schemas.openxmlformats.org/drawingml/2006/main" prst="roundRect">
            <a:avLst>
              <a:gd name="adj" fmla="val 3077"/>
            </a:avLst>
          </a:prstGeom>
          <a:solidFill xmlns:a="http://schemas.openxmlformats.org/drawingml/2006/main">
            <a:srgbClr val="F8FAFC"/>
          </a:solidFill>
          <a:ln xmlns:a="http://schemas.openxmlformats.org/drawingml/2006/main" w="9525">
            <a:solidFill>
              <a:srgbClr val="D9E0EA"/>
            </a:solidFill>
            <a:prstDash val="solid"/>
          </a:ln>
        </p:spPr>
      </p:sp>
      <p:sp>
        <p:nvSpPr>
          <p:cNvPr id="5" name="">
            <a:extLst xmlns:a="http://schemas.openxmlformats.org/drawingml/2006/main">
              <a:ext uri="{FF2B5EF4-FFF2-40B4-BE49-F238E27FC236}">
                <a16:creationId xmlns:a16="http://schemas.microsoft.com/office/drawing/2014/main" id="{025C6E62-5532-4A98-9644-8DEF2E73544C}"/>
              </a:ext>
            </a:extLst>
          </p:cNvPr>
          <p:cNvSpPr>
            <a:spLocks xmlns:a="http://schemas.openxmlformats.org/drawingml/2006/main" noGrp="1"/>
          </p:cNvSpPr>
          <p:nvPr/>
        </p:nvSpPr>
        <p:spPr>
          <a:xfrm xmlns:a="http://schemas.openxmlformats.org/drawingml/2006/main">
            <a:off x="876300" y="2343150"/>
            <a:ext cx="2095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050" b="1">
                <a:solidFill>
                  <a:srgbClr val="2563EB"/>
                </a:solidFill>
              </a:defRPr>
            </a:pPr>
            <a:r>
              <a:rPr sz="1050" b="1">
                <a:solidFill>
                  <a:srgbClr val="2563EB"/>
                </a:solidFill>
              </a:rPr>
              <a:t>State mechanics</a:t>
            </a:r>
          </a:p>
        </p:txBody>
      </p:sp>
      <p:sp>
        <p:nvSpPr>
          <p:cNvPr id="6" name="">
            <a:extLst xmlns:a="http://schemas.openxmlformats.org/drawingml/2006/main">
              <a:ext uri="{FF2B5EF4-FFF2-40B4-BE49-F238E27FC236}">
                <a16:creationId xmlns:a16="http://schemas.microsoft.com/office/drawing/2014/main" id="{273C4B3C-7FD6-44C3-BA01-E6FDE7BADE08}"/>
              </a:ext>
            </a:extLst>
          </p:cNvPr>
          <p:cNvSpPr>
            <a:spLocks xmlns:a="http://schemas.openxmlformats.org/drawingml/2006/main" noGrp="1"/>
          </p:cNvSpPr>
          <p:nvPr/>
        </p:nvSpPr>
        <p:spPr>
          <a:xfrm xmlns:a="http://schemas.openxmlformats.org/drawingml/2006/main">
            <a:off x="933450" y="3057525"/>
            <a:ext cx="76200" cy="76200"/>
          </a:xfrm>
          <a:prstGeom xmlns:a="http://schemas.openxmlformats.org/drawingml/2006/main" prst="ellipse">
            <a:avLst/>
          </a:prstGeom>
          <a:solidFill xmlns:a="http://schemas.openxmlformats.org/drawingml/2006/main">
            <a:srgbClr val="2563EB"/>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CF311231-22AA-4FB5-9BC3-8E521ED01423}"/>
              </a:ext>
            </a:extLst>
          </p:cNvPr>
          <p:cNvSpPr>
            <a:spLocks xmlns:a="http://schemas.openxmlformats.org/drawingml/2006/main" noGrp="1"/>
          </p:cNvSpPr>
          <p:nvPr/>
        </p:nvSpPr>
        <p:spPr>
          <a:xfrm xmlns:a="http://schemas.openxmlformats.org/drawingml/2006/main">
            <a:off x="1143000" y="2971800"/>
            <a:ext cx="1828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350" b="0">
                <a:solidFill>
                  <a:srgbClr val="111827"/>
                </a:solidFill>
              </a:defRPr>
            </a:pPr>
            <a:r>
              <a:rPr sz="1350" b="0">
                <a:solidFill>
                  <a:srgbClr val="111827"/>
                </a:solidFill>
              </a:rPr>
              <a:t>Population</a:t>
            </a:r>
          </a:p>
        </p:txBody>
      </p:sp>
      <p:sp>
        <p:nvSpPr>
          <p:cNvPr id="8" name="">
            <a:extLst xmlns:a="http://schemas.openxmlformats.org/drawingml/2006/main">
              <a:ext uri="{FF2B5EF4-FFF2-40B4-BE49-F238E27FC236}">
                <a16:creationId xmlns:a16="http://schemas.microsoft.com/office/drawing/2014/main" id="{32A07AB8-13DE-4680-AF79-2A97CB57E330}"/>
              </a:ext>
            </a:extLst>
          </p:cNvPr>
          <p:cNvSpPr>
            <a:spLocks xmlns:a="http://schemas.openxmlformats.org/drawingml/2006/main" noGrp="1"/>
          </p:cNvSpPr>
          <p:nvPr/>
        </p:nvSpPr>
        <p:spPr>
          <a:xfrm xmlns:a="http://schemas.openxmlformats.org/drawingml/2006/main">
            <a:off x="933450" y="3381375"/>
            <a:ext cx="76200" cy="76200"/>
          </a:xfrm>
          <a:prstGeom xmlns:a="http://schemas.openxmlformats.org/drawingml/2006/main" prst="ellipse">
            <a:avLst/>
          </a:prstGeom>
          <a:solidFill xmlns:a="http://schemas.openxmlformats.org/drawingml/2006/main">
            <a:srgbClr val="2563EB"/>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89DE0F1A-178B-4FD8-992D-4E54692D4659}"/>
              </a:ext>
            </a:extLst>
          </p:cNvPr>
          <p:cNvSpPr>
            <a:spLocks xmlns:a="http://schemas.openxmlformats.org/drawingml/2006/main" noGrp="1"/>
          </p:cNvSpPr>
          <p:nvPr/>
        </p:nvSpPr>
        <p:spPr>
          <a:xfrm xmlns:a="http://schemas.openxmlformats.org/drawingml/2006/main">
            <a:off x="1143000" y="3295650"/>
            <a:ext cx="1828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350" b="0">
                <a:solidFill>
                  <a:srgbClr val="111827"/>
                </a:solidFill>
              </a:defRPr>
            </a:pPr>
            <a:r>
              <a:rPr sz="1350" b="0">
                <a:solidFill>
                  <a:srgbClr val="111827"/>
                </a:solidFill>
              </a:rPr>
              <a:t>Persistence</a:t>
            </a:r>
          </a:p>
        </p:txBody>
      </p:sp>
      <p:sp>
        <p:nvSpPr>
          <p:cNvPr id="10" name="">
            <a:extLst xmlns:a="http://schemas.openxmlformats.org/drawingml/2006/main">
              <a:ext uri="{FF2B5EF4-FFF2-40B4-BE49-F238E27FC236}">
                <a16:creationId xmlns:a16="http://schemas.microsoft.com/office/drawing/2014/main" id="{566A5BDD-5F5D-48B6-9968-BF9275E883EF}"/>
              </a:ext>
            </a:extLst>
          </p:cNvPr>
          <p:cNvSpPr>
            <a:spLocks xmlns:a="http://schemas.openxmlformats.org/drawingml/2006/main" noGrp="1"/>
          </p:cNvSpPr>
          <p:nvPr/>
        </p:nvSpPr>
        <p:spPr>
          <a:xfrm xmlns:a="http://schemas.openxmlformats.org/drawingml/2006/main">
            <a:off x="933450" y="3705225"/>
            <a:ext cx="76200" cy="76200"/>
          </a:xfrm>
          <a:prstGeom xmlns:a="http://schemas.openxmlformats.org/drawingml/2006/main" prst="ellipse">
            <a:avLst/>
          </a:prstGeom>
          <a:solidFill xmlns:a="http://schemas.openxmlformats.org/drawingml/2006/main">
            <a:srgbClr val="2563EB"/>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03E79690-FF5D-4FA9-B92A-56CA7CE2CE30}"/>
              </a:ext>
            </a:extLst>
          </p:cNvPr>
          <p:cNvSpPr>
            <a:spLocks xmlns:a="http://schemas.openxmlformats.org/drawingml/2006/main" noGrp="1"/>
          </p:cNvSpPr>
          <p:nvPr/>
        </p:nvSpPr>
        <p:spPr>
          <a:xfrm xmlns:a="http://schemas.openxmlformats.org/drawingml/2006/main">
            <a:off x="1143000" y="3619500"/>
            <a:ext cx="1828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350" b="0">
                <a:solidFill>
                  <a:srgbClr val="111827"/>
                </a:solidFill>
              </a:defRPr>
            </a:pPr>
            <a:r>
              <a:rPr sz="1350" b="0">
                <a:solidFill>
                  <a:srgbClr val="111827"/>
                </a:solidFill>
              </a:rPr>
              <a:t>Fold stability</a:t>
            </a:r>
          </a:p>
        </p:txBody>
      </p:sp>
      <p:sp>
        <p:nvSpPr>
          <p:cNvPr id="12" name="">
            <a:extLst xmlns:a="http://schemas.openxmlformats.org/drawingml/2006/main">
              <a:ext uri="{FF2B5EF4-FFF2-40B4-BE49-F238E27FC236}">
                <a16:creationId xmlns:a16="http://schemas.microsoft.com/office/drawing/2014/main" id="{E2D11451-DA7A-4904-B113-E93B2602496B}"/>
              </a:ext>
            </a:extLst>
          </p:cNvPr>
          <p:cNvSpPr>
            <a:spLocks xmlns:a="http://schemas.openxmlformats.org/drawingml/2006/main" noGrp="1"/>
          </p:cNvSpPr>
          <p:nvPr/>
        </p:nvSpPr>
        <p:spPr>
          <a:xfrm xmlns:a="http://schemas.openxmlformats.org/drawingml/2006/main">
            <a:off x="933450" y="4029075"/>
            <a:ext cx="76200" cy="76200"/>
          </a:xfrm>
          <a:prstGeom xmlns:a="http://schemas.openxmlformats.org/drawingml/2006/main" prst="ellipse">
            <a:avLst/>
          </a:prstGeom>
          <a:solidFill xmlns:a="http://schemas.openxmlformats.org/drawingml/2006/main">
            <a:srgbClr val="2563EB"/>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9E8C6A88-710B-4188-A60B-D01552C57BA5}"/>
              </a:ext>
            </a:extLst>
          </p:cNvPr>
          <p:cNvSpPr>
            <a:spLocks xmlns:a="http://schemas.openxmlformats.org/drawingml/2006/main" noGrp="1"/>
          </p:cNvSpPr>
          <p:nvPr/>
        </p:nvSpPr>
        <p:spPr>
          <a:xfrm xmlns:a="http://schemas.openxmlformats.org/drawingml/2006/main">
            <a:off x="1143000" y="3943350"/>
            <a:ext cx="1828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350" b="0">
                <a:solidFill>
                  <a:srgbClr val="111827"/>
                </a:solidFill>
              </a:defRPr>
            </a:pPr>
            <a:r>
              <a:rPr sz="1350" b="0">
                <a:solidFill>
                  <a:srgbClr val="111827"/>
                </a:solidFill>
              </a:rPr>
              <a:t>State transitions</a:t>
            </a:r>
          </a:p>
        </p:txBody>
      </p:sp>
      <p:sp>
        <p:nvSpPr>
          <p:cNvPr id="14" name="">
            <a:extLst xmlns:a="http://schemas.openxmlformats.org/drawingml/2006/main">
              <a:ext uri="{FF2B5EF4-FFF2-40B4-BE49-F238E27FC236}">
                <a16:creationId xmlns:a16="http://schemas.microsoft.com/office/drawing/2014/main" id="{89870E05-823A-4B18-8C60-5B6F9DACB5C0}"/>
              </a:ext>
            </a:extLst>
          </p:cNvPr>
          <p:cNvSpPr>
            <a:spLocks xmlns:a="http://schemas.openxmlformats.org/drawingml/2006/main" noGrp="1"/>
          </p:cNvSpPr>
          <p:nvPr/>
        </p:nvSpPr>
        <p:spPr>
          <a:xfrm xmlns:a="http://schemas.openxmlformats.org/drawingml/2006/main">
            <a:off x="3505200" y="2095500"/>
            <a:ext cx="2476500" cy="3086100"/>
          </a:xfrm>
          <a:prstGeom xmlns:a="http://schemas.openxmlformats.org/drawingml/2006/main" prst="roundRect">
            <a:avLst>
              <a:gd name="adj" fmla="val 3077"/>
            </a:avLst>
          </a:prstGeom>
          <a:solidFill xmlns:a="http://schemas.openxmlformats.org/drawingml/2006/main">
            <a:srgbClr val="F8FAFC"/>
          </a:solidFill>
          <a:ln xmlns:a="http://schemas.openxmlformats.org/drawingml/2006/main" w="9525">
            <a:solidFill>
              <a:srgbClr val="D9E0EA"/>
            </a:solidFill>
            <a:prstDash val="solid"/>
          </a:ln>
        </p:spPr>
      </p:sp>
      <p:sp>
        <p:nvSpPr>
          <p:cNvPr id="15" name="">
            <a:extLst xmlns:a="http://schemas.openxmlformats.org/drawingml/2006/main">
              <a:ext uri="{FF2B5EF4-FFF2-40B4-BE49-F238E27FC236}">
                <a16:creationId xmlns:a16="http://schemas.microsoft.com/office/drawing/2014/main" id="{0F59806E-DA94-4CA9-B52C-92C10DC2C43A}"/>
              </a:ext>
            </a:extLst>
          </p:cNvPr>
          <p:cNvSpPr>
            <a:spLocks xmlns:a="http://schemas.openxmlformats.org/drawingml/2006/main" noGrp="1"/>
          </p:cNvSpPr>
          <p:nvPr/>
        </p:nvSpPr>
        <p:spPr>
          <a:xfrm xmlns:a="http://schemas.openxmlformats.org/drawingml/2006/main">
            <a:off x="3695700" y="2343150"/>
            <a:ext cx="2095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050" b="1">
                <a:solidFill>
                  <a:srgbClr val="0F9F8F"/>
                </a:solidFill>
              </a:defRPr>
            </a:pPr>
            <a:r>
              <a:rPr sz="1050" b="1">
                <a:solidFill>
                  <a:srgbClr val="0F9F8F"/>
                </a:solidFill>
              </a:rPr>
              <a:t>Forward path</a:t>
            </a:r>
          </a:p>
        </p:txBody>
      </p:sp>
      <p:sp>
        <p:nvSpPr>
          <p:cNvPr id="16" name="">
            <a:extLst xmlns:a="http://schemas.openxmlformats.org/drawingml/2006/main">
              <a:ext uri="{FF2B5EF4-FFF2-40B4-BE49-F238E27FC236}">
                <a16:creationId xmlns:a16="http://schemas.microsoft.com/office/drawing/2014/main" id="{5D7DF274-E55B-4B9E-9DB6-C96429C7D288}"/>
              </a:ext>
            </a:extLst>
          </p:cNvPr>
          <p:cNvSpPr>
            <a:spLocks xmlns:a="http://schemas.openxmlformats.org/drawingml/2006/main" noGrp="1"/>
          </p:cNvSpPr>
          <p:nvPr/>
        </p:nvSpPr>
        <p:spPr>
          <a:xfrm xmlns:a="http://schemas.openxmlformats.org/drawingml/2006/main">
            <a:off x="3752850" y="3057525"/>
            <a:ext cx="76200" cy="76200"/>
          </a:xfrm>
          <a:prstGeom xmlns:a="http://schemas.openxmlformats.org/drawingml/2006/main" prst="ellipse">
            <a:avLst/>
          </a:prstGeom>
          <a:solidFill xmlns:a="http://schemas.openxmlformats.org/drawingml/2006/main">
            <a:srgbClr val="0F9F8F"/>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06F1B4AE-F35D-486C-86A9-5389E5375D00}"/>
              </a:ext>
            </a:extLst>
          </p:cNvPr>
          <p:cNvSpPr>
            <a:spLocks xmlns:a="http://schemas.openxmlformats.org/drawingml/2006/main" noGrp="1"/>
          </p:cNvSpPr>
          <p:nvPr/>
        </p:nvSpPr>
        <p:spPr>
          <a:xfrm xmlns:a="http://schemas.openxmlformats.org/drawingml/2006/main">
            <a:off x="3962400" y="2971800"/>
            <a:ext cx="1828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350" b="0">
                <a:solidFill>
                  <a:srgbClr val="111827"/>
                </a:solidFill>
              </a:defRPr>
            </a:pPr>
            <a:r>
              <a:rPr sz="1350" b="0">
                <a:solidFill>
                  <a:srgbClr val="111827"/>
                </a:solidFill>
              </a:rPr>
              <a:t>Return</a:t>
            </a:r>
          </a:p>
        </p:txBody>
      </p:sp>
      <p:sp>
        <p:nvSpPr>
          <p:cNvPr id="18" name="">
            <a:extLst xmlns:a="http://schemas.openxmlformats.org/drawingml/2006/main">
              <a:ext uri="{FF2B5EF4-FFF2-40B4-BE49-F238E27FC236}">
                <a16:creationId xmlns:a16="http://schemas.microsoft.com/office/drawing/2014/main" id="{2F1D0209-2E1F-4C0C-A28E-EFC89E6D250A}"/>
              </a:ext>
            </a:extLst>
          </p:cNvPr>
          <p:cNvSpPr>
            <a:spLocks xmlns:a="http://schemas.openxmlformats.org/drawingml/2006/main" noGrp="1"/>
          </p:cNvSpPr>
          <p:nvPr/>
        </p:nvSpPr>
        <p:spPr>
          <a:xfrm xmlns:a="http://schemas.openxmlformats.org/drawingml/2006/main">
            <a:off x="3752850" y="3381375"/>
            <a:ext cx="76200" cy="76200"/>
          </a:xfrm>
          <a:prstGeom xmlns:a="http://schemas.openxmlformats.org/drawingml/2006/main" prst="ellipse">
            <a:avLst/>
          </a:prstGeom>
          <a:solidFill xmlns:a="http://schemas.openxmlformats.org/drawingml/2006/main">
            <a:srgbClr val="0F9F8F"/>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93805E91-CF70-4420-B928-FB6CE815610B}"/>
              </a:ext>
            </a:extLst>
          </p:cNvPr>
          <p:cNvSpPr>
            <a:spLocks xmlns:a="http://schemas.openxmlformats.org/drawingml/2006/main" noGrp="1"/>
          </p:cNvSpPr>
          <p:nvPr/>
        </p:nvSpPr>
        <p:spPr>
          <a:xfrm xmlns:a="http://schemas.openxmlformats.org/drawingml/2006/main">
            <a:off x="3962400" y="3295650"/>
            <a:ext cx="1828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350" b="0">
                <a:solidFill>
                  <a:srgbClr val="111827"/>
                </a:solidFill>
              </a:defRPr>
            </a:pPr>
            <a:r>
              <a:rPr sz="1350" b="0">
                <a:solidFill>
                  <a:srgbClr val="111827"/>
                </a:solidFill>
              </a:rPr>
              <a:t>Volatility</a:t>
            </a:r>
          </a:p>
        </p:txBody>
      </p:sp>
      <p:sp>
        <p:nvSpPr>
          <p:cNvPr id="20" name="">
            <a:extLst xmlns:a="http://schemas.openxmlformats.org/drawingml/2006/main">
              <a:ext uri="{FF2B5EF4-FFF2-40B4-BE49-F238E27FC236}">
                <a16:creationId xmlns:a16="http://schemas.microsoft.com/office/drawing/2014/main" id="{2702BFFA-9C66-41D1-92D7-5670292CB9EB}"/>
              </a:ext>
            </a:extLst>
          </p:cNvPr>
          <p:cNvSpPr>
            <a:spLocks xmlns:a="http://schemas.openxmlformats.org/drawingml/2006/main" noGrp="1"/>
          </p:cNvSpPr>
          <p:nvPr/>
        </p:nvSpPr>
        <p:spPr>
          <a:xfrm xmlns:a="http://schemas.openxmlformats.org/drawingml/2006/main">
            <a:off x="3752850" y="3705225"/>
            <a:ext cx="76200" cy="76200"/>
          </a:xfrm>
          <a:prstGeom xmlns:a="http://schemas.openxmlformats.org/drawingml/2006/main" prst="ellipse">
            <a:avLst/>
          </a:prstGeom>
          <a:solidFill xmlns:a="http://schemas.openxmlformats.org/drawingml/2006/main">
            <a:srgbClr val="0F9F8F"/>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2DB95C3E-5124-4C95-9B85-B98305CEF430}"/>
              </a:ext>
            </a:extLst>
          </p:cNvPr>
          <p:cNvSpPr>
            <a:spLocks xmlns:a="http://schemas.openxmlformats.org/drawingml/2006/main" noGrp="1"/>
          </p:cNvSpPr>
          <p:nvPr/>
        </p:nvSpPr>
        <p:spPr>
          <a:xfrm xmlns:a="http://schemas.openxmlformats.org/drawingml/2006/main">
            <a:off x="3962400" y="3619500"/>
            <a:ext cx="1828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350" b="0">
                <a:solidFill>
                  <a:srgbClr val="111827"/>
                </a:solidFill>
              </a:defRPr>
            </a:pPr>
            <a:r>
              <a:rPr sz="1350" b="0">
                <a:solidFill>
                  <a:srgbClr val="111827"/>
                </a:solidFill>
              </a:rPr>
              <a:t>Favorable excursion</a:t>
            </a:r>
          </a:p>
        </p:txBody>
      </p:sp>
      <p:sp>
        <p:nvSpPr>
          <p:cNvPr id="22" name="">
            <a:extLst xmlns:a="http://schemas.openxmlformats.org/drawingml/2006/main">
              <a:ext uri="{FF2B5EF4-FFF2-40B4-BE49-F238E27FC236}">
                <a16:creationId xmlns:a16="http://schemas.microsoft.com/office/drawing/2014/main" id="{721B2966-967E-4C87-8997-3FF40C77A0C6}"/>
              </a:ext>
            </a:extLst>
          </p:cNvPr>
          <p:cNvSpPr>
            <a:spLocks xmlns:a="http://schemas.openxmlformats.org/drawingml/2006/main" noGrp="1"/>
          </p:cNvSpPr>
          <p:nvPr/>
        </p:nvSpPr>
        <p:spPr>
          <a:xfrm xmlns:a="http://schemas.openxmlformats.org/drawingml/2006/main">
            <a:off x="3752850" y="4029075"/>
            <a:ext cx="76200" cy="76200"/>
          </a:xfrm>
          <a:prstGeom xmlns:a="http://schemas.openxmlformats.org/drawingml/2006/main" prst="ellipse">
            <a:avLst/>
          </a:prstGeom>
          <a:solidFill xmlns:a="http://schemas.openxmlformats.org/drawingml/2006/main">
            <a:srgbClr val="0F9F8F"/>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2233FAB8-798C-4D22-A8BD-9834C45E7DB6}"/>
              </a:ext>
            </a:extLst>
          </p:cNvPr>
          <p:cNvSpPr>
            <a:spLocks xmlns:a="http://schemas.openxmlformats.org/drawingml/2006/main" noGrp="1"/>
          </p:cNvSpPr>
          <p:nvPr/>
        </p:nvSpPr>
        <p:spPr>
          <a:xfrm xmlns:a="http://schemas.openxmlformats.org/drawingml/2006/main">
            <a:off x="3962400" y="3943350"/>
            <a:ext cx="1828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350" b="0">
                <a:solidFill>
                  <a:srgbClr val="111827"/>
                </a:solidFill>
              </a:defRPr>
            </a:pPr>
            <a:r>
              <a:rPr sz="1350" b="0">
                <a:solidFill>
                  <a:srgbClr val="111827"/>
                </a:solidFill>
              </a:rPr>
              <a:t>Adverse excursion</a:t>
            </a:r>
          </a:p>
        </p:txBody>
      </p:sp>
      <p:sp>
        <p:nvSpPr>
          <p:cNvPr id="24" name="">
            <a:extLst xmlns:a="http://schemas.openxmlformats.org/drawingml/2006/main">
              <a:ext uri="{FF2B5EF4-FFF2-40B4-BE49-F238E27FC236}">
                <a16:creationId xmlns:a16="http://schemas.microsoft.com/office/drawing/2014/main" id="{22C330C2-3F7C-466C-876F-D974429005DE}"/>
              </a:ext>
            </a:extLst>
          </p:cNvPr>
          <p:cNvSpPr>
            <a:spLocks xmlns:a="http://schemas.openxmlformats.org/drawingml/2006/main" noGrp="1"/>
          </p:cNvSpPr>
          <p:nvPr/>
        </p:nvSpPr>
        <p:spPr>
          <a:xfrm xmlns:a="http://schemas.openxmlformats.org/drawingml/2006/main">
            <a:off x="6324600" y="2095500"/>
            <a:ext cx="2476500" cy="3086100"/>
          </a:xfrm>
          <a:prstGeom xmlns:a="http://schemas.openxmlformats.org/drawingml/2006/main" prst="roundRect">
            <a:avLst>
              <a:gd name="adj" fmla="val 3077"/>
            </a:avLst>
          </a:prstGeom>
          <a:solidFill xmlns:a="http://schemas.openxmlformats.org/drawingml/2006/main">
            <a:srgbClr val="F8FAFC"/>
          </a:solidFill>
          <a:ln xmlns:a="http://schemas.openxmlformats.org/drawingml/2006/main" w="9525">
            <a:solidFill>
              <a:srgbClr val="D9E0EA"/>
            </a:solidFill>
            <a:prstDash val="solid"/>
          </a:ln>
        </p:spPr>
      </p:sp>
      <p:sp>
        <p:nvSpPr>
          <p:cNvPr id="25" name="">
            <a:extLst xmlns:a="http://schemas.openxmlformats.org/drawingml/2006/main">
              <a:ext uri="{FF2B5EF4-FFF2-40B4-BE49-F238E27FC236}">
                <a16:creationId xmlns:a16="http://schemas.microsoft.com/office/drawing/2014/main" id="{7CDF3F0C-C260-4926-BEDE-9E7917721269}"/>
              </a:ext>
            </a:extLst>
          </p:cNvPr>
          <p:cNvSpPr>
            <a:spLocks xmlns:a="http://schemas.openxmlformats.org/drawingml/2006/main" noGrp="1"/>
          </p:cNvSpPr>
          <p:nvPr/>
        </p:nvSpPr>
        <p:spPr>
          <a:xfrm xmlns:a="http://schemas.openxmlformats.org/drawingml/2006/main">
            <a:off x="6515100" y="2343150"/>
            <a:ext cx="2095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050" b="1">
                <a:solidFill>
                  <a:srgbClr val="7C3AED"/>
                </a:solidFill>
              </a:defRPr>
            </a:pPr>
            <a:r>
              <a:rPr sz="1050" b="1">
                <a:solidFill>
                  <a:srgbClr val="7C3AED"/>
                </a:solidFill>
              </a:rPr>
              <a:t>Momentum fit</a:t>
            </a:r>
          </a:p>
        </p:txBody>
      </p:sp>
      <p:sp>
        <p:nvSpPr>
          <p:cNvPr id="26" name="">
            <a:extLst xmlns:a="http://schemas.openxmlformats.org/drawingml/2006/main">
              <a:ext uri="{FF2B5EF4-FFF2-40B4-BE49-F238E27FC236}">
                <a16:creationId xmlns:a16="http://schemas.microsoft.com/office/drawing/2014/main" id="{529FF4F5-9DCB-477A-8E5B-A035DC7A9BF2}"/>
              </a:ext>
            </a:extLst>
          </p:cNvPr>
          <p:cNvSpPr>
            <a:spLocks xmlns:a="http://schemas.openxmlformats.org/drawingml/2006/main" noGrp="1"/>
          </p:cNvSpPr>
          <p:nvPr/>
        </p:nvSpPr>
        <p:spPr>
          <a:xfrm xmlns:a="http://schemas.openxmlformats.org/drawingml/2006/main">
            <a:off x="6572250" y="3057525"/>
            <a:ext cx="76200" cy="76200"/>
          </a:xfrm>
          <a:prstGeom xmlns:a="http://schemas.openxmlformats.org/drawingml/2006/main" prst="ellipse">
            <a:avLst/>
          </a:prstGeom>
          <a:solidFill xmlns:a="http://schemas.openxmlformats.org/drawingml/2006/main">
            <a:srgbClr val="7C3AED"/>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80FD67C4-CC43-4A8A-9D21-2FC171124D75}"/>
              </a:ext>
            </a:extLst>
          </p:cNvPr>
          <p:cNvSpPr>
            <a:spLocks xmlns:a="http://schemas.openxmlformats.org/drawingml/2006/main" noGrp="1"/>
          </p:cNvSpPr>
          <p:nvPr/>
        </p:nvSpPr>
        <p:spPr>
          <a:xfrm xmlns:a="http://schemas.openxmlformats.org/drawingml/2006/main">
            <a:off x="6781800" y="2971800"/>
            <a:ext cx="1828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350" b="0">
                <a:solidFill>
                  <a:srgbClr val="111827"/>
                </a:solidFill>
              </a:defRPr>
            </a:pPr>
            <a:r>
              <a:rPr sz="1350" b="0">
                <a:solidFill>
                  <a:srgbClr val="111827"/>
                </a:solidFill>
              </a:rPr>
              <a:t>Family by state</a:t>
            </a:r>
          </a:p>
        </p:txBody>
      </p:sp>
      <p:sp>
        <p:nvSpPr>
          <p:cNvPr id="28" name="">
            <a:extLst xmlns:a="http://schemas.openxmlformats.org/drawingml/2006/main">
              <a:ext uri="{FF2B5EF4-FFF2-40B4-BE49-F238E27FC236}">
                <a16:creationId xmlns:a16="http://schemas.microsoft.com/office/drawing/2014/main" id="{92A9C507-23AA-4E8F-A9E3-8B9CCDDA48FE}"/>
              </a:ext>
            </a:extLst>
          </p:cNvPr>
          <p:cNvSpPr>
            <a:spLocks xmlns:a="http://schemas.openxmlformats.org/drawingml/2006/main" noGrp="1"/>
          </p:cNvSpPr>
          <p:nvPr/>
        </p:nvSpPr>
        <p:spPr>
          <a:xfrm xmlns:a="http://schemas.openxmlformats.org/drawingml/2006/main">
            <a:off x="6572250" y="3381375"/>
            <a:ext cx="76200" cy="76200"/>
          </a:xfrm>
          <a:prstGeom xmlns:a="http://schemas.openxmlformats.org/drawingml/2006/main" prst="ellipse">
            <a:avLst/>
          </a:prstGeom>
          <a:solidFill xmlns:a="http://schemas.openxmlformats.org/drawingml/2006/main">
            <a:srgbClr val="7C3AED"/>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75D27D1F-D96B-4116-BC54-F1AFDBC61827}"/>
              </a:ext>
            </a:extLst>
          </p:cNvPr>
          <p:cNvSpPr>
            <a:spLocks xmlns:a="http://schemas.openxmlformats.org/drawingml/2006/main" noGrp="1"/>
          </p:cNvSpPr>
          <p:nvPr/>
        </p:nvSpPr>
        <p:spPr>
          <a:xfrm xmlns:a="http://schemas.openxmlformats.org/drawingml/2006/main">
            <a:off x="6781800" y="3295650"/>
            <a:ext cx="1828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350" b="0">
                <a:solidFill>
                  <a:srgbClr val="111827"/>
                </a:solidFill>
              </a:defRPr>
            </a:pPr>
            <a:r>
              <a:rPr sz="1350" b="0">
                <a:solidFill>
                  <a:srgbClr val="111827"/>
                </a:solidFill>
              </a:rPr>
              <a:t>Spec stability</a:t>
            </a:r>
          </a:p>
        </p:txBody>
      </p:sp>
      <p:sp>
        <p:nvSpPr>
          <p:cNvPr id="30" name="">
            <a:extLst xmlns:a="http://schemas.openxmlformats.org/drawingml/2006/main">
              <a:ext uri="{FF2B5EF4-FFF2-40B4-BE49-F238E27FC236}">
                <a16:creationId xmlns:a16="http://schemas.microsoft.com/office/drawing/2014/main" id="{546F3714-8D4D-46D5-92C1-4956EF7816D5}"/>
              </a:ext>
            </a:extLst>
          </p:cNvPr>
          <p:cNvSpPr>
            <a:spLocks xmlns:a="http://schemas.openxmlformats.org/drawingml/2006/main" noGrp="1"/>
          </p:cNvSpPr>
          <p:nvPr/>
        </p:nvSpPr>
        <p:spPr>
          <a:xfrm xmlns:a="http://schemas.openxmlformats.org/drawingml/2006/main">
            <a:off x="6572250" y="3705225"/>
            <a:ext cx="76200" cy="76200"/>
          </a:xfrm>
          <a:prstGeom xmlns:a="http://schemas.openxmlformats.org/drawingml/2006/main" prst="ellipse">
            <a:avLst/>
          </a:prstGeom>
          <a:solidFill xmlns:a="http://schemas.openxmlformats.org/drawingml/2006/main">
            <a:srgbClr val="7C3AED"/>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88669268-E631-4612-A66F-F07286D3DD19}"/>
              </a:ext>
            </a:extLst>
          </p:cNvPr>
          <p:cNvSpPr>
            <a:spLocks xmlns:a="http://schemas.openxmlformats.org/drawingml/2006/main" noGrp="1"/>
          </p:cNvSpPr>
          <p:nvPr/>
        </p:nvSpPr>
        <p:spPr>
          <a:xfrm xmlns:a="http://schemas.openxmlformats.org/drawingml/2006/main">
            <a:off x="6781800" y="3619500"/>
            <a:ext cx="1828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350" b="0">
                <a:solidFill>
                  <a:srgbClr val="111827"/>
                </a:solidFill>
              </a:defRPr>
            </a:pPr>
            <a:r>
              <a:rPr sz="1350" b="0">
                <a:solidFill>
                  <a:srgbClr val="111827"/>
                </a:solidFill>
              </a:rPr>
              <a:t>Trend exposure</a:t>
            </a:r>
          </a:p>
        </p:txBody>
      </p:sp>
      <p:sp>
        <p:nvSpPr>
          <p:cNvPr id="32" name="">
            <a:extLst xmlns:a="http://schemas.openxmlformats.org/drawingml/2006/main">
              <a:ext uri="{FF2B5EF4-FFF2-40B4-BE49-F238E27FC236}">
                <a16:creationId xmlns:a16="http://schemas.microsoft.com/office/drawing/2014/main" id="{D8C0ED1A-2232-45ED-A69A-84BBC3D9C1DB}"/>
              </a:ext>
            </a:extLst>
          </p:cNvPr>
          <p:cNvSpPr>
            <a:spLocks xmlns:a="http://schemas.openxmlformats.org/drawingml/2006/main" noGrp="1"/>
          </p:cNvSpPr>
          <p:nvPr/>
        </p:nvSpPr>
        <p:spPr>
          <a:xfrm xmlns:a="http://schemas.openxmlformats.org/drawingml/2006/main">
            <a:off x="6572250" y="4029075"/>
            <a:ext cx="76200" cy="76200"/>
          </a:xfrm>
          <a:prstGeom xmlns:a="http://schemas.openxmlformats.org/drawingml/2006/main" prst="ellipse">
            <a:avLst/>
          </a:prstGeom>
          <a:solidFill xmlns:a="http://schemas.openxmlformats.org/drawingml/2006/main">
            <a:srgbClr val="7C3AED"/>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3F17EA6F-3BFE-483B-96C4-10CBB7D959FF}"/>
              </a:ext>
            </a:extLst>
          </p:cNvPr>
          <p:cNvSpPr>
            <a:spLocks xmlns:a="http://schemas.openxmlformats.org/drawingml/2006/main" noGrp="1"/>
          </p:cNvSpPr>
          <p:nvPr/>
        </p:nvSpPr>
        <p:spPr>
          <a:xfrm xmlns:a="http://schemas.openxmlformats.org/drawingml/2006/main">
            <a:off x="6781800" y="3943350"/>
            <a:ext cx="1828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350" b="0">
                <a:solidFill>
                  <a:srgbClr val="111827"/>
                </a:solidFill>
              </a:defRPr>
            </a:pPr>
            <a:r>
              <a:rPr sz="1350" b="0">
                <a:solidFill>
                  <a:srgbClr val="111827"/>
                </a:solidFill>
              </a:rPr>
              <a:t>No-trade discipline</a:t>
            </a:r>
          </a:p>
        </p:txBody>
      </p:sp>
      <p:sp>
        <p:nvSpPr>
          <p:cNvPr id="34" name="">
            <a:extLst xmlns:a="http://schemas.openxmlformats.org/drawingml/2006/main">
              <a:ext uri="{FF2B5EF4-FFF2-40B4-BE49-F238E27FC236}">
                <a16:creationId xmlns:a16="http://schemas.microsoft.com/office/drawing/2014/main" id="{87767321-8A40-46D6-ACA3-B04F8595E943}"/>
              </a:ext>
            </a:extLst>
          </p:cNvPr>
          <p:cNvSpPr>
            <a:spLocks xmlns:a="http://schemas.openxmlformats.org/drawingml/2006/main" noGrp="1"/>
          </p:cNvSpPr>
          <p:nvPr/>
        </p:nvSpPr>
        <p:spPr>
          <a:xfrm xmlns:a="http://schemas.openxmlformats.org/drawingml/2006/main">
            <a:off x="9144000" y="2095500"/>
            <a:ext cx="2476500" cy="3086100"/>
          </a:xfrm>
          <a:prstGeom xmlns:a="http://schemas.openxmlformats.org/drawingml/2006/main" prst="roundRect">
            <a:avLst>
              <a:gd name="adj" fmla="val 3077"/>
            </a:avLst>
          </a:prstGeom>
          <a:solidFill xmlns:a="http://schemas.openxmlformats.org/drawingml/2006/main">
            <a:srgbClr val="F8FAFC"/>
          </a:solidFill>
          <a:ln xmlns:a="http://schemas.openxmlformats.org/drawingml/2006/main" w="9525">
            <a:solidFill>
              <a:srgbClr val="D9E0EA"/>
            </a:solidFill>
            <a:prstDash val="solid"/>
          </a:ln>
        </p:spPr>
      </p:sp>
      <p:sp>
        <p:nvSpPr>
          <p:cNvPr id="35" name="">
            <a:extLst xmlns:a="http://schemas.openxmlformats.org/drawingml/2006/main">
              <a:ext uri="{FF2B5EF4-FFF2-40B4-BE49-F238E27FC236}">
                <a16:creationId xmlns:a16="http://schemas.microsoft.com/office/drawing/2014/main" id="{DD5FE845-541F-4C05-907B-37490C9F19B3}"/>
              </a:ext>
            </a:extLst>
          </p:cNvPr>
          <p:cNvSpPr>
            <a:spLocks xmlns:a="http://schemas.openxmlformats.org/drawingml/2006/main" noGrp="1"/>
          </p:cNvSpPr>
          <p:nvPr/>
        </p:nvSpPr>
        <p:spPr>
          <a:xfrm xmlns:a="http://schemas.openxmlformats.org/drawingml/2006/main">
            <a:off x="9334500" y="2343150"/>
            <a:ext cx="2095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050" b="1">
                <a:solidFill>
                  <a:srgbClr val="D97706"/>
                </a:solidFill>
              </a:defRPr>
            </a:pPr>
            <a:r>
              <a:rPr sz="1050" b="1">
                <a:solidFill>
                  <a:srgbClr val="D97706"/>
                </a:solidFill>
              </a:rPr>
              <a:t>Portfolio replay</a:t>
            </a:r>
          </a:p>
        </p:txBody>
      </p:sp>
      <p:sp>
        <p:nvSpPr>
          <p:cNvPr id="36" name="">
            <a:extLst xmlns:a="http://schemas.openxmlformats.org/drawingml/2006/main">
              <a:ext uri="{FF2B5EF4-FFF2-40B4-BE49-F238E27FC236}">
                <a16:creationId xmlns:a16="http://schemas.microsoft.com/office/drawing/2014/main" id="{F651E86D-981F-45F6-AD3E-16ECDDD71481}"/>
              </a:ext>
            </a:extLst>
          </p:cNvPr>
          <p:cNvSpPr>
            <a:spLocks xmlns:a="http://schemas.openxmlformats.org/drawingml/2006/main" noGrp="1"/>
          </p:cNvSpPr>
          <p:nvPr/>
        </p:nvSpPr>
        <p:spPr>
          <a:xfrm xmlns:a="http://schemas.openxmlformats.org/drawingml/2006/main">
            <a:off x="9391650" y="3057525"/>
            <a:ext cx="76200" cy="76200"/>
          </a:xfrm>
          <a:prstGeom xmlns:a="http://schemas.openxmlformats.org/drawingml/2006/main" prst="ellipse">
            <a:avLst/>
          </a:prstGeom>
          <a:solidFill xmlns:a="http://schemas.openxmlformats.org/drawingml/2006/main">
            <a:srgbClr val="D97706"/>
          </a:solidFill>
          <a:ln xmlns:a="http://schemas.openxmlformats.org/drawingml/2006/main" w="0">
            <a:noFill/>
            <a:prstDash val="solid"/>
          </a:ln>
        </p:spPr>
      </p:sp>
      <p:sp>
        <p:nvSpPr>
          <p:cNvPr id="37" name="">
            <a:extLst xmlns:a="http://schemas.openxmlformats.org/drawingml/2006/main">
              <a:ext uri="{FF2B5EF4-FFF2-40B4-BE49-F238E27FC236}">
                <a16:creationId xmlns:a16="http://schemas.microsoft.com/office/drawing/2014/main" id="{19A99BC2-28A9-4518-BEE5-CC3A049B0ED3}"/>
              </a:ext>
            </a:extLst>
          </p:cNvPr>
          <p:cNvSpPr>
            <a:spLocks xmlns:a="http://schemas.openxmlformats.org/drawingml/2006/main" noGrp="1"/>
          </p:cNvSpPr>
          <p:nvPr/>
        </p:nvSpPr>
        <p:spPr>
          <a:xfrm xmlns:a="http://schemas.openxmlformats.org/drawingml/2006/main">
            <a:off x="9601200" y="2971800"/>
            <a:ext cx="1828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350" b="0">
                <a:solidFill>
                  <a:srgbClr val="111827"/>
                </a:solidFill>
              </a:defRPr>
            </a:pPr>
            <a:r>
              <a:rPr sz="1350" b="0">
                <a:solidFill>
                  <a:srgbClr val="111827"/>
                </a:solidFill>
              </a:rPr>
              <a:t>Live capital</a:t>
            </a:r>
          </a:p>
        </p:txBody>
      </p:sp>
      <p:sp>
        <p:nvSpPr>
          <p:cNvPr id="38" name="">
            <a:extLst xmlns:a="http://schemas.openxmlformats.org/drawingml/2006/main">
              <a:ext uri="{FF2B5EF4-FFF2-40B4-BE49-F238E27FC236}">
                <a16:creationId xmlns:a16="http://schemas.microsoft.com/office/drawing/2014/main" id="{DD31F483-5061-4F79-8168-FF9C8863EA10}"/>
              </a:ext>
            </a:extLst>
          </p:cNvPr>
          <p:cNvSpPr>
            <a:spLocks xmlns:a="http://schemas.openxmlformats.org/drawingml/2006/main" noGrp="1"/>
          </p:cNvSpPr>
          <p:nvPr/>
        </p:nvSpPr>
        <p:spPr>
          <a:xfrm xmlns:a="http://schemas.openxmlformats.org/drawingml/2006/main">
            <a:off x="9391650" y="3381375"/>
            <a:ext cx="76200" cy="76200"/>
          </a:xfrm>
          <a:prstGeom xmlns:a="http://schemas.openxmlformats.org/drawingml/2006/main" prst="ellipse">
            <a:avLst/>
          </a:prstGeom>
          <a:solidFill xmlns:a="http://schemas.openxmlformats.org/drawingml/2006/main">
            <a:srgbClr val="D97706"/>
          </a:solidFill>
          <a:ln xmlns:a="http://schemas.openxmlformats.org/drawingml/2006/main" w="0">
            <a:noFill/>
            <a:prstDash val="solid"/>
          </a:ln>
        </p:spPr>
      </p:sp>
      <p:sp>
        <p:nvSpPr>
          <p:cNvPr id="39" name="">
            <a:extLst xmlns:a="http://schemas.openxmlformats.org/drawingml/2006/main">
              <a:ext uri="{FF2B5EF4-FFF2-40B4-BE49-F238E27FC236}">
                <a16:creationId xmlns:a16="http://schemas.microsoft.com/office/drawing/2014/main" id="{4E7FE9A5-32F1-4381-9058-974C31913681}"/>
              </a:ext>
            </a:extLst>
          </p:cNvPr>
          <p:cNvSpPr>
            <a:spLocks xmlns:a="http://schemas.openxmlformats.org/drawingml/2006/main" noGrp="1"/>
          </p:cNvSpPr>
          <p:nvPr/>
        </p:nvSpPr>
        <p:spPr>
          <a:xfrm xmlns:a="http://schemas.openxmlformats.org/drawingml/2006/main">
            <a:off x="9601200" y="3295650"/>
            <a:ext cx="1828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350" b="0">
                <a:solidFill>
                  <a:srgbClr val="111827"/>
                </a:solidFill>
              </a:defRPr>
            </a:pPr>
            <a:r>
              <a:rPr sz="1350" b="0">
                <a:solidFill>
                  <a:srgbClr val="111827"/>
                </a:solidFill>
              </a:rPr>
              <a:t>Basket alpha</a:t>
            </a:r>
          </a:p>
        </p:txBody>
      </p:sp>
      <p:sp>
        <p:nvSpPr>
          <p:cNvPr id="40" name="">
            <a:extLst xmlns:a="http://schemas.openxmlformats.org/drawingml/2006/main">
              <a:ext uri="{FF2B5EF4-FFF2-40B4-BE49-F238E27FC236}">
                <a16:creationId xmlns:a16="http://schemas.microsoft.com/office/drawing/2014/main" id="{18A06720-63FD-4747-9D9C-A895EF59A3F4}"/>
              </a:ext>
            </a:extLst>
          </p:cNvPr>
          <p:cNvSpPr>
            <a:spLocks xmlns:a="http://schemas.openxmlformats.org/drawingml/2006/main" noGrp="1"/>
          </p:cNvSpPr>
          <p:nvPr/>
        </p:nvSpPr>
        <p:spPr>
          <a:xfrm xmlns:a="http://schemas.openxmlformats.org/drawingml/2006/main">
            <a:off x="9391650" y="3705225"/>
            <a:ext cx="76200" cy="76200"/>
          </a:xfrm>
          <a:prstGeom xmlns:a="http://schemas.openxmlformats.org/drawingml/2006/main" prst="ellipse">
            <a:avLst/>
          </a:prstGeom>
          <a:solidFill xmlns:a="http://schemas.openxmlformats.org/drawingml/2006/main">
            <a:srgbClr val="D97706"/>
          </a:solidFill>
          <a:ln xmlns:a="http://schemas.openxmlformats.org/drawingml/2006/main" w="0">
            <a:noFill/>
            <a:prstDash val="solid"/>
          </a:ln>
        </p:spPr>
      </p:sp>
      <p:sp>
        <p:nvSpPr>
          <p:cNvPr id="41" name="">
            <a:extLst xmlns:a="http://schemas.openxmlformats.org/drawingml/2006/main">
              <a:ext uri="{FF2B5EF4-FFF2-40B4-BE49-F238E27FC236}">
                <a16:creationId xmlns:a16="http://schemas.microsoft.com/office/drawing/2014/main" id="{D64339E9-5273-4FA1-9E1B-A0F5736003E5}"/>
              </a:ext>
            </a:extLst>
          </p:cNvPr>
          <p:cNvSpPr>
            <a:spLocks xmlns:a="http://schemas.openxmlformats.org/drawingml/2006/main" noGrp="1"/>
          </p:cNvSpPr>
          <p:nvPr/>
        </p:nvSpPr>
        <p:spPr>
          <a:xfrm xmlns:a="http://schemas.openxmlformats.org/drawingml/2006/main">
            <a:off x="9601200" y="3619500"/>
            <a:ext cx="1828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350" b="0">
                <a:solidFill>
                  <a:srgbClr val="111827"/>
                </a:solidFill>
              </a:defRPr>
            </a:pPr>
            <a:r>
              <a:rPr sz="1350" b="0">
                <a:solidFill>
                  <a:srgbClr val="111827"/>
                </a:solidFill>
              </a:rPr>
              <a:t>Time in market</a:t>
            </a:r>
          </a:p>
        </p:txBody>
      </p:sp>
      <p:sp>
        <p:nvSpPr>
          <p:cNvPr id="42" name="">
            <a:extLst xmlns:a="http://schemas.openxmlformats.org/drawingml/2006/main">
              <a:ext uri="{FF2B5EF4-FFF2-40B4-BE49-F238E27FC236}">
                <a16:creationId xmlns:a16="http://schemas.microsoft.com/office/drawing/2014/main" id="{D646DBEE-1ABB-4B01-B9FE-6992A3F8F965}"/>
              </a:ext>
            </a:extLst>
          </p:cNvPr>
          <p:cNvSpPr>
            <a:spLocks xmlns:a="http://schemas.openxmlformats.org/drawingml/2006/main" noGrp="1"/>
          </p:cNvSpPr>
          <p:nvPr/>
        </p:nvSpPr>
        <p:spPr>
          <a:xfrm xmlns:a="http://schemas.openxmlformats.org/drawingml/2006/main">
            <a:off x="9391650" y="4029075"/>
            <a:ext cx="76200" cy="76200"/>
          </a:xfrm>
          <a:prstGeom xmlns:a="http://schemas.openxmlformats.org/drawingml/2006/main" prst="ellipse">
            <a:avLst/>
          </a:prstGeom>
          <a:solidFill xmlns:a="http://schemas.openxmlformats.org/drawingml/2006/main">
            <a:srgbClr val="D97706"/>
          </a:solidFill>
          <a:ln xmlns:a="http://schemas.openxmlformats.org/drawingml/2006/main" w="0">
            <a:noFill/>
            <a:prstDash val="solid"/>
          </a:ln>
        </p:spPr>
      </p:sp>
      <p:sp>
        <p:nvSpPr>
          <p:cNvPr id="43" name="">
            <a:extLst xmlns:a="http://schemas.openxmlformats.org/drawingml/2006/main">
              <a:ext uri="{FF2B5EF4-FFF2-40B4-BE49-F238E27FC236}">
                <a16:creationId xmlns:a16="http://schemas.microsoft.com/office/drawing/2014/main" id="{741F50ED-89A2-49FB-B013-A04B6BB99144}"/>
              </a:ext>
            </a:extLst>
          </p:cNvPr>
          <p:cNvSpPr>
            <a:spLocks xmlns:a="http://schemas.openxmlformats.org/drawingml/2006/main" noGrp="1"/>
          </p:cNvSpPr>
          <p:nvPr/>
        </p:nvSpPr>
        <p:spPr>
          <a:xfrm xmlns:a="http://schemas.openxmlformats.org/drawingml/2006/main">
            <a:off x="9601200" y="3943350"/>
            <a:ext cx="1828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350" b="0">
                <a:solidFill>
                  <a:srgbClr val="111827"/>
                </a:solidFill>
              </a:defRPr>
            </a:pPr>
            <a:r>
              <a:rPr sz="1350" b="0">
                <a:solidFill>
                  <a:srgbClr val="111827"/>
                </a:solidFill>
              </a:rPr>
              <a:t>Trade tapes</a:t>
            </a:r>
          </a:p>
        </p:txBody>
      </p:sp>
      <p:sp>
        <p:nvSpPr>
          <p:cNvPr id="44" name="">
            <a:extLst xmlns:a="http://schemas.openxmlformats.org/drawingml/2006/main">
              <a:ext uri="{FF2B5EF4-FFF2-40B4-BE49-F238E27FC236}">
                <a16:creationId xmlns:a16="http://schemas.microsoft.com/office/drawing/2014/main" id="{3476CA9D-EC04-4115-927C-5B829406378C}"/>
              </a:ext>
            </a:extLst>
          </p:cNvPr>
          <p:cNvSpPr>
            <a:spLocks xmlns:a="http://schemas.openxmlformats.org/drawingml/2006/main" noGrp="1"/>
          </p:cNvSpPr>
          <p:nvPr/>
        </p:nvSpPr>
        <p:spPr>
          <a:xfrm xmlns:a="http://schemas.openxmlformats.org/drawingml/2006/main">
            <a:off x="1200150" y="5753100"/>
            <a:ext cx="97917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00" b="1">
                <a:solidFill>
                  <a:srgbClr val="111827"/>
                </a:solidFill>
              </a:defRPr>
            </a:pPr>
            <a:r>
              <a:rPr sz="1800" b="1">
                <a:solidFill>
                  <a:srgbClr val="111827"/>
                </a:solidFill>
              </a:rPr>
              <a:t>The final judge remains strategy-conditioned replay, but cheaper diagnostics should explain why a feature set did or did not help.</a:t>
            </a:r>
          </a:p>
        </p:txBody>
      </p:sp>
    </p:spTree>
    <p:extLst>
      <p:ext uri="{BB962C8B-B14F-4D97-AF65-F5344CB8AC3E}">
        <p14:creationId xmlns:p14="http://schemas.microsoft.com/office/powerpoint/2010/main" val="701318425"/>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A4DB24D7-5EDE-4552-AA75-BE1D758E7FF0}"/>
              </a:ext>
            </a:extLst>
          </p:cNvPr>
          <p:cNvSpPr>
            <a:spLocks xmlns:a="http://schemas.openxmlformats.org/drawingml/2006/main" noGrp="1"/>
          </p:cNvSpPr>
          <p:nvPr/>
        </p:nvSpPr>
        <p:spPr>
          <a:xfrm xmlns:a="http://schemas.openxmlformats.org/drawingml/2006/main">
            <a:off x="609600" y="304800"/>
            <a:ext cx="5334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975" b="1">
                <a:solidFill>
                  <a:srgbClr val="2563EB"/>
                </a:solidFill>
              </a:defRPr>
            </a:pPr>
            <a:r>
              <a:rPr sz="975" b="1">
                <a:solidFill>
                  <a:srgbClr val="2563EB"/>
                </a:solidFill>
              </a:rPr>
              <a:t>GEN5.3 PCA RESEARCH PIVOT</a:t>
            </a:r>
          </a:p>
        </p:txBody>
      </p:sp>
      <p:sp>
        <p:nvSpPr>
          <p:cNvPr id="2" name="">
            <a:extLst xmlns:a="http://schemas.openxmlformats.org/drawingml/2006/main">
              <a:ext uri="{FF2B5EF4-FFF2-40B4-BE49-F238E27FC236}">
                <a16:creationId xmlns:a16="http://schemas.microsoft.com/office/drawing/2014/main" id="{DDBA6157-BFD9-4F88-9D10-6AA5BE68C6E5}"/>
              </a:ext>
            </a:extLst>
          </p:cNvPr>
          <p:cNvSpPr>
            <a:spLocks xmlns:a="http://schemas.openxmlformats.org/drawingml/2006/main" noGrp="1"/>
          </p:cNvSpPr>
          <p:nvPr/>
        </p:nvSpPr>
        <p:spPr>
          <a:xfrm xmlns:a="http://schemas.openxmlformats.org/drawingml/2006/main">
            <a:off x="609600" y="647700"/>
            <a:ext cx="9334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2775" b="1">
                <a:solidFill>
                  <a:srgbClr val="111827"/>
                </a:solidFill>
              </a:defRPr>
            </a:pPr>
            <a:r>
              <a:rPr sz="2775" b="1">
                <a:solidFill>
                  <a:srgbClr val="111827"/>
                </a:solidFill>
              </a:rPr>
              <a:t>The first run should be small enough to fail clearly</a:t>
            </a:r>
          </a:p>
        </p:txBody>
      </p:sp>
      <p:sp>
        <p:nvSpPr>
          <p:cNvPr id="3" name="">
            <a:extLst xmlns:a="http://schemas.openxmlformats.org/drawingml/2006/main">
              <a:ext uri="{FF2B5EF4-FFF2-40B4-BE49-F238E27FC236}">
                <a16:creationId xmlns:a16="http://schemas.microsoft.com/office/drawing/2014/main" id="{92A8E57A-C863-4256-9CA4-CFA02E2E41F5}"/>
              </a:ext>
            </a:extLst>
          </p:cNvPr>
          <p:cNvSpPr>
            <a:spLocks xmlns:a="http://schemas.openxmlformats.org/drawingml/2006/main" noGrp="1"/>
          </p:cNvSpPr>
          <p:nvPr/>
        </p:nvSpPr>
        <p:spPr>
          <a:xfrm xmlns:a="http://schemas.openxmlformats.org/drawingml/2006/main">
            <a:off x="609600" y="1485900"/>
            <a:ext cx="10572750" cy="9525"/>
          </a:xfrm>
          <a:prstGeom xmlns:a="http://schemas.openxmlformats.org/drawingml/2006/main" prst="rect">
            <a:avLst/>
          </a:prstGeom>
          <a:solidFill xmlns:a="http://schemas.openxmlformats.org/drawingml/2006/main">
            <a:srgbClr val="CBD3DD"/>
          </a:solidFill>
          <a:ln xmlns:a="http://schemas.openxmlformats.org/drawingml/2006/main" w="0">
            <a:solidFill>
              <a:srgbClr val="CBD3DD"/>
            </a:solidFill>
            <a:prstDash val="solid"/>
          </a:ln>
        </p:spPr>
      </p:sp>
      <p:sp>
        <p:nvSpPr>
          <p:cNvPr id="4" name="">
            <a:extLst xmlns:a="http://schemas.openxmlformats.org/drawingml/2006/main">
              <a:ext uri="{FF2B5EF4-FFF2-40B4-BE49-F238E27FC236}">
                <a16:creationId xmlns:a16="http://schemas.microsoft.com/office/drawing/2014/main" id="{4114112A-9A27-4D1B-8266-EA120BD9A422}"/>
              </a:ext>
            </a:extLst>
          </p:cNvPr>
          <p:cNvSpPr>
            <a:spLocks xmlns:a="http://schemas.openxmlformats.org/drawingml/2006/main" noGrp="1"/>
          </p:cNvSpPr>
          <p:nvPr/>
        </p:nvSpPr>
        <p:spPr>
          <a:xfrm xmlns:a="http://schemas.openxmlformats.org/drawingml/2006/main">
            <a:off x="781050" y="1962150"/>
            <a:ext cx="4762500" cy="3429000"/>
          </a:xfrm>
          <a:prstGeom xmlns:a="http://schemas.openxmlformats.org/drawingml/2006/main" prst="roundRect">
            <a:avLst>
              <a:gd name="adj" fmla="val 2222"/>
            </a:avLst>
          </a:prstGeom>
          <a:solidFill xmlns:a="http://schemas.openxmlformats.org/drawingml/2006/main">
            <a:srgbClr val="F8FAFC"/>
          </a:solidFill>
          <a:ln xmlns:a="http://schemas.openxmlformats.org/drawingml/2006/main" w="9525">
            <a:solidFill>
              <a:srgbClr val="D7DEE8"/>
            </a:solidFill>
            <a:prstDash val="solid"/>
          </a:ln>
        </p:spPr>
      </p:sp>
      <p:sp>
        <p:nvSpPr>
          <p:cNvPr id="5" name="">
            <a:extLst xmlns:a="http://schemas.openxmlformats.org/drawingml/2006/main">
              <a:ext uri="{FF2B5EF4-FFF2-40B4-BE49-F238E27FC236}">
                <a16:creationId xmlns:a16="http://schemas.microsoft.com/office/drawing/2014/main" id="{F1BB0EB4-8B39-4C5B-98B7-8DA3A000A2C3}"/>
              </a:ext>
            </a:extLst>
          </p:cNvPr>
          <p:cNvSpPr>
            <a:spLocks xmlns:a="http://schemas.openxmlformats.org/drawingml/2006/main" noGrp="1"/>
          </p:cNvSpPr>
          <p:nvPr/>
        </p:nvSpPr>
        <p:spPr>
          <a:xfrm xmlns:a="http://schemas.openxmlformats.org/drawingml/2006/main">
            <a:off x="6305550" y="1962150"/>
            <a:ext cx="4762500" cy="3429000"/>
          </a:xfrm>
          <a:prstGeom xmlns:a="http://schemas.openxmlformats.org/drawingml/2006/main" prst="roundRect">
            <a:avLst>
              <a:gd name="adj" fmla="val 2222"/>
            </a:avLst>
          </a:prstGeom>
          <a:solidFill xmlns:a="http://schemas.openxmlformats.org/drawingml/2006/main">
            <a:srgbClr val="F8FAFC"/>
          </a:solidFill>
          <a:ln xmlns:a="http://schemas.openxmlformats.org/drawingml/2006/main" w="9525">
            <a:solidFill>
              <a:srgbClr val="D7DEE8"/>
            </a:solidFill>
            <a:prstDash val="solid"/>
          </a:ln>
        </p:spPr>
      </p:sp>
      <p:sp>
        <p:nvSpPr>
          <p:cNvPr id="6" name="">
            <a:extLst xmlns:a="http://schemas.openxmlformats.org/drawingml/2006/main">
              <a:ext uri="{FF2B5EF4-FFF2-40B4-BE49-F238E27FC236}">
                <a16:creationId xmlns:a16="http://schemas.microsoft.com/office/drawing/2014/main" id="{CC40C063-3F79-4F91-9609-D16732BFE522}"/>
              </a:ext>
            </a:extLst>
          </p:cNvPr>
          <p:cNvSpPr>
            <a:spLocks xmlns:a="http://schemas.openxmlformats.org/drawingml/2006/main" noGrp="1"/>
          </p:cNvSpPr>
          <p:nvPr/>
        </p:nvSpPr>
        <p:spPr>
          <a:xfrm xmlns:a="http://schemas.openxmlformats.org/drawingml/2006/main">
            <a:off x="1104900" y="2247900"/>
            <a:ext cx="3238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2025" b="1">
                <a:solidFill>
                  <a:srgbClr val="111827"/>
                </a:solidFill>
              </a:defRPr>
            </a:pPr>
            <a:r>
              <a:rPr sz="2025" b="1">
                <a:solidFill>
                  <a:srgbClr val="111827"/>
                </a:solidFill>
              </a:rPr>
              <a:t>Recommended baseline</a:t>
            </a:r>
          </a:p>
        </p:txBody>
      </p:sp>
      <p:sp>
        <p:nvSpPr>
          <p:cNvPr id="7" name="">
            <a:extLst xmlns:a="http://schemas.openxmlformats.org/drawingml/2006/main">
              <a:ext uri="{FF2B5EF4-FFF2-40B4-BE49-F238E27FC236}">
                <a16:creationId xmlns:a16="http://schemas.microsoft.com/office/drawing/2014/main" id="{9D2FD98F-544B-4E06-938B-17786420AA38}"/>
              </a:ext>
            </a:extLst>
          </p:cNvPr>
          <p:cNvSpPr>
            <a:spLocks xmlns:a="http://schemas.openxmlformats.org/drawingml/2006/main" noGrp="1"/>
          </p:cNvSpPr>
          <p:nvPr/>
        </p:nvSpPr>
        <p:spPr>
          <a:xfrm xmlns:a="http://schemas.openxmlformats.org/drawingml/2006/main">
            <a:off x="1123950" y="2981325"/>
            <a:ext cx="76200" cy="76200"/>
          </a:xfrm>
          <a:prstGeom xmlns:a="http://schemas.openxmlformats.org/drawingml/2006/main" prst="ellipse">
            <a:avLst/>
          </a:prstGeom>
          <a:solidFill xmlns:a="http://schemas.openxmlformats.org/drawingml/2006/main">
            <a:srgbClr val="2563EB"/>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9D61C0B5-2150-4CCC-8329-1AC8F44BFCD0}"/>
              </a:ext>
            </a:extLst>
          </p:cNvPr>
          <p:cNvSpPr>
            <a:spLocks xmlns:a="http://schemas.openxmlformats.org/drawingml/2006/main" noGrp="1"/>
          </p:cNvSpPr>
          <p:nvPr/>
        </p:nvSpPr>
        <p:spPr>
          <a:xfrm xmlns:a="http://schemas.openxmlformats.org/drawingml/2006/main">
            <a:off x="1333500" y="2895600"/>
            <a:ext cx="35052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350" b="0">
                <a:solidFill>
                  <a:srgbClr val="111827"/>
                </a:solidFill>
              </a:defRPr>
            </a:pPr>
            <a:r>
              <a:rPr sz="1350" b="0">
                <a:solidFill>
                  <a:srgbClr val="111827"/>
                </a:solidFill>
              </a:rPr>
              <a:t>Basket: AMD, NVDA, TSLA, AAPL, MSTR</a:t>
            </a:r>
          </a:p>
        </p:txBody>
      </p:sp>
      <p:sp>
        <p:nvSpPr>
          <p:cNvPr id="9" name="">
            <a:extLst xmlns:a="http://schemas.openxmlformats.org/drawingml/2006/main">
              <a:ext uri="{FF2B5EF4-FFF2-40B4-BE49-F238E27FC236}">
                <a16:creationId xmlns:a16="http://schemas.microsoft.com/office/drawing/2014/main" id="{1BE8B076-8D30-4434-8694-4B03573BE0B0}"/>
              </a:ext>
            </a:extLst>
          </p:cNvPr>
          <p:cNvSpPr>
            <a:spLocks xmlns:a="http://schemas.openxmlformats.org/drawingml/2006/main" noGrp="1"/>
          </p:cNvSpPr>
          <p:nvPr/>
        </p:nvSpPr>
        <p:spPr>
          <a:xfrm xmlns:a="http://schemas.openxmlformats.org/drawingml/2006/main">
            <a:off x="1123950" y="3305175"/>
            <a:ext cx="76200" cy="76200"/>
          </a:xfrm>
          <a:prstGeom xmlns:a="http://schemas.openxmlformats.org/drawingml/2006/main" prst="ellipse">
            <a:avLst/>
          </a:prstGeom>
          <a:solidFill xmlns:a="http://schemas.openxmlformats.org/drawingml/2006/main">
            <a:srgbClr val="2563EB"/>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3E9DB339-5B6D-462D-872F-D677BF6FF663}"/>
              </a:ext>
            </a:extLst>
          </p:cNvPr>
          <p:cNvSpPr>
            <a:spLocks xmlns:a="http://schemas.openxmlformats.org/drawingml/2006/main" noGrp="1"/>
          </p:cNvSpPr>
          <p:nvPr/>
        </p:nvSpPr>
        <p:spPr>
          <a:xfrm xmlns:a="http://schemas.openxmlformats.org/drawingml/2006/main">
            <a:off x="1333500" y="3219450"/>
            <a:ext cx="35052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350" b="0">
                <a:solidFill>
                  <a:srgbClr val="111827"/>
                </a:solidFill>
              </a:defRPr>
            </a:pPr>
            <a:r>
              <a:rPr sz="1350" b="0">
                <a:solidFill>
                  <a:srgbClr val="111827"/>
                </a:solidFill>
              </a:rPr>
              <a:t>PCA: behavioral pool, 3x3 quantile states</a:t>
            </a:r>
          </a:p>
        </p:txBody>
      </p:sp>
      <p:sp>
        <p:nvSpPr>
          <p:cNvPr id="11" name="">
            <a:extLst xmlns:a="http://schemas.openxmlformats.org/drawingml/2006/main">
              <a:ext uri="{FF2B5EF4-FFF2-40B4-BE49-F238E27FC236}">
                <a16:creationId xmlns:a16="http://schemas.microsoft.com/office/drawing/2014/main" id="{5A649992-E3BF-41F8-B04F-0265AF7C28BC}"/>
              </a:ext>
            </a:extLst>
          </p:cNvPr>
          <p:cNvSpPr>
            <a:spLocks xmlns:a="http://schemas.openxmlformats.org/drawingml/2006/main" noGrp="1"/>
          </p:cNvSpPr>
          <p:nvPr/>
        </p:nvSpPr>
        <p:spPr>
          <a:xfrm xmlns:a="http://schemas.openxmlformats.org/drawingml/2006/main">
            <a:off x="1123950" y="3629025"/>
            <a:ext cx="76200" cy="76200"/>
          </a:xfrm>
          <a:prstGeom xmlns:a="http://schemas.openxmlformats.org/drawingml/2006/main" prst="ellipse">
            <a:avLst/>
          </a:prstGeom>
          <a:solidFill xmlns:a="http://schemas.openxmlformats.org/drawingml/2006/main">
            <a:srgbClr val="2563EB"/>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491AA861-91AE-4F06-9B3C-9AA8C733FD86}"/>
              </a:ext>
            </a:extLst>
          </p:cNvPr>
          <p:cNvSpPr>
            <a:spLocks xmlns:a="http://schemas.openxmlformats.org/drawingml/2006/main" noGrp="1"/>
          </p:cNvSpPr>
          <p:nvPr/>
        </p:nvSpPr>
        <p:spPr>
          <a:xfrm xmlns:a="http://schemas.openxmlformats.org/drawingml/2006/main">
            <a:off x="1333500" y="3543300"/>
            <a:ext cx="35052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350" b="0">
                <a:solidFill>
                  <a:srgbClr val="111827"/>
                </a:solidFill>
              </a:defRPr>
            </a:pPr>
            <a:r>
              <a:rPr sz="1350" b="0">
                <a:solidFill>
                  <a:srgbClr val="111827"/>
                </a:solidFill>
              </a:rPr>
              <a:t>Context: active-plus-risk</a:t>
            </a:r>
          </a:p>
        </p:txBody>
      </p:sp>
      <p:sp>
        <p:nvSpPr>
          <p:cNvPr id="13" name="">
            <a:extLst xmlns:a="http://schemas.openxmlformats.org/drawingml/2006/main">
              <a:ext uri="{FF2B5EF4-FFF2-40B4-BE49-F238E27FC236}">
                <a16:creationId xmlns:a16="http://schemas.microsoft.com/office/drawing/2014/main" id="{8FABD360-3C0C-40B9-886F-65A3DDDDCE41}"/>
              </a:ext>
            </a:extLst>
          </p:cNvPr>
          <p:cNvSpPr>
            <a:spLocks xmlns:a="http://schemas.openxmlformats.org/drawingml/2006/main" noGrp="1"/>
          </p:cNvSpPr>
          <p:nvPr/>
        </p:nvSpPr>
        <p:spPr>
          <a:xfrm xmlns:a="http://schemas.openxmlformats.org/drawingml/2006/main">
            <a:off x="1123950" y="3952875"/>
            <a:ext cx="76200" cy="76200"/>
          </a:xfrm>
          <a:prstGeom xmlns:a="http://schemas.openxmlformats.org/drawingml/2006/main" prst="ellipse">
            <a:avLst/>
          </a:prstGeom>
          <a:solidFill xmlns:a="http://schemas.openxmlformats.org/drawingml/2006/main">
            <a:srgbClr val="2563EB"/>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299A161A-B527-4667-9938-6963C66E24DE}"/>
              </a:ext>
            </a:extLst>
          </p:cNvPr>
          <p:cNvSpPr>
            <a:spLocks xmlns:a="http://schemas.openxmlformats.org/drawingml/2006/main" noGrp="1"/>
          </p:cNvSpPr>
          <p:nvPr/>
        </p:nvSpPr>
        <p:spPr>
          <a:xfrm xmlns:a="http://schemas.openxmlformats.org/drawingml/2006/main">
            <a:off x="1333500" y="3867150"/>
            <a:ext cx="35052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350" b="0">
                <a:solidFill>
                  <a:srgbClr val="111827"/>
                </a:solidFill>
              </a:defRPr>
            </a:pPr>
            <a:r>
              <a:rPr sz="1350" b="0">
                <a:solidFill>
                  <a:srgbClr val="111827"/>
                </a:solidFill>
              </a:rPr>
              <a:t>Families: implemented momentum candidates plus no-trade</a:t>
            </a:r>
          </a:p>
        </p:txBody>
      </p:sp>
      <p:sp>
        <p:nvSpPr>
          <p:cNvPr id="15" name="">
            <a:extLst xmlns:a="http://schemas.openxmlformats.org/drawingml/2006/main">
              <a:ext uri="{FF2B5EF4-FFF2-40B4-BE49-F238E27FC236}">
                <a16:creationId xmlns:a16="http://schemas.microsoft.com/office/drawing/2014/main" id="{49E0D461-7D6E-4C70-8671-2CE1592F64D3}"/>
              </a:ext>
            </a:extLst>
          </p:cNvPr>
          <p:cNvSpPr>
            <a:spLocks xmlns:a="http://schemas.openxmlformats.org/drawingml/2006/main" noGrp="1"/>
          </p:cNvSpPr>
          <p:nvPr/>
        </p:nvSpPr>
        <p:spPr>
          <a:xfrm xmlns:a="http://schemas.openxmlformats.org/drawingml/2006/main">
            <a:off x="1123950" y="4276725"/>
            <a:ext cx="76200" cy="76200"/>
          </a:xfrm>
          <a:prstGeom xmlns:a="http://schemas.openxmlformats.org/drawingml/2006/main" prst="ellipse">
            <a:avLst/>
          </a:prstGeom>
          <a:solidFill xmlns:a="http://schemas.openxmlformats.org/drawingml/2006/main">
            <a:srgbClr val="2563EB"/>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25F331F6-7B74-4C8E-8808-10F57FE515E6}"/>
              </a:ext>
            </a:extLst>
          </p:cNvPr>
          <p:cNvSpPr>
            <a:spLocks xmlns:a="http://schemas.openxmlformats.org/drawingml/2006/main" noGrp="1"/>
          </p:cNvSpPr>
          <p:nvPr/>
        </p:nvSpPr>
        <p:spPr>
          <a:xfrm xmlns:a="http://schemas.openxmlformats.org/drawingml/2006/main">
            <a:off x="1333500" y="4191000"/>
            <a:ext cx="35052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350" b="0">
                <a:solidFill>
                  <a:srgbClr val="111827"/>
                </a:solidFill>
              </a:defRPr>
            </a:pPr>
            <a:r>
              <a:rPr sz="1350" b="0">
                <a:solidFill>
                  <a:srgbClr val="111827"/>
                </a:solidFill>
              </a:rPr>
              <a:t>Accounting: true live-capital replay</a:t>
            </a:r>
          </a:p>
        </p:txBody>
      </p:sp>
      <p:sp>
        <p:nvSpPr>
          <p:cNvPr id="17" name="">
            <a:extLst xmlns:a="http://schemas.openxmlformats.org/drawingml/2006/main">
              <a:ext uri="{FF2B5EF4-FFF2-40B4-BE49-F238E27FC236}">
                <a16:creationId xmlns:a16="http://schemas.microsoft.com/office/drawing/2014/main" id="{FDDB32E7-A03E-4DE1-A9C8-E6C585B46042}"/>
              </a:ext>
            </a:extLst>
          </p:cNvPr>
          <p:cNvSpPr>
            <a:spLocks xmlns:a="http://schemas.openxmlformats.org/drawingml/2006/main" noGrp="1"/>
          </p:cNvSpPr>
          <p:nvPr/>
        </p:nvSpPr>
        <p:spPr>
          <a:xfrm xmlns:a="http://schemas.openxmlformats.org/drawingml/2006/main">
            <a:off x="6629400" y="2247900"/>
            <a:ext cx="3238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2025" b="1">
                <a:solidFill>
                  <a:srgbClr val="177A55"/>
                </a:solidFill>
              </a:defRPr>
            </a:pPr>
            <a:r>
              <a:rPr sz="2025" b="1">
                <a:solidFill>
                  <a:srgbClr val="177A55"/>
                </a:solidFill>
              </a:rPr>
              <a:t>Success diagnostics</a:t>
            </a:r>
          </a:p>
        </p:txBody>
      </p:sp>
      <p:sp>
        <p:nvSpPr>
          <p:cNvPr id="18" name="">
            <a:extLst xmlns:a="http://schemas.openxmlformats.org/drawingml/2006/main">
              <a:ext uri="{FF2B5EF4-FFF2-40B4-BE49-F238E27FC236}">
                <a16:creationId xmlns:a16="http://schemas.microsoft.com/office/drawing/2014/main" id="{131169E4-4410-4D34-B4D1-6750BEF7BFF0}"/>
              </a:ext>
            </a:extLst>
          </p:cNvPr>
          <p:cNvSpPr>
            <a:spLocks xmlns:a="http://schemas.openxmlformats.org/drawingml/2006/main" noGrp="1"/>
          </p:cNvSpPr>
          <p:nvPr/>
        </p:nvSpPr>
        <p:spPr>
          <a:xfrm xmlns:a="http://schemas.openxmlformats.org/drawingml/2006/main">
            <a:off x="6648450" y="2981325"/>
            <a:ext cx="76200" cy="76200"/>
          </a:xfrm>
          <a:prstGeom xmlns:a="http://schemas.openxmlformats.org/drawingml/2006/main" prst="ellipse">
            <a:avLst/>
          </a:prstGeom>
          <a:solidFill xmlns:a="http://schemas.openxmlformats.org/drawingml/2006/main">
            <a:srgbClr val="177A55"/>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14E4B76A-0D81-44A2-A9D4-059BF576128B}"/>
              </a:ext>
            </a:extLst>
          </p:cNvPr>
          <p:cNvSpPr>
            <a:spLocks xmlns:a="http://schemas.openxmlformats.org/drawingml/2006/main" noGrp="1"/>
          </p:cNvSpPr>
          <p:nvPr/>
        </p:nvSpPr>
        <p:spPr>
          <a:xfrm xmlns:a="http://schemas.openxmlformats.org/drawingml/2006/main">
            <a:off x="6858000" y="2895600"/>
            <a:ext cx="35052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350" b="0">
                <a:solidFill>
                  <a:srgbClr val="111827"/>
                </a:solidFill>
              </a:defRPr>
            </a:pPr>
            <a:r>
              <a:rPr sz="1350" b="0">
                <a:solidFill>
                  <a:srgbClr val="111827"/>
                </a:solidFill>
              </a:rPr>
              <a:t>Benchmark-relative alpha versus equal-weight hold</a:t>
            </a:r>
          </a:p>
        </p:txBody>
      </p:sp>
      <p:sp>
        <p:nvSpPr>
          <p:cNvPr id="20" name="">
            <a:extLst xmlns:a="http://schemas.openxmlformats.org/drawingml/2006/main">
              <a:ext uri="{FF2B5EF4-FFF2-40B4-BE49-F238E27FC236}">
                <a16:creationId xmlns:a16="http://schemas.microsoft.com/office/drawing/2014/main" id="{C1771426-D923-46A9-AB79-DF6442759F91}"/>
              </a:ext>
            </a:extLst>
          </p:cNvPr>
          <p:cNvSpPr>
            <a:spLocks xmlns:a="http://schemas.openxmlformats.org/drawingml/2006/main" noGrp="1"/>
          </p:cNvSpPr>
          <p:nvPr/>
        </p:nvSpPr>
        <p:spPr>
          <a:xfrm xmlns:a="http://schemas.openxmlformats.org/drawingml/2006/main">
            <a:off x="6648450" y="3305175"/>
            <a:ext cx="76200" cy="76200"/>
          </a:xfrm>
          <a:prstGeom xmlns:a="http://schemas.openxmlformats.org/drawingml/2006/main" prst="ellipse">
            <a:avLst/>
          </a:prstGeom>
          <a:solidFill xmlns:a="http://schemas.openxmlformats.org/drawingml/2006/main">
            <a:srgbClr val="177A55"/>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4630A390-4EE2-4704-B6C2-C549DF117BAE}"/>
              </a:ext>
            </a:extLst>
          </p:cNvPr>
          <p:cNvSpPr>
            <a:spLocks xmlns:a="http://schemas.openxmlformats.org/drawingml/2006/main" noGrp="1"/>
          </p:cNvSpPr>
          <p:nvPr/>
        </p:nvSpPr>
        <p:spPr>
          <a:xfrm xmlns:a="http://schemas.openxmlformats.org/drawingml/2006/main">
            <a:off x="6858000" y="3219450"/>
            <a:ext cx="35052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350" b="0">
                <a:solidFill>
                  <a:srgbClr val="111827"/>
                </a:solidFill>
              </a:defRPr>
            </a:pPr>
            <a:r>
              <a:rPr sz="1350" b="0">
                <a:solidFill>
                  <a:srgbClr val="111827"/>
                </a:solidFill>
              </a:rPr>
              <a:t>Upside capture during bullish windows</a:t>
            </a:r>
          </a:p>
        </p:txBody>
      </p:sp>
      <p:sp>
        <p:nvSpPr>
          <p:cNvPr id="22" name="">
            <a:extLst xmlns:a="http://schemas.openxmlformats.org/drawingml/2006/main">
              <a:ext uri="{FF2B5EF4-FFF2-40B4-BE49-F238E27FC236}">
                <a16:creationId xmlns:a16="http://schemas.microsoft.com/office/drawing/2014/main" id="{CB9500D0-887B-42CF-81A2-1B540FF3776E}"/>
              </a:ext>
            </a:extLst>
          </p:cNvPr>
          <p:cNvSpPr>
            <a:spLocks xmlns:a="http://schemas.openxmlformats.org/drawingml/2006/main" noGrp="1"/>
          </p:cNvSpPr>
          <p:nvPr/>
        </p:nvSpPr>
        <p:spPr>
          <a:xfrm xmlns:a="http://schemas.openxmlformats.org/drawingml/2006/main">
            <a:off x="6648450" y="3629025"/>
            <a:ext cx="76200" cy="76200"/>
          </a:xfrm>
          <a:prstGeom xmlns:a="http://schemas.openxmlformats.org/drawingml/2006/main" prst="ellipse">
            <a:avLst/>
          </a:prstGeom>
          <a:solidFill xmlns:a="http://schemas.openxmlformats.org/drawingml/2006/main">
            <a:srgbClr val="177A55"/>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2B69FFD2-9D96-4635-89BA-4517CAE1B749}"/>
              </a:ext>
            </a:extLst>
          </p:cNvPr>
          <p:cNvSpPr>
            <a:spLocks xmlns:a="http://schemas.openxmlformats.org/drawingml/2006/main" noGrp="1"/>
          </p:cNvSpPr>
          <p:nvPr/>
        </p:nvSpPr>
        <p:spPr>
          <a:xfrm xmlns:a="http://schemas.openxmlformats.org/drawingml/2006/main">
            <a:off x="6858000" y="3543300"/>
            <a:ext cx="35052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350" b="0">
                <a:solidFill>
                  <a:srgbClr val="111827"/>
                </a:solidFill>
              </a:defRPr>
            </a:pPr>
            <a:r>
              <a:rPr sz="1350" b="0">
                <a:solidFill>
                  <a:srgbClr val="111827"/>
                </a:solidFill>
              </a:rPr>
              <a:t>Downside avoidance during stalls</a:t>
            </a:r>
          </a:p>
        </p:txBody>
      </p:sp>
      <p:sp>
        <p:nvSpPr>
          <p:cNvPr id="24" name="">
            <a:extLst xmlns:a="http://schemas.openxmlformats.org/drawingml/2006/main">
              <a:ext uri="{FF2B5EF4-FFF2-40B4-BE49-F238E27FC236}">
                <a16:creationId xmlns:a16="http://schemas.microsoft.com/office/drawing/2014/main" id="{CC387E3D-DDAD-43B4-A0BA-D081FFC3786D}"/>
              </a:ext>
            </a:extLst>
          </p:cNvPr>
          <p:cNvSpPr>
            <a:spLocks xmlns:a="http://schemas.openxmlformats.org/drawingml/2006/main" noGrp="1"/>
          </p:cNvSpPr>
          <p:nvPr/>
        </p:nvSpPr>
        <p:spPr>
          <a:xfrm xmlns:a="http://schemas.openxmlformats.org/drawingml/2006/main">
            <a:off x="6648450" y="3952875"/>
            <a:ext cx="76200" cy="76200"/>
          </a:xfrm>
          <a:prstGeom xmlns:a="http://schemas.openxmlformats.org/drawingml/2006/main" prst="ellipse">
            <a:avLst/>
          </a:prstGeom>
          <a:solidFill xmlns:a="http://schemas.openxmlformats.org/drawingml/2006/main">
            <a:srgbClr val="177A55"/>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9E6DF3F1-43BA-48A7-BA21-6F5E86D38691}"/>
              </a:ext>
            </a:extLst>
          </p:cNvPr>
          <p:cNvSpPr>
            <a:spLocks xmlns:a="http://schemas.openxmlformats.org/drawingml/2006/main" noGrp="1"/>
          </p:cNvSpPr>
          <p:nvPr/>
        </p:nvSpPr>
        <p:spPr>
          <a:xfrm xmlns:a="http://schemas.openxmlformats.org/drawingml/2006/main">
            <a:off x="6858000" y="3867150"/>
            <a:ext cx="35052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350" b="0">
                <a:solidFill>
                  <a:srgbClr val="111827"/>
                </a:solidFill>
              </a:defRPr>
            </a:pPr>
            <a:r>
              <a:rPr sz="1350" b="0">
                <a:solidFill>
                  <a:srgbClr val="111827"/>
                </a:solidFill>
              </a:rPr>
              <a:t>State and family heatmaps</a:t>
            </a:r>
          </a:p>
        </p:txBody>
      </p:sp>
      <p:sp>
        <p:nvSpPr>
          <p:cNvPr id="26" name="">
            <a:extLst xmlns:a="http://schemas.openxmlformats.org/drawingml/2006/main">
              <a:ext uri="{FF2B5EF4-FFF2-40B4-BE49-F238E27FC236}">
                <a16:creationId xmlns:a16="http://schemas.microsoft.com/office/drawing/2014/main" id="{12102295-DA35-4A5F-87E6-E598F0774F71}"/>
              </a:ext>
            </a:extLst>
          </p:cNvPr>
          <p:cNvSpPr>
            <a:spLocks xmlns:a="http://schemas.openxmlformats.org/drawingml/2006/main" noGrp="1"/>
          </p:cNvSpPr>
          <p:nvPr/>
        </p:nvSpPr>
        <p:spPr>
          <a:xfrm xmlns:a="http://schemas.openxmlformats.org/drawingml/2006/main">
            <a:off x="6648450" y="4276725"/>
            <a:ext cx="76200" cy="76200"/>
          </a:xfrm>
          <a:prstGeom xmlns:a="http://schemas.openxmlformats.org/drawingml/2006/main" prst="ellipse">
            <a:avLst/>
          </a:prstGeom>
          <a:solidFill xmlns:a="http://schemas.openxmlformats.org/drawingml/2006/main">
            <a:srgbClr val="177A55"/>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AAFC9128-AC45-424E-9F15-CD0E5D3C2BD3}"/>
              </a:ext>
            </a:extLst>
          </p:cNvPr>
          <p:cNvSpPr>
            <a:spLocks xmlns:a="http://schemas.openxmlformats.org/drawingml/2006/main" noGrp="1"/>
          </p:cNvSpPr>
          <p:nvPr/>
        </p:nvSpPr>
        <p:spPr>
          <a:xfrm xmlns:a="http://schemas.openxmlformats.org/drawingml/2006/main">
            <a:off x="6858000" y="4191000"/>
            <a:ext cx="35052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350" b="0">
                <a:solidFill>
                  <a:srgbClr val="111827"/>
                </a:solidFill>
              </a:defRPr>
            </a:pPr>
            <a:r>
              <a:rPr sz="1350" b="0">
                <a:solidFill>
                  <a:srgbClr val="111827"/>
                </a:solidFill>
              </a:rPr>
              <a:t>Representative trade tapes</a:t>
            </a:r>
          </a:p>
        </p:txBody>
      </p:sp>
    </p:spTree>
    <p:extLst>
      <p:ext uri="{BB962C8B-B14F-4D97-AF65-F5344CB8AC3E}">
        <p14:creationId xmlns:p14="http://schemas.microsoft.com/office/powerpoint/2010/main" val="281096354"/>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C02EC6E6-6755-40BD-85D8-DDC4C6BA0F22}"/>
              </a:ext>
            </a:extLst>
          </p:cNvPr>
          <p:cNvSpPr>
            <a:spLocks xmlns:a="http://schemas.openxmlformats.org/drawingml/2006/main" noGrp="1"/>
          </p:cNvSpPr>
          <p:nvPr/>
        </p:nvSpPr>
        <p:spPr>
          <a:xfrm xmlns:a="http://schemas.openxmlformats.org/drawingml/2006/main">
            <a:off x="609600" y="304800"/>
            <a:ext cx="5334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975" b="1">
                <a:solidFill>
                  <a:srgbClr val="2563EB"/>
                </a:solidFill>
              </a:defRPr>
            </a:pPr>
            <a:r>
              <a:rPr sz="975" b="1">
                <a:solidFill>
                  <a:srgbClr val="2563EB"/>
                </a:solidFill>
              </a:rPr>
              <a:t>GEN5.3 PCA RESEARCH PIVOT</a:t>
            </a:r>
          </a:p>
        </p:txBody>
      </p:sp>
      <p:sp>
        <p:nvSpPr>
          <p:cNvPr id="2" name="">
            <a:extLst xmlns:a="http://schemas.openxmlformats.org/drawingml/2006/main">
              <a:ext uri="{FF2B5EF4-FFF2-40B4-BE49-F238E27FC236}">
                <a16:creationId xmlns:a16="http://schemas.microsoft.com/office/drawing/2014/main" id="{D2B2F8BD-AF61-4247-B671-8751BD50A3B2}"/>
              </a:ext>
            </a:extLst>
          </p:cNvPr>
          <p:cNvSpPr>
            <a:spLocks xmlns:a="http://schemas.openxmlformats.org/drawingml/2006/main" noGrp="1"/>
          </p:cNvSpPr>
          <p:nvPr/>
        </p:nvSpPr>
        <p:spPr>
          <a:xfrm xmlns:a="http://schemas.openxmlformats.org/drawingml/2006/main">
            <a:off x="609600" y="647700"/>
            <a:ext cx="9334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2775" b="1">
                <a:solidFill>
                  <a:srgbClr val="111827"/>
                </a:solidFill>
              </a:defRPr>
            </a:pPr>
            <a:r>
              <a:rPr sz="2775" b="1">
                <a:solidFill>
                  <a:srgbClr val="111827"/>
                </a:solidFill>
              </a:rPr>
              <a:t>The narrow specialist has clear weaknesses that should stay visible</a:t>
            </a:r>
          </a:p>
        </p:txBody>
      </p:sp>
      <p:sp>
        <p:nvSpPr>
          <p:cNvPr id="3" name="">
            <a:extLst xmlns:a="http://schemas.openxmlformats.org/drawingml/2006/main">
              <a:ext uri="{FF2B5EF4-FFF2-40B4-BE49-F238E27FC236}">
                <a16:creationId xmlns:a16="http://schemas.microsoft.com/office/drawing/2014/main" id="{FF4A4517-ED2B-40BB-9610-C5B0D9740184}"/>
              </a:ext>
            </a:extLst>
          </p:cNvPr>
          <p:cNvSpPr>
            <a:spLocks xmlns:a="http://schemas.openxmlformats.org/drawingml/2006/main" noGrp="1"/>
          </p:cNvSpPr>
          <p:nvPr/>
        </p:nvSpPr>
        <p:spPr>
          <a:xfrm xmlns:a="http://schemas.openxmlformats.org/drawingml/2006/main">
            <a:off x="609600" y="1485900"/>
            <a:ext cx="10572750" cy="9525"/>
          </a:xfrm>
          <a:prstGeom xmlns:a="http://schemas.openxmlformats.org/drawingml/2006/main" prst="rect">
            <a:avLst/>
          </a:prstGeom>
          <a:solidFill xmlns:a="http://schemas.openxmlformats.org/drawingml/2006/main">
            <a:srgbClr val="CBD3DD"/>
          </a:solidFill>
          <a:ln xmlns:a="http://schemas.openxmlformats.org/drawingml/2006/main" w="0">
            <a:solidFill>
              <a:srgbClr val="CBD3DD"/>
            </a:solidFill>
            <a:prstDash val="solid"/>
          </a:ln>
        </p:spPr>
      </p:sp>
      <p:sp>
        <p:nvSpPr>
          <p:cNvPr id="4" name="">
            <a:extLst xmlns:a="http://schemas.openxmlformats.org/drawingml/2006/main">
              <a:ext uri="{FF2B5EF4-FFF2-40B4-BE49-F238E27FC236}">
                <a16:creationId xmlns:a16="http://schemas.microsoft.com/office/drawing/2014/main" id="{76B88D86-A9B9-467E-8398-38F040E0B19D}"/>
              </a:ext>
            </a:extLst>
          </p:cNvPr>
          <p:cNvSpPr>
            <a:spLocks xmlns:a="http://schemas.openxmlformats.org/drawingml/2006/main" noGrp="1"/>
          </p:cNvSpPr>
          <p:nvPr/>
        </p:nvSpPr>
        <p:spPr>
          <a:xfrm xmlns:a="http://schemas.openxmlformats.org/drawingml/2006/main">
            <a:off x="762000" y="2038350"/>
            <a:ext cx="5010150" cy="3181350"/>
          </a:xfrm>
          <a:prstGeom xmlns:a="http://schemas.openxmlformats.org/drawingml/2006/main" prst="roundRect">
            <a:avLst>
              <a:gd name="adj" fmla="val 2395"/>
            </a:avLst>
          </a:prstGeom>
          <a:solidFill xmlns:a="http://schemas.openxmlformats.org/drawingml/2006/main">
            <a:srgbClr val="FFF1F2"/>
          </a:solidFill>
          <a:ln xmlns:a="http://schemas.openxmlformats.org/drawingml/2006/main" w="9525">
            <a:solidFill>
              <a:srgbClr val="FDA4AF"/>
            </a:solidFill>
            <a:prstDash val="solid"/>
          </a:ln>
        </p:spPr>
      </p:sp>
      <p:sp>
        <p:nvSpPr>
          <p:cNvPr id="5" name="">
            <a:extLst xmlns:a="http://schemas.openxmlformats.org/drawingml/2006/main">
              <a:ext uri="{FF2B5EF4-FFF2-40B4-BE49-F238E27FC236}">
                <a16:creationId xmlns:a16="http://schemas.microsoft.com/office/drawing/2014/main" id="{920586F9-0852-442C-BFE0-98E108AD6E5B}"/>
              </a:ext>
            </a:extLst>
          </p:cNvPr>
          <p:cNvSpPr>
            <a:spLocks xmlns:a="http://schemas.openxmlformats.org/drawingml/2006/main" noGrp="1"/>
          </p:cNvSpPr>
          <p:nvPr/>
        </p:nvSpPr>
        <p:spPr>
          <a:xfrm xmlns:a="http://schemas.openxmlformats.org/drawingml/2006/main">
            <a:off x="1104900" y="2305050"/>
            <a:ext cx="285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2025" b="1">
                <a:solidFill>
                  <a:srgbClr val="D1495B"/>
                </a:solidFill>
              </a:defRPr>
            </a:pPr>
            <a:r>
              <a:rPr sz="2025" b="1">
                <a:solidFill>
                  <a:srgbClr val="D1495B"/>
                </a:solidFill>
              </a:rPr>
              <a:t>Main risks</a:t>
            </a:r>
          </a:p>
        </p:txBody>
      </p:sp>
      <p:sp>
        <p:nvSpPr>
          <p:cNvPr id="6" name="">
            <a:extLst xmlns:a="http://schemas.openxmlformats.org/drawingml/2006/main">
              <a:ext uri="{FF2B5EF4-FFF2-40B4-BE49-F238E27FC236}">
                <a16:creationId xmlns:a16="http://schemas.microsoft.com/office/drawing/2014/main" id="{2703224A-9B84-4B8C-BBB1-2ED802C63AF5}"/>
              </a:ext>
            </a:extLst>
          </p:cNvPr>
          <p:cNvSpPr>
            <a:spLocks xmlns:a="http://schemas.openxmlformats.org/drawingml/2006/main" noGrp="1"/>
          </p:cNvSpPr>
          <p:nvPr/>
        </p:nvSpPr>
        <p:spPr>
          <a:xfrm xmlns:a="http://schemas.openxmlformats.org/drawingml/2006/main">
            <a:off x="1123950" y="3000375"/>
            <a:ext cx="76200" cy="76200"/>
          </a:xfrm>
          <a:prstGeom xmlns:a="http://schemas.openxmlformats.org/drawingml/2006/main" prst="ellipse">
            <a:avLst/>
          </a:prstGeom>
          <a:solidFill xmlns:a="http://schemas.openxmlformats.org/drawingml/2006/main">
            <a:srgbClr val="D1495B"/>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72F38785-D557-4566-BF04-1BB7F5C1F0E6}"/>
              </a:ext>
            </a:extLst>
          </p:cNvPr>
          <p:cNvSpPr>
            <a:spLocks xmlns:a="http://schemas.openxmlformats.org/drawingml/2006/main" noGrp="1"/>
          </p:cNvSpPr>
          <p:nvPr/>
        </p:nvSpPr>
        <p:spPr>
          <a:xfrm xmlns:a="http://schemas.openxmlformats.org/drawingml/2006/main">
            <a:off x="1333500" y="2914650"/>
            <a:ext cx="3638550" cy="3524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350" b="0">
                <a:solidFill>
                  <a:srgbClr val="111827"/>
                </a:solidFill>
              </a:defRPr>
            </a:pPr>
            <a:r>
              <a:rPr sz="1350" b="0">
                <a:solidFill>
                  <a:srgbClr val="111827"/>
                </a:solidFill>
              </a:rPr>
              <a:t>Overfits to high-beta bull windows</a:t>
            </a:r>
          </a:p>
        </p:txBody>
      </p:sp>
      <p:sp>
        <p:nvSpPr>
          <p:cNvPr id="8" name="">
            <a:extLst xmlns:a="http://schemas.openxmlformats.org/drawingml/2006/main">
              <a:ext uri="{FF2B5EF4-FFF2-40B4-BE49-F238E27FC236}">
                <a16:creationId xmlns:a16="http://schemas.microsoft.com/office/drawing/2014/main" id="{B8BDFD1E-C18B-402A-AE57-BB155AAFEAC6}"/>
              </a:ext>
            </a:extLst>
          </p:cNvPr>
          <p:cNvSpPr>
            <a:spLocks xmlns:a="http://schemas.openxmlformats.org/drawingml/2006/main" noGrp="1"/>
          </p:cNvSpPr>
          <p:nvPr/>
        </p:nvSpPr>
        <p:spPr>
          <a:xfrm xmlns:a="http://schemas.openxmlformats.org/drawingml/2006/main">
            <a:off x="1123950" y="3314700"/>
            <a:ext cx="76200" cy="76200"/>
          </a:xfrm>
          <a:prstGeom xmlns:a="http://schemas.openxmlformats.org/drawingml/2006/main" prst="ellipse">
            <a:avLst/>
          </a:prstGeom>
          <a:solidFill xmlns:a="http://schemas.openxmlformats.org/drawingml/2006/main">
            <a:srgbClr val="D1495B"/>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448E1FC4-D98D-4AF0-BB2E-1AEDFB4D8B7F}"/>
              </a:ext>
            </a:extLst>
          </p:cNvPr>
          <p:cNvSpPr>
            <a:spLocks xmlns:a="http://schemas.openxmlformats.org/drawingml/2006/main" noGrp="1"/>
          </p:cNvSpPr>
          <p:nvPr/>
        </p:nvSpPr>
        <p:spPr>
          <a:xfrm xmlns:a="http://schemas.openxmlformats.org/drawingml/2006/main">
            <a:off x="1333500" y="3228975"/>
            <a:ext cx="3638550" cy="3524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350" b="0">
                <a:solidFill>
                  <a:srgbClr val="111827"/>
                </a:solidFill>
              </a:defRPr>
            </a:pPr>
            <a:r>
              <a:rPr sz="1350" b="0">
                <a:solidFill>
                  <a:srgbClr val="111827"/>
                </a:solidFill>
              </a:rPr>
              <a:t>Exits too often and lags hold</a:t>
            </a:r>
          </a:p>
        </p:txBody>
      </p:sp>
      <p:sp>
        <p:nvSpPr>
          <p:cNvPr id="10" name="">
            <a:extLst xmlns:a="http://schemas.openxmlformats.org/drawingml/2006/main">
              <a:ext uri="{FF2B5EF4-FFF2-40B4-BE49-F238E27FC236}">
                <a16:creationId xmlns:a16="http://schemas.microsoft.com/office/drawing/2014/main" id="{7048CCEB-09CE-4C23-9173-5BCDDD3ABC63}"/>
              </a:ext>
            </a:extLst>
          </p:cNvPr>
          <p:cNvSpPr>
            <a:spLocks xmlns:a="http://schemas.openxmlformats.org/drawingml/2006/main" noGrp="1"/>
          </p:cNvSpPr>
          <p:nvPr/>
        </p:nvSpPr>
        <p:spPr>
          <a:xfrm xmlns:a="http://schemas.openxmlformats.org/drawingml/2006/main">
            <a:off x="1123950" y="3629025"/>
            <a:ext cx="76200" cy="76200"/>
          </a:xfrm>
          <a:prstGeom xmlns:a="http://schemas.openxmlformats.org/drawingml/2006/main" prst="ellipse">
            <a:avLst/>
          </a:prstGeom>
          <a:solidFill xmlns:a="http://schemas.openxmlformats.org/drawingml/2006/main">
            <a:srgbClr val="D1495B"/>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52A083D6-859B-49E9-9856-753BEC7DE701}"/>
              </a:ext>
            </a:extLst>
          </p:cNvPr>
          <p:cNvSpPr>
            <a:spLocks xmlns:a="http://schemas.openxmlformats.org/drawingml/2006/main" noGrp="1"/>
          </p:cNvSpPr>
          <p:nvPr/>
        </p:nvSpPr>
        <p:spPr>
          <a:xfrm xmlns:a="http://schemas.openxmlformats.org/drawingml/2006/main">
            <a:off x="1333500" y="3543300"/>
            <a:ext cx="3638550" cy="3524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350" b="0">
                <a:solidFill>
                  <a:srgbClr val="111827"/>
                </a:solidFill>
              </a:defRPr>
            </a:pPr>
            <a:r>
              <a:rPr sz="1350" b="0">
                <a:solidFill>
                  <a:srgbClr val="111827"/>
                </a:solidFill>
              </a:rPr>
              <a:t>Selects assets after momentum is exhausted</a:t>
            </a:r>
          </a:p>
        </p:txBody>
      </p:sp>
      <p:sp>
        <p:nvSpPr>
          <p:cNvPr id="12" name="">
            <a:extLst xmlns:a="http://schemas.openxmlformats.org/drawingml/2006/main">
              <a:ext uri="{FF2B5EF4-FFF2-40B4-BE49-F238E27FC236}">
                <a16:creationId xmlns:a16="http://schemas.microsoft.com/office/drawing/2014/main" id="{E5FC97B8-4EC3-47CF-A506-AD1B49BAC67B}"/>
              </a:ext>
            </a:extLst>
          </p:cNvPr>
          <p:cNvSpPr>
            <a:spLocks xmlns:a="http://schemas.openxmlformats.org/drawingml/2006/main" noGrp="1"/>
          </p:cNvSpPr>
          <p:nvPr/>
        </p:nvSpPr>
        <p:spPr>
          <a:xfrm xmlns:a="http://schemas.openxmlformats.org/drawingml/2006/main">
            <a:off x="1123950" y="3943350"/>
            <a:ext cx="76200" cy="76200"/>
          </a:xfrm>
          <a:prstGeom xmlns:a="http://schemas.openxmlformats.org/drawingml/2006/main" prst="ellipse">
            <a:avLst/>
          </a:prstGeom>
          <a:solidFill xmlns:a="http://schemas.openxmlformats.org/drawingml/2006/main">
            <a:srgbClr val="D1495B"/>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A7D5C8CC-74F7-4A75-AEC5-5DCCA29023FE}"/>
              </a:ext>
            </a:extLst>
          </p:cNvPr>
          <p:cNvSpPr>
            <a:spLocks xmlns:a="http://schemas.openxmlformats.org/drawingml/2006/main" noGrp="1"/>
          </p:cNvSpPr>
          <p:nvPr/>
        </p:nvSpPr>
        <p:spPr>
          <a:xfrm xmlns:a="http://schemas.openxmlformats.org/drawingml/2006/main">
            <a:off x="1333500" y="3857625"/>
            <a:ext cx="3638550" cy="3524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350" b="0">
                <a:solidFill>
                  <a:srgbClr val="111827"/>
                </a:solidFill>
              </a:defRPr>
            </a:pPr>
            <a:r>
              <a:rPr sz="1350" b="0">
                <a:solidFill>
                  <a:srgbClr val="111827"/>
                </a:solidFill>
              </a:rPr>
              <a:t>Fails in slow or range-bound markets</a:t>
            </a:r>
          </a:p>
        </p:txBody>
      </p:sp>
      <p:sp>
        <p:nvSpPr>
          <p:cNvPr id="14" name="">
            <a:extLst xmlns:a="http://schemas.openxmlformats.org/drawingml/2006/main">
              <a:ext uri="{FF2B5EF4-FFF2-40B4-BE49-F238E27FC236}">
                <a16:creationId xmlns:a16="http://schemas.microsoft.com/office/drawing/2014/main" id="{247B0045-8E0F-4BFB-8AB0-968BFD6C11E1}"/>
              </a:ext>
            </a:extLst>
          </p:cNvPr>
          <p:cNvSpPr>
            <a:spLocks xmlns:a="http://schemas.openxmlformats.org/drawingml/2006/main" noGrp="1"/>
          </p:cNvSpPr>
          <p:nvPr/>
        </p:nvSpPr>
        <p:spPr>
          <a:xfrm xmlns:a="http://schemas.openxmlformats.org/drawingml/2006/main">
            <a:off x="1123950" y="4257675"/>
            <a:ext cx="76200" cy="76200"/>
          </a:xfrm>
          <a:prstGeom xmlns:a="http://schemas.openxmlformats.org/drawingml/2006/main" prst="ellipse">
            <a:avLst/>
          </a:prstGeom>
          <a:solidFill xmlns:a="http://schemas.openxmlformats.org/drawingml/2006/main">
            <a:srgbClr val="D1495B"/>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755E1A07-4C8E-46B0-9A4C-FA471E825107}"/>
              </a:ext>
            </a:extLst>
          </p:cNvPr>
          <p:cNvSpPr>
            <a:spLocks xmlns:a="http://schemas.openxmlformats.org/drawingml/2006/main" noGrp="1"/>
          </p:cNvSpPr>
          <p:nvPr/>
        </p:nvSpPr>
        <p:spPr>
          <a:xfrm xmlns:a="http://schemas.openxmlformats.org/drawingml/2006/main">
            <a:off x="1333500" y="4171950"/>
            <a:ext cx="3638550" cy="3524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350" b="0">
                <a:solidFill>
                  <a:srgbClr val="111827"/>
                </a:solidFill>
              </a:defRPr>
            </a:pPr>
            <a:r>
              <a:rPr sz="1350" b="0">
                <a:solidFill>
                  <a:srgbClr val="111827"/>
                </a:solidFill>
              </a:rPr>
              <a:t>Concentrates risk in a few themes</a:t>
            </a:r>
          </a:p>
        </p:txBody>
      </p:sp>
      <p:sp>
        <p:nvSpPr>
          <p:cNvPr id="16" name="">
            <a:extLst xmlns:a="http://schemas.openxmlformats.org/drawingml/2006/main">
              <a:ext uri="{FF2B5EF4-FFF2-40B4-BE49-F238E27FC236}">
                <a16:creationId xmlns:a16="http://schemas.microsoft.com/office/drawing/2014/main" id="{B82AFF50-5E0C-4532-AC75-16FB393F3CAC}"/>
              </a:ext>
            </a:extLst>
          </p:cNvPr>
          <p:cNvSpPr>
            <a:spLocks xmlns:a="http://schemas.openxmlformats.org/drawingml/2006/main" noGrp="1"/>
          </p:cNvSpPr>
          <p:nvPr/>
        </p:nvSpPr>
        <p:spPr>
          <a:xfrm xmlns:a="http://schemas.openxmlformats.org/drawingml/2006/main">
            <a:off x="6419850" y="2038350"/>
            <a:ext cx="5010150" cy="3181350"/>
          </a:xfrm>
          <a:prstGeom xmlns:a="http://schemas.openxmlformats.org/drawingml/2006/main" prst="roundRect">
            <a:avLst>
              <a:gd name="adj" fmla="val 2395"/>
            </a:avLst>
          </a:prstGeom>
          <a:solidFill xmlns:a="http://schemas.openxmlformats.org/drawingml/2006/main">
            <a:srgbClr val="EFF6FF"/>
          </a:solidFill>
          <a:ln xmlns:a="http://schemas.openxmlformats.org/drawingml/2006/main" w="9525">
            <a:solidFill>
              <a:srgbClr val="BFDBFE"/>
            </a:solidFill>
            <a:prstDash val="solid"/>
          </a:ln>
        </p:spPr>
      </p:sp>
      <p:sp>
        <p:nvSpPr>
          <p:cNvPr id="17" name="">
            <a:extLst xmlns:a="http://schemas.openxmlformats.org/drawingml/2006/main">
              <a:ext uri="{FF2B5EF4-FFF2-40B4-BE49-F238E27FC236}">
                <a16:creationId xmlns:a16="http://schemas.microsoft.com/office/drawing/2014/main" id="{4805C280-D74A-4AAD-91A8-0BF1818EC802}"/>
              </a:ext>
            </a:extLst>
          </p:cNvPr>
          <p:cNvSpPr>
            <a:spLocks xmlns:a="http://schemas.openxmlformats.org/drawingml/2006/main" noGrp="1"/>
          </p:cNvSpPr>
          <p:nvPr/>
        </p:nvSpPr>
        <p:spPr>
          <a:xfrm xmlns:a="http://schemas.openxmlformats.org/drawingml/2006/main">
            <a:off x="6762750" y="2305050"/>
            <a:ext cx="285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2025" b="1">
                <a:solidFill>
                  <a:srgbClr val="2563EB"/>
                </a:solidFill>
              </a:defRPr>
            </a:pPr>
            <a:r>
              <a:rPr sz="2025" b="1">
                <a:solidFill>
                  <a:srgbClr val="2563EB"/>
                </a:solidFill>
              </a:rPr>
              <a:t>Guardrails</a:t>
            </a:r>
          </a:p>
        </p:txBody>
      </p:sp>
      <p:sp>
        <p:nvSpPr>
          <p:cNvPr id="18" name="">
            <a:extLst xmlns:a="http://schemas.openxmlformats.org/drawingml/2006/main">
              <a:ext uri="{FF2B5EF4-FFF2-40B4-BE49-F238E27FC236}">
                <a16:creationId xmlns:a16="http://schemas.microsoft.com/office/drawing/2014/main" id="{A7972BB5-A574-4410-9862-9571904A4F0C}"/>
              </a:ext>
            </a:extLst>
          </p:cNvPr>
          <p:cNvSpPr>
            <a:spLocks xmlns:a="http://schemas.openxmlformats.org/drawingml/2006/main" noGrp="1"/>
          </p:cNvSpPr>
          <p:nvPr/>
        </p:nvSpPr>
        <p:spPr>
          <a:xfrm xmlns:a="http://schemas.openxmlformats.org/drawingml/2006/main">
            <a:off x="6781800" y="3000375"/>
            <a:ext cx="76200" cy="76200"/>
          </a:xfrm>
          <a:prstGeom xmlns:a="http://schemas.openxmlformats.org/drawingml/2006/main" prst="ellipse">
            <a:avLst/>
          </a:prstGeom>
          <a:solidFill xmlns:a="http://schemas.openxmlformats.org/drawingml/2006/main">
            <a:srgbClr val="2563EB"/>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617CBF18-BBA4-4E5E-A1E4-FB7D4329FDDC}"/>
              </a:ext>
            </a:extLst>
          </p:cNvPr>
          <p:cNvSpPr>
            <a:spLocks xmlns:a="http://schemas.openxmlformats.org/drawingml/2006/main" noGrp="1"/>
          </p:cNvSpPr>
          <p:nvPr/>
        </p:nvSpPr>
        <p:spPr>
          <a:xfrm xmlns:a="http://schemas.openxmlformats.org/drawingml/2006/main">
            <a:off x="6991350" y="2914650"/>
            <a:ext cx="36385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350" b="0">
                <a:solidFill>
                  <a:srgbClr val="111827"/>
                </a:solidFill>
              </a:defRPr>
            </a:pPr>
            <a:r>
              <a:rPr sz="1350" b="0">
                <a:solidFill>
                  <a:srgbClr val="111827"/>
                </a:solidFill>
              </a:rPr>
              <a:t>Keep benchmark hold as the primary comparator</a:t>
            </a:r>
          </a:p>
        </p:txBody>
      </p:sp>
      <p:sp>
        <p:nvSpPr>
          <p:cNvPr id="20" name="">
            <a:extLst xmlns:a="http://schemas.openxmlformats.org/drawingml/2006/main">
              <a:ext uri="{FF2B5EF4-FFF2-40B4-BE49-F238E27FC236}">
                <a16:creationId xmlns:a16="http://schemas.microsoft.com/office/drawing/2014/main" id="{0F611520-56CE-4BD4-A4C5-2E3EFEF54B4A}"/>
              </a:ext>
            </a:extLst>
          </p:cNvPr>
          <p:cNvSpPr>
            <a:spLocks xmlns:a="http://schemas.openxmlformats.org/drawingml/2006/main" noGrp="1"/>
          </p:cNvSpPr>
          <p:nvPr/>
        </p:nvSpPr>
        <p:spPr>
          <a:xfrm xmlns:a="http://schemas.openxmlformats.org/drawingml/2006/main">
            <a:off x="6781800" y="3362325"/>
            <a:ext cx="76200" cy="76200"/>
          </a:xfrm>
          <a:prstGeom xmlns:a="http://schemas.openxmlformats.org/drawingml/2006/main" prst="ellipse">
            <a:avLst/>
          </a:prstGeom>
          <a:solidFill xmlns:a="http://schemas.openxmlformats.org/drawingml/2006/main">
            <a:srgbClr val="2563EB"/>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029BE230-41DF-4D1B-8396-A312AE10F859}"/>
              </a:ext>
            </a:extLst>
          </p:cNvPr>
          <p:cNvSpPr>
            <a:spLocks xmlns:a="http://schemas.openxmlformats.org/drawingml/2006/main" noGrp="1"/>
          </p:cNvSpPr>
          <p:nvPr/>
        </p:nvSpPr>
        <p:spPr>
          <a:xfrm xmlns:a="http://schemas.openxmlformats.org/drawingml/2006/main">
            <a:off x="6991350" y="3276600"/>
            <a:ext cx="36385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350" b="0">
                <a:solidFill>
                  <a:srgbClr val="111827"/>
                </a:solidFill>
              </a:defRPr>
            </a:pPr>
            <a:r>
              <a:rPr sz="1350" b="0">
                <a:solidFill>
                  <a:srgbClr val="111827"/>
                </a:solidFill>
              </a:rPr>
              <a:t>Separate curation, PCA states, and replay</a:t>
            </a:r>
          </a:p>
        </p:txBody>
      </p:sp>
      <p:sp>
        <p:nvSpPr>
          <p:cNvPr id="22" name="">
            <a:extLst xmlns:a="http://schemas.openxmlformats.org/drawingml/2006/main">
              <a:ext uri="{FF2B5EF4-FFF2-40B4-BE49-F238E27FC236}">
                <a16:creationId xmlns:a16="http://schemas.microsoft.com/office/drawing/2014/main" id="{848313DD-16EE-4A94-9F4E-96101620128B}"/>
              </a:ext>
            </a:extLst>
          </p:cNvPr>
          <p:cNvSpPr>
            <a:spLocks xmlns:a="http://schemas.openxmlformats.org/drawingml/2006/main" noGrp="1"/>
          </p:cNvSpPr>
          <p:nvPr/>
        </p:nvSpPr>
        <p:spPr>
          <a:xfrm xmlns:a="http://schemas.openxmlformats.org/drawingml/2006/main">
            <a:off x="6781800" y="3724275"/>
            <a:ext cx="76200" cy="76200"/>
          </a:xfrm>
          <a:prstGeom xmlns:a="http://schemas.openxmlformats.org/drawingml/2006/main" prst="ellipse">
            <a:avLst/>
          </a:prstGeom>
          <a:solidFill xmlns:a="http://schemas.openxmlformats.org/drawingml/2006/main">
            <a:srgbClr val="2563EB"/>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DF17A539-15D4-484E-880E-91B07BCC4C15}"/>
              </a:ext>
            </a:extLst>
          </p:cNvPr>
          <p:cNvSpPr>
            <a:spLocks xmlns:a="http://schemas.openxmlformats.org/drawingml/2006/main" noGrp="1"/>
          </p:cNvSpPr>
          <p:nvPr/>
        </p:nvSpPr>
        <p:spPr>
          <a:xfrm xmlns:a="http://schemas.openxmlformats.org/drawingml/2006/main">
            <a:off x="6991350" y="3638550"/>
            <a:ext cx="36385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350" b="0">
                <a:solidFill>
                  <a:srgbClr val="111827"/>
                </a:solidFill>
              </a:defRPr>
            </a:pPr>
            <a:r>
              <a:rPr sz="1350" b="0">
                <a:solidFill>
                  <a:srgbClr val="111827"/>
                </a:solidFill>
              </a:rPr>
              <a:t>Do not add SMA or mean reversion yet</a:t>
            </a:r>
          </a:p>
        </p:txBody>
      </p:sp>
      <p:sp>
        <p:nvSpPr>
          <p:cNvPr id="24" name="">
            <a:extLst xmlns:a="http://schemas.openxmlformats.org/drawingml/2006/main">
              <a:ext uri="{FF2B5EF4-FFF2-40B4-BE49-F238E27FC236}">
                <a16:creationId xmlns:a16="http://schemas.microsoft.com/office/drawing/2014/main" id="{E9E2AE5A-94DA-4BE0-9091-25E9B403C686}"/>
              </a:ext>
            </a:extLst>
          </p:cNvPr>
          <p:cNvSpPr>
            <a:spLocks xmlns:a="http://schemas.openxmlformats.org/drawingml/2006/main" noGrp="1"/>
          </p:cNvSpPr>
          <p:nvPr/>
        </p:nvSpPr>
        <p:spPr>
          <a:xfrm xmlns:a="http://schemas.openxmlformats.org/drawingml/2006/main">
            <a:off x="6781800" y="4086225"/>
            <a:ext cx="76200" cy="76200"/>
          </a:xfrm>
          <a:prstGeom xmlns:a="http://schemas.openxmlformats.org/drawingml/2006/main" prst="ellipse">
            <a:avLst/>
          </a:prstGeom>
          <a:solidFill xmlns:a="http://schemas.openxmlformats.org/drawingml/2006/main">
            <a:srgbClr val="2563EB"/>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1EEE67E8-4B00-4EE2-B2CA-7C3379E83760}"/>
              </a:ext>
            </a:extLst>
          </p:cNvPr>
          <p:cNvSpPr>
            <a:spLocks xmlns:a="http://schemas.openxmlformats.org/drawingml/2006/main" noGrp="1"/>
          </p:cNvSpPr>
          <p:nvPr/>
        </p:nvSpPr>
        <p:spPr>
          <a:xfrm xmlns:a="http://schemas.openxmlformats.org/drawingml/2006/main">
            <a:off x="6991350" y="4000500"/>
            <a:ext cx="36385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350" b="0">
                <a:solidFill>
                  <a:srgbClr val="111827"/>
                </a:solidFill>
              </a:defRPr>
            </a:pPr>
            <a:r>
              <a:rPr sz="1350" b="0">
                <a:solidFill>
                  <a:srgbClr val="111827"/>
                </a:solidFill>
              </a:rPr>
              <a:t>Report failures as useful falsification</a:t>
            </a:r>
          </a:p>
        </p:txBody>
      </p:sp>
      <p:sp>
        <p:nvSpPr>
          <p:cNvPr id="26" name="">
            <a:extLst xmlns:a="http://schemas.openxmlformats.org/drawingml/2006/main">
              <a:ext uri="{FF2B5EF4-FFF2-40B4-BE49-F238E27FC236}">
                <a16:creationId xmlns:a16="http://schemas.microsoft.com/office/drawing/2014/main" id="{38A5D8CB-B91F-491A-93D3-2C9F545AADC2}"/>
              </a:ext>
            </a:extLst>
          </p:cNvPr>
          <p:cNvSpPr>
            <a:spLocks xmlns:a="http://schemas.openxmlformats.org/drawingml/2006/main" noGrp="1"/>
          </p:cNvSpPr>
          <p:nvPr/>
        </p:nvSpPr>
        <p:spPr>
          <a:xfrm xmlns:a="http://schemas.openxmlformats.org/drawingml/2006/main">
            <a:off x="6781800" y="4448175"/>
            <a:ext cx="76200" cy="76200"/>
          </a:xfrm>
          <a:prstGeom xmlns:a="http://schemas.openxmlformats.org/drawingml/2006/main" prst="ellipse">
            <a:avLst/>
          </a:prstGeom>
          <a:solidFill xmlns:a="http://schemas.openxmlformats.org/drawingml/2006/main">
            <a:srgbClr val="2563EB"/>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CD718F0C-8BF9-40C5-BCD9-C7EA3E27E1D4}"/>
              </a:ext>
            </a:extLst>
          </p:cNvPr>
          <p:cNvSpPr>
            <a:spLocks xmlns:a="http://schemas.openxmlformats.org/drawingml/2006/main" noGrp="1"/>
          </p:cNvSpPr>
          <p:nvPr/>
        </p:nvSpPr>
        <p:spPr>
          <a:xfrm xmlns:a="http://schemas.openxmlformats.org/drawingml/2006/main">
            <a:off x="6991350" y="4362450"/>
            <a:ext cx="36385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350" b="0">
                <a:solidFill>
                  <a:srgbClr val="111827"/>
                </a:solidFill>
              </a:defRPr>
            </a:pPr>
            <a:r>
              <a:rPr sz="1350" b="0">
                <a:solidFill>
                  <a:srgbClr val="111827"/>
                </a:solidFill>
              </a:rPr>
              <a:t>Keep live bridge walled off</a:t>
            </a:r>
          </a:p>
        </p:txBody>
      </p:sp>
    </p:spTree>
    <p:extLst>
      <p:ext uri="{BB962C8B-B14F-4D97-AF65-F5344CB8AC3E}">
        <p14:creationId xmlns:p14="http://schemas.microsoft.com/office/powerpoint/2010/main" val="1980410269"/>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2B6C868B-2C06-47EB-B8ED-1998ACCF710A}"/>
              </a:ext>
            </a:extLst>
          </p:cNvPr>
          <p:cNvSpPr>
            <a:spLocks xmlns:a="http://schemas.openxmlformats.org/drawingml/2006/main" noGrp="1"/>
          </p:cNvSpPr>
          <p:nvPr/>
        </p:nvSpPr>
        <p:spPr>
          <a:xfrm xmlns:a="http://schemas.openxmlformats.org/drawingml/2006/main">
            <a:off x="609600" y="304800"/>
            <a:ext cx="5334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975" b="1">
                <a:solidFill>
                  <a:srgbClr val="2563EB"/>
                </a:solidFill>
              </a:defRPr>
            </a:pPr>
            <a:r>
              <a:rPr sz="975" b="1">
                <a:solidFill>
                  <a:srgbClr val="2563EB"/>
                </a:solidFill>
              </a:rPr>
              <a:t>GEN5.3 PCA RESEARCH PIVOT</a:t>
            </a:r>
          </a:p>
        </p:txBody>
      </p:sp>
      <p:sp>
        <p:nvSpPr>
          <p:cNvPr id="2" name="">
            <a:extLst xmlns:a="http://schemas.openxmlformats.org/drawingml/2006/main">
              <a:ext uri="{FF2B5EF4-FFF2-40B4-BE49-F238E27FC236}">
                <a16:creationId xmlns:a16="http://schemas.microsoft.com/office/drawing/2014/main" id="{48370CEA-A4D4-4E7D-B513-7425775F5F08}"/>
              </a:ext>
            </a:extLst>
          </p:cNvPr>
          <p:cNvSpPr>
            <a:spLocks xmlns:a="http://schemas.openxmlformats.org/drawingml/2006/main" noGrp="1"/>
          </p:cNvSpPr>
          <p:nvPr/>
        </p:nvSpPr>
        <p:spPr>
          <a:xfrm xmlns:a="http://schemas.openxmlformats.org/drawingml/2006/main">
            <a:off x="609600" y="647700"/>
            <a:ext cx="9334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2775" b="1">
                <a:solidFill>
                  <a:srgbClr val="111827"/>
                </a:solidFill>
              </a:defRPr>
            </a:pPr>
            <a:r>
              <a:rPr sz="2775" b="1">
                <a:solidFill>
                  <a:srgbClr val="111827"/>
                </a:solidFill>
              </a:rPr>
              <a:t>The next decision is a research gate, not a performance conclusion</a:t>
            </a:r>
          </a:p>
        </p:txBody>
      </p:sp>
      <p:sp>
        <p:nvSpPr>
          <p:cNvPr id="3" name="">
            <a:extLst xmlns:a="http://schemas.openxmlformats.org/drawingml/2006/main">
              <a:ext uri="{FF2B5EF4-FFF2-40B4-BE49-F238E27FC236}">
                <a16:creationId xmlns:a16="http://schemas.microsoft.com/office/drawing/2014/main" id="{2AA19129-0459-4256-93E6-A7D2496E0879}"/>
              </a:ext>
            </a:extLst>
          </p:cNvPr>
          <p:cNvSpPr>
            <a:spLocks xmlns:a="http://schemas.openxmlformats.org/drawingml/2006/main" noGrp="1"/>
          </p:cNvSpPr>
          <p:nvPr/>
        </p:nvSpPr>
        <p:spPr>
          <a:xfrm xmlns:a="http://schemas.openxmlformats.org/drawingml/2006/main">
            <a:off x="609600" y="1485900"/>
            <a:ext cx="10572750" cy="9525"/>
          </a:xfrm>
          <a:prstGeom xmlns:a="http://schemas.openxmlformats.org/drawingml/2006/main" prst="rect">
            <a:avLst/>
          </a:prstGeom>
          <a:solidFill xmlns:a="http://schemas.openxmlformats.org/drawingml/2006/main">
            <a:srgbClr val="CBD3DD"/>
          </a:solidFill>
          <a:ln xmlns:a="http://schemas.openxmlformats.org/drawingml/2006/main" w="0">
            <a:solidFill>
              <a:srgbClr val="CBD3DD"/>
            </a:solidFill>
            <a:prstDash val="solid"/>
          </a:ln>
        </p:spPr>
      </p:sp>
      <p:sp>
        <p:nvSpPr>
          <p:cNvPr id="4" name="">
            <a:extLst xmlns:a="http://schemas.openxmlformats.org/drawingml/2006/main">
              <a:ext uri="{FF2B5EF4-FFF2-40B4-BE49-F238E27FC236}">
                <a16:creationId xmlns:a16="http://schemas.microsoft.com/office/drawing/2014/main" id="{AE071FDF-74D9-476D-8347-90B8AE350FED}"/>
              </a:ext>
            </a:extLst>
          </p:cNvPr>
          <p:cNvSpPr>
            <a:spLocks xmlns:a="http://schemas.openxmlformats.org/drawingml/2006/main" noGrp="1"/>
          </p:cNvSpPr>
          <p:nvPr/>
        </p:nvSpPr>
        <p:spPr>
          <a:xfrm xmlns:a="http://schemas.openxmlformats.org/drawingml/2006/main">
            <a:off x="800100" y="2076450"/>
            <a:ext cx="10382250" cy="1181100"/>
          </a:xfrm>
          <a:prstGeom xmlns:a="http://schemas.openxmlformats.org/drawingml/2006/main" prst="roundRect">
            <a:avLst>
              <a:gd name="adj" fmla="val 6452"/>
            </a:avLst>
          </a:prstGeom>
          <a:solidFill xmlns:a="http://schemas.openxmlformats.org/drawingml/2006/main">
            <a:srgbClr val="F0FDF4"/>
          </a:solidFill>
          <a:ln xmlns:a="http://schemas.openxmlformats.org/drawingml/2006/main" w="9525">
            <a:solidFill>
              <a:srgbClr val="A7F3D0"/>
            </a:solidFill>
            <a:prstDash val="solid"/>
          </a:ln>
        </p:spPr>
      </p:sp>
      <p:sp>
        <p:nvSpPr>
          <p:cNvPr id="5" name="">
            <a:extLst xmlns:a="http://schemas.openxmlformats.org/drawingml/2006/main">
              <a:ext uri="{FF2B5EF4-FFF2-40B4-BE49-F238E27FC236}">
                <a16:creationId xmlns:a16="http://schemas.microsoft.com/office/drawing/2014/main" id="{EEFF69F8-9CAD-4EAE-BBA1-CE4AD439E34F}"/>
              </a:ext>
            </a:extLst>
          </p:cNvPr>
          <p:cNvSpPr>
            <a:spLocks xmlns:a="http://schemas.openxmlformats.org/drawingml/2006/main" noGrp="1"/>
          </p:cNvSpPr>
          <p:nvPr/>
        </p:nvSpPr>
        <p:spPr>
          <a:xfrm xmlns:a="http://schemas.openxmlformats.org/drawingml/2006/main">
            <a:off x="1123950" y="2324100"/>
            <a:ext cx="2857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2025" b="1">
                <a:solidFill>
                  <a:srgbClr val="177A55"/>
                </a:solidFill>
              </a:defRPr>
            </a:pPr>
            <a:r>
              <a:rPr sz="2025" b="1">
                <a:solidFill>
                  <a:srgbClr val="177A55"/>
                </a:solidFill>
              </a:rPr>
              <a:t>Default next slice</a:t>
            </a:r>
          </a:p>
        </p:txBody>
      </p:sp>
      <p:sp>
        <p:nvSpPr>
          <p:cNvPr id="6" name="">
            <a:extLst xmlns:a="http://schemas.openxmlformats.org/drawingml/2006/main">
              <a:ext uri="{FF2B5EF4-FFF2-40B4-BE49-F238E27FC236}">
                <a16:creationId xmlns:a16="http://schemas.microsoft.com/office/drawing/2014/main" id="{BF4E79EF-1E08-4871-963B-A4F60A380E81}"/>
              </a:ext>
            </a:extLst>
          </p:cNvPr>
          <p:cNvSpPr>
            <a:spLocks xmlns:a="http://schemas.openxmlformats.org/drawingml/2006/main" noGrp="1"/>
          </p:cNvSpPr>
          <p:nvPr/>
        </p:nvSpPr>
        <p:spPr>
          <a:xfrm xmlns:a="http://schemas.openxmlformats.org/drawingml/2006/main">
            <a:off x="4000500" y="2305050"/>
            <a:ext cx="6667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725" b="0">
                <a:solidFill>
                  <a:srgbClr val="111827"/>
                </a:solidFill>
              </a:defRPr>
            </a:pPr>
            <a:r>
              <a:rPr sz="1725" b="0">
                <a:solidFill>
                  <a:srgbClr val="111827"/>
                </a:solidFill>
              </a:rPr>
              <a:t>Run the small momentum-specialist baseline and compare it to equal-weight basket hold with participation and trade-tape diagnostics.</a:t>
            </a:r>
          </a:p>
        </p:txBody>
      </p:sp>
      <p:sp>
        <p:nvSpPr>
          <p:cNvPr id="7" name="">
            <a:extLst xmlns:a="http://schemas.openxmlformats.org/drawingml/2006/main">
              <a:ext uri="{FF2B5EF4-FFF2-40B4-BE49-F238E27FC236}">
                <a16:creationId xmlns:a16="http://schemas.microsoft.com/office/drawing/2014/main" id="{46C31281-F61B-4D5F-A253-2F80879F7208}"/>
              </a:ext>
            </a:extLst>
          </p:cNvPr>
          <p:cNvSpPr>
            <a:spLocks xmlns:a="http://schemas.openxmlformats.org/drawingml/2006/main" noGrp="1"/>
          </p:cNvSpPr>
          <p:nvPr/>
        </p:nvSpPr>
        <p:spPr>
          <a:xfrm xmlns:a="http://schemas.openxmlformats.org/drawingml/2006/main">
            <a:off x="800100" y="3619500"/>
            <a:ext cx="10382250" cy="2000250"/>
          </a:xfrm>
          <a:prstGeom xmlns:a="http://schemas.openxmlformats.org/drawingml/2006/main" prst="roundRect">
            <a:avLst>
              <a:gd name="adj" fmla="val 3810"/>
            </a:avLst>
          </a:prstGeom>
          <a:solidFill xmlns:a="http://schemas.openxmlformats.org/drawingml/2006/main">
            <a:srgbClr val="F8FAFC"/>
          </a:solidFill>
          <a:ln xmlns:a="http://schemas.openxmlformats.org/drawingml/2006/main" w="9525">
            <a:solidFill>
              <a:srgbClr val="D7DEE8"/>
            </a:solidFill>
            <a:prstDash val="solid"/>
          </a:ln>
        </p:spPr>
      </p:sp>
      <p:sp>
        <p:nvSpPr>
          <p:cNvPr id="8" name="">
            <a:extLst xmlns:a="http://schemas.openxmlformats.org/drawingml/2006/main">
              <a:ext uri="{FF2B5EF4-FFF2-40B4-BE49-F238E27FC236}">
                <a16:creationId xmlns:a16="http://schemas.microsoft.com/office/drawing/2014/main" id="{993E0F16-7C20-46D6-961B-C8EABFC49DDB}"/>
              </a:ext>
            </a:extLst>
          </p:cNvPr>
          <p:cNvSpPr>
            <a:spLocks xmlns:a="http://schemas.openxmlformats.org/drawingml/2006/main" noGrp="1"/>
          </p:cNvSpPr>
          <p:nvPr/>
        </p:nvSpPr>
        <p:spPr>
          <a:xfrm xmlns:a="http://schemas.openxmlformats.org/drawingml/2006/main">
            <a:off x="1123950" y="3962400"/>
            <a:ext cx="4191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875" b="1">
                <a:solidFill>
                  <a:srgbClr val="111827"/>
                </a:solidFill>
              </a:defRPr>
            </a:pPr>
            <a:r>
              <a:rPr sz="1875" b="1">
                <a:solidFill>
                  <a:srgbClr val="111827"/>
                </a:solidFill>
              </a:rPr>
              <a:t>STOP decisions before implementation</a:t>
            </a:r>
          </a:p>
        </p:txBody>
      </p:sp>
      <p:sp>
        <p:nvSpPr>
          <p:cNvPr id="9" name="">
            <a:extLst xmlns:a="http://schemas.openxmlformats.org/drawingml/2006/main">
              <a:ext uri="{FF2B5EF4-FFF2-40B4-BE49-F238E27FC236}">
                <a16:creationId xmlns:a16="http://schemas.microsoft.com/office/drawing/2014/main" id="{D382E2C8-17AA-44B5-951A-DA230CB55BA2}"/>
              </a:ext>
            </a:extLst>
          </p:cNvPr>
          <p:cNvSpPr>
            <a:spLocks xmlns:a="http://schemas.openxmlformats.org/drawingml/2006/main" noGrp="1"/>
          </p:cNvSpPr>
          <p:nvPr/>
        </p:nvSpPr>
        <p:spPr>
          <a:xfrm xmlns:a="http://schemas.openxmlformats.org/drawingml/2006/main">
            <a:off x="1162050" y="4505325"/>
            <a:ext cx="76200" cy="76200"/>
          </a:xfrm>
          <a:prstGeom xmlns:a="http://schemas.openxmlformats.org/drawingml/2006/main" prst="ellipse">
            <a:avLst/>
          </a:prstGeom>
          <a:solidFill xmlns:a="http://schemas.openxmlformats.org/drawingml/2006/main">
            <a:srgbClr val="D97706"/>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3AF99303-2257-41E3-9E0E-D04E9E523323}"/>
              </a:ext>
            </a:extLst>
          </p:cNvPr>
          <p:cNvSpPr>
            <a:spLocks xmlns:a="http://schemas.openxmlformats.org/drawingml/2006/main" noGrp="1"/>
          </p:cNvSpPr>
          <p:nvPr/>
        </p:nvSpPr>
        <p:spPr>
          <a:xfrm xmlns:a="http://schemas.openxmlformats.org/drawingml/2006/main">
            <a:off x="1371600" y="4419600"/>
            <a:ext cx="87439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350" b="0">
                <a:solidFill>
                  <a:srgbClr val="111827"/>
                </a:solidFill>
              </a:defRPr>
            </a:pPr>
            <a:r>
              <a:rPr sz="1350" b="0">
                <a:solidFill>
                  <a:srgbClr val="111827"/>
                </a:solidFill>
              </a:rPr>
              <a:t>Confirm Gen5.3 naming for this research lane</a:t>
            </a:r>
          </a:p>
        </p:txBody>
      </p:sp>
      <p:sp>
        <p:nvSpPr>
          <p:cNvPr id="11" name="">
            <a:extLst xmlns:a="http://schemas.openxmlformats.org/drawingml/2006/main">
              <a:ext uri="{FF2B5EF4-FFF2-40B4-BE49-F238E27FC236}">
                <a16:creationId xmlns:a16="http://schemas.microsoft.com/office/drawing/2014/main" id="{6F7A2850-8EBA-4D6C-8FC8-5E612645904A}"/>
              </a:ext>
            </a:extLst>
          </p:cNvPr>
          <p:cNvSpPr>
            <a:spLocks xmlns:a="http://schemas.openxmlformats.org/drawingml/2006/main" noGrp="1"/>
          </p:cNvSpPr>
          <p:nvPr/>
        </p:nvSpPr>
        <p:spPr>
          <a:xfrm xmlns:a="http://schemas.openxmlformats.org/drawingml/2006/main">
            <a:off x="1162050" y="4800600"/>
            <a:ext cx="76200" cy="76200"/>
          </a:xfrm>
          <a:prstGeom xmlns:a="http://schemas.openxmlformats.org/drawingml/2006/main" prst="ellipse">
            <a:avLst/>
          </a:prstGeom>
          <a:solidFill xmlns:a="http://schemas.openxmlformats.org/drawingml/2006/main">
            <a:srgbClr val="D97706"/>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6CDFA5A5-D237-4347-8DEF-BB189468A18D}"/>
              </a:ext>
            </a:extLst>
          </p:cNvPr>
          <p:cNvSpPr>
            <a:spLocks xmlns:a="http://schemas.openxmlformats.org/drawingml/2006/main" noGrp="1"/>
          </p:cNvSpPr>
          <p:nvPr/>
        </p:nvSpPr>
        <p:spPr>
          <a:xfrm xmlns:a="http://schemas.openxmlformats.org/drawingml/2006/main">
            <a:off x="1371600" y="4714875"/>
            <a:ext cx="87439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350" b="0">
                <a:solidFill>
                  <a:srgbClr val="111827"/>
                </a:solidFill>
              </a:defRPr>
            </a:pPr>
            <a:r>
              <a:rPr sz="1350" b="0">
                <a:solidFill>
                  <a:srgbClr val="111827"/>
                </a:solidFill>
              </a:rPr>
              <a:t>Exclude mean-reversion families from the first specialist baseline</a:t>
            </a:r>
          </a:p>
        </p:txBody>
      </p:sp>
      <p:sp>
        <p:nvSpPr>
          <p:cNvPr id="13" name="">
            <a:extLst xmlns:a="http://schemas.openxmlformats.org/drawingml/2006/main">
              <a:ext uri="{FF2B5EF4-FFF2-40B4-BE49-F238E27FC236}">
                <a16:creationId xmlns:a16="http://schemas.microsoft.com/office/drawing/2014/main" id="{CAEA47C2-0469-4DEF-9941-35B9ABAA7275}"/>
              </a:ext>
            </a:extLst>
          </p:cNvPr>
          <p:cNvSpPr>
            <a:spLocks xmlns:a="http://schemas.openxmlformats.org/drawingml/2006/main" noGrp="1"/>
          </p:cNvSpPr>
          <p:nvPr/>
        </p:nvSpPr>
        <p:spPr>
          <a:xfrm xmlns:a="http://schemas.openxmlformats.org/drawingml/2006/main">
            <a:off x="1162050" y="5095875"/>
            <a:ext cx="76200" cy="76200"/>
          </a:xfrm>
          <a:prstGeom xmlns:a="http://schemas.openxmlformats.org/drawingml/2006/main" prst="ellipse">
            <a:avLst/>
          </a:prstGeom>
          <a:solidFill xmlns:a="http://schemas.openxmlformats.org/drawingml/2006/main">
            <a:srgbClr val="D97706"/>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9B32FD4A-A6E0-4978-BF58-96042FD4F328}"/>
              </a:ext>
            </a:extLst>
          </p:cNvPr>
          <p:cNvSpPr>
            <a:spLocks xmlns:a="http://schemas.openxmlformats.org/drawingml/2006/main" noGrp="1"/>
          </p:cNvSpPr>
          <p:nvPr/>
        </p:nvSpPr>
        <p:spPr>
          <a:xfrm xmlns:a="http://schemas.openxmlformats.org/drawingml/2006/main">
            <a:off x="1371600" y="5010150"/>
            <a:ext cx="87439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350" b="0">
                <a:solidFill>
                  <a:srgbClr val="111827"/>
                </a:solidFill>
              </a:defRPr>
            </a:pPr>
            <a:r>
              <a:rPr sz="1350" b="0">
                <a:solidFill>
                  <a:srgbClr val="111827"/>
                </a:solidFill>
              </a:rPr>
              <a:t>Defer SMA until EMA and breakout-only evidence exists</a:t>
            </a:r>
          </a:p>
        </p:txBody>
      </p:sp>
      <p:sp>
        <p:nvSpPr>
          <p:cNvPr id="15" name="">
            <a:extLst xmlns:a="http://schemas.openxmlformats.org/drawingml/2006/main">
              <a:ext uri="{FF2B5EF4-FFF2-40B4-BE49-F238E27FC236}">
                <a16:creationId xmlns:a16="http://schemas.microsoft.com/office/drawing/2014/main" id="{835CA96E-F357-4B34-A99B-D0D4F4492ECB}"/>
              </a:ext>
            </a:extLst>
          </p:cNvPr>
          <p:cNvSpPr>
            <a:spLocks xmlns:a="http://schemas.openxmlformats.org/drawingml/2006/main" noGrp="1"/>
          </p:cNvSpPr>
          <p:nvPr/>
        </p:nvSpPr>
        <p:spPr>
          <a:xfrm xmlns:a="http://schemas.openxmlformats.org/drawingml/2006/main">
            <a:off x="1162050" y="5391150"/>
            <a:ext cx="76200" cy="76200"/>
          </a:xfrm>
          <a:prstGeom xmlns:a="http://schemas.openxmlformats.org/drawingml/2006/main" prst="ellipse">
            <a:avLst/>
          </a:prstGeom>
          <a:solidFill xmlns:a="http://schemas.openxmlformats.org/drawingml/2006/main">
            <a:srgbClr val="D97706"/>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FFF8F436-27F1-4DE7-A981-B5444224BBA2}"/>
              </a:ext>
            </a:extLst>
          </p:cNvPr>
          <p:cNvSpPr>
            <a:spLocks xmlns:a="http://schemas.openxmlformats.org/drawingml/2006/main" noGrp="1"/>
          </p:cNvSpPr>
          <p:nvPr/>
        </p:nvSpPr>
        <p:spPr>
          <a:xfrm xmlns:a="http://schemas.openxmlformats.org/drawingml/2006/main">
            <a:off x="1371600" y="5305425"/>
            <a:ext cx="87439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350" b="0">
                <a:solidFill>
                  <a:srgbClr val="111827"/>
                </a:solidFill>
              </a:defRPr>
            </a:pPr>
            <a:r>
              <a:rPr sz="1350" b="0">
                <a:solidFill>
                  <a:srgbClr val="111827"/>
                </a:solidFill>
              </a:rPr>
              <a:t>Use hand-picked basket first, then add TRAIN-only curation</a:t>
            </a:r>
          </a:p>
        </p:txBody>
      </p:sp>
      <p:sp>
        <p:nvSpPr>
          <p:cNvPr id="17" name="">
            <a:extLst xmlns:a="http://schemas.openxmlformats.org/drawingml/2006/main">
              <a:ext uri="{FF2B5EF4-FFF2-40B4-BE49-F238E27FC236}">
                <a16:creationId xmlns:a16="http://schemas.microsoft.com/office/drawing/2014/main" id="{CD97D10A-1FD4-4E56-AC22-7BFC8FFC4641}"/>
              </a:ext>
            </a:extLst>
          </p:cNvPr>
          <p:cNvSpPr>
            <a:spLocks xmlns:a="http://schemas.openxmlformats.org/drawingml/2006/main" noGrp="1"/>
          </p:cNvSpPr>
          <p:nvPr/>
        </p:nvSpPr>
        <p:spPr>
          <a:xfrm xmlns:a="http://schemas.openxmlformats.org/drawingml/2006/main">
            <a:off x="1257300" y="5962650"/>
            <a:ext cx="96774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00" b="1">
                <a:solidFill>
                  <a:srgbClr val="111827"/>
                </a:solidFill>
              </a:defRPr>
            </a:pPr>
            <a:r>
              <a:rPr sz="1800" b="1">
                <a:solidFill>
                  <a:srgbClr val="111827"/>
                </a:solidFill>
              </a:rPr>
              <a:t>If the specialist cannot improve participation in its own chosen domain, the broader universal router should not be trusted to solve it by accident.</a:t>
            </a:r>
          </a:p>
        </p:txBody>
      </p:sp>
    </p:spTree>
    <p:extLst>
      <p:ext uri="{BB962C8B-B14F-4D97-AF65-F5344CB8AC3E}">
        <p14:creationId xmlns:p14="http://schemas.microsoft.com/office/powerpoint/2010/main" val="1676298505"/>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D6ABC078-72B6-4606-8549-5471E4DB96AE}"/>
              </a:ext>
            </a:extLst>
          </p:cNvPr>
          <p:cNvSpPr>
            <a:spLocks xmlns:a="http://schemas.openxmlformats.org/drawingml/2006/main" noGrp="1"/>
          </p:cNvSpPr>
          <p:nvPr/>
        </p:nvSpPr>
        <p:spPr>
          <a:xfrm xmlns:a="http://schemas.openxmlformats.org/drawingml/2006/main">
            <a:off x="609600" y="304800"/>
            <a:ext cx="5334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975" b="1">
                <a:solidFill>
                  <a:srgbClr val="2563EB"/>
                </a:solidFill>
              </a:defRPr>
            </a:pPr>
            <a:r>
              <a:rPr sz="975" b="1">
                <a:solidFill>
                  <a:srgbClr val="2563EB"/>
                </a:solidFill>
              </a:rPr>
              <a:t>GEN5.3 PCA RESEARCH PIVOT</a:t>
            </a:r>
          </a:p>
        </p:txBody>
      </p:sp>
      <p:sp>
        <p:nvSpPr>
          <p:cNvPr id="2" name="">
            <a:extLst xmlns:a="http://schemas.openxmlformats.org/drawingml/2006/main">
              <a:ext uri="{FF2B5EF4-FFF2-40B4-BE49-F238E27FC236}">
                <a16:creationId xmlns:a16="http://schemas.microsoft.com/office/drawing/2014/main" id="{F605485C-51A8-4485-8524-832E9B8CF31C}"/>
              </a:ext>
            </a:extLst>
          </p:cNvPr>
          <p:cNvSpPr>
            <a:spLocks xmlns:a="http://schemas.openxmlformats.org/drawingml/2006/main" noGrp="1"/>
          </p:cNvSpPr>
          <p:nvPr/>
        </p:nvSpPr>
        <p:spPr>
          <a:xfrm xmlns:a="http://schemas.openxmlformats.org/drawingml/2006/main">
            <a:off x="609600" y="647700"/>
            <a:ext cx="9334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2775" b="1">
                <a:solidFill>
                  <a:srgbClr val="111827"/>
                </a:solidFill>
              </a:defRPr>
            </a:pPr>
            <a:r>
              <a:rPr sz="2775" b="1">
                <a:solidFill>
                  <a:srgbClr val="111827"/>
                </a:solidFill>
              </a:rPr>
              <a:t>The feature-set screen keeps the mechanics fixed and changes only the PCA inputs</a:t>
            </a:r>
          </a:p>
        </p:txBody>
      </p:sp>
      <p:sp>
        <p:nvSpPr>
          <p:cNvPr id="3" name="">
            <a:extLst xmlns:a="http://schemas.openxmlformats.org/drawingml/2006/main">
              <a:ext uri="{FF2B5EF4-FFF2-40B4-BE49-F238E27FC236}">
                <a16:creationId xmlns:a16="http://schemas.microsoft.com/office/drawing/2014/main" id="{FB21A7F4-9619-4914-8EB3-B2D63298CC83}"/>
              </a:ext>
            </a:extLst>
          </p:cNvPr>
          <p:cNvSpPr>
            <a:spLocks xmlns:a="http://schemas.openxmlformats.org/drawingml/2006/main" noGrp="1"/>
          </p:cNvSpPr>
          <p:nvPr/>
        </p:nvSpPr>
        <p:spPr>
          <a:xfrm xmlns:a="http://schemas.openxmlformats.org/drawingml/2006/main">
            <a:off x="609600" y="1485900"/>
            <a:ext cx="10572750" cy="9525"/>
          </a:xfrm>
          <a:prstGeom xmlns:a="http://schemas.openxmlformats.org/drawingml/2006/main" prst="rect">
            <a:avLst/>
          </a:prstGeom>
          <a:solidFill xmlns:a="http://schemas.openxmlformats.org/drawingml/2006/main">
            <a:srgbClr val="CBD3DD"/>
          </a:solidFill>
          <a:ln xmlns:a="http://schemas.openxmlformats.org/drawingml/2006/main" w="0">
            <a:solidFill>
              <a:srgbClr val="CBD3DD"/>
            </a:solidFill>
            <a:prstDash val="solid"/>
          </a:ln>
        </p:spPr>
      </p:sp>
      <p:sp>
        <p:nvSpPr>
          <p:cNvPr id="4" name="">
            <a:extLst xmlns:a="http://schemas.openxmlformats.org/drawingml/2006/main">
              <a:ext uri="{FF2B5EF4-FFF2-40B4-BE49-F238E27FC236}">
                <a16:creationId xmlns:a16="http://schemas.microsoft.com/office/drawing/2014/main" id="{1465AAED-282E-4EE9-8FD4-768BFDE4EDA2}"/>
              </a:ext>
            </a:extLst>
          </p:cNvPr>
          <p:cNvSpPr>
            <a:spLocks xmlns:a="http://schemas.openxmlformats.org/drawingml/2006/main" noGrp="1"/>
          </p:cNvSpPr>
          <p:nvPr/>
        </p:nvSpPr>
        <p:spPr>
          <a:xfrm xmlns:a="http://schemas.openxmlformats.org/drawingml/2006/main">
            <a:off x="704850" y="1943100"/>
            <a:ext cx="4953000" cy="3333750"/>
          </a:xfrm>
          <a:prstGeom xmlns:a="http://schemas.openxmlformats.org/drawingml/2006/main" prst="roundRect">
            <a:avLst>
              <a:gd name="adj" fmla="val 2286"/>
            </a:avLst>
          </a:prstGeom>
          <a:solidFill xmlns:a="http://schemas.openxmlformats.org/drawingml/2006/main">
            <a:srgbClr val="EFF6FF"/>
          </a:solidFill>
          <a:ln xmlns:a="http://schemas.openxmlformats.org/drawingml/2006/main" w="9525">
            <a:solidFill>
              <a:srgbClr val="BFDBFE"/>
            </a:solidFill>
            <a:prstDash val="solid"/>
          </a:ln>
        </p:spPr>
      </p:sp>
      <p:sp>
        <p:nvSpPr>
          <p:cNvPr id="5" name="">
            <a:extLst xmlns:a="http://schemas.openxmlformats.org/drawingml/2006/main">
              <a:ext uri="{FF2B5EF4-FFF2-40B4-BE49-F238E27FC236}">
                <a16:creationId xmlns:a16="http://schemas.microsoft.com/office/drawing/2014/main" id="{131F3D96-BDE1-48C3-8D2E-1B5270592926}"/>
              </a:ext>
            </a:extLst>
          </p:cNvPr>
          <p:cNvSpPr>
            <a:spLocks xmlns:a="http://schemas.openxmlformats.org/drawingml/2006/main" noGrp="1"/>
          </p:cNvSpPr>
          <p:nvPr/>
        </p:nvSpPr>
        <p:spPr>
          <a:xfrm xmlns:a="http://schemas.openxmlformats.org/drawingml/2006/main">
            <a:off x="1028700" y="2247900"/>
            <a:ext cx="3429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2025" b="1">
                <a:solidFill>
                  <a:srgbClr val="2563EB"/>
                </a:solidFill>
              </a:defRPr>
            </a:pPr>
            <a:r>
              <a:rPr sz="2025" b="1">
                <a:solidFill>
                  <a:srgbClr val="2563EB"/>
                </a:solidFill>
              </a:rPr>
              <a:t>Held fixed</a:t>
            </a:r>
          </a:p>
        </p:txBody>
      </p:sp>
      <p:sp>
        <p:nvSpPr>
          <p:cNvPr id="6" name="">
            <a:extLst xmlns:a="http://schemas.openxmlformats.org/drawingml/2006/main">
              <a:ext uri="{FF2B5EF4-FFF2-40B4-BE49-F238E27FC236}">
                <a16:creationId xmlns:a16="http://schemas.microsoft.com/office/drawing/2014/main" id="{D2A0D60C-3D5C-4651-909A-F4F2AAD43418}"/>
              </a:ext>
            </a:extLst>
          </p:cNvPr>
          <p:cNvSpPr>
            <a:spLocks xmlns:a="http://schemas.openxmlformats.org/drawingml/2006/main" noGrp="1"/>
          </p:cNvSpPr>
          <p:nvPr/>
        </p:nvSpPr>
        <p:spPr>
          <a:xfrm xmlns:a="http://schemas.openxmlformats.org/drawingml/2006/main">
            <a:off x="1047750" y="2924175"/>
            <a:ext cx="76200" cy="76200"/>
          </a:xfrm>
          <a:prstGeom xmlns:a="http://schemas.openxmlformats.org/drawingml/2006/main" prst="ellipse">
            <a:avLst/>
          </a:prstGeom>
          <a:solidFill xmlns:a="http://schemas.openxmlformats.org/drawingml/2006/main">
            <a:srgbClr val="2563EB"/>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55829D1B-2591-4233-9FFD-5E889A060A31}"/>
              </a:ext>
            </a:extLst>
          </p:cNvPr>
          <p:cNvSpPr>
            <a:spLocks xmlns:a="http://schemas.openxmlformats.org/drawingml/2006/main" noGrp="1"/>
          </p:cNvSpPr>
          <p:nvPr/>
        </p:nvSpPr>
        <p:spPr>
          <a:xfrm xmlns:a="http://schemas.openxmlformats.org/drawingml/2006/main">
            <a:off x="1257300" y="2838450"/>
            <a:ext cx="36957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350" b="0">
                <a:solidFill>
                  <a:srgbClr val="111827"/>
                </a:solidFill>
              </a:defRPr>
            </a:pPr>
            <a:r>
              <a:rPr sz="1350" b="0">
                <a:solidFill>
                  <a:srgbClr val="111827"/>
                </a:solidFill>
              </a:rPr>
              <a:t>High-beta basket: AMD, NVDA, TSLA, AAPL, MSTR</a:t>
            </a:r>
          </a:p>
        </p:txBody>
      </p:sp>
      <p:sp>
        <p:nvSpPr>
          <p:cNvPr id="8" name="">
            <a:extLst xmlns:a="http://schemas.openxmlformats.org/drawingml/2006/main">
              <a:ext uri="{FF2B5EF4-FFF2-40B4-BE49-F238E27FC236}">
                <a16:creationId xmlns:a16="http://schemas.microsoft.com/office/drawing/2014/main" id="{E72E9A3C-5EF5-4122-A095-0BE7BD704622}"/>
              </a:ext>
            </a:extLst>
          </p:cNvPr>
          <p:cNvSpPr>
            <a:spLocks xmlns:a="http://schemas.openxmlformats.org/drawingml/2006/main" noGrp="1"/>
          </p:cNvSpPr>
          <p:nvPr/>
        </p:nvSpPr>
        <p:spPr>
          <a:xfrm xmlns:a="http://schemas.openxmlformats.org/drawingml/2006/main">
            <a:off x="1047750" y="3248025"/>
            <a:ext cx="76200" cy="76200"/>
          </a:xfrm>
          <a:prstGeom xmlns:a="http://schemas.openxmlformats.org/drawingml/2006/main" prst="ellipse">
            <a:avLst/>
          </a:prstGeom>
          <a:solidFill xmlns:a="http://schemas.openxmlformats.org/drawingml/2006/main">
            <a:srgbClr val="2563EB"/>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69992CBB-E3EA-4334-AAC4-C43CB23FFF2C}"/>
              </a:ext>
            </a:extLst>
          </p:cNvPr>
          <p:cNvSpPr>
            <a:spLocks xmlns:a="http://schemas.openxmlformats.org/drawingml/2006/main" noGrp="1"/>
          </p:cNvSpPr>
          <p:nvPr/>
        </p:nvSpPr>
        <p:spPr>
          <a:xfrm xmlns:a="http://schemas.openxmlformats.org/drawingml/2006/main">
            <a:off x="1257300" y="3162300"/>
            <a:ext cx="36957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350" b="0">
                <a:solidFill>
                  <a:srgbClr val="111827"/>
                </a:solidFill>
              </a:defRPr>
            </a:pPr>
            <a:r>
              <a:rPr sz="1350" b="0">
                <a:solidFill>
                  <a:srgbClr val="111827"/>
                </a:solidFill>
              </a:rPr>
              <a:t>Context: basket + SPY/QQQ/IWM/SMH/TLT/GLD</a:t>
            </a:r>
          </a:p>
        </p:txBody>
      </p:sp>
      <p:sp>
        <p:nvSpPr>
          <p:cNvPr id="10" name="">
            <a:extLst xmlns:a="http://schemas.openxmlformats.org/drawingml/2006/main">
              <a:ext uri="{FF2B5EF4-FFF2-40B4-BE49-F238E27FC236}">
                <a16:creationId xmlns:a16="http://schemas.microsoft.com/office/drawing/2014/main" id="{C5C00068-A752-4807-BCD7-48F0E030DCFA}"/>
              </a:ext>
            </a:extLst>
          </p:cNvPr>
          <p:cNvSpPr>
            <a:spLocks xmlns:a="http://schemas.openxmlformats.org/drawingml/2006/main" noGrp="1"/>
          </p:cNvSpPr>
          <p:nvPr/>
        </p:nvSpPr>
        <p:spPr>
          <a:xfrm xmlns:a="http://schemas.openxmlformats.org/drawingml/2006/main">
            <a:off x="1047750" y="3571875"/>
            <a:ext cx="76200" cy="76200"/>
          </a:xfrm>
          <a:prstGeom xmlns:a="http://schemas.openxmlformats.org/drawingml/2006/main" prst="ellipse">
            <a:avLst/>
          </a:prstGeom>
          <a:solidFill xmlns:a="http://schemas.openxmlformats.org/drawingml/2006/main">
            <a:srgbClr val="2563EB"/>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9299A4B9-D723-4916-BA78-8E6C74BC3852}"/>
              </a:ext>
            </a:extLst>
          </p:cNvPr>
          <p:cNvSpPr>
            <a:spLocks xmlns:a="http://schemas.openxmlformats.org/drawingml/2006/main" noGrp="1"/>
          </p:cNvSpPr>
          <p:nvPr/>
        </p:nvSpPr>
        <p:spPr>
          <a:xfrm xmlns:a="http://schemas.openxmlformats.org/drawingml/2006/main">
            <a:off x="1257300" y="3486150"/>
            <a:ext cx="36957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350" b="0">
                <a:solidFill>
                  <a:srgbClr val="111827"/>
                </a:solidFill>
              </a:defRPr>
            </a:pPr>
            <a:r>
              <a:rPr sz="1350" b="0">
                <a:solidFill>
                  <a:srgbClr val="111827"/>
                </a:solidFill>
              </a:rPr>
              <a:t>PCA: behavioral-pool, 3x3 quantile states</a:t>
            </a:r>
          </a:p>
        </p:txBody>
      </p:sp>
      <p:sp>
        <p:nvSpPr>
          <p:cNvPr id="12" name="">
            <a:extLst xmlns:a="http://schemas.openxmlformats.org/drawingml/2006/main">
              <a:ext uri="{FF2B5EF4-FFF2-40B4-BE49-F238E27FC236}">
                <a16:creationId xmlns:a16="http://schemas.microsoft.com/office/drawing/2014/main" id="{F8DE5143-AEB4-4955-891D-34D9C25461D7}"/>
              </a:ext>
            </a:extLst>
          </p:cNvPr>
          <p:cNvSpPr>
            <a:spLocks xmlns:a="http://schemas.openxmlformats.org/drawingml/2006/main" noGrp="1"/>
          </p:cNvSpPr>
          <p:nvPr/>
        </p:nvSpPr>
        <p:spPr>
          <a:xfrm xmlns:a="http://schemas.openxmlformats.org/drawingml/2006/main">
            <a:off x="1047750" y="3895725"/>
            <a:ext cx="76200" cy="76200"/>
          </a:xfrm>
          <a:prstGeom xmlns:a="http://schemas.openxmlformats.org/drawingml/2006/main" prst="ellipse">
            <a:avLst/>
          </a:prstGeom>
          <a:solidFill xmlns:a="http://schemas.openxmlformats.org/drawingml/2006/main">
            <a:srgbClr val="2563EB"/>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60824192-AEA1-4BED-B032-AABEC1FD855B}"/>
              </a:ext>
            </a:extLst>
          </p:cNvPr>
          <p:cNvSpPr>
            <a:spLocks xmlns:a="http://schemas.openxmlformats.org/drawingml/2006/main" noGrp="1"/>
          </p:cNvSpPr>
          <p:nvPr/>
        </p:nvSpPr>
        <p:spPr>
          <a:xfrm xmlns:a="http://schemas.openxmlformats.org/drawingml/2006/main">
            <a:off x="1257300" y="3810000"/>
            <a:ext cx="36957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350" b="0">
                <a:solidFill>
                  <a:srgbClr val="111827"/>
                </a:solidFill>
              </a:defRPr>
            </a:pPr>
            <a:r>
              <a:rPr sz="1350" b="0">
                <a:solidFill>
                  <a:srgbClr val="111827"/>
                </a:solidFill>
              </a:rPr>
              <a:t>Policy: pooled-family asset-variant</a:t>
            </a:r>
          </a:p>
        </p:txBody>
      </p:sp>
      <p:sp>
        <p:nvSpPr>
          <p:cNvPr id="14" name="">
            <a:extLst xmlns:a="http://schemas.openxmlformats.org/drawingml/2006/main">
              <a:ext uri="{FF2B5EF4-FFF2-40B4-BE49-F238E27FC236}">
                <a16:creationId xmlns:a16="http://schemas.microsoft.com/office/drawing/2014/main" id="{E111F458-12AC-4DB6-9198-7C241D27D305}"/>
              </a:ext>
            </a:extLst>
          </p:cNvPr>
          <p:cNvSpPr>
            <a:spLocks xmlns:a="http://schemas.openxmlformats.org/drawingml/2006/main" noGrp="1"/>
          </p:cNvSpPr>
          <p:nvPr/>
        </p:nvSpPr>
        <p:spPr>
          <a:xfrm xmlns:a="http://schemas.openxmlformats.org/drawingml/2006/main">
            <a:off x="1047750" y="4219575"/>
            <a:ext cx="76200" cy="76200"/>
          </a:xfrm>
          <a:prstGeom xmlns:a="http://schemas.openxmlformats.org/drawingml/2006/main" prst="ellipse">
            <a:avLst/>
          </a:prstGeom>
          <a:solidFill xmlns:a="http://schemas.openxmlformats.org/drawingml/2006/main">
            <a:srgbClr val="2563EB"/>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6F25C608-3256-415A-8A9B-F14DD32B2B6D}"/>
              </a:ext>
            </a:extLst>
          </p:cNvPr>
          <p:cNvSpPr>
            <a:spLocks xmlns:a="http://schemas.openxmlformats.org/drawingml/2006/main" noGrp="1"/>
          </p:cNvSpPr>
          <p:nvPr/>
        </p:nvSpPr>
        <p:spPr>
          <a:xfrm xmlns:a="http://schemas.openxmlformats.org/drawingml/2006/main">
            <a:off x="1257300" y="4133850"/>
            <a:ext cx="36957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350" b="0">
                <a:solidFill>
                  <a:srgbClr val="111827"/>
                </a:solidFill>
              </a:defRPr>
            </a:pPr>
            <a:r>
              <a:rPr sz="1350" b="0">
                <a:solidFill>
                  <a:srgbClr val="111827"/>
                </a:solidFill>
              </a:rPr>
              <a:t>Families: EMA, breakout, pullback, volatility breakout, no-trade</a:t>
            </a:r>
          </a:p>
        </p:txBody>
      </p:sp>
      <p:sp>
        <p:nvSpPr>
          <p:cNvPr id="16" name="">
            <a:extLst xmlns:a="http://schemas.openxmlformats.org/drawingml/2006/main">
              <a:ext uri="{FF2B5EF4-FFF2-40B4-BE49-F238E27FC236}">
                <a16:creationId xmlns:a16="http://schemas.microsoft.com/office/drawing/2014/main" id="{65D8638B-20C9-4628-BD28-35F9372DCBFA}"/>
              </a:ext>
            </a:extLst>
          </p:cNvPr>
          <p:cNvSpPr>
            <a:spLocks xmlns:a="http://schemas.openxmlformats.org/drawingml/2006/main" noGrp="1"/>
          </p:cNvSpPr>
          <p:nvPr/>
        </p:nvSpPr>
        <p:spPr>
          <a:xfrm xmlns:a="http://schemas.openxmlformats.org/drawingml/2006/main">
            <a:off x="6496050" y="1943100"/>
            <a:ext cx="4953000" cy="3333750"/>
          </a:xfrm>
          <a:prstGeom xmlns:a="http://schemas.openxmlformats.org/drawingml/2006/main" prst="roundRect">
            <a:avLst>
              <a:gd name="adj" fmla="val 2286"/>
            </a:avLst>
          </a:prstGeom>
          <a:solidFill xmlns:a="http://schemas.openxmlformats.org/drawingml/2006/main">
            <a:srgbClr val="F0FDF4"/>
          </a:solidFill>
          <a:ln xmlns:a="http://schemas.openxmlformats.org/drawingml/2006/main" w="9525">
            <a:solidFill>
              <a:srgbClr val="A7F3D0"/>
            </a:solidFill>
            <a:prstDash val="solid"/>
          </a:ln>
        </p:spPr>
      </p:sp>
      <p:sp>
        <p:nvSpPr>
          <p:cNvPr id="17" name="">
            <a:extLst xmlns:a="http://schemas.openxmlformats.org/drawingml/2006/main">
              <a:ext uri="{FF2B5EF4-FFF2-40B4-BE49-F238E27FC236}">
                <a16:creationId xmlns:a16="http://schemas.microsoft.com/office/drawing/2014/main" id="{063A0521-0750-4158-93A6-4C907CEEFA26}"/>
              </a:ext>
            </a:extLst>
          </p:cNvPr>
          <p:cNvSpPr>
            <a:spLocks xmlns:a="http://schemas.openxmlformats.org/drawingml/2006/main" noGrp="1"/>
          </p:cNvSpPr>
          <p:nvPr/>
        </p:nvSpPr>
        <p:spPr>
          <a:xfrm xmlns:a="http://schemas.openxmlformats.org/drawingml/2006/main">
            <a:off x="6819900" y="2247900"/>
            <a:ext cx="3429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2025" b="1">
                <a:solidFill>
                  <a:srgbClr val="177A55"/>
                </a:solidFill>
              </a:defRPr>
            </a:pPr>
            <a:r>
              <a:rPr sz="2025" b="1">
                <a:solidFill>
                  <a:srgbClr val="177A55"/>
                </a:solidFill>
              </a:rPr>
              <a:t>Varied deliberately</a:t>
            </a:r>
          </a:p>
        </p:txBody>
      </p:sp>
      <p:sp>
        <p:nvSpPr>
          <p:cNvPr id="18" name="">
            <a:extLst xmlns:a="http://schemas.openxmlformats.org/drawingml/2006/main">
              <a:ext uri="{FF2B5EF4-FFF2-40B4-BE49-F238E27FC236}">
                <a16:creationId xmlns:a16="http://schemas.microsoft.com/office/drawing/2014/main" id="{5A2B29E3-1EA5-4302-A7C7-6DB67C5B23D4}"/>
              </a:ext>
            </a:extLst>
          </p:cNvPr>
          <p:cNvSpPr>
            <a:spLocks xmlns:a="http://schemas.openxmlformats.org/drawingml/2006/main" noGrp="1"/>
          </p:cNvSpPr>
          <p:nvPr/>
        </p:nvSpPr>
        <p:spPr>
          <a:xfrm xmlns:a="http://schemas.openxmlformats.org/drawingml/2006/main">
            <a:off x="6838950" y="3000375"/>
            <a:ext cx="76200" cy="76200"/>
          </a:xfrm>
          <a:prstGeom xmlns:a="http://schemas.openxmlformats.org/drawingml/2006/main" prst="ellipse">
            <a:avLst/>
          </a:prstGeom>
          <a:solidFill xmlns:a="http://schemas.openxmlformats.org/drawingml/2006/main">
            <a:srgbClr val="177A55"/>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7D7719E0-9600-486E-8EAC-546E78C4C714}"/>
              </a:ext>
            </a:extLst>
          </p:cNvPr>
          <p:cNvSpPr>
            <a:spLocks xmlns:a="http://schemas.openxmlformats.org/drawingml/2006/main" noGrp="1"/>
          </p:cNvSpPr>
          <p:nvPr/>
        </p:nvSpPr>
        <p:spPr>
          <a:xfrm xmlns:a="http://schemas.openxmlformats.org/drawingml/2006/main">
            <a:off x="7048500" y="2914650"/>
            <a:ext cx="36957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350" b="0">
                <a:solidFill>
                  <a:srgbClr val="111827"/>
                </a:solidFill>
              </a:defRPr>
            </a:pPr>
            <a:r>
              <a:rPr sz="1350" b="0">
                <a:solidFill>
                  <a:srgbClr val="111827"/>
                </a:solidFill>
              </a:rPr>
              <a:t>Workhorse enriched</a:t>
            </a:r>
          </a:p>
        </p:txBody>
      </p:sp>
      <p:sp>
        <p:nvSpPr>
          <p:cNvPr id="20" name="">
            <a:extLst xmlns:a="http://schemas.openxmlformats.org/drawingml/2006/main">
              <a:ext uri="{FF2B5EF4-FFF2-40B4-BE49-F238E27FC236}">
                <a16:creationId xmlns:a16="http://schemas.microsoft.com/office/drawing/2014/main" id="{E6F2133A-15E5-4F92-ACE1-3EFCBEF379E8}"/>
              </a:ext>
            </a:extLst>
          </p:cNvPr>
          <p:cNvSpPr>
            <a:spLocks xmlns:a="http://schemas.openxmlformats.org/drawingml/2006/main" noGrp="1"/>
          </p:cNvSpPr>
          <p:nvPr/>
        </p:nvSpPr>
        <p:spPr>
          <a:xfrm xmlns:a="http://schemas.openxmlformats.org/drawingml/2006/main">
            <a:off x="6838950" y="3324225"/>
            <a:ext cx="76200" cy="76200"/>
          </a:xfrm>
          <a:prstGeom xmlns:a="http://schemas.openxmlformats.org/drawingml/2006/main" prst="ellipse">
            <a:avLst/>
          </a:prstGeom>
          <a:solidFill xmlns:a="http://schemas.openxmlformats.org/drawingml/2006/main">
            <a:srgbClr val="177A55"/>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4C93AEAC-CA1A-4E56-A0CF-028A7026E5B3}"/>
              </a:ext>
            </a:extLst>
          </p:cNvPr>
          <p:cNvSpPr>
            <a:spLocks xmlns:a="http://schemas.openxmlformats.org/drawingml/2006/main" noGrp="1"/>
          </p:cNvSpPr>
          <p:nvPr/>
        </p:nvSpPr>
        <p:spPr>
          <a:xfrm xmlns:a="http://schemas.openxmlformats.org/drawingml/2006/main">
            <a:off x="7048500" y="3238500"/>
            <a:ext cx="36957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350" b="0">
                <a:solidFill>
                  <a:srgbClr val="111827"/>
                </a:solidFill>
              </a:defRPr>
            </a:pPr>
            <a:r>
              <a:rPr sz="1350" b="0">
                <a:solidFill>
                  <a:srgbClr val="111827"/>
                </a:solidFill>
              </a:rPr>
              <a:t>Momentum participation</a:t>
            </a:r>
          </a:p>
        </p:txBody>
      </p:sp>
      <p:sp>
        <p:nvSpPr>
          <p:cNvPr id="22" name="">
            <a:extLst xmlns:a="http://schemas.openxmlformats.org/drawingml/2006/main">
              <a:ext uri="{FF2B5EF4-FFF2-40B4-BE49-F238E27FC236}">
                <a16:creationId xmlns:a16="http://schemas.microsoft.com/office/drawing/2014/main" id="{7A72C746-622D-40B9-8F8F-F722639A10EB}"/>
              </a:ext>
            </a:extLst>
          </p:cNvPr>
          <p:cNvSpPr>
            <a:spLocks xmlns:a="http://schemas.openxmlformats.org/drawingml/2006/main" noGrp="1"/>
          </p:cNvSpPr>
          <p:nvPr/>
        </p:nvSpPr>
        <p:spPr>
          <a:xfrm xmlns:a="http://schemas.openxmlformats.org/drawingml/2006/main">
            <a:off x="6838950" y="3648075"/>
            <a:ext cx="76200" cy="76200"/>
          </a:xfrm>
          <a:prstGeom xmlns:a="http://schemas.openxmlformats.org/drawingml/2006/main" prst="ellipse">
            <a:avLst/>
          </a:prstGeom>
          <a:solidFill xmlns:a="http://schemas.openxmlformats.org/drawingml/2006/main">
            <a:srgbClr val="177A55"/>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FECC0B68-31F5-46E4-9EDB-97FDC4F7D439}"/>
              </a:ext>
            </a:extLst>
          </p:cNvPr>
          <p:cNvSpPr>
            <a:spLocks xmlns:a="http://schemas.openxmlformats.org/drawingml/2006/main" noGrp="1"/>
          </p:cNvSpPr>
          <p:nvPr/>
        </p:nvSpPr>
        <p:spPr>
          <a:xfrm xmlns:a="http://schemas.openxmlformats.org/drawingml/2006/main">
            <a:off x="7048500" y="3562350"/>
            <a:ext cx="36957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350" b="0">
                <a:solidFill>
                  <a:srgbClr val="111827"/>
                </a:solidFill>
              </a:defRPr>
            </a:pPr>
            <a:r>
              <a:rPr sz="1350" b="0">
                <a:solidFill>
                  <a:srgbClr val="111827"/>
                </a:solidFill>
              </a:rPr>
              <a:t>Momentum plus stress</a:t>
            </a:r>
          </a:p>
        </p:txBody>
      </p:sp>
      <p:sp>
        <p:nvSpPr>
          <p:cNvPr id="24" name="">
            <a:extLst xmlns:a="http://schemas.openxmlformats.org/drawingml/2006/main">
              <a:ext uri="{FF2B5EF4-FFF2-40B4-BE49-F238E27FC236}">
                <a16:creationId xmlns:a16="http://schemas.microsoft.com/office/drawing/2014/main" id="{D838AE9D-8AB1-4B2D-8FFE-036A0BB79570}"/>
              </a:ext>
            </a:extLst>
          </p:cNvPr>
          <p:cNvSpPr>
            <a:spLocks xmlns:a="http://schemas.openxmlformats.org/drawingml/2006/main" noGrp="1"/>
          </p:cNvSpPr>
          <p:nvPr/>
        </p:nvSpPr>
        <p:spPr>
          <a:xfrm xmlns:a="http://schemas.openxmlformats.org/drawingml/2006/main">
            <a:off x="6838950" y="3971925"/>
            <a:ext cx="76200" cy="76200"/>
          </a:xfrm>
          <a:prstGeom xmlns:a="http://schemas.openxmlformats.org/drawingml/2006/main" prst="ellipse">
            <a:avLst/>
          </a:prstGeom>
          <a:solidFill xmlns:a="http://schemas.openxmlformats.org/drawingml/2006/main">
            <a:srgbClr val="177A55"/>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562741C3-8BFB-486D-AD57-58B402E227DE}"/>
              </a:ext>
            </a:extLst>
          </p:cNvPr>
          <p:cNvSpPr>
            <a:spLocks xmlns:a="http://schemas.openxmlformats.org/drawingml/2006/main" noGrp="1"/>
          </p:cNvSpPr>
          <p:nvPr/>
        </p:nvSpPr>
        <p:spPr>
          <a:xfrm xmlns:a="http://schemas.openxmlformats.org/drawingml/2006/main">
            <a:off x="7048500" y="3886200"/>
            <a:ext cx="36957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350" b="0">
                <a:solidFill>
                  <a:srgbClr val="111827"/>
                </a:solidFill>
              </a:defRPr>
            </a:pPr>
            <a:r>
              <a:rPr sz="1350" b="0">
                <a:solidFill>
                  <a:srgbClr val="111827"/>
                </a:solidFill>
              </a:rPr>
              <a:t>Same strategy grid and replay semantics for every lane</a:t>
            </a:r>
          </a:p>
        </p:txBody>
      </p:sp>
      <p:sp>
        <p:nvSpPr>
          <p:cNvPr id="26" name="">
            <a:extLst xmlns:a="http://schemas.openxmlformats.org/drawingml/2006/main">
              <a:ext uri="{FF2B5EF4-FFF2-40B4-BE49-F238E27FC236}">
                <a16:creationId xmlns:a16="http://schemas.microsoft.com/office/drawing/2014/main" id="{D3E1BE5D-C8E6-45DE-9303-CDA9769F6FDD}"/>
              </a:ext>
            </a:extLst>
          </p:cNvPr>
          <p:cNvSpPr>
            <a:spLocks xmlns:a="http://schemas.openxmlformats.org/drawingml/2006/main" noGrp="1"/>
          </p:cNvSpPr>
          <p:nvPr/>
        </p:nvSpPr>
        <p:spPr>
          <a:xfrm xmlns:a="http://schemas.openxmlformats.org/drawingml/2006/main">
            <a:off x="6838950" y="4295775"/>
            <a:ext cx="76200" cy="76200"/>
          </a:xfrm>
          <a:prstGeom xmlns:a="http://schemas.openxmlformats.org/drawingml/2006/main" prst="ellipse">
            <a:avLst/>
          </a:prstGeom>
          <a:solidFill xmlns:a="http://schemas.openxmlformats.org/drawingml/2006/main">
            <a:srgbClr val="177A55"/>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624333C1-E721-4886-9AF7-B2F107AF2DA8}"/>
              </a:ext>
            </a:extLst>
          </p:cNvPr>
          <p:cNvSpPr>
            <a:spLocks xmlns:a="http://schemas.openxmlformats.org/drawingml/2006/main" noGrp="1"/>
          </p:cNvSpPr>
          <p:nvPr/>
        </p:nvSpPr>
        <p:spPr>
          <a:xfrm xmlns:a="http://schemas.openxmlformats.org/drawingml/2006/main">
            <a:off x="7048500" y="4210050"/>
            <a:ext cx="36957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350" b="0">
                <a:solidFill>
                  <a:srgbClr val="111827"/>
                </a:solidFill>
              </a:defRPr>
            </a:pPr>
            <a:r>
              <a:rPr sz="1350" b="0">
                <a:solidFill>
                  <a:srgbClr val="111827"/>
                </a:solidFill>
              </a:rPr>
              <a:t>Same equal-weight basket-hold benchmark</a:t>
            </a:r>
          </a:p>
        </p:txBody>
      </p:sp>
    </p:spTree>
    <p:extLst>
      <p:ext uri="{BB962C8B-B14F-4D97-AF65-F5344CB8AC3E}">
        <p14:creationId xmlns:p14="http://schemas.microsoft.com/office/powerpoint/2010/main" val="1444552583"/>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E7E61B3E-1D62-49D5-B495-6F0AFEA95D37}"/>
              </a:ext>
            </a:extLst>
          </p:cNvPr>
          <p:cNvSpPr>
            <a:spLocks xmlns:a="http://schemas.openxmlformats.org/drawingml/2006/main" noGrp="1"/>
          </p:cNvSpPr>
          <p:nvPr/>
        </p:nvSpPr>
        <p:spPr>
          <a:xfrm xmlns:a="http://schemas.openxmlformats.org/drawingml/2006/main">
            <a:off x="609600" y="304800"/>
            <a:ext cx="5334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975" b="1">
                <a:solidFill>
                  <a:srgbClr val="2563EB"/>
                </a:solidFill>
              </a:defRPr>
            </a:pPr>
            <a:r>
              <a:rPr sz="975" b="1">
                <a:solidFill>
                  <a:srgbClr val="2563EB"/>
                </a:solidFill>
              </a:rPr>
              <a:t>GEN5.3 PCA RESEARCH PIVOT</a:t>
            </a:r>
          </a:p>
        </p:txBody>
      </p:sp>
      <p:sp>
        <p:nvSpPr>
          <p:cNvPr id="2" name="">
            <a:extLst xmlns:a="http://schemas.openxmlformats.org/drawingml/2006/main">
              <a:ext uri="{FF2B5EF4-FFF2-40B4-BE49-F238E27FC236}">
                <a16:creationId xmlns:a16="http://schemas.microsoft.com/office/drawing/2014/main" id="{1022E68D-B4F0-4149-B4E5-927907862EBB}"/>
              </a:ext>
            </a:extLst>
          </p:cNvPr>
          <p:cNvSpPr>
            <a:spLocks xmlns:a="http://schemas.openxmlformats.org/drawingml/2006/main" noGrp="1"/>
          </p:cNvSpPr>
          <p:nvPr/>
        </p:nvSpPr>
        <p:spPr>
          <a:xfrm xmlns:a="http://schemas.openxmlformats.org/drawingml/2006/main">
            <a:off x="609600" y="647700"/>
            <a:ext cx="9334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2775" b="1">
                <a:solidFill>
                  <a:srgbClr val="111827"/>
                </a:solidFill>
              </a:defRPr>
            </a:pPr>
            <a:r>
              <a:rPr sz="2775" b="1">
                <a:solidFill>
                  <a:srgbClr val="111827"/>
                </a:solidFill>
              </a:rPr>
              <a:t>Each feature set asks a different question about bullish participation</a:t>
            </a:r>
          </a:p>
        </p:txBody>
      </p:sp>
      <p:sp>
        <p:nvSpPr>
          <p:cNvPr id="3" name="">
            <a:extLst xmlns:a="http://schemas.openxmlformats.org/drawingml/2006/main">
              <a:ext uri="{FF2B5EF4-FFF2-40B4-BE49-F238E27FC236}">
                <a16:creationId xmlns:a16="http://schemas.microsoft.com/office/drawing/2014/main" id="{47D4F3F5-07F5-4FF5-8C5F-4BC302C60074}"/>
              </a:ext>
            </a:extLst>
          </p:cNvPr>
          <p:cNvSpPr>
            <a:spLocks xmlns:a="http://schemas.openxmlformats.org/drawingml/2006/main" noGrp="1"/>
          </p:cNvSpPr>
          <p:nvPr/>
        </p:nvSpPr>
        <p:spPr>
          <a:xfrm xmlns:a="http://schemas.openxmlformats.org/drawingml/2006/main">
            <a:off x="609600" y="1485900"/>
            <a:ext cx="10572750" cy="9525"/>
          </a:xfrm>
          <a:prstGeom xmlns:a="http://schemas.openxmlformats.org/drawingml/2006/main" prst="rect">
            <a:avLst/>
          </a:prstGeom>
          <a:solidFill xmlns:a="http://schemas.openxmlformats.org/drawingml/2006/main">
            <a:srgbClr val="CBD3DD"/>
          </a:solidFill>
          <a:ln xmlns:a="http://schemas.openxmlformats.org/drawingml/2006/main" w="0">
            <a:solidFill>
              <a:srgbClr val="CBD3DD"/>
            </a:solidFill>
            <a:prstDash val="solid"/>
          </a:ln>
        </p:spPr>
      </p:sp>
      <p:sp>
        <p:nvSpPr>
          <p:cNvPr id="4" name="">
            <a:extLst xmlns:a="http://schemas.openxmlformats.org/drawingml/2006/main">
              <a:ext uri="{FF2B5EF4-FFF2-40B4-BE49-F238E27FC236}">
                <a16:creationId xmlns:a16="http://schemas.microsoft.com/office/drawing/2014/main" id="{5111A2AA-4773-4A56-AB09-6928020D1E96}"/>
              </a:ext>
            </a:extLst>
          </p:cNvPr>
          <p:cNvSpPr>
            <a:spLocks xmlns:a="http://schemas.openxmlformats.org/drawingml/2006/main" noGrp="1"/>
          </p:cNvSpPr>
          <p:nvPr/>
        </p:nvSpPr>
        <p:spPr>
          <a:xfrm xmlns:a="http://schemas.openxmlformats.org/drawingml/2006/main">
            <a:off x="704850" y="2076450"/>
            <a:ext cx="3257550" cy="2724150"/>
          </a:xfrm>
          <a:prstGeom xmlns:a="http://schemas.openxmlformats.org/drawingml/2006/main" prst="roundRect">
            <a:avLst>
              <a:gd name="adj" fmla="val 2797"/>
            </a:avLst>
          </a:prstGeom>
          <a:solidFill xmlns:a="http://schemas.openxmlformats.org/drawingml/2006/main">
            <a:srgbClr val="EFF6FF"/>
          </a:solidFill>
          <a:ln xmlns:a="http://schemas.openxmlformats.org/drawingml/2006/main" w="9525">
            <a:solidFill>
              <a:srgbClr val="D7DEE8"/>
            </a:solidFill>
            <a:prstDash val="solid"/>
          </a:ln>
        </p:spPr>
      </p:sp>
      <p:sp>
        <p:nvSpPr>
          <p:cNvPr id="5" name="">
            <a:extLst xmlns:a="http://schemas.openxmlformats.org/drawingml/2006/main">
              <a:ext uri="{FF2B5EF4-FFF2-40B4-BE49-F238E27FC236}">
                <a16:creationId xmlns:a16="http://schemas.microsoft.com/office/drawing/2014/main" id="{0FC8538F-C2B6-4945-981D-074D1D6A839C}"/>
              </a:ext>
            </a:extLst>
          </p:cNvPr>
          <p:cNvSpPr>
            <a:spLocks xmlns:a="http://schemas.openxmlformats.org/drawingml/2006/main" noGrp="1"/>
          </p:cNvSpPr>
          <p:nvPr/>
        </p:nvSpPr>
        <p:spPr>
          <a:xfrm xmlns:a="http://schemas.openxmlformats.org/drawingml/2006/main">
            <a:off x="952500" y="2343150"/>
            <a:ext cx="27241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875" b="1">
                <a:solidFill>
                  <a:srgbClr val="2563EB"/>
                </a:solidFill>
              </a:defRPr>
            </a:pPr>
            <a:r>
              <a:rPr sz="1875" b="1">
                <a:solidFill>
                  <a:srgbClr val="2563EB"/>
                </a:solidFill>
              </a:rPr>
              <a:t>Workhorse enriched</a:t>
            </a:r>
          </a:p>
        </p:txBody>
      </p:sp>
      <p:sp>
        <p:nvSpPr>
          <p:cNvPr id="6" name="">
            <a:extLst xmlns:a="http://schemas.openxmlformats.org/drawingml/2006/main">
              <a:ext uri="{FF2B5EF4-FFF2-40B4-BE49-F238E27FC236}">
                <a16:creationId xmlns:a16="http://schemas.microsoft.com/office/drawing/2014/main" id="{E7083A98-8867-45E1-B6EE-B3CE2451A099}"/>
              </a:ext>
            </a:extLst>
          </p:cNvPr>
          <p:cNvSpPr>
            <a:spLocks xmlns:a="http://schemas.openxmlformats.org/drawingml/2006/main" noGrp="1"/>
          </p:cNvSpPr>
          <p:nvPr/>
        </p:nvSpPr>
        <p:spPr>
          <a:xfrm xmlns:a="http://schemas.openxmlformats.org/drawingml/2006/main">
            <a:off x="952500" y="3105150"/>
            <a:ext cx="27241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500" b="0">
                <a:solidFill>
                  <a:srgbClr val="111827"/>
                </a:solidFill>
              </a:defRPr>
            </a:pPr>
            <a:r>
              <a:rPr sz="1500" b="0">
                <a:solidFill>
                  <a:srgbClr val="111827"/>
                </a:solidFill>
              </a:rPr>
              <a:t>Can the existing broad Gen5 state surface do the job without modification?</a:t>
            </a:r>
          </a:p>
        </p:txBody>
      </p:sp>
      <p:sp>
        <p:nvSpPr>
          <p:cNvPr id="7" name="">
            <a:extLst xmlns:a="http://schemas.openxmlformats.org/drawingml/2006/main">
              <a:ext uri="{FF2B5EF4-FFF2-40B4-BE49-F238E27FC236}">
                <a16:creationId xmlns:a16="http://schemas.microsoft.com/office/drawing/2014/main" id="{0C56CCB6-CF32-48DF-AA4F-9B2342F1735C}"/>
              </a:ext>
            </a:extLst>
          </p:cNvPr>
          <p:cNvSpPr>
            <a:spLocks xmlns:a="http://schemas.openxmlformats.org/drawingml/2006/main" noGrp="1"/>
          </p:cNvSpPr>
          <p:nvPr/>
        </p:nvSpPr>
        <p:spPr>
          <a:xfrm xmlns:a="http://schemas.openxmlformats.org/drawingml/2006/main">
            <a:off x="4457700" y="2076450"/>
            <a:ext cx="3257550" cy="2724150"/>
          </a:xfrm>
          <a:prstGeom xmlns:a="http://schemas.openxmlformats.org/drawingml/2006/main" prst="roundRect">
            <a:avLst>
              <a:gd name="adj" fmla="val 2797"/>
            </a:avLst>
          </a:prstGeom>
          <a:solidFill xmlns:a="http://schemas.openxmlformats.org/drawingml/2006/main">
            <a:srgbClr val="ECFDF5"/>
          </a:solidFill>
          <a:ln xmlns:a="http://schemas.openxmlformats.org/drawingml/2006/main" w="9525">
            <a:solidFill>
              <a:srgbClr val="D7DEE8"/>
            </a:solidFill>
            <a:prstDash val="solid"/>
          </a:ln>
        </p:spPr>
      </p:sp>
      <p:sp>
        <p:nvSpPr>
          <p:cNvPr id="8" name="">
            <a:extLst xmlns:a="http://schemas.openxmlformats.org/drawingml/2006/main">
              <a:ext uri="{FF2B5EF4-FFF2-40B4-BE49-F238E27FC236}">
                <a16:creationId xmlns:a16="http://schemas.microsoft.com/office/drawing/2014/main" id="{D72724B7-D204-4CC3-93D9-DBBA21F14C2E}"/>
              </a:ext>
            </a:extLst>
          </p:cNvPr>
          <p:cNvSpPr>
            <a:spLocks xmlns:a="http://schemas.openxmlformats.org/drawingml/2006/main" noGrp="1"/>
          </p:cNvSpPr>
          <p:nvPr/>
        </p:nvSpPr>
        <p:spPr>
          <a:xfrm xmlns:a="http://schemas.openxmlformats.org/drawingml/2006/main">
            <a:off x="4705350" y="2343150"/>
            <a:ext cx="27241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875" b="1">
                <a:solidFill>
                  <a:srgbClr val="177A55"/>
                </a:solidFill>
              </a:defRPr>
            </a:pPr>
            <a:r>
              <a:rPr sz="1875" b="1">
                <a:solidFill>
                  <a:srgbClr val="177A55"/>
                </a:solidFill>
              </a:rPr>
              <a:t>Momentum participation</a:t>
            </a:r>
          </a:p>
        </p:txBody>
      </p:sp>
      <p:sp>
        <p:nvSpPr>
          <p:cNvPr id="9" name="">
            <a:extLst xmlns:a="http://schemas.openxmlformats.org/drawingml/2006/main">
              <a:ext uri="{FF2B5EF4-FFF2-40B4-BE49-F238E27FC236}">
                <a16:creationId xmlns:a16="http://schemas.microsoft.com/office/drawing/2014/main" id="{A40E96A1-0433-4932-9BBD-7D680E9AB3C8}"/>
              </a:ext>
            </a:extLst>
          </p:cNvPr>
          <p:cNvSpPr>
            <a:spLocks xmlns:a="http://schemas.openxmlformats.org/drawingml/2006/main" noGrp="1"/>
          </p:cNvSpPr>
          <p:nvPr/>
        </p:nvSpPr>
        <p:spPr>
          <a:xfrm xmlns:a="http://schemas.openxmlformats.org/drawingml/2006/main">
            <a:off x="4705350" y="3105150"/>
            <a:ext cx="27241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500" b="0">
                <a:solidFill>
                  <a:srgbClr val="111827"/>
                </a:solidFill>
              </a:defRPr>
            </a:pPr>
            <a:r>
              <a:rPr sz="1500" b="0">
                <a:solidFill>
                  <a:srgbClr val="111827"/>
                </a:solidFill>
              </a:rPr>
              <a:t>Can trend strength, impulse, persistence, range location, drawdown, and recovery sharpen entries?</a:t>
            </a:r>
          </a:p>
        </p:txBody>
      </p:sp>
      <p:sp>
        <p:nvSpPr>
          <p:cNvPr id="10" name="">
            <a:extLst xmlns:a="http://schemas.openxmlformats.org/drawingml/2006/main">
              <a:ext uri="{FF2B5EF4-FFF2-40B4-BE49-F238E27FC236}">
                <a16:creationId xmlns:a16="http://schemas.microsoft.com/office/drawing/2014/main" id="{BCE9CC9B-A2C2-481B-B34F-46B50C019CC2}"/>
              </a:ext>
            </a:extLst>
          </p:cNvPr>
          <p:cNvSpPr>
            <a:spLocks xmlns:a="http://schemas.openxmlformats.org/drawingml/2006/main" noGrp="1"/>
          </p:cNvSpPr>
          <p:nvPr/>
        </p:nvSpPr>
        <p:spPr>
          <a:xfrm xmlns:a="http://schemas.openxmlformats.org/drawingml/2006/main">
            <a:off x="8210550" y="2076450"/>
            <a:ext cx="3257550" cy="2724150"/>
          </a:xfrm>
          <a:prstGeom xmlns:a="http://schemas.openxmlformats.org/drawingml/2006/main" prst="roundRect">
            <a:avLst>
              <a:gd name="adj" fmla="val 2797"/>
            </a:avLst>
          </a:prstGeom>
          <a:solidFill xmlns:a="http://schemas.openxmlformats.org/drawingml/2006/main">
            <a:srgbClr val="FFF7ED"/>
          </a:solidFill>
          <a:ln xmlns:a="http://schemas.openxmlformats.org/drawingml/2006/main" w="9525">
            <a:solidFill>
              <a:srgbClr val="D7DEE8"/>
            </a:solidFill>
            <a:prstDash val="solid"/>
          </a:ln>
        </p:spPr>
      </p:sp>
      <p:sp>
        <p:nvSpPr>
          <p:cNvPr id="11" name="">
            <a:extLst xmlns:a="http://schemas.openxmlformats.org/drawingml/2006/main">
              <a:ext uri="{FF2B5EF4-FFF2-40B4-BE49-F238E27FC236}">
                <a16:creationId xmlns:a16="http://schemas.microsoft.com/office/drawing/2014/main" id="{1458A083-8EB5-4F74-BB1B-557C431728F4}"/>
              </a:ext>
            </a:extLst>
          </p:cNvPr>
          <p:cNvSpPr>
            <a:spLocks xmlns:a="http://schemas.openxmlformats.org/drawingml/2006/main" noGrp="1"/>
          </p:cNvSpPr>
          <p:nvPr/>
        </p:nvSpPr>
        <p:spPr>
          <a:xfrm xmlns:a="http://schemas.openxmlformats.org/drawingml/2006/main">
            <a:off x="8458200" y="2343150"/>
            <a:ext cx="27241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875" b="1">
                <a:solidFill>
                  <a:srgbClr val="D97706"/>
                </a:solidFill>
              </a:defRPr>
            </a:pPr>
            <a:r>
              <a:rPr sz="1875" b="1">
                <a:solidFill>
                  <a:srgbClr val="D97706"/>
                </a:solidFill>
              </a:rPr>
              <a:t>Momentum plus stress</a:t>
            </a:r>
          </a:p>
        </p:txBody>
      </p:sp>
      <p:sp>
        <p:nvSpPr>
          <p:cNvPr id="12" name="">
            <a:extLst xmlns:a="http://schemas.openxmlformats.org/drawingml/2006/main">
              <a:ext uri="{FF2B5EF4-FFF2-40B4-BE49-F238E27FC236}">
                <a16:creationId xmlns:a16="http://schemas.microsoft.com/office/drawing/2014/main" id="{48B5AB3D-1F56-4621-A3B2-5A9D507501AB}"/>
              </a:ext>
            </a:extLst>
          </p:cNvPr>
          <p:cNvSpPr>
            <a:spLocks xmlns:a="http://schemas.openxmlformats.org/drawingml/2006/main" noGrp="1"/>
          </p:cNvSpPr>
          <p:nvPr/>
        </p:nvSpPr>
        <p:spPr>
          <a:xfrm xmlns:a="http://schemas.openxmlformats.org/drawingml/2006/main">
            <a:off x="8458200" y="3105150"/>
            <a:ext cx="27241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500" b="0">
                <a:solidFill>
                  <a:srgbClr val="111827"/>
                </a:solidFill>
              </a:defRPr>
            </a:pPr>
            <a:r>
              <a:rPr sz="1500" b="0">
                <a:solidFill>
                  <a:srgbClr val="111827"/>
                </a:solidFill>
              </a:rPr>
              <a:t>Can the participation surface improve upside while keeping volatility and stress context for drawdown windows?</a:t>
            </a:r>
          </a:p>
        </p:txBody>
      </p:sp>
      <p:sp>
        <p:nvSpPr>
          <p:cNvPr id="13" name="">
            <a:extLst xmlns:a="http://schemas.openxmlformats.org/drawingml/2006/main">
              <a:ext uri="{FF2B5EF4-FFF2-40B4-BE49-F238E27FC236}">
                <a16:creationId xmlns:a16="http://schemas.microsoft.com/office/drawing/2014/main" id="{69B27390-C71A-4DAA-B789-07883D52DA0D}"/>
              </a:ext>
            </a:extLst>
          </p:cNvPr>
          <p:cNvSpPr>
            <a:spLocks xmlns:a="http://schemas.openxmlformats.org/drawingml/2006/main" noGrp="1"/>
          </p:cNvSpPr>
          <p:nvPr/>
        </p:nvSpPr>
        <p:spPr>
          <a:xfrm xmlns:a="http://schemas.openxmlformats.org/drawingml/2006/main">
            <a:off x="1238250" y="5638800"/>
            <a:ext cx="9715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725" b="1">
                <a:solidFill>
                  <a:srgbClr val="111827"/>
                </a:solidFill>
              </a:defRPr>
            </a:pPr>
            <a:r>
              <a:rPr sz="1725" b="1">
                <a:solidFill>
                  <a:srgbClr val="111827"/>
                </a:solidFill>
              </a:rPr>
              <a:t>The feature taxonomy CSV records the exact columns used in each lane, so the interpretation does not depend on memory.</a:t>
            </a:r>
          </a:p>
        </p:txBody>
      </p:sp>
    </p:spTree>
    <p:extLst>
      <p:ext uri="{BB962C8B-B14F-4D97-AF65-F5344CB8AC3E}">
        <p14:creationId xmlns:p14="http://schemas.microsoft.com/office/powerpoint/2010/main" val="631030048"/>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1EDDE3FF-8C3D-4836-BA47-D585E628D8E8}"/>
              </a:ext>
            </a:extLst>
          </p:cNvPr>
          <p:cNvSpPr>
            <a:spLocks xmlns:a="http://schemas.openxmlformats.org/drawingml/2006/main" noGrp="1"/>
          </p:cNvSpPr>
          <p:nvPr/>
        </p:nvSpPr>
        <p:spPr>
          <a:xfrm xmlns:a="http://schemas.openxmlformats.org/drawingml/2006/main">
            <a:off x="609600" y="304800"/>
            <a:ext cx="5334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975" b="1">
                <a:solidFill>
                  <a:srgbClr val="2563EB"/>
                </a:solidFill>
              </a:defRPr>
            </a:pPr>
            <a:r>
              <a:rPr sz="975" b="1">
                <a:solidFill>
                  <a:srgbClr val="2563EB"/>
                </a:solidFill>
              </a:rPr>
              <a:t>GEN5.3 PCA RESEARCH PIVOT</a:t>
            </a:r>
          </a:p>
        </p:txBody>
      </p:sp>
      <p:sp>
        <p:nvSpPr>
          <p:cNvPr id="2" name="">
            <a:extLst xmlns:a="http://schemas.openxmlformats.org/drawingml/2006/main">
              <a:ext uri="{FF2B5EF4-FFF2-40B4-BE49-F238E27FC236}">
                <a16:creationId xmlns:a16="http://schemas.microsoft.com/office/drawing/2014/main" id="{4604800C-39B2-4537-80DD-A46A8BB77B17}"/>
              </a:ext>
            </a:extLst>
          </p:cNvPr>
          <p:cNvSpPr>
            <a:spLocks xmlns:a="http://schemas.openxmlformats.org/drawingml/2006/main" noGrp="1"/>
          </p:cNvSpPr>
          <p:nvPr/>
        </p:nvSpPr>
        <p:spPr>
          <a:xfrm xmlns:a="http://schemas.openxmlformats.org/drawingml/2006/main">
            <a:off x="609600" y="647700"/>
            <a:ext cx="9334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2775" b="1">
                <a:solidFill>
                  <a:srgbClr val="111827"/>
                </a:solidFill>
              </a:defRPr>
            </a:pPr>
            <a:r>
              <a:rPr sz="2775" b="1">
                <a:solidFill>
                  <a:srgbClr val="111827"/>
                </a:solidFill>
              </a:rPr>
              <a:t>Momentum plus stress improved upside capture without losing the stress-window protection</a:t>
            </a:r>
          </a:p>
        </p:txBody>
      </p:sp>
      <p:sp>
        <p:nvSpPr>
          <p:cNvPr id="3" name="">
            <a:extLst xmlns:a="http://schemas.openxmlformats.org/drawingml/2006/main">
              <a:ext uri="{FF2B5EF4-FFF2-40B4-BE49-F238E27FC236}">
                <a16:creationId xmlns:a16="http://schemas.microsoft.com/office/drawing/2014/main" id="{DB98F6C1-4E45-4062-AEBF-EC4D459DF469}"/>
              </a:ext>
            </a:extLst>
          </p:cNvPr>
          <p:cNvSpPr>
            <a:spLocks xmlns:a="http://schemas.openxmlformats.org/drawingml/2006/main" noGrp="1"/>
          </p:cNvSpPr>
          <p:nvPr/>
        </p:nvSpPr>
        <p:spPr>
          <a:xfrm xmlns:a="http://schemas.openxmlformats.org/drawingml/2006/main">
            <a:off x="609600" y="1485900"/>
            <a:ext cx="10572750" cy="9525"/>
          </a:xfrm>
          <a:prstGeom xmlns:a="http://schemas.openxmlformats.org/drawingml/2006/main" prst="rect">
            <a:avLst/>
          </a:prstGeom>
          <a:solidFill xmlns:a="http://schemas.openxmlformats.org/drawingml/2006/main">
            <a:srgbClr val="CBD3DD"/>
          </a:solidFill>
          <a:ln xmlns:a="http://schemas.openxmlformats.org/drawingml/2006/main" w="0">
            <a:solidFill>
              <a:srgbClr val="CBD3DD"/>
            </a:solidFill>
            <a:prstDash val="solid"/>
          </a:ln>
        </p:spPr>
      </p:sp>
      <p:sp>
        <p:nvSpPr>
          <p:cNvPr id="4" name="">
            <a:extLst xmlns:a="http://schemas.openxmlformats.org/drawingml/2006/main">
              <a:ext uri="{FF2B5EF4-FFF2-40B4-BE49-F238E27FC236}">
                <a16:creationId xmlns:a16="http://schemas.microsoft.com/office/drawing/2014/main" id="{DE79F12C-875F-4B33-9F14-750EA7C737AC}"/>
              </a:ext>
            </a:extLst>
          </p:cNvPr>
          <p:cNvSpPr>
            <a:spLocks xmlns:a="http://schemas.openxmlformats.org/drawingml/2006/main" noGrp="1"/>
          </p:cNvSpPr>
          <p:nvPr/>
        </p:nvSpPr>
        <p:spPr>
          <a:xfrm xmlns:a="http://schemas.openxmlformats.org/drawingml/2006/main">
            <a:off x="685800" y="2000250"/>
            <a:ext cx="2571750" cy="1333500"/>
          </a:xfrm>
          <a:prstGeom xmlns:a="http://schemas.openxmlformats.org/drawingml/2006/main" prst="roundRect">
            <a:avLst>
              <a:gd name="adj" fmla="val 5714"/>
            </a:avLst>
          </a:prstGeom>
          <a:solidFill xmlns:a="http://schemas.openxmlformats.org/drawingml/2006/main">
            <a:srgbClr val="FFF1F2"/>
          </a:solidFill>
          <a:ln xmlns:a="http://schemas.openxmlformats.org/drawingml/2006/main" w="9525">
            <a:solidFill>
              <a:srgbClr val="FDA4AF"/>
            </a:solidFill>
            <a:prstDash val="solid"/>
          </a:ln>
        </p:spPr>
      </p:sp>
      <p:sp>
        <p:nvSpPr>
          <p:cNvPr id="5" name="">
            <a:extLst xmlns:a="http://schemas.openxmlformats.org/drawingml/2006/main">
              <a:ext uri="{FF2B5EF4-FFF2-40B4-BE49-F238E27FC236}">
                <a16:creationId xmlns:a16="http://schemas.microsoft.com/office/drawing/2014/main" id="{38696C53-3F60-4602-90A2-2CDB98BE1A1D}"/>
              </a:ext>
            </a:extLst>
          </p:cNvPr>
          <p:cNvSpPr>
            <a:spLocks xmlns:a="http://schemas.openxmlformats.org/drawingml/2006/main" noGrp="1"/>
          </p:cNvSpPr>
          <p:nvPr/>
        </p:nvSpPr>
        <p:spPr>
          <a:xfrm xmlns:a="http://schemas.openxmlformats.org/drawingml/2006/main">
            <a:off x="914400" y="2266950"/>
            <a:ext cx="2000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2550" b="1">
                <a:solidFill>
                  <a:srgbClr val="D1495B"/>
                </a:solidFill>
              </a:defRPr>
            </a:pPr>
            <a:r>
              <a:rPr sz="2550" b="1">
                <a:solidFill>
                  <a:srgbClr val="D1495B"/>
                </a:solidFill>
              </a:rPr>
              <a:t>-28.1 pp</a:t>
            </a:r>
          </a:p>
        </p:txBody>
      </p:sp>
      <p:sp>
        <p:nvSpPr>
          <p:cNvPr id="6" name="">
            <a:extLst xmlns:a="http://schemas.openxmlformats.org/drawingml/2006/main">
              <a:ext uri="{FF2B5EF4-FFF2-40B4-BE49-F238E27FC236}">
                <a16:creationId xmlns:a16="http://schemas.microsoft.com/office/drawing/2014/main" id="{121C6B5A-9CDA-4D0C-909D-0B9646A82938}"/>
              </a:ext>
            </a:extLst>
          </p:cNvPr>
          <p:cNvSpPr>
            <a:spLocks xmlns:a="http://schemas.openxmlformats.org/drawingml/2006/main" noGrp="1"/>
          </p:cNvSpPr>
          <p:nvPr/>
        </p:nvSpPr>
        <p:spPr>
          <a:xfrm xmlns:a="http://schemas.openxmlformats.org/drawingml/2006/main">
            <a:off x="933450" y="2781300"/>
            <a:ext cx="2000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0">
                <a:solidFill>
                  <a:srgbClr val="5B6472"/>
                </a:solidFill>
              </a:defRPr>
            </a:pPr>
            <a:r>
              <a:rPr sz="1200" b="0">
                <a:solidFill>
                  <a:srgbClr val="5B6472"/>
                </a:solidFill>
              </a:rPr>
              <a:t>Momentum+stress continuation alpha in 2020Q3</a:t>
            </a:r>
          </a:p>
        </p:txBody>
      </p:sp>
      <p:sp>
        <p:nvSpPr>
          <p:cNvPr id="7" name="">
            <a:extLst xmlns:a="http://schemas.openxmlformats.org/drawingml/2006/main">
              <a:ext uri="{FF2B5EF4-FFF2-40B4-BE49-F238E27FC236}">
                <a16:creationId xmlns:a16="http://schemas.microsoft.com/office/drawing/2014/main" id="{295E76B5-2D01-437D-810B-3C1C60E41979}"/>
              </a:ext>
            </a:extLst>
          </p:cNvPr>
          <p:cNvSpPr>
            <a:spLocks xmlns:a="http://schemas.openxmlformats.org/drawingml/2006/main" noGrp="1"/>
          </p:cNvSpPr>
          <p:nvPr/>
        </p:nvSpPr>
        <p:spPr>
          <a:xfrm xmlns:a="http://schemas.openxmlformats.org/drawingml/2006/main">
            <a:off x="685800" y="3714750"/>
            <a:ext cx="2571750" cy="1333500"/>
          </a:xfrm>
          <a:prstGeom xmlns:a="http://schemas.openxmlformats.org/drawingml/2006/main" prst="roundRect">
            <a:avLst>
              <a:gd name="adj" fmla="val 5714"/>
            </a:avLst>
          </a:prstGeom>
          <a:solidFill xmlns:a="http://schemas.openxmlformats.org/drawingml/2006/main">
            <a:srgbClr val="ECFDF5"/>
          </a:solidFill>
          <a:ln xmlns:a="http://schemas.openxmlformats.org/drawingml/2006/main" w="9525">
            <a:solidFill>
              <a:srgbClr val="A7F3D0"/>
            </a:solidFill>
            <a:prstDash val="solid"/>
          </a:ln>
        </p:spPr>
      </p:sp>
      <p:sp>
        <p:nvSpPr>
          <p:cNvPr id="8" name="">
            <a:extLst xmlns:a="http://schemas.openxmlformats.org/drawingml/2006/main">
              <a:ext uri="{FF2B5EF4-FFF2-40B4-BE49-F238E27FC236}">
                <a16:creationId xmlns:a16="http://schemas.microsoft.com/office/drawing/2014/main" id="{E3512CCD-D3CD-4740-9117-508DB626C7CD}"/>
              </a:ext>
            </a:extLst>
          </p:cNvPr>
          <p:cNvSpPr>
            <a:spLocks xmlns:a="http://schemas.openxmlformats.org/drawingml/2006/main" noGrp="1"/>
          </p:cNvSpPr>
          <p:nvPr/>
        </p:nvSpPr>
        <p:spPr>
          <a:xfrm xmlns:a="http://schemas.openxmlformats.org/drawingml/2006/main">
            <a:off x="914400" y="3981450"/>
            <a:ext cx="2000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2550" b="1">
                <a:solidFill>
                  <a:srgbClr val="177A55"/>
                </a:solidFill>
              </a:defRPr>
            </a:pPr>
            <a:r>
              <a:rPr sz="2550" b="1">
                <a:solidFill>
                  <a:srgbClr val="177A55"/>
                </a:solidFill>
              </a:rPr>
              <a:t>+12.1 pp</a:t>
            </a:r>
          </a:p>
        </p:txBody>
      </p:sp>
      <p:sp>
        <p:nvSpPr>
          <p:cNvPr id="9" name="">
            <a:extLst xmlns:a="http://schemas.openxmlformats.org/drawingml/2006/main">
              <a:ext uri="{FF2B5EF4-FFF2-40B4-BE49-F238E27FC236}">
                <a16:creationId xmlns:a16="http://schemas.microsoft.com/office/drawing/2014/main" id="{17A28114-587E-4F19-82FB-80BC3637FBC6}"/>
              </a:ext>
            </a:extLst>
          </p:cNvPr>
          <p:cNvSpPr>
            <a:spLocks xmlns:a="http://schemas.openxmlformats.org/drawingml/2006/main" noGrp="1"/>
          </p:cNvSpPr>
          <p:nvPr/>
        </p:nvSpPr>
        <p:spPr>
          <a:xfrm xmlns:a="http://schemas.openxmlformats.org/drawingml/2006/main">
            <a:off x="933450" y="4495800"/>
            <a:ext cx="2000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0">
                <a:solidFill>
                  <a:srgbClr val="5B6472"/>
                </a:solidFill>
              </a:defRPr>
            </a:pPr>
            <a:r>
              <a:rPr sz="1200" b="0">
                <a:solidFill>
                  <a:srgbClr val="5B6472"/>
                </a:solidFill>
              </a:rPr>
              <a:t>Momentum+stress continuation alpha in 2022Q1</a:t>
            </a:r>
          </a:p>
        </p:txBody>
      </p:sp>
      <p:sp>
        <p:nvSpPr>
          <p:cNvPr id="10" name="">
            <a:extLst xmlns:a="http://schemas.openxmlformats.org/drawingml/2006/main">
              <a:ext uri="{FF2B5EF4-FFF2-40B4-BE49-F238E27FC236}">
                <a16:creationId xmlns:a16="http://schemas.microsoft.com/office/drawing/2014/main" id="{6F0BFE69-C2B9-400F-9BC9-B60F06C08602}"/>
              </a:ext>
            </a:extLst>
          </p:cNvPr>
          <p:cNvSpPr>
            <a:spLocks xmlns:a="http://schemas.openxmlformats.org/drawingml/2006/main" noGrp="1"/>
          </p:cNvSpPr>
          <p:nvPr/>
        </p:nvSpPr>
        <p:spPr>
          <a:xfrm xmlns:a="http://schemas.openxmlformats.org/drawingml/2006/main">
            <a:off x="3562350" y="2000250"/>
            <a:ext cx="2571750" cy="1333500"/>
          </a:xfrm>
          <a:prstGeom xmlns:a="http://schemas.openxmlformats.org/drawingml/2006/main" prst="roundRect">
            <a:avLst>
              <a:gd name="adj" fmla="val 5714"/>
            </a:avLst>
          </a:prstGeom>
          <a:solidFill xmlns:a="http://schemas.openxmlformats.org/drawingml/2006/main">
            <a:srgbClr val="F8FAFC"/>
          </a:solidFill>
          <a:ln xmlns:a="http://schemas.openxmlformats.org/drawingml/2006/main" w="9525">
            <a:solidFill>
              <a:srgbClr val="CBD5E1"/>
            </a:solidFill>
            <a:prstDash val="solid"/>
          </a:ln>
        </p:spPr>
      </p:sp>
      <p:sp>
        <p:nvSpPr>
          <p:cNvPr id="11" name="">
            <a:extLst xmlns:a="http://schemas.openxmlformats.org/drawingml/2006/main">
              <a:ext uri="{FF2B5EF4-FFF2-40B4-BE49-F238E27FC236}">
                <a16:creationId xmlns:a16="http://schemas.microsoft.com/office/drawing/2014/main" id="{D67F9173-C87C-407E-9CD5-962F55EDAA30}"/>
              </a:ext>
            </a:extLst>
          </p:cNvPr>
          <p:cNvSpPr>
            <a:spLocks xmlns:a="http://schemas.openxmlformats.org/drawingml/2006/main" noGrp="1"/>
          </p:cNvSpPr>
          <p:nvPr/>
        </p:nvSpPr>
        <p:spPr>
          <a:xfrm xmlns:a="http://schemas.openxmlformats.org/drawingml/2006/main">
            <a:off x="3790950" y="2266950"/>
            <a:ext cx="2000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2550" b="1">
                <a:solidFill>
                  <a:srgbClr val="0F9F8F"/>
                </a:solidFill>
              </a:defRPr>
            </a:pPr>
            <a:r>
              <a:rPr sz="2550" b="1">
                <a:solidFill>
                  <a:srgbClr val="0F9F8F"/>
                </a:solidFill>
              </a:rPr>
              <a:t>55.9%</a:t>
            </a:r>
          </a:p>
        </p:txBody>
      </p:sp>
      <p:sp>
        <p:nvSpPr>
          <p:cNvPr id="12" name="">
            <a:extLst xmlns:a="http://schemas.openxmlformats.org/drawingml/2006/main">
              <a:ext uri="{FF2B5EF4-FFF2-40B4-BE49-F238E27FC236}">
                <a16:creationId xmlns:a16="http://schemas.microsoft.com/office/drawing/2014/main" id="{DCDC5713-8DE3-4B1E-97F1-DFB4A4F49CBF}"/>
              </a:ext>
            </a:extLst>
          </p:cNvPr>
          <p:cNvSpPr>
            <a:spLocks xmlns:a="http://schemas.openxmlformats.org/drawingml/2006/main" noGrp="1"/>
          </p:cNvSpPr>
          <p:nvPr/>
        </p:nvSpPr>
        <p:spPr>
          <a:xfrm xmlns:a="http://schemas.openxmlformats.org/drawingml/2006/main">
            <a:off x="3810000" y="2781300"/>
            <a:ext cx="2000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0">
                <a:solidFill>
                  <a:srgbClr val="5B6472"/>
                </a:solidFill>
              </a:defRPr>
            </a:pPr>
            <a:r>
              <a:rPr sz="1200" b="0">
                <a:solidFill>
                  <a:srgbClr val="5B6472"/>
                </a:solidFill>
              </a:rPr>
              <a:t>Momentum+stress exposure in 2020Q3</a:t>
            </a:r>
          </a:p>
        </p:txBody>
      </p:sp>
      <p:sp>
        <p:nvSpPr>
          <p:cNvPr id="13" name="">
            <a:extLst xmlns:a="http://schemas.openxmlformats.org/drawingml/2006/main">
              <a:ext uri="{FF2B5EF4-FFF2-40B4-BE49-F238E27FC236}">
                <a16:creationId xmlns:a16="http://schemas.microsoft.com/office/drawing/2014/main" id="{0294342F-63F9-4A6F-8A6E-CFCE08438E49}"/>
              </a:ext>
            </a:extLst>
          </p:cNvPr>
          <p:cNvSpPr>
            <a:spLocks xmlns:a="http://schemas.openxmlformats.org/drawingml/2006/main" noGrp="1"/>
          </p:cNvSpPr>
          <p:nvPr/>
        </p:nvSpPr>
        <p:spPr>
          <a:xfrm xmlns:a="http://schemas.openxmlformats.org/drawingml/2006/main">
            <a:off x="3562350" y="3714750"/>
            <a:ext cx="2571750" cy="1333500"/>
          </a:xfrm>
          <a:prstGeom xmlns:a="http://schemas.openxmlformats.org/drawingml/2006/main" prst="roundRect">
            <a:avLst>
              <a:gd name="adj" fmla="val 5714"/>
            </a:avLst>
          </a:prstGeom>
          <a:solidFill xmlns:a="http://schemas.openxmlformats.org/drawingml/2006/main">
            <a:srgbClr val="F8FAFC"/>
          </a:solidFill>
          <a:ln xmlns:a="http://schemas.openxmlformats.org/drawingml/2006/main" w="9525">
            <a:solidFill>
              <a:srgbClr val="CBD5E1"/>
            </a:solidFill>
            <a:prstDash val="solid"/>
          </a:ln>
        </p:spPr>
      </p:sp>
      <p:sp>
        <p:nvSpPr>
          <p:cNvPr id="14" name="">
            <a:extLst xmlns:a="http://schemas.openxmlformats.org/drawingml/2006/main">
              <a:ext uri="{FF2B5EF4-FFF2-40B4-BE49-F238E27FC236}">
                <a16:creationId xmlns:a16="http://schemas.microsoft.com/office/drawing/2014/main" id="{4D8660CB-88B4-4CB9-88FC-F09B6C6F2FF9}"/>
              </a:ext>
            </a:extLst>
          </p:cNvPr>
          <p:cNvSpPr>
            <a:spLocks xmlns:a="http://schemas.openxmlformats.org/drawingml/2006/main" noGrp="1"/>
          </p:cNvSpPr>
          <p:nvPr/>
        </p:nvSpPr>
        <p:spPr>
          <a:xfrm xmlns:a="http://schemas.openxmlformats.org/drawingml/2006/main">
            <a:off x="3790950" y="3981450"/>
            <a:ext cx="2000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2550" b="1">
                <a:solidFill>
                  <a:srgbClr val="0F9F8F"/>
                </a:solidFill>
              </a:defRPr>
            </a:pPr>
            <a:r>
              <a:rPr sz="2550" b="1">
                <a:solidFill>
                  <a:srgbClr val="0F9F8F"/>
                </a:solidFill>
              </a:rPr>
              <a:t>12.9%</a:t>
            </a:r>
          </a:p>
        </p:txBody>
      </p:sp>
      <p:sp>
        <p:nvSpPr>
          <p:cNvPr id="15" name="">
            <a:extLst xmlns:a="http://schemas.openxmlformats.org/drawingml/2006/main">
              <a:ext uri="{FF2B5EF4-FFF2-40B4-BE49-F238E27FC236}">
                <a16:creationId xmlns:a16="http://schemas.microsoft.com/office/drawing/2014/main" id="{55D7910D-E4E0-4BC5-B6FB-F63DF2B8ED17}"/>
              </a:ext>
            </a:extLst>
          </p:cNvPr>
          <p:cNvSpPr>
            <a:spLocks xmlns:a="http://schemas.openxmlformats.org/drawingml/2006/main" noGrp="1"/>
          </p:cNvSpPr>
          <p:nvPr/>
        </p:nvSpPr>
        <p:spPr>
          <a:xfrm xmlns:a="http://schemas.openxmlformats.org/drawingml/2006/main">
            <a:off x="3810000" y="4495800"/>
            <a:ext cx="2000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0">
                <a:solidFill>
                  <a:srgbClr val="5B6472"/>
                </a:solidFill>
              </a:defRPr>
            </a:pPr>
            <a:r>
              <a:rPr sz="1200" b="0">
                <a:solidFill>
                  <a:srgbClr val="5B6472"/>
                </a:solidFill>
              </a:rPr>
              <a:t>Momentum+stress exposure in 2022Q1</a:t>
            </a:r>
          </a:p>
        </p:txBody>
      </p:sp>
      <p:pic>
        <p:nvPicPr>
          <p:cNvPr id="33" name=""/>
          <p:cNvPicPr>
            <a:picLocks xmlns:a="http://schemas.openxmlformats.org/drawingml/2006/main" noChangeAspect="1"/>
          </p:cNvPicPr>
          <p:nvPr/>
        </p:nvPicPr>
        <p:blipFill>
          <a:blip xmlns:r="http://schemas.openxmlformats.org/officeDocument/2006/relationships" xmlns:a="http://schemas.openxmlformats.org/drawingml/2006/main" r:embed="Rcece4ccee2524eb8"/>
          <a:stretch xmlns:a="http://schemas.openxmlformats.org/drawingml/2006/main"/>
        </p:blipFill>
        <p:spPr>
          <a:xfrm xmlns:a="http://schemas.openxmlformats.org/drawingml/2006/main">
            <a:off x="6882749" y="1809750"/>
            <a:ext cx="3989103" cy="3733800"/>
          </a:xfrm>
          <a:prstGeom xmlns:a="http://schemas.openxmlformats.org/drawingml/2006/main" prst="rect">
            <a:avLst/>
          </a:prstGeom>
        </p:spPr>
      </p:pic>
      <p:sp>
        <p:nvSpPr>
          <p:cNvPr id="17" name="">
            <a:extLst xmlns:a="http://schemas.openxmlformats.org/drawingml/2006/main">
              <a:ext uri="{FF2B5EF4-FFF2-40B4-BE49-F238E27FC236}">
                <a16:creationId xmlns:a16="http://schemas.microsoft.com/office/drawing/2014/main" id="{1E9B502C-2EF4-4E2B-8F34-179DA2B23844}"/>
              </a:ext>
            </a:extLst>
          </p:cNvPr>
          <p:cNvSpPr>
            <a:spLocks xmlns:a="http://schemas.openxmlformats.org/drawingml/2006/main" noGrp="1"/>
          </p:cNvSpPr>
          <p:nvPr/>
        </p:nvSpPr>
        <p:spPr>
          <a:xfrm xmlns:a="http://schemas.openxmlformats.org/drawingml/2006/main">
            <a:off x="990600" y="5676900"/>
            <a:ext cx="10096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75" b="1">
                <a:solidFill>
                  <a:srgbClr val="111827"/>
                </a:solidFill>
              </a:defRPr>
            </a:pPr>
            <a:r>
              <a:rPr sz="1575" b="1">
                <a:solidFill>
                  <a:srgbClr val="111827"/>
                </a:solidFill>
              </a:rPr>
              <a:t>Against workhorse continuation, momentum+stress improved mean alpha from -9.8 pp to -8.0 pp. It is still not benchmark-beating, but the feature layer moved in the desired direction.</a:t>
            </a:r>
          </a:p>
        </p:txBody>
      </p:sp>
    </p:spTree>
    <p:extLst>
      <p:ext uri="{BB962C8B-B14F-4D97-AF65-F5344CB8AC3E}">
        <p14:creationId xmlns:p14="http://schemas.microsoft.com/office/powerpoint/2010/main" val="769948860"/>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549FC25B-5E09-433C-B8F9-D0EC3952955B}"/>
              </a:ext>
            </a:extLst>
          </p:cNvPr>
          <p:cNvSpPr>
            <a:spLocks xmlns:a="http://schemas.openxmlformats.org/drawingml/2006/main" noGrp="1"/>
          </p:cNvSpPr>
          <p:nvPr/>
        </p:nvSpPr>
        <p:spPr>
          <a:xfrm xmlns:a="http://schemas.openxmlformats.org/drawingml/2006/main">
            <a:off x="609600" y="304800"/>
            <a:ext cx="5334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975" b="1">
                <a:solidFill>
                  <a:srgbClr val="2563EB"/>
                </a:solidFill>
              </a:defRPr>
            </a:pPr>
            <a:r>
              <a:rPr sz="975" b="1">
                <a:solidFill>
                  <a:srgbClr val="2563EB"/>
                </a:solidFill>
              </a:rPr>
              <a:t>GEN5.3 PCA RESEARCH PIVOT</a:t>
            </a:r>
          </a:p>
        </p:txBody>
      </p:sp>
      <p:sp>
        <p:nvSpPr>
          <p:cNvPr id="2" name="">
            <a:extLst xmlns:a="http://schemas.openxmlformats.org/drawingml/2006/main">
              <a:ext uri="{FF2B5EF4-FFF2-40B4-BE49-F238E27FC236}">
                <a16:creationId xmlns:a16="http://schemas.microsoft.com/office/drawing/2014/main" id="{E8A0EA61-54C9-4662-8FF5-2CF8148D3141}"/>
              </a:ext>
            </a:extLst>
          </p:cNvPr>
          <p:cNvSpPr>
            <a:spLocks xmlns:a="http://schemas.openxmlformats.org/drawingml/2006/main" noGrp="1"/>
          </p:cNvSpPr>
          <p:nvPr/>
        </p:nvSpPr>
        <p:spPr>
          <a:xfrm xmlns:a="http://schemas.openxmlformats.org/drawingml/2006/main">
            <a:off x="609600" y="647700"/>
            <a:ext cx="9334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2775" b="1">
                <a:solidFill>
                  <a:srgbClr val="111827"/>
                </a:solidFill>
              </a:defRPr>
            </a:pPr>
            <a:r>
              <a:rPr sz="2775" b="1">
                <a:solidFill>
                  <a:srgbClr val="111827"/>
                </a:solidFill>
              </a:rPr>
              <a:t>The audit points to participation timing, not just strategy availability</a:t>
            </a:r>
          </a:p>
        </p:txBody>
      </p:sp>
      <p:sp>
        <p:nvSpPr>
          <p:cNvPr id="3" name="">
            <a:extLst xmlns:a="http://schemas.openxmlformats.org/drawingml/2006/main">
              <a:ext uri="{FF2B5EF4-FFF2-40B4-BE49-F238E27FC236}">
                <a16:creationId xmlns:a16="http://schemas.microsoft.com/office/drawing/2014/main" id="{3E155258-E6E2-4A28-9C16-79CBA5D664CE}"/>
              </a:ext>
            </a:extLst>
          </p:cNvPr>
          <p:cNvSpPr>
            <a:spLocks xmlns:a="http://schemas.openxmlformats.org/drawingml/2006/main" noGrp="1"/>
          </p:cNvSpPr>
          <p:nvPr/>
        </p:nvSpPr>
        <p:spPr>
          <a:xfrm xmlns:a="http://schemas.openxmlformats.org/drawingml/2006/main">
            <a:off x="609600" y="1485900"/>
            <a:ext cx="10572750" cy="9525"/>
          </a:xfrm>
          <a:prstGeom xmlns:a="http://schemas.openxmlformats.org/drawingml/2006/main" prst="rect">
            <a:avLst/>
          </a:prstGeom>
          <a:solidFill xmlns:a="http://schemas.openxmlformats.org/drawingml/2006/main">
            <a:srgbClr val="CBD3DD"/>
          </a:solidFill>
          <a:ln xmlns:a="http://schemas.openxmlformats.org/drawingml/2006/main" w="0">
            <a:solidFill>
              <a:srgbClr val="CBD3DD"/>
            </a:solid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7e773a7d53f04a10"/>
          <a:stretch xmlns:a="http://schemas.openxmlformats.org/drawingml/2006/main"/>
        </p:blipFill>
        <p:spPr>
          <a:xfrm xmlns:a="http://schemas.openxmlformats.org/drawingml/2006/main">
            <a:off x="803275" y="1809750"/>
            <a:ext cx="5461000" cy="4095750"/>
          </a:xfrm>
          <a:prstGeom xmlns:a="http://schemas.openxmlformats.org/drawingml/2006/main" prst="rect">
            <a:avLst/>
          </a:prstGeom>
        </p:spPr>
      </p:pic>
      <p:pic>
        <p:nvPicPr>
          <p:cNvPr id="11" name=""/>
          <p:cNvPicPr>
            <a:picLocks xmlns:a="http://schemas.openxmlformats.org/drawingml/2006/main" noChangeAspect="1"/>
          </p:cNvPicPr>
          <p:nvPr/>
        </p:nvPicPr>
        <p:blipFill>
          <a:blip xmlns:r="http://schemas.openxmlformats.org/officeDocument/2006/relationships" xmlns:a="http://schemas.openxmlformats.org/drawingml/2006/main" r:embed="R0dc6fafee0294e87"/>
          <a:stretch xmlns:a="http://schemas.openxmlformats.org/drawingml/2006/main"/>
        </p:blipFill>
        <p:spPr>
          <a:xfrm xmlns:a="http://schemas.openxmlformats.org/drawingml/2006/main">
            <a:off x="6877050" y="1929179"/>
            <a:ext cx="4762500" cy="3113942"/>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F9F1ED6D-25CB-4102-9DED-94767419AFC7}"/>
              </a:ext>
            </a:extLst>
          </p:cNvPr>
          <p:cNvSpPr>
            <a:spLocks xmlns:a="http://schemas.openxmlformats.org/drawingml/2006/main" noGrp="1"/>
          </p:cNvSpPr>
          <p:nvPr/>
        </p:nvSpPr>
        <p:spPr>
          <a:xfrm xmlns:a="http://schemas.openxmlformats.org/drawingml/2006/main">
            <a:off x="7067550" y="5276850"/>
            <a:ext cx="41910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350" b="0">
                <a:solidFill>
                  <a:srgbClr val="5B6472"/>
                </a:solidFill>
              </a:defRPr>
            </a:pPr>
            <a:r>
              <a:rPr sz="1350" b="0">
                <a:solidFill>
                  <a:srgbClr val="5B6472"/>
                </a:solidFill>
              </a:rPr>
              <a:t>The challenger improved participation but still lagged basket hold. That means the feature layer is probably relevant, but not sufficient by itself. The next useful tests should confirm across more windows and inspect whether entries remain late.</a:t>
            </a:r>
          </a:p>
        </p:txBody>
      </p:sp>
    </p:spTree>
    <p:extLst>
      <p:ext uri="{BB962C8B-B14F-4D97-AF65-F5344CB8AC3E}">
        <p14:creationId xmlns:p14="http://schemas.microsoft.com/office/powerpoint/2010/main" val="965577315"/>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732C5EE6-88E6-4766-ADD7-B13B6C0106A0}"/>
              </a:ext>
            </a:extLst>
          </p:cNvPr>
          <p:cNvSpPr>
            <a:spLocks xmlns:a="http://schemas.openxmlformats.org/drawingml/2006/main" noGrp="1"/>
          </p:cNvSpPr>
          <p:nvPr/>
        </p:nvSpPr>
        <p:spPr>
          <a:xfrm xmlns:a="http://schemas.openxmlformats.org/drawingml/2006/main">
            <a:off x="609600" y="304800"/>
            <a:ext cx="5334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975" b="1">
                <a:solidFill>
                  <a:srgbClr val="2563EB"/>
                </a:solidFill>
              </a:defRPr>
            </a:pPr>
            <a:r>
              <a:rPr sz="975" b="1">
                <a:solidFill>
                  <a:srgbClr val="2563EB"/>
                </a:solidFill>
              </a:rPr>
              <a:t>GEN5.3 PCA RESEARCH PIVOT</a:t>
            </a:r>
          </a:p>
        </p:txBody>
      </p:sp>
      <p:sp>
        <p:nvSpPr>
          <p:cNvPr id="2" name="">
            <a:extLst xmlns:a="http://schemas.openxmlformats.org/drawingml/2006/main">
              <a:ext uri="{FF2B5EF4-FFF2-40B4-BE49-F238E27FC236}">
                <a16:creationId xmlns:a16="http://schemas.microsoft.com/office/drawing/2014/main" id="{0C3B901B-70FC-47DE-B4FA-1C4804C98956}"/>
              </a:ext>
            </a:extLst>
          </p:cNvPr>
          <p:cNvSpPr>
            <a:spLocks xmlns:a="http://schemas.openxmlformats.org/drawingml/2006/main" noGrp="1"/>
          </p:cNvSpPr>
          <p:nvPr/>
        </p:nvSpPr>
        <p:spPr>
          <a:xfrm xmlns:a="http://schemas.openxmlformats.org/drawingml/2006/main">
            <a:off x="609600" y="647700"/>
            <a:ext cx="9334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2775" b="1">
                <a:solidFill>
                  <a:srgbClr val="111827"/>
                </a:solidFill>
              </a:defRPr>
            </a:pPr>
            <a:r>
              <a:rPr sz="2775" b="1">
                <a:solidFill>
                  <a:srgbClr val="111827"/>
                </a:solidFill>
              </a:rPr>
              <a:t>Representative trade tapes show the system joined the move but did not stay with enough of it</a:t>
            </a:r>
          </a:p>
        </p:txBody>
      </p:sp>
      <p:sp>
        <p:nvSpPr>
          <p:cNvPr id="3" name="">
            <a:extLst xmlns:a="http://schemas.openxmlformats.org/drawingml/2006/main">
              <a:ext uri="{FF2B5EF4-FFF2-40B4-BE49-F238E27FC236}">
                <a16:creationId xmlns:a16="http://schemas.microsoft.com/office/drawing/2014/main" id="{73D19A74-03D9-4357-B12E-1E6906B8DB63}"/>
              </a:ext>
            </a:extLst>
          </p:cNvPr>
          <p:cNvSpPr>
            <a:spLocks xmlns:a="http://schemas.openxmlformats.org/drawingml/2006/main" noGrp="1"/>
          </p:cNvSpPr>
          <p:nvPr/>
        </p:nvSpPr>
        <p:spPr>
          <a:xfrm xmlns:a="http://schemas.openxmlformats.org/drawingml/2006/main">
            <a:off x="609600" y="1485900"/>
            <a:ext cx="10572750" cy="9525"/>
          </a:xfrm>
          <a:prstGeom xmlns:a="http://schemas.openxmlformats.org/drawingml/2006/main" prst="rect">
            <a:avLst/>
          </a:prstGeom>
          <a:solidFill xmlns:a="http://schemas.openxmlformats.org/drawingml/2006/main">
            <a:srgbClr val="CBD3DD"/>
          </a:solidFill>
          <a:ln xmlns:a="http://schemas.openxmlformats.org/drawingml/2006/main" w="0">
            <a:solidFill>
              <a:srgbClr val="CBD3DD"/>
            </a:solidFill>
            <a:prstDash val="solid"/>
          </a:ln>
        </p:spPr>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0444fe9b30724562"/>
          <a:stretch xmlns:a="http://schemas.openxmlformats.org/drawingml/2006/main"/>
        </p:blipFill>
        <p:spPr>
          <a:xfrm xmlns:a="http://schemas.openxmlformats.org/drawingml/2006/main">
            <a:off x="1225717" y="1695450"/>
            <a:ext cx="5930566" cy="4333875"/>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37D4FA2F-A29F-4AE8-BD5B-66B4E9644502}"/>
              </a:ext>
            </a:extLst>
          </p:cNvPr>
          <p:cNvSpPr>
            <a:spLocks xmlns:a="http://schemas.openxmlformats.org/drawingml/2006/main" noGrp="1"/>
          </p:cNvSpPr>
          <p:nvPr/>
        </p:nvSpPr>
        <p:spPr>
          <a:xfrm xmlns:a="http://schemas.openxmlformats.org/drawingml/2006/main">
            <a:off x="8229600" y="1962150"/>
            <a:ext cx="3048000" cy="3219450"/>
          </a:xfrm>
          <a:prstGeom xmlns:a="http://schemas.openxmlformats.org/drawingml/2006/main" prst="roundRect">
            <a:avLst>
              <a:gd name="adj" fmla="val 2500"/>
            </a:avLst>
          </a:prstGeom>
          <a:solidFill xmlns:a="http://schemas.openxmlformats.org/drawingml/2006/main">
            <a:srgbClr val="F8FAFC"/>
          </a:solidFill>
          <a:ln xmlns:a="http://schemas.openxmlformats.org/drawingml/2006/main" w="9525">
            <a:solidFill>
              <a:srgbClr val="D7DEE8"/>
            </a:solidFill>
            <a:prstDash val="solid"/>
          </a:ln>
        </p:spPr>
      </p:sp>
      <p:sp>
        <p:nvSpPr>
          <p:cNvPr id="6" name="">
            <a:extLst xmlns:a="http://schemas.openxmlformats.org/drawingml/2006/main">
              <a:ext uri="{FF2B5EF4-FFF2-40B4-BE49-F238E27FC236}">
                <a16:creationId xmlns:a16="http://schemas.microsoft.com/office/drawing/2014/main" id="{350907CA-308C-45C8-B41E-4DD227B07FE1}"/>
              </a:ext>
            </a:extLst>
          </p:cNvPr>
          <p:cNvSpPr>
            <a:spLocks xmlns:a="http://schemas.openxmlformats.org/drawingml/2006/main" noGrp="1"/>
          </p:cNvSpPr>
          <p:nvPr/>
        </p:nvSpPr>
        <p:spPr>
          <a:xfrm xmlns:a="http://schemas.openxmlformats.org/drawingml/2006/main">
            <a:off x="8515350" y="2247900"/>
            <a:ext cx="238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875" b="1">
                <a:solidFill>
                  <a:srgbClr val="111827"/>
                </a:solidFill>
              </a:defRPr>
            </a:pPr>
            <a:r>
              <a:rPr sz="1875" b="1">
                <a:solidFill>
                  <a:srgbClr val="111827"/>
                </a:solidFill>
              </a:rPr>
              <a:t>What to look for</a:t>
            </a:r>
          </a:p>
        </p:txBody>
      </p:sp>
      <p:sp>
        <p:nvSpPr>
          <p:cNvPr id="7" name="">
            <a:extLst xmlns:a="http://schemas.openxmlformats.org/drawingml/2006/main">
              <a:ext uri="{FF2B5EF4-FFF2-40B4-BE49-F238E27FC236}">
                <a16:creationId xmlns:a16="http://schemas.microsoft.com/office/drawing/2014/main" id="{4F902605-0183-4F2C-834B-B6F0E647AEEB}"/>
              </a:ext>
            </a:extLst>
          </p:cNvPr>
          <p:cNvSpPr>
            <a:spLocks xmlns:a="http://schemas.openxmlformats.org/drawingml/2006/main" noGrp="1"/>
          </p:cNvSpPr>
          <p:nvPr/>
        </p:nvSpPr>
        <p:spPr>
          <a:xfrm xmlns:a="http://schemas.openxmlformats.org/drawingml/2006/main">
            <a:off x="8534400" y="2905125"/>
            <a:ext cx="76200" cy="76200"/>
          </a:xfrm>
          <a:prstGeom xmlns:a="http://schemas.openxmlformats.org/drawingml/2006/main" prst="ellipse">
            <a:avLst/>
          </a:prstGeom>
          <a:solidFill xmlns:a="http://schemas.openxmlformats.org/drawingml/2006/main">
            <a:srgbClr val="D97706"/>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205D601C-AE12-4532-80FB-C4CAF5BEBB2C}"/>
              </a:ext>
            </a:extLst>
          </p:cNvPr>
          <p:cNvSpPr>
            <a:spLocks xmlns:a="http://schemas.openxmlformats.org/drawingml/2006/main" noGrp="1"/>
          </p:cNvSpPr>
          <p:nvPr/>
        </p:nvSpPr>
        <p:spPr>
          <a:xfrm xmlns:a="http://schemas.openxmlformats.org/drawingml/2006/main">
            <a:off x="8743950" y="2819400"/>
            <a:ext cx="21526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125" b="0">
                <a:solidFill>
                  <a:srgbClr val="111827"/>
                </a:solidFill>
              </a:defRPr>
            </a:pPr>
            <a:r>
              <a:rPr sz="1125" b="0">
                <a:solidFill>
                  <a:srgbClr val="111827"/>
                </a:solidFill>
              </a:rPr>
              <a:t>Blue markers are entries; yellow markers are exits.</a:t>
            </a:r>
          </a:p>
        </p:txBody>
      </p:sp>
      <p:sp>
        <p:nvSpPr>
          <p:cNvPr id="9" name="">
            <a:extLst xmlns:a="http://schemas.openxmlformats.org/drawingml/2006/main">
              <a:ext uri="{FF2B5EF4-FFF2-40B4-BE49-F238E27FC236}">
                <a16:creationId xmlns:a16="http://schemas.microsoft.com/office/drawing/2014/main" id="{E4573112-D51F-4FAF-8C41-58C9A3298491}"/>
              </a:ext>
            </a:extLst>
          </p:cNvPr>
          <p:cNvSpPr>
            <a:spLocks xmlns:a="http://schemas.openxmlformats.org/drawingml/2006/main" noGrp="1"/>
          </p:cNvSpPr>
          <p:nvPr/>
        </p:nvSpPr>
        <p:spPr>
          <a:xfrm xmlns:a="http://schemas.openxmlformats.org/drawingml/2006/main">
            <a:off x="8534400" y="3400425"/>
            <a:ext cx="76200" cy="76200"/>
          </a:xfrm>
          <a:prstGeom xmlns:a="http://schemas.openxmlformats.org/drawingml/2006/main" prst="ellipse">
            <a:avLst/>
          </a:prstGeom>
          <a:solidFill xmlns:a="http://schemas.openxmlformats.org/drawingml/2006/main">
            <a:srgbClr val="D97706"/>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A3DD61E5-EC00-4D95-BF1C-F46533AB470D}"/>
              </a:ext>
            </a:extLst>
          </p:cNvPr>
          <p:cNvSpPr>
            <a:spLocks xmlns:a="http://schemas.openxmlformats.org/drawingml/2006/main" noGrp="1"/>
          </p:cNvSpPr>
          <p:nvPr/>
        </p:nvSpPr>
        <p:spPr>
          <a:xfrm xmlns:a="http://schemas.openxmlformats.org/drawingml/2006/main">
            <a:off x="8743950" y="3314700"/>
            <a:ext cx="21526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125" b="0">
                <a:solidFill>
                  <a:srgbClr val="111827"/>
                </a:solidFill>
              </a:defRPr>
            </a:pPr>
            <a:r>
              <a:rPr sz="1125" b="0">
                <a:solidFill>
                  <a:srgbClr val="111827"/>
                </a:solidFill>
              </a:rPr>
              <a:t>Dashed lines trace completed or open trades.</a:t>
            </a:r>
          </a:p>
        </p:txBody>
      </p:sp>
      <p:sp>
        <p:nvSpPr>
          <p:cNvPr id="11" name="">
            <a:extLst xmlns:a="http://schemas.openxmlformats.org/drawingml/2006/main">
              <a:ext uri="{FF2B5EF4-FFF2-40B4-BE49-F238E27FC236}">
                <a16:creationId xmlns:a16="http://schemas.microsoft.com/office/drawing/2014/main" id="{340186D2-C41E-4936-8A80-0E2BCC3B5226}"/>
              </a:ext>
            </a:extLst>
          </p:cNvPr>
          <p:cNvSpPr>
            <a:spLocks xmlns:a="http://schemas.openxmlformats.org/drawingml/2006/main" noGrp="1"/>
          </p:cNvSpPr>
          <p:nvPr/>
        </p:nvSpPr>
        <p:spPr>
          <a:xfrm xmlns:a="http://schemas.openxmlformats.org/drawingml/2006/main">
            <a:off x="8534400" y="3895725"/>
            <a:ext cx="76200" cy="76200"/>
          </a:xfrm>
          <a:prstGeom xmlns:a="http://schemas.openxmlformats.org/drawingml/2006/main" prst="ellipse">
            <a:avLst/>
          </a:prstGeom>
          <a:solidFill xmlns:a="http://schemas.openxmlformats.org/drawingml/2006/main">
            <a:srgbClr val="D97706"/>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3921FA1-BF0C-4972-B79B-4B15F455B26C}"/>
              </a:ext>
            </a:extLst>
          </p:cNvPr>
          <p:cNvSpPr>
            <a:spLocks xmlns:a="http://schemas.openxmlformats.org/drawingml/2006/main" noGrp="1"/>
          </p:cNvSpPr>
          <p:nvPr/>
        </p:nvSpPr>
        <p:spPr>
          <a:xfrm xmlns:a="http://schemas.openxmlformats.org/drawingml/2006/main">
            <a:off x="8743950" y="3810000"/>
            <a:ext cx="21526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125" b="0">
                <a:solidFill>
                  <a:srgbClr val="111827"/>
                </a:solidFill>
              </a:defRPr>
            </a:pPr>
            <a:r>
              <a:rPr sz="1125" b="0">
                <a:solidFill>
                  <a:srgbClr val="111827"/>
                </a:solidFill>
              </a:rPr>
              <a:t>State bands often change after the trend is underway.</a:t>
            </a:r>
          </a:p>
        </p:txBody>
      </p:sp>
      <p:sp>
        <p:nvSpPr>
          <p:cNvPr id="13" name="">
            <a:extLst xmlns:a="http://schemas.openxmlformats.org/drawingml/2006/main">
              <a:ext uri="{FF2B5EF4-FFF2-40B4-BE49-F238E27FC236}">
                <a16:creationId xmlns:a16="http://schemas.microsoft.com/office/drawing/2014/main" id="{89FBF363-09CC-47E1-A076-E988B347B9FD}"/>
              </a:ext>
            </a:extLst>
          </p:cNvPr>
          <p:cNvSpPr>
            <a:spLocks xmlns:a="http://schemas.openxmlformats.org/drawingml/2006/main" noGrp="1"/>
          </p:cNvSpPr>
          <p:nvPr/>
        </p:nvSpPr>
        <p:spPr>
          <a:xfrm xmlns:a="http://schemas.openxmlformats.org/drawingml/2006/main">
            <a:off x="8534400" y="4391025"/>
            <a:ext cx="76200" cy="76200"/>
          </a:xfrm>
          <a:prstGeom xmlns:a="http://schemas.openxmlformats.org/drawingml/2006/main" prst="ellipse">
            <a:avLst/>
          </a:prstGeom>
          <a:solidFill xmlns:a="http://schemas.openxmlformats.org/drawingml/2006/main">
            <a:srgbClr val="D97706"/>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7BD55E05-F214-43FC-8487-7A58A6C3D3FF}"/>
              </a:ext>
            </a:extLst>
          </p:cNvPr>
          <p:cNvSpPr>
            <a:spLocks xmlns:a="http://schemas.openxmlformats.org/drawingml/2006/main" noGrp="1"/>
          </p:cNvSpPr>
          <p:nvPr/>
        </p:nvSpPr>
        <p:spPr>
          <a:xfrm xmlns:a="http://schemas.openxmlformats.org/drawingml/2006/main">
            <a:off x="8743950" y="4305300"/>
            <a:ext cx="21526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125" b="0">
                <a:solidFill>
                  <a:srgbClr val="111827"/>
                </a:solidFill>
              </a:defRPr>
            </a:pPr>
            <a:r>
              <a:rPr sz="1125" b="0">
                <a:solidFill>
                  <a:srgbClr val="111827"/>
                </a:solidFill>
              </a:rPr>
              <a:t>Continuation helps, but it still misses part of the move.</a:t>
            </a:r>
          </a:p>
        </p:txBody>
      </p:sp>
      <p:sp>
        <p:nvSpPr>
          <p:cNvPr id="15" name="">
            <a:extLst xmlns:a="http://schemas.openxmlformats.org/drawingml/2006/main">
              <a:ext uri="{FF2B5EF4-FFF2-40B4-BE49-F238E27FC236}">
                <a16:creationId xmlns:a16="http://schemas.microsoft.com/office/drawing/2014/main" id="{E476B717-42B7-4DC3-9D7A-A0F0F883C644}"/>
              </a:ext>
            </a:extLst>
          </p:cNvPr>
          <p:cNvSpPr>
            <a:spLocks xmlns:a="http://schemas.openxmlformats.org/drawingml/2006/main" noGrp="1"/>
          </p:cNvSpPr>
          <p:nvPr/>
        </p:nvSpPr>
        <p:spPr>
          <a:xfrm xmlns:a="http://schemas.openxmlformats.org/drawingml/2006/main">
            <a:off x="1123950" y="6172200"/>
            <a:ext cx="9334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350" b="1">
                <a:solidFill>
                  <a:srgbClr val="111827"/>
                </a:solidFill>
              </a:defRPr>
            </a:pPr>
            <a:r>
              <a:rPr sz="1350" b="1">
                <a:solidFill>
                  <a:srgbClr val="111827"/>
                </a:solidFill>
              </a:rPr>
              <a:t>For exploratory POCs, include representative trade tapes whenever timing, participation, or state behavior is central.</a:t>
            </a:r>
          </a:p>
        </p:txBody>
      </p:sp>
    </p:spTree>
    <p:extLst>
      <p:ext uri="{BB962C8B-B14F-4D97-AF65-F5344CB8AC3E}">
        <p14:creationId xmlns:p14="http://schemas.microsoft.com/office/powerpoint/2010/main" val="2052136155"/>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53171E73-6F40-4BDD-AB92-8018F683939D}"/>
              </a:ext>
            </a:extLst>
          </p:cNvPr>
          <p:cNvSpPr>
            <a:spLocks xmlns:a="http://schemas.openxmlformats.org/drawingml/2006/main" noGrp="1"/>
          </p:cNvSpPr>
          <p:nvPr/>
        </p:nvSpPr>
        <p:spPr>
          <a:xfrm xmlns:a="http://schemas.openxmlformats.org/drawingml/2006/main">
            <a:off x="609600" y="304800"/>
            <a:ext cx="5334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975" b="1">
                <a:solidFill>
                  <a:srgbClr val="2563EB"/>
                </a:solidFill>
              </a:defRPr>
            </a:pPr>
            <a:r>
              <a:rPr sz="975" b="1">
                <a:solidFill>
                  <a:srgbClr val="2563EB"/>
                </a:solidFill>
              </a:rPr>
              <a:t>GEN5.3 PCA RESEARCH PIVOT</a:t>
            </a:r>
          </a:p>
        </p:txBody>
      </p:sp>
      <p:sp>
        <p:nvSpPr>
          <p:cNvPr id="2" name="">
            <a:extLst xmlns:a="http://schemas.openxmlformats.org/drawingml/2006/main">
              <a:ext uri="{FF2B5EF4-FFF2-40B4-BE49-F238E27FC236}">
                <a16:creationId xmlns:a16="http://schemas.microsoft.com/office/drawing/2014/main" id="{4FAC35D6-D72C-4723-A5D5-FF8209EA6CB4}"/>
              </a:ext>
            </a:extLst>
          </p:cNvPr>
          <p:cNvSpPr>
            <a:spLocks xmlns:a="http://schemas.openxmlformats.org/drawingml/2006/main" noGrp="1"/>
          </p:cNvSpPr>
          <p:nvPr/>
        </p:nvSpPr>
        <p:spPr>
          <a:xfrm xmlns:a="http://schemas.openxmlformats.org/drawingml/2006/main">
            <a:off x="609600" y="647700"/>
            <a:ext cx="9334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2775" b="1">
                <a:solidFill>
                  <a:srgbClr val="111827"/>
                </a:solidFill>
              </a:defRPr>
            </a:pPr>
            <a:r>
              <a:rPr sz="2775" b="1">
                <a:solidFill>
                  <a:srgbClr val="111827"/>
                </a:solidFill>
              </a:rPr>
              <a:t>Next Gen5.3 slice: confirm the feature signal before widening the grid</a:t>
            </a:r>
          </a:p>
        </p:txBody>
      </p:sp>
      <p:sp>
        <p:nvSpPr>
          <p:cNvPr id="3" name="">
            <a:extLst xmlns:a="http://schemas.openxmlformats.org/drawingml/2006/main">
              <a:ext uri="{FF2B5EF4-FFF2-40B4-BE49-F238E27FC236}">
                <a16:creationId xmlns:a16="http://schemas.microsoft.com/office/drawing/2014/main" id="{2FC65A3E-AE32-4833-BC76-85DB00FF5EFF}"/>
              </a:ext>
            </a:extLst>
          </p:cNvPr>
          <p:cNvSpPr>
            <a:spLocks xmlns:a="http://schemas.openxmlformats.org/drawingml/2006/main" noGrp="1"/>
          </p:cNvSpPr>
          <p:nvPr/>
        </p:nvSpPr>
        <p:spPr>
          <a:xfrm xmlns:a="http://schemas.openxmlformats.org/drawingml/2006/main">
            <a:off x="609600" y="1485900"/>
            <a:ext cx="10572750" cy="9525"/>
          </a:xfrm>
          <a:prstGeom xmlns:a="http://schemas.openxmlformats.org/drawingml/2006/main" prst="rect">
            <a:avLst/>
          </a:prstGeom>
          <a:solidFill xmlns:a="http://schemas.openxmlformats.org/drawingml/2006/main">
            <a:srgbClr val="CBD3DD"/>
          </a:solidFill>
          <a:ln xmlns:a="http://schemas.openxmlformats.org/drawingml/2006/main" w="0">
            <a:solidFill>
              <a:srgbClr val="CBD3DD"/>
            </a:solidFill>
            <a:prstDash val="solid"/>
          </a:ln>
        </p:spPr>
      </p:sp>
      <p:sp>
        <p:nvSpPr>
          <p:cNvPr id="4" name="">
            <a:extLst xmlns:a="http://schemas.openxmlformats.org/drawingml/2006/main">
              <a:ext uri="{FF2B5EF4-FFF2-40B4-BE49-F238E27FC236}">
                <a16:creationId xmlns:a16="http://schemas.microsoft.com/office/drawing/2014/main" id="{5FE14686-35AE-4D7A-9AE8-AB5FF16CE42D}"/>
              </a:ext>
            </a:extLst>
          </p:cNvPr>
          <p:cNvSpPr>
            <a:spLocks xmlns:a="http://schemas.openxmlformats.org/drawingml/2006/main" noGrp="1"/>
          </p:cNvSpPr>
          <p:nvPr/>
        </p:nvSpPr>
        <p:spPr>
          <a:xfrm xmlns:a="http://schemas.openxmlformats.org/drawingml/2006/main">
            <a:off x="781050" y="2038350"/>
            <a:ext cx="10382250" cy="3143250"/>
          </a:xfrm>
          <a:prstGeom xmlns:a="http://schemas.openxmlformats.org/drawingml/2006/main" prst="roundRect">
            <a:avLst>
              <a:gd name="adj" fmla="val 2424"/>
            </a:avLst>
          </a:prstGeom>
          <a:solidFill xmlns:a="http://schemas.openxmlformats.org/drawingml/2006/main">
            <a:srgbClr val="F8FAFC"/>
          </a:solidFill>
          <a:ln xmlns:a="http://schemas.openxmlformats.org/drawingml/2006/main" w="9525">
            <a:solidFill>
              <a:srgbClr val="D7DEE8"/>
            </a:solidFill>
            <a:prstDash val="solid"/>
          </a:ln>
        </p:spPr>
      </p:sp>
      <p:sp>
        <p:nvSpPr>
          <p:cNvPr id="5" name="">
            <a:extLst xmlns:a="http://schemas.openxmlformats.org/drawingml/2006/main">
              <a:ext uri="{FF2B5EF4-FFF2-40B4-BE49-F238E27FC236}">
                <a16:creationId xmlns:a16="http://schemas.microsoft.com/office/drawing/2014/main" id="{9F14E774-11E4-4E4C-85C5-214FE76B5C96}"/>
              </a:ext>
            </a:extLst>
          </p:cNvPr>
          <p:cNvSpPr>
            <a:spLocks xmlns:a="http://schemas.openxmlformats.org/drawingml/2006/main" noGrp="1"/>
          </p:cNvSpPr>
          <p:nvPr/>
        </p:nvSpPr>
        <p:spPr>
          <a:xfrm xmlns:a="http://schemas.openxmlformats.org/drawingml/2006/main">
            <a:off x="1143000" y="2362200"/>
            <a:ext cx="4095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2025" b="1">
                <a:solidFill>
                  <a:srgbClr val="111827"/>
                </a:solidFill>
              </a:defRPr>
            </a:pPr>
            <a:r>
              <a:rPr sz="2025" b="1">
                <a:solidFill>
                  <a:srgbClr val="111827"/>
                </a:solidFill>
              </a:rPr>
              <a:t>Recommended next question</a:t>
            </a:r>
          </a:p>
        </p:txBody>
      </p:sp>
      <p:sp>
        <p:nvSpPr>
          <p:cNvPr id="6" name="">
            <a:extLst xmlns:a="http://schemas.openxmlformats.org/drawingml/2006/main">
              <a:ext uri="{FF2B5EF4-FFF2-40B4-BE49-F238E27FC236}">
                <a16:creationId xmlns:a16="http://schemas.microsoft.com/office/drawing/2014/main" id="{04360AA9-C523-4454-B0B6-DF95133F9ECA}"/>
              </a:ext>
            </a:extLst>
          </p:cNvPr>
          <p:cNvSpPr>
            <a:spLocks xmlns:a="http://schemas.openxmlformats.org/drawingml/2006/main" noGrp="1"/>
          </p:cNvSpPr>
          <p:nvPr/>
        </p:nvSpPr>
        <p:spPr>
          <a:xfrm xmlns:a="http://schemas.openxmlformats.org/drawingml/2006/main">
            <a:off x="1143000" y="2971800"/>
            <a:ext cx="89535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875" b="0">
                <a:solidFill>
                  <a:srgbClr val="111827"/>
                </a:solidFill>
              </a:defRPr>
            </a:pPr>
            <a:r>
              <a:rPr sz="1875" b="0">
                <a:solidFill>
                  <a:srgbClr val="111827"/>
                </a:solidFill>
              </a:rPr>
              <a:t>The first challenger moved in the right direction, but it still did not beat the high-beta basket hold. The next question is whether that improvement survives more windows and whether the trade tapes show earlier participation.</a:t>
            </a:r>
          </a:p>
        </p:txBody>
      </p:sp>
      <p:sp>
        <p:nvSpPr>
          <p:cNvPr id="7" name="">
            <a:extLst xmlns:a="http://schemas.openxmlformats.org/drawingml/2006/main">
              <a:ext uri="{FF2B5EF4-FFF2-40B4-BE49-F238E27FC236}">
                <a16:creationId xmlns:a16="http://schemas.microsoft.com/office/drawing/2014/main" id="{2A3FED1C-00E3-4318-8B02-8395C887F474}"/>
              </a:ext>
            </a:extLst>
          </p:cNvPr>
          <p:cNvSpPr>
            <a:spLocks xmlns:a="http://schemas.openxmlformats.org/drawingml/2006/main" noGrp="1"/>
          </p:cNvSpPr>
          <p:nvPr/>
        </p:nvSpPr>
        <p:spPr>
          <a:xfrm xmlns:a="http://schemas.openxmlformats.org/drawingml/2006/main">
            <a:off x="1181100" y="4181475"/>
            <a:ext cx="76200" cy="76200"/>
          </a:xfrm>
          <a:prstGeom xmlns:a="http://schemas.openxmlformats.org/drawingml/2006/main" prst="ellipse">
            <a:avLst/>
          </a:prstGeom>
          <a:solidFill xmlns:a="http://schemas.openxmlformats.org/drawingml/2006/main">
            <a:srgbClr val="D97706"/>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F8763E26-C7DB-43C7-8371-3776D9B6C9A5}"/>
              </a:ext>
            </a:extLst>
          </p:cNvPr>
          <p:cNvSpPr>
            <a:spLocks xmlns:a="http://schemas.openxmlformats.org/drawingml/2006/main" noGrp="1"/>
          </p:cNvSpPr>
          <p:nvPr/>
        </p:nvSpPr>
        <p:spPr>
          <a:xfrm xmlns:a="http://schemas.openxmlformats.org/drawingml/2006/main">
            <a:off x="1390650" y="4095750"/>
            <a:ext cx="87439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350" b="0">
                <a:solidFill>
                  <a:srgbClr val="111827"/>
                </a:solidFill>
              </a:defRPr>
            </a:pPr>
            <a:r>
              <a:rPr sz="1350" b="0">
                <a:solidFill>
                  <a:srgbClr val="111827"/>
                </a:solidFill>
              </a:rPr>
              <a:t>Keep momentum plus stress as the leading feature challenger.</a:t>
            </a:r>
          </a:p>
        </p:txBody>
      </p:sp>
      <p:sp>
        <p:nvSpPr>
          <p:cNvPr id="9" name="">
            <a:extLst xmlns:a="http://schemas.openxmlformats.org/drawingml/2006/main">
              <a:ext uri="{FF2B5EF4-FFF2-40B4-BE49-F238E27FC236}">
                <a16:creationId xmlns:a16="http://schemas.microsoft.com/office/drawing/2014/main" id="{04E89539-F665-48FF-B7E2-59314EC81546}"/>
              </a:ext>
            </a:extLst>
          </p:cNvPr>
          <p:cNvSpPr>
            <a:spLocks xmlns:a="http://schemas.openxmlformats.org/drawingml/2006/main" noGrp="1"/>
          </p:cNvSpPr>
          <p:nvPr/>
        </p:nvSpPr>
        <p:spPr>
          <a:xfrm xmlns:a="http://schemas.openxmlformats.org/drawingml/2006/main">
            <a:off x="1181100" y="4486275"/>
            <a:ext cx="76200" cy="76200"/>
          </a:xfrm>
          <a:prstGeom xmlns:a="http://schemas.openxmlformats.org/drawingml/2006/main" prst="ellipse">
            <a:avLst/>
          </a:prstGeom>
          <a:solidFill xmlns:a="http://schemas.openxmlformats.org/drawingml/2006/main">
            <a:srgbClr val="D97706"/>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D49FE827-16F8-450E-8182-16DBA845DE34}"/>
              </a:ext>
            </a:extLst>
          </p:cNvPr>
          <p:cNvSpPr>
            <a:spLocks xmlns:a="http://schemas.openxmlformats.org/drawingml/2006/main" noGrp="1"/>
          </p:cNvSpPr>
          <p:nvPr/>
        </p:nvSpPr>
        <p:spPr>
          <a:xfrm xmlns:a="http://schemas.openxmlformats.org/drawingml/2006/main">
            <a:off x="1390650" y="4400550"/>
            <a:ext cx="87439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350" b="0">
                <a:solidFill>
                  <a:srgbClr val="111827"/>
                </a:solidFill>
              </a:defRPr>
            </a:pPr>
            <a:r>
              <a:rPr sz="1350" b="0">
                <a:solidFill>
                  <a:srgbClr val="111827"/>
                </a:solidFill>
              </a:rPr>
              <a:t>Add several adjacent and non-adjacent high-beta windows before changing strategy parameters.</a:t>
            </a:r>
          </a:p>
        </p:txBody>
      </p:sp>
      <p:sp>
        <p:nvSpPr>
          <p:cNvPr id="11" name="">
            <a:extLst xmlns:a="http://schemas.openxmlformats.org/drawingml/2006/main">
              <a:ext uri="{FF2B5EF4-FFF2-40B4-BE49-F238E27FC236}">
                <a16:creationId xmlns:a16="http://schemas.microsoft.com/office/drawing/2014/main" id="{28CF78BD-26C0-4F70-84C1-120BDA53945A}"/>
              </a:ext>
            </a:extLst>
          </p:cNvPr>
          <p:cNvSpPr>
            <a:spLocks xmlns:a="http://schemas.openxmlformats.org/drawingml/2006/main" noGrp="1"/>
          </p:cNvSpPr>
          <p:nvPr/>
        </p:nvSpPr>
        <p:spPr>
          <a:xfrm xmlns:a="http://schemas.openxmlformats.org/drawingml/2006/main">
            <a:off x="1181100" y="4791075"/>
            <a:ext cx="76200" cy="76200"/>
          </a:xfrm>
          <a:prstGeom xmlns:a="http://schemas.openxmlformats.org/drawingml/2006/main" prst="ellipse">
            <a:avLst/>
          </a:prstGeom>
          <a:solidFill xmlns:a="http://schemas.openxmlformats.org/drawingml/2006/main">
            <a:srgbClr val="D97706"/>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4B1E6E1F-58D8-4565-B775-C6933CC1885A}"/>
              </a:ext>
            </a:extLst>
          </p:cNvPr>
          <p:cNvSpPr>
            <a:spLocks xmlns:a="http://schemas.openxmlformats.org/drawingml/2006/main" noGrp="1"/>
          </p:cNvSpPr>
          <p:nvPr/>
        </p:nvSpPr>
        <p:spPr>
          <a:xfrm xmlns:a="http://schemas.openxmlformats.org/drawingml/2006/main">
            <a:off x="1390650" y="4705350"/>
            <a:ext cx="87439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350" b="0">
                <a:solidFill>
                  <a:srgbClr val="111827"/>
                </a:solidFill>
              </a:defRPr>
            </a:pPr>
            <a:r>
              <a:rPr sz="1350" b="0">
                <a:solidFill>
                  <a:srgbClr val="111827"/>
                </a:solidFill>
              </a:rPr>
              <a:t>Use representative trade tapes to verify whether entries actually move earlier.</a:t>
            </a:r>
          </a:p>
        </p:txBody>
      </p:sp>
      <p:sp>
        <p:nvSpPr>
          <p:cNvPr id="13" name="">
            <a:extLst xmlns:a="http://schemas.openxmlformats.org/drawingml/2006/main">
              <a:ext uri="{FF2B5EF4-FFF2-40B4-BE49-F238E27FC236}">
                <a16:creationId xmlns:a16="http://schemas.microsoft.com/office/drawing/2014/main" id="{8CF518AA-2725-421E-9317-8D90D4DBE41F}"/>
              </a:ext>
            </a:extLst>
          </p:cNvPr>
          <p:cNvSpPr>
            <a:spLocks xmlns:a="http://schemas.openxmlformats.org/drawingml/2006/main" noGrp="1"/>
          </p:cNvSpPr>
          <p:nvPr/>
        </p:nvSpPr>
        <p:spPr>
          <a:xfrm xmlns:a="http://schemas.openxmlformats.org/drawingml/2006/main">
            <a:off x="1219200" y="5810250"/>
            <a:ext cx="9620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00" b="1">
                <a:solidFill>
                  <a:srgbClr val="111827"/>
                </a:solidFill>
              </a:defRPr>
            </a:pPr>
            <a:r>
              <a:rPr sz="1500" b="1">
                <a:solidFill>
                  <a:srgbClr val="111827"/>
                </a:solidFill>
              </a:rPr>
              <a:t>A wider strategy grid is still a later confirmation tool. Right now the higher-signal question is whether the state features consistently improve timing.</a:t>
            </a:r>
          </a:p>
        </p:txBody>
      </p:sp>
    </p:spTree>
    <p:extLst>
      <p:ext uri="{BB962C8B-B14F-4D97-AF65-F5344CB8AC3E}">
        <p14:creationId xmlns:p14="http://schemas.microsoft.com/office/powerpoint/2010/main" val="100148555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2026-07-11T00:57:47.6160000Z</dcterms:created>
  <dcterms:modified xsi:type="dcterms:W3CDTF">2026-07-11T00:57:47.6160000Z</dcterms:modified>
</coreProperties>
</file>