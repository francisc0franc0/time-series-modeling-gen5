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b187e31a749b3" /><Relationship Type="http://schemas.openxmlformats.org/officeDocument/2006/relationships/extended-properties" Target="/docProps/app.xml" Id="R6e2f52399a134131" /><Relationship Type="http://schemas.openxmlformats.org/officeDocument/2006/relationships/officeDocument" Target="/ppt/presentation.xml" Id="R06f454a019bb42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5d2bbb26844e04"/>
  </p:sldMasterIdLst>
  <p:notesMasterIdLst>
    <p:notesMasterId xmlns:r="http://schemas.openxmlformats.org/officeDocument/2006/relationships" r:id="R962d8316ed7c4047"/>
  </p:notesMasterIdLst>
  <p:sldIdLst>
    <p:sldId xmlns:r="http://schemas.openxmlformats.org/officeDocument/2006/relationships" id="256" r:id="Rb2c7e9440d9d4369"/>
    <p:sldId xmlns:r="http://schemas.openxmlformats.org/officeDocument/2006/relationships" id="257" r:id="R4f94b178d15e4bb7"/>
    <p:sldId xmlns:r="http://schemas.openxmlformats.org/officeDocument/2006/relationships" id="258" r:id="R40541e9f93c64113"/>
    <p:sldId xmlns:r="http://schemas.openxmlformats.org/officeDocument/2006/relationships" id="259" r:id="R5306a02aa9564d2f"/>
    <p:sldId xmlns:r="http://schemas.openxmlformats.org/officeDocument/2006/relationships" id="260" r:id="R1a47fb422d024303"/>
    <p:sldId xmlns:r="http://schemas.openxmlformats.org/officeDocument/2006/relationships" id="261" r:id="Rad5548ca16c94c01"/>
    <p:sldId xmlns:r="http://schemas.openxmlformats.org/officeDocument/2006/relationships" id="262" r:id="Rd4e22b82ccd042db"/>
    <p:sldId xmlns:r="http://schemas.openxmlformats.org/officeDocument/2006/relationships" id="263" r:id="R14f6499f2ba849d8"/>
    <p:sldId xmlns:r="http://schemas.openxmlformats.org/officeDocument/2006/relationships" id="264" r:id="R0603fe2ecfe94e7f"/>
    <p:sldId xmlns:r="http://schemas.openxmlformats.org/officeDocument/2006/relationships" id="265" r:id="R1fe061c6228d4efb"/>
    <p:sldId xmlns:r="http://schemas.openxmlformats.org/officeDocument/2006/relationships" id="266" r:id="Rad70fd9203dd4883"/>
    <p:sldId xmlns:r="http://schemas.openxmlformats.org/officeDocument/2006/relationships" id="267" r:id="R7774a564cb67474b"/>
    <p:sldId xmlns:r="http://schemas.openxmlformats.org/officeDocument/2006/relationships" id="268" r:id="Ra236baf5ff2f4e28"/>
    <p:sldId xmlns:r="http://schemas.openxmlformats.org/officeDocument/2006/relationships" id="269" r:id="R0b6a76109a764df3"/>
    <p:sldId xmlns:r="http://schemas.openxmlformats.org/officeDocument/2006/relationships" id="270" r:id="R17412c08c614449a"/>
    <p:sldId xmlns:r="http://schemas.openxmlformats.org/officeDocument/2006/relationships" id="271" r:id="R21cd37e245f94edc"/>
    <p:sldId xmlns:r="http://schemas.openxmlformats.org/officeDocument/2006/relationships" id="272" r:id="Rcce2e0f0903048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7fe76eada344fb" /><Relationship Type="http://schemas.openxmlformats.org/officeDocument/2006/relationships/slideMaster" Target="/ppt/slideMasters/slideMaster1.xml" Id="Rcd5d2bbb26844e04" /><Relationship Type="http://schemas.openxmlformats.org/officeDocument/2006/relationships/notesMaster" Target="/ppt/notesMasters/notesMaster1.xml" Id="R962d8316ed7c4047" /><Relationship Type="http://schemas.openxmlformats.org/officeDocument/2006/relationships/presProps" Target="/ppt/presProps.xml" Id="Rc4b785ff11da41eb" /><Relationship Type="http://schemas.openxmlformats.org/officeDocument/2006/relationships/tableStyles" Target="/ppt/tableStyles.xml" Id="R34d5797ffa7a42fe" /><Relationship Type="http://schemas.openxmlformats.org/officeDocument/2006/relationships/slide" Target="/ppt/slides/slide1.xml" Id="Rb2c7e9440d9d4369" /><Relationship Type="http://schemas.openxmlformats.org/officeDocument/2006/relationships/slide" Target="/ppt/slides/slide2.xml" Id="R4f94b178d15e4bb7" /><Relationship Type="http://schemas.openxmlformats.org/officeDocument/2006/relationships/slide" Target="/ppt/slides/slide3.xml" Id="R40541e9f93c64113" /><Relationship Type="http://schemas.openxmlformats.org/officeDocument/2006/relationships/slide" Target="/ppt/slides/slide4.xml" Id="R5306a02aa9564d2f" /><Relationship Type="http://schemas.openxmlformats.org/officeDocument/2006/relationships/slide" Target="/ppt/slides/slide5.xml" Id="R1a47fb422d024303" /><Relationship Type="http://schemas.openxmlformats.org/officeDocument/2006/relationships/slide" Target="/ppt/slides/slide6.xml" Id="Rad5548ca16c94c01" /><Relationship Type="http://schemas.openxmlformats.org/officeDocument/2006/relationships/slide" Target="/ppt/slides/slide7.xml" Id="Rd4e22b82ccd042db" /><Relationship Type="http://schemas.openxmlformats.org/officeDocument/2006/relationships/slide" Target="/ppt/slides/slide8.xml" Id="R14f6499f2ba849d8" /><Relationship Type="http://schemas.openxmlformats.org/officeDocument/2006/relationships/slide" Target="/ppt/slides/slide9.xml" Id="R0603fe2ecfe94e7f" /><Relationship Type="http://schemas.openxmlformats.org/officeDocument/2006/relationships/slide" Target="/ppt/slides/slide10.xml" Id="R1fe061c6228d4efb" /><Relationship Type="http://schemas.openxmlformats.org/officeDocument/2006/relationships/slide" Target="/ppt/slides/slide11.xml" Id="Rad70fd9203dd4883" /><Relationship Type="http://schemas.openxmlformats.org/officeDocument/2006/relationships/slide" Target="/ppt/slides/slide12.xml" Id="R7774a564cb67474b" /><Relationship Type="http://schemas.openxmlformats.org/officeDocument/2006/relationships/slide" Target="/ppt/slides/slide13.xml" Id="Ra236baf5ff2f4e28" /><Relationship Type="http://schemas.openxmlformats.org/officeDocument/2006/relationships/slide" Target="/ppt/slides/slide14.xml" Id="R0b6a76109a764df3" /><Relationship Type="http://schemas.openxmlformats.org/officeDocument/2006/relationships/slide" Target="/ppt/slides/slide15.xml" Id="R17412c08c614449a" /><Relationship Type="http://schemas.openxmlformats.org/officeDocument/2006/relationships/slide" Target="/ppt/slides/slide16.xml" Id="R21cd37e245f94edc" /><Relationship Type="http://schemas.openxmlformats.org/officeDocument/2006/relationships/slide" Target="/ppt/slides/slide17.xml" Id="Rcce2e0f09030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8eb94d425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1dcfd5b274224" /><Relationship Type="http://schemas.openxmlformats.org/officeDocument/2006/relationships/notesMaster" Target="/ppt/notesMasters/notesMaster1.xml" Id="R667bbc25711d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f134c0bde48fc" /><Relationship Type="http://schemas.openxmlformats.org/officeDocument/2006/relationships/notesMaster" Target="/ppt/notesMasters/notesMaster1.xml" Id="R1eb9dee6779f42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eca9750054a46" /><Relationship Type="http://schemas.openxmlformats.org/officeDocument/2006/relationships/notesMaster" Target="/ppt/notesMasters/notesMaster1.xml" Id="R54d8decc922e40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66730623d4e68" /><Relationship Type="http://schemas.openxmlformats.org/officeDocument/2006/relationships/notesMaster" Target="/ppt/notesMasters/notesMaster1.xml" Id="R646870c32f30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f57ce38b94a60" /><Relationship Type="http://schemas.openxmlformats.org/officeDocument/2006/relationships/notesMaster" Target="/ppt/notesMasters/notesMaster1.xml" Id="Rb393abbee90448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1bc02ec684ae4" /><Relationship Type="http://schemas.openxmlformats.org/officeDocument/2006/relationships/notesMaster" Target="/ppt/notesMasters/notesMaster1.xml" Id="R398e7cb367d947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77241e0764fd8" /><Relationship Type="http://schemas.openxmlformats.org/officeDocument/2006/relationships/notesMaster" Target="/ppt/notesMasters/notesMaster1.xml" Id="R54bc74b4ead7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98512950047dc" /><Relationship Type="http://schemas.openxmlformats.org/officeDocument/2006/relationships/notesMaster" Target="/ppt/notesMasters/notesMaster1.xml" Id="R1c4f82a4ec9841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e597cd29946bb" /><Relationship Type="http://schemas.openxmlformats.org/officeDocument/2006/relationships/notesMaster" Target="/ppt/notesMasters/notesMaster1.xml" Id="Rd1105ffcb96748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b1ceb804a455d" /><Relationship Type="http://schemas.openxmlformats.org/officeDocument/2006/relationships/notesMaster" Target="/ppt/notesMasters/notesMaster1.xml" Id="R0ccf5554f20f4b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33678547b146a5" /><Relationship Type="http://schemas.openxmlformats.org/officeDocument/2006/relationships/notesMaster" Target="/ppt/notesMasters/notesMaster1.xml" Id="R31ffc794dc654c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c292c5404d4624" /><Relationship Type="http://schemas.openxmlformats.org/officeDocument/2006/relationships/notesMaster" Target="/ppt/notesMasters/notesMaster1.xml" Id="R7c73b5ff5b4846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e7ab646b7e4521" /><Relationship Type="http://schemas.openxmlformats.org/officeDocument/2006/relationships/notesMaster" Target="/ppt/notesMasters/notesMaster1.xml" Id="R9c5808a4ff2743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446f790f924091" /><Relationship Type="http://schemas.openxmlformats.org/officeDocument/2006/relationships/notesMaster" Target="/ppt/notesMasters/notesMaster1.xml" Id="R4ddf8a996c9a4e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7707fe1c094d80" /><Relationship Type="http://schemas.openxmlformats.org/officeDocument/2006/relationships/notesMaster" Target="/ppt/notesMasters/notesMaster1.xml" Id="Rba860b8841b842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15659e84e740c4" /><Relationship Type="http://schemas.openxmlformats.org/officeDocument/2006/relationships/notesMaster" Target="/ppt/notesMasters/notesMaster1.xml" Id="Rec61d11f7c5e47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625a38e5d24b1d" /><Relationship Type="http://schemas.openxmlformats.org/officeDocument/2006/relationships/notesMaster" Target="/ppt/notesMasters/notesMaster1.xml" Id="R5b2b85c9b21f47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— CROSS-SECTIONAL ASSET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Record the pivot from a five-name conditional-exposure experiment to a wider cross-sectional ranking question, then document the first leakage-safe universe and measurement packet.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reset and just like doing the approach from a wider perspective</a:t>
            </a:r>
          </a:p>
          <a:p xmlns:a="http://schemas.openxmlformats.org/drawingml/2006/main">
            <a:r>
              <a:t>Related artifact: docs/GEN5_4_CROSS_SECTIONAL_ASSET_SELECTION_POC_PLAN.md</a:t>
            </a:r>
          </a:p>
          <a:p xmlns:a="http://schemas.openxmlformats.org/drawingml/2006/main">
            <a:r>
              <a:t>Boundary: research and evidence only; no live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D15 — CROSS-SECTIONAL 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Replace the narrow prospective-discovery claim with a pooled cross-sectional question over a frozen, diverse candidate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</a:t>
            </a:r>
          </a:p>
          <a:p xmlns:a="http://schemas.openxmlformats.org/drawingml/2006/main">
            <a:r>
              <a:t>A wider panel supplies contemporaneous comparisons across assets and groups. It does not manufacture independence across dates or remove survivorship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20 or 30 diverse assets</a:t>
            </a:r>
          </a:p>
          <a:p xmlns:a="http://schemas.openxmlformats.org/drawingml/2006/main">
            <a:r>
              <a:t>Artifact: docs/GEN5_4_CROSS_SECTIONAL_ASSET_SELECTION_POC_PLAN.md</a:t>
            </a:r>
          </a:p>
          <a:p xmlns:a="http://schemas.openxmlformats.org/drawingml/2006/main">
            <a:r>
              <a:t>Status: accepted research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5 — WIDE-UNIVERSE CROSS-SECTIONAL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prior five-name STOPs remain valid. This session asks a different question: whether relationships repeat across a wider set of contemporaneously eligible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approach from a wider perspective</a:t>
            </a:r>
          </a:p>
          <a:p xmlns:a="http://schemas.openxmlformats.org/drawingml/2006/main">
            <a:r>
              <a:t>Boundary: prior OOS results are not reinterpreted or rescued.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D16 — TWO-STAGE LONG-ONLY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Keep exposure permission separate from cross-sectional asset ranking. Relative winners can still have negative absolute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</a:t>
            </a:r>
          </a:p>
          <a:p xmlns:a="http://schemas.openxmlformats.org/drawingml/2006/main">
            <a:r>
              <a:t>A ranking model always names a winner. Cash/no-trade must remain a first-class competitor before a relative score becomes a long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Relative outperformance is not automatically a long-entry signal</a:t>
            </a:r>
          </a:p>
          <a:p xmlns:a="http://schemas.openxmlformats.org/drawingml/2006/main">
            <a:r>
              <a:t>Status: architecture principle; no portfolio policy is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D17 — FIXED PANEL AND POINT-IN-TIME ELIGIBILITY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Ranked candidates</a:t>
            </a:r>
          </a:p>
          <a:p xmlns:a="http://schemas.openxmlformats.org/drawingml/2006/main">
            <a:r>
              <a:t>24 long-history liquid stocks across semiconductors, platforms/media, high-beta special situations, defensive consumer/health, financials, and energy/industrials.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anchors</a:t>
            </a:r>
          </a:p>
          <a:p xmlns:a="http://schemas.openxmlformats.org/drawingml/2006/main">
            <a:r>
              <a:t>SPY, QQQ, IWM, SMH, TLT, and GLD are benchmark/context inputs, not ranked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Daily eligibility</a:t>
            </a:r>
          </a:p>
          <a:p xmlns:a="http://schemas.openxmlformats.org/drawingml/2006/main">
            <a:r>
              <a:t>Price at least $5, trailing 60-session median dollar volume at least $20 million, complete backward-looking features, and at least 20 eligible candidates on the same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Limitation</a:t>
            </a:r>
          </a:p>
          <a:p xmlns:a="http://schemas.openxmlformats.org/drawingml/2006/main">
            <a:r>
              <a:t>The names are frozen and survived into the research era. This is not a complete point-in-time US securities master.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universe construction</a:t>
            </a:r>
          </a:p>
          <a:p xmlns:a="http://schemas.openxmlformats.org/drawingml/2006/main">
            <a:r>
              <a:t>Artifact: C:/Users/Franc/OneDrive/Documents/Francis/Peltata Project/Time-Series-Modeling-Gen5/runs/research_workbench/gen54_ml_decision_engine/g54_xs_20260719x0x1/xs_candidate_registry.csv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D18 — EXECUTION-ALIGNED CROSS-SECTIONAL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label</a:t>
            </a:r>
          </a:p>
          <a:p xmlns:a="http://schemas.openxmlformats.org/drawingml/2006/main">
            <a:r>
              <a:t>Asset open(t+6) / open(t+1) - 1, minus the same-date equal-weight eligible-universe return over the identical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Secondary control</a:t>
            </a:r>
          </a:p>
          <a:p xmlns:a="http://schemas.openxmlformats.org/drawingml/2006/main">
            <a:r>
              <a:t>Raw h5 open-to-open return preserves the absolute long-only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Twenty quarterly OOS authorities from 2020Q1 through 2024Q4; eight preceding TRAIN quarters remain reserved by contract; boundary-crossing labels are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primary prediction target</a:t>
            </a:r>
          </a:p>
          <a:p xmlns:a="http://schemas.openxmlformats.org/drawingml/2006/main">
            <a:r>
              <a:t>Artifact: C:/Users/Franc/OneDrive/Documents/Francis/Peltata Project/Time-Series-Modeling-Gen5/runs/research_workbench/gen54_ml_decision_engine/g54_xs_20260719x0x1/xs_run_spec.csv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POC 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X0 — Universe integrity</a:t>
            </a:r>
          </a:p>
          <a:p xmlns:a="http://schemas.openxmlformats.org/drawingml/2006/main">
            <a:r>
              <a:t>Coverage, role balance, point-in-time eligibility, and survivor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X1 — No-model measurement</a:t>
            </a:r>
          </a:p>
          <a:p xmlns:a="http://schemas.openxmlformats.org/drawingml/2006/main">
            <a:r>
              <a:t>Seven predeclared OHLCV primitives; same-date ranks; h5 relative outcomes; quarterly stability and group-concentration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X2 — Pooled linear ranker</a:t>
            </a:r>
          </a:p>
          <a:p xmlns:a="http://schemas.openxmlformats.org/drawingml/2006/main">
            <a:r>
              <a:t>Only after at least two economically distinct primitives pass X1.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X3 — Fixed nonlinear challenger</a:t>
            </a:r>
          </a:p>
          <a:p xmlns:a="http://schemas.openxmlformats.org/drawingml/2006/main">
            <a:r>
              <a:t>Only after the linear lane establishes useful ranking and calibration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X4 — Long-only top-K policy</a:t>
            </a:r>
          </a:p>
          <a:p xmlns:a="http://schemas.openxmlformats.org/drawingml/2006/main">
            <a:r>
              <a:t>Add exposure permission, turnover, costs, and concentration without model retuning.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X5 — Fresh forward confirmation</a:t>
            </a:r>
          </a:p>
          <a:p xmlns:a="http://schemas.openxmlformats.org/drawingml/2006/main">
            <a:r>
              <a:t>Use 2026Q3 onward; prior windows are development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plan a series of minimal proof of 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X0 — UNIVERSE INTEGRITY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61,620 adjusted-daily SIP bars across 30 declared symbols. All 24 ranked candidates passed the fixed-panel coverage check. The contemporaneous eligible count stayed at or above the frozen minimum after warm-up.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Refresh transparency</a:t>
            </a:r>
          </a:p>
          <a:p xmlns:a="http://schemas.openxmlformats.org/drawingml/2006/main">
            <a:r>
              <a:t>The initial cache-only attempt lacked some declared symbols. The affected adjusted-daily histories were refreshed from Alpaca and the packet was rerun before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Do we have enough assets to extract signal from noise</a:t>
            </a:r>
          </a:p>
          <a:p xmlns:a="http://schemas.openxmlformats.org/drawingml/2006/main">
            <a:r>
              <a:t>Plots: C:/Users/Franc/OneDrive/Documents/Francis/Peltata Project/Time-Series-Modeling-Gen5/runs/research_workbench/gen54_ml_decision_engine/g54_xs_20260719x0x1/visuals/xs_eligible_count.png and xs_coverage_heatmap.png</a:t>
            </a:r>
          </a:p>
          <a:p xmlns:a="http://schemas.openxmlformats.org/drawingml/2006/main">
            <a:r>
              <a:t>Manifest: C:/Users/Franc/OneDrive/Documents/Francis/Peltata Project/Time-Series-Modeling-Gen5/runs/research_workbench/gen54_ml_decision_engine/g54_xs_20260719x0x1/xs_universe_manifest.csv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X1 — NO-MODEL MEASUREMENT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primitives</a:t>
            </a:r>
          </a:p>
          <a:p xmlns:a="http://schemas.openxmlformats.org/drawingml/2006/main">
            <a:r>
              <a:t>20- and 60-session momentum, market-relative 20-session momentum, group-relative 20-session momentum, 60-session drawdown resilience, low 20-session volatility, and 5-versus-prior-60-session dollar-volume participation.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 rule</a:t>
            </a:r>
          </a:p>
          <a:p xmlns:a="http://schemas.openxmlformats.org/drawingml/2006/main">
            <a:r>
              <a:t>Positive pooled daily rank IC, positive pooled top-minus-bottom h5 return, at least 12 of 20 positive-IC folds, at least 12 of 20 positive-ordering folds, and no group above 50% of top selections.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Only group-relative 20-session momentum passed every standalone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Project/Time-Series-Modeling-Gen5/runs/research_workbench/gen54_ml_decision_engine/g54_xs_20260719x0x1/xs_report.md</a:t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all data that we have 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D19 — X0/X1 STOP BEFORE MODEL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STOP</a:t>
            </a:r>
          </a:p>
          <a:p xmlns:a="http://schemas.openxmlformats.org/drawingml/2006/main">
            <a:r>
              <a:t>The protocol required at least two economically distinct standalone primitives before combination design. Only group-relative 20-session momentum passed every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nuance</a:t>
            </a:r>
          </a:p>
          <a:p xmlns:a="http://schemas.openxmlformats.org/drawingml/2006/main">
            <a:r>
              <a:t>Momentum 60 had positive pooled IC, 14/20 positive IC folds, 14/20 positive ordering folds, and +61.0 bp pooled top-minus-bottom separation. It failed the predeclared group-concentration cap: 67.3% versus 50%.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readouts</a:t>
            </a:r>
          </a:p>
          <a:p xmlns:a="http://schemas.openxmlformats.org/drawingml/2006/main">
            <a:r>
              <a:t>Low-volatility ordering was negative. Participation had negative pooled IC. Widening the cross-section therefore improved measurement legitimacy but did not create a robust multivariate information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autonomously run as large a chunk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Project/Time-Series-Modeling-Gen5/runs/research_workbench/gen54_ml_decision_engine/g54_xs_20260719x0x1/xs_report.md</a:t>
            </a:r>
          </a:p>
          <a:p xmlns:a="http://schemas.openxmlformats.org/drawingml/2006/main">
            <a:r>
              <a:t>Status: STOP_BEFORE_MODEL_FIT; model_fit_count = 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slight pivot in direction</a:t>
            </a:r>
          </a:p>
          <a:p xmlns:a="http://schemas.openxmlformats.org/drawingml/2006/main">
            <a:r>
              <a:t>Plan: docs/GEN5_4_CROSS_SECTIONAL_ASSET_SELECTION_POC_PLAN.md</a:t>
            </a:r>
          </a:p>
          <a:p xmlns:a="http://schemas.openxmlformats.org/drawingml/2006/main">
            <a:r>
              <a:t>Decision index: docs/GEN5_4_DECISION_DIALOGUE_INDEX.md</a:t>
            </a:r>
          </a:p>
          <a:p xmlns:a="http://schemas.openxmlformats.org/drawingml/2006/main">
            <a:r>
              <a:t>Progress log: docs/GEN5_1_POC_PROGRESS_LOG.md</a:t>
            </a:r>
          </a:p>
          <a:p xmlns:a="http://schemas.openxmlformats.org/drawingml/2006/main">
            <a:r>
              <a:t>Packet: C:/Users/Franc/OneDrive/Documents/Francis/Peltata Project/Time-Series-Modeling-Gen5/runs/research_workbench/gen54_ml_decision_engine/g54_xs_20260719x0x1</a:t>
            </a:r>
          </a:p>
          <a:p xmlns:a="http://schemas.openxmlformats.org/drawingml/2006/main">
            <a:r>
              <a:t>Boundary: concise visible narrative; longer decision rationale remains navigable through notes and the dialogue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OPERATOR GATE — SECOND INDEPENDENT INFORMATION FAMILY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Recommended direction</a:t>
            </a:r>
          </a:p>
          <a:p xmlns:a="http://schemas.openxmlformats.org/drawingml/2006/main">
            <a:r>
              <a:t>Keep X0's wide panel, the same-date rank architecture, h5 execution-aligned relative target, and cash/no-trade separation. Do not loosen the concentration cap or fit a model around the single passing primitive.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 next families</a:t>
            </a:r>
          </a:p>
          <a:p xmlns:a="http://schemas.openxmlformats.org/drawingml/2006/main">
            <a:r>
              <a:t>1. Point-in-time filing and earnings-change features from an official structured source.</a:t>
            </a:r>
          </a:p>
          <a:p xmlns:a="http://schemas.openxmlformats.org/drawingml/2006/main">
            <a:r>
              <a:t>2. Revision-safe macro/credit context shared across the cross-section.</a:t>
            </a:r>
          </a:p>
          <a:p xmlns:a="http://schemas.openxmlformats.org/drawingml/2006/main">
            <a:r>
              <a:t>3. A separately justified universe rule with historical membership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Alpaca boundary</a:t>
            </a:r>
          </a:p>
          <a:p xmlns:a="http://schemas.openxmlformats.org/drawingml/2006/main">
            <a:r>
              <a:t>Alpaca adjusted daily bars support the panel. Alpaca does not document the structured fundamentals/estimate-revision surface needed for the strongest first candidate.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non-price-related data</a:t>
            </a:r>
          </a:p>
          <a:p xmlns:a="http://schemas.openxmlformats.org/drawingml/2006/main">
            <a:r>
              <a:t>Status: operator decision required before X2 or a new data-family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6 - OHLCV-ONLY X1B AND C0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Extend the no-model measurement ladder with four economically interpretable ranking primitives and four separately judged exposure-permission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X1B and C0 test</a:t>
            </a:r>
          </a:p>
          <a:p xmlns:a="http://schemas.openxmlformats.org/drawingml/2006/main">
            <a:r>
              <a:t>Artifact: docs/GEN5_4_CROSS_SECTIONAL_ASSET_SELECTION_POC_PLAN.md</a:t>
            </a:r>
          </a:p>
          <a:p xmlns:a="http://schemas.openxmlformats.org/drawingml/2006/main">
            <a:r>
              <a:t>Boundary: research evidence only; no model, top-K policy, replay, or live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D22 - LEAKAGE-SAFE X1B / C0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X1b primitives</a:t>
            </a:r>
          </a:p>
          <a:p xmlns:a="http://schemas.openxmlformats.org/drawingml/2006/main">
            <a:r>
              <a:t>Residual momentum 60; residual reversal 5; signed efficiency 20; intraday-minus-overnight 20. Residuals use a 126-session regression on SPY and leave-one-out group peers, fitted only on prior 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X1b gates</a:t>
            </a:r>
          </a:p>
          <a:p xmlns:a="http://schemas.openxmlformats.org/drawingml/2006/main">
            <a:r>
              <a:t>Positive pooled daily rank IC; positive pooled top-minus-bottom h5 relative return; at least 12 of 20 positive-IC folds; at least 12 of 20 positive-ordering folds; no group above 50% of top selections; median absolute daily rank correlation with group-relative 20 no greater than 0.70.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 conditions</a:t>
            </a:r>
          </a:p>
          <a:p xmlns:a="http://schemas.openxmlformats.org/drawingml/2006/main">
            <a:r>
              <a:t>Breadth 60; group participation 60; inverse average correlation 60; inverse cross-sectional dispersion 20. Every fold freezes its favorable threshold from TRAIN only, then evaluates absolute equal-weight basket h5 returns in OOS.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 gates</a:t>
            </a:r>
          </a:p>
          <a:p xmlns:a="http://schemas.openxmlformats.org/drawingml/2006/main">
            <a:r>
              <a:t>Positive pooled favorable-minus-unfavorable separation; positive in at least 12 of 20 folds; favorable share between 25% and 75%.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X1B and C0 test</a:t>
            </a:r>
          </a:p>
          <a:p xmlns:a="http://schemas.openxmlformats.org/drawingml/2006/main">
            <a:r>
              <a:t>Artifact: C:/Users/Franc/OneDrive/Documents/Francis/Peltata Project/Time-Series-Modeling-Gen5/runs/research_workbench/gen54_ml_decision_engine/g54_xs_x1b_c0_20260719/x1b_c0_run_spec.csv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X1B - NO-MODEL RANKING EXTENSION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Promoted</a:t>
            </a:r>
          </a:p>
          <a:p xmlns:a="http://schemas.openxmlformats.org/drawingml/2006/main">
            <a:r>
              <a:t>Intraday-minus-overnight 20 passed every frozen gate: pooled daily rank IC 0.005595; positive IC in 12/20 folds; positive ordering in 12/20 folds; pooled top-minus-bottom h5 relative separation +8.2 basis points; maximum group share 47.6%; redundancy correlation 0.22.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Stopped</a:t>
            </a:r>
          </a:p>
          <a:p xmlns:a="http://schemas.openxmlformats.org/drawingml/2006/main">
            <a:r>
              <a:t>Residual momentum 60: IC 0.00927, 9/20 IC folds, 13/20 ordering folds, +23.3 bp, maximum group share 60.9%, redundancy 0.47.</a:t>
            </a:r>
          </a:p>
          <a:p xmlns:a="http://schemas.openxmlformats.org/drawingml/2006/main">
            <a:r>
              <a:t>Residual reversal 5: IC -0.00485, 12/20 IC folds, 7/20 ordering folds, -4.2 bp, maximum group share 45.8%, redundancy 0.37.</a:t>
            </a:r>
          </a:p>
          <a:p xmlns:a="http://schemas.openxmlformats.org/drawingml/2006/main">
            <a:r>
              <a:t>Signed efficiency 20: IC 0.02812, 15/20 IC folds, 13/20 ordering folds, +24.9 bp, maximum group share 51.2%, redundancy 0.65. It narrowly failed the frozen 50% concentration cap and is not rescued post hoc.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more sophisticated approach with your guidance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Project/Time-Series-Modeling-Gen5/runs/research_workbench/gen54_ml_decision_engine/g54_xs_x1b_c0_20260719/x1b_c0_report.md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C0 - EXPOSURE-PERMISSION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four conditions stopped</a:t>
            </a:r>
          </a:p>
          <a:p xmlns:a="http://schemas.openxmlformats.org/drawingml/2006/main">
            <a:r>
              <a:t>Breadth 60: positive separation in 3/20 folds; pooled separation -141.3 bp; favorable share 57.7%.</a:t>
            </a:r>
          </a:p>
          <a:p xmlns:a="http://schemas.openxmlformats.org/drawingml/2006/main">
            <a:r>
              <a:t>Group participation 60: 2/20; -157.4 bp; favorable share 65.7%.</a:t>
            </a:r>
          </a:p>
          <a:p xmlns:a="http://schemas.openxmlformats.org/drawingml/2006/main">
            <a:r>
              <a:t>Low average correlation 60: 2/20; -151.1 bp; favorable share 61.0%.</a:t>
            </a:r>
          </a:p>
          <a:p xmlns:a="http://schemas.openxmlformats.org/drawingml/2006/main">
            <a:r>
              <a:t>Low cross-sectional dispersion 20: 9/20; -23.8 bp; favorable share 39.7%.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These intuitive market-internal conditions did not identify OOS periods with better absolute five-session equal-weight basket returns. The sign is not reversed and thresholds are not retuned after seeing OOS.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Leakage protection</a:t>
            </a:r>
          </a:p>
          <a:p xmlns:a="http://schemas.openxmlformats.org/drawingml/2006/main">
            <a:r>
              <a:t>Each fold's threshold came only from its preceding TRAIN window. All nine leakage / authority checks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X1B and C0 test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Project/Time-Series-Modeling-Gen5/runs/research_workbench/gen54_ml_decision_engine/g54_xs_x1b_c0_20260719/x1b_c0_report.md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D23 - X1B PASSES ONE PRIMITIVE; C0 STOPS THE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The ranking side now has two distinct standalone primitives: the earlier group-relative 20-session momentum and the newly promoted intraday-minus-overnight 20 primitive. That is useful evidence, but it does not authorize long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the overall state remains STOP</a:t>
            </a:r>
          </a:p>
          <a:p xmlns:a="http://schemas.openxmlformats.org/drawingml/2006/main">
            <a:r>
              <a:t>The predeclared two-stage demonstrator required both a distinct X1b ranking primitive and a passing C0 exposure-permission condition. C0 produced zero promotions, so no rule combination, model, top-K policy, replay, or live advice was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Methodological discipline</a:t>
            </a:r>
          </a:p>
          <a:p xmlns:a="http://schemas.openxmlformats.org/drawingml/2006/main">
            <a:r>
              <a:t>Do not reverse C0 signs, loosen the signed-efficiency concentration cap, or select a favorable fold subset after observing these results. A new exposure target, horizon, or independent context family requires a new theory-first design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more sophisticated approach with your guidance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Project/Time-Series-Modeling-Gen5/runs/research_workbench/gen54_ml_decision_engine/g54_xs_x1b_c0_20260719/x1b_c0_report.md</a:t>
            </a:r>
          </a:p>
          <a:p xmlns:a="http://schemas.openxmlformats.org/drawingml/2006/main">
            <a:r>
              <a:t>Status: STOP_BEFORE_TWO_STAGE_RULES_DESIGN; model_fit_count = 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33326520b45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1cf6bdd6a43f1" /><Relationship Type="http://schemas.openxmlformats.org/officeDocument/2006/relationships/slideLayout" Target="/ppt/slideLayouts/slideLayout1.xml" Id="R9cfbc63a8712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bc63a8712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5cf43fcd44e97" /><Relationship Type="http://schemas.openxmlformats.org/officeDocument/2006/relationships/notesSlide" Target="/ppt/notesSlides/notesSlide1.xml" Id="R3777c1f5e6624b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bf309f4024a5f" /><Relationship Type="http://schemas.openxmlformats.org/officeDocument/2006/relationships/notesSlide" Target="/ppt/notesSlides/notesSlide2.xml" Id="R1ed9546a45714e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3a3ab754c4e98" /><Relationship Type="http://schemas.openxmlformats.org/officeDocument/2006/relationships/notesSlide" Target="/ppt/notesSlides/notesSlide3.xml" Id="R562e593ce2b04e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1b749a0a84451" /><Relationship Type="http://schemas.openxmlformats.org/officeDocument/2006/relationships/notesSlide" Target="/ppt/notesSlides/notesSlide4.xml" Id="Ra399f158753d4f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9f2ed2744dd2" /><Relationship Type="http://schemas.openxmlformats.org/officeDocument/2006/relationships/notesSlide" Target="/ppt/notesSlides/notesSlide5.xml" Id="Rfcad1f1db601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96811a4494ccd" /><Relationship Type="http://schemas.openxmlformats.org/officeDocument/2006/relationships/notesSlide" Target="/ppt/notesSlides/notesSlide6.xml" Id="Raae42731687b45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d8717f464d10" /><Relationship Type="http://schemas.openxmlformats.org/officeDocument/2006/relationships/notesSlide" Target="/ppt/notesSlides/notesSlide7.xml" Id="R1ce6e7be4841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80cf3228e4604" /><Relationship Type="http://schemas.openxmlformats.org/officeDocument/2006/relationships/image" Target="/ppt/media/image.png" Id="R7ed8d4da0b5949ae" /><Relationship Type="http://schemas.openxmlformats.org/officeDocument/2006/relationships/notesSlide" Target="/ppt/notesSlides/notesSlide8.xml" Id="R26502496ef8b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e6aee809440f" /><Relationship Type="http://schemas.openxmlformats.org/officeDocument/2006/relationships/image" Target="/ppt/media/image2.png" Id="R44796da12d2b4972" /><Relationship Type="http://schemas.openxmlformats.org/officeDocument/2006/relationships/notesSlide" Target="/ppt/notesSlides/notesSlide9.xml" Id="Rc3c90450544941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bc63970445ae" /><Relationship Type="http://schemas.openxmlformats.org/officeDocument/2006/relationships/image" Target="/ppt/media/image3.png" Id="Rafd9282d04a84e5e" /><Relationship Type="http://schemas.openxmlformats.org/officeDocument/2006/relationships/notesSlide" Target="/ppt/notesSlides/notesSlide10.xml" Id="Ra562027da1b841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045bd90934ec6" /><Relationship Type="http://schemas.openxmlformats.org/officeDocument/2006/relationships/notesSlide" Target="/ppt/notesSlides/notesSlide11.xml" Id="Rbbc760a0d15b4c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e171932b34468" /><Relationship Type="http://schemas.openxmlformats.org/officeDocument/2006/relationships/notesSlide" Target="/ppt/notesSlides/notesSlide12.xml" Id="R8386f9892fff45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e89e6a66d4b6f" /><Relationship Type="http://schemas.openxmlformats.org/officeDocument/2006/relationships/notesSlide" Target="/ppt/notesSlides/notesSlide13.xml" Id="Rb806c571d98e4f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dd0df4d984b70" /><Relationship Type="http://schemas.openxmlformats.org/officeDocument/2006/relationships/notesSlide" Target="/ppt/notesSlides/notesSlide14.xml" Id="Reb0b9115a97f41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211d164034f55" /><Relationship Type="http://schemas.openxmlformats.org/officeDocument/2006/relationships/image" Target="/ppt/media/image.png" Id="R342a2712c5084660" /><Relationship Type="http://schemas.openxmlformats.org/officeDocument/2006/relationships/notesSlide" Target="/ppt/notesSlides/notesSlide15.xml" Id="R64fbd80a61394b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ddf0d00f0444b" /><Relationship Type="http://schemas.openxmlformats.org/officeDocument/2006/relationships/image" Target="/ppt/media/image2.png" Id="R49606aac857c43ee" /><Relationship Type="http://schemas.openxmlformats.org/officeDocument/2006/relationships/notesSlide" Target="/ppt/notesSlides/notesSlide16.xml" Id="R305fd73d2cd04e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6ca61c8a4702" /><Relationship Type="http://schemas.openxmlformats.org/officeDocument/2006/relationships/image" Target="/ppt/media/image3.png" Id="R4945be46bb594786" /><Relationship Type="http://schemas.openxmlformats.org/officeDocument/2006/relationships/notesSlide" Target="/ppt/notesSlides/notesSlide17.xml" Id="Rcd970e4ee029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38D2F-19FD-411E-9D70-3558B68D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FB7F-0436-4F5E-9A08-BBF60AF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GEN5.4 • THEORY → MEASUREMENT → MODEL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81652-7DC0-486D-BD0E-49C1F5A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Cross-sectional asset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7D9E2-CE8E-4BC4-9821-1B38BEA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382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concise pivot deck • leakage-safe POC ladder • first X0/X1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C65C4-8C88-4DE4-B1BA-EEE12AB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7230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Gen5.4 is widening 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D15/02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498FC-920F-4192-86BF-28388F3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810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Rank a broad historical cross-section—without forcing a trade.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3390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912B2-D65A-4CAC-A511-AB23EEB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new 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10629-6090-4DA1-A5DD-15138B8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7239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Can same-date, point-in-time evidence identify which eligible assets will outperform the equal-weight universe over an executable horizon?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D4507-77A7-4E31-985F-3A4C9F0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9813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EE853-F42E-41E0-9B9C-40D955D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95750"/>
            <a:ext cx="2333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 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B1B0-25C9-4AE5-A57F-3C6E699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91050"/>
            <a:ext cx="2333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waits for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stable primitive evidence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S5/03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narrow basket becomes evidence;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wider panel becomes the research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Universe integrity • relative target • cross-sectional ranks • cash gate • falsification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87AFA-A122-4C48-AD84-CA37024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cross-sectional engine still separates four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97E69-3F8F-41A4-ADB0-62EFB06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D16/04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388C-25F2-4628-805C-ACB8B15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B8524-D76F-40A8-BE6F-B97DF5C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Exposure permission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FEC87-E4AB-4C54-A353-55AB85D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47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Should a long-only portfolio take risk at all?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81FC-45CB-4456-A496-4F47328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73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EDD8-E45C-4D40-AA63-F737803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  Asset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4024F-C6FA-49B2-B1C1-4B01C4D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85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Which eligible names are strongest relative to the same-date universe?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7B0-3555-4EEE-A316-A449507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67FDA-79DC-4121-87F4-5B27047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  Holding horizon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BEB3C-CBB3-4390-8D81-DA17610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47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Does the score match a next-open, five-session exposure?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159A5-217E-43F1-84AF-3C04550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573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2034B-1622-436B-A902-881D408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  Portfolio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994FF-6657-4E70-9BB9-D2B7E1A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485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Can top-K selection survive turnover, concentration, and costs?</a:t>
            </a:r>
          </a:p>
        </p:txBody>
      </p:sp>
    </p:spTree>
    <p:extLst>
      <p:ext uri="{BB962C8B-B14F-4D97-AF65-F5344CB8AC3E}">
        <p14:creationId xmlns:p14="http://schemas.microsoft.com/office/powerpoint/2010/main" val="1519979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first wide panel is fixed, diverse, and explicitly imperfect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D17/05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 ranked stocks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across six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SECOND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 market/risk anchors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for benchmarks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THIRD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Daily eligibility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uses trailing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Fixed-panel POC: coverage and liquidity are auditable; survivorship remains a declared limitation.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5E5F6-54B8-4216-9E13-0094499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target asks who wins—and whether winning is worth owning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37CC-8D86-41DC-B57D-22799FBF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D18/06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92A7F-1195-4816-A4FE-C617A51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At each after-close decision: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91D66-13E5-425B-8FFA-23125FA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53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 observe through close 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2.  screen point-in-time eligibility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3.  execute at open t+1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4.  measure at open t+6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5.  compare with same-date equal weight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18C9-0506-489E-8452-8D248B1E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57340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A1CB9-8EC6-470D-9647-E38657D1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290A-CBC7-4AF2-B4DC-5B9DF6D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96ACC-F5DC-44D0-ACDB-169F0298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after close 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D6170-7969-4F30-B679-A8411AE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839B2-C8C5-413D-95BF-61379F8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3D4B9-3E13-497F-9205-67499A9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open t+1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69140-F9A7-44D6-829F-8BD3ED8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hold → measure at open t+6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18241-A43B-4A5D-A637-3D05E45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A85FC-59F1-47B3-BF69-B656E9E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Primary: h5 relative return. Secondary: raw h5 return. Relative leadership never overrides cash/no-trade.</a:t>
            </a:r>
          </a:p>
        </p:txBody>
      </p:sp>
    </p:spTree>
    <p:extLst>
      <p:ext uri="{BB962C8B-B14F-4D97-AF65-F5344CB8AC3E}">
        <p14:creationId xmlns:p14="http://schemas.microsoft.com/office/powerpoint/2010/main" val="2037575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POC ladder delays complexity until each layer earns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PLAN/07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X0 + 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443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Universe integrity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no-model measurement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X2 + X3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Pooled linear ranker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fixed nonlinear challenger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X4 + X5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13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Top-K policy, costs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fresh forward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38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Autonomous boundary: complete X0/X1 only. Model, portfolio policy, and live advice remain closed.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X0 passed: all 24 candidates support the fixed-panel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X0/08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8d4da0b5949ae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X1 found one stable primitive—not enough for 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X1/09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96da12d2b4972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wider universe solved breadth—not signal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D19/10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9282d04a84e5e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BEFORE MODEL FIT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24 / 24 coverage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6 / 6 leakage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Group-relative 20 only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REVIEW  Momentum 60: concentrated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Five remaining primitives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 fits: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78D6B-60CA-4926-B285-DE220C2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Decision record and evidence artifacts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1A40-9E3E-48A5-BDC4-3B2D34F6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IDX/11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00743-E837-4A84-BA76-43D549C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52E5C-8C1E-4FC6-8762-8DA0C94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D15–D18 — cross-sectional POC charter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2713C-4A90-44D3-B9C6-6EA00A57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docs/GEN5_4_CROSS_SECTIONAL_ASSET_SELECTION_POC_PLAN.md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962C1-879A-4E85-8144-91EFD61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3F9E1-7696-4F8C-AC88-F3E3D8C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D19 — X0/X1 measurement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C903-3F9B-418F-95B6-BCA83B3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runs/.../g54_xs_20260719x0x1/xs_report.md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A7760-898B-43F7-905C-FEAABFA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05774-D2D9-484E-998F-0D83EBAB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GEN5_4_DECISION_DIALOGUE_INDEX.md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A441C-97BE-4D7C-981A-EB6D1D19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Codex deep link, exact Find-in-chat phrases, compact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71286-92BA-4617-B293-7BE2720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B6344-81F1-4DBB-93E1-ADDF208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GEN5_1_POC_PROGRESS_LOG.md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DE04-49B0-4D98-B742-5D57B48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Cumulative POC question, artifacts, readout, and STOP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E52D3-67E5-4FEB-AD72-2885D014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84864-5601-45CA-A490-A8AB6A70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GEN5_4_ML_DECISION_ENGINE_PLAN.md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0C295-629F-4389-9425-6228539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Prior supervised lineage and wide-pool absolute-target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7A152-560D-470B-924D-940BB2F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0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DC48A-B3AB-4287-9578-F5A1C17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AGENTS.md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A3176-A0B6-44B8-8A20-41C3559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66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WFA-first • explicit as-of • no-trade • no live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AF491-EF97-4346-AC24-33E44267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Speaker notes carry conversation bookmarks, decisions, evidence paths, and research boundaries.</a:t>
            </a:r>
          </a:p>
        </p:txBody>
      </p:sp>
    </p:spTree>
    <p:extLst>
      <p:ext uri="{BB962C8B-B14F-4D97-AF65-F5344CB8AC3E}">
        <p14:creationId xmlns:p14="http://schemas.microsoft.com/office/powerpoint/2010/main" val="222060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next gate is information—not a cleverer 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G/12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Keep the wide panel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and h5 target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SECOND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Accept the X1 STOP;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do not fit one primitive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THIRD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Add one distinct family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or revise universe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Recommended next session: choose one point-in-time feature family that can supply an independent cross-sectional signal.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S6/13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ranking layer advances;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exposure layer does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Residual structure  •  path quality  •  TRAIN-only context  •  separate falsifiers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X1b and C0 ask different questions - and must pass separately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D22/14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X1b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Four residual / path primitives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vs relative h5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REDUNDANCY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At most 0.70 rank correlation +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fold / concentration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C0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Four TRAIN-threshold states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vs absolute basket h5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6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Promotion requires one distinct X1b primitive AND one C0 condition. No model, top-K policy, or replay.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X1b adds one distinct ranking primitive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X1b/15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a2712c5084660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C0 fails the separate exposure-permission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C0/16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06aac857c43ee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Selection improved - but long-entry permission remains unproven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D23/17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5be46bb594786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BEFORE TWO-STAGE DESIGN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9 / 9 leakage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Intraday-minus-overnight 20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REVIEW  Signed efficiency: 51.2% group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4 / 4 C0 conditions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demonstrator or model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Model fits: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2026-07-19T11:13:41.7110000Z</dcterms:created>
  <dcterms:modified xsi:type="dcterms:W3CDTF">2026-07-19T11:13:41.7110000Z</dcterms:modified>
</coreProperties>
</file>