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705d1762f14697" /><Relationship Type="http://schemas.openxmlformats.org/officeDocument/2006/relationships/extended-properties" Target="/docProps/app.xml" Id="Rab5a8241d8b34b87" /><Relationship Type="http://schemas.openxmlformats.org/officeDocument/2006/relationships/officeDocument" Target="/ppt/presentation.xml" Id="R83d0e96800724edd" /></Relationships>
</file>

<file path=ppt/presentation.xml><?xml version="1.0" encoding="utf-8"?>
<p:presentation xmlns:p="http://schemas.openxmlformats.org/presentationml/2006/main">
  <p:sldMasterIdLst>
    <p:sldMasterId xmlns:r="http://schemas.openxmlformats.org/officeDocument/2006/relationships" id="2147483648" r:id="R210cbdbc50624a17"/>
  </p:sldMasterIdLst>
  <p:notesMasterIdLst>
    <p:notesMasterId xmlns:r="http://schemas.openxmlformats.org/officeDocument/2006/relationships" r:id="Rbe1accf9d96044d3"/>
  </p:notesMasterIdLst>
  <p:sldIdLst>
    <p:sldId xmlns:r="http://schemas.openxmlformats.org/officeDocument/2006/relationships" id="256" r:id="Rcd1cf3fbc9414d75"/>
    <p:sldId xmlns:r="http://schemas.openxmlformats.org/officeDocument/2006/relationships" id="257" r:id="R050d394bd8c24bba"/>
    <p:sldId xmlns:r="http://schemas.openxmlformats.org/officeDocument/2006/relationships" id="258" r:id="R6e34ee7770b540c0"/>
    <p:sldId xmlns:r="http://schemas.openxmlformats.org/officeDocument/2006/relationships" id="259" r:id="Rf6941a1941e44bfa"/>
    <p:sldId xmlns:r="http://schemas.openxmlformats.org/officeDocument/2006/relationships" id="260" r:id="R21dfb9d1346d466e"/>
    <p:sldId xmlns:r="http://schemas.openxmlformats.org/officeDocument/2006/relationships" id="261" r:id="R483a03fdfe2f4019"/>
    <p:sldId xmlns:r="http://schemas.openxmlformats.org/officeDocument/2006/relationships" id="262" r:id="Rf943f159075a4635"/>
    <p:sldId xmlns:r="http://schemas.openxmlformats.org/officeDocument/2006/relationships" id="263" r:id="Ra66ef152f58f4d18"/>
    <p:sldId xmlns:r="http://schemas.openxmlformats.org/officeDocument/2006/relationships" id="264" r:id="Rb032f9f669034ebd"/>
    <p:sldId xmlns:r="http://schemas.openxmlformats.org/officeDocument/2006/relationships" id="265" r:id="R3ad86645946f445a"/>
    <p:sldId xmlns:r="http://schemas.openxmlformats.org/officeDocument/2006/relationships" id="266" r:id="Ra0a05137979045e6"/>
    <p:sldId xmlns:r="http://schemas.openxmlformats.org/officeDocument/2006/relationships" id="267" r:id="R65d002e21b564e5e"/>
    <p:sldId xmlns:r="http://schemas.openxmlformats.org/officeDocument/2006/relationships" id="268" r:id="Rf386ab8af39d4c38"/>
    <p:sldId xmlns:r="http://schemas.openxmlformats.org/officeDocument/2006/relationships" id="269" r:id="R857af94b6c374f76"/>
    <p:sldId xmlns:r="http://schemas.openxmlformats.org/officeDocument/2006/relationships" id="270" r:id="Re02b3ea304e74178"/>
    <p:sldId xmlns:r="http://schemas.openxmlformats.org/officeDocument/2006/relationships" id="271" r:id="Rcca8b618e7b646d8"/>
    <p:sldId xmlns:r="http://schemas.openxmlformats.org/officeDocument/2006/relationships" id="272" r:id="R43a2644c1c704577"/>
    <p:sldId xmlns:r="http://schemas.openxmlformats.org/officeDocument/2006/relationships" id="273" r:id="R5f8e393eeb8c4caa"/>
    <p:sldId xmlns:r="http://schemas.openxmlformats.org/officeDocument/2006/relationships" id="274" r:id="R2a3400a53eac41e6"/>
    <p:sldId xmlns:r="http://schemas.openxmlformats.org/officeDocument/2006/relationships" id="275" r:id="R0612392fc4434a1b"/>
    <p:sldId xmlns:r="http://schemas.openxmlformats.org/officeDocument/2006/relationships" id="276" r:id="R1ec18d7a137545b0"/>
    <p:sldId xmlns:r="http://schemas.openxmlformats.org/officeDocument/2006/relationships" id="277" r:id="R52b5bb9df89f4eb9"/>
    <p:sldId xmlns:r="http://schemas.openxmlformats.org/officeDocument/2006/relationships" id="278" r:id="R74cadfc739484b4c"/>
    <p:sldId xmlns:r="http://schemas.openxmlformats.org/officeDocument/2006/relationships" id="279" r:id="R8076aa45df4d409a"/>
    <p:sldId xmlns:r="http://schemas.openxmlformats.org/officeDocument/2006/relationships" id="280" r:id="R595379aff2994c7d"/>
    <p:sldId xmlns:r="http://schemas.openxmlformats.org/officeDocument/2006/relationships" id="281" r:id="R91d25e538690458e"/>
    <p:sldId xmlns:r="http://schemas.openxmlformats.org/officeDocument/2006/relationships" id="282" r:id="R9313c6f396184cd5"/>
    <p:sldId xmlns:r="http://schemas.openxmlformats.org/officeDocument/2006/relationships" id="283" r:id="R78d1a06edbf74c50"/>
    <p:sldId xmlns:r="http://schemas.openxmlformats.org/officeDocument/2006/relationships" id="284" r:id="R846b9105f3914523"/>
    <p:sldId xmlns:r="http://schemas.openxmlformats.org/officeDocument/2006/relationships" id="285" r:id="R6d9930efa91246c6"/>
    <p:sldId xmlns:r="http://schemas.openxmlformats.org/officeDocument/2006/relationships" id="286" r:id="Ra6e1e22c158342fe"/>
    <p:sldId xmlns:r="http://schemas.openxmlformats.org/officeDocument/2006/relationships" id="287" r:id="R6e1f4ab6096b48ad"/>
    <p:sldId xmlns:r="http://schemas.openxmlformats.org/officeDocument/2006/relationships" id="288" r:id="R4524b5a5d8e6420c"/>
    <p:sldId xmlns:r="http://schemas.openxmlformats.org/officeDocument/2006/relationships" id="289" r:id="R4b410d0bd3054fd4"/>
    <p:sldId xmlns:r="http://schemas.openxmlformats.org/officeDocument/2006/relationships" id="290" r:id="R3b8a5886e6d84af6"/>
    <p:sldId xmlns:r="http://schemas.openxmlformats.org/officeDocument/2006/relationships" id="291" r:id="R8f35863919da49e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7cd62511dd45bb" /><Relationship Type="http://schemas.openxmlformats.org/officeDocument/2006/relationships/slideMaster" Target="/ppt/slideMasters/slideMaster1.xml" Id="R210cbdbc50624a17" /><Relationship Type="http://schemas.openxmlformats.org/officeDocument/2006/relationships/notesMaster" Target="/ppt/notesMasters/notesMaster1.xml" Id="Rbe1accf9d96044d3" /><Relationship Type="http://schemas.openxmlformats.org/officeDocument/2006/relationships/presProps" Target="/ppt/presProps.xml" Id="R4ac2efa0a8ff44ef" /><Relationship Type="http://schemas.openxmlformats.org/officeDocument/2006/relationships/tableStyles" Target="/ppt/tableStyles.xml" Id="R553d4ee9d1d1472c" /><Relationship Type="http://schemas.openxmlformats.org/officeDocument/2006/relationships/slide" Target="/ppt/slides/slide1.xml" Id="Rcd1cf3fbc9414d75" /><Relationship Type="http://schemas.openxmlformats.org/officeDocument/2006/relationships/slide" Target="/ppt/slides/slide2.xml" Id="R050d394bd8c24bba" /><Relationship Type="http://schemas.openxmlformats.org/officeDocument/2006/relationships/slide" Target="/ppt/slides/slide3.xml" Id="R6e34ee7770b540c0" /><Relationship Type="http://schemas.openxmlformats.org/officeDocument/2006/relationships/slide" Target="/ppt/slides/slide4.xml" Id="Rf6941a1941e44bfa" /><Relationship Type="http://schemas.openxmlformats.org/officeDocument/2006/relationships/slide" Target="/ppt/slides/slide5.xml" Id="R21dfb9d1346d466e" /><Relationship Type="http://schemas.openxmlformats.org/officeDocument/2006/relationships/slide" Target="/ppt/slides/slide6.xml" Id="R483a03fdfe2f4019" /><Relationship Type="http://schemas.openxmlformats.org/officeDocument/2006/relationships/slide" Target="/ppt/slides/slide7.xml" Id="Rf943f159075a4635" /><Relationship Type="http://schemas.openxmlformats.org/officeDocument/2006/relationships/slide" Target="/ppt/slides/slide8.xml" Id="Ra66ef152f58f4d18" /><Relationship Type="http://schemas.openxmlformats.org/officeDocument/2006/relationships/slide" Target="/ppt/slides/slide9.xml" Id="Rb032f9f669034ebd" /><Relationship Type="http://schemas.openxmlformats.org/officeDocument/2006/relationships/slide" Target="/ppt/slides/slide10.xml" Id="R3ad86645946f445a" /><Relationship Type="http://schemas.openxmlformats.org/officeDocument/2006/relationships/slide" Target="/ppt/slides/slide11.xml" Id="Ra0a05137979045e6" /><Relationship Type="http://schemas.openxmlformats.org/officeDocument/2006/relationships/slide" Target="/ppt/slides/slide12.xml" Id="R65d002e21b564e5e" /><Relationship Type="http://schemas.openxmlformats.org/officeDocument/2006/relationships/slide" Target="/ppt/slides/slide13.xml" Id="Rf386ab8af39d4c38" /><Relationship Type="http://schemas.openxmlformats.org/officeDocument/2006/relationships/slide" Target="/ppt/slides/slide14.xml" Id="R857af94b6c374f76" /><Relationship Type="http://schemas.openxmlformats.org/officeDocument/2006/relationships/slide" Target="/ppt/slides/slide15.xml" Id="Re02b3ea304e74178" /><Relationship Type="http://schemas.openxmlformats.org/officeDocument/2006/relationships/slide" Target="/ppt/slides/slide16.xml" Id="Rcca8b618e7b646d8" /><Relationship Type="http://schemas.openxmlformats.org/officeDocument/2006/relationships/slide" Target="/ppt/slides/slide17.xml" Id="R43a2644c1c704577" /><Relationship Type="http://schemas.openxmlformats.org/officeDocument/2006/relationships/slide" Target="/ppt/slides/slide18.xml" Id="R5f8e393eeb8c4caa" /><Relationship Type="http://schemas.openxmlformats.org/officeDocument/2006/relationships/slide" Target="/ppt/slides/slide19.xml" Id="R2a3400a53eac41e6" /><Relationship Type="http://schemas.openxmlformats.org/officeDocument/2006/relationships/slide" Target="/ppt/slides/slide20.xml" Id="R0612392fc4434a1b" /><Relationship Type="http://schemas.openxmlformats.org/officeDocument/2006/relationships/slide" Target="/ppt/slides/slide21.xml" Id="R1ec18d7a137545b0" /><Relationship Type="http://schemas.openxmlformats.org/officeDocument/2006/relationships/slide" Target="/ppt/slides/slide22.xml" Id="R52b5bb9df89f4eb9" /><Relationship Type="http://schemas.openxmlformats.org/officeDocument/2006/relationships/slide" Target="/ppt/slides/slide23.xml" Id="R74cadfc739484b4c" /><Relationship Type="http://schemas.openxmlformats.org/officeDocument/2006/relationships/slide" Target="/ppt/slides/slide24.xml" Id="R8076aa45df4d409a" /><Relationship Type="http://schemas.openxmlformats.org/officeDocument/2006/relationships/slide" Target="/ppt/slides/slide25.xml" Id="R595379aff2994c7d" /><Relationship Type="http://schemas.openxmlformats.org/officeDocument/2006/relationships/slide" Target="/ppt/slides/slide26.xml" Id="R91d25e538690458e" /><Relationship Type="http://schemas.openxmlformats.org/officeDocument/2006/relationships/slide" Target="/ppt/slides/slide27.xml" Id="R9313c6f396184cd5" /><Relationship Type="http://schemas.openxmlformats.org/officeDocument/2006/relationships/slide" Target="/ppt/slides/slide28.xml" Id="R78d1a06edbf74c50" /><Relationship Type="http://schemas.openxmlformats.org/officeDocument/2006/relationships/slide" Target="/ppt/slides/slide29.xml" Id="R846b9105f3914523" /><Relationship Type="http://schemas.openxmlformats.org/officeDocument/2006/relationships/slide" Target="/ppt/slides/slide30.xml" Id="R6d9930efa91246c6" /><Relationship Type="http://schemas.openxmlformats.org/officeDocument/2006/relationships/slide" Target="/ppt/slides/slide31.xml" Id="Ra6e1e22c158342fe" /><Relationship Type="http://schemas.openxmlformats.org/officeDocument/2006/relationships/slide" Target="/ppt/slides/slide32.xml" Id="R6e1f4ab6096b48ad" /><Relationship Type="http://schemas.openxmlformats.org/officeDocument/2006/relationships/slide" Target="/ppt/slides/slide33.xml" Id="R4524b5a5d8e6420c" /><Relationship Type="http://schemas.openxmlformats.org/officeDocument/2006/relationships/slide" Target="/ppt/slides/slide34.xml" Id="R4b410d0bd3054fd4" /><Relationship Type="http://schemas.openxmlformats.org/officeDocument/2006/relationships/slide" Target="/ppt/slides/slide35.xml" Id="R3b8a5886e6d84af6" /><Relationship Type="http://schemas.openxmlformats.org/officeDocument/2006/relationships/slide" Target="/ppt/slides/slide36.xml" Id="R8f35863919da49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efadc24ffb46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4e04101a2a4703" /><Relationship Type="http://schemas.openxmlformats.org/officeDocument/2006/relationships/notesMaster" Target="/ppt/notesMasters/notesMaster1.xml" Id="R9dc4ab463dae49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4cc7140f1c4207" /><Relationship Type="http://schemas.openxmlformats.org/officeDocument/2006/relationships/notesMaster" Target="/ppt/notesMasters/notesMaster1.xml" Id="R735b8eeccd2d48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6bc91263e94313" /><Relationship Type="http://schemas.openxmlformats.org/officeDocument/2006/relationships/notesMaster" Target="/ppt/notesMasters/notesMaster1.xml" Id="Rb543bea0fcc743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1e9a460d7c4bbc" /><Relationship Type="http://schemas.openxmlformats.org/officeDocument/2006/relationships/notesMaster" Target="/ppt/notesMasters/notesMaster1.xml" Id="R336296bd2cf243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c3b00d80094fb5" /><Relationship Type="http://schemas.openxmlformats.org/officeDocument/2006/relationships/notesMaster" Target="/ppt/notesMasters/notesMaster1.xml" Id="R4921c28f2b8944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1a53872f2b463e" /><Relationship Type="http://schemas.openxmlformats.org/officeDocument/2006/relationships/notesMaster" Target="/ppt/notesMasters/notesMaster1.xml" Id="R3874864080fc47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6a55ebf32545b3" /><Relationship Type="http://schemas.openxmlformats.org/officeDocument/2006/relationships/notesMaster" Target="/ppt/notesMasters/notesMaster1.xml" Id="R109f84cef5e449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74e10d3b494a44" /><Relationship Type="http://schemas.openxmlformats.org/officeDocument/2006/relationships/notesMaster" Target="/ppt/notesMasters/notesMaster1.xml" Id="R2bb406e3844f4b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c7f42021954b7e" /><Relationship Type="http://schemas.openxmlformats.org/officeDocument/2006/relationships/notesMaster" Target="/ppt/notesMasters/notesMaster1.xml" Id="Ra06b8aab355a4e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d6b1edd99b49a1" /><Relationship Type="http://schemas.openxmlformats.org/officeDocument/2006/relationships/notesMaster" Target="/ppt/notesMasters/notesMaster1.xml" Id="Rbe9ff3a930fc49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82bcfec8f54e75" /><Relationship Type="http://schemas.openxmlformats.org/officeDocument/2006/relationships/notesMaster" Target="/ppt/notesMasters/notesMaster1.xml" Id="Rd7de40bd0f6d42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19d867f6884bda" /><Relationship Type="http://schemas.openxmlformats.org/officeDocument/2006/relationships/notesMaster" Target="/ppt/notesMasters/notesMaster1.xml" Id="R940c73febc814a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9e9447da1d4b08" /><Relationship Type="http://schemas.openxmlformats.org/officeDocument/2006/relationships/notesMaster" Target="/ppt/notesMasters/notesMaster1.xml" Id="R907bfd046c5a4e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f2c9dbb00a4137" /><Relationship Type="http://schemas.openxmlformats.org/officeDocument/2006/relationships/notesMaster" Target="/ppt/notesMasters/notesMaster1.xml" Id="Rfb9b76a8d76644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1fcc92d7034437" /><Relationship Type="http://schemas.openxmlformats.org/officeDocument/2006/relationships/notesMaster" Target="/ppt/notesMasters/notesMaster1.xml" Id="Ra29a66c8a44f49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9660d9627646f5" /><Relationship Type="http://schemas.openxmlformats.org/officeDocument/2006/relationships/notesMaster" Target="/ppt/notesMasters/notesMaster1.xml" Id="Rcd45e3cbe4ca497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9912794d894524" /><Relationship Type="http://schemas.openxmlformats.org/officeDocument/2006/relationships/notesMaster" Target="/ppt/notesMasters/notesMaster1.xml" Id="R14a69962d01e4d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34179aacaf46c2" /><Relationship Type="http://schemas.openxmlformats.org/officeDocument/2006/relationships/notesMaster" Target="/ppt/notesMasters/notesMaster1.xml" Id="R9ddb8898dfcd40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9dad7c2c8104db6" /><Relationship Type="http://schemas.openxmlformats.org/officeDocument/2006/relationships/notesMaster" Target="/ppt/notesMasters/notesMaster1.xml" Id="Ra18b5e621b26463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cd0c0f82364a9f" /><Relationship Type="http://schemas.openxmlformats.org/officeDocument/2006/relationships/notesMaster" Target="/ppt/notesMasters/notesMaster1.xml" Id="R7b53669af56d4e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b5f64dc7157462c" /><Relationship Type="http://schemas.openxmlformats.org/officeDocument/2006/relationships/notesMaster" Target="/ppt/notesMasters/notesMaster1.xml" Id="R3263fcc33a0645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1a42cd753d40ba" /><Relationship Type="http://schemas.openxmlformats.org/officeDocument/2006/relationships/notesMaster" Target="/ppt/notesMasters/notesMaster1.xml" Id="R95c3c870672742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e5c7bef8d9483d" /><Relationship Type="http://schemas.openxmlformats.org/officeDocument/2006/relationships/notesMaster" Target="/ppt/notesMasters/notesMaster1.xml" Id="Rd792f45f5c0042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3f343f208e4d3f" /><Relationship Type="http://schemas.openxmlformats.org/officeDocument/2006/relationships/notesMaster" Target="/ppt/notesMasters/notesMaster1.xml" Id="R8111df0c9162426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dcc410404a54227" /><Relationship Type="http://schemas.openxmlformats.org/officeDocument/2006/relationships/notesMaster" Target="/ppt/notesMasters/notesMaster1.xml" Id="Rd8295f4ca9644ef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d5aff6d9f5649b9" /><Relationship Type="http://schemas.openxmlformats.org/officeDocument/2006/relationships/notesMaster" Target="/ppt/notesMasters/notesMaster1.xml" Id="Rb634862d27b24ad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76997bc49945eb" /><Relationship Type="http://schemas.openxmlformats.org/officeDocument/2006/relationships/notesMaster" Target="/ppt/notesMasters/notesMaster1.xml" Id="Rc37a5dafa30d4a9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40641c2a70649fb" /><Relationship Type="http://schemas.openxmlformats.org/officeDocument/2006/relationships/notesMaster" Target="/ppt/notesMasters/notesMaster1.xml" Id="R9466511152e14e4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0f8c97e0b3c4ef1" /><Relationship Type="http://schemas.openxmlformats.org/officeDocument/2006/relationships/notesMaster" Target="/ppt/notesMasters/notesMaster1.xml" Id="R2bea5197d7944db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3c8a92af0b44797" /><Relationship Type="http://schemas.openxmlformats.org/officeDocument/2006/relationships/notesMaster" Target="/ppt/notesMasters/notesMaster1.xml" Id="Rcfb1543516c0484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b16e978150143f3" /><Relationship Type="http://schemas.openxmlformats.org/officeDocument/2006/relationships/notesMaster" Target="/ppt/notesMasters/notesMaster1.xml" Id="R8233975637bf424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62be50363e44bae" /><Relationship Type="http://schemas.openxmlformats.org/officeDocument/2006/relationships/notesMaster" Target="/ppt/notesMasters/notesMaster1.xml" Id="R49cf63f90e1443f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0d76ef853634ceb" /><Relationship Type="http://schemas.openxmlformats.org/officeDocument/2006/relationships/notesMaster" Target="/ppt/notesMasters/notesMaster1.xml" Id="R6f357fa2f3954ec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8ec524d57d44b4c" /><Relationship Type="http://schemas.openxmlformats.org/officeDocument/2006/relationships/notesMaster" Target="/ppt/notesMasters/notesMaster1.xml" Id="Rda0bad8c2f60481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71e09d649624bcf" /><Relationship Type="http://schemas.openxmlformats.org/officeDocument/2006/relationships/notesMaster" Target="/ppt/notesMasters/notesMaster1.xml" Id="Rd074ea7afb0a4b8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aa4a99e62274844" /><Relationship Type="http://schemas.openxmlformats.org/officeDocument/2006/relationships/notesMaster" Target="/ppt/notesMasters/notesMaster1.xml" Id="R2b75d358c06044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58885c8a034f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17987cabb14691" /><Relationship Type="http://schemas.openxmlformats.org/officeDocument/2006/relationships/slideLayout" Target="/ppt/slideLayouts/slideLayout1.xml" Id="R7c5dd287f45140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5dd287f45140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ddeefca48b4562" /><Relationship Type="http://schemas.openxmlformats.org/officeDocument/2006/relationships/notesSlide" Target="/ppt/notesSlides/notesSlide1.xml" Id="Ra13ede0c768e4f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9b5fbb4c5045a5" /><Relationship Type="http://schemas.openxmlformats.org/officeDocument/2006/relationships/notesSlide" Target="/ppt/notesSlides/notesSlide2.xml" Id="Recacaa3c979946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45225ca78940a4" /><Relationship Type="http://schemas.openxmlformats.org/officeDocument/2006/relationships/notesSlide" Target="/ppt/notesSlides/notesSlide3.xml" Id="Rb84552c509f240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8a69384b164b8a" /><Relationship Type="http://schemas.openxmlformats.org/officeDocument/2006/relationships/image" Target="/ppt/media/image.png" Id="Rb567a2b632454056" /><Relationship Type="http://schemas.openxmlformats.org/officeDocument/2006/relationships/notesSlide" Target="/ppt/notesSlides/notesSlide4.xml" Id="Ra7153fc3ec0e47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5eb59be9624208" /><Relationship Type="http://schemas.openxmlformats.org/officeDocument/2006/relationships/image" Target="/ppt/media/image2.png" Id="Rbe8747974b8044ea" /><Relationship Type="http://schemas.openxmlformats.org/officeDocument/2006/relationships/notesSlide" Target="/ppt/notesSlides/notesSlide5.xml" Id="Rf1c90096eaf740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40e32fb5754d9c" /><Relationship Type="http://schemas.openxmlformats.org/officeDocument/2006/relationships/image" Target="/ppt/media/image3.png" Id="R8b0b07f2e7e14e52" /><Relationship Type="http://schemas.openxmlformats.org/officeDocument/2006/relationships/image" Target="/ppt/media/image4.png" Id="R61556078943a4bc6" /><Relationship Type="http://schemas.openxmlformats.org/officeDocument/2006/relationships/notesSlide" Target="/ppt/notesSlides/notesSlide6.xml" Id="Rcb93a9740b624d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5bacfbb2424480" /><Relationship Type="http://schemas.openxmlformats.org/officeDocument/2006/relationships/image" Target="/ppt/media/image5.png" Id="R8a6323f4c9a74b7c" /><Relationship Type="http://schemas.openxmlformats.org/officeDocument/2006/relationships/notesSlide" Target="/ppt/notesSlides/notesSlide7.xml" Id="R0ad58c1c527c44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80f1c292244dee" /><Relationship Type="http://schemas.openxmlformats.org/officeDocument/2006/relationships/image" Target="/ppt/media/image6.png" Id="R32ae7a3b6a484a70" /><Relationship Type="http://schemas.openxmlformats.org/officeDocument/2006/relationships/notesSlide" Target="/ppt/notesSlides/notesSlide8.xml" Id="Refc102aae88548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a82a17205c447c5" /><Relationship Type="http://schemas.openxmlformats.org/officeDocument/2006/relationships/image" Target="/ppt/media/image7.png" Id="R2f966c6c499d41ba" /><Relationship Type="http://schemas.openxmlformats.org/officeDocument/2006/relationships/notesSlide" Target="/ppt/notesSlides/notesSlide9.xml" Id="Rea235049104245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f58204d20945dc" /><Relationship Type="http://schemas.openxmlformats.org/officeDocument/2006/relationships/notesSlide" Target="/ppt/notesSlides/notesSlide10.xml" Id="R2c78c24701314a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4f6abb70ec4859" /><Relationship Type="http://schemas.openxmlformats.org/officeDocument/2006/relationships/notesSlide" Target="/ppt/notesSlides/notesSlide11.xml" Id="R068c06b7516a4c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50ccd102b64b60" /><Relationship Type="http://schemas.openxmlformats.org/officeDocument/2006/relationships/notesSlide" Target="/ppt/notesSlides/notesSlide12.xml" Id="Rbe3ad56f1b3248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d918f7bff54ba0" /><Relationship Type="http://schemas.openxmlformats.org/officeDocument/2006/relationships/image" Target="/ppt/media/image8.png" Id="Rd4860d62c64649c8" /><Relationship Type="http://schemas.openxmlformats.org/officeDocument/2006/relationships/notesSlide" Target="/ppt/notesSlides/notesSlide13.xml" Id="R567b49a4b81b48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62a0d987a784256" /><Relationship Type="http://schemas.openxmlformats.org/officeDocument/2006/relationships/image" Target="/ppt/media/image9.png" Id="Rc8a51b44b08d4a43" /><Relationship Type="http://schemas.openxmlformats.org/officeDocument/2006/relationships/notesSlide" Target="/ppt/notesSlides/notesSlide14.xml" Id="R00ca787d884b41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6226bdc8efc4a64" /><Relationship Type="http://schemas.openxmlformats.org/officeDocument/2006/relationships/image" Target="/ppt/media/image10.png" Id="Rf5889f8fc48c4737" /><Relationship Type="http://schemas.openxmlformats.org/officeDocument/2006/relationships/image" Target="/ppt/media/image11.png" Id="R437dc80016fd4e7b" /><Relationship Type="http://schemas.openxmlformats.org/officeDocument/2006/relationships/notesSlide" Target="/ppt/notesSlides/notesSlide15.xml" Id="R723844287e1c45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6dc1da9e26f4f06" /><Relationship Type="http://schemas.openxmlformats.org/officeDocument/2006/relationships/image" Target="/ppt/media/image12.png" Id="R2cb59ebd9033478a" /><Relationship Type="http://schemas.openxmlformats.org/officeDocument/2006/relationships/notesSlide" Target="/ppt/notesSlides/notesSlide16.xml" Id="R95cd825d4a5946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2c505135a0946dd" /><Relationship Type="http://schemas.openxmlformats.org/officeDocument/2006/relationships/notesSlide" Target="/ppt/notesSlides/notesSlide17.xml" Id="R37475482038b43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9a17dc89b2a45d9" /><Relationship Type="http://schemas.openxmlformats.org/officeDocument/2006/relationships/notesSlide" Target="/ppt/notesSlides/notesSlide18.xml" Id="Rde10b44b1240494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655981d51c242ca" /><Relationship Type="http://schemas.openxmlformats.org/officeDocument/2006/relationships/notesSlide" Target="/ppt/notesSlides/notesSlide19.xml" Id="Re1b3324f73974a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16a4ff9180248ac" /><Relationship Type="http://schemas.openxmlformats.org/officeDocument/2006/relationships/image" Target="/ppt/media/image13.png" Id="Red2c0b97260e46e8" /><Relationship Type="http://schemas.openxmlformats.org/officeDocument/2006/relationships/notesSlide" Target="/ppt/notesSlides/notesSlide20.xml" Id="R6c5e7ab954664c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bfee8f9226d4278" /><Relationship Type="http://schemas.openxmlformats.org/officeDocument/2006/relationships/image" Target="/ppt/media/image14.png" Id="R74f4f4a6725b48fd" /><Relationship Type="http://schemas.openxmlformats.org/officeDocument/2006/relationships/image" Target="/ppt/media/image15.png" Id="R4979f97f487348b2" /><Relationship Type="http://schemas.openxmlformats.org/officeDocument/2006/relationships/notesSlide" Target="/ppt/notesSlides/notesSlide21.xml" Id="R83855fadf086419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bc017976b6a4f3f" /><Relationship Type="http://schemas.openxmlformats.org/officeDocument/2006/relationships/image" Target="/ppt/media/image16.png" Id="Rdb6dda1638f9458e" /><Relationship Type="http://schemas.openxmlformats.org/officeDocument/2006/relationships/notesSlide" Target="/ppt/notesSlides/notesSlide22.xml" Id="R9e51c693695f49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d0257e8c3174cc8" /><Relationship Type="http://schemas.openxmlformats.org/officeDocument/2006/relationships/notesSlide" Target="/ppt/notesSlides/notesSlide23.xml" Id="R7cfc9a8830b847f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be0ef2b8f984237" /><Relationship Type="http://schemas.openxmlformats.org/officeDocument/2006/relationships/notesSlide" Target="/ppt/notesSlides/notesSlide24.xml" Id="Rfc110644593645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5fd33b79eab47db" /><Relationship Type="http://schemas.openxmlformats.org/officeDocument/2006/relationships/notesSlide" Target="/ppt/notesSlides/notesSlide25.xml" Id="R87c8a884d86e463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64efb4fbe7c4100" /><Relationship Type="http://schemas.openxmlformats.org/officeDocument/2006/relationships/image" Target="/ppt/media/image17.png" Id="Rc9121b1acef14f1e" /><Relationship Type="http://schemas.openxmlformats.org/officeDocument/2006/relationships/notesSlide" Target="/ppt/notesSlides/notesSlide26.xml" Id="R02f4b5c92bcc4b3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eb78849eaca4c58" /><Relationship Type="http://schemas.openxmlformats.org/officeDocument/2006/relationships/image" Target="/ppt/media/image18.png" Id="R0afd3c6b0ad34fbf" /><Relationship Type="http://schemas.openxmlformats.org/officeDocument/2006/relationships/notesSlide" Target="/ppt/notesSlides/notesSlide27.xml" Id="R164bba3c471f44d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440bb0a472c4922" /><Relationship Type="http://schemas.openxmlformats.org/officeDocument/2006/relationships/notesSlide" Target="/ppt/notesSlides/notesSlide28.xml" Id="Ra6fc1f3971bd4cf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7147aec8df04602" /><Relationship Type="http://schemas.openxmlformats.org/officeDocument/2006/relationships/notesSlide" Target="/ppt/notesSlides/notesSlide29.xml" Id="R4b52b777e4fa417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96cac433ab44214" /><Relationship Type="http://schemas.openxmlformats.org/officeDocument/2006/relationships/notesSlide" Target="/ppt/notesSlides/notesSlide30.xml" Id="R3531b4d5ca20497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f4495f776224c21" /><Relationship Type="http://schemas.openxmlformats.org/officeDocument/2006/relationships/notesSlide" Target="/ppt/notesSlides/notesSlide31.xml" Id="R94afaa48664140c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631e69e73ad4390" /><Relationship Type="http://schemas.openxmlformats.org/officeDocument/2006/relationships/image" Target="/ppt/media/image19.png" Id="Rd7335232432342ad" /><Relationship Type="http://schemas.openxmlformats.org/officeDocument/2006/relationships/notesSlide" Target="/ppt/notesSlides/notesSlide32.xml" Id="R6080bafd6eda413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b291e08334349ad" /><Relationship Type="http://schemas.openxmlformats.org/officeDocument/2006/relationships/image" Target="/ppt/media/image20.png" Id="Rb8cd0b4869574853" /><Relationship Type="http://schemas.openxmlformats.org/officeDocument/2006/relationships/notesSlide" Target="/ppt/notesSlides/notesSlide33.xml" Id="R90283c2c380844f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878c70cfdf24e5f" /><Relationship Type="http://schemas.openxmlformats.org/officeDocument/2006/relationships/image" Target="/ppt/media/image21.png" Id="R56201ba41a254f2d" /><Relationship Type="http://schemas.openxmlformats.org/officeDocument/2006/relationships/notesSlide" Target="/ppt/notesSlides/notesSlide34.xml" Id="R27a807c271a64cb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41c68a9a5864744" /><Relationship Type="http://schemas.openxmlformats.org/officeDocument/2006/relationships/image" Target="/ppt/media/image22.png" Id="R90dc2530af294746" /><Relationship Type="http://schemas.openxmlformats.org/officeDocument/2006/relationships/notesSlide" Target="/ppt/notesSlides/notesSlide35.xml" Id="R0d7e4cd4684348d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543aeab04844ab4" /><Relationship Type="http://schemas.openxmlformats.org/officeDocument/2006/relationships/notesSlide" Target="/ppt/notesSlides/notesSlide36.xml" Id="Rff4114f97b6f460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C58E21-B849-4CD4-8408-25658A659B4B}"/>
              </a:ext>
            </a:extLst>
          </p:cNvPr>
          <p:cNvSpPr>
            <a:spLocks xmlns:a="http://schemas.openxmlformats.org/drawingml/2006/main" noGrp="1"/>
          </p:cNvSpPr>
          <p:nvPr/>
        </p:nvSpPr>
        <p:spPr>
          <a:xfrm xmlns:a="http://schemas.openxmlformats.org/drawingml/2006/main">
            <a:off x="685800" y="4572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555555"/>
                </a:solidFill>
              </a:defRPr>
            </a:pPr>
            <a:r>
              <a:rPr sz="2250" b="1" i="0">
                <a:solidFill>
                  <a:srgbClr val="555555"/>
                </a:solidFill>
              </a:rPr>
              <a:t>Gen5.4</a:t>
            </a:r>
          </a:p>
        </p:txBody>
      </p:sp>
      <p:sp>
        <p:nvSpPr>
          <p:cNvPr id="2" name="">
            <a:extLst xmlns:a="http://schemas.openxmlformats.org/drawingml/2006/main">
              <a:ext uri="{FF2B5EF4-FFF2-40B4-BE49-F238E27FC236}">
                <a16:creationId xmlns:a16="http://schemas.microsoft.com/office/drawing/2014/main" id="{1DAA9E41-094B-49A8-92EB-15689240C093}"/>
              </a:ext>
            </a:extLst>
          </p:cNvPr>
          <p:cNvSpPr>
            <a:spLocks xmlns:a="http://schemas.openxmlformats.org/drawingml/2006/main" noGrp="1"/>
          </p:cNvSpPr>
          <p:nvPr/>
        </p:nvSpPr>
        <p:spPr>
          <a:xfrm xmlns:a="http://schemas.openxmlformats.org/drawingml/2006/main">
            <a:off x="685800" y="1543050"/>
            <a:ext cx="723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i="0">
                <a:solidFill>
                  <a:srgbClr val="000000"/>
                </a:solidFill>
              </a:defRPr>
            </a:pPr>
            <a:r>
              <a:rPr sz="4650" b="1" i="0">
                <a:solidFill>
                  <a:srgbClr val="000000"/>
                </a:solidFill>
              </a:rPr>
              <a:t>ML decision engine</a:t>
            </a:r>
          </a:p>
        </p:txBody>
      </p:sp>
      <p:sp>
        <p:nvSpPr>
          <p:cNvPr id="3" name="">
            <a:extLst xmlns:a="http://schemas.openxmlformats.org/drawingml/2006/main">
              <a:ext uri="{FF2B5EF4-FFF2-40B4-BE49-F238E27FC236}">
                <a16:creationId xmlns:a16="http://schemas.microsoft.com/office/drawing/2014/main" id="{06B5D47B-BAB0-443D-9DDA-6CF4AF8D59DC}"/>
              </a:ext>
            </a:extLst>
          </p:cNvPr>
          <p:cNvSpPr>
            <a:spLocks xmlns:a="http://schemas.openxmlformats.org/drawingml/2006/main" noGrp="1"/>
          </p:cNvSpPr>
          <p:nvPr/>
        </p:nvSpPr>
        <p:spPr>
          <a:xfrm xmlns:a="http://schemas.openxmlformats.org/drawingml/2006/main">
            <a:off x="723900" y="2724150"/>
            <a:ext cx="666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222222"/>
                </a:solidFill>
              </a:defRPr>
            </a:pPr>
            <a:r>
              <a:rPr sz="1875" b="0" i="0">
                <a:solidFill>
                  <a:srgbClr val="222222"/>
                </a:solidFill>
              </a:rPr>
              <a:t>Incremental build log: supervised feature and label proof before model fitting.</a:t>
            </a:r>
          </a:p>
        </p:txBody>
      </p:sp>
      <p:sp>
        <p:nvSpPr>
          <p:cNvPr id="4" name="">
            <a:extLst xmlns:a="http://schemas.openxmlformats.org/drawingml/2006/main">
              <a:ext uri="{FF2B5EF4-FFF2-40B4-BE49-F238E27FC236}">
                <a16:creationId xmlns:a16="http://schemas.microsoft.com/office/drawing/2014/main" id="{3EBDD181-4F57-458B-872D-BF08D2961E23}"/>
              </a:ext>
            </a:extLst>
          </p:cNvPr>
          <p:cNvSpPr>
            <a:spLocks xmlns:a="http://schemas.openxmlformats.org/drawingml/2006/main" noGrp="1"/>
          </p:cNvSpPr>
          <p:nvPr/>
        </p:nvSpPr>
        <p:spPr>
          <a:xfrm xmlns:a="http://schemas.openxmlformats.org/drawingml/2006/main">
            <a:off x="723900" y="4095750"/>
            <a:ext cx="49530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2B35E1-A322-43E4-97A0-F362B920DE1D}"/>
              </a:ext>
            </a:extLst>
          </p:cNvPr>
          <p:cNvSpPr>
            <a:spLocks xmlns:a="http://schemas.openxmlformats.org/drawingml/2006/main" noGrp="1"/>
          </p:cNvSpPr>
          <p:nvPr/>
        </p:nvSpPr>
        <p:spPr>
          <a:xfrm xmlns:a="http://schemas.openxmlformats.org/drawingml/2006/main">
            <a:off x="723900" y="4400550"/>
            <a:ext cx="657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55555"/>
                </a:solidFill>
              </a:defRPr>
            </a:pPr>
            <a:r>
              <a:rPr sz="1500" b="0" i="0">
                <a:solidFill>
                  <a:srgbClr val="555555"/>
                </a:solidFill>
              </a:rPr>
              <a:t>ML-P0 packet: adjusted daily OHLCV -&gt; features through close t -&gt; next-open h3 label.</a:t>
            </a:r>
          </a:p>
        </p:txBody>
      </p:sp>
      <p:sp>
        <p:nvSpPr>
          <p:cNvPr id="6" name="">
            <a:extLst xmlns:a="http://schemas.openxmlformats.org/drawingml/2006/main">
              <a:ext uri="{FF2B5EF4-FFF2-40B4-BE49-F238E27FC236}">
                <a16:creationId xmlns:a16="http://schemas.microsoft.com/office/drawing/2014/main" id="{E5891D7D-E767-4395-8CD1-3E3CEE21CB96}"/>
              </a:ext>
            </a:extLst>
          </p:cNvPr>
          <p:cNvSpPr>
            <a:spLocks xmlns:a="http://schemas.openxmlformats.org/drawingml/2006/main" noGrp="1"/>
          </p:cNvSpPr>
          <p:nvPr/>
        </p:nvSpPr>
        <p:spPr>
          <a:xfrm xmlns:a="http://schemas.openxmlformats.org/drawingml/2006/main">
            <a:off x="8134350" y="0"/>
            <a:ext cx="4057650" cy="6858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2FCFC9C-D433-467B-9C04-1E4557B94AD3}"/>
              </a:ext>
            </a:extLst>
          </p:cNvPr>
          <p:cNvSpPr>
            <a:spLocks xmlns:a="http://schemas.openxmlformats.org/drawingml/2006/main" noGrp="1"/>
          </p:cNvSpPr>
          <p:nvPr/>
        </p:nvSpPr>
        <p:spPr>
          <a:xfrm xmlns:a="http://schemas.openxmlformats.org/drawingml/2006/main">
            <a:off x="8572500" y="23622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000000"/>
                </a:solidFill>
              </a:defRPr>
            </a:pPr>
            <a:r>
              <a:rPr sz="2100" b="1" i="0">
                <a:solidFill>
                  <a:srgbClr val="000000"/>
                </a:solidFill>
              </a:rPr>
              <a:t>Research only</a:t>
            </a:r>
          </a:p>
        </p:txBody>
      </p:sp>
      <p:sp>
        <p:nvSpPr>
          <p:cNvPr id="8" name="">
            <a:extLst xmlns:a="http://schemas.openxmlformats.org/drawingml/2006/main">
              <a:ext uri="{FF2B5EF4-FFF2-40B4-BE49-F238E27FC236}">
                <a16:creationId xmlns:a16="http://schemas.microsoft.com/office/drawing/2014/main" id="{CEEF37DF-A642-4C69-B453-2DB6269D7AB9}"/>
              </a:ext>
            </a:extLst>
          </p:cNvPr>
          <p:cNvSpPr>
            <a:spLocks xmlns:a="http://schemas.openxmlformats.org/drawingml/2006/main" noGrp="1"/>
          </p:cNvSpPr>
          <p:nvPr/>
        </p:nvSpPr>
        <p:spPr>
          <a:xfrm xmlns:a="http://schemas.openxmlformats.org/drawingml/2006/main">
            <a:off x="8572500" y="3009900"/>
            <a:ext cx="257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222222"/>
                </a:solidFill>
              </a:defRPr>
            </a:pPr>
            <a:r>
              <a:rPr sz="1800" b="0" i="0">
                <a:solidFill>
                  <a:srgbClr val="222222"/>
                </a:solidFill>
              </a:rPr>
              <a:t>No model fit</a:t>
            </a:r>
          </a:p>
          <a:p xmlns:a="http://schemas.openxmlformats.org/drawingml/2006/main">
            <a:pPr algn="l">
              <a:defRPr sz="1800" b="0" i="0">
                <a:solidFill>
                  <a:srgbClr val="222222"/>
                </a:solidFill>
              </a:defRPr>
            </a:pPr>
            <a:r>
              <a:rPr sz="1800" b="0" i="0">
                <a:solidFill>
                  <a:srgbClr val="222222"/>
                </a:solidFill>
              </a:rPr>
              <a:t>No live bridge change</a:t>
            </a:r>
          </a:p>
          <a:p xmlns:a="http://schemas.openxmlformats.org/drawingml/2006/main">
            <a:pPr algn="l">
              <a:defRPr sz="1800" b="0" i="0">
                <a:solidFill>
                  <a:srgbClr val="222222"/>
                </a:solidFill>
              </a:defRPr>
            </a:pPr>
            <a:r>
              <a:rPr sz="1800" b="0" i="0">
                <a:solidFill>
                  <a:srgbClr val="222222"/>
                </a:solidFill>
              </a:rPr>
              <a:t>No allocation evidence</a:t>
            </a:r>
          </a:p>
        </p:txBody>
      </p:sp>
    </p:spTree>
    <p:extLst>
      <p:ext uri="{BB962C8B-B14F-4D97-AF65-F5344CB8AC3E}">
        <p14:creationId xmlns:p14="http://schemas.microsoft.com/office/powerpoint/2010/main" val="4644196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D049490-8861-4F41-9281-726553F743CA}"/>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22F69975-C9A8-4AC1-A16B-1C681B9CCED2}"/>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PCA work taught us where to aim the ML fork</a:t>
            </a:r>
          </a:p>
        </p:txBody>
      </p:sp>
      <p:sp>
        <p:nvSpPr>
          <p:cNvPr id="3" name="">
            <a:extLst xmlns:a="http://schemas.openxmlformats.org/drawingml/2006/main">
              <a:ext uri="{FF2B5EF4-FFF2-40B4-BE49-F238E27FC236}">
                <a16:creationId xmlns:a16="http://schemas.microsoft.com/office/drawing/2014/main" id="{E07EFAB0-699D-4E0A-B3D0-934DDE090FC2}"/>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81D741F-B03E-4545-A526-45B5AB350C63}"/>
              </a:ext>
            </a:extLst>
          </p:cNvPr>
          <p:cNvSpPr>
            <a:spLocks xmlns:a="http://schemas.openxmlformats.org/drawingml/2006/main" noGrp="1"/>
          </p:cNvSpPr>
          <p:nvPr/>
        </p:nvSpPr>
        <p:spPr>
          <a:xfrm xmlns:a="http://schemas.openxmlformats.org/drawingml/2006/main">
            <a:off x="876300" y="21050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5" name="">
            <a:extLst xmlns:a="http://schemas.openxmlformats.org/drawingml/2006/main">
              <a:ext uri="{FF2B5EF4-FFF2-40B4-BE49-F238E27FC236}">
                <a16:creationId xmlns:a16="http://schemas.microsoft.com/office/drawing/2014/main" id="{E04B20A1-64C0-4512-BA1B-63B76BB49F09}"/>
              </a:ext>
            </a:extLst>
          </p:cNvPr>
          <p:cNvSpPr>
            <a:spLocks xmlns:a="http://schemas.openxmlformats.org/drawingml/2006/main" noGrp="1"/>
          </p:cNvSpPr>
          <p:nvPr/>
        </p:nvSpPr>
        <p:spPr>
          <a:xfrm xmlns:a="http://schemas.openxmlformats.org/drawingml/2006/main">
            <a:off x="1143000" y="209550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PCA states contained useful exposure information, especially in state-only diagnostics.</a:t>
            </a:r>
          </a:p>
        </p:txBody>
      </p:sp>
      <p:sp>
        <p:nvSpPr>
          <p:cNvPr id="6" name="">
            <a:extLst xmlns:a="http://schemas.openxmlformats.org/drawingml/2006/main">
              <a:ext uri="{FF2B5EF4-FFF2-40B4-BE49-F238E27FC236}">
                <a16:creationId xmlns:a16="http://schemas.microsoft.com/office/drawing/2014/main" id="{15C2AA6B-E140-45A6-90E3-FC83D8715E2C}"/>
              </a:ext>
            </a:extLst>
          </p:cNvPr>
          <p:cNvSpPr>
            <a:spLocks xmlns:a="http://schemas.openxmlformats.org/drawingml/2006/main" noGrp="1"/>
          </p:cNvSpPr>
          <p:nvPr/>
        </p:nvSpPr>
        <p:spPr>
          <a:xfrm xmlns:a="http://schemas.openxmlformats.org/drawingml/2006/main">
            <a:off x="876300" y="29622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7" name="">
            <a:extLst xmlns:a="http://schemas.openxmlformats.org/drawingml/2006/main">
              <a:ext uri="{FF2B5EF4-FFF2-40B4-BE49-F238E27FC236}">
                <a16:creationId xmlns:a16="http://schemas.microsoft.com/office/drawing/2014/main" id="{B7AD6B99-E7F4-4A9F-AF3C-DD7F5704A319}"/>
              </a:ext>
            </a:extLst>
          </p:cNvPr>
          <p:cNvSpPr>
            <a:spLocks xmlns:a="http://schemas.openxmlformats.org/drawingml/2006/main" noGrp="1"/>
          </p:cNvSpPr>
          <p:nvPr/>
        </p:nvSpPr>
        <p:spPr>
          <a:xfrm xmlns:a="http://schemas.openxmlformats.org/drawingml/2006/main">
            <a:off x="1143000" y="295275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The same states still overparticipated in 2022 and missed too much early upside in rebound windows.</a:t>
            </a:r>
          </a:p>
        </p:txBody>
      </p:sp>
      <p:sp>
        <p:nvSpPr>
          <p:cNvPr id="8" name="">
            <a:extLst xmlns:a="http://schemas.openxmlformats.org/drawingml/2006/main">
              <a:ext uri="{FF2B5EF4-FFF2-40B4-BE49-F238E27FC236}">
                <a16:creationId xmlns:a16="http://schemas.microsoft.com/office/drawing/2014/main" id="{CD21420D-DDA9-4D84-A376-292775DAFB9A}"/>
              </a:ext>
            </a:extLst>
          </p:cNvPr>
          <p:cNvSpPr>
            <a:spLocks xmlns:a="http://schemas.openxmlformats.org/drawingml/2006/main" noGrp="1"/>
          </p:cNvSpPr>
          <p:nvPr/>
        </p:nvSpPr>
        <p:spPr>
          <a:xfrm xmlns:a="http://schemas.openxmlformats.org/drawingml/2006/main">
            <a:off x="876300" y="38195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9" name="">
            <a:extLst xmlns:a="http://schemas.openxmlformats.org/drawingml/2006/main">
              <a:ext uri="{FF2B5EF4-FFF2-40B4-BE49-F238E27FC236}">
                <a16:creationId xmlns:a16="http://schemas.microsoft.com/office/drawing/2014/main" id="{1A69B65D-B46C-49A9-8EC0-E71EC9CCABC1}"/>
              </a:ext>
            </a:extLst>
          </p:cNvPr>
          <p:cNvSpPr>
            <a:spLocks xmlns:a="http://schemas.openxmlformats.org/drawingml/2006/main" noGrp="1"/>
          </p:cNvSpPr>
          <p:nvPr/>
        </p:nvSpPr>
        <p:spPr>
          <a:xfrm xmlns:a="http://schemas.openxmlformats.org/drawingml/2006/main">
            <a:off x="1143000" y="381000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Gen5.4 asks the daily exposure question directly instead of routing through a technical strategy first.</a:t>
            </a:r>
          </a:p>
        </p:txBody>
      </p:sp>
      <p:sp>
        <p:nvSpPr>
          <p:cNvPr id="10" name="">
            <a:extLst xmlns:a="http://schemas.openxmlformats.org/drawingml/2006/main">
              <a:ext uri="{FF2B5EF4-FFF2-40B4-BE49-F238E27FC236}">
                <a16:creationId xmlns:a16="http://schemas.microsoft.com/office/drawing/2014/main" id="{6E3277D3-6135-45A7-8351-6A385B3455A0}"/>
              </a:ext>
            </a:extLst>
          </p:cNvPr>
          <p:cNvSpPr>
            <a:spLocks xmlns:a="http://schemas.openxmlformats.org/drawingml/2006/main" noGrp="1"/>
          </p:cNvSpPr>
          <p:nvPr/>
        </p:nvSpPr>
        <p:spPr>
          <a:xfrm xmlns:a="http://schemas.openxmlformats.org/drawingml/2006/main">
            <a:off x="6191250" y="2095500"/>
            <a:ext cx="4762500" cy="609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DE1F8358-2545-4DD1-91DC-F1A749DB5790}"/>
              </a:ext>
            </a:extLst>
          </p:cNvPr>
          <p:cNvSpPr>
            <a:spLocks xmlns:a="http://schemas.openxmlformats.org/drawingml/2006/main" noGrp="1"/>
          </p:cNvSpPr>
          <p:nvPr/>
        </p:nvSpPr>
        <p:spPr>
          <a:xfrm xmlns:a="http://schemas.openxmlformats.org/drawingml/2006/main">
            <a:off x="6191250" y="3162300"/>
            <a:ext cx="4762500" cy="609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6A64F77-6F7A-4CDA-8E5F-210CAD661F64}"/>
              </a:ext>
            </a:extLst>
          </p:cNvPr>
          <p:cNvSpPr>
            <a:spLocks xmlns:a="http://schemas.openxmlformats.org/drawingml/2006/main" noGrp="1"/>
          </p:cNvSpPr>
          <p:nvPr/>
        </p:nvSpPr>
        <p:spPr>
          <a:xfrm xmlns:a="http://schemas.openxmlformats.org/drawingml/2006/main">
            <a:off x="6191250" y="4229100"/>
            <a:ext cx="4762500" cy="609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97C788A-73E6-4F2F-BACD-C46250EF5D54}"/>
              </a:ext>
            </a:extLst>
          </p:cNvPr>
          <p:cNvSpPr>
            <a:spLocks xmlns:a="http://schemas.openxmlformats.org/drawingml/2006/main" noGrp="1"/>
          </p:cNvSpPr>
          <p:nvPr/>
        </p:nvSpPr>
        <p:spPr>
          <a:xfrm xmlns:a="http://schemas.openxmlformats.org/drawingml/2006/main">
            <a:off x="6534150" y="22669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222222"/>
                </a:solidFill>
              </a:defRPr>
            </a:pPr>
            <a:r>
              <a:rPr sz="1800" b="1" i="0">
                <a:solidFill>
                  <a:srgbClr val="222222"/>
                </a:solidFill>
              </a:rPr>
              <a:t>OHLCV feature table</a:t>
            </a:r>
          </a:p>
        </p:txBody>
      </p:sp>
      <p:sp>
        <p:nvSpPr>
          <p:cNvPr id="14" name="">
            <a:extLst xmlns:a="http://schemas.openxmlformats.org/drawingml/2006/main">
              <a:ext uri="{FF2B5EF4-FFF2-40B4-BE49-F238E27FC236}">
                <a16:creationId xmlns:a16="http://schemas.microsoft.com/office/drawing/2014/main" id="{58CAFED2-3C24-450C-97F4-D0C434B9130F}"/>
              </a:ext>
            </a:extLst>
          </p:cNvPr>
          <p:cNvSpPr>
            <a:spLocks xmlns:a="http://schemas.openxmlformats.org/drawingml/2006/main" noGrp="1"/>
          </p:cNvSpPr>
          <p:nvPr/>
        </p:nvSpPr>
        <p:spPr>
          <a:xfrm xmlns:a="http://schemas.openxmlformats.org/drawingml/2006/main">
            <a:off x="6534150" y="33337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222222"/>
                </a:solidFill>
              </a:defRPr>
            </a:pPr>
            <a:r>
              <a:rPr sz="1800" b="1" i="0">
                <a:solidFill>
                  <a:srgbClr val="222222"/>
                </a:solidFill>
              </a:rPr>
              <a:t>Supervised h3 label</a:t>
            </a:r>
          </a:p>
        </p:txBody>
      </p:sp>
      <p:sp>
        <p:nvSpPr>
          <p:cNvPr id="15" name="">
            <a:extLst xmlns:a="http://schemas.openxmlformats.org/drawingml/2006/main">
              <a:ext uri="{FF2B5EF4-FFF2-40B4-BE49-F238E27FC236}">
                <a16:creationId xmlns:a16="http://schemas.microsoft.com/office/drawing/2014/main" id="{DE04ED57-257E-4FA2-BFFC-7C1BCFFF02DC}"/>
              </a:ext>
            </a:extLst>
          </p:cNvPr>
          <p:cNvSpPr>
            <a:spLocks xmlns:a="http://schemas.openxmlformats.org/drawingml/2006/main" noGrp="1"/>
          </p:cNvSpPr>
          <p:nvPr/>
        </p:nvSpPr>
        <p:spPr>
          <a:xfrm xmlns:a="http://schemas.openxmlformats.org/drawingml/2006/main">
            <a:off x="6534150" y="44005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222222"/>
                </a:solidFill>
              </a:defRPr>
            </a:pPr>
            <a:r>
              <a:rPr sz="1800" b="1" i="0">
                <a:solidFill>
                  <a:srgbClr val="222222"/>
                </a:solidFill>
              </a:rPr>
              <a:t>Daily long/flat policy</a:t>
            </a:r>
          </a:p>
        </p:txBody>
      </p:sp>
      <p:sp>
        <p:nvSpPr>
          <p:cNvPr id="16" name="">
            <a:extLst xmlns:a="http://schemas.openxmlformats.org/drawingml/2006/main">
              <a:ext uri="{FF2B5EF4-FFF2-40B4-BE49-F238E27FC236}">
                <a16:creationId xmlns:a16="http://schemas.microsoft.com/office/drawing/2014/main" id="{F1528A3C-68CD-4C3D-B32D-B822CC68F52D}"/>
              </a:ext>
            </a:extLst>
          </p:cNvPr>
          <p:cNvSpPr>
            <a:spLocks xmlns:a="http://schemas.openxmlformats.org/drawingml/2006/main" noGrp="1"/>
          </p:cNvSpPr>
          <p:nvPr/>
        </p:nvSpPr>
        <p:spPr>
          <a:xfrm xmlns:a="http://schemas.openxmlformats.org/drawingml/2006/main">
            <a:off x="6324600" y="5334000"/>
            <a:ext cx="433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55555"/>
                </a:solidFill>
              </a:defRPr>
            </a:pPr>
            <a:r>
              <a:rPr sz="1500" b="0" i="0">
                <a:solidFill>
                  <a:srgbClr val="555555"/>
                </a:solidFill>
              </a:rPr>
              <a:t>The first build proves the first two boxes only.</a:t>
            </a:r>
          </a:p>
        </p:txBody>
      </p:sp>
    </p:spTree>
    <p:extLst>
      <p:ext uri="{BB962C8B-B14F-4D97-AF65-F5344CB8AC3E}">
        <p14:creationId xmlns:p14="http://schemas.microsoft.com/office/powerpoint/2010/main" val="11924353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03396F-DA32-4816-8940-38659C07149D}"/>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75D120C2-F8FE-4D0E-887D-F527B1BB9F1A}"/>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ML-P0 succeeds only if the table is boringly correct</a:t>
            </a:r>
          </a:p>
        </p:txBody>
      </p:sp>
      <p:sp>
        <p:nvSpPr>
          <p:cNvPr id="3" name="">
            <a:extLst xmlns:a="http://schemas.openxmlformats.org/drawingml/2006/main">
              <a:ext uri="{FF2B5EF4-FFF2-40B4-BE49-F238E27FC236}">
                <a16:creationId xmlns:a16="http://schemas.microsoft.com/office/drawing/2014/main" id="{04B55839-0D19-42C1-AD2B-EFABA534B01B}"/>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D184C5-3F00-4174-9738-0D78FE520DEC}"/>
              </a:ext>
            </a:extLst>
          </p:cNvPr>
          <p:cNvSpPr>
            <a:spLocks xmlns:a="http://schemas.openxmlformats.org/drawingml/2006/main" noGrp="1"/>
          </p:cNvSpPr>
          <p:nvPr/>
        </p:nvSpPr>
        <p:spPr>
          <a:xfrm xmlns:a="http://schemas.openxmlformats.org/drawingml/2006/main">
            <a:off x="876300" y="2190750"/>
            <a:ext cx="2857500"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BAA5D350-446F-4338-8121-DDA419218167}"/>
              </a:ext>
            </a:extLst>
          </p:cNvPr>
          <p:cNvSpPr>
            <a:spLocks xmlns:a="http://schemas.openxmlformats.org/drawingml/2006/main" noGrp="1"/>
          </p:cNvSpPr>
          <p:nvPr/>
        </p:nvSpPr>
        <p:spPr>
          <a:xfrm xmlns:a="http://schemas.openxmlformats.org/drawingml/2006/main">
            <a:off x="1047750" y="23431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USABLE LABELED ROWS</a:t>
            </a:r>
          </a:p>
        </p:txBody>
      </p:sp>
      <p:sp>
        <p:nvSpPr>
          <p:cNvPr id="6" name="">
            <a:extLst xmlns:a="http://schemas.openxmlformats.org/drawingml/2006/main">
              <a:ext uri="{FF2B5EF4-FFF2-40B4-BE49-F238E27FC236}">
                <a16:creationId xmlns:a16="http://schemas.microsoft.com/office/drawing/2014/main" id="{EC60889F-9EB9-4E46-8A64-F78D96EF726F}"/>
              </a:ext>
            </a:extLst>
          </p:cNvPr>
          <p:cNvSpPr>
            <a:spLocks xmlns:a="http://schemas.openxmlformats.org/drawingml/2006/main" noGrp="1"/>
          </p:cNvSpPr>
          <p:nvPr/>
        </p:nvSpPr>
        <p:spPr>
          <a:xfrm xmlns:a="http://schemas.openxmlformats.org/drawingml/2006/main">
            <a:off x="1047750" y="2590800"/>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22,440</a:t>
            </a:r>
          </a:p>
        </p:txBody>
      </p:sp>
      <p:sp>
        <p:nvSpPr>
          <p:cNvPr id="7" name="">
            <a:extLst xmlns:a="http://schemas.openxmlformats.org/drawingml/2006/main">
              <a:ext uri="{FF2B5EF4-FFF2-40B4-BE49-F238E27FC236}">
                <a16:creationId xmlns:a16="http://schemas.microsoft.com/office/drawing/2014/main" id="{99794CCB-E101-4BF9-8570-B4192220BCB5}"/>
              </a:ext>
            </a:extLst>
          </p:cNvPr>
          <p:cNvSpPr>
            <a:spLocks xmlns:a="http://schemas.openxmlformats.org/drawingml/2006/main" noGrp="1"/>
          </p:cNvSpPr>
          <p:nvPr/>
        </p:nvSpPr>
        <p:spPr>
          <a:xfrm xmlns:a="http://schemas.openxmlformats.org/drawingml/2006/main">
            <a:off x="1047750" y="3009900"/>
            <a:ext cx="2514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Rows eligible after fold and horizon filters.</a:t>
            </a:r>
          </a:p>
        </p:txBody>
      </p:sp>
      <p:sp>
        <p:nvSpPr>
          <p:cNvPr id="8" name="">
            <a:extLst xmlns:a="http://schemas.openxmlformats.org/drawingml/2006/main">
              <a:ext uri="{FF2B5EF4-FFF2-40B4-BE49-F238E27FC236}">
                <a16:creationId xmlns:a16="http://schemas.microsoft.com/office/drawing/2014/main" id="{CBF7390F-0004-423A-A813-2E144C0B6BCE}"/>
              </a:ext>
            </a:extLst>
          </p:cNvPr>
          <p:cNvSpPr>
            <a:spLocks xmlns:a="http://schemas.openxmlformats.org/drawingml/2006/main" noGrp="1"/>
          </p:cNvSpPr>
          <p:nvPr/>
        </p:nvSpPr>
        <p:spPr>
          <a:xfrm xmlns:a="http://schemas.openxmlformats.org/drawingml/2006/main">
            <a:off x="4667250" y="2190750"/>
            <a:ext cx="2857500"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352C6F6-F442-4401-A669-5213632792FF}"/>
              </a:ext>
            </a:extLst>
          </p:cNvPr>
          <p:cNvSpPr>
            <a:spLocks xmlns:a="http://schemas.openxmlformats.org/drawingml/2006/main" noGrp="1"/>
          </p:cNvSpPr>
          <p:nvPr/>
        </p:nvSpPr>
        <p:spPr>
          <a:xfrm xmlns:a="http://schemas.openxmlformats.org/drawingml/2006/main">
            <a:off x="4838700" y="23431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SELECTED FEATURES</a:t>
            </a:r>
          </a:p>
        </p:txBody>
      </p:sp>
      <p:sp>
        <p:nvSpPr>
          <p:cNvPr id="10" name="">
            <a:extLst xmlns:a="http://schemas.openxmlformats.org/drawingml/2006/main">
              <a:ext uri="{FF2B5EF4-FFF2-40B4-BE49-F238E27FC236}">
                <a16:creationId xmlns:a16="http://schemas.microsoft.com/office/drawing/2014/main" id="{4DFDECC1-A2D4-4A63-BAD4-6B948F59A89D}"/>
              </a:ext>
            </a:extLst>
          </p:cNvPr>
          <p:cNvSpPr>
            <a:spLocks xmlns:a="http://schemas.openxmlformats.org/drawingml/2006/main" noGrp="1"/>
          </p:cNvSpPr>
          <p:nvPr/>
        </p:nvSpPr>
        <p:spPr>
          <a:xfrm xmlns:a="http://schemas.openxmlformats.org/drawingml/2006/main">
            <a:off x="4838700" y="2590800"/>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40</a:t>
            </a:r>
          </a:p>
        </p:txBody>
      </p:sp>
      <p:sp>
        <p:nvSpPr>
          <p:cNvPr id="11" name="">
            <a:extLst xmlns:a="http://schemas.openxmlformats.org/drawingml/2006/main">
              <a:ext uri="{FF2B5EF4-FFF2-40B4-BE49-F238E27FC236}">
                <a16:creationId xmlns:a16="http://schemas.microsoft.com/office/drawing/2014/main" id="{001E17CE-BED4-4252-AC9F-C4CE0F4CF26A}"/>
              </a:ext>
            </a:extLst>
          </p:cNvPr>
          <p:cNvSpPr>
            <a:spLocks xmlns:a="http://schemas.openxmlformats.org/drawingml/2006/main" noGrp="1"/>
          </p:cNvSpPr>
          <p:nvPr/>
        </p:nvSpPr>
        <p:spPr>
          <a:xfrm xmlns:a="http://schemas.openxmlformats.org/drawingml/2006/main">
            <a:off x="4838700" y="3009900"/>
            <a:ext cx="2514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PCA-inspired plus explicit OHLCV additions.</a:t>
            </a:r>
          </a:p>
        </p:txBody>
      </p:sp>
      <p:sp>
        <p:nvSpPr>
          <p:cNvPr id="12" name="">
            <a:extLst xmlns:a="http://schemas.openxmlformats.org/drawingml/2006/main">
              <a:ext uri="{FF2B5EF4-FFF2-40B4-BE49-F238E27FC236}">
                <a16:creationId xmlns:a16="http://schemas.microsoft.com/office/drawing/2014/main" id="{1CFE8A20-A0F2-4704-A8D1-1136F50E6D8E}"/>
              </a:ext>
            </a:extLst>
          </p:cNvPr>
          <p:cNvSpPr>
            <a:spLocks xmlns:a="http://schemas.openxmlformats.org/drawingml/2006/main" noGrp="1"/>
          </p:cNvSpPr>
          <p:nvPr/>
        </p:nvSpPr>
        <p:spPr>
          <a:xfrm xmlns:a="http://schemas.openxmlformats.org/drawingml/2006/main">
            <a:off x="8458200" y="2190750"/>
            <a:ext cx="2857500"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C086E16D-EA4F-4B9F-ADF9-E4BFB9E138E6}"/>
              </a:ext>
            </a:extLst>
          </p:cNvPr>
          <p:cNvSpPr>
            <a:spLocks xmlns:a="http://schemas.openxmlformats.org/drawingml/2006/main" noGrp="1"/>
          </p:cNvSpPr>
          <p:nvPr/>
        </p:nvSpPr>
        <p:spPr>
          <a:xfrm xmlns:a="http://schemas.openxmlformats.org/drawingml/2006/main">
            <a:off x="8629650" y="23431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LEAKAGE AUDIT</a:t>
            </a:r>
          </a:p>
        </p:txBody>
      </p:sp>
      <p:sp>
        <p:nvSpPr>
          <p:cNvPr id="14" name="">
            <a:extLst xmlns:a="http://schemas.openxmlformats.org/drawingml/2006/main">
              <a:ext uri="{FF2B5EF4-FFF2-40B4-BE49-F238E27FC236}">
                <a16:creationId xmlns:a16="http://schemas.microsoft.com/office/drawing/2014/main" id="{BE505779-3B81-4747-9158-F6387FC86B4E}"/>
              </a:ext>
            </a:extLst>
          </p:cNvPr>
          <p:cNvSpPr>
            <a:spLocks xmlns:a="http://schemas.openxmlformats.org/drawingml/2006/main" noGrp="1"/>
          </p:cNvSpPr>
          <p:nvPr/>
        </p:nvSpPr>
        <p:spPr>
          <a:xfrm xmlns:a="http://schemas.openxmlformats.org/drawingml/2006/main">
            <a:off x="8629650" y="2590800"/>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All PASS</a:t>
            </a:r>
          </a:p>
        </p:txBody>
      </p:sp>
      <p:sp>
        <p:nvSpPr>
          <p:cNvPr id="15" name="">
            <a:extLst xmlns:a="http://schemas.openxmlformats.org/drawingml/2006/main">
              <a:ext uri="{FF2B5EF4-FFF2-40B4-BE49-F238E27FC236}">
                <a16:creationId xmlns:a16="http://schemas.microsoft.com/office/drawing/2014/main" id="{58D448CC-1252-4777-8B83-1636CEB09083}"/>
              </a:ext>
            </a:extLst>
          </p:cNvPr>
          <p:cNvSpPr>
            <a:spLocks xmlns:a="http://schemas.openxmlformats.org/drawingml/2006/main" noGrp="1"/>
          </p:cNvSpPr>
          <p:nvPr/>
        </p:nvSpPr>
        <p:spPr>
          <a:xfrm xmlns:a="http://schemas.openxmlformats.org/drawingml/2006/main">
            <a:off x="8629650" y="3009900"/>
            <a:ext cx="2514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TRAIN labels stay inside TRAIN; OOS labels stay inside OOS.</a:t>
            </a:r>
          </a:p>
        </p:txBody>
      </p:sp>
      <p:sp>
        <p:nvSpPr>
          <p:cNvPr id="16" name="">
            <a:extLst xmlns:a="http://schemas.openxmlformats.org/drawingml/2006/main">
              <a:ext uri="{FF2B5EF4-FFF2-40B4-BE49-F238E27FC236}">
                <a16:creationId xmlns:a16="http://schemas.microsoft.com/office/drawing/2014/main" id="{1B7E3366-5FB4-4759-89DA-B091077678CF}"/>
              </a:ext>
            </a:extLst>
          </p:cNvPr>
          <p:cNvSpPr>
            <a:spLocks xmlns:a="http://schemas.openxmlformats.org/drawingml/2006/main" noGrp="1"/>
          </p:cNvSpPr>
          <p:nvPr/>
        </p:nvSpPr>
        <p:spPr>
          <a:xfrm xmlns:a="http://schemas.openxmlformats.org/drawingml/2006/main">
            <a:off x="1181100" y="41052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7" name="">
            <a:extLst xmlns:a="http://schemas.openxmlformats.org/drawingml/2006/main">
              <a:ext uri="{FF2B5EF4-FFF2-40B4-BE49-F238E27FC236}">
                <a16:creationId xmlns:a16="http://schemas.microsoft.com/office/drawing/2014/main" id="{5B111745-5AD9-478B-8EC7-0C599A40F738}"/>
              </a:ext>
            </a:extLst>
          </p:cNvPr>
          <p:cNvSpPr>
            <a:spLocks xmlns:a="http://schemas.openxmlformats.org/drawingml/2006/main" noGrp="1"/>
          </p:cNvSpPr>
          <p:nvPr/>
        </p:nvSpPr>
        <p:spPr>
          <a:xfrm xmlns:a="http://schemas.openxmlformats.org/drawingml/2006/main">
            <a:off x="1447800" y="409575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Features are known after close t.</a:t>
            </a:r>
          </a:p>
        </p:txBody>
      </p:sp>
      <p:sp>
        <p:nvSpPr>
          <p:cNvPr id="18" name="">
            <a:extLst xmlns:a="http://schemas.openxmlformats.org/drawingml/2006/main">
              <a:ext uri="{FF2B5EF4-FFF2-40B4-BE49-F238E27FC236}">
                <a16:creationId xmlns:a16="http://schemas.microsoft.com/office/drawing/2014/main" id="{510F93A9-2712-4E03-B83B-D371C3941C4B}"/>
              </a:ext>
            </a:extLst>
          </p:cNvPr>
          <p:cNvSpPr>
            <a:spLocks xmlns:a="http://schemas.openxmlformats.org/drawingml/2006/main" noGrp="1"/>
          </p:cNvSpPr>
          <p:nvPr/>
        </p:nvSpPr>
        <p:spPr>
          <a:xfrm xmlns:a="http://schemas.openxmlformats.org/drawingml/2006/main">
            <a:off x="1181100" y="46767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9" name="">
            <a:extLst xmlns:a="http://schemas.openxmlformats.org/drawingml/2006/main">
              <a:ext uri="{FF2B5EF4-FFF2-40B4-BE49-F238E27FC236}">
                <a16:creationId xmlns:a16="http://schemas.microsoft.com/office/drawing/2014/main" id="{1C363D8B-8C13-4CDD-85BE-86C8713AA692}"/>
              </a:ext>
            </a:extLst>
          </p:cNvPr>
          <p:cNvSpPr>
            <a:spLocks xmlns:a="http://schemas.openxmlformats.org/drawingml/2006/main" noGrp="1"/>
          </p:cNvSpPr>
          <p:nvPr/>
        </p:nvSpPr>
        <p:spPr>
          <a:xfrm xmlns:a="http://schemas.openxmlformats.org/drawingml/2006/main">
            <a:off x="1447800" y="466725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Hypothetical execution starts at next open.</a:t>
            </a:r>
          </a:p>
        </p:txBody>
      </p:sp>
      <p:sp>
        <p:nvSpPr>
          <p:cNvPr id="20" name="">
            <a:extLst xmlns:a="http://schemas.openxmlformats.org/drawingml/2006/main">
              <a:ext uri="{FF2B5EF4-FFF2-40B4-BE49-F238E27FC236}">
                <a16:creationId xmlns:a16="http://schemas.microsoft.com/office/drawing/2014/main" id="{365CE471-95ED-439E-9B47-C8068193BCB5}"/>
              </a:ext>
            </a:extLst>
          </p:cNvPr>
          <p:cNvSpPr>
            <a:spLocks xmlns:a="http://schemas.openxmlformats.org/drawingml/2006/main" noGrp="1"/>
          </p:cNvSpPr>
          <p:nvPr/>
        </p:nvSpPr>
        <p:spPr>
          <a:xfrm xmlns:a="http://schemas.openxmlformats.org/drawingml/2006/main">
            <a:off x="6191250" y="41052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21" name="">
            <a:extLst xmlns:a="http://schemas.openxmlformats.org/drawingml/2006/main">
              <a:ext uri="{FF2B5EF4-FFF2-40B4-BE49-F238E27FC236}">
                <a16:creationId xmlns:a16="http://schemas.microsoft.com/office/drawing/2014/main" id="{482133E8-E56A-49F0-B430-6BB90118DE6A}"/>
              </a:ext>
            </a:extLst>
          </p:cNvPr>
          <p:cNvSpPr>
            <a:spLocks xmlns:a="http://schemas.openxmlformats.org/drawingml/2006/main" noGrp="1"/>
          </p:cNvSpPr>
          <p:nvPr/>
        </p:nvSpPr>
        <p:spPr>
          <a:xfrm xmlns:a="http://schemas.openxmlformats.org/drawingml/2006/main">
            <a:off x="6457950" y="409575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The h3 label ends at close three sessions later.</a:t>
            </a:r>
          </a:p>
        </p:txBody>
      </p:sp>
      <p:sp>
        <p:nvSpPr>
          <p:cNvPr id="22" name="">
            <a:extLst xmlns:a="http://schemas.openxmlformats.org/drawingml/2006/main">
              <a:ext uri="{FF2B5EF4-FFF2-40B4-BE49-F238E27FC236}">
                <a16:creationId xmlns:a16="http://schemas.microsoft.com/office/drawing/2014/main" id="{8CADA75D-D9CD-49EB-9018-32C478A944EE}"/>
              </a:ext>
            </a:extLst>
          </p:cNvPr>
          <p:cNvSpPr>
            <a:spLocks xmlns:a="http://schemas.openxmlformats.org/drawingml/2006/main" noGrp="1"/>
          </p:cNvSpPr>
          <p:nvPr/>
        </p:nvSpPr>
        <p:spPr>
          <a:xfrm xmlns:a="http://schemas.openxmlformats.org/drawingml/2006/main">
            <a:off x="6191250" y="46767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23" name="">
            <a:extLst xmlns:a="http://schemas.openxmlformats.org/drawingml/2006/main">
              <a:ext uri="{FF2B5EF4-FFF2-40B4-BE49-F238E27FC236}">
                <a16:creationId xmlns:a16="http://schemas.microsoft.com/office/drawing/2014/main" id="{CF283583-C8B8-431C-921E-0D40B81B07CE}"/>
              </a:ext>
            </a:extLst>
          </p:cNvPr>
          <p:cNvSpPr>
            <a:spLocks xmlns:a="http://schemas.openxmlformats.org/drawingml/2006/main" noGrp="1"/>
          </p:cNvSpPr>
          <p:nvPr/>
        </p:nvSpPr>
        <p:spPr>
          <a:xfrm xmlns:a="http://schemas.openxmlformats.org/drawingml/2006/main">
            <a:off x="6457950" y="466725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Rows without a complete horizon are excluded from the proof table.</a:t>
            </a:r>
          </a:p>
        </p:txBody>
      </p:sp>
    </p:spTree>
    <p:extLst>
      <p:ext uri="{BB962C8B-B14F-4D97-AF65-F5344CB8AC3E}">
        <p14:creationId xmlns:p14="http://schemas.microsoft.com/office/powerpoint/2010/main" val="7953456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A1C4C0-EBFE-4281-AF30-862F3601EDDB}"/>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30900479-3637-4A37-BE2C-EDFD2D289E1C}"/>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fold calendar makes the leakage rule visible</a:t>
            </a:r>
          </a:p>
        </p:txBody>
      </p:sp>
      <p:sp>
        <p:nvSpPr>
          <p:cNvPr id="3" name="">
            <a:extLst xmlns:a="http://schemas.openxmlformats.org/drawingml/2006/main">
              <a:ext uri="{FF2B5EF4-FFF2-40B4-BE49-F238E27FC236}">
                <a16:creationId xmlns:a16="http://schemas.microsoft.com/office/drawing/2014/main" id="{FFF70DBA-EC45-468B-AB38-5442FBFAD6F5}"/>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567a2b632454056"/>
          <a:stretch xmlns:a="http://schemas.openxmlformats.org/drawingml/2006/main"/>
        </p:blipFill>
        <p:spPr>
          <a:xfrm xmlns:a="http://schemas.openxmlformats.org/drawingml/2006/main">
            <a:off x="838200" y="2038350"/>
            <a:ext cx="7239000" cy="3619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2023B79-395C-44C7-88CD-5AFA6ECED22D}"/>
              </a:ext>
            </a:extLst>
          </p:cNvPr>
          <p:cNvSpPr>
            <a:spLocks xmlns:a="http://schemas.openxmlformats.org/drawingml/2006/main" noGrp="1"/>
          </p:cNvSpPr>
          <p:nvPr/>
        </p:nvSpPr>
        <p:spPr>
          <a:xfrm xmlns:a="http://schemas.openxmlformats.org/drawingml/2006/main">
            <a:off x="8629650" y="21336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Why it matters</a:t>
            </a:r>
          </a:p>
        </p:txBody>
      </p:sp>
      <p:sp>
        <p:nvSpPr>
          <p:cNvPr id="6" name="">
            <a:extLst xmlns:a="http://schemas.openxmlformats.org/drawingml/2006/main">
              <a:ext uri="{FF2B5EF4-FFF2-40B4-BE49-F238E27FC236}">
                <a16:creationId xmlns:a16="http://schemas.microsoft.com/office/drawing/2014/main" id="{EF781F2F-B6D7-4262-8731-6CC576652B98}"/>
              </a:ext>
            </a:extLst>
          </p:cNvPr>
          <p:cNvSpPr>
            <a:spLocks xmlns:a="http://schemas.openxmlformats.org/drawingml/2006/main" noGrp="1"/>
          </p:cNvSpPr>
          <p:nvPr/>
        </p:nvSpPr>
        <p:spPr>
          <a:xfrm xmlns:a="http://schemas.openxmlformats.org/drawingml/2006/main">
            <a:off x="8629650" y="2628900"/>
            <a:ext cx="238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A TRAIN example is not eligible unless its future h3 label finishes before the TRAIN/OOS boundary. OOS labels are allowed for inspection, but they never feed model fitting or threshold choice.</a:t>
            </a:r>
          </a:p>
        </p:txBody>
      </p:sp>
    </p:spTree>
    <p:extLst>
      <p:ext uri="{BB962C8B-B14F-4D97-AF65-F5344CB8AC3E}">
        <p14:creationId xmlns:p14="http://schemas.microsoft.com/office/powerpoint/2010/main" val="21079480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149011-1C12-4ECE-82F4-5D54D0D50365}"/>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5DEF2192-026F-4A93-864E-149B7F93F454}"/>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OHLCV adds information that close-to-close would discard</a:t>
            </a:r>
          </a:p>
        </p:txBody>
      </p:sp>
      <p:sp>
        <p:nvSpPr>
          <p:cNvPr id="3" name="">
            <a:extLst xmlns:a="http://schemas.openxmlformats.org/drawingml/2006/main">
              <a:ext uri="{FF2B5EF4-FFF2-40B4-BE49-F238E27FC236}">
                <a16:creationId xmlns:a16="http://schemas.microsoft.com/office/drawing/2014/main" id="{17944314-9D27-4A1C-8445-4F69A6EDD13A}"/>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e8747974b8044ea"/>
          <a:stretch xmlns:a="http://schemas.openxmlformats.org/drawingml/2006/main"/>
        </p:blipFill>
        <p:spPr>
          <a:xfrm xmlns:a="http://schemas.openxmlformats.org/drawingml/2006/main">
            <a:off x="742950" y="2257791"/>
            <a:ext cx="5810250" cy="335206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F90201F-F256-4B5E-BDD3-33FBC931E556}"/>
              </a:ext>
            </a:extLst>
          </p:cNvPr>
          <p:cNvSpPr>
            <a:spLocks xmlns:a="http://schemas.openxmlformats.org/drawingml/2006/main" noGrp="1"/>
          </p:cNvSpPr>
          <p:nvPr/>
        </p:nvSpPr>
        <p:spPr>
          <a:xfrm xmlns:a="http://schemas.openxmlformats.org/drawingml/2006/main">
            <a:off x="7048500" y="209550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000000"/>
                </a:solidFill>
              </a:defRPr>
            </a:pPr>
            <a:r>
              <a:rPr sz="2100" b="1" i="0">
                <a:solidFill>
                  <a:srgbClr val="000000"/>
                </a:solidFill>
              </a:rPr>
              <a:t>The first feature table is complete enough to model from.</a:t>
            </a:r>
          </a:p>
        </p:txBody>
      </p:sp>
      <p:sp>
        <p:nvSpPr>
          <p:cNvPr id="6" name="">
            <a:extLst xmlns:a="http://schemas.openxmlformats.org/drawingml/2006/main">
              <a:ext uri="{FF2B5EF4-FFF2-40B4-BE49-F238E27FC236}">
                <a16:creationId xmlns:a16="http://schemas.microsoft.com/office/drawing/2014/main" id="{405CCA6E-AEF0-4431-B5F3-AC1BFB059B58}"/>
              </a:ext>
            </a:extLst>
          </p:cNvPr>
          <p:cNvSpPr>
            <a:spLocks xmlns:a="http://schemas.openxmlformats.org/drawingml/2006/main" noGrp="1"/>
          </p:cNvSpPr>
          <p:nvPr/>
        </p:nvSpPr>
        <p:spPr>
          <a:xfrm xmlns:a="http://schemas.openxmlformats.org/drawingml/2006/main">
            <a:off x="7067550" y="30956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6B35"/>
                </a:solidFill>
              </a:defRPr>
            </a:pPr>
            <a:r>
              <a:rPr sz="1500" b="1" i="0">
                <a:solidFill>
                  <a:srgbClr val="FF6B35"/>
                </a:solidFill>
              </a:rPr>
              <a:t>-</a:t>
            </a:r>
          </a:p>
        </p:txBody>
      </p:sp>
      <p:sp>
        <p:nvSpPr>
          <p:cNvPr id="7" name="">
            <a:extLst xmlns:a="http://schemas.openxmlformats.org/drawingml/2006/main">
              <a:ext uri="{FF2B5EF4-FFF2-40B4-BE49-F238E27FC236}">
                <a16:creationId xmlns:a16="http://schemas.microsoft.com/office/drawing/2014/main" id="{E5F75E49-46A0-4998-8458-CFD167873384}"/>
              </a:ext>
            </a:extLst>
          </p:cNvPr>
          <p:cNvSpPr>
            <a:spLocks xmlns:a="http://schemas.openxmlformats.org/drawingml/2006/main" noGrp="1"/>
          </p:cNvSpPr>
          <p:nvPr/>
        </p:nvSpPr>
        <p:spPr>
          <a:xfrm xmlns:a="http://schemas.openxmlformats.org/drawingml/2006/main">
            <a:off x="7334250" y="3086100"/>
            <a:ext cx="3448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222222"/>
                </a:solidFill>
              </a:defRPr>
            </a:pPr>
            <a:r>
              <a:rPr sz="1500" b="0" i="0">
                <a:solidFill>
                  <a:srgbClr val="222222"/>
                </a:solidFill>
              </a:rPr>
              <a:t>Candle body, wick, gap, range, and volume features are populated across both windows.</a:t>
            </a:r>
          </a:p>
        </p:txBody>
      </p:sp>
      <p:sp>
        <p:nvSpPr>
          <p:cNvPr id="8" name="">
            <a:extLst xmlns:a="http://schemas.openxmlformats.org/drawingml/2006/main">
              <a:ext uri="{FF2B5EF4-FFF2-40B4-BE49-F238E27FC236}">
                <a16:creationId xmlns:a16="http://schemas.microsoft.com/office/drawing/2014/main" id="{087DF7CB-C511-4711-BD9F-5F4389B0949B}"/>
              </a:ext>
            </a:extLst>
          </p:cNvPr>
          <p:cNvSpPr>
            <a:spLocks xmlns:a="http://schemas.openxmlformats.org/drawingml/2006/main" noGrp="1"/>
          </p:cNvSpPr>
          <p:nvPr/>
        </p:nvSpPr>
        <p:spPr>
          <a:xfrm xmlns:a="http://schemas.openxmlformats.org/drawingml/2006/main">
            <a:off x="7067550" y="40671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6B35"/>
                </a:solidFill>
              </a:defRPr>
            </a:pPr>
            <a:r>
              <a:rPr sz="1500" b="1" i="0">
                <a:solidFill>
                  <a:srgbClr val="FF6B35"/>
                </a:solidFill>
              </a:rPr>
              <a:t>-</a:t>
            </a:r>
          </a:p>
        </p:txBody>
      </p:sp>
      <p:sp>
        <p:nvSpPr>
          <p:cNvPr id="9" name="">
            <a:extLst xmlns:a="http://schemas.openxmlformats.org/drawingml/2006/main">
              <a:ext uri="{FF2B5EF4-FFF2-40B4-BE49-F238E27FC236}">
                <a16:creationId xmlns:a16="http://schemas.microsoft.com/office/drawing/2014/main" id="{30684163-3E55-499C-B609-EC806FE3133D}"/>
              </a:ext>
            </a:extLst>
          </p:cNvPr>
          <p:cNvSpPr>
            <a:spLocks xmlns:a="http://schemas.openxmlformats.org/drawingml/2006/main" noGrp="1"/>
          </p:cNvSpPr>
          <p:nvPr/>
        </p:nvSpPr>
        <p:spPr>
          <a:xfrm xmlns:a="http://schemas.openxmlformats.org/drawingml/2006/main">
            <a:off x="7334250" y="4057650"/>
            <a:ext cx="3448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222222"/>
                </a:solidFill>
              </a:defRPr>
            </a:pPr>
            <a:r>
              <a:rPr sz="1500" b="0" i="0">
                <a:solidFill>
                  <a:srgbClr val="222222"/>
                </a:solidFill>
              </a:rPr>
              <a:t>This does not prove alpha. It proves the supervised surface is technically usable.</a:t>
            </a:r>
          </a:p>
        </p:txBody>
      </p:sp>
    </p:spTree>
    <p:extLst>
      <p:ext uri="{BB962C8B-B14F-4D97-AF65-F5344CB8AC3E}">
        <p14:creationId xmlns:p14="http://schemas.microsoft.com/office/powerpoint/2010/main" val="14146478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51900E-43C1-4E0F-BB10-5909B379F7AF}"/>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24297436-58A2-45AD-856C-FCC4339940CC}"/>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h3 target is balanced enough for a first model test</a:t>
            </a:r>
          </a:p>
        </p:txBody>
      </p:sp>
      <p:sp>
        <p:nvSpPr>
          <p:cNvPr id="3" name="">
            <a:extLst xmlns:a="http://schemas.openxmlformats.org/drawingml/2006/main">
              <a:ext uri="{FF2B5EF4-FFF2-40B4-BE49-F238E27FC236}">
                <a16:creationId xmlns:a16="http://schemas.microsoft.com/office/drawing/2014/main" id="{DC5CB0FE-B6FD-4657-90F1-EF5B0E6E5521}"/>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b0b07f2e7e14e52"/>
          <a:stretch xmlns:a="http://schemas.openxmlformats.org/drawingml/2006/main"/>
        </p:blipFill>
        <p:spPr>
          <a:xfrm xmlns:a="http://schemas.openxmlformats.org/drawingml/2006/main">
            <a:off x="723900" y="2423716"/>
            <a:ext cx="5048250" cy="2734469"/>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1556078943a4bc6"/>
          <a:stretch xmlns:a="http://schemas.openxmlformats.org/drawingml/2006/main"/>
        </p:blipFill>
        <p:spPr>
          <a:xfrm xmlns:a="http://schemas.openxmlformats.org/drawingml/2006/main">
            <a:off x="6191250" y="2505075"/>
            <a:ext cx="5143500" cy="2571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7495827-44D8-4D1E-B63E-FF283A6EEF7F}"/>
              </a:ext>
            </a:extLst>
          </p:cNvPr>
          <p:cNvSpPr>
            <a:spLocks xmlns:a="http://schemas.openxmlformats.org/drawingml/2006/main" noGrp="1"/>
          </p:cNvSpPr>
          <p:nvPr/>
        </p:nvSpPr>
        <p:spPr>
          <a:xfrm xmlns:a="http://schemas.openxmlformats.org/drawingml/2006/main">
            <a:off x="857250" y="579120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55555"/>
                </a:solidFill>
              </a:defRPr>
            </a:pPr>
            <a:r>
              <a:rPr sz="1350" b="0" i="0">
                <a:solidFill>
                  <a:srgbClr val="555555"/>
                </a:solidFill>
              </a:rPr>
              <a:t>Mean OOS positive-label rate: 2020 56.6%; 2022 45.6%. Mean OOS h3 return: 2020 1.0%; 2022 -0.6%.</a:t>
            </a:r>
          </a:p>
        </p:txBody>
      </p:sp>
    </p:spTree>
    <p:extLst>
      <p:ext uri="{BB962C8B-B14F-4D97-AF65-F5344CB8AC3E}">
        <p14:creationId xmlns:p14="http://schemas.microsoft.com/office/powerpoint/2010/main" val="20549641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843745-04D7-4B87-BB4C-026011D7D470}"/>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2ECCFBAC-6611-4E36-B7CC-07F350699CE9}"/>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label matches how an after-close system would trade</a:t>
            </a:r>
          </a:p>
        </p:txBody>
      </p:sp>
      <p:sp>
        <p:nvSpPr>
          <p:cNvPr id="3" name="">
            <a:extLst xmlns:a="http://schemas.openxmlformats.org/drawingml/2006/main">
              <a:ext uri="{FF2B5EF4-FFF2-40B4-BE49-F238E27FC236}">
                <a16:creationId xmlns:a16="http://schemas.microsoft.com/office/drawing/2014/main" id="{9DCCC2A4-74D0-402C-A54C-5569B4D54D3C}"/>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a6323f4c9a74b7c"/>
          <a:stretch xmlns:a="http://schemas.openxmlformats.org/drawingml/2006/main"/>
        </p:blipFill>
        <p:spPr>
          <a:xfrm xmlns:a="http://schemas.openxmlformats.org/drawingml/2006/main">
            <a:off x="876300" y="2095500"/>
            <a:ext cx="7239000" cy="3619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FD92D8D-7654-4BF9-B134-408998ECAD06}"/>
              </a:ext>
            </a:extLst>
          </p:cNvPr>
          <p:cNvSpPr>
            <a:spLocks xmlns:a="http://schemas.openxmlformats.org/drawingml/2006/main" noGrp="1"/>
          </p:cNvSpPr>
          <p:nvPr/>
        </p:nvSpPr>
        <p:spPr>
          <a:xfrm xmlns:a="http://schemas.openxmlformats.org/drawingml/2006/main">
            <a:off x="8629650" y="21336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222222"/>
                </a:solidFill>
              </a:defRPr>
            </a:pPr>
            <a:r>
              <a:rPr sz="1875" b="1" i="0">
                <a:solidFill>
                  <a:srgbClr val="222222"/>
                </a:solidFill>
              </a:rPr>
              <a:t>Read the markers left to right</a:t>
            </a:r>
          </a:p>
        </p:txBody>
      </p:sp>
      <p:sp>
        <p:nvSpPr>
          <p:cNvPr id="6" name="">
            <a:extLst xmlns:a="http://schemas.openxmlformats.org/drawingml/2006/main">
              <a:ext uri="{FF2B5EF4-FFF2-40B4-BE49-F238E27FC236}">
                <a16:creationId xmlns:a16="http://schemas.microsoft.com/office/drawing/2014/main" id="{B0DAC201-B558-4534-B253-8FFB6F204156}"/>
              </a:ext>
            </a:extLst>
          </p:cNvPr>
          <p:cNvSpPr>
            <a:spLocks xmlns:a="http://schemas.openxmlformats.org/drawingml/2006/main" noGrp="1"/>
          </p:cNvSpPr>
          <p:nvPr/>
        </p:nvSpPr>
        <p:spPr>
          <a:xfrm xmlns:a="http://schemas.openxmlformats.org/drawingml/2006/main">
            <a:off x="8629650" y="2667000"/>
            <a:ext cx="2476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Blue is the feature date. Orange is the next open, where a future model would act. Green is the close three sessions later, where the label is measured.</a:t>
            </a:r>
          </a:p>
        </p:txBody>
      </p:sp>
    </p:spTree>
    <p:extLst>
      <p:ext uri="{BB962C8B-B14F-4D97-AF65-F5344CB8AC3E}">
        <p14:creationId xmlns:p14="http://schemas.microsoft.com/office/powerpoint/2010/main" val="16237508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D5A845-9995-4B9E-88D3-EB81FC8FEB84}"/>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8C5FFDF8-00B4-4D45-8474-65A6371CD817}"/>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Feature strips give us a human audit of what the model will see</a:t>
            </a:r>
          </a:p>
        </p:txBody>
      </p:sp>
      <p:sp>
        <p:nvSpPr>
          <p:cNvPr id="3" name="">
            <a:extLst xmlns:a="http://schemas.openxmlformats.org/drawingml/2006/main">
              <a:ext uri="{FF2B5EF4-FFF2-40B4-BE49-F238E27FC236}">
                <a16:creationId xmlns:a16="http://schemas.microsoft.com/office/drawing/2014/main" id="{863469CB-9ABA-4B0D-B685-A80C5788F75D}"/>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2ae7a3b6a484a70"/>
          <a:stretch xmlns:a="http://schemas.openxmlformats.org/drawingml/2006/main"/>
        </p:blipFill>
        <p:spPr>
          <a:xfrm xmlns:a="http://schemas.openxmlformats.org/drawingml/2006/main">
            <a:off x="1170384" y="2038350"/>
            <a:ext cx="6346031"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1ABDFCD-B759-4DA7-B334-33DDD6E9D612}"/>
              </a:ext>
            </a:extLst>
          </p:cNvPr>
          <p:cNvSpPr>
            <a:spLocks xmlns:a="http://schemas.openxmlformats.org/drawingml/2006/main" noGrp="1"/>
          </p:cNvSpPr>
          <p:nvPr/>
        </p:nvSpPr>
        <p:spPr>
          <a:xfrm xmlns:a="http://schemas.openxmlformats.org/drawingml/2006/main">
            <a:off x="8572500" y="2133600"/>
            <a:ext cx="2619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222222"/>
                </a:solidFill>
              </a:defRPr>
            </a:pPr>
            <a:r>
              <a:rPr sz="1875" b="1" i="0">
                <a:solidFill>
                  <a:srgbClr val="222222"/>
                </a:solidFill>
              </a:rPr>
              <a:t>This is still pre-model evidence.</a:t>
            </a:r>
          </a:p>
        </p:txBody>
      </p:sp>
      <p:sp>
        <p:nvSpPr>
          <p:cNvPr id="6" name="">
            <a:extLst xmlns:a="http://schemas.openxmlformats.org/drawingml/2006/main">
              <a:ext uri="{FF2B5EF4-FFF2-40B4-BE49-F238E27FC236}">
                <a16:creationId xmlns:a16="http://schemas.microsoft.com/office/drawing/2014/main" id="{3AF7937B-CC02-4D9C-9ADD-17F1F5C51F5C}"/>
              </a:ext>
            </a:extLst>
          </p:cNvPr>
          <p:cNvSpPr>
            <a:spLocks xmlns:a="http://schemas.openxmlformats.org/drawingml/2006/main" noGrp="1"/>
          </p:cNvSpPr>
          <p:nvPr/>
        </p:nvSpPr>
        <p:spPr>
          <a:xfrm xmlns:a="http://schemas.openxmlformats.org/drawingml/2006/main">
            <a:off x="8572500" y="2724150"/>
            <a:ext cx="25717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The plot checks that trend, range location, and volume features move in recognizable ways around a hard 2022 tape. The next step is to ask whether a model can combine these signals better than hand-coded states.</a:t>
            </a:r>
          </a:p>
        </p:txBody>
      </p:sp>
    </p:spTree>
    <p:extLst>
      <p:ext uri="{BB962C8B-B14F-4D97-AF65-F5344CB8AC3E}">
        <p14:creationId xmlns:p14="http://schemas.microsoft.com/office/powerpoint/2010/main" val="4323737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8D7EE9-3109-4454-B87A-FD6D3371CA7C}"/>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F35BB271-B260-437D-84EF-0CA6371E5284}"/>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A univariate audit gives early clues without pretending to be a model</a:t>
            </a:r>
          </a:p>
        </p:txBody>
      </p:sp>
      <p:sp>
        <p:nvSpPr>
          <p:cNvPr id="3" name="">
            <a:extLst xmlns:a="http://schemas.openxmlformats.org/drawingml/2006/main">
              <a:ext uri="{FF2B5EF4-FFF2-40B4-BE49-F238E27FC236}">
                <a16:creationId xmlns:a16="http://schemas.microsoft.com/office/drawing/2014/main" id="{5691EBD4-B531-45F5-A19B-7BA7DA0E0D07}"/>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f966c6c499d41ba"/>
          <a:stretch xmlns:a="http://schemas.openxmlformats.org/drawingml/2006/main"/>
        </p:blipFill>
        <p:spPr>
          <a:xfrm xmlns:a="http://schemas.openxmlformats.org/drawingml/2006/main">
            <a:off x="1208484" y="2038350"/>
            <a:ext cx="6346031"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EAD0516-4E87-4A46-8FE6-8493A56BFFA7}"/>
              </a:ext>
            </a:extLst>
          </p:cNvPr>
          <p:cNvSpPr>
            <a:spLocks xmlns:a="http://schemas.openxmlformats.org/drawingml/2006/main" noGrp="1"/>
          </p:cNvSpPr>
          <p:nvPr/>
        </p:nvSpPr>
        <p:spPr>
          <a:xfrm xmlns:a="http://schemas.openxmlformats.org/drawingml/2006/main">
            <a:off x="8553450" y="21336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222222"/>
                </a:solidFill>
              </a:defRPr>
            </a:pPr>
            <a:r>
              <a:rPr sz="1875" b="1" i="0">
                <a:solidFill>
                  <a:srgbClr val="222222"/>
                </a:solidFill>
              </a:rPr>
              <a:t>What to look for</a:t>
            </a:r>
          </a:p>
        </p:txBody>
      </p:sp>
      <p:sp>
        <p:nvSpPr>
          <p:cNvPr id="6" name="">
            <a:extLst xmlns:a="http://schemas.openxmlformats.org/drawingml/2006/main">
              <a:ext uri="{FF2B5EF4-FFF2-40B4-BE49-F238E27FC236}">
                <a16:creationId xmlns:a16="http://schemas.microsoft.com/office/drawing/2014/main" id="{B1F104F6-D8FD-45C3-8E44-3B525B62468C}"/>
              </a:ext>
            </a:extLst>
          </p:cNvPr>
          <p:cNvSpPr>
            <a:spLocks xmlns:a="http://schemas.openxmlformats.org/drawingml/2006/main" noGrp="1"/>
          </p:cNvSpPr>
          <p:nvPr/>
        </p:nvSpPr>
        <p:spPr>
          <a:xfrm xmlns:a="http://schemas.openxmlformats.org/drawingml/2006/main">
            <a:off x="8553450" y="2667000"/>
            <a:ext cx="26860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Smooth monotonic lines would be encouraging. Noisy or nonmonotonic lines are not fatal, because the first real ML test will learn interactions, but they tell us whether individual features carry any visible directional information.</a:t>
            </a:r>
          </a:p>
        </p:txBody>
      </p:sp>
    </p:spTree>
    <p:extLst>
      <p:ext uri="{BB962C8B-B14F-4D97-AF65-F5344CB8AC3E}">
        <p14:creationId xmlns:p14="http://schemas.microsoft.com/office/powerpoint/2010/main" val="5887735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E8B2D0-A45B-4DC1-BB79-888FDB6918FD}"/>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D4EDC0FB-CEDF-44D5-9711-356051FDBCF3}"/>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next build tests a deliberately simple model</a:t>
            </a:r>
          </a:p>
        </p:txBody>
      </p:sp>
      <p:sp>
        <p:nvSpPr>
          <p:cNvPr id="3" name="">
            <a:extLst xmlns:a="http://schemas.openxmlformats.org/drawingml/2006/main">
              <a:ext uri="{FF2B5EF4-FFF2-40B4-BE49-F238E27FC236}">
                <a16:creationId xmlns:a16="http://schemas.microsoft.com/office/drawing/2014/main" id="{398D9163-3EA8-4313-A1C8-D294849F1683}"/>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432C31-7CD7-4866-8C79-8152B7ADE56D}"/>
              </a:ext>
            </a:extLst>
          </p:cNvPr>
          <p:cNvSpPr>
            <a:spLocks xmlns:a="http://schemas.openxmlformats.org/drawingml/2006/main" noGrp="1"/>
          </p:cNvSpPr>
          <p:nvPr/>
        </p:nvSpPr>
        <p:spPr>
          <a:xfrm xmlns:a="http://schemas.openxmlformats.org/drawingml/2006/main">
            <a:off x="876300" y="2152650"/>
            <a:ext cx="7429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ML-P0 passed the table-quality gate. ML-P1 asks whether a plain GLM can turn that table into coherent daily long/flat behavior.</a:t>
            </a:r>
          </a:p>
        </p:txBody>
      </p:sp>
      <p:sp>
        <p:nvSpPr>
          <p:cNvPr id="5" name="">
            <a:extLst xmlns:a="http://schemas.openxmlformats.org/drawingml/2006/main">
              <a:ext uri="{FF2B5EF4-FFF2-40B4-BE49-F238E27FC236}">
                <a16:creationId xmlns:a16="http://schemas.microsoft.com/office/drawing/2014/main" id="{6CD87F2C-7711-4C33-B5DC-3E1723F35736}"/>
              </a:ext>
            </a:extLst>
          </p:cNvPr>
          <p:cNvSpPr>
            <a:spLocks xmlns:a="http://schemas.openxmlformats.org/drawingml/2006/main" noGrp="1"/>
          </p:cNvSpPr>
          <p:nvPr/>
        </p:nvSpPr>
        <p:spPr>
          <a:xfrm xmlns:a="http://schemas.openxmlformats.org/drawingml/2006/main">
            <a:off x="1181100" y="34385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6" name="">
            <a:extLst xmlns:a="http://schemas.openxmlformats.org/drawingml/2006/main">
              <a:ext uri="{FF2B5EF4-FFF2-40B4-BE49-F238E27FC236}">
                <a16:creationId xmlns:a16="http://schemas.microsoft.com/office/drawing/2014/main" id="{1A36502B-FC74-449C-88EB-EDB62100187F}"/>
              </a:ext>
            </a:extLst>
          </p:cNvPr>
          <p:cNvSpPr>
            <a:spLocks xmlns:a="http://schemas.openxmlformats.org/drawingml/2006/main" noGrp="1"/>
          </p:cNvSpPr>
          <p:nvPr/>
        </p:nvSpPr>
        <p:spPr>
          <a:xfrm xmlns:a="http://schemas.openxmlformats.org/drawingml/2006/main">
            <a:off x="1447800" y="3429000"/>
            <a:ext cx="4686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Fit only on TRAIN rows using frozen transforms.</a:t>
            </a:r>
          </a:p>
        </p:txBody>
      </p:sp>
      <p:sp>
        <p:nvSpPr>
          <p:cNvPr id="7" name="">
            <a:extLst xmlns:a="http://schemas.openxmlformats.org/drawingml/2006/main">
              <a:ext uri="{FF2B5EF4-FFF2-40B4-BE49-F238E27FC236}">
                <a16:creationId xmlns:a16="http://schemas.microsoft.com/office/drawing/2014/main" id="{2AEEE61F-ED55-47BB-BD10-71FEEA345BD3}"/>
              </a:ext>
            </a:extLst>
          </p:cNvPr>
          <p:cNvSpPr>
            <a:spLocks xmlns:a="http://schemas.openxmlformats.org/drawingml/2006/main" noGrp="1"/>
          </p:cNvSpPr>
          <p:nvPr/>
        </p:nvSpPr>
        <p:spPr>
          <a:xfrm xmlns:a="http://schemas.openxmlformats.org/drawingml/2006/main">
            <a:off x="1181100" y="41052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8" name="">
            <a:extLst xmlns:a="http://schemas.openxmlformats.org/drawingml/2006/main">
              <a:ext uri="{FF2B5EF4-FFF2-40B4-BE49-F238E27FC236}">
                <a16:creationId xmlns:a16="http://schemas.microsoft.com/office/drawing/2014/main" id="{78D1A5A5-4D21-4733-AEBA-10C1185433E8}"/>
              </a:ext>
            </a:extLst>
          </p:cNvPr>
          <p:cNvSpPr>
            <a:spLocks xmlns:a="http://schemas.openxmlformats.org/drawingml/2006/main" noGrp="1"/>
          </p:cNvSpPr>
          <p:nvPr/>
        </p:nvSpPr>
        <p:spPr>
          <a:xfrm xmlns:a="http://schemas.openxmlformats.org/drawingml/2006/main">
            <a:off x="1447800" y="4095750"/>
            <a:ext cx="4686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Predict OOS h3 probability after each close.</a:t>
            </a:r>
          </a:p>
        </p:txBody>
      </p:sp>
      <p:sp>
        <p:nvSpPr>
          <p:cNvPr id="9" name="">
            <a:extLst xmlns:a="http://schemas.openxmlformats.org/drawingml/2006/main">
              <a:ext uri="{FF2B5EF4-FFF2-40B4-BE49-F238E27FC236}">
                <a16:creationId xmlns:a16="http://schemas.microsoft.com/office/drawing/2014/main" id="{42E35DC9-A389-4957-BC45-F87BDD4AAE30}"/>
              </a:ext>
            </a:extLst>
          </p:cNvPr>
          <p:cNvSpPr>
            <a:spLocks xmlns:a="http://schemas.openxmlformats.org/drawingml/2006/main" noGrp="1"/>
          </p:cNvSpPr>
          <p:nvPr/>
        </p:nvSpPr>
        <p:spPr>
          <a:xfrm xmlns:a="http://schemas.openxmlformats.org/drawingml/2006/main">
            <a:off x="1181100" y="47720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0" name="">
            <a:extLst xmlns:a="http://schemas.openxmlformats.org/drawingml/2006/main">
              <a:ext uri="{FF2B5EF4-FFF2-40B4-BE49-F238E27FC236}">
                <a16:creationId xmlns:a16="http://schemas.microsoft.com/office/drawing/2014/main" id="{6C553747-CB8D-4504-9A90-8896849C98C5}"/>
              </a:ext>
            </a:extLst>
          </p:cNvPr>
          <p:cNvSpPr>
            <a:spLocks xmlns:a="http://schemas.openxmlformats.org/drawingml/2006/main" noGrp="1"/>
          </p:cNvSpPr>
          <p:nvPr/>
        </p:nvSpPr>
        <p:spPr>
          <a:xfrm xmlns:a="http://schemas.openxmlformats.org/drawingml/2006/main">
            <a:off x="1447800" y="4762500"/>
            <a:ext cx="4686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Replay long/flat decisions with fixed thresholds.</a:t>
            </a:r>
          </a:p>
        </p:txBody>
      </p:sp>
      <p:sp>
        <p:nvSpPr>
          <p:cNvPr id="11" name="">
            <a:extLst xmlns:a="http://schemas.openxmlformats.org/drawingml/2006/main">
              <a:ext uri="{FF2B5EF4-FFF2-40B4-BE49-F238E27FC236}">
                <a16:creationId xmlns:a16="http://schemas.microsoft.com/office/drawing/2014/main" id="{E3D80C63-9FE6-4289-BE3F-0AB6B058BFBB}"/>
              </a:ext>
            </a:extLst>
          </p:cNvPr>
          <p:cNvSpPr>
            <a:spLocks xmlns:a="http://schemas.openxmlformats.org/drawingml/2006/main" noGrp="1"/>
          </p:cNvSpPr>
          <p:nvPr/>
        </p:nvSpPr>
        <p:spPr>
          <a:xfrm xmlns:a="http://schemas.openxmlformats.org/drawingml/2006/main">
            <a:off x="1181100" y="54387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2" name="">
            <a:extLst xmlns:a="http://schemas.openxmlformats.org/drawingml/2006/main">
              <a:ext uri="{FF2B5EF4-FFF2-40B4-BE49-F238E27FC236}">
                <a16:creationId xmlns:a16="http://schemas.microsoft.com/office/drawing/2014/main" id="{91BBC516-9872-44F7-B927-DD8499772B83}"/>
              </a:ext>
            </a:extLst>
          </p:cNvPr>
          <p:cNvSpPr>
            <a:spLocks xmlns:a="http://schemas.openxmlformats.org/drawingml/2006/main" noGrp="1"/>
          </p:cNvSpPr>
          <p:nvPr/>
        </p:nvSpPr>
        <p:spPr>
          <a:xfrm xmlns:a="http://schemas.openxmlformats.org/drawingml/2006/main">
            <a:off x="1447800" y="5429250"/>
            <a:ext cx="4686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Compare probability traces, trade tapes, equity, and equal-weight basket hold.</a:t>
            </a:r>
          </a:p>
        </p:txBody>
      </p:sp>
      <p:sp>
        <p:nvSpPr>
          <p:cNvPr id="13" name="">
            <a:extLst xmlns:a="http://schemas.openxmlformats.org/drawingml/2006/main">
              <a:ext uri="{FF2B5EF4-FFF2-40B4-BE49-F238E27FC236}">
                <a16:creationId xmlns:a16="http://schemas.microsoft.com/office/drawing/2014/main" id="{15F7BAFD-D574-4EEB-A4C0-3074756E87FA}"/>
              </a:ext>
            </a:extLst>
          </p:cNvPr>
          <p:cNvSpPr>
            <a:spLocks xmlns:a="http://schemas.openxmlformats.org/drawingml/2006/main" noGrp="1"/>
          </p:cNvSpPr>
          <p:nvPr/>
        </p:nvSpPr>
        <p:spPr>
          <a:xfrm xmlns:a="http://schemas.openxmlformats.org/drawingml/2006/main">
            <a:off x="7734300" y="2247900"/>
            <a:ext cx="2971800" cy="2971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3BE0FF4E-C200-4835-835B-6310886E2B48}"/>
              </a:ext>
            </a:extLst>
          </p:cNvPr>
          <p:cNvSpPr>
            <a:spLocks xmlns:a="http://schemas.openxmlformats.org/drawingml/2006/main" noGrp="1"/>
          </p:cNvSpPr>
          <p:nvPr/>
        </p:nvSpPr>
        <p:spPr>
          <a:xfrm xmlns:a="http://schemas.openxmlformats.org/drawingml/2006/main">
            <a:off x="8096250" y="2895600"/>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222222"/>
                </a:solidFill>
              </a:defRPr>
            </a:pPr>
            <a:r>
              <a:rPr sz="2025" b="1" i="0">
                <a:solidFill>
                  <a:srgbClr val="222222"/>
                </a:solidFill>
              </a:rPr>
              <a:t>Still research only</a:t>
            </a:r>
          </a:p>
        </p:txBody>
      </p:sp>
      <p:sp>
        <p:nvSpPr>
          <p:cNvPr id="15" name="">
            <a:extLst xmlns:a="http://schemas.openxmlformats.org/drawingml/2006/main">
              <a:ext uri="{FF2B5EF4-FFF2-40B4-BE49-F238E27FC236}">
                <a16:creationId xmlns:a16="http://schemas.microsoft.com/office/drawing/2014/main" id="{FBDCF793-DC58-4D51-93C9-186C6D8C0EA8}"/>
              </a:ext>
            </a:extLst>
          </p:cNvPr>
          <p:cNvSpPr>
            <a:spLocks xmlns:a="http://schemas.openxmlformats.org/drawingml/2006/main" noGrp="1"/>
          </p:cNvSpPr>
          <p:nvPr/>
        </p:nvSpPr>
        <p:spPr>
          <a:xfrm xmlns:a="http://schemas.openxmlformats.org/drawingml/2006/main">
            <a:off x="8115300" y="3562350"/>
            <a:ext cx="2238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i="0">
                <a:solidFill>
                  <a:srgbClr val="222222"/>
                </a:solidFill>
              </a:defRPr>
            </a:pPr>
            <a:r>
              <a:rPr sz="1800" b="0" i="0">
                <a:solidFill>
                  <a:srgbClr val="222222"/>
                </a:solidFill>
              </a:rPr>
              <a:t>GLM is the plumbing baseline before XGBoost.</a:t>
            </a:r>
          </a:p>
        </p:txBody>
      </p:sp>
    </p:spTree>
    <p:extLst>
      <p:ext uri="{BB962C8B-B14F-4D97-AF65-F5344CB8AC3E}">
        <p14:creationId xmlns:p14="http://schemas.microsoft.com/office/powerpoint/2010/main" val="14228697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7EF166-DD25-4BA8-B95E-8C6C62AA7184}"/>
              </a:ext>
            </a:extLst>
          </p:cNvPr>
          <p:cNvSpPr>
            <a:spLocks xmlns:a="http://schemas.openxmlformats.org/drawingml/2006/main" noGrp="1"/>
          </p:cNvSpPr>
          <p:nvPr/>
        </p:nvSpPr>
        <p:spPr>
          <a:xfrm xmlns:a="http://schemas.openxmlformats.org/drawingml/2006/main">
            <a:off x="685800" y="495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555555"/>
                </a:solidFill>
              </a:defRPr>
            </a:pPr>
            <a:r>
              <a:rPr sz="2400" b="1" i="0">
                <a:solidFill>
                  <a:srgbClr val="555555"/>
                </a:solidFill>
              </a:rPr>
              <a:t>Transition</a:t>
            </a:r>
          </a:p>
        </p:txBody>
      </p:sp>
      <p:sp>
        <p:nvSpPr>
          <p:cNvPr id="2" name="">
            <a:extLst xmlns:a="http://schemas.openxmlformats.org/drawingml/2006/main">
              <a:ext uri="{FF2B5EF4-FFF2-40B4-BE49-F238E27FC236}">
                <a16:creationId xmlns:a16="http://schemas.microsoft.com/office/drawing/2014/main" id="{45FFB83A-46A3-486B-A9BC-CCED69987ADF}"/>
              </a:ext>
            </a:extLst>
          </p:cNvPr>
          <p:cNvSpPr>
            <a:spLocks xmlns:a="http://schemas.openxmlformats.org/drawingml/2006/main" noGrp="1"/>
          </p:cNvSpPr>
          <p:nvPr/>
        </p:nvSpPr>
        <p:spPr>
          <a:xfrm xmlns:a="http://schemas.openxmlformats.org/drawingml/2006/main">
            <a:off x="685800" y="160020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i="0">
                <a:solidFill>
                  <a:srgbClr val="000000"/>
                </a:solidFill>
              </a:defRPr>
            </a:pPr>
            <a:r>
              <a:rPr sz="3900" b="1" i="0">
                <a:solidFill>
                  <a:srgbClr val="000000"/>
                </a:solidFill>
              </a:rPr>
              <a:t>The deck now moves from table safety to model behavior</a:t>
            </a:r>
          </a:p>
        </p:txBody>
      </p:sp>
      <p:sp>
        <p:nvSpPr>
          <p:cNvPr id="3" name="">
            <a:extLst xmlns:a="http://schemas.openxmlformats.org/drawingml/2006/main">
              <a:ext uri="{FF2B5EF4-FFF2-40B4-BE49-F238E27FC236}">
                <a16:creationId xmlns:a16="http://schemas.microsoft.com/office/drawing/2014/main" id="{55C29D2C-4CCA-4B09-9FB0-3CBEB81E69BC}"/>
              </a:ext>
            </a:extLst>
          </p:cNvPr>
          <p:cNvSpPr>
            <a:spLocks xmlns:a="http://schemas.openxmlformats.org/drawingml/2006/main" noGrp="1"/>
          </p:cNvSpPr>
          <p:nvPr/>
        </p:nvSpPr>
        <p:spPr>
          <a:xfrm xmlns:a="http://schemas.openxmlformats.org/drawingml/2006/main">
            <a:off x="723900" y="3105150"/>
            <a:ext cx="57150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8BF041B-1DC5-4018-9098-43F997A45428}"/>
              </a:ext>
            </a:extLst>
          </p:cNvPr>
          <p:cNvSpPr>
            <a:spLocks xmlns:a="http://schemas.openxmlformats.org/drawingml/2006/main" noGrp="1"/>
          </p:cNvSpPr>
          <p:nvPr/>
        </p:nvSpPr>
        <p:spPr>
          <a:xfrm xmlns:a="http://schemas.openxmlformats.org/drawingml/2006/main">
            <a:off x="723900" y="3467100"/>
            <a:ext cx="7334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222222"/>
                </a:solidFill>
              </a:defRPr>
            </a:pPr>
            <a:r>
              <a:rPr sz="1800" b="0" i="0">
                <a:solidFill>
                  <a:srgbClr val="222222"/>
                </a:solidFill>
              </a:rPr>
              <a:t>ML-P1 fits a GLM on TRAIN rows, freezes the model, predicts OOS h3 probability, and replays fixed-threshold long/flat decisions. This is a diagnostic model, not an allocation claim.</a:t>
            </a:r>
          </a:p>
        </p:txBody>
      </p:sp>
      <p:sp>
        <p:nvSpPr>
          <p:cNvPr id="5" name="">
            <a:extLst xmlns:a="http://schemas.openxmlformats.org/drawingml/2006/main">
              <a:ext uri="{FF2B5EF4-FFF2-40B4-BE49-F238E27FC236}">
                <a16:creationId xmlns:a16="http://schemas.microsoft.com/office/drawing/2014/main" id="{CA75A590-27A6-4F99-BBBC-D35E6D8E32A3}"/>
              </a:ext>
            </a:extLst>
          </p:cNvPr>
          <p:cNvSpPr>
            <a:spLocks xmlns:a="http://schemas.openxmlformats.org/drawingml/2006/main" noGrp="1"/>
          </p:cNvSpPr>
          <p:nvPr/>
        </p:nvSpPr>
        <p:spPr>
          <a:xfrm xmlns:a="http://schemas.openxmlformats.org/drawingml/2006/main">
            <a:off x="8801100" y="0"/>
            <a:ext cx="3390900" cy="6858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F7F82A-33E8-4B6A-A4F8-3A9F9066B2C2}"/>
              </a:ext>
            </a:extLst>
          </p:cNvPr>
          <p:cNvSpPr>
            <a:spLocks xmlns:a="http://schemas.openxmlformats.org/drawingml/2006/main" noGrp="1"/>
          </p:cNvSpPr>
          <p:nvPr/>
        </p:nvSpPr>
        <p:spPr>
          <a:xfrm xmlns:a="http://schemas.openxmlformats.org/drawingml/2006/main">
            <a:off x="9353550" y="234315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i="0">
                <a:solidFill>
                  <a:srgbClr val="000000"/>
                </a:solidFill>
              </a:defRPr>
            </a:pPr>
            <a:r>
              <a:rPr sz="3150" b="1" i="0">
                <a:solidFill>
                  <a:srgbClr val="000000"/>
                </a:solidFill>
              </a:rPr>
              <a:t>ML-P1</a:t>
            </a:r>
          </a:p>
        </p:txBody>
      </p:sp>
      <p:sp>
        <p:nvSpPr>
          <p:cNvPr id="7" name="">
            <a:extLst xmlns:a="http://schemas.openxmlformats.org/drawingml/2006/main">
              <a:ext uri="{FF2B5EF4-FFF2-40B4-BE49-F238E27FC236}">
                <a16:creationId xmlns:a16="http://schemas.microsoft.com/office/drawing/2014/main" id="{178015D9-13AC-4459-B6F2-C90D55C5F0D5}"/>
              </a:ext>
            </a:extLst>
          </p:cNvPr>
          <p:cNvSpPr>
            <a:spLocks xmlns:a="http://schemas.openxmlformats.org/drawingml/2006/main" noGrp="1"/>
          </p:cNvSpPr>
          <p:nvPr/>
        </p:nvSpPr>
        <p:spPr>
          <a:xfrm xmlns:a="http://schemas.openxmlformats.org/drawingml/2006/main">
            <a:off x="9353550" y="30670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0" i="0">
                <a:solidFill>
                  <a:srgbClr val="222222"/>
                </a:solidFill>
              </a:defRPr>
            </a:pPr>
            <a:r>
              <a:rPr sz="1950" b="0" i="0">
                <a:solidFill>
                  <a:srgbClr val="222222"/>
                </a:solidFill>
              </a:rPr>
              <a:t>GLM replay</a:t>
            </a:r>
          </a:p>
        </p:txBody>
      </p:sp>
    </p:spTree>
    <p:extLst>
      <p:ext uri="{BB962C8B-B14F-4D97-AF65-F5344CB8AC3E}">
        <p14:creationId xmlns:p14="http://schemas.microsoft.com/office/powerpoint/2010/main" val="2208949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FE4D1E-E142-477B-B554-F57F40C4E2ED}"/>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636E0FD1-EB26-48DC-957D-9F2B844558D8}"/>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GLM baseline became defensive, not participatory</a:t>
            </a:r>
          </a:p>
        </p:txBody>
      </p:sp>
      <p:sp>
        <p:nvSpPr>
          <p:cNvPr id="3" name="">
            <a:extLst xmlns:a="http://schemas.openxmlformats.org/drawingml/2006/main">
              <a:ext uri="{FF2B5EF4-FFF2-40B4-BE49-F238E27FC236}">
                <a16:creationId xmlns:a16="http://schemas.microsoft.com/office/drawing/2014/main" id="{67117A02-03BB-4860-B696-61BB95040559}"/>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39B758-0A3C-4AB9-8B22-9F564B4AB114}"/>
              </a:ext>
            </a:extLst>
          </p:cNvPr>
          <p:cNvSpPr>
            <a:spLocks xmlns:a="http://schemas.openxmlformats.org/drawingml/2006/main" noGrp="1"/>
          </p:cNvSpPr>
          <p:nvPr/>
        </p:nvSpPr>
        <p:spPr>
          <a:xfrm xmlns:a="http://schemas.openxmlformats.org/drawingml/2006/main">
            <a:off x="8191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811AE7C-3B93-4004-A8B4-7036089A9697}"/>
              </a:ext>
            </a:extLst>
          </p:cNvPr>
          <p:cNvSpPr>
            <a:spLocks xmlns:a="http://schemas.openxmlformats.org/drawingml/2006/main" noGrp="1"/>
          </p:cNvSpPr>
          <p:nvPr/>
        </p:nvSpPr>
        <p:spPr>
          <a:xfrm xmlns:a="http://schemas.openxmlformats.org/drawingml/2006/main">
            <a:off x="9906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2020 ACTIVE</a:t>
            </a:r>
          </a:p>
        </p:txBody>
      </p:sp>
      <p:sp>
        <p:nvSpPr>
          <p:cNvPr id="6" name="">
            <a:extLst xmlns:a="http://schemas.openxmlformats.org/drawingml/2006/main">
              <a:ext uri="{FF2B5EF4-FFF2-40B4-BE49-F238E27FC236}">
                <a16:creationId xmlns:a16="http://schemas.microsoft.com/office/drawing/2014/main" id="{86A0D85D-E65E-4E89-BD21-ABD7734C541D}"/>
              </a:ext>
            </a:extLst>
          </p:cNvPr>
          <p:cNvSpPr>
            <a:spLocks xmlns:a="http://schemas.openxmlformats.org/drawingml/2006/main" noGrp="1"/>
          </p:cNvSpPr>
          <p:nvPr/>
        </p:nvSpPr>
        <p:spPr>
          <a:xfrm xmlns:a="http://schemas.openxmlformats.org/drawingml/2006/main">
            <a:off x="9906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8.0%</a:t>
            </a:r>
          </a:p>
        </p:txBody>
      </p:sp>
      <p:sp>
        <p:nvSpPr>
          <p:cNvPr id="7" name="">
            <a:extLst xmlns:a="http://schemas.openxmlformats.org/drawingml/2006/main">
              <a:ext uri="{FF2B5EF4-FFF2-40B4-BE49-F238E27FC236}">
                <a16:creationId xmlns:a16="http://schemas.microsoft.com/office/drawing/2014/main" id="{1E0E74B2-641A-4354-9080-2FABD46D5E2A}"/>
              </a:ext>
            </a:extLst>
          </p:cNvPr>
          <p:cNvSpPr>
            <a:spLocks xmlns:a="http://schemas.openxmlformats.org/drawingml/2006/main" noGrp="1"/>
          </p:cNvSpPr>
          <p:nvPr/>
        </p:nvSpPr>
        <p:spPr>
          <a:xfrm xmlns:a="http://schemas.openxmlformats.org/drawingml/2006/main">
            <a:off x="9906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Basket hold 214.0%</a:t>
            </a:r>
          </a:p>
        </p:txBody>
      </p:sp>
      <p:sp>
        <p:nvSpPr>
          <p:cNvPr id="8" name="">
            <a:extLst xmlns:a="http://schemas.openxmlformats.org/drawingml/2006/main">
              <a:ext uri="{FF2B5EF4-FFF2-40B4-BE49-F238E27FC236}">
                <a16:creationId xmlns:a16="http://schemas.microsoft.com/office/drawing/2014/main" id="{FA52892C-2609-48A0-8A3B-C5DEDD90CEA6}"/>
              </a:ext>
            </a:extLst>
          </p:cNvPr>
          <p:cNvSpPr>
            <a:spLocks xmlns:a="http://schemas.openxmlformats.org/drawingml/2006/main" noGrp="1"/>
          </p:cNvSpPr>
          <p:nvPr/>
        </p:nvSpPr>
        <p:spPr>
          <a:xfrm xmlns:a="http://schemas.openxmlformats.org/drawingml/2006/main">
            <a:off x="35242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9CB39689-620C-4A6E-9004-EC9793C233BC}"/>
              </a:ext>
            </a:extLst>
          </p:cNvPr>
          <p:cNvSpPr>
            <a:spLocks xmlns:a="http://schemas.openxmlformats.org/drawingml/2006/main" noGrp="1"/>
          </p:cNvSpPr>
          <p:nvPr/>
        </p:nvSpPr>
        <p:spPr>
          <a:xfrm xmlns:a="http://schemas.openxmlformats.org/drawingml/2006/main">
            <a:off x="36957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2020 EXPOSURE</a:t>
            </a:r>
          </a:p>
        </p:txBody>
      </p:sp>
      <p:sp>
        <p:nvSpPr>
          <p:cNvPr id="10" name="">
            <a:extLst xmlns:a="http://schemas.openxmlformats.org/drawingml/2006/main">
              <a:ext uri="{FF2B5EF4-FFF2-40B4-BE49-F238E27FC236}">
                <a16:creationId xmlns:a16="http://schemas.microsoft.com/office/drawing/2014/main" id="{F98B9989-1F4D-40D2-8CD0-B5A99CFE0A14}"/>
              </a:ext>
            </a:extLst>
          </p:cNvPr>
          <p:cNvSpPr>
            <a:spLocks xmlns:a="http://schemas.openxmlformats.org/drawingml/2006/main" noGrp="1"/>
          </p:cNvSpPr>
          <p:nvPr/>
        </p:nvSpPr>
        <p:spPr>
          <a:xfrm xmlns:a="http://schemas.openxmlformats.org/drawingml/2006/main">
            <a:off x="36957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27.6%</a:t>
            </a:r>
          </a:p>
        </p:txBody>
      </p:sp>
      <p:sp>
        <p:nvSpPr>
          <p:cNvPr id="11" name="">
            <a:extLst xmlns:a="http://schemas.openxmlformats.org/drawingml/2006/main">
              <a:ext uri="{FF2B5EF4-FFF2-40B4-BE49-F238E27FC236}">
                <a16:creationId xmlns:a16="http://schemas.microsoft.com/office/drawing/2014/main" id="{0ED8BB00-D579-42D6-B1AB-ACB4F02C5DE1}"/>
              </a:ext>
            </a:extLst>
          </p:cNvPr>
          <p:cNvSpPr>
            <a:spLocks xmlns:a="http://schemas.openxmlformats.org/drawingml/2006/main" noGrp="1"/>
          </p:cNvSpPr>
          <p:nvPr/>
        </p:nvSpPr>
        <p:spPr>
          <a:xfrm xmlns:a="http://schemas.openxmlformats.org/drawingml/2006/main">
            <a:off x="36957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Stayed flat 68.3% of decision rows.</a:t>
            </a:r>
          </a:p>
        </p:txBody>
      </p:sp>
      <p:sp>
        <p:nvSpPr>
          <p:cNvPr id="12" name="">
            <a:extLst xmlns:a="http://schemas.openxmlformats.org/drawingml/2006/main">
              <a:ext uri="{FF2B5EF4-FFF2-40B4-BE49-F238E27FC236}">
                <a16:creationId xmlns:a16="http://schemas.microsoft.com/office/drawing/2014/main" id="{D4556D60-71D8-4BD0-99E5-0C8B08984E9C}"/>
              </a:ext>
            </a:extLst>
          </p:cNvPr>
          <p:cNvSpPr>
            <a:spLocks xmlns:a="http://schemas.openxmlformats.org/drawingml/2006/main" noGrp="1"/>
          </p:cNvSpPr>
          <p:nvPr/>
        </p:nvSpPr>
        <p:spPr>
          <a:xfrm xmlns:a="http://schemas.openxmlformats.org/drawingml/2006/main">
            <a:off x="62293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77D475BC-7331-49E9-BC80-B1271F1691A1}"/>
              </a:ext>
            </a:extLst>
          </p:cNvPr>
          <p:cNvSpPr>
            <a:spLocks xmlns:a="http://schemas.openxmlformats.org/drawingml/2006/main" noGrp="1"/>
          </p:cNvSpPr>
          <p:nvPr/>
        </p:nvSpPr>
        <p:spPr>
          <a:xfrm xmlns:a="http://schemas.openxmlformats.org/drawingml/2006/main">
            <a:off x="64008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2022 ACTIVE</a:t>
            </a:r>
          </a:p>
        </p:txBody>
      </p:sp>
      <p:sp>
        <p:nvSpPr>
          <p:cNvPr id="14" name="">
            <a:extLst xmlns:a="http://schemas.openxmlformats.org/drawingml/2006/main">
              <a:ext uri="{FF2B5EF4-FFF2-40B4-BE49-F238E27FC236}">
                <a16:creationId xmlns:a16="http://schemas.microsoft.com/office/drawing/2014/main" id="{89924463-998A-4C4A-98B2-A0DA1B27498D}"/>
              </a:ext>
            </a:extLst>
          </p:cNvPr>
          <p:cNvSpPr>
            <a:spLocks xmlns:a="http://schemas.openxmlformats.org/drawingml/2006/main" noGrp="1"/>
          </p:cNvSpPr>
          <p:nvPr/>
        </p:nvSpPr>
        <p:spPr>
          <a:xfrm xmlns:a="http://schemas.openxmlformats.org/drawingml/2006/main">
            <a:off x="64008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-42.4%</a:t>
            </a:r>
          </a:p>
        </p:txBody>
      </p:sp>
      <p:sp>
        <p:nvSpPr>
          <p:cNvPr id="15" name="">
            <a:extLst xmlns:a="http://schemas.openxmlformats.org/drawingml/2006/main">
              <a:ext uri="{FF2B5EF4-FFF2-40B4-BE49-F238E27FC236}">
                <a16:creationId xmlns:a16="http://schemas.microsoft.com/office/drawing/2014/main" id="{8BB7F8E0-17EC-4666-ACB4-522F4686CD04}"/>
              </a:ext>
            </a:extLst>
          </p:cNvPr>
          <p:cNvSpPr>
            <a:spLocks xmlns:a="http://schemas.openxmlformats.org/drawingml/2006/main" noGrp="1"/>
          </p:cNvSpPr>
          <p:nvPr/>
        </p:nvSpPr>
        <p:spPr>
          <a:xfrm xmlns:a="http://schemas.openxmlformats.org/drawingml/2006/main">
            <a:off x="64008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Basket hold -54.2%</a:t>
            </a:r>
          </a:p>
        </p:txBody>
      </p:sp>
      <p:sp>
        <p:nvSpPr>
          <p:cNvPr id="16" name="">
            <a:extLst xmlns:a="http://schemas.openxmlformats.org/drawingml/2006/main">
              <a:ext uri="{FF2B5EF4-FFF2-40B4-BE49-F238E27FC236}">
                <a16:creationId xmlns:a16="http://schemas.microsoft.com/office/drawing/2014/main" id="{3F9CDF91-D6DF-4A62-B91F-4FFBCC39680C}"/>
              </a:ext>
            </a:extLst>
          </p:cNvPr>
          <p:cNvSpPr>
            <a:spLocks xmlns:a="http://schemas.openxmlformats.org/drawingml/2006/main" noGrp="1"/>
          </p:cNvSpPr>
          <p:nvPr/>
        </p:nvSpPr>
        <p:spPr>
          <a:xfrm xmlns:a="http://schemas.openxmlformats.org/drawingml/2006/main">
            <a:off x="89344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EB37D428-4A63-4A7B-AB43-F625CCAB9325}"/>
              </a:ext>
            </a:extLst>
          </p:cNvPr>
          <p:cNvSpPr>
            <a:spLocks xmlns:a="http://schemas.openxmlformats.org/drawingml/2006/main" noGrp="1"/>
          </p:cNvSpPr>
          <p:nvPr/>
        </p:nvSpPr>
        <p:spPr>
          <a:xfrm xmlns:a="http://schemas.openxmlformats.org/drawingml/2006/main">
            <a:off x="91059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LEAKAGE AUDIT</a:t>
            </a:r>
          </a:p>
        </p:txBody>
      </p:sp>
      <p:sp>
        <p:nvSpPr>
          <p:cNvPr id="18" name="">
            <a:extLst xmlns:a="http://schemas.openxmlformats.org/drawingml/2006/main">
              <a:ext uri="{FF2B5EF4-FFF2-40B4-BE49-F238E27FC236}">
                <a16:creationId xmlns:a16="http://schemas.microsoft.com/office/drawing/2014/main" id="{1307D886-A834-48E5-B06B-147C00DE8734}"/>
              </a:ext>
            </a:extLst>
          </p:cNvPr>
          <p:cNvSpPr>
            <a:spLocks xmlns:a="http://schemas.openxmlformats.org/drawingml/2006/main" noGrp="1"/>
          </p:cNvSpPr>
          <p:nvPr/>
        </p:nvSpPr>
        <p:spPr>
          <a:xfrm xmlns:a="http://schemas.openxmlformats.org/drawingml/2006/main">
            <a:off x="91059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All PASS</a:t>
            </a:r>
          </a:p>
        </p:txBody>
      </p:sp>
      <p:sp>
        <p:nvSpPr>
          <p:cNvPr id="19" name="">
            <a:extLst xmlns:a="http://schemas.openxmlformats.org/drawingml/2006/main">
              <a:ext uri="{FF2B5EF4-FFF2-40B4-BE49-F238E27FC236}">
                <a16:creationId xmlns:a16="http://schemas.microsoft.com/office/drawing/2014/main" id="{05840028-DAED-4A80-9FD8-6D7F48B8A129}"/>
              </a:ext>
            </a:extLst>
          </p:cNvPr>
          <p:cNvSpPr>
            <a:spLocks xmlns:a="http://schemas.openxmlformats.org/drawingml/2006/main" noGrp="1"/>
          </p:cNvSpPr>
          <p:nvPr/>
        </p:nvSpPr>
        <p:spPr>
          <a:xfrm xmlns:a="http://schemas.openxmlformats.org/drawingml/2006/main">
            <a:off x="91059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TRAIN fit only; OOS prediction only.</a:t>
            </a:r>
          </a:p>
        </p:txBody>
      </p:sp>
      <p:sp>
        <p:nvSpPr>
          <p:cNvPr id="20" name="">
            <a:extLst xmlns:a="http://schemas.openxmlformats.org/drawingml/2006/main">
              <a:ext uri="{FF2B5EF4-FFF2-40B4-BE49-F238E27FC236}">
                <a16:creationId xmlns:a16="http://schemas.microsoft.com/office/drawing/2014/main" id="{73C69E42-A0F0-45C3-9D85-282CB01E4E09}"/>
              </a:ext>
            </a:extLst>
          </p:cNvPr>
          <p:cNvSpPr>
            <a:spLocks xmlns:a="http://schemas.openxmlformats.org/drawingml/2006/main" noGrp="1"/>
          </p:cNvSpPr>
          <p:nvPr/>
        </p:nvSpPr>
        <p:spPr>
          <a:xfrm xmlns:a="http://schemas.openxmlformats.org/drawingml/2006/main">
            <a:off x="1066800" y="4095750"/>
            <a:ext cx="9334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000000"/>
                </a:solidFill>
              </a:defRPr>
            </a:pPr>
            <a:r>
              <a:rPr sz="2100" b="1" i="0">
                <a:solidFill>
                  <a:srgbClr val="000000"/>
                </a:solidFill>
              </a:rPr>
              <a:t>The first GLM replay proves the mechanics, but not the alpha thesis. It missed most of the 2020 rally and was useful mainly as partial 2022 defense.</a:t>
            </a:r>
          </a:p>
        </p:txBody>
      </p:sp>
    </p:spTree>
    <p:extLst>
      <p:ext uri="{BB962C8B-B14F-4D97-AF65-F5344CB8AC3E}">
        <p14:creationId xmlns:p14="http://schemas.microsoft.com/office/powerpoint/2010/main" val="16480610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23C24B-0DCF-4D9E-9666-2FADEFECF68A}"/>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0EEA1C91-433A-48D6-B41D-86F1BB7F6956}"/>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equity curve shows the same participation problem we have been chasing</a:t>
            </a:r>
          </a:p>
        </p:txBody>
      </p:sp>
      <p:sp>
        <p:nvSpPr>
          <p:cNvPr id="3" name="">
            <a:extLst xmlns:a="http://schemas.openxmlformats.org/drawingml/2006/main">
              <a:ext uri="{FF2B5EF4-FFF2-40B4-BE49-F238E27FC236}">
                <a16:creationId xmlns:a16="http://schemas.microsoft.com/office/drawing/2014/main" id="{B8A81F3F-E997-4354-8577-A4312B3B57F4}"/>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4860d62c64649c8"/>
          <a:stretch xmlns:a="http://schemas.openxmlformats.org/drawingml/2006/main"/>
        </p:blipFill>
        <p:spPr>
          <a:xfrm xmlns:a="http://schemas.openxmlformats.org/drawingml/2006/main">
            <a:off x="868680" y="2000250"/>
            <a:ext cx="6835140"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BAB97B9-1ECE-44EE-90CE-DEC3749A19CF}"/>
              </a:ext>
            </a:extLst>
          </p:cNvPr>
          <p:cNvSpPr>
            <a:spLocks xmlns:a="http://schemas.openxmlformats.org/drawingml/2006/main" noGrp="1"/>
          </p:cNvSpPr>
          <p:nvPr/>
        </p:nvSpPr>
        <p:spPr>
          <a:xfrm xmlns:a="http://schemas.openxmlformats.org/drawingml/2006/main">
            <a:off x="8477250" y="21336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Interpretation</a:t>
            </a:r>
          </a:p>
        </p:txBody>
      </p:sp>
      <p:sp>
        <p:nvSpPr>
          <p:cNvPr id="6" name="">
            <a:extLst xmlns:a="http://schemas.openxmlformats.org/drawingml/2006/main">
              <a:ext uri="{FF2B5EF4-FFF2-40B4-BE49-F238E27FC236}">
                <a16:creationId xmlns:a16="http://schemas.microsoft.com/office/drawing/2014/main" id="{B4166768-B894-4944-91F9-D780B9752758}"/>
              </a:ext>
            </a:extLst>
          </p:cNvPr>
          <p:cNvSpPr>
            <a:spLocks xmlns:a="http://schemas.openxmlformats.org/drawingml/2006/main" noGrp="1"/>
          </p:cNvSpPr>
          <p:nvPr/>
        </p:nvSpPr>
        <p:spPr>
          <a:xfrm xmlns:a="http://schemas.openxmlformats.org/drawingml/2006/main">
            <a:off x="8477250" y="2686050"/>
            <a:ext cx="2571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In 2020, the model stayed too cautious while the basket compounded aggressively. In 2022, the model preserved capital relative to the falling basket, but it was still not cleanly risk-off.</a:t>
            </a:r>
          </a:p>
        </p:txBody>
      </p:sp>
    </p:spTree>
    <p:extLst>
      <p:ext uri="{BB962C8B-B14F-4D97-AF65-F5344CB8AC3E}">
        <p14:creationId xmlns:p14="http://schemas.microsoft.com/office/powerpoint/2010/main" val="16545482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544F32-411C-49CA-B183-CE74C51E296B}"/>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AA837AD3-F86E-41F7-948D-628DAF02C47B}"/>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Probability trade tapes show what the policy actually did</a:t>
            </a:r>
          </a:p>
        </p:txBody>
      </p:sp>
      <p:sp>
        <p:nvSpPr>
          <p:cNvPr id="3" name="">
            <a:extLst xmlns:a="http://schemas.openxmlformats.org/drawingml/2006/main">
              <a:ext uri="{FF2B5EF4-FFF2-40B4-BE49-F238E27FC236}">
                <a16:creationId xmlns:a16="http://schemas.microsoft.com/office/drawing/2014/main" id="{DB9132EF-19A5-4660-A44F-2734226368BB}"/>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8a51b44b08d4a43"/>
          <a:stretch xmlns:a="http://schemas.openxmlformats.org/drawingml/2006/main"/>
        </p:blipFill>
        <p:spPr>
          <a:xfrm xmlns:a="http://schemas.openxmlformats.org/drawingml/2006/main">
            <a:off x="1038785" y="2000250"/>
            <a:ext cx="6494929"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A293B3F-B35D-48D9-AB71-CCE58CAD0FF0}"/>
              </a:ext>
            </a:extLst>
          </p:cNvPr>
          <p:cNvSpPr>
            <a:spLocks xmlns:a="http://schemas.openxmlformats.org/drawingml/2006/main" noGrp="1"/>
          </p:cNvSpPr>
          <p:nvPr/>
        </p:nvSpPr>
        <p:spPr>
          <a:xfrm xmlns:a="http://schemas.openxmlformats.org/drawingml/2006/main">
            <a:off x="8477250" y="21336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What this reveals</a:t>
            </a:r>
          </a:p>
        </p:txBody>
      </p:sp>
      <p:sp>
        <p:nvSpPr>
          <p:cNvPr id="6" name="">
            <a:extLst xmlns:a="http://schemas.openxmlformats.org/drawingml/2006/main">
              <a:ext uri="{FF2B5EF4-FFF2-40B4-BE49-F238E27FC236}">
                <a16:creationId xmlns:a16="http://schemas.microsoft.com/office/drawing/2014/main" id="{79CC46FE-534D-4604-8442-F48D94C33275}"/>
              </a:ext>
            </a:extLst>
          </p:cNvPr>
          <p:cNvSpPr>
            <a:spLocks xmlns:a="http://schemas.openxmlformats.org/drawingml/2006/main" noGrp="1"/>
          </p:cNvSpPr>
          <p:nvPr/>
        </p:nvSpPr>
        <p:spPr>
          <a:xfrm xmlns:a="http://schemas.openxmlformats.org/drawingml/2006/main">
            <a:off x="8477250" y="2705100"/>
            <a:ext cx="2571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The probability trace is now an inspectable decision surface. We can see whether missed upside comes from low predicted probabilities, high thresholds, or replay mechanics.</a:t>
            </a:r>
          </a:p>
        </p:txBody>
      </p:sp>
    </p:spTree>
    <p:extLst>
      <p:ext uri="{BB962C8B-B14F-4D97-AF65-F5344CB8AC3E}">
        <p14:creationId xmlns:p14="http://schemas.microsoft.com/office/powerpoint/2010/main" val="16321046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B3302A-9619-41B2-99B1-3124D53F2DE8}"/>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B371F908-B256-462C-8EF1-0FB500514CC5}"/>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diagnostics point to threshold and calibration questions</a:t>
            </a:r>
          </a:p>
        </p:txBody>
      </p:sp>
      <p:sp>
        <p:nvSpPr>
          <p:cNvPr id="3" name="">
            <a:extLst xmlns:a="http://schemas.openxmlformats.org/drawingml/2006/main">
              <a:ext uri="{FF2B5EF4-FFF2-40B4-BE49-F238E27FC236}">
                <a16:creationId xmlns:a16="http://schemas.microsoft.com/office/drawing/2014/main" id="{D70795A6-8104-4B6B-8D4B-ED40BB826353}"/>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5889f8fc48c4737"/>
          <a:stretch xmlns:a="http://schemas.openxmlformats.org/drawingml/2006/main"/>
        </p:blipFill>
        <p:spPr>
          <a:xfrm xmlns:a="http://schemas.openxmlformats.org/drawingml/2006/main">
            <a:off x="704850" y="2415381"/>
            <a:ext cx="4762500" cy="2579688"/>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37dc80016fd4e7b"/>
          <a:stretch xmlns:a="http://schemas.openxmlformats.org/drawingml/2006/main"/>
        </p:blipFill>
        <p:spPr>
          <a:xfrm xmlns:a="http://schemas.openxmlformats.org/drawingml/2006/main">
            <a:off x="5962650" y="2415381"/>
            <a:ext cx="4762500" cy="25796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FB9156B-8ED7-4548-AD4C-8F49586EC368}"/>
              </a:ext>
            </a:extLst>
          </p:cNvPr>
          <p:cNvSpPr>
            <a:spLocks xmlns:a="http://schemas.openxmlformats.org/drawingml/2006/main" noGrp="1"/>
          </p:cNvSpPr>
          <p:nvPr/>
        </p:nvSpPr>
        <p:spPr>
          <a:xfrm xmlns:a="http://schemas.openxmlformats.org/drawingml/2006/main">
            <a:off x="1104900" y="57531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0">
                <a:solidFill>
                  <a:srgbClr val="555555"/>
                </a:solidFill>
              </a:defRPr>
            </a:pPr>
            <a:r>
              <a:rPr sz="1500" b="0" i="0">
                <a:solidFill>
                  <a:srgbClr val="555555"/>
                </a:solidFill>
              </a:rPr>
              <a:t>Fixed thresholds are intentionally crude. The next improvement should be TRAIN-only threshold selection and probability calibration, not a rush to a more complex model.</a:t>
            </a:r>
          </a:p>
        </p:txBody>
      </p:sp>
    </p:spTree>
    <p:extLst>
      <p:ext uri="{BB962C8B-B14F-4D97-AF65-F5344CB8AC3E}">
        <p14:creationId xmlns:p14="http://schemas.microsoft.com/office/powerpoint/2010/main" val="17443765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6214A6-0023-440E-8C98-03C719A0E8F9}"/>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85BAE570-B4E0-4E2F-8684-656DB0B6A1F9}"/>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coefficient audit keeps the simple model explainable</a:t>
            </a:r>
          </a:p>
        </p:txBody>
      </p:sp>
      <p:sp>
        <p:nvSpPr>
          <p:cNvPr id="3" name="">
            <a:extLst xmlns:a="http://schemas.openxmlformats.org/drawingml/2006/main">
              <a:ext uri="{FF2B5EF4-FFF2-40B4-BE49-F238E27FC236}">
                <a16:creationId xmlns:a16="http://schemas.microsoft.com/office/drawing/2014/main" id="{611846D7-88A0-4F1D-A0F0-6E6A23416B17}"/>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cb59ebd9033478a"/>
          <a:stretch xmlns:a="http://schemas.openxmlformats.org/drawingml/2006/main"/>
        </p:blipFill>
        <p:spPr>
          <a:xfrm xmlns:a="http://schemas.openxmlformats.org/drawingml/2006/main">
            <a:off x="1371600" y="2038350"/>
            <a:ext cx="544830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E3D7641-1626-4DD1-8E6B-ABF002572600}"/>
              </a:ext>
            </a:extLst>
          </p:cNvPr>
          <p:cNvSpPr>
            <a:spLocks xmlns:a="http://schemas.openxmlformats.org/drawingml/2006/main" noGrp="1"/>
          </p:cNvSpPr>
          <p:nvPr/>
        </p:nvSpPr>
        <p:spPr>
          <a:xfrm xmlns:a="http://schemas.openxmlformats.org/drawingml/2006/main">
            <a:off x="8096250"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Why GLM still earns its keep</a:t>
            </a:r>
          </a:p>
        </p:txBody>
      </p:sp>
      <p:sp>
        <p:nvSpPr>
          <p:cNvPr id="6" name="">
            <a:extLst xmlns:a="http://schemas.openxmlformats.org/drawingml/2006/main">
              <a:ext uri="{FF2B5EF4-FFF2-40B4-BE49-F238E27FC236}">
                <a16:creationId xmlns:a16="http://schemas.microsoft.com/office/drawing/2014/main" id="{ADBA6CF6-8FB8-4405-AE04-422444E89621}"/>
              </a:ext>
            </a:extLst>
          </p:cNvPr>
          <p:cNvSpPr>
            <a:spLocks xmlns:a="http://schemas.openxmlformats.org/drawingml/2006/main" noGrp="1"/>
          </p:cNvSpPr>
          <p:nvPr/>
        </p:nvSpPr>
        <p:spPr>
          <a:xfrm xmlns:a="http://schemas.openxmlformats.org/drawingml/2006/main">
            <a:off x="8096250" y="2743200"/>
            <a:ext cx="2724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Even when performance is underwhelming, coefficients expose what the model is leaning on. That makes GLM a useful diagnostic bridge before XGBoost.</a:t>
            </a:r>
          </a:p>
        </p:txBody>
      </p:sp>
    </p:spTree>
    <p:extLst>
      <p:ext uri="{BB962C8B-B14F-4D97-AF65-F5344CB8AC3E}">
        <p14:creationId xmlns:p14="http://schemas.microsoft.com/office/powerpoint/2010/main" val="16295898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718E57-A1C6-420E-B7E4-E8C6CC972D59}"/>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84F20A69-3689-418F-9B02-96B749581240}"/>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next slice should improve the decision policy before model complexity</a:t>
            </a:r>
          </a:p>
        </p:txBody>
      </p:sp>
      <p:sp>
        <p:nvSpPr>
          <p:cNvPr id="3" name="">
            <a:extLst xmlns:a="http://schemas.openxmlformats.org/drawingml/2006/main">
              <a:ext uri="{FF2B5EF4-FFF2-40B4-BE49-F238E27FC236}">
                <a16:creationId xmlns:a16="http://schemas.microsoft.com/office/drawing/2014/main" id="{406F7076-871C-4234-BFFB-51FB46A0E796}"/>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E9DFEB-788F-4760-B044-F95DAEA7C718}"/>
              </a:ext>
            </a:extLst>
          </p:cNvPr>
          <p:cNvSpPr>
            <a:spLocks xmlns:a="http://schemas.openxmlformats.org/drawingml/2006/main" noGrp="1"/>
          </p:cNvSpPr>
          <p:nvPr/>
        </p:nvSpPr>
        <p:spPr>
          <a:xfrm xmlns:a="http://schemas.openxmlformats.org/drawingml/2006/main">
            <a:off x="876300" y="2133600"/>
            <a:ext cx="895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ML-P1 worked mechanically and exposed a familiar failure mode: too little upside participation in 2020, partial defense in 2022.</a:t>
            </a:r>
          </a:p>
        </p:txBody>
      </p:sp>
      <p:sp>
        <p:nvSpPr>
          <p:cNvPr id="5" name="">
            <a:extLst xmlns:a="http://schemas.openxmlformats.org/drawingml/2006/main">
              <a:ext uri="{FF2B5EF4-FFF2-40B4-BE49-F238E27FC236}">
                <a16:creationId xmlns:a16="http://schemas.microsoft.com/office/drawing/2014/main" id="{7F3F3C6C-A0CC-47B8-8D80-74E24CC9EA26}"/>
              </a:ext>
            </a:extLst>
          </p:cNvPr>
          <p:cNvSpPr>
            <a:spLocks xmlns:a="http://schemas.openxmlformats.org/drawingml/2006/main" noGrp="1"/>
          </p:cNvSpPr>
          <p:nvPr/>
        </p:nvSpPr>
        <p:spPr>
          <a:xfrm xmlns:a="http://schemas.openxmlformats.org/drawingml/2006/main">
            <a:off x="1219200" y="34575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6" name="">
            <a:extLst xmlns:a="http://schemas.openxmlformats.org/drawingml/2006/main">
              <a:ext uri="{FF2B5EF4-FFF2-40B4-BE49-F238E27FC236}">
                <a16:creationId xmlns:a16="http://schemas.microsoft.com/office/drawing/2014/main" id="{ED43AE7B-F1EA-403E-9552-47DADDBD6594}"/>
              </a:ext>
            </a:extLst>
          </p:cNvPr>
          <p:cNvSpPr>
            <a:spLocks xmlns:a="http://schemas.openxmlformats.org/drawingml/2006/main" noGrp="1"/>
          </p:cNvSpPr>
          <p:nvPr/>
        </p:nvSpPr>
        <p:spPr>
          <a:xfrm xmlns:a="http://schemas.openxmlformats.org/drawingml/2006/main">
            <a:off x="1485900" y="3448050"/>
            <a:ext cx="659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Add TRAIN-only threshold selection or calibration before XGBoost.</a:t>
            </a:r>
          </a:p>
        </p:txBody>
      </p:sp>
      <p:sp>
        <p:nvSpPr>
          <p:cNvPr id="7" name="">
            <a:extLst xmlns:a="http://schemas.openxmlformats.org/drawingml/2006/main">
              <a:ext uri="{FF2B5EF4-FFF2-40B4-BE49-F238E27FC236}">
                <a16:creationId xmlns:a16="http://schemas.microsoft.com/office/drawing/2014/main" id="{58297E14-09AF-49C5-AD4F-F9D8A3E1AD33}"/>
              </a:ext>
            </a:extLst>
          </p:cNvPr>
          <p:cNvSpPr>
            <a:spLocks xmlns:a="http://schemas.openxmlformats.org/drawingml/2006/main" noGrp="1"/>
          </p:cNvSpPr>
          <p:nvPr/>
        </p:nvSpPr>
        <p:spPr>
          <a:xfrm xmlns:a="http://schemas.openxmlformats.org/drawingml/2006/main">
            <a:off x="1219200" y="41243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8" name="">
            <a:extLst xmlns:a="http://schemas.openxmlformats.org/drawingml/2006/main">
              <a:ext uri="{FF2B5EF4-FFF2-40B4-BE49-F238E27FC236}">
                <a16:creationId xmlns:a16="http://schemas.microsoft.com/office/drawing/2014/main" id="{684D977B-D40E-41BA-814C-C671219C3DC2}"/>
              </a:ext>
            </a:extLst>
          </p:cNvPr>
          <p:cNvSpPr>
            <a:spLocks xmlns:a="http://schemas.openxmlformats.org/drawingml/2006/main" noGrp="1"/>
          </p:cNvSpPr>
          <p:nvPr/>
        </p:nvSpPr>
        <p:spPr>
          <a:xfrm xmlns:a="http://schemas.openxmlformats.org/drawingml/2006/main">
            <a:off x="1485900" y="4114800"/>
            <a:ext cx="659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Compare fixed thresholds against a more permissive participation policy.</a:t>
            </a:r>
          </a:p>
        </p:txBody>
      </p:sp>
      <p:sp>
        <p:nvSpPr>
          <p:cNvPr id="9" name="">
            <a:extLst xmlns:a="http://schemas.openxmlformats.org/drawingml/2006/main">
              <a:ext uri="{FF2B5EF4-FFF2-40B4-BE49-F238E27FC236}">
                <a16:creationId xmlns:a16="http://schemas.microsoft.com/office/drawing/2014/main" id="{3F882801-270F-4C7A-ACE4-CAF9B8303B00}"/>
              </a:ext>
            </a:extLst>
          </p:cNvPr>
          <p:cNvSpPr>
            <a:spLocks xmlns:a="http://schemas.openxmlformats.org/drawingml/2006/main" noGrp="1"/>
          </p:cNvSpPr>
          <p:nvPr/>
        </p:nvSpPr>
        <p:spPr>
          <a:xfrm xmlns:a="http://schemas.openxmlformats.org/drawingml/2006/main">
            <a:off x="1219200" y="47910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0" name="">
            <a:extLst xmlns:a="http://schemas.openxmlformats.org/drawingml/2006/main">
              <a:ext uri="{FF2B5EF4-FFF2-40B4-BE49-F238E27FC236}">
                <a16:creationId xmlns:a16="http://schemas.microsoft.com/office/drawing/2014/main" id="{5E18439B-52F7-47EA-98E5-A98A01E5C0BE}"/>
              </a:ext>
            </a:extLst>
          </p:cNvPr>
          <p:cNvSpPr>
            <a:spLocks xmlns:a="http://schemas.openxmlformats.org/drawingml/2006/main" noGrp="1"/>
          </p:cNvSpPr>
          <p:nvPr/>
        </p:nvSpPr>
        <p:spPr>
          <a:xfrm xmlns:a="http://schemas.openxmlformats.org/drawingml/2006/main">
            <a:off x="1485900" y="4781550"/>
            <a:ext cx="659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Keep probability trade tapes as the required visual audit for every ML replay.</a:t>
            </a:r>
          </a:p>
        </p:txBody>
      </p:sp>
      <p:sp>
        <p:nvSpPr>
          <p:cNvPr id="11" name="">
            <a:extLst xmlns:a="http://schemas.openxmlformats.org/drawingml/2006/main">
              <a:ext uri="{FF2B5EF4-FFF2-40B4-BE49-F238E27FC236}">
                <a16:creationId xmlns:a16="http://schemas.microsoft.com/office/drawing/2014/main" id="{2CCFA4B4-976E-4BE8-8FBC-E3B539AD239B}"/>
              </a:ext>
            </a:extLst>
          </p:cNvPr>
          <p:cNvSpPr>
            <a:spLocks xmlns:a="http://schemas.openxmlformats.org/drawingml/2006/main" noGrp="1"/>
          </p:cNvSpPr>
          <p:nvPr/>
        </p:nvSpPr>
        <p:spPr>
          <a:xfrm xmlns:a="http://schemas.openxmlformats.org/drawingml/2006/main">
            <a:off x="1219200" y="54578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2" name="">
            <a:extLst xmlns:a="http://schemas.openxmlformats.org/drawingml/2006/main">
              <a:ext uri="{FF2B5EF4-FFF2-40B4-BE49-F238E27FC236}">
                <a16:creationId xmlns:a16="http://schemas.microsoft.com/office/drawing/2014/main" id="{0D4B1B60-4FB3-4A29-9A18-6B0B8D2D8866}"/>
              </a:ext>
            </a:extLst>
          </p:cNvPr>
          <p:cNvSpPr>
            <a:spLocks xmlns:a="http://schemas.openxmlformats.org/drawingml/2006/main" noGrp="1"/>
          </p:cNvSpPr>
          <p:nvPr/>
        </p:nvSpPr>
        <p:spPr>
          <a:xfrm xmlns:a="http://schemas.openxmlformats.org/drawingml/2006/main">
            <a:off x="1485900" y="5448300"/>
            <a:ext cx="659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Only then add XGBoost as a nonlinear challenger.</a:t>
            </a:r>
          </a:p>
        </p:txBody>
      </p:sp>
    </p:spTree>
    <p:extLst>
      <p:ext uri="{BB962C8B-B14F-4D97-AF65-F5344CB8AC3E}">
        <p14:creationId xmlns:p14="http://schemas.microsoft.com/office/powerpoint/2010/main" val="5015529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A72768-16BA-4DAF-A7C1-BD3E38895409}"/>
              </a:ext>
            </a:extLst>
          </p:cNvPr>
          <p:cNvSpPr>
            <a:spLocks xmlns:a="http://schemas.openxmlformats.org/drawingml/2006/main" noGrp="1"/>
          </p:cNvSpPr>
          <p:nvPr/>
        </p:nvSpPr>
        <p:spPr>
          <a:xfrm xmlns:a="http://schemas.openxmlformats.org/drawingml/2006/main">
            <a:off x="685800" y="495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555555"/>
                </a:solidFill>
              </a:defRPr>
            </a:pPr>
            <a:r>
              <a:rPr sz="2400" b="1" i="0">
                <a:solidFill>
                  <a:srgbClr val="555555"/>
                </a:solidFill>
              </a:rPr>
              <a:t>Transition</a:t>
            </a:r>
          </a:p>
        </p:txBody>
      </p:sp>
      <p:sp>
        <p:nvSpPr>
          <p:cNvPr id="2" name="">
            <a:extLst xmlns:a="http://schemas.openxmlformats.org/drawingml/2006/main">
              <a:ext uri="{FF2B5EF4-FFF2-40B4-BE49-F238E27FC236}">
                <a16:creationId xmlns:a16="http://schemas.microsoft.com/office/drawing/2014/main" id="{93B5966C-9487-4B04-88EE-D91DB7206F29}"/>
              </a:ext>
            </a:extLst>
          </p:cNvPr>
          <p:cNvSpPr>
            <a:spLocks xmlns:a="http://schemas.openxmlformats.org/drawingml/2006/main" noGrp="1"/>
          </p:cNvSpPr>
          <p:nvPr/>
        </p:nvSpPr>
        <p:spPr>
          <a:xfrm xmlns:a="http://schemas.openxmlformats.org/drawingml/2006/main">
            <a:off x="685800" y="160020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i="0">
                <a:solidFill>
                  <a:srgbClr val="000000"/>
                </a:solidFill>
              </a:defRPr>
            </a:pPr>
            <a:r>
              <a:rPr sz="3900" b="1" i="0">
                <a:solidFill>
                  <a:srgbClr val="000000"/>
                </a:solidFill>
              </a:rPr>
              <a:t>Threshold policy is the first decision layer to audit</a:t>
            </a:r>
          </a:p>
        </p:txBody>
      </p:sp>
      <p:sp>
        <p:nvSpPr>
          <p:cNvPr id="3" name="">
            <a:extLst xmlns:a="http://schemas.openxmlformats.org/drawingml/2006/main">
              <a:ext uri="{FF2B5EF4-FFF2-40B4-BE49-F238E27FC236}">
                <a16:creationId xmlns:a16="http://schemas.microsoft.com/office/drawing/2014/main" id="{97ACBE62-FE26-4692-B63B-65B3F4D8D4F4}"/>
              </a:ext>
            </a:extLst>
          </p:cNvPr>
          <p:cNvSpPr>
            <a:spLocks xmlns:a="http://schemas.openxmlformats.org/drawingml/2006/main" noGrp="1"/>
          </p:cNvSpPr>
          <p:nvPr/>
        </p:nvSpPr>
        <p:spPr>
          <a:xfrm xmlns:a="http://schemas.openxmlformats.org/drawingml/2006/main">
            <a:off x="723900" y="3105150"/>
            <a:ext cx="57150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1856B7-5E72-4937-99EB-0BF9D9745A36}"/>
              </a:ext>
            </a:extLst>
          </p:cNvPr>
          <p:cNvSpPr>
            <a:spLocks xmlns:a="http://schemas.openxmlformats.org/drawingml/2006/main" noGrp="1"/>
          </p:cNvSpPr>
          <p:nvPr/>
        </p:nvSpPr>
        <p:spPr>
          <a:xfrm xmlns:a="http://schemas.openxmlformats.org/drawingml/2006/main">
            <a:off x="723900" y="3467100"/>
            <a:ext cx="7524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222222"/>
                </a:solidFill>
              </a:defRPr>
            </a:pPr>
            <a:r>
              <a:rPr sz="1800" b="0" i="0">
                <a:solidFill>
                  <a:srgbClr val="222222"/>
                </a:solidFill>
              </a:rPr>
              <a:t>ML-P1b keeps the GLM fixed and changes only the rule that converts probability into long/flat exposure. Thresholds are chosen before OOS replay using TRAIN data only.</a:t>
            </a:r>
          </a:p>
        </p:txBody>
      </p:sp>
      <p:sp>
        <p:nvSpPr>
          <p:cNvPr id="5" name="">
            <a:extLst xmlns:a="http://schemas.openxmlformats.org/drawingml/2006/main">
              <a:ext uri="{FF2B5EF4-FFF2-40B4-BE49-F238E27FC236}">
                <a16:creationId xmlns:a16="http://schemas.microsoft.com/office/drawing/2014/main" id="{EFC75BF0-80C9-4E96-86C7-53B8527A302D}"/>
              </a:ext>
            </a:extLst>
          </p:cNvPr>
          <p:cNvSpPr>
            <a:spLocks xmlns:a="http://schemas.openxmlformats.org/drawingml/2006/main" noGrp="1"/>
          </p:cNvSpPr>
          <p:nvPr/>
        </p:nvSpPr>
        <p:spPr>
          <a:xfrm xmlns:a="http://schemas.openxmlformats.org/drawingml/2006/main">
            <a:off x="8801100" y="0"/>
            <a:ext cx="3390900" cy="6858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58E9EEA-D4CF-46AD-885A-5E5744FCF6EA}"/>
              </a:ext>
            </a:extLst>
          </p:cNvPr>
          <p:cNvSpPr>
            <a:spLocks xmlns:a="http://schemas.openxmlformats.org/drawingml/2006/main" noGrp="1"/>
          </p:cNvSpPr>
          <p:nvPr/>
        </p:nvSpPr>
        <p:spPr>
          <a:xfrm xmlns:a="http://schemas.openxmlformats.org/drawingml/2006/main">
            <a:off x="9353550" y="234315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i="0">
                <a:solidFill>
                  <a:srgbClr val="000000"/>
                </a:solidFill>
              </a:defRPr>
            </a:pPr>
            <a:r>
              <a:rPr sz="3150" b="1" i="0">
                <a:solidFill>
                  <a:srgbClr val="000000"/>
                </a:solidFill>
              </a:rPr>
              <a:t>ML-P1b</a:t>
            </a:r>
          </a:p>
        </p:txBody>
      </p:sp>
      <p:sp>
        <p:nvSpPr>
          <p:cNvPr id="7" name="">
            <a:extLst xmlns:a="http://schemas.openxmlformats.org/drawingml/2006/main">
              <a:ext uri="{FF2B5EF4-FFF2-40B4-BE49-F238E27FC236}">
                <a16:creationId xmlns:a16="http://schemas.microsoft.com/office/drawing/2014/main" id="{A42A2734-D768-42E8-A986-AD808D659AA8}"/>
              </a:ext>
            </a:extLst>
          </p:cNvPr>
          <p:cNvSpPr>
            <a:spLocks xmlns:a="http://schemas.openxmlformats.org/drawingml/2006/main" noGrp="1"/>
          </p:cNvSpPr>
          <p:nvPr/>
        </p:nvSpPr>
        <p:spPr>
          <a:xfrm xmlns:a="http://schemas.openxmlformats.org/drawingml/2006/main">
            <a:off x="9067800" y="30670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0" i="0">
                <a:solidFill>
                  <a:srgbClr val="222222"/>
                </a:solidFill>
              </a:defRPr>
            </a:pPr>
            <a:r>
              <a:rPr sz="1875" b="0" i="0">
                <a:solidFill>
                  <a:srgbClr val="222222"/>
                </a:solidFill>
              </a:rPr>
              <a:t>Threshold diagnostic</a:t>
            </a:r>
          </a:p>
        </p:txBody>
      </p:sp>
    </p:spTree>
    <p:extLst>
      <p:ext uri="{BB962C8B-B14F-4D97-AF65-F5344CB8AC3E}">
        <p14:creationId xmlns:p14="http://schemas.microsoft.com/office/powerpoint/2010/main" val="14874148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F44ADA-C81E-4DE1-86CB-5A74C38ADBB9}"/>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2C3A8A2E-9DBD-4B0D-A7BE-8E6B658E145E}"/>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participation policy helped, but not enough</a:t>
            </a:r>
          </a:p>
        </p:txBody>
      </p:sp>
      <p:sp>
        <p:nvSpPr>
          <p:cNvPr id="3" name="">
            <a:extLst xmlns:a="http://schemas.openxmlformats.org/drawingml/2006/main">
              <a:ext uri="{FF2B5EF4-FFF2-40B4-BE49-F238E27FC236}">
                <a16:creationId xmlns:a16="http://schemas.microsoft.com/office/drawing/2014/main" id="{60DFE17C-A77E-470B-B29F-0043C82022AE}"/>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16ACE7-9004-479E-AFF3-792D27480848}"/>
              </a:ext>
            </a:extLst>
          </p:cNvPr>
          <p:cNvSpPr>
            <a:spLocks xmlns:a="http://schemas.openxmlformats.org/drawingml/2006/main" noGrp="1"/>
          </p:cNvSpPr>
          <p:nvPr/>
        </p:nvSpPr>
        <p:spPr>
          <a:xfrm xmlns:a="http://schemas.openxmlformats.org/drawingml/2006/main">
            <a:off x="7048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0303A4B3-43E3-4219-A82C-B9C984FDE5F2}"/>
              </a:ext>
            </a:extLst>
          </p:cNvPr>
          <p:cNvSpPr>
            <a:spLocks xmlns:a="http://schemas.openxmlformats.org/drawingml/2006/main" noGrp="1"/>
          </p:cNvSpPr>
          <p:nvPr/>
        </p:nvSpPr>
        <p:spPr>
          <a:xfrm xmlns:a="http://schemas.openxmlformats.org/drawingml/2006/main">
            <a:off x="8763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POLICIES TESTED</a:t>
            </a:r>
          </a:p>
        </p:txBody>
      </p:sp>
      <p:sp>
        <p:nvSpPr>
          <p:cNvPr id="6" name="">
            <a:extLst xmlns:a="http://schemas.openxmlformats.org/drawingml/2006/main">
              <a:ext uri="{FF2B5EF4-FFF2-40B4-BE49-F238E27FC236}">
                <a16:creationId xmlns:a16="http://schemas.microsoft.com/office/drawing/2014/main" id="{A4204E7E-4FBC-4980-9421-6EF772AA709C}"/>
              </a:ext>
            </a:extLst>
          </p:cNvPr>
          <p:cNvSpPr>
            <a:spLocks xmlns:a="http://schemas.openxmlformats.org/drawingml/2006/main" noGrp="1"/>
          </p:cNvSpPr>
          <p:nvPr/>
        </p:nvSpPr>
        <p:spPr>
          <a:xfrm xmlns:a="http://schemas.openxmlformats.org/drawingml/2006/main">
            <a:off x="8763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3</a:t>
            </a:r>
          </a:p>
        </p:txBody>
      </p:sp>
      <p:sp>
        <p:nvSpPr>
          <p:cNvPr id="7" name="">
            <a:extLst xmlns:a="http://schemas.openxmlformats.org/drawingml/2006/main">
              <a:ext uri="{FF2B5EF4-FFF2-40B4-BE49-F238E27FC236}">
                <a16:creationId xmlns:a16="http://schemas.microsoft.com/office/drawing/2014/main" id="{1CC24F79-587D-46E2-8EC6-7A29522A9369}"/>
              </a:ext>
            </a:extLst>
          </p:cNvPr>
          <p:cNvSpPr>
            <a:spLocks xmlns:a="http://schemas.openxmlformats.org/drawingml/2006/main" noGrp="1"/>
          </p:cNvSpPr>
          <p:nvPr/>
        </p:nvSpPr>
        <p:spPr>
          <a:xfrm xmlns:a="http://schemas.openxmlformats.org/drawingml/2006/main">
            <a:off x="8763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Fixed, TRAIN quantile, and TRAIN forward-return grid.</a:t>
            </a:r>
          </a:p>
        </p:txBody>
      </p:sp>
      <p:sp>
        <p:nvSpPr>
          <p:cNvPr id="8" name="">
            <a:extLst xmlns:a="http://schemas.openxmlformats.org/drawingml/2006/main">
              <a:ext uri="{FF2B5EF4-FFF2-40B4-BE49-F238E27FC236}">
                <a16:creationId xmlns:a16="http://schemas.microsoft.com/office/drawing/2014/main" id="{549C43F5-61B5-40CE-82DE-A595D6311F78}"/>
              </a:ext>
            </a:extLst>
          </p:cNvPr>
          <p:cNvSpPr>
            <a:spLocks xmlns:a="http://schemas.openxmlformats.org/drawingml/2006/main" noGrp="1"/>
          </p:cNvSpPr>
          <p:nvPr/>
        </p:nvSpPr>
        <p:spPr>
          <a:xfrm xmlns:a="http://schemas.openxmlformats.org/drawingml/2006/main">
            <a:off x="34099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1020638-AF39-4068-93EC-62D4D95BD5D3}"/>
              </a:ext>
            </a:extLst>
          </p:cNvPr>
          <p:cNvSpPr>
            <a:spLocks xmlns:a="http://schemas.openxmlformats.org/drawingml/2006/main" noGrp="1"/>
          </p:cNvSpPr>
          <p:nvPr/>
        </p:nvSpPr>
        <p:spPr>
          <a:xfrm xmlns:a="http://schemas.openxmlformats.org/drawingml/2006/main">
            <a:off x="35814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GUARDRAILS</a:t>
            </a:r>
          </a:p>
        </p:txBody>
      </p:sp>
      <p:sp>
        <p:nvSpPr>
          <p:cNvPr id="10" name="">
            <a:extLst xmlns:a="http://schemas.openxmlformats.org/drawingml/2006/main">
              <a:ext uri="{FF2B5EF4-FFF2-40B4-BE49-F238E27FC236}">
                <a16:creationId xmlns:a16="http://schemas.microsoft.com/office/drawing/2014/main" id="{B5471F5C-44CD-4245-90C8-540AEFBD0774}"/>
              </a:ext>
            </a:extLst>
          </p:cNvPr>
          <p:cNvSpPr>
            <a:spLocks xmlns:a="http://schemas.openxmlformats.org/drawingml/2006/main" noGrp="1"/>
          </p:cNvSpPr>
          <p:nvPr/>
        </p:nvSpPr>
        <p:spPr>
          <a:xfrm xmlns:a="http://schemas.openxmlformats.org/drawingml/2006/main">
            <a:off x="35814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All PASS</a:t>
            </a:r>
          </a:p>
        </p:txBody>
      </p:sp>
      <p:sp>
        <p:nvSpPr>
          <p:cNvPr id="11" name="">
            <a:extLst xmlns:a="http://schemas.openxmlformats.org/drawingml/2006/main">
              <a:ext uri="{FF2B5EF4-FFF2-40B4-BE49-F238E27FC236}">
                <a16:creationId xmlns:a16="http://schemas.microsoft.com/office/drawing/2014/main" id="{4E13CA4D-34E2-4223-909D-38C0E071FB45}"/>
              </a:ext>
            </a:extLst>
          </p:cNvPr>
          <p:cNvSpPr>
            <a:spLocks xmlns:a="http://schemas.openxmlformats.org/drawingml/2006/main" noGrp="1"/>
          </p:cNvSpPr>
          <p:nvPr/>
        </p:nvSpPr>
        <p:spPr>
          <a:xfrm xmlns:a="http://schemas.openxmlformats.org/drawingml/2006/main">
            <a:off x="35814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Fit and policy selection stay inside TRAIN.</a:t>
            </a:r>
          </a:p>
        </p:txBody>
      </p:sp>
      <p:sp>
        <p:nvSpPr>
          <p:cNvPr id="12" name="">
            <a:extLst xmlns:a="http://schemas.openxmlformats.org/drawingml/2006/main">
              <a:ext uri="{FF2B5EF4-FFF2-40B4-BE49-F238E27FC236}">
                <a16:creationId xmlns:a16="http://schemas.microsoft.com/office/drawing/2014/main" id="{A4CED986-2B53-44FD-B38C-505A7091046C}"/>
              </a:ext>
            </a:extLst>
          </p:cNvPr>
          <p:cNvSpPr>
            <a:spLocks xmlns:a="http://schemas.openxmlformats.org/drawingml/2006/main" noGrp="1"/>
          </p:cNvSpPr>
          <p:nvPr/>
        </p:nvSpPr>
        <p:spPr>
          <a:xfrm xmlns:a="http://schemas.openxmlformats.org/drawingml/2006/main">
            <a:off x="61150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4B8440AD-5099-463D-BB3B-F1A26A9E742F}"/>
              </a:ext>
            </a:extLst>
          </p:cNvPr>
          <p:cNvSpPr>
            <a:spLocks xmlns:a="http://schemas.openxmlformats.org/drawingml/2006/main" noGrp="1"/>
          </p:cNvSpPr>
          <p:nvPr/>
        </p:nvSpPr>
        <p:spPr>
          <a:xfrm xmlns:a="http://schemas.openxmlformats.org/drawingml/2006/main">
            <a:off x="62865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2020 GRID RETURN</a:t>
            </a:r>
          </a:p>
        </p:txBody>
      </p:sp>
      <p:sp>
        <p:nvSpPr>
          <p:cNvPr id="14" name="">
            <a:extLst xmlns:a="http://schemas.openxmlformats.org/drawingml/2006/main">
              <a:ext uri="{FF2B5EF4-FFF2-40B4-BE49-F238E27FC236}">
                <a16:creationId xmlns:a16="http://schemas.microsoft.com/office/drawing/2014/main" id="{1A85DCFC-B04D-43E2-8699-34BB557A1E36}"/>
              </a:ext>
            </a:extLst>
          </p:cNvPr>
          <p:cNvSpPr>
            <a:spLocks xmlns:a="http://schemas.openxmlformats.org/drawingml/2006/main" noGrp="1"/>
          </p:cNvSpPr>
          <p:nvPr/>
        </p:nvSpPr>
        <p:spPr>
          <a:xfrm xmlns:a="http://schemas.openxmlformats.org/drawingml/2006/main">
            <a:off x="62865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30.0%</a:t>
            </a:r>
          </a:p>
        </p:txBody>
      </p:sp>
      <p:sp>
        <p:nvSpPr>
          <p:cNvPr id="15" name="">
            <a:extLst xmlns:a="http://schemas.openxmlformats.org/drawingml/2006/main">
              <a:ext uri="{FF2B5EF4-FFF2-40B4-BE49-F238E27FC236}">
                <a16:creationId xmlns:a16="http://schemas.microsoft.com/office/drawing/2014/main" id="{557BE171-8AC9-4C8A-B54A-7FE5EFCE3ED2}"/>
              </a:ext>
            </a:extLst>
          </p:cNvPr>
          <p:cNvSpPr>
            <a:spLocks xmlns:a="http://schemas.openxmlformats.org/drawingml/2006/main" noGrp="1"/>
          </p:cNvSpPr>
          <p:nvPr/>
        </p:nvSpPr>
        <p:spPr>
          <a:xfrm xmlns:a="http://schemas.openxmlformats.org/drawingml/2006/main">
            <a:off x="62865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Fixed was 8.0%; basket hold was 214.0%.</a:t>
            </a:r>
          </a:p>
        </p:txBody>
      </p:sp>
      <p:sp>
        <p:nvSpPr>
          <p:cNvPr id="16" name="">
            <a:extLst xmlns:a="http://schemas.openxmlformats.org/drawingml/2006/main">
              <a:ext uri="{FF2B5EF4-FFF2-40B4-BE49-F238E27FC236}">
                <a16:creationId xmlns:a16="http://schemas.microsoft.com/office/drawing/2014/main" id="{5C11B46F-7147-43B2-84F3-485FBBD34EFC}"/>
              </a:ext>
            </a:extLst>
          </p:cNvPr>
          <p:cNvSpPr>
            <a:spLocks xmlns:a="http://schemas.openxmlformats.org/drawingml/2006/main" noGrp="1"/>
          </p:cNvSpPr>
          <p:nvPr/>
        </p:nvSpPr>
        <p:spPr>
          <a:xfrm xmlns:a="http://schemas.openxmlformats.org/drawingml/2006/main">
            <a:off x="88201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0A9B1CF4-C8F1-49DA-BA48-1B93700B2246}"/>
              </a:ext>
            </a:extLst>
          </p:cNvPr>
          <p:cNvSpPr>
            <a:spLocks xmlns:a="http://schemas.openxmlformats.org/drawingml/2006/main" noGrp="1"/>
          </p:cNvSpPr>
          <p:nvPr/>
        </p:nvSpPr>
        <p:spPr>
          <a:xfrm xmlns:a="http://schemas.openxmlformats.org/drawingml/2006/main">
            <a:off x="89916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2022 QUANTILE RETURN</a:t>
            </a:r>
          </a:p>
        </p:txBody>
      </p:sp>
      <p:sp>
        <p:nvSpPr>
          <p:cNvPr id="18" name="">
            <a:extLst xmlns:a="http://schemas.openxmlformats.org/drawingml/2006/main">
              <a:ext uri="{FF2B5EF4-FFF2-40B4-BE49-F238E27FC236}">
                <a16:creationId xmlns:a16="http://schemas.microsoft.com/office/drawing/2014/main" id="{2B5AC19B-662A-45D7-BCE7-AB1179898C67}"/>
              </a:ext>
            </a:extLst>
          </p:cNvPr>
          <p:cNvSpPr>
            <a:spLocks xmlns:a="http://schemas.openxmlformats.org/drawingml/2006/main" noGrp="1"/>
          </p:cNvSpPr>
          <p:nvPr/>
        </p:nvSpPr>
        <p:spPr>
          <a:xfrm xmlns:a="http://schemas.openxmlformats.org/drawingml/2006/main">
            <a:off x="89916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-39.5%</a:t>
            </a:r>
          </a:p>
        </p:txBody>
      </p:sp>
      <p:sp>
        <p:nvSpPr>
          <p:cNvPr id="19" name="">
            <a:extLst xmlns:a="http://schemas.openxmlformats.org/drawingml/2006/main">
              <a:ext uri="{FF2B5EF4-FFF2-40B4-BE49-F238E27FC236}">
                <a16:creationId xmlns:a16="http://schemas.microsoft.com/office/drawing/2014/main" id="{96BB9457-C140-4B4D-8E60-1E31A16236E3}"/>
              </a:ext>
            </a:extLst>
          </p:cNvPr>
          <p:cNvSpPr>
            <a:spLocks xmlns:a="http://schemas.openxmlformats.org/drawingml/2006/main" noGrp="1"/>
          </p:cNvSpPr>
          <p:nvPr/>
        </p:nvSpPr>
        <p:spPr>
          <a:xfrm xmlns:a="http://schemas.openxmlformats.org/drawingml/2006/main">
            <a:off x="89916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Fixed was -42.4%; basket hold was -54.2%.</a:t>
            </a:r>
          </a:p>
        </p:txBody>
      </p:sp>
      <p:sp>
        <p:nvSpPr>
          <p:cNvPr id="20" name="">
            <a:extLst xmlns:a="http://schemas.openxmlformats.org/drawingml/2006/main">
              <a:ext uri="{FF2B5EF4-FFF2-40B4-BE49-F238E27FC236}">
                <a16:creationId xmlns:a16="http://schemas.microsoft.com/office/drawing/2014/main" id="{015A7983-469C-49C5-9F71-80FEEF63BAF6}"/>
              </a:ext>
            </a:extLst>
          </p:cNvPr>
          <p:cNvSpPr>
            <a:spLocks xmlns:a="http://schemas.openxmlformats.org/drawingml/2006/main" noGrp="1"/>
          </p:cNvSpPr>
          <p:nvPr/>
        </p:nvSpPr>
        <p:spPr>
          <a:xfrm xmlns:a="http://schemas.openxmlformats.org/drawingml/2006/main">
            <a:off x="1066800" y="409575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000000"/>
                </a:solidFill>
              </a:defRPr>
            </a:pPr>
            <a:r>
              <a:rPr sz="2100" b="1" i="0">
                <a:solidFill>
                  <a:srgbClr val="000000"/>
                </a:solidFill>
              </a:rPr>
              <a:t>The grid policy raised 2020 exposure and return, which confirms threshold choice matters. It still left most of the high-beta rally unowned, so the problem is not just the original 0.55 / 0.50 cutoff.</a:t>
            </a:r>
          </a:p>
        </p:txBody>
      </p:sp>
    </p:spTree>
    <p:extLst>
      <p:ext uri="{BB962C8B-B14F-4D97-AF65-F5344CB8AC3E}">
        <p14:creationId xmlns:p14="http://schemas.microsoft.com/office/powerpoint/2010/main" val="60270202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EA3D16-2AD6-4064-94F7-D23290D0EE3B}"/>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BEB5E871-86B5-4A88-B110-5734C7B30100}"/>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equity curves show a better but still underpowered rally response</a:t>
            </a:r>
          </a:p>
        </p:txBody>
      </p:sp>
      <p:sp>
        <p:nvSpPr>
          <p:cNvPr id="3" name="">
            <a:extLst xmlns:a="http://schemas.openxmlformats.org/drawingml/2006/main">
              <a:ext uri="{FF2B5EF4-FFF2-40B4-BE49-F238E27FC236}">
                <a16:creationId xmlns:a16="http://schemas.microsoft.com/office/drawing/2014/main" id="{8399AFBB-C56C-42E9-A9CB-1BFEF2292D40}"/>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d2c0b97260e46e8"/>
          <a:stretch xmlns:a="http://schemas.openxmlformats.org/drawingml/2006/main"/>
        </p:blipFill>
        <p:spPr>
          <a:xfrm xmlns:a="http://schemas.openxmlformats.org/drawingml/2006/main">
            <a:off x="835819" y="2000250"/>
            <a:ext cx="6900863"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BBE7FC-269B-4671-842B-D074058AC32D}"/>
              </a:ext>
            </a:extLst>
          </p:cNvPr>
          <p:cNvSpPr>
            <a:spLocks xmlns:a="http://schemas.openxmlformats.org/drawingml/2006/main" noGrp="1"/>
          </p:cNvSpPr>
          <p:nvPr/>
        </p:nvSpPr>
        <p:spPr>
          <a:xfrm xmlns:a="http://schemas.openxmlformats.org/drawingml/2006/main">
            <a:off x="8477250" y="21336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What changed</a:t>
            </a:r>
          </a:p>
        </p:txBody>
      </p:sp>
      <p:sp>
        <p:nvSpPr>
          <p:cNvPr id="6" name="">
            <a:extLst xmlns:a="http://schemas.openxmlformats.org/drawingml/2006/main">
              <a:ext uri="{FF2B5EF4-FFF2-40B4-BE49-F238E27FC236}">
                <a16:creationId xmlns:a16="http://schemas.microsoft.com/office/drawing/2014/main" id="{E9A5396C-0D25-48D3-B3B6-AEC12C308987}"/>
              </a:ext>
            </a:extLst>
          </p:cNvPr>
          <p:cNvSpPr>
            <a:spLocks xmlns:a="http://schemas.openxmlformats.org/drawingml/2006/main" noGrp="1"/>
          </p:cNvSpPr>
          <p:nvPr/>
        </p:nvSpPr>
        <p:spPr>
          <a:xfrm xmlns:a="http://schemas.openxmlformats.org/drawingml/2006/main">
            <a:off x="8477250" y="2705100"/>
            <a:ext cx="27051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The TRAIN grid policy lifted 2020 exposure from 27.6% to 34.8% and return from 8.0% to 30.0%. It still lagged the basket by -184.0%.</a:t>
            </a:r>
          </a:p>
        </p:txBody>
      </p:sp>
    </p:spTree>
    <p:extLst>
      <p:ext uri="{BB962C8B-B14F-4D97-AF65-F5344CB8AC3E}">
        <p14:creationId xmlns:p14="http://schemas.microsoft.com/office/powerpoint/2010/main" val="12154832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EC1E41-BD3E-48DA-BAD6-9806D8442B62}"/>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293C5AFB-7DF1-4AF5-BBE6-F55DEC7CC324}"/>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selected thresholds explain the behavior change</a:t>
            </a:r>
          </a:p>
        </p:txBody>
      </p:sp>
      <p:sp>
        <p:nvSpPr>
          <p:cNvPr id="3" name="">
            <a:extLst xmlns:a="http://schemas.openxmlformats.org/drawingml/2006/main">
              <a:ext uri="{FF2B5EF4-FFF2-40B4-BE49-F238E27FC236}">
                <a16:creationId xmlns:a16="http://schemas.microsoft.com/office/drawing/2014/main" id="{EAEE2772-0636-4422-A853-774329A4CA4C}"/>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4f4f4a6725b48fd"/>
          <a:stretch xmlns:a="http://schemas.openxmlformats.org/drawingml/2006/main"/>
        </p:blipFill>
        <p:spPr>
          <a:xfrm xmlns:a="http://schemas.openxmlformats.org/drawingml/2006/main">
            <a:off x="704850" y="2423013"/>
            <a:ext cx="4762500" cy="2564423"/>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979f97f487348b2"/>
          <a:stretch xmlns:a="http://schemas.openxmlformats.org/drawingml/2006/main"/>
        </p:blipFill>
        <p:spPr>
          <a:xfrm xmlns:a="http://schemas.openxmlformats.org/drawingml/2006/main">
            <a:off x="5962650" y="2382308"/>
            <a:ext cx="4762500" cy="264583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3A7121-8A9D-4405-826E-99EED9169DD8}"/>
              </a:ext>
            </a:extLst>
          </p:cNvPr>
          <p:cNvSpPr>
            <a:spLocks xmlns:a="http://schemas.openxmlformats.org/drawingml/2006/main" noGrp="1"/>
          </p:cNvSpPr>
          <p:nvPr/>
        </p:nvSpPr>
        <p:spPr>
          <a:xfrm xmlns:a="http://schemas.openxmlformats.org/drawingml/2006/main">
            <a:off x="1104900" y="575310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0">
                <a:solidFill>
                  <a:srgbClr val="555555"/>
                </a:solidFill>
              </a:defRPr>
            </a:pPr>
            <a:r>
              <a:rPr sz="1500" b="0" i="0">
                <a:solidFill>
                  <a:srgbClr val="555555"/>
                </a:solidFill>
              </a:rPr>
              <a:t>The grid policy's average TRAIN entry threshold was 0.54, with a TRAIN proxy exposure target around 69.7%. That made it more permissive in 2020, but also more exposed in 2022.</a:t>
            </a:r>
          </a:p>
        </p:txBody>
      </p:sp>
    </p:spTree>
    <p:extLst>
      <p:ext uri="{BB962C8B-B14F-4D97-AF65-F5344CB8AC3E}">
        <p14:creationId xmlns:p14="http://schemas.microsoft.com/office/powerpoint/2010/main" val="16250616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B14283-20A8-4A5A-B8B9-AF38CAA4FE20}"/>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11C968D0-B31C-4F51-B38D-D083104BD030}"/>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Probability tapes show that the model rarely loved the rally early enough</a:t>
            </a:r>
          </a:p>
        </p:txBody>
      </p:sp>
      <p:sp>
        <p:nvSpPr>
          <p:cNvPr id="3" name="">
            <a:extLst xmlns:a="http://schemas.openxmlformats.org/drawingml/2006/main">
              <a:ext uri="{FF2B5EF4-FFF2-40B4-BE49-F238E27FC236}">
                <a16:creationId xmlns:a16="http://schemas.microsoft.com/office/drawing/2014/main" id="{26495EF2-8CAC-4A40-B8E5-91A2ADD0339C}"/>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b6dda1638f9458e"/>
          <a:stretch xmlns:a="http://schemas.openxmlformats.org/drawingml/2006/main"/>
        </p:blipFill>
        <p:spPr>
          <a:xfrm xmlns:a="http://schemas.openxmlformats.org/drawingml/2006/main">
            <a:off x="1038785" y="2000250"/>
            <a:ext cx="6494929"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BFBB584-6585-4EC1-B94F-1D3F937C5F84}"/>
              </a:ext>
            </a:extLst>
          </p:cNvPr>
          <p:cNvSpPr>
            <a:spLocks xmlns:a="http://schemas.openxmlformats.org/drawingml/2006/main" noGrp="1"/>
          </p:cNvSpPr>
          <p:nvPr/>
        </p:nvSpPr>
        <p:spPr>
          <a:xfrm xmlns:a="http://schemas.openxmlformats.org/drawingml/2006/main">
            <a:off x="8477250" y="21336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Why this matters</a:t>
            </a:r>
          </a:p>
        </p:txBody>
      </p:sp>
      <p:sp>
        <p:nvSpPr>
          <p:cNvPr id="6" name="">
            <a:extLst xmlns:a="http://schemas.openxmlformats.org/drawingml/2006/main">
              <a:ext uri="{FF2B5EF4-FFF2-40B4-BE49-F238E27FC236}">
                <a16:creationId xmlns:a16="http://schemas.microsoft.com/office/drawing/2014/main" id="{AD70BBBF-6960-45FC-B2A0-5B60BEC3C721}"/>
              </a:ext>
            </a:extLst>
          </p:cNvPr>
          <p:cNvSpPr>
            <a:spLocks xmlns:a="http://schemas.openxmlformats.org/drawingml/2006/main" noGrp="1"/>
          </p:cNvSpPr>
          <p:nvPr/>
        </p:nvSpPr>
        <p:spPr>
          <a:xfrm xmlns:a="http://schemas.openxmlformats.org/drawingml/2006/main">
            <a:off x="8477250" y="2705100"/>
            <a:ext cx="27051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Lowering thresholds creates more entries, but the probability trace still spends long rally stretches below the entry line. The next question is whether calibration, labels, or model class can rank those days better.</a:t>
            </a:r>
          </a:p>
        </p:txBody>
      </p:sp>
    </p:spTree>
    <p:extLst>
      <p:ext uri="{BB962C8B-B14F-4D97-AF65-F5344CB8AC3E}">
        <p14:creationId xmlns:p14="http://schemas.microsoft.com/office/powerpoint/2010/main" val="11252100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FEE63E-0C86-45E1-A061-0AE24EAD89D5}"/>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1B3288CD-8B87-441E-846A-41A7E732529C}"/>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next ML slice should test probability quality, not just more exposure</a:t>
            </a:r>
          </a:p>
        </p:txBody>
      </p:sp>
      <p:sp>
        <p:nvSpPr>
          <p:cNvPr id="3" name="">
            <a:extLst xmlns:a="http://schemas.openxmlformats.org/drawingml/2006/main">
              <a:ext uri="{FF2B5EF4-FFF2-40B4-BE49-F238E27FC236}">
                <a16:creationId xmlns:a16="http://schemas.microsoft.com/office/drawing/2014/main" id="{63D9984A-DD3E-4D28-B171-25E2BBDD6C05}"/>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12C4FE8-1D26-491C-9D62-A560DA264D94}"/>
              </a:ext>
            </a:extLst>
          </p:cNvPr>
          <p:cNvSpPr>
            <a:spLocks xmlns:a="http://schemas.openxmlformats.org/drawingml/2006/main" noGrp="1"/>
          </p:cNvSpPr>
          <p:nvPr/>
        </p:nvSpPr>
        <p:spPr>
          <a:xfrm xmlns:a="http://schemas.openxmlformats.org/drawingml/2006/main">
            <a:off x="876300" y="21336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ML-P1b showed that threshold policy is real, but it did not close the alpha gap. The forward-return grid made the model participate more, yet still undercaptured 2020 and weakened 2022 defense.</a:t>
            </a:r>
          </a:p>
        </p:txBody>
      </p:sp>
      <p:sp>
        <p:nvSpPr>
          <p:cNvPr id="5" name="">
            <a:extLst xmlns:a="http://schemas.openxmlformats.org/drawingml/2006/main">
              <a:ext uri="{FF2B5EF4-FFF2-40B4-BE49-F238E27FC236}">
                <a16:creationId xmlns:a16="http://schemas.microsoft.com/office/drawing/2014/main" id="{A2DAD506-04BA-47A1-B368-294159C30319}"/>
              </a:ext>
            </a:extLst>
          </p:cNvPr>
          <p:cNvSpPr>
            <a:spLocks xmlns:a="http://schemas.openxmlformats.org/drawingml/2006/main" noGrp="1"/>
          </p:cNvSpPr>
          <p:nvPr/>
        </p:nvSpPr>
        <p:spPr>
          <a:xfrm xmlns:a="http://schemas.openxmlformats.org/drawingml/2006/main">
            <a:off x="1219200" y="35718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6" name="">
            <a:extLst xmlns:a="http://schemas.openxmlformats.org/drawingml/2006/main">
              <a:ext uri="{FF2B5EF4-FFF2-40B4-BE49-F238E27FC236}">
                <a16:creationId xmlns:a16="http://schemas.microsoft.com/office/drawing/2014/main" id="{3D1425B2-E5EC-4BED-9771-C826108FB28E}"/>
              </a:ext>
            </a:extLst>
          </p:cNvPr>
          <p:cNvSpPr>
            <a:spLocks xmlns:a="http://schemas.openxmlformats.org/drawingml/2006/main" noGrp="1"/>
          </p:cNvSpPr>
          <p:nvPr/>
        </p:nvSpPr>
        <p:spPr>
          <a:xfrm xmlns:a="http://schemas.openxmlformats.org/drawingml/2006/main">
            <a:off x="1485900" y="3562350"/>
            <a:ext cx="6972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Keep the continuous annual replay and policy audit as the required ML comparison surface.</a:t>
            </a:r>
          </a:p>
        </p:txBody>
      </p:sp>
      <p:sp>
        <p:nvSpPr>
          <p:cNvPr id="7" name="">
            <a:extLst xmlns:a="http://schemas.openxmlformats.org/drawingml/2006/main">
              <a:ext uri="{FF2B5EF4-FFF2-40B4-BE49-F238E27FC236}">
                <a16:creationId xmlns:a16="http://schemas.microsoft.com/office/drawing/2014/main" id="{C0F3F487-22B1-4B74-81B3-131F479BA47E}"/>
              </a:ext>
            </a:extLst>
          </p:cNvPr>
          <p:cNvSpPr>
            <a:spLocks xmlns:a="http://schemas.openxmlformats.org/drawingml/2006/main" noGrp="1"/>
          </p:cNvSpPr>
          <p:nvPr/>
        </p:nvSpPr>
        <p:spPr>
          <a:xfrm xmlns:a="http://schemas.openxmlformats.org/drawingml/2006/main">
            <a:off x="1219200" y="42386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8" name="">
            <a:extLst xmlns:a="http://schemas.openxmlformats.org/drawingml/2006/main">
              <a:ext uri="{FF2B5EF4-FFF2-40B4-BE49-F238E27FC236}">
                <a16:creationId xmlns:a16="http://schemas.microsoft.com/office/drawing/2014/main" id="{6BF52F7D-1CB4-4CBC-9F4B-75A863EC92B7}"/>
              </a:ext>
            </a:extLst>
          </p:cNvPr>
          <p:cNvSpPr>
            <a:spLocks xmlns:a="http://schemas.openxmlformats.org/drawingml/2006/main" noGrp="1"/>
          </p:cNvSpPr>
          <p:nvPr/>
        </p:nvSpPr>
        <p:spPr>
          <a:xfrm xmlns:a="http://schemas.openxmlformats.org/drawingml/2006/main">
            <a:off x="1485900" y="4229100"/>
            <a:ext cx="6972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Next test should compare label horizons or probability calibration before adding XGBoost.</a:t>
            </a:r>
          </a:p>
        </p:txBody>
      </p:sp>
      <p:sp>
        <p:nvSpPr>
          <p:cNvPr id="9" name="">
            <a:extLst xmlns:a="http://schemas.openxmlformats.org/drawingml/2006/main">
              <a:ext uri="{FF2B5EF4-FFF2-40B4-BE49-F238E27FC236}">
                <a16:creationId xmlns:a16="http://schemas.microsoft.com/office/drawing/2014/main" id="{D912C38F-7931-4C6B-AF29-65B956041582}"/>
              </a:ext>
            </a:extLst>
          </p:cNvPr>
          <p:cNvSpPr>
            <a:spLocks xmlns:a="http://schemas.openxmlformats.org/drawingml/2006/main" noGrp="1"/>
          </p:cNvSpPr>
          <p:nvPr/>
        </p:nvSpPr>
        <p:spPr>
          <a:xfrm xmlns:a="http://schemas.openxmlformats.org/drawingml/2006/main">
            <a:off x="1219200" y="49053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0" name="">
            <a:extLst xmlns:a="http://schemas.openxmlformats.org/drawingml/2006/main">
              <a:ext uri="{FF2B5EF4-FFF2-40B4-BE49-F238E27FC236}">
                <a16:creationId xmlns:a16="http://schemas.microsoft.com/office/drawing/2014/main" id="{8148B945-06F9-48B6-B29E-90B87B58DD74}"/>
              </a:ext>
            </a:extLst>
          </p:cNvPr>
          <p:cNvSpPr>
            <a:spLocks xmlns:a="http://schemas.openxmlformats.org/drawingml/2006/main" noGrp="1"/>
          </p:cNvSpPr>
          <p:nvPr/>
        </p:nvSpPr>
        <p:spPr>
          <a:xfrm xmlns:a="http://schemas.openxmlformats.org/drawingml/2006/main">
            <a:off x="1485900" y="4895850"/>
            <a:ext cx="6972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If XGBoost comes next, it should be judged on better ranking and timing, not merely higher exposure.</a:t>
            </a:r>
          </a:p>
        </p:txBody>
      </p:sp>
      <p:sp>
        <p:nvSpPr>
          <p:cNvPr id="11" name="">
            <a:extLst xmlns:a="http://schemas.openxmlformats.org/drawingml/2006/main">
              <a:ext uri="{FF2B5EF4-FFF2-40B4-BE49-F238E27FC236}">
                <a16:creationId xmlns:a16="http://schemas.microsoft.com/office/drawing/2014/main" id="{2780FF0D-115C-4A45-9615-6585DD75649B}"/>
              </a:ext>
            </a:extLst>
          </p:cNvPr>
          <p:cNvSpPr>
            <a:spLocks xmlns:a="http://schemas.openxmlformats.org/drawingml/2006/main" noGrp="1"/>
          </p:cNvSpPr>
          <p:nvPr/>
        </p:nvSpPr>
        <p:spPr>
          <a:xfrm xmlns:a="http://schemas.openxmlformats.org/drawingml/2006/main">
            <a:off x="1219200" y="55721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2" name="">
            <a:extLst xmlns:a="http://schemas.openxmlformats.org/drawingml/2006/main">
              <a:ext uri="{FF2B5EF4-FFF2-40B4-BE49-F238E27FC236}">
                <a16:creationId xmlns:a16="http://schemas.microsoft.com/office/drawing/2014/main" id="{7ECF0B8E-28C1-47FC-BD88-E5B7C4A43CE4}"/>
              </a:ext>
            </a:extLst>
          </p:cNvPr>
          <p:cNvSpPr>
            <a:spLocks xmlns:a="http://schemas.openxmlformats.org/drawingml/2006/main" noGrp="1"/>
          </p:cNvSpPr>
          <p:nvPr/>
        </p:nvSpPr>
        <p:spPr>
          <a:xfrm xmlns:a="http://schemas.openxmlformats.org/drawingml/2006/main">
            <a:off x="1485900" y="5562600"/>
            <a:ext cx="6972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Watch the 2022 tradeoff: grid exposure rose to 67.4% while return fell to -48.4%.</a:t>
            </a:r>
          </a:p>
        </p:txBody>
      </p:sp>
    </p:spTree>
    <p:extLst>
      <p:ext uri="{BB962C8B-B14F-4D97-AF65-F5344CB8AC3E}">
        <p14:creationId xmlns:p14="http://schemas.microsoft.com/office/powerpoint/2010/main" val="196837751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6DDCAA-B0AA-4EA6-8E39-D88037E535A0}"/>
              </a:ext>
            </a:extLst>
          </p:cNvPr>
          <p:cNvSpPr>
            <a:spLocks xmlns:a="http://schemas.openxmlformats.org/drawingml/2006/main" noGrp="1"/>
          </p:cNvSpPr>
          <p:nvPr/>
        </p:nvSpPr>
        <p:spPr>
          <a:xfrm xmlns:a="http://schemas.openxmlformats.org/drawingml/2006/main">
            <a:off x="685800" y="495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555555"/>
                </a:solidFill>
              </a:defRPr>
            </a:pPr>
            <a:r>
              <a:rPr sz="2400" b="1" i="0">
                <a:solidFill>
                  <a:srgbClr val="555555"/>
                </a:solidFill>
              </a:rPr>
              <a:t>Transition</a:t>
            </a:r>
          </a:p>
        </p:txBody>
      </p:sp>
      <p:sp>
        <p:nvSpPr>
          <p:cNvPr id="2" name="">
            <a:extLst xmlns:a="http://schemas.openxmlformats.org/drawingml/2006/main">
              <a:ext uri="{FF2B5EF4-FFF2-40B4-BE49-F238E27FC236}">
                <a16:creationId xmlns:a16="http://schemas.microsoft.com/office/drawing/2014/main" id="{414933C0-8A13-498C-9797-B703253D65A9}"/>
              </a:ext>
            </a:extLst>
          </p:cNvPr>
          <p:cNvSpPr>
            <a:spLocks xmlns:a="http://schemas.openxmlformats.org/drawingml/2006/main" noGrp="1"/>
          </p:cNvSpPr>
          <p:nvPr/>
        </p:nvSpPr>
        <p:spPr>
          <a:xfrm xmlns:a="http://schemas.openxmlformats.org/drawingml/2006/main">
            <a:off x="685800" y="1600200"/>
            <a:ext cx="895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i="0">
                <a:solidFill>
                  <a:srgbClr val="000000"/>
                </a:solidFill>
              </a:defRPr>
            </a:pPr>
            <a:r>
              <a:rPr sz="3900" b="1" i="0">
                <a:solidFill>
                  <a:srgbClr val="000000"/>
                </a:solidFill>
              </a:rPr>
              <a:t>The next question is whether the label itself is too blunt</a:t>
            </a:r>
          </a:p>
        </p:txBody>
      </p:sp>
      <p:sp>
        <p:nvSpPr>
          <p:cNvPr id="3" name="">
            <a:extLst xmlns:a="http://schemas.openxmlformats.org/drawingml/2006/main">
              <a:ext uri="{FF2B5EF4-FFF2-40B4-BE49-F238E27FC236}">
                <a16:creationId xmlns:a16="http://schemas.microsoft.com/office/drawing/2014/main" id="{2F972CD3-425C-4197-9DE7-DA322EB90CA5}"/>
              </a:ext>
            </a:extLst>
          </p:cNvPr>
          <p:cNvSpPr>
            <a:spLocks xmlns:a="http://schemas.openxmlformats.org/drawingml/2006/main" noGrp="1"/>
          </p:cNvSpPr>
          <p:nvPr/>
        </p:nvSpPr>
        <p:spPr>
          <a:xfrm xmlns:a="http://schemas.openxmlformats.org/drawingml/2006/main">
            <a:off x="723900" y="3105150"/>
            <a:ext cx="57150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8C4468-EDE2-40A7-ABB7-42652E7883DB}"/>
              </a:ext>
            </a:extLst>
          </p:cNvPr>
          <p:cNvSpPr>
            <a:spLocks xmlns:a="http://schemas.openxmlformats.org/drawingml/2006/main" noGrp="1"/>
          </p:cNvSpPr>
          <p:nvPr/>
        </p:nvSpPr>
        <p:spPr>
          <a:xfrm xmlns:a="http://schemas.openxmlformats.org/drawingml/2006/main">
            <a:off x="723900" y="3467100"/>
            <a:ext cx="7524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222222"/>
                </a:solidFill>
              </a:defRPr>
            </a:pPr>
            <a:r>
              <a:rPr sz="1800" b="0" i="0">
                <a:solidFill>
                  <a:srgbClr val="222222"/>
                </a:solidFill>
              </a:rPr>
              <a:t>ML-P1c compares h1, h3, and h5 next-open labels while keeping the GLM, feature set, TRAIN-only policy selection, and continuous annual replay surface fixed.</a:t>
            </a:r>
          </a:p>
        </p:txBody>
      </p:sp>
      <p:sp>
        <p:nvSpPr>
          <p:cNvPr id="5" name="">
            <a:extLst xmlns:a="http://schemas.openxmlformats.org/drawingml/2006/main">
              <a:ext uri="{FF2B5EF4-FFF2-40B4-BE49-F238E27FC236}">
                <a16:creationId xmlns:a16="http://schemas.microsoft.com/office/drawing/2014/main" id="{2593E4C9-26CE-4959-A2D5-CF1116F554FC}"/>
              </a:ext>
            </a:extLst>
          </p:cNvPr>
          <p:cNvSpPr>
            <a:spLocks xmlns:a="http://schemas.openxmlformats.org/drawingml/2006/main" noGrp="1"/>
          </p:cNvSpPr>
          <p:nvPr/>
        </p:nvSpPr>
        <p:spPr>
          <a:xfrm xmlns:a="http://schemas.openxmlformats.org/drawingml/2006/main">
            <a:off x="8801100" y="0"/>
            <a:ext cx="3390900" cy="6858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A8F2E8-0A91-49E6-A66F-3CB4FC29221D}"/>
              </a:ext>
            </a:extLst>
          </p:cNvPr>
          <p:cNvSpPr>
            <a:spLocks xmlns:a="http://schemas.openxmlformats.org/drawingml/2006/main" noGrp="1"/>
          </p:cNvSpPr>
          <p:nvPr/>
        </p:nvSpPr>
        <p:spPr>
          <a:xfrm xmlns:a="http://schemas.openxmlformats.org/drawingml/2006/main">
            <a:off x="9353550" y="234315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i="0">
                <a:solidFill>
                  <a:srgbClr val="000000"/>
                </a:solidFill>
              </a:defRPr>
            </a:pPr>
            <a:r>
              <a:rPr sz="3150" b="1" i="0">
                <a:solidFill>
                  <a:srgbClr val="000000"/>
                </a:solidFill>
              </a:rPr>
              <a:t>ML-P1c</a:t>
            </a:r>
          </a:p>
        </p:txBody>
      </p:sp>
      <p:sp>
        <p:nvSpPr>
          <p:cNvPr id="7" name="">
            <a:extLst xmlns:a="http://schemas.openxmlformats.org/drawingml/2006/main">
              <a:ext uri="{FF2B5EF4-FFF2-40B4-BE49-F238E27FC236}">
                <a16:creationId xmlns:a16="http://schemas.microsoft.com/office/drawing/2014/main" id="{DA800798-AAB4-444B-8F85-DEBC01AE08BE}"/>
              </a:ext>
            </a:extLst>
          </p:cNvPr>
          <p:cNvSpPr>
            <a:spLocks xmlns:a="http://schemas.openxmlformats.org/drawingml/2006/main" noGrp="1"/>
          </p:cNvSpPr>
          <p:nvPr/>
        </p:nvSpPr>
        <p:spPr>
          <a:xfrm xmlns:a="http://schemas.openxmlformats.org/drawingml/2006/main">
            <a:off x="9067800" y="30670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0" i="0">
                <a:solidFill>
                  <a:srgbClr val="222222"/>
                </a:solidFill>
              </a:defRPr>
            </a:pPr>
            <a:r>
              <a:rPr sz="1875" b="0" i="0">
                <a:solidFill>
                  <a:srgbClr val="222222"/>
                </a:solidFill>
              </a:rPr>
              <a:t>Label horizon</a:t>
            </a:r>
          </a:p>
        </p:txBody>
      </p:sp>
    </p:spTree>
    <p:extLst>
      <p:ext uri="{BB962C8B-B14F-4D97-AF65-F5344CB8AC3E}">
        <p14:creationId xmlns:p14="http://schemas.microsoft.com/office/powerpoint/2010/main" val="741898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A3BF8D-CD1A-4A31-8AF8-933F529EEE02}"/>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AE9393DE-7C02-4DF8-B50C-49B916B4079F}"/>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one-day label improved participation, but not enough</a:t>
            </a:r>
          </a:p>
        </p:txBody>
      </p:sp>
      <p:sp>
        <p:nvSpPr>
          <p:cNvPr id="3" name="">
            <a:extLst xmlns:a="http://schemas.openxmlformats.org/drawingml/2006/main">
              <a:ext uri="{FF2B5EF4-FFF2-40B4-BE49-F238E27FC236}">
                <a16:creationId xmlns:a16="http://schemas.microsoft.com/office/drawing/2014/main" id="{6EBE5A27-91C2-4D7B-935B-E28B6183ED7E}"/>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02E30F-5901-4BEC-8535-11687790754F}"/>
              </a:ext>
            </a:extLst>
          </p:cNvPr>
          <p:cNvSpPr>
            <a:spLocks xmlns:a="http://schemas.openxmlformats.org/drawingml/2006/main" noGrp="1"/>
          </p:cNvSpPr>
          <p:nvPr/>
        </p:nvSpPr>
        <p:spPr>
          <a:xfrm xmlns:a="http://schemas.openxmlformats.org/drawingml/2006/main">
            <a:off x="7048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DCA7B3AB-8633-470B-96BE-2E0F3994C024}"/>
              </a:ext>
            </a:extLst>
          </p:cNvPr>
          <p:cNvSpPr>
            <a:spLocks xmlns:a="http://schemas.openxmlformats.org/drawingml/2006/main" noGrp="1"/>
          </p:cNvSpPr>
          <p:nvPr/>
        </p:nvSpPr>
        <p:spPr>
          <a:xfrm xmlns:a="http://schemas.openxmlformats.org/drawingml/2006/main">
            <a:off x="8763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GUARDRAILS</a:t>
            </a:r>
          </a:p>
        </p:txBody>
      </p:sp>
      <p:sp>
        <p:nvSpPr>
          <p:cNvPr id="6" name="">
            <a:extLst xmlns:a="http://schemas.openxmlformats.org/drawingml/2006/main">
              <a:ext uri="{FF2B5EF4-FFF2-40B4-BE49-F238E27FC236}">
                <a16:creationId xmlns:a16="http://schemas.microsoft.com/office/drawing/2014/main" id="{8206F347-BD62-4523-BDF6-7298B4BB47C6}"/>
              </a:ext>
            </a:extLst>
          </p:cNvPr>
          <p:cNvSpPr>
            <a:spLocks xmlns:a="http://schemas.openxmlformats.org/drawingml/2006/main" noGrp="1"/>
          </p:cNvSpPr>
          <p:nvPr/>
        </p:nvSpPr>
        <p:spPr>
          <a:xfrm xmlns:a="http://schemas.openxmlformats.org/drawingml/2006/main">
            <a:off x="8763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All PASS</a:t>
            </a:r>
          </a:p>
        </p:txBody>
      </p:sp>
      <p:sp>
        <p:nvSpPr>
          <p:cNvPr id="7" name="">
            <a:extLst xmlns:a="http://schemas.openxmlformats.org/drawingml/2006/main">
              <a:ext uri="{FF2B5EF4-FFF2-40B4-BE49-F238E27FC236}">
                <a16:creationId xmlns:a16="http://schemas.microsoft.com/office/drawing/2014/main" id="{E3855A05-4B90-40AC-B009-6306CA112EA3}"/>
              </a:ext>
            </a:extLst>
          </p:cNvPr>
          <p:cNvSpPr>
            <a:spLocks xmlns:a="http://schemas.openxmlformats.org/drawingml/2006/main" noGrp="1"/>
          </p:cNvSpPr>
          <p:nvPr/>
        </p:nvSpPr>
        <p:spPr>
          <a:xfrm xmlns:a="http://schemas.openxmlformats.org/drawingml/2006/main">
            <a:off x="8763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Fit, labels, and policy selection stay inside TRAIN.</a:t>
            </a:r>
          </a:p>
        </p:txBody>
      </p:sp>
      <p:sp>
        <p:nvSpPr>
          <p:cNvPr id="8" name="">
            <a:extLst xmlns:a="http://schemas.openxmlformats.org/drawingml/2006/main">
              <a:ext uri="{FF2B5EF4-FFF2-40B4-BE49-F238E27FC236}">
                <a16:creationId xmlns:a16="http://schemas.microsoft.com/office/drawing/2014/main" id="{41653FDB-7595-403E-A56A-7F1B1FCCEACA}"/>
              </a:ext>
            </a:extLst>
          </p:cNvPr>
          <p:cNvSpPr>
            <a:spLocks xmlns:a="http://schemas.openxmlformats.org/drawingml/2006/main" noGrp="1"/>
          </p:cNvSpPr>
          <p:nvPr/>
        </p:nvSpPr>
        <p:spPr>
          <a:xfrm xmlns:a="http://schemas.openxmlformats.org/drawingml/2006/main">
            <a:off x="34099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35031389-DCF8-46F9-8964-0E592CE8CF72}"/>
              </a:ext>
            </a:extLst>
          </p:cNvPr>
          <p:cNvSpPr>
            <a:spLocks xmlns:a="http://schemas.openxmlformats.org/drawingml/2006/main" noGrp="1"/>
          </p:cNvSpPr>
          <p:nvPr/>
        </p:nvSpPr>
        <p:spPr>
          <a:xfrm xmlns:a="http://schemas.openxmlformats.org/drawingml/2006/main">
            <a:off x="35814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2020 H1 RETURN</a:t>
            </a:r>
          </a:p>
        </p:txBody>
      </p:sp>
      <p:sp>
        <p:nvSpPr>
          <p:cNvPr id="10" name="">
            <a:extLst xmlns:a="http://schemas.openxmlformats.org/drawingml/2006/main">
              <a:ext uri="{FF2B5EF4-FFF2-40B4-BE49-F238E27FC236}">
                <a16:creationId xmlns:a16="http://schemas.microsoft.com/office/drawing/2014/main" id="{209BDAEC-73A7-4685-BDF4-0A60437C7415}"/>
              </a:ext>
            </a:extLst>
          </p:cNvPr>
          <p:cNvSpPr>
            <a:spLocks xmlns:a="http://schemas.openxmlformats.org/drawingml/2006/main" noGrp="1"/>
          </p:cNvSpPr>
          <p:nvPr/>
        </p:nvSpPr>
        <p:spPr>
          <a:xfrm xmlns:a="http://schemas.openxmlformats.org/drawingml/2006/main">
            <a:off x="35814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54.0%</a:t>
            </a:r>
          </a:p>
        </p:txBody>
      </p:sp>
      <p:sp>
        <p:nvSpPr>
          <p:cNvPr id="11" name="">
            <a:extLst xmlns:a="http://schemas.openxmlformats.org/drawingml/2006/main">
              <a:ext uri="{FF2B5EF4-FFF2-40B4-BE49-F238E27FC236}">
                <a16:creationId xmlns:a16="http://schemas.microsoft.com/office/drawing/2014/main" id="{36B77C03-FC74-408F-90B5-A36CB06F9739}"/>
              </a:ext>
            </a:extLst>
          </p:cNvPr>
          <p:cNvSpPr>
            <a:spLocks xmlns:a="http://schemas.openxmlformats.org/drawingml/2006/main" noGrp="1"/>
          </p:cNvSpPr>
          <p:nvPr/>
        </p:nvSpPr>
        <p:spPr>
          <a:xfrm xmlns:a="http://schemas.openxmlformats.org/drawingml/2006/main">
            <a:off x="35814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Basket hold was 225.2%.</a:t>
            </a:r>
          </a:p>
        </p:txBody>
      </p:sp>
      <p:sp>
        <p:nvSpPr>
          <p:cNvPr id="12" name="">
            <a:extLst xmlns:a="http://schemas.openxmlformats.org/drawingml/2006/main">
              <a:ext uri="{FF2B5EF4-FFF2-40B4-BE49-F238E27FC236}">
                <a16:creationId xmlns:a16="http://schemas.microsoft.com/office/drawing/2014/main" id="{E577B038-BE38-4F6F-880E-068B25708BB9}"/>
              </a:ext>
            </a:extLst>
          </p:cNvPr>
          <p:cNvSpPr>
            <a:spLocks xmlns:a="http://schemas.openxmlformats.org/drawingml/2006/main" noGrp="1"/>
          </p:cNvSpPr>
          <p:nvPr/>
        </p:nvSpPr>
        <p:spPr>
          <a:xfrm xmlns:a="http://schemas.openxmlformats.org/drawingml/2006/main">
            <a:off x="61150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06594F0-64BA-480E-812F-E45C5D7290ED}"/>
              </a:ext>
            </a:extLst>
          </p:cNvPr>
          <p:cNvSpPr>
            <a:spLocks xmlns:a="http://schemas.openxmlformats.org/drawingml/2006/main" noGrp="1"/>
          </p:cNvSpPr>
          <p:nvPr/>
        </p:nvSpPr>
        <p:spPr>
          <a:xfrm xmlns:a="http://schemas.openxmlformats.org/drawingml/2006/main">
            <a:off x="62865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2020 H3 RETURN</a:t>
            </a:r>
          </a:p>
        </p:txBody>
      </p:sp>
      <p:sp>
        <p:nvSpPr>
          <p:cNvPr id="14" name="">
            <a:extLst xmlns:a="http://schemas.openxmlformats.org/drawingml/2006/main">
              <a:ext uri="{FF2B5EF4-FFF2-40B4-BE49-F238E27FC236}">
                <a16:creationId xmlns:a16="http://schemas.microsoft.com/office/drawing/2014/main" id="{9F4FC7B4-C1C3-4D90-A525-D6EA3647AE8A}"/>
              </a:ext>
            </a:extLst>
          </p:cNvPr>
          <p:cNvSpPr>
            <a:spLocks xmlns:a="http://schemas.openxmlformats.org/drawingml/2006/main" noGrp="1"/>
          </p:cNvSpPr>
          <p:nvPr/>
        </p:nvSpPr>
        <p:spPr>
          <a:xfrm xmlns:a="http://schemas.openxmlformats.org/drawingml/2006/main">
            <a:off x="62865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30.0%</a:t>
            </a:r>
          </a:p>
        </p:txBody>
      </p:sp>
      <p:sp>
        <p:nvSpPr>
          <p:cNvPr id="15" name="">
            <a:extLst xmlns:a="http://schemas.openxmlformats.org/drawingml/2006/main">
              <a:ext uri="{FF2B5EF4-FFF2-40B4-BE49-F238E27FC236}">
                <a16:creationId xmlns:a16="http://schemas.microsoft.com/office/drawing/2014/main" id="{988A4AE1-3F7C-49E0-9F13-0B6019EFE2BD}"/>
              </a:ext>
            </a:extLst>
          </p:cNvPr>
          <p:cNvSpPr>
            <a:spLocks xmlns:a="http://schemas.openxmlformats.org/drawingml/2006/main" noGrp="1"/>
          </p:cNvSpPr>
          <p:nvPr/>
        </p:nvSpPr>
        <p:spPr>
          <a:xfrm xmlns:a="http://schemas.openxmlformats.org/drawingml/2006/main">
            <a:off x="62865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Same policy surface returned 30.0%.</a:t>
            </a:r>
          </a:p>
        </p:txBody>
      </p:sp>
      <p:sp>
        <p:nvSpPr>
          <p:cNvPr id="16" name="">
            <a:extLst xmlns:a="http://schemas.openxmlformats.org/drawingml/2006/main">
              <a:ext uri="{FF2B5EF4-FFF2-40B4-BE49-F238E27FC236}">
                <a16:creationId xmlns:a16="http://schemas.microsoft.com/office/drawing/2014/main" id="{9366B413-4F19-49D8-825D-A723742C6967}"/>
              </a:ext>
            </a:extLst>
          </p:cNvPr>
          <p:cNvSpPr>
            <a:spLocks xmlns:a="http://schemas.openxmlformats.org/drawingml/2006/main" noGrp="1"/>
          </p:cNvSpPr>
          <p:nvPr/>
        </p:nvSpPr>
        <p:spPr>
          <a:xfrm xmlns:a="http://schemas.openxmlformats.org/drawingml/2006/main">
            <a:off x="88201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D377EBD0-5A44-495D-8FD1-23EDFBDD929D}"/>
              </a:ext>
            </a:extLst>
          </p:cNvPr>
          <p:cNvSpPr>
            <a:spLocks xmlns:a="http://schemas.openxmlformats.org/drawingml/2006/main" noGrp="1"/>
          </p:cNvSpPr>
          <p:nvPr/>
        </p:nvSpPr>
        <p:spPr>
          <a:xfrm xmlns:a="http://schemas.openxmlformats.org/drawingml/2006/main">
            <a:off x="89916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2020 H5 RETURN</a:t>
            </a:r>
          </a:p>
        </p:txBody>
      </p:sp>
      <p:sp>
        <p:nvSpPr>
          <p:cNvPr id="18" name="">
            <a:extLst xmlns:a="http://schemas.openxmlformats.org/drawingml/2006/main">
              <a:ext uri="{FF2B5EF4-FFF2-40B4-BE49-F238E27FC236}">
                <a16:creationId xmlns:a16="http://schemas.microsoft.com/office/drawing/2014/main" id="{BF2C6606-9945-49A1-AEE6-A5B41CB6B580}"/>
              </a:ext>
            </a:extLst>
          </p:cNvPr>
          <p:cNvSpPr>
            <a:spLocks xmlns:a="http://schemas.openxmlformats.org/drawingml/2006/main" noGrp="1"/>
          </p:cNvSpPr>
          <p:nvPr/>
        </p:nvSpPr>
        <p:spPr>
          <a:xfrm xmlns:a="http://schemas.openxmlformats.org/drawingml/2006/main">
            <a:off x="89916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9.6%</a:t>
            </a:r>
          </a:p>
        </p:txBody>
      </p:sp>
      <p:sp>
        <p:nvSpPr>
          <p:cNvPr id="19" name="">
            <a:extLst xmlns:a="http://schemas.openxmlformats.org/drawingml/2006/main">
              <a:ext uri="{FF2B5EF4-FFF2-40B4-BE49-F238E27FC236}">
                <a16:creationId xmlns:a16="http://schemas.microsoft.com/office/drawing/2014/main" id="{18EDBB62-B53A-4E9F-89D0-07D675172704}"/>
              </a:ext>
            </a:extLst>
          </p:cNvPr>
          <p:cNvSpPr>
            <a:spLocks xmlns:a="http://schemas.openxmlformats.org/drawingml/2006/main" noGrp="1"/>
          </p:cNvSpPr>
          <p:nvPr/>
        </p:nvSpPr>
        <p:spPr>
          <a:xfrm xmlns:a="http://schemas.openxmlformats.org/drawingml/2006/main">
            <a:off x="89916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Longer label fell back to 9.6%.</a:t>
            </a:r>
          </a:p>
        </p:txBody>
      </p:sp>
      <p:sp>
        <p:nvSpPr>
          <p:cNvPr id="20" name="">
            <a:extLst xmlns:a="http://schemas.openxmlformats.org/drawingml/2006/main">
              <a:ext uri="{FF2B5EF4-FFF2-40B4-BE49-F238E27FC236}">
                <a16:creationId xmlns:a16="http://schemas.microsoft.com/office/drawing/2014/main" id="{5C323FDD-2B39-424A-A711-4B3F37C9BE61}"/>
              </a:ext>
            </a:extLst>
          </p:cNvPr>
          <p:cNvSpPr>
            <a:spLocks xmlns:a="http://schemas.openxmlformats.org/drawingml/2006/main" noGrp="1"/>
          </p:cNvSpPr>
          <p:nvPr/>
        </p:nvSpPr>
        <p:spPr>
          <a:xfrm xmlns:a="http://schemas.openxmlformats.org/drawingml/2006/main">
            <a:off x="1066800" y="409575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000000"/>
                </a:solidFill>
              </a:defRPr>
            </a:pPr>
            <a:r>
              <a:rPr sz="2100" b="1" i="0">
                <a:solidFill>
                  <a:srgbClr val="000000"/>
                </a:solidFill>
              </a:rPr>
              <a:t>h1 is the best GLM horizon in the 2020 rally, lifting the TRAIN-grid lane to 54.0%. That is real improvement, but it still leaves most of the basket rally uncaptured.</a:t>
            </a:r>
          </a:p>
        </p:txBody>
      </p:sp>
    </p:spTree>
    <p:extLst>
      <p:ext uri="{BB962C8B-B14F-4D97-AF65-F5344CB8AC3E}">
        <p14:creationId xmlns:p14="http://schemas.microsoft.com/office/powerpoint/2010/main" val="126643135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2E6AF5-00A5-4BDD-8F33-44FFDA9785C9}"/>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0BCA293E-534E-4340-A2A9-AB06EB2F8464}"/>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equity curves show why h1 is useful but not sufficient</a:t>
            </a:r>
          </a:p>
        </p:txBody>
      </p:sp>
      <p:sp>
        <p:nvSpPr>
          <p:cNvPr id="3" name="">
            <a:extLst xmlns:a="http://schemas.openxmlformats.org/drawingml/2006/main">
              <a:ext uri="{FF2B5EF4-FFF2-40B4-BE49-F238E27FC236}">
                <a16:creationId xmlns:a16="http://schemas.microsoft.com/office/drawing/2014/main" id="{88B62A8E-3A97-4CBC-9781-0DC50F52AA8F}"/>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9121b1acef14f1e"/>
          <a:stretch xmlns:a="http://schemas.openxmlformats.org/drawingml/2006/main"/>
        </p:blipFill>
        <p:spPr>
          <a:xfrm xmlns:a="http://schemas.openxmlformats.org/drawingml/2006/main">
            <a:off x="835819" y="2000250"/>
            <a:ext cx="6900863"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927CA25-24BC-43C2-B8B3-24AAE7253141}"/>
              </a:ext>
            </a:extLst>
          </p:cNvPr>
          <p:cNvSpPr>
            <a:spLocks xmlns:a="http://schemas.openxmlformats.org/drawingml/2006/main" noGrp="1"/>
          </p:cNvSpPr>
          <p:nvPr/>
        </p:nvSpPr>
        <p:spPr>
          <a:xfrm xmlns:a="http://schemas.openxmlformats.org/drawingml/2006/main">
            <a:off x="8477250" y="21336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What changed</a:t>
            </a:r>
          </a:p>
        </p:txBody>
      </p:sp>
      <p:sp>
        <p:nvSpPr>
          <p:cNvPr id="6" name="">
            <a:extLst xmlns:a="http://schemas.openxmlformats.org/drawingml/2006/main">
              <a:ext uri="{FF2B5EF4-FFF2-40B4-BE49-F238E27FC236}">
                <a16:creationId xmlns:a16="http://schemas.microsoft.com/office/drawing/2014/main" id="{B805B31D-85AB-43A3-9D34-21DC7845FF1C}"/>
              </a:ext>
            </a:extLst>
          </p:cNvPr>
          <p:cNvSpPr>
            <a:spLocks xmlns:a="http://schemas.openxmlformats.org/drawingml/2006/main" noGrp="1"/>
          </p:cNvSpPr>
          <p:nvPr/>
        </p:nvSpPr>
        <p:spPr>
          <a:xfrm xmlns:a="http://schemas.openxmlformats.org/drawingml/2006/main">
            <a:off x="8477250" y="2705100"/>
            <a:ext cx="27051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h1 had the strongest 2020 participation at 43.0% exposure and 54.0% return. In 2022, no horizon solved defense: h1 returned -49.7%, h3 -48.4%, and h5 -42.4%.</a:t>
            </a:r>
          </a:p>
        </p:txBody>
      </p:sp>
    </p:spTree>
    <p:extLst>
      <p:ext uri="{BB962C8B-B14F-4D97-AF65-F5344CB8AC3E}">
        <p14:creationId xmlns:p14="http://schemas.microsoft.com/office/powerpoint/2010/main" val="132757095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B2C253-6E66-411E-83EA-D5BF7AAE0541}"/>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96F42C0B-84EB-48EF-AA1D-87649FEBA06F}"/>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ranking audit argues against more GLM-only tinkering</a:t>
            </a:r>
          </a:p>
        </p:txBody>
      </p:sp>
      <p:sp>
        <p:nvSpPr>
          <p:cNvPr id="3" name="">
            <a:extLst xmlns:a="http://schemas.openxmlformats.org/drawingml/2006/main">
              <a:ext uri="{FF2B5EF4-FFF2-40B4-BE49-F238E27FC236}">
                <a16:creationId xmlns:a16="http://schemas.microsoft.com/office/drawing/2014/main" id="{C7332B66-3316-454C-B3A9-CF873076E88E}"/>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afd3c6b0ad34fbf"/>
          <a:stretch xmlns:a="http://schemas.openxmlformats.org/drawingml/2006/main"/>
        </p:blipFill>
        <p:spPr>
          <a:xfrm xmlns:a="http://schemas.openxmlformats.org/drawingml/2006/main">
            <a:off x="704850" y="2214196"/>
            <a:ext cx="5715000" cy="3077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89139F0-3642-4D33-B898-1237B5A626A9}"/>
              </a:ext>
            </a:extLst>
          </p:cNvPr>
          <p:cNvSpPr>
            <a:spLocks xmlns:a="http://schemas.openxmlformats.org/drawingml/2006/main" noGrp="1"/>
          </p:cNvSpPr>
          <p:nvPr/>
        </p:nvSpPr>
        <p:spPr>
          <a:xfrm xmlns:a="http://schemas.openxmlformats.org/drawingml/2006/main">
            <a:off x="7105650"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What it means</a:t>
            </a:r>
          </a:p>
        </p:txBody>
      </p:sp>
      <p:sp>
        <p:nvSpPr>
          <p:cNvPr id="6" name="">
            <a:extLst xmlns:a="http://schemas.openxmlformats.org/drawingml/2006/main">
              <a:ext uri="{FF2B5EF4-FFF2-40B4-BE49-F238E27FC236}">
                <a16:creationId xmlns:a16="http://schemas.microsoft.com/office/drawing/2014/main" id="{F6068E1E-A5BC-4AB7-977D-E572714956FC}"/>
              </a:ext>
            </a:extLst>
          </p:cNvPr>
          <p:cNvSpPr>
            <a:spLocks xmlns:a="http://schemas.openxmlformats.org/drawingml/2006/main" noGrp="1"/>
          </p:cNvSpPr>
          <p:nvPr/>
        </p:nvSpPr>
        <p:spPr>
          <a:xfrm xmlns:a="http://schemas.openxmlformats.org/drawingml/2006/main">
            <a:off x="7105650" y="2743200"/>
            <a:ext cx="3143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The best 2020 AUC was h1 at 0.520. h3 was 0.485 and h5 was 0.427. That is weak ranking, not just a threshold issue.</a:t>
            </a:r>
          </a:p>
        </p:txBody>
      </p:sp>
    </p:spTree>
    <p:extLst>
      <p:ext uri="{BB962C8B-B14F-4D97-AF65-F5344CB8AC3E}">
        <p14:creationId xmlns:p14="http://schemas.microsoft.com/office/powerpoint/2010/main" val="11555349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171874-4690-46BE-AA81-D81329F5BEA0}"/>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DA2300AE-A3E0-4A94-971A-EE9C619A15CD}"/>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This is a clean gate into XGBoost rather than an excuse to keep circling</a:t>
            </a:r>
          </a:p>
        </p:txBody>
      </p:sp>
      <p:sp>
        <p:nvSpPr>
          <p:cNvPr id="3" name="">
            <a:extLst xmlns:a="http://schemas.openxmlformats.org/drawingml/2006/main">
              <a:ext uri="{FF2B5EF4-FFF2-40B4-BE49-F238E27FC236}">
                <a16:creationId xmlns:a16="http://schemas.microsoft.com/office/drawing/2014/main" id="{1449B165-B486-4787-8078-C818D3CB7831}"/>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EF84E8-6A74-4E16-BF13-EAE9CF15E4DD}"/>
              </a:ext>
            </a:extLst>
          </p:cNvPr>
          <p:cNvSpPr>
            <a:spLocks xmlns:a="http://schemas.openxmlformats.org/drawingml/2006/main" noGrp="1"/>
          </p:cNvSpPr>
          <p:nvPr/>
        </p:nvSpPr>
        <p:spPr>
          <a:xfrm xmlns:a="http://schemas.openxmlformats.org/drawingml/2006/main">
            <a:off x="876300" y="21336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The GLM path has now answered the basic plumbing questions: features and labels are leakage-safe, replay works, thresholds matter, and h1 is the strongest horizon so far. The remaining obstacle is probability ranking quality.</a:t>
            </a:r>
          </a:p>
        </p:txBody>
      </p:sp>
      <p:sp>
        <p:nvSpPr>
          <p:cNvPr id="5" name="">
            <a:extLst xmlns:a="http://schemas.openxmlformats.org/drawingml/2006/main">
              <a:ext uri="{FF2B5EF4-FFF2-40B4-BE49-F238E27FC236}">
                <a16:creationId xmlns:a16="http://schemas.microsoft.com/office/drawing/2014/main" id="{86C88D9D-AFD5-4214-B913-B2A2A6FE8459}"/>
              </a:ext>
            </a:extLst>
          </p:cNvPr>
          <p:cNvSpPr>
            <a:spLocks xmlns:a="http://schemas.openxmlformats.org/drawingml/2006/main" noGrp="1"/>
          </p:cNvSpPr>
          <p:nvPr/>
        </p:nvSpPr>
        <p:spPr>
          <a:xfrm xmlns:a="http://schemas.openxmlformats.org/drawingml/2006/main">
            <a:off x="1219200" y="35718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6" name="">
            <a:extLst xmlns:a="http://schemas.openxmlformats.org/drawingml/2006/main">
              <a:ext uri="{FF2B5EF4-FFF2-40B4-BE49-F238E27FC236}">
                <a16:creationId xmlns:a16="http://schemas.microsoft.com/office/drawing/2014/main" id="{DFEBA364-3247-4358-8817-3A2CBFCEBF04}"/>
              </a:ext>
            </a:extLst>
          </p:cNvPr>
          <p:cNvSpPr>
            <a:spLocks xmlns:a="http://schemas.openxmlformats.org/drawingml/2006/main" noGrp="1"/>
          </p:cNvSpPr>
          <p:nvPr/>
        </p:nvSpPr>
        <p:spPr>
          <a:xfrm xmlns:a="http://schemas.openxmlformats.org/drawingml/2006/main">
            <a:off x="1485900" y="3562350"/>
            <a:ext cx="716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Keep h1 as the first XGBoost challenger label unless a calibration-only check is explicitly useful.</a:t>
            </a:r>
          </a:p>
        </p:txBody>
      </p:sp>
      <p:sp>
        <p:nvSpPr>
          <p:cNvPr id="7" name="">
            <a:extLst xmlns:a="http://schemas.openxmlformats.org/drawingml/2006/main">
              <a:ext uri="{FF2B5EF4-FFF2-40B4-BE49-F238E27FC236}">
                <a16:creationId xmlns:a16="http://schemas.microsoft.com/office/drawing/2014/main" id="{916D9001-B1D3-48F4-B66E-23637F615D84}"/>
              </a:ext>
            </a:extLst>
          </p:cNvPr>
          <p:cNvSpPr>
            <a:spLocks xmlns:a="http://schemas.openxmlformats.org/drawingml/2006/main" noGrp="1"/>
          </p:cNvSpPr>
          <p:nvPr/>
        </p:nvSpPr>
        <p:spPr>
          <a:xfrm xmlns:a="http://schemas.openxmlformats.org/drawingml/2006/main">
            <a:off x="1219200" y="42386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8" name="">
            <a:extLst xmlns:a="http://schemas.openxmlformats.org/drawingml/2006/main">
              <a:ext uri="{FF2B5EF4-FFF2-40B4-BE49-F238E27FC236}">
                <a16:creationId xmlns:a16="http://schemas.microsoft.com/office/drawing/2014/main" id="{F34B81FE-3A4F-4DF0-B19F-EE8C4DA7924E}"/>
              </a:ext>
            </a:extLst>
          </p:cNvPr>
          <p:cNvSpPr>
            <a:spLocks xmlns:a="http://schemas.openxmlformats.org/drawingml/2006/main" noGrp="1"/>
          </p:cNvSpPr>
          <p:nvPr/>
        </p:nvSpPr>
        <p:spPr>
          <a:xfrm xmlns:a="http://schemas.openxmlformats.org/drawingml/2006/main">
            <a:off x="1485900" y="4229100"/>
            <a:ext cx="716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Do not run a broad GLM threshold search; P1b already showed the limit of exposure tuning.</a:t>
            </a:r>
          </a:p>
        </p:txBody>
      </p:sp>
      <p:sp>
        <p:nvSpPr>
          <p:cNvPr id="9" name="">
            <a:extLst xmlns:a="http://schemas.openxmlformats.org/drawingml/2006/main">
              <a:ext uri="{FF2B5EF4-FFF2-40B4-BE49-F238E27FC236}">
                <a16:creationId xmlns:a16="http://schemas.microsoft.com/office/drawing/2014/main" id="{5E9E256E-39A3-47D8-9189-E12E853E8EAC}"/>
              </a:ext>
            </a:extLst>
          </p:cNvPr>
          <p:cNvSpPr>
            <a:spLocks xmlns:a="http://schemas.openxmlformats.org/drawingml/2006/main" noGrp="1"/>
          </p:cNvSpPr>
          <p:nvPr/>
        </p:nvSpPr>
        <p:spPr>
          <a:xfrm xmlns:a="http://schemas.openxmlformats.org/drawingml/2006/main">
            <a:off x="1219200" y="49053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0" name="">
            <a:extLst xmlns:a="http://schemas.openxmlformats.org/drawingml/2006/main">
              <a:ext uri="{FF2B5EF4-FFF2-40B4-BE49-F238E27FC236}">
                <a16:creationId xmlns:a16="http://schemas.microsoft.com/office/drawing/2014/main" id="{303FE544-D326-4645-AA61-036C586EA4E8}"/>
              </a:ext>
            </a:extLst>
          </p:cNvPr>
          <p:cNvSpPr>
            <a:spLocks xmlns:a="http://schemas.openxmlformats.org/drawingml/2006/main" noGrp="1"/>
          </p:cNvSpPr>
          <p:nvPr/>
        </p:nvSpPr>
        <p:spPr>
          <a:xfrm xmlns:a="http://schemas.openxmlformats.org/drawingml/2006/main">
            <a:off x="1485900" y="4895850"/>
            <a:ext cx="716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Judge XGBoost on ranking, timing, replay return versus basket hold, drawdown, and probability tapes.</a:t>
            </a:r>
          </a:p>
        </p:txBody>
      </p:sp>
      <p:sp>
        <p:nvSpPr>
          <p:cNvPr id="11" name="">
            <a:extLst xmlns:a="http://schemas.openxmlformats.org/drawingml/2006/main">
              <a:ext uri="{FF2B5EF4-FFF2-40B4-BE49-F238E27FC236}">
                <a16:creationId xmlns:a16="http://schemas.microsoft.com/office/drawing/2014/main" id="{91C1E131-8355-4CFD-8F29-956171D6A2C1}"/>
              </a:ext>
            </a:extLst>
          </p:cNvPr>
          <p:cNvSpPr>
            <a:spLocks xmlns:a="http://schemas.openxmlformats.org/drawingml/2006/main" noGrp="1"/>
          </p:cNvSpPr>
          <p:nvPr/>
        </p:nvSpPr>
        <p:spPr>
          <a:xfrm xmlns:a="http://schemas.openxmlformats.org/drawingml/2006/main">
            <a:off x="1219200" y="55721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2" name="">
            <a:extLst xmlns:a="http://schemas.openxmlformats.org/drawingml/2006/main">
              <a:ext uri="{FF2B5EF4-FFF2-40B4-BE49-F238E27FC236}">
                <a16:creationId xmlns:a16="http://schemas.microsoft.com/office/drawing/2014/main" id="{B515CC94-9DBA-4BC0-8475-9AECDC8D4726}"/>
              </a:ext>
            </a:extLst>
          </p:cNvPr>
          <p:cNvSpPr>
            <a:spLocks xmlns:a="http://schemas.openxmlformats.org/drawingml/2006/main" noGrp="1"/>
          </p:cNvSpPr>
          <p:nvPr/>
        </p:nvSpPr>
        <p:spPr>
          <a:xfrm xmlns:a="http://schemas.openxmlformats.org/drawingml/2006/main">
            <a:off x="1485900" y="5562600"/>
            <a:ext cx="716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If XGBoost cannot improve ranking, backtrack to feature design rather than deeper model knobs.</a:t>
            </a:r>
          </a:p>
        </p:txBody>
      </p:sp>
    </p:spTree>
    <p:extLst>
      <p:ext uri="{BB962C8B-B14F-4D97-AF65-F5344CB8AC3E}">
        <p14:creationId xmlns:p14="http://schemas.microsoft.com/office/powerpoint/2010/main" val="2270274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1E4329-A972-4610-AE71-6297CAC2A82B}"/>
              </a:ext>
            </a:extLst>
          </p:cNvPr>
          <p:cNvSpPr>
            <a:spLocks xmlns:a="http://schemas.openxmlformats.org/drawingml/2006/main" noGrp="1"/>
          </p:cNvSpPr>
          <p:nvPr/>
        </p:nvSpPr>
        <p:spPr>
          <a:xfrm xmlns:a="http://schemas.openxmlformats.org/drawingml/2006/main">
            <a:off x="685800" y="495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555555"/>
                </a:solidFill>
              </a:defRPr>
            </a:pPr>
            <a:r>
              <a:rPr sz="2400" b="1" i="0">
                <a:solidFill>
                  <a:srgbClr val="555555"/>
                </a:solidFill>
              </a:rPr>
              <a:t>Transition</a:t>
            </a:r>
          </a:p>
        </p:txBody>
      </p:sp>
      <p:sp>
        <p:nvSpPr>
          <p:cNvPr id="2" name="">
            <a:extLst xmlns:a="http://schemas.openxmlformats.org/drawingml/2006/main">
              <a:ext uri="{FF2B5EF4-FFF2-40B4-BE49-F238E27FC236}">
                <a16:creationId xmlns:a16="http://schemas.microsoft.com/office/drawing/2014/main" id="{5043A149-C0A4-4E8B-A0F5-0D8B27CE6DF3}"/>
              </a:ext>
            </a:extLst>
          </p:cNvPr>
          <p:cNvSpPr>
            <a:spLocks xmlns:a="http://schemas.openxmlformats.org/drawingml/2006/main" noGrp="1"/>
          </p:cNvSpPr>
          <p:nvPr/>
        </p:nvSpPr>
        <p:spPr>
          <a:xfrm xmlns:a="http://schemas.openxmlformats.org/drawingml/2006/main">
            <a:off x="685800" y="1600200"/>
            <a:ext cx="781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00000"/>
                </a:solidFill>
              </a:defRPr>
            </a:pPr>
            <a:r>
              <a:rPr sz="3600" b="1" i="0">
                <a:solidFill>
                  <a:srgbClr val="000000"/>
                </a:solidFill>
              </a:rPr>
              <a:t>The first nonlinear challenger tests XGBoost</a:t>
            </a:r>
          </a:p>
        </p:txBody>
      </p:sp>
      <p:sp>
        <p:nvSpPr>
          <p:cNvPr id="3" name="">
            <a:extLst xmlns:a="http://schemas.openxmlformats.org/drawingml/2006/main">
              <a:ext uri="{FF2B5EF4-FFF2-40B4-BE49-F238E27FC236}">
                <a16:creationId xmlns:a16="http://schemas.microsoft.com/office/drawing/2014/main" id="{F52D9B47-D396-4A75-ACFB-74519907F311}"/>
              </a:ext>
            </a:extLst>
          </p:cNvPr>
          <p:cNvSpPr>
            <a:spLocks xmlns:a="http://schemas.openxmlformats.org/drawingml/2006/main" noGrp="1"/>
          </p:cNvSpPr>
          <p:nvPr/>
        </p:nvSpPr>
        <p:spPr>
          <a:xfrm xmlns:a="http://schemas.openxmlformats.org/drawingml/2006/main">
            <a:off x="723900" y="3105150"/>
            <a:ext cx="57150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1986A5C-FB1F-49B4-8B87-655A94CEA673}"/>
              </a:ext>
            </a:extLst>
          </p:cNvPr>
          <p:cNvSpPr>
            <a:spLocks xmlns:a="http://schemas.openxmlformats.org/drawingml/2006/main" noGrp="1"/>
          </p:cNvSpPr>
          <p:nvPr/>
        </p:nvSpPr>
        <p:spPr>
          <a:xfrm xmlns:a="http://schemas.openxmlformats.org/drawingml/2006/main">
            <a:off x="723900" y="3467100"/>
            <a:ext cx="7524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222222"/>
                </a:solidFill>
              </a:defRPr>
            </a:pPr>
            <a:r>
              <a:rPr sz="1800" b="0" i="0">
                <a:solidFill>
                  <a:srgbClr val="222222"/>
                </a:solidFill>
              </a:rPr>
              <a:t>ML-P2 keeps the h1 label, feature table, TRAIN-only threshold selection, and annual replay fixed. Only the model class changes: GLM control versus conservative XGBoost.</a:t>
            </a:r>
          </a:p>
        </p:txBody>
      </p:sp>
      <p:sp>
        <p:nvSpPr>
          <p:cNvPr id="5" name="">
            <a:extLst xmlns:a="http://schemas.openxmlformats.org/drawingml/2006/main">
              <a:ext uri="{FF2B5EF4-FFF2-40B4-BE49-F238E27FC236}">
                <a16:creationId xmlns:a16="http://schemas.microsoft.com/office/drawing/2014/main" id="{CD7FB6C6-BCEF-47DB-97BC-9C10D86B665A}"/>
              </a:ext>
            </a:extLst>
          </p:cNvPr>
          <p:cNvSpPr>
            <a:spLocks xmlns:a="http://schemas.openxmlformats.org/drawingml/2006/main" noGrp="1"/>
          </p:cNvSpPr>
          <p:nvPr/>
        </p:nvSpPr>
        <p:spPr>
          <a:xfrm xmlns:a="http://schemas.openxmlformats.org/drawingml/2006/main">
            <a:off x="8801100" y="0"/>
            <a:ext cx="3390900" cy="6858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488C0C3-C983-4639-9948-42AB236E6189}"/>
              </a:ext>
            </a:extLst>
          </p:cNvPr>
          <p:cNvSpPr>
            <a:spLocks xmlns:a="http://schemas.openxmlformats.org/drawingml/2006/main" noGrp="1"/>
          </p:cNvSpPr>
          <p:nvPr/>
        </p:nvSpPr>
        <p:spPr>
          <a:xfrm xmlns:a="http://schemas.openxmlformats.org/drawingml/2006/main">
            <a:off x="9353550" y="234315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i="0">
                <a:solidFill>
                  <a:srgbClr val="000000"/>
                </a:solidFill>
              </a:defRPr>
            </a:pPr>
            <a:r>
              <a:rPr sz="3150" b="1" i="0">
                <a:solidFill>
                  <a:srgbClr val="000000"/>
                </a:solidFill>
              </a:rPr>
              <a:t>ML-P2</a:t>
            </a:r>
          </a:p>
        </p:txBody>
      </p:sp>
      <p:sp>
        <p:nvSpPr>
          <p:cNvPr id="7" name="">
            <a:extLst xmlns:a="http://schemas.openxmlformats.org/drawingml/2006/main">
              <a:ext uri="{FF2B5EF4-FFF2-40B4-BE49-F238E27FC236}">
                <a16:creationId xmlns:a16="http://schemas.microsoft.com/office/drawing/2014/main" id="{44CEF218-47F3-4485-8407-7F016E920976}"/>
              </a:ext>
            </a:extLst>
          </p:cNvPr>
          <p:cNvSpPr>
            <a:spLocks xmlns:a="http://schemas.openxmlformats.org/drawingml/2006/main" noGrp="1"/>
          </p:cNvSpPr>
          <p:nvPr/>
        </p:nvSpPr>
        <p:spPr>
          <a:xfrm xmlns:a="http://schemas.openxmlformats.org/drawingml/2006/main">
            <a:off x="8991600" y="3067050"/>
            <a:ext cx="2914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0" i="0">
                <a:solidFill>
                  <a:srgbClr val="222222"/>
                </a:solidFill>
              </a:defRPr>
            </a:pPr>
            <a:r>
              <a:rPr sz="1875" b="0" i="0">
                <a:solidFill>
                  <a:srgbClr val="222222"/>
                </a:solidFill>
              </a:rPr>
              <a:t>XGBoost challenger</a:t>
            </a:r>
          </a:p>
        </p:txBody>
      </p:sp>
    </p:spTree>
    <p:extLst>
      <p:ext uri="{BB962C8B-B14F-4D97-AF65-F5344CB8AC3E}">
        <p14:creationId xmlns:p14="http://schemas.microsoft.com/office/powerpoint/2010/main" val="204897827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AD6EF6-0C64-4A40-B16E-AB35726FEC32}"/>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DA61A90D-7375-431D-90B0-3B087F2AD5E6}"/>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GLM is a straight-line lens; XGBoost is a conditional lens</a:t>
            </a:r>
          </a:p>
        </p:txBody>
      </p:sp>
      <p:sp>
        <p:nvSpPr>
          <p:cNvPr id="3" name="">
            <a:extLst xmlns:a="http://schemas.openxmlformats.org/drawingml/2006/main">
              <a:ext uri="{FF2B5EF4-FFF2-40B4-BE49-F238E27FC236}">
                <a16:creationId xmlns:a16="http://schemas.microsoft.com/office/drawing/2014/main" id="{51A9471C-08A3-46B3-8800-C473B0636E8F}"/>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66BBFF-47DD-495F-8570-67F7E19BFC9D}"/>
              </a:ext>
            </a:extLst>
          </p:cNvPr>
          <p:cNvSpPr>
            <a:spLocks xmlns:a="http://schemas.openxmlformats.org/drawingml/2006/main" noGrp="1"/>
          </p:cNvSpPr>
          <p:nvPr/>
        </p:nvSpPr>
        <p:spPr>
          <a:xfrm xmlns:a="http://schemas.openxmlformats.org/drawingml/2006/main">
            <a:off x="876300" y="211455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000000"/>
                </a:solidFill>
              </a:defRPr>
            </a:pPr>
            <a:r>
              <a:rPr sz="1875" b="1" i="0">
                <a:solidFill>
                  <a:srgbClr val="000000"/>
                </a:solidFill>
              </a:rPr>
              <a:t>The GLM asks whether a mostly linear combination of today’s features predicts a favorable next-open h1 outcome.</a:t>
            </a:r>
          </a:p>
        </p:txBody>
      </p:sp>
      <p:sp>
        <p:nvSpPr>
          <p:cNvPr id="5" name="">
            <a:extLst xmlns:a="http://schemas.openxmlformats.org/drawingml/2006/main">
              <a:ext uri="{FF2B5EF4-FFF2-40B4-BE49-F238E27FC236}">
                <a16:creationId xmlns:a16="http://schemas.microsoft.com/office/drawing/2014/main" id="{D8FC1EA8-13AF-481B-8DC6-C1B318B65092}"/>
              </a:ext>
            </a:extLst>
          </p:cNvPr>
          <p:cNvSpPr>
            <a:spLocks xmlns:a="http://schemas.openxmlformats.org/drawingml/2006/main" noGrp="1"/>
          </p:cNvSpPr>
          <p:nvPr/>
        </p:nvSpPr>
        <p:spPr>
          <a:xfrm xmlns:a="http://schemas.openxmlformats.org/drawingml/2006/main">
            <a:off x="6572250" y="2114550"/>
            <a:ext cx="4191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000000"/>
                </a:solidFill>
              </a:defRPr>
            </a:pPr>
            <a:r>
              <a:rPr sz="1875" b="1" i="0">
                <a:solidFill>
                  <a:srgbClr val="000000"/>
                </a:solidFill>
              </a:rPr>
              <a:t>XGBoost can learn conditional pockets, thresholds, and interactions without us hand-writing every combination.</a:t>
            </a:r>
          </a:p>
        </p:txBody>
      </p:sp>
      <p:sp>
        <p:nvSpPr>
          <p:cNvPr id="6" name="">
            <a:extLst xmlns:a="http://schemas.openxmlformats.org/drawingml/2006/main">
              <a:ext uri="{FF2B5EF4-FFF2-40B4-BE49-F238E27FC236}">
                <a16:creationId xmlns:a16="http://schemas.microsoft.com/office/drawing/2014/main" id="{3BF63A40-090C-4825-9C3E-4485AE1EBA13}"/>
              </a:ext>
            </a:extLst>
          </p:cNvPr>
          <p:cNvSpPr>
            <a:spLocks xmlns:a="http://schemas.openxmlformats.org/drawingml/2006/main" noGrp="1"/>
          </p:cNvSpPr>
          <p:nvPr/>
        </p:nvSpPr>
        <p:spPr>
          <a:xfrm xmlns:a="http://schemas.openxmlformats.org/drawingml/2006/main">
            <a:off x="876300" y="3733800"/>
            <a:ext cx="40957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9CD6F1-DBD7-4574-B22C-B910EEB74FAF}"/>
              </a:ext>
            </a:extLst>
          </p:cNvPr>
          <p:cNvSpPr>
            <a:spLocks xmlns:a="http://schemas.openxmlformats.org/drawingml/2006/main" noGrp="1"/>
          </p:cNvSpPr>
          <p:nvPr/>
        </p:nvSpPr>
        <p:spPr>
          <a:xfrm xmlns:a="http://schemas.openxmlformats.org/drawingml/2006/main">
            <a:off x="6572250" y="3733800"/>
            <a:ext cx="40957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C05A14-7AED-4067-9790-AB07EA724001}"/>
              </a:ext>
            </a:extLst>
          </p:cNvPr>
          <p:cNvSpPr>
            <a:spLocks xmlns:a="http://schemas.openxmlformats.org/drawingml/2006/main" noGrp="1"/>
          </p:cNvSpPr>
          <p:nvPr/>
        </p:nvSpPr>
        <p:spPr>
          <a:xfrm xmlns:a="http://schemas.openxmlformats.org/drawingml/2006/main">
            <a:off x="1047750" y="41243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9" name="">
            <a:extLst xmlns:a="http://schemas.openxmlformats.org/drawingml/2006/main">
              <a:ext uri="{FF2B5EF4-FFF2-40B4-BE49-F238E27FC236}">
                <a16:creationId xmlns:a16="http://schemas.microsoft.com/office/drawing/2014/main" id="{80A35E87-AA60-49CA-8424-8A70BFD520A4}"/>
              </a:ext>
            </a:extLst>
          </p:cNvPr>
          <p:cNvSpPr>
            <a:spLocks xmlns:a="http://schemas.openxmlformats.org/drawingml/2006/main" noGrp="1"/>
          </p:cNvSpPr>
          <p:nvPr/>
        </p:nvSpPr>
        <p:spPr>
          <a:xfrm xmlns:a="http://schemas.openxmlformats.org/drawingml/2006/main">
            <a:off x="1314450" y="411480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Good for proving the plumbing and exposing simple directional effects.</a:t>
            </a:r>
          </a:p>
        </p:txBody>
      </p:sp>
      <p:sp>
        <p:nvSpPr>
          <p:cNvPr id="10" name="">
            <a:extLst xmlns:a="http://schemas.openxmlformats.org/drawingml/2006/main">
              <a:ext uri="{FF2B5EF4-FFF2-40B4-BE49-F238E27FC236}">
                <a16:creationId xmlns:a16="http://schemas.microsoft.com/office/drawing/2014/main" id="{194F0E1F-3F78-47CF-AF86-A24DF4CCFAAB}"/>
              </a:ext>
            </a:extLst>
          </p:cNvPr>
          <p:cNvSpPr>
            <a:spLocks xmlns:a="http://schemas.openxmlformats.org/drawingml/2006/main" noGrp="1"/>
          </p:cNvSpPr>
          <p:nvPr/>
        </p:nvSpPr>
        <p:spPr>
          <a:xfrm xmlns:a="http://schemas.openxmlformats.org/drawingml/2006/main">
            <a:off x="1047750" y="49625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1" name="">
            <a:extLst xmlns:a="http://schemas.openxmlformats.org/drawingml/2006/main">
              <a:ext uri="{FF2B5EF4-FFF2-40B4-BE49-F238E27FC236}">
                <a16:creationId xmlns:a16="http://schemas.microsoft.com/office/drawing/2014/main" id="{ADE94675-343B-4100-81AC-CAE458CFE4B8}"/>
              </a:ext>
            </a:extLst>
          </p:cNvPr>
          <p:cNvSpPr>
            <a:spLocks xmlns:a="http://schemas.openxmlformats.org/drawingml/2006/main" noGrp="1"/>
          </p:cNvSpPr>
          <p:nvPr/>
        </p:nvSpPr>
        <p:spPr>
          <a:xfrm xmlns:a="http://schemas.openxmlformats.org/drawingml/2006/main">
            <a:off x="1314450" y="495300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Can average away useful conditions when a feature is good in one regime and bad in another.</a:t>
            </a:r>
          </a:p>
        </p:txBody>
      </p:sp>
      <p:sp>
        <p:nvSpPr>
          <p:cNvPr id="12" name="">
            <a:extLst xmlns:a="http://schemas.openxmlformats.org/drawingml/2006/main">
              <a:ext uri="{FF2B5EF4-FFF2-40B4-BE49-F238E27FC236}">
                <a16:creationId xmlns:a16="http://schemas.microsoft.com/office/drawing/2014/main" id="{29DA1D1E-6602-45AE-8A3F-912B4FF6B91C}"/>
              </a:ext>
            </a:extLst>
          </p:cNvPr>
          <p:cNvSpPr>
            <a:spLocks xmlns:a="http://schemas.openxmlformats.org/drawingml/2006/main" noGrp="1"/>
          </p:cNvSpPr>
          <p:nvPr/>
        </p:nvSpPr>
        <p:spPr>
          <a:xfrm xmlns:a="http://schemas.openxmlformats.org/drawingml/2006/main">
            <a:off x="6743700" y="41243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3" name="">
            <a:extLst xmlns:a="http://schemas.openxmlformats.org/drawingml/2006/main">
              <a:ext uri="{FF2B5EF4-FFF2-40B4-BE49-F238E27FC236}">
                <a16:creationId xmlns:a16="http://schemas.microsoft.com/office/drawing/2014/main" id="{6C357CBD-2EAE-4868-A948-6333BB6858B3}"/>
              </a:ext>
            </a:extLst>
          </p:cNvPr>
          <p:cNvSpPr>
            <a:spLocks xmlns:a="http://schemas.openxmlformats.org/drawingml/2006/main" noGrp="1"/>
          </p:cNvSpPr>
          <p:nvPr/>
        </p:nvSpPr>
        <p:spPr>
          <a:xfrm xmlns:a="http://schemas.openxmlformats.org/drawingml/2006/main">
            <a:off x="7010400" y="411480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Can express rules like momentum only matters with supportive market context.</a:t>
            </a:r>
          </a:p>
        </p:txBody>
      </p:sp>
      <p:sp>
        <p:nvSpPr>
          <p:cNvPr id="14" name="">
            <a:extLst xmlns:a="http://schemas.openxmlformats.org/drawingml/2006/main">
              <a:ext uri="{FF2B5EF4-FFF2-40B4-BE49-F238E27FC236}">
                <a16:creationId xmlns:a16="http://schemas.microsoft.com/office/drawing/2014/main" id="{6DA06DC1-0695-4D14-8114-02D614DD9E04}"/>
              </a:ext>
            </a:extLst>
          </p:cNvPr>
          <p:cNvSpPr>
            <a:spLocks xmlns:a="http://schemas.openxmlformats.org/drawingml/2006/main" noGrp="1"/>
          </p:cNvSpPr>
          <p:nvPr/>
        </p:nvSpPr>
        <p:spPr>
          <a:xfrm xmlns:a="http://schemas.openxmlformats.org/drawingml/2006/main">
            <a:off x="6743700" y="49625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5" name="">
            <a:extLst xmlns:a="http://schemas.openxmlformats.org/drawingml/2006/main">
              <a:ext uri="{FF2B5EF4-FFF2-40B4-BE49-F238E27FC236}">
                <a16:creationId xmlns:a16="http://schemas.microsoft.com/office/drawing/2014/main" id="{5FAD8F76-9B93-4981-8EC6-42C2B8950F1E}"/>
              </a:ext>
            </a:extLst>
          </p:cNvPr>
          <p:cNvSpPr>
            <a:spLocks xmlns:a="http://schemas.openxmlformats.org/drawingml/2006/main" noGrp="1"/>
          </p:cNvSpPr>
          <p:nvPr/>
        </p:nvSpPr>
        <p:spPr>
          <a:xfrm xmlns:a="http://schemas.openxmlformats.org/drawingml/2006/main">
            <a:off x="7010400" y="495300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Must be judged carefully, because extra flexibility can overfit if we start tuning too many knobs.</a:t>
            </a:r>
          </a:p>
        </p:txBody>
      </p:sp>
    </p:spTree>
    <p:extLst>
      <p:ext uri="{BB962C8B-B14F-4D97-AF65-F5344CB8AC3E}">
        <p14:creationId xmlns:p14="http://schemas.microsoft.com/office/powerpoint/2010/main" val="206454095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EC2C2C-486E-4374-B0FC-B4E912C8FB84}"/>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83E8B660-E94E-4080-B6F0-88E6FE0E2678}"/>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XGBoost improved the replay, but it still did not beat the 2020 basket</a:t>
            </a:r>
          </a:p>
        </p:txBody>
      </p:sp>
      <p:sp>
        <p:nvSpPr>
          <p:cNvPr id="3" name="">
            <a:extLst xmlns:a="http://schemas.openxmlformats.org/drawingml/2006/main">
              <a:ext uri="{FF2B5EF4-FFF2-40B4-BE49-F238E27FC236}">
                <a16:creationId xmlns:a16="http://schemas.microsoft.com/office/drawing/2014/main" id="{02852B1A-5CD1-4D16-95DD-9F3833994896}"/>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B17045-B285-4A51-9FE0-8C2387A2CEE0}"/>
              </a:ext>
            </a:extLst>
          </p:cNvPr>
          <p:cNvSpPr>
            <a:spLocks xmlns:a="http://schemas.openxmlformats.org/drawingml/2006/main" noGrp="1"/>
          </p:cNvSpPr>
          <p:nvPr/>
        </p:nvSpPr>
        <p:spPr>
          <a:xfrm xmlns:a="http://schemas.openxmlformats.org/drawingml/2006/main">
            <a:off x="7048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76F53DC4-BBC5-4073-907F-4D4A3246608C}"/>
              </a:ext>
            </a:extLst>
          </p:cNvPr>
          <p:cNvSpPr>
            <a:spLocks xmlns:a="http://schemas.openxmlformats.org/drawingml/2006/main" noGrp="1"/>
          </p:cNvSpPr>
          <p:nvPr/>
        </p:nvSpPr>
        <p:spPr>
          <a:xfrm xmlns:a="http://schemas.openxmlformats.org/drawingml/2006/main">
            <a:off x="8763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GUARDRAILS</a:t>
            </a:r>
          </a:p>
        </p:txBody>
      </p:sp>
      <p:sp>
        <p:nvSpPr>
          <p:cNvPr id="6" name="">
            <a:extLst xmlns:a="http://schemas.openxmlformats.org/drawingml/2006/main">
              <a:ext uri="{FF2B5EF4-FFF2-40B4-BE49-F238E27FC236}">
                <a16:creationId xmlns:a16="http://schemas.microsoft.com/office/drawing/2014/main" id="{9FA7775B-44E9-4431-894B-881ECBBA55C9}"/>
              </a:ext>
            </a:extLst>
          </p:cNvPr>
          <p:cNvSpPr>
            <a:spLocks xmlns:a="http://schemas.openxmlformats.org/drawingml/2006/main" noGrp="1"/>
          </p:cNvSpPr>
          <p:nvPr/>
        </p:nvSpPr>
        <p:spPr>
          <a:xfrm xmlns:a="http://schemas.openxmlformats.org/drawingml/2006/main">
            <a:off x="8763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All PASS</a:t>
            </a:r>
          </a:p>
        </p:txBody>
      </p:sp>
      <p:sp>
        <p:nvSpPr>
          <p:cNvPr id="7" name="">
            <a:extLst xmlns:a="http://schemas.openxmlformats.org/drawingml/2006/main">
              <a:ext uri="{FF2B5EF4-FFF2-40B4-BE49-F238E27FC236}">
                <a16:creationId xmlns:a16="http://schemas.microsoft.com/office/drawing/2014/main" id="{6AD995BB-73F9-4D21-9FCE-7C4394C9AE3D}"/>
              </a:ext>
            </a:extLst>
          </p:cNvPr>
          <p:cNvSpPr>
            <a:spLocks xmlns:a="http://schemas.openxmlformats.org/drawingml/2006/main" noGrp="1"/>
          </p:cNvSpPr>
          <p:nvPr/>
        </p:nvSpPr>
        <p:spPr>
          <a:xfrm xmlns:a="http://schemas.openxmlformats.org/drawingml/2006/main">
            <a:off x="8763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Fit, params, and thresholds stay inside TRAIN.</a:t>
            </a:r>
          </a:p>
        </p:txBody>
      </p:sp>
      <p:sp>
        <p:nvSpPr>
          <p:cNvPr id="8" name="">
            <a:extLst xmlns:a="http://schemas.openxmlformats.org/drawingml/2006/main">
              <a:ext uri="{FF2B5EF4-FFF2-40B4-BE49-F238E27FC236}">
                <a16:creationId xmlns:a16="http://schemas.microsoft.com/office/drawing/2014/main" id="{817C6A63-8559-41E9-87A7-9D4232370D25}"/>
              </a:ext>
            </a:extLst>
          </p:cNvPr>
          <p:cNvSpPr>
            <a:spLocks xmlns:a="http://schemas.openxmlformats.org/drawingml/2006/main" noGrp="1"/>
          </p:cNvSpPr>
          <p:nvPr/>
        </p:nvSpPr>
        <p:spPr>
          <a:xfrm xmlns:a="http://schemas.openxmlformats.org/drawingml/2006/main">
            <a:off x="34099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7D6369F-842D-4D44-A0BF-80EFE67BBA31}"/>
              </a:ext>
            </a:extLst>
          </p:cNvPr>
          <p:cNvSpPr>
            <a:spLocks xmlns:a="http://schemas.openxmlformats.org/drawingml/2006/main" noGrp="1"/>
          </p:cNvSpPr>
          <p:nvPr/>
        </p:nvSpPr>
        <p:spPr>
          <a:xfrm xmlns:a="http://schemas.openxmlformats.org/drawingml/2006/main">
            <a:off x="35814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2020 XGB</a:t>
            </a:r>
          </a:p>
        </p:txBody>
      </p:sp>
      <p:sp>
        <p:nvSpPr>
          <p:cNvPr id="10" name="">
            <a:extLst xmlns:a="http://schemas.openxmlformats.org/drawingml/2006/main">
              <a:ext uri="{FF2B5EF4-FFF2-40B4-BE49-F238E27FC236}">
                <a16:creationId xmlns:a16="http://schemas.microsoft.com/office/drawing/2014/main" id="{A2B40512-EA1F-4576-BBB1-1C81B9572928}"/>
              </a:ext>
            </a:extLst>
          </p:cNvPr>
          <p:cNvSpPr>
            <a:spLocks xmlns:a="http://schemas.openxmlformats.org/drawingml/2006/main" noGrp="1"/>
          </p:cNvSpPr>
          <p:nvPr/>
        </p:nvSpPr>
        <p:spPr>
          <a:xfrm xmlns:a="http://schemas.openxmlformats.org/drawingml/2006/main">
            <a:off x="35814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79.1%</a:t>
            </a:r>
          </a:p>
        </p:txBody>
      </p:sp>
      <p:sp>
        <p:nvSpPr>
          <p:cNvPr id="11" name="">
            <a:extLst xmlns:a="http://schemas.openxmlformats.org/drawingml/2006/main">
              <a:ext uri="{FF2B5EF4-FFF2-40B4-BE49-F238E27FC236}">
                <a16:creationId xmlns:a16="http://schemas.microsoft.com/office/drawing/2014/main" id="{D46E2D47-34E3-4845-A78D-D5BBA9E587E7}"/>
              </a:ext>
            </a:extLst>
          </p:cNvPr>
          <p:cNvSpPr>
            <a:spLocks xmlns:a="http://schemas.openxmlformats.org/drawingml/2006/main" noGrp="1"/>
          </p:cNvSpPr>
          <p:nvPr/>
        </p:nvSpPr>
        <p:spPr>
          <a:xfrm xmlns:a="http://schemas.openxmlformats.org/drawingml/2006/main">
            <a:off x="35814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GLM was 54.0%; basket hold was 225.2%.</a:t>
            </a:r>
          </a:p>
        </p:txBody>
      </p:sp>
      <p:sp>
        <p:nvSpPr>
          <p:cNvPr id="12" name="">
            <a:extLst xmlns:a="http://schemas.openxmlformats.org/drawingml/2006/main">
              <a:ext uri="{FF2B5EF4-FFF2-40B4-BE49-F238E27FC236}">
                <a16:creationId xmlns:a16="http://schemas.microsoft.com/office/drawing/2014/main" id="{D277181F-CC98-458C-BD57-37FBFA06325E}"/>
              </a:ext>
            </a:extLst>
          </p:cNvPr>
          <p:cNvSpPr>
            <a:spLocks xmlns:a="http://schemas.openxmlformats.org/drawingml/2006/main" noGrp="1"/>
          </p:cNvSpPr>
          <p:nvPr/>
        </p:nvSpPr>
        <p:spPr>
          <a:xfrm xmlns:a="http://schemas.openxmlformats.org/drawingml/2006/main">
            <a:off x="61150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2A652A3F-24DE-4BC2-BBD4-4F8D987CA4A6}"/>
              </a:ext>
            </a:extLst>
          </p:cNvPr>
          <p:cNvSpPr>
            <a:spLocks xmlns:a="http://schemas.openxmlformats.org/drawingml/2006/main" noGrp="1"/>
          </p:cNvSpPr>
          <p:nvPr/>
        </p:nvSpPr>
        <p:spPr>
          <a:xfrm xmlns:a="http://schemas.openxmlformats.org/drawingml/2006/main">
            <a:off x="62865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2022 XGB</a:t>
            </a:r>
          </a:p>
        </p:txBody>
      </p:sp>
      <p:sp>
        <p:nvSpPr>
          <p:cNvPr id="14" name="">
            <a:extLst xmlns:a="http://schemas.openxmlformats.org/drawingml/2006/main">
              <a:ext uri="{FF2B5EF4-FFF2-40B4-BE49-F238E27FC236}">
                <a16:creationId xmlns:a16="http://schemas.microsoft.com/office/drawing/2014/main" id="{30BDEEBF-3575-4FC6-A8B7-CE6BAA085F82}"/>
              </a:ext>
            </a:extLst>
          </p:cNvPr>
          <p:cNvSpPr>
            <a:spLocks xmlns:a="http://schemas.openxmlformats.org/drawingml/2006/main" noGrp="1"/>
          </p:cNvSpPr>
          <p:nvPr/>
        </p:nvSpPr>
        <p:spPr>
          <a:xfrm xmlns:a="http://schemas.openxmlformats.org/drawingml/2006/main">
            <a:off x="62865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-41.4%</a:t>
            </a:r>
          </a:p>
        </p:txBody>
      </p:sp>
      <p:sp>
        <p:nvSpPr>
          <p:cNvPr id="15" name="">
            <a:extLst xmlns:a="http://schemas.openxmlformats.org/drawingml/2006/main">
              <a:ext uri="{FF2B5EF4-FFF2-40B4-BE49-F238E27FC236}">
                <a16:creationId xmlns:a16="http://schemas.microsoft.com/office/drawing/2014/main" id="{80BE8CCC-D714-4B8F-A5B9-6060DABD0FC5}"/>
              </a:ext>
            </a:extLst>
          </p:cNvPr>
          <p:cNvSpPr>
            <a:spLocks xmlns:a="http://schemas.openxmlformats.org/drawingml/2006/main" noGrp="1"/>
          </p:cNvSpPr>
          <p:nvPr/>
        </p:nvSpPr>
        <p:spPr>
          <a:xfrm xmlns:a="http://schemas.openxmlformats.org/drawingml/2006/main">
            <a:off x="62865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GLM was -49.7%; basket hold was -53.3%.</a:t>
            </a:r>
          </a:p>
        </p:txBody>
      </p:sp>
      <p:sp>
        <p:nvSpPr>
          <p:cNvPr id="16" name="">
            <a:extLst xmlns:a="http://schemas.openxmlformats.org/drawingml/2006/main">
              <a:ext uri="{FF2B5EF4-FFF2-40B4-BE49-F238E27FC236}">
                <a16:creationId xmlns:a16="http://schemas.microsoft.com/office/drawing/2014/main" id="{5657871A-7F8F-4098-B590-433B03A2E926}"/>
              </a:ext>
            </a:extLst>
          </p:cNvPr>
          <p:cNvSpPr>
            <a:spLocks xmlns:a="http://schemas.openxmlformats.org/drawingml/2006/main" noGrp="1"/>
          </p:cNvSpPr>
          <p:nvPr/>
        </p:nvSpPr>
        <p:spPr>
          <a:xfrm xmlns:a="http://schemas.openxmlformats.org/drawingml/2006/main">
            <a:off x="8820150" y="2152650"/>
            <a:ext cx="2333625" cy="1428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1E59BC29-2BA6-4048-ABE4-6EDC9519A2F8}"/>
              </a:ext>
            </a:extLst>
          </p:cNvPr>
          <p:cNvSpPr>
            <a:spLocks xmlns:a="http://schemas.openxmlformats.org/drawingml/2006/main" noGrp="1"/>
          </p:cNvSpPr>
          <p:nvPr/>
        </p:nvSpPr>
        <p:spPr>
          <a:xfrm xmlns:a="http://schemas.openxmlformats.org/drawingml/2006/main">
            <a:off x="8991600" y="2305050"/>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555555"/>
                </a:solidFill>
              </a:defRPr>
            </a:pPr>
            <a:r>
              <a:rPr sz="900" b="1" i="0">
                <a:solidFill>
                  <a:srgbClr val="555555"/>
                </a:solidFill>
              </a:rPr>
              <a:t>2020 EXPOSURE</a:t>
            </a:r>
          </a:p>
        </p:txBody>
      </p:sp>
      <p:sp>
        <p:nvSpPr>
          <p:cNvPr id="18" name="">
            <a:extLst xmlns:a="http://schemas.openxmlformats.org/drawingml/2006/main">
              <a:ext uri="{FF2B5EF4-FFF2-40B4-BE49-F238E27FC236}">
                <a16:creationId xmlns:a16="http://schemas.microsoft.com/office/drawing/2014/main" id="{3F84859E-1A75-4B12-A3F9-08C9E12AF12A}"/>
              </a:ext>
            </a:extLst>
          </p:cNvPr>
          <p:cNvSpPr>
            <a:spLocks xmlns:a="http://schemas.openxmlformats.org/drawingml/2006/main" noGrp="1"/>
          </p:cNvSpPr>
          <p:nvPr/>
        </p:nvSpPr>
        <p:spPr>
          <a:xfrm xmlns:a="http://schemas.openxmlformats.org/drawingml/2006/main">
            <a:off x="8991600" y="25527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36.9%</a:t>
            </a:r>
          </a:p>
        </p:txBody>
      </p:sp>
      <p:sp>
        <p:nvSpPr>
          <p:cNvPr id="19" name="">
            <a:extLst xmlns:a="http://schemas.openxmlformats.org/drawingml/2006/main">
              <a:ext uri="{FF2B5EF4-FFF2-40B4-BE49-F238E27FC236}">
                <a16:creationId xmlns:a16="http://schemas.microsoft.com/office/drawing/2014/main" id="{D1340D69-8024-4CEC-8654-7E2A0A6DC529}"/>
              </a:ext>
            </a:extLst>
          </p:cNvPr>
          <p:cNvSpPr>
            <a:spLocks xmlns:a="http://schemas.openxmlformats.org/drawingml/2006/main" noGrp="1"/>
          </p:cNvSpPr>
          <p:nvPr/>
        </p:nvSpPr>
        <p:spPr>
          <a:xfrm xmlns:a="http://schemas.openxmlformats.org/drawingml/2006/main">
            <a:off x="8991600" y="297180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55555"/>
                </a:solidFill>
              </a:defRPr>
            </a:pPr>
            <a:r>
              <a:rPr sz="1125" b="0" i="0">
                <a:solidFill>
                  <a:srgbClr val="555555"/>
                </a:solidFill>
              </a:rPr>
              <a:t>XGB used less exposure than GLM at 43.0%.</a:t>
            </a:r>
          </a:p>
        </p:txBody>
      </p:sp>
      <p:sp>
        <p:nvSpPr>
          <p:cNvPr id="20" name="">
            <a:extLst xmlns:a="http://schemas.openxmlformats.org/drawingml/2006/main">
              <a:ext uri="{FF2B5EF4-FFF2-40B4-BE49-F238E27FC236}">
                <a16:creationId xmlns:a16="http://schemas.microsoft.com/office/drawing/2014/main" id="{4F914C5D-A05A-450F-9342-E3154A1F29F2}"/>
              </a:ext>
            </a:extLst>
          </p:cNvPr>
          <p:cNvSpPr>
            <a:spLocks xmlns:a="http://schemas.openxmlformats.org/drawingml/2006/main" noGrp="1"/>
          </p:cNvSpPr>
          <p:nvPr/>
        </p:nvSpPr>
        <p:spPr>
          <a:xfrm xmlns:a="http://schemas.openxmlformats.org/drawingml/2006/main">
            <a:off x="1066800" y="409575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000000"/>
                </a:solidFill>
              </a:defRPr>
            </a:pPr>
            <a:r>
              <a:rPr sz="2100" b="1" i="0">
                <a:solidFill>
                  <a:srgbClr val="000000"/>
                </a:solidFill>
              </a:rPr>
              <a:t>This is encouraging because the nonlinear model improved return with less 2020 exposure and better 2022 defense. It is not a victory lap: 2020 still lagged basket hold by a lot.</a:t>
            </a:r>
          </a:p>
        </p:txBody>
      </p:sp>
    </p:spTree>
    <p:extLst>
      <p:ext uri="{BB962C8B-B14F-4D97-AF65-F5344CB8AC3E}">
        <p14:creationId xmlns:p14="http://schemas.microsoft.com/office/powerpoint/2010/main" val="30455069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977EB5-BBAA-4134-A532-3FE6D69DF830}"/>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40802E73-6A64-4344-B9D8-77CEB2591111}"/>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equity curves show useful improvement, not a solved system</a:t>
            </a:r>
          </a:p>
        </p:txBody>
      </p:sp>
      <p:sp>
        <p:nvSpPr>
          <p:cNvPr id="3" name="">
            <a:extLst xmlns:a="http://schemas.openxmlformats.org/drawingml/2006/main">
              <a:ext uri="{FF2B5EF4-FFF2-40B4-BE49-F238E27FC236}">
                <a16:creationId xmlns:a16="http://schemas.microsoft.com/office/drawing/2014/main" id="{9C78C24B-EB88-48D7-8796-4D28AFE5FA7A}"/>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7335232432342ad"/>
          <a:stretch xmlns:a="http://schemas.openxmlformats.org/drawingml/2006/main"/>
        </p:blipFill>
        <p:spPr>
          <a:xfrm xmlns:a="http://schemas.openxmlformats.org/drawingml/2006/main">
            <a:off x="835819" y="2000250"/>
            <a:ext cx="6900863"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734A07D-FFBF-45C3-8347-C99E5C3945FE}"/>
              </a:ext>
            </a:extLst>
          </p:cNvPr>
          <p:cNvSpPr>
            <a:spLocks xmlns:a="http://schemas.openxmlformats.org/drawingml/2006/main" noGrp="1"/>
          </p:cNvSpPr>
          <p:nvPr/>
        </p:nvSpPr>
        <p:spPr>
          <a:xfrm xmlns:a="http://schemas.openxmlformats.org/drawingml/2006/main">
            <a:off x="8477250" y="21336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What changed</a:t>
            </a:r>
          </a:p>
        </p:txBody>
      </p:sp>
      <p:sp>
        <p:nvSpPr>
          <p:cNvPr id="6" name="">
            <a:extLst xmlns:a="http://schemas.openxmlformats.org/drawingml/2006/main">
              <a:ext uri="{FF2B5EF4-FFF2-40B4-BE49-F238E27FC236}">
                <a16:creationId xmlns:a16="http://schemas.microsoft.com/office/drawing/2014/main" id="{3873559E-84F0-45FC-A118-79F196E74736}"/>
              </a:ext>
            </a:extLst>
          </p:cNvPr>
          <p:cNvSpPr>
            <a:spLocks xmlns:a="http://schemas.openxmlformats.org/drawingml/2006/main" noGrp="1"/>
          </p:cNvSpPr>
          <p:nvPr/>
        </p:nvSpPr>
        <p:spPr>
          <a:xfrm xmlns:a="http://schemas.openxmlformats.org/drawingml/2006/main">
            <a:off x="8477250" y="2705100"/>
            <a:ext cx="27051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XGBoost lifted 2020 return from 54.0% to 79.1% and improved 2022 from -49.7% to -41.4%. Equal-weight hold remains the hurdle in strong bull windows.</a:t>
            </a:r>
          </a:p>
        </p:txBody>
      </p:sp>
    </p:spTree>
    <p:extLst>
      <p:ext uri="{BB962C8B-B14F-4D97-AF65-F5344CB8AC3E}">
        <p14:creationId xmlns:p14="http://schemas.microsoft.com/office/powerpoint/2010/main" val="145709708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FA8D20-07C2-43C0-A25A-9A9700B0E3A4}"/>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3F37DBE0-B05D-436D-9FB5-5B6A158B3CA9}"/>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ranking audit gives a caution flag</a:t>
            </a:r>
          </a:p>
        </p:txBody>
      </p:sp>
      <p:sp>
        <p:nvSpPr>
          <p:cNvPr id="3" name="">
            <a:extLst xmlns:a="http://schemas.openxmlformats.org/drawingml/2006/main">
              <a:ext uri="{FF2B5EF4-FFF2-40B4-BE49-F238E27FC236}">
                <a16:creationId xmlns:a16="http://schemas.microsoft.com/office/drawing/2014/main" id="{5D4DCD68-44F8-4ECE-B66B-1E202FE70C9E}"/>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8cd0b4869574853"/>
          <a:stretch xmlns:a="http://schemas.openxmlformats.org/drawingml/2006/main"/>
        </p:blipFill>
        <p:spPr>
          <a:xfrm xmlns:a="http://schemas.openxmlformats.org/drawingml/2006/main">
            <a:off x="704850" y="2214196"/>
            <a:ext cx="5715000" cy="3077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F2333A-ADB0-4DE7-BD01-1E98EBDB2A92}"/>
              </a:ext>
            </a:extLst>
          </p:cNvPr>
          <p:cNvSpPr>
            <a:spLocks xmlns:a="http://schemas.openxmlformats.org/drawingml/2006/main" noGrp="1"/>
          </p:cNvSpPr>
          <p:nvPr/>
        </p:nvSpPr>
        <p:spPr>
          <a:xfrm xmlns:a="http://schemas.openxmlformats.org/drawingml/2006/main">
            <a:off x="7105650" y="2133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Why this is nuanced</a:t>
            </a:r>
          </a:p>
        </p:txBody>
      </p:sp>
      <p:sp>
        <p:nvSpPr>
          <p:cNvPr id="6" name="">
            <a:extLst xmlns:a="http://schemas.openxmlformats.org/drawingml/2006/main">
              <a:ext uri="{FF2B5EF4-FFF2-40B4-BE49-F238E27FC236}">
                <a16:creationId xmlns:a16="http://schemas.microsoft.com/office/drawing/2014/main" id="{564A5AA4-D495-4E2B-A52A-9AE95826EC5F}"/>
              </a:ext>
            </a:extLst>
          </p:cNvPr>
          <p:cNvSpPr>
            <a:spLocks xmlns:a="http://schemas.openxmlformats.org/drawingml/2006/main" noGrp="1"/>
          </p:cNvSpPr>
          <p:nvPr/>
        </p:nvSpPr>
        <p:spPr>
          <a:xfrm xmlns:a="http://schemas.openxmlformats.org/drawingml/2006/main">
            <a:off x="7105650" y="2743200"/>
            <a:ext cx="3333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XGBoost improved replay, but its 2020 AUC was 0.511 versus GLM at 0.520. The gain may come from threshold-crossing timing and drawdown behavior rather than cleaner global ranking.</a:t>
            </a:r>
          </a:p>
        </p:txBody>
      </p:sp>
    </p:spTree>
    <p:extLst>
      <p:ext uri="{BB962C8B-B14F-4D97-AF65-F5344CB8AC3E}">
        <p14:creationId xmlns:p14="http://schemas.microsoft.com/office/powerpoint/2010/main" val="70413256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D5683D-697A-4659-92A7-AB6810F5E5B9}"/>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8C74112C-101D-4FD1-BA83-D33001FD6F51}"/>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Probability tapes are now the most important audit surface</a:t>
            </a:r>
          </a:p>
        </p:txBody>
      </p:sp>
      <p:sp>
        <p:nvSpPr>
          <p:cNvPr id="3" name="">
            <a:extLst xmlns:a="http://schemas.openxmlformats.org/drawingml/2006/main">
              <a:ext uri="{FF2B5EF4-FFF2-40B4-BE49-F238E27FC236}">
                <a16:creationId xmlns:a16="http://schemas.microsoft.com/office/drawing/2014/main" id="{BD87C712-3D45-40B6-932E-7283B2D3F164}"/>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6201ba41a254f2d"/>
          <a:stretch xmlns:a="http://schemas.openxmlformats.org/drawingml/2006/main"/>
        </p:blipFill>
        <p:spPr>
          <a:xfrm xmlns:a="http://schemas.openxmlformats.org/drawingml/2006/main">
            <a:off x="1038785" y="2000250"/>
            <a:ext cx="6494929"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8472E7B-40AF-40B2-86F0-76A713555BE8}"/>
              </a:ext>
            </a:extLst>
          </p:cNvPr>
          <p:cNvSpPr>
            <a:spLocks xmlns:a="http://schemas.openxmlformats.org/drawingml/2006/main" noGrp="1"/>
          </p:cNvSpPr>
          <p:nvPr/>
        </p:nvSpPr>
        <p:spPr>
          <a:xfrm xmlns:a="http://schemas.openxmlformats.org/drawingml/2006/main">
            <a:off x="8477250" y="21336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What to inspect</a:t>
            </a:r>
          </a:p>
        </p:txBody>
      </p:sp>
      <p:sp>
        <p:nvSpPr>
          <p:cNvPr id="6" name="">
            <a:extLst xmlns:a="http://schemas.openxmlformats.org/drawingml/2006/main">
              <a:ext uri="{FF2B5EF4-FFF2-40B4-BE49-F238E27FC236}">
                <a16:creationId xmlns:a16="http://schemas.microsoft.com/office/drawing/2014/main" id="{0A68E902-D6F0-4DD7-9158-EF7CA0E813A8}"/>
              </a:ext>
            </a:extLst>
          </p:cNvPr>
          <p:cNvSpPr>
            <a:spLocks xmlns:a="http://schemas.openxmlformats.org/drawingml/2006/main" noGrp="1"/>
          </p:cNvSpPr>
          <p:nvPr/>
        </p:nvSpPr>
        <p:spPr>
          <a:xfrm xmlns:a="http://schemas.openxmlformats.org/drawingml/2006/main">
            <a:off x="8477250" y="2705100"/>
            <a:ext cx="27051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The key question is whether XGBoost changes entries and exits in places that make intuitive market sense. The tapes show a less linear probability trace and a different set of entry timings.</a:t>
            </a:r>
          </a:p>
        </p:txBody>
      </p:sp>
    </p:spTree>
    <p:extLst>
      <p:ext uri="{BB962C8B-B14F-4D97-AF65-F5344CB8AC3E}">
        <p14:creationId xmlns:p14="http://schemas.microsoft.com/office/powerpoint/2010/main" val="126736292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BDAF50-5273-46C4-82BB-234774AB04DE}"/>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8D8D5B61-F424-4D25-B15B-346BB0DFCFA1}"/>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feature-importance audit points back to OHLCV structure</a:t>
            </a:r>
          </a:p>
        </p:txBody>
      </p:sp>
      <p:sp>
        <p:nvSpPr>
          <p:cNvPr id="3" name="">
            <a:extLst xmlns:a="http://schemas.openxmlformats.org/drawingml/2006/main">
              <a:ext uri="{FF2B5EF4-FFF2-40B4-BE49-F238E27FC236}">
                <a16:creationId xmlns:a16="http://schemas.microsoft.com/office/drawing/2014/main" id="{A3AD72B9-99CE-4290-9001-02EF200EF01E}"/>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0dc2530af294746"/>
          <a:stretch xmlns:a="http://schemas.openxmlformats.org/drawingml/2006/main"/>
        </p:blipFill>
        <p:spPr>
          <a:xfrm xmlns:a="http://schemas.openxmlformats.org/drawingml/2006/main">
            <a:off x="718457" y="2038350"/>
            <a:ext cx="5878286"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86B1FD9-0798-43FB-8569-3C6EFD6CE757}"/>
              </a:ext>
            </a:extLst>
          </p:cNvPr>
          <p:cNvSpPr>
            <a:spLocks xmlns:a="http://schemas.openxmlformats.org/drawingml/2006/main" noGrp="1"/>
          </p:cNvSpPr>
          <p:nvPr/>
        </p:nvSpPr>
        <p:spPr>
          <a:xfrm xmlns:a="http://schemas.openxmlformats.org/drawingml/2006/main">
            <a:off x="7124700"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222222"/>
                </a:solidFill>
              </a:defRPr>
            </a:pPr>
            <a:r>
              <a:rPr sz="1950" b="1" i="0">
                <a:solidFill>
                  <a:srgbClr val="222222"/>
                </a:solidFill>
              </a:rPr>
              <a:t>Interpret carefully</a:t>
            </a:r>
          </a:p>
        </p:txBody>
      </p:sp>
      <p:sp>
        <p:nvSpPr>
          <p:cNvPr id="6" name="">
            <a:extLst xmlns:a="http://schemas.openxmlformats.org/drawingml/2006/main">
              <a:ext uri="{FF2B5EF4-FFF2-40B4-BE49-F238E27FC236}">
                <a16:creationId xmlns:a16="http://schemas.microsoft.com/office/drawing/2014/main" id="{E4D80C65-A1F9-4EB0-BA6A-D130512A9E09}"/>
              </a:ext>
            </a:extLst>
          </p:cNvPr>
          <p:cNvSpPr>
            <a:spLocks xmlns:a="http://schemas.openxmlformats.org/drawingml/2006/main" noGrp="1"/>
          </p:cNvSpPr>
          <p:nvPr/>
        </p:nvSpPr>
        <p:spPr>
          <a:xfrm xmlns:a="http://schemas.openxmlformats.org/drawingml/2006/main">
            <a:off x="7124700" y="2743200"/>
            <a:ext cx="33337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222222"/>
                </a:solidFill>
              </a:defRPr>
            </a:pPr>
            <a:r>
              <a:rPr sz="1650" b="0" i="0">
                <a:solidFill>
                  <a:srgbClr val="222222"/>
                </a:solidFill>
              </a:rPr>
              <a:t>The top split-gain feature in this first run was intraday_oc_ret. Importance is not causality, but it tells us XGBoost is using candle structure, gaps, short returns, compression, and market-relative features rather than only long trend memory.</a:t>
            </a:r>
          </a:p>
        </p:txBody>
      </p:sp>
    </p:spTree>
    <p:extLst>
      <p:ext uri="{BB962C8B-B14F-4D97-AF65-F5344CB8AC3E}">
        <p14:creationId xmlns:p14="http://schemas.microsoft.com/office/powerpoint/2010/main" val="64879040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0CB68B-E373-4022-84AE-A35249E0086C}"/>
              </a:ext>
            </a:extLst>
          </p:cNvPr>
          <p:cNvSpPr>
            <a:spLocks xmlns:a="http://schemas.openxmlformats.org/drawingml/2006/main" noGrp="1"/>
          </p:cNvSpPr>
          <p:nvPr/>
        </p:nvSpPr>
        <p:spPr>
          <a:xfrm xmlns:a="http://schemas.openxmlformats.org/drawingml/2006/main">
            <a:off x="685800" y="400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555555"/>
                </a:solidFill>
              </a:defRPr>
            </a:pPr>
            <a:r>
              <a:rPr sz="975" b="1" i="0">
                <a:solidFill>
                  <a:srgbClr val="555555"/>
                </a:solidFill>
              </a:rPr>
              <a:t>GEN5.4 ML DECISION ENGINE</a:t>
            </a:r>
          </a:p>
        </p:txBody>
      </p:sp>
      <p:sp>
        <p:nvSpPr>
          <p:cNvPr id="2" name="">
            <a:extLst xmlns:a="http://schemas.openxmlformats.org/drawingml/2006/main">
              <a:ext uri="{FF2B5EF4-FFF2-40B4-BE49-F238E27FC236}">
                <a16:creationId xmlns:a16="http://schemas.microsoft.com/office/drawing/2014/main" id="{DA4DCEC3-902D-4FDE-80F3-EF6FA07F1280}"/>
              </a:ext>
            </a:extLst>
          </p:cNvPr>
          <p:cNvSpPr>
            <a:spLocks xmlns:a="http://schemas.openxmlformats.org/drawingml/2006/main" noGrp="1"/>
          </p:cNvSpPr>
          <p:nvPr/>
        </p:nvSpPr>
        <p:spPr>
          <a:xfrm xmlns:a="http://schemas.openxmlformats.org/drawingml/2006/main">
            <a:off x="685800" y="7239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000000"/>
                </a:solidFill>
              </a:defRPr>
            </a:pPr>
            <a:r>
              <a:rPr sz="2850" b="1" i="0">
                <a:solidFill>
                  <a:srgbClr val="000000"/>
                </a:solidFill>
              </a:rPr>
              <a:t>The next gate is small XGBoost tuning, not a large search</a:t>
            </a:r>
          </a:p>
        </p:txBody>
      </p:sp>
      <p:sp>
        <p:nvSpPr>
          <p:cNvPr id="3" name="">
            <a:extLst xmlns:a="http://schemas.openxmlformats.org/drawingml/2006/main">
              <a:ext uri="{FF2B5EF4-FFF2-40B4-BE49-F238E27FC236}">
                <a16:creationId xmlns:a16="http://schemas.microsoft.com/office/drawing/2014/main" id="{5C512A49-150E-40CD-8E2A-59CD62E314A7}"/>
              </a:ext>
            </a:extLst>
          </p:cNvPr>
          <p:cNvSpPr>
            <a:spLocks xmlns:a="http://schemas.openxmlformats.org/drawingml/2006/main" noGrp="1"/>
          </p:cNvSpPr>
          <p:nvPr/>
        </p:nvSpPr>
        <p:spPr>
          <a:xfrm xmlns:a="http://schemas.openxmlformats.org/drawingml/2006/main">
            <a:off x="685800" y="1657350"/>
            <a:ext cx="108204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3DBC1B6-2A6A-4E21-8086-984A50ACFCE8}"/>
              </a:ext>
            </a:extLst>
          </p:cNvPr>
          <p:cNvSpPr>
            <a:spLocks xmlns:a="http://schemas.openxmlformats.org/drawingml/2006/main" noGrp="1"/>
          </p:cNvSpPr>
          <p:nvPr/>
        </p:nvSpPr>
        <p:spPr>
          <a:xfrm xmlns:a="http://schemas.openxmlformats.org/drawingml/2006/main">
            <a:off x="876300" y="21336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00000"/>
                </a:solidFill>
              </a:defRPr>
            </a:pPr>
            <a:r>
              <a:rPr sz="2250" b="1" i="0">
                <a:solidFill>
                  <a:srgbClr val="000000"/>
                </a:solidFill>
              </a:rPr>
              <a:t>ML-P2 earned a cautious follow-up because replay improved in both windows under fixed model settings. The ranking audit keeps us honest: this is not yet proof that the model has solved alpha.</a:t>
            </a:r>
          </a:p>
        </p:txBody>
      </p:sp>
      <p:sp>
        <p:nvSpPr>
          <p:cNvPr id="5" name="">
            <a:extLst xmlns:a="http://schemas.openxmlformats.org/drawingml/2006/main">
              <a:ext uri="{FF2B5EF4-FFF2-40B4-BE49-F238E27FC236}">
                <a16:creationId xmlns:a16="http://schemas.microsoft.com/office/drawing/2014/main" id="{70A366CC-D6CD-4DEF-8DAB-B52235903C69}"/>
              </a:ext>
            </a:extLst>
          </p:cNvPr>
          <p:cNvSpPr>
            <a:spLocks xmlns:a="http://schemas.openxmlformats.org/drawingml/2006/main" noGrp="1"/>
          </p:cNvSpPr>
          <p:nvPr/>
        </p:nvSpPr>
        <p:spPr>
          <a:xfrm xmlns:a="http://schemas.openxmlformats.org/drawingml/2006/main">
            <a:off x="1219200" y="35718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6" name="">
            <a:extLst xmlns:a="http://schemas.openxmlformats.org/drawingml/2006/main">
              <a:ext uri="{FF2B5EF4-FFF2-40B4-BE49-F238E27FC236}">
                <a16:creationId xmlns:a16="http://schemas.microsoft.com/office/drawing/2014/main" id="{20A37CEE-06A0-4DD7-A4D8-5A6AB7A5608C}"/>
              </a:ext>
            </a:extLst>
          </p:cNvPr>
          <p:cNvSpPr>
            <a:spLocks xmlns:a="http://schemas.openxmlformats.org/drawingml/2006/main" noGrp="1"/>
          </p:cNvSpPr>
          <p:nvPr/>
        </p:nvSpPr>
        <p:spPr>
          <a:xfrm xmlns:a="http://schemas.openxmlformats.org/drawingml/2006/main">
            <a:off x="1485900" y="3562350"/>
            <a:ext cx="716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Run one small TRAIN-only XGBoost parameter slice: depth, rounds, and minimum child weight.</a:t>
            </a:r>
          </a:p>
        </p:txBody>
      </p:sp>
      <p:sp>
        <p:nvSpPr>
          <p:cNvPr id="7" name="">
            <a:extLst xmlns:a="http://schemas.openxmlformats.org/drawingml/2006/main">
              <a:ext uri="{FF2B5EF4-FFF2-40B4-BE49-F238E27FC236}">
                <a16:creationId xmlns:a16="http://schemas.microsoft.com/office/drawing/2014/main" id="{78A2CF30-EC85-4618-83C9-89F4B3620DB8}"/>
              </a:ext>
            </a:extLst>
          </p:cNvPr>
          <p:cNvSpPr>
            <a:spLocks xmlns:a="http://schemas.openxmlformats.org/drawingml/2006/main" noGrp="1"/>
          </p:cNvSpPr>
          <p:nvPr/>
        </p:nvSpPr>
        <p:spPr>
          <a:xfrm xmlns:a="http://schemas.openxmlformats.org/drawingml/2006/main">
            <a:off x="1219200" y="42386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8" name="">
            <a:extLst xmlns:a="http://schemas.openxmlformats.org/drawingml/2006/main">
              <a:ext uri="{FF2B5EF4-FFF2-40B4-BE49-F238E27FC236}">
                <a16:creationId xmlns:a16="http://schemas.microsoft.com/office/drawing/2014/main" id="{C59C08DA-2B7B-45C1-A588-FC4F6A20ED4F}"/>
              </a:ext>
            </a:extLst>
          </p:cNvPr>
          <p:cNvSpPr>
            <a:spLocks xmlns:a="http://schemas.openxmlformats.org/drawingml/2006/main" noGrp="1"/>
          </p:cNvSpPr>
          <p:nvPr/>
        </p:nvSpPr>
        <p:spPr>
          <a:xfrm xmlns:a="http://schemas.openxmlformats.org/drawingml/2006/main">
            <a:off x="1485900" y="4229100"/>
            <a:ext cx="716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Keep h1, features, annual replay, thresholds, benchmark, and probability tapes fixed.</a:t>
            </a:r>
          </a:p>
        </p:txBody>
      </p:sp>
      <p:sp>
        <p:nvSpPr>
          <p:cNvPr id="9" name="">
            <a:extLst xmlns:a="http://schemas.openxmlformats.org/drawingml/2006/main">
              <a:ext uri="{FF2B5EF4-FFF2-40B4-BE49-F238E27FC236}">
                <a16:creationId xmlns:a16="http://schemas.microsoft.com/office/drawing/2014/main" id="{6C368E5C-DE6D-4674-B8B6-8DCF1D663FE2}"/>
              </a:ext>
            </a:extLst>
          </p:cNvPr>
          <p:cNvSpPr>
            <a:spLocks xmlns:a="http://schemas.openxmlformats.org/drawingml/2006/main" noGrp="1"/>
          </p:cNvSpPr>
          <p:nvPr/>
        </p:nvSpPr>
        <p:spPr>
          <a:xfrm xmlns:a="http://schemas.openxmlformats.org/drawingml/2006/main">
            <a:off x="1219200" y="490537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0" name="">
            <a:extLst xmlns:a="http://schemas.openxmlformats.org/drawingml/2006/main">
              <a:ext uri="{FF2B5EF4-FFF2-40B4-BE49-F238E27FC236}">
                <a16:creationId xmlns:a16="http://schemas.microsoft.com/office/drawing/2014/main" id="{1FF6872C-3550-4A86-A7CE-2EFFB0A73D18}"/>
              </a:ext>
            </a:extLst>
          </p:cNvPr>
          <p:cNvSpPr>
            <a:spLocks xmlns:a="http://schemas.openxmlformats.org/drawingml/2006/main" noGrp="1"/>
          </p:cNvSpPr>
          <p:nvPr/>
        </p:nvSpPr>
        <p:spPr>
          <a:xfrm xmlns:a="http://schemas.openxmlformats.org/drawingml/2006/main">
            <a:off x="1485900" y="4895850"/>
            <a:ext cx="716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Watch 2022: XGBoost AUC was 0.484, so defense may still be fragile.</a:t>
            </a:r>
          </a:p>
        </p:txBody>
      </p:sp>
      <p:sp>
        <p:nvSpPr>
          <p:cNvPr id="11" name="">
            <a:extLst xmlns:a="http://schemas.openxmlformats.org/drawingml/2006/main">
              <a:ext uri="{FF2B5EF4-FFF2-40B4-BE49-F238E27FC236}">
                <a16:creationId xmlns:a16="http://schemas.microsoft.com/office/drawing/2014/main" id="{5D0AD160-27E7-461C-B9DF-872C58B2EC3D}"/>
              </a:ext>
            </a:extLst>
          </p:cNvPr>
          <p:cNvSpPr>
            <a:spLocks xmlns:a="http://schemas.openxmlformats.org/drawingml/2006/main" noGrp="1"/>
          </p:cNvSpPr>
          <p:nvPr/>
        </p:nvSpPr>
        <p:spPr>
          <a:xfrm xmlns:a="http://schemas.openxmlformats.org/drawingml/2006/main">
            <a:off x="1219200" y="5572125"/>
            <a:ext cx="19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FF6B35"/>
                </a:solidFill>
              </a:defRPr>
            </a:pPr>
            <a:r>
              <a:rPr sz="1575" b="1" i="0">
                <a:solidFill>
                  <a:srgbClr val="FF6B35"/>
                </a:solidFill>
              </a:rPr>
              <a:t>-</a:t>
            </a:r>
          </a:p>
        </p:txBody>
      </p:sp>
      <p:sp>
        <p:nvSpPr>
          <p:cNvPr id="12" name="">
            <a:extLst xmlns:a="http://schemas.openxmlformats.org/drawingml/2006/main">
              <a:ext uri="{FF2B5EF4-FFF2-40B4-BE49-F238E27FC236}">
                <a16:creationId xmlns:a16="http://schemas.microsoft.com/office/drawing/2014/main" id="{E9CDE3B2-AC96-4BC3-81E0-3EE0EB66144C}"/>
              </a:ext>
            </a:extLst>
          </p:cNvPr>
          <p:cNvSpPr>
            <a:spLocks xmlns:a="http://schemas.openxmlformats.org/drawingml/2006/main" noGrp="1"/>
          </p:cNvSpPr>
          <p:nvPr/>
        </p:nvSpPr>
        <p:spPr>
          <a:xfrm xmlns:a="http://schemas.openxmlformats.org/drawingml/2006/main">
            <a:off x="1485900" y="5562600"/>
            <a:ext cx="716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222222"/>
                </a:solidFill>
              </a:defRPr>
            </a:pPr>
            <a:r>
              <a:rPr sz="1575" b="0" i="0">
                <a:solidFill>
                  <a:srgbClr val="222222"/>
                </a:solidFill>
              </a:rPr>
              <a:t>If small tuning does not improve ranking or timing, return to feature design instead of widening model knobs.</a:t>
            </a:r>
          </a:p>
        </p:txBody>
      </p:sp>
    </p:spTree>
    <p:extLst>
      <p:ext uri="{BB962C8B-B14F-4D97-AF65-F5344CB8AC3E}">
        <p14:creationId xmlns:p14="http://schemas.microsoft.com/office/powerpoint/2010/main" val="15203439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2026-07-13T22:42:45.2910000Z</dcterms:created>
  <dcterms:modified xsi:type="dcterms:W3CDTF">2026-07-13T22:42:45.2910000Z</dcterms:modified>
</coreProperties>
</file>