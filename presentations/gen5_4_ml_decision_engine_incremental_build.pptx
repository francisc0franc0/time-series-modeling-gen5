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8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27" d="100"/>
          <a:sy n="127" d="100"/>
        </p:scale>
        <p:origin x="259" y="101"/>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1.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6EAEB232-84C1-4564-A03E-0FEA25A5F3F8}"/>
              </a:ext>
            </a:extLst>
          </p:cNvPr>
          <p:cNvSpPr>
            <a:spLocks noGrp="1"/>
          </p:cNvSpPr>
          <p:nvPr/>
        </p:nvSpPr>
        <p:spPr>
          <a:xfrm>
            <a:off x="685800" y="457200"/>
            <a:ext cx="2857500" cy="514350"/>
          </a:xfrm>
          <a:prstGeom prst="rect">
            <a:avLst/>
          </a:prstGeom>
          <a:noFill/>
          <a:ln w="0">
            <a:noFill/>
            <a:prstDash val="solid"/>
          </a:ln>
        </p:spPr>
        <p:txBody>
          <a:bodyPr/>
          <a:lstStyle/>
          <a:p>
            <a:pPr algn="l">
              <a:defRPr sz="2250" b="1" i="0">
                <a:solidFill>
                  <a:srgbClr val="555555"/>
                </a:solidFill>
              </a:defRPr>
            </a:pPr>
            <a:r>
              <a:rPr sz="2250" b="1" i="0">
                <a:solidFill>
                  <a:srgbClr val="555555"/>
                </a:solidFill>
              </a:rPr>
              <a:t>Gen5.4</a:t>
            </a:r>
          </a:p>
        </p:txBody>
      </p:sp>
      <p:sp>
        <p:nvSpPr>
          <p:cNvPr id="2" name="Rectangle 1">
            <a:extLst>
              <a:ext uri="{FF2B5EF4-FFF2-40B4-BE49-F238E27FC236}">
                <a16:creationId xmlns:a16="http://schemas.microsoft.com/office/drawing/2014/main" id="{7DA0865C-EA5C-4858-8166-B32F1E946661}"/>
              </a:ext>
            </a:extLst>
          </p:cNvPr>
          <p:cNvSpPr>
            <a:spLocks noGrp="1"/>
          </p:cNvSpPr>
          <p:nvPr/>
        </p:nvSpPr>
        <p:spPr>
          <a:xfrm>
            <a:off x="685800" y="1543050"/>
            <a:ext cx="7239000" cy="819150"/>
          </a:xfrm>
          <a:prstGeom prst="rect">
            <a:avLst/>
          </a:prstGeom>
          <a:noFill/>
          <a:ln w="0">
            <a:noFill/>
            <a:prstDash val="solid"/>
          </a:ln>
        </p:spPr>
        <p:txBody>
          <a:bodyPr/>
          <a:lstStyle/>
          <a:p>
            <a:pPr algn="l">
              <a:defRPr sz="4650" b="1" i="0">
                <a:solidFill>
                  <a:srgbClr val="000000"/>
                </a:solidFill>
              </a:defRPr>
            </a:pPr>
            <a:r>
              <a:rPr sz="4650" b="1" i="0">
                <a:solidFill>
                  <a:srgbClr val="000000"/>
                </a:solidFill>
              </a:rPr>
              <a:t>ML decision engine</a:t>
            </a:r>
          </a:p>
        </p:txBody>
      </p:sp>
      <p:sp>
        <p:nvSpPr>
          <p:cNvPr id="3" name="Rectangle 2">
            <a:extLst>
              <a:ext uri="{FF2B5EF4-FFF2-40B4-BE49-F238E27FC236}">
                <a16:creationId xmlns:a16="http://schemas.microsoft.com/office/drawing/2014/main" id="{F56DF292-26BA-4D0E-B45C-02CB5EFB2E80}"/>
              </a:ext>
            </a:extLst>
          </p:cNvPr>
          <p:cNvSpPr>
            <a:spLocks noGrp="1"/>
          </p:cNvSpPr>
          <p:nvPr/>
        </p:nvSpPr>
        <p:spPr>
          <a:xfrm>
            <a:off x="723900" y="2724150"/>
            <a:ext cx="6667500" cy="857250"/>
          </a:xfrm>
          <a:prstGeom prst="rect">
            <a:avLst/>
          </a:prstGeom>
          <a:noFill/>
          <a:ln w="0">
            <a:noFill/>
            <a:prstDash val="solid"/>
          </a:ln>
        </p:spPr>
        <p:txBody>
          <a:bodyPr/>
          <a:lstStyle/>
          <a:p>
            <a:pPr algn="l">
              <a:defRPr sz="1875" b="0" i="0">
                <a:solidFill>
                  <a:srgbClr val="222222"/>
                </a:solidFill>
              </a:defRPr>
            </a:pPr>
            <a:r>
              <a:rPr sz="1875" b="0" i="0">
                <a:solidFill>
                  <a:srgbClr val="222222"/>
                </a:solidFill>
              </a:rPr>
              <a:t>Incremental build log: supervised feature and label proof before model fitting.</a:t>
            </a:r>
          </a:p>
        </p:txBody>
      </p:sp>
      <p:sp>
        <p:nvSpPr>
          <p:cNvPr id="4" name="Rectangle 3">
            <a:extLst>
              <a:ext uri="{FF2B5EF4-FFF2-40B4-BE49-F238E27FC236}">
                <a16:creationId xmlns:a16="http://schemas.microsoft.com/office/drawing/2014/main" id="{31B090A4-3625-41D5-879C-77615A328650}"/>
              </a:ext>
            </a:extLst>
          </p:cNvPr>
          <p:cNvSpPr>
            <a:spLocks noGrp="1"/>
          </p:cNvSpPr>
          <p:nvPr/>
        </p:nvSpPr>
        <p:spPr>
          <a:xfrm>
            <a:off x="723900" y="4095750"/>
            <a:ext cx="4953000" cy="19050"/>
          </a:xfrm>
          <a:prstGeom prst="rect">
            <a:avLst/>
          </a:prstGeom>
          <a:solidFill>
            <a:srgbClr val="B8BCC4"/>
          </a:solidFill>
          <a:ln w="0">
            <a:noFill/>
            <a:prstDash val="solid"/>
          </a:ln>
        </p:spPr>
        <p:txBody>
          <a:bodyPr/>
          <a:lstStyle/>
          <a:p>
            <a:endParaRPr lang="en-US"/>
          </a:p>
        </p:txBody>
      </p:sp>
      <p:sp>
        <p:nvSpPr>
          <p:cNvPr id="5" name="Rectangle 4">
            <a:extLst>
              <a:ext uri="{FF2B5EF4-FFF2-40B4-BE49-F238E27FC236}">
                <a16:creationId xmlns:a16="http://schemas.microsoft.com/office/drawing/2014/main" id="{5C975398-83A8-432C-AD00-AE27FC565877}"/>
              </a:ext>
            </a:extLst>
          </p:cNvPr>
          <p:cNvSpPr>
            <a:spLocks noGrp="1"/>
          </p:cNvSpPr>
          <p:nvPr/>
        </p:nvSpPr>
        <p:spPr>
          <a:xfrm>
            <a:off x="723900" y="4400550"/>
            <a:ext cx="6572250" cy="666750"/>
          </a:xfrm>
          <a:prstGeom prst="rect">
            <a:avLst/>
          </a:prstGeom>
          <a:noFill/>
          <a:ln w="0">
            <a:noFill/>
            <a:prstDash val="solid"/>
          </a:ln>
        </p:spPr>
        <p:txBody>
          <a:bodyPr/>
          <a:lstStyle/>
          <a:p>
            <a:pPr algn="l">
              <a:defRPr sz="1500" b="0" i="0">
                <a:solidFill>
                  <a:srgbClr val="555555"/>
                </a:solidFill>
              </a:defRPr>
            </a:pPr>
            <a:r>
              <a:rPr sz="1500" b="0" i="0">
                <a:solidFill>
                  <a:srgbClr val="555555"/>
                </a:solidFill>
              </a:rPr>
              <a:t>ML-P0 packet: adjusted daily OHLCV -&gt; features through close t -&gt; next-open h3 label.</a:t>
            </a:r>
          </a:p>
        </p:txBody>
      </p:sp>
      <p:sp>
        <p:nvSpPr>
          <p:cNvPr id="6" name="Rectangle 5">
            <a:extLst>
              <a:ext uri="{FF2B5EF4-FFF2-40B4-BE49-F238E27FC236}">
                <a16:creationId xmlns:a16="http://schemas.microsoft.com/office/drawing/2014/main" id="{8AB94445-51F0-4BB6-884E-2199FB032FCA}"/>
              </a:ext>
            </a:extLst>
          </p:cNvPr>
          <p:cNvSpPr>
            <a:spLocks noGrp="1"/>
          </p:cNvSpPr>
          <p:nvPr/>
        </p:nvSpPr>
        <p:spPr>
          <a:xfrm>
            <a:off x="8134350" y="0"/>
            <a:ext cx="4057650" cy="6858000"/>
          </a:xfrm>
          <a:prstGeom prst="rect">
            <a:avLst/>
          </a:prstGeom>
          <a:solidFill>
            <a:srgbClr val="EDEDED"/>
          </a:solidFill>
          <a:ln w="0">
            <a:noFill/>
            <a:prstDash val="solid"/>
          </a:ln>
        </p:spPr>
        <p:txBody>
          <a:bodyPr/>
          <a:lstStyle/>
          <a:p>
            <a:endParaRPr lang="en-US"/>
          </a:p>
        </p:txBody>
      </p:sp>
      <p:sp>
        <p:nvSpPr>
          <p:cNvPr id="7" name="Rectangle 6">
            <a:extLst>
              <a:ext uri="{FF2B5EF4-FFF2-40B4-BE49-F238E27FC236}">
                <a16:creationId xmlns:a16="http://schemas.microsoft.com/office/drawing/2014/main" id="{7E985EF0-5A6A-46BC-BFF4-BEC081E0D526}"/>
              </a:ext>
            </a:extLst>
          </p:cNvPr>
          <p:cNvSpPr>
            <a:spLocks noGrp="1"/>
          </p:cNvSpPr>
          <p:nvPr/>
        </p:nvSpPr>
        <p:spPr>
          <a:xfrm>
            <a:off x="8572500" y="2362200"/>
            <a:ext cx="2476500" cy="419100"/>
          </a:xfrm>
          <a:prstGeom prst="rect">
            <a:avLst/>
          </a:prstGeom>
          <a:noFill/>
          <a:ln w="0">
            <a:noFill/>
            <a:prstDash val="solid"/>
          </a:ln>
        </p:spPr>
        <p:txBody>
          <a:bodyPr/>
          <a:lstStyle/>
          <a:p>
            <a:pPr algn="l">
              <a:defRPr sz="2100" b="1" i="0">
                <a:solidFill>
                  <a:srgbClr val="000000"/>
                </a:solidFill>
              </a:defRPr>
            </a:pPr>
            <a:r>
              <a:rPr sz="2100" b="1" i="0">
                <a:solidFill>
                  <a:srgbClr val="000000"/>
                </a:solidFill>
              </a:rPr>
              <a:t>Research only</a:t>
            </a:r>
          </a:p>
        </p:txBody>
      </p:sp>
      <p:sp>
        <p:nvSpPr>
          <p:cNvPr id="8" name="Rectangle 7">
            <a:extLst>
              <a:ext uri="{FF2B5EF4-FFF2-40B4-BE49-F238E27FC236}">
                <a16:creationId xmlns:a16="http://schemas.microsoft.com/office/drawing/2014/main" id="{8AB11AC3-7406-488C-9B5D-C0196E9B0CB8}"/>
              </a:ext>
            </a:extLst>
          </p:cNvPr>
          <p:cNvSpPr>
            <a:spLocks noGrp="1"/>
          </p:cNvSpPr>
          <p:nvPr/>
        </p:nvSpPr>
        <p:spPr>
          <a:xfrm>
            <a:off x="8572500" y="3009900"/>
            <a:ext cx="2571750" cy="142875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No model fit</a:t>
            </a:r>
          </a:p>
          <a:p>
            <a:pPr algn="l">
              <a:defRPr sz="1800" b="0" i="0">
                <a:solidFill>
                  <a:srgbClr val="222222"/>
                </a:solidFill>
              </a:defRPr>
            </a:pPr>
            <a:r>
              <a:rPr sz="1800" b="0" i="0">
                <a:solidFill>
                  <a:srgbClr val="222222"/>
                </a:solidFill>
              </a:rPr>
              <a:t>No live bridge change</a:t>
            </a:r>
          </a:p>
          <a:p>
            <a:pPr algn="l">
              <a:defRPr sz="1800" b="0" i="0">
                <a:solidFill>
                  <a:srgbClr val="222222"/>
                </a:solidFill>
              </a:defRPr>
            </a:pPr>
            <a:r>
              <a:rPr sz="1800" b="0" i="0">
                <a:solidFill>
                  <a:srgbClr val="222222"/>
                </a:solidFill>
              </a:rPr>
              <a:t>No allocation evidence</a:t>
            </a:r>
          </a:p>
        </p:txBody>
      </p:sp>
    </p:spTree>
    <p:extLst>
      <p:ext uri="{BB962C8B-B14F-4D97-AF65-F5344CB8AC3E}">
        <p14:creationId xmlns:p14="http://schemas.microsoft.com/office/powerpoint/2010/main" val="153175123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7" name="Rectangle 16">
            <a:extLst>
              <a:ext uri="{FF2B5EF4-FFF2-40B4-BE49-F238E27FC236}">
                <a16:creationId xmlns:a16="http://schemas.microsoft.com/office/drawing/2014/main" id="{D8262329-8124-401A-A941-851AFC729F37}"/>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69B36EC0-33B4-49DA-A901-1D6A36A30EC3}"/>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PCA work taught us where to aim the ML fork</a:t>
            </a:r>
          </a:p>
        </p:txBody>
      </p:sp>
      <p:sp>
        <p:nvSpPr>
          <p:cNvPr id="3" name="Rectangle 2">
            <a:extLst>
              <a:ext uri="{FF2B5EF4-FFF2-40B4-BE49-F238E27FC236}">
                <a16:creationId xmlns:a16="http://schemas.microsoft.com/office/drawing/2014/main" id="{D62F8535-B363-4F26-B052-FD4876C60745}"/>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7D1CD1AD-EA48-4512-894B-0AC05A4ABF3A}"/>
              </a:ext>
            </a:extLst>
          </p:cNvPr>
          <p:cNvSpPr>
            <a:spLocks noGrp="1"/>
          </p:cNvSpPr>
          <p:nvPr/>
        </p:nvSpPr>
        <p:spPr>
          <a:xfrm>
            <a:off x="876300" y="21050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5" name="Rectangle 4">
            <a:extLst>
              <a:ext uri="{FF2B5EF4-FFF2-40B4-BE49-F238E27FC236}">
                <a16:creationId xmlns:a16="http://schemas.microsoft.com/office/drawing/2014/main" id="{8FA4177B-4501-4110-A77E-040ECADEBD82}"/>
              </a:ext>
            </a:extLst>
          </p:cNvPr>
          <p:cNvSpPr>
            <a:spLocks noGrp="1"/>
          </p:cNvSpPr>
          <p:nvPr/>
        </p:nvSpPr>
        <p:spPr>
          <a:xfrm>
            <a:off x="1143000" y="209550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PCA states contained useful exposure information, especially in state-only diagnostics.</a:t>
            </a:r>
          </a:p>
        </p:txBody>
      </p:sp>
      <p:sp>
        <p:nvSpPr>
          <p:cNvPr id="6" name="Rectangle 5">
            <a:extLst>
              <a:ext uri="{FF2B5EF4-FFF2-40B4-BE49-F238E27FC236}">
                <a16:creationId xmlns:a16="http://schemas.microsoft.com/office/drawing/2014/main" id="{EE53A294-61FC-427D-8A31-613E2D6BC2FB}"/>
              </a:ext>
            </a:extLst>
          </p:cNvPr>
          <p:cNvSpPr>
            <a:spLocks noGrp="1"/>
          </p:cNvSpPr>
          <p:nvPr/>
        </p:nvSpPr>
        <p:spPr>
          <a:xfrm>
            <a:off x="876300" y="29622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7" name="Rectangle 6">
            <a:extLst>
              <a:ext uri="{FF2B5EF4-FFF2-40B4-BE49-F238E27FC236}">
                <a16:creationId xmlns:a16="http://schemas.microsoft.com/office/drawing/2014/main" id="{A32FBB0C-517F-42D3-8397-235D60744561}"/>
              </a:ext>
            </a:extLst>
          </p:cNvPr>
          <p:cNvSpPr>
            <a:spLocks noGrp="1"/>
          </p:cNvSpPr>
          <p:nvPr/>
        </p:nvSpPr>
        <p:spPr>
          <a:xfrm>
            <a:off x="1143000" y="295275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The same states still overparticipated in 2022 and missed too much early upside in rebound windows.</a:t>
            </a:r>
          </a:p>
        </p:txBody>
      </p:sp>
      <p:sp>
        <p:nvSpPr>
          <p:cNvPr id="8" name="Rectangle 7">
            <a:extLst>
              <a:ext uri="{FF2B5EF4-FFF2-40B4-BE49-F238E27FC236}">
                <a16:creationId xmlns:a16="http://schemas.microsoft.com/office/drawing/2014/main" id="{DE2BA717-CBA0-4D4A-8616-EE160B80D9CB}"/>
              </a:ext>
            </a:extLst>
          </p:cNvPr>
          <p:cNvSpPr>
            <a:spLocks noGrp="1"/>
          </p:cNvSpPr>
          <p:nvPr/>
        </p:nvSpPr>
        <p:spPr>
          <a:xfrm>
            <a:off x="876300" y="38195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9" name="Rectangle 8">
            <a:extLst>
              <a:ext uri="{FF2B5EF4-FFF2-40B4-BE49-F238E27FC236}">
                <a16:creationId xmlns:a16="http://schemas.microsoft.com/office/drawing/2014/main" id="{B6BAA914-294E-4AFE-B946-355E853938D0}"/>
              </a:ext>
            </a:extLst>
          </p:cNvPr>
          <p:cNvSpPr>
            <a:spLocks noGrp="1"/>
          </p:cNvSpPr>
          <p:nvPr/>
        </p:nvSpPr>
        <p:spPr>
          <a:xfrm>
            <a:off x="1143000" y="381000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Gen5.4 asks the daily exposure question directly instead of routing through a technical strategy first.</a:t>
            </a:r>
          </a:p>
        </p:txBody>
      </p:sp>
      <p:sp>
        <p:nvSpPr>
          <p:cNvPr id="10" name="Rectangle 9">
            <a:extLst>
              <a:ext uri="{FF2B5EF4-FFF2-40B4-BE49-F238E27FC236}">
                <a16:creationId xmlns:a16="http://schemas.microsoft.com/office/drawing/2014/main" id="{73320CE3-3C98-44CE-ADB2-C08CF9848FDC}"/>
              </a:ext>
            </a:extLst>
          </p:cNvPr>
          <p:cNvSpPr>
            <a:spLocks noGrp="1"/>
          </p:cNvSpPr>
          <p:nvPr/>
        </p:nvSpPr>
        <p:spPr>
          <a:xfrm>
            <a:off x="6191250" y="2095500"/>
            <a:ext cx="4762500" cy="609600"/>
          </a:xfrm>
          <a:prstGeom prst="rect">
            <a:avLst/>
          </a:prstGeom>
          <a:solidFill>
            <a:srgbClr val="EDEDED"/>
          </a:solidFill>
          <a:ln w="9525">
            <a:solidFill>
              <a:srgbClr val="B8BCC4"/>
            </a:solidFill>
            <a:prstDash val="solid"/>
          </a:ln>
        </p:spPr>
        <p:txBody>
          <a:bodyPr/>
          <a:lstStyle/>
          <a:p>
            <a:endParaRPr lang="en-US"/>
          </a:p>
        </p:txBody>
      </p:sp>
      <p:sp>
        <p:nvSpPr>
          <p:cNvPr id="11" name="Rectangle 10">
            <a:extLst>
              <a:ext uri="{FF2B5EF4-FFF2-40B4-BE49-F238E27FC236}">
                <a16:creationId xmlns:a16="http://schemas.microsoft.com/office/drawing/2014/main" id="{EC5CC379-31FC-42A5-9B14-48A299CB5370}"/>
              </a:ext>
            </a:extLst>
          </p:cNvPr>
          <p:cNvSpPr>
            <a:spLocks noGrp="1"/>
          </p:cNvSpPr>
          <p:nvPr/>
        </p:nvSpPr>
        <p:spPr>
          <a:xfrm>
            <a:off x="6191250" y="3162300"/>
            <a:ext cx="4762500" cy="609600"/>
          </a:xfrm>
          <a:prstGeom prst="rect">
            <a:avLst/>
          </a:prstGeom>
          <a:solidFill>
            <a:srgbClr val="EDEDED"/>
          </a:solidFill>
          <a:ln w="9525">
            <a:solidFill>
              <a:srgbClr val="B8BCC4"/>
            </a:solidFill>
            <a:prstDash val="solid"/>
          </a:ln>
        </p:spPr>
        <p:txBody>
          <a:bodyPr/>
          <a:lstStyle/>
          <a:p>
            <a:endParaRPr lang="en-US"/>
          </a:p>
        </p:txBody>
      </p:sp>
      <p:sp>
        <p:nvSpPr>
          <p:cNvPr id="12" name="Rectangle 11">
            <a:extLst>
              <a:ext uri="{FF2B5EF4-FFF2-40B4-BE49-F238E27FC236}">
                <a16:creationId xmlns:a16="http://schemas.microsoft.com/office/drawing/2014/main" id="{B8DD35D8-FBB4-4668-B75E-94682B846314}"/>
              </a:ext>
            </a:extLst>
          </p:cNvPr>
          <p:cNvSpPr>
            <a:spLocks noGrp="1"/>
          </p:cNvSpPr>
          <p:nvPr/>
        </p:nvSpPr>
        <p:spPr>
          <a:xfrm>
            <a:off x="6191250" y="4229100"/>
            <a:ext cx="4762500" cy="60960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C4BC3D21-4C05-4982-A40A-F39CDF224828}"/>
              </a:ext>
            </a:extLst>
          </p:cNvPr>
          <p:cNvSpPr>
            <a:spLocks noGrp="1"/>
          </p:cNvSpPr>
          <p:nvPr/>
        </p:nvSpPr>
        <p:spPr>
          <a:xfrm>
            <a:off x="6534150" y="2266950"/>
            <a:ext cx="4000500" cy="266700"/>
          </a:xfrm>
          <a:prstGeom prst="rect">
            <a:avLst/>
          </a:prstGeom>
          <a:noFill/>
          <a:ln w="0">
            <a:noFill/>
            <a:prstDash val="solid"/>
          </a:ln>
        </p:spPr>
        <p:txBody>
          <a:bodyPr/>
          <a:lstStyle/>
          <a:p>
            <a:pPr algn="l">
              <a:defRPr sz="1800" b="1" i="0">
                <a:solidFill>
                  <a:srgbClr val="222222"/>
                </a:solidFill>
              </a:defRPr>
            </a:pPr>
            <a:r>
              <a:rPr sz="1800" b="1" i="0">
                <a:solidFill>
                  <a:srgbClr val="222222"/>
                </a:solidFill>
              </a:rPr>
              <a:t>OHLCV feature table</a:t>
            </a:r>
          </a:p>
        </p:txBody>
      </p:sp>
      <p:sp>
        <p:nvSpPr>
          <p:cNvPr id="14" name="Rectangle 13">
            <a:extLst>
              <a:ext uri="{FF2B5EF4-FFF2-40B4-BE49-F238E27FC236}">
                <a16:creationId xmlns:a16="http://schemas.microsoft.com/office/drawing/2014/main" id="{31E77D0B-2BC9-47E7-AE9A-C2399AB33FEE}"/>
              </a:ext>
            </a:extLst>
          </p:cNvPr>
          <p:cNvSpPr>
            <a:spLocks noGrp="1"/>
          </p:cNvSpPr>
          <p:nvPr/>
        </p:nvSpPr>
        <p:spPr>
          <a:xfrm>
            <a:off x="6534150" y="3333750"/>
            <a:ext cx="4000500" cy="266700"/>
          </a:xfrm>
          <a:prstGeom prst="rect">
            <a:avLst/>
          </a:prstGeom>
          <a:noFill/>
          <a:ln w="0">
            <a:noFill/>
            <a:prstDash val="solid"/>
          </a:ln>
        </p:spPr>
        <p:txBody>
          <a:bodyPr/>
          <a:lstStyle/>
          <a:p>
            <a:pPr algn="l">
              <a:defRPr sz="1800" b="1" i="0">
                <a:solidFill>
                  <a:srgbClr val="222222"/>
                </a:solidFill>
              </a:defRPr>
            </a:pPr>
            <a:r>
              <a:rPr sz="1800" b="1" i="0">
                <a:solidFill>
                  <a:srgbClr val="222222"/>
                </a:solidFill>
              </a:rPr>
              <a:t>Supervised h3 label</a:t>
            </a:r>
          </a:p>
        </p:txBody>
      </p:sp>
      <p:sp>
        <p:nvSpPr>
          <p:cNvPr id="15" name="Rectangle 14">
            <a:extLst>
              <a:ext uri="{FF2B5EF4-FFF2-40B4-BE49-F238E27FC236}">
                <a16:creationId xmlns:a16="http://schemas.microsoft.com/office/drawing/2014/main" id="{4CD4C284-223B-46F5-BD13-3EE2AE0BBDE7}"/>
              </a:ext>
            </a:extLst>
          </p:cNvPr>
          <p:cNvSpPr>
            <a:spLocks noGrp="1"/>
          </p:cNvSpPr>
          <p:nvPr/>
        </p:nvSpPr>
        <p:spPr>
          <a:xfrm>
            <a:off x="6534150" y="4400550"/>
            <a:ext cx="4000500" cy="266700"/>
          </a:xfrm>
          <a:prstGeom prst="rect">
            <a:avLst/>
          </a:prstGeom>
          <a:noFill/>
          <a:ln w="0">
            <a:noFill/>
            <a:prstDash val="solid"/>
          </a:ln>
        </p:spPr>
        <p:txBody>
          <a:bodyPr/>
          <a:lstStyle/>
          <a:p>
            <a:pPr algn="l">
              <a:defRPr sz="1800" b="1" i="0">
                <a:solidFill>
                  <a:srgbClr val="222222"/>
                </a:solidFill>
              </a:defRPr>
            </a:pPr>
            <a:r>
              <a:rPr sz="1800" b="1" i="0">
                <a:solidFill>
                  <a:srgbClr val="222222"/>
                </a:solidFill>
              </a:rPr>
              <a:t>Daily long/flat policy</a:t>
            </a:r>
          </a:p>
        </p:txBody>
      </p:sp>
      <p:sp>
        <p:nvSpPr>
          <p:cNvPr id="16" name="Rectangle 15">
            <a:extLst>
              <a:ext uri="{FF2B5EF4-FFF2-40B4-BE49-F238E27FC236}">
                <a16:creationId xmlns:a16="http://schemas.microsoft.com/office/drawing/2014/main" id="{E76B53B4-ADB4-4618-955E-F4F0C8233727}"/>
              </a:ext>
            </a:extLst>
          </p:cNvPr>
          <p:cNvSpPr>
            <a:spLocks noGrp="1"/>
          </p:cNvSpPr>
          <p:nvPr/>
        </p:nvSpPr>
        <p:spPr>
          <a:xfrm>
            <a:off x="6324600" y="5334000"/>
            <a:ext cx="4333875" cy="495300"/>
          </a:xfrm>
          <a:prstGeom prst="rect">
            <a:avLst/>
          </a:prstGeom>
          <a:noFill/>
          <a:ln w="0">
            <a:noFill/>
            <a:prstDash val="solid"/>
          </a:ln>
        </p:spPr>
        <p:txBody>
          <a:bodyPr/>
          <a:lstStyle/>
          <a:p>
            <a:pPr algn="l">
              <a:defRPr sz="1500" b="0" i="0">
                <a:solidFill>
                  <a:srgbClr val="555555"/>
                </a:solidFill>
              </a:defRPr>
            </a:pPr>
            <a:r>
              <a:rPr sz="1500" b="0" i="0">
                <a:solidFill>
                  <a:srgbClr val="555555"/>
                </a:solidFill>
              </a:rPr>
              <a:t>The first build proves the first two boxes only.</a:t>
            </a:r>
          </a:p>
        </p:txBody>
      </p:sp>
    </p:spTree>
    <p:extLst>
      <p:ext uri="{BB962C8B-B14F-4D97-AF65-F5344CB8AC3E}">
        <p14:creationId xmlns:p14="http://schemas.microsoft.com/office/powerpoint/2010/main" val="208971224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78F56D31-101B-4904-9C53-0281DA304B0E}"/>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3696DCCC-A8D2-436C-9E45-C18CA3A812CF}"/>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ML-P0 succeeds only if the table is boringly correct</a:t>
            </a:r>
          </a:p>
        </p:txBody>
      </p:sp>
      <p:sp>
        <p:nvSpPr>
          <p:cNvPr id="3" name="Rectangle 2">
            <a:extLst>
              <a:ext uri="{FF2B5EF4-FFF2-40B4-BE49-F238E27FC236}">
                <a16:creationId xmlns:a16="http://schemas.microsoft.com/office/drawing/2014/main" id="{350B06EF-521A-423C-A56D-D71983F63D11}"/>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D24241B5-0301-46E7-8098-882EA2603B2F}"/>
              </a:ext>
            </a:extLst>
          </p:cNvPr>
          <p:cNvSpPr>
            <a:spLocks noGrp="1"/>
          </p:cNvSpPr>
          <p:nvPr/>
        </p:nvSpPr>
        <p:spPr>
          <a:xfrm>
            <a:off x="876300" y="2190750"/>
            <a:ext cx="2857500"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0B5E3562-2DB7-4482-B5F4-569C71873858}"/>
              </a:ext>
            </a:extLst>
          </p:cNvPr>
          <p:cNvSpPr>
            <a:spLocks noGrp="1"/>
          </p:cNvSpPr>
          <p:nvPr/>
        </p:nvSpPr>
        <p:spPr>
          <a:xfrm>
            <a:off x="1047750" y="2343150"/>
            <a:ext cx="2514600"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USABLE LABELED ROWS</a:t>
            </a:r>
          </a:p>
        </p:txBody>
      </p:sp>
      <p:sp>
        <p:nvSpPr>
          <p:cNvPr id="6" name="Rectangle 5">
            <a:extLst>
              <a:ext uri="{FF2B5EF4-FFF2-40B4-BE49-F238E27FC236}">
                <a16:creationId xmlns:a16="http://schemas.microsoft.com/office/drawing/2014/main" id="{BDA92E67-C177-4D68-AF74-1305ABC58816}"/>
              </a:ext>
            </a:extLst>
          </p:cNvPr>
          <p:cNvSpPr>
            <a:spLocks noGrp="1"/>
          </p:cNvSpPr>
          <p:nvPr/>
        </p:nvSpPr>
        <p:spPr>
          <a:xfrm>
            <a:off x="1047750" y="2590800"/>
            <a:ext cx="2514600"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22,440</a:t>
            </a:r>
          </a:p>
        </p:txBody>
      </p:sp>
      <p:sp>
        <p:nvSpPr>
          <p:cNvPr id="7" name="Rectangle 6">
            <a:extLst>
              <a:ext uri="{FF2B5EF4-FFF2-40B4-BE49-F238E27FC236}">
                <a16:creationId xmlns:a16="http://schemas.microsoft.com/office/drawing/2014/main" id="{4E8DE59A-F1B6-4C09-BBBE-96E458985159}"/>
              </a:ext>
            </a:extLst>
          </p:cNvPr>
          <p:cNvSpPr>
            <a:spLocks noGrp="1"/>
          </p:cNvSpPr>
          <p:nvPr/>
        </p:nvSpPr>
        <p:spPr>
          <a:xfrm>
            <a:off x="1047750" y="3009900"/>
            <a:ext cx="2514600"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Rows eligible after fold and horizon filters.</a:t>
            </a:r>
          </a:p>
        </p:txBody>
      </p:sp>
      <p:sp>
        <p:nvSpPr>
          <p:cNvPr id="8" name="Rectangle 7">
            <a:extLst>
              <a:ext uri="{FF2B5EF4-FFF2-40B4-BE49-F238E27FC236}">
                <a16:creationId xmlns:a16="http://schemas.microsoft.com/office/drawing/2014/main" id="{3E50358F-EB42-4D69-9D3B-0DE53DEFC5B7}"/>
              </a:ext>
            </a:extLst>
          </p:cNvPr>
          <p:cNvSpPr>
            <a:spLocks noGrp="1"/>
          </p:cNvSpPr>
          <p:nvPr/>
        </p:nvSpPr>
        <p:spPr>
          <a:xfrm>
            <a:off x="4667250" y="2190750"/>
            <a:ext cx="2857500"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711799EA-9BA7-44AA-BF43-E48D92F8ADCD}"/>
              </a:ext>
            </a:extLst>
          </p:cNvPr>
          <p:cNvSpPr>
            <a:spLocks noGrp="1"/>
          </p:cNvSpPr>
          <p:nvPr/>
        </p:nvSpPr>
        <p:spPr>
          <a:xfrm>
            <a:off x="4838700" y="2343150"/>
            <a:ext cx="2514600"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SELECTED FEATURES</a:t>
            </a:r>
          </a:p>
        </p:txBody>
      </p:sp>
      <p:sp>
        <p:nvSpPr>
          <p:cNvPr id="10" name="Rectangle 9">
            <a:extLst>
              <a:ext uri="{FF2B5EF4-FFF2-40B4-BE49-F238E27FC236}">
                <a16:creationId xmlns:a16="http://schemas.microsoft.com/office/drawing/2014/main" id="{1534B50F-1E6C-4545-877E-9F2A4EF47666}"/>
              </a:ext>
            </a:extLst>
          </p:cNvPr>
          <p:cNvSpPr>
            <a:spLocks noGrp="1"/>
          </p:cNvSpPr>
          <p:nvPr/>
        </p:nvSpPr>
        <p:spPr>
          <a:xfrm>
            <a:off x="4838700" y="2590800"/>
            <a:ext cx="2514600"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40</a:t>
            </a:r>
          </a:p>
        </p:txBody>
      </p:sp>
      <p:sp>
        <p:nvSpPr>
          <p:cNvPr id="11" name="Rectangle 10">
            <a:extLst>
              <a:ext uri="{FF2B5EF4-FFF2-40B4-BE49-F238E27FC236}">
                <a16:creationId xmlns:a16="http://schemas.microsoft.com/office/drawing/2014/main" id="{950F1A58-E906-4B0C-88B5-99A988CEE63D}"/>
              </a:ext>
            </a:extLst>
          </p:cNvPr>
          <p:cNvSpPr>
            <a:spLocks noGrp="1"/>
          </p:cNvSpPr>
          <p:nvPr/>
        </p:nvSpPr>
        <p:spPr>
          <a:xfrm>
            <a:off x="4838700" y="3009900"/>
            <a:ext cx="2514600"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PCA-inspired plus explicit OHLCV additions.</a:t>
            </a:r>
          </a:p>
        </p:txBody>
      </p:sp>
      <p:sp>
        <p:nvSpPr>
          <p:cNvPr id="12" name="Rectangle 11">
            <a:extLst>
              <a:ext uri="{FF2B5EF4-FFF2-40B4-BE49-F238E27FC236}">
                <a16:creationId xmlns:a16="http://schemas.microsoft.com/office/drawing/2014/main" id="{7F9E6D1B-7CED-4211-A3A5-48CB0D72FB48}"/>
              </a:ext>
            </a:extLst>
          </p:cNvPr>
          <p:cNvSpPr>
            <a:spLocks noGrp="1"/>
          </p:cNvSpPr>
          <p:nvPr/>
        </p:nvSpPr>
        <p:spPr>
          <a:xfrm>
            <a:off x="8458200" y="2190750"/>
            <a:ext cx="2857500"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326BF2D2-28E2-4E93-9FED-F2621C3CE1F7}"/>
              </a:ext>
            </a:extLst>
          </p:cNvPr>
          <p:cNvSpPr>
            <a:spLocks noGrp="1"/>
          </p:cNvSpPr>
          <p:nvPr/>
        </p:nvSpPr>
        <p:spPr>
          <a:xfrm>
            <a:off x="8629650" y="2343150"/>
            <a:ext cx="2514600"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LEAKAGE AUDIT</a:t>
            </a:r>
          </a:p>
        </p:txBody>
      </p:sp>
      <p:sp>
        <p:nvSpPr>
          <p:cNvPr id="14" name="Rectangle 13">
            <a:extLst>
              <a:ext uri="{FF2B5EF4-FFF2-40B4-BE49-F238E27FC236}">
                <a16:creationId xmlns:a16="http://schemas.microsoft.com/office/drawing/2014/main" id="{D7897C77-1D56-43FE-A015-F6E712F508C3}"/>
              </a:ext>
            </a:extLst>
          </p:cNvPr>
          <p:cNvSpPr>
            <a:spLocks noGrp="1"/>
          </p:cNvSpPr>
          <p:nvPr/>
        </p:nvSpPr>
        <p:spPr>
          <a:xfrm>
            <a:off x="8629650" y="2590800"/>
            <a:ext cx="2514600"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15" name="Rectangle 14">
            <a:extLst>
              <a:ext uri="{FF2B5EF4-FFF2-40B4-BE49-F238E27FC236}">
                <a16:creationId xmlns:a16="http://schemas.microsoft.com/office/drawing/2014/main" id="{47D763DE-3793-43E4-8F8D-7E37FAF493E1}"/>
              </a:ext>
            </a:extLst>
          </p:cNvPr>
          <p:cNvSpPr>
            <a:spLocks noGrp="1"/>
          </p:cNvSpPr>
          <p:nvPr/>
        </p:nvSpPr>
        <p:spPr>
          <a:xfrm>
            <a:off x="8629650" y="3009900"/>
            <a:ext cx="2514600"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TRAIN labels stay inside TRAIN; OOS labels stay inside OOS.</a:t>
            </a:r>
          </a:p>
        </p:txBody>
      </p:sp>
      <p:sp>
        <p:nvSpPr>
          <p:cNvPr id="16" name="Rectangle 15">
            <a:extLst>
              <a:ext uri="{FF2B5EF4-FFF2-40B4-BE49-F238E27FC236}">
                <a16:creationId xmlns:a16="http://schemas.microsoft.com/office/drawing/2014/main" id="{5A17EDB8-7ADF-4563-93B2-3BA518580791}"/>
              </a:ext>
            </a:extLst>
          </p:cNvPr>
          <p:cNvSpPr>
            <a:spLocks noGrp="1"/>
          </p:cNvSpPr>
          <p:nvPr/>
        </p:nvSpPr>
        <p:spPr>
          <a:xfrm>
            <a:off x="1181100" y="41052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7" name="Rectangle 16">
            <a:extLst>
              <a:ext uri="{FF2B5EF4-FFF2-40B4-BE49-F238E27FC236}">
                <a16:creationId xmlns:a16="http://schemas.microsoft.com/office/drawing/2014/main" id="{B35CC4CC-C1D1-4B5F-A0D1-E57E794670A8}"/>
              </a:ext>
            </a:extLst>
          </p:cNvPr>
          <p:cNvSpPr>
            <a:spLocks noGrp="1"/>
          </p:cNvSpPr>
          <p:nvPr/>
        </p:nvSpPr>
        <p:spPr>
          <a:xfrm>
            <a:off x="1447800" y="409575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Features are known after close t.</a:t>
            </a:r>
          </a:p>
        </p:txBody>
      </p:sp>
      <p:sp>
        <p:nvSpPr>
          <p:cNvPr id="18" name="Rectangle 17">
            <a:extLst>
              <a:ext uri="{FF2B5EF4-FFF2-40B4-BE49-F238E27FC236}">
                <a16:creationId xmlns:a16="http://schemas.microsoft.com/office/drawing/2014/main" id="{ACCF7CF7-FD17-4DF7-B254-999F3CDC5578}"/>
              </a:ext>
            </a:extLst>
          </p:cNvPr>
          <p:cNvSpPr>
            <a:spLocks noGrp="1"/>
          </p:cNvSpPr>
          <p:nvPr/>
        </p:nvSpPr>
        <p:spPr>
          <a:xfrm>
            <a:off x="1181100" y="46767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9" name="Rectangle 18">
            <a:extLst>
              <a:ext uri="{FF2B5EF4-FFF2-40B4-BE49-F238E27FC236}">
                <a16:creationId xmlns:a16="http://schemas.microsoft.com/office/drawing/2014/main" id="{263EC578-33D4-49F3-A1DF-F9998C42E29E}"/>
              </a:ext>
            </a:extLst>
          </p:cNvPr>
          <p:cNvSpPr>
            <a:spLocks noGrp="1"/>
          </p:cNvSpPr>
          <p:nvPr/>
        </p:nvSpPr>
        <p:spPr>
          <a:xfrm>
            <a:off x="1447800" y="466725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Hypothetical execution starts at next open.</a:t>
            </a:r>
          </a:p>
        </p:txBody>
      </p:sp>
      <p:sp>
        <p:nvSpPr>
          <p:cNvPr id="20" name="Rectangle 19">
            <a:extLst>
              <a:ext uri="{FF2B5EF4-FFF2-40B4-BE49-F238E27FC236}">
                <a16:creationId xmlns:a16="http://schemas.microsoft.com/office/drawing/2014/main" id="{4BA3A1A8-AEF5-477B-8D7B-99319299F39C}"/>
              </a:ext>
            </a:extLst>
          </p:cNvPr>
          <p:cNvSpPr>
            <a:spLocks noGrp="1"/>
          </p:cNvSpPr>
          <p:nvPr/>
        </p:nvSpPr>
        <p:spPr>
          <a:xfrm>
            <a:off x="6191250" y="41052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21" name="Rectangle 20">
            <a:extLst>
              <a:ext uri="{FF2B5EF4-FFF2-40B4-BE49-F238E27FC236}">
                <a16:creationId xmlns:a16="http://schemas.microsoft.com/office/drawing/2014/main" id="{4EBC9E32-DD63-4717-A785-D3AE84732DCA}"/>
              </a:ext>
            </a:extLst>
          </p:cNvPr>
          <p:cNvSpPr>
            <a:spLocks noGrp="1"/>
          </p:cNvSpPr>
          <p:nvPr/>
        </p:nvSpPr>
        <p:spPr>
          <a:xfrm>
            <a:off x="6457950" y="409575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The h3 label ends at close three sessions later.</a:t>
            </a:r>
          </a:p>
        </p:txBody>
      </p:sp>
      <p:sp>
        <p:nvSpPr>
          <p:cNvPr id="22" name="Rectangle 21">
            <a:extLst>
              <a:ext uri="{FF2B5EF4-FFF2-40B4-BE49-F238E27FC236}">
                <a16:creationId xmlns:a16="http://schemas.microsoft.com/office/drawing/2014/main" id="{3521E87C-680E-45B9-A07D-5F794F156A1B}"/>
              </a:ext>
            </a:extLst>
          </p:cNvPr>
          <p:cNvSpPr>
            <a:spLocks noGrp="1"/>
          </p:cNvSpPr>
          <p:nvPr/>
        </p:nvSpPr>
        <p:spPr>
          <a:xfrm>
            <a:off x="6191250" y="46767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23" name="Rectangle 22">
            <a:extLst>
              <a:ext uri="{FF2B5EF4-FFF2-40B4-BE49-F238E27FC236}">
                <a16:creationId xmlns:a16="http://schemas.microsoft.com/office/drawing/2014/main" id="{B17B2DB9-E311-4BF3-86E3-51B026306D7E}"/>
              </a:ext>
            </a:extLst>
          </p:cNvPr>
          <p:cNvSpPr>
            <a:spLocks noGrp="1"/>
          </p:cNvSpPr>
          <p:nvPr/>
        </p:nvSpPr>
        <p:spPr>
          <a:xfrm>
            <a:off x="6457950" y="466725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Rows without a complete horizon are excluded from the proof table.</a:t>
            </a:r>
          </a:p>
        </p:txBody>
      </p:sp>
    </p:spTree>
    <p:extLst>
      <p:ext uri="{BB962C8B-B14F-4D97-AF65-F5344CB8AC3E}">
        <p14:creationId xmlns:p14="http://schemas.microsoft.com/office/powerpoint/2010/main" val="76825755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16EF183-8D9A-4C10-878F-D2713AF9D022}"/>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C549B524-D2FC-4591-A83D-C18A27EFF095}"/>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fold calendar makes the leakage rule visible</a:t>
            </a:r>
          </a:p>
        </p:txBody>
      </p:sp>
      <p:sp>
        <p:nvSpPr>
          <p:cNvPr id="3" name="Rectangle 2">
            <a:extLst>
              <a:ext uri="{FF2B5EF4-FFF2-40B4-BE49-F238E27FC236}">
                <a16:creationId xmlns:a16="http://schemas.microsoft.com/office/drawing/2014/main" id="{40093ABB-9D8C-42C5-92B0-594D77A09F9F}"/>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838200" y="2038350"/>
            <a:ext cx="7239000" cy="3619500"/>
          </a:xfrm>
          <a:prstGeom prst="rect">
            <a:avLst/>
          </a:prstGeom>
        </p:spPr>
      </p:pic>
      <p:sp>
        <p:nvSpPr>
          <p:cNvPr id="5" name="Rectangle 4">
            <a:extLst>
              <a:ext uri="{FF2B5EF4-FFF2-40B4-BE49-F238E27FC236}">
                <a16:creationId xmlns:a16="http://schemas.microsoft.com/office/drawing/2014/main" id="{3F6AB2D7-DFD0-4DF5-8F55-2E551123F78F}"/>
              </a:ext>
            </a:extLst>
          </p:cNvPr>
          <p:cNvSpPr>
            <a:spLocks noGrp="1"/>
          </p:cNvSpPr>
          <p:nvPr/>
        </p:nvSpPr>
        <p:spPr>
          <a:xfrm>
            <a:off x="8629650" y="2133600"/>
            <a:ext cx="228600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Why it matters</a:t>
            </a:r>
          </a:p>
        </p:txBody>
      </p:sp>
      <p:sp>
        <p:nvSpPr>
          <p:cNvPr id="6" name="Rectangle 5">
            <a:extLst>
              <a:ext uri="{FF2B5EF4-FFF2-40B4-BE49-F238E27FC236}">
                <a16:creationId xmlns:a16="http://schemas.microsoft.com/office/drawing/2014/main" id="{EB88852A-CD76-4C1C-BD20-F7BFAC7F729F}"/>
              </a:ext>
            </a:extLst>
          </p:cNvPr>
          <p:cNvSpPr>
            <a:spLocks noGrp="1"/>
          </p:cNvSpPr>
          <p:nvPr/>
        </p:nvSpPr>
        <p:spPr>
          <a:xfrm>
            <a:off x="8629650" y="2628900"/>
            <a:ext cx="2381250" cy="2000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A TRAIN example is not eligible unless its future h3 label finishes before the TRAIN/OOS boundary. OOS labels are allowed for inspection, but they never feed model fitting or threshold choice.</a:t>
            </a:r>
          </a:p>
        </p:txBody>
      </p:sp>
    </p:spTree>
    <p:extLst>
      <p:ext uri="{BB962C8B-B14F-4D97-AF65-F5344CB8AC3E}">
        <p14:creationId xmlns:p14="http://schemas.microsoft.com/office/powerpoint/2010/main" val="83707129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43DCF4C-C48D-4926-A6B4-6AF40F30178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56EAF59F-27B6-4415-9971-9D9BF75A941A}"/>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OHLCV adds information that close-to-close would discard</a:t>
            </a:r>
          </a:p>
        </p:txBody>
      </p:sp>
      <p:sp>
        <p:nvSpPr>
          <p:cNvPr id="3" name="Rectangle 2">
            <a:extLst>
              <a:ext uri="{FF2B5EF4-FFF2-40B4-BE49-F238E27FC236}">
                <a16:creationId xmlns:a16="http://schemas.microsoft.com/office/drawing/2014/main" id="{8E082972-CF83-4E3D-835B-613B9E6B0960}"/>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3" name="Picture 12"/>
          <p:cNvPicPr>
            <a:picLocks noChangeAspect="1"/>
          </p:cNvPicPr>
          <p:nvPr/>
        </p:nvPicPr>
        <p:blipFill>
          <a:blip r:embed="rId3"/>
          <a:stretch/>
        </p:blipFill>
        <p:spPr>
          <a:xfrm>
            <a:off x="742950" y="2257791"/>
            <a:ext cx="5810250" cy="3352067"/>
          </a:xfrm>
          <a:prstGeom prst="rect">
            <a:avLst/>
          </a:prstGeom>
        </p:spPr>
      </p:pic>
      <p:sp>
        <p:nvSpPr>
          <p:cNvPr id="5" name="Rectangle 4">
            <a:extLst>
              <a:ext uri="{FF2B5EF4-FFF2-40B4-BE49-F238E27FC236}">
                <a16:creationId xmlns:a16="http://schemas.microsoft.com/office/drawing/2014/main" id="{1C48B0AC-D865-4683-8C2A-C324B4836F59}"/>
              </a:ext>
            </a:extLst>
          </p:cNvPr>
          <p:cNvSpPr>
            <a:spLocks noGrp="1"/>
          </p:cNvSpPr>
          <p:nvPr/>
        </p:nvSpPr>
        <p:spPr>
          <a:xfrm>
            <a:off x="7048500" y="2095500"/>
            <a:ext cx="3619500" cy="647700"/>
          </a:xfrm>
          <a:prstGeom prst="rect">
            <a:avLst/>
          </a:prstGeom>
          <a:noFill/>
          <a:ln w="0">
            <a:noFill/>
            <a:prstDash val="solid"/>
          </a:ln>
        </p:spPr>
        <p:txBody>
          <a:bodyPr/>
          <a:lstStyle/>
          <a:p>
            <a:pPr algn="l">
              <a:defRPr sz="2100" b="1" i="0">
                <a:solidFill>
                  <a:srgbClr val="000000"/>
                </a:solidFill>
              </a:defRPr>
            </a:pPr>
            <a:r>
              <a:rPr sz="2100" b="1" i="0">
                <a:solidFill>
                  <a:srgbClr val="000000"/>
                </a:solidFill>
              </a:rPr>
              <a:t>The first feature table is complete enough to model from.</a:t>
            </a:r>
          </a:p>
        </p:txBody>
      </p:sp>
      <p:sp>
        <p:nvSpPr>
          <p:cNvPr id="6" name="Rectangle 5">
            <a:extLst>
              <a:ext uri="{FF2B5EF4-FFF2-40B4-BE49-F238E27FC236}">
                <a16:creationId xmlns:a16="http://schemas.microsoft.com/office/drawing/2014/main" id="{72A3CCE0-E25B-4C66-8A87-73CDC8F05DE2}"/>
              </a:ext>
            </a:extLst>
          </p:cNvPr>
          <p:cNvSpPr>
            <a:spLocks noGrp="1"/>
          </p:cNvSpPr>
          <p:nvPr/>
        </p:nvSpPr>
        <p:spPr>
          <a:xfrm>
            <a:off x="7067550" y="3095625"/>
            <a:ext cx="190500" cy="247650"/>
          </a:xfrm>
          <a:prstGeom prst="rect">
            <a:avLst/>
          </a:prstGeom>
          <a:noFill/>
          <a:ln w="0">
            <a:noFill/>
            <a:prstDash val="solid"/>
          </a:ln>
        </p:spPr>
        <p:txBody>
          <a:bodyPr/>
          <a:lstStyle/>
          <a:p>
            <a:pPr algn="l">
              <a:defRPr sz="1500" b="1" i="0">
                <a:solidFill>
                  <a:srgbClr val="FF6B35"/>
                </a:solidFill>
              </a:defRPr>
            </a:pPr>
            <a:r>
              <a:rPr sz="1500" b="1" i="0">
                <a:solidFill>
                  <a:srgbClr val="FF6B35"/>
                </a:solidFill>
              </a:rPr>
              <a:t>-</a:t>
            </a:r>
          </a:p>
        </p:txBody>
      </p:sp>
      <p:sp>
        <p:nvSpPr>
          <p:cNvPr id="7" name="Rectangle 6">
            <a:extLst>
              <a:ext uri="{FF2B5EF4-FFF2-40B4-BE49-F238E27FC236}">
                <a16:creationId xmlns:a16="http://schemas.microsoft.com/office/drawing/2014/main" id="{FD59FE9B-4946-4575-AD9D-1CC4331570E7}"/>
              </a:ext>
            </a:extLst>
          </p:cNvPr>
          <p:cNvSpPr>
            <a:spLocks noGrp="1"/>
          </p:cNvSpPr>
          <p:nvPr/>
        </p:nvSpPr>
        <p:spPr>
          <a:xfrm>
            <a:off x="7334250" y="3086100"/>
            <a:ext cx="3448050" cy="514350"/>
          </a:xfrm>
          <a:prstGeom prst="rect">
            <a:avLst/>
          </a:prstGeom>
          <a:noFill/>
          <a:ln w="0">
            <a:noFill/>
            <a:prstDash val="solid"/>
          </a:ln>
        </p:spPr>
        <p:txBody>
          <a:bodyPr/>
          <a:lstStyle/>
          <a:p>
            <a:pPr algn="l">
              <a:defRPr sz="1500" b="0" i="0">
                <a:solidFill>
                  <a:srgbClr val="222222"/>
                </a:solidFill>
              </a:defRPr>
            </a:pPr>
            <a:r>
              <a:rPr sz="1500" b="0" i="0">
                <a:solidFill>
                  <a:srgbClr val="222222"/>
                </a:solidFill>
              </a:rPr>
              <a:t>Candle body, wick, gap, range, and volume features are populated across both windows.</a:t>
            </a:r>
          </a:p>
        </p:txBody>
      </p:sp>
      <p:sp>
        <p:nvSpPr>
          <p:cNvPr id="8" name="Rectangle 7">
            <a:extLst>
              <a:ext uri="{FF2B5EF4-FFF2-40B4-BE49-F238E27FC236}">
                <a16:creationId xmlns:a16="http://schemas.microsoft.com/office/drawing/2014/main" id="{572A2F71-1DA2-4A88-9424-7C6655F8C3A3}"/>
              </a:ext>
            </a:extLst>
          </p:cNvPr>
          <p:cNvSpPr>
            <a:spLocks noGrp="1"/>
          </p:cNvSpPr>
          <p:nvPr/>
        </p:nvSpPr>
        <p:spPr>
          <a:xfrm>
            <a:off x="7067550" y="4067175"/>
            <a:ext cx="190500" cy="247650"/>
          </a:xfrm>
          <a:prstGeom prst="rect">
            <a:avLst/>
          </a:prstGeom>
          <a:noFill/>
          <a:ln w="0">
            <a:noFill/>
            <a:prstDash val="solid"/>
          </a:ln>
        </p:spPr>
        <p:txBody>
          <a:bodyPr/>
          <a:lstStyle/>
          <a:p>
            <a:pPr algn="l">
              <a:defRPr sz="1500" b="1" i="0">
                <a:solidFill>
                  <a:srgbClr val="FF6B35"/>
                </a:solidFill>
              </a:defRPr>
            </a:pPr>
            <a:r>
              <a:rPr sz="1500" b="1" i="0">
                <a:solidFill>
                  <a:srgbClr val="FF6B35"/>
                </a:solidFill>
              </a:rPr>
              <a:t>-</a:t>
            </a:r>
          </a:p>
        </p:txBody>
      </p:sp>
      <p:sp>
        <p:nvSpPr>
          <p:cNvPr id="9" name="Rectangle 8">
            <a:extLst>
              <a:ext uri="{FF2B5EF4-FFF2-40B4-BE49-F238E27FC236}">
                <a16:creationId xmlns:a16="http://schemas.microsoft.com/office/drawing/2014/main" id="{E55DEDC4-10BA-44A1-A30E-D66FA8F4135B}"/>
              </a:ext>
            </a:extLst>
          </p:cNvPr>
          <p:cNvSpPr>
            <a:spLocks noGrp="1"/>
          </p:cNvSpPr>
          <p:nvPr/>
        </p:nvSpPr>
        <p:spPr>
          <a:xfrm>
            <a:off x="7334250" y="4057650"/>
            <a:ext cx="3448050" cy="514350"/>
          </a:xfrm>
          <a:prstGeom prst="rect">
            <a:avLst/>
          </a:prstGeom>
          <a:noFill/>
          <a:ln w="0">
            <a:noFill/>
            <a:prstDash val="solid"/>
          </a:ln>
        </p:spPr>
        <p:txBody>
          <a:bodyPr/>
          <a:lstStyle/>
          <a:p>
            <a:pPr algn="l">
              <a:defRPr sz="1500" b="0" i="0">
                <a:solidFill>
                  <a:srgbClr val="222222"/>
                </a:solidFill>
              </a:defRPr>
            </a:pPr>
            <a:r>
              <a:rPr sz="1500" b="0" i="0">
                <a:solidFill>
                  <a:srgbClr val="222222"/>
                </a:solidFill>
              </a:rPr>
              <a:t>This does not prove alpha. It proves the supervised surface is technically usable.</a:t>
            </a:r>
          </a:p>
        </p:txBody>
      </p:sp>
    </p:spTree>
    <p:extLst>
      <p:ext uri="{BB962C8B-B14F-4D97-AF65-F5344CB8AC3E}">
        <p14:creationId xmlns:p14="http://schemas.microsoft.com/office/powerpoint/2010/main" val="12310829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A238CC1E-D051-4F92-9FB2-871E23823849}"/>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07B0C080-98E2-400A-A4C5-EA25A9E32A9D}"/>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h3 target is balanced enough for a first model test</a:t>
            </a:r>
          </a:p>
        </p:txBody>
      </p:sp>
      <p:sp>
        <p:nvSpPr>
          <p:cNvPr id="3" name="Rectangle 2">
            <a:extLst>
              <a:ext uri="{FF2B5EF4-FFF2-40B4-BE49-F238E27FC236}">
                <a16:creationId xmlns:a16="http://schemas.microsoft.com/office/drawing/2014/main" id="{ECC91F5D-AC03-4E76-9D48-EFF52C7D3AAC}"/>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23900" y="2423716"/>
            <a:ext cx="5048250" cy="2734469"/>
          </a:xfrm>
          <a:prstGeom prst="rect">
            <a:avLst/>
          </a:prstGeom>
        </p:spPr>
      </p:pic>
      <p:pic>
        <p:nvPicPr>
          <p:cNvPr id="11" name="Picture 10"/>
          <p:cNvPicPr>
            <a:picLocks noChangeAspect="1"/>
          </p:cNvPicPr>
          <p:nvPr/>
        </p:nvPicPr>
        <p:blipFill>
          <a:blip r:embed="rId4"/>
          <a:stretch/>
        </p:blipFill>
        <p:spPr>
          <a:xfrm>
            <a:off x="6191250" y="2505075"/>
            <a:ext cx="5143500" cy="2571750"/>
          </a:xfrm>
          <a:prstGeom prst="rect">
            <a:avLst/>
          </a:prstGeom>
        </p:spPr>
      </p:pic>
      <p:sp>
        <p:nvSpPr>
          <p:cNvPr id="6" name="Rectangle 5">
            <a:extLst>
              <a:ext uri="{FF2B5EF4-FFF2-40B4-BE49-F238E27FC236}">
                <a16:creationId xmlns:a16="http://schemas.microsoft.com/office/drawing/2014/main" id="{1DB38E01-6F45-416A-A37C-52A2F2E6D83F}"/>
              </a:ext>
            </a:extLst>
          </p:cNvPr>
          <p:cNvSpPr>
            <a:spLocks noGrp="1"/>
          </p:cNvSpPr>
          <p:nvPr/>
        </p:nvSpPr>
        <p:spPr>
          <a:xfrm>
            <a:off x="857250" y="5791200"/>
            <a:ext cx="10001250" cy="400050"/>
          </a:xfrm>
          <a:prstGeom prst="rect">
            <a:avLst/>
          </a:prstGeom>
          <a:noFill/>
          <a:ln w="0">
            <a:noFill/>
            <a:prstDash val="solid"/>
          </a:ln>
        </p:spPr>
        <p:txBody>
          <a:bodyPr/>
          <a:lstStyle/>
          <a:p>
            <a:pPr algn="l">
              <a:defRPr sz="1350" b="0" i="0">
                <a:solidFill>
                  <a:srgbClr val="555555"/>
                </a:solidFill>
              </a:defRPr>
            </a:pPr>
            <a:r>
              <a:rPr sz="1350" b="0" i="0">
                <a:solidFill>
                  <a:srgbClr val="555555"/>
                </a:solidFill>
              </a:rPr>
              <a:t>Mean OOS positive-label rate: 2020 56.6%; 2022 45.6%. Mean OOS h3 return: 2020 1.0%; 2022 -0.6%.</a:t>
            </a:r>
          </a:p>
        </p:txBody>
      </p:sp>
    </p:spTree>
    <p:extLst>
      <p:ext uri="{BB962C8B-B14F-4D97-AF65-F5344CB8AC3E}">
        <p14:creationId xmlns:p14="http://schemas.microsoft.com/office/powerpoint/2010/main" val="20767879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9C4BA51-2C4D-4D45-8C81-1C12AD1F4E9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19F4595F-22F5-45FC-9466-B2EC6D038E11}"/>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label matches how an after-close system would trade</a:t>
            </a:r>
          </a:p>
        </p:txBody>
      </p:sp>
      <p:sp>
        <p:nvSpPr>
          <p:cNvPr id="3" name="Rectangle 2">
            <a:extLst>
              <a:ext uri="{FF2B5EF4-FFF2-40B4-BE49-F238E27FC236}">
                <a16:creationId xmlns:a16="http://schemas.microsoft.com/office/drawing/2014/main" id="{EF299B9A-CC36-4078-9E4A-F015281C0DD0}"/>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876300" y="2095500"/>
            <a:ext cx="7239000" cy="3619500"/>
          </a:xfrm>
          <a:prstGeom prst="rect">
            <a:avLst/>
          </a:prstGeom>
        </p:spPr>
      </p:pic>
      <p:sp>
        <p:nvSpPr>
          <p:cNvPr id="5" name="Rectangle 4">
            <a:extLst>
              <a:ext uri="{FF2B5EF4-FFF2-40B4-BE49-F238E27FC236}">
                <a16:creationId xmlns:a16="http://schemas.microsoft.com/office/drawing/2014/main" id="{59A43447-0CE9-4ECB-A897-8AEE8B2AA2C9}"/>
              </a:ext>
            </a:extLst>
          </p:cNvPr>
          <p:cNvSpPr>
            <a:spLocks noGrp="1"/>
          </p:cNvSpPr>
          <p:nvPr/>
        </p:nvSpPr>
        <p:spPr>
          <a:xfrm>
            <a:off x="8629650" y="2133600"/>
            <a:ext cx="2476500" cy="304800"/>
          </a:xfrm>
          <a:prstGeom prst="rect">
            <a:avLst/>
          </a:prstGeom>
          <a:noFill/>
          <a:ln w="0">
            <a:noFill/>
            <a:prstDash val="solid"/>
          </a:ln>
        </p:spPr>
        <p:txBody>
          <a:bodyPr/>
          <a:lstStyle/>
          <a:p>
            <a:pPr algn="l">
              <a:defRPr sz="1875" b="1" i="0">
                <a:solidFill>
                  <a:srgbClr val="222222"/>
                </a:solidFill>
              </a:defRPr>
            </a:pPr>
            <a:r>
              <a:rPr sz="1875" b="1" i="0">
                <a:solidFill>
                  <a:srgbClr val="222222"/>
                </a:solidFill>
              </a:rPr>
              <a:t>Read the markers left to right</a:t>
            </a:r>
          </a:p>
        </p:txBody>
      </p:sp>
      <p:sp>
        <p:nvSpPr>
          <p:cNvPr id="6" name="Rectangle 5">
            <a:extLst>
              <a:ext uri="{FF2B5EF4-FFF2-40B4-BE49-F238E27FC236}">
                <a16:creationId xmlns:a16="http://schemas.microsoft.com/office/drawing/2014/main" id="{9578466A-BFB7-4016-A535-C8CDCDD7579A}"/>
              </a:ext>
            </a:extLst>
          </p:cNvPr>
          <p:cNvSpPr>
            <a:spLocks noGrp="1"/>
          </p:cNvSpPr>
          <p:nvPr/>
        </p:nvSpPr>
        <p:spPr>
          <a:xfrm>
            <a:off x="8629650" y="2667000"/>
            <a:ext cx="2476500" cy="2000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Blue is the feature date. Orange is the next open, where a future model would act. Green is the close three sessions later, where the label is measured.</a:t>
            </a:r>
          </a:p>
        </p:txBody>
      </p:sp>
    </p:spTree>
    <p:extLst>
      <p:ext uri="{BB962C8B-B14F-4D97-AF65-F5344CB8AC3E}">
        <p14:creationId xmlns:p14="http://schemas.microsoft.com/office/powerpoint/2010/main" val="20676038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5EFB21B-C790-4392-8CCE-5AEC1D2719AF}"/>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7DAC23FE-C2DF-4588-949A-D4C4C16FC9CB}"/>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Feature strips give us a human audit of what the model will see</a:t>
            </a:r>
          </a:p>
        </p:txBody>
      </p:sp>
      <p:sp>
        <p:nvSpPr>
          <p:cNvPr id="3" name="Rectangle 2">
            <a:extLst>
              <a:ext uri="{FF2B5EF4-FFF2-40B4-BE49-F238E27FC236}">
                <a16:creationId xmlns:a16="http://schemas.microsoft.com/office/drawing/2014/main" id="{30DEFFD0-82C6-45EF-BF17-E29332F25FDE}"/>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170384" y="2038350"/>
            <a:ext cx="6346031" cy="3905250"/>
          </a:xfrm>
          <a:prstGeom prst="rect">
            <a:avLst/>
          </a:prstGeom>
        </p:spPr>
      </p:pic>
      <p:sp>
        <p:nvSpPr>
          <p:cNvPr id="5" name="Rectangle 4">
            <a:extLst>
              <a:ext uri="{FF2B5EF4-FFF2-40B4-BE49-F238E27FC236}">
                <a16:creationId xmlns:a16="http://schemas.microsoft.com/office/drawing/2014/main" id="{CBC9E1CB-0B49-455C-AF3F-75A29154E586}"/>
              </a:ext>
            </a:extLst>
          </p:cNvPr>
          <p:cNvSpPr>
            <a:spLocks noGrp="1"/>
          </p:cNvSpPr>
          <p:nvPr/>
        </p:nvSpPr>
        <p:spPr>
          <a:xfrm>
            <a:off x="8572500" y="2133600"/>
            <a:ext cx="2619375" cy="323850"/>
          </a:xfrm>
          <a:prstGeom prst="rect">
            <a:avLst/>
          </a:prstGeom>
          <a:noFill/>
          <a:ln w="0">
            <a:noFill/>
            <a:prstDash val="solid"/>
          </a:ln>
        </p:spPr>
        <p:txBody>
          <a:bodyPr/>
          <a:lstStyle/>
          <a:p>
            <a:pPr algn="l">
              <a:defRPr sz="1875" b="1" i="0">
                <a:solidFill>
                  <a:srgbClr val="222222"/>
                </a:solidFill>
              </a:defRPr>
            </a:pPr>
            <a:r>
              <a:rPr sz="1875" b="1" i="0">
                <a:solidFill>
                  <a:srgbClr val="222222"/>
                </a:solidFill>
              </a:rPr>
              <a:t>This is still pre-model evidence.</a:t>
            </a:r>
          </a:p>
        </p:txBody>
      </p:sp>
      <p:sp>
        <p:nvSpPr>
          <p:cNvPr id="6" name="Rectangle 5">
            <a:extLst>
              <a:ext uri="{FF2B5EF4-FFF2-40B4-BE49-F238E27FC236}">
                <a16:creationId xmlns:a16="http://schemas.microsoft.com/office/drawing/2014/main" id="{2FE9962F-5EF2-4707-AD13-69C8F45F335E}"/>
              </a:ext>
            </a:extLst>
          </p:cNvPr>
          <p:cNvSpPr>
            <a:spLocks noGrp="1"/>
          </p:cNvSpPr>
          <p:nvPr/>
        </p:nvSpPr>
        <p:spPr>
          <a:xfrm>
            <a:off x="8572500" y="2724150"/>
            <a:ext cx="2571750" cy="228600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plot checks that trend, range location, and volume features move in recognizable ways around a hard 2022 tape. The next step is to ask whether a model can combine these signals better than hand-coded states.</a:t>
            </a:r>
          </a:p>
        </p:txBody>
      </p:sp>
    </p:spTree>
    <p:extLst>
      <p:ext uri="{BB962C8B-B14F-4D97-AF65-F5344CB8AC3E}">
        <p14:creationId xmlns:p14="http://schemas.microsoft.com/office/powerpoint/2010/main" val="182446741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51FA3F3-F1A1-4DF3-ADC6-EE80B8D825A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BE5081FE-CB01-41DA-BC95-A57383E8AC65}"/>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A univariate audit gives early clues without pretending to be a model</a:t>
            </a:r>
          </a:p>
        </p:txBody>
      </p:sp>
      <p:sp>
        <p:nvSpPr>
          <p:cNvPr id="3" name="Rectangle 2">
            <a:extLst>
              <a:ext uri="{FF2B5EF4-FFF2-40B4-BE49-F238E27FC236}">
                <a16:creationId xmlns:a16="http://schemas.microsoft.com/office/drawing/2014/main" id="{4FA8A761-F50E-4C7B-8747-B900AEA1EC35}"/>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208484" y="2038350"/>
            <a:ext cx="6346031" cy="3905250"/>
          </a:xfrm>
          <a:prstGeom prst="rect">
            <a:avLst/>
          </a:prstGeom>
        </p:spPr>
      </p:pic>
      <p:sp>
        <p:nvSpPr>
          <p:cNvPr id="5" name="Rectangle 4">
            <a:extLst>
              <a:ext uri="{FF2B5EF4-FFF2-40B4-BE49-F238E27FC236}">
                <a16:creationId xmlns:a16="http://schemas.microsoft.com/office/drawing/2014/main" id="{2C1CC9F5-1CEF-46ED-A428-6CE2C8E00665}"/>
              </a:ext>
            </a:extLst>
          </p:cNvPr>
          <p:cNvSpPr>
            <a:spLocks noGrp="1"/>
          </p:cNvSpPr>
          <p:nvPr/>
        </p:nvSpPr>
        <p:spPr>
          <a:xfrm>
            <a:off x="8553450" y="2133600"/>
            <a:ext cx="2476500" cy="304800"/>
          </a:xfrm>
          <a:prstGeom prst="rect">
            <a:avLst/>
          </a:prstGeom>
          <a:noFill/>
          <a:ln w="0">
            <a:noFill/>
            <a:prstDash val="solid"/>
          </a:ln>
        </p:spPr>
        <p:txBody>
          <a:bodyPr/>
          <a:lstStyle/>
          <a:p>
            <a:pPr algn="l">
              <a:defRPr sz="1875" b="1" i="0">
                <a:solidFill>
                  <a:srgbClr val="222222"/>
                </a:solidFill>
              </a:defRPr>
            </a:pPr>
            <a:r>
              <a:rPr sz="1875" b="1" i="0">
                <a:solidFill>
                  <a:srgbClr val="222222"/>
                </a:solidFill>
              </a:rPr>
              <a:t>What to look for</a:t>
            </a:r>
          </a:p>
        </p:txBody>
      </p:sp>
      <p:sp>
        <p:nvSpPr>
          <p:cNvPr id="6" name="Rectangle 5">
            <a:extLst>
              <a:ext uri="{FF2B5EF4-FFF2-40B4-BE49-F238E27FC236}">
                <a16:creationId xmlns:a16="http://schemas.microsoft.com/office/drawing/2014/main" id="{A4B0EE74-D145-4432-82DE-DB1A41B7DC24}"/>
              </a:ext>
            </a:extLst>
          </p:cNvPr>
          <p:cNvSpPr>
            <a:spLocks noGrp="1"/>
          </p:cNvSpPr>
          <p:nvPr/>
        </p:nvSpPr>
        <p:spPr>
          <a:xfrm>
            <a:off x="8553450" y="2667000"/>
            <a:ext cx="2686050" cy="23812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Smooth monotonic lines would be encouraging. Noisy or nonmonotonic lines are not fatal, because the first real ML test will learn interactions, but they tell us whether individual features carry any visible directional information.</a:t>
            </a:r>
          </a:p>
        </p:txBody>
      </p:sp>
    </p:spTree>
    <p:extLst>
      <p:ext uri="{BB962C8B-B14F-4D97-AF65-F5344CB8AC3E}">
        <p14:creationId xmlns:p14="http://schemas.microsoft.com/office/powerpoint/2010/main" val="158720193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5CDBACDF-D6A7-409E-A97A-107E0981A04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2A15B703-3D73-4787-8675-CC1F57F428BE}"/>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next build tests a deliberately simple model</a:t>
            </a:r>
          </a:p>
        </p:txBody>
      </p:sp>
      <p:sp>
        <p:nvSpPr>
          <p:cNvPr id="3" name="Rectangle 2">
            <a:extLst>
              <a:ext uri="{FF2B5EF4-FFF2-40B4-BE49-F238E27FC236}">
                <a16:creationId xmlns:a16="http://schemas.microsoft.com/office/drawing/2014/main" id="{B7C3F74D-5826-43C6-89EA-0D6154708FEC}"/>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2FB6B59D-A0D8-46C5-927B-176BEC62F514}"/>
              </a:ext>
            </a:extLst>
          </p:cNvPr>
          <p:cNvSpPr>
            <a:spLocks noGrp="1"/>
          </p:cNvSpPr>
          <p:nvPr/>
        </p:nvSpPr>
        <p:spPr>
          <a:xfrm>
            <a:off x="876300" y="2152650"/>
            <a:ext cx="7429500" cy="8191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ML-P0 passed the table-quality gate. ML-P1 asks whether a plain GLM can turn that table into coherent daily long/flat behavior.</a:t>
            </a:r>
          </a:p>
        </p:txBody>
      </p:sp>
      <p:sp>
        <p:nvSpPr>
          <p:cNvPr id="5" name="Rectangle 4">
            <a:extLst>
              <a:ext uri="{FF2B5EF4-FFF2-40B4-BE49-F238E27FC236}">
                <a16:creationId xmlns:a16="http://schemas.microsoft.com/office/drawing/2014/main" id="{9FC464AF-293E-4452-97B0-4A9E72D2C8EE}"/>
              </a:ext>
            </a:extLst>
          </p:cNvPr>
          <p:cNvSpPr>
            <a:spLocks noGrp="1"/>
          </p:cNvSpPr>
          <p:nvPr/>
        </p:nvSpPr>
        <p:spPr>
          <a:xfrm>
            <a:off x="1181100" y="34385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05CC409D-C973-4A89-A35F-73DA10C6138F}"/>
              </a:ext>
            </a:extLst>
          </p:cNvPr>
          <p:cNvSpPr>
            <a:spLocks noGrp="1"/>
          </p:cNvSpPr>
          <p:nvPr/>
        </p:nvSpPr>
        <p:spPr>
          <a:xfrm>
            <a:off x="1447800" y="3429000"/>
            <a:ext cx="4686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Fit only on TRAIN rows using frozen transforms.</a:t>
            </a:r>
          </a:p>
        </p:txBody>
      </p:sp>
      <p:sp>
        <p:nvSpPr>
          <p:cNvPr id="7" name="Rectangle 6">
            <a:extLst>
              <a:ext uri="{FF2B5EF4-FFF2-40B4-BE49-F238E27FC236}">
                <a16:creationId xmlns:a16="http://schemas.microsoft.com/office/drawing/2014/main" id="{B095D23B-5D87-48BB-9631-66F9E5455909}"/>
              </a:ext>
            </a:extLst>
          </p:cNvPr>
          <p:cNvSpPr>
            <a:spLocks noGrp="1"/>
          </p:cNvSpPr>
          <p:nvPr/>
        </p:nvSpPr>
        <p:spPr>
          <a:xfrm>
            <a:off x="1181100" y="41052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2E842F55-8FA3-4F95-BFBD-5CA5BEA48EBD}"/>
              </a:ext>
            </a:extLst>
          </p:cNvPr>
          <p:cNvSpPr>
            <a:spLocks noGrp="1"/>
          </p:cNvSpPr>
          <p:nvPr/>
        </p:nvSpPr>
        <p:spPr>
          <a:xfrm>
            <a:off x="1447800" y="4095750"/>
            <a:ext cx="4686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Predict OOS h3 probability after each close.</a:t>
            </a:r>
          </a:p>
        </p:txBody>
      </p:sp>
      <p:sp>
        <p:nvSpPr>
          <p:cNvPr id="9" name="Rectangle 8">
            <a:extLst>
              <a:ext uri="{FF2B5EF4-FFF2-40B4-BE49-F238E27FC236}">
                <a16:creationId xmlns:a16="http://schemas.microsoft.com/office/drawing/2014/main" id="{7CDFEF18-2081-44E1-A0D2-C3B3D903DF5F}"/>
              </a:ext>
            </a:extLst>
          </p:cNvPr>
          <p:cNvSpPr>
            <a:spLocks noGrp="1"/>
          </p:cNvSpPr>
          <p:nvPr/>
        </p:nvSpPr>
        <p:spPr>
          <a:xfrm>
            <a:off x="1181100" y="47720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D18D39A4-6BB9-4E70-9CE9-11D0C19360A2}"/>
              </a:ext>
            </a:extLst>
          </p:cNvPr>
          <p:cNvSpPr>
            <a:spLocks noGrp="1"/>
          </p:cNvSpPr>
          <p:nvPr/>
        </p:nvSpPr>
        <p:spPr>
          <a:xfrm>
            <a:off x="1447800" y="4762500"/>
            <a:ext cx="4686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Replay long/flat decisions with fixed thresholds.</a:t>
            </a:r>
          </a:p>
        </p:txBody>
      </p:sp>
      <p:sp>
        <p:nvSpPr>
          <p:cNvPr id="11" name="Rectangle 10">
            <a:extLst>
              <a:ext uri="{FF2B5EF4-FFF2-40B4-BE49-F238E27FC236}">
                <a16:creationId xmlns:a16="http://schemas.microsoft.com/office/drawing/2014/main" id="{7265864B-EA80-4F70-8814-89D0B63D8990}"/>
              </a:ext>
            </a:extLst>
          </p:cNvPr>
          <p:cNvSpPr>
            <a:spLocks noGrp="1"/>
          </p:cNvSpPr>
          <p:nvPr/>
        </p:nvSpPr>
        <p:spPr>
          <a:xfrm>
            <a:off x="1181100" y="54387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53254C71-0D46-4823-9633-1B9571531414}"/>
              </a:ext>
            </a:extLst>
          </p:cNvPr>
          <p:cNvSpPr>
            <a:spLocks noGrp="1"/>
          </p:cNvSpPr>
          <p:nvPr/>
        </p:nvSpPr>
        <p:spPr>
          <a:xfrm>
            <a:off x="1447800" y="5429250"/>
            <a:ext cx="4686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Compare probability traces, trade tapes, equity, and equal-weight basket hold.</a:t>
            </a:r>
          </a:p>
        </p:txBody>
      </p:sp>
      <p:sp>
        <p:nvSpPr>
          <p:cNvPr id="13" name="Rectangle 12">
            <a:extLst>
              <a:ext uri="{FF2B5EF4-FFF2-40B4-BE49-F238E27FC236}">
                <a16:creationId xmlns:a16="http://schemas.microsoft.com/office/drawing/2014/main" id="{F1ED1202-13FD-48E2-8ADF-DD63827ED14C}"/>
              </a:ext>
            </a:extLst>
          </p:cNvPr>
          <p:cNvSpPr>
            <a:spLocks noGrp="1"/>
          </p:cNvSpPr>
          <p:nvPr/>
        </p:nvSpPr>
        <p:spPr>
          <a:xfrm>
            <a:off x="7734300" y="2247900"/>
            <a:ext cx="2971800" cy="2971800"/>
          </a:xfrm>
          <a:prstGeom prst="rect">
            <a:avLst/>
          </a:prstGeom>
          <a:solidFill>
            <a:srgbClr val="EDEDED"/>
          </a:solidFill>
          <a:ln w="9525">
            <a:solidFill>
              <a:srgbClr val="B8BCC4"/>
            </a:solidFill>
            <a:prstDash val="solid"/>
          </a:ln>
        </p:spPr>
        <p:txBody>
          <a:bodyPr/>
          <a:lstStyle/>
          <a:p>
            <a:endParaRPr lang="en-US"/>
          </a:p>
        </p:txBody>
      </p:sp>
      <p:sp>
        <p:nvSpPr>
          <p:cNvPr id="14" name="Rectangle 13">
            <a:extLst>
              <a:ext uri="{FF2B5EF4-FFF2-40B4-BE49-F238E27FC236}">
                <a16:creationId xmlns:a16="http://schemas.microsoft.com/office/drawing/2014/main" id="{9DDE2337-BC17-44BA-88DD-15E713CEBD1A}"/>
              </a:ext>
            </a:extLst>
          </p:cNvPr>
          <p:cNvSpPr>
            <a:spLocks noGrp="1"/>
          </p:cNvSpPr>
          <p:nvPr/>
        </p:nvSpPr>
        <p:spPr>
          <a:xfrm>
            <a:off x="8096250" y="2895600"/>
            <a:ext cx="2266950" cy="361950"/>
          </a:xfrm>
          <a:prstGeom prst="rect">
            <a:avLst/>
          </a:prstGeom>
          <a:noFill/>
          <a:ln w="0">
            <a:noFill/>
            <a:prstDash val="solid"/>
          </a:ln>
        </p:spPr>
        <p:txBody>
          <a:bodyPr/>
          <a:lstStyle/>
          <a:p>
            <a:pPr algn="ctr">
              <a:defRPr sz="2025" b="1" i="0">
                <a:solidFill>
                  <a:srgbClr val="222222"/>
                </a:solidFill>
              </a:defRPr>
            </a:pPr>
            <a:r>
              <a:rPr sz="2025" b="1" i="0">
                <a:solidFill>
                  <a:srgbClr val="222222"/>
                </a:solidFill>
              </a:rPr>
              <a:t>Still research only</a:t>
            </a:r>
          </a:p>
        </p:txBody>
      </p:sp>
      <p:sp>
        <p:nvSpPr>
          <p:cNvPr id="15" name="Rectangle 14">
            <a:extLst>
              <a:ext uri="{FF2B5EF4-FFF2-40B4-BE49-F238E27FC236}">
                <a16:creationId xmlns:a16="http://schemas.microsoft.com/office/drawing/2014/main" id="{D654E21F-DF2C-4BA3-A6DA-975FAE7037C9}"/>
              </a:ext>
            </a:extLst>
          </p:cNvPr>
          <p:cNvSpPr>
            <a:spLocks noGrp="1"/>
          </p:cNvSpPr>
          <p:nvPr/>
        </p:nvSpPr>
        <p:spPr>
          <a:xfrm>
            <a:off x="8115300" y="3562350"/>
            <a:ext cx="2238375" cy="1047750"/>
          </a:xfrm>
          <a:prstGeom prst="rect">
            <a:avLst/>
          </a:prstGeom>
          <a:noFill/>
          <a:ln w="0">
            <a:noFill/>
            <a:prstDash val="solid"/>
          </a:ln>
        </p:spPr>
        <p:txBody>
          <a:bodyPr/>
          <a:lstStyle/>
          <a:p>
            <a:pPr algn="ctr">
              <a:defRPr sz="1800" b="0" i="0">
                <a:solidFill>
                  <a:srgbClr val="222222"/>
                </a:solidFill>
              </a:defRPr>
            </a:pPr>
            <a:r>
              <a:rPr sz="1800" b="0" i="0">
                <a:solidFill>
                  <a:srgbClr val="222222"/>
                </a:solidFill>
              </a:rPr>
              <a:t>GLM is the plumbing baseline before XGBoost.</a:t>
            </a:r>
          </a:p>
        </p:txBody>
      </p:sp>
    </p:spTree>
    <p:extLst>
      <p:ext uri="{BB962C8B-B14F-4D97-AF65-F5344CB8AC3E}">
        <p14:creationId xmlns:p14="http://schemas.microsoft.com/office/powerpoint/2010/main" val="1095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EC70100-170D-436F-83E5-C3D69A8E1E0D}"/>
              </a:ext>
            </a:extLst>
          </p:cNvPr>
          <p:cNvSpPr>
            <a:spLocks noGrp="1"/>
          </p:cNvSpPr>
          <p:nvPr/>
        </p:nvSpPr>
        <p:spPr>
          <a:xfrm>
            <a:off x="685800" y="495300"/>
            <a:ext cx="4762500" cy="419100"/>
          </a:xfrm>
          <a:prstGeom prst="rect">
            <a:avLst/>
          </a:prstGeom>
          <a:noFill/>
          <a:ln w="0">
            <a:noFill/>
            <a:prstDash val="solid"/>
          </a:ln>
        </p:spPr>
        <p:txBody>
          <a:bodyPr/>
          <a:lstStyle/>
          <a:p>
            <a:pPr algn="l">
              <a:defRPr sz="2400" b="1" i="0">
                <a:solidFill>
                  <a:srgbClr val="555555"/>
                </a:solidFill>
              </a:defRPr>
            </a:pPr>
            <a:r>
              <a:rPr sz="2400" b="1" i="0">
                <a:solidFill>
                  <a:srgbClr val="555555"/>
                </a:solidFill>
              </a:rPr>
              <a:t>Transition</a:t>
            </a:r>
          </a:p>
        </p:txBody>
      </p:sp>
      <p:sp>
        <p:nvSpPr>
          <p:cNvPr id="2" name="Rectangle 1">
            <a:extLst>
              <a:ext uri="{FF2B5EF4-FFF2-40B4-BE49-F238E27FC236}">
                <a16:creationId xmlns:a16="http://schemas.microsoft.com/office/drawing/2014/main" id="{A01E184B-5B1F-40A9-9DD2-F321A8CE53AF}"/>
              </a:ext>
            </a:extLst>
          </p:cNvPr>
          <p:cNvSpPr>
            <a:spLocks noGrp="1"/>
          </p:cNvSpPr>
          <p:nvPr/>
        </p:nvSpPr>
        <p:spPr>
          <a:xfrm>
            <a:off x="685800" y="1600200"/>
            <a:ext cx="8572500" cy="876300"/>
          </a:xfrm>
          <a:prstGeom prst="rect">
            <a:avLst/>
          </a:prstGeom>
          <a:noFill/>
          <a:ln w="0">
            <a:noFill/>
            <a:prstDash val="solid"/>
          </a:ln>
        </p:spPr>
        <p:txBody>
          <a:bodyPr/>
          <a:lstStyle/>
          <a:p>
            <a:pPr algn="l">
              <a:defRPr sz="3900" b="1" i="0">
                <a:solidFill>
                  <a:srgbClr val="000000"/>
                </a:solidFill>
              </a:defRPr>
            </a:pPr>
            <a:r>
              <a:rPr sz="3900" b="1" i="0">
                <a:solidFill>
                  <a:srgbClr val="000000"/>
                </a:solidFill>
              </a:rPr>
              <a:t>The deck now moves from table safety to model behavior</a:t>
            </a:r>
          </a:p>
        </p:txBody>
      </p:sp>
      <p:sp>
        <p:nvSpPr>
          <p:cNvPr id="3" name="Rectangle 2">
            <a:extLst>
              <a:ext uri="{FF2B5EF4-FFF2-40B4-BE49-F238E27FC236}">
                <a16:creationId xmlns:a16="http://schemas.microsoft.com/office/drawing/2014/main" id="{5803111B-D64C-4113-B119-EDAC4E3B9DD1}"/>
              </a:ext>
            </a:extLst>
          </p:cNvPr>
          <p:cNvSpPr>
            <a:spLocks noGrp="1"/>
          </p:cNvSpPr>
          <p:nvPr/>
        </p:nvSpPr>
        <p:spPr>
          <a:xfrm>
            <a:off x="723900" y="3105150"/>
            <a:ext cx="57150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F401FCFC-D910-4A55-AD0C-F755428C3D04}"/>
              </a:ext>
            </a:extLst>
          </p:cNvPr>
          <p:cNvSpPr>
            <a:spLocks noGrp="1"/>
          </p:cNvSpPr>
          <p:nvPr/>
        </p:nvSpPr>
        <p:spPr>
          <a:xfrm>
            <a:off x="723900" y="3467100"/>
            <a:ext cx="7334250" cy="106680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ML-P1 fits a GLM on TRAIN rows, freezes the model, predicts OOS h3 probability, and replays fixed-threshold long/flat decisions. This is a diagnostic model, not an allocation claim.</a:t>
            </a:r>
          </a:p>
        </p:txBody>
      </p:sp>
      <p:sp>
        <p:nvSpPr>
          <p:cNvPr id="5" name="Rectangle 4">
            <a:extLst>
              <a:ext uri="{FF2B5EF4-FFF2-40B4-BE49-F238E27FC236}">
                <a16:creationId xmlns:a16="http://schemas.microsoft.com/office/drawing/2014/main" id="{E1491DB2-7AC3-4AEA-9F95-116AACF9E347}"/>
              </a:ext>
            </a:extLst>
          </p:cNvPr>
          <p:cNvSpPr>
            <a:spLocks noGrp="1"/>
          </p:cNvSpPr>
          <p:nvPr/>
        </p:nvSpPr>
        <p:spPr>
          <a:xfrm>
            <a:off x="8801100" y="0"/>
            <a:ext cx="3390900" cy="6858000"/>
          </a:xfrm>
          <a:prstGeom prst="rect">
            <a:avLst/>
          </a:prstGeom>
          <a:solidFill>
            <a:srgbClr val="EDEDED"/>
          </a:solidFill>
          <a:ln w="0">
            <a:noFill/>
            <a:prstDash val="solid"/>
          </a:ln>
        </p:spPr>
        <p:txBody>
          <a:bodyPr/>
          <a:lstStyle/>
          <a:p>
            <a:endParaRPr lang="en-US"/>
          </a:p>
        </p:txBody>
      </p:sp>
      <p:sp>
        <p:nvSpPr>
          <p:cNvPr id="6" name="Rectangle 5">
            <a:extLst>
              <a:ext uri="{FF2B5EF4-FFF2-40B4-BE49-F238E27FC236}">
                <a16:creationId xmlns:a16="http://schemas.microsoft.com/office/drawing/2014/main" id="{B4AE1C18-0C6F-48EB-B38F-8C9F3E5BBCBD}"/>
              </a:ext>
            </a:extLst>
          </p:cNvPr>
          <p:cNvSpPr>
            <a:spLocks noGrp="1"/>
          </p:cNvSpPr>
          <p:nvPr/>
        </p:nvSpPr>
        <p:spPr>
          <a:xfrm>
            <a:off x="9353550" y="2343150"/>
            <a:ext cx="2190750" cy="438150"/>
          </a:xfrm>
          <a:prstGeom prst="rect">
            <a:avLst/>
          </a:prstGeom>
          <a:noFill/>
          <a:ln w="0">
            <a:noFill/>
            <a:prstDash val="solid"/>
          </a:ln>
        </p:spPr>
        <p:txBody>
          <a:bodyPr/>
          <a:lstStyle/>
          <a:p>
            <a:pPr algn="ctr">
              <a:defRPr sz="3150" b="1" i="0">
                <a:solidFill>
                  <a:srgbClr val="000000"/>
                </a:solidFill>
              </a:defRPr>
            </a:pPr>
            <a:r>
              <a:rPr sz="3150" b="1" i="0">
                <a:solidFill>
                  <a:srgbClr val="000000"/>
                </a:solidFill>
              </a:rPr>
              <a:t>ML-P1</a:t>
            </a:r>
          </a:p>
        </p:txBody>
      </p:sp>
      <p:sp>
        <p:nvSpPr>
          <p:cNvPr id="7" name="Rectangle 6">
            <a:extLst>
              <a:ext uri="{FF2B5EF4-FFF2-40B4-BE49-F238E27FC236}">
                <a16:creationId xmlns:a16="http://schemas.microsoft.com/office/drawing/2014/main" id="{98FA7D2B-B252-43F3-887C-6F6E0BE0E699}"/>
              </a:ext>
            </a:extLst>
          </p:cNvPr>
          <p:cNvSpPr>
            <a:spLocks noGrp="1"/>
          </p:cNvSpPr>
          <p:nvPr/>
        </p:nvSpPr>
        <p:spPr>
          <a:xfrm>
            <a:off x="9353550" y="3067050"/>
            <a:ext cx="2190750" cy="342900"/>
          </a:xfrm>
          <a:prstGeom prst="rect">
            <a:avLst/>
          </a:prstGeom>
          <a:noFill/>
          <a:ln w="0">
            <a:noFill/>
            <a:prstDash val="solid"/>
          </a:ln>
        </p:spPr>
        <p:txBody>
          <a:bodyPr/>
          <a:lstStyle/>
          <a:p>
            <a:pPr algn="ctr">
              <a:defRPr sz="1950" b="0" i="0">
                <a:solidFill>
                  <a:srgbClr val="222222"/>
                </a:solidFill>
              </a:defRPr>
            </a:pPr>
            <a:r>
              <a:rPr sz="1950" b="0" i="0">
                <a:solidFill>
                  <a:srgbClr val="222222"/>
                </a:solidFill>
              </a:rPr>
              <a:t>GLM replay</a:t>
            </a:r>
          </a:p>
        </p:txBody>
      </p:sp>
    </p:spTree>
    <p:extLst>
      <p:ext uri="{BB962C8B-B14F-4D97-AF65-F5344CB8AC3E}">
        <p14:creationId xmlns:p14="http://schemas.microsoft.com/office/powerpoint/2010/main" val="16323879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2ED69274-4166-4A39-9650-2FCAD7A8122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601111AA-1A4F-4FDD-8EE8-5E8E8435B444}"/>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GLM baseline became defensive, not participatory</a:t>
            </a:r>
          </a:p>
        </p:txBody>
      </p:sp>
      <p:sp>
        <p:nvSpPr>
          <p:cNvPr id="3" name="Rectangle 2">
            <a:extLst>
              <a:ext uri="{FF2B5EF4-FFF2-40B4-BE49-F238E27FC236}">
                <a16:creationId xmlns:a16="http://schemas.microsoft.com/office/drawing/2014/main" id="{9AA350FB-F3A2-40C2-9E76-348A7E5A2E83}"/>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49E74D6B-9783-4F8F-8079-AAB342E5324F}"/>
              </a:ext>
            </a:extLst>
          </p:cNvPr>
          <p:cNvSpPr>
            <a:spLocks noGrp="1"/>
          </p:cNvSpPr>
          <p:nvPr/>
        </p:nvSpPr>
        <p:spPr>
          <a:xfrm>
            <a:off x="819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55575E27-5C08-4808-9CC1-C6DB580DC7D7}"/>
              </a:ext>
            </a:extLst>
          </p:cNvPr>
          <p:cNvSpPr>
            <a:spLocks noGrp="1"/>
          </p:cNvSpPr>
          <p:nvPr/>
        </p:nvSpPr>
        <p:spPr>
          <a:xfrm>
            <a:off x="990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ACTIVE</a:t>
            </a:r>
          </a:p>
        </p:txBody>
      </p:sp>
      <p:sp>
        <p:nvSpPr>
          <p:cNvPr id="6" name="Rectangle 5">
            <a:extLst>
              <a:ext uri="{FF2B5EF4-FFF2-40B4-BE49-F238E27FC236}">
                <a16:creationId xmlns:a16="http://schemas.microsoft.com/office/drawing/2014/main" id="{BB4D5E25-CA49-409E-B3EE-05DAC737ECE5}"/>
              </a:ext>
            </a:extLst>
          </p:cNvPr>
          <p:cNvSpPr>
            <a:spLocks noGrp="1"/>
          </p:cNvSpPr>
          <p:nvPr/>
        </p:nvSpPr>
        <p:spPr>
          <a:xfrm>
            <a:off x="990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8.0%</a:t>
            </a:r>
          </a:p>
        </p:txBody>
      </p:sp>
      <p:sp>
        <p:nvSpPr>
          <p:cNvPr id="7" name="Rectangle 6">
            <a:extLst>
              <a:ext uri="{FF2B5EF4-FFF2-40B4-BE49-F238E27FC236}">
                <a16:creationId xmlns:a16="http://schemas.microsoft.com/office/drawing/2014/main" id="{CA4D19CC-FEDB-498C-A1B5-836127249689}"/>
              </a:ext>
            </a:extLst>
          </p:cNvPr>
          <p:cNvSpPr>
            <a:spLocks noGrp="1"/>
          </p:cNvSpPr>
          <p:nvPr/>
        </p:nvSpPr>
        <p:spPr>
          <a:xfrm>
            <a:off x="990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Basket hold 214.0%</a:t>
            </a:r>
          </a:p>
        </p:txBody>
      </p:sp>
      <p:sp>
        <p:nvSpPr>
          <p:cNvPr id="8" name="Rectangle 7">
            <a:extLst>
              <a:ext uri="{FF2B5EF4-FFF2-40B4-BE49-F238E27FC236}">
                <a16:creationId xmlns:a16="http://schemas.microsoft.com/office/drawing/2014/main" id="{8E3D1CEF-468C-4CF9-AEA4-C8885255872F}"/>
              </a:ext>
            </a:extLst>
          </p:cNvPr>
          <p:cNvSpPr>
            <a:spLocks noGrp="1"/>
          </p:cNvSpPr>
          <p:nvPr/>
        </p:nvSpPr>
        <p:spPr>
          <a:xfrm>
            <a:off x="35242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1F9512CF-3BC7-4D6B-ADA1-ED3F64D00CD3}"/>
              </a:ext>
            </a:extLst>
          </p:cNvPr>
          <p:cNvSpPr>
            <a:spLocks noGrp="1"/>
          </p:cNvSpPr>
          <p:nvPr/>
        </p:nvSpPr>
        <p:spPr>
          <a:xfrm>
            <a:off x="36957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EXPOSURE</a:t>
            </a:r>
          </a:p>
        </p:txBody>
      </p:sp>
      <p:sp>
        <p:nvSpPr>
          <p:cNvPr id="10" name="Rectangle 9">
            <a:extLst>
              <a:ext uri="{FF2B5EF4-FFF2-40B4-BE49-F238E27FC236}">
                <a16:creationId xmlns:a16="http://schemas.microsoft.com/office/drawing/2014/main" id="{4A8E0D4D-7859-4750-8D07-E33CEDBE0533}"/>
              </a:ext>
            </a:extLst>
          </p:cNvPr>
          <p:cNvSpPr>
            <a:spLocks noGrp="1"/>
          </p:cNvSpPr>
          <p:nvPr/>
        </p:nvSpPr>
        <p:spPr>
          <a:xfrm>
            <a:off x="36957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27.6%</a:t>
            </a:r>
          </a:p>
        </p:txBody>
      </p:sp>
      <p:sp>
        <p:nvSpPr>
          <p:cNvPr id="11" name="Rectangle 10">
            <a:extLst>
              <a:ext uri="{FF2B5EF4-FFF2-40B4-BE49-F238E27FC236}">
                <a16:creationId xmlns:a16="http://schemas.microsoft.com/office/drawing/2014/main" id="{7F574EB1-455F-415E-A78A-0DCEEA1D74C9}"/>
              </a:ext>
            </a:extLst>
          </p:cNvPr>
          <p:cNvSpPr>
            <a:spLocks noGrp="1"/>
          </p:cNvSpPr>
          <p:nvPr/>
        </p:nvSpPr>
        <p:spPr>
          <a:xfrm>
            <a:off x="36957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Stayed flat 68.3% of decision rows.</a:t>
            </a:r>
          </a:p>
        </p:txBody>
      </p:sp>
      <p:sp>
        <p:nvSpPr>
          <p:cNvPr id="12" name="Rectangle 11">
            <a:extLst>
              <a:ext uri="{FF2B5EF4-FFF2-40B4-BE49-F238E27FC236}">
                <a16:creationId xmlns:a16="http://schemas.microsoft.com/office/drawing/2014/main" id="{0CEAB06C-ED3B-400A-B63A-2996F88838BF}"/>
              </a:ext>
            </a:extLst>
          </p:cNvPr>
          <p:cNvSpPr>
            <a:spLocks noGrp="1"/>
          </p:cNvSpPr>
          <p:nvPr/>
        </p:nvSpPr>
        <p:spPr>
          <a:xfrm>
            <a:off x="62293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D48C9997-E465-4563-B468-0B36D413CEB0}"/>
              </a:ext>
            </a:extLst>
          </p:cNvPr>
          <p:cNvSpPr>
            <a:spLocks noGrp="1"/>
          </p:cNvSpPr>
          <p:nvPr/>
        </p:nvSpPr>
        <p:spPr>
          <a:xfrm>
            <a:off x="64008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2022 ACTIVE</a:t>
            </a:r>
          </a:p>
        </p:txBody>
      </p:sp>
      <p:sp>
        <p:nvSpPr>
          <p:cNvPr id="14" name="Rectangle 13">
            <a:extLst>
              <a:ext uri="{FF2B5EF4-FFF2-40B4-BE49-F238E27FC236}">
                <a16:creationId xmlns:a16="http://schemas.microsoft.com/office/drawing/2014/main" id="{A4A0A1BD-5270-4859-94E7-FFE6B911B123}"/>
              </a:ext>
            </a:extLst>
          </p:cNvPr>
          <p:cNvSpPr>
            <a:spLocks noGrp="1"/>
          </p:cNvSpPr>
          <p:nvPr/>
        </p:nvSpPr>
        <p:spPr>
          <a:xfrm>
            <a:off x="64008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-42.4%</a:t>
            </a:r>
          </a:p>
        </p:txBody>
      </p:sp>
      <p:sp>
        <p:nvSpPr>
          <p:cNvPr id="15" name="Rectangle 14">
            <a:extLst>
              <a:ext uri="{FF2B5EF4-FFF2-40B4-BE49-F238E27FC236}">
                <a16:creationId xmlns:a16="http://schemas.microsoft.com/office/drawing/2014/main" id="{7967E9B7-E6EC-41D4-A545-5AC88C5CBF65}"/>
              </a:ext>
            </a:extLst>
          </p:cNvPr>
          <p:cNvSpPr>
            <a:spLocks noGrp="1"/>
          </p:cNvSpPr>
          <p:nvPr/>
        </p:nvSpPr>
        <p:spPr>
          <a:xfrm>
            <a:off x="64008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Basket hold -54.2%</a:t>
            </a:r>
          </a:p>
        </p:txBody>
      </p:sp>
      <p:sp>
        <p:nvSpPr>
          <p:cNvPr id="16" name="Rectangle 15">
            <a:extLst>
              <a:ext uri="{FF2B5EF4-FFF2-40B4-BE49-F238E27FC236}">
                <a16:creationId xmlns:a16="http://schemas.microsoft.com/office/drawing/2014/main" id="{E8E596C2-DFC0-463B-A4E7-A26E1A5E331C}"/>
              </a:ext>
            </a:extLst>
          </p:cNvPr>
          <p:cNvSpPr>
            <a:spLocks noGrp="1"/>
          </p:cNvSpPr>
          <p:nvPr/>
        </p:nvSpPr>
        <p:spPr>
          <a:xfrm>
            <a:off x="89344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A9EAA4A6-B3F4-4A6A-A6F4-6E46B2B92EDF}"/>
              </a:ext>
            </a:extLst>
          </p:cNvPr>
          <p:cNvSpPr>
            <a:spLocks noGrp="1"/>
          </p:cNvSpPr>
          <p:nvPr/>
        </p:nvSpPr>
        <p:spPr>
          <a:xfrm>
            <a:off x="91059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LEAKAGE AUDIT</a:t>
            </a:r>
          </a:p>
        </p:txBody>
      </p:sp>
      <p:sp>
        <p:nvSpPr>
          <p:cNvPr id="18" name="Rectangle 17">
            <a:extLst>
              <a:ext uri="{FF2B5EF4-FFF2-40B4-BE49-F238E27FC236}">
                <a16:creationId xmlns:a16="http://schemas.microsoft.com/office/drawing/2014/main" id="{7259DF0E-D1A0-4C8A-B64B-919137DC4180}"/>
              </a:ext>
            </a:extLst>
          </p:cNvPr>
          <p:cNvSpPr>
            <a:spLocks noGrp="1"/>
          </p:cNvSpPr>
          <p:nvPr/>
        </p:nvSpPr>
        <p:spPr>
          <a:xfrm>
            <a:off x="91059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19" name="Rectangle 18">
            <a:extLst>
              <a:ext uri="{FF2B5EF4-FFF2-40B4-BE49-F238E27FC236}">
                <a16:creationId xmlns:a16="http://schemas.microsoft.com/office/drawing/2014/main" id="{5178E28D-DB6F-4662-B493-BA37DF7D6242}"/>
              </a:ext>
            </a:extLst>
          </p:cNvPr>
          <p:cNvSpPr>
            <a:spLocks noGrp="1"/>
          </p:cNvSpPr>
          <p:nvPr/>
        </p:nvSpPr>
        <p:spPr>
          <a:xfrm>
            <a:off x="91059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TRAIN fit only; OOS prediction only.</a:t>
            </a:r>
          </a:p>
        </p:txBody>
      </p:sp>
      <p:sp>
        <p:nvSpPr>
          <p:cNvPr id="20" name="Rectangle 19">
            <a:extLst>
              <a:ext uri="{FF2B5EF4-FFF2-40B4-BE49-F238E27FC236}">
                <a16:creationId xmlns:a16="http://schemas.microsoft.com/office/drawing/2014/main" id="{31E6EB9B-8ED1-48FB-A787-914A36F7AE05}"/>
              </a:ext>
            </a:extLst>
          </p:cNvPr>
          <p:cNvSpPr>
            <a:spLocks noGrp="1"/>
          </p:cNvSpPr>
          <p:nvPr/>
        </p:nvSpPr>
        <p:spPr>
          <a:xfrm>
            <a:off x="1066800" y="4095750"/>
            <a:ext cx="9334500" cy="8001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The first GLM replay proves the mechanics, but not the alpha thesis. It missed most of the 2020 rally and was useful mainly as partial 2022 defense.</a:t>
            </a:r>
          </a:p>
        </p:txBody>
      </p:sp>
    </p:spTree>
    <p:extLst>
      <p:ext uri="{BB962C8B-B14F-4D97-AF65-F5344CB8AC3E}">
        <p14:creationId xmlns:p14="http://schemas.microsoft.com/office/powerpoint/2010/main" val="8232826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4DF05DD-8745-4950-83A8-F00A6936E9E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609BF8E3-93E7-4EF7-BD84-B24B35909652}"/>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equity curve shows the same participation problem we have been chasing</a:t>
            </a:r>
          </a:p>
        </p:txBody>
      </p:sp>
      <p:sp>
        <p:nvSpPr>
          <p:cNvPr id="3" name="Rectangle 2">
            <a:extLst>
              <a:ext uri="{FF2B5EF4-FFF2-40B4-BE49-F238E27FC236}">
                <a16:creationId xmlns:a16="http://schemas.microsoft.com/office/drawing/2014/main" id="{2C106E91-E584-4E84-BD60-76CAF3410126}"/>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868680" y="2000250"/>
            <a:ext cx="6835140" cy="3943350"/>
          </a:xfrm>
          <a:prstGeom prst="rect">
            <a:avLst/>
          </a:prstGeom>
        </p:spPr>
      </p:pic>
      <p:sp>
        <p:nvSpPr>
          <p:cNvPr id="5" name="Rectangle 4">
            <a:extLst>
              <a:ext uri="{FF2B5EF4-FFF2-40B4-BE49-F238E27FC236}">
                <a16:creationId xmlns:a16="http://schemas.microsoft.com/office/drawing/2014/main" id="{B906B5B5-F658-4139-BA86-EC981B7CDF8E}"/>
              </a:ext>
            </a:extLst>
          </p:cNvPr>
          <p:cNvSpPr>
            <a:spLocks noGrp="1"/>
          </p:cNvSpPr>
          <p:nvPr/>
        </p:nvSpPr>
        <p:spPr>
          <a:xfrm>
            <a:off x="8477250" y="2133600"/>
            <a:ext cx="247650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Interpretation</a:t>
            </a:r>
          </a:p>
        </p:txBody>
      </p:sp>
      <p:sp>
        <p:nvSpPr>
          <p:cNvPr id="6" name="Rectangle 5">
            <a:extLst>
              <a:ext uri="{FF2B5EF4-FFF2-40B4-BE49-F238E27FC236}">
                <a16:creationId xmlns:a16="http://schemas.microsoft.com/office/drawing/2014/main" id="{B0B88C33-DBC4-4CFB-B2FF-BF97727B7DFE}"/>
              </a:ext>
            </a:extLst>
          </p:cNvPr>
          <p:cNvSpPr>
            <a:spLocks noGrp="1"/>
          </p:cNvSpPr>
          <p:nvPr/>
        </p:nvSpPr>
        <p:spPr>
          <a:xfrm>
            <a:off x="8477250" y="2686050"/>
            <a:ext cx="2571750" cy="209550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In 2020, the model stayed too cautious while the basket compounded aggressively. In 2022, the model preserved capital relative to the falling basket, but it was still not cleanly risk-off.</a:t>
            </a:r>
          </a:p>
        </p:txBody>
      </p:sp>
    </p:spTree>
    <p:extLst>
      <p:ext uri="{BB962C8B-B14F-4D97-AF65-F5344CB8AC3E}">
        <p14:creationId xmlns:p14="http://schemas.microsoft.com/office/powerpoint/2010/main" val="20552676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E0DE306-24E5-46C6-A12D-B82A2E49B71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278CDBF9-396E-47C6-9934-927E946CD8A6}"/>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Probability trade tapes show what the policy actually did</a:t>
            </a:r>
          </a:p>
        </p:txBody>
      </p:sp>
      <p:sp>
        <p:nvSpPr>
          <p:cNvPr id="3" name="Rectangle 2">
            <a:extLst>
              <a:ext uri="{FF2B5EF4-FFF2-40B4-BE49-F238E27FC236}">
                <a16:creationId xmlns:a16="http://schemas.microsoft.com/office/drawing/2014/main" id="{96BFF0BA-EFA2-4817-B579-CE2AC684403E}"/>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038785" y="2000250"/>
            <a:ext cx="6494929" cy="3943350"/>
          </a:xfrm>
          <a:prstGeom prst="rect">
            <a:avLst/>
          </a:prstGeom>
        </p:spPr>
      </p:pic>
      <p:sp>
        <p:nvSpPr>
          <p:cNvPr id="5" name="Rectangle 4">
            <a:extLst>
              <a:ext uri="{FF2B5EF4-FFF2-40B4-BE49-F238E27FC236}">
                <a16:creationId xmlns:a16="http://schemas.microsoft.com/office/drawing/2014/main" id="{5B604223-3B11-448B-ABAD-622CC34D20E0}"/>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this reveals</a:t>
            </a:r>
          </a:p>
        </p:txBody>
      </p:sp>
      <p:sp>
        <p:nvSpPr>
          <p:cNvPr id="6" name="Rectangle 5">
            <a:extLst>
              <a:ext uri="{FF2B5EF4-FFF2-40B4-BE49-F238E27FC236}">
                <a16:creationId xmlns:a16="http://schemas.microsoft.com/office/drawing/2014/main" id="{6FA90071-1621-4840-8896-28672D814AB7}"/>
              </a:ext>
            </a:extLst>
          </p:cNvPr>
          <p:cNvSpPr>
            <a:spLocks noGrp="1"/>
          </p:cNvSpPr>
          <p:nvPr/>
        </p:nvSpPr>
        <p:spPr>
          <a:xfrm>
            <a:off x="8477250" y="2705100"/>
            <a:ext cx="2571750" cy="209550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probability trace is now an inspectable decision surface. We can see whether missed upside comes from low predicted probabilities, high thresholds, or replay mechanics.</a:t>
            </a:r>
          </a:p>
        </p:txBody>
      </p:sp>
    </p:spTree>
    <p:extLst>
      <p:ext uri="{BB962C8B-B14F-4D97-AF65-F5344CB8AC3E}">
        <p14:creationId xmlns:p14="http://schemas.microsoft.com/office/powerpoint/2010/main" val="895200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E800D9C-BDE4-4B98-A63B-53CFEA226DB8}"/>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EA36EEB0-6362-4992-8D13-B88727848876}"/>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diagnostics point to threshold and calibration questions</a:t>
            </a:r>
          </a:p>
        </p:txBody>
      </p:sp>
      <p:sp>
        <p:nvSpPr>
          <p:cNvPr id="3" name="Rectangle 2">
            <a:extLst>
              <a:ext uri="{FF2B5EF4-FFF2-40B4-BE49-F238E27FC236}">
                <a16:creationId xmlns:a16="http://schemas.microsoft.com/office/drawing/2014/main" id="{26D49593-F8DD-4216-B3FD-BCD4BC1AAE0C}"/>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04850" y="2415381"/>
            <a:ext cx="4762500" cy="2579688"/>
          </a:xfrm>
          <a:prstGeom prst="rect">
            <a:avLst/>
          </a:prstGeom>
        </p:spPr>
      </p:pic>
      <p:pic>
        <p:nvPicPr>
          <p:cNvPr id="11" name="Picture 10"/>
          <p:cNvPicPr>
            <a:picLocks noChangeAspect="1"/>
          </p:cNvPicPr>
          <p:nvPr/>
        </p:nvPicPr>
        <p:blipFill>
          <a:blip r:embed="rId4"/>
          <a:stretch/>
        </p:blipFill>
        <p:spPr>
          <a:xfrm>
            <a:off x="5962650" y="2415381"/>
            <a:ext cx="4762500" cy="2579688"/>
          </a:xfrm>
          <a:prstGeom prst="rect">
            <a:avLst/>
          </a:prstGeom>
        </p:spPr>
      </p:pic>
      <p:sp>
        <p:nvSpPr>
          <p:cNvPr id="6" name="Rectangle 5">
            <a:extLst>
              <a:ext uri="{FF2B5EF4-FFF2-40B4-BE49-F238E27FC236}">
                <a16:creationId xmlns:a16="http://schemas.microsoft.com/office/drawing/2014/main" id="{6D8D18A1-32E3-4235-9F06-0975B2B0ACAA}"/>
              </a:ext>
            </a:extLst>
          </p:cNvPr>
          <p:cNvSpPr>
            <a:spLocks noGrp="1"/>
          </p:cNvSpPr>
          <p:nvPr/>
        </p:nvSpPr>
        <p:spPr>
          <a:xfrm>
            <a:off x="1104900" y="5753100"/>
            <a:ext cx="9334500" cy="400050"/>
          </a:xfrm>
          <a:prstGeom prst="rect">
            <a:avLst/>
          </a:prstGeom>
          <a:noFill/>
          <a:ln w="0">
            <a:noFill/>
            <a:prstDash val="solid"/>
          </a:ln>
        </p:spPr>
        <p:txBody>
          <a:bodyPr/>
          <a:lstStyle/>
          <a:p>
            <a:pPr algn="ctr">
              <a:defRPr sz="1500" b="0" i="0">
                <a:solidFill>
                  <a:srgbClr val="555555"/>
                </a:solidFill>
              </a:defRPr>
            </a:pPr>
            <a:r>
              <a:rPr sz="1500" b="0" i="0">
                <a:solidFill>
                  <a:srgbClr val="555555"/>
                </a:solidFill>
              </a:rPr>
              <a:t>Fixed thresholds are intentionally crude. The next improvement should be TRAIN-only threshold selection and probability calibration, not a rush to a more complex model.</a:t>
            </a:r>
          </a:p>
        </p:txBody>
      </p:sp>
    </p:spTree>
    <p:extLst>
      <p:ext uri="{BB962C8B-B14F-4D97-AF65-F5344CB8AC3E}">
        <p14:creationId xmlns:p14="http://schemas.microsoft.com/office/powerpoint/2010/main" val="168034360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AF2A461-A4DB-4958-9B8C-C4F0A1C38B4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9D276B97-595D-4A00-B8AC-B4AF3B0526E4}"/>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coefficient audit keeps the simple model explainable</a:t>
            </a:r>
          </a:p>
        </p:txBody>
      </p:sp>
      <p:sp>
        <p:nvSpPr>
          <p:cNvPr id="3" name="Rectangle 2">
            <a:extLst>
              <a:ext uri="{FF2B5EF4-FFF2-40B4-BE49-F238E27FC236}">
                <a16:creationId xmlns:a16="http://schemas.microsoft.com/office/drawing/2014/main" id="{8CB2D411-F6D0-4C3B-87B8-48FA4BA6FE2D}"/>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371600" y="2038350"/>
            <a:ext cx="5448300" cy="3714750"/>
          </a:xfrm>
          <a:prstGeom prst="rect">
            <a:avLst/>
          </a:prstGeom>
        </p:spPr>
      </p:pic>
      <p:sp>
        <p:nvSpPr>
          <p:cNvPr id="5" name="Rectangle 4">
            <a:extLst>
              <a:ext uri="{FF2B5EF4-FFF2-40B4-BE49-F238E27FC236}">
                <a16:creationId xmlns:a16="http://schemas.microsoft.com/office/drawing/2014/main" id="{EE4D95E5-2C0F-496D-9308-F2D5F14D0F3F}"/>
              </a:ext>
            </a:extLst>
          </p:cNvPr>
          <p:cNvSpPr>
            <a:spLocks noGrp="1"/>
          </p:cNvSpPr>
          <p:nvPr/>
        </p:nvSpPr>
        <p:spPr>
          <a:xfrm>
            <a:off x="8096250" y="2133600"/>
            <a:ext cx="2857500" cy="32385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Why GLM still earns its keep</a:t>
            </a:r>
          </a:p>
        </p:txBody>
      </p:sp>
      <p:sp>
        <p:nvSpPr>
          <p:cNvPr id="6" name="Rectangle 5">
            <a:extLst>
              <a:ext uri="{FF2B5EF4-FFF2-40B4-BE49-F238E27FC236}">
                <a16:creationId xmlns:a16="http://schemas.microsoft.com/office/drawing/2014/main" id="{89236580-C1F1-46B5-9F62-2A6F49DBF63B}"/>
              </a:ext>
            </a:extLst>
          </p:cNvPr>
          <p:cNvSpPr>
            <a:spLocks noGrp="1"/>
          </p:cNvSpPr>
          <p:nvPr/>
        </p:nvSpPr>
        <p:spPr>
          <a:xfrm>
            <a:off x="8096250" y="2743200"/>
            <a:ext cx="2724150" cy="2000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Even when performance is underwhelming, coefficients expose what the model is leaning on. That makes GLM a useful diagnostic bridge before XGBoost.</a:t>
            </a:r>
          </a:p>
        </p:txBody>
      </p:sp>
    </p:spTree>
    <p:extLst>
      <p:ext uri="{BB962C8B-B14F-4D97-AF65-F5344CB8AC3E}">
        <p14:creationId xmlns:p14="http://schemas.microsoft.com/office/powerpoint/2010/main" val="71058508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81FAEF46-B36C-4F95-90E2-ABD67C83AA8D}"/>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3E95C296-871D-4724-A63F-71BC09BE4522}"/>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next slice should improve the decision policy before model complexity</a:t>
            </a:r>
          </a:p>
        </p:txBody>
      </p:sp>
      <p:sp>
        <p:nvSpPr>
          <p:cNvPr id="3" name="Rectangle 2">
            <a:extLst>
              <a:ext uri="{FF2B5EF4-FFF2-40B4-BE49-F238E27FC236}">
                <a16:creationId xmlns:a16="http://schemas.microsoft.com/office/drawing/2014/main" id="{4352F916-D319-4E55-A5FA-7246DA7E14B0}"/>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22B1374F-8CD9-4A86-AD10-D0DAA29920E8}"/>
              </a:ext>
            </a:extLst>
          </p:cNvPr>
          <p:cNvSpPr>
            <a:spLocks noGrp="1"/>
          </p:cNvSpPr>
          <p:nvPr/>
        </p:nvSpPr>
        <p:spPr>
          <a:xfrm>
            <a:off x="876300" y="2133600"/>
            <a:ext cx="8953500" cy="8191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ML-P1 worked mechanically and exposed a familiar failure mode: too little upside participation in 2020, partial defense in 2022.</a:t>
            </a:r>
          </a:p>
        </p:txBody>
      </p:sp>
      <p:sp>
        <p:nvSpPr>
          <p:cNvPr id="5" name="Rectangle 4">
            <a:extLst>
              <a:ext uri="{FF2B5EF4-FFF2-40B4-BE49-F238E27FC236}">
                <a16:creationId xmlns:a16="http://schemas.microsoft.com/office/drawing/2014/main" id="{7E34D304-D2C9-4BFC-BBE0-8F50D1B76364}"/>
              </a:ext>
            </a:extLst>
          </p:cNvPr>
          <p:cNvSpPr>
            <a:spLocks noGrp="1"/>
          </p:cNvSpPr>
          <p:nvPr/>
        </p:nvSpPr>
        <p:spPr>
          <a:xfrm>
            <a:off x="1219200" y="34575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6A4EE27A-FAE5-4F75-9F46-9F4E691BE667}"/>
              </a:ext>
            </a:extLst>
          </p:cNvPr>
          <p:cNvSpPr>
            <a:spLocks noGrp="1"/>
          </p:cNvSpPr>
          <p:nvPr/>
        </p:nvSpPr>
        <p:spPr>
          <a:xfrm>
            <a:off x="1485900" y="3448050"/>
            <a:ext cx="6591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Add TRAIN-only threshold selection or calibration before XGBoost.</a:t>
            </a:r>
          </a:p>
        </p:txBody>
      </p:sp>
      <p:sp>
        <p:nvSpPr>
          <p:cNvPr id="7" name="Rectangle 6">
            <a:extLst>
              <a:ext uri="{FF2B5EF4-FFF2-40B4-BE49-F238E27FC236}">
                <a16:creationId xmlns:a16="http://schemas.microsoft.com/office/drawing/2014/main" id="{10059F03-9ED2-4E3C-9FF7-B1D7284CF4E3}"/>
              </a:ext>
            </a:extLst>
          </p:cNvPr>
          <p:cNvSpPr>
            <a:spLocks noGrp="1"/>
          </p:cNvSpPr>
          <p:nvPr/>
        </p:nvSpPr>
        <p:spPr>
          <a:xfrm>
            <a:off x="1219200" y="41243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770569E5-9046-4BF7-B940-9A494017A869}"/>
              </a:ext>
            </a:extLst>
          </p:cNvPr>
          <p:cNvSpPr>
            <a:spLocks noGrp="1"/>
          </p:cNvSpPr>
          <p:nvPr/>
        </p:nvSpPr>
        <p:spPr>
          <a:xfrm>
            <a:off x="1485900" y="4114800"/>
            <a:ext cx="6591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Compare fixed thresholds against a more permissive participation policy.</a:t>
            </a:r>
          </a:p>
        </p:txBody>
      </p:sp>
      <p:sp>
        <p:nvSpPr>
          <p:cNvPr id="9" name="Rectangle 8">
            <a:extLst>
              <a:ext uri="{FF2B5EF4-FFF2-40B4-BE49-F238E27FC236}">
                <a16:creationId xmlns:a16="http://schemas.microsoft.com/office/drawing/2014/main" id="{A727EED5-3674-4A4C-89E6-64ABB632960F}"/>
              </a:ext>
            </a:extLst>
          </p:cNvPr>
          <p:cNvSpPr>
            <a:spLocks noGrp="1"/>
          </p:cNvSpPr>
          <p:nvPr/>
        </p:nvSpPr>
        <p:spPr>
          <a:xfrm>
            <a:off x="1219200" y="47910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39698B1B-3913-4D5C-8E99-9FB2116CC5E3}"/>
              </a:ext>
            </a:extLst>
          </p:cNvPr>
          <p:cNvSpPr>
            <a:spLocks noGrp="1"/>
          </p:cNvSpPr>
          <p:nvPr/>
        </p:nvSpPr>
        <p:spPr>
          <a:xfrm>
            <a:off x="1485900" y="4781550"/>
            <a:ext cx="6591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probability trade tapes as the required visual audit for every ML replay.</a:t>
            </a:r>
          </a:p>
        </p:txBody>
      </p:sp>
      <p:sp>
        <p:nvSpPr>
          <p:cNvPr id="11" name="Rectangle 10">
            <a:extLst>
              <a:ext uri="{FF2B5EF4-FFF2-40B4-BE49-F238E27FC236}">
                <a16:creationId xmlns:a16="http://schemas.microsoft.com/office/drawing/2014/main" id="{CAED5C0B-CD22-4CFA-8122-706EDF6C211D}"/>
              </a:ext>
            </a:extLst>
          </p:cNvPr>
          <p:cNvSpPr>
            <a:spLocks noGrp="1"/>
          </p:cNvSpPr>
          <p:nvPr/>
        </p:nvSpPr>
        <p:spPr>
          <a:xfrm>
            <a:off x="1219200" y="54578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27607F9F-043D-493D-9EE3-129D02ACAF52}"/>
              </a:ext>
            </a:extLst>
          </p:cNvPr>
          <p:cNvSpPr>
            <a:spLocks noGrp="1"/>
          </p:cNvSpPr>
          <p:nvPr/>
        </p:nvSpPr>
        <p:spPr>
          <a:xfrm>
            <a:off x="1485900" y="5448300"/>
            <a:ext cx="6591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Only then add XGBoost as a nonlinear challenger.</a:t>
            </a:r>
          </a:p>
        </p:txBody>
      </p:sp>
    </p:spTree>
    <p:extLst>
      <p:ext uri="{BB962C8B-B14F-4D97-AF65-F5344CB8AC3E}">
        <p14:creationId xmlns:p14="http://schemas.microsoft.com/office/powerpoint/2010/main" val="168995859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18854A4C-2309-4F2D-BB1A-B9384FE6C940}"/>
              </a:ext>
            </a:extLst>
          </p:cNvPr>
          <p:cNvSpPr>
            <a:spLocks noGrp="1"/>
          </p:cNvSpPr>
          <p:nvPr/>
        </p:nvSpPr>
        <p:spPr>
          <a:xfrm>
            <a:off x="685800" y="495300"/>
            <a:ext cx="4762500" cy="419100"/>
          </a:xfrm>
          <a:prstGeom prst="rect">
            <a:avLst/>
          </a:prstGeom>
          <a:noFill/>
          <a:ln w="0">
            <a:noFill/>
            <a:prstDash val="solid"/>
          </a:ln>
        </p:spPr>
        <p:txBody>
          <a:bodyPr/>
          <a:lstStyle/>
          <a:p>
            <a:pPr algn="l">
              <a:defRPr sz="2400" b="1" i="0">
                <a:solidFill>
                  <a:srgbClr val="555555"/>
                </a:solidFill>
              </a:defRPr>
            </a:pPr>
            <a:r>
              <a:rPr sz="2400" b="1" i="0">
                <a:solidFill>
                  <a:srgbClr val="555555"/>
                </a:solidFill>
              </a:rPr>
              <a:t>Transition</a:t>
            </a:r>
          </a:p>
        </p:txBody>
      </p:sp>
      <p:sp>
        <p:nvSpPr>
          <p:cNvPr id="2" name="Rectangle 1">
            <a:extLst>
              <a:ext uri="{FF2B5EF4-FFF2-40B4-BE49-F238E27FC236}">
                <a16:creationId xmlns:a16="http://schemas.microsoft.com/office/drawing/2014/main" id="{4AC8F752-7AA6-4639-A658-D27F8F3492C3}"/>
              </a:ext>
            </a:extLst>
          </p:cNvPr>
          <p:cNvSpPr>
            <a:spLocks noGrp="1"/>
          </p:cNvSpPr>
          <p:nvPr/>
        </p:nvSpPr>
        <p:spPr>
          <a:xfrm>
            <a:off x="685800" y="1600200"/>
            <a:ext cx="8572500" cy="876300"/>
          </a:xfrm>
          <a:prstGeom prst="rect">
            <a:avLst/>
          </a:prstGeom>
          <a:noFill/>
          <a:ln w="0">
            <a:noFill/>
            <a:prstDash val="solid"/>
          </a:ln>
        </p:spPr>
        <p:txBody>
          <a:bodyPr/>
          <a:lstStyle/>
          <a:p>
            <a:pPr algn="l">
              <a:defRPr sz="3900" b="1" i="0">
                <a:solidFill>
                  <a:srgbClr val="000000"/>
                </a:solidFill>
              </a:defRPr>
            </a:pPr>
            <a:r>
              <a:rPr sz="3900" b="1" i="0">
                <a:solidFill>
                  <a:srgbClr val="000000"/>
                </a:solidFill>
              </a:rPr>
              <a:t>Threshold policy is the first decision layer to audit</a:t>
            </a:r>
          </a:p>
        </p:txBody>
      </p:sp>
      <p:sp>
        <p:nvSpPr>
          <p:cNvPr id="3" name="Rectangle 2">
            <a:extLst>
              <a:ext uri="{FF2B5EF4-FFF2-40B4-BE49-F238E27FC236}">
                <a16:creationId xmlns:a16="http://schemas.microsoft.com/office/drawing/2014/main" id="{3D795023-5EB1-4AAD-9C73-0FC3C1654D09}"/>
              </a:ext>
            </a:extLst>
          </p:cNvPr>
          <p:cNvSpPr>
            <a:spLocks noGrp="1"/>
          </p:cNvSpPr>
          <p:nvPr/>
        </p:nvSpPr>
        <p:spPr>
          <a:xfrm>
            <a:off x="723900" y="3105150"/>
            <a:ext cx="57150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1D3D1130-87EE-4185-B1CE-D174E8F3868E}"/>
              </a:ext>
            </a:extLst>
          </p:cNvPr>
          <p:cNvSpPr>
            <a:spLocks noGrp="1"/>
          </p:cNvSpPr>
          <p:nvPr/>
        </p:nvSpPr>
        <p:spPr>
          <a:xfrm>
            <a:off x="723900" y="3467100"/>
            <a:ext cx="7524750" cy="106680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ML-P1b keeps the GLM fixed and changes only the rule that converts probability into long/flat exposure. Thresholds are chosen before OOS replay using TRAIN data only.</a:t>
            </a:r>
          </a:p>
        </p:txBody>
      </p:sp>
      <p:sp>
        <p:nvSpPr>
          <p:cNvPr id="5" name="Rectangle 4">
            <a:extLst>
              <a:ext uri="{FF2B5EF4-FFF2-40B4-BE49-F238E27FC236}">
                <a16:creationId xmlns:a16="http://schemas.microsoft.com/office/drawing/2014/main" id="{FF5ADB75-D0A0-430A-9787-F9816B5CFB8D}"/>
              </a:ext>
            </a:extLst>
          </p:cNvPr>
          <p:cNvSpPr>
            <a:spLocks noGrp="1"/>
          </p:cNvSpPr>
          <p:nvPr/>
        </p:nvSpPr>
        <p:spPr>
          <a:xfrm>
            <a:off x="8801100" y="0"/>
            <a:ext cx="3390900" cy="6858000"/>
          </a:xfrm>
          <a:prstGeom prst="rect">
            <a:avLst/>
          </a:prstGeom>
          <a:solidFill>
            <a:srgbClr val="EDEDED"/>
          </a:solidFill>
          <a:ln w="0">
            <a:noFill/>
            <a:prstDash val="solid"/>
          </a:ln>
        </p:spPr>
        <p:txBody>
          <a:bodyPr/>
          <a:lstStyle/>
          <a:p>
            <a:endParaRPr lang="en-US"/>
          </a:p>
        </p:txBody>
      </p:sp>
      <p:sp>
        <p:nvSpPr>
          <p:cNvPr id="6" name="Rectangle 5">
            <a:extLst>
              <a:ext uri="{FF2B5EF4-FFF2-40B4-BE49-F238E27FC236}">
                <a16:creationId xmlns:a16="http://schemas.microsoft.com/office/drawing/2014/main" id="{65CC72BC-F909-435C-B1BE-C11A7FB65ECD}"/>
              </a:ext>
            </a:extLst>
          </p:cNvPr>
          <p:cNvSpPr>
            <a:spLocks noGrp="1"/>
          </p:cNvSpPr>
          <p:nvPr/>
        </p:nvSpPr>
        <p:spPr>
          <a:xfrm>
            <a:off x="9353550" y="2343150"/>
            <a:ext cx="2190750" cy="438150"/>
          </a:xfrm>
          <a:prstGeom prst="rect">
            <a:avLst/>
          </a:prstGeom>
          <a:noFill/>
          <a:ln w="0">
            <a:noFill/>
            <a:prstDash val="solid"/>
          </a:ln>
        </p:spPr>
        <p:txBody>
          <a:bodyPr/>
          <a:lstStyle/>
          <a:p>
            <a:pPr algn="ctr">
              <a:defRPr sz="3150" b="1" i="0">
                <a:solidFill>
                  <a:srgbClr val="000000"/>
                </a:solidFill>
              </a:defRPr>
            </a:pPr>
            <a:r>
              <a:rPr sz="3150" b="1" i="0">
                <a:solidFill>
                  <a:srgbClr val="000000"/>
                </a:solidFill>
              </a:rPr>
              <a:t>ML-P1b</a:t>
            </a:r>
          </a:p>
        </p:txBody>
      </p:sp>
      <p:sp>
        <p:nvSpPr>
          <p:cNvPr id="7" name="Rectangle 6">
            <a:extLst>
              <a:ext uri="{FF2B5EF4-FFF2-40B4-BE49-F238E27FC236}">
                <a16:creationId xmlns:a16="http://schemas.microsoft.com/office/drawing/2014/main" id="{471518AF-6E6E-4CC6-BD6E-44643D9AEF6D}"/>
              </a:ext>
            </a:extLst>
          </p:cNvPr>
          <p:cNvSpPr>
            <a:spLocks noGrp="1"/>
          </p:cNvSpPr>
          <p:nvPr/>
        </p:nvSpPr>
        <p:spPr>
          <a:xfrm>
            <a:off x="9067800" y="3067050"/>
            <a:ext cx="2762250" cy="400050"/>
          </a:xfrm>
          <a:prstGeom prst="rect">
            <a:avLst/>
          </a:prstGeom>
          <a:noFill/>
          <a:ln w="0">
            <a:noFill/>
            <a:prstDash val="solid"/>
          </a:ln>
        </p:spPr>
        <p:txBody>
          <a:bodyPr/>
          <a:lstStyle/>
          <a:p>
            <a:pPr algn="ctr">
              <a:defRPr sz="1875" b="0" i="0">
                <a:solidFill>
                  <a:srgbClr val="222222"/>
                </a:solidFill>
              </a:defRPr>
            </a:pPr>
            <a:r>
              <a:rPr sz="1875" b="0" i="0">
                <a:solidFill>
                  <a:srgbClr val="222222"/>
                </a:solidFill>
              </a:rPr>
              <a:t>Threshold diagnostic</a:t>
            </a:r>
          </a:p>
        </p:txBody>
      </p:sp>
    </p:spTree>
    <p:extLst>
      <p:ext uri="{BB962C8B-B14F-4D97-AF65-F5344CB8AC3E}">
        <p14:creationId xmlns:p14="http://schemas.microsoft.com/office/powerpoint/2010/main" val="1095951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EE55A9F-0671-4699-BEF0-4EBAE55A889E}"/>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263D673A-364B-425F-A12D-54569C56D49B}"/>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participation policy helped, but not enough</a:t>
            </a:r>
          </a:p>
        </p:txBody>
      </p:sp>
      <p:sp>
        <p:nvSpPr>
          <p:cNvPr id="3" name="Rectangle 2">
            <a:extLst>
              <a:ext uri="{FF2B5EF4-FFF2-40B4-BE49-F238E27FC236}">
                <a16:creationId xmlns:a16="http://schemas.microsoft.com/office/drawing/2014/main" id="{F98434D9-4475-4173-A8DA-FCCE823EE072}"/>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18468BAB-257F-4A14-A9D3-5374897839CB}"/>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640CD835-2837-4A81-9849-39153C4AA8D9}"/>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POLICIES TESTED</a:t>
            </a:r>
          </a:p>
        </p:txBody>
      </p:sp>
      <p:sp>
        <p:nvSpPr>
          <p:cNvPr id="6" name="Rectangle 5">
            <a:extLst>
              <a:ext uri="{FF2B5EF4-FFF2-40B4-BE49-F238E27FC236}">
                <a16:creationId xmlns:a16="http://schemas.microsoft.com/office/drawing/2014/main" id="{90D99CCF-F56B-4B3C-A037-E4C0A780C09A}"/>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a:t>
            </a:r>
          </a:p>
        </p:txBody>
      </p:sp>
      <p:sp>
        <p:nvSpPr>
          <p:cNvPr id="7" name="Rectangle 6">
            <a:extLst>
              <a:ext uri="{FF2B5EF4-FFF2-40B4-BE49-F238E27FC236}">
                <a16:creationId xmlns:a16="http://schemas.microsoft.com/office/drawing/2014/main" id="{ED09C281-BFF1-4821-8F03-53AFA1FB21FC}"/>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Fixed, TRAIN quantile, and TRAIN forward-return grid.</a:t>
            </a:r>
          </a:p>
        </p:txBody>
      </p:sp>
      <p:sp>
        <p:nvSpPr>
          <p:cNvPr id="8" name="Rectangle 7">
            <a:extLst>
              <a:ext uri="{FF2B5EF4-FFF2-40B4-BE49-F238E27FC236}">
                <a16:creationId xmlns:a16="http://schemas.microsoft.com/office/drawing/2014/main" id="{FBFA075C-EE6D-4B14-9514-645872B34316}"/>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3F157DC5-EFD5-421D-A044-01E45B3F8541}"/>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GUARDRAILS</a:t>
            </a:r>
          </a:p>
        </p:txBody>
      </p:sp>
      <p:sp>
        <p:nvSpPr>
          <p:cNvPr id="10" name="Rectangle 9">
            <a:extLst>
              <a:ext uri="{FF2B5EF4-FFF2-40B4-BE49-F238E27FC236}">
                <a16:creationId xmlns:a16="http://schemas.microsoft.com/office/drawing/2014/main" id="{14B52756-A4B4-402C-A78D-BE37C19AF6E7}"/>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11" name="Rectangle 10">
            <a:extLst>
              <a:ext uri="{FF2B5EF4-FFF2-40B4-BE49-F238E27FC236}">
                <a16:creationId xmlns:a16="http://schemas.microsoft.com/office/drawing/2014/main" id="{3EE0D564-4845-48E6-8092-339725CCFC07}"/>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Fit and policy selection stay inside TRAIN.</a:t>
            </a:r>
          </a:p>
        </p:txBody>
      </p:sp>
      <p:sp>
        <p:nvSpPr>
          <p:cNvPr id="12" name="Rectangle 11">
            <a:extLst>
              <a:ext uri="{FF2B5EF4-FFF2-40B4-BE49-F238E27FC236}">
                <a16:creationId xmlns:a16="http://schemas.microsoft.com/office/drawing/2014/main" id="{859814F4-6FFE-4906-AF2D-F053E3F280EB}"/>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67E4FCE1-4FB7-4746-BE59-EA92C41B304F}"/>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GRID RETURN</a:t>
            </a:r>
          </a:p>
        </p:txBody>
      </p:sp>
      <p:sp>
        <p:nvSpPr>
          <p:cNvPr id="14" name="Rectangle 13">
            <a:extLst>
              <a:ext uri="{FF2B5EF4-FFF2-40B4-BE49-F238E27FC236}">
                <a16:creationId xmlns:a16="http://schemas.microsoft.com/office/drawing/2014/main" id="{7D295A34-5FB5-4A21-A73F-616CB9556700}"/>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30.0%</a:t>
            </a:r>
          </a:p>
        </p:txBody>
      </p:sp>
      <p:sp>
        <p:nvSpPr>
          <p:cNvPr id="15" name="Rectangle 14">
            <a:extLst>
              <a:ext uri="{FF2B5EF4-FFF2-40B4-BE49-F238E27FC236}">
                <a16:creationId xmlns:a16="http://schemas.microsoft.com/office/drawing/2014/main" id="{A43F23CA-4E55-4CC4-9A13-ABEE8E99FDD4}"/>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Fixed was 8.0%; basket hold was 214.0%.</a:t>
            </a:r>
          </a:p>
        </p:txBody>
      </p:sp>
      <p:sp>
        <p:nvSpPr>
          <p:cNvPr id="16" name="Rectangle 15">
            <a:extLst>
              <a:ext uri="{FF2B5EF4-FFF2-40B4-BE49-F238E27FC236}">
                <a16:creationId xmlns:a16="http://schemas.microsoft.com/office/drawing/2014/main" id="{90A58F1C-CC42-41CE-940A-6486E294C0F0}"/>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86DEE180-5D2B-4250-88A4-0E1393F9925E}"/>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2022 QUANTILE RETURN</a:t>
            </a:r>
          </a:p>
        </p:txBody>
      </p:sp>
      <p:sp>
        <p:nvSpPr>
          <p:cNvPr id="18" name="Rectangle 17">
            <a:extLst>
              <a:ext uri="{FF2B5EF4-FFF2-40B4-BE49-F238E27FC236}">
                <a16:creationId xmlns:a16="http://schemas.microsoft.com/office/drawing/2014/main" id="{3442AA74-B65B-4776-9FA6-676179AAABA9}"/>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-39.5%</a:t>
            </a:r>
          </a:p>
        </p:txBody>
      </p:sp>
      <p:sp>
        <p:nvSpPr>
          <p:cNvPr id="19" name="Rectangle 18">
            <a:extLst>
              <a:ext uri="{FF2B5EF4-FFF2-40B4-BE49-F238E27FC236}">
                <a16:creationId xmlns:a16="http://schemas.microsoft.com/office/drawing/2014/main" id="{FBF7A867-C29E-468E-AF37-503D2D028A93}"/>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Fixed was -42.4%; basket hold was -54.2%.</a:t>
            </a:r>
          </a:p>
        </p:txBody>
      </p:sp>
      <p:sp>
        <p:nvSpPr>
          <p:cNvPr id="20" name="Rectangle 19">
            <a:extLst>
              <a:ext uri="{FF2B5EF4-FFF2-40B4-BE49-F238E27FC236}">
                <a16:creationId xmlns:a16="http://schemas.microsoft.com/office/drawing/2014/main" id="{A99D8DF5-2C3B-4C34-89D4-4DE40F5464F1}"/>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The grid policy raised 2020 exposure and return, which confirms threshold choice matters. It still left most of the high-beta rally unowned, so the problem is not just the original 0.55 / 0.50 cutoff.</a:t>
            </a:r>
          </a:p>
        </p:txBody>
      </p:sp>
    </p:spTree>
    <p:extLst>
      <p:ext uri="{BB962C8B-B14F-4D97-AF65-F5344CB8AC3E}">
        <p14:creationId xmlns:p14="http://schemas.microsoft.com/office/powerpoint/2010/main" val="10377670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12F340A-52CA-4316-8B00-11709623189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218F9A20-937D-44DB-BBEF-C6AEFA650E51}"/>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equity curves show a better but still underpowered rally response</a:t>
            </a:r>
          </a:p>
        </p:txBody>
      </p:sp>
      <p:sp>
        <p:nvSpPr>
          <p:cNvPr id="3" name="Rectangle 2">
            <a:extLst>
              <a:ext uri="{FF2B5EF4-FFF2-40B4-BE49-F238E27FC236}">
                <a16:creationId xmlns:a16="http://schemas.microsoft.com/office/drawing/2014/main" id="{F848AF17-24FB-4B50-A2C2-6DACD2E63910}"/>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835819" y="2000250"/>
            <a:ext cx="6900863" cy="3943350"/>
          </a:xfrm>
          <a:prstGeom prst="rect">
            <a:avLst/>
          </a:prstGeom>
        </p:spPr>
      </p:pic>
      <p:sp>
        <p:nvSpPr>
          <p:cNvPr id="5" name="Rectangle 4">
            <a:extLst>
              <a:ext uri="{FF2B5EF4-FFF2-40B4-BE49-F238E27FC236}">
                <a16:creationId xmlns:a16="http://schemas.microsoft.com/office/drawing/2014/main" id="{2D59B5BE-CB23-4E9D-8D30-A5F0B09DE1CB}"/>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changed</a:t>
            </a:r>
          </a:p>
        </p:txBody>
      </p:sp>
      <p:sp>
        <p:nvSpPr>
          <p:cNvPr id="6" name="Rectangle 5">
            <a:extLst>
              <a:ext uri="{FF2B5EF4-FFF2-40B4-BE49-F238E27FC236}">
                <a16:creationId xmlns:a16="http://schemas.microsoft.com/office/drawing/2014/main" id="{E019299B-F31E-4FDC-A3CA-4FC384E1E013}"/>
              </a:ext>
            </a:extLst>
          </p:cNvPr>
          <p:cNvSpPr>
            <a:spLocks noGrp="1"/>
          </p:cNvSpPr>
          <p:nvPr/>
        </p:nvSpPr>
        <p:spPr>
          <a:xfrm>
            <a:off x="8477250" y="2705100"/>
            <a:ext cx="2705100" cy="209550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TRAIN grid policy lifted 2020 exposure from 27.6% to 34.8% and return from 8.0% to 30.0%. It still lagged the basket by -184.0%.</a:t>
            </a:r>
          </a:p>
        </p:txBody>
      </p:sp>
    </p:spTree>
    <p:extLst>
      <p:ext uri="{BB962C8B-B14F-4D97-AF65-F5344CB8AC3E}">
        <p14:creationId xmlns:p14="http://schemas.microsoft.com/office/powerpoint/2010/main" val="16482019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8145781E-1925-4930-BE81-5AC44A968066}"/>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3652EF2C-0404-4A9B-B60F-195B7BEF823B}"/>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selected thresholds explain the behavior change</a:t>
            </a:r>
          </a:p>
        </p:txBody>
      </p:sp>
      <p:sp>
        <p:nvSpPr>
          <p:cNvPr id="3" name="Rectangle 2">
            <a:extLst>
              <a:ext uri="{FF2B5EF4-FFF2-40B4-BE49-F238E27FC236}">
                <a16:creationId xmlns:a16="http://schemas.microsoft.com/office/drawing/2014/main" id="{44F659FC-AB23-4B9E-941E-3E2DAD73E342}"/>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04850" y="2423013"/>
            <a:ext cx="4762500" cy="2564423"/>
          </a:xfrm>
          <a:prstGeom prst="rect">
            <a:avLst/>
          </a:prstGeom>
        </p:spPr>
      </p:pic>
      <p:pic>
        <p:nvPicPr>
          <p:cNvPr id="11" name="Picture 10"/>
          <p:cNvPicPr>
            <a:picLocks noChangeAspect="1"/>
          </p:cNvPicPr>
          <p:nvPr/>
        </p:nvPicPr>
        <p:blipFill>
          <a:blip r:embed="rId4"/>
          <a:stretch/>
        </p:blipFill>
        <p:spPr>
          <a:xfrm>
            <a:off x="5962650" y="2382308"/>
            <a:ext cx="4762500" cy="2645833"/>
          </a:xfrm>
          <a:prstGeom prst="rect">
            <a:avLst/>
          </a:prstGeom>
        </p:spPr>
      </p:pic>
      <p:sp>
        <p:nvSpPr>
          <p:cNvPr id="6" name="Rectangle 5">
            <a:extLst>
              <a:ext uri="{FF2B5EF4-FFF2-40B4-BE49-F238E27FC236}">
                <a16:creationId xmlns:a16="http://schemas.microsoft.com/office/drawing/2014/main" id="{A643E725-535B-41E1-82B3-D5E5713A78A3}"/>
              </a:ext>
            </a:extLst>
          </p:cNvPr>
          <p:cNvSpPr>
            <a:spLocks noGrp="1"/>
          </p:cNvSpPr>
          <p:nvPr/>
        </p:nvSpPr>
        <p:spPr>
          <a:xfrm>
            <a:off x="1104900" y="5753100"/>
            <a:ext cx="9334500" cy="457200"/>
          </a:xfrm>
          <a:prstGeom prst="rect">
            <a:avLst/>
          </a:prstGeom>
          <a:noFill/>
          <a:ln w="0">
            <a:noFill/>
            <a:prstDash val="solid"/>
          </a:ln>
        </p:spPr>
        <p:txBody>
          <a:bodyPr/>
          <a:lstStyle/>
          <a:p>
            <a:pPr algn="ctr">
              <a:defRPr sz="1500" b="0" i="0">
                <a:solidFill>
                  <a:srgbClr val="555555"/>
                </a:solidFill>
              </a:defRPr>
            </a:pPr>
            <a:r>
              <a:rPr sz="1500" b="0" i="0">
                <a:solidFill>
                  <a:srgbClr val="555555"/>
                </a:solidFill>
              </a:rPr>
              <a:t>The grid policy's average TRAIN entry threshold was 0.54, with a TRAIN proxy exposure target around 69.7%. That made it more permissive in 2020, but also more exposed in 2022.</a:t>
            </a:r>
          </a:p>
        </p:txBody>
      </p:sp>
    </p:spTree>
    <p:extLst>
      <p:ext uri="{BB962C8B-B14F-4D97-AF65-F5344CB8AC3E}">
        <p14:creationId xmlns:p14="http://schemas.microsoft.com/office/powerpoint/2010/main" val="141154287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DF2D121-DA1D-44DB-86FB-D5FED75B33B5}"/>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827D8B48-D961-4D61-84FF-535C0F98C7FA}"/>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Probability tapes show that the model rarely loved the rally early enough</a:t>
            </a:r>
          </a:p>
        </p:txBody>
      </p:sp>
      <p:sp>
        <p:nvSpPr>
          <p:cNvPr id="3" name="Rectangle 2">
            <a:extLst>
              <a:ext uri="{FF2B5EF4-FFF2-40B4-BE49-F238E27FC236}">
                <a16:creationId xmlns:a16="http://schemas.microsoft.com/office/drawing/2014/main" id="{059067F4-76D7-43D4-8036-3341CAE74D0A}"/>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038785" y="2000250"/>
            <a:ext cx="6494929" cy="3943350"/>
          </a:xfrm>
          <a:prstGeom prst="rect">
            <a:avLst/>
          </a:prstGeom>
        </p:spPr>
      </p:pic>
      <p:sp>
        <p:nvSpPr>
          <p:cNvPr id="5" name="Rectangle 4">
            <a:extLst>
              <a:ext uri="{FF2B5EF4-FFF2-40B4-BE49-F238E27FC236}">
                <a16:creationId xmlns:a16="http://schemas.microsoft.com/office/drawing/2014/main" id="{93751720-A4EC-4EAB-B463-07F25EDBDC64}"/>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Why this matters</a:t>
            </a:r>
          </a:p>
        </p:txBody>
      </p:sp>
      <p:sp>
        <p:nvSpPr>
          <p:cNvPr id="6" name="Rectangle 5">
            <a:extLst>
              <a:ext uri="{FF2B5EF4-FFF2-40B4-BE49-F238E27FC236}">
                <a16:creationId xmlns:a16="http://schemas.microsoft.com/office/drawing/2014/main" id="{15F7C254-C69E-49C0-97B6-19BA8F77D4E7}"/>
              </a:ext>
            </a:extLst>
          </p:cNvPr>
          <p:cNvSpPr>
            <a:spLocks noGrp="1"/>
          </p:cNvSpPr>
          <p:nvPr/>
        </p:nvSpPr>
        <p:spPr>
          <a:xfrm>
            <a:off x="8477250" y="2705100"/>
            <a:ext cx="2705100" cy="228600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Lowering thresholds creates more entries, but the probability trace still spends long rally stretches below the entry line. The next question is whether calibration, labels, or model class can rank those days better.</a:t>
            </a:r>
          </a:p>
        </p:txBody>
      </p:sp>
    </p:spTree>
    <p:extLst>
      <p:ext uri="{BB962C8B-B14F-4D97-AF65-F5344CB8AC3E}">
        <p14:creationId xmlns:p14="http://schemas.microsoft.com/office/powerpoint/2010/main" val="8673856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D4FDC61D-708E-43A8-9D52-4D4BE345BC3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27A79B16-92D3-4512-8426-DF016F6A95B6}"/>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next ML slice should test probability quality, not just more exposure</a:t>
            </a:r>
          </a:p>
        </p:txBody>
      </p:sp>
      <p:sp>
        <p:nvSpPr>
          <p:cNvPr id="3" name="Rectangle 2">
            <a:extLst>
              <a:ext uri="{FF2B5EF4-FFF2-40B4-BE49-F238E27FC236}">
                <a16:creationId xmlns:a16="http://schemas.microsoft.com/office/drawing/2014/main" id="{5B8CF5C6-4846-482A-87C1-5A74B1B943EF}"/>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176A679C-F9ED-480C-8BC4-3951ABDD882A}"/>
              </a:ext>
            </a:extLst>
          </p:cNvPr>
          <p:cNvSpPr>
            <a:spLocks noGrp="1"/>
          </p:cNvSpPr>
          <p:nvPr/>
        </p:nvSpPr>
        <p:spPr>
          <a:xfrm>
            <a:off x="876300" y="2133600"/>
            <a:ext cx="9334500" cy="91440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ML-P1b showed that threshold policy is real, but it did not close the alpha gap. The forward-return grid made the model participate more, yet still undercaptured 2020 and weakened 2022 defense.</a:t>
            </a:r>
          </a:p>
        </p:txBody>
      </p:sp>
      <p:sp>
        <p:nvSpPr>
          <p:cNvPr id="5" name="Rectangle 4">
            <a:extLst>
              <a:ext uri="{FF2B5EF4-FFF2-40B4-BE49-F238E27FC236}">
                <a16:creationId xmlns:a16="http://schemas.microsoft.com/office/drawing/2014/main" id="{333B502B-AA20-4621-861B-D786B266383F}"/>
              </a:ext>
            </a:extLst>
          </p:cNvPr>
          <p:cNvSpPr>
            <a:spLocks noGrp="1"/>
          </p:cNvSpPr>
          <p:nvPr/>
        </p:nvSpPr>
        <p:spPr>
          <a:xfrm>
            <a:off x="1219200" y="35718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53A9381C-4388-4CB5-8DC4-9ABC53930DF5}"/>
              </a:ext>
            </a:extLst>
          </p:cNvPr>
          <p:cNvSpPr>
            <a:spLocks noGrp="1"/>
          </p:cNvSpPr>
          <p:nvPr/>
        </p:nvSpPr>
        <p:spPr>
          <a:xfrm>
            <a:off x="1485900" y="3562350"/>
            <a:ext cx="6972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the continuous annual replay and policy audit as the required ML comparison surface.</a:t>
            </a:r>
          </a:p>
        </p:txBody>
      </p:sp>
      <p:sp>
        <p:nvSpPr>
          <p:cNvPr id="7" name="Rectangle 6">
            <a:extLst>
              <a:ext uri="{FF2B5EF4-FFF2-40B4-BE49-F238E27FC236}">
                <a16:creationId xmlns:a16="http://schemas.microsoft.com/office/drawing/2014/main" id="{A2BF94D8-E096-4AA3-8891-8EF85E959F3E}"/>
              </a:ext>
            </a:extLst>
          </p:cNvPr>
          <p:cNvSpPr>
            <a:spLocks noGrp="1"/>
          </p:cNvSpPr>
          <p:nvPr/>
        </p:nvSpPr>
        <p:spPr>
          <a:xfrm>
            <a:off x="1219200" y="42386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C4383F03-DCF4-468C-86F5-F9A80B2BE384}"/>
              </a:ext>
            </a:extLst>
          </p:cNvPr>
          <p:cNvSpPr>
            <a:spLocks noGrp="1"/>
          </p:cNvSpPr>
          <p:nvPr/>
        </p:nvSpPr>
        <p:spPr>
          <a:xfrm>
            <a:off x="1485900" y="4229100"/>
            <a:ext cx="6972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Next test should compare label horizons or probability calibration before adding XGBoost.</a:t>
            </a:r>
          </a:p>
        </p:txBody>
      </p:sp>
      <p:sp>
        <p:nvSpPr>
          <p:cNvPr id="9" name="Rectangle 8">
            <a:extLst>
              <a:ext uri="{FF2B5EF4-FFF2-40B4-BE49-F238E27FC236}">
                <a16:creationId xmlns:a16="http://schemas.microsoft.com/office/drawing/2014/main" id="{B0DE304F-4609-4BDE-B556-1C353FC4CA0A}"/>
              </a:ext>
            </a:extLst>
          </p:cNvPr>
          <p:cNvSpPr>
            <a:spLocks noGrp="1"/>
          </p:cNvSpPr>
          <p:nvPr/>
        </p:nvSpPr>
        <p:spPr>
          <a:xfrm>
            <a:off x="1219200" y="49053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18AE34A1-8147-486D-8578-3DD8E994793C}"/>
              </a:ext>
            </a:extLst>
          </p:cNvPr>
          <p:cNvSpPr>
            <a:spLocks noGrp="1"/>
          </p:cNvSpPr>
          <p:nvPr/>
        </p:nvSpPr>
        <p:spPr>
          <a:xfrm>
            <a:off x="1485900" y="4895850"/>
            <a:ext cx="6972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If XGBoost comes next, it should be judged on better ranking and timing, not merely higher exposure.</a:t>
            </a:r>
          </a:p>
        </p:txBody>
      </p:sp>
      <p:sp>
        <p:nvSpPr>
          <p:cNvPr id="11" name="Rectangle 10">
            <a:extLst>
              <a:ext uri="{FF2B5EF4-FFF2-40B4-BE49-F238E27FC236}">
                <a16:creationId xmlns:a16="http://schemas.microsoft.com/office/drawing/2014/main" id="{6020B785-05BC-4618-B4EC-F382BD75B5F9}"/>
              </a:ext>
            </a:extLst>
          </p:cNvPr>
          <p:cNvSpPr>
            <a:spLocks noGrp="1"/>
          </p:cNvSpPr>
          <p:nvPr/>
        </p:nvSpPr>
        <p:spPr>
          <a:xfrm>
            <a:off x="1219200" y="55721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43D42998-8AB1-4708-9B69-18030F2F74B9}"/>
              </a:ext>
            </a:extLst>
          </p:cNvPr>
          <p:cNvSpPr>
            <a:spLocks noGrp="1"/>
          </p:cNvSpPr>
          <p:nvPr/>
        </p:nvSpPr>
        <p:spPr>
          <a:xfrm>
            <a:off x="1485900" y="5562600"/>
            <a:ext cx="69723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Watch the 2022 tradeoff: grid exposure rose to 67.4% while return fell to -48.4%.</a:t>
            </a:r>
          </a:p>
        </p:txBody>
      </p:sp>
    </p:spTree>
    <p:extLst>
      <p:ext uri="{BB962C8B-B14F-4D97-AF65-F5344CB8AC3E}">
        <p14:creationId xmlns:p14="http://schemas.microsoft.com/office/powerpoint/2010/main" val="7025110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B89FA1D-E312-47C0-BC66-BFEF4B3DF0C1}"/>
              </a:ext>
            </a:extLst>
          </p:cNvPr>
          <p:cNvSpPr>
            <a:spLocks noGrp="1"/>
          </p:cNvSpPr>
          <p:nvPr/>
        </p:nvSpPr>
        <p:spPr>
          <a:xfrm>
            <a:off x="685800" y="495300"/>
            <a:ext cx="4762500" cy="419100"/>
          </a:xfrm>
          <a:prstGeom prst="rect">
            <a:avLst/>
          </a:prstGeom>
          <a:noFill/>
          <a:ln w="0">
            <a:noFill/>
            <a:prstDash val="solid"/>
          </a:ln>
        </p:spPr>
        <p:txBody>
          <a:bodyPr/>
          <a:lstStyle/>
          <a:p>
            <a:pPr algn="l">
              <a:defRPr sz="2400" b="1" i="0">
                <a:solidFill>
                  <a:srgbClr val="555555"/>
                </a:solidFill>
              </a:defRPr>
            </a:pPr>
            <a:r>
              <a:rPr sz="2400" b="1" i="0">
                <a:solidFill>
                  <a:srgbClr val="555555"/>
                </a:solidFill>
              </a:rPr>
              <a:t>Transition</a:t>
            </a:r>
          </a:p>
        </p:txBody>
      </p:sp>
      <p:sp>
        <p:nvSpPr>
          <p:cNvPr id="2" name="Rectangle 1">
            <a:extLst>
              <a:ext uri="{FF2B5EF4-FFF2-40B4-BE49-F238E27FC236}">
                <a16:creationId xmlns:a16="http://schemas.microsoft.com/office/drawing/2014/main" id="{E1010325-8B85-4A79-9AB0-612083ED1B6B}"/>
              </a:ext>
            </a:extLst>
          </p:cNvPr>
          <p:cNvSpPr>
            <a:spLocks noGrp="1"/>
          </p:cNvSpPr>
          <p:nvPr/>
        </p:nvSpPr>
        <p:spPr>
          <a:xfrm>
            <a:off x="685800" y="1600200"/>
            <a:ext cx="8953500" cy="876300"/>
          </a:xfrm>
          <a:prstGeom prst="rect">
            <a:avLst/>
          </a:prstGeom>
          <a:noFill/>
          <a:ln w="0">
            <a:noFill/>
            <a:prstDash val="solid"/>
          </a:ln>
        </p:spPr>
        <p:txBody>
          <a:bodyPr/>
          <a:lstStyle/>
          <a:p>
            <a:pPr algn="l">
              <a:defRPr sz="3900" b="1" i="0">
                <a:solidFill>
                  <a:srgbClr val="000000"/>
                </a:solidFill>
              </a:defRPr>
            </a:pPr>
            <a:r>
              <a:rPr sz="3900" b="1" i="0">
                <a:solidFill>
                  <a:srgbClr val="000000"/>
                </a:solidFill>
              </a:rPr>
              <a:t>The next question is whether the label itself is too blunt</a:t>
            </a:r>
          </a:p>
        </p:txBody>
      </p:sp>
      <p:sp>
        <p:nvSpPr>
          <p:cNvPr id="3" name="Rectangle 2">
            <a:extLst>
              <a:ext uri="{FF2B5EF4-FFF2-40B4-BE49-F238E27FC236}">
                <a16:creationId xmlns:a16="http://schemas.microsoft.com/office/drawing/2014/main" id="{4A5A318F-4CF8-4401-A9CD-7DB0D5AEF17D}"/>
              </a:ext>
            </a:extLst>
          </p:cNvPr>
          <p:cNvSpPr>
            <a:spLocks noGrp="1"/>
          </p:cNvSpPr>
          <p:nvPr/>
        </p:nvSpPr>
        <p:spPr>
          <a:xfrm>
            <a:off x="723900" y="3105150"/>
            <a:ext cx="57150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2DC9F010-D033-48A6-BB1D-E2F8A1560BEF}"/>
              </a:ext>
            </a:extLst>
          </p:cNvPr>
          <p:cNvSpPr>
            <a:spLocks noGrp="1"/>
          </p:cNvSpPr>
          <p:nvPr/>
        </p:nvSpPr>
        <p:spPr>
          <a:xfrm>
            <a:off x="723900" y="3467100"/>
            <a:ext cx="7524750" cy="106680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ML-P1c compares h1, h3, and h5 next-open labels while keeping the GLM, feature set, TRAIN-only policy selection, and continuous annual replay surface fixed.</a:t>
            </a:r>
          </a:p>
        </p:txBody>
      </p:sp>
      <p:sp>
        <p:nvSpPr>
          <p:cNvPr id="5" name="Rectangle 4">
            <a:extLst>
              <a:ext uri="{FF2B5EF4-FFF2-40B4-BE49-F238E27FC236}">
                <a16:creationId xmlns:a16="http://schemas.microsoft.com/office/drawing/2014/main" id="{17F09835-EB90-426E-A097-5AFAC21A410D}"/>
              </a:ext>
            </a:extLst>
          </p:cNvPr>
          <p:cNvSpPr>
            <a:spLocks noGrp="1"/>
          </p:cNvSpPr>
          <p:nvPr/>
        </p:nvSpPr>
        <p:spPr>
          <a:xfrm>
            <a:off x="8801100" y="0"/>
            <a:ext cx="3390900" cy="6858000"/>
          </a:xfrm>
          <a:prstGeom prst="rect">
            <a:avLst/>
          </a:prstGeom>
          <a:solidFill>
            <a:srgbClr val="EDEDED"/>
          </a:solidFill>
          <a:ln w="0">
            <a:noFill/>
            <a:prstDash val="solid"/>
          </a:ln>
        </p:spPr>
        <p:txBody>
          <a:bodyPr/>
          <a:lstStyle/>
          <a:p>
            <a:endParaRPr lang="en-US"/>
          </a:p>
        </p:txBody>
      </p:sp>
      <p:sp>
        <p:nvSpPr>
          <p:cNvPr id="6" name="Rectangle 5">
            <a:extLst>
              <a:ext uri="{FF2B5EF4-FFF2-40B4-BE49-F238E27FC236}">
                <a16:creationId xmlns:a16="http://schemas.microsoft.com/office/drawing/2014/main" id="{9A206316-AEC6-4B57-B223-2022C4593998}"/>
              </a:ext>
            </a:extLst>
          </p:cNvPr>
          <p:cNvSpPr>
            <a:spLocks noGrp="1"/>
          </p:cNvSpPr>
          <p:nvPr/>
        </p:nvSpPr>
        <p:spPr>
          <a:xfrm>
            <a:off x="9353550" y="2343150"/>
            <a:ext cx="2190750" cy="438150"/>
          </a:xfrm>
          <a:prstGeom prst="rect">
            <a:avLst/>
          </a:prstGeom>
          <a:noFill/>
          <a:ln w="0">
            <a:noFill/>
            <a:prstDash val="solid"/>
          </a:ln>
        </p:spPr>
        <p:txBody>
          <a:bodyPr/>
          <a:lstStyle/>
          <a:p>
            <a:pPr algn="ctr">
              <a:defRPr sz="3150" b="1" i="0">
                <a:solidFill>
                  <a:srgbClr val="000000"/>
                </a:solidFill>
              </a:defRPr>
            </a:pPr>
            <a:r>
              <a:rPr sz="3150" b="1" i="0">
                <a:solidFill>
                  <a:srgbClr val="000000"/>
                </a:solidFill>
              </a:rPr>
              <a:t>ML-P1c</a:t>
            </a:r>
          </a:p>
        </p:txBody>
      </p:sp>
      <p:sp>
        <p:nvSpPr>
          <p:cNvPr id="7" name="Rectangle 6">
            <a:extLst>
              <a:ext uri="{FF2B5EF4-FFF2-40B4-BE49-F238E27FC236}">
                <a16:creationId xmlns:a16="http://schemas.microsoft.com/office/drawing/2014/main" id="{618E61C2-72AF-4776-8D9B-6FF76D0765CB}"/>
              </a:ext>
            </a:extLst>
          </p:cNvPr>
          <p:cNvSpPr>
            <a:spLocks noGrp="1"/>
          </p:cNvSpPr>
          <p:nvPr/>
        </p:nvSpPr>
        <p:spPr>
          <a:xfrm>
            <a:off x="9067800" y="3067050"/>
            <a:ext cx="2762250" cy="400050"/>
          </a:xfrm>
          <a:prstGeom prst="rect">
            <a:avLst/>
          </a:prstGeom>
          <a:noFill/>
          <a:ln w="0">
            <a:noFill/>
            <a:prstDash val="solid"/>
          </a:ln>
        </p:spPr>
        <p:txBody>
          <a:bodyPr/>
          <a:lstStyle/>
          <a:p>
            <a:pPr algn="ctr">
              <a:defRPr sz="1875" b="0" i="0">
                <a:solidFill>
                  <a:srgbClr val="222222"/>
                </a:solidFill>
              </a:defRPr>
            </a:pPr>
            <a:r>
              <a:rPr sz="1875" b="0" i="0">
                <a:solidFill>
                  <a:srgbClr val="222222"/>
                </a:solidFill>
              </a:rPr>
              <a:t>Label horizon</a:t>
            </a:r>
          </a:p>
        </p:txBody>
      </p:sp>
    </p:spTree>
    <p:extLst>
      <p:ext uri="{BB962C8B-B14F-4D97-AF65-F5344CB8AC3E}">
        <p14:creationId xmlns:p14="http://schemas.microsoft.com/office/powerpoint/2010/main" val="1043292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0961668D-55BB-4466-8314-6E27A0359FD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1DFA62F2-6067-49FC-8C26-264A3B078ACD}"/>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one-day label improved participation, but not enough</a:t>
            </a:r>
          </a:p>
        </p:txBody>
      </p:sp>
      <p:sp>
        <p:nvSpPr>
          <p:cNvPr id="3" name="Rectangle 2">
            <a:extLst>
              <a:ext uri="{FF2B5EF4-FFF2-40B4-BE49-F238E27FC236}">
                <a16:creationId xmlns:a16="http://schemas.microsoft.com/office/drawing/2014/main" id="{B0C29841-A8AA-4590-9E33-60008FE3788F}"/>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6E4C1172-7A60-4FE9-BC08-8AF06ECF69AE}"/>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34D5A7FA-A07A-43FA-8F0D-2DACDFE13ACB}"/>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GUARDRAILS</a:t>
            </a:r>
          </a:p>
        </p:txBody>
      </p:sp>
      <p:sp>
        <p:nvSpPr>
          <p:cNvPr id="6" name="Rectangle 5">
            <a:extLst>
              <a:ext uri="{FF2B5EF4-FFF2-40B4-BE49-F238E27FC236}">
                <a16:creationId xmlns:a16="http://schemas.microsoft.com/office/drawing/2014/main" id="{998DD407-25C6-4C50-A7DC-89D729057505}"/>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7" name="Rectangle 6">
            <a:extLst>
              <a:ext uri="{FF2B5EF4-FFF2-40B4-BE49-F238E27FC236}">
                <a16:creationId xmlns:a16="http://schemas.microsoft.com/office/drawing/2014/main" id="{A760EBC1-25D6-4D5F-90FE-BA580EC3A42A}"/>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Fit, labels, and policy selection stay inside TRAIN.</a:t>
            </a:r>
          </a:p>
        </p:txBody>
      </p:sp>
      <p:sp>
        <p:nvSpPr>
          <p:cNvPr id="8" name="Rectangle 7">
            <a:extLst>
              <a:ext uri="{FF2B5EF4-FFF2-40B4-BE49-F238E27FC236}">
                <a16:creationId xmlns:a16="http://schemas.microsoft.com/office/drawing/2014/main" id="{74C86326-61AF-44E7-A081-6B38182A512A}"/>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8D306505-ECB9-40BA-B701-59486D407F37}"/>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H1 RETURN</a:t>
            </a:r>
          </a:p>
        </p:txBody>
      </p:sp>
      <p:sp>
        <p:nvSpPr>
          <p:cNvPr id="10" name="Rectangle 9">
            <a:extLst>
              <a:ext uri="{FF2B5EF4-FFF2-40B4-BE49-F238E27FC236}">
                <a16:creationId xmlns:a16="http://schemas.microsoft.com/office/drawing/2014/main" id="{5E169645-2DD4-4355-8BA4-19EECB9754B4}"/>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54.0%</a:t>
            </a:r>
          </a:p>
        </p:txBody>
      </p:sp>
      <p:sp>
        <p:nvSpPr>
          <p:cNvPr id="11" name="Rectangle 10">
            <a:extLst>
              <a:ext uri="{FF2B5EF4-FFF2-40B4-BE49-F238E27FC236}">
                <a16:creationId xmlns:a16="http://schemas.microsoft.com/office/drawing/2014/main" id="{AEB27A22-4983-4139-91BA-6DD83C63489F}"/>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Basket hold was 225.2%.</a:t>
            </a:r>
          </a:p>
        </p:txBody>
      </p:sp>
      <p:sp>
        <p:nvSpPr>
          <p:cNvPr id="12" name="Rectangle 11">
            <a:extLst>
              <a:ext uri="{FF2B5EF4-FFF2-40B4-BE49-F238E27FC236}">
                <a16:creationId xmlns:a16="http://schemas.microsoft.com/office/drawing/2014/main" id="{6E5D121F-2B3B-42F2-9DB6-A349C11F8421}"/>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23477BD5-ACD3-4C69-A1D2-508002A5995F}"/>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H3 RETURN</a:t>
            </a:r>
          </a:p>
        </p:txBody>
      </p:sp>
      <p:sp>
        <p:nvSpPr>
          <p:cNvPr id="14" name="Rectangle 13">
            <a:extLst>
              <a:ext uri="{FF2B5EF4-FFF2-40B4-BE49-F238E27FC236}">
                <a16:creationId xmlns:a16="http://schemas.microsoft.com/office/drawing/2014/main" id="{CBE953DF-71DA-4EE0-B9B2-80213D937DD9}"/>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30.0%</a:t>
            </a:r>
          </a:p>
        </p:txBody>
      </p:sp>
      <p:sp>
        <p:nvSpPr>
          <p:cNvPr id="15" name="Rectangle 14">
            <a:extLst>
              <a:ext uri="{FF2B5EF4-FFF2-40B4-BE49-F238E27FC236}">
                <a16:creationId xmlns:a16="http://schemas.microsoft.com/office/drawing/2014/main" id="{550E3C42-830B-4C68-8817-4BA006DA8BEB}"/>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Same policy surface returned 30.0%.</a:t>
            </a:r>
          </a:p>
        </p:txBody>
      </p:sp>
      <p:sp>
        <p:nvSpPr>
          <p:cNvPr id="16" name="Rectangle 15">
            <a:extLst>
              <a:ext uri="{FF2B5EF4-FFF2-40B4-BE49-F238E27FC236}">
                <a16:creationId xmlns:a16="http://schemas.microsoft.com/office/drawing/2014/main" id="{24D9E4F0-E858-4CE4-87E5-E2918E65C664}"/>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D1D640DA-257F-4C16-9CA6-8B193501FD52}"/>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H5 RETURN</a:t>
            </a:r>
          </a:p>
        </p:txBody>
      </p:sp>
      <p:sp>
        <p:nvSpPr>
          <p:cNvPr id="18" name="Rectangle 17">
            <a:extLst>
              <a:ext uri="{FF2B5EF4-FFF2-40B4-BE49-F238E27FC236}">
                <a16:creationId xmlns:a16="http://schemas.microsoft.com/office/drawing/2014/main" id="{E83AEA62-0E5F-4633-958F-6169D7726A71}"/>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9.6%</a:t>
            </a:r>
          </a:p>
        </p:txBody>
      </p:sp>
      <p:sp>
        <p:nvSpPr>
          <p:cNvPr id="19" name="Rectangle 18">
            <a:extLst>
              <a:ext uri="{FF2B5EF4-FFF2-40B4-BE49-F238E27FC236}">
                <a16:creationId xmlns:a16="http://schemas.microsoft.com/office/drawing/2014/main" id="{3BED89A2-93DD-443D-BEC0-D830AAD13B6A}"/>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Longer label fell back to 9.6%.</a:t>
            </a:r>
          </a:p>
        </p:txBody>
      </p:sp>
      <p:sp>
        <p:nvSpPr>
          <p:cNvPr id="20" name="Rectangle 19">
            <a:extLst>
              <a:ext uri="{FF2B5EF4-FFF2-40B4-BE49-F238E27FC236}">
                <a16:creationId xmlns:a16="http://schemas.microsoft.com/office/drawing/2014/main" id="{20044C3A-32BC-41E5-8206-7D22054C05A5}"/>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h1 is the best GLM horizon in the 2020 rally, lifting the TRAIN-grid lane to 54.0%. That is real improvement, but it still leaves most of the basket rally uncaptured.</a:t>
            </a:r>
          </a:p>
        </p:txBody>
      </p:sp>
    </p:spTree>
    <p:extLst>
      <p:ext uri="{BB962C8B-B14F-4D97-AF65-F5344CB8AC3E}">
        <p14:creationId xmlns:p14="http://schemas.microsoft.com/office/powerpoint/2010/main" val="17643508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2740F9-F841-465A-BCAB-8DE922030928}"/>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6E65FF87-0D0D-4595-B81D-E3DB46435B3D}"/>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equity curves show why h1 is useful but not sufficient</a:t>
            </a:r>
          </a:p>
        </p:txBody>
      </p:sp>
      <p:sp>
        <p:nvSpPr>
          <p:cNvPr id="3" name="Rectangle 2">
            <a:extLst>
              <a:ext uri="{FF2B5EF4-FFF2-40B4-BE49-F238E27FC236}">
                <a16:creationId xmlns:a16="http://schemas.microsoft.com/office/drawing/2014/main" id="{9FEFD130-9782-4781-A18F-AE0604938448}"/>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835819" y="2000250"/>
            <a:ext cx="6900863" cy="3943350"/>
          </a:xfrm>
          <a:prstGeom prst="rect">
            <a:avLst/>
          </a:prstGeom>
        </p:spPr>
      </p:pic>
      <p:sp>
        <p:nvSpPr>
          <p:cNvPr id="5" name="Rectangle 4">
            <a:extLst>
              <a:ext uri="{FF2B5EF4-FFF2-40B4-BE49-F238E27FC236}">
                <a16:creationId xmlns:a16="http://schemas.microsoft.com/office/drawing/2014/main" id="{68873DE4-BA6C-4040-A903-C3A5FCBDFEF9}"/>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changed</a:t>
            </a:r>
          </a:p>
        </p:txBody>
      </p:sp>
      <p:sp>
        <p:nvSpPr>
          <p:cNvPr id="6" name="Rectangle 5">
            <a:extLst>
              <a:ext uri="{FF2B5EF4-FFF2-40B4-BE49-F238E27FC236}">
                <a16:creationId xmlns:a16="http://schemas.microsoft.com/office/drawing/2014/main" id="{34986A25-EE9E-4512-88CB-8ADAA087B89B}"/>
              </a:ext>
            </a:extLst>
          </p:cNvPr>
          <p:cNvSpPr>
            <a:spLocks noGrp="1"/>
          </p:cNvSpPr>
          <p:nvPr/>
        </p:nvSpPr>
        <p:spPr>
          <a:xfrm>
            <a:off x="8477250" y="2705100"/>
            <a:ext cx="2705100" cy="2381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h1 had the strongest 2020 participation at 43.0% exposure and 54.0% return. In 2022, no horizon solved defense: h1 returned -49.7%, h3 -48.4%, and h5 -42.4%.</a:t>
            </a:r>
          </a:p>
        </p:txBody>
      </p:sp>
    </p:spTree>
    <p:extLst>
      <p:ext uri="{BB962C8B-B14F-4D97-AF65-F5344CB8AC3E}">
        <p14:creationId xmlns:p14="http://schemas.microsoft.com/office/powerpoint/2010/main" val="1852329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3D1E6A18-9366-402A-9E8C-301A34F3BBD6}"/>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E9F88289-22AE-4003-A1F6-61B175928439}"/>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ranking audit argues against more GLM-only tinkering</a:t>
            </a:r>
          </a:p>
        </p:txBody>
      </p:sp>
      <p:sp>
        <p:nvSpPr>
          <p:cNvPr id="3" name="Rectangle 2">
            <a:extLst>
              <a:ext uri="{FF2B5EF4-FFF2-40B4-BE49-F238E27FC236}">
                <a16:creationId xmlns:a16="http://schemas.microsoft.com/office/drawing/2014/main" id="{0D4A9D5D-A673-4F64-9584-EA28ACB69DC6}"/>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04850" y="2214196"/>
            <a:ext cx="5715000" cy="3077308"/>
          </a:xfrm>
          <a:prstGeom prst="rect">
            <a:avLst/>
          </a:prstGeom>
        </p:spPr>
      </p:pic>
      <p:sp>
        <p:nvSpPr>
          <p:cNvPr id="5" name="Rectangle 4">
            <a:extLst>
              <a:ext uri="{FF2B5EF4-FFF2-40B4-BE49-F238E27FC236}">
                <a16:creationId xmlns:a16="http://schemas.microsoft.com/office/drawing/2014/main" id="{12059506-8E5A-4C6E-BFAB-3774B9D8E9CC}"/>
              </a:ext>
            </a:extLst>
          </p:cNvPr>
          <p:cNvSpPr>
            <a:spLocks noGrp="1"/>
          </p:cNvSpPr>
          <p:nvPr/>
        </p:nvSpPr>
        <p:spPr>
          <a:xfrm>
            <a:off x="7105650" y="2133600"/>
            <a:ext cx="2857500" cy="32385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it means</a:t>
            </a:r>
          </a:p>
        </p:txBody>
      </p:sp>
      <p:sp>
        <p:nvSpPr>
          <p:cNvPr id="6" name="Rectangle 5">
            <a:extLst>
              <a:ext uri="{FF2B5EF4-FFF2-40B4-BE49-F238E27FC236}">
                <a16:creationId xmlns:a16="http://schemas.microsoft.com/office/drawing/2014/main" id="{CE849D8E-D4E2-45E6-8545-04FBF6518546}"/>
              </a:ext>
            </a:extLst>
          </p:cNvPr>
          <p:cNvSpPr>
            <a:spLocks noGrp="1"/>
          </p:cNvSpPr>
          <p:nvPr/>
        </p:nvSpPr>
        <p:spPr>
          <a:xfrm>
            <a:off x="7105650" y="2743200"/>
            <a:ext cx="3143250" cy="2000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best 2020 AUC was h1 at 0.520. h3 was 0.485 and h5 was 0.427. That is weak ranking, not just a threshold issue.</a:t>
            </a:r>
          </a:p>
        </p:txBody>
      </p:sp>
    </p:spTree>
    <p:extLst>
      <p:ext uri="{BB962C8B-B14F-4D97-AF65-F5344CB8AC3E}">
        <p14:creationId xmlns:p14="http://schemas.microsoft.com/office/powerpoint/2010/main" val="36906064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5B5762A-9711-46D4-800D-A44198A34E7E}"/>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A31ABE00-E78D-489F-916D-E1B953891AA2}"/>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This is a clean gate into XGBoost rather than an excuse to keep circling</a:t>
            </a:r>
          </a:p>
        </p:txBody>
      </p:sp>
      <p:sp>
        <p:nvSpPr>
          <p:cNvPr id="3" name="Rectangle 2">
            <a:extLst>
              <a:ext uri="{FF2B5EF4-FFF2-40B4-BE49-F238E27FC236}">
                <a16:creationId xmlns:a16="http://schemas.microsoft.com/office/drawing/2014/main" id="{997019E9-CC0B-4699-B9B6-7B098F2C7717}"/>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3EB8185C-85F4-4F06-B862-848F6F5E2ABB}"/>
              </a:ext>
            </a:extLst>
          </p:cNvPr>
          <p:cNvSpPr>
            <a:spLocks noGrp="1"/>
          </p:cNvSpPr>
          <p:nvPr/>
        </p:nvSpPr>
        <p:spPr>
          <a:xfrm>
            <a:off x="876300" y="2133600"/>
            <a:ext cx="9334500" cy="91440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The GLM path has now answered the basic plumbing questions: features and labels are leakage-safe, replay works, thresholds matter, and h1 is the strongest horizon so far. The remaining obstacle is probability ranking quality.</a:t>
            </a:r>
          </a:p>
        </p:txBody>
      </p:sp>
      <p:sp>
        <p:nvSpPr>
          <p:cNvPr id="5" name="Rectangle 4">
            <a:extLst>
              <a:ext uri="{FF2B5EF4-FFF2-40B4-BE49-F238E27FC236}">
                <a16:creationId xmlns:a16="http://schemas.microsoft.com/office/drawing/2014/main" id="{9B8745D7-9CD9-4525-A54D-D5BA33688041}"/>
              </a:ext>
            </a:extLst>
          </p:cNvPr>
          <p:cNvSpPr>
            <a:spLocks noGrp="1"/>
          </p:cNvSpPr>
          <p:nvPr/>
        </p:nvSpPr>
        <p:spPr>
          <a:xfrm>
            <a:off x="1219200" y="35718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07165014-8A29-4854-A1C4-6C63CF6020ED}"/>
              </a:ext>
            </a:extLst>
          </p:cNvPr>
          <p:cNvSpPr>
            <a:spLocks noGrp="1"/>
          </p:cNvSpPr>
          <p:nvPr/>
        </p:nvSpPr>
        <p:spPr>
          <a:xfrm>
            <a:off x="1485900" y="35623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h1 as the first XGBoost challenger label unless a calibration-only check is explicitly useful.</a:t>
            </a:r>
          </a:p>
        </p:txBody>
      </p:sp>
      <p:sp>
        <p:nvSpPr>
          <p:cNvPr id="7" name="Rectangle 6">
            <a:extLst>
              <a:ext uri="{FF2B5EF4-FFF2-40B4-BE49-F238E27FC236}">
                <a16:creationId xmlns:a16="http://schemas.microsoft.com/office/drawing/2014/main" id="{924868D5-719D-4DB6-A669-C8BD65B0E466}"/>
              </a:ext>
            </a:extLst>
          </p:cNvPr>
          <p:cNvSpPr>
            <a:spLocks noGrp="1"/>
          </p:cNvSpPr>
          <p:nvPr/>
        </p:nvSpPr>
        <p:spPr>
          <a:xfrm>
            <a:off x="1219200" y="42386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6D9DA783-0D4E-41E6-88DB-67EDEDEBF8B9}"/>
              </a:ext>
            </a:extLst>
          </p:cNvPr>
          <p:cNvSpPr>
            <a:spLocks noGrp="1"/>
          </p:cNvSpPr>
          <p:nvPr/>
        </p:nvSpPr>
        <p:spPr>
          <a:xfrm>
            <a:off x="1485900" y="42291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Do not run a broad GLM threshold search; P1b already showed the limit of exposure tuning.</a:t>
            </a:r>
          </a:p>
        </p:txBody>
      </p:sp>
      <p:sp>
        <p:nvSpPr>
          <p:cNvPr id="9" name="Rectangle 8">
            <a:extLst>
              <a:ext uri="{FF2B5EF4-FFF2-40B4-BE49-F238E27FC236}">
                <a16:creationId xmlns:a16="http://schemas.microsoft.com/office/drawing/2014/main" id="{CF58156E-79C9-4BFE-9773-DE1FC7895828}"/>
              </a:ext>
            </a:extLst>
          </p:cNvPr>
          <p:cNvSpPr>
            <a:spLocks noGrp="1"/>
          </p:cNvSpPr>
          <p:nvPr/>
        </p:nvSpPr>
        <p:spPr>
          <a:xfrm>
            <a:off x="1219200" y="49053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9E16490B-5FA6-411A-AAEE-8BC52BD93693}"/>
              </a:ext>
            </a:extLst>
          </p:cNvPr>
          <p:cNvSpPr>
            <a:spLocks noGrp="1"/>
          </p:cNvSpPr>
          <p:nvPr/>
        </p:nvSpPr>
        <p:spPr>
          <a:xfrm>
            <a:off x="1485900" y="48958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Judge XGBoost on ranking, timing, replay return versus basket hold, drawdown, and probability tapes.</a:t>
            </a:r>
          </a:p>
        </p:txBody>
      </p:sp>
      <p:sp>
        <p:nvSpPr>
          <p:cNvPr id="11" name="Rectangle 10">
            <a:extLst>
              <a:ext uri="{FF2B5EF4-FFF2-40B4-BE49-F238E27FC236}">
                <a16:creationId xmlns:a16="http://schemas.microsoft.com/office/drawing/2014/main" id="{F8A60319-7440-4231-BC29-DCE324B33E2B}"/>
              </a:ext>
            </a:extLst>
          </p:cNvPr>
          <p:cNvSpPr>
            <a:spLocks noGrp="1"/>
          </p:cNvSpPr>
          <p:nvPr/>
        </p:nvSpPr>
        <p:spPr>
          <a:xfrm>
            <a:off x="1219200" y="55721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E80FAC9F-8D7C-41CA-9223-20C3DCCA232F}"/>
              </a:ext>
            </a:extLst>
          </p:cNvPr>
          <p:cNvSpPr>
            <a:spLocks noGrp="1"/>
          </p:cNvSpPr>
          <p:nvPr/>
        </p:nvSpPr>
        <p:spPr>
          <a:xfrm>
            <a:off x="1485900" y="55626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If XGBoost cannot improve ranking, backtrack to feature design rather than deeper model knobs.</a:t>
            </a:r>
          </a:p>
        </p:txBody>
      </p:sp>
    </p:spTree>
    <p:extLst>
      <p:ext uri="{BB962C8B-B14F-4D97-AF65-F5344CB8AC3E}">
        <p14:creationId xmlns:p14="http://schemas.microsoft.com/office/powerpoint/2010/main" val="14785789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D38DC36-7E78-4865-967D-6AEAF6C8330F}"/>
              </a:ext>
            </a:extLst>
          </p:cNvPr>
          <p:cNvSpPr>
            <a:spLocks noGrp="1"/>
          </p:cNvSpPr>
          <p:nvPr/>
        </p:nvSpPr>
        <p:spPr>
          <a:xfrm>
            <a:off x="685800" y="495300"/>
            <a:ext cx="4762500" cy="419100"/>
          </a:xfrm>
          <a:prstGeom prst="rect">
            <a:avLst/>
          </a:prstGeom>
          <a:noFill/>
          <a:ln w="0">
            <a:noFill/>
            <a:prstDash val="solid"/>
          </a:ln>
        </p:spPr>
        <p:txBody>
          <a:bodyPr/>
          <a:lstStyle/>
          <a:p>
            <a:pPr algn="l">
              <a:defRPr sz="2400" b="1" i="0">
                <a:solidFill>
                  <a:srgbClr val="555555"/>
                </a:solidFill>
              </a:defRPr>
            </a:pPr>
            <a:r>
              <a:rPr sz="2400" b="1" i="0">
                <a:solidFill>
                  <a:srgbClr val="555555"/>
                </a:solidFill>
              </a:rPr>
              <a:t>Transition</a:t>
            </a:r>
          </a:p>
        </p:txBody>
      </p:sp>
      <p:sp>
        <p:nvSpPr>
          <p:cNvPr id="2" name="Rectangle 1">
            <a:extLst>
              <a:ext uri="{FF2B5EF4-FFF2-40B4-BE49-F238E27FC236}">
                <a16:creationId xmlns:a16="http://schemas.microsoft.com/office/drawing/2014/main" id="{7E856103-1F46-4D57-9FEE-B6307D9CF461}"/>
              </a:ext>
            </a:extLst>
          </p:cNvPr>
          <p:cNvSpPr>
            <a:spLocks noGrp="1"/>
          </p:cNvSpPr>
          <p:nvPr/>
        </p:nvSpPr>
        <p:spPr>
          <a:xfrm>
            <a:off x="685800" y="1600200"/>
            <a:ext cx="7810500" cy="914400"/>
          </a:xfrm>
          <a:prstGeom prst="rect">
            <a:avLst/>
          </a:prstGeom>
          <a:noFill/>
          <a:ln w="0">
            <a:noFill/>
            <a:prstDash val="solid"/>
          </a:ln>
        </p:spPr>
        <p:txBody>
          <a:bodyPr/>
          <a:lstStyle/>
          <a:p>
            <a:pPr algn="l">
              <a:defRPr sz="3600" b="1" i="0">
                <a:solidFill>
                  <a:srgbClr val="000000"/>
                </a:solidFill>
              </a:defRPr>
            </a:pPr>
            <a:r>
              <a:rPr sz="3600" b="1" i="0">
                <a:solidFill>
                  <a:srgbClr val="000000"/>
                </a:solidFill>
              </a:rPr>
              <a:t>The first nonlinear challenger tests XGBoost</a:t>
            </a:r>
          </a:p>
        </p:txBody>
      </p:sp>
      <p:sp>
        <p:nvSpPr>
          <p:cNvPr id="3" name="Rectangle 2">
            <a:extLst>
              <a:ext uri="{FF2B5EF4-FFF2-40B4-BE49-F238E27FC236}">
                <a16:creationId xmlns:a16="http://schemas.microsoft.com/office/drawing/2014/main" id="{107B7E70-1FC6-44DB-859D-234FCE476548}"/>
              </a:ext>
            </a:extLst>
          </p:cNvPr>
          <p:cNvSpPr>
            <a:spLocks noGrp="1"/>
          </p:cNvSpPr>
          <p:nvPr/>
        </p:nvSpPr>
        <p:spPr>
          <a:xfrm>
            <a:off x="723900" y="3105150"/>
            <a:ext cx="57150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14B498C8-7220-4258-96AB-7980C83DD0EE}"/>
              </a:ext>
            </a:extLst>
          </p:cNvPr>
          <p:cNvSpPr>
            <a:spLocks noGrp="1"/>
          </p:cNvSpPr>
          <p:nvPr/>
        </p:nvSpPr>
        <p:spPr>
          <a:xfrm>
            <a:off x="723900" y="3467100"/>
            <a:ext cx="7524750" cy="106680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ML-P2 keeps the h1 label, feature table, TRAIN-only threshold selection, and annual replay fixed. Only the model class changes: GLM control versus conservative XGBoost.</a:t>
            </a:r>
          </a:p>
        </p:txBody>
      </p:sp>
      <p:sp>
        <p:nvSpPr>
          <p:cNvPr id="5" name="Rectangle 4">
            <a:extLst>
              <a:ext uri="{FF2B5EF4-FFF2-40B4-BE49-F238E27FC236}">
                <a16:creationId xmlns:a16="http://schemas.microsoft.com/office/drawing/2014/main" id="{B2C88F63-849D-425C-941F-79B486FB681A}"/>
              </a:ext>
            </a:extLst>
          </p:cNvPr>
          <p:cNvSpPr>
            <a:spLocks noGrp="1"/>
          </p:cNvSpPr>
          <p:nvPr/>
        </p:nvSpPr>
        <p:spPr>
          <a:xfrm>
            <a:off x="8801100" y="0"/>
            <a:ext cx="3390900" cy="6858000"/>
          </a:xfrm>
          <a:prstGeom prst="rect">
            <a:avLst/>
          </a:prstGeom>
          <a:solidFill>
            <a:srgbClr val="EDEDED"/>
          </a:solidFill>
          <a:ln w="0">
            <a:noFill/>
            <a:prstDash val="solid"/>
          </a:ln>
        </p:spPr>
        <p:txBody>
          <a:bodyPr/>
          <a:lstStyle/>
          <a:p>
            <a:endParaRPr lang="en-US"/>
          </a:p>
        </p:txBody>
      </p:sp>
      <p:sp>
        <p:nvSpPr>
          <p:cNvPr id="6" name="Rectangle 5">
            <a:extLst>
              <a:ext uri="{FF2B5EF4-FFF2-40B4-BE49-F238E27FC236}">
                <a16:creationId xmlns:a16="http://schemas.microsoft.com/office/drawing/2014/main" id="{AB6CD5C1-F06B-4D9E-9197-08F75D244E74}"/>
              </a:ext>
            </a:extLst>
          </p:cNvPr>
          <p:cNvSpPr>
            <a:spLocks noGrp="1"/>
          </p:cNvSpPr>
          <p:nvPr/>
        </p:nvSpPr>
        <p:spPr>
          <a:xfrm>
            <a:off x="9353550" y="2343150"/>
            <a:ext cx="2190750" cy="438150"/>
          </a:xfrm>
          <a:prstGeom prst="rect">
            <a:avLst/>
          </a:prstGeom>
          <a:noFill/>
          <a:ln w="0">
            <a:noFill/>
            <a:prstDash val="solid"/>
          </a:ln>
        </p:spPr>
        <p:txBody>
          <a:bodyPr/>
          <a:lstStyle/>
          <a:p>
            <a:pPr algn="ctr">
              <a:defRPr sz="3150" b="1" i="0">
                <a:solidFill>
                  <a:srgbClr val="000000"/>
                </a:solidFill>
              </a:defRPr>
            </a:pPr>
            <a:r>
              <a:rPr sz="3150" b="1" i="0">
                <a:solidFill>
                  <a:srgbClr val="000000"/>
                </a:solidFill>
              </a:rPr>
              <a:t>ML-P2</a:t>
            </a:r>
          </a:p>
        </p:txBody>
      </p:sp>
      <p:sp>
        <p:nvSpPr>
          <p:cNvPr id="7" name="Rectangle 6">
            <a:extLst>
              <a:ext uri="{FF2B5EF4-FFF2-40B4-BE49-F238E27FC236}">
                <a16:creationId xmlns:a16="http://schemas.microsoft.com/office/drawing/2014/main" id="{DB9D9B07-20EF-469E-B2D7-D87A411BB8DA}"/>
              </a:ext>
            </a:extLst>
          </p:cNvPr>
          <p:cNvSpPr>
            <a:spLocks noGrp="1"/>
          </p:cNvSpPr>
          <p:nvPr/>
        </p:nvSpPr>
        <p:spPr>
          <a:xfrm>
            <a:off x="8991600" y="3067050"/>
            <a:ext cx="2914650" cy="400050"/>
          </a:xfrm>
          <a:prstGeom prst="rect">
            <a:avLst/>
          </a:prstGeom>
          <a:noFill/>
          <a:ln w="0">
            <a:noFill/>
            <a:prstDash val="solid"/>
          </a:ln>
        </p:spPr>
        <p:txBody>
          <a:bodyPr/>
          <a:lstStyle/>
          <a:p>
            <a:pPr algn="ctr">
              <a:defRPr sz="1875" b="0" i="0">
                <a:solidFill>
                  <a:srgbClr val="222222"/>
                </a:solidFill>
              </a:defRPr>
            </a:pPr>
            <a:r>
              <a:rPr sz="1875" b="0" i="0">
                <a:solidFill>
                  <a:srgbClr val="222222"/>
                </a:solidFill>
              </a:rPr>
              <a:t>XGBoost challenger</a:t>
            </a:r>
          </a:p>
        </p:txBody>
      </p:sp>
    </p:spTree>
    <p:extLst>
      <p:ext uri="{BB962C8B-B14F-4D97-AF65-F5344CB8AC3E}">
        <p14:creationId xmlns:p14="http://schemas.microsoft.com/office/powerpoint/2010/main" val="180507082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4E79534C-1ED0-4139-B069-B1839A4BD317}"/>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2761B723-40FA-4E25-9065-257DC63C6DB4}"/>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GLM is a straight-line lens; XGBoost is a conditional lens</a:t>
            </a:r>
          </a:p>
        </p:txBody>
      </p:sp>
      <p:sp>
        <p:nvSpPr>
          <p:cNvPr id="3" name="Rectangle 2">
            <a:extLst>
              <a:ext uri="{FF2B5EF4-FFF2-40B4-BE49-F238E27FC236}">
                <a16:creationId xmlns:a16="http://schemas.microsoft.com/office/drawing/2014/main" id="{C9A49A93-CB3E-468C-B77F-570D8402D418}"/>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5BE1603D-5221-4F4E-BC44-40F70B015AF8}"/>
              </a:ext>
            </a:extLst>
          </p:cNvPr>
          <p:cNvSpPr>
            <a:spLocks noGrp="1"/>
          </p:cNvSpPr>
          <p:nvPr/>
        </p:nvSpPr>
        <p:spPr>
          <a:xfrm>
            <a:off x="876300" y="2114550"/>
            <a:ext cx="4476750" cy="952500"/>
          </a:xfrm>
          <a:prstGeom prst="rect">
            <a:avLst/>
          </a:prstGeom>
          <a:noFill/>
          <a:ln w="0">
            <a:noFill/>
            <a:prstDash val="solid"/>
          </a:ln>
        </p:spPr>
        <p:txBody>
          <a:bodyPr/>
          <a:lstStyle/>
          <a:p>
            <a:pPr algn="l">
              <a:defRPr sz="1875" b="1" i="0">
                <a:solidFill>
                  <a:srgbClr val="000000"/>
                </a:solidFill>
              </a:defRPr>
            </a:pPr>
            <a:r>
              <a:rPr sz="1875" b="1" i="0">
                <a:solidFill>
                  <a:srgbClr val="000000"/>
                </a:solidFill>
              </a:rPr>
              <a:t>The GLM asks whether a mostly linear combination of today’s features predicts a favorable next-open h1 outcome.</a:t>
            </a:r>
          </a:p>
        </p:txBody>
      </p:sp>
      <p:sp>
        <p:nvSpPr>
          <p:cNvPr id="5" name="Rectangle 4">
            <a:extLst>
              <a:ext uri="{FF2B5EF4-FFF2-40B4-BE49-F238E27FC236}">
                <a16:creationId xmlns:a16="http://schemas.microsoft.com/office/drawing/2014/main" id="{68F76336-6F9B-4497-BCA3-DD2457B79987}"/>
              </a:ext>
            </a:extLst>
          </p:cNvPr>
          <p:cNvSpPr>
            <a:spLocks noGrp="1"/>
          </p:cNvSpPr>
          <p:nvPr/>
        </p:nvSpPr>
        <p:spPr>
          <a:xfrm>
            <a:off x="6572250" y="2114550"/>
            <a:ext cx="4191000" cy="1066800"/>
          </a:xfrm>
          <a:prstGeom prst="rect">
            <a:avLst/>
          </a:prstGeom>
          <a:noFill/>
          <a:ln w="0">
            <a:noFill/>
            <a:prstDash val="solid"/>
          </a:ln>
        </p:spPr>
        <p:txBody>
          <a:bodyPr/>
          <a:lstStyle/>
          <a:p>
            <a:pPr algn="l">
              <a:defRPr sz="1875" b="1" i="0">
                <a:solidFill>
                  <a:srgbClr val="000000"/>
                </a:solidFill>
              </a:defRPr>
            </a:pPr>
            <a:r>
              <a:rPr sz="1875" b="1" i="0">
                <a:solidFill>
                  <a:srgbClr val="000000"/>
                </a:solidFill>
              </a:rPr>
              <a:t>XGBoost can learn conditional pockets, thresholds, and interactions without us hand-writing every combination.</a:t>
            </a:r>
          </a:p>
        </p:txBody>
      </p:sp>
      <p:sp>
        <p:nvSpPr>
          <p:cNvPr id="6" name="Rectangle 5">
            <a:extLst>
              <a:ext uri="{FF2B5EF4-FFF2-40B4-BE49-F238E27FC236}">
                <a16:creationId xmlns:a16="http://schemas.microsoft.com/office/drawing/2014/main" id="{7FCCC276-49AE-4865-A2E4-7BA5599E4762}"/>
              </a:ext>
            </a:extLst>
          </p:cNvPr>
          <p:cNvSpPr>
            <a:spLocks noGrp="1"/>
          </p:cNvSpPr>
          <p:nvPr/>
        </p:nvSpPr>
        <p:spPr>
          <a:xfrm>
            <a:off x="876300" y="3733800"/>
            <a:ext cx="4095750" cy="19050"/>
          </a:xfrm>
          <a:prstGeom prst="rect">
            <a:avLst/>
          </a:prstGeom>
          <a:solidFill>
            <a:srgbClr val="B8BCC4"/>
          </a:solidFill>
          <a:ln w="0">
            <a:noFill/>
            <a:prstDash val="solid"/>
          </a:ln>
        </p:spPr>
        <p:txBody>
          <a:bodyPr/>
          <a:lstStyle/>
          <a:p>
            <a:endParaRPr lang="en-US"/>
          </a:p>
        </p:txBody>
      </p:sp>
      <p:sp>
        <p:nvSpPr>
          <p:cNvPr id="7" name="Rectangle 6">
            <a:extLst>
              <a:ext uri="{FF2B5EF4-FFF2-40B4-BE49-F238E27FC236}">
                <a16:creationId xmlns:a16="http://schemas.microsoft.com/office/drawing/2014/main" id="{E5F37003-07D3-4ED4-8BA9-A475B3907040}"/>
              </a:ext>
            </a:extLst>
          </p:cNvPr>
          <p:cNvSpPr>
            <a:spLocks noGrp="1"/>
          </p:cNvSpPr>
          <p:nvPr/>
        </p:nvSpPr>
        <p:spPr>
          <a:xfrm>
            <a:off x="6572250" y="3733800"/>
            <a:ext cx="4095750" cy="19050"/>
          </a:xfrm>
          <a:prstGeom prst="rect">
            <a:avLst/>
          </a:prstGeom>
          <a:solidFill>
            <a:srgbClr val="B8BCC4"/>
          </a:solidFill>
          <a:ln w="0">
            <a:noFill/>
            <a:prstDash val="solid"/>
          </a:ln>
        </p:spPr>
        <p:txBody>
          <a:bodyPr/>
          <a:lstStyle/>
          <a:p>
            <a:endParaRPr lang="en-US"/>
          </a:p>
        </p:txBody>
      </p:sp>
      <p:sp>
        <p:nvSpPr>
          <p:cNvPr id="8" name="Rectangle 7">
            <a:extLst>
              <a:ext uri="{FF2B5EF4-FFF2-40B4-BE49-F238E27FC236}">
                <a16:creationId xmlns:a16="http://schemas.microsoft.com/office/drawing/2014/main" id="{940A0456-EEED-42B0-AF6E-90D3749656C8}"/>
              </a:ext>
            </a:extLst>
          </p:cNvPr>
          <p:cNvSpPr>
            <a:spLocks noGrp="1"/>
          </p:cNvSpPr>
          <p:nvPr/>
        </p:nvSpPr>
        <p:spPr>
          <a:xfrm>
            <a:off x="1047750" y="41243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9" name="Rectangle 8">
            <a:extLst>
              <a:ext uri="{FF2B5EF4-FFF2-40B4-BE49-F238E27FC236}">
                <a16:creationId xmlns:a16="http://schemas.microsoft.com/office/drawing/2014/main" id="{F39B9EE7-3A82-4656-818F-3D60CA4043F5}"/>
              </a:ext>
            </a:extLst>
          </p:cNvPr>
          <p:cNvSpPr>
            <a:spLocks noGrp="1"/>
          </p:cNvSpPr>
          <p:nvPr/>
        </p:nvSpPr>
        <p:spPr>
          <a:xfrm>
            <a:off x="1314450" y="411480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Good for proving the plumbing and exposing simple directional effects.</a:t>
            </a:r>
          </a:p>
        </p:txBody>
      </p:sp>
      <p:sp>
        <p:nvSpPr>
          <p:cNvPr id="10" name="Rectangle 9">
            <a:extLst>
              <a:ext uri="{FF2B5EF4-FFF2-40B4-BE49-F238E27FC236}">
                <a16:creationId xmlns:a16="http://schemas.microsoft.com/office/drawing/2014/main" id="{EE38B7F3-32E3-4D46-930E-DFF8A3437D04}"/>
              </a:ext>
            </a:extLst>
          </p:cNvPr>
          <p:cNvSpPr>
            <a:spLocks noGrp="1"/>
          </p:cNvSpPr>
          <p:nvPr/>
        </p:nvSpPr>
        <p:spPr>
          <a:xfrm>
            <a:off x="1047750" y="49625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1" name="Rectangle 10">
            <a:extLst>
              <a:ext uri="{FF2B5EF4-FFF2-40B4-BE49-F238E27FC236}">
                <a16:creationId xmlns:a16="http://schemas.microsoft.com/office/drawing/2014/main" id="{9036FC8C-11A9-4768-871A-6EE4C05ABA09}"/>
              </a:ext>
            </a:extLst>
          </p:cNvPr>
          <p:cNvSpPr>
            <a:spLocks noGrp="1"/>
          </p:cNvSpPr>
          <p:nvPr/>
        </p:nvSpPr>
        <p:spPr>
          <a:xfrm>
            <a:off x="1314450" y="495300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Can average away useful conditions when a feature is good in one regime and bad in another.</a:t>
            </a:r>
          </a:p>
        </p:txBody>
      </p:sp>
      <p:sp>
        <p:nvSpPr>
          <p:cNvPr id="12" name="Rectangle 11">
            <a:extLst>
              <a:ext uri="{FF2B5EF4-FFF2-40B4-BE49-F238E27FC236}">
                <a16:creationId xmlns:a16="http://schemas.microsoft.com/office/drawing/2014/main" id="{6B5DC7D9-B26C-4DEC-9A3C-02CCD3B8E540}"/>
              </a:ext>
            </a:extLst>
          </p:cNvPr>
          <p:cNvSpPr>
            <a:spLocks noGrp="1"/>
          </p:cNvSpPr>
          <p:nvPr/>
        </p:nvSpPr>
        <p:spPr>
          <a:xfrm>
            <a:off x="6743700" y="41243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3" name="Rectangle 12">
            <a:extLst>
              <a:ext uri="{FF2B5EF4-FFF2-40B4-BE49-F238E27FC236}">
                <a16:creationId xmlns:a16="http://schemas.microsoft.com/office/drawing/2014/main" id="{961F2DBA-56AB-4396-8A80-01D6D4FBFFEC}"/>
              </a:ext>
            </a:extLst>
          </p:cNvPr>
          <p:cNvSpPr>
            <a:spLocks noGrp="1"/>
          </p:cNvSpPr>
          <p:nvPr/>
        </p:nvSpPr>
        <p:spPr>
          <a:xfrm>
            <a:off x="7010400" y="411480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Can express rules like momentum only matters with supportive market context.</a:t>
            </a:r>
          </a:p>
        </p:txBody>
      </p:sp>
      <p:sp>
        <p:nvSpPr>
          <p:cNvPr id="14" name="Rectangle 13">
            <a:extLst>
              <a:ext uri="{FF2B5EF4-FFF2-40B4-BE49-F238E27FC236}">
                <a16:creationId xmlns:a16="http://schemas.microsoft.com/office/drawing/2014/main" id="{4886B913-C5DB-432C-8E06-29C5B83F03D4}"/>
              </a:ext>
            </a:extLst>
          </p:cNvPr>
          <p:cNvSpPr>
            <a:spLocks noGrp="1"/>
          </p:cNvSpPr>
          <p:nvPr/>
        </p:nvSpPr>
        <p:spPr>
          <a:xfrm>
            <a:off x="6743700" y="49625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5" name="Rectangle 14">
            <a:extLst>
              <a:ext uri="{FF2B5EF4-FFF2-40B4-BE49-F238E27FC236}">
                <a16:creationId xmlns:a16="http://schemas.microsoft.com/office/drawing/2014/main" id="{989AB4AD-B366-435C-A7B7-FFA7C58EAC80}"/>
              </a:ext>
            </a:extLst>
          </p:cNvPr>
          <p:cNvSpPr>
            <a:spLocks noGrp="1"/>
          </p:cNvSpPr>
          <p:nvPr/>
        </p:nvSpPr>
        <p:spPr>
          <a:xfrm>
            <a:off x="7010400" y="4953000"/>
            <a:ext cx="421005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Must be judged carefully, because extra flexibility can overfit if we start tuning too many knobs.</a:t>
            </a:r>
          </a:p>
        </p:txBody>
      </p:sp>
    </p:spTree>
    <p:extLst>
      <p:ext uri="{BB962C8B-B14F-4D97-AF65-F5344CB8AC3E}">
        <p14:creationId xmlns:p14="http://schemas.microsoft.com/office/powerpoint/2010/main" val="8027193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6188C9D9-ACF7-4182-81CF-1EFB2B6A26C2}"/>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176E5221-91A7-4CDE-BBF4-9A81602DF141}"/>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XGBoost improved the replay, but it still did not beat the 2020 basket</a:t>
            </a:r>
          </a:p>
        </p:txBody>
      </p:sp>
      <p:sp>
        <p:nvSpPr>
          <p:cNvPr id="3" name="Rectangle 2">
            <a:extLst>
              <a:ext uri="{FF2B5EF4-FFF2-40B4-BE49-F238E27FC236}">
                <a16:creationId xmlns:a16="http://schemas.microsoft.com/office/drawing/2014/main" id="{EF3B6C47-C0F0-48A1-AEEF-82E67BCE565C}"/>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D4BE35FB-BED4-4EC6-A10B-E81342D83EAC}"/>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70C77544-BA2C-4C4F-AB29-5689C981D94B}"/>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GUARDRAILS</a:t>
            </a:r>
          </a:p>
        </p:txBody>
      </p:sp>
      <p:sp>
        <p:nvSpPr>
          <p:cNvPr id="6" name="Rectangle 5">
            <a:extLst>
              <a:ext uri="{FF2B5EF4-FFF2-40B4-BE49-F238E27FC236}">
                <a16:creationId xmlns:a16="http://schemas.microsoft.com/office/drawing/2014/main" id="{503B0B29-9F6A-4976-912F-E960572FC4CB}"/>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7" name="Rectangle 6">
            <a:extLst>
              <a:ext uri="{FF2B5EF4-FFF2-40B4-BE49-F238E27FC236}">
                <a16:creationId xmlns:a16="http://schemas.microsoft.com/office/drawing/2014/main" id="{C30B867B-1941-42BC-9449-E8CECBFFB43A}"/>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Fit, params, and thresholds stay inside TRAIN.</a:t>
            </a:r>
          </a:p>
        </p:txBody>
      </p:sp>
      <p:sp>
        <p:nvSpPr>
          <p:cNvPr id="8" name="Rectangle 7">
            <a:extLst>
              <a:ext uri="{FF2B5EF4-FFF2-40B4-BE49-F238E27FC236}">
                <a16:creationId xmlns:a16="http://schemas.microsoft.com/office/drawing/2014/main" id="{AA7D1821-8160-416D-806F-7488D360EED3}"/>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593306E8-CB03-486A-8733-B338B47C4BD0}"/>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XGB</a:t>
            </a:r>
          </a:p>
        </p:txBody>
      </p:sp>
      <p:sp>
        <p:nvSpPr>
          <p:cNvPr id="10" name="Rectangle 9">
            <a:extLst>
              <a:ext uri="{FF2B5EF4-FFF2-40B4-BE49-F238E27FC236}">
                <a16:creationId xmlns:a16="http://schemas.microsoft.com/office/drawing/2014/main" id="{58D11F44-883A-43E7-84FE-E2917CFB23BA}"/>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108.9%</a:t>
            </a:r>
          </a:p>
        </p:txBody>
      </p:sp>
      <p:sp>
        <p:nvSpPr>
          <p:cNvPr id="11" name="Rectangle 10">
            <a:extLst>
              <a:ext uri="{FF2B5EF4-FFF2-40B4-BE49-F238E27FC236}">
                <a16:creationId xmlns:a16="http://schemas.microsoft.com/office/drawing/2014/main" id="{B80ACF30-42B6-41F3-87DE-C4A25CA6B417}"/>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GLM was 54.0%; basket hold was 225.2%.</a:t>
            </a:r>
          </a:p>
        </p:txBody>
      </p:sp>
      <p:sp>
        <p:nvSpPr>
          <p:cNvPr id="12" name="Rectangle 11">
            <a:extLst>
              <a:ext uri="{FF2B5EF4-FFF2-40B4-BE49-F238E27FC236}">
                <a16:creationId xmlns:a16="http://schemas.microsoft.com/office/drawing/2014/main" id="{59111C4E-6430-4895-8E02-D6F13E12464F}"/>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AF5E084A-5F29-45FD-82BB-1D573DA18CE7}"/>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2022 XGB</a:t>
            </a:r>
          </a:p>
        </p:txBody>
      </p:sp>
      <p:sp>
        <p:nvSpPr>
          <p:cNvPr id="14" name="Rectangle 13">
            <a:extLst>
              <a:ext uri="{FF2B5EF4-FFF2-40B4-BE49-F238E27FC236}">
                <a16:creationId xmlns:a16="http://schemas.microsoft.com/office/drawing/2014/main" id="{47C6036E-2B03-4500-B169-563A3232B108}"/>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-37.8%</a:t>
            </a:r>
          </a:p>
        </p:txBody>
      </p:sp>
      <p:sp>
        <p:nvSpPr>
          <p:cNvPr id="15" name="Rectangle 14">
            <a:extLst>
              <a:ext uri="{FF2B5EF4-FFF2-40B4-BE49-F238E27FC236}">
                <a16:creationId xmlns:a16="http://schemas.microsoft.com/office/drawing/2014/main" id="{388E01C2-D1CB-4689-B8AC-D5646D5FA08D}"/>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GLM was -49.7%; basket hold was -53.3%.</a:t>
            </a:r>
          </a:p>
        </p:txBody>
      </p:sp>
      <p:sp>
        <p:nvSpPr>
          <p:cNvPr id="16" name="Rectangle 15">
            <a:extLst>
              <a:ext uri="{FF2B5EF4-FFF2-40B4-BE49-F238E27FC236}">
                <a16:creationId xmlns:a16="http://schemas.microsoft.com/office/drawing/2014/main" id="{57FD92C7-7E71-4440-B154-96C5CAA2CDFD}"/>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091BC495-000B-44D7-9DAD-F457640B060C}"/>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EXPOSURE</a:t>
            </a:r>
          </a:p>
        </p:txBody>
      </p:sp>
      <p:sp>
        <p:nvSpPr>
          <p:cNvPr id="18" name="Rectangle 17">
            <a:extLst>
              <a:ext uri="{FF2B5EF4-FFF2-40B4-BE49-F238E27FC236}">
                <a16:creationId xmlns:a16="http://schemas.microsoft.com/office/drawing/2014/main" id="{1AB1B3D1-4930-4A64-9AF8-9EF857741021}"/>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42.3%</a:t>
            </a:r>
          </a:p>
        </p:txBody>
      </p:sp>
      <p:sp>
        <p:nvSpPr>
          <p:cNvPr id="19" name="Rectangle 18">
            <a:extLst>
              <a:ext uri="{FF2B5EF4-FFF2-40B4-BE49-F238E27FC236}">
                <a16:creationId xmlns:a16="http://schemas.microsoft.com/office/drawing/2014/main" id="{BD92325E-57FC-47F8-8057-A53045354B5E}"/>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XGB used less exposure than GLM at 43.0%.</a:t>
            </a:r>
          </a:p>
        </p:txBody>
      </p:sp>
      <p:sp>
        <p:nvSpPr>
          <p:cNvPr id="20" name="Rectangle 19">
            <a:extLst>
              <a:ext uri="{FF2B5EF4-FFF2-40B4-BE49-F238E27FC236}">
                <a16:creationId xmlns:a16="http://schemas.microsoft.com/office/drawing/2014/main" id="{CCC52372-859A-447C-845A-E4F6DBCC3DE9}"/>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This is encouraging because the nonlinear model improved return with less 2020 exposure and better 2022 defense. It is not a victory lap: 2020 still lagged basket hold by a lot.</a:t>
            </a:r>
          </a:p>
        </p:txBody>
      </p:sp>
    </p:spTree>
    <p:extLst>
      <p:ext uri="{BB962C8B-B14F-4D97-AF65-F5344CB8AC3E}">
        <p14:creationId xmlns:p14="http://schemas.microsoft.com/office/powerpoint/2010/main" val="12048222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2AE43A-4847-496B-8366-CBB82EDB20C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F6864B4B-26D4-4DD6-9043-20E843DF6953}"/>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equity curves show useful improvement, not a solved system</a:t>
            </a:r>
          </a:p>
        </p:txBody>
      </p:sp>
      <p:sp>
        <p:nvSpPr>
          <p:cNvPr id="3" name="Rectangle 2">
            <a:extLst>
              <a:ext uri="{FF2B5EF4-FFF2-40B4-BE49-F238E27FC236}">
                <a16:creationId xmlns:a16="http://schemas.microsoft.com/office/drawing/2014/main" id="{B6120F4A-E5FC-4E89-ABA5-433C78A12FB0}"/>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835819" y="2000250"/>
            <a:ext cx="6900863" cy="3943350"/>
          </a:xfrm>
          <a:prstGeom prst="rect">
            <a:avLst/>
          </a:prstGeom>
        </p:spPr>
      </p:pic>
      <p:sp>
        <p:nvSpPr>
          <p:cNvPr id="5" name="Rectangle 4">
            <a:extLst>
              <a:ext uri="{FF2B5EF4-FFF2-40B4-BE49-F238E27FC236}">
                <a16:creationId xmlns:a16="http://schemas.microsoft.com/office/drawing/2014/main" id="{1914D0E5-278E-46F8-BB8E-71C4E0652576}"/>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changed</a:t>
            </a:r>
          </a:p>
        </p:txBody>
      </p:sp>
      <p:sp>
        <p:nvSpPr>
          <p:cNvPr id="6" name="Rectangle 5">
            <a:extLst>
              <a:ext uri="{FF2B5EF4-FFF2-40B4-BE49-F238E27FC236}">
                <a16:creationId xmlns:a16="http://schemas.microsoft.com/office/drawing/2014/main" id="{F1127C04-87FD-452D-B0E4-914F2882B15A}"/>
              </a:ext>
            </a:extLst>
          </p:cNvPr>
          <p:cNvSpPr>
            <a:spLocks noGrp="1"/>
          </p:cNvSpPr>
          <p:nvPr/>
        </p:nvSpPr>
        <p:spPr>
          <a:xfrm>
            <a:off x="8477250" y="2705100"/>
            <a:ext cx="2705100" cy="2381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XGBoost lifted 2020 return from 54.0% to 108.9% and improved 2022 from -49.7% to -37.8%. Equal-weight hold remains the hurdle in strong bull windows.</a:t>
            </a:r>
          </a:p>
        </p:txBody>
      </p:sp>
    </p:spTree>
    <p:extLst>
      <p:ext uri="{BB962C8B-B14F-4D97-AF65-F5344CB8AC3E}">
        <p14:creationId xmlns:p14="http://schemas.microsoft.com/office/powerpoint/2010/main" val="188564433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113EA9E-60EE-4717-80FA-B5463AB52907}"/>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CCE518C0-FC22-4947-A8C4-9BAC22C76456}"/>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ranking audit gives a caution flag</a:t>
            </a:r>
          </a:p>
        </p:txBody>
      </p:sp>
      <p:sp>
        <p:nvSpPr>
          <p:cNvPr id="3" name="Rectangle 2">
            <a:extLst>
              <a:ext uri="{FF2B5EF4-FFF2-40B4-BE49-F238E27FC236}">
                <a16:creationId xmlns:a16="http://schemas.microsoft.com/office/drawing/2014/main" id="{AECD896B-76BC-486E-83C3-7E443C7516B9}"/>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04850" y="2214196"/>
            <a:ext cx="5715000" cy="3077308"/>
          </a:xfrm>
          <a:prstGeom prst="rect">
            <a:avLst/>
          </a:prstGeom>
        </p:spPr>
      </p:pic>
      <p:sp>
        <p:nvSpPr>
          <p:cNvPr id="5" name="Rectangle 4">
            <a:extLst>
              <a:ext uri="{FF2B5EF4-FFF2-40B4-BE49-F238E27FC236}">
                <a16:creationId xmlns:a16="http://schemas.microsoft.com/office/drawing/2014/main" id="{7A2828D0-D12F-4B69-AE4E-846516F6A31C}"/>
              </a:ext>
            </a:extLst>
          </p:cNvPr>
          <p:cNvSpPr>
            <a:spLocks noGrp="1"/>
          </p:cNvSpPr>
          <p:nvPr/>
        </p:nvSpPr>
        <p:spPr>
          <a:xfrm>
            <a:off x="7105650" y="2133600"/>
            <a:ext cx="3143250" cy="32385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Why this is nuanced</a:t>
            </a:r>
          </a:p>
        </p:txBody>
      </p:sp>
      <p:sp>
        <p:nvSpPr>
          <p:cNvPr id="6" name="Rectangle 5">
            <a:extLst>
              <a:ext uri="{FF2B5EF4-FFF2-40B4-BE49-F238E27FC236}">
                <a16:creationId xmlns:a16="http://schemas.microsoft.com/office/drawing/2014/main" id="{F72448B1-76E7-4F79-85A4-CB80C76961A9}"/>
              </a:ext>
            </a:extLst>
          </p:cNvPr>
          <p:cNvSpPr>
            <a:spLocks noGrp="1"/>
          </p:cNvSpPr>
          <p:nvPr/>
        </p:nvSpPr>
        <p:spPr>
          <a:xfrm>
            <a:off x="7105650" y="2743200"/>
            <a:ext cx="3333750" cy="21907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XGBoost improved replay, but its 2020 AUC was 0.510 versus GLM at 0.520. The gain may come from threshold-crossing timing and drawdown behavior rather than cleaner global ranking.</a:t>
            </a:r>
          </a:p>
        </p:txBody>
      </p:sp>
    </p:spTree>
    <p:extLst>
      <p:ext uri="{BB962C8B-B14F-4D97-AF65-F5344CB8AC3E}">
        <p14:creationId xmlns:p14="http://schemas.microsoft.com/office/powerpoint/2010/main" val="175319187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6F8270C-0BCA-4DDC-9FD9-B50C27C39A10}"/>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AEBFD7A3-53D3-407A-A13A-64862D727649}"/>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Probability tapes are now the most important audit surface</a:t>
            </a:r>
          </a:p>
        </p:txBody>
      </p:sp>
      <p:sp>
        <p:nvSpPr>
          <p:cNvPr id="3" name="Rectangle 2">
            <a:extLst>
              <a:ext uri="{FF2B5EF4-FFF2-40B4-BE49-F238E27FC236}">
                <a16:creationId xmlns:a16="http://schemas.microsoft.com/office/drawing/2014/main" id="{B0A251A2-9F66-477E-87C5-984C030A53D7}"/>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038785" y="2000250"/>
            <a:ext cx="6494929" cy="3943350"/>
          </a:xfrm>
          <a:prstGeom prst="rect">
            <a:avLst/>
          </a:prstGeom>
        </p:spPr>
      </p:pic>
      <p:sp>
        <p:nvSpPr>
          <p:cNvPr id="5" name="Rectangle 4">
            <a:extLst>
              <a:ext uri="{FF2B5EF4-FFF2-40B4-BE49-F238E27FC236}">
                <a16:creationId xmlns:a16="http://schemas.microsoft.com/office/drawing/2014/main" id="{3CD6FC5F-3AA9-4266-8DC3-1C0FBB845DE1}"/>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to inspect</a:t>
            </a:r>
          </a:p>
        </p:txBody>
      </p:sp>
      <p:sp>
        <p:nvSpPr>
          <p:cNvPr id="6" name="Rectangle 5">
            <a:extLst>
              <a:ext uri="{FF2B5EF4-FFF2-40B4-BE49-F238E27FC236}">
                <a16:creationId xmlns:a16="http://schemas.microsoft.com/office/drawing/2014/main" id="{E782DA99-9D04-42B3-8A5E-8A4F0619E5FF}"/>
              </a:ext>
            </a:extLst>
          </p:cNvPr>
          <p:cNvSpPr>
            <a:spLocks noGrp="1"/>
          </p:cNvSpPr>
          <p:nvPr/>
        </p:nvSpPr>
        <p:spPr>
          <a:xfrm>
            <a:off x="8477250" y="2705100"/>
            <a:ext cx="2705100" cy="228600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key question is whether XGBoost changes entries and exits in places that make intuitive market sense. The tapes show a less linear probability trace and a different set of entry timings.</a:t>
            </a:r>
          </a:p>
        </p:txBody>
      </p:sp>
    </p:spTree>
    <p:extLst>
      <p:ext uri="{BB962C8B-B14F-4D97-AF65-F5344CB8AC3E}">
        <p14:creationId xmlns:p14="http://schemas.microsoft.com/office/powerpoint/2010/main" val="182757578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E7CC461-728D-44E7-BDE3-8C8988BDD7B7}"/>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2F2DCBED-15E3-4694-8C82-F6A0704DB8B0}"/>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feature-importance audit points back to OHLCV structure</a:t>
            </a:r>
          </a:p>
        </p:txBody>
      </p:sp>
      <p:sp>
        <p:nvSpPr>
          <p:cNvPr id="3" name="Rectangle 2">
            <a:extLst>
              <a:ext uri="{FF2B5EF4-FFF2-40B4-BE49-F238E27FC236}">
                <a16:creationId xmlns:a16="http://schemas.microsoft.com/office/drawing/2014/main" id="{CC22DE1C-CF4D-4511-B7CB-565D0CA4B9B8}"/>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18457" y="2038350"/>
            <a:ext cx="5878286" cy="3429000"/>
          </a:xfrm>
          <a:prstGeom prst="rect">
            <a:avLst/>
          </a:prstGeom>
        </p:spPr>
      </p:pic>
      <p:sp>
        <p:nvSpPr>
          <p:cNvPr id="5" name="Rectangle 4">
            <a:extLst>
              <a:ext uri="{FF2B5EF4-FFF2-40B4-BE49-F238E27FC236}">
                <a16:creationId xmlns:a16="http://schemas.microsoft.com/office/drawing/2014/main" id="{AD7A8421-7703-48DE-AD36-A69711EF2908}"/>
              </a:ext>
            </a:extLst>
          </p:cNvPr>
          <p:cNvSpPr>
            <a:spLocks noGrp="1"/>
          </p:cNvSpPr>
          <p:nvPr/>
        </p:nvSpPr>
        <p:spPr>
          <a:xfrm>
            <a:off x="7124700" y="2133600"/>
            <a:ext cx="2857500" cy="32385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Interpret carefully</a:t>
            </a:r>
          </a:p>
        </p:txBody>
      </p:sp>
      <p:sp>
        <p:nvSpPr>
          <p:cNvPr id="6" name="Rectangle 5">
            <a:extLst>
              <a:ext uri="{FF2B5EF4-FFF2-40B4-BE49-F238E27FC236}">
                <a16:creationId xmlns:a16="http://schemas.microsoft.com/office/drawing/2014/main" id="{31D3B9EB-FA5E-4CFD-878B-7CD6C6CECA81}"/>
              </a:ext>
            </a:extLst>
          </p:cNvPr>
          <p:cNvSpPr>
            <a:spLocks noGrp="1"/>
          </p:cNvSpPr>
          <p:nvPr/>
        </p:nvSpPr>
        <p:spPr>
          <a:xfrm>
            <a:off x="7124700" y="2743200"/>
            <a:ext cx="3333750" cy="228600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top split-gain feature in this first run was gap_open_pct. Importance is not causality, but it tells us XGBoost is using candle structure, gaps, short returns, compression, and market-relative features rather than only long trend memory.</a:t>
            </a:r>
          </a:p>
        </p:txBody>
      </p:sp>
    </p:spTree>
    <p:extLst>
      <p:ext uri="{BB962C8B-B14F-4D97-AF65-F5344CB8AC3E}">
        <p14:creationId xmlns:p14="http://schemas.microsoft.com/office/powerpoint/2010/main" val="16054893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FA29F75C-150D-410C-B909-D9F03C96A4F8}"/>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7B1A5DDC-B9F0-4DF3-ABC5-6A21E406AF13}"/>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next gate is small XGBoost tuning, not a large search</a:t>
            </a:r>
          </a:p>
        </p:txBody>
      </p:sp>
      <p:sp>
        <p:nvSpPr>
          <p:cNvPr id="3" name="Rectangle 2">
            <a:extLst>
              <a:ext uri="{FF2B5EF4-FFF2-40B4-BE49-F238E27FC236}">
                <a16:creationId xmlns:a16="http://schemas.microsoft.com/office/drawing/2014/main" id="{63135D59-CE5A-451F-897B-A446549490D9}"/>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94AD0A5F-A26A-490B-99D0-79FBAD32083D}"/>
              </a:ext>
            </a:extLst>
          </p:cNvPr>
          <p:cNvSpPr>
            <a:spLocks noGrp="1"/>
          </p:cNvSpPr>
          <p:nvPr/>
        </p:nvSpPr>
        <p:spPr>
          <a:xfrm>
            <a:off x="876300" y="2133600"/>
            <a:ext cx="9334500" cy="91440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ML-P2 earned a cautious follow-up because replay improved in both windows under fixed model settings. The ranking audit keeps us honest: this is not yet proof that the model has solved alpha.</a:t>
            </a:r>
          </a:p>
        </p:txBody>
      </p:sp>
      <p:sp>
        <p:nvSpPr>
          <p:cNvPr id="5" name="Rectangle 4">
            <a:extLst>
              <a:ext uri="{FF2B5EF4-FFF2-40B4-BE49-F238E27FC236}">
                <a16:creationId xmlns:a16="http://schemas.microsoft.com/office/drawing/2014/main" id="{37C81A43-6015-4F32-8B8F-038755724E3B}"/>
              </a:ext>
            </a:extLst>
          </p:cNvPr>
          <p:cNvSpPr>
            <a:spLocks noGrp="1"/>
          </p:cNvSpPr>
          <p:nvPr/>
        </p:nvSpPr>
        <p:spPr>
          <a:xfrm>
            <a:off x="1219200" y="35718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D38E289D-E9FF-4821-BF8B-DCAF8C97442B}"/>
              </a:ext>
            </a:extLst>
          </p:cNvPr>
          <p:cNvSpPr>
            <a:spLocks noGrp="1"/>
          </p:cNvSpPr>
          <p:nvPr/>
        </p:nvSpPr>
        <p:spPr>
          <a:xfrm>
            <a:off x="1485900" y="35623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Run one small TRAIN-only XGBoost parameter slice: depth, rounds, and minimum child weight.</a:t>
            </a:r>
          </a:p>
        </p:txBody>
      </p:sp>
      <p:sp>
        <p:nvSpPr>
          <p:cNvPr id="7" name="Rectangle 6">
            <a:extLst>
              <a:ext uri="{FF2B5EF4-FFF2-40B4-BE49-F238E27FC236}">
                <a16:creationId xmlns:a16="http://schemas.microsoft.com/office/drawing/2014/main" id="{885C0B4F-A607-475C-82BD-67746F2CB0F6}"/>
              </a:ext>
            </a:extLst>
          </p:cNvPr>
          <p:cNvSpPr>
            <a:spLocks noGrp="1"/>
          </p:cNvSpPr>
          <p:nvPr/>
        </p:nvSpPr>
        <p:spPr>
          <a:xfrm>
            <a:off x="1219200" y="42386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06639397-87AE-47AA-9A21-854F2FB245F4}"/>
              </a:ext>
            </a:extLst>
          </p:cNvPr>
          <p:cNvSpPr>
            <a:spLocks noGrp="1"/>
          </p:cNvSpPr>
          <p:nvPr/>
        </p:nvSpPr>
        <p:spPr>
          <a:xfrm>
            <a:off x="1485900" y="42291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h1, features, annual replay, thresholds, benchmark, and probability tapes fixed.</a:t>
            </a:r>
          </a:p>
        </p:txBody>
      </p:sp>
      <p:sp>
        <p:nvSpPr>
          <p:cNvPr id="9" name="Rectangle 8">
            <a:extLst>
              <a:ext uri="{FF2B5EF4-FFF2-40B4-BE49-F238E27FC236}">
                <a16:creationId xmlns:a16="http://schemas.microsoft.com/office/drawing/2014/main" id="{8891A8A2-9A3D-4570-8D24-795DB2E6A3B1}"/>
              </a:ext>
            </a:extLst>
          </p:cNvPr>
          <p:cNvSpPr>
            <a:spLocks noGrp="1"/>
          </p:cNvSpPr>
          <p:nvPr/>
        </p:nvSpPr>
        <p:spPr>
          <a:xfrm>
            <a:off x="1219200" y="49053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D9FC8A9E-1211-4B63-B941-C72CDD8D29E1}"/>
              </a:ext>
            </a:extLst>
          </p:cNvPr>
          <p:cNvSpPr>
            <a:spLocks noGrp="1"/>
          </p:cNvSpPr>
          <p:nvPr/>
        </p:nvSpPr>
        <p:spPr>
          <a:xfrm>
            <a:off x="1485900" y="48958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Watch 2022: XGBoost AUC was 0.478, so defense may still be fragile.</a:t>
            </a:r>
          </a:p>
        </p:txBody>
      </p:sp>
      <p:sp>
        <p:nvSpPr>
          <p:cNvPr id="11" name="Rectangle 10">
            <a:extLst>
              <a:ext uri="{FF2B5EF4-FFF2-40B4-BE49-F238E27FC236}">
                <a16:creationId xmlns:a16="http://schemas.microsoft.com/office/drawing/2014/main" id="{5B4B395A-CC4E-4FCA-9505-221306273CDB}"/>
              </a:ext>
            </a:extLst>
          </p:cNvPr>
          <p:cNvSpPr>
            <a:spLocks noGrp="1"/>
          </p:cNvSpPr>
          <p:nvPr/>
        </p:nvSpPr>
        <p:spPr>
          <a:xfrm>
            <a:off x="1219200" y="55721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9147951E-0EF7-4A6C-BAC8-EA59D51496DB}"/>
              </a:ext>
            </a:extLst>
          </p:cNvPr>
          <p:cNvSpPr>
            <a:spLocks noGrp="1"/>
          </p:cNvSpPr>
          <p:nvPr/>
        </p:nvSpPr>
        <p:spPr>
          <a:xfrm>
            <a:off x="1485900" y="55626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If small tuning does not improve ranking or timing, return to feature design instead of widening model knobs.</a:t>
            </a:r>
          </a:p>
        </p:txBody>
      </p:sp>
    </p:spTree>
    <p:extLst>
      <p:ext uri="{BB962C8B-B14F-4D97-AF65-F5344CB8AC3E}">
        <p14:creationId xmlns:p14="http://schemas.microsoft.com/office/powerpoint/2010/main" val="200489511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8B0192C-4F29-4455-A423-626D1F330164}"/>
              </a:ext>
            </a:extLst>
          </p:cNvPr>
          <p:cNvSpPr>
            <a:spLocks noGrp="1"/>
          </p:cNvSpPr>
          <p:nvPr/>
        </p:nvSpPr>
        <p:spPr>
          <a:xfrm>
            <a:off x="685800" y="495300"/>
            <a:ext cx="4762500" cy="419100"/>
          </a:xfrm>
          <a:prstGeom prst="rect">
            <a:avLst/>
          </a:prstGeom>
          <a:noFill/>
          <a:ln w="0">
            <a:noFill/>
            <a:prstDash val="solid"/>
          </a:ln>
        </p:spPr>
        <p:txBody>
          <a:bodyPr/>
          <a:lstStyle/>
          <a:p>
            <a:pPr algn="l">
              <a:defRPr sz="2400" b="1" i="0">
                <a:solidFill>
                  <a:srgbClr val="555555"/>
                </a:solidFill>
              </a:defRPr>
            </a:pPr>
            <a:r>
              <a:rPr sz="2400" b="1" i="0">
                <a:solidFill>
                  <a:srgbClr val="555555"/>
                </a:solidFill>
              </a:rPr>
              <a:t>Transition</a:t>
            </a:r>
          </a:p>
        </p:txBody>
      </p:sp>
      <p:sp>
        <p:nvSpPr>
          <p:cNvPr id="2" name="Rectangle 1">
            <a:extLst>
              <a:ext uri="{FF2B5EF4-FFF2-40B4-BE49-F238E27FC236}">
                <a16:creationId xmlns:a16="http://schemas.microsoft.com/office/drawing/2014/main" id="{12FD5B03-E8CB-468F-94E7-FEF3FD2F2778}"/>
              </a:ext>
            </a:extLst>
          </p:cNvPr>
          <p:cNvSpPr>
            <a:spLocks noGrp="1"/>
          </p:cNvSpPr>
          <p:nvPr/>
        </p:nvSpPr>
        <p:spPr>
          <a:xfrm>
            <a:off x="685800" y="1524000"/>
            <a:ext cx="7810500" cy="1143000"/>
          </a:xfrm>
          <a:prstGeom prst="rect">
            <a:avLst/>
          </a:prstGeom>
          <a:noFill/>
          <a:ln w="0">
            <a:noFill/>
            <a:prstDash val="solid"/>
          </a:ln>
        </p:spPr>
        <p:txBody>
          <a:bodyPr/>
          <a:lstStyle/>
          <a:p>
            <a:pPr algn="l">
              <a:defRPr sz="3600" b="1" i="0">
                <a:solidFill>
                  <a:srgbClr val="000000"/>
                </a:solidFill>
              </a:defRPr>
            </a:pPr>
            <a:r>
              <a:rPr sz="3600" b="1" i="0">
                <a:solidFill>
                  <a:srgbClr val="000000"/>
                </a:solidFill>
              </a:rPr>
              <a:t>Now we ask whether</a:t>
            </a:r>
          </a:p>
          <a:p>
            <a:pPr algn="l">
              <a:defRPr sz="3600" b="1" i="0">
                <a:solidFill>
                  <a:srgbClr val="000000"/>
                </a:solidFill>
              </a:defRPr>
            </a:pPr>
            <a:r>
              <a:rPr sz="3600" b="1" i="0">
                <a:solidFill>
                  <a:srgbClr val="000000"/>
                </a:solidFill>
              </a:rPr>
              <a:t>XGBoost was undertuned</a:t>
            </a:r>
          </a:p>
        </p:txBody>
      </p:sp>
      <p:sp>
        <p:nvSpPr>
          <p:cNvPr id="3" name="Rectangle 2">
            <a:extLst>
              <a:ext uri="{FF2B5EF4-FFF2-40B4-BE49-F238E27FC236}">
                <a16:creationId xmlns:a16="http://schemas.microsoft.com/office/drawing/2014/main" id="{B990FAD3-C811-4D4E-B3E1-5CC9B232408A}"/>
              </a:ext>
            </a:extLst>
          </p:cNvPr>
          <p:cNvSpPr>
            <a:spLocks noGrp="1"/>
          </p:cNvSpPr>
          <p:nvPr/>
        </p:nvSpPr>
        <p:spPr>
          <a:xfrm>
            <a:off x="723900" y="3105150"/>
            <a:ext cx="57150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D20199FF-352F-402A-80C2-A80518AFA647}"/>
              </a:ext>
            </a:extLst>
          </p:cNvPr>
          <p:cNvSpPr>
            <a:spLocks noGrp="1"/>
          </p:cNvSpPr>
          <p:nvPr/>
        </p:nvSpPr>
        <p:spPr>
          <a:xfrm>
            <a:off x="723900" y="3467100"/>
            <a:ext cx="7524750" cy="110490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ML-P2b keeps the ML-P2 surface fixed and changes only XGBoost depth, rounds, and minimum child weight. Parameters are selected inside each TRAIN fold before OOS replay.</a:t>
            </a:r>
          </a:p>
        </p:txBody>
      </p:sp>
      <p:sp>
        <p:nvSpPr>
          <p:cNvPr id="5" name="Rectangle 4">
            <a:extLst>
              <a:ext uri="{FF2B5EF4-FFF2-40B4-BE49-F238E27FC236}">
                <a16:creationId xmlns:a16="http://schemas.microsoft.com/office/drawing/2014/main" id="{CC7AD30D-DF19-4452-978B-96F0004C7D8F}"/>
              </a:ext>
            </a:extLst>
          </p:cNvPr>
          <p:cNvSpPr>
            <a:spLocks noGrp="1"/>
          </p:cNvSpPr>
          <p:nvPr/>
        </p:nvSpPr>
        <p:spPr>
          <a:xfrm>
            <a:off x="8801100" y="0"/>
            <a:ext cx="3390900" cy="6858000"/>
          </a:xfrm>
          <a:prstGeom prst="rect">
            <a:avLst/>
          </a:prstGeom>
          <a:solidFill>
            <a:srgbClr val="EDEDED"/>
          </a:solidFill>
          <a:ln w="0">
            <a:noFill/>
            <a:prstDash val="solid"/>
          </a:ln>
        </p:spPr>
        <p:txBody>
          <a:bodyPr/>
          <a:lstStyle/>
          <a:p>
            <a:endParaRPr lang="en-US"/>
          </a:p>
        </p:txBody>
      </p:sp>
      <p:sp>
        <p:nvSpPr>
          <p:cNvPr id="6" name="Rectangle 5">
            <a:extLst>
              <a:ext uri="{FF2B5EF4-FFF2-40B4-BE49-F238E27FC236}">
                <a16:creationId xmlns:a16="http://schemas.microsoft.com/office/drawing/2014/main" id="{005C739C-9E94-471C-B56E-487775B5E703}"/>
              </a:ext>
            </a:extLst>
          </p:cNvPr>
          <p:cNvSpPr>
            <a:spLocks noGrp="1"/>
          </p:cNvSpPr>
          <p:nvPr/>
        </p:nvSpPr>
        <p:spPr>
          <a:xfrm>
            <a:off x="9353550" y="2343150"/>
            <a:ext cx="2190750" cy="438150"/>
          </a:xfrm>
          <a:prstGeom prst="rect">
            <a:avLst/>
          </a:prstGeom>
          <a:noFill/>
          <a:ln w="0">
            <a:noFill/>
            <a:prstDash val="solid"/>
          </a:ln>
        </p:spPr>
        <p:txBody>
          <a:bodyPr/>
          <a:lstStyle/>
          <a:p>
            <a:pPr algn="ctr">
              <a:defRPr sz="3150" b="1" i="0">
                <a:solidFill>
                  <a:srgbClr val="000000"/>
                </a:solidFill>
              </a:defRPr>
            </a:pPr>
            <a:r>
              <a:rPr sz="3150" b="1" i="0">
                <a:solidFill>
                  <a:srgbClr val="000000"/>
                </a:solidFill>
              </a:rPr>
              <a:t>ML-P2b</a:t>
            </a:r>
          </a:p>
        </p:txBody>
      </p:sp>
      <p:sp>
        <p:nvSpPr>
          <p:cNvPr id="7" name="Rectangle 6">
            <a:extLst>
              <a:ext uri="{FF2B5EF4-FFF2-40B4-BE49-F238E27FC236}">
                <a16:creationId xmlns:a16="http://schemas.microsoft.com/office/drawing/2014/main" id="{881ABF06-0A3E-4F95-ABAC-B5233CB313B1}"/>
              </a:ext>
            </a:extLst>
          </p:cNvPr>
          <p:cNvSpPr>
            <a:spLocks noGrp="1"/>
          </p:cNvSpPr>
          <p:nvPr/>
        </p:nvSpPr>
        <p:spPr>
          <a:xfrm>
            <a:off x="9067800" y="3067050"/>
            <a:ext cx="2762250" cy="400050"/>
          </a:xfrm>
          <a:prstGeom prst="rect">
            <a:avLst/>
          </a:prstGeom>
          <a:noFill/>
          <a:ln w="0">
            <a:noFill/>
            <a:prstDash val="solid"/>
          </a:ln>
        </p:spPr>
        <p:txBody>
          <a:bodyPr/>
          <a:lstStyle/>
          <a:p>
            <a:pPr algn="ctr">
              <a:defRPr sz="1875" b="0" i="0">
                <a:solidFill>
                  <a:srgbClr val="222222"/>
                </a:solidFill>
              </a:defRPr>
            </a:pPr>
            <a:r>
              <a:rPr sz="1875" b="0" i="0">
                <a:solidFill>
                  <a:srgbClr val="222222"/>
                </a:solidFill>
              </a:rPr>
              <a:t>Small TRAIN grid</a:t>
            </a:r>
          </a:p>
        </p:txBody>
      </p:sp>
    </p:spTree>
    <p:extLst>
      <p:ext uri="{BB962C8B-B14F-4D97-AF65-F5344CB8AC3E}">
        <p14:creationId xmlns:p14="http://schemas.microsoft.com/office/powerpoint/2010/main" val="149204553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E2330944-54C9-478C-8FEE-E2B6999FDB88}"/>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D1D0AF1F-7D44-455F-83A2-2300B2310300}"/>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TRAIN grid wanted the most flexible candidate</a:t>
            </a:r>
          </a:p>
        </p:txBody>
      </p:sp>
      <p:sp>
        <p:nvSpPr>
          <p:cNvPr id="3" name="Rectangle 2">
            <a:extLst>
              <a:ext uri="{FF2B5EF4-FFF2-40B4-BE49-F238E27FC236}">
                <a16:creationId xmlns:a16="http://schemas.microsoft.com/office/drawing/2014/main" id="{2D9A53D6-3335-4CF4-B404-D37E038BBB7C}"/>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EB7D057C-5415-4B64-9122-3A8A2A246496}"/>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AFDE6AC3-B281-4C88-9F9A-F976BFDB7E81}"/>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GUARDRAILS</a:t>
            </a:r>
          </a:p>
        </p:txBody>
      </p:sp>
      <p:sp>
        <p:nvSpPr>
          <p:cNvPr id="6" name="Rectangle 5">
            <a:extLst>
              <a:ext uri="{FF2B5EF4-FFF2-40B4-BE49-F238E27FC236}">
                <a16:creationId xmlns:a16="http://schemas.microsoft.com/office/drawing/2014/main" id="{0020DD99-0F55-4A48-B0DE-CBFA73FAB7FD}"/>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7" name="Rectangle 6">
            <a:extLst>
              <a:ext uri="{FF2B5EF4-FFF2-40B4-BE49-F238E27FC236}">
                <a16:creationId xmlns:a16="http://schemas.microsoft.com/office/drawing/2014/main" id="{1B532921-3964-485D-9984-A6C9ABAAADA1}"/>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Parameter and threshold choices stay inside TRAIN.</a:t>
            </a:r>
          </a:p>
        </p:txBody>
      </p:sp>
      <p:sp>
        <p:nvSpPr>
          <p:cNvPr id="8" name="Rectangle 7">
            <a:extLst>
              <a:ext uri="{FF2B5EF4-FFF2-40B4-BE49-F238E27FC236}">
                <a16:creationId xmlns:a16="http://schemas.microsoft.com/office/drawing/2014/main" id="{91A80B06-D241-452A-9CA4-F74B785767AF}"/>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75C5959F-F059-4154-B8F8-E3E01EA74E83}"/>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SELECTED CANDIDATE</a:t>
            </a:r>
          </a:p>
        </p:txBody>
      </p:sp>
      <p:sp>
        <p:nvSpPr>
          <p:cNvPr id="10" name="Rectangle 9">
            <a:extLst>
              <a:ext uri="{FF2B5EF4-FFF2-40B4-BE49-F238E27FC236}">
                <a16:creationId xmlns:a16="http://schemas.microsoft.com/office/drawing/2014/main" id="{D0E75203-85B0-4AD8-B57F-58B67B5FD3CD}"/>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d4 r100</a:t>
            </a:r>
          </a:p>
        </p:txBody>
      </p:sp>
      <p:sp>
        <p:nvSpPr>
          <p:cNvPr id="11" name="Rectangle 10">
            <a:extLst>
              <a:ext uri="{FF2B5EF4-FFF2-40B4-BE49-F238E27FC236}">
                <a16:creationId xmlns:a16="http://schemas.microsoft.com/office/drawing/2014/main" id="{69BEC6E3-ECD0-48BB-B39B-5E328E2FA7F9}"/>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Unique parameter candidate selected across folds.</a:t>
            </a:r>
          </a:p>
        </p:txBody>
      </p:sp>
      <p:sp>
        <p:nvSpPr>
          <p:cNvPr id="12" name="Rectangle 11">
            <a:extLst>
              <a:ext uri="{FF2B5EF4-FFF2-40B4-BE49-F238E27FC236}">
                <a16:creationId xmlns:a16="http://schemas.microsoft.com/office/drawing/2014/main" id="{35D1E411-EE2D-4218-AAC0-16B25D2EDC09}"/>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1EED6EDB-B4B6-4A0A-BDED-D29759C4EC47}"/>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DEPTH / ROUNDS</a:t>
            </a:r>
          </a:p>
        </p:txBody>
      </p:sp>
      <p:sp>
        <p:nvSpPr>
          <p:cNvPr id="14" name="Rectangle 13">
            <a:extLst>
              <a:ext uri="{FF2B5EF4-FFF2-40B4-BE49-F238E27FC236}">
                <a16:creationId xmlns:a16="http://schemas.microsoft.com/office/drawing/2014/main" id="{F3E2B0E0-D6D5-43D5-8AF8-7AB4D9E6A871}"/>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 / 100</a:t>
            </a:r>
          </a:p>
        </p:txBody>
      </p:sp>
      <p:sp>
        <p:nvSpPr>
          <p:cNvPr id="15" name="Rectangle 14">
            <a:extLst>
              <a:ext uri="{FF2B5EF4-FFF2-40B4-BE49-F238E27FC236}">
                <a16:creationId xmlns:a16="http://schemas.microsoft.com/office/drawing/2014/main" id="{1DD835AF-9490-42CC-A67D-6896E5928269}"/>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Depth and boosting rounds selected by TRAIN proxy evidence.</a:t>
            </a:r>
          </a:p>
        </p:txBody>
      </p:sp>
      <p:sp>
        <p:nvSpPr>
          <p:cNvPr id="16" name="Rectangle 15">
            <a:extLst>
              <a:ext uri="{FF2B5EF4-FFF2-40B4-BE49-F238E27FC236}">
                <a16:creationId xmlns:a16="http://schemas.microsoft.com/office/drawing/2014/main" id="{F2627662-4E81-4660-AC03-54619937A09A}"/>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33A0442A-53D0-4A46-B074-DC926EB2B6F0}"/>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MIN CHILD</a:t>
            </a:r>
          </a:p>
        </p:txBody>
      </p:sp>
      <p:sp>
        <p:nvSpPr>
          <p:cNvPr id="18" name="Rectangle 17">
            <a:extLst>
              <a:ext uri="{FF2B5EF4-FFF2-40B4-BE49-F238E27FC236}">
                <a16:creationId xmlns:a16="http://schemas.microsoft.com/office/drawing/2014/main" id="{9086A13A-EF8C-4AA8-9D58-2D98E7154E95}"/>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5</a:t>
            </a:r>
          </a:p>
        </p:txBody>
      </p:sp>
      <p:sp>
        <p:nvSpPr>
          <p:cNvPr id="19" name="Rectangle 18">
            <a:extLst>
              <a:ext uri="{FF2B5EF4-FFF2-40B4-BE49-F238E27FC236}">
                <a16:creationId xmlns:a16="http://schemas.microsoft.com/office/drawing/2014/main" id="{70E54C48-5034-4617-A8E3-E70F7C2F879A}"/>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Minimum child weight selected by TRAIN proxy evidence.</a:t>
            </a:r>
          </a:p>
        </p:txBody>
      </p:sp>
      <p:sp>
        <p:nvSpPr>
          <p:cNvPr id="20" name="Rectangle 19">
            <a:extLst>
              <a:ext uri="{FF2B5EF4-FFF2-40B4-BE49-F238E27FC236}">
                <a16:creationId xmlns:a16="http://schemas.microsoft.com/office/drawing/2014/main" id="{19959994-DF4C-442D-A743-EBB45886DDFD}"/>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Every tested fold selected the same aggressive candidate: depth 4, 100 rounds, min_child_weight 5. That is a useful diagnostic, but it has to earn its keep OOS.</a:t>
            </a:r>
          </a:p>
        </p:txBody>
      </p:sp>
    </p:spTree>
    <p:extLst>
      <p:ext uri="{BB962C8B-B14F-4D97-AF65-F5344CB8AC3E}">
        <p14:creationId xmlns:p14="http://schemas.microsoft.com/office/powerpoint/2010/main" val="137541324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B9573117-6ECD-40F2-B6AF-3FAC953F29A6}"/>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CE61031D-E71F-41C0-9698-82E60173C87D}"/>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selected grid did not improve OOS replay</a:t>
            </a:r>
          </a:p>
        </p:txBody>
      </p:sp>
      <p:sp>
        <p:nvSpPr>
          <p:cNvPr id="3" name="Rectangle 2">
            <a:extLst>
              <a:ext uri="{FF2B5EF4-FFF2-40B4-BE49-F238E27FC236}">
                <a16:creationId xmlns:a16="http://schemas.microsoft.com/office/drawing/2014/main" id="{7AF40271-A4D6-45AD-9238-3F74CFD2688E}"/>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6EDFD8B9-BAB4-4F05-9956-7D04E77397E6}"/>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62440839-257B-4942-9A6E-5B6352F17235}"/>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FIXED XGB</a:t>
            </a:r>
          </a:p>
        </p:txBody>
      </p:sp>
      <p:sp>
        <p:nvSpPr>
          <p:cNvPr id="6" name="Rectangle 5">
            <a:extLst>
              <a:ext uri="{FF2B5EF4-FFF2-40B4-BE49-F238E27FC236}">
                <a16:creationId xmlns:a16="http://schemas.microsoft.com/office/drawing/2014/main" id="{0222E90E-E9B0-44B0-B62B-2800BD2A3CB2}"/>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108.9%</a:t>
            </a:r>
          </a:p>
        </p:txBody>
      </p:sp>
      <p:sp>
        <p:nvSpPr>
          <p:cNvPr id="7" name="Rectangle 6">
            <a:extLst>
              <a:ext uri="{FF2B5EF4-FFF2-40B4-BE49-F238E27FC236}">
                <a16:creationId xmlns:a16="http://schemas.microsoft.com/office/drawing/2014/main" id="{7F09CB5B-DAF4-4620-8FF4-70DF00D754B7}"/>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Basket hold was 225.2%.</a:t>
            </a:r>
          </a:p>
        </p:txBody>
      </p:sp>
      <p:sp>
        <p:nvSpPr>
          <p:cNvPr id="8" name="Rectangle 7">
            <a:extLst>
              <a:ext uri="{FF2B5EF4-FFF2-40B4-BE49-F238E27FC236}">
                <a16:creationId xmlns:a16="http://schemas.microsoft.com/office/drawing/2014/main" id="{CB19F172-81F5-4729-BC03-9C551A4808B7}"/>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68FE7B65-B6E8-4449-B53C-283843E12A41}"/>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SELECTED</a:t>
            </a:r>
          </a:p>
        </p:txBody>
      </p:sp>
      <p:sp>
        <p:nvSpPr>
          <p:cNvPr id="10" name="Rectangle 9">
            <a:extLst>
              <a:ext uri="{FF2B5EF4-FFF2-40B4-BE49-F238E27FC236}">
                <a16:creationId xmlns:a16="http://schemas.microsoft.com/office/drawing/2014/main" id="{D52BD412-6AF6-4B49-861F-38BCE113651B}"/>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78.1%</a:t>
            </a:r>
          </a:p>
        </p:txBody>
      </p:sp>
      <p:sp>
        <p:nvSpPr>
          <p:cNvPr id="11" name="Rectangle 10">
            <a:extLst>
              <a:ext uri="{FF2B5EF4-FFF2-40B4-BE49-F238E27FC236}">
                <a16:creationId xmlns:a16="http://schemas.microsoft.com/office/drawing/2014/main" id="{D5D84C8B-4B54-425F-8BE1-1B18F27BE4FC}"/>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Fixed XGB was 108.9%.</a:t>
            </a:r>
          </a:p>
        </p:txBody>
      </p:sp>
      <p:sp>
        <p:nvSpPr>
          <p:cNvPr id="12" name="Rectangle 11">
            <a:extLst>
              <a:ext uri="{FF2B5EF4-FFF2-40B4-BE49-F238E27FC236}">
                <a16:creationId xmlns:a16="http://schemas.microsoft.com/office/drawing/2014/main" id="{E4CA1928-B51E-44B4-BEF2-180ACA9F5316}"/>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6630BC17-FA7B-4C65-BD2D-C1B6FDF33336}"/>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2022 FIXED XGB</a:t>
            </a:r>
          </a:p>
        </p:txBody>
      </p:sp>
      <p:sp>
        <p:nvSpPr>
          <p:cNvPr id="14" name="Rectangle 13">
            <a:extLst>
              <a:ext uri="{FF2B5EF4-FFF2-40B4-BE49-F238E27FC236}">
                <a16:creationId xmlns:a16="http://schemas.microsoft.com/office/drawing/2014/main" id="{B1A428C2-F15A-4E5C-8E79-A9CB411C3474}"/>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-37.8%</a:t>
            </a:r>
          </a:p>
        </p:txBody>
      </p:sp>
      <p:sp>
        <p:nvSpPr>
          <p:cNvPr id="15" name="Rectangle 14">
            <a:extLst>
              <a:ext uri="{FF2B5EF4-FFF2-40B4-BE49-F238E27FC236}">
                <a16:creationId xmlns:a16="http://schemas.microsoft.com/office/drawing/2014/main" id="{AF24C6FB-A321-49DF-BD33-149DDD75F11F}"/>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Basket hold was -53.3%.</a:t>
            </a:r>
          </a:p>
        </p:txBody>
      </p:sp>
      <p:sp>
        <p:nvSpPr>
          <p:cNvPr id="16" name="Rectangle 15">
            <a:extLst>
              <a:ext uri="{FF2B5EF4-FFF2-40B4-BE49-F238E27FC236}">
                <a16:creationId xmlns:a16="http://schemas.microsoft.com/office/drawing/2014/main" id="{4D2E3419-5307-42FB-8F5B-9A52CB010BC1}"/>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64877659-16E7-4B35-8B75-325F209737B5}"/>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2022 SELECTED</a:t>
            </a:r>
          </a:p>
        </p:txBody>
      </p:sp>
      <p:sp>
        <p:nvSpPr>
          <p:cNvPr id="18" name="Rectangle 17">
            <a:extLst>
              <a:ext uri="{FF2B5EF4-FFF2-40B4-BE49-F238E27FC236}">
                <a16:creationId xmlns:a16="http://schemas.microsoft.com/office/drawing/2014/main" id="{769AABB5-AFEB-4845-A1A3-A86B89587742}"/>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-41.7%</a:t>
            </a:r>
          </a:p>
        </p:txBody>
      </p:sp>
      <p:sp>
        <p:nvSpPr>
          <p:cNvPr id="19" name="Rectangle 18">
            <a:extLst>
              <a:ext uri="{FF2B5EF4-FFF2-40B4-BE49-F238E27FC236}">
                <a16:creationId xmlns:a16="http://schemas.microsoft.com/office/drawing/2014/main" id="{F9C22CC1-6067-4DAE-88EC-07A71853DAE4}"/>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Fixed XGB was -37.8%.</a:t>
            </a:r>
          </a:p>
        </p:txBody>
      </p:sp>
      <p:sp>
        <p:nvSpPr>
          <p:cNvPr id="20" name="Rectangle 19">
            <a:extLst>
              <a:ext uri="{FF2B5EF4-FFF2-40B4-BE49-F238E27FC236}">
                <a16:creationId xmlns:a16="http://schemas.microsoft.com/office/drawing/2014/main" id="{CCCDFF06-E4A0-4184-9A52-C5733ACF8F27}"/>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The selected grid was worse than the fixed XGBoost control in both windows under the same TRAIN forward-return policy. This argues against widening model knobs before improving features or labels.</a:t>
            </a:r>
          </a:p>
        </p:txBody>
      </p:sp>
    </p:spTree>
    <p:extLst>
      <p:ext uri="{BB962C8B-B14F-4D97-AF65-F5344CB8AC3E}">
        <p14:creationId xmlns:p14="http://schemas.microsoft.com/office/powerpoint/2010/main" val="11352472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1BDDEE5-6660-42B5-88C2-FD800062B652}"/>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11D97A69-8361-42C4-BEEB-7F63FEFA8C10}"/>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equity curves show tuning did not solve the core tradeoff</a:t>
            </a:r>
          </a:p>
        </p:txBody>
      </p:sp>
      <p:sp>
        <p:nvSpPr>
          <p:cNvPr id="3" name="Rectangle 2">
            <a:extLst>
              <a:ext uri="{FF2B5EF4-FFF2-40B4-BE49-F238E27FC236}">
                <a16:creationId xmlns:a16="http://schemas.microsoft.com/office/drawing/2014/main" id="{43BB5E78-E2D1-4EE6-A8FC-BF4775EF0163}"/>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835819" y="2000250"/>
            <a:ext cx="6900863" cy="3943350"/>
          </a:xfrm>
          <a:prstGeom prst="rect">
            <a:avLst/>
          </a:prstGeom>
        </p:spPr>
      </p:pic>
      <p:sp>
        <p:nvSpPr>
          <p:cNvPr id="5" name="Rectangle 4">
            <a:extLst>
              <a:ext uri="{FF2B5EF4-FFF2-40B4-BE49-F238E27FC236}">
                <a16:creationId xmlns:a16="http://schemas.microsoft.com/office/drawing/2014/main" id="{1511EA1D-42AB-48C6-BC35-8F689EDFE865}"/>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changed</a:t>
            </a:r>
          </a:p>
        </p:txBody>
      </p:sp>
      <p:sp>
        <p:nvSpPr>
          <p:cNvPr id="6" name="Rectangle 5">
            <a:extLst>
              <a:ext uri="{FF2B5EF4-FFF2-40B4-BE49-F238E27FC236}">
                <a16:creationId xmlns:a16="http://schemas.microsoft.com/office/drawing/2014/main" id="{59B1B29E-3C51-4023-B36F-9789FC620787}"/>
              </a:ext>
            </a:extLst>
          </p:cNvPr>
          <p:cNvSpPr>
            <a:spLocks noGrp="1"/>
          </p:cNvSpPr>
          <p:nvPr/>
        </p:nvSpPr>
        <p:spPr>
          <a:xfrm>
            <a:off x="8477250" y="2705100"/>
            <a:ext cx="2705100" cy="2381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TRAIN-selected candidate returned 78.1% in 2020 versus fixed XGB 108.9%, and -41.7% in 2022 versus fixed XGB -37.8%. It did not close the bull-window gap.</a:t>
            </a:r>
          </a:p>
        </p:txBody>
      </p:sp>
    </p:spTree>
    <p:extLst>
      <p:ext uri="{BB962C8B-B14F-4D97-AF65-F5344CB8AC3E}">
        <p14:creationId xmlns:p14="http://schemas.microsoft.com/office/powerpoint/2010/main" val="13442272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DC44947-D3D2-4006-98D7-FD4A7FA98EA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0FB3C925-40C7-497D-85CE-19EB3E79E208}"/>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Ranking quality got weaker, not stronger</a:t>
            </a:r>
          </a:p>
        </p:txBody>
      </p:sp>
      <p:sp>
        <p:nvSpPr>
          <p:cNvPr id="3" name="Rectangle 2">
            <a:extLst>
              <a:ext uri="{FF2B5EF4-FFF2-40B4-BE49-F238E27FC236}">
                <a16:creationId xmlns:a16="http://schemas.microsoft.com/office/drawing/2014/main" id="{E6510FC6-190E-42E9-AAF6-A87D115C80EA}"/>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04850" y="2214196"/>
            <a:ext cx="5715000" cy="3077308"/>
          </a:xfrm>
          <a:prstGeom prst="rect">
            <a:avLst/>
          </a:prstGeom>
        </p:spPr>
      </p:pic>
      <p:sp>
        <p:nvSpPr>
          <p:cNvPr id="5" name="Rectangle 4">
            <a:extLst>
              <a:ext uri="{FF2B5EF4-FFF2-40B4-BE49-F238E27FC236}">
                <a16:creationId xmlns:a16="http://schemas.microsoft.com/office/drawing/2014/main" id="{E03FC56C-19ED-4DE0-80CC-36562D21E033}"/>
              </a:ext>
            </a:extLst>
          </p:cNvPr>
          <p:cNvSpPr>
            <a:spLocks noGrp="1"/>
          </p:cNvSpPr>
          <p:nvPr/>
        </p:nvSpPr>
        <p:spPr>
          <a:xfrm>
            <a:off x="7105650" y="2133600"/>
            <a:ext cx="2857500" cy="32385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Readout</a:t>
            </a:r>
          </a:p>
        </p:txBody>
      </p:sp>
      <p:sp>
        <p:nvSpPr>
          <p:cNvPr id="6" name="Rectangle 5">
            <a:extLst>
              <a:ext uri="{FF2B5EF4-FFF2-40B4-BE49-F238E27FC236}">
                <a16:creationId xmlns:a16="http://schemas.microsoft.com/office/drawing/2014/main" id="{A02E90FC-DE58-4B69-AF77-E0D2E5562542}"/>
              </a:ext>
            </a:extLst>
          </p:cNvPr>
          <p:cNvSpPr>
            <a:spLocks noGrp="1"/>
          </p:cNvSpPr>
          <p:nvPr/>
        </p:nvSpPr>
        <p:spPr>
          <a:xfrm>
            <a:off x="7105650" y="2743200"/>
            <a:ext cx="3333750" cy="21907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selected-grid 2020 AUC was 0.489 versus fixed XGB 0.510. In 2022, selected-grid AUC was 0.481 and top-minus-bottom return separation stayed negative.</a:t>
            </a:r>
          </a:p>
        </p:txBody>
      </p:sp>
    </p:spTree>
    <p:extLst>
      <p:ext uri="{BB962C8B-B14F-4D97-AF65-F5344CB8AC3E}">
        <p14:creationId xmlns:p14="http://schemas.microsoft.com/office/powerpoint/2010/main" val="170936882"/>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03DB98D-247F-45F5-9807-DDBAE0D07BB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71FB4C7B-E816-456C-BF54-234F43C738A3}"/>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parameter audit is a stop sign for knob-chasing</a:t>
            </a:r>
          </a:p>
        </p:txBody>
      </p:sp>
      <p:sp>
        <p:nvSpPr>
          <p:cNvPr id="3" name="Rectangle 2">
            <a:extLst>
              <a:ext uri="{FF2B5EF4-FFF2-40B4-BE49-F238E27FC236}">
                <a16:creationId xmlns:a16="http://schemas.microsoft.com/office/drawing/2014/main" id="{8CF424AD-577A-4F3E-A7C8-DB7C7CF15902}"/>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04850" y="2104292"/>
            <a:ext cx="5715000" cy="3297115"/>
          </a:xfrm>
          <a:prstGeom prst="rect">
            <a:avLst/>
          </a:prstGeom>
        </p:spPr>
      </p:pic>
      <p:sp>
        <p:nvSpPr>
          <p:cNvPr id="5" name="Rectangle 4">
            <a:extLst>
              <a:ext uri="{FF2B5EF4-FFF2-40B4-BE49-F238E27FC236}">
                <a16:creationId xmlns:a16="http://schemas.microsoft.com/office/drawing/2014/main" id="{DE83D40E-44ED-46D6-BCB2-82B6054DC32C}"/>
              </a:ext>
            </a:extLst>
          </p:cNvPr>
          <p:cNvSpPr>
            <a:spLocks noGrp="1"/>
          </p:cNvSpPr>
          <p:nvPr/>
        </p:nvSpPr>
        <p:spPr>
          <a:xfrm>
            <a:off x="7105650" y="2133600"/>
            <a:ext cx="2857500" cy="32385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Implication</a:t>
            </a:r>
          </a:p>
        </p:txBody>
      </p:sp>
      <p:sp>
        <p:nvSpPr>
          <p:cNvPr id="6" name="Rectangle 5">
            <a:extLst>
              <a:ext uri="{FF2B5EF4-FFF2-40B4-BE49-F238E27FC236}">
                <a16:creationId xmlns:a16="http://schemas.microsoft.com/office/drawing/2014/main" id="{9C12A742-6AEE-4796-B5BA-3A6A54CF3309}"/>
              </a:ext>
            </a:extLst>
          </p:cNvPr>
          <p:cNvSpPr>
            <a:spLocks noGrp="1"/>
          </p:cNvSpPr>
          <p:nvPr/>
        </p:nvSpPr>
        <p:spPr>
          <a:xfrm>
            <a:off x="7105650" y="2743200"/>
            <a:ext cx="3333750" cy="2381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TRAIN proxy consistently prefers more flexible trees, but OOS evidence does not reward that flexibility. The next productive slice should target signal definition: richer feature design, alternative labels, or probability calibration with a specific hypothesis.</a:t>
            </a:r>
          </a:p>
        </p:txBody>
      </p:sp>
    </p:spTree>
    <p:extLst>
      <p:ext uri="{BB962C8B-B14F-4D97-AF65-F5344CB8AC3E}">
        <p14:creationId xmlns:p14="http://schemas.microsoft.com/office/powerpoint/2010/main" val="170234073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E8AC669-491C-4278-831D-8B81F8F9AE21}"/>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675BA7C6-058F-47A5-A001-2CD371361023}"/>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Probability tapes confirm the model is still noisy near the boundary</a:t>
            </a:r>
          </a:p>
        </p:txBody>
      </p:sp>
      <p:sp>
        <p:nvSpPr>
          <p:cNvPr id="3" name="Rectangle 2">
            <a:extLst>
              <a:ext uri="{FF2B5EF4-FFF2-40B4-BE49-F238E27FC236}">
                <a16:creationId xmlns:a16="http://schemas.microsoft.com/office/drawing/2014/main" id="{5BA90E13-334E-4919-8F06-0809D44E4111}"/>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038785" y="2000250"/>
            <a:ext cx="6494929" cy="3943350"/>
          </a:xfrm>
          <a:prstGeom prst="rect">
            <a:avLst/>
          </a:prstGeom>
        </p:spPr>
      </p:pic>
      <p:sp>
        <p:nvSpPr>
          <p:cNvPr id="5" name="Rectangle 4">
            <a:extLst>
              <a:ext uri="{FF2B5EF4-FFF2-40B4-BE49-F238E27FC236}">
                <a16:creationId xmlns:a16="http://schemas.microsoft.com/office/drawing/2014/main" id="{255196B3-4919-4FB7-A7A7-FF985B9EACEA}"/>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to inspect</a:t>
            </a:r>
          </a:p>
        </p:txBody>
      </p:sp>
      <p:sp>
        <p:nvSpPr>
          <p:cNvPr id="6" name="Rectangle 5">
            <a:extLst>
              <a:ext uri="{FF2B5EF4-FFF2-40B4-BE49-F238E27FC236}">
                <a16:creationId xmlns:a16="http://schemas.microsoft.com/office/drawing/2014/main" id="{47BCE28A-1ABE-4652-85F4-B5502EBD0B69}"/>
              </a:ext>
            </a:extLst>
          </p:cNvPr>
          <p:cNvSpPr>
            <a:spLocks noGrp="1"/>
          </p:cNvSpPr>
          <p:nvPr/>
        </p:nvSpPr>
        <p:spPr>
          <a:xfrm>
            <a:off x="8477250" y="2705100"/>
            <a:ext cx="2705100" cy="228600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selected grid changes probability texture, but it still spends too much time around the threshold rather than cleanly separating high-participation and risk-off periods.</a:t>
            </a:r>
          </a:p>
        </p:txBody>
      </p:sp>
    </p:spTree>
    <p:extLst>
      <p:ext uri="{BB962C8B-B14F-4D97-AF65-F5344CB8AC3E}">
        <p14:creationId xmlns:p14="http://schemas.microsoft.com/office/powerpoint/2010/main" val="178801409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393499D-2EE1-4D3A-B71D-50B8AECF4CDD}"/>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200D1A73-356D-4CAC-81BE-DAA97AC3066F}"/>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next ML gate should return to features and labels</a:t>
            </a:r>
          </a:p>
        </p:txBody>
      </p:sp>
      <p:sp>
        <p:nvSpPr>
          <p:cNvPr id="3" name="Rectangle 2">
            <a:extLst>
              <a:ext uri="{FF2B5EF4-FFF2-40B4-BE49-F238E27FC236}">
                <a16:creationId xmlns:a16="http://schemas.microsoft.com/office/drawing/2014/main" id="{488F151B-42F0-42DC-A5C3-51A879BCC26E}"/>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4F163C24-7C4F-4B11-89DC-455193D50E29}"/>
              </a:ext>
            </a:extLst>
          </p:cNvPr>
          <p:cNvSpPr>
            <a:spLocks noGrp="1"/>
          </p:cNvSpPr>
          <p:nvPr/>
        </p:nvSpPr>
        <p:spPr>
          <a:xfrm>
            <a:off x="876300" y="2133600"/>
            <a:ext cx="9334500" cy="91440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ML-P2b answered the narrow tuning question: small TRAIN-only XGBoost parameter selection did not improve OOS ranking or replay versus the fixed control.</a:t>
            </a:r>
          </a:p>
        </p:txBody>
      </p:sp>
      <p:sp>
        <p:nvSpPr>
          <p:cNvPr id="5" name="Rectangle 4">
            <a:extLst>
              <a:ext uri="{FF2B5EF4-FFF2-40B4-BE49-F238E27FC236}">
                <a16:creationId xmlns:a16="http://schemas.microsoft.com/office/drawing/2014/main" id="{BF01DF1B-21D1-4AF9-AE42-772C76F25B13}"/>
              </a:ext>
            </a:extLst>
          </p:cNvPr>
          <p:cNvSpPr>
            <a:spLocks noGrp="1"/>
          </p:cNvSpPr>
          <p:nvPr/>
        </p:nvSpPr>
        <p:spPr>
          <a:xfrm>
            <a:off x="1219200" y="35718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E502C21B-4E29-4900-B3D8-3CF3CD30C3E8}"/>
              </a:ext>
            </a:extLst>
          </p:cNvPr>
          <p:cNvSpPr>
            <a:spLocks noGrp="1"/>
          </p:cNvSpPr>
          <p:nvPr/>
        </p:nvSpPr>
        <p:spPr>
          <a:xfrm>
            <a:off x="1485900" y="35623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Do not broaden XGBoost search yet; that would mostly increase overfit surface area.</a:t>
            </a:r>
          </a:p>
        </p:txBody>
      </p:sp>
      <p:sp>
        <p:nvSpPr>
          <p:cNvPr id="7" name="Rectangle 6">
            <a:extLst>
              <a:ext uri="{FF2B5EF4-FFF2-40B4-BE49-F238E27FC236}">
                <a16:creationId xmlns:a16="http://schemas.microsoft.com/office/drawing/2014/main" id="{1D8A16EC-C5D2-47D5-B779-2083AAB62E39}"/>
              </a:ext>
            </a:extLst>
          </p:cNvPr>
          <p:cNvSpPr>
            <a:spLocks noGrp="1"/>
          </p:cNvSpPr>
          <p:nvPr/>
        </p:nvSpPr>
        <p:spPr>
          <a:xfrm>
            <a:off x="1219200" y="42386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F982A0A0-D4A5-4968-B923-8A72180213E8}"/>
              </a:ext>
            </a:extLst>
          </p:cNvPr>
          <p:cNvSpPr>
            <a:spLocks noGrp="1"/>
          </p:cNvSpPr>
          <p:nvPr/>
        </p:nvSpPr>
        <p:spPr>
          <a:xfrm>
            <a:off x="1485900" y="42291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Next high-signal slice: feature-family ablation or richer supervised labels, still under annual continuity replay.</a:t>
            </a:r>
          </a:p>
        </p:txBody>
      </p:sp>
      <p:sp>
        <p:nvSpPr>
          <p:cNvPr id="9" name="Rectangle 8">
            <a:extLst>
              <a:ext uri="{FF2B5EF4-FFF2-40B4-BE49-F238E27FC236}">
                <a16:creationId xmlns:a16="http://schemas.microsoft.com/office/drawing/2014/main" id="{4D3DDAEE-A6AF-469F-9B86-E47BA41A26A6}"/>
              </a:ext>
            </a:extLst>
          </p:cNvPr>
          <p:cNvSpPr>
            <a:spLocks noGrp="1"/>
          </p:cNvSpPr>
          <p:nvPr/>
        </p:nvSpPr>
        <p:spPr>
          <a:xfrm>
            <a:off x="1219200" y="49053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1FB7B156-164B-4B5C-8765-4A9735F061AC}"/>
              </a:ext>
            </a:extLst>
          </p:cNvPr>
          <p:cNvSpPr>
            <a:spLocks noGrp="1"/>
          </p:cNvSpPr>
          <p:nvPr/>
        </p:nvSpPr>
        <p:spPr>
          <a:xfrm>
            <a:off x="1485900" y="48958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XGBoost as the nonlinear model class, but make the input/target question sharper.</a:t>
            </a:r>
          </a:p>
        </p:txBody>
      </p:sp>
      <p:sp>
        <p:nvSpPr>
          <p:cNvPr id="11" name="Rectangle 10">
            <a:extLst>
              <a:ext uri="{FF2B5EF4-FFF2-40B4-BE49-F238E27FC236}">
                <a16:creationId xmlns:a16="http://schemas.microsoft.com/office/drawing/2014/main" id="{322EDC32-1872-4733-91B8-C3D31A6123AE}"/>
              </a:ext>
            </a:extLst>
          </p:cNvPr>
          <p:cNvSpPr>
            <a:spLocks noGrp="1"/>
          </p:cNvSpPr>
          <p:nvPr/>
        </p:nvSpPr>
        <p:spPr>
          <a:xfrm>
            <a:off x="1219200" y="55721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D1876351-8DF6-4CA0-9BDA-7A279911C73A}"/>
              </a:ext>
            </a:extLst>
          </p:cNvPr>
          <p:cNvSpPr>
            <a:spLocks noGrp="1"/>
          </p:cNvSpPr>
          <p:nvPr/>
        </p:nvSpPr>
        <p:spPr>
          <a:xfrm>
            <a:off x="1485900" y="55626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Live advice remains walled off; this is research-only evidence.</a:t>
            </a:r>
          </a:p>
        </p:txBody>
      </p:sp>
    </p:spTree>
    <p:extLst>
      <p:ext uri="{BB962C8B-B14F-4D97-AF65-F5344CB8AC3E}">
        <p14:creationId xmlns:p14="http://schemas.microsoft.com/office/powerpoint/2010/main" val="31015122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743EA95-523F-4685-A7EA-90950EC4B794}"/>
              </a:ext>
            </a:extLst>
          </p:cNvPr>
          <p:cNvSpPr>
            <a:spLocks noGrp="1"/>
          </p:cNvSpPr>
          <p:nvPr/>
        </p:nvSpPr>
        <p:spPr>
          <a:xfrm>
            <a:off x="685800" y="495300"/>
            <a:ext cx="4762500" cy="419100"/>
          </a:xfrm>
          <a:prstGeom prst="rect">
            <a:avLst/>
          </a:prstGeom>
          <a:noFill/>
          <a:ln w="0">
            <a:noFill/>
            <a:prstDash val="solid"/>
          </a:ln>
        </p:spPr>
        <p:txBody>
          <a:bodyPr/>
          <a:lstStyle/>
          <a:p>
            <a:pPr algn="l">
              <a:defRPr sz="2400" b="1" i="0">
                <a:solidFill>
                  <a:srgbClr val="555555"/>
                </a:solidFill>
              </a:defRPr>
            </a:pPr>
            <a:r>
              <a:rPr sz="2400" b="1" i="0">
                <a:solidFill>
                  <a:srgbClr val="555555"/>
                </a:solidFill>
              </a:rPr>
              <a:t>Transition</a:t>
            </a:r>
          </a:p>
        </p:txBody>
      </p:sp>
      <p:sp>
        <p:nvSpPr>
          <p:cNvPr id="2" name="Rectangle 1">
            <a:extLst>
              <a:ext uri="{FF2B5EF4-FFF2-40B4-BE49-F238E27FC236}">
                <a16:creationId xmlns:a16="http://schemas.microsoft.com/office/drawing/2014/main" id="{989F25D0-0FF3-43E0-9DD3-E42742E87583}"/>
              </a:ext>
            </a:extLst>
          </p:cNvPr>
          <p:cNvSpPr>
            <a:spLocks noGrp="1"/>
          </p:cNvSpPr>
          <p:nvPr/>
        </p:nvSpPr>
        <p:spPr>
          <a:xfrm>
            <a:off x="685800" y="1562100"/>
            <a:ext cx="8096250" cy="1066800"/>
          </a:xfrm>
          <a:prstGeom prst="rect">
            <a:avLst/>
          </a:prstGeom>
          <a:noFill/>
          <a:ln w="0">
            <a:noFill/>
            <a:prstDash val="solid"/>
          </a:ln>
        </p:spPr>
        <p:txBody>
          <a:bodyPr/>
          <a:lstStyle/>
          <a:p>
            <a:pPr algn="l">
              <a:defRPr sz="3750" b="1" i="0">
                <a:solidFill>
                  <a:srgbClr val="000000"/>
                </a:solidFill>
              </a:defRPr>
            </a:pPr>
            <a:r>
              <a:rPr sz="3750" b="1" i="0">
                <a:solidFill>
                  <a:srgbClr val="000000"/>
                </a:solidFill>
              </a:rPr>
              <a:t>Now we test what information the model sees</a:t>
            </a:r>
          </a:p>
        </p:txBody>
      </p:sp>
      <p:sp>
        <p:nvSpPr>
          <p:cNvPr id="3" name="Rectangle 2">
            <a:extLst>
              <a:ext uri="{FF2B5EF4-FFF2-40B4-BE49-F238E27FC236}">
                <a16:creationId xmlns:a16="http://schemas.microsoft.com/office/drawing/2014/main" id="{EA5F6791-A955-49AB-97E4-C47DC6C91B1E}"/>
              </a:ext>
            </a:extLst>
          </p:cNvPr>
          <p:cNvSpPr>
            <a:spLocks noGrp="1"/>
          </p:cNvSpPr>
          <p:nvPr/>
        </p:nvSpPr>
        <p:spPr>
          <a:xfrm>
            <a:off x="723900" y="3105150"/>
            <a:ext cx="57150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98086D3A-D057-44E3-9BD4-B635586093E0}"/>
              </a:ext>
            </a:extLst>
          </p:cNvPr>
          <p:cNvSpPr>
            <a:spLocks noGrp="1"/>
          </p:cNvSpPr>
          <p:nvPr/>
        </p:nvSpPr>
        <p:spPr>
          <a:xfrm>
            <a:off x="723900" y="3467100"/>
            <a:ext cx="7524750" cy="106680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ML-P3 keeps seeded XGBoost, h1 labels, TRAIN-only threshold selection, annual replay, and benchmark comparison fixed. Only feature-set membership changes.</a:t>
            </a:r>
          </a:p>
        </p:txBody>
      </p:sp>
      <p:sp>
        <p:nvSpPr>
          <p:cNvPr id="5" name="Rectangle 4">
            <a:extLst>
              <a:ext uri="{FF2B5EF4-FFF2-40B4-BE49-F238E27FC236}">
                <a16:creationId xmlns:a16="http://schemas.microsoft.com/office/drawing/2014/main" id="{A9DF02F3-2891-499F-9BF7-5E07E9976046}"/>
              </a:ext>
            </a:extLst>
          </p:cNvPr>
          <p:cNvSpPr>
            <a:spLocks noGrp="1"/>
          </p:cNvSpPr>
          <p:nvPr/>
        </p:nvSpPr>
        <p:spPr>
          <a:xfrm>
            <a:off x="8801100" y="0"/>
            <a:ext cx="3390900" cy="6858000"/>
          </a:xfrm>
          <a:prstGeom prst="rect">
            <a:avLst/>
          </a:prstGeom>
          <a:solidFill>
            <a:srgbClr val="EDEDED"/>
          </a:solidFill>
          <a:ln w="0">
            <a:noFill/>
            <a:prstDash val="solid"/>
          </a:ln>
        </p:spPr>
        <p:txBody>
          <a:bodyPr/>
          <a:lstStyle/>
          <a:p>
            <a:endParaRPr lang="en-US"/>
          </a:p>
        </p:txBody>
      </p:sp>
      <p:sp>
        <p:nvSpPr>
          <p:cNvPr id="6" name="Rectangle 5">
            <a:extLst>
              <a:ext uri="{FF2B5EF4-FFF2-40B4-BE49-F238E27FC236}">
                <a16:creationId xmlns:a16="http://schemas.microsoft.com/office/drawing/2014/main" id="{4218B52C-FF60-4FDC-A0D4-A40B0F532D44}"/>
              </a:ext>
            </a:extLst>
          </p:cNvPr>
          <p:cNvSpPr>
            <a:spLocks noGrp="1"/>
          </p:cNvSpPr>
          <p:nvPr/>
        </p:nvSpPr>
        <p:spPr>
          <a:xfrm>
            <a:off x="9353550" y="2343150"/>
            <a:ext cx="2190750" cy="438150"/>
          </a:xfrm>
          <a:prstGeom prst="rect">
            <a:avLst/>
          </a:prstGeom>
          <a:noFill/>
          <a:ln w="0">
            <a:noFill/>
            <a:prstDash val="solid"/>
          </a:ln>
        </p:spPr>
        <p:txBody>
          <a:bodyPr/>
          <a:lstStyle/>
          <a:p>
            <a:pPr algn="ctr">
              <a:defRPr sz="3150" b="1" i="0">
                <a:solidFill>
                  <a:srgbClr val="000000"/>
                </a:solidFill>
              </a:defRPr>
            </a:pPr>
            <a:r>
              <a:rPr sz="3150" b="1" i="0">
                <a:solidFill>
                  <a:srgbClr val="000000"/>
                </a:solidFill>
              </a:rPr>
              <a:t>ML-P3</a:t>
            </a:r>
          </a:p>
        </p:txBody>
      </p:sp>
      <p:sp>
        <p:nvSpPr>
          <p:cNvPr id="7" name="Rectangle 6">
            <a:extLst>
              <a:ext uri="{FF2B5EF4-FFF2-40B4-BE49-F238E27FC236}">
                <a16:creationId xmlns:a16="http://schemas.microsoft.com/office/drawing/2014/main" id="{01F8B619-973C-4AEA-AA32-B5F25A19BD0B}"/>
              </a:ext>
            </a:extLst>
          </p:cNvPr>
          <p:cNvSpPr>
            <a:spLocks noGrp="1"/>
          </p:cNvSpPr>
          <p:nvPr/>
        </p:nvSpPr>
        <p:spPr>
          <a:xfrm>
            <a:off x="9067800" y="3067050"/>
            <a:ext cx="2762250" cy="400050"/>
          </a:xfrm>
          <a:prstGeom prst="rect">
            <a:avLst/>
          </a:prstGeom>
          <a:noFill/>
          <a:ln w="0">
            <a:noFill/>
            <a:prstDash val="solid"/>
          </a:ln>
        </p:spPr>
        <p:txBody>
          <a:bodyPr/>
          <a:lstStyle/>
          <a:p>
            <a:pPr algn="ctr">
              <a:defRPr sz="1875" b="0" i="0">
                <a:solidFill>
                  <a:srgbClr val="222222"/>
                </a:solidFill>
              </a:defRPr>
            </a:pPr>
            <a:r>
              <a:rPr sz="1875" b="0" i="0">
                <a:solidFill>
                  <a:srgbClr val="222222"/>
                </a:solidFill>
              </a:rPr>
              <a:t>Feature sets</a:t>
            </a:r>
          </a:p>
        </p:txBody>
      </p:sp>
    </p:spTree>
    <p:extLst>
      <p:ext uri="{BB962C8B-B14F-4D97-AF65-F5344CB8AC3E}">
        <p14:creationId xmlns:p14="http://schemas.microsoft.com/office/powerpoint/2010/main" val="31781115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F7382A6C-22B5-4CCB-AC4A-C4EC9E92310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6979B4D6-5D57-4826-BD69-CB6266FBF189}"/>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four feature sets ask a ladder of questions</a:t>
            </a:r>
          </a:p>
        </p:txBody>
      </p:sp>
      <p:sp>
        <p:nvSpPr>
          <p:cNvPr id="3" name="Rectangle 2">
            <a:extLst>
              <a:ext uri="{FF2B5EF4-FFF2-40B4-BE49-F238E27FC236}">
                <a16:creationId xmlns:a16="http://schemas.microsoft.com/office/drawing/2014/main" id="{5FC75F48-5262-427D-B4DA-DFD430222662}"/>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55C507C0-EEC1-4118-899E-D878A2341A37}"/>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B77464AF-D27F-4341-8B96-13CF9601F73C}"/>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GUARDRAILS</a:t>
            </a:r>
          </a:p>
        </p:txBody>
      </p:sp>
      <p:sp>
        <p:nvSpPr>
          <p:cNvPr id="6" name="Rectangle 5">
            <a:extLst>
              <a:ext uri="{FF2B5EF4-FFF2-40B4-BE49-F238E27FC236}">
                <a16:creationId xmlns:a16="http://schemas.microsoft.com/office/drawing/2014/main" id="{79ABDABD-99DB-4D63-B6C5-F60E7ED2258E}"/>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7" name="Rectangle 6">
            <a:extLst>
              <a:ext uri="{FF2B5EF4-FFF2-40B4-BE49-F238E27FC236}">
                <a16:creationId xmlns:a16="http://schemas.microsoft.com/office/drawing/2014/main" id="{4C284ADD-218C-4C2B-887B-003034755C19}"/>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Model, label, replay, and policy are fixed.</a:t>
            </a:r>
          </a:p>
        </p:txBody>
      </p:sp>
      <p:sp>
        <p:nvSpPr>
          <p:cNvPr id="8" name="Rectangle 7">
            <a:extLst>
              <a:ext uri="{FF2B5EF4-FFF2-40B4-BE49-F238E27FC236}">
                <a16:creationId xmlns:a16="http://schemas.microsoft.com/office/drawing/2014/main" id="{43C01D45-9C10-4B70-8343-1026559A2E69}"/>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8B2FE381-1D74-4881-8DAE-DF07703F732A}"/>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ASSET ONLY</a:t>
            </a:r>
          </a:p>
        </p:txBody>
      </p:sp>
      <p:sp>
        <p:nvSpPr>
          <p:cNvPr id="10" name="Rectangle 9">
            <a:extLst>
              <a:ext uri="{FF2B5EF4-FFF2-40B4-BE49-F238E27FC236}">
                <a16:creationId xmlns:a16="http://schemas.microsoft.com/office/drawing/2014/main" id="{6D40AB14-D658-42FA-B458-1BC39B81AA3C}"/>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37</a:t>
            </a:r>
          </a:p>
        </p:txBody>
      </p:sp>
      <p:sp>
        <p:nvSpPr>
          <p:cNvPr id="11" name="Rectangle 10">
            <a:extLst>
              <a:ext uri="{FF2B5EF4-FFF2-40B4-BE49-F238E27FC236}">
                <a16:creationId xmlns:a16="http://schemas.microsoft.com/office/drawing/2014/main" id="{93A7F212-BD0F-4409-86CC-E1E597FFB935}"/>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Own-tape OHLCV features only.</a:t>
            </a:r>
          </a:p>
        </p:txBody>
      </p:sp>
      <p:sp>
        <p:nvSpPr>
          <p:cNvPr id="12" name="Rectangle 11">
            <a:extLst>
              <a:ext uri="{FF2B5EF4-FFF2-40B4-BE49-F238E27FC236}">
                <a16:creationId xmlns:a16="http://schemas.microsoft.com/office/drawing/2014/main" id="{B5DE5CA7-1B19-4978-B053-A8DC58589C43}"/>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45F3BEBF-7D2C-4469-8382-B69587189AFB}"/>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RELATIVE</a:t>
            </a:r>
          </a:p>
        </p:txBody>
      </p:sp>
      <p:sp>
        <p:nvSpPr>
          <p:cNvPr id="14" name="Rectangle 13">
            <a:extLst>
              <a:ext uri="{FF2B5EF4-FFF2-40B4-BE49-F238E27FC236}">
                <a16:creationId xmlns:a16="http://schemas.microsoft.com/office/drawing/2014/main" id="{68421D4F-4B38-4DF4-AD2B-6A97E2CEAC42}"/>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40</a:t>
            </a:r>
          </a:p>
        </p:txBody>
      </p:sp>
      <p:sp>
        <p:nvSpPr>
          <p:cNvPr id="15" name="Rectangle 14">
            <a:extLst>
              <a:ext uri="{FF2B5EF4-FFF2-40B4-BE49-F238E27FC236}">
                <a16:creationId xmlns:a16="http://schemas.microsoft.com/office/drawing/2014/main" id="{BAEE2A48-70F0-488A-8ACC-59D09F495CF6}"/>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Asset plus context-relative returns.</a:t>
            </a:r>
          </a:p>
        </p:txBody>
      </p:sp>
      <p:sp>
        <p:nvSpPr>
          <p:cNvPr id="16" name="Rectangle 15">
            <a:extLst>
              <a:ext uri="{FF2B5EF4-FFF2-40B4-BE49-F238E27FC236}">
                <a16:creationId xmlns:a16="http://schemas.microsoft.com/office/drawing/2014/main" id="{D191CC99-0CB7-41E0-8BDE-B30B953E40F8}"/>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A0B583BA-1B9E-4C23-8344-1D649CD03ACB}"/>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FULL COMPACT</a:t>
            </a:r>
          </a:p>
        </p:txBody>
      </p:sp>
      <p:sp>
        <p:nvSpPr>
          <p:cNvPr id="18" name="Rectangle 17">
            <a:extLst>
              <a:ext uri="{FF2B5EF4-FFF2-40B4-BE49-F238E27FC236}">
                <a16:creationId xmlns:a16="http://schemas.microsoft.com/office/drawing/2014/main" id="{052EE80E-BC39-4852-9E6D-CAB84AA5446E}"/>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76</a:t>
            </a:r>
          </a:p>
        </p:txBody>
      </p:sp>
      <p:sp>
        <p:nvSpPr>
          <p:cNvPr id="19" name="Rectangle 18">
            <a:extLst>
              <a:ext uri="{FF2B5EF4-FFF2-40B4-BE49-F238E27FC236}">
                <a16:creationId xmlns:a16="http://schemas.microsoft.com/office/drawing/2014/main" id="{C9796D7C-1007-4A6C-842C-616DF6065EF3}"/>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Own tape plus direct context plus relative strength.</a:t>
            </a:r>
          </a:p>
        </p:txBody>
      </p:sp>
      <p:sp>
        <p:nvSpPr>
          <p:cNvPr id="20" name="Rectangle 19">
            <a:extLst>
              <a:ext uri="{FF2B5EF4-FFF2-40B4-BE49-F238E27FC236}">
                <a16:creationId xmlns:a16="http://schemas.microsoft.com/office/drawing/2014/main" id="{4FF78772-315B-4C7F-8C9D-49ED6B2318EE}"/>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The point is not to add features for their own sake. The point is to ask whether direct market context, relative strength, or compact combined context improves replay and ranking together.</a:t>
            </a:r>
          </a:p>
        </p:txBody>
      </p:sp>
    </p:spTree>
    <p:extLst>
      <p:ext uri="{BB962C8B-B14F-4D97-AF65-F5344CB8AC3E}">
        <p14:creationId xmlns:p14="http://schemas.microsoft.com/office/powerpoint/2010/main" val="207809688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713C10E9-6F48-43CA-A900-2F59169BDAFD}"/>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5727B95E-3019-445C-BB7C-6F4CF5D55DCB}"/>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Relative strength still led 2020 replay; asset-only defended 2022 best</a:t>
            </a:r>
          </a:p>
        </p:txBody>
      </p:sp>
      <p:sp>
        <p:nvSpPr>
          <p:cNvPr id="3" name="Rectangle 2">
            <a:extLst>
              <a:ext uri="{FF2B5EF4-FFF2-40B4-BE49-F238E27FC236}">
                <a16:creationId xmlns:a16="http://schemas.microsoft.com/office/drawing/2014/main" id="{0D21F303-6240-41ED-B3C0-9645E756028C}"/>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93236090-1F4C-470D-8A8C-03C5D6848B2B}"/>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8CE9FBFB-7EE7-4726-8519-389D2F8071B6}"/>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RELATIVE</a:t>
            </a:r>
          </a:p>
        </p:txBody>
      </p:sp>
      <p:sp>
        <p:nvSpPr>
          <p:cNvPr id="6" name="Rectangle 5">
            <a:extLst>
              <a:ext uri="{FF2B5EF4-FFF2-40B4-BE49-F238E27FC236}">
                <a16:creationId xmlns:a16="http://schemas.microsoft.com/office/drawing/2014/main" id="{1F1CC60E-6A72-4D20-ADE0-A393596DFFE3}"/>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108.9%</a:t>
            </a:r>
          </a:p>
        </p:txBody>
      </p:sp>
      <p:sp>
        <p:nvSpPr>
          <p:cNvPr id="7" name="Rectangle 6">
            <a:extLst>
              <a:ext uri="{FF2B5EF4-FFF2-40B4-BE49-F238E27FC236}">
                <a16:creationId xmlns:a16="http://schemas.microsoft.com/office/drawing/2014/main" id="{6E9693EE-C9CC-4D74-B630-692111FA5B77}"/>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Basket hold was 225.2%.</a:t>
            </a:r>
          </a:p>
        </p:txBody>
      </p:sp>
      <p:sp>
        <p:nvSpPr>
          <p:cNvPr id="8" name="Rectangle 7">
            <a:extLst>
              <a:ext uri="{FF2B5EF4-FFF2-40B4-BE49-F238E27FC236}">
                <a16:creationId xmlns:a16="http://schemas.microsoft.com/office/drawing/2014/main" id="{4678A7A6-CFBE-4A6D-A9C3-44AD95DC1069}"/>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1E3EB62E-28DD-4D1A-8917-E1F5423A6A17}"/>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ASSET-ONLY</a:t>
            </a:r>
          </a:p>
        </p:txBody>
      </p:sp>
      <p:sp>
        <p:nvSpPr>
          <p:cNvPr id="10" name="Rectangle 9">
            <a:extLst>
              <a:ext uri="{FF2B5EF4-FFF2-40B4-BE49-F238E27FC236}">
                <a16:creationId xmlns:a16="http://schemas.microsoft.com/office/drawing/2014/main" id="{B5889D94-E4FA-48E7-A2A4-6AA89027ED07}"/>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81.1%</a:t>
            </a:r>
          </a:p>
        </p:txBody>
      </p:sp>
      <p:sp>
        <p:nvSpPr>
          <p:cNvPr id="11" name="Rectangle 10">
            <a:extLst>
              <a:ext uri="{FF2B5EF4-FFF2-40B4-BE49-F238E27FC236}">
                <a16:creationId xmlns:a16="http://schemas.microsoft.com/office/drawing/2014/main" id="{34299F47-87B1-4A99-A8C7-0CA647494DCA}"/>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Relative-strength was 108.9%.</a:t>
            </a:r>
          </a:p>
        </p:txBody>
      </p:sp>
      <p:sp>
        <p:nvSpPr>
          <p:cNvPr id="12" name="Rectangle 11">
            <a:extLst>
              <a:ext uri="{FF2B5EF4-FFF2-40B4-BE49-F238E27FC236}">
                <a16:creationId xmlns:a16="http://schemas.microsoft.com/office/drawing/2014/main" id="{E47CDA7F-9841-472D-BD53-492F56536CDF}"/>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511DE441-49F6-41CB-B5E1-99A52571CB2A}"/>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2022 ASSET-ONLY</a:t>
            </a:r>
          </a:p>
        </p:txBody>
      </p:sp>
      <p:sp>
        <p:nvSpPr>
          <p:cNvPr id="14" name="Rectangle 13">
            <a:extLst>
              <a:ext uri="{FF2B5EF4-FFF2-40B4-BE49-F238E27FC236}">
                <a16:creationId xmlns:a16="http://schemas.microsoft.com/office/drawing/2014/main" id="{259281E0-E21A-43A3-AD7C-5AA27D6ADFCE}"/>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-33.2%</a:t>
            </a:r>
          </a:p>
        </p:txBody>
      </p:sp>
      <p:sp>
        <p:nvSpPr>
          <p:cNvPr id="15" name="Rectangle 14">
            <a:extLst>
              <a:ext uri="{FF2B5EF4-FFF2-40B4-BE49-F238E27FC236}">
                <a16:creationId xmlns:a16="http://schemas.microsoft.com/office/drawing/2014/main" id="{09C63D82-3ECB-4066-BA85-2B020C6A54F5}"/>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Basket hold was -53.3%.</a:t>
            </a:r>
          </a:p>
        </p:txBody>
      </p:sp>
      <p:sp>
        <p:nvSpPr>
          <p:cNvPr id="16" name="Rectangle 15">
            <a:extLst>
              <a:ext uri="{FF2B5EF4-FFF2-40B4-BE49-F238E27FC236}">
                <a16:creationId xmlns:a16="http://schemas.microsoft.com/office/drawing/2014/main" id="{06A1ACDA-59CC-4B34-8D4B-AA5A39DE0AB0}"/>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67DAAA8A-5F5C-4008-B058-950788AAB384}"/>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2022 RELATIVE</a:t>
            </a:r>
          </a:p>
        </p:txBody>
      </p:sp>
      <p:sp>
        <p:nvSpPr>
          <p:cNvPr id="18" name="Rectangle 17">
            <a:extLst>
              <a:ext uri="{FF2B5EF4-FFF2-40B4-BE49-F238E27FC236}">
                <a16:creationId xmlns:a16="http://schemas.microsoft.com/office/drawing/2014/main" id="{1D155CDC-FA6A-444C-B64F-7B307C5B6451}"/>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-37.8%</a:t>
            </a:r>
          </a:p>
        </p:txBody>
      </p:sp>
      <p:sp>
        <p:nvSpPr>
          <p:cNvPr id="19" name="Rectangle 18">
            <a:extLst>
              <a:ext uri="{FF2B5EF4-FFF2-40B4-BE49-F238E27FC236}">
                <a16:creationId xmlns:a16="http://schemas.microsoft.com/office/drawing/2014/main" id="{E287731A-E944-4B82-8FC4-1A1BC714178C}"/>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Asset-only was -33.2%.</a:t>
            </a:r>
          </a:p>
        </p:txBody>
      </p:sp>
      <p:sp>
        <p:nvSpPr>
          <p:cNvPr id="20" name="Rectangle 19">
            <a:extLst>
              <a:ext uri="{FF2B5EF4-FFF2-40B4-BE49-F238E27FC236}">
                <a16:creationId xmlns:a16="http://schemas.microsoft.com/office/drawing/2014/main" id="{14754F07-A111-4B24-9E5C-FD18F380B029}"/>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This is an informative split: relative strength captures more upside in the bull window, while asset-only sheds more damage in the bear window. Direct context did not improve replay in this first slice.</a:t>
            </a:r>
          </a:p>
        </p:txBody>
      </p:sp>
    </p:spTree>
    <p:extLst>
      <p:ext uri="{BB962C8B-B14F-4D97-AF65-F5344CB8AC3E}">
        <p14:creationId xmlns:p14="http://schemas.microsoft.com/office/powerpoint/2010/main" val="130914772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BD43DA5F-8F6C-4D75-A351-68EEB18B8870}"/>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C4844C7C-C170-4AE9-9B3A-D71889AFF943}"/>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equity curves show context can add noise before it adds edge</a:t>
            </a:r>
          </a:p>
        </p:txBody>
      </p:sp>
      <p:sp>
        <p:nvSpPr>
          <p:cNvPr id="3" name="Rectangle 2">
            <a:extLst>
              <a:ext uri="{FF2B5EF4-FFF2-40B4-BE49-F238E27FC236}">
                <a16:creationId xmlns:a16="http://schemas.microsoft.com/office/drawing/2014/main" id="{AA561F26-62A5-4C40-8104-E00B0817005E}"/>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806824" y="2000250"/>
            <a:ext cx="6958853" cy="3943350"/>
          </a:xfrm>
          <a:prstGeom prst="rect">
            <a:avLst/>
          </a:prstGeom>
        </p:spPr>
      </p:pic>
      <p:sp>
        <p:nvSpPr>
          <p:cNvPr id="5" name="Rectangle 4">
            <a:extLst>
              <a:ext uri="{FF2B5EF4-FFF2-40B4-BE49-F238E27FC236}">
                <a16:creationId xmlns:a16="http://schemas.microsoft.com/office/drawing/2014/main" id="{A987039D-8425-485A-8130-FC89DDC2FC08}"/>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changed</a:t>
            </a:r>
          </a:p>
        </p:txBody>
      </p:sp>
      <p:sp>
        <p:nvSpPr>
          <p:cNvPr id="6" name="Rectangle 5">
            <a:extLst>
              <a:ext uri="{FF2B5EF4-FFF2-40B4-BE49-F238E27FC236}">
                <a16:creationId xmlns:a16="http://schemas.microsoft.com/office/drawing/2014/main" id="{CD5B79F2-AC92-4717-82D8-8362770D85AF}"/>
              </a:ext>
            </a:extLst>
          </p:cNvPr>
          <p:cNvSpPr>
            <a:spLocks noGrp="1"/>
          </p:cNvSpPr>
          <p:nvPr/>
        </p:nvSpPr>
        <p:spPr>
          <a:xfrm>
            <a:off x="8477250" y="2705100"/>
            <a:ext cx="2705100" cy="2381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Direct market context returned 49.3% in 2020, and full compact returned 51.9%. Both lagged relative strength at 108.9%. In 2022, asset-only was the best defender at -33.2%.</a:t>
            </a:r>
          </a:p>
        </p:txBody>
      </p:sp>
    </p:spTree>
    <p:extLst>
      <p:ext uri="{BB962C8B-B14F-4D97-AF65-F5344CB8AC3E}">
        <p14:creationId xmlns:p14="http://schemas.microsoft.com/office/powerpoint/2010/main" val="13599077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05C6973-CF2D-4F8D-9B88-0EEA6EE320B2}"/>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01B64341-BCFE-48D0-ADC6-C9AC11784364}"/>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Ranking improved a little in 2020, but replay did not follow</a:t>
            </a:r>
          </a:p>
        </p:txBody>
      </p:sp>
      <p:sp>
        <p:nvSpPr>
          <p:cNvPr id="3" name="Rectangle 2">
            <a:extLst>
              <a:ext uri="{FF2B5EF4-FFF2-40B4-BE49-F238E27FC236}">
                <a16:creationId xmlns:a16="http://schemas.microsoft.com/office/drawing/2014/main" id="{3ED1BD8D-7160-4A3A-B070-55D15CA8B20E}"/>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04850" y="2119993"/>
            <a:ext cx="5715000" cy="3265714"/>
          </a:xfrm>
          <a:prstGeom prst="rect">
            <a:avLst/>
          </a:prstGeom>
        </p:spPr>
      </p:pic>
      <p:sp>
        <p:nvSpPr>
          <p:cNvPr id="5" name="Rectangle 4">
            <a:extLst>
              <a:ext uri="{FF2B5EF4-FFF2-40B4-BE49-F238E27FC236}">
                <a16:creationId xmlns:a16="http://schemas.microsoft.com/office/drawing/2014/main" id="{1F2E9DFF-3747-43FE-95B7-BC1CBAC5C660}"/>
              </a:ext>
            </a:extLst>
          </p:cNvPr>
          <p:cNvSpPr>
            <a:spLocks noGrp="1"/>
          </p:cNvSpPr>
          <p:nvPr/>
        </p:nvSpPr>
        <p:spPr>
          <a:xfrm>
            <a:off x="7105650" y="2133600"/>
            <a:ext cx="2857500" cy="32385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Readout</a:t>
            </a:r>
          </a:p>
        </p:txBody>
      </p:sp>
      <p:sp>
        <p:nvSpPr>
          <p:cNvPr id="6" name="Rectangle 5">
            <a:extLst>
              <a:ext uri="{FF2B5EF4-FFF2-40B4-BE49-F238E27FC236}">
                <a16:creationId xmlns:a16="http://schemas.microsoft.com/office/drawing/2014/main" id="{E529CBFE-BEAA-4A59-9A84-5E54B1AF901E}"/>
              </a:ext>
            </a:extLst>
          </p:cNvPr>
          <p:cNvSpPr>
            <a:spLocks noGrp="1"/>
          </p:cNvSpPr>
          <p:nvPr/>
        </p:nvSpPr>
        <p:spPr>
          <a:xfrm>
            <a:off x="7105650" y="2743200"/>
            <a:ext cx="3333750" cy="21907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best 2020 AUC was 0.530 from full context compact. But 2022 AUC stayed below 0.50 for all sets, and top-minus-bottom separation remained negative in 2022.</a:t>
            </a:r>
          </a:p>
        </p:txBody>
      </p:sp>
    </p:spTree>
    <p:extLst>
      <p:ext uri="{BB962C8B-B14F-4D97-AF65-F5344CB8AC3E}">
        <p14:creationId xmlns:p14="http://schemas.microsoft.com/office/powerpoint/2010/main" val="3640505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DCFEF727-088C-4737-90B2-2BD6786ADFD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98A3027A-7E20-4F6C-BAB1-4EC1EC2B21A7}"/>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Probability tapes remain the human sanity check</a:t>
            </a:r>
          </a:p>
        </p:txBody>
      </p:sp>
      <p:sp>
        <p:nvSpPr>
          <p:cNvPr id="3" name="Rectangle 2">
            <a:extLst>
              <a:ext uri="{FF2B5EF4-FFF2-40B4-BE49-F238E27FC236}">
                <a16:creationId xmlns:a16="http://schemas.microsoft.com/office/drawing/2014/main" id="{200A3524-72BD-4372-8601-5F83DCA4B474}"/>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000125" y="2000250"/>
            <a:ext cx="6572250" cy="3943350"/>
          </a:xfrm>
          <a:prstGeom prst="rect">
            <a:avLst/>
          </a:prstGeom>
        </p:spPr>
      </p:pic>
      <p:sp>
        <p:nvSpPr>
          <p:cNvPr id="5" name="Rectangle 4">
            <a:extLst>
              <a:ext uri="{FF2B5EF4-FFF2-40B4-BE49-F238E27FC236}">
                <a16:creationId xmlns:a16="http://schemas.microsoft.com/office/drawing/2014/main" id="{2B926880-83B0-413F-8866-C4859BE3834C}"/>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to inspect</a:t>
            </a:r>
          </a:p>
        </p:txBody>
      </p:sp>
      <p:sp>
        <p:nvSpPr>
          <p:cNvPr id="6" name="Rectangle 5">
            <a:extLst>
              <a:ext uri="{FF2B5EF4-FFF2-40B4-BE49-F238E27FC236}">
                <a16:creationId xmlns:a16="http://schemas.microsoft.com/office/drawing/2014/main" id="{B5879E09-C1DB-42D4-A1F2-398BCA11F44D}"/>
              </a:ext>
            </a:extLst>
          </p:cNvPr>
          <p:cNvSpPr>
            <a:spLocks noGrp="1"/>
          </p:cNvSpPr>
          <p:nvPr/>
        </p:nvSpPr>
        <p:spPr>
          <a:xfrm>
            <a:off x="8477250" y="2705100"/>
            <a:ext cx="2705100" cy="228600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tapes show whether a feature set changes entries in market-intuitive places, or merely changes probability texture near the threshold. For now, more context did not automatically mean better trade behavior.</a:t>
            </a:r>
          </a:p>
        </p:txBody>
      </p:sp>
    </p:spTree>
    <p:extLst>
      <p:ext uri="{BB962C8B-B14F-4D97-AF65-F5344CB8AC3E}">
        <p14:creationId xmlns:p14="http://schemas.microsoft.com/office/powerpoint/2010/main" val="188175085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E4D58364-7915-4031-8814-2D703F4A7776}"/>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9ED89435-6AF5-4C40-8F92-595D70496687}"/>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next feature slice should be smaller, not wider</a:t>
            </a:r>
          </a:p>
        </p:txBody>
      </p:sp>
      <p:sp>
        <p:nvSpPr>
          <p:cNvPr id="3" name="Rectangle 2">
            <a:extLst>
              <a:ext uri="{FF2B5EF4-FFF2-40B4-BE49-F238E27FC236}">
                <a16:creationId xmlns:a16="http://schemas.microsoft.com/office/drawing/2014/main" id="{A5D5D2A0-FA73-4B58-9611-970B2F3CFF37}"/>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1ACC89B7-9ACA-4D94-8FA6-63385FF8ECF9}"/>
              </a:ext>
            </a:extLst>
          </p:cNvPr>
          <p:cNvSpPr>
            <a:spLocks noGrp="1"/>
          </p:cNvSpPr>
          <p:nvPr/>
        </p:nvSpPr>
        <p:spPr>
          <a:xfrm>
            <a:off x="876300" y="2133600"/>
            <a:ext cx="9334500" cy="10096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ML-P3 says the current relative-strength feature surface remains useful, but direct context features are not yet cleanly tradeable. The next feature-engineering step should explain why context helped ranking a little without improving replay.</a:t>
            </a:r>
          </a:p>
        </p:txBody>
      </p:sp>
      <p:sp>
        <p:nvSpPr>
          <p:cNvPr id="5" name="Rectangle 4">
            <a:extLst>
              <a:ext uri="{FF2B5EF4-FFF2-40B4-BE49-F238E27FC236}">
                <a16:creationId xmlns:a16="http://schemas.microsoft.com/office/drawing/2014/main" id="{C7CC9964-0B30-4CE6-BCDC-249D701A61DB}"/>
              </a:ext>
            </a:extLst>
          </p:cNvPr>
          <p:cNvSpPr>
            <a:spLocks noGrp="1"/>
          </p:cNvSpPr>
          <p:nvPr/>
        </p:nvSpPr>
        <p:spPr>
          <a:xfrm>
            <a:off x="1219200" y="36671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BA6897E2-911C-4462-9260-6FED53BE9A05}"/>
              </a:ext>
            </a:extLst>
          </p:cNvPr>
          <p:cNvSpPr>
            <a:spLocks noGrp="1"/>
          </p:cNvSpPr>
          <p:nvPr/>
        </p:nvSpPr>
        <p:spPr>
          <a:xfrm>
            <a:off x="1485900" y="36576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relative strength as the control feature set for the next ML slice.</a:t>
            </a:r>
          </a:p>
        </p:txBody>
      </p:sp>
      <p:sp>
        <p:nvSpPr>
          <p:cNvPr id="7" name="Rectangle 6">
            <a:extLst>
              <a:ext uri="{FF2B5EF4-FFF2-40B4-BE49-F238E27FC236}">
                <a16:creationId xmlns:a16="http://schemas.microsoft.com/office/drawing/2014/main" id="{63FCDB08-CB6B-4F58-95E9-35749E8DB6B8}"/>
              </a:ext>
            </a:extLst>
          </p:cNvPr>
          <p:cNvSpPr>
            <a:spLocks noGrp="1"/>
          </p:cNvSpPr>
          <p:nvPr/>
        </p:nvSpPr>
        <p:spPr>
          <a:xfrm>
            <a:off x="1219200" y="43338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2DD4FDB2-9E99-48DF-AB62-0E6EF2F2E06C}"/>
              </a:ext>
            </a:extLst>
          </p:cNvPr>
          <p:cNvSpPr>
            <a:spLocks noGrp="1"/>
          </p:cNvSpPr>
          <p:nvPr/>
        </p:nvSpPr>
        <p:spPr>
          <a:xfrm>
            <a:off x="1485900" y="43243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Test context features one family at a time: trend, volatility/stress, drawdown, or breadth.</a:t>
            </a:r>
          </a:p>
        </p:txBody>
      </p:sp>
      <p:sp>
        <p:nvSpPr>
          <p:cNvPr id="9" name="Rectangle 8">
            <a:extLst>
              <a:ext uri="{FF2B5EF4-FFF2-40B4-BE49-F238E27FC236}">
                <a16:creationId xmlns:a16="http://schemas.microsoft.com/office/drawing/2014/main" id="{CFEF4C24-40B3-4EA7-881F-76F3F131AAEF}"/>
              </a:ext>
            </a:extLst>
          </p:cNvPr>
          <p:cNvSpPr>
            <a:spLocks noGrp="1"/>
          </p:cNvSpPr>
          <p:nvPr/>
        </p:nvSpPr>
        <p:spPr>
          <a:xfrm>
            <a:off x="1219200" y="50006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27A8465F-0757-491D-86E0-A74D93855441}"/>
              </a:ext>
            </a:extLst>
          </p:cNvPr>
          <p:cNvSpPr>
            <a:spLocks noGrp="1"/>
          </p:cNvSpPr>
          <p:nvPr/>
        </p:nvSpPr>
        <p:spPr>
          <a:xfrm>
            <a:off x="1485900" y="49911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Alternatively test a label/policy calibration slice if the operator wants to focus on threshold behavior.</a:t>
            </a:r>
          </a:p>
        </p:txBody>
      </p:sp>
      <p:sp>
        <p:nvSpPr>
          <p:cNvPr id="11" name="Rectangle 10">
            <a:extLst>
              <a:ext uri="{FF2B5EF4-FFF2-40B4-BE49-F238E27FC236}">
                <a16:creationId xmlns:a16="http://schemas.microsoft.com/office/drawing/2014/main" id="{CDE15C36-79A6-465F-8620-577D76D16A2D}"/>
              </a:ext>
            </a:extLst>
          </p:cNvPr>
          <p:cNvSpPr>
            <a:spLocks noGrp="1"/>
          </p:cNvSpPr>
          <p:nvPr/>
        </p:nvSpPr>
        <p:spPr>
          <a:xfrm>
            <a:off x="1219200" y="56673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64DD0313-B75E-4FA6-8BE5-4D3F427E66DA}"/>
              </a:ext>
            </a:extLst>
          </p:cNvPr>
          <p:cNvSpPr>
            <a:spLocks noGrp="1"/>
          </p:cNvSpPr>
          <p:nvPr/>
        </p:nvSpPr>
        <p:spPr>
          <a:xfrm>
            <a:off x="1485900" y="56578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Do not promote direct context broadly until it improves replay and ranking together.</a:t>
            </a:r>
          </a:p>
        </p:txBody>
      </p:sp>
    </p:spTree>
    <p:extLst>
      <p:ext uri="{BB962C8B-B14F-4D97-AF65-F5344CB8AC3E}">
        <p14:creationId xmlns:p14="http://schemas.microsoft.com/office/powerpoint/2010/main" val="105659535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AAB4C765-233D-4489-AF53-3EDCE926A126}"/>
              </a:ext>
            </a:extLst>
          </p:cNvPr>
          <p:cNvSpPr>
            <a:spLocks noGrp="1"/>
          </p:cNvSpPr>
          <p:nvPr/>
        </p:nvSpPr>
        <p:spPr>
          <a:xfrm>
            <a:off x="685800" y="495300"/>
            <a:ext cx="4762500" cy="419100"/>
          </a:xfrm>
          <a:prstGeom prst="rect">
            <a:avLst/>
          </a:prstGeom>
          <a:noFill/>
          <a:ln w="0">
            <a:noFill/>
            <a:prstDash val="solid"/>
          </a:ln>
        </p:spPr>
        <p:txBody>
          <a:bodyPr/>
          <a:lstStyle/>
          <a:p>
            <a:pPr algn="l">
              <a:defRPr sz="2400" b="1" i="0">
                <a:solidFill>
                  <a:srgbClr val="555555"/>
                </a:solidFill>
              </a:defRPr>
            </a:pPr>
            <a:r>
              <a:rPr sz="2400" b="1" i="0">
                <a:solidFill>
                  <a:srgbClr val="555555"/>
                </a:solidFill>
              </a:rPr>
              <a:t>Transition</a:t>
            </a:r>
          </a:p>
        </p:txBody>
      </p:sp>
      <p:sp>
        <p:nvSpPr>
          <p:cNvPr id="2" name="Rectangle 1">
            <a:extLst>
              <a:ext uri="{FF2B5EF4-FFF2-40B4-BE49-F238E27FC236}">
                <a16:creationId xmlns:a16="http://schemas.microsoft.com/office/drawing/2014/main" id="{ED940FB1-057D-4ACE-8378-30C914BC924C}"/>
              </a:ext>
            </a:extLst>
          </p:cNvPr>
          <p:cNvSpPr>
            <a:spLocks noGrp="1"/>
          </p:cNvSpPr>
          <p:nvPr/>
        </p:nvSpPr>
        <p:spPr>
          <a:xfrm>
            <a:off x="685800" y="1562100"/>
            <a:ext cx="8096250" cy="1066800"/>
          </a:xfrm>
          <a:prstGeom prst="rect">
            <a:avLst/>
          </a:prstGeom>
          <a:noFill/>
          <a:ln w="0">
            <a:noFill/>
            <a:prstDash val="solid"/>
          </a:ln>
        </p:spPr>
        <p:txBody>
          <a:bodyPr/>
          <a:lstStyle/>
          <a:p>
            <a:pPr algn="l">
              <a:defRPr sz="3600" b="1" i="0">
                <a:solidFill>
                  <a:srgbClr val="000000"/>
                </a:solidFill>
              </a:defRPr>
            </a:pPr>
            <a:r>
              <a:rPr sz="3600" b="1" i="0">
                <a:solidFill>
                  <a:srgbClr val="000000"/>
                </a:solidFill>
              </a:rPr>
              <a:t>Now we test what future the model is asked to predict</a:t>
            </a:r>
          </a:p>
        </p:txBody>
      </p:sp>
      <p:sp>
        <p:nvSpPr>
          <p:cNvPr id="3" name="Rectangle 2">
            <a:extLst>
              <a:ext uri="{FF2B5EF4-FFF2-40B4-BE49-F238E27FC236}">
                <a16:creationId xmlns:a16="http://schemas.microsoft.com/office/drawing/2014/main" id="{72A9EBF9-9795-4317-9F68-E4DAB2EA4FC8}"/>
              </a:ext>
            </a:extLst>
          </p:cNvPr>
          <p:cNvSpPr>
            <a:spLocks noGrp="1"/>
          </p:cNvSpPr>
          <p:nvPr/>
        </p:nvSpPr>
        <p:spPr>
          <a:xfrm>
            <a:off x="723900" y="3105150"/>
            <a:ext cx="57150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6422EE6B-6BF7-4A39-9685-48B3B22080BA}"/>
              </a:ext>
            </a:extLst>
          </p:cNvPr>
          <p:cNvSpPr>
            <a:spLocks noGrp="1"/>
          </p:cNvSpPr>
          <p:nvPr/>
        </p:nvSpPr>
        <p:spPr>
          <a:xfrm>
            <a:off x="723900" y="3467100"/>
            <a:ext cx="7524750" cy="110490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ML-P4 repeats the ML-P3 feature-set surface across h1, h5, and h10 labels. The replay still rescores daily, so this isolates the label horizon before adding minimum-hold rules.</a:t>
            </a:r>
          </a:p>
        </p:txBody>
      </p:sp>
      <p:sp>
        <p:nvSpPr>
          <p:cNvPr id="5" name="Rectangle 4">
            <a:extLst>
              <a:ext uri="{FF2B5EF4-FFF2-40B4-BE49-F238E27FC236}">
                <a16:creationId xmlns:a16="http://schemas.microsoft.com/office/drawing/2014/main" id="{DAEFC5D5-97DA-4031-A9B4-A15358E69A47}"/>
              </a:ext>
            </a:extLst>
          </p:cNvPr>
          <p:cNvSpPr>
            <a:spLocks noGrp="1"/>
          </p:cNvSpPr>
          <p:nvPr/>
        </p:nvSpPr>
        <p:spPr>
          <a:xfrm>
            <a:off x="8801100" y="0"/>
            <a:ext cx="3390900" cy="6858000"/>
          </a:xfrm>
          <a:prstGeom prst="rect">
            <a:avLst/>
          </a:prstGeom>
          <a:solidFill>
            <a:srgbClr val="EDEDED"/>
          </a:solidFill>
          <a:ln w="0">
            <a:noFill/>
            <a:prstDash val="solid"/>
          </a:ln>
        </p:spPr>
        <p:txBody>
          <a:bodyPr/>
          <a:lstStyle/>
          <a:p>
            <a:endParaRPr lang="en-US"/>
          </a:p>
        </p:txBody>
      </p:sp>
      <p:sp>
        <p:nvSpPr>
          <p:cNvPr id="6" name="Rectangle 5">
            <a:extLst>
              <a:ext uri="{FF2B5EF4-FFF2-40B4-BE49-F238E27FC236}">
                <a16:creationId xmlns:a16="http://schemas.microsoft.com/office/drawing/2014/main" id="{76DAC08E-096A-49AE-8B9E-3CC0D3C58166}"/>
              </a:ext>
            </a:extLst>
          </p:cNvPr>
          <p:cNvSpPr>
            <a:spLocks noGrp="1"/>
          </p:cNvSpPr>
          <p:nvPr/>
        </p:nvSpPr>
        <p:spPr>
          <a:xfrm>
            <a:off x="9353550" y="2343150"/>
            <a:ext cx="2190750" cy="438150"/>
          </a:xfrm>
          <a:prstGeom prst="rect">
            <a:avLst/>
          </a:prstGeom>
          <a:noFill/>
          <a:ln w="0">
            <a:noFill/>
            <a:prstDash val="solid"/>
          </a:ln>
        </p:spPr>
        <p:txBody>
          <a:bodyPr/>
          <a:lstStyle/>
          <a:p>
            <a:pPr algn="ctr">
              <a:defRPr sz="3150" b="1" i="0">
                <a:solidFill>
                  <a:srgbClr val="000000"/>
                </a:solidFill>
              </a:defRPr>
            </a:pPr>
            <a:r>
              <a:rPr sz="3150" b="1" i="0">
                <a:solidFill>
                  <a:srgbClr val="000000"/>
                </a:solidFill>
              </a:rPr>
              <a:t>ML-P4</a:t>
            </a:r>
          </a:p>
        </p:txBody>
      </p:sp>
      <p:sp>
        <p:nvSpPr>
          <p:cNvPr id="7" name="Rectangle 6">
            <a:extLst>
              <a:ext uri="{FF2B5EF4-FFF2-40B4-BE49-F238E27FC236}">
                <a16:creationId xmlns:a16="http://schemas.microsoft.com/office/drawing/2014/main" id="{FF9F5FD9-41B7-49A5-84E6-4A003889AB89}"/>
              </a:ext>
            </a:extLst>
          </p:cNvPr>
          <p:cNvSpPr>
            <a:spLocks noGrp="1"/>
          </p:cNvSpPr>
          <p:nvPr/>
        </p:nvSpPr>
        <p:spPr>
          <a:xfrm>
            <a:off x="9067800" y="3067050"/>
            <a:ext cx="2762250" cy="400050"/>
          </a:xfrm>
          <a:prstGeom prst="rect">
            <a:avLst/>
          </a:prstGeom>
          <a:noFill/>
          <a:ln w="0">
            <a:noFill/>
            <a:prstDash val="solid"/>
          </a:ln>
        </p:spPr>
        <p:txBody>
          <a:bodyPr/>
          <a:lstStyle/>
          <a:p>
            <a:pPr algn="ctr">
              <a:defRPr sz="1875" b="0" i="0">
                <a:solidFill>
                  <a:srgbClr val="222222"/>
                </a:solidFill>
              </a:defRPr>
            </a:pPr>
            <a:r>
              <a:rPr sz="1875" b="0" i="0">
                <a:solidFill>
                  <a:srgbClr val="222222"/>
                </a:solidFill>
              </a:rPr>
              <a:t>Label horizons</a:t>
            </a:r>
          </a:p>
        </p:txBody>
      </p:sp>
    </p:spTree>
    <p:extLst>
      <p:ext uri="{BB962C8B-B14F-4D97-AF65-F5344CB8AC3E}">
        <p14:creationId xmlns:p14="http://schemas.microsoft.com/office/powerpoint/2010/main" val="446997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7824ECF-DDF6-4910-891E-F63B7BD61A4F}"/>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130FAD7D-ED3F-4F09-98E1-DB19DAF976D4}"/>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Longer labels changed the tradeoff, not the answer</a:t>
            </a:r>
          </a:p>
        </p:txBody>
      </p:sp>
      <p:sp>
        <p:nvSpPr>
          <p:cNvPr id="3" name="Rectangle 2">
            <a:extLst>
              <a:ext uri="{FF2B5EF4-FFF2-40B4-BE49-F238E27FC236}">
                <a16:creationId xmlns:a16="http://schemas.microsoft.com/office/drawing/2014/main" id="{134B7D48-F61F-43D2-85C3-745D9C6F6E0B}"/>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7529951E-2AA3-432E-80CE-E4D479F58A0B}"/>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D374CB6B-9C76-48B1-9FE6-F1234615FC6F}"/>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GUARDRAILS</a:t>
            </a:r>
          </a:p>
        </p:txBody>
      </p:sp>
      <p:sp>
        <p:nvSpPr>
          <p:cNvPr id="6" name="Rectangle 5">
            <a:extLst>
              <a:ext uri="{FF2B5EF4-FFF2-40B4-BE49-F238E27FC236}">
                <a16:creationId xmlns:a16="http://schemas.microsoft.com/office/drawing/2014/main" id="{5AEE4D9D-7FD1-4687-B37F-9AB0F27B2510}"/>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7" name="Rectangle 6">
            <a:extLst>
              <a:ext uri="{FF2B5EF4-FFF2-40B4-BE49-F238E27FC236}">
                <a16:creationId xmlns:a16="http://schemas.microsoft.com/office/drawing/2014/main" id="{0DDE9E31-D4BE-451B-8339-27F7D2EF8CFB}"/>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Child packets and parent stitch passed.</a:t>
            </a:r>
          </a:p>
        </p:txBody>
      </p:sp>
      <p:sp>
        <p:nvSpPr>
          <p:cNvPr id="8" name="Rectangle 7">
            <a:extLst>
              <a:ext uri="{FF2B5EF4-FFF2-40B4-BE49-F238E27FC236}">
                <a16:creationId xmlns:a16="http://schemas.microsoft.com/office/drawing/2014/main" id="{81231998-518A-4528-91F2-D4C0D722E210}"/>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39A527CE-EF0B-4104-8A1A-BA19ED6F7EF0}"/>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BEST 2020</a:t>
            </a:r>
          </a:p>
        </p:txBody>
      </p:sp>
      <p:sp>
        <p:nvSpPr>
          <p:cNvPr id="10" name="Rectangle 9">
            <a:extLst>
              <a:ext uri="{FF2B5EF4-FFF2-40B4-BE49-F238E27FC236}">
                <a16:creationId xmlns:a16="http://schemas.microsoft.com/office/drawing/2014/main" id="{5C7858D9-E78E-4FCF-A6B6-3A68CD6EE4AB}"/>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h1 rel</a:t>
            </a:r>
          </a:p>
        </p:txBody>
      </p:sp>
      <p:sp>
        <p:nvSpPr>
          <p:cNvPr id="11" name="Rectangle 10">
            <a:extLst>
              <a:ext uri="{FF2B5EF4-FFF2-40B4-BE49-F238E27FC236}">
                <a16:creationId xmlns:a16="http://schemas.microsoft.com/office/drawing/2014/main" id="{355F93FA-A5AD-4861-9045-9BF6B76B0D17}"/>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108.9% active return.</a:t>
            </a:r>
          </a:p>
        </p:txBody>
      </p:sp>
      <p:sp>
        <p:nvSpPr>
          <p:cNvPr id="12" name="Rectangle 11">
            <a:extLst>
              <a:ext uri="{FF2B5EF4-FFF2-40B4-BE49-F238E27FC236}">
                <a16:creationId xmlns:a16="http://schemas.microsoft.com/office/drawing/2014/main" id="{3898357B-D5B0-42B9-9835-14309394B17C}"/>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9DDC9902-0BBC-438E-9C02-E749740E844C}"/>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BEST 2022</a:t>
            </a:r>
          </a:p>
        </p:txBody>
      </p:sp>
      <p:sp>
        <p:nvSpPr>
          <p:cNvPr id="14" name="Rectangle 13">
            <a:extLst>
              <a:ext uri="{FF2B5EF4-FFF2-40B4-BE49-F238E27FC236}">
                <a16:creationId xmlns:a16="http://schemas.microsoft.com/office/drawing/2014/main" id="{E54F0573-D3C0-4B09-8A9B-E8C5B5C3E6F0}"/>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h10 asset</a:t>
            </a:r>
          </a:p>
        </p:txBody>
      </p:sp>
      <p:sp>
        <p:nvSpPr>
          <p:cNvPr id="15" name="Rectangle 14">
            <a:extLst>
              <a:ext uri="{FF2B5EF4-FFF2-40B4-BE49-F238E27FC236}">
                <a16:creationId xmlns:a16="http://schemas.microsoft.com/office/drawing/2014/main" id="{59E58114-3763-4B34-B870-92F3681B29B4}"/>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-28.6% active return.</a:t>
            </a:r>
          </a:p>
        </p:txBody>
      </p:sp>
      <p:sp>
        <p:nvSpPr>
          <p:cNvPr id="16" name="Rectangle 15">
            <a:extLst>
              <a:ext uri="{FF2B5EF4-FFF2-40B4-BE49-F238E27FC236}">
                <a16:creationId xmlns:a16="http://schemas.microsoft.com/office/drawing/2014/main" id="{BAE37379-6EB4-41E5-98E2-C0F6FC22FCAA}"/>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B2712D8D-534A-4D65-AD56-28991861774D}"/>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BEST 2022 AUC</a:t>
            </a:r>
          </a:p>
        </p:txBody>
      </p:sp>
      <p:sp>
        <p:nvSpPr>
          <p:cNvPr id="18" name="Rectangle 17">
            <a:extLst>
              <a:ext uri="{FF2B5EF4-FFF2-40B4-BE49-F238E27FC236}">
                <a16:creationId xmlns:a16="http://schemas.microsoft.com/office/drawing/2014/main" id="{54A3062B-6070-46CF-8395-1AFEAD272592}"/>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0.552</a:t>
            </a:r>
          </a:p>
        </p:txBody>
      </p:sp>
      <p:sp>
        <p:nvSpPr>
          <p:cNvPr id="19" name="Rectangle 18">
            <a:extLst>
              <a:ext uri="{FF2B5EF4-FFF2-40B4-BE49-F238E27FC236}">
                <a16:creationId xmlns:a16="http://schemas.microsoft.com/office/drawing/2014/main" id="{25BCEBD1-AB42-40AF-BEBF-F166F253431F}"/>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h10 /  relative strength.</a:t>
            </a:r>
          </a:p>
        </p:txBody>
      </p:sp>
      <p:sp>
        <p:nvSpPr>
          <p:cNvPr id="20" name="Rectangle 19">
            <a:extLst>
              <a:ext uri="{FF2B5EF4-FFF2-40B4-BE49-F238E27FC236}">
                <a16:creationId xmlns:a16="http://schemas.microsoft.com/office/drawing/2014/main" id="{84EA060F-21E0-4356-B51A-C072C2E8203C}"/>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The longer horizons did not create a cleaner high-conviction trader. They mostly lowered 2020 upside capture, while helping some 2022 ranking and defense diagnostics.</a:t>
            </a:r>
          </a:p>
        </p:txBody>
      </p:sp>
    </p:spTree>
    <p:extLst>
      <p:ext uri="{BB962C8B-B14F-4D97-AF65-F5344CB8AC3E}">
        <p14:creationId xmlns:p14="http://schemas.microsoft.com/office/powerpoint/2010/main" val="23665774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6BD39CE-217E-44F4-81C3-A8457CB4C221}"/>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BFAD72A1-5C01-4EBE-8DDF-A8F0E710D8E2}"/>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2020 upside control is still h1 relative strength</a:t>
            </a:r>
          </a:p>
        </p:txBody>
      </p:sp>
      <p:sp>
        <p:nvSpPr>
          <p:cNvPr id="3" name="Rectangle 2">
            <a:extLst>
              <a:ext uri="{FF2B5EF4-FFF2-40B4-BE49-F238E27FC236}">
                <a16:creationId xmlns:a16="http://schemas.microsoft.com/office/drawing/2014/main" id="{2C30380F-B2D6-479B-B667-AB253D38521F}"/>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C4D71E00-FD58-4277-BD72-EE0B35B4EF16}"/>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9146F2E5-AC89-4B95-BEF2-70A97A36B6CA}"/>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H1 RELATIVE</a:t>
            </a:r>
          </a:p>
        </p:txBody>
      </p:sp>
      <p:sp>
        <p:nvSpPr>
          <p:cNvPr id="6" name="Rectangle 5">
            <a:extLst>
              <a:ext uri="{FF2B5EF4-FFF2-40B4-BE49-F238E27FC236}">
                <a16:creationId xmlns:a16="http://schemas.microsoft.com/office/drawing/2014/main" id="{144A4010-80D5-44E5-86EF-59B84705446F}"/>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108.9%</a:t>
            </a:r>
          </a:p>
        </p:txBody>
      </p:sp>
      <p:sp>
        <p:nvSpPr>
          <p:cNvPr id="7" name="Rectangle 6">
            <a:extLst>
              <a:ext uri="{FF2B5EF4-FFF2-40B4-BE49-F238E27FC236}">
                <a16:creationId xmlns:a16="http://schemas.microsoft.com/office/drawing/2014/main" id="{9659BFD3-7E65-4C6A-B0FA-A4A9C53C8FC5}"/>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Basket hold was 225.2%.</a:t>
            </a:r>
          </a:p>
        </p:txBody>
      </p:sp>
      <p:sp>
        <p:nvSpPr>
          <p:cNvPr id="8" name="Rectangle 7">
            <a:extLst>
              <a:ext uri="{FF2B5EF4-FFF2-40B4-BE49-F238E27FC236}">
                <a16:creationId xmlns:a16="http://schemas.microsoft.com/office/drawing/2014/main" id="{F7AB0307-7F16-4AD7-8767-6993B9BEB4DD}"/>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10D43331-2878-4EC9-8D54-30D2933AC799}"/>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H5 RELATIVE</a:t>
            </a:r>
          </a:p>
        </p:txBody>
      </p:sp>
      <p:sp>
        <p:nvSpPr>
          <p:cNvPr id="10" name="Rectangle 9">
            <a:extLst>
              <a:ext uri="{FF2B5EF4-FFF2-40B4-BE49-F238E27FC236}">
                <a16:creationId xmlns:a16="http://schemas.microsoft.com/office/drawing/2014/main" id="{67594FF0-5847-42F4-BD03-4ACA2A8ABFFB}"/>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61.9%</a:t>
            </a:r>
          </a:p>
        </p:txBody>
      </p:sp>
      <p:sp>
        <p:nvSpPr>
          <p:cNvPr id="11" name="Rectangle 10">
            <a:extLst>
              <a:ext uri="{FF2B5EF4-FFF2-40B4-BE49-F238E27FC236}">
                <a16:creationId xmlns:a16="http://schemas.microsoft.com/office/drawing/2014/main" id="{959A8205-095A-41CF-8D3E-9AB9664C73BA}"/>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Exposure was 59.0%.</a:t>
            </a:r>
          </a:p>
        </p:txBody>
      </p:sp>
      <p:sp>
        <p:nvSpPr>
          <p:cNvPr id="12" name="Rectangle 11">
            <a:extLst>
              <a:ext uri="{FF2B5EF4-FFF2-40B4-BE49-F238E27FC236}">
                <a16:creationId xmlns:a16="http://schemas.microsoft.com/office/drawing/2014/main" id="{6341A9EE-EF9C-49DA-8E22-78DE218B9587}"/>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982A640B-9906-4697-B244-25CD82CBB8F7}"/>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H10 RELATIVE</a:t>
            </a:r>
          </a:p>
        </p:txBody>
      </p:sp>
      <p:sp>
        <p:nvSpPr>
          <p:cNvPr id="14" name="Rectangle 13">
            <a:extLst>
              <a:ext uri="{FF2B5EF4-FFF2-40B4-BE49-F238E27FC236}">
                <a16:creationId xmlns:a16="http://schemas.microsoft.com/office/drawing/2014/main" id="{8881935E-236D-4886-A58B-6FF9E43338F2}"/>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50.8%</a:t>
            </a:r>
          </a:p>
        </p:txBody>
      </p:sp>
      <p:sp>
        <p:nvSpPr>
          <p:cNvPr id="15" name="Rectangle 14">
            <a:extLst>
              <a:ext uri="{FF2B5EF4-FFF2-40B4-BE49-F238E27FC236}">
                <a16:creationId xmlns:a16="http://schemas.microsoft.com/office/drawing/2014/main" id="{CA5A222C-EBE1-4911-BF14-17F4A10AA364}"/>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Exposure was 55.2%.</a:t>
            </a:r>
          </a:p>
        </p:txBody>
      </p:sp>
      <p:sp>
        <p:nvSpPr>
          <p:cNvPr id="16" name="Rectangle 15">
            <a:extLst>
              <a:ext uri="{FF2B5EF4-FFF2-40B4-BE49-F238E27FC236}">
                <a16:creationId xmlns:a16="http://schemas.microsoft.com/office/drawing/2014/main" id="{43134FD5-35DE-4C27-B47D-6540F13BCD76}"/>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3D82550A-1E16-46BA-B32C-A0A66A6ADA22}"/>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H5 MARKET</a:t>
            </a:r>
          </a:p>
        </p:txBody>
      </p:sp>
      <p:sp>
        <p:nvSpPr>
          <p:cNvPr id="18" name="Rectangle 17">
            <a:extLst>
              <a:ext uri="{FF2B5EF4-FFF2-40B4-BE49-F238E27FC236}">
                <a16:creationId xmlns:a16="http://schemas.microsoft.com/office/drawing/2014/main" id="{503C937E-53E5-44F7-9F9B-D4A932CF4964}"/>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63.7%</a:t>
            </a:r>
          </a:p>
        </p:txBody>
      </p:sp>
      <p:sp>
        <p:nvSpPr>
          <p:cNvPr id="19" name="Rectangle 18">
            <a:extLst>
              <a:ext uri="{FF2B5EF4-FFF2-40B4-BE49-F238E27FC236}">
                <a16:creationId xmlns:a16="http://schemas.microsoft.com/office/drawing/2014/main" id="{B1B36848-2803-4B8A-9F71-AAEAD38448DF}"/>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h1 market was 49.3%.</a:t>
            </a:r>
          </a:p>
        </p:txBody>
      </p:sp>
      <p:sp>
        <p:nvSpPr>
          <p:cNvPr id="20" name="Rectangle 19">
            <a:extLst>
              <a:ext uri="{FF2B5EF4-FFF2-40B4-BE49-F238E27FC236}">
                <a16:creationId xmlns:a16="http://schemas.microsoft.com/office/drawing/2014/main" id="{B63517E7-92D6-43E7-8CA2-ED76B0E72367}"/>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There is one useful nuance: h5 improved the direct-market-context lane versus its own h1 result. But the best bull-window replay still came from the shorter h1 relative-strength label.</a:t>
            </a:r>
          </a:p>
        </p:txBody>
      </p:sp>
    </p:spTree>
    <p:extLst>
      <p:ext uri="{BB962C8B-B14F-4D97-AF65-F5344CB8AC3E}">
        <p14:creationId xmlns:p14="http://schemas.microsoft.com/office/powerpoint/2010/main" val="6745491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E46DFB51-16B6-415E-9B69-6FB481741AD6}"/>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6E49282F-C6AB-4099-94D3-B72C57C4313B}"/>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return matrix shows the horizon tradeoff</a:t>
            </a:r>
          </a:p>
        </p:txBody>
      </p:sp>
      <p:sp>
        <p:nvSpPr>
          <p:cNvPr id="3" name="Rectangle 2">
            <a:extLst>
              <a:ext uri="{FF2B5EF4-FFF2-40B4-BE49-F238E27FC236}">
                <a16:creationId xmlns:a16="http://schemas.microsoft.com/office/drawing/2014/main" id="{51832A98-787C-4002-BA30-7654BEFBDD89}"/>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965534" y="2000250"/>
            <a:ext cx="6641432" cy="3943350"/>
          </a:xfrm>
          <a:prstGeom prst="rect">
            <a:avLst/>
          </a:prstGeom>
        </p:spPr>
      </p:pic>
      <p:sp>
        <p:nvSpPr>
          <p:cNvPr id="5" name="Rectangle 4">
            <a:extLst>
              <a:ext uri="{FF2B5EF4-FFF2-40B4-BE49-F238E27FC236}">
                <a16:creationId xmlns:a16="http://schemas.microsoft.com/office/drawing/2014/main" id="{7D729E58-19FE-48B2-A602-610726DFC2F2}"/>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Readout</a:t>
            </a:r>
          </a:p>
        </p:txBody>
      </p:sp>
      <p:sp>
        <p:nvSpPr>
          <p:cNvPr id="6" name="Rectangle 5">
            <a:extLst>
              <a:ext uri="{FF2B5EF4-FFF2-40B4-BE49-F238E27FC236}">
                <a16:creationId xmlns:a16="http://schemas.microsoft.com/office/drawing/2014/main" id="{7282D664-7766-4BDE-B6AA-8E2221EDD40D}"/>
              </a:ext>
            </a:extLst>
          </p:cNvPr>
          <p:cNvSpPr>
            <a:spLocks noGrp="1"/>
          </p:cNvSpPr>
          <p:nvPr/>
        </p:nvSpPr>
        <p:spPr>
          <a:xfrm>
            <a:off x="8477250" y="2705100"/>
            <a:ext cx="2705100" cy="25717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For 2020, h1 relative strength returned 108.9%, while h5/h10 relative strength returned 61.9% and 50.8%. For 2022, h10 asset-only defended best at -28.6%, versus h1 asset-only at -33.2%.</a:t>
            </a:r>
          </a:p>
        </p:txBody>
      </p:sp>
    </p:spTree>
    <p:extLst>
      <p:ext uri="{BB962C8B-B14F-4D97-AF65-F5344CB8AC3E}">
        <p14:creationId xmlns:p14="http://schemas.microsoft.com/office/powerpoint/2010/main" val="75626882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B00FB8D-6A74-4092-9AB0-277B0F9988F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4C940251-7864-47C1-B522-6468C5C9A9A8}"/>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Ranking hints that longer labels may help risk-off separation</a:t>
            </a:r>
          </a:p>
        </p:txBody>
      </p:sp>
      <p:sp>
        <p:nvSpPr>
          <p:cNvPr id="3" name="Rectangle 2">
            <a:extLst>
              <a:ext uri="{FF2B5EF4-FFF2-40B4-BE49-F238E27FC236}">
                <a16:creationId xmlns:a16="http://schemas.microsoft.com/office/drawing/2014/main" id="{88F912FE-E313-4996-B0EA-A79F69762BB2}"/>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04850" y="2244725"/>
            <a:ext cx="5715000" cy="3016250"/>
          </a:xfrm>
          <a:prstGeom prst="rect">
            <a:avLst/>
          </a:prstGeom>
        </p:spPr>
      </p:pic>
      <p:sp>
        <p:nvSpPr>
          <p:cNvPr id="5" name="Rectangle 4">
            <a:extLst>
              <a:ext uri="{FF2B5EF4-FFF2-40B4-BE49-F238E27FC236}">
                <a16:creationId xmlns:a16="http://schemas.microsoft.com/office/drawing/2014/main" id="{1A751933-FDAE-41F0-B709-8DE60DC19691}"/>
              </a:ext>
            </a:extLst>
          </p:cNvPr>
          <p:cNvSpPr>
            <a:spLocks noGrp="1"/>
          </p:cNvSpPr>
          <p:nvPr/>
        </p:nvSpPr>
        <p:spPr>
          <a:xfrm>
            <a:off x="7105650" y="2133600"/>
            <a:ext cx="2857500" cy="32385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What changed</a:t>
            </a:r>
          </a:p>
        </p:txBody>
      </p:sp>
      <p:sp>
        <p:nvSpPr>
          <p:cNvPr id="6" name="Rectangle 5">
            <a:extLst>
              <a:ext uri="{FF2B5EF4-FFF2-40B4-BE49-F238E27FC236}">
                <a16:creationId xmlns:a16="http://schemas.microsoft.com/office/drawing/2014/main" id="{3E6EA2A4-DA12-483A-9853-D36EA5D132EA}"/>
              </a:ext>
            </a:extLst>
          </p:cNvPr>
          <p:cNvSpPr>
            <a:spLocks noGrp="1"/>
          </p:cNvSpPr>
          <p:nvPr/>
        </p:nvSpPr>
        <p:spPr>
          <a:xfrm>
            <a:off x="7105650" y="2743200"/>
            <a:ext cx="3333750" cy="21907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h5 and h10 improved several 2022 AUC and top-minus-bottom diagnostics, especially asset-only and relative-strength variants. But in 2020, longer labels often ranked the rally poorly.</a:t>
            </a:r>
          </a:p>
        </p:txBody>
      </p:sp>
    </p:spTree>
    <p:extLst>
      <p:ext uri="{BB962C8B-B14F-4D97-AF65-F5344CB8AC3E}">
        <p14:creationId xmlns:p14="http://schemas.microsoft.com/office/powerpoint/2010/main" val="3839387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F4980877-D8CA-4346-9F49-C7005A6A3BA2}"/>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EF3ACB13-A293-44AC-BCEA-3AF4CF7708B4}"/>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Probability tapes show why horizon alone is not enough</a:t>
            </a:r>
          </a:p>
        </p:txBody>
      </p:sp>
      <p:sp>
        <p:nvSpPr>
          <p:cNvPr id="3" name="Rectangle 2">
            <a:extLst>
              <a:ext uri="{FF2B5EF4-FFF2-40B4-BE49-F238E27FC236}">
                <a16:creationId xmlns:a16="http://schemas.microsoft.com/office/drawing/2014/main" id="{F26C7488-61AD-4FF5-93CB-34AE6CF6368F}"/>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000125" y="2000250"/>
            <a:ext cx="6572250" cy="3943350"/>
          </a:xfrm>
          <a:prstGeom prst="rect">
            <a:avLst/>
          </a:prstGeom>
        </p:spPr>
      </p:pic>
      <p:sp>
        <p:nvSpPr>
          <p:cNvPr id="5" name="Rectangle 4">
            <a:extLst>
              <a:ext uri="{FF2B5EF4-FFF2-40B4-BE49-F238E27FC236}">
                <a16:creationId xmlns:a16="http://schemas.microsoft.com/office/drawing/2014/main" id="{7A97DDAF-42C7-4E50-A5EF-1B1F7E76DAC8}"/>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Next gate</a:t>
            </a:r>
          </a:p>
        </p:txBody>
      </p:sp>
      <p:sp>
        <p:nvSpPr>
          <p:cNvPr id="6" name="Rectangle 5">
            <a:extLst>
              <a:ext uri="{FF2B5EF4-FFF2-40B4-BE49-F238E27FC236}">
                <a16:creationId xmlns:a16="http://schemas.microsoft.com/office/drawing/2014/main" id="{D6EB0031-C0F4-4814-A1C9-207E812639B0}"/>
              </a:ext>
            </a:extLst>
          </p:cNvPr>
          <p:cNvSpPr>
            <a:spLocks noGrp="1"/>
          </p:cNvSpPr>
          <p:nvPr/>
        </p:nvSpPr>
        <p:spPr>
          <a:xfrm>
            <a:off x="8477250" y="2705100"/>
            <a:ext cx="2705100" cy="25717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Longer labels create smoother probability texture in places, but they do not automatically align entries with the major 2020 upside. If we pursue h5/h10, the next test should add minimum-hold or benchmark-relative labels deliberately.</a:t>
            </a:r>
          </a:p>
        </p:txBody>
      </p:sp>
    </p:spTree>
    <p:extLst>
      <p:ext uri="{BB962C8B-B14F-4D97-AF65-F5344CB8AC3E}">
        <p14:creationId xmlns:p14="http://schemas.microsoft.com/office/powerpoint/2010/main" val="99638147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2D21DA96-452A-474D-8C98-B9B99514C413}"/>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60BAAA6C-9A7C-4078-AB1D-BA6E63B2F36E}"/>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Keep h1 as the upside control and test one sharper idea next</a:t>
            </a:r>
          </a:p>
        </p:txBody>
      </p:sp>
      <p:sp>
        <p:nvSpPr>
          <p:cNvPr id="3" name="Rectangle 2">
            <a:extLst>
              <a:ext uri="{FF2B5EF4-FFF2-40B4-BE49-F238E27FC236}">
                <a16:creationId xmlns:a16="http://schemas.microsoft.com/office/drawing/2014/main" id="{90C83A83-971B-484A-9E1D-315A56D16C43}"/>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4B7CC035-BF25-4A16-8E79-A249CECE7EAB}"/>
              </a:ext>
            </a:extLst>
          </p:cNvPr>
          <p:cNvSpPr>
            <a:spLocks noGrp="1"/>
          </p:cNvSpPr>
          <p:nvPr/>
        </p:nvSpPr>
        <p:spPr>
          <a:xfrm>
            <a:off x="876300" y="2133600"/>
            <a:ext cx="9334500" cy="91440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ML-P4 pushes back on the simple conviction hypothesis. Longer labels can help defense diagnostics, but they do not solve high-beta upside capture under daily rescore replay.</a:t>
            </a:r>
          </a:p>
        </p:txBody>
      </p:sp>
      <p:sp>
        <p:nvSpPr>
          <p:cNvPr id="5" name="Rectangle 4">
            <a:extLst>
              <a:ext uri="{FF2B5EF4-FFF2-40B4-BE49-F238E27FC236}">
                <a16:creationId xmlns:a16="http://schemas.microsoft.com/office/drawing/2014/main" id="{456C38C3-EADE-48B3-9DB1-2FD560F8A859}"/>
              </a:ext>
            </a:extLst>
          </p:cNvPr>
          <p:cNvSpPr>
            <a:spLocks noGrp="1"/>
          </p:cNvSpPr>
          <p:nvPr/>
        </p:nvSpPr>
        <p:spPr>
          <a:xfrm>
            <a:off x="1219200" y="35718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7D0DAC2E-FED4-4CB6-A4EC-6C80D45339DC}"/>
              </a:ext>
            </a:extLst>
          </p:cNvPr>
          <p:cNvSpPr>
            <a:spLocks noGrp="1"/>
          </p:cNvSpPr>
          <p:nvPr/>
        </p:nvSpPr>
        <p:spPr>
          <a:xfrm>
            <a:off x="1485900" y="35623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h1 plus relative strength as the control lane for bullish participation.</a:t>
            </a:r>
          </a:p>
        </p:txBody>
      </p:sp>
      <p:sp>
        <p:nvSpPr>
          <p:cNvPr id="7" name="Rectangle 6">
            <a:extLst>
              <a:ext uri="{FF2B5EF4-FFF2-40B4-BE49-F238E27FC236}">
                <a16:creationId xmlns:a16="http://schemas.microsoft.com/office/drawing/2014/main" id="{37C82616-EC65-46FB-9515-DA5F151A8243}"/>
              </a:ext>
            </a:extLst>
          </p:cNvPr>
          <p:cNvSpPr>
            <a:spLocks noGrp="1"/>
          </p:cNvSpPr>
          <p:nvPr/>
        </p:nvSpPr>
        <p:spPr>
          <a:xfrm>
            <a:off x="1219200" y="42386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C14F1010-43F3-49C0-9DEB-8391782BCA6F}"/>
              </a:ext>
            </a:extLst>
          </p:cNvPr>
          <p:cNvSpPr>
            <a:spLocks noGrp="1"/>
          </p:cNvSpPr>
          <p:nvPr/>
        </p:nvSpPr>
        <p:spPr>
          <a:xfrm>
            <a:off x="1485900" y="42291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If testing longer labels again, pair h5/h10 with a minimum-hold replay rule rather than daily churn.</a:t>
            </a:r>
          </a:p>
        </p:txBody>
      </p:sp>
      <p:sp>
        <p:nvSpPr>
          <p:cNvPr id="9" name="Rectangle 8">
            <a:extLst>
              <a:ext uri="{FF2B5EF4-FFF2-40B4-BE49-F238E27FC236}">
                <a16:creationId xmlns:a16="http://schemas.microsoft.com/office/drawing/2014/main" id="{CFEFCB9B-ABA7-4609-A96B-7035E116BDD1}"/>
              </a:ext>
            </a:extLst>
          </p:cNvPr>
          <p:cNvSpPr>
            <a:spLocks noGrp="1"/>
          </p:cNvSpPr>
          <p:nvPr/>
        </p:nvSpPr>
        <p:spPr>
          <a:xfrm>
            <a:off x="1219200" y="49053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723DDDAD-EC4C-4735-8C08-D979F95FFE2C}"/>
              </a:ext>
            </a:extLst>
          </p:cNvPr>
          <p:cNvSpPr>
            <a:spLocks noGrp="1"/>
          </p:cNvSpPr>
          <p:nvPr/>
        </p:nvSpPr>
        <p:spPr>
          <a:xfrm>
            <a:off x="1485900" y="48958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A strong alternative is benchmark-relative h5: predict asset return over market/context, not just positive absolute return.</a:t>
            </a:r>
          </a:p>
        </p:txBody>
      </p:sp>
      <p:sp>
        <p:nvSpPr>
          <p:cNvPr id="11" name="Rectangle 10">
            <a:extLst>
              <a:ext uri="{FF2B5EF4-FFF2-40B4-BE49-F238E27FC236}">
                <a16:creationId xmlns:a16="http://schemas.microsoft.com/office/drawing/2014/main" id="{E3EBE4AB-EA76-4A61-9F57-3541DC02C045}"/>
              </a:ext>
            </a:extLst>
          </p:cNvPr>
          <p:cNvSpPr>
            <a:spLocks noGrp="1"/>
          </p:cNvSpPr>
          <p:nvPr/>
        </p:nvSpPr>
        <p:spPr>
          <a:xfrm>
            <a:off x="1219200" y="55721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9D62355C-F55D-4BF4-BF69-082AACF99565}"/>
              </a:ext>
            </a:extLst>
          </p:cNvPr>
          <p:cNvSpPr>
            <a:spLocks noGrp="1"/>
          </p:cNvSpPr>
          <p:nvPr/>
        </p:nvSpPr>
        <p:spPr>
          <a:xfrm>
            <a:off x="1485900" y="55626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Do not promote h5/h10 solely from this slice.</a:t>
            </a:r>
          </a:p>
        </p:txBody>
      </p:sp>
    </p:spTree>
    <p:extLst>
      <p:ext uri="{BB962C8B-B14F-4D97-AF65-F5344CB8AC3E}">
        <p14:creationId xmlns:p14="http://schemas.microsoft.com/office/powerpoint/2010/main" val="12865950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7546FD9-D9C2-4B3A-B74D-9BE750E1C300}"/>
              </a:ext>
            </a:extLst>
          </p:cNvPr>
          <p:cNvSpPr>
            <a:spLocks noGrp="1"/>
          </p:cNvSpPr>
          <p:nvPr/>
        </p:nvSpPr>
        <p:spPr>
          <a:xfrm>
            <a:off x="685800" y="495300"/>
            <a:ext cx="4762500" cy="419100"/>
          </a:xfrm>
          <a:prstGeom prst="rect">
            <a:avLst/>
          </a:prstGeom>
          <a:noFill/>
          <a:ln w="0">
            <a:noFill/>
            <a:prstDash val="solid"/>
          </a:ln>
        </p:spPr>
        <p:txBody>
          <a:bodyPr/>
          <a:lstStyle/>
          <a:p>
            <a:pPr algn="l">
              <a:defRPr sz="2400" b="1" i="0">
                <a:solidFill>
                  <a:srgbClr val="555555"/>
                </a:solidFill>
              </a:defRPr>
            </a:pPr>
            <a:r>
              <a:rPr sz="2400" b="1" i="0">
                <a:solidFill>
                  <a:srgbClr val="555555"/>
                </a:solidFill>
              </a:rPr>
              <a:t>Transition</a:t>
            </a:r>
          </a:p>
        </p:txBody>
      </p:sp>
      <p:sp>
        <p:nvSpPr>
          <p:cNvPr id="2" name="Rectangle 1">
            <a:extLst>
              <a:ext uri="{FF2B5EF4-FFF2-40B4-BE49-F238E27FC236}">
                <a16:creationId xmlns:a16="http://schemas.microsoft.com/office/drawing/2014/main" id="{09086C20-1449-4D66-B33E-824552FF9CE7}"/>
              </a:ext>
            </a:extLst>
          </p:cNvPr>
          <p:cNvSpPr>
            <a:spLocks noGrp="1"/>
          </p:cNvSpPr>
          <p:nvPr/>
        </p:nvSpPr>
        <p:spPr>
          <a:xfrm>
            <a:off x="685800" y="1466850"/>
            <a:ext cx="8096250" cy="1200150"/>
          </a:xfrm>
          <a:prstGeom prst="rect">
            <a:avLst/>
          </a:prstGeom>
          <a:noFill/>
          <a:ln w="0">
            <a:noFill/>
            <a:prstDash val="solid"/>
          </a:ln>
        </p:spPr>
        <p:txBody>
          <a:bodyPr/>
          <a:lstStyle/>
          <a:p>
            <a:pPr algn="l">
              <a:defRPr sz="3600" b="1" i="0">
                <a:solidFill>
                  <a:srgbClr val="000000"/>
                </a:solidFill>
              </a:defRPr>
            </a:pPr>
            <a:r>
              <a:rPr sz="3600" b="1" i="0">
                <a:solidFill>
                  <a:srgbClr val="000000"/>
                </a:solidFill>
              </a:rPr>
              <a:t>Now we test the habitat the ML engine trains and trades in</a:t>
            </a:r>
          </a:p>
        </p:txBody>
      </p:sp>
      <p:sp>
        <p:nvSpPr>
          <p:cNvPr id="3" name="Rectangle 2">
            <a:extLst>
              <a:ext uri="{FF2B5EF4-FFF2-40B4-BE49-F238E27FC236}">
                <a16:creationId xmlns:a16="http://schemas.microsoft.com/office/drawing/2014/main" id="{90F6A798-15A6-4793-B86F-7325FFDA2D9D}"/>
              </a:ext>
            </a:extLst>
          </p:cNvPr>
          <p:cNvSpPr>
            <a:spLocks noGrp="1"/>
          </p:cNvSpPr>
          <p:nvPr/>
        </p:nvSpPr>
        <p:spPr>
          <a:xfrm>
            <a:off x="723900" y="3105150"/>
            <a:ext cx="57150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BF98C79E-0F87-4732-9AAE-D8CEA31C31C6}"/>
              </a:ext>
            </a:extLst>
          </p:cNvPr>
          <p:cNvSpPr>
            <a:spLocks noGrp="1"/>
          </p:cNvSpPr>
          <p:nvPr/>
        </p:nvSpPr>
        <p:spPr>
          <a:xfrm>
            <a:off x="723900" y="3467100"/>
            <a:ext cx="7524750" cy="125730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ML-P5 keeps seeded XGBoost, h1 labels, TRAIN-only threshold selection, daily rescore replay, and equal-weight benchmarks fixed. The new question is whether live basket, research pool, and context breadth change the engine's behavior.</a:t>
            </a:r>
          </a:p>
        </p:txBody>
      </p:sp>
      <p:sp>
        <p:nvSpPr>
          <p:cNvPr id="5" name="Rectangle 4">
            <a:extLst>
              <a:ext uri="{FF2B5EF4-FFF2-40B4-BE49-F238E27FC236}">
                <a16:creationId xmlns:a16="http://schemas.microsoft.com/office/drawing/2014/main" id="{646C4772-8002-45AD-BBF9-4B642812E894}"/>
              </a:ext>
            </a:extLst>
          </p:cNvPr>
          <p:cNvSpPr>
            <a:spLocks noGrp="1"/>
          </p:cNvSpPr>
          <p:nvPr/>
        </p:nvSpPr>
        <p:spPr>
          <a:xfrm>
            <a:off x="8801100" y="0"/>
            <a:ext cx="3390900" cy="6858000"/>
          </a:xfrm>
          <a:prstGeom prst="rect">
            <a:avLst/>
          </a:prstGeom>
          <a:solidFill>
            <a:srgbClr val="EDEDED"/>
          </a:solidFill>
          <a:ln w="0">
            <a:noFill/>
            <a:prstDash val="solid"/>
          </a:ln>
        </p:spPr>
        <p:txBody>
          <a:bodyPr/>
          <a:lstStyle/>
          <a:p>
            <a:endParaRPr lang="en-US"/>
          </a:p>
        </p:txBody>
      </p:sp>
      <p:sp>
        <p:nvSpPr>
          <p:cNvPr id="6" name="Rectangle 5">
            <a:extLst>
              <a:ext uri="{FF2B5EF4-FFF2-40B4-BE49-F238E27FC236}">
                <a16:creationId xmlns:a16="http://schemas.microsoft.com/office/drawing/2014/main" id="{592CC3B6-E5AE-4CBC-9BB2-A8CF68E6A548}"/>
              </a:ext>
            </a:extLst>
          </p:cNvPr>
          <p:cNvSpPr>
            <a:spLocks noGrp="1"/>
          </p:cNvSpPr>
          <p:nvPr/>
        </p:nvSpPr>
        <p:spPr>
          <a:xfrm>
            <a:off x="9353550" y="2343150"/>
            <a:ext cx="2190750" cy="438150"/>
          </a:xfrm>
          <a:prstGeom prst="rect">
            <a:avLst/>
          </a:prstGeom>
          <a:noFill/>
          <a:ln w="0">
            <a:noFill/>
            <a:prstDash val="solid"/>
          </a:ln>
        </p:spPr>
        <p:txBody>
          <a:bodyPr/>
          <a:lstStyle/>
          <a:p>
            <a:pPr algn="ctr">
              <a:defRPr sz="3150" b="1" i="0">
                <a:solidFill>
                  <a:srgbClr val="000000"/>
                </a:solidFill>
              </a:defRPr>
            </a:pPr>
            <a:r>
              <a:rPr sz="3150" b="1" i="0">
                <a:solidFill>
                  <a:srgbClr val="000000"/>
                </a:solidFill>
              </a:rPr>
              <a:t>ML-P5</a:t>
            </a:r>
          </a:p>
        </p:txBody>
      </p:sp>
      <p:sp>
        <p:nvSpPr>
          <p:cNvPr id="7" name="Rectangle 6">
            <a:extLst>
              <a:ext uri="{FF2B5EF4-FFF2-40B4-BE49-F238E27FC236}">
                <a16:creationId xmlns:a16="http://schemas.microsoft.com/office/drawing/2014/main" id="{1DADF1F5-1BA7-4E64-8D31-BF3824F63BF5}"/>
              </a:ext>
            </a:extLst>
          </p:cNvPr>
          <p:cNvSpPr>
            <a:spLocks noGrp="1"/>
          </p:cNvSpPr>
          <p:nvPr/>
        </p:nvSpPr>
        <p:spPr>
          <a:xfrm>
            <a:off x="9067800" y="3067050"/>
            <a:ext cx="2762250" cy="457200"/>
          </a:xfrm>
          <a:prstGeom prst="rect">
            <a:avLst/>
          </a:prstGeom>
          <a:noFill/>
          <a:ln w="0">
            <a:noFill/>
            <a:prstDash val="solid"/>
          </a:ln>
        </p:spPr>
        <p:txBody>
          <a:bodyPr/>
          <a:lstStyle/>
          <a:p>
            <a:pPr algn="ctr">
              <a:defRPr sz="1875" b="0" i="0">
                <a:solidFill>
                  <a:srgbClr val="222222"/>
                </a:solidFill>
              </a:defRPr>
            </a:pPr>
            <a:r>
              <a:rPr sz="1875" b="0" i="0">
                <a:solidFill>
                  <a:srgbClr val="222222"/>
                </a:solidFill>
              </a:rPr>
              <a:t>Universe architecture</a:t>
            </a:r>
          </a:p>
        </p:txBody>
      </p:sp>
    </p:spTree>
    <p:extLst>
      <p:ext uri="{BB962C8B-B14F-4D97-AF65-F5344CB8AC3E}">
        <p14:creationId xmlns:p14="http://schemas.microsoft.com/office/powerpoint/2010/main" val="1496010077"/>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AC907BC3-4488-4519-844C-2FEF98FCF3ED}"/>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16716E5E-BBA9-4301-AB37-47D11F3EFCCD}"/>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screen separates basket, context, and research-pool questions</a:t>
            </a:r>
          </a:p>
        </p:txBody>
      </p:sp>
      <p:sp>
        <p:nvSpPr>
          <p:cNvPr id="3" name="Rectangle 2">
            <a:extLst>
              <a:ext uri="{FF2B5EF4-FFF2-40B4-BE49-F238E27FC236}">
                <a16:creationId xmlns:a16="http://schemas.microsoft.com/office/drawing/2014/main" id="{D2970EAA-DB96-4B8B-AE3C-857C5A49426A}"/>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947A42E4-5361-4FA6-9032-204C4A3FF38C}"/>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805ADF6A-7D1B-4D55-9A83-73602725D1A3}"/>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CONDITIONS</a:t>
            </a:r>
          </a:p>
        </p:txBody>
      </p:sp>
      <p:sp>
        <p:nvSpPr>
          <p:cNvPr id="6" name="Rectangle 5">
            <a:extLst>
              <a:ext uri="{FF2B5EF4-FFF2-40B4-BE49-F238E27FC236}">
                <a16:creationId xmlns:a16="http://schemas.microsoft.com/office/drawing/2014/main" id="{9A6D571D-CE17-40DB-AF0D-A95C5112975B}"/>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17</a:t>
            </a:r>
          </a:p>
        </p:txBody>
      </p:sp>
      <p:sp>
        <p:nvSpPr>
          <p:cNvPr id="7" name="Rectangle 6">
            <a:extLst>
              <a:ext uri="{FF2B5EF4-FFF2-40B4-BE49-F238E27FC236}">
                <a16:creationId xmlns:a16="http://schemas.microsoft.com/office/drawing/2014/main" id="{D0BE1A9F-76B3-48F6-ABD3-275F479384DC}"/>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5 basket archetypes across context modes.</a:t>
            </a:r>
          </a:p>
        </p:txBody>
      </p:sp>
      <p:sp>
        <p:nvSpPr>
          <p:cNvPr id="8" name="Rectangle 7">
            <a:extLst>
              <a:ext uri="{FF2B5EF4-FFF2-40B4-BE49-F238E27FC236}">
                <a16:creationId xmlns:a16="http://schemas.microsoft.com/office/drawing/2014/main" id="{D3D59DE0-4D85-48D4-BA3D-162899D6DBC6}"/>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D7EE31B1-1A33-4909-BF08-026E0DAAE993}"/>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WINDOWS</a:t>
            </a:r>
          </a:p>
        </p:txBody>
      </p:sp>
      <p:sp>
        <p:nvSpPr>
          <p:cNvPr id="10" name="Rectangle 9">
            <a:extLst>
              <a:ext uri="{FF2B5EF4-FFF2-40B4-BE49-F238E27FC236}">
                <a16:creationId xmlns:a16="http://schemas.microsoft.com/office/drawing/2014/main" id="{54244BEC-EF36-45CB-BB9B-169B433E31E8}"/>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5</a:t>
            </a:r>
          </a:p>
        </p:txBody>
      </p:sp>
      <p:sp>
        <p:nvSpPr>
          <p:cNvPr id="11" name="Rectangle 10">
            <a:extLst>
              <a:ext uri="{FF2B5EF4-FFF2-40B4-BE49-F238E27FC236}">
                <a16:creationId xmlns:a16="http://schemas.microsoft.com/office/drawing/2014/main" id="{5397C666-6D79-4957-AB44-20E734C188FF}"/>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Annual stitched windows from 2020Y through 2024Y.</a:t>
            </a:r>
          </a:p>
        </p:txBody>
      </p:sp>
      <p:sp>
        <p:nvSpPr>
          <p:cNvPr id="12" name="Rectangle 11">
            <a:extLst>
              <a:ext uri="{FF2B5EF4-FFF2-40B4-BE49-F238E27FC236}">
                <a16:creationId xmlns:a16="http://schemas.microsoft.com/office/drawing/2014/main" id="{F0EA4007-4BEB-4C66-9EFD-CC6228738FD8}"/>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D6F25D59-4074-46C9-87E3-37952F9BDD2E}"/>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FEATURE SETS</a:t>
            </a:r>
          </a:p>
        </p:txBody>
      </p:sp>
      <p:sp>
        <p:nvSpPr>
          <p:cNvPr id="14" name="Rectangle 13">
            <a:extLst>
              <a:ext uri="{FF2B5EF4-FFF2-40B4-BE49-F238E27FC236}">
                <a16:creationId xmlns:a16="http://schemas.microsoft.com/office/drawing/2014/main" id="{351A5B07-AD50-457F-B81C-CDB4143286B6}"/>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a:t>
            </a:r>
          </a:p>
        </p:txBody>
      </p:sp>
      <p:sp>
        <p:nvSpPr>
          <p:cNvPr id="15" name="Rectangle 14">
            <a:extLst>
              <a:ext uri="{FF2B5EF4-FFF2-40B4-BE49-F238E27FC236}">
                <a16:creationId xmlns:a16="http://schemas.microsoft.com/office/drawing/2014/main" id="{903728C5-A462-4E01-8752-D357EA3CC83C}"/>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Asset-only, direct context, relative strength, and full compact.</a:t>
            </a:r>
          </a:p>
        </p:txBody>
      </p:sp>
      <p:sp>
        <p:nvSpPr>
          <p:cNvPr id="16" name="Rectangle 15">
            <a:extLst>
              <a:ext uri="{FF2B5EF4-FFF2-40B4-BE49-F238E27FC236}">
                <a16:creationId xmlns:a16="http://schemas.microsoft.com/office/drawing/2014/main" id="{C72677A4-8052-4664-8C2E-1BD38EB2E2C7}"/>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60EA4057-C1A0-4D5B-90E4-9953D75D1570}"/>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GUARDRAILS</a:t>
            </a:r>
          </a:p>
        </p:txBody>
      </p:sp>
      <p:sp>
        <p:nvSpPr>
          <p:cNvPr id="18" name="Rectangle 17">
            <a:extLst>
              <a:ext uri="{FF2B5EF4-FFF2-40B4-BE49-F238E27FC236}">
                <a16:creationId xmlns:a16="http://schemas.microsoft.com/office/drawing/2014/main" id="{A1C3CA88-E5E8-452E-9159-36B130CD83CD}"/>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19" name="Rectangle 18">
            <a:extLst>
              <a:ext uri="{FF2B5EF4-FFF2-40B4-BE49-F238E27FC236}">
                <a16:creationId xmlns:a16="http://schemas.microsoft.com/office/drawing/2014/main" id="{A8FAD440-6931-495A-8836-9CFC0BB614FB}"/>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Research-only packet; no live bridge change.</a:t>
            </a:r>
          </a:p>
        </p:txBody>
      </p:sp>
      <p:sp>
        <p:nvSpPr>
          <p:cNvPr id="20" name="Rectangle 19">
            <a:extLst>
              <a:ext uri="{FF2B5EF4-FFF2-40B4-BE49-F238E27FC236}">
                <a16:creationId xmlns:a16="http://schemas.microsoft.com/office/drawing/2014/main" id="{EC12748B-1B0B-44CC-92C1-E28DB6604EC6}"/>
              </a:ext>
            </a:extLst>
          </p:cNvPr>
          <p:cNvSpPr>
            <a:spLocks noGrp="1"/>
          </p:cNvSpPr>
          <p:nvPr/>
        </p:nvSpPr>
        <p:spPr>
          <a:xfrm>
            <a:off x="1066800" y="4095750"/>
            <a:ext cx="9334500" cy="9525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The important design point: broad-pool transfer trains on a larger labeled research pool but replays only the declared target live basket. Broad-pool traded makes the large research pool itself the traded basket.</a:t>
            </a:r>
          </a:p>
        </p:txBody>
      </p:sp>
    </p:spTree>
    <p:extLst>
      <p:ext uri="{BB962C8B-B14F-4D97-AF65-F5344CB8AC3E}">
        <p14:creationId xmlns:p14="http://schemas.microsoft.com/office/powerpoint/2010/main" val="87774137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44BD3714-6C96-46F6-B8BD-01F3AD977457}"/>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9353A551-2D82-4E71-BA1F-9107F5C89983}"/>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engine is still better at defense than upside capture</a:t>
            </a:r>
          </a:p>
        </p:txBody>
      </p:sp>
      <p:sp>
        <p:nvSpPr>
          <p:cNvPr id="3" name="Rectangle 2">
            <a:extLst>
              <a:ext uri="{FF2B5EF4-FFF2-40B4-BE49-F238E27FC236}">
                <a16:creationId xmlns:a16="http://schemas.microsoft.com/office/drawing/2014/main" id="{22988731-E69E-4A2E-89F5-F7A0645C381B}"/>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E559A8BF-0125-49BC-9107-28DBFE2475DE}"/>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55A56618-95C4-4836-AB2B-8462CDBD0264}"/>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2020 MEAN ALPHA</a:t>
            </a:r>
          </a:p>
        </p:txBody>
      </p:sp>
      <p:sp>
        <p:nvSpPr>
          <p:cNvPr id="6" name="Rectangle 5">
            <a:extLst>
              <a:ext uri="{FF2B5EF4-FFF2-40B4-BE49-F238E27FC236}">
                <a16:creationId xmlns:a16="http://schemas.microsoft.com/office/drawing/2014/main" id="{5E83AD7C-2E1D-4987-97D4-87DB4C38FE80}"/>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-40.5 pp</a:t>
            </a:r>
          </a:p>
        </p:txBody>
      </p:sp>
      <p:sp>
        <p:nvSpPr>
          <p:cNvPr id="7" name="Rectangle 6">
            <a:extLst>
              <a:ext uri="{FF2B5EF4-FFF2-40B4-BE49-F238E27FC236}">
                <a16:creationId xmlns:a16="http://schemas.microsoft.com/office/drawing/2014/main" id="{6113F6BF-95CD-4DA0-BB67-857783F0103A}"/>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Mean active 24.1% versus benchmark 64.6%.</a:t>
            </a:r>
          </a:p>
        </p:txBody>
      </p:sp>
      <p:sp>
        <p:nvSpPr>
          <p:cNvPr id="8" name="Rectangle 7">
            <a:extLst>
              <a:ext uri="{FF2B5EF4-FFF2-40B4-BE49-F238E27FC236}">
                <a16:creationId xmlns:a16="http://schemas.microsoft.com/office/drawing/2014/main" id="{22D54CDC-DB6E-4C81-AA20-D22009B4F71B}"/>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69DE7715-F8B0-463F-B473-76388EE58E06}"/>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2022 MEAN ALPHA</a:t>
            </a:r>
          </a:p>
        </p:txBody>
      </p:sp>
      <p:sp>
        <p:nvSpPr>
          <p:cNvPr id="10" name="Rectangle 9">
            <a:extLst>
              <a:ext uri="{FF2B5EF4-FFF2-40B4-BE49-F238E27FC236}">
                <a16:creationId xmlns:a16="http://schemas.microsoft.com/office/drawing/2014/main" id="{42F321E9-AD95-4092-82F4-B1C6801C880C}"/>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4.8 pp</a:t>
            </a:r>
          </a:p>
        </p:txBody>
      </p:sp>
      <p:sp>
        <p:nvSpPr>
          <p:cNvPr id="11" name="Rectangle 10">
            <a:extLst>
              <a:ext uri="{FF2B5EF4-FFF2-40B4-BE49-F238E27FC236}">
                <a16:creationId xmlns:a16="http://schemas.microsoft.com/office/drawing/2014/main" id="{F60F1B53-A907-4706-B062-428C21FD4B49}"/>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Mean active -19.6% versus benchmark -24.3%.</a:t>
            </a:r>
          </a:p>
        </p:txBody>
      </p:sp>
      <p:sp>
        <p:nvSpPr>
          <p:cNvPr id="12" name="Rectangle 11">
            <a:extLst>
              <a:ext uri="{FF2B5EF4-FFF2-40B4-BE49-F238E27FC236}">
                <a16:creationId xmlns:a16="http://schemas.microsoft.com/office/drawing/2014/main" id="{D10977FA-5563-4774-89B3-927D83E8DA4D}"/>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69D96592-FA6C-470B-A123-A18C401A36AE}"/>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BEST ROW</a:t>
            </a:r>
          </a:p>
        </p:txBody>
      </p:sp>
      <p:sp>
        <p:nvSpPr>
          <p:cNvPr id="14" name="Rectangle 13">
            <a:extLst>
              <a:ext uri="{FF2B5EF4-FFF2-40B4-BE49-F238E27FC236}">
                <a16:creationId xmlns:a16="http://schemas.microsoft.com/office/drawing/2014/main" id="{0D661D73-D031-4F95-8B90-78319E939EB3}"/>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31.6 pp</a:t>
            </a:r>
          </a:p>
        </p:txBody>
      </p:sp>
      <p:sp>
        <p:nvSpPr>
          <p:cNvPr id="15" name="Rectangle 14">
            <a:extLst>
              <a:ext uri="{FF2B5EF4-FFF2-40B4-BE49-F238E27FC236}">
                <a16:creationId xmlns:a16="http://schemas.microsoft.com/office/drawing/2014/main" id="{F638D7F0-AECF-4B68-860F-54D10F803B18}"/>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2022Y / high beta 5  broad pool transfer.</a:t>
            </a:r>
          </a:p>
        </p:txBody>
      </p:sp>
      <p:sp>
        <p:nvSpPr>
          <p:cNvPr id="16" name="Rectangle 15">
            <a:extLst>
              <a:ext uri="{FF2B5EF4-FFF2-40B4-BE49-F238E27FC236}">
                <a16:creationId xmlns:a16="http://schemas.microsoft.com/office/drawing/2014/main" id="{8EF14D6A-566C-4496-BC2D-6E715E314F27}"/>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DFB6DB61-46A9-4739-8B74-05488BD6666A}"/>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BEST FEATURE MEAN</a:t>
            </a:r>
          </a:p>
        </p:txBody>
      </p:sp>
      <p:sp>
        <p:nvSpPr>
          <p:cNvPr id="18" name="Rectangle 17">
            <a:extLst>
              <a:ext uri="{FF2B5EF4-FFF2-40B4-BE49-F238E27FC236}">
                <a16:creationId xmlns:a16="http://schemas.microsoft.com/office/drawing/2014/main" id="{4624AAC9-AE17-4AEC-BB7F-762B8EBA6687}"/>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-18.3 pp</a:t>
            </a:r>
          </a:p>
        </p:txBody>
      </p:sp>
      <p:sp>
        <p:nvSpPr>
          <p:cNvPr id="19" name="Rectangle 18">
            <a:extLst>
              <a:ext uri="{FF2B5EF4-FFF2-40B4-BE49-F238E27FC236}">
                <a16:creationId xmlns:a16="http://schemas.microsoft.com/office/drawing/2014/main" id="{FD589E15-26B8-44CE-B031-1D336AD7C2EE}"/>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asset only control</a:t>
            </a:r>
          </a:p>
        </p:txBody>
      </p:sp>
      <p:sp>
        <p:nvSpPr>
          <p:cNvPr id="20" name="Rectangle 19">
            <a:extLst>
              <a:ext uri="{FF2B5EF4-FFF2-40B4-BE49-F238E27FC236}">
                <a16:creationId xmlns:a16="http://schemas.microsoft.com/office/drawing/2014/main" id="{22FC8D17-CA53-4E28-BBED-C9E3E854E61F}"/>
              </a:ext>
            </a:extLst>
          </p:cNvPr>
          <p:cNvSpPr>
            <a:spLocks noGrp="1"/>
          </p:cNvSpPr>
          <p:nvPr/>
        </p:nvSpPr>
        <p:spPr>
          <a:xfrm>
            <a:off x="1066800" y="4095750"/>
            <a:ext cx="9334500" cy="914400"/>
          </a:xfrm>
          <a:prstGeom prst="rect">
            <a:avLst/>
          </a:prstGeom>
          <a:noFill/>
          <a:ln w="0">
            <a:noFill/>
            <a:prstDash val="solid"/>
          </a:ln>
        </p:spPr>
        <p:txBody>
          <a:bodyPr/>
          <a:lstStyle/>
          <a:p>
            <a:pPr algn="ctr">
              <a:defRPr sz="2100" b="1" i="0">
                <a:solidFill>
                  <a:srgbClr val="000000"/>
                </a:solidFill>
              </a:defRPr>
            </a:pPr>
            <a:r>
              <a:rPr sz="2100" b="1" i="0">
                <a:solidFill>
                  <a:srgbClr val="000000"/>
                </a:solidFill>
              </a:rPr>
              <a:t>The screen did not discover a universal alpha engine. It mostly rediscovered a familiar profile: useful risk-off behavior in 2022, but underparticipation in high-beta bull windows.</a:t>
            </a:r>
          </a:p>
        </p:txBody>
      </p:sp>
    </p:spTree>
    <p:extLst>
      <p:ext uri="{BB962C8B-B14F-4D97-AF65-F5344CB8AC3E}">
        <p14:creationId xmlns:p14="http://schemas.microsoft.com/office/powerpoint/2010/main" val="1138838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2BE0F7C6-50D7-4279-9DF5-D45D72B4D711}"/>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8A2C07E9-29AC-4187-80C0-18797ECE0CF2}"/>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alpha heatmap shows the habitat problem at a glance</a:t>
            </a:r>
          </a:p>
        </p:txBody>
      </p:sp>
      <p:sp>
        <p:nvSpPr>
          <p:cNvPr id="3" name="Rectangle 2">
            <a:extLst>
              <a:ext uri="{FF2B5EF4-FFF2-40B4-BE49-F238E27FC236}">
                <a16:creationId xmlns:a16="http://schemas.microsoft.com/office/drawing/2014/main" id="{7E9AAC04-A996-4D13-998F-AF5B2B4CB9AA}"/>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418359" y="2000250"/>
            <a:ext cx="5735782" cy="3943350"/>
          </a:xfrm>
          <a:prstGeom prst="rect">
            <a:avLst/>
          </a:prstGeom>
        </p:spPr>
      </p:pic>
      <p:sp>
        <p:nvSpPr>
          <p:cNvPr id="5" name="Rectangle 4">
            <a:extLst>
              <a:ext uri="{FF2B5EF4-FFF2-40B4-BE49-F238E27FC236}">
                <a16:creationId xmlns:a16="http://schemas.microsoft.com/office/drawing/2014/main" id="{26CB77B6-3C81-4CBE-96B3-4469558B8FC6}"/>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Readout</a:t>
            </a:r>
          </a:p>
        </p:txBody>
      </p:sp>
      <p:sp>
        <p:nvSpPr>
          <p:cNvPr id="6" name="Rectangle 5">
            <a:extLst>
              <a:ext uri="{FF2B5EF4-FFF2-40B4-BE49-F238E27FC236}">
                <a16:creationId xmlns:a16="http://schemas.microsoft.com/office/drawing/2014/main" id="{8F24D917-4980-4420-BBEA-63DB2F109BF6}"/>
              </a:ext>
            </a:extLst>
          </p:cNvPr>
          <p:cNvSpPr>
            <a:spLocks noGrp="1"/>
          </p:cNvSpPr>
          <p:nvPr/>
        </p:nvSpPr>
        <p:spPr>
          <a:xfrm>
            <a:off x="8477250" y="2705100"/>
            <a:ext cx="2705100" cy="25717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High-beta rows remain the weakest on mean alpha. Defensive, ETF, and SPY transfer rows are closer to neutral. Broad-pool transfer is interesting, but it is not a cure-all: high-beta transfer averaged -55.2 pp.</a:t>
            </a:r>
          </a:p>
        </p:txBody>
      </p:sp>
    </p:spTree>
    <p:extLst>
      <p:ext uri="{BB962C8B-B14F-4D97-AF65-F5344CB8AC3E}">
        <p14:creationId xmlns:p14="http://schemas.microsoft.com/office/powerpoint/2010/main" val="2129567895"/>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F64C5B3A-6460-456F-8CB0-D85F1CFAC17D}"/>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374AA055-ACF8-412F-B145-A90E8DE1D2A6}"/>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Broad-pool transfer helps in pockets, especially defense</a:t>
            </a:r>
          </a:p>
        </p:txBody>
      </p:sp>
      <p:sp>
        <p:nvSpPr>
          <p:cNvPr id="3" name="Rectangle 2">
            <a:extLst>
              <a:ext uri="{FF2B5EF4-FFF2-40B4-BE49-F238E27FC236}">
                <a16:creationId xmlns:a16="http://schemas.microsoft.com/office/drawing/2014/main" id="{895C02D0-F899-471F-B3AC-5EB9DABEA84D}"/>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3BD9A5AE-3B66-4BA7-8FCD-5651C294574B}"/>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FCC74B1F-0AE9-4FEE-B89D-733DA0EF00CC}"/>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HIGH-BETA TRANSFER</a:t>
            </a:r>
          </a:p>
        </p:txBody>
      </p:sp>
      <p:sp>
        <p:nvSpPr>
          <p:cNvPr id="6" name="Rectangle 5">
            <a:extLst>
              <a:ext uri="{FF2B5EF4-FFF2-40B4-BE49-F238E27FC236}">
                <a16:creationId xmlns:a16="http://schemas.microsoft.com/office/drawing/2014/main" id="{CA2586B0-B975-4FBB-B76A-6B1894D222E0}"/>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-55.2 pp</a:t>
            </a:r>
          </a:p>
        </p:txBody>
      </p:sp>
      <p:sp>
        <p:nvSpPr>
          <p:cNvPr id="7" name="Rectangle 6">
            <a:extLst>
              <a:ext uri="{FF2B5EF4-FFF2-40B4-BE49-F238E27FC236}">
                <a16:creationId xmlns:a16="http://schemas.microsoft.com/office/drawing/2014/main" id="{211BAE9C-33B1-4ED9-B710-3475460F4C3E}"/>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Self-context averaged -50.1 pp.</a:t>
            </a:r>
          </a:p>
        </p:txBody>
      </p:sp>
      <p:sp>
        <p:nvSpPr>
          <p:cNvPr id="8" name="Rectangle 7">
            <a:extLst>
              <a:ext uri="{FF2B5EF4-FFF2-40B4-BE49-F238E27FC236}">
                <a16:creationId xmlns:a16="http://schemas.microsoft.com/office/drawing/2014/main" id="{913584D3-1D97-4042-84E4-AC9A734F66D5}"/>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8A502251-1EA0-4893-A5A8-827284CC2CAC}"/>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ETF TRANSFER</a:t>
            </a:r>
          </a:p>
        </p:txBody>
      </p:sp>
      <p:sp>
        <p:nvSpPr>
          <p:cNvPr id="10" name="Rectangle 9">
            <a:extLst>
              <a:ext uri="{FF2B5EF4-FFF2-40B4-BE49-F238E27FC236}">
                <a16:creationId xmlns:a16="http://schemas.microsoft.com/office/drawing/2014/main" id="{A54AFAB6-05BD-4DB5-B536-F8954A53D4A8}"/>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-5.9 pp</a:t>
            </a:r>
          </a:p>
        </p:txBody>
      </p:sp>
      <p:sp>
        <p:nvSpPr>
          <p:cNvPr id="11" name="Rectangle 10">
            <a:extLst>
              <a:ext uri="{FF2B5EF4-FFF2-40B4-BE49-F238E27FC236}">
                <a16:creationId xmlns:a16="http://schemas.microsoft.com/office/drawing/2014/main" id="{A8B90B1A-7D83-426C-8ADC-B96ADBBE405C}"/>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Best broad-transfer pockets appeared in 2020 and 2022.</a:t>
            </a:r>
          </a:p>
        </p:txBody>
      </p:sp>
      <p:sp>
        <p:nvSpPr>
          <p:cNvPr id="12" name="Rectangle 11">
            <a:extLst>
              <a:ext uri="{FF2B5EF4-FFF2-40B4-BE49-F238E27FC236}">
                <a16:creationId xmlns:a16="http://schemas.microsoft.com/office/drawing/2014/main" id="{D0F5B970-66D0-4B15-8007-481912F0A307}"/>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EEA5327C-94F0-4976-809E-3C2CDA04AD65}"/>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SPY TRANSFER</a:t>
            </a:r>
          </a:p>
        </p:txBody>
      </p:sp>
      <p:sp>
        <p:nvSpPr>
          <p:cNvPr id="14" name="Rectangle 13">
            <a:extLst>
              <a:ext uri="{FF2B5EF4-FFF2-40B4-BE49-F238E27FC236}">
                <a16:creationId xmlns:a16="http://schemas.microsoft.com/office/drawing/2014/main" id="{6EF7FDCC-4239-4F39-9DBD-E84BB60CF798}"/>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-4.5 pp</a:t>
            </a:r>
          </a:p>
        </p:txBody>
      </p:sp>
      <p:sp>
        <p:nvSpPr>
          <p:cNvPr id="15" name="Rectangle 14">
            <a:extLst>
              <a:ext uri="{FF2B5EF4-FFF2-40B4-BE49-F238E27FC236}">
                <a16:creationId xmlns:a16="http://schemas.microsoft.com/office/drawing/2014/main" id="{87CD3CA5-A8C7-4237-8AC5-A3E7994B44C5}"/>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Single-symbol transfer was surprisingly competitive.</a:t>
            </a:r>
          </a:p>
        </p:txBody>
      </p:sp>
      <p:sp>
        <p:nvSpPr>
          <p:cNvPr id="16" name="Rectangle 15">
            <a:extLst>
              <a:ext uri="{FF2B5EF4-FFF2-40B4-BE49-F238E27FC236}">
                <a16:creationId xmlns:a16="http://schemas.microsoft.com/office/drawing/2014/main" id="{CF04FE0D-7A9F-46D6-B0B0-4A0718FF6E57}"/>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E3028B3D-DF3D-40D5-8C9F-9CDADCD5F110}"/>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BROAD TRADED</a:t>
            </a:r>
          </a:p>
        </p:txBody>
      </p:sp>
      <p:sp>
        <p:nvSpPr>
          <p:cNvPr id="18" name="Rectangle 17">
            <a:extLst>
              <a:ext uri="{FF2B5EF4-FFF2-40B4-BE49-F238E27FC236}">
                <a16:creationId xmlns:a16="http://schemas.microsoft.com/office/drawing/2014/main" id="{C469AC4D-2CCA-454C-A7C2-D25CF4C6822E}"/>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-15.3 pp</a:t>
            </a:r>
          </a:p>
        </p:txBody>
      </p:sp>
      <p:sp>
        <p:nvSpPr>
          <p:cNvPr id="19" name="Rectangle 18">
            <a:extLst>
              <a:ext uri="{FF2B5EF4-FFF2-40B4-BE49-F238E27FC236}">
                <a16:creationId xmlns:a16="http://schemas.microsoft.com/office/drawing/2014/main" id="{C4C3A690-20AC-4F94-B4DD-232623E87D90}"/>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Trading the whole broad pool did not solve alpha.</a:t>
            </a:r>
          </a:p>
        </p:txBody>
      </p:sp>
      <p:sp>
        <p:nvSpPr>
          <p:cNvPr id="20" name="Rectangle 19">
            <a:extLst>
              <a:ext uri="{FF2B5EF4-FFF2-40B4-BE49-F238E27FC236}">
                <a16:creationId xmlns:a16="http://schemas.microsoft.com/office/drawing/2014/main" id="{58738891-BD14-4F07-8532-28CF7E76B218}"/>
              </a:ext>
            </a:extLst>
          </p:cNvPr>
          <p:cNvSpPr>
            <a:spLocks noGrp="1"/>
          </p:cNvSpPr>
          <p:nvPr/>
        </p:nvSpPr>
        <p:spPr>
          <a:xfrm>
            <a:off x="1066800" y="4095750"/>
            <a:ext cx="9334500" cy="990600"/>
          </a:xfrm>
          <a:prstGeom prst="rect">
            <a:avLst/>
          </a:prstGeom>
          <a:noFill/>
          <a:ln w="0">
            <a:noFill/>
            <a:prstDash val="solid"/>
          </a:ln>
        </p:spPr>
        <p:txBody>
          <a:bodyPr/>
          <a:lstStyle/>
          <a:p>
            <a:pPr algn="ctr">
              <a:defRPr sz="2025" b="1" i="0">
                <a:solidFill>
                  <a:srgbClr val="000000"/>
                </a:solidFill>
              </a:defRPr>
            </a:pPr>
            <a:r>
              <a:rPr sz="2025" b="1" i="0">
                <a:solidFill>
                  <a:srgbClr val="000000"/>
                </a:solidFill>
              </a:rPr>
              <a:t>The clearest positive row was high beta 5  broad pool transfer / asset plus relative strength in 2022Y with 31.6 pp alpha. That is useful evidence, but it is mostly defensive selectivity rather than proof of broad upside capture.</a:t>
            </a:r>
          </a:p>
        </p:txBody>
      </p:sp>
    </p:spTree>
    <p:extLst>
      <p:ext uri="{BB962C8B-B14F-4D97-AF65-F5344CB8AC3E}">
        <p14:creationId xmlns:p14="http://schemas.microsoft.com/office/powerpoint/2010/main" val="94670041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BF37697-93EC-47DC-A571-512B80221B1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D13089D0-C962-439E-B813-8DDDA10C298C}"/>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window matrix explains why the averages are sobering</a:t>
            </a:r>
          </a:p>
        </p:txBody>
      </p:sp>
      <p:sp>
        <p:nvSpPr>
          <p:cNvPr id="3" name="Rectangle 2">
            <a:extLst>
              <a:ext uri="{FF2B5EF4-FFF2-40B4-BE49-F238E27FC236}">
                <a16:creationId xmlns:a16="http://schemas.microsoft.com/office/drawing/2014/main" id="{5039DF78-14EB-407B-8396-99B083C97CA6}"/>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418359" y="2000250"/>
            <a:ext cx="5735782" cy="3943350"/>
          </a:xfrm>
          <a:prstGeom prst="rect">
            <a:avLst/>
          </a:prstGeom>
        </p:spPr>
      </p:pic>
      <p:sp>
        <p:nvSpPr>
          <p:cNvPr id="5" name="Rectangle 4">
            <a:extLst>
              <a:ext uri="{FF2B5EF4-FFF2-40B4-BE49-F238E27FC236}">
                <a16:creationId xmlns:a16="http://schemas.microsoft.com/office/drawing/2014/main" id="{F07C71A6-57B8-46B6-B581-181CB6BAC1EE}"/>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Pattern</a:t>
            </a:r>
          </a:p>
        </p:txBody>
      </p:sp>
      <p:sp>
        <p:nvSpPr>
          <p:cNvPr id="6" name="Rectangle 5">
            <a:extLst>
              <a:ext uri="{FF2B5EF4-FFF2-40B4-BE49-F238E27FC236}">
                <a16:creationId xmlns:a16="http://schemas.microsoft.com/office/drawing/2014/main" id="{CFFA34B2-24E5-4593-8AB7-CC378E9DEA8E}"/>
              </a:ext>
            </a:extLst>
          </p:cNvPr>
          <p:cNvSpPr>
            <a:spLocks noGrp="1"/>
          </p:cNvSpPr>
          <p:nvPr/>
        </p:nvSpPr>
        <p:spPr>
          <a:xfrm>
            <a:off x="8477250" y="2705100"/>
            <a:ext cx="2705100" cy="2381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Most rows improve during the 2022 drawdown and lag during 2020, 2023, and 2024. That is the signature of a timing/risk filter, not yet a high-beta alpha capture engine.</a:t>
            </a:r>
          </a:p>
        </p:txBody>
      </p:sp>
    </p:spTree>
    <p:extLst>
      <p:ext uri="{BB962C8B-B14F-4D97-AF65-F5344CB8AC3E}">
        <p14:creationId xmlns:p14="http://schemas.microsoft.com/office/powerpoint/2010/main" val="148380217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4FC477D5-8C2F-4717-A4AA-DEA36BCCAAC0}"/>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4C372B1D-48B8-421F-9178-C1D7CABC1841}"/>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Ranking diagnostics are mixed, so replay gains need visual audit</a:t>
            </a:r>
          </a:p>
        </p:txBody>
      </p:sp>
      <p:sp>
        <p:nvSpPr>
          <p:cNvPr id="3" name="Rectangle 2">
            <a:extLst>
              <a:ext uri="{FF2B5EF4-FFF2-40B4-BE49-F238E27FC236}">
                <a16:creationId xmlns:a16="http://schemas.microsoft.com/office/drawing/2014/main" id="{93D3C75F-BB7A-48D0-8C60-5E701A6E2F99}"/>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704850" y="2194214"/>
            <a:ext cx="5715000" cy="3117273"/>
          </a:xfrm>
          <a:prstGeom prst="rect">
            <a:avLst/>
          </a:prstGeom>
        </p:spPr>
      </p:pic>
      <p:sp>
        <p:nvSpPr>
          <p:cNvPr id="5" name="Rectangle 4">
            <a:extLst>
              <a:ext uri="{FF2B5EF4-FFF2-40B4-BE49-F238E27FC236}">
                <a16:creationId xmlns:a16="http://schemas.microsoft.com/office/drawing/2014/main" id="{2DB431D1-565E-4C43-AD8B-B2363B5A9A15}"/>
              </a:ext>
            </a:extLst>
          </p:cNvPr>
          <p:cNvSpPr>
            <a:spLocks noGrp="1"/>
          </p:cNvSpPr>
          <p:nvPr/>
        </p:nvSpPr>
        <p:spPr>
          <a:xfrm>
            <a:off x="7105650" y="2133600"/>
            <a:ext cx="2857500" cy="32385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Readout</a:t>
            </a:r>
          </a:p>
        </p:txBody>
      </p:sp>
      <p:sp>
        <p:nvSpPr>
          <p:cNvPr id="6" name="Rectangle 5">
            <a:extLst>
              <a:ext uri="{FF2B5EF4-FFF2-40B4-BE49-F238E27FC236}">
                <a16:creationId xmlns:a16="http://schemas.microsoft.com/office/drawing/2014/main" id="{FA3BC8D6-23BB-4DB1-9401-0686A500FA67}"/>
              </a:ext>
            </a:extLst>
          </p:cNvPr>
          <p:cNvSpPr>
            <a:spLocks noGrp="1"/>
          </p:cNvSpPr>
          <p:nvPr/>
        </p:nvSpPr>
        <p:spPr>
          <a:xfrm>
            <a:off x="7105650" y="2743200"/>
            <a:ext cx="3333750" cy="2381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best mean AUC row reached 0.561, but top-minus-bottom forward-return separation was inconsistent. Replay can improve through threshold timing even when global ranking is weak, so tapes remain mandatory.</a:t>
            </a:r>
          </a:p>
        </p:txBody>
      </p:sp>
    </p:spTree>
    <p:extLst>
      <p:ext uri="{BB962C8B-B14F-4D97-AF65-F5344CB8AC3E}">
        <p14:creationId xmlns:p14="http://schemas.microsoft.com/office/powerpoint/2010/main" val="58798810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C497C32-5DB8-4734-B557-899785A4FB8D}"/>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6C3561B0-5D8D-4A6A-9949-A3EBA03394EF}"/>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Probability tapes show what the architecture changed</a:t>
            </a:r>
          </a:p>
        </p:txBody>
      </p:sp>
      <p:sp>
        <p:nvSpPr>
          <p:cNvPr id="3" name="Rectangle 2">
            <a:extLst>
              <a:ext uri="{FF2B5EF4-FFF2-40B4-BE49-F238E27FC236}">
                <a16:creationId xmlns:a16="http://schemas.microsoft.com/office/drawing/2014/main" id="{2AB4F67D-BFEB-4BDE-9FA9-0A0DADD32F2C}"/>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418359" y="2000250"/>
            <a:ext cx="5735782" cy="3943350"/>
          </a:xfrm>
          <a:prstGeom prst="rect">
            <a:avLst/>
          </a:prstGeom>
        </p:spPr>
      </p:pic>
      <p:sp>
        <p:nvSpPr>
          <p:cNvPr id="5" name="Rectangle 4">
            <a:extLst>
              <a:ext uri="{FF2B5EF4-FFF2-40B4-BE49-F238E27FC236}">
                <a16:creationId xmlns:a16="http://schemas.microsoft.com/office/drawing/2014/main" id="{35A2DF58-9080-4568-AFAE-610634917ED4}"/>
              </a:ext>
            </a:extLst>
          </p:cNvPr>
          <p:cNvSpPr>
            <a:spLocks noGrp="1"/>
          </p:cNvSpPr>
          <p:nvPr/>
        </p:nvSpPr>
        <p:spPr>
          <a:xfrm>
            <a:off x="8477250" y="2133600"/>
            <a:ext cx="25717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Human audit</a:t>
            </a:r>
          </a:p>
        </p:txBody>
      </p:sp>
      <p:sp>
        <p:nvSpPr>
          <p:cNvPr id="6" name="Rectangle 5">
            <a:extLst>
              <a:ext uri="{FF2B5EF4-FFF2-40B4-BE49-F238E27FC236}">
                <a16:creationId xmlns:a16="http://schemas.microsoft.com/office/drawing/2014/main" id="{1CC482FA-182F-4398-BF54-C82BBB9B66FC}"/>
              </a:ext>
            </a:extLst>
          </p:cNvPr>
          <p:cNvSpPr>
            <a:spLocks noGrp="1"/>
          </p:cNvSpPr>
          <p:nvPr/>
        </p:nvSpPr>
        <p:spPr>
          <a:xfrm>
            <a:off x="8477250" y="2705100"/>
            <a:ext cx="2705100" cy="23812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The tape examples show probabilities moving, but not yet cleanly enough to own sustained high-beta uptrends. The next narrow slice should target the objective, not simply add more symbols.</a:t>
            </a:r>
          </a:p>
        </p:txBody>
      </p:sp>
    </p:spTree>
    <p:extLst>
      <p:ext uri="{BB962C8B-B14F-4D97-AF65-F5344CB8AC3E}">
        <p14:creationId xmlns:p14="http://schemas.microsoft.com/office/powerpoint/2010/main" val="1574892620"/>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51A87D7-3531-445D-930F-114C56139099}"/>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D013DEF7-FF21-4E45-BE75-AB49BC514081}"/>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next ML question should be about alpha objective, not size</a:t>
            </a:r>
          </a:p>
        </p:txBody>
      </p:sp>
      <p:sp>
        <p:nvSpPr>
          <p:cNvPr id="3" name="Rectangle 2">
            <a:extLst>
              <a:ext uri="{FF2B5EF4-FFF2-40B4-BE49-F238E27FC236}">
                <a16:creationId xmlns:a16="http://schemas.microsoft.com/office/drawing/2014/main" id="{A64D54C5-D9D8-40E9-A637-CD419D413A76}"/>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DB0517BB-B495-4F4D-B0AC-F58A79171038}"/>
              </a:ext>
            </a:extLst>
          </p:cNvPr>
          <p:cNvSpPr>
            <a:spLocks noGrp="1"/>
          </p:cNvSpPr>
          <p:nvPr/>
        </p:nvSpPr>
        <p:spPr>
          <a:xfrm>
            <a:off x="876300" y="2133600"/>
            <a:ext cx="9334500" cy="10096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ML-P5 says universe architecture matters, but broadening context or research symbols is not sufficient by itself. The current engine looks most useful as a risk filter and weakest as a bull-market participation engine.</a:t>
            </a:r>
          </a:p>
        </p:txBody>
      </p:sp>
      <p:sp>
        <p:nvSpPr>
          <p:cNvPr id="5" name="Rectangle 4">
            <a:extLst>
              <a:ext uri="{FF2B5EF4-FFF2-40B4-BE49-F238E27FC236}">
                <a16:creationId xmlns:a16="http://schemas.microsoft.com/office/drawing/2014/main" id="{8F7FB54B-2485-4722-B2D7-A3C4E1FECE0A}"/>
              </a:ext>
            </a:extLst>
          </p:cNvPr>
          <p:cNvSpPr>
            <a:spLocks noGrp="1"/>
          </p:cNvSpPr>
          <p:nvPr/>
        </p:nvSpPr>
        <p:spPr>
          <a:xfrm>
            <a:off x="1219200" y="36671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5CC2C2FC-C3AD-4E50-9B57-E345672841B8}"/>
              </a:ext>
            </a:extLst>
          </p:cNvPr>
          <p:cNvSpPr>
            <a:spLocks noGrp="1"/>
          </p:cNvSpPr>
          <p:nvPr/>
        </p:nvSpPr>
        <p:spPr>
          <a:xfrm>
            <a:off x="1485900" y="36576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broad-pool transfer as a contender for SPY/ETF timing and drawdown defense.</a:t>
            </a:r>
          </a:p>
        </p:txBody>
      </p:sp>
      <p:sp>
        <p:nvSpPr>
          <p:cNvPr id="7" name="Rectangle 6">
            <a:extLst>
              <a:ext uri="{FF2B5EF4-FFF2-40B4-BE49-F238E27FC236}">
                <a16:creationId xmlns:a16="http://schemas.microsoft.com/office/drawing/2014/main" id="{24EDF1A1-9BA7-4D69-A75D-9C9E4FAB1FBC}"/>
              </a:ext>
            </a:extLst>
          </p:cNvPr>
          <p:cNvSpPr>
            <a:spLocks noGrp="1"/>
          </p:cNvSpPr>
          <p:nvPr/>
        </p:nvSpPr>
        <p:spPr>
          <a:xfrm>
            <a:off x="1219200" y="43338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2767E21A-54B5-49ED-81C5-6EBDA1BDD851}"/>
              </a:ext>
            </a:extLst>
          </p:cNvPr>
          <p:cNvSpPr>
            <a:spLocks noGrp="1"/>
          </p:cNvSpPr>
          <p:nvPr/>
        </p:nvSpPr>
        <p:spPr>
          <a:xfrm>
            <a:off x="1485900" y="43243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Do not blindly enlarge context universes; broader context helped pockets but did not solve high-beta alpha.</a:t>
            </a:r>
          </a:p>
        </p:txBody>
      </p:sp>
      <p:sp>
        <p:nvSpPr>
          <p:cNvPr id="9" name="Rectangle 8">
            <a:extLst>
              <a:ext uri="{FF2B5EF4-FFF2-40B4-BE49-F238E27FC236}">
                <a16:creationId xmlns:a16="http://schemas.microsoft.com/office/drawing/2014/main" id="{2D61B9A0-2AEA-42CC-856F-1B2F0E079808}"/>
              </a:ext>
            </a:extLst>
          </p:cNvPr>
          <p:cNvSpPr>
            <a:spLocks noGrp="1"/>
          </p:cNvSpPr>
          <p:nvPr/>
        </p:nvSpPr>
        <p:spPr>
          <a:xfrm>
            <a:off x="1219200" y="50006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80A93DC3-33E3-45E5-AE5D-C4E17F59DC29}"/>
              </a:ext>
            </a:extLst>
          </p:cNvPr>
          <p:cNvSpPr>
            <a:spLocks noGrp="1"/>
          </p:cNvSpPr>
          <p:nvPr/>
        </p:nvSpPr>
        <p:spPr>
          <a:xfrm>
            <a:off x="1485900" y="49911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Next high-signal slice: benchmark-relative labels or upside-capture objectives, still with h1 relative-strength as the control.</a:t>
            </a:r>
          </a:p>
        </p:txBody>
      </p:sp>
      <p:sp>
        <p:nvSpPr>
          <p:cNvPr id="11" name="Rectangle 10">
            <a:extLst>
              <a:ext uri="{FF2B5EF4-FFF2-40B4-BE49-F238E27FC236}">
                <a16:creationId xmlns:a16="http://schemas.microsoft.com/office/drawing/2014/main" id="{CAF190EF-F17F-40CF-9300-26103CD927E9}"/>
              </a:ext>
            </a:extLst>
          </p:cNvPr>
          <p:cNvSpPr>
            <a:spLocks noGrp="1"/>
          </p:cNvSpPr>
          <p:nvPr/>
        </p:nvSpPr>
        <p:spPr>
          <a:xfrm>
            <a:off x="1219200" y="56673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056F8537-C16C-4D29-BBA9-4913E41A73E2}"/>
              </a:ext>
            </a:extLst>
          </p:cNvPr>
          <p:cNvSpPr>
            <a:spLocks noGrp="1"/>
          </p:cNvSpPr>
          <p:nvPr/>
        </p:nvSpPr>
        <p:spPr>
          <a:xfrm>
            <a:off x="1485900" y="56578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all outputs research-only; no live advice or allocation promotion.</a:t>
            </a:r>
          </a:p>
        </p:txBody>
      </p:sp>
    </p:spTree>
    <p:extLst>
      <p:ext uri="{BB962C8B-B14F-4D97-AF65-F5344CB8AC3E}">
        <p14:creationId xmlns:p14="http://schemas.microsoft.com/office/powerpoint/2010/main" val="777725"/>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E12B851-908B-44CE-B477-64D05B7D7108}"/>
              </a:ext>
            </a:extLst>
          </p:cNvPr>
          <p:cNvSpPr>
            <a:spLocks noGrp="1"/>
          </p:cNvSpPr>
          <p:nvPr/>
        </p:nvSpPr>
        <p:spPr>
          <a:xfrm>
            <a:off x="685800" y="495300"/>
            <a:ext cx="4762500" cy="419100"/>
          </a:xfrm>
          <a:prstGeom prst="rect">
            <a:avLst/>
          </a:prstGeom>
          <a:noFill/>
          <a:ln w="0">
            <a:noFill/>
            <a:prstDash val="solid"/>
          </a:ln>
        </p:spPr>
        <p:txBody>
          <a:bodyPr/>
          <a:lstStyle/>
          <a:p>
            <a:pPr algn="l">
              <a:defRPr sz="2400" b="1" i="0">
                <a:solidFill>
                  <a:srgbClr val="555555"/>
                </a:solidFill>
              </a:defRPr>
            </a:pPr>
            <a:r>
              <a:rPr sz="2400" b="1" i="0">
                <a:solidFill>
                  <a:srgbClr val="555555"/>
                </a:solidFill>
              </a:rPr>
              <a:t>Transition</a:t>
            </a:r>
          </a:p>
        </p:txBody>
      </p:sp>
      <p:sp>
        <p:nvSpPr>
          <p:cNvPr id="2" name="Rectangle 1">
            <a:extLst>
              <a:ext uri="{FF2B5EF4-FFF2-40B4-BE49-F238E27FC236}">
                <a16:creationId xmlns:a16="http://schemas.microsoft.com/office/drawing/2014/main" id="{A1E814CB-FE01-481E-854B-412938C9ACC9}"/>
              </a:ext>
            </a:extLst>
          </p:cNvPr>
          <p:cNvSpPr>
            <a:spLocks noGrp="1"/>
          </p:cNvSpPr>
          <p:nvPr/>
        </p:nvSpPr>
        <p:spPr>
          <a:xfrm>
            <a:off x="685800" y="1466850"/>
            <a:ext cx="8096250" cy="1200150"/>
          </a:xfrm>
          <a:prstGeom prst="rect">
            <a:avLst/>
          </a:prstGeom>
          <a:noFill/>
          <a:ln w="0">
            <a:noFill/>
            <a:prstDash val="solid"/>
          </a:ln>
        </p:spPr>
        <p:txBody>
          <a:bodyPr/>
          <a:lstStyle/>
          <a:p>
            <a:pPr algn="l">
              <a:defRPr sz="3600" b="1" i="0">
                <a:solidFill>
                  <a:srgbClr val="000000"/>
                </a:solidFill>
              </a:defRPr>
            </a:pPr>
            <a:r>
              <a:rPr sz="3600" b="1" i="0">
                <a:solidFill>
                  <a:srgbClr val="000000"/>
                </a:solidFill>
              </a:rPr>
              <a:t>Now we ask what a high-quality bullish swing setup should look like</a:t>
            </a:r>
          </a:p>
        </p:txBody>
      </p:sp>
      <p:sp>
        <p:nvSpPr>
          <p:cNvPr id="3" name="Rectangle 2">
            <a:extLst>
              <a:ext uri="{FF2B5EF4-FFF2-40B4-BE49-F238E27FC236}">
                <a16:creationId xmlns:a16="http://schemas.microsoft.com/office/drawing/2014/main" id="{899FA453-7180-4AFD-8C9C-E60F1E21DBC3}"/>
              </a:ext>
            </a:extLst>
          </p:cNvPr>
          <p:cNvSpPr>
            <a:spLocks noGrp="1"/>
          </p:cNvSpPr>
          <p:nvPr/>
        </p:nvSpPr>
        <p:spPr>
          <a:xfrm>
            <a:off x="723900" y="3105150"/>
            <a:ext cx="57150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76245DDD-BCC0-4458-B227-5E868546CED8}"/>
              </a:ext>
            </a:extLst>
          </p:cNvPr>
          <p:cNvSpPr>
            <a:spLocks noGrp="1"/>
          </p:cNvSpPr>
          <p:nvPr/>
        </p:nvSpPr>
        <p:spPr>
          <a:xfrm>
            <a:off x="723900" y="3467100"/>
            <a:ext cx="7524750" cy="1257300"/>
          </a:xfrm>
          <a:prstGeom prst="rect">
            <a:avLst/>
          </a:prstGeom>
          <a:noFill/>
          <a:ln w="0">
            <a:noFill/>
            <a:prstDash val="solid"/>
          </a:ln>
        </p:spPr>
        <p:txBody>
          <a:bodyPr/>
          <a:lstStyle/>
          <a:p>
            <a:pPr algn="l">
              <a:defRPr sz="1800" b="0" i="0">
                <a:solidFill>
                  <a:srgbClr val="222222"/>
                </a:solidFill>
              </a:defRPr>
            </a:pPr>
            <a:r>
              <a:rPr sz="1800" b="0" i="0">
                <a:solidFill>
                  <a:srgbClr val="222222"/>
                </a:solidFill>
              </a:rPr>
              <a:t>ML-P6 pauses model tuning. It starts with the trade shape we actually want: sustained relative upside with manageable interruption risk, observed through a small set of interpretable features.</a:t>
            </a:r>
          </a:p>
        </p:txBody>
      </p:sp>
      <p:sp>
        <p:nvSpPr>
          <p:cNvPr id="5" name="Rectangle 4">
            <a:extLst>
              <a:ext uri="{FF2B5EF4-FFF2-40B4-BE49-F238E27FC236}">
                <a16:creationId xmlns:a16="http://schemas.microsoft.com/office/drawing/2014/main" id="{11AA262D-2723-48EC-8995-E2C218820AC4}"/>
              </a:ext>
            </a:extLst>
          </p:cNvPr>
          <p:cNvSpPr>
            <a:spLocks noGrp="1"/>
          </p:cNvSpPr>
          <p:nvPr/>
        </p:nvSpPr>
        <p:spPr>
          <a:xfrm>
            <a:off x="8801100" y="0"/>
            <a:ext cx="3390900" cy="6858000"/>
          </a:xfrm>
          <a:prstGeom prst="rect">
            <a:avLst/>
          </a:prstGeom>
          <a:solidFill>
            <a:srgbClr val="EAF7F0"/>
          </a:solidFill>
          <a:ln w="0">
            <a:noFill/>
            <a:prstDash val="solid"/>
          </a:ln>
        </p:spPr>
        <p:txBody>
          <a:bodyPr/>
          <a:lstStyle/>
          <a:p>
            <a:endParaRPr lang="en-US"/>
          </a:p>
        </p:txBody>
      </p:sp>
      <p:sp>
        <p:nvSpPr>
          <p:cNvPr id="6" name="Rectangle 5">
            <a:extLst>
              <a:ext uri="{FF2B5EF4-FFF2-40B4-BE49-F238E27FC236}">
                <a16:creationId xmlns:a16="http://schemas.microsoft.com/office/drawing/2014/main" id="{1CF6D54A-44D5-4CFD-BB4E-018E5BBB7970}"/>
              </a:ext>
            </a:extLst>
          </p:cNvPr>
          <p:cNvSpPr>
            <a:spLocks noGrp="1"/>
          </p:cNvSpPr>
          <p:nvPr/>
        </p:nvSpPr>
        <p:spPr>
          <a:xfrm>
            <a:off x="9353550" y="2343150"/>
            <a:ext cx="2190750" cy="438150"/>
          </a:xfrm>
          <a:prstGeom prst="rect">
            <a:avLst/>
          </a:prstGeom>
          <a:noFill/>
          <a:ln w="0">
            <a:noFill/>
            <a:prstDash val="solid"/>
          </a:ln>
        </p:spPr>
        <p:txBody>
          <a:bodyPr/>
          <a:lstStyle/>
          <a:p>
            <a:pPr algn="ctr">
              <a:defRPr sz="3150" b="1" i="0">
                <a:solidFill>
                  <a:srgbClr val="000000"/>
                </a:solidFill>
              </a:defRPr>
            </a:pPr>
            <a:r>
              <a:rPr sz="3150" b="1" i="0">
                <a:solidFill>
                  <a:srgbClr val="000000"/>
                </a:solidFill>
              </a:rPr>
              <a:t>ML-P6</a:t>
            </a:r>
          </a:p>
        </p:txBody>
      </p:sp>
      <p:sp>
        <p:nvSpPr>
          <p:cNvPr id="7" name="Rectangle 6">
            <a:extLst>
              <a:ext uri="{FF2B5EF4-FFF2-40B4-BE49-F238E27FC236}">
                <a16:creationId xmlns:a16="http://schemas.microsoft.com/office/drawing/2014/main" id="{74BCC4AC-D348-4549-80D1-8111C2D4997B}"/>
              </a:ext>
            </a:extLst>
          </p:cNvPr>
          <p:cNvSpPr>
            <a:spLocks noGrp="1"/>
          </p:cNvSpPr>
          <p:nvPr/>
        </p:nvSpPr>
        <p:spPr>
          <a:xfrm>
            <a:off x="9067800" y="3067050"/>
            <a:ext cx="2762250" cy="457200"/>
          </a:xfrm>
          <a:prstGeom prst="rect">
            <a:avLst/>
          </a:prstGeom>
          <a:noFill/>
          <a:ln w="0">
            <a:noFill/>
            <a:prstDash val="solid"/>
          </a:ln>
        </p:spPr>
        <p:txBody>
          <a:bodyPr/>
          <a:lstStyle/>
          <a:p>
            <a:pPr algn="ctr">
              <a:defRPr sz="1875" b="0" i="0">
                <a:solidFill>
                  <a:srgbClr val="222222"/>
                </a:solidFill>
              </a:defRPr>
            </a:pPr>
            <a:r>
              <a:rPr sz="1875" b="0" i="0">
                <a:solidFill>
                  <a:srgbClr val="222222"/>
                </a:solidFill>
              </a:rPr>
              <a:t>Swing feature audit</a:t>
            </a:r>
          </a:p>
        </p:txBody>
      </p:sp>
    </p:spTree>
    <p:extLst>
      <p:ext uri="{BB962C8B-B14F-4D97-AF65-F5344CB8AC3E}">
        <p14:creationId xmlns:p14="http://schemas.microsoft.com/office/powerpoint/2010/main" val="17052353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C508C9D9-F334-44EA-B987-02531C94E2C5}"/>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288BCD57-544F-4743-B95E-805354DD691F}"/>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targets describe swing quality, not just tomorrow's direction</a:t>
            </a:r>
          </a:p>
        </p:txBody>
      </p:sp>
      <p:sp>
        <p:nvSpPr>
          <p:cNvPr id="3" name="Rectangle 2">
            <a:extLst>
              <a:ext uri="{FF2B5EF4-FFF2-40B4-BE49-F238E27FC236}">
                <a16:creationId xmlns:a16="http://schemas.microsoft.com/office/drawing/2014/main" id="{C8AC5DEC-79CE-4FA0-A08B-FCCE6C7BC300}"/>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762B0380-D3E1-4B69-8044-0343D28BC660}"/>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9173C19E-0400-4534-9419-C31749D81B78}"/>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ABSOLUTE H10</a:t>
            </a:r>
          </a:p>
        </p:txBody>
      </p:sp>
      <p:sp>
        <p:nvSpPr>
          <p:cNvPr id="6" name="Rectangle 5">
            <a:extLst>
              <a:ext uri="{FF2B5EF4-FFF2-40B4-BE49-F238E27FC236}">
                <a16:creationId xmlns:a16="http://schemas.microsoft.com/office/drawing/2014/main" id="{C5B33523-45DA-4D30-8BB5-D2E24F39EA71}"/>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Return</a:t>
            </a:r>
          </a:p>
        </p:txBody>
      </p:sp>
      <p:sp>
        <p:nvSpPr>
          <p:cNvPr id="7" name="Rectangle 6">
            <a:extLst>
              <a:ext uri="{FF2B5EF4-FFF2-40B4-BE49-F238E27FC236}">
                <a16:creationId xmlns:a16="http://schemas.microsoft.com/office/drawing/2014/main" id="{398B995E-FD3D-4354-8FF4-A1506CDCEDAE}"/>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Next-open entry through close ten sessions later.</a:t>
            </a:r>
          </a:p>
        </p:txBody>
      </p:sp>
      <p:sp>
        <p:nvSpPr>
          <p:cNvPr id="8" name="Rectangle 7">
            <a:extLst>
              <a:ext uri="{FF2B5EF4-FFF2-40B4-BE49-F238E27FC236}">
                <a16:creationId xmlns:a16="http://schemas.microsoft.com/office/drawing/2014/main" id="{47BB7B7C-4864-4C36-89CD-2662FA2D7E00}"/>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C993DD74-52A7-4753-91F2-AEF422C2387F}"/>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RELATIVE H10</a:t>
            </a:r>
          </a:p>
        </p:txBody>
      </p:sp>
      <p:sp>
        <p:nvSpPr>
          <p:cNvPr id="10" name="Rectangle 9">
            <a:extLst>
              <a:ext uri="{FF2B5EF4-FFF2-40B4-BE49-F238E27FC236}">
                <a16:creationId xmlns:a16="http://schemas.microsoft.com/office/drawing/2014/main" id="{580CB00D-1D56-417C-BA8E-2DF6128237EC}"/>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52.5%</a:t>
            </a:r>
          </a:p>
        </p:txBody>
      </p:sp>
      <p:sp>
        <p:nvSpPr>
          <p:cNvPr id="11" name="Rectangle 10">
            <a:extLst>
              <a:ext uri="{FF2B5EF4-FFF2-40B4-BE49-F238E27FC236}">
                <a16:creationId xmlns:a16="http://schemas.microsoft.com/office/drawing/2014/main" id="{558FAF23-2DDF-4099-8348-AE9268474860}"/>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Asset beats the equal-weight SPY / QQQ / SMH context over the same horizon.</a:t>
            </a:r>
          </a:p>
        </p:txBody>
      </p:sp>
      <p:sp>
        <p:nvSpPr>
          <p:cNvPr id="12" name="Rectangle 11">
            <a:extLst>
              <a:ext uri="{FF2B5EF4-FFF2-40B4-BE49-F238E27FC236}">
                <a16:creationId xmlns:a16="http://schemas.microsoft.com/office/drawing/2014/main" id="{CD08CE42-6AC2-4E19-98E3-BFA9E12312DA}"/>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0C8D8F39-BC73-4778-95B6-707B75B5C57F}"/>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QUALITY H10</a:t>
            </a:r>
          </a:p>
        </p:txBody>
      </p:sp>
      <p:sp>
        <p:nvSpPr>
          <p:cNvPr id="14" name="Rectangle 13">
            <a:extLst>
              <a:ext uri="{FF2B5EF4-FFF2-40B4-BE49-F238E27FC236}">
                <a16:creationId xmlns:a16="http://schemas.microsoft.com/office/drawing/2014/main" id="{B3659DA1-13AE-42F4-A5DA-3EF0059648FC}"/>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Upside - MAE</a:t>
            </a:r>
          </a:p>
        </p:txBody>
      </p:sp>
      <p:sp>
        <p:nvSpPr>
          <p:cNvPr id="15" name="Rectangle 14">
            <a:extLst>
              <a:ext uri="{FF2B5EF4-FFF2-40B4-BE49-F238E27FC236}">
                <a16:creationId xmlns:a16="http://schemas.microsoft.com/office/drawing/2014/main" id="{80A6F0B9-C0F7-4EF8-9D6D-AC59844C0636}"/>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Forward return penalized by the worst intrahorizon adverse excursion.</a:t>
            </a:r>
          </a:p>
        </p:txBody>
      </p:sp>
      <p:sp>
        <p:nvSpPr>
          <p:cNvPr id="16" name="Rectangle 15">
            <a:extLst>
              <a:ext uri="{FF2B5EF4-FFF2-40B4-BE49-F238E27FC236}">
                <a16:creationId xmlns:a16="http://schemas.microsoft.com/office/drawing/2014/main" id="{F97424A8-C070-460E-8745-E45FC47001D8}"/>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E178543F-7FB0-4EC2-A71E-B8418C01C2A4}"/>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PATH TEST</a:t>
            </a:r>
          </a:p>
        </p:txBody>
      </p:sp>
      <p:sp>
        <p:nvSpPr>
          <p:cNvPr id="18" name="Rectangle 17">
            <a:extLst>
              <a:ext uri="{FF2B5EF4-FFF2-40B4-BE49-F238E27FC236}">
                <a16:creationId xmlns:a16="http://schemas.microsoft.com/office/drawing/2014/main" id="{0A9047A5-5836-41AC-9A3B-63E81AB79F1A}"/>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35.4%</a:t>
            </a:r>
          </a:p>
        </p:txBody>
      </p:sp>
      <p:sp>
        <p:nvSpPr>
          <p:cNvPr id="19" name="Rectangle 18">
            <a:extLst>
              <a:ext uri="{FF2B5EF4-FFF2-40B4-BE49-F238E27FC236}">
                <a16:creationId xmlns:a16="http://schemas.microsoft.com/office/drawing/2014/main" id="{43C4E2BE-5FD1-4EBD-AA15-51C2D268D83F}"/>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Reaches +8% before -5% within ten sessions; diagnostic only.</a:t>
            </a:r>
          </a:p>
        </p:txBody>
      </p:sp>
      <p:sp>
        <p:nvSpPr>
          <p:cNvPr id="20" name="Rectangle 19">
            <a:extLst>
              <a:ext uri="{FF2B5EF4-FFF2-40B4-BE49-F238E27FC236}">
                <a16:creationId xmlns:a16="http://schemas.microsoft.com/office/drawing/2014/main" id="{C7B37524-DBB0-4CDF-B3DF-6E477C82D695}"/>
              </a:ext>
            </a:extLst>
          </p:cNvPr>
          <p:cNvSpPr>
            <a:spLocks noGrp="1"/>
          </p:cNvSpPr>
          <p:nvPr/>
        </p:nvSpPr>
        <p:spPr>
          <a:xfrm>
            <a:off x="1066800" y="4095750"/>
            <a:ext cx="9334500" cy="990600"/>
          </a:xfrm>
          <a:prstGeom prst="rect">
            <a:avLst/>
          </a:prstGeom>
          <a:noFill/>
          <a:ln w="0">
            <a:noFill/>
            <a:prstDash val="solid"/>
          </a:ln>
        </p:spPr>
        <p:txBody>
          <a:bodyPr/>
          <a:lstStyle/>
          <a:p>
            <a:pPr algn="ctr">
              <a:defRPr sz="2025" b="1" i="0">
                <a:solidFill>
                  <a:srgbClr val="000000"/>
                </a:solidFill>
              </a:defRPr>
            </a:pPr>
            <a:r>
              <a:rPr sz="2025" b="1" i="0">
                <a:solidFill>
                  <a:srgbClr val="000000"/>
                </a:solidFill>
              </a:rPr>
              <a:t>The primary candidate is relative h10. It asks whether a position is likely to outperform the market-and-sector backdrop, which is closer to the alpha question than a bare positive-return label.</a:t>
            </a:r>
          </a:p>
        </p:txBody>
      </p:sp>
    </p:spTree>
    <p:extLst>
      <p:ext uri="{BB962C8B-B14F-4D97-AF65-F5344CB8AC3E}">
        <p14:creationId xmlns:p14="http://schemas.microsoft.com/office/powerpoint/2010/main" val="118644128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8F533A3B-EA24-493A-8F42-739F0852D0D5}"/>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FECD69C6-240A-4F64-918B-AF3C4ED4D316}"/>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Four lenses describe a bullish swing setup without a strategy rule</a:t>
            </a:r>
          </a:p>
        </p:txBody>
      </p:sp>
      <p:sp>
        <p:nvSpPr>
          <p:cNvPr id="3" name="Rectangle 2">
            <a:extLst>
              <a:ext uri="{FF2B5EF4-FFF2-40B4-BE49-F238E27FC236}">
                <a16:creationId xmlns:a16="http://schemas.microsoft.com/office/drawing/2014/main" id="{BFED5572-C702-4454-827A-3EE4A75E95BC}"/>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FD667A6A-8C56-43E8-9504-2ED55BFF447D}"/>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C7A1D875-172D-4C42-9960-C23EC8C56CFD}"/>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LEADERSHIP</a:t>
            </a:r>
          </a:p>
        </p:txBody>
      </p:sp>
      <p:sp>
        <p:nvSpPr>
          <p:cNvPr id="6" name="Rectangle 5">
            <a:extLst>
              <a:ext uri="{FF2B5EF4-FFF2-40B4-BE49-F238E27FC236}">
                <a16:creationId xmlns:a16="http://schemas.microsoft.com/office/drawing/2014/main" id="{03B88FB9-43E6-43C7-BA9A-F841A4A19BA6}"/>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Lead</a:t>
            </a:r>
          </a:p>
        </p:txBody>
      </p:sp>
      <p:sp>
        <p:nvSpPr>
          <p:cNvPr id="7" name="Rectangle 6">
            <a:extLst>
              <a:ext uri="{FF2B5EF4-FFF2-40B4-BE49-F238E27FC236}">
                <a16:creationId xmlns:a16="http://schemas.microsoft.com/office/drawing/2014/main" id="{9AB4266B-91E4-47A5-93EA-25CEE2FFC4DD}"/>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Relative strength, distance from highs, sector / market leadership.</a:t>
            </a:r>
          </a:p>
        </p:txBody>
      </p:sp>
      <p:sp>
        <p:nvSpPr>
          <p:cNvPr id="8" name="Rectangle 7">
            <a:extLst>
              <a:ext uri="{FF2B5EF4-FFF2-40B4-BE49-F238E27FC236}">
                <a16:creationId xmlns:a16="http://schemas.microsoft.com/office/drawing/2014/main" id="{415C81EF-C9BA-4125-92A7-B124C5DF77CA}"/>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C0129F8B-EB55-4619-AB60-2FD10856675D}"/>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TREND HEALTH</a:t>
            </a:r>
          </a:p>
        </p:txBody>
      </p:sp>
      <p:sp>
        <p:nvSpPr>
          <p:cNvPr id="10" name="Rectangle 9">
            <a:extLst>
              <a:ext uri="{FF2B5EF4-FFF2-40B4-BE49-F238E27FC236}">
                <a16:creationId xmlns:a16="http://schemas.microsoft.com/office/drawing/2014/main" id="{BA2F1CB3-2D99-4F7C-970A-3CB0211033D9}"/>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Healthy</a:t>
            </a:r>
          </a:p>
        </p:txBody>
      </p:sp>
      <p:sp>
        <p:nvSpPr>
          <p:cNvPr id="11" name="Rectangle 10">
            <a:extLst>
              <a:ext uri="{FF2B5EF4-FFF2-40B4-BE49-F238E27FC236}">
                <a16:creationId xmlns:a16="http://schemas.microsoft.com/office/drawing/2014/main" id="{72E1BD72-7AF3-4A74-B7C6-36EE259AE522}"/>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Trend consistency, efficiency, and moving-average posture.</a:t>
            </a:r>
          </a:p>
        </p:txBody>
      </p:sp>
      <p:sp>
        <p:nvSpPr>
          <p:cNvPr id="12" name="Rectangle 11">
            <a:extLst>
              <a:ext uri="{FF2B5EF4-FFF2-40B4-BE49-F238E27FC236}">
                <a16:creationId xmlns:a16="http://schemas.microsoft.com/office/drawing/2014/main" id="{9332B8CC-42A3-4BC5-AA63-089847AF584F}"/>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8BDEAE73-BAE0-420D-82C0-4BE9341F5D08}"/>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PULLBACK</a:t>
            </a:r>
          </a:p>
        </p:txBody>
      </p:sp>
      <p:sp>
        <p:nvSpPr>
          <p:cNvPr id="14" name="Rectangle 13">
            <a:extLst>
              <a:ext uri="{FF2B5EF4-FFF2-40B4-BE49-F238E27FC236}">
                <a16:creationId xmlns:a16="http://schemas.microsoft.com/office/drawing/2014/main" id="{A5BC468C-F795-45DD-8570-6B022B16147C}"/>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Disciplined</a:t>
            </a:r>
          </a:p>
        </p:txBody>
      </p:sp>
      <p:sp>
        <p:nvSpPr>
          <p:cNvPr id="15" name="Rectangle 14">
            <a:extLst>
              <a:ext uri="{FF2B5EF4-FFF2-40B4-BE49-F238E27FC236}">
                <a16:creationId xmlns:a16="http://schemas.microsoft.com/office/drawing/2014/main" id="{10F2E2DA-C5B4-4956-B49C-399DBE90C30D}"/>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ATR-scaled depth, volume behavior, recovery, and breakout posture.</a:t>
            </a:r>
          </a:p>
        </p:txBody>
      </p:sp>
      <p:sp>
        <p:nvSpPr>
          <p:cNvPr id="16" name="Rectangle 15">
            <a:extLst>
              <a:ext uri="{FF2B5EF4-FFF2-40B4-BE49-F238E27FC236}">
                <a16:creationId xmlns:a16="http://schemas.microsoft.com/office/drawing/2014/main" id="{8695AC43-A526-4A38-8C85-AB8846638AD0}"/>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D85AEDF1-880B-475A-8461-C48E6CD6B481}"/>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RISK-ON</a:t>
            </a:r>
          </a:p>
        </p:txBody>
      </p:sp>
      <p:sp>
        <p:nvSpPr>
          <p:cNvPr id="18" name="Rectangle 17">
            <a:extLst>
              <a:ext uri="{FF2B5EF4-FFF2-40B4-BE49-F238E27FC236}">
                <a16:creationId xmlns:a16="http://schemas.microsoft.com/office/drawing/2014/main" id="{3168C945-4F0C-4741-A663-EE2190AC0429}"/>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Support</a:t>
            </a:r>
          </a:p>
        </p:txBody>
      </p:sp>
      <p:sp>
        <p:nvSpPr>
          <p:cNvPr id="19" name="Rectangle 18">
            <a:extLst>
              <a:ext uri="{FF2B5EF4-FFF2-40B4-BE49-F238E27FC236}">
                <a16:creationId xmlns:a16="http://schemas.microsoft.com/office/drawing/2014/main" id="{83944AC7-9560-46A7-93BE-600D73543BC0}"/>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Breadth, return, volatility, drawdown, and dispersion.</a:t>
            </a:r>
          </a:p>
        </p:txBody>
      </p:sp>
      <p:sp>
        <p:nvSpPr>
          <p:cNvPr id="20" name="Rectangle 19">
            <a:extLst>
              <a:ext uri="{FF2B5EF4-FFF2-40B4-BE49-F238E27FC236}">
                <a16:creationId xmlns:a16="http://schemas.microsoft.com/office/drawing/2014/main" id="{E107CC2F-5299-4B29-B555-5B6328667AE0}"/>
              </a:ext>
            </a:extLst>
          </p:cNvPr>
          <p:cNvSpPr>
            <a:spLocks noGrp="1"/>
          </p:cNvSpPr>
          <p:nvPr/>
        </p:nvSpPr>
        <p:spPr>
          <a:xfrm>
            <a:off x="1066800" y="4095750"/>
            <a:ext cx="9334500" cy="876300"/>
          </a:xfrm>
          <a:prstGeom prst="rect">
            <a:avLst/>
          </a:prstGeom>
          <a:noFill/>
          <a:ln w="0">
            <a:noFill/>
            <a:prstDash val="solid"/>
          </a:ln>
        </p:spPr>
        <p:txBody>
          <a:bodyPr/>
          <a:lstStyle/>
          <a:p>
            <a:pPr algn="ctr">
              <a:defRPr sz="2025" b="1" i="0">
                <a:solidFill>
                  <a:srgbClr val="000000"/>
                </a:solidFill>
              </a:defRPr>
            </a:pPr>
            <a:r>
              <a:rPr sz="2025" b="1" i="0">
                <a:solidFill>
                  <a:srgbClr val="000000"/>
                </a:solidFill>
              </a:rPr>
              <a:t>The audit evaluates 34 finite features across AMD, NVDA, TSLA, MSTR, and AVGO, with a broader risk-aware context. It does not choose a model or a live policy.</a:t>
            </a:r>
          </a:p>
        </p:txBody>
      </p:sp>
    </p:spTree>
    <p:extLst>
      <p:ext uri="{BB962C8B-B14F-4D97-AF65-F5344CB8AC3E}">
        <p14:creationId xmlns:p14="http://schemas.microsoft.com/office/powerpoint/2010/main" val="132261193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 name="Rectangle 20">
            <a:extLst>
              <a:ext uri="{FF2B5EF4-FFF2-40B4-BE49-F238E27FC236}">
                <a16:creationId xmlns:a16="http://schemas.microsoft.com/office/drawing/2014/main" id="{BA0F3838-B4C5-4E44-95ED-E50D9A7CB993}"/>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D53C554F-6F4E-43C9-8FDE-5ACFEFE6DCFD}"/>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Feature judgment stays inside TRAIN</a:t>
            </a:r>
          </a:p>
        </p:txBody>
      </p:sp>
      <p:sp>
        <p:nvSpPr>
          <p:cNvPr id="3" name="Rectangle 2">
            <a:extLst>
              <a:ext uri="{FF2B5EF4-FFF2-40B4-BE49-F238E27FC236}">
                <a16:creationId xmlns:a16="http://schemas.microsoft.com/office/drawing/2014/main" id="{272CA668-3AA0-402A-92BA-72240649A060}"/>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E195178B-2F62-4E06-954A-490D3BF2C16F}"/>
              </a:ext>
            </a:extLst>
          </p:cNvPr>
          <p:cNvSpPr>
            <a:spLocks noGrp="1"/>
          </p:cNvSpPr>
          <p:nvPr/>
        </p:nvSpPr>
        <p:spPr>
          <a:xfrm>
            <a:off x="7048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5" name="Rectangle 4">
            <a:extLst>
              <a:ext uri="{FF2B5EF4-FFF2-40B4-BE49-F238E27FC236}">
                <a16:creationId xmlns:a16="http://schemas.microsoft.com/office/drawing/2014/main" id="{57D6C638-EB86-4014-B205-54293EBD6DE4}"/>
              </a:ext>
            </a:extLst>
          </p:cNvPr>
          <p:cNvSpPr>
            <a:spLocks noGrp="1"/>
          </p:cNvSpPr>
          <p:nvPr/>
        </p:nvSpPr>
        <p:spPr>
          <a:xfrm>
            <a:off x="8763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WINDOWS</a:t>
            </a:r>
          </a:p>
        </p:txBody>
      </p:sp>
      <p:sp>
        <p:nvSpPr>
          <p:cNvPr id="6" name="Rectangle 5">
            <a:extLst>
              <a:ext uri="{FF2B5EF4-FFF2-40B4-BE49-F238E27FC236}">
                <a16:creationId xmlns:a16="http://schemas.microsoft.com/office/drawing/2014/main" id="{4A43DBF7-29DA-44C2-82B7-3436D4708B96}"/>
              </a:ext>
            </a:extLst>
          </p:cNvPr>
          <p:cNvSpPr>
            <a:spLocks noGrp="1"/>
          </p:cNvSpPr>
          <p:nvPr/>
        </p:nvSpPr>
        <p:spPr>
          <a:xfrm>
            <a:off x="8763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5 annual</a:t>
            </a:r>
          </a:p>
        </p:txBody>
      </p:sp>
      <p:sp>
        <p:nvSpPr>
          <p:cNvPr id="7" name="Rectangle 6">
            <a:extLst>
              <a:ext uri="{FF2B5EF4-FFF2-40B4-BE49-F238E27FC236}">
                <a16:creationId xmlns:a16="http://schemas.microsoft.com/office/drawing/2014/main" id="{819B00E2-54C7-4CA6-9CC4-035EE214FFBA}"/>
              </a:ext>
            </a:extLst>
          </p:cNvPr>
          <p:cNvSpPr>
            <a:spLocks noGrp="1"/>
          </p:cNvSpPr>
          <p:nvPr/>
        </p:nvSpPr>
        <p:spPr>
          <a:xfrm>
            <a:off x="8763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2020Y through 2024Y; each with eight-quarter TRAIN and quarterly authorities.</a:t>
            </a:r>
          </a:p>
        </p:txBody>
      </p:sp>
      <p:sp>
        <p:nvSpPr>
          <p:cNvPr id="8" name="Rectangle 7">
            <a:extLst>
              <a:ext uri="{FF2B5EF4-FFF2-40B4-BE49-F238E27FC236}">
                <a16:creationId xmlns:a16="http://schemas.microsoft.com/office/drawing/2014/main" id="{F7C4B85E-6861-440B-8184-35226F162297}"/>
              </a:ext>
            </a:extLst>
          </p:cNvPr>
          <p:cNvSpPr>
            <a:spLocks noGrp="1"/>
          </p:cNvSpPr>
          <p:nvPr/>
        </p:nvSpPr>
        <p:spPr>
          <a:xfrm>
            <a:off x="34099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9" name="Rectangle 8">
            <a:extLst>
              <a:ext uri="{FF2B5EF4-FFF2-40B4-BE49-F238E27FC236}">
                <a16:creationId xmlns:a16="http://schemas.microsoft.com/office/drawing/2014/main" id="{BE4018E4-7015-4C00-ACAA-5C4636BEBAA3}"/>
              </a:ext>
            </a:extLst>
          </p:cNvPr>
          <p:cNvSpPr>
            <a:spLocks noGrp="1"/>
          </p:cNvSpPr>
          <p:nvPr/>
        </p:nvSpPr>
        <p:spPr>
          <a:xfrm>
            <a:off x="35814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FOLD ROWS</a:t>
            </a:r>
          </a:p>
        </p:txBody>
      </p:sp>
      <p:sp>
        <p:nvSpPr>
          <p:cNvPr id="10" name="Rectangle 9">
            <a:extLst>
              <a:ext uri="{FF2B5EF4-FFF2-40B4-BE49-F238E27FC236}">
                <a16:creationId xmlns:a16="http://schemas.microsoft.com/office/drawing/2014/main" id="{7118C10D-EC96-42C4-832C-253B81140534}"/>
              </a:ext>
            </a:extLst>
          </p:cNvPr>
          <p:cNvSpPr>
            <a:spLocks noGrp="1"/>
          </p:cNvSpPr>
          <p:nvPr/>
        </p:nvSpPr>
        <p:spPr>
          <a:xfrm>
            <a:off x="35814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54,625</a:t>
            </a:r>
          </a:p>
        </p:txBody>
      </p:sp>
      <p:sp>
        <p:nvSpPr>
          <p:cNvPr id="11" name="Rectangle 10">
            <a:extLst>
              <a:ext uri="{FF2B5EF4-FFF2-40B4-BE49-F238E27FC236}">
                <a16:creationId xmlns:a16="http://schemas.microsoft.com/office/drawing/2014/main" id="{2D41E4CA-ECB8-4CDA-A998-6B452A4BEF8F}"/>
              </a:ext>
            </a:extLst>
          </p:cNvPr>
          <p:cNvSpPr>
            <a:spLocks noGrp="1"/>
          </p:cNvSpPr>
          <p:nvPr/>
        </p:nvSpPr>
        <p:spPr>
          <a:xfrm>
            <a:off x="35814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Usable h10 label rows across TRAIN and OOS fold partitions.</a:t>
            </a:r>
          </a:p>
        </p:txBody>
      </p:sp>
      <p:sp>
        <p:nvSpPr>
          <p:cNvPr id="12" name="Rectangle 11">
            <a:extLst>
              <a:ext uri="{FF2B5EF4-FFF2-40B4-BE49-F238E27FC236}">
                <a16:creationId xmlns:a16="http://schemas.microsoft.com/office/drawing/2014/main" id="{D0136ACA-E4AB-428D-BE00-B0AF9DA66248}"/>
              </a:ext>
            </a:extLst>
          </p:cNvPr>
          <p:cNvSpPr>
            <a:spLocks noGrp="1"/>
          </p:cNvSpPr>
          <p:nvPr/>
        </p:nvSpPr>
        <p:spPr>
          <a:xfrm>
            <a:off x="61150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3" name="Rectangle 12">
            <a:extLst>
              <a:ext uri="{FF2B5EF4-FFF2-40B4-BE49-F238E27FC236}">
                <a16:creationId xmlns:a16="http://schemas.microsoft.com/office/drawing/2014/main" id="{3DC60865-4E67-42E3-89C8-D3992D96A2CD}"/>
              </a:ext>
            </a:extLst>
          </p:cNvPr>
          <p:cNvSpPr>
            <a:spLocks noGrp="1"/>
          </p:cNvSpPr>
          <p:nvPr/>
        </p:nvSpPr>
        <p:spPr>
          <a:xfrm>
            <a:off x="62865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FEATURE AUDIT</a:t>
            </a:r>
          </a:p>
        </p:txBody>
      </p:sp>
      <p:sp>
        <p:nvSpPr>
          <p:cNvPr id="14" name="Rectangle 13">
            <a:extLst>
              <a:ext uri="{FF2B5EF4-FFF2-40B4-BE49-F238E27FC236}">
                <a16:creationId xmlns:a16="http://schemas.microsoft.com/office/drawing/2014/main" id="{0791F876-9A2D-4AF5-B50F-FAE79DE0666C}"/>
              </a:ext>
            </a:extLst>
          </p:cNvPr>
          <p:cNvSpPr>
            <a:spLocks noGrp="1"/>
          </p:cNvSpPr>
          <p:nvPr/>
        </p:nvSpPr>
        <p:spPr>
          <a:xfrm>
            <a:off x="62865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Fold-local</a:t>
            </a:r>
          </a:p>
        </p:txBody>
      </p:sp>
      <p:sp>
        <p:nvSpPr>
          <p:cNvPr id="15" name="Rectangle 14">
            <a:extLst>
              <a:ext uri="{FF2B5EF4-FFF2-40B4-BE49-F238E27FC236}">
                <a16:creationId xmlns:a16="http://schemas.microsoft.com/office/drawing/2014/main" id="{4A2E0281-FE61-4989-9333-864349D79B54}"/>
              </a:ext>
            </a:extLst>
          </p:cNvPr>
          <p:cNvSpPr>
            <a:spLocks noGrp="1"/>
          </p:cNvSpPr>
          <p:nvPr/>
        </p:nvSpPr>
        <p:spPr>
          <a:xfrm>
            <a:off x="62865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Deciles and correlations are recalculated separately inside each authority's TRAIN rows.</a:t>
            </a:r>
          </a:p>
        </p:txBody>
      </p:sp>
      <p:sp>
        <p:nvSpPr>
          <p:cNvPr id="16" name="Rectangle 15">
            <a:extLst>
              <a:ext uri="{FF2B5EF4-FFF2-40B4-BE49-F238E27FC236}">
                <a16:creationId xmlns:a16="http://schemas.microsoft.com/office/drawing/2014/main" id="{3A13BD8A-1834-4137-A5C3-C1132A681D30}"/>
              </a:ext>
            </a:extLst>
          </p:cNvPr>
          <p:cNvSpPr>
            <a:spLocks noGrp="1"/>
          </p:cNvSpPr>
          <p:nvPr/>
        </p:nvSpPr>
        <p:spPr>
          <a:xfrm>
            <a:off x="8820150" y="2152650"/>
            <a:ext cx="2333625" cy="1428750"/>
          </a:xfrm>
          <a:prstGeom prst="rect">
            <a:avLst/>
          </a:prstGeom>
          <a:solidFill>
            <a:srgbClr val="EDEDED"/>
          </a:solidFill>
          <a:ln w="9525">
            <a:solidFill>
              <a:srgbClr val="B8BCC4"/>
            </a:solidFill>
            <a:prstDash val="solid"/>
          </a:ln>
        </p:spPr>
        <p:txBody>
          <a:bodyPr/>
          <a:lstStyle/>
          <a:p>
            <a:endParaRPr lang="en-US"/>
          </a:p>
        </p:txBody>
      </p:sp>
      <p:sp>
        <p:nvSpPr>
          <p:cNvPr id="17" name="Rectangle 16">
            <a:extLst>
              <a:ext uri="{FF2B5EF4-FFF2-40B4-BE49-F238E27FC236}">
                <a16:creationId xmlns:a16="http://schemas.microsoft.com/office/drawing/2014/main" id="{809B1253-02F0-44C7-A9B9-60ABBA82B804}"/>
              </a:ext>
            </a:extLst>
          </p:cNvPr>
          <p:cNvSpPr>
            <a:spLocks noGrp="1"/>
          </p:cNvSpPr>
          <p:nvPr/>
        </p:nvSpPr>
        <p:spPr>
          <a:xfrm>
            <a:off x="8991600" y="2305050"/>
            <a:ext cx="1990725" cy="171450"/>
          </a:xfrm>
          <a:prstGeom prst="rect">
            <a:avLst/>
          </a:prstGeom>
          <a:noFill/>
          <a:ln w="0">
            <a:noFill/>
            <a:prstDash val="solid"/>
          </a:ln>
        </p:spPr>
        <p:txBody>
          <a:bodyPr/>
          <a:lstStyle/>
          <a:p>
            <a:pPr algn="l">
              <a:defRPr sz="900" b="1" i="0">
                <a:solidFill>
                  <a:srgbClr val="555555"/>
                </a:solidFill>
              </a:defRPr>
            </a:pPr>
            <a:r>
              <a:rPr sz="900" b="1" i="0">
                <a:solidFill>
                  <a:srgbClr val="555555"/>
                </a:solidFill>
              </a:rPr>
              <a:t>GUARDRAILS</a:t>
            </a:r>
          </a:p>
        </p:txBody>
      </p:sp>
      <p:sp>
        <p:nvSpPr>
          <p:cNvPr id="18" name="Rectangle 17">
            <a:extLst>
              <a:ext uri="{FF2B5EF4-FFF2-40B4-BE49-F238E27FC236}">
                <a16:creationId xmlns:a16="http://schemas.microsoft.com/office/drawing/2014/main" id="{F86F1CA6-8BD2-4F0E-A17C-F4DCDB58A7C2}"/>
              </a:ext>
            </a:extLst>
          </p:cNvPr>
          <p:cNvSpPr>
            <a:spLocks noGrp="1"/>
          </p:cNvSpPr>
          <p:nvPr/>
        </p:nvSpPr>
        <p:spPr>
          <a:xfrm>
            <a:off x="8991600" y="2552700"/>
            <a:ext cx="1990725" cy="3619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All PASS</a:t>
            </a:r>
          </a:p>
        </p:txBody>
      </p:sp>
      <p:sp>
        <p:nvSpPr>
          <p:cNvPr id="19" name="Rectangle 18">
            <a:extLst>
              <a:ext uri="{FF2B5EF4-FFF2-40B4-BE49-F238E27FC236}">
                <a16:creationId xmlns:a16="http://schemas.microsoft.com/office/drawing/2014/main" id="{F077A743-DB69-49DA-92CD-5FCBBA1544F1}"/>
              </a:ext>
            </a:extLst>
          </p:cNvPr>
          <p:cNvSpPr>
            <a:spLocks noGrp="1"/>
          </p:cNvSpPr>
          <p:nvPr/>
        </p:nvSpPr>
        <p:spPr>
          <a:xfrm>
            <a:off x="8991600" y="2971800"/>
            <a:ext cx="1990725" cy="552450"/>
          </a:xfrm>
          <a:prstGeom prst="rect">
            <a:avLst/>
          </a:prstGeom>
          <a:noFill/>
          <a:ln w="0">
            <a:noFill/>
            <a:prstDash val="solid"/>
          </a:ln>
        </p:spPr>
        <p:txBody>
          <a:bodyPr/>
          <a:lstStyle/>
          <a:p>
            <a:pPr algn="l">
              <a:defRPr sz="1125" b="0" i="0">
                <a:solidFill>
                  <a:srgbClr val="555555"/>
                </a:solidFill>
              </a:defRPr>
            </a:pPr>
            <a:r>
              <a:rPr sz="1125" b="0" i="0">
                <a:solidFill>
                  <a:srgbClr val="555555"/>
                </a:solidFill>
              </a:rPr>
              <a:t>No horizon spillover, no OOS feature selection, and no live-bridge change.</a:t>
            </a:r>
          </a:p>
        </p:txBody>
      </p:sp>
      <p:sp>
        <p:nvSpPr>
          <p:cNvPr id="20" name="Rectangle 19">
            <a:extLst>
              <a:ext uri="{FF2B5EF4-FFF2-40B4-BE49-F238E27FC236}">
                <a16:creationId xmlns:a16="http://schemas.microsoft.com/office/drawing/2014/main" id="{28716933-C1A9-4AAB-8599-9A3DC715987C}"/>
              </a:ext>
            </a:extLst>
          </p:cNvPr>
          <p:cNvSpPr>
            <a:spLocks noGrp="1"/>
          </p:cNvSpPr>
          <p:nvPr/>
        </p:nvSpPr>
        <p:spPr>
          <a:xfrm>
            <a:off x="1066800" y="4095750"/>
            <a:ext cx="9334500" cy="1028700"/>
          </a:xfrm>
          <a:prstGeom prst="rect">
            <a:avLst/>
          </a:prstGeom>
          <a:noFill/>
          <a:ln w="0">
            <a:noFill/>
            <a:prstDash val="solid"/>
          </a:ln>
        </p:spPr>
        <p:txBody>
          <a:bodyPr/>
          <a:lstStyle/>
          <a:p>
            <a:pPr algn="ctr">
              <a:defRPr sz="2025" b="1" i="0">
                <a:solidFill>
                  <a:srgbClr val="000000"/>
                </a:solidFill>
              </a:defRPr>
            </a:pPr>
            <a:r>
              <a:rPr sz="2025" b="1" i="0">
                <a:solidFill>
                  <a:srgbClr val="000000"/>
                </a:solidFill>
              </a:rPr>
              <a:t>OOS rows show whether the target is sufficiently populated and well-formed. They do not decide which feature or target wins. That distinction is what keeps this exploration from quietly becoming a hindsight feature search.</a:t>
            </a:r>
          </a:p>
        </p:txBody>
      </p:sp>
    </p:spTree>
    <p:extLst>
      <p:ext uri="{BB962C8B-B14F-4D97-AF65-F5344CB8AC3E}">
        <p14:creationId xmlns:p14="http://schemas.microsoft.com/office/powerpoint/2010/main" val="1317204877"/>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707058EE-F9D1-44B0-B5A2-138E7FF9E81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5C91E2E2-87E4-43C5-B69C-5721D466708B}"/>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No single feature is strong enough to claim victory on its own</a:t>
            </a:r>
          </a:p>
        </p:txBody>
      </p:sp>
      <p:sp>
        <p:nvSpPr>
          <p:cNvPr id="3" name="Rectangle 2">
            <a:extLst>
              <a:ext uri="{FF2B5EF4-FFF2-40B4-BE49-F238E27FC236}">
                <a16:creationId xmlns:a16="http://schemas.microsoft.com/office/drawing/2014/main" id="{BA36210B-C8A4-4002-B783-25125FA0EA26}"/>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1543050" y="1943100"/>
            <a:ext cx="5562600" cy="4171950"/>
          </a:xfrm>
          <a:prstGeom prst="rect">
            <a:avLst/>
          </a:prstGeom>
        </p:spPr>
      </p:pic>
      <p:sp>
        <p:nvSpPr>
          <p:cNvPr id="5" name="Rectangle 4">
            <a:extLst>
              <a:ext uri="{FF2B5EF4-FFF2-40B4-BE49-F238E27FC236}">
                <a16:creationId xmlns:a16="http://schemas.microsoft.com/office/drawing/2014/main" id="{0CFB8C10-8129-4417-8CF7-B3130965DB1F}"/>
              </a:ext>
            </a:extLst>
          </p:cNvPr>
          <p:cNvSpPr>
            <a:spLocks noGrp="1"/>
          </p:cNvSpPr>
          <p:nvPr/>
        </p:nvSpPr>
        <p:spPr>
          <a:xfrm>
            <a:off x="8572500" y="2114550"/>
            <a:ext cx="228600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Readout</a:t>
            </a:r>
          </a:p>
        </p:txBody>
      </p:sp>
      <p:sp>
        <p:nvSpPr>
          <p:cNvPr id="6" name="Rectangle 5">
            <a:extLst>
              <a:ext uri="{FF2B5EF4-FFF2-40B4-BE49-F238E27FC236}">
                <a16:creationId xmlns:a16="http://schemas.microsoft.com/office/drawing/2014/main" id="{3B8509AB-D66B-42B0-8C68-4FDFC0CE7241}"/>
              </a:ext>
            </a:extLst>
          </p:cNvPr>
          <p:cNvSpPr>
            <a:spLocks noGrp="1"/>
          </p:cNvSpPr>
          <p:nvPr/>
        </p:nvSpPr>
        <p:spPr>
          <a:xfrm>
            <a:off x="8572500" y="2667000"/>
            <a:ext cx="2667000" cy="2571750"/>
          </a:xfrm>
          <a:prstGeom prst="rect">
            <a:avLst/>
          </a:prstGeom>
          <a:noFill/>
          <a:ln w="0">
            <a:noFill/>
            <a:prstDash val="solid"/>
          </a:ln>
        </p:spPr>
        <p:txBody>
          <a:bodyPr/>
          <a:lstStyle/>
          <a:p>
            <a:pPr algn="l">
              <a:defRPr sz="1650" b="0" i="0">
                <a:solidFill>
                  <a:srgbClr val="222222"/>
                </a:solidFill>
              </a:defRPr>
            </a:pPr>
            <a:r>
              <a:rPr sz="1650" b="0" i="0">
                <a:solidFill>
                  <a:srgbClr val="222222"/>
                </a:solidFill>
              </a:rPr>
              <a:t>swing rs smh 21 has the largest median TRAIN-fold relationship to relative h10 return (0.063), still small. That is honest evidence: retain a compact set of complementary clues and make the next model test earn its complexity.</a:t>
            </a:r>
          </a:p>
        </p:txBody>
      </p:sp>
    </p:spTree>
    <p:extLst>
      <p:ext uri="{BB962C8B-B14F-4D97-AF65-F5344CB8AC3E}">
        <p14:creationId xmlns:p14="http://schemas.microsoft.com/office/powerpoint/2010/main" val="177007611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CC90CA26-51CE-4B52-816A-4F10DF6C58C6}"/>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9B466EA2-318E-42C7-B804-AC301B16C160}"/>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decile view reveals shape, not a blanket buy signal</a:t>
            </a:r>
          </a:p>
        </p:txBody>
      </p:sp>
      <p:sp>
        <p:nvSpPr>
          <p:cNvPr id="3" name="Rectangle 2">
            <a:extLst>
              <a:ext uri="{FF2B5EF4-FFF2-40B4-BE49-F238E27FC236}">
                <a16:creationId xmlns:a16="http://schemas.microsoft.com/office/drawing/2014/main" id="{B02AF519-A2D0-4721-9A1D-58B88EA22750}"/>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660026" y="1924050"/>
            <a:ext cx="7900147" cy="4476750"/>
          </a:xfrm>
          <a:prstGeom prst="rect">
            <a:avLst/>
          </a:prstGeom>
        </p:spPr>
      </p:pic>
      <p:sp>
        <p:nvSpPr>
          <p:cNvPr id="5" name="Rectangle 4">
            <a:extLst>
              <a:ext uri="{FF2B5EF4-FFF2-40B4-BE49-F238E27FC236}">
                <a16:creationId xmlns:a16="http://schemas.microsoft.com/office/drawing/2014/main" id="{AC26E3B4-D763-464A-874B-55A09E2786C9}"/>
              </a:ext>
            </a:extLst>
          </p:cNvPr>
          <p:cNvSpPr>
            <a:spLocks noGrp="1"/>
          </p:cNvSpPr>
          <p:nvPr/>
        </p:nvSpPr>
        <p:spPr>
          <a:xfrm>
            <a:off x="9048750" y="2114550"/>
            <a:ext cx="23812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How to read it</a:t>
            </a:r>
          </a:p>
        </p:txBody>
      </p:sp>
      <p:sp>
        <p:nvSpPr>
          <p:cNvPr id="6" name="Rectangle 5">
            <a:extLst>
              <a:ext uri="{FF2B5EF4-FFF2-40B4-BE49-F238E27FC236}">
                <a16:creationId xmlns:a16="http://schemas.microsoft.com/office/drawing/2014/main" id="{ED1BE3D5-1939-44B5-9383-ABA59DAD73ED}"/>
              </a:ext>
            </a:extLst>
          </p:cNvPr>
          <p:cNvSpPr>
            <a:spLocks noGrp="1"/>
          </p:cNvSpPr>
          <p:nvPr/>
        </p:nvSpPr>
        <p:spPr>
          <a:xfrm>
            <a:off x="9048750" y="2667000"/>
            <a:ext cx="2286000" cy="27622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The panels average within-TRAIN deciles across quarterly folds. Semiconductor-relative leadership and fresh-breakout posture slope upward more plausibly than several raw trend measures. Pullback depth is not a simple monotonic buy-the-dip story.</a:t>
            </a:r>
          </a:p>
        </p:txBody>
      </p:sp>
    </p:spTree>
    <p:extLst>
      <p:ext uri="{BB962C8B-B14F-4D97-AF65-F5344CB8AC3E}">
        <p14:creationId xmlns:p14="http://schemas.microsoft.com/office/powerpoint/2010/main" val="113334573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5AD6DDD8-565A-4208-95E0-013E34EC2F9F}"/>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BEB98DC1-044C-4912-8E9B-A5438A17B501}"/>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Price examples keep the features grounded in actual market behavior</a:t>
            </a:r>
          </a:p>
        </p:txBody>
      </p:sp>
      <p:sp>
        <p:nvSpPr>
          <p:cNvPr id="3" name="Rectangle 2">
            <a:extLst>
              <a:ext uri="{FF2B5EF4-FFF2-40B4-BE49-F238E27FC236}">
                <a16:creationId xmlns:a16="http://schemas.microsoft.com/office/drawing/2014/main" id="{F4842318-F5EC-41BC-A492-BB71FD21E2C0}"/>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pic>
        <p:nvPicPr>
          <p:cNvPr id="10" name="Picture 9"/>
          <p:cNvPicPr>
            <a:picLocks noChangeAspect="1"/>
          </p:cNvPicPr>
          <p:nvPr/>
        </p:nvPicPr>
        <p:blipFill>
          <a:blip r:embed="rId3"/>
          <a:stretch/>
        </p:blipFill>
        <p:spPr>
          <a:xfrm>
            <a:off x="522754" y="1885950"/>
            <a:ext cx="8269941" cy="4686300"/>
          </a:xfrm>
          <a:prstGeom prst="rect">
            <a:avLst/>
          </a:prstGeom>
        </p:spPr>
      </p:pic>
      <p:sp>
        <p:nvSpPr>
          <p:cNvPr id="5" name="Rectangle 4">
            <a:extLst>
              <a:ext uri="{FF2B5EF4-FFF2-40B4-BE49-F238E27FC236}">
                <a16:creationId xmlns:a16="http://schemas.microsoft.com/office/drawing/2014/main" id="{374FE990-2EC1-4404-B13E-ABD230A0C36B}"/>
              </a:ext>
            </a:extLst>
          </p:cNvPr>
          <p:cNvSpPr>
            <a:spLocks noGrp="1"/>
          </p:cNvSpPr>
          <p:nvPr/>
        </p:nvSpPr>
        <p:spPr>
          <a:xfrm>
            <a:off x="9105900" y="2114550"/>
            <a:ext cx="2381250" cy="304800"/>
          </a:xfrm>
          <a:prstGeom prst="rect">
            <a:avLst/>
          </a:prstGeom>
          <a:noFill/>
          <a:ln w="0">
            <a:noFill/>
            <a:prstDash val="solid"/>
          </a:ln>
        </p:spPr>
        <p:txBody>
          <a:bodyPr/>
          <a:lstStyle/>
          <a:p>
            <a:pPr algn="l">
              <a:defRPr sz="1950" b="1" i="0">
                <a:solidFill>
                  <a:srgbClr val="222222"/>
                </a:solidFill>
              </a:defRPr>
            </a:pPr>
            <a:r>
              <a:rPr sz="1950" b="1" i="0">
                <a:solidFill>
                  <a:srgbClr val="222222"/>
                </a:solidFill>
              </a:rPr>
              <a:t>Why these two</a:t>
            </a:r>
          </a:p>
        </p:txBody>
      </p:sp>
      <p:sp>
        <p:nvSpPr>
          <p:cNvPr id="6" name="Rectangle 5">
            <a:extLst>
              <a:ext uri="{FF2B5EF4-FFF2-40B4-BE49-F238E27FC236}">
                <a16:creationId xmlns:a16="http://schemas.microsoft.com/office/drawing/2014/main" id="{11095508-1F3A-440B-B5C7-B7F5595826D2}"/>
              </a:ext>
            </a:extLst>
          </p:cNvPr>
          <p:cNvSpPr>
            <a:spLocks noGrp="1"/>
          </p:cNvSpPr>
          <p:nvPr/>
        </p:nvSpPr>
        <p:spPr>
          <a:xfrm>
            <a:off x="9105900" y="2686050"/>
            <a:ext cx="2286000" cy="27622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AMD 2020 shows leadership and breadth interacting during a powerful advance. TSLA 2022 shows why price above moving averages alone is not enough: leadership can remain high while the broader context deteriorates. These are feature diagnostics, not trading signals.</a:t>
            </a:r>
          </a:p>
        </p:txBody>
      </p:sp>
    </p:spTree>
    <p:extLst>
      <p:ext uri="{BB962C8B-B14F-4D97-AF65-F5344CB8AC3E}">
        <p14:creationId xmlns:p14="http://schemas.microsoft.com/office/powerpoint/2010/main" val="120623356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3666D177-FF81-4359-977F-934FC7B89218}"/>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C5DDB01F-19DC-447B-8B0A-B6F988E835B3}"/>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next slice is a small model test with an explicit alpha objective</a:t>
            </a:r>
          </a:p>
        </p:txBody>
      </p:sp>
      <p:sp>
        <p:nvSpPr>
          <p:cNvPr id="3" name="Rectangle 2">
            <a:extLst>
              <a:ext uri="{FF2B5EF4-FFF2-40B4-BE49-F238E27FC236}">
                <a16:creationId xmlns:a16="http://schemas.microsoft.com/office/drawing/2014/main" id="{932DEF5F-C78E-48F3-AA63-351C23BF06D9}"/>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29EEDC0C-5A11-4CB6-A358-E8632D47CB4C}"/>
              </a:ext>
            </a:extLst>
          </p:cNvPr>
          <p:cNvSpPr>
            <a:spLocks noGrp="1"/>
          </p:cNvSpPr>
          <p:nvPr/>
        </p:nvSpPr>
        <p:spPr>
          <a:xfrm>
            <a:off x="876300" y="2133600"/>
            <a:ext cx="9334500" cy="857250"/>
          </a:xfrm>
          <a:prstGeom prst="rect">
            <a:avLst/>
          </a:prstGeom>
          <a:noFill/>
          <a:ln w="0">
            <a:noFill/>
            <a:prstDash val="solid"/>
          </a:ln>
        </p:spPr>
        <p:txBody>
          <a:bodyPr/>
          <a:lstStyle/>
          <a:p>
            <a:pPr algn="l">
              <a:defRPr sz="2250" b="1" i="0">
                <a:solidFill>
                  <a:srgbClr val="000000"/>
                </a:solidFill>
              </a:defRPr>
            </a:pPr>
            <a:r>
              <a:rPr sz="2250" b="1" i="0">
                <a:solidFill>
                  <a:srgbClr val="000000"/>
                </a:solidFill>
              </a:rPr>
              <a:t>ML-P6 establishes the ingredients and the safety boundary. It does not yet establish that the ingredients form a useful predictive model or beat benchmark.</a:t>
            </a:r>
          </a:p>
        </p:txBody>
      </p:sp>
      <p:sp>
        <p:nvSpPr>
          <p:cNvPr id="5" name="Rectangle 4">
            <a:extLst>
              <a:ext uri="{FF2B5EF4-FFF2-40B4-BE49-F238E27FC236}">
                <a16:creationId xmlns:a16="http://schemas.microsoft.com/office/drawing/2014/main" id="{83EE2792-C726-46A6-B95A-CD222CCEB429}"/>
              </a:ext>
            </a:extLst>
          </p:cNvPr>
          <p:cNvSpPr>
            <a:spLocks noGrp="1"/>
          </p:cNvSpPr>
          <p:nvPr/>
        </p:nvSpPr>
        <p:spPr>
          <a:xfrm>
            <a:off x="1219200" y="36099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7DC009D3-9885-497C-97EA-3B837AC65786}"/>
              </a:ext>
            </a:extLst>
          </p:cNvPr>
          <p:cNvSpPr>
            <a:spLocks noGrp="1"/>
          </p:cNvSpPr>
          <p:nvPr/>
        </p:nvSpPr>
        <p:spPr>
          <a:xfrm>
            <a:off x="1485900" y="36004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Keep relative h10 as the primary candidate target; retain absolute h10 as the existing control.</a:t>
            </a:r>
          </a:p>
        </p:txBody>
      </p:sp>
      <p:sp>
        <p:nvSpPr>
          <p:cNvPr id="7" name="Rectangle 6">
            <a:extLst>
              <a:ext uri="{FF2B5EF4-FFF2-40B4-BE49-F238E27FC236}">
                <a16:creationId xmlns:a16="http://schemas.microsoft.com/office/drawing/2014/main" id="{1BE94234-A0AC-4748-B071-91919F6AABDC}"/>
              </a:ext>
            </a:extLst>
          </p:cNvPr>
          <p:cNvSpPr>
            <a:spLocks noGrp="1"/>
          </p:cNvSpPr>
          <p:nvPr/>
        </p:nvSpPr>
        <p:spPr>
          <a:xfrm>
            <a:off x="1219200" y="42767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5F188E76-C1FA-43A2-BD1B-FFFB5066C185}"/>
              </a:ext>
            </a:extLst>
          </p:cNvPr>
          <p:cNvSpPr>
            <a:spLocks noGrp="1"/>
          </p:cNvSpPr>
          <p:nvPr/>
        </p:nvSpPr>
        <p:spPr>
          <a:xfrm>
            <a:off x="1485900" y="42672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Predeclare a compact swing-feature set instead of searching the entire 34-feature surface.</a:t>
            </a:r>
          </a:p>
        </p:txBody>
      </p:sp>
      <p:sp>
        <p:nvSpPr>
          <p:cNvPr id="9" name="Rectangle 8">
            <a:extLst>
              <a:ext uri="{FF2B5EF4-FFF2-40B4-BE49-F238E27FC236}">
                <a16:creationId xmlns:a16="http://schemas.microsoft.com/office/drawing/2014/main" id="{82472456-76C9-411D-AC2D-6F3B9B9D6011}"/>
              </a:ext>
            </a:extLst>
          </p:cNvPr>
          <p:cNvSpPr>
            <a:spLocks noGrp="1"/>
          </p:cNvSpPr>
          <p:nvPr/>
        </p:nvSpPr>
        <p:spPr>
          <a:xfrm>
            <a:off x="1219200" y="49434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38928A80-CC32-4D1F-B7D5-91EF60E17B32}"/>
              </a:ext>
            </a:extLst>
          </p:cNvPr>
          <p:cNvSpPr>
            <a:spLocks noGrp="1"/>
          </p:cNvSpPr>
          <p:nvPr/>
        </p:nvSpPr>
        <p:spPr>
          <a:xfrm>
            <a:off x="1485900" y="493395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Use the same seeded XGBoost, TRAIN-only policy selection, annual continuity replay, benchmarks, and trade tapes.</a:t>
            </a:r>
          </a:p>
        </p:txBody>
      </p:sp>
      <p:sp>
        <p:nvSpPr>
          <p:cNvPr id="11" name="Rectangle 10">
            <a:extLst>
              <a:ext uri="{FF2B5EF4-FFF2-40B4-BE49-F238E27FC236}">
                <a16:creationId xmlns:a16="http://schemas.microsoft.com/office/drawing/2014/main" id="{9BE4EF48-6FBC-4AF2-A20F-189E8E2DD9E6}"/>
              </a:ext>
            </a:extLst>
          </p:cNvPr>
          <p:cNvSpPr>
            <a:spLocks noGrp="1"/>
          </p:cNvSpPr>
          <p:nvPr/>
        </p:nvSpPr>
        <p:spPr>
          <a:xfrm>
            <a:off x="1219200" y="56102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2" name="Rectangle 11">
            <a:extLst>
              <a:ext uri="{FF2B5EF4-FFF2-40B4-BE49-F238E27FC236}">
                <a16:creationId xmlns:a16="http://schemas.microsoft.com/office/drawing/2014/main" id="{9CE85DBB-1DE9-446F-86EB-22F3AE5B92CD}"/>
              </a:ext>
            </a:extLst>
          </p:cNvPr>
          <p:cNvSpPr>
            <a:spLocks noGrp="1"/>
          </p:cNvSpPr>
          <p:nvPr/>
        </p:nvSpPr>
        <p:spPr>
          <a:xfrm>
            <a:off x="1485900" y="5600700"/>
            <a:ext cx="7162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Promote nothing unless replay and ranking improve across multiple windows; the live bridge stays frozen.</a:t>
            </a:r>
          </a:p>
        </p:txBody>
      </p:sp>
    </p:spTree>
    <p:extLst>
      <p:ext uri="{BB962C8B-B14F-4D97-AF65-F5344CB8AC3E}">
        <p14:creationId xmlns:p14="http://schemas.microsoft.com/office/powerpoint/2010/main" val="69792768"/>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6FD4AE0E-293B-480C-B7A9-5A8D8DD96FE8}"/>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887FCDDD-3693-451B-99E5-DB560F47E10A}"/>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ML-P7: the swing target test is complete</a:t>
            </a:r>
          </a:p>
        </p:txBody>
      </p:sp>
      <p:sp>
        <p:nvSpPr>
          <p:cNvPr id="3" name="Rectangle 2">
            <a:extLst>
              <a:ext uri="{FF2B5EF4-FFF2-40B4-BE49-F238E27FC236}">
                <a16:creationId xmlns:a16="http://schemas.microsoft.com/office/drawing/2014/main" id="{2AD5348E-C4F5-4EB2-B407-33D80444C609}"/>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D730F418-82D4-4594-8F5A-FFA36766E3FD}"/>
              </a:ext>
            </a:extLst>
          </p:cNvPr>
          <p:cNvSpPr>
            <a:spLocks noGrp="1"/>
          </p:cNvSpPr>
          <p:nvPr/>
        </p:nvSpPr>
        <p:spPr>
          <a:xfrm>
            <a:off x="781050" y="2095500"/>
            <a:ext cx="9334500" cy="857250"/>
          </a:xfrm>
          <a:prstGeom prst="rect">
            <a:avLst/>
          </a:prstGeom>
          <a:noFill/>
          <a:ln w="0">
            <a:noFill/>
            <a:prstDash val="solid"/>
          </a:ln>
        </p:spPr>
        <p:txBody>
          <a:bodyPr/>
          <a:lstStyle/>
          <a:p>
            <a:pPr algn="l">
              <a:defRPr sz="2100" b="1" i="0">
                <a:solidFill>
                  <a:srgbClr val="111827"/>
                </a:solidFill>
              </a:defRPr>
            </a:pPr>
            <a:r>
              <a:rPr sz="2100" b="1" i="0">
                <a:solidFill>
                  <a:srgbClr val="111827"/>
                </a:solidFill>
              </a:rPr>
              <a:t>We held the seeded XGBoost, TRAIN-only policy selection, daily next-open replay, and equal-weight basket benchmark fixed. Only the target and feature set moved.</a:t>
            </a:r>
          </a:p>
        </p:txBody>
      </p:sp>
      <p:sp>
        <p:nvSpPr>
          <p:cNvPr id="5" name="Rectangle 4">
            <a:extLst>
              <a:ext uri="{FF2B5EF4-FFF2-40B4-BE49-F238E27FC236}">
                <a16:creationId xmlns:a16="http://schemas.microsoft.com/office/drawing/2014/main" id="{DAB36F48-0BD0-456F-B43E-2292C2A62F7A}"/>
              </a:ext>
            </a:extLst>
          </p:cNvPr>
          <p:cNvSpPr>
            <a:spLocks noGrp="1"/>
          </p:cNvSpPr>
          <p:nvPr/>
        </p:nvSpPr>
        <p:spPr>
          <a:xfrm>
            <a:off x="1162050" y="35528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3C7379ED-2C91-4F75-913C-C7DE4A188257}"/>
              </a:ext>
            </a:extLst>
          </p:cNvPr>
          <p:cNvSpPr>
            <a:spLocks noGrp="1"/>
          </p:cNvSpPr>
          <p:nvPr/>
        </p:nvSpPr>
        <p:spPr>
          <a:xfrm>
            <a:off x="1428750" y="3543300"/>
            <a:ext cx="7543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Target: absolute h1 control versus benchmark-relative h10 challenger.</a:t>
            </a:r>
          </a:p>
        </p:txBody>
      </p:sp>
      <p:sp>
        <p:nvSpPr>
          <p:cNvPr id="7" name="Rectangle 6">
            <a:extLst>
              <a:ext uri="{FF2B5EF4-FFF2-40B4-BE49-F238E27FC236}">
                <a16:creationId xmlns:a16="http://schemas.microsoft.com/office/drawing/2014/main" id="{58399B22-5E34-49B3-929E-C7290CFCA7B7}"/>
              </a:ext>
            </a:extLst>
          </p:cNvPr>
          <p:cNvSpPr>
            <a:spLocks noGrp="1"/>
          </p:cNvSpPr>
          <p:nvPr/>
        </p:nvSpPr>
        <p:spPr>
          <a:xfrm>
            <a:off x="1162050" y="42767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C6C34DBC-3A15-4BD5-B37F-33A6FC0D8E82}"/>
              </a:ext>
            </a:extLst>
          </p:cNvPr>
          <p:cNvSpPr>
            <a:spLocks noGrp="1"/>
          </p:cNvSpPr>
          <p:nvPr/>
        </p:nvSpPr>
        <p:spPr>
          <a:xfrm>
            <a:off x="1428750" y="4267200"/>
            <a:ext cx="7543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Features: established relative-control surface versus 12 predeclared swing features.</a:t>
            </a:r>
          </a:p>
        </p:txBody>
      </p:sp>
      <p:sp>
        <p:nvSpPr>
          <p:cNvPr id="9" name="Rectangle 8">
            <a:extLst>
              <a:ext uri="{FF2B5EF4-FFF2-40B4-BE49-F238E27FC236}">
                <a16:creationId xmlns:a16="http://schemas.microsoft.com/office/drawing/2014/main" id="{DD39F933-2599-4ED0-88D4-EA07C96C5FF3}"/>
              </a:ext>
            </a:extLst>
          </p:cNvPr>
          <p:cNvSpPr>
            <a:spLocks noGrp="1"/>
          </p:cNvSpPr>
          <p:nvPr/>
        </p:nvSpPr>
        <p:spPr>
          <a:xfrm>
            <a:off x="1162050" y="500062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B2464A63-4CF6-4329-8F75-DA758F275773}"/>
              </a:ext>
            </a:extLst>
          </p:cNvPr>
          <p:cNvSpPr>
            <a:spLocks noGrp="1"/>
          </p:cNvSpPr>
          <p:nvPr/>
        </p:nvSpPr>
        <p:spPr>
          <a:xfrm>
            <a:off x="1428750" y="4991100"/>
            <a:ext cx="7543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Scope: five annual windows, eight-quarter TRAIN, quarterly authorities stitched for annual review.</a:t>
            </a:r>
          </a:p>
        </p:txBody>
      </p:sp>
    </p:spTree>
    <p:extLst>
      <p:ext uri="{BB962C8B-B14F-4D97-AF65-F5344CB8AC3E}">
        <p14:creationId xmlns:p14="http://schemas.microsoft.com/office/powerpoint/2010/main" val="190409763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404598E6-C98B-4FCE-A53F-057C94DD952C}"/>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CFAC41F6-11E0-485E-B001-F0DE34E529E7}"/>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None of the four lanes cleared the mean-alpha gate</a:t>
            </a:r>
          </a:p>
        </p:txBody>
      </p:sp>
      <p:sp>
        <p:nvSpPr>
          <p:cNvPr id="3" name="Rectangle 2">
            <a:extLst>
              <a:ext uri="{FF2B5EF4-FFF2-40B4-BE49-F238E27FC236}">
                <a16:creationId xmlns:a16="http://schemas.microsoft.com/office/drawing/2014/main" id="{913F86C1-FEF5-48F1-B4CC-855CAEA9B744}"/>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0E150D79-9A37-451A-99E2-17647A179E38}"/>
              </a:ext>
            </a:extLst>
          </p:cNvPr>
          <p:cNvSpPr>
            <a:spLocks noGrp="1"/>
          </p:cNvSpPr>
          <p:nvPr/>
        </p:nvSpPr>
        <p:spPr>
          <a:xfrm>
            <a:off x="762000" y="1885950"/>
            <a:ext cx="7239000" cy="304800"/>
          </a:xfrm>
          <a:prstGeom prst="rect">
            <a:avLst/>
          </a:prstGeom>
          <a:noFill/>
          <a:ln w="0">
            <a:noFill/>
            <a:prstDash val="solid"/>
          </a:ln>
        </p:spPr>
        <p:txBody>
          <a:bodyPr/>
          <a:lstStyle/>
          <a:p>
            <a:pPr algn="l">
              <a:defRPr sz="1800" b="0" i="0">
                <a:solidFill>
                  <a:srgbClr val="555555"/>
                </a:solidFill>
              </a:defRPr>
            </a:pPr>
            <a:r>
              <a:rPr sz="1800" b="0" i="0">
                <a:solidFill>
                  <a:srgbClr val="555555"/>
                </a:solidFill>
              </a:rPr>
              <a:t>Mean OOS excess return versus equal-weight basket hold</a:t>
            </a:r>
          </a:p>
        </p:txBody>
      </p:sp>
      <p:sp>
        <p:nvSpPr>
          <p:cNvPr id="5" name="Rectangle 4">
            <a:extLst>
              <a:ext uri="{FF2B5EF4-FFF2-40B4-BE49-F238E27FC236}">
                <a16:creationId xmlns:a16="http://schemas.microsoft.com/office/drawing/2014/main" id="{B294EFB6-57D0-4A70-8119-51B473770812}"/>
              </a:ext>
            </a:extLst>
          </p:cNvPr>
          <p:cNvSpPr>
            <a:spLocks noGrp="1"/>
          </p:cNvSpPr>
          <p:nvPr/>
        </p:nvSpPr>
        <p:spPr>
          <a:xfrm>
            <a:off x="1352550" y="2628900"/>
            <a:ext cx="6477000" cy="2476500"/>
          </a:xfrm>
          <a:prstGeom prst="rect">
            <a:avLst/>
          </a:prstGeom>
          <a:noFill/>
          <a:ln w="0">
            <a:noFill/>
            <a:prstDash val="solid"/>
          </a:ln>
        </p:spPr>
        <p:txBody>
          <a:bodyPr/>
          <a:lstStyle/>
          <a:p>
            <a:pPr algn="l">
              <a:defRPr sz="2250" b="1" i="0">
                <a:solidFill>
                  <a:srgbClr val="111827"/>
                </a:solidFill>
              </a:defRPr>
            </a:pPr>
            <a:r>
              <a:rPr sz="2250" b="1" i="0">
                <a:solidFill>
                  <a:srgbClr val="111827"/>
                </a:solidFill>
              </a:rPr>
              <a:t>Absolute h1 + compact swing: -6.6 pp</a:t>
            </a:r>
          </a:p>
          <a:p>
            <a:pPr algn="l">
              <a:defRPr sz="2250" b="1" i="0">
                <a:solidFill>
                  <a:srgbClr val="111827"/>
                </a:solidFill>
              </a:defRPr>
            </a:pPr>
            <a:r>
              <a:rPr sz="2250" b="1" i="0">
                <a:solidFill>
                  <a:srgbClr val="111827"/>
                </a:solidFill>
              </a:rPr>
              <a:t>Absolute h1 + existing control: -6.8 pp</a:t>
            </a:r>
          </a:p>
          <a:p>
            <a:pPr algn="l">
              <a:defRPr sz="2250" b="1" i="0">
                <a:solidFill>
                  <a:srgbClr val="111827"/>
                </a:solidFill>
              </a:defRPr>
            </a:pPr>
            <a:r>
              <a:rPr sz="2250" b="1" i="0">
                <a:solidFill>
                  <a:srgbClr val="111827"/>
                </a:solidFill>
              </a:rPr>
              <a:t>Relative h10 + compact swing: -9.4 pp</a:t>
            </a:r>
          </a:p>
          <a:p>
            <a:pPr algn="l">
              <a:defRPr sz="2250" b="1" i="0">
                <a:solidFill>
                  <a:srgbClr val="111827"/>
                </a:solidFill>
              </a:defRPr>
            </a:pPr>
            <a:r>
              <a:rPr sz="2250" b="1" i="0">
                <a:solidFill>
                  <a:srgbClr val="111827"/>
                </a:solidFill>
              </a:rPr>
              <a:t>Relative h10 + existing control: -6.2 pp</a:t>
            </a:r>
          </a:p>
        </p:txBody>
      </p:sp>
      <p:sp>
        <p:nvSpPr>
          <p:cNvPr id="6" name="Rectangle 5">
            <a:extLst>
              <a:ext uri="{FF2B5EF4-FFF2-40B4-BE49-F238E27FC236}">
                <a16:creationId xmlns:a16="http://schemas.microsoft.com/office/drawing/2014/main" id="{3F888500-5B4D-4415-8D98-87BF346B8552}"/>
              </a:ext>
            </a:extLst>
          </p:cNvPr>
          <p:cNvSpPr>
            <a:spLocks noGrp="1"/>
          </p:cNvSpPr>
          <p:nvPr/>
        </p:nvSpPr>
        <p:spPr>
          <a:xfrm>
            <a:off x="8096250" y="2762250"/>
            <a:ext cx="2857500" cy="1809750"/>
          </a:xfrm>
          <a:prstGeom prst="rect">
            <a:avLst/>
          </a:prstGeom>
          <a:noFill/>
          <a:ln w="0">
            <a:noFill/>
            <a:prstDash val="solid"/>
          </a:ln>
        </p:spPr>
        <p:txBody>
          <a:bodyPr/>
          <a:lstStyle/>
          <a:p>
            <a:pPr algn="l">
              <a:defRPr sz="1725" b="0" i="0">
                <a:solidFill>
                  <a:srgbClr val="222222"/>
                </a:solidFill>
              </a:defRPr>
            </a:pPr>
            <a:r>
              <a:rPr sz="1725" b="0" i="0">
                <a:solidFill>
                  <a:srgbClr val="222222"/>
                </a:solidFill>
              </a:rPr>
              <a:t>This is a clean negative result, not a reason to tune harder. The relative-h10 existing-control lane was least negative overall, but did not establish alpha.</a:t>
            </a:r>
          </a:p>
        </p:txBody>
      </p:sp>
    </p:spTree>
    <p:extLst>
      <p:ext uri="{BB962C8B-B14F-4D97-AF65-F5344CB8AC3E}">
        <p14:creationId xmlns:p14="http://schemas.microsoft.com/office/powerpoint/2010/main" val="1696212255"/>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DC8B44ED-62AD-4148-B80F-DA0D00AAEB84}"/>
              </a:ext>
            </a:extLst>
          </p:cNvPr>
          <p:cNvSpPr>
            <a:spLocks noGrp="1"/>
          </p:cNvSpPr>
          <p:nvPr/>
        </p:nvSpPr>
        <p:spPr>
          <a:xfrm>
            <a:off x="685800" y="400050"/>
            <a:ext cx="8572500" cy="247650"/>
          </a:xfrm>
          <a:prstGeom prst="rect">
            <a:avLst/>
          </a:prstGeom>
          <a:noFill/>
          <a:ln w="0">
            <a:noFill/>
            <a:prstDash val="solid"/>
          </a:ln>
        </p:spPr>
        <p:txBody>
          <a:bodyPr/>
          <a:lstStyle/>
          <a:p>
            <a:pPr algn="l">
              <a:defRPr sz="975" b="1" i="0">
                <a:solidFill>
                  <a:srgbClr val="555555"/>
                </a:solidFill>
              </a:defRPr>
            </a:pPr>
            <a:r>
              <a:rPr sz="975" b="1" i="0">
                <a:solidFill>
                  <a:srgbClr val="555555"/>
                </a:solidFill>
              </a:rPr>
              <a:t>GEN5.4 ML DECISION ENGINE</a:t>
            </a:r>
          </a:p>
        </p:txBody>
      </p:sp>
      <p:sp>
        <p:nvSpPr>
          <p:cNvPr id="2" name="Rectangle 1">
            <a:extLst>
              <a:ext uri="{FF2B5EF4-FFF2-40B4-BE49-F238E27FC236}">
                <a16:creationId xmlns:a16="http://schemas.microsoft.com/office/drawing/2014/main" id="{0869FD81-5EE3-4866-8E4D-CE04C0E0E304}"/>
              </a:ext>
            </a:extLst>
          </p:cNvPr>
          <p:cNvSpPr>
            <a:spLocks noGrp="1"/>
          </p:cNvSpPr>
          <p:nvPr/>
        </p:nvSpPr>
        <p:spPr>
          <a:xfrm>
            <a:off x="685800" y="723900"/>
            <a:ext cx="10287000" cy="876300"/>
          </a:xfrm>
          <a:prstGeom prst="rect">
            <a:avLst/>
          </a:prstGeom>
          <a:noFill/>
          <a:ln w="0">
            <a:noFill/>
            <a:prstDash val="solid"/>
          </a:ln>
        </p:spPr>
        <p:txBody>
          <a:bodyPr/>
          <a:lstStyle/>
          <a:p>
            <a:pPr algn="l">
              <a:defRPr sz="2850" b="1" i="0">
                <a:solidFill>
                  <a:srgbClr val="000000"/>
                </a:solidFill>
              </a:defRPr>
            </a:pPr>
            <a:r>
              <a:rPr sz="2850" b="1" i="0">
                <a:solidFill>
                  <a:srgbClr val="000000"/>
                </a:solidFill>
              </a:rPr>
              <a:t>The audit question has shifted from model choice to participation</a:t>
            </a:r>
          </a:p>
        </p:txBody>
      </p:sp>
      <p:sp>
        <p:nvSpPr>
          <p:cNvPr id="3" name="Rectangle 2">
            <a:extLst>
              <a:ext uri="{FF2B5EF4-FFF2-40B4-BE49-F238E27FC236}">
                <a16:creationId xmlns:a16="http://schemas.microsoft.com/office/drawing/2014/main" id="{62751761-39F8-4E98-9919-8F19F3CA2D9F}"/>
              </a:ext>
            </a:extLst>
          </p:cNvPr>
          <p:cNvSpPr>
            <a:spLocks noGrp="1"/>
          </p:cNvSpPr>
          <p:nvPr/>
        </p:nvSpPr>
        <p:spPr>
          <a:xfrm>
            <a:off x="685800" y="1657350"/>
            <a:ext cx="10820400" cy="19050"/>
          </a:xfrm>
          <a:prstGeom prst="rect">
            <a:avLst/>
          </a:prstGeom>
          <a:solidFill>
            <a:srgbClr val="B8BCC4"/>
          </a:solidFill>
          <a:ln w="0">
            <a:noFill/>
            <a:prstDash val="solid"/>
          </a:ln>
        </p:spPr>
        <p:txBody>
          <a:bodyPr/>
          <a:lstStyle/>
          <a:p>
            <a:endParaRPr lang="en-US"/>
          </a:p>
        </p:txBody>
      </p:sp>
      <p:sp>
        <p:nvSpPr>
          <p:cNvPr id="4" name="Rectangle 3">
            <a:extLst>
              <a:ext uri="{FF2B5EF4-FFF2-40B4-BE49-F238E27FC236}">
                <a16:creationId xmlns:a16="http://schemas.microsoft.com/office/drawing/2014/main" id="{2A418393-3CF7-491A-A9EB-172457B03B57}"/>
              </a:ext>
            </a:extLst>
          </p:cNvPr>
          <p:cNvSpPr>
            <a:spLocks noGrp="1"/>
          </p:cNvSpPr>
          <p:nvPr/>
        </p:nvSpPr>
        <p:spPr>
          <a:xfrm>
            <a:off x="762000" y="2000250"/>
            <a:ext cx="10001250" cy="876300"/>
          </a:xfrm>
          <a:prstGeom prst="rect">
            <a:avLst/>
          </a:prstGeom>
          <a:noFill/>
          <a:ln w="0">
            <a:noFill/>
            <a:prstDash val="solid"/>
          </a:ln>
        </p:spPr>
        <p:txBody>
          <a:bodyPr/>
          <a:lstStyle/>
          <a:p>
            <a:pPr algn="l">
              <a:defRPr sz="2100" b="1" i="0">
                <a:solidFill>
                  <a:srgbClr val="111827"/>
                </a:solidFill>
              </a:defRPr>
            </a:pPr>
            <a:r>
              <a:rPr sz="2100" b="1" i="0">
                <a:solidFill>
                  <a:srgbClr val="111827"/>
                </a:solidFill>
              </a:rPr>
              <a:t>Every lane defended the falling 2022 basket; relative h10 + existing control led at +9.1 pp excess. Yet every lane lagged during the bullish 2020, 2021, 2023, and 2024 windows.</a:t>
            </a:r>
          </a:p>
        </p:txBody>
      </p:sp>
      <p:sp>
        <p:nvSpPr>
          <p:cNvPr id="5" name="Rectangle 4">
            <a:extLst>
              <a:ext uri="{FF2B5EF4-FFF2-40B4-BE49-F238E27FC236}">
                <a16:creationId xmlns:a16="http://schemas.microsoft.com/office/drawing/2014/main" id="{56FFADE3-664E-42AD-8436-ABB2F19A3373}"/>
              </a:ext>
            </a:extLst>
          </p:cNvPr>
          <p:cNvSpPr>
            <a:spLocks noGrp="1"/>
          </p:cNvSpPr>
          <p:nvPr/>
        </p:nvSpPr>
        <p:spPr>
          <a:xfrm>
            <a:off x="1200150" y="37242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6" name="Rectangle 5">
            <a:extLst>
              <a:ext uri="{FF2B5EF4-FFF2-40B4-BE49-F238E27FC236}">
                <a16:creationId xmlns:a16="http://schemas.microsoft.com/office/drawing/2014/main" id="{A4A058B9-E7B0-4E4C-902B-789C19B25471}"/>
              </a:ext>
            </a:extLst>
          </p:cNvPr>
          <p:cNvSpPr>
            <a:spLocks noGrp="1"/>
          </p:cNvSpPr>
          <p:nvPr/>
        </p:nvSpPr>
        <p:spPr>
          <a:xfrm>
            <a:off x="1466850" y="3714750"/>
            <a:ext cx="7924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Audit whether calibrated probabilities separate favorable from unfavorable days.</a:t>
            </a:r>
          </a:p>
        </p:txBody>
      </p:sp>
      <p:sp>
        <p:nvSpPr>
          <p:cNvPr id="7" name="Rectangle 6">
            <a:extLst>
              <a:ext uri="{FF2B5EF4-FFF2-40B4-BE49-F238E27FC236}">
                <a16:creationId xmlns:a16="http://schemas.microsoft.com/office/drawing/2014/main" id="{40B9EDD6-E42F-48A8-954B-8978D019224A}"/>
              </a:ext>
            </a:extLst>
          </p:cNvPr>
          <p:cNvSpPr>
            <a:spLocks noGrp="1"/>
          </p:cNvSpPr>
          <p:nvPr/>
        </p:nvSpPr>
        <p:spPr>
          <a:xfrm>
            <a:off x="1200150" y="44481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8" name="Rectangle 7">
            <a:extLst>
              <a:ext uri="{FF2B5EF4-FFF2-40B4-BE49-F238E27FC236}">
                <a16:creationId xmlns:a16="http://schemas.microsoft.com/office/drawing/2014/main" id="{28E11849-183D-4776-8152-445C9B3A9C2F}"/>
              </a:ext>
            </a:extLst>
          </p:cNvPr>
          <p:cNvSpPr>
            <a:spLocks noGrp="1"/>
          </p:cNvSpPr>
          <p:nvPr/>
        </p:nvSpPr>
        <p:spPr>
          <a:xfrm>
            <a:off x="1466850" y="4438650"/>
            <a:ext cx="7924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Audit exposure and trade tapes for late entry, early exit, and avoidable flat periods.</a:t>
            </a:r>
          </a:p>
        </p:txBody>
      </p:sp>
      <p:sp>
        <p:nvSpPr>
          <p:cNvPr id="9" name="Rectangle 8">
            <a:extLst>
              <a:ext uri="{FF2B5EF4-FFF2-40B4-BE49-F238E27FC236}">
                <a16:creationId xmlns:a16="http://schemas.microsoft.com/office/drawing/2014/main" id="{4D0FA2CA-F6F3-44C9-8F8D-A9E1CD2FF862}"/>
              </a:ext>
            </a:extLst>
          </p:cNvPr>
          <p:cNvSpPr>
            <a:spLocks noGrp="1"/>
          </p:cNvSpPr>
          <p:nvPr/>
        </p:nvSpPr>
        <p:spPr>
          <a:xfrm>
            <a:off x="1200150" y="5172075"/>
            <a:ext cx="190500" cy="247650"/>
          </a:xfrm>
          <a:prstGeom prst="rect">
            <a:avLst/>
          </a:prstGeom>
          <a:noFill/>
          <a:ln w="0">
            <a:noFill/>
            <a:prstDash val="solid"/>
          </a:ln>
        </p:spPr>
        <p:txBody>
          <a:bodyPr/>
          <a:lstStyle/>
          <a:p>
            <a:pPr algn="l">
              <a:defRPr sz="1575" b="1" i="0">
                <a:solidFill>
                  <a:srgbClr val="FF6B35"/>
                </a:solidFill>
              </a:defRPr>
            </a:pPr>
            <a:r>
              <a:rPr sz="1575" b="1" i="0">
                <a:solidFill>
                  <a:srgbClr val="FF6B35"/>
                </a:solidFill>
              </a:rPr>
              <a:t>-</a:t>
            </a:r>
          </a:p>
        </p:txBody>
      </p:sp>
      <p:sp>
        <p:nvSpPr>
          <p:cNvPr id="10" name="Rectangle 9">
            <a:extLst>
              <a:ext uri="{FF2B5EF4-FFF2-40B4-BE49-F238E27FC236}">
                <a16:creationId xmlns:a16="http://schemas.microsoft.com/office/drawing/2014/main" id="{EDAF853B-AE61-4B1C-B62A-25ACC96919B7}"/>
              </a:ext>
            </a:extLst>
          </p:cNvPr>
          <p:cNvSpPr>
            <a:spLocks noGrp="1"/>
          </p:cNvSpPr>
          <p:nvPr/>
        </p:nvSpPr>
        <p:spPr>
          <a:xfrm>
            <a:off x="1466850" y="5162550"/>
            <a:ext cx="7924800" cy="514350"/>
          </a:xfrm>
          <a:prstGeom prst="rect">
            <a:avLst/>
          </a:prstGeom>
          <a:noFill/>
          <a:ln w="0">
            <a:noFill/>
            <a:prstDash val="solid"/>
          </a:ln>
        </p:spPr>
        <p:txBody>
          <a:bodyPr/>
          <a:lstStyle/>
          <a:p>
            <a:pPr algn="l">
              <a:defRPr sz="1575" b="0" i="0">
                <a:solidFill>
                  <a:srgbClr val="222222"/>
                </a:solidFill>
              </a:defRPr>
            </a:pPr>
            <a:r>
              <a:rPr sz="1575" b="0" i="0">
                <a:solidFill>
                  <a:srgbClr val="222222"/>
                </a:solidFill>
              </a:rPr>
              <a:t>Audit symbol concentration before changing labels, features, or model knobs again.</a:t>
            </a:r>
          </a:p>
        </p:txBody>
      </p:sp>
    </p:spTree>
    <p:extLst>
      <p:ext uri="{BB962C8B-B14F-4D97-AF65-F5344CB8AC3E}">
        <p14:creationId xmlns:p14="http://schemas.microsoft.com/office/powerpoint/2010/main" val="1921777356"/>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5452</Words>
  <Application>Microsoft Office PowerPoint</Application>
  <DocSecurity>0</DocSecurity>
  <PresentationFormat>Widescreen</PresentationFormat>
  <Paragraphs>619</Paragraphs>
  <Slides>78</Slides>
  <Notes>78</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78</vt:i4>
      </vt:variant>
    </vt:vector>
  </HeadingPairs>
  <TitlesOfParts>
    <vt:vector size="80" baseType="lpstr">
      <vt:lpstr>Calibri</vt:lpstr>
      <vt:lpstr>ChatGPT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Francis Bauzon</cp:lastModifiedBy>
  <cp:revision>1</cp:revision>
  <dcterms:created xsi:type="dcterms:W3CDTF">2026-07-15T00:57:45Z</dcterms:created>
  <dcterms:modified xsi:type="dcterms:W3CDTF">2026-07-15T01:00:27Z</dcterms:modified>
</cp:coreProperties>
</file>