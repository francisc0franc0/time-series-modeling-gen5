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f946ef1e83c4534" /><Relationship Type="http://schemas.openxmlformats.org/officeDocument/2006/relationships/extended-properties" Target="/docProps/app.xml" Id="Rde1acf9b96314172" /><Relationship Type="http://schemas.openxmlformats.org/officeDocument/2006/relationships/officeDocument" Target="/ppt/presentation.xml" Id="R4914c69b1c3f4cf3" /></Relationships>
</file>

<file path=ppt/presentation.xml><?xml version="1.0" encoding="utf-8"?>
<p:presentation xmlns:p="http://schemas.openxmlformats.org/presentationml/2006/main">
  <p:sldMasterIdLst>
    <p:sldMasterId xmlns:r="http://schemas.openxmlformats.org/officeDocument/2006/relationships" id="2147483648" r:id="R887a5165dec64549"/>
  </p:sldMasterIdLst>
  <p:notesMasterIdLst>
    <p:notesMasterId xmlns:r="http://schemas.openxmlformats.org/officeDocument/2006/relationships" r:id="Rdc700c6eed724d83"/>
  </p:notesMasterIdLst>
  <p:sldIdLst>
    <p:sldId xmlns:r="http://schemas.openxmlformats.org/officeDocument/2006/relationships" id="256" r:id="R1813de4d8fd14741"/>
    <p:sldId xmlns:r="http://schemas.openxmlformats.org/officeDocument/2006/relationships" id="257" r:id="R4f631ccd5b854966"/>
    <p:sldId xmlns:r="http://schemas.openxmlformats.org/officeDocument/2006/relationships" id="258" r:id="R5a607c52bd5341b1"/>
    <p:sldId xmlns:r="http://schemas.openxmlformats.org/officeDocument/2006/relationships" id="259" r:id="R43fb36539e7e4467"/>
    <p:sldId xmlns:r="http://schemas.openxmlformats.org/officeDocument/2006/relationships" id="260" r:id="Rd971c8a94ff94f15"/>
    <p:sldId xmlns:r="http://schemas.openxmlformats.org/officeDocument/2006/relationships" id="261" r:id="R13e0b814fead4bb1"/>
    <p:sldId xmlns:r="http://schemas.openxmlformats.org/officeDocument/2006/relationships" id="262" r:id="R13e2ad61cc104483"/>
    <p:sldId xmlns:r="http://schemas.openxmlformats.org/officeDocument/2006/relationships" id="263" r:id="R3bc4374851964d35"/>
    <p:sldId xmlns:r="http://schemas.openxmlformats.org/officeDocument/2006/relationships" id="264" r:id="R5f26bc39a55a48e5"/>
    <p:sldId xmlns:r="http://schemas.openxmlformats.org/officeDocument/2006/relationships" id="265" r:id="Rb25315040c9a409a"/>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fcf59df261e4e7b" /><Relationship Type="http://schemas.openxmlformats.org/officeDocument/2006/relationships/slideMaster" Target="/ppt/slideMasters/slideMaster1.xml" Id="R887a5165dec64549" /><Relationship Type="http://schemas.openxmlformats.org/officeDocument/2006/relationships/notesMaster" Target="/ppt/notesMasters/notesMaster1.xml" Id="Rdc700c6eed724d83" /><Relationship Type="http://schemas.openxmlformats.org/officeDocument/2006/relationships/presProps" Target="/ppt/presProps.xml" Id="R5b4be88e521c4fbd" /><Relationship Type="http://schemas.openxmlformats.org/officeDocument/2006/relationships/tableStyles" Target="/ppt/tableStyles.xml" Id="R68c1d645a9ed4a15" /><Relationship Type="http://schemas.openxmlformats.org/officeDocument/2006/relationships/slide" Target="/ppt/slides/slide1.xml" Id="R1813de4d8fd14741" /><Relationship Type="http://schemas.openxmlformats.org/officeDocument/2006/relationships/slide" Target="/ppt/slides/slide2.xml" Id="R4f631ccd5b854966" /><Relationship Type="http://schemas.openxmlformats.org/officeDocument/2006/relationships/slide" Target="/ppt/slides/slide3.xml" Id="R5a607c52bd5341b1" /><Relationship Type="http://schemas.openxmlformats.org/officeDocument/2006/relationships/slide" Target="/ppt/slides/slide4.xml" Id="R43fb36539e7e4467" /><Relationship Type="http://schemas.openxmlformats.org/officeDocument/2006/relationships/slide" Target="/ppt/slides/slide5.xml" Id="Rd971c8a94ff94f15" /><Relationship Type="http://schemas.openxmlformats.org/officeDocument/2006/relationships/slide" Target="/ppt/slides/slide6.xml" Id="R13e0b814fead4bb1" /><Relationship Type="http://schemas.openxmlformats.org/officeDocument/2006/relationships/slide" Target="/ppt/slides/slide7.xml" Id="R13e2ad61cc104483" /><Relationship Type="http://schemas.openxmlformats.org/officeDocument/2006/relationships/slide" Target="/ppt/slides/slide8.xml" Id="R3bc4374851964d35" /><Relationship Type="http://schemas.openxmlformats.org/officeDocument/2006/relationships/slide" Target="/ppt/slides/slide9.xml" Id="R5f26bc39a55a48e5" /><Relationship Type="http://schemas.openxmlformats.org/officeDocument/2006/relationships/slide" Target="/ppt/slides/slide10.xml" Id="Rb25315040c9a409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0c334781614474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d074eda872b40e0" /><Relationship Type="http://schemas.openxmlformats.org/officeDocument/2006/relationships/notesMaster" Target="/ppt/notesMasters/notesMaster1.xml" Id="Re548a0952a6043ad" /></Relationships>
</file>

<file path=ppt/notesSlides/_rels/notesSlide2.xml.rels>&#65279;<?xml version="1.0" encoding="utf-8"?><Relationships xmlns="http://schemas.openxmlformats.org/package/2006/relationships"><Relationship Type="http://schemas.openxmlformats.org/officeDocument/2006/relationships/slide" Target="/ppt/slides/slide2.xml" Id="Rfe6bad1399224f6d" /><Relationship Type="http://schemas.openxmlformats.org/officeDocument/2006/relationships/notesMaster" Target="/ppt/notesMasters/notesMaster1.xml" Id="R6a7a9a5ffc564a6f" /></Relationships>
</file>

<file path=ppt/notesSlides/_rels/notesSlide3.xml.rels>&#65279;<?xml version="1.0" encoding="utf-8"?><Relationships xmlns="http://schemas.openxmlformats.org/package/2006/relationships"><Relationship Type="http://schemas.openxmlformats.org/officeDocument/2006/relationships/slide" Target="/ppt/slides/slide3.xml" Id="R2b80fe830cc5487f" /><Relationship Type="http://schemas.openxmlformats.org/officeDocument/2006/relationships/notesMaster" Target="/ppt/notesMasters/notesMaster1.xml" Id="R6c813a8481c94e6a" /></Relationships>
</file>

<file path=ppt/notesSlides/_rels/notesSlide4.xml.rels>&#65279;<?xml version="1.0" encoding="utf-8"?><Relationships xmlns="http://schemas.openxmlformats.org/package/2006/relationships"><Relationship Type="http://schemas.openxmlformats.org/officeDocument/2006/relationships/slide" Target="/ppt/slides/slide4.xml" Id="R00254370ff9d4b71" /><Relationship Type="http://schemas.openxmlformats.org/officeDocument/2006/relationships/notesMaster" Target="/ppt/notesMasters/notesMaster1.xml" Id="R89eeffe06c3244a0" /></Relationships>
</file>

<file path=ppt/notesSlides/_rels/notesSlide5.xml.rels>&#65279;<?xml version="1.0" encoding="utf-8"?><Relationships xmlns="http://schemas.openxmlformats.org/package/2006/relationships"><Relationship Type="http://schemas.openxmlformats.org/officeDocument/2006/relationships/slide" Target="/ppt/slides/slide5.xml" Id="Rcffb5cb3fdd942a3" /><Relationship Type="http://schemas.openxmlformats.org/officeDocument/2006/relationships/notesMaster" Target="/ppt/notesMasters/notesMaster1.xml" Id="R8ff5f2c737b04935" /></Relationships>
</file>

<file path=ppt/notesSlides/_rels/notesSlide6.xml.rels>&#65279;<?xml version="1.0" encoding="utf-8"?><Relationships xmlns="http://schemas.openxmlformats.org/package/2006/relationships"><Relationship Type="http://schemas.openxmlformats.org/officeDocument/2006/relationships/slide" Target="/ppt/slides/slide6.xml" Id="R5e34074f1885441d" /><Relationship Type="http://schemas.openxmlformats.org/officeDocument/2006/relationships/notesMaster" Target="/ppt/notesMasters/notesMaster1.xml" Id="R875600cf158d4187" /></Relationships>
</file>

<file path=ppt/notesSlides/_rels/notesSlide7.xml.rels>&#65279;<?xml version="1.0" encoding="utf-8"?><Relationships xmlns="http://schemas.openxmlformats.org/package/2006/relationships"><Relationship Type="http://schemas.openxmlformats.org/officeDocument/2006/relationships/slide" Target="/ppt/slides/slide7.xml" Id="R3b906f2453c4448e" /><Relationship Type="http://schemas.openxmlformats.org/officeDocument/2006/relationships/notesMaster" Target="/ppt/notesMasters/notesMaster1.xml" Id="R24e03b1eceae4e86" /></Relationships>
</file>

<file path=ppt/notesSlides/_rels/notesSlide8.xml.rels>&#65279;<?xml version="1.0" encoding="utf-8"?><Relationships xmlns="http://schemas.openxmlformats.org/package/2006/relationships"><Relationship Type="http://schemas.openxmlformats.org/officeDocument/2006/relationships/slide" Target="/ppt/slides/slide8.xml" Id="Rccd31f588ccd4c3b" /><Relationship Type="http://schemas.openxmlformats.org/officeDocument/2006/relationships/notesMaster" Target="/ppt/notesMasters/notesMaster1.xml" Id="R95c15255e0c44d37" /></Relationships>
</file>

<file path=ppt/notesSlides/_rels/notesSlide9.xml.rels>&#65279;<?xml version="1.0" encoding="utf-8"?><Relationships xmlns="http://schemas.openxmlformats.org/package/2006/relationships"><Relationship Type="http://schemas.openxmlformats.org/officeDocument/2006/relationships/slide" Target="/ppt/slides/slide9.xml" Id="Ra450051cda6b4b79" /><Relationship Type="http://schemas.openxmlformats.org/officeDocument/2006/relationships/notesMaster" Target="/ppt/notesMasters/notesMaster1.xml" Id="Rcf903bfd0eb7452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eb9ed9b7111419b" /><Relationship Type="http://schemas.openxmlformats.org/officeDocument/2006/relationships/notesMaster" Target="/ppt/notesMasters/notesMaster1.xml" Id="Rc3a68262442a49b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1c1a200f642413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e4dc25276c04bb5" /><Relationship Type="http://schemas.openxmlformats.org/officeDocument/2006/relationships/slideLayout" Target="/ppt/slideLayouts/slideLayout1.xml" Id="Rbc6dd20e172740a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c6dd20e172740a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0232e6a1763475b" /><Relationship Type="http://schemas.openxmlformats.org/officeDocument/2006/relationships/notesSlide" Target="/ppt/notesSlides/notesSlide1.xml" Id="R91d58c1dfa19455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5511825ae974f56" /><Relationship Type="http://schemas.openxmlformats.org/officeDocument/2006/relationships/notesSlide" Target="/ppt/notesSlides/notesSlide2.xml" Id="R4140b7843fe9464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fc4d223e9824385" /><Relationship Type="http://schemas.openxmlformats.org/officeDocument/2006/relationships/notesSlide" Target="/ppt/notesSlides/notesSlide3.xml" Id="R589c201b3b4f4ba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1a99c0dfbb741ac" /><Relationship Type="http://schemas.openxmlformats.org/officeDocument/2006/relationships/image" Target="/ppt/media/image.png" Id="R45b38e8f8a94467d" /><Relationship Type="http://schemas.openxmlformats.org/officeDocument/2006/relationships/notesSlide" Target="/ppt/notesSlides/notesSlide4.xml" Id="R09b72ab62a61404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9730011136c43d0" /><Relationship Type="http://schemas.openxmlformats.org/officeDocument/2006/relationships/image" Target="/ppt/media/image2.png" Id="Rafbb8db577794480" /><Relationship Type="http://schemas.openxmlformats.org/officeDocument/2006/relationships/notesSlide" Target="/ppt/notesSlides/notesSlide5.xml" Id="Radc06481ff2b457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38d980583544e3c" /><Relationship Type="http://schemas.openxmlformats.org/officeDocument/2006/relationships/image" Target="/ppt/media/image3.png" Id="R8caca0b3c8a349d6" /><Relationship Type="http://schemas.openxmlformats.org/officeDocument/2006/relationships/image" Target="/ppt/media/image4.png" Id="R7e8ffa8ceb7c4a83" /><Relationship Type="http://schemas.openxmlformats.org/officeDocument/2006/relationships/notesSlide" Target="/ppt/notesSlides/notesSlide6.xml" Id="Rcd72d3ed1a1147e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cda69c55e4a4faa" /><Relationship Type="http://schemas.openxmlformats.org/officeDocument/2006/relationships/image" Target="/ppt/media/image5.png" Id="R35aaee48819d4a2d" /><Relationship Type="http://schemas.openxmlformats.org/officeDocument/2006/relationships/notesSlide" Target="/ppt/notesSlides/notesSlide7.xml" Id="R3dd506d650724d4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0fb8fc243494935" /><Relationship Type="http://schemas.openxmlformats.org/officeDocument/2006/relationships/image" Target="/ppt/media/image6.png" Id="R54715c4ed7054f56" /><Relationship Type="http://schemas.openxmlformats.org/officeDocument/2006/relationships/notesSlide" Target="/ppt/notesSlides/notesSlide8.xml" Id="R99e8cff6f47f477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afd3674a5284ad2" /><Relationship Type="http://schemas.openxmlformats.org/officeDocument/2006/relationships/image" Target="/ppt/media/image7.png" Id="Rd01ec63977b44f35" /><Relationship Type="http://schemas.openxmlformats.org/officeDocument/2006/relationships/notesSlide" Target="/ppt/notesSlides/notesSlide9.xml" Id="Rddeb8f37859548a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66f5510df3b410e" /><Relationship Type="http://schemas.openxmlformats.org/officeDocument/2006/relationships/notesSlide" Target="/ppt/notesSlides/notesSlide10.xml" Id="R9d6b766fcacf46d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1297AF3-4788-49AC-81FC-42CBA6E3E527}"/>
              </a:ext>
            </a:extLst>
          </p:cNvPr>
          <p:cNvSpPr>
            <a:spLocks xmlns:a="http://schemas.openxmlformats.org/drawingml/2006/main" noGrp="1"/>
          </p:cNvSpPr>
          <p:nvPr/>
        </p:nvSpPr>
        <p:spPr>
          <a:xfrm xmlns:a="http://schemas.openxmlformats.org/drawingml/2006/main">
            <a:off x="685800" y="4572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555555"/>
                </a:solidFill>
              </a:defRPr>
            </a:pPr>
            <a:r>
              <a:rPr sz="2250" b="1" i="0">
                <a:solidFill>
                  <a:srgbClr val="555555"/>
                </a:solidFill>
              </a:rPr>
              <a:t>Gen5.4</a:t>
            </a:r>
          </a:p>
        </p:txBody>
      </p:sp>
      <p:sp>
        <p:nvSpPr>
          <p:cNvPr id="2" name="">
            <a:extLst xmlns:a="http://schemas.openxmlformats.org/drawingml/2006/main">
              <a:ext uri="{FF2B5EF4-FFF2-40B4-BE49-F238E27FC236}">
                <a16:creationId xmlns:a16="http://schemas.microsoft.com/office/drawing/2014/main" id="{2955C1F2-35D9-405B-8D70-D86FC5782625}"/>
              </a:ext>
            </a:extLst>
          </p:cNvPr>
          <p:cNvSpPr>
            <a:spLocks xmlns:a="http://schemas.openxmlformats.org/drawingml/2006/main" noGrp="1"/>
          </p:cNvSpPr>
          <p:nvPr/>
        </p:nvSpPr>
        <p:spPr>
          <a:xfrm xmlns:a="http://schemas.openxmlformats.org/drawingml/2006/main">
            <a:off x="685800" y="1543050"/>
            <a:ext cx="723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650" b="1" i="0">
                <a:solidFill>
                  <a:srgbClr val="000000"/>
                </a:solidFill>
              </a:defRPr>
            </a:pPr>
            <a:r>
              <a:rPr sz="4650" b="1" i="0">
                <a:solidFill>
                  <a:srgbClr val="000000"/>
                </a:solidFill>
              </a:rPr>
              <a:t>ML decision engine</a:t>
            </a:r>
          </a:p>
        </p:txBody>
      </p:sp>
      <p:sp>
        <p:nvSpPr>
          <p:cNvPr id="3" name="">
            <a:extLst xmlns:a="http://schemas.openxmlformats.org/drawingml/2006/main">
              <a:ext uri="{FF2B5EF4-FFF2-40B4-BE49-F238E27FC236}">
                <a16:creationId xmlns:a16="http://schemas.microsoft.com/office/drawing/2014/main" id="{AA54D87C-EE50-4303-949B-2431E4CA9A12}"/>
              </a:ext>
            </a:extLst>
          </p:cNvPr>
          <p:cNvSpPr>
            <a:spLocks xmlns:a="http://schemas.openxmlformats.org/drawingml/2006/main" noGrp="1"/>
          </p:cNvSpPr>
          <p:nvPr/>
        </p:nvSpPr>
        <p:spPr>
          <a:xfrm xmlns:a="http://schemas.openxmlformats.org/drawingml/2006/main">
            <a:off x="723900" y="2724150"/>
            <a:ext cx="666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0" i="0">
                <a:solidFill>
                  <a:srgbClr val="222222"/>
                </a:solidFill>
              </a:defRPr>
            </a:pPr>
            <a:r>
              <a:rPr sz="1875" b="0" i="0">
                <a:solidFill>
                  <a:srgbClr val="222222"/>
                </a:solidFill>
              </a:rPr>
              <a:t>Incremental build log: supervised feature and label proof before model fitting.</a:t>
            </a:r>
          </a:p>
        </p:txBody>
      </p:sp>
      <p:sp>
        <p:nvSpPr>
          <p:cNvPr id="4" name="">
            <a:extLst xmlns:a="http://schemas.openxmlformats.org/drawingml/2006/main">
              <a:ext uri="{FF2B5EF4-FFF2-40B4-BE49-F238E27FC236}">
                <a16:creationId xmlns:a16="http://schemas.microsoft.com/office/drawing/2014/main" id="{DD4AB86C-5DEA-4A31-89EE-4FF9AFD4B29B}"/>
              </a:ext>
            </a:extLst>
          </p:cNvPr>
          <p:cNvSpPr>
            <a:spLocks xmlns:a="http://schemas.openxmlformats.org/drawingml/2006/main" noGrp="1"/>
          </p:cNvSpPr>
          <p:nvPr/>
        </p:nvSpPr>
        <p:spPr>
          <a:xfrm xmlns:a="http://schemas.openxmlformats.org/drawingml/2006/main">
            <a:off x="723900" y="4095750"/>
            <a:ext cx="4953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104F541-4A14-4531-BB1D-BC88603E81D0}"/>
              </a:ext>
            </a:extLst>
          </p:cNvPr>
          <p:cNvSpPr>
            <a:spLocks xmlns:a="http://schemas.openxmlformats.org/drawingml/2006/main" noGrp="1"/>
          </p:cNvSpPr>
          <p:nvPr/>
        </p:nvSpPr>
        <p:spPr>
          <a:xfrm xmlns:a="http://schemas.openxmlformats.org/drawingml/2006/main">
            <a:off x="723900" y="4400550"/>
            <a:ext cx="6572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555555"/>
                </a:solidFill>
              </a:defRPr>
            </a:pPr>
            <a:r>
              <a:rPr sz="1500" b="0" i="0">
                <a:solidFill>
                  <a:srgbClr val="555555"/>
                </a:solidFill>
              </a:rPr>
              <a:t>ML-P0 packet: adjusted daily OHLCV -&gt; features through close t -&gt; next-open h3 label.</a:t>
            </a:r>
          </a:p>
        </p:txBody>
      </p:sp>
      <p:sp>
        <p:nvSpPr>
          <p:cNvPr id="6" name="">
            <a:extLst xmlns:a="http://schemas.openxmlformats.org/drawingml/2006/main">
              <a:ext uri="{FF2B5EF4-FFF2-40B4-BE49-F238E27FC236}">
                <a16:creationId xmlns:a16="http://schemas.microsoft.com/office/drawing/2014/main" id="{3E039810-6BCB-468C-8F60-89E07A661E8E}"/>
              </a:ext>
            </a:extLst>
          </p:cNvPr>
          <p:cNvSpPr>
            <a:spLocks xmlns:a="http://schemas.openxmlformats.org/drawingml/2006/main" noGrp="1"/>
          </p:cNvSpPr>
          <p:nvPr/>
        </p:nvSpPr>
        <p:spPr>
          <a:xfrm xmlns:a="http://schemas.openxmlformats.org/drawingml/2006/main">
            <a:off x="8134350" y="0"/>
            <a:ext cx="405765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2C29CA01-AA0E-405B-9745-767757C8F0A4}"/>
              </a:ext>
            </a:extLst>
          </p:cNvPr>
          <p:cNvSpPr>
            <a:spLocks xmlns:a="http://schemas.openxmlformats.org/drawingml/2006/main" noGrp="1"/>
          </p:cNvSpPr>
          <p:nvPr/>
        </p:nvSpPr>
        <p:spPr>
          <a:xfrm xmlns:a="http://schemas.openxmlformats.org/drawingml/2006/main">
            <a:off x="8572500" y="2362200"/>
            <a:ext cx="2476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i="0">
                <a:solidFill>
                  <a:srgbClr val="000000"/>
                </a:solidFill>
              </a:defRPr>
            </a:pPr>
            <a:r>
              <a:rPr sz="2100" b="1" i="0">
                <a:solidFill>
                  <a:srgbClr val="000000"/>
                </a:solidFill>
              </a:rPr>
              <a:t>Research only</a:t>
            </a:r>
          </a:p>
        </p:txBody>
      </p:sp>
      <p:sp>
        <p:nvSpPr>
          <p:cNvPr id="8" name="">
            <a:extLst xmlns:a="http://schemas.openxmlformats.org/drawingml/2006/main">
              <a:ext uri="{FF2B5EF4-FFF2-40B4-BE49-F238E27FC236}">
                <a16:creationId xmlns:a16="http://schemas.microsoft.com/office/drawing/2014/main" id="{A8A24AD7-0527-42A0-AD31-3328871738B6}"/>
              </a:ext>
            </a:extLst>
          </p:cNvPr>
          <p:cNvSpPr>
            <a:spLocks xmlns:a="http://schemas.openxmlformats.org/drawingml/2006/main" noGrp="1"/>
          </p:cNvSpPr>
          <p:nvPr/>
        </p:nvSpPr>
        <p:spPr>
          <a:xfrm xmlns:a="http://schemas.openxmlformats.org/drawingml/2006/main">
            <a:off x="8572500" y="3009900"/>
            <a:ext cx="2571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No model fit</a:t>
            </a:r>
          </a:p>
          <a:p xmlns:a="http://schemas.openxmlformats.org/drawingml/2006/main">
            <a:pPr algn="l">
              <a:defRPr sz="1800" b="0" i="0">
                <a:solidFill>
                  <a:srgbClr val="222222"/>
                </a:solidFill>
              </a:defRPr>
            </a:pPr>
            <a:r>
              <a:rPr sz="1800" b="0" i="0">
                <a:solidFill>
                  <a:srgbClr val="222222"/>
                </a:solidFill>
              </a:rPr>
              <a:t>No live bridge change</a:t>
            </a:r>
          </a:p>
          <a:p xmlns:a="http://schemas.openxmlformats.org/drawingml/2006/main">
            <a:pPr algn="l">
              <a:defRPr sz="1800" b="0" i="0">
                <a:solidFill>
                  <a:srgbClr val="222222"/>
                </a:solidFill>
              </a:defRPr>
            </a:pPr>
            <a:r>
              <a:rPr sz="1800" b="0" i="0">
                <a:solidFill>
                  <a:srgbClr val="222222"/>
                </a:solidFill>
              </a:rPr>
              <a:t>No allocation evidence</a:t>
            </a:r>
          </a:p>
        </p:txBody>
      </p:sp>
    </p:spTree>
    <p:extLst>
      <p:ext uri="{BB962C8B-B14F-4D97-AF65-F5344CB8AC3E}">
        <p14:creationId xmlns:p14="http://schemas.microsoft.com/office/powerpoint/2010/main" val="186760681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D3D3116-F229-4A30-A630-8DE89C6E88C7}"/>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38628281-9CC2-4DD8-88EB-A0468660007F}"/>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PCA work taught us where to aim the ML fork</a:t>
            </a:r>
          </a:p>
        </p:txBody>
      </p:sp>
      <p:sp>
        <p:nvSpPr>
          <p:cNvPr id="3" name="">
            <a:extLst xmlns:a="http://schemas.openxmlformats.org/drawingml/2006/main">
              <a:ext uri="{FF2B5EF4-FFF2-40B4-BE49-F238E27FC236}">
                <a16:creationId xmlns:a16="http://schemas.microsoft.com/office/drawing/2014/main" id="{881A57B8-713A-447B-844F-D95492082D65}"/>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87F8008-CB0D-44DE-B7C5-E272E8F17BCF}"/>
              </a:ext>
            </a:extLst>
          </p:cNvPr>
          <p:cNvSpPr>
            <a:spLocks xmlns:a="http://schemas.openxmlformats.org/drawingml/2006/main" noGrp="1"/>
          </p:cNvSpPr>
          <p:nvPr/>
        </p:nvSpPr>
        <p:spPr>
          <a:xfrm xmlns:a="http://schemas.openxmlformats.org/drawingml/2006/main">
            <a:off x="876300" y="21050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5" name="">
            <a:extLst xmlns:a="http://schemas.openxmlformats.org/drawingml/2006/main">
              <a:ext uri="{FF2B5EF4-FFF2-40B4-BE49-F238E27FC236}">
                <a16:creationId xmlns:a16="http://schemas.microsoft.com/office/drawing/2014/main" id="{BEE8D60B-C168-4ABC-9A87-9132EF04188D}"/>
              </a:ext>
            </a:extLst>
          </p:cNvPr>
          <p:cNvSpPr>
            <a:spLocks xmlns:a="http://schemas.openxmlformats.org/drawingml/2006/main" noGrp="1"/>
          </p:cNvSpPr>
          <p:nvPr/>
        </p:nvSpPr>
        <p:spPr>
          <a:xfrm xmlns:a="http://schemas.openxmlformats.org/drawingml/2006/main">
            <a:off x="1143000" y="20955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PCA states contained useful exposure information, especially in state-only diagnostics.</a:t>
            </a:r>
          </a:p>
        </p:txBody>
      </p:sp>
      <p:sp>
        <p:nvSpPr>
          <p:cNvPr id="6" name="">
            <a:extLst xmlns:a="http://schemas.openxmlformats.org/drawingml/2006/main">
              <a:ext uri="{FF2B5EF4-FFF2-40B4-BE49-F238E27FC236}">
                <a16:creationId xmlns:a16="http://schemas.microsoft.com/office/drawing/2014/main" id="{FB8B5DF2-70F6-4276-BE2A-ABE57AF99C17}"/>
              </a:ext>
            </a:extLst>
          </p:cNvPr>
          <p:cNvSpPr>
            <a:spLocks xmlns:a="http://schemas.openxmlformats.org/drawingml/2006/main" noGrp="1"/>
          </p:cNvSpPr>
          <p:nvPr/>
        </p:nvSpPr>
        <p:spPr>
          <a:xfrm xmlns:a="http://schemas.openxmlformats.org/drawingml/2006/main">
            <a:off x="876300" y="2962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7" name="">
            <a:extLst xmlns:a="http://schemas.openxmlformats.org/drawingml/2006/main">
              <a:ext uri="{FF2B5EF4-FFF2-40B4-BE49-F238E27FC236}">
                <a16:creationId xmlns:a16="http://schemas.microsoft.com/office/drawing/2014/main" id="{824033C1-8FE9-492D-A4F6-BE644C5B53DC}"/>
              </a:ext>
            </a:extLst>
          </p:cNvPr>
          <p:cNvSpPr>
            <a:spLocks xmlns:a="http://schemas.openxmlformats.org/drawingml/2006/main" noGrp="1"/>
          </p:cNvSpPr>
          <p:nvPr/>
        </p:nvSpPr>
        <p:spPr>
          <a:xfrm xmlns:a="http://schemas.openxmlformats.org/drawingml/2006/main">
            <a:off x="1143000" y="29527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The same states still overparticipated in 2022 and missed too much early upside in rebound windows.</a:t>
            </a:r>
          </a:p>
        </p:txBody>
      </p:sp>
      <p:sp>
        <p:nvSpPr>
          <p:cNvPr id="8" name="">
            <a:extLst xmlns:a="http://schemas.openxmlformats.org/drawingml/2006/main">
              <a:ext uri="{FF2B5EF4-FFF2-40B4-BE49-F238E27FC236}">
                <a16:creationId xmlns:a16="http://schemas.microsoft.com/office/drawing/2014/main" id="{697EEC48-24A1-4BBD-BE40-9C9727D73362}"/>
              </a:ext>
            </a:extLst>
          </p:cNvPr>
          <p:cNvSpPr>
            <a:spLocks xmlns:a="http://schemas.openxmlformats.org/drawingml/2006/main" noGrp="1"/>
          </p:cNvSpPr>
          <p:nvPr/>
        </p:nvSpPr>
        <p:spPr>
          <a:xfrm xmlns:a="http://schemas.openxmlformats.org/drawingml/2006/main">
            <a:off x="876300" y="38195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9" name="">
            <a:extLst xmlns:a="http://schemas.openxmlformats.org/drawingml/2006/main">
              <a:ext uri="{FF2B5EF4-FFF2-40B4-BE49-F238E27FC236}">
                <a16:creationId xmlns:a16="http://schemas.microsoft.com/office/drawing/2014/main" id="{748FEEF0-8819-44ED-AE3F-EDC6C5BD7233}"/>
              </a:ext>
            </a:extLst>
          </p:cNvPr>
          <p:cNvSpPr>
            <a:spLocks xmlns:a="http://schemas.openxmlformats.org/drawingml/2006/main" noGrp="1"/>
          </p:cNvSpPr>
          <p:nvPr/>
        </p:nvSpPr>
        <p:spPr>
          <a:xfrm xmlns:a="http://schemas.openxmlformats.org/drawingml/2006/main">
            <a:off x="1143000" y="38100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Gen5.4 asks the daily exposure question directly instead of routing through a technical strategy first.</a:t>
            </a:r>
          </a:p>
        </p:txBody>
      </p:sp>
      <p:sp>
        <p:nvSpPr>
          <p:cNvPr id="10" name="">
            <a:extLst xmlns:a="http://schemas.openxmlformats.org/drawingml/2006/main">
              <a:ext uri="{FF2B5EF4-FFF2-40B4-BE49-F238E27FC236}">
                <a16:creationId xmlns:a16="http://schemas.microsoft.com/office/drawing/2014/main" id="{E31CB908-B65D-4A08-B161-783952FE4D61}"/>
              </a:ext>
            </a:extLst>
          </p:cNvPr>
          <p:cNvSpPr>
            <a:spLocks xmlns:a="http://schemas.openxmlformats.org/drawingml/2006/main" noGrp="1"/>
          </p:cNvSpPr>
          <p:nvPr/>
        </p:nvSpPr>
        <p:spPr>
          <a:xfrm xmlns:a="http://schemas.openxmlformats.org/drawingml/2006/main">
            <a:off x="6191250" y="2095500"/>
            <a:ext cx="4762500" cy="609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1" name="">
            <a:extLst xmlns:a="http://schemas.openxmlformats.org/drawingml/2006/main">
              <a:ext uri="{FF2B5EF4-FFF2-40B4-BE49-F238E27FC236}">
                <a16:creationId xmlns:a16="http://schemas.microsoft.com/office/drawing/2014/main" id="{D4D48257-C940-4336-9DD6-B157190440B2}"/>
              </a:ext>
            </a:extLst>
          </p:cNvPr>
          <p:cNvSpPr>
            <a:spLocks xmlns:a="http://schemas.openxmlformats.org/drawingml/2006/main" noGrp="1"/>
          </p:cNvSpPr>
          <p:nvPr/>
        </p:nvSpPr>
        <p:spPr>
          <a:xfrm xmlns:a="http://schemas.openxmlformats.org/drawingml/2006/main">
            <a:off x="6191250" y="3162300"/>
            <a:ext cx="4762500" cy="609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2" name="">
            <a:extLst xmlns:a="http://schemas.openxmlformats.org/drawingml/2006/main">
              <a:ext uri="{FF2B5EF4-FFF2-40B4-BE49-F238E27FC236}">
                <a16:creationId xmlns:a16="http://schemas.microsoft.com/office/drawing/2014/main" id="{205071EB-FF8A-4211-9A7D-4642F5AE1158}"/>
              </a:ext>
            </a:extLst>
          </p:cNvPr>
          <p:cNvSpPr>
            <a:spLocks xmlns:a="http://schemas.openxmlformats.org/drawingml/2006/main" noGrp="1"/>
          </p:cNvSpPr>
          <p:nvPr/>
        </p:nvSpPr>
        <p:spPr>
          <a:xfrm xmlns:a="http://schemas.openxmlformats.org/drawingml/2006/main">
            <a:off x="6191250" y="4229100"/>
            <a:ext cx="4762500" cy="609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2A037570-6BAF-48A2-999B-56E72FF6111A}"/>
              </a:ext>
            </a:extLst>
          </p:cNvPr>
          <p:cNvSpPr>
            <a:spLocks xmlns:a="http://schemas.openxmlformats.org/drawingml/2006/main" noGrp="1"/>
          </p:cNvSpPr>
          <p:nvPr/>
        </p:nvSpPr>
        <p:spPr>
          <a:xfrm xmlns:a="http://schemas.openxmlformats.org/drawingml/2006/main">
            <a:off x="6534150" y="22669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i="0">
                <a:solidFill>
                  <a:srgbClr val="222222"/>
                </a:solidFill>
              </a:defRPr>
            </a:pPr>
            <a:r>
              <a:rPr sz="1800" b="1" i="0">
                <a:solidFill>
                  <a:srgbClr val="222222"/>
                </a:solidFill>
              </a:rPr>
              <a:t>OHLCV feature table</a:t>
            </a:r>
          </a:p>
        </p:txBody>
      </p:sp>
      <p:sp>
        <p:nvSpPr>
          <p:cNvPr id="14" name="">
            <a:extLst xmlns:a="http://schemas.openxmlformats.org/drawingml/2006/main">
              <a:ext uri="{FF2B5EF4-FFF2-40B4-BE49-F238E27FC236}">
                <a16:creationId xmlns:a16="http://schemas.microsoft.com/office/drawing/2014/main" id="{D97737ED-1952-41D4-838F-561B42464F8F}"/>
              </a:ext>
            </a:extLst>
          </p:cNvPr>
          <p:cNvSpPr>
            <a:spLocks xmlns:a="http://schemas.openxmlformats.org/drawingml/2006/main" noGrp="1"/>
          </p:cNvSpPr>
          <p:nvPr/>
        </p:nvSpPr>
        <p:spPr>
          <a:xfrm xmlns:a="http://schemas.openxmlformats.org/drawingml/2006/main">
            <a:off x="6534150" y="33337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i="0">
                <a:solidFill>
                  <a:srgbClr val="222222"/>
                </a:solidFill>
              </a:defRPr>
            </a:pPr>
            <a:r>
              <a:rPr sz="1800" b="1" i="0">
                <a:solidFill>
                  <a:srgbClr val="222222"/>
                </a:solidFill>
              </a:rPr>
              <a:t>Supervised h3 label</a:t>
            </a:r>
          </a:p>
        </p:txBody>
      </p:sp>
      <p:sp>
        <p:nvSpPr>
          <p:cNvPr id="15" name="">
            <a:extLst xmlns:a="http://schemas.openxmlformats.org/drawingml/2006/main">
              <a:ext uri="{FF2B5EF4-FFF2-40B4-BE49-F238E27FC236}">
                <a16:creationId xmlns:a16="http://schemas.microsoft.com/office/drawing/2014/main" id="{8B2C933E-6213-4D53-8316-EF34CCA7B498}"/>
              </a:ext>
            </a:extLst>
          </p:cNvPr>
          <p:cNvSpPr>
            <a:spLocks xmlns:a="http://schemas.openxmlformats.org/drawingml/2006/main" noGrp="1"/>
          </p:cNvSpPr>
          <p:nvPr/>
        </p:nvSpPr>
        <p:spPr>
          <a:xfrm xmlns:a="http://schemas.openxmlformats.org/drawingml/2006/main">
            <a:off x="6534150" y="44005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i="0">
                <a:solidFill>
                  <a:srgbClr val="222222"/>
                </a:solidFill>
              </a:defRPr>
            </a:pPr>
            <a:r>
              <a:rPr sz="1800" b="1" i="0">
                <a:solidFill>
                  <a:srgbClr val="222222"/>
                </a:solidFill>
              </a:rPr>
              <a:t>Daily long/flat policy</a:t>
            </a:r>
          </a:p>
        </p:txBody>
      </p:sp>
      <p:sp>
        <p:nvSpPr>
          <p:cNvPr id="16" name="">
            <a:extLst xmlns:a="http://schemas.openxmlformats.org/drawingml/2006/main">
              <a:ext uri="{FF2B5EF4-FFF2-40B4-BE49-F238E27FC236}">
                <a16:creationId xmlns:a16="http://schemas.microsoft.com/office/drawing/2014/main" id="{BC2BAF09-C017-47F6-90E1-7CA1E5715175}"/>
              </a:ext>
            </a:extLst>
          </p:cNvPr>
          <p:cNvSpPr>
            <a:spLocks xmlns:a="http://schemas.openxmlformats.org/drawingml/2006/main" noGrp="1"/>
          </p:cNvSpPr>
          <p:nvPr/>
        </p:nvSpPr>
        <p:spPr>
          <a:xfrm xmlns:a="http://schemas.openxmlformats.org/drawingml/2006/main">
            <a:off x="6324600" y="5334000"/>
            <a:ext cx="43338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555555"/>
                </a:solidFill>
              </a:defRPr>
            </a:pPr>
            <a:r>
              <a:rPr sz="1500" b="0" i="0">
                <a:solidFill>
                  <a:srgbClr val="555555"/>
                </a:solidFill>
              </a:rPr>
              <a:t>The first build proves the first two boxes only.</a:t>
            </a:r>
          </a:p>
        </p:txBody>
      </p:sp>
    </p:spTree>
    <p:extLst>
      <p:ext uri="{BB962C8B-B14F-4D97-AF65-F5344CB8AC3E}">
        <p14:creationId xmlns:p14="http://schemas.microsoft.com/office/powerpoint/2010/main" val="117529994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FB1C057-855C-4AA3-A837-951ED1A3D2B2}"/>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D5AB3119-8A38-4DA0-97D7-B300655E78CA}"/>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ML-P0 succeeds only if the table is boringly correct</a:t>
            </a:r>
          </a:p>
        </p:txBody>
      </p:sp>
      <p:sp>
        <p:nvSpPr>
          <p:cNvPr id="3" name="">
            <a:extLst xmlns:a="http://schemas.openxmlformats.org/drawingml/2006/main">
              <a:ext uri="{FF2B5EF4-FFF2-40B4-BE49-F238E27FC236}">
                <a16:creationId xmlns:a16="http://schemas.microsoft.com/office/drawing/2014/main" id="{F5D82727-81A2-4CE3-AE7A-4DE953BEE4F1}"/>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8F4142-FAA8-48C0-83DE-56CCE8E60E4C}"/>
              </a:ext>
            </a:extLst>
          </p:cNvPr>
          <p:cNvSpPr>
            <a:spLocks xmlns:a="http://schemas.openxmlformats.org/drawingml/2006/main" noGrp="1"/>
          </p:cNvSpPr>
          <p:nvPr/>
        </p:nvSpPr>
        <p:spPr>
          <a:xfrm xmlns:a="http://schemas.openxmlformats.org/drawingml/2006/main">
            <a:off x="876300" y="2190750"/>
            <a:ext cx="2857500" cy="12001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24A87B9D-2B67-4B84-9702-94936EC10420}"/>
              </a:ext>
            </a:extLst>
          </p:cNvPr>
          <p:cNvSpPr>
            <a:spLocks xmlns:a="http://schemas.openxmlformats.org/drawingml/2006/main" noGrp="1"/>
          </p:cNvSpPr>
          <p:nvPr/>
        </p:nvSpPr>
        <p:spPr>
          <a:xfrm xmlns:a="http://schemas.openxmlformats.org/drawingml/2006/main">
            <a:off x="1047750" y="2343150"/>
            <a:ext cx="2514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USABLE LABELED ROWS</a:t>
            </a:r>
          </a:p>
        </p:txBody>
      </p:sp>
      <p:sp>
        <p:nvSpPr>
          <p:cNvPr id="6" name="">
            <a:extLst xmlns:a="http://schemas.openxmlformats.org/drawingml/2006/main">
              <a:ext uri="{FF2B5EF4-FFF2-40B4-BE49-F238E27FC236}">
                <a16:creationId xmlns:a16="http://schemas.microsoft.com/office/drawing/2014/main" id="{D5D5DF54-0268-4F3E-8558-62D14DC4554B}"/>
              </a:ext>
            </a:extLst>
          </p:cNvPr>
          <p:cNvSpPr>
            <a:spLocks xmlns:a="http://schemas.openxmlformats.org/drawingml/2006/main" noGrp="1"/>
          </p:cNvSpPr>
          <p:nvPr/>
        </p:nvSpPr>
        <p:spPr>
          <a:xfrm xmlns:a="http://schemas.openxmlformats.org/drawingml/2006/main">
            <a:off x="1047750" y="2590800"/>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22,440</a:t>
            </a:r>
          </a:p>
        </p:txBody>
      </p:sp>
      <p:sp>
        <p:nvSpPr>
          <p:cNvPr id="7" name="">
            <a:extLst xmlns:a="http://schemas.openxmlformats.org/drawingml/2006/main">
              <a:ext uri="{FF2B5EF4-FFF2-40B4-BE49-F238E27FC236}">
                <a16:creationId xmlns:a16="http://schemas.microsoft.com/office/drawing/2014/main" id="{889D5642-9F6A-499B-B025-4BB4A70D6491}"/>
              </a:ext>
            </a:extLst>
          </p:cNvPr>
          <p:cNvSpPr>
            <a:spLocks xmlns:a="http://schemas.openxmlformats.org/drawingml/2006/main" noGrp="1"/>
          </p:cNvSpPr>
          <p:nvPr/>
        </p:nvSpPr>
        <p:spPr>
          <a:xfrm xmlns:a="http://schemas.openxmlformats.org/drawingml/2006/main">
            <a:off x="1047750" y="3009900"/>
            <a:ext cx="2514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Rows eligible after fold and horizon filters.</a:t>
            </a:r>
          </a:p>
        </p:txBody>
      </p:sp>
      <p:sp>
        <p:nvSpPr>
          <p:cNvPr id="8" name="">
            <a:extLst xmlns:a="http://schemas.openxmlformats.org/drawingml/2006/main">
              <a:ext uri="{FF2B5EF4-FFF2-40B4-BE49-F238E27FC236}">
                <a16:creationId xmlns:a16="http://schemas.microsoft.com/office/drawing/2014/main" id="{9FDF4B8C-70E6-454A-8DF1-0D91AB2E417F}"/>
              </a:ext>
            </a:extLst>
          </p:cNvPr>
          <p:cNvSpPr>
            <a:spLocks xmlns:a="http://schemas.openxmlformats.org/drawingml/2006/main" noGrp="1"/>
          </p:cNvSpPr>
          <p:nvPr/>
        </p:nvSpPr>
        <p:spPr>
          <a:xfrm xmlns:a="http://schemas.openxmlformats.org/drawingml/2006/main">
            <a:off x="4667250" y="2190750"/>
            <a:ext cx="2857500" cy="12001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057C8727-2616-44EB-868D-4417E3F123D9}"/>
              </a:ext>
            </a:extLst>
          </p:cNvPr>
          <p:cNvSpPr>
            <a:spLocks xmlns:a="http://schemas.openxmlformats.org/drawingml/2006/main" noGrp="1"/>
          </p:cNvSpPr>
          <p:nvPr/>
        </p:nvSpPr>
        <p:spPr>
          <a:xfrm xmlns:a="http://schemas.openxmlformats.org/drawingml/2006/main">
            <a:off x="4838700" y="2343150"/>
            <a:ext cx="2514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SELECTED FEATURES</a:t>
            </a:r>
          </a:p>
        </p:txBody>
      </p:sp>
      <p:sp>
        <p:nvSpPr>
          <p:cNvPr id="10" name="">
            <a:extLst xmlns:a="http://schemas.openxmlformats.org/drawingml/2006/main">
              <a:ext uri="{FF2B5EF4-FFF2-40B4-BE49-F238E27FC236}">
                <a16:creationId xmlns:a16="http://schemas.microsoft.com/office/drawing/2014/main" id="{70E1E100-0E42-4645-8826-CEFA30C36687}"/>
              </a:ext>
            </a:extLst>
          </p:cNvPr>
          <p:cNvSpPr>
            <a:spLocks xmlns:a="http://schemas.openxmlformats.org/drawingml/2006/main" noGrp="1"/>
          </p:cNvSpPr>
          <p:nvPr/>
        </p:nvSpPr>
        <p:spPr>
          <a:xfrm xmlns:a="http://schemas.openxmlformats.org/drawingml/2006/main">
            <a:off x="4838700" y="2590800"/>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40</a:t>
            </a:r>
          </a:p>
        </p:txBody>
      </p:sp>
      <p:sp>
        <p:nvSpPr>
          <p:cNvPr id="11" name="">
            <a:extLst xmlns:a="http://schemas.openxmlformats.org/drawingml/2006/main">
              <a:ext uri="{FF2B5EF4-FFF2-40B4-BE49-F238E27FC236}">
                <a16:creationId xmlns:a16="http://schemas.microsoft.com/office/drawing/2014/main" id="{92F541B4-8A66-408C-AC62-69CC4536833E}"/>
              </a:ext>
            </a:extLst>
          </p:cNvPr>
          <p:cNvSpPr>
            <a:spLocks xmlns:a="http://schemas.openxmlformats.org/drawingml/2006/main" noGrp="1"/>
          </p:cNvSpPr>
          <p:nvPr/>
        </p:nvSpPr>
        <p:spPr>
          <a:xfrm xmlns:a="http://schemas.openxmlformats.org/drawingml/2006/main">
            <a:off x="4838700" y="3009900"/>
            <a:ext cx="2514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PCA-inspired plus explicit OHLCV additions.</a:t>
            </a:r>
          </a:p>
        </p:txBody>
      </p:sp>
      <p:sp>
        <p:nvSpPr>
          <p:cNvPr id="12" name="">
            <a:extLst xmlns:a="http://schemas.openxmlformats.org/drawingml/2006/main">
              <a:ext uri="{FF2B5EF4-FFF2-40B4-BE49-F238E27FC236}">
                <a16:creationId xmlns:a16="http://schemas.microsoft.com/office/drawing/2014/main" id="{F541CC6A-1171-4B27-877A-69F96E55AEF2}"/>
              </a:ext>
            </a:extLst>
          </p:cNvPr>
          <p:cNvSpPr>
            <a:spLocks xmlns:a="http://schemas.openxmlformats.org/drawingml/2006/main" noGrp="1"/>
          </p:cNvSpPr>
          <p:nvPr/>
        </p:nvSpPr>
        <p:spPr>
          <a:xfrm xmlns:a="http://schemas.openxmlformats.org/drawingml/2006/main">
            <a:off x="8458200" y="2190750"/>
            <a:ext cx="2857500" cy="12001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1C1BCFF0-CD06-4266-B3A5-D8C62C4883AE}"/>
              </a:ext>
            </a:extLst>
          </p:cNvPr>
          <p:cNvSpPr>
            <a:spLocks xmlns:a="http://schemas.openxmlformats.org/drawingml/2006/main" noGrp="1"/>
          </p:cNvSpPr>
          <p:nvPr/>
        </p:nvSpPr>
        <p:spPr>
          <a:xfrm xmlns:a="http://schemas.openxmlformats.org/drawingml/2006/main">
            <a:off x="8629650" y="2343150"/>
            <a:ext cx="2514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LEAKAGE AUDIT</a:t>
            </a:r>
          </a:p>
        </p:txBody>
      </p:sp>
      <p:sp>
        <p:nvSpPr>
          <p:cNvPr id="14" name="">
            <a:extLst xmlns:a="http://schemas.openxmlformats.org/drawingml/2006/main">
              <a:ext uri="{FF2B5EF4-FFF2-40B4-BE49-F238E27FC236}">
                <a16:creationId xmlns:a16="http://schemas.microsoft.com/office/drawing/2014/main" id="{65E65122-5FDA-4CC4-8196-23017A4E794A}"/>
              </a:ext>
            </a:extLst>
          </p:cNvPr>
          <p:cNvSpPr>
            <a:spLocks xmlns:a="http://schemas.openxmlformats.org/drawingml/2006/main" noGrp="1"/>
          </p:cNvSpPr>
          <p:nvPr/>
        </p:nvSpPr>
        <p:spPr>
          <a:xfrm xmlns:a="http://schemas.openxmlformats.org/drawingml/2006/main">
            <a:off x="8629650" y="2590800"/>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15" name="">
            <a:extLst xmlns:a="http://schemas.openxmlformats.org/drawingml/2006/main">
              <a:ext uri="{FF2B5EF4-FFF2-40B4-BE49-F238E27FC236}">
                <a16:creationId xmlns:a16="http://schemas.microsoft.com/office/drawing/2014/main" id="{2E8A504E-E2AA-41D0-85E4-EDB7E3B0B7F2}"/>
              </a:ext>
            </a:extLst>
          </p:cNvPr>
          <p:cNvSpPr>
            <a:spLocks xmlns:a="http://schemas.openxmlformats.org/drawingml/2006/main" noGrp="1"/>
          </p:cNvSpPr>
          <p:nvPr/>
        </p:nvSpPr>
        <p:spPr>
          <a:xfrm xmlns:a="http://schemas.openxmlformats.org/drawingml/2006/main">
            <a:off x="8629650" y="3009900"/>
            <a:ext cx="2514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TRAIN labels stay inside TRAIN; OOS labels stay inside OOS.</a:t>
            </a:r>
          </a:p>
        </p:txBody>
      </p:sp>
      <p:sp>
        <p:nvSpPr>
          <p:cNvPr id="16" name="">
            <a:extLst xmlns:a="http://schemas.openxmlformats.org/drawingml/2006/main">
              <a:ext uri="{FF2B5EF4-FFF2-40B4-BE49-F238E27FC236}">
                <a16:creationId xmlns:a16="http://schemas.microsoft.com/office/drawing/2014/main" id="{038C03F5-1FAE-43F1-94EE-3D88C153612D}"/>
              </a:ext>
            </a:extLst>
          </p:cNvPr>
          <p:cNvSpPr>
            <a:spLocks xmlns:a="http://schemas.openxmlformats.org/drawingml/2006/main" noGrp="1"/>
          </p:cNvSpPr>
          <p:nvPr/>
        </p:nvSpPr>
        <p:spPr>
          <a:xfrm xmlns:a="http://schemas.openxmlformats.org/drawingml/2006/main">
            <a:off x="1181100" y="4105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7" name="">
            <a:extLst xmlns:a="http://schemas.openxmlformats.org/drawingml/2006/main">
              <a:ext uri="{FF2B5EF4-FFF2-40B4-BE49-F238E27FC236}">
                <a16:creationId xmlns:a16="http://schemas.microsoft.com/office/drawing/2014/main" id="{87191720-EB7D-4509-B923-874D74BF6AD1}"/>
              </a:ext>
            </a:extLst>
          </p:cNvPr>
          <p:cNvSpPr>
            <a:spLocks xmlns:a="http://schemas.openxmlformats.org/drawingml/2006/main" noGrp="1"/>
          </p:cNvSpPr>
          <p:nvPr/>
        </p:nvSpPr>
        <p:spPr>
          <a:xfrm xmlns:a="http://schemas.openxmlformats.org/drawingml/2006/main">
            <a:off x="1447800" y="40957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Features are known after close t.</a:t>
            </a:r>
          </a:p>
        </p:txBody>
      </p:sp>
      <p:sp>
        <p:nvSpPr>
          <p:cNvPr id="18" name="">
            <a:extLst xmlns:a="http://schemas.openxmlformats.org/drawingml/2006/main">
              <a:ext uri="{FF2B5EF4-FFF2-40B4-BE49-F238E27FC236}">
                <a16:creationId xmlns:a16="http://schemas.microsoft.com/office/drawing/2014/main" id="{5C37FC3D-D5C2-4743-907B-40CF51418EDC}"/>
              </a:ext>
            </a:extLst>
          </p:cNvPr>
          <p:cNvSpPr>
            <a:spLocks xmlns:a="http://schemas.openxmlformats.org/drawingml/2006/main" noGrp="1"/>
          </p:cNvSpPr>
          <p:nvPr/>
        </p:nvSpPr>
        <p:spPr>
          <a:xfrm xmlns:a="http://schemas.openxmlformats.org/drawingml/2006/main">
            <a:off x="1181100" y="46767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9" name="">
            <a:extLst xmlns:a="http://schemas.openxmlformats.org/drawingml/2006/main">
              <a:ext uri="{FF2B5EF4-FFF2-40B4-BE49-F238E27FC236}">
                <a16:creationId xmlns:a16="http://schemas.microsoft.com/office/drawing/2014/main" id="{633F3DAB-A622-4F49-BB4F-2AF38191A1CE}"/>
              </a:ext>
            </a:extLst>
          </p:cNvPr>
          <p:cNvSpPr>
            <a:spLocks xmlns:a="http://schemas.openxmlformats.org/drawingml/2006/main" noGrp="1"/>
          </p:cNvSpPr>
          <p:nvPr/>
        </p:nvSpPr>
        <p:spPr>
          <a:xfrm xmlns:a="http://schemas.openxmlformats.org/drawingml/2006/main">
            <a:off x="1447800" y="46672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Hypothetical execution starts at next open.</a:t>
            </a:r>
          </a:p>
        </p:txBody>
      </p:sp>
      <p:sp>
        <p:nvSpPr>
          <p:cNvPr id="20" name="">
            <a:extLst xmlns:a="http://schemas.openxmlformats.org/drawingml/2006/main">
              <a:ext uri="{FF2B5EF4-FFF2-40B4-BE49-F238E27FC236}">
                <a16:creationId xmlns:a16="http://schemas.microsoft.com/office/drawing/2014/main" id="{DB79FEE1-EC1E-4DF5-ABC4-ABFBF8F48921}"/>
              </a:ext>
            </a:extLst>
          </p:cNvPr>
          <p:cNvSpPr>
            <a:spLocks xmlns:a="http://schemas.openxmlformats.org/drawingml/2006/main" noGrp="1"/>
          </p:cNvSpPr>
          <p:nvPr/>
        </p:nvSpPr>
        <p:spPr>
          <a:xfrm xmlns:a="http://schemas.openxmlformats.org/drawingml/2006/main">
            <a:off x="6191250" y="4105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21" name="">
            <a:extLst xmlns:a="http://schemas.openxmlformats.org/drawingml/2006/main">
              <a:ext uri="{FF2B5EF4-FFF2-40B4-BE49-F238E27FC236}">
                <a16:creationId xmlns:a16="http://schemas.microsoft.com/office/drawing/2014/main" id="{B3D204E1-BC7C-4AEF-AF68-1B6B2625D9E8}"/>
              </a:ext>
            </a:extLst>
          </p:cNvPr>
          <p:cNvSpPr>
            <a:spLocks xmlns:a="http://schemas.openxmlformats.org/drawingml/2006/main" noGrp="1"/>
          </p:cNvSpPr>
          <p:nvPr/>
        </p:nvSpPr>
        <p:spPr>
          <a:xfrm xmlns:a="http://schemas.openxmlformats.org/drawingml/2006/main">
            <a:off x="6457950" y="40957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The h3 label ends at close three sessions later.</a:t>
            </a:r>
          </a:p>
        </p:txBody>
      </p:sp>
      <p:sp>
        <p:nvSpPr>
          <p:cNvPr id="22" name="">
            <a:extLst xmlns:a="http://schemas.openxmlformats.org/drawingml/2006/main">
              <a:ext uri="{FF2B5EF4-FFF2-40B4-BE49-F238E27FC236}">
                <a16:creationId xmlns:a16="http://schemas.microsoft.com/office/drawing/2014/main" id="{5BA2E5E4-F386-46ED-8182-9999E6D2725C}"/>
              </a:ext>
            </a:extLst>
          </p:cNvPr>
          <p:cNvSpPr>
            <a:spLocks xmlns:a="http://schemas.openxmlformats.org/drawingml/2006/main" noGrp="1"/>
          </p:cNvSpPr>
          <p:nvPr/>
        </p:nvSpPr>
        <p:spPr>
          <a:xfrm xmlns:a="http://schemas.openxmlformats.org/drawingml/2006/main">
            <a:off x="6191250" y="46767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23" name="">
            <a:extLst xmlns:a="http://schemas.openxmlformats.org/drawingml/2006/main">
              <a:ext uri="{FF2B5EF4-FFF2-40B4-BE49-F238E27FC236}">
                <a16:creationId xmlns:a16="http://schemas.microsoft.com/office/drawing/2014/main" id="{467D0BE3-ADB4-466A-9057-3622303F631A}"/>
              </a:ext>
            </a:extLst>
          </p:cNvPr>
          <p:cNvSpPr>
            <a:spLocks xmlns:a="http://schemas.openxmlformats.org/drawingml/2006/main" noGrp="1"/>
          </p:cNvSpPr>
          <p:nvPr/>
        </p:nvSpPr>
        <p:spPr>
          <a:xfrm xmlns:a="http://schemas.openxmlformats.org/drawingml/2006/main">
            <a:off x="6457950" y="46672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Rows without a complete horizon are excluded from the proof table.</a:t>
            </a:r>
          </a:p>
        </p:txBody>
      </p:sp>
    </p:spTree>
    <p:extLst>
      <p:ext uri="{BB962C8B-B14F-4D97-AF65-F5344CB8AC3E}">
        <p14:creationId xmlns:p14="http://schemas.microsoft.com/office/powerpoint/2010/main" val="120814534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E4CEDAC-272D-4918-9A3B-598010D83738}"/>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7787CB41-355A-492E-B96C-0D7A7067087F}"/>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fold calendar makes the leakage rule visible</a:t>
            </a:r>
          </a:p>
        </p:txBody>
      </p:sp>
      <p:sp>
        <p:nvSpPr>
          <p:cNvPr id="3" name="">
            <a:extLst xmlns:a="http://schemas.openxmlformats.org/drawingml/2006/main">
              <a:ext uri="{FF2B5EF4-FFF2-40B4-BE49-F238E27FC236}">
                <a16:creationId xmlns:a16="http://schemas.microsoft.com/office/drawing/2014/main" id="{1D3B2DB3-2C45-456E-B31A-F641157D2FB7}"/>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45b38e8f8a94467d"/>
          <a:stretch xmlns:a="http://schemas.openxmlformats.org/drawingml/2006/main"/>
        </p:blipFill>
        <p:spPr>
          <a:xfrm xmlns:a="http://schemas.openxmlformats.org/drawingml/2006/main">
            <a:off x="838200" y="2038350"/>
            <a:ext cx="7239000" cy="3619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6DAA6D3-43DF-466A-BF8D-FF709AFE0D6F}"/>
              </a:ext>
            </a:extLst>
          </p:cNvPr>
          <p:cNvSpPr>
            <a:spLocks xmlns:a="http://schemas.openxmlformats.org/drawingml/2006/main" noGrp="1"/>
          </p:cNvSpPr>
          <p:nvPr/>
        </p:nvSpPr>
        <p:spPr>
          <a:xfrm xmlns:a="http://schemas.openxmlformats.org/drawingml/2006/main">
            <a:off x="8629650" y="2133600"/>
            <a:ext cx="228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Why it matters</a:t>
            </a:r>
          </a:p>
        </p:txBody>
      </p:sp>
      <p:sp>
        <p:nvSpPr>
          <p:cNvPr id="6" name="">
            <a:extLst xmlns:a="http://schemas.openxmlformats.org/drawingml/2006/main">
              <a:ext uri="{FF2B5EF4-FFF2-40B4-BE49-F238E27FC236}">
                <a16:creationId xmlns:a16="http://schemas.microsoft.com/office/drawing/2014/main" id="{420D03E2-44BA-45E4-8F2A-952FD3EDDD69}"/>
              </a:ext>
            </a:extLst>
          </p:cNvPr>
          <p:cNvSpPr>
            <a:spLocks xmlns:a="http://schemas.openxmlformats.org/drawingml/2006/main" noGrp="1"/>
          </p:cNvSpPr>
          <p:nvPr/>
        </p:nvSpPr>
        <p:spPr>
          <a:xfrm xmlns:a="http://schemas.openxmlformats.org/drawingml/2006/main">
            <a:off x="8629650" y="2628900"/>
            <a:ext cx="23812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A TRAIN example is not eligible unless its future h3 label finishes before the TRAIN/OOS boundary. OOS labels are allowed for inspection, but they never feed model fitting or threshold choice.</a:t>
            </a:r>
          </a:p>
        </p:txBody>
      </p:sp>
    </p:spTree>
    <p:extLst>
      <p:ext uri="{BB962C8B-B14F-4D97-AF65-F5344CB8AC3E}">
        <p14:creationId xmlns:p14="http://schemas.microsoft.com/office/powerpoint/2010/main" val="213148848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627DB27-E8B8-4530-9E0A-4535BB65A4AA}"/>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59CDD211-29E8-45F1-9BB7-EE9F7D34F629}"/>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OHLCV adds information that close-to-close would discard</a:t>
            </a:r>
          </a:p>
        </p:txBody>
      </p:sp>
      <p:sp>
        <p:nvSpPr>
          <p:cNvPr id="3" name="">
            <a:extLst xmlns:a="http://schemas.openxmlformats.org/drawingml/2006/main">
              <a:ext uri="{FF2B5EF4-FFF2-40B4-BE49-F238E27FC236}">
                <a16:creationId xmlns:a16="http://schemas.microsoft.com/office/drawing/2014/main" id="{E10D44A4-D104-4DCB-80B2-A0379AA05490}"/>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afbb8db577794480"/>
          <a:stretch xmlns:a="http://schemas.openxmlformats.org/drawingml/2006/main"/>
        </p:blipFill>
        <p:spPr>
          <a:xfrm xmlns:a="http://schemas.openxmlformats.org/drawingml/2006/main">
            <a:off x="742950" y="2257791"/>
            <a:ext cx="5810250" cy="3352067"/>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7DE1D6A-B564-48CF-9CA9-B6691F4D5673}"/>
              </a:ext>
            </a:extLst>
          </p:cNvPr>
          <p:cNvSpPr>
            <a:spLocks xmlns:a="http://schemas.openxmlformats.org/drawingml/2006/main" noGrp="1"/>
          </p:cNvSpPr>
          <p:nvPr/>
        </p:nvSpPr>
        <p:spPr>
          <a:xfrm xmlns:a="http://schemas.openxmlformats.org/drawingml/2006/main">
            <a:off x="7048500" y="2095500"/>
            <a:ext cx="3619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i="0">
                <a:solidFill>
                  <a:srgbClr val="000000"/>
                </a:solidFill>
              </a:defRPr>
            </a:pPr>
            <a:r>
              <a:rPr sz="2100" b="1" i="0">
                <a:solidFill>
                  <a:srgbClr val="000000"/>
                </a:solidFill>
              </a:rPr>
              <a:t>The first feature table is complete enough to model from.</a:t>
            </a:r>
          </a:p>
        </p:txBody>
      </p:sp>
      <p:sp>
        <p:nvSpPr>
          <p:cNvPr id="6" name="">
            <a:extLst xmlns:a="http://schemas.openxmlformats.org/drawingml/2006/main">
              <a:ext uri="{FF2B5EF4-FFF2-40B4-BE49-F238E27FC236}">
                <a16:creationId xmlns:a16="http://schemas.microsoft.com/office/drawing/2014/main" id="{F49A6A01-F2A1-43B8-93FE-912D601EC899}"/>
              </a:ext>
            </a:extLst>
          </p:cNvPr>
          <p:cNvSpPr>
            <a:spLocks xmlns:a="http://schemas.openxmlformats.org/drawingml/2006/main" noGrp="1"/>
          </p:cNvSpPr>
          <p:nvPr/>
        </p:nvSpPr>
        <p:spPr>
          <a:xfrm xmlns:a="http://schemas.openxmlformats.org/drawingml/2006/main">
            <a:off x="7067550" y="3095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i="0">
                <a:solidFill>
                  <a:srgbClr val="FF6B35"/>
                </a:solidFill>
              </a:defRPr>
            </a:pPr>
            <a:r>
              <a:rPr sz="1500" b="1" i="0">
                <a:solidFill>
                  <a:srgbClr val="FF6B35"/>
                </a:solidFill>
              </a:rPr>
              <a:t>-</a:t>
            </a:r>
          </a:p>
        </p:txBody>
      </p:sp>
      <p:sp>
        <p:nvSpPr>
          <p:cNvPr id="7" name="">
            <a:extLst xmlns:a="http://schemas.openxmlformats.org/drawingml/2006/main">
              <a:ext uri="{FF2B5EF4-FFF2-40B4-BE49-F238E27FC236}">
                <a16:creationId xmlns:a16="http://schemas.microsoft.com/office/drawing/2014/main" id="{1DED3548-4465-4395-B498-8D17B85467E8}"/>
              </a:ext>
            </a:extLst>
          </p:cNvPr>
          <p:cNvSpPr>
            <a:spLocks xmlns:a="http://schemas.openxmlformats.org/drawingml/2006/main" noGrp="1"/>
          </p:cNvSpPr>
          <p:nvPr/>
        </p:nvSpPr>
        <p:spPr>
          <a:xfrm xmlns:a="http://schemas.openxmlformats.org/drawingml/2006/main">
            <a:off x="7334250" y="3086100"/>
            <a:ext cx="3448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222222"/>
                </a:solidFill>
              </a:defRPr>
            </a:pPr>
            <a:r>
              <a:rPr sz="1500" b="0" i="0">
                <a:solidFill>
                  <a:srgbClr val="222222"/>
                </a:solidFill>
              </a:rPr>
              <a:t>Candle body, wick, gap, range, and volume features are populated across both windows.</a:t>
            </a:r>
          </a:p>
        </p:txBody>
      </p:sp>
      <p:sp>
        <p:nvSpPr>
          <p:cNvPr id="8" name="">
            <a:extLst xmlns:a="http://schemas.openxmlformats.org/drawingml/2006/main">
              <a:ext uri="{FF2B5EF4-FFF2-40B4-BE49-F238E27FC236}">
                <a16:creationId xmlns:a16="http://schemas.microsoft.com/office/drawing/2014/main" id="{0A2E44DB-D737-4312-B79F-51C24DC960D2}"/>
              </a:ext>
            </a:extLst>
          </p:cNvPr>
          <p:cNvSpPr>
            <a:spLocks xmlns:a="http://schemas.openxmlformats.org/drawingml/2006/main" noGrp="1"/>
          </p:cNvSpPr>
          <p:nvPr/>
        </p:nvSpPr>
        <p:spPr>
          <a:xfrm xmlns:a="http://schemas.openxmlformats.org/drawingml/2006/main">
            <a:off x="7067550" y="40671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i="0">
                <a:solidFill>
                  <a:srgbClr val="FF6B35"/>
                </a:solidFill>
              </a:defRPr>
            </a:pPr>
            <a:r>
              <a:rPr sz="1500" b="1" i="0">
                <a:solidFill>
                  <a:srgbClr val="FF6B35"/>
                </a:solidFill>
              </a:rPr>
              <a:t>-</a:t>
            </a:r>
          </a:p>
        </p:txBody>
      </p:sp>
      <p:sp>
        <p:nvSpPr>
          <p:cNvPr id="9" name="">
            <a:extLst xmlns:a="http://schemas.openxmlformats.org/drawingml/2006/main">
              <a:ext uri="{FF2B5EF4-FFF2-40B4-BE49-F238E27FC236}">
                <a16:creationId xmlns:a16="http://schemas.microsoft.com/office/drawing/2014/main" id="{F966C680-EE38-44DA-BD50-274D1ABA055F}"/>
              </a:ext>
            </a:extLst>
          </p:cNvPr>
          <p:cNvSpPr>
            <a:spLocks xmlns:a="http://schemas.openxmlformats.org/drawingml/2006/main" noGrp="1"/>
          </p:cNvSpPr>
          <p:nvPr/>
        </p:nvSpPr>
        <p:spPr>
          <a:xfrm xmlns:a="http://schemas.openxmlformats.org/drawingml/2006/main">
            <a:off x="7334250" y="4057650"/>
            <a:ext cx="3448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222222"/>
                </a:solidFill>
              </a:defRPr>
            </a:pPr>
            <a:r>
              <a:rPr sz="1500" b="0" i="0">
                <a:solidFill>
                  <a:srgbClr val="222222"/>
                </a:solidFill>
              </a:rPr>
              <a:t>This does not prove alpha. It proves the supervised surface is technically usable.</a:t>
            </a:r>
          </a:p>
        </p:txBody>
      </p:sp>
    </p:spTree>
    <p:extLst>
      <p:ext uri="{BB962C8B-B14F-4D97-AF65-F5344CB8AC3E}">
        <p14:creationId xmlns:p14="http://schemas.microsoft.com/office/powerpoint/2010/main" val="139744199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D8CE286-173C-4059-8D60-6C213853AC9A}"/>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8C57CF57-E1B3-442B-87BF-2E31AC3EB1F5}"/>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h3 target is balanced enough for a first model test</a:t>
            </a:r>
          </a:p>
        </p:txBody>
      </p:sp>
      <p:sp>
        <p:nvSpPr>
          <p:cNvPr id="3" name="">
            <a:extLst xmlns:a="http://schemas.openxmlformats.org/drawingml/2006/main">
              <a:ext uri="{FF2B5EF4-FFF2-40B4-BE49-F238E27FC236}">
                <a16:creationId xmlns:a16="http://schemas.microsoft.com/office/drawing/2014/main" id="{470EDB80-C3C6-4922-8830-C14D9F411F2D}"/>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8caca0b3c8a349d6"/>
          <a:stretch xmlns:a="http://schemas.openxmlformats.org/drawingml/2006/main"/>
        </p:blipFill>
        <p:spPr>
          <a:xfrm xmlns:a="http://schemas.openxmlformats.org/drawingml/2006/main">
            <a:off x="723900" y="2423716"/>
            <a:ext cx="5048250" cy="2734469"/>
          </a:xfrm>
          <a:prstGeom xmlns:a="http://schemas.openxmlformats.org/drawingml/2006/main" prst="rect">
            <a:avLst/>
          </a:prstGeom>
        </p:spPr>
      </p:pic>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7e8ffa8ceb7c4a83"/>
          <a:stretch xmlns:a="http://schemas.openxmlformats.org/drawingml/2006/main"/>
        </p:blipFill>
        <p:spPr>
          <a:xfrm xmlns:a="http://schemas.openxmlformats.org/drawingml/2006/main">
            <a:off x="6191250" y="2505075"/>
            <a:ext cx="5143500" cy="2571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FDD40F44-47E4-48C7-A68D-1951F8334E5A}"/>
              </a:ext>
            </a:extLst>
          </p:cNvPr>
          <p:cNvSpPr>
            <a:spLocks xmlns:a="http://schemas.openxmlformats.org/drawingml/2006/main" noGrp="1"/>
          </p:cNvSpPr>
          <p:nvPr/>
        </p:nvSpPr>
        <p:spPr>
          <a:xfrm xmlns:a="http://schemas.openxmlformats.org/drawingml/2006/main">
            <a:off x="857250" y="5791200"/>
            <a:ext cx="1000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555555"/>
                </a:solidFill>
              </a:defRPr>
            </a:pPr>
            <a:r>
              <a:rPr sz="1350" b="0" i="0">
                <a:solidFill>
                  <a:srgbClr val="555555"/>
                </a:solidFill>
              </a:rPr>
              <a:t>Mean OOS positive-label rate: 2020 56.6%; 2022 45.6%. Mean OOS h3 return: 2020 1.0%; 2022 -0.6%.</a:t>
            </a:r>
          </a:p>
        </p:txBody>
      </p:sp>
    </p:spTree>
    <p:extLst>
      <p:ext uri="{BB962C8B-B14F-4D97-AF65-F5344CB8AC3E}">
        <p14:creationId xmlns:p14="http://schemas.microsoft.com/office/powerpoint/2010/main" val="70381057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A92B035-1A71-4186-93CA-F6F18439A633}"/>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C8E16806-76CC-4B15-9CE0-0919F96D026C}"/>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label matches how an after-close system would trade</a:t>
            </a:r>
          </a:p>
        </p:txBody>
      </p:sp>
      <p:sp>
        <p:nvSpPr>
          <p:cNvPr id="3" name="">
            <a:extLst xmlns:a="http://schemas.openxmlformats.org/drawingml/2006/main">
              <a:ext uri="{FF2B5EF4-FFF2-40B4-BE49-F238E27FC236}">
                <a16:creationId xmlns:a16="http://schemas.microsoft.com/office/drawing/2014/main" id="{ED37A337-A36D-4D36-9DFA-872AFB70213C}"/>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5aaee48819d4a2d"/>
          <a:stretch xmlns:a="http://schemas.openxmlformats.org/drawingml/2006/main"/>
        </p:blipFill>
        <p:spPr>
          <a:xfrm xmlns:a="http://schemas.openxmlformats.org/drawingml/2006/main">
            <a:off x="876300" y="2095500"/>
            <a:ext cx="7239000" cy="3619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BDB4D6B-982A-4F72-AABA-1AF0E0F0AB5C}"/>
              </a:ext>
            </a:extLst>
          </p:cNvPr>
          <p:cNvSpPr>
            <a:spLocks xmlns:a="http://schemas.openxmlformats.org/drawingml/2006/main" noGrp="1"/>
          </p:cNvSpPr>
          <p:nvPr/>
        </p:nvSpPr>
        <p:spPr>
          <a:xfrm xmlns:a="http://schemas.openxmlformats.org/drawingml/2006/main">
            <a:off x="8629650" y="21336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222222"/>
                </a:solidFill>
              </a:defRPr>
            </a:pPr>
            <a:r>
              <a:rPr sz="1875" b="1" i="0">
                <a:solidFill>
                  <a:srgbClr val="222222"/>
                </a:solidFill>
              </a:rPr>
              <a:t>Read the markers left to right</a:t>
            </a:r>
          </a:p>
        </p:txBody>
      </p:sp>
      <p:sp>
        <p:nvSpPr>
          <p:cNvPr id="6" name="">
            <a:extLst xmlns:a="http://schemas.openxmlformats.org/drawingml/2006/main">
              <a:ext uri="{FF2B5EF4-FFF2-40B4-BE49-F238E27FC236}">
                <a16:creationId xmlns:a16="http://schemas.microsoft.com/office/drawing/2014/main" id="{3F2849C3-107B-4900-8659-3662692153F8}"/>
              </a:ext>
            </a:extLst>
          </p:cNvPr>
          <p:cNvSpPr>
            <a:spLocks xmlns:a="http://schemas.openxmlformats.org/drawingml/2006/main" noGrp="1"/>
          </p:cNvSpPr>
          <p:nvPr/>
        </p:nvSpPr>
        <p:spPr>
          <a:xfrm xmlns:a="http://schemas.openxmlformats.org/drawingml/2006/main">
            <a:off x="8629650" y="2667000"/>
            <a:ext cx="2476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Blue is the feature date. Orange is the next open, where a future model would act. Green is the close three sessions later, where the label is measured.</a:t>
            </a:r>
          </a:p>
        </p:txBody>
      </p:sp>
    </p:spTree>
    <p:extLst>
      <p:ext uri="{BB962C8B-B14F-4D97-AF65-F5344CB8AC3E}">
        <p14:creationId xmlns:p14="http://schemas.microsoft.com/office/powerpoint/2010/main" val="193725544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67F1554-FA34-4C4B-A449-AC4A1C75E0A5}"/>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7308F579-54F9-4D9A-81CC-1DB1EB3BF8A5}"/>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Feature strips give us a human audit of what the model will see</a:t>
            </a:r>
          </a:p>
        </p:txBody>
      </p:sp>
      <p:sp>
        <p:nvSpPr>
          <p:cNvPr id="3" name="">
            <a:extLst xmlns:a="http://schemas.openxmlformats.org/drawingml/2006/main">
              <a:ext uri="{FF2B5EF4-FFF2-40B4-BE49-F238E27FC236}">
                <a16:creationId xmlns:a16="http://schemas.microsoft.com/office/drawing/2014/main" id="{4C9FB5D5-574C-4658-A21A-C426B2DBD9D0}"/>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54715c4ed7054f56"/>
          <a:stretch xmlns:a="http://schemas.openxmlformats.org/drawingml/2006/main"/>
        </p:blipFill>
        <p:spPr>
          <a:xfrm xmlns:a="http://schemas.openxmlformats.org/drawingml/2006/main">
            <a:off x="1170384" y="2038350"/>
            <a:ext cx="6346031" cy="3905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31B6546-058C-4FBE-ACC2-ACD9FDDC9AB6}"/>
              </a:ext>
            </a:extLst>
          </p:cNvPr>
          <p:cNvSpPr>
            <a:spLocks xmlns:a="http://schemas.openxmlformats.org/drawingml/2006/main" noGrp="1"/>
          </p:cNvSpPr>
          <p:nvPr/>
        </p:nvSpPr>
        <p:spPr>
          <a:xfrm xmlns:a="http://schemas.openxmlformats.org/drawingml/2006/main">
            <a:off x="8572500" y="2133600"/>
            <a:ext cx="2619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222222"/>
                </a:solidFill>
              </a:defRPr>
            </a:pPr>
            <a:r>
              <a:rPr sz="1875" b="1" i="0">
                <a:solidFill>
                  <a:srgbClr val="222222"/>
                </a:solidFill>
              </a:rPr>
              <a:t>This is still pre-model evidence.</a:t>
            </a:r>
          </a:p>
        </p:txBody>
      </p:sp>
      <p:sp>
        <p:nvSpPr>
          <p:cNvPr id="6" name="">
            <a:extLst xmlns:a="http://schemas.openxmlformats.org/drawingml/2006/main">
              <a:ext uri="{FF2B5EF4-FFF2-40B4-BE49-F238E27FC236}">
                <a16:creationId xmlns:a16="http://schemas.microsoft.com/office/drawing/2014/main" id="{A9CF3C8D-3616-4904-978B-FEA70047DC7B}"/>
              </a:ext>
            </a:extLst>
          </p:cNvPr>
          <p:cNvSpPr>
            <a:spLocks xmlns:a="http://schemas.openxmlformats.org/drawingml/2006/main" noGrp="1"/>
          </p:cNvSpPr>
          <p:nvPr/>
        </p:nvSpPr>
        <p:spPr>
          <a:xfrm xmlns:a="http://schemas.openxmlformats.org/drawingml/2006/main">
            <a:off x="8572500" y="2724150"/>
            <a:ext cx="25717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plot checks that trend, range location, and volume features move in recognizable ways around a hard 2022 tape. The next step is to ask whether a model can combine these signals better than hand-coded states.</a:t>
            </a:r>
          </a:p>
        </p:txBody>
      </p:sp>
    </p:spTree>
    <p:extLst>
      <p:ext uri="{BB962C8B-B14F-4D97-AF65-F5344CB8AC3E}">
        <p14:creationId xmlns:p14="http://schemas.microsoft.com/office/powerpoint/2010/main" val="109275167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8446D6A-ACBF-4580-B1FB-D02C4651160F}"/>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3E6EA4A1-90DA-4AA9-91A1-BA7CB639C7E4}"/>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A univariate audit gives early clues without pretending to be a model</a:t>
            </a:r>
          </a:p>
        </p:txBody>
      </p:sp>
      <p:sp>
        <p:nvSpPr>
          <p:cNvPr id="3" name="">
            <a:extLst xmlns:a="http://schemas.openxmlformats.org/drawingml/2006/main">
              <a:ext uri="{FF2B5EF4-FFF2-40B4-BE49-F238E27FC236}">
                <a16:creationId xmlns:a16="http://schemas.microsoft.com/office/drawing/2014/main" id="{B9599219-FB0F-4265-83C0-2D4BDAD21A10}"/>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d01ec63977b44f35"/>
          <a:stretch xmlns:a="http://schemas.openxmlformats.org/drawingml/2006/main"/>
        </p:blipFill>
        <p:spPr>
          <a:xfrm xmlns:a="http://schemas.openxmlformats.org/drawingml/2006/main">
            <a:off x="1208484" y="2038350"/>
            <a:ext cx="6346031" cy="3905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CA550AA-9150-409F-8EA6-8BE7C4B0208C}"/>
              </a:ext>
            </a:extLst>
          </p:cNvPr>
          <p:cNvSpPr>
            <a:spLocks xmlns:a="http://schemas.openxmlformats.org/drawingml/2006/main" noGrp="1"/>
          </p:cNvSpPr>
          <p:nvPr/>
        </p:nvSpPr>
        <p:spPr>
          <a:xfrm xmlns:a="http://schemas.openxmlformats.org/drawingml/2006/main">
            <a:off x="8553450" y="21336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222222"/>
                </a:solidFill>
              </a:defRPr>
            </a:pPr>
            <a:r>
              <a:rPr sz="1875" b="1" i="0">
                <a:solidFill>
                  <a:srgbClr val="222222"/>
                </a:solidFill>
              </a:rPr>
              <a:t>What to look for</a:t>
            </a:r>
          </a:p>
        </p:txBody>
      </p:sp>
      <p:sp>
        <p:nvSpPr>
          <p:cNvPr id="6" name="">
            <a:extLst xmlns:a="http://schemas.openxmlformats.org/drawingml/2006/main">
              <a:ext uri="{FF2B5EF4-FFF2-40B4-BE49-F238E27FC236}">
                <a16:creationId xmlns:a16="http://schemas.microsoft.com/office/drawing/2014/main" id="{F3AF0545-61FA-4730-B052-E238AE8F40BC}"/>
              </a:ext>
            </a:extLst>
          </p:cNvPr>
          <p:cNvSpPr>
            <a:spLocks xmlns:a="http://schemas.openxmlformats.org/drawingml/2006/main" noGrp="1"/>
          </p:cNvSpPr>
          <p:nvPr/>
        </p:nvSpPr>
        <p:spPr>
          <a:xfrm xmlns:a="http://schemas.openxmlformats.org/drawingml/2006/main">
            <a:off x="8553450" y="2667000"/>
            <a:ext cx="26860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Smooth monotonic lines would be encouraging. Noisy or nonmonotonic lines are not fatal, because the first real ML test will learn interactions, but they tell us whether individual features carry any visible directional information.</a:t>
            </a:r>
          </a:p>
        </p:txBody>
      </p:sp>
    </p:spTree>
    <p:extLst>
      <p:ext uri="{BB962C8B-B14F-4D97-AF65-F5344CB8AC3E}">
        <p14:creationId xmlns:p14="http://schemas.microsoft.com/office/powerpoint/2010/main" val="168709444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D67CF19-7628-457B-B841-EDBBD8D77AEE}"/>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6A6A8FF4-4A23-4BAB-B392-77054275CDA1}"/>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build can fit a deliberately simple model</a:t>
            </a:r>
          </a:p>
        </p:txBody>
      </p:sp>
      <p:sp>
        <p:nvSpPr>
          <p:cNvPr id="3" name="">
            <a:extLst xmlns:a="http://schemas.openxmlformats.org/drawingml/2006/main">
              <a:ext uri="{FF2B5EF4-FFF2-40B4-BE49-F238E27FC236}">
                <a16:creationId xmlns:a16="http://schemas.microsoft.com/office/drawing/2014/main" id="{1E40FCCE-56DD-4315-831C-11B8AAA952AA}"/>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DB4936B-3630-41ED-8BA2-E6CDE49480D8}"/>
              </a:ext>
            </a:extLst>
          </p:cNvPr>
          <p:cNvSpPr>
            <a:spLocks xmlns:a="http://schemas.openxmlformats.org/drawingml/2006/main" noGrp="1"/>
          </p:cNvSpPr>
          <p:nvPr/>
        </p:nvSpPr>
        <p:spPr>
          <a:xfrm xmlns:a="http://schemas.openxmlformats.org/drawingml/2006/main">
            <a:off x="876300" y="2152650"/>
            <a:ext cx="7239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ML-P0 passed the table-quality gate. The next useful slice is ML-P1: GLM logistic replay.</a:t>
            </a:r>
          </a:p>
        </p:txBody>
      </p:sp>
      <p:sp>
        <p:nvSpPr>
          <p:cNvPr id="5" name="">
            <a:extLst xmlns:a="http://schemas.openxmlformats.org/drawingml/2006/main">
              <a:ext uri="{FF2B5EF4-FFF2-40B4-BE49-F238E27FC236}">
                <a16:creationId xmlns:a16="http://schemas.microsoft.com/office/drawing/2014/main" id="{7C409D97-D7E2-4345-9469-AF38C2938144}"/>
              </a:ext>
            </a:extLst>
          </p:cNvPr>
          <p:cNvSpPr>
            <a:spLocks xmlns:a="http://schemas.openxmlformats.org/drawingml/2006/main" noGrp="1"/>
          </p:cNvSpPr>
          <p:nvPr/>
        </p:nvSpPr>
        <p:spPr>
          <a:xfrm xmlns:a="http://schemas.openxmlformats.org/drawingml/2006/main">
            <a:off x="1181100" y="3343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A35D1A28-0127-4504-9302-3C11723FD722}"/>
              </a:ext>
            </a:extLst>
          </p:cNvPr>
          <p:cNvSpPr>
            <a:spLocks xmlns:a="http://schemas.openxmlformats.org/drawingml/2006/main" noGrp="1"/>
          </p:cNvSpPr>
          <p:nvPr/>
        </p:nvSpPr>
        <p:spPr>
          <a:xfrm xmlns:a="http://schemas.openxmlformats.org/drawingml/2006/main">
            <a:off x="1447800" y="333375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Fit only on TRAIN rows using frozen transforms.</a:t>
            </a:r>
          </a:p>
        </p:txBody>
      </p:sp>
      <p:sp>
        <p:nvSpPr>
          <p:cNvPr id="7" name="">
            <a:extLst xmlns:a="http://schemas.openxmlformats.org/drawingml/2006/main">
              <a:ext uri="{FF2B5EF4-FFF2-40B4-BE49-F238E27FC236}">
                <a16:creationId xmlns:a16="http://schemas.microsoft.com/office/drawing/2014/main" id="{77C338E9-7181-49B6-8180-8D24FE131A7E}"/>
              </a:ext>
            </a:extLst>
          </p:cNvPr>
          <p:cNvSpPr>
            <a:spLocks xmlns:a="http://schemas.openxmlformats.org/drawingml/2006/main" noGrp="1"/>
          </p:cNvSpPr>
          <p:nvPr/>
        </p:nvSpPr>
        <p:spPr>
          <a:xfrm xmlns:a="http://schemas.openxmlformats.org/drawingml/2006/main">
            <a:off x="1181100" y="40100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0CEAB92E-BB1F-420B-8C5D-F5CC9ED498C9}"/>
              </a:ext>
            </a:extLst>
          </p:cNvPr>
          <p:cNvSpPr>
            <a:spLocks xmlns:a="http://schemas.openxmlformats.org/drawingml/2006/main" noGrp="1"/>
          </p:cNvSpPr>
          <p:nvPr/>
        </p:nvSpPr>
        <p:spPr>
          <a:xfrm xmlns:a="http://schemas.openxmlformats.org/drawingml/2006/main">
            <a:off x="1447800" y="400050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Predict OOS h3 probability after each close.</a:t>
            </a:r>
          </a:p>
        </p:txBody>
      </p:sp>
      <p:sp>
        <p:nvSpPr>
          <p:cNvPr id="9" name="">
            <a:extLst xmlns:a="http://schemas.openxmlformats.org/drawingml/2006/main">
              <a:ext uri="{FF2B5EF4-FFF2-40B4-BE49-F238E27FC236}">
                <a16:creationId xmlns:a16="http://schemas.microsoft.com/office/drawing/2014/main" id="{CFC93CAE-013D-4A66-BA20-4D662C5C5E1E}"/>
              </a:ext>
            </a:extLst>
          </p:cNvPr>
          <p:cNvSpPr>
            <a:spLocks xmlns:a="http://schemas.openxmlformats.org/drawingml/2006/main" noGrp="1"/>
          </p:cNvSpPr>
          <p:nvPr/>
        </p:nvSpPr>
        <p:spPr>
          <a:xfrm xmlns:a="http://schemas.openxmlformats.org/drawingml/2006/main">
            <a:off x="1181100" y="46767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366CA9CA-D27F-4297-8F8C-27E36F5324B1}"/>
              </a:ext>
            </a:extLst>
          </p:cNvPr>
          <p:cNvSpPr>
            <a:spLocks xmlns:a="http://schemas.openxmlformats.org/drawingml/2006/main" noGrp="1"/>
          </p:cNvSpPr>
          <p:nvPr/>
        </p:nvSpPr>
        <p:spPr>
          <a:xfrm xmlns:a="http://schemas.openxmlformats.org/drawingml/2006/main">
            <a:off x="1447800" y="466725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Replay long/flat decisions with fixed or TRAIN-selected thresholds.</a:t>
            </a:r>
          </a:p>
        </p:txBody>
      </p:sp>
      <p:sp>
        <p:nvSpPr>
          <p:cNvPr id="11" name="">
            <a:extLst xmlns:a="http://schemas.openxmlformats.org/drawingml/2006/main">
              <a:ext uri="{FF2B5EF4-FFF2-40B4-BE49-F238E27FC236}">
                <a16:creationId xmlns:a16="http://schemas.microsoft.com/office/drawing/2014/main" id="{E8BB212A-CE16-4EDD-9CD9-52091AC60BCF}"/>
              </a:ext>
            </a:extLst>
          </p:cNvPr>
          <p:cNvSpPr>
            <a:spLocks xmlns:a="http://schemas.openxmlformats.org/drawingml/2006/main" noGrp="1"/>
          </p:cNvSpPr>
          <p:nvPr/>
        </p:nvSpPr>
        <p:spPr>
          <a:xfrm xmlns:a="http://schemas.openxmlformats.org/drawingml/2006/main">
            <a:off x="1181100" y="53435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6872B35B-2496-4B17-A15B-683D4A5D7491}"/>
              </a:ext>
            </a:extLst>
          </p:cNvPr>
          <p:cNvSpPr>
            <a:spLocks xmlns:a="http://schemas.openxmlformats.org/drawingml/2006/main" noGrp="1"/>
          </p:cNvSpPr>
          <p:nvPr/>
        </p:nvSpPr>
        <p:spPr>
          <a:xfrm xmlns:a="http://schemas.openxmlformats.org/drawingml/2006/main">
            <a:off x="1447800" y="533400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Compare probability traces, trade tapes, equity, and equal-weight basket hold.</a:t>
            </a:r>
          </a:p>
        </p:txBody>
      </p:sp>
      <p:sp>
        <p:nvSpPr>
          <p:cNvPr id="13" name="">
            <a:extLst xmlns:a="http://schemas.openxmlformats.org/drawingml/2006/main">
              <a:ext uri="{FF2B5EF4-FFF2-40B4-BE49-F238E27FC236}">
                <a16:creationId xmlns:a16="http://schemas.microsoft.com/office/drawing/2014/main" id="{8D618258-06D8-4D21-A199-B57F7CCDBF5D}"/>
              </a:ext>
            </a:extLst>
          </p:cNvPr>
          <p:cNvSpPr>
            <a:spLocks xmlns:a="http://schemas.openxmlformats.org/drawingml/2006/main" noGrp="1"/>
          </p:cNvSpPr>
          <p:nvPr/>
        </p:nvSpPr>
        <p:spPr>
          <a:xfrm xmlns:a="http://schemas.openxmlformats.org/drawingml/2006/main">
            <a:off x="7734300" y="2247900"/>
            <a:ext cx="2971800" cy="29718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4" name="">
            <a:extLst xmlns:a="http://schemas.openxmlformats.org/drawingml/2006/main">
              <a:ext uri="{FF2B5EF4-FFF2-40B4-BE49-F238E27FC236}">
                <a16:creationId xmlns:a16="http://schemas.microsoft.com/office/drawing/2014/main" id="{AA740C19-6DCC-4105-82ED-8F674763E324}"/>
              </a:ext>
            </a:extLst>
          </p:cNvPr>
          <p:cNvSpPr>
            <a:spLocks xmlns:a="http://schemas.openxmlformats.org/drawingml/2006/main" noGrp="1"/>
          </p:cNvSpPr>
          <p:nvPr/>
        </p:nvSpPr>
        <p:spPr>
          <a:xfrm xmlns:a="http://schemas.openxmlformats.org/drawingml/2006/main">
            <a:off x="8096250" y="2895600"/>
            <a:ext cx="2266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1" i="0">
                <a:solidFill>
                  <a:srgbClr val="222222"/>
                </a:solidFill>
              </a:defRPr>
            </a:pPr>
            <a:r>
              <a:rPr sz="2025" b="1" i="0">
                <a:solidFill>
                  <a:srgbClr val="222222"/>
                </a:solidFill>
              </a:rPr>
              <a:t>Still research only</a:t>
            </a:r>
          </a:p>
        </p:txBody>
      </p:sp>
      <p:sp>
        <p:nvSpPr>
          <p:cNvPr id="15" name="">
            <a:extLst xmlns:a="http://schemas.openxmlformats.org/drawingml/2006/main">
              <a:ext uri="{FF2B5EF4-FFF2-40B4-BE49-F238E27FC236}">
                <a16:creationId xmlns:a16="http://schemas.microsoft.com/office/drawing/2014/main" id="{A9455E30-7B3A-4AAF-8B19-0A521AF89CB5}"/>
              </a:ext>
            </a:extLst>
          </p:cNvPr>
          <p:cNvSpPr>
            <a:spLocks xmlns:a="http://schemas.openxmlformats.org/drawingml/2006/main" noGrp="1"/>
          </p:cNvSpPr>
          <p:nvPr/>
        </p:nvSpPr>
        <p:spPr>
          <a:xfrm xmlns:a="http://schemas.openxmlformats.org/drawingml/2006/main">
            <a:off x="8115300" y="3562350"/>
            <a:ext cx="22383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0" i="0">
                <a:solidFill>
                  <a:srgbClr val="222222"/>
                </a:solidFill>
              </a:defRPr>
            </a:pPr>
            <a:r>
              <a:rPr sz="1800" b="0" i="0">
                <a:solidFill>
                  <a:srgbClr val="222222"/>
                </a:solidFill>
              </a:rPr>
              <a:t>GLM is the plumbing baseline before XGBoost.</a:t>
            </a:r>
          </a:p>
        </p:txBody>
      </p:sp>
    </p:spTree>
    <p:extLst>
      <p:ext uri="{BB962C8B-B14F-4D97-AF65-F5344CB8AC3E}">
        <p14:creationId xmlns:p14="http://schemas.microsoft.com/office/powerpoint/2010/main" val="26413832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2026-07-13T19:33:36.1050000Z</dcterms:created>
  <dcterms:modified xsi:type="dcterms:W3CDTF">2026-07-13T19:33:36.1050000Z</dcterms:modified>
</coreProperties>
</file>