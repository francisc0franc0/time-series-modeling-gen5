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4b13fabe93346d4" /><Relationship Type="http://schemas.openxmlformats.org/officeDocument/2006/relationships/extended-properties" Target="/docProps/app.xml" Id="Ra81dd158bdc84914" /><Relationship Type="http://schemas.openxmlformats.org/officeDocument/2006/relationships/officeDocument" Target="/ppt/presentation.xml" Id="R750d33c63ef84a05" /></Relationships>
</file>

<file path=ppt/presentation.xml><?xml version="1.0" encoding="utf-8"?>
<p:presentation xmlns:p="http://schemas.openxmlformats.org/presentationml/2006/main">
  <p:sldMasterIdLst>
    <p:sldMasterId xmlns:r="http://schemas.openxmlformats.org/officeDocument/2006/relationships" id="2147483648" r:id="Rb707c0c617c44f5f"/>
  </p:sldMasterIdLst>
  <p:notesMasterIdLst>
    <p:notesMasterId xmlns:r="http://schemas.openxmlformats.org/officeDocument/2006/relationships" r:id="R27608b05f04c46d9"/>
  </p:notesMasterIdLst>
  <p:sldIdLst>
    <p:sldId xmlns:r="http://schemas.openxmlformats.org/officeDocument/2006/relationships" id="256" r:id="R2aff7e8acff749d7"/>
    <p:sldId xmlns:r="http://schemas.openxmlformats.org/officeDocument/2006/relationships" id="257" r:id="Rb7c27742628d4312"/>
    <p:sldId xmlns:r="http://schemas.openxmlformats.org/officeDocument/2006/relationships" id="258" r:id="R6e05c5979eb048b1"/>
    <p:sldId xmlns:r="http://schemas.openxmlformats.org/officeDocument/2006/relationships" id="259" r:id="Rc17acef321df40c8"/>
    <p:sldId xmlns:r="http://schemas.openxmlformats.org/officeDocument/2006/relationships" id="260" r:id="R2139a1163d4946e5"/>
    <p:sldId xmlns:r="http://schemas.openxmlformats.org/officeDocument/2006/relationships" id="261" r:id="Rcc36a9fba9514e54"/>
    <p:sldId xmlns:r="http://schemas.openxmlformats.org/officeDocument/2006/relationships" id="262" r:id="R52e81f1b7cce450f"/>
    <p:sldId xmlns:r="http://schemas.openxmlformats.org/officeDocument/2006/relationships" id="263" r:id="R4e9745ced60e4c5d"/>
    <p:sldId xmlns:r="http://schemas.openxmlformats.org/officeDocument/2006/relationships" id="264" r:id="R66d61afad71b43a2"/>
    <p:sldId xmlns:r="http://schemas.openxmlformats.org/officeDocument/2006/relationships" id="265" r:id="Rc06a3a9b543144b2"/>
    <p:sldId xmlns:r="http://schemas.openxmlformats.org/officeDocument/2006/relationships" id="266" r:id="Rd78829dd075f4fcf"/>
    <p:sldId xmlns:r="http://schemas.openxmlformats.org/officeDocument/2006/relationships" id="267" r:id="R296052f1e7984a01"/>
    <p:sldId xmlns:r="http://schemas.openxmlformats.org/officeDocument/2006/relationships" id="268" r:id="R594f24f54e8f42b7"/>
    <p:sldId xmlns:r="http://schemas.openxmlformats.org/officeDocument/2006/relationships" id="269" r:id="Rc52d03f33f0e40eb"/>
    <p:sldId xmlns:r="http://schemas.openxmlformats.org/officeDocument/2006/relationships" id="270" r:id="R31adc33a12ac4ab6"/>
    <p:sldId xmlns:r="http://schemas.openxmlformats.org/officeDocument/2006/relationships" id="271" r:id="R9839342601494d6d"/>
    <p:sldId xmlns:r="http://schemas.openxmlformats.org/officeDocument/2006/relationships" id="272" r:id="Rac05c9d3386a4f5e"/>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e200b740a2c4d38" /><Relationship Type="http://schemas.openxmlformats.org/officeDocument/2006/relationships/slideMaster" Target="/ppt/slideMasters/slideMaster1.xml" Id="Rb707c0c617c44f5f" /><Relationship Type="http://schemas.openxmlformats.org/officeDocument/2006/relationships/notesMaster" Target="/ppt/notesMasters/notesMaster1.xml" Id="R27608b05f04c46d9" /><Relationship Type="http://schemas.openxmlformats.org/officeDocument/2006/relationships/presProps" Target="/ppt/presProps.xml" Id="R8e903750747e4eb1" /><Relationship Type="http://schemas.openxmlformats.org/officeDocument/2006/relationships/tableStyles" Target="/ppt/tableStyles.xml" Id="R52f60f9aab274741" /><Relationship Type="http://schemas.openxmlformats.org/officeDocument/2006/relationships/slide" Target="/ppt/slides/slide1.xml" Id="R2aff7e8acff749d7" /><Relationship Type="http://schemas.openxmlformats.org/officeDocument/2006/relationships/slide" Target="/ppt/slides/slide2.xml" Id="Rb7c27742628d4312" /><Relationship Type="http://schemas.openxmlformats.org/officeDocument/2006/relationships/slide" Target="/ppt/slides/slide3.xml" Id="R6e05c5979eb048b1" /><Relationship Type="http://schemas.openxmlformats.org/officeDocument/2006/relationships/slide" Target="/ppt/slides/slide4.xml" Id="Rc17acef321df40c8" /><Relationship Type="http://schemas.openxmlformats.org/officeDocument/2006/relationships/slide" Target="/ppt/slides/slide5.xml" Id="R2139a1163d4946e5" /><Relationship Type="http://schemas.openxmlformats.org/officeDocument/2006/relationships/slide" Target="/ppt/slides/slide6.xml" Id="Rcc36a9fba9514e54" /><Relationship Type="http://schemas.openxmlformats.org/officeDocument/2006/relationships/slide" Target="/ppt/slides/slide7.xml" Id="R52e81f1b7cce450f" /><Relationship Type="http://schemas.openxmlformats.org/officeDocument/2006/relationships/slide" Target="/ppt/slides/slide8.xml" Id="R4e9745ced60e4c5d" /><Relationship Type="http://schemas.openxmlformats.org/officeDocument/2006/relationships/slide" Target="/ppt/slides/slide9.xml" Id="R66d61afad71b43a2" /><Relationship Type="http://schemas.openxmlformats.org/officeDocument/2006/relationships/slide" Target="/ppt/slides/slide10.xml" Id="Rc06a3a9b543144b2" /><Relationship Type="http://schemas.openxmlformats.org/officeDocument/2006/relationships/slide" Target="/ppt/slides/slide11.xml" Id="Rd78829dd075f4fcf" /><Relationship Type="http://schemas.openxmlformats.org/officeDocument/2006/relationships/slide" Target="/ppt/slides/slide12.xml" Id="R296052f1e7984a01" /><Relationship Type="http://schemas.openxmlformats.org/officeDocument/2006/relationships/slide" Target="/ppt/slides/slide13.xml" Id="R594f24f54e8f42b7" /><Relationship Type="http://schemas.openxmlformats.org/officeDocument/2006/relationships/slide" Target="/ppt/slides/slide14.xml" Id="Rc52d03f33f0e40eb" /><Relationship Type="http://schemas.openxmlformats.org/officeDocument/2006/relationships/slide" Target="/ppt/slides/slide15.xml" Id="R31adc33a12ac4ab6" /><Relationship Type="http://schemas.openxmlformats.org/officeDocument/2006/relationships/slide" Target="/ppt/slides/slide16.xml" Id="R9839342601494d6d" /><Relationship Type="http://schemas.openxmlformats.org/officeDocument/2006/relationships/slide" Target="/ppt/slides/slide17.xml" Id="Rac05c9d3386a4f5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1cb22103600452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a1d0e82c0a44eac" /><Relationship Type="http://schemas.openxmlformats.org/officeDocument/2006/relationships/notesMaster" Target="/ppt/notesMasters/notesMaster1.xml" Id="R0667000534ea4c5e" /></Relationships>
</file>

<file path=ppt/notesSlides/_rels/notesSlide2.xml.rels>&#65279;<?xml version="1.0" encoding="utf-8"?><Relationships xmlns="http://schemas.openxmlformats.org/package/2006/relationships"><Relationship Type="http://schemas.openxmlformats.org/officeDocument/2006/relationships/slide" Target="/ppt/slides/slide2.xml" Id="R904dd2545850452c" /><Relationship Type="http://schemas.openxmlformats.org/officeDocument/2006/relationships/notesMaster" Target="/ppt/notesMasters/notesMaster1.xml" Id="R940fa6747b2d4fd7" /></Relationships>
</file>

<file path=ppt/notesSlides/_rels/notesSlide3.xml.rels>&#65279;<?xml version="1.0" encoding="utf-8"?><Relationships xmlns="http://schemas.openxmlformats.org/package/2006/relationships"><Relationship Type="http://schemas.openxmlformats.org/officeDocument/2006/relationships/slide" Target="/ppt/slides/slide3.xml" Id="R1d55a3d9aed447ef" /><Relationship Type="http://schemas.openxmlformats.org/officeDocument/2006/relationships/notesMaster" Target="/ppt/notesMasters/notesMaster1.xml" Id="R91f9c785482a4315" /></Relationships>
</file>

<file path=ppt/notesSlides/_rels/notesSlide4.xml.rels>&#65279;<?xml version="1.0" encoding="utf-8"?><Relationships xmlns="http://schemas.openxmlformats.org/package/2006/relationships"><Relationship Type="http://schemas.openxmlformats.org/officeDocument/2006/relationships/slide" Target="/ppt/slides/slide4.xml" Id="R117eae71d2f34533" /><Relationship Type="http://schemas.openxmlformats.org/officeDocument/2006/relationships/notesMaster" Target="/ppt/notesMasters/notesMaster1.xml" Id="R39cc09c011de4036" /></Relationships>
</file>

<file path=ppt/notesSlides/_rels/notesSlide5.xml.rels>&#65279;<?xml version="1.0" encoding="utf-8"?><Relationships xmlns="http://schemas.openxmlformats.org/package/2006/relationships"><Relationship Type="http://schemas.openxmlformats.org/officeDocument/2006/relationships/slide" Target="/ppt/slides/slide5.xml" Id="Rd121914a65f94441" /><Relationship Type="http://schemas.openxmlformats.org/officeDocument/2006/relationships/notesMaster" Target="/ppt/notesMasters/notesMaster1.xml" Id="R1b8c3812b6704c77" /></Relationships>
</file>

<file path=ppt/notesSlides/_rels/notesSlide6.xml.rels>&#65279;<?xml version="1.0" encoding="utf-8"?><Relationships xmlns="http://schemas.openxmlformats.org/package/2006/relationships"><Relationship Type="http://schemas.openxmlformats.org/officeDocument/2006/relationships/slide" Target="/ppt/slides/slide6.xml" Id="R1b055ef76df54cb5" /><Relationship Type="http://schemas.openxmlformats.org/officeDocument/2006/relationships/notesMaster" Target="/ppt/notesMasters/notesMaster1.xml" Id="Rd300a17defae4a7c" /></Relationships>
</file>

<file path=ppt/notesSlides/_rels/notesSlide7.xml.rels>&#65279;<?xml version="1.0" encoding="utf-8"?><Relationships xmlns="http://schemas.openxmlformats.org/package/2006/relationships"><Relationship Type="http://schemas.openxmlformats.org/officeDocument/2006/relationships/slide" Target="/ppt/slides/slide7.xml" Id="R2c1fbb52e66f4d03" /><Relationship Type="http://schemas.openxmlformats.org/officeDocument/2006/relationships/notesMaster" Target="/ppt/notesMasters/notesMaster1.xml" Id="R08282a31396049e9" /></Relationships>
</file>

<file path=ppt/notesSlides/_rels/notesSlide8.xml.rels>&#65279;<?xml version="1.0" encoding="utf-8"?><Relationships xmlns="http://schemas.openxmlformats.org/package/2006/relationships"><Relationship Type="http://schemas.openxmlformats.org/officeDocument/2006/relationships/slide" Target="/ppt/slides/slide8.xml" Id="R1c8113d0d0c442ef" /><Relationship Type="http://schemas.openxmlformats.org/officeDocument/2006/relationships/notesMaster" Target="/ppt/notesMasters/notesMaster1.xml" Id="R7664197f86c541a9" /></Relationships>
</file>

<file path=ppt/notesSlides/_rels/notesSlide9.xml.rels>&#65279;<?xml version="1.0" encoding="utf-8"?><Relationships xmlns="http://schemas.openxmlformats.org/package/2006/relationships"><Relationship Type="http://schemas.openxmlformats.org/officeDocument/2006/relationships/slide" Target="/ppt/slides/slide9.xml" Id="R991415b0233140ed" /><Relationship Type="http://schemas.openxmlformats.org/officeDocument/2006/relationships/notesMaster" Target="/ppt/notesMasters/notesMaster1.xml" Id="R68898110803d484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f4d13f645ae4ff5" /><Relationship Type="http://schemas.openxmlformats.org/officeDocument/2006/relationships/notesMaster" Target="/ppt/notesMasters/notesMaster1.xml" Id="Rffc165caba644c1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d016f01b09a4a5c" /><Relationship Type="http://schemas.openxmlformats.org/officeDocument/2006/relationships/notesMaster" Target="/ppt/notesMasters/notesMaster1.xml" Id="R0b1c8881913b490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689a085e14f4862" /><Relationship Type="http://schemas.openxmlformats.org/officeDocument/2006/relationships/notesMaster" Target="/ppt/notesMasters/notesMaster1.xml" Id="R350c7f6559f2443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c38f3a6f1e24203" /><Relationship Type="http://schemas.openxmlformats.org/officeDocument/2006/relationships/notesMaster" Target="/ppt/notesMasters/notesMaster1.xml" Id="R8297f1e9dd95430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3cbf1eaee4d42d1" /><Relationship Type="http://schemas.openxmlformats.org/officeDocument/2006/relationships/notesMaster" Target="/ppt/notesMasters/notesMaster1.xml" Id="R776bdc80ef7542d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85221c9fb7d4c6f" /><Relationship Type="http://schemas.openxmlformats.org/officeDocument/2006/relationships/notesMaster" Target="/ppt/notesMasters/notesMaster1.xml" Id="Rb09fb737b096421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5e9a7c5bcae4d5c" /><Relationship Type="http://schemas.openxmlformats.org/officeDocument/2006/relationships/notesMaster" Target="/ppt/notesMasters/notesMaster1.xml" Id="R2177960af1fa43f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9696bd62dc64fab" /><Relationship Type="http://schemas.openxmlformats.org/officeDocument/2006/relationships/notesMaster" Target="/ppt/notesMasters/notesMaster1.xml" Id="R3654de7aa9fb415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77b668b6ca2436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ba3f528c92b46a9" /><Relationship Type="http://schemas.openxmlformats.org/officeDocument/2006/relationships/slideLayout" Target="/ppt/slideLayouts/slideLayout1.xml" Id="R48674be5d3da444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8674be5d3da444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b7f89a6e97c49ab" /><Relationship Type="http://schemas.openxmlformats.org/officeDocument/2006/relationships/notesSlide" Target="/ppt/notesSlides/notesSlide1.xml" Id="R0d6eb759e7a64ec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86ef8ffe5c9465c" /><Relationship Type="http://schemas.openxmlformats.org/officeDocument/2006/relationships/notesSlide" Target="/ppt/notesSlides/notesSlide2.xml" Id="R60fb240777284a2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8cb0f1aef224f10" /><Relationship Type="http://schemas.openxmlformats.org/officeDocument/2006/relationships/notesSlide" Target="/ppt/notesSlides/notesSlide3.xml" Id="R15f386c16aa04c3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e991ebf3cda4f38" /><Relationship Type="http://schemas.openxmlformats.org/officeDocument/2006/relationships/image" Target="/ppt/media/image.png" Id="Rb2781d92ac6f4ae2" /><Relationship Type="http://schemas.openxmlformats.org/officeDocument/2006/relationships/notesSlide" Target="/ppt/notesSlides/notesSlide4.xml" Id="R1dac4e2104a24e8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7ad34bef13a4fe2" /><Relationship Type="http://schemas.openxmlformats.org/officeDocument/2006/relationships/image" Target="/ppt/media/image2.png" Id="Rd48cbabb66624634" /><Relationship Type="http://schemas.openxmlformats.org/officeDocument/2006/relationships/notesSlide" Target="/ppt/notesSlides/notesSlide5.xml" Id="R2e8c37f00fc64e0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365a6d753b84861" /><Relationship Type="http://schemas.openxmlformats.org/officeDocument/2006/relationships/image" Target="/ppt/media/image3.png" Id="R2e63199a85354e8a" /><Relationship Type="http://schemas.openxmlformats.org/officeDocument/2006/relationships/image" Target="/ppt/media/image4.png" Id="R285caf0581ef4807" /><Relationship Type="http://schemas.openxmlformats.org/officeDocument/2006/relationships/notesSlide" Target="/ppt/notesSlides/notesSlide6.xml" Id="R8aa0604b026046e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7395e4b3bf04574" /><Relationship Type="http://schemas.openxmlformats.org/officeDocument/2006/relationships/image" Target="/ppt/media/image5.png" Id="R041723920c6f4a3a" /><Relationship Type="http://schemas.openxmlformats.org/officeDocument/2006/relationships/notesSlide" Target="/ppt/notesSlides/notesSlide7.xml" Id="R73ba1cf27a6b457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a08fce45e52473c" /><Relationship Type="http://schemas.openxmlformats.org/officeDocument/2006/relationships/image" Target="/ppt/media/image6.png" Id="Rb6097a288f9e44d8" /><Relationship Type="http://schemas.openxmlformats.org/officeDocument/2006/relationships/notesSlide" Target="/ppt/notesSlides/notesSlide8.xml" Id="R67de4e235a0749c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78fa1815553480e" /><Relationship Type="http://schemas.openxmlformats.org/officeDocument/2006/relationships/image" Target="/ppt/media/image7.png" Id="R143e6562c1864d33" /><Relationship Type="http://schemas.openxmlformats.org/officeDocument/2006/relationships/notesSlide" Target="/ppt/notesSlides/notesSlide9.xml" Id="R8b8d4a5206b74bd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091a2a53cd14d06" /><Relationship Type="http://schemas.openxmlformats.org/officeDocument/2006/relationships/notesSlide" Target="/ppt/notesSlides/notesSlide10.xml" Id="Ra38f3d1bc80843c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298770516414043" /><Relationship Type="http://schemas.openxmlformats.org/officeDocument/2006/relationships/notesSlide" Target="/ppt/notesSlides/notesSlide11.xml" Id="R602b16c4f372424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83f1c1a1eac403e" /><Relationship Type="http://schemas.openxmlformats.org/officeDocument/2006/relationships/notesSlide" Target="/ppt/notesSlides/notesSlide12.xml" Id="R5461247097114e4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f157f32ac044f7d" /><Relationship Type="http://schemas.openxmlformats.org/officeDocument/2006/relationships/image" Target="/ppt/media/image8.png" Id="Rdb4ccd48a1ef407b" /><Relationship Type="http://schemas.openxmlformats.org/officeDocument/2006/relationships/notesSlide" Target="/ppt/notesSlides/notesSlide13.xml" Id="R805dc781805c4b8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d677805a3e44c0b" /><Relationship Type="http://schemas.openxmlformats.org/officeDocument/2006/relationships/image" Target="/ppt/media/image9.png" Id="R3d44d20a57bd4082" /><Relationship Type="http://schemas.openxmlformats.org/officeDocument/2006/relationships/notesSlide" Target="/ppt/notesSlides/notesSlide14.xml" Id="R6b119629e5c2439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9a3edd0bd9b4ddf" /><Relationship Type="http://schemas.openxmlformats.org/officeDocument/2006/relationships/image" Target="/ppt/media/image10.png" Id="R3bb354eaefd94b65" /><Relationship Type="http://schemas.openxmlformats.org/officeDocument/2006/relationships/image" Target="/ppt/media/image11.png" Id="R7c7901c779094e86" /><Relationship Type="http://schemas.openxmlformats.org/officeDocument/2006/relationships/notesSlide" Target="/ppt/notesSlides/notesSlide15.xml" Id="R889d4ef25766474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e04ce6712d146e7" /><Relationship Type="http://schemas.openxmlformats.org/officeDocument/2006/relationships/image" Target="/ppt/media/image12.png" Id="R56ce0e7682184027" /><Relationship Type="http://schemas.openxmlformats.org/officeDocument/2006/relationships/notesSlide" Target="/ppt/notesSlides/notesSlide16.xml" Id="R00608e2643b8484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3347bcef7f44430" /><Relationship Type="http://schemas.openxmlformats.org/officeDocument/2006/relationships/notesSlide" Target="/ppt/notesSlides/notesSlide17.xml" Id="Rc3d0da7aebdf46b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2DD9EAA-DED7-4A68-9ED9-7E1AFAEFB75B}"/>
              </a:ext>
            </a:extLst>
          </p:cNvPr>
          <p:cNvSpPr>
            <a:spLocks xmlns:a="http://schemas.openxmlformats.org/drawingml/2006/main" noGrp="1"/>
          </p:cNvSpPr>
          <p:nvPr/>
        </p:nvSpPr>
        <p:spPr>
          <a:xfrm xmlns:a="http://schemas.openxmlformats.org/drawingml/2006/main">
            <a:off x="685800" y="4572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555555"/>
                </a:solidFill>
              </a:defRPr>
            </a:pPr>
            <a:r>
              <a:rPr sz="2250" b="1" i="0">
                <a:solidFill>
                  <a:srgbClr val="555555"/>
                </a:solidFill>
              </a:rPr>
              <a:t>Gen5.4</a:t>
            </a:r>
          </a:p>
        </p:txBody>
      </p:sp>
      <p:sp>
        <p:nvSpPr>
          <p:cNvPr id="2" name="">
            <a:extLst xmlns:a="http://schemas.openxmlformats.org/drawingml/2006/main">
              <a:ext uri="{FF2B5EF4-FFF2-40B4-BE49-F238E27FC236}">
                <a16:creationId xmlns:a16="http://schemas.microsoft.com/office/drawing/2014/main" id="{74D4798E-90B8-4E56-8BD3-53ED7F5EFF2A}"/>
              </a:ext>
            </a:extLst>
          </p:cNvPr>
          <p:cNvSpPr>
            <a:spLocks xmlns:a="http://schemas.openxmlformats.org/drawingml/2006/main" noGrp="1"/>
          </p:cNvSpPr>
          <p:nvPr/>
        </p:nvSpPr>
        <p:spPr>
          <a:xfrm xmlns:a="http://schemas.openxmlformats.org/drawingml/2006/main">
            <a:off x="685800" y="1543050"/>
            <a:ext cx="723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650" b="1" i="0">
                <a:solidFill>
                  <a:srgbClr val="000000"/>
                </a:solidFill>
              </a:defRPr>
            </a:pPr>
            <a:r>
              <a:rPr sz="4650" b="1" i="0">
                <a:solidFill>
                  <a:srgbClr val="000000"/>
                </a:solidFill>
              </a:rPr>
              <a:t>ML decision engine</a:t>
            </a:r>
          </a:p>
        </p:txBody>
      </p:sp>
      <p:sp>
        <p:nvSpPr>
          <p:cNvPr id="3" name="">
            <a:extLst xmlns:a="http://schemas.openxmlformats.org/drawingml/2006/main">
              <a:ext uri="{FF2B5EF4-FFF2-40B4-BE49-F238E27FC236}">
                <a16:creationId xmlns:a16="http://schemas.microsoft.com/office/drawing/2014/main" id="{2108B7D8-3993-4710-855B-A725AED2FBA4}"/>
              </a:ext>
            </a:extLst>
          </p:cNvPr>
          <p:cNvSpPr>
            <a:spLocks xmlns:a="http://schemas.openxmlformats.org/drawingml/2006/main" noGrp="1"/>
          </p:cNvSpPr>
          <p:nvPr/>
        </p:nvSpPr>
        <p:spPr>
          <a:xfrm xmlns:a="http://schemas.openxmlformats.org/drawingml/2006/main">
            <a:off x="723900" y="2724150"/>
            <a:ext cx="666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0" i="0">
                <a:solidFill>
                  <a:srgbClr val="222222"/>
                </a:solidFill>
              </a:defRPr>
            </a:pPr>
            <a:r>
              <a:rPr sz="1875" b="0" i="0">
                <a:solidFill>
                  <a:srgbClr val="222222"/>
                </a:solidFill>
              </a:rPr>
              <a:t>Incremental build log: supervised feature and label proof before model fitting.</a:t>
            </a:r>
          </a:p>
        </p:txBody>
      </p:sp>
      <p:sp>
        <p:nvSpPr>
          <p:cNvPr id="4" name="">
            <a:extLst xmlns:a="http://schemas.openxmlformats.org/drawingml/2006/main">
              <a:ext uri="{FF2B5EF4-FFF2-40B4-BE49-F238E27FC236}">
                <a16:creationId xmlns:a16="http://schemas.microsoft.com/office/drawing/2014/main" id="{168EF6BD-500C-47C0-9193-1F14C389A897}"/>
              </a:ext>
            </a:extLst>
          </p:cNvPr>
          <p:cNvSpPr>
            <a:spLocks xmlns:a="http://schemas.openxmlformats.org/drawingml/2006/main" noGrp="1"/>
          </p:cNvSpPr>
          <p:nvPr/>
        </p:nvSpPr>
        <p:spPr>
          <a:xfrm xmlns:a="http://schemas.openxmlformats.org/drawingml/2006/main">
            <a:off x="723900" y="4095750"/>
            <a:ext cx="4953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B2A158B-2493-48D7-B6A6-AF7D1575D2C8}"/>
              </a:ext>
            </a:extLst>
          </p:cNvPr>
          <p:cNvSpPr>
            <a:spLocks xmlns:a="http://schemas.openxmlformats.org/drawingml/2006/main" noGrp="1"/>
          </p:cNvSpPr>
          <p:nvPr/>
        </p:nvSpPr>
        <p:spPr>
          <a:xfrm xmlns:a="http://schemas.openxmlformats.org/drawingml/2006/main">
            <a:off x="723900" y="4400550"/>
            <a:ext cx="6572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555555"/>
                </a:solidFill>
              </a:defRPr>
            </a:pPr>
            <a:r>
              <a:rPr sz="1500" b="0" i="0">
                <a:solidFill>
                  <a:srgbClr val="555555"/>
                </a:solidFill>
              </a:rPr>
              <a:t>ML-P0 packet: adjusted daily OHLCV -&gt; features through close t -&gt; next-open h3 label.</a:t>
            </a:r>
          </a:p>
        </p:txBody>
      </p:sp>
      <p:sp>
        <p:nvSpPr>
          <p:cNvPr id="6" name="">
            <a:extLst xmlns:a="http://schemas.openxmlformats.org/drawingml/2006/main">
              <a:ext uri="{FF2B5EF4-FFF2-40B4-BE49-F238E27FC236}">
                <a16:creationId xmlns:a16="http://schemas.microsoft.com/office/drawing/2014/main" id="{531B1FE1-037C-4E09-93FF-0967BE4B99BB}"/>
              </a:ext>
            </a:extLst>
          </p:cNvPr>
          <p:cNvSpPr>
            <a:spLocks xmlns:a="http://schemas.openxmlformats.org/drawingml/2006/main" noGrp="1"/>
          </p:cNvSpPr>
          <p:nvPr/>
        </p:nvSpPr>
        <p:spPr>
          <a:xfrm xmlns:a="http://schemas.openxmlformats.org/drawingml/2006/main">
            <a:off x="8134350" y="0"/>
            <a:ext cx="405765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0645951D-59D7-481A-94F5-A566A74D08CD}"/>
              </a:ext>
            </a:extLst>
          </p:cNvPr>
          <p:cNvSpPr>
            <a:spLocks xmlns:a="http://schemas.openxmlformats.org/drawingml/2006/main" noGrp="1"/>
          </p:cNvSpPr>
          <p:nvPr/>
        </p:nvSpPr>
        <p:spPr>
          <a:xfrm xmlns:a="http://schemas.openxmlformats.org/drawingml/2006/main">
            <a:off x="8572500" y="2362200"/>
            <a:ext cx="2476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i="0">
                <a:solidFill>
                  <a:srgbClr val="000000"/>
                </a:solidFill>
              </a:defRPr>
            </a:pPr>
            <a:r>
              <a:rPr sz="2100" b="1" i="0">
                <a:solidFill>
                  <a:srgbClr val="000000"/>
                </a:solidFill>
              </a:rPr>
              <a:t>Research only</a:t>
            </a:r>
          </a:p>
        </p:txBody>
      </p:sp>
      <p:sp>
        <p:nvSpPr>
          <p:cNvPr id="8" name="">
            <a:extLst xmlns:a="http://schemas.openxmlformats.org/drawingml/2006/main">
              <a:ext uri="{FF2B5EF4-FFF2-40B4-BE49-F238E27FC236}">
                <a16:creationId xmlns:a16="http://schemas.microsoft.com/office/drawing/2014/main" id="{B5F49E97-235D-43EA-BFA4-2AA41194BC17}"/>
              </a:ext>
            </a:extLst>
          </p:cNvPr>
          <p:cNvSpPr>
            <a:spLocks xmlns:a="http://schemas.openxmlformats.org/drawingml/2006/main" noGrp="1"/>
          </p:cNvSpPr>
          <p:nvPr/>
        </p:nvSpPr>
        <p:spPr>
          <a:xfrm xmlns:a="http://schemas.openxmlformats.org/drawingml/2006/main">
            <a:off x="8572500" y="3009900"/>
            <a:ext cx="2571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No model fit</a:t>
            </a:r>
          </a:p>
          <a:p xmlns:a="http://schemas.openxmlformats.org/drawingml/2006/main">
            <a:pPr algn="l">
              <a:defRPr sz="1800" b="0" i="0">
                <a:solidFill>
                  <a:srgbClr val="222222"/>
                </a:solidFill>
              </a:defRPr>
            </a:pPr>
            <a:r>
              <a:rPr sz="1800" b="0" i="0">
                <a:solidFill>
                  <a:srgbClr val="222222"/>
                </a:solidFill>
              </a:rPr>
              <a:t>No live bridge change</a:t>
            </a:r>
          </a:p>
          <a:p xmlns:a="http://schemas.openxmlformats.org/drawingml/2006/main">
            <a:pPr algn="l">
              <a:defRPr sz="1800" b="0" i="0">
                <a:solidFill>
                  <a:srgbClr val="222222"/>
                </a:solidFill>
              </a:defRPr>
            </a:pPr>
            <a:r>
              <a:rPr sz="1800" b="0" i="0">
                <a:solidFill>
                  <a:srgbClr val="222222"/>
                </a:solidFill>
              </a:rPr>
              <a:t>No allocation evidence</a:t>
            </a:r>
          </a:p>
        </p:txBody>
      </p:sp>
    </p:spTree>
    <p:extLst>
      <p:ext uri="{BB962C8B-B14F-4D97-AF65-F5344CB8AC3E}">
        <p14:creationId xmlns:p14="http://schemas.microsoft.com/office/powerpoint/2010/main" val="174162092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36542FA-F233-4D13-B547-F790B39EB006}"/>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98AA86FC-52B0-4F43-B0A0-88CB7483313E}"/>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PCA work taught us where to aim the ML fork</a:t>
            </a:r>
          </a:p>
        </p:txBody>
      </p:sp>
      <p:sp>
        <p:nvSpPr>
          <p:cNvPr id="3" name="">
            <a:extLst xmlns:a="http://schemas.openxmlformats.org/drawingml/2006/main">
              <a:ext uri="{FF2B5EF4-FFF2-40B4-BE49-F238E27FC236}">
                <a16:creationId xmlns:a16="http://schemas.microsoft.com/office/drawing/2014/main" id="{E2D7AF07-2065-454F-B243-B3F7F8DD9F31}"/>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5839C31-D04D-41CE-96C0-64F2392A2050}"/>
              </a:ext>
            </a:extLst>
          </p:cNvPr>
          <p:cNvSpPr>
            <a:spLocks xmlns:a="http://schemas.openxmlformats.org/drawingml/2006/main" noGrp="1"/>
          </p:cNvSpPr>
          <p:nvPr/>
        </p:nvSpPr>
        <p:spPr>
          <a:xfrm xmlns:a="http://schemas.openxmlformats.org/drawingml/2006/main">
            <a:off x="876300" y="21050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5" name="">
            <a:extLst xmlns:a="http://schemas.openxmlformats.org/drawingml/2006/main">
              <a:ext uri="{FF2B5EF4-FFF2-40B4-BE49-F238E27FC236}">
                <a16:creationId xmlns:a16="http://schemas.microsoft.com/office/drawing/2014/main" id="{B250E0EF-7F93-4459-A211-4CFE69A12981}"/>
              </a:ext>
            </a:extLst>
          </p:cNvPr>
          <p:cNvSpPr>
            <a:spLocks xmlns:a="http://schemas.openxmlformats.org/drawingml/2006/main" noGrp="1"/>
          </p:cNvSpPr>
          <p:nvPr/>
        </p:nvSpPr>
        <p:spPr>
          <a:xfrm xmlns:a="http://schemas.openxmlformats.org/drawingml/2006/main">
            <a:off x="1143000" y="20955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PCA states contained useful exposure information, especially in state-only diagnostics.</a:t>
            </a:r>
          </a:p>
        </p:txBody>
      </p:sp>
      <p:sp>
        <p:nvSpPr>
          <p:cNvPr id="6" name="">
            <a:extLst xmlns:a="http://schemas.openxmlformats.org/drawingml/2006/main">
              <a:ext uri="{FF2B5EF4-FFF2-40B4-BE49-F238E27FC236}">
                <a16:creationId xmlns:a16="http://schemas.microsoft.com/office/drawing/2014/main" id="{5BCB7FBC-677F-437E-93EB-CD384D83AF80}"/>
              </a:ext>
            </a:extLst>
          </p:cNvPr>
          <p:cNvSpPr>
            <a:spLocks xmlns:a="http://schemas.openxmlformats.org/drawingml/2006/main" noGrp="1"/>
          </p:cNvSpPr>
          <p:nvPr/>
        </p:nvSpPr>
        <p:spPr>
          <a:xfrm xmlns:a="http://schemas.openxmlformats.org/drawingml/2006/main">
            <a:off x="876300" y="2962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7" name="">
            <a:extLst xmlns:a="http://schemas.openxmlformats.org/drawingml/2006/main">
              <a:ext uri="{FF2B5EF4-FFF2-40B4-BE49-F238E27FC236}">
                <a16:creationId xmlns:a16="http://schemas.microsoft.com/office/drawing/2014/main" id="{9DEDB69F-E2E1-418B-AD5A-A33102B57D37}"/>
              </a:ext>
            </a:extLst>
          </p:cNvPr>
          <p:cNvSpPr>
            <a:spLocks xmlns:a="http://schemas.openxmlformats.org/drawingml/2006/main" noGrp="1"/>
          </p:cNvSpPr>
          <p:nvPr/>
        </p:nvSpPr>
        <p:spPr>
          <a:xfrm xmlns:a="http://schemas.openxmlformats.org/drawingml/2006/main">
            <a:off x="1143000" y="29527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The same states still overparticipated in 2022 and missed too much early upside in rebound windows.</a:t>
            </a:r>
          </a:p>
        </p:txBody>
      </p:sp>
      <p:sp>
        <p:nvSpPr>
          <p:cNvPr id="8" name="">
            <a:extLst xmlns:a="http://schemas.openxmlformats.org/drawingml/2006/main">
              <a:ext uri="{FF2B5EF4-FFF2-40B4-BE49-F238E27FC236}">
                <a16:creationId xmlns:a16="http://schemas.microsoft.com/office/drawing/2014/main" id="{1C7143CA-8817-4B70-967B-FC3C5C42BC77}"/>
              </a:ext>
            </a:extLst>
          </p:cNvPr>
          <p:cNvSpPr>
            <a:spLocks xmlns:a="http://schemas.openxmlformats.org/drawingml/2006/main" noGrp="1"/>
          </p:cNvSpPr>
          <p:nvPr/>
        </p:nvSpPr>
        <p:spPr>
          <a:xfrm xmlns:a="http://schemas.openxmlformats.org/drawingml/2006/main">
            <a:off x="876300" y="38195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9" name="">
            <a:extLst xmlns:a="http://schemas.openxmlformats.org/drawingml/2006/main">
              <a:ext uri="{FF2B5EF4-FFF2-40B4-BE49-F238E27FC236}">
                <a16:creationId xmlns:a16="http://schemas.microsoft.com/office/drawing/2014/main" id="{6E9353EA-877B-42E2-8D32-A03D4691FE17}"/>
              </a:ext>
            </a:extLst>
          </p:cNvPr>
          <p:cNvSpPr>
            <a:spLocks xmlns:a="http://schemas.openxmlformats.org/drawingml/2006/main" noGrp="1"/>
          </p:cNvSpPr>
          <p:nvPr/>
        </p:nvSpPr>
        <p:spPr>
          <a:xfrm xmlns:a="http://schemas.openxmlformats.org/drawingml/2006/main">
            <a:off x="1143000" y="38100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Gen5.4 asks the daily exposure question directly instead of routing through a technical strategy first.</a:t>
            </a:r>
          </a:p>
        </p:txBody>
      </p:sp>
      <p:sp>
        <p:nvSpPr>
          <p:cNvPr id="10" name="">
            <a:extLst xmlns:a="http://schemas.openxmlformats.org/drawingml/2006/main">
              <a:ext uri="{FF2B5EF4-FFF2-40B4-BE49-F238E27FC236}">
                <a16:creationId xmlns:a16="http://schemas.microsoft.com/office/drawing/2014/main" id="{E828698A-FED4-4922-8C52-91F54AB4E579}"/>
              </a:ext>
            </a:extLst>
          </p:cNvPr>
          <p:cNvSpPr>
            <a:spLocks xmlns:a="http://schemas.openxmlformats.org/drawingml/2006/main" noGrp="1"/>
          </p:cNvSpPr>
          <p:nvPr/>
        </p:nvSpPr>
        <p:spPr>
          <a:xfrm xmlns:a="http://schemas.openxmlformats.org/drawingml/2006/main">
            <a:off x="6191250" y="2095500"/>
            <a:ext cx="4762500" cy="609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1" name="">
            <a:extLst xmlns:a="http://schemas.openxmlformats.org/drawingml/2006/main">
              <a:ext uri="{FF2B5EF4-FFF2-40B4-BE49-F238E27FC236}">
                <a16:creationId xmlns:a16="http://schemas.microsoft.com/office/drawing/2014/main" id="{87E6B38D-58F5-400D-B2B6-B077881A3ABD}"/>
              </a:ext>
            </a:extLst>
          </p:cNvPr>
          <p:cNvSpPr>
            <a:spLocks xmlns:a="http://schemas.openxmlformats.org/drawingml/2006/main" noGrp="1"/>
          </p:cNvSpPr>
          <p:nvPr/>
        </p:nvSpPr>
        <p:spPr>
          <a:xfrm xmlns:a="http://schemas.openxmlformats.org/drawingml/2006/main">
            <a:off x="6191250" y="3162300"/>
            <a:ext cx="4762500" cy="609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2" name="">
            <a:extLst xmlns:a="http://schemas.openxmlformats.org/drawingml/2006/main">
              <a:ext uri="{FF2B5EF4-FFF2-40B4-BE49-F238E27FC236}">
                <a16:creationId xmlns:a16="http://schemas.microsoft.com/office/drawing/2014/main" id="{30D3DFC3-3A91-4721-A77F-628DA1591DED}"/>
              </a:ext>
            </a:extLst>
          </p:cNvPr>
          <p:cNvSpPr>
            <a:spLocks xmlns:a="http://schemas.openxmlformats.org/drawingml/2006/main" noGrp="1"/>
          </p:cNvSpPr>
          <p:nvPr/>
        </p:nvSpPr>
        <p:spPr>
          <a:xfrm xmlns:a="http://schemas.openxmlformats.org/drawingml/2006/main">
            <a:off x="6191250" y="4229100"/>
            <a:ext cx="4762500" cy="609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E7E9F800-B400-4D11-8EC7-C9616CED9795}"/>
              </a:ext>
            </a:extLst>
          </p:cNvPr>
          <p:cNvSpPr>
            <a:spLocks xmlns:a="http://schemas.openxmlformats.org/drawingml/2006/main" noGrp="1"/>
          </p:cNvSpPr>
          <p:nvPr/>
        </p:nvSpPr>
        <p:spPr>
          <a:xfrm xmlns:a="http://schemas.openxmlformats.org/drawingml/2006/main">
            <a:off x="6534150" y="22669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i="0">
                <a:solidFill>
                  <a:srgbClr val="222222"/>
                </a:solidFill>
              </a:defRPr>
            </a:pPr>
            <a:r>
              <a:rPr sz="1800" b="1" i="0">
                <a:solidFill>
                  <a:srgbClr val="222222"/>
                </a:solidFill>
              </a:rPr>
              <a:t>OHLCV feature table</a:t>
            </a:r>
          </a:p>
        </p:txBody>
      </p:sp>
      <p:sp>
        <p:nvSpPr>
          <p:cNvPr id="14" name="">
            <a:extLst xmlns:a="http://schemas.openxmlformats.org/drawingml/2006/main">
              <a:ext uri="{FF2B5EF4-FFF2-40B4-BE49-F238E27FC236}">
                <a16:creationId xmlns:a16="http://schemas.microsoft.com/office/drawing/2014/main" id="{79948B6A-BADE-4BF8-B8DF-BB211E818ABF}"/>
              </a:ext>
            </a:extLst>
          </p:cNvPr>
          <p:cNvSpPr>
            <a:spLocks xmlns:a="http://schemas.openxmlformats.org/drawingml/2006/main" noGrp="1"/>
          </p:cNvSpPr>
          <p:nvPr/>
        </p:nvSpPr>
        <p:spPr>
          <a:xfrm xmlns:a="http://schemas.openxmlformats.org/drawingml/2006/main">
            <a:off x="6534150" y="33337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i="0">
                <a:solidFill>
                  <a:srgbClr val="222222"/>
                </a:solidFill>
              </a:defRPr>
            </a:pPr>
            <a:r>
              <a:rPr sz="1800" b="1" i="0">
                <a:solidFill>
                  <a:srgbClr val="222222"/>
                </a:solidFill>
              </a:rPr>
              <a:t>Supervised h3 label</a:t>
            </a:r>
          </a:p>
        </p:txBody>
      </p:sp>
      <p:sp>
        <p:nvSpPr>
          <p:cNvPr id="15" name="">
            <a:extLst xmlns:a="http://schemas.openxmlformats.org/drawingml/2006/main">
              <a:ext uri="{FF2B5EF4-FFF2-40B4-BE49-F238E27FC236}">
                <a16:creationId xmlns:a16="http://schemas.microsoft.com/office/drawing/2014/main" id="{C162CA3C-445E-4EAA-9B6D-A672FAD83D07}"/>
              </a:ext>
            </a:extLst>
          </p:cNvPr>
          <p:cNvSpPr>
            <a:spLocks xmlns:a="http://schemas.openxmlformats.org/drawingml/2006/main" noGrp="1"/>
          </p:cNvSpPr>
          <p:nvPr/>
        </p:nvSpPr>
        <p:spPr>
          <a:xfrm xmlns:a="http://schemas.openxmlformats.org/drawingml/2006/main">
            <a:off x="6534150" y="44005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i="0">
                <a:solidFill>
                  <a:srgbClr val="222222"/>
                </a:solidFill>
              </a:defRPr>
            </a:pPr>
            <a:r>
              <a:rPr sz="1800" b="1" i="0">
                <a:solidFill>
                  <a:srgbClr val="222222"/>
                </a:solidFill>
              </a:rPr>
              <a:t>Daily long/flat policy</a:t>
            </a:r>
          </a:p>
        </p:txBody>
      </p:sp>
      <p:sp>
        <p:nvSpPr>
          <p:cNvPr id="16" name="">
            <a:extLst xmlns:a="http://schemas.openxmlformats.org/drawingml/2006/main">
              <a:ext uri="{FF2B5EF4-FFF2-40B4-BE49-F238E27FC236}">
                <a16:creationId xmlns:a16="http://schemas.microsoft.com/office/drawing/2014/main" id="{9D1B2354-CB80-4D3A-AAA4-253B5F40F867}"/>
              </a:ext>
            </a:extLst>
          </p:cNvPr>
          <p:cNvSpPr>
            <a:spLocks xmlns:a="http://schemas.openxmlformats.org/drawingml/2006/main" noGrp="1"/>
          </p:cNvSpPr>
          <p:nvPr/>
        </p:nvSpPr>
        <p:spPr>
          <a:xfrm xmlns:a="http://schemas.openxmlformats.org/drawingml/2006/main">
            <a:off x="6324600" y="5334000"/>
            <a:ext cx="43338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555555"/>
                </a:solidFill>
              </a:defRPr>
            </a:pPr>
            <a:r>
              <a:rPr sz="1500" b="0" i="0">
                <a:solidFill>
                  <a:srgbClr val="555555"/>
                </a:solidFill>
              </a:rPr>
              <a:t>The first build proves the first two boxes only.</a:t>
            </a:r>
          </a:p>
        </p:txBody>
      </p:sp>
    </p:spTree>
    <p:extLst>
      <p:ext uri="{BB962C8B-B14F-4D97-AF65-F5344CB8AC3E}">
        <p14:creationId xmlns:p14="http://schemas.microsoft.com/office/powerpoint/2010/main" val="114574283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C11B574-C1F3-44C2-BFDD-F21961BF1C3E}"/>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A7CB5D9B-0291-4EE9-82E6-2642158D5577}"/>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ML-P0 succeeds only if the table is boringly correct</a:t>
            </a:r>
          </a:p>
        </p:txBody>
      </p:sp>
      <p:sp>
        <p:nvSpPr>
          <p:cNvPr id="3" name="">
            <a:extLst xmlns:a="http://schemas.openxmlformats.org/drawingml/2006/main">
              <a:ext uri="{FF2B5EF4-FFF2-40B4-BE49-F238E27FC236}">
                <a16:creationId xmlns:a16="http://schemas.microsoft.com/office/drawing/2014/main" id="{1D87F613-3AF1-4682-AD3A-060509D7BF5D}"/>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6616A57-8C91-4C73-A3BB-E60F55BB43D8}"/>
              </a:ext>
            </a:extLst>
          </p:cNvPr>
          <p:cNvSpPr>
            <a:spLocks xmlns:a="http://schemas.openxmlformats.org/drawingml/2006/main" noGrp="1"/>
          </p:cNvSpPr>
          <p:nvPr/>
        </p:nvSpPr>
        <p:spPr>
          <a:xfrm xmlns:a="http://schemas.openxmlformats.org/drawingml/2006/main">
            <a:off x="876300" y="2190750"/>
            <a:ext cx="2857500" cy="12001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6D9D3AF4-5757-43E5-A418-F71F569A0FBD}"/>
              </a:ext>
            </a:extLst>
          </p:cNvPr>
          <p:cNvSpPr>
            <a:spLocks xmlns:a="http://schemas.openxmlformats.org/drawingml/2006/main" noGrp="1"/>
          </p:cNvSpPr>
          <p:nvPr/>
        </p:nvSpPr>
        <p:spPr>
          <a:xfrm xmlns:a="http://schemas.openxmlformats.org/drawingml/2006/main">
            <a:off x="1047750" y="2343150"/>
            <a:ext cx="2514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USABLE LABELED ROWS</a:t>
            </a:r>
          </a:p>
        </p:txBody>
      </p:sp>
      <p:sp>
        <p:nvSpPr>
          <p:cNvPr id="6" name="">
            <a:extLst xmlns:a="http://schemas.openxmlformats.org/drawingml/2006/main">
              <a:ext uri="{FF2B5EF4-FFF2-40B4-BE49-F238E27FC236}">
                <a16:creationId xmlns:a16="http://schemas.microsoft.com/office/drawing/2014/main" id="{C6A3C248-60D4-4990-9D39-DBB1829C406B}"/>
              </a:ext>
            </a:extLst>
          </p:cNvPr>
          <p:cNvSpPr>
            <a:spLocks xmlns:a="http://schemas.openxmlformats.org/drawingml/2006/main" noGrp="1"/>
          </p:cNvSpPr>
          <p:nvPr/>
        </p:nvSpPr>
        <p:spPr>
          <a:xfrm xmlns:a="http://schemas.openxmlformats.org/drawingml/2006/main">
            <a:off x="1047750" y="259080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22,440</a:t>
            </a:r>
          </a:p>
        </p:txBody>
      </p:sp>
      <p:sp>
        <p:nvSpPr>
          <p:cNvPr id="7" name="">
            <a:extLst xmlns:a="http://schemas.openxmlformats.org/drawingml/2006/main">
              <a:ext uri="{FF2B5EF4-FFF2-40B4-BE49-F238E27FC236}">
                <a16:creationId xmlns:a16="http://schemas.microsoft.com/office/drawing/2014/main" id="{7ACC55DD-3E8C-4F28-B518-55C3AC04973A}"/>
              </a:ext>
            </a:extLst>
          </p:cNvPr>
          <p:cNvSpPr>
            <a:spLocks xmlns:a="http://schemas.openxmlformats.org/drawingml/2006/main" noGrp="1"/>
          </p:cNvSpPr>
          <p:nvPr/>
        </p:nvSpPr>
        <p:spPr>
          <a:xfrm xmlns:a="http://schemas.openxmlformats.org/drawingml/2006/main">
            <a:off x="1047750" y="3009900"/>
            <a:ext cx="2514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Rows eligible after fold and horizon filters.</a:t>
            </a:r>
          </a:p>
        </p:txBody>
      </p:sp>
      <p:sp>
        <p:nvSpPr>
          <p:cNvPr id="8" name="">
            <a:extLst xmlns:a="http://schemas.openxmlformats.org/drawingml/2006/main">
              <a:ext uri="{FF2B5EF4-FFF2-40B4-BE49-F238E27FC236}">
                <a16:creationId xmlns:a16="http://schemas.microsoft.com/office/drawing/2014/main" id="{9F403F99-7F34-4602-829A-03CB9FF6A0CE}"/>
              </a:ext>
            </a:extLst>
          </p:cNvPr>
          <p:cNvSpPr>
            <a:spLocks xmlns:a="http://schemas.openxmlformats.org/drawingml/2006/main" noGrp="1"/>
          </p:cNvSpPr>
          <p:nvPr/>
        </p:nvSpPr>
        <p:spPr>
          <a:xfrm xmlns:a="http://schemas.openxmlformats.org/drawingml/2006/main">
            <a:off x="4667250" y="2190750"/>
            <a:ext cx="2857500" cy="12001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874F63C7-771C-454F-9587-47CCD93648EA}"/>
              </a:ext>
            </a:extLst>
          </p:cNvPr>
          <p:cNvSpPr>
            <a:spLocks xmlns:a="http://schemas.openxmlformats.org/drawingml/2006/main" noGrp="1"/>
          </p:cNvSpPr>
          <p:nvPr/>
        </p:nvSpPr>
        <p:spPr>
          <a:xfrm xmlns:a="http://schemas.openxmlformats.org/drawingml/2006/main">
            <a:off x="4838700" y="2343150"/>
            <a:ext cx="2514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SELECTED FEATURES</a:t>
            </a:r>
          </a:p>
        </p:txBody>
      </p:sp>
      <p:sp>
        <p:nvSpPr>
          <p:cNvPr id="10" name="">
            <a:extLst xmlns:a="http://schemas.openxmlformats.org/drawingml/2006/main">
              <a:ext uri="{FF2B5EF4-FFF2-40B4-BE49-F238E27FC236}">
                <a16:creationId xmlns:a16="http://schemas.microsoft.com/office/drawing/2014/main" id="{10B9D2F1-223D-4225-8DC0-EC935AB32A6B}"/>
              </a:ext>
            </a:extLst>
          </p:cNvPr>
          <p:cNvSpPr>
            <a:spLocks xmlns:a="http://schemas.openxmlformats.org/drawingml/2006/main" noGrp="1"/>
          </p:cNvSpPr>
          <p:nvPr/>
        </p:nvSpPr>
        <p:spPr>
          <a:xfrm xmlns:a="http://schemas.openxmlformats.org/drawingml/2006/main">
            <a:off x="4838700" y="259080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40</a:t>
            </a:r>
          </a:p>
        </p:txBody>
      </p:sp>
      <p:sp>
        <p:nvSpPr>
          <p:cNvPr id="11" name="">
            <a:extLst xmlns:a="http://schemas.openxmlformats.org/drawingml/2006/main">
              <a:ext uri="{FF2B5EF4-FFF2-40B4-BE49-F238E27FC236}">
                <a16:creationId xmlns:a16="http://schemas.microsoft.com/office/drawing/2014/main" id="{E10288E7-C5CD-42FB-8ED6-33039496AEDD}"/>
              </a:ext>
            </a:extLst>
          </p:cNvPr>
          <p:cNvSpPr>
            <a:spLocks xmlns:a="http://schemas.openxmlformats.org/drawingml/2006/main" noGrp="1"/>
          </p:cNvSpPr>
          <p:nvPr/>
        </p:nvSpPr>
        <p:spPr>
          <a:xfrm xmlns:a="http://schemas.openxmlformats.org/drawingml/2006/main">
            <a:off x="4838700" y="3009900"/>
            <a:ext cx="2514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PCA-inspired plus explicit OHLCV additions.</a:t>
            </a:r>
          </a:p>
        </p:txBody>
      </p:sp>
      <p:sp>
        <p:nvSpPr>
          <p:cNvPr id="12" name="">
            <a:extLst xmlns:a="http://schemas.openxmlformats.org/drawingml/2006/main">
              <a:ext uri="{FF2B5EF4-FFF2-40B4-BE49-F238E27FC236}">
                <a16:creationId xmlns:a16="http://schemas.microsoft.com/office/drawing/2014/main" id="{800C4630-44AC-4DA9-B90B-B460F1B27BB6}"/>
              </a:ext>
            </a:extLst>
          </p:cNvPr>
          <p:cNvSpPr>
            <a:spLocks xmlns:a="http://schemas.openxmlformats.org/drawingml/2006/main" noGrp="1"/>
          </p:cNvSpPr>
          <p:nvPr/>
        </p:nvSpPr>
        <p:spPr>
          <a:xfrm xmlns:a="http://schemas.openxmlformats.org/drawingml/2006/main">
            <a:off x="8458200" y="2190750"/>
            <a:ext cx="2857500" cy="12001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10C2F5D8-D422-41F7-BF1F-01D5C340A4CB}"/>
              </a:ext>
            </a:extLst>
          </p:cNvPr>
          <p:cNvSpPr>
            <a:spLocks xmlns:a="http://schemas.openxmlformats.org/drawingml/2006/main" noGrp="1"/>
          </p:cNvSpPr>
          <p:nvPr/>
        </p:nvSpPr>
        <p:spPr>
          <a:xfrm xmlns:a="http://schemas.openxmlformats.org/drawingml/2006/main">
            <a:off x="8629650" y="2343150"/>
            <a:ext cx="2514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LEAKAGE AUDIT</a:t>
            </a:r>
          </a:p>
        </p:txBody>
      </p:sp>
      <p:sp>
        <p:nvSpPr>
          <p:cNvPr id="14" name="">
            <a:extLst xmlns:a="http://schemas.openxmlformats.org/drawingml/2006/main">
              <a:ext uri="{FF2B5EF4-FFF2-40B4-BE49-F238E27FC236}">
                <a16:creationId xmlns:a16="http://schemas.microsoft.com/office/drawing/2014/main" id="{30B92D43-FD4C-450D-9C1F-7DF0B33ADF71}"/>
              </a:ext>
            </a:extLst>
          </p:cNvPr>
          <p:cNvSpPr>
            <a:spLocks xmlns:a="http://schemas.openxmlformats.org/drawingml/2006/main" noGrp="1"/>
          </p:cNvSpPr>
          <p:nvPr/>
        </p:nvSpPr>
        <p:spPr>
          <a:xfrm xmlns:a="http://schemas.openxmlformats.org/drawingml/2006/main">
            <a:off x="8629650" y="259080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15" name="">
            <a:extLst xmlns:a="http://schemas.openxmlformats.org/drawingml/2006/main">
              <a:ext uri="{FF2B5EF4-FFF2-40B4-BE49-F238E27FC236}">
                <a16:creationId xmlns:a16="http://schemas.microsoft.com/office/drawing/2014/main" id="{C2CA55F2-5160-42FD-8A8F-D749DCEFA3CD}"/>
              </a:ext>
            </a:extLst>
          </p:cNvPr>
          <p:cNvSpPr>
            <a:spLocks xmlns:a="http://schemas.openxmlformats.org/drawingml/2006/main" noGrp="1"/>
          </p:cNvSpPr>
          <p:nvPr/>
        </p:nvSpPr>
        <p:spPr>
          <a:xfrm xmlns:a="http://schemas.openxmlformats.org/drawingml/2006/main">
            <a:off x="8629650" y="3009900"/>
            <a:ext cx="2514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TRAIN labels stay inside TRAIN; OOS labels stay inside OOS.</a:t>
            </a:r>
          </a:p>
        </p:txBody>
      </p:sp>
      <p:sp>
        <p:nvSpPr>
          <p:cNvPr id="16" name="">
            <a:extLst xmlns:a="http://schemas.openxmlformats.org/drawingml/2006/main">
              <a:ext uri="{FF2B5EF4-FFF2-40B4-BE49-F238E27FC236}">
                <a16:creationId xmlns:a16="http://schemas.microsoft.com/office/drawing/2014/main" id="{1EDC3B2B-7968-4B81-BE81-0B1A266EE0E0}"/>
              </a:ext>
            </a:extLst>
          </p:cNvPr>
          <p:cNvSpPr>
            <a:spLocks xmlns:a="http://schemas.openxmlformats.org/drawingml/2006/main" noGrp="1"/>
          </p:cNvSpPr>
          <p:nvPr/>
        </p:nvSpPr>
        <p:spPr>
          <a:xfrm xmlns:a="http://schemas.openxmlformats.org/drawingml/2006/main">
            <a:off x="1181100" y="4105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7" name="">
            <a:extLst xmlns:a="http://schemas.openxmlformats.org/drawingml/2006/main">
              <a:ext uri="{FF2B5EF4-FFF2-40B4-BE49-F238E27FC236}">
                <a16:creationId xmlns:a16="http://schemas.microsoft.com/office/drawing/2014/main" id="{8A129D36-D038-419E-93E2-BA40532DB466}"/>
              </a:ext>
            </a:extLst>
          </p:cNvPr>
          <p:cNvSpPr>
            <a:spLocks xmlns:a="http://schemas.openxmlformats.org/drawingml/2006/main" noGrp="1"/>
          </p:cNvSpPr>
          <p:nvPr/>
        </p:nvSpPr>
        <p:spPr>
          <a:xfrm xmlns:a="http://schemas.openxmlformats.org/drawingml/2006/main">
            <a:off x="1447800" y="40957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Features are known after close t.</a:t>
            </a:r>
          </a:p>
        </p:txBody>
      </p:sp>
      <p:sp>
        <p:nvSpPr>
          <p:cNvPr id="18" name="">
            <a:extLst xmlns:a="http://schemas.openxmlformats.org/drawingml/2006/main">
              <a:ext uri="{FF2B5EF4-FFF2-40B4-BE49-F238E27FC236}">
                <a16:creationId xmlns:a16="http://schemas.microsoft.com/office/drawing/2014/main" id="{3AD45CF1-64AB-42E1-A81F-87A2D5FD29C3}"/>
              </a:ext>
            </a:extLst>
          </p:cNvPr>
          <p:cNvSpPr>
            <a:spLocks xmlns:a="http://schemas.openxmlformats.org/drawingml/2006/main" noGrp="1"/>
          </p:cNvSpPr>
          <p:nvPr/>
        </p:nvSpPr>
        <p:spPr>
          <a:xfrm xmlns:a="http://schemas.openxmlformats.org/drawingml/2006/main">
            <a:off x="1181100" y="46767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9" name="">
            <a:extLst xmlns:a="http://schemas.openxmlformats.org/drawingml/2006/main">
              <a:ext uri="{FF2B5EF4-FFF2-40B4-BE49-F238E27FC236}">
                <a16:creationId xmlns:a16="http://schemas.microsoft.com/office/drawing/2014/main" id="{F3986E6B-B807-48ED-91F4-46CD332D4E09}"/>
              </a:ext>
            </a:extLst>
          </p:cNvPr>
          <p:cNvSpPr>
            <a:spLocks xmlns:a="http://schemas.openxmlformats.org/drawingml/2006/main" noGrp="1"/>
          </p:cNvSpPr>
          <p:nvPr/>
        </p:nvSpPr>
        <p:spPr>
          <a:xfrm xmlns:a="http://schemas.openxmlformats.org/drawingml/2006/main">
            <a:off x="1447800" y="46672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Hypothetical execution starts at next open.</a:t>
            </a:r>
          </a:p>
        </p:txBody>
      </p:sp>
      <p:sp>
        <p:nvSpPr>
          <p:cNvPr id="20" name="">
            <a:extLst xmlns:a="http://schemas.openxmlformats.org/drawingml/2006/main">
              <a:ext uri="{FF2B5EF4-FFF2-40B4-BE49-F238E27FC236}">
                <a16:creationId xmlns:a16="http://schemas.microsoft.com/office/drawing/2014/main" id="{B32FF8A3-725A-4BBF-89EE-F53E78CC35A3}"/>
              </a:ext>
            </a:extLst>
          </p:cNvPr>
          <p:cNvSpPr>
            <a:spLocks xmlns:a="http://schemas.openxmlformats.org/drawingml/2006/main" noGrp="1"/>
          </p:cNvSpPr>
          <p:nvPr/>
        </p:nvSpPr>
        <p:spPr>
          <a:xfrm xmlns:a="http://schemas.openxmlformats.org/drawingml/2006/main">
            <a:off x="6191250" y="4105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21" name="">
            <a:extLst xmlns:a="http://schemas.openxmlformats.org/drawingml/2006/main">
              <a:ext uri="{FF2B5EF4-FFF2-40B4-BE49-F238E27FC236}">
                <a16:creationId xmlns:a16="http://schemas.microsoft.com/office/drawing/2014/main" id="{0876B1BC-A436-4FB1-BB4D-A2CBFF9B3948}"/>
              </a:ext>
            </a:extLst>
          </p:cNvPr>
          <p:cNvSpPr>
            <a:spLocks xmlns:a="http://schemas.openxmlformats.org/drawingml/2006/main" noGrp="1"/>
          </p:cNvSpPr>
          <p:nvPr/>
        </p:nvSpPr>
        <p:spPr>
          <a:xfrm xmlns:a="http://schemas.openxmlformats.org/drawingml/2006/main">
            <a:off x="6457950" y="40957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The h3 label ends at close three sessions later.</a:t>
            </a:r>
          </a:p>
        </p:txBody>
      </p:sp>
      <p:sp>
        <p:nvSpPr>
          <p:cNvPr id="22" name="">
            <a:extLst xmlns:a="http://schemas.openxmlformats.org/drawingml/2006/main">
              <a:ext uri="{FF2B5EF4-FFF2-40B4-BE49-F238E27FC236}">
                <a16:creationId xmlns:a16="http://schemas.microsoft.com/office/drawing/2014/main" id="{2BFF81E5-AC0C-4CFA-9B6E-21F1F303FB3A}"/>
              </a:ext>
            </a:extLst>
          </p:cNvPr>
          <p:cNvSpPr>
            <a:spLocks xmlns:a="http://schemas.openxmlformats.org/drawingml/2006/main" noGrp="1"/>
          </p:cNvSpPr>
          <p:nvPr/>
        </p:nvSpPr>
        <p:spPr>
          <a:xfrm xmlns:a="http://schemas.openxmlformats.org/drawingml/2006/main">
            <a:off x="6191250" y="46767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23" name="">
            <a:extLst xmlns:a="http://schemas.openxmlformats.org/drawingml/2006/main">
              <a:ext uri="{FF2B5EF4-FFF2-40B4-BE49-F238E27FC236}">
                <a16:creationId xmlns:a16="http://schemas.microsoft.com/office/drawing/2014/main" id="{BEF7CF42-7C61-43D1-85B3-239D6AD0007D}"/>
              </a:ext>
            </a:extLst>
          </p:cNvPr>
          <p:cNvSpPr>
            <a:spLocks xmlns:a="http://schemas.openxmlformats.org/drawingml/2006/main" noGrp="1"/>
          </p:cNvSpPr>
          <p:nvPr/>
        </p:nvSpPr>
        <p:spPr>
          <a:xfrm xmlns:a="http://schemas.openxmlformats.org/drawingml/2006/main">
            <a:off x="6457950" y="46672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Rows without a complete horizon are excluded from the proof table.</a:t>
            </a:r>
          </a:p>
        </p:txBody>
      </p:sp>
    </p:spTree>
    <p:extLst>
      <p:ext uri="{BB962C8B-B14F-4D97-AF65-F5344CB8AC3E}">
        <p14:creationId xmlns:p14="http://schemas.microsoft.com/office/powerpoint/2010/main" val="28307338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7558621-DBF2-4D73-917B-D15E0817111A}"/>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E5E9B7F3-496E-4356-BC9E-958257962B04}"/>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fold calendar makes the leakage rule visible</a:t>
            </a:r>
          </a:p>
        </p:txBody>
      </p:sp>
      <p:sp>
        <p:nvSpPr>
          <p:cNvPr id="3" name="">
            <a:extLst xmlns:a="http://schemas.openxmlformats.org/drawingml/2006/main">
              <a:ext uri="{FF2B5EF4-FFF2-40B4-BE49-F238E27FC236}">
                <a16:creationId xmlns:a16="http://schemas.microsoft.com/office/drawing/2014/main" id="{95C6FBB8-BA3D-4842-AE40-2D270782464A}"/>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b2781d92ac6f4ae2"/>
          <a:stretch xmlns:a="http://schemas.openxmlformats.org/drawingml/2006/main"/>
        </p:blipFill>
        <p:spPr>
          <a:xfrm xmlns:a="http://schemas.openxmlformats.org/drawingml/2006/main">
            <a:off x="838200" y="2038350"/>
            <a:ext cx="7239000" cy="3619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683C9EE-2243-4DB7-AF8F-03EDED947A7F}"/>
              </a:ext>
            </a:extLst>
          </p:cNvPr>
          <p:cNvSpPr>
            <a:spLocks xmlns:a="http://schemas.openxmlformats.org/drawingml/2006/main" noGrp="1"/>
          </p:cNvSpPr>
          <p:nvPr/>
        </p:nvSpPr>
        <p:spPr>
          <a:xfrm xmlns:a="http://schemas.openxmlformats.org/drawingml/2006/main">
            <a:off x="8629650" y="2133600"/>
            <a:ext cx="228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it matters</a:t>
            </a:r>
          </a:p>
        </p:txBody>
      </p:sp>
      <p:sp>
        <p:nvSpPr>
          <p:cNvPr id="6" name="">
            <a:extLst xmlns:a="http://schemas.openxmlformats.org/drawingml/2006/main">
              <a:ext uri="{FF2B5EF4-FFF2-40B4-BE49-F238E27FC236}">
                <a16:creationId xmlns:a16="http://schemas.microsoft.com/office/drawing/2014/main" id="{21EBB7B0-9EA4-45D5-87A9-5EACBA1F6FB5}"/>
              </a:ext>
            </a:extLst>
          </p:cNvPr>
          <p:cNvSpPr>
            <a:spLocks xmlns:a="http://schemas.openxmlformats.org/drawingml/2006/main" noGrp="1"/>
          </p:cNvSpPr>
          <p:nvPr/>
        </p:nvSpPr>
        <p:spPr>
          <a:xfrm xmlns:a="http://schemas.openxmlformats.org/drawingml/2006/main">
            <a:off x="8629650" y="2628900"/>
            <a:ext cx="23812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A TRAIN example is not eligible unless its future h3 label finishes before the TRAIN/OOS boundary. OOS labels are allowed for inspection, but they never feed model fitting or threshold choice.</a:t>
            </a:r>
          </a:p>
        </p:txBody>
      </p:sp>
    </p:spTree>
    <p:extLst>
      <p:ext uri="{BB962C8B-B14F-4D97-AF65-F5344CB8AC3E}">
        <p14:creationId xmlns:p14="http://schemas.microsoft.com/office/powerpoint/2010/main" val="135963213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062BF1D-E943-43D1-BC96-A2D9D66CCD13}"/>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0FA8E4B3-59D8-42EA-9528-0D837A5E61DC}"/>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OHLCV adds information that close-to-close would discard</a:t>
            </a:r>
          </a:p>
        </p:txBody>
      </p:sp>
      <p:sp>
        <p:nvSpPr>
          <p:cNvPr id="3" name="">
            <a:extLst xmlns:a="http://schemas.openxmlformats.org/drawingml/2006/main">
              <a:ext uri="{FF2B5EF4-FFF2-40B4-BE49-F238E27FC236}">
                <a16:creationId xmlns:a16="http://schemas.microsoft.com/office/drawing/2014/main" id="{1752EB5F-2B85-4D80-9E43-BC85AE4AB711}"/>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d48cbabb66624634"/>
          <a:stretch xmlns:a="http://schemas.openxmlformats.org/drawingml/2006/main"/>
        </p:blipFill>
        <p:spPr>
          <a:xfrm xmlns:a="http://schemas.openxmlformats.org/drawingml/2006/main">
            <a:off x="742950" y="2257791"/>
            <a:ext cx="5810250" cy="3352067"/>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7FFBB2C4-59DB-43F1-9B43-0D588CDABB3A}"/>
              </a:ext>
            </a:extLst>
          </p:cNvPr>
          <p:cNvSpPr>
            <a:spLocks xmlns:a="http://schemas.openxmlformats.org/drawingml/2006/main" noGrp="1"/>
          </p:cNvSpPr>
          <p:nvPr/>
        </p:nvSpPr>
        <p:spPr>
          <a:xfrm xmlns:a="http://schemas.openxmlformats.org/drawingml/2006/main">
            <a:off x="7048500" y="2095500"/>
            <a:ext cx="3619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i="0">
                <a:solidFill>
                  <a:srgbClr val="000000"/>
                </a:solidFill>
              </a:defRPr>
            </a:pPr>
            <a:r>
              <a:rPr sz="2100" b="1" i="0">
                <a:solidFill>
                  <a:srgbClr val="000000"/>
                </a:solidFill>
              </a:rPr>
              <a:t>The first feature table is complete enough to model from.</a:t>
            </a:r>
          </a:p>
        </p:txBody>
      </p:sp>
      <p:sp>
        <p:nvSpPr>
          <p:cNvPr id="6" name="">
            <a:extLst xmlns:a="http://schemas.openxmlformats.org/drawingml/2006/main">
              <a:ext uri="{FF2B5EF4-FFF2-40B4-BE49-F238E27FC236}">
                <a16:creationId xmlns:a16="http://schemas.microsoft.com/office/drawing/2014/main" id="{B128D558-C29B-4E43-B0D5-442ABEF7773D}"/>
              </a:ext>
            </a:extLst>
          </p:cNvPr>
          <p:cNvSpPr>
            <a:spLocks xmlns:a="http://schemas.openxmlformats.org/drawingml/2006/main" noGrp="1"/>
          </p:cNvSpPr>
          <p:nvPr/>
        </p:nvSpPr>
        <p:spPr>
          <a:xfrm xmlns:a="http://schemas.openxmlformats.org/drawingml/2006/main">
            <a:off x="7067550" y="3095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i="0">
                <a:solidFill>
                  <a:srgbClr val="FF6B35"/>
                </a:solidFill>
              </a:defRPr>
            </a:pPr>
            <a:r>
              <a:rPr sz="1500" b="1" i="0">
                <a:solidFill>
                  <a:srgbClr val="FF6B35"/>
                </a:solidFill>
              </a:rPr>
              <a:t>-</a:t>
            </a:r>
          </a:p>
        </p:txBody>
      </p:sp>
      <p:sp>
        <p:nvSpPr>
          <p:cNvPr id="7" name="">
            <a:extLst xmlns:a="http://schemas.openxmlformats.org/drawingml/2006/main">
              <a:ext uri="{FF2B5EF4-FFF2-40B4-BE49-F238E27FC236}">
                <a16:creationId xmlns:a16="http://schemas.microsoft.com/office/drawing/2014/main" id="{FE87E29F-E4A5-4C99-AC38-3EBB0379A1E2}"/>
              </a:ext>
            </a:extLst>
          </p:cNvPr>
          <p:cNvSpPr>
            <a:spLocks xmlns:a="http://schemas.openxmlformats.org/drawingml/2006/main" noGrp="1"/>
          </p:cNvSpPr>
          <p:nvPr/>
        </p:nvSpPr>
        <p:spPr>
          <a:xfrm xmlns:a="http://schemas.openxmlformats.org/drawingml/2006/main">
            <a:off x="7334250" y="3086100"/>
            <a:ext cx="3448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222222"/>
                </a:solidFill>
              </a:defRPr>
            </a:pPr>
            <a:r>
              <a:rPr sz="1500" b="0" i="0">
                <a:solidFill>
                  <a:srgbClr val="222222"/>
                </a:solidFill>
              </a:rPr>
              <a:t>Candle body, wick, gap, range, and volume features are populated across both windows.</a:t>
            </a:r>
          </a:p>
        </p:txBody>
      </p:sp>
      <p:sp>
        <p:nvSpPr>
          <p:cNvPr id="8" name="">
            <a:extLst xmlns:a="http://schemas.openxmlformats.org/drawingml/2006/main">
              <a:ext uri="{FF2B5EF4-FFF2-40B4-BE49-F238E27FC236}">
                <a16:creationId xmlns:a16="http://schemas.microsoft.com/office/drawing/2014/main" id="{1407C223-C106-4223-BADA-30C50F3AB022}"/>
              </a:ext>
            </a:extLst>
          </p:cNvPr>
          <p:cNvSpPr>
            <a:spLocks xmlns:a="http://schemas.openxmlformats.org/drawingml/2006/main" noGrp="1"/>
          </p:cNvSpPr>
          <p:nvPr/>
        </p:nvSpPr>
        <p:spPr>
          <a:xfrm xmlns:a="http://schemas.openxmlformats.org/drawingml/2006/main">
            <a:off x="7067550" y="40671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i="0">
                <a:solidFill>
                  <a:srgbClr val="FF6B35"/>
                </a:solidFill>
              </a:defRPr>
            </a:pPr>
            <a:r>
              <a:rPr sz="1500" b="1" i="0">
                <a:solidFill>
                  <a:srgbClr val="FF6B35"/>
                </a:solidFill>
              </a:rPr>
              <a:t>-</a:t>
            </a:r>
          </a:p>
        </p:txBody>
      </p:sp>
      <p:sp>
        <p:nvSpPr>
          <p:cNvPr id="9" name="">
            <a:extLst xmlns:a="http://schemas.openxmlformats.org/drawingml/2006/main">
              <a:ext uri="{FF2B5EF4-FFF2-40B4-BE49-F238E27FC236}">
                <a16:creationId xmlns:a16="http://schemas.microsoft.com/office/drawing/2014/main" id="{CF15DBFE-3B24-4233-8645-1D7BCCC33DD9}"/>
              </a:ext>
            </a:extLst>
          </p:cNvPr>
          <p:cNvSpPr>
            <a:spLocks xmlns:a="http://schemas.openxmlformats.org/drawingml/2006/main" noGrp="1"/>
          </p:cNvSpPr>
          <p:nvPr/>
        </p:nvSpPr>
        <p:spPr>
          <a:xfrm xmlns:a="http://schemas.openxmlformats.org/drawingml/2006/main">
            <a:off x="7334250" y="4057650"/>
            <a:ext cx="3448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222222"/>
                </a:solidFill>
              </a:defRPr>
            </a:pPr>
            <a:r>
              <a:rPr sz="1500" b="0" i="0">
                <a:solidFill>
                  <a:srgbClr val="222222"/>
                </a:solidFill>
              </a:rPr>
              <a:t>This does not prove alpha. It proves the supervised surface is technically usable.</a:t>
            </a:r>
          </a:p>
        </p:txBody>
      </p:sp>
    </p:spTree>
    <p:extLst>
      <p:ext uri="{BB962C8B-B14F-4D97-AF65-F5344CB8AC3E}">
        <p14:creationId xmlns:p14="http://schemas.microsoft.com/office/powerpoint/2010/main" val="8424871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7A552C9-2C95-4129-8038-484434E3CA8B}"/>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E0314130-4464-482D-9300-51DDD1A85025}"/>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h3 target is balanced enough for a first model test</a:t>
            </a:r>
          </a:p>
        </p:txBody>
      </p:sp>
      <p:sp>
        <p:nvSpPr>
          <p:cNvPr id="3" name="">
            <a:extLst xmlns:a="http://schemas.openxmlformats.org/drawingml/2006/main">
              <a:ext uri="{FF2B5EF4-FFF2-40B4-BE49-F238E27FC236}">
                <a16:creationId xmlns:a16="http://schemas.microsoft.com/office/drawing/2014/main" id="{985557C4-1100-4616-8AB3-5AF8BD78D17F}"/>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2e63199a85354e8a"/>
          <a:stretch xmlns:a="http://schemas.openxmlformats.org/drawingml/2006/main"/>
        </p:blipFill>
        <p:spPr>
          <a:xfrm xmlns:a="http://schemas.openxmlformats.org/drawingml/2006/main">
            <a:off x="723900" y="2423716"/>
            <a:ext cx="5048250" cy="2734469"/>
          </a:xfrm>
          <a:prstGeom xmlns:a="http://schemas.openxmlformats.org/drawingml/2006/main" prst="rect">
            <a:avLst/>
          </a:prstGeom>
        </p:spPr>
      </p:pic>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285caf0581ef4807"/>
          <a:stretch xmlns:a="http://schemas.openxmlformats.org/drawingml/2006/main"/>
        </p:blipFill>
        <p:spPr>
          <a:xfrm xmlns:a="http://schemas.openxmlformats.org/drawingml/2006/main">
            <a:off x="6191250" y="2505075"/>
            <a:ext cx="5143500" cy="2571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6892F3D6-E61A-4ABD-A16F-EA7D39989BC4}"/>
              </a:ext>
            </a:extLst>
          </p:cNvPr>
          <p:cNvSpPr>
            <a:spLocks xmlns:a="http://schemas.openxmlformats.org/drawingml/2006/main" noGrp="1"/>
          </p:cNvSpPr>
          <p:nvPr/>
        </p:nvSpPr>
        <p:spPr>
          <a:xfrm xmlns:a="http://schemas.openxmlformats.org/drawingml/2006/main">
            <a:off x="857250" y="5791200"/>
            <a:ext cx="1000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555555"/>
                </a:solidFill>
              </a:defRPr>
            </a:pPr>
            <a:r>
              <a:rPr sz="1350" b="0" i="0">
                <a:solidFill>
                  <a:srgbClr val="555555"/>
                </a:solidFill>
              </a:rPr>
              <a:t>Mean OOS positive-label rate: 2020 56.6%; 2022 45.6%. Mean OOS h3 return: 2020 1.0%; 2022 -0.6%.</a:t>
            </a:r>
          </a:p>
        </p:txBody>
      </p:sp>
    </p:spTree>
    <p:extLst>
      <p:ext uri="{BB962C8B-B14F-4D97-AF65-F5344CB8AC3E}">
        <p14:creationId xmlns:p14="http://schemas.microsoft.com/office/powerpoint/2010/main" val="214578031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F945AB4-9652-4D23-B473-9DC19589EF78}"/>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E0643663-21DD-4992-93E4-F4ECA1DEF43D}"/>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label matches how an after-close system would trade</a:t>
            </a:r>
          </a:p>
        </p:txBody>
      </p:sp>
      <p:sp>
        <p:nvSpPr>
          <p:cNvPr id="3" name="">
            <a:extLst xmlns:a="http://schemas.openxmlformats.org/drawingml/2006/main">
              <a:ext uri="{FF2B5EF4-FFF2-40B4-BE49-F238E27FC236}">
                <a16:creationId xmlns:a16="http://schemas.microsoft.com/office/drawing/2014/main" id="{3796EC5E-F207-42E4-8C75-9D007C512A3B}"/>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041723920c6f4a3a"/>
          <a:stretch xmlns:a="http://schemas.openxmlformats.org/drawingml/2006/main"/>
        </p:blipFill>
        <p:spPr>
          <a:xfrm xmlns:a="http://schemas.openxmlformats.org/drawingml/2006/main">
            <a:off x="876300" y="2095500"/>
            <a:ext cx="7239000" cy="3619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8057A7B9-6179-41BD-8DF5-D5FC8CF1C6A8}"/>
              </a:ext>
            </a:extLst>
          </p:cNvPr>
          <p:cNvSpPr>
            <a:spLocks xmlns:a="http://schemas.openxmlformats.org/drawingml/2006/main" noGrp="1"/>
          </p:cNvSpPr>
          <p:nvPr/>
        </p:nvSpPr>
        <p:spPr>
          <a:xfrm xmlns:a="http://schemas.openxmlformats.org/drawingml/2006/main">
            <a:off x="8629650" y="21336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222222"/>
                </a:solidFill>
              </a:defRPr>
            </a:pPr>
            <a:r>
              <a:rPr sz="1875" b="1" i="0">
                <a:solidFill>
                  <a:srgbClr val="222222"/>
                </a:solidFill>
              </a:rPr>
              <a:t>Read the markers left to right</a:t>
            </a:r>
          </a:p>
        </p:txBody>
      </p:sp>
      <p:sp>
        <p:nvSpPr>
          <p:cNvPr id="6" name="">
            <a:extLst xmlns:a="http://schemas.openxmlformats.org/drawingml/2006/main">
              <a:ext uri="{FF2B5EF4-FFF2-40B4-BE49-F238E27FC236}">
                <a16:creationId xmlns:a16="http://schemas.microsoft.com/office/drawing/2014/main" id="{416B2653-493C-4521-BB8D-9C36593577C7}"/>
              </a:ext>
            </a:extLst>
          </p:cNvPr>
          <p:cNvSpPr>
            <a:spLocks xmlns:a="http://schemas.openxmlformats.org/drawingml/2006/main" noGrp="1"/>
          </p:cNvSpPr>
          <p:nvPr/>
        </p:nvSpPr>
        <p:spPr>
          <a:xfrm xmlns:a="http://schemas.openxmlformats.org/drawingml/2006/main">
            <a:off x="8629650" y="2667000"/>
            <a:ext cx="2476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Blue is the feature date. Orange is the next open, where a future model would act. Green is the close three sessions later, where the label is measured.</a:t>
            </a:r>
          </a:p>
        </p:txBody>
      </p:sp>
    </p:spTree>
    <p:extLst>
      <p:ext uri="{BB962C8B-B14F-4D97-AF65-F5344CB8AC3E}">
        <p14:creationId xmlns:p14="http://schemas.microsoft.com/office/powerpoint/2010/main" val="176459984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1763562-DC6A-49B1-88D0-B48B6A453911}"/>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A6089CB9-54DF-4506-A248-93C6CFF38369}"/>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Feature strips give us a human audit of what the model will see</a:t>
            </a:r>
          </a:p>
        </p:txBody>
      </p:sp>
      <p:sp>
        <p:nvSpPr>
          <p:cNvPr id="3" name="">
            <a:extLst xmlns:a="http://schemas.openxmlformats.org/drawingml/2006/main">
              <a:ext uri="{FF2B5EF4-FFF2-40B4-BE49-F238E27FC236}">
                <a16:creationId xmlns:a16="http://schemas.microsoft.com/office/drawing/2014/main" id="{123AC082-A088-4B4E-AF3A-D1446AC0B734}"/>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b6097a288f9e44d8"/>
          <a:stretch xmlns:a="http://schemas.openxmlformats.org/drawingml/2006/main"/>
        </p:blipFill>
        <p:spPr>
          <a:xfrm xmlns:a="http://schemas.openxmlformats.org/drawingml/2006/main">
            <a:off x="1170384" y="2038350"/>
            <a:ext cx="6346031" cy="3905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1BA55CEB-AA0D-4A33-A502-E96C60FDE8FA}"/>
              </a:ext>
            </a:extLst>
          </p:cNvPr>
          <p:cNvSpPr>
            <a:spLocks xmlns:a="http://schemas.openxmlformats.org/drawingml/2006/main" noGrp="1"/>
          </p:cNvSpPr>
          <p:nvPr/>
        </p:nvSpPr>
        <p:spPr>
          <a:xfrm xmlns:a="http://schemas.openxmlformats.org/drawingml/2006/main">
            <a:off x="8572500" y="2133600"/>
            <a:ext cx="2619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222222"/>
                </a:solidFill>
              </a:defRPr>
            </a:pPr>
            <a:r>
              <a:rPr sz="1875" b="1" i="0">
                <a:solidFill>
                  <a:srgbClr val="222222"/>
                </a:solidFill>
              </a:rPr>
              <a:t>This is still pre-model evidence.</a:t>
            </a:r>
          </a:p>
        </p:txBody>
      </p:sp>
      <p:sp>
        <p:nvSpPr>
          <p:cNvPr id="6" name="">
            <a:extLst xmlns:a="http://schemas.openxmlformats.org/drawingml/2006/main">
              <a:ext uri="{FF2B5EF4-FFF2-40B4-BE49-F238E27FC236}">
                <a16:creationId xmlns:a16="http://schemas.microsoft.com/office/drawing/2014/main" id="{9D1095F9-DE1D-453D-A8CE-B48598375D70}"/>
              </a:ext>
            </a:extLst>
          </p:cNvPr>
          <p:cNvSpPr>
            <a:spLocks xmlns:a="http://schemas.openxmlformats.org/drawingml/2006/main" noGrp="1"/>
          </p:cNvSpPr>
          <p:nvPr/>
        </p:nvSpPr>
        <p:spPr>
          <a:xfrm xmlns:a="http://schemas.openxmlformats.org/drawingml/2006/main">
            <a:off x="8572500" y="2724150"/>
            <a:ext cx="25717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plot checks that trend, range location, and volume features move in recognizable ways around a hard 2022 tape. The next step is to ask whether a model can combine these signals better than hand-coded states.</a:t>
            </a:r>
          </a:p>
        </p:txBody>
      </p:sp>
    </p:spTree>
    <p:extLst>
      <p:ext uri="{BB962C8B-B14F-4D97-AF65-F5344CB8AC3E}">
        <p14:creationId xmlns:p14="http://schemas.microsoft.com/office/powerpoint/2010/main" val="127105426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5C7D25F-8534-4CA8-8A63-1D7FAFB2C164}"/>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4A87B3F8-240C-4A58-8289-31D2FF30681F}"/>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A univariate audit gives early clues without pretending to be a model</a:t>
            </a:r>
          </a:p>
        </p:txBody>
      </p:sp>
      <p:sp>
        <p:nvSpPr>
          <p:cNvPr id="3" name="">
            <a:extLst xmlns:a="http://schemas.openxmlformats.org/drawingml/2006/main">
              <a:ext uri="{FF2B5EF4-FFF2-40B4-BE49-F238E27FC236}">
                <a16:creationId xmlns:a16="http://schemas.microsoft.com/office/drawing/2014/main" id="{0BBC8194-93C2-40C1-9E80-0C8231F063D1}"/>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143e6562c1864d33"/>
          <a:stretch xmlns:a="http://schemas.openxmlformats.org/drawingml/2006/main"/>
        </p:blipFill>
        <p:spPr>
          <a:xfrm xmlns:a="http://schemas.openxmlformats.org/drawingml/2006/main">
            <a:off x="1208484" y="2038350"/>
            <a:ext cx="6346031" cy="3905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8048E2A4-C1B1-4F8D-B887-50AA7EECD31F}"/>
              </a:ext>
            </a:extLst>
          </p:cNvPr>
          <p:cNvSpPr>
            <a:spLocks xmlns:a="http://schemas.openxmlformats.org/drawingml/2006/main" noGrp="1"/>
          </p:cNvSpPr>
          <p:nvPr/>
        </p:nvSpPr>
        <p:spPr>
          <a:xfrm xmlns:a="http://schemas.openxmlformats.org/drawingml/2006/main">
            <a:off x="8553450" y="21336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222222"/>
                </a:solidFill>
              </a:defRPr>
            </a:pPr>
            <a:r>
              <a:rPr sz="1875" b="1" i="0">
                <a:solidFill>
                  <a:srgbClr val="222222"/>
                </a:solidFill>
              </a:rPr>
              <a:t>What to look for</a:t>
            </a:r>
          </a:p>
        </p:txBody>
      </p:sp>
      <p:sp>
        <p:nvSpPr>
          <p:cNvPr id="6" name="">
            <a:extLst xmlns:a="http://schemas.openxmlformats.org/drawingml/2006/main">
              <a:ext uri="{FF2B5EF4-FFF2-40B4-BE49-F238E27FC236}">
                <a16:creationId xmlns:a16="http://schemas.microsoft.com/office/drawing/2014/main" id="{ADAE09F9-ECE6-4A98-A3CA-328753551038}"/>
              </a:ext>
            </a:extLst>
          </p:cNvPr>
          <p:cNvSpPr>
            <a:spLocks xmlns:a="http://schemas.openxmlformats.org/drawingml/2006/main" noGrp="1"/>
          </p:cNvSpPr>
          <p:nvPr/>
        </p:nvSpPr>
        <p:spPr>
          <a:xfrm xmlns:a="http://schemas.openxmlformats.org/drawingml/2006/main">
            <a:off x="8553450" y="2667000"/>
            <a:ext cx="26860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Smooth monotonic lines would be encouraging. Noisy or nonmonotonic lines are not fatal, because the first real ML test will learn interactions, but they tell us whether individual features carry any visible directional information.</a:t>
            </a:r>
          </a:p>
        </p:txBody>
      </p:sp>
    </p:spTree>
    <p:extLst>
      <p:ext uri="{BB962C8B-B14F-4D97-AF65-F5344CB8AC3E}">
        <p14:creationId xmlns:p14="http://schemas.microsoft.com/office/powerpoint/2010/main" val="73082830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9433120-54E9-48E7-B64D-7D58861E3762}"/>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377AAB0A-234E-4BF8-8749-607462636B49}"/>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build tests a deliberately simple model</a:t>
            </a:r>
          </a:p>
        </p:txBody>
      </p:sp>
      <p:sp>
        <p:nvSpPr>
          <p:cNvPr id="3" name="">
            <a:extLst xmlns:a="http://schemas.openxmlformats.org/drawingml/2006/main">
              <a:ext uri="{FF2B5EF4-FFF2-40B4-BE49-F238E27FC236}">
                <a16:creationId xmlns:a16="http://schemas.microsoft.com/office/drawing/2014/main" id="{A123B74E-EBC7-47F6-BDF4-4275072C5F00}"/>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2888014-DF4E-4741-A439-49705E9F56CC}"/>
              </a:ext>
            </a:extLst>
          </p:cNvPr>
          <p:cNvSpPr>
            <a:spLocks xmlns:a="http://schemas.openxmlformats.org/drawingml/2006/main" noGrp="1"/>
          </p:cNvSpPr>
          <p:nvPr/>
        </p:nvSpPr>
        <p:spPr>
          <a:xfrm xmlns:a="http://schemas.openxmlformats.org/drawingml/2006/main">
            <a:off x="876300" y="2152650"/>
            <a:ext cx="7429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ML-P0 passed the table-quality gate. ML-P1 asks whether a plain GLM can turn that table into coherent daily long/flat behavior.</a:t>
            </a:r>
          </a:p>
        </p:txBody>
      </p:sp>
      <p:sp>
        <p:nvSpPr>
          <p:cNvPr id="5" name="">
            <a:extLst xmlns:a="http://schemas.openxmlformats.org/drawingml/2006/main">
              <a:ext uri="{FF2B5EF4-FFF2-40B4-BE49-F238E27FC236}">
                <a16:creationId xmlns:a16="http://schemas.microsoft.com/office/drawing/2014/main" id="{E2CB7C25-C316-4C07-B795-201F3C558FFC}"/>
              </a:ext>
            </a:extLst>
          </p:cNvPr>
          <p:cNvSpPr>
            <a:spLocks xmlns:a="http://schemas.openxmlformats.org/drawingml/2006/main" noGrp="1"/>
          </p:cNvSpPr>
          <p:nvPr/>
        </p:nvSpPr>
        <p:spPr>
          <a:xfrm xmlns:a="http://schemas.openxmlformats.org/drawingml/2006/main">
            <a:off x="1181100" y="34385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008E636A-20FC-473C-8E32-BC1D34EEC805}"/>
              </a:ext>
            </a:extLst>
          </p:cNvPr>
          <p:cNvSpPr>
            <a:spLocks xmlns:a="http://schemas.openxmlformats.org/drawingml/2006/main" noGrp="1"/>
          </p:cNvSpPr>
          <p:nvPr/>
        </p:nvSpPr>
        <p:spPr>
          <a:xfrm xmlns:a="http://schemas.openxmlformats.org/drawingml/2006/main">
            <a:off x="1447800" y="342900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Fit only on TRAIN rows using frozen transforms.</a:t>
            </a:r>
          </a:p>
        </p:txBody>
      </p:sp>
      <p:sp>
        <p:nvSpPr>
          <p:cNvPr id="7" name="">
            <a:extLst xmlns:a="http://schemas.openxmlformats.org/drawingml/2006/main">
              <a:ext uri="{FF2B5EF4-FFF2-40B4-BE49-F238E27FC236}">
                <a16:creationId xmlns:a16="http://schemas.microsoft.com/office/drawing/2014/main" id="{81C1E11A-DA31-4027-AF79-CB2768896CC9}"/>
              </a:ext>
            </a:extLst>
          </p:cNvPr>
          <p:cNvSpPr>
            <a:spLocks xmlns:a="http://schemas.openxmlformats.org/drawingml/2006/main" noGrp="1"/>
          </p:cNvSpPr>
          <p:nvPr/>
        </p:nvSpPr>
        <p:spPr>
          <a:xfrm xmlns:a="http://schemas.openxmlformats.org/drawingml/2006/main">
            <a:off x="1181100" y="4105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070DD0C6-3850-41AD-AF31-5242E3D0E32E}"/>
              </a:ext>
            </a:extLst>
          </p:cNvPr>
          <p:cNvSpPr>
            <a:spLocks xmlns:a="http://schemas.openxmlformats.org/drawingml/2006/main" noGrp="1"/>
          </p:cNvSpPr>
          <p:nvPr/>
        </p:nvSpPr>
        <p:spPr>
          <a:xfrm xmlns:a="http://schemas.openxmlformats.org/drawingml/2006/main">
            <a:off x="1447800" y="409575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Predict OOS h3 probability after each close.</a:t>
            </a:r>
          </a:p>
        </p:txBody>
      </p:sp>
      <p:sp>
        <p:nvSpPr>
          <p:cNvPr id="9" name="">
            <a:extLst xmlns:a="http://schemas.openxmlformats.org/drawingml/2006/main">
              <a:ext uri="{FF2B5EF4-FFF2-40B4-BE49-F238E27FC236}">
                <a16:creationId xmlns:a16="http://schemas.microsoft.com/office/drawing/2014/main" id="{F2DE1AD5-1493-4952-A325-9A0E993FF858}"/>
              </a:ext>
            </a:extLst>
          </p:cNvPr>
          <p:cNvSpPr>
            <a:spLocks xmlns:a="http://schemas.openxmlformats.org/drawingml/2006/main" noGrp="1"/>
          </p:cNvSpPr>
          <p:nvPr/>
        </p:nvSpPr>
        <p:spPr>
          <a:xfrm xmlns:a="http://schemas.openxmlformats.org/drawingml/2006/main">
            <a:off x="1181100" y="47720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90C25DD9-2476-4EAF-9760-8A4E9803B1D9}"/>
              </a:ext>
            </a:extLst>
          </p:cNvPr>
          <p:cNvSpPr>
            <a:spLocks xmlns:a="http://schemas.openxmlformats.org/drawingml/2006/main" noGrp="1"/>
          </p:cNvSpPr>
          <p:nvPr/>
        </p:nvSpPr>
        <p:spPr>
          <a:xfrm xmlns:a="http://schemas.openxmlformats.org/drawingml/2006/main">
            <a:off x="1447800" y="476250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Replay long/flat decisions with fixed thresholds.</a:t>
            </a:r>
          </a:p>
        </p:txBody>
      </p:sp>
      <p:sp>
        <p:nvSpPr>
          <p:cNvPr id="11" name="">
            <a:extLst xmlns:a="http://schemas.openxmlformats.org/drawingml/2006/main">
              <a:ext uri="{FF2B5EF4-FFF2-40B4-BE49-F238E27FC236}">
                <a16:creationId xmlns:a16="http://schemas.microsoft.com/office/drawing/2014/main" id="{E00CDFB8-B9C2-4BDF-90EE-82123BA8E721}"/>
              </a:ext>
            </a:extLst>
          </p:cNvPr>
          <p:cNvSpPr>
            <a:spLocks xmlns:a="http://schemas.openxmlformats.org/drawingml/2006/main" noGrp="1"/>
          </p:cNvSpPr>
          <p:nvPr/>
        </p:nvSpPr>
        <p:spPr>
          <a:xfrm xmlns:a="http://schemas.openxmlformats.org/drawingml/2006/main">
            <a:off x="1181100" y="54387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306A68B5-1FF9-4F48-AE3D-99B240DFE1F9}"/>
              </a:ext>
            </a:extLst>
          </p:cNvPr>
          <p:cNvSpPr>
            <a:spLocks xmlns:a="http://schemas.openxmlformats.org/drawingml/2006/main" noGrp="1"/>
          </p:cNvSpPr>
          <p:nvPr/>
        </p:nvSpPr>
        <p:spPr>
          <a:xfrm xmlns:a="http://schemas.openxmlformats.org/drawingml/2006/main">
            <a:off x="1447800" y="542925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Compare probability traces, trade tapes, equity, and equal-weight basket hold.</a:t>
            </a:r>
          </a:p>
        </p:txBody>
      </p:sp>
      <p:sp>
        <p:nvSpPr>
          <p:cNvPr id="13" name="">
            <a:extLst xmlns:a="http://schemas.openxmlformats.org/drawingml/2006/main">
              <a:ext uri="{FF2B5EF4-FFF2-40B4-BE49-F238E27FC236}">
                <a16:creationId xmlns:a16="http://schemas.microsoft.com/office/drawing/2014/main" id="{D83FF65D-7C2F-4140-9656-9C9B5B92AC23}"/>
              </a:ext>
            </a:extLst>
          </p:cNvPr>
          <p:cNvSpPr>
            <a:spLocks xmlns:a="http://schemas.openxmlformats.org/drawingml/2006/main" noGrp="1"/>
          </p:cNvSpPr>
          <p:nvPr/>
        </p:nvSpPr>
        <p:spPr>
          <a:xfrm xmlns:a="http://schemas.openxmlformats.org/drawingml/2006/main">
            <a:off x="7734300" y="2247900"/>
            <a:ext cx="2971800" cy="29718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4" name="">
            <a:extLst xmlns:a="http://schemas.openxmlformats.org/drawingml/2006/main">
              <a:ext uri="{FF2B5EF4-FFF2-40B4-BE49-F238E27FC236}">
                <a16:creationId xmlns:a16="http://schemas.microsoft.com/office/drawing/2014/main" id="{CC4D7CB7-6EF8-420F-B5C5-171871E04535}"/>
              </a:ext>
            </a:extLst>
          </p:cNvPr>
          <p:cNvSpPr>
            <a:spLocks xmlns:a="http://schemas.openxmlformats.org/drawingml/2006/main" noGrp="1"/>
          </p:cNvSpPr>
          <p:nvPr/>
        </p:nvSpPr>
        <p:spPr>
          <a:xfrm xmlns:a="http://schemas.openxmlformats.org/drawingml/2006/main">
            <a:off x="8096250" y="2895600"/>
            <a:ext cx="2266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1" i="0">
                <a:solidFill>
                  <a:srgbClr val="222222"/>
                </a:solidFill>
              </a:defRPr>
            </a:pPr>
            <a:r>
              <a:rPr sz="2025" b="1" i="0">
                <a:solidFill>
                  <a:srgbClr val="222222"/>
                </a:solidFill>
              </a:rPr>
              <a:t>Still research only</a:t>
            </a:r>
          </a:p>
        </p:txBody>
      </p:sp>
      <p:sp>
        <p:nvSpPr>
          <p:cNvPr id="15" name="">
            <a:extLst xmlns:a="http://schemas.openxmlformats.org/drawingml/2006/main">
              <a:ext uri="{FF2B5EF4-FFF2-40B4-BE49-F238E27FC236}">
                <a16:creationId xmlns:a16="http://schemas.microsoft.com/office/drawing/2014/main" id="{3109ADDB-48A8-4412-B2E4-8CAFD94E7DA1}"/>
              </a:ext>
            </a:extLst>
          </p:cNvPr>
          <p:cNvSpPr>
            <a:spLocks xmlns:a="http://schemas.openxmlformats.org/drawingml/2006/main" noGrp="1"/>
          </p:cNvSpPr>
          <p:nvPr/>
        </p:nvSpPr>
        <p:spPr>
          <a:xfrm xmlns:a="http://schemas.openxmlformats.org/drawingml/2006/main">
            <a:off x="8115300" y="3562350"/>
            <a:ext cx="22383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0" i="0">
                <a:solidFill>
                  <a:srgbClr val="222222"/>
                </a:solidFill>
              </a:defRPr>
            </a:pPr>
            <a:r>
              <a:rPr sz="1800" b="0" i="0">
                <a:solidFill>
                  <a:srgbClr val="222222"/>
                </a:solidFill>
              </a:rPr>
              <a:t>GLM is the plumbing baseline before XGBoost.</a:t>
            </a:r>
          </a:p>
        </p:txBody>
      </p:sp>
    </p:spTree>
    <p:extLst>
      <p:ext uri="{BB962C8B-B14F-4D97-AF65-F5344CB8AC3E}">
        <p14:creationId xmlns:p14="http://schemas.microsoft.com/office/powerpoint/2010/main" val="205978194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AB78496-6B8D-498C-9F6D-D0A8682DA063}"/>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C43701A2-ED47-4AFC-8CA8-F9E9209F1255}"/>
              </a:ext>
            </a:extLst>
          </p:cNvPr>
          <p:cNvSpPr>
            <a:spLocks xmlns:a="http://schemas.openxmlformats.org/drawingml/2006/main" noGrp="1"/>
          </p:cNvSpPr>
          <p:nvPr/>
        </p:nvSpPr>
        <p:spPr>
          <a:xfrm xmlns:a="http://schemas.openxmlformats.org/drawingml/2006/main">
            <a:off x="685800" y="1600200"/>
            <a:ext cx="857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i="0">
                <a:solidFill>
                  <a:srgbClr val="000000"/>
                </a:solidFill>
              </a:defRPr>
            </a:pPr>
            <a:r>
              <a:rPr sz="3900" b="1" i="0">
                <a:solidFill>
                  <a:srgbClr val="000000"/>
                </a:solidFill>
              </a:rPr>
              <a:t>The deck now moves from table safety to model behavior</a:t>
            </a:r>
          </a:p>
        </p:txBody>
      </p:sp>
      <p:sp>
        <p:nvSpPr>
          <p:cNvPr id="3" name="">
            <a:extLst xmlns:a="http://schemas.openxmlformats.org/drawingml/2006/main">
              <a:ext uri="{FF2B5EF4-FFF2-40B4-BE49-F238E27FC236}">
                <a16:creationId xmlns:a16="http://schemas.microsoft.com/office/drawing/2014/main" id="{9EBA40C5-3BC3-4CD0-BCE0-4A052156F139}"/>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BF0108E-FFFE-4644-A73C-AB2EBF4AD59B}"/>
              </a:ext>
            </a:extLst>
          </p:cNvPr>
          <p:cNvSpPr>
            <a:spLocks xmlns:a="http://schemas.openxmlformats.org/drawingml/2006/main" noGrp="1"/>
          </p:cNvSpPr>
          <p:nvPr/>
        </p:nvSpPr>
        <p:spPr>
          <a:xfrm xmlns:a="http://schemas.openxmlformats.org/drawingml/2006/main">
            <a:off x="723900" y="3467100"/>
            <a:ext cx="7334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ML-P1 fits a GLM on TRAIN rows, freezes the model, predicts OOS h3 probability, and replays fixed-threshold long/flat decisions. This is a diagnostic model, not an allocation claim.</a:t>
            </a:r>
          </a:p>
        </p:txBody>
      </p:sp>
      <p:sp>
        <p:nvSpPr>
          <p:cNvPr id="5" name="">
            <a:extLst xmlns:a="http://schemas.openxmlformats.org/drawingml/2006/main">
              <a:ext uri="{FF2B5EF4-FFF2-40B4-BE49-F238E27FC236}">
                <a16:creationId xmlns:a16="http://schemas.microsoft.com/office/drawing/2014/main" id="{18F2328B-BF2F-4628-9415-1077679B85A7}"/>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59E8A10-FBF2-4ECA-B4FE-A57A7E3946D2}"/>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ML-P1</a:t>
            </a:r>
          </a:p>
        </p:txBody>
      </p:sp>
      <p:sp>
        <p:nvSpPr>
          <p:cNvPr id="7" name="">
            <a:extLst xmlns:a="http://schemas.openxmlformats.org/drawingml/2006/main">
              <a:ext uri="{FF2B5EF4-FFF2-40B4-BE49-F238E27FC236}">
                <a16:creationId xmlns:a16="http://schemas.microsoft.com/office/drawing/2014/main" id="{C1D56FAB-09FB-44F2-AA9F-6FFCDBC2433C}"/>
              </a:ext>
            </a:extLst>
          </p:cNvPr>
          <p:cNvSpPr>
            <a:spLocks xmlns:a="http://schemas.openxmlformats.org/drawingml/2006/main" noGrp="1"/>
          </p:cNvSpPr>
          <p:nvPr/>
        </p:nvSpPr>
        <p:spPr>
          <a:xfrm xmlns:a="http://schemas.openxmlformats.org/drawingml/2006/main">
            <a:off x="9353550" y="30670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0" i="0">
                <a:solidFill>
                  <a:srgbClr val="222222"/>
                </a:solidFill>
              </a:defRPr>
            </a:pPr>
            <a:r>
              <a:rPr sz="1950" b="0" i="0">
                <a:solidFill>
                  <a:srgbClr val="222222"/>
                </a:solidFill>
              </a:rPr>
              <a:t>GLM replay</a:t>
            </a:r>
          </a:p>
        </p:txBody>
      </p:sp>
    </p:spTree>
    <p:extLst>
      <p:ext uri="{BB962C8B-B14F-4D97-AF65-F5344CB8AC3E}">
        <p14:creationId xmlns:p14="http://schemas.microsoft.com/office/powerpoint/2010/main" val="127252485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94409FE-8D27-47EB-A7EF-5446947686A8}"/>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DC3CC4F6-EEC9-4F98-AB06-2111D81B603C}"/>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GLM baseline became defensive, not participatory</a:t>
            </a:r>
          </a:p>
        </p:txBody>
      </p:sp>
      <p:sp>
        <p:nvSpPr>
          <p:cNvPr id="3" name="">
            <a:extLst xmlns:a="http://schemas.openxmlformats.org/drawingml/2006/main">
              <a:ext uri="{FF2B5EF4-FFF2-40B4-BE49-F238E27FC236}">
                <a16:creationId xmlns:a16="http://schemas.microsoft.com/office/drawing/2014/main" id="{F6D9BC46-D8E9-4DA8-A754-002431DE46D0}"/>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381AF91-F9B8-44CB-A9EC-936FBCE3D1AD}"/>
              </a:ext>
            </a:extLst>
          </p:cNvPr>
          <p:cNvSpPr>
            <a:spLocks xmlns:a="http://schemas.openxmlformats.org/drawingml/2006/main" noGrp="1"/>
          </p:cNvSpPr>
          <p:nvPr/>
        </p:nvSpPr>
        <p:spPr>
          <a:xfrm xmlns:a="http://schemas.openxmlformats.org/drawingml/2006/main">
            <a:off x="819150" y="2152650"/>
            <a:ext cx="2333625" cy="12001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926E6486-5646-4AD0-8731-963A520563D3}"/>
              </a:ext>
            </a:extLst>
          </p:cNvPr>
          <p:cNvSpPr>
            <a:spLocks xmlns:a="http://schemas.openxmlformats.org/drawingml/2006/main" noGrp="1"/>
          </p:cNvSpPr>
          <p:nvPr/>
        </p:nvSpPr>
        <p:spPr>
          <a:xfrm xmlns:a="http://schemas.openxmlformats.org/drawingml/2006/main">
            <a:off x="990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ACTIVE</a:t>
            </a:r>
          </a:p>
        </p:txBody>
      </p:sp>
      <p:sp>
        <p:nvSpPr>
          <p:cNvPr id="6" name="">
            <a:extLst xmlns:a="http://schemas.openxmlformats.org/drawingml/2006/main">
              <a:ext uri="{FF2B5EF4-FFF2-40B4-BE49-F238E27FC236}">
                <a16:creationId xmlns:a16="http://schemas.microsoft.com/office/drawing/2014/main" id="{AC448AA7-7C54-4C6B-BBF9-7D72856BCFFE}"/>
              </a:ext>
            </a:extLst>
          </p:cNvPr>
          <p:cNvSpPr>
            <a:spLocks xmlns:a="http://schemas.openxmlformats.org/drawingml/2006/main" noGrp="1"/>
          </p:cNvSpPr>
          <p:nvPr/>
        </p:nvSpPr>
        <p:spPr>
          <a:xfrm xmlns:a="http://schemas.openxmlformats.org/drawingml/2006/main">
            <a:off x="990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8.0%</a:t>
            </a:r>
          </a:p>
        </p:txBody>
      </p:sp>
      <p:sp>
        <p:nvSpPr>
          <p:cNvPr id="7" name="">
            <a:extLst xmlns:a="http://schemas.openxmlformats.org/drawingml/2006/main">
              <a:ext uri="{FF2B5EF4-FFF2-40B4-BE49-F238E27FC236}">
                <a16:creationId xmlns:a16="http://schemas.microsoft.com/office/drawing/2014/main" id="{07B95273-76CF-47FF-9E93-68188C85FA69}"/>
              </a:ext>
            </a:extLst>
          </p:cNvPr>
          <p:cNvSpPr>
            <a:spLocks xmlns:a="http://schemas.openxmlformats.org/drawingml/2006/main" noGrp="1"/>
          </p:cNvSpPr>
          <p:nvPr/>
        </p:nvSpPr>
        <p:spPr>
          <a:xfrm xmlns:a="http://schemas.openxmlformats.org/drawingml/2006/main">
            <a:off x="990600" y="2971800"/>
            <a:ext cx="19907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214.0%</a:t>
            </a:r>
          </a:p>
        </p:txBody>
      </p:sp>
      <p:sp>
        <p:nvSpPr>
          <p:cNvPr id="8" name="">
            <a:extLst xmlns:a="http://schemas.openxmlformats.org/drawingml/2006/main">
              <a:ext uri="{FF2B5EF4-FFF2-40B4-BE49-F238E27FC236}">
                <a16:creationId xmlns:a16="http://schemas.microsoft.com/office/drawing/2014/main" id="{0A43E010-8C1E-4D1E-A966-1FE0651E28DD}"/>
              </a:ext>
            </a:extLst>
          </p:cNvPr>
          <p:cNvSpPr>
            <a:spLocks xmlns:a="http://schemas.openxmlformats.org/drawingml/2006/main" noGrp="1"/>
          </p:cNvSpPr>
          <p:nvPr/>
        </p:nvSpPr>
        <p:spPr>
          <a:xfrm xmlns:a="http://schemas.openxmlformats.org/drawingml/2006/main">
            <a:off x="3524250" y="2152650"/>
            <a:ext cx="2333625" cy="12001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7941A2AA-93C8-475B-ABFA-82B856044C8E}"/>
              </a:ext>
            </a:extLst>
          </p:cNvPr>
          <p:cNvSpPr>
            <a:spLocks xmlns:a="http://schemas.openxmlformats.org/drawingml/2006/main" noGrp="1"/>
          </p:cNvSpPr>
          <p:nvPr/>
        </p:nvSpPr>
        <p:spPr>
          <a:xfrm xmlns:a="http://schemas.openxmlformats.org/drawingml/2006/main">
            <a:off x="36957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EXPOSURE</a:t>
            </a:r>
          </a:p>
        </p:txBody>
      </p:sp>
      <p:sp>
        <p:nvSpPr>
          <p:cNvPr id="10" name="">
            <a:extLst xmlns:a="http://schemas.openxmlformats.org/drawingml/2006/main">
              <a:ext uri="{FF2B5EF4-FFF2-40B4-BE49-F238E27FC236}">
                <a16:creationId xmlns:a16="http://schemas.microsoft.com/office/drawing/2014/main" id="{D289D85E-767F-4440-920B-3D49876A70F1}"/>
              </a:ext>
            </a:extLst>
          </p:cNvPr>
          <p:cNvSpPr>
            <a:spLocks xmlns:a="http://schemas.openxmlformats.org/drawingml/2006/main" noGrp="1"/>
          </p:cNvSpPr>
          <p:nvPr/>
        </p:nvSpPr>
        <p:spPr>
          <a:xfrm xmlns:a="http://schemas.openxmlformats.org/drawingml/2006/main">
            <a:off x="36957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27.6%</a:t>
            </a:r>
          </a:p>
        </p:txBody>
      </p:sp>
      <p:sp>
        <p:nvSpPr>
          <p:cNvPr id="11" name="">
            <a:extLst xmlns:a="http://schemas.openxmlformats.org/drawingml/2006/main">
              <a:ext uri="{FF2B5EF4-FFF2-40B4-BE49-F238E27FC236}">
                <a16:creationId xmlns:a16="http://schemas.microsoft.com/office/drawing/2014/main" id="{C9914161-045C-4C05-9CC9-2ACB7023B031}"/>
              </a:ext>
            </a:extLst>
          </p:cNvPr>
          <p:cNvSpPr>
            <a:spLocks xmlns:a="http://schemas.openxmlformats.org/drawingml/2006/main" noGrp="1"/>
          </p:cNvSpPr>
          <p:nvPr/>
        </p:nvSpPr>
        <p:spPr>
          <a:xfrm xmlns:a="http://schemas.openxmlformats.org/drawingml/2006/main">
            <a:off x="3695700" y="2971800"/>
            <a:ext cx="19907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Stayed flat 68.3% of decision rows.</a:t>
            </a:r>
          </a:p>
        </p:txBody>
      </p:sp>
      <p:sp>
        <p:nvSpPr>
          <p:cNvPr id="12" name="">
            <a:extLst xmlns:a="http://schemas.openxmlformats.org/drawingml/2006/main">
              <a:ext uri="{FF2B5EF4-FFF2-40B4-BE49-F238E27FC236}">
                <a16:creationId xmlns:a16="http://schemas.microsoft.com/office/drawing/2014/main" id="{C168FAA0-81EA-40C7-B5C5-576807DE6921}"/>
              </a:ext>
            </a:extLst>
          </p:cNvPr>
          <p:cNvSpPr>
            <a:spLocks xmlns:a="http://schemas.openxmlformats.org/drawingml/2006/main" noGrp="1"/>
          </p:cNvSpPr>
          <p:nvPr/>
        </p:nvSpPr>
        <p:spPr>
          <a:xfrm xmlns:a="http://schemas.openxmlformats.org/drawingml/2006/main">
            <a:off x="6229350" y="2152650"/>
            <a:ext cx="2333625" cy="12001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4246C54F-C939-44CB-B12F-E777AF3F485F}"/>
              </a:ext>
            </a:extLst>
          </p:cNvPr>
          <p:cNvSpPr>
            <a:spLocks xmlns:a="http://schemas.openxmlformats.org/drawingml/2006/main" noGrp="1"/>
          </p:cNvSpPr>
          <p:nvPr/>
        </p:nvSpPr>
        <p:spPr>
          <a:xfrm xmlns:a="http://schemas.openxmlformats.org/drawingml/2006/main">
            <a:off x="64008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ACTIVE</a:t>
            </a:r>
          </a:p>
        </p:txBody>
      </p:sp>
      <p:sp>
        <p:nvSpPr>
          <p:cNvPr id="14" name="">
            <a:extLst xmlns:a="http://schemas.openxmlformats.org/drawingml/2006/main">
              <a:ext uri="{FF2B5EF4-FFF2-40B4-BE49-F238E27FC236}">
                <a16:creationId xmlns:a16="http://schemas.microsoft.com/office/drawing/2014/main" id="{534BA515-B339-4C53-B80A-21E57E283A49}"/>
              </a:ext>
            </a:extLst>
          </p:cNvPr>
          <p:cNvSpPr>
            <a:spLocks xmlns:a="http://schemas.openxmlformats.org/drawingml/2006/main" noGrp="1"/>
          </p:cNvSpPr>
          <p:nvPr/>
        </p:nvSpPr>
        <p:spPr>
          <a:xfrm xmlns:a="http://schemas.openxmlformats.org/drawingml/2006/main">
            <a:off x="64008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-42.4%</a:t>
            </a:r>
          </a:p>
        </p:txBody>
      </p:sp>
      <p:sp>
        <p:nvSpPr>
          <p:cNvPr id="15" name="">
            <a:extLst xmlns:a="http://schemas.openxmlformats.org/drawingml/2006/main">
              <a:ext uri="{FF2B5EF4-FFF2-40B4-BE49-F238E27FC236}">
                <a16:creationId xmlns:a16="http://schemas.microsoft.com/office/drawing/2014/main" id="{3B2A0946-494D-478C-AABB-650D08EABCEE}"/>
              </a:ext>
            </a:extLst>
          </p:cNvPr>
          <p:cNvSpPr>
            <a:spLocks xmlns:a="http://schemas.openxmlformats.org/drawingml/2006/main" noGrp="1"/>
          </p:cNvSpPr>
          <p:nvPr/>
        </p:nvSpPr>
        <p:spPr>
          <a:xfrm xmlns:a="http://schemas.openxmlformats.org/drawingml/2006/main">
            <a:off x="6400800" y="2971800"/>
            <a:ext cx="19907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-54.2%</a:t>
            </a:r>
          </a:p>
        </p:txBody>
      </p:sp>
      <p:sp>
        <p:nvSpPr>
          <p:cNvPr id="16" name="">
            <a:extLst xmlns:a="http://schemas.openxmlformats.org/drawingml/2006/main">
              <a:ext uri="{FF2B5EF4-FFF2-40B4-BE49-F238E27FC236}">
                <a16:creationId xmlns:a16="http://schemas.microsoft.com/office/drawing/2014/main" id="{2C301819-07BA-4164-87F1-05CAF99C69F3}"/>
              </a:ext>
            </a:extLst>
          </p:cNvPr>
          <p:cNvSpPr>
            <a:spLocks xmlns:a="http://schemas.openxmlformats.org/drawingml/2006/main" noGrp="1"/>
          </p:cNvSpPr>
          <p:nvPr/>
        </p:nvSpPr>
        <p:spPr>
          <a:xfrm xmlns:a="http://schemas.openxmlformats.org/drawingml/2006/main">
            <a:off x="8934450" y="2152650"/>
            <a:ext cx="2333625" cy="12001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8CC08740-0A01-4C0C-9D92-27EDDA824070}"/>
              </a:ext>
            </a:extLst>
          </p:cNvPr>
          <p:cNvSpPr>
            <a:spLocks xmlns:a="http://schemas.openxmlformats.org/drawingml/2006/main" noGrp="1"/>
          </p:cNvSpPr>
          <p:nvPr/>
        </p:nvSpPr>
        <p:spPr>
          <a:xfrm xmlns:a="http://schemas.openxmlformats.org/drawingml/2006/main">
            <a:off x="91059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LEAKAGE AUDIT</a:t>
            </a:r>
          </a:p>
        </p:txBody>
      </p:sp>
      <p:sp>
        <p:nvSpPr>
          <p:cNvPr id="18" name="">
            <a:extLst xmlns:a="http://schemas.openxmlformats.org/drawingml/2006/main">
              <a:ext uri="{FF2B5EF4-FFF2-40B4-BE49-F238E27FC236}">
                <a16:creationId xmlns:a16="http://schemas.microsoft.com/office/drawing/2014/main" id="{E8FBA8DF-C648-4BC9-A4F5-5D8A119013C1}"/>
              </a:ext>
            </a:extLst>
          </p:cNvPr>
          <p:cNvSpPr>
            <a:spLocks xmlns:a="http://schemas.openxmlformats.org/drawingml/2006/main" noGrp="1"/>
          </p:cNvSpPr>
          <p:nvPr/>
        </p:nvSpPr>
        <p:spPr>
          <a:xfrm xmlns:a="http://schemas.openxmlformats.org/drawingml/2006/main">
            <a:off x="91059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19" name="">
            <a:extLst xmlns:a="http://schemas.openxmlformats.org/drawingml/2006/main">
              <a:ext uri="{FF2B5EF4-FFF2-40B4-BE49-F238E27FC236}">
                <a16:creationId xmlns:a16="http://schemas.microsoft.com/office/drawing/2014/main" id="{3E482B9E-055E-4018-A6F8-7335BAFBE52B}"/>
              </a:ext>
            </a:extLst>
          </p:cNvPr>
          <p:cNvSpPr>
            <a:spLocks xmlns:a="http://schemas.openxmlformats.org/drawingml/2006/main" noGrp="1"/>
          </p:cNvSpPr>
          <p:nvPr/>
        </p:nvSpPr>
        <p:spPr>
          <a:xfrm xmlns:a="http://schemas.openxmlformats.org/drawingml/2006/main">
            <a:off x="9105900" y="2971800"/>
            <a:ext cx="19907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TRAIN fit only; OOS prediction only.</a:t>
            </a:r>
          </a:p>
        </p:txBody>
      </p:sp>
      <p:sp>
        <p:nvSpPr>
          <p:cNvPr id="20" name="">
            <a:extLst xmlns:a="http://schemas.openxmlformats.org/drawingml/2006/main">
              <a:ext uri="{FF2B5EF4-FFF2-40B4-BE49-F238E27FC236}">
                <a16:creationId xmlns:a16="http://schemas.microsoft.com/office/drawing/2014/main" id="{577B79E9-1BB6-4C1E-A96D-1790E0B2EE54}"/>
              </a:ext>
            </a:extLst>
          </p:cNvPr>
          <p:cNvSpPr>
            <a:spLocks xmlns:a="http://schemas.openxmlformats.org/drawingml/2006/main" noGrp="1"/>
          </p:cNvSpPr>
          <p:nvPr/>
        </p:nvSpPr>
        <p:spPr>
          <a:xfrm xmlns:a="http://schemas.openxmlformats.org/drawingml/2006/main">
            <a:off x="1066800" y="4095750"/>
            <a:ext cx="93345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first GLM replay proves the mechanics, but not the alpha thesis. It missed most of the 2020 rally and was useful mainly as partial 2022 defense.</a:t>
            </a:r>
          </a:p>
        </p:txBody>
      </p:sp>
    </p:spTree>
    <p:extLst>
      <p:ext uri="{BB962C8B-B14F-4D97-AF65-F5344CB8AC3E}">
        <p14:creationId xmlns:p14="http://schemas.microsoft.com/office/powerpoint/2010/main" val="172250564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23799F1-D6BF-4BC1-93A5-BD6951CEC742}"/>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6A34D0D8-8461-41CD-BD0B-0E16C6C85D76}"/>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 shows the same participation problem we have been chasing</a:t>
            </a:r>
          </a:p>
        </p:txBody>
      </p:sp>
      <p:sp>
        <p:nvSpPr>
          <p:cNvPr id="3" name="">
            <a:extLst xmlns:a="http://schemas.openxmlformats.org/drawingml/2006/main">
              <a:ext uri="{FF2B5EF4-FFF2-40B4-BE49-F238E27FC236}">
                <a16:creationId xmlns:a16="http://schemas.microsoft.com/office/drawing/2014/main" id="{25761B01-669B-41B5-8EC0-D8DEC8317240}"/>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db4ccd48a1ef407b"/>
          <a:stretch xmlns:a="http://schemas.openxmlformats.org/drawingml/2006/main"/>
        </p:blipFill>
        <p:spPr>
          <a:xfrm xmlns:a="http://schemas.openxmlformats.org/drawingml/2006/main">
            <a:off x="868680" y="2000250"/>
            <a:ext cx="6835140"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31C325D-BE86-44D5-8410-932A9DB6227A}"/>
              </a:ext>
            </a:extLst>
          </p:cNvPr>
          <p:cNvSpPr>
            <a:spLocks xmlns:a="http://schemas.openxmlformats.org/drawingml/2006/main" noGrp="1"/>
          </p:cNvSpPr>
          <p:nvPr/>
        </p:nvSpPr>
        <p:spPr>
          <a:xfrm xmlns:a="http://schemas.openxmlformats.org/drawingml/2006/main">
            <a:off x="8477250" y="21336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Interpretation</a:t>
            </a:r>
          </a:p>
        </p:txBody>
      </p:sp>
      <p:sp>
        <p:nvSpPr>
          <p:cNvPr id="6" name="">
            <a:extLst xmlns:a="http://schemas.openxmlformats.org/drawingml/2006/main">
              <a:ext uri="{FF2B5EF4-FFF2-40B4-BE49-F238E27FC236}">
                <a16:creationId xmlns:a16="http://schemas.microsoft.com/office/drawing/2014/main" id="{56E8C882-7CB3-42D9-80C2-5A28F72CFBC6}"/>
              </a:ext>
            </a:extLst>
          </p:cNvPr>
          <p:cNvSpPr>
            <a:spLocks xmlns:a="http://schemas.openxmlformats.org/drawingml/2006/main" noGrp="1"/>
          </p:cNvSpPr>
          <p:nvPr/>
        </p:nvSpPr>
        <p:spPr>
          <a:xfrm xmlns:a="http://schemas.openxmlformats.org/drawingml/2006/main">
            <a:off x="8477250" y="2686050"/>
            <a:ext cx="2571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In 2020, the model stayed too cautious while the basket compounded aggressively. In 2022, the model preserved capital relative to the falling basket, but it was still not cleanly risk-off.</a:t>
            </a:r>
          </a:p>
        </p:txBody>
      </p:sp>
    </p:spTree>
    <p:extLst>
      <p:ext uri="{BB962C8B-B14F-4D97-AF65-F5344CB8AC3E}">
        <p14:creationId xmlns:p14="http://schemas.microsoft.com/office/powerpoint/2010/main" val="100961411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C634AD6-EF0A-4918-AEA4-BBF8C9881F9F}"/>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4589C4A9-22E5-4BA8-8646-7ECB09F8273D}"/>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trade tapes show what the policy actually did</a:t>
            </a:r>
          </a:p>
        </p:txBody>
      </p:sp>
      <p:sp>
        <p:nvSpPr>
          <p:cNvPr id="3" name="">
            <a:extLst xmlns:a="http://schemas.openxmlformats.org/drawingml/2006/main">
              <a:ext uri="{FF2B5EF4-FFF2-40B4-BE49-F238E27FC236}">
                <a16:creationId xmlns:a16="http://schemas.microsoft.com/office/drawing/2014/main" id="{05D8BBAD-784A-4C55-AD4C-530DA7210E76}"/>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d44d20a57bd4082"/>
          <a:stretch xmlns:a="http://schemas.openxmlformats.org/drawingml/2006/main"/>
        </p:blipFill>
        <p:spPr>
          <a:xfrm xmlns:a="http://schemas.openxmlformats.org/drawingml/2006/main">
            <a:off x="1038785" y="2000250"/>
            <a:ext cx="6494929"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73DA46D4-0353-4A50-9CB7-4EDB70E56449}"/>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this reveals</a:t>
            </a:r>
          </a:p>
        </p:txBody>
      </p:sp>
      <p:sp>
        <p:nvSpPr>
          <p:cNvPr id="6" name="">
            <a:extLst xmlns:a="http://schemas.openxmlformats.org/drawingml/2006/main">
              <a:ext uri="{FF2B5EF4-FFF2-40B4-BE49-F238E27FC236}">
                <a16:creationId xmlns:a16="http://schemas.microsoft.com/office/drawing/2014/main" id="{885340DF-2D6C-47CE-8A1A-E075562DF56A}"/>
              </a:ext>
            </a:extLst>
          </p:cNvPr>
          <p:cNvSpPr>
            <a:spLocks xmlns:a="http://schemas.openxmlformats.org/drawingml/2006/main" noGrp="1"/>
          </p:cNvSpPr>
          <p:nvPr/>
        </p:nvSpPr>
        <p:spPr>
          <a:xfrm xmlns:a="http://schemas.openxmlformats.org/drawingml/2006/main">
            <a:off x="8477250" y="2705100"/>
            <a:ext cx="2571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probability trace is now an inspectable decision surface. We can see whether missed upside comes from low predicted probabilities, high thresholds, or replay mechanics.</a:t>
            </a:r>
          </a:p>
        </p:txBody>
      </p:sp>
    </p:spTree>
    <p:extLst>
      <p:ext uri="{BB962C8B-B14F-4D97-AF65-F5344CB8AC3E}">
        <p14:creationId xmlns:p14="http://schemas.microsoft.com/office/powerpoint/2010/main" val="117897682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67BF6E0-143E-42B9-8D8A-A902B14E8C20}"/>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27DF5611-408C-4B57-AF5B-15B7B5F2B405}"/>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diagnostics point to threshold and calibration questions</a:t>
            </a:r>
          </a:p>
        </p:txBody>
      </p:sp>
      <p:sp>
        <p:nvSpPr>
          <p:cNvPr id="3" name="">
            <a:extLst xmlns:a="http://schemas.openxmlformats.org/drawingml/2006/main">
              <a:ext uri="{FF2B5EF4-FFF2-40B4-BE49-F238E27FC236}">
                <a16:creationId xmlns:a16="http://schemas.microsoft.com/office/drawing/2014/main" id="{467C111F-3567-4A5A-829D-0E25ACC75EDA}"/>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bb354eaefd94b65"/>
          <a:stretch xmlns:a="http://schemas.openxmlformats.org/drawingml/2006/main"/>
        </p:blipFill>
        <p:spPr>
          <a:xfrm xmlns:a="http://schemas.openxmlformats.org/drawingml/2006/main">
            <a:off x="704850" y="2415381"/>
            <a:ext cx="4762500" cy="2579688"/>
          </a:xfrm>
          <a:prstGeom xmlns:a="http://schemas.openxmlformats.org/drawingml/2006/main" prst="rect">
            <a:avLst/>
          </a:prstGeom>
        </p:spPr>
      </p:pic>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7c7901c779094e86"/>
          <a:stretch xmlns:a="http://schemas.openxmlformats.org/drawingml/2006/main"/>
        </p:blipFill>
        <p:spPr>
          <a:xfrm xmlns:a="http://schemas.openxmlformats.org/drawingml/2006/main">
            <a:off x="5962650" y="2415381"/>
            <a:ext cx="4762500" cy="2579688"/>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32515E30-2D23-42CE-A7B4-559F846E6F2D}"/>
              </a:ext>
            </a:extLst>
          </p:cNvPr>
          <p:cNvSpPr>
            <a:spLocks xmlns:a="http://schemas.openxmlformats.org/drawingml/2006/main" noGrp="1"/>
          </p:cNvSpPr>
          <p:nvPr/>
        </p:nvSpPr>
        <p:spPr>
          <a:xfrm xmlns:a="http://schemas.openxmlformats.org/drawingml/2006/main">
            <a:off x="1104900" y="5753100"/>
            <a:ext cx="933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i="0">
                <a:solidFill>
                  <a:srgbClr val="555555"/>
                </a:solidFill>
              </a:defRPr>
            </a:pPr>
            <a:r>
              <a:rPr sz="1500" b="0" i="0">
                <a:solidFill>
                  <a:srgbClr val="555555"/>
                </a:solidFill>
              </a:rPr>
              <a:t>Fixed thresholds are intentionally crude. The next improvement should be TRAIN-only threshold selection and probability calibration, not a rush to a more complex model.</a:t>
            </a:r>
          </a:p>
        </p:txBody>
      </p:sp>
    </p:spTree>
    <p:extLst>
      <p:ext uri="{BB962C8B-B14F-4D97-AF65-F5344CB8AC3E}">
        <p14:creationId xmlns:p14="http://schemas.microsoft.com/office/powerpoint/2010/main" val="180607286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42CA9DE-E36F-4458-B86D-7DBD6C3E34C9}"/>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FAB409D2-306A-4801-BA1E-2B9398E43528}"/>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coefficient audit keeps the simple model explainable</a:t>
            </a:r>
          </a:p>
        </p:txBody>
      </p:sp>
      <p:sp>
        <p:nvSpPr>
          <p:cNvPr id="3" name="">
            <a:extLst xmlns:a="http://schemas.openxmlformats.org/drawingml/2006/main">
              <a:ext uri="{FF2B5EF4-FFF2-40B4-BE49-F238E27FC236}">
                <a16:creationId xmlns:a16="http://schemas.microsoft.com/office/drawing/2014/main" id="{5AEF41AD-3F7C-44BF-BA72-34B85539F54E}"/>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56ce0e7682184027"/>
          <a:stretch xmlns:a="http://schemas.openxmlformats.org/drawingml/2006/main"/>
        </p:blipFill>
        <p:spPr>
          <a:xfrm xmlns:a="http://schemas.openxmlformats.org/drawingml/2006/main">
            <a:off x="1371600" y="2038350"/>
            <a:ext cx="5448300" cy="3714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16F48DE2-BBCC-4DA0-99D7-98119485A152}"/>
              </a:ext>
            </a:extLst>
          </p:cNvPr>
          <p:cNvSpPr>
            <a:spLocks xmlns:a="http://schemas.openxmlformats.org/drawingml/2006/main" noGrp="1"/>
          </p:cNvSpPr>
          <p:nvPr/>
        </p:nvSpPr>
        <p:spPr>
          <a:xfrm xmlns:a="http://schemas.openxmlformats.org/drawingml/2006/main">
            <a:off x="80962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GLM still earns its keep</a:t>
            </a:r>
          </a:p>
        </p:txBody>
      </p:sp>
      <p:sp>
        <p:nvSpPr>
          <p:cNvPr id="6" name="">
            <a:extLst xmlns:a="http://schemas.openxmlformats.org/drawingml/2006/main">
              <a:ext uri="{FF2B5EF4-FFF2-40B4-BE49-F238E27FC236}">
                <a16:creationId xmlns:a16="http://schemas.microsoft.com/office/drawing/2014/main" id="{33D6C3B4-8EB8-4551-840A-454ECA07CC94}"/>
              </a:ext>
            </a:extLst>
          </p:cNvPr>
          <p:cNvSpPr>
            <a:spLocks xmlns:a="http://schemas.openxmlformats.org/drawingml/2006/main" noGrp="1"/>
          </p:cNvSpPr>
          <p:nvPr/>
        </p:nvSpPr>
        <p:spPr>
          <a:xfrm xmlns:a="http://schemas.openxmlformats.org/drawingml/2006/main">
            <a:off x="8096250" y="2743200"/>
            <a:ext cx="27241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Even when performance is underwhelming, coefficients expose what the model is leaning on. That makes GLM a useful diagnostic bridge before XGBoost.</a:t>
            </a:r>
          </a:p>
        </p:txBody>
      </p:sp>
    </p:spTree>
    <p:extLst>
      <p:ext uri="{BB962C8B-B14F-4D97-AF65-F5344CB8AC3E}">
        <p14:creationId xmlns:p14="http://schemas.microsoft.com/office/powerpoint/2010/main" val="137251678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70F0E02-B4B5-495B-9E85-6D703003DEED}"/>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CF831CC8-E204-4CDB-B3A3-A5BD45E5E57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slice should improve the decision policy before model complexity</a:t>
            </a:r>
          </a:p>
        </p:txBody>
      </p:sp>
      <p:sp>
        <p:nvSpPr>
          <p:cNvPr id="3" name="">
            <a:extLst xmlns:a="http://schemas.openxmlformats.org/drawingml/2006/main">
              <a:ext uri="{FF2B5EF4-FFF2-40B4-BE49-F238E27FC236}">
                <a16:creationId xmlns:a16="http://schemas.microsoft.com/office/drawing/2014/main" id="{69B448A7-543C-46F8-BF47-33BDCEE7D56E}"/>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C1A2757-358E-4795-AF5B-FD84C9FD8433}"/>
              </a:ext>
            </a:extLst>
          </p:cNvPr>
          <p:cNvSpPr>
            <a:spLocks xmlns:a="http://schemas.openxmlformats.org/drawingml/2006/main" noGrp="1"/>
          </p:cNvSpPr>
          <p:nvPr/>
        </p:nvSpPr>
        <p:spPr>
          <a:xfrm xmlns:a="http://schemas.openxmlformats.org/drawingml/2006/main">
            <a:off x="876300" y="2133600"/>
            <a:ext cx="895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ML-P1 worked mechanically and exposed a familiar failure mode: too little upside participation in 2020, partial defense in 2022.</a:t>
            </a:r>
          </a:p>
        </p:txBody>
      </p:sp>
      <p:sp>
        <p:nvSpPr>
          <p:cNvPr id="5" name="">
            <a:extLst xmlns:a="http://schemas.openxmlformats.org/drawingml/2006/main">
              <a:ext uri="{FF2B5EF4-FFF2-40B4-BE49-F238E27FC236}">
                <a16:creationId xmlns:a16="http://schemas.microsoft.com/office/drawing/2014/main" id="{84E21A71-3346-4484-B58D-C43DDED0DAE6}"/>
              </a:ext>
            </a:extLst>
          </p:cNvPr>
          <p:cNvSpPr>
            <a:spLocks xmlns:a="http://schemas.openxmlformats.org/drawingml/2006/main" noGrp="1"/>
          </p:cNvSpPr>
          <p:nvPr/>
        </p:nvSpPr>
        <p:spPr>
          <a:xfrm xmlns:a="http://schemas.openxmlformats.org/drawingml/2006/main">
            <a:off x="1219200" y="34575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017FD423-A7FB-4B1D-94AF-B8F783EEA01E}"/>
              </a:ext>
            </a:extLst>
          </p:cNvPr>
          <p:cNvSpPr>
            <a:spLocks xmlns:a="http://schemas.openxmlformats.org/drawingml/2006/main" noGrp="1"/>
          </p:cNvSpPr>
          <p:nvPr/>
        </p:nvSpPr>
        <p:spPr>
          <a:xfrm xmlns:a="http://schemas.openxmlformats.org/drawingml/2006/main">
            <a:off x="1485900" y="344805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Add TRAIN-only threshold selection or calibration before XGBoost.</a:t>
            </a:r>
          </a:p>
        </p:txBody>
      </p:sp>
      <p:sp>
        <p:nvSpPr>
          <p:cNvPr id="7" name="">
            <a:extLst xmlns:a="http://schemas.openxmlformats.org/drawingml/2006/main">
              <a:ext uri="{FF2B5EF4-FFF2-40B4-BE49-F238E27FC236}">
                <a16:creationId xmlns:a16="http://schemas.microsoft.com/office/drawing/2014/main" id="{355CCE95-6906-441B-AB28-8A5100E63196}"/>
              </a:ext>
            </a:extLst>
          </p:cNvPr>
          <p:cNvSpPr>
            <a:spLocks xmlns:a="http://schemas.openxmlformats.org/drawingml/2006/main" noGrp="1"/>
          </p:cNvSpPr>
          <p:nvPr/>
        </p:nvSpPr>
        <p:spPr>
          <a:xfrm xmlns:a="http://schemas.openxmlformats.org/drawingml/2006/main">
            <a:off x="1219200" y="41243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6EE7B62B-1697-47D3-A422-CCD27A606808}"/>
              </a:ext>
            </a:extLst>
          </p:cNvPr>
          <p:cNvSpPr>
            <a:spLocks xmlns:a="http://schemas.openxmlformats.org/drawingml/2006/main" noGrp="1"/>
          </p:cNvSpPr>
          <p:nvPr/>
        </p:nvSpPr>
        <p:spPr>
          <a:xfrm xmlns:a="http://schemas.openxmlformats.org/drawingml/2006/main">
            <a:off x="1485900" y="411480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Compare fixed thresholds against a more permissive participation policy.</a:t>
            </a:r>
          </a:p>
        </p:txBody>
      </p:sp>
      <p:sp>
        <p:nvSpPr>
          <p:cNvPr id="9" name="">
            <a:extLst xmlns:a="http://schemas.openxmlformats.org/drawingml/2006/main">
              <a:ext uri="{FF2B5EF4-FFF2-40B4-BE49-F238E27FC236}">
                <a16:creationId xmlns:a16="http://schemas.microsoft.com/office/drawing/2014/main" id="{CE139752-EEE6-475C-AF2B-BD0455694AED}"/>
              </a:ext>
            </a:extLst>
          </p:cNvPr>
          <p:cNvSpPr>
            <a:spLocks xmlns:a="http://schemas.openxmlformats.org/drawingml/2006/main" noGrp="1"/>
          </p:cNvSpPr>
          <p:nvPr/>
        </p:nvSpPr>
        <p:spPr>
          <a:xfrm xmlns:a="http://schemas.openxmlformats.org/drawingml/2006/main">
            <a:off x="1219200" y="47910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36265261-C1F9-4417-93DE-B3199706EB62}"/>
              </a:ext>
            </a:extLst>
          </p:cNvPr>
          <p:cNvSpPr>
            <a:spLocks xmlns:a="http://schemas.openxmlformats.org/drawingml/2006/main" noGrp="1"/>
          </p:cNvSpPr>
          <p:nvPr/>
        </p:nvSpPr>
        <p:spPr>
          <a:xfrm xmlns:a="http://schemas.openxmlformats.org/drawingml/2006/main">
            <a:off x="1485900" y="478155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probability trade tapes as the required visual audit for every ML replay.</a:t>
            </a:r>
          </a:p>
        </p:txBody>
      </p:sp>
      <p:sp>
        <p:nvSpPr>
          <p:cNvPr id="11" name="">
            <a:extLst xmlns:a="http://schemas.openxmlformats.org/drawingml/2006/main">
              <a:ext uri="{FF2B5EF4-FFF2-40B4-BE49-F238E27FC236}">
                <a16:creationId xmlns:a16="http://schemas.microsoft.com/office/drawing/2014/main" id="{7725340E-E51E-4B3E-84C3-015B5152A235}"/>
              </a:ext>
            </a:extLst>
          </p:cNvPr>
          <p:cNvSpPr>
            <a:spLocks xmlns:a="http://schemas.openxmlformats.org/drawingml/2006/main" noGrp="1"/>
          </p:cNvSpPr>
          <p:nvPr/>
        </p:nvSpPr>
        <p:spPr>
          <a:xfrm xmlns:a="http://schemas.openxmlformats.org/drawingml/2006/main">
            <a:off x="1219200" y="54578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53AFDD3D-0A17-4F21-9F6D-0A16A249F7A1}"/>
              </a:ext>
            </a:extLst>
          </p:cNvPr>
          <p:cNvSpPr>
            <a:spLocks xmlns:a="http://schemas.openxmlformats.org/drawingml/2006/main" noGrp="1"/>
          </p:cNvSpPr>
          <p:nvPr/>
        </p:nvSpPr>
        <p:spPr>
          <a:xfrm xmlns:a="http://schemas.openxmlformats.org/drawingml/2006/main">
            <a:off x="1485900" y="544830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Only then add XGBoost as a nonlinear challenger.</a:t>
            </a:r>
          </a:p>
        </p:txBody>
      </p:sp>
    </p:spTree>
    <p:extLst>
      <p:ext uri="{BB962C8B-B14F-4D97-AF65-F5344CB8AC3E}">
        <p14:creationId xmlns:p14="http://schemas.microsoft.com/office/powerpoint/2010/main" val="16001213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2026-07-13T20:31:12.0690000Z</dcterms:created>
  <dcterms:modified xsi:type="dcterms:W3CDTF">2026-07-13T20:31:12.0690000Z</dcterms:modified>
</coreProperties>
</file>