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45932885aee4460" /><Relationship Type="http://schemas.openxmlformats.org/officeDocument/2006/relationships/extended-properties" Target="/docProps/app.xml" Id="R85a488e8e73a419b" /><Relationship Type="http://schemas.openxmlformats.org/officeDocument/2006/relationships/officeDocument" Target="/ppt/presentation.xml" Id="R84c6c4e08290440e" /></Relationships>
</file>

<file path=ppt/presentation.xml><?xml version="1.0" encoding="utf-8"?>
<p:presentation xmlns:p="http://schemas.openxmlformats.org/presentationml/2006/main">
  <p:sldMasterIdLst>
    <p:sldMasterId xmlns:r="http://schemas.openxmlformats.org/officeDocument/2006/relationships" id="2147483648" r:id="R6d41729f27f342ac"/>
  </p:sldMasterIdLst>
  <p:notesMasterIdLst>
    <p:notesMasterId xmlns:r="http://schemas.openxmlformats.org/officeDocument/2006/relationships" r:id="R043d61efd29a47bc"/>
  </p:notesMasterIdLst>
  <p:sldIdLst>
    <p:sldId xmlns:r="http://schemas.openxmlformats.org/officeDocument/2006/relationships" id="256" r:id="R4eba74f325d04d1c"/>
    <p:sldId xmlns:r="http://schemas.openxmlformats.org/officeDocument/2006/relationships" id="257" r:id="R193a6581455145c3"/>
    <p:sldId xmlns:r="http://schemas.openxmlformats.org/officeDocument/2006/relationships" id="258" r:id="R0a3df4233f5b43a8"/>
    <p:sldId xmlns:r="http://schemas.openxmlformats.org/officeDocument/2006/relationships" id="259" r:id="R5dc8012d94534b84"/>
    <p:sldId xmlns:r="http://schemas.openxmlformats.org/officeDocument/2006/relationships" id="260" r:id="Rde70e23c898f4b5e"/>
    <p:sldId xmlns:r="http://schemas.openxmlformats.org/officeDocument/2006/relationships" id="261" r:id="R35e9d67dbdf847d2"/>
    <p:sldId xmlns:r="http://schemas.openxmlformats.org/officeDocument/2006/relationships" id="262" r:id="Rb9fb15f0a42646c7"/>
    <p:sldId xmlns:r="http://schemas.openxmlformats.org/officeDocument/2006/relationships" id="263" r:id="R8aa8334d5d864572"/>
    <p:sldId xmlns:r="http://schemas.openxmlformats.org/officeDocument/2006/relationships" id="264" r:id="R7b7c552059f64007"/>
    <p:sldId xmlns:r="http://schemas.openxmlformats.org/officeDocument/2006/relationships" id="265" r:id="Re12480b505c24f72"/>
    <p:sldId xmlns:r="http://schemas.openxmlformats.org/officeDocument/2006/relationships" id="266" r:id="R8aac13fd05be4331"/>
    <p:sldId xmlns:r="http://schemas.openxmlformats.org/officeDocument/2006/relationships" id="267" r:id="Rde8455fe5f814c61"/>
    <p:sldId xmlns:r="http://schemas.openxmlformats.org/officeDocument/2006/relationships" id="268" r:id="R67711544fc154a50"/>
    <p:sldId xmlns:r="http://schemas.openxmlformats.org/officeDocument/2006/relationships" id="269" r:id="Rfb6450fbba1d4c2a"/>
    <p:sldId xmlns:r="http://schemas.openxmlformats.org/officeDocument/2006/relationships" id="270" r:id="R41d0f0615e6b4fa7"/>
    <p:sldId xmlns:r="http://schemas.openxmlformats.org/officeDocument/2006/relationships" id="271" r:id="Rf775f735c7034712"/>
    <p:sldId xmlns:r="http://schemas.openxmlformats.org/officeDocument/2006/relationships" id="272" r:id="R8151a4f4f3ca4fed"/>
    <p:sldId xmlns:r="http://schemas.openxmlformats.org/officeDocument/2006/relationships" id="273" r:id="R51fed3a7319642f5"/>
    <p:sldId xmlns:r="http://schemas.openxmlformats.org/officeDocument/2006/relationships" id="274" r:id="Ra6d2a73654a548a4"/>
    <p:sldId xmlns:r="http://schemas.openxmlformats.org/officeDocument/2006/relationships" id="275" r:id="Ra394ba65e9304e85"/>
    <p:sldId xmlns:r="http://schemas.openxmlformats.org/officeDocument/2006/relationships" id="276" r:id="R962fbe9229794304"/>
    <p:sldId xmlns:r="http://schemas.openxmlformats.org/officeDocument/2006/relationships" id="277" r:id="R51aa217391e64253"/>
    <p:sldId xmlns:r="http://schemas.openxmlformats.org/officeDocument/2006/relationships" id="278" r:id="R53630d97e41e4f2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f88a03256604dc1" /><Relationship Type="http://schemas.openxmlformats.org/officeDocument/2006/relationships/slideMaster" Target="/ppt/slideMasters/slideMaster1.xml" Id="R6d41729f27f342ac" /><Relationship Type="http://schemas.openxmlformats.org/officeDocument/2006/relationships/notesMaster" Target="/ppt/notesMasters/notesMaster1.xml" Id="R043d61efd29a47bc" /><Relationship Type="http://schemas.openxmlformats.org/officeDocument/2006/relationships/presProps" Target="/ppt/presProps.xml" Id="Rd64e20e622474e51" /><Relationship Type="http://schemas.openxmlformats.org/officeDocument/2006/relationships/tableStyles" Target="/ppt/tableStyles.xml" Id="R42ae5af22871412d" /><Relationship Type="http://schemas.openxmlformats.org/officeDocument/2006/relationships/slide" Target="/ppt/slides/slide1.xml" Id="R4eba74f325d04d1c" /><Relationship Type="http://schemas.openxmlformats.org/officeDocument/2006/relationships/slide" Target="/ppt/slides/slide2.xml" Id="R193a6581455145c3" /><Relationship Type="http://schemas.openxmlformats.org/officeDocument/2006/relationships/slide" Target="/ppt/slides/slide3.xml" Id="R0a3df4233f5b43a8" /><Relationship Type="http://schemas.openxmlformats.org/officeDocument/2006/relationships/slide" Target="/ppt/slides/slide4.xml" Id="R5dc8012d94534b84" /><Relationship Type="http://schemas.openxmlformats.org/officeDocument/2006/relationships/slide" Target="/ppt/slides/slide5.xml" Id="Rde70e23c898f4b5e" /><Relationship Type="http://schemas.openxmlformats.org/officeDocument/2006/relationships/slide" Target="/ppt/slides/slide6.xml" Id="R35e9d67dbdf847d2" /><Relationship Type="http://schemas.openxmlformats.org/officeDocument/2006/relationships/slide" Target="/ppt/slides/slide7.xml" Id="Rb9fb15f0a42646c7" /><Relationship Type="http://schemas.openxmlformats.org/officeDocument/2006/relationships/slide" Target="/ppt/slides/slide8.xml" Id="R8aa8334d5d864572" /><Relationship Type="http://schemas.openxmlformats.org/officeDocument/2006/relationships/slide" Target="/ppt/slides/slide9.xml" Id="R7b7c552059f64007" /><Relationship Type="http://schemas.openxmlformats.org/officeDocument/2006/relationships/slide" Target="/ppt/slides/slide10.xml" Id="Re12480b505c24f72" /><Relationship Type="http://schemas.openxmlformats.org/officeDocument/2006/relationships/slide" Target="/ppt/slides/slide11.xml" Id="R8aac13fd05be4331" /><Relationship Type="http://schemas.openxmlformats.org/officeDocument/2006/relationships/slide" Target="/ppt/slides/slide12.xml" Id="Rde8455fe5f814c61" /><Relationship Type="http://schemas.openxmlformats.org/officeDocument/2006/relationships/slide" Target="/ppt/slides/slide13.xml" Id="R67711544fc154a50" /><Relationship Type="http://schemas.openxmlformats.org/officeDocument/2006/relationships/slide" Target="/ppt/slides/slide14.xml" Id="Rfb6450fbba1d4c2a" /><Relationship Type="http://schemas.openxmlformats.org/officeDocument/2006/relationships/slide" Target="/ppt/slides/slide15.xml" Id="R41d0f0615e6b4fa7" /><Relationship Type="http://schemas.openxmlformats.org/officeDocument/2006/relationships/slide" Target="/ppt/slides/slide16.xml" Id="Rf775f735c7034712" /><Relationship Type="http://schemas.openxmlformats.org/officeDocument/2006/relationships/slide" Target="/ppt/slides/slide17.xml" Id="R8151a4f4f3ca4fed" /><Relationship Type="http://schemas.openxmlformats.org/officeDocument/2006/relationships/slide" Target="/ppt/slides/slide18.xml" Id="R51fed3a7319642f5" /><Relationship Type="http://schemas.openxmlformats.org/officeDocument/2006/relationships/slide" Target="/ppt/slides/slide19.xml" Id="Ra6d2a73654a548a4" /><Relationship Type="http://schemas.openxmlformats.org/officeDocument/2006/relationships/slide" Target="/ppt/slides/slide20.xml" Id="Ra394ba65e9304e85" /><Relationship Type="http://schemas.openxmlformats.org/officeDocument/2006/relationships/slide" Target="/ppt/slides/slide21.xml" Id="R962fbe9229794304" /><Relationship Type="http://schemas.openxmlformats.org/officeDocument/2006/relationships/slide" Target="/ppt/slides/slide22.xml" Id="R51aa217391e64253" /><Relationship Type="http://schemas.openxmlformats.org/officeDocument/2006/relationships/slide" Target="/ppt/slides/slide23.xml" Id="R53630d97e41e4f2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f12f2f7768444b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2438f1311a14a46" /><Relationship Type="http://schemas.openxmlformats.org/officeDocument/2006/relationships/notesMaster" Target="/ppt/notesMasters/notesMaster1.xml" Id="R0fe0fbd764ff43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d7da2fd6574451" /><Relationship Type="http://schemas.openxmlformats.org/officeDocument/2006/relationships/notesMaster" Target="/ppt/notesMasters/notesMaster1.xml" Id="R9b2c328ee66149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aed6766d2c40d3" /><Relationship Type="http://schemas.openxmlformats.org/officeDocument/2006/relationships/notesMaster" Target="/ppt/notesMasters/notesMaster1.xml" Id="Rf087af0944fa41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4d146fa1fc460a" /><Relationship Type="http://schemas.openxmlformats.org/officeDocument/2006/relationships/notesMaster" Target="/ppt/notesMasters/notesMaster1.xml" Id="Rcadac61d5e1646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74cff13ce14623" /><Relationship Type="http://schemas.openxmlformats.org/officeDocument/2006/relationships/notesMaster" Target="/ppt/notesMasters/notesMaster1.xml" Id="Re4171ee4fb1544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03dd2498f448e9" /><Relationship Type="http://schemas.openxmlformats.org/officeDocument/2006/relationships/notesMaster" Target="/ppt/notesMasters/notesMaster1.xml" Id="R7e88671beff449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f505aa30454312" /><Relationship Type="http://schemas.openxmlformats.org/officeDocument/2006/relationships/notesMaster" Target="/ppt/notesMasters/notesMaster1.xml" Id="R71017677feba45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532dfa0d734140d0" /><Relationship Type="http://schemas.openxmlformats.org/officeDocument/2006/relationships/notesMaster" Target="/ppt/notesMasters/notesMaster1.xml" Id="R5032f83ddb344161" /></Relationships>
</file>

<file path=ppt/notesSlides/_rels/notesSlide9.xml.rels>&#65279;<?xml version="1.0" encoding="utf-8"?><Relationships xmlns="http://schemas.openxmlformats.org/package/2006/relationships"><Relationship Type="http://schemas.openxmlformats.org/officeDocument/2006/relationships/slide" Target="/ppt/slides/slide9.xml" Id="Rf52d2bc315cd4577" /><Relationship Type="http://schemas.openxmlformats.org/officeDocument/2006/relationships/notesMaster" Target="/ppt/notesMasters/notesMaster1.xml" Id="Reafa619977ab4da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2b6b5987674c47" /><Relationship Type="http://schemas.openxmlformats.org/officeDocument/2006/relationships/notesMaster" Target="/ppt/notesMasters/notesMaster1.xml" Id="Ree220ba3ee0a448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cd4776faaa44851" /><Relationship Type="http://schemas.openxmlformats.org/officeDocument/2006/relationships/notesMaster" Target="/ppt/notesMasters/notesMaster1.xml" Id="Rc34d9adb42b84ed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8506b87e50f4677" /><Relationship Type="http://schemas.openxmlformats.org/officeDocument/2006/relationships/notesMaster" Target="/ppt/notesMasters/notesMaster1.xml" Id="R7f8d13dd38604c1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0fcde921ea24444" /><Relationship Type="http://schemas.openxmlformats.org/officeDocument/2006/relationships/notesMaster" Target="/ppt/notesMasters/notesMaster1.xml" Id="Rcec7fcf0689249d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d5f0985f5084894" /><Relationship Type="http://schemas.openxmlformats.org/officeDocument/2006/relationships/notesMaster" Target="/ppt/notesMasters/notesMaster1.xml" Id="R2fc26c2ce47f4e4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d060a9739f0440b" /><Relationship Type="http://schemas.openxmlformats.org/officeDocument/2006/relationships/notesMaster" Target="/ppt/notesMasters/notesMaster1.xml" Id="R3dfeeb70000041d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adb5311cade416c" /><Relationship Type="http://schemas.openxmlformats.org/officeDocument/2006/relationships/notesMaster" Target="/ppt/notesMasters/notesMaster1.xml" Id="R72eaa393d61149c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996f0a642c14ff7" /><Relationship Type="http://schemas.openxmlformats.org/officeDocument/2006/relationships/notesMaster" Target="/ppt/notesMasters/notesMaster1.xml" Id="R183e30c5f53346f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36e6f542afd40e6" /><Relationship Type="http://schemas.openxmlformats.org/officeDocument/2006/relationships/notesMaster" Target="/ppt/notesMasters/notesMaster1.xml" Id="R3d99937def6540b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8e4ce5b70cb4bf7" /><Relationship Type="http://schemas.openxmlformats.org/officeDocument/2006/relationships/notesMaster" Target="/ppt/notesMasters/notesMaster1.xml" Id="Ra5088719258c4be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f576ac4918a4b04" /><Relationship Type="http://schemas.openxmlformats.org/officeDocument/2006/relationships/notesMaster" Target="/ppt/notesMasters/notesMaster1.xml" Id="Rece6910656a74d0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b134d5b63464941" /><Relationship Type="http://schemas.openxmlformats.org/officeDocument/2006/relationships/notesMaster" Target="/ppt/notesMasters/notesMaster1.xml" Id="Ra2988c17ab5c483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66f99b49e434fe8" /><Relationship Type="http://schemas.openxmlformats.org/officeDocument/2006/relationships/notesMaster" Target="/ppt/notesMasters/notesMaster1.xml" Id="R98f40c8470444a2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7bbb6dc9fdc4a7d" /><Relationship Type="http://schemas.openxmlformats.org/officeDocument/2006/relationships/notesMaster" Target="/ppt/notesMasters/notesMaster1.xml" Id="R72f9f8e140bb41a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72e2d9b6e849d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08d6838d9c4a1e" /><Relationship Type="http://schemas.openxmlformats.org/officeDocument/2006/relationships/slideLayout" Target="/ppt/slideLayouts/slideLayout1.xml" Id="Re940d0972a354b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40d0972a354b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a88d8ca9d284904" /><Relationship Type="http://schemas.openxmlformats.org/officeDocument/2006/relationships/notesSlide" Target="/ppt/notesSlides/notesSlide1.xml" Id="R421c00aecf314fb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f81087e18854183" /><Relationship Type="http://schemas.openxmlformats.org/officeDocument/2006/relationships/notesSlide" Target="/ppt/notesSlides/notesSlide2.xml" Id="R53506f9cc695404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93709b416314a52" /><Relationship Type="http://schemas.openxmlformats.org/officeDocument/2006/relationships/notesSlide" Target="/ppt/notesSlides/notesSlide3.xml" Id="R2b4fad4e009144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f06ad69ee654afd" /><Relationship Type="http://schemas.openxmlformats.org/officeDocument/2006/relationships/image" Target="/ppt/media/image.png" Id="Rd0cae3e91e884ee8" /><Relationship Type="http://schemas.openxmlformats.org/officeDocument/2006/relationships/notesSlide" Target="/ppt/notesSlides/notesSlide4.xml" Id="R8325915fe4a641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148104baa0749a8" /><Relationship Type="http://schemas.openxmlformats.org/officeDocument/2006/relationships/image" Target="/ppt/media/image2.png" Id="Rc358e62a2eae43d0" /><Relationship Type="http://schemas.openxmlformats.org/officeDocument/2006/relationships/notesSlide" Target="/ppt/notesSlides/notesSlide5.xml" Id="R1ba9340d1dd048f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d5d810207024b5e" /><Relationship Type="http://schemas.openxmlformats.org/officeDocument/2006/relationships/image" Target="/ppt/media/image3.png" Id="R867ffcad5f8d4eb0" /><Relationship Type="http://schemas.openxmlformats.org/officeDocument/2006/relationships/image" Target="/ppt/media/image4.png" Id="R097264eae7724fdf" /><Relationship Type="http://schemas.openxmlformats.org/officeDocument/2006/relationships/notesSlide" Target="/ppt/notesSlides/notesSlide6.xml" Id="Rdb1b4f044f2d40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7cdefdd2f754ef5" /><Relationship Type="http://schemas.openxmlformats.org/officeDocument/2006/relationships/image" Target="/ppt/media/image5.png" Id="R7329df2c40af4213" /><Relationship Type="http://schemas.openxmlformats.org/officeDocument/2006/relationships/notesSlide" Target="/ppt/notesSlides/notesSlide7.xml" Id="R0584bdbc9ab8462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e8780b9250e461a" /><Relationship Type="http://schemas.openxmlformats.org/officeDocument/2006/relationships/image" Target="/ppt/media/image6.png" Id="Rb8bd0dd0b5e14e7e" /><Relationship Type="http://schemas.openxmlformats.org/officeDocument/2006/relationships/notesSlide" Target="/ppt/notesSlides/notesSlide8.xml" Id="Rdcd546a85b5d4ad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6f259f5cc664da9" /><Relationship Type="http://schemas.openxmlformats.org/officeDocument/2006/relationships/image" Target="/ppt/media/image7.png" Id="R0dc2c4da3862492d" /><Relationship Type="http://schemas.openxmlformats.org/officeDocument/2006/relationships/notesSlide" Target="/ppt/notesSlides/notesSlide9.xml" Id="Rf661b920bea3446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13a44f9382242c5" /><Relationship Type="http://schemas.openxmlformats.org/officeDocument/2006/relationships/notesSlide" Target="/ppt/notesSlides/notesSlide10.xml" Id="R804c30b85d624a8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b618c39950744b1" /><Relationship Type="http://schemas.openxmlformats.org/officeDocument/2006/relationships/notesSlide" Target="/ppt/notesSlides/notesSlide11.xml" Id="Rb36ff3d51dcd418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eec38d00b4a4607" /><Relationship Type="http://schemas.openxmlformats.org/officeDocument/2006/relationships/notesSlide" Target="/ppt/notesSlides/notesSlide12.xml" Id="Rd2bd5e8e9d6b4cf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fa15347e1894108" /><Relationship Type="http://schemas.openxmlformats.org/officeDocument/2006/relationships/image" Target="/ppt/media/image8.png" Id="R3199541267de4371" /><Relationship Type="http://schemas.openxmlformats.org/officeDocument/2006/relationships/notesSlide" Target="/ppt/notesSlides/notesSlide13.xml" Id="R9dfec2c054fb4fe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06fdf12bc174276" /><Relationship Type="http://schemas.openxmlformats.org/officeDocument/2006/relationships/image" Target="/ppt/media/image9.png" Id="R82e98b5ef37c4671" /><Relationship Type="http://schemas.openxmlformats.org/officeDocument/2006/relationships/notesSlide" Target="/ppt/notesSlides/notesSlide14.xml" Id="Ra0fbaebbaff54fc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2a369c46f044a63" /><Relationship Type="http://schemas.openxmlformats.org/officeDocument/2006/relationships/image" Target="/ppt/media/image10.png" Id="Rbfc5507bbc3f42a1" /><Relationship Type="http://schemas.openxmlformats.org/officeDocument/2006/relationships/image" Target="/ppt/media/image11.png" Id="Rb30187a4fa2c4d77" /><Relationship Type="http://schemas.openxmlformats.org/officeDocument/2006/relationships/notesSlide" Target="/ppt/notesSlides/notesSlide15.xml" Id="R6c12b1733d874d6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7d2a7742c9944c9" /><Relationship Type="http://schemas.openxmlformats.org/officeDocument/2006/relationships/image" Target="/ppt/media/image12.png" Id="Rf914140a42104ff2" /><Relationship Type="http://schemas.openxmlformats.org/officeDocument/2006/relationships/notesSlide" Target="/ppt/notesSlides/notesSlide16.xml" Id="R22068cfff7ed412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ccbb67301d44831" /><Relationship Type="http://schemas.openxmlformats.org/officeDocument/2006/relationships/notesSlide" Target="/ppt/notesSlides/notesSlide17.xml" Id="Rd4f3fa402d23421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7698e6e17d24ac4" /><Relationship Type="http://schemas.openxmlformats.org/officeDocument/2006/relationships/notesSlide" Target="/ppt/notesSlides/notesSlide18.xml" Id="R3bf589abf0ca481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f24e6b9f55d41e5" /><Relationship Type="http://schemas.openxmlformats.org/officeDocument/2006/relationships/notesSlide" Target="/ppt/notesSlides/notesSlide19.xml" Id="R0d51b088ce86400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8e378aab8a245c6" /><Relationship Type="http://schemas.openxmlformats.org/officeDocument/2006/relationships/image" Target="/ppt/media/image13.png" Id="R7a44aacfeb704639" /><Relationship Type="http://schemas.openxmlformats.org/officeDocument/2006/relationships/notesSlide" Target="/ppt/notesSlides/notesSlide20.xml" Id="R752c3399f142422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25713cf2f9e4ad0" /><Relationship Type="http://schemas.openxmlformats.org/officeDocument/2006/relationships/image" Target="/ppt/media/image14.png" Id="Rd98ddd17608a4c74" /><Relationship Type="http://schemas.openxmlformats.org/officeDocument/2006/relationships/image" Target="/ppt/media/image15.png" Id="Ra7d703bb8ba34158" /><Relationship Type="http://schemas.openxmlformats.org/officeDocument/2006/relationships/notesSlide" Target="/ppt/notesSlides/notesSlide21.xml" Id="R1369e77af317484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9b81dd750364894" /><Relationship Type="http://schemas.openxmlformats.org/officeDocument/2006/relationships/image" Target="/ppt/media/image16.png" Id="R83abcb0ad649416f" /><Relationship Type="http://schemas.openxmlformats.org/officeDocument/2006/relationships/notesSlide" Target="/ppt/notesSlides/notesSlide22.xml" Id="R5406de8194f4448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25e55b8df9f4991" /><Relationship Type="http://schemas.openxmlformats.org/officeDocument/2006/relationships/notesSlide" Target="/ppt/notesSlides/notesSlide23.xml" Id="R9873f92426a1459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9BB3E52-9162-40E8-AE58-C6DEA8BB3053}"/>
              </a:ext>
            </a:extLst>
          </p:cNvPr>
          <p:cNvSpPr>
            <a:spLocks xmlns:a="http://schemas.openxmlformats.org/drawingml/2006/main" noGrp="1"/>
          </p:cNvSpPr>
          <p:nvPr/>
        </p:nvSpPr>
        <p:spPr>
          <a:xfrm xmlns:a="http://schemas.openxmlformats.org/drawingml/2006/main">
            <a:off x="685800" y="4572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555555"/>
                </a:solidFill>
              </a:defRPr>
            </a:pPr>
            <a:r>
              <a:rPr sz="2250" b="1" i="0">
                <a:solidFill>
                  <a:srgbClr val="555555"/>
                </a:solidFill>
              </a:rPr>
              <a:t>Gen5.4</a:t>
            </a:r>
          </a:p>
        </p:txBody>
      </p:sp>
      <p:sp>
        <p:nvSpPr>
          <p:cNvPr id="2" name="">
            <a:extLst xmlns:a="http://schemas.openxmlformats.org/drawingml/2006/main">
              <a:ext uri="{FF2B5EF4-FFF2-40B4-BE49-F238E27FC236}">
                <a16:creationId xmlns:a16="http://schemas.microsoft.com/office/drawing/2014/main" id="{38976D15-4D07-43E2-92B1-48D91A5B7404}"/>
              </a:ext>
            </a:extLst>
          </p:cNvPr>
          <p:cNvSpPr>
            <a:spLocks xmlns:a="http://schemas.openxmlformats.org/drawingml/2006/main" noGrp="1"/>
          </p:cNvSpPr>
          <p:nvPr/>
        </p:nvSpPr>
        <p:spPr>
          <a:xfrm xmlns:a="http://schemas.openxmlformats.org/drawingml/2006/main">
            <a:off x="685800" y="1543050"/>
            <a:ext cx="723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650" b="1" i="0">
                <a:solidFill>
                  <a:srgbClr val="000000"/>
                </a:solidFill>
              </a:defRPr>
            </a:pPr>
            <a:r>
              <a:rPr sz="4650" b="1" i="0">
                <a:solidFill>
                  <a:srgbClr val="000000"/>
                </a:solidFill>
              </a:rPr>
              <a:t>ML decision engine</a:t>
            </a:r>
          </a:p>
        </p:txBody>
      </p:sp>
      <p:sp>
        <p:nvSpPr>
          <p:cNvPr id="3" name="">
            <a:extLst xmlns:a="http://schemas.openxmlformats.org/drawingml/2006/main">
              <a:ext uri="{FF2B5EF4-FFF2-40B4-BE49-F238E27FC236}">
                <a16:creationId xmlns:a16="http://schemas.microsoft.com/office/drawing/2014/main" id="{0D7755E5-19CD-49ED-AC67-B73AECF8A498}"/>
              </a:ext>
            </a:extLst>
          </p:cNvPr>
          <p:cNvSpPr>
            <a:spLocks xmlns:a="http://schemas.openxmlformats.org/drawingml/2006/main" noGrp="1"/>
          </p:cNvSpPr>
          <p:nvPr/>
        </p:nvSpPr>
        <p:spPr>
          <a:xfrm xmlns:a="http://schemas.openxmlformats.org/drawingml/2006/main">
            <a:off x="723900" y="2724150"/>
            <a:ext cx="666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i="0">
                <a:solidFill>
                  <a:srgbClr val="222222"/>
                </a:solidFill>
              </a:defRPr>
            </a:pPr>
            <a:r>
              <a:rPr sz="1875" b="0" i="0">
                <a:solidFill>
                  <a:srgbClr val="222222"/>
                </a:solidFill>
              </a:rPr>
              <a:t>Incremental build log: supervised feature and label proof before model fitting.</a:t>
            </a:r>
          </a:p>
        </p:txBody>
      </p:sp>
      <p:sp>
        <p:nvSpPr>
          <p:cNvPr id="4" name="">
            <a:extLst xmlns:a="http://schemas.openxmlformats.org/drawingml/2006/main">
              <a:ext uri="{FF2B5EF4-FFF2-40B4-BE49-F238E27FC236}">
                <a16:creationId xmlns:a16="http://schemas.microsoft.com/office/drawing/2014/main" id="{6160136D-5195-45F5-A72D-CCF9B768D391}"/>
              </a:ext>
            </a:extLst>
          </p:cNvPr>
          <p:cNvSpPr>
            <a:spLocks xmlns:a="http://schemas.openxmlformats.org/drawingml/2006/main" noGrp="1"/>
          </p:cNvSpPr>
          <p:nvPr/>
        </p:nvSpPr>
        <p:spPr>
          <a:xfrm xmlns:a="http://schemas.openxmlformats.org/drawingml/2006/main">
            <a:off x="723900" y="4095750"/>
            <a:ext cx="4953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FC51EA1-60C4-4523-9A9F-610C30AD4EF4}"/>
              </a:ext>
            </a:extLst>
          </p:cNvPr>
          <p:cNvSpPr>
            <a:spLocks xmlns:a="http://schemas.openxmlformats.org/drawingml/2006/main" noGrp="1"/>
          </p:cNvSpPr>
          <p:nvPr/>
        </p:nvSpPr>
        <p:spPr>
          <a:xfrm xmlns:a="http://schemas.openxmlformats.org/drawingml/2006/main">
            <a:off x="723900" y="4400550"/>
            <a:ext cx="657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ML-P0 packet: adjusted daily OHLCV -&gt; features through close t -&gt; next-open h3 label.</a:t>
            </a:r>
          </a:p>
        </p:txBody>
      </p:sp>
      <p:sp>
        <p:nvSpPr>
          <p:cNvPr id="6" name="">
            <a:extLst xmlns:a="http://schemas.openxmlformats.org/drawingml/2006/main">
              <a:ext uri="{FF2B5EF4-FFF2-40B4-BE49-F238E27FC236}">
                <a16:creationId xmlns:a16="http://schemas.microsoft.com/office/drawing/2014/main" id="{2640BD6F-79DD-491F-B873-3E51361F9D97}"/>
              </a:ext>
            </a:extLst>
          </p:cNvPr>
          <p:cNvSpPr>
            <a:spLocks xmlns:a="http://schemas.openxmlformats.org/drawingml/2006/main" noGrp="1"/>
          </p:cNvSpPr>
          <p:nvPr/>
        </p:nvSpPr>
        <p:spPr>
          <a:xfrm xmlns:a="http://schemas.openxmlformats.org/drawingml/2006/main">
            <a:off x="8134350" y="0"/>
            <a:ext cx="405765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AB0027C-26D8-40BA-A3DB-ABC4E2A986DC}"/>
              </a:ext>
            </a:extLst>
          </p:cNvPr>
          <p:cNvSpPr>
            <a:spLocks xmlns:a="http://schemas.openxmlformats.org/drawingml/2006/main" noGrp="1"/>
          </p:cNvSpPr>
          <p:nvPr/>
        </p:nvSpPr>
        <p:spPr>
          <a:xfrm xmlns:a="http://schemas.openxmlformats.org/drawingml/2006/main">
            <a:off x="8572500" y="2362200"/>
            <a:ext cx="247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Research only</a:t>
            </a:r>
          </a:p>
        </p:txBody>
      </p:sp>
      <p:sp>
        <p:nvSpPr>
          <p:cNvPr id="8" name="">
            <a:extLst xmlns:a="http://schemas.openxmlformats.org/drawingml/2006/main">
              <a:ext uri="{FF2B5EF4-FFF2-40B4-BE49-F238E27FC236}">
                <a16:creationId xmlns:a16="http://schemas.microsoft.com/office/drawing/2014/main" id="{5E7BEF9E-8944-423C-968B-58A9006D79F1}"/>
              </a:ext>
            </a:extLst>
          </p:cNvPr>
          <p:cNvSpPr>
            <a:spLocks xmlns:a="http://schemas.openxmlformats.org/drawingml/2006/main" noGrp="1"/>
          </p:cNvSpPr>
          <p:nvPr/>
        </p:nvSpPr>
        <p:spPr>
          <a:xfrm xmlns:a="http://schemas.openxmlformats.org/drawingml/2006/main">
            <a:off x="8572500" y="3009900"/>
            <a:ext cx="257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No model fit</a:t>
            </a:r>
          </a:p>
          <a:p xmlns:a="http://schemas.openxmlformats.org/drawingml/2006/main">
            <a:pPr algn="l">
              <a:defRPr sz="1800" b="0" i="0">
                <a:solidFill>
                  <a:srgbClr val="222222"/>
                </a:solidFill>
              </a:defRPr>
            </a:pPr>
            <a:r>
              <a:rPr sz="1800" b="0" i="0">
                <a:solidFill>
                  <a:srgbClr val="222222"/>
                </a:solidFill>
              </a:rPr>
              <a:t>No live bridge change</a:t>
            </a:r>
          </a:p>
          <a:p xmlns:a="http://schemas.openxmlformats.org/drawingml/2006/main">
            <a:pPr algn="l">
              <a:defRPr sz="1800" b="0" i="0">
                <a:solidFill>
                  <a:srgbClr val="222222"/>
                </a:solidFill>
              </a:defRPr>
            </a:pPr>
            <a:r>
              <a:rPr sz="1800" b="0" i="0">
                <a:solidFill>
                  <a:srgbClr val="222222"/>
                </a:solidFill>
              </a:rPr>
              <a:t>No allocation evidence</a:t>
            </a:r>
          </a:p>
        </p:txBody>
      </p:sp>
    </p:spTree>
    <p:extLst>
      <p:ext uri="{BB962C8B-B14F-4D97-AF65-F5344CB8AC3E}">
        <p14:creationId xmlns:p14="http://schemas.microsoft.com/office/powerpoint/2010/main" val="168925223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AA4FAD7-0BF6-42B1-8AA3-D50B4649B2F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2AFED92-0C86-47B4-BFFC-4FF382A05AF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PCA work taught us where to aim the ML fork</a:t>
            </a:r>
          </a:p>
        </p:txBody>
      </p:sp>
      <p:sp>
        <p:nvSpPr>
          <p:cNvPr id="3" name="">
            <a:extLst xmlns:a="http://schemas.openxmlformats.org/drawingml/2006/main">
              <a:ext uri="{FF2B5EF4-FFF2-40B4-BE49-F238E27FC236}">
                <a16:creationId xmlns:a16="http://schemas.microsoft.com/office/drawing/2014/main" id="{625BF5F8-34D1-41D3-9BF3-D6885FE15D2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A92931-E2E9-49F5-A345-EEE8B8F69469}"/>
              </a:ext>
            </a:extLst>
          </p:cNvPr>
          <p:cNvSpPr>
            <a:spLocks xmlns:a="http://schemas.openxmlformats.org/drawingml/2006/main" noGrp="1"/>
          </p:cNvSpPr>
          <p:nvPr/>
        </p:nvSpPr>
        <p:spPr>
          <a:xfrm xmlns:a="http://schemas.openxmlformats.org/drawingml/2006/main">
            <a:off x="876300" y="2105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5" name="">
            <a:extLst xmlns:a="http://schemas.openxmlformats.org/drawingml/2006/main">
              <a:ext uri="{FF2B5EF4-FFF2-40B4-BE49-F238E27FC236}">
                <a16:creationId xmlns:a16="http://schemas.microsoft.com/office/drawing/2014/main" id="{EA00084F-8DFC-455A-9203-64D9AA7AAD3F}"/>
              </a:ext>
            </a:extLst>
          </p:cNvPr>
          <p:cNvSpPr>
            <a:spLocks xmlns:a="http://schemas.openxmlformats.org/drawingml/2006/main" noGrp="1"/>
          </p:cNvSpPr>
          <p:nvPr/>
        </p:nvSpPr>
        <p:spPr>
          <a:xfrm xmlns:a="http://schemas.openxmlformats.org/drawingml/2006/main">
            <a:off x="1143000" y="20955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PCA states contained useful exposure information, especially in state-only diagnostics.</a:t>
            </a:r>
          </a:p>
        </p:txBody>
      </p:sp>
      <p:sp>
        <p:nvSpPr>
          <p:cNvPr id="6" name="">
            <a:extLst xmlns:a="http://schemas.openxmlformats.org/drawingml/2006/main">
              <a:ext uri="{FF2B5EF4-FFF2-40B4-BE49-F238E27FC236}">
                <a16:creationId xmlns:a16="http://schemas.microsoft.com/office/drawing/2014/main" id="{B1876AB4-97B5-40DC-93A3-D8480D2474C2}"/>
              </a:ext>
            </a:extLst>
          </p:cNvPr>
          <p:cNvSpPr>
            <a:spLocks xmlns:a="http://schemas.openxmlformats.org/drawingml/2006/main" noGrp="1"/>
          </p:cNvSpPr>
          <p:nvPr/>
        </p:nvSpPr>
        <p:spPr>
          <a:xfrm xmlns:a="http://schemas.openxmlformats.org/drawingml/2006/main">
            <a:off x="876300" y="2962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7" name="">
            <a:extLst xmlns:a="http://schemas.openxmlformats.org/drawingml/2006/main">
              <a:ext uri="{FF2B5EF4-FFF2-40B4-BE49-F238E27FC236}">
                <a16:creationId xmlns:a16="http://schemas.microsoft.com/office/drawing/2014/main" id="{11CE9A5B-1E28-44FE-B9BA-30472B4EFB39}"/>
              </a:ext>
            </a:extLst>
          </p:cNvPr>
          <p:cNvSpPr>
            <a:spLocks xmlns:a="http://schemas.openxmlformats.org/drawingml/2006/main" noGrp="1"/>
          </p:cNvSpPr>
          <p:nvPr/>
        </p:nvSpPr>
        <p:spPr>
          <a:xfrm xmlns:a="http://schemas.openxmlformats.org/drawingml/2006/main">
            <a:off x="1143000" y="2952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same states still overparticipated in 2022 and missed too much early upside in rebound windows.</a:t>
            </a:r>
          </a:p>
        </p:txBody>
      </p:sp>
      <p:sp>
        <p:nvSpPr>
          <p:cNvPr id="8" name="">
            <a:extLst xmlns:a="http://schemas.openxmlformats.org/drawingml/2006/main">
              <a:ext uri="{FF2B5EF4-FFF2-40B4-BE49-F238E27FC236}">
                <a16:creationId xmlns:a16="http://schemas.microsoft.com/office/drawing/2014/main" id="{F6A92327-D574-48D4-BB4F-EE496044892E}"/>
              </a:ext>
            </a:extLst>
          </p:cNvPr>
          <p:cNvSpPr>
            <a:spLocks xmlns:a="http://schemas.openxmlformats.org/drawingml/2006/main" noGrp="1"/>
          </p:cNvSpPr>
          <p:nvPr/>
        </p:nvSpPr>
        <p:spPr>
          <a:xfrm xmlns:a="http://schemas.openxmlformats.org/drawingml/2006/main">
            <a:off x="876300" y="3819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64D04879-EFC3-41EC-B171-19A811AC954C}"/>
              </a:ext>
            </a:extLst>
          </p:cNvPr>
          <p:cNvSpPr>
            <a:spLocks xmlns:a="http://schemas.openxmlformats.org/drawingml/2006/main" noGrp="1"/>
          </p:cNvSpPr>
          <p:nvPr/>
        </p:nvSpPr>
        <p:spPr>
          <a:xfrm xmlns:a="http://schemas.openxmlformats.org/drawingml/2006/main">
            <a:off x="1143000" y="3810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Gen5.4 asks the daily exposure question directly instead of routing through a technical strategy first.</a:t>
            </a:r>
          </a:p>
        </p:txBody>
      </p:sp>
      <p:sp>
        <p:nvSpPr>
          <p:cNvPr id="10" name="">
            <a:extLst xmlns:a="http://schemas.openxmlformats.org/drawingml/2006/main">
              <a:ext uri="{FF2B5EF4-FFF2-40B4-BE49-F238E27FC236}">
                <a16:creationId xmlns:a16="http://schemas.microsoft.com/office/drawing/2014/main" id="{0F9D01AC-E525-49D7-BB64-F8F4EBDEC847}"/>
              </a:ext>
            </a:extLst>
          </p:cNvPr>
          <p:cNvSpPr>
            <a:spLocks xmlns:a="http://schemas.openxmlformats.org/drawingml/2006/main" noGrp="1"/>
          </p:cNvSpPr>
          <p:nvPr/>
        </p:nvSpPr>
        <p:spPr>
          <a:xfrm xmlns:a="http://schemas.openxmlformats.org/drawingml/2006/main">
            <a:off x="6191250" y="20955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DC0343DD-D2A1-4986-B752-B3C7A0E12220}"/>
              </a:ext>
            </a:extLst>
          </p:cNvPr>
          <p:cNvSpPr>
            <a:spLocks xmlns:a="http://schemas.openxmlformats.org/drawingml/2006/main" noGrp="1"/>
          </p:cNvSpPr>
          <p:nvPr/>
        </p:nvSpPr>
        <p:spPr>
          <a:xfrm xmlns:a="http://schemas.openxmlformats.org/drawingml/2006/main">
            <a:off x="6191250" y="31623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2" name="">
            <a:extLst xmlns:a="http://schemas.openxmlformats.org/drawingml/2006/main">
              <a:ext uri="{FF2B5EF4-FFF2-40B4-BE49-F238E27FC236}">
                <a16:creationId xmlns:a16="http://schemas.microsoft.com/office/drawing/2014/main" id="{5094260E-FD8E-4742-82F4-4E1792BBB3B2}"/>
              </a:ext>
            </a:extLst>
          </p:cNvPr>
          <p:cNvSpPr>
            <a:spLocks xmlns:a="http://schemas.openxmlformats.org/drawingml/2006/main" noGrp="1"/>
          </p:cNvSpPr>
          <p:nvPr/>
        </p:nvSpPr>
        <p:spPr>
          <a:xfrm xmlns:a="http://schemas.openxmlformats.org/drawingml/2006/main">
            <a:off x="6191250" y="42291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A3381E17-B9D3-4B02-A894-64D4532BCC96}"/>
              </a:ext>
            </a:extLst>
          </p:cNvPr>
          <p:cNvSpPr>
            <a:spLocks xmlns:a="http://schemas.openxmlformats.org/drawingml/2006/main" noGrp="1"/>
          </p:cNvSpPr>
          <p:nvPr/>
        </p:nvSpPr>
        <p:spPr>
          <a:xfrm xmlns:a="http://schemas.openxmlformats.org/drawingml/2006/main">
            <a:off x="6534150" y="22669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OHLCV feature table</a:t>
            </a:r>
          </a:p>
        </p:txBody>
      </p:sp>
      <p:sp>
        <p:nvSpPr>
          <p:cNvPr id="14" name="">
            <a:extLst xmlns:a="http://schemas.openxmlformats.org/drawingml/2006/main">
              <a:ext uri="{FF2B5EF4-FFF2-40B4-BE49-F238E27FC236}">
                <a16:creationId xmlns:a16="http://schemas.microsoft.com/office/drawing/2014/main" id="{87B13125-BD62-414A-8AB9-B1E04B09DCA5}"/>
              </a:ext>
            </a:extLst>
          </p:cNvPr>
          <p:cNvSpPr>
            <a:spLocks xmlns:a="http://schemas.openxmlformats.org/drawingml/2006/main" noGrp="1"/>
          </p:cNvSpPr>
          <p:nvPr/>
        </p:nvSpPr>
        <p:spPr>
          <a:xfrm xmlns:a="http://schemas.openxmlformats.org/drawingml/2006/main">
            <a:off x="6534150" y="33337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Supervised h3 label</a:t>
            </a:r>
          </a:p>
        </p:txBody>
      </p:sp>
      <p:sp>
        <p:nvSpPr>
          <p:cNvPr id="15" name="">
            <a:extLst xmlns:a="http://schemas.openxmlformats.org/drawingml/2006/main">
              <a:ext uri="{FF2B5EF4-FFF2-40B4-BE49-F238E27FC236}">
                <a16:creationId xmlns:a16="http://schemas.microsoft.com/office/drawing/2014/main" id="{6F5904BD-3B3E-4B7E-AE42-F2B953FC49BD}"/>
              </a:ext>
            </a:extLst>
          </p:cNvPr>
          <p:cNvSpPr>
            <a:spLocks xmlns:a="http://schemas.openxmlformats.org/drawingml/2006/main" noGrp="1"/>
          </p:cNvSpPr>
          <p:nvPr/>
        </p:nvSpPr>
        <p:spPr>
          <a:xfrm xmlns:a="http://schemas.openxmlformats.org/drawingml/2006/main">
            <a:off x="6534150" y="4400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Daily long/flat policy</a:t>
            </a:r>
          </a:p>
        </p:txBody>
      </p:sp>
      <p:sp>
        <p:nvSpPr>
          <p:cNvPr id="16" name="">
            <a:extLst xmlns:a="http://schemas.openxmlformats.org/drawingml/2006/main">
              <a:ext uri="{FF2B5EF4-FFF2-40B4-BE49-F238E27FC236}">
                <a16:creationId xmlns:a16="http://schemas.microsoft.com/office/drawing/2014/main" id="{46FE5833-15AF-44DA-B30C-84E2ABCA21A8}"/>
              </a:ext>
            </a:extLst>
          </p:cNvPr>
          <p:cNvSpPr>
            <a:spLocks xmlns:a="http://schemas.openxmlformats.org/drawingml/2006/main" noGrp="1"/>
          </p:cNvSpPr>
          <p:nvPr/>
        </p:nvSpPr>
        <p:spPr>
          <a:xfrm xmlns:a="http://schemas.openxmlformats.org/drawingml/2006/main">
            <a:off x="6324600" y="5334000"/>
            <a:ext cx="433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The first build proves the first two boxes only.</a:t>
            </a:r>
          </a:p>
        </p:txBody>
      </p:sp>
    </p:spTree>
    <p:extLst>
      <p:ext uri="{BB962C8B-B14F-4D97-AF65-F5344CB8AC3E}">
        <p14:creationId xmlns:p14="http://schemas.microsoft.com/office/powerpoint/2010/main" val="195298507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1A1DE9B-2883-44C3-AE0C-093FE00A77E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AE87DAD-B9A8-4510-9365-363B99B9B0D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ML-P0 succeeds only if the table is boringly correct</a:t>
            </a:r>
          </a:p>
        </p:txBody>
      </p:sp>
      <p:sp>
        <p:nvSpPr>
          <p:cNvPr id="3" name="">
            <a:extLst xmlns:a="http://schemas.openxmlformats.org/drawingml/2006/main">
              <a:ext uri="{FF2B5EF4-FFF2-40B4-BE49-F238E27FC236}">
                <a16:creationId xmlns:a16="http://schemas.microsoft.com/office/drawing/2014/main" id="{29262F3E-589C-4A9F-9E2B-4F18647454E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0F9C970-CE3B-4568-AEE1-D6F2A7FBC059}"/>
              </a:ext>
            </a:extLst>
          </p:cNvPr>
          <p:cNvSpPr>
            <a:spLocks xmlns:a="http://schemas.openxmlformats.org/drawingml/2006/main" noGrp="1"/>
          </p:cNvSpPr>
          <p:nvPr/>
        </p:nvSpPr>
        <p:spPr>
          <a:xfrm xmlns:a="http://schemas.openxmlformats.org/drawingml/2006/main">
            <a:off x="8763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A9B9C2DE-C2DC-4108-A01B-7A7E7685F33D}"/>
              </a:ext>
            </a:extLst>
          </p:cNvPr>
          <p:cNvSpPr>
            <a:spLocks xmlns:a="http://schemas.openxmlformats.org/drawingml/2006/main" noGrp="1"/>
          </p:cNvSpPr>
          <p:nvPr/>
        </p:nvSpPr>
        <p:spPr>
          <a:xfrm xmlns:a="http://schemas.openxmlformats.org/drawingml/2006/main">
            <a:off x="10477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USABLE LABELED ROWS</a:t>
            </a:r>
          </a:p>
        </p:txBody>
      </p:sp>
      <p:sp>
        <p:nvSpPr>
          <p:cNvPr id="6" name="">
            <a:extLst xmlns:a="http://schemas.openxmlformats.org/drawingml/2006/main">
              <a:ext uri="{FF2B5EF4-FFF2-40B4-BE49-F238E27FC236}">
                <a16:creationId xmlns:a16="http://schemas.microsoft.com/office/drawing/2014/main" id="{F47EDEA3-DA16-40AF-922F-0282DF735A1B}"/>
              </a:ext>
            </a:extLst>
          </p:cNvPr>
          <p:cNvSpPr>
            <a:spLocks xmlns:a="http://schemas.openxmlformats.org/drawingml/2006/main" noGrp="1"/>
          </p:cNvSpPr>
          <p:nvPr/>
        </p:nvSpPr>
        <p:spPr>
          <a:xfrm xmlns:a="http://schemas.openxmlformats.org/drawingml/2006/main">
            <a:off x="10477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22,440</a:t>
            </a:r>
          </a:p>
        </p:txBody>
      </p:sp>
      <p:sp>
        <p:nvSpPr>
          <p:cNvPr id="7" name="">
            <a:extLst xmlns:a="http://schemas.openxmlformats.org/drawingml/2006/main">
              <a:ext uri="{FF2B5EF4-FFF2-40B4-BE49-F238E27FC236}">
                <a16:creationId xmlns:a16="http://schemas.microsoft.com/office/drawing/2014/main" id="{F6EA13BE-F47C-4262-B586-BDCBECF95DB1}"/>
              </a:ext>
            </a:extLst>
          </p:cNvPr>
          <p:cNvSpPr>
            <a:spLocks xmlns:a="http://schemas.openxmlformats.org/drawingml/2006/main" noGrp="1"/>
          </p:cNvSpPr>
          <p:nvPr/>
        </p:nvSpPr>
        <p:spPr>
          <a:xfrm xmlns:a="http://schemas.openxmlformats.org/drawingml/2006/main">
            <a:off x="10477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Rows eligible after fold and horizon filters.</a:t>
            </a:r>
          </a:p>
        </p:txBody>
      </p:sp>
      <p:sp>
        <p:nvSpPr>
          <p:cNvPr id="8" name="">
            <a:extLst xmlns:a="http://schemas.openxmlformats.org/drawingml/2006/main">
              <a:ext uri="{FF2B5EF4-FFF2-40B4-BE49-F238E27FC236}">
                <a16:creationId xmlns:a16="http://schemas.microsoft.com/office/drawing/2014/main" id="{484862F7-734C-4774-8BE4-8D081EA179DA}"/>
              </a:ext>
            </a:extLst>
          </p:cNvPr>
          <p:cNvSpPr>
            <a:spLocks xmlns:a="http://schemas.openxmlformats.org/drawingml/2006/main" noGrp="1"/>
          </p:cNvSpPr>
          <p:nvPr/>
        </p:nvSpPr>
        <p:spPr>
          <a:xfrm xmlns:a="http://schemas.openxmlformats.org/drawingml/2006/main">
            <a:off x="466725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88020B65-549E-4C4C-A4EE-A13B1B6F7E64}"/>
              </a:ext>
            </a:extLst>
          </p:cNvPr>
          <p:cNvSpPr>
            <a:spLocks xmlns:a="http://schemas.openxmlformats.org/drawingml/2006/main" noGrp="1"/>
          </p:cNvSpPr>
          <p:nvPr/>
        </p:nvSpPr>
        <p:spPr>
          <a:xfrm xmlns:a="http://schemas.openxmlformats.org/drawingml/2006/main">
            <a:off x="483870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FEATURES</a:t>
            </a:r>
          </a:p>
        </p:txBody>
      </p:sp>
      <p:sp>
        <p:nvSpPr>
          <p:cNvPr id="10" name="">
            <a:extLst xmlns:a="http://schemas.openxmlformats.org/drawingml/2006/main">
              <a:ext uri="{FF2B5EF4-FFF2-40B4-BE49-F238E27FC236}">
                <a16:creationId xmlns:a16="http://schemas.microsoft.com/office/drawing/2014/main" id="{8DF3CFCB-9E4E-4448-9121-E179A6A6446B}"/>
              </a:ext>
            </a:extLst>
          </p:cNvPr>
          <p:cNvSpPr>
            <a:spLocks xmlns:a="http://schemas.openxmlformats.org/drawingml/2006/main" noGrp="1"/>
          </p:cNvSpPr>
          <p:nvPr/>
        </p:nvSpPr>
        <p:spPr>
          <a:xfrm xmlns:a="http://schemas.openxmlformats.org/drawingml/2006/main">
            <a:off x="483870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1" name="">
            <a:extLst xmlns:a="http://schemas.openxmlformats.org/drawingml/2006/main">
              <a:ext uri="{FF2B5EF4-FFF2-40B4-BE49-F238E27FC236}">
                <a16:creationId xmlns:a16="http://schemas.microsoft.com/office/drawing/2014/main" id="{E1082171-DDC1-480B-9B0C-B7888CEA09A7}"/>
              </a:ext>
            </a:extLst>
          </p:cNvPr>
          <p:cNvSpPr>
            <a:spLocks xmlns:a="http://schemas.openxmlformats.org/drawingml/2006/main" noGrp="1"/>
          </p:cNvSpPr>
          <p:nvPr/>
        </p:nvSpPr>
        <p:spPr>
          <a:xfrm xmlns:a="http://schemas.openxmlformats.org/drawingml/2006/main">
            <a:off x="483870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PCA-inspired plus explicit OHLCV additions.</a:t>
            </a:r>
          </a:p>
        </p:txBody>
      </p:sp>
      <p:sp>
        <p:nvSpPr>
          <p:cNvPr id="12" name="">
            <a:extLst xmlns:a="http://schemas.openxmlformats.org/drawingml/2006/main">
              <a:ext uri="{FF2B5EF4-FFF2-40B4-BE49-F238E27FC236}">
                <a16:creationId xmlns:a16="http://schemas.microsoft.com/office/drawing/2014/main" id="{59EF25BC-22A2-47E0-B43A-649AA5B3A7F6}"/>
              </a:ext>
            </a:extLst>
          </p:cNvPr>
          <p:cNvSpPr>
            <a:spLocks xmlns:a="http://schemas.openxmlformats.org/drawingml/2006/main" noGrp="1"/>
          </p:cNvSpPr>
          <p:nvPr/>
        </p:nvSpPr>
        <p:spPr>
          <a:xfrm xmlns:a="http://schemas.openxmlformats.org/drawingml/2006/main">
            <a:off x="84582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C608CE68-3175-4AFD-981D-F6B6987ED796}"/>
              </a:ext>
            </a:extLst>
          </p:cNvPr>
          <p:cNvSpPr>
            <a:spLocks xmlns:a="http://schemas.openxmlformats.org/drawingml/2006/main" noGrp="1"/>
          </p:cNvSpPr>
          <p:nvPr/>
        </p:nvSpPr>
        <p:spPr>
          <a:xfrm xmlns:a="http://schemas.openxmlformats.org/drawingml/2006/main">
            <a:off x="86296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4" name="">
            <a:extLst xmlns:a="http://schemas.openxmlformats.org/drawingml/2006/main">
              <a:ext uri="{FF2B5EF4-FFF2-40B4-BE49-F238E27FC236}">
                <a16:creationId xmlns:a16="http://schemas.microsoft.com/office/drawing/2014/main" id="{8C08F2C7-C230-48AE-BF1D-9384FAD02393}"/>
              </a:ext>
            </a:extLst>
          </p:cNvPr>
          <p:cNvSpPr>
            <a:spLocks xmlns:a="http://schemas.openxmlformats.org/drawingml/2006/main" noGrp="1"/>
          </p:cNvSpPr>
          <p:nvPr/>
        </p:nvSpPr>
        <p:spPr>
          <a:xfrm xmlns:a="http://schemas.openxmlformats.org/drawingml/2006/main">
            <a:off x="86296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5" name="">
            <a:extLst xmlns:a="http://schemas.openxmlformats.org/drawingml/2006/main">
              <a:ext uri="{FF2B5EF4-FFF2-40B4-BE49-F238E27FC236}">
                <a16:creationId xmlns:a16="http://schemas.microsoft.com/office/drawing/2014/main" id="{FC5B4A0A-04F8-482A-9315-390D62E16B5A}"/>
              </a:ext>
            </a:extLst>
          </p:cNvPr>
          <p:cNvSpPr>
            <a:spLocks xmlns:a="http://schemas.openxmlformats.org/drawingml/2006/main" noGrp="1"/>
          </p:cNvSpPr>
          <p:nvPr/>
        </p:nvSpPr>
        <p:spPr>
          <a:xfrm xmlns:a="http://schemas.openxmlformats.org/drawingml/2006/main">
            <a:off x="86296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labels stay inside TRAIN; OOS labels stay inside OOS.</a:t>
            </a:r>
          </a:p>
        </p:txBody>
      </p:sp>
      <p:sp>
        <p:nvSpPr>
          <p:cNvPr id="16" name="">
            <a:extLst xmlns:a="http://schemas.openxmlformats.org/drawingml/2006/main">
              <a:ext uri="{FF2B5EF4-FFF2-40B4-BE49-F238E27FC236}">
                <a16:creationId xmlns:a16="http://schemas.microsoft.com/office/drawing/2014/main" id="{A1F2E1A7-D3D1-4BAD-9B58-E0FC726CECEB}"/>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7" name="">
            <a:extLst xmlns:a="http://schemas.openxmlformats.org/drawingml/2006/main">
              <a:ext uri="{FF2B5EF4-FFF2-40B4-BE49-F238E27FC236}">
                <a16:creationId xmlns:a16="http://schemas.microsoft.com/office/drawing/2014/main" id="{7E446C2F-FC9A-4C41-A95B-76BF7A9B3271}"/>
              </a:ext>
            </a:extLst>
          </p:cNvPr>
          <p:cNvSpPr>
            <a:spLocks xmlns:a="http://schemas.openxmlformats.org/drawingml/2006/main" noGrp="1"/>
          </p:cNvSpPr>
          <p:nvPr/>
        </p:nvSpPr>
        <p:spPr>
          <a:xfrm xmlns:a="http://schemas.openxmlformats.org/drawingml/2006/main">
            <a:off x="144780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Features are known after close t.</a:t>
            </a:r>
          </a:p>
        </p:txBody>
      </p:sp>
      <p:sp>
        <p:nvSpPr>
          <p:cNvPr id="18" name="">
            <a:extLst xmlns:a="http://schemas.openxmlformats.org/drawingml/2006/main">
              <a:ext uri="{FF2B5EF4-FFF2-40B4-BE49-F238E27FC236}">
                <a16:creationId xmlns:a16="http://schemas.microsoft.com/office/drawing/2014/main" id="{B252D230-A173-4E08-AE81-8468C574B7E0}"/>
              </a:ext>
            </a:extLst>
          </p:cNvPr>
          <p:cNvSpPr>
            <a:spLocks xmlns:a="http://schemas.openxmlformats.org/drawingml/2006/main" noGrp="1"/>
          </p:cNvSpPr>
          <p:nvPr/>
        </p:nvSpPr>
        <p:spPr>
          <a:xfrm xmlns:a="http://schemas.openxmlformats.org/drawingml/2006/main">
            <a:off x="118110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9" name="">
            <a:extLst xmlns:a="http://schemas.openxmlformats.org/drawingml/2006/main">
              <a:ext uri="{FF2B5EF4-FFF2-40B4-BE49-F238E27FC236}">
                <a16:creationId xmlns:a16="http://schemas.microsoft.com/office/drawing/2014/main" id="{01F0FABC-9EBF-4847-AAFD-64719C30B221}"/>
              </a:ext>
            </a:extLst>
          </p:cNvPr>
          <p:cNvSpPr>
            <a:spLocks xmlns:a="http://schemas.openxmlformats.org/drawingml/2006/main" noGrp="1"/>
          </p:cNvSpPr>
          <p:nvPr/>
        </p:nvSpPr>
        <p:spPr>
          <a:xfrm xmlns:a="http://schemas.openxmlformats.org/drawingml/2006/main">
            <a:off x="144780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Hypothetical execution starts at next open.</a:t>
            </a:r>
          </a:p>
        </p:txBody>
      </p:sp>
      <p:sp>
        <p:nvSpPr>
          <p:cNvPr id="20" name="">
            <a:extLst xmlns:a="http://schemas.openxmlformats.org/drawingml/2006/main">
              <a:ext uri="{FF2B5EF4-FFF2-40B4-BE49-F238E27FC236}">
                <a16:creationId xmlns:a16="http://schemas.microsoft.com/office/drawing/2014/main" id="{35B1DB1C-E803-4022-8CBD-42D9F2C9B1F8}"/>
              </a:ext>
            </a:extLst>
          </p:cNvPr>
          <p:cNvSpPr>
            <a:spLocks xmlns:a="http://schemas.openxmlformats.org/drawingml/2006/main" noGrp="1"/>
          </p:cNvSpPr>
          <p:nvPr/>
        </p:nvSpPr>
        <p:spPr>
          <a:xfrm xmlns:a="http://schemas.openxmlformats.org/drawingml/2006/main">
            <a:off x="619125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1" name="">
            <a:extLst xmlns:a="http://schemas.openxmlformats.org/drawingml/2006/main">
              <a:ext uri="{FF2B5EF4-FFF2-40B4-BE49-F238E27FC236}">
                <a16:creationId xmlns:a16="http://schemas.microsoft.com/office/drawing/2014/main" id="{85FBB00B-371C-4B2E-9E29-F45824547D40}"/>
              </a:ext>
            </a:extLst>
          </p:cNvPr>
          <p:cNvSpPr>
            <a:spLocks xmlns:a="http://schemas.openxmlformats.org/drawingml/2006/main" noGrp="1"/>
          </p:cNvSpPr>
          <p:nvPr/>
        </p:nvSpPr>
        <p:spPr>
          <a:xfrm xmlns:a="http://schemas.openxmlformats.org/drawingml/2006/main">
            <a:off x="645795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h3 label ends at close three sessions later.</a:t>
            </a:r>
          </a:p>
        </p:txBody>
      </p:sp>
      <p:sp>
        <p:nvSpPr>
          <p:cNvPr id="22" name="">
            <a:extLst xmlns:a="http://schemas.openxmlformats.org/drawingml/2006/main">
              <a:ext uri="{FF2B5EF4-FFF2-40B4-BE49-F238E27FC236}">
                <a16:creationId xmlns:a16="http://schemas.microsoft.com/office/drawing/2014/main" id="{B57423C7-E917-42E5-8E69-B1FF861746D1}"/>
              </a:ext>
            </a:extLst>
          </p:cNvPr>
          <p:cNvSpPr>
            <a:spLocks xmlns:a="http://schemas.openxmlformats.org/drawingml/2006/main" noGrp="1"/>
          </p:cNvSpPr>
          <p:nvPr/>
        </p:nvSpPr>
        <p:spPr>
          <a:xfrm xmlns:a="http://schemas.openxmlformats.org/drawingml/2006/main">
            <a:off x="619125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3" name="">
            <a:extLst xmlns:a="http://schemas.openxmlformats.org/drawingml/2006/main">
              <a:ext uri="{FF2B5EF4-FFF2-40B4-BE49-F238E27FC236}">
                <a16:creationId xmlns:a16="http://schemas.microsoft.com/office/drawing/2014/main" id="{835C1339-EA84-4BF0-BA8A-A8216D688442}"/>
              </a:ext>
            </a:extLst>
          </p:cNvPr>
          <p:cNvSpPr>
            <a:spLocks xmlns:a="http://schemas.openxmlformats.org/drawingml/2006/main" noGrp="1"/>
          </p:cNvSpPr>
          <p:nvPr/>
        </p:nvSpPr>
        <p:spPr>
          <a:xfrm xmlns:a="http://schemas.openxmlformats.org/drawingml/2006/main">
            <a:off x="645795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Rows without a complete horizon are excluded from the proof table.</a:t>
            </a:r>
          </a:p>
        </p:txBody>
      </p:sp>
    </p:spTree>
    <p:extLst>
      <p:ext uri="{BB962C8B-B14F-4D97-AF65-F5344CB8AC3E}">
        <p14:creationId xmlns:p14="http://schemas.microsoft.com/office/powerpoint/2010/main" val="118025924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BC1B214-6146-4764-AA7F-A99598AE04B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96EB98F-3684-4769-B7BC-77AA9E0A39B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fold calendar makes the leakage rule visible</a:t>
            </a:r>
          </a:p>
        </p:txBody>
      </p:sp>
      <p:sp>
        <p:nvSpPr>
          <p:cNvPr id="3" name="">
            <a:extLst xmlns:a="http://schemas.openxmlformats.org/drawingml/2006/main">
              <a:ext uri="{FF2B5EF4-FFF2-40B4-BE49-F238E27FC236}">
                <a16:creationId xmlns:a16="http://schemas.microsoft.com/office/drawing/2014/main" id="{F97BF7E6-EF90-4CA4-8982-95B2F589C51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0cae3e91e884ee8"/>
          <a:stretch xmlns:a="http://schemas.openxmlformats.org/drawingml/2006/main"/>
        </p:blipFill>
        <p:spPr>
          <a:xfrm xmlns:a="http://schemas.openxmlformats.org/drawingml/2006/main">
            <a:off x="838200" y="203835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0654221-CF9C-451E-82EC-E9161A53E9D1}"/>
              </a:ext>
            </a:extLst>
          </p:cNvPr>
          <p:cNvSpPr>
            <a:spLocks xmlns:a="http://schemas.openxmlformats.org/drawingml/2006/main" noGrp="1"/>
          </p:cNvSpPr>
          <p:nvPr/>
        </p:nvSpPr>
        <p:spPr>
          <a:xfrm xmlns:a="http://schemas.openxmlformats.org/drawingml/2006/main">
            <a:off x="8629650" y="21336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it matters</a:t>
            </a:r>
          </a:p>
        </p:txBody>
      </p:sp>
      <p:sp>
        <p:nvSpPr>
          <p:cNvPr id="6" name="">
            <a:extLst xmlns:a="http://schemas.openxmlformats.org/drawingml/2006/main">
              <a:ext uri="{FF2B5EF4-FFF2-40B4-BE49-F238E27FC236}">
                <a16:creationId xmlns:a16="http://schemas.microsoft.com/office/drawing/2014/main" id="{C923F815-86BA-4D33-96B6-17ACFECE378A}"/>
              </a:ext>
            </a:extLst>
          </p:cNvPr>
          <p:cNvSpPr>
            <a:spLocks xmlns:a="http://schemas.openxmlformats.org/drawingml/2006/main" noGrp="1"/>
          </p:cNvSpPr>
          <p:nvPr/>
        </p:nvSpPr>
        <p:spPr>
          <a:xfrm xmlns:a="http://schemas.openxmlformats.org/drawingml/2006/main">
            <a:off x="8629650" y="2628900"/>
            <a:ext cx="238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A TRAIN example is not eligible unless its future h3 label finishes before the TRAIN/OOS boundary. OOS labels are allowed for inspection, but they never feed model fitting or threshold choice.</a:t>
            </a:r>
          </a:p>
        </p:txBody>
      </p:sp>
    </p:spTree>
    <p:extLst>
      <p:ext uri="{BB962C8B-B14F-4D97-AF65-F5344CB8AC3E}">
        <p14:creationId xmlns:p14="http://schemas.microsoft.com/office/powerpoint/2010/main" val="3975749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3A49778-0DC4-4BAE-961F-97F82944949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4998785-9145-4FCE-A54F-5E8865DF29C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OHLCV adds information that close-to-close would discard</a:t>
            </a:r>
          </a:p>
        </p:txBody>
      </p:sp>
      <p:sp>
        <p:nvSpPr>
          <p:cNvPr id="3" name="">
            <a:extLst xmlns:a="http://schemas.openxmlformats.org/drawingml/2006/main">
              <a:ext uri="{FF2B5EF4-FFF2-40B4-BE49-F238E27FC236}">
                <a16:creationId xmlns:a16="http://schemas.microsoft.com/office/drawing/2014/main" id="{689F875F-0750-4433-8F47-72914CBDCA1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c358e62a2eae43d0"/>
          <a:stretch xmlns:a="http://schemas.openxmlformats.org/drawingml/2006/main"/>
        </p:blipFill>
        <p:spPr>
          <a:xfrm xmlns:a="http://schemas.openxmlformats.org/drawingml/2006/main">
            <a:off x="742950" y="2257791"/>
            <a:ext cx="5810250" cy="33520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8E681E7-870B-4C89-9820-9400A077D089}"/>
              </a:ext>
            </a:extLst>
          </p:cNvPr>
          <p:cNvSpPr>
            <a:spLocks xmlns:a="http://schemas.openxmlformats.org/drawingml/2006/main" noGrp="1"/>
          </p:cNvSpPr>
          <p:nvPr/>
        </p:nvSpPr>
        <p:spPr>
          <a:xfrm xmlns:a="http://schemas.openxmlformats.org/drawingml/2006/main">
            <a:off x="7048500" y="2095500"/>
            <a:ext cx="3619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The first feature table is complete enough to model from.</a:t>
            </a:r>
          </a:p>
        </p:txBody>
      </p:sp>
      <p:sp>
        <p:nvSpPr>
          <p:cNvPr id="6" name="">
            <a:extLst xmlns:a="http://schemas.openxmlformats.org/drawingml/2006/main">
              <a:ext uri="{FF2B5EF4-FFF2-40B4-BE49-F238E27FC236}">
                <a16:creationId xmlns:a16="http://schemas.microsoft.com/office/drawing/2014/main" id="{DF022C8C-A4E9-4944-901E-CDC712F6E770}"/>
              </a:ext>
            </a:extLst>
          </p:cNvPr>
          <p:cNvSpPr>
            <a:spLocks xmlns:a="http://schemas.openxmlformats.org/drawingml/2006/main" noGrp="1"/>
          </p:cNvSpPr>
          <p:nvPr/>
        </p:nvSpPr>
        <p:spPr>
          <a:xfrm xmlns:a="http://schemas.openxmlformats.org/drawingml/2006/main">
            <a:off x="7067550" y="3095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7" name="">
            <a:extLst xmlns:a="http://schemas.openxmlformats.org/drawingml/2006/main">
              <a:ext uri="{FF2B5EF4-FFF2-40B4-BE49-F238E27FC236}">
                <a16:creationId xmlns:a16="http://schemas.microsoft.com/office/drawing/2014/main" id="{C05BAF81-DD5C-48A0-99F5-5FC24CB8D9E7}"/>
              </a:ext>
            </a:extLst>
          </p:cNvPr>
          <p:cNvSpPr>
            <a:spLocks xmlns:a="http://schemas.openxmlformats.org/drawingml/2006/main" noGrp="1"/>
          </p:cNvSpPr>
          <p:nvPr/>
        </p:nvSpPr>
        <p:spPr>
          <a:xfrm xmlns:a="http://schemas.openxmlformats.org/drawingml/2006/main">
            <a:off x="7334250" y="308610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Candle body, wick, gap, range, and volume features are populated across both windows.</a:t>
            </a:r>
          </a:p>
        </p:txBody>
      </p:sp>
      <p:sp>
        <p:nvSpPr>
          <p:cNvPr id="8" name="">
            <a:extLst xmlns:a="http://schemas.openxmlformats.org/drawingml/2006/main">
              <a:ext uri="{FF2B5EF4-FFF2-40B4-BE49-F238E27FC236}">
                <a16:creationId xmlns:a16="http://schemas.microsoft.com/office/drawing/2014/main" id="{BDB79631-3684-407E-BA29-ACB6C1398777}"/>
              </a:ext>
            </a:extLst>
          </p:cNvPr>
          <p:cNvSpPr>
            <a:spLocks xmlns:a="http://schemas.openxmlformats.org/drawingml/2006/main" noGrp="1"/>
          </p:cNvSpPr>
          <p:nvPr/>
        </p:nvSpPr>
        <p:spPr>
          <a:xfrm xmlns:a="http://schemas.openxmlformats.org/drawingml/2006/main">
            <a:off x="7067550" y="40671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9" name="">
            <a:extLst xmlns:a="http://schemas.openxmlformats.org/drawingml/2006/main">
              <a:ext uri="{FF2B5EF4-FFF2-40B4-BE49-F238E27FC236}">
                <a16:creationId xmlns:a16="http://schemas.microsoft.com/office/drawing/2014/main" id="{BA28C531-02EB-4B6C-AD4A-EB136170C2E0}"/>
              </a:ext>
            </a:extLst>
          </p:cNvPr>
          <p:cNvSpPr>
            <a:spLocks xmlns:a="http://schemas.openxmlformats.org/drawingml/2006/main" noGrp="1"/>
          </p:cNvSpPr>
          <p:nvPr/>
        </p:nvSpPr>
        <p:spPr>
          <a:xfrm xmlns:a="http://schemas.openxmlformats.org/drawingml/2006/main">
            <a:off x="7334250" y="405765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This does not prove alpha. It proves the supervised surface is technically usable.</a:t>
            </a:r>
          </a:p>
        </p:txBody>
      </p:sp>
    </p:spTree>
    <p:extLst>
      <p:ext uri="{BB962C8B-B14F-4D97-AF65-F5344CB8AC3E}">
        <p14:creationId xmlns:p14="http://schemas.microsoft.com/office/powerpoint/2010/main" val="189994963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7922E52-8030-40D3-AF53-E9E4800AAB6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DF0F1A9-2846-4A2B-BEC7-C31643FCE09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h3 target is balanced enough for a first model test</a:t>
            </a:r>
          </a:p>
        </p:txBody>
      </p:sp>
      <p:sp>
        <p:nvSpPr>
          <p:cNvPr id="3" name="">
            <a:extLst xmlns:a="http://schemas.openxmlformats.org/drawingml/2006/main">
              <a:ext uri="{FF2B5EF4-FFF2-40B4-BE49-F238E27FC236}">
                <a16:creationId xmlns:a16="http://schemas.microsoft.com/office/drawing/2014/main" id="{BCDE0107-795F-45EC-A323-E5E754F60BD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67ffcad5f8d4eb0"/>
          <a:stretch xmlns:a="http://schemas.openxmlformats.org/drawingml/2006/main"/>
        </p:blipFill>
        <p:spPr>
          <a:xfrm xmlns:a="http://schemas.openxmlformats.org/drawingml/2006/main">
            <a:off x="723900" y="2423716"/>
            <a:ext cx="5048250" cy="2734469"/>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097264eae7724fdf"/>
          <a:stretch xmlns:a="http://schemas.openxmlformats.org/drawingml/2006/main"/>
        </p:blipFill>
        <p:spPr>
          <a:xfrm xmlns:a="http://schemas.openxmlformats.org/drawingml/2006/main">
            <a:off x="6191250" y="2505075"/>
            <a:ext cx="51435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DE2534B-A02B-4FE8-9130-36F73EE50FA9}"/>
              </a:ext>
            </a:extLst>
          </p:cNvPr>
          <p:cNvSpPr>
            <a:spLocks xmlns:a="http://schemas.openxmlformats.org/drawingml/2006/main" noGrp="1"/>
          </p:cNvSpPr>
          <p:nvPr/>
        </p:nvSpPr>
        <p:spPr>
          <a:xfrm xmlns:a="http://schemas.openxmlformats.org/drawingml/2006/main">
            <a:off x="857250" y="579120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55555"/>
                </a:solidFill>
              </a:defRPr>
            </a:pPr>
            <a:r>
              <a:rPr sz="1350" b="0" i="0">
                <a:solidFill>
                  <a:srgbClr val="555555"/>
                </a:solidFill>
              </a:rPr>
              <a:t>Mean OOS positive-label rate: 2020 56.6%; 2022 45.6%. Mean OOS h3 return: 2020 1.0%; 2022 -0.6%.</a:t>
            </a:r>
          </a:p>
        </p:txBody>
      </p:sp>
    </p:spTree>
    <p:extLst>
      <p:ext uri="{BB962C8B-B14F-4D97-AF65-F5344CB8AC3E}">
        <p14:creationId xmlns:p14="http://schemas.microsoft.com/office/powerpoint/2010/main" val="3798077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8993EC3-7D5F-458C-8607-911E97EFE4C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6959B8B-3CEF-4456-AA62-AC60686EAD8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label matches how an after-close system would trade</a:t>
            </a:r>
          </a:p>
        </p:txBody>
      </p:sp>
      <p:sp>
        <p:nvSpPr>
          <p:cNvPr id="3" name="">
            <a:extLst xmlns:a="http://schemas.openxmlformats.org/drawingml/2006/main">
              <a:ext uri="{FF2B5EF4-FFF2-40B4-BE49-F238E27FC236}">
                <a16:creationId xmlns:a16="http://schemas.microsoft.com/office/drawing/2014/main" id="{F32CF3EC-8F97-4B03-B3A1-3A0F7991B66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329df2c40af4213"/>
          <a:stretch xmlns:a="http://schemas.openxmlformats.org/drawingml/2006/main"/>
        </p:blipFill>
        <p:spPr>
          <a:xfrm xmlns:a="http://schemas.openxmlformats.org/drawingml/2006/main">
            <a:off x="876300" y="209550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619CEC8-A47B-40E8-B0D4-E1C429568030}"/>
              </a:ext>
            </a:extLst>
          </p:cNvPr>
          <p:cNvSpPr>
            <a:spLocks xmlns:a="http://schemas.openxmlformats.org/drawingml/2006/main" noGrp="1"/>
          </p:cNvSpPr>
          <p:nvPr/>
        </p:nvSpPr>
        <p:spPr>
          <a:xfrm xmlns:a="http://schemas.openxmlformats.org/drawingml/2006/main">
            <a:off x="86296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Read the markers left to right</a:t>
            </a:r>
          </a:p>
        </p:txBody>
      </p:sp>
      <p:sp>
        <p:nvSpPr>
          <p:cNvPr id="6" name="">
            <a:extLst xmlns:a="http://schemas.openxmlformats.org/drawingml/2006/main">
              <a:ext uri="{FF2B5EF4-FFF2-40B4-BE49-F238E27FC236}">
                <a16:creationId xmlns:a16="http://schemas.microsoft.com/office/drawing/2014/main" id="{2E5380D4-5343-4706-989C-CBF57C3124BF}"/>
              </a:ext>
            </a:extLst>
          </p:cNvPr>
          <p:cNvSpPr>
            <a:spLocks xmlns:a="http://schemas.openxmlformats.org/drawingml/2006/main" noGrp="1"/>
          </p:cNvSpPr>
          <p:nvPr/>
        </p:nvSpPr>
        <p:spPr>
          <a:xfrm xmlns:a="http://schemas.openxmlformats.org/drawingml/2006/main">
            <a:off x="8629650" y="2667000"/>
            <a:ext cx="2476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Blue is the feature date. Orange is the next open, where a future model would act. Green is the close three sessions later, where the label is measured.</a:t>
            </a:r>
          </a:p>
        </p:txBody>
      </p:sp>
    </p:spTree>
    <p:extLst>
      <p:ext uri="{BB962C8B-B14F-4D97-AF65-F5344CB8AC3E}">
        <p14:creationId xmlns:p14="http://schemas.microsoft.com/office/powerpoint/2010/main" val="25842580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ED06015-3DEE-4987-BEE4-7D3CB55AF8C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79B0D3B-B7D0-47F1-B3E5-C6B1D152727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Feature strips give us a human audit of what the model will see</a:t>
            </a:r>
          </a:p>
        </p:txBody>
      </p:sp>
      <p:sp>
        <p:nvSpPr>
          <p:cNvPr id="3" name="">
            <a:extLst xmlns:a="http://schemas.openxmlformats.org/drawingml/2006/main">
              <a:ext uri="{FF2B5EF4-FFF2-40B4-BE49-F238E27FC236}">
                <a16:creationId xmlns:a16="http://schemas.microsoft.com/office/drawing/2014/main" id="{7C2F7EAA-78BC-4DD0-8209-37E3A12453A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8bd0dd0b5e14e7e"/>
          <a:stretch xmlns:a="http://schemas.openxmlformats.org/drawingml/2006/main"/>
        </p:blipFill>
        <p:spPr>
          <a:xfrm xmlns:a="http://schemas.openxmlformats.org/drawingml/2006/main">
            <a:off x="11703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7210EEC-B266-43DD-B01B-9A178D2AE458}"/>
              </a:ext>
            </a:extLst>
          </p:cNvPr>
          <p:cNvSpPr>
            <a:spLocks xmlns:a="http://schemas.openxmlformats.org/drawingml/2006/main" noGrp="1"/>
          </p:cNvSpPr>
          <p:nvPr/>
        </p:nvSpPr>
        <p:spPr>
          <a:xfrm xmlns:a="http://schemas.openxmlformats.org/drawingml/2006/main">
            <a:off x="8572500" y="2133600"/>
            <a:ext cx="2619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This is still pre-model evidence.</a:t>
            </a:r>
          </a:p>
        </p:txBody>
      </p:sp>
      <p:sp>
        <p:nvSpPr>
          <p:cNvPr id="6" name="">
            <a:extLst xmlns:a="http://schemas.openxmlformats.org/drawingml/2006/main">
              <a:ext uri="{FF2B5EF4-FFF2-40B4-BE49-F238E27FC236}">
                <a16:creationId xmlns:a16="http://schemas.microsoft.com/office/drawing/2014/main" id="{59AC4BD4-2C25-4094-8747-F27400D7809D}"/>
              </a:ext>
            </a:extLst>
          </p:cNvPr>
          <p:cNvSpPr>
            <a:spLocks xmlns:a="http://schemas.openxmlformats.org/drawingml/2006/main" noGrp="1"/>
          </p:cNvSpPr>
          <p:nvPr/>
        </p:nvSpPr>
        <p:spPr>
          <a:xfrm xmlns:a="http://schemas.openxmlformats.org/drawingml/2006/main">
            <a:off x="8572500" y="2724150"/>
            <a:ext cx="2571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plot checks that trend, range location, and volume features move in recognizable ways around a hard 2022 tape. The next step is to ask whether a model can combine these signals better than hand-coded states.</a:t>
            </a:r>
          </a:p>
        </p:txBody>
      </p:sp>
    </p:spTree>
    <p:extLst>
      <p:ext uri="{BB962C8B-B14F-4D97-AF65-F5344CB8AC3E}">
        <p14:creationId xmlns:p14="http://schemas.microsoft.com/office/powerpoint/2010/main" val="117210027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954314F-4212-4C8F-BA46-430FA85F6AB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9E977BA-DA8E-4F40-8666-CE90F67D3CE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A univariate audit gives early clues without pretending to be a model</a:t>
            </a:r>
          </a:p>
        </p:txBody>
      </p:sp>
      <p:sp>
        <p:nvSpPr>
          <p:cNvPr id="3" name="">
            <a:extLst xmlns:a="http://schemas.openxmlformats.org/drawingml/2006/main">
              <a:ext uri="{FF2B5EF4-FFF2-40B4-BE49-F238E27FC236}">
                <a16:creationId xmlns:a16="http://schemas.microsoft.com/office/drawing/2014/main" id="{3DF779C3-C95C-404C-943D-E80AF756DCB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dc2c4da3862492d"/>
          <a:stretch xmlns:a="http://schemas.openxmlformats.org/drawingml/2006/main"/>
        </p:blipFill>
        <p:spPr>
          <a:xfrm xmlns:a="http://schemas.openxmlformats.org/drawingml/2006/main">
            <a:off x="12084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B84B190-E954-4506-9E68-09892F020881}"/>
              </a:ext>
            </a:extLst>
          </p:cNvPr>
          <p:cNvSpPr>
            <a:spLocks xmlns:a="http://schemas.openxmlformats.org/drawingml/2006/main" noGrp="1"/>
          </p:cNvSpPr>
          <p:nvPr/>
        </p:nvSpPr>
        <p:spPr>
          <a:xfrm xmlns:a="http://schemas.openxmlformats.org/drawingml/2006/main">
            <a:off x="85534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What to look for</a:t>
            </a:r>
          </a:p>
        </p:txBody>
      </p:sp>
      <p:sp>
        <p:nvSpPr>
          <p:cNvPr id="6" name="">
            <a:extLst xmlns:a="http://schemas.openxmlformats.org/drawingml/2006/main">
              <a:ext uri="{FF2B5EF4-FFF2-40B4-BE49-F238E27FC236}">
                <a16:creationId xmlns:a16="http://schemas.microsoft.com/office/drawing/2014/main" id="{DD36A641-710D-466D-A682-21C83768C2D1}"/>
              </a:ext>
            </a:extLst>
          </p:cNvPr>
          <p:cNvSpPr>
            <a:spLocks xmlns:a="http://schemas.openxmlformats.org/drawingml/2006/main" noGrp="1"/>
          </p:cNvSpPr>
          <p:nvPr/>
        </p:nvSpPr>
        <p:spPr>
          <a:xfrm xmlns:a="http://schemas.openxmlformats.org/drawingml/2006/main">
            <a:off x="8553450" y="2667000"/>
            <a:ext cx="26860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Smooth monotonic lines would be encouraging. Noisy or nonmonotonic lines are not fatal, because the first real ML test will learn interactions, but they tell us whether individual features carry any visible directional information.</a:t>
            </a:r>
          </a:p>
        </p:txBody>
      </p:sp>
    </p:spTree>
    <p:extLst>
      <p:ext uri="{BB962C8B-B14F-4D97-AF65-F5344CB8AC3E}">
        <p14:creationId xmlns:p14="http://schemas.microsoft.com/office/powerpoint/2010/main" val="146550892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385A021-9C60-4029-AA59-CEA877CB382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F64F2CB-0818-483E-80D8-A4963800CD2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build tests a deliberately simple model</a:t>
            </a:r>
          </a:p>
        </p:txBody>
      </p:sp>
      <p:sp>
        <p:nvSpPr>
          <p:cNvPr id="3" name="">
            <a:extLst xmlns:a="http://schemas.openxmlformats.org/drawingml/2006/main">
              <a:ext uri="{FF2B5EF4-FFF2-40B4-BE49-F238E27FC236}">
                <a16:creationId xmlns:a16="http://schemas.microsoft.com/office/drawing/2014/main" id="{45A51AFB-8D32-4984-A2A4-E245F6222A5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2FEA1D7-D43E-4826-BC85-571A3E78AC3C}"/>
              </a:ext>
            </a:extLst>
          </p:cNvPr>
          <p:cNvSpPr>
            <a:spLocks xmlns:a="http://schemas.openxmlformats.org/drawingml/2006/main" noGrp="1"/>
          </p:cNvSpPr>
          <p:nvPr/>
        </p:nvSpPr>
        <p:spPr>
          <a:xfrm xmlns:a="http://schemas.openxmlformats.org/drawingml/2006/main">
            <a:off x="876300" y="2152650"/>
            <a:ext cx="7429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ML-P0 passed the table-quality gate. ML-P1 asks whether a plain GLM can turn that table into coherent daily long/flat behavior.</a:t>
            </a:r>
          </a:p>
        </p:txBody>
      </p:sp>
      <p:sp>
        <p:nvSpPr>
          <p:cNvPr id="5" name="">
            <a:extLst xmlns:a="http://schemas.openxmlformats.org/drawingml/2006/main">
              <a:ext uri="{FF2B5EF4-FFF2-40B4-BE49-F238E27FC236}">
                <a16:creationId xmlns:a16="http://schemas.microsoft.com/office/drawing/2014/main" id="{2D323D4A-DFCA-42B2-BC89-449A4DCF46CB}"/>
              </a:ext>
            </a:extLst>
          </p:cNvPr>
          <p:cNvSpPr>
            <a:spLocks xmlns:a="http://schemas.openxmlformats.org/drawingml/2006/main" noGrp="1"/>
          </p:cNvSpPr>
          <p:nvPr/>
        </p:nvSpPr>
        <p:spPr>
          <a:xfrm xmlns:a="http://schemas.openxmlformats.org/drawingml/2006/main">
            <a:off x="1181100" y="3438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144591CE-BF27-447B-AC11-0F77CCF6D3FA}"/>
              </a:ext>
            </a:extLst>
          </p:cNvPr>
          <p:cNvSpPr>
            <a:spLocks xmlns:a="http://schemas.openxmlformats.org/drawingml/2006/main" noGrp="1"/>
          </p:cNvSpPr>
          <p:nvPr/>
        </p:nvSpPr>
        <p:spPr>
          <a:xfrm xmlns:a="http://schemas.openxmlformats.org/drawingml/2006/main">
            <a:off x="1447800" y="34290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Fit only on TRAIN rows using frozen transforms.</a:t>
            </a:r>
          </a:p>
        </p:txBody>
      </p:sp>
      <p:sp>
        <p:nvSpPr>
          <p:cNvPr id="7" name="">
            <a:extLst xmlns:a="http://schemas.openxmlformats.org/drawingml/2006/main">
              <a:ext uri="{FF2B5EF4-FFF2-40B4-BE49-F238E27FC236}">
                <a16:creationId xmlns:a16="http://schemas.microsoft.com/office/drawing/2014/main" id="{2FE2F7B3-6722-46C6-AE1D-6D55784A5D40}"/>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88B88587-6F76-4CAC-9028-F1F4AEBC0797}"/>
              </a:ext>
            </a:extLst>
          </p:cNvPr>
          <p:cNvSpPr>
            <a:spLocks xmlns:a="http://schemas.openxmlformats.org/drawingml/2006/main" noGrp="1"/>
          </p:cNvSpPr>
          <p:nvPr/>
        </p:nvSpPr>
        <p:spPr>
          <a:xfrm xmlns:a="http://schemas.openxmlformats.org/drawingml/2006/main">
            <a:off x="1447800" y="40957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Predict OOS h3 probability after each close.</a:t>
            </a:r>
          </a:p>
        </p:txBody>
      </p:sp>
      <p:sp>
        <p:nvSpPr>
          <p:cNvPr id="9" name="">
            <a:extLst xmlns:a="http://schemas.openxmlformats.org/drawingml/2006/main">
              <a:ext uri="{FF2B5EF4-FFF2-40B4-BE49-F238E27FC236}">
                <a16:creationId xmlns:a16="http://schemas.microsoft.com/office/drawing/2014/main" id="{81188256-06B7-4159-A280-42578B36C10C}"/>
              </a:ext>
            </a:extLst>
          </p:cNvPr>
          <p:cNvSpPr>
            <a:spLocks xmlns:a="http://schemas.openxmlformats.org/drawingml/2006/main" noGrp="1"/>
          </p:cNvSpPr>
          <p:nvPr/>
        </p:nvSpPr>
        <p:spPr>
          <a:xfrm xmlns:a="http://schemas.openxmlformats.org/drawingml/2006/main">
            <a:off x="1181100" y="4772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2A4309AB-94AB-408F-8D68-4ED044358569}"/>
              </a:ext>
            </a:extLst>
          </p:cNvPr>
          <p:cNvSpPr>
            <a:spLocks xmlns:a="http://schemas.openxmlformats.org/drawingml/2006/main" noGrp="1"/>
          </p:cNvSpPr>
          <p:nvPr/>
        </p:nvSpPr>
        <p:spPr>
          <a:xfrm xmlns:a="http://schemas.openxmlformats.org/drawingml/2006/main">
            <a:off x="1447800" y="47625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Replay long/flat decisions with fixed thresholds.</a:t>
            </a:r>
          </a:p>
        </p:txBody>
      </p:sp>
      <p:sp>
        <p:nvSpPr>
          <p:cNvPr id="11" name="">
            <a:extLst xmlns:a="http://schemas.openxmlformats.org/drawingml/2006/main">
              <a:ext uri="{FF2B5EF4-FFF2-40B4-BE49-F238E27FC236}">
                <a16:creationId xmlns:a16="http://schemas.microsoft.com/office/drawing/2014/main" id="{0FFD3B68-D515-4FBD-9976-4D07F45CE8B8}"/>
              </a:ext>
            </a:extLst>
          </p:cNvPr>
          <p:cNvSpPr>
            <a:spLocks xmlns:a="http://schemas.openxmlformats.org/drawingml/2006/main" noGrp="1"/>
          </p:cNvSpPr>
          <p:nvPr/>
        </p:nvSpPr>
        <p:spPr>
          <a:xfrm xmlns:a="http://schemas.openxmlformats.org/drawingml/2006/main">
            <a:off x="1181100" y="5438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9C4A2045-944D-47CC-8EB4-01F168C63C4F}"/>
              </a:ext>
            </a:extLst>
          </p:cNvPr>
          <p:cNvSpPr>
            <a:spLocks xmlns:a="http://schemas.openxmlformats.org/drawingml/2006/main" noGrp="1"/>
          </p:cNvSpPr>
          <p:nvPr/>
        </p:nvSpPr>
        <p:spPr>
          <a:xfrm xmlns:a="http://schemas.openxmlformats.org/drawingml/2006/main">
            <a:off x="1447800" y="54292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probability traces, trade tapes, equity, and equal-weight basket hold.</a:t>
            </a:r>
          </a:p>
        </p:txBody>
      </p:sp>
      <p:sp>
        <p:nvSpPr>
          <p:cNvPr id="13" name="">
            <a:extLst xmlns:a="http://schemas.openxmlformats.org/drawingml/2006/main">
              <a:ext uri="{FF2B5EF4-FFF2-40B4-BE49-F238E27FC236}">
                <a16:creationId xmlns:a16="http://schemas.microsoft.com/office/drawing/2014/main" id="{0E23F1EB-F0A8-43A0-9AB8-C6036008466F}"/>
              </a:ext>
            </a:extLst>
          </p:cNvPr>
          <p:cNvSpPr>
            <a:spLocks xmlns:a="http://schemas.openxmlformats.org/drawingml/2006/main" noGrp="1"/>
          </p:cNvSpPr>
          <p:nvPr/>
        </p:nvSpPr>
        <p:spPr>
          <a:xfrm xmlns:a="http://schemas.openxmlformats.org/drawingml/2006/main">
            <a:off x="7734300" y="2247900"/>
            <a:ext cx="2971800" cy="2971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C8004F40-7D42-4AB6-8C8D-5CDF4F0857A5}"/>
              </a:ext>
            </a:extLst>
          </p:cNvPr>
          <p:cNvSpPr>
            <a:spLocks xmlns:a="http://schemas.openxmlformats.org/drawingml/2006/main" noGrp="1"/>
          </p:cNvSpPr>
          <p:nvPr/>
        </p:nvSpPr>
        <p:spPr>
          <a:xfrm xmlns:a="http://schemas.openxmlformats.org/drawingml/2006/main">
            <a:off x="8096250" y="2895600"/>
            <a:ext cx="2266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222222"/>
                </a:solidFill>
              </a:defRPr>
            </a:pPr>
            <a:r>
              <a:rPr sz="2025" b="1" i="0">
                <a:solidFill>
                  <a:srgbClr val="222222"/>
                </a:solidFill>
              </a:rPr>
              <a:t>Still research only</a:t>
            </a:r>
          </a:p>
        </p:txBody>
      </p:sp>
      <p:sp>
        <p:nvSpPr>
          <p:cNvPr id="15" name="">
            <a:extLst xmlns:a="http://schemas.openxmlformats.org/drawingml/2006/main">
              <a:ext uri="{FF2B5EF4-FFF2-40B4-BE49-F238E27FC236}">
                <a16:creationId xmlns:a16="http://schemas.microsoft.com/office/drawing/2014/main" id="{EFC7893A-A3EA-4063-BCF9-7264573C62A5}"/>
              </a:ext>
            </a:extLst>
          </p:cNvPr>
          <p:cNvSpPr>
            <a:spLocks xmlns:a="http://schemas.openxmlformats.org/drawingml/2006/main" noGrp="1"/>
          </p:cNvSpPr>
          <p:nvPr/>
        </p:nvSpPr>
        <p:spPr>
          <a:xfrm xmlns:a="http://schemas.openxmlformats.org/drawingml/2006/main">
            <a:off x="8115300" y="3562350"/>
            <a:ext cx="2238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i="0">
                <a:solidFill>
                  <a:srgbClr val="222222"/>
                </a:solidFill>
              </a:defRPr>
            </a:pPr>
            <a:r>
              <a:rPr sz="1800" b="0" i="0">
                <a:solidFill>
                  <a:srgbClr val="222222"/>
                </a:solidFill>
              </a:rPr>
              <a:t>GLM is the plumbing baseline before XGBoost.</a:t>
            </a:r>
          </a:p>
        </p:txBody>
      </p:sp>
    </p:spTree>
    <p:extLst>
      <p:ext uri="{BB962C8B-B14F-4D97-AF65-F5344CB8AC3E}">
        <p14:creationId xmlns:p14="http://schemas.microsoft.com/office/powerpoint/2010/main" val="4007429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211F84F-FA20-4763-9A66-4EAA48070BD8}"/>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92432B98-F985-4CD7-97B7-C36E70664DC3}"/>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deck now moves from table safety to model behavior</a:t>
            </a:r>
          </a:p>
        </p:txBody>
      </p:sp>
      <p:sp>
        <p:nvSpPr>
          <p:cNvPr id="3" name="">
            <a:extLst xmlns:a="http://schemas.openxmlformats.org/drawingml/2006/main">
              <a:ext uri="{FF2B5EF4-FFF2-40B4-BE49-F238E27FC236}">
                <a16:creationId xmlns:a16="http://schemas.microsoft.com/office/drawing/2014/main" id="{ED203186-2BAD-4ED9-A00D-CD2C82C612C7}"/>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CE3083-E3CC-4ACF-9B57-6F47F2FD7DCC}"/>
              </a:ext>
            </a:extLst>
          </p:cNvPr>
          <p:cNvSpPr>
            <a:spLocks xmlns:a="http://schemas.openxmlformats.org/drawingml/2006/main" noGrp="1"/>
          </p:cNvSpPr>
          <p:nvPr/>
        </p:nvSpPr>
        <p:spPr>
          <a:xfrm xmlns:a="http://schemas.openxmlformats.org/drawingml/2006/main">
            <a:off x="723900" y="3467100"/>
            <a:ext cx="7334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 fits a GLM on TRAIN rows, freezes the model, predicts OOS h3 probability, and replays fixed-threshold long/flat decisions. This is a diagnostic model, not an allocation claim.</a:t>
            </a:r>
          </a:p>
        </p:txBody>
      </p:sp>
      <p:sp>
        <p:nvSpPr>
          <p:cNvPr id="5" name="">
            <a:extLst xmlns:a="http://schemas.openxmlformats.org/drawingml/2006/main">
              <a:ext uri="{FF2B5EF4-FFF2-40B4-BE49-F238E27FC236}">
                <a16:creationId xmlns:a16="http://schemas.microsoft.com/office/drawing/2014/main" id="{8289A70F-51F6-4E4E-ACE5-3491869587C3}"/>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472C047-305F-4CD7-943E-CF04FD1AA1D6}"/>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a:t>
            </a:r>
          </a:p>
        </p:txBody>
      </p:sp>
      <p:sp>
        <p:nvSpPr>
          <p:cNvPr id="7" name="">
            <a:extLst xmlns:a="http://schemas.openxmlformats.org/drawingml/2006/main">
              <a:ext uri="{FF2B5EF4-FFF2-40B4-BE49-F238E27FC236}">
                <a16:creationId xmlns:a16="http://schemas.microsoft.com/office/drawing/2014/main" id="{EABEA74D-9CF9-4CCE-9A12-6DCE038D844D}"/>
              </a:ext>
            </a:extLst>
          </p:cNvPr>
          <p:cNvSpPr>
            <a:spLocks xmlns:a="http://schemas.openxmlformats.org/drawingml/2006/main" noGrp="1"/>
          </p:cNvSpPr>
          <p:nvPr/>
        </p:nvSpPr>
        <p:spPr>
          <a:xfrm xmlns:a="http://schemas.openxmlformats.org/drawingml/2006/main">
            <a:off x="9353550" y="30670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i="0">
                <a:solidFill>
                  <a:srgbClr val="222222"/>
                </a:solidFill>
              </a:defRPr>
            </a:pPr>
            <a:r>
              <a:rPr sz="1950" b="0" i="0">
                <a:solidFill>
                  <a:srgbClr val="222222"/>
                </a:solidFill>
              </a:rPr>
              <a:t>GLM replay</a:t>
            </a:r>
          </a:p>
        </p:txBody>
      </p:sp>
    </p:spTree>
    <p:extLst>
      <p:ext uri="{BB962C8B-B14F-4D97-AF65-F5344CB8AC3E}">
        <p14:creationId xmlns:p14="http://schemas.microsoft.com/office/powerpoint/2010/main" val="45900869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8326ED2-0C5D-44BF-9032-3741CAF5737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20CBFED-5DE1-438D-A2AB-1B5428D3915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GLM baseline became defensive, not participatory</a:t>
            </a:r>
          </a:p>
        </p:txBody>
      </p:sp>
      <p:sp>
        <p:nvSpPr>
          <p:cNvPr id="3" name="">
            <a:extLst xmlns:a="http://schemas.openxmlformats.org/drawingml/2006/main">
              <a:ext uri="{FF2B5EF4-FFF2-40B4-BE49-F238E27FC236}">
                <a16:creationId xmlns:a16="http://schemas.microsoft.com/office/drawing/2014/main" id="{EC9AD9DB-BA18-4907-862E-69CA40ACB85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62CF4CA-03ED-409B-A72E-F994C2A7446B}"/>
              </a:ext>
            </a:extLst>
          </p:cNvPr>
          <p:cNvSpPr>
            <a:spLocks xmlns:a="http://schemas.openxmlformats.org/drawingml/2006/main" noGrp="1"/>
          </p:cNvSpPr>
          <p:nvPr/>
        </p:nvSpPr>
        <p:spPr>
          <a:xfrm xmlns:a="http://schemas.openxmlformats.org/drawingml/2006/main">
            <a:off x="819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AB7EAB94-8874-484C-BC4E-E92A281CD231}"/>
              </a:ext>
            </a:extLst>
          </p:cNvPr>
          <p:cNvSpPr>
            <a:spLocks xmlns:a="http://schemas.openxmlformats.org/drawingml/2006/main" noGrp="1"/>
          </p:cNvSpPr>
          <p:nvPr/>
        </p:nvSpPr>
        <p:spPr>
          <a:xfrm xmlns:a="http://schemas.openxmlformats.org/drawingml/2006/main">
            <a:off x="990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ACTIVE</a:t>
            </a:r>
          </a:p>
        </p:txBody>
      </p:sp>
      <p:sp>
        <p:nvSpPr>
          <p:cNvPr id="6" name="">
            <a:extLst xmlns:a="http://schemas.openxmlformats.org/drawingml/2006/main">
              <a:ext uri="{FF2B5EF4-FFF2-40B4-BE49-F238E27FC236}">
                <a16:creationId xmlns:a16="http://schemas.microsoft.com/office/drawing/2014/main" id="{B558EE7F-3E14-48B2-BF6A-431CFF1F5A27}"/>
              </a:ext>
            </a:extLst>
          </p:cNvPr>
          <p:cNvSpPr>
            <a:spLocks xmlns:a="http://schemas.openxmlformats.org/drawingml/2006/main" noGrp="1"/>
          </p:cNvSpPr>
          <p:nvPr/>
        </p:nvSpPr>
        <p:spPr>
          <a:xfrm xmlns:a="http://schemas.openxmlformats.org/drawingml/2006/main">
            <a:off x="990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8.0%</a:t>
            </a:r>
          </a:p>
        </p:txBody>
      </p:sp>
      <p:sp>
        <p:nvSpPr>
          <p:cNvPr id="7" name="">
            <a:extLst xmlns:a="http://schemas.openxmlformats.org/drawingml/2006/main">
              <a:ext uri="{FF2B5EF4-FFF2-40B4-BE49-F238E27FC236}">
                <a16:creationId xmlns:a16="http://schemas.microsoft.com/office/drawing/2014/main" id="{A548452D-CAA2-447D-9DAB-4D6F7AC63B31}"/>
              </a:ext>
            </a:extLst>
          </p:cNvPr>
          <p:cNvSpPr>
            <a:spLocks xmlns:a="http://schemas.openxmlformats.org/drawingml/2006/main" noGrp="1"/>
          </p:cNvSpPr>
          <p:nvPr/>
        </p:nvSpPr>
        <p:spPr>
          <a:xfrm xmlns:a="http://schemas.openxmlformats.org/drawingml/2006/main">
            <a:off x="990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214.0%</a:t>
            </a:r>
          </a:p>
        </p:txBody>
      </p:sp>
      <p:sp>
        <p:nvSpPr>
          <p:cNvPr id="8" name="">
            <a:extLst xmlns:a="http://schemas.openxmlformats.org/drawingml/2006/main">
              <a:ext uri="{FF2B5EF4-FFF2-40B4-BE49-F238E27FC236}">
                <a16:creationId xmlns:a16="http://schemas.microsoft.com/office/drawing/2014/main" id="{6F7EA969-5AA0-49B7-A17C-A752BCCED253}"/>
              </a:ext>
            </a:extLst>
          </p:cNvPr>
          <p:cNvSpPr>
            <a:spLocks xmlns:a="http://schemas.openxmlformats.org/drawingml/2006/main" noGrp="1"/>
          </p:cNvSpPr>
          <p:nvPr/>
        </p:nvSpPr>
        <p:spPr>
          <a:xfrm xmlns:a="http://schemas.openxmlformats.org/drawingml/2006/main">
            <a:off x="35242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03AE1B82-D94C-4D70-B78B-05BFFF9E631F}"/>
              </a:ext>
            </a:extLst>
          </p:cNvPr>
          <p:cNvSpPr>
            <a:spLocks xmlns:a="http://schemas.openxmlformats.org/drawingml/2006/main" noGrp="1"/>
          </p:cNvSpPr>
          <p:nvPr/>
        </p:nvSpPr>
        <p:spPr>
          <a:xfrm xmlns:a="http://schemas.openxmlformats.org/drawingml/2006/main">
            <a:off x="36957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0" name="">
            <a:extLst xmlns:a="http://schemas.openxmlformats.org/drawingml/2006/main">
              <a:ext uri="{FF2B5EF4-FFF2-40B4-BE49-F238E27FC236}">
                <a16:creationId xmlns:a16="http://schemas.microsoft.com/office/drawing/2014/main" id="{92264780-4677-4C96-AF56-C193C9833763}"/>
              </a:ext>
            </a:extLst>
          </p:cNvPr>
          <p:cNvSpPr>
            <a:spLocks xmlns:a="http://schemas.openxmlformats.org/drawingml/2006/main" noGrp="1"/>
          </p:cNvSpPr>
          <p:nvPr/>
        </p:nvSpPr>
        <p:spPr>
          <a:xfrm xmlns:a="http://schemas.openxmlformats.org/drawingml/2006/main">
            <a:off x="36957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27.6%</a:t>
            </a:r>
          </a:p>
        </p:txBody>
      </p:sp>
      <p:sp>
        <p:nvSpPr>
          <p:cNvPr id="11" name="">
            <a:extLst xmlns:a="http://schemas.openxmlformats.org/drawingml/2006/main">
              <a:ext uri="{FF2B5EF4-FFF2-40B4-BE49-F238E27FC236}">
                <a16:creationId xmlns:a16="http://schemas.microsoft.com/office/drawing/2014/main" id="{E6E5551B-3A4B-4EF9-8100-2CC005A3D3D7}"/>
              </a:ext>
            </a:extLst>
          </p:cNvPr>
          <p:cNvSpPr>
            <a:spLocks xmlns:a="http://schemas.openxmlformats.org/drawingml/2006/main" noGrp="1"/>
          </p:cNvSpPr>
          <p:nvPr/>
        </p:nvSpPr>
        <p:spPr>
          <a:xfrm xmlns:a="http://schemas.openxmlformats.org/drawingml/2006/main">
            <a:off x="36957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Stayed flat 68.3% of decision rows.</a:t>
            </a:r>
          </a:p>
        </p:txBody>
      </p:sp>
      <p:sp>
        <p:nvSpPr>
          <p:cNvPr id="12" name="">
            <a:extLst xmlns:a="http://schemas.openxmlformats.org/drawingml/2006/main">
              <a:ext uri="{FF2B5EF4-FFF2-40B4-BE49-F238E27FC236}">
                <a16:creationId xmlns:a16="http://schemas.microsoft.com/office/drawing/2014/main" id="{CE184D7A-E7A9-42F8-8F28-F0427547DCB2}"/>
              </a:ext>
            </a:extLst>
          </p:cNvPr>
          <p:cNvSpPr>
            <a:spLocks xmlns:a="http://schemas.openxmlformats.org/drawingml/2006/main" noGrp="1"/>
          </p:cNvSpPr>
          <p:nvPr/>
        </p:nvSpPr>
        <p:spPr>
          <a:xfrm xmlns:a="http://schemas.openxmlformats.org/drawingml/2006/main">
            <a:off x="62293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BE74687A-78B9-47C2-85C5-8EC20206CD92}"/>
              </a:ext>
            </a:extLst>
          </p:cNvPr>
          <p:cNvSpPr>
            <a:spLocks xmlns:a="http://schemas.openxmlformats.org/drawingml/2006/main" noGrp="1"/>
          </p:cNvSpPr>
          <p:nvPr/>
        </p:nvSpPr>
        <p:spPr>
          <a:xfrm xmlns:a="http://schemas.openxmlformats.org/drawingml/2006/main">
            <a:off x="64008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ACTIVE</a:t>
            </a:r>
          </a:p>
        </p:txBody>
      </p:sp>
      <p:sp>
        <p:nvSpPr>
          <p:cNvPr id="14" name="">
            <a:extLst xmlns:a="http://schemas.openxmlformats.org/drawingml/2006/main">
              <a:ext uri="{FF2B5EF4-FFF2-40B4-BE49-F238E27FC236}">
                <a16:creationId xmlns:a16="http://schemas.microsoft.com/office/drawing/2014/main" id="{969C08B4-4571-49EC-BB16-E23F3E23FD8C}"/>
              </a:ext>
            </a:extLst>
          </p:cNvPr>
          <p:cNvSpPr>
            <a:spLocks xmlns:a="http://schemas.openxmlformats.org/drawingml/2006/main" noGrp="1"/>
          </p:cNvSpPr>
          <p:nvPr/>
        </p:nvSpPr>
        <p:spPr>
          <a:xfrm xmlns:a="http://schemas.openxmlformats.org/drawingml/2006/main">
            <a:off x="64008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-42.4%</a:t>
            </a:r>
          </a:p>
        </p:txBody>
      </p:sp>
      <p:sp>
        <p:nvSpPr>
          <p:cNvPr id="15" name="">
            <a:extLst xmlns:a="http://schemas.openxmlformats.org/drawingml/2006/main">
              <a:ext uri="{FF2B5EF4-FFF2-40B4-BE49-F238E27FC236}">
                <a16:creationId xmlns:a16="http://schemas.microsoft.com/office/drawing/2014/main" id="{009054D5-9C14-4B65-90A3-2A13C2032F38}"/>
              </a:ext>
            </a:extLst>
          </p:cNvPr>
          <p:cNvSpPr>
            <a:spLocks xmlns:a="http://schemas.openxmlformats.org/drawingml/2006/main" noGrp="1"/>
          </p:cNvSpPr>
          <p:nvPr/>
        </p:nvSpPr>
        <p:spPr>
          <a:xfrm xmlns:a="http://schemas.openxmlformats.org/drawingml/2006/main">
            <a:off x="64008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-54.2%</a:t>
            </a:r>
          </a:p>
        </p:txBody>
      </p:sp>
      <p:sp>
        <p:nvSpPr>
          <p:cNvPr id="16" name="">
            <a:extLst xmlns:a="http://schemas.openxmlformats.org/drawingml/2006/main">
              <a:ext uri="{FF2B5EF4-FFF2-40B4-BE49-F238E27FC236}">
                <a16:creationId xmlns:a16="http://schemas.microsoft.com/office/drawing/2014/main" id="{18B7F644-FE00-480F-AA59-BBD22705E3E9}"/>
              </a:ext>
            </a:extLst>
          </p:cNvPr>
          <p:cNvSpPr>
            <a:spLocks xmlns:a="http://schemas.openxmlformats.org/drawingml/2006/main" noGrp="1"/>
          </p:cNvSpPr>
          <p:nvPr/>
        </p:nvSpPr>
        <p:spPr>
          <a:xfrm xmlns:a="http://schemas.openxmlformats.org/drawingml/2006/main">
            <a:off x="89344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5F1B45B4-CF71-410B-83B4-5FB2FDBFBC37}"/>
              </a:ext>
            </a:extLst>
          </p:cNvPr>
          <p:cNvSpPr>
            <a:spLocks xmlns:a="http://schemas.openxmlformats.org/drawingml/2006/main" noGrp="1"/>
          </p:cNvSpPr>
          <p:nvPr/>
        </p:nvSpPr>
        <p:spPr>
          <a:xfrm xmlns:a="http://schemas.openxmlformats.org/drawingml/2006/main">
            <a:off x="91059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8" name="">
            <a:extLst xmlns:a="http://schemas.openxmlformats.org/drawingml/2006/main">
              <a:ext uri="{FF2B5EF4-FFF2-40B4-BE49-F238E27FC236}">
                <a16:creationId xmlns:a16="http://schemas.microsoft.com/office/drawing/2014/main" id="{F20FB1DA-8365-49A2-A149-B952245BFF10}"/>
              </a:ext>
            </a:extLst>
          </p:cNvPr>
          <p:cNvSpPr>
            <a:spLocks xmlns:a="http://schemas.openxmlformats.org/drawingml/2006/main" noGrp="1"/>
          </p:cNvSpPr>
          <p:nvPr/>
        </p:nvSpPr>
        <p:spPr>
          <a:xfrm xmlns:a="http://schemas.openxmlformats.org/drawingml/2006/main">
            <a:off x="91059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A096E9ED-07A2-4F5C-86C2-EAD1F08475BC}"/>
              </a:ext>
            </a:extLst>
          </p:cNvPr>
          <p:cNvSpPr>
            <a:spLocks xmlns:a="http://schemas.openxmlformats.org/drawingml/2006/main" noGrp="1"/>
          </p:cNvSpPr>
          <p:nvPr/>
        </p:nvSpPr>
        <p:spPr>
          <a:xfrm xmlns:a="http://schemas.openxmlformats.org/drawingml/2006/main">
            <a:off x="91059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fit only; OOS prediction only.</a:t>
            </a:r>
          </a:p>
        </p:txBody>
      </p:sp>
      <p:sp>
        <p:nvSpPr>
          <p:cNvPr id="20" name="">
            <a:extLst xmlns:a="http://schemas.openxmlformats.org/drawingml/2006/main">
              <a:ext uri="{FF2B5EF4-FFF2-40B4-BE49-F238E27FC236}">
                <a16:creationId xmlns:a16="http://schemas.microsoft.com/office/drawing/2014/main" id="{6219B49B-9873-4C54-9AD3-2C0C021463ED}"/>
              </a:ext>
            </a:extLst>
          </p:cNvPr>
          <p:cNvSpPr>
            <a:spLocks xmlns:a="http://schemas.openxmlformats.org/drawingml/2006/main" noGrp="1"/>
          </p:cNvSpPr>
          <p:nvPr/>
        </p:nvSpPr>
        <p:spPr>
          <a:xfrm xmlns:a="http://schemas.openxmlformats.org/drawingml/2006/main">
            <a:off x="1066800" y="4095750"/>
            <a:ext cx="9334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first GLM replay proves the mechanics, but not the alpha thesis. It missed most of the 2020 rally and was useful mainly as partial 2022 defense.</a:t>
            </a:r>
          </a:p>
        </p:txBody>
      </p:sp>
    </p:spTree>
    <p:extLst>
      <p:ext uri="{BB962C8B-B14F-4D97-AF65-F5344CB8AC3E}">
        <p14:creationId xmlns:p14="http://schemas.microsoft.com/office/powerpoint/2010/main" val="101440035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FFEAB07-6A74-482F-BCB9-25BCB18B96D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742E6A5-0500-4B7B-B6DC-6B5DA87421B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 shows the same participation problem we have been chasing</a:t>
            </a:r>
          </a:p>
        </p:txBody>
      </p:sp>
      <p:sp>
        <p:nvSpPr>
          <p:cNvPr id="3" name="">
            <a:extLst xmlns:a="http://schemas.openxmlformats.org/drawingml/2006/main">
              <a:ext uri="{FF2B5EF4-FFF2-40B4-BE49-F238E27FC236}">
                <a16:creationId xmlns:a16="http://schemas.microsoft.com/office/drawing/2014/main" id="{42B7F470-7E50-496C-A9B8-2D0CA471987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199541267de4371"/>
          <a:stretch xmlns:a="http://schemas.openxmlformats.org/drawingml/2006/main"/>
        </p:blipFill>
        <p:spPr>
          <a:xfrm xmlns:a="http://schemas.openxmlformats.org/drawingml/2006/main">
            <a:off x="868680" y="2000250"/>
            <a:ext cx="683514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84FFD6A-287D-4047-B123-CDBC09A39521}"/>
              </a:ext>
            </a:extLst>
          </p:cNvPr>
          <p:cNvSpPr>
            <a:spLocks xmlns:a="http://schemas.openxmlformats.org/drawingml/2006/main" noGrp="1"/>
          </p:cNvSpPr>
          <p:nvPr/>
        </p:nvSpPr>
        <p:spPr>
          <a:xfrm xmlns:a="http://schemas.openxmlformats.org/drawingml/2006/main">
            <a:off x="84772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Interpretation</a:t>
            </a:r>
          </a:p>
        </p:txBody>
      </p:sp>
      <p:sp>
        <p:nvSpPr>
          <p:cNvPr id="6" name="">
            <a:extLst xmlns:a="http://schemas.openxmlformats.org/drawingml/2006/main">
              <a:ext uri="{FF2B5EF4-FFF2-40B4-BE49-F238E27FC236}">
                <a16:creationId xmlns:a16="http://schemas.microsoft.com/office/drawing/2014/main" id="{7026A023-D6D0-4D66-B542-E0B9DA54D75B}"/>
              </a:ext>
            </a:extLst>
          </p:cNvPr>
          <p:cNvSpPr>
            <a:spLocks xmlns:a="http://schemas.openxmlformats.org/drawingml/2006/main" noGrp="1"/>
          </p:cNvSpPr>
          <p:nvPr/>
        </p:nvSpPr>
        <p:spPr>
          <a:xfrm xmlns:a="http://schemas.openxmlformats.org/drawingml/2006/main">
            <a:off x="8477250" y="268605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In 2020, the model stayed too cautious while the basket compounded aggressively. In 2022, the model preserved capital relative to the falling basket, but it was still not cleanly risk-off.</a:t>
            </a:r>
          </a:p>
        </p:txBody>
      </p:sp>
    </p:spTree>
    <p:extLst>
      <p:ext uri="{BB962C8B-B14F-4D97-AF65-F5344CB8AC3E}">
        <p14:creationId xmlns:p14="http://schemas.microsoft.com/office/powerpoint/2010/main" val="8991341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42D9A59-504B-460E-95C1-75AA28CB624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694F35A-D713-4214-B030-70BD6B4ADF6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trade tapes show what the policy actually did</a:t>
            </a:r>
          </a:p>
        </p:txBody>
      </p:sp>
      <p:sp>
        <p:nvSpPr>
          <p:cNvPr id="3" name="">
            <a:extLst xmlns:a="http://schemas.openxmlformats.org/drawingml/2006/main">
              <a:ext uri="{FF2B5EF4-FFF2-40B4-BE49-F238E27FC236}">
                <a16:creationId xmlns:a16="http://schemas.microsoft.com/office/drawing/2014/main" id="{32146D89-AF59-4B09-B036-48F8C8021EE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2e98b5ef37c4671"/>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5F9B0B7-A021-4DCB-97D7-605D7CC12044}"/>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this reveals</a:t>
            </a:r>
          </a:p>
        </p:txBody>
      </p:sp>
      <p:sp>
        <p:nvSpPr>
          <p:cNvPr id="6" name="">
            <a:extLst xmlns:a="http://schemas.openxmlformats.org/drawingml/2006/main">
              <a:ext uri="{FF2B5EF4-FFF2-40B4-BE49-F238E27FC236}">
                <a16:creationId xmlns:a16="http://schemas.microsoft.com/office/drawing/2014/main" id="{F1B34223-F11B-4060-8668-16E6B1B995B6}"/>
              </a:ext>
            </a:extLst>
          </p:cNvPr>
          <p:cNvSpPr>
            <a:spLocks xmlns:a="http://schemas.openxmlformats.org/drawingml/2006/main" noGrp="1"/>
          </p:cNvSpPr>
          <p:nvPr/>
        </p:nvSpPr>
        <p:spPr>
          <a:xfrm xmlns:a="http://schemas.openxmlformats.org/drawingml/2006/main">
            <a:off x="8477250" y="270510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probability trace is now an inspectable decision surface. We can see whether missed upside comes from low predicted probabilities, high thresholds, or replay mechanics.</a:t>
            </a:r>
          </a:p>
        </p:txBody>
      </p:sp>
    </p:spTree>
    <p:extLst>
      <p:ext uri="{BB962C8B-B14F-4D97-AF65-F5344CB8AC3E}">
        <p14:creationId xmlns:p14="http://schemas.microsoft.com/office/powerpoint/2010/main" val="188369448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084002D-9CB1-4E18-900B-ABF9BE045AF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31D970B-BBFA-41C3-B4E6-04E8CDCCB15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diagnostics point to threshold and calibration questions</a:t>
            </a:r>
          </a:p>
        </p:txBody>
      </p:sp>
      <p:sp>
        <p:nvSpPr>
          <p:cNvPr id="3" name="">
            <a:extLst xmlns:a="http://schemas.openxmlformats.org/drawingml/2006/main">
              <a:ext uri="{FF2B5EF4-FFF2-40B4-BE49-F238E27FC236}">
                <a16:creationId xmlns:a16="http://schemas.microsoft.com/office/drawing/2014/main" id="{34509383-1AC5-43C1-8431-7D85E95D2FB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fc5507bbc3f42a1"/>
          <a:stretch xmlns:a="http://schemas.openxmlformats.org/drawingml/2006/main"/>
        </p:blipFill>
        <p:spPr>
          <a:xfrm xmlns:a="http://schemas.openxmlformats.org/drawingml/2006/main">
            <a:off x="704850" y="2415381"/>
            <a:ext cx="4762500" cy="2579688"/>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30187a4fa2c4d77"/>
          <a:stretch xmlns:a="http://schemas.openxmlformats.org/drawingml/2006/main"/>
        </p:blipFill>
        <p:spPr>
          <a:xfrm xmlns:a="http://schemas.openxmlformats.org/drawingml/2006/main">
            <a:off x="5962650" y="2415381"/>
            <a:ext cx="4762500" cy="257968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CA7F3D0-81B4-4E46-9925-29F41E116426}"/>
              </a:ext>
            </a:extLst>
          </p:cNvPr>
          <p:cNvSpPr>
            <a:spLocks xmlns:a="http://schemas.openxmlformats.org/drawingml/2006/main" noGrp="1"/>
          </p:cNvSpPr>
          <p:nvPr/>
        </p:nvSpPr>
        <p:spPr>
          <a:xfrm xmlns:a="http://schemas.openxmlformats.org/drawingml/2006/main">
            <a:off x="1104900" y="5753100"/>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Fixed thresholds are intentionally crude. The next improvement should be TRAIN-only threshold selection and probability calibration, not a rush to a more complex model.</a:t>
            </a:r>
          </a:p>
        </p:txBody>
      </p:sp>
    </p:spTree>
    <p:extLst>
      <p:ext uri="{BB962C8B-B14F-4D97-AF65-F5344CB8AC3E}">
        <p14:creationId xmlns:p14="http://schemas.microsoft.com/office/powerpoint/2010/main" val="21433829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D89FFC0-65E4-47C6-938B-8D5E0E52B3B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7D6939B-0C66-4ADB-A6A6-887B95EF508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coefficient audit keeps the simple model explainable</a:t>
            </a:r>
          </a:p>
        </p:txBody>
      </p:sp>
      <p:sp>
        <p:nvSpPr>
          <p:cNvPr id="3" name="">
            <a:extLst xmlns:a="http://schemas.openxmlformats.org/drawingml/2006/main">
              <a:ext uri="{FF2B5EF4-FFF2-40B4-BE49-F238E27FC236}">
                <a16:creationId xmlns:a16="http://schemas.microsoft.com/office/drawing/2014/main" id="{9D9ED347-0490-4E2C-AE4C-644A213E9CD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914140a42104ff2"/>
          <a:stretch xmlns:a="http://schemas.openxmlformats.org/drawingml/2006/main"/>
        </p:blipFill>
        <p:spPr>
          <a:xfrm xmlns:a="http://schemas.openxmlformats.org/drawingml/2006/main">
            <a:off x="1371600" y="2038350"/>
            <a:ext cx="5448300" cy="3714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309C644-BB0C-4E78-95DC-FA37C91BF075}"/>
              </a:ext>
            </a:extLst>
          </p:cNvPr>
          <p:cNvSpPr>
            <a:spLocks xmlns:a="http://schemas.openxmlformats.org/drawingml/2006/main" noGrp="1"/>
          </p:cNvSpPr>
          <p:nvPr/>
        </p:nvSpPr>
        <p:spPr>
          <a:xfrm xmlns:a="http://schemas.openxmlformats.org/drawingml/2006/main">
            <a:off x="80962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GLM still earns its keep</a:t>
            </a:r>
          </a:p>
        </p:txBody>
      </p:sp>
      <p:sp>
        <p:nvSpPr>
          <p:cNvPr id="6" name="">
            <a:extLst xmlns:a="http://schemas.openxmlformats.org/drawingml/2006/main">
              <a:ext uri="{FF2B5EF4-FFF2-40B4-BE49-F238E27FC236}">
                <a16:creationId xmlns:a16="http://schemas.microsoft.com/office/drawing/2014/main" id="{A5F4AEB9-4EE4-480A-8EEB-FF6DDCF23B94}"/>
              </a:ext>
            </a:extLst>
          </p:cNvPr>
          <p:cNvSpPr>
            <a:spLocks xmlns:a="http://schemas.openxmlformats.org/drawingml/2006/main" noGrp="1"/>
          </p:cNvSpPr>
          <p:nvPr/>
        </p:nvSpPr>
        <p:spPr>
          <a:xfrm xmlns:a="http://schemas.openxmlformats.org/drawingml/2006/main">
            <a:off x="8096250" y="2743200"/>
            <a:ext cx="27241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Even when performance is underwhelming, coefficients expose what the model is leaning on. That makes GLM a useful diagnostic bridge before XGBoost.</a:t>
            </a:r>
          </a:p>
        </p:txBody>
      </p:sp>
    </p:spTree>
    <p:extLst>
      <p:ext uri="{BB962C8B-B14F-4D97-AF65-F5344CB8AC3E}">
        <p14:creationId xmlns:p14="http://schemas.microsoft.com/office/powerpoint/2010/main" val="142866712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9C03A69-E0D5-4558-B92A-3E78C3DF8EE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1484649-EC46-4AE9-9598-2F8C8D90094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slice should improve the decision policy before model complexity</a:t>
            </a:r>
          </a:p>
        </p:txBody>
      </p:sp>
      <p:sp>
        <p:nvSpPr>
          <p:cNvPr id="3" name="">
            <a:extLst xmlns:a="http://schemas.openxmlformats.org/drawingml/2006/main">
              <a:ext uri="{FF2B5EF4-FFF2-40B4-BE49-F238E27FC236}">
                <a16:creationId xmlns:a16="http://schemas.microsoft.com/office/drawing/2014/main" id="{E0562B35-8C1F-42AE-9584-4D47D85908C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FAE681-AEEF-4D4A-BD13-6346AA5695B9}"/>
              </a:ext>
            </a:extLst>
          </p:cNvPr>
          <p:cNvSpPr>
            <a:spLocks xmlns:a="http://schemas.openxmlformats.org/drawingml/2006/main" noGrp="1"/>
          </p:cNvSpPr>
          <p:nvPr/>
        </p:nvSpPr>
        <p:spPr>
          <a:xfrm xmlns:a="http://schemas.openxmlformats.org/drawingml/2006/main">
            <a:off x="876300" y="2133600"/>
            <a:ext cx="895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 worked mechanically and exposed a familiar failure mode: too little upside participation in 2020, partial defense in 2022.</a:t>
            </a:r>
          </a:p>
        </p:txBody>
      </p:sp>
      <p:sp>
        <p:nvSpPr>
          <p:cNvPr id="5" name="">
            <a:extLst xmlns:a="http://schemas.openxmlformats.org/drawingml/2006/main">
              <a:ext uri="{FF2B5EF4-FFF2-40B4-BE49-F238E27FC236}">
                <a16:creationId xmlns:a16="http://schemas.microsoft.com/office/drawing/2014/main" id="{121D3E9E-B15C-4CEB-AF0A-FA55243C0635}"/>
              </a:ext>
            </a:extLst>
          </p:cNvPr>
          <p:cNvSpPr>
            <a:spLocks xmlns:a="http://schemas.openxmlformats.org/drawingml/2006/main" noGrp="1"/>
          </p:cNvSpPr>
          <p:nvPr/>
        </p:nvSpPr>
        <p:spPr>
          <a:xfrm xmlns:a="http://schemas.openxmlformats.org/drawingml/2006/main">
            <a:off x="1219200" y="34575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2E3959AD-9F29-4594-9BE8-9BECC6246A02}"/>
              </a:ext>
            </a:extLst>
          </p:cNvPr>
          <p:cNvSpPr>
            <a:spLocks xmlns:a="http://schemas.openxmlformats.org/drawingml/2006/main" noGrp="1"/>
          </p:cNvSpPr>
          <p:nvPr/>
        </p:nvSpPr>
        <p:spPr>
          <a:xfrm xmlns:a="http://schemas.openxmlformats.org/drawingml/2006/main">
            <a:off x="1485900" y="34480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Add TRAIN-only threshold selection or calibration before XGBoost.</a:t>
            </a:r>
          </a:p>
        </p:txBody>
      </p:sp>
      <p:sp>
        <p:nvSpPr>
          <p:cNvPr id="7" name="">
            <a:extLst xmlns:a="http://schemas.openxmlformats.org/drawingml/2006/main">
              <a:ext uri="{FF2B5EF4-FFF2-40B4-BE49-F238E27FC236}">
                <a16:creationId xmlns:a16="http://schemas.microsoft.com/office/drawing/2014/main" id="{CBF60CA4-5420-400E-B6C4-86E131DB6982}"/>
              </a:ext>
            </a:extLst>
          </p:cNvPr>
          <p:cNvSpPr>
            <a:spLocks xmlns:a="http://schemas.openxmlformats.org/drawingml/2006/main" noGrp="1"/>
          </p:cNvSpPr>
          <p:nvPr/>
        </p:nvSpPr>
        <p:spPr>
          <a:xfrm xmlns:a="http://schemas.openxmlformats.org/drawingml/2006/main">
            <a:off x="12192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B5E6935C-555F-4656-AB6E-8FBEC6C969C4}"/>
              </a:ext>
            </a:extLst>
          </p:cNvPr>
          <p:cNvSpPr>
            <a:spLocks xmlns:a="http://schemas.openxmlformats.org/drawingml/2006/main" noGrp="1"/>
          </p:cNvSpPr>
          <p:nvPr/>
        </p:nvSpPr>
        <p:spPr>
          <a:xfrm xmlns:a="http://schemas.openxmlformats.org/drawingml/2006/main">
            <a:off x="1485900" y="41148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fixed thresholds against a more permissive participation policy.</a:t>
            </a:r>
          </a:p>
        </p:txBody>
      </p:sp>
      <p:sp>
        <p:nvSpPr>
          <p:cNvPr id="9" name="">
            <a:extLst xmlns:a="http://schemas.openxmlformats.org/drawingml/2006/main">
              <a:ext uri="{FF2B5EF4-FFF2-40B4-BE49-F238E27FC236}">
                <a16:creationId xmlns:a16="http://schemas.microsoft.com/office/drawing/2014/main" id="{1E751A89-82DA-4B25-8160-83C87B76F734}"/>
              </a:ext>
            </a:extLst>
          </p:cNvPr>
          <p:cNvSpPr>
            <a:spLocks xmlns:a="http://schemas.openxmlformats.org/drawingml/2006/main" noGrp="1"/>
          </p:cNvSpPr>
          <p:nvPr/>
        </p:nvSpPr>
        <p:spPr>
          <a:xfrm xmlns:a="http://schemas.openxmlformats.org/drawingml/2006/main">
            <a:off x="1219200" y="47910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81B6EE59-C676-4EA8-A9CB-0D965DF5026E}"/>
              </a:ext>
            </a:extLst>
          </p:cNvPr>
          <p:cNvSpPr>
            <a:spLocks xmlns:a="http://schemas.openxmlformats.org/drawingml/2006/main" noGrp="1"/>
          </p:cNvSpPr>
          <p:nvPr/>
        </p:nvSpPr>
        <p:spPr>
          <a:xfrm xmlns:a="http://schemas.openxmlformats.org/drawingml/2006/main">
            <a:off x="1485900" y="47815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probability trade tapes as the required visual audit for every ML replay.</a:t>
            </a:r>
          </a:p>
        </p:txBody>
      </p:sp>
      <p:sp>
        <p:nvSpPr>
          <p:cNvPr id="11" name="">
            <a:extLst xmlns:a="http://schemas.openxmlformats.org/drawingml/2006/main">
              <a:ext uri="{FF2B5EF4-FFF2-40B4-BE49-F238E27FC236}">
                <a16:creationId xmlns:a16="http://schemas.microsoft.com/office/drawing/2014/main" id="{468D56C0-EAE6-4F22-A248-715C4652467B}"/>
              </a:ext>
            </a:extLst>
          </p:cNvPr>
          <p:cNvSpPr>
            <a:spLocks xmlns:a="http://schemas.openxmlformats.org/drawingml/2006/main" noGrp="1"/>
          </p:cNvSpPr>
          <p:nvPr/>
        </p:nvSpPr>
        <p:spPr>
          <a:xfrm xmlns:a="http://schemas.openxmlformats.org/drawingml/2006/main">
            <a:off x="1219200" y="54578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22499567-7C26-4CC2-8890-C2BD041627BF}"/>
              </a:ext>
            </a:extLst>
          </p:cNvPr>
          <p:cNvSpPr>
            <a:spLocks xmlns:a="http://schemas.openxmlformats.org/drawingml/2006/main" noGrp="1"/>
          </p:cNvSpPr>
          <p:nvPr/>
        </p:nvSpPr>
        <p:spPr>
          <a:xfrm xmlns:a="http://schemas.openxmlformats.org/drawingml/2006/main">
            <a:off x="1485900" y="54483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Only then add XGBoost as a nonlinear challenger.</a:t>
            </a:r>
          </a:p>
        </p:txBody>
      </p:sp>
    </p:spTree>
    <p:extLst>
      <p:ext uri="{BB962C8B-B14F-4D97-AF65-F5344CB8AC3E}">
        <p14:creationId xmlns:p14="http://schemas.microsoft.com/office/powerpoint/2010/main" val="70845015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4E8EC29-958E-478F-BFBE-157BB981A44E}"/>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F0E955BF-E15D-47A3-9BA9-7C4478E5BF56}"/>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Threshold policy is the first decision layer to audit</a:t>
            </a:r>
          </a:p>
        </p:txBody>
      </p:sp>
      <p:sp>
        <p:nvSpPr>
          <p:cNvPr id="3" name="">
            <a:extLst xmlns:a="http://schemas.openxmlformats.org/drawingml/2006/main">
              <a:ext uri="{FF2B5EF4-FFF2-40B4-BE49-F238E27FC236}">
                <a16:creationId xmlns:a16="http://schemas.microsoft.com/office/drawing/2014/main" id="{C2144B4B-2DAE-405D-8314-B2CCEAE0B943}"/>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BBEFD98-4ADB-4CB2-9B9A-644485754F61}"/>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ML-P1b keeps the GLM fixed and changes only the rule that converts probability into long/flat exposure. Thresholds are chosen before OOS replay using TRAIN data only.</a:t>
            </a:r>
          </a:p>
        </p:txBody>
      </p:sp>
      <p:sp>
        <p:nvSpPr>
          <p:cNvPr id="5" name="">
            <a:extLst xmlns:a="http://schemas.openxmlformats.org/drawingml/2006/main">
              <a:ext uri="{FF2B5EF4-FFF2-40B4-BE49-F238E27FC236}">
                <a16:creationId xmlns:a16="http://schemas.microsoft.com/office/drawing/2014/main" id="{53B0E8F9-2E9C-455B-9EC0-39A65E836BAA}"/>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C834491-50DD-49A3-BC25-70465B35FBBE}"/>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ML-P1b</a:t>
            </a:r>
          </a:p>
        </p:txBody>
      </p:sp>
      <p:sp>
        <p:nvSpPr>
          <p:cNvPr id="7" name="">
            <a:extLst xmlns:a="http://schemas.openxmlformats.org/drawingml/2006/main">
              <a:ext uri="{FF2B5EF4-FFF2-40B4-BE49-F238E27FC236}">
                <a16:creationId xmlns:a16="http://schemas.microsoft.com/office/drawing/2014/main" id="{690CCFC5-62A0-48B4-A915-333252D6DA56}"/>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Threshold diagnostic</a:t>
            </a:r>
          </a:p>
        </p:txBody>
      </p:sp>
    </p:spTree>
    <p:extLst>
      <p:ext uri="{BB962C8B-B14F-4D97-AF65-F5344CB8AC3E}">
        <p14:creationId xmlns:p14="http://schemas.microsoft.com/office/powerpoint/2010/main" val="22470474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7FF79A3-3E11-41F8-94A6-05B5A854F5C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E5BCF7C-0491-452A-97F2-4574A3475A7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participation policy helped, but not enough</a:t>
            </a:r>
          </a:p>
        </p:txBody>
      </p:sp>
      <p:sp>
        <p:nvSpPr>
          <p:cNvPr id="3" name="">
            <a:extLst xmlns:a="http://schemas.openxmlformats.org/drawingml/2006/main">
              <a:ext uri="{FF2B5EF4-FFF2-40B4-BE49-F238E27FC236}">
                <a16:creationId xmlns:a16="http://schemas.microsoft.com/office/drawing/2014/main" id="{96CD3460-6782-4834-8F14-75ADCB2B908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ADDECE5-B9E2-4F4E-B2D4-EE31D121644F}"/>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DC6C26FA-5CA5-4618-9D04-6F5179C9B167}"/>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POLICIES TESTED</a:t>
            </a:r>
          </a:p>
        </p:txBody>
      </p:sp>
      <p:sp>
        <p:nvSpPr>
          <p:cNvPr id="6" name="">
            <a:extLst xmlns:a="http://schemas.openxmlformats.org/drawingml/2006/main">
              <a:ext uri="{FF2B5EF4-FFF2-40B4-BE49-F238E27FC236}">
                <a16:creationId xmlns:a16="http://schemas.microsoft.com/office/drawing/2014/main" id="{94E3BCC9-B0B2-4357-B1AF-F4D3006ED677}"/>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a:t>
            </a:r>
          </a:p>
        </p:txBody>
      </p:sp>
      <p:sp>
        <p:nvSpPr>
          <p:cNvPr id="7" name="">
            <a:extLst xmlns:a="http://schemas.openxmlformats.org/drawingml/2006/main">
              <a:ext uri="{FF2B5EF4-FFF2-40B4-BE49-F238E27FC236}">
                <a16:creationId xmlns:a16="http://schemas.microsoft.com/office/drawing/2014/main" id="{CAFCB317-1862-42E5-A944-1F091BACBCCA}"/>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TRAIN quantile, and TRAIN forward-return grid.</a:t>
            </a:r>
          </a:p>
        </p:txBody>
      </p:sp>
      <p:sp>
        <p:nvSpPr>
          <p:cNvPr id="8" name="">
            <a:extLst xmlns:a="http://schemas.openxmlformats.org/drawingml/2006/main">
              <a:ext uri="{FF2B5EF4-FFF2-40B4-BE49-F238E27FC236}">
                <a16:creationId xmlns:a16="http://schemas.microsoft.com/office/drawing/2014/main" id="{6EB706B0-1881-4EA5-9AF2-2F5F5D36A679}"/>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3A06383F-AF2B-4CB4-BA3F-CCE8BB06A11B}"/>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10" name="">
            <a:extLst xmlns:a="http://schemas.openxmlformats.org/drawingml/2006/main">
              <a:ext uri="{FF2B5EF4-FFF2-40B4-BE49-F238E27FC236}">
                <a16:creationId xmlns:a16="http://schemas.microsoft.com/office/drawing/2014/main" id="{4A75C703-94FD-480B-93F9-45FDA640892B}"/>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1" name="">
            <a:extLst xmlns:a="http://schemas.openxmlformats.org/drawingml/2006/main">
              <a:ext uri="{FF2B5EF4-FFF2-40B4-BE49-F238E27FC236}">
                <a16:creationId xmlns:a16="http://schemas.microsoft.com/office/drawing/2014/main" id="{43BE98BE-D69A-4F0D-BBA3-F40A53AAE7D4}"/>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and policy selection stay inside TRAIN.</a:t>
            </a:r>
          </a:p>
        </p:txBody>
      </p:sp>
      <p:sp>
        <p:nvSpPr>
          <p:cNvPr id="12" name="">
            <a:extLst xmlns:a="http://schemas.openxmlformats.org/drawingml/2006/main">
              <a:ext uri="{FF2B5EF4-FFF2-40B4-BE49-F238E27FC236}">
                <a16:creationId xmlns:a16="http://schemas.microsoft.com/office/drawing/2014/main" id="{EB5FF88D-DF49-4827-97F3-52D8333E209C}"/>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DB5EFE55-7FA1-460B-9CCB-FAC41DC5E905}"/>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GRID RETURN</a:t>
            </a:r>
          </a:p>
        </p:txBody>
      </p:sp>
      <p:sp>
        <p:nvSpPr>
          <p:cNvPr id="14" name="">
            <a:extLst xmlns:a="http://schemas.openxmlformats.org/drawingml/2006/main">
              <a:ext uri="{FF2B5EF4-FFF2-40B4-BE49-F238E27FC236}">
                <a16:creationId xmlns:a16="http://schemas.microsoft.com/office/drawing/2014/main" id="{209F3205-A369-4F53-81AA-0784AAC944BB}"/>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0E8ADDF2-425B-4C83-8D70-ABF76F09CD38}"/>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8.0%; basket hold was 214.0%.</a:t>
            </a:r>
          </a:p>
        </p:txBody>
      </p:sp>
      <p:sp>
        <p:nvSpPr>
          <p:cNvPr id="16" name="">
            <a:extLst xmlns:a="http://schemas.openxmlformats.org/drawingml/2006/main">
              <a:ext uri="{FF2B5EF4-FFF2-40B4-BE49-F238E27FC236}">
                <a16:creationId xmlns:a16="http://schemas.microsoft.com/office/drawing/2014/main" id="{C5FA5CCA-529F-4297-9EB7-008FDB830341}"/>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A8330618-2B36-451B-B5FA-98E98F3E4B2F}"/>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QUANTILE RETURN</a:t>
            </a:r>
          </a:p>
        </p:txBody>
      </p:sp>
      <p:sp>
        <p:nvSpPr>
          <p:cNvPr id="18" name="">
            <a:extLst xmlns:a="http://schemas.openxmlformats.org/drawingml/2006/main">
              <a:ext uri="{FF2B5EF4-FFF2-40B4-BE49-F238E27FC236}">
                <a16:creationId xmlns:a16="http://schemas.microsoft.com/office/drawing/2014/main" id="{22187A75-6FDF-4C32-B600-FC6FCBC29DAB}"/>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-39.5%</a:t>
            </a:r>
          </a:p>
        </p:txBody>
      </p:sp>
      <p:sp>
        <p:nvSpPr>
          <p:cNvPr id="19" name="">
            <a:extLst xmlns:a="http://schemas.openxmlformats.org/drawingml/2006/main">
              <a:ext uri="{FF2B5EF4-FFF2-40B4-BE49-F238E27FC236}">
                <a16:creationId xmlns:a16="http://schemas.microsoft.com/office/drawing/2014/main" id="{EA9799A9-97F7-4DD2-9684-0427FFF566F3}"/>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-42.4%; basket hold was -54.2%.</a:t>
            </a:r>
          </a:p>
        </p:txBody>
      </p:sp>
      <p:sp>
        <p:nvSpPr>
          <p:cNvPr id="20" name="">
            <a:extLst xmlns:a="http://schemas.openxmlformats.org/drawingml/2006/main">
              <a:ext uri="{FF2B5EF4-FFF2-40B4-BE49-F238E27FC236}">
                <a16:creationId xmlns:a16="http://schemas.microsoft.com/office/drawing/2014/main" id="{234ED678-F0BD-443D-BBED-C8ED70AA8C1E}"/>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grid policy raised 2020 exposure and return, which confirms threshold choice matters. It still left most of the high-beta rally unowned, so the problem is not just the original 0.55 / 0.50 cutoff.</a:t>
            </a:r>
          </a:p>
        </p:txBody>
      </p:sp>
    </p:spTree>
    <p:extLst>
      <p:ext uri="{BB962C8B-B14F-4D97-AF65-F5344CB8AC3E}">
        <p14:creationId xmlns:p14="http://schemas.microsoft.com/office/powerpoint/2010/main" val="160917732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C10A2AE-8C81-42EF-899A-9F1ECFE8B07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534B043-895F-4B4D-8A47-3E4A572722C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a better but still underpowered rally response</a:t>
            </a:r>
          </a:p>
        </p:txBody>
      </p:sp>
      <p:sp>
        <p:nvSpPr>
          <p:cNvPr id="3" name="">
            <a:extLst xmlns:a="http://schemas.openxmlformats.org/drawingml/2006/main">
              <a:ext uri="{FF2B5EF4-FFF2-40B4-BE49-F238E27FC236}">
                <a16:creationId xmlns:a16="http://schemas.microsoft.com/office/drawing/2014/main" id="{EC11EACE-9AF2-448E-9921-758DA69E059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a44aacfeb704639"/>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7C22DC2-87DE-4465-87EF-978435631070}"/>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64693799-1AA4-46DD-8844-F7194C729862}"/>
              </a:ext>
            </a:extLst>
          </p:cNvPr>
          <p:cNvSpPr>
            <a:spLocks xmlns:a="http://schemas.openxmlformats.org/drawingml/2006/main" noGrp="1"/>
          </p:cNvSpPr>
          <p:nvPr/>
        </p:nvSpPr>
        <p:spPr>
          <a:xfrm xmlns:a="http://schemas.openxmlformats.org/drawingml/2006/main">
            <a:off x="8477250" y="2705100"/>
            <a:ext cx="27051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grid policy lifted 2020 exposure from 27.6% to 34.8% and return from 8.0% to 30.0%. It still lagged the basket by -184.0%.</a:t>
            </a:r>
          </a:p>
        </p:txBody>
      </p:sp>
    </p:spTree>
    <p:extLst>
      <p:ext uri="{BB962C8B-B14F-4D97-AF65-F5344CB8AC3E}">
        <p14:creationId xmlns:p14="http://schemas.microsoft.com/office/powerpoint/2010/main" val="129893715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CF0FBBD-D988-4492-8E98-AE0F074632C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41327A0-7A27-42C2-BF57-6B055337311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thresholds explain the behavior change</a:t>
            </a:r>
          </a:p>
        </p:txBody>
      </p:sp>
      <p:sp>
        <p:nvSpPr>
          <p:cNvPr id="3" name="">
            <a:extLst xmlns:a="http://schemas.openxmlformats.org/drawingml/2006/main">
              <a:ext uri="{FF2B5EF4-FFF2-40B4-BE49-F238E27FC236}">
                <a16:creationId xmlns:a16="http://schemas.microsoft.com/office/drawing/2014/main" id="{2B9F3B9E-881B-4C58-B5F1-5E161C3E7D3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98ddd17608a4c74"/>
          <a:stretch xmlns:a="http://schemas.openxmlformats.org/drawingml/2006/main"/>
        </p:blipFill>
        <p:spPr>
          <a:xfrm xmlns:a="http://schemas.openxmlformats.org/drawingml/2006/main">
            <a:off x="704850" y="2423013"/>
            <a:ext cx="4762500" cy="2564423"/>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7d703bb8ba34158"/>
          <a:stretch xmlns:a="http://schemas.openxmlformats.org/drawingml/2006/main"/>
        </p:blipFill>
        <p:spPr>
          <a:xfrm xmlns:a="http://schemas.openxmlformats.org/drawingml/2006/main">
            <a:off x="5962650" y="2382308"/>
            <a:ext cx="4762500" cy="264583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B8C1535-43A3-484B-8C31-56A83797EA9D}"/>
              </a:ext>
            </a:extLst>
          </p:cNvPr>
          <p:cNvSpPr>
            <a:spLocks xmlns:a="http://schemas.openxmlformats.org/drawingml/2006/main" noGrp="1"/>
          </p:cNvSpPr>
          <p:nvPr/>
        </p:nvSpPr>
        <p:spPr>
          <a:xfrm xmlns:a="http://schemas.openxmlformats.org/drawingml/2006/main">
            <a:off x="1104900" y="5753100"/>
            <a:ext cx="933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The grid policy's average TRAIN entry threshold was 0.54, with a TRAIN proxy exposure target around 69.7%. That made it more permissive in 2020, but also more exposed in 2022.</a:t>
            </a:r>
          </a:p>
        </p:txBody>
      </p:sp>
    </p:spTree>
    <p:extLst>
      <p:ext uri="{BB962C8B-B14F-4D97-AF65-F5344CB8AC3E}">
        <p14:creationId xmlns:p14="http://schemas.microsoft.com/office/powerpoint/2010/main" val="10188317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02C6740-30F1-4D36-93A2-BB0F049895A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9727F43-7D1B-4582-A8B5-AD28A3ACB60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that the model rarely loved the rally early enough</a:t>
            </a:r>
          </a:p>
        </p:txBody>
      </p:sp>
      <p:sp>
        <p:nvSpPr>
          <p:cNvPr id="3" name="">
            <a:extLst xmlns:a="http://schemas.openxmlformats.org/drawingml/2006/main">
              <a:ext uri="{FF2B5EF4-FFF2-40B4-BE49-F238E27FC236}">
                <a16:creationId xmlns:a16="http://schemas.microsoft.com/office/drawing/2014/main" id="{E8CF2791-57E7-4AC8-B93D-5321E68F352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3abcb0ad649416f"/>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34E1FB5-5D95-4D38-A0B4-49271EE1E532}"/>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matters</a:t>
            </a:r>
          </a:p>
        </p:txBody>
      </p:sp>
      <p:sp>
        <p:nvSpPr>
          <p:cNvPr id="6" name="">
            <a:extLst xmlns:a="http://schemas.openxmlformats.org/drawingml/2006/main">
              <a:ext uri="{FF2B5EF4-FFF2-40B4-BE49-F238E27FC236}">
                <a16:creationId xmlns:a16="http://schemas.microsoft.com/office/drawing/2014/main" id="{9538687C-79B2-43E1-9DA7-B640CB6B3B42}"/>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Lowering thresholds creates more entries, but the probability trace still spends long rally stretches below the entry line. The next question is whether calibration, labels, or model class can rank those days better.</a:t>
            </a:r>
          </a:p>
        </p:txBody>
      </p:sp>
    </p:spTree>
    <p:extLst>
      <p:ext uri="{BB962C8B-B14F-4D97-AF65-F5344CB8AC3E}">
        <p14:creationId xmlns:p14="http://schemas.microsoft.com/office/powerpoint/2010/main" val="78237332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D17ADD5-5D4A-41E5-AF9E-1020C0C460A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ACCF5EB-DC5F-416A-B583-92492EDC688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slice should test probability quality, not just more exposure</a:t>
            </a:r>
          </a:p>
        </p:txBody>
      </p:sp>
      <p:sp>
        <p:nvSpPr>
          <p:cNvPr id="3" name="">
            <a:extLst xmlns:a="http://schemas.openxmlformats.org/drawingml/2006/main">
              <a:ext uri="{FF2B5EF4-FFF2-40B4-BE49-F238E27FC236}">
                <a16:creationId xmlns:a16="http://schemas.microsoft.com/office/drawing/2014/main" id="{8099C2E4-2E99-47E9-BB55-FD15713B3DE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D8E924-5023-4E7D-84D9-15B959710D10}"/>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ML-P1b showed that threshold policy is real, but it did not close the alpha gap. The forward-return grid made the model participate more, yet still undercaptured 2020 and weakened 2022 defense.</a:t>
            </a:r>
          </a:p>
        </p:txBody>
      </p:sp>
      <p:sp>
        <p:nvSpPr>
          <p:cNvPr id="5" name="">
            <a:extLst xmlns:a="http://schemas.openxmlformats.org/drawingml/2006/main">
              <a:ext uri="{FF2B5EF4-FFF2-40B4-BE49-F238E27FC236}">
                <a16:creationId xmlns:a16="http://schemas.microsoft.com/office/drawing/2014/main" id="{22CB1683-7DEC-42D1-98B1-611B1D1FB937}"/>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03C43DC1-AAFC-4802-AE58-1FF985943875}"/>
              </a:ext>
            </a:extLst>
          </p:cNvPr>
          <p:cNvSpPr>
            <a:spLocks xmlns:a="http://schemas.openxmlformats.org/drawingml/2006/main" noGrp="1"/>
          </p:cNvSpPr>
          <p:nvPr/>
        </p:nvSpPr>
        <p:spPr>
          <a:xfrm xmlns:a="http://schemas.openxmlformats.org/drawingml/2006/main">
            <a:off x="1485900" y="35623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the continuous annual replay and policy audit as the required ML comparison surface.</a:t>
            </a:r>
          </a:p>
        </p:txBody>
      </p:sp>
      <p:sp>
        <p:nvSpPr>
          <p:cNvPr id="7" name="">
            <a:extLst xmlns:a="http://schemas.openxmlformats.org/drawingml/2006/main">
              <a:ext uri="{FF2B5EF4-FFF2-40B4-BE49-F238E27FC236}">
                <a16:creationId xmlns:a16="http://schemas.microsoft.com/office/drawing/2014/main" id="{CC89853D-2069-4E08-B945-B92476F420BC}"/>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BCF2FBFA-E31F-42C4-9153-204B36F93D05}"/>
              </a:ext>
            </a:extLst>
          </p:cNvPr>
          <p:cNvSpPr>
            <a:spLocks xmlns:a="http://schemas.openxmlformats.org/drawingml/2006/main" noGrp="1"/>
          </p:cNvSpPr>
          <p:nvPr/>
        </p:nvSpPr>
        <p:spPr>
          <a:xfrm xmlns:a="http://schemas.openxmlformats.org/drawingml/2006/main">
            <a:off x="1485900" y="42291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test should compare label horizons or probability calibration before adding XGBoost.</a:t>
            </a:r>
          </a:p>
        </p:txBody>
      </p:sp>
      <p:sp>
        <p:nvSpPr>
          <p:cNvPr id="9" name="">
            <a:extLst xmlns:a="http://schemas.openxmlformats.org/drawingml/2006/main">
              <a:ext uri="{FF2B5EF4-FFF2-40B4-BE49-F238E27FC236}">
                <a16:creationId xmlns:a16="http://schemas.microsoft.com/office/drawing/2014/main" id="{5400AD03-C32F-45E7-951B-0D1D5C3C6E8C}"/>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8A42FCEE-7FEC-4686-BE9A-999C8D7C5B73}"/>
              </a:ext>
            </a:extLst>
          </p:cNvPr>
          <p:cNvSpPr>
            <a:spLocks xmlns:a="http://schemas.openxmlformats.org/drawingml/2006/main" noGrp="1"/>
          </p:cNvSpPr>
          <p:nvPr/>
        </p:nvSpPr>
        <p:spPr>
          <a:xfrm xmlns:a="http://schemas.openxmlformats.org/drawingml/2006/main">
            <a:off x="1485900" y="48958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comes next, it should be judged on better ranking and timing, not merely higher exposure.</a:t>
            </a:r>
          </a:p>
        </p:txBody>
      </p:sp>
      <p:sp>
        <p:nvSpPr>
          <p:cNvPr id="11" name="">
            <a:extLst xmlns:a="http://schemas.openxmlformats.org/drawingml/2006/main">
              <a:ext uri="{FF2B5EF4-FFF2-40B4-BE49-F238E27FC236}">
                <a16:creationId xmlns:a16="http://schemas.microsoft.com/office/drawing/2014/main" id="{0D890192-E41C-475C-B34B-0C8F3E1312DA}"/>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EA38F89B-66AD-452F-AA64-21C07064DA1A}"/>
              </a:ext>
            </a:extLst>
          </p:cNvPr>
          <p:cNvSpPr>
            <a:spLocks xmlns:a="http://schemas.openxmlformats.org/drawingml/2006/main" noGrp="1"/>
          </p:cNvSpPr>
          <p:nvPr/>
        </p:nvSpPr>
        <p:spPr>
          <a:xfrm xmlns:a="http://schemas.openxmlformats.org/drawingml/2006/main">
            <a:off x="1485900" y="55626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the 2022 tradeoff: grid exposure rose to 67.4% while return fell to -48.4%.</a:t>
            </a:r>
          </a:p>
        </p:txBody>
      </p:sp>
    </p:spTree>
    <p:extLst>
      <p:ext uri="{BB962C8B-B14F-4D97-AF65-F5344CB8AC3E}">
        <p14:creationId xmlns:p14="http://schemas.microsoft.com/office/powerpoint/2010/main" val="6720110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2026-07-13T21:28:24.0210000Z</dcterms:created>
  <dcterms:modified xsi:type="dcterms:W3CDTF">2026-07-13T21:28:24.0220000Z</dcterms:modified>
</coreProperties>
</file>