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21c82fa66cc4867" /><Relationship Type="http://schemas.openxmlformats.org/officeDocument/2006/relationships/extended-properties" Target="/docProps/app.xml" Id="R3bb68d7ca87c430f" /><Relationship Type="http://schemas.openxmlformats.org/officeDocument/2006/relationships/officeDocument" Target="/ppt/presentation.xml" Id="R06094d010dfc4d68" /></Relationships>
</file>

<file path=ppt/presentation.xml><?xml version="1.0" encoding="utf-8"?>
<p:presentation xmlns:p="http://schemas.openxmlformats.org/presentationml/2006/main">
  <p:sldMasterIdLst>
    <p:sldMasterId xmlns:r="http://schemas.openxmlformats.org/officeDocument/2006/relationships" id="2147483648" r:id="Rea3701769abb4810"/>
  </p:sldMasterIdLst>
  <p:notesMasterIdLst>
    <p:notesMasterId xmlns:r="http://schemas.openxmlformats.org/officeDocument/2006/relationships" r:id="Rdeeedd877a9b4517"/>
  </p:notesMasterIdLst>
  <p:sldIdLst>
    <p:sldId xmlns:r="http://schemas.openxmlformats.org/officeDocument/2006/relationships" id="256" r:id="R7ac297e9d08644ed"/>
    <p:sldId xmlns:r="http://schemas.openxmlformats.org/officeDocument/2006/relationships" id="257" r:id="R9c405598a9de4490"/>
    <p:sldId xmlns:r="http://schemas.openxmlformats.org/officeDocument/2006/relationships" id="258" r:id="R75d92b3d26a94edd"/>
    <p:sldId xmlns:r="http://schemas.openxmlformats.org/officeDocument/2006/relationships" id="259" r:id="R0c89efa59a93452b"/>
    <p:sldId xmlns:r="http://schemas.openxmlformats.org/officeDocument/2006/relationships" id="260" r:id="R09c696fb9a444e03"/>
    <p:sldId xmlns:r="http://schemas.openxmlformats.org/officeDocument/2006/relationships" id="261" r:id="R67b2a16dc67d434a"/>
    <p:sldId xmlns:r="http://schemas.openxmlformats.org/officeDocument/2006/relationships" id="262" r:id="Rea758866eb0c434a"/>
    <p:sldId xmlns:r="http://schemas.openxmlformats.org/officeDocument/2006/relationships" id="263" r:id="R0ef21319945a468e"/>
    <p:sldId xmlns:r="http://schemas.openxmlformats.org/officeDocument/2006/relationships" id="264" r:id="R3dd310bc6d034f76"/>
    <p:sldId xmlns:r="http://schemas.openxmlformats.org/officeDocument/2006/relationships" id="265" r:id="Ra408a41694a249be"/>
    <p:sldId xmlns:r="http://schemas.openxmlformats.org/officeDocument/2006/relationships" id="266" r:id="R798a3a85b88e4162"/>
    <p:sldId xmlns:r="http://schemas.openxmlformats.org/officeDocument/2006/relationships" id="267" r:id="Redfc433ad51045c7"/>
    <p:sldId xmlns:r="http://schemas.openxmlformats.org/officeDocument/2006/relationships" id="268" r:id="Rc3adad69a38d45ec"/>
    <p:sldId xmlns:r="http://schemas.openxmlformats.org/officeDocument/2006/relationships" id="269" r:id="Rb2bffc93fc4249a3"/>
    <p:sldId xmlns:r="http://schemas.openxmlformats.org/officeDocument/2006/relationships" id="270" r:id="Re3e023108ded4905"/>
    <p:sldId xmlns:r="http://schemas.openxmlformats.org/officeDocument/2006/relationships" id="271" r:id="R6cfd07c3266b4780"/>
    <p:sldId xmlns:r="http://schemas.openxmlformats.org/officeDocument/2006/relationships" id="272" r:id="Rec6c5df7797b42cc"/>
    <p:sldId xmlns:r="http://schemas.openxmlformats.org/officeDocument/2006/relationships" id="273" r:id="Rae76493edfc44a3f"/>
    <p:sldId xmlns:r="http://schemas.openxmlformats.org/officeDocument/2006/relationships" id="274" r:id="R89c5bb3c9e824cb9"/>
    <p:sldId xmlns:r="http://schemas.openxmlformats.org/officeDocument/2006/relationships" id="275" r:id="R64a81125b53d406f"/>
    <p:sldId xmlns:r="http://schemas.openxmlformats.org/officeDocument/2006/relationships" id="276" r:id="R0b779f1a1670488e"/>
    <p:sldId xmlns:r="http://schemas.openxmlformats.org/officeDocument/2006/relationships" id="277" r:id="Rd4aa1df0ad674c50"/>
    <p:sldId xmlns:r="http://schemas.openxmlformats.org/officeDocument/2006/relationships" id="278" r:id="R44fe273981e6407a"/>
    <p:sldId xmlns:r="http://schemas.openxmlformats.org/officeDocument/2006/relationships" id="279" r:id="R14fdf18a16714005"/>
    <p:sldId xmlns:r="http://schemas.openxmlformats.org/officeDocument/2006/relationships" id="280" r:id="R0d5230b170cb45e4"/>
    <p:sldId xmlns:r="http://schemas.openxmlformats.org/officeDocument/2006/relationships" id="281" r:id="Rdff5a02f5f724d93"/>
    <p:sldId xmlns:r="http://schemas.openxmlformats.org/officeDocument/2006/relationships" id="282" r:id="R8473837546e44112"/>
    <p:sldId xmlns:r="http://schemas.openxmlformats.org/officeDocument/2006/relationships" id="283" r:id="R96287d208aac4348"/>
    <p:sldId xmlns:r="http://schemas.openxmlformats.org/officeDocument/2006/relationships" id="284" r:id="Rc45f9410d29f4f30"/>
    <p:sldId xmlns:r="http://schemas.openxmlformats.org/officeDocument/2006/relationships" id="285" r:id="R4c8cca6429ba4f66"/>
    <p:sldId xmlns:r="http://schemas.openxmlformats.org/officeDocument/2006/relationships" id="286" r:id="R00203d4b70714b31"/>
    <p:sldId xmlns:r="http://schemas.openxmlformats.org/officeDocument/2006/relationships" id="287" r:id="Rb29045b711234458"/>
    <p:sldId xmlns:r="http://schemas.openxmlformats.org/officeDocument/2006/relationships" id="288" r:id="R1ed6f05136b64bff"/>
    <p:sldId xmlns:r="http://schemas.openxmlformats.org/officeDocument/2006/relationships" id="289" r:id="Rb9c715f32ce94010"/>
    <p:sldId xmlns:r="http://schemas.openxmlformats.org/officeDocument/2006/relationships" id="290" r:id="Rc8e6dbd5cd4b4205"/>
    <p:sldId xmlns:r="http://schemas.openxmlformats.org/officeDocument/2006/relationships" id="291" r:id="R54ef382664f3459b"/>
    <p:sldId xmlns:r="http://schemas.openxmlformats.org/officeDocument/2006/relationships" id="292" r:id="R4597ae93d30742ab"/>
    <p:sldId xmlns:r="http://schemas.openxmlformats.org/officeDocument/2006/relationships" id="293" r:id="R37dc51f7a7eb4ae1"/>
    <p:sldId xmlns:r="http://schemas.openxmlformats.org/officeDocument/2006/relationships" id="294" r:id="Rc31db60a20a94fb4"/>
    <p:sldId xmlns:r="http://schemas.openxmlformats.org/officeDocument/2006/relationships" id="295" r:id="R63e4477a24844b3f"/>
    <p:sldId xmlns:r="http://schemas.openxmlformats.org/officeDocument/2006/relationships" id="296" r:id="R4228472b8c5b4ccb"/>
    <p:sldId xmlns:r="http://schemas.openxmlformats.org/officeDocument/2006/relationships" id="297" r:id="Rf9df480b140a4964"/>
    <p:sldId xmlns:r="http://schemas.openxmlformats.org/officeDocument/2006/relationships" id="298" r:id="R78f3b55182154beb"/>
    <p:sldId xmlns:r="http://schemas.openxmlformats.org/officeDocument/2006/relationships" id="299" r:id="Rd6c0ca4260274d8a"/>
    <p:sldId xmlns:r="http://schemas.openxmlformats.org/officeDocument/2006/relationships" id="300" r:id="Rd174eec28c774214"/>
    <p:sldId xmlns:r="http://schemas.openxmlformats.org/officeDocument/2006/relationships" id="301" r:id="R274b6381472440ce"/>
    <p:sldId xmlns:r="http://schemas.openxmlformats.org/officeDocument/2006/relationships" id="302" r:id="Rfee26f98f97542b1"/>
    <p:sldId xmlns:r="http://schemas.openxmlformats.org/officeDocument/2006/relationships" id="303" r:id="Ra54602455d6c488a"/>
    <p:sldId xmlns:r="http://schemas.openxmlformats.org/officeDocument/2006/relationships" id="304" r:id="R46e7c6a0ddc04a73"/>
    <p:sldId xmlns:r="http://schemas.openxmlformats.org/officeDocument/2006/relationships" id="305" r:id="R7d1361b599394ede"/>
    <p:sldId xmlns:r="http://schemas.openxmlformats.org/officeDocument/2006/relationships" id="306" r:id="R4296dabed54a4121"/>
    <p:sldId xmlns:r="http://schemas.openxmlformats.org/officeDocument/2006/relationships" id="307" r:id="R4963296a99964770"/>
    <p:sldId xmlns:r="http://schemas.openxmlformats.org/officeDocument/2006/relationships" id="308" r:id="Refd2daca75cf4c51"/>
    <p:sldId xmlns:r="http://schemas.openxmlformats.org/officeDocument/2006/relationships" id="309" r:id="R941c5e4f2b4d4637"/>
    <p:sldId xmlns:r="http://schemas.openxmlformats.org/officeDocument/2006/relationships" id="310" r:id="R01588bc687be4e93"/>
    <p:sldId xmlns:r="http://schemas.openxmlformats.org/officeDocument/2006/relationships" id="311" r:id="Rdff505e6c70f4370"/>
    <p:sldId xmlns:r="http://schemas.openxmlformats.org/officeDocument/2006/relationships" id="312" r:id="Rbd349bcd6930412b"/>
    <p:sldId xmlns:r="http://schemas.openxmlformats.org/officeDocument/2006/relationships" id="313" r:id="Rc9ac1a7323f14748"/>
    <p:sldId xmlns:r="http://schemas.openxmlformats.org/officeDocument/2006/relationships" id="314" r:id="Ra886a542e9904af6"/>
    <p:sldId xmlns:r="http://schemas.openxmlformats.org/officeDocument/2006/relationships" id="315" r:id="R90e3fe0589994c19"/>
    <p:sldId xmlns:r="http://schemas.openxmlformats.org/officeDocument/2006/relationships" id="316" r:id="Rc04bc82f657d47b9"/>
    <p:sldId xmlns:r="http://schemas.openxmlformats.org/officeDocument/2006/relationships" id="317" r:id="R70d714275ca84aa7"/>
    <p:sldId xmlns:r="http://schemas.openxmlformats.org/officeDocument/2006/relationships" id="318" r:id="R4382896eb9914292"/>
    <p:sldId xmlns:r="http://schemas.openxmlformats.org/officeDocument/2006/relationships" id="319" r:id="Rb699d07ad7c54fd2"/>
    <p:sldId xmlns:r="http://schemas.openxmlformats.org/officeDocument/2006/relationships" id="320" r:id="R3453235f13c944d2"/>
    <p:sldId xmlns:r="http://schemas.openxmlformats.org/officeDocument/2006/relationships" id="321" r:id="R1ae4284c3c724044"/>
    <p:sldId xmlns:r="http://schemas.openxmlformats.org/officeDocument/2006/relationships" id="322" r:id="R4b1d2c05fca54469"/>
    <p:sldId xmlns:r="http://schemas.openxmlformats.org/officeDocument/2006/relationships" id="323" r:id="Rdb2ced8fcc194133"/>
    <p:sldId xmlns:r="http://schemas.openxmlformats.org/officeDocument/2006/relationships" id="324" r:id="R51903e99c729476e"/>
    <p:sldId xmlns:r="http://schemas.openxmlformats.org/officeDocument/2006/relationships" id="325" r:id="R4b698a06874d4745"/>
    <p:sldId xmlns:r="http://schemas.openxmlformats.org/officeDocument/2006/relationships" id="326" r:id="Rbf3d8401cfa14588"/>
    <p:sldId xmlns:r="http://schemas.openxmlformats.org/officeDocument/2006/relationships" id="327" r:id="R74730fa455234fc6"/>
    <p:sldId xmlns:r="http://schemas.openxmlformats.org/officeDocument/2006/relationships" id="328" r:id="R1bfe14cfa2d24655"/>
    <p:sldId xmlns:r="http://schemas.openxmlformats.org/officeDocument/2006/relationships" id="329" r:id="R14c0107d646849ef"/>
    <p:sldId xmlns:r="http://schemas.openxmlformats.org/officeDocument/2006/relationships" id="330" r:id="R84a0f059919b4efb"/>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731dbd401cd4ecf" /><Relationship Type="http://schemas.openxmlformats.org/officeDocument/2006/relationships/slideMaster" Target="/ppt/slideMasters/slideMaster1.xml" Id="Rea3701769abb4810" /><Relationship Type="http://schemas.openxmlformats.org/officeDocument/2006/relationships/notesMaster" Target="/ppt/notesMasters/notesMaster1.xml" Id="Rdeeedd877a9b4517" /><Relationship Type="http://schemas.openxmlformats.org/officeDocument/2006/relationships/presProps" Target="/ppt/presProps.xml" Id="R2cc671c7f4cd435a" /><Relationship Type="http://schemas.openxmlformats.org/officeDocument/2006/relationships/tableStyles" Target="/ppt/tableStyles.xml" Id="Rdbdee5b8e7a34ea4" /><Relationship Type="http://schemas.openxmlformats.org/officeDocument/2006/relationships/slide" Target="/ppt/slides/slide1.xml" Id="R7ac297e9d08644ed" /><Relationship Type="http://schemas.openxmlformats.org/officeDocument/2006/relationships/slide" Target="/ppt/slides/slide2.xml" Id="R9c405598a9de4490" /><Relationship Type="http://schemas.openxmlformats.org/officeDocument/2006/relationships/slide" Target="/ppt/slides/slide3.xml" Id="R75d92b3d26a94edd" /><Relationship Type="http://schemas.openxmlformats.org/officeDocument/2006/relationships/slide" Target="/ppt/slides/slide4.xml" Id="R0c89efa59a93452b" /><Relationship Type="http://schemas.openxmlformats.org/officeDocument/2006/relationships/slide" Target="/ppt/slides/slide5.xml" Id="R09c696fb9a444e03" /><Relationship Type="http://schemas.openxmlformats.org/officeDocument/2006/relationships/slide" Target="/ppt/slides/slide6.xml" Id="R67b2a16dc67d434a" /><Relationship Type="http://schemas.openxmlformats.org/officeDocument/2006/relationships/slide" Target="/ppt/slides/slide7.xml" Id="Rea758866eb0c434a" /><Relationship Type="http://schemas.openxmlformats.org/officeDocument/2006/relationships/slide" Target="/ppt/slides/slide8.xml" Id="R0ef21319945a468e" /><Relationship Type="http://schemas.openxmlformats.org/officeDocument/2006/relationships/slide" Target="/ppt/slides/slide9.xml" Id="R3dd310bc6d034f76" /><Relationship Type="http://schemas.openxmlformats.org/officeDocument/2006/relationships/slide" Target="/ppt/slides/slide10.xml" Id="Ra408a41694a249be" /><Relationship Type="http://schemas.openxmlformats.org/officeDocument/2006/relationships/slide" Target="/ppt/slides/slide11.xml" Id="R798a3a85b88e4162" /><Relationship Type="http://schemas.openxmlformats.org/officeDocument/2006/relationships/slide" Target="/ppt/slides/slide12.xml" Id="Redfc433ad51045c7" /><Relationship Type="http://schemas.openxmlformats.org/officeDocument/2006/relationships/slide" Target="/ppt/slides/slide13.xml" Id="Rc3adad69a38d45ec" /><Relationship Type="http://schemas.openxmlformats.org/officeDocument/2006/relationships/slide" Target="/ppt/slides/slide14.xml" Id="Rb2bffc93fc4249a3" /><Relationship Type="http://schemas.openxmlformats.org/officeDocument/2006/relationships/slide" Target="/ppt/slides/slide15.xml" Id="Re3e023108ded4905" /><Relationship Type="http://schemas.openxmlformats.org/officeDocument/2006/relationships/slide" Target="/ppt/slides/slide16.xml" Id="R6cfd07c3266b4780" /><Relationship Type="http://schemas.openxmlformats.org/officeDocument/2006/relationships/slide" Target="/ppt/slides/slide17.xml" Id="Rec6c5df7797b42cc" /><Relationship Type="http://schemas.openxmlformats.org/officeDocument/2006/relationships/slide" Target="/ppt/slides/slide18.xml" Id="Rae76493edfc44a3f" /><Relationship Type="http://schemas.openxmlformats.org/officeDocument/2006/relationships/slide" Target="/ppt/slides/slide19.xml" Id="R89c5bb3c9e824cb9" /><Relationship Type="http://schemas.openxmlformats.org/officeDocument/2006/relationships/slide" Target="/ppt/slides/slide20.xml" Id="R64a81125b53d406f" /><Relationship Type="http://schemas.openxmlformats.org/officeDocument/2006/relationships/slide" Target="/ppt/slides/slide21.xml" Id="R0b779f1a1670488e" /><Relationship Type="http://schemas.openxmlformats.org/officeDocument/2006/relationships/slide" Target="/ppt/slides/slide22.xml" Id="Rd4aa1df0ad674c50" /><Relationship Type="http://schemas.openxmlformats.org/officeDocument/2006/relationships/slide" Target="/ppt/slides/slide23.xml" Id="R44fe273981e6407a" /><Relationship Type="http://schemas.openxmlformats.org/officeDocument/2006/relationships/slide" Target="/ppt/slides/slide24.xml" Id="R14fdf18a16714005" /><Relationship Type="http://schemas.openxmlformats.org/officeDocument/2006/relationships/slide" Target="/ppt/slides/slide25.xml" Id="R0d5230b170cb45e4" /><Relationship Type="http://schemas.openxmlformats.org/officeDocument/2006/relationships/slide" Target="/ppt/slides/slide26.xml" Id="Rdff5a02f5f724d93" /><Relationship Type="http://schemas.openxmlformats.org/officeDocument/2006/relationships/slide" Target="/ppt/slides/slide27.xml" Id="R8473837546e44112" /><Relationship Type="http://schemas.openxmlformats.org/officeDocument/2006/relationships/slide" Target="/ppt/slides/slide28.xml" Id="R96287d208aac4348" /><Relationship Type="http://schemas.openxmlformats.org/officeDocument/2006/relationships/slide" Target="/ppt/slides/slide29.xml" Id="Rc45f9410d29f4f30" /><Relationship Type="http://schemas.openxmlformats.org/officeDocument/2006/relationships/slide" Target="/ppt/slides/slide30.xml" Id="R4c8cca6429ba4f66" /><Relationship Type="http://schemas.openxmlformats.org/officeDocument/2006/relationships/slide" Target="/ppt/slides/slide31.xml" Id="R00203d4b70714b31" /><Relationship Type="http://schemas.openxmlformats.org/officeDocument/2006/relationships/slide" Target="/ppt/slides/slide32.xml" Id="Rb29045b711234458" /><Relationship Type="http://schemas.openxmlformats.org/officeDocument/2006/relationships/slide" Target="/ppt/slides/slide33.xml" Id="R1ed6f05136b64bff" /><Relationship Type="http://schemas.openxmlformats.org/officeDocument/2006/relationships/slide" Target="/ppt/slides/slide34.xml" Id="Rb9c715f32ce94010" /><Relationship Type="http://schemas.openxmlformats.org/officeDocument/2006/relationships/slide" Target="/ppt/slides/slide35.xml" Id="Rc8e6dbd5cd4b4205" /><Relationship Type="http://schemas.openxmlformats.org/officeDocument/2006/relationships/slide" Target="/ppt/slides/slide36.xml" Id="R54ef382664f3459b" /><Relationship Type="http://schemas.openxmlformats.org/officeDocument/2006/relationships/slide" Target="/ppt/slides/slide37.xml" Id="R4597ae93d30742ab" /><Relationship Type="http://schemas.openxmlformats.org/officeDocument/2006/relationships/slide" Target="/ppt/slides/slide38.xml" Id="R37dc51f7a7eb4ae1" /><Relationship Type="http://schemas.openxmlformats.org/officeDocument/2006/relationships/slide" Target="/ppt/slides/slide39.xml" Id="Rc31db60a20a94fb4" /><Relationship Type="http://schemas.openxmlformats.org/officeDocument/2006/relationships/slide" Target="/ppt/slides/slide40.xml" Id="R63e4477a24844b3f" /><Relationship Type="http://schemas.openxmlformats.org/officeDocument/2006/relationships/slide" Target="/ppt/slides/slide41.xml" Id="R4228472b8c5b4ccb" /><Relationship Type="http://schemas.openxmlformats.org/officeDocument/2006/relationships/slide" Target="/ppt/slides/slide42.xml" Id="Rf9df480b140a4964" /><Relationship Type="http://schemas.openxmlformats.org/officeDocument/2006/relationships/slide" Target="/ppt/slides/slide43.xml" Id="R78f3b55182154beb" /><Relationship Type="http://schemas.openxmlformats.org/officeDocument/2006/relationships/slide" Target="/ppt/slides/slide44.xml" Id="Rd6c0ca4260274d8a" /><Relationship Type="http://schemas.openxmlformats.org/officeDocument/2006/relationships/slide" Target="/ppt/slides/slide45.xml" Id="Rd174eec28c774214" /><Relationship Type="http://schemas.openxmlformats.org/officeDocument/2006/relationships/slide" Target="/ppt/slides/slide46.xml" Id="R274b6381472440ce" /><Relationship Type="http://schemas.openxmlformats.org/officeDocument/2006/relationships/slide" Target="/ppt/slides/slide47.xml" Id="Rfee26f98f97542b1" /><Relationship Type="http://schemas.openxmlformats.org/officeDocument/2006/relationships/slide" Target="/ppt/slides/slide48.xml" Id="Ra54602455d6c488a" /><Relationship Type="http://schemas.openxmlformats.org/officeDocument/2006/relationships/slide" Target="/ppt/slides/slide49.xml" Id="R46e7c6a0ddc04a73" /><Relationship Type="http://schemas.openxmlformats.org/officeDocument/2006/relationships/slide" Target="/ppt/slides/slide50.xml" Id="R7d1361b599394ede" /><Relationship Type="http://schemas.openxmlformats.org/officeDocument/2006/relationships/slide" Target="/ppt/slides/slide51.xml" Id="R4296dabed54a4121" /><Relationship Type="http://schemas.openxmlformats.org/officeDocument/2006/relationships/slide" Target="/ppt/slides/slide52.xml" Id="R4963296a99964770" /><Relationship Type="http://schemas.openxmlformats.org/officeDocument/2006/relationships/slide" Target="/ppt/slides/slide53.xml" Id="Refd2daca75cf4c51" /><Relationship Type="http://schemas.openxmlformats.org/officeDocument/2006/relationships/slide" Target="/ppt/slides/slide54.xml" Id="R941c5e4f2b4d4637" /><Relationship Type="http://schemas.openxmlformats.org/officeDocument/2006/relationships/slide" Target="/ppt/slides/slide55.xml" Id="R01588bc687be4e93" /><Relationship Type="http://schemas.openxmlformats.org/officeDocument/2006/relationships/slide" Target="/ppt/slides/slide56.xml" Id="Rdff505e6c70f4370" /><Relationship Type="http://schemas.openxmlformats.org/officeDocument/2006/relationships/slide" Target="/ppt/slides/slide57.xml" Id="Rbd349bcd6930412b" /><Relationship Type="http://schemas.openxmlformats.org/officeDocument/2006/relationships/slide" Target="/ppt/slides/slide58.xml" Id="Rc9ac1a7323f14748" /><Relationship Type="http://schemas.openxmlformats.org/officeDocument/2006/relationships/slide" Target="/ppt/slides/slide59.xml" Id="Ra886a542e9904af6" /><Relationship Type="http://schemas.openxmlformats.org/officeDocument/2006/relationships/slide" Target="/ppt/slides/slide60.xml" Id="R90e3fe0589994c19" /><Relationship Type="http://schemas.openxmlformats.org/officeDocument/2006/relationships/slide" Target="/ppt/slides/slide61.xml" Id="Rc04bc82f657d47b9" /><Relationship Type="http://schemas.openxmlformats.org/officeDocument/2006/relationships/slide" Target="/ppt/slides/slide62.xml" Id="R70d714275ca84aa7" /><Relationship Type="http://schemas.openxmlformats.org/officeDocument/2006/relationships/slide" Target="/ppt/slides/slide63.xml" Id="R4382896eb9914292" /><Relationship Type="http://schemas.openxmlformats.org/officeDocument/2006/relationships/slide" Target="/ppt/slides/slide64.xml" Id="Rb699d07ad7c54fd2" /><Relationship Type="http://schemas.openxmlformats.org/officeDocument/2006/relationships/slide" Target="/ppt/slides/slide65.xml" Id="R3453235f13c944d2" /><Relationship Type="http://schemas.openxmlformats.org/officeDocument/2006/relationships/slide" Target="/ppt/slides/slide66.xml" Id="R1ae4284c3c724044" /><Relationship Type="http://schemas.openxmlformats.org/officeDocument/2006/relationships/slide" Target="/ppt/slides/slide67.xml" Id="R4b1d2c05fca54469" /><Relationship Type="http://schemas.openxmlformats.org/officeDocument/2006/relationships/slide" Target="/ppt/slides/slide68.xml" Id="Rdb2ced8fcc194133" /><Relationship Type="http://schemas.openxmlformats.org/officeDocument/2006/relationships/slide" Target="/ppt/slides/slide69.xml" Id="R51903e99c729476e" /><Relationship Type="http://schemas.openxmlformats.org/officeDocument/2006/relationships/slide" Target="/ppt/slides/slide70.xml" Id="R4b698a06874d4745" /><Relationship Type="http://schemas.openxmlformats.org/officeDocument/2006/relationships/slide" Target="/ppt/slides/slide71.xml" Id="Rbf3d8401cfa14588" /><Relationship Type="http://schemas.openxmlformats.org/officeDocument/2006/relationships/slide" Target="/ppt/slides/slide72.xml" Id="R74730fa455234fc6" /><Relationship Type="http://schemas.openxmlformats.org/officeDocument/2006/relationships/slide" Target="/ppt/slides/slide73.xml" Id="R1bfe14cfa2d24655" /><Relationship Type="http://schemas.openxmlformats.org/officeDocument/2006/relationships/slide" Target="/ppt/slides/slide74.xml" Id="R14c0107d646849ef" /><Relationship Type="http://schemas.openxmlformats.org/officeDocument/2006/relationships/slide" Target="/ppt/slides/slide75.xml" Id="R84a0f059919b4e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cc7c93303974d3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5b615a2bef4b42" /><Relationship Type="http://schemas.openxmlformats.org/officeDocument/2006/relationships/notesMaster" Target="/ppt/notesMasters/notesMaster1.xml" Id="R3e791f819fff43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b581bc29bc74004" /><Relationship Type="http://schemas.openxmlformats.org/officeDocument/2006/relationships/notesMaster" Target="/ppt/notesMasters/notesMaster1.xml" Id="Rd1761a76e0664f1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3a8495689d4eb3" /><Relationship Type="http://schemas.openxmlformats.org/officeDocument/2006/relationships/notesMaster" Target="/ppt/notesMasters/notesMaster1.xml" Id="R72f6b93692524b57" /></Relationships>
</file>

<file path=ppt/notesSlides/_rels/notesSlide4.xml.rels>&#65279;<?xml version="1.0" encoding="utf-8"?><Relationships xmlns="http://schemas.openxmlformats.org/package/2006/relationships"><Relationship Type="http://schemas.openxmlformats.org/officeDocument/2006/relationships/slide" Target="/ppt/slides/slide4.xml" Id="R4d338339aab141e1" /><Relationship Type="http://schemas.openxmlformats.org/officeDocument/2006/relationships/notesMaster" Target="/ppt/notesMasters/notesMaster1.xml" Id="R77227b63cb714c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63af92d943404d3c" /><Relationship Type="http://schemas.openxmlformats.org/officeDocument/2006/relationships/notesMaster" Target="/ppt/notesMasters/notesMaster1.xml" Id="Rd18a4e8bdc6c4e65" /></Relationships>
</file>

<file path=ppt/notesSlides/_rels/notesSlide6.xml.rels>&#65279;<?xml version="1.0" encoding="utf-8"?><Relationships xmlns="http://schemas.openxmlformats.org/package/2006/relationships"><Relationship Type="http://schemas.openxmlformats.org/officeDocument/2006/relationships/slide" Target="/ppt/slides/slide6.xml" Id="R1257e9f56e184cb5" /><Relationship Type="http://schemas.openxmlformats.org/officeDocument/2006/relationships/notesMaster" Target="/ppt/notesMasters/notesMaster1.xml" Id="Ra2efb6430eba4cd8" /></Relationships>
</file>

<file path=ppt/notesSlides/_rels/notesSlide7.xml.rels>&#65279;<?xml version="1.0" encoding="utf-8"?><Relationships xmlns="http://schemas.openxmlformats.org/package/2006/relationships"><Relationship Type="http://schemas.openxmlformats.org/officeDocument/2006/relationships/slide" Target="/ppt/slides/slide7.xml" Id="Rd951c20824af453c" /><Relationship Type="http://schemas.openxmlformats.org/officeDocument/2006/relationships/notesMaster" Target="/ppt/notesMasters/notesMaster1.xml" Id="R28051c3edda440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e9065701cb4b50" /><Relationship Type="http://schemas.openxmlformats.org/officeDocument/2006/relationships/notesMaster" Target="/ppt/notesMasters/notesMaster1.xml" Id="Rbfe5abed7bc04a55" /></Relationships>
</file>

<file path=ppt/notesSlides/_rels/notesSlide9.xml.rels>&#65279;<?xml version="1.0" encoding="utf-8"?><Relationships xmlns="http://schemas.openxmlformats.org/package/2006/relationships"><Relationship Type="http://schemas.openxmlformats.org/officeDocument/2006/relationships/slide" Target="/ppt/slides/slide9.xml" Id="R81f75364b6d041e9" /><Relationship Type="http://schemas.openxmlformats.org/officeDocument/2006/relationships/notesMaster" Target="/ppt/notesMasters/notesMaster1.xml" Id="R91144bddf58b43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86f712ea672472d" /><Relationship Type="http://schemas.openxmlformats.org/officeDocument/2006/relationships/notesMaster" Target="/ppt/notesMasters/notesMaster1.xml" Id="Reb716c543fd04ac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5ce2424ce4a4815" /><Relationship Type="http://schemas.openxmlformats.org/officeDocument/2006/relationships/notesMaster" Target="/ppt/notesMasters/notesMaster1.xml" Id="Ra3da8a14ee0c41b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4a03e03162542db" /><Relationship Type="http://schemas.openxmlformats.org/officeDocument/2006/relationships/notesMaster" Target="/ppt/notesMasters/notesMaster1.xml" Id="R5aa024704703451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5e364f1df664485" /><Relationship Type="http://schemas.openxmlformats.org/officeDocument/2006/relationships/notesMaster" Target="/ppt/notesMasters/notesMaster1.xml" Id="R977a2ce6817547e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548957d0b4c4af3" /><Relationship Type="http://schemas.openxmlformats.org/officeDocument/2006/relationships/notesMaster" Target="/ppt/notesMasters/notesMaster1.xml" Id="R7a678c08d90b49e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f3b9502c4764496" /><Relationship Type="http://schemas.openxmlformats.org/officeDocument/2006/relationships/notesMaster" Target="/ppt/notesMasters/notesMaster1.xml" Id="Rae534a75c44e4f6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f55638e6d9a4b49" /><Relationship Type="http://schemas.openxmlformats.org/officeDocument/2006/relationships/notesMaster" Target="/ppt/notesMasters/notesMaster1.xml" Id="R6d477e390f7d4ac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19ef67fc5314792" /><Relationship Type="http://schemas.openxmlformats.org/officeDocument/2006/relationships/notesMaster" Target="/ppt/notesMasters/notesMaster1.xml" Id="R117964b139f2426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3c8e564a2b549fe" /><Relationship Type="http://schemas.openxmlformats.org/officeDocument/2006/relationships/notesMaster" Target="/ppt/notesMasters/notesMaster1.xml" Id="R2104769d8553455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56946ee38aa4923" /><Relationship Type="http://schemas.openxmlformats.org/officeDocument/2006/relationships/notesMaster" Target="/ppt/notesMasters/notesMaster1.xml" Id="Ra63fe636f9864f0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475e981047f4fe4" /><Relationship Type="http://schemas.openxmlformats.org/officeDocument/2006/relationships/notesMaster" Target="/ppt/notesMasters/notesMaster1.xml" Id="Rf4945609b215482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ad4cf167de44d1f" /><Relationship Type="http://schemas.openxmlformats.org/officeDocument/2006/relationships/notesMaster" Target="/ppt/notesMasters/notesMaster1.xml" Id="R4c8e727fac4a4a4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9dcd67343614b1f" /><Relationship Type="http://schemas.openxmlformats.org/officeDocument/2006/relationships/notesMaster" Target="/ppt/notesMasters/notesMaster1.xml" Id="Rd58b36a57d46418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baa2152f28745d0" /><Relationship Type="http://schemas.openxmlformats.org/officeDocument/2006/relationships/notesMaster" Target="/ppt/notesMasters/notesMaster1.xml" Id="R77ed4d897a2b4c9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5e0f41643384859" /><Relationship Type="http://schemas.openxmlformats.org/officeDocument/2006/relationships/notesMaster" Target="/ppt/notesMasters/notesMaster1.xml" Id="R09677fc2b912425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c9966e440be44de" /><Relationship Type="http://schemas.openxmlformats.org/officeDocument/2006/relationships/notesMaster" Target="/ppt/notesMasters/notesMaster1.xml" Id="Rfe3d15b910f34f0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16907897c9c4438" /><Relationship Type="http://schemas.openxmlformats.org/officeDocument/2006/relationships/notesMaster" Target="/ppt/notesMasters/notesMaster1.xml" Id="R6d3ce236680f425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69eeee25d8a403e" /><Relationship Type="http://schemas.openxmlformats.org/officeDocument/2006/relationships/notesMaster" Target="/ppt/notesMasters/notesMaster1.xml" Id="R86e66284a3e6483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1825bcf0aba4498" /><Relationship Type="http://schemas.openxmlformats.org/officeDocument/2006/relationships/notesMaster" Target="/ppt/notesMasters/notesMaster1.xml" Id="Rc8583a7330fa44f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6a6a8e84413472f" /><Relationship Type="http://schemas.openxmlformats.org/officeDocument/2006/relationships/notesMaster" Target="/ppt/notesMasters/notesMaster1.xml" Id="R5598bbe252e24f3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a7ef7c0e79a4b92" /><Relationship Type="http://schemas.openxmlformats.org/officeDocument/2006/relationships/notesMaster" Target="/ppt/notesMasters/notesMaster1.xml" Id="R0cdae06090294ff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d0b7082a2be4910" /><Relationship Type="http://schemas.openxmlformats.org/officeDocument/2006/relationships/notesMaster" Target="/ppt/notesMasters/notesMaster1.xml" Id="Rd1b29e5acb6e48c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0fb78fea0b74d33" /><Relationship Type="http://schemas.openxmlformats.org/officeDocument/2006/relationships/notesMaster" Target="/ppt/notesMasters/notesMaster1.xml" Id="R01222a3053a14ae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e96b71e9ca045c6" /><Relationship Type="http://schemas.openxmlformats.org/officeDocument/2006/relationships/notesMaster" Target="/ppt/notesMasters/notesMaster1.xml" Id="Rb43e905be114493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eb6652e1a684ff8" /><Relationship Type="http://schemas.openxmlformats.org/officeDocument/2006/relationships/notesMaster" Target="/ppt/notesMasters/notesMaster1.xml" Id="Rb27c6467786648b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6eaad7fb0ad4a8c" /><Relationship Type="http://schemas.openxmlformats.org/officeDocument/2006/relationships/notesMaster" Target="/ppt/notesMasters/notesMaster1.xml" Id="R63cf36d22e25410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4c71e0415b84f67" /><Relationship Type="http://schemas.openxmlformats.org/officeDocument/2006/relationships/notesMaster" Target="/ppt/notesMasters/notesMaster1.xml" Id="R7bc28faa0962449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0aa2446f7c0474e" /><Relationship Type="http://schemas.openxmlformats.org/officeDocument/2006/relationships/notesMaster" Target="/ppt/notesMasters/notesMaster1.xml" Id="R8c51a6596faa40e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56cb549e35e491b" /><Relationship Type="http://schemas.openxmlformats.org/officeDocument/2006/relationships/notesMaster" Target="/ppt/notesMasters/notesMaster1.xml" Id="Rb7cf1d4e8c33497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484248192c14077" /><Relationship Type="http://schemas.openxmlformats.org/officeDocument/2006/relationships/notesMaster" Target="/ppt/notesMasters/notesMaster1.xml" Id="R011821dbda024c35"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3529c33c426440a" /><Relationship Type="http://schemas.openxmlformats.org/officeDocument/2006/relationships/notesMaster" Target="/ppt/notesMasters/notesMaster1.xml" Id="R317927c790084b7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77a6c20c9324193" /><Relationship Type="http://schemas.openxmlformats.org/officeDocument/2006/relationships/notesMaster" Target="/ppt/notesMasters/notesMaster1.xml" Id="R054a3889e2e7474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5329740986348aa" /><Relationship Type="http://schemas.openxmlformats.org/officeDocument/2006/relationships/notesMaster" Target="/ppt/notesMasters/notesMaster1.xml" Id="R4a2ca0ecea314d4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60d038bde9443e5" /><Relationship Type="http://schemas.openxmlformats.org/officeDocument/2006/relationships/notesMaster" Target="/ppt/notesMasters/notesMaster1.xml" Id="Rd5238e775c8f444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4dc476f2857401d" /><Relationship Type="http://schemas.openxmlformats.org/officeDocument/2006/relationships/notesMaster" Target="/ppt/notesMasters/notesMaster1.xml" Id="R92e32a84d31e4da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944b3a9bf904ebd" /><Relationship Type="http://schemas.openxmlformats.org/officeDocument/2006/relationships/notesMaster" Target="/ppt/notesMasters/notesMaster1.xml" Id="R645c5f5d707a4f7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5f2e48fd85a4a4b" /><Relationship Type="http://schemas.openxmlformats.org/officeDocument/2006/relationships/notesMaster" Target="/ppt/notesMasters/notesMaster1.xml" Id="Rb6a8e25b01fa45e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515051ddcd14d4e" /><Relationship Type="http://schemas.openxmlformats.org/officeDocument/2006/relationships/notesMaster" Target="/ppt/notesMasters/notesMaster1.xml" Id="R3b6ec4492f16498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60ad6558e684ceb" /><Relationship Type="http://schemas.openxmlformats.org/officeDocument/2006/relationships/notesMaster" Target="/ppt/notesMasters/notesMaster1.xml" Id="R68119be2dd5a4b9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917ebca97e64b13" /><Relationship Type="http://schemas.openxmlformats.org/officeDocument/2006/relationships/notesMaster" Target="/ppt/notesMasters/notesMaster1.xml" Id="Reed20da615864ad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8c5a9b9645e4f0a" /><Relationship Type="http://schemas.openxmlformats.org/officeDocument/2006/relationships/notesMaster" Target="/ppt/notesMasters/notesMaster1.xml" Id="R88b6454c77614bf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f91266c76514919" /><Relationship Type="http://schemas.openxmlformats.org/officeDocument/2006/relationships/notesMaster" Target="/ppt/notesMasters/notesMaster1.xml" Id="Rca5c70b3ffe245d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c300cb6fbcb4d6f" /><Relationship Type="http://schemas.openxmlformats.org/officeDocument/2006/relationships/notesMaster" Target="/ppt/notesMasters/notesMaster1.xml" Id="R2668dd71fa9a482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866a875f57a4155" /><Relationship Type="http://schemas.openxmlformats.org/officeDocument/2006/relationships/notesMaster" Target="/ppt/notesMasters/notesMaster1.xml" Id="Rfaf1fc56cb6a4fe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681b4685e614334" /><Relationship Type="http://schemas.openxmlformats.org/officeDocument/2006/relationships/notesMaster" Target="/ppt/notesMasters/notesMaster1.xml" Id="Re4092705d3cf4057"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bf00d78cb8244b2" /><Relationship Type="http://schemas.openxmlformats.org/officeDocument/2006/relationships/notesMaster" Target="/ppt/notesMasters/notesMaster1.xml" Id="R2a7885d292c6426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819e43948ce49b2" /><Relationship Type="http://schemas.openxmlformats.org/officeDocument/2006/relationships/notesMaster" Target="/ppt/notesMasters/notesMaster1.xml" Id="R84a4c1d1738e4bd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a2e1742e91eb4555" /><Relationship Type="http://schemas.openxmlformats.org/officeDocument/2006/relationships/notesMaster" Target="/ppt/notesMasters/notesMaster1.xml" Id="Reb648f081f794dd8"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f3813822c76a4126" /><Relationship Type="http://schemas.openxmlformats.org/officeDocument/2006/relationships/notesMaster" Target="/ppt/notesMasters/notesMaster1.xml" Id="Rccd411b9a4a5488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03f9c7bb3804167" /><Relationship Type="http://schemas.openxmlformats.org/officeDocument/2006/relationships/notesMaster" Target="/ppt/notesMasters/notesMaster1.xml" Id="R27d86d0639ef465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0c22076982c4bbe" /><Relationship Type="http://schemas.openxmlformats.org/officeDocument/2006/relationships/notesMaster" Target="/ppt/notesMasters/notesMaster1.xml" Id="R163191cf156d4166"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9e583f2e4824125" /><Relationship Type="http://schemas.openxmlformats.org/officeDocument/2006/relationships/notesMaster" Target="/ppt/notesMasters/notesMaster1.xml" Id="R6bca180467f348d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127fb5401e64f56" /><Relationship Type="http://schemas.openxmlformats.org/officeDocument/2006/relationships/notesMaster" Target="/ppt/notesMasters/notesMaster1.xml" Id="R095e7178a7dd43fb"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5e503a5a4fb4257" /><Relationship Type="http://schemas.openxmlformats.org/officeDocument/2006/relationships/notesMaster" Target="/ppt/notesMasters/notesMaster1.xml" Id="R1cc52fa4b6f64d5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89ee9f9f63574055" /><Relationship Type="http://schemas.openxmlformats.org/officeDocument/2006/relationships/notesMaster" Target="/ppt/notesMasters/notesMaster1.xml" Id="R1aa6194f2a7b4e2c"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9037d6e9e56474d" /><Relationship Type="http://schemas.openxmlformats.org/officeDocument/2006/relationships/notesMaster" Target="/ppt/notesMasters/notesMaster1.xml" Id="R9941c4c96fbc4a10"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27ea1f72a0a4eac" /><Relationship Type="http://schemas.openxmlformats.org/officeDocument/2006/relationships/notesMaster" Target="/ppt/notesMasters/notesMaster1.xml" Id="R0dbda8e8ca7b44d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9ff8ebe65d14ab1" /><Relationship Type="http://schemas.openxmlformats.org/officeDocument/2006/relationships/notesMaster" Target="/ppt/notesMasters/notesMaster1.xml" Id="Rc1c4f17edc3642a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0ce6d004bd7431a" /><Relationship Type="http://schemas.openxmlformats.org/officeDocument/2006/relationships/notesMaster" Target="/ppt/notesMasters/notesMaster1.xml" Id="R513a0a0a8d154b2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76e628e32d042b1" /><Relationship Type="http://schemas.openxmlformats.org/officeDocument/2006/relationships/notesMaster" Target="/ppt/notesMasters/notesMaster1.xml" Id="Rab02cb2f35f548ee"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c4fb256297024efb" /><Relationship Type="http://schemas.openxmlformats.org/officeDocument/2006/relationships/notesMaster" Target="/ppt/notesMasters/notesMaster1.xml" Id="Ra370081210964f57"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cc0304c38bf642d0" /><Relationship Type="http://schemas.openxmlformats.org/officeDocument/2006/relationships/notesMaster" Target="/ppt/notesMasters/notesMaster1.xml" Id="Rf8e69c96d9804cb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c1b37dcbfd254f46" /><Relationship Type="http://schemas.openxmlformats.org/officeDocument/2006/relationships/notesMaster" Target="/ppt/notesMasters/notesMaster1.xml" Id="R3b0bb4af9c644ba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a8a9a206703e4791" /><Relationship Type="http://schemas.openxmlformats.org/officeDocument/2006/relationships/notesMaster" Target="/ppt/notesMasters/notesMaster1.xml" Id="R112b4e58cd124d61"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d404b7ab28645f8" /><Relationship Type="http://schemas.openxmlformats.org/officeDocument/2006/relationships/notesMaster" Target="/ppt/notesMasters/notesMaster1.xml" Id="R7ac11e22cfb94e6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452f3e00b25414f" /><Relationship Type="http://schemas.openxmlformats.org/officeDocument/2006/relationships/notesMaster" Target="/ppt/notesMasters/notesMaster1.xml" Id="Rc8db5a7c869a4b4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0667bdb69cf48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212286e8b3d468c" /><Relationship Type="http://schemas.openxmlformats.org/officeDocument/2006/relationships/slideLayout" Target="/ppt/slideLayouts/slideLayout1.xml" Id="Rc8232573b3d9413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8232573b3d9413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681fac982df4b2d" /><Relationship Type="http://schemas.openxmlformats.org/officeDocument/2006/relationships/notesSlide" Target="/ppt/notesSlides/notesSlide1.xml" Id="R1c02a2a987944c3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1cf8c01ed5640d4" /><Relationship Type="http://schemas.openxmlformats.org/officeDocument/2006/relationships/notesSlide" Target="/ppt/notesSlides/notesSlide2.xml" Id="Rdcd27d66ba7944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4d941a895074fe7" /><Relationship Type="http://schemas.openxmlformats.org/officeDocument/2006/relationships/notesSlide" Target="/ppt/notesSlides/notesSlide3.xml" Id="R81559ef283c2482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9272feb5f5e4097" /><Relationship Type="http://schemas.openxmlformats.org/officeDocument/2006/relationships/image" Target="/ppt/media/image.png" Id="R886686a7e3aa42b2" /><Relationship Type="http://schemas.openxmlformats.org/officeDocument/2006/relationships/notesSlide" Target="/ppt/notesSlides/notesSlide4.xml" Id="R82f6afae6eb9432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1cc333492a04763" /><Relationship Type="http://schemas.openxmlformats.org/officeDocument/2006/relationships/image" Target="/ppt/media/image2.png" Id="Rd4e32e710b7741f1" /><Relationship Type="http://schemas.openxmlformats.org/officeDocument/2006/relationships/notesSlide" Target="/ppt/notesSlides/notesSlide5.xml" Id="R862831958833487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96d788ff6924c62" /><Relationship Type="http://schemas.openxmlformats.org/officeDocument/2006/relationships/image" Target="/ppt/media/image3.png" Id="R82ffa5cdc8624026" /><Relationship Type="http://schemas.openxmlformats.org/officeDocument/2006/relationships/image" Target="/ppt/media/image4.png" Id="R7d5a5cc682e64411" /><Relationship Type="http://schemas.openxmlformats.org/officeDocument/2006/relationships/notesSlide" Target="/ppt/notesSlides/notesSlide6.xml" Id="R7fa2bced35004bd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6e70ccd3f254d84" /><Relationship Type="http://schemas.openxmlformats.org/officeDocument/2006/relationships/image" Target="/ppt/media/image5.png" Id="Rd742b822dd3a435e" /><Relationship Type="http://schemas.openxmlformats.org/officeDocument/2006/relationships/notesSlide" Target="/ppt/notesSlides/notesSlide7.xml" Id="R551f5d15e21a49f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96faaffaaef4967" /><Relationship Type="http://schemas.openxmlformats.org/officeDocument/2006/relationships/image" Target="/ppt/media/image6.png" Id="R773a5b1fa28d4cc1" /><Relationship Type="http://schemas.openxmlformats.org/officeDocument/2006/relationships/notesSlide" Target="/ppt/notesSlides/notesSlide8.xml" Id="Rb892a7377ef746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38427429ab24f06" /><Relationship Type="http://schemas.openxmlformats.org/officeDocument/2006/relationships/image" Target="/ppt/media/image7.png" Id="R45ba7c473e704b81" /><Relationship Type="http://schemas.openxmlformats.org/officeDocument/2006/relationships/notesSlide" Target="/ppt/notesSlides/notesSlide9.xml" Id="Rde49dbf7be0d44c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4b147aa18f84d0a" /><Relationship Type="http://schemas.openxmlformats.org/officeDocument/2006/relationships/notesSlide" Target="/ppt/notesSlides/notesSlide10.xml" Id="R51306c83b4d540f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9846ede4ff64412" /><Relationship Type="http://schemas.openxmlformats.org/officeDocument/2006/relationships/notesSlide" Target="/ppt/notesSlides/notesSlide11.xml" Id="R1300c35ef5684f3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b808577de5c4762" /><Relationship Type="http://schemas.openxmlformats.org/officeDocument/2006/relationships/notesSlide" Target="/ppt/notesSlides/notesSlide12.xml" Id="R3bb0478136c74b1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21994132c6a4fb9" /><Relationship Type="http://schemas.openxmlformats.org/officeDocument/2006/relationships/image" Target="/ppt/media/image8.png" Id="Rf0f0274587ac47d0" /><Relationship Type="http://schemas.openxmlformats.org/officeDocument/2006/relationships/notesSlide" Target="/ppt/notesSlides/notesSlide13.xml" Id="R369542585d724b8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eb8677808b44797" /><Relationship Type="http://schemas.openxmlformats.org/officeDocument/2006/relationships/image" Target="/ppt/media/image9.png" Id="R050220c4b4324f3b" /><Relationship Type="http://schemas.openxmlformats.org/officeDocument/2006/relationships/notesSlide" Target="/ppt/notesSlides/notesSlide14.xml" Id="R524df568cc8f44b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193e05786d84088" /><Relationship Type="http://schemas.openxmlformats.org/officeDocument/2006/relationships/image" Target="/ppt/media/image10.png" Id="R960f8f4cab534491" /><Relationship Type="http://schemas.openxmlformats.org/officeDocument/2006/relationships/image" Target="/ppt/media/image11.png" Id="Ra8f32a154a7d4ac2" /><Relationship Type="http://schemas.openxmlformats.org/officeDocument/2006/relationships/notesSlide" Target="/ppt/notesSlides/notesSlide15.xml" Id="Rba18fc57948d4d1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2ebc8efb82e4098" /><Relationship Type="http://schemas.openxmlformats.org/officeDocument/2006/relationships/image" Target="/ppt/media/image12.png" Id="R6c18c5e8799b460b" /><Relationship Type="http://schemas.openxmlformats.org/officeDocument/2006/relationships/notesSlide" Target="/ppt/notesSlides/notesSlide16.xml" Id="R6224d385ad134fc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307c1bb32914dac" /><Relationship Type="http://schemas.openxmlformats.org/officeDocument/2006/relationships/notesSlide" Target="/ppt/notesSlides/notesSlide17.xml" Id="Ra3eb3e43f8b24dc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afcbe0570d14ef2" /><Relationship Type="http://schemas.openxmlformats.org/officeDocument/2006/relationships/notesSlide" Target="/ppt/notesSlides/notesSlide18.xml" Id="R63d283246b69426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46c53ce9ff544f5" /><Relationship Type="http://schemas.openxmlformats.org/officeDocument/2006/relationships/notesSlide" Target="/ppt/notesSlides/notesSlide19.xml" Id="R76a5a45f3d51412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0a7b1d905434240" /><Relationship Type="http://schemas.openxmlformats.org/officeDocument/2006/relationships/image" Target="/ppt/media/image13.png" Id="R8a4c07049ee742b1" /><Relationship Type="http://schemas.openxmlformats.org/officeDocument/2006/relationships/notesSlide" Target="/ppt/notesSlides/notesSlide20.xml" Id="R85b989bc67b04ad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d43ad7e4caf4eb2" /><Relationship Type="http://schemas.openxmlformats.org/officeDocument/2006/relationships/image" Target="/ppt/media/image14.png" Id="R7eb6c4abf02a4a93" /><Relationship Type="http://schemas.openxmlformats.org/officeDocument/2006/relationships/image" Target="/ppt/media/image15.png" Id="Re584dad0f8604216" /><Relationship Type="http://schemas.openxmlformats.org/officeDocument/2006/relationships/notesSlide" Target="/ppt/notesSlides/notesSlide21.xml" Id="R336bb85c8f2b470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82f46a22b8d401a" /><Relationship Type="http://schemas.openxmlformats.org/officeDocument/2006/relationships/image" Target="/ppt/media/image16.png" Id="Rbecff51991a94785" /><Relationship Type="http://schemas.openxmlformats.org/officeDocument/2006/relationships/notesSlide" Target="/ppt/notesSlides/notesSlide22.xml" Id="Rd86b887c299e40b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2ff4a5b669b415d" /><Relationship Type="http://schemas.openxmlformats.org/officeDocument/2006/relationships/notesSlide" Target="/ppt/notesSlides/notesSlide23.xml" Id="Rbf863ac8e336409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cb54935e37145ac" /><Relationship Type="http://schemas.openxmlformats.org/officeDocument/2006/relationships/notesSlide" Target="/ppt/notesSlides/notesSlide24.xml" Id="R056730b992724e7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3e2588c397a4aec" /><Relationship Type="http://schemas.openxmlformats.org/officeDocument/2006/relationships/notesSlide" Target="/ppt/notesSlides/notesSlide25.xml" Id="Rb9bc94eecf804e7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d1fd9480c41449a" /><Relationship Type="http://schemas.openxmlformats.org/officeDocument/2006/relationships/image" Target="/ppt/media/image17.png" Id="Rc614cda179af4d96" /><Relationship Type="http://schemas.openxmlformats.org/officeDocument/2006/relationships/notesSlide" Target="/ppt/notesSlides/notesSlide26.xml" Id="R00c2c691608c446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b5006c586ace4273" /><Relationship Type="http://schemas.openxmlformats.org/officeDocument/2006/relationships/image" Target="/ppt/media/image18.png" Id="Rf118b4bc23164241" /><Relationship Type="http://schemas.openxmlformats.org/officeDocument/2006/relationships/notesSlide" Target="/ppt/notesSlides/notesSlide27.xml" Id="R1f3b81dba60c4ec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5f07cb0d5f24d2c" /><Relationship Type="http://schemas.openxmlformats.org/officeDocument/2006/relationships/notesSlide" Target="/ppt/notesSlides/notesSlide28.xml" Id="R0e30d052711f417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bd6680273c44214" /><Relationship Type="http://schemas.openxmlformats.org/officeDocument/2006/relationships/notesSlide" Target="/ppt/notesSlides/notesSlide29.xml" Id="R051ae5c610aa4c4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23463d6ed7d498b" /><Relationship Type="http://schemas.openxmlformats.org/officeDocument/2006/relationships/notesSlide" Target="/ppt/notesSlides/notesSlide30.xml" Id="R7507cd58a09e406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89ac83aded94b10" /><Relationship Type="http://schemas.openxmlformats.org/officeDocument/2006/relationships/notesSlide" Target="/ppt/notesSlides/notesSlide31.xml" Id="Rb61d6535f2c84d7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28e0e894291143d1" /><Relationship Type="http://schemas.openxmlformats.org/officeDocument/2006/relationships/image" Target="/ppt/media/image19.png" Id="R3a6f3019cf1c48b6" /><Relationship Type="http://schemas.openxmlformats.org/officeDocument/2006/relationships/notesSlide" Target="/ppt/notesSlides/notesSlide32.xml" Id="Rae4b8c562dab4f0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676d7ca492e43c3" /><Relationship Type="http://schemas.openxmlformats.org/officeDocument/2006/relationships/image" Target="/ppt/media/image20.png" Id="Rf24081e3b25b4f2c" /><Relationship Type="http://schemas.openxmlformats.org/officeDocument/2006/relationships/notesSlide" Target="/ppt/notesSlides/notesSlide33.xml" Id="R84a75f8e264d444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9011c564c1142b3" /><Relationship Type="http://schemas.openxmlformats.org/officeDocument/2006/relationships/image" Target="/ppt/media/image21.png" Id="R6a74128da29b4581" /><Relationship Type="http://schemas.openxmlformats.org/officeDocument/2006/relationships/notesSlide" Target="/ppt/notesSlides/notesSlide34.xml" Id="R5e675c96a5294bc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22e56d463ede4535" /><Relationship Type="http://schemas.openxmlformats.org/officeDocument/2006/relationships/image" Target="/ppt/media/image22.png" Id="Rfce06dd73ea24a84" /><Relationship Type="http://schemas.openxmlformats.org/officeDocument/2006/relationships/notesSlide" Target="/ppt/notesSlides/notesSlide35.xml" Id="Rfe32d9a812c2470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006a91bbc8a94dec" /><Relationship Type="http://schemas.openxmlformats.org/officeDocument/2006/relationships/notesSlide" Target="/ppt/notesSlides/notesSlide36.xml" Id="R64f3e52d26124a0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923f772da06b42b0" /><Relationship Type="http://schemas.openxmlformats.org/officeDocument/2006/relationships/notesSlide" Target="/ppt/notesSlides/notesSlide37.xml" Id="Rf122edd205b84a3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fec3758306f34b75" /><Relationship Type="http://schemas.openxmlformats.org/officeDocument/2006/relationships/notesSlide" Target="/ppt/notesSlides/notesSlide38.xml" Id="R64d1458f7221498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56263d8f3d00433c" /><Relationship Type="http://schemas.openxmlformats.org/officeDocument/2006/relationships/notesSlide" Target="/ppt/notesSlides/notesSlide39.xml" Id="R529bcbfb389c4b4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835da3a9f65a447b" /><Relationship Type="http://schemas.openxmlformats.org/officeDocument/2006/relationships/image" Target="/ppt/media/image23.png" Id="Rde7d1ca5d5eb4eff" /><Relationship Type="http://schemas.openxmlformats.org/officeDocument/2006/relationships/notesSlide" Target="/ppt/notesSlides/notesSlide40.xml" Id="R6fc825b5658e499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626d9cfd4fe64650" /><Relationship Type="http://schemas.openxmlformats.org/officeDocument/2006/relationships/image" Target="/ppt/media/image24.png" Id="R3c29136726474eb8" /><Relationship Type="http://schemas.openxmlformats.org/officeDocument/2006/relationships/notesSlide" Target="/ppt/notesSlides/notesSlide41.xml" Id="R9cb52e6fa58e4d8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c469f99f89e4ad0" /><Relationship Type="http://schemas.openxmlformats.org/officeDocument/2006/relationships/image" Target="/ppt/media/image25.png" Id="R86fc6375f7ca4585" /><Relationship Type="http://schemas.openxmlformats.org/officeDocument/2006/relationships/notesSlide" Target="/ppt/notesSlides/notesSlide42.xml" Id="R391ea660a76a436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b793d16dacd4228" /><Relationship Type="http://schemas.openxmlformats.org/officeDocument/2006/relationships/image" Target="/ppt/media/image26.png" Id="R917a83e915b94744" /><Relationship Type="http://schemas.openxmlformats.org/officeDocument/2006/relationships/notesSlide" Target="/ppt/notesSlides/notesSlide43.xml" Id="R3c3e94be043c4a5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01a5961919fd4bf6" /><Relationship Type="http://schemas.openxmlformats.org/officeDocument/2006/relationships/notesSlide" Target="/ppt/notesSlides/notesSlide44.xml" Id="R4bf60921186141e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78cceb62731245f7" /><Relationship Type="http://schemas.openxmlformats.org/officeDocument/2006/relationships/notesSlide" Target="/ppt/notesSlides/notesSlide45.xml" Id="Rda620243ac3a4d7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8695e89a5a8b488e" /><Relationship Type="http://schemas.openxmlformats.org/officeDocument/2006/relationships/notesSlide" Target="/ppt/notesSlides/notesSlide46.xml" Id="R25a403430580474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e5d4e012fcbb49f4" /><Relationship Type="http://schemas.openxmlformats.org/officeDocument/2006/relationships/notesSlide" Target="/ppt/notesSlides/notesSlide47.xml" Id="R78bdbf0e2fc447a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8980680831ab49c4" /><Relationship Type="http://schemas.openxmlformats.org/officeDocument/2006/relationships/image" Target="/ppt/media/image27.png" Id="Rd197849be3bc491d" /><Relationship Type="http://schemas.openxmlformats.org/officeDocument/2006/relationships/notesSlide" Target="/ppt/notesSlides/notesSlide48.xml" Id="Rc4f9de578cea4e8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536cf8e52b24122" /><Relationship Type="http://schemas.openxmlformats.org/officeDocument/2006/relationships/image" Target="/ppt/media/image28.png" Id="R153625261eb84a3c" /><Relationship Type="http://schemas.openxmlformats.org/officeDocument/2006/relationships/notesSlide" Target="/ppt/notesSlides/notesSlide49.xml" Id="Rc0b34414ba4444a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46c341f369de42df" /><Relationship Type="http://schemas.openxmlformats.org/officeDocument/2006/relationships/image" Target="/ppt/media/image29.png" Id="R233d60e337a54668" /><Relationship Type="http://schemas.openxmlformats.org/officeDocument/2006/relationships/notesSlide" Target="/ppt/notesSlides/notesSlide50.xml" Id="R89967ff25960499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23e6dd4e8d854327" /><Relationship Type="http://schemas.openxmlformats.org/officeDocument/2006/relationships/notesSlide" Target="/ppt/notesSlides/notesSlide51.xml" Id="Re1d8921a4fc342a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1e7016f9e9724679" /><Relationship Type="http://schemas.openxmlformats.org/officeDocument/2006/relationships/notesSlide" Target="/ppt/notesSlides/notesSlide52.xml" Id="Rc79e3f80269946e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5716d7f93d084736" /><Relationship Type="http://schemas.openxmlformats.org/officeDocument/2006/relationships/notesSlide" Target="/ppt/notesSlides/notesSlide53.xml" Id="R59e7ab3b1e944a2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143586d4652467d" /><Relationship Type="http://schemas.openxmlformats.org/officeDocument/2006/relationships/notesSlide" Target="/ppt/notesSlides/notesSlide54.xml" Id="Rbda0e1763dc3421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72de2da53b7e48d2" /><Relationship Type="http://schemas.openxmlformats.org/officeDocument/2006/relationships/image" Target="/ppt/media/image30.png" Id="R26a945937ef74e2e" /><Relationship Type="http://schemas.openxmlformats.org/officeDocument/2006/relationships/notesSlide" Target="/ppt/notesSlides/notesSlide55.xml" Id="R360a9004930846fb"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45248f85f0934b78" /><Relationship Type="http://schemas.openxmlformats.org/officeDocument/2006/relationships/image" Target="/ppt/media/image31.png" Id="R10a604d11dd0423d" /><Relationship Type="http://schemas.openxmlformats.org/officeDocument/2006/relationships/notesSlide" Target="/ppt/notesSlides/notesSlide56.xml" Id="Raa8c936f0d004fe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3b802a3131d2499f" /><Relationship Type="http://schemas.openxmlformats.org/officeDocument/2006/relationships/image" Target="/ppt/media/image32.png" Id="R49726ee77bfc46d9" /><Relationship Type="http://schemas.openxmlformats.org/officeDocument/2006/relationships/notesSlide" Target="/ppt/notesSlides/notesSlide57.xml" Id="R96f45b0bb1b448a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a378e3dc86dc412b" /><Relationship Type="http://schemas.openxmlformats.org/officeDocument/2006/relationships/notesSlide" Target="/ppt/notesSlides/notesSlide58.xml" Id="R236b6333e6f3453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b20a5548df484787" /><Relationship Type="http://schemas.openxmlformats.org/officeDocument/2006/relationships/notesSlide" Target="/ppt/notesSlides/notesSlide59.xml" Id="Ra0f4eef5d767450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31c8313f62db4fcc" /><Relationship Type="http://schemas.openxmlformats.org/officeDocument/2006/relationships/notesSlide" Target="/ppt/notesSlides/notesSlide60.xml" Id="Rec1222bbb939476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6af898da63c84204" /><Relationship Type="http://schemas.openxmlformats.org/officeDocument/2006/relationships/notesSlide" Target="/ppt/notesSlides/notesSlide61.xml" Id="Rd169d853ddbc406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14e24bdee78d4f05" /><Relationship Type="http://schemas.openxmlformats.org/officeDocument/2006/relationships/image" Target="/ppt/media/image33.png" Id="R6c23158a9da342de" /><Relationship Type="http://schemas.openxmlformats.org/officeDocument/2006/relationships/notesSlide" Target="/ppt/notesSlides/notesSlide62.xml" Id="R4e1b0f0cc4cb410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ea95942adfb7481e" /><Relationship Type="http://schemas.openxmlformats.org/officeDocument/2006/relationships/notesSlide" Target="/ppt/notesSlides/notesSlide63.xml" Id="R21457c6bba8f4163"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b967a90cdec042f6" /><Relationship Type="http://schemas.openxmlformats.org/officeDocument/2006/relationships/image" Target="/ppt/media/image34.png" Id="R387a9af46c9344ba" /><Relationship Type="http://schemas.openxmlformats.org/officeDocument/2006/relationships/notesSlide" Target="/ppt/notesSlides/notesSlide64.xml" Id="Rf28090bec67f4fe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76d31dde83d4f1d" /><Relationship Type="http://schemas.openxmlformats.org/officeDocument/2006/relationships/image" Target="/ppt/media/image35.png" Id="Rb69d29ea6b334471" /><Relationship Type="http://schemas.openxmlformats.org/officeDocument/2006/relationships/notesSlide" Target="/ppt/notesSlides/notesSlide65.xml" Id="Rf848e8a16a514bb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332c0fc5973a4fa3" /><Relationship Type="http://schemas.openxmlformats.org/officeDocument/2006/relationships/image" Target="/ppt/media/image36.png" Id="R8b47daa2e9a94018" /><Relationship Type="http://schemas.openxmlformats.org/officeDocument/2006/relationships/notesSlide" Target="/ppt/notesSlides/notesSlide66.xml" Id="Ra8b05d96b1b742d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268361a1733b4206" /><Relationship Type="http://schemas.openxmlformats.org/officeDocument/2006/relationships/notesSlide" Target="/ppt/notesSlides/notesSlide67.xml" Id="Rcb156162589c4ba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962d3c55f3924d5d" /><Relationship Type="http://schemas.openxmlformats.org/officeDocument/2006/relationships/notesSlide" Target="/ppt/notesSlides/notesSlide68.xml" Id="R3c08ef54468e4bc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bcaa992e32394f1a" /><Relationship Type="http://schemas.openxmlformats.org/officeDocument/2006/relationships/notesSlide" Target="/ppt/notesSlides/notesSlide69.xml" Id="Rc989972b7d644b8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492471c1aaee4162" /><Relationship Type="http://schemas.openxmlformats.org/officeDocument/2006/relationships/notesSlide" Target="/ppt/notesSlides/notesSlide70.xml" Id="R78db71fc64684eb6"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34211d3a839d4629" /><Relationship Type="http://schemas.openxmlformats.org/officeDocument/2006/relationships/notesSlide" Target="/ppt/notesSlides/notesSlide71.xml" Id="R41196f0c79e54c3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0c546190bbb449af" /><Relationship Type="http://schemas.openxmlformats.org/officeDocument/2006/relationships/image" Target="/ppt/media/image37.png" Id="R2a9138ab592c4597" /><Relationship Type="http://schemas.openxmlformats.org/officeDocument/2006/relationships/notesSlide" Target="/ppt/notesSlides/notesSlide72.xml" Id="R65863d5d54994322"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07ba7c966e614e2b" /><Relationship Type="http://schemas.openxmlformats.org/officeDocument/2006/relationships/image" Target="/ppt/media/image38.png" Id="R588ee5c930274150" /><Relationship Type="http://schemas.openxmlformats.org/officeDocument/2006/relationships/notesSlide" Target="/ppt/notesSlides/notesSlide73.xml" Id="R19e45f294a9b4a39"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77b30b6504c84f50" /><Relationship Type="http://schemas.openxmlformats.org/officeDocument/2006/relationships/image" Target="/ppt/media/image39.png" Id="R7687ecf802234306" /><Relationship Type="http://schemas.openxmlformats.org/officeDocument/2006/relationships/notesSlide" Target="/ppt/notesSlides/notesSlide74.xml" Id="R377030a2cd514567"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1e34870c42f74a33" /><Relationship Type="http://schemas.openxmlformats.org/officeDocument/2006/relationships/notesSlide" Target="/ppt/notesSlides/notesSlide75.xml" Id="R9866d13c5c934b8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E960E44-0C1C-4FAC-8716-E59DA0DB2BB6}"/>
              </a:ext>
            </a:extLst>
          </p:cNvPr>
          <p:cNvSpPr>
            <a:spLocks xmlns:a="http://schemas.openxmlformats.org/drawingml/2006/main" noGrp="1"/>
          </p:cNvSpPr>
          <p:nvPr/>
        </p:nvSpPr>
        <p:spPr>
          <a:xfrm xmlns:a="http://schemas.openxmlformats.org/drawingml/2006/main">
            <a:off x="685800" y="4572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555555"/>
                </a:solidFill>
              </a:defRPr>
            </a:pPr>
            <a:r>
              <a:rPr sz="2250" b="1" i="0">
                <a:solidFill>
                  <a:srgbClr val="555555"/>
                </a:solidFill>
              </a:rPr>
              <a:t>Gen5.4</a:t>
            </a:r>
          </a:p>
        </p:txBody>
      </p:sp>
      <p:sp>
        <p:nvSpPr>
          <p:cNvPr id="2" name="">
            <a:extLst xmlns:a="http://schemas.openxmlformats.org/drawingml/2006/main">
              <a:ext uri="{FF2B5EF4-FFF2-40B4-BE49-F238E27FC236}">
                <a16:creationId xmlns:a16="http://schemas.microsoft.com/office/drawing/2014/main" id="{038B741B-3EC9-4678-A361-D9BBB55ACF54}"/>
              </a:ext>
            </a:extLst>
          </p:cNvPr>
          <p:cNvSpPr>
            <a:spLocks xmlns:a="http://schemas.openxmlformats.org/drawingml/2006/main" noGrp="1"/>
          </p:cNvSpPr>
          <p:nvPr/>
        </p:nvSpPr>
        <p:spPr>
          <a:xfrm xmlns:a="http://schemas.openxmlformats.org/drawingml/2006/main">
            <a:off x="685800" y="1543050"/>
            <a:ext cx="723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650" b="1" i="0">
                <a:solidFill>
                  <a:srgbClr val="000000"/>
                </a:solidFill>
              </a:defRPr>
            </a:pPr>
            <a:r>
              <a:rPr sz="4650" b="1" i="0">
                <a:solidFill>
                  <a:srgbClr val="000000"/>
                </a:solidFill>
              </a:rPr>
              <a:t>ML decision engine</a:t>
            </a:r>
          </a:p>
        </p:txBody>
      </p:sp>
      <p:sp>
        <p:nvSpPr>
          <p:cNvPr id="3" name="">
            <a:extLst xmlns:a="http://schemas.openxmlformats.org/drawingml/2006/main">
              <a:ext uri="{FF2B5EF4-FFF2-40B4-BE49-F238E27FC236}">
                <a16:creationId xmlns:a16="http://schemas.microsoft.com/office/drawing/2014/main" id="{5F0E88D4-E04A-4B63-AA98-10623AECBC69}"/>
              </a:ext>
            </a:extLst>
          </p:cNvPr>
          <p:cNvSpPr>
            <a:spLocks xmlns:a="http://schemas.openxmlformats.org/drawingml/2006/main" noGrp="1"/>
          </p:cNvSpPr>
          <p:nvPr/>
        </p:nvSpPr>
        <p:spPr>
          <a:xfrm xmlns:a="http://schemas.openxmlformats.org/drawingml/2006/main">
            <a:off x="723900" y="2724150"/>
            <a:ext cx="666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i="0">
                <a:solidFill>
                  <a:srgbClr val="222222"/>
                </a:solidFill>
              </a:defRPr>
            </a:pPr>
            <a:r>
              <a:rPr sz="1875" b="0" i="0">
                <a:solidFill>
                  <a:srgbClr val="222222"/>
                </a:solidFill>
              </a:rPr>
              <a:t>Incremental build log: supervised feature and label proof before model fitting.</a:t>
            </a:r>
          </a:p>
        </p:txBody>
      </p:sp>
      <p:sp>
        <p:nvSpPr>
          <p:cNvPr id="4" name="">
            <a:extLst xmlns:a="http://schemas.openxmlformats.org/drawingml/2006/main">
              <a:ext uri="{FF2B5EF4-FFF2-40B4-BE49-F238E27FC236}">
                <a16:creationId xmlns:a16="http://schemas.microsoft.com/office/drawing/2014/main" id="{64470B7D-F823-4589-BCD8-822139A80CAC}"/>
              </a:ext>
            </a:extLst>
          </p:cNvPr>
          <p:cNvSpPr>
            <a:spLocks xmlns:a="http://schemas.openxmlformats.org/drawingml/2006/main" noGrp="1"/>
          </p:cNvSpPr>
          <p:nvPr/>
        </p:nvSpPr>
        <p:spPr>
          <a:xfrm xmlns:a="http://schemas.openxmlformats.org/drawingml/2006/main">
            <a:off x="723900" y="4095750"/>
            <a:ext cx="4953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CDD09B8-3000-46C3-BE5B-C3325466EE75}"/>
              </a:ext>
            </a:extLst>
          </p:cNvPr>
          <p:cNvSpPr>
            <a:spLocks xmlns:a="http://schemas.openxmlformats.org/drawingml/2006/main" noGrp="1"/>
          </p:cNvSpPr>
          <p:nvPr/>
        </p:nvSpPr>
        <p:spPr>
          <a:xfrm xmlns:a="http://schemas.openxmlformats.org/drawingml/2006/main">
            <a:off x="723900" y="4400550"/>
            <a:ext cx="657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ML-P0 packet: adjusted daily OHLCV -&gt; features through close t -&gt; next-open h3 label.</a:t>
            </a:r>
          </a:p>
        </p:txBody>
      </p:sp>
      <p:sp>
        <p:nvSpPr>
          <p:cNvPr id="6" name="">
            <a:extLst xmlns:a="http://schemas.openxmlformats.org/drawingml/2006/main">
              <a:ext uri="{FF2B5EF4-FFF2-40B4-BE49-F238E27FC236}">
                <a16:creationId xmlns:a16="http://schemas.microsoft.com/office/drawing/2014/main" id="{616994AD-9E0C-4E0D-80EE-5C6F81F15098}"/>
              </a:ext>
            </a:extLst>
          </p:cNvPr>
          <p:cNvSpPr>
            <a:spLocks xmlns:a="http://schemas.openxmlformats.org/drawingml/2006/main" noGrp="1"/>
          </p:cNvSpPr>
          <p:nvPr/>
        </p:nvSpPr>
        <p:spPr>
          <a:xfrm xmlns:a="http://schemas.openxmlformats.org/drawingml/2006/main">
            <a:off x="8134350" y="0"/>
            <a:ext cx="405765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DB36923-43F5-4571-834F-D55CC8C66C1E}"/>
              </a:ext>
            </a:extLst>
          </p:cNvPr>
          <p:cNvSpPr>
            <a:spLocks xmlns:a="http://schemas.openxmlformats.org/drawingml/2006/main" noGrp="1"/>
          </p:cNvSpPr>
          <p:nvPr/>
        </p:nvSpPr>
        <p:spPr>
          <a:xfrm xmlns:a="http://schemas.openxmlformats.org/drawingml/2006/main">
            <a:off x="8572500" y="2362200"/>
            <a:ext cx="247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Research only</a:t>
            </a:r>
          </a:p>
        </p:txBody>
      </p:sp>
      <p:sp>
        <p:nvSpPr>
          <p:cNvPr id="8" name="">
            <a:extLst xmlns:a="http://schemas.openxmlformats.org/drawingml/2006/main">
              <a:ext uri="{FF2B5EF4-FFF2-40B4-BE49-F238E27FC236}">
                <a16:creationId xmlns:a16="http://schemas.microsoft.com/office/drawing/2014/main" id="{869708DB-D883-44A3-904F-C9D9E02242ED}"/>
              </a:ext>
            </a:extLst>
          </p:cNvPr>
          <p:cNvSpPr>
            <a:spLocks xmlns:a="http://schemas.openxmlformats.org/drawingml/2006/main" noGrp="1"/>
          </p:cNvSpPr>
          <p:nvPr/>
        </p:nvSpPr>
        <p:spPr>
          <a:xfrm xmlns:a="http://schemas.openxmlformats.org/drawingml/2006/main">
            <a:off x="8572500" y="3009900"/>
            <a:ext cx="257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No model fit</a:t>
            </a:r>
          </a:p>
          <a:p xmlns:a="http://schemas.openxmlformats.org/drawingml/2006/main">
            <a:pPr algn="l">
              <a:defRPr sz="1800" b="0" i="0">
                <a:solidFill>
                  <a:srgbClr val="222222"/>
                </a:solidFill>
              </a:defRPr>
            </a:pPr>
            <a:r>
              <a:rPr sz="1800" b="0" i="0">
                <a:solidFill>
                  <a:srgbClr val="222222"/>
                </a:solidFill>
              </a:rPr>
              <a:t>No live bridge change</a:t>
            </a:r>
          </a:p>
          <a:p xmlns:a="http://schemas.openxmlformats.org/drawingml/2006/main">
            <a:pPr algn="l">
              <a:defRPr sz="1800" b="0" i="0">
                <a:solidFill>
                  <a:srgbClr val="222222"/>
                </a:solidFill>
              </a:defRPr>
            </a:pPr>
            <a:r>
              <a:rPr sz="1800" b="0" i="0">
                <a:solidFill>
                  <a:srgbClr val="222222"/>
                </a:solidFill>
              </a:rPr>
              <a:t>No allocation evidence</a:t>
            </a:r>
          </a:p>
        </p:txBody>
      </p:sp>
    </p:spTree>
    <p:extLst>
      <p:ext uri="{BB962C8B-B14F-4D97-AF65-F5344CB8AC3E}">
        <p14:creationId xmlns:p14="http://schemas.microsoft.com/office/powerpoint/2010/main" val="192768881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02011C7-32C7-4979-9889-5BF9D297D20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04AC96C-27D9-4641-B326-A013741EBD0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PCA work taught us where to aim the ML fork</a:t>
            </a:r>
          </a:p>
        </p:txBody>
      </p:sp>
      <p:sp>
        <p:nvSpPr>
          <p:cNvPr id="3" name="">
            <a:extLst xmlns:a="http://schemas.openxmlformats.org/drawingml/2006/main">
              <a:ext uri="{FF2B5EF4-FFF2-40B4-BE49-F238E27FC236}">
                <a16:creationId xmlns:a16="http://schemas.microsoft.com/office/drawing/2014/main" id="{00494F11-DBDC-401E-BBC5-6C97D6736F3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41619B-87BF-4F50-8A09-641779A29C9A}"/>
              </a:ext>
            </a:extLst>
          </p:cNvPr>
          <p:cNvSpPr>
            <a:spLocks xmlns:a="http://schemas.openxmlformats.org/drawingml/2006/main" noGrp="1"/>
          </p:cNvSpPr>
          <p:nvPr/>
        </p:nvSpPr>
        <p:spPr>
          <a:xfrm xmlns:a="http://schemas.openxmlformats.org/drawingml/2006/main">
            <a:off x="876300" y="2105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5" name="">
            <a:extLst xmlns:a="http://schemas.openxmlformats.org/drawingml/2006/main">
              <a:ext uri="{FF2B5EF4-FFF2-40B4-BE49-F238E27FC236}">
                <a16:creationId xmlns:a16="http://schemas.microsoft.com/office/drawing/2014/main" id="{9C2DA94C-3850-4FA3-B86F-93C499F57026}"/>
              </a:ext>
            </a:extLst>
          </p:cNvPr>
          <p:cNvSpPr>
            <a:spLocks xmlns:a="http://schemas.openxmlformats.org/drawingml/2006/main" noGrp="1"/>
          </p:cNvSpPr>
          <p:nvPr/>
        </p:nvSpPr>
        <p:spPr>
          <a:xfrm xmlns:a="http://schemas.openxmlformats.org/drawingml/2006/main">
            <a:off x="1143000" y="20955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PCA states contained useful exposure information, especially in state-only diagnostics.</a:t>
            </a:r>
          </a:p>
        </p:txBody>
      </p:sp>
      <p:sp>
        <p:nvSpPr>
          <p:cNvPr id="6" name="">
            <a:extLst xmlns:a="http://schemas.openxmlformats.org/drawingml/2006/main">
              <a:ext uri="{FF2B5EF4-FFF2-40B4-BE49-F238E27FC236}">
                <a16:creationId xmlns:a16="http://schemas.microsoft.com/office/drawing/2014/main" id="{60CB75B7-9A62-479E-9B88-D00FC1866CD9}"/>
              </a:ext>
            </a:extLst>
          </p:cNvPr>
          <p:cNvSpPr>
            <a:spLocks xmlns:a="http://schemas.openxmlformats.org/drawingml/2006/main" noGrp="1"/>
          </p:cNvSpPr>
          <p:nvPr/>
        </p:nvSpPr>
        <p:spPr>
          <a:xfrm xmlns:a="http://schemas.openxmlformats.org/drawingml/2006/main">
            <a:off x="876300" y="2962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7" name="">
            <a:extLst xmlns:a="http://schemas.openxmlformats.org/drawingml/2006/main">
              <a:ext uri="{FF2B5EF4-FFF2-40B4-BE49-F238E27FC236}">
                <a16:creationId xmlns:a16="http://schemas.microsoft.com/office/drawing/2014/main" id="{65792674-D00A-475E-8A00-6C7FE1F2DC69}"/>
              </a:ext>
            </a:extLst>
          </p:cNvPr>
          <p:cNvSpPr>
            <a:spLocks xmlns:a="http://schemas.openxmlformats.org/drawingml/2006/main" noGrp="1"/>
          </p:cNvSpPr>
          <p:nvPr/>
        </p:nvSpPr>
        <p:spPr>
          <a:xfrm xmlns:a="http://schemas.openxmlformats.org/drawingml/2006/main">
            <a:off x="1143000" y="2952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same states still overparticipated in 2022 and missed too much early upside in rebound windows.</a:t>
            </a:r>
          </a:p>
        </p:txBody>
      </p:sp>
      <p:sp>
        <p:nvSpPr>
          <p:cNvPr id="8" name="">
            <a:extLst xmlns:a="http://schemas.openxmlformats.org/drawingml/2006/main">
              <a:ext uri="{FF2B5EF4-FFF2-40B4-BE49-F238E27FC236}">
                <a16:creationId xmlns:a16="http://schemas.microsoft.com/office/drawing/2014/main" id="{EF154FB6-450E-4B4E-9FD6-7DEF7D08E79E}"/>
              </a:ext>
            </a:extLst>
          </p:cNvPr>
          <p:cNvSpPr>
            <a:spLocks xmlns:a="http://schemas.openxmlformats.org/drawingml/2006/main" noGrp="1"/>
          </p:cNvSpPr>
          <p:nvPr/>
        </p:nvSpPr>
        <p:spPr>
          <a:xfrm xmlns:a="http://schemas.openxmlformats.org/drawingml/2006/main">
            <a:off x="876300" y="3819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83099E1C-E9AB-4B0E-83C3-9DDF91A2D433}"/>
              </a:ext>
            </a:extLst>
          </p:cNvPr>
          <p:cNvSpPr>
            <a:spLocks xmlns:a="http://schemas.openxmlformats.org/drawingml/2006/main" noGrp="1"/>
          </p:cNvSpPr>
          <p:nvPr/>
        </p:nvSpPr>
        <p:spPr>
          <a:xfrm xmlns:a="http://schemas.openxmlformats.org/drawingml/2006/main">
            <a:off x="1143000" y="3810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Gen5.4 asks the daily exposure question directly instead of routing through a technical strategy first.</a:t>
            </a:r>
          </a:p>
        </p:txBody>
      </p:sp>
      <p:sp>
        <p:nvSpPr>
          <p:cNvPr id="10" name="">
            <a:extLst xmlns:a="http://schemas.openxmlformats.org/drawingml/2006/main">
              <a:ext uri="{FF2B5EF4-FFF2-40B4-BE49-F238E27FC236}">
                <a16:creationId xmlns:a16="http://schemas.microsoft.com/office/drawing/2014/main" id="{8A50A629-D017-4E2A-BDF1-9694E1E98EB1}"/>
              </a:ext>
            </a:extLst>
          </p:cNvPr>
          <p:cNvSpPr>
            <a:spLocks xmlns:a="http://schemas.openxmlformats.org/drawingml/2006/main" noGrp="1"/>
          </p:cNvSpPr>
          <p:nvPr/>
        </p:nvSpPr>
        <p:spPr>
          <a:xfrm xmlns:a="http://schemas.openxmlformats.org/drawingml/2006/main">
            <a:off x="6191250" y="20955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9113F32A-9FCF-48C9-91AB-018FA40BB8A5}"/>
              </a:ext>
            </a:extLst>
          </p:cNvPr>
          <p:cNvSpPr>
            <a:spLocks xmlns:a="http://schemas.openxmlformats.org/drawingml/2006/main" noGrp="1"/>
          </p:cNvSpPr>
          <p:nvPr/>
        </p:nvSpPr>
        <p:spPr>
          <a:xfrm xmlns:a="http://schemas.openxmlformats.org/drawingml/2006/main">
            <a:off x="6191250" y="31623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2" name="">
            <a:extLst xmlns:a="http://schemas.openxmlformats.org/drawingml/2006/main">
              <a:ext uri="{FF2B5EF4-FFF2-40B4-BE49-F238E27FC236}">
                <a16:creationId xmlns:a16="http://schemas.microsoft.com/office/drawing/2014/main" id="{37D17243-C935-47A8-A435-C54BB8A1FD1C}"/>
              </a:ext>
            </a:extLst>
          </p:cNvPr>
          <p:cNvSpPr>
            <a:spLocks xmlns:a="http://schemas.openxmlformats.org/drawingml/2006/main" noGrp="1"/>
          </p:cNvSpPr>
          <p:nvPr/>
        </p:nvSpPr>
        <p:spPr>
          <a:xfrm xmlns:a="http://schemas.openxmlformats.org/drawingml/2006/main">
            <a:off x="6191250" y="42291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985FBA3C-06D9-49A8-A452-4F627B60179A}"/>
              </a:ext>
            </a:extLst>
          </p:cNvPr>
          <p:cNvSpPr>
            <a:spLocks xmlns:a="http://schemas.openxmlformats.org/drawingml/2006/main" noGrp="1"/>
          </p:cNvSpPr>
          <p:nvPr/>
        </p:nvSpPr>
        <p:spPr>
          <a:xfrm xmlns:a="http://schemas.openxmlformats.org/drawingml/2006/main">
            <a:off x="6534150" y="22669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OHLCV feature table</a:t>
            </a:r>
          </a:p>
        </p:txBody>
      </p:sp>
      <p:sp>
        <p:nvSpPr>
          <p:cNvPr id="14" name="">
            <a:extLst xmlns:a="http://schemas.openxmlformats.org/drawingml/2006/main">
              <a:ext uri="{FF2B5EF4-FFF2-40B4-BE49-F238E27FC236}">
                <a16:creationId xmlns:a16="http://schemas.microsoft.com/office/drawing/2014/main" id="{F7BE96CE-D34C-431C-978A-5A32E1A5AE6E}"/>
              </a:ext>
            </a:extLst>
          </p:cNvPr>
          <p:cNvSpPr>
            <a:spLocks xmlns:a="http://schemas.openxmlformats.org/drawingml/2006/main" noGrp="1"/>
          </p:cNvSpPr>
          <p:nvPr/>
        </p:nvSpPr>
        <p:spPr>
          <a:xfrm xmlns:a="http://schemas.openxmlformats.org/drawingml/2006/main">
            <a:off x="6534150" y="33337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Supervised h3 label</a:t>
            </a:r>
          </a:p>
        </p:txBody>
      </p:sp>
      <p:sp>
        <p:nvSpPr>
          <p:cNvPr id="15" name="">
            <a:extLst xmlns:a="http://schemas.openxmlformats.org/drawingml/2006/main">
              <a:ext uri="{FF2B5EF4-FFF2-40B4-BE49-F238E27FC236}">
                <a16:creationId xmlns:a16="http://schemas.microsoft.com/office/drawing/2014/main" id="{FDA81050-9118-4FC4-A168-814AB6C4FA13}"/>
              </a:ext>
            </a:extLst>
          </p:cNvPr>
          <p:cNvSpPr>
            <a:spLocks xmlns:a="http://schemas.openxmlformats.org/drawingml/2006/main" noGrp="1"/>
          </p:cNvSpPr>
          <p:nvPr/>
        </p:nvSpPr>
        <p:spPr>
          <a:xfrm xmlns:a="http://schemas.openxmlformats.org/drawingml/2006/main">
            <a:off x="6534150" y="4400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Daily long/flat policy</a:t>
            </a:r>
          </a:p>
        </p:txBody>
      </p:sp>
      <p:sp>
        <p:nvSpPr>
          <p:cNvPr id="16" name="">
            <a:extLst xmlns:a="http://schemas.openxmlformats.org/drawingml/2006/main">
              <a:ext uri="{FF2B5EF4-FFF2-40B4-BE49-F238E27FC236}">
                <a16:creationId xmlns:a16="http://schemas.microsoft.com/office/drawing/2014/main" id="{9D40B77D-0B19-4AD7-9467-D2983C3E7DBD}"/>
              </a:ext>
            </a:extLst>
          </p:cNvPr>
          <p:cNvSpPr>
            <a:spLocks xmlns:a="http://schemas.openxmlformats.org/drawingml/2006/main" noGrp="1"/>
          </p:cNvSpPr>
          <p:nvPr/>
        </p:nvSpPr>
        <p:spPr>
          <a:xfrm xmlns:a="http://schemas.openxmlformats.org/drawingml/2006/main">
            <a:off x="6324600" y="5334000"/>
            <a:ext cx="433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The first build proves the first two boxes only.</a:t>
            </a:r>
          </a:p>
        </p:txBody>
      </p:sp>
    </p:spTree>
    <p:extLst>
      <p:ext uri="{BB962C8B-B14F-4D97-AF65-F5344CB8AC3E}">
        <p14:creationId xmlns:p14="http://schemas.microsoft.com/office/powerpoint/2010/main" val="12817218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856D9F6-28E2-4E8B-8B53-7B5E26F2928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C1788A4-5768-416E-AA92-51D917F1CA3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ML-P0 succeeds only if the table is boringly correct</a:t>
            </a:r>
          </a:p>
        </p:txBody>
      </p:sp>
      <p:sp>
        <p:nvSpPr>
          <p:cNvPr id="3" name="">
            <a:extLst xmlns:a="http://schemas.openxmlformats.org/drawingml/2006/main">
              <a:ext uri="{FF2B5EF4-FFF2-40B4-BE49-F238E27FC236}">
                <a16:creationId xmlns:a16="http://schemas.microsoft.com/office/drawing/2014/main" id="{F621704F-4FCF-405A-82BF-17CFDBAA2EA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DABA357-5EA1-4C0B-B661-E90229E79CE0}"/>
              </a:ext>
            </a:extLst>
          </p:cNvPr>
          <p:cNvSpPr>
            <a:spLocks xmlns:a="http://schemas.openxmlformats.org/drawingml/2006/main" noGrp="1"/>
          </p:cNvSpPr>
          <p:nvPr/>
        </p:nvSpPr>
        <p:spPr>
          <a:xfrm xmlns:a="http://schemas.openxmlformats.org/drawingml/2006/main">
            <a:off x="8763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42F6A5AD-CF96-4701-B5F2-4D0EF172C165}"/>
              </a:ext>
            </a:extLst>
          </p:cNvPr>
          <p:cNvSpPr>
            <a:spLocks xmlns:a="http://schemas.openxmlformats.org/drawingml/2006/main" noGrp="1"/>
          </p:cNvSpPr>
          <p:nvPr/>
        </p:nvSpPr>
        <p:spPr>
          <a:xfrm xmlns:a="http://schemas.openxmlformats.org/drawingml/2006/main">
            <a:off x="10477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USABLE LABELED ROWS</a:t>
            </a:r>
          </a:p>
        </p:txBody>
      </p:sp>
      <p:sp>
        <p:nvSpPr>
          <p:cNvPr id="6" name="">
            <a:extLst xmlns:a="http://schemas.openxmlformats.org/drawingml/2006/main">
              <a:ext uri="{FF2B5EF4-FFF2-40B4-BE49-F238E27FC236}">
                <a16:creationId xmlns:a16="http://schemas.microsoft.com/office/drawing/2014/main" id="{085D8D09-E9D2-4B8D-B2F9-D086F2A82FFA}"/>
              </a:ext>
            </a:extLst>
          </p:cNvPr>
          <p:cNvSpPr>
            <a:spLocks xmlns:a="http://schemas.openxmlformats.org/drawingml/2006/main" noGrp="1"/>
          </p:cNvSpPr>
          <p:nvPr/>
        </p:nvSpPr>
        <p:spPr>
          <a:xfrm xmlns:a="http://schemas.openxmlformats.org/drawingml/2006/main">
            <a:off x="10477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22,440</a:t>
            </a:r>
          </a:p>
        </p:txBody>
      </p:sp>
      <p:sp>
        <p:nvSpPr>
          <p:cNvPr id="7" name="">
            <a:extLst xmlns:a="http://schemas.openxmlformats.org/drawingml/2006/main">
              <a:ext uri="{FF2B5EF4-FFF2-40B4-BE49-F238E27FC236}">
                <a16:creationId xmlns:a16="http://schemas.microsoft.com/office/drawing/2014/main" id="{3BC8477B-EFAA-40BD-BECF-0C7EABC01175}"/>
              </a:ext>
            </a:extLst>
          </p:cNvPr>
          <p:cNvSpPr>
            <a:spLocks xmlns:a="http://schemas.openxmlformats.org/drawingml/2006/main" noGrp="1"/>
          </p:cNvSpPr>
          <p:nvPr/>
        </p:nvSpPr>
        <p:spPr>
          <a:xfrm xmlns:a="http://schemas.openxmlformats.org/drawingml/2006/main">
            <a:off x="10477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Rows eligible after fold and horizon filters.</a:t>
            </a:r>
          </a:p>
        </p:txBody>
      </p:sp>
      <p:sp>
        <p:nvSpPr>
          <p:cNvPr id="8" name="">
            <a:extLst xmlns:a="http://schemas.openxmlformats.org/drawingml/2006/main">
              <a:ext uri="{FF2B5EF4-FFF2-40B4-BE49-F238E27FC236}">
                <a16:creationId xmlns:a16="http://schemas.microsoft.com/office/drawing/2014/main" id="{9BD6EF6E-B0BF-456A-9053-9EEBD5FE9008}"/>
              </a:ext>
            </a:extLst>
          </p:cNvPr>
          <p:cNvSpPr>
            <a:spLocks xmlns:a="http://schemas.openxmlformats.org/drawingml/2006/main" noGrp="1"/>
          </p:cNvSpPr>
          <p:nvPr/>
        </p:nvSpPr>
        <p:spPr>
          <a:xfrm xmlns:a="http://schemas.openxmlformats.org/drawingml/2006/main">
            <a:off x="466725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DC7F805C-D870-4D4B-982E-73E8647E179B}"/>
              </a:ext>
            </a:extLst>
          </p:cNvPr>
          <p:cNvSpPr>
            <a:spLocks xmlns:a="http://schemas.openxmlformats.org/drawingml/2006/main" noGrp="1"/>
          </p:cNvSpPr>
          <p:nvPr/>
        </p:nvSpPr>
        <p:spPr>
          <a:xfrm xmlns:a="http://schemas.openxmlformats.org/drawingml/2006/main">
            <a:off x="483870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FEATURES</a:t>
            </a:r>
          </a:p>
        </p:txBody>
      </p:sp>
      <p:sp>
        <p:nvSpPr>
          <p:cNvPr id="10" name="">
            <a:extLst xmlns:a="http://schemas.openxmlformats.org/drawingml/2006/main">
              <a:ext uri="{FF2B5EF4-FFF2-40B4-BE49-F238E27FC236}">
                <a16:creationId xmlns:a16="http://schemas.microsoft.com/office/drawing/2014/main" id="{C1C3421E-A634-4146-A0C4-CB559FBC0FBB}"/>
              </a:ext>
            </a:extLst>
          </p:cNvPr>
          <p:cNvSpPr>
            <a:spLocks xmlns:a="http://schemas.openxmlformats.org/drawingml/2006/main" noGrp="1"/>
          </p:cNvSpPr>
          <p:nvPr/>
        </p:nvSpPr>
        <p:spPr>
          <a:xfrm xmlns:a="http://schemas.openxmlformats.org/drawingml/2006/main">
            <a:off x="483870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1" name="">
            <a:extLst xmlns:a="http://schemas.openxmlformats.org/drawingml/2006/main">
              <a:ext uri="{FF2B5EF4-FFF2-40B4-BE49-F238E27FC236}">
                <a16:creationId xmlns:a16="http://schemas.microsoft.com/office/drawing/2014/main" id="{E626F28A-E590-4ED9-94A6-B4073C38EF83}"/>
              </a:ext>
            </a:extLst>
          </p:cNvPr>
          <p:cNvSpPr>
            <a:spLocks xmlns:a="http://schemas.openxmlformats.org/drawingml/2006/main" noGrp="1"/>
          </p:cNvSpPr>
          <p:nvPr/>
        </p:nvSpPr>
        <p:spPr>
          <a:xfrm xmlns:a="http://schemas.openxmlformats.org/drawingml/2006/main">
            <a:off x="483870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PCA-inspired plus explicit OHLCV additions.</a:t>
            </a:r>
          </a:p>
        </p:txBody>
      </p:sp>
      <p:sp>
        <p:nvSpPr>
          <p:cNvPr id="12" name="">
            <a:extLst xmlns:a="http://schemas.openxmlformats.org/drawingml/2006/main">
              <a:ext uri="{FF2B5EF4-FFF2-40B4-BE49-F238E27FC236}">
                <a16:creationId xmlns:a16="http://schemas.microsoft.com/office/drawing/2014/main" id="{6FC49D29-8E49-46D8-9203-F16947B50559}"/>
              </a:ext>
            </a:extLst>
          </p:cNvPr>
          <p:cNvSpPr>
            <a:spLocks xmlns:a="http://schemas.openxmlformats.org/drawingml/2006/main" noGrp="1"/>
          </p:cNvSpPr>
          <p:nvPr/>
        </p:nvSpPr>
        <p:spPr>
          <a:xfrm xmlns:a="http://schemas.openxmlformats.org/drawingml/2006/main">
            <a:off x="84582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C94B670D-FF7A-4120-A104-746CE74761E9}"/>
              </a:ext>
            </a:extLst>
          </p:cNvPr>
          <p:cNvSpPr>
            <a:spLocks xmlns:a="http://schemas.openxmlformats.org/drawingml/2006/main" noGrp="1"/>
          </p:cNvSpPr>
          <p:nvPr/>
        </p:nvSpPr>
        <p:spPr>
          <a:xfrm xmlns:a="http://schemas.openxmlformats.org/drawingml/2006/main">
            <a:off x="86296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4" name="">
            <a:extLst xmlns:a="http://schemas.openxmlformats.org/drawingml/2006/main">
              <a:ext uri="{FF2B5EF4-FFF2-40B4-BE49-F238E27FC236}">
                <a16:creationId xmlns:a16="http://schemas.microsoft.com/office/drawing/2014/main" id="{E9435C9C-B252-4B92-8B48-6A1A067649C4}"/>
              </a:ext>
            </a:extLst>
          </p:cNvPr>
          <p:cNvSpPr>
            <a:spLocks xmlns:a="http://schemas.openxmlformats.org/drawingml/2006/main" noGrp="1"/>
          </p:cNvSpPr>
          <p:nvPr/>
        </p:nvSpPr>
        <p:spPr>
          <a:xfrm xmlns:a="http://schemas.openxmlformats.org/drawingml/2006/main">
            <a:off x="86296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5" name="">
            <a:extLst xmlns:a="http://schemas.openxmlformats.org/drawingml/2006/main">
              <a:ext uri="{FF2B5EF4-FFF2-40B4-BE49-F238E27FC236}">
                <a16:creationId xmlns:a16="http://schemas.microsoft.com/office/drawing/2014/main" id="{7B674E8F-2B5B-44CF-A94E-E1EA8DCA805B}"/>
              </a:ext>
            </a:extLst>
          </p:cNvPr>
          <p:cNvSpPr>
            <a:spLocks xmlns:a="http://schemas.openxmlformats.org/drawingml/2006/main" noGrp="1"/>
          </p:cNvSpPr>
          <p:nvPr/>
        </p:nvSpPr>
        <p:spPr>
          <a:xfrm xmlns:a="http://schemas.openxmlformats.org/drawingml/2006/main">
            <a:off x="86296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labels stay inside TRAIN; OOS labels stay inside OOS.</a:t>
            </a:r>
          </a:p>
        </p:txBody>
      </p:sp>
      <p:sp>
        <p:nvSpPr>
          <p:cNvPr id="16" name="">
            <a:extLst xmlns:a="http://schemas.openxmlformats.org/drawingml/2006/main">
              <a:ext uri="{FF2B5EF4-FFF2-40B4-BE49-F238E27FC236}">
                <a16:creationId xmlns:a16="http://schemas.microsoft.com/office/drawing/2014/main" id="{052ADF88-5C93-4411-8110-7794DBA17563}"/>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7" name="">
            <a:extLst xmlns:a="http://schemas.openxmlformats.org/drawingml/2006/main">
              <a:ext uri="{FF2B5EF4-FFF2-40B4-BE49-F238E27FC236}">
                <a16:creationId xmlns:a16="http://schemas.microsoft.com/office/drawing/2014/main" id="{EAA439ED-14B8-4D91-9896-0B4D42EA7B0F}"/>
              </a:ext>
            </a:extLst>
          </p:cNvPr>
          <p:cNvSpPr>
            <a:spLocks xmlns:a="http://schemas.openxmlformats.org/drawingml/2006/main" noGrp="1"/>
          </p:cNvSpPr>
          <p:nvPr/>
        </p:nvSpPr>
        <p:spPr>
          <a:xfrm xmlns:a="http://schemas.openxmlformats.org/drawingml/2006/main">
            <a:off x="144780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Features are known after close t.</a:t>
            </a:r>
          </a:p>
        </p:txBody>
      </p:sp>
      <p:sp>
        <p:nvSpPr>
          <p:cNvPr id="18" name="">
            <a:extLst xmlns:a="http://schemas.openxmlformats.org/drawingml/2006/main">
              <a:ext uri="{FF2B5EF4-FFF2-40B4-BE49-F238E27FC236}">
                <a16:creationId xmlns:a16="http://schemas.microsoft.com/office/drawing/2014/main" id="{74DEB89D-49F3-4F41-A189-37248FDA647E}"/>
              </a:ext>
            </a:extLst>
          </p:cNvPr>
          <p:cNvSpPr>
            <a:spLocks xmlns:a="http://schemas.openxmlformats.org/drawingml/2006/main" noGrp="1"/>
          </p:cNvSpPr>
          <p:nvPr/>
        </p:nvSpPr>
        <p:spPr>
          <a:xfrm xmlns:a="http://schemas.openxmlformats.org/drawingml/2006/main">
            <a:off x="118110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9" name="">
            <a:extLst xmlns:a="http://schemas.openxmlformats.org/drawingml/2006/main">
              <a:ext uri="{FF2B5EF4-FFF2-40B4-BE49-F238E27FC236}">
                <a16:creationId xmlns:a16="http://schemas.microsoft.com/office/drawing/2014/main" id="{4CB24FAC-6287-4CA2-8013-86929FE854EE}"/>
              </a:ext>
            </a:extLst>
          </p:cNvPr>
          <p:cNvSpPr>
            <a:spLocks xmlns:a="http://schemas.openxmlformats.org/drawingml/2006/main" noGrp="1"/>
          </p:cNvSpPr>
          <p:nvPr/>
        </p:nvSpPr>
        <p:spPr>
          <a:xfrm xmlns:a="http://schemas.openxmlformats.org/drawingml/2006/main">
            <a:off x="144780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Hypothetical execution starts at next open.</a:t>
            </a:r>
          </a:p>
        </p:txBody>
      </p:sp>
      <p:sp>
        <p:nvSpPr>
          <p:cNvPr id="20" name="">
            <a:extLst xmlns:a="http://schemas.openxmlformats.org/drawingml/2006/main">
              <a:ext uri="{FF2B5EF4-FFF2-40B4-BE49-F238E27FC236}">
                <a16:creationId xmlns:a16="http://schemas.microsoft.com/office/drawing/2014/main" id="{9567DB9A-9508-4E95-8118-1B56781CB92C}"/>
              </a:ext>
            </a:extLst>
          </p:cNvPr>
          <p:cNvSpPr>
            <a:spLocks xmlns:a="http://schemas.openxmlformats.org/drawingml/2006/main" noGrp="1"/>
          </p:cNvSpPr>
          <p:nvPr/>
        </p:nvSpPr>
        <p:spPr>
          <a:xfrm xmlns:a="http://schemas.openxmlformats.org/drawingml/2006/main">
            <a:off x="619125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1" name="">
            <a:extLst xmlns:a="http://schemas.openxmlformats.org/drawingml/2006/main">
              <a:ext uri="{FF2B5EF4-FFF2-40B4-BE49-F238E27FC236}">
                <a16:creationId xmlns:a16="http://schemas.microsoft.com/office/drawing/2014/main" id="{775082B0-E731-4573-A690-DCA307603B43}"/>
              </a:ext>
            </a:extLst>
          </p:cNvPr>
          <p:cNvSpPr>
            <a:spLocks xmlns:a="http://schemas.openxmlformats.org/drawingml/2006/main" noGrp="1"/>
          </p:cNvSpPr>
          <p:nvPr/>
        </p:nvSpPr>
        <p:spPr>
          <a:xfrm xmlns:a="http://schemas.openxmlformats.org/drawingml/2006/main">
            <a:off x="645795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h3 label ends at close three sessions later.</a:t>
            </a:r>
          </a:p>
        </p:txBody>
      </p:sp>
      <p:sp>
        <p:nvSpPr>
          <p:cNvPr id="22" name="">
            <a:extLst xmlns:a="http://schemas.openxmlformats.org/drawingml/2006/main">
              <a:ext uri="{FF2B5EF4-FFF2-40B4-BE49-F238E27FC236}">
                <a16:creationId xmlns:a16="http://schemas.microsoft.com/office/drawing/2014/main" id="{2EE0EF8F-25F2-4BBC-9B67-A973B612FA2D}"/>
              </a:ext>
            </a:extLst>
          </p:cNvPr>
          <p:cNvSpPr>
            <a:spLocks xmlns:a="http://schemas.openxmlformats.org/drawingml/2006/main" noGrp="1"/>
          </p:cNvSpPr>
          <p:nvPr/>
        </p:nvSpPr>
        <p:spPr>
          <a:xfrm xmlns:a="http://schemas.openxmlformats.org/drawingml/2006/main">
            <a:off x="619125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3" name="">
            <a:extLst xmlns:a="http://schemas.openxmlformats.org/drawingml/2006/main">
              <a:ext uri="{FF2B5EF4-FFF2-40B4-BE49-F238E27FC236}">
                <a16:creationId xmlns:a16="http://schemas.microsoft.com/office/drawing/2014/main" id="{B45B18CC-35D9-45EC-945B-FFADC3DC6443}"/>
              </a:ext>
            </a:extLst>
          </p:cNvPr>
          <p:cNvSpPr>
            <a:spLocks xmlns:a="http://schemas.openxmlformats.org/drawingml/2006/main" noGrp="1"/>
          </p:cNvSpPr>
          <p:nvPr/>
        </p:nvSpPr>
        <p:spPr>
          <a:xfrm xmlns:a="http://schemas.openxmlformats.org/drawingml/2006/main">
            <a:off x="645795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Rows without a complete horizon are excluded from the proof table.</a:t>
            </a:r>
          </a:p>
        </p:txBody>
      </p:sp>
    </p:spTree>
    <p:extLst>
      <p:ext uri="{BB962C8B-B14F-4D97-AF65-F5344CB8AC3E}">
        <p14:creationId xmlns:p14="http://schemas.microsoft.com/office/powerpoint/2010/main" val="168098603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EAAE0F3-62D6-4309-99F6-87CB0C97E96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FCD3875-98AE-4FC0-AF60-A7AA4547EDB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fold calendar makes the leakage rule visible</a:t>
            </a:r>
          </a:p>
        </p:txBody>
      </p:sp>
      <p:sp>
        <p:nvSpPr>
          <p:cNvPr id="3" name="">
            <a:extLst xmlns:a="http://schemas.openxmlformats.org/drawingml/2006/main">
              <a:ext uri="{FF2B5EF4-FFF2-40B4-BE49-F238E27FC236}">
                <a16:creationId xmlns:a16="http://schemas.microsoft.com/office/drawing/2014/main" id="{B9FC9D1F-9A98-4696-ABE0-53FAE277FC1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86686a7e3aa42b2"/>
          <a:stretch xmlns:a="http://schemas.openxmlformats.org/drawingml/2006/main"/>
        </p:blipFill>
        <p:spPr>
          <a:xfrm xmlns:a="http://schemas.openxmlformats.org/drawingml/2006/main">
            <a:off x="838200" y="203835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867768E-9820-4987-8D13-E02D433DCF5B}"/>
              </a:ext>
            </a:extLst>
          </p:cNvPr>
          <p:cNvSpPr>
            <a:spLocks xmlns:a="http://schemas.openxmlformats.org/drawingml/2006/main" noGrp="1"/>
          </p:cNvSpPr>
          <p:nvPr/>
        </p:nvSpPr>
        <p:spPr>
          <a:xfrm xmlns:a="http://schemas.openxmlformats.org/drawingml/2006/main">
            <a:off x="8629650" y="213360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it matters</a:t>
            </a:r>
          </a:p>
        </p:txBody>
      </p:sp>
      <p:sp>
        <p:nvSpPr>
          <p:cNvPr id="6" name="">
            <a:extLst xmlns:a="http://schemas.openxmlformats.org/drawingml/2006/main">
              <a:ext uri="{FF2B5EF4-FFF2-40B4-BE49-F238E27FC236}">
                <a16:creationId xmlns:a16="http://schemas.microsoft.com/office/drawing/2014/main" id="{D63D3B8D-64D7-4A23-8556-E822F64AC609}"/>
              </a:ext>
            </a:extLst>
          </p:cNvPr>
          <p:cNvSpPr>
            <a:spLocks xmlns:a="http://schemas.openxmlformats.org/drawingml/2006/main" noGrp="1"/>
          </p:cNvSpPr>
          <p:nvPr/>
        </p:nvSpPr>
        <p:spPr>
          <a:xfrm xmlns:a="http://schemas.openxmlformats.org/drawingml/2006/main">
            <a:off x="8629650" y="2628900"/>
            <a:ext cx="238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A TRAIN example is not eligible unless its future h3 label finishes before the TRAIN/OOS boundary. OOS labels are allowed for inspection, but they never feed model fitting or threshold choice.</a:t>
            </a:r>
          </a:p>
        </p:txBody>
      </p:sp>
    </p:spTree>
    <p:extLst>
      <p:ext uri="{BB962C8B-B14F-4D97-AF65-F5344CB8AC3E}">
        <p14:creationId xmlns:p14="http://schemas.microsoft.com/office/powerpoint/2010/main" val="15434331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56BE2D9-F11B-4B06-AC23-B032753FA1C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D6A32BA-8EC9-4822-8AC6-1E490014316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OHLCV adds information that close-to-close would discard</a:t>
            </a:r>
          </a:p>
        </p:txBody>
      </p:sp>
      <p:sp>
        <p:nvSpPr>
          <p:cNvPr id="3" name="">
            <a:extLst xmlns:a="http://schemas.openxmlformats.org/drawingml/2006/main">
              <a:ext uri="{FF2B5EF4-FFF2-40B4-BE49-F238E27FC236}">
                <a16:creationId xmlns:a16="http://schemas.microsoft.com/office/drawing/2014/main" id="{AE9F8085-D23A-42BE-94ED-BF45B05B5E9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d4e32e710b7741f1"/>
          <a:stretch xmlns:a="http://schemas.openxmlformats.org/drawingml/2006/main"/>
        </p:blipFill>
        <p:spPr>
          <a:xfrm xmlns:a="http://schemas.openxmlformats.org/drawingml/2006/main">
            <a:off x="742950" y="2257791"/>
            <a:ext cx="5810250" cy="33520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72B830E-84E7-45E2-8532-EA1AB88EB0BF}"/>
              </a:ext>
            </a:extLst>
          </p:cNvPr>
          <p:cNvSpPr>
            <a:spLocks xmlns:a="http://schemas.openxmlformats.org/drawingml/2006/main" noGrp="1"/>
          </p:cNvSpPr>
          <p:nvPr/>
        </p:nvSpPr>
        <p:spPr>
          <a:xfrm xmlns:a="http://schemas.openxmlformats.org/drawingml/2006/main">
            <a:off x="7048500" y="2095500"/>
            <a:ext cx="3619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The first feature table is complete enough to model from.</a:t>
            </a:r>
          </a:p>
        </p:txBody>
      </p:sp>
      <p:sp>
        <p:nvSpPr>
          <p:cNvPr id="6" name="">
            <a:extLst xmlns:a="http://schemas.openxmlformats.org/drawingml/2006/main">
              <a:ext uri="{FF2B5EF4-FFF2-40B4-BE49-F238E27FC236}">
                <a16:creationId xmlns:a16="http://schemas.microsoft.com/office/drawing/2014/main" id="{5749FBA3-521A-48F9-A7E5-BF29BDD76A62}"/>
              </a:ext>
            </a:extLst>
          </p:cNvPr>
          <p:cNvSpPr>
            <a:spLocks xmlns:a="http://schemas.openxmlformats.org/drawingml/2006/main" noGrp="1"/>
          </p:cNvSpPr>
          <p:nvPr/>
        </p:nvSpPr>
        <p:spPr>
          <a:xfrm xmlns:a="http://schemas.openxmlformats.org/drawingml/2006/main">
            <a:off x="7067550" y="3095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7" name="">
            <a:extLst xmlns:a="http://schemas.openxmlformats.org/drawingml/2006/main">
              <a:ext uri="{FF2B5EF4-FFF2-40B4-BE49-F238E27FC236}">
                <a16:creationId xmlns:a16="http://schemas.microsoft.com/office/drawing/2014/main" id="{6C32F19C-B264-45B4-9FAD-FA0197E58FAD}"/>
              </a:ext>
            </a:extLst>
          </p:cNvPr>
          <p:cNvSpPr>
            <a:spLocks xmlns:a="http://schemas.openxmlformats.org/drawingml/2006/main" noGrp="1"/>
          </p:cNvSpPr>
          <p:nvPr/>
        </p:nvSpPr>
        <p:spPr>
          <a:xfrm xmlns:a="http://schemas.openxmlformats.org/drawingml/2006/main">
            <a:off x="7334250" y="308610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Candle body, wick, gap, range, and volume features are populated across both windows.</a:t>
            </a:r>
          </a:p>
        </p:txBody>
      </p:sp>
      <p:sp>
        <p:nvSpPr>
          <p:cNvPr id="8" name="">
            <a:extLst xmlns:a="http://schemas.openxmlformats.org/drawingml/2006/main">
              <a:ext uri="{FF2B5EF4-FFF2-40B4-BE49-F238E27FC236}">
                <a16:creationId xmlns:a16="http://schemas.microsoft.com/office/drawing/2014/main" id="{4BC73BCC-9F22-46AE-A794-778D72973D11}"/>
              </a:ext>
            </a:extLst>
          </p:cNvPr>
          <p:cNvSpPr>
            <a:spLocks xmlns:a="http://schemas.openxmlformats.org/drawingml/2006/main" noGrp="1"/>
          </p:cNvSpPr>
          <p:nvPr/>
        </p:nvSpPr>
        <p:spPr>
          <a:xfrm xmlns:a="http://schemas.openxmlformats.org/drawingml/2006/main">
            <a:off x="7067550" y="40671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9" name="">
            <a:extLst xmlns:a="http://schemas.openxmlformats.org/drawingml/2006/main">
              <a:ext uri="{FF2B5EF4-FFF2-40B4-BE49-F238E27FC236}">
                <a16:creationId xmlns:a16="http://schemas.microsoft.com/office/drawing/2014/main" id="{1809CFF8-4B9A-4779-A5B8-4CB875ACD566}"/>
              </a:ext>
            </a:extLst>
          </p:cNvPr>
          <p:cNvSpPr>
            <a:spLocks xmlns:a="http://schemas.openxmlformats.org/drawingml/2006/main" noGrp="1"/>
          </p:cNvSpPr>
          <p:nvPr/>
        </p:nvSpPr>
        <p:spPr>
          <a:xfrm xmlns:a="http://schemas.openxmlformats.org/drawingml/2006/main">
            <a:off x="7334250" y="405765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This does not prove alpha. It proves the supervised surface is technically usable.</a:t>
            </a:r>
          </a:p>
        </p:txBody>
      </p:sp>
    </p:spTree>
    <p:extLst>
      <p:ext uri="{BB962C8B-B14F-4D97-AF65-F5344CB8AC3E}">
        <p14:creationId xmlns:p14="http://schemas.microsoft.com/office/powerpoint/2010/main" val="110051250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10ADB4C-AD1E-4B66-BB58-0304494E8A1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1F19DF6-958D-445A-8B94-1CA1ACB8140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h3 target is balanced enough for a first model test</a:t>
            </a:r>
          </a:p>
        </p:txBody>
      </p:sp>
      <p:sp>
        <p:nvSpPr>
          <p:cNvPr id="3" name="">
            <a:extLst xmlns:a="http://schemas.openxmlformats.org/drawingml/2006/main">
              <a:ext uri="{FF2B5EF4-FFF2-40B4-BE49-F238E27FC236}">
                <a16:creationId xmlns:a16="http://schemas.microsoft.com/office/drawing/2014/main" id="{492ADD5C-F261-445F-AABF-4731DBB728D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2ffa5cdc8624026"/>
          <a:stretch xmlns:a="http://schemas.openxmlformats.org/drawingml/2006/main"/>
        </p:blipFill>
        <p:spPr>
          <a:xfrm xmlns:a="http://schemas.openxmlformats.org/drawingml/2006/main">
            <a:off x="723900" y="2423716"/>
            <a:ext cx="5048250" cy="2734469"/>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d5a5cc682e64411"/>
          <a:stretch xmlns:a="http://schemas.openxmlformats.org/drawingml/2006/main"/>
        </p:blipFill>
        <p:spPr>
          <a:xfrm xmlns:a="http://schemas.openxmlformats.org/drawingml/2006/main">
            <a:off x="6191250" y="2505075"/>
            <a:ext cx="51435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014AB5F-DBFD-4233-9EEC-67CC78AB8DEB}"/>
              </a:ext>
            </a:extLst>
          </p:cNvPr>
          <p:cNvSpPr>
            <a:spLocks xmlns:a="http://schemas.openxmlformats.org/drawingml/2006/main" noGrp="1"/>
          </p:cNvSpPr>
          <p:nvPr/>
        </p:nvSpPr>
        <p:spPr>
          <a:xfrm xmlns:a="http://schemas.openxmlformats.org/drawingml/2006/main">
            <a:off x="857250" y="579120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55555"/>
                </a:solidFill>
              </a:defRPr>
            </a:pPr>
            <a:r>
              <a:rPr sz="1350" b="0" i="0">
                <a:solidFill>
                  <a:srgbClr val="555555"/>
                </a:solidFill>
              </a:rPr>
              <a:t>Mean OOS positive-label rate: 2020 56.6%; 2022 45.6%. Mean OOS h3 return: 2020 1.0%; 2022 -0.6%.</a:t>
            </a:r>
          </a:p>
        </p:txBody>
      </p:sp>
    </p:spTree>
    <p:extLst>
      <p:ext uri="{BB962C8B-B14F-4D97-AF65-F5344CB8AC3E}">
        <p14:creationId xmlns:p14="http://schemas.microsoft.com/office/powerpoint/2010/main" val="11321289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C873975-D8D9-4732-A353-2E7025A9FF5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638B78E-3194-41D5-859D-9C4CDA612FB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label matches how an after-close system would trade</a:t>
            </a:r>
          </a:p>
        </p:txBody>
      </p:sp>
      <p:sp>
        <p:nvSpPr>
          <p:cNvPr id="3" name="">
            <a:extLst xmlns:a="http://schemas.openxmlformats.org/drawingml/2006/main">
              <a:ext uri="{FF2B5EF4-FFF2-40B4-BE49-F238E27FC236}">
                <a16:creationId xmlns:a16="http://schemas.microsoft.com/office/drawing/2014/main" id="{A073D986-2E8C-4E05-B5AD-B8BD6AF6FAB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742b822dd3a435e"/>
          <a:stretch xmlns:a="http://schemas.openxmlformats.org/drawingml/2006/main"/>
        </p:blipFill>
        <p:spPr>
          <a:xfrm xmlns:a="http://schemas.openxmlformats.org/drawingml/2006/main">
            <a:off x="876300" y="209550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68B4C00-FE94-4E8E-8644-A835B45BB956}"/>
              </a:ext>
            </a:extLst>
          </p:cNvPr>
          <p:cNvSpPr>
            <a:spLocks xmlns:a="http://schemas.openxmlformats.org/drawingml/2006/main" noGrp="1"/>
          </p:cNvSpPr>
          <p:nvPr/>
        </p:nvSpPr>
        <p:spPr>
          <a:xfrm xmlns:a="http://schemas.openxmlformats.org/drawingml/2006/main">
            <a:off x="86296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Read the markers left to right</a:t>
            </a:r>
          </a:p>
        </p:txBody>
      </p:sp>
      <p:sp>
        <p:nvSpPr>
          <p:cNvPr id="6" name="">
            <a:extLst xmlns:a="http://schemas.openxmlformats.org/drawingml/2006/main">
              <a:ext uri="{FF2B5EF4-FFF2-40B4-BE49-F238E27FC236}">
                <a16:creationId xmlns:a16="http://schemas.microsoft.com/office/drawing/2014/main" id="{12A650C4-7A2C-4074-B1DB-85031694ECD6}"/>
              </a:ext>
            </a:extLst>
          </p:cNvPr>
          <p:cNvSpPr>
            <a:spLocks xmlns:a="http://schemas.openxmlformats.org/drawingml/2006/main" noGrp="1"/>
          </p:cNvSpPr>
          <p:nvPr/>
        </p:nvSpPr>
        <p:spPr>
          <a:xfrm xmlns:a="http://schemas.openxmlformats.org/drawingml/2006/main">
            <a:off x="8629650" y="2667000"/>
            <a:ext cx="2476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Blue is the feature date. Orange is the next open, where a future model would act. Green is the close three sessions later, where the label is measured.</a:t>
            </a:r>
          </a:p>
        </p:txBody>
      </p:sp>
    </p:spTree>
    <p:extLst>
      <p:ext uri="{BB962C8B-B14F-4D97-AF65-F5344CB8AC3E}">
        <p14:creationId xmlns:p14="http://schemas.microsoft.com/office/powerpoint/2010/main" val="88305418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D27C4E6-4795-47D5-AC1E-13250611F2E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9703980-146F-47EC-B10D-46F52F5FF55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Feature strips give us a human audit of what the model will see</a:t>
            </a:r>
          </a:p>
        </p:txBody>
      </p:sp>
      <p:sp>
        <p:nvSpPr>
          <p:cNvPr id="3" name="">
            <a:extLst xmlns:a="http://schemas.openxmlformats.org/drawingml/2006/main">
              <a:ext uri="{FF2B5EF4-FFF2-40B4-BE49-F238E27FC236}">
                <a16:creationId xmlns:a16="http://schemas.microsoft.com/office/drawing/2014/main" id="{5079E873-41DA-46C2-82EF-7FD2EBBED66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73a5b1fa28d4cc1"/>
          <a:stretch xmlns:a="http://schemas.openxmlformats.org/drawingml/2006/main"/>
        </p:blipFill>
        <p:spPr>
          <a:xfrm xmlns:a="http://schemas.openxmlformats.org/drawingml/2006/main">
            <a:off x="11703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60F9BDB-0C9B-4BA1-8282-A58C7ED0AAE8}"/>
              </a:ext>
            </a:extLst>
          </p:cNvPr>
          <p:cNvSpPr>
            <a:spLocks xmlns:a="http://schemas.openxmlformats.org/drawingml/2006/main" noGrp="1"/>
          </p:cNvSpPr>
          <p:nvPr/>
        </p:nvSpPr>
        <p:spPr>
          <a:xfrm xmlns:a="http://schemas.openxmlformats.org/drawingml/2006/main">
            <a:off x="8572500" y="2133600"/>
            <a:ext cx="2619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This is still pre-model evidence.</a:t>
            </a:r>
          </a:p>
        </p:txBody>
      </p:sp>
      <p:sp>
        <p:nvSpPr>
          <p:cNvPr id="6" name="">
            <a:extLst xmlns:a="http://schemas.openxmlformats.org/drawingml/2006/main">
              <a:ext uri="{FF2B5EF4-FFF2-40B4-BE49-F238E27FC236}">
                <a16:creationId xmlns:a16="http://schemas.microsoft.com/office/drawing/2014/main" id="{80E17AC4-0726-4055-9E17-94C949E71774}"/>
              </a:ext>
            </a:extLst>
          </p:cNvPr>
          <p:cNvSpPr>
            <a:spLocks xmlns:a="http://schemas.openxmlformats.org/drawingml/2006/main" noGrp="1"/>
          </p:cNvSpPr>
          <p:nvPr/>
        </p:nvSpPr>
        <p:spPr>
          <a:xfrm xmlns:a="http://schemas.openxmlformats.org/drawingml/2006/main">
            <a:off x="8572500" y="2724150"/>
            <a:ext cx="2571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plot checks that trend, range location, and volume features move in recognizable ways around a hard 2022 tape. The next step is to ask whether a model can combine these signals better than hand-coded states.</a:t>
            </a:r>
          </a:p>
        </p:txBody>
      </p:sp>
    </p:spTree>
    <p:extLst>
      <p:ext uri="{BB962C8B-B14F-4D97-AF65-F5344CB8AC3E}">
        <p14:creationId xmlns:p14="http://schemas.microsoft.com/office/powerpoint/2010/main" val="26856340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D67113B-B022-4702-AC51-2DC85CE63DD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118BF95-D9E6-41A8-A74D-0E5289D8700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A univariate audit gives early clues without pretending to be a model</a:t>
            </a:r>
          </a:p>
        </p:txBody>
      </p:sp>
      <p:sp>
        <p:nvSpPr>
          <p:cNvPr id="3" name="">
            <a:extLst xmlns:a="http://schemas.openxmlformats.org/drawingml/2006/main">
              <a:ext uri="{FF2B5EF4-FFF2-40B4-BE49-F238E27FC236}">
                <a16:creationId xmlns:a16="http://schemas.microsoft.com/office/drawing/2014/main" id="{5FC7B09D-5BE0-4BF4-A6BC-4C87A8F6844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5ba7c473e704b81"/>
          <a:stretch xmlns:a="http://schemas.openxmlformats.org/drawingml/2006/main"/>
        </p:blipFill>
        <p:spPr>
          <a:xfrm xmlns:a="http://schemas.openxmlformats.org/drawingml/2006/main">
            <a:off x="12084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1C3837E-7A25-42CF-A8FC-EB10017558A7}"/>
              </a:ext>
            </a:extLst>
          </p:cNvPr>
          <p:cNvSpPr>
            <a:spLocks xmlns:a="http://schemas.openxmlformats.org/drawingml/2006/main" noGrp="1"/>
          </p:cNvSpPr>
          <p:nvPr/>
        </p:nvSpPr>
        <p:spPr>
          <a:xfrm xmlns:a="http://schemas.openxmlformats.org/drawingml/2006/main">
            <a:off x="85534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What to look for</a:t>
            </a:r>
          </a:p>
        </p:txBody>
      </p:sp>
      <p:sp>
        <p:nvSpPr>
          <p:cNvPr id="6" name="">
            <a:extLst xmlns:a="http://schemas.openxmlformats.org/drawingml/2006/main">
              <a:ext uri="{FF2B5EF4-FFF2-40B4-BE49-F238E27FC236}">
                <a16:creationId xmlns:a16="http://schemas.microsoft.com/office/drawing/2014/main" id="{60151357-6F45-433E-A34E-0C5F546DB934}"/>
              </a:ext>
            </a:extLst>
          </p:cNvPr>
          <p:cNvSpPr>
            <a:spLocks xmlns:a="http://schemas.openxmlformats.org/drawingml/2006/main" noGrp="1"/>
          </p:cNvSpPr>
          <p:nvPr/>
        </p:nvSpPr>
        <p:spPr>
          <a:xfrm xmlns:a="http://schemas.openxmlformats.org/drawingml/2006/main">
            <a:off x="8553450" y="2667000"/>
            <a:ext cx="26860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Smooth monotonic lines would be encouraging. Noisy or nonmonotonic lines are not fatal, because the first real ML test will learn interactions, but they tell us whether individual features carry any visible directional information.</a:t>
            </a:r>
          </a:p>
        </p:txBody>
      </p:sp>
    </p:spTree>
    <p:extLst>
      <p:ext uri="{BB962C8B-B14F-4D97-AF65-F5344CB8AC3E}">
        <p14:creationId xmlns:p14="http://schemas.microsoft.com/office/powerpoint/2010/main" val="174065293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2E4A731-57BB-4705-B22B-98E21349F05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B4FD2EB-AB21-40C0-B92F-3EE7F5C2554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build tests a deliberately simple model</a:t>
            </a:r>
          </a:p>
        </p:txBody>
      </p:sp>
      <p:sp>
        <p:nvSpPr>
          <p:cNvPr id="3" name="">
            <a:extLst xmlns:a="http://schemas.openxmlformats.org/drawingml/2006/main">
              <a:ext uri="{FF2B5EF4-FFF2-40B4-BE49-F238E27FC236}">
                <a16:creationId xmlns:a16="http://schemas.microsoft.com/office/drawing/2014/main" id="{74E28554-DF65-4EC8-A905-B18D9241D63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30B2F78-A9F0-4C4B-BFBB-9B20897582C9}"/>
              </a:ext>
            </a:extLst>
          </p:cNvPr>
          <p:cNvSpPr>
            <a:spLocks xmlns:a="http://schemas.openxmlformats.org/drawingml/2006/main" noGrp="1"/>
          </p:cNvSpPr>
          <p:nvPr/>
        </p:nvSpPr>
        <p:spPr>
          <a:xfrm xmlns:a="http://schemas.openxmlformats.org/drawingml/2006/main">
            <a:off x="876300" y="2152650"/>
            <a:ext cx="7429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ML-P0 passed the table-quality gate. ML-P1 asks whether a plain GLM can turn that table into coherent daily long/flat behavior.</a:t>
            </a:r>
          </a:p>
        </p:txBody>
      </p:sp>
      <p:sp>
        <p:nvSpPr>
          <p:cNvPr id="5" name="">
            <a:extLst xmlns:a="http://schemas.openxmlformats.org/drawingml/2006/main">
              <a:ext uri="{FF2B5EF4-FFF2-40B4-BE49-F238E27FC236}">
                <a16:creationId xmlns:a16="http://schemas.microsoft.com/office/drawing/2014/main" id="{7AA81C88-663A-4C2B-B2DD-04A3E60B195E}"/>
              </a:ext>
            </a:extLst>
          </p:cNvPr>
          <p:cNvSpPr>
            <a:spLocks xmlns:a="http://schemas.openxmlformats.org/drawingml/2006/main" noGrp="1"/>
          </p:cNvSpPr>
          <p:nvPr/>
        </p:nvSpPr>
        <p:spPr>
          <a:xfrm xmlns:a="http://schemas.openxmlformats.org/drawingml/2006/main">
            <a:off x="1181100" y="3438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79322006-36E0-44C9-84D9-E054D7EBCF11}"/>
              </a:ext>
            </a:extLst>
          </p:cNvPr>
          <p:cNvSpPr>
            <a:spLocks xmlns:a="http://schemas.openxmlformats.org/drawingml/2006/main" noGrp="1"/>
          </p:cNvSpPr>
          <p:nvPr/>
        </p:nvSpPr>
        <p:spPr>
          <a:xfrm xmlns:a="http://schemas.openxmlformats.org/drawingml/2006/main">
            <a:off x="1447800" y="34290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Fit only on TRAIN rows using frozen transforms.</a:t>
            </a:r>
          </a:p>
        </p:txBody>
      </p:sp>
      <p:sp>
        <p:nvSpPr>
          <p:cNvPr id="7" name="">
            <a:extLst xmlns:a="http://schemas.openxmlformats.org/drawingml/2006/main">
              <a:ext uri="{FF2B5EF4-FFF2-40B4-BE49-F238E27FC236}">
                <a16:creationId xmlns:a16="http://schemas.microsoft.com/office/drawing/2014/main" id="{1A022829-E93A-4304-8EF0-E12FEBA39873}"/>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9FC63873-AB63-48AE-B837-FBD7853EB5D8}"/>
              </a:ext>
            </a:extLst>
          </p:cNvPr>
          <p:cNvSpPr>
            <a:spLocks xmlns:a="http://schemas.openxmlformats.org/drawingml/2006/main" noGrp="1"/>
          </p:cNvSpPr>
          <p:nvPr/>
        </p:nvSpPr>
        <p:spPr>
          <a:xfrm xmlns:a="http://schemas.openxmlformats.org/drawingml/2006/main">
            <a:off x="1447800" y="40957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Predict OOS h3 probability after each close.</a:t>
            </a:r>
          </a:p>
        </p:txBody>
      </p:sp>
      <p:sp>
        <p:nvSpPr>
          <p:cNvPr id="9" name="">
            <a:extLst xmlns:a="http://schemas.openxmlformats.org/drawingml/2006/main">
              <a:ext uri="{FF2B5EF4-FFF2-40B4-BE49-F238E27FC236}">
                <a16:creationId xmlns:a16="http://schemas.microsoft.com/office/drawing/2014/main" id="{B7DBEBCC-5F43-4667-85B8-79EB00978FFC}"/>
              </a:ext>
            </a:extLst>
          </p:cNvPr>
          <p:cNvSpPr>
            <a:spLocks xmlns:a="http://schemas.openxmlformats.org/drawingml/2006/main" noGrp="1"/>
          </p:cNvSpPr>
          <p:nvPr/>
        </p:nvSpPr>
        <p:spPr>
          <a:xfrm xmlns:a="http://schemas.openxmlformats.org/drawingml/2006/main">
            <a:off x="1181100" y="4772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8F8A386A-6A82-41A0-B0DC-BA728A9C4D38}"/>
              </a:ext>
            </a:extLst>
          </p:cNvPr>
          <p:cNvSpPr>
            <a:spLocks xmlns:a="http://schemas.openxmlformats.org/drawingml/2006/main" noGrp="1"/>
          </p:cNvSpPr>
          <p:nvPr/>
        </p:nvSpPr>
        <p:spPr>
          <a:xfrm xmlns:a="http://schemas.openxmlformats.org/drawingml/2006/main">
            <a:off x="1447800" y="47625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Replay long/flat decisions with fixed thresholds.</a:t>
            </a:r>
          </a:p>
        </p:txBody>
      </p:sp>
      <p:sp>
        <p:nvSpPr>
          <p:cNvPr id="11" name="">
            <a:extLst xmlns:a="http://schemas.openxmlformats.org/drawingml/2006/main">
              <a:ext uri="{FF2B5EF4-FFF2-40B4-BE49-F238E27FC236}">
                <a16:creationId xmlns:a16="http://schemas.microsoft.com/office/drawing/2014/main" id="{70050E6F-4608-49FE-99FA-9F546B071096}"/>
              </a:ext>
            </a:extLst>
          </p:cNvPr>
          <p:cNvSpPr>
            <a:spLocks xmlns:a="http://schemas.openxmlformats.org/drawingml/2006/main" noGrp="1"/>
          </p:cNvSpPr>
          <p:nvPr/>
        </p:nvSpPr>
        <p:spPr>
          <a:xfrm xmlns:a="http://schemas.openxmlformats.org/drawingml/2006/main">
            <a:off x="1181100" y="5438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359E9404-A91B-4190-ABEA-11E558DE5762}"/>
              </a:ext>
            </a:extLst>
          </p:cNvPr>
          <p:cNvSpPr>
            <a:spLocks xmlns:a="http://schemas.openxmlformats.org/drawingml/2006/main" noGrp="1"/>
          </p:cNvSpPr>
          <p:nvPr/>
        </p:nvSpPr>
        <p:spPr>
          <a:xfrm xmlns:a="http://schemas.openxmlformats.org/drawingml/2006/main">
            <a:off x="1447800" y="54292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probability traces, trade tapes, equity, and equal-weight basket hold.</a:t>
            </a:r>
          </a:p>
        </p:txBody>
      </p:sp>
      <p:sp>
        <p:nvSpPr>
          <p:cNvPr id="13" name="">
            <a:extLst xmlns:a="http://schemas.openxmlformats.org/drawingml/2006/main">
              <a:ext uri="{FF2B5EF4-FFF2-40B4-BE49-F238E27FC236}">
                <a16:creationId xmlns:a16="http://schemas.microsoft.com/office/drawing/2014/main" id="{23678262-4FAA-474D-BAD1-1575CE1ABE8D}"/>
              </a:ext>
            </a:extLst>
          </p:cNvPr>
          <p:cNvSpPr>
            <a:spLocks xmlns:a="http://schemas.openxmlformats.org/drawingml/2006/main" noGrp="1"/>
          </p:cNvSpPr>
          <p:nvPr/>
        </p:nvSpPr>
        <p:spPr>
          <a:xfrm xmlns:a="http://schemas.openxmlformats.org/drawingml/2006/main">
            <a:off x="7734300" y="2247900"/>
            <a:ext cx="2971800" cy="2971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A974F7D0-3617-447D-B60C-F5DAD251A178}"/>
              </a:ext>
            </a:extLst>
          </p:cNvPr>
          <p:cNvSpPr>
            <a:spLocks xmlns:a="http://schemas.openxmlformats.org/drawingml/2006/main" noGrp="1"/>
          </p:cNvSpPr>
          <p:nvPr/>
        </p:nvSpPr>
        <p:spPr>
          <a:xfrm xmlns:a="http://schemas.openxmlformats.org/drawingml/2006/main">
            <a:off x="8096250" y="2895600"/>
            <a:ext cx="2266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222222"/>
                </a:solidFill>
              </a:defRPr>
            </a:pPr>
            <a:r>
              <a:rPr sz="2025" b="1" i="0">
                <a:solidFill>
                  <a:srgbClr val="222222"/>
                </a:solidFill>
              </a:rPr>
              <a:t>Still research only</a:t>
            </a:r>
          </a:p>
        </p:txBody>
      </p:sp>
      <p:sp>
        <p:nvSpPr>
          <p:cNvPr id="15" name="">
            <a:extLst xmlns:a="http://schemas.openxmlformats.org/drawingml/2006/main">
              <a:ext uri="{FF2B5EF4-FFF2-40B4-BE49-F238E27FC236}">
                <a16:creationId xmlns:a16="http://schemas.microsoft.com/office/drawing/2014/main" id="{9FC07838-7208-4E2A-A64B-3AD71733AA89}"/>
              </a:ext>
            </a:extLst>
          </p:cNvPr>
          <p:cNvSpPr>
            <a:spLocks xmlns:a="http://schemas.openxmlformats.org/drawingml/2006/main" noGrp="1"/>
          </p:cNvSpPr>
          <p:nvPr/>
        </p:nvSpPr>
        <p:spPr>
          <a:xfrm xmlns:a="http://schemas.openxmlformats.org/drawingml/2006/main">
            <a:off x="8115300" y="3562350"/>
            <a:ext cx="2238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i="0">
                <a:solidFill>
                  <a:srgbClr val="222222"/>
                </a:solidFill>
              </a:defRPr>
            </a:pPr>
            <a:r>
              <a:rPr sz="1800" b="0" i="0">
                <a:solidFill>
                  <a:srgbClr val="222222"/>
                </a:solidFill>
              </a:rPr>
              <a:t>GLM is the plumbing baseline before XGBoost.</a:t>
            </a:r>
          </a:p>
        </p:txBody>
      </p:sp>
    </p:spTree>
    <p:extLst>
      <p:ext uri="{BB962C8B-B14F-4D97-AF65-F5344CB8AC3E}">
        <p14:creationId xmlns:p14="http://schemas.microsoft.com/office/powerpoint/2010/main" val="214036865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532784B-2903-408F-B199-20CFEF822876}"/>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1DEA49BD-5701-4F73-9761-3B715F2455A8}"/>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deck now moves from table safety to model behavior</a:t>
            </a:r>
          </a:p>
        </p:txBody>
      </p:sp>
      <p:sp>
        <p:nvSpPr>
          <p:cNvPr id="3" name="">
            <a:extLst xmlns:a="http://schemas.openxmlformats.org/drawingml/2006/main">
              <a:ext uri="{FF2B5EF4-FFF2-40B4-BE49-F238E27FC236}">
                <a16:creationId xmlns:a16="http://schemas.microsoft.com/office/drawing/2014/main" id="{1A2642DE-A7D5-4DEE-A9A7-A47374DB3C6A}"/>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2A7BFC4-8F8F-4751-B87B-0873C8283169}"/>
              </a:ext>
            </a:extLst>
          </p:cNvPr>
          <p:cNvSpPr>
            <a:spLocks xmlns:a="http://schemas.openxmlformats.org/drawingml/2006/main" noGrp="1"/>
          </p:cNvSpPr>
          <p:nvPr/>
        </p:nvSpPr>
        <p:spPr>
          <a:xfrm xmlns:a="http://schemas.openxmlformats.org/drawingml/2006/main">
            <a:off x="723900" y="3467100"/>
            <a:ext cx="7334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 fits a GLM on TRAIN rows, freezes the model, predicts OOS h3 probability, and replays fixed-threshold long/flat decisions. This is a diagnostic model, not an allocation claim.</a:t>
            </a:r>
          </a:p>
        </p:txBody>
      </p:sp>
      <p:sp>
        <p:nvSpPr>
          <p:cNvPr id="5" name="">
            <a:extLst xmlns:a="http://schemas.openxmlformats.org/drawingml/2006/main">
              <a:ext uri="{FF2B5EF4-FFF2-40B4-BE49-F238E27FC236}">
                <a16:creationId xmlns:a16="http://schemas.microsoft.com/office/drawing/2014/main" id="{AED0DCB0-B5B2-44F5-AE7B-F19415FDA0F5}"/>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03C8D7F-3AB1-4C36-AF89-A17FBB178339}"/>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a:t>
            </a:r>
          </a:p>
        </p:txBody>
      </p:sp>
      <p:sp>
        <p:nvSpPr>
          <p:cNvPr id="7" name="">
            <a:extLst xmlns:a="http://schemas.openxmlformats.org/drawingml/2006/main">
              <a:ext uri="{FF2B5EF4-FFF2-40B4-BE49-F238E27FC236}">
                <a16:creationId xmlns:a16="http://schemas.microsoft.com/office/drawing/2014/main" id="{1A98301D-C88C-420E-81FF-4DA6BFF406E2}"/>
              </a:ext>
            </a:extLst>
          </p:cNvPr>
          <p:cNvSpPr>
            <a:spLocks xmlns:a="http://schemas.openxmlformats.org/drawingml/2006/main" noGrp="1"/>
          </p:cNvSpPr>
          <p:nvPr/>
        </p:nvSpPr>
        <p:spPr>
          <a:xfrm xmlns:a="http://schemas.openxmlformats.org/drawingml/2006/main">
            <a:off x="9353550" y="30670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i="0">
                <a:solidFill>
                  <a:srgbClr val="222222"/>
                </a:solidFill>
              </a:defRPr>
            </a:pPr>
            <a:r>
              <a:rPr sz="1950" b="0" i="0">
                <a:solidFill>
                  <a:srgbClr val="222222"/>
                </a:solidFill>
              </a:rPr>
              <a:t>GLM replay</a:t>
            </a:r>
          </a:p>
        </p:txBody>
      </p:sp>
    </p:spTree>
    <p:extLst>
      <p:ext uri="{BB962C8B-B14F-4D97-AF65-F5344CB8AC3E}">
        <p14:creationId xmlns:p14="http://schemas.microsoft.com/office/powerpoint/2010/main" val="140525352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7BA4B7B-B0B7-4F15-8003-EDB2E444CDB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B2B62BC-429A-411F-BF7C-9F4A8A3370E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GLM baseline became defensive, not participatory</a:t>
            </a:r>
          </a:p>
        </p:txBody>
      </p:sp>
      <p:sp>
        <p:nvSpPr>
          <p:cNvPr id="3" name="">
            <a:extLst xmlns:a="http://schemas.openxmlformats.org/drawingml/2006/main">
              <a:ext uri="{FF2B5EF4-FFF2-40B4-BE49-F238E27FC236}">
                <a16:creationId xmlns:a16="http://schemas.microsoft.com/office/drawing/2014/main" id="{0409373B-A119-4E7F-813C-50261BB6B1A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C531FD-2E26-42DA-9F48-9E061E5E5EE5}"/>
              </a:ext>
            </a:extLst>
          </p:cNvPr>
          <p:cNvSpPr>
            <a:spLocks xmlns:a="http://schemas.openxmlformats.org/drawingml/2006/main" noGrp="1"/>
          </p:cNvSpPr>
          <p:nvPr/>
        </p:nvSpPr>
        <p:spPr>
          <a:xfrm xmlns:a="http://schemas.openxmlformats.org/drawingml/2006/main">
            <a:off x="819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DD263954-2601-4B66-A6D8-62DDD07B703E}"/>
              </a:ext>
            </a:extLst>
          </p:cNvPr>
          <p:cNvSpPr>
            <a:spLocks xmlns:a="http://schemas.openxmlformats.org/drawingml/2006/main" noGrp="1"/>
          </p:cNvSpPr>
          <p:nvPr/>
        </p:nvSpPr>
        <p:spPr>
          <a:xfrm xmlns:a="http://schemas.openxmlformats.org/drawingml/2006/main">
            <a:off x="990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ACTIVE</a:t>
            </a:r>
          </a:p>
        </p:txBody>
      </p:sp>
      <p:sp>
        <p:nvSpPr>
          <p:cNvPr id="6" name="">
            <a:extLst xmlns:a="http://schemas.openxmlformats.org/drawingml/2006/main">
              <a:ext uri="{FF2B5EF4-FFF2-40B4-BE49-F238E27FC236}">
                <a16:creationId xmlns:a16="http://schemas.microsoft.com/office/drawing/2014/main" id="{E45E6B95-138F-4575-A558-C5E1B73CDBF0}"/>
              </a:ext>
            </a:extLst>
          </p:cNvPr>
          <p:cNvSpPr>
            <a:spLocks xmlns:a="http://schemas.openxmlformats.org/drawingml/2006/main" noGrp="1"/>
          </p:cNvSpPr>
          <p:nvPr/>
        </p:nvSpPr>
        <p:spPr>
          <a:xfrm xmlns:a="http://schemas.openxmlformats.org/drawingml/2006/main">
            <a:off x="990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8.0%</a:t>
            </a:r>
          </a:p>
        </p:txBody>
      </p:sp>
      <p:sp>
        <p:nvSpPr>
          <p:cNvPr id="7" name="">
            <a:extLst xmlns:a="http://schemas.openxmlformats.org/drawingml/2006/main">
              <a:ext uri="{FF2B5EF4-FFF2-40B4-BE49-F238E27FC236}">
                <a16:creationId xmlns:a16="http://schemas.microsoft.com/office/drawing/2014/main" id="{EC9E041F-5DFF-4459-BE91-AF9C3D84A449}"/>
              </a:ext>
            </a:extLst>
          </p:cNvPr>
          <p:cNvSpPr>
            <a:spLocks xmlns:a="http://schemas.openxmlformats.org/drawingml/2006/main" noGrp="1"/>
          </p:cNvSpPr>
          <p:nvPr/>
        </p:nvSpPr>
        <p:spPr>
          <a:xfrm xmlns:a="http://schemas.openxmlformats.org/drawingml/2006/main">
            <a:off x="990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214.0%</a:t>
            </a:r>
          </a:p>
        </p:txBody>
      </p:sp>
      <p:sp>
        <p:nvSpPr>
          <p:cNvPr id="8" name="">
            <a:extLst xmlns:a="http://schemas.openxmlformats.org/drawingml/2006/main">
              <a:ext uri="{FF2B5EF4-FFF2-40B4-BE49-F238E27FC236}">
                <a16:creationId xmlns:a16="http://schemas.microsoft.com/office/drawing/2014/main" id="{E3BC41CB-B193-415A-9C3A-5F8AFF914437}"/>
              </a:ext>
            </a:extLst>
          </p:cNvPr>
          <p:cNvSpPr>
            <a:spLocks xmlns:a="http://schemas.openxmlformats.org/drawingml/2006/main" noGrp="1"/>
          </p:cNvSpPr>
          <p:nvPr/>
        </p:nvSpPr>
        <p:spPr>
          <a:xfrm xmlns:a="http://schemas.openxmlformats.org/drawingml/2006/main">
            <a:off x="35242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55FDB51E-144A-4BF9-82A6-114EC3D393B3}"/>
              </a:ext>
            </a:extLst>
          </p:cNvPr>
          <p:cNvSpPr>
            <a:spLocks xmlns:a="http://schemas.openxmlformats.org/drawingml/2006/main" noGrp="1"/>
          </p:cNvSpPr>
          <p:nvPr/>
        </p:nvSpPr>
        <p:spPr>
          <a:xfrm xmlns:a="http://schemas.openxmlformats.org/drawingml/2006/main">
            <a:off x="36957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0" name="">
            <a:extLst xmlns:a="http://schemas.openxmlformats.org/drawingml/2006/main">
              <a:ext uri="{FF2B5EF4-FFF2-40B4-BE49-F238E27FC236}">
                <a16:creationId xmlns:a16="http://schemas.microsoft.com/office/drawing/2014/main" id="{CFA9506F-CD5E-4586-8F00-B64E94B37AA6}"/>
              </a:ext>
            </a:extLst>
          </p:cNvPr>
          <p:cNvSpPr>
            <a:spLocks xmlns:a="http://schemas.openxmlformats.org/drawingml/2006/main" noGrp="1"/>
          </p:cNvSpPr>
          <p:nvPr/>
        </p:nvSpPr>
        <p:spPr>
          <a:xfrm xmlns:a="http://schemas.openxmlformats.org/drawingml/2006/main">
            <a:off x="36957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27.6%</a:t>
            </a:r>
          </a:p>
        </p:txBody>
      </p:sp>
      <p:sp>
        <p:nvSpPr>
          <p:cNvPr id="11" name="">
            <a:extLst xmlns:a="http://schemas.openxmlformats.org/drawingml/2006/main">
              <a:ext uri="{FF2B5EF4-FFF2-40B4-BE49-F238E27FC236}">
                <a16:creationId xmlns:a16="http://schemas.microsoft.com/office/drawing/2014/main" id="{508DAD1C-37B6-495D-B19E-40E97E5C1F78}"/>
              </a:ext>
            </a:extLst>
          </p:cNvPr>
          <p:cNvSpPr>
            <a:spLocks xmlns:a="http://schemas.openxmlformats.org/drawingml/2006/main" noGrp="1"/>
          </p:cNvSpPr>
          <p:nvPr/>
        </p:nvSpPr>
        <p:spPr>
          <a:xfrm xmlns:a="http://schemas.openxmlformats.org/drawingml/2006/main">
            <a:off x="36957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Stayed flat 68.3% of decision rows.</a:t>
            </a:r>
          </a:p>
        </p:txBody>
      </p:sp>
      <p:sp>
        <p:nvSpPr>
          <p:cNvPr id="12" name="">
            <a:extLst xmlns:a="http://schemas.openxmlformats.org/drawingml/2006/main">
              <a:ext uri="{FF2B5EF4-FFF2-40B4-BE49-F238E27FC236}">
                <a16:creationId xmlns:a16="http://schemas.microsoft.com/office/drawing/2014/main" id="{12B80BCE-BBBE-4153-964C-20FBB7076554}"/>
              </a:ext>
            </a:extLst>
          </p:cNvPr>
          <p:cNvSpPr>
            <a:spLocks xmlns:a="http://schemas.openxmlformats.org/drawingml/2006/main" noGrp="1"/>
          </p:cNvSpPr>
          <p:nvPr/>
        </p:nvSpPr>
        <p:spPr>
          <a:xfrm xmlns:a="http://schemas.openxmlformats.org/drawingml/2006/main">
            <a:off x="62293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4554ECFB-BA7E-4D47-8C45-7105DF44305E}"/>
              </a:ext>
            </a:extLst>
          </p:cNvPr>
          <p:cNvSpPr>
            <a:spLocks xmlns:a="http://schemas.openxmlformats.org/drawingml/2006/main" noGrp="1"/>
          </p:cNvSpPr>
          <p:nvPr/>
        </p:nvSpPr>
        <p:spPr>
          <a:xfrm xmlns:a="http://schemas.openxmlformats.org/drawingml/2006/main">
            <a:off x="64008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ACTIVE</a:t>
            </a:r>
          </a:p>
        </p:txBody>
      </p:sp>
      <p:sp>
        <p:nvSpPr>
          <p:cNvPr id="14" name="">
            <a:extLst xmlns:a="http://schemas.openxmlformats.org/drawingml/2006/main">
              <a:ext uri="{FF2B5EF4-FFF2-40B4-BE49-F238E27FC236}">
                <a16:creationId xmlns:a16="http://schemas.microsoft.com/office/drawing/2014/main" id="{8C8A7B30-0E8E-4F5D-B072-D7DF70C6E7B0}"/>
              </a:ext>
            </a:extLst>
          </p:cNvPr>
          <p:cNvSpPr>
            <a:spLocks xmlns:a="http://schemas.openxmlformats.org/drawingml/2006/main" noGrp="1"/>
          </p:cNvSpPr>
          <p:nvPr/>
        </p:nvSpPr>
        <p:spPr>
          <a:xfrm xmlns:a="http://schemas.openxmlformats.org/drawingml/2006/main">
            <a:off x="64008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-42.4%</a:t>
            </a:r>
          </a:p>
        </p:txBody>
      </p:sp>
      <p:sp>
        <p:nvSpPr>
          <p:cNvPr id="15" name="">
            <a:extLst xmlns:a="http://schemas.openxmlformats.org/drawingml/2006/main">
              <a:ext uri="{FF2B5EF4-FFF2-40B4-BE49-F238E27FC236}">
                <a16:creationId xmlns:a16="http://schemas.microsoft.com/office/drawing/2014/main" id="{0CB0C170-B256-4DC5-9B57-C554D4477157}"/>
              </a:ext>
            </a:extLst>
          </p:cNvPr>
          <p:cNvSpPr>
            <a:spLocks xmlns:a="http://schemas.openxmlformats.org/drawingml/2006/main" noGrp="1"/>
          </p:cNvSpPr>
          <p:nvPr/>
        </p:nvSpPr>
        <p:spPr>
          <a:xfrm xmlns:a="http://schemas.openxmlformats.org/drawingml/2006/main">
            <a:off x="64008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-54.2%</a:t>
            </a:r>
          </a:p>
        </p:txBody>
      </p:sp>
      <p:sp>
        <p:nvSpPr>
          <p:cNvPr id="16" name="">
            <a:extLst xmlns:a="http://schemas.openxmlformats.org/drawingml/2006/main">
              <a:ext uri="{FF2B5EF4-FFF2-40B4-BE49-F238E27FC236}">
                <a16:creationId xmlns:a16="http://schemas.microsoft.com/office/drawing/2014/main" id="{E13226E3-CE67-4DD1-8184-3F9B99553BE5}"/>
              </a:ext>
            </a:extLst>
          </p:cNvPr>
          <p:cNvSpPr>
            <a:spLocks xmlns:a="http://schemas.openxmlformats.org/drawingml/2006/main" noGrp="1"/>
          </p:cNvSpPr>
          <p:nvPr/>
        </p:nvSpPr>
        <p:spPr>
          <a:xfrm xmlns:a="http://schemas.openxmlformats.org/drawingml/2006/main">
            <a:off x="89344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07902612-41E9-4BA5-94DF-F914A3CA0EF5}"/>
              </a:ext>
            </a:extLst>
          </p:cNvPr>
          <p:cNvSpPr>
            <a:spLocks xmlns:a="http://schemas.openxmlformats.org/drawingml/2006/main" noGrp="1"/>
          </p:cNvSpPr>
          <p:nvPr/>
        </p:nvSpPr>
        <p:spPr>
          <a:xfrm xmlns:a="http://schemas.openxmlformats.org/drawingml/2006/main">
            <a:off x="91059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8" name="">
            <a:extLst xmlns:a="http://schemas.openxmlformats.org/drawingml/2006/main">
              <a:ext uri="{FF2B5EF4-FFF2-40B4-BE49-F238E27FC236}">
                <a16:creationId xmlns:a16="http://schemas.microsoft.com/office/drawing/2014/main" id="{91662AFC-0D9D-48EF-99D5-8E9A622AAC78}"/>
              </a:ext>
            </a:extLst>
          </p:cNvPr>
          <p:cNvSpPr>
            <a:spLocks xmlns:a="http://schemas.openxmlformats.org/drawingml/2006/main" noGrp="1"/>
          </p:cNvSpPr>
          <p:nvPr/>
        </p:nvSpPr>
        <p:spPr>
          <a:xfrm xmlns:a="http://schemas.openxmlformats.org/drawingml/2006/main">
            <a:off x="91059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9" name="">
            <a:extLst xmlns:a="http://schemas.openxmlformats.org/drawingml/2006/main">
              <a:ext uri="{FF2B5EF4-FFF2-40B4-BE49-F238E27FC236}">
                <a16:creationId xmlns:a16="http://schemas.microsoft.com/office/drawing/2014/main" id="{7CE162F6-D44A-4054-9C99-D3EAE6231D83}"/>
              </a:ext>
            </a:extLst>
          </p:cNvPr>
          <p:cNvSpPr>
            <a:spLocks xmlns:a="http://schemas.openxmlformats.org/drawingml/2006/main" noGrp="1"/>
          </p:cNvSpPr>
          <p:nvPr/>
        </p:nvSpPr>
        <p:spPr>
          <a:xfrm xmlns:a="http://schemas.openxmlformats.org/drawingml/2006/main">
            <a:off x="91059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fit only; OOS prediction only.</a:t>
            </a:r>
          </a:p>
        </p:txBody>
      </p:sp>
      <p:sp>
        <p:nvSpPr>
          <p:cNvPr id="20" name="">
            <a:extLst xmlns:a="http://schemas.openxmlformats.org/drawingml/2006/main">
              <a:ext uri="{FF2B5EF4-FFF2-40B4-BE49-F238E27FC236}">
                <a16:creationId xmlns:a16="http://schemas.microsoft.com/office/drawing/2014/main" id="{581104E1-C7EA-4538-B2A2-8350FE3B8797}"/>
              </a:ext>
            </a:extLst>
          </p:cNvPr>
          <p:cNvSpPr>
            <a:spLocks xmlns:a="http://schemas.openxmlformats.org/drawingml/2006/main" noGrp="1"/>
          </p:cNvSpPr>
          <p:nvPr/>
        </p:nvSpPr>
        <p:spPr>
          <a:xfrm xmlns:a="http://schemas.openxmlformats.org/drawingml/2006/main">
            <a:off x="1066800" y="4095750"/>
            <a:ext cx="9334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first GLM replay proves the mechanics, but not the alpha thesis. It missed most of the 2020 rally and was useful mainly as partial 2022 defense.</a:t>
            </a:r>
          </a:p>
        </p:txBody>
      </p:sp>
    </p:spTree>
    <p:extLst>
      <p:ext uri="{BB962C8B-B14F-4D97-AF65-F5344CB8AC3E}">
        <p14:creationId xmlns:p14="http://schemas.microsoft.com/office/powerpoint/2010/main" val="102597353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50E9BDB-817F-4FC6-B7AF-8FD489042DB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7EEE289-3D4F-49F4-AB83-2B0AAAFA59D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 shows the same participation problem we have been chasing</a:t>
            </a:r>
          </a:p>
        </p:txBody>
      </p:sp>
      <p:sp>
        <p:nvSpPr>
          <p:cNvPr id="3" name="">
            <a:extLst xmlns:a="http://schemas.openxmlformats.org/drawingml/2006/main">
              <a:ext uri="{FF2B5EF4-FFF2-40B4-BE49-F238E27FC236}">
                <a16:creationId xmlns:a16="http://schemas.microsoft.com/office/drawing/2014/main" id="{954A7751-0D17-4613-9367-B16CFFA3921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0f0274587ac47d0"/>
          <a:stretch xmlns:a="http://schemas.openxmlformats.org/drawingml/2006/main"/>
        </p:blipFill>
        <p:spPr>
          <a:xfrm xmlns:a="http://schemas.openxmlformats.org/drawingml/2006/main">
            <a:off x="868680" y="2000250"/>
            <a:ext cx="683514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2CF3325-DB3D-434C-9780-B7C509A7F8D3}"/>
              </a:ext>
            </a:extLst>
          </p:cNvPr>
          <p:cNvSpPr>
            <a:spLocks xmlns:a="http://schemas.openxmlformats.org/drawingml/2006/main" noGrp="1"/>
          </p:cNvSpPr>
          <p:nvPr/>
        </p:nvSpPr>
        <p:spPr>
          <a:xfrm xmlns:a="http://schemas.openxmlformats.org/drawingml/2006/main">
            <a:off x="84772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Interpretation</a:t>
            </a:r>
          </a:p>
        </p:txBody>
      </p:sp>
      <p:sp>
        <p:nvSpPr>
          <p:cNvPr id="6" name="">
            <a:extLst xmlns:a="http://schemas.openxmlformats.org/drawingml/2006/main">
              <a:ext uri="{FF2B5EF4-FFF2-40B4-BE49-F238E27FC236}">
                <a16:creationId xmlns:a16="http://schemas.microsoft.com/office/drawing/2014/main" id="{2BA7F408-2B29-414A-939C-4A3E720221D7}"/>
              </a:ext>
            </a:extLst>
          </p:cNvPr>
          <p:cNvSpPr>
            <a:spLocks xmlns:a="http://schemas.openxmlformats.org/drawingml/2006/main" noGrp="1"/>
          </p:cNvSpPr>
          <p:nvPr/>
        </p:nvSpPr>
        <p:spPr>
          <a:xfrm xmlns:a="http://schemas.openxmlformats.org/drawingml/2006/main">
            <a:off x="8477250" y="268605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In 2020, the model stayed too cautious while the basket compounded aggressively. In 2022, the model preserved capital relative to the falling basket, but it was still not cleanly risk-off.</a:t>
            </a:r>
          </a:p>
        </p:txBody>
      </p:sp>
    </p:spTree>
    <p:extLst>
      <p:ext uri="{BB962C8B-B14F-4D97-AF65-F5344CB8AC3E}">
        <p14:creationId xmlns:p14="http://schemas.microsoft.com/office/powerpoint/2010/main" val="18443744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3003AC8-D24E-4F83-AA39-28F3B36DF23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B44923C-31EC-438D-A003-05C0FB620FC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trade tapes show what the policy actually did</a:t>
            </a:r>
          </a:p>
        </p:txBody>
      </p:sp>
      <p:sp>
        <p:nvSpPr>
          <p:cNvPr id="3" name="">
            <a:extLst xmlns:a="http://schemas.openxmlformats.org/drawingml/2006/main">
              <a:ext uri="{FF2B5EF4-FFF2-40B4-BE49-F238E27FC236}">
                <a16:creationId xmlns:a16="http://schemas.microsoft.com/office/drawing/2014/main" id="{56D09ECC-FC44-4582-8013-18DFE6CD445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50220c4b4324f3b"/>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8575550-AF2F-4D3E-BFA0-8F87F146DC39}"/>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this reveals</a:t>
            </a:r>
          </a:p>
        </p:txBody>
      </p:sp>
      <p:sp>
        <p:nvSpPr>
          <p:cNvPr id="6" name="">
            <a:extLst xmlns:a="http://schemas.openxmlformats.org/drawingml/2006/main">
              <a:ext uri="{FF2B5EF4-FFF2-40B4-BE49-F238E27FC236}">
                <a16:creationId xmlns:a16="http://schemas.microsoft.com/office/drawing/2014/main" id="{A23A23D1-2102-4CF6-960F-DA409A8F48B9}"/>
              </a:ext>
            </a:extLst>
          </p:cNvPr>
          <p:cNvSpPr>
            <a:spLocks xmlns:a="http://schemas.openxmlformats.org/drawingml/2006/main" noGrp="1"/>
          </p:cNvSpPr>
          <p:nvPr/>
        </p:nvSpPr>
        <p:spPr>
          <a:xfrm xmlns:a="http://schemas.openxmlformats.org/drawingml/2006/main">
            <a:off x="8477250" y="270510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probability trace is now an inspectable decision surface. We can see whether missed upside comes from low predicted probabilities, high thresholds, or replay mechanics.</a:t>
            </a:r>
          </a:p>
        </p:txBody>
      </p:sp>
    </p:spTree>
    <p:extLst>
      <p:ext uri="{BB962C8B-B14F-4D97-AF65-F5344CB8AC3E}">
        <p14:creationId xmlns:p14="http://schemas.microsoft.com/office/powerpoint/2010/main" val="130503499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2138BED-1277-44C0-AABB-2C9B7D62820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6A8FCD4-007E-4C6B-B448-F3375EB1381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diagnostics point to threshold and calibration questions</a:t>
            </a:r>
          </a:p>
        </p:txBody>
      </p:sp>
      <p:sp>
        <p:nvSpPr>
          <p:cNvPr id="3" name="">
            <a:extLst xmlns:a="http://schemas.openxmlformats.org/drawingml/2006/main">
              <a:ext uri="{FF2B5EF4-FFF2-40B4-BE49-F238E27FC236}">
                <a16:creationId xmlns:a16="http://schemas.microsoft.com/office/drawing/2014/main" id="{B9C48CC0-17F4-4D8A-B1D2-426744918F8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60f8f4cab534491"/>
          <a:stretch xmlns:a="http://schemas.openxmlformats.org/drawingml/2006/main"/>
        </p:blipFill>
        <p:spPr>
          <a:xfrm xmlns:a="http://schemas.openxmlformats.org/drawingml/2006/main">
            <a:off x="704850" y="2415381"/>
            <a:ext cx="4762500" cy="2579688"/>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8f32a154a7d4ac2"/>
          <a:stretch xmlns:a="http://schemas.openxmlformats.org/drawingml/2006/main"/>
        </p:blipFill>
        <p:spPr>
          <a:xfrm xmlns:a="http://schemas.openxmlformats.org/drawingml/2006/main">
            <a:off x="5962650" y="2415381"/>
            <a:ext cx="4762500" cy="257968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1C56013-8958-4A46-ADC9-082C907292B8}"/>
              </a:ext>
            </a:extLst>
          </p:cNvPr>
          <p:cNvSpPr>
            <a:spLocks xmlns:a="http://schemas.openxmlformats.org/drawingml/2006/main" noGrp="1"/>
          </p:cNvSpPr>
          <p:nvPr/>
        </p:nvSpPr>
        <p:spPr>
          <a:xfrm xmlns:a="http://schemas.openxmlformats.org/drawingml/2006/main">
            <a:off x="1104900" y="5753100"/>
            <a:ext cx="933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Fixed thresholds are intentionally crude. The next improvement should be TRAIN-only threshold selection and probability calibration, not a rush to a more complex model.</a:t>
            </a:r>
          </a:p>
        </p:txBody>
      </p:sp>
    </p:spTree>
    <p:extLst>
      <p:ext uri="{BB962C8B-B14F-4D97-AF65-F5344CB8AC3E}">
        <p14:creationId xmlns:p14="http://schemas.microsoft.com/office/powerpoint/2010/main" val="195276579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90E98F3-9368-4606-A485-50BB9854FD5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63D5789-1100-47C8-99E3-39677C19890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coefficient audit keeps the simple model explainable</a:t>
            </a:r>
          </a:p>
        </p:txBody>
      </p:sp>
      <p:sp>
        <p:nvSpPr>
          <p:cNvPr id="3" name="">
            <a:extLst xmlns:a="http://schemas.openxmlformats.org/drawingml/2006/main">
              <a:ext uri="{FF2B5EF4-FFF2-40B4-BE49-F238E27FC236}">
                <a16:creationId xmlns:a16="http://schemas.microsoft.com/office/drawing/2014/main" id="{6E0B1456-B152-4923-8DC1-EA1CC3332C3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c18c5e8799b460b"/>
          <a:stretch xmlns:a="http://schemas.openxmlformats.org/drawingml/2006/main"/>
        </p:blipFill>
        <p:spPr>
          <a:xfrm xmlns:a="http://schemas.openxmlformats.org/drawingml/2006/main">
            <a:off x="1371600" y="2038350"/>
            <a:ext cx="5448300" cy="3714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9B14980-0891-48EB-BB62-F8AA4FEF956A}"/>
              </a:ext>
            </a:extLst>
          </p:cNvPr>
          <p:cNvSpPr>
            <a:spLocks xmlns:a="http://schemas.openxmlformats.org/drawingml/2006/main" noGrp="1"/>
          </p:cNvSpPr>
          <p:nvPr/>
        </p:nvSpPr>
        <p:spPr>
          <a:xfrm xmlns:a="http://schemas.openxmlformats.org/drawingml/2006/main">
            <a:off x="80962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GLM still earns its keep</a:t>
            </a:r>
          </a:p>
        </p:txBody>
      </p:sp>
      <p:sp>
        <p:nvSpPr>
          <p:cNvPr id="6" name="">
            <a:extLst xmlns:a="http://schemas.openxmlformats.org/drawingml/2006/main">
              <a:ext uri="{FF2B5EF4-FFF2-40B4-BE49-F238E27FC236}">
                <a16:creationId xmlns:a16="http://schemas.microsoft.com/office/drawing/2014/main" id="{045014B7-4725-49FC-BFAA-0A2C54048ABC}"/>
              </a:ext>
            </a:extLst>
          </p:cNvPr>
          <p:cNvSpPr>
            <a:spLocks xmlns:a="http://schemas.openxmlformats.org/drawingml/2006/main" noGrp="1"/>
          </p:cNvSpPr>
          <p:nvPr/>
        </p:nvSpPr>
        <p:spPr>
          <a:xfrm xmlns:a="http://schemas.openxmlformats.org/drawingml/2006/main">
            <a:off x="8096250" y="2743200"/>
            <a:ext cx="27241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Even when performance is underwhelming, coefficients expose what the model is leaning on. That makes GLM a useful diagnostic bridge before XGBoost.</a:t>
            </a:r>
          </a:p>
        </p:txBody>
      </p:sp>
    </p:spTree>
    <p:extLst>
      <p:ext uri="{BB962C8B-B14F-4D97-AF65-F5344CB8AC3E}">
        <p14:creationId xmlns:p14="http://schemas.microsoft.com/office/powerpoint/2010/main" val="14564036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94AAAB3-7A15-492E-962F-804F3427966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16EEE98-9AFA-42A0-A034-62F48888E15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slice should improve the decision policy before model complexity</a:t>
            </a:r>
          </a:p>
        </p:txBody>
      </p:sp>
      <p:sp>
        <p:nvSpPr>
          <p:cNvPr id="3" name="">
            <a:extLst xmlns:a="http://schemas.openxmlformats.org/drawingml/2006/main">
              <a:ext uri="{FF2B5EF4-FFF2-40B4-BE49-F238E27FC236}">
                <a16:creationId xmlns:a16="http://schemas.microsoft.com/office/drawing/2014/main" id="{D50D76B0-02FC-4F3A-B914-A1B0E0D7036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0EE065C-FEC8-456C-B3A7-D3E92633AE55}"/>
              </a:ext>
            </a:extLst>
          </p:cNvPr>
          <p:cNvSpPr>
            <a:spLocks xmlns:a="http://schemas.openxmlformats.org/drawingml/2006/main" noGrp="1"/>
          </p:cNvSpPr>
          <p:nvPr/>
        </p:nvSpPr>
        <p:spPr>
          <a:xfrm xmlns:a="http://schemas.openxmlformats.org/drawingml/2006/main">
            <a:off x="876300" y="2133600"/>
            <a:ext cx="895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 worked mechanically and exposed a familiar failure mode: too little upside participation in 2020, partial defense in 2022.</a:t>
            </a:r>
          </a:p>
        </p:txBody>
      </p:sp>
      <p:sp>
        <p:nvSpPr>
          <p:cNvPr id="5" name="">
            <a:extLst xmlns:a="http://schemas.openxmlformats.org/drawingml/2006/main">
              <a:ext uri="{FF2B5EF4-FFF2-40B4-BE49-F238E27FC236}">
                <a16:creationId xmlns:a16="http://schemas.microsoft.com/office/drawing/2014/main" id="{8A43DD1A-4810-44DA-AFC0-98C2F7080FCC}"/>
              </a:ext>
            </a:extLst>
          </p:cNvPr>
          <p:cNvSpPr>
            <a:spLocks xmlns:a="http://schemas.openxmlformats.org/drawingml/2006/main" noGrp="1"/>
          </p:cNvSpPr>
          <p:nvPr/>
        </p:nvSpPr>
        <p:spPr>
          <a:xfrm xmlns:a="http://schemas.openxmlformats.org/drawingml/2006/main">
            <a:off x="1219200" y="34575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F5C72E2D-CF7C-4E8E-A64A-47FD0A985F47}"/>
              </a:ext>
            </a:extLst>
          </p:cNvPr>
          <p:cNvSpPr>
            <a:spLocks xmlns:a="http://schemas.openxmlformats.org/drawingml/2006/main" noGrp="1"/>
          </p:cNvSpPr>
          <p:nvPr/>
        </p:nvSpPr>
        <p:spPr>
          <a:xfrm xmlns:a="http://schemas.openxmlformats.org/drawingml/2006/main">
            <a:off x="1485900" y="34480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Add TRAIN-only threshold selection or calibration before XGBoost.</a:t>
            </a:r>
          </a:p>
        </p:txBody>
      </p:sp>
      <p:sp>
        <p:nvSpPr>
          <p:cNvPr id="7" name="">
            <a:extLst xmlns:a="http://schemas.openxmlformats.org/drawingml/2006/main">
              <a:ext uri="{FF2B5EF4-FFF2-40B4-BE49-F238E27FC236}">
                <a16:creationId xmlns:a16="http://schemas.microsoft.com/office/drawing/2014/main" id="{DD737E68-3A41-4FC9-A981-DADA652047F1}"/>
              </a:ext>
            </a:extLst>
          </p:cNvPr>
          <p:cNvSpPr>
            <a:spLocks xmlns:a="http://schemas.openxmlformats.org/drawingml/2006/main" noGrp="1"/>
          </p:cNvSpPr>
          <p:nvPr/>
        </p:nvSpPr>
        <p:spPr>
          <a:xfrm xmlns:a="http://schemas.openxmlformats.org/drawingml/2006/main">
            <a:off x="12192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FF620FE5-6E6A-4A8D-AA0C-F9154C3D6955}"/>
              </a:ext>
            </a:extLst>
          </p:cNvPr>
          <p:cNvSpPr>
            <a:spLocks xmlns:a="http://schemas.openxmlformats.org/drawingml/2006/main" noGrp="1"/>
          </p:cNvSpPr>
          <p:nvPr/>
        </p:nvSpPr>
        <p:spPr>
          <a:xfrm xmlns:a="http://schemas.openxmlformats.org/drawingml/2006/main">
            <a:off x="1485900" y="41148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fixed thresholds against a more permissive participation policy.</a:t>
            </a:r>
          </a:p>
        </p:txBody>
      </p:sp>
      <p:sp>
        <p:nvSpPr>
          <p:cNvPr id="9" name="">
            <a:extLst xmlns:a="http://schemas.openxmlformats.org/drawingml/2006/main">
              <a:ext uri="{FF2B5EF4-FFF2-40B4-BE49-F238E27FC236}">
                <a16:creationId xmlns:a16="http://schemas.microsoft.com/office/drawing/2014/main" id="{84249277-D5F0-44EE-9D67-31756A2D6672}"/>
              </a:ext>
            </a:extLst>
          </p:cNvPr>
          <p:cNvSpPr>
            <a:spLocks xmlns:a="http://schemas.openxmlformats.org/drawingml/2006/main" noGrp="1"/>
          </p:cNvSpPr>
          <p:nvPr/>
        </p:nvSpPr>
        <p:spPr>
          <a:xfrm xmlns:a="http://schemas.openxmlformats.org/drawingml/2006/main">
            <a:off x="1219200" y="47910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6BFCBF9D-6B32-4301-8C9D-647B507CE796}"/>
              </a:ext>
            </a:extLst>
          </p:cNvPr>
          <p:cNvSpPr>
            <a:spLocks xmlns:a="http://schemas.openxmlformats.org/drawingml/2006/main" noGrp="1"/>
          </p:cNvSpPr>
          <p:nvPr/>
        </p:nvSpPr>
        <p:spPr>
          <a:xfrm xmlns:a="http://schemas.openxmlformats.org/drawingml/2006/main">
            <a:off x="1485900" y="47815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probability trade tapes as the required visual audit for every ML replay.</a:t>
            </a:r>
          </a:p>
        </p:txBody>
      </p:sp>
      <p:sp>
        <p:nvSpPr>
          <p:cNvPr id="11" name="">
            <a:extLst xmlns:a="http://schemas.openxmlformats.org/drawingml/2006/main">
              <a:ext uri="{FF2B5EF4-FFF2-40B4-BE49-F238E27FC236}">
                <a16:creationId xmlns:a16="http://schemas.microsoft.com/office/drawing/2014/main" id="{7A89B666-140A-480B-8B6E-6444278465B0}"/>
              </a:ext>
            </a:extLst>
          </p:cNvPr>
          <p:cNvSpPr>
            <a:spLocks xmlns:a="http://schemas.openxmlformats.org/drawingml/2006/main" noGrp="1"/>
          </p:cNvSpPr>
          <p:nvPr/>
        </p:nvSpPr>
        <p:spPr>
          <a:xfrm xmlns:a="http://schemas.openxmlformats.org/drawingml/2006/main">
            <a:off x="1219200" y="54578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D4BCADA9-F576-4D32-BE81-B1E0E443E07F}"/>
              </a:ext>
            </a:extLst>
          </p:cNvPr>
          <p:cNvSpPr>
            <a:spLocks xmlns:a="http://schemas.openxmlformats.org/drawingml/2006/main" noGrp="1"/>
          </p:cNvSpPr>
          <p:nvPr/>
        </p:nvSpPr>
        <p:spPr>
          <a:xfrm xmlns:a="http://schemas.openxmlformats.org/drawingml/2006/main">
            <a:off x="1485900" y="54483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Only then add XGBoost as a nonlinear challenger.</a:t>
            </a:r>
          </a:p>
        </p:txBody>
      </p:sp>
    </p:spTree>
    <p:extLst>
      <p:ext uri="{BB962C8B-B14F-4D97-AF65-F5344CB8AC3E}">
        <p14:creationId xmlns:p14="http://schemas.microsoft.com/office/powerpoint/2010/main" val="69125680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CA0C937-F5E1-42A6-9554-9182FA127E89}"/>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DFABC659-AD08-4038-8DFE-B976D62121AF}"/>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Threshold policy is the first decision layer to audit</a:t>
            </a:r>
          </a:p>
        </p:txBody>
      </p:sp>
      <p:sp>
        <p:nvSpPr>
          <p:cNvPr id="3" name="">
            <a:extLst xmlns:a="http://schemas.openxmlformats.org/drawingml/2006/main">
              <a:ext uri="{FF2B5EF4-FFF2-40B4-BE49-F238E27FC236}">
                <a16:creationId xmlns:a16="http://schemas.microsoft.com/office/drawing/2014/main" id="{EF5E36B4-A530-4CDE-815D-1B89BDAE610C}"/>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7FC5C5-117C-4D27-9902-E0105A81C870}"/>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ML-P1b keeps the GLM fixed and changes only the rule that converts probability into long/flat exposure. Thresholds are chosen before OOS replay using TRAIN data only.</a:t>
            </a:r>
          </a:p>
        </p:txBody>
      </p:sp>
      <p:sp>
        <p:nvSpPr>
          <p:cNvPr id="5" name="">
            <a:extLst xmlns:a="http://schemas.openxmlformats.org/drawingml/2006/main">
              <a:ext uri="{FF2B5EF4-FFF2-40B4-BE49-F238E27FC236}">
                <a16:creationId xmlns:a16="http://schemas.microsoft.com/office/drawing/2014/main" id="{DF4491D5-E5D3-4230-820D-32F133C162C8}"/>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54273CC-592B-417A-99BA-AF2B86F11687}"/>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ML-P1b</a:t>
            </a:r>
          </a:p>
        </p:txBody>
      </p:sp>
      <p:sp>
        <p:nvSpPr>
          <p:cNvPr id="7" name="">
            <a:extLst xmlns:a="http://schemas.openxmlformats.org/drawingml/2006/main">
              <a:ext uri="{FF2B5EF4-FFF2-40B4-BE49-F238E27FC236}">
                <a16:creationId xmlns:a16="http://schemas.microsoft.com/office/drawing/2014/main" id="{EC24F342-A6A1-4E96-86ED-D1C6B77FA4F9}"/>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Threshold diagnostic</a:t>
            </a:r>
          </a:p>
        </p:txBody>
      </p:sp>
    </p:spTree>
    <p:extLst>
      <p:ext uri="{BB962C8B-B14F-4D97-AF65-F5344CB8AC3E}">
        <p14:creationId xmlns:p14="http://schemas.microsoft.com/office/powerpoint/2010/main" val="14817713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C52D6C1-8A0D-4332-AEAB-7150BA0AEA6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B96313B-398B-44EA-A77C-BA66BB8347E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participation policy helped, but not enough</a:t>
            </a:r>
          </a:p>
        </p:txBody>
      </p:sp>
      <p:sp>
        <p:nvSpPr>
          <p:cNvPr id="3" name="">
            <a:extLst xmlns:a="http://schemas.openxmlformats.org/drawingml/2006/main">
              <a:ext uri="{FF2B5EF4-FFF2-40B4-BE49-F238E27FC236}">
                <a16:creationId xmlns:a16="http://schemas.microsoft.com/office/drawing/2014/main" id="{53B17C90-16BB-47AF-9550-3B47012C262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03581D2-39D2-4D6D-8C7A-D4668AC8B4C4}"/>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94C4991D-A57B-4812-BEE3-1585442E87A2}"/>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POLICIES TESTED</a:t>
            </a:r>
          </a:p>
        </p:txBody>
      </p:sp>
      <p:sp>
        <p:nvSpPr>
          <p:cNvPr id="6" name="">
            <a:extLst xmlns:a="http://schemas.openxmlformats.org/drawingml/2006/main">
              <a:ext uri="{FF2B5EF4-FFF2-40B4-BE49-F238E27FC236}">
                <a16:creationId xmlns:a16="http://schemas.microsoft.com/office/drawing/2014/main" id="{1C6BD2E3-E384-48F6-AEA7-BDB16A0B5928}"/>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a:t>
            </a:r>
          </a:p>
        </p:txBody>
      </p:sp>
      <p:sp>
        <p:nvSpPr>
          <p:cNvPr id="7" name="">
            <a:extLst xmlns:a="http://schemas.openxmlformats.org/drawingml/2006/main">
              <a:ext uri="{FF2B5EF4-FFF2-40B4-BE49-F238E27FC236}">
                <a16:creationId xmlns:a16="http://schemas.microsoft.com/office/drawing/2014/main" id="{0A17F6DC-6948-456B-8CCC-6D284B82999C}"/>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TRAIN quantile, and TRAIN forward-return grid.</a:t>
            </a:r>
          </a:p>
        </p:txBody>
      </p:sp>
      <p:sp>
        <p:nvSpPr>
          <p:cNvPr id="8" name="">
            <a:extLst xmlns:a="http://schemas.openxmlformats.org/drawingml/2006/main">
              <a:ext uri="{FF2B5EF4-FFF2-40B4-BE49-F238E27FC236}">
                <a16:creationId xmlns:a16="http://schemas.microsoft.com/office/drawing/2014/main" id="{D3E30586-CB03-46C4-B98B-1B1442C8B116}"/>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EB59983F-33FE-4D86-9042-9EDF86AB1327}"/>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10" name="">
            <a:extLst xmlns:a="http://schemas.openxmlformats.org/drawingml/2006/main">
              <a:ext uri="{FF2B5EF4-FFF2-40B4-BE49-F238E27FC236}">
                <a16:creationId xmlns:a16="http://schemas.microsoft.com/office/drawing/2014/main" id="{708ADEEF-0B53-460F-8134-8F29AC11B700}"/>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1" name="">
            <a:extLst xmlns:a="http://schemas.openxmlformats.org/drawingml/2006/main">
              <a:ext uri="{FF2B5EF4-FFF2-40B4-BE49-F238E27FC236}">
                <a16:creationId xmlns:a16="http://schemas.microsoft.com/office/drawing/2014/main" id="{782D4917-6ECD-4AB8-AB84-8B3DB640C23B}"/>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and policy selection stay inside TRAIN.</a:t>
            </a:r>
          </a:p>
        </p:txBody>
      </p:sp>
      <p:sp>
        <p:nvSpPr>
          <p:cNvPr id="12" name="">
            <a:extLst xmlns:a="http://schemas.openxmlformats.org/drawingml/2006/main">
              <a:ext uri="{FF2B5EF4-FFF2-40B4-BE49-F238E27FC236}">
                <a16:creationId xmlns:a16="http://schemas.microsoft.com/office/drawing/2014/main" id="{E6429A1F-2246-4750-92DB-F9CFB029B063}"/>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34DE319F-93D4-4C9E-B8F7-720FC0103CE6}"/>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GRID RETURN</a:t>
            </a:r>
          </a:p>
        </p:txBody>
      </p:sp>
      <p:sp>
        <p:nvSpPr>
          <p:cNvPr id="14" name="">
            <a:extLst xmlns:a="http://schemas.openxmlformats.org/drawingml/2006/main">
              <a:ext uri="{FF2B5EF4-FFF2-40B4-BE49-F238E27FC236}">
                <a16:creationId xmlns:a16="http://schemas.microsoft.com/office/drawing/2014/main" id="{F3CC4DFE-BD04-44CF-9600-FA485B0343CC}"/>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19BCBEF1-A980-43FD-9469-AB94CA674512}"/>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8.0%; basket hold was 214.0%.</a:t>
            </a:r>
          </a:p>
        </p:txBody>
      </p:sp>
      <p:sp>
        <p:nvSpPr>
          <p:cNvPr id="16" name="">
            <a:extLst xmlns:a="http://schemas.openxmlformats.org/drawingml/2006/main">
              <a:ext uri="{FF2B5EF4-FFF2-40B4-BE49-F238E27FC236}">
                <a16:creationId xmlns:a16="http://schemas.microsoft.com/office/drawing/2014/main" id="{236A5C79-B0BA-4B51-B54D-93F609542545}"/>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07992680-5CA2-4846-826B-13247E82300C}"/>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QUANTILE RETURN</a:t>
            </a:r>
          </a:p>
        </p:txBody>
      </p:sp>
      <p:sp>
        <p:nvSpPr>
          <p:cNvPr id="18" name="">
            <a:extLst xmlns:a="http://schemas.openxmlformats.org/drawingml/2006/main">
              <a:ext uri="{FF2B5EF4-FFF2-40B4-BE49-F238E27FC236}">
                <a16:creationId xmlns:a16="http://schemas.microsoft.com/office/drawing/2014/main" id="{120C1A7F-2E00-49EF-8C66-C2EEF4EC9A9D}"/>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-39.5%</a:t>
            </a:r>
          </a:p>
        </p:txBody>
      </p:sp>
      <p:sp>
        <p:nvSpPr>
          <p:cNvPr id="19" name="">
            <a:extLst xmlns:a="http://schemas.openxmlformats.org/drawingml/2006/main">
              <a:ext uri="{FF2B5EF4-FFF2-40B4-BE49-F238E27FC236}">
                <a16:creationId xmlns:a16="http://schemas.microsoft.com/office/drawing/2014/main" id="{0403FBC3-F40A-478B-A676-57FD9D8E5CC3}"/>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-42.4%; basket hold was -54.2%.</a:t>
            </a:r>
          </a:p>
        </p:txBody>
      </p:sp>
      <p:sp>
        <p:nvSpPr>
          <p:cNvPr id="20" name="">
            <a:extLst xmlns:a="http://schemas.openxmlformats.org/drawingml/2006/main">
              <a:ext uri="{FF2B5EF4-FFF2-40B4-BE49-F238E27FC236}">
                <a16:creationId xmlns:a16="http://schemas.microsoft.com/office/drawing/2014/main" id="{F3A02C8C-60F5-4663-A707-940FA620E7BA}"/>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grid policy raised 2020 exposure and return, which confirms threshold choice matters. It still left most of the high-beta rally unowned, so the problem is not just the original 0.55 / 0.50 cutoff.</a:t>
            </a:r>
          </a:p>
        </p:txBody>
      </p:sp>
    </p:spTree>
    <p:extLst>
      <p:ext uri="{BB962C8B-B14F-4D97-AF65-F5344CB8AC3E}">
        <p14:creationId xmlns:p14="http://schemas.microsoft.com/office/powerpoint/2010/main" val="47262629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4C404BF-BF1C-481E-A6D8-DBAFECF5D97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04D6FBD-6926-4D3C-B0F4-85FF687D910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a better but still underpowered rally response</a:t>
            </a:r>
          </a:p>
        </p:txBody>
      </p:sp>
      <p:sp>
        <p:nvSpPr>
          <p:cNvPr id="3" name="">
            <a:extLst xmlns:a="http://schemas.openxmlformats.org/drawingml/2006/main">
              <a:ext uri="{FF2B5EF4-FFF2-40B4-BE49-F238E27FC236}">
                <a16:creationId xmlns:a16="http://schemas.microsoft.com/office/drawing/2014/main" id="{35F9AF61-4A7D-4A90-88F3-A7AC5D5AD50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a4c07049ee742b1"/>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8D77230-BCAB-4804-B799-9432AF4DDB62}"/>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194295BB-A086-4629-BA19-E4ACAD6A9723}"/>
              </a:ext>
            </a:extLst>
          </p:cNvPr>
          <p:cNvSpPr>
            <a:spLocks xmlns:a="http://schemas.openxmlformats.org/drawingml/2006/main" noGrp="1"/>
          </p:cNvSpPr>
          <p:nvPr/>
        </p:nvSpPr>
        <p:spPr>
          <a:xfrm xmlns:a="http://schemas.openxmlformats.org/drawingml/2006/main">
            <a:off x="8477250" y="2705100"/>
            <a:ext cx="27051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grid policy lifted 2020 exposure from 27.6% to 34.8% and return from 8.0% to 30.0%. It still lagged the basket by -184.0%.</a:t>
            </a:r>
          </a:p>
        </p:txBody>
      </p:sp>
    </p:spTree>
    <p:extLst>
      <p:ext uri="{BB962C8B-B14F-4D97-AF65-F5344CB8AC3E}">
        <p14:creationId xmlns:p14="http://schemas.microsoft.com/office/powerpoint/2010/main" val="196870880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C7B5DDF-69FC-4666-B68C-714001AA481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08D2EBF-0805-4308-8C6C-69084A1C838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thresholds explain the behavior change</a:t>
            </a:r>
          </a:p>
        </p:txBody>
      </p:sp>
      <p:sp>
        <p:nvSpPr>
          <p:cNvPr id="3" name="">
            <a:extLst xmlns:a="http://schemas.openxmlformats.org/drawingml/2006/main">
              <a:ext uri="{FF2B5EF4-FFF2-40B4-BE49-F238E27FC236}">
                <a16:creationId xmlns:a16="http://schemas.microsoft.com/office/drawing/2014/main" id="{B79B52BD-3F24-4261-9448-7138A212A36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eb6c4abf02a4a93"/>
          <a:stretch xmlns:a="http://schemas.openxmlformats.org/drawingml/2006/main"/>
        </p:blipFill>
        <p:spPr>
          <a:xfrm xmlns:a="http://schemas.openxmlformats.org/drawingml/2006/main">
            <a:off x="704850" y="2423013"/>
            <a:ext cx="4762500" cy="2564423"/>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e584dad0f8604216"/>
          <a:stretch xmlns:a="http://schemas.openxmlformats.org/drawingml/2006/main"/>
        </p:blipFill>
        <p:spPr>
          <a:xfrm xmlns:a="http://schemas.openxmlformats.org/drawingml/2006/main">
            <a:off x="5962650" y="2382308"/>
            <a:ext cx="4762500" cy="264583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CBC567E-5775-4F02-8DE7-B110FE5E02DC}"/>
              </a:ext>
            </a:extLst>
          </p:cNvPr>
          <p:cNvSpPr>
            <a:spLocks xmlns:a="http://schemas.openxmlformats.org/drawingml/2006/main" noGrp="1"/>
          </p:cNvSpPr>
          <p:nvPr/>
        </p:nvSpPr>
        <p:spPr>
          <a:xfrm xmlns:a="http://schemas.openxmlformats.org/drawingml/2006/main">
            <a:off x="1104900" y="5753100"/>
            <a:ext cx="933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The grid policy's average TRAIN entry threshold was 0.54, with a TRAIN proxy exposure target around 69.7%. That made it more permissive in 2020, but also more exposed in 2022.</a:t>
            </a:r>
          </a:p>
        </p:txBody>
      </p:sp>
    </p:spTree>
    <p:extLst>
      <p:ext uri="{BB962C8B-B14F-4D97-AF65-F5344CB8AC3E}">
        <p14:creationId xmlns:p14="http://schemas.microsoft.com/office/powerpoint/2010/main" val="198284985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8FF52E1-1E0B-4DEF-86E8-5A6744DCA51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BB7C840-BCEA-4C8B-8F6A-3A2B741777B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that the model rarely loved the rally early enough</a:t>
            </a:r>
          </a:p>
        </p:txBody>
      </p:sp>
      <p:sp>
        <p:nvSpPr>
          <p:cNvPr id="3" name="">
            <a:extLst xmlns:a="http://schemas.openxmlformats.org/drawingml/2006/main">
              <a:ext uri="{FF2B5EF4-FFF2-40B4-BE49-F238E27FC236}">
                <a16:creationId xmlns:a16="http://schemas.microsoft.com/office/drawing/2014/main" id="{2C837C08-8399-471F-950A-9D9FA2CDFE1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ecff51991a94785"/>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561B67D-F0AE-4ABC-853D-55CF5D5D5AC0}"/>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matters</a:t>
            </a:r>
          </a:p>
        </p:txBody>
      </p:sp>
      <p:sp>
        <p:nvSpPr>
          <p:cNvPr id="6" name="">
            <a:extLst xmlns:a="http://schemas.openxmlformats.org/drawingml/2006/main">
              <a:ext uri="{FF2B5EF4-FFF2-40B4-BE49-F238E27FC236}">
                <a16:creationId xmlns:a16="http://schemas.microsoft.com/office/drawing/2014/main" id="{8E464041-541F-4578-A43F-5045E773CFB2}"/>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Lowering thresholds creates more entries, but the probability trace still spends long rally stretches below the entry line. The next question is whether calibration, labels, or model class can rank those days better.</a:t>
            </a:r>
          </a:p>
        </p:txBody>
      </p:sp>
    </p:spTree>
    <p:extLst>
      <p:ext uri="{BB962C8B-B14F-4D97-AF65-F5344CB8AC3E}">
        <p14:creationId xmlns:p14="http://schemas.microsoft.com/office/powerpoint/2010/main" val="180171003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FF0A907-183C-4260-9A45-31D1BA67557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7F9FD5C-F54C-4F5E-A549-5513B875CA8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slice should test probability quality, not just more exposure</a:t>
            </a:r>
          </a:p>
        </p:txBody>
      </p:sp>
      <p:sp>
        <p:nvSpPr>
          <p:cNvPr id="3" name="">
            <a:extLst xmlns:a="http://schemas.openxmlformats.org/drawingml/2006/main">
              <a:ext uri="{FF2B5EF4-FFF2-40B4-BE49-F238E27FC236}">
                <a16:creationId xmlns:a16="http://schemas.microsoft.com/office/drawing/2014/main" id="{073F1709-1A1D-408F-869E-9DF2D3CC5798}"/>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A33DA9A-BAA0-4CD6-B884-334D0253D345}"/>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ML-P1b showed that threshold policy is real, but it did not close the alpha gap. The forward-return grid made the model participate more, yet still undercaptured 2020 and weakened 2022 defense.</a:t>
            </a:r>
          </a:p>
        </p:txBody>
      </p:sp>
      <p:sp>
        <p:nvSpPr>
          <p:cNvPr id="5" name="">
            <a:extLst xmlns:a="http://schemas.openxmlformats.org/drawingml/2006/main">
              <a:ext uri="{FF2B5EF4-FFF2-40B4-BE49-F238E27FC236}">
                <a16:creationId xmlns:a16="http://schemas.microsoft.com/office/drawing/2014/main" id="{65337B89-3D99-48CB-AC2C-8B2130239BD9}"/>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954F1C2A-94DF-47C9-9844-D8C20F5BE3E3}"/>
              </a:ext>
            </a:extLst>
          </p:cNvPr>
          <p:cNvSpPr>
            <a:spLocks xmlns:a="http://schemas.openxmlformats.org/drawingml/2006/main" noGrp="1"/>
          </p:cNvSpPr>
          <p:nvPr/>
        </p:nvSpPr>
        <p:spPr>
          <a:xfrm xmlns:a="http://schemas.openxmlformats.org/drawingml/2006/main">
            <a:off x="1485900" y="35623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the continuous annual replay and policy audit as the required ML comparison surface.</a:t>
            </a:r>
          </a:p>
        </p:txBody>
      </p:sp>
      <p:sp>
        <p:nvSpPr>
          <p:cNvPr id="7" name="">
            <a:extLst xmlns:a="http://schemas.openxmlformats.org/drawingml/2006/main">
              <a:ext uri="{FF2B5EF4-FFF2-40B4-BE49-F238E27FC236}">
                <a16:creationId xmlns:a16="http://schemas.microsoft.com/office/drawing/2014/main" id="{9F103D29-6CA5-4A40-B421-4838B7200C7C}"/>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59E9E188-CA9D-4C2F-910D-5E5CCB6C9BD3}"/>
              </a:ext>
            </a:extLst>
          </p:cNvPr>
          <p:cNvSpPr>
            <a:spLocks xmlns:a="http://schemas.openxmlformats.org/drawingml/2006/main" noGrp="1"/>
          </p:cNvSpPr>
          <p:nvPr/>
        </p:nvSpPr>
        <p:spPr>
          <a:xfrm xmlns:a="http://schemas.openxmlformats.org/drawingml/2006/main">
            <a:off x="1485900" y="42291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test should compare label horizons or probability calibration before adding XGBoost.</a:t>
            </a:r>
          </a:p>
        </p:txBody>
      </p:sp>
      <p:sp>
        <p:nvSpPr>
          <p:cNvPr id="9" name="">
            <a:extLst xmlns:a="http://schemas.openxmlformats.org/drawingml/2006/main">
              <a:ext uri="{FF2B5EF4-FFF2-40B4-BE49-F238E27FC236}">
                <a16:creationId xmlns:a16="http://schemas.microsoft.com/office/drawing/2014/main" id="{FAAB51C0-F0AB-4FD8-B742-507CB8A0254A}"/>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E04FFABB-92A6-41EA-A388-B82F72E57F55}"/>
              </a:ext>
            </a:extLst>
          </p:cNvPr>
          <p:cNvSpPr>
            <a:spLocks xmlns:a="http://schemas.openxmlformats.org/drawingml/2006/main" noGrp="1"/>
          </p:cNvSpPr>
          <p:nvPr/>
        </p:nvSpPr>
        <p:spPr>
          <a:xfrm xmlns:a="http://schemas.openxmlformats.org/drawingml/2006/main">
            <a:off x="1485900" y="48958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comes next, it should be judged on better ranking and timing, not merely higher exposure.</a:t>
            </a:r>
          </a:p>
        </p:txBody>
      </p:sp>
      <p:sp>
        <p:nvSpPr>
          <p:cNvPr id="11" name="">
            <a:extLst xmlns:a="http://schemas.openxmlformats.org/drawingml/2006/main">
              <a:ext uri="{FF2B5EF4-FFF2-40B4-BE49-F238E27FC236}">
                <a16:creationId xmlns:a16="http://schemas.microsoft.com/office/drawing/2014/main" id="{8CE53D47-FEE2-4393-80A3-75C2F1FB60F5}"/>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A98843FB-3A2B-4F09-8704-B487A037E96F}"/>
              </a:ext>
            </a:extLst>
          </p:cNvPr>
          <p:cNvSpPr>
            <a:spLocks xmlns:a="http://schemas.openxmlformats.org/drawingml/2006/main" noGrp="1"/>
          </p:cNvSpPr>
          <p:nvPr/>
        </p:nvSpPr>
        <p:spPr>
          <a:xfrm xmlns:a="http://schemas.openxmlformats.org/drawingml/2006/main">
            <a:off x="1485900" y="55626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the 2022 tradeoff: grid exposure rose to 67.4% while return fell to -48.4%.</a:t>
            </a:r>
          </a:p>
        </p:txBody>
      </p:sp>
    </p:spTree>
    <p:extLst>
      <p:ext uri="{BB962C8B-B14F-4D97-AF65-F5344CB8AC3E}">
        <p14:creationId xmlns:p14="http://schemas.microsoft.com/office/powerpoint/2010/main" val="88110830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C387BC9-7AF0-4248-9F59-83A72255756C}"/>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15AAAC4B-9879-4482-A3BB-89BB893B159C}"/>
              </a:ext>
            </a:extLst>
          </p:cNvPr>
          <p:cNvSpPr>
            <a:spLocks xmlns:a="http://schemas.openxmlformats.org/drawingml/2006/main" noGrp="1"/>
          </p:cNvSpPr>
          <p:nvPr/>
        </p:nvSpPr>
        <p:spPr>
          <a:xfrm xmlns:a="http://schemas.openxmlformats.org/drawingml/2006/main">
            <a:off x="685800" y="1600200"/>
            <a:ext cx="8953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next question is whether the label itself is too blunt</a:t>
            </a:r>
          </a:p>
        </p:txBody>
      </p:sp>
      <p:sp>
        <p:nvSpPr>
          <p:cNvPr id="3" name="">
            <a:extLst xmlns:a="http://schemas.openxmlformats.org/drawingml/2006/main">
              <a:ext uri="{FF2B5EF4-FFF2-40B4-BE49-F238E27FC236}">
                <a16:creationId xmlns:a16="http://schemas.microsoft.com/office/drawing/2014/main" id="{777D6086-8279-4D02-A42C-C5FC86A3100B}"/>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F73E11-1841-434D-A893-AB4CA5B06079}"/>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ML-P1c compares h1, h3, and h5 next-open labels while keeping the GLM, feature set, TRAIN-only policy selection, and continuous annual replay surface fixed.</a:t>
            </a:r>
          </a:p>
        </p:txBody>
      </p:sp>
      <p:sp>
        <p:nvSpPr>
          <p:cNvPr id="5" name="">
            <a:extLst xmlns:a="http://schemas.openxmlformats.org/drawingml/2006/main">
              <a:ext uri="{FF2B5EF4-FFF2-40B4-BE49-F238E27FC236}">
                <a16:creationId xmlns:a16="http://schemas.microsoft.com/office/drawing/2014/main" id="{A8AE24A5-1AAC-4B8B-A259-D7959E717A9B}"/>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0E372D-82F4-4454-8F0D-1F758E35723B}"/>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ML-P1c</a:t>
            </a:r>
          </a:p>
        </p:txBody>
      </p:sp>
      <p:sp>
        <p:nvSpPr>
          <p:cNvPr id="7" name="">
            <a:extLst xmlns:a="http://schemas.openxmlformats.org/drawingml/2006/main">
              <a:ext uri="{FF2B5EF4-FFF2-40B4-BE49-F238E27FC236}">
                <a16:creationId xmlns:a16="http://schemas.microsoft.com/office/drawing/2014/main" id="{3CE1277A-0BEC-4B5F-8BC3-B9051289459F}"/>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Label horizon</a:t>
            </a:r>
          </a:p>
        </p:txBody>
      </p:sp>
    </p:spTree>
    <p:extLst>
      <p:ext uri="{BB962C8B-B14F-4D97-AF65-F5344CB8AC3E}">
        <p14:creationId xmlns:p14="http://schemas.microsoft.com/office/powerpoint/2010/main" val="141432373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0ED13AA-CB66-480A-A946-0B648E33733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CB58B55-A669-42F0-B827-E6660AB7004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one-day label improved participation, but not enough</a:t>
            </a:r>
          </a:p>
        </p:txBody>
      </p:sp>
      <p:sp>
        <p:nvSpPr>
          <p:cNvPr id="3" name="">
            <a:extLst xmlns:a="http://schemas.openxmlformats.org/drawingml/2006/main">
              <a:ext uri="{FF2B5EF4-FFF2-40B4-BE49-F238E27FC236}">
                <a16:creationId xmlns:a16="http://schemas.microsoft.com/office/drawing/2014/main" id="{17F5A418-0F76-4665-A30D-695BF4899D8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2135EF0-DDF5-498B-91E2-7981F0D7F8CA}"/>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32817800-317C-4F3E-ABB1-C48C63AE0A86}"/>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A52598CA-0493-41D5-9D30-867E86224FE1}"/>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C1C81BA1-4981-4F08-A808-33DE0848C732}"/>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labels, and policy selection stay inside TRAIN.</a:t>
            </a:r>
          </a:p>
        </p:txBody>
      </p:sp>
      <p:sp>
        <p:nvSpPr>
          <p:cNvPr id="8" name="">
            <a:extLst xmlns:a="http://schemas.openxmlformats.org/drawingml/2006/main">
              <a:ext uri="{FF2B5EF4-FFF2-40B4-BE49-F238E27FC236}">
                <a16:creationId xmlns:a16="http://schemas.microsoft.com/office/drawing/2014/main" id="{8C996151-8456-4932-ADDD-3CD870AAA042}"/>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C0BD31D7-B02D-47F7-A44E-DA68BEDE1349}"/>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H1 RETURN</a:t>
            </a:r>
          </a:p>
        </p:txBody>
      </p:sp>
      <p:sp>
        <p:nvSpPr>
          <p:cNvPr id="10" name="">
            <a:extLst xmlns:a="http://schemas.openxmlformats.org/drawingml/2006/main">
              <a:ext uri="{FF2B5EF4-FFF2-40B4-BE49-F238E27FC236}">
                <a16:creationId xmlns:a16="http://schemas.microsoft.com/office/drawing/2014/main" id="{B7B45016-DEE0-461C-AE24-90F4FAE45B87}"/>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54.0%</a:t>
            </a:r>
          </a:p>
        </p:txBody>
      </p:sp>
      <p:sp>
        <p:nvSpPr>
          <p:cNvPr id="11" name="">
            <a:extLst xmlns:a="http://schemas.openxmlformats.org/drawingml/2006/main">
              <a:ext uri="{FF2B5EF4-FFF2-40B4-BE49-F238E27FC236}">
                <a16:creationId xmlns:a16="http://schemas.microsoft.com/office/drawing/2014/main" id="{4463FE5F-E999-4489-B237-523395DE7358}"/>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12" name="">
            <a:extLst xmlns:a="http://schemas.openxmlformats.org/drawingml/2006/main">
              <a:ext uri="{FF2B5EF4-FFF2-40B4-BE49-F238E27FC236}">
                <a16:creationId xmlns:a16="http://schemas.microsoft.com/office/drawing/2014/main" id="{0319FC49-6FFE-4ECD-895E-27C61454DFC0}"/>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DE42D925-60AB-42CB-8D65-396A02173ED6}"/>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H3 RETURN</a:t>
            </a:r>
          </a:p>
        </p:txBody>
      </p:sp>
      <p:sp>
        <p:nvSpPr>
          <p:cNvPr id="14" name="">
            <a:extLst xmlns:a="http://schemas.openxmlformats.org/drawingml/2006/main">
              <a:ext uri="{FF2B5EF4-FFF2-40B4-BE49-F238E27FC236}">
                <a16:creationId xmlns:a16="http://schemas.microsoft.com/office/drawing/2014/main" id="{39FEEE64-4FAC-4CDF-B4B2-E883786410F0}"/>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B87471BD-306E-4454-81AA-6A7C3B43B776}"/>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Same policy surface returned 30.0%.</a:t>
            </a:r>
          </a:p>
        </p:txBody>
      </p:sp>
      <p:sp>
        <p:nvSpPr>
          <p:cNvPr id="16" name="">
            <a:extLst xmlns:a="http://schemas.openxmlformats.org/drawingml/2006/main">
              <a:ext uri="{FF2B5EF4-FFF2-40B4-BE49-F238E27FC236}">
                <a16:creationId xmlns:a16="http://schemas.microsoft.com/office/drawing/2014/main" id="{C2A6B486-D5AF-4FA4-8970-22ACF583D3C2}"/>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4399B930-14FB-43F6-A71F-35211C85D48B}"/>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H5 RETURN</a:t>
            </a:r>
          </a:p>
        </p:txBody>
      </p:sp>
      <p:sp>
        <p:nvSpPr>
          <p:cNvPr id="18" name="">
            <a:extLst xmlns:a="http://schemas.openxmlformats.org/drawingml/2006/main">
              <a:ext uri="{FF2B5EF4-FFF2-40B4-BE49-F238E27FC236}">
                <a16:creationId xmlns:a16="http://schemas.microsoft.com/office/drawing/2014/main" id="{BDB547B8-C93B-4466-A93F-28B58A56E7DF}"/>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9.6%</a:t>
            </a:r>
          </a:p>
        </p:txBody>
      </p:sp>
      <p:sp>
        <p:nvSpPr>
          <p:cNvPr id="19" name="">
            <a:extLst xmlns:a="http://schemas.openxmlformats.org/drawingml/2006/main">
              <a:ext uri="{FF2B5EF4-FFF2-40B4-BE49-F238E27FC236}">
                <a16:creationId xmlns:a16="http://schemas.microsoft.com/office/drawing/2014/main" id="{A16E0858-1613-4BCD-A352-B6FC15E67EF4}"/>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Longer label fell back to 9.6%.</a:t>
            </a:r>
          </a:p>
        </p:txBody>
      </p:sp>
      <p:sp>
        <p:nvSpPr>
          <p:cNvPr id="20" name="">
            <a:extLst xmlns:a="http://schemas.openxmlformats.org/drawingml/2006/main">
              <a:ext uri="{FF2B5EF4-FFF2-40B4-BE49-F238E27FC236}">
                <a16:creationId xmlns:a16="http://schemas.microsoft.com/office/drawing/2014/main" id="{370AB431-AE2C-421C-825A-65C1C1696D24}"/>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h1 is the best GLM horizon in the 2020 rally, lifting the TRAIN-grid lane to 54.0%. That is real improvement, but it still leaves most of the basket rally uncaptured.</a:t>
            </a:r>
          </a:p>
        </p:txBody>
      </p:sp>
    </p:spTree>
    <p:extLst>
      <p:ext uri="{BB962C8B-B14F-4D97-AF65-F5344CB8AC3E}">
        <p14:creationId xmlns:p14="http://schemas.microsoft.com/office/powerpoint/2010/main" val="27716041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4C85F5D-73EC-4DC1-8E94-DE4E075330A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4CF391A-D0A5-4A89-ADB1-61B183E383F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why h1 is useful but not sufficient</a:t>
            </a:r>
          </a:p>
        </p:txBody>
      </p:sp>
      <p:sp>
        <p:nvSpPr>
          <p:cNvPr id="3" name="">
            <a:extLst xmlns:a="http://schemas.openxmlformats.org/drawingml/2006/main">
              <a:ext uri="{FF2B5EF4-FFF2-40B4-BE49-F238E27FC236}">
                <a16:creationId xmlns:a16="http://schemas.microsoft.com/office/drawing/2014/main" id="{AC9987B1-4611-4842-8A97-FF817682EA9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614cda179af4d96"/>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20E512B-A1EB-483C-AD18-BCEFC4409618}"/>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2FA630DF-05A6-4AF9-AC7C-A96B89E97C57}"/>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h1 had the strongest 2020 participation at 43.0% exposure and 54.0% return. In 2022, no horizon solved defense: h1 returned -49.7%, h3 -48.4%, and h5 -42.4%.</a:t>
            </a:r>
          </a:p>
        </p:txBody>
      </p:sp>
    </p:spTree>
    <p:extLst>
      <p:ext uri="{BB962C8B-B14F-4D97-AF65-F5344CB8AC3E}">
        <p14:creationId xmlns:p14="http://schemas.microsoft.com/office/powerpoint/2010/main" val="78109384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21BCDBC-887C-4C23-B497-647A6A26DD8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DC55F0A-197B-4710-9148-367E6E843A1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ranking audit argues against more GLM-only tinkering</a:t>
            </a:r>
          </a:p>
        </p:txBody>
      </p:sp>
      <p:sp>
        <p:nvSpPr>
          <p:cNvPr id="3" name="">
            <a:extLst xmlns:a="http://schemas.openxmlformats.org/drawingml/2006/main">
              <a:ext uri="{FF2B5EF4-FFF2-40B4-BE49-F238E27FC236}">
                <a16:creationId xmlns:a16="http://schemas.microsoft.com/office/drawing/2014/main" id="{26A98E87-E722-4ED4-BB09-069FC3B5DCB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118b4bc23164241"/>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95807B4-DB3B-4385-A97C-A58F136DB86E}"/>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it means</a:t>
            </a:r>
          </a:p>
        </p:txBody>
      </p:sp>
      <p:sp>
        <p:nvSpPr>
          <p:cNvPr id="6" name="">
            <a:extLst xmlns:a="http://schemas.openxmlformats.org/drawingml/2006/main">
              <a:ext uri="{FF2B5EF4-FFF2-40B4-BE49-F238E27FC236}">
                <a16:creationId xmlns:a16="http://schemas.microsoft.com/office/drawing/2014/main" id="{9F776605-DE05-4D10-AE3A-DB79F4E662E0}"/>
              </a:ext>
            </a:extLst>
          </p:cNvPr>
          <p:cNvSpPr>
            <a:spLocks xmlns:a="http://schemas.openxmlformats.org/drawingml/2006/main" noGrp="1"/>
          </p:cNvSpPr>
          <p:nvPr/>
        </p:nvSpPr>
        <p:spPr>
          <a:xfrm xmlns:a="http://schemas.openxmlformats.org/drawingml/2006/main">
            <a:off x="7105650" y="2743200"/>
            <a:ext cx="3143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2020 AUC was h1 at 0.520. h3 was 0.485 and h5 was 0.427. That is weak ranking, not just a threshold issue.</a:t>
            </a:r>
          </a:p>
        </p:txBody>
      </p:sp>
    </p:spTree>
    <p:extLst>
      <p:ext uri="{BB962C8B-B14F-4D97-AF65-F5344CB8AC3E}">
        <p14:creationId xmlns:p14="http://schemas.microsoft.com/office/powerpoint/2010/main" val="41407854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9B2F4B3-E7EE-4316-AA4B-7C3B097A890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DFE845F-AF87-498A-9553-55656D92464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This is a clean gate into XGBoost rather than an excuse to keep circling</a:t>
            </a:r>
          </a:p>
        </p:txBody>
      </p:sp>
      <p:sp>
        <p:nvSpPr>
          <p:cNvPr id="3" name="">
            <a:extLst xmlns:a="http://schemas.openxmlformats.org/drawingml/2006/main">
              <a:ext uri="{FF2B5EF4-FFF2-40B4-BE49-F238E27FC236}">
                <a16:creationId xmlns:a16="http://schemas.microsoft.com/office/drawing/2014/main" id="{3F51A8A4-D0A0-43D6-9FC0-E9A9EEE8619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859965C-9B85-4F89-B3F5-DF33A360627C}"/>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The GLM path has now answered the basic plumbing questions: features and labels are leakage-safe, replay works, thresholds matter, and h1 is the strongest horizon so far. The remaining obstacle is probability ranking quality.</a:t>
            </a:r>
          </a:p>
        </p:txBody>
      </p:sp>
      <p:sp>
        <p:nvSpPr>
          <p:cNvPr id="5" name="">
            <a:extLst xmlns:a="http://schemas.openxmlformats.org/drawingml/2006/main">
              <a:ext uri="{FF2B5EF4-FFF2-40B4-BE49-F238E27FC236}">
                <a16:creationId xmlns:a16="http://schemas.microsoft.com/office/drawing/2014/main" id="{9B48D646-C55C-47F6-B48D-B9365C26FA5B}"/>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4A423561-B32B-4A0F-9064-6B9431A35FA7}"/>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as the first XGBoost challenger label unless a calibration-only check is explicitly useful.</a:t>
            </a:r>
          </a:p>
        </p:txBody>
      </p:sp>
      <p:sp>
        <p:nvSpPr>
          <p:cNvPr id="7" name="">
            <a:extLst xmlns:a="http://schemas.openxmlformats.org/drawingml/2006/main">
              <a:ext uri="{FF2B5EF4-FFF2-40B4-BE49-F238E27FC236}">
                <a16:creationId xmlns:a16="http://schemas.microsoft.com/office/drawing/2014/main" id="{B002A167-8AC2-4B92-86A0-584D69E2ED86}"/>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1610141C-8D96-439A-8058-F59A4F78A888}"/>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run a broad GLM threshold search; P1b already showed the limit of exposure tuning.</a:t>
            </a:r>
          </a:p>
        </p:txBody>
      </p:sp>
      <p:sp>
        <p:nvSpPr>
          <p:cNvPr id="9" name="">
            <a:extLst xmlns:a="http://schemas.openxmlformats.org/drawingml/2006/main">
              <a:ext uri="{FF2B5EF4-FFF2-40B4-BE49-F238E27FC236}">
                <a16:creationId xmlns:a16="http://schemas.microsoft.com/office/drawing/2014/main" id="{F10AF2E1-1FC0-4F22-92AE-CEB97EECDC6F}"/>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DD8348FB-EF0D-4AFC-85F1-7E411250D89D}"/>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Judge XGBoost on ranking, timing, replay return versus basket hold, drawdown, and probability tapes.</a:t>
            </a:r>
          </a:p>
        </p:txBody>
      </p:sp>
      <p:sp>
        <p:nvSpPr>
          <p:cNvPr id="11" name="">
            <a:extLst xmlns:a="http://schemas.openxmlformats.org/drawingml/2006/main">
              <a:ext uri="{FF2B5EF4-FFF2-40B4-BE49-F238E27FC236}">
                <a16:creationId xmlns:a16="http://schemas.microsoft.com/office/drawing/2014/main" id="{454FBE3E-7334-4DC8-B1B7-B67748CE4782}"/>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D45DDD85-7077-4DED-87DD-B298EDC1AC93}"/>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cannot improve ranking, backtrack to feature design rather than deeper model knobs.</a:t>
            </a:r>
          </a:p>
        </p:txBody>
      </p:sp>
    </p:spTree>
    <p:extLst>
      <p:ext uri="{BB962C8B-B14F-4D97-AF65-F5344CB8AC3E}">
        <p14:creationId xmlns:p14="http://schemas.microsoft.com/office/powerpoint/2010/main" val="212760846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65EAAEB-3469-4018-97BC-C5DB0FAA5BCE}"/>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8499254A-47F1-40A9-8280-3A3B2D491351}"/>
              </a:ext>
            </a:extLst>
          </p:cNvPr>
          <p:cNvSpPr>
            <a:spLocks xmlns:a="http://schemas.openxmlformats.org/drawingml/2006/main" noGrp="1"/>
          </p:cNvSpPr>
          <p:nvPr/>
        </p:nvSpPr>
        <p:spPr>
          <a:xfrm xmlns:a="http://schemas.openxmlformats.org/drawingml/2006/main">
            <a:off x="685800" y="1600200"/>
            <a:ext cx="7810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The first nonlinear challenger tests XGBoost</a:t>
            </a:r>
          </a:p>
        </p:txBody>
      </p:sp>
      <p:sp>
        <p:nvSpPr>
          <p:cNvPr id="3" name="">
            <a:extLst xmlns:a="http://schemas.openxmlformats.org/drawingml/2006/main">
              <a:ext uri="{FF2B5EF4-FFF2-40B4-BE49-F238E27FC236}">
                <a16:creationId xmlns:a16="http://schemas.microsoft.com/office/drawing/2014/main" id="{26E2CD05-D7DF-4D91-87D8-48ABD38316A5}"/>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02214DB-BB27-4B76-ACEF-E5885852B55A}"/>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ML-P2 keeps the h1 label, feature table, TRAIN-only threshold selection, and annual replay fixed. Only the model class changes: GLM control versus conservative XGBoost.</a:t>
            </a:r>
          </a:p>
        </p:txBody>
      </p:sp>
      <p:sp>
        <p:nvSpPr>
          <p:cNvPr id="5" name="">
            <a:extLst xmlns:a="http://schemas.openxmlformats.org/drawingml/2006/main">
              <a:ext uri="{FF2B5EF4-FFF2-40B4-BE49-F238E27FC236}">
                <a16:creationId xmlns:a16="http://schemas.microsoft.com/office/drawing/2014/main" id="{311C86E5-427B-40EF-99C0-CBC054F07AF9}"/>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026A292-0966-484A-BA01-098CE8B72AD4}"/>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ML-P2</a:t>
            </a:r>
          </a:p>
        </p:txBody>
      </p:sp>
      <p:sp>
        <p:nvSpPr>
          <p:cNvPr id="7" name="">
            <a:extLst xmlns:a="http://schemas.openxmlformats.org/drawingml/2006/main">
              <a:ext uri="{FF2B5EF4-FFF2-40B4-BE49-F238E27FC236}">
                <a16:creationId xmlns:a16="http://schemas.microsoft.com/office/drawing/2014/main" id="{7BE0EDB0-1C49-4FB2-B238-D5E152465899}"/>
              </a:ext>
            </a:extLst>
          </p:cNvPr>
          <p:cNvSpPr>
            <a:spLocks xmlns:a="http://schemas.openxmlformats.org/drawingml/2006/main" noGrp="1"/>
          </p:cNvSpPr>
          <p:nvPr/>
        </p:nvSpPr>
        <p:spPr>
          <a:xfrm xmlns:a="http://schemas.openxmlformats.org/drawingml/2006/main">
            <a:off x="8991600" y="306705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XGBoost challenger</a:t>
            </a:r>
          </a:p>
        </p:txBody>
      </p:sp>
    </p:spTree>
    <p:extLst>
      <p:ext uri="{BB962C8B-B14F-4D97-AF65-F5344CB8AC3E}">
        <p14:creationId xmlns:p14="http://schemas.microsoft.com/office/powerpoint/2010/main" val="19926447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27A28B1-2010-4D42-9A5A-CE7BF2D6DB1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E12042B-162E-490E-837F-CF2C5BDF5A8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GLM is a straight-line lens; XGBoost is a conditional lens</a:t>
            </a:r>
          </a:p>
        </p:txBody>
      </p:sp>
      <p:sp>
        <p:nvSpPr>
          <p:cNvPr id="3" name="">
            <a:extLst xmlns:a="http://schemas.openxmlformats.org/drawingml/2006/main">
              <a:ext uri="{FF2B5EF4-FFF2-40B4-BE49-F238E27FC236}">
                <a16:creationId xmlns:a16="http://schemas.microsoft.com/office/drawing/2014/main" id="{33C07FC9-F37F-4237-8D14-19808E95B89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041C6C6-ABE9-4697-BFE2-FC9206A81D3C}"/>
              </a:ext>
            </a:extLst>
          </p:cNvPr>
          <p:cNvSpPr>
            <a:spLocks xmlns:a="http://schemas.openxmlformats.org/drawingml/2006/main" noGrp="1"/>
          </p:cNvSpPr>
          <p:nvPr/>
        </p:nvSpPr>
        <p:spPr>
          <a:xfrm xmlns:a="http://schemas.openxmlformats.org/drawingml/2006/main">
            <a:off x="876300" y="2114550"/>
            <a:ext cx="4476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000000"/>
                </a:solidFill>
              </a:defRPr>
            </a:pPr>
            <a:r>
              <a:rPr sz="1875" b="1" i="0">
                <a:solidFill>
                  <a:srgbClr val="000000"/>
                </a:solidFill>
              </a:rPr>
              <a:t>The GLM asks whether a mostly linear combination of today’s features predicts a favorable next-open h1 outcome.</a:t>
            </a:r>
          </a:p>
        </p:txBody>
      </p:sp>
      <p:sp>
        <p:nvSpPr>
          <p:cNvPr id="5" name="">
            <a:extLst xmlns:a="http://schemas.openxmlformats.org/drawingml/2006/main">
              <a:ext uri="{FF2B5EF4-FFF2-40B4-BE49-F238E27FC236}">
                <a16:creationId xmlns:a16="http://schemas.microsoft.com/office/drawing/2014/main" id="{BA474E71-2772-4247-9603-805841628B93}"/>
              </a:ext>
            </a:extLst>
          </p:cNvPr>
          <p:cNvSpPr>
            <a:spLocks xmlns:a="http://schemas.openxmlformats.org/drawingml/2006/main" noGrp="1"/>
          </p:cNvSpPr>
          <p:nvPr/>
        </p:nvSpPr>
        <p:spPr>
          <a:xfrm xmlns:a="http://schemas.openxmlformats.org/drawingml/2006/main">
            <a:off x="6572250" y="2114550"/>
            <a:ext cx="4191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000000"/>
                </a:solidFill>
              </a:defRPr>
            </a:pPr>
            <a:r>
              <a:rPr sz="1875" b="1" i="0">
                <a:solidFill>
                  <a:srgbClr val="000000"/>
                </a:solidFill>
              </a:rPr>
              <a:t>XGBoost can learn conditional pockets, thresholds, and interactions without us hand-writing every combination.</a:t>
            </a:r>
          </a:p>
        </p:txBody>
      </p:sp>
      <p:sp>
        <p:nvSpPr>
          <p:cNvPr id="6" name="">
            <a:extLst xmlns:a="http://schemas.openxmlformats.org/drawingml/2006/main">
              <a:ext uri="{FF2B5EF4-FFF2-40B4-BE49-F238E27FC236}">
                <a16:creationId xmlns:a16="http://schemas.microsoft.com/office/drawing/2014/main" id="{8444577E-044A-4537-BCBB-DEC273FA7D0C}"/>
              </a:ext>
            </a:extLst>
          </p:cNvPr>
          <p:cNvSpPr>
            <a:spLocks xmlns:a="http://schemas.openxmlformats.org/drawingml/2006/main" noGrp="1"/>
          </p:cNvSpPr>
          <p:nvPr/>
        </p:nvSpPr>
        <p:spPr>
          <a:xfrm xmlns:a="http://schemas.openxmlformats.org/drawingml/2006/main">
            <a:off x="876300" y="3733800"/>
            <a:ext cx="409575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6F80F3B-AC31-483A-BCB7-8347DEC7F188}"/>
              </a:ext>
            </a:extLst>
          </p:cNvPr>
          <p:cNvSpPr>
            <a:spLocks xmlns:a="http://schemas.openxmlformats.org/drawingml/2006/main" noGrp="1"/>
          </p:cNvSpPr>
          <p:nvPr/>
        </p:nvSpPr>
        <p:spPr>
          <a:xfrm xmlns:a="http://schemas.openxmlformats.org/drawingml/2006/main">
            <a:off x="6572250" y="3733800"/>
            <a:ext cx="409575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A90A962-A320-4237-8FC4-4550A2D0A0E3}"/>
              </a:ext>
            </a:extLst>
          </p:cNvPr>
          <p:cNvSpPr>
            <a:spLocks xmlns:a="http://schemas.openxmlformats.org/drawingml/2006/main" noGrp="1"/>
          </p:cNvSpPr>
          <p:nvPr/>
        </p:nvSpPr>
        <p:spPr>
          <a:xfrm xmlns:a="http://schemas.openxmlformats.org/drawingml/2006/main">
            <a:off x="104775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ACE128F3-E4BB-4E8C-995C-C62162911B33}"/>
              </a:ext>
            </a:extLst>
          </p:cNvPr>
          <p:cNvSpPr>
            <a:spLocks xmlns:a="http://schemas.openxmlformats.org/drawingml/2006/main" noGrp="1"/>
          </p:cNvSpPr>
          <p:nvPr/>
        </p:nvSpPr>
        <p:spPr>
          <a:xfrm xmlns:a="http://schemas.openxmlformats.org/drawingml/2006/main">
            <a:off x="1314450" y="41148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Good for proving the plumbing and exposing simple directional effects.</a:t>
            </a:r>
          </a:p>
        </p:txBody>
      </p:sp>
      <p:sp>
        <p:nvSpPr>
          <p:cNvPr id="10" name="">
            <a:extLst xmlns:a="http://schemas.openxmlformats.org/drawingml/2006/main">
              <a:ext uri="{FF2B5EF4-FFF2-40B4-BE49-F238E27FC236}">
                <a16:creationId xmlns:a16="http://schemas.microsoft.com/office/drawing/2014/main" id="{40069254-9879-4E93-B6A6-BD7BEA5AE5F6}"/>
              </a:ext>
            </a:extLst>
          </p:cNvPr>
          <p:cNvSpPr>
            <a:spLocks xmlns:a="http://schemas.openxmlformats.org/drawingml/2006/main" noGrp="1"/>
          </p:cNvSpPr>
          <p:nvPr/>
        </p:nvSpPr>
        <p:spPr>
          <a:xfrm xmlns:a="http://schemas.openxmlformats.org/drawingml/2006/main">
            <a:off x="1047750" y="4962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1" name="">
            <a:extLst xmlns:a="http://schemas.openxmlformats.org/drawingml/2006/main">
              <a:ext uri="{FF2B5EF4-FFF2-40B4-BE49-F238E27FC236}">
                <a16:creationId xmlns:a16="http://schemas.microsoft.com/office/drawing/2014/main" id="{8DCF44D5-492A-4C8E-B21B-149897215CE1}"/>
              </a:ext>
            </a:extLst>
          </p:cNvPr>
          <p:cNvSpPr>
            <a:spLocks xmlns:a="http://schemas.openxmlformats.org/drawingml/2006/main" noGrp="1"/>
          </p:cNvSpPr>
          <p:nvPr/>
        </p:nvSpPr>
        <p:spPr>
          <a:xfrm xmlns:a="http://schemas.openxmlformats.org/drawingml/2006/main">
            <a:off x="1314450" y="4953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Can average away useful conditions when a feature is good in one regime and bad in another.</a:t>
            </a:r>
          </a:p>
        </p:txBody>
      </p:sp>
      <p:sp>
        <p:nvSpPr>
          <p:cNvPr id="12" name="">
            <a:extLst xmlns:a="http://schemas.openxmlformats.org/drawingml/2006/main">
              <a:ext uri="{FF2B5EF4-FFF2-40B4-BE49-F238E27FC236}">
                <a16:creationId xmlns:a16="http://schemas.microsoft.com/office/drawing/2014/main" id="{9498473C-9AF7-4E59-BD8F-38691F4D5387}"/>
              </a:ext>
            </a:extLst>
          </p:cNvPr>
          <p:cNvSpPr>
            <a:spLocks xmlns:a="http://schemas.openxmlformats.org/drawingml/2006/main" noGrp="1"/>
          </p:cNvSpPr>
          <p:nvPr/>
        </p:nvSpPr>
        <p:spPr>
          <a:xfrm xmlns:a="http://schemas.openxmlformats.org/drawingml/2006/main">
            <a:off x="67437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3" name="">
            <a:extLst xmlns:a="http://schemas.openxmlformats.org/drawingml/2006/main">
              <a:ext uri="{FF2B5EF4-FFF2-40B4-BE49-F238E27FC236}">
                <a16:creationId xmlns:a16="http://schemas.microsoft.com/office/drawing/2014/main" id="{F96E1AB8-AD8E-49D0-809F-B9B6B87591D9}"/>
              </a:ext>
            </a:extLst>
          </p:cNvPr>
          <p:cNvSpPr>
            <a:spLocks xmlns:a="http://schemas.openxmlformats.org/drawingml/2006/main" noGrp="1"/>
          </p:cNvSpPr>
          <p:nvPr/>
        </p:nvSpPr>
        <p:spPr>
          <a:xfrm xmlns:a="http://schemas.openxmlformats.org/drawingml/2006/main">
            <a:off x="7010400" y="41148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Can express rules like momentum only matters with supportive market context.</a:t>
            </a:r>
          </a:p>
        </p:txBody>
      </p:sp>
      <p:sp>
        <p:nvSpPr>
          <p:cNvPr id="14" name="">
            <a:extLst xmlns:a="http://schemas.openxmlformats.org/drawingml/2006/main">
              <a:ext uri="{FF2B5EF4-FFF2-40B4-BE49-F238E27FC236}">
                <a16:creationId xmlns:a16="http://schemas.microsoft.com/office/drawing/2014/main" id="{CA9905BE-2C32-40CF-B7FD-36BFC67A9746}"/>
              </a:ext>
            </a:extLst>
          </p:cNvPr>
          <p:cNvSpPr>
            <a:spLocks xmlns:a="http://schemas.openxmlformats.org/drawingml/2006/main" noGrp="1"/>
          </p:cNvSpPr>
          <p:nvPr/>
        </p:nvSpPr>
        <p:spPr>
          <a:xfrm xmlns:a="http://schemas.openxmlformats.org/drawingml/2006/main">
            <a:off x="6743700" y="4962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5" name="">
            <a:extLst xmlns:a="http://schemas.openxmlformats.org/drawingml/2006/main">
              <a:ext uri="{FF2B5EF4-FFF2-40B4-BE49-F238E27FC236}">
                <a16:creationId xmlns:a16="http://schemas.microsoft.com/office/drawing/2014/main" id="{D64E5DFE-3D22-4D4F-BC72-60DCBEEACC5A}"/>
              </a:ext>
            </a:extLst>
          </p:cNvPr>
          <p:cNvSpPr>
            <a:spLocks xmlns:a="http://schemas.openxmlformats.org/drawingml/2006/main" noGrp="1"/>
          </p:cNvSpPr>
          <p:nvPr/>
        </p:nvSpPr>
        <p:spPr>
          <a:xfrm xmlns:a="http://schemas.openxmlformats.org/drawingml/2006/main">
            <a:off x="7010400" y="4953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Must be judged carefully, because extra flexibility can overfit if we start tuning too many knobs.</a:t>
            </a:r>
          </a:p>
        </p:txBody>
      </p:sp>
    </p:spTree>
    <p:extLst>
      <p:ext uri="{BB962C8B-B14F-4D97-AF65-F5344CB8AC3E}">
        <p14:creationId xmlns:p14="http://schemas.microsoft.com/office/powerpoint/2010/main" val="13426866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204929C-C08C-41D7-B667-DB1F7D69EFC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49AEBCA-1072-4D53-9C31-77FE2FB74F0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XGBoost improved the replay, but it still did not beat the 2020 basket</a:t>
            </a:r>
          </a:p>
        </p:txBody>
      </p:sp>
      <p:sp>
        <p:nvSpPr>
          <p:cNvPr id="3" name="">
            <a:extLst xmlns:a="http://schemas.openxmlformats.org/drawingml/2006/main">
              <a:ext uri="{FF2B5EF4-FFF2-40B4-BE49-F238E27FC236}">
                <a16:creationId xmlns:a16="http://schemas.microsoft.com/office/drawing/2014/main" id="{DFC1077E-318D-4D58-B7F1-876E615F7BB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28E047D-3711-48A3-B5EA-0FD6FBACEEA3}"/>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B5B19332-B968-40BC-842E-5D5CB7D4701F}"/>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3ED0B0CE-E0F5-48F8-B136-D8A2E69066A8}"/>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B89C6F30-5898-4409-A923-D4ABC893EF5A}"/>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params, and thresholds stay inside TRAIN.</a:t>
            </a:r>
          </a:p>
        </p:txBody>
      </p:sp>
      <p:sp>
        <p:nvSpPr>
          <p:cNvPr id="8" name="">
            <a:extLst xmlns:a="http://schemas.openxmlformats.org/drawingml/2006/main">
              <a:ext uri="{FF2B5EF4-FFF2-40B4-BE49-F238E27FC236}">
                <a16:creationId xmlns:a16="http://schemas.microsoft.com/office/drawing/2014/main" id="{ED0847F9-B492-4934-AA95-44258C3DEEC9}"/>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BCD39E7F-0356-418F-B6FB-8BF1AD36C2D6}"/>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XGB</a:t>
            </a:r>
          </a:p>
        </p:txBody>
      </p:sp>
      <p:sp>
        <p:nvSpPr>
          <p:cNvPr id="10" name="">
            <a:extLst xmlns:a="http://schemas.openxmlformats.org/drawingml/2006/main">
              <a:ext uri="{FF2B5EF4-FFF2-40B4-BE49-F238E27FC236}">
                <a16:creationId xmlns:a16="http://schemas.microsoft.com/office/drawing/2014/main" id="{BE6438D1-01F0-4CAF-AA26-DCA36120B5DF}"/>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11" name="">
            <a:extLst xmlns:a="http://schemas.openxmlformats.org/drawingml/2006/main">
              <a:ext uri="{FF2B5EF4-FFF2-40B4-BE49-F238E27FC236}">
                <a16:creationId xmlns:a16="http://schemas.microsoft.com/office/drawing/2014/main" id="{40C3CD4D-C925-4E45-8CD3-7559BF90B708}"/>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GLM was 54.0%; basket hold was 225.2%.</a:t>
            </a:r>
          </a:p>
        </p:txBody>
      </p:sp>
      <p:sp>
        <p:nvSpPr>
          <p:cNvPr id="12" name="">
            <a:extLst xmlns:a="http://schemas.openxmlformats.org/drawingml/2006/main">
              <a:ext uri="{FF2B5EF4-FFF2-40B4-BE49-F238E27FC236}">
                <a16:creationId xmlns:a16="http://schemas.microsoft.com/office/drawing/2014/main" id="{7E3C4B50-7818-4C8F-87F7-2999CA996188}"/>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59790E2D-1DBD-4E06-90A4-0D1686C5EEC0}"/>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XGB</a:t>
            </a:r>
          </a:p>
        </p:txBody>
      </p:sp>
      <p:sp>
        <p:nvSpPr>
          <p:cNvPr id="14" name="">
            <a:extLst xmlns:a="http://schemas.openxmlformats.org/drawingml/2006/main">
              <a:ext uri="{FF2B5EF4-FFF2-40B4-BE49-F238E27FC236}">
                <a16:creationId xmlns:a16="http://schemas.microsoft.com/office/drawing/2014/main" id="{06E7C8F7-221E-40C9-AF2B-B01CE84A6447}"/>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5" name="">
            <a:extLst xmlns:a="http://schemas.openxmlformats.org/drawingml/2006/main">
              <a:ext uri="{FF2B5EF4-FFF2-40B4-BE49-F238E27FC236}">
                <a16:creationId xmlns:a16="http://schemas.microsoft.com/office/drawing/2014/main" id="{D05BD932-B83A-4F37-A915-29EB03312429}"/>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GLM was -49.7%; basket hold was -53.3%.</a:t>
            </a:r>
          </a:p>
        </p:txBody>
      </p:sp>
      <p:sp>
        <p:nvSpPr>
          <p:cNvPr id="16" name="">
            <a:extLst xmlns:a="http://schemas.openxmlformats.org/drawingml/2006/main">
              <a:ext uri="{FF2B5EF4-FFF2-40B4-BE49-F238E27FC236}">
                <a16:creationId xmlns:a16="http://schemas.microsoft.com/office/drawing/2014/main" id="{4E9D0076-32DA-497E-A7B0-9EAC56F3F657}"/>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50D6E723-B063-4D6B-B025-2196142EECDC}"/>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8" name="">
            <a:extLst xmlns:a="http://schemas.openxmlformats.org/drawingml/2006/main">
              <a:ext uri="{FF2B5EF4-FFF2-40B4-BE49-F238E27FC236}">
                <a16:creationId xmlns:a16="http://schemas.microsoft.com/office/drawing/2014/main" id="{7DFA4BA3-D0DB-4E0C-85FC-AD0143DDCF4F}"/>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42.3%</a:t>
            </a:r>
          </a:p>
        </p:txBody>
      </p:sp>
      <p:sp>
        <p:nvSpPr>
          <p:cNvPr id="19" name="">
            <a:extLst xmlns:a="http://schemas.openxmlformats.org/drawingml/2006/main">
              <a:ext uri="{FF2B5EF4-FFF2-40B4-BE49-F238E27FC236}">
                <a16:creationId xmlns:a16="http://schemas.microsoft.com/office/drawing/2014/main" id="{E9659080-9B9F-4643-8246-7D273C716C78}"/>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XGB used less exposure than GLM at 43.0%.</a:t>
            </a:r>
          </a:p>
        </p:txBody>
      </p:sp>
      <p:sp>
        <p:nvSpPr>
          <p:cNvPr id="20" name="">
            <a:extLst xmlns:a="http://schemas.openxmlformats.org/drawingml/2006/main">
              <a:ext uri="{FF2B5EF4-FFF2-40B4-BE49-F238E27FC236}">
                <a16:creationId xmlns:a16="http://schemas.microsoft.com/office/drawing/2014/main" id="{DB2542FA-AC57-40F6-BEDE-B46DA97EAE1A}"/>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This is encouraging because the nonlinear model improved return with less 2020 exposure and better 2022 defense. It is not a victory lap: 2020 still lagged basket hold by a lot.</a:t>
            </a:r>
          </a:p>
        </p:txBody>
      </p:sp>
    </p:spTree>
    <p:extLst>
      <p:ext uri="{BB962C8B-B14F-4D97-AF65-F5344CB8AC3E}">
        <p14:creationId xmlns:p14="http://schemas.microsoft.com/office/powerpoint/2010/main" val="181407612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BD93495-F0F0-4358-883F-0C253AE223A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8B4755A-21B7-44CB-ACB8-3766929D953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useful improvement, not a solved system</a:t>
            </a:r>
          </a:p>
        </p:txBody>
      </p:sp>
      <p:sp>
        <p:nvSpPr>
          <p:cNvPr id="3" name="">
            <a:extLst xmlns:a="http://schemas.openxmlformats.org/drawingml/2006/main">
              <a:ext uri="{FF2B5EF4-FFF2-40B4-BE49-F238E27FC236}">
                <a16:creationId xmlns:a16="http://schemas.microsoft.com/office/drawing/2014/main" id="{AA410A34-23BD-4A3D-A331-52B4DC1A88B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a6f3019cf1c48b6"/>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6DED98B-E065-4157-87CA-28AD63C93B8C}"/>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DF934CB3-B906-460A-B523-2A58B47EBD54}"/>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XGBoost lifted 2020 return from 54.0% to 108.9% and improved 2022 from -49.7% to -37.8%. Equal-weight hold remains the hurdle in strong bull windows.</a:t>
            </a:r>
          </a:p>
        </p:txBody>
      </p:sp>
    </p:spTree>
    <p:extLst>
      <p:ext uri="{BB962C8B-B14F-4D97-AF65-F5344CB8AC3E}">
        <p14:creationId xmlns:p14="http://schemas.microsoft.com/office/powerpoint/2010/main" val="36978224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ED9A18E-2827-4134-A109-94D0714A465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09C2F70-EF98-49F4-8381-A831AA6482A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ranking audit gives a caution flag</a:t>
            </a:r>
          </a:p>
        </p:txBody>
      </p:sp>
      <p:sp>
        <p:nvSpPr>
          <p:cNvPr id="3" name="">
            <a:extLst xmlns:a="http://schemas.openxmlformats.org/drawingml/2006/main">
              <a:ext uri="{FF2B5EF4-FFF2-40B4-BE49-F238E27FC236}">
                <a16:creationId xmlns:a16="http://schemas.microsoft.com/office/drawing/2014/main" id="{3E802FD7-DE53-4533-AA1E-4E2183B3134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24081e3b25b4f2c"/>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70C2622-B5F8-46B8-8544-1A08B2168623}"/>
              </a:ext>
            </a:extLst>
          </p:cNvPr>
          <p:cNvSpPr>
            <a:spLocks xmlns:a="http://schemas.openxmlformats.org/drawingml/2006/main" noGrp="1"/>
          </p:cNvSpPr>
          <p:nvPr/>
        </p:nvSpPr>
        <p:spPr>
          <a:xfrm xmlns:a="http://schemas.openxmlformats.org/drawingml/2006/main">
            <a:off x="7105650" y="21336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is nuanced</a:t>
            </a:r>
          </a:p>
        </p:txBody>
      </p:sp>
      <p:sp>
        <p:nvSpPr>
          <p:cNvPr id="6" name="">
            <a:extLst xmlns:a="http://schemas.openxmlformats.org/drawingml/2006/main">
              <a:ext uri="{FF2B5EF4-FFF2-40B4-BE49-F238E27FC236}">
                <a16:creationId xmlns:a16="http://schemas.microsoft.com/office/drawing/2014/main" id="{56C1633F-DCC0-423F-9053-E417A3761280}"/>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XGBoost improved replay, but its 2020 AUC was 0.510 versus GLM at 0.520. The gain may come from threshold-crossing timing and drawdown behavior rather than cleaner global ranking.</a:t>
            </a:r>
          </a:p>
        </p:txBody>
      </p:sp>
    </p:spTree>
    <p:extLst>
      <p:ext uri="{BB962C8B-B14F-4D97-AF65-F5344CB8AC3E}">
        <p14:creationId xmlns:p14="http://schemas.microsoft.com/office/powerpoint/2010/main" val="88151542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3D38A7E-4227-48FF-B268-833AAF81A9F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8E28D24-D80E-4A50-8A25-5E3EBE19ADC7}"/>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are now the most important audit surface</a:t>
            </a:r>
          </a:p>
        </p:txBody>
      </p:sp>
      <p:sp>
        <p:nvSpPr>
          <p:cNvPr id="3" name="">
            <a:extLst xmlns:a="http://schemas.openxmlformats.org/drawingml/2006/main">
              <a:ext uri="{FF2B5EF4-FFF2-40B4-BE49-F238E27FC236}">
                <a16:creationId xmlns:a16="http://schemas.microsoft.com/office/drawing/2014/main" id="{5AD53715-3C63-40E2-9ADD-3B9433E1F8A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a74128da29b4581"/>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635C14E-83F1-4A28-8F23-8A2093B3C01C}"/>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2BA7CB68-2CD9-4596-A096-0DC2528521B7}"/>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key question is whether XGBoost changes entries and exits in places that make intuitive market sense. The tapes show a less linear probability trace and a different set of entry timings.</a:t>
            </a:r>
          </a:p>
        </p:txBody>
      </p:sp>
    </p:spTree>
    <p:extLst>
      <p:ext uri="{BB962C8B-B14F-4D97-AF65-F5344CB8AC3E}">
        <p14:creationId xmlns:p14="http://schemas.microsoft.com/office/powerpoint/2010/main" val="86793501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011B79F-1210-4630-B7B3-E733341AF6A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61D7569-0918-4A26-A480-83194B13137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feature-importance audit points back to OHLCV structure</a:t>
            </a:r>
          </a:p>
        </p:txBody>
      </p:sp>
      <p:sp>
        <p:nvSpPr>
          <p:cNvPr id="3" name="">
            <a:extLst xmlns:a="http://schemas.openxmlformats.org/drawingml/2006/main">
              <a:ext uri="{FF2B5EF4-FFF2-40B4-BE49-F238E27FC236}">
                <a16:creationId xmlns:a16="http://schemas.microsoft.com/office/drawing/2014/main" id="{62E229B3-4F38-40BB-8AD9-3B3967A1B5F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ce06dd73ea24a84"/>
          <a:stretch xmlns:a="http://schemas.openxmlformats.org/drawingml/2006/main"/>
        </p:blipFill>
        <p:spPr>
          <a:xfrm xmlns:a="http://schemas.openxmlformats.org/drawingml/2006/main">
            <a:off x="718457" y="2038350"/>
            <a:ext cx="5878286" cy="3429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BEECC7A-08D5-4FCE-B2BB-887A4F8E8FC6}"/>
              </a:ext>
            </a:extLst>
          </p:cNvPr>
          <p:cNvSpPr>
            <a:spLocks xmlns:a="http://schemas.openxmlformats.org/drawingml/2006/main" noGrp="1"/>
          </p:cNvSpPr>
          <p:nvPr/>
        </p:nvSpPr>
        <p:spPr>
          <a:xfrm xmlns:a="http://schemas.openxmlformats.org/drawingml/2006/main">
            <a:off x="712470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 carefully</a:t>
            </a:r>
          </a:p>
        </p:txBody>
      </p:sp>
      <p:sp>
        <p:nvSpPr>
          <p:cNvPr id="6" name="">
            <a:extLst xmlns:a="http://schemas.openxmlformats.org/drawingml/2006/main">
              <a:ext uri="{FF2B5EF4-FFF2-40B4-BE49-F238E27FC236}">
                <a16:creationId xmlns:a16="http://schemas.microsoft.com/office/drawing/2014/main" id="{F0E79AEE-0ECE-4CD3-8668-5BD056F2FC8F}"/>
              </a:ext>
            </a:extLst>
          </p:cNvPr>
          <p:cNvSpPr>
            <a:spLocks xmlns:a="http://schemas.openxmlformats.org/drawingml/2006/main" noGrp="1"/>
          </p:cNvSpPr>
          <p:nvPr/>
        </p:nvSpPr>
        <p:spPr>
          <a:xfrm xmlns:a="http://schemas.openxmlformats.org/drawingml/2006/main">
            <a:off x="7124700" y="2743200"/>
            <a:ext cx="3333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top split-gain feature in this first run was gap_open_pct. Importance is not causality, but it tells us XGBoost is using candle structure, gaps, short returns, compression, and market-relative features rather than only long trend memory.</a:t>
            </a:r>
          </a:p>
        </p:txBody>
      </p:sp>
    </p:spTree>
    <p:extLst>
      <p:ext uri="{BB962C8B-B14F-4D97-AF65-F5344CB8AC3E}">
        <p14:creationId xmlns:p14="http://schemas.microsoft.com/office/powerpoint/2010/main" val="47388677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C23B62A-8A27-45BF-AD20-F93137616CB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898BDA8-3C4E-4E05-A72D-5B7EFD8D81A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gate is small XGBoost tuning, not a large search</a:t>
            </a:r>
          </a:p>
        </p:txBody>
      </p:sp>
      <p:sp>
        <p:nvSpPr>
          <p:cNvPr id="3" name="">
            <a:extLst xmlns:a="http://schemas.openxmlformats.org/drawingml/2006/main">
              <a:ext uri="{FF2B5EF4-FFF2-40B4-BE49-F238E27FC236}">
                <a16:creationId xmlns:a16="http://schemas.microsoft.com/office/drawing/2014/main" id="{824B2C85-EECD-4DA9-A0B3-270FDD11514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93991E8-879E-4A75-A31F-A6623F8EEE52}"/>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ML-P2 earned a cautious follow-up because replay improved in both windows under fixed model settings. The ranking audit keeps us honest: this is not yet proof that the model has solved alpha.</a:t>
            </a:r>
          </a:p>
        </p:txBody>
      </p:sp>
      <p:sp>
        <p:nvSpPr>
          <p:cNvPr id="5" name="">
            <a:extLst xmlns:a="http://schemas.openxmlformats.org/drawingml/2006/main">
              <a:ext uri="{FF2B5EF4-FFF2-40B4-BE49-F238E27FC236}">
                <a16:creationId xmlns:a16="http://schemas.microsoft.com/office/drawing/2014/main" id="{66D2CE2A-BE47-483D-9323-0F3656858E23}"/>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26457032-4D7F-4FED-B553-63D65CA82E56}"/>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Run one small TRAIN-only XGBoost parameter slice: depth, rounds, and minimum child weight.</a:t>
            </a:r>
          </a:p>
        </p:txBody>
      </p:sp>
      <p:sp>
        <p:nvSpPr>
          <p:cNvPr id="7" name="">
            <a:extLst xmlns:a="http://schemas.openxmlformats.org/drawingml/2006/main">
              <a:ext uri="{FF2B5EF4-FFF2-40B4-BE49-F238E27FC236}">
                <a16:creationId xmlns:a16="http://schemas.microsoft.com/office/drawing/2014/main" id="{5AC88E58-AEBF-4FBA-B9D4-BE30235EF13B}"/>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9DDC893D-079B-4070-A857-8FCA9A98E08A}"/>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features, annual replay, thresholds, benchmark, and probability tapes fixed.</a:t>
            </a:r>
          </a:p>
        </p:txBody>
      </p:sp>
      <p:sp>
        <p:nvSpPr>
          <p:cNvPr id="9" name="">
            <a:extLst xmlns:a="http://schemas.openxmlformats.org/drawingml/2006/main">
              <a:ext uri="{FF2B5EF4-FFF2-40B4-BE49-F238E27FC236}">
                <a16:creationId xmlns:a16="http://schemas.microsoft.com/office/drawing/2014/main" id="{3A1E38DE-BA72-43C9-9420-2BA16F8A2F23}"/>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6ACE310E-2B3F-49FE-B15E-837E01C5C9AA}"/>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2022: XGBoost AUC was 0.478, so defense may still be fragile.</a:t>
            </a:r>
          </a:p>
        </p:txBody>
      </p:sp>
      <p:sp>
        <p:nvSpPr>
          <p:cNvPr id="11" name="">
            <a:extLst xmlns:a="http://schemas.openxmlformats.org/drawingml/2006/main">
              <a:ext uri="{FF2B5EF4-FFF2-40B4-BE49-F238E27FC236}">
                <a16:creationId xmlns:a16="http://schemas.microsoft.com/office/drawing/2014/main" id="{01D97932-8695-4B3C-B2D3-D3F619C096C8}"/>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90DA2A92-546D-45BE-BC2E-271FCFEBA5C4}"/>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small tuning does not improve ranking or timing, return to feature design instead of widening model knobs.</a:t>
            </a:r>
          </a:p>
        </p:txBody>
      </p:sp>
    </p:spTree>
    <p:extLst>
      <p:ext uri="{BB962C8B-B14F-4D97-AF65-F5344CB8AC3E}">
        <p14:creationId xmlns:p14="http://schemas.microsoft.com/office/powerpoint/2010/main" val="203286980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2E8089B-BF6F-496D-ADBE-5D22EBF5C5C0}"/>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38C12AE0-CCF9-44B8-B997-C3F7DE9E13E8}"/>
              </a:ext>
            </a:extLst>
          </p:cNvPr>
          <p:cNvSpPr>
            <a:spLocks xmlns:a="http://schemas.openxmlformats.org/drawingml/2006/main" noGrp="1"/>
          </p:cNvSpPr>
          <p:nvPr/>
        </p:nvSpPr>
        <p:spPr>
          <a:xfrm xmlns:a="http://schemas.openxmlformats.org/drawingml/2006/main">
            <a:off x="685800" y="1524000"/>
            <a:ext cx="7810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Now we ask whether</a:t>
            </a:r>
          </a:p>
          <a:p xmlns:a="http://schemas.openxmlformats.org/drawingml/2006/main">
            <a:pPr algn="l">
              <a:defRPr sz="3600" b="1" i="0">
                <a:solidFill>
                  <a:srgbClr val="000000"/>
                </a:solidFill>
              </a:defRPr>
            </a:pPr>
            <a:r>
              <a:rPr sz="3600" b="1" i="0">
                <a:solidFill>
                  <a:srgbClr val="000000"/>
                </a:solidFill>
              </a:rPr>
              <a:t>XGBoost was undertuned</a:t>
            </a:r>
          </a:p>
        </p:txBody>
      </p:sp>
      <p:sp>
        <p:nvSpPr>
          <p:cNvPr id="3" name="">
            <a:extLst xmlns:a="http://schemas.openxmlformats.org/drawingml/2006/main">
              <a:ext uri="{FF2B5EF4-FFF2-40B4-BE49-F238E27FC236}">
                <a16:creationId xmlns:a16="http://schemas.microsoft.com/office/drawing/2014/main" id="{6C72FE47-BDB3-4483-8610-61E26DC7CDE2}"/>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A07CA28-4121-4E17-8880-B72BC5EF39C2}"/>
              </a:ext>
            </a:extLst>
          </p:cNvPr>
          <p:cNvSpPr>
            <a:spLocks xmlns:a="http://schemas.openxmlformats.org/drawingml/2006/main" noGrp="1"/>
          </p:cNvSpPr>
          <p:nvPr/>
        </p:nvSpPr>
        <p:spPr>
          <a:xfrm xmlns:a="http://schemas.openxmlformats.org/drawingml/2006/main">
            <a:off x="723900" y="3467100"/>
            <a:ext cx="752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ML-P2b keeps the ML-P2 surface fixed and changes only XGBoost depth, rounds, and minimum child weight. Parameters are selected inside each TRAIN fold before OOS replay.</a:t>
            </a:r>
          </a:p>
        </p:txBody>
      </p:sp>
      <p:sp>
        <p:nvSpPr>
          <p:cNvPr id="5" name="">
            <a:extLst xmlns:a="http://schemas.openxmlformats.org/drawingml/2006/main">
              <a:ext uri="{FF2B5EF4-FFF2-40B4-BE49-F238E27FC236}">
                <a16:creationId xmlns:a16="http://schemas.microsoft.com/office/drawing/2014/main" id="{7D3F08F4-C8DE-46BD-9E48-F5E0A2A323BE}"/>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AF6FB94-9F50-4647-90C2-5ECCBF0D571E}"/>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ML-P2b</a:t>
            </a:r>
          </a:p>
        </p:txBody>
      </p:sp>
      <p:sp>
        <p:nvSpPr>
          <p:cNvPr id="7" name="">
            <a:extLst xmlns:a="http://schemas.openxmlformats.org/drawingml/2006/main">
              <a:ext uri="{FF2B5EF4-FFF2-40B4-BE49-F238E27FC236}">
                <a16:creationId xmlns:a16="http://schemas.microsoft.com/office/drawing/2014/main" id="{006C615B-ED9A-47FB-93F7-24E871FAF9B6}"/>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Small TRAIN grid</a:t>
            </a:r>
          </a:p>
        </p:txBody>
      </p:sp>
    </p:spTree>
    <p:extLst>
      <p:ext uri="{BB962C8B-B14F-4D97-AF65-F5344CB8AC3E}">
        <p14:creationId xmlns:p14="http://schemas.microsoft.com/office/powerpoint/2010/main" val="93737232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4C82F00-0E15-43C8-96BE-1097693AA3F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9A12640-E880-4C10-B55F-4FA19785061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TRAIN grid wanted the most flexible candidate</a:t>
            </a:r>
          </a:p>
        </p:txBody>
      </p:sp>
      <p:sp>
        <p:nvSpPr>
          <p:cNvPr id="3" name="">
            <a:extLst xmlns:a="http://schemas.openxmlformats.org/drawingml/2006/main">
              <a:ext uri="{FF2B5EF4-FFF2-40B4-BE49-F238E27FC236}">
                <a16:creationId xmlns:a16="http://schemas.microsoft.com/office/drawing/2014/main" id="{46426F1C-FBD4-4F7A-A267-E07503B1AD9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6486BD-9E59-4ECB-BAE3-2BADDE726257}"/>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58D577E1-6C3E-4C86-8379-BCA6AB69B543}"/>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56E327F2-1ECD-4D1F-B80C-6E64A9A036E8}"/>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1B030FE0-487F-4A5A-963E-BE1C3E64EC7C}"/>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Parameter and threshold choices stay inside TRAIN.</a:t>
            </a:r>
          </a:p>
        </p:txBody>
      </p:sp>
      <p:sp>
        <p:nvSpPr>
          <p:cNvPr id="8" name="">
            <a:extLst xmlns:a="http://schemas.openxmlformats.org/drawingml/2006/main">
              <a:ext uri="{FF2B5EF4-FFF2-40B4-BE49-F238E27FC236}">
                <a16:creationId xmlns:a16="http://schemas.microsoft.com/office/drawing/2014/main" id="{71D8F9BE-F74E-4400-91F5-F40AA6A30208}"/>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3E5C1204-7F4C-4DAC-8772-F4CE9CC724CB}"/>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CANDIDATE</a:t>
            </a:r>
          </a:p>
        </p:txBody>
      </p:sp>
      <p:sp>
        <p:nvSpPr>
          <p:cNvPr id="10" name="">
            <a:extLst xmlns:a="http://schemas.openxmlformats.org/drawingml/2006/main">
              <a:ext uri="{FF2B5EF4-FFF2-40B4-BE49-F238E27FC236}">
                <a16:creationId xmlns:a16="http://schemas.microsoft.com/office/drawing/2014/main" id="{FB041461-0D51-4ED2-998C-E033DE0142CD}"/>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d4 r100</a:t>
            </a:r>
          </a:p>
        </p:txBody>
      </p:sp>
      <p:sp>
        <p:nvSpPr>
          <p:cNvPr id="11" name="">
            <a:extLst xmlns:a="http://schemas.openxmlformats.org/drawingml/2006/main">
              <a:ext uri="{FF2B5EF4-FFF2-40B4-BE49-F238E27FC236}">
                <a16:creationId xmlns:a16="http://schemas.microsoft.com/office/drawing/2014/main" id="{72F69C0A-5865-4109-A49F-9EB630B8A766}"/>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Unique parameter candidate selected across folds.</a:t>
            </a:r>
          </a:p>
        </p:txBody>
      </p:sp>
      <p:sp>
        <p:nvSpPr>
          <p:cNvPr id="12" name="">
            <a:extLst xmlns:a="http://schemas.openxmlformats.org/drawingml/2006/main">
              <a:ext uri="{FF2B5EF4-FFF2-40B4-BE49-F238E27FC236}">
                <a16:creationId xmlns:a16="http://schemas.microsoft.com/office/drawing/2014/main" id="{58762168-A1B4-4784-A400-BD38531AFE83}"/>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B40DEDD6-504A-4ABB-9630-90A2312230E2}"/>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DEPTH / ROUNDS</a:t>
            </a:r>
          </a:p>
        </p:txBody>
      </p:sp>
      <p:sp>
        <p:nvSpPr>
          <p:cNvPr id="14" name="">
            <a:extLst xmlns:a="http://schemas.openxmlformats.org/drawingml/2006/main">
              <a:ext uri="{FF2B5EF4-FFF2-40B4-BE49-F238E27FC236}">
                <a16:creationId xmlns:a16="http://schemas.microsoft.com/office/drawing/2014/main" id="{BA313DB0-7E25-41A2-9311-7F9333BFEDAD}"/>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 / 100</a:t>
            </a:r>
          </a:p>
        </p:txBody>
      </p:sp>
      <p:sp>
        <p:nvSpPr>
          <p:cNvPr id="15" name="">
            <a:extLst xmlns:a="http://schemas.openxmlformats.org/drawingml/2006/main">
              <a:ext uri="{FF2B5EF4-FFF2-40B4-BE49-F238E27FC236}">
                <a16:creationId xmlns:a16="http://schemas.microsoft.com/office/drawing/2014/main" id="{7E7A2EFD-455E-4A50-88CB-0310E97B8FD0}"/>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Depth and boosting rounds selected by TRAIN proxy evidence.</a:t>
            </a:r>
          </a:p>
        </p:txBody>
      </p:sp>
      <p:sp>
        <p:nvSpPr>
          <p:cNvPr id="16" name="">
            <a:extLst xmlns:a="http://schemas.openxmlformats.org/drawingml/2006/main">
              <a:ext uri="{FF2B5EF4-FFF2-40B4-BE49-F238E27FC236}">
                <a16:creationId xmlns:a16="http://schemas.microsoft.com/office/drawing/2014/main" id="{D9B71EFF-CA69-46DD-8AC7-6FDBADD1D50B}"/>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82BE9B9D-E667-4A6B-BED8-6B78C53E0534}"/>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MIN CHILD</a:t>
            </a:r>
          </a:p>
        </p:txBody>
      </p:sp>
      <p:sp>
        <p:nvSpPr>
          <p:cNvPr id="18" name="">
            <a:extLst xmlns:a="http://schemas.openxmlformats.org/drawingml/2006/main">
              <a:ext uri="{FF2B5EF4-FFF2-40B4-BE49-F238E27FC236}">
                <a16:creationId xmlns:a16="http://schemas.microsoft.com/office/drawing/2014/main" id="{F95F036D-FADD-4BC4-BA64-680569FB0154}"/>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a:t>
            </a:r>
          </a:p>
        </p:txBody>
      </p:sp>
      <p:sp>
        <p:nvSpPr>
          <p:cNvPr id="19" name="">
            <a:extLst xmlns:a="http://schemas.openxmlformats.org/drawingml/2006/main">
              <a:ext uri="{FF2B5EF4-FFF2-40B4-BE49-F238E27FC236}">
                <a16:creationId xmlns:a16="http://schemas.microsoft.com/office/drawing/2014/main" id="{81CA8931-7C44-4D40-BC88-64C642904933}"/>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Minimum child weight selected by TRAIN proxy evidence.</a:t>
            </a:r>
          </a:p>
        </p:txBody>
      </p:sp>
      <p:sp>
        <p:nvSpPr>
          <p:cNvPr id="20" name="">
            <a:extLst xmlns:a="http://schemas.openxmlformats.org/drawingml/2006/main">
              <a:ext uri="{FF2B5EF4-FFF2-40B4-BE49-F238E27FC236}">
                <a16:creationId xmlns:a16="http://schemas.microsoft.com/office/drawing/2014/main" id="{91557709-B88A-4F8F-A55E-E8D4B45CB8E7}"/>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Every tested fold selected the same aggressive candidate: depth 4, 100 rounds, min_child_weight 5. That is a useful diagnostic, but it has to earn its keep OOS.</a:t>
            </a:r>
          </a:p>
        </p:txBody>
      </p:sp>
    </p:spTree>
    <p:extLst>
      <p:ext uri="{BB962C8B-B14F-4D97-AF65-F5344CB8AC3E}">
        <p14:creationId xmlns:p14="http://schemas.microsoft.com/office/powerpoint/2010/main" val="143171435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5699C0B-F204-4B22-B113-FB1B5E75F07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8CE470C-9DBE-4891-9D7E-5C36D72C666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grid did not improve OOS replay</a:t>
            </a:r>
          </a:p>
        </p:txBody>
      </p:sp>
      <p:sp>
        <p:nvSpPr>
          <p:cNvPr id="3" name="">
            <a:extLst xmlns:a="http://schemas.openxmlformats.org/drawingml/2006/main">
              <a:ext uri="{FF2B5EF4-FFF2-40B4-BE49-F238E27FC236}">
                <a16:creationId xmlns:a16="http://schemas.microsoft.com/office/drawing/2014/main" id="{AF712DC6-4AD9-4D4D-9E0A-6CBC90D6963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4324D5-73F1-41C3-891F-0109052D4105}"/>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00ECACC9-BA22-471F-ACB2-5202431A7CB6}"/>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FIXED XGB</a:t>
            </a:r>
          </a:p>
        </p:txBody>
      </p:sp>
      <p:sp>
        <p:nvSpPr>
          <p:cNvPr id="6" name="">
            <a:extLst xmlns:a="http://schemas.openxmlformats.org/drawingml/2006/main">
              <a:ext uri="{FF2B5EF4-FFF2-40B4-BE49-F238E27FC236}">
                <a16:creationId xmlns:a16="http://schemas.microsoft.com/office/drawing/2014/main" id="{84245BFF-5376-47D4-8474-0D2A8AAF0634}"/>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C662270F-042D-4802-B394-AD4A517FF466}"/>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1B47E760-BF25-4401-A32F-EE4B7F379367}"/>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8054FF82-A114-49C6-8CCC-EFF00AF0DBDE}"/>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SELECTED</a:t>
            </a:r>
          </a:p>
        </p:txBody>
      </p:sp>
      <p:sp>
        <p:nvSpPr>
          <p:cNvPr id="10" name="">
            <a:extLst xmlns:a="http://schemas.openxmlformats.org/drawingml/2006/main">
              <a:ext uri="{FF2B5EF4-FFF2-40B4-BE49-F238E27FC236}">
                <a16:creationId xmlns:a16="http://schemas.microsoft.com/office/drawing/2014/main" id="{97CC08C5-31D1-4B41-9DCA-F5F3C2037C90}"/>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78.1%</a:t>
            </a:r>
          </a:p>
        </p:txBody>
      </p:sp>
      <p:sp>
        <p:nvSpPr>
          <p:cNvPr id="11" name="">
            <a:extLst xmlns:a="http://schemas.openxmlformats.org/drawingml/2006/main">
              <a:ext uri="{FF2B5EF4-FFF2-40B4-BE49-F238E27FC236}">
                <a16:creationId xmlns:a16="http://schemas.microsoft.com/office/drawing/2014/main" id="{CA2B1FCE-4823-48A3-8295-DEAF0E234A09}"/>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XGB was 108.9%.</a:t>
            </a:r>
          </a:p>
        </p:txBody>
      </p:sp>
      <p:sp>
        <p:nvSpPr>
          <p:cNvPr id="12" name="">
            <a:extLst xmlns:a="http://schemas.openxmlformats.org/drawingml/2006/main">
              <a:ext uri="{FF2B5EF4-FFF2-40B4-BE49-F238E27FC236}">
                <a16:creationId xmlns:a16="http://schemas.microsoft.com/office/drawing/2014/main" id="{CA9D57C0-22FB-47C0-827A-BF50ABDF0A5D}"/>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7B65031C-42AC-43F2-8589-347239EABAAC}"/>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FIXED XGB</a:t>
            </a:r>
          </a:p>
        </p:txBody>
      </p:sp>
      <p:sp>
        <p:nvSpPr>
          <p:cNvPr id="14" name="">
            <a:extLst xmlns:a="http://schemas.openxmlformats.org/drawingml/2006/main">
              <a:ext uri="{FF2B5EF4-FFF2-40B4-BE49-F238E27FC236}">
                <a16:creationId xmlns:a16="http://schemas.microsoft.com/office/drawing/2014/main" id="{D56F30C6-E965-41F2-B91A-6F5D43E1AF5A}"/>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5" name="">
            <a:extLst xmlns:a="http://schemas.openxmlformats.org/drawingml/2006/main">
              <a:ext uri="{FF2B5EF4-FFF2-40B4-BE49-F238E27FC236}">
                <a16:creationId xmlns:a16="http://schemas.microsoft.com/office/drawing/2014/main" id="{32569589-F9E4-4C69-A2B9-095B0E617246}"/>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-53.3%.</a:t>
            </a:r>
          </a:p>
        </p:txBody>
      </p:sp>
      <p:sp>
        <p:nvSpPr>
          <p:cNvPr id="16" name="">
            <a:extLst xmlns:a="http://schemas.openxmlformats.org/drawingml/2006/main">
              <a:ext uri="{FF2B5EF4-FFF2-40B4-BE49-F238E27FC236}">
                <a16:creationId xmlns:a16="http://schemas.microsoft.com/office/drawing/2014/main" id="{BE651B9A-A586-40E1-83D1-198A327A17B1}"/>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0A6D6DD8-F6B4-4C94-8F6A-88F2715B78E3}"/>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SELECTED</a:t>
            </a:r>
          </a:p>
        </p:txBody>
      </p:sp>
      <p:sp>
        <p:nvSpPr>
          <p:cNvPr id="18" name="">
            <a:extLst xmlns:a="http://schemas.openxmlformats.org/drawingml/2006/main">
              <a:ext uri="{FF2B5EF4-FFF2-40B4-BE49-F238E27FC236}">
                <a16:creationId xmlns:a16="http://schemas.microsoft.com/office/drawing/2014/main" id="{94809085-A026-465A-842F-1078238DE32C}"/>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-41.7%</a:t>
            </a:r>
          </a:p>
        </p:txBody>
      </p:sp>
      <p:sp>
        <p:nvSpPr>
          <p:cNvPr id="19" name="">
            <a:extLst xmlns:a="http://schemas.openxmlformats.org/drawingml/2006/main">
              <a:ext uri="{FF2B5EF4-FFF2-40B4-BE49-F238E27FC236}">
                <a16:creationId xmlns:a16="http://schemas.microsoft.com/office/drawing/2014/main" id="{80C83A51-4921-4696-96B7-38E55F3814E1}"/>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XGB was -37.8%.</a:t>
            </a:r>
          </a:p>
        </p:txBody>
      </p:sp>
      <p:sp>
        <p:nvSpPr>
          <p:cNvPr id="20" name="">
            <a:extLst xmlns:a="http://schemas.openxmlformats.org/drawingml/2006/main">
              <a:ext uri="{FF2B5EF4-FFF2-40B4-BE49-F238E27FC236}">
                <a16:creationId xmlns:a16="http://schemas.microsoft.com/office/drawing/2014/main" id="{362EAC7B-10A1-4E7E-83F2-0A27EF648D45}"/>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selected grid was worse than the fixed XGBoost control in both windows under the same TRAIN forward-return policy. This argues against widening model knobs before improving features or labels.</a:t>
            </a:r>
          </a:p>
        </p:txBody>
      </p:sp>
    </p:spTree>
    <p:extLst>
      <p:ext uri="{BB962C8B-B14F-4D97-AF65-F5344CB8AC3E}">
        <p14:creationId xmlns:p14="http://schemas.microsoft.com/office/powerpoint/2010/main" val="87122166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807E00B-34A2-46BC-A2E7-AF02018A4FD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E38A9ED-2DEB-4650-A3E2-F45E2792972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tuning did not solve the core tradeoff</a:t>
            </a:r>
          </a:p>
        </p:txBody>
      </p:sp>
      <p:sp>
        <p:nvSpPr>
          <p:cNvPr id="3" name="">
            <a:extLst xmlns:a="http://schemas.openxmlformats.org/drawingml/2006/main">
              <a:ext uri="{FF2B5EF4-FFF2-40B4-BE49-F238E27FC236}">
                <a16:creationId xmlns:a16="http://schemas.microsoft.com/office/drawing/2014/main" id="{97473870-C584-4DF6-BB56-30CD0237F1B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e7d1ca5d5eb4eff"/>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5F952E1-5A7C-46BC-BB5F-4FEC84C1483A}"/>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E06A79AF-5D9D-47B4-B0A6-D42883CDD379}"/>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TRAIN-selected candidate returned 78.1% in 2020 versus fixed XGB 108.9%, and -41.7% in 2022 versus fixed XGB -37.8%. It did not close the bull-window gap.</a:t>
            </a:r>
          </a:p>
        </p:txBody>
      </p:sp>
    </p:spTree>
    <p:extLst>
      <p:ext uri="{BB962C8B-B14F-4D97-AF65-F5344CB8AC3E}">
        <p14:creationId xmlns:p14="http://schemas.microsoft.com/office/powerpoint/2010/main" val="41690495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884138B-F20A-46C8-8E95-6C6F5352DAB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1C8E62F-57CC-4080-AFE1-A1F0C84DF75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quality got weaker, not stronger</a:t>
            </a:r>
          </a:p>
        </p:txBody>
      </p:sp>
      <p:sp>
        <p:nvSpPr>
          <p:cNvPr id="3" name="">
            <a:extLst xmlns:a="http://schemas.openxmlformats.org/drawingml/2006/main">
              <a:ext uri="{FF2B5EF4-FFF2-40B4-BE49-F238E27FC236}">
                <a16:creationId xmlns:a16="http://schemas.microsoft.com/office/drawing/2014/main" id="{0D3B5077-B725-4D35-809E-F56D7F21187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c29136726474eb8"/>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9F196BD-D847-49B8-B96C-CA2ECAF1DED2}"/>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C902DAA3-38BE-4984-83EB-1EEB2958D6B6}"/>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selected-grid 2020 AUC was 0.489 versus fixed XGB 0.510. In 2022, selected-grid AUC was 0.481 and top-minus-bottom return separation stayed negative.</a:t>
            </a:r>
          </a:p>
        </p:txBody>
      </p:sp>
    </p:spTree>
    <p:extLst>
      <p:ext uri="{BB962C8B-B14F-4D97-AF65-F5344CB8AC3E}">
        <p14:creationId xmlns:p14="http://schemas.microsoft.com/office/powerpoint/2010/main" val="115713097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CBD7FAD-F4E4-413A-9BF3-04CCA557C9C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3EB7CD4-422F-4EDF-8D67-0BB37C1D5DA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parameter audit is a stop sign for knob-chasing</a:t>
            </a:r>
          </a:p>
        </p:txBody>
      </p:sp>
      <p:sp>
        <p:nvSpPr>
          <p:cNvPr id="3" name="">
            <a:extLst xmlns:a="http://schemas.openxmlformats.org/drawingml/2006/main">
              <a:ext uri="{FF2B5EF4-FFF2-40B4-BE49-F238E27FC236}">
                <a16:creationId xmlns:a16="http://schemas.microsoft.com/office/drawing/2014/main" id="{8791C73E-CBAD-478E-9075-21E9540F64A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6fc6375f7ca4585"/>
          <a:stretch xmlns:a="http://schemas.openxmlformats.org/drawingml/2006/main"/>
        </p:blipFill>
        <p:spPr>
          <a:xfrm xmlns:a="http://schemas.openxmlformats.org/drawingml/2006/main">
            <a:off x="704850" y="2104292"/>
            <a:ext cx="5715000" cy="329711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3756267-28D4-461B-B052-BC1FFFAC1D2A}"/>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Implication</a:t>
            </a:r>
          </a:p>
        </p:txBody>
      </p:sp>
      <p:sp>
        <p:nvSpPr>
          <p:cNvPr id="6" name="">
            <a:extLst xmlns:a="http://schemas.openxmlformats.org/drawingml/2006/main">
              <a:ext uri="{FF2B5EF4-FFF2-40B4-BE49-F238E27FC236}">
                <a16:creationId xmlns:a16="http://schemas.microsoft.com/office/drawing/2014/main" id="{5B535094-0BAA-4741-BF41-561A52A40276}"/>
              </a:ext>
            </a:extLst>
          </p:cNvPr>
          <p:cNvSpPr>
            <a:spLocks xmlns:a="http://schemas.openxmlformats.org/drawingml/2006/main" noGrp="1"/>
          </p:cNvSpPr>
          <p:nvPr/>
        </p:nvSpPr>
        <p:spPr>
          <a:xfrm xmlns:a="http://schemas.openxmlformats.org/drawingml/2006/main">
            <a:off x="7105650" y="2743200"/>
            <a:ext cx="3333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proxy consistently prefers more flexible trees, but OOS evidence does not reward that flexibility. The next productive slice should target signal definition: richer feature design, alternative labels, or probability calibration with a specific hypothesis.</a:t>
            </a:r>
          </a:p>
        </p:txBody>
      </p:sp>
    </p:spTree>
    <p:extLst>
      <p:ext uri="{BB962C8B-B14F-4D97-AF65-F5344CB8AC3E}">
        <p14:creationId xmlns:p14="http://schemas.microsoft.com/office/powerpoint/2010/main" val="75572067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68DA032-2192-4163-A538-B9609E64BBE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E4757CD-EB5B-4776-81FE-AF02D8278AA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confirm the model is still noisy near the boundary</a:t>
            </a:r>
          </a:p>
        </p:txBody>
      </p:sp>
      <p:sp>
        <p:nvSpPr>
          <p:cNvPr id="3" name="">
            <a:extLst xmlns:a="http://schemas.openxmlformats.org/drawingml/2006/main">
              <a:ext uri="{FF2B5EF4-FFF2-40B4-BE49-F238E27FC236}">
                <a16:creationId xmlns:a16="http://schemas.microsoft.com/office/drawing/2014/main" id="{74755AE7-B84D-4452-89B7-5A17D145595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17a83e915b94744"/>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1C64E4E-5796-4EB3-B826-8309508DD107}"/>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6E008331-91BC-4B5E-A47F-2F644E6947BD}"/>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selected grid changes probability texture, but it still spends too much time around the threshold rather than cleanly separating high-participation and risk-off periods.</a:t>
            </a:r>
          </a:p>
        </p:txBody>
      </p:sp>
    </p:spTree>
    <p:extLst>
      <p:ext uri="{BB962C8B-B14F-4D97-AF65-F5344CB8AC3E}">
        <p14:creationId xmlns:p14="http://schemas.microsoft.com/office/powerpoint/2010/main" val="48561047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901A89C-6068-4549-BF72-41DE877A5D4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537955F-4BC5-48B4-AD78-700807EE6CB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gate should return to features and labels</a:t>
            </a:r>
          </a:p>
        </p:txBody>
      </p:sp>
      <p:sp>
        <p:nvSpPr>
          <p:cNvPr id="3" name="">
            <a:extLst xmlns:a="http://schemas.openxmlformats.org/drawingml/2006/main">
              <a:ext uri="{FF2B5EF4-FFF2-40B4-BE49-F238E27FC236}">
                <a16:creationId xmlns:a16="http://schemas.microsoft.com/office/drawing/2014/main" id="{53B0743B-65DC-4BFC-A680-D7BC2A6A064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1C64EA6-B557-4BE3-B2CA-16BA17BE0DF0}"/>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ML-P2b answered the narrow tuning question: small TRAIN-only XGBoost parameter selection did not improve OOS ranking or replay versus the fixed control.</a:t>
            </a:r>
          </a:p>
        </p:txBody>
      </p:sp>
      <p:sp>
        <p:nvSpPr>
          <p:cNvPr id="5" name="">
            <a:extLst xmlns:a="http://schemas.openxmlformats.org/drawingml/2006/main">
              <a:ext uri="{FF2B5EF4-FFF2-40B4-BE49-F238E27FC236}">
                <a16:creationId xmlns:a16="http://schemas.microsoft.com/office/drawing/2014/main" id="{030EB492-1458-45B7-9FC3-6842CA59D31A}"/>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AFEA52A5-C45A-4150-8A9F-AD3EFE5D5387}"/>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broaden XGBoost search yet; that would mostly increase overfit surface area.</a:t>
            </a:r>
          </a:p>
        </p:txBody>
      </p:sp>
      <p:sp>
        <p:nvSpPr>
          <p:cNvPr id="7" name="">
            <a:extLst xmlns:a="http://schemas.openxmlformats.org/drawingml/2006/main">
              <a:ext uri="{FF2B5EF4-FFF2-40B4-BE49-F238E27FC236}">
                <a16:creationId xmlns:a16="http://schemas.microsoft.com/office/drawing/2014/main" id="{74CD8E0D-8AE0-44FE-B0D9-F3F913097C2B}"/>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01D1F121-F29B-4E34-89F2-D7DEE67B0B1D}"/>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high-signal slice: feature-family ablation or richer supervised labels, still under annual continuity replay.</a:t>
            </a:r>
          </a:p>
        </p:txBody>
      </p:sp>
      <p:sp>
        <p:nvSpPr>
          <p:cNvPr id="9" name="">
            <a:extLst xmlns:a="http://schemas.openxmlformats.org/drawingml/2006/main">
              <a:ext uri="{FF2B5EF4-FFF2-40B4-BE49-F238E27FC236}">
                <a16:creationId xmlns:a16="http://schemas.microsoft.com/office/drawing/2014/main" id="{D561512F-1329-4E19-BB60-E42F62B9BF75}"/>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891A7DC1-11B8-4B62-BBB1-2A086FBCB000}"/>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XGBoost as the nonlinear model class, but make the input/target question sharper.</a:t>
            </a:r>
          </a:p>
        </p:txBody>
      </p:sp>
      <p:sp>
        <p:nvSpPr>
          <p:cNvPr id="11" name="">
            <a:extLst xmlns:a="http://schemas.openxmlformats.org/drawingml/2006/main">
              <a:ext uri="{FF2B5EF4-FFF2-40B4-BE49-F238E27FC236}">
                <a16:creationId xmlns:a16="http://schemas.microsoft.com/office/drawing/2014/main" id="{85BFA678-0AB0-454D-9535-9608E7C54209}"/>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8D7EDCDC-4807-4D8B-9D22-F675B8C9F6FC}"/>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Live advice remains walled off; this is research-only evidence.</a:t>
            </a:r>
          </a:p>
        </p:txBody>
      </p:sp>
    </p:spTree>
    <p:extLst>
      <p:ext uri="{BB962C8B-B14F-4D97-AF65-F5344CB8AC3E}">
        <p14:creationId xmlns:p14="http://schemas.microsoft.com/office/powerpoint/2010/main" val="11338925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A72AE84-0702-4F07-8A9E-9BFCC7BD68FC}"/>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C4E9D1CA-11F4-4051-B389-AD07653623FF}"/>
              </a:ext>
            </a:extLst>
          </p:cNvPr>
          <p:cNvSpPr>
            <a:spLocks xmlns:a="http://schemas.openxmlformats.org/drawingml/2006/main" noGrp="1"/>
          </p:cNvSpPr>
          <p:nvPr/>
        </p:nvSpPr>
        <p:spPr>
          <a:xfrm xmlns:a="http://schemas.openxmlformats.org/drawingml/2006/main">
            <a:off x="685800" y="1562100"/>
            <a:ext cx="8096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i="0">
                <a:solidFill>
                  <a:srgbClr val="000000"/>
                </a:solidFill>
              </a:defRPr>
            </a:pPr>
            <a:r>
              <a:rPr sz="3750" b="1" i="0">
                <a:solidFill>
                  <a:srgbClr val="000000"/>
                </a:solidFill>
              </a:rPr>
              <a:t>Now we test what information the model sees</a:t>
            </a:r>
          </a:p>
        </p:txBody>
      </p:sp>
      <p:sp>
        <p:nvSpPr>
          <p:cNvPr id="3" name="">
            <a:extLst xmlns:a="http://schemas.openxmlformats.org/drawingml/2006/main">
              <a:ext uri="{FF2B5EF4-FFF2-40B4-BE49-F238E27FC236}">
                <a16:creationId xmlns:a16="http://schemas.microsoft.com/office/drawing/2014/main" id="{0091C183-4529-4025-8A76-BAB006EF2FD8}"/>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9B3E77A-8894-4064-ABF2-58465B07DC78}"/>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ML-P3 keeps seeded XGBoost, h1 labels, TRAIN-only threshold selection, annual replay, and benchmark comparison fixed. Only feature-set membership changes.</a:t>
            </a:r>
          </a:p>
        </p:txBody>
      </p:sp>
      <p:sp>
        <p:nvSpPr>
          <p:cNvPr id="5" name="">
            <a:extLst xmlns:a="http://schemas.openxmlformats.org/drawingml/2006/main">
              <a:ext uri="{FF2B5EF4-FFF2-40B4-BE49-F238E27FC236}">
                <a16:creationId xmlns:a16="http://schemas.microsoft.com/office/drawing/2014/main" id="{10239610-6F58-4CD4-A6BE-244A22346FC4}"/>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98FF9D9-1B97-41CC-A228-EA45D7DAFC37}"/>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ML-P3</a:t>
            </a:r>
          </a:p>
        </p:txBody>
      </p:sp>
      <p:sp>
        <p:nvSpPr>
          <p:cNvPr id="7" name="">
            <a:extLst xmlns:a="http://schemas.openxmlformats.org/drawingml/2006/main">
              <a:ext uri="{FF2B5EF4-FFF2-40B4-BE49-F238E27FC236}">
                <a16:creationId xmlns:a16="http://schemas.microsoft.com/office/drawing/2014/main" id="{D1DCDC85-EE7D-42A3-BB78-C1FCE194F28B}"/>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Feature sets</a:t>
            </a:r>
          </a:p>
        </p:txBody>
      </p:sp>
    </p:spTree>
    <p:extLst>
      <p:ext uri="{BB962C8B-B14F-4D97-AF65-F5344CB8AC3E}">
        <p14:creationId xmlns:p14="http://schemas.microsoft.com/office/powerpoint/2010/main" val="73752061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11D5D6C-36A3-4B6B-AA99-6849529605C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8D4D37D-3EB0-440D-9AB6-8D943E37AF6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four feature sets ask a ladder of questions</a:t>
            </a:r>
          </a:p>
        </p:txBody>
      </p:sp>
      <p:sp>
        <p:nvSpPr>
          <p:cNvPr id="3" name="">
            <a:extLst xmlns:a="http://schemas.openxmlformats.org/drawingml/2006/main">
              <a:ext uri="{FF2B5EF4-FFF2-40B4-BE49-F238E27FC236}">
                <a16:creationId xmlns:a16="http://schemas.microsoft.com/office/drawing/2014/main" id="{E4D42953-82E8-4E5F-9379-8C7111A6F6F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FFCCE20-8CC8-4048-8C36-5B1131DF947D}"/>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A6D46A4B-7D28-4135-9E82-B66FE782296B}"/>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6298F26A-CA4E-4CF3-A640-70600883E223}"/>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A9947500-C517-46E4-BE83-2F772362AB2C}"/>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Model, label, replay, and policy are fixed.</a:t>
            </a:r>
          </a:p>
        </p:txBody>
      </p:sp>
      <p:sp>
        <p:nvSpPr>
          <p:cNvPr id="8" name="">
            <a:extLst xmlns:a="http://schemas.openxmlformats.org/drawingml/2006/main">
              <a:ext uri="{FF2B5EF4-FFF2-40B4-BE49-F238E27FC236}">
                <a16:creationId xmlns:a16="http://schemas.microsoft.com/office/drawing/2014/main" id="{43E4164D-982C-41D2-AE30-037AC95BD8F1}"/>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5289CA68-498D-4ADF-99A3-32D4A0EADCE6}"/>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ASSET ONLY</a:t>
            </a:r>
          </a:p>
        </p:txBody>
      </p:sp>
      <p:sp>
        <p:nvSpPr>
          <p:cNvPr id="10" name="">
            <a:extLst xmlns:a="http://schemas.openxmlformats.org/drawingml/2006/main">
              <a:ext uri="{FF2B5EF4-FFF2-40B4-BE49-F238E27FC236}">
                <a16:creationId xmlns:a16="http://schemas.microsoft.com/office/drawing/2014/main" id="{0F680620-A84C-47C4-833A-50543861C7B2}"/>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a:t>
            </a:r>
          </a:p>
        </p:txBody>
      </p:sp>
      <p:sp>
        <p:nvSpPr>
          <p:cNvPr id="11" name="">
            <a:extLst xmlns:a="http://schemas.openxmlformats.org/drawingml/2006/main">
              <a:ext uri="{FF2B5EF4-FFF2-40B4-BE49-F238E27FC236}">
                <a16:creationId xmlns:a16="http://schemas.microsoft.com/office/drawing/2014/main" id="{946AA4A3-0747-46E4-BF0D-FA966C85CCDE}"/>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Own-tape OHLCV features only.</a:t>
            </a:r>
          </a:p>
        </p:txBody>
      </p:sp>
      <p:sp>
        <p:nvSpPr>
          <p:cNvPr id="12" name="">
            <a:extLst xmlns:a="http://schemas.openxmlformats.org/drawingml/2006/main">
              <a:ext uri="{FF2B5EF4-FFF2-40B4-BE49-F238E27FC236}">
                <a16:creationId xmlns:a16="http://schemas.microsoft.com/office/drawing/2014/main" id="{6BA0AC29-E08E-4DC3-A44B-4A8B7047A924}"/>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1D81977D-CF06-475E-8693-831B7691159F}"/>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RELATIVE</a:t>
            </a:r>
          </a:p>
        </p:txBody>
      </p:sp>
      <p:sp>
        <p:nvSpPr>
          <p:cNvPr id="14" name="">
            <a:extLst xmlns:a="http://schemas.openxmlformats.org/drawingml/2006/main">
              <a:ext uri="{FF2B5EF4-FFF2-40B4-BE49-F238E27FC236}">
                <a16:creationId xmlns:a16="http://schemas.microsoft.com/office/drawing/2014/main" id="{D9BA5C66-1260-430B-B189-B9EED8C4BA4A}"/>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5" name="">
            <a:extLst xmlns:a="http://schemas.openxmlformats.org/drawingml/2006/main">
              <a:ext uri="{FF2B5EF4-FFF2-40B4-BE49-F238E27FC236}">
                <a16:creationId xmlns:a16="http://schemas.microsoft.com/office/drawing/2014/main" id="{7E0268EF-F448-4F65-B684-C44012CF5EEB}"/>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 plus context-relative returns.</a:t>
            </a:r>
          </a:p>
        </p:txBody>
      </p:sp>
      <p:sp>
        <p:nvSpPr>
          <p:cNvPr id="16" name="">
            <a:extLst xmlns:a="http://schemas.openxmlformats.org/drawingml/2006/main">
              <a:ext uri="{FF2B5EF4-FFF2-40B4-BE49-F238E27FC236}">
                <a16:creationId xmlns:a16="http://schemas.microsoft.com/office/drawing/2014/main" id="{2B3CAE98-0DDB-4F64-8E6A-5DAE1DDD33B4}"/>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BA7A1A62-2FD5-4EF0-BA6F-F43BF0DC2943}"/>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FULL COMPACT</a:t>
            </a:r>
          </a:p>
        </p:txBody>
      </p:sp>
      <p:sp>
        <p:nvSpPr>
          <p:cNvPr id="18" name="">
            <a:extLst xmlns:a="http://schemas.openxmlformats.org/drawingml/2006/main">
              <a:ext uri="{FF2B5EF4-FFF2-40B4-BE49-F238E27FC236}">
                <a16:creationId xmlns:a16="http://schemas.microsoft.com/office/drawing/2014/main" id="{F177DE87-C703-42E6-990E-844B1D2CA107}"/>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76</a:t>
            </a:r>
          </a:p>
        </p:txBody>
      </p:sp>
      <p:sp>
        <p:nvSpPr>
          <p:cNvPr id="19" name="">
            <a:extLst xmlns:a="http://schemas.openxmlformats.org/drawingml/2006/main">
              <a:ext uri="{FF2B5EF4-FFF2-40B4-BE49-F238E27FC236}">
                <a16:creationId xmlns:a16="http://schemas.microsoft.com/office/drawing/2014/main" id="{6877F4DD-D7C6-4C87-84AB-9C42FBD6752C}"/>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Own tape plus direct context plus relative strength.</a:t>
            </a:r>
          </a:p>
        </p:txBody>
      </p:sp>
      <p:sp>
        <p:nvSpPr>
          <p:cNvPr id="20" name="">
            <a:extLst xmlns:a="http://schemas.openxmlformats.org/drawingml/2006/main">
              <a:ext uri="{FF2B5EF4-FFF2-40B4-BE49-F238E27FC236}">
                <a16:creationId xmlns:a16="http://schemas.microsoft.com/office/drawing/2014/main" id="{A125D1E4-8A10-42D0-AADD-8856B8B59EFF}"/>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point is not to add features for their own sake. The point is to ask whether direct market context, relative strength, or compact combined context improves replay and ranking together.</a:t>
            </a:r>
          </a:p>
        </p:txBody>
      </p:sp>
    </p:spTree>
    <p:extLst>
      <p:ext uri="{BB962C8B-B14F-4D97-AF65-F5344CB8AC3E}">
        <p14:creationId xmlns:p14="http://schemas.microsoft.com/office/powerpoint/2010/main" val="460641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0075B58-E078-4AF7-A3AE-6CCFDB323DA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82A3265-8193-4B98-BBA6-D29C2AB052B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Relative strength still led 2020 replay; asset-only defended 2022 best</a:t>
            </a:r>
          </a:p>
        </p:txBody>
      </p:sp>
      <p:sp>
        <p:nvSpPr>
          <p:cNvPr id="3" name="">
            <a:extLst xmlns:a="http://schemas.openxmlformats.org/drawingml/2006/main">
              <a:ext uri="{FF2B5EF4-FFF2-40B4-BE49-F238E27FC236}">
                <a16:creationId xmlns:a16="http://schemas.microsoft.com/office/drawing/2014/main" id="{8C806A30-6BE8-4E7B-8BD5-E89BE6470CF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0DB67E0-0CC1-4EC0-A67E-C05D84CDA805}"/>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31026531-FA6D-44E6-B28B-4EA811D09EB5}"/>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RELATIVE</a:t>
            </a:r>
          </a:p>
        </p:txBody>
      </p:sp>
      <p:sp>
        <p:nvSpPr>
          <p:cNvPr id="6" name="">
            <a:extLst xmlns:a="http://schemas.openxmlformats.org/drawingml/2006/main">
              <a:ext uri="{FF2B5EF4-FFF2-40B4-BE49-F238E27FC236}">
                <a16:creationId xmlns:a16="http://schemas.microsoft.com/office/drawing/2014/main" id="{9512EF6C-18E6-43AF-8B5B-66F51C6DEB54}"/>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88802200-3D9C-41FD-8ED6-141EB45A1B6C}"/>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501E29F6-960E-43DF-B02E-4EBDA32E49DC}"/>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AB17FE09-F778-4A0B-B8DA-E459DE117BF9}"/>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ASSET-ONLY</a:t>
            </a:r>
          </a:p>
        </p:txBody>
      </p:sp>
      <p:sp>
        <p:nvSpPr>
          <p:cNvPr id="10" name="">
            <a:extLst xmlns:a="http://schemas.openxmlformats.org/drawingml/2006/main">
              <a:ext uri="{FF2B5EF4-FFF2-40B4-BE49-F238E27FC236}">
                <a16:creationId xmlns:a16="http://schemas.microsoft.com/office/drawing/2014/main" id="{5110E172-987C-4E1D-A9ED-E9BD5655A7C6}"/>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81.1%</a:t>
            </a:r>
          </a:p>
        </p:txBody>
      </p:sp>
      <p:sp>
        <p:nvSpPr>
          <p:cNvPr id="11" name="">
            <a:extLst xmlns:a="http://schemas.openxmlformats.org/drawingml/2006/main">
              <a:ext uri="{FF2B5EF4-FFF2-40B4-BE49-F238E27FC236}">
                <a16:creationId xmlns:a16="http://schemas.microsoft.com/office/drawing/2014/main" id="{30A2F46E-ACDE-4409-9B03-97D5428D7AE8}"/>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Relative-strength was 108.9%.</a:t>
            </a:r>
          </a:p>
        </p:txBody>
      </p:sp>
      <p:sp>
        <p:nvSpPr>
          <p:cNvPr id="12" name="">
            <a:extLst xmlns:a="http://schemas.openxmlformats.org/drawingml/2006/main">
              <a:ext uri="{FF2B5EF4-FFF2-40B4-BE49-F238E27FC236}">
                <a16:creationId xmlns:a16="http://schemas.microsoft.com/office/drawing/2014/main" id="{0BB08AF0-148D-45E9-8DF2-BCF77B411C5B}"/>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F47EFE18-C87C-43F4-A1BE-C486AAC74A70}"/>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ASSET-ONLY</a:t>
            </a:r>
          </a:p>
        </p:txBody>
      </p:sp>
      <p:sp>
        <p:nvSpPr>
          <p:cNvPr id="14" name="">
            <a:extLst xmlns:a="http://schemas.openxmlformats.org/drawingml/2006/main">
              <a:ext uri="{FF2B5EF4-FFF2-40B4-BE49-F238E27FC236}">
                <a16:creationId xmlns:a16="http://schemas.microsoft.com/office/drawing/2014/main" id="{541A8098-8A73-49B2-9C09-9BC7DDFAE084}"/>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-33.2%</a:t>
            </a:r>
          </a:p>
        </p:txBody>
      </p:sp>
      <p:sp>
        <p:nvSpPr>
          <p:cNvPr id="15" name="">
            <a:extLst xmlns:a="http://schemas.openxmlformats.org/drawingml/2006/main">
              <a:ext uri="{FF2B5EF4-FFF2-40B4-BE49-F238E27FC236}">
                <a16:creationId xmlns:a16="http://schemas.microsoft.com/office/drawing/2014/main" id="{00469F4E-5B93-4C2D-8BB7-250B3D9DE579}"/>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-53.3%.</a:t>
            </a:r>
          </a:p>
        </p:txBody>
      </p:sp>
      <p:sp>
        <p:nvSpPr>
          <p:cNvPr id="16" name="">
            <a:extLst xmlns:a="http://schemas.openxmlformats.org/drawingml/2006/main">
              <a:ext uri="{FF2B5EF4-FFF2-40B4-BE49-F238E27FC236}">
                <a16:creationId xmlns:a16="http://schemas.microsoft.com/office/drawing/2014/main" id="{61A47DAD-0AB8-47CA-B3CD-50D1AE3B3037}"/>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73B45A73-A58A-4E1F-B706-88A20EB81338}"/>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RELATIVE</a:t>
            </a:r>
          </a:p>
        </p:txBody>
      </p:sp>
      <p:sp>
        <p:nvSpPr>
          <p:cNvPr id="18" name="">
            <a:extLst xmlns:a="http://schemas.openxmlformats.org/drawingml/2006/main">
              <a:ext uri="{FF2B5EF4-FFF2-40B4-BE49-F238E27FC236}">
                <a16:creationId xmlns:a16="http://schemas.microsoft.com/office/drawing/2014/main" id="{C27C33C0-CC7D-4E34-BA92-A8D546BB8ED6}"/>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9" name="">
            <a:extLst xmlns:a="http://schemas.openxmlformats.org/drawingml/2006/main">
              <a:ext uri="{FF2B5EF4-FFF2-40B4-BE49-F238E27FC236}">
                <a16:creationId xmlns:a16="http://schemas.microsoft.com/office/drawing/2014/main" id="{46F97283-ACFF-4A0F-9C1A-5E22B55C8C58}"/>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Asset-only was -33.2%.</a:t>
            </a:r>
          </a:p>
        </p:txBody>
      </p:sp>
      <p:sp>
        <p:nvSpPr>
          <p:cNvPr id="20" name="">
            <a:extLst xmlns:a="http://schemas.openxmlformats.org/drawingml/2006/main">
              <a:ext uri="{FF2B5EF4-FFF2-40B4-BE49-F238E27FC236}">
                <a16:creationId xmlns:a16="http://schemas.microsoft.com/office/drawing/2014/main" id="{FCCACACC-AA6F-4197-BE9F-EAFC0A71E3C6}"/>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This is an informative split: relative strength captures more upside in the bull window, while asset-only sheds more damage in the bear window. Direct context did not improve replay in this first slice.</a:t>
            </a:r>
          </a:p>
        </p:txBody>
      </p:sp>
    </p:spTree>
    <p:extLst>
      <p:ext uri="{BB962C8B-B14F-4D97-AF65-F5344CB8AC3E}">
        <p14:creationId xmlns:p14="http://schemas.microsoft.com/office/powerpoint/2010/main" val="124364633"/>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25D0723-4888-48BB-988E-19DE6CFBAA7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8EC2C84-4099-4B27-B763-16F6D67FC9A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context can add noise before it adds edge</a:t>
            </a:r>
          </a:p>
        </p:txBody>
      </p:sp>
      <p:sp>
        <p:nvSpPr>
          <p:cNvPr id="3" name="">
            <a:extLst xmlns:a="http://schemas.openxmlformats.org/drawingml/2006/main">
              <a:ext uri="{FF2B5EF4-FFF2-40B4-BE49-F238E27FC236}">
                <a16:creationId xmlns:a16="http://schemas.microsoft.com/office/drawing/2014/main" id="{CDB4DE30-EAC5-4B5E-839E-923DA3F4711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197849be3bc491d"/>
          <a:stretch xmlns:a="http://schemas.openxmlformats.org/drawingml/2006/main"/>
        </p:blipFill>
        <p:spPr>
          <a:xfrm xmlns:a="http://schemas.openxmlformats.org/drawingml/2006/main">
            <a:off x="806824" y="2000250"/>
            <a:ext cx="695885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6F9234B-435E-4539-8566-90113BAF83BF}"/>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9FC79D23-503A-428E-8EC3-62D4E2B83055}"/>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Direct market context returned 49.3% in 2020, and full compact returned 51.9%. Both lagged relative strength at 108.9%. In 2022, asset-only was the best defender at -33.2%.</a:t>
            </a:r>
          </a:p>
        </p:txBody>
      </p:sp>
    </p:spTree>
    <p:extLst>
      <p:ext uri="{BB962C8B-B14F-4D97-AF65-F5344CB8AC3E}">
        <p14:creationId xmlns:p14="http://schemas.microsoft.com/office/powerpoint/2010/main" val="68751651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F0301C5-53C6-46E8-A0F7-1E2751715E7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6BEF2D7-3240-4FCD-AAD4-C6CBDD38982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improved a little in 2020, but replay did not follow</a:t>
            </a:r>
          </a:p>
        </p:txBody>
      </p:sp>
      <p:sp>
        <p:nvSpPr>
          <p:cNvPr id="3" name="">
            <a:extLst xmlns:a="http://schemas.openxmlformats.org/drawingml/2006/main">
              <a:ext uri="{FF2B5EF4-FFF2-40B4-BE49-F238E27FC236}">
                <a16:creationId xmlns:a16="http://schemas.microsoft.com/office/drawing/2014/main" id="{AD864B9D-F86F-48DF-B2E7-A622D4C604B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53625261eb84a3c"/>
          <a:stretch xmlns:a="http://schemas.openxmlformats.org/drawingml/2006/main"/>
        </p:blipFill>
        <p:spPr>
          <a:xfrm xmlns:a="http://schemas.openxmlformats.org/drawingml/2006/main">
            <a:off x="704850" y="2119993"/>
            <a:ext cx="5715000" cy="3265714"/>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D2BF87E-11BA-48AD-8EEC-0A4A48959119}"/>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18BB827C-A13E-4AD9-BD84-DBCE8873E4E6}"/>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2020 AUC was 0.530 from full context compact. But 2022 AUC stayed below 0.50 for all sets, and top-minus-bottom separation remained negative in 2022.</a:t>
            </a:r>
          </a:p>
        </p:txBody>
      </p:sp>
    </p:spTree>
    <p:extLst>
      <p:ext uri="{BB962C8B-B14F-4D97-AF65-F5344CB8AC3E}">
        <p14:creationId xmlns:p14="http://schemas.microsoft.com/office/powerpoint/2010/main" val="83389061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02CBA66-C481-413A-A72B-C77D7444705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010593E-0DCB-45D3-8DF9-CF98D16F02A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remain the human sanity check</a:t>
            </a:r>
          </a:p>
        </p:txBody>
      </p:sp>
      <p:sp>
        <p:nvSpPr>
          <p:cNvPr id="3" name="">
            <a:extLst xmlns:a="http://schemas.openxmlformats.org/drawingml/2006/main">
              <a:ext uri="{FF2B5EF4-FFF2-40B4-BE49-F238E27FC236}">
                <a16:creationId xmlns:a16="http://schemas.microsoft.com/office/drawing/2014/main" id="{5737AEC3-A663-4D9D-B8F2-070A013D7CD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33d60e337a54668"/>
          <a:stretch xmlns:a="http://schemas.openxmlformats.org/drawingml/2006/main"/>
        </p:blipFill>
        <p:spPr>
          <a:xfrm xmlns:a="http://schemas.openxmlformats.org/drawingml/2006/main">
            <a:off x="1000125" y="2000250"/>
            <a:ext cx="657225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5ADF8DD-5871-48AF-93E4-886481D123F3}"/>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582DC072-FCA4-403D-B014-956D8F526729}"/>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tapes show whether a feature set changes entries in market-intuitive places, or merely changes probability texture near the threshold. For now, more context did not automatically mean better trade behavior.</a:t>
            </a:r>
          </a:p>
        </p:txBody>
      </p:sp>
    </p:spTree>
    <p:extLst>
      <p:ext uri="{BB962C8B-B14F-4D97-AF65-F5344CB8AC3E}">
        <p14:creationId xmlns:p14="http://schemas.microsoft.com/office/powerpoint/2010/main" val="73735715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BE4526A-14F8-4E93-90E1-E5564673CF2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F073FD6-1071-4A37-8625-058B5DA1030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feature slice should be smaller, not wider</a:t>
            </a:r>
          </a:p>
        </p:txBody>
      </p:sp>
      <p:sp>
        <p:nvSpPr>
          <p:cNvPr id="3" name="">
            <a:extLst xmlns:a="http://schemas.openxmlformats.org/drawingml/2006/main">
              <a:ext uri="{FF2B5EF4-FFF2-40B4-BE49-F238E27FC236}">
                <a16:creationId xmlns:a16="http://schemas.microsoft.com/office/drawing/2014/main" id="{2BA08E42-542C-4A89-B549-579C48FD933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C21506-7FE4-4428-B469-6A44D36D0323}"/>
              </a:ext>
            </a:extLst>
          </p:cNvPr>
          <p:cNvSpPr>
            <a:spLocks xmlns:a="http://schemas.openxmlformats.org/drawingml/2006/main" noGrp="1"/>
          </p:cNvSpPr>
          <p:nvPr/>
        </p:nvSpPr>
        <p:spPr>
          <a:xfrm xmlns:a="http://schemas.openxmlformats.org/drawingml/2006/main">
            <a:off x="876300" y="2133600"/>
            <a:ext cx="9334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ML-P3 says the current relative-strength feature surface remains useful, but direct context features are not yet cleanly tradeable. The next feature-engineering step should explain why context helped ranking a little without improving replay.</a:t>
            </a:r>
          </a:p>
        </p:txBody>
      </p:sp>
      <p:sp>
        <p:nvSpPr>
          <p:cNvPr id="5" name="">
            <a:extLst xmlns:a="http://schemas.openxmlformats.org/drawingml/2006/main">
              <a:ext uri="{FF2B5EF4-FFF2-40B4-BE49-F238E27FC236}">
                <a16:creationId xmlns:a16="http://schemas.microsoft.com/office/drawing/2014/main" id="{A3D8643F-DB99-4B80-A4FD-EB12636973A2}"/>
              </a:ext>
            </a:extLst>
          </p:cNvPr>
          <p:cNvSpPr>
            <a:spLocks xmlns:a="http://schemas.openxmlformats.org/drawingml/2006/main" noGrp="1"/>
          </p:cNvSpPr>
          <p:nvPr/>
        </p:nvSpPr>
        <p:spPr>
          <a:xfrm xmlns:a="http://schemas.openxmlformats.org/drawingml/2006/main">
            <a:off x="1219200" y="3667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2C9F2793-7E39-4E7E-BE2E-583335585F3F}"/>
              </a:ext>
            </a:extLst>
          </p:cNvPr>
          <p:cNvSpPr>
            <a:spLocks xmlns:a="http://schemas.openxmlformats.org/drawingml/2006/main" noGrp="1"/>
          </p:cNvSpPr>
          <p:nvPr/>
        </p:nvSpPr>
        <p:spPr>
          <a:xfrm xmlns:a="http://schemas.openxmlformats.org/drawingml/2006/main">
            <a:off x="1485900" y="3657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relative strength as the control feature set for the next ML slice.</a:t>
            </a:r>
          </a:p>
        </p:txBody>
      </p:sp>
      <p:sp>
        <p:nvSpPr>
          <p:cNvPr id="7" name="">
            <a:extLst xmlns:a="http://schemas.openxmlformats.org/drawingml/2006/main">
              <a:ext uri="{FF2B5EF4-FFF2-40B4-BE49-F238E27FC236}">
                <a16:creationId xmlns:a16="http://schemas.microsoft.com/office/drawing/2014/main" id="{F76D5851-2A72-4E6B-8865-4749836B88A2}"/>
              </a:ext>
            </a:extLst>
          </p:cNvPr>
          <p:cNvSpPr>
            <a:spLocks xmlns:a="http://schemas.openxmlformats.org/drawingml/2006/main" noGrp="1"/>
          </p:cNvSpPr>
          <p:nvPr/>
        </p:nvSpPr>
        <p:spPr>
          <a:xfrm xmlns:a="http://schemas.openxmlformats.org/drawingml/2006/main">
            <a:off x="1219200" y="4333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FAAED619-DC34-4298-9F93-28D1A98B45E3}"/>
              </a:ext>
            </a:extLst>
          </p:cNvPr>
          <p:cNvSpPr>
            <a:spLocks xmlns:a="http://schemas.openxmlformats.org/drawingml/2006/main" noGrp="1"/>
          </p:cNvSpPr>
          <p:nvPr/>
        </p:nvSpPr>
        <p:spPr>
          <a:xfrm xmlns:a="http://schemas.openxmlformats.org/drawingml/2006/main">
            <a:off x="1485900" y="4324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Test context features one family at a time: trend, volatility/stress, drawdown, or breadth.</a:t>
            </a:r>
          </a:p>
        </p:txBody>
      </p:sp>
      <p:sp>
        <p:nvSpPr>
          <p:cNvPr id="9" name="">
            <a:extLst xmlns:a="http://schemas.openxmlformats.org/drawingml/2006/main">
              <a:ext uri="{FF2B5EF4-FFF2-40B4-BE49-F238E27FC236}">
                <a16:creationId xmlns:a16="http://schemas.microsoft.com/office/drawing/2014/main" id="{AAEB5C53-C00A-479C-B740-5382FED597D9}"/>
              </a:ext>
            </a:extLst>
          </p:cNvPr>
          <p:cNvSpPr>
            <a:spLocks xmlns:a="http://schemas.openxmlformats.org/drawingml/2006/main" noGrp="1"/>
          </p:cNvSpPr>
          <p:nvPr/>
        </p:nvSpPr>
        <p:spPr>
          <a:xfrm xmlns:a="http://schemas.openxmlformats.org/drawingml/2006/main">
            <a:off x="1219200" y="5000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E6B3D5FC-9853-4E50-817C-85785645EA24}"/>
              </a:ext>
            </a:extLst>
          </p:cNvPr>
          <p:cNvSpPr>
            <a:spLocks xmlns:a="http://schemas.openxmlformats.org/drawingml/2006/main" noGrp="1"/>
          </p:cNvSpPr>
          <p:nvPr/>
        </p:nvSpPr>
        <p:spPr>
          <a:xfrm xmlns:a="http://schemas.openxmlformats.org/drawingml/2006/main">
            <a:off x="1485900" y="4991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Alternatively test a label/policy calibration slice if the operator wants to focus on threshold behavior.</a:t>
            </a:r>
          </a:p>
        </p:txBody>
      </p:sp>
      <p:sp>
        <p:nvSpPr>
          <p:cNvPr id="11" name="">
            <a:extLst xmlns:a="http://schemas.openxmlformats.org/drawingml/2006/main">
              <a:ext uri="{FF2B5EF4-FFF2-40B4-BE49-F238E27FC236}">
                <a16:creationId xmlns:a16="http://schemas.microsoft.com/office/drawing/2014/main" id="{9A42E23F-533F-4B78-B776-DDB02A865063}"/>
              </a:ext>
            </a:extLst>
          </p:cNvPr>
          <p:cNvSpPr>
            <a:spLocks xmlns:a="http://schemas.openxmlformats.org/drawingml/2006/main" noGrp="1"/>
          </p:cNvSpPr>
          <p:nvPr/>
        </p:nvSpPr>
        <p:spPr>
          <a:xfrm xmlns:a="http://schemas.openxmlformats.org/drawingml/2006/main">
            <a:off x="1219200" y="5667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373C7734-CF77-4B54-AD41-E0E6D31D5E61}"/>
              </a:ext>
            </a:extLst>
          </p:cNvPr>
          <p:cNvSpPr>
            <a:spLocks xmlns:a="http://schemas.openxmlformats.org/drawingml/2006/main" noGrp="1"/>
          </p:cNvSpPr>
          <p:nvPr/>
        </p:nvSpPr>
        <p:spPr>
          <a:xfrm xmlns:a="http://schemas.openxmlformats.org/drawingml/2006/main">
            <a:off x="1485900" y="5657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promote direct context broadly until it improves replay and ranking together.</a:t>
            </a:r>
          </a:p>
        </p:txBody>
      </p:sp>
    </p:spTree>
    <p:extLst>
      <p:ext uri="{BB962C8B-B14F-4D97-AF65-F5344CB8AC3E}">
        <p14:creationId xmlns:p14="http://schemas.microsoft.com/office/powerpoint/2010/main" val="147162767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7EFA75B-D4E0-48D6-AE2D-E09F8C7E2108}"/>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300689CC-2889-4050-85C6-A1919D6EDCD0}"/>
              </a:ext>
            </a:extLst>
          </p:cNvPr>
          <p:cNvSpPr>
            <a:spLocks xmlns:a="http://schemas.openxmlformats.org/drawingml/2006/main" noGrp="1"/>
          </p:cNvSpPr>
          <p:nvPr/>
        </p:nvSpPr>
        <p:spPr>
          <a:xfrm xmlns:a="http://schemas.openxmlformats.org/drawingml/2006/main">
            <a:off x="685800" y="1562100"/>
            <a:ext cx="8096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Now we test what future the model is asked to predict</a:t>
            </a:r>
          </a:p>
        </p:txBody>
      </p:sp>
      <p:sp>
        <p:nvSpPr>
          <p:cNvPr id="3" name="">
            <a:extLst xmlns:a="http://schemas.openxmlformats.org/drawingml/2006/main">
              <a:ext uri="{FF2B5EF4-FFF2-40B4-BE49-F238E27FC236}">
                <a16:creationId xmlns:a16="http://schemas.microsoft.com/office/drawing/2014/main" id="{E4305202-4365-4E45-9ADD-22694ABDDDE1}"/>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8F918F-8CF0-4D62-B776-278CB4DCD089}"/>
              </a:ext>
            </a:extLst>
          </p:cNvPr>
          <p:cNvSpPr>
            <a:spLocks xmlns:a="http://schemas.openxmlformats.org/drawingml/2006/main" noGrp="1"/>
          </p:cNvSpPr>
          <p:nvPr/>
        </p:nvSpPr>
        <p:spPr>
          <a:xfrm xmlns:a="http://schemas.openxmlformats.org/drawingml/2006/main">
            <a:off x="723900" y="3467100"/>
            <a:ext cx="752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ML-P4 repeats the ML-P3 feature-set surface across h1, h5, and h10 labels. The replay still rescores daily, so this isolates the label horizon before adding minimum-hold rules.</a:t>
            </a:r>
          </a:p>
        </p:txBody>
      </p:sp>
      <p:sp>
        <p:nvSpPr>
          <p:cNvPr id="5" name="">
            <a:extLst xmlns:a="http://schemas.openxmlformats.org/drawingml/2006/main">
              <a:ext uri="{FF2B5EF4-FFF2-40B4-BE49-F238E27FC236}">
                <a16:creationId xmlns:a16="http://schemas.microsoft.com/office/drawing/2014/main" id="{E9B13517-EDDF-4AA6-97CD-5C7F80D45A78}"/>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B99E66-BDEC-4932-9578-13B421B9BCBB}"/>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ML-P4</a:t>
            </a:r>
          </a:p>
        </p:txBody>
      </p:sp>
      <p:sp>
        <p:nvSpPr>
          <p:cNvPr id="7" name="">
            <a:extLst xmlns:a="http://schemas.openxmlformats.org/drawingml/2006/main">
              <a:ext uri="{FF2B5EF4-FFF2-40B4-BE49-F238E27FC236}">
                <a16:creationId xmlns:a16="http://schemas.microsoft.com/office/drawing/2014/main" id="{FFE4963B-936B-4E7B-B2CF-72CD079756C3}"/>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Label horizons</a:t>
            </a:r>
          </a:p>
        </p:txBody>
      </p:sp>
    </p:spTree>
    <p:extLst>
      <p:ext uri="{BB962C8B-B14F-4D97-AF65-F5344CB8AC3E}">
        <p14:creationId xmlns:p14="http://schemas.microsoft.com/office/powerpoint/2010/main" val="162898923"/>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6954CFA-6916-4860-BE17-D8578203A80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8ADC9D7-29D9-4397-A731-56EAD5012C1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Longer labels changed the tradeoff, not the answer</a:t>
            </a:r>
          </a:p>
        </p:txBody>
      </p:sp>
      <p:sp>
        <p:nvSpPr>
          <p:cNvPr id="3" name="">
            <a:extLst xmlns:a="http://schemas.openxmlformats.org/drawingml/2006/main">
              <a:ext uri="{FF2B5EF4-FFF2-40B4-BE49-F238E27FC236}">
                <a16:creationId xmlns:a16="http://schemas.microsoft.com/office/drawing/2014/main" id="{0743EC83-3A18-4FDA-97A3-5B84193F0DB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C0FBA48-C518-4F12-AEBC-1B06CFD242A2}"/>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866811BA-6FE5-4D45-9AD6-A0F6714256AD}"/>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77BF4F3C-9F0C-495E-A700-29395CCF390E}"/>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3C613E39-EDEE-4BE4-957F-43BF04F5E721}"/>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Child packets and parent stitch passed.</a:t>
            </a:r>
          </a:p>
        </p:txBody>
      </p:sp>
      <p:sp>
        <p:nvSpPr>
          <p:cNvPr id="8" name="">
            <a:extLst xmlns:a="http://schemas.openxmlformats.org/drawingml/2006/main">
              <a:ext uri="{FF2B5EF4-FFF2-40B4-BE49-F238E27FC236}">
                <a16:creationId xmlns:a16="http://schemas.microsoft.com/office/drawing/2014/main" id="{D5567A28-EC6C-45D4-8214-B69139380820}"/>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73A8B088-25CE-43B1-B499-2CCCBC9DFAE5}"/>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2020</a:t>
            </a:r>
          </a:p>
        </p:txBody>
      </p:sp>
      <p:sp>
        <p:nvSpPr>
          <p:cNvPr id="10" name="">
            <a:extLst xmlns:a="http://schemas.openxmlformats.org/drawingml/2006/main">
              <a:ext uri="{FF2B5EF4-FFF2-40B4-BE49-F238E27FC236}">
                <a16:creationId xmlns:a16="http://schemas.microsoft.com/office/drawing/2014/main" id="{0AC32988-4693-4DB7-9E97-4533A02C120D}"/>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h1 rel</a:t>
            </a:r>
          </a:p>
        </p:txBody>
      </p:sp>
      <p:sp>
        <p:nvSpPr>
          <p:cNvPr id="11" name="">
            <a:extLst xmlns:a="http://schemas.openxmlformats.org/drawingml/2006/main">
              <a:ext uri="{FF2B5EF4-FFF2-40B4-BE49-F238E27FC236}">
                <a16:creationId xmlns:a16="http://schemas.microsoft.com/office/drawing/2014/main" id="{840253B2-0843-4DD1-BA8D-9E9E1263B506}"/>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108.9% active return.</a:t>
            </a:r>
          </a:p>
        </p:txBody>
      </p:sp>
      <p:sp>
        <p:nvSpPr>
          <p:cNvPr id="12" name="">
            <a:extLst xmlns:a="http://schemas.openxmlformats.org/drawingml/2006/main">
              <a:ext uri="{FF2B5EF4-FFF2-40B4-BE49-F238E27FC236}">
                <a16:creationId xmlns:a16="http://schemas.microsoft.com/office/drawing/2014/main" id="{C05E5A08-48E9-4646-A07D-690875E91880}"/>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29E12B54-27CE-4EA7-BE29-25F85C3ED048}"/>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2022</a:t>
            </a:r>
          </a:p>
        </p:txBody>
      </p:sp>
      <p:sp>
        <p:nvSpPr>
          <p:cNvPr id="14" name="">
            <a:extLst xmlns:a="http://schemas.openxmlformats.org/drawingml/2006/main">
              <a:ext uri="{FF2B5EF4-FFF2-40B4-BE49-F238E27FC236}">
                <a16:creationId xmlns:a16="http://schemas.microsoft.com/office/drawing/2014/main" id="{F2537932-23B3-4E5A-B485-7B16400E89E6}"/>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h10 asset</a:t>
            </a:r>
          </a:p>
        </p:txBody>
      </p:sp>
      <p:sp>
        <p:nvSpPr>
          <p:cNvPr id="15" name="">
            <a:extLst xmlns:a="http://schemas.openxmlformats.org/drawingml/2006/main">
              <a:ext uri="{FF2B5EF4-FFF2-40B4-BE49-F238E27FC236}">
                <a16:creationId xmlns:a16="http://schemas.microsoft.com/office/drawing/2014/main" id="{B6DAF06B-9D0B-45C5-90ED-27402ACA32D6}"/>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-28.6% active return.</a:t>
            </a:r>
          </a:p>
        </p:txBody>
      </p:sp>
      <p:sp>
        <p:nvSpPr>
          <p:cNvPr id="16" name="">
            <a:extLst xmlns:a="http://schemas.openxmlformats.org/drawingml/2006/main">
              <a:ext uri="{FF2B5EF4-FFF2-40B4-BE49-F238E27FC236}">
                <a16:creationId xmlns:a16="http://schemas.microsoft.com/office/drawing/2014/main" id="{B5FA6599-6B50-40DE-BCA1-26DE7EFBA8FD}"/>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89A28D34-3B0E-4196-A8DB-9E7509392F0B}"/>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2022 AUC</a:t>
            </a:r>
          </a:p>
        </p:txBody>
      </p:sp>
      <p:sp>
        <p:nvSpPr>
          <p:cNvPr id="18" name="">
            <a:extLst xmlns:a="http://schemas.openxmlformats.org/drawingml/2006/main">
              <a:ext uri="{FF2B5EF4-FFF2-40B4-BE49-F238E27FC236}">
                <a16:creationId xmlns:a16="http://schemas.microsoft.com/office/drawing/2014/main" id="{5E6C98A4-ACC5-4056-B61B-8A9D71B0E4F1}"/>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0.552</a:t>
            </a:r>
          </a:p>
        </p:txBody>
      </p:sp>
      <p:sp>
        <p:nvSpPr>
          <p:cNvPr id="19" name="">
            <a:extLst xmlns:a="http://schemas.openxmlformats.org/drawingml/2006/main">
              <a:ext uri="{FF2B5EF4-FFF2-40B4-BE49-F238E27FC236}">
                <a16:creationId xmlns:a16="http://schemas.microsoft.com/office/drawing/2014/main" id="{CF52D494-7E75-4198-8A52-FFBB113EC1F6}"/>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h10 /  relative strength.</a:t>
            </a:r>
          </a:p>
        </p:txBody>
      </p:sp>
      <p:sp>
        <p:nvSpPr>
          <p:cNvPr id="20" name="">
            <a:extLst xmlns:a="http://schemas.openxmlformats.org/drawingml/2006/main">
              <a:ext uri="{FF2B5EF4-FFF2-40B4-BE49-F238E27FC236}">
                <a16:creationId xmlns:a16="http://schemas.microsoft.com/office/drawing/2014/main" id="{FF6397C0-B93C-43AE-9445-7BD30C747398}"/>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longer horizons did not create a cleaner high-conviction trader. They mostly lowered 2020 upside capture, while helping some 2022 ranking and defense diagnostics.</a:t>
            </a:r>
          </a:p>
        </p:txBody>
      </p:sp>
    </p:spTree>
    <p:extLst>
      <p:ext uri="{BB962C8B-B14F-4D97-AF65-F5344CB8AC3E}">
        <p14:creationId xmlns:p14="http://schemas.microsoft.com/office/powerpoint/2010/main" val="155427533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909B8D1-F752-41B8-9FD6-B432C8F10DA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FF1C56D-DA15-4973-872A-A3B6A8E388E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2020 upside control is still h1 relative strength</a:t>
            </a:r>
          </a:p>
        </p:txBody>
      </p:sp>
      <p:sp>
        <p:nvSpPr>
          <p:cNvPr id="3" name="">
            <a:extLst xmlns:a="http://schemas.openxmlformats.org/drawingml/2006/main">
              <a:ext uri="{FF2B5EF4-FFF2-40B4-BE49-F238E27FC236}">
                <a16:creationId xmlns:a16="http://schemas.microsoft.com/office/drawing/2014/main" id="{8034D509-1AC8-453E-BE21-1F4181B93F7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0406DD-F71B-4F5B-AAF2-05564E320E1D}"/>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C4A24725-761E-4D02-A692-C7CF6B927BCA}"/>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H1 RELATIVE</a:t>
            </a:r>
          </a:p>
        </p:txBody>
      </p:sp>
      <p:sp>
        <p:nvSpPr>
          <p:cNvPr id="6" name="">
            <a:extLst xmlns:a="http://schemas.openxmlformats.org/drawingml/2006/main">
              <a:ext uri="{FF2B5EF4-FFF2-40B4-BE49-F238E27FC236}">
                <a16:creationId xmlns:a16="http://schemas.microsoft.com/office/drawing/2014/main" id="{5A000E16-27DD-42AD-A97F-1D2126EE739E}"/>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178979CD-D05C-41A9-B2AF-E95705E92588}"/>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0DFE6A99-DDDE-47FB-A368-2E3B566EC49E}"/>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B12DC93C-4256-4EC3-AFD6-D2ACF5AC3C3E}"/>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H5 RELATIVE</a:t>
            </a:r>
          </a:p>
        </p:txBody>
      </p:sp>
      <p:sp>
        <p:nvSpPr>
          <p:cNvPr id="10" name="">
            <a:extLst xmlns:a="http://schemas.openxmlformats.org/drawingml/2006/main">
              <a:ext uri="{FF2B5EF4-FFF2-40B4-BE49-F238E27FC236}">
                <a16:creationId xmlns:a16="http://schemas.microsoft.com/office/drawing/2014/main" id="{3357FA8E-72D9-4C45-8DF5-183BF447DB09}"/>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61.9%</a:t>
            </a:r>
          </a:p>
        </p:txBody>
      </p:sp>
      <p:sp>
        <p:nvSpPr>
          <p:cNvPr id="11" name="">
            <a:extLst xmlns:a="http://schemas.openxmlformats.org/drawingml/2006/main">
              <a:ext uri="{FF2B5EF4-FFF2-40B4-BE49-F238E27FC236}">
                <a16:creationId xmlns:a16="http://schemas.microsoft.com/office/drawing/2014/main" id="{4998C98F-B016-404C-8E49-6AD92ABD81F2}"/>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Exposure was 59.0%.</a:t>
            </a:r>
          </a:p>
        </p:txBody>
      </p:sp>
      <p:sp>
        <p:nvSpPr>
          <p:cNvPr id="12" name="">
            <a:extLst xmlns:a="http://schemas.openxmlformats.org/drawingml/2006/main">
              <a:ext uri="{FF2B5EF4-FFF2-40B4-BE49-F238E27FC236}">
                <a16:creationId xmlns:a16="http://schemas.microsoft.com/office/drawing/2014/main" id="{6FE8C209-686C-4DF9-98D2-11390FD1E24D}"/>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3D1C4AA3-FFCA-4B7C-A14C-903876880384}"/>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H10 RELATIVE</a:t>
            </a:r>
          </a:p>
        </p:txBody>
      </p:sp>
      <p:sp>
        <p:nvSpPr>
          <p:cNvPr id="14" name="">
            <a:extLst xmlns:a="http://schemas.openxmlformats.org/drawingml/2006/main">
              <a:ext uri="{FF2B5EF4-FFF2-40B4-BE49-F238E27FC236}">
                <a16:creationId xmlns:a16="http://schemas.microsoft.com/office/drawing/2014/main" id="{BAB32B34-3BBC-4E8D-8869-435D06D8749C}"/>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50.8%</a:t>
            </a:r>
          </a:p>
        </p:txBody>
      </p:sp>
      <p:sp>
        <p:nvSpPr>
          <p:cNvPr id="15" name="">
            <a:extLst xmlns:a="http://schemas.openxmlformats.org/drawingml/2006/main">
              <a:ext uri="{FF2B5EF4-FFF2-40B4-BE49-F238E27FC236}">
                <a16:creationId xmlns:a16="http://schemas.microsoft.com/office/drawing/2014/main" id="{BBA8B778-C71F-4F4F-AD07-42CEE72C939F}"/>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Exposure was 55.2%.</a:t>
            </a:r>
          </a:p>
        </p:txBody>
      </p:sp>
      <p:sp>
        <p:nvSpPr>
          <p:cNvPr id="16" name="">
            <a:extLst xmlns:a="http://schemas.openxmlformats.org/drawingml/2006/main">
              <a:ext uri="{FF2B5EF4-FFF2-40B4-BE49-F238E27FC236}">
                <a16:creationId xmlns:a16="http://schemas.microsoft.com/office/drawing/2014/main" id="{E6538070-0172-4E2C-9064-26D326A82434}"/>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AA8FCD41-B2FC-461B-9BBB-E27EFA9CC4F8}"/>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H5 MARKET</a:t>
            </a:r>
          </a:p>
        </p:txBody>
      </p:sp>
      <p:sp>
        <p:nvSpPr>
          <p:cNvPr id="18" name="">
            <a:extLst xmlns:a="http://schemas.openxmlformats.org/drawingml/2006/main">
              <a:ext uri="{FF2B5EF4-FFF2-40B4-BE49-F238E27FC236}">
                <a16:creationId xmlns:a16="http://schemas.microsoft.com/office/drawing/2014/main" id="{E6848162-0404-4469-BA98-9A7F44440B51}"/>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63.7%</a:t>
            </a:r>
          </a:p>
        </p:txBody>
      </p:sp>
      <p:sp>
        <p:nvSpPr>
          <p:cNvPr id="19" name="">
            <a:extLst xmlns:a="http://schemas.openxmlformats.org/drawingml/2006/main">
              <a:ext uri="{FF2B5EF4-FFF2-40B4-BE49-F238E27FC236}">
                <a16:creationId xmlns:a16="http://schemas.microsoft.com/office/drawing/2014/main" id="{C662DCA9-B223-4EA5-903E-7D4296A1995C}"/>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h1 market was 49.3%.</a:t>
            </a:r>
          </a:p>
        </p:txBody>
      </p:sp>
      <p:sp>
        <p:nvSpPr>
          <p:cNvPr id="20" name="">
            <a:extLst xmlns:a="http://schemas.openxmlformats.org/drawingml/2006/main">
              <a:ext uri="{FF2B5EF4-FFF2-40B4-BE49-F238E27FC236}">
                <a16:creationId xmlns:a16="http://schemas.microsoft.com/office/drawing/2014/main" id="{7B42B5F5-1DA8-41BF-9B11-C2CAA62C77BE}"/>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There is one useful nuance: h5 improved the direct-market-context lane versus its own h1 result. But the best bull-window replay still came from the shorter h1 relative-strength label.</a:t>
            </a:r>
          </a:p>
        </p:txBody>
      </p:sp>
    </p:spTree>
    <p:extLst>
      <p:ext uri="{BB962C8B-B14F-4D97-AF65-F5344CB8AC3E}">
        <p14:creationId xmlns:p14="http://schemas.microsoft.com/office/powerpoint/2010/main" val="70692121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274C761-B0EC-4B37-BE45-553C9421300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2DD2110-1064-41FB-80C3-FD26DA4F3D0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return matrix shows the horizon tradeoff</a:t>
            </a:r>
          </a:p>
        </p:txBody>
      </p:sp>
      <p:sp>
        <p:nvSpPr>
          <p:cNvPr id="3" name="">
            <a:extLst xmlns:a="http://schemas.openxmlformats.org/drawingml/2006/main">
              <a:ext uri="{FF2B5EF4-FFF2-40B4-BE49-F238E27FC236}">
                <a16:creationId xmlns:a16="http://schemas.microsoft.com/office/drawing/2014/main" id="{D74C7D29-EC9D-4533-8B94-AF873094D0A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6a945937ef74e2e"/>
          <a:stretch xmlns:a="http://schemas.openxmlformats.org/drawingml/2006/main"/>
        </p:blipFill>
        <p:spPr>
          <a:xfrm xmlns:a="http://schemas.openxmlformats.org/drawingml/2006/main">
            <a:off x="965534" y="2000250"/>
            <a:ext cx="6641432"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121E5FA-8412-4EC6-83B8-9E470CD9DCAF}"/>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80BC5F09-7D96-4222-8D6C-74048F4872A9}"/>
              </a:ext>
            </a:extLst>
          </p:cNvPr>
          <p:cNvSpPr>
            <a:spLocks xmlns:a="http://schemas.openxmlformats.org/drawingml/2006/main" noGrp="1"/>
          </p:cNvSpPr>
          <p:nvPr/>
        </p:nvSpPr>
        <p:spPr>
          <a:xfrm xmlns:a="http://schemas.openxmlformats.org/drawingml/2006/main">
            <a:off x="8477250" y="2705100"/>
            <a:ext cx="27051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For 2020, h1 relative strength returned 108.9%, while h5/h10 relative strength returned 61.9% and 50.8%. For 2022, h10 asset-only defended best at -28.6%, versus h1 asset-only at -33.2%.</a:t>
            </a:r>
          </a:p>
        </p:txBody>
      </p:sp>
    </p:spTree>
    <p:extLst>
      <p:ext uri="{BB962C8B-B14F-4D97-AF65-F5344CB8AC3E}">
        <p14:creationId xmlns:p14="http://schemas.microsoft.com/office/powerpoint/2010/main" val="58009795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7392EB3-7506-4095-9551-04B88CBF5C7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057A489-A188-431C-8110-5CFF42FC0A5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hints that longer labels may help risk-off separation</a:t>
            </a:r>
          </a:p>
        </p:txBody>
      </p:sp>
      <p:sp>
        <p:nvSpPr>
          <p:cNvPr id="3" name="">
            <a:extLst xmlns:a="http://schemas.openxmlformats.org/drawingml/2006/main">
              <a:ext uri="{FF2B5EF4-FFF2-40B4-BE49-F238E27FC236}">
                <a16:creationId xmlns:a16="http://schemas.microsoft.com/office/drawing/2014/main" id="{D84F2E49-9A46-45BC-8783-E277F7B71A1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0a604d11dd0423d"/>
          <a:stretch xmlns:a="http://schemas.openxmlformats.org/drawingml/2006/main"/>
        </p:blipFill>
        <p:spPr>
          <a:xfrm xmlns:a="http://schemas.openxmlformats.org/drawingml/2006/main">
            <a:off x="704850" y="2244725"/>
            <a:ext cx="5715000" cy="3016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804C071-3ED3-4D17-93CA-6677052C0D3A}"/>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12C5634E-7769-464B-BA79-59CA8ED155F0}"/>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h5 and h10 improved several 2022 AUC and top-minus-bottom diagnostics, especially asset-only and relative-strength variants. But in 2020, longer labels often ranked the rally poorly.</a:t>
            </a:r>
          </a:p>
        </p:txBody>
      </p:sp>
    </p:spTree>
    <p:extLst>
      <p:ext uri="{BB962C8B-B14F-4D97-AF65-F5344CB8AC3E}">
        <p14:creationId xmlns:p14="http://schemas.microsoft.com/office/powerpoint/2010/main" val="1946052597"/>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E30DD26-3142-433B-ACC6-BB8BE73CDB5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A23DF75-3ED0-446C-BCDB-6D9C671597A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why horizon alone is not enough</a:t>
            </a:r>
          </a:p>
        </p:txBody>
      </p:sp>
      <p:sp>
        <p:nvSpPr>
          <p:cNvPr id="3" name="">
            <a:extLst xmlns:a="http://schemas.openxmlformats.org/drawingml/2006/main">
              <a:ext uri="{FF2B5EF4-FFF2-40B4-BE49-F238E27FC236}">
                <a16:creationId xmlns:a16="http://schemas.microsoft.com/office/drawing/2014/main" id="{A600CA80-E4C6-4FC1-836A-8A04F2C8DEB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9726ee77bfc46d9"/>
          <a:stretch xmlns:a="http://schemas.openxmlformats.org/drawingml/2006/main"/>
        </p:blipFill>
        <p:spPr>
          <a:xfrm xmlns:a="http://schemas.openxmlformats.org/drawingml/2006/main">
            <a:off x="1000125" y="2000250"/>
            <a:ext cx="657225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645B320-8477-49F2-99C6-E328E9DBB149}"/>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Next gate</a:t>
            </a:r>
          </a:p>
        </p:txBody>
      </p:sp>
      <p:sp>
        <p:nvSpPr>
          <p:cNvPr id="6" name="">
            <a:extLst xmlns:a="http://schemas.openxmlformats.org/drawingml/2006/main">
              <a:ext uri="{FF2B5EF4-FFF2-40B4-BE49-F238E27FC236}">
                <a16:creationId xmlns:a16="http://schemas.microsoft.com/office/drawing/2014/main" id="{7D94DF20-8728-43F3-9DF1-FBFB1BCFB0A1}"/>
              </a:ext>
            </a:extLst>
          </p:cNvPr>
          <p:cNvSpPr>
            <a:spLocks xmlns:a="http://schemas.openxmlformats.org/drawingml/2006/main" noGrp="1"/>
          </p:cNvSpPr>
          <p:nvPr/>
        </p:nvSpPr>
        <p:spPr>
          <a:xfrm xmlns:a="http://schemas.openxmlformats.org/drawingml/2006/main">
            <a:off x="8477250" y="2705100"/>
            <a:ext cx="27051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Longer labels create smoother probability texture in places, but they do not automatically align entries with the major 2020 upside. If we pursue h5/h10, the next test should add minimum-hold or benchmark-relative labels deliberately.</a:t>
            </a:r>
          </a:p>
        </p:txBody>
      </p:sp>
    </p:spTree>
    <p:extLst>
      <p:ext uri="{BB962C8B-B14F-4D97-AF65-F5344CB8AC3E}">
        <p14:creationId xmlns:p14="http://schemas.microsoft.com/office/powerpoint/2010/main" val="900214217"/>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7473360-BF92-48B0-B56F-37611A74F73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DA97651-3C73-47B5-A629-9E2675A07D74}"/>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Keep h1 as the upside control and test one sharper idea next</a:t>
            </a:r>
          </a:p>
        </p:txBody>
      </p:sp>
      <p:sp>
        <p:nvSpPr>
          <p:cNvPr id="3" name="">
            <a:extLst xmlns:a="http://schemas.openxmlformats.org/drawingml/2006/main">
              <a:ext uri="{FF2B5EF4-FFF2-40B4-BE49-F238E27FC236}">
                <a16:creationId xmlns:a16="http://schemas.microsoft.com/office/drawing/2014/main" id="{7F4D4D02-86DB-46C6-B6F3-5BFEDC41BC2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609AE06-0E0D-4A67-8E61-BBF7705AFB0F}"/>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ML-P4 pushes back on the simple conviction hypothesis. Longer labels can help defense diagnostics, but they do not solve high-beta upside capture under daily rescore replay.</a:t>
            </a:r>
          </a:p>
        </p:txBody>
      </p:sp>
      <p:sp>
        <p:nvSpPr>
          <p:cNvPr id="5" name="">
            <a:extLst xmlns:a="http://schemas.openxmlformats.org/drawingml/2006/main">
              <a:ext uri="{FF2B5EF4-FFF2-40B4-BE49-F238E27FC236}">
                <a16:creationId xmlns:a16="http://schemas.microsoft.com/office/drawing/2014/main" id="{0C5D9004-8BF6-45EC-8A8E-73E52E4CEB1B}"/>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BA07F291-D7EF-488E-A632-5EB046CC53F1}"/>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plus relative strength as the control lane for bullish participation.</a:t>
            </a:r>
          </a:p>
        </p:txBody>
      </p:sp>
      <p:sp>
        <p:nvSpPr>
          <p:cNvPr id="7" name="">
            <a:extLst xmlns:a="http://schemas.openxmlformats.org/drawingml/2006/main">
              <a:ext uri="{FF2B5EF4-FFF2-40B4-BE49-F238E27FC236}">
                <a16:creationId xmlns:a16="http://schemas.microsoft.com/office/drawing/2014/main" id="{1A2F8BEC-9673-4BC8-AE4A-422F417BEB04}"/>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26560463-BDDD-4F56-92B1-CFBB5F26F552}"/>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testing longer labels again, pair h5/h10 with a minimum-hold replay rule rather than daily churn.</a:t>
            </a:r>
          </a:p>
        </p:txBody>
      </p:sp>
      <p:sp>
        <p:nvSpPr>
          <p:cNvPr id="9" name="">
            <a:extLst xmlns:a="http://schemas.openxmlformats.org/drawingml/2006/main">
              <a:ext uri="{FF2B5EF4-FFF2-40B4-BE49-F238E27FC236}">
                <a16:creationId xmlns:a16="http://schemas.microsoft.com/office/drawing/2014/main" id="{91EE7865-C909-449E-ABD3-85D7B6F3BC33}"/>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81BBD01C-CB2E-4402-A470-63A76567C309}"/>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 strong alternative is benchmark-relative h5: predict asset return over market/context, not just positive absolute return.</a:t>
            </a:r>
          </a:p>
        </p:txBody>
      </p:sp>
      <p:sp>
        <p:nvSpPr>
          <p:cNvPr id="11" name="">
            <a:extLst xmlns:a="http://schemas.openxmlformats.org/drawingml/2006/main">
              <a:ext uri="{FF2B5EF4-FFF2-40B4-BE49-F238E27FC236}">
                <a16:creationId xmlns:a16="http://schemas.microsoft.com/office/drawing/2014/main" id="{52F416DA-F220-477E-9BA3-7E0E300446D5}"/>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488E3BEA-4FD2-4C4C-A66B-597341F4893C}"/>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promote h5/h10 solely from this slice.</a:t>
            </a:r>
          </a:p>
        </p:txBody>
      </p:sp>
    </p:spTree>
    <p:extLst>
      <p:ext uri="{BB962C8B-B14F-4D97-AF65-F5344CB8AC3E}">
        <p14:creationId xmlns:p14="http://schemas.microsoft.com/office/powerpoint/2010/main" val="150905887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6AAF8F9-B3D0-4D7C-A150-AC7378BB0490}"/>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0591C025-541E-4FFE-9FD1-915D54A34B2B}"/>
              </a:ext>
            </a:extLst>
          </p:cNvPr>
          <p:cNvSpPr>
            <a:spLocks xmlns:a="http://schemas.openxmlformats.org/drawingml/2006/main" noGrp="1"/>
          </p:cNvSpPr>
          <p:nvPr/>
        </p:nvSpPr>
        <p:spPr>
          <a:xfrm xmlns:a="http://schemas.openxmlformats.org/drawingml/2006/main">
            <a:off x="685800" y="1466850"/>
            <a:ext cx="8096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Now we test the habitat the ML engine trains and trades in</a:t>
            </a:r>
          </a:p>
        </p:txBody>
      </p:sp>
      <p:sp>
        <p:nvSpPr>
          <p:cNvPr id="3" name="">
            <a:extLst xmlns:a="http://schemas.openxmlformats.org/drawingml/2006/main">
              <a:ext uri="{FF2B5EF4-FFF2-40B4-BE49-F238E27FC236}">
                <a16:creationId xmlns:a16="http://schemas.microsoft.com/office/drawing/2014/main" id="{CF85A1BB-41B5-4EA4-8A70-A51A730CA066}"/>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E88F44B-C97D-4C1F-909B-C5321C224630}"/>
              </a:ext>
            </a:extLst>
          </p:cNvPr>
          <p:cNvSpPr>
            <a:spLocks xmlns:a="http://schemas.openxmlformats.org/drawingml/2006/main" noGrp="1"/>
          </p:cNvSpPr>
          <p:nvPr/>
        </p:nvSpPr>
        <p:spPr>
          <a:xfrm xmlns:a="http://schemas.openxmlformats.org/drawingml/2006/main">
            <a:off x="723900" y="3467100"/>
            <a:ext cx="7524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ML-P5 keeps seeded XGBoost, h1 labels, TRAIN-only threshold selection, daily rescore replay, and equal-weight benchmarks fixed. The new question is whether live basket, research pool, and context breadth change the engine's behavior.</a:t>
            </a:r>
          </a:p>
        </p:txBody>
      </p:sp>
      <p:sp>
        <p:nvSpPr>
          <p:cNvPr id="5" name="">
            <a:extLst xmlns:a="http://schemas.openxmlformats.org/drawingml/2006/main">
              <a:ext uri="{FF2B5EF4-FFF2-40B4-BE49-F238E27FC236}">
                <a16:creationId xmlns:a16="http://schemas.microsoft.com/office/drawing/2014/main" id="{915BFD84-7D17-483C-8E92-8A2D9FCDAABB}"/>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D39EF3F-7B57-433C-87FE-DE48AA9877F4}"/>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ML-P5</a:t>
            </a:r>
          </a:p>
        </p:txBody>
      </p:sp>
      <p:sp>
        <p:nvSpPr>
          <p:cNvPr id="7" name="">
            <a:extLst xmlns:a="http://schemas.openxmlformats.org/drawingml/2006/main">
              <a:ext uri="{FF2B5EF4-FFF2-40B4-BE49-F238E27FC236}">
                <a16:creationId xmlns:a16="http://schemas.microsoft.com/office/drawing/2014/main" id="{8081A585-0895-41B0-AE62-F4369EC9F827}"/>
              </a:ext>
            </a:extLst>
          </p:cNvPr>
          <p:cNvSpPr>
            <a:spLocks xmlns:a="http://schemas.openxmlformats.org/drawingml/2006/main" noGrp="1"/>
          </p:cNvSpPr>
          <p:nvPr/>
        </p:nvSpPr>
        <p:spPr>
          <a:xfrm xmlns:a="http://schemas.openxmlformats.org/drawingml/2006/main">
            <a:off x="9067800" y="3067050"/>
            <a:ext cx="2762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Universe architecture</a:t>
            </a:r>
          </a:p>
        </p:txBody>
      </p:sp>
    </p:spTree>
    <p:extLst>
      <p:ext uri="{BB962C8B-B14F-4D97-AF65-F5344CB8AC3E}">
        <p14:creationId xmlns:p14="http://schemas.microsoft.com/office/powerpoint/2010/main" val="60769729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5611A20-4776-49D9-8175-58584525926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EA0D64F-7413-4D34-88F2-94F5BB7B9CF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screen separates basket, context, and research-pool questions</a:t>
            </a:r>
          </a:p>
        </p:txBody>
      </p:sp>
      <p:sp>
        <p:nvSpPr>
          <p:cNvPr id="3" name="">
            <a:extLst xmlns:a="http://schemas.openxmlformats.org/drawingml/2006/main">
              <a:ext uri="{FF2B5EF4-FFF2-40B4-BE49-F238E27FC236}">
                <a16:creationId xmlns:a16="http://schemas.microsoft.com/office/drawing/2014/main" id="{CCB62577-770E-48DC-8988-47CF8917CC2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1D9B85-26CB-4544-8F01-7BA9539F3985}"/>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E460DA47-B5A3-4281-A87B-4904BE6A0C49}"/>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CONDITIONS</a:t>
            </a:r>
          </a:p>
        </p:txBody>
      </p:sp>
      <p:sp>
        <p:nvSpPr>
          <p:cNvPr id="6" name="">
            <a:extLst xmlns:a="http://schemas.openxmlformats.org/drawingml/2006/main">
              <a:ext uri="{FF2B5EF4-FFF2-40B4-BE49-F238E27FC236}">
                <a16:creationId xmlns:a16="http://schemas.microsoft.com/office/drawing/2014/main" id="{1C82B76D-17C9-4452-A099-9BD2BB2FE728}"/>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17</a:t>
            </a:r>
          </a:p>
        </p:txBody>
      </p:sp>
      <p:sp>
        <p:nvSpPr>
          <p:cNvPr id="7" name="">
            <a:extLst xmlns:a="http://schemas.openxmlformats.org/drawingml/2006/main">
              <a:ext uri="{FF2B5EF4-FFF2-40B4-BE49-F238E27FC236}">
                <a16:creationId xmlns:a16="http://schemas.microsoft.com/office/drawing/2014/main" id="{E96A1297-C17E-4208-B453-9C15F2D4E1F1}"/>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5 basket archetypes across context modes.</a:t>
            </a:r>
          </a:p>
        </p:txBody>
      </p:sp>
      <p:sp>
        <p:nvSpPr>
          <p:cNvPr id="8" name="">
            <a:extLst xmlns:a="http://schemas.openxmlformats.org/drawingml/2006/main">
              <a:ext uri="{FF2B5EF4-FFF2-40B4-BE49-F238E27FC236}">
                <a16:creationId xmlns:a16="http://schemas.microsoft.com/office/drawing/2014/main" id="{174299FE-A752-4890-8D2A-44E35FD1165D}"/>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6A94D255-754A-49BC-88F0-31EBD3E5D7FF}"/>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WINDOWS</a:t>
            </a:r>
          </a:p>
        </p:txBody>
      </p:sp>
      <p:sp>
        <p:nvSpPr>
          <p:cNvPr id="10" name="">
            <a:extLst xmlns:a="http://schemas.openxmlformats.org/drawingml/2006/main">
              <a:ext uri="{FF2B5EF4-FFF2-40B4-BE49-F238E27FC236}">
                <a16:creationId xmlns:a16="http://schemas.microsoft.com/office/drawing/2014/main" id="{C1FE0B1C-1897-4B7E-8CE1-A8195B5EB52B}"/>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a:t>
            </a:r>
          </a:p>
        </p:txBody>
      </p:sp>
      <p:sp>
        <p:nvSpPr>
          <p:cNvPr id="11" name="">
            <a:extLst xmlns:a="http://schemas.openxmlformats.org/drawingml/2006/main">
              <a:ext uri="{FF2B5EF4-FFF2-40B4-BE49-F238E27FC236}">
                <a16:creationId xmlns:a16="http://schemas.microsoft.com/office/drawing/2014/main" id="{362E4E07-2110-4824-8CBE-B45855FDE0D0}"/>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Annual stitched windows from 2020Y through 2024Y.</a:t>
            </a:r>
          </a:p>
        </p:txBody>
      </p:sp>
      <p:sp>
        <p:nvSpPr>
          <p:cNvPr id="12" name="">
            <a:extLst xmlns:a="http://schemas.openxmlformats.org/drawingml/2006/main">
              <a:ext uri="{FF2B5EF4-FFF2-40B4-BE49-F238E27FC236}">
                <a16:creationId xmlns:a16="http://schemas.microsoft.com/office/drawing/2014/main" id="{217C07ED-D02D-49F5-B078-86E3F76A0A27}"/>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F38A128E-4ABD-4F56-ACD4-6195594DDF16}"/>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FEATURE SETS</a:t>
            </a:r>
          </a:p>
        </p:txBody>
      </p:sp>
      <p:sp>
        <p:nvSpPr>
          <p:cNvPr id="14" name="">
            <a:extLst xmlns:a="http://schemas.openxmlformats.org/drawingml/2006/main">
              <a:ext uri="{FF2B5EF4-FFF2-40B4-BE49-F238E27FC236}">
                <a16:creationId xmlns:a16="http://schemas.microsoft.com/office/drawing/2014/main" id="{76EE83F2-3807-4C7F-B59E-F869C563C441}"/>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a:t>
            </a:r>
          </a:p>
        </p:txBody>
      </p:sp>
      <p:sp>
        <p:nvSpPr>
          <p:cNvPr id="15" name="">
            <a:extLst xmlns:a="http://schemas.openxmlformats.org/drawingml/2006/main">
              <a:ext uri="{FF2B5EF4-FFF2-40B4-BE49-F238E27FC236}">
                <a16:creationId xmlns:a16="http://schemas.microsoft.com/office/drawing/2014/main" id="{F5F1D244-C449-47D2-A8AE-38FE46376403}"/>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Asset-only, direct context, relative strength, and full compact.</a:t>
            </a:r>
          </a:p>
        </p:txBody>
      </p:sp>
      <p:sp>
        <p:nvSpPr>
          <p:cNvPr id="16" name="">
            <a:extLst xmlns:a="http://schemas.openxmlformats.org/drawingml/2006/main">
              <a:ext uri="{FF2B5EF4-FFF2-40B4-BE49-F238E27FC236}">
                <a16:creationId xmlns:a16="http://schemas.microsoft.com/office/drawing/2014/main" id="{7C6835D2-9182-498F-B184-723B0D1337A0}"/>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CA600EEC-F400-4F8B-8028-8340DD0A5A9F}"/>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18" name="">
            <a:extLst xmlns:a="http://schemas.openxmlformats.org/drawingml/2006/main">
              <a:ext uri="{FF2B5EF4-FFF2-40B4-BE49-F238E27FC236}">
                <a16:creationId xmlns:a16="http://schemas.microsoft.com/office/drawing/2014/main" id="{FE5004C9-9A2A-4E6E-BC62-2BC2BA19F459}"/>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9" name="">
            <a:extLst xmlns:a="http://schemas.openxmlformats.org/drawingml/2006/main">
              <a:ext uri="{FF2B5EF4-FFF2-40B4-BE49-F238E27FC236}">
                <a16:creationId xmlns:a16="http://schemas.microsoft.com/office/drawing/2014/main" id="{1EB3F687-CD54-48CD-AD1C-12DC7E13FE52}"/>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Research-only packet; no live bridge change.</a:t>
            </a:r>
          </a:p>
        </p:txBody>
      </p:sp>
      <p:sp>
        <p:nvSpPr>
          <p:cNvPr id="20" name="">
            <a:extLst xmlns:a="http://schemas.openxmlformats.org/drawingml/2006/main">
              <a:ext uri="{FF2B5EF4-FFF2-40B4-BE49-F238E27FC236}">
                <a16:creationId xmlns:a16="http://schemas.microsoft.com/office/drawing/2014/main" id="{0F8E79EC-C187-4D41-A273-CDA238D8F157}"/>
              </a:ext>
            </a:extLst>
          </p:cNvPr>
          <p:cNvSpPr>
            <a:spLocks xmlns:a="http://schemas.openxmlformats.org/drawingml/2006/main" noGrp="1"/>
          </p:cNvSpPr>
          <p:nvPr/>
        </p:nvSpPr>
        <p:spPr>
          <a:xfrm xmlns:a="http://schemas.openxmlformats.org/drawingml/2006/main">
            <a:off x="1066800" y="4095750"/>
            <a:ext cx="9334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important design point: broad-pool transfer trains on a larger labeled research pool but replays only the declared target live basket. Broad-pool traded makes the large research pool itself the traded basket.</a:t>
            </a:r>
          </a:p>
        </p:txBody>
      </p:sp>
    </p:spTree>
    <p:extLst>
      <p:ext uri="{BB962C8B-B14F-4D97-AF65-F5344CB8AC3E}">
        <p14:creationId xmlns:p14="http://schemas.microsoft.com/office/powerpoint/2010/main" val="101679863"/>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6386DE4-85FD-4628-8BBD-1DF45BD0F0C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300D14D-8478-4BCB-A9A6-524E5F276A1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engine is still better at defense than upside capture</a:t>
            </a:r>
          </a:p>
        </p:txBody>
      </p:sp>
      <p:sp>
        <p:nvSpPr>
          <p:cNvPr id="3" name="">
            <a:extLst xmlns:a="http://schemas.openxmlformats.org/drawingml/2006/main">
              <a:ext uri="{FF2B5EF4-FFF2-40B4-BE49-F238E27FC236}">
                <a16:creationId xmlns:a16="http://schemas.microsoft.com/office/drawing/2014/main" id="{ACB2E13C-4B63-496A-B9E5-02A796DD283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35916F1-1689-40AE-8170-D7B78B760254}"/>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A2184F75-A0BF-4249-934D-5661FD450911}"/>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MEAN ALPHA</a:t>
            </a:r>
          </a:p>
        </p:txBody>
      </p:sp>
      <p:sp>
        <p:nvSpPr>
          <p:cNvPr id="6" name="">
            <a:extLst xmlns:a="http://schemas.openxmlformats.org/drawingml/2006/main">
              <a:ext uri="{FF2B5EF4-FFF2-40B4-BE49-F238E27FC236}">
                <a16:creationId xmlns:a16="http://schemas.microsoft.com/office/drawing/2014/main" id="{527D6FCA-5F8F-4FD2-BEFD-36EC9241E52B}"/>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-40.5 pp</a:t>
            </a:r>
          </a:p>
        </p:txBody>
      </p:sp>
      <p:sp>
        <p:nvSpPr>
          <p:cNvPr id="7" name="">
            <a:extLst xmlns:a="http://schemas.openxmlformats.org/drawingml/2006/main">
              <a:ext uri="{FF2B5EF4-FFF2-40B4-BE49-F238E27FC236}">
                <a16:creationId xmlns:a16="http://schemas.microsoft.com/office/drawing/2014/main" id="{78D8A2DF-3ECD-40E4-9DDF-8B16014F85F9}"/>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Mean active 24.1% versus benchmark 64.6%.</a:t>
            </a:r>
          </a:p>
        </p:txBody>
      </p:sp>
      <p:sp>
        <p:nvSpPr>
          <p:cNvPr id="8" name="">
            <a:extLst xmlns:a="http://schemas.openxmlformats.org/drawingml/2006/main">
              <a:ext uri="{FF2B5EF4-FFF2-40B4-BE49-F238E27FC236}">
                <a16:creationId xmlns:a16="http://schemas.microsoft.com/office/drawing/2014/main" id="{367CC546-8BD6-4EBD-B106-9A3FC7463909}"/>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96511D1D-87C2-42EB-8573-1663D5A48199}"/>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MEAN ALPHA</a:t>
            </a:r>
          </a:p>
        </p:txBody>
      </p:sp>
      <p:sp>
        <p:nvSpPr>
          <p:cNvPr id="10" name="">
            <a:extLst xmlns:a="http://schemas.openxmlformats.org/drawingml/2006/main">
              <a:ext uri="{FF2B5EF4-FFF2-40B4-BE49-F238E27FC236}">
                <a16:creationId xmlns:a16="http://schemas.microsoft.com/office/drawing/2014/main" id="{CEEDA472-F085-418A-B52A-95F69CFE32F5}"/>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4.8 pp</a:t>
            </a:r>
          </a:p>
        </p:txBody>
      </p:sp>
      <p:sp>
        <p:nvSpPr>
          <p:cNvPr id="11" name="">
            <a:extLst xmlns:a="http://schemas.openxmlformats.org/drawingml/2006/main">
              <a:ext uri="{FF2B5EF4-FFF2-40B4-BE49-F238E27FC236}">
                <a16:creationId xmlns:a16="http://schemas.microsoft.com/office/drawing/2014/main" id="{FE49AEE9-74DE-487D-AEB8-F475E5B13C0E}"/>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Mean active -19.6% versus benchmark -24.3%.</a:t>
            </a:r>
          </a:p>
        </p:txBody>
      </p:sp>
      <p:sp>
        <p:nvSpPr>
          <p:cNvPr id="12" name="">
            <a:extLst xmlns:a="http://schemas.openxmlformats.org/drawingml/2006/main">
              <a:ext uri="{FF2B5EF4-FFF2-40B4-BE49-F238E27FC236}">
                <a16:creationId xmlns:a16="http://schemas.microsoft.com/office/drawing/2014/main" id="{11869B5F-AF58-4FA4-9803-C6C880EA57B3}"/>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2C71DDCC-5F9A-43DE-97E7-052E0B59B303}"/>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ROW</a:t>
            </a:r>
          </a:p>
        </p:txBody>
      </p:sp>
      <p:sp>
        <p:nvSpPr>
          <p:cNvPr id="14" name="">
            <a:extLst xmlns:a="http://schemas.openxmlformats.org/drawingml/2006/main">
              <a:ext uri="{FF2B5EF4-FFF2-40B4-BE49-F238E27FC236}">
                <a16:creationId xmlns:a16="http://schemas.microsoft.com/office/drawing/2014/main" id="{EB2DA69F-A3E5-4DB6-87D4-6EB2505048C2}"/>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31.6 pp</a:t>
            </a:r>
          </a:p>
        </p:txBody>
      </p:sp>
      <p:sp>
        <p:nvSpPr>
          <p:cNvPr id="15" name="">
            <a:extLst xmlns:a="http://schemas.openxmlformats.org/drawingml/2006/main">
              <a:ext uri="{FF2B5EF4-FFF2-40B4-BE49-F238E27FC236}">
                <a16:creationId xmlns:a16="http://schemas.microsoft.com/office/drawing/2014/main" id="{BE6F8101-BF99-4E6F-ABC8-17F60B088A5C}"/>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2022Y / high beta 5  broad pool transfer.</a:t>
            </a:r>
          </a:p>
        </p:txBody>
      </p:sp>
      <p:sp>
        <p:nvSpPr>
          <p:cNvPr id="16" name="">
            <a:extLst xmlns:a="http://schemas.openxmlformats.org/drawingml/2006/main">
              <a:ext uri="{FF2B5EF4-FFF2-40B4-BE49-F238E27FC236}">
                <a16:creationId xmlns:a16="http://schemas.microsoft.com/office/drawing/2014/main" id="{2C909FF0-53C7-4EA9-8EC1-E105064B74C0}"/>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3F83EAFD-2B1B-44E5-99B2-5007CBCD554E}"/>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FEATURE MEAN</a:t>
            </a:r>
          </a:p>
        </p:txBody>
      </p:sp>
      <p:sp>
        <p:nvSpPr>
          <p:cNvPr id="18" name="">
            <a:extLst xmlns:a="http://schemas.openxmlformats.org/drawingml/2006/main">
              <a:ext uri="{FF2B5EF4-FFF2-40B4-BE49-F238E27FC236}">
                <a16:creationId xmlns:a16="http://schemas.microsoft.com/office/drawing/2014/main" id="{24034037-2E57-426A-A005-300F3FA094F5}"/>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-18.3 pp</a:t>
            </a:r>
          </a:p>
        </p:txBody>
      </p:sp>
      <p:sp>
        <p:nvSpPr>
          <p:cNvPr id="19" name="">
            <a:extLst xmlns:a="http://schemas.openxmlformats.org/drawingml/2006/main">
              <a:ext uri="{FF2B5EF4-FFF2-40B4-BE49-F238E27FC236}">
                <a16:creationId xmlns:a16="http://schemas.microsoft.com/office/drawing/2014/main" id="{2F9937EA-644A-4CFC-BE50-85097B7802F7}"/>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 only control</a:t>
            </a:r>
          </a:p>
        </p:txBody>
      </p:sp>
      <p:sp>
        <p:nvSpPr>
          <p:cNvPr id="20" name="">
            <a:extLst xmlns:a="http://schemas.openxmlformats.org/drawingml/2006/main">
              <a:ext uri="{FF2B5EF4-FFF2-40B4-BE49-F238E27FC236}">
                <a16:creationId xmlns:a16="http://schemas.microsoft.com/office/drawing/2014/main" id="{ED7D9789-D1C5-4E17-9E5C-C7813A43F5AC}"/>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screen did not discover a universal alpha engine. It mostly rediscovered a familiar profile: useful risk-off behavior in 2022, but underparticipation in high-beta bull windows.</a:t>
            </a:r>
          </a:p>
        </p:txBody>
      </p:sp>
    </p:spTree>
    <p:extLst>
      <p:ext uri="{BB962C8B-B14F-4D97-AF65-F5344CB8AC3E}">
        <p14:creationId xmlns:p14="http://schemas.microsoft.com/office/powerpoint/2010/main" val="181715010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FD9A517-B9AE-4118-93E8-9BE9EEDECD9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DF9F058-BEC0-407E-89BE-41C76C587A7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alpha heatmap shows the habitat problem at a glance</a:t>
            </a:r>
          </a:p>
        </p:txBody>
      </p:sp>
      <p:sp>
        <p:nvSpPr>
          <p:cNvPr id="3" name="">
            <a:extLst xmlns:a="http://schemas.openxmlformats.org/drawingml/2006/main">
              <a:ext uri="{FF2B5EF4-FFF2-40B4-BE49-F238E27FC236}">
                <a16:creationId xmlns:a16="http://schemas.microsoft.com/office/drawing/2014/main" id="{0B464FD4-25FC-4A6A-B19D-C69B7DBA7F5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c23158a9da342de"/>
          <a:stretch xmlns:a="http://schemas.openxmlformats.org/drawingml/2006/main"/>
        </p:blipFill>
        <p:spPr>
          <a:xfrm xmlns:a="http://schemas.openxmlformats.org/drawingml/2006/main">
            <a:off x="1418359" y="2000250"/>
            <a:ext cx="5735782"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8ECF500-460B-423E-B11E-F1F5D6676113}"/>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1ED1ACFE-0B0E-4538-A520-57117E7F822E}"/>
              </a:ext>
            </a:extLst>
          </p:cNvPr>
          <p:cNvSpPr>
            <a:spLocks xmlns:a="http://schemas.openxmlformats.org/drawingml/2006/main" noGrp="1"/>
          </p:cNvSpPr>
          <p:nvPr/>
        </p:nvSpPr>
        <p:spPr>
          <a:xfrm xmlns:a="http://schemas.openxmlformats.org/drawingml/2006/main">
            <a:off x="8477250" y="2705100"/>
            <a:ext cx="27051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High-beta rows remain the weakest on mean alpha. Defensive, ETF, and SPY transfer rows are closer to neutral. Broad-pool transfer is interesting, but it is not a cure-all: high-beta transfer averaged -55.2 pp.</a:t>
            </a:r>
          </a:p>
        </p:txBody>
      </p:sp>
    </p:spTree>
    <p:extLst>
      <p:ext uri="{BB962C8B-B14F-4D97-AF65-F5344CB8AC3E}">
        <p14:creationId xmlns:p14="http://schemas.microsoft.com/office/powerpoint/2010/main" val="132573319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33A040E-E5A9-4BD3-9CA6-28953F4425A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D62AF01-9B68-42E8-938A-DB7DAE6878C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Broad-pool transfer helps in pockets, especially defense</a:t>
            </a:r>
          </a:p>
        </p:txBody>
      </p:sp>
      <p:sp>
        <p:nvSpPr>
          <p:cNvPr id="3" name="">
            <a:extLst xmlns:a="http://schemas.openxmlformats.org/drawingml/2006/main">
              <a:ext uri="{FF2B5EF4-FFF2-40B4-BE49-F238E27FC236}">
                <a16:creationId xmlns:a16="http://schemas.microsoft.com/office/drawing/2014/main" id="{7C4616B5-3B18-43BF-9C64-446C350FE8A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25496D5-6043-45ED-B50F-361C9008BBD8}"/>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EDADB49B-3E4A-411B-B40E-A4EA07BC8AC0}"/>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HIGH-BETA TRANSFER</a:t>
            </a:r>
          </a:p>
        </p:txBody>
      </p:sp>
      <p:sp>
        <p:nvSpPr>
          <p:cNvPr id="6" name="">
            <a:extLst xmlns:a="http://schemas.openxmlformats.org/drawingml/2006/main">
              <a:ext uri="{FF2B5EF4-FFF2-40B4-BE49-F238E27FC236}">
                <a16:creationId xmlns:a16="http://schemas.microsoft.com/office/drawing/2014/main" id="{9681CBCA-B960-4235-860D-1865E291AF17}"/>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-55.2 pp</a:t>
            </a:r>
          </a:p>
        </p:txBody>
      </p:sp>
      <p:sp>
        <p:nvSpPr>
          <p:cNvPr id="7" name="">
            <a:extLst xmlns:a="http://schemas.openxmlformats.org/drawingml/2006/main">
              <a:ext uri="{FF2B5EF4-FFF2-40B4-BE49-F238E27FC236}">
                <a16:creationId xmlns:a16="http://schemas.microsoft.com/office/drawing/2014/main" id="{FBB4099B-11E3-4505-B28B-4D85CC48664F}"/>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Self-context averaged -50.1 pp.</a:t>
            </a:r>
          </a:p>
        </p:txBody>
      </p:sp>
      <p:sp>
        <p:nvSpPr>
          <p:cNvPr id="8" name="">
            <a:extLst xmlns:a="http://schemas.openxmlformats.org/drawingml/2006/main">
              <a:ext uri="{FF2B5EF4-FFF2-40B4-BE49-F238E27FC236}">
                <a16:creationId xmlns:a16="http://schemas.microsoft.com/office/drawing/2014/main" id="{8E284A6C-785C-4D90-AB5B-8D2D121FD65F}"/>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95E7F91D-01A3-4E05-8ED5-EC7D96EC1841}"/>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ETF TRANSFER</a:t>
            </a:r>
          </a:p>
        </p:txBody>
      </p:sp>
      <p:sp>
        <p:nvSpPr>
          <p:cNvPr id="10" name="">
            <a:extLst xmlns:a="http://schemas.openxmlformats.org/drawingml/2006/main">
              <a:ext uri="{FF2B5EF4-FFF2-40B4-BE49-F238E27FC236}">
                <a16:creationId xmlns:a16="http://schemas.microsoft.com/office/drawing/2014/main" id="{EA897A06-473D-43C9-ADB1-ABB5FFD8636E}"/>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-5.9 pp</a:t>
            </a:r>
          </a:p>
        </p:txBody>
      </p:sp>
      <p:sp>
        <p:nvSpPr>
          <p:cNvPr id="11" name="">
            <a:extLst xmlns:a="http://schemas.openxmlformats.org/drawingml/2006/main">
              <a:ext uri="{FF2B5EF4-FFF2-40B4-BE49-F238E27FC236}">
                <a16:creationId xmlns:a16="http://schemas.microsoft.com/office/drawing/2014/main" id="{B69D2B10-9832-4D21-ABF9-79B8F4D329AE}"/>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Best broad-transfer pockets appeared in 2020 and 2022.</a:t>
            </a:r>
          </a:p>
        </p:txBody>
      </p:sp>
      <p:sp>
        <p:nvSpPr>
          <p:cNvPr id="12" name="">
            <a:extLst xmlns:a="http://schemas.openxmlformats.org/drawingml/2006/main">
              <a:ext uri="{FF2B5EF4-FFF2-40B4-BE49-F238E27FC236}">
                <a16:creationId xmlns:a16="http://schemas.microsoft.com/office/drawing/2014/main" id="{E3C7D6EE-6FE4-4D63-81A7-6F7110BD8411}"/>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A664DDFE-DA92-4A3B-B286-751049A268B1}"/>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SPY TRANSFER</a:t>
            </a:r>
          </a:p>
        </p:txBody>
      </p:sp>
      <p:sp>
        <p:nvSpPr>
          <p:cNvPr id="14" name="">
            <a:extLst xmlns:a="http://schemas.openxmlformats.org/drawingml/2006/main">
              <a:ext uri="{FF2B5EF4-FFF2-40B4-BE49-F238E27FC236}">
                <a16:creationId xmlns:a16="http://schemas.microsoft.com/office/drawing/2014/main" id="{C5B25173-0D2B-4693-AD56-BB1568FFC547}"/>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-4.5 pp</a:t>
            </a:r>
          </a:p>
        </p:txBody>
      </p:sp>
      <p:sp>
        <p:nvSpPr>
          <p:cNvPr id="15" name="">
            <a:extLst xmlns:a="http://schemas.openxmlformats.org/drawingml/2006/main">
              <a:ext uri="{FF2B5EF4-FFF2-40B4-BE49-F238E27FC236}">
                <a16:creationId xmlns:a16="http://schemas.microsoft.com/office/drawing/2014/main" id="{382EDED4-B576-4C4D-A33A-7D44FA98F509}"/>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Single-symbol transfer was surprisingly competitive.</a:t>
            </a:r>
          </a:p>
        </p:txBody>
      </p:sp>
      <p:sp>
        <p:nvSpPr>
          <p:cNvPr id="16" name="">
            <a:extLst xmlns:a="http://schemas.openxmlformats.org/drawingml/2006/main">
              <a:ext uri="{FF2B5EF4-FFF2-40B4-BE49-F238E27FC236}">
                <a16:creationId xmlns:a16="http://schemas.microsoft.com/office/drawing/2014/main" id="{C116AD04-DCE7-4CAC-A3A0-88181850F474}"/>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432A8F2E-DFF5-4770-9BA6-85571740817E}"/>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BROAD TRADED</a:t>
            </a:r>
          </a:p>
        </p:txBody>
      </p:sp>
      <p:sp>
        <p:nvSpPr>
          <p:cNvPr id="18" name="">
            <a:extLst xmlns:a="http://schemas.openxmlformats.org/drawingml/2006/main">
              <a:ext uri="{FF2B5EF4-FFF2-40B4-BE49-F238E27FC236}">
                <a16:creationId xmlns:a16="http://schemas.microsoft.com/office/drawing/2014/main" id="{6D42817E-11C3-42B5-A1C5-5464FE2F6259}"/>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-15.3 pp</a:t>
            </a:r>
          </a:p>
        </p:txBody>
      </p:sp>
      <p:sp>
        <p:nvSpPr>
          <p:cNvPr id="19" name="">
            <a:extLst xmlns:a="http://schemas.openxmlformats.org/drawingml/2006/main">
              <a:ext uri="{FF2B5EF4-FFF2-40B4-BE49-F238E27FC236}">
                <a16:creationId xmlns:a16="http://schemas.microsoft.com/office/drawing/2014/main" id="{58175DD8-1C37-408B-B3CE-56A19C78E279}"/>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Trading the whole broad pool did not solve alpha.</a:t>
            </a:r>
          </a:p>
        </p:txBody>
      </p:sp>
      <p:sp>
        <p:nvSpPr>
          <p:cNvPr id="20" name="">
            <a:extLst xmlns:a="http://schemas.openxmlformats.org/drawingml/2006/main">
              <a:ext uri="{FF2B5EF4-FFF2-40B4-BE49-F238E27FC236}">
                <a16:creationId xmlns:a16="http://schemas.microsoft.com/office/drawing/2014/main" id="{22269DD0-3973-4FEC-B143-25A9151E85CF}"/>
              </a:ext>
            </a:extLst>
          </p:cNvPr>
          <p:cNvSpPr>
            <a:spLocks xmlns:a="http://schemas.openxmlformats.org/drawingml/2006/main" noGrp="1"/>
          </p:cNvSpPr>
          <p:nvPr/>
        </p:nvSpPr>
        <p:spPr>
          <a:xfrm xmlns:a="http://schemas.openxmlformats.org/drawingml/2006/main">
            <a:off x="1066800" y="4095750"/>
            <a:ext cx="9334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000000"/>
                </a:solidFill>
              </a:defRPr>
            </a:pPr>
            <a:r>
              <a:rPr sz="2025" b="1" i="0">
                <a:solidFill>
                  <a:srgbClr val="000000"/>
                </a:solidFill>
              </a:rPr>
              <a:t>The clearest positive row was high beta 5  broad pool transfer / asset plus relative strength in 2022Y with 31.6 pp alpha. That is useful evidence, but it is mostly defensive selectivity rather than proof of broad upside capture.</a:t>
            </a:r>
          </a:p>
        </p:txBody>
      </p:sp>
    </p:spTree>
    <p:extLst>
      <p:ext uri="{BB962C8B-B14F-4D97-AF65-F5344CB8AC3E}">
        <p14:creationId xmlns:p14="http://schemas.microsoft.com/office/powerpoint/2010/main" val="622474252"/>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6922D10-43A9-4B73-8979-F948232F09F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885D0EA-C592-455B-9CB2-E6F9F69F505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window matrix explains why the averages are sobering</a:t>
            </a:r>
          </a:p>
        </p:txBody>
      </p:sp>
      <p:sp>
        <p:nvSpPr>
          <p:cNvPr id="3" name="">
            <a:extLst xmlns:a="http://schemas.openxmlformats.org/drawingml/2006/main">
              <a:ext uri="{FF2B5EF4-FFF2-40B4-BE49-F238E27FC236}">
                <a16:creationId xmlns:a16="http://schemas.microsoft.com/office/drawing/2014/main" id="{ECEE74ED-2694-4D04-AE6E-1185C742E7C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87a9af46c9344ba"/>
          <a:stretch xmlns:a="http://schemas.openxmlformats.org/drawingml/2006/main"/>
        </p:blipFill>
        <p:spPr>
          <a:xfrm xmlns:a="http://schemas.openxmlformats.org/drawingml/2006/main">
            <a:off x="1418359" y="2000250"/>
            <a:ext cx="5735782"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BB9AFF2-45DB-4264-ABF1-5E292F4AD3EA}"/>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Pattern</a:t>
            </a:r>
          </a:p>
        </p:txBody>
      </p:sp>
      <p:sp>
        <p:nvSpPr>
          <p:cNvPr id="6" name="">
            <a:extLst xmlns:a="http://schemas.openxmlformats.org/drawingml/2006/main">
              <a:ext uri="{FF2B5EF4-FFF2-40B4-BE49-F238E27FC236}">
                <a16:creationId xmlns:a16="http://schemas.microsoft.com/office/drawing/2014/main" id="{96F2DB6D-8003-43B4-A26C-EE4196058DF7}"/>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Most rows improve during the 2022 drawdown and lag during 2020, 2023, and 2024. That is the signature of a timing/risk filter, not yet a high-beta alpha capture engine.</a:t>
            </a:r>
          </a:p>
        </p:txBody>
      </p:sp>
    </p:spTree>
    <p:extLst>
      <p:ext uri="{BB962C8B-B14F-4D97-AF65-F5344CB8AC3E}">
        <p14:creationId xmlns:p14="http://schemas.microsoft.com/office/powerpoint/2010/main" val="755478669"/>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D5C736D-8CDB-4811-8D51-CD3902605E1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28ADFC0-DFEC-4B40-A059-6262AEB6BF97}"/>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diagnostics are mixed, so replay gains need visual audit</a:t>
            </a:r>
          </a:p>
        </p:txBody>
      </p:sp>
      <p:sp>
        <p:nvSpPr>
          <p:cNvPr id="3" name="">
            <a:extLst xmlns:a="http://schemas.openxmlformats.org/drawingml/2006/main">
              <a:ext uri="{FF2B5EF4-FFF2-40B4-BE49-F238E27FC236}">
                <a16:creationId xmlns:a16="http://schemas.microsoft.com/office/drawing/2014/main" id="{E0FDCCE2-7ADE-46F9-AFB6-29768F429DD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69d29ea6b334471"/>
          <a:stretch xmlns:a="http://schemas.openxmlformats.org/drawingml/2006/main"/>
        </p:blipFill>
        <p:spPr>
          <a:xfrm xmlns:a="http://schemas.openxmlformats.org/drawingml/2006/main">
            <a:off x="704850" y="2194214"/>
            <a:ext cx="5715000" cy="3117273"/>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547C15A-8982-44FA-A9C5-4FA35FE1A623}"/>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6582AD1F-B7D1-42E5-B00C-FECE2EB7DBCF}"/>
              </a:ext>
            </a:extLst>
          </p:cNvPr>
          <p:cNvSpPr>
            <a:spLocks xmlns:a="http://schemas.openxmlformats.org/drawingml/2006/main" noGrp="1"/>
          </p:cNvSpPr>
          <p:nvPr/>
        </p:nvSpPr>
        <p:spPr>
          <a:xfrm xmlns:a="http://schemas.openxmlformats.org/drawingml/2006/main">
            <a:off x="7105650" y="2743200"/>
            <a:ext cx="3333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mean AUC row reached 0.561, but top-minus-bottom forward-return separation was inconsistent. Replay can improve through threshold timing even when global ranking is weak, so tapes remain mandatory.</a:t>
            </a:r>
          </a:p>
        </p:txBody>
      </p:sp>
    </p:spTree>
    <p:extLst>
      <p:ext uri="{BB962C8B-B14F-4D97-AF65-F5344CB8AC3E}">
        <p14:creationId xmlns:p14="http://schemas.microsoft.com/office/powerpoint/2010/main" val="1879138799"/>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78ABAA-82E8-495C-98EE-9C566DC1884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F92C1CD-A1DF-41C5-AC83-9EE573F6484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what the architecture changed</a:t>
            </a:r>
          </a:p>
        </p:txBody>
      </p:sp>
      <p:sp>
        <p:nvSpPr>
          <p:cNvPr id="3" name="">
            <a:extLst xmlns:a="http://schemas.openxmlformats.org/drawingml/2006/main">
              <a:ext uri="{FF2B5EF4-FFF2-40B4-BE49-F238E27FC236}">
                <a16:creationId xmlns:a16="http://schemas.microsoft.com/office/drawing/2014/main" id="{2D06B49E-5754-422B-8210-5A2E2282E37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b47daa2e9a94018"/>
          <a:stretch xmlns:a="http://schemas.openxmlformats.org/drawingml/2006/main"/>
        </p:blipFill>
        <p:spPr>
          <a:xfrm xmlns:a="http://schemas.openxmlformats.org/drawingml/2006/main">
            <a:off x="1418359" y="2000250"/>
            <a:ext cx="5735782"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1796E80-3021-4DEA-A7EC-5402FF40535F}"/>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Human audit</a:t>
            </a:r>
          </a:p>
        </p:txBody>
      </p:sp>
      <p:sp>
        <p:nvSpPr>
          <p:cNvPr id="6" name="">
            <a:extLst xmlns:a="http://schemas.openxmlformats.org/drawingml/2006/main">
              <a:ext uri="{FF2B5EF4-FFF2-40B4-BE49-F238E27FC236}">
                <a16:creationId xmlns:a16="http://schemas.microsoft.com/office/drawing/2014/main" id="{6BDCAFC2-5A4C-4072-BF93-C99AD8319D11}"/>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tape examples show probabilities moving, but not yet cleanly enough to own sustained high-beta uptrends. The next narrow slice should target the objective, not simply add more symbols.</a:t>
            </a:r>
          </a:p>
        </p:txBody>
      </p:sp>
    </p:spTree>
    <p:extLst>
      <p:ext uri="{BB962C8B-B14F-4D97-AF65-F5344CB8AC3E}">
        <p14:creationId xmlns:p14="http://schemas.microsoft.com/office/powerpoint/2010/main" val="1084608058"/>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63B4142-DD2D-43F6-9223-F79589AA7D8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10AB659-1A33-4C14-A564-806AE300FCF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question should be about alpha objective, not size</a:t>
            </a:r>
          </a:p>
        </p:txBody>
      </p:sp>
      <p:sp>
        <p:nvSpPr>
          <p:cNvPr id="3" name="">
            <a:extLst xmlns:a="http://schemas.openxmlformats.org/drawingml/2006/main">
              <a:ext uri="{FF2B5EF4-FFF2-40B4-BE49-F238E27FC236}">
                <a16:creationId xmlns:a16="http://schemas.microsoft.com/office/drawing/2014/main" id="{51DC462F-922A-4C8B-B1F6-243F643FAF5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92F407-C953-411C-9D62-D112A932AF50}"/>
              </a:ext>
            </a:extLst>
          </p:cNvPr>
          <p:cNvSpPr>
            <a:spLocks xmlns:a="http://schemas.openxmlformats.org/drawingml/2006/main" noGrp="1"/>
          </p:cNvSpPr>
          <p:nvPr/>
        </p:nvSpPr>
        <p:spPr>
          <a:xfrm xmlns:a="http://schemas.openxmlformats.org/drawingml/2006/main">
            <a:off x="876300" y="2133600"/>
            <a:ext cx="9334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ML-P5 says universe architecture matters, but broadening context or research symbols is not sufficient by itself. The current engine looks most useful as a risk filter and weakest as a bull-market participation engine.</a:t>
            </a:r>
          </a:p>
        </p:txBody>
      </p:sp>
      <p:sp>
        <p:nvSpPr>
          <p:cNvPr id="5" name="">
            <a:extLst xmlns:a="http://schemas.openxmlformats.org/drawingml/2006/main">
              <a:ext uri="{FF2B5EF4-FFF2-40B4-BE49-F238E27FC236}">
                <a16:creationId xmlns:a16="http://schemas.microsoft.com/office/drawing/2014/main" id="{429A18CB-9FC3-40A3-AFC5-31D8EFAAD4EE}"/>
              </a:ext>
            </a:extLst>
          </p:cNvPr>
          <p:cNvSpPr>
            <a:spLocks xmlns:a="http://schemas.openxmlformats.org/drawingml/2006/main" noGrp="1"/>
          </p:cNvSpPr>
          <p:nvPr/>
        </p:nvSpPr>
        <p:spPr>
          <a:xfrm xmlns:a="http://schemas.openxmlformats.org/drawingml/2006/main">
            <a:off x="1219200" y="3667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D81B252E-81FF-403D-9810-F4C8F7948A76}"/>
              </a:ext>
            </a:extLst>
          </p:cNvPr>
          <p:cNvSpPr>
            <a:spLocks xmlns:a="http://schemas.openxmlformats.org/drawingml/2006/main" noGrp="1"/>
          </p:cNvSpPr>
          <p:nvPr/>
        </p:nvSpPr>
        <p:spPr>
          <a:xfrm xmlns:a="http://schemas.openxmlformats.org/drawingml/2006/main">
            <a:off x="1485900" y="3657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broad-pool transfer as a contender for SPY/ETF timing and drawdown defense.</a:t>
            </a:r>
          </a:p>
        </p:txBody>
      </p:sp>
      <p:sp>
        <p:nvSpPr>
          <p:cNvPr id="7" name="">
            <a:extLst xmlns:a="http://schemas.openxmlformats.org/drawingml/2006/main">
              <a:ext uri="{FF2B5EF4-FFF2-40B4-BE49-F238E27FC236}">
                <a16:creationId xmlns:a16="http://schemas.microsoft.com/office/drawing/2014/main" id="{F122F50E-9BC4-498B-94C8-949B3CCBAF3E}"/>
              </a:ext>
            </a:extLst>
          </p:cNvPr>
          <p:cNvSpPr>
            <a:spLocks xmlns:a="http://schemas.openxmlformats.org/drawingml/2006/main" noGrp="1"/>
          </p:cNvSpPr>
          <p:nvPr/>
        </p:nvSpPr>
        <p:spPr>
          <a:xfrm xmlns:a="http://schemas.openxmlformats.org/drawingml/2006/main">
            <a:off x="1219200" y="4333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81301DC0-F085-4181-8669-4D712EF9528C}"/>
              </a:ext>
            </a:extLst>
          </p:cNvPr>
          <p:cNvSpPr>
            <a:spLocks xmlns:a="http://schemas.openxmlformats.org/drawingml/2006/main" noGrp="1"/>
          </p:cNvSpPr>
          <p:nvPr/>
        </p:nvSpPr>
        <p:spPr>
          <a:xfrm xmlns:a="http://schemas.openxmlformats.org/drawingml/2006/main">
            <a:off x="1485900" y="4324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blindly enlarge context universes; broader context helped pockets but did not solve high-beta alpha.</a:t>
            </a:r>
          </a:p>
        </p:txBody>
      </p:sp>
      <p:sp>
        <p:nvSpPr>
          <p:cNvPr id="9" name="">
            <a:extLst xmlns:a="http://schemas.openxmlformats.org/drawingml/2006/main">
              <a:ext uri="{FF2B5EF4-FFF2-40B4-BE49-F238E27FC236}">
                <a16:creationId xmlns:a16="http://schemas.microsoft.com/office/drawing/2014/main" id="{904600F9-B9D8-4F77-91A2-1F1ACD6065F4}"/>
              </a:ext>
            </a:extLst>
          </p:cNvPr>
          <p:cNvSpPr>
            <a:spLocks xmlns:a="http://schemas.openxmlformats.org/drawingml/2006/main" noGrp="1"/>
          </p:cNvSpPr>
          <p:nvPr/>
        </p:nvSpPr>
        <p:spPr>
          <a:xfrm xmlns:a="http://schemas.openxmlformats.org/drawingml/2006/main">
            <a:off x="1219200" y="5000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D1522D88-7476-48CE-A2D1-C4DC8DB63585}"/>
              </a:ext>
            </a:extLst>
          </p:cNvPr>
          <p:cNvSpPr>
            <a:spLocks xmlns:a="http://schemas.openxmlformats.org/drawingml/2006/main" noGrp="1"/>
          </p:cNvSpPr>
          <p:nvPr/>
        </p:nvSpPr>
        <p:spPr>
          <a:xfrm xmlns:a="http://schemas.openxmlformats.org/drawingml/2006/main">
            <a:off x="1485900" y="4991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high-signal slice: benchmark-relative labels or upside-capture objectives, still with h1 relative-strength as the control.</a:t>
            </a:r>
          </a:p>
        </p:txBody>
      </p:sp>
      <p:sp>
        <p:nvSpPr>
          <p:cNvPr id="11" name="">
            <a:extLst xmlns:a="http://schemas.openxmlformats.org/drawingml/2006/main">
              <a:ext uri="{FF2B5EF4-FFF2-40B4-BE49-F238E27FC236}">
                <a16:creationId xmlns:a16="http://schemas.microsoft.com/office/drawing/2014/main" id="{E997BBA0-84E9-420F-BDCE-1C88DDECCA72}"/>
              </a:ext>
            </a:extLst>
          </p:cNvPr>
          <p:cNvSpPr>
            <a:spLocks xmlns:a="http://schemas.openxmlformats.org/drawingml/2006/main" noGrp="1"/>
          </p:cNvSpPr>
          <p:nvPr/>
        </p:nvSpPr>
        <p:spPr>
          <a:xfrm xmlns:a="http://schemas.openxmlformats.org/drawingml/2006/main">
            <a:off x="1219200" y="5667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1C1DDB31-1A34-4F1F-9760-61C531A49038}"/>
              </a:ext>
            </a:extLst>
          </p:cNvPr>
          <p:cNvSpPr>
            <a:spLocks xmlns:a="http://schemas.openxmlformats.org/drawingml/2006/main" noGrp="1"/>
          </p:cNvSpPr>
          <p:nvPr/>
        </p:nvSpPr>
        <p:spPr>
          <a:xfrm xmlns:a="http://schemas.openxmlformats.org/drawingml/2006/main">
            <a:off x="1485900" y="5657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all outputs research-only; no live advice or allocation promotion.</a:t>
            </a:r>
          </a:p>
        </p:txBody>
      </p:sp>
    </p:spTree>
    <p:extLst>
      <p:ext uri="{BB962C8B-B14F-4D97-AF65-F5344CB8AC3E}">
        <p14:creationId xmlns:p14="http://schemas.microsoft.com/office/powerpoint/2010/main" val="162267868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7B7E118-1258-4A7E-A40B-1E2BB436177F}"/>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2D31FE39-5440-49E1-B5E0-709B684B526A}"/>
              </a:ext>
            </a:extLst>
          </p:cNvPr>
          <p:cNvSpPr>
            <a:spLocks xmlns:a="http://schemas.openxmlformats.org/drawingml/2006/main" noGrp="1"/>
          </p:cNvSpPr>
          <p:nvPr/>
        </p:nvSpPr>
        <p:spPr>
          <a:xfrm xmlns:a="http://schemas.openxmlformats.org/drawingml/2006/main">
            <a:off x="685800" y="1466850"/>
            <a:ext cx="8096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Now we ask what a high-quality bullish swing setup should look like</a:t>
            </a:r>
          </a:p>
        </p:txBody>
      </p:sp>
      <p:sp>
        <p:nvSpPr>
          <p:cNvPr id="3" name="">
            <a:extLst xmlns:a="http://schemas.openxmlformats.org/drawingml/2006/main">
              <a:ext uri="{FF2B5EF4-FFF2-40B4-BE49-F238E27FC236}">
                <a16:creationId xmlns:a16="http://schemas.microsoft.com/office/drawing/2014/main" id="{1C5A4445-0B84-4D3B-B4C7-51DBBC30F2F9}"/>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6D9BB04-8484-4749-A154-F45DB5D06CD2}"/>
              </a:ext>
            </a:extLst>
          </p:cNvPr>
          <p:cNvSpPr>
            <a:spLocks xmlns:a="http://schemas.openxmlformats.org/drawingml/2006/main" noGrp="1"/>
          </p:cNvSpPr>
          <p:nvPr/>
        </p:nvSpPr>
        <p:spPr>
          <a:xfrm xmlns:a="http://schemas.openxmlformats.org/drawingml/2006/main">
            <a:off x="723900" y="3467100"/>
            <a:ext cx="7524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ML-P6 pauses model tuning. It starts with the trade shape we actually want: sustained relative upside with manageable interruption risk, observed through a small set of interpretable features.</a:t>
            </a:r>
          </a:p>
        </p:txBody>
      </p:sp>
      <p:sp>
        <p:nvSpPr>
          <p:cNvPr id="5" name="">
            <a:extLst xmlns:a="http://schemas.openxmlformats.org/drawingml/2006/main">
              <a:ext uri="{FF2B5EF4-FFF2-40B4-BE49-F238E27FC236}">
                <a16:creationId xmlns:a16="http://schemas.microsoft.com/office/drawing/2014/main" id="{D148C564-2378-496B-B01E-C8F48628F8B5}"/>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AF7F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9D2836F-1E6E-4AD3-B9B4-C25E9A09653D}"/>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ML-P6</a:t>
            </a:r>
          </a:p>
        </p:txBody>
      </p:sp>
      <p:sp>
        <p:nvSpPr>
          <p:cNvPr id="7" name="">
            <a:extLst xmlns:a="http://schemas.openxmlformats.org/drawingml/2006/main">
              <a:ext uri="{FF2B5EF4-FFF2-40B4-BE49-F238E27FC236}">
                <a16:creationId xmlns:a16="http://schemas.microsoft.com/office/drawing/2014/main" id="{1881B59B-69B2-44E2-A572-50AEC4490664}"/>
              </a:ext>
            </a:extLst>
          </p:cNvPr>
          <p:cNvSpPr>
            <a:spLocks xmlns:a="http://schemas.openxmlformats.org/drawingml/2006/main" noGrp="1"/>
          </p:cNvSpPr>
          <p:nvPr/>
        </p:nvSpPr>
        <p:spPr>
          <a:xfrm xmlns:a="http://schemas.openxmlformats.org/drawingml/2006/main">
            <a:off x="9067800" y="3067050"/>
            <a:ext cx="2762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Swing feature audit</a:t>
            </a:r>
          </a:p>
        </p:txBody>
      </p:sp>
    </p:spTree>
    <p:extLst>
      <p:ext uri="{BB962C8B-B14F-4D97-AF65-F5344CB8AC3E}">
        <p14:creationId xmlns:p14="http://schemas.microsoft.com/office/powerpoint/2010/main" val="1665824901"/>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C2E665-ACF6-46A6-A532-8AB7E47D33A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9DE9C78-DE08-44F7-B969-576DE76EE38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targets describe swing quality, not just tomorrow's direction</a:t>
            </a:r>
          </a:p>
        </p:txBody>
      </p:sp>
      <p:sp>
        <p:nvSpPr>
          <p:cNvPr id="3" name="">
            <a:extLst xmlns:a="http://schemas.openxmlformats.org/drawingml/2006/main">
              <a:ext uri="{FF2B5EF4-FFF2-40B4-BE49-F238E27FC236}">
                <a16:creationId xmlns:a16="http://schemas.microsoft.com/office/drawing/2014/main" id="{00EDB6A7-BFD2-4D18-9240-80CAED86114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3090489-AFEC-4F2E-BA18-C4BA8375E2B9}"/>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972BFC4F-1307-459A-A137-337AB4A7B83E}"/>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ABSOLUTE H10</a:t>
            </a:r>
          </a:p>
        </p:txBody>
      </p:sp>
      <p:sp>
        <p:nvSpPr>
          <p:cNvPr id="6" name="">
            <a:extLst xmlns:a="http://schemas.openxmlformats.org/drawingml/2006/main">
              <a:ext uri="{FF2B5EF4-FFF2-40B4-BE49-F238E27FC236}">
                <a16:creationId xmlns:a16="http://schemas.microsoft.com/office/drawing/2014/main" id="{4B490AE9-AB11-48E6-BCDB-4D9FD1B24A28}"/>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Return</a:t>
            </a:r>
          </a:p>
        </p:txBody>
      </p:sp>
      <p:sp>
        <p:nvSpPr>
          <p:cNvPr id="7" name="">
            <a:extLst xmlns:a="http://schemas.openxmlformats.org/drawingml/2006/main">
              <a:ext uri="{FF2B5EF4-FFF2-40B4-BE49-F238E27FC236}">
                <a16:creationId xmlns:a16="http://schemas.microsoft.com/office/drawing/2014/main" id="{E3B50653-49D8-497F-9085-A754C49873C7}"/>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Next-open entry through close ten sessions later.</a:t>
            </a:r>
          </a:p>
        </p:txBody>
      </p:sp>
      <p:sp>
        <p:nvSpPr>
          <p:cNvPr id="8" name="">
            <a:extLst xmlns:a="http://schemas.openxmlformats.org/drawingml/2006/main">
              <a:ext uri="{FF2B5EF4-FFF2-40B4-BE49-F238E27FC236}">
                <a16:creationId xmlns:a16="http://schemas.microsoft.com/office/drawing/2014/main" id="{35C63DEF-12A7-48E7-806A-A9158A734D7B}"/>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A61AEE6A-3D3D-46C5-835A-6B1EB3E8AD0F}"/>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RELATIVE H10</a:t>
            </a:r>
          </a:p>
        </p:txBody>
      </p:sp>
      <p:sp>
        <p:nvSpPr>
          <p:cNvPr id="10" name="">
            <a:extLst xmlns:a="http://schemas.openxmlformats.org/drawingml/2006/main">
              <a:ext uri="{FF2B5EF4-FFF2-40B4-BE49-F238E27FC236}">
                <a16:creationId xmlns:a16="http://schemas.microsoft.com/office/drawing/2014/main" id="{86556645-E3F9-475F-A3D1-379EF83AF8FC}"/>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52.5%</a:t>
            </a:r>
          </a:p>
        </p:txBody>
      </p:sp>
      <p:sp>
        <p:nvSpPr>
          <p:cNvPr id="11" name="">
            <a:extLst xmlns:a="http://schemas.openxmlformats.org/drawingml/2006/main">
              <a:ext uri="{FF2B5EF4-FFF2-40B4-BE49-F238E27FC236}">
                <a16:creationId xmlns:a16="http://schemas.microsoft.com/office/drawing/2014/main" id="{C0E91699-7C84-4462-8C57-95E1D94D5BB1}"/>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 beats the equal-weight SPY / QQQ / SMH context over the same horizon.</a:t>
            </a:r>
          </a:p>
        </p:txBody>
      </p:sp>
      <p:sp>
        <p:nvSpPr>
          <p:cNvPr id="12" name="">
            <a:extLst xmlns:a="http://schemas.openxmlformats.org/drawingml/2006/main">
              <a:ext uri="{FF2B5EF4-FFF2-40B4-BE49-F238E27FC236}">
                <a16:creationId xmlns:a16="http://schemas.microsoft.com/office/drawing/2014/main" id="{09A68FDA-C85A-4229-B519-C2E91C9B4A68}"/>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44BBB925-B072-428F-9563-6471762BBD61}"/>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QUALITY H10</a:t>
            </a:r>
          </a:p>
        </p:txBody>
      </p:sp>
      <p:sp>
        <p:nvSpPr>
          <p:cNvPr id="14" name="">
            <a:extLst xmlns:a="http://schemas.openxmlformats.org/drawingml/2006/main">
              <a:ext uri="{FF2B5EF4-FFF2-40B4-BE49-F238E27FC236}">
                <a16:creationId xmlns:a16="http://schemas.microsoft.com/office/drawing/2014/main" id="{E033964D-7587-4BE6-85E8-D8C36F2A4486}"/>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Upside - MAE</a:t>
            </a:r>
          </a:p>
        </p:txBody>
      </p:sp>
      <p:sp>
        <p:nvSpPr>
          <p:cNvPr id="15" name="">
            <a:extLst xmlns:a="http://schemas.openxmlformats.org/drawingml/2006/main">
              <a:ext uri="{FF2B5EF4-FFF2-40B4-BE49-F238E27FC236}">
                <a16:creationId xmlns:a16="http://schemas.microsoft.com/office/drawing/2014/main" id="{49EFDA0D-298A-49FB-9FBB-B51A7D8BCC13}"/>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Forward return penalized by the worst intrahorizon adverse excursion.</a:t>
            </a:r>
          </a:p>
        </p:txBody>
      </p:sp>
      <p:sp>
        <p:nvSpPr>
          <p:cNvPr id="16" name="">
            <a:extLst xmlns:a="http://schemas.openxmlformats.org/drawingml/2006/main">
              <a:ext uri="{FF2B5EF4-FFF2-40B4-BE49-F238E27FC236}">
                <a16:creationId xmlns:a16="http://schemas.microsoft.com/office/drawing/2014/main" id="{7A5ABEC7-7014-41BE-AA38-664C6ACC7B0D}"/>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B4E1099F-B747-49F8-B160-F563F6DBC006}"/>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PATH TEST</a:t>
            </a:r>
          </a:p>
        </p:txBody>
      </p:sp>
      <p:sp>
        <p:nvSpPr>
          <p:cNvPr id="18" name="">
            <a:extLst xmlns:a="http://schemas.openxmlformats.org/drawingml/2006/main">
              <a:ext uri="{FF2B5EF4-FFF2-40B4-BE49-F238E27FC236}">
                <a16:creationId xmlns:a16="http://schemas.microsoft.com/office/drawing/2014/main" id="{A0787C8F-6E3E-483A-9574-D6AF72AD9AB5}"/>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35.4%</a:t>
            </a:r>
          </a:p>
        </p:txBody>
      </p:sp>
      <p:sp>
        <p:nvSpPr>
          <p:cNvPr id="19" name="">
            <a:extLst xmlns:a="http://schemas.openxmlformats.org/drawingml/2006/main">
              <a:ext uri="{FF2B5EF4-FFF2-40B4-BE49-F238E27FC236}">
                <a16:creationId xmlns:a16="http://schemas.microsoft.com/office/drawing/2014/main" id="{A1287AC2-AE7D-40BA-9472-75CB3A06C8FA}"/>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Reaches +8% before -5% within ten sessions; diagnostic only.</a:t>
            </a:r>
          </a:p>
        </p:txBody>
      </p:sp>
      <p:sp>
        <p:nvSpPr>
          <p:cNvPr id="20" name="">
            <a:extLst xmlns:a="http://schemas.openxmlformats.org/drawingml/2006/main">
              <a:ext uri="{FF2B5EF4-FFF2-40B4-BE49-F238E27FC236}">
                <a16:creationId xmlns:a16="http://schemas.microsoft.com/office/drawing/2014/main" id="{6D9F4A2F-3AF7-4C6A-8D61-5CFEA85D1290}"/>
              </a:ext>
            </a:extLst>
          </p:cNvPr>
          <p:cNvSpPr>
            <a:spLocks xmlns:a="http://schemas.openxmlformats.org/drawingml/2006/main" noGrp="1"/>
          </p:cNvSpPr>
          <p:nvPr/>
        </p:nvSpPr>
        <p:spPr>
          <a:xfrm xmlns:a="http://schemas.openxmlformats.org/drawingml/2006/main">
            <a:off x="1066800" y="4095750"/>
            <a:ext cx="9334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000000"/>
                </a:solidFill>
              </a:defRPr>
            </a:pPr>
            <a:r>
              <a:rPr sz="2025" b="1" i="0">
                <a:solidFill>
                  <a:srgbClr val="000000"/>
                </a:solidFill>
              </a:rPr>
              <a:t>The primary candidate is relative h10. It asks whether a position is likely to outperform the market-and-sector backdrop, which is closer to the alpha question than a bare positive-return label.</a:t>
            </a:r>
          </a:p>
        </p:txBody>
      </p:sp>
    </p:spTree>
    <p:extLst>
      <p:ext uri="{BB962C8B-B14F-4D97-AF65-F5344CB8AC3E}">
        <p14:creationId xmlns:p14="http://schemas.microsoft.com/office/powerpoint/2010/main" val="402516519"/>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3FA76AF-D853-47BC-A8E0-34CE0D5D251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BD18355-EF89-45C8-99E5-031D1FC6DA5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Four lenses describe a bullish swing setup without a strategy rule</a:t>
            </a:r>
          </a:p>
        </p:txBody>
      </p:sp>
      <p:sp>
        <p:nvSpPr>
          <p:cNvPr id="3" name="">
            <a:extLst xmlns:a="http://schemas.openxmlformats.org/drawingml/2006/main">
              <a:ext uri="{FF2B5EF4-FFF2-40B4-BE49-F238E27FC236}">
                <a16:creationId xmlns:a16="http://schemas.microsoft.com/office/drawing/2014/main" id="{45B21904-FA4C-4EB6-BBE5-FACB1F5A8D6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CC3B76A-5537-4D53-8909-5FF50409C1E9}"/>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832FBD1D-A59F-49D9-9D08-1B233B1FBF7D}"/>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LEADERSHIP</a:t>
            </a:r>
          </a:p>
        </p:txBody>
      </p:sp>
      <p:sp>
        <p:nvSpPr>
          <p:cNvPr id="6" name="">
            <a:extLst xmlns:a="http://schemas.openxmlformats.org/drawingml/2006/main">
              <a:ext uri="{FF2B5EF4-FFF2-40B4-BE49-F238E27FC236}">
                <a16:creationId xmlns:a16="http://schemas.microsoft.com/office/drawing/2014/main" id="{1F3DAA94-4E29-4FBC-B266-750387CB1101}"/>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Lead</a:t>
            </a:r>
          </a:p>
        </p:txBody>
      </p:sp>
      <p:sp>
        <p:nvSpPr>
          <p:cNvPr id="7" name="">
            <a:extLst xmlns:a="http://schemas.openxmlformats.org/drawingml/2006/main">
              <a:ext uri="{FF2B5EF4-FFF2-40B4-BE49-F238E27FC236}">
                <a16:creationId xmlns:a16="http://schemas.microsoft.com/office/drawing/2014/main" id="{CED42D7A-4669-45C6-9B3C-CE1C5836CAF5}"/>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Relative strength, distance from highs, sector / market leadership.</a:t>
            </a:r>
          </a:p>
        </p:txBody>
      </p:sp>
      <p:sp>
        <p:nvSpPr>
          <p:cNvPr id="8" name="">
            <a:extLst xmlns:a="http://schemas.openxmlformats.org/drawingml/2006/main">
              <a:ext uri="{FF2B5EF4-FFF2-40B4-BE49-F238E27FC236}">
                <a16:creationId xmlns:a16="http://schemas.microsoft.com/office/drawing/2014/main" id="{35A44BA6-93B8-451B-B19B-D2AA40BECDF4}"/>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225FB528-C097-41BD-974F-CE35C3B18DE3}"/>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TREND HEALTH</a:t>
            </a:r>
          </a:p>
        </p:txBody>
      </p:sp>
      <p:sp>
        <p:nvSpPr>
          <p:cNvPr id="10" name="">
            <a:extLst xmlns:a="http://schemas.openxmlformats.org/drawingml/2006/main">
              <a:ext uri="{FF2B5EF4-FFF2-40B4-BE49-F238E27FC236}">
                <a16:creationId xmlns:a16="http://schemas.microsoft.com/office/drawing/2014/main" id="{C7689875-3210-4EF0-B0CC-02C82C05B43A}"/>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Healthy</a:t>
            </a:r>
          </a:p>
        </p:txBody>
      </p:sp>
      <p:sp>
        <p:nvSpPr>
          <p:cNvPr id="11" name="">
            <a:extLst xmlns:a="http://schemas.openxmlformats.org/drawingml/2006/main">
              <a:ext uri="{FF2B5EF4-FFF2-40B4-BE49-F238E27FC236}">
                <a16:creationId xmlns:a16="http://schemas.microsoft.com/office/drawing/2014/main" id="{4AC599ED-E9BA-4AD8-86D2-3777C6881CAE}"/>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Trend consistency, efficiency, and moving-average posture.</a:t>
            </a:r>
          </a:p>
        </p:txBody>
      </p:sp>
      <p:sp>
        <p:nvSpPr>
          <p:cNvPr id="12" name="">
            <a:extLst xmlns:a="http://schemas.openxmlformats.org/drawingml/2006/main">
              <a:ext uri="{FF2B5EF4-FFF2-40B4-BE49-F238E27FC236}">
                <a16:creationId xmlns:a16="http://schemas.microsoft.com/office/drawing/2014/main" id="{38A2EC6A-2736-49B0-93F7-59BCE2B4499F}"/>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EC9119F3-5E9D-42BC-99A2-3D1EDC2E4FA5}"/>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PULLBACK</a:t>
            </a:r>
          </a:p>
        </p:txBody>
      </p:sp>
      <p:sp>
        <p:nvSpPr>
          <p:cNvPr id="14" name="">
            <a:extLst xmlns:a="http://schemas.openxmlformats.org/drawingml/2006/main">
              <a:ext uri="{FF2B5EF4-FFF2-40B4-BE49-F238E27FC236}">
                <a16:creationId xmlns:a16="http://schemas.microsoft.com/office/drawing/2014/main" id="{2AE3EDAC-97AF-4C06-B728-2FDF15CE01A0}"/>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Disciplined</a:t>
            </a:r>
          </a:p>
        </p:txBody>
      </p:sp>
      <p:sp>
        <p:nvSpPr>
          <p:cNvPr id="15" name="">
            <a:extLst xmlns:a="http://schemas.openxmlformats.org/drawingml/2006/main">
              <a:ext uri="{FF2B5EF4-FFF2-40B4-BE49-F238E27FC236}">
                <a16:creationId xmlns:a16="http://schemas.microsoft.com/office/drawing/2014/main" id="{809D8922-2AE2-47C9-AC3E-16D8A5FEDE35}"/>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ATR-scaled depth, volume behavior, recovery, and breakout posture.</a:t>
            </a:r>
          </a:p>
        </p:txBody>
      </p:sp>
      <p:sp>
        <p:nvSpPr>
          <p:cNvPr id="16" name="">
            <a:extLst xmlns:a="http://schemas.openxmlformats.org/drawingml/2006/main">
              <a:ext uri="{FF2B5EF4-FFF2-40B4-BE49-F238E27FC236}">
                <a16:creationId xmlns:a16="http://schemas.microsoft.com/office/drawing/2014/main" id="{5320BED3-D89A-4D62-8198-FFE26050FE6B}"/>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94A2C8B2-F866-445F-9ADA-17CD679A8E85}"/>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RISK-ON</a:t>
            </a:r>
          </a:p>
        </p:txBody>
      </p:sp>
      <p:sp>
        <p:nvSpPr>
          <p:cNvPr id="18" name="">
            <a:extLst xmlns:a="http://schemas.openxmlformats.org/drawingml/2006/main">
              <a:ext uri="{FF2B5EF4-FFF2-40B4-BE49-F238E27FC236}">
                <a16:creationId xmlns:a16="http://schemas.microsoft.com/office/drawing/2014/main" id="{B5AB9725-E5AC-4392-B8C0-84007835016C}"/>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Support</a:t>
            </a:r>
          </a:p>
        </p:txBody>
      </p:sp>
      <p:sp>
        <p:nvSpPr>
          <p:cNvPr id="19" name="">
            <a:extLst xmlns:a="http://schemas.openxmlformats.org/drawingml/2006/main">
              <a:ext uri="{FF2B5EF4-FFF2-40B4-BE49-F238E27FC236}">
                <a16:creationId xmlns:a16="http://schemas.microsoft.com/office/drawing/2014/main" id="{13F42B6C-40C2-46E4-9CD9-B8B6C269882C}"/>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Breadth, return, volatility, drawdown, and dispersion.</a:t>
            </a:r>
          </a:p>
        </p:txBody>
      </p:sp>
      <p:sp>
        <p:nvSpPr>
          <p:cNvPr id="20" name="">
            <a:extLst xmlns:a="http://schemas.openxmlformats.org/drawingml/2006/main">
              <a:ext uri="{FF2B5EF4-FFF2-40B4-BE49-F238E27FC236}">
                <a16:creationId xmlns:a16="http://schemas.microsoft.com/office/drawing/2014/main" id="{5E16196E-2D64-49DA-A0B9-71CC84FF2D53}"/>
              </a:ext>
            </a:extLst>
          </p:cNvPr>
          <p:cNvSpPr>
            <a:spLocks xmlns:a="http://schemas.openxmlformats.org/drawingml/2006/main" noGrp="1"/>
          </p:cNvSpPr>
          <p:nvPr/>
        </p:nvSpPr>
        <p:spPr>
          <a:xfrm xmlns:a="http://schemas.openxmlformats.org/drawingml/2006/main">
            <a:off x="1066800" y="409575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000000"/>
                </a:solidFill>
              </a:defRPr>
            </a:pPr>
            <a:r>
              <a:rPr sz="2025" b="1" i="0">
                <a:solidFill>
                  <a:srgbClr val="000000"/>
                </a:solidFill>
              </a:rPr>
              <a:t>The audit evaluates 34 finite features across AMD, NVDA, TSLA, MSTR, and AVGO, with a broader risk-aware context. It does not choose a model or a live policy.</a:t>
            </a:r>
          </a:p>
        </p:txBody>
      </p:sp>
    </p:spTree>
    <p:extLst>
      <p:ext uri="{BB962C8B-B14F-4D97-AF65-F5344CB8AC3E}">
        <p14:creationId xmlns:p14="http://schemas.microsoft.com/office/powerpoint/2010/main" val="1328413814"/>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B23EE8F-21C5-4792-BD0D-F4473FC2F46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64931BC-2407-4A45-879A-1237582F453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Feature judgment stays inside TRAIN</a:t>
            </a:r>
          </a:p>
        </p:txBody>
      </p:sp>
      <p:sp>
        <p:nvSpPr>
          <p:cNvPr id="3" name="">
            <a:extLst xmlns:a="http://schemas.openxmlformats.org/drawingml/2006/main">
              <a:ext uri="{FF2B5EF4-FFF2-40B4-BE49-F238E27FC236}">
                <a16:creationId xmlns:a16="http://schemas.microsoft.com/office/drawing/2014/main" id="{C1DBEB6D-3DBA-4FA8-801B-AA3CBD94F5C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5C57D8C-27B5-4C35-AF1F-0B41D92E6B9B}"/>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9BFA637E-F2DA-419E-AF92-2EF2ED0D9FB3}"/>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WINDOWS</a:t>
            </a:r>
          </a:p>
        </p:txBody>
      </p:sp>
      <p:sp>
        <p:nvSpPr>
          <p:cNvPr id="6" name="">
            <a:extLst xmlns:a="http://schemas.openxmlformats.org/drawingml/2006/main">
              <a:ext uri="{FF2B5EF4-FFF2-40B4-BE49-F238E27FC236}">
                <a16:creationId xmlns:a16="http://schemas.microsoft.com/office/drawing/2014/main" id="{736BA6F2-1B89-4CAA-8E38-19F1F7B97333}"/>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 annual</a:t>
            </a:r>
          </a:p>
        </p:txBody>
      </p:sp>
      <p:sp>
        <p:nvSpPr>
          <p:cNvPr id="7" name="">
            <a:extLst xmlns:a="http://schemas.openxmlformats.org/drawingml/2006/main">
              <a:ext uri="{FF2B5EF4-FFF2-40B4-BE49-F238E27FC236}">
                <a16:creationId xmlns:a16="http://schemas.microsoft.com/office/drawing/2014/main" id="{5AB0D48A-EEC8-4F6D-8F20-897B5EE9561C}"/>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2020Y through 2024Y; each with eight-quarter TRAIN and quarterly authorities.</a:t>
            </a:r>
          </a:p>
        </p:txBody>
      </p:sp>
      <p:sp>
        <p:nvSpPr>
          <p:cNvPr id="8" name="">
            <a:extLst xmlns:a="http://schemas.openxmlformats.org/drawingml/2006/main">
              <a:ext uri="{FF2B5EF4-FFF2-40B4-BE49-F238E27FC236}">
                <a16:creationId xmlns:a16="http://schemas.microsoft.com/office/drawing/2014/main" id="{FF9A53E1-387E-4191-8C24-8534ED95A04B}"/>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3574FBE7-FBE4-4F2D-87B3-8BEB135A5089}"/>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FOLD ROWS</a:t>
            </a:r>
          </a:p>
        </p:txBody>
      </p:sp>
      <p:sp>
        <p:nvSpPr>
          <p:cNvPr id="10" name="">
            <a:extLst xmlns:a="http://schemas.openxmlformats.org/drawingml/2006/main">
              <a:ext uri="{FF2B5EF4-FFF2-40B4-BE49-F238E27FC236}">
                <a16:creationId xmlns:a16="http://schemas.microsoft.com/office/drawing/2014/main" id="{B2272D52-36FB-4BBC-BD4A-EA054C8C4ACA}"/>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54,625</a:t>
            </a:r>
          </a:p>
        </p:txBody>
      </p:sp>
      <p:sp>
        <p:nvSpPr>
          <p:cNvPr id="11" name="">
            <a:extLst xmlns:a="http://schemas.openxmlformats.org/drawingml/2006/main">
              <a:ext uri="{FF2B5EF4-FFF2-40B4-BE49-F238E27FC236}">
                <a16:creationId xmlns:a16="http://schemas.microsoft.com/office/drawing/2014/main" id="{6FF915C9-8A0D-4FC9-8A6E-6BF3F2576C91}"/>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Usable h10 label rows across TRAIN and OOS fold partitions.</a:t>
            </a:r>
          </a:p>
        </p:txBody>
      </p:sp>
      <p:sp>
        <p:nvSpPr>
          <p:cNvPr id="12" name="">
            <a:extLst xmlns:a="http://schemas.openxmlformats.org/drawingml/2006/main">
              <a:ext uri="{FF2B5EF4-FFF2-40B4-BE49-F238E27FC236}">
                <a16:creationId xmlns:a16="http://schemas.microsoft.com/office/drawing/2014/main" id="{31739784-4786-474F-A19A-527929BA05E6}"/>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6890A337-E94F-44F7-99B2-F1E7C538206B}"/>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FEATURE AUDIT</a:t>
            </a:r>
          </a:p>
        </p:txBody>
      </p:sp>
      <p:sp>
        <p:nvSpPr>
          <p:cNvPr id="14" name="">
            <a:extLst xmlns:a="http://schemas.openxmlformats.org/drawingml/2006/main">
              <a:ext uri="{FF2B5EF4-FFF2-40B4-BE49-F238E27FC236}">
                <a16:creationId xmlns:a16="http://schemas.microsoft.com/office/drawing/2014/main" id="{2E71922D-137B-4659-BE98-CD7840BE6C6A}"/>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Fold-local</a:t>
            </a:r>
          </a:p>
        </p:txBody>
      </p:sp>
      <p:sp>
        <p:nvSpPr>
          <p:cNvPr id="15" name="">
            <a:extLst xmlns:a="http://schemas.openxmlformats.org/drawingml/2006/main">
              <a:ext uri="{FF2B5EF4-FFF2-40B4-BE49-F238E27FC236}">
                <a16:creationId xmlns:a16="http://schemas.microsoft.com/office/drawing/2014/main" id="{4C5E4280-ECA1-4711-8BDB-224683ED88B6}"/>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Deciles and correlations are recalculated separately inside each authority's TRAIN rows.</a:t>
            </a:r>
          </a:p>
        </p:txBody>
      </p:sp>
      <p:sp>
        <p:nvSpPr>
          <p:cNvPr id="16" name="">
            <a:extLst xmlns:a="http://schemas.openxmlformats.org/drawingml/2006/main">
              <a:ext uri="{FF2B5EF4-FFF2-40B4-BE49-F238E27FC236}">
                <a16:creationId xmlns:a16="http://schemas.microsoft.com/office/drawing/2014/main" id="{75AC5804-6C2C-4471-A76D-BECD36F7BB50}"/>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50A49AB2-ACC8-4F1D-AE2E-188A5DF0ED39}"/>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18" name="">
            <a:extLst xmlns:a="http://schemas.openxmlformats.org/drawingml/2006/main">
              <a:ext uri="{FF2B5EF4-FFF2-40B4-BE49-F238E27FC236}">
                <a16:creationId xmlns:a16="http://schemas.microsoft.com/office/drawing/2014/main" id="{CBDEBFC9-4A4B-4292-8490-838E46FA7E4D}"/>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9" name="">
            <a:extLst xmlns:a="http://schemas.openxmlformats.org/drawingml/2006/main">
              <a:ext uri="{FF2B5EF4-FFF2-40B4-BE49-F238E27FC236}">
                <a16:creationId xmlns:a16="http://schemas.microsoft.com/office/drawing/2014/main" id="{306A41AA-374B-41CA-B817-3FD1DD7C9082}"/>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No horizon spillover, no OOS feature selection, and no live-bridge change.</a:t>
            </a:r>
          </a:p>
        </p:txBody>
      </p:sp>
      <p:sp>
        <p:nvSpPr>
          <p:cNvPr id="20" name="">
            <a:extLst xmlns:a="http://schemas.openxmlformats.org/drawingml/2006/main">
              <a:ext uri="{FF2B5EF4-FFF2-40B4-BE49-F238E27FC236}">
                <a16:creationId xmlns:a16="http://schemas.microsoft.com/office/drawing/2014/main" id="{3D86D652-5F40-4455-BCE5-37A96F9646C1}"/>
              </a:ext>
            </a:extLst>
          </p:cNvPr>
          <p:cNvSpPr>
            <a:spLocks xmlns:a="http://schemas.openxmlformats.org/drawingml/2006/main" noGrp="1"/>
          </p:cNvSpPr>
          <p:nvPr/>
        </p:nvSpPr>
        <p:spPr>
          <a:xfrm xmlns:a="http://schemas.openxmlformats.org/drawingml/2006/main">
            <a:off x="1066800" y="4095750"/>
            <a:ext cx="9334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000000"/>
                </a:solidFill>
              </a:defRPr>
            </a:pPr>
            <a:r>
              <a:rPr sz="2025" b="1" i="0">
                <a:solidFill>
                  <a:srgbClr val="000000"/>
                </a:solidFill>
              </a:rPr>
              <a:t>OOS rows show whether the target is sufficiently populated and well-formed. They do not decide which feature or target wins. That distinction is what keeps this exploration from quietly becoming a hindsight feature search.</a:t>
            </a:r>
          </a:p>
        </p:txBody>
      </p:sp>
    </p:spTree>
    <p:extLst>
      <p:ext uri="{BB962C8B-B14F-4D97-AF65-F5344CB8AC3E}">
        <p14:creationId xmlns:p14="http://schemas.microsoft.com/office/powerpoint/2010/main" val="637908989"/>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79B3C1F-9D18-44FB-933D-14407A0BDFA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AC252C4-D37C-44FC-B35E-F716908CF0B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No single feature is strong enough to claim victory on its own</a:t>
            </a:r>
          </a:p>
        </p:txBody>
      </p:sp>
      <p:sp>
        <p:nvSpPr>
          <p:cNvPr id="3" name="">
            <a:extLst xmlns:a="http://schemas.openxmlformats.org/drawingml/2006/main">
              <a:ext uri="{FF2B5EF4-FFF2-40B4-BE49-F238E27FC236}">
                <a16:creationId xmlns:a16="http://schemas.microsoft.com/office/drawing/2014/main" id="{49A928AC-1EEF-4FEE-8C43-1D263239995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a9138ab592c4597"/>
          <a:stretch xmlns:a="http://schemas.openxmlformats.org/drawingml/2006/main"/>
        </p:blipFill>
        <p:spPr>
          <a:xfrm xmlns:a="http://schemas.openxmlformats.org/drawingml/2006/main">
            <a:off x="1543050" y="1943100"/>
            <a:ext cx="5562600" cy="41719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820E939-4BD4-4C68-AA8C-206B5B740319}"/>
              </a:ext>
            </a:extLst>
          </p:cNvPr>
          <p:cNvSpPr>
            <a:spLocks xmlns:a="http://schemas.openxmlformats.org/drawingml/2006/main" noGrp="1"/>
          </p:cNvSpPr>
          <p:nvPr/>
        </p:nvSpPr>
        <p:spPr>
          <a:xfrm xmlns:a="http://schemas.openxmlformats.org/drawingml/2006/main">
            <a:off x="8572500" y="211455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2E927903-5A4E-4319-95C4-32EB3C667A64}"/>
              </a:ext>
            </a:extLst>
          </p:cNvPr>
          <p:cNvSpPr>
            <a:spLocks xmlns:a="http://schemas.openxmlformats.org/drawingml/2006/main" noGrp="1"/>
          </p:cNvSpPr>
          <p:nvPr/>
        </p:nvSpPr>
        <p:spPr>
          <a:xfrm xmlns:a="http://schemas.openxmlformats.org/drawingml/2006/main">
            <a:off x="8572500" y="2667000"/>
            <a:ext cx="26670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swing rs smh 21 has the largest median TRAIN-fold relationship to relative h10 return (0.063), still small. That is honest evidence: retain a compact set of complementary clues and make the next model test earn its complexity.</a:t>
            </a:r>
          </a:p>
        </p:txBody>
      </p:sp>
    </p:spTree>
    <p:extLst>
      <p:ext uri="{BB962C8B-B14F-4D97-AF65-F5344CB8AC3E}">
        <p14:creationId xmlns:p14="http://schemas.microsoft.com/office/powerpoint/2010/main" val="1446278525"/>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A5EA08E-53DC-41D3-934D-E304262B62D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2C2DE54-35CD-440D-8AD8-094936EA726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decile view reveals shape, not a blanket buy signal</a:t>
            </a:r>
          </a:p>
        </p:txBody>
      </p:sp>
      <p:sp>
        <p:nvSpPr>
          <p:cNvPr id="3" name="">
            <a:extLst xmlns:a="http://schemas.openxmlformats.org/drawingml/2006/main">
              <a:ext uri="{FF2B5EF4-FFF2-40B4-BE49-F238E27FC236}">
                <a16:creationId xmlns:a16="http://schemas.microsoft.com/office/drawing/2014/main" id="{F21A7E49-0D64-4DFF-95DF-1B3BEE5ED65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88ee5c930274150"/>
          <a:stretch xmlns:a="http://schemas.openxmlformats.org/drawingml/2006/main"/>
        </p:blipFill>
        <p:spPr>
          <a:xfrm xmlns:a="http://schemas.openxmlformats.org/drawingml/2006/main">
            <a:off x="660026" y="1924050"/>
            <a:ext cx="7900147" cy="4476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488978A-DAFB-4243-BF10-2266F45F18CB}"/>
              </a:ext>
            </a:extLst>
          </p:cNvPr>
          <p:cNvSpPr>
            <a:spLocks xmlns:a="http://schemas.openxmlformats.org/drawingml/2006/main" noGrp="1"/>
          </p:cNvSpPr>
          <p:nvPr/>
        </p:nvSpPr>
        <p:spPr>
          <a:xfrm xmlns:a="http://schemas.openxmlformats.org/drawingml/2006/main">
            <a:off x="9048750" y="2114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How to read it</a:t>
            </a:r>
          </a:p>
        </p:txBody>
      </p:sp>
      <p:sp>
        <p:nvSpPr>
          <p:cNvPr id="6" name="">
            <a:extLst xmlns:a="http://schemas.openxmlformats.org/drawingml/2006/main">
              <a:ext uri="{FF2B5EF4-FFF2-40B4-BE49-F238E27FC236}">
                <a16:creationId xmlns:a16="http://schemas.microsoft.com/office/drawing/2014/main" id="{6B265BE4-D50A-458C-95D3-0869BA4D6252}"/>
              </a:ext>
            </a:extLst>
          </p:cNvPr>
          <p:cNvSpPr>
            <a:spLocks xmlns:a="http://schemas.openxmlformats.org/drawingml/2006/main" noGrp="1"/>
          </p:cNvSpPr>
          <p:nvPr/>
        </p:nvSpPr>
        <p:spPr>
          <a:xfrm xmlns:a="http://schemas.openxmlformats.org/drawingml/2006/main">
            <a:off x="9048750" y="2667000"/>
            <a:ext cx="2286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panels average within-TRAIN deciles across quarterly folds. Semiconductor-relative leadership and fresh-breakout posture slope upward more plausibly than several raw trend measures. Pullback depth is not a simple monotonic buy-the-dip story.</a:t>
            </a:r>
          </a:p>
        </p:txBody>
      </p:sp>
    </p:spTree>
    <p:extLst>
      <p:ext uri="{BB962C8B-B14F-4D97-AF65-F5344CB8AC3E}">
        <p14:creationId xmlns:p14="http://schemas.microsoft.com/office/powerpoint/2010/main" val="1693364264"/>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A2BF4EC-A206-4718-A9A2-8E01974CD6E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112E85C-BB54-4406-A40B-344C4FAA7D3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Price examples keep the features grounded in actual market behavior</a:t>
            </a:r>
          </a:p>
        </p:txBody>
      </p:sp>
      <p:sp>
        <p:nvSpPr>
          <p:cNvPr id="3" name="">
            <a:extLst xmlns:a="http://schemas.openxmlformats.org/drawingml/2006/main">
              <a:ext uri="{FF2B5EF4-FFF2-40B4-BE49-F238E27FC236}">
                <a16:creationId xmlns:a16="http://schemas.microsoft.com/office/drawing/2014/main" id="{7199B637-D632-4F58-935C-B034075978D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687ecf802234306"/>
          <a:stretch xmlns:a="http://schemas.openxmlformats.org/drawingml/2006/main"/>
        </p:blipFill>
        <p:spPr>
          <a:xfrm xmlns:a="http://schemas.openxmlformats.org/drawingml/2006/main">
            <a:off x="522754" y="1885950"/>
            <a:ext cx="8269941" cy="4686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6E14775-0E2A-48E2-A026-34E86C00B9AB}"/>
              </a:ext>
            </a:extLst>
          </p:cNvPr>
          <p:cNvSpPr>
            <a:spLocks xmlns:a="http://schemas.openxmlformats.org/drawingml/2006/main" noGrp="1"/>
          </p:cNvSpPr>
          <p:nvPr/>
        </p:nvSpPr>
        <p:spPr>
          <a:xfrm xmlns:a="http://schemas.openxmlformats.org/drawingml/2006/main">
            <a:off x="9105900" y="2114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these two</a:t>
            </a:r>
          </a:p>
        </p:txBody>
      </p:sp>
      <p:sp>
        <p:nvSpPr>
          <p:cNvPr id="6" name="">
            <a:extLst xmlns:a="http://schemas.openxmlformats.org/drawingml/2006/main">
              <a:ext uri="{FF2B5EF4-FFF2-40B4-BE49-F238E27FC236}">
                <a16:creationId xmlns:a16="http://schemas.microsoft.com/office/drawing/2014/main" id="{47FC0CED-F234-4901-91A2-08A4F6BE7788}"/>
              </a:ext>
            </a:extLst>
          </p:cNvPr>
          <p:cNvSpPr>
            <a:spLocks xmlns:a="http://schemas.openxmlformats.org/drawingml/2006/main" noGrp="1"/>
          </p:cNvSpPr>
          <p:nvPr/>
        </p:nvSpPr>
        <p:spPr>
          <a:xfrm xmlns:a="http://schemas.openxmlformats.org/drawingml/2006/main">
            <a:off x="9105900" y="2686050"/>
            <a:ext cx="2286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AMD 2020 shows leadership and breadth interacting during a powerful advance. TSLA 2022 shows why price above moving averages alone is not enough: leadership can remain high while the broader context deteriorates. These are feature diagnostics, not trading signals.</a:t>
            </a:r>
          </a:p>
        </p:txBody>
      </p:sp>
    </p:spTree>
    <p:extLst>
      <p:ext uri="{BB962C8B-B14F-4D97-AF65-F5344CB8AC3E}">
        <p14:creationId xmlns:p14="http://schemas.microsoft.com/office/powerpoint/2010/main" val="102219010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C24B229-8831-4992-B005-C97D632BE1F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3C46F90-6405-4323-A66D-E9FAD1B4268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slice is a small model test with an explicit alpha objective</a:t>
            </a:r>
          </a:p>
        </p:txBody>
      </p:sp>
      <p:sp>
        <p:nvSpPr>
          <p:cNvPr id="3" name="">
            <a:extLst xmlns:a="http://schemas.openxmlformats.org/drawingml/2006/main">
              <a:ext uri="{FF2B5EF4-FFF2-40B4-BE49-F238E27FC236}">
                <a16:creationId xmlns:a16="http://schemas.microsoft.com/office/drawing/2014/main" id="{2BEF3ABA-C776-47E6-BFC4-4C5574BE9C3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59B62D-B55F-49DD-B3F0-B79BF700E3CE}"/>
              </a:ext>
            </a:extLst>
          </p:cNvPr>
          <p:cNvSpPr>
            <a:spLocks xmlns:a="http://schemas.openxmlformats.org/drawingml/2006/main" noGrp="1"/>
          </p:cNvSpPr>
          <p:nvPr/>
        </p:nvSpPr>
        <p:spPr>
          <a:xfrm xmlns:a="http://schemas.openxmlformats.org/drawingml/2006/main">
            <a:off x="876300" y="2133600"/>
            <a:ext cx="9334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ML-P6 establishes the ingredients and the safety boundary. It does not yet establish that the ingredients form a useful predictive model or beat benchmark.</a:t>
            </a:r>
          </a:p>
        </p:txBody>
      </p:sp>
      <p:sp>
        <p:nvSpPr>
          <p:cNvPr id="5" name="">
            <a:extLst xmlns:a="http://schemas.openxmlformats.org/drawingml/2006/main">
              <a:ext uri="{FF2B5EF4-FFF2-40B4-BE49-F238E27FC236}">
                <a16:creationId xmlns:a16="http://schemas.microsoft.com/office/drawing/2014/main" id="{E7594843-1F83-43B8-A253-5A8B0E9EF5FC}"/>
              </a:ext>
            </a:extLst>
          </p:cNvPr>
          <p:cNvSpPr>
            <a:spLocks xmlns:a="http://schemas.openxmlformats.org/drawingml/2006/main" noGrp="1"/>
          </p:cNvSpPr>
          <p:nvPr/>
        </p:nvSpPr>
        <p:spPr>
          <a:xfrm xmlns:a="http://schemas.openxmlformats.org/drawingml/2006/main">
            <a:off x="1219200" y="36099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33026773-8160-4134-9632-5CA8441FEE15}"/>
              </a:ext>
            </a:extLst>
          </p:cNvPr>
          <p:cNvSpPr>
            <a:spLocks xmlns:a="http://schemas.openxmlformats.org/drawingml/2006/main" noGrp="1"/>
          </p:cNvSpPr>
          <p:nvPr/>
        </p:nvSpPr>
        <p:spPr>
          <a:xfrm xmlns:a="http://schemas.openxmlformats.org/drawingml/2006/main">
            <a:off x="1485900" y="36004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relative h10 as the primary candidate target; retain absolute h10 as the existing control.</a:t>
            </a:r>
          </a:p>
        </p:txBody>
      </p:sp>
      <p:sp>
        <p:nvSpPr>
          <p:cNvPr id="7" name="">
            <a:extLst xmlns:a="http://schemas.openxmlformats.org/drawingml/2006/main">
              <a:ext uri="{FF2B5EF4-FFF2-40B4-BE49-F238E27FC236}">
                <a16:creationId xmlns:a16="http://schemas.microsoft.com/office/drawing/2014/main" id="{C603C6AC-D257-43D1-B6F7-B2C36E399BEC}"/>
              </a:ext>
            </a:extLst>
          </p:cNvPr>
          <p:cNvSpPr>
            <a:spLocks xmlns:a="http://schemas.openxmlformats.org/drawingml/2006/main" noGrp="1"/>
          </p:cNvSpPr>
          <p:nvPr/>
        </p:nvSpPr>
        <p:spPr>
          <a:xfrm xmlns:a="http://schemas.openxmlformats.org/drawingml/2006/main">
            <a:off x="1219200" y="42767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2CD06B5E-7676-4B8F-89DB-13EDC2C82007}"/>
              </a:ext>
            </a:extLst>
          </p:cNvPr>
          <p:cNvSpPr>
            <a:spLocks xmlns:a="http://schemas.openxmlformats.org/drawingml/2006/main" noGrp="1"/>
          </p:cNvSpPr>
          <p:nvPr/>
        </p:nvSpPr>
        <p:spPr>
          <a:xfrm xmlns:a="http://schemas.openxmlformats.org/drawingml/2006/main">
            <a:off x="1485900" y="42672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Predeclare a compact swing-feature set instead of searching the entire 34-feature surface.</a:t>
            </a:r>
          </a:p>
        </p:txBody>
      </p:sp>
      <p:sp>
        <p:nvSpPr>
          <p:cNvPr id="9" name="">
            <a:extLst xmlns:a="http://schemas.openxmlformats.org/drawingml/2006/main">
              <a:ext uri="{FF2B5EF4-FFF2-40B4-BE49-F238E27FC236}">
                <a16:creationId xmlns:a16="http://schemas.microsoft.com/office/drawing/2014/main" id="{262F46F2-32F1-4EAC-9938-E6E4E32EBE68}"/>
              </a:ext>
            </a:extLst>
          </p:cNvPr>
          <p:cNvSpPr>
            <a:spLocks xmlns:a="http://schemas.openxmlformats.org/drawingml/2006/main" noGrp="1"/>
          </p:cNvSpPr>
          <p:nvPr/>
        </p:nvSpPr>
        <p:spPr>
          <a:xfrm xmlns:a="http://schemas.openxmlformats.org/drawingml/2006/main">
            <a:off x="1219200" y="49434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B2F25162-3B82-481B-B068-A739C3EF7E2C}"/>
              </a:ext>
            </a:extLst>
          </p:cNvPr>
          <p:cNvSpPr>
            <a:spLocks xmlns:a="http://schemas.openxmlformats.org/drawingml/2006/main" noGrp="1"/>
          </p:cNvSpPr>
          <p:nvPr/>
        </p:nvSpPr>
        <p:spPr>
          <a:xfrm xmlns:a="http://schemas.openxmlformats.org/drawingml/2006/main">
            <a:off x="1485900" y="49339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Use the same seeded XGBoost, TRAIN-only policy selection, annual continuity replay, benchmarks, and trade tapes.</a:t>
            </a:r>
          </a:p>
        </p:txBody>
      </p:sp>
      <p:sp>
        <p:nvSpPr>
          <p:cNvPr id="11" name="">
            <a:extLst xmlns:a="http://schemas.openxmlformats.org/drawingml/2006/main">
              <a:ext uri="{FF2B5EF4-FFF2-40B4-BE49-F238E27FC236}">
                <a16:creationId xmlns:a16="http://schemas.microsoft.com/office/drawing/2014/main" id="{D0C33783-C5EE-4645-A426-4AB3773A8614}"/>
              </a:ext>
            </a:extLst>
          </p:cNvPr>
          <p:cNvSpPr>
            <a:spLocks xmlns:a="http://schemas.openxmlformats.org/drawingml/2006/main" noGrp="1"/>
          </p:cNvSpPr>
          <p:nvPr/>
        </p:nvSpPr>
        <p:spPr>
          <a:xfrm xmlns:a="http://schemas.openxmlformats.org/drawingml/2006/main">
            <a:off x="1219200" y="56102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D441F45E-7F8A-4BAF-9F63-1757971A7EE1}"/>
              </a:ext>
            </a:extLst>
          </p:cNvPr>
          <p:cNvSpPr>
            <a:spLocks xmlns:a="http://schemas.openxmlformats.org/drawingml/2006/main" noGrp="1"/>
          </p:cNvSpPr>
          <p:nvPr/>
        </p:nvSpPr>
        <p:spPr>
          <a:xfrm xmlns:a="http://schemas.openxmlformats.org/drawingml/2006/main">
            <a:off x="1485900" y="56007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Promote nothing unless replay and ranking improve across multiple windows; the live bridge stays frozen.</a:t>
            </a:r>
          </a:p>
        </p:txBody>
      </p:sp>
    </p:spTree>
    <p:extLst>
      <p:ext uri="{BB962C8B-B14F-4D97-AF65-F5344CB8AC3E}">
        <p14:creationId xmlns:p14="http://schemas.microsoft.com/office/powerpoint/2010/main" val="12505928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2026-07-14T19:21:24.2350000Z</dcterms:created>
  <dcterms:modified xsi:type="dcterms:W3CDTF">2026-07-14T19:21:24.2350000Z</dcterms:modified>
</coreProperties>
</file>