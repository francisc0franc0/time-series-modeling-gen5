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1793b59d2ad4d74" /><Relationship Type="http://schemas.openxmlformats.org/officeDocument/2006/relationships/extended-properties" Target="/docProps/app.xml" Id="R207b00f7c8944c81" /><Relationship Type="http://schemas.openxmlformats.org/officeDocument/2006/relationships/officeDocument" Target="/ppt/presentation.xml" Id="R029d0c1c6aef4860" /></Relationships>
</file>

<file path=ppt/presentation.xml><?xml version="1.0" encoding="utf-8"?>
<p:presentation xmlns:p="http://schemas.openxmlformats.org/presentationml/2006/main">
  <p:sldMasterIdLst>
    <p:sldMasterId xmlns:r="http://schemas.openxmlformats.org/officeDocument/2006/relationships" id="2147483648" r:id="R443dcc0c345241a4"/>
  </p:sldMasterIdLst>
  <p:notesMasterIdLst>
    <p:notesMasterId xmlns:r="http://schemas.openxmlformats.org/officeDocument/2006/relationships" r:id="Rfde275abc67e4d89"/>
  </p:notesMasterIdLst>
  <p:sldIdLst>
    <p:sldId xmlns:r="http://schemas.openxmlformats.org/officeDocument/2006/relationships" id="256" r:id="R64a38ed675714420"/>
    <p:sldId xmlns:r="http://schemas.openxmlformats.org/officeDocument/2006/relationships" id="257" r:id="R675702bc30cd4039"/>
    <p:sldId xmlns:r="http://schemas.openxmlformats.org/officeDocument/2006/relationships" id="258" r:id="R788dc1b288064664"/>
    <p:sldId xmlns:r="http://schemas.openxmlformats.org/officeDocument/2006/relationships" id="259" r:id="R0e07a9d766464a1d"/>
    <p:sldId xmlns:r="http://schemas.openxmlformats.org/officeDocument/2006/relationships" id="260" r:id="Rbc8703aa569343ec"/>
    <p:sldId xmlns:r="http://schemas.openxmlformats.org/officeDocument/2006/relationships" id="261" r:id="Rb42c4f9b7bcb4937"/>
    <p:sldId xmlns:r="http://schemas.openxmlformats.org/officeDocument/2006/relationships" id="262" r:id="R901b1e31d25c4f18"/>
    <p:sldId xmlns:r="http://schemas.openxmlformats.org/officeDocument/2006/relationships" id="263" r:id="Re1877f0dd7db428e"/>
    <p:sldId xmlns:r="http://schemas.openxmlformats.org/officeDocument/2006/relationships" id="264" r:id="R9f4297e667fb4ce2"/>
    <p:sldId xmlns:r="http://schemas.openxmlformats.org/officeDocument/2006/relationships" id="265" r:id="Rcc0fe815ecc84433"/>
    <p:sldId xmlns:r="http://schemas.openxmlformats.org/officeDocument/2006/relationships" id="266" r:id="R63ad9ff167c74c39"/>
    <p:sldId xmlns:r="http://schemas.openxmlformats.org/officeDocument/2006/relationships" id="267" r:id="R159fd8c424fa43e3"/>
    <p:sldId xmlns:r="http://schemas.openxmlformats.org/officeDocument/2006/relationships" id="268" r:id="Rce6d5ec291864570"/>
    <p:sldId xmlns:r="http://schemas.openxmlformats.org/officeDocument/2006/relationships" id="269" r:id="R5c26d005a1de4417"/>
    <p:sldId xmlns:r="http://schemas.openxmlformats.org/officeDocument/2006/relationships" id="270" r:id="R82477d271c044734"/>
    <p:sldId xmlns:r="http://schemas.openxmlformats.org/officeDocument/2006/relationships" id="271" r:id="Rce837acc3dd04d91"/>
    <p:sldId xmlns:r="http://schemas.openxmlformats.org/officeDocument/2006/relationships" id="272" r:id="Rf00dd17409ab4959"/>
    <p:sldId xmlns:r="http://schemas.openxmlformats.org/officeDocument/2006/relationships" id="273" r:id="Re02bd74632ff4d1b"/>
    <p:sldId xmlns:r="http://schemas.openxmlformats.org/officeDocument/2006/relationships" id="274" r:id="R95004e40d7724361"/>
    <p:sldId xmlns:r="http://schemas.openxmlformats.org/officeDocument/2006/relationships" id="275" r:id="R0b1466f026e040f0"/>
    <p:sldId xmlns:r="http://schemas.openxmlformats.org/officeDocument/2006/relationships" id="276" r:id="Rb5c7e246093144e9"/>
    <p:sldId xmlns:r="http://schemas.openxmlformats.org/officeDocument/2006/relationships" id="277" r:id="Rfc545e58026f401b"/>
    <p:sldId xmlns:r="http://schemas.openxmlformats.org/officeDocument/2006/relationships" id="278" r:id="R12f5c9c6b4954c92"/>
    <p:sldId xmlns:r="http://schemas.openxmlformats.org/officeDocument/2006/relationships" id="279" r:id="R6162882222324e7d"/>
    <p:sldId xmlns:r="http://schemas.openxmlformats.org/officeDocument/2006/relationships" id="280" r:id="R248c0d48cc674b39"/>
    <p:sldId xmlns:r="http://schemas.openxmlformats.org/officeDocument/2006/relationships" id="281" r:id="R4e1501ce73854f89"/>
    <p:sldId xmlns:r="http://schemas.openxmlformats.org/officeDocument/2006/relationships" id="282" r:id="R0535968445d541b0"/>
    <p:sldId xmlns:r="http://schemas.openxmlformats.org/officeDocument/2006/relationships" id="283" r:id="R7794c148a7c649c5"/>
    <p:sldId xmlns:r="http://schemas.openxmlformats.org/officeDocument/2006/relationships" id="284" r:id="Rde2c4d71a7e84178"/>
    <p:sldId xmlns:r="http://schemas.openxmlformats.org/officeDocument/2006/relationships" id="285" r:id="R8446dd441d044368"/>
    <p:sldId xmlns:r="http://schemas.openxmlformats.org/officeDocument/2006/relationships" id="286" r:id="Rb72ba76a63274710"/>
    <p:sldId xmlns:r="http://schemas.openxmlformats.org/officeDocument/2006/relationships" id="287" r:id="R30100c22da574a76"/>
    <p:sldId xmlns:r="http://schemas.openxmlformats.org/officeDocument/2006/relationships" id="288" r:id="R7004667cbbb244f8"/>
    <p:sldId xmlns:r="http://schemas.openxmlformats.org/officeDocument/2006/relationships" id="289" r:id="R68d0912afc6e4b36"/>
    <p:sldId xmlns:r="http://schemas.openxmlformats.org/officeDocument/2006/relationships" id="290" r:id="R006a3341df9b430d"/>
    <p:sldId xmlns:r="http://schemas.openxmlformats.org/officeDocument/2006/relationships" id="291" r:id="Rff71fc6a0a8545b9"/>
    <p:sldId xmlns:r="http://schemas.openxmlformats.org/officeDocument/2006/relationships" id="292" r:id="R3880b4137dd04faa"/>
    <p:sldId xmlns:r="http://schemas.openxmlformats.org/officeDocument/2006/relationships" id="293" r:id="Re06023b75bfd4d8d"/>
    <p:sldId xmlns:r="http://schemas.openxmlformats.org/officeDocument/2006/relationships" id="294" r:id="Rcd79e3b609954b10"/>
    <p:sldId xmlns:r="http://schemas.openxmlformats.org/officeDocument/2006/relationships" id="295" r:id="Re91fa553743d4d58"/>
    <p:sldId xmlns:r="http://schemas.openxmlformats.org/officeDocument/2006/relationships" id="296" r:id="R9f166efd9e954523"/>
    <p:sldId xmlns:r="http://schemas.openxmlformats.org/officeDocument/2006/relationships" id="297" r:id="Re88e180b2a444743"/>
    <p:sldId xmlns:r="http://schemas.openxmlformats.org/officeDocument/2006/relationships" id="298" r:id="R028b8277ea85485f"/>
    <p:sldId xmlns:r="http://schemas.openxmlformats.org/officeDocument/2006/relationships" id="299" r:id="R0dc849b3a2944eb2"/>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0ebaa8afb14fde" /><Relationship Type="http://schemas.openxmlformats.org/officeDocument/2006/relationships/slideMaster" Target="/ppt/slideMasters/slideMaster1.xml" Id="R443dcc0c345241a4" /><Relationship Type="http://schemas.openxmlformats.org/officeDocument/2006/relationships/notesMaster" Target="/ppt/notesMasters/notesMaster1.xml" Id="Rfde275abc67e4d89" /><Relationship Type="http://schemas.openxmlformats.org/officeDocument/2006/relationships/presProps" Target="/ppt/presProps.xml" Id="Ra3f607a1ea124e26" /><Relationship Type="http://schemas.openxmlformats.org/officeDocument/2006/relationships/tableStyles" Target="/ppt/tableStyles.xml" Id="Rad22f79d7a2f4e6e" /><Relationship Type="http://schemas.openxmlformats.org/officeDocument/2006/relationships/slide" Target="/ppt/slides/slide1.xml" Id="R64a38ed675714420" /><Relationship Type="http://schemas.openxmlformats.org/officeDocument/2006/relationships/slide" Target="/ppt/slides/slide2.xml" Id="R675702bc30cd4039" /><Relationship Type="http://schemas.openxmlformats.org/officeDocument/2006/relationships/slide" Target="/ppt/slides/slide3.xml" Id="R788dc1b288064664" /><Relationship Type="http://schemas.openxmlformats.org/officeDocument/2006/relationships/slide" Target="/ppt/slides/slide4.xml" Id="R0e07a9d766464a1d" /><Relationship Type="http://schemas.openxmlformats.org/officeDocument/2006/relationships/slide" Target="/ppt/slides/slide5.xml" Id="Rbc8703aa569343ec" /><Relationship Type="http://schemas.openxmlformats.org/officeDocument/2006/relationships/slide" Target="/ppt/slides/slide6.xml" Id="Rb42c4f9b7bcb4937" /><Relationship Type="http://schemas.openxmlformats.org/officeDocument/2006/relationships/slide" Target="/ppt/slides/slide7.xml" Id="R901b1e31d25c4f18" /><Relationship Type="http://schemas.openxmlformats.org/officeDocument/2006/relationships/slide" Target="/ppt/slides/slide8.xml" Id="Re1877f0dd7db428e" /><Relationship Type="http://schemas.openxmlformats.org/officeDocument/2006/relationships/slide" Target="/ppt/slides/slide9.xml" Id="R9f4297e667fb4ce2" /><Relationship Type="http://schemas.openxmlformats.org/officeDocument/2006/relationships/slide" Target="/ppt/slides/slide10.xml" Id="Rcc0fe815ecc84433" /><Relationship Type="http://schemas.openxmlformats.org/officeDocument/2006/relationships/slide" Target="/ppt/slides/slide11.xml" Id="R63ad9ff167c74c39" /><Relationship Type="http://schemas.openxmlformats.org/officeDocument/2006/relationships/slide" Target="/ppt/slides/slide12.xml" Id="R159fd8c424fa43e3" /><Relationship Type="http://schemas.openxmlformats.org/officeDocument/2006/relationships/slide" Target="/ppt/slides/slide13.xml" Id="Rce6d5ec291864570" /><Relationship Type="http://schemas.openxmlformats.org/officeDocument/2006/relationships/slide" Target="/ppt/slides/slide14.xml" Id="R5c26d005a1de4417" /><Relationship Type="http://schemas.openxmlformats.org/officeDocument/2006/relationships/slide" Target="/ppt/slides/slide15.xml" Id="R82477d271c044734" /><Relationship Type="http://schemas.openxmlformats.org/officeDocument/2006/relationships/slide" Target="/ppt/slides/slide16.xml" Id="Rce837acc3dd04d91" /><Relationship Type="http://schemas.openxmlformats.org/officeDocument/2006/relationships/slide" Target="/ppt/slides/slide17.xml" Id="Rf00dd17409ab4959" /><Relationship Type="http://schemas.openxmlformats.org/officeDocument/2006/relationships/slide" Target="/ppt/slides/slide18.xml" Id="Re02bd74632ff4d1b" /><Relationship Type="http://schemas.openxmlformats.org/officeDocument/2006/relationships/slide" Target="/ppt/slides/slide19.xml" Id="R95004e40d7724361" /><Relationship Type="http://schemas.openxmlformats.org/officeDocument/2006/relationships/slide" Target="/ppt/slides/slide20.xml" Id="R0b1466f026e040f0" /><Relationship Type="http://schemas.openxmlformats.org/officeDocument/2006/relationships/slide" Target="/ppt/slides/slide21.xml" Id="Rb5c7e246093144e9" /><Relationship Type="http://schemas.openxmlformats.org/officeDocument/2006/relationships/slide" Target="/ppt/slides/slide22.xml" Id="Rfc545e58026f401b" /><Relationship Type="http://schemas.openxmlformats.org/officeDocument/2006/relationships/slide" Target="/ppt/slides/slide23.xml" Id="R12f5c9c6b4954c92" /><Relationship Type="http://schemas.openxmlformats.org/officeDocument/2006/relationships/slide" Target="/ppt/slides/slide24.xml" Id="R6162882222324e7d" /><Relationship Type="http://schemas.openxmlformats.org/officeDocument/2006/relationships/slide" Target="/ppt/slides/slide25.xml" Id="R248c0d48cc674b39" /><Relationship Type="http://schemas.openxmlformats.org/officeDocument/2006/relationships/slide" Target="/ppt/slides/slide26.xml" Id="R4e1501ce73854f89" /><Relationship Type="http://schemas.openxmlformats.org/officeDocument/2006/relationships/slide" Target="/ppt/slides/slide27.xml" Id="R0535968445d541b0" /><Relationship Type="http://schemas.openxmlformats.org/officeDocument/2006/relationships/slide" Target="/ppt/slides/slide28.xml" Id="R7794c148a7c649c5" /><Relationship Type="http://schemas.openxmlformats.org/officeDocument/2006/relationships/slide" Target="/ppt/slides/slide29.xml" Id="Rde2c4d71a7e84178" /><Relationship Type="http://schemas.openxmlformats.org/officeDocument/2006/relationships/slide" Target="/ppt/slides/slide30.xml" Id="R8446dd441d044368" /><Relationship Type="http://schemas.openxmlformats.org/officeDocument/2006/relationships/slide" Target="/ppt/slides/slide31.xml" Id="Rb72ba76a63274710" /><Relationship Type="http://schemas.openxmlformats.org/officeDocument/2006/relationships/slide" Target="/ppt/slides/slide32.xml" Id="R30100c22da574a76" /><Relationship Type="http://schemas.openxmlformats.org/officeDocument/2006/relationships/slide" Target="/ppt/slides/slide33.xml" Id="R7004667cbbb244f8" /><Relationship Type="http://schemas.openxmlformats.org/officeDocument/2006/relationships/slide" Target="/ppt/slides/slide34.xml" Id="R68d0912afc6e4b36" /><Relationship Type="http://schemas.openxmlformats.org/officeDocument/2006/relationships/slide" Target="/ppt/slides/slide35.xml" Id="R006a3341df9b430d" /><Relationship Type="http://schemas.openxmlformats.org/officeDocument/2006/relationships/slide" Target="/ppt/slides/slide36.xml" Id="Rff71fc6a0a8545b9" /><Relationship Type="http://schemas.openxmlformats.org/officeDocument/2006/relationships/slide" Target="/ppt/slides/slide37.xml" Id="R3880b4137dd04faa" /><Relationship Type="http://schemas.openxmlformats.org/officeDocument/2006/relationships/slide" Target="/ppt/slides/slide38.xml" Id="Re06023b75bfd4d8d" /><Relationship Type="http://schemas.openxmlformats.org/officeDocument/2006/relationships/slide" Target="/ppt/slides/slide39.xml" Id="Rcd79e3b609954b10" /><Relationship Type="http://schemas.openxmlformats.org/officeDocument/2006/relationships/slide" Target="/ppt/slides/slide40.xml" Id="Re91fa553743d4d58" /><Relationship Type="http://schemas.openxmlformats.org/officeDocument/2006/relationships/slide" Target="/ppt/slides/slide41.xml" Id="R9f166efd9e954523" /><Relationship Type="http://schemas.openxmlformats.org/officeDocument/2006/relationships/slide" Target="/ppt/slides/slide42.xml" Id="Re88e180b2a444743" /><Relationship Type="http://schemas.openxmlformats.org/officeDocument/2006/relationships/slide" Target="/ppt/slides/slide43.xml" Id="R028b8277ea85485f" /><Relationship Type="http://schemas.openxmlformats.org/officeDocument/2006/relationships/slide" Target="/ppt/slides/slide44.xml" Id="R0dc849b3a2944e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d60c0a1a1bd481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78cd0dc5fd042a2" /><Relationship Type="http://schemas.openxmlformats.org/officeDocument/2006/relationships/notesMaster" Target="/ppt/notesMasters/notesMaster1.xml" Id="R79b8c51da9e745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894fbf807e4f22" /><Relationship Type="http://schemas.openxmlformats.org/officeDocument/2006/relationships/notesMaster" Target="/ppt/notesMasters/notesMaster1.xml" Id="R6adb58808cbb48a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30de007a9246ed" /><Relationship Type="http://schemas.openxmlformats.org/officeDocument/2006/relationships/notesMaster" Target="/ppt/notesMasters/notesMaster1.xml" Id="Rdfcc34b4fc044f2c" /></Relationships>
</file>

<file path=ppt/notesSlides/_rels/notesSlide4.xml.rels>&#65279;<?xml version="1.0" encoding="utf-8"?><Relationships xmlns="http://schemas.openxmlformats.org/package/2006/relationships"><Relationship Type="http://schemas.openxmlformats.org/officeDocument/2006/relationships/slide" Target="/ppt/slides/slide4.xml" Id="R8163a4bb9659413d" /><Relationship Type="http://schemas.openxmlformats.org/officeDocument/2006/relationships/notesMaster" Target="/ppt/notesMasters/notesMaster1.xml" Id="Ra1f988fbb52d48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b36d372e0a40cb" /><Relationship Type="http://schemas.openxmlformats.org/officeDocument/2006/relationships/notesMaster" Target="/ppt/notesMasters/notesMaster1.xml" Id="R361c509c7b234f7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b889256c3a4519" /><Relationship Type="http://schemas.openxmlformats.org/officeDocument/2006/relationships/notesMaster" Target="/ppt/notesMasters/notesMaster1.xml" Id="Rc83ae3e14e5848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31d5b2103f4bd6" /><Relationship Type="http://schemas.openxmlformats.org/officeDocument/2006/relationships/notesMaster" Target="/ppt/notesMasters/notesMaster1.xml" Id="Rb4cc7d4e32764458"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6c1db93d6d4d86" /><Relationship Type="http://schemas.openxmlformats.org/officeDocument/2006/relationships/notesMaster" Target="/ppt/notesMasters/notesMaster1.xml" Id="R4e81aea8be9a4f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a611004be640d5" /><Relationship Type="http://schemas.openxmlformats.org/officeDocument/2006/relationships/notesMaster" Target="/ppt/notesMasters/notesMaster1.xml" Id="R0805b55870074f3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7da12b028e4410c" /><Relationship Type="http://schemas.openxmlformats.org/officeDocument/2006/relationships/notesMaster" Target="/ppt/notesMasters/notesMaster1.xml" Id="R3b11be92b403422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fb00d84051456d" /><Relationship Type="http://schemas.openxmlformats.org/officeDocument/2006/relationships/notesMaster" Target="/ppt/notesMasters/notesMaster1.xml" Id="Rdde5d5ee2aac442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d4cdcf0cf94e3d" /><Relationship Type="http://schemas.openxmlformats.org/officeDocument/2006/relationships/notesMaster" Target="/ppt/notesMasters/notesMaster1.xml" Id="R27005eed59f348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a9d80800668459c" /><Relationship Type="http://schemas.openxmlformats.org/officeDocument/2006/relationships/notesMaster" Target="/ppt/notesMasters/notesMaster1.xml" Id="R61974735f9da4e2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a4a794914db49cf" /><Relationship Type="http://schemas.openxmlformats.org/officeDocument/2006/relationships/notesMaster" Target="/ppt/notesMasters/notesMaster1.xml" Id="R6ec44f8d1193452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b61c0bfec774c71" /><Relationship Type="http://schemas.openxmlformats.org/officeDocument/2006/relationships/notesMaster" Target="/ppt/notesMasters/notesMaster1.xml" Id="R62ecc17f3f0c437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a4f2e3a17db43b0" /><Relationship Type="http://schemas.openxmlformats.org/officeDocument/2006/relationships/notesMaster" Target="/ppt/notesMasters/notesMaster1.xml" Id="R4f6ae22751a741b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15741bd38c64889" /><Relationship Type="http://schemas.openxmlformats.org/officeDocument/2006/relationships/notesMaster" Target="/ppt/notesMasters/notesMaster1.xml" Id="R51e2836fb4fb433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5806031016541f4" /><Relationship Type="http://schemas.openxmlformats.org/officeDocument/2006/relationships/notesMaster" Target="/ppt/notesMasters/notesMaster1.xml" Id="R4a31886dbf87458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f42f105f7f14574" /><Relationship Type="http://schemas.openxmlformats.org/officeDocument/2006/relationships/notesMaster" Target="/ppt/notesMasters/notesMaster1.xml" Id="R1ac2304a45184e5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f71c1b2caa94b2c" /><Relationship Type="http://schemas.openxmlformats.org/officeDocument/2006/relationships/notesMaster" Target="/ppt/notesMasters/notesMaster1.xml" Id="Rf026ec41bebd4e7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e504bc097d14210" /><Relationship Type="http://schemas.openxmlformats.org/officeDocument/2006/relationships/notesMaster" Target="/ppt/notesMasters/notesMaster1.xml" Id="R1964be98c386459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08b9ee366a040bd" /><Relationship Type="http://schemas.openxmlformats.org/officeDocument/2006/relationships/notesMaster" Target="/ppt/notesMasters/notesMaster1.xml" Id="R22e1c3a5ecbf41c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15c24e3fc01045d8" /><Relationship Type="http://schemas.openxmlformats.org/officeDocument/2006/relationships/notesMaster" Target="/ppt/notesMasters/notesMaster1.xml" Id="R8490c3cebebb4c4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8bb8ff8dd6e4a16" /><Relationship Type="http://schemas.openxmlformats.org/officeDocument/2006/relationships/notesMaster" Target="/ppt/notesMasters/notesMaster1.xml" Id="R109845ce69914c3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23bd7968f8e4e73" /><Relationship Type="http://schemas.openxmlformats.org/officeDocument/2006/relationships/notesMaster" Target="/ppt/notesMasters/notesMaster1.xml" Id="R204487467ada449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942a2d1c16045ce" /><Relationship Type="http://schemas.openxmlformats.org/officeDocument/2006/relationships/notesMaster" Target="/ppt/notesMasters/notesMaster1.xml" Id="R760451dd597c4ff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5c527e975af454b" /><Relationship Type="http://schemas.openxmlformats.org/officeDocument/2006/relationships/notesMaster" Target="/ppt/notesMasters/notesMaster1.xml" Id="R48b078889ee640e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917b120e2994fd4" /><Relationship Type="http://schemas.openxmlformats.org/officeDocument/2006/relationships/notesMaster" Target="/ppt/notesMasters/notesMaster1.xml" Id="Reed0188cad3e4e3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18d8283e0804372" /><Relationship Type="http://schemas.openxmlformats.org/officeDocument/2006/relationships/notesMaster" Target="/ppt/notesMasters/notesMaster1.xml" Id="Rd3703d18d48a432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d4fb99b3a0043e1" /><Relationship Type="http://schemas.openxmlformats.org/officeDocument/2006/relationships/notesMaster" Target="/ppt/notesMasters/notesMaster1.xml" Id="R0e2b45bb085a42d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87119e3f1f84ca0" /><Relationship Type="http://schemas.openxmlformats.org/officeDocument/2006/relationships/notesMaster" Target="/ppt/notesMasters/notesMaster1.xml" Id="Re73b06386f28485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79e600432e2049c2" /><Relationship Type="http://schemas.openxmlformats.org/officeDocument/2006/relationships/notesMaster" Target="/ppt/notesMasters/notesMaster1.xml" Id="R4aca4a706b1a49c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3c2fe4177c149bb" /><Relationship Type="http://schemas.openxmlformats.org/officeDocument/2006/relationships/notesMaster" Target="/ppt/notesMasters/notesMaster1.xml" Id="Rbe12974b479b482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9d443bf48f74b19" /><Relationship Type="http://schemas.openxmlformats.org/officeDocument/2006/relationships/notesMaster" Target="/ppt/notesMasters/notesMaster1.xml" Id="Re81414af01414e6e"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86443e016ad4085" /><Relationship Type="http://schemas.openxmlformats.org/officeDocument/2006/relationships/notesMaster" Target="/ppt/notesMasters/notesMaster1.xml" Id="Rfc1a7f4644b94b0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7dffd218737404f" /><Relationship Type="http://schemas.openxmlformats.org/officeDocument/2006/relationships/notesMaster" Target="/ppt/notesMasters/notesMaster1.xml" Id="R68b9d95e1372404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317796e726140ba" /><Relationship Type="http://schemas.openxmlformats.org/officeDocument/2006/relationships/notesMaster" Target="/ppt/notesMasters/notesMaster1.xml" Id="R0580009d990947c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bef42abadde9499f" /><Relationship Type="http://schemas.openxmlformats.org/officeDocument/2006/relationships/notesMaster" Target="/ppt/notesMasters/notesMaster1.xml" Id="R6f372b2a958440ba"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317d202844b4dbf" /><Relationship Type="http://schemas.openxmlformats.org/officeDocument/2006/relationships/notesMaster" Target="/ppt/notesMasters/notesMaster1.xml" Id="R759a3a00284c49c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0e731795f0e44acc" /><Relationship Type="http://schemas.openxmlformats.org/officeDocument/2006/relationships/notesMaster" Target="/ppt/notesMasters/notesMaster1.xml" Id="R7775e7e2ffe64d18"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31d5c4b642f47bf" /><Relationship Type="http://schemas.openxmlformats.org/officeDocument/2006/relationships/notesMaster" Target="/ppt/notesMasters/notesMaster1.xml" Id="Rbf8c02f9c2424c9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339ce148c4e4bfd" /><Relationship Type="http://schemas.openxmlformats.org/officeDocument/2006/relationships/notesMaster" Target="/ppt/notesMasters/notesMaster1.xml" Id="R51202486c17f433e"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ed76c20af6244ee" /><Relationship Type="http://schemas.openxmlformats.org/officeDocument/2006/relationships/notesMaster" Target="/ppt/notesMasters/notesMaster1.xml" Id="R7243b69bf772498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778e361488246b7" /><Relationship Type="http://schemas.openxmlformats.org/officeDocument/2006/relationships/notesMaster" Target="/ppt/notesMasters/notesMaster1.xml" Id="Rb4b0a9dcc80149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1a9738eba5c44e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02168d4d360443d" /><Relationship Type="http://schemas.openxmlformats.org/officeDocument/2006/relationships/slideLayout" Target="/ppt/slideLayouts/slideLayout1.xml" Id="Red171e3dfeaf4fc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171e3dfeaf4fc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4d4d950949e4532" /><Relationship Type="http://schemas.openxmlformats.org/officeDocument/2006/relationships/notesSlide" Target="/ppt/notesSlides/notesSlide1.xml" Id="R1364c8fffb17487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45a2e00229b4fad" /><Relationship Type="http://schemas.openxmlformats.org/officeDocument/2006/relationships/notesSlide" Target="/ppt/notesSlides/notesSlide2.xml" Id="R8a5e2da095314a9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1b43a6bab9c426e" /><Relationship Type="http://schemas.openxmlformats.org/officeDocument/2006/relationships/notesSlide" Target="/ppt/notesSlides/notesSlide3.xml" Id="R30f73b4d2d2d47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04fe5492c7248eb" /><Relationship Type="http://schemas.openxmlformats.org/officeDocument/2006/relationships/image" Target="/ppt/media/image.png" Id="Rfa94d19f00344773" /><Relationship Type="http://schemas.openxmlformats.org/officeDocument/2006/relationships/notesSlide" Target="/ppt/notesSlides/notesSlide4.xml" Id="R5d0e347daeee45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49120423f714798" /><Relationship Type="http://schemas.openxmlformats.org/officeDocument/2006/relationships/image" Target="/ppt/media/image2.png" Id="Rbe623fb0054b4f1a" /><Relationship Type="http://schemas.openxmlformats.org/officeDocument/2006/relationships/notesSlide" Target="/ppt/notesSlides/notesSlide5.xml" Id="R7f7397a9f2d64b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8bf68e8f6d74fbd" /><Relationship Type="http://schemas.openxmlformats.org/officeDocument/2006/relationships/image" Target="/ppt/media/image3.png" Id="Rd8e35880de154a8a" /><Relationship Type="http://schemas.openxmlformats.org/officeDocument/2006/relationships/image" Target="/ppt/media/image4.png" Id="Rc67bbc1ca3e84add" /><Relationship Type="http://schemas.openxmlformats.org/officeDocument/2006/relationships/notesSlide" Target="/ppt/notesSlides/notesSlide6.xml" Id="R59d7df5c482c441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4e48ef9be4d495f" /><Relationship Type="http://schemas.openxmlformats.org/officeDocument/2006/relationships/image" Target="/ppt/media/image5.png" Id="Rabc0dbb3b7c04c69" /><Relationship Type="http://schemas.openxmlformats.org/officeDocument/2006/relationships/notesSlide" Target="/ppt/notesSlides/notesSlide7.xml" Id="Rc872d92685774b2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5ac9906c93c4da6" /><Relationship Type="http://schemas.openxmlformats.org/officeDocument/2006/relationships/image" Target="/ppt/media/image6.png" Id="R669d7a7cd07b4038" /><Relationship Type="http://schemas.openxmlformats.org/officeDocument/2006/relationships/notesSlide" Target="/ppt/notesSlides/notesSlide8.xml" Id="R0a2ec2d46d7446e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fd2b27afa97492d" /><Relationship Type="http://schemas.openxmlformats.org/officeDocument/2006/relationships/image" Target="/ppt/media/image7.png" Id="R27cb88a2704546ea" /><Relationship Type="http://schemas.openxmlformats.org/officeDocument/2006/relationships/notesSlide" Target="/ppt/notesSlides/notesSlide9.xml" Id="Raf108c752d8a4f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02d98124f63441c" /><Relationship Type="http://schemas.openxmlformats.org/officeDocument/2006/relationships/notesSlide" Target="/ppt/notesSlides/notesSlide10.xml" Id="R93b5a9e80f014f0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37bb612e724400e" /><Relationship Type="http://schemas.openxmlformats.org/officeDocument/2006/relationships/notesSlide" Target="/ppt/notesSlides/notesSlide11.xml" Id="R5f3a9c38edc5429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7d6158a62b74bc5" /><Relationship Type="http://schemas.openxmlformats.org/officeDocument/2006/relationships/notesSlide" Target="/ppt/notesSlides/notesSlide12.xml" Id="R4cd2b4a3089c436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611b29f6c224706" /><Relationship Type="http://schemas.openxmlformats.org/officeDocument/2006/relationships/image" Target="/ppt/media/image8.png" Id="Rc795d66439634ea1" /><Relationship Type="http://schemas.openxmlformats.org/officeDocument/2006/relationships/notesSlide" Target="/ppt/notesSlides/notesSlide13.xml" Id="Rf722daea15764be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7e2311a63c947e6" /><Relationship Type="http://schemas.openxmlformats.org/officeDocument/2006/relationships/image" Target="/ppt/media/image9.png" Id="R1e4d54e9d3964b7e" /><Relationship Type="http://schemas.openxmlformats.org/officeDocument/2006/relationships/notesSlide" Target="/ppt/notesSlides/notesSlide14.xml" Id="Rf5247fa496b24ad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bde39b6bd7249a0" /><Relationship Type="http://schemas.openxmlformats.org/officeDocument/2006/relationships/image" Target="/ppt/media/image10.png" Id="R3cca46e5e38f4451" /><Relationship Type="http://schemas.openxmlformats.org/officeDocument/2006/relationships/image" Target="/ppt/media/image11.png" Id="R6916902710fd42cf" /><Relationship Type="http://schemas.openxmlformats.org/officeDocument/2006/relationships/notesSlide" Target="/ppt/notesSlides/notesSlide15.xml" Id="Rb4370816f2564c5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8024ba4d5c348fc" /><Relationship Type="http://schemas.openxmlformats.org/officeDocument/2006/relationships/image" Target="/ppt/media/image12.png" Id="R9e82a44d8fb04334" /><Relationship Type="http://schemas.openxmlformats.org/officeDocument/2006/relationships/notesSlide" Target="/ppt/notesSlides/notesSlide16.xml" Id="R34e40e0d44ee469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3a06856b695494a" /><Relationship Type="http://schemas.openxmlformats.org/officeDocument/2006/relationships/notesSlide" Target="/ppt/notesSlides/notesSlide17.xml" Id="R5fb85f1dcff3411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531fcd30f80463e" /><Relationship Type="http://schemas.openxmlformats.org/officeDocument/2006/relationships/notesSlide" Target="/ppt/notesSlides/notesSlide18.xml" Id="R7451d734174a4eb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c1fe1110b3d4bf7" /><Relationship Type="http://schemas.openxmlformats.org/officeDocument/2006/relationships/notesSlide" Target="/ppt/notesSlides/notesSlide19.xml" Id="R96172406c85140d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da22d2dd0f94e3b" /><Relationship Type="http://schemas.openxmlformats.org/officeDocument/2006/relationships/image" Target="/ppt/media/image13.png" Id="R1f2294088a574f10" /><Relationship Type="http://schemas.openxmlformats.org/officeDocument/2006/relationships/notesSlide" Target="/ppt/notesSlides/notesSlide20.xml" Id="Rfd7a5d3b8feb480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14c014b060404ea9" /><Relationship Type="http://schemas.openxmlformats.org/officeDocument/2006/relationships/image" Target="/ppt/media/image14.png" Id="R684addaa4b2b4307" /><Relationship Type="http://schemas.openxmlformats.org/officeDocument/2006/relationships/image" Target="/ppt/media/image15.png" Id="Rb808c91afa9e4288" /><Relationship Type="http://schemas.openxmlformats.org/officeDocument/2006/relationships/notesSlide" Target="/ppt/notesSlides/notesSlide21.xml" Id="R9c67c958af9e411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2d849df1f034001" /><Relationship Type="http://schemas.openxmlformats.org/officeDocument/2006/relationships/image" Target="/ppt/media/image16.png" Id="Rd70cf3b1fadf42ed" /><Relationship Type="http://schemas.openxmlformats.org/officeDocument/2006/relationships/notesSlide" Target="/ppt/notesSlides/notesSlide22.xml" Id="R32c8ae6c72f14d5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27517adc6a140f6" /><Relationship Type="http://schemas.openxmlformats.org/officeDocument/2006/relationships/notesSlide" Target="/ppt/notesSlides/notesSlide23.xml" Id="Rb23d0b21c947425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2464633cedc4904" /><Relationship Type="http://schemas.openxmlformats.org/officeDocument/2006/relationships/notesSlide" Target="/ppt/notesSlides/notesSlide24.xml" Id="R949850f11b6f417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b247c84f88747a7" /><Relationship Type="http://schemas.openxmlformats.org/officeDocument/2006/relationships/notesSlide" Target="/ppt/notesSlides/notesSlide25.xml" Id="Rd2c74fda970c4c6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fe69a66f74a445f" /><Relationship Type="http://schemas.openxmlformats.org/officeDocument/2006/relationships/image" Target="/ppt/media/image17.png" Id="Rc6eb5ab0b8974c4f" /><Relationship Type="http://schemas.openxmlformats.org/officeDocument/2006/relationships/notesSlide" Target="/ppt/notesSlides/notesSlide26.xml" Id="R098382aacd134b9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dfffb28f92648b7" /><Relationship Type="http://schemas.openxmlformats.org/officeDocument/2006/relationships/image" Target="/ppt/media/image18.png" Id="Rb3fa32a9afe34c8b" /><Relationship Type="http://schemas.openxmlformats.org/officeDocument/2006/relationships/notesSlide" Target="/ppt/notesSlides/notesSlide27.xml" Id="Rf0732c1b104b4a0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3880e14ed144017" /><Relationship Type="http://schemas.openxmlformats.org/officeDocument/2006/relationships/notesSlide" Target="/ppt/notesSlides/notesSlide28.xml" Id="R3ae14145de5f418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4844368d2dc4729" /><Relationship Type="http://schemas.openxmlformats.org/officeDocument/2006/relationships/notesSlide" Target="/ppt/notesSlides/notesSlide29.xml" Id="Rd8fc0db41aa949b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a547b6e0f5f4c30" /><Relationship Type="http://schemas.openxmlformats.org/officeDocument/2006/relationships/notesSlide" Target="/ppt/notesSlides/notesSlide30.xml" Id="R98cb0f393f06498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7bdc989dd72d47c6" /><Relationship Type="http://schemas.openxmlformats.org/officeDocument/2006/relationships/notesSlide" Target="/ppt/notesSlides/notesSlide31.xml" Id="Rc5b3a4f4af324c77"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99e8deddce64bcf" /><Relationship Type="http://schemas.openxmlformats.org/officeDocument/2006/relationships/image" Target="/ppt/media/image19.png" Id="R6d8dd4c1f02c46c4" /><Relationship Type="http://schemas.openxmlformats.org/officeDocument/2006/relationships/notesSlide" Target="/ppt/notesSlides/notesSlide32.xml" Id="R152db566fc9f4f9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971af4af4a8347b4" /><Relationship Type="http://schemas.openxmlformats.org/officeDocument/2006/relationships/image" Target="/ppt/media/image20.png" Id="R585258a9f2c64910" /><Relationship Type="http://schemas.openxmlformats.org/officeDocument/2006/relationships/notesSlide" Target="/ppt/notesSlides/notesSlide33.xml" Id="R27a30ff44280419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56e85b74fdd483c" /><Relationship Type="http://schemas.openxmlformats.org/officeDocument/2006/relationships/image" Target="/ppt/media/image21.png" Id="R8b3138f890084389" /><Relationship Type="http://schemas.openxmlformats.org/officeDocument/2006/relationships/notesSlide" Target="/ppt/notesSlides/notesSlide34.xml" Id="Recdafdbd5c0347f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1e3b571127e436a" /><Relationship Type="http://schemas.openxmlformats.org/officeDocument/2006/relationships/image" Target="/ppt/media/image22.png" Id="R49ea6811c00643ce" /><Relationship Type="http://schemas.openxmlformats.org/officeDocument/2006/relationships/notesSlide" Target="/ppt/notesSlides/notesSlide35.xml" Id="Rb1941b24e6be4ea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721ff3ec41541c5" /><Relationship Type="http://schemas.openxmlformats.org/officeDocument/2006/relationships/notesSlide" Target="/ppt/notesSlides/notesSlide36.xml" Id="R1fa19577ec4f4a0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d485acb2b83b4b33" /><Relationship Type="http://schemas.openxmlformats.org/officeDocument/2006/relationships/notesSlide" Target="/ppt/notesSlides/notesSlide37.xml" Id="R59c6c1617d254c8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8d62ae6df580491e" /><Relationship Type="http://schemas.openxmlformats.org/officeDocument/2006/relationships/notesSlide" Target="/ppt/notesSlides/notesSlide38.xml" Id="Rcf277d31d87f454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845ef10243c4906" /><Relationship Type="http://schemas.openxmlformats.org/officeDocument/2006/relationships/notesSlide" Target="/ppt/notesSlides/notesSlide39.xml" Id="Rfad701d3175943f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0ff1147c0ec40bf" /><Relationship Type="http://schemas.openxmlformats.org/officeDocument/2006/relationships/image" Target="/ppt/media/image23.png" Id="Re01f17434fe74ed0" /><Relationship Type="http://schemas.openxmlformats.org/officeDocument/2006/relationships/notesSlide" Target="/ppt/notesSlides/notesSlide40.xml" Id="Rd5bf97b0fb33478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0757c804cc834bfb" /><Relationship Type="http://schemas.openxmlformats.org/officeDocument/2006/relationships/image" Target="/ppt/media/image24.png" Id="R5cc4330ed4064b17" /><Relationship Type="http://schemas.openxmlformats.org/officeDocument/2006/relationships/notesSlide" Target="/ppt/notesSlides/notesSlide41.xml" Id="R9bd49c3af51b470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5dc72bb808ca40b1" /><Relationship Type="http://schemas.openxmlformats.org/officeDocument/2006/relationships/image" Target="/ppt/media/image25.png" Id="Rcbfc6e0a9cca4687" /><Relationship Type="http://schemas.openxmlformats.org/officeDocument/2006/relationships/notesSlide" Target="/ppt/notesSlides/notesSlide42.xml" Id="R51600f8990cb4a7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c7f5aca630e40ad" /><Relationship Type="http://schemas.openxmlformats.org/officeDocument/2006/relationships/image" Target="/ppt/media/image26.png" Id="R3314fa8610cb4476" /><Relationship Type="http://schemas.openxmlformats.org/officeDocument/2006/relationships/notesSlide" Target="/ppt/notesSlides/notesSlide43.xml" Id="R92efe43e12df4f2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0a7658fc8b7b4fa7" /><Relationship Type="http://schemas.openxmlformats.org/officeDocument/2006/relationships/notesSlide" Target="/ppt/notesSlides/notesSlide44.xml" Id="R87ceb0582193409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4B637EE-310A-442C-BADF-B3B76B609D98}"/>
              </a:ext>
            </a:extLst>
          </p:cNvPr>
          <p:cNvSpPr>
            <a:spLocks xmlns:a="http://schemas.openxmlformats.org/drawingml/2006/main" noGrp="1"/>
          </p:cNvSpPr>
          <p:nvPr/>
        </p:nvSpPr>
        <p:spPr>
          <a:xfrm xmlns:a="http://schemas.openxmlformats.org/drawingml/2006/main">
            <a:off x="685800" y="4572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555555"/>
                </a:solidFill>
              </a:defRPr>
            </a:pPr>
            <a:r>
              <a:rPr sz="2250" b="1" i="0">
                <a:solidFill>
                  <a:srgbClr val="555555"/>
                </a:solidFill>
              </a:rPr>
              <a:t>Gen5.4</a:t>
            </a:r>
          </a:p>
        </p:txBody>
      </p:sp>
      <p:sp>
        <p:nvSpPr>
          <p:cNvPr id="2" name="">
            <a:extLst xmlns:a="http://schemas.openxmlformats.org/drawingml/2006/main">
              <a:ext uri="{FF2B5EF4-FFF2-40B4-BE49-F238E27FC236}">
                <a16:creationId xmlns:a16="http://schemas.microsoft.com/office/drawing/2014/main" id="{2F94D857-00CD-4FC1-8AE9-346741F6F871}"/>
              </a:ext>
            </a:extLst>
          </p:cNvPr>
          <p:cNvSpPr>
            <a:spLocks xmlns:a="http://schemas.openxmlformats.org/drawingml/2006/main" noGrp="1"/>
          </p:cNvSpPr>
          <p:nvPr/>
        </p:nvSpPr>
        <p:spPr>
          <a:xfrm xmlns:a="http://schemas.openxmlformats.org/drawingml/2006/main">
            <a:off x="685800" y="1543050"/>
            <a:ext cx="723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650" b="1" i="0">
                <a:solidFill>
                  <a:srgbClr val="000000"/>
                </a:solidFill>
              </a:defRPr>
            </a:pPr>
            <a:r>
              <a:rPr sz="4650" b="1" i="0">
                <a:solidFill>
                  <a:srgbClr val="000000"/>
                </a:solidFill>
              </a:rPr>
              <a:t>ML decision engine</a:t>
            </a:r>
          </a:p>
        </p:txBody>
      </p:sp>
      <p:sp>
        <p:nvSpPr>
          <p:cNvPr id="3" name="">
            <a:extLst xmlns:a="http://schemas.openxmlformats.org/drawingml/2006/main">
              <a:ext uri="{FF2B5EF4-FFF2-40B4-BE49-F238E27FC236}">
                <a16:creationId xmlns:a16="http://schemas.microsoft.com/office/drawing/2014/main" id="{9BE73AFC-6F6A-4F69-8467-350896CABF93}"/>
              </a:ext>
            </a:extLst>
          </p:cNvPr>
          <p:cNvSpPr>
            <a:spLocks xmlns:a="http://schemas.openxmlformats.org/drawingml/2006/main" noGrp="1"/>
          </p:cNvSpPr>
          <p:nvPr/>
        </p:nvSpPr>
        <p:spPr>
          <a:xfrm xmlns:a="http://schemas.openxmlformats.org/drawingml/2006/main">
            <a:off x="723900" y="2724150"/>
            <a:ext cx="666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
            <a:extLst xmlns:a="http://schemas.openxmlformats.org/drawingml/2006/main">
              <a:ext uri="{FF2B5EF4-FFF2-40B4-BE49-F238E27FC236}">
                <a16:creationId xmlns:a16="http://schemas.microsoft.com/office/drawing/2014/main" id="{187BEE30-ABF3-4BF9-AF32-FF75D87FD4C0}"/>
              </a:ext>
            </a:extLst>
          </p:cNvPr>
          <p:cNvSpPr>
            <a:spLocks xmlns:a="http://schemas.openxmlformats.org/drawingml/2006/main" noGrp="1"/>
          </p:cNvSpPr>
          <p:nvPr/>
        </p:nvSpPr>
        <p:spPr>
          <a:xfrm xmlns:a="http://schemas.openxmlformats.org/drawingml/2006/main">
            <a:off x="723900" y="4095750"/>
            <a:ext cx="4953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3089E26E-8709-4BCA-8815-BA37DC30AEAF}"/>
              </a:ext>
            </a:extLst>
          </p:cNvPr>
          <p:cNvSpPr>
            <a:spLocks xmlns:a="http://schemas.openxmlformats.org/drawingml/2006/main" noGrp="1"/>
          </p:cNvSpPr>
          <p:nvPr/>
        </p:nvSpPr>
        <p:spPr>
          <a:xfrm xmlns:a="http://schemas.openxmlformats.org/drawingml/2006/main">
            <a:off x="723900" y="4400550"/>
            <a:ext cx="657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
            <a:extLst xmlns:a="http://schemas.openxmlformats.org/drawingml/2006/main">
              <a:ext uri="{FF2B5EF4-FFF2-40B4-BE49-F238E27FC236}">
                <a16:creationId xmlns:a16="http://schemas.microsoft.com/office/drawing/2014/main" id="{4AAAA12B-8611-41BB-A551-C9C9DCAE05A2}"/>
              </a:ext>
            </a:extLst>
          </p:cNvPr>
          <p:cNvSpPr>
            <a:spLocks xmlns:a="http://schemas.openxmlformats.org/drawingml/2006/main" noGrp="1"/>
          </p:cNvSpPr>
          <p:nvPr/>
        </p:nvSpPr>
        <p:spPr>
          <a:xfrm xmlns:a="http://schemas.openxmlformats.org/drawingml/2006/main">
            <a:off x="8134350" y="0"/>
            <a:ext cx="405765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502375E-225F-48E1-B7F2-F80CBB780FCC}"/>
              </a:ext>
            </a:extLst>
          </p:cNvPr>
          <p:cNvSpPr>
            <a:spLocks xmlns:a="http://schemas.openxmlformats.org/drawingml/2006/main" noGrp="1"/>
          </p:cNvSpPr>
          <p:nvPr/>
        </p:nvSpPr>
        <p:spPr>
          <a:xfrm xmlns:a="http://schemas.openxmlformats.org/drawingml/2006/main">
            <a:off x="8572500" y="2362200"/>
            <a:ext cx="2476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Research only</a:t>
            </a:r>
          </a:p>
        </p:txBody>
      </p:sp>
      <p:sp>
        <p:nvSpPr>
          <p:cNvPr id="8" name="">
            <a:extLst xmlns:a="http://schemas.openxmlformats.org/drawingml/2006/main">
              <a:ext uri="{FF2B5EF4-FFF2-40B4-BE49-F238E27FC236}">
                <a16:creationId xmlns:a16="http://schemas.microsoft.com/office/drawing/2014/main" id="{E2A53B15-8844-45EE-B046-18963F2C7332}"/>
              </a:ext>
            </a:extLst>
          </p:cNvPr>
          <p:cNvSpPr>
            <a:spLocks xmlns:a="http://schemas.openxmlformats.org/drawingml/2006/main" noGrp="1"/>
          </p:cNvSpPr>
          <p:nvPr/>
        </p:nvSpPr>
        <p:spPr>
          <a:xfrm xmlns:a="http://schemas.openxmlformats.org/drawingml/2006/main">
            <a:off x="8572500" y="3009900"/>
            <a:ext cx="257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No model fit</a:t>
            </a:r>
          </a:p>
          <a:p xmlns:a="http://schemas.openxmlformats.org/drawingml/2006/main">
            <a:pPr algn="l">
              <a:defRPr sz="1800" b="0" i="0">
                <a:solidFill>
                  <a:srgbClr val="222222"/>
                </a:solidFill>
              </a:defRPr>
            </a:pPr>
            <a:r>
              <a:rPr sz="1800" b="0" i="0">
                <a:solidFill>
                  <a:srgbClr val="222222"/>
                </a:solidFill>
              </a:rPr>
              <a:t>No live bridge change</a:t>
            </a:r>
          </a:p>
          <a:p xmlns:a="http://schemas.openxmlformats.org/drawingml/2006/main">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76221450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D9A4E12-C928-4E32-89A4-18D1645F407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6A1F738-D9DB-4291-A770-0AAC7EE7615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PCA work taught us where to aim the ML fork</a:t>
            </a:r>
          </a:p>
        </p:txBody>
      </p:sp>
      <p:sp>
        <p:nvSpPr>
          <p:cNvPr id="3" name="">
            <a:extLst xmlns:a="http://schemas.openxmlformats.org/drawingml/2006/main">
              <a:ext uri="{FF2B5EF4-FFF2-40B4-BE49-F238E27FC236}">
                <a16:creationId xmlns:a16="http://schemas.microsoft.com/office/drawing/2014/main" id="{FBCBB1B8-1D82-4E81-9FD8-1C577F55607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7FE992E-17D7-4DAC-BB90-0A9C4C24A565}"/>
              </a:ext>
            </a:extLst>
          </p:cNvPr>
          <p:cNvSpPr>
            <a:spLocks xmlns:a="http://schemas.openxmlformats.org/drawingml/2006/main" noGrp="1"/>
          </p:cNvSpPr>
          <p:nvPr/>
        </p:nvSpPr>
        <p:spPr>
          <a:xfrm xmlns:a="http://schemas.openxmlformats.org/drawingml/2006/main">
            <a:off x="876300" y="2105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5" name="">
            <a:extLst xmlns:a="http://schemas.openxmlformats.org/drawingml/2006/main">
              <a:ext uri="{FF2B5EF4-FFF2-40B4-BE49-F238E27FC236}">
                <a16:creationId xmlns:a16="http://schemas.microsoft.com/office/drawing/2014/main" id="{A6BEDBEA-E5D8-4F68-906A-A344D974328D}"/>
              </a:ext>
            </a:extLst>
          </p:cNvPr>
          <p:cNvSpPr>
            <a:spLocks xmlns:a="http://schemas.openxmlformats.org/drawingml/2006/main" noGrp="1"/>
          </p:cNvSpPr>
          <p:nvPr/>
        </p:nvSpPr>
        <p:spPr>
          <a:xfrm xmlns:a="http://schemas.openxmlformats.org/drawingml/2006/main">
            <a:off x="1143000" y="20955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
            <a:extLst xmlns:a="http://schemas.openxmlformats.org/drawingml/2006/main">
              <a:ext uri="{FF2B5EF4-FFF2-40B4-BE49-F238E27FC236}">
                <a16:creationId xmlns:a16="http://schemas.microsoft.com/office/drawing/2014/main" id="{12741C95-33C9-42A1-A6CE-E7ACBB5FB099}"/>
              </a:ext>
            </a:extLst>
          </p:cNvPr>
          <p:cNvSpPr>
            <a:spLocks xmlns:a="http://schemas.openxmlformats.org/drawingml/2006/main" noGrp="1"/>
          </p:cNvSpPr>
          <p:nvPr/>
        </p:nvSpPr>
        <p:spPr>
          <a:xfrm xmlns:a="http://schemas.openxmlformats.org/drawingml/2006/main">
            <a:off x="876300" y="2962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7" name="">
            <a:extLst xmlns:a="http://schemas.openxmlformats.org/drawingml/2006/main">
              <a:ext uri="{FF2B5EF4-FFF2-40B4-BE49-F238E27FC236}">
                <a16:creationId xmlns:a16="http://schemas.microsoft.com/office/drawing/2014/main" id="{4034728E-3D75-403E-AB20-2DB41CC58C46}"/>
              </a:ext>
            </a:extLst>
          </p:cNvPr>
          <p:cNvSpPr>
            <a:spLocks xmlns:a="http://schemas.openxmlformats.org/drawingml/2006/main" noGrp="1"/>
          </p:cNvSpPr>
          <p:nvPr/>
        </p:nvSpPr>
        <p:spPr>
          <a:xfrm xmlns:a="http://schemas.openxmlformats.org/drawingml/2006/main">
            <a:off x="1143000" y="2952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
            <a:extLst xmlns:a="http://schemas.openxmlformats.org/drawingml/2006/main">
              <a:ext uri="{FF2B5EF4-FFF2-40B4-BE49-F238E27FC236}">
                <a16:creationId xmlns:a16="http://schemas.microsoft.com/office/drawing/2014/main" id="{6FD375CC-D490-45D7-AE6C-8EBA80F6CB43}"/>
              </a:ext>
            </a:extLst>
          </p:cNvPr>
          <p:cNvSpPr>
            <a:spLocks xmlns:a="http://schemas.openxmlformats.org/drawingml/2006/main" noGrp="1"/>
          </p:cNvSpPr>
          <p:nvPr/>
        </p:nvSpPr>
        <p:spPr>
          <a:xfrm xmlns:a="http://schemas.openxmlformats.org/drawingml/2006/main">
            <a:off x="876300" y="3819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C8AFF8B3-F5BD-4DDA-8EFD-DC6390A6F082}"/>
              </a:ext>
            </a:extLst>
          </p:cNvPr>
          <p:cNvSpPr>
            <a:spLocks xmlns:a="http://schemas.openxmlformats.org/drawingml/2006/main" noGrp="1"/>
          </p:cNvSpPr>
          <p:nvPr/>
        </p:nvSpPr>
        <p:spPr>
          <a:xfrm xmlns:a="http://schemas.openxmlformats.org/drawingml/2006/main">
            <a:off x="1143000" y="3810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
            <a:extLst xmlns:a="http://schemas.openxmlformats.org/drawingml/2006/main">
              <a:ext uri="{FF2B5EF4-FFF2-40B4-BE49-F238E27FC236}">
                <a16:creationId xmlns:a16="http://schemas.microsoft.com/office/drawing/2014/main" id="{675D1B13-D72A-490B-815A-10E8726D1E79}"/>
              </a:ext>
            </a:extLst>
          </p:cNvPr>
          <p:cNvSpPr>
            <a:spLocks xmlns:a="http://schemas.openxmlformats.org/drawingml/2006/main" noGrp="1"/>
          </p:cNvSpPr>
          <p:nvPr/>
        </p:nvSpPr>
        <p:spPr>
          <a:xfrm xmlns:a="http://schemas.openxmlformats.org/drawingml/2006/main">
            <a:off x="6191250" y="20955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
            <a:extLst xmlns:a="http://schemas.openxmlformats.org/drawingml/2006/main">
              <a:ext uri="{FF2B5EF4-FFF2-40B4-BE49-F238E27FC236}">
                <a16:creationId xmlns:a16="http://schemas.microsoft.com/office/drawing/2014/main" id="{850A78EE-37DE-4518-8B72-104FACEDAEFF}"/>
              </a:ext>
            </a:extLst>
          </p:cNvPr>
          <p:cNvSpPr>
            <a:spLocks xmlns:a="http://schemas.openxmlformats.org/drawingml/2006/main" noGrp="1"/>
          </p:cNvSpPr>
          <p:nvPr/>
        </p:nvSpPr>
        <p:spPr>
          <a:xfrm xmlns:a="http://schemas.openxmlformats.org/drawingml/2006/main">
            <a:off x="6191250" y="31623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2" name="">
            <a:extLst xmlns:a="http://schemas.openxmlformats.org/drawingml/2006/main">
              <a:ext uri="{FF2B5EF4-FFF2-40B4-BE49-F238E27FC236}">
                <a16:creationId xmlns:a16="http://schemas.microsoft.com/office/drawing/2014/main" id="{86862725-3CF8-4EB7-9238-0EFBC7865626}"/>
              </a:ext>
            </a:extLst>
          </p:cNvPr>
          <p:cNvSpPr>
            <a:spLocks xmlns:a="http://schemas.openxmlformats.org/drawingml/2006/main" noGrp="1"/>
          </p:cNvSpPr>
          <p:nvPr/>
        </p:nvSpPr>
        <p:spPr>
          <a:xfrm xmlns:a="http://schemas.openxmlformats.org/drawingml/2006/main">
            <a:off x="6191250" y="4229100"/>
            <a:ext cx="4762500" cy="6096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8863F6EE-09FB-4184-8208-0A0CA25D9FF1}"/>
              </a:ext>
            </a:extLst>
          </p:cNvPr>
          <p:cNvSpPr>
            <a:spLocks xmlns:a="http://schemas.openxmlformats.org/drawingml/2006/main" noGrp="1"/>
          </p:cNvSpPr>
          <p:nvPr/>
        </p:nvSpPr>
        <p:spPr>
          <a:xfrm xmlns:a="http://schemas.openxmlformats.org/drawingml/2006/main">
            <a:off x="6534150" y="22669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OHLCV feature table</a:t>
            </a:r>
          </a:p>
        </p:txBody>
      </p:sp>
      <p:sp>
        <p:nvSpPr>
          <p:cNvPr id="14" name="">
            <a:extLst xmlns:a="http://schemas.openxmlformats.org/drawingml/2006/main">
              <a:ext uri="{FF2B5EF4-FFF2-40B4-BE49-F238E27FC236}">
                <a16:creationId xmlns:a16="http://schemas.microsoft.com/office/drawing/2014/main" id="{36EEC72A-4684-47F0-91CC-110C3487D5EB}"/>
              </a:ext>
            </a:extLst>
          </p:cNvPr>
          <p:cNvSpPr>
            <a:spLocks xmlns:a="http://schemas.openxmlformats.org/drawingml/2006/main" noGrp="1"/>
          </p:cNvSpPr>
          <p:nvPr/>
        </p:nvSpPr>
        <p:spPr>
          <a:xfrm xmlns:a="http://schemas.openxmlformats.org/drawingml/2006/main">
            <a:off x="6534150" y="33337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Supervised h3 label</a:t>
            </a:r>
          </a:p>
        </p:txBody>
      </p:sp>
      <p:sp>
        <p:nvSpPr>
          <p:cNvPr id="15" name="">
            <a:extLst xmlns:a="http://schemas.openxmlformats.org/drawingml/2006/main">
              <a:ext uri="{FF2B5EF4-FFF2-40B4-BE49-F238E27FC236}">
                <a16:creationId xmlns:a16="http://schemas.microsoft.com/office/drawing/2014/main" id="{C2025391-CF1F-48F8-BEEC-ADEAE875CA33}"/>
              </a:ext>
            </a:extLst>
          </p:cNvPr>
          <p:cNvSpPr>
            <a:spLocks xmlns:a="http://schemas.openxmlformats.org/drawingml/2006/main" noGrp="1"/>
          </p:cNvSpPr>
          <p:nvPr/>
        </p:nvSpPr>
        <p:spPr>
          <a:xfrm xmlns:a="http://schemas.openxmlformats.org/drawingml/2006/main">
            <a:off x="6534150" y="4400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i="0">
                <a:solidFill>
                  <a:srgbClr val="222222"/>
                </a:solidFill>
              </a:defRPr>
            </a:pPr>
            <a:r>
              <a:rPr sz="1800" b="1" i="0">
                <a:solidFill>
                  <a:srgbClr val="222222"/>
                </a:solidFill>
              </a:rPr>
              <a:t>Daily long/flat policy</a:t>
            </a:r>
          </a:p>
        </p:txBody>
      </p:sp>
      <p:sp>
        <p:nvSpPr>
          <p:cNvPr id="16" name="">
            <a:extLst xmlns:a="http://schemas.openxmlformats.org/drawingml/2006/main">
              <a:ext uri="{FF2B5EF4-FFF2-40B4-BE49-F238E27FC236}">
                <a16:creationId xmlns:a16="http://schemas.microsoft.com/office/drawing/2014/main" id="{F13781B6-5B2D-4F9C-B0DD-345FF1273E5D}"/>
              </a:ext>
            </a:extLst>
          </p:cNvPr>
          <p:cNvSpPr>
            <a:spLocks xmlns:a="http://schemas.openxmlformats.org/drawingml/2006/main" noGrp="1"/>
          </p:cNvSpPr>
          <p:nvPr/>
        </p:nvSpPr>
        <p:spPr>
          <a:xfrm xmlns:a="http://schemas.openxmlformats.org/drawingml/2006/main">
            <a:off x="6324600" y="5334000"/>
            <a:ext cx="4333875"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56569460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620562-03CA-45D3-8CF6-FAEA601C3E5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1DCCFFEF-09D3-4AA1-BD15-E3C99639A1B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ML-P0 succeeds only if the table is boringly correct</a:t>
            </a:r>
          </a:p>
        </p:txBody>
      </p:sp>
      <p:sp>
        <p:nvSpPr>
          <p:cNvPr id="3" name="">
            <a:extLst xmlns:a="http://schemas.openxmlformats.org/drawingml/2006/main">
              <a:ext uri="{FF2B5EF4-FFF2-40B4-BE49-F238E27FC236}">
                <a16:creationId xmlns:a16="http://schemas.microsoft.com/office/drawing/2014/main" id="{001D5E59-EA74-4EDF-8DE2-79FB4CEF2F6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63D3C3-65BB-4800-B801-B8723E95B24A}"/>
              </a:ext>
            </a:extLst>
          </p:cNvPr>
          <p:cNvSpPr>
            <a:spLocks xmlns:a="http://schemas.openxmlformats.org/drawingml/2006/main" noGrp="1"/>
          </p:cNvSpPr>
          <p:nvPr/>
        </p:nvSpPr>
        <p:spPr>
          <a:xfrm xmlns:a="http://schemas.openxmlformats.org/drawingml/2006/main">
            <a:off x="8763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0BB32136-3434-4217-BA6F-F06323DC8597}"/>
              </a:ext>
            </a:extLst>
          </p:cNvPr>
          <p:cNvSpPr>
            <a:spLocks xmlns:a="http://schemas.openxmlformats.org/drawingml/2006/main" noGrp="1"/>
          </p:cNvSpPr>
          <p:nvPr/>
        </p:nvSpPr>
        <p:spPr>
          <a:xfrm xmlns:a="http://schemas.openxmlformats.org/drawingml/2006/main">
            <a:off x="10477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USABLE LABELED ROWS</a:t>
            </a:r>
          </a:p>
        </p:txBody>
      </p:sp>
      <p:sp>
        <p:nvSpPr>
          <p:cNvPr id="6" name="">
            <a:extLst xmlns:a="http://schemas.openxmlformats.org/drawingml/2006/main">
              <a:ext uri="{FF2B5EF4-FFF2-40B4-BE49-F238E27FC236}">
                <a16:creationId xmlns:a16="http://schemas.microsoft.com/office/drawing/2014/main" id="{174F96C9-761F-4952-8295-0F945AE67383}"/>
              </a:ext>
            </a:extLst>
          </p:cNvPr>
          <p:cNvSpPr>
            <a:spLocks xmlns:a="http://schemas.openxmlformats.org/drawingml/2006/main" noGrp="1"/>
          </p:cNvSpPr>
          <p:nvPr/>
        </p:nvSpPr>
        <p:spPr>
          <a:xfrm xmlns:a="http://schemas.openxmlformats.org/drawingml/2006/main">
            <a:off x="10477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22,440</a:t>
            </a:r>
          </a:p>
        </p:txBody>
      </p:sp>
      <p:sp>
        <p:nvSpPr>
          <p:cNvPr id="7" name="">
            <a:extLst xmlns:a="http://schemas.openxmlformats.org/drawingml/2006/main">
              <a:ext uri="{FF2B5EF4-FFF2-40B4-BE49-F238E27FC236}">
                <a16:creationId xmlns:a16="http://schemas.microsoft.com/office/drawing/2014/main" id="{4D0C83D3-A90A-4F75-91A5-C8DF85DEA5E1}"/>
              </a:ext>
            </a:extLst>
          </p:cNvPr>
          <p:cNvSpPr>
            <a:spLocks xmlns:a="http://schemas.openxmlformats.org/drawingml/2006/main" noGrp="1"/>
          </p:cNvSpPr>
          <p:nvPr/>
        </p:nvSpPr>
        <p:spPr>
          <a:xfrm xmlns:a="http://schemas.openxmlformats.org/drawingml/2006/main">
            <a:off x="10477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Rows eligible after fold and horizon filters.</a:t>
            </a:r>
          </a:p>
        </p:txBody>
      </p:sp>
      <p:sp>
        <p:nvSpPr>
          <p:cNvPr id="8" name="">
            <a:extLst xmlns:a="http://schemas.openxmlformats.org/drawingml/2006/main">
              <a:ext uri="{FF2B5EF4-FFF2-40B4-BE49-F238E27FC236}">
                <a16:creationId xmlns:a16="http://schemas.microsoft.com/office/drawing/2014/main" id="{F41369DA-13A7-44A4-9F68-40EDD4793D1E}"/>
              </a:ext>
            </a:extLst>
          </p:cNvPr>
          <p:cNvSpPr>
            <a:spLocks xmlns:a="http://schemas.openxmlformats.org/drawingml/2006/main" noGrp="1"/>
          </p:cNvSpPr>
          <p:nvPr/>
        </p:nvSpPr>
        <p:spPr>
          <a:xfrm xmlns:a="http://schemas.openxmlformats.org/drawingml/2006/main">
            <a:off x="466725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03480468-3D01-48D6-AB78-22127A24ECF6}"/>
              </a:ext>
            </a:extLst>
          </p:cNvPr>
          <p:cNvSpPr>
            <a:spLocks xmlns:a="http://schemas.openxmlformats.org/drawingml/2006/main" noGrp="1"/>
          </p:cNvSpPr>
          <p:nvPr/>
        </p:nvSpPr>
        <p:spPr>
          <a:xfrm xmlns:a="http://schemas.openxmlformats.org/drawingml/2006/main">
            <a:off x="483870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FEATURES</a:t>
            </a:r>
          </a:p>
        </p:txBody>
      </p:sp>
      <p:sp>
        <p:nvSpPr>
          <p:cNvPr id="10" name="">
            <a:extLst xmlns:a="http://schemas.openxmlformats.org/drawingml/2006/main">
              <a:ext uri="{FF2B5EF4-FFF2-40B4-BE49-F238E27FC236}">
                <a16:creationId xmlns:a16="http://schemas.microsoft.com/office/drawing/2014/main" id="{3ACDF9E7-17A0-4F20-9C46-3730D3BD1C38}"/>
              </a:ext>
            </a:extLst>
          </p:cNvPr>
          <p:cNvSpPr>
            <a:spLocks xmlns:a="http://schemas.openxmlformats.org/drawingml/2006/main" noGrp="1"/>
          </p:cNvSpPr>
          <p:nvPr/>
        </p:nvSpPr>
        <p:spPr>
          <a:xfrm xmlns:a="http://schemas.openxmlformats.org/drawingml/2006/main">
            <a:off x="483870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40</a:t>
            </a:r>
          </a:p>
        </p:txBody>
      </p:sp>
      <p:sp>
        <p:nvSpPr>
          <p:cNvPr id="11" name="">
            <a:extLst xmlns:a="http://schemas.openxmlformats.org/drawingml/2006/main">
              <a:ext uri="{FF2B5EF4-FFF2-40B4-BE49-F238E27FC236}">
                <a16:creationId xmlns:a16="http://schemas.microsoft.com/office/drawing/2014/main" id="{DB5145C7-6E7E-4730-A1CF-325B4D016BAB}"/>
              </a:ext>
            </a:extLst>
          </p:cNvPr>
          <p:cNvSpPr>
            <a:spLocks xmlns:a="http://schemas.openxmlformats.org/drawingml/2006/main" noGrp="1"/>
          </p:cNvSpPr>
          <p:nvPr/>
        </p:nvSpPr>
        <p:spPr>
          <a:xfrm xmlns:a="http://schemas.openxmlformats.org/drawingml/2006/main">
            <a:off x="483870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PCA-inspired plus explicit OHLCV additions.</a:t>
            </a:r>
          </a:p>
        </p:txBody>
      </p:sp>
      <p:sp>
        <p:nvSpPr>
          <p:cNvPr id="12" name="">
            <a:extLst xmlns:a="http://schemas.openxmlformats.org/drawingml/2006/main">
              <a:ext uri="{FF2B5EF4-FFF2-40B4-BE49-F238E27FC236}">
                <a16:creationId xmlns:a16="http://schemas.microsoft.com/office/drawing/2014/main" id="{05EB351E-CAB4-43DE-B577-C72FF7E9B7D9}"/>
              </a:ext>
            </a:extLst>
          </p:cNvPr>
          <p:cNvSpPr>
            <a:spLocks xmlns:a="http://schemas.openxmlformats.org/drawingml/2006/main" noGrp="1"/>
          </p:cNvSpPr>
          <p:nvPr/>
        </p:nvSpPr>
        <p:spPr>
          <a:xfrm xmlns:a="http://schemas.openxmlformats.org/drawingml/2006/main">
            <a:off x="8458200" y="2190750"/>
            <a:ext cx="2857500"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B1088081-902E-4017-88A0-00969D271DF3}"/>
              </a:ext>
            </a:extLst>
          </p:cNvPr>
          <p:cNvSpPr>
            <a:spLocks xmlns:a="http://schemas.openxmlformats.org/drawingml/2006/main" noGrp="1"/>
          </p:cNvSpPr>
          <p:nvPr/>
        </p:nvSpPr>
        <p:spPr>
          <a:xfrm xmlns:a="http://schemas.openxmlformats.org/drawingml/2006/main">
            <a:off x="8629650" y="2343150"/>
            <a:ext cx="2514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4" name="">
            <a:extLst xmlns:a="http://schemas.openxmlformats.org/drawingml/2006/main">
              <a:ext uri="{FF2B5EF4-FFF2-40B4-BE49-F238E27FC236}">
                <a16:creationId xmlns:a16="http://schemas.microsoft.com/office/drawing/2014/main" id="{B47E71D5-236B-45C6-93BC-DBA76C64C926}"/>
              </a:ext>
            </a:extLst>
          </p:cNvPr>
          <p:cNvSpPr>
            <a:spLocks xmlns:a="http://schemas.openxmlformats.org/drawingml/2006/main" noGrp="1"/>
          </p:cNvSpPr>
          <p:nvPr/>
        </p:nvSpPr>
        <p:spPr>
          <a:xfrm xmlns:a="http://schemas.openxmlformats.org/drawingml/2006/main">
            <a:off x="8629650" y="2590800"/>
            <a:ext cx="2514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5" name="">
            <a:extLst xmlns:a="http://schemas.openxmlformats.org/drawingml/2006/main">
              <a:ext uri="{FF2B5EF4-FFF2-40B4-BE49-F238E27FC236}">
                <a16:creationId xmlns:a16="http://schemas.microsoft.com/office/drawing/2014/main" id="{9AF040BC-3AF9-4667-BED5-2146BC9AF13B}"/>
              </a:ext>
            </a:extLst>
          </p:cNvPr>
          <p:cNvSpPr>
            <a:spLocks xmlns:a="http://schemas.openxmlformats.org/drawingml/2006/main" noGrp="1"/>
          </p:cNvSpPr>
          <p:nvPr/>
        </p:nvSpPr>
        <p:spPr>
          <a:xfrm xmlns:a="http://schemas.openxmlformats.org/drawingml/2006/main">
            <a:off x="8629650" y="3009900"/>
            <a:ext cx="2514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labels stay inside TRAIN; OOS labels stay inside OOS.</a:t>
            </a:r>
          </a:p>
        </p:txBody>
      </p:sp>
      <p:sp>
        <p:nvSpPr>
          <p:cNvPr id="16" name="">
            <a:extLst xmlns:a="http://schemas.openxmlformats.org/drawingml/2006/main">
              <a:ext uri="{FF2B5EF4-FFF2-40B4-BE49-F238E27FC236}">
                <a16:creationId xmlns:a16="http://schemas.microsoft.com/office/drawing/2014/main" id="{277C303F-135C-406F-B1A5-A5DA71C9E810}"/>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7" name="">
            <a:extLst xmlns:a="http://schemas.openxmlformats.org/drawingml/2006/main">
              <a:ext uri="{FF2B5EF4-FFF2-40B4-BE49-F238E27FC236}">
                <a16:creationId xmlns:a16="http://schemas.microsoft.com/office/drawing/2014/main" id="{CC3B1064-5A19-42B5-B85D-9110905D7FB3}"/>
              </a:ext>
            </a:extLst>
          </p:cNvPr>
          <p:cNvSpPr>
            <a:spLocks xmlns:a="http://schemas.openxmlformats.org/drawingml/2006/main" noGrp="1"/>
          </p:cNvSpPr>
          <p:nvPr/>
        </p:nvSpPr>
        <p:spPr>
          <a:xfrm xmlns:a="http://schemas.openxmlformats.org/drawingml/2006/main">
            <a:off x="144780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Features are known after close t.</a:t>
            </a:r>
          </a:p>
        </p:txBody>
      </p:sp>
      <p:sp>
        <p:nvSpPr>
          <p:cNvPr id="18" name="">
            <a:extLst xmlns:a="http://schemas.openxmlformats.org/drawingml/2006/main">
              <a:ext uri="{FF2B5EF4-FFF2-40B4-BE49-F238E27FC236}">
                <a16:creationId xmlns:a16="http://schemas.microsoft.com/office/drawing/2014/main" id="{98E676BE-43A0-487C-A2B0-EF58872E926A}"/>
              </a:ext>
            </a:extLst>
          </p:cNvPr>
          <p:cNvSpPr>
            <a:spLocks xmlns:a="http://schemas.openxmlformats.org/drawingml/2006/main" noGrp="1"/>
          </p:cNvSpPr>
          <p:nvPr/>
        </p:nvSpPr>
        <p:spPr>
          <a:xfrm xmlns:a="http://schemas.openxmlformats.org/drawingml/2006/main">
            <a:off x="118110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9" name="">
            <a:extLst xmlns:a="http://schemas.openxmlformats.org/drawingml/2006/main">
              <a:ext uri="{FF2B5EF4-FFF2-40B4-BE49-F238E27FC236}">
                <a16:creationId xmlns:a16="http://schemas.microsoft.com/office/drawing/2014/main" id="{F8240598-28CA-4E52-B115-C828A8BB5A4B}"/>
              </a:ext>
            </a:extLst>
          </p:cNvPr>
          <p:cNvSpPr>
            <a:spLocks xmlns:a="http://schemas.openxmlformats.org/drawingml/2006/main" noGrp="1"/>
          </p:cNvSpPr>
          <p:nvPr/>
        </p:nvSpPr>
        <p:spPr>
          <a:xfrm xmlns:a="http://schemas.openxmlformats.org/drawingml/2006/main">
            <a:off x="144780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Hypothetical execution starts at next open.</a:t>
            </a:r>
          </a:p>
        </p:txBody>
      </p:sp>
      <p:sp>
        <p:nvSpPr>
          <p:cNvPr id="20" name="">
            <a:extLst xmlns:a="http://schemas.openxmlformats.org/drawingml/2006/main">
              <a:ext uri="{FF2B5EF4-FFF2-40B4-BE49-F238E27FC236}">
                <a16:creationId xmlns:a16="http://schemas.microsoft.com/office/drawing/2014/main" id="{281B4AEB-2167-481F-B931-52216F1E6AA7}"/>
              </a:ext>
            </a:extLst>
          </p:cNvPr>
          <p:cNvSpPr>
            <a:spLocks xmlns:a="http://schemas.openxmlformats.org/drawingml/2006/main" noGrp="1"/>
          </p:cNvSpPr>
          <p:nvPr/>
        </p:nvSpPr>
        <p:spPr>
          <a:xfrm xmlns:a="http://schemas.openxmlformats.org/drawingml/2006/main">
            <a:off x="619125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1" name="">
            <a:extLst xmlns:a="http://schemas.openxmlformats.org/drawingml/2006/main">
              <a:ext uri="{FF2B5EF4-FFF2-40B4-BE49-F238E27FC236}">
                <a16:creationId xmlns:a16="http://schemas.microsoft.com/office/drawing/2014/main" id="{7D3406D9-F776-4920-9266-2B787BF965B8}"/>
              </a:ext>
            </a:extLst>
          </p:cNvPr>
          <p:cNvSpPr>
            <a:spLocks xmlns:a="http://schemas.openxmlformats.org/drawingml/2006/main" noGrp="1"/>
          </p:cNvSpPr>
          <p:nvPr/>
        </p:nvSpPr>
        <p:spPr>
          <a:xfrm xmlns:a="http://schemas.openxmlformats.org/drawingml/2006/main">
            <a:off x="6457950" y="40957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The h3 label ends at close three sessions later.</a:t>
            </a:r>
          </a:p>
        </p:txBody>
      </p:sp>
      <p:sp>
        <p:nvSpPr>
          <p:cNvPr id="22" name="">
            <a:extLst xmlns:a="http://schemas.openxmlformats.org/drawingml/2006/main">
              <a:ext uri="{FF2B5EF4-FFF2-40B4-BE49-F238E27FC236}">
                <a16:creationId xmlns:a16="http://schemas.microsoft.com/office/drawing/2014/main" id="{CB32852C-17DB-43D3-8E45-23C9E202C4A0}"/>
              </a:ext>
            </a:extLst>
          </p:cNvPr>
          <p:cNvSpPr>
            <a:spLocks xmlns:a="http://schemas.openxmlformats.org/drawingml/2006/main" noGrp="1"/>
          </p:cNvSpPr>
          <p:nvPr/>
        </p:nvSpPr>
        <p:spPr>
          <a:xfrm xmlns:a="http://schemas.openxmlformats.org/drawingml/2006/main">
            <a:off x="6191250" y="4676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23" name="">
            <a:extLst xmlns:a="http://schemas.openxmlformats.org/drawingml/2006/main">
              <a:ext uri="{FF2B5EF4-FFF2-40B4-BE49-F238E27FC236}">
                <a16:creationId xmlns:a16="http://schemas.microsoft.com/office/drawing/2014/main" id="{F27329CE-0EE7-4C05-8862-07721824D2BB}"/>
              </a:ext>
            </a:extLst>
          </p:cNvPr>
          <p:cNvSpPr>
            <a:spLocks xmlns:a="http://schemas.openxmlformats.org/drawingml/2006/main" noGrp="1"/>
          </p:cNvSpPr>
          <p:nvPr/>
        </p:nvSpPr>
        <p:spPr>
          <a:xfrm xmlns:a="http://schemas.openxmlformats.org/drawingml/2006/main">
            <a:off x="6457950" y="466725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18373363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845378A-A60A-4947-B946-85F65174EED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9BF5798-0F4E-4EE9-A6E9-F697021FE4A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fold calendar makes the leakage rule visible</a:t>
            </a:r>
          </a:p>
        </p:txBody>
      </p:sp>
      <p:sp>
        <p:nvSpPr>
          <p:cNvPr id="3" name="">
            <a:extLst xmlns:a="http://schemas.openxmlformats.org/drawingml/2006/main">
              <a:ext uri="{FF2B5EF4-FFF2-40B4-BE49-F238E27FC236}">
                <a16:creationId xmlns:a16="http://schemas.microsoft.com/office/drawing/2014/main" id="{939FAD8D-858B-4A8E-9888-F2ECCBE9A1E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a94d19f00344773"/>
          <a:stretch xmlns:a="http://schemas.openxmlformats.org/drawingml/2006/main"/>
        </p:blipFill>
        <p:spPr>
          <a:xfrm xmlns:a="http://schemas.openxmlformats.org/drawingml/2006/main">
            <a:off x="838200" y="203835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20763E5-131B-4242-B7A0-33BD6D7B13C7}"/>
              </a:ext>
            </a:extLst>
          </p:cNvPr>
          <p:cNvSpPr>
            <a:spLocks xmlns:a="http://schemas.openxmlformats.org/drawingml/2006/main" noGrp="1"/>
          </p:cNvSpPr>
          <p:nvPr/>
        </p:nvSpPr>
        <p:spPr>
          <a:xfrm xmlns:a="http://schemas.openxmlformats.org/drawingml/2006/main">
            <a:off x="8629650" y="2133600"/>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it matters</a:t>
            </a:r>
          </a:p>
        </p:txBody>
      </p:sp>
      <p:sp>
        <p:nvSpPr>
          <p:cNvPr id="6" name="">
            <a:extLst xmlns:a="http://schemas.openxmlformats.org/drawingml/2006/main">
              <a:ext uri="{FF2B5EF4-FFF2-40B4-BE49-F238E27FC236}">
                <a16:creationId xmlns:a16="http://schemas.microsoft.com/office/drawing/2014/main" id="{DA308196-A671-4268-8689-386599760C6A}"/>
              </a:ext>
            </a:extLst>
          </p:cNvPr>
          <p:cNvSpPr>
            <a:spLocks xmlns:a="http://schemas.openxmlformats.org/drawingml/2006/main" noGrp="1"/>
          </p:cNvSpPr>
          <p:nvPr/>
        </p:nvSpPr>
        <p:spPr>
          <a:xfrm xmlns:a="http://schemas.openxmlformats.org/drawingml/2006/main">
            <a:off x="8629650" y="26289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187276660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B8230F1-10F4-430C-87F5-BFC67A8EE05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C5E0CEE-0EB1-4AB1-A534-8F4C73EB716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OHLCV adds information that close-to-close would discard</a:t>
            </a:r>
          </a:p>
        </p:txBody>
      </p:sp>
      <p:sp>
        <p:nvSpPr>
          <p:cNvPr id="3" name="">
            <a:extLst xmlns:a="http://schemas.openxmlformats.org/drawingml/2006/main">
              <a:ext uri="{FF2B5EF4-FFF2-40B4-BE49-F238E27FC236}">
                <a16:creationId xmlns:a16="http://schemas.microsoft.com/office/drawing/2014/main" id="{8028B47E-3B23-4666-ABC6-DF85FE76B55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e623fb0054b4f1a"/>
          <a:stretch xmlns:a="http://schemas.openxmlformats.org/drawingml/2006/main"/>
        </p:blipFill>
        <p:spPr>
          <a:xfrm xmlns:a="http://schemas.openxmlformats.org/drawingml/2006/main">
            <a:off x="742950" y="2257791"/>
            <a:ext cx="5810250" cy="3352067"/>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B3BD13B-B94C-4E48-A22C-5FF203D54184}"/>
              </a:ext>
            </a:extLst>
          </p:cNvPr>
          <p:cNvSpPr>
            <a:spLocks xmlns:a="http://schemas.openxmlformats.org/drawingml/2006/main" noGrp="1"/>
          </p:cNvSpPr>
          <p:nvPr/>
        </p:nvSpPr>
        <p:spPr>
          <a:xfrm xmlns:a="http://schemas.openxmlformats.org/drawingml/2006/main">
            <a:off x="7048500" y="2095500"/>
            <a:ext cx="3619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100" b="1" i="0">
                <a:solidFill>
                  <a:srgbClr val="000000"/>
                </a:solidFill>
              </a:defRPr>
            </a:pPr>
            <a:r>
              <a:rPr sz="2100" b="1" i="0">
                <a:solidFill>
                  <a:srgbClr val="000000"/>
                </a:solidFill>
              </a:rPr>
              <a:t>The first feature table is complete enough to model from.</a:t>
            </a:r>
          </a:p>
        </p:txBody>
      </p:sp>
      <p:sp>
        <p:nvSpPr>
          <p:cNvPr id="6" name="">
            <a:extLst xmlns:a="http://schemas.openxmlformats.org/drawingml/2006/main">
              <a:ext uri="{FF2B5EF4-FFF2-40B4-BE49-F238E27FC236}">
                <a16:creationId xmlns:a16="http://schemas.microsoft.com/office/drawing/2014/main" id="{BD50FDA9-2531-49C0-AF63-F1F20DB44181}"/>
              </a:ext>
            </a:extLst>
          </p:cNvPr>
          <p:cNvSpPr>
            <a:spLocks xmlns:a="http://schemas.openxmlformats.org/drawingml/2006/main" noGrp="1"/>
          </p:cNvSpPr>
          <p:nvPr/>
        </p:nvSpPr>
        <p:spPr>
          <a:xfrm xmlns:a="http://schemas.openxmlformats.org/drawingml/2006/main">
            <a:off x="7067550" y="3095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7" name="">
            <a:extLst xmlns:a="http://schemas.openxmlformats.org/drawingml/2006/main">
              <a:ext uri="{FF2B5EF4-FFF2-40B4-BE49-F238E27FC236}">
                <a16:creationId xmlns:a16="http://schemas.microsoft.com/office/drawing/2014/main" id="{1118BD3F-A287-446D-A23E-A06017C6D063}"/>
              </a:ext>
            </a:extLst>
          </p:cNvPr>
          <p:cNvSpPr>
            <a:spLocks xmlns:a="http://schemas.openxmlformats.org/drawingml/2006/main" noGrp="1"/>
          </p:cNvSpPr>
          <p:nvPr/>
        </p:nvSpPr>
        <p:spPr>
          <a:xfrm xmlns:a="http://schemas.openxmlformats.org/drawingml/2006/main">
            <a:off x="7334250" y="308610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
            <a:extLst xmlns:a="http://schemas.openxmlformats.org/drawingml/2006/main">
              <a:ext uri="{FF2B5EF4-FFF2-40B4-BE49-F238E27FC236}">
                <a16:creationId xmlns:a16="http://schemas.microsoft.com/office/drawing/2014/main" id="{EB1CED3C-B243-4128-8DA4-F39193489558}"/>
              </a:ext>
            </a:extLst>
          </p:cNvPr>
          <p:cNvSpPr>
            <a:spLocks xmlns:a="http://schemas.openxmlformats.org/drawingml/2006/main" noGrp="1"/>
          </p:cNvSpPr>
          <p:nvPr/>
        </p:nvSpPr>
        <p:spPr>
          <a:xfrm xmlns:a="http://schemas.openxmlformats.org/drawingml/2006/main">
            <a:off x="7067550" y="40671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i="0">
                <a:solidFill>
                  <a:srgbClr val="FF6B35"/>
                </a:solidFill>
              </a:defRPr>
            </a:pPr>
            <a:r>
              <a:rPr sz="1500" b="1" i="0">
                <a:solidFill>
                  <a:srgbClr val="FF6B35"/>
                </a:solidFill>
              </a:rPr>
              <a:t>-</a:t>
            </a:r>
          </a:p>
        </p:txBody>
      </p:sp>
      <p:sp>
        <p:nvSpPr>
          <p:cNvPr id="9" name="">
            <a:extLst xmlns:a="http://schemas.openxmlformats.org/drawingml/2006/main">
              <a:ext uri="{FF2B5EF4-FFF2-40B4-BE49-F238E27FC236}">
                <a16:creationId xmlns:a16="http://schemas.microsoft.com/office/drawing/2014/main" id="{BFFB5CCC-6A25-4E32-841A-82BF21F616EC}"/>
              </a:ext>
            </a:extLst>
          </p:cNvPr>
          <p:cNvSpPr>
            <a:spLocks xmlns:a="http://schemas.openxmlformats.org/drawingml/2006/main" noGrp="1"/>
          </p:cNvSpPr>
          <p:nvPr/>
        </p:nvSpPr>
        <p:spPr>
          <a:xfrm xmlns:a="http://schemas.openxmlformats.org/drawingml/2006/main">
            <a:off x="7334250" y="4057650"/>
            <a:ext cx="3448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91177974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20948D8-21F8-4FCD-AECD-AA880B1D3A6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B1EE0DF-BDCD-4B57-B66E-D03748811CD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h3 target is balanced enough for a first model test</a:t>
            </a:r>
          </a:p>
        </p:txBody>
      </p:sp>
      <p:sp>
        <p:nvSpPr>
          <p:cNvPr id="3" name="">
            <a:extLst xmlns:a="http://schemas.openxmlformats.org/drawingml/2006/main">
              <a:ext uri="{FF2B5EF4-FFF2-40B4-BE49-F238E27FC236}">
                <a16:creationId xmlns:a16="http://schemas.microsoft.com/office/drawing/2014/main" id="{CB00B4F7-D646-4E9D-9473-738539BDDE0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8e35880de154a8a"/>
          <a:stretch xmlns:a="http://schemas.openxmlformats.org/drawingml/2006/main"/>
        </p:blipFill>
        <p:spPr>
          <a:xfrm xmlns:a="http://schemas.openxmlformats.org/drawingml/2006/main">
            <a:off x="723900" y="2423716"/>
            <a:ext cx="5048250" cy="2734469"/>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67bbc1ca3e84add"/>
          <a:stretch xmlns:a="http://schemas.openxmlformats.org/drawingml/2006/main"/>
        </p:blipFill>
        <p:spPr>
          <a:xfrm xmlns:a="http://schemas.openxmlformats.org/drawingml/2006/main">
            <a:off x="6191250" y="2505075"/>
            <a:ext cx="5143500" cy="2571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E7B304E-A5C1-4B6F-8665-2BEA40C2ECC6}"/>
              </a:ext>
            </a:extLst>
          </p:cNvPr>
          <p:cNvSpPr>
            <a:spLocks xmlns:a="http://schemas.openxmlformats.org/drawingml/2006/main" noGrp="1"/>
          </p:cNvSpPr>
          <p:nvPr/>
        </p:nvSpPr>
        <p:spPr>
          <a:xfrm xmlns:a="http://schemas.openxmlformats.org/drawingml/2006/main">
            <a:off x="857250" y="5791200"/>
            <a:ext cx="1000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30219432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B162F28-5104-440C-9CE4-01225EF3523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F48B1AD-15DA-4BEF-BB58-A1691995D3D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label matches how an after-close system would trade</a:t>
            </a:r>
          </a:p>
        </p:txBody>
      </p:sp>
      <p:sp>
        <p:nvSpPr>
          <p:cNvPr id="3" name="">
            <a:extLst xmlns:a="http://schemas.openxmlformats.org/drawingml/2006/main">
              <a:ext uri="{FF2B5EF4-FFF2-40B4-BE49-F238E27FC236}">
                <a16:creationId xmlns:a16="http://schemas.microsoft.com/office/drawing/2014/main" id="{B98F5BE9-F138-4275-9DFA-2FB669EF21E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abc0dbb3b7c04c69"/>
          <a:stretch xmlns:a="http://schemas.openxmlformats.org/drawingml/2006/main"/>
        </p:blipFill>
        <p:spPr>
          <a:xfrm xmlns:a="http://schemas.openxmlformats.org/drawingml/2006/main">
            <a:off x="876300" y="2095500"/>
            <a:ext cx="7239000" cy="3619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93396A5-067A-4A2D-B4CC-5F539CD47328}"/>
              </a:ext>
            </a:extLst>
          </p:cNvPr>
          <p:cNvSpPr>
            <a:spLocks xmlns:a="http://schemas.openxmlformats.org/drawingml/2006/main" noGrp="1"/>
          </p:cNvSpPr>
          <p:nvPr/>
        </p:nvSpPr>
        <p:spPr>
          <a:xfrm xmlns:a="http://schemas.openxmlformats.org/drawingml/2006/main">
            <a:off x="86296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Read the markers left to right</a:t>
            </a:r>
          </a:p>
        </p:txBody>
      </p:sp>
      <p:sp>
        <p:nvSpPr>
          <p:cNvPr id="6" name="">
            <a:extLst xmlns:a="http://schemas.openxmlformats.org/drawingml/2006/main">
              <a:ext uri="{FF2B5EF4-FFF2-40B4-BE49-F238E27FC236}">
                <a16:creationId xmlns:a16="http://schemas.microsoft.com/office/drawing/2014/main" id="{8E761C31-C217-4C56-8EEF-47C9A82BE1AF}"/>
              </a:ext>
            </a:extLst>
          </p:cNvPr>
          <p:cNvSpPr>
            <a:spLocks xmlns:a="http://schemas.openxmlformats.org/drawingml/2006/main" noGrp="1"/>
          </p:cNvSpPr>
          <p:nvPr/>
        </p:nvSpPr>
        <p:spPr>
          <a:xfrm xmlns:a="http://schemas.openxmlformats.org/drawingml/2006/main">
            <a:off x="8629650" y="2667000"/>
            <a:ext cx="2476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21422581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FCDDD88-F573-4AE8-A876-0C0F693CC247}"/>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5D00195-DA8A-4E45-9375-FFA68902809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Feature strips give us a human audit of what the model will see</a:t>
            </a:r>
          </a:p>
        </p:txBody>
      </p:sp>
      <p:sp>
        <p:nvSpPr>
          <p:cNvPr id="3" name="">
            <a:extLst xmlns:a="http://schemas.openxmlformats.org/drawingml/2006/main">
              <a:ext uri="{FF2B5EF4-FFF2-40B4-BE49-F238E27FC236}">
                <a16:creationId xmlns:a16="http://schemas.microsoft.com/office/drawing/2014/main" id="{3E9D7C28-C59A-4DA4-AEBB-2857D1B5D3F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69d7a7cd07b4038"/>
          <a:stretch xmlns:a="http://schemas.openxmlformats.org/drawingml/2006/main"/>
        </p:blipFill>
        <p:spPr>
          <a:xfrm xmlns:a="http://schemas.openxmlformats.org/drawingml/2006/main">
            <a:off x="11703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66C4CA2-F9F6-41EB-969A-8AFDA5B8BCB4}"/>
              </a:ext>
            </a:extLst>
          </p:cNvPr>
          <p:cNvSpPr>
            <a:spLocks xmlns:a="http://schemas.openxmlformats.org/drawingml/2006/main" noGrp="1"/>
          </p:cNvSpPr>
          <p:nvPr/>
        </p:nvSpPr>
        <p:spPr>
          <a:xfrm xmlns:a="http://schemas.openxmlformats.org/drawingml/2006/main">
            <a:off x="8572500" y="2133600"/>
            <a:ext cx="2619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This is still pre-model evidence.</a:t>
            </a:r>
          </a:p>
        </p:txBody>
      </p:sp>
      <p:sp>
        <p:nvSpPr>
          <p:cNvPr id="6" name="">
            <a:extLst xmlns:a="http://schemas.openxmlformats.org/drawingml/2006/main">
              <a:ext uri="{FF2B5EF4-FFF2-40B4-BE49-F238E27FC236}">
                <a16:creationId xmlns:a16="http://schemas.microsoft.com/office/drawing/2014/main" id="{4AF8F483-373C-4C44-A737-C3326A3C6B47}"/>
              </a:ext>
            </a:extLst>
          </p:cNvPr>
          <p:cNvSpPr>
            <a:spLocks xmlns:a="http://schemas.openxmlformats.org/drawingml/2006/main" noGrp="1"/>
          </p:cNvSpPr>
          <p:nvPr/>
        </p:nvSpPr>
        <p:spPr>
          <a:xfrm xmlns:a="http://schemas.openxmlformats.org/drawingml/2006/main">
            <a:off x="8572500" y="2724150"/>
            <a:ext cx="2571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42974461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12E7A0E-4694-4076-9CE6-8441BB10DA9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B324BFE-B4B4-412B-A743-B737D149736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A univariate audit gives early clues without pretending to be a model</a:t>
            </a:r>
          </a:p>
        </p:txBody>
      </p:sp>
      <p:sp>
        <p:nvSpPr>
          <p:cNvPr id="3" name="">
            <a:extLst xmlns:a="http://schemas.openxmlformats.org/drawingml/2006/main">
              <a:ext uri="{FF2B5EF4-FFF2-40B4-BE49-F238E27FC236}">
                <a16:creationId xmlns:a16="http://schemas.microsoft.com/office/drawing/2014/main" id="{707059F2-2638-4124-B7D1-2A0DF9E1FA2A}"/>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7cb88a2704546ea"/>
          <a:stretch xmlns:a="http://schemas.openxmlformats.org/drawingml/2006/main"/>
        </p:blipFill>
        <p:spPr>
          <a:xfrm xmlns:a="http://schemas.openxmlformats.org/drawingml/2006/main">
            <a:off x="1208484" y="2038350"/>
            <a:ext cx="6346031"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7477263-6F30-418C-83FE-42ACE9F0EBC7}"/>
              </a:ext>
            </a:extLst>
          </p:cNvPr>
          <p:cNvSpPr>
            <a:spLocks xmlns:a="http://schemas.openxmlformats.org/drawingml/2006/main" noGrp="1"/>
          </p:cNvSpPr>
          <p:nvPr/>
        </p:nvSpPr>
        <p:spPr>
          <a:xfrm xmlns:a="http://schemas.openxmlformats.org/drawingml/2006/main">
            <a:off x="85534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222222"/>
                </a:solidFill>
              </a:defRPr>
            </a:pPr>
            <a:r>
              <a:rPr sz="1875" b="1" i="0">
                <a:solidFill>
                  <a:srgbClr val="222222"/>
                </a:solidFill>
              </a:rPr>
              <a:t>What to look for</a:t>
            </a:r>
          </a:p>
        </p:txBody>
      </p:sp>
      <p:sp>
        <p:nvSpPr>
          <p:cNvPr id="6" name="">
            <a:extLst xmlns:a="http://schemas.openxmlformats.org/drawingml/2006/main">
              <a:ext uri="{FF2B5EF4-FFF2-40B4-BE49-F238E27FC236}">
                <a16:creationId xmlns:a16="http://schemas.microsoft.com/office/drawing/2014/main" id="{162EDD20-1B29-4173-A706-DA7712CC921A}"/>
              </a:ext>
            </a:extLst>
          </p:cNvPr>
          <p:cNvSpPr>
            <a:spLocks xmlns:a="http://schemas.openxmlformats.org/drawingml/2006/main" noGrp="1"/>
          </p:cNvSpPr>
          <p:nvPr/>
        </p:nvSpPr>
        <p:spPr>
          <a:xfrm xmlns:a="http://schemas.openxmlformats.org/drawingml/2006/main">
            <a:off x="8553450" y="2667000"/>
            <a:ext cx="26860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166506804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AF821DE-EE5B-4F60-85CC-90DF22F78F5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4A29F68-E7B3-465F-9E39-B5ED433ED32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build tests a deliberately simple model</a:t>
            </a:r>
          </a:p>
        </p:txBody>
      </p:sp>
      <p:sp>
        <p:nvSpPr>
          <p:cNvPr id="3" name="">
            <a:extLst xmlns:a="http://schemas.openxmlformats.org/drawingml/2006/main">
              <a:ext uri="{FF2B5EF4-FFF2-40B4-BE49-F238E27FC236}">
                <a16:creationId xmlns:a16="http://schemas.microsoft.com/office/drawing/2014/main" id="{BC627824-B600-4478-9E3F-A47023F4E13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341A6A3-C67F-44C2-A13D-4D9F08B7AB56}"/>
              </a:ext>
            </a:extLst>
          </p:cNvPr>
          <p:cNvSpPr>
            <a:spLocks xmlns:a="http://schemas.openxmlformats.org/drawingml/2006/main" noGrp="1"/>
          </p:cNvSpPr>
          <p:nvPr/>
        </p:nvSpPr>
        <p:spPr>
          <a:xfrm xmlns:a="http://schemas.openxmlformats.org/drawingml/2006/main">
            <a:off x="876300" y="2152650"/>
            <a:ext cx="7429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
            <a:extLst xmlns:a="http://schemas.openxmlformats.org/drawingml/2006/main">
              <a:ext uri="{FF2B5EF4-FFF2-40B4-BE49-F238E27FC236}">
                <a16:creationId xmlns:a16="http://schemas.microsoft.com/office/drawing/2014/main" id="{73EE753E-E7B4-4A54-BD64-A03E260761F6}"/>
              </a:ext>
            </a:extLst>
          </p:cNvPr>
          <p:cNvSpPr>
            <a:spLocks xmlns:a="http://schemas.openxmlformats.org/drawingml/2006/main" noGrp="1"/>
          </p:cNvSpPr>
          <p:nvPr/>
        </p:nvSpPr>
        <p:spPr>
          <a:xfrm xmlns:a="http://schemas.openxmlformats.org/drawingml/2006/main">
            <a:off x="1181100" y="3438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0F311408-5AB4-41C3-94F7-AC1C22344F05}"/>
              </a:ext>
            </a:extLst>
          </p:cNvPr>
          <p:cNvSpPr>
            <a:spLocks xmlns:a="http://schemas.openxmlformats.org/drawingml/2006/main" noGrp="1"/>
          </p:cNvSpPr>
          <p:nvPr/>
        </p:nvSpPr>
        <p:spPr>
          <a:xfrm xmlns:a="http://schemas.openxmlformats.org/drawingml/2006/main">
            <a:off x="1447800" y="34290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Fit only on TRAIN rows using frozen transforms.</a:t>
            </a:r>
          </a:p>
        </p:txBody>
      </p:sp>
      <p:sp>
        <p:nvSpPr>
          <p:cNvPr id="7" name="">
            <a:extLst xmlns:a="http://schemas.openxmlformats.org/drawingml/2006/main">
              <a:ext uri="{FF2B5EF4-FFF2-40B4-BE49-F238E27FC236}">
                <a16:creationId xmlns:a16="http://schemas.microsoft.com/office/drawing/2014/main" id="{26DF8060-391F-45F5-B426-322E15F0FC11}"/>
              </a:ext>
            </a:extLst>
          </p:cNvPr>
          <p:cNvSpPr>
            <a:spLocks xmlns:a="http://schemas.openxmlformats.org/drawingml/2006/main" noGrp="1"/>
          </p:cNvSpPr>
          <p:nvPr/>
        </p:nvSpPr>
        <p:spPr>
          <a:xfrm xmlns:a="http://schemas.openxmlformats.org/drawingml/2006/main">
            <a:off x="1181100" y="41052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47130E93-D0FB-4963-B796-A7F64F3E8E54}"/>
              </a:ext>
            </a:extLst>
          </p:cNvPr>
          <p:cNvSpPr>
            <a:spLocks xmlns:a="http://schemas.openxmlformats.org/drawingml/2006/main" noGrp="1"/>
          </p:cNvSpPr>
          <p:nvPr/>
        </p:nvSpPr>
        <p:spPr>
          <a:xfrm xmlns:a="http://schemas.openxmlformats.org/drawingml/2006/main">
            <a:off x="1447800" y="40957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Predict OOS h3 probability after each close.</a:t>
            </a:r>
          </a:p>
        </p:txBody>
      </p:sp>
      <p:sp>
        <p:nvSpPr>
          <p:cNvPr id="9" name="">
            <a:extLst xmlns:a="http://schemas.openxmlformats.org/drawingml/2006/main">
              <a:ext uri="{FF2B5EF4-FFF2-40B4-BE49-F238E27FC236}">
                <a16:creationId xmlns:a16="http://schemas.microsoft.com/office/drawing/2014/main" id="{0B2213A7-C5A1-4791-A9B8-4C4BCB44E4BA}"/>
              </a:ext>
            </a:extLst>
          </p:cNvPr>
          <p:cNvSpPr>
            <a:spLocks xmlns:a="http://schemas.openxmlformats.org/drawingml/2006/main" noGrp="1"/>
          </p:cNvSpPr>
          <p:nvPr/>
        </p:nvSpPr>
        <p:spPr>
          <a:xfrm xmlns:a="http://schemas.openxmlformats.org/drawingml/2006/main">
            <a:off x="1181100" y="47720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064CE93F-953F-433F-ACCA-41B03022F4C1}"/>
              </a:ext>
            </a:extLst>
          </p:cNvPr>
          <p:cNvSpPr>
            <a:spLocks xmlns:a="http://schemas.openxmlformats.org/drawingml/2006/main" noGrp="1"/>
          </p:cNvSpPr>
          <p:nvPr/>
        </p:nvSpPr>
        <p:spPr>
          <a:xfrm xmlns:a="http://schemas.openxmlformats.org/drawingml/2006/main">
            <a:off x="1447800" y="476250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Replay long/flat decisions with fixed thresholds.</a:t>
            </a:r>
          </a:p>
        </p:txBody>
      </p:sp>
      <p:sp>
        <p:nvSpPr>
          <p:cNvPr id="11" name="">
            <a:extLst xmlns:a="http://schemas.openxmlformats.org/drawingml/2006/main">
              <a:ext uri="{FF2B5EF4-FFF2-40B4-BE49-F238E27FC236}">
                <a16:creationId xmlns:a16="http://schemas.microsoft.com/office/drawing/2014/main" id="{6FC4FBE6-A8FC-4267-8D18-60F25D7312A4}"/>
              </a:ext>
            </a:extLst>
          </p:cNvPr>
          <p:cNvSpPr>
            <a:spLocks xmlns:a="http://schemas.openxmlformats.org/drawingml/2006/main" noGrp="1"/>
          </p:cNvSpPr>
          <p:nvPr/>
        </p:nvSpPr>
        <p:spPr>
          <a:xfrm xmlns:a="http://schemas.openxmlformats.org/drawingml/2006/main">
            <a:off x="1181100" y="54387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B6B8696D-AD3B-4F7F-98C8-BA2A72BE1343}"/>
              </a:ext>
            </a:extLst>
          </p:cNvPr>
          <p:cNvSpPr>
            <a:spLocks xmlns:a="http://schemas.openxmlformats.org/drawingml/2006/main" noGrp="1"/>
          </p:cNvSpPr>
          <p:nvPr/>
        </p:nvSpPr>
        <p:spPr>
          <a:xfrm xmlns:a="http://schemas.openxmlformats.org/drawingml/2006/main">
            <a:off x="1447800" y="5429250"/>
            <a:ext cx="4686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probability traces, trade tapes, equity, and equal-weight basket hold.</a:t>
            </a:r>
          </a:p>
        </p:txBody>
      </p:sp>
      <p:sp>
        <p:nvSpPr>
          <p:cNvPr id="13" name="">
            <a:extLst xmlns:a="http://schemas.openxmlformats.org/drawingml/2006/main">
              <a:ext uri="{FF2B5EF4-FFF2-40B4-BE49-F238E27FC236}">
                <a16:creationId xmlns:a16="http://schemas.microsoft.com/office/drawing/2014/main" id="{88CC64C6-884F-4B65-B758-2488675CDD81}"/>
              </a:ext>
            </a:extLst>
          </p:cNvPr>
          <p:cNvSpPr>
            <a:spLocks xmlns:a="http://schemas.openxmlformats.org/drawingml/2006/main" noGrp="1"/>
          </p:cNvSpPr>
          <p:nvPr/>
        </p:nvSpPr>
        <p:spPr>
          <a:xfrm xmlns:a="http://schemas.openxmlformats.org/drawingml/2006/main">
            <a:off x="7734300" y="2247900"/>
            <a:ext cx="2971800" cy="297180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4" name="">
            <a:extLst xmlns:a="http://schemas.openxmlformats.org/drawingml/2006/main">
              <a:ext uri="{FF2B5EF4-FFF2-40B4-BE49-F238E27FC236}">
                <a16:creationId xmlns:a16="http://schemas.microsoft.com/office/drawing/2014/main" id="{0EAB80C4-CD71-417E-937A-B0324F66FDE7}"/>
              </a:ext>
            </a:extLst>
          </p:cNvPr>
          <p:cNvSpPr>
            <a:spLocks xmlns:a="http://schemas.openxmlformats.org/drawingml/2006/main" noGrp="1"/>
          </p:cNvSpPr>
          <p:nvPr/>
        </p:nvSpPr>
        <p:spPr>
          <a:xfrm xmlns:a="http://schemas.openxmlformats.org/drawingml/2006/main">
            <a:off x="8096250" y="2895600"/>
            <a:ext cx="2266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025" b="1" i="0">
                <a:solidFill>
                  <a:srgbClr val="222222"/>
                </a:solidFill>
              </a:defRPr>
            </a:pPr>
            <a:r>
              <a:rPr sz="2025" b="1" i="0">
                <a:solidFill>
                  <a:srgbClr val="222222"/>
                </a:solidFill>
              </a:rPr>
              <a:t>Still research only</a:t>
            </a:r>
          </a:p>
        </p:txBody>
      </p:sp>
      <p:sp>
        <p:nvSpPr>
          <p:cNvPr id="15" name="">
            <a:extLst xmlns:a="http://schemas.openxmlformats.org/drawingml/2006/main">
              <a:ext uri="{FF2B5EF4-FFF2-40B4-BE49-F238E27FC236}">
                <a16:creationId xmlns:a16="http://schemas.microsoft.com/office/drawing/2014/main" id="{471D9A0E-2AEA-4711-B3AB-A54563B1A821}"/>
              </a:ext>
            </a:extLst>
          </p:cNvPr>
          <p:cNvSpPr>
            <a:spLocks xmlns:a="http://schemas.openxmlformats.org/drawingml/2006/main" noGrp="1"/>
          </p:cNvSpPr>
          <p:nvPr/>
        </p:nvSpPr>
        <p:spPr>
          <a:xfrm xmlns:a="http://schemas.openxmlformats.org/drawingml/2006/main">
            <a:off x="8115300" y="3562350"/>
            <a:ext cx="223837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66299922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C629728-B132-470D-AA6D-DDA1AAFD63E3}"/>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3DB10655-50CC-453E-8CB8-5B14D0429367}"/>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deck now moves from table safety to model behavior</a:t>
            </a:r>
          </a:p>
        </p:txBody>
      </p:sp>
      <p:sp>
        <p:nvSpPr>
          <p:cNvPr id="3" name="">
            <a:extLst xmlns:a="http://schemas.openxmlformats.org/drawingml/2006/main">
              <a:ext uri="{FF2B5EF4-FFF2-40B4-BE49-F238E27FC236}">
                <a16:creationId xmlns:a16="http://schemas.microsoft.com/office/drawing/2014/main" id="{0F4B74D1-8BA8-404A-B98F-7E936C954A8B}"/>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4ED98B-908E-4FAE-8495-91560452D16C}"/>
              </a:ext>
            </a:extLst>
          </p:cNvPr>
          <p:cNvSpPr>
            <a:spLocks xmlns:a="http://schemas.openxmlformats.org/drawingml/2006/main" noGrp="1"/>
          </p:cNvSpPr>
          <p:nvPr/>
        </p:nvSpPr>
        <p:spPr>
          <a:xfrm xmlns:a="http://schemas.openxmlformats.org/drawingml/2006/main">
            <a:off x="723900" y="3467100"/>
            <a:ext cx="7334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
            <a:extLst xmlns:a="http://schemas.openxmlformats.org/drawingml/2006/main">
              <a:ext uri="{FF2B5EF4-FFF2-40B4-BE49-F238E27FC236}">
                <a16:creationId xmlns:a16="http://schemas.microsoft.com/office/drawing/2014/main" id="{35097D09-E45A-4E11-B7E0-EA8B73A4833D}"/>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588D3DF-DFD4-43F4-821D-3657164182DF}"/>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a:t>
            </a:r>
          </a:p>
        </p:txBody>
      </p:sp>
      <p:sp>
        <p:nvSpPr>
          <p:cNvPr id="7" name="">
            <a:extLst xmlns:a="http://schemas.openxmlformats.org/drawingml/2006/main">
              <a:ext uri="{FF2B5EF4-FFF2-40B4-BE49-F238E27FC236}">
                <a16:creationId xmlns:a16="http://schemas.microsoft.com/office/drawing/2014/main" id="{5D1C9277-E78E-45E7-A7B6-CC8E91C14C1E}"/>
              </a:ext>
            </a:extLst>
          </p:cNvPr>
          <p:cNvSpPr>
            <a:spLocks xmlns:a="http://schemas.openxmlformats.org/drawingml/2006/main" noGrp="1"/>
          </p:cNvSpPr>
          <p:nvPr/>
        </p:nvSpPr>
        <p:spPr>
          <a:xfrm xmlns:a="http://schemas.openxmlformats.org/drawingml/2006/main">
            <a:off x="9353550" y="30670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587224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6622E53-573D-4DCB-AF2A-B93A88820A3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2F8DA99-913F-453E-A6A1-46B4F5AC4FD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GLM baseline became defensive, not participatory</a:t>
            </a:r>
          </a:p>
        </p:txBody>
      </p:sp>
      <p:sp>
        <p:nvSpPr>
          <p:cNvPr id="3" name="">
            <a:extLst xmlns:a="http://schemas.openxmlformats.org/drawingml/2006/main">
              <a:ext uri="{FF2B5EF4-FFF2-40B4-BE49-F238E27FC236}">
                <a16:creationId xmlns:a16="http://schemas.microsoft.com/office/drawing/2014/main" id="{A7D9B78D-EFC4-4C03-8386-1F283B0BC2E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C616020-84E9-4957-8B34-5131520BB6E3}"/>
              </a:ext>
            </a:extLst>
          </p:cNvPr>
          <p:cNvSpPr>
            <a:spLocks xmlns:a="http://schemas.openxmlformats.org/drawingml/2006/main" noGrp="1"/>
          </p:cNvSpPr>
          <p:nvPr/>
        </p:nvSpPr>
        <p:spPr>
          <a:xfrm xmlns:a="http://schemas.openxmlformats.org/drawingml/2006/main">
            <a:off x="819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F2BF0E76-F4C9-4526-A1C7-1B2D04386098}"/>
              </a:ext>
            </a:extLst>
          </p:cNvPr>
          <p:cNvSpPr>
            <a:spLocks xmlns:a="http://schemas.openxmlformats.org/drawingml/2006/main" noGrp="1"/>
          </p:cNvSpPr>
          <p:nvPr/>
        </p:nvSpPr>
        <p:spPr>
          <a:xfrm xmlns:a="http://schemas.openxmlformats.org/drawingml/2006/main">
            <a:off x="990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ACTIVE</a:t>
            </a:r>
          </a:p>
        </p:txBody>
      </p:sp>
      <p:sp>
        <p:nvSpPr>
          <p:cNvPr id="6" name="">
            <a:extLst xmlns:a="http://schemas.openxmlformats.org/drawingml/2006/main">
              <a:ext uri="{FF2B5EF4-FFF2-40B4-BE49-F238E27FC236}">
                <a16:creationId xmlns:a16="http://schemas.microsoft.com/office/drawing/2014/main" id="{F411CD99-51DA-4BB8-AD2C-1F077DC6DED6}"/>
              </a:ext>
            </a:extLst>
          </p:cNvPr>
          <p:cNvSpPr>
            <a:spLocks xmlns:a="http://schemas.openxmlformats.org/drawingml/2006/main" noGrp="1"/>
          </p:cNvSpPr>
          <p:nvPr/>
        </p:nvSpPr>
        <p:spPr>
          <a:xfrm xmlns:a="http://schemas.openxmlformats.org/drawingml/2006/main">
            <a:off x="990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8.0%</a:t>
            </a:r>
          </a:p>
        </p:txBody>
      </p:sp>
      <p:sp>
        <p:nvSpPr>
          <p:cNvPr id="7" name="">
            <a:extLst xmlns:a="http://schemas.openxmlformats.org/drawingml/2006/main">
              <a:ext uri="{FF2B5EF4-FFF2-40B4-BE49-F238E27FC236}">
                <a16:creationId xmlns:a16="http://schemas.microsoft.com/office/drawing/2014/main" id="{42068B35-7F74-48F5-8D60-6C574ADED053}"/>
              </a:ext>
            </a:extLst>
          </p:cNvPr>
          <p:cNvSpPr>
            <a:spLocks xmlns:a="http://schemas.openxmlformats.org/drawingml/2006/main" noGrp="1"/>
          </p:cNvSpPr>
          <p:nvPr/>
        </p:nvSpPr>
        <p:spPr>
          <a:xfrm xmlns:a="http://schemas.openxmlformats.org/drawingml/2006/main">
            <a:off x="990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214.0%</a:t>
            </a:r>
          </a:p>
        </p:txBody>
      </p:sp>
      <p:sp>
        <p:nvSpPr>
          <p:cNvPr id="8" name="">
            <a:extLst xmlns:a="http://schemas.openxmlformats.org/drawingml/2006/main">
              <a:ext uri="{FF2B5EF4-FFF2-40B4-BE49-F238E27FC236}">
                <a16:creationId xmlns:a16="http://schemas.microsoft.com/office/drawing/2014/main" id="{899765F0-2D8C-4DEF-BFAD-010F4ED5A90A}"/>
              </a:ext>
            </a:extLst>
          </p:cNvPr>
          <p:cNvSpPr>
            <a:spLocks xmlns:a="http://schemas.openxmlformats.org/drawingml/2006/main" noGrp="1"/>
          </p:cNvSpPr>
          <p:nvPr/>
        </p:nvSpPr>
        <p:spPr>
          <a:xfrm xmlns:a="http://schemas.openxmlformats.org/drawingml/2006/main">
            <a:off x="35242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D96DFC72-BE3C-45F2-92E6-036D0D14896F}"/>
              </a:ext>
            </a:extLst>
          </p:cNvPr>
          <p:cNvSpPr>
            <a:spLocks xmlns:a="http://schemas.openxmlformats.org/drawingml/2006/main" noGrp="1"/>
          </p:cNvSpPr>
          <p:nvPr/>
        </p:nvSpPr>
        <p:spPr>
          <a:xfrm xmlns:a="http://schemas.openxmlformats.org/drawingml/2006/main">
            <a:off x="36957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0" name="">
            <a:extLst xmlns:a="http://schemas.openxmlformats.org/drawingml/2006/main">
              <a:ext uri="{FF2B5EF4-FFF2-40B4-BE49-F238E27FC236}">
                <a16:creationId xmlns:a16="http://schemas.microsoft.com/office/drawing/2014/main" id="{45F366B5-6EAA-4BCD-8C8D-36F43241D999}"/>
              </a:ext>
            </a:extLst>
          </p:cNvPr>
          <p:cNvSpPr>
            <a:spLocks xmlns:a="http://schemas.openxmlformats.org/drawingml/2006/main" noGrp="1"/>
          </p:cNvSpPr>
          <p:nvPr/>
        </p:nvSpPr>
        <p:spPr>
          <a:xfrm xmlns:a="http://schemas.openxmlformats.org/drawingml/2006/main">
            <a:off x="36957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27.6%</a:t>
            </a:r>
          </a:p>
        </p:txBody>
      </p:sp>
      <p:sp>
        <p:nvSpPr>
          <p:cNvPr id="11" name="">
            <a:extLst xmlns:a="http://schemas.openxmlformats.org/drawingml/2006/main">
              <a:ext uri="{FF2B5EF4-FFF2-40B4-BE49-F238E27FC236}">
                <a16:creationId xmlns:a16="http://schemas.microsoft.com/office/drawing/2014/main" id="{EF9583A2-E0BF-4FA0-9F1D-C112FC3E22ED}"/>
              </a:ext>
            </a:extLst>
          </p:cNvPr>
          <p:cNvSpPr>
            <a:spLocks xmlns:a="http://schemas.openxmlformats.org/drawingml/2006/main" noGrp="1"/>
          </p:cNvSpPr>
          <p:nvPr/>
        </p:nvSpPr>
        <p:spPr>
          <a:xfrm xmlns:a="http://schemas.openxmlformats.org/drawingml/2006/main">
            <a:off x="36957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Stayed flat 68.3% of decision rows.</a:t>
            </a:r>
          </a:p>
        </p:txBody>
      </p:sp>
      <p:sp>
        <p:nvSpPr>
          <p:cNvPr id="12" name="">
            <a:extLst xmlns:a="http://schemas.openxmlformats.org/drawingml/2006/main">
              <a:ext uri="{FF2B5EF4-FFF2-40B4-BE49-F238E27FC236}">
                <a16:creationId xmlns:a16="http://schemas.microsoft.com/office/drawing/2014/main" id="{2343CCB5-D9C2-48A1-9978-88AAB60AEBAA}"/>
              </a:ext>
            </a:extLst>
          </p:cNvPr>
          <p:cNvSpPr>
            <a:spLocks xmlns:a="http://schemas.openxmlformats.org/drawingml/2006/main" noGrp="1"/>
          </p:cNvSpPr>
          <p:nvPr/>
        </p:nvSpPr>
        <p:spPr>
          <a:xfrm xmlns:a="http://schemas.openxmlformats.org/drawingml/2006/main">
            <a:off x="62293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4AD4083E-2259-432A-8B06-0B6A2E233A95}"/>
              </a:ext>
            </a:extLst>
          </p:cNvPr>
          <p:cNvSpPr>
            <a:spLocks xmlns:a="http://schemas.openxmlformats.org/drawingml/2006/main" noGrp="1"/>
          </p:cNvSpPr>
          <p:nvPr/>
        </p:nvSpPr>
        <p:spPr>
          <a:xfrm xmlns:a="http://schemas.openxmlformats.org/drawingml/2006/main">
            <a:off x="64008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ACTIVE</a:t>
            </a:r>
          </a:p>
        </p:txBody>
      </p:sp>
      <p:sp>
        <p:nvSpPr>
          <p:cNvPr id="14" name="">
            <a:extLst xmlns:a="http://schemas.openxmlformats.org/drawingml/2006/main">
              <a:ext uri="{FF2B5EF4-FFF2-40B4-BE49-F238E27FC236}">
                <a16:creationId xmlns:a16="http://schemas.microsoft.com/office/drawing/2014/main" id="{A8E77677-AF11-484C-B690-A72394F79C2C}"/>
              </a:ext>
            </a:extLst>
          </p:cNvPr>
          <p:cNvSpPr>
            <a:spLocks xmlns:a="http://schemas.openxmlformats.org/drawingml/2006/main" noGrp="1"/>
          </p:cNvSpPr>
          <p:nvPr/>
        </p:nvSpPr>
        <p:spPr>
          <a:xfrm xmlns:a="http://schemas.openxmlformats.org/drawingml/2006/main">
            <a:off x="64008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-42.4%</a:t>
            </a:r>
          </a:p>
        </p:txBody>
      </p:sp>
      <p:sp>
        <p:nvSpPr>
          <p:cNvPr id="15" name="">
            <a:extLst xmlns:a="http://schemas.openxmlformats.org/drawingml/2006/main">
              <a:ext uri="{FF2B5EF4-FFF2-40B4-BE49-F238E27FC236}">
                <a16:creationId xmlns:a16="http://schemas.microsoft.com/office/drawing/2014/main" id="{0728017B-904E-4F80-BB19-D729072CD6DE}"/>
              </a:ext>
            </a:extLst>
          </p:cNvPr>
          <p:cNvSpPr>
            <a:spLocks xmlns:a="http://schemas.openxmlformats.org/drawingml/2006/main" noGrp="1"/>
          </p:cNvSpPr>
          <p:nvPr/>
        </p:nvSpPr>
        <p:spPr>
          <a:xfrm xmlns:a="http://schemas.openxmlformats.org/drawingml/2006/main">
            <a:off x="64008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-54.2%</a:t>
            </a:r>
          </a:p>
        </p:txBody>
      </p:sp>
      <p:sp>
        <p:nvSpPr>
          <p:cNvPr id="16" name="">
            <a:extLst xmlns:a="http://schemas.openxmlformats.org/drawingml/2006/main">
              <a:ext uri="{FF2B5EF4-FFF2-40B4-BE49-F238E27FC236}">
                <a16:creationId xmlns:a16="http://schemas.microsoft.com/office/drawing/2014/main" id="{E37B7735-2ABD-4288-B670-4CE7F90A7F34}"/>
              </a:ext>
            </a:extLst>
          </p:cNvPr>
          <p:cNvSpPr>
            <a:spLocks xmlns:a="http://schemas.openxmlformats.org/drawingml/2006/main" noGrp="1"/>
          </p:cNvSpPr>
          <p:nvPr/>
        </p:nvSpPr>
        <p:spPr>
          <a:xfrm xmlns:a="http://schemas.openxmlformats.org/drawingml/2006/main">
            <a:off x="89344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A11C02F7-E4A9-45EC-A5B2-741BF93B3649}"/>
              </a:ext>
            </a:extLst>
          </p:cNvPr>
          <p:cNvSpPr>
            <a:spLocks xmlns:a="http://schemas.openxmlformats.org/drawingml/2006/main" noGrp="1"/>
          </p:cNvSpPr>
          <p:nvPr/>
        </p:nvSpPr>
        <p:spPr>
          <a:xfrm xmlns:a="http://schemas.openxmlformats.org/drawingml/2006/main">
            <a:off x="91059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LEAKAGE AUDIT</a:t>
            </a:r>
          </a:p>
        </p:txBody>
      </p:sp>
      <p:sp>
        <p:nvSpPr>
          <p:cNvPr id="18" name="">
            <a:extLst xmlns:a="http://schemas.openxmlformats.org/drawingml/2006/main">
              <a:ext uri="{FF2B5EF4-FFF2-40B4-BE49-F238E27FC236}">
                <a16:creationId xmlns:a16="http://schemas.microsoft.com/office/drawing/2014/main" id="{4B3CC29E-A9AD-42BF-AE9B-625E7C8142DA}"/>
              </a:ext>
            </a:extLst>
          </p:cNvPr>
          <p:cNvSpPr>
            <a:spLocks xmlns:a="http://schemas.openxmlformats.org/drawingml/2006/main" noGrp="1"/>
          </p:cNvSpPr>
          <p:nvPr/>
        </p:nvSpPr>
        <p:spPr>
          <a:xfrm xmlns:a="http://schemas.openxmlformats.org/drawingml/2006/main">
            <a:off x="91059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9" name="">
            <a:extLst xmlns:a="http://schemas.openxmlformats.org/drawingml/2006/main">
              <a:ext uri="{FF2B5EF4-FFF2-40B4-BE49-F238E27FC236}">
                <a16:creationId xmlns:a16="http://schemas.microsoft.com/office/drawing/2014/main" id="{663BC2F7-679B-49EB-957C-087C95AE6AED}"/>
              </a:ext>
            </a:extLst>
          </p:cNvPr>
          <p:cNvSpPr>
            <a:spLocks xmlns:a="http://schemas.openxmlformats.org/drawingml/2006/main" noGrp="1"/>
          </p:cNvSpPr>
          <p:nvPr/>
        </p:nvSpPr>
        <p:spPr>
          <a:xfrm xmlns:a="http://schemas.openxmlformats.org/drawingml/2006/main">
            <a:off x="91059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TRAIN fit only; OOS prediction only.</a:t>
            </a:r>
          </a:p>
        </p:txBody>
      </p:sp>
      <p:sp>
        <p:nvSpPr>
          <p:cNvPr id="20" name="">
            <a:extLst xmlns:a="http://schemas.openxmlformats.org/drawingml/2006/main">
              <a:ext uri="{FF2B5EF4-FFF2-40B4-BE49-F238E27FC236}">
                <a16:creationId xmlns:a16="http://schemas.microsoft.com/office/drawing/2014/main" id="{76447F7B-3093-4369-94DA-19224F9D913F}"/>
              </a:ext>
            </a:extLst>
          </p:cNvPr>
          <p:cNvSpPr>
            <a:spLocks xmlns:a="http://schemas.openxmlformats.org/drawingml/2006/main" noGrp="1"/>
          </p:cNvSpPr>
          <p:nvPr/>
        </p:nvSpPr>
        <p:spPr>
          <a:xfrm xmlns:a="http://schemas.openxmlformats.org/drawingml/2006/main">
            <a:off x="1066800" y="4095750"/>
            <a:ext cx="9334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15043176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E13CFDE-48B4-4E96-B9CB-9DD6C6825D5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7D52A9A-D6A1-4E06-AC91-0648311B0C6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 shows the same participation problem we have been chasing</a:t>
            </a:r>
          </a:p>
        </p:txBody>
      </p:sp>
      <p:sp>
        <p:nvSpPr>
          <p:cNvPr id="3" name="">
            <a:extLst xmlns:a="http://schemas.openxmlformats.org/drawingml/2006/main">
              <a:ext uri="{FF2B5EF4-FFF2-40B4-BE49-F238E27FC236}">
                <a16:creationId xmlns:a16="http://schemas.microsoft.com/office/drawing/2014/main" id="{B882CA0A-2FB1-4488-A4B1-8D1C452F493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795d66439634ea1"/>
          <a:stretch xmlns:a="http://schemas.openxmlformats.org/drawingml/2006/main"/>
        </p:blipFill>
        <p:spPr>
          <a:xfrm xmlns:a="http://schemas.openxmlformats.org/drawingml/2006/main">
            <a:off x="868680" y="2000250"/>
            <a:ext cx="683514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CFF714D-2DFF-4207-9DC2-3F6FC4F773ED}"/>
              </a:ext>
            </a:extLst>
          </p:cNvPr>
          <p:cNvSpPr>
            <a:spLocks xmlns:a="http://schemas.openxmlformats.org/drawingml/2006/main" noGrp="1"/>
          </p:cNvSpPr>
          <p:nvPr/>
        </p:nvSpPr>
        <p:spPr>
          <a:xfrm xmlns:a="http://schemas.openxmlformats.org/drawingml/2006/main">
            <a:off x="8477250" y="21336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Interpretation</a:t>
            </a:r>
          </a:p>
        </p:txBody>
      </p:sp>
      <p:sp>
        <p:nvSpPr>
          <p:cNvPr id="6" name="">
            <a:extLst xmlns:a="http://schemas.openxmlformats.org/drawingml/2006/main">
              <a:ext uri="{FF2B5EF4-FFF2-40B4-BE49-F238E27FC236}">
                <a16:creationId xmlns:a16="http://schemas.microsoft.com/office/drawing/2014/main" id="{FECDFE2F-4995-4868-952F-AE40C5776BC0}"/>
              </a:ext>
            </a:extLst>
          </p:cNvPr>
          <p:cNvSpPr>
            <a:spLocks xmlns:a="http://schemas.openxmlformats.org/drawingml/2006/main" noGrp="1"/>
          </p:cNvSpPr>
          <p:nvPr/>
        </p:nvSpPr>
        <p:spPr>
          <a:xfrm xmlns:a="http://schemas.openxmlformats.org/drawingml/2006/main">
            <a:off x="8477250" y="268605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198070434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D72F51B-7EEA-43C3-8BED-F61DD66285F4}"/>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21ED5B3-ED71-4FC4-8B04-68D2EDC9232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trade tapes show what the policy actually did</a:t>
            </a:r>
          </a:p>
        </p:txBody>
      </p:sp>
      <p:sp>
        <p:nvSpPr>
          <p:cNvPr id="3" name="">
            <a:extLst xmlns:a="http://schemas.openxmlformats.org/drawingml/2006/main">
              <a:ext uri="{FF2B5EF4-FFF2-40B4-BE49-F238E27FC236}">
                <a16:creationId xmlns:a16="http://schemas.microsoft.com/office/drawing/2014/main" id="{B51D9F7F-08F0-4F2A-83F7-5435D2513145}"/>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e4d54e9d3964b7e"/>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35B7621-DAC7-4081-B785-4CFBAD41FBE0}"/>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this reveals</a:t>
            </a:r>
          </a:p>
        </p:txBody>
      </p:sp>
      <p:sp>
        <p:nvSpPr>
          <p:cNvPr id="6" name="">
            <a:extLst xmlns:a="http://schemas.openxmlformats.org/drawingml/2006/main">
              <a:ext uri="{FF2B5EF4-FFF2-40B4-BE49-F238E27FC236}">
                <a16:creationId xmlns:a16="http://schemas.microsoft.com/office/drawing/2014/main" id="{9FB37D3E-CF31-4706-888F-5B6BBDF8A78C}"/>
              </a:ext>
            </a:extLst>
          </p:cNvPr>
          <p:cNvSpPr>
            <a:spLocks xmlns:a="http://schemas.openxmlformats.org/drawingml/2006/main" noGrp="1"/>
          </p:cNvSpPr>
          <p:nvPr/>
        </p:nvSpPr>
        <p:spPr>
          <a:xfrm xmlns:a="http://schemas.openxmlformats.org/drawingml/2006/main">
            <a:off x="8477250" y="2705100"/>
            <a:ext cx="2571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22273005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FEED3E7-AFFA-4E94-B616-E9C09C2E296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B65618C-967F-472E-A5DE-60E9D9B8980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diagnostics point to threshold and calibration questions</a:t>
            </a:r>
          </a:p>
        </p:txBody>
      </p:sp>
      <p:sp>
        <p:nvSpPr>
          <p:cNvPr id="3" name="">
            <a:extLst xmlns:a="http://schemas.openxmlformats.org/drawingml/2006/main">
              <a:ext uri="{FF2B5EF4-FFF2-40B4-BE49-F238E27FC236}">
                <a16:creationId xmlns:a16="http://schemas.microsoft.com/office/drawing/2014/main" id="{42867275-D687-430C-AB49-CBB86B7A21A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cca46e5e38f4451"/>
          <a:stretch xmlns:a="http://schemas.openxmlformats.org/drawingml/2006/main"/>
        </p:blipFill>
        <p:spPr>
          <a:xfrm xmlns:a="http://schemas.openxmlformats.org/drawingml/2006/main">
            <a:off x="704850" y="2415381"/>
            <a:ext cx="4762500" cy="2579688"/>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6916902710fd42cf"/>
          <a:stretch xmlns:a="http://schemas.openxmlformats.org/drawingml/2006/main"/>
        </p:blipFill>
        <p:spPr>
          <a:xfrm xmlns:a="http://schemas.openxmlformats.org/drawingml/2006/main">
            <a:off x="5962650" y="2415381"/>
            <a:ext cx="4762500" cy="257968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EEA9D05-0E74-4878-9C5B-6F86DA7D5D9B}"/>
              </a:ext>
            </a:extLst>
          </p:cNvPr>
          <p:cNvSpPr>
            <a:spLocks xmlns:a="http://schemas.openxmlformats.org/drawingml/2006/main" noGrp="1"/>
          </p:cNvSpPr>
          <p:nvPr/>
        </p:nvSpPr>
        <p:spPr>
          <a:xfrm xmlns:a="http://schemas.openxmlformats.org/drawingml/2006/main">
            <a:off x="1104900" y="5753100"/>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31291541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1526E9B-1928-48CD-AF30-AB18D61F149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061CD17-56DD-4DE5-B09C-38FDE06DF15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coefficient audit keeps the simple model explainable</a:t>
            </a:r>
          </a:p>
        </p:txBody>
      </p:sp>
      <p:sp>
        <p:nvSpPr>
          <p:cNvPr id="3" name="">
            <a:extLst xmlns:a="http://schemas.openxmlformats.org/drawingml/2006/main">
              <a:ext uri="{FF2B5EF4-FFF2-40B4-BE49-F238E27FC236}">
                <a16:creationId xmlns:a16="http://schemas.microsoft.com/office/drawing/2014/main" id="{5080F24A-A294-4BE0-B47D-8678FD28769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e82a44d8fb04334"/>
          <a:stretch xmlns:a="http://schemas.openxmlformats.org/drawingml/2006/main"/>
        </p:blipFill>
        <p:spPr>
          <a:xfrm xmlns:a="http://schemas.openxmlformats.org/drawingml/2006/main">
            <a:off x="1371600" y="2038350"/>
            <a:ext cx="5448300" cy="3714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854CBB8-4034-4413-A12E-0B4B5D8AF208}"/>
              </a:ext>
            </a:extLst>
          </p:cNvPr>
          <p:cNvSpPr>
            <a:spLocks xmlns:a="http://schemas.openxmlformats.org/drawingml/2006/main" noGrp="1"/>
          </p:cNvSpPr>
          <p:nvPr/>
        </p:nvSpPr>
        <p:spPr>
          <a:xfrm xmlns:a="http://schemas.openxmlformats.org/drawingml/2006/main">
            <a:off x="80962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GLM still earns its keep</a:t>
            </a:r>
          </a:p>
        </p:txBody>
      </p:sp>
      <p:sp>
        <p:nvSpPr>
          <p:cNvPr id="6" name="">
            <a:extLst xmlns:a="http://schemas.openxmlformats.org/drawingml/2006/main">
              <a:ext uri="{FF2B5EF4-FFF2-40B4-BE49-F238E27FC236}">
                <a16:creationId xmlns:a16="http://schemas.microsoft.com/office/drawing/2014/main" id="{BDD40949-E366-4340-9A6F-7571E7A437FC}"/>
              </a:ext>
            </a:extLst>
          </p:cNvPr>
          <p:cNvSpPr>
            <a:spLocks xmlns:a="http://schemas.openxmlformats.org/drawingml/2006/main" noGrp="1"/>
          </p:cNvSpPr>
          <p:nvPr/>
        </p:nvSpPr>
        <p:spPr>
          <a:xfrm xmlns:a="http://schemas.openxmlformats.org/drawingml/2006/main">
            <a:off x="8096250" y="2743200"/>
            <a:ext cx="27241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145828338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2503439-6AF8-4144-A054-5DC0E55933A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9C86ACA-CF45-472D-AB62-5AB25C825FD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slice should improve the decision policy before model complexity</a:t>
            </a:r>
          </a:p>
        </p:txBody>
      </p:sp>
      <p:sp>
        <p:nvSpPr>
          <p:cNvPr id="3" name="">
            <a:extLst xmlns:a="http://schemas.openxmlformats.org/drawingml/2006/main">
              <a:ext uri="{FF2B5EF4-FFF2-40B4-BE49-F238E27FC236}">
                <a16:creationId xmlns:a16="http://schemas.microsoft.com/office/drawing/2014/main" id="{260ECC2D-D103-453E-A669-5A868333376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FDE57C-5A88-40E6-8908-DFF802A9E82B}"/>
              </a:ext>
            </a:extLst>
          </p:cNvPr>
          <p:cNvSpPr>
            <a:spLocks xmlns:a="http://schemas.openxmlformats.org/drawingml/2006/main" noGrp="1"/>
          </p:cNvSpPr>
          <p:nvPr/>
        </p:nvSpPr>
        <p:spPr>
          <a:xfrm xmlns:a="http://schemas.openxmlformats.org/drawingml/2006/main">
            <a:off x="876300" y="2133600"/>
            <a:ext cx="895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
            <a:extLst xmlns:a="http://schemas.openxmlformats.org/drawingml/2006/main">
              <a:ext uri="{FF2B5EF4-FFF2-40B4-BE49-F238E27FC236}">
                <a16:creationId xmlns:a16="http://schemas.microsoft.com/office/drawing/2014/main" id="{D6E8D722-E0F4-4170-B83B-1F81793C3713}"/>
              </a:ext>
            </a:extLst>
          </p:cNvPr>
          <p:cNvSpPr>
            <a:spLocks xmlns:a="http://schemas.openxmlformats.org/drawingml/2006/main" noGrp="1"/>
          </p:cNvSpPr>
          <p:nvPr/>
        </p:nvSpPr>
        <p:spPr>
          <a:xfrm xmlns:a="http://schemas.openxmlformats.org/drawingml/2006/main">
            <a:off x="1219200" y="34575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3A16A609-52D3-474D-8092-E5BA8D1E07C3}"/>
              </a:ext>
            </a:extLst>
          </p:cNvPr>
          <p:cNvSpPr>
            <a:spLocks xmlns:a="http://schemas.openxmlformats.org/drawingml/2006/main" noGrp="1"/>
          </p:cNvSpPr>
          <p:nvPr/>
        </p:nvSpPr>
        <p:spPr>
          <a:xfrm xmlns:a="http://schemas.openxmlformats.org/drawingml/2006/main">
            <a:off x="1485900" y="34480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Add TRAIN-only threshold selection or calibration before XGBoost.</a:t>
            </a:r>
          </a:p>
        </p:txBody>
      </p:sp>
      <p:sp>
        <p:nvSpPr>
          <p:cNvPr id="7" name="">
            <a:extLst xmlns:a="http://schemas.openxmlformats.org/drawingml/2006/main">
              <a:ext uri="{FF2B5EF4-FFF2-40B4-BE49-F238E27FC236}">
                <a16:creationId xmlns:a16="http://schemas.microsoft.com/office/drawing/2014/main" id="{33FB4B06-59E9-4BEC-A52D-3D6C8BC4F52C}"/>
              </a:ext>
            </a:extLst>
          </p:cNvPr>
          <p:cNvSpPr>
            <a:spLocks xmlns:a="http://schemas.openxmlformats.org/drawingml/2006/main" noGrp="1"/>
          </p:cNvSpPr>
          <p:nvPr/>
        </p:nvSpPr>
        <p:spPr>
          <a:xfrm xmlns:a="http://schemas.openxmlformats.org/drawingml/2006/main">
            <a:off x="12192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27A2BC6B-E11C-4E9B-A0D1-D6E61A79FC3E}"/>
              </a:ext>
            </a:extLst>
          </p:cNvPr>
          <p:cNvSpPr>
            <a:spLocks xmlns:a="http://schemas.openxmlformats.org/drawingml/2006/main" noGrp="1"/>
          </p:cNvSpPr>
          <p:nvPr/>
        </p:nvSpPr>
        <p:spPr>
          <a:xfrm xmlns:a="http://schemas.openxmlformats.org/drawingml/2006/main">
            <a:off x="1485900" y="41148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Compare fixed thresholds against a more permissive participation policy.</a:t>
            </a:r>
          </a:p>
        </p:txBody>
      </p:sp>
      <p:sp>
        <p:nvSpPr>
          <p:cNvPr id="9" name="">
            <a:extLst xmlns:a="http://schemas.openxmlformats.org/drawingml/2006/main">
              <a:ext uri="{FF2B5EF4-FFF2-40B4-BE49-F238E27FC236}">
                <a16:creationId xmlns:a16="http://schemas.microsoft.com/office/drawing/2014/main" id="{7E305870-BB2E-4082-86C2-E884A5C1936D}"/>
              </a:ext>
            </a:extLst>
          </p:cNvPr>
          <p:cNvSpPr>
            <a:spLocks xmlns:a="http://schemas.openxmlformats.org/drawingml/2006/main" noGrp="1"/>
          </p:cNvSpPr>
          <p:nvPr/>
        </p:nvSpPr>
        <p:spPr>
          <a:xfrm xmlns:a="http://schemas.openxmlformats.org/drawingml/2006/main">
            <a:off x="1219200" y="47910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18942E21-A45B-4F0F-8A77-44081A523EC9}"/>
              </a:ext>
            </a:extLst>
          </p:cNvPr>
          <p:cNvSpPr>
            <a:spLocks xmlns:a="http://schemas.openxmlformats.org/drawingml/2006/main" noGrp="1"/>
          </p:cNvSpPr>
          <p:nvPr/>
        </p:nvSpPr>
        <p:spPr>
          <a:xfrm xmlns:a="http://schemas.openxmlformats.org/drawingml/2006/main">
            <a:off x="1485900" y="478155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
            <a:extLst xmlns:a="http://schemas.openxmlformats.org/drawingml/2006/main">
              <a:ext uri="{FF2B5EF4-FFF2-40B4-BE49-F238E27FC236}">
                <a16:creationId xmlns:a16="http://schemas.microsoft.com/office/drawing/2014/main" id="{246DE046-A243-404D-9D41-D05216AC3C27}"/>
              </a:ext>
            </a:extLst>
          </p:cNvPr>
          <p:cNvSpPr>
            <a:spLocks xmlns:a="http://schemas.openxmlformats.org/drawingml/2006/main" noGrp="1"/>
          </p:cNvSpPr>
          <p:nvPr/>
        </p:nvSpPr>
        <p:spPr>
          <a:xfrm xmlns:a="http://schemas.openxmlformats.org/drawingml/2006/main">
            <a:off x="1219200" y="54578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7D7B55C1-EFAF-4F37-A42F-57610BA28B41}"/>
              </a:ext>
            </a:extLst>
          </p:cNvPr>
          <p:cNvSpPr>
            <a:spLocks xmlns:a="http://schemas.openxmlformats.org/drawingml/2006/main" noGrp="1"/>
          </p:cNvSpPr>
          <p:nvPr/>
        </p:nvSpPr>
        <p:spPr>
          <a:xfrm xmlns:a="http://schemas.openxmlformats.org/drawingml/2006/main">
            <a:off x="1485900" y="5448300"/>
            <a:ext cx="6591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8549182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1DF2860-9A6C-4C22-8058-1D5E86F80F62}"/>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D0EF0B53-96AF-431B-87A4-80DEE0CCE49D}"/>
              </a:ext>
            </a:extLst>
          </p:cNvPr>
          <p:cNvSpPr>
            <a:spLocks xmlns:a="http://schemas.openxmlformats.org/drawingml/2006/main" noGrp="1"/>
          </p:cNvSpPr>
          <p:nvPr/>
        </p:nvSpPr>
        <p:spPr>
          <a:xfrm xmlns:a="http://schemas.openxmlformats.org/drawingml/2006/main">
            <a:off x="685800" y="1600200"/>
            <a:ext cx="857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Threshold policy is the first decision layer to audit</a:t>
            </a:r>
          </a:p>
        </p:txBody>
      </p:sp>
      <p:sp>
        <p:nvSpPr>
          <p:cNvPr id="3" name="">
            <a:extLst xmlns:a="http://schemas.openxmlformats.org/drawingml/2006/main">
              <a:ext uri="{FF2B5EF4-FFF2-40B4-BE49-F238E27FC236}">
                <a16:creationId xmlns:a16="http://schemas.microsoft.com/office/drawing/2014/main" id="{1023CA16-245C-46B3-8AEF-9FD6D7E4CDC5}"/>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78EBCF-364B-4C5D-A1BD-EBACEAF1EAF0}"/>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
            <a:extLst xmlns:a="http://schemas.openxmlformats.org/drawingml/2006/main">
              <a:ext uri="{FF2B5EF4-FFF2-40B4-BE49-F238E27FC236}">
                <a16:creationId xmlns:a16="http://schemas.microsoft.com/office/drawing/2014/main" id="{B418070B-7904-4855-8824-3A886736038A}"/>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8BF3F91-8E34-4798-A064-8DE03E5261B9}"/>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ML-P1b</a:t>
            </a:r>
          </a:p>
        </p:txBody>
      </p:sp>
      <p:sp>
        <p:nvSpPr>
          <p:cNvPr id="7" name="">
            <a:extLst xmlns:a="http://schemas.openxmlformats.org/drawingml/2006/main">
              <a:ext uri="{FF2B5EF4-FFF2-40B4-BE49-F238E27FC236}">
                <a16:creationId xmlns:a16="http://schemas.microsoft.com/office/drawing/2014/main" id="{449CC3F3-2088-486A-B8FF-DA75A4DD9B35}"/>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4322501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BC4BA0E-07A6-4F16-B347-3896C01A3E8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A4CD531B-5430-4A59-A09C-4E7ACDC746A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participation policy helped, but not enough</a:t>
            </a:r>
          </a:p>
        </p:txBody>
      </p:sp>
      <p:sp>
        <p:nvSpPr>
          <p:cNvPr id="3" name="">
            <a:extLst xmlns:a="http://schemas.openxmlformats.org/drawingml/2006/main">
              <a:ext uri="{FF2B5EF4-FFF2-40B4-BE49-F238E27FC236}">
                <a16:creationId xmlns:a16="http://schemas.microsoft.com/office/drawing/2014/main" id="{A568F2E1-BF42-4D94-938B-50FD969430B0}"/>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73BB56-2211-4834-9A27-1F0BD273F402}"/>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D6DBBFDD-7365-4038-ABB3-8B22C915A2AB}"/>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POLICIES TESTED</a:t>
            </a:r>
          </a:p>
        </p:txBody>
      </p:sp>
      <p:sp>
        <p:nvSpPr>
          <p:cNvPr id="6" name="">
            <a:extLst xmlns:a="http://schemas.openxmlformats.org/drawingml/2006/main">
              <a:ext uri="{FF2B5EF4-FFF2-40B4-BE49-F238E27FC236}">
                <a16:creationId xmlns:a16="http://schemas.microsoft.com/office/drawing/2014/main" id="{5B322A78-5610-473D-83C3-48C3BBCD2B09}"/>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a:t>
            </a:r>
          </a:p>
        </p:txBody>
      </p:sp>
      <p:sp>
        <p:nvSpPr>
          <p:cNvPr id="7" name="">
            <a:extLst xmlns:a="http://schemas.openxmlformats.org/drawingml/2006/main">
              <a:ext uri="{FF2B5EF4-FFF2-40B4-BE49-F238E27FC236}">
                <a16:creationId xmlns:a16="http://schemas.microsoft.com/office/drawing/2014/main" id="{B68CE6D2-8024-4D27-B6B1-79C2EA76E9DF}"/>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TRAIN quantile, and TRAIN forward-return grid.</a:t>
            </a:r>
          </a:p>
        </p:txBody>
      </p:sp>
      <p:sp>
        <p:nvSpPr>
          <p:cNvPr id="8" name="">
            <a:extLst xmlns:a="http://schemas.openxmlformats.org/drawingml/2006/main">
              <a:ext uri="{FF2B5EF4-FFF2-40B4-BE49-F238E27FC236}">
                <a16:creationId xmlns:a16="http://schemas.microsoft.com/office/drawing/2014/main" id="{67500080-6EB3-49D1-9DFE-9D4FE39E66DA}"/>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188D230A-A601-435B-880C-B067460CCA16}"/>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10" name="">
            <a:extLst xmlns:a="http://schemas.openxmlformats.org/drawingml/2006/main">
              <a:ext uri="{FF2B5EF4-FFF2-40B4-BE49-F238E27FC236}">
                <a16:creationId xmlns:a16="http://schemas.microsoft.com/office/drawing/2014/main" id="{EAAA249D-780D-4EA1-9496-CB9988E0A3CB}"/>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11" name="">
            <a:extLst xmlns:a="http://schemas.openxmlformats.org/drawingml/2006/main">
              <a:ext uri="{FF2B5EF4-FFF2-40B4-BE49-F238E27FC236}">
                <a16:creationId xmlns:a16="http://schemas.microsoft.com/office/drawing/2014/main" id="{8FDF15AE-E9FB-4DB2-9167-795ACD557CD3}"/>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and policy selection stay inside TRAIN.</a:t>
            </a:r>
          </a:p>
        </p:txBody>
      </p:sp>
      <p:sp>
        <p:nvSpPr>
          <p:cNvPr id="12" name="">
            <a:extLst xmlns:a="http://schemas.openxmlformats.org/drawingml/2006/main">
              <a:ext uri="{FF2B5EF4-FFF2-40B4-BE49-F238E27FC236}">
                <a16:creationId xmlns:a16="http://schemas.microsoft.com/office/drawing/2014/main" id="{40DBC703-F4D3-43D2-9382-4D09CE5AB13B}"/>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D387E0DB-D784-4BE0-9B41-D6195F2F42BD}"/>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GRID RETURN</a:t>
            </a:r>
          </a:p>
        </p:txBody>
      </p:sp>
      <p:sp>
        <p:nvSpPr>
          <p:cNvPr id="14" name="">
            <a:extLst xmlns:a="http://schemas.openxmlformats.org/drawingml/2006/main">
              <a:ext uri="{FF2B5EF4-FFF2-40B4-BE49-F238E27FC236}">
                <a16:creationId xmlns:a16="http://schemas.microsoft.com/office/drawing/2014/main" id="{B46847AD-88F1-4EA7-9F16-26E0EB4FF39B}"/>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9AE69048-AEFA-43BA-B043-861E04992505}"/>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8.0%; basket hold was 214.0%.</a:t>
            </a:r>
          </a:p>
        </p:txBody>
      </p:sp>
      <p:sp>
        <p:nvSpPr>
          <p:cNvPr id="16" name="">
            <a:extLst xmlns:a="http://schemas.openxmlformats.org/drawingml/2006/main">
              <a:ext uri="{FF2B5EF4-FFF2-40B4-BE49-F238E27FC236}">
                <a16:creationId xmlns:a16="http://schemas.microsoft.com/office/drawing/2014/main" id="{DE02208A-BB7A-4D62-8F31-ABC13660ED65}"/>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0A7B614C-BA3E-40FA-B2B3-862C207E36E0}"/>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QUANTILE RETURN</a:t>
            </a:r>
          </a:p>
        </p:txBody>
      </p:sp>
      <p:sp>
        <p:nvSpPr>
          <p:cNvPr id="18" name="">
            <a:extLst xmlns:a="http://schemas.openxmlformats.org/drawingml/2006/main">
              <a:ext uri="{FF2B5EF4-FFF2-40B4-BE49-F238E27FC236}">
                <a16:creationId xmlns:a16="http://schemas.microsoft.com/office/drawing/2014/main" id="{71D0DB1F-6512-4A4D-8806-A608285ED37B}"/>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-39.5%</a:t>
            </a:r>
          </a:p>
        </p:txBody>
      </p:sp>
      <p:sp>
        <p:nvSpPr>
          <p:cNvPr id="19" name="">
            <a:extLst xmlns:a="http://schemas.openxmlformats.org/drawingml/2006/main">
              <a:ext uri="{FF2B5EF4-FFF2-40B4-BE49-F238E27FC236}">
                <a16:creationId xmlns:a16="http://schemas.microsoft.com/office/drawing/2014/main" id="{5AC4CA38-76DF-4ED4-B373-3FCA15655C93}"/>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was -42.4%; basket hold was -54.2%.</a:t>
            </a:r>
          </a:p>
        </p:txBody>
      </p:sp>
      <p:sp>
        <p:nvSpPr>
          <p:cNvPr id="20" name="">
            <a:extLst xmlns:a="http://schemas.openxmlformats.org/drawingml/2006/main">
              <a:ext uri="{FF2B5EF4-FFF2-40B4-BE49-F238E27FC236}">
                <a16:creationId xmlns:a16="http://schemas.microsoft.com/office/drawing/2014/main" id="{073ECB96-54F1-45CA-8C29-387350C1C500}"/>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42573808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9EFFC45-F32B-4BD7-8C00-8D434861A29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3054246D-7861-4E92-B901-1AE6B4D26AB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a better but still underpowered rally response</a:t>
            </a:r>
          </a:p>
        </p:txBody>
      </p:sp>
      <p:sp>
        <p:nvSpPr>
          <p:cNvPr id="3" name="">
            <a:extLst xmlns:a="http://schemas.openxmlformats.org/drawingml/2006/main">
              <a:ext uri="{FF2B5EF4-FFF2-40B4-BE49-F238E27FC236}">
                <a16:creationId xmlns:a16="http://schemas.microsoft.com/office/drawing/2014/main" id="{2531E7BB-BC94-4C57-BBF4-956B03EE247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f2294088a574f10"/>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8E957A5-CA97-43EF-BCD9-57AB511A2587}"/>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E913A0C4-D979-4B11-AFA5-69A7A9A06E75}"/>
              </a:ext>
            </a:extLst>
          </p:cNvPr>
          <p:cNvSpPr>
            <a:spLocks xmlns:a="http://schemas.openxmlformats.org/drawingml/2006/main" noGrp="1"/>
          </p:cNvSpPr>
          <p:nvPr/>
        </p:nvSpPr>
        <p:spPr>
          <a:xfrm xmlns:a="http://schemas.openxmlformats.org/drawingml/2006/main">
            <a:off x="8477250" y="2705100"/>
            <a:ext cx="27051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120310516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3FD0388-00B2-44BF-AB24-26C297B7A1E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FC38F1A-6111-48E5-9864-E0ED2574C2D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thresholds explain the behavior change</a:t>
            </a:r>
          </a:p>
        </p:txBody>
      </p:sp>
      <p:sp>
        <p:nvSpPr>
          <p:cNvPr id="3" name="">
            <a:extLst xmlns:a="http://schemas.openxmlformats.org/drawingml/2006/main">
              <a:ext uri="{FF2B5EF4-FFF2-40B4-BE49-F238E27FC236}">
                <a16:creationId xmlns:a16="http://schemas.microsoft.com/office/drawing/2014/main" id="{BCE33EE4-9CBD-44D4-8F7C-57E5E88C7D6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84addaa4b2b4307"/>
          <a:stretch xmlns:a="http://schemas.openxmlformats.org/drawingml/2006/main"/>
        </p:blipFill>
        <p:spPr>
          <a:xfrm xmlns:a="http://schemas.openxmlformats.org/drawingml/2006/main">
            <a:off x="704850" y="2423013"/>
            <a:ext cx="4762500" cy="2564423"/>
          </a:xfrm>
          <a:prstGeom xmlns:a="http://schemas.openxmlformats.org/drawingml/2006/main" prst="rect">
            <a:avLst/>
          </a:prstGeom>
        </p:spPr>
      </p:pic>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b808c91afa9e4288"/>
          <a:stretch xmlns:a="http://schemas.openxmlformats.org/drawingml/2006/main"/>
        </p:blipFill>
        <p:spPr>
          <a:xfrm xmlns:a="http://schemas.openxmlformats.org/drawingml/2006/main">
            <a:off x="5962650" y="2382308"/>
            <a:ext cx="4762500" cy="2645833"/>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87FA1E5-4B77-4C3D-A24F-1F6EE62AD95A}"/>
              </a:ext>
            </a:extLst>
          </p:cNvPr>
          <p:cNvSpPr>
            <a:spLocks xmlns:a="http://schemas.openxmlformats.org/drawingml/2006/main" noGrp="1"/>
          </p:cNvSpPr>
          <p:nvPr/>
        </p:nvSpPr>
        <p:spPr>
          <a:xfrm xmlns:a="http://schemas.openxmlformats.org/drawingml/2006/main">
            <a:off x="1104900" y="5753100"/>
            <a:ext cx="933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92792789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AE726CF-30AD-4A69-80C3-293E0E83BC4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6B84ED7E-1F84-4C03-82A0-5BDB1D13530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show that the model rarely loved the rally early enough</a:t>
            </a:r>
          </a:p>
        </p:txBody>
      </p:sp>
      <p:sp>
        <p:nvSpPr>
          <p:cNvPr id="3" name="">
            <a:extLst xmlns:a="http://schemas.openxmlformats.org/drawingml/2006/main">
              <a:ext uri="{FF2B5EF4-FFF2-40B4-BE49-F238E27FC236}">
                <a16:creationId xmlns:a16="http://schemas.microsoft.com/office/drawing/2014/main" id="{F01AECB8-2309-4225-B643-C6D33EA290C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d70cf3b1fadf42ed"/>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26B9C9A-3994-4583-BDA5-6670B84E5BBD}"/>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matters</a:t>
            </a:r>
          </a:p>
        </p:txBody>
      </p:sp>
      <p:sp>
        <p:nvSpPr>
          <p:cNvPr id="6" name="">
            <a:extLst xmlns:a="http://schemas.openxmlformats.org/drawingml/2006/main">
              <a:ext uri="{FF2B5EF4-FFF2-40B4-BE49-F238E27FC236}">
                <a16:creationId xmlns:a16="http://schemas.microsoft.com/office/drawing/2014/main" id="{107B6D2E-7E37-4D3C-A051-D984A4C6D764}"/>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151265455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CABB3BF-0121-415E-A731-D97664DF1CAE}"/>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5BF59D3-9AFA-4F2A-AA51-83FED8829DCD}"/>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slice should test probability quality, not just more exposure</a:t>
            </a:r>
          </a:p>
        </p:txBody>
      </p:sp>
      <p:sp>
        <p:nvSpPr>
          <p:cNvPr id="3" name="">
            <a:extLst xmlns:a="http://schemas.openxmlformats.org/drawingml/2006/main">
              <a:ext uri="{FF2B5EF4-FFF2-40B4-BE49-F238E27FC236}">
                <a16:creationId xmlns:a16="http://schemas.microsoft.com/office/drawing/2014/main" id="{E93A0015-97EA-4F58-B685-5E4A67882A1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F44E798-F6AD-4019-9939-F9FD32324B75}"/>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
            <a:extLst xmlns:a="http://schemas.openxmlformats.org/drawingml/2006/main">
              <a:ext uri="{FF2B5EF4-FFF2-40B4-BE49-F238E27FC236}">
                <a16:creationId xmlns:a16="http://schemas.microsoft.com/office/drawing/2014/main" id="{F2C1C8E4-E07C-4E7E-A982-766F160D0404}"/>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5F7879A0-40D9-44D0-983D-34F616C93D50}"/>
              </a:ext>
            </a:extLst>
          </p:cNvPr>
          <p:cNvSpPr>
            <a:spLocks xmlns:a="http://schemas.openxmlformats.org/drawingml/2006/main" noGrp="1"/>
          </p:cNvSpPr>
          <p:nvPr/>
        </p:nvSpPr>
        <p:spPr>
          <a:xfrm xmlns:a="http://schemas.openxmlformats.org/drawingml/2006/main">
            <a:off x="1485900" y="35623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
            <a:extLst xmlns:a="http://schemas.openxmlformats.org/drawingml/2006/main">
              <a:ext uri="{FF2B5EF4-FFF2-40B4-BE49-F238E27FC236}">
                <a16:creationId xmlns:a16="http://schemas.microsoft.com/office/drawing/2014/main" id="{E854EBE8-5B98-4F08-BA58-0A3F471DF2EB}"/>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EAA9297D-5E1C-4127-9C95-8D9B3EF1E463}"/>
              </a:ext>
            </a:extLst>
          </p:cNvPr>
          <p:cNvSpPr>
            <a:spLocks xmlns:a="http://schemas.openxmlformats.org/drawingml/2006/main" noGrp="1"/>
          </p:cNvSpPr>
          <p:nvPr/>
        </p:nvSpPr>
        <p:spPr>
          <a:xfrm xmlns:a="http://schemas.openxmlformats.org/drawingml/2006/main">
            <a:off x="1485900" y="42291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
            <a:extLst xmlns:a="http://schemas.openxmlformats.org/drawingml/2006/main">
              <a:ext uri="{FF2B5EF4-FFF2-40B4-BE49-F238E27FC236}">
                <a16:creationId xmlns:a16="http://schemas.microsoft.com/office/drawing/2014/main" id="{A2DA713A-1F17-449A-9C7A-97835646EAEC}"/>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57A95553-9C9A-49C8-859B-40CB14CAD8BC}"/>
              </a:ext>
            </a:extLst>
          </p:cNvPr>
          <p:cNvSpPr>
            <a:spLocks xmlns:a="http://schemas.openxmlformats.org/drawingml/2006/main" noGrp="1"/>
          </p:cNvSpPr>
          <p:nvPr/>
        </p:nvSpPr>
        <p:spPr>
          <a:xfrm xmlns:a="http://schemas.openxmlformats.org/drawingml/2006/main">
            <a:off x="1485900" y="489585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
            <a:extLst xmlns:a="http://schemas.openxmlformats.org/drawingml/2006/main">
              <a:ext uri="{FF2B5EF4-FFF2-40B4-BE49-F238E27FC236}">
                <a16:creationId xmlns:a16="http://schemas.microsoft.com/office/drawing/2014/main" id="{372112F6-D798-444D-BDA0-F3EB33967B2A}"/>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BC6D61D4-E805-4E05-8AA1-F74C9A87FAC6}"/>
              </a:ext>
            </a:extLst>
          </p:cNvPr>
          <p:cNvSpPr>
            <a:spLocks xmlns:a="http://schemas.openxmlformats.org/drawingml/2006/main" noGrp="1"/>
          </p:cNvSpPr>
          <p:nvPr/>
        </p:nvSpPr>
        <p:spPr>
          <a:xfrm xmlns:a="http://schemas.openxmlformats.org/drawingml/2006/main">
            <a:off x="1485900" y="5562600"/>
            <a:ext cx="697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25652078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39ECA5A-D3FD-4ECE-ADA5-7C31CDAC8D87}"/>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5AB100CF-CBC2-418B-A9C7-5A48DF701048}"/>
              </a:ext>
            </a:extLst>
          </p:cNvPr>
          <p:cNvSpPr>
            <a:spLocks xmlns:a="http://schemas.openxmlformats.org/drawingml/2006/main" noGrp="1"/>
          </p:cNvSpPr>
          <p:nvPr/>
        </p:nvSpPr>
        <p:spPr>
          <a:xfrm xmlns:a="http://schemas.openxmlformats.org/drawingml/2006/main">
            <a:off x="685800" y="1600200"/>
            <a:ext cx="8953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i="0">
                <a:solidFill>
                  <a:srgbClr val="000000"/>
                </a:solidFill>
              </a:defRPr>
            </a:pPr>
            <a:r>
              <a:rPr sz="3900" b="1" i="0">
                <a:solidFill>
                  <a:srgbClr val="000000"/>
                </a:solidFill>
              </a:rPr>
              <a:t>The next question is whether the label itself is too blunt</a:t>
            </a:r>
          </a:p>
        </p:txBody>
      </p:sp>
      <p:sp>
        <p:nvSpPr>
          <p:cNvPr id="3" name="">
            <a:extLst xmlns:a="http://schemas.openxmlformats.org/drawingml/2006/main">
              <a:ext uri="{FF2B5EF4-FFF2-40B4-BE49-F238E27FC236}">
                <a16:creationId xmlns:a16="http://schemas.microsoft.com/office/drawing/2014/main" id="{0BE2B5F8-37FF-4205-BF7C-B03C4C686CCE}"/>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28AF09-A74D-4D72-BA15-AA0EED9A302D}"/>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ML-P1c compares h1, h3, and h5 next-open labels while keeping the GLM, feature set, TRAIN-only policy selection, and continuous annual replay surface fixed.</a:t>
            </a:r>
          </a:p>
        </p:txBody>
      </p:sp>
      <p:sp>
        <p:nvSpPr>
          <p:cNvPr id="5" name="">
            <a:extLst xmlns:a="http://schemas.openxmlformats.org/drawingml/2006/main">
              <a:ext uri="{FF2B5EF4-FFF2-40B4-BE49-F238E27FC236}">
                <a16:creationId xmlns:a16="http://schemas.microsoft.com/office/drawing/2014/main" id="{FAE4C8FA-6A63-4AFC-9EF4-0AC6AC41570B}"/>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0AD91B-BF9A-493B-A460-3551C63C50E3}"/>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ML-P1c</a:t>
            </a:r>
          </a:p>
        </p:txBody>
      </p:sp>
      <p:sp>
        <p:nvSpPr>
          <p:cNvPr id="7" name="">
            <a:extLst xmlns:a="http://schemas.openxmlformats.org/drawingml/2006/main">
              <a:ext uri="{FF2B5EF4-FFF2-40B4-BE49-F238E27FC236}">
                <a16:creationId xmlns:a16="http://schemas.microsoft.com/office/drawing/2014/main" id="{0FD7B5FB-1B13-49B1-B645-2682C07EA205}"/>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Label horizon</a:t>
            </a:r>
          </a:p>
        </p:txBody>
      </p:sp>
    </p:spTree>
    <p:extLst>
      <p:ext uri="{BB962C8B-B14F-4D97-AF65-F5344CB8AC3E}">
        <p14:creationId xmlns:p14="http://schemas.microsoft.com/office/powerpoint/2010/main" val="3141390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EECC5C1-BE7D-4C42-BC29-DBD1AAB5A69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B5FCCD70-8265-44E1-AD16-6AF32F59ACF8}"/>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one-day label improved participation, but not enough</a:t>
            </a:r>
          </a:p>
        </p:txBody>
      </p:sp>
      <p:sp>
        <p:nvSpPr>
          <p:cNvPr id="3" name="">
            <a:extLst xmlns:a="http://schemas.openxmlformats.org/drawingml/2006/main">
              <a:ext uri="{FF2B5EF4-FFF2-40B4-BE49-F238E27FC236}">
                <a16:creationId xmlns:a16="http://schemas.microsoft.com/office/drawing/2014/main" id="{F25EF054-E7E9-4B5E-B6CA-88A8688F542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ED6D2B-CC3A-43A2-8A4D-6341C4F1698C}"/>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31D2AD61-1B55-42FA-9065-C8C288EFCE87}"/>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CB3914D4-0C45-496A-BCDC-E38B6A5841ED}"/>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094E9D71-C81E-46E9-9069-B0277DFF5C02}"/>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labels, and policy selection stay inside TRAIN.</a:t>
            </a:r>
          </a:p>
        </p:txBody>
      </p:sp>
      <p:sp>
        <p:nvSpPr>
          <p:cNvPr id="8" name="">
            <a:extLst xmlns:a="http://schemas.openxmlformats.org/drawingml/2006/main">
              <a:ext uri="{FF2B5EF4-FFF2-40B4-BE49-F238E27FC236}">
                <a16:creationId xmlns:a16="http://schemas.microsoft.com/office/drawing/2014/main" id="{BCFD5651-4C0E-461C-B841-6CDA6EE6B6D7}"/>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8795E83-1D33-4C68-8C32-04D50D36273C}"/>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H1 RETURN</a:t>
            </a:r>
          </a:p>
        </p:txBody>
      </p:sp>
      <p:sp>
        <p:nvSpPr>
          <p:cNvPr id="10" name="">
            <a:extLst xmlns:a="http://schemas.openxmlformats.org/drawingml/2006/main">
              <a:ext uri="{FF2B5EF4-FFF2-40B4-BE49-F238E27FC236}">
                <a16:creationId xmlns:a16="http://schemas.microsoft.com/office/drawing/2014/main" id="{AA1C11B5-A51C-4BFC-A6AB-41187959A9D8}"/>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54.0%</a:t>
            </a:r>
          </a:p>
        </p:txBody>
      </p:sp>
      <p:sp>
        <p:nvSpPr>
          <p:cNvPr id="11" name="">
            <a:extLst xmlns:a="http://schemas.openxmlformats.org/drawingml/2006/main">
              <a:ext uri="{FF2B5EF4-FFF2-40B4-BE49-F238E27FC236}">
                <a16:creationId xmlns:a16="http://schemas.microsoft.com/office/drawing/2014/main" id="{EC777705-FE9B-4761-94AB-26CA7E47DC6D}"/>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12" name="">
            <a:extLst xmlns:a="http://schemas.openxmlformats.org/drawingml/2006/main">
              <a:ext uri="{FF2B5EF4-FFF2-40B4-BE49-F238E27FC236}">
                <a16:creationId xmlns:a16="http://schemas.microsoft.com/office/drawing/2014/main" id="{270078FC-0D17-448F-B67D-CF0C2EF58A38}"/>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392D14AA-85EC-4BFB-ABA2-98734C55E75A}"/>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H3 RETURN</a:t>
            </a:r>
          </a:p>
        </p:txBody>
      </p:sp>
      <p:sp>
        <p:nvSpPr>
          <p:cNvPr id="14" name="">
            <a:extLst xmlns:a="http://schemas.openxmlformats.org/drawingml/2006/main">
              <a:ext uri="{FF2B5EF4-FFF2-40B4-BE49-F238E27FC236}">
                <a16:creationId xmlns:a16="http://schemas.microsoft.com/office/drawing/2014/main" id="{6E955D60-4072-490D-8CE9-4A41A8B7BC9E}"/>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30.0%</a:t>
            </a:r>
          </a:p>
        </p:txBody>
      </p:sp>
      <p:sp>
        <p:nvSpPr>
          <p:cNvPr id="15" name="">
            <a:extLst xmlns:a="http://schemas.openxmlformats.org/drawingml/2006/main">
              <a:ext uri="{FF2B5EF4-FFF2-40B4-BE49-F238E27FC236}">
                <a16:creationId xmlns:a16="http://schemas.microsoft.com/office/drawing/2014/main" id="{E14F6EF7-3C02-4E21-93C8-967616E22017}"/>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Same policy surface returned 30.0%.</a:t>
            </a:r>
          </a:p>
        </p:txBody>
      </p:sp>
      <p:sp>
        <p:nvSpPr>
          <p:cNvPr id="16" name="">
            <a:extLst xmlns:a="http://schemas.openxmlformats.org/drawingml/2006/main">
              <a:ext uri="{FF2B5EF4-FFF2-40B4-BE49-F238E27FC236}">
                <a16:creationId xmlns:a16="http://schemas.microsoft.com/office/drawing/2014/main" id="{378BAC0E-81CC-4051-8C3C-3A4470DF24DA}"/>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993E2033-72C8-4979-A203-6D92B49F7310}"/>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H5 RETURN</a:t>
            </a:r>
          </a:p>
        </p:txBody>
      </p:sp>
      <p:sp>
        <p:nvSpPr>
          <p:cNvPr id="18" name="">
            <a:extLst xmlns:a="http://schemas.openxmlformats.org/drawingml/2006/main">
              <a:ext uri="{FF2B5EF4-FFF2-40B4-BE49-F238E27FC236}">
                <a16:creationId xmlns:a16="http://schemas.microsoft.com/office/drawing/2014/main" id="{47FD8333-24AA-47CC-B565-41C4203D81CC}"/>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9.6%</a:t>
            </a:r>
          </a:p>
        </p:txBody>
      </p:sp>
      <p:sp>
        <p:nvSpPr>
          <p:cNvPr id="19" name="">
            <a:extLst xmlns:a="http://schemas.openxmlformats.org/drawingml/2006/main">
              <a:ext uri="{FF2B5EF4-FFF2-40B4-BE49-F238E27FC236}">
                <a16:creationId xmlns:a16="http://schemas.microsoft.com/office/drawing/2014/main" id="{2DB840E5-04EA-4325-919A-B92065C37D07}"/>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Longer label fell back to 9.6%.</a:t>
            </a:r>
          </a:p>
        </p:txBody>
      </p:sp>
      <p:sp>
        <p:nvSpPr>
          <p:cNvPr id="20" name="">
            <a:extLst xmlns:a="http://schemas.openxmlformats.org/drawingml/2006/main">
              <a:ext uri="{FF2B5EF4-FFF2-40B4-BE49-F238E27FC236}">
                <a16:creationId xmlns:a16="http://schemas.microsoft.com/office/drawing/2014/main" id="{AC85894F-208A-46A1-9F0F-7B7D35F9D051}"/>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h1 is the best GLM horizon in the 2020 rally, lifting the TRAIN-grid lane to 54.0%. That is real improvement, but it still leaves most of the basket rally uncaptured.</a:t>
            </a:r>
          </a:p>
        </p:txBody>
      </p:sp>
    </p:spTree>
    <p:extLst>
      <p:ext uri="{BB962C8B-B14F-4D97-AF65-F5344CB8AC3E}">
        <p14:creationId xmlns:p14="http://schemas.microsoft.com/office/powerpoint/2010/main" val="64374207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54E472E-849E-4B2D-A249-41A24E5D9C6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F4A35FC-BCF1-4EF3-AE78-59B77F6BDD1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why h1 is useful but not sufficient</a:t>
            </a:r>
          </a:p>
        </p:txBody>
      </p:sp>
      <p:sp>
        <p:nvSpPr>
          <p:cNvPr id="3" name="">
            <a:extLst xmlns:a="http://schemas.openxmlformats.org/drawingml/2006/main">
              <a:ext uri="{FF2B5EF4-FFF2-40B4-BE49-F238E27FC236}">
                <a16:creationId xmlns:a16="http://schemas.microsoft.com/office/drawing/2014/main" id="{EA87EE5D-7EAC-49E5-AF49-D8401AF8AE6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6eb5ab0b8974c4f"/>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0A5420D-3711-424F-B058-656C69543ADF}"/>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C3D0FBA1-0D06-40B4-B762-20CFD9AAB317}"/>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h1 had the strongest 2020 participation at 43.0% exposure and 54.0% return. In 2022, no horizon solved defense: h1 returned -49.7%, h3 -48.4%, and h5 -42.4%.</a:t>
            </a:r>
          </a:p>
        </p:txBody>
      </p:sp>
    </p:spTree>
    <p:extLst>
      <p:ext uri="{BB962C8B-B14F-4D97-AF65-F5344CB8AC3E}">
        <p14:creationId xmlns:p14="http://schemas.microsoft.com/office/powerpoint/2010/main" val="111699121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1853458-E5A8-496D-AEFE-FB7FCB6CC4C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F778F465-EEFF-49F5-8D69-DB71784FF5E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argues against more GLM-only tinkering</a:t>
            </a:r>
          </a:p>
        </p:txBody>
      </p:sp>
      <p:sp>
        <p:nvSpPr>
          <p:cNvPr id="3" name="">
            <a:extLst xmlns:a="http://schemas.openxmlformats.org/drawingml/2006/main">
              <a:ext uri="{FF2B5EF4-FFF2-40B4-BE49-F238E27FC236}">
                <a16:creationId xmlns:a16="http://schemas.microsoft.com/office/drawing/2014/main" id="{D15C8AF4-6A11-4D23-8569-CB26877ABC5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3fa32a9afe34c8b"/>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B119201-FDD5-41B9-8A8A-44D92CE49302}"/>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it means</a:t>
            </a:r>
          </a:p>
        </p:txBody>
      </p:sp>
      <p:sp>
        <p:nvSpPr>
          <p:cNvPr id="6" name="">
            <a:extLst xmlns:a="http://schemas.openxmlformats.org/drawingml/2006/main">
              <a:ext uri="{FF2B5EF4-FFF2-40B4-BE49-F238E27FC236}">
                <a16:creationId xmlns:a16="http://schemas.microsoft.com/office/drawing/2014/main" id="{3A69715D-6876-446E-AC28-8E7B3EDE65C3}"/>
              </a:ext>
            </a:extLst>
          </p:cNvPr>
          <p:cNvSpPr>
            <a:spLocks xmlns:a="http://schemas.openxmlformats.org/drawingml/2006/main" noGrp="1"/>
          </p:cNvSpPr>
          <p:nvPr/>
        </p:nvSpPr>
        <p:spPr>
          <a:xfrm xmlns:a="http://schemas.openxmlformats.org/drawingml/2006/main">
            <a:off x="7105650" y="2743200"/>
            <a:ext cx="3143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best 2020 AUC was h1 at 0.520. h3 was 0.485 and h5 was 0.427. That is weak ranking, not just a threshold issue.</a:t>
            </a:r>
          </a:p>
        </p:txBody>
      </p:sp>
    </p:spTree>
    <p:extLst>
      <p:ext uri="{BB962C8B-B14F-4D97-AF65-F5344CB8AC3E}">
        <p14:creationId xmlns:p14="http://schemas.microsoft.com/office/powerpoint/2010/main" val="151250828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883F3A1-B29B-4071-8706-30C8184818E1}"/>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EE5D7E1-879B-407B-8522-3EA70863520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This is a clean gate into XGBoost rather than an excuse to keep circling</a:t>
            </a:r>
          </a:p>
        </p:txBody>
      </p:sp>
      <p:sp>
        <p:nvSpPr>
          <p:cNvPr id="3" name="">
            <a:extLst xmlns:a="http://schemas.openxmlformats.org/drawingml/2006/main">
              <a:ext uri="{FF2B5EF4-FFF2-40B4-BE49-F238E27FC236}">
                <a16:creationId xmlns:a16="http://schemas.microsoft.com/office/drawing/2014/main" id="{523754C9-37D3-4433-80FF-07AAFC891C11}"/>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54EB2CD-4222-4FE1-B313-66237B3711F8}"/>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The GLM path has now answered the basic plumbing questions: features and labels are leakage-safe, replay works, thresholds matter, and h1 is the strongest horizon so far. The remaining obstacle is probability ranking quality.</a:t>
            </a:r>
          </a:p>
        </p:txBody>
      </p:sp>
      <p:sp>
        <p:nvSpPr>
          <p:cNvPr id="5" name="">
            <a:extLst xmlns:a="http://schemas.openxmlformats.org/drawingml/2006/main">
              <a:ext uri="{FF2B5EF4-FFF2-40B4-BE49-F238E27FC236}">
                <a16:creationId xmlns:a16="http://schemas.microsoft.com/office/drawing/2014/main" id="{C71FC0AF-EA32-4A91-9F9B-59AE17D76EFA}"/>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E827766A-4DD5-4F8C-A3E3-82CA85631D4B}"/>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as the first XGBoost challenger label unless a calibration-only check is explicitly useful.</a:t>
            </a:r>
          </a:p>
        </p:txBody>
      </p:sp>
      <p:sp>
        <p:nvSpPr>
          <p:cNvPr id="7" name="">
            <a:extLst xmlns:a="http://schemas.openxmlformats.org/drawingml/2006/main">
              <a:ext uri="{FF2B5EF4-FFF2-40B4-BE49-F238E27FC236}">
                <a16:creationId xmlns:a16="http://schemas.microsoft.com/office/drawing/2014/main" id="{DCB2B7D4-6EFF-49C1-A7EB-59D6E6BF128E}"/>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74C177F2-4ACD-4480-A51F-95ABE27D4F61}"/>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run a broad GLM threshold search; P1b already showed the limit of exposure tuning.</a:t>
            </a:r>
          </a:p>
        </p:txBody>
      </p:sp>
      <p:sp>
        <p:nvSpPr>
          <p:cNvPr id="9" name="">
            <a:extLst xmlns:a="http://schemas.openxmlformats.org/drawingml/2006/main">
              <a:ext uri="{FF2B5EF4-FFF2-40B4-BE49-F238E27FC236}">
                <a16:creationId xmlns:a16="http://schemas.microsoft.com/office/drawing/2014/main" id="{CD98EA7D-D5B3-4891-A316-3B0CC4B15479}"/>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52141D51-6BBD-40D0-9DFD-1FFEF62BD3A0}"/>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Judge XGBoost on ranking, timing, replay return versus basket hold, drawdown, and probability tapes.</a:t>
            </a:r>
          </a:p>
        </p:txBody>
      </p:sp>
      <p:sp>
        <p:nvSpPr>
          <p:cNvPr id="11" name="">
            <a:extLst xmlns:a="http://schemas.openxmlformats.org/drawingml/2006/main">
              <a:ext uri="{FF2B5EF4-FFF2-40B4-BE49-F238E27FC236}">
                <a16:creationId xmlns:a16="http://schemas.microsoft.com/office/drawing/2014/main" id="{A292502E-2F6E-4C89-BBCC-580A3CC17E75}"/>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4D38562D-5299-4A8A-A7D3-153E7EADF7E3}"/>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XGBoost cannot improve ranking, backtrack to feature design rather than deeper model knobs.</a:t>
            </a:r>
          </a:p>
        </p:txBody>
      </p:sp>
    </p:spTree>
    <p:extLst>
      <p:ext uri="{BB962C8B-B14F-4D97-AF65-F5344CB8AC3E}">
        <p14:creationId xmlns:p14="http://schemas.microsoft.com/office/powerpoint/2010/main" val="11301612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8A0C013-A2C5-4AE9-9617-4F6C0F0B9A31}"/>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C72A36F0-7B0A-49E3-9E9F-A95620313CF9}"/>
              </a:ext>
            </a:extLst>
          </p:cNvPr>
          <p:cNvSpPr>
            <a:spLocks xmlns:a="http://schemas.openxmlformats.org/drawingml/2006/main" noGrp="1"/>
          </p:cNvSpPr>
          <p:nvPr/>
        </p:nvSpPr>
        <p:spPr>
          <a:xfrm xmlns:a="http://schemas.openxmlformats.org/drawingml/2006/main">
            <a:off x="685800" y="1600200"/>
            <a:ext cx="7810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The first nonlinear challenger tests XGBoost</a:t>
            </a:r>
          </a:p>
        </p:txBody>
      </p:sp>
      <p:sp>
        <p:nvSpPr>
          <p:cNvPr id="3" name="">
            <a:extLst xmlns:a="http://schemas.openxmlformats.org/drawingml/2006/main">
              <a:ext uri="{FF2B5EF4-FFF2-40B4-BE49-F238E27FC236}">
                <a16:creationId xmlns:a16="http://schemas.microsoft.com/office/drawing/2014/main" id="{337C19BC-880B-48CC-A2EE-977E8FF16FF9}"/>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F116856-3F4F-45E1-9331-83A2072D09DE}"/>
              </a:ext>
            </a:extLst>
          </p:cNvPr>
          <p:cNvSpPr>
            <a:spLocks xmlns:a="http://schemas.openxmlformats.org/drawingml/2006/main" noGrp="1"/>
          </p:cNvSpPr>
          <p:nvPr/>
        </p:nvSpPr>
        <p:spPr>
          <a:xfrm xmlns:a="http://schemas.openxmlformats.org/drawingml/2006/main">
            <a:off x="723900" y="3467100"/>
            <a:ext cx="75247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 keeps the h1 label, feature table, TRAIN-only threshold selection, and annual replay fixed. Only the model class changes: GLM control versus conservative XGBoost.</a:t>
            </a:r>
          </a:p>
        </p:txBody>
      </p:sp>
      <p:sp>
        <p:nvSpPr>
          <p:cNvPr id="5" name="">
            <a:extLst xmlns:a="http://schemas.openxmlformats.org/drawingml/2006/main">
              <a:ext uri="{FF2B5EF4-FFF2-40B4-BE49-F238E27FC236}">
                <a16:creationId xmlns:a16="http://schemas.microsoft.com/office/drawing/2014/main" id="{80821C44-3E2E-49D1-B2C7-2C99536B5C51}"/>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68A4A3-BBAF-42F3-8C76-EA8AB96CE53D}"/>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a:t>
            </a:r>
          </a:p>
        </p:txBody>
      </p:sp>
      <p:sp>
        <p:nvSpPr>
          <p:cNvPr id="7" name="">
            <a:extLst xmlns:a="http://schemas.openxmlformats.org/drawingml/2006/main">
              <a:ext uri="{FF2B5EF4-FFF2-40B4-BE49-F238E27FC236}">
                <a16:creationId xmlns:a16="http://schemas.microsoft.com/office/drawing/2014/main" id="{11CAA71E-9179-48B1-BE5E-DAB743A72059}"/>
              </a:ext>
            </a:extLst>
          </p:cNvPr>
          <p:cNvSpPr>
            <a:spLocks xmlns:a="http://schemas.openxmlformats.org/drawingml/2006/main" noGrp="1"/>
          </p:cNvSpPr>
          <p:nvPr/>
        </p:nvSpPr>
        <p:spPr>
          <a:xfrm xmlns:a="http://schemas.openxmlformats.org/drawingml/2006/main">
            <a:off x="8991600" y="3067050"/>
            <a:ext cx="2914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XGBoost challenger</a:t>
            </a:r>
          </a:p>
        </p:txBody>
      </p:sp>
    </p:spTree>
    <p:extLst>
      <p:ext uri="{BB962C8B-B14F-4D97-AF65-F5344CB8AC3E}">
        <p14:creationId xmlns:p14="http://schemas.microsoft.com/office/powerpoint/2010/main" val="16281975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A6F3059-87CE-4D6A-ACCF-1EF0C1E92FF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3BF01DD-420E-4082-AF4D-18CDD05C6D7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GLM is a straight-line lens; XGBoost is a conditional lens</a:t>
            </a:r>
          </a:p>
        </p:txBody>
      </p:sp>
      <p:sp>
        <p:nvSpPr>
          <p:cNvPr id="3" name="">
            <a:extLst xmlns:a="http://schemas.openxmlformats.org/drawingml/2006/main">
              <a:ext uri="{FF2B5EF4-FFF2-40B4-BE49-F238E27FC236}">
                <a16:creationId xmlns:a16="http://schemas.microsoft.com/office/drawing/2014/main" id="{CCF175DE-D3E2-4400-A1D1-F5A2C1BEF43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C2476B1-C38D-4AF0-B200-F1DAFBED469D}"/>
              </a:ext>
            </a:extLst>
          </p:cNvPr>
          <p:cNvSpPr>
            <a:spLocks xmlns:a="http://schemas.openxmlformats.org/drawingml/2006/main" noGrp="1"/>
          </p:cNvSpPr>
          <p:nvPr/>
        </p:nvSpPr>
        <p:spPr>
          <a:xfrm xmlns:a="http://schemas.openxmlformats.org/drawingml/2006/main">
            <a:off x="876300" y="2114550"/>
            <a:ext cx="4476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The GLM asks whether a mostly linear combination of today’s features predicts a favorable next-open h1 outcome.</a:t>
            </a:r>
          </a:p>
        </p:txBody>
      </p:sp>
      <p:sp>
        <p:nvSpPr>
          <p:cNvPr id="5" name="">
            <a:extLst xmlns:a="http://schemas.openxmlformats.org/drawingml/2006/main">
              <a:ext uri="{FF2B5EF4-FFF2-40B4-BE49-F238E27FC236}">
                <a16:creationId xmlns:a16="http://schemas.microsoft.com/office/drawing/2014/main" id="{C4D28927-CE9E-4833-B23F-C3F2CD24683B}"/>
              </a:ext>
            </a:extLst>
          </p:cNvPr>
          <p:cNvSpPr>
            <a:spLocks xmlns:a="http://schemas.openxmlformats.org/drawingml/2006/main" noGrp="1"/>
          </p:cNvSpPr>
          <p:nvPr/>
        </p:nvSpPr>
        <p:spPr>
          <a:xfrm xmlns:a="http://schemas.openxmlformats.org/drawingml/2006/main">
            <a:off x="6572250" y="2114550"/>
            <a:ext cx="4191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i="0">
                <a:solidFill>
                  <a:srgbClr val="000000"/>
                </a:solidFill>
              </a:defRPr>
            </a:pPr>
            <a:r>
              <a:rPr sz="1875" b="1" i="0">
                <a:solidFill>
                  <a:srgbClr val="000000"/>
                </a:solidFill>
              </a:rPr>
              <a:t>XGBoost can learn conditional pockets, thresholds, and interactions without us hand-writing every combination.</a:t>
            </a:r>
          </a:p>
        </p:txBody>
      </p:sp>
      <p:sp>
        <p:nvSpPr>
          <p:cNvPr id="6" name="">
            <a:extLst xmlns:a="http://schemas.openxmlformats.org/drawingml/2006/main">
              <a:ext uri="{FF2B5EF4-FFF2-40B4-BE49-F238E27FC236}">
                <a16:creationId xmlns:a16="http://schemas.microsoft.com/office/drawing/2014/main" id="{8DABFDB5-52C6-40CD-A4E3-8E4534A07973}"/>
              </a:ext>
            </a:extLst>
          </p:cNvPr>
          <p:cNvSpPr>
            <a:spLocks xmlns:a="http://schemas.openxmlformats.org/drawingml/2006/main" noGrp="1"/>
          </p:cNvSpPr>
          <p:nvPr/>
        </p:nvSpPr>
        <p:spPr>
          <a:xfrm xmlns:a="http://schemas.openxmlformats.org/drawingml/2006/main">
            <a:off x="87630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A2B7749-8528-4388-8AFE-7772984B02F5}"/>
              </a:ext>
            </a:extLst>
          </p:cNvPr>
          <p:cNvSpPr>
            <a:spLocks xmlns:a="http://schemas.openxmlformats.org/drawingml/2006/main" noGrp="1"/>
          </p:cNvSpPr>
          <p:nvPr/>
        </p:nvSpPr>
        <p:spPr>
          <a:xfrm xmlns:a="http://schemas.openxmlformats.org/drawingml/2006/main">
            <a:off x="6572250" y="3733800"/>
            <a:ext cx="409575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D545E9B-073E-41B3-AA25-0250F9CB1EB2}"/>
              </a:ext>
            </a:extLst>
          </p:cNvPr>
          <p:cNvSpPr>
            <a:spLocks xmlns:a="http://schemas.openxmlformats.org/drawingml/2006/main" noGrp="1"/>
          </p:cNvSpPr>
          <p:nvPr/>
        </p:nvSpPr>
        <p:spPr>
          <a:xfrm xmlns:a="http://schemas.openxmlformats.org/drawingml/2006/main">
            <a:off x="104775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9" name="">
            <a:extLst xmlns:a="http://schemas.openxmlformats.org/drawingml/2006/main">
              <a:ext uri="{FF2B5EF4-FFF2-40B4-BE49-F238E27FC236}">
                <a16:creationId xmlns:a16="http://schemas.microsoft.com/office/drawing/2014/main" id="{EF4496A3-F27B-4B48-B985-09F3EF90FABE}"/>
              </a:ext>
            </a:extLst>
          </p:cNvPr>
          <p:cNvSpPr>
            <a:spLocks xmlns:a="http://schemas.openxmlformats.org/drawingml/2006/main" noGrp="1"/>
          </p:cNvSpPr>
          <p:nvPr/>
        </p:nvSpPr>
        <p:spPr>
          <a:xfrm xmlns:a="http://schemas.openxmlformats.org/drawingml/2006/main">
            <a:off x="131445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Good for proving the plumbing and exposing simple directional effects.</a:t>
            </a:r>
          </a:p>
        </p:txBody>
      </p:sp>
      <p:sp>
        <p:nvSpPr>
          <p:cNvPr id="10" name="">
            <a:extLst xmlns:a="http://schemas.openxmlformats.org/drawingml/2006/main">
              <a:ext uri="{FF2B5EF4-FFF2-40B4-BE49-F238E27FC236}">
                <a16:creationId xmlns:a16="http://schemas.microsoft.com/office/drawing/2014/main" id="{4C95DAA7-CD92-4722-8A94-886E180B642A}"/>
              </a:ext>
            </a:extLst>
          </p:cNvPr>
          <p:cNvSpPr>
            <a:spLocks xmlns:a="http://schemas.openxmlformats.org/drawingml/2006/main" noGrp="1"/>
          </p:cNvSpPr>
          <p:nvPr/>
        </p:nvSpPr>
        <p:spPr>
          <a:xfrm xmlns:a="http://schemas.openxmlformats.org/drawingml/2006/main">
            <a:off x="104775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1" name="">
            <a:extLst xmlns:a="http://schemas.openxmlformats.org/drawingml/2006/main">
              <a:ext uri="{FF2B5EF4-FFF2-40B4-BE49-F238E27FC236}">
                <a16:creationId xmlns:a16="http://schemas.microsoft.com/office/drawing/2014/main" id="{BF9C52D1-C9BE-44BB-983C-A0AF16049FE1}"/>
              </a:ext>
            </a:extLst>
          </p:cNvPr>
          <p:cNvSpPr>
            <a:spLocks xmlns:a="http://schemas.openxmlformats.org/drawingml/2006/main" noGrp="1"/>
          </p:cNvSpPr>
          <p:nvPr/>
        </p:nvSpPr>
        <p:spPr>
          <a:xfrm xmlns:a="http://schemas.openxmlformats.org/drawingml/2006/main">
            <a:off x="131445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average away useful conditions when a feature is good in one regime and bad in another.</a:t>
            </a:r>
          </a:p>
        </p:txBody>
      </p:sp>
      <p:sp>
        <p:nvSpPr>
          <p:cNvPr id="12" name="">
            <a:extLst xmlns:a="http://schemas.openxmlformats.org/drawingml/2006/main">
              <a:ext uri="{FF2B5EF4-FFF2-40B4-BE49-F238E27FC236}">
                <a16:creationId xmlns:a16="http://schemas.microsoft.com/office/drawing/2014/main" id="{01C732AA-FE28-4869-A11F-95E6D0B1CFE4}"/>
              </a:ext>
            </a:extLst>
          </p:cNvPr>
          <p:cNvSpPr>
            <a:spLocks xmlns:a="http://schemas.openxmlformats.org/drawingml/2006/main" noGrp="1"/>
          </p:cNvSpPr>
          <p:nvPr/>
        </p:nvSpPr>
        <p:spPr>
          <a:xfrm xmlns:a="http://schemas.openxmlformats.org/drawingml/2006/main">
            <a:off x="6743700" y="41243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3" name="">
            <a:extLst xmlns:a="http://schemas.openxmlformats.org/drawingml/2006/main">
              <a:ext uri="{FF2B5EF4-FFF2-40B4-BE49-F238E27FC236}">
                <a16:creationId xmlns:a16="http://schemas.microsoft.com/office/drawing/2014/main" id="{2C3D52A9-139B-4C9E-9931-2C10ECAD6CFB}"/>
              </a:ext>
            </a:extLst>
          </p:cNvPr>
          <p:cNvSpPr>
            <a:spLocks xmlns:a="http://schemas.openxmlformats.org/drawingml/2006/main" noGrp="1"/>
          </p:cNvSpPr>
          <p:nvPr/>
        </p:nvSpPr>
        <p:spPr>
          <a:xfrm xmlns:a="http://schemas.openxmlformats.org/drawingml/2006/main">
            <a:off x="7010400" y="41148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Can express rules like momentum only matters with supportive market context.</a:t>
            </a:r>
          </a:p>
        </p:txBody>
      </p:sp>
      <p:sp>
        <p:nvSpPr>
          <p:cNvPr id="14" name="">
            <a:extLst xmlns:a="http://schemas.openxmlformats.org/drawingml/2006/main">
              <a:ext uri="{FF2B5EF4-FFF2-40B4-BE49-F238E27FC236}">
                <a16:creationId xmlns:a16="http://schemas.microsoft.com/office/drawing/2014/main" id="{D773A4A1-819E-4717-88B8-97CCC03DAAC6}"/>
              </a:ext>
            </a:extLst>
          </p:cNvPr>
          <p:cNvSpPr>
            <a:spLocks xmlns:a="http://schemas.openxmlformats.org/drawingml/2006/main" noGrp="1"/>
          </p:cNvSpPr>
          <p:nvPr/>
        </p:nvSpPr>
        <p:spPr>
          <a:xfrm xmlns:a="http://schemas.openxmlformats.org/drawingml/2006/main">
            <a:off x="6743700" y="49625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5" name="">
            <a:extLst xmlns:a="http://schemas.openxmlformats.org/drawingml/2006/main">
              <a:ext uri="{FF2B5EF4-FFF2-40B4-BE49-F238E27FC236}">
                <a16:creationId xmlns:a16="http://schemas.microsoft.com/office/drawing/2014/main" id="{6BEB5BF9-EF71-49C7-BD54-2C38FABC6A18}"/>
              </a:ext>
            </a:extLst>
          </p:cNvPr>
          <p:cNvSpPr>
            <a:spLocks xmlns:a="http://schemas.openxmlformats.org/drawingml/2006/main" noGrp="1"/>
          </p:cNvSpPr>
          <p:nvPr/>
        </p:nvSpPr>
        <p:spPr>
          <a:xfrm xmlns:a="http://schemas.openxmlformats.org/drawingml/2006/main">
            <a:off x="7010400" y="4953000"/>
            <a:ext cx="4210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Must be judged carefully, because extra flexibility can overfit if we start tuning too many knobs.</a:t>
            </a:r>
          </a:p>
        </p:txBody>
      </p:sp>
    </p:spTree>
    <p:extLst>
      <p:ext uri="{BB962C8B-B14F-4D97-AF65-F5344CB8AC3E}">
        <p14:creationId xmlns:p14="http://schemas.microsoft.com/office/powerpoint/2010/main" val="126820340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D248A3D-5F94-4A04-9EF9-4D00E9AF515C}"/>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D7C6985-9560-41CB-AB54-944AEE7D476A}"/>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XGBoost improved the replay, but it still did not beat the 2020 basket</a:t>
            </a:r>
          </a:p>
        </p:txBody>
      </p:sp>
      <p:sp>
        <p:nvSpPr>
          <p:cNvPr id="3" name="">
            <a:extLst xmlns:a="http://schemas.openxmlformats.org/drawingml/2006/main">
              <a:ext uri="{FF2B5EF4-FFF2-40B4-BE49-F238E27FC236}">
                <a16:creationId xmlns:a16="http://schemas.microsoft.com/office/drawing/2014/main" id="{5E33CA6F-7380-408C-8CA0-4DA72407E54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ABB2A9F-80CB-4D31-AE88-7C3C0E374EB9}"/>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4EA2E3D2-B3B0-4E2D-9876-D68A3C6C5C57}"/>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248AE2A1-6BBD-4CD3-BB9E-0FBB5A12124B}"/>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69085EE5-BD3D-4F75-B79F-830394E63D21}"/>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Fit, params, and thresholds stay inside TRAIN.</a:t>
            </a:r>
          </a:p>
        </p:txBody>
      </p:sp>
      <p:sp>
        <p:nvSpPr>
          <p:cNvPr id="8" name="">
            <a:extLst xmlns:a="http://schemas.openxmlformats.org/drawingml/2006/main">
              <a:ext uri="{FF2B5EF4-FFF2-40B4-BE49-F238E27FC236}">
                <a16:creationId xmlns:a16="http://schemas.microsoft.com/office/drawing/2014/main" id="{D5DE64B9-23E8-4552-A243-A29AA9FFEF99}"/>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447D6848-99BD-4D53-A062-9740AD3E10AF}"/>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XGB</a:t>
            </a:r>
          </a:p>
        </p:txBody>
      </p:sp>
      <p:sp>
        <p:nvSpPr>
          <p:cNvPr id="10" name="">
            <a:extLst xmlns:a="http://schemas.openxmlformats.org/drawingml/2006/main">
              <a:ext uri="{FF2B5EF4-FFF2-40B4-BE49-F238E27FC236}">
                <a16:creationId xmlns:a16="http://schemas.microsoft.com/office/drawing/2014/main" id="{53F23226-B731-44D9-B327-1DF2D2D67B08}"/>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11" name="">
            <a:extLst xmlns:a="http://schemas.openxmlformats.org/drawingml/2006/main">
              <a:ext uri="{FF2B5EF4-FFF2-40B4-BE49-F238E27FC236}">
                <a16:creationId xmlns:a16="http://schemas.microsoft.com/office/drawing/2014/main" id="{DE297EE0-B849-4A99-A78F-E190095F94B9}"/>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54.0%; basket hold was 225.2%.</a:t>
            </a:r>
          </a:p>
        </p:txBody>
      </p:sp>
      <p:sp>
        <p:nvSpPr>
          <p:cNvPr id="12" name="">
            <a:extLst xmlns:a="http://schemas.openxmlformats.org/drawingml/2006/main">
              <a:ext uri="{FF2B5EF4-FFF2-40B4-BE49-F238E27FC236}">
                <a16:creationId xmlns:a16="http://schemas.microsoft.com/office/drawing/2014/main" id="{DD71C8E7-C3BB-4FD5-A31D-A3A1552ABD16}"/>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EE663A6-79AA-4A27-93F0-3D30535390F7}"/>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XGB</a:t>
            </a:r>
          </a:p>
        </p:txBody>
      </p:sp>
      <p:sp>
        <p:nvSpPr>
          <p:cNvPr id="14" name="">
            <a:extLst xmlns:a="http://schemas.openxmlformats.org/drawingml/2006/main">
              <a:ext uri="{FF2B5EF4-FFF2-40B4-BE49-F238E27FC236}">
                <a16:creationId xmlns:a16="http://schemas.microsoft.com/office/drawing/2014/main" id="{CBFADCA8-ED69-4EB2-A365-6E829147A38E}"/>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1BC63476-1E66-4068-806F-B125BF4B4B5F}"/>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GLM was -49.7%; basket hold was -53.3%.</a:t>
            </a:r>
          </a:p>
        </p:txBody>
      </p:sp>
      <p:sp>
        <p:nvSpPr>
          <p:cNvPr id="16" name="">
            <a:extLst xmlns:a="http://schemas.openxmlformats.org/drawingml/2006/main">
              <a:ext uri="{FF2B5EF4-FFF2-40B4-BE49-F238E27FC236}">
                <a16:creationId xmlns:a16="http://schemas.microsoft.com/office/drawing/2014/main" id="{A7CA13CB-29E3-4A87-9CE3-DB1E76726448}"/>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A32074D8-C63B-475F-BD23-E4AA8C2853EC}"/>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EXPOSURE</a:t>
            </a:r>
          </a:p>
        </p:txBody>
      </p:sp>
      <p:sp>
        <p:nvSpPr>
          <p:cNvPr id="18" name="">
            <a:extLst xmlns:a="http://schemas.openxmlformats.org/drawingml/2006/main">
              <a:ext uri="{FF2B5EF4-FFF2-40B4-BE49-F238E27FC236}">
                <a16:creationId xmlns:a16="http://schemas.microsoft.com/office/drawing/2014/main" id="{22D68765-E77F-4789-BBF2-0A18049A788D}"/>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42.3%</a:t>
            </a:r>
          </a:p>
        </p:txBody>
      </p:sp>
      <p:sp>
        <p:nvSpPr>
          <p:cNvPr id="19" name="">
            <a:extLst xmlns:a="http://schemas.openxmlformats.org/drawingml/2006/main">
              <a:ext uri="{FF2B5EF4-FFF2-40B4-BE49-F238E27FC236}">
                <a16:creationId xmlns:a16="http://schemas.microsoft.com/office/drawing/2014/main" id="{B6106C51-98E0-4E92-80FD-69FD0E1040BC}"/>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XGB used less exposure than GLM at 43.0%.</a:t>
            </a:r>
          </a:p>
        </p:txBody>
      </p:sp>
      <p:sp>
        <p:nvSpPr>
          <p:cNvPr id="20" name="">
            <a:extLst xmlns:a="http://schemas.openxmlformats.org/drawingml/2006/main">
              <a:ext uri="{FF2B5EF4-FFF2-40B4-BE49-F238E27FC236}">
                <a16:creationId xmlns:a16="http://schemas.microsoft.com/office/drawing/2014/main" id="{A6C23F94-C4FB-4F13-8B8A-17E2498584E1}"/>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This is encouraging because the nonlinear model improved return with less 2020 exposure and better 2022 defense. It is not a victory lap: 2020 still lagged basket hold by a lot.</a:t>
            </a:r>
          </a:p>
        </p:txBody>
      </p:sp>
    </p:spTree>
    <p:extLst>
      <p:ext uri="{BB962C8B-B14F-4D97-AF65-F5344CB8AC3E}">
        <p14:creationId xmlns:p14="http://schemas.microsoft.com/office/powerpoint/2010/main" val="84446486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473B616-4B68-4DF4-8130-54B8122F6D0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EC4E49E-A244-4B1B-B05B-C6C689B74AFC}"/>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useful improvement, not a solved system</a:t>
            </a:r>
          </a:p>
        </p:txBody>
      </p:sp>
      <p:sp>
        <p:nvSpPr>
          <p:cNvPr id="3" name="">
            <a:extLst xmlns:a="http://schemas.openxmlformats.org/drawingml/2006/main">
              <a:ext uri="{FF2B5EF4-FFF2-40B4-BE49-F238E27FC236}">
                <a16:creationId xmlns:a16="http://schemas.microsoft.com/office/drawing/2014/main" id="{BADD7D4E-DEBA-46A9-8CCA-B43E3152EC0B}"/>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d8dd4c1f02c46c4"/>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2692C9A-8668-4BA1-9449-518CBE2F9B2B}"/>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0EFE9E31-8BAD-45C5-BC02-701EC737AEA7}"/>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lifted 2020 return from 54.0% to 108.9% and improved 2022 from -49.7% to -37.8%. Equal-weight hold remains the hurdle in strong bull windows.</a:t>
            </a:r>
          </a:p>
        </p:txBody>
      </p:sp>
    </p:spTree>
    <p:extLst>
      <p:ext uri="{BB962C8B-B14F-4D97-AF65-F5344CB8AC3E}">
        <p14:creationId xmlns:p14="http://schemas.microsoft.com/office/powerpoint/2010/main" val="97191769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180426D-32DE-461F-8E3A-5EE8EB73E2C9}"/>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AC320CB-172F-4925-9661-04FE3F360D4F}"/>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ranking audit gives a caution flag</a:t>
            </a:r>
          </a:p>
        </p:txBody>
      </p:sp>
      <p:sp>
        <p:nvSpPr>
          <p:cNvPr id="3" name="">
            <a:extLst xmlns:a="http://schemas.openxmlformats.org/drawingml/2006/main">
              <a:ext uri="{FF2B5EF4-FFF2-40B4-BE49-F238E27FC236}">
                <a16:creationId xmlns:a16="http://schemas.microsoft.com/office/drawing/2014/main" id="{F2008A9E-345A-4525-ACA1-C24607B0F1C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85258a9f2c64910"/>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C5AB4E1-2FD6-4380-BCC7-6D78882CF60C}"/>
              </a:ext>
            </a:extLst>
          </p:cNvPr>
          <p:cNvSpPr>
            <a:spLocks xmlns:a="http://schemas.openxmlformats.org/drawingml/2006/main" noGrp="1"/>
          </p:cNvSpPr>
          <p:nvPr/>
        </p:nvSpPr>
        <p:spPr>
          <a:xfrm xmlns:a="http://schemas.openxmlformats.org/drawingml/2006/main">
            <a:off x="7105650" y="21336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Why this is nuanced</a:t>
            </a:r>
          </a:p>
        </p:txBody>
      </p:sp>
      <p:sp>
        <p:nvSpPr>
          <p:cNvPr id="6" name="">
            <a:extLst xmlns:a="http://schemas.openxmlformats.org/drawingml/2006/main">
              <a:ext uri="{FF2B5EF4-FFF2-40B4-BE49-F238E27FC236}">
                <a16:creationId xmlns:a16="http://schemas.microsoft.com/office/drawing/2014/main" id="{14AD4597-D118-4F71-8AA2-594C2F901AC6}"/>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XGBoost improved replay, but its 2020 AUC was 0.510 versus GLM at 0.520. The gain may come from threshold-crossing timing and drawdown behavior rather than cleaner global ranking.</a:t>
            </a:r>
          </a:p>
        </p:txBody>
      </p:sp>
    </p:spTree>
    <p:extLst>
      <p:ext uri="{BB962C8B-B14F-4D97-AF65-F5344CB8AC3E}">
        <p14:creationId xmlns:p14="http://schemas.microsoft.com/office/powerpoint/2010/main" val="129984551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F1F455F-1E89-4E1F-88F8-852AEE60D82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7D074F94-2FE6-4E63-B2D0-D83579548BE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are now the most important audit surface</a:t>
            </a:r>
          </a:p>
        </p:txBody>
      </p:sp>
      <p:sp>
        <p:nvSpPr>
          <p:cNvPr id="3" name="">
            <a:extLst xmlns:a="http://schemas.openxmlformats.org/drawingml/2006/main">
              <a:ext uri="{FF2B5EF4-FFF2-40B4-BE49-F238E27FC236}">
                <a16:creationId xmlns:a16="http://schemas.microsoft.com/office/drawing/2014/main" id="{3B7E66A3-E3EB-4429-9250-1B0807F115B9}"/>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8b3138f890084389"/>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7E5AB61-EBC7-4C04-AF51-AB5DBC139CF2}"/>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A688A090-1530-4FCE-86EE-E7DD304EF3E2}"/>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key question is whether XGBoost changes entries and exits in places that make intuitive market sense. The tapes show a less linear probability trace and a different set of entry timings.</a:t>
            </a:r>
          </a:p>
        </p:txBody>
      </p:sp>
    </p:spTree>
    <p:extLst>
      <p:ext uri="{BB962C8B-B14F-4D97-AF65-F5344CB8AC3E}">
        <p14:creationId xmlns:p14="http://schemas.microsoft.com/office/powerpoint/2010/main" val="130631332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7B9A805-EDEA-4750-AD52-60948612EB25}"/>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07050216-4340-44A9-AA26-953AE00CD60B}"/>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feature-importance audit points back to OHLCV structure</a:t>
            </a:r>
          </a:p>
        </p:txBody>
      </p:sp>
      <p:sp>
        <p:nvSpPr>
          <p:cNvPr id="3" name="">
            <a:extLst xmlns:a="http://schemas.openxmlformats.org/drawingml/2006/main">
              <a:ext uri="{FF2B5EF4-FFF2-40B4-BE49-F238E27FC236}">
                <a16:creationId xmlns:a16="http://schemas.microsoft.com/office/drawing/2014/main" id="{B858F7DA-775E-4C62-893A-0A497A7F4E97}"/>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9ea6811c00643ce"/>
          <a:stretch xmlns:a="http://schemas.openxmlformats.org/drawingml/2006/main"/>
        </p:blipFill>
        <p:spPr>
          <a:xfrm xmlns:a="http://schemas.openxmlformats.org/drawingml/2006/main">
            <a:off x="718457" y="2038350"/>
            <a:ext cx="5878286" cy="3429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C9EEBF0-4AD4-4AF2-A2B1-DF966C6009AC}"/>
              </a:ext>
            </a:extLst>
          </p:cNvPr>
          <p:cNvSpPr>
            <a:spLocks xmlns:a="http://schemas.openxmlformats.org/drawingml/2006/main" noGrp="1"/>
          </p:cNvSpPr>
          <p:nvPr/>
        </p:nvSpPr>
        <p:spPr>
          <a:xfrm xmlns:a="http://schemas.openxmlformats.org/drawingml/2006/main">
            <a:off x="712470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Interpret carefully</a:t>
            </a:r>
          </a:p>
        </p:txBody>
      </p:sp>
      <p:sp>
        <p:nvSpPr>
          <p:cNvPr id="6" name="">
            <a:extLst xmlns:a="http://schemas.openxmlformats.org/drawingml/2006/main">
              <a:ext uri="{FF2B5EF4-FFF2-40B4-BE49-F238E27FC236}">
                <a16:creationId xmlns:a16="http://schemas.microsoft.com/office/drawing/2014/main" id="{94566D03-B173-4900-A553-790F3D13E278}"/>
              </a:ext>
            </a:extLst>
          </p:cNvPr>
          <p:cNvSpPr>
            <a:spLocks xmlns:a="http://schemas.openxmlformats.org/drawingml/2006/main" noGrp="1"/>
          </p:cNvSpPr>
          <p:nvPr/>
        </p:nvSpPr>
        <p:spPr>
          <a:xfrm xmlns:a="http://schemas.openxmlformats.org/drawingml/2006/main">
            <a:off x="7124700" y="2743200"/>
            <a:ext cx="333375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top split-gain feature in this first run was gap_open_pct. Importance is not causality, but it tells us XGBoost is using candle structure, gaps, short returns, compression, and market-relative features rather than only long trend memory.</a:t>
            </a:r>
          </a:p>
        </p:txBody>
      </p:sp>
    </p:spTree>
    <p:extLst>
      <p:ext uri="{BB962C8B-B14F-4D97-AF65-F5344CB8AC3E}">
        <p14:creationId xmlns:p14="http://schemas.microsoft.com/office/powerpoint/2010/main" val="36569783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EDE9BF6-10D4-4164-8E38-AA110C9DB63B}"/>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8EBD5B7-717F-4B06-9516-B442DF211563}"/>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gate is small XGBoost tuning, not a large search</a:t>
            </a:r>
          </a:p>
        </p:txBody>
      </p:sp>
      <p:sp>
        <p:nvSpPr>
          <p:cNvPr id="3" name="">
            <a:extLst xmlns:a="http://schemas.openxmlformats.org/drawingml/2006/main">
              <a:ext uri="{FF2B5EF4-FFF2-40B4-BE49-F238E27FC236}">
                <a16:creationId xmlns:a16="http://schemas.microsoft.com/office/drawing/2014/main" id="{62933661-A873-4AB0-84A4-762AC409F69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4587C28-D149-495E-A741-538E6EA95F29}"/>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 earned a cautious follow-up because replay improved in both windows under fixed model settings. The ranking audit keeps us honest: this is not yet proof that the model has solved alpha.</a:t>
            </a:r>
          </a:p>
        </p:txBody>
      </p:sp>
      <p:sp>
        <p:nvSpPr>
          <p:cNvPr id="5" name="">
            <a:extLst xmlns:a="http://schemas.openxmlformats.org/drawingml/2006/main">
              <a:ext uri="{FF2B5EF4-FFF2-40B4-BE49-F238E27FC236}">
                <a16:creationId xmlns:a16="http://schemas.microsoft.com/office/drawing/2014/main" id="{BEFC8EEB-02D0-4942-9998-F8EBD8C91C68}"/>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D48E3F39-2375-4ABB-BE83-4DA5E953D5F4}"/>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Run one small TRAIN-only XGBoost parameter slice: depth, rounds, and minimum child weight.</a:t>
            </a:r>
          </a:p>
        </p:txBody>
      </p:sp>
      <p:sp>
        <p:nvSpPr>
          <p:cNvPr id="7" name="">
            <a:extLst xmlns:a="http://schemas.openxmlformats.org/drawingml/2006/main">
              <a:ext uri="{FF2B5EF4-FFF2-40B4-BE49-F238E27FC236}">
                <a16:creationId xmlns:a16="http://schemas.microsoft.com/office/drawing/2014/main" id="{19AADDCE-C664-4225-99D3-C043DCB31A8E}"/>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55C5E9CA-0579-4340-8066-CDC00EDE984D}"/>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h1, features, annual replay, thresholds, benchmark, and probability tapes fixed.</a:t>
            </a:r>
          </a:p>
        </p:txBody>
      </p:sp>
      <p:sp>
        <p:nvSpPr>
          <p:cNvPr id="9" name="">
            <a:extLst xmlns:a="http://schemas.openxmlformats.org/drawingml/2006/main">
              <a:ext uri="{FF2B5EF4-FFF2-40B4-BE49-F238E27FC236}">
                <a16:creationId xmlns:a16="http://schemas.microsoft.com/office/drawing/2014/main" id="{1F60CC61-D119-4AAA-81E5-B702F651EE2D}"/>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77F07401-EE63-4164-8441-98556E9ED01E}"/>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Watch 2022: XGBoost AUC was 0.478, so defense may still be fragile.</a:t>
            </a:r>
          </a:p>
        </p:txBody>
      </p:sp>
      <p:sp>
        <p:nvSpPr>
          <p:cNvPr id="11" name="">
            <a:extLst xmlns:a="http://schemas.openxmlformats.org/drawingml/2006/main">
              <a:ext uri="{FF2B5EF4-FFF2-40B4-BE49-F238E27FC236}">
                <a16:creationId xmlns:a16="http://schemas.microsoft.com/office/drawing/2014/main" id="{6284E4E5-376A-48C1-9038-A0F00F42E99C}"/>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F05CE5C9-4148-4B19-A27F-A9F16819A58C}"/>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If small tuning does not improve ranking or timing, return to feature design instead of widening model knobs.</a:t>
            </a:r>
          </a:p>
        </p:txBody>
      </p:sp>
    </p:spTree>
    <p:extLst>
      <p:ext uri="{BB962C8B-B14F-4D97-AF65-F5344CB8AC3E}">
        <p14:creationId xmlns:p14="http://schemas.microsoft.com/office/powerpoint/2010/main" val="81015905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8945883-830A-4EB6-A914-3DF00966AF7F}"/>
              </a:ext>
            </a:extLst>
          </p:cNvPr>
          <p:cNvSpPr>
            <a:spLocks xmlns:a="http://schemas.openxmlformats.org/drawingml/2006/main" noGrp="1"/>
          </p:cNvSpPr>
          <p:nvPr/>
        </p:nvSpPr>
        <p:spPr>
          <a:xfrm xmlns:a="http://schemas.openxmlformats.org/drawingml/2006/main">
            <a:off x="685800" y="495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400" b="1" i="0">
                <a:solidFill>
                  <a:srgbClr val="555555"/>
                </a:solidFill>
              </a:defRPr>
            </a:pPr>
            <a:r>
              <a:rPr sz="2400" b="1" i="0">
                <a:solidFill>
                  <a:srgbClr val="555555"/>
                </a:solidFill>
              </a:rPr>
              <a:t>Transition</a:t>
            </a:r>
          </a:p>
        </p:txBody>
      </p:sp>
      <p:sp>
        <p:nvSpPr>
          <p:cNvPr id="2" name="">
            <a:extLst xmlns:a="http://schemas.openxmlformats.org/drawingml/2006/main">
              <a:ext uri="{FF2B5EF4-FFF2-40B4-BE49-F238E27FC236}">
                <a16:creationId xmlns:a16="http://schemas.microsoft.com/office/drawing/2014/main" id="{75DD04B4-A808-4189-95AD-812FD663C682}"/>
              </a:ext>
            </a:extLst>
          </p:cNvPr>
          <p:cNvSpPr>
            <a:spLocks xmlns:a="http://schemas.openxmlformats.org/drawingml/2006/main" noGrp="1"/>
          </p:cNvSpPr>
          <p:nvPr/>
        </p:nvSpPr>
        <p:spPr>
          <a:xfrm xmlns:a="http://schemas.openxmlformats.org/drawingml/2006/main">
            <a:off x="685800" y="1524000"/>
            <a:ext cx="7810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600" b="1" i="0">
                <a:solidFill>
                  <a:srgbClr val="000000"/>
                </a:solidFill>
              </a:defRPr>
            </a:pPr>
            <a:r>
              <a:rPr sz="3600" b="1" i="0">
                <a:solidFill>
                  <a:srgbClr val="000000"/>
                </a:solidFill>
              </a:rPr>
              <a:t>Now we ask whether</a:t>
            </a:r>
          </a:p>
          <a:p xmlns:a="http://schemas.openxmlformats.org/drawingml/2006/main">
            <a:pPr algn="l">
              <a:defRPr sz="3600" b="1" i="0">
                <a:solidFill>
                  <a:srgbClr val="000000"/>
                </a:solidFill>
              </a:defRPr>
            </a:pPr>
            <a:r>
              <a:rPr sz="3600" b="1" i="0">
                <a:solidFill>
                  <a:srgbClr val="000000"/>
                </a:solidFill>
              </a:rPr>
              <a:t>XGBoost was undertuned</a:t>
            </a:r>
          </a:p>
        </p:txBody>
      </p:sp>
      <p:sp>
        <p:nvSpPr>
          <p:cNvPr id="3" name="">
            <a:extLst xmlns:a="http://schemas.openxmlformats.org/drawingml/2006/main">
              <a:ext uri="{FF2B5EF4-FFF2-40B4-BE49-F238E27FC236}">
                <a16:creationId xmlns:a16="http://schemas.microsoft.com/office/drawing/2014/main" id="{C89606A0-C691-44E6-9C50-B265F8132B7D}"/>
              </a:ext>
            </a:extLst>
          </p:cNvPr>
          <p:cNvSpPr>
            <a:spLocks xmlns:a="http://schemas.openxmlformats.org/drawingml/2006/main" noGrp="1"/>
          </p:cNvSpPr>
          <p:nvPr/>
        </p:nvSpPr>
        <p:spPr>
          <a:xfrm xmlns:a="http://schemas.openxmlformats.org/drawingml/2006/main">
            <a:off x="723900" y="3105150"/>
            <a:ext cx="57150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9D5274-E65F-4EB3-8A05-DCC4B261CD3C}"/>
              </a:ext>
            </a:extLst>
          </p:cNvPr>
          <p:cNvSpPr>
            <a:spLocks xmlns:a="http://schemas.openxmlformats.org/drawingml/2006/main" noGrp="1"/>
          </p:cNvSpPr>
          <p:nvPr/>
        </p:nvSpPr>
        <p:spPr>
          <a:xfrm xmlns:a="http://schemas.openxmlformats.org/drawingml/2006/main">
            <a:off x="723900" y="3467100"/>
            <a:ext cx="7524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0" i="0">
                <a:solidFill>
                  <a:srgbClr val="222222"/>
                </a:solidFill>
              </a:defRPr>
            </a:pPr>
            <a:r>
              <a:rPr sz="1800" b="0" i="0">
                <a:solidFill>
                  <a:srgbClr val="222222"/>
                </a:solidFill>
              </a:rPr>
              <a:t>ML-P2b keeps the ML-P2 surface fixed and changes only XGBoost depth, rounds, and minimum child weight. Parameters are selected inside each TRAIN fold before OOS replay.</a:t>
            </a:r>
          </a:p>
        </p:txBody>
      </p:sp>
      <p:sp>
        <p:nvSpPr>
          <p:cNvPr id="5" name="">
            <a:extLst xmlns:a="http://schemas.openxmlformats.org/drawingml/2006/main">
              <a:ext uri="{FF2B5EF4-FFF2-40B4-BE49-F238E27FC236}">
                <a16:creationId xmlns:a16="http://schemas.microsoft.com/office/drawing/2014/main" id="{A578EDC5-6E71-43FD-812C-65A44EE3A467}"/>
              </a:ext>
            </a:extLst>
          </p:cNvPr>
          <p:cNvSpPr>
            <a:spLocks xmlns:a="http://schemas.openxmlformats.org/drawingml/2006/main" noGrp="1"/>
          </p:cNvSpPr>
          <p:nvPr/>
        </p:nvSpPr>
        <p:spPr>
          <a:xfrm xmlns:a="http://schemas.openxmlformats.org/drawingml/2006/main">
            <a:off x="8801100" y="0"/>
            <a:ext cx="3390900" cy="68580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8ABF1EA-1D2A-41A4-84C8-4AE617D5811D}"/>
              </a:ext>
            </a:extLst>
          </p:cNvPr>
          <p:cNvSpPr>
            <a:spLocks xmlns:a="http://schemas.openxmlformats.org/drawingml/2006/main" noGrp="1"/>
          </p:cNvSpPr>
          <p:nvPr/>
        </p:nvSpPr>
        <p:spPr>
          <a:xfrm xmlns:a="http://schemas.openxmlformats.org/drawingml/2006/main">
            <a:off x="9353550" y="23431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3150" b="1" i="0">
                <a:solidFill>
                  <a:srgbClr val="000000"/>
                </a:solidFill>
              </a:defRPr>
            </a:pPr>
            <a:r>
              <a:rPr sz="3150" b="1" i="0">
                <a:solidFill>
                  <a:srgbClr val="000000"/>
                </a:solidFill>
              </a:rPr>
              <a:t>ML-P2b</a:t>
            </a:r>
          </a:p>
        </p:txBody>
      </p:sp>
      <p:sp>
        <p:nvSpPr>
          <p:cNvPr id="7" name="">
            <a:extLst xmlns:a="http://schemas.openxmlformats.org/drawingml/2006/main">
              <a:ext uri="{FF2B5EF4-FFF2-40B4-BE49-F238E27FC236}">
                <a16:creationId xmlns:a16="http://schemas.microsoft.com/office/drawing/2014/main" id="{ED963D53-7A8C-49F3-8A8E-62AF5145A0D1}"/>
              </a:ext>
            </a:extLst>
          </p:cNvPr>
          <p:cNvSpPr>
            <a:spLocks xmlns:a="http://schemas.openxmlformats.org/drawingml/2006/main" noGrp="1"/>
          </p:cNvSpPr>
          <p:nvPr/>
        </p:nvSpPr>
        <p:spPr>
          <a:xfrm xmlns:a="http://schemas.openxmlformats.org/drawingml/2006/main">
            <a:off x="9067800" y="3067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0" i="0">
                <a:solidFill>
                  <a:srgbClr val="222222"/>
                </a:solidFill>
              </a:defRPr>
            </a:pPr>
            <a:r>
              <a:rPr sz="1875" b="0" i="0">
                <a:solidFill>
                  <a:srgbClr val="222222"/>
                </a:solidFill>
              </a:rPr>
              <a:t>Small TRAIN grid</a:t>
            </a:r>
          </a:p>
        </p:txBody>
      </p:sp>
    </p:spTree>
    <p:extLst>
      <p:ext uri="{BB962C8B-B14F-4D97-AF65-F5344CB8AC3E}">
        <p14:creationId xmlns:p14="http://schemas.microsoft.com/office/powerpoint/2010/main" val="60992512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A96E563-0DA8-484F-9E5A-34FC0C9AAB18}"/>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EE757313-B8AC-43B7-BA6D-15D8A159D206}"/>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TRAIN grid wanted the most flexible candidate</a:t>
            </a:r>
          </a:p>
        </p:txBody>
      </p:sp>
      <p:sp>
        <p:nvSpPr>
          <p:cNvPr id="3" name="">
            <a:extLst xmlns:a="http://schemas.openxmlformats.org/drawingml/2006/main">
              <a:ext uri="{FF2B5EF4-FFF2-40B4-BE49-F238E27FC236}">
                <a16:creationId xmlns:a16="http://schemas.microsoft.com/office/drawing/2014/main" id="{9B20AF24-1019-41E1-B77F-9A027C4B7EE8}"/>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68B1E1-EFDA-4DEB-80D2-34BB839BA623}"/>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BB6C15B3-1197-4ABF-BEB7-F85779F9EF77}"/>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GUARDRAILS</a:t>
            </a:r>
          </a:p>
        </p:txBody>
      </p:sp>
      <p:sp>
        <p:nvSpPr>
          <p:cNvPr id="6" name="">
            <a:extLst xmlns:a="http://schemas.openxmlformats.org/drawingml/2006/main">
              <a:ext uri="{FF2B5EF4-FFF2-40B4-BE49-F238E27FC236}">
                <a16:creationId xmlns:a16="http://schemas.microsoft.com/office/drawing/2014/main" id="{7770583C-B6FF-4053-A6C8-3EC14C5F4919}"/>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All PASS</a:t>
            </a:r>
          </a:p>
        </p:txBody>
      </p:sp>
      <p:sp>
        <p:nvSpPr>
          <p:cNvPr id="7" name="">
            <a:extLst xmlns:a="http://schemas.openxmlformats.org/drawingml/2006/main">
              <a:ext uri="{FF2B5EF4-FFF2-40B4-BE49-F238E27FC236}">
                <a16:creationId xmlns:a16="http://schemas.microsoft.com/office/drawing/2014/main" id="{E1BB997E-6775-42D9-83E5-FFCF74B60BB7}"/>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Parameter and threshold choices stay inside TRAIN.</a:t>
            </a:r>
          </a:p>
        </p:txBody>
      </p:sp>
      <p:sp>
        <p:nvSpPr>
          <p:cNvPr id="8" name="">
            <a:extLst xmlns:a="http://schemas.openxmlformats.org/drawingml/2006/main">
              <a:ext uri="{FF2B5EF4-FFF2-40B4-BE49-F238E27FC236}">
                <a16:creationId xmlns:a16="http://schemas.microsoft.com/office/drawing/2014/main" id="{49219E67-B209-491A-8698-BCAEC4F331AC}"/>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EC47D93E-02BB-4F74-8CBE-884EB9C187F6}"/>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SELECTED CANDIDATE</a:t>
            </a:r>
          </a:p>
        </p:txBody>
      </p:sp>
      <p:sp>
        <p:nvSpPr>
          <p:cNvPr id="10" name="">
            <a:extLst xmlns:a="http://schemas.openxmlformats.org/drawingml/2006/main">
              <a:ext uri="{FF2B5EF4-FFF2-40B4-BE49-F238E27FC236}">
                <a16:creationId xmlns:a16="http://schemas.microsoft.com/office/drawing/2014/main" id="{EF83735E-1747-4E1A-80A2-3B59F5A3E816}"/>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d4 r100</a:t>
            </a:r>
          </a:p>
        </p:txBody>
      </p:sp>
      <p:sp>
        <p:nvSpPr>
          <p:cNvPr id="11" name="">
            <a:extLst xmlns:a="http://schemas.openxmlformats.org/drawingml/2006/main">
              <a:ext uri="{FF2B5EF4-FFF2-40B4-BE49-F238E27FC236}">
                <a16:creationId xmlns:a16="http://schemas.microsoft.com/office/drawing/2014/main" id="{93C2556E-A2B4-40D9-B5AD-94E56298F152}"/>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Unique parameter candidate selected across folds.</a:t>
            </a:r>
          </a:p>
        </p:txBody>
      </p:sp>
      <p:sp>
        <p:nvSpPr>
          <p:cNvPr id="12" name="">
            <a:extLst xmlns:a="http://schemas.openxmlformats.org/drawingml/2006/main">
              <a:ext uri="{FF2B5EF4-FFF2-40B4-BE49-F238E27FC236}">
                <a16:creationId xmlns:a16="http://schemas.microsoft.com/office/drawing/2014/main" id="{01A04DE4-DF63-4FB3-BA3B-915BDC7379D3}"/>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E5B8F069-22DD-48DF-9CCA-937993CD9BDB}"/>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DEPTH / ROUNDS</a:t>
            </a:r>
          </a:p>
        </p:txBody>
      </p:sp>
      <p:sp>
        <p:nvSpPr>
          <p:cNvPr id="14" name="">
            <a:extLst xmlns:a="http://schemas.openxmlformats.org/drawingml/2006/main">
              <a:ext uri="{FF2B5EF4-FFF2-40B4-BE49-F238E27FC236}">
                <a16:creationId xmlns:a16="http://schemas.microsoft.com/office/drawing/2014/main" id="{E0812F28-5F43-46C2-A610-93360FF5C592}"/>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 / 100</a:t>
            </a:r>
          </a:p>
        </p:txBody>
      </p:sp>
      <p:sp>
        <p:nvSpPr>
          <p:cNvPr id="15" name="">
            <a:extLst xmlns:a="http://schemas.openxmlformats.org/drawingml/2006/main">
              <a:ext uri="{FF2B5EF4-FFF2-40B4-BE49-F238E27FC236}">
                <a16:creationId xmlns:a16="http://schemas.microsoft.com/office/drawing/2014/main" id="{5355C725-FB94-440E-8086-957A89922F6B}"/>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Depth and boosting rounds selected by TRAIN proxy evidence.</a:t>
            </a:r>
          </a:p>
        </p:txBody>
      </p:sp>
      <p:sp>
        <p:nvSpPr>
          <p:cNvPr id="16" name="">
            <a:extLst xmlns:a="http://schemas.openxmlformats.org/drawingml/2006/main">
              <a:ext uri="{FF2B5EF4-FFF2-40B4-BE49-F238E27FC236}">
                <a16:creationId xmlns:a16="http://schemas.microsoft.com/office/drawing/2014/main" id="{C8B12BD7-B57B-4B9E-92FB-F7B369B3085D}"/>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D2F86187-170A-40B5-8CA6-A6E9D659E646}"/>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MIN CHILD</a:t>
            </a:r>
          </a:p>
        </p:txBody>
      </p:sp>
      <p:sp>
        <p:nvSpPr>
          <p:cNvPr id="18" name="">
            <a:extLst xmlns:a="http://schemas.openxmlformats.org/drawingml/2006/main">
              <a:ext uri="{FF2B5EF4-FFF2-40B4-BE49-F238E27FC236}">
                <a16:creationId xmlns:a16="http://schemas.microsoft.com/office/drawing/2014/main" id="{3BE8EF51-8AAB-4A74-A816-7DD748ADB581}"/>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5</a:t>
            </a:r>
          </a:p>
        </p:txBody>
      </p:sp>
      <p:sp>
        <p:nvSpPr>
          <p:cNvPr id="19" name="">
            <a:extLst xmlns:a="http://schemas.openxmlformats.org/drawingml/2006/main">
              <a:ext uri="{FF2B5EF4-FFF2-40B4-BE49-F238E27FC236}">
                <a16:creationId xmlns:a16="http://schemas.microsoft.com/office/drawing/2014/main" id="{7D93BBA6-3B22-4483-8501-DE30F3D04570}"/>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Minimum child weight selected by TRAIN proxy evidence.</a:t>
            </a:r>
          </a:p>
        </p:txBody>
      </p:sp>
      <p:sp>
        <p:nvSpPr>
          <p:cNvPr id="20" name="">
            <a:extLst xmlns:a="http://schemas.openxmlformats.org/drawingml/2006/main">
              <a:ext uri="{FF2B5EF4-FFF2-40B4-BE49-F238E27FC236}">
                <a16:creationId xmlns:a16="http://schemas.microsoft.com/office/drawing/2014/main" id="{3C5BADC4-C09B-454E-A9B0-CA7DE0D085E6}"/>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Every tested fold selected the same aggressive candidate: depth 4, 100 rounds, min_child_weight 5. That is a useful diagnostic, but it has to earn its keep OOS.</a:t>
            </a:r>
          </a:p>
        </p:txBody>
      </p:sp>
    </p:spTree>
    <p:extLst>
      <p:ext uri="{BB962C8B-B14F-4D97-AF65-F5344CB8AC3E}">
        <p14:creationId xmlns:p14="http://schemas.microsoft.com/office/powerpoint/2010/main" val="181669860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50329FA-0AE8-4620-8150-F3B145CB75F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411703BE-D16A-4F40-8243-90A624FD6A11}"/>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selected grid did not improve OOS replay</a:t>
            </a:r>
          </a:p>
        </p:txBody>
      </p:sp>
      <p:sp>
        <p:nvSpPr>
          <p:cNvPr id="3" name="">
            <a:extLst xmlns:a="http://schemas.openxmlformats.org/drawingml/2006/main">
              <a:ext uri="{FF2B5EF4-FFF2-40B4-BE49-F238E27FC236}">
                <a16:creationId xmlns:a16="http://schemas.microsoft.com/office/drawing/2014/main" id="{0213FE8A-AD91-4315-AC55-63DD760B6E5F}"/>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63102B0-B72F-41EF-B932-DEDD190D5542}"/>
              </a:ext>
            </a:extLst>
          </p:cNvPr>
          <p:cNvSpPr>
            <a:spLocks xmlns:a="http://schemas.openxmlformats.org/drawingml/2006/main" noGrp="1"/>
          </p:cNvSpPr>
          <p:nvPr/>
        </p:nvSpPr>
        <p:spPr>
          <a:xfrm xmlns:a="http://schemas.openxmlformats.org/drawingml/2006/main">
            <a:off x="7048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5" name="">
            <a:extLst xmlns:a="http://schemas.openxmlformats.org/drawingml/2006/main">
              <a:ext uri="{FF2B5EF4-FFF2-40B4-BE49-F238E27FC236}">
                <a16:creationId xmlns:a16="http://schemas.microsoft.com/office/drawing/2014/main" id="{83468A26-5C09-49F5-B198-64D1BBE1B1F8}"/>
              </a:ext>
            </a:extLst>
          </p:cNvPr>
          <p:cNvSpPr>
            <a:spLocks xmlns:a="http://schemas.openxmlformats.org/drawingml/2006/main" noGrp="1"/>
          </p:cNvSpPr>
          <p:nvPr/>
        </p:nvSpPr>
        <p:spPr>
          <a:xfrm xmlns:a="http://schemas.openxmlformats.org/drawingml/2006/main">
            <a:off x="8763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FIXED XGB</a:t>
            </a:r>
          </a:p>
        </p:txBody>
      </p:sp>
      <p:sp>
        <p:nvSpPr>
          <p:cNvPr id="6" name="">
            <a:extLst xmlns:a="http://schemas.openxmlformats.org/drawingml/2006/main">
              <a:ext uri="{FF2B5EF4-FFF2-40B4-BE49-F238E27FC236}">
                <a16:creationId xmlns:a16="http://schemas.microsoft.com/office/drawing/2014/main" id="{B1D26CE9-4A0D-4D9D-B3A3-011625C3F081}"/>
              </a:ext>
            </a:extLst>
          </p:cNvPr>
          <p:cNvSpPr>
            <a:spLocks xmlns:a="http://schemas.openxmlformats.org/drawingml/2006/main" noGrp="1"/>
          </p:cNvSpPr>
          <p:nvPr/>
        </p:nvSpPr>
        <p:spPr>
          <a:xfrm xmlns:a="http://schemas.openxmlformats.org/drawingml/2006/main">
            <a:off x="8763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108.9%</a:t>
            </a:r>
          </a:p>
        </p:txBody>
      </p:sp>
      <p:sp>
        <p:nvSpPr>
          <p:cNvPr id="7" name="">
            <a:extLst xmlns:a="http://schemas.openxmlformats.org/drawingml/2006/main">
              <a:ext uri="{FF2B5EF4-FFF2-40B4-BE49-F238E27FC236}">
                <a16:creationId xmlns:a16="http://schemas.microsoft.com/office/drawing/2014/main" id="{C1DF3E98-229A-43A6-A182-2EE55E639A55}"/>
              </a:ext>
            </a:extLst>
          </p:cNvPr>
          <p:cNvSpPr>
            <a:spLocks xmlns:a="http://schemas.openxmlformats.org/drawingml/2006/main" noGrp="1"/>
          </p:cNvSpPr>
          <p:nvPr/>
        </p:nvSpPr>
        <p:spPr>
          <a:xfrm xmlns:a="http://schemas.openxmlformats.org/drawingml/2006/main">
            <a:off x="8763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225.2%.</a:t>
            </a:r>
          </a:p>
        </p:txBody>
      </p:sp>
      <p:sp>
        <p:nvSpPr>
          <p:cNvPr id="8" name="">
            <a:extLst xmlns:a="http://schemas.openxmlformats.org/drawingml/2006/main">
              <a:ext uri="{FF2B5EF4-FFF2-40B4-BE49-F238E27FC236}">
                <a16:creationId xmlns:a16="http://schemas.microsoft.com/office/drawing/2014/main" id="{321FFE8A-4662-4C58-BAB8-CB9246C9AB77}"/>
              </a:ext>
            </a:extLst>
          </p:cNvPr>
          <p:cNvSpPr>
            <a:spLocks xmlns:a="http://schemas.openxmlformats.org/drawingml/2006/main" noGrp="1"/>
          </p:cNvSpPr>
          <p:nvPr/>
        </p:nvSpPr>
        <p:spPr>
          <a:xfrm xmlns:a="http://schemas.openxmlformats.org/drawingml/2006/main">
            <a:off x="34099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9" name="">
            <a:extLst xmlns:a="http://schemas.openxmlformats.org/drawingml/2006/main">
              <a:ext uri="{FF2B5EF4-FFF2-40B4-BE49-F238E27FC236}">
                <a16:creationId xmlns:a16="http://schemas.microsoft.com/office/drawing/2014/main" id="{AE708642-F742-434E-B987-136B3D3C70B3}"/>
              </a:ext>
            </a:extLst>
          </p:cNvPr>
          <p:cNvSpPr>
            <a:spLocks xmlns:a="http://schemas.openxmlformats.org/drawingml/2006/main" noGrp="1"/>
          </p:cNvSpPr>
          <p:nvPr/>
        </p:nvSpPr>
        <p:spPr>
          <a:xfrm xmlns:a="http://schemas.openxmlformats.org/drawingml/2006/main">
            <a:off x="35814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2020 SELECTED</a:t>
            </a:r>
          </a:p>
        </p:txBody>
      </p:sp>
      <p:sp>
        <p:nvSpPr>
          <p:cNvPr id="10" name="">
            <a:extLst xmlns:a="http://schemas.openxmlformats.org/drawingml/2006/main">
              <a:ext uri="{FF2B5EF4-FFF2-40B4-BE49-F238E27FC236}">
                <a16:creationId xmlns:a16="http://schemas.microsoft.com/office/drawing/2014/main" id="{538BE402-6708-44E4-892A-F4C970BFC4D8}"/>
              </a:ext>
            </a:extLst>
          </p:cNvPr>
          <p:cNvSpPr>
            <a:spLocks xmlns:a="http://schemas.openxmlformats.org/drawingml/2006/main" noGrp="1"/>
          </p:cNvSpPr>
          <p:nvPr/>
        </p:nvSpPr>
        <p:spPr>
          <a:xfrm xmlns:a="http://schemas.openxmlformats.org/drawingml/2006/main">
            <a:off x="35814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78.1%</a:t>
            </a:r>
          </a:p>
        </p:txBody>
      </p:sp>
      <p:sp>
        <p:nvSpPr>
          <p:cNvPr id="11" name="">
            <a:extLst xmlns:a="http://schemas.openxmlformats.org/drawingml/2006/main">
              <a:ext uri="{FF2B5EF4-FFF2-40B4-BE49-F238E27FC236}">
                <a16:creationId xmlns:a16="http://schemas.microsoft.com/office/drawing/2014/main" id="{D8EA1247-8CF7-48BA-BA03-8238470B6B98}"/>
              </a:ext>
            </a:extLst>
          </p:cNvPr>
          <p:cNvSpPr>
            <a:spLocks xmlns:a="http://schemas.openxmlformats.org/drawingml/2006/main" noGrp="1"/>
          </p:cNvSpPr>
          <p:nvPr/>
        </p:nvSpPr>
        <p:spPr>
          <a:xfrm xmlns:a="http://schemas.openxmlformats.org/drawingml/2006/main">
            <a:off x="35814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108.9%.</a:t>
            </a:r>
          </a:p>
        </p:txBody>
      </p:sp>
      <p:sp>
        <p:nvSpPr>
          <p:cNvPr id="12" name="">
            <a:extLst xmlns:a="http://schemas.openxmlformats.org/drawingml/2006/main">
              <a:ext uri="{FF2B5EF4-FFF2-40B4-BE49-F238E27FC236}">
                <a16:creationId xmlns:a16="http://schemas.microsoft.com/office/drawing/2014/main" id="{09DFE062-FA0B-4D9B-B471-79EB758E660F}"/>
              </a:ext>
            </a:extLst>
          </p:cNvPr>
          <p:cNvSpPr>
            <a:spLocks xmlns:a="http://schemas.openxmlformats.org/drawingml/2006/main" noGrp="1"/>
          </p:cNvSpPr>
          <p:nvPr/>
        </p:nvSpPr>
        <p:spPr>
          <a:xfrm xmlns:a="http://schemas.openxmlformats.org/drawingml/2006/main">
            <a:off x="61150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
            <a:extLst xmlns:a="http://schemas.openxmlformats.org/drawingml/2006/main">
              <a:ext uri="{FF2B5EF4-FFF2-40B4-BE49-F238E27FC236}">
                <a16:creationId xmlns:a16="http://schemas.microsoft.com/office/drawing/2014/main" id="{0B6D31F7-2D42-44BF-B622-9A1A594731B4}"/>
              </a:ext>
            </a:extLst>
          </p:cNvPr>
          <p:cNvSpPr>
            <a:spLocks xmlns:a="http://schemas.openxmlformats.org/drawingml/2006/main" noGrp="1"/>
          </p:cNvSpPr>
          <p:nvPr/>
        </p:nvSpPr>
        <p:spPr>
          <a:xfrm xmlns:a="http://schemas.openxmlformats.org/drawingml/2006/main">
            <a:off x="62865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FIXED XGB</a:t>
            </a:r>
          </a:p>
        </p:txBody>
      </p:sp>
      <p:sp>
        <p:nvSpPr>
          <p:cNvPr id="14" name="">
            <a:extLst xmlns:a="http://schemas.openxmlformats.org/drawingml/2006/main">
              <a:ext uri="{FF2B5EF4-FFF2-40B4-BE49-F238E27FC236}">
                <a16:creationId xmlns:a16="http://schemas.microsoft.com/office/drawing/2014/main" id="{94D7E4AE-3617-4205-A7E0-4477A0D107E0}"/>
              </a:ext>
            </a:extLst>
          </p:cNvPr>
          <p:cNvSpPr>
            <a:spLocks xmlns:a="http://schemas.openxmlformats.org/drawingml/2006/main" noGrp="1"/>
          </p:cNvSpPr>
          <p:nvPr/>
        </p:nvSpPr>
        <p:spPr>
          <a:xfrm xmlns:a="http://schemas.openxmlformats.org/drawingml/2006/main">
            <a:off x="62865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-37.8%</a:t>
            </a:r>
          </a:p>
        </p:txBody>
      </p:sp>
      <p:sp>
        <p:nvSpPr>
          <p:cNvPr id="15" name="">
            <a:extLst xmlns:a="http://schemas.openxmlformats.org/drawingml/2006/main">
              <a:ext uri="{FF2B5EF4-FFF2-40B4-BE49-F238E27FC236}">
                <a16:creationId xmlns:a16="http://schemas.microsoft.com/office/drawing/2014/main" id="{1ADE1B16-236D-4D40-A448-CEEB4823077E}"/>
              </a:ext>
            </a:extLst>
          </p:cNvPr>
          <p:cNvSpPr>
            <a:spLocks xmlns:a="http://schemas.openxmlformats.org/drawingml/2006/main" noGrp="1"/>
          </p:cNvSpPr>
          <p:nvPr/>
        </p:nvSpPr>
        <p:spPr>
          <a:xfrm xmlns:a="http://schemas.openxmlformats.org/drawingml/2006/main">
            <a:off x="62865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Basket hold was -53.3%.</a:t>
            </a:r>
          </a:p>
        </p:txBody>
      </p:sp>
      <p:sp>
        <p:nvSpPr>
          <p:cNvPr id="16" name="">
            <a:extLst xmlns:a="http://schemas.openxmlformats.org/drawingml/2006/main">
              <a:ext uri="{FF2B5EF4-FFF2-40B4-BE49-F238E27FC236}">
                <a16:creationId xmlns:a16="http://schemas.microsoft.com/office/drawing/2014/main" id="{C16E4F18-C1B7-4FD5-852E-BF2CE7183CEE}"/>
              </a:ext>
            </a:extLst>
          </p:cNvPr>
          <p:cNvSpPr>
            <a:spLocks xmlns:a="http://schemas.openxmlformats.org/drawingml/2006/main" noGrp="1"/>
          </p:cNvSpPr>
          <p:nvPr/>
        </p:nvSpPr>
        <p:spPr>
          <a:xfrm xmlns:a="http://schemas.openxmlformats.org/drawingml/2006/main">
            <a:off x="8820150" y="2152650"/>
            <a:ext cx="2333625" cy="14287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7" name="">
            <a:extLst xmlns:a="http://schemas.openxmlformats.org/drawingml/2006/main">
              <a:ext uri="{FF2B5EF4-FFF2-40B4-BE49-F238E27FC236}">
                <a16:creationId xmlns:a16="http://schemas.microsoft.com/office/drawing/2014/main" id="{A101165C-7906-4E45-9906-78843E3DA069}"/>
              </a:ext>
            </a:extLst>
          </p:cNvPr>
          <p:cNvSpPr>
            <a:spLocks xmlns:a="http://schemas.openxmlformats.org/drawingml/2006/main" noGrp="1"/>
          </p:cNvSpPr>
          <p:nvPr/>
        </p:nvSpPr>
        <p:spPr>
          <a:xfrm xmlns:a="http://schemas.openxmlformats.org/drawingml/2006/main">
            <a:off x="8991600" y="2305050"/>
            <a:ext cx="19907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i="0">
                <a:solidFill>
                  <a:srgbClr val="555555"/>
                </a:solidFill>
              </a:defRPr>
            </a:pPr>
            <a:r>
              <a:rPr sz="900" b="1" i="0">
                <a:solidFill>
                  <a:srgbClr val="555555"/>
                </a:solidFill>
              </a:rPr>
              <a:t>2022 SELECTED</a:t>
            </a:r>
          </a:p>
        </p:txBody>
      </p:sp>
      <p:sp>
        <p:nvSpPr>
          <p:cNvPr id="18" name="">
            <a:extLst xmlns:a="http://schemas.openxmlformats.org/drawingml/2006/main">
              <a:ext uri="{FF2B5EF4-FFF2-40B4-BE49-F238E27FC236}">
                <a16:creationId xmlns:a16="http://schemas.microsoft.com/office/drawing/2014/main" id="{BB546BDE-8865-4F89-A5BD-2A129BF15019}"/>
              </a:ext>
            </a:extLst>
          </p:cNvPr>
          <p:cNvSpPr>
            <a:spLocks xmlns:a="http://schemas.openxmlformats.org/drawingml/2006/main" noGrp="1"/>
          </p:cNvSpPr>
          <p:nvPr/>
        </p:nvSpPr>
        <p:spPr>
          <a:xfrm xmlns:a="http://schemas.openxmlformats.org/drawingml/2006/main">
            <a:off x="8991600" y="2552700"/>
            <a:ext cx="19907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-41.7%</a:t>
            </a:r>
          </a:p>
        </p:txBody>
      </p:sp>
      <p:sp>
        <p:nvSpPr>
          <p:cNvPr id="19" name="">
            <a:extLst xmlns:a="http://schemas.openxmlformats.org/drawingml/2006/main">
              <a:ext uri="{FF2B5EF4-FFF2-40B4-BE49-F238E27FC236}">
                <a16:creationId xmlns:a16="http://schemas.microsoft.com/office/drawing/2014/main" id="{E85D35F0-EE82-40A0-A202-3DD1F59D9F6D}"/>
              </a:ext>
            </a:extLst>
          </p:cNvPr>
          <p:cNvSpPr>
            <a:spLocks xmlns:a="http://schemas.openxmlformats.org/drawingml/2006/main" noGrp="1"/>
          </p:cNvSpPr>
          <p:nvPr/>
        </p:nvSpPr>
        <p:spPr>
          <a:xfrm xmlns:a="http://schemas.openxmlformats.org/drawingml/2006/main">
            <a:off x="8991600" y="2971800"/>
            <a:ext cx="19907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0" i="0">
                <a:solidFill>
                  <a:srgbClr val="555555"/>
                </a:solidFill>
              </a:defRPr>
            </a:pPr>
            <a:r>
              <a:rPr sz="1125" b="0" i="0">
                <a:solidFill>
                  <a:srgbClr val="555555"/>
                </a:solidFill>
              </a:rPr>
              <a:t>Fixed XGB was -37.8%.</a:t>
            </a:r>
          </a:p>
        </p:txBody>
      </p:sp>
      <p:sp>
        <p:nvSpPr>
          <p:cNvPr id="20" name="">
            <a:extLst xmlns:a="http://schemas.openxmlformats.org/drawingml/2006/main">
              <a:ext uri="{FF2B5EF4-FFF2-40B4-BE49-F238E27FC236}">
                <a16:creationId xmlns:a16="http://schemas.microsoft.com/office/drawing/2014/main" id="{A6A3DE28-A8B2-4765-8915-16565523E4F2}"/>
              </a:ext>
            </a:extLst>
          </p:cNvPr>
          <p:cNvSpPr>
            <a:spLocks xmlns:a="http://schemas.openxmlformats.org/drawingml/2006/main" noGrp="1"/>
          </p:cNvSpPr>
          <p:nvPr/>
        </p:nvSpPr>
        <p:spPr>
          <a:xfrm xmlns:a="http://schemas.openxmlformats.org/drawingml/2006/main">
            <a:off x="1066800" y="409575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100" b="1" i="0">
                <a:solidFill>
                  <a:srgbClr val="000000"/>
                </a:solidFill>
              </a:defRPr>
            </a:pPr>
            <a:r>
              <a:rPr sz="2100" b="1" i="0">
                <a:solidFill>
                  <a:srgbClr val="000000"/>
                </a:solidFill>
              </a:rPr>
              <a:t>The selected grid was worse than the fixed XGBoost control in both windows under the same TRAIN forward-return policy. This argues against widening model knobs before improving features or labels.</a:t>
            </a:r>
          </a:p>
        </p:txBody>
      </p:sp>
    </p:spTree>
    <p:extLst>
      <p:ext uri="{BB962C8B-B14F-4D97-AF65-F5344CB8AC3E}">
        <p14:creationId xmlns:p14="http://schemas.microsoft.com/office/powerpoint/2010/main" val="212700887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4C3ED63-6CAA-4E90-8FA1-746B5B57AA10}"/>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56ECFBF5-F2AE-4E2D-8B72-0EB061695904}"/>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equity curves show tuning did not solve the core tradeoff</a:t>
            </a:r>
          </a:p>
        </p:txBody>
      </p:sp>
      <p:sp>
        <p:nvSpPr>
          <p:cNvPr id="3" name="">
            <a:extLst xmlns:a="http://schemas.openxmlformats.org/drawingml/2006/main">
              <a:ext uri="{FF2B5EF4-FFF2-40B4-BE49-F238E27FC236}">
                <a16:creationId xmlns:a16="http://schemas.microsoft.com/office/drawing/2014/main" id="{9A154427-C3D4-43F9-A747-E54050B86004}"/>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01f17434fe74ed0"/>
          <a:stretch xmlns:a="http://schemas.openxmlformats.org/drawingml/2006/main"/>
        </p:blipFill>
        <p:spPr>
          <a:xfrm xmlns:a="http://schemas.openxmlformats.org/drawingml/2006/main">
            <a:off x="835819" y="2000250"/>
            <a:ext cx="6900863"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E3F76BD-1C76-4FC0-9B36-42BF94B13C91}"/>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changed</a:t>
            </a:r>
          </a:p>
        </p:txBody>
      </p:sp>
      <p:sp>
        <p:nvSpPr>
          <p:cNvPr id="6" name="">
            <a:extLst xmlns:a="http://schemas.openxmlformats.org/drawingml/2006/main">
              <a:ext uri="{FF2B5EF4-FFF2-40B4-BE49-F238E27FC236}">
                <a16:creationId xmlns:a16="http://schemas.microsoft.com/office/drawing/2014/main" id="{D7C38717-011A-4251-BEB5-45BEE804A359}"/>
              </a:ext>
            </a:extLst>
          </p:cNvPr>
          <p:cNvSpPr>
            <a:spLocks xmlns:a="http://schemas.openxmlformats.org/drawingml/2006/main" noGrp="1"/>
          </p:cNvSpPr>
          <p:nvPr/>
        </p:nvSpPr>
        <p:spPr>
          <a:xfrm xmlns:a="http://schemas.openxmlformats.org/drawingml/2006/main">
            <a:off x="8477250" y="2705100"/>
            <a:ext cx="27051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TRAIN-selected candidate returned 78.1% in 2020 versus fixed XGB 108.9%, and -41.7% in 2022 versus fixed XGB -37.8%. It did not close the bull-window gap.</a:t>
            </a:r>
          </a:p>
        </p:txBody>
      </p:sp>
    </p:spTree>
    <p:extLst>
      <p:ext uri="{BB962C8B-B14F-4D97-AF65-F5344CB8AC3E}">
        <p14:creationId xmlns:p14="http://schemas.microsoft.com/office/powerpoint/2010/main" val="115025143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5E141F2-38E7-44B4-AB71-CA6049811913}"/>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BEFEE01-1FDF-4E12-BF78-2B944CCFC74E}"/>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Ranking quality got weaker, not stronger</a:t>
            </a:r>
          </a:p>
        </p:txBody>
      </p:sp>
      <p:sp>
        <p:nvSpPr>
          <p:cNvPr id="3" name="">
            <a:extLst xmlns:a="http://schemas.openxmlformats.org/drawingml/2006/main">
              <a:ext uri="{FF2B5EF4-FFF2-40B4-BE49-F238E27FC236}">
                <a16:creationId xmlns:a16="http://schemas.microsoft.com/office/drawing/2014/main" id="{4F8492EF-B825-44E2-8F32-97EDE311456C}"/>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cc4330ed4064b17"/>
          <a:stretch xmlns:a="http://schemas.openxmlformats.org/drawingml/2006/main"/>
        </p:blipFill>
        <p:spPr>
          <a:xfrm xmlns:a="http://schemas.openxmlformats.org/drawingml/2006/main">
            <a:off x="704850" y="2214196"/>
            <a:ext cx="5715000" cy="3077308"/>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A3529E7-501A-4D9F-9B6E-B2AD1EEDCD57}"/>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Readout</a:t>
            </a:r>
          </a:p>
        </p:txBody>
      </p:sp>
      <p:sp>
        <p:nvSpPr>
          <p:cNvPr id="6" name="">
            <a:extLst xmlns:a="http://schemas.openxmlformats.org/drawingml/2006/main">
              <a:ext uri="{FF2B5EF4-FFF2-40B4-BE49-F238E27FC236}">
                <a16:creationId xmlns:a16="http://schemas.microsoft.com/office/drawing/2014/main" id="{896FCA51-0E6E-477C-9510-DAFD9D58E7D4}"/>
              </a:ext>
            </a:extLst>
          </p:cNvPr>
          <p:cNvSpPr>
            <a:spLocks xmlns:a="http://schemas.openxmlformats.org/drawingml/2006/main" noGrp="1"/>
          </p:cNvSpPr>
          <p:nvPr/>
        </p:nvSpPr>
        <p:spPr>
          <a:xfrm xmlns:a="http://schemas.openxmlformats.org/drawingml/2006/main">
            <a:off x="7105650" y="2743200"/>
            <a:ext cx="33337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selected-grid 2020 AUC was 0.489 versus fixed XGB 0.510. In 2022, selected-grid AUC was 0.481 and top-minus-bottom return separation stayed negative.</a:t>
            </a:r>
          </a:p>
        </p:txBody>
      </p:sp>
    </p:spTree>
    <p:extLst>
      <p:ext uri="{BB962C8B-B14F-4D97-AF65-F5344CB8AC3E}">
        <p14:creationId xmlns:p14="http://schemas.microsoft.com/office/powerpoint/2010/main" val="91765532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3AC0EEF-B4BB-4340-B47B-09B954BCFE42}"/>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D1B38342-E6FA-488C-8A2C-DD39A9BB1F00}"/>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parameter audit is a stop sign for knob-chasing</a:t>
            </a:r>
          </a:p>
        </p:txBody>
      </p:sp>
      <p:sp>
        <p:nvSpPr>
          <p:cNvPr id="3" name="">
            <a:extLst xmlns:a="http://schemas.openxmlformats.org/drawingml/2006/main">
              <a:ext uri="{FF2B5EF4-FFF2-40B4-BE49-F238E27FC236}">
                <a16:creationId xmlns:a16="http://schemas.microsoft.com/office/drawing/2014/main" id="{3556B95A-A570-4696-A068-BAE6ADD09B36}"/>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bfc6e0a9cca4687"/>
          <a:stretch xmlns:a="http://schemas.openxmlformats.org/drawingml/2006/main"/>
        </p:blipFill>
        <p:spPr>
          <a:xfrm xmlns:a="http://schemas.openxmlformats.org/drawingml/2006/main">
            <a:off x="704850" y="2104292"/>
            <a:ext cx="5715000" cy="329711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304694F-683E-46D1-A827-2803A12FF223}"/>
              </a:ext>
            </a:extLst>
          </p:cNvPr>
          <p:cNvSpPr>
            <a:spLocks xmlns:a="http://schemas.openxmlformats.org/drawingml/2006/main" noGrp="1"/>
          </p:cNvSpPr>
          <p:nvPr/>
        </p:nvSpPr>
        <p:spPr>
          <a:xfrm xmlns:a="http://schemas.openxmlformats.org/drawingml/2006/main">
            <a:off x="7105650" y="21336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Implication</a:t>
            </a:r>
          </a:p>
        </p:txBody>
      </p:sp>
      <p:sp>
        <p:nvSpPr>
          <p:cNvPr id="6" name="">
            <a:extLst xmlns:a="http://schemas.openxmlformats.org/drawingml/2006/main">
              <a:ext uri="{FF2B5EF4-FFF2-40B4-BE49-F238E27FC236}">
                <a16:creationId xmlns:a16="http://schemas.microsoft.com/office/drawing/2014/main" id="{D51DFAA2-DDB9-44BB-AA03-26B66554EBEF}"/>
              </a:ext>
            </a:extLst>
          </p:cNvPr>
          <p:cNvSpPr>
            <a:spLocks xmlns:a="http://schemas.openxmlformats.org/drawingml/2006/main" noGrp="1"/>
          </p:cNvSpPr>
          <p:nvPr/>
        </p:nvSpPr>
        <p:spPr>
          <a:xfrm xmlns:a="http://schemas.openxmlformats.org/drawingml/2006/main">
            <a:off x="7105650" y="2743200"/>
            <a:ext cx="3333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TRAIN proxy consistently prefers more flexible trees, but OOS evidence does not reward that flexibility. The next productive slice should target signal definition: richer feature design, alternative labels, or probability calibration with a specific hypothesis.</a:t>
            </a:r>
          </a:p>
        </p:txBody>
      </p:sp>
    </p:spTree>
    <p:extLst>
      <p:ext uri="{BB962C8B-B14F-4D97-AF65-F5344CB8AC3E}">
        <p14:creationId xmlns:p14="http://schemas.microsoft.com/office/powerpoint/2010/main" val="1233322614"/>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2CD7885-C6D3-4B48-B3C1-55959638016D}"/>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8C7567BF-EA7A-4B3D-BEBE-0F27CDEA115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Probability tapes confirm the model is still noisy near the boundary</a:t>
            </a:r>
          </a:p>
        </p:txBody>
      </p:sp>
      <p:sp>
        <p:nvSpPr>
          <p:cNvPr id="3" name="">
            <a:extLst xmlns:a="http://schemas.openxmlformats.org/drawingml/2006/main">
              <a:ext uri="{FF2B5EF4-FFF2-40B4-BE49-F238E27FC236}">
                <a16:creationId xmlns:a16="http://schemas.microsoft.com/office/drawing/2014/main" id="{CFF9DE9D-D7D2-46DC-9DF1-C8D5DF85D58E}"/>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314fa8610cb4476"/>
          <a:stretch xmlns:a="http://schemas.openxmlformats.org/drawingml/2006/main"/>
        </p:blipFill>
        <p:spPr>
          <a:xfrm xmlns:a="http://schemas.openxmlformats.org/drawingml/2006/main">
            <a:off x="1038785" y="2000250"/>
            <a:ext cx="6494929"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A03751D-7E5E-4603-B6A8-550347A62612}"/>
              </a:ext>
            </a:extLst>
          </p:cNvPr>
          <p:cNvSpPr>
            <a:spLocks xmlns:a="http://schemas.openxmlformats.org/drawingml/2006/main" noGrp="1"/>
          </p:cNvSpPr>
          <p:nvPr/>
        </p:nvSpPr>
        <p:spPr>
          <a:xfrm xmlns:a="http://schemas.openxmlformats.org/drawingml/2006/main">
            <a:off x="8477250" y="2133600"/>
            <a:ext cx="2571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i="0">
                <a:solidFill>
                  <a:srgbClr val="222222"/>
                </a:solidFill>
              </a:defRPr>
            </a:pPr>
            <a:r>
              <a:rPr sz="1950" b="1" i="0">
                <a:solidFill>
                  <a:srgbClr val="222222"/>
                </a:solidFill>
              </a:rPr>
              <a:t>What to inspect</a:t>
            </a:r>
          </a:p>
        </p:txBody>
      </p:sp>
      <p:sp>
        <p:nvSpPr>
          <p:cNvPr id="6" name="">
            <a:extLst xmlns:a="http://schemas.openxmlformats.org/drawingml/2006/main">
              <a:ext uri="{FF2B5EF4-FFF2-40B4-BE49-F238E27FC236}">
                <a16:creationId xmlns:a16="http://schemas.microsoft.com/office/drawing/2014/main" id="{7CAA214A-CE16-4C18-A85D-E62FAEDB99B6}"/>
              </a:ext>
            </a:extLst>
          </p:cNvPr>
          <p:cNvSpPr>
            <a:spLocks xmlns:a="http://schemas.openxmlformats.org/drawingml/2006/main" noGrp="1"/>
          </p:cNvSpPr>
          <p:nvPr/>
        </p:nvSpPr>
        <p:spPr>
          <a:xfrm xmlns:a="http://schemas.openxmlformats.org/drawingml/2006/main">
            <a:off x="8477250" y="2705100"/>
            <a:ext cx="27051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i="0">
                <a:solidFill>
                  <a:srgbClr val="222222"/>
                </a:solidFill>
              </a:defRPr>
            </a:pPr>
            <a:r>
              <a:rPr sz="1650" b="0" i="0">
                <a:solidFill>
                  <a:srgbClr val="222222"/>
                </a:solidFill>
              </a:rPr>
              <a:t>The selected grid changes probability texture, but it still spends too much time around the threshold rather than cleanly separating high-participation and risk-off periods.</a:t>
            </a:r>
          </a:p>
        </p:txBody>
      </p:sp>
    </p:spTree>
    <p:extLst>
      <p:ext uri="{BB962C8B-B14F-4D97-AF65-F5344CB8AC3E}">
        <p14:creationId xmlns:p14="http://schemas.microsoft.com/office/powerpoint/2010/main" val="104280716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2EC06E8-97C4-480C-B01E-7DE12654DE66}"/>
              </a:ext>
            </a:extLst>
          </p:cNvPr>
          <p:cNvSpPr>
            <a:spLocks xmlns:a="http://schemas.openxmlformats.org/drawingml/2006/main" noGrp="1"/>
          </p:cNvSpPr>
          <p:nvPr/>
        </p:nvSpPr>
        <p:spPr>
          <a:xfrm xmlns:a="http://schemas.openxmlformats.org/drawingml/2006/main">
            <a:off x="685800" y="4000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i="0">
                <a:solidFill>
                  <a:srgbClr val="555555"/>
                </a:solidFill>
              </a:defRPr>
            </a:pPr>
            <a:r>
              <a:rPr sz="975" b="1" i="0">
                <a:solidFill>
                  <a:srgbClr val="555555"/>
                </a:solidFill>
              </a:rPr>
              <a:t>GEN5.4 ML DECISION ENGINE</a:t>
            </a:r>
          </a:p>
        </p:txBody>
      </p:sp>
      <p:sp>
        <p:nvSpPr>
          <p:cNvPr id="2" name="">
            <a:extLst xmlns:a="http://schemas.openxmlformats.org/drawingml/2006/main">
              <a:ext uri="{FF2B5EF4-FFF2-40B4-BE49-F238E27FC236}">
                <a16:creationId xmlns:a16="http://schemas.microsoft.com/office/drawing/2014/main" id="{C9C54E29-469D-4B36-9C74-AAD2C7172DE2}"/>
              </a:ext>
            </a:extLst>
          </p:cNvPr>
          <p:cNvSpPr>
            <a:spLocks xmlns:a="http://schemas.openxmlformats.org/drawingml/2006/main" noGrp="1"/>
          </p:cNvSpPr>
          <p:nvPr/>
        </p:nvSpPr>
        <p:spPr>
          <a:xfrm xmlns:a="http://schemas.openxmlformats.org/drawingml/2006/main">
            <a:off x="685800" y="723900"/>
            <a:ext cx="1028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i="0">
                <a:solidFill>
                  <a:srgbClr val="000000"/>
                </a:solidFill>
              </a:defRPr>
            </a:pPr>
            <a:r>
              <a:rPr sz="2850" b="1" i="0">
                <a:solidFill>
                  <a:srgbClr val="000000"/>
                </a:solidFill>
              </a:rPr>
              <a:t>The next ML gate should return to features and labels</a:t>
            </a:r>
          </a:p>
        </p:txBody>
      </p:sp>
      <p:sp>
        <p:nvSpPr>
          <p:cNvPr id="3" name="">
            <a:extLst xmlns:a="http://schemas.openxmlformats.org/drawingml/2006/main">
              <a:ext uri="{FF2B5EF4-FFF2-40B4-BE49-F238E27FC236}">
                <a16:creationId xmlns:a16="http://schemas.microsoft.com/office/drawing/2014/main" id="{A0831858-4690-4C85-A388-F489A2D2155D}"/>
              </a:ext>
            </a:extLst>
          </p:cNvPr>
          <p:cNvSpPr>
            <a:spLocks xmlns:a="http://schemas.openxmlformats.org/drawingml/2006/main" noGrp="1"/>
          </p:cNvSpPr>
          <p:nvPr/>
        </p:nvSpPr>
        <p:spPr>
          <a:xfrm xmlns:a="http://schemas.openxmlformats.org/drawingml/2006/main">
            <a:off x="685800" y="1657350"/>
            <a:ext cx="10820400" cy="19050"/>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26F601-151A-40C5-B2BE-8FC42147EEFD}"/>
              </a:ext>
            </a:extLst>
          </p:cNvPr>
          <p:cNvSpPr>
            <a:spLocks xmlns:a="http://schemas.openxmlformats.org/drawingml/2006/main" noGrp="1"/>
          </p:cNvSpPr>
          <p:nvPr/>
        </p:nvSpPr>
        <p:spPr>
          <a:xfrm xmlns:a="http://schemas.openxmlformats.org/drawingml/2006/main">
            <a:off x="876300" y="2133600"/>
            <a:ext cx="93345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i="0">
                <a:solidFill>
                  <a:srgbClr val="000000"/>
                </a:solidFill>
              </a:defRPr>
            </a:pPr>
            <a:r>
              <a:rPr sz="2250" b="1" i="0">
                <a:solidFill>
                  <a:srgbClr val="000000"/>
                </a:solidFill>
              </a:rPr>
              <a:t>ML-P2b answered the narrow tuning question: small TRAIN-only XGBoost parameter selection did not improve OOS ranking or replay versus the fixed control.</a:t>
            </a:r>
          </a:p>
        </p:txBody>
      </p:sp>
      <p:sp>
        <p:nvSpPr>
          <p:cNvPr id="5" name="">
            <a:extLst xmlns:a="http://schemas.openxmlformats.org/drawingml/2006/main">
              <a:ext uri="{FF2B5EF4-FFF2-40B4-BE49-F238E27FC236}">
                <a16:creationId xmlns:a16="http://schemas.microsoft.com/office/drawing/2014/main" id="{70F8DF23-9458-482E-8E67-8B244E218DCF}"/>
              </a:ext>
            </a:extLst>
          </p:cNvPr>
          <p:cNvSpPr>
            <a:spLocks xmlns:a="http://schemas.openxmlformats.org/drawingml/2006/main" noGrp="1"/>
          </p:cNvSpPr>
          <p:nvPr/>
        </p:nvSpPr>
        <p:spPr>
          <a:xfrm xmlns:a="http://schemas.openxmlformats.org/drawingml/2006/main">
            <a:off x="1219200" y="35718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6" name="">
            <a:extLst xmlns:a="http://schemas.openxmlformats.org/drawingml/2006/main">
              <a:ext uri="{FF2B5EF4-FFF2-40B4-BE49-F238E27FC236}">
                <a16:creationId xmlns:a16="http://schemas.microsoft.com/office/drawing/2014/main" id="{12EE7116-B6A3-4F08-9D8B-5AB076C29097}"/>
              </a:ext>
            </a:extLst>
          </p:cNvPr>
          <p:cNvSpPr>
            <a:spLocks xmlns:a="http://schemas.openxmlformats.org/drawingml/2006/main" noGrp="1"/>
          </p:cNvSpPr>
          <p:nvPr/>
        </p:nvSpPr>
        <p:spPr>
          <a:xfrm xmlns:a="http://schemas.openxmlformats.org/drawingml/2006/main">
            <a:off x="1485900" y="35623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Do not broaden XGBoost search yet; that would mostly increase overfit surface area.</a:t>
            </a:r>
          </a:p>
        </p:txBody>
      </p:sp>
      <p:sp>
        <p:nvSpPr>
          <p:cNvPr id="7" name="">
            <a:extLst xmlns:a="http://schemas.openxmlformats.org/drawingml/2006/main">
              <a:ext uri="{FF2B5EF4-FFF2-40B4-BE49-F238E27FC236}">
                <a16:creationId xmlns:a16="http://schemas.microsoft.com/office/drawing/2014/main" id="{018C3DDA-009D-4088-A857-586C8325F88C}"/>
              </a:ext>
            </a:extLst>
          </p:cNvPr>
          <p:cNvSpPr>
            <a:spLocks xmlns:a="http://schemas.openxmlformats.org/drawingml/2006/main" noGrp="1"/>
          </p:cNvSpPr>
          <p:nvPr/>
        </p:nvSpPr>
        <p:spPr>
          <a:xfrm xmlns:a="http://schemas.openxmlformats.org/drawingml/2006/main">
            <a:off x="1219200" y="42386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8" name="">
            <a:extLst xmlns:a="http://schemas.openxmlformats.org/drawingml/2006/main">
              <a:ext uri="{FF2B5EF4-FFF2-40B4-BE49-F238E27FC236}">
                <a16:creationId xmlns:a16="http://schemas.microsoft.com/office/drawing/2014/main" id="{344D85A5-7E7C-4A1F-B63C-B2B5831A1A14}"/>
              </a:ext>
            </a:extLst>
          </p:cNvPr>
          <p:cNvSpPr>
            <a:spLocks xmlns:a="http://schemas.openxmlformats.org/drawingml/2006/main" noGrp="1"/>
          </p:cNvSpPr>
          <p:nvPr/>
        </p:nvSpPr>
        <p:spPr>
          <a:xfrm xmlns:a="http://schemas.openxmlformats.org/drawingml/2006/main">
            <a:off x="1485900" y="42291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Next high-signal slice: feature-family ablation or richer supervised labels, still under annual continuity replay.</a:t>
            </a:r>
          </a:p>
        </p:txBody>
      </p:sp>
      <p:sp>
        <p:nvSpPr>
          <p:cNvPr id="9" name="">
            <a:extLst xmlns:a="http://schemas.openxmlformats.org/drawingml/2006/main">
              <a:ext uri="{FF2B5EF4-FFF2-40B4-BE49-F238E27FC236}">
                <a16:creationId xmlns:a16="http://schemas.microsoft.com/office/drawing/2014/main" id="{DA4D43D3-3A43-4F85-9E91-F37676CCF083}"/>
              </a:ext>
            </a:extLst>
          </p:cNvPr>
          <p:cNvSpPr>
            <a:spLocks xmlns:a="http://schemas.openxmlformats.org/drawingml/2006/main" noGrp="1"/>
          </p:cNvSpPr>
          <p:nvPr/>
        </p:nvSpPr>
        <p:spPr>
          <a:xfrm xmlns:a="http://schemas.openxmlformats.org/drawingml/2006/main">
            <a:off x="1219200" y="490537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0" name="">
            <a:extLst xmlns:a="http://schemas.openxmlformats.org/drawingml/2006/main">
              <a:ext uri="{FF2B5EF4-FFF2-40B4-BE49-F238E27FC236}">
                <a16:creationId xmlns:a16="http://schemas.microsoft.com/office/drawing/2014/main" id="{21335F33-6C2D-425C-860C-6FFEDCBB46D5}"/>
              </a:ext>
            </a:extLst>
          </p:cNvPr>
          <p:cNvSpPr>
            <a:spLocks xmlns:a="http://schemas.openxmlformats.org/drawingml/2006/main" noGrp="1"/>
          </p:cNvSpPr>
          <p:nvPr/>
        </p:nvSpPr>
        <p:spPr>
          <a:xfrm xmlns:a="http://schemas.openxmlformats.org/drawingml/2006/main">
            <a:off x="1485900" y="489585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Keep XGBoost as the nonlinear model class, but make the input/target question sharper.</a:t>
            </a:r>
          </a:p>
        </p:txBody>
      </p:sp>
      <p:sp>
        <p:nvSpPr>
          <p:cNvPr id="11" name="">
            <a:extLst xmlns:a="http://schemas.openxmlformats.org/drawingml/2006/main">
              <a:ext uri="{FF2B5EF4-FFF2-40B4-BE49-F238E27FC236}">
                <a16:creationId xmlns:a16="http://schemas.microsoft.com/office/drawing/2014/main" id="{1AD9D3B5-CD67-4B61-90D7-B2805AFFBE15}"/>
              </a:ext>
            </a:extLst>
          </p:cNvPr>
          <p:cNvSpPr>
            <a:spLocks xmlns:a="http://schemas.openxmlformats.org/drawingml/2006/main" noGrp="1"/>
          </p:cNvSpPr>
          <p:nvPr/>
        </p:nvSpPr>
        <p:spPr>
          <a:xfrm xmlns:a="http://schemas.openxmlformats.org/drawingml/2006/main">
            <a:off x="1219200" y="5572125"/>
            <a:ext cx="19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i="0">
                <a:solidFill>
                  <a:srgbClr val="FF6B35"/>
                </a:solidFill>
              </a:defRPr>
            </a:pPr>
            <a:r>
              <a:rPr sz="1575" b="1" i="0">
                <a:solidFill>
                  <a:srgbClr val="FF6B35"/>
                </a:solidFill>
              </a:rPr>
              <a:t>-</a:t>
            </a:r>
          </a:p>
        </p:txBody>
      </p:sp>
      <p:sp>
        <p:nvSpPr>
          <p:cNvPr id="12" name="">
            <a:extLst xmlns:a="http://schemas.openxmlformats.org/drawingml/2006/main">
              <a:ext uri="{FF2B5EF4-FFF2-40B4-BE49-F238E27FC236}">
                <a16:creationId xmlns:a16="http://schemas.microsoft.com/office/drawing/2014/main" id="{1A1B0C11-F7BF-4818-AC77-24EDABB70B41}"/>
              </a:ext>
            </a:extLst>
          </p:cNvPr>
          <p:cNvSpPr>
            <a:spLocks xmlns:a="http://schemas.openxmlformats.org/drawingml/2006/main" noGrp="1"/>
          </p:cNvSpPr>
          <p:nvPr/>
        </p:nvSpPr>
        <p:spPr>
          <a:xfrm xmlns:a="http://schemas.openxmlformats.org/drawingml/2006/main">
            <a:off x="1485900" y="5562600"/>
            <a:ext cx="7162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i="0">
                <a:solidFill>
                  <a:srgbClr val="222222"/>
                </a:solidFill>
              </a:defRPr>
            </a:pPr>
            <a:r>
              <a:rPr sz="1575" b="0" i="0">
                <a:solidFill>
                  <a:srgbClr val="222222"/>
                </a:solidFill>
              </a:rPr>
              <a:t>Live advice remains walled off; this is research-only evidence.</a:t>
            </a:r>
          </a:p>
        </p:txBody>
      </p:sp>
    </p:spTree>
    <p:extLst>
      <p:ext uri="{BB962C8B-B14F-4D97-AF65-F5344CB8AC3E}">
        <p14:creationId xmlns:p14="http://schemas.microsoft.com/office/powerpoint/2010/main" val="92544089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2026-07-14T02:59:36.2160000Z</dcterms:created>
  <dcterms:modified xsi:type="dcterms:W3CDTF">2026-07-14T02:59:36.2160000Z</dcterms:modified>
</coreProperties>
</file>