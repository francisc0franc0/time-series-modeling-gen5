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b768d727ed44d3" /><Relationship Type="http://schemas.openxmlformats.org/officeDocument/2006/relationships/extended-properties" Target="/docProps/app.xml" Id="R81823255edd14d19" /><Relationship Type="http://schemas.openxmlformats.org/officeDocument/2006/relationships/officeDocument" Target="/ppt/presentation.xml" Id="R51a84a6500b043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dc9d7479124382"/>
  </p:sldMasterIdLst>
  <p:notesMasterIdLst>
    <p:notesMasterId xmlns:r="http://schemas.openxmlformats.org/officeDocument/2006/relationships" r:id="R08e4e6e6a69840bf"/>
  </p:notesMasterIdLst>
  <p:sldIdLst>
    <p:sldId xmlns:r="http://schemas.openxmlformats.org/officeDocument/2006/relationships" id="256" r:id="R808de1feb2d8443f"/>
    <p:sldId xmlns:r="http://schemas.openxmlformats.org/officeDocument/2006/relationships" id="257" r:id="Rac4d69db7c574064"/>
    <p:sldId xmlns:r="http://schemas.openxmlformats.org/officeDocument/2006/relationships" id="258" r:id="Rf3a384a7f4d642b0"/>
    <p:sldId xmlns:r="http://schemas.openxmlformats.org/officeDocument/2006/relationships" id="259" r:id="Rd56c43de688a49a2"/>
    <p:sldId xmlns:r="http://schemas.openxmlformats.org/officeDocument/2006/relationships" id="260" r:id="R53cbab05e027402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3eb478381d4f29" /><Relationship Type="http://schemas.openxmlformats.org/officeDocument/2006/relationships/slideMaster" Target="/ppt/slideMasters/slideMaster1.xml" Id="R5ddc9d7479124382" /><Relationship Type="http://schemas.openxmlformats.org/officeDocument/2006/relationships/notesMaster" Target="/ppt/notesMasters/notesMaster1.xml" Id="R08e4e6e6a69840bf" /><Relationship Type="http://schemas.openxmlformats.org/officeDocument/2006/relationships/presProps" Target="/ppt/presProps.xml" Id="Ra3b0545e101949ab" /><Relationship Type="http://schemas.openxmlformats.org/officeDocument/2006/relationships/tableStyles" Target="/ppt/tableStyles.xml" Id="Rba04866430b14832" /><Relationship Type="http://schemas.openxmlformats.org/officeDocument/2006/relationships/slide" Target="/ppt/slides/slide1.xml" Id="R808de1feb2d8443f" /><Relationship Type="http://schemas.openxmlformats.org/officeDocument/2006/relationships/slide" Target="/ppt/slides/slide2.xml" Id="Rac4d69db7c574064" /><Relationship Type="http://schemas.openxmlformats.org/officeDocument/2006/relationships/slide" Target="/ppt/slides/slide3.xml" Id="Rf3a384a7f4d642b0" /><Relationship Type="http://schemas.openxmlformats.org/officeDocument/2006/relationships/slide" Target="/ppt/slides/slide4.xml" Id="Rd56c43de688a49a2" /><Relationship Type="http://schemas.openxmlformats.org/officeDocument/2006/relationships/slide" Target="/ppt/slides/slide5.xml" Id="R53cbab05e02740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9b01cfd11a4e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5c7643b7c94da8" /><Relationship Type="http://schemas.openxmlformats.org/officeDocument/2006/relationships/notesMaster" Target="/ppt/notesMasters/notesMaster1.xml" Id="Rddd41e7ad0cf43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ce5ad0aa3c4eef" /><Relationship Type="http://schemas.openxmlformats.org/officeDocument/2006/relationships/notesMaster" Target="/ppt/notesMasters/notesMaster1.xml" Id="Rb88dbcca7e6940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2590ae24ce4089" /><Relationship Type="http://schemas.openxmlformats.org/officeDocument/2006/relationships/notesMaster" Target="/ppt/notesMasters/notesMaster1.xml" Id="R53a233e8db564f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bf02258df9477e" /><Relationship Type="http://schemas.openxmlformats.org/officeDocument/2006/relationships/notesMaster" Target="/ppt/notesMasters/notesMaster1.xml" Id="R12f0325418de41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eb0b86bccd44e4" /><Relationship Type="http://schemas.openxmlformats.org/officeDocument/2006/relationships/notesMaster" Target="/ppt/notesMasters/notesMaster1.xml" Id="R671b925ef1ee46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SESSION 7 - C1 PORTFOLIO-RISK FORECASTING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Correct the exposure layer's job: estimate portfolio risk rather than predict five-day return direction.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the exposure layer should probably control risk</a:t>
            </a:r>
          </a:p>
          <a:p xmlns:a="http://schemas.openxmlformats.org/drawingml/2006/main">
            <a:r>
              <a:t>Artifact: docs/GEN5_4_CROSS_SECTIONAL_ASSET_SELECTION_POC_PLAN.md</a:t>
            </a:r>
          </a:p>
          <a:p xmlns:a="http://schemas.openxmlformats.org/drawingml/2006/main">
            <a:r>
              <a:t>Boundary: diagnostic evidence only; no scaler, allocation, return replay, or live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D24 - FROZEN C1 CONTRACT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Inputs</a:t>
            </a:r>
          </a:p>
          <a:p xmlns:a="http://schemas.openxmlformats.org/drawingml/2006/main">
            <a:r>
              <a:t>Trailing 20-session equal-weight basket realized volatility; trailing 20-session SPY downside volatility; SPY drawdown from its trailing 126-session high; and trailing 60-session average cross-sectional correlation.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Target</a:t>
            </a:r>
          </a:p>
          <a:p xmlns:a="http://schemas.openxmlformats.org/drawingml/2006/main">
            <a:r>
              <a:t>Annualized realized volatility of the executable, daily rebalanced equal-weight reference basket over the next 5 and 20 open-to-open sessions. An observed basket return uses individual eligibility frozen two sessions before its ending open.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Coverage</a:t>
            </a:r>
          </a:p>
          <a:p xmlns:a="http://schemas.openxmlformats.org/drawingml/2006/main">
            <a:r>
              <a:t>At least 18 of the 24 names must be individually point-in-time eligible. The first pre-interpretation render incorrectly inherited X1's 20-name ranking minimum and blanked most of 2023Q3; it is discarded.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Promotion</a:t>
            </a:r>
          </a:p>
          <a:p xmlns:a="http://schemas.openxmlformats.org/drawingml/2006/main">
            <a:r>
              <a:t>At each horizon: positive mean fold rank correlation, positive mean high-minus-low risk separation, at least 12 of 20 positive-correlation folds, at least 12 of 20 positive-separation folds, and a 25%-75% high-state share. Both horizons must pass.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the exposure layer should probably control risk</a:t>
            </a:r>
          </a:p>
          <a:p xmlns:a="http://schemas.openxmlformats.org/drawingml/2006/main">
            <a:r>
              <a:t>Run spec: C:/Users/Franc/OneDrive/Documents/Francis/Peltata Project/Time-Series-Modeling-Gen5/runs/research_workbench/gen54_ml_decision_engine/g54_xs_c1_risk_20260719v2/c1_run_spec.csv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C1 H5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SPY drawdown 126 passed h5</a:t>
            </a:r>
          </a:p>
          <a:p xmlns:a="http://schemas.openxmlformats.org/drawingml/2006/main">
            <a:r>
              <a:t>Positive rank correlation in 18/20 folds; positive high-minus-low risk separation in 12/20; mean fold rank correlation 0.244; annualized realized-volatility separation +0.082; high-state share 43.9%.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Other features</a:t>
            </a:r>
          </a:p>
          <a:p xmlns:a="http://schemas.openxmlformats.org/drawingml/2006/main">
            <a:r>
              <a:t>SPY downside volatility reached 12/20 positive-correlation folds but only 8/20 positive-separation folds. Basket volatility reached 8/20 and 7/20. Average correlation reached 7/20 and 3/20.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Meaning</a:t>
            </a:r>
          </a:p>
          <a:p xmlns:a="http://schemas.openxmlformats.org/drawingml/2006/main">
            <a:r>
              <a:t>Recent market drawdown contains repeatable short-horizon risk information. This is a risk diagnostic, not evidence that returns will be negative.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I agree with your recommendations</a:t>
            </a:r>
          </a:p>
          <a:p xmlns:a="http://schemas.openxmlformats.org/drawingml/2006/main">
            <a:r>
              <a:t>Report: C:/Users/Franc/OneDrive/Documents/Francis/Peltata Project/Time-Series-Modeling-Gen5/runs/research_workbench/gen54_ml_decision_engine/g54_xs_c1_risk_20260719v2/c1_report.md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C1 H20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SPY drawdown 126 stopped at h20</a:t>
            </a:r>
          </a:p>
          <a:p xmlns:a="http://schemas.openxmlformats.org/drawingml/2006/main">
            <a:r>
              <a:t>Positive rank correlation in 9/20 folds; positive high-minus-low separation in 7/20; mean fold rank correlation 0.002; annualized realized-volatility separation +0.019; high-state share 42.2%.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Other features also stopped</a:t>
            </a:r>
          </a:p>
          <a:p xmlns:a="http://schemas.openxmlformats.org/drawingml/2006/main">
            <a:r>
              <a:t>Basket volatility: 5/20 positive-correlation folds and 4/20 positive-separation folds, mean correlation -0.262.</a:t>
            </a:r>
          </a:p>
          <a:p xmlns:a="http://schemas.openxmlformats.org/drawingml/2006/main">
            <a:r>
              <a:t>SPY downside volatility: 9/20 and 3/20, mean correlation -0.108.</a:t>
            </a:r>
          </a:p>
          <a:p xmlns:a="http://schemas.openxmlformats.org/drawingml/2006/main">
            <a:r>
              <a:t>Average correlation: 3/20 and 3/20, mean correlation -0.352.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Meaning</a:t>
            </a:r>
          </a:p>
          <a:p xmlns:a="http://schemas.openxmlformats.org/drawingml/2006/main">
            <a:r>
              <a:t>The apparent risk persistence is horizon-specific. A single OHLCV scaler cannot be justified across the agreed holding horizons.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I agree with your recommendations</a:t>
            </a:r>
          </a:p>
          <a:p xmlns:a="http://schemas.openxmlformats.org/drawingml/2006/main">
            <a:r>
              <a:t>Report: C:/Users/Franc/OneDrive/Documents/Francis/Peltata Project/Time-Series-Modeling-Gen5/runs/research_workbench/gen54_ml_decision_engine/g54_xs_c1_risk_20260719v2/c1_report.md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D25 - STOP BEFORE RISK-SCALER DESIGN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Readout</a:t>
            </a:r>
          </a:p>
          <a:p xmlns:a="http://schemas.openxmlformats.org/drawingml/2006/main">
            <a:r>
              <a:t>One short-horizon result is credible: SPY drawdown orders h5 realized risk. No primitive passed the complete two-horizon contract.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Why STOP</a:t>
            </a:r>
          </a:p>
          <a:p xmlns:a="http://schemas.openxmlformats.org/drawingml/2006/main">
            <a:r>
              <a:t>C1 required a risk primitive to pass both h5 and h20 before a continuous exposure scaler could be discussed. The h20 failure is not deleted after seeing the h5 success.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Authority</a:t>
            </a:r>
          </a:p>
          <a:p xmlns:a="http://schemas.openxmlformats.org/drawingml/2006/main">
            <a:r>
              <a:t>Data health INFO; 20 quarterly OOS authorities; eight-quarter TRAIN medians; nine of nine leakage and authority checks passed. Model, scaler, return replay, allocation, and live counts are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 theory gate</a:t>
            </a:r>
          </a:p>
          <a:p xmlns:a="http://schemas.openxmlformats.org/drawingml/2006/main">
            <a:r>
              <a:t>Decide whether an intentionally h5-only controller is economically coherent or whether multi-horizon stability requires an independent macro/credit risk family. Do not answer by retuning C1.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I agree with your recommendations</a:t>
            </a:r>
          </a:p>
          <a:p xmlns:a="http://schemas.openxmlformats.org/drawingml/2006/main">
            <a:r>
              <a:t>Report: C:/Users/Franc/OneDrive/Documents/Francis/Peltata Project/Time-Series-Modeling-Gen5/runs/research_workbench/gen54_ml_decision_engine/g54_xs_c1_risk_20260719v2/c1_report.md</a:t>
            </a:r>
          </a:p>
          <a:p xmlns:a="http://schemas.openxmlformats.org/drawingml/2006/main">
            <a:r>
              <a:t>Status: STOP_BEFORE_RISK_SCALER_DESIGN.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fe53ce7d1743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bc7614ea524ac3" /><Relationship Type="http://schemas.openxmlformats.org/officeDocument/2006/relationships/slideLayout" Target="/ppt/slideLayouts/slideLayout1.xml" Id="R0f45bad8325b41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45bad8325b41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d083907304a32" /><Relationship Type="http://schemas.openxmlformats.org/officeDocument/2006/relationships/notesSlide" Target="/ppt/notesSlides/notesSlide1.xml" Id="R95393aba28b54e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7b2481f5d4ff9" /><Relationship Type="http://schemas.openxmlformats.org/officeDocument/2006/relationships/notesSlide" Target="/ppt/notesSlides/notesSlide2.xml" Id="R186570ec6b714a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9792841b94656" /><Relationship Type="http://schemas.openxmlformats.org/officeDocument/2006/relationships/image" Target="/ppt/media/image.png" Id="R8b71de46ab0d4711" /><Relationship Type="http://schemas.openxmlformats.org/officeDocument/2006/relationships/notesSlide" Target="/ppt/notesSlides/notesSlide3.xml" Id="R7b93f670ccd446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af447cb80450b" /><Relationship Type="http://schemas.openxmlformats.org/officeDocument/2006/relationships/image" Target="/ppt/media/image2.png" Id="Re09fe5eb7407429a" /><Relationship Type="http://schemas.openxmlformats.org/officeDocument/2006/relationships/notesSlide" Target="/ppt/notesSlides/notesSlide4.xml" Id="R7a403ab1e33548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95b92b37945b6" /><Relationship Type="http://schemas.openxmlformats.org/officeDocument/2006/relationships/image" Target="/ppt/media/image3.png" Id="R4cd9158dd0544321" /><Relationship Type="http://schemas.openxmlformats.org/officeDocument/2006/relationships/notesSlide" Target="/ppt/notesSlides/notesSlide5.xml" Id="R57b5c6f514f84f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E9F33-2E02-4887-9BA5-D4C283F7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S7/01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10206-C75C-445A-A56D-E05DAD2D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SESSION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625A6-0B63-4E1C-81ED-B9E78F88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07632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Risk is more forecastable than return;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that still does not guarantee a scaler.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ACAB6-605B-492B-8C9A-F7560B4A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0001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Alpha vs risk  •  executable basket  •  two horizons  •  frozen STOP</a:t>
            </a:r>
          </a:p>
        </p:txBody>
      </p:sp>
    </p:spTree>
    <p:extLst>
      <p:ext uri="{BB962C8B-B14F-4D97-AF65-F5344CB8AC3E}">
        <p14:creationId xmlns:p14="http://schemas.microsoft.com/office/powerpoint/2010/main" val="18048084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2337DE-1564-4CEA-B7B6-C1A9FD80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C1 asks whether stress orders risk - not whether prices go 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6D795-41F9-4DB7-9099-EC48DEC9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D24/02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666750" y="312420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FB53C-0264-4D46-A2E8-A3B6F307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E284B-98CD-40CC-BECA-F4B7B3E4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C6243-0F8C-4A38-9888-EF2824DA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A5C70-6898-4F96-9947-2F85AED5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RISK INPUTS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15B3C-F39A-4E90-9150-8002EDF2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27622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47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Four OHLCV stress measures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available after close 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22BFC-B68D-488F-929D-4939A7B7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27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EXECUTABLE LABEL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6681A-4E7A-4BA0-B61A-73DFB448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62350"/>
            <a:ext cx="2857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891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h5 + h20 realized volatility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after next-open execution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9A921-CA0E-41AF-AEC6-CCF88037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PROMOTION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D44CB-FC2E-4D38-9C42-CC9A84E2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62350"/>
            <a:ext cx="3238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498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Both horizons + 12 / 20 folds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with TRAIN-only medians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8A186-326F-4097-AAA4-3983A658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0287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No scaler, return replay, target volatility, allocation, or live change.</a:t>
            </a:r>
          </a:p>
        </p:txBody>
      </p:sp>
    </p:spTree>
    <p:extLst>
      <p:ext uri="{BB962C8B-B14F-4D97-AF65-F5344CB8AC3E}">
        <p14:creationId xmlns:p14="http://schemas.microsoft.com/office/powerpoint/2010/main" val="15343699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SPY drawdown is a credible h5 risk diagnostic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C1-h5/03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1de46ab0d4711"/>
          <a:stretch xmlns:a="http://schemas.openxmlformats.org/drawingml/2006/main"/>
        </p:blipFill>
        <p:spPr>
          <a:xfrm xmlns:a="http://schemas.openxmlformats.org/drawingml/2006/main" flipH="0" flipV="0">
            <a:off x="2286000" y="1381125"/>
            <a:ext cx="7620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34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same signal does not survive h20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765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C1-h20/04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9fe5eb7407429a"/>
          <a:stretch xmlns:a="http://schemas.openxmlformats.org/drawingml/2006/main"/>
        </p:blipFill>
        <p:spPr>
          <a:xfrm xmlns:a="http://schemas.openxmlformats.org/drawingml/2006/main" flipH="0" flipV="0">
            <a:off x="2133600" y="1381125"/>
            <a:ext cx="79248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34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Horizon specificity stops the scaler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D25/05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d9158dd0544321"/>
          <a:stretch xmlns:a="http://schemas.openxmlformats.org/drawingml/2006/main"/>
        </p:blipFill>
        <p:spPr>
          <a:xfrm xmlns:a="http://schemas.openxmlformats.org/drawingml/2006/main" flipH="0" flipV="0">
            <a:off x="400050" y="1992007"/>
            <a:ext cx="5476875" cy="3159736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00E1C-C4F4-42C7-BF5A-84635317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19250"/>
            <a:ext cx="53340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OVERALL: STOP BEFORE RISK SCALER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PASS  9 / 9 leakage checks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PASS  SPY drawdown at h5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STOP  SPY drawdown at h20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STOP  Three other primitives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STOP  No scaler or replay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Policy fits: 0</a:t>
            </a:r>
          </a:p>
        </p:txBody>
      </p:sp>
    </p:spTree>
    <p:extLst>
      <p:ext uri="{BB962C8B-B14F-4D97-AF65-F5344CB8AC3E}">
        <p14:creationId xmlns:p14="http://schemas.microsoft.com/office/powerpoint/2010/main" val="5181134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2026-07-19T12:51:29.9100000Z</dcterms:created>
  <dcterms:modified xsi:type="dcterms:W3CDTF">2026-07-19T12:51:29.9100000Z</dcterms:modified>
</coreProperties>
</file>