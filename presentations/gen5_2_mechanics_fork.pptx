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a91c6af264325" /><Relationship Type="http://schemas.openxmlformats.org/officeDocument/2006/relationships/extended-properties" Target="/docProps/app.xml" Id="Re2821ef51f1a43e7" /><Relationship Type="http://schemas.openxmlformats.org/officeDocument/2006/relationships/officeDocument" Target="/ppt/presentation.xml" Id="Redda8ce7bb59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489f519b69428c"/>
  </p:sldMasterIdLst>
  <p:notesMasterIdLst>
    <p:notesMasterId xmlns:r="http://schemas.openxmlformats.org/officeDocument/2006/relationships" r:id="R50e6d85050b747b3"/>
  </p:notesMasterIdLst>
  <p:sldIdLst>
    <p:sldId xmlns:r="http://schemas.openxmlformats.org/officeDocument/2006/relationships" id="256" r:id="R4830aaa1145741cd"/>
    <p:sldId xmlns:r="http://schemas.openxmlformats.org/officeDocument/2006/relationships" id="257" r:id="Ra2960ed55d374c0d"/>
    <p:sldId xmlns:r="http://schemas.openxmlformats.org/officeDocument/2006/relationships" id="258" r:id="Rf5b0217318e34791"/>
    <p:sldId xmlns:r="http://schemas.openxmlformats.org/officeDocument/2006/relationships" id="259" r:id="R86586f3017e64f09"/>
    <p:sldId xmlns:r="http://schemas.openxmlformats.org/officeDocument/2006/relationships" id="260" r:id="R6402372af9c5466e"/>
    <p:sldId xmlns:r="http://schemas.openxmlformats.org/officeDocument/2006/relationships" id="261" r:id="R73643ce273db46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1db0568744aba" /><Relationship Type="http://schemas.openxmlformats.org/officeDocument/2006/relationships/slideMaster" Target="/ppt/slideMasters/slideMaster1.xml" Id="R56489f519b69428c" /><Relationship Type="http://schemas.openxmlformats.org/officeDocument/2006/relationships/notesMaster" Target="/ppt/notesMasters/notesMaster1.xml" Id="R50e6d85050b747b3" /><Relationship Type="http://schemas.openxmlformats.org/officeDocument/2006/relationships/presProps" Target="/ppt/presProps.xml" Id="Rd03473aad49b493a" /><Relationship Type="http://schemas.openxmlformats.org/officeDocument/2006/relationships/tableStyles" Target="/ppt/tableStyles.xml" Id="R33d34ecc749c403c" /><Relationship Type="http://schemas.openxmlformats.org/officeDocument/2006/relationships/slide" Target="/ppt/slides/slide1.xml" Id="R4830aaa1145741cd" /><Relationship Type="http://schemas.openxmlformats.org/officeDocument/2006/relationships/slide" Target="/ppt/slides/slide2.xml" Id="Ra2960ed55d374c0d" /><Relationship Type="http://schemas.openxmlformats.org/officeDocument/2006/relationships/slide" Target="/ppt/slides/slide3.xml" Id="Rf5b0217318e34791" /><Relationship Type="http://schemas.openxmlformats.org/officeDocument/2006/relationships/slide" Target="/ppt/slides/slide4.xml" Id="R86586f3017e64f09" /><Relationship Type="http://schemas.openxmlformats.org/officeDocument/2006/relationships/slide" Target="/ppt/slides/slide5.xml" Id="R6402372af9c5466e" /><Relationship Type="http://schemas.openxmlformats.org/officeDocument/2006/relationships/slide" Target="/ppt/slides/slide6.xml" Id="R73643ce273db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ec655cf3b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c365d51e7445fc" /><Relationship Type="http://schemas.openxmlformats.org/officeDocument/2006/relationships/notesMaster" Target="/ppt/notesMasters/notesMaster1.xml" Id="R1c930780cc84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0471a159b4d72" /><Relationship Type="http://schemas.openxmlformats.org/officeDocument/2006/relationships/notesMaster" Target="/ppt/notesMasters/notesMaster1.xml" Id="Rf3bc6ab75a44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d7d19be054b61" /><Relationship Type="http://schemas.openxmlformats.org/officeDocument/2006/relationships/notesMaster" Target="/ppt/notesMasters/notesMaster1.xml" Id="Rfff72c889ad844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2037903d2441c" /><Relationship Type="http://schemas.openxmlformats.org/officeDocument/2006/relationships/notesMaster" Target="/ppt/notesMasters/notesMaster1.xml" Id="R36f80c1f138245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22910593774f9b" /><Relationship Type="http://schemas.openxmlformats.org/officeDocument/2006/relationships/notesMaster" Target="/ppt/notesMasters/notesMaster1.xml" Id="R5755edd50e204f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3400a067a4836" /><Relationship Type="http://schemas.openxmlformats.org/officeDocument/2006/relationships/notesMaster" Target="/ppt/notesMasters/notesMaster1.xml" Id="Rb0faf1a2b2c846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2c258e469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589a259256465d" /><Relationship Type="http://schemas.openxmlformats.org/officeDocument/2006/relationships/slideLayout" Target="/ppt/slideLayouts/slideLayout1.xml" Id="Rba17f20dbcf34f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7f20dbcf34f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808ffceed467e" /><Relationship Type="http://schemas.openxmlformats.org/officeDocument/2006/relationships/notesSlide" Target="/ppt/notesSlides/notesSlide1.xml" Id="R827d58a49841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5947d29ab4fad" /><Relationship Type="http://schemas.openxmlformats.org/officeDocument/2006/relationships/notesSlide" Target="/ppt/notesSlides/notesSlide2.xml" Id="R46ba63f3b792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e59f7b3754566" /><Relationship Type="http://schemas.openxmlformats.org/officeDocument/2006/relationships/notesSlide" Target="/ppt/notesSlides/notesSlide3.xml" Id="R57f4f829a633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8b5e8cf5641b5" /><Relationship Type="http://schemas.openxmlformats.org/officeDocument/2006/relationships/notesSlide" Target="/ppt/notesSlides/notesSlide4.xml" Id="R36d7bb19235f4a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87faf0ec9478d" /><Relationship Type="http://schemas.openxmlformats.org/officeDocument/2006/relationships/notesSlide" Target="/ppt/notesSlides/notesSlide5.xml" Id="R115ef7529012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763a326c3432b" /><Relationship Type="http://schemas.openxmlformats.org/officeDocument/2006/relationships/notesSlide" Target="/ppt/notesSlides/notesSlide6.xml" Id="R6cf247ae8483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band">
            <a:extLst xmlns:a="http://schemas.openxmlformats.org/drawingml/2006/main">
              <a:ext uri="{FF2B5EF4-FFF2-40B4-BE49-F238E27FC236}">
                <a16:creationId xmlns:a16="http://schemas.microsoft.com/office/drawing/2014/main" id="{E66C990C-FB3E-4E06-B868-8DB06649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E656DD2-BEF8-4761-9CD7-5254B829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GEN5.2 MECHANICS FORK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38C433-5812-44CC-B9AF-8FC07273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14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Gen5.2 makes the mechanics fork explicit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3C07FF6-AF82-4577-8057-5B895093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828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A focused cleanup after the Gen4-vs-Gen5.1 forensic screens: make the selection policy, no-trade semantics, and replay surfaces auditable before rerunning evidence.</a:t>
            </a:r>
          </a:p>
        </p:txBody>
      </p:sp>
      <p:sp>
        <p:nvSpPr>
          <p:cNvPr id="5" name="branch-box">
            <a:extLst xmlns:a="http://schemas.openxmlformats.org/drawingml/2006/main">
              <a:ext uri="{FF2B5EF4-FFF2-40B4-BE49-F238E27FC236}">
                <a16:creationId xmlns:a16="http://schemas.microsoft.com/office/drawing/2014/main" id="{9382ED5B-75F5-4C8B-A8B7-C2AAEE8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branch">
            <a:extLst xmlns:a="http://schemas.openxmlformats.org/drawingml/2006/main">
              <a:ext uri="{FF2B5EF4-FFF2-40B4-BE49-F238E27FC236}">
                <a16:creationId xmlns:a16="http://schemas.microsoft.com/office/drawing/2014/main" id="{AFBA6A41-6ABB-4D68-BFEE-D8141AFF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Branch: codex/Gen5.2-gen4-faithful-policy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Updated: July 7, 2026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D983B47-1F29-4A1C-AC85-725E0160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Time-Series-Modeling Gen5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93918D-24BA-4F27-BAB3-4E100840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9688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AC366EE-1003-405D-A85E-D8BB58C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GEN5.2 MECHANICS FORK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9A35A-BD88-48A5-8F56-2334C79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alpha gap became a mechanics question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CE9C4A-5B50-424F-860A-961675E1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evidence-0">
            <a:extLst xmlns:a="http://schemas.openxmlformats.org/drawingml/2006/main">
              <a:ext uri="{FF2B5EF4-FFF2-40B4-BE49-F238E27FC236}">
                <a16:creationId xmlns:a16="http://schemas.microsoft.com/office/drawing/2014/main" id="{634A335F-70B2-471A-A76E-4AB1FF99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evidence-head-0">
            <a:extLst xmlns:a="http://schemas.openxmlformats.org/drawingml/2006/main">
              <a:ext uri="{FF2B5EF4-FFF2-40B4-BE49-F238E27FC236}">
                <a16:creationId xmlns:a16="http://schemas.microsoft.com/office/drawing/2014/main" id="{5BA548D0-17B8-4371-B2A1-EBE06C48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Visible settings matched</a:t>
            </a:r>
          </a:p>
        </p:txBody>
      </p:sp>
      <p:sp>
        <p:nvSpPr>
          <p:cNvPr id="6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2B569CBD-5C27-4C00-AE8A-BCED5B04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914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Basket, context, PCA mode, bins, and grid breadth could be made close to Gen4.</a:t>
            </a:r>
          </a:p>
        </p:txBody>
      </p:sp>
      <p:sp>
        <p:nvSpPr>
          <p:cNvPr id="7" name="evidence-1">
            <a:extLst xmlns:a="http://schemas.openxmlformats.org/drawingml/2006/main">
              <a:ext uri="{FF2B5EF4-FFF2-40B4-BE49-F238E27FC236}">
                <a16:creationId xmlns:a16="http://schemas.microsoft.com/office/drawing/2014/main" id="{83D8C8E7-C66E-4D34-8C88-4B301B50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evidence-head-1">
            <a:extLst xmlns:a="http://schemas.openxmlformats.org/drawingml/2006/main">
              <a:ext uri="{FF2B5EF4-FFF2-40B4-BE49-F238E27FC236}">
                <a16:creationId xmlns:a16="http://schemas.microsoft.com/office/drawing/2014/main" id="{C8D052EC-47E3-40F8-B18F-18CA8EF7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Authority still differed</a:t>
            </a:r>
          </a:p>
        </p:txBody>
      </p:sp>
      <p:sp>
        <p:nvSpPr>
          <p:cNvPr id="9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A1F62422-AB94-4E7A-A20B-57F09AB0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7050"/>
            <a:ext cx="2914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Gen4 chose a state-level family first, then asset params. Gen5.1 direct-spec picked the whole asset/state spec directly.</a:t>
            </a:r>
          </a:p>
        </p:txBody>
      </p:sp>
      <p:sp>
        <p:nvSpPr>
          <p:cNvPr id="10" name="evidence-2">
            <a:extLst xmlns:a="http://schemas.openxmlformats.org/drawingml/2006/main">
              <a:ext uri="{FF2B5EF4-FFF2-40B4-BE49-F238E27FC236}">
                <a16:creationId xmlns:a16="http://schemas.microsoft.com/office/drawing/2014/main" id="{407B3F42-B9C1-4D89-9F44-B9F30798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evidence-head-2">
            <a:extLst xmlns:a="http://schemas.openxmlformats.org/drawingml/2006/main">
              <a:ext uri="{FF2B5EF4-FFF2-40B4-BE49-F238E27FC236}">
                <a16:creationId xmlns:a16="http://schemas.microsoft.com/office/drawing/2014/main" id="{2789CEA9-B8E6-4ABB-A337-61CD4F43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Assessment needed cleanup</a:t>
            </a:r>
          </a:p>
        </p:txBody>
      </p:sp>
      <p:sp>
        <p:nvSpPr>
          <p:cNvPr id="12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276222F6-8927-4318-8313-FA44E6A0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914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Mean daily projection was useful for artifact parity, but it is not the capital path we trade.</a:t>
            </a:r>
          </a:p>
        </p:txBody>
      </p:sp>
      <p:sp>
        <p:nvSpPr>
          <p:cNvPr id="13" name="takeaway-bg">
            <a:extLst xmlns:a="http://schemas.openxmlformats.org/drawingml/2006/main">
              <a:ext uri="{FF2B5EF4-FFF2-40B4-BE49-F238E27FC236}">
                <a16:creationId xmlns:a16="http://schemas.microsoft.com/office/drawing/2014/main" id="{FA971291-B7EA-492A-951A-E2B6F8D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FA41A750-2A26-45D8-91A9-CBF7FD8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Takeaway: fix the mechanics first, then rerun the evidence screens under one clear replay surface.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20C319A-9DD7-4E5C-8A92-5DD8E58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Time-Series-Modeling Gen5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481E263-D8C4-4D7D-AFF4-48CEF62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201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7E4C1F4-B7D7-4888-9681-B0B318DF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GEN5.2 MECHANICS FORK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FFDFFF-D3E7-4B50-A39F-6F2C4102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pooled-family policy now follows the Gen4 recipe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FDF74A1-1FEB-4EB2-9E28-582B14C4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30D057C9-EE69-47C0-80D4-66243A19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5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85ACA6FF-8EAF-4372-9476-2A882B91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65EB33AE-9C46-4740-895F-CB1625D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Score TRAIN rows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2EFB954B-E26E-4D44-8FF3-49537505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 TRAIN-only state evidence. No OOS row may enter selection.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37639E5-5903-4663-A000-CEEAD0F5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205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num-1">
            <a:extLst xmlns:a="http://schemas.openxmlformats.org/drawingml/2006/main">
              <a:ext uri="{FF2B5EF4-FFF2-40B4-BE49-F238E27FC236}">
                <a16:creationId xmlns:a16="http://schemas.microsoft.com/office/drawing/2014/main" id="{FC25721B-981E-4772-B92F-DA7FE2F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28E9753B-4432-452F-8882-CA29916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Require enough trades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140145F1-F2ED-4130-8065-543E322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76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Active candidates need at least five TRAIN trades inside the state.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907E88AF-DABB-4243-8233-53200040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205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4B68F487-8FAD-4550-AE30-5415E6F9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head-2">
            <a:extLst xmlns:a="http://schemas.openxmlformats.org/drawingml/2006/main">
              <a:ext uri="{FF2B5EF4-FFF2-40B4-BE49-F238E27FC236}">
                <a16:creationId xmlns:a16="http://schemas.microsoft.com/office/drawing/2014/main" id="{0B171F82-2B16-47AE-AD88-D6A117A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90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Let no-trade compete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695AA8F1-0ED8-41E0-BAA6-466EBE0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Abstention remains a valid state choice instead of an afterthought.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F470C0FF-C30C-4F19-8B4D-5F5096F7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205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300818EA-BC23-41EE-B00F-AE838F7E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head-3">
            <a:extLst xmlns:a="http://schemas.openxmlformats.org/drawingml/2006/main">
              <a:ext uri="{FF2B5EF4-FFF2-40B4-BE49-F238E27FC236}">
                <a16:creationId xmlns:a16="http://schemas.microsoft.com/office/drawing/2014/main" id="{A21AE480-F2DC-459A-8455-9DB4B68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Pick the family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6EA71E40-16CA-450B-87EA-14374DD8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Rank families by mean score, mean return, and evidence breadth.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1BD917AD-72DA-4A93-B23E-F33A0A6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205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num-4">
            <a:extLst xmlns:a="http://schemas.openxmlformats.org/drawingml/2006/main">
              <a:ext uri="{FF2B5EF4-FFF2-40B4-BE49-F238E27FC236}">
                <a16:creationId xmlns:a16="http://schemas.microsoft.com/office/drawing/2014/main" id="{3EB02777-382D-4A5E-92A9-BE13FFE8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head-4">
            <a:extLst xmlns:a="http://schemas.openxmlformats.org/drawingml/2006/main">
              <a:ext uri="{FF2B5EF4-FFF2-40B4-BE49-F238E27FC236}">
                <a16:creationId xmlns:a16="http://schemas.microsoft.com/office/drawing/2014/main" id="{669328C8-B975-4EBF-8AAA-7726905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Pick asset params</a:t>
            </a:r>
          </a:p>
        </p:txBody>
      </p:sp>
      <p:sp>
        <p:nvSpPr>
          <p:cNvPr id="23" name="body-4">
            <a:extLst xmlns:a="http://schemas.openxmlformats.org/drawingml/2006/main">
              <a:ext uri="{FF2B5EF4-FFF2-40B4-BE49-F238E27FC236}">
                <a16:creationId xmlns:a16="http://schemas.microsoft.com/office/drawing/2014/main" id="{3C91F4EF-1F60-4D0E-A94B-9BFEAE0F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Within that family, choose the asset-specific variant by score then return.</a:t>
            </a:r>
          </a:p>
        </p:txBody>
      </p:sp>
      <p:sp>
        <p:nvSpPr>
          <p:cNvPr id="24" name="code-note">
            <a:extLst xmlns:a="http://schemas.openxmlformats.org/drawingml/2006/main">
              <a:ext uri="{FF2B5EF4-FFF2-40B4-BE49-F238E27FC236}">
                <a16:creationId xmlns:a16="http://schemas.microsoft.com/office/drawing/2014/main" id="{628DB34E-E5B8-42DE-9452-23564CD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Implemented as the public pooled_family_asset_variant policy with selection_policy_recipe = gen4_phase40_pooled_family_asset_variant.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4CFEE7-E540-4B11-939C-A2CE47E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Time-Series-Modeling Gen5</a:t>
            </a:r>
          </a:p>
        </p:txBody>
      </p:sp>
      <p:sp>
        <p:nvSpPr>
          <p:cNvPr id="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EB799B-086D-4C7F-A40B-F46B357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2580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A3037ED-2957-4CC4-871A-CF647696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GEN5.2 MECHANICS FORK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14D683-FCDD-4660-9EA9-80BADD2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No-trade now separates abstention from risk-off exit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6586603-4D44-47DF-AC57-22F4B92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left-panel">
            <a:extLst xmlns:a="http://schemas.openxmlformats.org/drawingml/2006/main">
              <a:ext uri="{FF2B5EF4-FFF2-40B4-BE49-F238E27FC236}">
                <a16:creationId xmlns:a16="http://schemas.microsoft.com/office/drawing/2014/main" id="{23A5EC7C-091A-491D-A8D1-7ED2687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ight-panel">
            <a:extLst xmlns:a="http://schemas.openxmlformats.org/drawingml/2006/main">
              <a:ext uri="{FF2B5EF4-FFF2-40B4-BE49-F238E27FC236}">
                <a16:creationId xmlns:a16="http://schemas.microsoft.com/office/drawing/2014/main" id="{27B3E23E-8437-4EA4-89FE-ECA1871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0F5EE813-E7E8-49D4-9B7C-F07EC30C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Ordinary no_trade</a:t>
            </a:r>
          </a:p>
        </p:txBody>
      </p:sp>
      <p:sp>
        <p:nvSpPr>
          <p:cNvPr id="7" name="left-b-0">
            <a:extLst xmlns:a="http://schemas.openxmlformats.org/drawingml/2006/main">
              <a:ext uri="{FF2B5EF4-FFF2-40B4-BE49-F238E27FC236}">
                <a16:creationId xmlns:a16="http://schemas.microsoft.com/office/drawing/2014/main" id="{041EBF2D-379C-4DAF-8562-7C2CCD3E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Used when flat and the state does not justify a trade.</a:t>
            </a:r>
          </a:p>
        </p:txBody>
      </p:sp>
      <p:sp>
        <p:nvSpPr>
          <p:cNvPr id="8" name="left-b-1">
            <a:extLst xmlns:a="http://schemas.openxmlformats.org/drawingml/2006/main">
              <a:ext uri="{FF2B5EF4-FFF2-40B4-BE49-F238E27FC236}">
                <a16:creationId xmlns:a16="http://schemas.microsoft.com/office/drawing/2014/main" id="{3D237F9B-FEAD-44C8-9B7B-5B731716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Does not become a native exit rule for a trade already open.</a:t>
            </a:r>
          </a:p>
        </p:txBody>
      </p:sp>
      <p:sp>
        <p:nvSpPr>
          <p:cNvPr id="9" name="left-b-2">
            <a:extLst xmlns:a="http://schemas.openxmlformats.org/drawingml/2006/main">
              <a:ext uri="{FF2B5EF4-FFF2-40B4-BE49-F238E27FC236}">
                <a16:creationId xmlns:a16="http://schemas.microsoft.com/office/drawing/2014/main" id="{7D4B73E7-62D0-497A-AD9C-797559E5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Keeps entry-state ownership intact.</a:t>
            </a:r>
          </a:p>
        </p:txBody>
      </p:sp>
      <p:sp>
        <p:nvSpPr>
          <p:cNvPr id="1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B4338A14-C758-44DD-BCB4-0FE75163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no_trade_exit_immediate</a:t>
            </a:r>
          </a:p>
        </p:txBody>
      </p:sp>
      <p:sp>
        <p:nvSpPr>
          <p:cNvPr id="11" name="right-b-0">
            <a:extLst xmlns:a="http://schemas.openxmlformats.org/drawingml/2006/main">
              <a:ext uri="{FF2B5EF4-FFF2-40B4-BE49-F238E27FC236}">
                <a16:creationId xmlns:a16="http://schemas.microsoft.com/office/drawing/2014/main" id="{739241D3-5090-4705-B2BA-682D7845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Represented as state_exit_override_action = force_exit_next_open.</a:t>
            </a:r>
          </a:p>
        </p:txBody>
      </p:sp>
      <p:sp>
        <p:nvSpPr>
          <p:cNvPr id="12" name="right-b-1">
            <a:extLst xmlns:a="http://schemas.openxmlformats.org/drawingml/2006/main">
              <a:ext uri="{FF2B5EF4-FFF2-40B4-BE49-F238E27FC236}">
                <a16:creationId xmlns:a16="http://schemas.microsoft.com/office/drawing/2014/main" id="{F62A97F9-A3DF-410C-988F-11C0E69D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If the current state is risk-off while long, advice exits next open.</a:t>
            </a:r>
          </a:p>
        </p:txBody>
      </p:sp>
      <p:sp>
        <p:nvSpPr>
          <p:cNvPr id="13" name="right-b-2">
            <a:extLst xmlns:a="http://schemas.openxmlformats.org/drawingml/2006/main">
              <a:ext uri="{FF2B5EF4-FFF2-40B4-BE49-F238E27FC236}">
                <a16:creationId xmlns:a16="http://schemas.microsoft.com/office/drawing/2014/main" id="{FE376E62-FDD7-4892-9340-F2D90EA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This is the one explicit current-state exception.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AB17ADD9-ECC9-4EF8-894C-41CD308A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bottom">
            <a:extLst xmlns:a="http://schemas.openxmlformats.org/drawingml/2006/main">
              <a:ext uri="{FF2B5EF4-FFF2-40B4-BE49-F238E27FC236}">
                <a16:creationId xmlns:a16="http://schemas.microsoft.com/office/drawing/2014/main" id="{7071615E-9F10-4A3D-940E-9E9CEF32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This keeps two concepts from blurring together: do not enter versus flatten an existing trade.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1342EF-C6BF-4E0E-A225-1106EA6C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Time-Series-Modeling Gen5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01B2638-7171-439F-91BE-D37BD51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2830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EFCFD38-8E1E-4901-B79F-C05BB16A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GEN5.2 MECHANICS FORK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1F3EB2-4B6B-413C-9C74-26C824D7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Replay surfaces now have separate jobs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5C6B1FD-DFD3-4A41-8D9C-6EB9CA9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roxy">
            <a:extLst xmlns:a="http://schemas.openxmlformats.org/drawingml/2006/main">
              <a:ext uri="{FF2B5EF4-FFF2-40B4-BE49-F238E27FC236}">
                <a16:creationId xmlns:a16="http://schemas.microsoft.com/office/drawing/2014/main" id="{03E6F188-604A-4C1D-83BA-C8EE793B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24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ive">
            <a:extLst xmlns:a="http://schemas.openxmlformats.org/drawingml/2006/main">
              <a:ext uri="{FF2B5EF4-FFF2-40B4-BE49-F238E27FC236}">
                <a16:creationId xmlns:a16="http://schemas.microsoft.com/office/drawing/2014/main" id="{2351E862-2EF3-469F-8CF2-1342BA4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5467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roxy-pill-bg">
            <a:extLst xmlns:a="http://schemas.openxmlformats.org/drawingml/2006/main">
              <a:ext uri="{FF2B5EF4-FFF2-40B4-BE49-F238E27FC236}">
                <a16:creationId xmlns:a16="http://schemas.microsoft.com/office/drawing/2014/main" id="{44C5DC93-A419-41CD-86F2-A72FDBAD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proxy-pill-txt">
            <a:extLst xmlns:a="http://schemas.openxmlformats.org/drawingml/2006/main">
              <a:ext uri="{FF2B5EF4-FFF2-40B4-BE49-F238E27FC236}">
                <a16:creationId xmlns:a16="http://schemas.microsoft.com/office/drawing/2014/main" id="{DEE06A2F-A119-455C-AC27-3516B3C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Artifact parity</a:t>
            </a:r>
          </a:p>
        </p:txBody>
      </p:sp>
      <p:sp>
        <p:nvSpPr>
          <p:cNvPr id="8" name="proxy-title">
            <a:extLst xmlns:a="http://schemas.openxmlformats.org/drawingml/2006/main">
              <a:ext uri="{FF2B5EF4-FFF2-40B4-BE49-F238E27FC236}">
                <a16:creationId xmlns:a16="http://schemas.microsoft.com/office/drawing/2014/main" id="{C605CA05-AE10-40CF-BBC3-5959D087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Gen4-compatible projection</a:t>
            </a:r>
          </a:p>
        </p:txBody>
      </p:sp>
      <p:sp>
        <p:nvSpPr>
          <p:cNvPr id="9" name="proxy-b-0">
            <a:extLst xmlns:a="http://schemas.openxmlformats.org/drawingml/2006/main">
              <a:ext uri="{FF2B5EF4-FFF2-40B4-BE49-F238E27FC236}">
                <a16:creationId xmlns:a16="http://schemas.microsoft.com/office/drawing/2014/main" id="{7261E7C8-22C9-4793-B996-EB317EAF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Useful for reconstructing old summaries.</a:t>
            </a:r>
          </a:p>
        </p:txBody>
      </p:sp>
      <p:sp>
        <p:nvSpPr>
          <p:cNvPr id="10" name="proxy-b-1">
            <a:extLst xmlns:a="http://schemas.openxmlformats.org/drawingml/2006/main">
              <a:ext uri="{FF2B5EF4-FFF2-40B4-BE49-F238E27FC236}">
                <a16:creationId xmlns:a16="http://schemas.microsoft.com/office/drawing/2014/main" id="{43F5ADA0-8547-4349-A117-8212B6A4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Averages chosen daily returns by state/spec.</a:t>
            </a:r>
          </a:p>
        </p:txBody>
      </p:sp>
      <p:sp>
        <p:nvSpPr>
          <p:cNvPr id="11" name="proxy-b-2">
            <a:extLst xmlns:a="http://schemas.openxmlformats.org/drawingml/2006/main">
              <a:ext uri="{FF2B5EF4-FFF2-40B4-BE49-F238E27FC236}">
                <a16:creationId xmlns:a16="http://schemas.microsoft.com/office/drawing/2014/main" id="{304AD1B1-A071-44BE-9931-BA504F81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Not the account path used for live research conclusions.</a:t>
            </a:r>
          </a:p>
        </p:txBody>
      </p:sp>
      <p:sp>
        <p:nvSpPr>
          <p:cNvPr id="12" name="live-pill-bg">
            <a:extLst xmlns:a="http://schemas.openxmlformats.org/drawingml/2006/main">
              <a:ext uri="{FF2B5EF4-FFF2-40B4-BE49-F238E27FC236}">
                <a16:creationId xmlns:a16="http://schemas.microsoft.com/office/drawing/2014/main" id="{53D863D2-F4E5-4713-A324-35178AAC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3" name="live-pill-txt">
            <a:extLst xmlns:a="http://schemas.openxmlformats.org/drawingml/2006/main">
              <a:ext uri="{FF2B5EF4-FFF2-40B4-BE49-F238E27FC236}">
                <a16:creationId xmlns:a16="http://schemas.microsoft.com/office/drawing/2014/main" id="{6B66981B-6171-4BFE-B0D1-575B23E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288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Canonical inspection</a:t>
            </a:r>
          </a:p>
        </p:txBody>
      </p:sp>
      <p:sp>
        <p:nvSpPr>
          <p:cNvPr id="14" name="live-title">
            <a:extLst xmlns:a="http://schemas.openxmlformats.org/drawingml/2006/main">
              <a:ext uri="{FF2B5EF4-FFF2-40B4-BE49-F238E27FC236}">
                <a16:creationId xmlns:a16="http://schemas.microsoft.com/office/drawing/2014/main" id="{06285FB2-C92D-4016-A881-9961BD1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True live-capital replay</a:t>
            </a:r>
          </a:p>
        </p:txBody>
      </p:sp>
      <p:sp>
        <p:nvSpPr>
          <p:cNvPr id="15" name="live-b-0">
            <a:extLst xmlns:a="http://schemas.openxmlformats.org/drawingml/2006/main">
              <a:ext uri="{FF2B5EF4-FFF2-40B4-BE49-F238E27FC236}">
                <a16:creationId xmlns:a16="http://schemas.microsoft.com/office/drawing/2014/main" id="{1FBB9B85-F0C9-48F1-ABCD-83F9B9EE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Marks open positions into current account equity.</a:t>
            </a:r>
          </a:p>
        </p:txBody>
      </p:sp>
      <p:sp>
        <p:nvSpPr>
          <p:cNvPr id="16" name="live-b-1">
            <a:extLst xmlns:a="http://schemas.openxmlformats.org/drawingml/2006/main">
              <a:ext uri="{FF2B5EF4-FFF2-40B4-BE49-F238E27FC236}">
                <a16:creationId xmlns:a16="http://schemas.microsoft.com/office/drawing/2014/main" id="{AC04C07F-D988-443E-A61F-360695EC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Sizes each new slot from current equity: C x L / N.</a:t>
            </a:r>
          </a:p>
        </p:txBody>
      </p:sp>
      <p:sp>
        <p:nvSpPr>
          <p:cNvPr id="17" name="live-b-2">
            <a:extLst xmlns:a="http://schemas.openxmlformats.org/drawingml/2006/main">
              <a:ext uri="{FF2B5EF4-FFF2-40B4-BE49-F238E27FC236}">
                <a16:creationId xmlns:a16="http://schemas.microsoft.com/office/drawing/2014/main" id="{57C9FE5E-32C7-4A28-817F-ED7598E9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Implemented today at L = 1 and cash-capped.</a:t>
            </a:r>
          </a:p>
        </p:txBody>
      </p:sp>
      <p:sp>
        <p:nvSpPr>
          <p:cNvPr id="18" name="bridge">
            <a:extLst xmlns:a="http://schemas.openxmlformats.org/drawingml/2006/main">
              <a:ext uri="{FF2B5EF4-FFF2-40B4-BE49-F238E27FC236}">
                <a16:creationId xmlns:a16="http://schemas.microsoft.com/office/drawing/2014/main" id="{5A9329D3-328D-47F7-89C4-EE32F39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Bottom line: comparisons should now land on portfolio accounting, while projection stays a forensic compatibility surface.</a:t>
            </a:r>
          </a:p>
        </p:txBody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C1125F-F375-45F3-A47A-3129FF93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Time-Series-Modeling Gen5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2EBFB99-1AD1-4FF4-9CDD-D6ADB895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1552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F1B36A0-658C-4E70-B238-476CE4A9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GEN5.2 MECHANICS FORK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31E327-A74F-4A40-B1CA-50F0A13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next screen should test Gen5.2 as its own system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DCC0D-42BD-42CC-9CDE-A57280E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ecommend">
            <a:extLst xmlns:a="http://schemas.openxmlformats.org/drawingml/2006/main">
              <a:ext uri="{FF2B5EF4-FFF2-40B4-BE49-F238E27FC236}">
                <a16:creationId xmlns:a16="http://schemas.microsoft.com/office/drawing/2014/main" id="{3153BD63-0EE9-443F-969F-28A92D91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096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c-title">
            <a:extLst xmlns:a="http://schemas.openxmlformats.org/drawingml/2006/main">
              <a:ext uri="{FF2B5EF4-FFF2-40B4-BE49-F238E27FC236}">
                <a16:creationId xmlns:a16="http://schemas.microsoft.com/office/drawing/2014/main" id="{4FA3027D-ABFF-430D-9C9C-FFBC2A6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Recommended next gate</a:t>
            </a:r>
          </a:p>
        </p:txBody>
      </p:sp>
      <p:sp>
        <p:nvSpPr>
          <p:cNvPr id="6" name="rec-b-0">
            <a:extLst xmlns:a="http://schemas.openxmlformats.org/drawingml/2006/main">
              <a:ext uri="{FF2B5EF4-FFF2-40B4-BE49-F238E27FC236}">
                <a16:creationId xmlns:a16="http://schemas.microsoft.com/office/drawing/2014/main" id="{A4A375BF-092B-4537-9EC1-F0ACFE6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Rerun a narrow Gen5.2 screen with active_plus_risk_context and 3x3 states.</a:t>
            </a:r>
          </a:p>
        </p:txBody>
      </p:sp>
      <p:sp>
        <p:nvSpPr>
          <p:cNvPr id="7" name="rec-b-1">
            <a:extLst xmlns:a="http://schemas.openxmlformats.org/drawingml/2006/main">
              <a:ext uri="{FF2B5EF4-FFF2-40B4-BE49-F238E27FC236}">
                <a16:creationId xmlns:a16="http://schemas.microsoft.com/office/drawing/2014/main" id="{18FB8F94-B96B-441D-923D-DDC3D920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Compare direct-spec versus Gen4-faithful pooled-family under identical true live-capital accounting.</a:t>
            </a:r>
          </a:p>
        </p:txBody>
      </p:sp>
      <p:sp>
        <p:nvSpPr>
          <p:cNvPr id="8" name="rec-b-2">
            <a:extLst xmlns:a="http://schemas.openxmlformats.org/drawingml/2006/main">
              <a:ext uri="{FF2B5EF4-FFF2-40B4-BE49-F238E27FC236}">
                <a16:creationId xmlns:a16="http://schemas.microsoft.com/office/drawing/2014/main" id="{7B5B4052-93A8-4265-ADCF-A85E5FBD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Treat older Gen5.1 pooled-family evidence as historical context, not final Gen5.2 evidence.</a:t>
            </a:r>
          </a:p>
        </p:txBody>
      </p:sp>
      <p:sp>
        <p:nvSpPr>
          <p:cNvPr id="9" name="stops">
            <a:extLst xmlns:a="http://schemas.openxmlformats.org/drawingml/2006/main">
              <a:ext uri="{FF2B5EF4-FFF2-40B4-BE49-F238E27FC236}">
                <a16:creationId xmlns:a16="http://schemas.microsoft.com/office/drawing/2014/main" id="{ED2BA9B9-B1E7-4FEA-9426-8B6299CB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4248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stop-title">
            <a:extLst xmlns:a="http://schemas.openxmlformats.org/drawingml/2006/main">
              <a:ext uri="{FF2B5EF4-FFF2-40B4-BE49-F238E27FC236}">
                <a16:creationId xmlns:a16="http://schemas.microsoft.com/office/drawing/2014/main" id="{79E1B2EF-1656-4D5C-A8B7-81BA8DB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STOP decisions remain yours</a:t>
            </a:r>
          </a:p>
        </p:txBody>
      </p:sp>
      <p:sp>
        <p:nvSpPr>
          <p:cNvPr id="11" name="stop-b-0">
            <a:extLst xmlns:a="http://schemas.openxmlformats.org/drawingml/2006/main">
              <a:ext uri="{FF2B5EF4-FFF2-40B4-BE49-F238E27FC236}">
                <a16:creationId xmlns:a16="http://schemas.microsoft.com/office/drawing/2014/main" id="{0ECA51E1-F72B-4DC6-A7E4-A22F404B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Whether Gen5.2 pooled-family should replace direct-spec as a default.</a:t>
            </a:r>
          </a:p>
        </p:txBody>
      </p:sp>
      <p:sp>
        <p:nvSpPr>
          <p:cNvPr id="12" name="stop-b-1">
            <a:extLst xmlns:a="http://schemas.openxmlformats.org/drawingml/2006/main">
              <a:ext uri="{FF2B5EF4-FFF2-40B4-BE49-F238E27FC236}">
                <a16:creationId xmlns:a16="http://schemas.microsoft.com/office/drawing/2014/main" id="{D990E26A-FAC4-4C9F-83E0-29098D9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86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Whether leverage above 1 should enter research.</a:t>
            </a:r>
          </a:p>
        </p:txBody>
      </p:sp>
      <p:sp>
        <p:nvSpPr>
          <p:cNvPr id="13" name="stop-b-2">
            <a:extLst xmlns:a="http://schemas.openxmlformats.org/drawingml/2006/main">
              <a:ext uri="{FF2B5EF4-FFF2-40B4-BE49-F238E27FC236}">
                <a16:creationId xmlns:a16="http://schemas.microsoft.com/office/drawing/2014/main" id="{31A4BA7B-6261-46BF-84E6-94BE65E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- Whether omitted Gen4 families, such as SMA, deserve a separate gate.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90F2579-0918-4691-AFAD-D7876A31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close">
            <a:extLst xmlns:a="http://schemas.openxmlformats.org/drawingml/2006/main">
              <a:ext uri="{FF2B5EF4-FFF2-40B4-BE49-F238E27FC236}">
                <a16:creationId xmlns:a16="http://schemas.microsoft.com/office/drawing/2014/main" id="{6F177A4B-08F1-45C5-9939-FEFCF5F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Gen5.2 is a mechanics milestone. The next run decides whether the cleaned mechanics improve the evidence surface.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3F289A1-D812-4DFB-8A71-3294988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Time-Series-Modeling Gen5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340F469-96DD-4910-94FE-BD14033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5267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2026-07-07T22:50:01.9320000Z</dcterms:created>
  <dcterms:modified xsi:type="dcterms:W3CDTF">2026-07-07T22:50:01.9320000Z</dcterms:modified>
</coreProperties>
</file>