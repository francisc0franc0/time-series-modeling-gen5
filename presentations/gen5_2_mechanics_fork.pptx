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4f2e5168884414" /><Relationship Type="http://schemas.openxmlformats.org/officeDocument/2006/relationships/extended-properties" Target="/docProps/app.xml" Id="Ra4238f169f244480" /><Relationship Type="http://schemas.openxmlformats.org/officeDocument/2006/relationships/officeDocument" Target="/ppt/presentation.xml" Id="R84dafce0f58b444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598258125ae420b"/>
  </p:sldMasterIdLst>
  <p:notesMasterIdLst>
    <p:notesMasterId xmlns:r="http://schemas.openxmlformats.org/officeDocument/2006/relationships" r:id="R58517ec4179141db"/>
  </p:notesMasterIdLst>
  <p:sldIdLst>
    <p:sldId xmlns:r="http://schemas.openxmlformats.org/officeDocument/2006/relationships" id="256" r:id="R05036e90960a4fb7"/>
    <p:sldId xmlns:r="http://schemas.openxmlformats.org/officeDocument/2006/relationships" id="257" r:id="R48019e7dbf544a63"/>
    <p:sldId xmlns:r="http://schemas.openxmlformats.org/officeDocument/2006/relationships" id="258" r:id="Rece8300e95564930"/>
    <p:sldId xmlns:r="http://schemas.openxmlformats.org/officeDocument/2006/relationships" id="259" r:id="R5787e3a43b33440c"/>
    <p:sldId xmlns:r="http://schemas.openxmlformats.org/officeDocument/2006/relationships" id="260" r:id="R49fbf8d79037476c"/>
    <p:sldId xmlns:r="http://schemas.openxmlformats.org/officeDocument/2006/relationships" id="261" r:id="R62ae887ffe424d4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2163dc3bc9a4e10" /><Relationship Type="http://schemas.openxmlformats.org/officeDocument/2006/relationships/slideMaster" Target="/ppt/slideMasters/slideMaster1.xml" Id="Rc598258125ae420b" /><Relationship Type="http://schemas.openxmlformats.org/officeDocument/2006/relationships/notesMaster" Target="/ppt/notesMasters/notesMaster1.xml" Id="R58517ec4179141db" /><Relationship Type="http://schemas.openxmlformats.org/officeDocument/2006/relationships/presProps" Target="/ppt/presProps.xml" Id="R4c82beeba22343b4" /><Relationship Type="http://schemas.openxmlformats.org/officeDocument/2006/relationships/tableStyles" Target="/ppt/tableStyles.xml" Id="Rb769d0b924404a12" /><Relationship Type="http://schemas.openxmlformats.org/officeDocument/2006/relationships/slide" Target="/ppt/slides/slide1.xml" Id="R05036e90960a4fb7" /><Relationship Type="http://schemas.openxmlformats.org/officeDocument/2006/relationships/slide" Target="/ppt/slides/slide2.xml" Id="R48019e7dbf544a63" /><Relationship Type="http://schemas.openxmlformats.org/officeDocument/2006/relationships/slide" Target="/ppt/slides/slide3.xml" Id="Rece8300e95564930" /><Relationship Type="http://schemas.openxmlformats.org/officeDocument/2006/relationships/slide" Target="/ppt/slides/slide4.xml" Id="R5787e3a43b33440c" /><Relationship Type="http://schemas.openxmlformats.org/officeDocument/2006/relationships/slide" Target="/ppt/slides/slide5.xml" Id="R49fbf8d79037476c" /><Relationship Type="http://schemas.openxmlformats.org/officeDocument/2006/relationships/slide" Target="/ppt/slides/slide6.xml" Id="R62ae887ffe424d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0b30072509848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2822aac20b41c8" /><Relationship Type="http://schemas.openxmlformats.org/officeDocument/2006/relationships/notesMaster" Target="/ppt/notesMasters/notesMaster1.xml" Id="R6b46e538d29c44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de2d041dc2c4c3f" /><Relationship Type="http://schemas.openxmlformats.org/officeDocument/2006/relationships/notesMaster" Target="/ppt/notesMasters/notesMaster1.xml" Id="Ra429ceb4f615490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6e4867023114045" /><Relationship Type="http://schemas.openxmlformats.org/officeDocument/2006/relationships/notesMaster" Target="/ppt/notesMasters/notesMaster1.xml" Id="R463de1a1334148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09eb0089b274084" /><Relationship Type="http://schemas.openxmlformats.org/officeDocument/2006/relationships/notesMaster" Target="/ppt/notesMasters/notesMaster1.xml" Id="Rdc82ac568711400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6029ee8753466f" /><Relationship Type="http://schemas.openxmlformats.org/officeDocument/2006/relationships/notesMaster" Target="/ppt/notesMasters/notesMaster1.xml" Id="Rb56537d3d5e6496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e8fbf06dd644877" /><Relationship Type="http://schemas.openxmlformats.org/officeDocument/2006/relationships/notesMaster" Target="/ppt/notesMasters/notesMaster1.xml" Id="R92104dc5a71847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e44a5293d4444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50dcf906c34606" /><Relationship Type="http://schemas.openxmlformats.org/officeDocument/2006/relationships/slideLayout" Target="/ppt/slideLayouts/slideLayout1.xml" Id="Rb2c918d656394b3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c918d656394b3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3283f7f4614b76" /><Relationship Type="http://schemas.openxmlformats.org/officeDocument/2006/relationships/notesSlide" Target="/ppt/notesSlides/notesSlide1.xml" Id="R42689815203c4a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920d4027c847ed" /><Relationship Type="http://schemas.openxmlformats.org/officeDocument/2006/relationships/notesSlide" Target="/ppt/notesSlides/notesSlide2.xml" Id="R5571896fb44e4b5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ac5920e6c43d8" /><Relationship Type="http://schemas.openxmlformats.org/officeDocument/2006/relationships/notesSlide" Target="/ppt/notesSlides/notesSlide3.xml" Id="Re5297ec2b22748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b83bab04b14e8e" /><Relationship Type="http://schemas.openxmlformats.org/officeDocument/2006/relationships/notesSlide" Target="/ppt/notesSlides/notesSlide4.xml" Id="R077ba81462f54d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c101ac86dd41d1" /><Relationship Type="http://schemas.openxmlformats.org/officeDocument/2006/relationships/notesSlide" Target="/ppt/notesSlides/notesSlide5.xml" Id="R6ab5b3004dcd472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9886c2a64447e5" /><Relationship Type="http://schemas.openxmlformats.org/officeDocument/2006/relationships/notesSlide" Target="/ppt/notesSlides/notesSlide6.xml" Id="R08ce08cc695e4dd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left-band">
            <a:extLst xmlns:a="http://schemas.openxmlformats.org/drawingml/2006/main">
              <a:ext uri="{FF2B5EF4-FFF2-40B4-BE49-F238E27FC236}">
                <a16:creationId xmlns:a16="http://schemas.microsoft.com/office/drawing/2014/main" id="{29571650-D4D2-472C-B479-688A9761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190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78B0D152-0B94-4B95-A611-F7511E71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GEN5.2 MECHANICS FORK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10F90B1-B8C5-40CC-AF01-CA76A250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91440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Gen5.2 makes the mechanics fork explicit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2D52CBD3-CDDC-4A94-ABF1-DC8D7A36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14700"/>
            <a:ext cx="8286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55555"/>
                </a:solidFill>
              </a:defRPr>
            </a:pPr>
            <a:r>
              <a:rPr sz="1725" b="0">
                <a:solidFill>
                  <a:srgbClr val="555555"/>
                </a:solidFill>
              </a:rPr>
              <a:t>A focused cleanup after the Gen4-vs-Gen5.1 forensic screens: make the selection policy, no-trade semantics, and replay surfaces auditable before rerunning evidence.</a:t>
            </a:r>
          </a:p>
        </p:txBody>
      </p:sp>
      <p:sp>
        <p:nvSpPr>
          <p:cNvPr id="5" name="branch-box">
            <a:extLst xmlns:a="http://schemas.openxmlformats.org/drawingml/2006/main">
              <a:ext uri="{FF2B5EF4-FFF2-40B4-BE49-F238E27FC236}">
                <a16:creationId xmlns:a16="http://schemas.microsoft.com/office/drawing/2014/main" id="{42F45C50-06AF-4A60-948C-8A97B1099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05400"/>
            <a:ext cx="7429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branch">
            <a:extLst xmlns:a="http://schemas.openxmlformats.org/drawingml/2006/main">
              <a:ext uri="{FF2B5EF4-FFF2-40B4-BE49-F238E27FC236}">
                <a16:creationId xmlns:a16="http://schemas.microsoft.com/office/drawing/2014/main" id="{9DA71242-0612-476F-AA15-106B527DC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5780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Branch: codex/Gen5.2-gen4-faithful-policy</a:t>
            </a:r>
          </a:p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Updated: July 7, 2026</a:t>
            </a:r>
          </a:p>
        </p:txBody>
      </p:sp>
      <p:sp>
        <p:nvSpPr>
          <p:cNvPr id="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5516254-1B03-4D8B-8E86-1D16EC7DB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Time-Series-Modeling Gen5</a:t>
            </a:r>
          </a:p>
        </p:txBody>
      </p:sp>
      <p:sp>
        <p:nvSpPr>
          <p:cNvPr id="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31E735E5-B8FD-4530-B534-E9F5B27C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71816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0E445C17-D9E6-42C4-B17F-0E8DA95AC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GEN5.2 MECHANICS FORK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A818E4-2E75-426A-81C9-26EDDA67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The alpha gap became a mechanics question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2FCB230F-44CC-4BC5-8270-9E87FD77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evidence-0">
            <a:extLst xmlns:a="http://schemas.openxmlformats.org/drawingml/2006/main">
              <a:ext uri="{FF2B5EF4-FFF2-40B4-BE49-F238E27FC236}">
                <a16:creationId xmlns:a16="http://schemas.microsoft.com/office/drawing/2014/main" id="{E32ADDBD-4850-45CE-97F1-0E425212D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333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evidence-head-0">
            <a:extLst xmlns:a="http://schemas.openxmlformats.org/drawingml/2006/main">
              <a:ext uri="{FF2B5EF4-FFF2-40B4-BE49-F238E27FC236}">
                <a16:creationId xmlns:a16="http://schemas.microsoft.com/office/drawing/2014/main" id="{39F70419-91A1-4223-84DD-EAC7F57C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05050"/>
            <a:ext cx="2914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Visible settings matched</a:t>
            </a:r>
          </a:p>
        </p:txBody>
      </p:sp>
      <p:sp>
        <p:nvSpPr>
          <p:cNvPr id="6" name="evidence-body-0">
            <a:extLst xmlns:a="http://schemas.openxmlformats.org/drawingml/2006/main">
              <a:ext uri="{FF2B5EF4-FFF2-40B4-BE49-F238E27FC236}">
                <a16:creationId xmlns:a16="http://schemas.microsoft.com/office/drawing/2014/main" id="{07C89B52-A894-422A-8C77-54DC657A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67050"/>
            <a:ext cx="29146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Basket, context, PCA mode, bins, and grid breadth could be made close to Gen4.</a:t>
            </a:r>
          </a:p>
        </p:txBody>
      </p:sp>
      <p:sp>
        <p:nvSpPr>
          <p:cNvPr id="7" name="evidence-1">
            <a:extLst xmlns:a="http://schemas.openxmlformats.org/drawingml/2006/main">
              <a:ext uri="{FF2B5EF4-FFF2-40B4-BE49-F238E27FC236}">
                <a16:creationId xmlns:a16="http://schemas.microsoft.com/office/drawing/2014/main" id="{35D6A2D1-099A-4123-852C-4697952D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95500"/>
            <a:ext cx="3333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evidence-head-1">
            <a:extLst xmlns:a="http://schemas.openxmlformats.org/drawingml/2006/main">
              <a:ext uri="{FF2B5EF4-FFF2-40B4-BE49-F238E27FC236}">
                <a16:creationId xmlns:a16="http://schemas.microsoft.com/office/drawing/2014/main" id="{C7241E6B-6E94-40DC-9544-4EC065C8F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05050"/>
            <a:ext cx="2914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Authority still differed</a:t>
            </a:r>
          </a:p>
        </p:txBody>
      </p:sp>
      <p:sp>
        <p:nvSpPr>
          <p:cNvPr id="9" name="evidence-body-1">
            <a:extLst xmlns:a="http://schemas.openxmlformats.org/drawingml/2006/main">
              <a:ext uri="{FF2B5EF4-FFF2-40B4-BE49-F238E27FC236}">
                <a16:creationId xmlns:a16="http://schemas.microsoft.com/office/drawing/2014/main" id="{1EEE3DA8-2590-4B10-BC01-AAC59863E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67050"/>
            <a:ext cx="29146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Gen4 chose a state-level family first, then asset params. Gen5.1 direct-spec picked the whole asset/state spec directly.</a:t>
            </a:r>
          </a:p>
        </p:txBody>
      </p:sp>
      <p:sp>
        <p:nvSpPr>
          <p:cNvPr id="10" name="evidence-2">
            <a:extLst xmlns:a="http://schemas.openxmlformats.org/drawingml/2006/main">
              <a:ext uri="{FF2B5EF4-FFF2-40B4-BE49-F238E27FC236}">
                <a16:creationId xmlns:a16="http://schemas.microsoft.com/office/drawing/2014/main" id="{120C5F5A-8480-40E1-ADD1-02FE80D4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95500"/>
            <a:ext cx="3333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evidence-head-2">
            <a:extLst xmlns:a="http://schemas.openxmlformats.org/drawingml/2006/main">
              <a:ext uri="{FF2B5EF4-FFF2-40B4-BE49-F238E27FC236}">
                <a16:creationId xmlns:a16="http://schemas.microsoft.com/office/drawing/2014/main" id="{D1F58E8D-3F3B-48EE-908E-72F62DB04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305050"/>
            <a:ext cx="2914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Assessment needed cleanup</a:t>
            </a:r>
          </a:p>
        </p:txBody>
      </p:sp>
      <p:sp>
        <p:nvSpPr>
          <p:cNvPr id="12" name="evidence-body-2">
            <a:extLst xmlns:a="http://schemas.openxmlformats.org/drawingml/2006/main">
              <a:ext uri="{FF2B5EF4-FFF2-40B4-BE49-F238E27FC236}">
                <a16:creationId xmlns:a16="http://schemas.microsoft.com/office/drawing/2014/main" id="{2BF94115-1E4F-47AA-9363-27937513A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067050"/>
            <a:ext cx="29146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Mean daily projection was useful for artifact parity, but it is not the capital path we trade.</a:t>
            </a:r>
          </a:p>
        </p:txBody>
      </p:sp>
      <p:sp>
        <p:nvSpPr>
          <p:cNvPr id="13" name="takeaway-bg">
            <a:extLst xmlns:a="http://schemas.openxmlformats.org/drawingml/2006/main">
              <a:ext uri="{FF2B5EF4-FFF2-40B4-BE49-F238E27FC236}">
                <a16:creationId xmlns:a16="http://schemas.microsoft.com/office/drawing/2014/main" id="{A42F5956-4F5F-4EB0-9B54-BD076A862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4" name="takeaway">
            <a:extLst xmlns:a="http://schemas.openxmlformats.org/drawingml/2006/main">
              <a:ext uri="{FF2B5EF4-FFF2-40B4-BE49-F238E27FC236}">
                <a16:creationId xmlns:a16="http://schemas.microsoft.com/office/drawing/2014/main" id="{B6DEDC01-8C46-4DA1-A1C6-2ABF8D2E7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29200"/>
            <a:ext cx="1043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Takeaway: fix the mechanics first, then rerun the evidence screens under one clear replay surface.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43A11A55-5DEA-4E6C-A631-501DA01B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Time-Series-Modeling Gen5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3CD491B5-8EB2-4364-A105-96696F39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019796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797E2903-CDBA-4D94-9D67-9C1EC78C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GEN5.2 MECHANICS FORK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3576C5-AD5E-4113-8A2C-ED52D5345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Both policies now share candidate rules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2BC768B4-75D3-4BB9-9875-DAA049F7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step-0">
            <a:extLst xmlns:a="http://schemas.openxmlformats.org/drawingml/2006/main">
              <a:ext uri="{FF2B5EF4-FFF2-40B4-BE49-F238E27FC236}">
                <a16:creationId xmlns:a16="http://schemas.microsoft.com/office/drawing/2014/main" id="{40A6FEAE-515D-46FD-AC4E-82F41464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20574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num-0">
            <a:extLst xmlns:a="http://schemas.openxmlformats.org/drawingml/2006/main">
              <a:ext uri="{FF2B5EF4-FFF2-40B4-BE49-F238E27FC236}">
                <a16:creationId xmlns:a16="http://schemas.microsoft.com/office/drawing/2014/main" id="{31E386B9-C680-47C6-8041-027FDD6AA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1</a:t>
            </a:r>
          </a:p>
        </p:txBody>
      </p:sp>
      <p:sp>
        <p:nvSpPr>
          <p:cNvPr id="6" name="head-0">
            <a:extLst xmlns:a="http://schemas.openxmlformats.org/drawingml/2006/main">
              <a:ext uri="{FF2B5EF4-FFF2-40B4-BE49-F238E27FC236}">
                <a16:creationId xmlns:a16="http://schemas.microsoft.com/office/drawing/2014/main" id="{ECF4B452-695D-4E7D-B2D7-F55984E3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Score TRAIN rows</a:t>
            </a:r>
          </a:p>
        </p:txBody>
      </p:sp>
      <p:sp>
        <p:nvSpPr>
          <p:cNvPr id="7" name="body-0">
            <a:extLst xmlns:a="http://schemas.openxmlformats.org/drawingml/2006/main">
              <a:ext uri="{FF2B5EF4-FFF2-40B4-BE49-F238E27FC236}">
                <a16:creationId xmlns:a16="http://schemas.microsoft.com/office/drawing/2014/main" id="{03DBD0C4-F348-4558-BF82-4C998922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Use TRAIN-only state evidence. No OOS row may enter selection.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818612EB-3B7A-498C-9D0E-E84331B1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190750"/>
            <a:ext cx="20574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num-1">
            <a:extLst xmlns:a="http://schemas.openxmlformats.org/drawingml/2006/main">
              <a:ext uri="{FF2B5EF4-FFF2-40B4-BE49-F238E27FC236}">
                <a16:creationId xmlns:a16="http://schemas.microsoft.com/office/drawing/2014/main" id="{69C29348-4CA0-46F0-A0AE-6CD1C011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3812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2</a:t>
            </a:r>
          </a:p>
        </p:txBody>
      </p:sp>
      <p:sp>
        <p:nvSpPr>
          <p:cNvPr id="10" name="head-1">
            <a:extLst xmlns:a="http://schemas.openxmlformats.org/drawingml/2006/main">
              <a:ext uri="{FF2B5EF4-FFF2-40B4-BE49-F238E27FC236}">
                <a16:creationId xmlns:a16="http://schemas.microsoft.com/office/drawing/2014/main" id="{EED5CE31-D6D1-45DF-A0E3-EAB62FA3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99085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Require enough trades</a:t>
            </a:r>
          </a:p>
        </p:txBody>
      </p:sp>
      <p:sp>
        <p:nvSpPr>
          <p:cNvPr id="11" name="body-1">
            <a:extLst xmlns:a="http://schemas.openxmlformats.org/drawingml/2006/main">
              <a:ext uri="{FF2B5EF4-FFF2-40B4-BE49-F238E27FC236}">
                <a16:creationId xmlns:a16="http://schemas.microsoft.com/office/drawing/2014/main" id="{B7070C7B-4BBD-440F-837D-C2D5ED20F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76650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Active candidates need at least five TRAIN trades inside the state.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6C445C22-717E-43AD-A59C-12B7BE06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190750"/>
            <a:ext cx="20574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3" name="num-2">
            <a:extLst xmlns:a="http://schemas.openxmlformats.org/drawingml/2006/main">
              <a:ext uri="{FF2B5EF4-FFF2-40B4-BE49-F238E27FC236}">
                <a16:creationId xmlns:a16="http://schemas.microsoft.com/office/drawing/2014/main" id="{70F6DF32-1A02-4664-A16D-035075F6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812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6B35"/>
                </a:solidFill>
              </a:defRPr>
            </a:pPr>
            <a:r>
              <a:rPr sz="2550" b="1">
                <a:solidFill>
                  <a:srgbClr val="FF6B35"/>
                </a:solidFill>
              </a:rPr>
              <a:t>3</a:t>
            </a:r>
          </a:p>
        </p:txBody>
      </p:sp>
      <p:sp>
        <p:nvSpPr>
          <p:cNvPr id="14" name="head-2">
            <a:extLst xmlns:a="http://schemas.openxmlformats.org/drawingml/2006/main">
              <a:ext uri="{FF2B5EF4-FFF2-40B4-BE49-F238E27FC236}">
                <a16:creationId xmlns:a16="http://schemas.microsoft.com/office/drawing/2014/main" id="{B11310AA-017D-42AF-A820-D1EACF9D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99085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Let no-trade compete</a:t>
            </a:r>
          </a:p>
        </p:txBody>
      </p:sp>
      <p:sp>
        <p:nvSpPr>
          <p:cNvPr id="15" name="body-2">
            <a:extLst xmlns:a="http://schemas.openxmlformats.org/drawingml/2006/main">
              <a:ext uri="{FF2B5EF4-FFF2-40B4-BE49-F238E27FC236}">
                <a16:creationId xmlns:a16="http://schemas.microsoft.com/office/drawing/2014/main" id="{9AE6CECB-A501-450A-A2BA-52694E8E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676650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Abstention remains a valid state choice instead of an afterthought.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2DF4D7CD-567D-47F1-B2D0-00E6744B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190750"/>
            <a:ext cx="20574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num-3">
            <a:extLst xmlns:a="http://schemas.openxmlformats.org/drawingml/2006/main">
              <a:ext uri="{FF2B5EF4-FFF2-40B4-BE49-F238E27FC236}">
                <a16:creationId xmlns:a16="http://schemas.microsoft.com/office/drawing/2014/main" id="{AA80B094-32E4-4108-BB0C-A372832A7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812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4</a:t>
            </a:r>
          </a:p>
        </p:txBody>
      </p:sp>
      <p:sp>
        <p:nvSpPr>
          <p:cNvPr id="18" name="head-3">
            <a:extLst xmlns:a="http://schemas.openxmlformats.org/drawingml/2006/main">
              <a:ext uri="{FF2B5EF4-FFF2-40B4-BE49-F238E27FC236}">
                <a16:creationId xmlns:a16="http://schemas.microsoft.com/office/drawing/2014/main" id="{D9E93C71-E3F7-4AF2-BDC8-8739812E0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99085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Direct keeps full specs</a:t>
            </a:r>
          </a:p>
        </p:txBody>
      </p:sp>
      <p:sp>
        <p:nvSpPr>
          <p:cNvPr id="19" name="body-3">
            <a:extLst xmlns:a="http://schemas.openxmlformats.org/drawingml/2006/main">
              <a:ext uri="{FF2B5EF4-FFF2-40B4-BE49-F238E27FC236}">
                <a16:creationId xmlns:a16="http://schemas.microsoft.com/office/drawing/2014/main" id="{2AB9856A-F131-433C-8C7B-DB513ECBC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676650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The direct lane ranks the complete asset/state spec by score then return.</a:t>
            </a:r>
          </a:p>
        </p:txBody>
      </p:sp>
      <p:sp>
        <p:nvSpPr>
          <p:cNvPr id="20" name="step-4">
            <a:extLst xmlns:a="http://schemas.openxmlformats.org/drawingml/2006/main">
              <a:ext uri="{FF2B5EF4-FFF2-40B4-BE49-F238E27FC236}">
                <a16:creationId xmlns:a16="http://schemas.microsoft.com/office/drawing/2014/main" id="{11B6101B-9F69-4E4C-9141-E7BCB0250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90750"/>
            <a:ext cx="20574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num-4">
            <a:extLst xmlns:a="http://schemas.openxmlformats.org/drawingml/2006/main">
              <a:ext uri="{FF2B5EF4-FFF2-40B4-BE49-F238E27FC236}">
                <a16:creationId xmlns:a16="http://schemas.microsoft.com/office/drawing/2014/main" id="{F6ECC9C6-5116-409A-8C53-B90F7A95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812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5</a:t>
            </a:r>
          </a:p>
        </p:txBody>
      </p:sp>
      <p:sp>
        <p:nvSpPr>
          <p:cNvPr id="22" name="head-4">
            <a:extLst xmlns:a="http://schemas.openxmlformats.org/drawingml/2006/main">
              <a:ext uri="{FF2B5EF4-FFF2-40B4-BE49-F238E27FC236}">
                <a16:creationId xmlns:a16="http://schemas.microsoft.com/office/drawing/2014/main" id="{779A277D-84AD-4CC3-B7CE-FBDDD5FAF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99085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Pooled keeps family first</a:t>
            </a:r>
          </a:p>
        </p:txBody>
      </p:sp>
      <p:sp>
        <p:nvSpPr>
          <p:cNvPr id="23" name="body-4">
            <a:extLst xmlns:a="http://schemas.openxmlformats.org/drawingml/2006/main">
              <a:ext uri="{FF2B5EF4-FFF2-40B4-BE49-F238E27FC236}">
                <a16:creationId xmlns:a16="http://schemas.microsoft.com/office/drawing/2014/main" id="{14879A20-38EE-4AC4-96D3-00F8A6E3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676650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The pooled lane picks the family first, then asset params inside that family.</a:t>
            </a:r>
          </a:p>
        </p:txBody>
      </p:sp>
      <p:sp>
        <p:nvSpPr>
          <p:cNvPr id="24" name="code-note">
            <a:extLst xmlns:a="http://schemas.openxmlformats.org/drawingml/2006/main">
              <a:ext uri="{FF2B5EF4-FFF2-40B4-BE49-F238E27FC236}">
                <a16:creationId xmlns:a16="http://schemas.microsoft.com/office/drawing/2014/main" id="{190D2B6B-68AE-40B2-98B0-A3949BB90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Implemented as shared Gen5.2 eligibility and winner-score logic; only the architecture differs: full-spec direct versus family-first pooled.</a:t>
            </a:r>
          </a:p>
        </p:txBody>
      </p:sp>
      <p:sp>
        <p:nvSpPr>
          <p:cNvPr id="2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70A58865-1496-477E-AE62-FADD3BC5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Time-Series-Modeling Gen5</a:t>
            </a:r>
          </a:p>
        </p:txBody>
      </p:sp>
      <p:sp>
        <p:nvSpPr>
          <p:cNvPr id="2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5FDA79B2-D990-4393-BD0C-B4EC75929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314404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247E7F13-5099-4858-89C8-5F717856C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GEN5.2 MECHANICS FORK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17FFF57-49BC-4738-B8F9-6C9F3088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No-trade now separates abstention from risk-off exit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09796799-7ED0-4494-BE51-3D9740F0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left-panel">
            <a:extLst xmlns:a="http://schemas.openxmlformats.org/drawingml/2006/main">
              <a:ext uri="{FF2B5EF4-FFF2-40B4-BE49-F238E27FC236}">
                <a16:creationId xmlns:a16="http://schemas.microsoft.com/office/drawing/2014/main" id="{0B629D53-40CB-4E8E-B25D-8A6ECC529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9530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right-panel">
            <a:extLst xmlns:a="http://schemas.openxmlformats.org/drawingml/2006/main">
              <a:ext uri="{FF2B5EF4-FFF2-40B4-BE49-F238E27FC236}">
                <a16:creationId xmlns:a16="http://schemas.microsoft.com/office/drawing/2014/main" id="{CA80EC72-1BD4-42FA-A068-859B6CBA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95500"/>
            <a:ext cx="49530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AFA828A7-9B9F-401B-8248-2C2F53A41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Ordinary no_trade</a:t>
            </a:r>
          </a:p>
        </p:txBody>
      </p:sp>
      <p:sp>
        <p:nvSpPr>
          <p:cNvPr id="7" name="left-b-0">
            <a:extLst xmlns:a="http://schemas.openxmlformats.org/drawingml/2006/main">
              <a:ext uri="{FF2B5EF4-FFF2-40B4-BE49-F238E27FC236}">
                <a16:creationId xmlns:a16="http://schemas.microsoft.com/office/drawing/2014/main" id="{B367F571-7092-4C69-ADD2-67A6F09D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09900"/>
            <a:ext cx="428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Used when flat and the state does not justify a trade.</a:t>
            </a:r>
          </a:p>
        </p:txBody>
      </p:sp>
      <p:sp>
        <p:nvSpPr>
          <p:cNvPr id="8" name="left-b-1">
            <a:extLst xmlns:a="http://schemas.openxmlformats.org/drawingml/2006/main">
              <a:ext uri="{FF2B5EF4-FFF2-40B4-BE49-F238E27FC236}">
                <a16:creationId xmlns:a16="http://schemas.microsoft.com/office/drawing/2014/main" id="{BD31FE69-11EE-4F66-BE93-DD9843687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67100"/>
            <a:ext cx="428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Does not become a native exit rule for a trade already open.</a:t>
            </a:r>
          </a:p>
        </p:txBody>
      </p:sp>
      <p:sp>
        <p:nvSpPr>
          <p:cNvPr id="9" name="left-b-2">
            <a:extLst xmlns:a="http://schemas.openxmlformats.org/drawingml/2006/main">
              <a:ext uri="{FF2B5EF4-FFF2-40B4-BE49-F238E27FC236}">
                <a16:creationId xmlns:a16="http://schemas.microsoft.com/office/drawing/2014/main" id="{C21B4C6B-3C22-4980-B3BF-F00D12E4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24300"/>
            <a:ext cx="428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Keeps entry-state ownership intact.</a:t>
            </a:r>
          </a:p>
        </p:txBody>
      </p:sp>
      <p:sp>
        <p:nvSpPr>
          <p:cNvPr id="10" name="right-title">
            <a:extLst xmlns:a="http://schemas.openxmlformats.org/drawingml/2006/main">
              <a:ext uri="{FF2B5EF4-FFF2-40B4-BE49-F238E27FC236}">
                <a16:creationId xmlns:a16="http://schemas.microsoft.com/office/drawing/2014/main" id="{78C81779-BE92-4BDF-A958-18F235D05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4315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6B35"/>
                </a:solidFill>
              </a:defRPr>
            </a:pPr>
            <a:r>
              <a:rPr sz="2100" b="1">
                <a:solidFill>
                  <a:srgbClr val="FF6B35"/>
                </a:solidFill>
              </a:rPr>
              <a:t>no_trade_exit_immediate</a:t>
            </a:r>
          </a:p>
        </p:txBody>
      </p:sp>
      <p:sp>
        <p:nvSpPr>
          <p:cNvPr id="11" name="right-b-0">
            <a:extLst xmlns:a="http://schemas.openxmlformats.org/drawingml/2006/main">
              <a:ext uri="{FF2B5EF4-FFF2-40B4-BE49-F238E27FC236}">
                <a16:creationId xmlns:a16="http://schemas.microsoft.com/office/drawing/2014/main" id="{D1A262DA-E978-442B-80F4-ECC0471B2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09900"/>
            <a:ext cx="428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Represented as state_exit_override_action = force_exit_next_open.</a:t>
            </a:r>
          </a:p>
        </p:txBody>
      </p:sp>
      <p:sp>
        <p:nvSpPr>
          <p:cNvPr id="12" name="right-b-1">
            <a:extLst xmlns:a="http://schemas.openxmlformats.org/drawingml/2006/main">
              <a:ext uri="{FF2B5EF4-FFF2-40B4-BE49-F238E27FC236}">
                <a16:creationId xmlns:a16="http://schemas.microsoft.com/office/drawing/2014/main" id="{F3428FC1-F5E8-43E3-860F-F742B687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67100"/>
            <a:ext cx="428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If the current state is risk-off while long, advice exits next open.</a:t>
            </a:r>
          </a:p>
        </p:txBody>
      </p:sp>
      <p:sp>
        <p:nvSpPr>
          <p:cNvPr id="13" name="right-b-2">
            <a:extLst xmlns:a="http://schemas.openxmlformats.org/drawingml/2006/main">
              <a:ext uri="{FF2B5EF4-FFF2-40B4-BE49-F238E27FC236}">
                <a16:creationId xmlns:a16="http://schemas.microsoft.com/office/drawing/2014/main" id="{A683EDA7-647D-40EC-9FFF-4533CDB39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24300"/>
            <a:ext cx="428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This is the one explicit current-state exception.</a:t>
            </a:r>
          </a:p>
        </p:txBody>
      </p:sp>
      <p:sp>
        <p:nvSpPr>
          <p:cNvPr id="14" name="rule">
            <a:extLst xmlns:a="http://schemas.openxmlformats.org/drawingml/2006/main">
              <a:ext uri="{FF2B5EF4-FFF2-40B4-BE49-F238E27FC236}">
                <a16:creationId xmlns:a16="http://schemas.microsoft.com/office/drawing/2014/main" id="{FC924D24-8546-4E6C-932D-10476722B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5" name="bottom">
            <a:extLst xmlns:a="http://schemas.openxmlformats.org/drawingml/2006/main">
              <a:ext uri="{FF2B5EF4-FFF2-40B4-BE49-F238E27FC236}">
                <a16:creationId xmlns:a16="http://schemas.microsoft.com/office/drawing/2014/main" id="{395FE2BE-6FAC-4A5F-BB56-1F4D7320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This keeps two concepts from blurring together: do not enter versus flatten an existing trade.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D0F583D-8ECA-4048-AA57-B2845D992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Time-Series-Modeling Gen5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AB97E2F6-ECC7-4A9D-83A8-819706C22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479998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A398A958-8986-43BE-98E2-D0E2E40F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GEN5.2 MECHANICS FORK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C4C6954-F3BE-4777-8BF0-811649B0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Replay surfaces now have separate jobs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251D4A22-C104-4800-AAE5-4AF9684E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proxy">
            <a:extLst xmlns:a="http://schemas.openxmlformats.org/drawingml/2006/main">
              <a:ext uri="{FF2B5EF4-FFF2-40B4-BE49-F238E27FC236}">
                <a16:creationId xmlns:a16="http://schemas.microsoft.com/office/drawing/2014/main" id="{5321F90F-8F10-4276-B43A-2E1DBC46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51244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live">
            <a:extLst xmlns:a="http://schemas.openxmlformats.org/drawingml/2006/main">
              <a:ext uri="{FF2B5EF4-FFF2-40B4-BE49-F238E27FC236}">
                <a16:creationId xmlns:a16="http://schemas.microsoft.com/office/drawing/2014/main" id="{F97786DB-EECE-4173-A38E-EDE98B083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54673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proxy-pill-bg">
            <a:extLst xmlns:a="http://schemas.openxmlformats.org/drawingml/2006/main">
              <a:ext uri="{FF2B5EF4-FFF2-40B4-BE49-F238E27FC236}">
                <a16:creationId xmlns:a16="http://schemas.microsoft.com/office/drawing/2014/main" id="{144945B5-39DC-4EE4-9CED-B8829DA92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7" name="proxy-pill-txt">
            <a:extLst xmlns:a="http://schemas.openxmlformats.org/drawingml/2006/main">
              <a:ext uri="{FF2B5EF4-FFF2-40B4-BE49-F238E27FC236}">
                <a16:creationId xmlns:a16="http://schemas.microsoft.com/office/drawing/2014/main" id="{BA65C0B3-F2A6-484D-88E6-3F1C126D3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28875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Artifact parity</a:t>
            </a:r>
          </a:p>
        </p:txBody>
      </p:sp>
      <p:sp>
        <p:nvSpPr>
          <p:cNvPr id="8" name="proxy-title">
            <a:extLst xmlns:a="http://schemas.openxmlformats.org/drawingml/2006/main">
              <a:ext uri="{FF2B5EF4-FFF2-40B4-BE49-F238E27FC236}">
                <a16:creationId xmlns:a16="http://schemas.microsoft.com/office/drawing/2014/main" id="{BFAB1BC6-C34A-47FB-BCBB-1F78FA161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14650"/>
            <a:ext cx="4495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Gen4-compatible projection</a:t>
            </a:r>
          </a:p>
        </p:txBody>
      </p:sp>
      <p:sp>
        <p:nvSpPr>
          <p:cNvPr id="9" name="proxy-b-0">
            <a:extLst xmlns:a="http://schemas.openxmlformats.org/drawingml/2006/main">
              <a:ext uri="{FF2B5EF4-FFF2-40B4-BE49-F238E27FC236}">
                <a16:creationId xmlns:a16="http://schemas.microsoft.com/office/drawing/2014/main" id="{DD750650-E7B2-4F9D-A799-D2BB5F93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62350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- Useful for reconstructing old summaries.</a:t>
            </a:r>
          </a:p>
        </p:txBody>
      </p:sp>
      <p:sp>
        <p:nvSpPr>
          <p:cNvPr id="10" name="proxy-b-1">
            <a:extLst xmlns:a="http://schemas.openxmlformats.org/drawingml/2006/main">
              <a:ext uri="{FF2B5EF4-FFF2-40B4-BE49-F238E27FC236}">
                <a16:creationId xmlns:a16="http://schemas.microsoft.com/office/drawing/2014/main" id="{607AC531-1522-4627-931B-0DD4432F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- Averages chosen daily returns by state/spec.</a:t>
            </a:r>
          </a:p>
        </p:txBody>
      </p:sp>
      <p:sp>
        <p:nvSpPr>
          <p:cNvPr id="11" name="proxy-b-2">
            <a:extLst xmlns:a="http://schemas.openxmlformats.org/drawingml/2006/main">
              <a:ext uri="{FF2B5EF4-FFF2-40B4-BE49-F238E27FC236}">
                <a16:creationId xmlns:a16="http://schemas.microsoft.com/office/drawing/2014/main" id="{AFBF2733-3448-432E-A58A-447F13AF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- Not the account path used for live research conclusions.</a:t>
            </a:r>
          </a:p>
        </p:txBody>
      </p:sp>
      <p:sp>
        <p:nvSpPr>
          <p:cNvPr id="12" name="live-pill-bg">
            <a:extLst xmlns:a="http://schemas.openxmlformats.org/drawingml/2006/main">
              <a:ext uri="{FF2B5EF4-FFF2-40B4-BE49-F238E27FC236}">
                <a16:creationId xmlns:a16="http://schemas.microsoft.com/office/drawing/2014/main" id="{62D66332-6798-428B-9B58-CD295A32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431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3" name="live-pill-txt">
            <a:extLst xmlns:a="http://schemas.openxmlformats.org/drawingml/2006/main">
              <a:ext uri="{FF2B5EF4-FFF2-40B4-BE49-F238E27FC236}">
                <a16:creationId xmlns:a16="http://schemas.microsoft.com/office/drawing/2014/main" id="{B7F0B26E-7CCB-4594-AF3C-E29C7FC5D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28875"/>
            <a:ext cx="1885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Canonical inspection</a:t>
            </a:r>
          </a:p>
        </p:txBody>
      </p:sp>
      <p:sp>
        <p:nvSpPr>
          <p:cNvPr id="14" name="live-title">
            <a:extLst xmlns:a="http://schemas.openxmlformats.org/drawingml/2006/main">
              <a:ext uri="{FF2B5EF4-FFF2-40B4-BE49-F238E27FC236}">
                <a16:creationId xmlns:a16="http://schemas.microsoft.com/office/drawing/2014/main" id="{1700DA65-845C-4D49-B68C-1F886DCB3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146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True live-capital replay</a:t>
            </a:r>
          </a:p>
        </p:txBody>
      </p:sp>
      <p:sp>
        <p:nvSpPr>
          <p:cNvPr id="15" name="live-b-0">
            <a:extLst xmlns:a="http://schemas.openxmlformats.org/drawingml/2006/main">
              <a:ext uri="{FF2B5EF4-FFF2-40B4-BE49-F238E27FC236}">
                <a16:creationId xmlns:a16="http://schemas.microsoft.com/office/drawing/2014/main" id="{01981913-DF92-42AE-AA28-F696D06A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5623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- Marks open positions into current account equity.</a:t>
            </a:r>
          </a:p>
        </p:txBody>
      </p:sp>
      <p:sp>
        <p:nvSpPr>
          <p:cNvPr id="16" name="live-b-1">
            <a:extLst xmlns:a="http://schemas.openxmlformats.org/drawingml/2006/main">
              <a:ext uri="{FF2B5EF4-FFF2-40B4-BE49-F238E27FC236}">
                <a16:creationId xmlns:a16="http://schemas.microsoft.com/office/drawing/2014/main" id="{1929B473-8D07-4C40-8E90-C31C4419D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6240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- Sizes each new slot from current equity: C x L / N.</a:t>
            </a:r>
          </a:p>
        </p:txBody>
      </p:sp>
      <p:sp>
        <p:nvSpPr>
          <p:cNvPr id="17" name="live-b-2">
            <a:extLst xmlns:a="http://schemas.openxmlformats.org/drawingml/2006/main">
              <a:ext uri="{FF2B5EF4-FFF2-40B4-BE49-F238E27FC236}">
                <a16:creationId xmlns:a16="http://schemas.microsoft.com/office/drawing/2014/main" id="{98E2D63A-225F-4CA4-89B2-F052C0E9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624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- Implemented today at L = 1 and cash-capped.</a:t>
            </a:r>
          </a:p>
        </p:txBody>
      </p:sp>
      <p:sp>
        <p:nvSpPr>
          <p:cNvPr id="18" name="bridge">
            <a:extLst xmlns:a="http://schemas.openxmlformats.org/drawingml/2006/main">
              <a:ext uri="{FF2B5EF4-FFF2-40B4-BE49-F238E27FC236}">
                <a16:creationId xmlns:a16="http://schemas.microsoft.com/office/drawing/2014/main" id="{D2D8866D-D04C-4ACA-AFBE-37D528F2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Bottom line: comparisons should now land on portfolio accounting, while projection stays a forensic compatibility surface.</a:t>
            </a:r>
          </a:p>
        </p:txBody>
      </p:sp>
      <p:sp>
        <p:nvSpPr>
          <p:cNvPr id="19" name="footer-left">
            <a:extLst xmlns:a="http://schemas.openxmlformats.org/drawingml/2006/main">
              <a:ext uri="{FF2B5EF4-FFF2-40B4-BE49-F238E27FC236}">
                <a16:creationId xmlns:a16="http://schemas.microsoft.com/office/drawing/2014/main" id="{7D03AACB-7AC8-4E8D-A104-F6C0BB2A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Time-Series-Modeling Gen5</a:t>
            </a:r>
          </a:p>
        </p:txBody>
      </p:sp>
      <p:sp>
        <p:nvSpPr>
          <p:cNvPr id="20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E54BB6D4-6B43-422F-B68C-57580D8E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516511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7C59DED4-CAAB-49D0-99B6-A184F2AF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GEN5.2 MECHANICS FORK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CA56763-E2D0-4775-8F9C-BFA37B95D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The next screen should test Gen5.2 as its own system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A6DCE94F-5601-4FCA-A315-6A54F265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recommend">
            <a:extLst xmlns:a="http://schemas.openxmlformats.org/drawingml/2006/main">
              <a:ext uri="{FF2B5EF4-FFF2-40B4-BE49-F238E27FC236}">
                <a16:creationId xmlns:a16="http://schemas.microsoft.com/office/drawing/2014/main" id="{695636AF-8EA3-406B-9AD4-26CC7C59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6096000" cy="2914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rec-title">
            <a:extLst xmlns:a="http://schemas.openxmlformats.org/drawingml/2006/main">
              <a:ext uri="{FF2B5EF4-FFF2-40B4-BE49-F238E27FC236}">
                <a16:creationId xmlns:a16="http://schemas.microsoft.com/office/drawing/2014/main" id="{8846FA6F-CAB4-4C72-942E-73F0E9618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Recommended next gate</a:t>
            </a:r>
          </a:p>
        </p:txBody>
      </p:sp>
      <p:sp>
        <p:nvSpPr>
          <p:cNvPr id="6" name="rec-b-0">
            <a:extLst xmlns:a="http://schemas.openxmlformats.org/drawingml/2006/main">
              <a:ext uri="{FF2B5EF4-FFF2-40B4-BE49-F238E27FC236}">
                <a16:creationId xmlns:a16="http://schemas.microsoft.com/office/drawing/2014/main" id="{2FFC75D3-4C08-4D55-B8BF-30E49C09A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90850"/>
            <a:ext cx="542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Rerun a narrow Gen5.2 screen with active_plus_risk_context and 3x3 states.</a:t>
            </a:r>
          </a:p>
        </p:txBody>
      </p:sp>
      <p:sp>
        <p:nvSpPr>
          <p:cNvPr id="7" name="rec-b-1">
            <a:extLst xmlns:a="http://schemas.openxmlformats.org/drawingml/2006/main">
              <a:ext uri="{FF2B5EF4-FFF2-40B4-BE49-F238E27FC236}">
                <a16:creationId xmlns:a16="http://schemas.microsoft.com/office/drawing/2014/main" id="{ADB5AB00-70CE-4D70-98F9-5F105AEA3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86150"/>
            <a:ext cx="542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Compare direct-spec versus pooled-family under shared Gen5.2 eligibility, scoring, and true live-capital accounting.</a:t>
            </a:r>
          </a:p>
        </p:txBody>
      </p:sp>
      <p:sp>
        <p:nvSpPr>
          <p:cNvPr id="8" name="rec-b-2">
            <a:extLst xmlns:a="http://schemas.openxmlformats.org/drawingml/2006/main">
              <a:ext uri="{FF2B5EF4-FFF2-40B4-BE49-F238E27FC236}">
                <a16:creationId xmlns:a16="http://schemas.microsoft.com/office/drawing/2014/main" id="{B11B1441-A734-473B-8209-9C624D1B5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81450"/>
            <a:ext cx="542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Treat older Gen5.1 pooled-family evidence as historical context, not final Gen5.2 evidence.</a:t>
            </a:r>
          </a:p>
        </p:txBody>
      </p:sp>
      <p:sp>
        <p:nvSpPr>
          <p:cNvPr id="9" name="stops">
            <a:extLst xmlns:a="http://schemas.openxmlformats.org/drawingml/2006/main">
              <a:ext uri="{FF2B5EF4-FFF2-40B4-BE49-F238E27FC236}">
                <a16:creationId xmlns:a16="http://schemas.microsoft.com/office/drawing/2014/main" id="{A0C01C7A-F3CA-4C37-A0E5-E939A628E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38350"/>
            <a:ext cx="4248150" cy="2914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stop-title">
            <a:extLst xmlns:a="http://schemas.openxmlformats.org/drawingml/2006/main">
              <a:ext uri="{FF2B5EF4-FFF2-40B4-BE49-F238E27FC236}">
                <a16:creationId xmlns:a16="http://schemas.microsoft.com/office/drawing/2014/main" id="{67D51263-82D2-41B6-819D-B3C8FCB4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286000"/>
            <a:ext cx="3657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6B35"/>
                </a:solidFill>
              </a:defRPr>
            </a:pPr>
            <a:r>
              <a:rPr sz="2025" b="1">
                <a:solidFill>
                  <a:srgbClr val="FF6B35"/>
                </a:solidFill>
              </a:rPr>
              <a:t>STOP decisions remain yours</a:t>
            </a:r>
          </a:p>
        </p:txBody>
      </p:sp>
      <p:sp>
        <p:nvSpPr>
          <p:cNvPr id="11" name="stop-b-0">
            <a:extLst xmlns:a="http://schemas.openxmlformats.org/drawingml/2006/main">
              <a:ext uri="{FF2B5EF4-FFF2-40B4-BE49-F238E27FC236}">
                <a16:creationId xmlns:a16="http://schemas.microsoft.com/office/drawing/2014/main" id="{4E864BE3-994E-4204-BE1B-AEEC8216C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990850"/>
            <a:ext cx="3524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- Whether Gen5.2 pooled-family should replace direct-spec as a default.</a:t>
            </a:r>
          </a:p>
        </p:txBody>
      </p:sp>
      <p:sp>
        <p:nvSpPr>
          <p:cNvPr id="12" name="stop-b-1">
            <a:extLst xmlns:a="http://schemas.openxmlformats.org/drawingml/2006/main">
              <a:ext uri="{FF2B5EF4-FFF2-40B4-BE49-F238E27FC236}">
                <a16:creationId xmlns:a16="http://schemas.microsoft.com/office/drawing/2014/main" id="{7BF6F292-678B-4609-BC8E-21EB5425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486150"/>
            <a:ext cx="3524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- Whether leverage above 1 should enter research.</a:t>
            </a:r>
          </a:p>
        </p:txBody>
      </p:sp>
      <p:sp>
        <p:nvSpPr>
          <p:cNvPr id="13" name="stop-b-2">
            <a:extLst xmlns:a="http://schemas.openxmlformats.org/drawingml/2006/main">
              <a:ext uri="{FF2B5EF4-FFF2-40B4-BE49-F238E27FC236}">
                <a16:creationId xmlns:a16="http://schemas.microsoft.com/office/drawing/2014/main" id="{61605314-BC8A-471A-94A1-1B04EC82C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81450"/>
            <a:ext cx="3524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- Whether omitted Gen4 families, such as SMA, deserve a separate gate.</a:t>
            </a:r>
          </a:p>
        </p:txBody>
      </p:sp>
      <p:sp>
        <p:nvSpPr>
          <p:cNvPr id="14" name="rule">
            <a:extLst xmlns:a="http://schemas.openxmlformats.org/drawingml/2006/main">
              <a:ext uri="{FF2B5EF4-FFF2-40B4-BE49-F238E27FC236}">
                <a16:creationId xmlns:a16="http://schemas.microsoft.com/office/drawing/2014/main" id="{E759B2C2-EF80-47FD-8779-F52BA233C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5" name="close">
            <a:extLst xmlns:a="http://schemas.openxmlformats.org/drawingml/2006/main">
              <a:ext uri="{FF2B5EF4-FFF2-40B4-BE49-F238E27FC236}">
                <a16:creationId xmlns:a16="http://schemas.microsoft.com/office/drawing/2014/main" id="{E4D60FF2-1A25-41A0-9236-CF92993B2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Gen5.2 is a mechanics milestone. The next run decides whether the cleaned mechanics improve the evidence surface.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78C1942-0434-4B35-B7C9-AE87F2BA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Time-Series-Modeling Gen5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9F508576-A778-41DA-8FF3-9CB5441E1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931221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2026-07-07T23:06:58.2280000Z</dcterms:created>
  <dcterms:modified xsi:type="dcterms:W3CDTF">2026-07-07T23:06:58.2280000Z</dcterms:modified>
</coreProperties>
</file>