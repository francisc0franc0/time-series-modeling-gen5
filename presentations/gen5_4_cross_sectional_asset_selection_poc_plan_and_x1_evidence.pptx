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4da3f81abb46b3" /><Relationship Type="http://schemas.openxmlformats.org/officeDocument/2006/relationships/extended-properties" Target="/docProps/app.xml" Id="R0071ce5bdf2b4d77" /><Relationship Type="http://schemas.openxmlformats.org/officeDocument/2006/relationships/officeDocument" Target="/ppt/presentation.xml" Id="R7f2defadda2a4e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6532e2576448db"/>
  </p:sldMasterIdLst>
  <p:notesMasterIdLst>
    <p:notesMasterId xmlns:r="http://schemas.openxmlformats.org/officeDocument/2006/relationships" r:id="R16a9b75515484dd5"/>
  </p:notesMasterIdLst>
  <p:sldIdLst>
    <p:sldId xmlns:r="http://schemas.openxmlformats.org/officeDocument/2006/relationships" id="256" r:id="R16ea0f24732c4dd1"/>
    <p:sldId xmlns:r="http://schemas.openxmlformats.org/officeDocument/2006/relationships" id="257" r:id="Rbd2f4b7d45da4793"/>
    <p:sldId xmlns:r="http://schemas.openxmlformats.org/officeDocument/2006/relationships" id="258" r:id="R59a7c53cd28d43e2"/>
    <p:sldId xmlns:r="http://schemas.openxmlformats.org/officeDocument/2006/relationships" id="259" r:id="R7e57e9b9e55e47c7"/>
    <p:sldId xmlns:r="http://schemas.openxmlformats.org/officeDocument/2006/relationships" id="260" r:id="R4441b9f0707d4d7a"/>
    <p:sldId xmlns:r="http://schemas.openxmlformats.org/officeDocument/2006/relationships" id="261" r:id="R47b2c190ec5a479d"/>
    <p:sldId xmlns:r="http://schemas.openxmlformats.org/officeDocument/2006/relationships" id="262" r:id="R3a970ada03244b7f"/>
    <p:sldId xmlns:r="http://schemas.openxmlformats.org/officeDocument/2006/relationships" id="263" r:id="Rb5208bcccc1f4e43"/>
    <p:sldId xmlns:r="http://schemas.openxmlformats.org/officeDocument/2006/relationships" id="264" r:id="Rff3fda6c47374723"/>
    <p:sldId xmlns:r="http://schemas.openxmlformats.org/officeDocument/2006/relationships" id="265" r:id="R25d0e2cff6384268"/>
    <p:sldId xmlns:r="http://schemas.openxmlformats.org/officeDocument/2006/relationships" id="266" r:id="R72293b89bd7645db"/>
    <p:sldId xmlns:r="http://schemas.openxmlformats.org/officeDocument/2006/relationships" id="267" r:id="R81465113cc9d47a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1afaad935445cb" /><Relationship Type="http://schemas.openxmlformats.org/officeDocument/2006/relationships/slideMaster" Target="/ppt/slideMasters/slideMaster1.xml" Id="Rbd6532e2576448db" /><Relationship Type="http://schemas.openxmlformats.org/officeDocument/2006/relationships/notesMaster" Target="/ppt/notesMasters/notesMaster1.xml" Id="R16a9b75515484dd5" /><Relationship Type="http://schemas.openxmlformats.org/officeDocument/2006/relationships/presProps" Target="/ppt/presProps.xml" Id="R0fd59ea98c0a471f" /><Relationship Type="http://schemas.openxmlformats.org/officeDocument/2006/relationships/tableStyles" Target="/ppt/tableStyles.xml" Id="R3117dd11f8774145" /><Relationship Type="http://schemas.openxmlformats.org/officeDocument/2006/relationships/slide" Target="/ppt/slides/slide1.xml" Id="R16ea0f24732c4dd1" /><Relationship Type="http://schemas.openxmlformats.org/officeDocument/2006/relationships/slide" Target="/ppt/slides/slide2.xml" Id="Rbd2f4b7d45da4793" /><Relationship Type="http://schemas.openxmlformats.org/officeDocument/2006/relationships/slide" Target="/ppt/slides/slide3.xml" Id="R59a7c53cd28d43e2" /><Relationship Type="http://schemas.openxmlformats.org/officeDocument/2006/relationships/slide" Target="/ppt/slides/slide4.xml" Id="R7e57e9b9e55e47c7" /><Relationship Type="http://schemas.openxmlformats.org/officeDocument/2006/relationships/slide" Target="/ppt/slides/slide5.xml" Id="R4441b9f0707d4d7a" /><Relationship Type="http://schemas.openxmlformats.org/officeDocument/2006/relationships/slide" Target="/ppt/slides/slide6.xml" Id="R47b2c190ec5a479d" /><Relationship Type="http://schemas.openxmlformats.org/officeDocument/2006/relationships/slide" Target="/ppt/slides/slide7.xml" Id="R3a970ada03244b7f" /><Relationship Type="http://schemas.openxmlformats.org/officeDocument/2006/relationships/slide" Target="/ppt/slides/slide8.xml" Id="Rb5208bcccc1f4e43" /><Relationship Type="http://schemas.openxmlformats.org/officeDocument/2006/relationships/slide" Target="/ppt/slides/slide9.xml" Id="Rff3fda6c47374723" /><Relationship Type="http://schemas.openxmlformats.org/officeDocument/2006/relationships/slide" Target="/ppt/slides/slide10.xml" Id="R25d0e2cff6384268" /><Relationship Type="http://schemas.openxmlformats.org/officeDocument/2006/relationships/slide" Target="/ppt/slides/slide11.xml" Id="R72293b89bd7645db" /><Relationship Type="http://schemas.openxmlformats.org/officeDocument/2006/relationships/slide" Target="/ppt/slides/slide12.xml" Id="R81465113cc9d47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2a53d103f743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f7df8a63f74ba3" /><Relationship Type="http://schemas.openxmlformats.org/officeDocument/2006/relationships/notesMaster" Target="/ppt/notesMasters/notesMaster1.xml" Id="R11258a28b75d40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d62a926a774d27" /><Relationship Type="http://schemas.openxmlformats.org/officeDocument/2006/relationships/notesMaster" Target="/ppt/notesMasters/notesMaster1.xml" Id="Rc5e56ffae7624f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0504531fc14234" /><Relationship Type="http://schemas.openxmlformats.org/officeDocument/2006/relationships/notesMaster" Target="/ppt/notesMasters/notesMaster1.xml" Id="Re59d1de36c0d44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8e4bfbbb664319" /><Relationship Type="http://schemas.openxmlformats.org/officeDocument/2006/relationships/notesMaster" Target="/ppt/notesMasters/notesMaster1.xml" Id="Re8ed433c730a46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8c1791a4a749e0" /><Relationship Type="http://schemas.openxmlformats.org/officeDocument/2006/relationships/notesMaster" Target="/ppt/notesMasters/notesMaster1.xml" Id="R63217c673e4445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5b8d5f1ddc4d1f" /><Relationship Type="http://schemas.openxmlformats.org/officeDocument/2006/relationships/notesMaster" Target="/ppt/notesMasters/notesMaster1.xml" Id="Rad4ec01ac3fe46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7370410f1c4146" /><Relationship Type="http://schemas.openxmlformats.org/officeDocument/2006/relationships/notesMaster" Target="/ppt/notesMasters/notesMaster1.xml" Id="R8b5f373a5eb24f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0431b2d55342ff" /><Relationship Type="http://schemas.openxmlformats.org/officeDocument/2006/relationships/notesMaster" Target="/ppt/notesMasters/notesMaster1.xml" Id="R5c148b7ab47545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4b54c7bc1b420d" /><Relationship Type="http://schemas.openxmlformats.org/officeDocument/2006/relationships/notesMaster" Target="/ppt/notesMasters/notesMaster1.xml" Id="Rd8d71b0fe1a04d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a7e8f323454a86" /><Relationship Type="http://schemas.openxmlformats.org/officeDocument/2006/relationships/notesMaster" Target="/ppt/notesMasters/notesMaster1.xml" Id="R387bba9b86c845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5e72ca62774dc8" /><Relationship Type="http://schemas.openxmlformats.org/officeDocument/2006/relationships/notesMaster" Target="/ppt/notesMasters/notesMaster1.xml" Id="Ra0697f8e0f8943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a2c56107004ef2" /><Relationship Type="http://schemas.openxmlformats.org/officeDocument/2006/relationships/notesMaster" Target="/ppt/notesMasters/notesMaster1.xml" Id="Rde1b77a3029c45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— CROSS-SECTIONAL ASSET SELECTION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Record the pivot from a five-name conditional-exposure experiment to a wider cross-sectional ranking question, then document the first leakage-safe universe and measurement packet.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reset and just like doing the approach from a wider perspective</a:t>
            </a:r>
          </a:p>
          <a:p xmlns:a="http://schemas.openxmlformats.org/drawingml/2006/main">
            <a:r>
              <a:t>Related artifact: docs/GEN5_4_CROSS_SECTIONAL_ASSET_SELECTION_POC_PLAN.md</a:t>
            </a:r>
          </a:p>
          <a:p xmlns:a="http://schemas.openxmlformats.org/drawingml/2006/main">
            <a:r>
              <a:t>Boundary: research and evidence only; no live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D15 — CROSS-SECTIONAL RESET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Decision</a:t>
            </a:r>
          </a:p>
          <a:p xmlns:a="http://schemas.openxmlformats.org/drawingml/2006/main">
            <a:r>
              <a:t>Replace the narrow prospective-discovery claim with a pooled cross-sectional question over a frozen, diverse candidate panel.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Why</a:t>
            </a:r>
          </a:p>
          <a:p xmlns:a="http://schemas.openxmlformats.org/drawingml/2006/main">
            <a:r>
              <a:t>A wider panel supplies contemporaneous comparisons across assets and groups. It does not manufacture independence across dates or remove survivorship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20 or 30 diverse assets</a:t>
            </a:r>
          </a:p>
          <a:p xmlns:a="http://schemas.openxmlformats.org/drawingml/2006/main">
            <a:r>
              <a:t>Artifact: docs/GEN5_4_CROSS_SECTIONAL_ASSET_SELECTION_POC_PLAN.md</a:t>
            </a:r>
          </a:p>
          <a:p xmlns:a="http://schemas.openxmlformats.org/drawingml/2006/main">
            <a:r>
              <a:t>Status: accepted research direction.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SESSION 5 — WIDE-UNIVERSE CROSS-SECTIONAL 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prior five-name STOPs remain valid. This session asks a different question: whether relationships repeat across a wider set of contemporaneously eligible assets.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approach from a wider perspective</a:t>
            </a:r>
          </a:p>
          <a:p xmlns:a="http://schemas.openxmlformats.org/drawingml/2006/main">
            <a:r>
              <a:t>Boundary: prior OOS results are not reinterpreted or rescued.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D16 — TWO-STAGE LONG-ONLY ARCHITECTURE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Decision</a:t>
            </a:r>
          </a:p>
          <a:p xmlns:a="http://schemas.openxmlformats.org/drawingml/2006/main">
            <a:r>
              <a:t>Keep exposure permission separate from cross-sectional asset ranking. Relative winners can still have negative absolute returns.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Why</a:t>
            </a:r>
          </a:p>
          <a:p xmlns:a="http://schemas.openxmlformats.org/drawingml/2006/main">
            <a:r>
              <a:t>A ranking model always names a winner. Cash/no-trade must remain a first-class competitor before a relative score becomes a long recommendation.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Relative outperformance is not automatically a long-entry signal</a:t>
            </a:r>
          </a:p>
          <a:p xmlns:a="http://schemas.openxmlformats.org/drawingml/2006/main">
            <a:r>
              <a:t>Status: architecture principle; no portfolio policy is authorized.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D17 — FIXED PANEL AND POINT-IN-TIME ELIGIBILITY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Ranked candidates</a:t>
            </a:r>
          </a:p>
          <a:p xmlns:a="http://schemas.openxmlformats.org/drawingml/2006/main">
            <a:r>
              <a:t>24 long-history liquid stocks across semiconductors, platforms/media, high-beta special situations, defensive consumer/health, financials, and energy/industrials.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 anchors</a:t>
            </a:r>
          </a:p>
          <a:p xmlns:a="http://schemas.openxmlformats.org/drawingml/2006/main">
            <a:r>
              <a:t>SPY, QQQ, IWM, SMH, TLT, and GLD are benchmark/context inputs, not ranked candidates.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Daily eligibility</a:t>
            </a:r>
          </a:p>
          <a:p xmlns:a="http://schemas.openxmlformats.org/drawingml/2006/main">
            <a:r>
              <a:t>Price at least $5, trailing 60-session median dollar volume at least $20 million, complete backward-looking features, and at least 20 eligible candidates on the same 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Limitation</a:t>
            </a:r>
          </a:p>
          <a:p xmlns:a="http://schemas.openxmlformats.org/drawingml/2006/main">
            <a:r>
              <a:t>The names are frozen and survived into the research era. This is not a complete point-in-time US securities master.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universe construction</a:t>
            </a:r>
          </a:p>
          <a:p xmlns:a="http://schemas.openxmlformats.org/drawingml/2006/main">
            <a:r>
              <a:t>Artifact: C:/Users/Franc/OneDrive/Documents/Francis/Peltata Project/Time-Series-Modeling-Gen5/runs/research_workbench/gen54_ml_decision_engine/g54_xs_20260719x0x1/xs_candidate_registry.csv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D18 — EXECUTION-ALIGNED CROSS-SECTIONAL 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label</a:t>
            </a:r>
          </a:p>
          <a:p xmlns:a="http://schemas.openxmlformats.org/drawingml/2006/main">
            <a:r>
              <a:t>Asset open(t+6) / open(t+1) - 1, minus the same-date equal-weight eligible-universe return over the identical interval.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Secondary control</a:t>
            </a:r>
          </a:p>
          <a:p xmlns:a="http://schemas.openxmlformats.org/drawingml/2006/main">
            <a:r>
              <a:t>Raw h5 open-to-open return preserves the absolute long-only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</a:t>
            </a:r>
          </a:p>
          <a:p xmlns:a="http://schemas.openxmlformats.org/drawingml/2006/main">
            <a:r>
              <a:t>Twenty quarterly OOS authorities from 2020Q1 through 2024Q4; eight preceding TRAIN quarters remain reserved by contract; boundary-crossing labels are excluded.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primary prediction target</a:t>
            </a:r>
          </a:p>
          <a:p xmlns:a="http://schemas.openxmlformats.org/drawingml/2006/main">
            <a:r>
              <a:t>Artifact: C:/Users/Franc/OneDrive/Documents/Francis/Peltata Project/Time-Series-Modeling-Gen5/runs/research_workbench/gen54_ml_decision_engine/g54_xs_20260719x0x1/xs_run_spec.csv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MINIMAL POC LADDER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X0 — Universe integrity</a:t>
            </a:r>
          </a:p>
          <a:p xmlns:a="http://schemas.openxmlformats.org/drawingml/2006/main">
            <a:r>
              <a:t>Coverage, role balance, point-in-time eligibility, and survivor limitation.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X1 — No-model measurement</a:t>
            </a:r>
          </a:p>
          <a:p xmlns:a="http://schemas.openxmlformats.org/drawingml/2006/main">
            <a:r>
              <a:t>Seven predeclared OHLCV primitives; same-date ranks; h5 relative outcomes; quarterly stability and group-concentration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X2 — Pooled linear ranker</a:t>
            </a:r>
          </a:p>
          <a:p xmlns:a="http://schemas.openxmlformats.org/drawingml/2006/main">
            <a:r>
              <a:t>Only after at least two economically distinct primitives pass X1.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X3 — Fixed nonlinear challenger</a:t>
            </a:r>
          </a:p>
          <a:p xmlns:a="http://schemas.openxmlformats.org/drawingml/2006/main">
            <a:r>
              <a:t>Only after the linear lane establishes useful ranking and calibration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X4 — Long-only top-K policy</a:t>
            </a:r>
          </a:p>
          <a:p xmlns:a="http://schemas.openxmlformats.org/drawingml/2006/main">
            <a:r>
              <a:t>Add exposure permission, turnover, costs, and concentration without model retuning.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X5 — Fresh forward confirmation</a:t>
            </a:r>
          </a:p>
          <a:p xmlns:a="http://schemas.openxmlformats.org/drawingml/2006/main">
            <a:r>
              <a:t>Use 2026Q3 onward; prior windows are development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plan a series of minimal proof of concepts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POC X0 — UNIVERSE INTEGRITY 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61,620 adjusted-daily SIP bars across 30 declared symbols. All 24 ranked candidates passed the fixed-panel coverage check. The contemporaneous eligible count stayed at or above the frozen minimum after warm-up.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Refresh transparency</a:t>
            </a:r>
          </a:p>
          <a:p xmlns:a="http://schemas.openxmlformats.org/drawingml/2006/main">
            <a:r>
              <a:t>The initial cache-only attempt lacked some declared symbols. The affected adjusted-daily histories were refreshed from Alpaca and the packet was rerun before interpretation.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Do we have enough assets to extract signal from noise</a:t>
            </a:r>
          </a:p>
          <a:p xmlns:a="http://schemas.openxmlformats.org/drawingml/2006/main">
            <a:r>
              <a:t>Plots: C:/Users/Franc/OneDrive/Documents/Francis/Peltata Project/Time-Series-Modeling-Gen5/runs/research_workbench/gen54_ml_decision_engine/g54_xs_20260719x0x1/visuals/xs_eligible_count.png and xs_coverage_heatmap.png</a:t>
            </a:r>
          </a:p>
          <a:p xmlns:a="http://schemas.openxmlformats.org/drawingml/2006/main">
            <a:r>
              <a:t>Manifest: C:/Users/Franc/OneDrive/Documents/Francis/Peltata Project/Time-Series-Modeling-Gen5/runs/research_workbench/gen54_ml_decision_engine/g54_xs_20260719x0x1/xs_universe_manifest.csv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POC X1 — NO-MODEL MEASUREMENT AUDIT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primitives</a:t>
            </a:r>
          </a:p>
          <a:p xmlns:a="http://schemas.openxmlformats.org/drawingml/2006/main">
            <a:r>
              <a:t>20- and 60-session momentum, market-relative 20-session momentum, group-relative 20-session momentum, 60-session drawdown resilience, low 20-session volatility, and 5-versus-prior-60-session dollar-volume participation.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Pass rule</a:t>
            </a:r>
          </a:p>
          <a:p xmlns:a="http://schemas.openxmlformats.org/drawingml/2006/main">
            <a:r>
              <a:t>Positive pooled daily rank IC, positive pooled top-minus-bottom h5 return, at least 12 of 20 positive-IC folds, at least 12 of 20 positive-ordering folds, and no group above 50% of top selections.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Readout</a:t>
            </a:r>
          </a:p>
          <a:p xmlns:a="http://schemas.openxmlformats.org/drawingml/2006/main">
            <a:r>
              <a:t>Only group-relative 20-session momentum passed every standalone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Project/Time-Series-Modeling-Gen5/runs/research_workbench/gen54_ml_decision_engine/g54_xs_20260719x0x1/xs_report.md</a:t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all data that we have available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D19 — X0/X1 STOP BEFORE MODEL FIT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Why STOP</a:t>
            </a:r>
          </a:p>
          <a:p xmlns:a="http://schemas.openxmlformats.org/drawingml/2006/main">
            <a:r>
              <a:t>The protocol required at least two economically distinct standalone primitives before combination design. Only group-relative 20-session momentum passed every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Important nuance</a:t>
            </a:r>
          </a:p>
          <a:p xmlns:a="http://schemas.openxmlformats.org/drawingml/2006/main">
            <a:r>
              <a:t>Momentum 60 had positive pooled IC, 14/20 positive IC folds, 14/20 positive ordering folds, and +61.0 bp pooled top-minus-bottom separation. It failed the predeclared group-concentration cap: 67.3% versus 50%.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Other readouts</a:t>
            </a:r>
          </a:p>
          <a:p xmlns:a="http://schemas.openxmlformats.org/drawingml/2006/main">
            <a:r>
              <a:t>Low-volatility ordering was negative. Participation had negative pooled IC. Widening the cross-section therefore improved measurement legitimacy but did not create a robust multivariate information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autonomously run as large a chunk</a:t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Project/Time-Series-Modeling-Gen5/runs/research_workbench/gen54_ml_decision_engine/g54_xs_20260719x0x1/xs_report.md</a:t>
            </a:r>
          </a:p>
          <a:p xmlns:a="http://schemas.openxmlformats.org/drawingml/2006/main">
            <a:r>
              <a:t>Status: STOP_BEFORE_MODEL_FIT; model_fit_count = 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PROVENANCE INDEX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slight pivot in direction</a:t>
            </a:r>
          </a:p>
          <a:p xmlns:a="http://schemas.openxmlformats.org/drawingml/2006/main">
            <a:r>
              <a:t>Plan: docs/GEN5_4_CROSS_SECTIONAL_ASSET_SELECTION_POC_PLAN.md</a:t>
            </a:r>
          </a:p>
          <a:p xmlns:a="http://schemas.openxmlformats.org/drawingml/2006/main">
            <a:r>
              <a:t>Decision index: docs/GEN5_4_DECISION_DIALOGUE_INDEX.md</a:t>
            </a:r>
          </a:p>
          <a:p xmlns:a="http://schemas.openxmlformats.org/drawingml/2006/main">
            <a:r>
              <a:t>Progress log: docs/GEN5_1_POC_PROGRESS_LOG.md</a:t>
            </a:r>
          </a:p>
          <a:p xmlns:a="http://schemas.openxmlformats.org/drawingml/2006/main">
            <a:r>
              <a:t>Packet: C:/Users/Franc/OneDrive/Documents/Francis/Peltata Project/Time-Series-Modeling-Gen5/runs/research_workbench/gen54_ml_decision_engine/g54_xs_20260719x0x1</a:t>
            </a:r>
          </a:p>
          <a:p xmlns:a="http://schemas.openxmlformats.org/drawingml/2006/main">
            <a:r>
              <a:t>Boundary: concise visible narrative; longer decision rationale remains navigable through notes and the dialogue index.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NEXT OPERATOR GATE — SECOND INDEPENDENT INFORMATION FAMILY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Recommended direction</a:t>
            </a:r>
          </a:p>
          <a:p xmlns:a="http://schemas.openxmlformats.org/drawingml/2006/main">
            <a:r>
              <a:t>Keep X0's wide panel, the same-date rank architecture, h5 execution-aligned relative target, and cash/no-trade separation. Do not loosen the concentration cap or fit a model around the single passing primitive.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Candidate next families</a:t>
            </a:r>
          </a:p>
          <a:p xmlns:a="http://schemas.openxmlformats.org/drawingml/2006/main">
            <a:r>
              <a:t>1. Point-in-time filing and earnings-change features from an official structured source.</a:t>
            </a:r>
          </a:p>
          <a:p xmlns:a="http://schemas.openxmlformats.org/drawingml/2006/main">
            <a:r>
              <a:t>2. Revision-safe macro/credit context shared across the cross-section.</a:t>
            </a:r>
          </a:p>
          <a:p xmlns:a="http://schemas.openxmlformats.org/drawingml/2006/main">
            <a:r>
              <a:t>3. A separately justified universe rule with historical membership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Alpaca boundary</a:t>
            </a:r>
          </a:p>
          <a:p xmlns:a="http://schemas.openxmlformats.org/drawingml/2006/main">
            <a:r>
              <a:t>Alpaca adjusted daily bars support the panel. Alpaca does not document the structured fundamentals/estimate-revision surface needed for the strongest first candidate.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non-price-related data</a:t>
            </a:r>
          </a:p>
          <a:p xmlns:a="http://schemas.openxmlformats.org/drawingml/2006/main">
            <a:r>
              <a:t>Status: operator decision required before X2 or a new data-family POC.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e899c4344f47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594607beea4149" /><Relationship Type="http://schemas.openxmlformats.org/officeDocument/2006/relationships/slideLayout" Target="/ppt/slideLayouts/slideLayout1.xml" Id="Ra3d367a3bf2544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d367a3bf2544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59abf39c14f86" /><Relationship Type="http://schemas.openxmlformats.org/officeDocument/2006/relationships/notesSlide" Target="/ppt/notesSlides/notesSlide1.xml" Id="Rbf69b9b7fca64e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048d5dfac46cd" /><Relationship Type="http://schemas.openxmlformats.org/officeDocument/2006/relationships/notesSlide" Target="/ppt/notesSlides/notesSlide2.xml" Id="R2194dab825ac4a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130dc68a447cb" /><Relationship Type="http://schemas.openxmlformats.org/officeDocument/2006/relationships/notesSlide" Target="/ppt/notesSlides/notesSlide3.xml" Id="R5f242163160849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41f043a1d4a6c" /><Relationship Type="http://schemas.openxmlformats.org/officeDocument/2006/relationships/notesSlide" Target="/ppt/notesSlides/notesSlide4.xml" Id="Rcc748e39177240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02a08d1444749" /><Relationship Type="http://schemas.openxmlformats.org/officeDocument/2006/relationships/notesSlide" Target="/ppt/notesSlides/notesSlide5.xml" Id="R3be18195c82c46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46c0864754e38" /><Relationship Type="http://schemas.openxmlformats.org/officeDocument/2006/relationships/notesSlide" Target="/ppt/notesSlides/notesSlide6.xml" Id="Rf966c1251e7746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37bdb49dc4846" /><Relationship Type="http://schemas.openxmlformats.org/officeDocument/2006/relationships/notesSlide" Target="/ppt/notesSlides/notesSlide7.xml" Id="R8abc3ae57e894c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91275bd104684" /><Relationship Type="http://schemas.openxmlformats.org/officeDocument/2006/relationships/image" Target="/ppt/media/image.png" Id="R1f4201f5d9f94dff" /><Relationship Type="http://schemas.openxmlformats.org/officeDocument/2006/relationships/notesSlide" Target="/ppt/notesSlides/notesSlide8.xml" Id="R8d25fa77817f45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83c3f32d24f00" /><Relationship Type="http://schemas.openxmlformats.org/officeDocument/2006/relationships/image" Target="/ppt/media/image2.png" Id="Ref45e495b0d7462c" /><Relationship Type="http://schemas.openxmlformats.org/officeDocument/2006/relationships/notesSlide" Target="/ppt/notesSlides/notesSlide9.xml" Id="Rcb679163f59343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68aedad4546aa" /><Relationship Type="http://schemas.openxmlformats.org/officeDocument/2006/relationships/image" Target="/ppt/media/image3.png" Id="Rf98dfcbfb1d24cee" /><Relationship Type="http://schemas.openxmlformats.org/officeDocument/2006/relationships/notesSlide" Target="/ppt/notesSlides/notesSlide10.xml" Id="R67e5aa60e76f4d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77da622f448d0" /><Relationship Type="http://schemas.openxmlformats.org/officeDocument/2006/relationships/notesSlide" Target="/ppt/notesSlides/notesSlide11.xml" Id="Ra756b1b80b3048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ed03428ec4bca" /><Relationship Type="http://schemas.openxmlformats.org/officeDocument/2006/relationships/notesSlide" Target="/ppt/notesSlides/notesSlide12.xml" Id="R526a6d12d0be43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38D2F-19FD-411E-9D70-3558B68D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7FB7F-0436-4F5E-9A08-BBF60AF0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GEN5.4 • THEORY → MEASUREMENT → MODEL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81652-7DC0-486D-BD0E-49C1F5A5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525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Cross-sectional asset</a:t>
            </a:r>
          </a:p>
          <a:p xmlns:a="http://schemas.openxmlformats.org/drawingml/2006/main">
            <a:pPr algn="l">
              <a:buNone/>
              <a:defRPr sz="5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7D9E2-CE8E-4BC4-9821-1B38BEA7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382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 concise pivot deck • leakage-safe POC ladder • first X0/X1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C65C4-8C88-4DE4-B1BA-EEE12AB2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1219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72300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Gen5.4 is widening the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D15/02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498FC-920F-4192-86BF-28388F3C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7810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Rank a broad historical cross-section—without forcing a trade.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00050" y="3390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912B2-D65A-4CAC-A511-AB23EEBF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new research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10629-6090-4DA1-A5DD-15138B85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7239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Can same-date, point-in-time evidence identify which eligible assets will outperform the equal-weight universe over an executable horizon?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D4507-77A7-4E31-985F-3A4C9F05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29050"/>
            <a:ext cx="29813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EE853-F42E-41E0-9B9C-40D955D5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095750"/>
            <a:ext cx="23336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Model fitting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7B1B0-25C9-4AE5-A57F-3C6E699D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591050"/>
            <a:ext cx="233362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5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waits for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stable primitive evidence</a:t>
            </a:r>
          </a:p>
        </p:txBody>
      </p:sp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E9F33-2E02-4887-9BA5-D4C283F7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S5/03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10206-C75C-445A-A56D-E05DAD2D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SESSION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625A6-0B63-4E1C-81ED-B9E78F88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07632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narrow basket becomes evidence;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wider panel becomes the research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ACAB6-605B-492B-8C9A-F7560B4A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000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777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Universe integrity • relative target • cross-sectional ranks • cash gate • falsification</a:t>
            </a:r>
          </a:p>
        </p:txBody>
      </p:sp>
    </p:spTree>
    <p:extLst>
      <p:ext uri="{BB962C8B-B14F-4D97-AF65-F5344CB8AC3E}">
        <p14:creationId xmlns:p14="http://schemas.microsoft.com/office/powerpoint/2010/main" val="18048084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87AFA-A122-4C48-AD84-CA37024C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 cross-sectional engine still separates four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97E69-3F8F-41A4-ADB0-62EFB067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D16/04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E388C-25F2-4628-805C-ACB8B15C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5334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B8524-D76F-40A8-BE6F-B97DF5C6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  Exposure permission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FEC87-E4AB-4C54-A353-55AB85DD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4476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Should a long-only portfolio take risk at all?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981FC-45CB-4456-A496-4F47328A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5734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FEDD8-E45C-4D40-AA63-F7378036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62150"/>
            <a:ext cx="504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  Asset ranking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4024F-C6FA-49B2-B1C1-4B01C4DE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14600"/>
            <a:ext cx="4857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Which eligible names are strongest relative to the same-date universe?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207B0-3555-4EEE-A316-A4495073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5334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67FDA-79DC-4121-87F4-5B270474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  Holding horizon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BEB3C-CBB3-4390-8D81-DA176100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476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Does the score match a next-open, five-session exposure?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159A5-217E-43F1-84AF-3C045502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90950"/>
            <a:ext cx="5734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2034B-1622-436B-A902-881D408E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504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  Portfolio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994FF-6657-4E70-9BB9-D2B7E1A6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10100"/>
            <a:ext cx="4857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Can top-K selection survive turnover, concentration, and costs?</a:t>
            </a:r>
          </a:p>
        </p:txBody>
      </p:sp>
    </p:spTree>
    <p:extLst>
      <p:ext uri="{BB962C8B-B14F-4D97-AF65-F5344CB8AC3E}">
        <p14:creationId xmlns:p14="http://schemas.microsoft.com/office/powerpoint/2010/main" val="15199797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337DE-1564-4CEA-B7B6-C1A9FD80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first wide panel is fixed, diverse, and explicitly imperfect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6D795-41F9-4DB7-9099-EC48DEC9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D17/05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666750" y="312420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FB53C-0264-4D46-A2E8-A3B6F307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E284B-98CD-40CC-BECA-F4B7B3E4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C6243-0F8C-4A38-9888-EF2824DA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A5C70-6898-4F96-9947-2F85AED5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15B3C-F39A-4E90-9150-8002EDF2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762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24 ranked stocks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across six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22BFC-B68D-488F-929D-4939A7B7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SECOND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6681A-4E7A-4BA0-B61A-73DFB448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623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6 market/risk anchors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for benchmarks 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9A921-CA0E-41AF-AEC6-CCF88037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THIRD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D44CB-FC2E-4D38-9C42-CC9A84E2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3238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Daily eligibility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uses trailing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8A186-326F-4097-AAA4-3983A658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28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5983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Fixed-panel POC: coverage and liquidity are auditable; survivorship remains a declared limitation.</a:t>
            </a:r>
          </a:p>
        </p:txBody>
      </p:sp>
    </p:spTree>
    <p:extLst>
      <p:ext uri="{BB962C8B-B14F-4D97-AF65-F5344CB8AC3E}">
        <p14:creationId xmlns:p14="http://schemas.microsoft.com/office/powerpoint/2010/main" val="15343699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35E5F6-54B8-4216-9E13-00944998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681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target asks who wins—and whether winning is worth owning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A37CC-8D86-41DC-B57D-22799FBF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D18/06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92A7F-1195-4816-A4FE-C617A51E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At each after-close decision: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91D66-13E5-425B-8FFA-23125FA9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4953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1.  observe through close t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2.  screen point-in-time eligibility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3.  execute at open t+1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4.  measure at open t+6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5.  compare with same-date equal weight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818C9-0506-489E-8452-8D248B1E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19250"/>
            <a:ext cx="57340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A1CB9-8EC6-470D-9647-E38657D1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1390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DECIDE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E290A-CBC7-4AF2-B4DC-5B9DF6D2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295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96ACC-F5DC-44D0-ACDB-169F0298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after close 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D6170-7969-4F30-B679-A8411AEB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24050"/>
            <a:ext cx="1390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EXECUTE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3839B2-C8C5-413D-95BF-61379F81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19350"/>
            <a:ext cx="1581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3D4B9-3E13-497F-9205-67499A9D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717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open t+1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69140-F9A7-44D6-829F-8BD3ED8C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hold → measure at open t+6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18241-A43B-4A5D-A637-3D05E45C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A85FC-59F1-47B3-BF69-B656E9ED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5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Primary: h5 relative return. Secondary: raw h5 return. Relative leadership never overrides cash/no-trade.</a:t>
            </a:r>
          </a:p>
        </p:txBody>
      </p:sp>
    </p:spTree>
    <p:extLst>
      <p:ext uri="{BB962C8B-B14F-4D97-AF65-F5344CB8AC3E}">
        <p14:creationId xmlns:p14="http://schemas.microsoft.com/office/powerpoint/2010/main" val="20375754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337DE-1564-4CEA-B7B6-C1A9FD80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POC ladder delays complexity until each layer earns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6D795-41F9-4DB7-9099-EC48DEC9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PLAN/07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666750" y="312420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FB53C-0264-4D46-A2E8-A3B6F307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E284B-98CD-40CC-BECA-F4B7B3E4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C6243-0F8C-4A38-9888-EF2824DA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A5C70-6898-4F96-9947-2F85AED5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X0 + X1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15B3C-F39A-4E90-9150-8002EDF2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762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443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Universe integrity +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no-model measurement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22BFC-B68D-488F-929D-4939A7B7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X2 + X3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6681A-4E7A-4BA0-B61A-73DFB448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623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602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Pooled linear ranker +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fixed nonlinear challenger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9A921-CA0E-41AF-AEC6-CCF88037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X4 + X5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D44CB-FC2E-4D38-9C42-CC9A84E2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3238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131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Top-K policy, costs +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fresh forward confirmation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8A186-326F-4097-AAA4-3983A658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28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438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Autonomous boundary: complete X0/X1 only. Model, portfolio policy, and live advice remain closed.</a:t>
            </a:r>
          </a:p>
        </p:txBody>
      </p:sp>
    </p:spTree>
    <p:extLst>
      <p:ext uri="{BB962C8B-B14F-4D97-AF65-F5344CB8AC3E}">
        <p14:creationId xmlns:p14="http://schemas.microsoft.com/office/powerpoint/2010/main" val="15343699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X0 passed: all 24 candidates support the fixed-panel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X0/08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201f5d9f94dff"/>
          <a:stretch xmlns:a="http://schemas.openxmlformats.org/drawingml/2006/main"/>
        </p:blipFill>
        <p:spPr>
          <a:xfrm xmlns:a="http://schemas.openxmlformats.org/drawingml/2006/main" flipH="0" flipV="0">
            <a:off x="2286000" y="1381125"/>
            <a:ext cx="7620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X1 found one stable primitive—not enough for 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X1/09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5e495b0d7462c"/>
          <a:stretch xmlns:a="http://schemas.openxmlformats.org/drawingml/2006/main"/>
        </p:blipFill>
        <p:spPr>
          <a:xfrm xmlns:a="http://schemas.openxmlformats.org/drawingml/2006/main" flipH="0" flipV="0">
            <a:off x="2133600" y="1381125"/>
            <a:ext cx="79248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wider universe solved breadth—not signal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D19/10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dfcbfb1d24cee"/>
          <a:stretch xmlns:a="http://schemas.openxmlformats.org/drawingml/2006/main"/>
        </p:blipFill>
        <p:spPr>
          <a:xfrm xmlns:a="http://schemas.openxmlformats.org/drawingml/2006/main" flipH="0" flipV="0">
            <a:off x="400050" y="1992007"/>
            <a:ext cx="5476875" cy="3159736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00E1C-C4F4-42C7-BF5A-84635317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5334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OVERALL: STOP BEFORE MODEL FIT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24 / 24 coverage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6 / 6 leakage checks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Group-relative 20 only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REVIEW  Momentum 60: concentrated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STOP  Five remaining primitives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Model fits: 0</a:t>
            </a:r>
          </a:p>
        </p:txBody>
      </p:sp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778D6B-60CA-4926-B285-DE220C2C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Decision record and evidence artifacts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41A40-9E3E-48A5-BDC4-3B2D34F6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IDX/11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00743-E837-4A84-BA76-43D549C1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52E5C-8C1E-4FC6-8762-8DA0C945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1066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D15–D18 — cross-sectional POC charter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2713C-4A90-44D3-B9C6-6EA00A57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66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docs/GEN5_4_CROSS_SECTIONAL_ASSET_SELECTION_POC_PLAN.md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962C1-879A-4E85-8144-91EFD610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3F9E1-7696-4F8C-AC88-F3E3D8C1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066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D19 — X0/X1 measurement packet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0C903-3F9B-418F-95B6-BCA83B38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1066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runs/.../g54_xs_20260719x0x1/xs_report.md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A7760-898B-43F7-905C-FEAABFA1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05774-D2D9-484E-998F-0D83EBAB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1066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GEN5_4_DECISION_DIALOGUE_INDEX.md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A441C-97BE-4D7C-981A-EB6D1D19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1066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Codex deep link, exact Find-in-chat phrases, compact decisions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71286-92BA-4617-B293-7BE2720A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B6344-81F1-4DBB-93E1-ADDF2083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66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GEN5_1_POC_PROGRESS_LOG.md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9DE04-49B0-4D98-B742-5D57B480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1066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Cumulative POC question, artifacts, readout, and STOP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E52D3-67E5-4FEB-AD72-2885D014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84864-5601-45CA-A490-A8AB6A70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1066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GEN5_4_ML_DECISION_ENGINE_PLAN.md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90C295-629F-4389-9425-62285390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1066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Prior supervised lineage and wide-pool absolute-target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77A152-560D-470B-924D-940BB2FD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DC48A-B3AB-4287-9578-F5A1C174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66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AGENTS.md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EA3176-A0B6-44B8-8A20-41C3559A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066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WFA-first • explicit as-of • no-trade • no live change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AF491-EF97-4346-AC24-33E44267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066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Speaker notes carry conversation bookmarks, decisions, evidence paths, and research boundaries.</a:t>
            </a:r>
          </a:p>
        </p:txBody>
      </p:sp>
    </p:spTree>
    <p:extLst>
      <p:ext uri="{BB962C8B-B14F-4D97-AF65-F5344CB8AC3E}">
        <p14:creationId xmlns:p14="http://schemas.microsoft.com/office/powerpoint/2010/main" val="2220607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337DE-1564-4CEA-B7B6-C1A9FD80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next gate is information—not a cleverer ranker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6D795-41F9-4DB7-9099-EC48DEC9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G/12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666750" y="312420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FB53C-0264-4D46-A2E8-A3B6F307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E284B-98CD-40CC-BECA-F4B7B3E4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C6243-0F8C-4A38-9888-EF2824DA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A5C70-6898-4F96-9947-2F85AED5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15B3C-F39A-4E90-9150-8002EDF2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762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Keep the wide panel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and h5 target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22BFC-B68D-488F-929D-4939A7B7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SECOND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6681A-4E7A-4BA0-B61A-73DFB448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623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Accept the X1 STOP;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do not fit one primitive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9A921-CA0E-41AF-AEC6-CCF88037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THIRD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D44CB-FC2E-4D38-9C42-CC9A84E2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3238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Add one distinct family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or revise universe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8A186-326F-4097-AAA4-3983A658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28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Recommended next session: choose one point-in-time feature family that can supply an independent cross-sectional signal.</a:t>
            </a:r>
          </a:p>
        </p:txBody>
      </p:sp>
    </p:spTree>
    <p:extLst>
      <p:ext uri="{BB962C8B-B14F-4D97-AF65-F5344CB8AC3E}">
        <p14:creationId xmlns:p14="http://schemas.microsoft.com/office/powerpoint/2010/main" val="15343699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2026-07-19T07:26:49.4400000Z</dcterms:created>
  <dcterms:modified xsi:type="dcterms:W3CDTF">2026-07-19T07:26:49.4400000Z</dcterms:modified>
</coreProperties>
</file>