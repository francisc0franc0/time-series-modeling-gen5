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a85116657a426a" /><Relationship Type="http://schemas.openxmlformats.org/officeDocument/2006/relationships/extended-properties" Target="/docProps/app.xml" Id="R0e1a33a6677f4b13" /><Relationship Type="http://schemas.openxmlformats.org/officeDocument/2006/relationships/officeDocument" Target="/ppt/presentation.xml" Id="Rac6b881b05fa45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59657d34304f62"/>
  </p:sldMasterIdLst>
  <p:notesMasterIdLst>
    <p:notesMasterId xmlns:r="http://schemas.openxmlformats.org/officeDocument/2006/relationships" r:id="R53856157dd214936"/>
  </p:notesMasterIdLst>
  <p:sldIdLst>
    <p:sldId xmlns:r="http://schemas.openxmlformats.org/officeDocument/2006/relationships" id="256" r:id="R0b86095be5be46f6"/>
    <p:sldId xmlns:r="http://schemas.openxmlformats.org/officeDocument/2006/relationships" id="257" r:id="Rd92c0ce230454950"/>
    <p:sldId xmlns:r="http://schemas.openxmlformats.org/officeDocument/2006/relationships" id="258" r:id="R7d406cf27f484095"/>
    <p:sldId xmlns:r="http://schemas.openxmlformats.org/officeDocument/2006/relationships" id="259" r:id="Rf96cece638bb40ec"/>
    <p:sldId xmlns:r="http://schemas.openxmlformats.org/officeDocument/2006/relationships" id="260" r:id="R48f8901817334336"/>
    <p:sldId xmlns:r="http://schemas.openxmlformats.org/officeDocument/2006/relationships" id="261" r:id="Re0f69eb41ccc4059"/>
    <p:sldId xmlns:r="http://schemas.openxmlformats.org/officeDocument/2006/relationships" id="262" r:id="Rbc87bdfba9ae4068"/>
    <p:sldId xmlns:r="http://schemas.openxmlformats.org/officeDocument/2006/relationships" id="263" r:id="Rc0664e6bb72e47d1"/>
    <p:sldId xmlns:r="http://schemas.openxmlformats.org/officeDocument/2006/relationships" id="264" r:id="Rcd829b2cd47844a0"/>
    <p:sldId xmlns:r="http://schemas.openxmlformats.org/officeDocument/2006/relationships" id="265" r:id="Rf336ea21e06e4e95"/>
    <p:sldId xmlns:r="http://schemas.openxmlformats.org/officeDocument/2006/relationships" id="266" r:id="Rbf37437eaa1444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01b93130ed41a6" /><Relationship Type="http://schemas.openxmlformats.org/officeDocument/2006/relationships/slideMaster" Target="/ppt/slideMasters/slideMaster1.xml" Id="Rd359657d34304f62" /><Relationship Type="http://schemas.openxmlformats.org/officeDocument/2006/relationships/notesMaster" Target="/ppt/notesMasters/notesMaster1.xml" Id="R53856157dd214936" /><Relationship Type="http://schemas.openxmlformats.org/officeDocument/2006/relationships/presProps" Target="/ppt/presProps.xml" Id="R5f126729c4c945f0" /><Relationship Type="http://schemas.openxmlformats.org/officeDocument/2006/relationships/tableStyles" Target="/ppt/tableStyles.xml" Id="Rd13c517051d149c0" /><Relationship Type="http://schemas.openxmlformats.org/officeDocument/2006/relationships/slide" Target="/ppt/slides/slide1.xml" Id="R0b86095be5be46f6" /><Relationship Type="http://schemas.openxmlformats.org/officeDocument/2006/relationships/slide" Target="/ppt/slides/slide2.xml" Id="Rd92c0ce230454950" /><Relationship Type="http://schemas.openxmlformats.org/officeDocument/2006/relationships/slide" Target="/ppt/slides/slide3.xml" Id="R7d406cf27f484095" /><Relationship Type="http://schemas.openxmlformats.org/officeDocument/2006/relationships/slide" Target="/ppt/slides/slide4.xml" Id="Rf96cece638bb40ec" /><Relationship Type="http://schemas.openxmlformats.org/officeDocument/2006/relationships/slide" Target="/ppt/slides/slide5.xml" Id="R48f8901817334336" /><Relationship Type="http://schemas.openxmlformats.org/officeDocument/2006/relationships/slide" Target="/ppt/slides/slide6.xml" Id="Re0f69eb41ccc4059" /><Relationship Type="http://schemas.openxmlformats.org/officeDocument/2006/relationships/slide" Target="/ppt/slides/slide7.xml" Id="Rbc87bdfba9ae4068" /><Relationship Type="http://schemas.openxmlformats.org/officeDocument/2006/relationships/slide" Target="/ppt/slides/slide8.xml" Id="Rc0664e6bb72e47d1" /><Relationship Type="http://schemas.openxmlformats.org/officeDocument/2006/relationships/slide" Target="/ppt/slides/slide9.xml" Id="Rcd829b2cd47844a0" /><Relationship Type="http://schemas.openxmlformats.org/officeDocument/2006/relationships/slide" Target="/ppt/slides/slide10.xml" Id="Rf336ea21e06e4e95" /><Relationship Type="http://schemas.openxmlformats.org/officeDocument/2006/relationships/slide" Target="/ppt/slides/slide11.xml" Id="Rbf37437eaa1444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52cd394b2c4f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f2c1bf2b2a4c06" /><Relationship Type="http://schemas.openxmlformats.org/officeDocument/2006/relationships/notesMaster" Target="/ppt/notesMasters/notesMaster1.xml" Id="R448ac11e36e844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4ebd2d85974a99" /><Relationship Type="http://schemas.openxmlformats.org/officeDocument/2006/relationships/notesMaster" Target="/ppt/notesMasters/notesMaster1.xml" Id="R73fa00eff4914a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3fa472ac5946da" /><Relationship Type="http://schemas.openxmlformats.org/officeDocument/2006/relationships/notesMaster" Target="/ppt/notesMasters/notesMaster1.xml" Id="R4b040ae9e6c54f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8c5de679f6421b" /><Relationship Type="http://schemas.openxmlformats.org/officeDocument/2006/relationships/notesMaster" Target="/ppt/notesMasters/notesMaster1.xml" Id="R832200cd005b45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37447e319849ee" /><Relationship Type="http://schemas.openxmlformats.org/officeDocument/2006/relationships/notesMaster" Target="/ppt/notesMasters/notesMaster1.xml" Id="R13b41b8124784d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aee3e72b83428f" /><Relationship Type="http://schemas.openxmlformats.org/officeDocument/2006/relationships/notesMaster" Target="/ppt/notesMasters/notesMaster1.xml" Id="Rcca73e8b8f374b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8860b1945841e2" /><Relationship Type="http://schemas.openxmlformats.org/officeDocument/2006/relationships/notesMaster" Target="/ppt/notesMasters/notesMaster1.xml" Id="Re7cb00bb7b3a4e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eaa74a8e5e40a2" /><Relationship Type="http://schemas.openxmlformats.org/officeDocument/2006/relationships/notesMaster" Target="/ppt/notesMasters/notesMaster1.xml" Id="R83d12d3569614b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84ae87201b4bed" /><Relationship Type="http://schemas.openxmlformats.org/officeDocument/2006/relationships/notesMaster" Target="/ppt/notesMasters/notesMaster1.xml" Id="Re26717715c7441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494939ced44a53" /><Relationship Type="http://schemas.openxmlformats.org/officeDocument/2006/relationships/notesMaster" Target="/ppt/notesMasters/notesMaster1.xml" Id="Rc991e34ef3f346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348d9739594e9a" /><Relationship Type="http://schemas.openxmlformats.org/officeDocument/2006/relationships/notesMaster" Target="/ppt/notesMasters/notesMaster1.xml" Id="R66510d50c26545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design decision: M1 separates evidence for relative ranking from the later portfolio implementation, so compounding cannot substitute for a mechanism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D52 -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Project/Time-Series-Modeling-Gen5/docs/GEN5_M1_CROSS_SECTIONAL_MOMENTUM_POC_CONTRACT.md</a:t>
            </a:r>
          </a:p>
          <a:p xmlns:a="http://schemas.openxmlformats.org/drawingml/2006/main">
            <a:r>
              <a:t>- C:/Users/Franc/OneDrive/Documents/Francis/Peltata Project/Time-Series-Modeling-Gen5/docs/GEN5_RETAIL_QUANT_MECHANISM_POC_ATLAS.md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 and M1 test distinct mechanisms. T1's absolute asset-versus-cash state failed; M1 tests contemporaneous relative ordering and does not provide exposure permission.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D52 -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Project/Time-Series-Modeling-Gen5/docs/GEN5_T1_MULTI_ASSET_TREND_POC_CONTRACT.md</a:t>
            </a:r>
          </a:p>
          <a:p xmlns:a="http://schemas.openxmlformats.org/drawingml/2006/main">
            <a:r>
              <a:t>- C:/Users/Franc/OneDrive/Documents/Francis/Peltata Project/Time-Series-Modeling-Gen5/docs/GEN5_M1_CROSS_SECTIONAL_MOMENTUM_POC_CONTRACT.md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proposed universe uses long-lived equity ETFs across three economic groups. Keeping the first M1 panel equity-only reduces cross-asset volatility confounding while preserving broad regional and sector leadership.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D52 -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Project/Time-Series-Modeling-Gen5/docs/GEN5_M1_CROSS_SECTIONAL_MOMENTUM_POC_CONTRACT.md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eligibility input is measured through the completed decision session. Group and overall breadth gates prevent a sparse or economically lopsided cross-section from being treated as a valid ranking opportunity.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D52 -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Project/Time-Series-Modeling-Gen5/docs/GEN5_M1_CROSS_SECTIONAL_MOMENTUM_POC_CONTRACT.md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primary 12-minus-1 signal excludes the most recent month and is ranked only among contemporaneously eligible ETFs. Every outcome uses the next executable open-to-open interval.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D52 -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Project/Time-Series-Modeling-Gen5/docs/GEN5_M1_CROSS_SECTIONAL_MOMENTUM_POC_CONTRACT.md</a:t>
            </a:r>
          </a:p>
          <a:p xmlns:a="http://schemas.openxmlformats.org/drawingml/2006/main">
            <a:r>
              <a:t>- https://www.nber.org/papers/w7159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M1A measures whether the rank orders subsequent returns across repeated monthly cross-sections. Stability is assessed across months and quarters because same-month ETF outcomes are correlated.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D52 -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Project/Time-Series-Modeling-Gen5/docs/GEN5_M1_CROSS_SECTIONAL_MOMENTUM_POC_CONTRACT.md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randomized control asks whether momentum selection adds more than the mechanical effect of holding any equally concentrated K-name subset. The seed, policy count, and percentile are frozen before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D52 -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Project/Time-Series-Modeling-Gen5/docs/GEN5_M1_CROSS_SECTIONAL_MOMENTUM_POC_CONTRACT.md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M1A is a hard gate. If integrity, ordering, random-control, concentration, or nearby-horizon robustness fails, the portfolio replay is not computed or interpreted.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D52 -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Project/Time-Series-Modeling-Gen5/docs/GEN5_M1_CROSS_SECTIONAL_MOMENTUM_POC_CONTRACT.md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M1B is deliberately fully invested. That prevents time spent in cash from masquerading as asset-selection value and makes eligible-panel equal weight the primary passive comparator.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D52 -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Project/Time-Series-Modeling-Gen5/docs/GEN5_M1_CROSS_SECTIONAL_MOMENTUM_POC_CONTRACT.md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ten gates distinguish ranking validity from cost-aware portfolio implementation. Any M1A failure closes M1B; even all ten passes would open only a separately governed prospective shadow.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D52 -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Project/Time-Series-Modeling-Gen5/docs/GEN5_M1_CROSS_SECTIONAL_MOMENTUM_POC_CONTRACT.md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records the remaining operator decision. The approved direction has been converted into exact proposed choices, but no data or performance authority exists until those exact choices are accepted.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D52 -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Project/Time-Series-Modeling-Gen5/docs/GEN5_M1_CROSS_SECTIONAL_MOMENTUM_POC_CONTRACT.md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deeb732b7140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cf6b86d1484eca" /><Relationship Type="http://schemas.openxmlformats.org/officeDocument/2006/relationships/slideLayout" Target="/ppt/slideLayouts/slideLayout1.xml" Id="R3254dacb243b47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54dacb243b47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6dc504c8f4866" /><Relationship Type="http://schemas.openxmlformats.org/officeDocument/2006/relationships/notesSlide" Target="/ppt/notesSlides/notesSlide1.xml" Id="R49e35403e4de41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69cda8cdc4fe9" /><Relationship Type="http://schemas.openxmlformats.org/officeDocument/2006/relationships/notesSlide" Target="/ppt/notesSlides/notesSlide2.xml" Id="Rf26ae55f94ee4a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fc6be3ada4d35" /><Relationship Type="http://schemas.openxmlformats.org/officeDocument/2006/relationships/notesSlide" Target="/ppt/notesSlides/notesSlide3.xml" Id="R8a6241e14c9341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b9ba7276c4621" /><Relationship Type="http://schemas.openxmlformats.org/officeDocument/2006/relationships/notesSlide" Target="/ppt/notesSlides/notesSlide4.xml" Id="R5973a148364f46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ff6fdb2c44b48" /><Relationship Type="http://schemas.openxmlformats.org/officeDocument/2006/relationships/notesSlide" Target="/ppt/notesSlides/notesSlide5.xml" Id="R14694f3e62374e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04c40b47d4e9d" /><Relationship Type="http://schemas.openxmlformats.org/officeDocument/2006/relationships/notesSlide" Target="/ppt/notesSlides/notesSlide6.xml" Id="R6cb1dfe088bc4a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f7b7f31894ae5" /><Relationship Type="http://schemas.openxmlformats.org/officeDocument/2006/relationships/notesSlide" Target="/ppt/notesSlides/notesSlide7.xml" Id="R62081921ad104f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916f365734947" /><Relationship Type="http://schemas.openxmlformats.org/officeDocument/2006/relationships/notesSlide" Target="/ppt/notesSlides/notesSlide8.xml" Id="R40cf7de842dc40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a0a52b2fb4200" /><Relationship Type="http://schemas.openxmlformats.org/officeDocument/2006/relationships/notesSlide" Target="/ppt/notesSlides/notesSlide9.xml" Id="Ra5971b36443241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8edce85f44774" /><Relationship Type="http://schemas.openxmlformats.org/officeDocument/2006/relationships/notesSlide" Target="/ppt/notesSlides/notesSlide10.xml" Id="R86ece192062d4a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a9df8374a4846" /><Relationship Type="http://schemas.openxmlformats.org/officeDocument/2006/relationships/notesSlide" Target="/ppt/notesSlides/notesSlide11.xml" Id="Rf6ac33c1c56e45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C76C123A-3076-4757-9C08-6CDC89B1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MECHANISM-FIRST DETOUR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03E6A0-ABC4-43AD-A156-B0BD43F5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334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M1 isolates ranking</a:t>
            </a:r>
          </a:p>
          <a:p xmlns:a="http://schemas.openxmlformats.org/drawingml/2006/main">
            <a:pPr algn="l">
              <a:defRPr sz="49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before portfolio returns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15D3B93-79E2-4665-A776-97EF3DAC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Relative leadership must pass its own evidence gate</a:t>
            </a:r>
          </a:p>
          <a:p xmlns:a="http://schemas.openxmlformats.org/drawingml/2006/main">
            <a:pPr algn="l">
              <a:defRPr sz="21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before a concentrated momentum portfolio exists.</a:t>
            </a:r>
          </a:p>
        </p:txBody>
      </p:sp>
      <p:sp>
        <p:nvSpPr>
          <p:cNvPr id="4" name="rule-42-583-830">
            <a:extLst xmlns:a="http://schemas.openxmlformats.org/drawingml/2006/main">
              <a:ext uri="{FF2B5EF4-FFF2-40B4-BE49-F238E27FC236}">
                <a16:creationId xmlns:a16="http://schemas.microsoft.com/office/drawing/2014/main" id="{617F4711-71A2-444F-8842-7420AB5E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53075"/>
            <a:ext cx="790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tus">
            <a:extLst xmlns:a="http://schemas.openxmlformats.org/drawingml/2006/main">
              <a:ext uri="{FF2B5EF4-FFF2-40B4-BE49-F238E27FC236}">
                <a16:creationId xmlns:a16="http://schemas.microsoft.com/office/drawing/2014/main" id="{6EE86390-16C9-42C4-ABC8-C85FADEA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EXACT CONTRACT DRAFT  /  NO IMPLEMENTATION AUTHORITY</a:t>
            </a:r>
          </a:p>
        </p:txBody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623B0FB7-B77D-41C8-9E7F-AE049B41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ark">
            <a:extLst xmlns:a="http://schemas.openxmlformats.org/drawingml/2006/main">
              <a:ext uri="{FF2B5EF4-FFF2-40B4-BE49-F238E27FC236}">
                <a16:creationId xmlns:a16="http://schemas.microsoft.com/office/drawing/2014/main" id="{CFF36545-ABF4-4FE2-9A01-FAF3E617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52675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8" name="mark-label">
            <a:extLst xmlns:a="http://schemas.openxmlformats.org/drawingml/2006/main">
              <a:ext uri="{FF2B5EF4-FFF2-40B4-BE49-F238E27FC236}">
                <a16:creationId xmlns:a16="http://schemas.microsoft.com/office/drawing/2014/main" id="{B83BBBC0-C821-4E4F-BF66-30C07E01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718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rank first</a:t>
            </a:r>
          </a:p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replay second</a:t>
            </a:r>
          </a:p>
        </p:txBody>
      </p:sp>
      <p:sp>
        <p:nvSpPr>
          <p:cNvPr id="9" name="bookmark-D52">
            <a:extLst xmlns:a="http://schemas.openxmlformats.org/drawingml/2006/main">
              <a:ext uri="{FF2B5EF4-FFF2-40B4-BE49-F238E27FC236}">
                <a16:creationId xmlns:a16="http://schemas.microsoft.com/office/drawing/2014/main" id="{C0F415A7-4669-4494-858D-C7F629CD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4674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D52</a:t>
            </a:r>
          </a:p>
        </p:txBody>
      </p:sp>
    </p:spTree>
    <p:extLst>
      <p:ext uri="{BB962C8B-B14F-4D97-AF65-F5344CB8AC3E}">
        <p14:creationId xmlns:p14="http://schemas.microsoft.com/office/powerpoint/2010/main" val="249772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5A5635FC-FA7B-45F5-BDD0-C1840190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M1 CROSS-SECTIONAL MOMENTUM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632386-8ECA-496C-A13D-9A1DB433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T1 asked “when”; M1 asks “which”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27B56767-AE7C-42DC-92DA-10886BE0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2">
            <a:extLst xmlns:a="http://schemas.openxmlformats.org/drawingml/2006/main">
              <a:ext uri="{FF2B5EF4-FFF2-40B4-BE49-F238E27FC236}">
                <a16:creationId xmlns:a16="http://schemas.microsoft.com/office/drawing/2014/main" id="{22E257C1-692E-4059-9CE9-0F1FFB09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4674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D52</a:t>
            </a:r>
          </a:p>
        </p:txBody>
      </p:sp>
      <p:sp>
        <p:nvSpPr>
          <p:cNvPr id="5" name="t1-code">
            <a:extLst xmlns:a="http://schemas.openxmlformats.org/drawingml/2006/main">
              <a:ext uri="{FF2B5EF4-FFF2-40B4-BE49-F238E27FC236}">
                <a16:creationId xmlns:a16="http://schemas.microsoft.com/office/drawing/2014/main" id="{34C8E896-EE01-49BC-AE0B-58E8E163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6" name="t1-question">
            <a:extLst xmlns:a="http://schemas.openxmlformats.org/drawingml/2006/main">
              <a:ext uri="{FF2B5EF4-FFF2-40B4-BE49-F238E27FC236}">
                <a16:creationId xmlns:a16="http://schemas.microsoft.com/office/drawing/2014/main" id="{7F6EC9C2-6A86-46DB-B17B-7E8FECD0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Is each asset’s own trend</a:t>
            </a:r>
          </a:p>
          <a:p xmlns:a="http://schemas.openxmlformats.org/drawingml/2006/main">
            <a:pPr algn="l">
              <a:defRPr sz="21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stronger than cash?</a:t>
            </a:r>
          </a:p>
        </p:txBody>
      </p:sp>
      <p:sp>
        <p:nvSpPr>
          <p:cNvPr id="7" name="t1-result">
            <a:extLst xmlns:a="http://schemas.openxmlformats.org/drawingml/2006/main">
              <a:ext uri="{FF2B5EF4-FFF2-40B4-BE49-F238E27FC236}">
                <a16:creationId xmlns:a16="http://schemas.microsoft.com/office/drawing/2014/main" id="{74B3A315-03FB-4316-AE1B-2DA048C6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Result: defense without</a:t>
            </a:r>
          </a:p>
          <a:p xmlns:a="http://schemas.openxmlformats.org/drawingml/2006/main">
            <a:pPr algn="l">
              <a:defRPr sz="17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asset-selection edge</a:t>
            </a:r>
          </a:p>
        </p:txBody>
      </p:sp>
      <p:sp>
        <p:nvSpPr>
          <p:cNvPr id="8" name="t1-boundary">
            <a:extLst xmlns:a="http://schemas.openxmlformats.org/drawingml/2006/main">
              <a:ext uri="{FF2B5EF4-FFF2-40B4-BE49-F238E27FC236}">
                <a16:creationId xmlns:a16="http://schemas.microsoft.com/office/drawing/2014/main" id="{C193824B-4654-4E53-89EB-763E62E1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T1 is stopped. M1 cannot change its lookback, universe, or cash rule.</a:t>
            </a:r>
          </a:p>
        </p:txBody>
      </p:sp>
      <p:sp>
        <p:nvSpPr>
          <p:cNvPr id="9" name="rule-620-184-2">
            <a:extLst xmlns:a="http://schemas.openxmlformats.org/drawingml/2006/main">
              <a:ext uri="{FF2B5EF4-FFF2-40B4-BE49-F238E27FC236}">
                <a16:creationId xmlns:a16="http://schemas.microsoft.com/office/drawing/2014/main" id="{68D9F660-0E6C-43D7-8D29-0CABD76D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1-code">
            <a:extLst xmlns:a="http://schemas.openxmlformats.org/drawingml/2006/main">
              <a:ext uri="{FF2B5EF4-FFF2-40B4-BE49-F238E27FC236}">
                <a16:creationId xmlns:a16="http://schemas.microsoft.com/office/drawing/2014/main" id="{8CE5B8A5-38C9-41E8-82E7-FD63BD62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11" name="m1-question">
            <a:extLst xmlns:a="http://schemas.openxmlformats.org/drawingml/2006/main">
              <a:ext uri="{FF2B5EF4-FFF2-40B4-BE49-F238E27FC236}">
                <a16:creationId xmlns:a16="http://schemas.microsoft.com/office/drawing/2014/main" id="{D454DD61-5802-43BF-8005-E0A5D054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Which eligible equity ETFs</a:t>
            </a:r>
          </a:p>
          <a:p xmlns:a="http://schemas.openxmlformats.org/drawingml/2006/main">
            <a:pPr algn="l">
              <a:defRPr sz="21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lead their peers?</a:t>
            </a:r>
          </a:p>
        </p:txBody>
      </p:sp>
      <p:sp>
        <p:nvSpPr>
          <p:cNvPr id="12" name="m1-result">
            <a:extLst xmlns:a="http://schemas.openxmlformats.org/drawingml/2006/main">
              <a:ext uri="{FF2B5EF4-FFF2-40B4-BE49-F238E27FC236}">
                <a16:creationId xmlns:a16="http://schemas.microsoft.com/office/drawing/2014/main" id="{1BEC608E-C333-46DC-A8A2-A2BFECE5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Possible result: persistent</a:t>
            </a:r>
          </a:p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relative ordering</a:t>
            </a:r>
          </a:p>
        </p:txBody>
      </p:sp>
      <p:sp>
        <p:nvSpPr>
          <p:cNvPr id="13" name="m1-boundary">
            <a:extLst xmlns:a="http://schemas.openxmlformats.org/drawingml/2006/main">
              <a:ext uri="{FF2B5EF4-FFF2-40B4-BE49-F238E27FC236}">
                <a16:creationId xmlns:a16="http://schemas.microsoft.com/office/drawing/2014/main" id="{FBAC7576-D874-4F37-A227-2DC9A802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M1 ranks assets. It does not decide when the whole portfolio should hold cash.</a:t>
            </a:r>
          </a:p>
        </p:txBody>
      </p:sp>
    </p:spTree>
    <p:extLst>
      <p:ext uri="{BB962C8B-B14F-4D97-AF65-F5344CB8AC3E}">
        <p14:creationId xmlns:p14="http://schemas.microsoft.com/office/powerpoint/2010/main" val="16249417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9247578A-7A93-4B24-8ECE-C63C5EA0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M1 CROSS-SECTIONAL MOMENTUM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D8DC148-7A7C-4F26-99B7-EA5A1AB4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Twenty-four equity ETFs keep the competition coherent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7BB9B018-CB76-478D-9635-F114EB24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2">
            <a:extLst xmlns:a="http://schemas.openxmlformats.org/drawingml/2006/main">
              <a:ext uri="{FF2B5EF4-FFF2-40B4-BE49-F238E27FC236}">
                <a16:creationId xmlns:a16="http://schemas.microsoft.com/office/drawing/2014/main" id="{21CBBFD0-BBC5-4375-927A-17BB4E48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4674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D52</a:t>
            </a:r>
          </a:p>
        </p:txBody>
      </p:sp>
      <p:sp>
        <p:nvSpPr>
          <p:cNvPr id="5" name="US sectors-panel">
            <a:extLst xmlns:a="http://schemas.openxmlformats.org/drawingml/2006/main">
              <a:ext uri="{FF2B5EF4-FFF2-40B4-BE49-F238E27FC236}">
                <a16:creationId xmlns:a16="http://schemas.microsoft.com/office/drawing/2014/main" id="{38331567-4E2D-4395-828B-E2334BBF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33337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US sectors-bar">
            <a:extLst xmlns:a="http://schemas.openxmlformats.org/drawingml/2006/main">
              <a:ext uri="{FF2B5EF4-FFF2-40B4-BE49-F238E27FC236}">
                <a16:creationId xmlns:a16="http://schemas.microsoft.com/office/drawing/2014/main" id="{79F389B1-1238-4165-9294-52490779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3333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US sectors-count">
            <a:extLst xmlns:a="http://schemas.openxmlformats.org/drawingml/2006/main">
              <a:ext uri="{FF2B5EF4-FFF2-40B4-BE49-F238E27FC236}">
                <a16:creationId xmlns:a16="http://schemas.microsoft.com/office/drawing/2014/main" id="{D7C113A6-9346-4B01-ACD3-487D6BE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526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US sectors-label">
            <a:extLst xmlns:a="http://schemas.openxmlformats.org/drawingml/2006/main">
              <a:ext uri="{FF2B5EF4-FFF2-40B4-BE49-F238E27FC236}">
                <a16:creationId xmlns:a16="http://schemas.microsoft.com/office/drawing/2014/main" id="{3A65F00F-1F24-4640-8F4A-B516FD0F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384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US sectors</a:t>
            </a:r>
          </a:p>
        </p:txBody>
      </p:sp>
      <p:sp>
        <p:nvSpPr>
          <p:cNvPr id="9" name="US sectors-tickers">
            <a:extLst xmlns:a="http://schemas.openxmlformats.org/drawingml/2006/main">
              <a:ext uri="{FF2B5EF4-FFF2-40B4-BE49-F238E27FC236}">
                <a16:creationId xmlns:a16="http://schemas.microsoft.com/office/drawing/2014/main" id="{68DD9026-B4F5-45E4-9879-FD67C055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38550"/>
            <a:ext cx="2876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XLB  XLE  XLF</a:t>
            </a:r>
          </a:p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XLI  XLK  XLP</a:t>
            </a:r>
          </a:p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XLU  XLV  XLY</a:t>
            </a:r>
          </a:p>
        </p:txBody>
      </p:sp>
      <p:sp>
        <p:nvSpPr>
          <p:cNvPr id="10" name="Developed countries-panel">
            <a:extLst xmlns:a="http://schemas.openxmlformats.org/drawingml/2006/main">
              <a:ext uri="{FF2B5EF4-FFF2-40B4-BE49-F238E27FC236}">
                <a16:creationId xmlns:a16="http://schemas.microsoft.com/office/drawing/2014/main" id="{4DC91D1E-619B-4BD5-BBDA-29CA6E73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77245"/>
            </a:solidFill>
            <a:prstDash val="solid"/>
          </a:ln>
        </p:spPr>
      </p:sp>
      <p:sp>
        <p:nvSpPr>
          <p:cNvPr id="11" name="Developed countries-bar">
            <a:extLst xmlns:a="http://schemas.openxmlformats.org/drawingml/2006/main">
              <a:ext uri="{FF2B5EF4-FFF2-40B4-BE49-F238E27FC236}">
                <a16:creationId xmlns:a16="http://schemas.microsoft.com/office/drawing/2014/main" id="{217908E5-5CE3-46EF-8E6B-58BFD25D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veloped countries-count">
            <a:extLst xmlns:a="http://schemas.openxmlformats.org/drawingml/2006/main">
              <a:ext uri="{FF2B5EF4-FFF2-40B4-BE49-F238E27FC236}">
                <a16:creationId xmlns:a16="http://schemas.microsoft.com/office/drawing/2014/main" id="{3EC524A0-F705-4699-9B11-979DDA67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526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3" name="Developed countries-label">
            <a:extLst xmlns:a="http://schemas.openxmlformats.org/drawingml/2006/main">
              <a:ext uri="{FF2B5EF4-FFF2-40B4-BE49-F238E27FC236}">
                <a16:creationId xmlns:a16="http://schemas.microsoft.com/office/drawing/2014/main" id="{062DD710-1FCC-4966-A3CE-D81A2441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384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Developed countries</a:t>
            </a:r>
          </a:p>
        </p:txBody>
      </p:sp>
      <p:sp>
        <p:nvSpPr>
          <p:cNvPr id="14" name="Developed countries-tickers">
            <a:extLst xmlns:a="http://schemas.openxmlformats.org/drawingml/2006/main">
              <a:ext uri="{FF2B5EF4-FFF2-40B4-BE49-F238E27FC236}">
                <a16:creationId xmlns:a16="http://schemas.microsoft.com/office/drawing/2014/main" id="{BA01AF61-A03A-4392-BDE6-9CEBAEEE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38550"/>
            <a:ext cx="2876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EWA  EWC  EWG</a:t>
            </a:r>
          </a:p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EWH  EWJ  EWL</a:t>
            </a:r>
          </a:p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EWU</a:t>
            </a:r>
          </a:p>
        </p:txBody>
      </p:sp>
      <p:sp>
        <p:nvSpPr>
          <p:cNvPr id="15" name="Emerging countries-panel">
            <a:extLst xmlns:a="http://schemas.openxmlformats.org/drawingml/2006/main">
              <a:ext uri="{FF2B5EF4-FFF2-40B4-BE49-F238E27FC236}">
                <a16:creationId xmlns:a16="http://schemas.microsoft.com/office/drawing/2014/main" id="{4464A611-E829-455B-B2F0-1C26C24B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3337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C46B08"/>
            </a:solidFill>
            <a:prstDash val="solid"/>
          </a:ln>
        </p:spPr>
      </p:sp>
      <p:sp>
        <p:nvSpPr>
          <p:cNvPr id="16" name="Emerging countries-bar">
            <a:extLst xmlns:a="http://schemas.openxmlformats.org/drawingml/2006/main">
              <a:ext uri="{FF2B5EF4-FFF2-40B4-BE49-F238E27FC236}">
                <a16:creationId xmlns:a16="http://schemas.microsoft.com/office/drawing/2014/main" id="{CE29D4A1-7A06-4013-8D20-8B9C16BF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333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merging countries-count">
            <a:extLst xmlns:a="http://schemas.openxmlformats.org/drawingml/2006/main">
              <a:ext uri="{FF2B5EF4-FFF2-40B4-BE49-F238E27FC236}">
                <a16:creationId xmlns:a16="http://schemas.microsoft.com/office/drawing/2014/main" id="{ACE190A5-DA88-4CE1-9303-FA371AFC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1526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C46B08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C46B0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8" name="Emerging countries-label">
            <a:extLst xmlns:a="http://schemas.openxmlformats.org/drawingml/2006/main">
              <a:ext uri="{FF2B5EF4-FFF2-40B4-BE49-F238E27FC236}">
                <a16:creationId xmlns:a16="http://schemas.microsoft.com/office/drawing/2014/main" id="{5AE65666-292E-4BB0-BE3C-9A3EAB90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8384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Emerging countries</a:t>
            </a:r>
          </a:p>
        </p:txBody>
      </p:sp>
      <p:sp>
        <p:nvSpPr>
          <p:cNvPr id="19" name="Emerging countries-tickers">
            <a:extLst xmlns:a="http://schemas.openxmlformats.org/drawingml/2006/main">
              <a:ext uri="{FF2B5EF4-FFF2-40B4-BE49-F238E27FC236}">
                <a16:creationId xmlns:a16="http://schemas.microsoft.com/office/drawing/2014/main" id="{BD9AE525-32D3-4B3A-944D-70F0FEFE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638550"/>
            <a:ext cx="2876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EIDO  EWT  EWY</a:t>
            </a:r>
          </a:p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EWZ  EWW  EZA</a:t>
            </a:r>
          </a:p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FXI  INDA</a:t>
            </a:r>
          </a:p>
        </p:txBody>
      </p:sp>
      <p:sp>
        <p:nvSpPr>
          <p:cNvPr id="20" name="why">
            <a:extLst xmlns:a="http://schemas.openxmlformats.org/drawingml/2006/main">
              <a:ext uri="{FF2B5EF4-FFF2-40B4-BE49-F238E27FC236}">
                <a16:creationId xmlns:a16="http://schemas.microsoft.com/office/drawing/2014/main" id="{09627402-566C-4D0D-AA60-C741BDFB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197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Equity-only first: a mixed stock / bond / commodity ranking can become a disguised volatility comparison.</a:t>
            </a:r>
          </a:p>
        </p:txBody>
      </p:sp>
      <p:sp>
        <p:nvSpPr>
          <p:cNvPr id="21" name="limitation">
            <a:extLst xmlns:a="http://schemas.openxmlformats.org/drawingml/2006/main">
              <a:ext uri="{FF2B5EF4-FFF2-40B4-BE49-F238E27FC236}">
                <a16:creationId xmlns:a16="http://schemas.microsoft.com/office/drawing/2014/main" id="{CE6D6D8F-1376-414F-87B5-E4AB49FC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007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Fixed long-lived identities create an explicit survivor limitation; missing symbols stop the POC rather than trigger substitution.</a:t>
            </a:r>
          </a:p>
        </p:txBody>
      </p:sp>
    </p:spTree>
    <p:extLst>
      <p:ext uri="{BB962C8B-B14F-4D97-AF65-F5344CB8AC3E}">
        <p14:creationId xmlns:p14="http://schemas.microsoft.com/office/powerpoint/2010/main" val="1316429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3AD002B3-3B8D-4CCA-B9A5-ACF01D05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M1 CROSS-SECTIONAL MOMENTUM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535CD7-FECB-4A70-A82B-17925636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Eligibility must be knowable at the decision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26A119A6-33A1-434A-995F-0AC1B0FF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2">
            <a:extLst xmlns:a="http://schemas.openxmlformats.org/drawingml/2006/main">
              <a:ext uri="{FF2B5EF4-FFF2-40B4-BE49-F238E27FC236}">
                <a16:creationId xmlns:a16="http://schemas.microsoft.com/office/drawing/2014/main" id="{CF115C74-7228-43AF-8AA4-9EF1D5D6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4674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D52</a:t>
            </a:r>
          </a:p>
        </p:txBody>
      </p:sp>
      <p:sp>
        <p:nvSpPr>
          <p:cNvPr id="5" name="history-number">
            <a:extLst xmlns:a="http://schemas.openxmlformats.org/drawingml/2006/main">
              <a:ext uri="{FF2B5EF4-FFF2-40B4-BE49-F238E27FC236}">
                <a16:creationId xmlns:a16="http://schemas.microsoft.com/office/drawing/2014/main" id="{D94082AF-C363-4A96-A5A0-190DEF8B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istory-n">
            <a:extLst xmlns:a="http://schemas.openxmlformats.org/drawingml/2006/main">
              <a:ext uri="{FF2B5EF4-FFF2-40B4-BE49-F238E27FC236}">
                <a16:creationId xmlns:a16="http://schemas.microsoft.com/office/drawing/2014/main" id="{2BE1DBAF-6E12-46A5-B5D3-CB71AFD4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history-title">
            <a:extLst xmlns:a="http://schemas.openxmlformats.org/drawingml/2006/main">
              <a:ext uri="{FF2B5EF4-FFF2-40B4-BE49-F238E27FC236}">
                <a16:creationId xmlns:a16="http://schemas.microsoft.com/office/drawing/2014/main" id="{8274D491-9613-4227-9B95-29814F1C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14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8" name="history-body">
            <a:extLst xmlns:a="http://schemas.openxmlformats.org/drawingml/2006/main">
              <a:ext uri="{FF2B5EF4-FFF2-40B4-BE49-F238E27FC236}">
                <a16:creationId xmlns:a16="http://schemas.microsoft.com/office/drawing/2014/main" id="{E1237491-957F-435C-A16C-274EC00A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907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At least 13 completed month-ends; t−12 and t−1 closes must exist.</a:t>
            </a:r>
          </a:p>
        </p:txBody>
      </p:sp>
      <p:sp>
        <p:nvSpPr>
          <p:cNvPr id="9" name="fresh-number">
            <a:extLst xmlns:a="http://schemas.openxmlformats.org/drawingml/2006/main">
              <a:ext uri="{FF2B5EF4-FFF2-40B4-BE49-F238E27FC236}">
                <a16:creationId xmlns:a16="http://schemas.microsoft.com/office/drawing/2014/main" id="{1366E500-EF2E-4F1C-AAA8-840A7870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resh-n">
            <a:extLst xmlns:a="http://schemas.openxmlformats.org/drawingml/2006/main">
              <a:ext uri="{FF2B5EF4-FFF2-40B4-BE49-F238E27FC236}">
                <a16:creationId xmlns:a16="http://schemas.microsoft.com/office/drawing/2014/main" id="{E43DE547-55BF-4608-85CB-5D8B46DE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fresh-title">
            <a:extLst xmlns:a="http://schemas.openxmlformats.org/drawingml/2006/main">
              <a:ext uri="{FF2B5EF4-FFF2-40B4-BE49-F238E27FC236}">
                <a16:creationId xmlns:a16="http://schemas.microsoft.com/office/drawing/2014/main" id="{862CA8F4-AAD7-4471-AD75-0BAB5C44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62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Freshness</a:t>
            </a:r>
          </a:p>
        </p:txBody>
      </p:sp>
      <p:sp>
        <p:nvSpPr>
          <p:cNvPr id="12" name="fresh-body">
            <a:extLst xmlns:a="http://schemas.openxmlformats.org/drawingml/2006/main">
              <a:ext uri="{FF2B5EF4-FFF2-40B4-BE49-F238E27FC236}">
                <a16:creationId xmlns:a16="http://schemas.microsoft.com/office/drawing/2014/main" id="{179A145E-39D7-4DD8-80A7-AAAEFB62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384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Decision-session adjusted close exists; at least 60 of the preceding 63 reference sessions are observed.</a:t>
            </a:r>
          </a:p>
        </p:txBody>
      </p:sp>
      <p:sp>
        <p:nvSpPr>
          <p:cNvPr id="13" name="price-number">
            <a:extLst xmlns:a="http://schemas.openxmlformats.org/drawingml/2006/main">
              <a:ext uri="{FF2B5EF4-FFF2-40B4-BE49-F238E27FC236}">
                <a16:creationId xmlns:a16="http://schemas.microsoft.com/office/drawing/2014/main" id="{AD614375-CA4A-4764-8F02-0C027421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ce-n">
            <a:extLst xmlns:a="http://schemas.openxmlformats.org/drawingml/2006/main">
              <a:ext uri="{FF2B5EF4-FFF2-40B4-BE49-F238E27FC236}">
                <a16:creationId xmlns:a16="http://schemas.microsoft.com/office/drawing/2014/main" id="{06EE8E23-FFC5-47BF-B1DC-C7345A66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price-title">
            <a:extLst xmlns:a="http://schemas.openxmlformats.org/drawingml/2006/main">
              <a:ext uri="{FF2B5EF4-FFF2-40B4-BE49-F238E27FC236}">
                <a16:creationId xmlns:a16="http://schemas.microsoft.com/office/drawing/2014/main" id="{4B3075AC-03B0-462D-8CD7-3E03E7EA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Price</a:t>
            </a:r>
          </a:p>
        </p:txBody>
      </p:sp>
      <p:sp>
        <p:nvSpPr>
          <p:cNvPr id="16" name="price-body">
            <a:extLst xmlns:a="http://schemas.openxmlformats.org/drawingml/2006/main">
              <a:ext uri="{FF2B5EF4-FFF2-40B4-BE49-F238E27FC236}">
                <a16:creationId xmlns:a16="http://schemas.microsoft.com/office/drawing/2014/main" id="{D9BD3DC8-8E08-4CD4-8BF7-3D984055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86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Decision-session adjusted close is at least $5.</a:t>
            </a:r>
          </a:p>
        </p:txBody>
      </p:sp>
      <p:sp>
        <p:nvSpPr>
          <p:cNvPr id="17" name="liquidity-number">
            <a:extLst xmlns:a="http://schemas.openxmlformats.org/drawingml/2006/main">
              <a:ext uri="{FF2B5EF4-FFF2-40B4-BE49-F238E27FC236}">
                <a16:creationId xmlns:a16="http://schemas.microsoft.com/office/drawing/2014/main" id="{C96CF9B3-6CE7-459D-972A-845A6CFF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76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iquidity-n">
            <a:extLst xmlns:a="http://schemas.openxmlformats.org/drawingml/2006/main">
              <a:ext uri="{FF2B5EF4-FFF2-40B4-BE49-F238E27FC236}">
                <a16:creationId xmlns:a16="http://schemas.microsoft.com/office/drawing/2014/main" id="{82F31DD9-B1EE-472B-9EAA-2969A102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liquidity-title">
            <a:extLst xmlns:a="http://schemas.openxmlformats.org/drawingml/2006/main">
              <a:ext uri="{FF2B5EF4-FFF2-40B4-BE49-F238E27FC236}">
                <a16:creationId xmlns:a16="http://schemas.microsoft.com/office/drawing/2014/main" id="{B9D34CA6-72E0-434E-9FB2-17524000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57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Liquidity</a:t>
            </a:r>
          </a:p>
        </p:txBody>
      </p:sp>
      <p:sp>
        <p:nvSpPr>
          <p:cNvPr id="20" name="liquidity-body">
            <a:extLst xmlns:a="http://schemas.openxmlformats.org/drawingml/2006/main">
              <a:ext uri="{FF2B5EF4-FFF2-40B4-BE49-F238E27FC236}">
                <a16:creationId xmlns:a16="http://schemas.microsoft.com/office/drawing/2014/main" id="{FA35AE59-F456-4408-ABEE-59C5D271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338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Trailing 63-session median adjusted dollar volume is at least $5 million.</a:t>
            </a:r>
          </a:p>
        </p:txBody>
      </p:sp>
      <p:sp>
        <p:nvSpPr>
          <p:cNvPr id="21" name="impute-number">
            <a:extLst xmlns:a="http://schemas.openxmlformats.org/drawingml/2006/main">
              <a:ext uri="{FF2B5EF4-FFF2-40B4-BE49-F238E27FC236}">
                <a16:creationId xmlns:a16="http://schemas.microsoft.com/office/drawing/2014/main" id="{D154C6FE-E8DF-44AD-A4C6-B38E9E2F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mpute-n">
            <a:extLst xmlns:a="http://schemas.openxmlformats.org/drawingml/2006/main">
              <a:ext uri="{FF2B5EF4-FFF2-40B4-BE49-F238E27FC236}">
                <a16:creationId xmlns:a16="http://schemas.microsoft.com/office/drawing/2014/main" id="{E597629B-51E8-4C52-9B17-873826D9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00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impute-title">
            <a:extLst xmlns:a="http://schemas.openxmlformats.org/drawingml/2006/main">
              <a:ext uri="{FF2B5EF4-FFF2-40B4-BE49-F238E27FC236}">
                <a16:creationId xmlns:a16="http://schemas.microsoft.com/office/drawing/2014/main" id="{1F6D28BC-F133-4846-93AC-056C9970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Missingness</a:t>
            </a:r>
          </a:p>
        </p:txBody>
      </p:sp>
      <p:sp>
        <p:nvSpPr>
          <p:cNvPr id="24" name="impute-body">
            <a:extLst xmlns:a="http://schemas.openxmlformats.org/drawingml/2006/main">
              <a:ext uri="{FF2B5EF4-FFF2-40B4-BE49-F238E27FC236}">
                <a16:creationId xmlns:a16="http://schemas.microsoft.com/office/drawing/2014/main" id="{C530FBED-48FD-4A1E-9CB3-5805E50B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815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No fill, interpolation, cross-symbol imputation, or outcome-informed replacement.</a:t>
            </a:r>
          </a:p>
        </p:txBody>
      </p:sp>
      <p:sp>
        <p:nvSpPr>
          <p:cNvPr id="25" name="breadth">
            <a:extLst xmlns:a="http://schemas.openxmlformats.org/drawingml/2006/main">
              <a:ext uri="{FF2B5EF4-FFF2-40B4-BE49-F238E27FC236}">
                <a16:creationId xmlns:a16="http://schemas.microsoft.com/office/drawing/2014/main" id="{DFA83CC7-8247-4861-9E3C-F1A983D1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0"/>
            <a:ext cx="1095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readth-title">
            <a:extLst xmlns:a="http://schemas.openxmlformats.org/drawingml/2006/main">
              <a:ext uri="{FF2B5EF4-FFF2-40B4-BE49-F238E27FC236}">
                <a16:creationId xmlns:a16="http://schemas.microsoft.com/office/drawing/2014/main" id="{0D289F7C-8D98-4953-B7B7-B635BFEB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MONTHLY BREADTH</a:t>
            </a:r>
          </a:p>
        </p:txBody>
      </p:sp>
      <p:sp>
        <p:nvSpPr>
          <p:cNvPr id="27" name="breadth-copy">
            <a:extLst xmlns:a="http://schemas.openxmlformats.org/drawingml/2006/main">
              <a:ext uri="{FF2B5EF4-FFF2-40B4-BE49-F238E27FC236}">
                <a16:creationId xmlns:a16="http://schemas.microsoft.com/office/drawing/2014/main" id="{C689FBF1-65A2-48BB-B15A-1C25E716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530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≥18 / 24 overall   •   ≥6 / 9 US sectors   •   ≥5 / 7 developed   •   ≥6 / 8 emerging</a:t>
            </a:r>
          </a:p>
        </p:txBody>
      </p:sp>
      <p:sp>
        <p:nvSpPr>
          <p:cNvPr id="28" name="breadth-stop">
            <a:extLst xmlns:a="http://schemas.openxmlformats.org/drawingml/2006/main">
              <a:ext uri="{FF2B5EF4-FFF2-40B4-BE49-F238E27FC236}">
                <a16:creationId xmlns:a16="http://schemas.microsoft.com/office/drawing/2014/main" id="{E8059209-2187-4B7D-9441-03636674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245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If breadth fails, the month produces no rank, outcome, or portfolio decision.</a:t>
            </a:r>
          </a:p>
        </p:txBody>
      </p:sp>
    </p:spTree>
    <p:extLst>
      <p:ext uri="{BB962C8B-B14F-4D97-AF65-F5344CB8AC3E}">
        <p14:creationId xmlns:p14="http://schemas.microsoft.com/office/powerpoint/2010/main" val="7298537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9166E016-9EDB-45F8-9F8B-6C132205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M1 CROSS-SECTIONAL MOMENTUM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DA043D4-D22D-463C-A319-8904ECA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One rank, one monthly clock, one executable outcome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BFA8F6F0-9FF7-4168-B2C5-DC75E256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2">
            <a:extLst xmlns:a="http://schemas.openxmlformats.org/drawingml/2006/main">
              <a:ext uri="{FF2B5EF4-FFF2-40B4-BE49-F238E27FC236}">
                <a16:creationId xmlns:a16="http://schemas.microsoft.com/office/drawing/2014/main" id="{EAF7F064-C2A4-43BF-A7D4-6E062CB1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4674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D52</a:t>
            </a:r>
          </a:p>
        </p:txBody>
      </p:sp>
      <p:sp>
        <p:nvSpPr>
          <p:cNvPr id="5" name="signal-label">
            <a:extLst xmlns:a="http://schemas.openxmlformats.org/drawingml/2006/main">
              <a:ext uri="{FF2B5EF4-FFF2-40B4-BE49-F238E27FC236}">
                <a16:creationId xmlns:a16="http://schemas.microsoft.com/office/drawing/2014/main" id="{5F711EFB-4DA8-4D2F-A5AC-C876A837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PRIMARY SIGNAL</a:t>
            </a:r>
          </a:p>
        </p:txBody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48FC8E01-3023-48D1-859B-4BEF7787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104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formula-text">
            <a:extLst xmlns:a="http://schemas.openxmlformats.org/drawingml/2006/main">
              <a:ext uri="{FF2B5EF4-FFF2-40B4-BE49-F238E27FC236}">
                <a16:creationId xmlns:a16="http://schemas.microsoft.com/office/drawing/2014/main" id="{521E2849-69D6-4E50-A003-7CEF03FB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momentum₁₂₋₁  =  log( close at t−1 month  /  close at t−12 months )</a:t>
            </a:r>
          </a:p>
        </p:txBody>
      </p:sp>
      <p:sp>
        <p:nvSpPr>
          <p:cNvPr id="8" name="rule-105-410-1040">
            <a:extLst xmlns:a="http://schemas.openxmlformats.org/drawingml/2006/main">
              <a:ext uri="{FF2B5EF4-FFF2-40B4-BE49-F238E27FC236}">
                <a16:creationId xmlns:a16="http://schemas.microsoft.com/office/drawing/2014/main" id="{F1B35770-B58E-4ABB-A085-BBF078F7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120">
            <a:extLst xmlns:a="http://schemas.openxmlformats.org/drawingml/2006/main">
              <a:ext uri="{FF2B5EF4-FFF2-40B4-BE49-F238E27FC236}">
                <a16:creationId xmlns:a16="http://schemas.microsoft.com/office/drawing/2014/main" id="{B899CF0C-0876-4BB3-9E45-7CD4F144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814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de-label-120">
            <a:extLst xmlns:a="http://schemas.openxmlformats.org/drawingml/2006/main">
              <a:ext uri="{FF2B5EF4-FFF2-40B4-BE49-F238E27FC236}">
                <a16:creationId xmlns:a16="http://schemas.microsoft.com/office/drawing/2014/main" id="{BC82D9C3-2845-4DDE-887F-713EB527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t−12 to t−1</a:t>
            </a:r>
          </a:p>
        </p:txBody>
      </p:sp>
      <p:sp>
        <p:nvSpPr>
          <p:cNvPr id="11" name="node-body-120">
            <a:extLst xmlns:a="http://schemas.openxmlformats.org/drawingml/2006/main">
              <a:ext uri="{FF2B5EF4-FFF2-40B4-BE49-F238E27FC236}">
                <a16:creationId xmlns:a16="http://schemas.microsoft.com/office/drawing/2014/main" id="{A5E22064-0CBF-4D3C-9B04-39660FD3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910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form momentum</a:t>
            </a:r>
          </a:p>
        </p:txBody>
      </p:sp>
      <p:sp>
        <p:nvSpPr>
          <p:cNvPr id="12" name="node-380">
            <a:extLst xmlns:a="http://schemas.openxmlformats.org/drawingml/2006/main">
              <a:ext uri="{FF2B5EF4-FFF2-40B4-BE49-F238E27FC236}">
                <a16:creationId xmlns:a16="http://schemas.microsoft.com/office/drawing/2014/main" id="{58B586C0-B54B-4A39-9600-25DBF0AD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814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label-380">
            <a:extLst xmlns:a="http://schemas.openxmlformats.org/drawingml/2006/main">
              <a:ext uri="{FF2B5EF4-FFF2-40B4-BE49-F238E27FC236}">
                <a16:creationId xmlns:a16="http://schemas.microsoft.com/office/drawing/2014/main" id="{E8BE9133-630A-4C24-A478-C47AC252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481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Month-end t</a:t>
            </a:r>
          </a:p>
        </p:txBody>
      </p:sp>
      <p:sp>
        <p:nvSpPr>
          <p:cNvPr id="14" name="node-body-380">
            <a:extLst xmlns:a="http://schemas.openxmlformats.org/drawingml/2006/main">
              <a:ext uri="{FF2B5EF4-FFF2-40B4-BE49-F238E27FC236}">
                <a16:creationId xmlns:a16="http://schemas.microsoft.com/office/drawing/2014/main" id="{9D44FFE8-91AD-4FC2-9205-472CB01B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5910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check eligibility + rank</a:t>
            </a:r>
          </a:p>
        </p:txBody>
      </p:sp>
      <p:sp>
        <p:nvSpPr>
          <p:cNvPr id="15" name="node-665">
            <a:extLst xmlns:a="http://schemas.openxmlformats.org/drawingml/2006/main">
              <a:ext uri="{FF2B5EF4-FFF2-40B4-BE49-F238E27FC236}">
                <a16:creationId xmlns:a16="http://schemas.microsoft.com/office/drawing/2014/main" id="{A86B2FDC-8945-49C6-AFB3-1D8709FC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814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de-label-665">
            <a:extLst xmlns:a="http://schemas.openxmlformats.org/drawingml/2006/main">
              <a:ext uri="{FF2B5EF4-FFF2-40B4-BE49-F238E27FC236}">
                <a16:creationId xmlns:a16="http://schemas.microsoft.com/office/drawing/2014/main" id="{A1CB315E-FFB0-4288-814C-051F2DEF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2481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Following open</a:t>
            </a:r>
          </a:p>
        </p:txBody>
      </p:sp>
      <p:sp>
        <p:nvSpPr>
          <p:cNvPr id="17" name="node-body-665">
            <a:extLst xmlns:a="http://schemas.openxmlformats.org/drawingml/2006/main">
              <a:ext uri="{FF2B5EF4-FFF2-40B4-BE49-F238E27FC236}">
                <a16:creationId xmlns:a16="http://schemas.microsoft.com/office/drawing/2014/main" id="{7598A0DE-B3FC-4639-BA74-A63338B7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910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earliest entry</a:t>
            </a:r>
          </a:p>
        </p:txBody>
      </p:sp>
      <p:sp>
        <p:nvSpPr>
          <p:cNvPr id="18" name="node-955">
            <a:extLst xmlns:a="http://schemas.openxmlformats.org/drawingml/2006/main">
              <a:ext uri="{FF2B5EF4-FFF2-40B4-BE49-F238E27FC236}">
                <a16:creationId xmlns:a16="http://schemas.microsoft.com/office/drawing/2014/main" id="{B945C79D-E0D1-482A-A604-461BF67E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814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-label-955">
            <a:extLst xmlns:a="http://schemas.openxmlformats.org/drawingml/2006/main">
              <a:ext uri="{FF2B5EF4-FFF2-40B4-BE49-F238E27FC236}">
                <a16:creationId xmlns:a16="http://schemas.microsoft.com/office/drawing/2014/main" id="{A03CE111-53DA-4059-B902-87202D12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2481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Next following open</a:t>
            </a:r>
          </a:p>
        </p:txBody>
      </p:sp>
      <p:sp>
        <p:nvSpPr>
          <p:cNvPr id="20" name="node-body-955">
            <a:extLst xmlns:a="http://schemas.openxmlformats.org/drawingml/2006/main">
              <a:ext uri="{FF2B5EF4-FFF2-40B4-BE49-F238E27FC236}">
                <a16:creationId xmlns:a16="http://schemas.microsoft.com/office/drawing/2014/main" id="{EA6000E2-6677-460A-8DBB-FFC9D4BA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910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outcome endpoint</a:t>
            </a:r>
          </a:p>
        </p:txBody>
      </p:sp>
      <p:sp>
        <p:nvSpPr>
          <p:cNvPr id="21" name="rank-rule">
            <a:extLst xmlns:a="http://schemas.openxmlformats.org/drawingml/2006/main">
              <a:ext uri="{FF2B5EF4-FFF2-40B4-BE49-F238E27FC236}">
                <a16:creationId xmlns:a16="http://schemas.microsoft.com/office/drawing/2014/main" id="{2A24A04A-18C8-4976-9107-8F714C76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Rank descending within the eligible panel   •   K(t) = ceiling(eligible / 4)   •   deterministic symbol tie-break</a:t>
            </a:r>
          </a:p>
        </p:txBody>
      </p:sp>
      <p:sp>
        <p:nvSpPr>
          <p:cNvPr id="22" name="normality">
            <a:extLst xmlns:a="http://schemas.openxmlformats.org/drawingml/2006/main">
              <a:ext uri="{FF2B5EF4-FFF2-40B4-BE49-F238E27FC236}">
                <a16:creationId xmlns:a16="http://schemas.microsoft.com/office/drawing/2014/main" id="{9915E884-B588-434D-8510-8C9943E4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0075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Ranks improve comparability; they do not create normality or stationarity.</a:t>
            </a:r>
          </a:p>
        </p:txBody>
      </p:sp>
    </p:spTree>
    <p:extLst>
      <p:ext uri="{BB962C8B-B14F-4D97-AF65-F5344CB8AC3E}">
        <p14:creationId xmlns:p14="http://schemas.microsoft.com/office/powerpoint/2010/main" val="554420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93FE6467-2BB8-42F9-B5C2-C25DE01A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M1 CROSS-SECTIONAL MOMENTUM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9F5638-EFB0-4459-8FFD-E499DBF9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M1A tests ordering before compounding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38143626-0641-4A1B-94E9-E389EBBB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2">
            <a:extLst xmlns:a="http://schemas.openxmlformats.org/drawingml/2006/main">
              <a:ext uri="{FF2B5EF4-FFF2-40B4-BE49-F238E27FC236}">
                <a16:creationId xmlns:a16="http://schemas.microsoft.com/office/drawing/2014/main" id="{E7BB63A0-3EB9-454A-9E0F-CAC28329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4674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D52</a:t>
            </a:r>
          </a:p>
        </p:txBody>
      </p:sp>
      <p:sp>
        <p:nvSpPr>
          <p:cNvPr id="5" name="left-title">
            <a:extLst xmlns:a="http://schemas.openxmlformats.org/drawingml/2006/main">
              <a:ext uri="{FF2B5EF4-FFF2-40B4-BE49-F238E27FC236}">
                <a16:creationId xmlns:a16="http://schemas.microsoft.com/office/drawing/2014/main" id="{098A388F-428E-4A0A-93C0-DACE1806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MONTHLY CROSS-SECTION</a:t>
            </a:r>
          </a:p>
        </p:txBody>
      </p:sp>
      <p:sp>
        <p:nvSpPr>
          <p:cNvPr id="6" name="left-copy">
            <a:extLst xmlns:a="http://schemas.openxmlformats.org/drawingml/2006/main">
              <a:ext uri="{FF2B5EF4-FFF2-40B4-BE49-F238E27FC236}">
                <a16:creationId xmlns:a16="http://schemas.microsoft.com/office/drawing/2014/main" id="{2E3DBB73-6B8C-45A2-B6FE-09B444D2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For each admissible month: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Spearman rank correlation</a:t>
            </a:r>
          </a:p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top quartile minus bottom quartile</a:t>
            </a:r>
          </a:p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top quartile minus eligible equal weight</a:t>
            </a:r>
          </a:p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top / bottom turnover</a:t>
            </a:r>
          </a:p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representative ranking tape</a:t>
            </a:r>
          </a:p>
        </p:txBody>
      </p:sp>
      <p:sp>
        <p:nvSpPr>
          <p:cNvPr id="7" name="rule-620-182-2">
            <a:extLst xmlns:a="http://schemas.openxmlformats.org/drawingml/2006/main">
              <a:ext uri="{FF2B5EF4-FFF2-40B4-BE49-F238E27FC236}">
                <a16:creationId xmlns:a16="http://schemas.microsoft.com/office/drawing/2014/main" id="{E0A24653-4018-4F26-8AF7-0A87D77E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33550"/>
            <a:ext cx="190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ight-title">
            <a:extLst xmlns:a="http://schemas.openxmlformats.org/drawingml/2006/main">
              <a:ext uri="{FF2B5EF4-FFF2-40B4-BE49-F238E27FC236}">
                <a16:creationId xmlns:a16="http://schemas.microsoft.com/office/drawing/2014/main" id="{7C771494-F550-4809-8F61-2451AB15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 EVIDENCE UNIT IS TIME</a:t>
            </a:r>
          </a:p>
        </p:txBody>
      </p:sp>
      <p:sp>
        <p:nvSpPr>
          <p:cNvPr id="9" name="right-copy">
            <a:extLst xmlns:a="http://schemas.openxmlformats.org/drawingml/2006/main">
              <a:ext uri="{FF2B5EF4-FFF2-40B4-BE49-F238E27FC236}">
                <a16:creationId xmlns:a16="http://schemas.microsoft.com/office/drawing/2014/main" id="{B297F581-BD84-4800-82A2-98FE5D3C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ETFs inside one month share market, regional, and sector shocks.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M1 therefore summarizes stability across: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36 confirmation months</a:t>
            </a:r>
          </a:p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12 confirmation quarters</a:t>
            </a:r>
          </a:p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calendar years</a:t>
            </a:r>
          </a:p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ETFs and economic groups</a:t>
            </a:r>
          </a:p>
        </p:txBody>
      </p:sp>
      <p:sp>
        <p:nvSpPr>
          <p:cNvPr id="10" name="warning">
            <a:extLst xmlns:a="http://schemas.openxmlformats.org/drawingml/2006/main">
              <a:ext uri="{FF2B5EF4-FFF2-40B4-BE49-F238E27FC236}">
                <a16:creationId xmlns:a16="http://schemas.microsoft.com/office/drawing/2014/main" id="{31197F7E-CD4D-4A0F-8A00-8ED5BE69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C46B08"/>
            </a:solidFill>
            <a:prstDash val="solid"/>
          </a:ln>
        </p:spPr>
      </p:sp>
      <p:sp>
        <p:nvSpPr>
          <p:cNvPr id="11" name="warning-copy">
            <a:extLst xmlns:a="http://schemas.openxmlformats.org/drawingml/2006/main">
              <a:ext uri="{FF2B5EF4-FFF2-40B4-BE49-F238E27FC236}">
                <a16:creationId xmlns:a16="http://schemas.microsoft.com/office/drawing/2014/main" id="{E8D03C2E-2248-4374-A21E-478DE308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46B0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46B08"/>
                </a:solidFill>
                <a:latin typeface="Arial"/>
                <a:ea typeface="Arial"/>
                <a:cs typeface="Arial"/>
              </a:rPr>
              <a:t>Do not count every asset-month as an independent trial. Cross-sectional breadth improves measurement, not the number of independent market histories.</a:t>
            </a:r>
          </a:p>
        </p:txBody>
      </p:sp>
    </p:spTree>
    <p:extLst>
      <p:ext uri="{BB962C8B-B14F-4D97-AF65-F5344CB8AC3E}">
        <p14:creationId xmlns:p14="http://schemas.microsoft.com/office/powerpoint/2010/main" val="20079743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D997EC49-E25A-47E8-9788-09B35DF7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M1 CROSS-SECTIONAL MOMENTUM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2992D67-3184-4639-9395-3B2DA4F9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Random K-name portfolios test the concentration illusion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2793B08D-DB26-4D6E-BA17-7A926A2C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2">
            <a:extLst xmlns:a="http://schemas.openxmlformats.org/drawingml/2006/main">
              <a:ext uri="{FF2B5EF4-FFF2-40B4-BE49-F238E27FC236}">
                <a16:creationId xmlns:a16="http://schemas.microsoft.com/office/drawing/2014/main" id="{1EAA6C44-FA31-4DEC-9D6A-1CDA2786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4674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D52</a:t>
            </a:r>
          </a:p>
        </p:txBody>
      </p:sp>
      <p:sp>
        <p:nvSpPr>
          <p:cNvPr id="5" name="observed">
            <a:extLst xmlns:a="http://schemas.openxmlformats.org/drawingml/2006/main">
              <a:ext uri="{FF2B5EF4-FFF2-40B4-BE49-F238E27FC236}">
                <a16:creationId xmlns:a16="http://schemas.microsoft.com/office/drawing/2014/main" id="{F9939A96-F7CF-4C89-BAE3-0D50B5D2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09575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observed-kicker">
            <a:extLst xmlns:a="http://schemas.openxmlformats.org/drawingml/2006/main">
              <a:ext uri="{FF2B5EF4-FFF2-40B4-BE49-F238E27FC236}">
                <a16:creationId xmlns:a16="http://schemas.microsoft.com/office/drawing/2014/main" id="{AF3B8804-CE78-4396-BD64-DEBC79E6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OBSERVED POLICY</a:t>
            </a:r>
          </a:p>
        </p:txBody>
      </p:sp>
      <p:sp>
        <p:nvSpPr>
          <p:cNvPr id="7" name="observed-value">
            <a:extLst xmlns:a="http://schemas.openxmlformats.org/drawingml/2006/main">
              <a:ext uri="{FF2B5EF4-FFF2-40B4-BE49-F238E27FC236}">
                <a16:creationId xmlns:a16="http://schemas.microsoft.com/office/drawing/2014/main" id="{0FCF24B0-3CFC-454E-B95D-9E5E1F47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Top K</a:t>
            </a:r>
          </a:p>
        </p:txBody>
      </p:sp>
      <p:sp>
        <p:nvSpPr>
          <p:cNvPr id="8" name="observed-copy">
            <a:extLst xmlns:a="http://schemas.openxmlformats.org/drawingml/2006/main">
              <a:ext uri="{FF2B5EF4-FFF2-40B4-BE49-F238E27FC236}">
                <a16:creationId xmlns:a16="http://schemas.microsoft.com/office/drawing/2014/main" id="{1991B24D-9449-4603-945A-D06949F6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Select the strongest 12−1 ranks.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Compare top K with eligible equal weight.</a:t>
            </a:r>
          </a:p>
        </p:txBody>
      </p:sp>
      <p:sp>
        <p:nvSpPr>
          <p:cNvPr id="9" name="versus">
            <a:extLst xmlns:a="http://schemas.openxmlformats.org/drawingml/2006/main">
              <a:ext uri="{FF2B5EF4-FFF2-40B4-BE49-F238E27FC236}">
                <a16:creationId xmlns:a16="http://schemas.microsoft.com/office/drawing/2014/main" id="{221361C7-7FF9-4581-AED7-BBE10660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86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versus</a:t>
            </a:r>
          </a:p>
        </p:txBody>
      </p:sp>
      <p:sp>
        <p:nvSpPr>
          <p:cNvPr id="10" name="random">
            <a:extLst xmlns:a="http://schemas.openxmlformats.org/drawingml/2006/main">
              <a:ext uri="{FF2B5EF4-FFF2-40B4-BE49-F238E27FC236}">
                <a16:creationId xmlns:a16="http://schemas.microsoft.com/office/drawing/2014/main" id="{E6FADA13-EC23-4575-9586-D2C4AB80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409575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random-kicker">
            <a:extLst xmlns:a="http://schemas.openxmlformats.org/drawingml/2006/main">
              <a:ext uri="{FF2B5EF4-FFF2-40B4-BE49-F238E27FC236}">
                <a16:creationId xmlns:a16="http://schemas.microsoft.com/office/drawing/2014/main" id="{C1EFC3A9-D0C6-475E-80F4-508F4405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66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FROZEN NULL</a:t>
            </a:r>
          </a:p>
        </p:txBody>
      </p:sp>
      <p:sp>
        <p:nvSpPr>
          <p:cNvPr id="12" name="random-value">
            <a:extLst xmlns:a="http://schemas.openxmlformats.org/drawingml/2006/main">
              <a:ext uri="{FF2B5EF4-FFF2-40B4-BE49-F238E27FC236}">
                <a16:creationId xmlns:a16="http://schemas.microsoft.com/office/drawing/2014/main" id="{4A6C795E-9C40-496F-9B5E-4C665F24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2,000</a:t>
            </a:r>
          </a:p>
        </p:txBody>
      </p:sp>
      <p:sp>
        <p:nvSpPr>
          <p:cNvPr id="13" name="random-copy">
            <a:extLst xmlns:a="http://schemas.openxmlformats.org/drawingml/2006/main">
              <a:ext uri="{FF2B5EF4-FFF2-40B4-BE49-F238E27FC236}">
                <a16:creationId xmlns:a16="http://schemas.microsoft.com/office/drawing/2014/main" id="{60314C6F-FE46-43D2-AD45-772C7BCC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Seed 5401. Draw the same K each month.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Pool each policy’s confirmation excess.</a:t>
            </a:r>
          </a:p>
        </p:txBody>
      </p:sp>
      <p:sp>
        <p:nvSpPr>
          <p:cNvPr id="14" name="threshold">
            <a:extLst xmlns:a="http://schemas.openxmlformats.org/drawingml/2006/main">
              <a:ext uri="{FF2B5EF4-FFF2-40B4-BE49-F238E27FC236}">
                <a16:creationId xmlns:a16="http://schemas.microsoft.com/office/drawing/2014/main" id="{6FCE637C-B5C4-4A21-8CEB-188ECE58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77245"/>
            </a:solidFill>
            <a:prstDash val="solid"/>
          </a:ln>
        </p:spPr>
      </p:sp>
      <p:sp>
        <p:nvSpPr>
          <p:cNvPr id="15" name="threshold-copy">
            <a:extLst xmlns:a="http://schemas.openxmlformats.org/drawingml/2006/main">
              <a:ext uri="{FF2B5EF4-FFF2-40B4-BE49-F238E27FC236}">
                <a16:creationId xmlns:a16="http://schemas.microsoft.com/office/drawing/2014/main" id="{8ABDDB12-6E5E-458D-9C0D-F134DBBD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4355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M1A requires the observed mean excess to exceed the random-policy 90th percentile.</a:t>
            </a:r>
          </a:p>
        </p:txBody>
      </p:sp>
    </p:spTree>
    <p:extLst>
      <p:ext uri="{BB962C8B-B14F-4D97-AF65-F5344CB8AC3E}">
        <p14:creationId xmlns:p14="http://schemas.microsoft.com/office/powerpoint/2010/main" val="15232811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D8F4678B-9B34-4359-8F71-94AB5378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TRANSITION  /  HARD RESEARCH GATE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509AAAA0-C517-435E-B95C-3EB3F496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904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ranking pass.</a:t>
            </a:r>
          </a:p>
          <a:p xmlns:a="http://schemas.openxmlformats.org/drawingml/2006/main">
            <a:pPr algn="l">
              <a:defRPr sz="4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portfolio replay.</a:t>
            </a:r>
          </a:p>
        </p:txBody>
      </p:sp>
      <p:sp>
        <p:nvSpPr>
          <p:cNvPr id="3" name="rule-62-435-650">
            <a:extLst xmlns:a="http://schemas.openxmlformats.org/drawingml/2006/main">
              <a:ext uri="{FF2B5EF4-FFF2-40B4-BE49-F238E27FC236}">
                <a16:creationId xmlns:a16="http://schemas.microsoft.com/office/drawing/2014/main" id="{90C4926B-2071-45E7-90DF-3A033780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19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800CF00-B372-4ADB-8870-E1E02826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9625"/>
            <a:ext cx="847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M1A must establish positive, repeated, diversified ordering</a:t>
            </a:r>
          </a:p>
          <a:p xmlns:a="http://schemas.openxmlformats.org/drawingml/2006/main">
            <a:pPr algn="l"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beat randomized concentration before M1B may open.</a:t>
            </a:r>
          </a:p>
        </p:txBody>
      </p:sp>
      <p:sp>
        <p:nvSpPr>
          <p:cNvPr id="5" name="stop-box">
            <a:extLst xmlns:a="http://schemas.openxmlformats.org/drawingml/2006/main">
              <a:ext uri="{FF2B5EF4-FFF2-40B4-BE49-F238E27FC236}">
                <a16:creationId xmlns:a16="http://schemas.microsoft.com/office/drawing/2014/main" id="{33082187-079E-43FE-BEB4-206532AE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38375"/>
            <a:ext cx="16668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op">
            <a:extLst xmlns:a="http://schemas.openxmlformats.org/drawingml/2006/main">
              <a:ext uri="{FF2B5EF4-FFF2-40B4-BE49-F238E27FC236}">
                <a16:creationId xmlns:a16="http://schemas.microsoft.com/office/drawing/2014/main" id="{937586E3-70C3-4FC5-B5DD-BA5C16E2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8130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7" name="status">
            <a:extLst xmlns:a="http://schemas.openxmlformats.org/drawingml/2006/main">
              <a:ext uri="{FF2B5EF4-FFF2-40B4-BE49-F238E27FC236}">
                <a16:creationId xmlns:a16="http://schemas.microsoft.com/office/drawing/2014/main" id="{C69E762D-C307-421E-8225-01262ED6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3862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Any failed M1A gate</a:t>
            </a:r>
          </a:p>
        </p:txBody>
      </p:sp>
      <p:sp>
        <p:nvSpPr>
          <p:cNvPr id="8" name="bookmark-D52">
            <a:extLst xmlns:a="http://schemas.openxmlformats.org/drawingml/2006/main">
              <a:ext uri="{FF2B5EF4-FFF2-40B4-BE49-F238E27FC236}">
                <a16:creationId xmlns:a16="http://schemas.microsoft.com/office/drawing/2014/main" id="{D0EF7181-ADF4-4560-BDB2-E042EE37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4674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D52</a:t>
            </a:r>
          </a:p>
        </p:txBody>
      </p:sp>
    </p:spTree>
    <p:extLst>
      <p:ext uri="{BB962C8B-B14F-4D97-AF65-F5344CB8AC3E}">
        <p14:creationId xmlns:p14="http://schemas.microsoft.com/office/powerpoint/2010/main" val="2783750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8E875B3A-C1B3-47AE-88D0-7FEEB0FE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M1 CROSS-SECTIONAL MOMENTUM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A47C1C-0C16-49A0-93C8-BC334BC0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If M1A passes, M1B stays fully invested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A7C9F402-B64B-419F-887F-BB8899DE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2">
            <a:extLst xmlns:a="http://schemas.openxmlformats.org/drawingml/2006/main">
              <a:ext uri="{FF2B5EF4-FFF2-40B4-BE49-F238E27FC236}">
                <a16:creationId xmlns:a16="http://schemas.microsoft.com/office/drawing/2014/main" id="{22C07225-837E-4609-BEC2-1D76CFF3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4674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D52</a:t>
            </a:r>
          </a:p>
        </p:txBody>
      </p:sp>
      <p:sp>
        <p:nvSpPr>
          <p:cNvPr id="5" name="portfolio-title">
            <a:extLst xmlns:a="http://schemas.openxmlformats.org/drawingml/2006/main">
              <a:ext uri="{FF2B5EF4-FFF2-40B4-BE49-F238E27FC236}">
                <a16:creationId xmlns:a16="http://schemas.microsoft.com/office/drawing/2014/main" id="{7DD0DA8E-ABB0-498D-9BCC-7822FF79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M1 PORTFOLIO</a:t>
            </a:r>
          </a:p>
        </p:txBody>
      </p:sp>
      <p:sp>
        <p:nvSpPr>
          <p:cNvPr id="6" name="portfolio-copy">
            <a:extLst xmlns:a="http://schemas.openxmlformats.org/drawingml/2006/main">
              <a:ext uri="{FF2B5EF4-FFF2-40B4-BE49-F238E27FC236}">
                <a16:creationId xmlns:a16="http://schemas.microsoft.com/office/drawing/2014/main" id="{76D66473-3698-4B6F-872E-B07ED875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4095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100% equal weight across top 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Monthly following-open rebalance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No cash remainder</a:t>
            </a:r>
          </a:p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No leverage</a:t>
            </a:r>
          </a:p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No volatility scaling</a:t>
            </a:r>
          </a:p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No hold zone</a:t>
            </a:r>
          </a:p>
        </p:txBody>
      </p:sp>
      <p:sp>
        <p:nvSpPr>
          <p:cNvPr id="7" name="rule-540-182-2">
            <a:extLst xmlns:a="http://schemas.openxmlformats.org/drawingml/2006/main">
              <a:ext uri="{FF2B5EF4-FFF2-40B4-BE49-F238E27FC236}">
                <a16:creationId xmlns:a16="http://schemas.microsoft.com/office/drawing/2014/main" id="{4C14C8E7-14C5-492B-9DAA-3BEEA59E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335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trol-title">
            <a:extLst xmlns:a="http://schemas.openxmlformats.org/drawingml/2006/main">
              <a:ext uri="{FF2B5EF4-FFF2-40B4-BE49-F238E27FC236}">
                <a16:creationId xmlns:a16="http://schemas.microsoft.com/office/drawing/2014/main" id="{BDE9B099-5A6A-42F2-A51F-C6F3F8F7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9" name="control-copy">
            <a:extLst xmlns:a="http://schemas.openxmlformats.org/drawingml/2006/main">
              <a:ext uri="{FF2B5EF4-FFF2-40B4-BE49-F238E27FC236}">
                <a16:creationId xmlns:a16="http://schemas.microsoft.com/office/drawing/2014/main" id="{27C9BED3-C661-41FC-8443-9ABB38C9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Eligible-panel equal weight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100% BIL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Bottom K measurement basket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same 2,000 random K-name policies</a:t>
            </a:r>
          </a:p>
        </p:txBody>
      </p:sp>
      <p:sp>
        <p:nvSpPr>
          <p:cNvPr id="10" name="cost">
            <a:extLst xmlns:a="http://schemas.openxmlformats.org/drawingml/2006/main">
              <a:ext uri="{FF2B5EF4-FFF2-40B4-BE49-F238E27FC236}">
                <a16:creationId xmlns:a16="http://schemas.microsoft.com/office/drawing/2014/main" id="{3587B4F2-BF69-4A43-8610-1DB165FB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57750"/>
            <a:ext cx="504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cost-value">
            <a:extLst xmlns:a="http://schemas.openxmlformats.org/drawingml/2006/main">
              <a:ext uri="{FF2B5EF4-FFF2-40B4-BE49-F238E27FC236}">
                <a16:creationId xmlns:a16="http://schemas.microsoft.com/office/drawing/2014/main" id="{B5A3467D-93DA-4CB8-8529-C3E0FA21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196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5 bp  /  10 bp</a:t>
            </a:r>
          </a:p>
        </p:txBody>
      </p:sp>
      <p:sp>
        <p:nvSpPr>
          <p:cNvPr id="12" name="cost-label">
            <a:extLst xmlns:a="http://schemas.openxmlformats.org/drawingml/2006/main">
              <a:ext uri="{FF2B5EF4-FFF2-40B4-BE49-F238E27FC236}">
                <a16:creationId xmlns:a16="http://schemas.microsoft.com/office/drawing/2014/main" id="{C78E7CD1-C82B-4E4F-8E86-58072E92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8157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one-way primary / stress costs</a:t>
            </a:r>
          </a:p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charged on every trade</a:t>
            </a:r>
          </a:p>
        </p:txBody>
      </p:sp>
      <p:sp>
        <p:nvSpPr>
          <p:cNvPr id="13" name="why-full">
            <a:extLst xmlns:a="http://schemas.openxmlformats.org/drawingml/2006/main">
              <a:ext uri="{FF2B5EF4-FFF2-40B4-BE49-F238E27FC236}">
                <a16:creationId xmlns:a16="http://schemas.microsoft.com/office/drawing/2014/main" id="{FC3A3307-F8EE-4FC3-85AB-42AEAA11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74357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Full investment isolates selection from market exposure.</a:t>
            </a:r>
          </a:p>
        </p:txBody>
      </p:sp>
    </p:spTree>
    <p:extLst>
      <p:ext uri="{BB962C8B-B14F-4D97-AF65-F5344CB8AC3E}">
        <p14:creationId xmlns:p14="http://schemas.microsoft.com/office/powerpoint/2010/main" val="17511207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kicker">
            <a:extLst xmlns:a="http://schemas.openxmlformats.org/drawingml/2006/main">
              <a:ext uri="{FF2B5EF4-FFF2-40B4-BE49-F238E27FC236}">
                <a16:creationId xmlns:a16="http://schemas.microsoft.com/office/drawing/2014/main" id="{9E631B6D-8F62-4B99-8B35-DADB84FE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M1 CROSS-SECTIONAL MOMENTUM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3C9BBED-240A-42C0-BA56-53A8943F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Ten gates separate mechanism, implementation, and risk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1412BD63-922B-4A24-94B0-590F91AF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2">
            <a:extLst xmlns:a="http://schemas.openxmlformats.org/drawingml/2006/main">
              <a:ext uri="{FF2B5EF4-FFF2-40B4-BE49-F238E27FC236}">
                <a16:creationId xmlns:a16="http://schemas.microsoft.com/office/drawing/2014/main" id="{AB1AAAE5-D764-4DAC-8AD4-0FD4EF77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4674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D52</a:t>
            </a:r>
          </a:p>
        </p:txBody>
      </p:sp>
      <p:sp>
        <p:nvSpPr>
          <p:cNvPr id="5" name="m1a-title">
            <a:extLst xmlns:a="http://schemas.openxmlformats.org/drawingml/2006/main">
              <a:ext uri="{FF2B5EF4-FFF2-40B4-BE49-F238E27FC236}">
                <a16:creationId xmlns:a16="http://schemas.microsoft.com/office/drawing/2014/main" id="{3B83CFEF-D9AC-4B8F-B3B3-D055758B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M1A  /  SIX REQUIRED GATES</a:t>
            </a:r>
          </a:p>
        </p:txBody>
      </p:sp>
      <p:sp>
        <p:nvSpPr>
          <p:cNvPr id="6" name="a1-bar">
            <a:extLst xmlns:a="http://schemas.openxmlformats.org/drawingml/2006/main">
              <a:ext uri="{FF2B5EF4-FFF2-40B4-BE49-F238E27FC236}">
                <a16:creationId xmlns:a16="http://schemas.microsoft.com/office/drawing/2014/main" id="{5FDECCAA-344E-4D54-97E8-69EE489A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1-label">
            <a:extLst xmlns:a="http://schemas.openxmlformats.org/drawingml/2006/main">
              <a:ext uri="{FF2B5EF4-FFF2-40B4-BE49-F238E27FC236}">
                <a16:creationId xmlns:a16="http://schemas.microsoft.com/office/drawing/2014/main" id="{EC2FAC32-D963-4814-BF36-967263E7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71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  Integrity</a:t>
            </a:r>
          </a:p>
        </p:txBody>
      </p:sp>
      <p:sp>
        <p:nvSpPr>
          <p:cNvPr id="8" name="a1-body">
            <a:extLst xmlns:a="http://schemas.openxmlformats.org/drawingml/2006/main">
              <a:ext uri="{FF2B5EF4-FFF2-40B4-BE49-F238E27FC236}">
                <a16:creationId xmlns:a16="http://schemas.microsoft.com/office/drawing/2014/main" id="{2DB700E0-10E6-4185-8EE5-EBE39B9A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28875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as-of, bars, eligibility, interval, next-open, no outcome leakage</a:t>
            </a:r>
          </a:p>
        </p:txBody>
      </p:sp>
      <p:sp>
        <p:nvSpPr>
          <p:cNvPr id="9" name="a2-bar">
            <a:extLst xmlns:a="http://schemas.openxmlformats.org/drawingml/2006/main">
              <a:ext uri="{FF2B5EF4-FFF2-40B4-BE49-F238E27FC236}">
                <a16:creationId xmlns:a16="http://schemas.microsoft.com/office/drawing/2014/main" id="{B205090F-38E2-4E3D-9567-DA2E02C3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2-label">
            <a:extLst xmlns:a="http://schemas.openxmlformats.org/drawingml/2006/main">
              <a:ext uri="{FF2B5EF4-FFF2-40B4-BE49-F238E27FC236}">
                <a16:creationId xmlns:a16="http://schemas.microsoft.com/office/drawing/2014/main" id="{C91D66ED-BCED-415C-B0EB-2EE3E39D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098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  Rank IC</a:t>
            </a:r>
          </a:p>
        </p:txBody>
      </p:sp>
      <p:sp>
        <p:nvSpPr>
          <p:cNvPr id="11" name="a2-body">
            <a:extLst xmlns:a="http://schemas.openxmlformats.org/drawingml/2006/main">
              <a:ext uri="{FF2B5EF4-FFF2-40B4-BE49-F238E27FC236}">
                <a16:creationId xmlns:a16="http://schemas.microsoft.com/office/drawing/2014/main" id="{24F3BCA6-DFDC-42F9-9001-6505613F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67050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positive mean; ≥21 / 36 positive months</a:t>
            </a:r>
          </a:p>
        </p:txBody>
      </p:sp>
      <p:sp>
        <p:nvSpPr>
          <p:cNvPr id="12" name="a3-bar">
            <a:extLst xmlns:a="http://schemas.openxmlformats.org/drawingml/2006/main">
              <a:ext uri="{FF2B5EF4-FFF2-40B4-BE49-F238E27FC236}">
                <a16:creationId xmlns:a16="http://schemas.microsoft.com/office/drawing/2014/main" id="{F9DD8C49-CE6C-414B-A071-570A0206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19475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3-label">
            <a:extLst xmlns:a="http://schemas.openxmlformats.org/drawingml/2006/main">
              <a:ext uri="{FF2B5EF4-FFF2-40B4-BE49-F238E27FC236}">
                <a16:creationId xmlns:a16="http://schemas.microsoft.com/office/drawing/2014/main" id="{936F026E-A5F0-4629-BF2F-D16A5544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480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  Ordering</a:t>
            </a:r>
          </a:p>
        </p:txBody>
      </p:sp>
      <p:sp>
        <p:nvSpPr>
          <p:cNvPr id="14" name="a3-body">
            <a:extLst xmlns:a="http://schemas.openxmlformats.org/drawingml/2006/main">
              <a:ext uri="{FF2B5EF4-FFF2-40B4-BE49-F238E27FC236}">
                <a16:creationId xmlns:a16="http://schemas.microsoft.com/office/drawing/2014/main" id="{34C68711-2123-4C52-8934-BE9DC098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05225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positive mean; ≥7 / 12 positive quarters</a:t>
            </a:r>
          </a:p>
        </p:txBody>
      </p:sp>
      <p:sp>
        <p:nvSpPr>
          <p:cNvPr id="15" name="a4-bar">
            <a:extLst xmlns:a="http://schemas.openxmlformats.org/drawingml/2006/main">
              <a:ext uri="{FF2B5EF4-FFF2-40B4-BE49-F238E27FC236}">
                <a16:creationId xmlns:a16="http://schemas.microsoft.com/office/drawing/2014/main" id="{41D62A47-04C3-4647-9C3A-F88763F0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57650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4-label">
            <a:extLst xmlns:a="http://schemas.openxmlformats.org/drawingml/2006/main">
              <a:ext uri="{FF2B5EF4-FFF2-40B4-BE49-F238E27FC236}">
                <a16:creationId xmlns:a16="http://schemas.microsoft.com/office/drawing/2014/main" id="{D51EAFC5-C19F-4E66-B09C-BC712C91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862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  Random control</a:t>
            </a:r>
          </a:p>
        </p:txBody>
      </p:sp>
      <p:sp>
        <p:nvSpPr>
          <p:cNvPr id="17" name="a4-body">
            <a:extLst xmlns:a="http://schemas.openxmlformats.org/drawingml/2006/main">
              <a:ext uri="{FF2B5EF4-FFF2-40B4-BE49-F238E27FC236}">
                <a16:creationId xmlns:a16="http://schemas.microsoft.com/office/drawing/2014/main" id="{8A46783D-8435-46D0-8EC0-DF57F81D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43400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observed excess &gt; random 90th percentile</a:t>
            </a:r>
          </a:p>
        </p:txBody>
      </p:sp>
      <p:sp>
        <p:nvSpPr>
          <p:cNvPr id="18" name="a5-bar">
            <a:extLst xmlns:a="http://schemas.openxmlformats.org/drawingml/2006/main">
              <a:ext uri="{FF2B5EF4-FFF2-40B4-BE49-F238E27FC236}">
                <a16:creationId xmlns:a16="http://schemas.microsoft.com/office/drawing/2014/main" id="{405B0F7D-C27B-450F-AAA1-EF992B5B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95825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5-label">
            <a:extLst xmlns:a="http://schemas.openxmlformats.org/drawingml/2006/main">
              <a:ext uri="{FF2B5EF4-FFF2-40B4-BE49-F238E27FC236}">
                <a16:creationId xmlns:a16="http://schemas.microsoft.com/office/drawing/2014/main" id="{7CEE77EF-3CE0-40AB-93C6-499059DA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244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5  Concentration</a:t>
            </a:r>
          </a:p>
        </p:txBody>
      </p:sp>
      <p:sp>
        <p:nvSpPr>
          <p:cNvPr id="20" name="a5-body">
            <a:extLst xmlns:a="http://schemas.openxmlformats.org/drawingml/2006/main">
              <a:ext uri="{FF2B5EF4-FFF2-40B4-BE49-F238E27FC236}">
                <a16:creationId xmlns:a16="http://schemas.microsoft.com/office/drawing/2014/main" id="{89BE8705-9E6B-4CB7-8E6E-3CCCF3D1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81575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group ≤50%; ETF ≤25%; year ≤50%</a:t>
            </a:r>
          </a:p>
        </p:txBody>
      </p:sp>
      <p:sp>
        <p:nvSpPr>
          <p:cNvPr id="21" name="a6-bar">
            <a:extLst xmlns:a="http://schemas.openxmlformats.org/drawingml/2006/main">
              <a:ext uri="{FF2B5EF4-FFF2-40B4-BE49-F238E27FC236}">
                <a16:creationId xmlns:a16="http://schemas.microsoft.com/office/drawing/2014/main" id="{0E099337-BADC-4AB2-A959-4569BA1F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0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6-label">
            <a:extLst xmlns:a="http://schemas.openxmlformats.org/drawingml/2006/main">
              <a:ext uri="{FF2B5EF4-FFF2-40B4-BE49-F238E27FC236}">
                <a16:creationId xmlns:a16="http://schemas.microsoft.com/office/drawing/2014/main" id="{B9AF36F8-69B2-4CC6-8963-767B1681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625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6  Nearby horizons</a:t>
            </a:r>
          </a:p>
        </p:txBody>
      </p:sp>
      <p:sp>
        <p:nvSpPr>
          <p:cNvPr id="23" name="a6-body">
            <a:extLst xmlns:a="http://schemas.openxmlformats.org/drawingml/2006/main">
              <a:ext uri="{FF2B5EF4-FFF2-40B4-BE49-F238E27FC236}">
                <a16:creationId xmlns:a16="http://schemas.microsoft.com/office/drawing/2014/main" id="{2566C632-D6BB-441A-A322-23811447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19750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6−1 and 18−1 do not both reverse</a:t>
            </a:r>
          </a:p>
        </p:txBody>
      </p:sp>
      <p:sp>
        <p:nvSpPr>
          <p:cNvPr id="24" name="rule-640-178-2">
            <a:extLst xmlns:a="http://schemas.openxmlformats.org/drawingml/2006/main">
              <a:ext uri="{FF2B5EF4-FFF2-40B4-BE49-F238E27FC236}">
                <a16:creationId xmlns:a16="http://schemas.microsoft.com/office/drawing/2014/main" id="{DF210CB1-E315-4120-803A-43286CC4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190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1b-title">
            <a:extLst xmlns:a="http://schemas.openxmlformats.org/drawingml/2006/main">
              <a:ext uri="{FF2B5EF4-FFF2-40B4-BE49-F238E27FC236}">
                <a16:creationId xmlns:a16="http://schemas.microsoft.com/office/drawing/2014/main" id="{EE9240E2-4570-41D9-89BC-893A3176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M1B  /  FOUR REQUIRED GATES</a:t>
            </a:r>
          </a:p>
        </p:txBody>
      </p:sp>
      <p:sp>
        <p:nvSpPr>
          <p:cNvPr id="26" name="b1-bar">
            <a:extLst xmlns:a="http://schemas.openxmlformats.org/drawingml/2006/main">
              <a:ext uri="{FF2B5EF4-FFF2-40B4-BE49-F238E27FC236}">
                <a16:creationId xmlns:a16="http://schemas.microsoft.com/office/drawing/2014/main" id="{11562F82-B4D0-45CD-BA88-D7AEC3E4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1-label">
            <a:extLst xmlns:a="http://schemas.openxmlformats.org/drawingml/2006/main">
              <a:ext uri="{FF2B5EF4-FFF2-40B4-BE49-F238E27FC236}">
                <a16:creationId xmlns:a16="http://schemas.microsoft.com/office/drawing/2014/main" id="{5F6DB3D1-2054-47F6-A547-10E55C94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098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7  Net return</a:t>
            </a:r>
          </a:p>
        </p:txBody>
      </p:sp>
      <p:sp>
        <p:nvSpPr>
          <p:cNvPr id="28" name="b1-body">
            <a:extLst xmlns:a="http://schemas.openxmlformats.org/drawingml/2006/main">
              <a:ext uri="{FF2B5EF4-FFF2-40B4-BE49-F238E27FC236}">
                <a16:creationId xmlns:a16="http://schemas.microsoft.com/office/drawing/2014/main" id="{CA144CDC-287E-4EBD-8D0C-C952D66A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67000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M1 CAGR &gt; eligible equal weight at 5 bp</a:t>
            </a:r>
          </a:p>
        </p:txBody>
      </p:sp>
      <p:sp>
        <p:nvSpPr>
          <p:cNvPr id="29" name="b2-bar">
            <a:extLst xmlns:a="http://schemas.openxmlformats.org/drawingml/2006/main">
              <a:ext uri="{FF2B5EF4-FFF2-40B4-BE49-F238E27FC236}">
                <a16:creationId xmlns:a16="http://schemas.microsoft.com/office/drawing/2014/main" id="{16619069-FFF5-470C-A2AF-3FC94F7A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9925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2-label">
            <a:extLst xmlns:a="http://schemas.openxmlformats.org/drawingml/2006/main">
              <a:ext uri="{FF2B5EF4-FFF2-40B4-BE49-F238E27FC236}">
                <a16:creationId xmlns:a16="http://schemas.microsoft.com/office/drawing/2014/main" id="{741DEBEE-8AD1-4196-A2DC-FEFF6605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8  Cost stress</a:t>
            </a:r>
          </a:p>
        </p:txBody>
      </p:sp>
      <p:sp>
        <p:nvSpPr>
          <p:cNvPr id="31" name="b2-body">
            <a:extLst xmlns:a="http://schemas.openxmlformats.org/drawingml/2006/main">
              <a:ext uri="{FF2B5EF4-FFF2-40B4-BE49-F238E27FC236}">
                <a16:creationId xmlns:a16="http://schemas.microsoft.com/office/drawing/2014/main" id="{09528DF8-68CB-4CDF-B217-A14CD857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95675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advantage remains positive at 10 bp</a:t>
            </a:r>
          </a:p>
        </p:txBody>
      </p:sp>
      <p:sp>
        <p:nvSpPr>
          <p:cNvPr id="32" name="b3-bar">
            <a:extLst xmlns:a="http://schemas.openxmlformats.org/drawingml/2006/main">
              <a:ext uri="{FF2B5EF4-FFF2-40B4-BE49-F238E27FC236}">
                <a16:creationId xmlns:a16="http://schemas.microsoft.com/office/drawing/2014/main" id="{0780817F-18EC-46B1-B42A-694FCA10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3-label">
            <a:extLst xmlns:a="http://schemas.openxmlformats.org/drawingml/2006/main">
              <a:ext uri="{FF2B5EF4-FFF2-40B4-BE49-F238E27FC236}">
                <a16:creationId xmlns:a16="http://schemas.microsoft.com/office/drawing/2014/main" id="{90711F6A-E68A-4002-BF0F-E59F0959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671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9  Turnover</a:t>
            </a:r>
          </a:p>
        </p:txBody>
      </p:sp>
      <p:sp>
        <p:nvSpPr>
          <p:cNvPr id="34" name="b3-body">
            <a:extLst xmlns:a="http://schemas.openxmlformats.org/drawingml/2006/main">
              <a:ext uri="{FF2B5EF4-FFF2-40B4-BE49-F238E27FC236}">
                <a16:creationId xmlns:a16="http://schemas.microsoft.com/office/drawing/2014/main" id="{3DCB00C9-BD7C-41C4-85C5-64A88060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24350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median monthly one-way turnover ≤50%</a:t>
            </a:r>
          </a:p>
        </p:txBody>
      </p:sp>
      <p:sp>
        <p:nvSpPr>
          <p:cNvPr id="35" name="b4-bar">
            <a:extLst xmlns:a="http://schemas.openxmlformats.org/drawingml/2006/main">
              <a:ext uri="{FF2B5EF4-FFF2-40B4-BE49-F238E27FC236}">
                <a16:creationId xmlns:a16="http://schemas.microsoft.com/office/drawing/2014/main" id="{1788C80C-C891-4988-AD4C-ACA5417F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67275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4-label">
            <a:extLst xmlns:a="http://schemas.openxmlformats.org/drawingml/2006/main">
              <a:ext uri="{FF2B5EF4-FFF2-40B4-BE49-F238E27FC236}">
                <a16:creationId xmlns:a16="http://schemas.microsoft.com/office/drawing/2014/main" id="{725A2042-F5FB-4302-BC24-8833A58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958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10  Drawdown</a:t>
            </a:r>
          </a:p>
        </p:txBody>
      </p:sp>
      <p:sp>
        <p:nvSpPr>
          <p:cNvPr id="37" name="b4-body">
            <a:extLst xmlns:a="http://schemas.openxmlformats.org/drawingml/2006/main">
              <a:ext uri="{FF2B5EF4-FFF2-40B4-BE49-F238E27FC236}">
                <a16:creationId xmlns:a16="http://schemas.microsoft.com/office/drawing/2014/main" id="{FBEC24E0-4750-4FC4-86F3-49AB7269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53025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no more than 5 pp worse than eligible equal weight</a:t>
            </a:r>
          </a:p>
        </p:txBody>
      </p:sp>
      <p:sp>
        <p:nvSpPr>
          <p:cNvPr id="38" name="pass">
            <a:extLst xmlns:a="http://schemas.openxmlformats.org/drawingml/2006/main">
              <a:ext uri="{FF2B5EF4-FFF2-40B4-BE49-F238E27FC236}">
                <a16:creationId xmlns:a16="http://schemas.microsoft.com/office/drawing/2014/main" id="{0EB4F375-489A-4837-B67C-AB909270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10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ALL 10 PASS  →  prospective shadow discussion only</a:t>
            </a:r>
          </a:p>
        </p:txBody>
      </p:sp>
    </p:spTree>
    <p:extLst>
      <p:ext uri="{BB962C8B-B14F-4D97-AF65-F5344CB8AC3E}">
        <p14:creationId xmlns:p14="http://schemas.microsoft.com/office/powerpoint/2010/main" val="12789379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E4EFCE83-75D3-4907-9F22-B26FDD85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M1 CROSS-SECTIONAL MOMENTUM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5A530A-583F-4636-8C32-74557B9B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Approval freezes the experiment—then code may begin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9AD07486-5C4E-47CC-99CA-2708A1A0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2">
            <a:extLst xmlns:a="http://schemas.openxmlformats.org/drawingml/2006/main">
              <a:ext uri="{FF2B5EF4-FFF2-40B4-BE49-F238E27FC236}">
                <a16:creationId xmlns:a16="http://schemas.microsoft.com/office/drawing/2014/main" id="{FB49997D-A633-42A1-91AB-AE35EB5B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4674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D52</a:t>
            </a:r>
          </a:p>
        </p:txBody>
      </p:sp>
      <p:sp>
        <p:nvSpPr>
          <p:cNvPr id="5" name="approve-title">
            <a:extLst xmlns:a="http://schemas.openxmlformats.org/drawingml/2006/main">
              <a:ext uri="{FF2B5EF4-FFF2-40B4-BE49-F238E27FC236}">
                <a16:creationId xmlns:a16="http://schemas.microsoft.com/office/drawing/2014/main" id="{736C6309-C93C-40BE-B8C8-DDA95C91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APPROVE OR REVISE</a:t>
            </a:r>
          </a:p>
        </p:txBody>
      </p:sp>
      <p:sp>
        <p:nvSpPr>
          <p:cNvPr id="6" name="approve-copy">
            <a:extLst xmlns:a="http://schemas.openxmlformats.org/drawingml/2006/main">
              <a:ext uri="{FF2B5EF4-FFF2-40B4-BE49-F238E27FC236}">
                <a16:creationId xmlns:a16="http://schemas.microsoft.com/office/drawing/2014/main" id="{6522171B-B31C-444F-B8AA-E8625AC4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50482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24 ETFs and three groups</a:t>
            </a:r>
          </a:p>
          <a:p xmlns:a="http://schemas.openxmlformats.org/drawingml/2006/main">
            <a:pPr algn="l">
              <a:defRPr sz="16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eligibility and breadth</a:t>
            </a:r>
          </a:p>
          <a:p xmlns:a="http://schemas.openxmlformats.org/drawingml/2006/main">
            <a:pPr algn="l">
              <a:defRPr sz="16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12−1 rank and quartiles</a:t>
            </a:r>
          </a:p>
          <a:p xmlns:a="http://schemas.openxmlformats.org/drawingml/2006/main">
            <a:pPr algn="l">
              <a:defRPr sz="16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next-open timing</a:t>
            </a:r>
          </a:p>
          <a:p xmlns:a="http://schemas.openxmlformats.org/drawingml/2006/main">
            <a:pPr algn="l">
              <a:defRPr sz="16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2,000-policy random control</a:t>
            </a:r>
          </a:p>
          <a:p xmlns:a="http://schemas.openxmlformats.org/drawingml/2006/main">
            <a:pPr algn="l">
              <a:defRPr sz="16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six M1A + four M1B gates</a:t>
            </a:r>
          </a:p>
          <a:p xmlns:a="http://schemas.openxmlformats.org/drawingml/2006/main">
            <a:pPr algn="l">
              <a:defRPr sz="16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5 / 10 bp costs</a:t>
            </a:r>
          </a:p>
          <a:p xmlns:a="http://schemas.openxmlformats.org/drawingml/2006/main">
            <a:pPr algn="l">
              <a:defRPr sz="16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retrospective and prospective boundaries</a:t>
            </a:r>
          </a:p>
        </p:txBody>
      </p:sp>
      <p:sp>
        <p:nvSpPr>
          <p:cNvPr id="7" name="rule-640-182-2">
            <a:extLst xmlns:a="http://schemas.openxmlformats.org/drawingml/2006/main">
              <a:ext uri="{FF2B5EF4-FFF2-40B4-BE49-F238E27FC236}">
                <a16:creationId xmlns:a16="http://schemas.microsoft.com/office/drawing/2014/main" id="{3FF42CEE-2A48-43BB-BB0A-9FD8042C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81133F80-FFFB-4F32-914A-5BDFA3E1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UNTIL THEN</a:t>
            </a:r>
          </a:p>
        </p:txBody>
      </p:sp>
      <p:sp>
        <p:nvSpPr>
          <p:cNvPr id="9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82F0837E-5620-47FD-9975-E3D15CDD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43125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No M1 data pull</a:t>
            </a:r>
          </a:p>
          <a:p xmlns:a="http://schemas.openxmlformats.org/drawingml/2006/main">
            <a:pPr algn="l">
              <a:defRPr sz="18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No outcome calculation</a:t>
            </a:r>
          </a:p>
          <a:p xmlns:a="http://schemas.openxmlformats.org/drawingml/2006/main">
            <a:pPr algn="l">
              <a:defRPr sz="18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No random simulation</a:t>
            </a:r>
          </a:p>
          <a:p xmlns:a="http://schemas.openxmlformats.org/drawingml/2006/main">
            <a:pPr algn="l">
              <a:defRPr sz="18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No portfolio replay</a:t>
            </a:r>
          </a:p>
          <a:p xmlns:a="http://schemas.openxmlformats.org/drawingml/2006/main">
            <a:pPr algn="l">
              <a:defRPr sz="18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No allocation decision</a:t>
            </a:r>
          </a:p>
          <a:p xmlns:a="http://schemas.openxmlformats.org/drawingml/2006/main">
            <a:pPr algn="l">
              <a:defRPr sz="18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No live behavior</a:t>
            </a:r>
          </a:p>
        </p:txBody>
      </p:sp>
      <p:sp>
        <p:nvSpPr>
          <p:cNvPr id="10" name="next">
            <a:extLst xmlns:a="http://schemas.openxmlformats.org/drawingml/2006/main">
              <a:ext uri="{FF2B5EF4-FFF2-40B4-BE49-F238E27FC236}">
                <a16:creationId xmlns:a16="http://schemas.microsoft.com/office/drawing/2014/main" id="{B45A7C8E-3CE6-4716-BBE0-9A4D9465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86375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next-copy">
            <a:extLst xmlns:a="http://schemas.openxmlformats.org/drawingml/2006/main">
              <a:ext uri="{FF2B5EF4-FFF2-40B4-BE49-F238E27FC236}">
                <a16:creationId xmlns:a16="http://schemas.microsoft.com/office/drawing/2014/main" id="{03E3D84A-C743-4F17-956C-EA27907D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76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gate: exact contract approval</a:t>
            </a:r>
          </a:p>
        </p:txBody>
      </p:sp>
    </p:spTree>
    <p:extLst>
      <p:ext uri="{BB962C8B-B14F-4D97-AF65-F5344CB8AC3E}">
        <p14:creationId xmlns:p14="http://schemas.microsoft.com/office/powerpoint/2010/main" val="368328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2026-07-27T11:53:13.1960000Z</dcterms:created>
  <dcterms:modified xsi:type="dcterms:W3CDTF">2026-07-27T11:53:13.1960000Z</dcterms:modified>
</coreProperties>
</file>