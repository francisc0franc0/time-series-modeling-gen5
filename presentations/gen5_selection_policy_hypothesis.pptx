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b6089ab2384513" /><Relationship Type="http://schemas.openxmlformats.org/officeDocument/2006/relationships/extended-properties" Target="/docProps/app.xml" Id="R1abdbbf9b4e6488e" /><Relationship Type="http://schemas.openxmlformats.org/officeDocument/2006/relationships/officeDocument" Target="/ppt/presentation.xml" Id="Rb6954f1636df45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87ac4984ee4dcf"/>
  </p:sldMasterIdLst>
  <p:notesMasterIdLst>
    <p:notesMasterId xmlns:r="http://schemas.openxmlformats.org/officeDocument/2006/relationships" r:id="R31cd480f549844eb"/>
  </p:notesMasterIdLst>
  <p:sldIdLst>
    <p:sldId xmlns:r="http://schemas.openxmlformats.org/officeDocument/2006/relationships" id="256" r:id="Rc6d9d3b4eb2348db"/>
    <p:sldId xmlns:r="http://schemas.openxmlformats.org/officeDocument/2006/relationships" id="257" r:id="Rd550fd56e3ad4525"/>
    <p:sldId xmlns:r="http://schemas.openxmlformats.org/officeDocument/2006/relationships" id="258" r:id="R9da405f31eef4ee3"/>
    <p:sldId xmlns:r="http://schemas.openxmlformats.org/officeDocument/2006/relationships" id="259" r:id="R7f7604497b174844"/>
    <p:sldId xmlns:r="http://schemas.openxmlformats.org/officeDocument/2006/relationships" id="260" r:id="R19bd0c9d9b3c4718"/>
    <p:sldId xmlns:r="http://schemas.openxmlformats.org/officeDocument/2006/relationships" id="261" r:id="R13a5e1f0b4cb4470"/>
    <p:sldId xmlns:r="http://schemas.openxmlformats.org/officeDocument/2006/relationships" id="262" r:id="R9695ee73cd0649bf"/>
    <p:sldId xmlns:r="http://schemas.openxmlformats.org/officeDocument/2006/relationships" id="263" r:id="Raa83f651714944ba"/>
    <p:sldId xmlns:r="http://schemas.openxmlformats.org/officeDocument/2006/relationships" id="264" r:id="Rf38b17f26aa04ce7"/>
    <p:sldId xmlns:r="http://schemas.openxmlformats.org/officeDocument/2006/relationships" id="265" r:id="Redf0fc8edfe74c4e"/>
    <p:sldId xmlns:r="http://schemas.openxmlformats.org/officeDocument/2006/relationships" id="266" r:id="R56fc06d00f0a4a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b8793950364a42" /><Relationship Type="http://schemas.openxmlformats.org/officeDocument/2006/relationships/slideMaster" Target="/ppt/slideMasters/slideMaster1.xml" Id="R0e87ac4984ee4dcf" /><Relationship Type="http://schemas.openxmlformats.org/officeDocument/2006/relationships/notesMaster" Target="/ppt/notesMasters/notesMaster1.xml" Id="R31cd480f549844eb" /><Relationship Type="http://schemas.openxmlformats.org/officeDocument/2006/relationships/presProps" Target="/ppt/presProps.xml" Id="Rf18b346f2c7744dc" /><Relationship Type="http://schemas.openxmlformats.org/officeDocument/2006/relationships/tableStyles" Target="/ppt/tableStyles.xml" Id="Rba7a918f908f4299" /><Relationship Type="http://schemas.openxmlformats.org/officeDocument/2006/relationships/slide" Target="/ppt/slides/slide1.xml" Id="Rc6d9d3b4eb2348db" /><Relationship Type="http://schemas.openxmlformats.org/officeDocument/2006/relationships/slide" Target="/ppt/slides/slide2.xml" Id="Rd550fd56e3ad4525" /><Relationship Type="http://schemas.openxmlformats.org/officeDocument/2006/relationships/slide" Target="/ppt/slides/slide3.xml" Id="R9da405f31eef4ee3" /><Relationship Type="http://schemas.openxmlformats.org/officeDocument/2006/relationships/slide" Target="/ppt/slides/slide4.xml" Id="R7f7604497b174844" /><Relationship Type="http://schemas.openxmlformats.org/officeDocument/2006/relationships/slide" Target="/ppt/slides/slide5.xml" Id="R19bd0c9d9b3c4718" /><Relationship Type="http://schemas.openxmlformats.org/officeDocument/2006/relationships/slide" Target="/ppt/slides/slide6.xml" Id="R13a5e1f0b4cb4470" /><Relationship Type="http://schemas.openxmlformats.org/officeDocument/2006/relationships/slide" Target="/ppt/slides/slide7.xml" Id="R9695ee73cd0649bf" /><Relationship Type="http://schemas.openxmlformats.org/officeDocument/2006/relationships/slide" Target="/ppt/slides/slide8.xml" Id="Raa83f651714944ba" /><Relationship Type="http://schemas.openxmlformats.org/officeDocument/2006/relationships/slide" Target="/ppt/slides/slide9.xml" Id="Rf38b17f26aa04ce7" /><Relationship Type="http://schemas.openxmlformats.org/officeDocument/2006/relationships/slide" Target="/ppt/slides/slide10.xml" Id="Redf0fc8edfe74c4e" /><Relationship Type="http://schemas.openxmlformats.org/officeDocument/2006/relationships/slide" Target="/ppt/slides/slide11.xml" Id="R56fc06d00f0a4a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20a8412a4b47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c4496f63754c8f" /><Relationship Type="http://schemas.openxmlformats.org/officeDocument/2006/relationships/notesMaster" Target="/ppt/notesMasters/notesMaster1.xml" Id="Rf9ff41d579c849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184aeee2644366" /><Relationship Type="http://schemas.openxmlformats.org/officeDocument/2006/relationships/notesMaster" Target="/ppt/notesMasters/notesMaster1.xml" Id="R7250f146bf3749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1a1f0a4e3b4585" /><Relationship Type="http://schemas.openxmlformats.org/officeDocument/2006/relationships/notesMaster" Target="/ppt/notesMasters/notesMaster1.xml" Id="R1fd519bded4642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73415ac3184e8d" /><Relationship Type="http://schemas.openxmlformats.org/officeDocument/2006/relationships/notesMaster" Target="/ppt/notesMasters/notesMaster1.xml" Id="Rb0f1d610a81441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09bbf8495a4973" /><Relationship Type="http://schemas.openxmlformats.org/officeDocument/2006/relationships/notesMaster" Target="/ppt/notesMasters/notesMaster1.xml" Id="R73809f8a6a494e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18ec35108f49d2" /><Relationship Type="http://schemas.openxmlformats.org/officeDocument/2006/relationships/notesMaster" Target="/ppt/notesMasters/notesMaster1.xml" Id="R58698a5227a44d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61e567fe1d407f" /><Relationship Type="http://schemas.openxmlformats.org/officeDocument/2006/relationships/notesMaster" Target="/ppt/notesMasters/notesMaster1.xml" Id="Rcb59c224e8584a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be64392ec54847" /><Relationship Type="http://schemas.openxmlformats.org/officeDocument/2006/relationships/notesMaster" Target="/ppt/notesMasters/notesMaster1.xml" Id="R7d48ee90d6b74d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533ebaa8b14987" /><Relationship Type="http://schemas.openxmlformats.org/officeDocument/2006/relationships/notesMaster" Target="/ppt/notesMasters/notesMaster1.xml" Id="R241de73fca1c41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161c42a3ce431b" /><Relationship Type="http://schemas.openxmlformats.org/officeDocument/2006/relationships/notesMaster" Target="/ppt/notesMasters/notesMaster1.xml" Id="Ref78dfee195447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9a47010fc5486c" /><Relationship Type="http://schemas.openxmlformats.org/officeDocument/2006/relationships/notesMaster" Target="/ppt/notesMasters/notesMaster1.xml" Id="R1d986ec0bb3440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6de22b879b42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75275f2f6d4399" /><Relationship Type="http://schemas.openxmlformats.org/officeDocument/2006/relationships/slideLayout" Target="/ppt/slideLayouts/slideLayout1.xml" Id="Rf9e07c0ff68148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e07c0ff68148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7b5f350f14f76" /><Relationship Type="http://schemas.openxmlformats.org/officeDocument/2006/relationships/notesSlide" Target="/ppt/notesSlides/notesSlide1.xml" Id="Re1ce871e6a9b43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9b6d953154cab" /><Relationship Type="http://schemas.openxmlformats.org/officeDocument/2006/relationships/notesSlide" Target="/ppt/notesSlides/notesSlide2.xml" Id="R15507b6922a44b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1df68ecde4b43" /><Relationship Type="http://schemas.openxmlformats.org/officeDocument/2006/relationships/notesSlide" Target="/ppt/notesSlides/notesSlide3.xml" Id="Rb7e21ccb7e0d43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3220ba0194cfe" /><Relationship Type="http://schemas.openxmlformats.org/officeDocument/2006/relationships/notesSlide" Target="/ppt/notesSlides/notesSlide4.xml" Id="Re9be6f5c49c247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d5c8479ea47a9" /><Relationship Type="http://schemas.openxmlformats.org/officeDocument/2006/relationships/notesSlide" Target="/ppt/notesSlides/notesSlide5.xml" Id="R11fea867aff042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96cafe8acf40ee" /><Relationship Type="http://schemas.openxmlformats.org/officeDocument/2006/relationships/notesSlide" Target="/ppt/notesSlides/notesSlide6.xml" Id="Rc81d3dc9ca0840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658462cca4fd7" /><Relationship Type="http://schemas.openxmlformats.org/officeDocument/2006/relationships/notesSlide" Target="/ppt/notesSlides/notesSlide7.xml" Id="Ra761225f4e5246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a1f9be7cf455e" /><Relationship Type="http://schemas.openxmlformats.org/officeDocument/2006/relationships/notesSlide" Target="/ppt/notesSlides/notesSlide8.xml" Id="Rcc5733ec84c441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4949bd2274ff6" /><Relationship Type="http://schemas.openxmlformats.org/officeDocument/2006/relationships/notesSlide" Target="/ppt/notesSlides/notesSlide9.xml" Id="R3384409526864a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8142e220f48a7" /><Relationship Type="http://schemas.openxmlformats.org/officeDocument/2006/relationships/notesSlide" Target="/ppt/notesSlides/notesSlide10.xml" Id="R8d96c280443141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5025dc43846ec" /><Relationship Type="http://schemas.openxmlformats.org/officeDocument/2006/relationships/image" Target="/ppt/media/image.png" Id="Rcb3d46d7ef0b40ea" /><Relationship Type="http://schemas.openxmlformats.org/officeDocument/2006/relationships/image" Target="/ppt/media/image2.png" Id="R9a60dc8ecfa14704" /><Relationship Type="http://schemas.openxmlformats.org/officeDocument/2006/relationships/notesSlide" Target="/ppt/notesSlides/notesSlide11.xml" Id="R5fc0c68fbecc41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9DAE99-6442-449C-8823-F7BD79A5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METHODOLOGY FORK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5960D-BD86-414D-B8EE-F74CAAC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43050"/>
            <a:ext cx="933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000000"/>
                </a:solidFill>
              </a:defRPr>
            </a:pPr>
            <a:r>
              <a:rPr sz="4200" b="1">
                <a:solidFill>
                  <a:srgbClr val="000000"/>
                </a:solidFill>
              </a:rPr>
              <a:t>Selection policy may be the hidden difference between Gen4 and Gen5.1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EA3B5-407B-4301-B7C9-D89F1DD4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704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22222"/>
                </a:solidFill>
              </a:defRPr>
            </a:pPr>
            <a:r>
              <a:rPr sz="1875">
                <a:solidFill>
                  <a:srgbClr val="222222"/>
                </a:solidFill>
              </a:rPr>
              <a:t>The next screen should isolate how state-level winners are chosen before we change the live bridge or rerun broader research.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D982B-81B8-4412-ABB9-13E969D7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066800"/>
            <a:ext cx="27241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F85E9-5319-42D5-8615-04EA3D94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09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data.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PCA.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Same grid.</a:t>
            </a:r>
          </a:p>
          <a:p xmlns:a="http://schemas.openxmlformats.org/drawingml/2006/main">
            <a:pPr>
              <a:defRPr sz="2625" b="1">
                <a:solidFill>
                  <a:srgbClr val="000000"/>
                </a:solidFill>
              </a:defRPr>
            </a:pPr>
            <a:r>
              <a:rPr sz="2625" b="1">
                <a:solidFill>
                  <a:srgbClr val="000000"/>
                </a:solidFill>
              </a:rPr>
              <a:t>Different winner selection.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EACFE-FB0D-471B-A303-B39E5F24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19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July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03D61-EFA6-4AD7-BE48-8502B656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6F915-90A1-4CC1-A9FA-14F67A92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D8498-8666-4E46-B702-F044FA9D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138712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F72302-E148-4FFE-B64E-2740223A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THE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991E9-9C96-4DE7-BE6A-1335D12F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Matching the visible settings did not recreate Gen4 authority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35D6ED-DF47-44F5-8664-B214243C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71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22222"/>
                </a:solidFill>
              </a:defRPr>
            </a:pPr>
            <a:r>
              <a:rPr sz="1650">
                <a:solidFill>
                  <a:srgbClr val="222222"/>
                </a:solidFill>
              </a:rPr>
              <a:t>The temporary bridge matched the Gen4-like basket, context universe, PCA mode, 5x5 state grid, and daily_default strategy grid. The selected state maps still diverged sharply.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38604-CC7D-4EAE-929A-1AE9AC5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53A91-BB31-443F-829C-8EAAC34A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330348-EDDC-42F6-860F-D991B11F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exact model matches across five symbols and 25 states each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8D9695-7D94-439E-8932-4E388819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F00F6-518F-4412-87EE-FFCC40A8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38523F-B5F1-4FF8-B24A-C948C583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family matches where parameters still differed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89105-ABC8-4488-A5F4-13EE69DB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304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7EBD0-D5D2-4C25-B9C4-B86C133B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76550"/>
            <a:ext cx="104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6B35"/>
                </a:solidFill>
              </a:defRPr>
            </a:pPr>
            <a:r>
              <a:rPr sz="465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57310-CB82-4D6B-955F-E41AA166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field that explained it: Gen4 selection_mode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C8A495-2435-490D-B4BD-D0C4BA7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101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The difference is not just live replay. It is a winner-selection policy embedded in the research architecture.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28658-F2DD-474C-BDCA-AB98E5AA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427AB1-16F3-47EA-8FFC-635184E7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2674E-B110-47FB-A455-B254500B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15247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BDAB3D-6565-4D23-A17A-DB8E49E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TWO POLICIES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065CF-9445-465F-94A8-DA91F9C0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fork is family-first versus full-spec-first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BFA29-F12F-4948-B7E2-AD884E6F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DED1C-2019-498B-B0C1-63891206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Gen4 style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914FE-A271-4E9E-8D90-0E506979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B7F5A"/>
                </a:solidFill>
              </a:defRPr>
            </a:pPr>
            <a:r>
              <a:rPr sz="1275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00A35-03C5-428E-9968-B57C9E2C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B3CAB-5F6E-46DB-B954-B6F7308D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state’s best family from pooled evidence.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Then choose asset-specific parameters inside that family.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Lower variance, clearer state meaning, possible asset-level constraint.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B7D7B8-B468-4C8D-A7A7-63788F9D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5219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F4308E-081C-497E-B9CA-175DE3DD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Gen5.1 style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443BE-053F-4B5B-BB27-BC6D1171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D4ED8"/>
                </a:solidFill>
              </a:defRPr>
            </a:pPr>
            <a:r>
              <a:rPr sz="1275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39E851-B986-49FF-92FA-9D683030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990850"/>
            <a:ext cx="46863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13225-8A18-462B-81BB-CA277B03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19450"/>
            <a:ext cx="4667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Choose the full asset/state spec directly.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Family and parameters are selected together.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More asset-specific flexibility, possible sparse-state overfit.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E8350-0E5A-4546-9029-97B6DFAB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443EB-4E42-455E-A652-8EA06E0D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69070-6AFF-41CF-9FED-DABEC3B3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967327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ADB377-17B5-45CE-BCB0-BC38C6CE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5BF38-EC4C-4492-A5FA-4186E28A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71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A live-signal mismatch can be a methodology mismatch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82AF2-A2BC-4157-BEA5-F06A7878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1009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If Gen4’s family-first policy is more robust, the bridge and some research screens may need to support it. If Gen5.1’s direct policy is stronger, signal differences may be acceptable rather than bugs.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AF0C5-3FCA-4EA8-BA74-6C3CE6E8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4A4D5-FBF0-4131-846A-59ED32A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convert the bridge just for fidelity.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B8A6B-DFBA-4B89-8793-41A3915E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First determine whether fidelity improves robustness.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0B608-F916-4F95-98A1-BD7C22A7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1E967-544A-4107-BE83-101B331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Do not keep Gen5.1 direct selection by assumption.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B2685C-28DA-4C4A-AAED-0BF3AECB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Its flexibility may help or overfit depending on state depth.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0B4AD4-8E7A-4063-AC12-D72D08BD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76550"/>
            <a:ext cx="30099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660BA-5130-4DD8-BA50-1AFC38A1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623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Make selection policy a declared factor.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72723-48F9-4033-9276-D6BC6005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767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33333"/>
                </a:solidFill>
              </a:defRPr>
            </a:pPr>
            <a:r>
              <a:rPr sz="1350">
                <a:solidFill>
                  <a:srgbClr val="333333"/>
                </a:solidFill>
              </a:rPr>
              <a:t>Then live and research outputs can be compared honestly.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E3BD57-1EB0-4283-B1D1-EA2AB1C5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A7374F-9E26-49F4-9759-BFD9E4A7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4D880-5B64-4B5F-A34C-241240D4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699186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EB65AE-AF87-4BAB-9633-52C720EE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PAIRED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81CB8-6037-4575-976B-B5068DC6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981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first test should vary only the selection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193DF-651D-4C16-84EF-0EED6FF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Hold the rest of the Gen4-like bridge surface constant so the comparison answers one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8C67B-3FF7-4214-845F-C646C16A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Hold constant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D9C0C-8658-4689-A9D8-7B5E2BA1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4572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AMD,NVDA,PLTR,TSLA,SOFI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RESEARCH_ASSETS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pooled asset-day PCA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5x5 quantile states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daily_default implemented grid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entry-state owns trade until exit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7B3BF-B522-46E6-BEC1-28C3507C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Vary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05D27-08AE-4C7C-BA70-2D46B4A5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9E953-A4F8-4657-9E84-4E2E7CF5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194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D4ED8"/>
                </a:solidFill>
              </a:defRPr>
            </a:pPr>
            <a:r>
              <a:rPr sz="1800" b="1">
                <a:solidFill>
                  <a:srgbClr val="1D4ED8"/>
                </a:solidFill>
              </a:rPr>
              <a:t>asset_state_direct_spec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D11D5-3BDD-4977-83DE-58CC2305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62400"/>
            <a:ext cx="3771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9F84E8-8CC0-48D3-80B4-C1C657CA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71950"/>
            <a:ext cx="331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B7F5A"/>
                </a:solidFill>
              </a:defRPr>
            </a:pPr>
            <a:r>
              <a:rPr sz="1800" b="1">
                <a:solidFill>
                  <a:srgbClr val="1B7F5A"/>
                </a:solidFill>
              </a:rPr>
              <a:t>pooled_family_asset_variant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980BD8-749C-4EEB-BE3A-42E54525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29200"/>
            <a:ext cx="403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Start with Q2 and Q3 2026, then add adjacent quarters only if the first readout shows a meaningful difference.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12262-42F3-42C6-9F9A-954369F4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C474D0-E8BC-4CBF-B1D5-C1B2560C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A7859-E86D-4912-8567-5B111F80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957766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6222BF-D581-420B-B7EF-77785F4A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DECISION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AC98C-70DE-4E3A-A1A7-D1E52795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output should support a policy decision, not a leaderboard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0D338-3C57-4C84-A921-8ED6DB06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Evidence to inspect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9C205-7254-4C50-9CA4-4EFE87B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4762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Selected-state agreement and disagreement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State coverage and sparse-state forcing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Family stability across quarters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Trade behavior and drawdown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Portfolio accounting as inspection only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87E77-1173-4A05-9519-7353CDB5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Stop before changing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0A039-B3C0-4D49-A029-07369DDD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57450"/>
            <a:ext cx="4095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the live bridge selection policy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accepted default research settings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prior context-universe conclusions</a:t>
            </a:r>
          </a:p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• daily automation confidence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E2111-8C86-45DF-8769-A57E9967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191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FC1AA-6CEB-42FC-8CA4-C00A9BE0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Next step: implement the paired selection-policy wrapper, then decide whether Gen5.1 should preserve direct spec selection or add Gen4-style pooled family selection as a first-class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BAAB7-F834-485F-A669-5D17748A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1BC5A-EF7E-483B-AB61-92E1BC5B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9A3C5-89E5-4112-AE8B-BEDFB2CF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09513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03F0F-017F-4997-9969-111DC3BA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FIRST READOUT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AC302-D81B-46E3-8381-AE5B3E88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000000"/>
                </a:solidFill>
              </a:defRPr>
            </a:pPr>
            <a:r>
              <a:rPr sz="2775" b="1">
                <a:solidFill>
                  <a:srgbClr val="000000"/>
                </a:solidFill>
              </a:rPr>
              <a:t>The policies were closer than the Gen4 file comparison implied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96A97-D674-4DA4-AA95-B2DD52BD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009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Inside the Gen5.1 bridge surface, direct and pooled-family authority maps matched on 321 of 375 asset-state rows across Q1-Q3 2026. Replay still diverged because a few state/spec changes can alter entries, exits, and quarter handoff.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136522-3DFF-411C-B89C-CC240965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87FC7-49D3-4AD1-B6BB-F23EC5AD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6B35"/>
                </a:solidFill>
              </a:defRPr>
            </a:pPr>
            <a:r>
              <a:rPr sz="4050" b="1">
                <a:solidFill>
                  <a:srgbClr val="FF6B35"/>
                </a:solidFill>
              </a:rPr>
              <a:t>85.6%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408C0-8E20-458B-9F78-1B7DE920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386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selected map agreement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A9B70-F535-4F06-B0DE-B388697E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29F78-6DFE-4641-8D90-6EE05BA2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147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B7F5A"/>
                </a:solidFill>
              </a:defRPr>
            </a:pPr>
            <a:r>
              <a:rPr sz="4050" b="1">
                <a:solidFill>
                  <a:srgbClr val="1B7F5A"/>
                </a:solidFill>
              </a:rPr>
              <a:t>AMD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E605E-1C65-49D9-BF88-F7766769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drove much of the Q3 pooled advantage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4BFE0-E5F9-4BBF-A82B-70DA01BC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43250"/>
            <a:ext cx="29146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90377-E934-4AFE-9E18-51D2338C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290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D4ED8"/>
                </a:solidFill>
              </a:defRPr>
            </a:pPr>
            <a:r>
              <a:rPr sz="2625" b="1">
                <a:solidFill>
                  <a:srgbClr val="1D4ED8"/>
                </a:solidFill>
              </a:rPr>
              <a:t>NVDA + TSLA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204E6F-897F-468B-BEFE-B8884D5B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favored direct in both tested windows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C15A4-B417-4EED-BAE1-EDE21BC6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57800"/>
            <a:ext cx="942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Meaning: do not convert the bridge just for fidelity, but do not dismiss the pooled-family hypothesis either.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A0A392-D8CC-4E91-8D5D-0A505F5D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89DD7E-6564-477A-978C-20CF003C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02BEE-9777-4F2E-8593-AF9E8371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232923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CDBA0F-F536-4404-81C8-0675A89E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BROADER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C57E9-BB52-4041-97A2-4526F2C1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next comparison needs two clearly labeled evidence 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9FB56-E954-4E8A-81B5-3D9693A3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9CEB1-8E8D-459C-B772-C10A9F70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4ED8"/>
                </a:solidFill>
              </a:defRPr>
            </a:pPr>
            <a:r>
              <a:rPr sz="2250" b="1">
                <a:solidFill>
                  <a:srgbClr val="1D4ED8"/>
                </a:solidFill>
              </a:rPr>
              <a:t>Screen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67CE9-E38E-4975-9FF3-E8024BA8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Current live basket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386F2-83FF-4FBC-B464-A7CD5224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AMD,NVDA,PLTR,TSLA,SOFI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Gen4 RESEARCH_ASSETS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Best evidence for live bridge policy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History limited by newer symbols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9C245-5FE1-49D8-918A-55A2DE25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953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DC731-E4C1-4C11-AD41-BF8956A2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574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B7F5A"/>
                </a:solidFill>
              </a:defRPr>
            </a:pPr>
            <a:r>
              <a:rPr sz="2250" b="1">
                <a:solidFill>
                  <a:srgbClr val="1B7F5A"/>
                </a:solidFill>
              </a:rPr>
              <a:t>Screen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A7B10-D67B-4439-AFA9-11BA6ECE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Historical substitute basket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6A15A-493E-4A79-A1E3-E496B7C5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5150"/>
            <a:ext cx="4095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AMD,NVDA,TSLA,AAPL,MSTR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Long-history active-plus-risk context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Older-regime robustness evidence</a:t>
            </a:r>
          </a:p>
          <a:p xmlns:a="http://schemas.openxmlformats.org/drawingml/2006/main">
            <a:pPr>
              <a:defRPr sz="1500">
                <a:solidFill>
                  <a:srgbClr val="222222"/>
                </a:solidFill>
              </a:defRPr>
            </a:pPr>
            <a:r>
              <a:rPr sz="1500">
                <a:solidFill>
                  <a:srgbClr val="222222"/>
                </a:solidFill>
              </a:rPr>
              <a:t>• Not a literal live-basket replication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418C6-05AA-40DC-B24D-9519E10F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14950"/>
            <a:ext cx="962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The results should be read side by side, not collapsed into one leaderboard.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4FB96D-64F7-4346-B5C4-F8431025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D3366-2096-4EFB-AE06-78B161E8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C6676-4124-4F65-AFDB-5E69B5B9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042447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14BCCE-FD50-4FCD-B2AD-A521B286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A-LIVE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5654B-B29F-4725-8D16-9CA6145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live-basket lane favors direct selection, with one AMD-heavy exception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5756C-042C-4810-99E6-390A170C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1009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The completed A-live packet spans 2025Q4 through 2026Q3 on AMD,NVDA,PLTR,TSLA,SOFI with the Gen4 RESEARCH_ASSETS context. It is still inspection evidence, not allocation acceptance.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5D5DC-BC57-408C-9107-97C914B9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5C3C-CF42-4278-9EE7-13EDCB14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575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6B35"/>
                </a:solidFill>
              </a:defRPr>
            </a:pPr>
            <a:r>
              <a:rPr sz="3225" b="1">
                <a:solidFill>
                  <a:srgbClr val="FF6B35"/>
                </a:solidFill>
              </a:rPr>
              <a:t>85.92%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EBDD1-820E-4F53-B28F-DD1F0441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000000"/>
                </a:solidFill>
              </a:defRPr>
            </a:pPr>
            <a:r>
              <a:rPr sz="1425">
                <a:solidFill>
                  <a:srgbClr val="000000"/>
                </a:solidFill>
              </a:rPr>
              <a:t>asset-state map agreement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C1511-CDB5-4538-8395-6D2E5D01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9D021-4AA1-441E-AAC3-5FDE1AE8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575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D4ED8"/>
                </a:solidFill>
              </a:defRPr>
            </a:pPr>
            <a:r>
              <a:rPr sz="3225" b="1">
                <a:solidFill>
                  <a:srgbClr val="1D4ED8"/>
                </a:solidFill>
              </a:rPr>
              <a:t>3 of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983BCD-5E9C-40EE-98BF-8AF2298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9052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windows favored direct on mean trace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8903D-7EE8-47D9-B8AA-AA4C782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2381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A6CE4-9C13-410C-B82B-EB9A6F2B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575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D4ED8"/>
                </a:solidFill>
              </a:defRPr>
            </a:pPr>
            <a:r>
              <a:rPr sz="3225" b="1">
                <a:solidFill>
                  <a:srgbClr val="1D4ED8"/>
                </a:solidFill>
              </a:rPr>
              <a:t>4 of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EE449-AF41-4C37-B7C1-9D272771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052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windows favored direct on win rate and Sharpe 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4016C-87FD-4B4F-8EB2-A7659854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067050"/>
            <a:ext cx="1619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0A137A-CA6E-48D5-A183-87B70950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3337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B7F5A"/>
                </a:solidFill>
              </a:defRPr>
            </a:pPr>
            <a:r>
              <a:rPr sz="2700" b="1">
                <a:solidFill>
                  <a:srgbClr val="1B7F5A"/>
                </a:solidFill>
              </a:rPr>
              <a:t>AMD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6397FB-1A4A-4DFE-8FAB-B1CF81A1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052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drove pooled Q3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E9779-6147-4E73-8143-2784B78A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Meaning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3E48BE-B512-4235-B4CF-CD650219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The live-basket screen does not justify switching the bridge default to pooled-family. It does justify keeping pooled-family as a research contender because the AMD/Q3 behavior is too interesting to discard.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C3786-02FE-4285-B3D7-A024E596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96DED0-E99E-41CA-B6A6-AF92ABDF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20C178-83F6-4459-A472-DF2FF6D6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292262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D68107-F777-4CCC-9B53-037372E3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NEXT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21947-7E93-4BBA-8AA5-2C82EBA7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The next decision is whether more history is worth changing the basket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D4F24-EC76-4057-BC67-67F3D665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1009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222222"/>
                </a:solidFill>
              </a:defRPr>
            </a:pPr>
            <a:r>
              <a:rPr sz="1725">
                <a:solidFill>
                  <a:srgbClr val="222222"/>
                </a:solidFill>
              </a:rPr>
              <a:t>B_hist would swap SOFI and PLTR for AAPL and MSTR to reach older regimes. That is useful robustness evidence, but it is no longer a literal live-basket test.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ED100-C8D2-40ED-8D33-50015FCF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Reason to run B_hist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5C60C-F385-446E-BD76-31F2D3D9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4762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Test whether pooled-family behaves better in older market regimes.</a:t>
            </a:r>
          </a:p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Decide whether selection policy belongs in future factorial screens.</a:t>
            </a:r>
          </a:p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Build collaborator-facing evidence beyond the recent live basket.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C8111-9BD0-4F2D-8FF4-A7E3EF03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289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Reason to pause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546A06-ED08-4835-8227-A7567348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24250"/>
            <a:ext cx="4762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A_live already favors keeping direct as the bridge default.</a:t>
            </a:r>
          </a:p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B_hist is compute-heavy and changes the traded basket.</a:t>
            </a:r>
          </a:p>
          <a:p xmlns:a="http://schemas.openxmlformats.org/drawingml/2006/main">
            <a:pPr>
              <a:defRPr sz="1575">
                <a:solidFill>
                  <a:srgbClr val="000000"/>
                </a:solidFill>
              </a:defRPr>
            </a:pPr>
            <a:r>
              <a:rPr sz="1575">
                <a:solidFill>
                  <a:srgbClr val="000000"/>
                </a:solidFill>
              </a:rPr>
              <a:t>• It should not be merged into one winner table with A_live.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E7CED-68D2-4157-939A-7D0870E5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10439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45926B-2632-4405-860C-957C2C78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Recommended posture: keep direct as default, preserve pooled-family as an optional research factor, and run B_hist only if older-regime robustness is the next decision.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84DAC-1421-46BD-8900-A779A6EA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D2C67C-831E-4187-9FC8-C966AE74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6EE1A-B27E-4E7E-8E4C-2E529DFE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85780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E661A8-6E2B-454B-B75E-FAAD5439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AE26B-7FC2-416D-B22A-6AF10C4A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382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The A-live charts show steady direct advantage plus one pooled AMD outlier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16224-95A6-4426-8518-C326A053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22222"/>
                </a:solidFill>
              </a:defRPr>
            </a:pPr>
            <a:r>
              <a:rPr sz="1575">
                <a:solidFill>
                  <a:srgbClr val="222222"/>
                </a:solidFill>
              </a:rPr>
              <a:t>Green cells favor pooled-family; red cells favor direct. The metric dashboard shows direct leading win rate and Sharpe proxy across all four windows.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46d7ef0b40ea"/>
          <a:stretch xmlns:a="http://schemas.openxmlformats.org/drawingml/2006/main"/>
        </p:blipFill>
        <p:spPr>
          <a:xfrm xmlns:a="http://schemas.openxmlformats.org/drawingml/2006/main">
            <a:off x="783648" y="2571750"/>
            <a:ext cx="4909705" cy="3000375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0dc8ecfa14704"/>
          <a:stretch xmlns:a="http://schemas.openxmlformats.org/drawingml/2006/main"/>
        </p:blipFill>
        <p:spPr>
          <a:xfrm xmlns:a="http://schemas.openxmlformats.org/drawingml/2006/main">
            <a:off x="6381750" y="2583656"/>
            <a:ext cx="4762500" cy="297656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6D31D-A435-465F-B75B-889A6EAA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2D585-57E3-485D-A779-B59C228D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55555"/>
                </a:solidFill>
              </a:defRPr>
            </a:pPr>
            <a:r>
              <a:rPr sz="1050">
                <a:solidFill>
                  <a:srgbClr val="555555"/>
                </a:solidFill>
              </a:rPr>
              <a:t>Gen5.1 selection-policy hypothesis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EF93EE-B01D-4357-AD64-ACEC785C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123832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2026-07-02T20:36:21.0570000Z</dcterms:created>
  <dcterms:modified xsi:type="dcterms:W3CDTF">2026-07-02T20:36:21.0570000Z</dcterms:modified>
</coreProperties>
</file>