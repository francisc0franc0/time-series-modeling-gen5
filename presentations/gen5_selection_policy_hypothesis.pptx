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f96f4896324dc1" /><Relationship Type="http://schemas.openxmlformats.org/officeDocument/2006/relationships/extended-properties" Target="/docProps/app.xml" Id="R4bd87cc17564449c" /><Relationship Type="http://schemas.openxmlformats.org/officeDocument/2006/relationships/officeDocument" Target="/ppt/presentation.xml" Id="R02dbfc3ccb0041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8099be868b4085"/>
  </p:sldMasterIdLst>
  <p:notesMasterIdLst>
    <p:notesMasterId xmlns:r="http://schemas.openxmlformats.org/officeDocument/2006/relationships" r:id="R7a33686f1eba4a37"/>
  </p:notesMasterIdLst>
  <p:sldIdLst>
    <p:sldId xmlns:r="http://schemas.openxmlformats.org/officeDocument/2006/relationships" id="256" r:id="Rcf9e02c1b19b4cd5"/>
    <p:sldId xmlns:r="http://schemas.openxmlformats.org/officeDocument/2006/relationships" id="257" r:id="Rffc48206a34c4daf"/>
    <p:sldId xmlns:r="http://schemas.openxmlformats.org/officeDocument/2006/relationships" id="258" r:id="R6ad9b93d8223412c"/>
    <p:sldId xmlns:r="http://schemas.openxmlformats.org/officeDocument/2006/relationships" id="259" r:id="Ra8c78cb0f51f4f83"/>
    <p:sldId xmlns:r="http://schemas.openxmlformats.org/officeDocument/2006/relationships" id="260" r:id="Rb4bab109af3d49cb"/>
    <p:sldId xmlns:r="http://schemas.openxmlformats.org/officeDocument/2006/relationships" id="261" r:id="R4958d3814327407b"/>
    <p:sldId xmlns:r="http://schemas.openxmlformats.org/officeDocument/2006/relationships" id="262" r:id="Rd9f43f4cdf924bb4"/>
    <p:sldId xmlns:r="http://schemas.openxmlformats.org/officeDocument/2006/relationships" id="263" r:id="R2dec1063b60944b8"/>
    <p:sldId xmlns:r="http://schemas.openxmlformats.org/officeDocument/2006/relationships" id="264" r:id="R27b2c2ee826f4dc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b637086da74647" /><Relationship Type="http://schemas.openxmlformats.org/officeDocument/2006/relationships/slideMaster" Target="/ppt/slideMasters/slideMaster1.xml" Id="R988099be868b4085" /><Relationship Type="http://schemas.openxmlformats.org/officeDocument/2006/relationships/notesMaster" Target="/ppt/notesMasters/notesMaster1.xml" Id="R7a33686f1eba4a37" /><Relationship Type="http://schemas.openxmlformats.org/officeDocument/2006/relationships/presProps" Target="/ppt/presProps.xml" Id="R9bac322a36354d7a" /><Relationship Type="http://schemas.openxmlformats.org/officeDocument/2006/relationships/tableStyles" Target="/ppt/tableStyles.xml" Id="Rb4349f49f9454e6b" /><Relationship Type="http://schemas.openxmlformats.org/officeDocument/2006/relationships/slide" Target="/ppt/slides/slide1.xml" Id="Rcf9e02c1b19b4cd5" /><Relationship Type="http://schemas.openxmlformats.org/officeDocument/2006/relationships/slide" Target="/ppt/slides/slide2.xml" Id="Rffc48206a34c4daf" /><Relationship Type="http://schemas.openxmlformats.org/officeDocument/2006/relationships/slide" Target="/ppt/slides/slide3.xml" Id="R6ad9b93d8223412c" /><Relationship Type="http://schemas.openxmlformats.org/officeDocument/2006/relationships/slide" Target="/ppt/slides/slide4.xml" Id="Ra8c78cb0f51f4f83" /><Relationship Type="http://schemas.openxmlformats.org/officeDocument/2006/relationships/slide" Target="/ppt/slides/slide5.xml" Id="Rb4bab109af3d49cb" /><Relationship Type="http://schemas.openxmlformats.org/officeDocument/2006/relationships/slide" Target="/ppt/slides/slide6.xml" Id="R4958d3814327407b" /><Relationship Type="http://schemas.openxmlformats.org/officeDocument/2006/relationships/slide" Target="/ppt/slides/slide7.xml" Id="Rd9f43f4cdf924bb4" /><Relationship Type="http://schemas.openxmlformats.org/officeDocument/2006/relationships/slide" Target="/ppt/slides/slide8.xml" Id="R2dec1063b60944b8" /><Relationship Type="http://schemas.openxmlformats.org/officeDocument/2006/relationships/slide" Target="/ppt/slides/slide9.xml" Id="R27b2c2ee826f4d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483cfff02e428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a5d674cda043c7" /><Relationship Type="http://schemas.openxmlformats.org/officeDocument/2006/relationships/notesMaster" Target="/ppt/notesMasters/notesMaster1.xml" Id="R5334faa5300e43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0aebe7a62944d6" /><Relationship Type="http://schemas.openxmlformats.org/officeDocument/2006/relationships/notesMaster" Target="/ppt/notesMasters/notesMaster1.xml" Id="Rb84228acb879477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81edcfa6b3407e" /><Relationship Type="http://schemas.openxmlformats.org/officeDocument/2006/relationships/notesMaster" Target="/ppt/notesMasters/notesMaster1.xml" Id="Ra2198750ac1642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1cfe40e61c4638" /><Relationship Type="http://schemas.openxmlformats.org/officeDocument/2006/relationships/notesMaster" Target="/ppt/notesMasters/notesMaster1.xml" Id="Rb64e76e815fc4c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9dcf16673c4603" /><Relationship Type="http://schemas.openxmlformats.org/officeDocument/2006/relationships/notesMaster" Target="/ppt/notesMasters/notesMaster1.xml" Id="R14ccde6b8dfe4e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105becbd5e46dc" /><Relationship Type="http://schemas.openxmlformats.org/officeDocument/2006/relationships/notesMaster" Target="/ppt/notesMasters/notesMaster1.xml" Id="R8289efc146644fa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a08b758503f4fa5" /><Relationship Type="http://schemas.openxmlformats.org/officeDocument/2006/relationships/notesMaster" Target="/ppt/notesMasters/notesMaster1.xml" Id="R5a60a44fd0e346c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5c32a07a294737" /><Relationship Type="http://schemas.openxmlformats.org/officeDocument/2006/relationships/notesMaster" Target="/ppt/notesMasters/notesMaster1.xml" Id="R15bfeac475d045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e827d11a46d4626" /><Relationship Type="http://schemas.openxmlformats.org/officeDocument/2006/relationships/notesMaster" Target="/ppt/notesMasters/notesMaster1.xml" Id="R54fe2b84671f45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c8967bd76747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052a1114a54415" /><Relationship Type="http://schemas.openxmlformats.org/officeDocument/2006/relationships/slideLayout" Target="/ppt/slideLayouts/slideLayout1.xml" Id="Rad83d4d8b19c469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83d4d8b19c469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6c2f6ad1a74930" /><Relationship Type="http://schemas.openxmlformats.org/officeDocument/2006/relationships/notesSlide" Target="/ppt/notesSlides/notesSlide1.xml" Id="Rebdee51855a8442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9c46ce9a34102" /><Relationship Type="http://schemas.openxmlformats.org/officeDocument/2006/relationships/notesSlide" Target="/ppt/notesSlides/notesSlide2.xml" Id="R1894949ca56c43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a9d4635fdf4b77" /><Relationship Type="http://schemas.openxmlformats.org/officeDocument/2006/relationships/notesSlide" Target="/ppt/notesSlides/notesSlide3.xml" Id="Rdfbe4d979e3444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6b4637fdd4faa" /><Relationship Type="http://schemas.openxmlformats.org/officeDocument/2006/relationships/notesSlide" Target="/ppt/notesSlides/notesSlide4.xml" Id="R2728164c928e4b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66bea1c1424f41" /><Relationship Type="http://schemas.openxmlformats.org/officeDocument/2006/relationships/notesSlide" Target="/ppt/notesSlides/notesSlide5.xml" Id="Rd6b7377e734b48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f59c2c72fb4cf9" /><Relationship Type="http://schemas.openxmlformats.org/officeDocument/2006/relationships/notesSlide" Target="/ppt/notesSlides/notesSlide6.xml" Id="R0c4e7e5ae11a455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7fdb8a178440d9" /><Relationship Type="http://schemas.openxmlformats.org/officeDocument/2006/relationships/notesSlide" Target="/ppt/notesSlides/notesSlide7.xml" Id="Rc50da1b44f9d4e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08807e526240f2" /><Relationship Type="http://schemas.openxmlformats.org/officeDocument/2006/relationships/notesSlide" Target="/ppt/notesSlides/notesSlide8.xml" Id="R2a5c96cd62674ae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86929340b1416c" /><Relationship Type="http://schemas.openxmlformats.org/officeDocument/2006/relationships/notesSlide" Target="/ppt/notesSlides/notesSlide9.xml" Id="R3b06f74a47ec49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D968A0-6AD4-4EF7-A5AB-CAADBA15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METHODOLOGY FORK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B07537-C4A6-4912-8A11-C409D02E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9334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000000"/>
                </a:solidFill>
              </a:defRPr>
            </a:pPr>
            <a:r>
              <a:rPr sz="4200" b="1">
                <a:solidFill>
                  <a:srgbClr val="000000"/>
                </a:solidFill>
              </a:rPr>
              <a:t>Selection policy may be the hidden difference between Gen4 and Gen5.1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67BE2-D2AA-4EEF-A9EC-B089BE0E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704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22222"/>
                </a:solidFill>
              </a:defRPr>
            </a:pPr>
            <a:r>
              <a:rPr sz="1875">
                <a:solidFill>
                  <a:srgbClr val="222222"/>
                </a:solidFill>
              </a:rPr>
              <a:t>The next screen should isolate how state-level winners are chosen before we change the live bridge or rerun broader research.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E75046-3366-4B33-B3C9-6CF9432A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066800"/>
            <a:ext cx="27241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337A9D-7977-4DE1-ACD5-70CF9C2F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2095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Same data.</a:t>
            </a:r>
          </a:p>
          <a:p xmlns:a="http://schemas.openxmlformats.org/drawingml/2006/main">
            <a:pPr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Same PCA.</a:t>
            </a:r>
          </a:p>
          <a:p xmlns:a="http://schemas.openxmlformats.org/drawingml/2006/main">
            <a:pPr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Same grid.</a:t>
            </a:r>
          </a:p>
          <a:p xmlns:a="http://schemas.openxmlformats.org/drawingml/2006/main">
            <a:pPr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Different winner selection.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D4CB3D-9040-45E3-9789-88902C91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419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</a:defRPr>
            </a:pPr>
            <a:r>
              <a:rPr sz="1350">
                <a:solidFill>
                  <a:srgbClr val="555555"/>
                </a:solidFill>
              </a:rPr>
              <a:t>July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021E50-BC66-430F-BB46-CDD82DED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0C856-E047-41C2-82AC-2E5877F9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315038-AA17-4A94-B5C3-2B8E01E3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616267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FD3F25-EDEA-430E-B507-AF9D846D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THE DISCOVERY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201A1B-F7FA-4A3A-B163-9A7EAF8CA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Matching the visible settings did not recreate Gen4 authority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FE9D94-B4FF-4460-B0EE-58226877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971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22222"/>
                </a:solidFill>
              </a:defRPr>
            </a:pPr>
            <a:r>
              <a:rPr sz="1650">
                <a:solidFill>
                  <a:srgbClr val="222222"/>
                </a:solidFill>
              </a:rPr>
              <a:t>The temporary bridge matched the Gen4-like basket, context universe, PCA mode, 5x5 state grid, and daily_default strategy grid. The selected state maps still diverged sharply.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89426-8359-4812-91A4-B7F4BC89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048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FBC063-3E50-4585-B050-54BB11F5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104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FF6B35"/>
                </a:solidFill>
              </a:defRPr>
            </a:pPr>
            <a:r>
              <a:rPr sz="4650" b="1">
                <a:solidFill>
                  <a:srgbClr val="FF6B35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18C969-5EF3-405F-AABC-07BE585F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exact model matches across five symbols and 25 states each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404F3A-FB48-422E-8F3C-AC32741E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86050"/>
            <a:ext cx="3048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31DF4D-350D-448E-853A-DAE9B0B2A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76550"/>
            <a:ext cx="104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FF6B35"/>
                </a:solidFill>
              </a:defRPr>
            </a:pPr>
            <a:r>
              <a:rPr sz="4650" b="1">
                <a:solidFill>
                  <a:srgbClr val="FF6B35"/>
                </a:solidFill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835B5F-BC46-46FF-AF4A-A5CC581D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6385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family matches where parameters still differed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230B61-28E9-42D3-9CFC-CC07118A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86050"/>
            <a:ext cx="3048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1C8AEE-B4A4-4443-8231-53AFDF98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76550"/>
            <a:ext cx="104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FF6B35"/>
                </a:solidFill>
              </a:defRPr>
            </a:pPr>
            <a:r>
              <a:rPr sz="4650" b="1">
                <a:solidFill>
                  <a:srgbClr val="FF6B3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C31F69-AE52-4566-B369-38BD4A72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385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field that explained it: Gen4 selection_mode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7090F9-8CC5-4467-B362-DA065AAD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0101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The difference is not just live replay. It is a winner-selection policy embedded in the research architecture.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B55219-573E-4B8D-AA7E-FF90B1CE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6232F8-E1A3-49A8-B244-66AD8940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5C437C-B086-4511-8DEB-A6C7AF91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818937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0927C1-B591-467E-A7E3-F7A830A4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TWO POLICIES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F29B1B-D043-4517-B7D6-3F8917F0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952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fork is family-first versus full-spec-first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88C95D-0D0E-4BF0-81B0-B77370F9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52197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831067-B7E6-4A89-9C35-5541051E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Gen4 style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F0ED91-F682-4E95-BC4E-9ABE1D8D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B7F5A"/>
                </a:solidFill>
              </a:defRPr>
            </a:pPr>
            <a:r>
              <a:rPr sz="1275" b="1">
                <a:solidFill>
                  <a:srgbClr val="1B7F5A"/>
                </a:solidFill>
              </a:rPr>
              <a:t>pooled_family_asset_variant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4DE1A3-FAD8-4959-8FBD-9D184AB3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90850"/>
            <a:ext cx="46863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0D5BD4-A4DF-4531-B2CC-6AED1DAF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19450"/>
            <a:ext cx="46672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Choose the state’s best family from pooled evidence.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Then choose asset-specific parameters inside that family.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Lower variance, clearer state meaning, possible asset-level constraint.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37285D-E20E-42C2-A31F-52C41C71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33550"/>
            <a:ext cx="52197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943E37-1009-42DD-829A-A96706B8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Gen5.1 style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A3C34F-E7D2-41EA-A9FE-83E53C803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D4ED8"/>
                </a:solidFill>
              </a:defRPr>
            </a:pPr>
            <a:r>
              <a:rPr sz="1275" b="1">
                <a:solidFill>
                  <a:srgbClr val="1D4ED8"/>
                </a:solidFill>
              </a:rPr>
              <a:t>asset_state_direct_spec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88EB04-824C-43A3-B909-31B0775C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990850"/>
            <a:ext cx="46863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DA7F3B-08C9-432B-9C7C-9C1B1399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19450"/>
            <a:ext cx="46672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Choose the full asset/state spec directly.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Family and parameters are selected together.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More asset-specific flexibility, possible sparse-state overfit.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836F7D-55E5-4039-B252-C6A67436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7D8EA-D363-435D-BF3D-9E0630F3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70AE69-4A21-4ED0-B5E8-9EEAFDC6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389364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F83C82-7F89-4520-B91C-1127705E6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WHY IT MATTERS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1B8218-B697-4A9C-87D7-3E99A96D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971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A live-signal mismatch can be a methodology mismatch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9E8159-CEAF-446E-B9D8-70AC9B0A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1009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22222"/>
                </a:solidFill>
              </a:defRPr>
            </a:pPr>
            <a:r>
              <a:rPr sz="1725">
                <a:solidFill>
                  <a:srgbClr val="222222"/>
                </a:solidFill>
              </a:rPr>
              <a:t>If Gen4’s family-first policy is more robust, the bridge and some research screens may need to support it. If Gen5.1’s direct policy is stronger, signal differences may be acceptable rather than bugs.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F8AB9B-8FBB-4B03-8341-915C05AE2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76550"/>
            <a:ext cx="30099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1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8F59B0-31A2-4CFC-AA39-9E717016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623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Do not convert the bridge just for fidelity.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C3DC6E-7853-443B-A4F7-A376BD88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33333"/>
                </a:solidFill>
              </a:defRPr>
            </a:pPr>
            <a:r>
              <a:rPr sz="1350">
                <a:solidFill>
                  <a:srgbClr val="333333"/>
                </a:solidFill>
              </a:rPr>
              <a:t>First determine whether fidelity improves robustness.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DABA3D-182E-43E4-9C9D-0C78AC26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76550"/>
            <a:ext cx="30099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873525-D500-45E2-B335-23DD6495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623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Do not keep Gen5.1 direct selection by assumption.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893C19-35FF-45E4-86AA-1FE3245E7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767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33333"/>
                </a:solidFill>
              </a:defRPr>
            </a:pPr>
            <a:r>
              <a:rPr sz="1350">
                <a:solidFill>
                  <a:srgbClr val="333333"/>
                </a:solidFill>
              </a:rPr>
              <a:t>Its flexibility may help or overfit depending on state depth.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CA221D-22EF-40C0-8528-F26535DF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876550"/>
            <a:ext cx="30099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B6D088-FAF2-464F-9B53-4AABBAA8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623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Make selection policy a declared factor.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502089-2B53-4049-92FC-2AA28F76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767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33333"/>
                </a:solidFill>
              </a:defRPr>
            </a:pPr>
            <a:r>
              <a:rPr sz="1350">
                <a:solidFill>
                  <a:srgbClr val="333333"/>
                </a:solidFill>
              </a:rPr>
              <a:t>Then live and research outputs can be compared honestly.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0D4293-975B-4AA2-8B51-E57AF7916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D0C934-4448-45A4-BFD4-3F0D5F29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B1F151-A73A-4506-8E67-3C3F82E6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218508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62D62A-DBEF-493A-94A3-A330DCAD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PAIRED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5EDC3A-2426-4B2B-9200-F39C8877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981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first test should vary only the selection policy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8EE7E0-D142-4A54-82DC-C9066748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22222"/>
                </a:solidFill>
              </a:defRPr>
            </a:pPr>
            <a:r>
              <a:rPr sz="1725">
                <a:solidFill>
                  <a:srgbClr val="222222"/>
                </a:solidFill>
              </a:rPr>
              <a:t>Hold the rest of the Gen4-like bridge surface constant so the comparison answers one question.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616F95-5C6F-423F-B31F-E50739F0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Hold constant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42DEC8-E3A0-410C-A374-DF1561BD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4572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AMD,NVDA,PLTR,TSLA,SOFI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Gen4 RESEARCH_ASSETS context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pooled asset-day PCA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5x5 quantile states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Gen4 daily_default implemented grid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entry-state owns trade until exit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7B5D93-F789-4C05-A3E7-36AB9E39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95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Vary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8E2344-75FD-4366-A46B-A04AF250B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09900"/>
            <a:ext cx="377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333B13-B1BF-4733-8391-B9D2C32B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19450"/>
            <a:ext cx="331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D4ED8"/>
                </a:solidFill>
              </a:defRPr>
            </a:pPr>
            <a:r>
              <a:rPr sz="1800" b="1">
                <a:solidFill>
                  <a:srgbClr val="1D4ED8"/>
                </a:solidFill>
              </a:rPr>
              <a:t>asset_state_direct_spec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0FD037-CFB4-4293-85BC-C171E37F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62400"/>
            <a:ext cx="377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D846FC-0DAA-4972-A5E3-F4281DD4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71950"/>
            <a:ext cx="331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7F5A"/>
                </a:solidFill>
              </a:defRPr>
            </a:pPr>
            <a:r>
              <a:rPr sz="1800" b="1">
                <a:solidFill>
                  <a:srgbClr val="1B7F5A"/>
                </a:solidFill>
              </a:rPr>
              <a:t>pooled_family_asset_variant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5AE3C1-E16E-4EDB-8B6A-48B8B5D0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29200"/>
            <a:ext cx="4038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Start with Q2 and Q3 2026, then add adjacent quarters only if the first readout shows a meaningful difference.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AAA5A5-ECB7-476E-8297-9185C455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1AA4DA-5151-45D5-A123-DE2A3ACE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D1DB93-E37C-400A-9D51-3A3AF896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457713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2BA0AA-17FA-4180-948B-799131C9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DECISION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D3ACF8-C055-404B-9617-32A8F512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1009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output should support a policy decision, not a leaderboard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F93CEF-F897-4BC5-9429-B3F95A2F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Evidence to inspect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914DC-A7ED-4363-A285-494665F6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4762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Selected-state agreement and disagreement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State coverage and sparse-state forcing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Family stability across quarters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Trade behavior and drawdown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Portfolio accounting as inspection only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23C3F-6015-4A8F-9612-054C49CA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24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Stop before changing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91AB23-8191-498D-B867-1B3FD2DE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57450"/>
            <a:ext cx="40957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the live bridge selection policy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accepted default research settings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prior context-universe conclusions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daily automation confidence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1825F4-4E46-4EB0-8433-FE11B183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1019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1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91B3D6-F0F6-4F11-B721-B966EAB4E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Next step: implement the paired selection-policy wrapper, then decide whether Gen5.1 should preserve direct spec selection or add Gen4-style pooled family selection as a first-class policy.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971B65-C730-4A8A-871D-051C4D9A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8FF417-6871-4C9F-8AFE-06AAAE4D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66AD29-13F9-4890-B8D9-4205D7AE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65363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ABF19A-EA04-4346-959D-1026C332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FIRST READOUT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3A1BD-0DE8-4722-95B7-185BB1D2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1009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000000"/>
                </a:solidFill>
              </a:defRPr>
            </a:pPr>
            <a:r>
              <a:rPr sz="2775" b="1">
                <a:solidFill>
                  <a:srgbClr val="000000"/>
                </a:solidFill>
              </a:rPr>
              <a:t>The policies were closer than the Gen4 file comparison implied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F3946F-AEE1-433C-A108-42EB8AF7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1009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22222"/>
                </a:solidFill>
              </a:defRPr>
            </a:pPr>
            <a:r>
              <a:rPr sz="1725">
                <a:solidFill>
                  <a:srgbClr val="222222"/>
                </a:solidFill>
              </a:rPr>
              <a:t>Inside the Gen5.1 bridge surface, direct and pooled-family authority maps matched on 321 of 375 asset-state rows across Q1-Q3 2026. Replay still diverged because a few state/spec changes can alter entries, exits, and quarter handoff.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AEF431-ABD4-4ACD-9856-9D30D6CB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29146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738A00-FB5F-4E01-9CBE-DF3AB803F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14700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6B35"/>
                </a:solidFill>
              </a:defRPr>
            </a:pPr>
            <a:r>
              <a:rPr sz="4050" b="1">
                <a:solidFill>
                  <a:srgbClr val="FF6B35"/>
                </a:solidFill>
              </a:rPr>
              <a:t>85.6%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7DEE04-C0F7-4896-BEC8-6E88C1C1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386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</a:defRPr>
            </a:pPr>
            <a:r>
              <a:rPr sz="1575">
                <a:solidFill>
                  <a:srgbClr val="000000"/>
                </a:solidFill>
              </a:rPr>
              <a:t>selected map agreement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2E83C6-7AF7-4EB3-A4C9-8643D1E42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43250"/>
            <a:ext cx="29146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985248-7146-4E82-B3B8-8A35F89A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314700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B7F5A"/>
                </a:solidFill>
              </a:defRPr>
            </a:pPr>
            <a:r>
              <a:rPr sz="4050" b="1">
                <a:solidFill>
                  <a:srgbClr val="1B7F5A"/>
                </a:solidFill>
              </a:rPr>
              <a:t>AMD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C28C80-3AE5-48A0-AF64-B6A57BED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386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drove much of the Q3 pooled advantage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BCBC0A-CAED-427B-8866-3543903F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143250"/>
            <a:ext cx="29146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2B5F23-D03A-446F-9832-E8091A51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290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D4ED8"/>
                </a:solidFill>
              </a:defRPr>
            </a:pPr>
            <a:r>
              <a:rPr sz="2625" b="1">
                <a:solidFill>
                  <a:srgbClr val="1D4ED8"/>
                </a:solidFill>
              </a:rPr>
              <a:t>NVDA + TSLA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BE7706-A6E5-4D3B-A140-5C3E284DC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386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favored direct in both tested windows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CF3A14-8635-439C-B506-FB68EFD7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57800"/>
            <a:ext cx="942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Meaning: do not convert the bridge just for fidelity, but do not dismiss the pooled-family hypothesis either.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B8EA2C-F4DF-4498-9B3D-41954DB1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23D250-351B-47DB-9585-550B5D01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75204C-74BB-4FBA-9BC9-D00B480C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969398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FE3749-2F47-4D0A-9AA8-A893BE46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BROADER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C862D9-F3A4-4F54-9D48-5EF37417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1009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next comparison needs two clearly labeled evidence lanes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A81E7-9CFD-4BC5-A43A-28CB43F6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953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0F40C9-2887-4D11-88CA-AFC87704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574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D4ED8"/>
                </a:solidFill>
              </a:defRPr>
            </a:pPr>
            <a:r>
              <a:rPr sz="2250" b="1">
                <a:solidFill>
                  <a:srgbClr val="1D4ED8"/>
                </a:solidFill>
              </a:rPr>
              <a:t>Screen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03A53-46CC-4973-AACF-FECB0CED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52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Current live basket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D63E0-1ADB-49A4-A0D7-633309D7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4095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AMD,NVDA,PLTR,TSLA,SOFI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Gen4 RESEARCH_ASSETS context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Best evidence for live bridge policy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History limited by newer symbols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AD40C1-B0DE-4EE3-8161-6E1EFEBB9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809750"/>
            <a:ext cx="4953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AB2769-31D8-406C-9873-37A4559A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574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B7F5A"/>
                </a:solidFill>
              </a:defRPr>
            </a:pPr>
            <a:r>
              <a:rPr sz="2250" b="1">
                <a:solidFill>
                  <a:srgbClr val="1B7F5A"/>
                </a:solidFill>
              </a:rPr>
              <a:t>Screen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81E073-EB4A-47E4-AEE2-76EC9DE6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552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Historical substitute basket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25DD9D-91B0-4028-8E78-325A06E3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05150"/>
            <a:ext cx="4095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AMD,NVDA,TSLA,AAPL,MSTR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Long-history active-plus-risk context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Older-regime robustness evidence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Not a literal live-basket replication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BA71CF-6DA0-42E1-893E-D5E1D1B5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14950"/>
            <a:ext cx="962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The results should be read side by side, not collapsed into one leaderboard.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21B79-1C0B-445B-BCB9-9A604CEA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D70820-2B3E-4DD8-924A-41F6B1B5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83B31A-B5AD-4DF4-A7E0-AC01A0E2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230741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00820A-1614-4766-8CC6-BA3BFE5E8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PRACTICAL LIMIT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7CD28D-E846-4335-9DE0-2ACFFC97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1009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broader run needs resumable authority builds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C129BC-8708-4A02-A8A0-3E7C74C4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1009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22222"/>
                </a:solidFill>
              </a:defRPr>
            </a:pPr>
            <a:r>
              <a:rPr sz="1725">
                <a:solidFill>
                  <a:srgbClr val="222222"/>
                </a:solidFill>
              </a:rPr>
              <a:t>A new five-symbol Gen4-like authority evaluates 172 candidate specs per asset before state routing. The first new A-live authority stayed compute-bound in an interactive run, so the wrapper now records the right job shape but the evidence packet is not complete yet.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35C104-0448-4CA6-A058-26E35FD7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61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Run order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9E15FB-B780-452A-9C2C-57C445E6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1400"/>
            <a:ext cx="4953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Run A_live as a standalone resumable job.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Inspect its report and visuals before starting B_hist.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Add per-symbol checkpoints if authority fitting remains too slow.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7B00B-AC76-44F0-B86E-FF965B19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86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Decision boundary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D9DB6-6AD5-44B4-B82B-62B0825F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81400"/>
            <a:ext cx="4381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No live bridge policy change yet.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No merged Screen A plus B winner table.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No performance acceptance from these inspection packets.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021D46-C856-4037-B840-F5DF8870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57800"/>
            <a:ext cx="10439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1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7418A-7FF6-46A8-83FD-FE438308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10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The right next step is operational, not methodological: finish the authority packets without changing the experiment.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23479D-0C05-44AA-A2E8-AE9DDD07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DF41CD-97DB-41A6-BBC9-093F9128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AD91E0-4D8A-4BE5-8949-A5877954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513319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2026-07-02T18:49:53.8200000Z</dcterms:created>
  <dcterms:modified xsi:type="dcterms:W3CDTF">2026-07-02T18:49:53.8200000Z</dcterms:modified>
</coreProperties>
</file>