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56a8980f1641b2" /><Relationship Type="http://schemas.openxmlformats.org/officeDocument/2006/relationships/extended-properties" Target="/docProps/app.xml" Id="R0dae41bc2e79446a" /><Relationship Type="http://schemas.openxmlformats.org/officeDocument/2006/relationships/officeDocument" Target="/ppt/presentation.xml" Id="Re533db7eb1ab46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2945f4fc4d43da"/>
  </p:sldMasterIdLst>
  <p:notesMasterIdLst>
    <p:notesMasterId xmlns:r="http://schemas.openxmlformats.org/officeDocument/2006/relationships" r:id="R54f1a9438538469d"/>
  </p:notesMasterIdLst>
  <p:sldIdLst>
    <p:sldId xmlns:r="http://schemas.openxmlformats.org/officeDocument/2006/relationships" id="256" r:id="R79793780a951463f"/>
    <p:sldId xmlns:r="http://schemas.openxmlformats.org/officeDocument/2006/relationships" id="257" r:id="R20165b04113946e8"/>
    <p:sldId xmlns:r="http://schemas.openxmlformats.org/officeDocument/2006/relationships" id="258" r:id="R0b8fccafd0cc42f9"/>
    <p:sldId xmlns:r="http://schemas.openxmlformats.org/officeDocument/2006/relationships" id="259" r:id="R8b91c137f3a54028"/>
    <p:sldId xmlns:r="http://schemas.openxmlformats.org/officeDocument/2006/relationships" id="260" r:id="R06a852925ac74f70"/>
    <p:sldId xmlns:r="http://schemas.openxmlformats.org/officeDocument/2006/relationships" id="261" r:id="Rce3db8144b9a4bf4"/>
    <p:sldId xmlns:r="http://schemas.openxmlformats.org/officeDocument/2006/relationships" id="262" r:id="Re232de574a4e4a5a"/>
    <p:sldId xmlns:r="http://schemas.openxmlformats.org/officeDocument/2006/relationships" id="263" r:id="R94992d0140bc44a3"/>
    <p:sldId xmlns:r="http://schemas.openxmlformats.org/officeDocument/2006/relationships" id="264" r:id="R56f03ea35fa34cac"/>
    <p:sldId xmlns:r="http://schemas.openxmlformats.org/officeDocument/2006/relationships" id="265" r:id="Rd2d0bab51c8e4dfa"/>
    <p:sldId xmlns:r="http://schemas.openxmlformats.org/officeDocument/2006/relationships" id="266" r:id="Rc1157f6a11d04ea3"/>
    <p:sldId xmlns:r="http://schemas.openxmlformats.org/officeDocument/2006/relationships" id="267" r:id="Rd07469e991164c4f"/>
    <p:sldId xmlns:r="http://schemas.openxmlformats.org/officeDocument/2006/relationships" id="268" r:id="Rb349292a46e041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9cff34f22a4547" /><Relationship Type="http://schemas.openxmlformats.org/officeDocument/2006/relationships/slideMaster" Target="/ppt/slideMasters/slideMaster1.xml" Id="R242945f4fc4d43da" /><Relationship Type="http://schemas.openxmlformats.org/officeDocument/2006/relationships/notesMaster" Target="/ppt/notesMasters/notesMaster1.xml" Id="R54f1a9438538469d" /><Relationship Type="http://schemas.openxmlformats.org/officeDocument/2006/relationships/presProps" Target="/ppt/presProps.xml" Id="Rf6a7cfd9bf5d40de" /><Relationship Type="http://schemas.openxmlformats.org/officeDocument/2006/relationships/tableStyles" Target="/ppt/tableStyles.xml" Id="R5315bf927cc443f1" /><Relationship Type="http://schemas.openxmlformats.org/officeDocument/2006/relationships/slide" Target="/ppt/slides/slide1.xml" Id="R79793780a951463f" /><Relationship Type="http://schemas.openxmlformats.org/officeDocument/2006/relationships/slide" Target="/ppt/slides/slide2.xml" Id="R20165b04113946e8" /><Relationship Type="http://schemas.openxmlformats.org/officeDocument/2006/relationships/slide" Target="/ppt/slides/slide3.xml" Id="R0b8fccafd0cc42f9" /><Relationship Type="http://schemas.openxmlformats.org/officeDocument/2006/relationships/slide" Target="/ppt/slides/slide4.xml" Id="R8b91c137f3a54028" /><Relationship Type="http://schemas.openxmlformats.org/officeDocument/2006/relationships/slide" Target="/ppt/slides/slide5.xml" Id="R06a852925ac74f70" /><Relationship Type="http://schemas.openxmlformats.org/officeDocument/2006/relationships/slide" Target="/ppt/slides/slide6.xml" Id="Rce3db8144b9a4bf4" /><Relationship Type="http://schemas.openxmlformats.org/officeDocument/2006/relationships/slide" Target="/ppt/slides/slide7.xml" Id="Re232de574a4e4a5a" /><Relationship Type="http://schemas.openxmlformats.org/officeDocument/2006/relationships/slide" Target="/ppt/slides/slide8.xml" Id="R94992d0140bc44a3" /><Relationship Type="http://schemas.openxmlformats.org/officeDocument/2006/relationships/slide" Target="/ppt/slides/slide9.xml" Id="R56f03ea35fa34cac" /><Relationship Type="http://schemas.openxmlformats.org/officeDocument/2006/relationships/slide" Target="/ppt/slides/slide10.xml" Id="Rd2d0bab51c8e4dfa" /><Relationship Type="http://schemas.openxmlformats.org/officeDocument/2006/relationships/slide" Target="/ppt/slides/slide11.xml" Id="Rc1157f6a11d04ea3" /><Relationship Type="http://schemas.openxmlformats.org/officeDocument/2006/relationships/slide" Target="/ppt/slides/slide12.xml" Id="Rd07469e991164c4f" /><Relationship Type="http://schemas.openxmlformats.org/officeDocument/2006/relationships/slide" Target="/ppt/slides/slide13.xml" Id="Rb349292a46e041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b6ca7fb37142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6e8d1ceb8c4619" /><Relationship Type="http://schemas.openxmlformats.org/officeDocument/2006/relationships/notesMaster" Target="/ppt/notesMasters/notesMaster1.xml" Id="R9c14406d90ce46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083480fb59443f" /><Relationship Type="http://schemas.openxmlformats.org/officeDocument/2006/relationships/notesMaster" Target="/ppt/notesMasters/notesMaster1.xml" Id="Re0db9ab3b7ec4a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f0d5a765094bfe" /><Relationship Type="http://schemas.openxmlformats.org/officeDocument/2006/relationships/notesMaster" Target="/ppt/notesMasters/notesMaster1.xml" Id="R70db77a4097748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7be532a708484e" /><Relationship Type="http://schemas.openxmlformats.org/officeDocument/2006/relationships/notesMaster" Target="/ppt/notesMasters/notesMaster1.xml" Id="R043725e8551148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2e705696154604" /><Relationship Type="http://schemas.openxmlformats.org/officeDocument/2006/relationships/notesMaster" Target="/ppt/notesMasters/notesMaster1.xml" Id="Rec66c38e652345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c802e8959e4796" /><Relationship Type="http://schemas.openxmlformats.org/officeDocument/2006/relationships/notesMaster" Target="/ppt/notesMasters/notesMaster1.xml" Id="R27e66a08d27047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438bdcc8ed4580" /><Relationship Type="http://schemas.openxmlformats.org/officeDocument/2006/relationships/notesMaster" Target="/ppt/notesMasters/notesMaster1.xml" Id="R370af6496d5b46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52ffacaafc44f4" /><Relationship Type="http://schemas.openxmlformats.org/officeDocument/2006/relationships/notesMaster" Target="/ppt/notesMasters/notesMaster1.xml" Id="R0b43a16fafd04b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2c2ee3ed214feb" /><Relationship Type="http://schemas.openxmlformats.org/officeDocument/2006/relationships/notesMaster" Target="/ppt/notesMasters/notesMaster1.xml" Id="R73df67f48ff641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7312a550f84853" /><Relationship Type="http://schemas.openxmlformats.org/officeDocument/2006/relationships/notesMaster" Target="/ppt/notesMasters/notesMaster1.xml" Id="R2d21db9ede6d46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a04ef7186c4d5c" /><Relationship Type="http://schemas.openxmlformats.org/officeDocument/2006/relationships/notesMaster" Target="/ppt/notesMasters/notesMaster1.xml" Id="R62e7aca7a90440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9106ffd05b40b1" /><Relationship Type="http://schemas.openxmlformats.org/officeDocument/2006/relationships/notesMaster" Target="/ppt/notesMasters/notesMaster1.xml" Id="Rf1b1e0e5c38040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e74b07fb1b4f96" /><Relationship Type="http://schemas.openxmlformats.org/officeDocument/2006/relationships/notesMaster" Target="/ppt/notesMasters/notesMaster1.xml" Id="Rd29834dfae2d40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62f304ad5d4a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971b6337ff4bef" /><Relationship Type="http://schemas.openxmlformats.org/officeDocument/2006/relationships/slideLayout" Target="/ppt/slideLayouts/slideLayout1.xml" Id="Ra2e0111ea61a42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e0111ea61a42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713766aea4477" /><Relationship Type="http://schemas.openxmlformats.org/officeDocument/2006/relationships/notesSlide" Target="/ppt/notesSlides/notesSlide1.xml" Id="R58ed641877d045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4e9cf74d641e9" /><Relationship Type="http://schemas.openxmlformats.org/officeDocument/2006/relationships/notesSlide" Target="/ppt/notesSlides/notesSlide2.xml" Id="R8828c520959b46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3338a98c744ab" /><Relationship Type="http://schemas.openxmlformats.org/officeDocument/2006/relationships/notesSlide" Target="/ppt/notesSlides/notesSlide3.xml" Id="R25a37186edca4d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fb5c063964fb5" /><Relationship Type="http://schemas.openxmlformats.org/officeDocument/2006/relationships/notesSlide" Target="/ppt/notesSlides/notesSlide4.xml" Id="R3e2fe88f35cd45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c3be139cc407e" /><Relationship Type="http://schemas.openxmlformats.org/officeDocument/2006/relationships/notesSlide" Target="/ppt/notesSlides/notesSlide5.xml" Id="R41419759e30c43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bd32b00a046df" /><Relationship Type="http://schemas.openxmlformats.org/officeDocument/2006/relationships/notesSlide" Target="/ppt/notesSlides/notesSlide6.xml" Id="R216f4db5669644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9b826ae184f9e" /><Relationship Type="http://schemas.openxmlformats.org/officeDocument/2006/relationships/notesSlide" Target="/ppt/notesSlides/notesSlide7.xml" Id="R498ff38067dd44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a87ef637b4ce5" /><Relationship Type="http://schemas.openxmlformats.org/officeDocument/2006/relationships/notesSlide" Target="/ppt/notesSlides/notesSlide8.xml" Id="R89dace72a5ab45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a606a55b54af7" /><Relationship Type="http://schemas.openxmlformats.org/officeDocument/2006/relationships/notesSlide" Target="/ppt/notesSlides/notesSlide9.xml" Id="R47b56e0d889b46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8d476551d4518" /><Relationship Type="http://schemas.openxmlformats.org/officeDocument/2006/relationships/notesSlide" Target="/ppt/notesSlides/notesSlide10.xml" Id="Re75ed7fa4d974d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89fef690b44e6" /><Relationship Type="http://schemas.openxmlformats.org/officeDocument/2006/relationships/notesSlide" Target="/ppt/notesSlides/notesSlide11.xml" Id="Rebdba7f55b674e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4bb291fd34ceb" /><Relationship Type="http://schemas.openxmlformats.org/officeDocument/2006/relationships/image" Target="/ppt/media/image.png" Id="R34faaf38c86747b9" /><Relationship Type="http://schemas.openxmlformats.org/officeDocument/2006/relationships/image" Target="/ppt/media/image2.png" Id="R1fdfad84966045ce" /><Relationship Type="http://schemas.openxmlformats.org/officeDocument/2006/relationships/notesSlide" Target="/ppt/notesSlides/notesSlide12.xml" Id="R080f3fb8c3084e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76ea2ac554625" /><Relationship Type="http://schemas.openxmlformats.org/officeDocument/2006/relationships/image" Target="/ppt/media/image3.png" Id="R111a113f7be24f87" /><Relationship Type="http://schemas.openxmlformats.org/officeDocument/2006/relationships/image" Target="/ppt/media/image4.png" Id="R148a92ae1d8f43aa" /><Relationship Type="http://schemas.openxmlformats.org/officeDocument/2006/relationships/image" Target="/ppt/media/image5.png" Id="Rf88cbe5cf9c84943" /><Relationship Type="http://schemas.openxmlformats.org/officeDocument/2006/relationships/notesSlide" Target="/ppt/notesSlides/notesSlide13.xml" Id="Rbbe7a39d7ace43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16E54E-CBDE-48F2-810C-4E4025DD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METHODOLOGY FORK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9863D-2952-453F-B525-81EA0075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933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0000"/>
                </a:solidFill>
              </a:defRPr>
            </a:pPr>
            <a:r>
              <a:rPr sz="4200" b="1">
                <a:solidFill>
                  <a:srgbClr val="000000"/>
                </a:solidFill>
              </a:rPr>
              <a:t>Selection policy may be the hidden difference between Gen4 and Gen5.1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D8249-E8E8-4A40-9463-46ECA478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704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The next screen should isolate how state-level winners are chosen before we change the live bridge or rerun broader research.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9A316-798B-41D6-B6BA-4D2555A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66800"/>
            <a:ext cx="27241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E8CC4-5197-46EB-B837-82D08F3E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095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Same data.</a:t>
            </a:r>
          </a:p>
          <a:p xmlns:a="http://schemas.openxmlformats.org/drawingml/2006/main">
            <a:pPr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Same PCA.</a:t>
            </a:r>
          </a:p>
          <a:p xmlns:a="http://schemas.openxmlformats.org/drawingml/2006/main">
            <a:pPr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Same grid.</a:t>
            </a:r>
          </a:p>
          <a:p xmlns:a="http://schemas.openxmlformats.org/drawingml/2006/main">
            <a:pPr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Different winner selection.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06C49-A03C-4E68-948F-E510BC02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19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July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06247-55C0-430C-B9AB-D0CCF728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12FBD-5BF9-452C-9A22-5B998F9A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Gen5.1 selection-policy hypothesis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8E612-3AC9-4A45-8E9B-49C07A57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569349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317AE8-E9B9-415C-9C4A-6A73B76E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THE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A30CA-3E2B-49AE-AC8E-7BBD1DFA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Matching the visible settings did not recreate Gen4 authority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57E1A-DC4B-4EF2-900A-E9CC63DB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22222"/>
                </a:solidFill>
              </a:defRPr>
            </a:pPr>
            <a:r>
              <a:rPr sz="1650">
                <a:solidFill>
                  <a:srgbClr val="222222"/>
                </a:solidFill>
              </a:rPr>
              <a:t>The temporary bridge matched the Gen4-like basket, context universe, PCA mode, 5x5 state grid, and daily_default strategy grid. The selected state maps still diverged sharply.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7BA13-6227-4BC4-BAB8-31282D42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04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B2D61-2BFF-42D7-9063-45ECA1AA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04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6B35"/>
                </a:solidFill>
              </a:defRPr>
            </a:pPr>
            <a:r>
              <a:rPr sz="46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B3CC6-46B2-4A10-874B-0F2006B0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exact model matches across five symbols and 25 states each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F3B78-6089-426A-8D25-D2A87E5F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304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EEE5B-744C-49EA-996C-CDCAE190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76550"/>
            <a:ext cx="104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6B35"/>
                </a:solidFill>
              </a:defRPr>
            </a:pPr>
            <a:r>
              <a:rPr sz="46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547DE-9518-4BA7-AFF1-14C6718F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385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family matches where parameters still differed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77604-0A18-42A0-8C30-F8216285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86050"/>
            <a:ext cx="304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8E5EB-799C-4817-BFD8-A51692C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76550"/>
            <a:ext cx="104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6B35"/>
                </a:solidFill>
              </a:defRPr>
            </a:pPr>
            <a:r>
              <a:rPr sz="465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59AFD-701F-4E1F-BEC1-60D65E00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385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field that explained it: Gen4 selection_mode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AF6AD-FA37-4058-8045-97F1F813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101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The difference is not just live replay. It is a winner-selection policy embedded in the research architecture.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54A4A-334B-48B2-ABB4-FF78B55E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2A8918-A379-4658-BAB0-D954DD1B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Gen5.1 selection-policy hypothesis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C3CE9-99C0-48F8-A3E9-4FDC56DC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21668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478811-19F9-470C-9063-90CEB721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TWO POLICIES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4C571-04C2-46A1-9319-187604D3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fork is family-first versus full-spec-first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F27C6-EA01-4F4D-ACE5-A6FFE044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8F028-53A3-43CB-9BE3-E840DC91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Gen4 style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FCD50-4C00-4C55-AFF7-FBF41F64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7F5A"/>
                </a:solidFill>
              </a:defRPr>
            </a:pPr>
            <a:r>
              <a:rPr sz="1275" b="1">
                <a:solidFill>
                  <a:srgbClr val="1B7F5A"/>
                </a:solidFill>
              </a:rPr>
              <a:t>pooled_family_asset_variant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E028E-6BF6-42D6-9C04-583183B4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46863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FE30A-A100-4A4A-81AA-66BC61DB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4667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• Choose the state’s best family from pooled evidence.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• Then choose asset-specific parameters inside that family.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• Lower variance, clearer state meaning, possible asset-level constraint.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4F170-B33D-4254-8F21-2EF9C7C4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B5FF8-04F6-46ED-B923-CF3151B8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Gen5.1 style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F8FBA-A49A-477E-B21D-329A0A9B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955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4ED8"/>
                </a:solidFill>
              </a:defRPr>
            </a:pPr>
            <a:r>
              <a:rPr sz="1275" b="1">
                <a:solidFill>
                  <a:srgbClr val="1D4ED8"/>
                </a:solidFill>
              </a:rPr>
              <a:t>asset_state_direct_spec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D47FC-DD10-4E01-980A-C4F5701A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90850"/>
            <a:ext cx="46863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AE98A-6AEA-4030-8A0A-03DC0B44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19450"/>
            <a:ext cx="4667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• Choose the full asset/state spec directly.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• Family and parameters are selected together.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• More asset-specific flexibility, possible sparse-state overfit.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788E7-83C1-476C-B8B5-7F4D130C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A5DBC-081E-48EE-9D7B-3CFF19E7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Gen5.1 selection-policy hypothesis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9E31A-009A-4547-B78F-D84C6F5F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282895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D1F644-1A95-4F0F-9ED4-02D7A007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WHY IT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EA99C-3256-4B75-9D80-F454AB29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A live-signal mismatch can be a methodology mismatch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5B6D0-23E0-41D7-9CB3-0DE2556D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2222"/>
                </a:solidFill>
              </a:defRPr>
            </a:pPr>
            <a:r>
              <a:rPr sz="1725">
                <a:solidFill>
                  <a:srgbClr val="222222"/>
                </a:solidFill>
              </a:rPr>
              <a:t>If Gen4’s family-first policy is more robust, the bridge and some research screens may need to support it. If Gen5.1’s direct policy is stronger, signal differences may be acceptable rather than bugs.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E8625-6004-4156-B67C-4A68D2D9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30099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E2308-782F-42F8-A2BC-BA183B73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Do not convert the bridge just for fidelity.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86421-3E8F-42B9-988F-E4B45546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First determine whether fidelity improves robustness.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EB06F-F56D-4774-87BB-9646CAE8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30099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0A6C3-2D40-446D-AE37-724621F1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623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Do not keep Gen5.1 direct selection by assumption.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760CE-2E73-4201-AF94-6506C3CA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767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Its flexibility may help or overfit depending on state depth.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D9E04-D409-4A51-90E0-20393F0A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0099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9A485-0021-420F-96C2-814ABAD5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Make selection policy a declared factor.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4B93C-887B-4CA9-822F-4E5FC266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767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Then live and research outputs can be compared honestly.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CEDAE-C8EB-4E1D-B4C4-58734FDB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EFFEF-D34B-44A6-90D8-C800EC09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Gen5.1 selection-policy hypothesis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581C7-663B-4807-BF10-375A7850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329175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88CE35-C315-46C4-BB91-939BE0D1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PAIRED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A63F5-E68F-41F5-A7F3-A8E75502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first test should vary only the selection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71858-0273-4DBB-89C9-132CE125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2222"/>
                </a:solidFill>
              </a:defRPr>
            </a:pPr>
            <a:r>
              <a:rPr sz="1725">
                <a:solidFill>
                  <a:srgbClr val="222222"/>
                </a:solidFill>
              </a:rPr>
              <a:t>Hold the rest of the Gen4-like bridge surface constant so the comparison answers one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71633-04EE-4568-87AA-7E891413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Hold constant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E03AA-E8C4-4597-A012-B422D7F3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• AMD,NVDA,PLTR,TSLA,SOFI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• Gen4 RESEARCH_ASSETS context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• pooled asset-day PCA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• 5x5 quantile states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• Gen4 daily_default implemented grid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• entry-state owns trade until exit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01247-0A36-4DAD-9491-FF6C2F56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95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Vary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09022-7666-4384-9D75-92AEB016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9900"/>
            <a:ext cx="377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2524E-D975-4916-9E23-9283115D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19450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asset_state_direct_spec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953D5-8C6A-4759-98E9-3A9B4088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62400"/>
            <a:ext cx="377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B1D9F-1643-4447-8329-B53FEC16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71950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B7F5A"/>
                </a:solidFill>
              </a:defRPr>
            </a:pPr>
            <a:r>
              <a:rPr sz="1800" b="1">
                <a:solidFill>
                  <a:srgbClr val="1B7F5A"/>
                </a:solidFill>
              </a:rPr>
              <a:t>pooled_family_asset_variant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C801D-5F70-483C-82EC-6AB5B879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29200"/>
            <a:ext cx="4038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Start with Q2 and Q3 2026, then add adjacent quarters only if the first readout shows a meaningful difference.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0112C-A59F-4E24-9D84-C936CFCF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BB7BA-5FEA-473F-843D-35D07A03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Gen5.1 selection-policy hypothesis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23082-4F21-4D9B-8F4B-1C36AE31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63032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61A77D-C60F-4AD3-90FF-95D196DD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DECISION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D82CF-7CE4-429A-B026-F9389F4C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output should support a policy decision, not a leaderboard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4A3E6-F951-4AB0-9A29-8164CB21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Evidence to inspect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10A79-FDD0-4253-887C-37AB8310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• Selected-state agreement and disagreement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• State coverage and sparse-state forcing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• Family stability across quarters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• Trade behavior and drawdown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• Portfolio accounting as inspection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3AB89-F4C0-40DE-BB80-E7A1E2F8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Stop before changing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EBF57-62C4-490A-BBA4-441C1110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4095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• the live bridge selection policy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• accepted default research settings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• prior context-universe conclusions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• daily automation confidence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1D08D-3B5F-4B40-94B8-61310536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019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62963-F092-4BAB-BD22-59836E8E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Next step: implement the paired selection-policy wrapper, then decide whether Gen5.1 should preserve direct spec selection or add Gen4-style pooled family selection as a first-class policy.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8F64D-48BC-4C96-B3AA-66D6F8FD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FA299-80BE-4A03-82B5-A1900DFC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Gen5.1 selection-policy hypothesis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75C9F-08C8-4BDA-9156-ECC6FE51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173207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42DE12-0C0F-4E93-A048-B7AE82EA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FIRST READOUT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F2DB5-8A10-4FF1-B96C-7F071F0C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0000"/>
                </a:solidFill>
              </a:defRPr>
            </a:pPr>
            <a:r>
              <a:rPr sz="2775" b="1">
                <a:solidFill>
                  <a:srgbClr val="000000"/>
                </a:solidFill>
              </a:rPr>
              <a:t>The policies were closer than the Gen4 file comparison implied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8AB1B-51A9-42E2-9FEA-02E811BA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2222"/>
                </a:solidFill>
              </a:defRPr>
            </a:pPr>
            <a:r>
              <a:rPr sz="1725">
                <a:solidFill>
                  <a:srgbClr val="222222"/>
                </a:solidFill>
              </a:rPr>
              <a:t>Inside the Gen5.1 bridge surface, direct and pooled-family authority maps matched on 321 of 375 asset-state rows across Q1-Q3 2026. Replay still diverged because a few state/spec changes can alter entries, exits, and quarter handoff.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B264A-3746-4104-8F8B-618A4798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914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B5830-B41A-4A1B-A442-6F0FF4E6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147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6B35"/>
                </a:solidFill>
              </a:defRPr>
            </a:pPr>
            <a:r>
              <a:rPr sz="4050" b="1">
                <a:solidFill>
                  <a:srgbClr val="FF6B35"/>
                </a:solidFill>
              </a:rPr>
              <a:t>85.6%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12A06-AD27-41E7-A79F-26139A87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38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selected map agreement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5A191-1696-4C48-8E78-D091757B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43250"/>
            <a:ext cx="2914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87AAD-EE6E-40F4-BADA-6184DF88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147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B7F5A"/>
                </a:solidFill>
              </a:defRPr>
            </a:pPr>
            <a:r>
              <a:rPr sz="4050" b="1">
                <a:solidFill>
                  <a:srgbClr val="1B7F5A"/>
                </a:solidFill>
              </a:rPr>
              <a:t>AMD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3C1B3-784D-4783-A87F-A82F3881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386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drove much of the Q3 pooled advantage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A21A0-5123-45AB-942B-025234EF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43250"/>
            <a:ext cx="2914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F8004-BA79-4D27-8DFF-DE3C7A55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4ED8"/>
                </a:solidFill>
              </a:defRPr>
            </a:pPr>
            <a:r>
              <a:rPr sz="2625" b="1">
                <a:solidFill>
                  <a:srgbClr val="1D4ED8"/>
                </a:solidFill>
              </a:rPr>
              <a:t>NVDA + TSLA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CC970-2FBA-4C7D-8C4C-B289859C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386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favored direct in both tested windows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63F98-9B06-4C81-90C7-4F10877F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Meaning: do not convert the bridge just for fidelity, but do not dismiss the pooled-family hypothesis either.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A398C6-1E1C-4693-942B-005783CF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FAC117-D4B5-4B5B-B193-531D2B83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Gen5.1 selection-policy hypothesis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97DD0-B51E-4E46-8201-DAB46DDF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284104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0FC08C-847D-434D-9243-FDA98FC0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BROADER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903B0-40AF-4BFA-9043-9FDAE9CE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next comparison needs two clearly labeled evidence lanes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BD28E-0EB5-4804-AAA7-80051244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435FF-2F95-448A-9540-24E6E7D1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4ED8"/>
                </a:solidFill>
              </a:defRPr>
            </a:pPr>
            <a:r>
              <a:rPr sz="2250" b="1">
                <a:solidFill>
                  <a:srgbClr val="1D4ED8"/>
                </a:solidFill>
              </a:rPr>
              <a:t>Screen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57AB1-6396-4310-AA3C-CE69F410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Current live basket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6092C-A58E-4080-894A-FC646391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• AMD,NVDA,PLTR,TSLA,SOFI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• Gen4 RESEARCH_ASSETS context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• Best evidence for live bridge policy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• History limited by newer symbols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3CD13-72B6-4B52-B228-2DD7CAD4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36704-BBF4-4C55-ADEC-B4798AFB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B7F5A"/>
                </a:solidFill>
              </a:defRPr>
            </a:pPr>
            <a:r>
              <a:rPr sz="2250" b="1">
                <a:solidFill>
                  <a:srgbClr val="1B7F5A"/>
                </a:solidFill>
              </a:rPr>
              <a:t>Screen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763C4-5233-44F7-9D5E-CE1B59DA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Historical substitute basket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D1AA6-5282-4148-8F09-3010E05D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• AMD,NVDA,TSLA,AAPL,MSTR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• Long-history active-plus-risk context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• Older-regime robustness evidence</a:t>
            </a:r>
          </a:p>
          <a:p xmlns:a="http://schemas.openxmlformats.org/drawingml/2006/main">
            <a:pPr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• Not a literal live-basket replication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A7BDF-6B62-4A7E-A3AB-11B64A51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14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The results should be read side by side, not collapsed into one leaderboard.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F5AB1-4F66-419D-BB23-D4758733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529C2-C347-4A57-9B0E-557CE504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Gen5.1 selection-policy hypothesis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4F260-8248-4176-B968-E07C99EB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466315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17D42D-BCBB-49ED-AAE0-07EDDCE9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A-LIVE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024BE-E277-4056-B17E-B4B9EA02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The live-basket lane favors direct selection, with one AMD-heavy exception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EF48E-537C-40CD-83E3-BF22D428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2222"/>
                </a:solidFill>
              </a:defRPr>
            </a:pPr>
            <a:r>
              <a:rPr sz="1725">
                <a:solidFill>
                  <a:srgbClr val="222222"/>
                </a:solidFill>
              </a:rPr>
              <a:t>The completed A-live packet spans 2025Q4 through 2026Q3 on AMD,NVDA,PLTR,TSLA,SOFI with the Gen4 RESEARCH_ASSETS context. It is still inspection evidence, not allocation acceptance.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0178F-9AD2-4198-85E1-39D4FD1D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41DF7-B050-474A-BC9F-2AA30AE4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6B35"/>
                </a:solidFill>
              </a:defRPr>
            </a:pPr>
            <a:r>
              <a:rPr sz="3225" b="1">
                <a:solidFill>
                  <a:srgbClr val="FF6B35"/>
                </a:solidFill>
              </a:rPr>
              <a:t>85.92%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DC3AC-94D6-4C91-945C-FE1C9D52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asset-state map agreement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25CE6-F217-4537-A770-9F26D612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CFF70-5799-40E5-AADA-61D8D714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57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D4ED8"/>
                </a:solidFill>
              </a:defRPr>
            </a:pPr>
            <a:r>
              <a:rPr sz="3225" b="1">
                <a:solidFill>
                  <a:srgbClr val="1D4ED8"/>
                </a:solidFill>
              </a:rPr>
              <a:t>3 of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E8DEB-6B19-41A2-9222-A0507AC7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052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windows favored direct on mean trace return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70510-97D8-4DE8-A4B0-631C761E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670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C8FA1-5A64-48C1-B47B-2CD15996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57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D4ED8"/>
                </a:solidFill>
              </a:defRPr>
            </a:pPr>
            <a:r>
              <a:rPr sz="3225" b="1">
                <a:solidFill>
                  <a:srgbClr val="1D4ED8"/>
                </a:solidFill>
              </a:rPr>
              <a:t>4 of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B47C1-ABB5-4410-92AF-C0FD4D09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052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windows favored direct on win rate and Sharpe proxy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F0DB9-2589-4A8E-81F1-3432F209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67050"/>
            <a:ext cx="1619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D0487-7E41-43C4-B44E-577FBFC9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337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B7F5A"/>
                </a:solidFill>
              </a:defRPr>
            </a:pPr>
            <a:r>
              <a:rPr sz="2700" b="1">
                <a:solidFill>
                  <a:srgbClr val="1B7F5A"/>
                </a:solidFill>
              </a:rPr>
              <a:t>AMD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A8B48-BA50-4CF1-BFC5-B76ADCBE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052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drove pooled Q3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4272A-5337-4344-B6F1-C26A616F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Meaning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DCFB4B-547E-4FB8-9408-0544DE8A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The live-basket screen does not justify switching the bridge default to pooled-family. It does justify keeping pooled-family as a research contender because the AMD/Q3 behavior is too interesting to discard.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889FEE-7B0F-412A-8333-53B011F2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C187E-2FE3-4B5B-AFFA-03487BA4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Gen5.1 selection-policy hypothesis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6720DA-7409-4D15-8B85-95D54868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630672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B17791-ECF5-4F5B-8432-0C086322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B-HIST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7B080-2538-40F8-BA5D-DCE0C2FB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Older substitute history turns the question into a tradeoff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94B8F-A2DF-4A82-ACF3-A455AA3C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2222"/>
                </a:solidFill>
              </a:defRPr>
            </a:pPr>
            <a:r>
              <a:rPr sz="1725">
                <a:solidFill>
                  <a:srgbClr val="222222"/>
                </a:solidFill>
              </a:rPr>
              <a:t>B_hist swapped SOFI and PLTR for AAPL and MSTR to reach 2019, 2020, 2022, and 2025 windows. This is robustness evidence, not a literal live-basket replication.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9AD8C-7B1F-4033-9212-C6B68F3D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2381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C7928-89F1-425E-A858-11E65332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81.84%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51D9E-3DF4-454C-AEBA-2667C95D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exact map agreement across 10 authority quarters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38DF0-8056-4D2B-B2A0-D2715CFE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90850"/>
            <a:ext cx="2381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518ED-FFEF-48A7-A932-FB614624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623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D4ED8"/>
                </a:solidFill>
              </a:defRPr>
            </a:pPr>
            <a:r>
              <a:rPr sz="3150" b="1">
                <a:solidFill>
                  <a:srgbClr val="1D4ED8"/>
                </a:solidFill>
              </a:rPr>
              <a:t>3 of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BDD60-E777-42B3-9D52-5C19A1C3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90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windows favored direct on mean trace return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7609A-1488-4FCC-8F9F-4671F0B2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90850"/>
            <a:ext cx="2381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A6440-2586-4BC5-A1F3-446874CE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7F5A"/>
                </a:solidFill>
              </a:defRPr>
            </a:pPr>
            <a:r>
              <a:rPr sz="3150" b="1">
                <a:solidFill>
                  <a:srgbClr val="1B7F5A"/>
                </a:solidFill>
              </a:rPr>
              <a:t>2 of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75477-DD07-4DFE-B55B-0CBCC308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90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weak windows favored pooled defensiveness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7D8FB-FE21-4885-8F69-821A12ED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90850"/>
            <a:ext cx="1619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E56EB-CC9D-4FA8-8401-D4529E95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575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D4ED8"/>
                </a:solidFill>
              </a:defRPr>
            </a:pPr>
            <a:r>
              <a:rPr sz="2550" b="1">
                <a:solidFill>
                  <a:srgbClr val="1D4ED8"/>
                </a:solidFill>
              </a:rPr>
              <a:t>MSTR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9FBB0-34F2-419C-B286-7530F261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909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  <a:r>
              <a:rPr sz="1275">
                <a:solidFill>
                  <a:srgbClr val="000000"/>
                </a:solidFill>
              </a:rPr>
              <a:t>drove direct 2025Q1 upside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F942D-D15E-4E25-A6D4-53846863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Meaning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2B9EC-F0F3-4B37-94E8-E3F9CE8B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B_hist does not overturn A_live. It says pooled-family is not merely a Gen4 compatibility artifact: it may be a constrained, sometimes defensive research policy worth testing explicitly.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39E5E-5D81-49D4-851F-A63B950D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6B52AB-E7C0-4C7F-8E09-38B9EE37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Gen5.1 selection-policy hypothesis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9FE54E-B6C0-4A90-9DF4-F5393DE4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286782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16CE35-AD04-4304-AEE0-4A415FA9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DECISION POSTURE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FD6FF-8B4F-45E7-9348-30F659A7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Do not crown a winner; declare selection policy as a research factor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41955-CD17-4912-8CCA-45002576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2222"/>
                </a:solidFill>
              </a:defRPr>
            </a:pPr>
            <a:r>
              <a:rPr sz="1725">
                <a:solidFill>
                  <a:srgbClr val="222222"/>
                </a:solidFill>
              </a:rPr>
              <a:t>The two lanes answer different questions. A_live is the bridge-relevance lane; B_hist is the older-regime robustness lane. They should be read side by side, not collapsed into one leaderboard.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8423A-8BA6-4B4E-B0D9-D6A9D0BF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Keep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17461-25DF-4F8D-AFC9-D0870D42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• Direct full-spec selection as the temporary bridge default.</a:t>
            </a:r>
          </a:p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• Pooled-family selection as a first-class research contender.</a:t>
            </a:r>
          </a:p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• A/B lane labels whenever live and substitute evidence are mixed.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E6EDC-A494-4219-9491-DF525D7E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Stop 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B73D5-E319-48AB-9FB1-414BEB23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• Changing live bridge behavior for Gen4 fidelity alone.</a:t>
            </a:r>
          </a:p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• Rerunning major context/state screens under a hidden policy swap.</a:t>
            </a:r>
          </a:p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• Treating these compact proxies as allocation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126AE-F519-4FDE-AAEE-F6D16238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10439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F7095-7ADC-4177-9D0B-38BBB1A2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59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Recommended next slice: compare selection policy only inside a small, declared research grid using the strongest current context/state-map settings.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8D244-DE76-446E-90E7-BD436855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DCC95-4442-4038-AF56-C845C5AB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Gen5.1 selection-policy hypothesis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93285-561B-48DE-8369-1F2D4C5A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63238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3DFF9E-B377-411B-8B2C-0DB0C695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VISUAL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F6A18-E7D9-43B3-A0AD-18751B0D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The A-live charts show steady direct advantage plus one pooled AMD outlier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CB362-C30D-4A27-8390-334611AD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Green cells favor pooled-family; red cells favor direct. The metric dashboard shows direct leading win rate and Sharpe proxy across all four windows.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aaf38c86747b9"/>
          <a:stretch xmlns:a="http://schemas.openxmlformats.org/drawingml/2006/main"/>
        </p:blipFill>
        <p:spPr>
          <a:xfrm xmlns:a="http://schemas.openxmlformats.org/drawingml/2006/main">
            <a:off x="783648" y="2571750"/>
            <a:ext cx="4909705" cy="3000375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fad84966045ce"/>
          <a:stretch xmlns:a="http://schemas.openxmlformats.org/drawingml/2006/main"/>
        </p:blipFill>
        <p:spPr>
          <a:xfrm xmlns:a="http://schemas.openxmlformats.org/drawingml/2006/main">
            <a:off x="6381750" y="2583656"/>
            <a:ext cx="4762500" cy="29765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8930D-1866-4AAE-9F0E-291D4978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68E29-2BD8-4C0F-B35A-D1F84015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Gen5.1 selection-policy hypothesis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ADB71-0292-4146-A8EB-7E9F4082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421258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6E9FE8-EC67-46E5-851A-09CAE215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VISUAL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80222-24E4-4375-A12E-EA70F7E5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The B-hist charts show defensive pooled windows and direct upside windows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47DC1-221F-460B-8E73-F0CB1803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Green cells favor pooled-family; red cells favor direct. The equity overlay makes the path behavior visible across weak and strong historical windows.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a113f7be24f87"/>
          <a:stretch xmlns:a="http://schemas.openxmlformats.org/drawingml/2006/main"/>
        </p:blipFill>
        <p:spPr>
          <a:xfrm xmlns:a="http://schemas.openxmlformats.org/drawingml/2006/main">
            <a:off x="783648" y="2571750"/>
            <a:ext cx="4909705" cy="3000375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a92ae1d8f43aa"/>
          <a:stretch xmlns:a="http://schemas.openxmlformats.org/drawingml/2006/main"/>
        </p:blipFill>
        <p:spPr>
          <a:xfrm xmlns:a="http://schemas.openxmlformats.org/drawingml/2006/main">
            <a:off x="7658100" y="2571750"/>
            <a:ext cx="2209800" cy="138112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cbe5cf9c84943"/>
          <a:stretch xmlns:a="http://schemas.openxmlformats.org/drawingml/2006/main"/>
        </p:blipFill>
        <p:spPr>
          <a:xfrm xmlns:a="http://schemas.openxmlformats.org/drawingml/2006/main">
            <a:off x="7578237" y="4171950"/>
            <a:ext cx="2369527" cy="14001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6A334-05FE-4A39-9A63-FCB9A5C5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81473-A9BA-4334-802B-E75E32E1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Gen5.1 selection-policy hypothesis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95E7A-2E75-4C8C-B9BB-CC3401D1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57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586412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2026-07-03T03:27:28.0800000Z</dcterms:created>
  <dcterms:modified xsi:type="dcterms:W3CDTF">2026-07-03T03:27:28.0800000Z</dcterms:modified>
</coreProperties>
</file>