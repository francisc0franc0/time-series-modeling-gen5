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6971c814e04e02" /><Relationship Type="http://schemas.openxmlformats.org/officeDocument/2006/relationships/extended-properties" Target="/docProps/app.xml" Id="Rabc9588363794e91" /><Relationship Type="http://schemas.openxmlformats.org/officeDocument/2006/relationships/officeDocument" Target="/ppt/presentation.xml" Id="R237dbc525e6b4b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3480349fba4582"/>
  </p:sldMasterIdLst>
  <p:notesMasterIdLst>
    <p:notesMasterId xmlns:r="http://schemas.openxmlformats.org/officeDocument/2006/relationships" r:id="R9d7d831e353541dc"/>
  </p:notesMasterIdLst>
  <p:sldIdLst>
    <p:sldId xmlns:r="http://schemas.openxmlformats.org/officeDocument/2006/relationships" id="256" r:id="R9b3db5eb55494c3b"/>
    <p:sldId xmlns:r="http://schemas.openxmlformats.org/officeDocument/2006/relationships" id="257" r:id="R2114b0014cd046a4"/>
    <p:sldId xmlns:r="http://schemas.openxmlformats.org/officeDocument/2006/relationships" id="258" r:id="R7bcfd2329f9c446e"/>
    <p:sldId xmlns:r="http://schemas.openxmlformats.org/officeDocument/2006/relationships" id="259" r:id="R176ca27e14364813"/>
    <p:sldId xmlns:r="http://schemas.openxmlformats.org/officeDocument/2006/relationships" id="260" r:id="R4bdaa83ea70d4813"/>
    <p:sldId xmlns:r="http://schemas.openxmlformats.org/officeDocument/2006/relationships" id="261" r:id="R95d6a22adceb409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8daf065bdb46c1" /><Relationship Type="http://schemas.openxmlformats.org/officeDocument/2006/relationships/slideMaster" Target="/ppt/slideMasters/slideMaster1.xml" Id="R413480349fba4582" /><Relationship Type="http://schemas.openxmlformats.org/officeDocument/2006/relationships/notesMaster" Target="/ppt/notesMasters/notesMaster1.xml" Id="R9d7d831e353541dc" /><Relationship Type="http://schemas.openxmlformats.org/officeDocument/2006/relationships/presProps" Target="/ppt/presProps.xml" Id="R7d9704d05de94829" /><Relationship Type="http://schemas.openxmlformats.org/officeDocument/2006/relationships/tableStyles" Target="/ppt/tableStyles.xml" Id="Rd86e35d9651241b5" /><Relationship Type="http://schemas.openxmlformats.org/officeDocument/2006/relationships/slide" Target="/ppt/slides/slide1.xml" Id="R9b3db5eb55494c3b" /><Relationship Type="http://schemas.openxmlformats.org/officeDocument/2006/relationships/slide" Target="/ppt/slides/slide2.xml" Id="R2114b0014cd046a4" /><Relationship Type="http://schemas.openxmlformats.org/officeDocument/2006/relationships/slide" Target="/ppt/slides/slide3.xml" Id="R7bcfd2329f9c446e" /><Relationship Type="http://schemas.openxmlformats.org/officeDocument/2006/relationships/slide" Target="/ppt/slides/slide4.xml" Id="R176ca27e14364813" /><Relationship Type="http://schemas.openxmlformats.org/officeDocument/2006/relationships/slide" Target="/ppt/slides/slide5.xml" Id="R4bdaa83ea70d4813" /><Relationship Type="http://schemas.openxmlformats.org/officeDocument/2006/relationships/slide" Target="/ppt/slides/slide6.xml" Id="R95d6a22adceb40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48775bb85446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5a06010b7247c9" /><Relationship Type="http://schemas.openxmlformats.org/officeDocument/2006/relationships/notesMaster" Target="/ppt/notesMasters/notesMaster1.xml" Id="Re98fd0f797014b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45298323384444" /><Relationship Type="http://schemas.openxmlformats.org/officeDocument/2006/relationships/notesMaster" Target="/ppt/notesMasters/notesMaster1.xml" Id="Rcc97d6ff230341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655c454648426e" /><Relationship Type="http://schemas.openxmlformats.org/officeDocument/2006/relationships/notesMaster" Target="/ppt/notesMasters/notesMaster1.xml" Id="R5db7a4bb4b0643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c7ea9349374b00" /><Relationship Type="http://schemas.openxmlformats.org/officeDocument/2006/relationships/notesMaster" Target="/ppt/notesMasters/notesMaster1.xml" Id="R035f9f83a5ed4a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649cf70ec242ff" /><Relationship Type="http://schemas.openxmlformats.org/officeDocument/2006/relationships/notesMaster" Target="/ppt/notesMasters/notesMaster1.xml" Id="R8ac77d8d857c42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4743212f4b45c5" /><Relationship Type="http://schemas.openxmlformats.org/officeDocument/2006/relationships/notesMaster" Target="/ppt/notesMasters/notesMaster1.xml" Id="R15abf9eccecc41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ab1128b0e49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51ff19fb1e4b7c" /><Relationship Type="http://schemas.openxmlformats.org/officeDocument/2006/relationships/slideLayout" Target="/ppt/slideLayouts/slideLayout1.xml" Id="R6c09ffcdf30746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09ffcdf30746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432ca59c14d00" /><Relationship Type="http://schemas.openxmlformats.org/officeDocument/2006/relationships/notesSlide" Target="/ppt/notesSlides/notesSlide1.xml" Id="R408d3de61f0640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b1aa4ae3c4fc1" /><Relationship Type="http://schemas.openxmlformats.org/officeDocument/2006/relationships/notesSlide" Target="/ppt/notesSlides/notesSlide2.xml" Id="R8bdcc901717642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a1aad5f094f67" /><Relationship Type="http://schemas.openxmlformats.org/officeDocument/2006/relationships/notesSlide" Target="/ppt/notesSlides/notesSlide3.xml" Id="R1c7375fb8ec740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4a9ec71f34556" /><Relationship Type="http://schemas.openxmlformats.org/officeDocument/2006/relationships/notesSlide" Target="/ppt/notesSlides/notesSlide4.xml" Id="R307c2a4c1aa24f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6d07de6ad4eca" /><Relationship Type="http://schemas.openxmlformats.org/officeDocument/2006/relationships/notesSlide" Target="/ppt/notesSlides/notesSlide5.xml" Id="R1a2f03ff14af47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c143720c8045cd" /><Relationship Type="http://schemas.openxmlformats.org/officeDocument/2006/relationships/notesSlide" Target="/ppt/notesSlides/notesSlide6.xml" Id="R31e195b95f7842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A1A5FC-7FA4-4C13-A748-CD34E793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METHODOLOGY FORK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B8BCF-CD5A-4A6B-81DD-7613F163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933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000000"/>
                </a:solidFill>
              </a:defRPr>
            </a:pPr>
            <a:r>
              <a:rPr sz="4200" b="1">
                <a:solidFill>
                  <a:srgbClr val="000000"/>
                </a:solidFill>
              </a:rPr>
              <a:t>Selection policy may be the hidden difference between Gen4 and Gen5.1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3A4E8-BACA-4C6C-B9E9-A198B5A4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704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22222"/>
                </a:solidFill>
              </a:defRPr>
            </a:pPr>
            <a:r>
              <a:rPr sz="1875">
                <a:solidFill>
                  <a:srgbClr val="222222"/>
                </a:solidFill>
              </a:rPr>
              <a:t>The next screen should isolate how state-level winners are chosen before we change the live bridge or rerun broader research.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C2CFE-7A03-4FB8-9967-4130C439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066800"/>
            <a:ext cx="27241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6216B1-2EE3-40CA-BD2A-6BE6C5B3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09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data.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PCA.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grid.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Different winner selection.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FEA0F-8E91-44AA-81E6-E2A320EC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July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0D9C5-740D-492E-8AE9-300EFC24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27CFB3-748C-4AED-80FD-7AE13914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BF088-7A6B-41EA-9FB4-ABE0D6BB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570147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AAB38D-0167-4D2E-B4DD-FD8E6056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THE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19ECC-49DF-4C48-A938-89F1667B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Matching the visible settings did not recreate Gen4 authority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E8B1C-0BA0-4C01-89C4-C7F90516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971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222"/>
                </a:solidFill>
              </a:defRPr>
            </a:pPr>
            <a:r>
              <a:rPr sz="1650">
                <a:solidFill>
                  <a:srgbClr val="222222"/>
                </a:solidFill>
              </a:rPr>
              <a:t>The temporary bridge matched the Gen4-like basket, context universe, PCA mode, 5x5 state grid, and daily_default strategy grid. The selected state maps still diverged sharply.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87E18-CE72-470E-A68C-2AA04747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A7033-94E3-4904-8B6C-E17ECF1A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390ED-8245-448F-ABEA-783ACD15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exact model matches across five symbols and 25 states each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75BCB-731F-448A-8D8E-DB91C999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D4757-52FB-4D63-B10C-4059CCEC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865E2-B245-45A3-AC27-6C91F3CF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family matches where parameters still differed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98E42-1F05-45DB-9029-3D0B6AA3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A2594-F17E-4D44-9F3A-61EF7A00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999A80-DD0B-4EA9-8093-76C48B16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field that explained it: Gen4 selection_mode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1C6DB-0387-4836-B102-EEED9E46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101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The difference is not just live replay. It is a winner-selection policy embedded in the research architecture.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ECE3D-F8FE-4F98-8634-9B4D4B3A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44FF0-939A-48D7-8F53-60455A60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3C3A2-1D08-490D-821C-86E55DA4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541265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C849F8-9598-4ABE-9612-9B17E7AC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TWO POLICIES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3DC1E9-7F53-4691-A898-C00512E7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52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fork is family-first versus full-spec-first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6D8C3-1966-4716-99E7-26503190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219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FF062-6702-40FC-9A86-C232DDC9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Gen4 style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F4319-18FB-428E-870F-FC813636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B7F5A"/>
                </a:solidFill>
              </a:defRPr>
            </a:pPr>
            <a:r>
              <a:rPr sz="1275" b="1">
                <a:solidFill>
                  <a:srgbClr val="1B7F5A"/>
                </a:solidFill>
              </a:rPr>
              <a:t>pooled_family_asset_variant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63634-CBE5-48CF-8A38-0E2B97AD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46863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ADAB1D-7602-4B8C-BBBE-2E3E341A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4667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Choose the state’s best family from pooled evidence.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Then choose asset-specific parameters inside that family.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Lower variance, clearer state meaning, possible asset-level constraint.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9A879-F126-42EC-A1F8-71C5431B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5219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0B5E00-41B3-45C0-8144-DE47D99B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Gen5.1 style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33A0A-1E0F-4356-AF0B-EC1F7628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D4ED8"/>
                </a:solidFill>
              </a:defRPr>
            </a:pPr>
            <a:r>
              <a:rPr sz="1275" b="1">
                <a:solidFill>
                  <a:srgbClr val="1D4ED8"/>
                </a:solidFill>
              </a:rPr>
              <a:t>asset_state_direct_spec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43514-D3B0-49A8-B987-7E572D8D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90850"/>
            <a:ext cx="46863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1EC935-23EC-4311-ACD1-761DD31E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19450"/>
            <a:ext cx="4667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Choose the full asset/state spec directly.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Family and parameters are selected together.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More asset-specific flexibility, possible sparse-state overfit.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6DC8E0-20F6-48D6-B1AE-F4E7DAAD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4115D-2897-49CA-8340-152DCD00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913F0F-4270-4A18-BF88-D3C41456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962190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74D0E4-63C2-468B-AAE7-A7765F61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ECB8B-7FDE-4887-BDBE-7F25D5DF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71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A live-signal mismatch can be a methodology mismatch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FB12C-58BC-4A9C-964C-2E9F429A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09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If Gen4’s family-first policy is more robust, the bridge and some research screens may need to support it. If Gen5.1’s direct policy is stronger, signal differences may be acceptable rather than bugs.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2FB69-228E-45DE-98AE-E2168019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30057-1FCE-4459-836A-52277AB6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 not convert the bridge just for fidelity.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27DDC-8B37-4626-A92B-F601FCED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First determine whether fidelity improves robustness.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FD86F-0A61-4593-9DF9-7601A626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0BCBB-9AF9-4633-B8DB-0379154A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 not keep Gen5.1 direct selection by assumption.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78D559-660E-4411-86D1-853AB9E7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Its flexibility may help or overfit depending on state depth.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036CC-5B30-45FD-8751-EAC4F2C3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1D452-8118-4B29-A77C-09B24827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Make selection policy a declared factor.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5E70E-0185-4024-9D2D-B9B7C3F2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Then live and research outputs can be compared honestly.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C318B9-490D-44FD-B791-5F975B15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B8DCC-4F08-4D17-A34E-A7027459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403214-66D2-48D8-89D6-5989477D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83731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CDA70D-9B1E-42E5-9EEA-021A0C5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PAIRED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8D2678-6AEE-41FA-B1E8-EE748422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81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first test should vary only the selection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157DC-91C2-4C3B-A9B9-B71615DA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Hold the rest of the Gen4-like bridge surface constant so the comparison answers one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41C10-6FBC-46FB-BA7D-152863C4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Hold constant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DAAF2-AB70-4BEE-B6D6-466EE6D9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4572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AMD,NVDA,PLTR,TSLA,SOFI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RESEARCH_ASSETS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pooled asset-day PCA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5x5 quantile states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daily_default implemented grid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entry-state owns trade until exit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1155F-4ECA-4122-8855-27B56E17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95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Vary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0DABD-3D81-44BE-8B47-58BA8781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377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0E4BE-8F5F-496C-BBCA-98CF5181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1945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D4ED8"/>
                </a:solidFill>
              </a:defRPr>
            </a:pPr>
            <a:r>
              <a:rPr sz="1800" b="1">
                <a:solidFill>
                  <a:srgbClr val="1D4ED8"/>
                </a:solidFill>
              </a:rPr>
              <a:t>asset_state_direct_spec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8CC7D-B255-4627-B465-01335CF1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62400"/>
            <a:ext cx="377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7AF8D-F73E-462C-BD1F-1E2EC617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7195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7F5A"/>
                </a:solidFill>
              </a:defRPr>
            </a:pPr>
            <a:r>
              <a:rPr sz="1800" b="1">
                <a:solidFill>
                  <a:srgbClr val="1B7F5A"/>
                </a:solidFill>
              </a:rPr>
              <a:t>pooled_family_asset_variant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3F104-F8F6-4165-9D9F-521F33A2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29200"/>
            <a:ext cx="403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Start with Q2 and Q3 2026, then add adjacent quarters only if the first readout shows a meaningful difference.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25ABF-3165-448A-82E5-CA37589A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5FB89B-8A86-44FF-8E1E-61D87FD4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9DCDC-2F32-40AF-BD8C-A615A07F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055319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726837-5104-4B1B-AB57-2CFB5928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DECISION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578AC-2DC7-4E89-9DDE-36AA24F9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output should support a policy decision, not a leaderboard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55CFB-22E7-4ECA-94C8-0AA74AA8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Evidence to inspect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F3A9C-1326-4797-B6C2-52DACAC9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Selected-state agreement and disagreement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State coverage and sparse-state forcing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Family stability across quarters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Trade behavior and drawdown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Portfolio accounting as inspection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B64A0-9C19-42E0-AD28-EB2DE4CC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Stop before changing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009D7-663B-4938-AEF3-8581093E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57450"/>
            <a:ext cx="4095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the live bridge selection policy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accepted default research settings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prior context-universe conclusions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daily automation confidence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F0BAE-D7AF-43ED-9D55-507CB67E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19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7A714-0C02-4E5D-87E1-1C75946B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Next step: implement the paired selection-policy wrapper, then decide whether Gen5.1 should preserve direct spec selection or add Gen4-style pooled family selection as a first-class policy.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4FB16-41B5-48CC-96D6-2F4F0A16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66EAF9-92D5-48EE-B9ED-479D9283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57D34-E17C-44CB-B5CD-876F080B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68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2026-07-02T16:48:11.0290000Z</dcterms:created>
  <dcterms:modified xsi:type="dcterms:W3CDTF">2026-07-02T16:48:11.0290000Z</dcterms:modified>
</coreProperties>
</file>