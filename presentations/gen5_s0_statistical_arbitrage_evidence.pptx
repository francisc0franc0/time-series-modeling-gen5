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a69e06a6d84eac" /><Relationship Type="http://schemas.openxmlformats.org/officeDocument/2006/relationships/extended-properties" Target="/docProps/app.xml" Id="R4ee40b1aa2a743c8" /><Relationship Type="http://schemas.openxmlformats.org/officeDocument/2006/relationships/officeDocument" Target="/ppt/presentation.xml" Id="Rc6c7053acf0542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9f84b761d349b1"/>
  </p:sldMasterIdLst>
  <p:notesMasterIdLst>
    <p:notesMasterId xmlns:r="http://schemas.openxmlformats.org/officeDocument/2006/relationships" r:id="Rdf526a355d6e4dc4"/>
  </p:notesMasterIdLst>
  <p:sldIdLst>
    <p:sldId xmlns:r="http://schemas.openxmlformats.org/officeDocument/2006/relationships" id="256" r:id="R08c1719a7076457f"/>
    <p:sldId xmlns:r="http://schemas.openxmlformats.org/officeDocument/2006/relationships" id="257" r:id="R2125f46f64f9486c"/>
    <p:sldId xmlns:r="http://schemas.openxmlformats.org/officeDocument/2006/relationships" id="258" r:id="R5f270b95183144a6"/>
    <p:sldId xmlns:r="http://schemas.openxmlformats.org/officeDocument/2006/relationships" id="259" r:id="Rf895fcd6875b4b1e"/>
    <p:sldId xmlns:r="http://schemas.openxmlformats.org/officeDocument/2006/relationships" id="260" r:id="Re7d70a8900454431"/>
    <p:sldId xmlns:r="http://schemas.openxmlformats.org/officeDocument/2006/relationships" id="261" r:id="R347d481ab74544bf"/>
    <p:sldId xmlns:r="http://schemas.openxmlformats.org/officeDocument/2006/relationships" id="262" r:id="R25ee533061e14724"/>
    <p:sldId xmlns:r="http://schemas.openxmlformats.org/officeDocument/2006/relationships" id="263" r:id="R1b056fb38c354f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2592ffe96342a3" /><Relationship Type="http://schemas.openxmlformats.org/officeDocument/2006/relationships/slideMaster" Target="/ppt/slideMasters/slideMaster1.xml" Id="R0e9f84b761d349b1" /><Relationship Type="http://schemas.openxmlformats.org/officeDocument/2006/relationships/notesMaster" Target="/ppt/notesMasters/notesMaster1.xml" Id="Rdf526a355d6e4dc4" /><Relationship Type="http://schemas.openxmlformats.org/officeDocument/2006/relationships/presProps" Target="/ppt/presProps.xml" Id="Rc17d85a43c8b47a8" /><Relationship Type="http://schemas.openxmlformats.org/officeDocument/2006/relationships/tableStyles" Target="/ppt/tableStyles.xml" Id="R0f05ac79ef78486d" /><Relationship Type="http://schemas.openxmlformats.org/officeDocument/2006/relationships/slide" Target="/ppt/slides/slide1.xml" Id="R08c1719a7076457f" /><Relationship Type="http://schemas.openxmlformats.org/officeDocument/2006/relationships/slide" Target="/ppt/slides/slide2.xml" Id="R2125f46f64f9486c" /><Relationship Type="http://schemas.openxmlformats.org/officeDocument/2006/relationships/slide" Target="/ppt/slides/slide3.xml" Id="R5f270b95183144a6" /><Relationship Type="http://schemas.openxmlformats.org/officeDocument/2006/relationships/slide" Target="/ppt/slides/slide4.xml" Id="Rf895fcd6875b4b1e" /><Relationship Type="http://schemas.openxmlformats.org/officeDocument/2006/relationships/slide" Target="/ppt/slides/slide5.xml" Id="Re7d70a8900454431" /><Relationship Type="http://schemas.openxmlformats.org/officeDocument/2006/relationships/slide" Target="/ppt/slides/slide6.xml" Id="R347d481ab74544bf" /><Relationship Type="http://schemas.openxmlformats.org/officeDocument/2006/relationships/slide" Target="/ppt/slides/slide7.xml" Id="R25ee533061e14724" /><Relationship Type="http://schemas.openxmlformats.org/officeDocument/2006/relationships/slide" Target="/ppt/slides/slide8.xml" Id="R1b056fb38c354f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274f8dcf414b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21c750ec174f9e" /><Relationship Type="http://schemas.openxmlformats.org/officeDocument/2006/relationships/notesMaster" Target="/ppt/notesMasters/notesMaster1.xml" Id="R9dd5388a1a1d42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15a265a1a840c6" /><Relationship Type="http://schemas.openxmlformats.org/officeDocument/2006/relationships/notesMaster" Target="/ppt/notesMasters/notesMaster1.xml" Id="Rb7eeaee3a7144c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5f604117df4e51" /><Relationship Type="http://schemas.openxmlformats.org/officeDocument/2006/relationships/notesMaster" Target="/ppt/notesMasters/notesMaster1.xml" Id="Rb9544438666f4c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6b6f99368c4ec1" /><Relationship Type="http://schemas.openxmlformats.org/officeDocument/2006/relationships/notesMaster" Target="/ppt/notesMasters/notesMaster1.xml" Id="Rf9714e9f7bbe49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8c12cf328945e3" /><Relationship Type="http://schemas.openxmlformats.org/officeDocument/2006/relationships/notesMaster" Target="/ppt/notesMasters/notesMaster1.xml" Id="R8a11ae0badb943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b8565fd864450a" /><Relationship Type="http://schemas.openxmlformats.org/officeDocument/2006/relationships/notesMaster" Target="/ppt/notesMasters/notesMaster1.xml" Id="Rc9db0c8f10c949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1602069f304b41" /><Relationship Type="http://schemas.openxmlformats.org/officeDocument/2006/relationships/notesMaster" Target="/ppt/notesMasters/notesMaster1.xml" Id="R0b416d88b5a242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3b92159e4f4a11" /><Relationship Type="http://schemas.openxmlformats.org/officeDocument/2006/relationships/notesMaster" Target="/ppt/notesMasters/notesMaster1.xml" Id="Rfbfd9e5e663b4b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the frozen S0A test is complete. Six conjunctive gates failed, so the positive average does not admit the mechanism.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D55 -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Project/Time-Series-Modeling-Gen5/runs/research_workbench/retail_quant_mechanisms/s0_statistical_arbitrage_20260728/s0a_report.md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Project/Time-Series-Modeling-Gen5/runs/research_workbench/retail_quant_mechanisms/s0_statistical_arbitrage_20260728/s0a_gate_summary.csv</a:t>
            </a:r>
          </a:p>
          <a:p xmlns:a="http://schemas.openxmlformats.org/drawingml/2006/main">
            <a:r>
              <a:t>- C:/Users/Franc/OneDrive/Documents/Francis/Peltata Project/Time-Series-Modeling-Gen5/docs/GEN5_S0_STATISTICAL_ARBITRAGE_ADMISSIBILITY_CONTRACT.md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Verdict transition: a favorable sample average is only one of nine frozen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D55 -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Project/Time-Series-Modeling-Gen5/runs/research_workbench/retail_quant_mechanisms/s0_statistical_arbitrage_20260728/s0a_report.md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Project/Time-Series-Modeling-Gen5/runs/research_workbench/retail_quant_mechanisms/s0_statistical_arbitrage_20260728/s0a_gate_summary.csv</a:t>
            </a:r>
          </a:p>
          <a:p xmlns:a="http://schemas.openxmlformats.org/drawingml/2006/main">
            <a:r>
              <a:t>- C:/Users/Franc/OneDrive/Documents/Francis/Peltata Project/Time-Series-Modeling-Gen5/docs/GEN5_S0_STATISTICAL_ARBITRAGE_ADMISSIBILITY_CONTRACT.md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Method: 504-session TRAIN, quarter OOS, after-close z-score, next-open entry, and fixed 5/10/20-session endpoints.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D55 -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Project/Time-Series-Modeling-Gen5/runs/research_workbench/retail_quant_mechanisms/s0_statistical_arbitrage_20260728/s0a_report.md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Project/Time-Series-Modeling-Gen5/runs/research_workbench/retail_quant_mechanisms/s0_statistical_arbitrage_20260728/s0a_gate_summary.csv</a:t>
            </a:r>
          </a:p>
          <a:p xmlns:a="http://schemas.openxmlformats.org/drawingml/2006/main">
            <a:r>
              <a:t>- C:/Users/Franc/OneDrive/Documents/Francis/Peltata Project/Time-Series-Modeling-Gen5/docs/GEN5_S0_STATISTICAL_ARBITRAGE_ADMISSIBILITY_CONTRACT.md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Gate readout: integrity, positive primary convergence, and cost/horizon robustness passed. Gates 2, 3, 5, 6, 8, and 9 failed.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D55 -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Project/Time-Series-Modeling-Gen5/runs/research_workbench/retail_quant_mechanisms/s0_statistical_arbitrage_20260728/s0a_report.md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Project/Time-Series-Modeling-Gen5/runs/research_workbench/retail_quant_mechanisms/s0_statistical_arbitrage_20260728/s0a_gate_summary.csv</a:t>
            </a:r>
          </a:p>
          <a:p xmlns:a="http://schemas.openxmlformats.org/drawingml/2006/main">
            <a:r>
              <a:t>- C:/Users/Franc/OneDrive/Documents/Francis/Peltata Project/Time-Series-Modeling-Gen5/docs/GEN5_S0_STATISTICAL_ARBITRAGE_ADMISSIBILITY_CONTRACT.md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Confirmation: primary h10 net convergence averaged 31.69 bp/event and was positive in 9/12 quarters. This passed G4 but is not sufficient.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D55 -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Project/Time-Series-Modeling-Gen5/runs/research_workbench/retail_quant_mechanisms/s0_statistical_arbitrage_20260728/s0a_report.md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Project/Time-Series-Modeling-Gen5/runs/research_workbench/retail_quant_mechanisms/s0_statistical_arbitrage_20260728/s0a_gate_summary.csv</a:t>
            </a:r>
          </a:p>
          <a:p xmlns:a="http://schemas.openxmlformats.org/drawingml/2006/main">
            <a:r>
              <a:t>- C:/Users/Franc/OneDrive/Documents/Francis/Peltata Project/Time-Series-Modeling-Gen5/docs/GEN5_S0_STATISTICAL_ARBITRAGE_ADMISSIBILITY_CONTRACT.md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G5 failed because observed selection did not beat the random-policy p90. G6 failed despite a positive event-minus-control difference because only 47.5% of events could be matched to quiet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D55 -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Project/Time-Series-Modeling-Gen5/runs/research_workbench/retail_quant_mechanisms/s0_statistical_arbitrage_20260728/s0a_report.md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Project/Time-Series-Modeling-Gen5/runs/research_workbench/retail_quant_mechanisms/s0_statistical_arbitrage_20260728/s0a_gate_summary.csv</a:t>
            </a:r>
          </a:p>
          <a:p xmlns:a="http://schemas.openxmlformats.org/drawingml/2006/main">
            <a:r>
              <a:t>- C:/Users/Franc/OneDrive/Documents/Francis/Peltata Project/Time-Series-Modeling-Gen5/docs/GEN5_S0_STATISTICAL_ARBITRAGE_ADMISSIBILITY_CONTRACT.md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Representative confirmation tapes include strong wins, losses, and relationships that drift rather than mean-revert. Green markers are positive h10 outcomes; red markers are negative.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D55 -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Project/Time-Series-Modeling-Gen5/runs/research_workbench/retail_quant_mechanisms/s0_statistical_arbitrage_20260728/s0a_report.md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Project/Time-Series-Modeling-Gen5/runs/research_workbench/retail_quant_mechanisms/s0_statistical_arbitrage_20260728/s0a_gate_summary.csv</a:t>
            </a:r>
          </a:p>
          <a:p xmlns:a="http://schemas.openxmlformats.org/drawingml/2006/main">
            <a:r>
              <a:t>- C:/Users/Franc/OneDrive/Documents/Francis/Peltata Project/Time-Series-Modeling-Gen5/docs/GEN5_S0_STATISTICAL_ARBITRAGE_ADMISSIBILITY_CONTRACT.md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Operator consequence: S0B prospective borrow shadow is not opened because every S0A gate did not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D55 -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Project/Time-Series-Modeling-Gen5/runs/research_workbench/retail_quant_mechanisms/s0_statistical_arbitrage_20260728/s0a_report.md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Project/Time-Series-Modeling-Gen5/runs/research_workbench/retail_quant_mechanisms/s0_statistical_arbitrage_20260728/s0a_gate_summary.csv</a:t>
            </a:r>
          </a:p>
          <a:p xmlns:a="http://schemas.openxmlformats.org/drawingml/2006/main">
            <a:r>
              <a:t>- C:/Users/Franc/OneDrive/Documents/Francis/Peltata Project/Time-Series-Modeling-Gen5/docs/GEN5_S0_STATISTICAL_ARBITRAGE_ADMISSIBILITY_CONTRACT.md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69d4c6573b42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1f615702224d4f" /><Relationship Type="http://schemas.openxmlformats.org/officeDocument/2006/relationships/slideLayout" Target="/ppt/slideLayouts/slideLayout1.xml" Id="Ra8acdb1ed5e74b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acdb1ed5e74b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92d3bb05b4a8c" /><Relationship Type="http://schemas.openxmlformats.org/officeDocument/2006/relationships/notesSlide" Target="/ppt/notesSlides/notesSlide1.xml" Id="Rd1446bc3f9854a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b55f202044f18" /><Relationship Type="http://schemas.openxmlformats.org/officeDocument/2006/relationships/notesSlide" Target="/ppt/notesSlides/notesSlide2.xml" Id="R9b0bf10d71844d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b613963cf44db" /><Relationship Type="http://schemas.openxmlformats.org/officeDocument/2006/relationships/notesSlide" Target="/ppt/notesSlides/notesSlide3.xml" Id="R55fb7c31d84d4b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3cbb3482b4781" /><Relationship Type="http://schemas.openxmlformats.org/officeDocument/2006/relationships/image" Target="/ppt/media/image.png" Id="R97ea6cbffcdb4b8d" /><Relationship Type="http://schemas.openxmlformats.org/officeDocument/2006/relationships/notesSlide" Target="/ppt/notesSlides/notesSlide4.xml" Id="R4bcd0dfca9c54f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de4c1047e45bc" /><Relationship Type="http://schemas.openxmlformats.org/officeDocument/2006/relationships/image" Target="/ppt/media/image2.png" Id="Rdb37851af0e84287" /><Relationship Type="http://schemas.openxmlformats.org/officeDocument/2006/relationships/notesSlide" Target="/ppt/notesSlides/notesSlide5.xml" Id="R251133db4c7a4a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89dd7f080427a" /><Relationship Type="http://schemas.openxmlformats.org/officeDocument/2006/relationships/image" Target="/ppt/media/image3.png" Id="R7f75b379190a408b" /><Relationship Type="http://schemas.openxmlformats.org/officeDocument/2006/relationships/image" Target="/ppt/media/image4.png" Id="R5f5b6f5fd4e944bb" /><Relationship Type="http://schemas.openxmlformats.org/officeDocument/2006/relationships/notesSlide" Target="/ppt/notesSlides/notesSlide6.xml" Id="R982834c945ff41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9afb8ed3d4f7a" /><Relationship Type="http://schemas.openxmlformats.org/officeDocument/2006/relationships/image" Target="/ppt/media/image5.png" Id="R311cfa3e1eb6470e" /><Relationship Type="http://schemas.openxmlformats.org/officeDocument/2006/relationships/notesSlide" Target="/ppt/notesSlides/notesSlide7.xml" Id="Rc1510978b75e4c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8ee0e218e461c" /><Relationship Type="http://schemas.openxmlformats.org/officeDocument/2006/relationships/notesSlide" Target="/ppt/notesSlides/notesSlide8.xml" Id="R5dd896c23f1e45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E8BF6413-CE70-42A5-A957-D7DB1F41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S0A FROZEN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20325B-18EF-4827-8364-B5778146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57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1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Positive convergence.</a:t>
            </a:r>
          </a:p>
          <a:p xmlns:a="http://schemas.openxmlformats.org/drawingml/2006/main">
            <a:pPr algn="l">
              <a:buNone/>
              <a:defRPr sz="51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Failed admissibility.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B2BAF6C-72C7-4F75-80A1-653E0C9C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average moved the expected way.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controls still rejected the mechanism.</a:t>
            </a:r>
          </a:p>
        </p:txBody>
      </p:sp>
      <p:sp>
        <p:nvSpPr>
          <p:cNvPr id="4" name="rule-42-500-600">
            <a:extLst xmlns:a="http://schemas.openxmlformats.org/drawingml/2006/main">
              <a:ext uri="{FF2B5EF4-FFF2-40B4-BE49-F238E27FC236}">
                <a16:creationId xmlns:a16="http://schemas.microsoft.com/office/drawing/2014/main" id="{F6907ED2-E930-4BEC-A4B2-59F2BA87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571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cope">
            <a:extLst xmlns:a="http://schemas.openxmlformats.org/drawingml/2006/main">
              <a:ext uri="{FF2B5EF4-FFF2-40B4-BE49-F238E27FC236}">
                <a16:creationId xmlns:a16="http://schemas.microsoft.com/office/drawing/2014/main" id="{BBD19556-02C5-4F03-920F-00FF25F5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Frozen verdict: STOP_S0A_RELATIVE_VALUE_MECHANISM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Historical convergence is not historical borrow executability.</a:t>
            </a:r>
          </a:p>
        </p:txBody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94201F6C-D76C-4937-9C77-E02DAEBB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0"/>
            <a:ext cx="1657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1">
            <a:extLst xmlns:a="http://schemas.openxmlformats.org/drawingml/2006/main">
              <a:ext uri="{FF2B5EF4-FFF2-40B4-BE49-F238E27FC236}">
                <a16:creationId xmlns:a16="http://schemas.microsoft.com/office/drawing/2014/main" id="{A493E545-AC55-4184-9F92-46ADD006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43150"/>
            <a:ext cx="109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S0</a:t>
            </a:r>
          </a:p>
        </p:txBody>
      </p:sp>
      <p:sp>
        <p:nvSpPr>
          <p:cNvPr id="8" name="t1-label">
            <a:extLst xmlns:a="http://schemas.openxmlformats.org/drawingml/2006/main">
              <a:ext uri="{FF2B5EF4-FFF2-40B4-BE49-F238E27FC236}">
                <a16:creationId xmlns:a16="http://schemas.microsoft.com/office/drawing/2014/main" id="{A6B42214-6CC2-46BA-B5C2-789D8705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12420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residual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convergence</a:t>
            </a:r>
          </a:p>
        </p:txBody>
      </p:sp>
      <p:sp>
        <p:nvSpPr>
          <p:cNvPr id="9" name="bookmark-D49–D50">
            <a:extLst xmlns:a="http://schemas.openxmlformats.org/drawingml/2006/main">
              <a:ext uri="{FF2B5EF4-FFF2-40B4-BE49-F238E27FC236}">
                <a16:creationId xmlns:a16="http://schemas.microsoft.com/office/drawing/2014/main" id="{662A8DAF-7B49-4AAD-BCF7-5B02FFFB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D55</a:t>
            </a:r>
          </a:p>
        </p:txBody>
      </p:sp>
    </p:spTree>
    <p:extLst>
      <p:ext uri="{BB962C8B-B14F-4D97-AF65-F5344CB8AC3E}">
        <p14:creationId xmlns:p14="http://schemas.microsoft.com/office/powerpoint/2010/main" val="1176583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ransition">
            <a:extLst xmlns:a="http://schemas.openxmlformats.org/drawingml/2006/main">
              <a:ext uri="{FF2B5EF4-FFF2-40B4-BE49-F238E27FC236}">
                <a16:creationId xmlns:a16="http://schemas.microsoft.com/office/drawing/2014/main" id="{E242B5EB-CBF2-44CB-8C38-4F626164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TRANSITION  /  FROZEN VERDICT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CF6426AC-E928-4386-87E0-7FABABE8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87153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Positive is not sufficient.</a:t>
            </a:r>
          </a:p>
          <a:p xmlns:a="http://schemas.openxmlformats.org/drawingml/2006/main">
            <a:pPr algn="l">
              <a:buNone/>
              <a:defRPr sz="4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Controls decide admissibility.</a:t>
            </a:r>
          </a:p>
        </p:txBody>
      </p:sp>
      <p:sp>
        <p:nvSpPr>
          <p:cNvPr id="3" name="rule-62-430-620">
            <a:extLst xmlns:a="http://schemas.openxmlformats.org/drawingml/2006/main">
              <a:ext uri="{FF2B5EF4-FFF2-40B4-BE49-F238E27FC236}">
                <a16:creationId xmlns:a16="http://schemas.microsoft.com/office/drawing/2014/main" id="{4894D98D-141C-4EA7-BB60-D415F976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590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27129FB-E8B1-4343-9302-3B8A2975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31.69 bp/event was positive. Random selection, control matching, breadth,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stability still failed.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CDE5FBB4-9210-4434-9BCC-381C09C4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62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S0</a:t>
            </a:r>
          </a:p>
        </p:txBody>
      </p:sp>
      <p:sp>
        <p:nvSpPr>
          <p:cNvPr id="6" name="status">
            <a:extLst xmlns:a="http://schemas.openxmlformats.org/drawingml/2006/main">
              <a:ext uri="{FF2B5EF4-FFF2-40B4-BE49-F238E27FC236}">
                <a16:creationId xmlns:a16="http://schemas.microsoft.com/office/drawing/2014/main" id="{14335121-1C56-41C7-B59E-CBBDEA5F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86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FROZEN STOP</a:t>
            </a:r>
          </a:p>
        </p:txBody>
      </p:sp>
      <p:sp>
        <p:nvSpPr>
          <p:cNvPr id="7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94F25D00-C490-4956-B4DE-0A462E4F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D55</a:t>
            </a:r>
          </a:p>
        </p:txBody>
      </p:sp>
    </p:spTree>
    <p:extLst>
      <p:ext uri="{BB962C8B-B14F-4D97-AF65-F5344CB8AC3E}">
        <p14:creationId xmlns:p14="http://schemas.microsoft.com/office/powerpoint/2010/main" val="1501889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CA476BDE-F350-418F-A552-1B34561B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S0A FROZEN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433660-7D9E-4E8D-8A94-6F421D36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frozen timing and claim boundary held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31A233CF-F033-45A9-BD55-1DFECE9C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9CDF23B9-E6B1-4DC8-90B6-AF6A627F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D55</a:t>
            </a:r>
          </a:p>
        </p:txBody>
      </p:sp>
      <p:sp>
        <p:nvSpPr>
          <p:cNvPr id="5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72767857-7061-45AC-BFB6-469DE8D8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TRAIN-ONLY PAIR MODEL</a:t>
            </a:r>
          </a:p>
        </p:txBody>
      </p:sp>
      <p:sp>
        <p:nvSpPr>
          <p:cNvPr id="6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1E9869D2-19C4-4B8A-BD71-4F592C06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5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formula">
            <a:extLst xmlns:a="http://schemas.openxmlformats.org/drawingml/2006/main">
              <a:ext uri="{FF2B5EF4-FFF2-40B4-BE49-F238E27FC236}">
                <a16:creationId xmlns:a16="http://schemas.microsoft.com/office/drawing/2014/main" id="{13989CF5-D24E-4B54-831E-83737BC4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log(A)  =  αTRAIN  +  βTRAIN log(B)  +  residual</a:t>
            </a:r>
          </a:p>
        </p:txBody>
      </p:sp>
      <p:sp>
        <p:nvSpPr>
          <p:cNvPr id="8" name="rule-100-420-1065">
            <a:extLst xmlns:a="http://schemas.openxmlformats.org/drawingml/2006/main">
              <a:ext uri="{FF2B5EF4-FFF2-40B4-BE49-F238E27FC236}">
                <a16:creationId xmlns:a16="http://schemas.microsoft.com/office/drawing/2014/main" id="{0D4F047B-7C94-4351-A74B-ED3371C4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0144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145">
            <a:extLst xmlns:a="http://schemas.openxmlformats.org/drawingml/2006/main">
              <a:ext uri="{FF2B5EF4-FFF2-40B4-BE49-F238E27FC236}">
                <a16:creationId xmlns:a16="http://schemas.microsoft.com/office/drawing/2014/main" id="{6A5CBC6E-EE1E-4B29-871C-4C9209AF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de-label-145">
            <a:extLst xmlns:a="http://schemas.openxmlformats.org/drawingml/2006/main">
              <a:ext uri="{FF2B5EF4-FFF2-40B4-BE49-F238E27FC236}">
                <a16:creationId xmlns:a16="http://schemas.microsoft.com/office/drawing/2014/main" id="{88496044-1101-4FD1-B928-1FF69842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05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504 sessions</a:t>
            </a:r>
          </a:p>
        </p:txBody>
      </p:sp>
      <p:sp>
        <p:nvSpPr>
          <p:cNvPr id="11" name="node-sub-145">
            <a:extLst xmlns:a="http://schemas.openxmlformats.org/drawingml/2006/main">
              <a:ext uri="{FF2B5EF4-FFF2-40B4-BE49-F238E27FC236}">
                <a16:creationId xmlns:a16="http://schemas.microsoft.com/office/drawing/2014/main" id="{768C2BEF-4E64-4224-98E7-6FFC4A85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648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fit relationship;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rank stability</a:t>
            </a:r>
          </a:p>
        </p:txBody>
      </p:sp>
      <p:sp>
        <p:nvSpPr>
          <p:cNvPr id="12" name="node-475">
            <a:extLst xmlns:a="http://schemas.openxmlformats.org/drawingml/2006/main">
              <a:ext uri="{FF2B5EF4-FFF2-40B4-BE49-F238E27FC236}">
                <a16:creationId xmlns:a16="http://schemas.microsoft.com/office/drawing/2014/main" id="{ACD55EAB-C174-4C41-ABF0-9FA84F80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label-475">
            <a:extLst xmlns:a="http://schemas.openxmlformats.org/drawingml/2006/main">
              <a:ext uri="{FF2B5EF4-FFF2-40B4-BE49-F238E27FC236}">
                <a16:creationId xmlns:a16="http://schemas.microsoft.com/office/drawing/2014/main" id="{5E0F7763-5B29-43A0-9B6B-E29F574E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305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formation close</a:t>
            </a:r>
          </a:p>
        </p:txBody>
      </p:sp>
      <p:sp>
        <p:nvSpPr>
          <p:cNvPr id="14" name="node-sub-475">
            <a:extLst xmlns:a="http://schemas.openxmlformats.org/drawingml/2006/main">
              <a:ext uri="{FF2B5EF4-FFF2-40B4-BE49-F238E27FC236}">
                <a16:creationId xmlns:a16="http://schemas.microsoft.com/office/drawing/2014/main" id="{FACF6E5A-C918-4C44-ACA3-3FCE0F26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648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select ≤3 pairs/group;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freeze parameters</a:t>
            </a:r>
          </a:p>
        </p:txBody>
      </p:sp>
      <p:sp>
        <p:nvSpPr>
          <p:cNvPr id="15" name="node-805">
            <a:extLst xmlns:a="http://schemas.openxmlformats.org/drawingml/2006/main">
              <a:ext uri="{FF2B5EF4-FFF2-40B4-BE49-F238E27FC236}">
                <a16:creationId xmlns:a16="http://schemas.microsoft.com/office/drawing/2014/main" id="{4C64659F-5E5A-4AFA-806F-4D32AB23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de-label-805">
            <a:extLst xmlns:a="http://schemas.openxmlformats.org/drawingml/2006/main">
              <a:ext uri="{FF2B5EF4-FFF2-40B4-BE49-F238E27FC236}">
                <a16:creationId xmlns:a16="http://schemas.microsoft.com/office/drawing/2014/main" id="{D283F225-494E-4553-AF65-F181716C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05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event close</a:t>
            </a:r>
          </a:p>
        </p:txBody>
      </p:sp>
      <p:sp>
        <p:nvSpPr>
          <p:cNvPr id="17" name="node-sub-805">
            <a:extLst xmlns:a="http://schemas.openxmlformats.org/drawingml/2006/main">
              <a:ext uri="{FF2B5EF4-FFF2-40B4-BE49-F238E27FC236}">
                <a16:creationId xmlns:a16="http://schemas.microsoft.com/office/drawing/2014/main" id="{AA5D7261-71CE-43A1-8878-0FE20950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648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|z| ≥ 2 observed;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direction becomes known</a:t>
            </a:r>
          </a:p>
        </p:txBody>
      </p:sp>
      <p:sp>
        <p:nvSpPr>
          <p:cNvPr id="18" name="node-1135">
            <a:extLst xmlns:a="http://schemas.openxmlformats.org/drawingml/2006/main">
              <a:ext uri="{FF2B5EF4-FFF2-40B4-BE49-F238E27FC236}">
                <a16:creationId xmlns:a16="http://schemas.microsoft.com/office/drawing/2014/main" id="{4979FA79-C2C3-4567-942B-BF75D703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de-label-1135">
            <a:extLst xmlns:a="http://schemas.openxmlformats.org/drawingml/2006/main">
              <a:ext uri="{FF2B5EF4-FFF2-40B4-BE49-F238E27FC236}">
                <a16:creationId xmlns:a16="http://schemas.microsoft.com/office/drawing/2014/main" id="{72C2DD7F-17E0-49AE-BF08-745E7D9F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05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next open → endpoints</a:t>
            </a:r>
          </a:p>
        </p:txBody>
      </p:sp>
      <p:sp>
        <p:nvSpPr>
          <p:cNvPr id="20" name="node-sub-1135">
            <a:extLst xmlns:a="http://schemas.openxmlformats.org/drawingml/2006/main">
              <a:ext uri="{FF2B5EF4-FFF2-40B4-BE49-F238E27FC236}">
                <a16:creationId xmlns:a16="http://schemas.microsoft.com/office/drawing/2014/main" id="{07C5E8D8-1061-4F4D-A201-05406BA9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648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enter next open;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measure +5 / +10 / +20</a:t>
            </a:r>
          </a:p>
        </p:txBody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2241F282-161B-4311-8873-DCE26299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85787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12 / 12 integrity checks passed. No same-close execution. No borrow history was imputed.</a:t>
            </a:r>
          </a:p>
        </p:txBody>
      </p:sp>
    </p:spTree>
    <p:extLst>
      <p:ext uri="{BB962C8B-B14F-4D97-AF65-F5344CB8AC3E}">
        <p14:creationId xmlns:p14="http://schemas.microsoft.com/office/powerpoint/2010/main" val="13224714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icker">
            <a:extLst xmlns:a="http://schemas.openxmlformats.org/drawingml/2006/main">
              <a:ext uri="{FF2B5EF4-FFF2-40B4-BE49-F238E27FC236}">
                <a16:creationId xmlns:a16="http://schemas.microsoft.com/office/drawing/2014/main" id="{8CAD1909-69AE-4011-87C2-6AAAF80D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S0A FROZEN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9986ED-C51B-4D05-A323-E02379E9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Six of nine conjunctive gates failed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457265E4-3E89-40F6-A12F-0ACA035E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C5020B8A-24BC-4E59-9FDD-3B6B72B9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D55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a6cbffcdb4b8d"/>
          <a:stretch xmlns:a="http://schemas.openxmlformats.org/drawingml/2006/main"/>
        </p:blipFill>
        <p:spPr>
          <a:xfrm xmlns:a="http://schemas.openxmlformats.org/drawingml/2006/main">
            <a:off x="1428750" y="1478756"/>
            <a:ext cx="9334500" cy="49006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3844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14075F3A-6B4B-46F7-81DD-A10D7C1F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S0A FROZEN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1BE7C3-D01B-4882-8D3E-CD1FDDA5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Positive convergence was real—but not reliably selected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8F5C3FD1-22EB-4083-8355-7E39F5F5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8810A641-CF3C-4D5F-B83B-3A683E23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D55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7851af0e84287"/>
          <a:stretch xmlns:a="http://schemas.openxmlformats.org/drawingml/2006/main"/>
        </p:blipFill>
        <p:spPr>
          <a:xfrm xmlns:a="http://schemas.openxmlformats.org/drawingml/2006/main">
            <a:off x="1496786" y="1476375"/>
            <a:ext cx="919842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327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869E9ECC-0517-43A8-9AFC-073669AD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S0A FROZEN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75D0EEC-B399-4E64-974F-75D816C4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Both falsification controls reject a clean selection claim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80CB30F0-23A9-4CBC-9F59-D7CE992C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893A05FE-9276-4698-9954-07323DBC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D55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5b379190a408b"/>
          <a:stretch xmlns:a="http://schemas.openxmlformats.org/drawingml/2006/main"/>
        </p:blipFill>
        <p:spPr>
          <a:xfrm xmlns:a="http://schemas.openxmlformats.org/drawingml/2006/main">
            <a:off x="333375" y="2143125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b6f5fd4e944bb"/>
          <a:stretch xmlns:a="http://schemas.openxmlformats.org/drawingml/2006/main"/>
        </p:blipFill>
        <p:spPr>
          <a:xfrm xmlns:a="http://schemas.openxmlformats.org/drawingml/2006/main">
            <a:off x="6143625" y="2067928"/>
            <a:ext cx="5715000" cy="30078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78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14075F3A-6B4B-46F7-81DD-A10D7C1F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S0A FROZEN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1BE7C3-D01B-4882-8D3E-CD1FDDA5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Representative tapes show convergence and structural breaks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8F5C3FD1-22EB-4083-8355-7E39F5F5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8810A641-CF3C-4D5F-B83B-3A683E23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D55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cfa3e1eb6470e"/>
          <a:stretch xmlns:a="http://schemas.openxmlformats.org/drawingml/2006/main"/>
        </p:blipFill>
        <p:spPr>
          <a:xfrm xmlns:a="http://schemas.openxmlformats.org/drawingml/2006/main">
            <a:off x="895350" y="1524000"/>
            <a:ext cx="1040130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327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ransition">
            <a:extLst xmlns:a="http://schemas.openxmlformats.org/drawingml/2006/main">
              <a:ext uri="{FF2B5EF4-FFF2-40B4-BE49-F238E27FC236}">
                <a16:creationId xmlns:a16="http://schemas.microsoft.com/office/drawing/2014/main" id="{E242B5EB-CBF2-44CB-8C38-4F626164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TRANSITION  /  OPERATOR STOP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CF6426AC-E928-4386-87E0-7FABABE8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87153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S0A stops here—</a:t>
            </a:r>
          </a:p>
          <a:p xmlns:a="http://schemas.openxmlformats.org/drawingml/2006/main">
            <a:pPr algn="l">
              <a:buNone/>
              <a:defRPr sz="4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S0B stays closed.</a:t>
            </a:r>
          </a:p>
        </p:txBody>
      </p:sp>
      <p:sp>
        <p:nvSpPr>
          <p:cNvPr id="3" name="rule-62-430-620">
            <a:extLst xmlns:a="http://schemas.openxmlformats.org/drawingml/2006/main">
              <a:ext uri="{FF2B5EF4-FFF2-40B4-BE49-F238E27FC236}">
                <a16:creationId xmlns:a16="http://schemas.microsoft.com/office/drawing/2014/main" id="{4894D98D-141C-4EA7-BB60-D415F976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590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27129FB-E8B1-4343-9302-3B8A2975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rescue the inspected contract by retuning the ETF panel, formation,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threshold, controls, or confirmation window.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CDE5FBB4-9210-4434-9BCC-381C09C4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62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S0</a:t>
            </a:r>
          </a:p>
        </p:txBody>
      </p:sp>
      <p:sp>
        <p:nvSpPr>
          <p:cNvPr id="6" name="status">
            <a:extLst xmlns:a="http://schemas.openxmlformats.org/drawingml/2006/main">
              <a:ext uri="{FF2B5EF4-FFF2-40B4-BE49-F238E27FC236}">
                <a16:creationId xmlns:a16="http://schemas.microsoft.com/office/drawing/2014/main" id="{14335121-1C56-41C7-B59E-CBBDEA5F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86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STOP RECORDED</a:t>
            </a:r>
          </a:p>
        </p:txBody>
      </p:sp>
      <p:sp>
        <p:nvSpPr>
          <p:cNvPr id="7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94F25D00-C490-4956-B4DE-0A462E4F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D55</a:t>
            </a:r>
          </a:p>
        </p:txBody>
      </p:sp>
    </p:spTree>
    <p:extLst>
      <p:ext uri="{BB962C8B-B14F-4D97-AF65-F5344CB8AC3E}">
        <p14:creationId xmlns:p14="http://schemas.microsoft.com/office/powerpoint/2010/main" val="1501889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2026-07-28T06:44:51.8570000Z</dcterms:created>
  <dcterms:modified xsi:type="dcterms:W3CDTF">2026-07-28T06:44:51.8570000Z</dcterms:modified>
</coreProperties>
</file>