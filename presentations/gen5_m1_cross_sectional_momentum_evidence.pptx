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d60c10c6049a6" /><Relationship Type="http://schemas.openxmlformats.org/officeDocument/2006/relationships/extended-properties" Target="/docProps/app.xml" Id="R1b73b58f047a4102" /><Relationship Type="http://schemas.openxmlformats.org/officeDocument/2006/relationships/officeDocument" Target="/ppt/presentation.xml" Id="R970b29c9b06a4f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871d32d5ba4259"/>
  </p:sldMasterIdLst>
  <p:notesMasterIdLst>
    <p:notesMasterId xmlns:r="http://schemas.openxmlformats.org/officeDocument/2006/relationships" r:id="Re79622645f2c4c76"/>
  </p:notesMasterIdLst>
  <p:sldIdLst>
    <p:sldId xmlns:r="http://schemas.openxmlformats.org/officeDocument/2006/relationships" id="256" r:id="R7fee0a545a14479b"/>
    <p:sldId xmlns:r="http://schemas.openxmlformats.org/officeDocument/2006/relationships" id="257" r:id="R481a54149e9645ff"/>
    <p:sldId xmlns:r="http://schemas.openxmlformats.org/officeDocument/2006/relationships" id="258" r:id="Rb006fc50682b4c31"/>
    <p:sldId xmlns:r="http://schemas.openxmlformats.org/officeDocument/2006/relationships" id="259" r:id="R27b40e634a2643ee"/>
    <p:sldId xmlns:r="http://schemas.openxmlformats.org/officeDocument/2006/relationships" id="260" r:id="R7b5a1f02abf145ba"/>
    <p:sldId xmlns:r="http://schemas.openxmlformats.org/officeDocument/2006/relationships" id="261" r:id="R4bedf764416244bc"/>
    <p:sldId xmlns:r="http://schemas.openxmlformats.org/officeDocument/2006/relationships" id="262" r:id="Ra580883bdb114b80"/>
    <p:sldId xmlns:r="http://schemas.openxmlformats.org/officeDocument/2006/relationships" id="263" r:id="R631d916c4bf24663"/>
    <p:sldId xmlns:r="http://schemas.openxmlformats.org/officeDocument/2006/relationships" id="264" r:id="R3153db73655d4b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a9ed23de834964" /><Relationship Type="http://schemas.openxmlformats.org/officeDocument/2006/relationships/slideMaster" Target="/ppt/slideMasters/slideMaster1.xml" Id="Rdf871d32d5ba4259" /><Relationship Type="http://schemas.openxmlformats.org/officeDocument/2006/relationships/notesMaster" Target="/ppt/notesMasters/notesMaster1.xml" Id="Re79622645f2c4c76" /><Relationship Type="http://schemas.openxmlformats.org/officeDocument/2006/relationships/presProps" Target="/ppt/presProps.xml" Id="Ra6da12bb2e844bc6" /><Relationship Type="http://schemas.openxmlformats.org/officeDocument/2006/relationships/tableStyles" Target="/ppt/tableStyles.xml" Id="R95a432a5bc9149ae" /><Relationship Type="http://schemas.openxmlformats.org/officeDocument/2006/relationships/slide" Target="/ppt/slides/slide1.xml" Id="R7fee0a545a14479b" /><Relationship Type="http://schemas.openxmlformats.org/officeDocument/2006/relationships/slide" Target="/ppt/slides/slide2.xml" Id="R481a54149e9645ff" /><Relationship Type="http://schemas.openxmlformats.org/officeDocument/2006/relationships/slide" Target="/ppt/slides/slide3.xml" Id="Rb006fc50682b4c31" /><Relationship Type="http://schemas.openxmlformats.org/officeDocument/2006/relationships/slide" Target="/ppt/slides/slide4.xml" Id="R27b40e634a2643ee" /><Relationship Type="http://schemas.openxmlformats.org/officeDocument/2006/relationships/slide" Target="/ppt/slides/slide5.xml" Id="R7b5a1f02abf145ba" /><Relationship Type="http://schemas.openxmlformats.org/officeDocument/2006/relationships/slide" Target="/ppt/slides/slide6.xml" Id="R4bedf764416244bc" /><Relationship Type="http://schemas.openxmlformats.org/officeDocument/2006/relationships/slide" Target="/ppt/slides/slide7.xml" Id="Ra580883bdb114b80" /><Relationship Type="http://schemas.openxmlformats.org/officeDocument/2006/relationships/slide" Target="/ppt/slides/slide8.xml" Id="R631d916c4bf24663" /><Relationship Type="http://schemas.openxmlformats.org/officeDocument/2006/relationships/slide" Target="/ppt/slides/slide9.xml" Id="R3153db73655d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d111bb4a548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e662cc03b4631" /><Relationship Type="http://schemas.openxmlformats.org/officeDocument/2006/relationships/notesMaster" Target="/ppt/notesMasters/notesMaster1.xml" Id="R018e8176bf1642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3ce289de3f402d" /><Relationship Type="http://schemas.openxmlformats.org/officeDocument/2006/relationships/notesMaster" Target="/ppt/notesMasters/notesMaster1.xml" Id="R1a99a23de4bf45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628a11a364789" /><Relationship Type="http://schemas.openxmlformats.org/officeDocument/2006/relationships/notesMaster" Target="/ppt/notesMasters/notesMaster1.xml" Id="R8ad50263e9ea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c0f4a0ddc4252" /><Relationship Type="http://schemas.openxmlformats.org/officeDocument/2006/relationships/notesMaster" Target="/ppt/notesMasters/notesMaster1.xml" Id="R74c9c7814485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bce1959444c6f" /><Relationship Type="http://schemas.openxmlformats.org/officeDocument/2006/relationships/notesMaster" Target="/ppt/notesMasters/notesMaster1.xml" Id="Rb534567fd69043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df4866c35446e6" /><Relationship Type="http://schemas.openxmlformats.org/officeDocument/2006/relationships/notesMaster" Target="/ppt/notesMasters/notesMaster1.xml" Id="R4a27f7c8a86349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b259731f5640ea" /><Relationship Type="http://schemas.openxmlformats.org/officeDocument/2006/relationships/notesMaster" Target="/ppt/notesMasters/notesMaster1.xml" Id="R17dddf6efb5b4a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118f59d7244b24" /><Relationship Type="http://schemas.openxmlformats.org/officeDocument/2006/relationships/notesMaster" Target="/ppt/notesMasters/notesMaster1.xml" Id="Re98738808f9d40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184e21dd344cec" /><Relationship Type="http://schemas.openxmlformats.org/officeDocument/2006/relationships/notesMaster" Target="/ppt/notesMasters/notesMaster1.xml" Id="R8840c1fe4a0945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Project/Time-Series-Modeling-Gen5/docs/GEN5_M1_CROSS_SECTIONAL_MOMENTUM_POC_CONTRACT.md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Project/Time-Series-Modeling-Gen5/runs/research_workbench/retail_quant_mechanisms/m1_cross_sectional_momentum_20260727/m1_session_coverage_audit.csv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Project/Time-Series-Modeling-Gen5/runs/research_workbench/retail_quant_mechanisms/m1_cross_sectional_momentum_20260727/m1_integrity_audit.csv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Project/Time-Series-Modeling-Gen5/runs/research_workbench/retail_quant_mechanisms/m1_cross_sectional_momentum_20260727/visuals/m1_eligibility_coverage.png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Project/Time-Series-Modeling-Gen5/runs/research_workbench/retail_quant_mechanisms/m1_cross_sectional_momentum_20260727/m1_monthly_measurement.csv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Project/Time-Series-Modeling-Gen5/runs/research_workbench/retail_quant_mechanisms/m1_cross_sectional_momentum_20260727/m1_quarterly_measurement.csv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Project/Time-Series-Modeling-Gen5/runs/research_workbench/retail_quant_mechanisms/m1_cross_sectional_momentum_20260727/visuals/m1_rank_ordering.png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Project/Time-Series-Modeling-Gen5/runs/research_workbench/retail_quant_mechanisms/m1_cross_sectional_momentum_20260727/m1_random_policy_distribution.csv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Project/Time-Series-Modeling-Gen5/runs/research_workbench/retail_quant_mechanisms/m1_cross_sectional_momentum_20260727/visuals/m1_random_control.png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Project/Time-Series-Modeling-Gen5/runs/research_workbench/retail_quant_mechanisms/m1_cross_sectional_momentum_20260727/m1_attribution_by_group.csv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Project/Time-Series-Modeling-Gen5/runs/research_workbench/retail_quant_mechanisms/m1_cross_sectional_momentum_20260727/m1_attribution_by_asset.csv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Project/Time-Series-Modeling-Gen5/runs/research_workbench/retail_quant_mechanisms/m1_cross_sectional_momentum_20260727/m1_attribution_by_year.csv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Project/Time-Series-Modeling-Gen5/runs/research_workbench/retail_quant_mechanisms/m1_cross_sectional_momentum_20260727/visuals/m1_contribution_concentration.png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Project/Time-Series-Modeling-Gen5/runs/research_workbench/retail_quant_mechanisms/m1_cross_sectional_momentum_20260727/m1_observation_panel.csv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Project/Time-Series-Modeling-Gen5/runs/research_workbench/retail_quant_mechanisms/m1_cross_sectional_momentum_20260727/visuals/m1_representative_ranking_tapes.png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Project/Time-Series-Modeling-Gen5/runs/research_workbench/retail_quant_mechanisms/m1_cross_sectional_momentum_20260727/m1_gate_summary.csv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Project/Time-Series-Modeling-Gen5/runs/research_workbench/retail_quant_mechanisms/m1_cross_sectional_momentum_20260727/m1_report.md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Project/Time-Series-Modeling-Gen5/runs/research_workbench/retail_quant_mechanisms/m1_cross_sectional_momentum_20260727/visuals/m1_gate_summary.png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Project/Time-Series-Modeling-Gen5/runs/research_workbench/retail_quant_mechanisms/m1_cross_sectional_momentum_20260727/m1_report.md</a:t>
            </a:r>
          </a:p>
          <a:p xmlns:a="http://schemas.openxmlformats.org/drawingml/2006/main">
            <a:r>
              <a:t>- C:/Users/Franc/OneDrive/Documents/Francis/Peltata Project/Time-Series-Modeling-Gen5/docs/GEN5_RETAIL_QUANT_MECHANISM_POC_ATLAS.md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6298fd5e2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e1e8c4fe6745de" /><Relationship Type="http://schemas.openxmlformats.org/officeDocument/2006/relationships/slideLayout" Target="/ppt/slideLayouts/slideLayout1.xml" Id="R7137136b568848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7136b568848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331e409764e93" /><Relationship Type="http://schemas.openxmlformats.org/officeDocument/2006/relationships/notesSlide" Target="/ppt/notesSlides/notesSlide1.xml" Id="Raf08945d5d7c46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e30d378b04d53" /><Relationship Type="http://schemas.openxmlformats.org/officeDocument/2006/relationships/notesSlide" Target="/ppt/notesSlides/notesSlide2.xml" Id="Rb47cf0256099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33b12555f42aa" /><Relationship Type="http://schemas.openxmlformats.org/officeDocument/2006/relationships/image" Target="/ppt/media/image.png" Id="R0370003a41a54167" /><Relationship Type="http://schemas.openxmlformats.org/officeDocument/2006/relationships/notesSlide" Target="/ppt/notesSlides/notesSlide3.xml" Id="R02702ed1e1344a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97ae15ce1444d" /><Relationship Type="http://schemas.openxmlformats.org/officeDocument/2006/relationships/image" Target="/ppt/media/image2.png" Id="R08063309e0194e5f" /><Relationship Type="http://schemas.openxmlformats.org/officeDocument/2006/relationships/notesSlide" Target="/ppt/notesSlides/notesSlide4.xml" Id="R789e3f488b324a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ec5b677f14cb0" /><Relationship Type="http://schemas.openxmlformats.org/officeDocument/2006/relationships/image" Target="/ppt/media/image3.png" Id="R73341315dd4a4853" /><Relationship Type="http://schemas.openxmlformats.org/officeDocument/2006/relationships/notesSlide" Target="/ppt/notesSlides/notesSlide5.xml" Id="R563d04cdb61e4a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5df824f124b16" /><Relationship Type="http://schemas.openxmlformats.org/officeDocument/2006/relationships/image" Target="/ppt/media/image4.png" Id="Rbf6b45e1899f40e5" /><Relationship Type="http://schemas.openxmlformats.org/officeDocument/2006/relationships/notesSlide" Target="/ppt/notesSlides/notesSlide6.xml" Id="Rd2df579eaa254e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fe60c535442a5" /><Relationship Type="http://schemas.openxmlformats.org/officeDocument/2006/relationships/image" Target="/ppt/media/image5.png" Id="R67630201fafd4ea0" /><Relationship Type="http://schemas.openxmlformats.org/officeDocument/2006/relationships/notesSlide" Target="/ppt/notesSlides/notesSlide7.xml" Id="R7cc8b4b0fc0b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151bd4b7047d1" /><Relationship Type="http://schemas.openxmlformats.org/officeDocument/2006/relationships/image" Target="/ppt/media/image6.png" Id="R9ce09461ddcb43b1" /><Relationship Type="http://schemas.openxmlformats.org/officeDocument/2006/relationships/notesSlide" Target="/ppt/notesSlides/notesSlide8.xml" Id="R5de2a289791240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cb88f08d4468a" /><Relationship Type="http://schemas.openxmlformats.org/officeDocument/2006/relationships/notesSlide" Target="/ppt/notesSlides/notesSlide9.xml" Id="R78e38c5111e64b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764C3-A272-4BD5-B2B0-10B31EB0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GEN5 MECHANISM-FIRST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2BD4E-9886-4AAF-827E-7519C60F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525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M1 cross-sectional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68008-DCCB-47DA-A0CE-C451DDB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evidence readout • 27 July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5463E-C20F-48DC-ADE7-A62F9794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4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Decision trail D53</a:t>
            </a:r>
          </a:p>
        </p:txBody>
      </p:sp>
    </p:spTree>
    <p:extLst>
      <p:ext uri="{BB962C8B-B14F-4D97-AF65-F5344CB8AC3E}">
        <p14:creationId xmlns:p14="http://schemas.microsoft.com/office/powerpoint/2010/main" val="20568442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FC287-2FE4-4BC2-BE9B-D721DE04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contract separated ranking evidence from portfolio storytelling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1E48C-A2BA-4546-8071-784226E3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58F1D-288A-4913-8CBA-CA0C5FD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123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M1A had to show a repeated, non-random, non-concentrated ranking mechanism. M1B portfolio compounding was permitted only after all six mechanism gates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BD94F-9D6C-4CD8-8F42-D0C8584A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347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D057E-EE63-4E7D-BC2B-066466A0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5F6E4-F06C-424F-B56A-5A77A272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fixed equity ETFs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across 3 groups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F30740-2D25-4A66-BEC6-61E08EFB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09925"/>
            <a:ext cx="347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D90C4-A33B-4B53-82B0-D5CB3F68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12−1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1910E-0A5F-4550-A14D-686E240A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57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month log-return rank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next-open outcomes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D46CE-4B5C-4793-BBE2-82104935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9925"/>
            <a:ext cx="347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E2E50-0B19-4441-9C6E-FC5F30C4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004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FD3B2-36A4-4E0E-9E65-636B5BD1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577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untouched confirmation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months (2022–2024)</a:t>
            </a:r>
          </a:p>
        </p:txBody>
      </p:sp>
    </p:spTree>
    <p:extLst>
      <p:ext uri="{BB962C8B-B14F-4D97-AF65-F5344CB8AC3E}">
        <p14:creationId xmlns:p14="http://schemas.microsoft.com/office/powerpoint/2010/main" val="4279038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8CA05-D5F0-4C2C-B2C8-23CFE6DB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was strong enough to test the mechanism cleanly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B8734-27F5-4C5D-B00A-9D2F211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740D6-6DE2-4491-AB18-144C10C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72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77245"/>
                </a:solidFill>
                <a:latin typeface="Helvetica Neue"/>
                <a:ea typeface="Helvetica Neue"/>
                <a:cs typeface="Helvetica Neue"/>
              </a:rPr>
              <a:t>25 / 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C9D9A-76C8-404E-963F-0FB09F0E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048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ranked ETF plus BIL shared all 2,638 reference sessions from 2016-01-04 through 2026-07-01.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11 integrity and timing checks passed. Eligibility stayed above every frozen breadth floor.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0003a41a54167"/>
          <a:stretch xmlns:a="http://schemas.openxmlformats.org/drawingml/2006/main"/>
        </p:blipFill>
        <p:spPr>
          <a:xfrm xmlns:a="http://schemas.openxmlformats.org/drawingml/2006/main">
            <a:off x="5810250" y="1961398"/>
            <a:ext cx="6000750" cy="33162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074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3C10E-FFF1-4497-97A8-BAA4A943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positive average did not become a repeated ordering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2A554-667D-443E-A426-CBD3FA3B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63309e0194e5f"/>
          <a:stretch xmlns:a="http://schemas.openxmlformats.org/drawingml/2006/main"/>
        </p:blipFill>
        <p:spPr>
          <a:xfrm xmlns:a="http://schemas.openxmlformats.org/drawingml/2006/main">
            <a:off x="361950" y="1469858"/>
            <a:ext cx="7524750" cy="435643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DD97-AEF8-48CF-8116-68220F7D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+0.029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73653-D71C-4B43-865F-B9C0C2C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mean rank 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F451C-7FB3-43FB-9635-105176F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19 / 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1B818-7F1B-4F41-BBC9-6C8E9ABC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positive months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required: 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17290-B23D-409D-9D57-F904A4D9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81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6 /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EA963-CA72-4650-9359-B84833CA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positive quarters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required: 7</a:t>
            </a:r>
          </a:p>
        </p:txBody>
      </p:sp>
    </p:spTree>
    <p:extLst>
      <p:ext uri="{BB962C8B-B14F-4D97-AF65-F5344CB8AC3E}">
        <p14:creationId xmlns:p14="http://schemas.microsoft.com/office/powerpoint/2010/main" val="18377602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5FF6B-5731-464F-B19C-8954CB26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top quartile did not beat randomized concentration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87678-04EC-4D23-B9E4-09C75512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41315dd4a4853"/>
          <a:stretch xmlns:a="http://schemas.openxmlformats.org/drawingml/2006/main"/>
        </p:blipFill>
        <p:spPr>
          <a:xfrm xmlns:a="http://schemas.openxmlformats.org/drawingml/2006/main">
            <a:off x="361950" y="1695450"/>
            <a:ext cx="7810500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D230F-E100-45A0-9CFE-3EE6EF81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26.84 bp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3DDC2-F05C-450E-8430-AEE29404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observed top-K excess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52083-74A1-4B14-913E-73F43629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385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33.74 bp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41648-A01D-4BFE-BD2D-7C1612F3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random-policy p90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1E7C6-A9C9-4512-8DFC-F97994D2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054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observed concentration was better than average randomness—but not exceptional enough for the frozen gate.</a:t>
            </a:r>
          </a:p>
        </p:txBody>
      </p:sp>
    </p:spTree>
    <p:extLst>
      <p:ext uri="{BB962C8B-B14F-4D97-AF65-F5344CB8AC3E}">
        <p14:creationId xmlns:p14="http://schemas.microsoft.com/office/powerpoint/2010/main" val="5813499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D8B43-0FE8-4401-9170-7D101DC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Most positive spread contribution came from one economic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8F157-A5A2-420E-A6C3-3992A83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b45e1899f40e5"/>
          <a:stretch xmlns:a="http://schemas.openxmlformats.org/drawingml/2006/main"/>
        </p:blipFill>
        <p:spPr>
          <a:xfrm xmlns:a="http://schemas.openxmlformats.org/drawingml/2006/main">
            <a:off x="815975" y="1143000"/>
            <a:ext cx="7473950" cy="5095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C71AF-0EFB-4E81-811F-787BE725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92.3%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B7230-6A22-4CBF-82DC-EFAE1D02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emerging-country share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cap: 50%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E3442-F0A7-4E7C-BA44-367EA202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25.4%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4985-A4A2-4EAD-B09A-F9B35373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720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largest ETF share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cap: 25%</a:t>
            </a:r>
          </a:p>
        </p:txBody>
      </p:sp>
    </p:spTree>
    <p:extLst>
      <p:ext uri="{BB962C8B-B14F-4D97-AF65-F5344CB8AC3E}">
        <p14:creationId xmlns:p14="http://schemas.microsoft.com/office/powerpoint/2010/main" val="7651998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77172-4CC9-41C1-8D25-F02F1DDB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Representative months reveal genuine rank reversals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F9A81-AA1A-4698-88C8-D295E5F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30201fafd4ea0"/>
          <a:stretch xmlns:a="http://schemas.openxmlformats.org/drawingml/2006/main"/>
        </p:blipFill>
        <p:spPr>
          <a:xfrm xmlns:a="http://schemas.openxmlformats.org/drawingml/2006/main">
            <a:off x="2019300" y="1123950"/>
            <a:ext cx="8153400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564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1A46F-DC5D-4451-BECB-003838E9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M1A stopped the experiment before any portfolio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EDCF5-4006-4548-B7FE-B28D5A06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09461ddcb43b1"/>
          <a:stretch xmlns:a="http://schemas.openxmlformats.org/drawingml/2006/main"/>
        </p:blipFill>
        <p:spPr>
          <a:xfrm xmlns:a="http://schemas.openxmlformats.org/drawingml/2006/main">
            <a:off x="1583748" y="1123950"/>
            <a:ext cx="9005455" cy="4953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B14A2-49F5-45B2-9887-BC36F9A8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No CAGR, drawdown, or portfolio P&amp;L was computed.</a:t>
            </a:r>
          </a:p>
        </p:txBody>
      </p:sp>
    </p:spTree>
    <p:extLst>
      <p:ext uri="{BB962C8B-B14F-4D97-AF65-F5344CB8AC3E}">
        <p14:creationId xmlns:p14="http://schemas.microsoft.com/office/powerpoint/2010/main" val="15462979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50223-A9C5-422A-B8CA-5984F9F0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075E4D-26E6-4836-8869-9EA4EAC0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715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Stop M1.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lesson.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02649-D9C6-4D1F-A6E8-403A2FD6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904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Cross-sectional momentum had a positive average spread, but not a robust standalone ranking mechanism in this frozen retail ETF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Next: return to theory and choose a genuinely distinct mechanism—without retuning M1.</a:t>
            </a:r>
          </a:p>
        </p:txBody>
      </p:sp>
    </p:spTree>
    <p:extLst>
      <p:ext uri="{BB962C8B-B14F-4D97-AF65-F5344CB8AC3E}">
        <p14:creationId xmlns:p14="http://schemas.microsoft.com/office/powerpoint/2010/main" val="1611272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2026-07-27T13:00:26.4520000Z</dcterms:created>
  <dcterms:modified xsi:type="dcterms:W3CDTF">2026-07-27T13:00:26.4520000Z</dcterms:modified>
</coreProperties>
</file>