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a93022d3f564cda" /><Relationship Type="http://schemas.openxmlformats.org/officeDocument/2006/relationships/extended-properties" Target="/docProps/app.xml" Id="Re3970a91ec45421c" /><Relationship Type="http://schemas.openxmlformats.org/officeDocument/2006/relationships/officeDocument" Target="/ppt/presentation.xml" Id="Re97a4ce8c6314c8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0fdfb37a6c74bf5"/>
  </p:sldMasterIdLst>
  <p:notesMasterIdLst>
    <p:notesMasterId xmlns:r="http://schemas.openxmlformats.org/officeDocument/2006/relationships" r:id="Rba7251fa838a44d3"/>
  </p:notesMasterIdLst>
  <p:sldIdLst>
    <p:sldId xmlns:r="http://schemas.openxmlformats.org/officeDocument/2006/relationships" id="256" r:id="R0130781af4254633"/>
    <p:sldId xmlns:r="http://schemas.openxmlformats.org/officeDocument/2006/relationships" id="257" r:id="Rf2c46f0ce2f34dc1"/>
    <p:sldId xmlns:r="http://schemas.openxmlformats.org/officeDocument/2006/relationships" id="258" r:id="R8630a5dcd0a94a13"/>
    <p:sldId xmlns:r="http://schemas.openxmlformats.org/officeDocument/2006/relationships" id="259" r:id="R116dd3c193c24878"/>
    <p:sldId xmlns:r="http://schemas.openxmlformats.org/officeDocument/2006/relationships" id="260" r:id="R6a9ea2d31d804382"/>
    <p:sldId xmlns:r="http://schemas.openxmlformats.org/officeDocument/2006/relationships" id="261" r:id="R84f1f9c538e34184"/>
    <p:sldId xmlns:r="http://schemas.openxmlformats.org/officeDocument/2006/relationships" id="262" r:id="R7899df83a8a941d3"/>
    <p:sldId xmlns:r="http://schemas.openxmlformats.org/officeDocument/2006/relationships" id="263" r:id="R4f5474c282e740e8"/>
    <p:sldId xmlns:r="http://schemas.openxmlformats.org/officeDocument/2006/relationships" id="264" r:id="Rcf66f14337e84ca6"/>
    <p:sldId xmlns:r="http://schemas.openxmlformats.org/officeDocument/2006/relationships" id="265" r:id="Rb6beaf2aa30d402b"/>
    <p:sldId xmlns:r="http://schemas.openxmlformats.org/officeDocument/2006/relationships" id="266" r:id="R05c5c90e09be4f06"/>
    <p:sldId xmlns:r="http://schemas.openxmlformats.org/officeDocument/2006/relationships" id="267" r:id="R6033d8a4c620406a"/>
    <p:sldId xmlns:r="http://schemas.openxmlformats.org/officeDocument/2006/relationships" id="268" r:id="R3e15764e58cf47c1"/>
    <p:sldId xmlns:r="http://schemas.openxmlformats.org/officeDocument/2006/relationships" id="269" r:id="Rcec12b984c3a4b27"/>
    <p:sldId xmlns:r="http://schemas.openxmlformats.org/officeDocument/2006/relationships" id="270" r:id="R37006ac44dfb4bf2"/>
    <p:sldId xmlns:r="http://schemas.openxmlformats.org/officeDocument/2006/relationships" id="271" r:id="R408268d4b31849e3"/>
    <p:sldId xmlns:r="http://schemas.openxmlformats.org/officeDocument/2006/relationships" id="272" r:id="R4b6524057d7048e2"/>
    <p:sldId xmlns:r="http://schemas.openxmlformats.org/officeDocument/2006/relationships" id="273" r:id="R2072f0d46de64ba8"/>
    <p:sldId xmlns:r="http://schemas.openxmlformats.org/officeDocument/2006/relationships" id="274" r:id="Rad4030a59b8648a6"/>
    <p:sldId xmlns:r="http://schemas.openxmlformats.org/officeDocument/2006/relationships" id="275" r:id="R8a439ab810104168"/>
    <p:sldId xmlns:r="http://schemas.openxmlformats.org/officeDocument/2006/relationships" id="276" r:id="R1d4ae6e6b0da4070"/>
    <p:sldId xmlns:r="http://schemas.openxmlformats.org/officeDocument/2006/relationships" id="277" r:id="R6337b03cee7a4fa2"/>
    <p:sldId xmlns:r="http://schemas.openxmlformats.org/officeDocument/2006/relationships" id="278" r:id="Rfd70d95e984641b4"/>
    <p:sldId xmlns:r="http://schemas.openxmlformats.org/officeDocument/2006/relationships" id="279" r:id="Rd517b7513a834c02"/>
    <p:sldId xmlns:r="http://schemas.openxmlformats.org/officeDocument/2006/relationships" id="280" r:id="R6230da88c279466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243f481a2e847e6" /><Relationship Type="http://schemas.openxmlformats.org/officeDocument/2006/relationships/slideMaster" Target="/ppt/slideMasters/slideMaster1.xml" Id="Rb0fdfb37a6c74bf5" /><Relationship Type="http://schemas.openxmlformats.org/officeDocument/2006/relationships/notesMaster" Target="/ppt/notesMasters/notesMaster1.xml" Id="Rba7251fa838a44d3" /><Relationship Type="http://schemas.openxmlformats.org/officeDocument/2006/relationships/presProps" Target="/ppt/presProps.xml" Id="R773478d970314995" /><Relationship Type="http://schemas.openxmlformats.org/officeDocument/2006/relationships/tableStyles" Target="/ppt/tableStyles.xml" Id="Rf4928d7d5288408d" /><Relationship Type="http://schemas.openxmlformats.org/officeDocument/2006/relationships/slide" Target="/ppt/slides/slide1.xml" Id="R0130781af4254633" /><Relationship Type="http://schemas.openxmlformats.org/officeDocument/2006/relationships/slide" Target="/ppt/slides/slide2.xml" Id="Rf2c46f0ce2f34dc1" /><Relationship Type="http://schemas.openxmlformats.org/officeDocument/2006/relationships/slide" Target="/ppt/slides/slide3.xml" Id="R8630a5dcd0a94a13" /><Relationship Type="http://schemas.openxmlformats.org/officeDocument/2006/relationships/slide" Target="/ppt/slides/slide4.xml" Id="R116dd3c193c24878" /><Relationship Type="http://schemas.openxmlformats.org/officeDocument/2006/relationships/slide" Target="/ppt/slides/slide5.xml" Id="R6a9ea2d31d804382" /><Relationship Type="http://schemas.openxmlformats.org/officeDocument/2006/relationships/slide" Target="/ppt/slides/slide6.xml" Id="R84f1f9c538e34184" /><Relationship Type="http://schemas.openxmlformats.org/officeDocument/2006/relationships/slide" Target="/ppt/slides/slide7.xml" Id="R7899df83a8a941d3" /><Relationship Type="http://schemas.openxmlformats.org/officeDocument/2006/relationships/slide" Target="/ppt/slides/slide8.xml" Id="R4f5474c282e740e8" /><Relationship Type="http://schemas.openxmlformats.org/officeDocument/2006/relationships/slide" Target="/ppt/slides/slide9.xml" Id="Rcf66f14337e84ca6" /><Relationship Type="http://schemas.openxmlformats.org/officeDocument/2006/relationships/slide" Target="/ppt/slides/slide10.xml" Id="Rb6beaf2aa30d402b" /><Relationship Type="http://schemas.openxmlformats.org/officeDocument/2006/relationships/slide" Target="/ppt/slides/slide11.xml" Id="R05c5c90e09be4f06" /><Relationship Type="http://schemas.openxmlformats.org/officeDocument/2006/relationships/slide" Target="/ppt/slides/slide12.xml" Id="R6033d8a4c620406a" /><Relationship Type="http://schemas.openxmlformats.org/officeDocument/2006/relationships/slide" Target="/ppt/slides/slide13.xml" Id="R3e15764e58cf47c1" /><Relationship Type="http://schemas.openxmlformats.org/officeDocument/2006/relationships/slide" Target="/ppt/slides/slide14.xml" Id="Rcec12b984c3a4b27" /><Relationship Type="http://schemas.openxmlformats.org/officeDocument/2006/relationships/slide" Target="/ppt/slides/slide15.xml" Id="R37006ac44dfb4bf2" /><Relationship Type="http://schemas.openxmlformats.org/officeDocument/2006/relationships/slide" Target="/ppt/slides/slide16.xml" Id="R408268d4b31849e3" /><Relationship Type="http://schemas.openxmlformats.org/officeDocument/2006/relationships/slide" Target="/ppt/slides/slide17.xml" Id="R4b6524057d7048e2" /><Relationship Type="http://schemas.openxmlformats.org/officeDocument/2006/relationships/slide" Target="/ppt/slides/slide18.xml" Id="R2072f0d46de64ba8" /><Relationship Type="http://schemas.openxmlformats.org/officeDocument/2006/relationships/slide" Target="/ppt/slides/slide19.xml" Id="Rad4030a59b8648a6" /><Relationship Type="http://schemas.openxmlformats.org/officeDocument/2006/relationships/slide" Target="/ppt/slides/slide20.xml" Id="R8a439ab810104168" /><Relationship Type="http://schemas.openxmlformats.org/officeDocument/2006/relationships/slide" Target="/ppt/slides/slide21.xml" Id="R1d4ae6e6b0da4070" /><Relationship Type="http://schemas.openxmlformats.org/officeDocument/2006/relationships/slide" Target="/ppt/slides/slide22.xml" Id="R6337b03cee7a4fa2" /><Relationship Type="http://schemas.openxmlformats.org/officeDocument/2006/relationships/slide" Target="/ppt/slides/slide23.xml" Id="Rfd70d95e984641b4" /><Relationship Type="http://schemas.openxmlformats.org/officeDocument/2006/relationships/slide" Target="/ppt/slides/slide24.xml" Id="Rd517b7513a834c02" /><Relationship Type="http://schemas.openxmlformats.org/officeDocument/2006/relationships/slide" Target="/ppt/slides/slide25.xml" Id="R6230da88c279466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ddaae0fa2b843b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2d834bf310b4124" /><Relationship Type="http://schemas.openxmlformats.org/officeDocument/2006/relationships/notesMaster" Target="/ppt/notesMasters/notesMaster1.xml" Id="R5f9ebef7377e4b8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ef084c53f864260" /><Relationship Type="http://schemas.openxmlformats.org/officeDocument/2006/relationships/notesMaster" Target="/ppt/notesMasters/notesMaster1.xml" Id="R1a23f36a0988482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d8d256680f14fe4" /><Relationship Type="http://schemas.openxmlformats.org/officeDocument/2006/relationships/notesMaster" Target="/ppt/notesMasters/notesMaster1.xml" Id="R0ff5ac95feb54b3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0321f9020f94d65" /><Relationship Type="http://schemas.openxmlformats.org/officeDocument/2006/relationships/notesMaster" Target="/ppt/notesMasters/notesMaster1.xml" Id="R24101fcd0bc844e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a9c29a6486a4422" /><Relationship Type="http://schemas.openxmlformats.org/officeDocument/2006/relationships/notesMaster" Target="/ppt/notesMasters/notesMaster1.xml" Id="R9c4d0732efed4c0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de827ca9e3248e5" /><Relationship Type="http://schemas.openxmlformats.org/officeDocument/2006/relationships/notesMaster" Target="/ppt/notesMasters/notesMaster1.xml" Id="Rd9cdcf4a1df44e3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299314a3a1644b9" /><Relationship Type="http://schemas.openxmlformats.org/officeDocument/2006/relationships/notesMaster" Target="/ppt/notesMasters/notesMaster1.xml" Id="Rdefb00664d594c1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8f891f9a16d47ef" /><Relationship Type="http://schemas.openxmlformats.org/officeDocument/2006/relationships/notesMaster" Target="/ppt/notesMasters/notesMaster1.xml" Id="R0f78b2f2caaf4e9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3524f8e317b4c6f" /><Relationship Type="http://schemas.openxmlformats.org/officeDocument/2006/relationships/notesMaster" Target="/ppt/notesMasters/notesMaster1.xml" Id="Re1cc46dcac074a6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5b78a767cf44380" /><Relationship Type="http://schemas.openxmlformats.org/officeDocument/2006/relationships/notesMaster" Target="/ppt/notesMasters/notesMaster1.xml" Id="Re3e774e827ee4b0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44b7d6e3a814ba6" /><Relationship Type="http://schemas.openxmlformats.org/officeDocument/2006/relationships/notesMaster" Target="/ppt/notesMasters/notesMaster1.xml" Id="R4ad3eb14f7444fe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2b1a98d91954641" /><Relationship Type="http://schemas.openxmlformats.org/officeDocument/2006/relationships/notesMaster" Target="/ppt/notesMasters/notesMaster1.xml" Id="R96dd1f4562814c1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932e5563a4c4312" /><Relationship Type="http://schemas.openxmlformats.org/officeDocument/2006/relationships/notesMaster" Target="/ppt/notesMasters/notesMaster1.xml" Id="Rd534cf38e728426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cfb9534ec4e4aba" /><Relationship Type="http://schemas.openxmlformats.org/officeDocument/2006/relationships/notesMaster" Target="/ppt/notesMasters/notesMaster1.xml" Id="R98651aa6533e4b6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b4521989b8342ca" /><Relationship Type="http://schemas.openxmlformats.org/officeDocument/2006/relationships/notesMaster" Target="/ppt/notesMasters/notesMaster1.xml" Id="Rfe85b80c2330454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b4519414a6d41d1" /><Relationship Type="http://schemas.openxmlformats.org/officeDocument/2006/relationships/notesMaster" Target="/ppt/notesMasters/notesMaster1.xml" Id="R233490f885ec44e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6388c46ea5b47e7" /><Relationship Type="http://schemas.openxmlformats.org/officeDocument/2006/relationships/notesMaster" Target="/ppt/notesMasters/notesMaster1.xml" Id="Rce7798bad89045c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1f9d835c53e41a5" /><Relationship Type="http://schemas.openxmlformats.org/officeDocument/2006/relationships/notesMaster" Target="/ppt/notesMasters/notesMaster1.xml" Id="R44ee6659bbb7403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81783ddc4f241f2" /><Relationship Type="http://schemas.openxmlformats.org/officeDocument/2006/relationships/notesMaster" Target="/ppt/notesMasters/notesMaster1.xml" Id="R3360c4e956b7408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a5ac8dd038947ef" /><Relationship Type="http://schemas.openxmlformats.org/officeDocument/2006/relationships/notesMaster" Target="/ppt/notesMasters/notesMaster1.xml" Id="R496298ee81514ed0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d74d9ac0b0294064" /><Relationship Type="http://schemas.openxmlformats.org/officeDocument/2006/relationships/notesMaster" Target="/ppt/notesMasters/notesMaster1.xml" Id="R6623306be28942e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5cbe30306e14521" /><Relationship Type="http://schemas.openxmlformats.org/officeDocument/2006/relationships/notesMaster" Target="/ppt/notesMasters/notesMaster1.xml" Id="Rb2737a0a09514365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b7b1de697d064702" /><Relationship Type="http://schemas.openxmlformats.org/officeDocument/2006/relationships/notesMaster" Target="/ppt/notesMasters/notesMaster1.xml" Id="R035c5415716f46a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3dad330f2d354ecc" /><Relationship Type="http://schemas.openxmlformats.org/officeDocument/2006/relationships/notesMaster" Target="/ppt/notesMasters/notesMaster1.xml" Id="Rf22fd50384d2449f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d94bf9e435e143f6" /><Relationship Type="http://schemas.openxmlformats.org/officeDocument/2006/relationships/notesMaster" Target="/ppt/notesMasters/notesMaster1.xml" Id="Rc85b023ec0ea496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revision preserves the canonical example and Panel A, explains the exact gate logic, and adds the predeclared 15-pair diversified Panel B.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Project/Time-Series-Modeling-Gen5/docs/GEN5_LIT_MR_02_1_ADAPTIVE_SPREAD_BOLLINGER_POC_CONTRACT.md</a:t>
            </a:r>
          </a:p>
          <a:p xmlns:a="http://schemas.openxmlformats.org/drawingml/2006/main">
            <a:r>
              <a:t>- C:/Users/Franc/OneDrive/Documents/Francis/Peltata Project/Time-Series-Modeling-Gen5/docs/GEN5_LIT_MR_02_1_PANEL_A_CONTRACT.md</a:t>
            </a:r>
          </a:p>
          <a:p xmlns:a="http://schemas.openxmlformats.org/drawingml/2006/main">
            <a:r>
              <a:t>- C:/Users/Franc/OneDrive/Documents/Francis/Peltata Project/Time-Series-Modeling-Gen5/docs/GEN5_LIT_MR_02_1_PANEL_B_CONTRACT.md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book compares price spread, log-price spread, and ratio separately. Example 3.2 reuses the raw-price spread construction from Example 3.1.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C:/Users/Franc/OneDrive/Documents/Francis/Trading Literature/Algorithmic Trading - Winning Strategies and Their Rationale 2013.pdf, printed pp. 66-72; PDF pp. 84-90</a:t>
            </a:r>
          </a:p>
          <a:p xmlns:a="http://schemas.openxmlformats.org/drawingml/2006/main">
            <a:r>
              <a:t>- C:/Users/Franc/OneDrive/Documents/Francis/Peltata Project/Time-Series-Modeling-Gen5/docs/GEN5_LITERATURE_SOURCE_LEDGER.md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OLS chooses alpha and beta to minimize the sum of squared residuals in the rolling window. Beta expresses price units: if beta is 2, one unit of X hedges roughly two price units of Y under the local fitted relationship.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C:/Users/Franc/OneDrive/Documents/Francis/Trading Literature/Algorithmic Trading - Winning Strategies and Their Rationale 2013.pdf, printed pp. 66-72; PDF pp. 84-90</a:t>
            </a:r>
          </a:p>
          <a:p xmlns:a="http://schemas.openxmlformats.org/drawingml/2006/main">
            <a:r>
              <a:t>- C:/Users/Franc/OneDrive/Documents/Francis/Peltata Project/Time-Series-Modeling-Gen5/docs/GEN5_LIT_MR_02_1_PANEL_A_CONTRACT.md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z-score is unitless. It says how many rolling standard deviations the current spread is from its rolling mean. It does not by itself prove stationarity, cointegration, or profitable convergence.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C:/Users/Franc/OneDrive/Documents/Francis/Trading Literature/Algorithmic Trading - Winning Strategies and Their Rationale 2013.pdf, printed pp. 66-72; PDF pp. 84-90</a:t>
            </a:r>
          </a:p>
          <a:p xmlns:a="http://schemas.openxmlformats.org/drawingml/2006/main">
            <a:r>
              <a:t>- C:/Users/Franc/OneDrive/Documents/Francis/Peltata Project/Time-Series-Modeling-Gen5/docs/GEN5_LIT_MR_02_1_PANEL_A_CONTRACT.md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denominator gross-normalizes the two legs. The numerator preserves the beta-scaled price-unit hedge. Because beta is recomputed daily, weights can change even while the directional position remains open.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Project/Time-Series-Modeling-Gen5/docs/GEN5_LIT_MR_02_1_ADAPTIVE_SPREAD_BOLLINGER_POC_CONTRACT.md</a:t>
            </a:r>
          </a:p>
          <a:p xmlns:a="http://schemas.openxmlformats.org/drawingml/2006/main">
            <a:r>
              <a:t>- C:/Users/Franc/OneDrive/Documents/Francis/Peltata Project/Time-Series-Modeling-Gen5/docs/GEN5_LIT_MR_02_1_PANEL_A_CONTRACT.md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Project/Time-Series-Modeling-Gen5/runs/research_workbench/literature_grounded/lit_mr_02_1_panel_a_20260728/visuals/mr02_weight_mechanics.png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For beta below zero, S = Y - beta X becomes Y + |beta|X. That can be statistically meaningful but it no longer describes the same opposite-leg relative-value strategy. A tradable inverse-pair design would require a new frozen variant.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Project/Time-Series-Modeling-Gen5/docs/GEN5_LIT_MR_02_1_PANEL_A_CONTRACT.md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Project/Time-Series-Modeling-Gen5/runs/research_workbench/literature_grounded/lit_mr_02_1_panel_a_20260728/mr02_panel_inverse_diagnostics.csv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literature supports evaluating both trades and bars, charging costs, examining hit rate and stability, and using statistical diagnostics. The project turns those ingredients into an auditable admission rule.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C:/Users/Franc/OneDrive/Documents/Francis/Trading Literature/Algorithmic Trading - Winning Strategies and Their Rationale 2013.pdf, printed pp. 42-47 and 66-72; PDF pp. 60-65 and 84-90</a:t>
            </a:r>
          </a:p>
          <a:p xmlns:a="http://schemas.openxmlformats.org/drawingml/2006/main">
            <a:r>
              <a:t>- C:/Users/Franc/OneDrive/Documents/Francis/Peltata Project/Time-Series-Modeling-Gen5/docs/GEN5_LITERATURE_SOURCE_LEDGER.md</a:t>
            </a:r>
          </a:p>
          <a:p xmlns:a="http://schemas.openxmlformats.org/drawingml/2006/main">
            <a:r>
              <a:t>- C:/Users/Franc/OneDrive/Documents/Francis/Peltata Project/Time-Series-Modeling-Gen5/docs/GEN5_LIT_MR_02_1_PANEL_B_CONTRACT.md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G1 is non-negotiable. G2 protects strategy identity: negative beta changes a long-spread trade into same-side exposure. G3 is a pragmatic minimum, not a theorem, but prevents tiny samples from carrying the conclusion.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Project/Time-Series-Modeling-Gen5/docs/GEN5_LIT_MR_02_1_ADAPTIVE_SPREAD_BOLLINGER_POC_CONTRACT.md</a:t>
            </a:r>
          </a:p>
          <a:p xmlns:a="http://schemas.openxmlformats.org/drawingml/2006/main">
            <a:r>
              <a:t>- C:/Users/Franc/OneDrive/Documents/Francis/Peltata Project/Time-Series-Modeling-Gen5/docs/GEN5_LIT_MR_02_1_PANEL_B_CONTRACT.md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G4 is intentionally demanding because a positive point estimate alone is fragile. G5 is useful here because the mechanism claims frequent convergence, but a below-50% hit rate can be valid in positively skewed strategies. G6 is a targeted falsification control, not a generic market benchmark.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C:/Users/Franc/OneDrive/Documents/Francis/Trading Literature/Algorithmic Trading - Winning Strategies and Their Rationale 2013.pdf, printed pp. 42-47 and 66-72; PDF pp. 60-65 and 84-90</a:t>
            </a:r>
          </a:p>
          <a:p xmlns:a="http://schemas.openxmlformats.org/drawingml/2006/main">
            <a:r>
              <a:t>- C:/Users/Franc/OneDrive/Documents/Francis/Peltata Project/Time-Series-Modeling-Gen5/docs/GEN5_LIT_MR_02_1_ADAPTIVE_SPREAD_BOLLINGER_POC_CONTRACT.md</a:t>
            </a:r>
          </a:p>
          <a:p xmlns:a="http://schemas.openxmlformats.org/drawingml/2006/main">
            <a:r>
              <a:t>- C:/Users/Franc/OneDrive/Documents/Francis/Peltata Project/Time-Series-Modeling-Gen5/docs/GEN5_LIT_MR_02_1_PANEL_B_CONTRACT.md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G7 asks whether profitability is concentrated in one year. The 3-of-5 threshold is deliberately simple and soft. G8 is the direct mechanism test: a high spread z-score should predict a lower subsequent spread return. Reporting every frozen pair controls the narrative even though no formal family-wise selection correction is used.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Project/Time-Series-Modeling-Gen5/docs/GEN5_LIT_MR_02_1_ADAPTIVE_SPREAD_BOLLINGER_POC_CONTRACT.md</a:t>
            </a:r>
          </a:p>
          <a:p xmlns:a="http://schemas.openxmlformats.org/drawingml/2006/main">
            <a:r>
              <a:t>- C:/Users/Franc/OneDrive/Documents/Francis/Peltata Project/Time-Series-Modeling-Gen5/docs/GEN5_LIT_MR_02_1_PANEL_A_CONTRACT.md</a:t>
            </a:r>
          </a:p>
          <a:p xmlns:a="http://schemas.openxmlformats.org/drawingml/2006/main">
            <a:r>
              <a:t>- C:/Users/Franc/OneDrive/Documents/Francis/Peltata Project/Time-Series-Modeling-Gen5/docs/GEN5_LIT_MR_02_1_PANEL_B_CONTRACT.md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Canonical USO-GLD mechanics remain unchanged: raw adjusted prices, 20 sessions, +/-1 entry, zero exit, next-open execution, daily adaptive rehedging, and explicit turnover costs.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C:/Users/Franc/OneDrive/Documents/Francis/Trading Literature/Algorithmic Trading - Winning Strategies and Their Rationale 2013.pdf, printed pp. 67-72; PDF pp. 85-90</a:t>
            </a:r>
          </a:p>
          <a:p xmlns:a="http://schemas.openxmlformats.org/drawingml/2006/main">
            <a:r>
              <a:t>- C:/Users/Franc/OneDrive/Documents/Francis/Peltata Project/Time-Series-Modeling-Gen5/docs/GEN5_LIT_MR_02_1_ADAPTIVE_SPREAD_BOLLINGER_POC_CONTRACT.md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Project/Time-Series-Modeling-Gen5/runs/research_workbench/literature_grounded/lit_mr_02_1_bollinger_20260728/visuals/mr02_signal_tape.png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ADF, half-life, variance ratio, and conditional forward return test different ideas. A rolling-beta spread is not the same object as a fixed cointegrating residual.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Project/Time-Series-Modeling-Gen5/runs/research_workbench/literature_grounded/lit_mr_02_1_bollinger_20260728/mr02_train_statistical_diagnostics.csv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Project/Time-Series-Modeling-Gen5/runs/research_workbench/literature_grounded/lit_mr_02_1_bollinger_20260728/mr02_train_forward_convergence_summary.csv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Project/Time-Series-Modeling-Gen5/runs/research_workbench/literature_grounded/lit_mr_02_1_bollinger_20260728/visuals/mr02_statistical_diagnostics.png</a:t>
            </a:r>
          </a:p>
          <a:p xmlns:a="http://schemas.openxmlformats.org/drawingml/2006/main">
            <a:r>
              <a:t>- C:/Users/Franc/OneDrive/Documents/Francis/Trading Literature/Algorithmic Trading - Winning Strategies and Their Rationale 2013.pdf, printed pp. 42-47 and 66-72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Completed trades include entries, adaptive-hedge turnover, and exits. Bar returns are next-open to next-open and use the prior close's frozen target.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Project/Time-Series-Modeling-Gen5/runs/research_workbench/literature_grounded/lit_mr_02_1_bollinger_20260728/mr02_train_trades.csv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Project/Time-Series-Modeling-Gen5/runs/research_workbench/literature_grounded/lit_mr_02_1_bollinger_20260728/mr02_train_bar_replay.csv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Project/Time-Series-Modeling-Gen5/runs/research_workbench/literature_grounded/lit_mr_02_1_bollinger_20260728/mr02_train_year_summary.csv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matched random-sign control breaks only the mapping from signal sign to pair direction while preserving opportunities, holding periods, realized paths, and costs.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Project/Time-Series-Modeling-Gen5/runs/research_workbench/literature_grounded/lit_mr_02_1_bollinger_20260728/mr02_train_trade_bootstrap_summary.csv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Project/Time-Series-Modeling-Gen5/runs/research_workbench/literature_grounded/lit_mr_02_1_bollinger_20260728/mr02_train_random_sign_distribution.csv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Project/Time-Series-Modeling-Gen5/runs/research_workbench/literature_grounded/lit_mr_02_1_bollinger_20260728/visuals/mr02_resampling.png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z-score crossing its rolling zero is a signal-state event, not a P&amp;L guarantee: beta, the mean, and both tradable leg prices evolve.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Project/Time-Series-Modeling-Gen5/runs/research_workbench/literature_grounded/lit_mr_02_1_bollinger_20260728/mr02_train_trades.csv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Project/Time-Series-Modeling-Gen5/runs/research_workbench/literature_grounded/lit_mr_02_1_bollinger_20260728/mr02_train_indicators.csv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Project/Time-Series-Modeling-Gen5/runs/research_workbench/literature_grounded/lit_mr_02_1_bollinger_20260728/visuals/mr02_representative_trades.png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canonical USO-GLD example passed integrity and trade-support gates only. Later partitions remained sealed.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Project/Time-Series-Modeling-Gen5/runs/research_workbench/literature_grounded/lit_mr_02_1_bollinger_20260728/mr02_gate_summary.csv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Project/Time-Series-Modeling-Gen5/runs/research_workbench/literature_grounded/lit_mr_02_1_bollinger_20260728/mr02_integrity_audit.csv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Project/Time-Series-Modeling-Gen5/runs/research_workbench/literature_grounded/lit_mr_02_1_bollinger_20260728/mr02_run_spec.csv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Pair names, Y/X orientation, categories, window, strategy mechanics, costs, and gates were frozen before running. The panel is breadth evidence, not an optimizer.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Project/Time-Series-Modeling-Gen5/docs/GEN5_LIT_MR_02_1_PANEL_A_CONTRACT.md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Project/Time-Series-Modeling-Gen5/runs/research_workbench/literature_grounded/lit_mr_02_1_panel_a_20260728/mr02_panel_pair_registry.csv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Project/Time-Series-Modeling-Gen5/runs/research_workbench/literature_grounded/lit_mr_02_1_panel_a_20260728/mr02_panel_run_spec.csv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plot retains the predeclared registry order. It is not outcome-sorted. USO-XLE's positive point estimate had a wide interval spanning zero and failed the random-sign and forward-convergence gates.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Project/Time-Series-Modeling-Gen5/runs/research_workbench/literature_grounded/lit_mr_02_1_panel_a_20260728/mr02_panel_pair_summary.csv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Project/Time-Series-Modeling-Gen5/runs/research_workbench/literature_grounded/lit_mr_02_1_panel_a_20260728/mr02_panel_gate_summary.csv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Project/Time-Series-Modeling-Gen5/runs/research_workbench/literature_grounded/lit_mr_02_1_panel_a_20260728/visuals/mr02_panel_pair_net_return_ci.png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G4 is the cost-surviving trade-return gate. G8 is the signed forward-convergence gate. No primary pair passed either gate under the frozen definitions.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Project/Time-Series-Modeling-Gen5/runs/research_workbench/literature_grounded/lit_mr_02_1_panel_a_20260728/mr02_panel_gate_summary.csv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Project/Time-Series-Modeling-Gen5/runs/research_workbench/literature_grounded/lit_mr_02_1_panel_a_20260728/mr02_panel_forward_convergence_summary.csv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Project/Time-Series-Modeling-Gen5/runs/research_workbench/literature_grounded/lit_mr_02_1_panel_a_20260728/visuals/mr02_panel_gate_heatmap.png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IVV-SPY and IAU-GLD were especially instructive: the relation was tight, but round-trip costs dominated the small gross spread movement. GLD-UUP and TLT-SPY showed frequent beta-sign changes, reinforcing the semantic warning.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Project/Time-Series-Modeling-Gen5/runs/research_workbench/literature_grounded/lit_mr_02_1_panel_a_20260728/mr02_panel_category_summary.csv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Project/Time-Series-Modeling-Gen5/runs/research_workbench/literature_grounded/lit_mr_02_1_panel_a_20260728/mr02_panel_inverse_diagnostics.csv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Project/Time-Series-Modeling-Gen5/runs/research_workbench/literature_grounded/lit_mr_02_1_panel_a_20260728/mr02_panel_pair_summary.csv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Panel B was designed for economic variety, not expected profitability. The nine sector pairs compare broad providers; the industry pairs test related but less interchangeable exposures; GDX-GLD tests a producer/commodity relationship.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Project/Time-Series-Modeling-Gen5/docs/GEN5_LIT_MR_02_1_PANEL_B_CONTRACT.md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Project/Time-Series-Modeling-Gen5/runs/research_workbench/literature_grounded/lit_mr_02_1_panel_b_20260728/mr02_panel_pair_registry.csv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Project/Time-Series-Modeling-Gen5/runs/research_workbench/literature_grounded/lit_mr_02_1_panel_b_20260728/mr02_panel_run_spec.csv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chart is fixed in the predeclared B01-B15 order. IHI-XLV was least negative at -3.56 bp per trade; the Panel B median was -13.64 bp. No pair had a positive mean.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Project/Time-Series-Modeling-Gen5/runs/research_workbench/literature_grounded/lit_mr_02_1_panel_b_20260728/mr02_panel_pair_summary.csv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Project/Time-Series-Modeling-Gen5/runs/research_workbench/literature_grounded/lit_mr_02_1_panel_b_20260728/mr02_panel_gate_summary.csv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Project/Time-Series-Modeling-Gen5/runs/research_workbench/literature_grounded/lit_mr_02_1_panel_b_20260728/visuals/mr02_panel_pair_net_return_ci.png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XRT-XLY narrowly missed G2 with 94.3% positive-beta coverage. IHI-XLV, XRT-XLY, and XBI-IBB passed G7. Four pairs had negative forward-correlation point estimates, but every confidence interval crossed zero, so none passed G8.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Project/Time-Series-Modeling-Gen5/runs/research_workbench/literature_grounded/lit_mr_02_1_panel_b_20260728/mr02_panel_gate_summary.csv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Project/Time-Series-Modeling-Gen5/runs/research_workbench/literature_grounded/lit_mr_02_1_panel_b_20260728/mr02_panel_forward_convergence_summary.csv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Project/Time-Series-Modeling-Gen5/runs/research_workbench/literature_grounded/lit_mr_02_1_panel_b_20260728/visuals/mr02_panel_gate_heatmap.png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Panel A contained 12 primary pairs and two inverse diagnostics; Panel B added 15 primary pairs. Across the 27 primary pairs, no strategy cleared all eight gates and no pair robustly confirmed the claimed forward-convergence mechanism.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Project/Time-Series-Modeling-Gen5/runs/research_workbench/literature_grounded/lit_mr_02_1_panel_a_20260728/mr02_panel_pair_summary.csv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Project/Time-Series-Modeling-Gen5/runs/research_workbench/literature_grounded/lit_mr_02_1_panel_a_20260728/mr02_panel_gate_summary.csv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Project/Time-Series-Modeling-Gen5/runs/research_workbench/literature_grounded/lit_mr_02_1_panel_b_20260728/mr02_panel_pair_summary.csv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Project/Time-Series-Modeling-Gen5/runs/research_workbench/literature_grounded/lit_mr_02_1_panel_b_20260728/mr02_panel_gate_summary.csv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result is actionable as research governance: the exact source-inspired template is broadly stopped in TRAIN. A future variant must begin from a new mechanism-level hypothesis, not from rescuing a pair or threshold after observing these outcomes.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Project/Time-Series-Modeling-Gen5/docs/GEN5_LIT_MR_02_1_PANEL_A_CONTRACT.md</a:t>
            </a:r>
          </a:p>
          <a:p xmlns:a="http://schemas.openxmlformats.org/drawingml/2006/main">
            <a:r>
              <a:t>- C:/Users/Franc/OneDrive/Documents/Francis/Peltata Project/Time-Series-Modeling-Gen5/docs/GEN5_LIT_MR_02_1_PANEL_B_CONTRACT.md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Project/Time-Series-Modeling-Gen5/runs/research_workbench/literature_grounded/lit_mr_02_1_panel_b_20260728/mr02_panel_report.md</a:t>
            </a:r>
          </a:p>
          <a:p xmlns:a="http://schemas.openxmlformats.org/drawingml/2006/main">
            <a:r>
              <a:t>- C:/Users/Franc/OneDrive/Documents/Francis/Peltata Project/Time-Series-Modeling-Gen5/docs/GEN5_LITERATURE_GROUNDED_STRATEGY_RESEARCH_NOMENCLATURE.md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1518937bb44f8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c48b7572e604248" /><Relationship Type="http://schemas.openxmlformats.org/officeDocument/2006/relationships/slideLayout" Target="/ppt/slideLayouts/slideLayout1.xml" Id="R28a5830d6cdd4a2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8a5830d6cdd4a2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14cee4e846441f" /><Relationship Type="http://schemas.openxmlformats.org/officeDocument/2006/relationships/notesSlide" Target="/ppt/notesSlides/notesSlide1.xml" Id="R86d22cf6e856427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5b8e6d6d1c4b51" /><Relationship Type="http://schemas.openxmlformats.org/officeDocument/2006/relationships/notesSlide" Target="/ppt/notesSlides/notesSlide2.xml" Id="R87fb7df32527448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5053732c1b4e22" /><Relationship Type="http://schemas.openxmlformats.org/officeDocument/2006/relationships/notesSlide" Target="/ppt/notesSlides/notesSlide3.xml" Id="R946f4f9f8ad1449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36044f32dc482e" /><Relationship Type="http://schemas.openxmlformats.org/officeDocument/2006/relationships/notesSlide" Target="/ppt/notesSlides/notesSlide4.xml" Id="R5b0c987850e843f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b5504e764448ab" /><Relationship Type="http://schemas.openxmlformats.org/officeDocument/2006/relationships/image" Target="/ppt/media/image.png" Id="R57944cef7cf54554" /><Relationship Type="http://schemas.openxmlformats.org/officeDocument/2006/relationships/image" Target="/ppt/media/image2.png" Id="Ra9ed94faefcd414b" /><Relationship Type="http://schemas.openxmlformats.org/officeDocument/2006/relationships/notesSlide" Target="/ppt/notesSlides/notesSlide5.xml" Id="R3130d9329749429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191a7132214ed1" /><Relationship Type="http://schemas.openxmlformats.org/officeDocument/2006/relationships/notesSlide" Target="/ppt/notesSlides/notesSlide6.xml" Id="R3a9c8d944d5d4d8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1de0c1681843e8" /><Relationship Type="http://schemas.openxmlformats.org/officeDocument/2006/relationships/notesSlide" Target="/ppt/notesSlides/notesSlide7.xml" Id="Rdf70b03389c6461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d7520d8d894dc0" /><Relationship Type="http://schemas.openxmlformats.org/officeDocument/2006/relationships/notesSlide" Target="/ppt/notesSlides/notesSlide8.xml" Id="Rdfc5f026c2004e8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46a743ac4f4aab" /><Relationship Type="http://schemas.openxmlformats.org/officeDocument/2006/relationships/notesSlide" Target="/ppt/notesSlides/notesSlide9.xml" Id="Rd3c761fe80524d7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cfec311e2d40c8" /><Relationship Type="http://schemas.openxmlformats.org/officeDocument/2006/relationships/notesSlide" Target="/ppt/notesSlides/notesSlide10.xml" Id="Rc7a8f89cf1ef4b1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0e801f6033486b" /><Relationship Type="http://schemas.openxmlformats.org/officeDocument/2006/relationships/image" Target="/ppt/media/image.png" Id="R1ad7c4cfa58b49e3" /><Relationship Type="http://schemas.openxmlformats.org/officeDocument/2006/relationships/notesSlide" Target="/ppt/notesSlides/notesSlide11.xml" Id="Rc08fe0ec54b942e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3d77d5292e46a2" /><Relationship Type="http://schemas.openxmlformats.org/officeDocument/2006/relationships/image" Target="/ppt/media/image3.png" Id="Rbd98b92e54b64f9f" /><Relationship Type="http://schemas.openxmlformats.org/officeDocument/2006/relationships/notesSlide" Target="/ppt/notesSlides/notesSlide12.xml" Id="Reed860e8d7d345f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83cd8022a24ae3" /><Relationship Type="http://schemas.openxmlformats.org/officeDocument/2006/relationships/image" Target="/ppt/media/image4.png" Id="Rf6b1d87a221f4302" /><Relationship Type="http://schemas.openxmlformats.org/officeDocument/2006/relationships/notesSlide" Target="/ppt/notesSlides/notesSlide13.xml" Id="Rfc393bc9a282479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1add30bd554260" /><Relationship Type="http://schemas.openxmlformats.org/officeDocument/2006/relationships/image" Target="/ppt/media/image5.png" Id="R53b7e79685264104" /><Relationship Type="http://schemas.openxmlformats.org/officeDocument/2006/relationships/notesSlide" Target="/ppt/notesSlides/notesSlide14.xml" Id="R528d74ef81d94eb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9deeb66e2a414a" /><Relationship Type="http://schemas.openxmlformats.org/officeDocument/2006/relationships/image" Target="/ppt/media/image6.png" Id="R2edcd91e42f14b3b" /><Relationship Type="http://schemas.openxmlformats.org/officeDocument/2006/relationships/notesSlide" Target="/ppt/notesSlides/notesSlide15.xml" Id="R8bcabf2eaf8e43e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c8ac28ba7c4293" /><Relationship Type="http://schemas.openxmlformats.org/officeDocument/2006/relationships/notesSlide" Target="/ppt/notesSlides/notesSlide16.xml" Id="R221b404acc294bf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f62d762136401a" /><Relationship Type="http://schemas.openxmlformats.org/officeDocument/2006/relationships/notesSlide" Target="/ppt/notesSlides/notesSlide17.xml" Id="R75a35be14d84493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1d4b88442045e3" /><Relationship Type="http://schemas.openxmlformats.org/officeDocument/2006/relationships/image" Target="/ppt/media/image3.png" Id="R28383a6e6797451f" /><Relationship Type="http://schemas.openxmlformats.org/officeDocument/2006/relationships/image" Target="/ppt/media/image7.png" Id="R04a79aa9b18e4fe6" /><Relationship Type="http://schemas.openxmlformats.org/officeDocument/2006/relationships/notesSlide" Target="/ppt/notesSlides/notesSlide18.xml" Id="R467caaea6823416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718f2c99164038" /><Relationship Type="http://schemas.openxmlformats.org/officeDocument/2006/relationships/image" Target="/ppt/media/image6.png" Id="R9cca271d023748ae" /><Relationship Type="http://schemas.openxmlformats.org/officeDocument/2006/relationships/image" Target="/ppt/media/image8.png" Id="R9bee013a90d94eca" /><Relationship Type="http://schemas.openxmlformats.org/officeDocument/2006/relationships/notesSlide" Target="/ppt/notesSlides/notesSlide19.xml" Id="R66d23891992e40d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44086c364542ae" /><Relationship Type="http://schemas.openxmlformats.org/officeDocument/2006/relationships/notesSlide" Target="/ppt/notesSlides/notesSlide20.xml" Id="Rf630a4675ab1462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1f5f2aba7f4a90" /><Relationship Type="http://schemas.openxmlformats.org/officeDocument/2006/relationships/notesSlide" Target="/ppt/notesSlides/notesSlide21.xml" Id="R6430858c0da446c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17000e6b1a404f" /><Relationship Type="http://schemas.openxmlformats.org/officeDocument/2006/relationships/image" Target="/ppt/media/image3.png" Id="R0802a2ace50e47cd" /><Relationship Type="http://schemas.openxmlformats.org/officeDocument/2006/relationships/image" Target="/ppt/media/image7.png" Id="Ra121087fd00e459a" /><Relationship Type="http://schemas.openxmlformats.org/officeDocument/2006/relationships/image" Target="/ppt/media/image9.png" Id="R027c94fab89a4285" /><Relationship Type="http://schemas.openxmlformats.org/officeDocument/2006/relationships/notesSlide" Target="/ppt/notesSlides/notesSlide22.xml" Id="R7a3858036fea429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cc95a36084470e" /><Relationship Type="http://schemas.openxmlformats.org/officeDocument/2006/relationships/image" Target="/ppt/media/image6.png" Id="Rf36add23a4e54eba" /><Relationship Type="http://schemas.openxmlformats.org/officeDocument/2006/relationships/image" Target="/ppt/media/image8.png" Id="R26ab10a9a5d04009" /><Relationship Type="http://schemas.openxmlformats.org/officeDocument/2006/relationships/image" Target="/ppt/media/image10.png" Id="R937bd660620541d7" /><Relationship Type="http://schemas.openxmlformats.org/officeDocument/2006/relationships/notesSlide" Target="/ppt/notesSlides/notesSlide23.xml" Id="Rc5ad73c25bfe4e1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1156015d614a4f" /><Relationship Type="http://schemas.openxmlformats.org/officeDocument/2006/relationships/notesSlide" Target="/ppt/notesSlides/notesSlide24.xml" Id="Rbc4d14c5efe947df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aea4749135426b" /><Relationship Type="http://schemas.openxmlformats.org/officeDocument/2006/relationships/notesSlide" Target="/ppt/notesSlides/notesSlide25.xml" Id="Rae1d25c1fced49a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cover-headline">
            <a:extLst xmlns:a="http://schemas.openxmlformats.org/drawingml/2006/main">
              <a:ext uri="{FF2B5EF4-FFF2-40B4-BE49-F238E27FC236}">
                <a16:creationId xmlns:a16="http://schemas.microsoft.com/office/drawing/2014/main" id="{DA6318FA-2F99-4DF9-A744-06350F910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102870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57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LIT-MR-02.1
from example to breadth</a:t>
            </a:r>
          </a:p>
        </p:txBody>
      </p:sp>
      <p:sp>
        <p:nvSpPr>
          <p:cNvPr id="2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E169DF7F-9A3A-4AE2-8055-4ED350724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62500"/>
            <a:ext cx="800100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USO-GLD remains the canonical literature example. Two predeclared panels test the same 20-session template across 27 primary ETF relationships.</a:t>
            </a:r>
          </a:p>
        </p:txBody>
      </p:sp>
      <p:sp>
        <p:nvSpPr>
          <p:cNvPr id="3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D2399950-CA2D-41D2-BB2E-E681018A5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7239000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LITERATURE-GROUNDED STRATEGY RESEARCH | 28 JUL 2026</a:t>
            </a:r>
          </a:p>
        </p:txBody>
      </p:sp>
    </p:spTree>
    <p:extLst>
      <p:ext uri="{BB962C8B-B14F-4D97-AF65-F5344CB8AC3E}">
        <p14:creationId xmlns:p14="http://schemas.microsoft.com/office/powerpoint/2010/main" val="209289339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tat-card-1">
            <a:extLst xmlns:a="http://schemas.openxmlformats.org/drawingml/2006/main">
              <a:ext uri="{FF2B5EF4-FFF2-40B4-BE49-F238E27FC236}">
                <a16:creationId xmlns:a16="http://schemas.microsoft.com/office/drawing/2014/main" id="{8D249104-692F-481F-82EC-326C84E90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stat-card-2">
            <a:extLst xmlns:a="http://schemas.openxmlformats.org/drawingml/2006/main">
              <a:ext uri="{FF2B5EF4-FFF2-40B4-BE49-F238E27FC236}">
                <a16:creationId xmlns:a16="http://schemas.microsoft.com/office/drawing/2014/main" id="{02412AD9-1F13-493C-BF6C-FD8BDE750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stat-card-3">
            <a:extLst xmlns:a="http://schemas.openxmlformats.org/drawingml/2006/main">
              <a:ext uri="{FF2B5EF4-FFF2-40B4-BE49-F238E27FC236}">
                <a16:creationId xmlns:a16="http://schemas.microsoft.com/office/drawing/2014/main" id="{63597CCF-F233-4A0C-BCFA-192F852FD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11E272E4-82E7-4287-91C5-21E6B629F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A0ED332F-4F42-421E-99CF-097B6CBB5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This is not single-asset Bollinger Bands</a:t>
            </a:r>
          </a:p>
        </p:txBody>
      </p:sp>
      <p:sp>
        <p:nvSpPr>
          <p:cNvPr id="6" name="intro">
            <a:extLst xmlns:a="http://schemas.openxmlformats.org/drawingml/2006/main">
              <a:ext uri="{FF2B5EF4-FFF2-40B4-BE49-F238E27FC236}">
                <a16:creationId xmlns:a16="http://schemas.microsoft.com/office/drawing/2014/main" id="{E3D1AF2D-950D-495D-BB07-182C768AD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219200"/>
            <a:ext cx="11404568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Chan first estimates a rolling raw-price hedge ratio, builds the two-asset unit-portfolio spread, and only then standardizes that spread. Example 3.2 explicitly reuses the raw-price construction from Example 3.1.</a:t>
            </a:r>
          </a:p>
        </p:txBody>
      </p:sp>
      <p:sp>
        <p:nvSpPr>
          <p:cNvPr id="7" name="stat-1">
            <a:extLst xmlns:a="http://schemas.openxmlformats.org/drawingml/2006/main">
              <a:ext uri="{FF2B5EF4-FFF2-40B4-BE49-F238E27FC236}">
                <a16:creationId xmlns:a16="http://schemas.microsoft.com/office/drawing/2014/main" id="{447A29C0-2600-4241-BF6B-6797417FC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USO - β·GLD</a:t>
            </a:r>
          </a:p>
        </p:txBody>
      </p:sp>
      <p:sp>
        <p:nvSpPr>
          <p:cNvPr id="8" name="stat-label-1">
            <a:extLst xmlns:a="http://schemas.openxmlformats.org/drawingml/2006/main">
              <a:ext uri="{FF2B5EF4-FFF2-40B4-BE49-F238E27FC236}">
                <a16:creationId xmlns:a16="http://schemas.microsoft.com/office/drawing/2014/main" id="{1D2A853D-A304-477D-B8B8-F77F0101A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Adaptive raw-price spread
—not either ETF alone</a:t>
            </a:r>
          </a:p>
        </p:txBody>
      </p:sp>
      <p:sp>
        <p:nvSpPr>
          <p:cNvPr id="9" name="stat-2">
            <a:extLst xmlns:a="http://schemas.openxmlformats.org/drawingml/2006/main">
              <a:ext uri="{FF2B5EF4-FFF2-40B4-BE49-F238E27FC236}">
                <a16:creationId xmlns:a16="http://schemas.microsoft.com/office/drawing/2014/main" id="{342C60B8-5C35-4607-932D-DFD8E206B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20 sessions</a:t>
            </a:r>
          </a:p>
        </p:txBody>
      </p:sp>
      <p:sp>
        <p:nvSpPr>
          <p:cNvPr id="10" name="stat-label-2">
            <a:extLst xmlns:a="http://schemas.openxmlformats.org/drawingml/2006/main">
              <a:ext uri="{FF2B5EF4-FFF2-40B4-BE49-F238E27FC236}">
                <a16:creationId xmlns:a16="http://schemas.microsoft.com/office/drawing/2014/main" id="{3123331A-6BB6-4FC3-B18C-EE98C6A8F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Rolling OLS beta
and spread standardization</a:t>
            </a:r>
          </a:p>
        </p:txBody>
      </p:sp>
      <p:sp>
        <p:nvSpPr>
          <p:cNvPr id="11" name="stat-3">
            <a:extLst xmlns:a="http://schemas.openxmlformats.org/drawingml/2006/main">
              <a:ext uri="{FF2B5EF4-FFF2-40B4-BE49-F238E27FC236}">
                <a16:creationId xmlns:a16="http://schemas.microsoft.com/office/drawing/2014/main" id="{A0AD0C21-BC31-4957-B0CB-525311D43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Price, not log</a:t>
            </a:r>
          </a:p>
        </p:txBody>
      </p:sp>
      <p:sp>
        <p:nvSpPr>
          <p:cNvPr id="12" name="stat-label-3">
            <a:extLst xmlns:a="http://schemas.openxmlformats.org/drawingml/2006/main">
              <a:ext uri="{FF2B5EF4-FFF2-40B4-BE49-F238E27FC236}">
                <a16:creationId xmlns:a16="http://schemas.microsoft.com/office/drawing/2014/main" id="{86C9D445-5711-4319-B967-D72E959CA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Source-faithful transform
Log price is a separate test</a:t>
            </a:r>
          </a:p>
        </p:txBody>
      </p:sp>
    </p:spTree>
    <p:extLst>
      <p:ext uri="{BB962C8B-B14F-4D97-AF65-F5344CB8AC3E}">
        <p14:creationId xmlns:p14="http://schemas.microsoft.com/office/powerpoint/2010/main" val="209824963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tat-card-1">
            <a:extLst xmlns:a="http://schemas.openxmlformats.org/drawingml/2006/main">
              <a:ext uri="{FF2B5EF4-FFF2-40B4-BE49-F238E27FC236}">
                <a16:creationId xmlns:a16="http://schemas.microsoft.com/office/drawing/2014/main" id="{8D249104-692F-481F-82EC-326C84E90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stat-card-2">
            <a:extLst xmlns:a="http://schemas.openxmlformats.org/drawingml/2006/main">
              <a:ext uri="{FF2B5EF4-FFF2-40B4-BE49-F238E27FC236}">
                <a16:creationId xmlns:a16="http://schemas.microsoft.com/office/drawing/2014/main" id="{02412AD9-1F13-493C-BF6C-FD8BDE750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stat-card-3">
            <a:extLst xmlns:a="http://schemas.openxmlformats.org/drawingml/2006/main">
              <a:ext uri="{FF2B5EF4-FFF2-40B4-BE49-F238E27FC236}">
                <a16:creationId xmlns:a16="http://schemas.microsoft.com/office/drawing/2014/main" id="{63597CCF-F233-4A0C-BCFA-192F852FD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11E272E4-82E7-4287-91C5-21E6B629F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A0ED332F-4F42-421E-99CF-097B6CBB5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hedge ratio is a local price-unit conversion</a:t>
            </a:r>
          </a:p>
        </p:txBody>
      </p:sp>
      <p:sp>
        <p:nvSpPr>
          <p:cNvPr id="6" name="intro">
            <a:extLst xmlns:a="http://schemas.openxmlformats.org/drawingml/2006/main">
              <a:ext uri="{FF2B5EF4-FFF2-40B4-BE49-F238E27FC236}">
                <a16:creationId xmlns:a16="http://schemas.microsoft.com/office/drawing/2014/main" id="{E3D1AF2D-950D-495D-BB07-182C768AD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219200"/>
            <a:ext cx="11404568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At each close, regress Y on X using only the latest 20 closes: Y = alpha + beta X + error. Beta is an OLS slope, not correlation and not a claim of causality.</a:t>
            </a:r>
          </a:p>
        </p:txBody>
      </p:sp>
      <p:sp>
        <p:nvSpPr>
          <p:cNvPr id="7" name="stat-1">
            <a:extLst xmlns:a="http://schemas.openxmlformats.org/drawingml/2006/main">
              <a:ext uri="{FF2B5EF4-FFF2-40B4-BE49-F238E27FC236}">
                <a16:creationId xmlns:a16="http://schemas.microsoft.com/office/drawing/2014/main" id="{447A29C0-2600-4241-BF6B-6797417FC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β = Cov(X,Y) / Var(X)</a:t>
            </a:r>
          </a:p>
        </p:txBody>
      </p:sp>
      <p:sp>
        <p:nvSpPr>
          <p:cNvPr id="8" name="stat-label-1">
            <a:extLst xmlns:a="http://schemas.openxmlformats.org/drawingml/2006/main">
              <a:ext uri="{FF2B5EF4-FFF2-40B4-BE49-F238E27FC236}">
                <a16:creationId xmlns:a16="http://schemas.microsoft.com/office/drawing/2014/main" id="{1D2A853D-A304-477D-B8B8-F77F0101A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Slope: expected price-unit change in Y
per one-unit change in X</a:t>
            </a:r>
          </a:p>
        </p:txBody>
      </p:sp>
      <p:sp>
        <p:nvSpPr>
          <p:cNvPr id="9" name="stat-2">
            <a:extLst xmlns:a="http://schemas.openxmlformats.org/drawingml/2006/main">
              <a:ext uri="{FF2B5EF4-FFF2-40B4-BE49-F238E27FC236}">
                <a16:creationId xmlns:a16="http://schemas.microsoft.com/office/drawing/2014/main" id="{342C60B8-5C35-4607-932D-DFD8E206B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α = Ȳ − βX̄</a:t>
            </a:r>
          </a:p>
        </p:txBody>
      </p:sp>
      <p:sp>
        <p:nvSpPr>
          <p:cNvPr id="10" name="stat-label-2">
            <a:extLst xmlns:a="http://schemas.openxmlformats.org/drawingml/2006/main">
              <a:ext uri="{FF2B5EF4-FFF2-40B4-BE49-F238E27FC236}">
                <a16:creationId xmlns:a16="http://schemas.microsoft.com/office/drawing/2014/main" id="{3123331A-6BB6-4FC3-B18C-EE98C6A8F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Estimated in the regression
but omitted from the traded spread</a:t>
            </a:r>
          </a:p>
        </p:txBody>
      </p:sp>
      <p:sp>
        <p:nvSpPr>
          <p:cNvPr id="11" name="stat-3">
            <a:extLst xmlns:a="http://schemas.openxmlformats.org/drawingml/2006/main">
              <a:ext uri="{FF2B5EF4-FFF2-40B4-BE49-F238E27FC236}">
                <a16:creationId xmlns:a16="http://schemas.microsoft.com/office/drawing/2014/main" id="{A0AD0C21-BC31-4957-B0CB-525311D43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Backward only</a:t>
            </a:r>
          </a:p>
        </p:txBody>
      </p:sp>
      <p:sp>
        <p:nvSpPr>
          <p:cNvPr id="12" name="stat-label-3">
            <a:extLst xmlns:a="http://schemas.openxmlformats.org/drawingml/2006/main">
              <a:ext uri="{FF2B5EF4-FFF2-40B4-BE49-F238E27FC236}">
                <a16:creationId xmlns:a16="http://schemas.microsoft.com/office/drawing/2014/main" id="{86C9D445-5711-4319-B967-D72E959CA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window ends at close t
No future observations</a:t>
            </a:r>
          </a:p>
        </p:txBody>
      </p:sp>
    </p:spTree>
    <p:extLst>
      <p:ext uri="{BB962C8B-B14F-4D97-AF65-F5344CB8AC3E}">
        <p14:creationId xmlns:p14="http://schemas.microsoft.com/office/powerpoint/2010/main" val="209824963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tat-card-1">
            <a:extLst xmlns:a="http://schemas.openxmlformats.org/drawingml/2006/main">
              <a:ext uri="{FF2B5EF4-FFF2-40B4-BE49-F238E27FC236}">
                <a16:creationId xmlns:a16="http://schemas.microsoft.com/office/drawing/2014/main" id="{8D249104-692F-481F-82EC-326C84E90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stat-card-2">
            <a:extLst xmlns:a="http://schemas.openxmlformats.org/drawingml/2006/main">
              <a:ext uri="{FF2B5EF4-FFF2-40B4-BE49-F238E27FC236}">
                <a16:creationId xmlns:a16="http://schemas.microsoft.com/office/drawing/2014/main" id="{02412AD9-1F13-493C-BF6C-FD8BDE750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stat-card-3">
            <a:extLst xmlns:a="http://schemas.openxmlformats.org/drawingml/2006/main">
              <a:ext uri="{FF2B5EF4-FFF2-40B4-BE49-F238E27FC236}">
                <a16:creationId xmlns:a16="http://schemas.microsoft.com/office/drawing/2014/main" id="{63597CCF-F233-4A0C-BCFA-192F852FD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11E272E4-82E7-4287-91C5-21E6B629F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A0ED332F-4F42-421E-99CF-097B6CBB5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z-score asks how unusual today's spread is</a:t>
            </a:r>
          </a:p>
        </p:txBody>
      </p:sp>
      <p:sp>
        <p:nvSpPr>
          <p:cNvPr id="6" name="intro">
            <a:extLst xmlns:a="http://schemas.openxmlformats.org/drawingml/2006/main">
              <a:ext uri="{FF2B5EF4-FFF2-40B4-BE49-F238E27FC236}">
                <a16:creationId xmlns:a16="http://schemas.microsoft.com/office/drawing/2014/main" id="{E3D1AF2D-950D-495D-BB07-182C768AD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219200"/>
            <a:ext cx="11404568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First form the two-asset spread. Then compare today's spread with its own recent level and volatility. The bands belong to the relationship, not to either asset alone.</a:t>
            </a:r>
          </a:p>
        </p:txBody>
      </p:sp>
      <p:sp>
        <p:nvSpPr>
          <p:cNvPr id="7" name="stat-1">
            <a:extLst xmlns:a="http://schemas.openxmlformats.org/drawingml/2006/main">
              <a:ext uri="{FF2B5EF4-FFF2-40B4-BE49-F238E27FC236}">
                <a16:creationId xmlns:a16="http://schemas.microsoft.com/office/drawing/2014/main" id="{447A29C0-2600-4241-BF6B-6797417FC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Sₜ = Yₜ − βₜXₜ</a:t>
            </a:r>
          </a:p>
        </p:txBody>
      </p:sp>
      <p:sp>
        <p:nvSpPr>
          <p:cNvPr id="8" name="stat-label-1">
            <a:extLst xmlns:a="http://schemas.openxmlformats.org/drawingml/2006/main">
              <a:ext uri="{FF2B5EF4-FFF2-40B4-BE49-F238E27FC236}">
                <a16:creationId xmlns:a16="http://schemas.microsoft.com/office/drawing/2014/main" id="{1D2A853D-A304-477D-B8B8-F77F0101A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 low spread means Y is cheap
relative to the fitted X leg</a:t>
            </a:r>
          </a:p>
        </p:txBody>
      </p:sp>
      <p:sp>
        <p:nvSpPr>
          <p:cNvPr id="9" name="stat-2">
            <a:extLst xmlns:a="http://schemas.openxmlformats.org/drawingml/2006/main">
              <a:ext uri="{FF2B5EF4-FFF2-40B4-BE49-F238E27FC236}">
                <a16:creationId xmlns:a16="http://schemas.microsoft.com/office/drawing/2014/main" id="{342C60B8-5C35-4607-932D-DFD8E206B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μₜ and σₜ</a:t>
            </a:r>
          </a:p>
        </p:txBody>
      </p:sp>
      <p:sp>
        <p:nvSpPr>
          <p:cNvPr id="10" name="stat-label-2">
            <a:extLst xmlns:a="http://schemas.openxmlformats.org/drawingml/2006/main">
              <a:ext uri="{FF2B5EF4-FFF2-40B4-BE49-F238E27FC236}">
                <a16:creationId xmlns:a16="http://schemas.microsoft.com/office/drawing/2014/main" id="{3123331A-6BB6-4FC3-B18C-EE98C6A8F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Rolling mean and standard deviation
of the latest 20 spread values</a:t>
            </a:r>
          </a:p>
        </p:txBody>
      </p:sp>
      <p:sp>
        <p:nvSpPr>
          <p:cNvPr id="11" name="stat-3">
            <a:extLst xmlns:a="http://schemas.openxmlformats.org/drawingml/2006/main">
              <a:ext uri="{FF2B5EF4-FFF2-40B4-BE49-F238E27FC236}">
                <a16:creationId xmlns:a16="http://schemas.microsoft.com/office/drawing/2014/main" id="{A0AD0C21-BC31-4957-B0CB-525311D43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zₜ = (Sₜ − μₜ) / σₜ</a:t>
            </a:r>
          </a:p>
        </p:txBody>
      </p:sp>
      <p:sp>
        <p:nvSpPr>
          <p:cNvPr id="12" name="stat-label-3">
            <a:extLst xmlns:a="http://schemas.openxmlformats.org/drawingml/2006/main">
              <a:ext uri="{FF2B5EF4-FFF2-40B4-BE49-F238E27FC236}">
                <a16:creationId xmlns:a16="http://schemas.microsoft.com/office/drawing/2014/main" id="{86C9D445-5711-4319-B967-D72E959CA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Distance from the rolling mean
measured in recent spread volatility</a:t>
            </a:r>
          </a:p>
        </p:txBody>
      </p:sp>
    </p:spTree>
    <p:extLst>
      <p:ext uri="{BB962C8B-B14F-4D97-AF65-F5344CB8AC3E}">
        <p14:creationId xmlns:p14="http://schemas.microsoft.com/office/powerpoint/2010/main" val="209824963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4F272998-B60C-44E0-849E-A04A87223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5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A16F9E5-1AF4-43B0-AB25-E3AE98294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5537168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 spread signal becomes two executable dollar weights</a:t>
            </a:r>
          </a:p>
        </p:txBody>
      </p:sp>
      <p:sp>
        <p:nvSpPr>
          <p:cNvPr id="3" name="image-backing">
            <a:extLst xmlns:a="http://schemas.openxmlformats.org/drawingml/2006/main">
              <a:ext uri="{FF2B5EF4-FFF2-40B4-BE49-F238E27FC236}">
                <a16:creationId xmlns:a16="http://schemas.microsoft.com/office/drawing/2014/main" id="{5EE0E946-4B2C-4DE9-8839-3DE0D30C8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9069" y="396431"/>
            <a:ext cx="5539740" cy="5602034"/>
          </a:xfrm>
          <a:prstGeom xmlns:a="http://schemas.openxmlformats.org/drawingml/2006/main" prst="roundRect">
            <a:avLst>
              <a:gd name="adj" fmla="val 137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3E0CA677-50AA-4CCF-BC5C-CB90210AF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695450"/>
            <a:ext cx="5537168" cy="423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Direction d = +1 when z &lt; −1
Direction d = −1 when z &gt; +1
Exit when z crosses zero
wY = dY / (Y + |β|X)
wX = −dβX / (Y + |β|X)
Gross exposure sums to one.
Signal at close; trade next open.
Daily beta changes create turnover.
Primary cost: 5 bp per one-way weight change.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944cef7cf54554"/>
          <a:stretch xmlns:a="http://schemas.openxmlformats.org/drawingml/2006/main"/>
        </p:blipFill>
        <p:spPr>
          <a:xfrm xmlns:a="http://schemas.openxmlformats.org/drawingml/2006/main">
            <a:off x="6381750" y="1776196"/>
            <a:ext cx="5314950" cy="3019858"/>
          </a:xfrm>
          <a:prstGeom xmlns:a="http://schemas.openxmlformats.org/drawingml/2006/main" prst="round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228C7B-FAD1-4EFC-8057-453D13C98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76196"/>
            <a:ext cx="5314950" cy="3019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ed94faefcd414b"/>
          <a:stretch xmlns:a="http://schemas.openxmlformats.org/drawingml/2006/main"/>
        </p:blipFill>
        <p:spPr>
          <a:xfrm xmlns:a="http://schemas.openxmlformats.org/drawingml/2006/main">
            <a:off x="6381750" y="1817520"/>
            <a:ext cx="5314950" cy="2937209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87334089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tat-card-1">
            <a:extLst xmlns:a="http://schemas.openxmlformats.org/drawingml/2006/main">
              <a:ext uri="{FF2B5EF4-FFF2-40B4-BE49-F238E27FC236}">
                <a16:creationId xmlns:a16="http://schemas.microsoft.com/office/drawing/2014/main" id="{E92BF88A-D985-4E89-9220-AED80DBBC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stat-card-2">
            <a:extLst xmlns:a="http://schemas.openxmlformats.org/drawingml/2006/main">
              <a:ext uri="{FF2B5EF4-FFF2-40B4-BE49-F238E27FC236}">
                <a16:creationId xmlns:a16="http://schemas.microsoft.com/office/drawing/2014/main" id="{18F3FD71-2B01-497E-B7A5-AD72E3A3F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stat-card-3">
            <a:extLst xmlns:a="http://schemas.openxmlformats.org/drawingml/2006/main">
              <a:ext uri="{FF2B5EF4-FFF2-40B4-BE49-F238E27FC236}">
                <a16:creationId xmlns:a16="http://schemas.microsoft.com/office/drawing/2014/main" id="{A256A665-F93B-46DB-A120-F2929BE31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8B8FEAA9-7122-4602-AAFA-C856C71CA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6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6B999DAA-321B-4DEF-AC22-1F41A5B8E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Positive and negative beta imply different trades</a:t>
            </a:r>
          </a:p>
        </p:txBody>
      </p:sp>
      <p:sp>
        <p:nvSpPr>
          <p:cNvPr id="6" name="intro">
            <a:extLst xmlns:a="http://schemas.openxmlformats.org/drawingml/2006/main">
              <a:ext uri="{FF2B5EF4-FFF2-40B4-BE49-F238E27FC236}">
                <a16:creationId xmlns:a16="http://schemas.microsoft.com/office/drawing/2014/main" id="{B83D39E3-1D42-4CA4-A507-6C07CD200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219200"/>
            <a:ext cx="11404568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algebra can fit co-moving or oppositely moving assets, but the portfolio meaning changes. We therefore trade only positive-beta pairs in this panel and treat inverse relationships as diagnostics.</a:t>
            </a:r>
          </a:p>
        </p:txBody>
      </p:sp>
      <p:sp>
        <p:nvSpPr>
          <p:cNvPr id="7" name="stat-1">
            <a:extLst xmlns:a="http://schemas.openxmlformats.org/drawingml/2006/main">
              <a:ext uri="{FF2B5EF4-FFF2-40B4-BE49-F238E27FC236}">
                <a16:creationId xmlns:a16="http://schemas.microsoft.com/office/drawing/2014/main" id="{CE99FBCB-3F61-4E2C-9916-C8B37E005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64748B"/>
                </a:solidFill>
                <a:latin typeface="Helvetica Neue"/>
                <a:ea typeface="Helvetica Neue"/>
                <a:cs typeface="Helvetica Neue"/>
              </a:defRPr>
            </a:pPr>
            <a:r>
              <a:t>β &gt; 0</a:t>
            </a:r>
          </a:p>
        </p:txBody>
      </p:sp>
      <p:sp>
        <p:nvSpPr>
          <p:cNvPr id="8" name="stat-label-1">
            <a:extLst xmlns:a="http://schemas.openxmlformats.org/drawingml/2006/main">
              <a:ext uri="{FF2B5EF4-FFF2-40B4-BE49-F238E27FC236}">
                <a16:creationId xmlns:a16="http://schemas.microsoft.com/office/drawing/2014/main" id="{8D7A7BD1-1D20-421E-BAC5-DFF695BBE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Relative value: long one leg,
short the other</a:t>
            </a:r>
          </a:p>
        </p:txBody>
      </p:sp>
      <p:sp>
        <p:nvSpPr>
          <p:cNvPr id="9" name="stat-2">
            <a:extLst xmlns:a="http://schemas.openxmlformats.org/drawingml/2006/main">
              <a:ext uri="{FF2B5EF4-FFF2-40B4-BE49-F238E27FC236}">
                <a16:creationId xmlns:a16="http://schemas.microsoft.com/office/drawing/2014/main" id="{E572DBE1-8080-407B-A0FF-815818B83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B42318"/>
                </a:solidFill>
                <a:latin typeface="Helvetica Neue"/>
                <a:ea typeface="Helvetica Neue"/>
                <a:cs typeface="Helvetica Neue"/>
              </a:defRPr>
            </a:pPr>
            <a:r>
              <a:t>β &lt; 0</a:t>
            </a:r>
          </a:p>
        </p:txBody>
      </p:sp>
      <p:sp>
        <p:nvSpPr>
          <p:cNvPr id="10" name="stat-label-2">
            <a:extLst xmlns:a="http://schemas.openxmlformats.org/drawingml/2006/main">
              <a:ext uri="{FF2B5EF4-FFF2-40B4-BE49-F238E27FC236}">
                <a16:creationId xmlns:a16="http://schemas.microsoft.com/office/drawing/2014/main" id="{FD56EAD1-B269-48E0-9F23-33330F29D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Long spread can mean long both assets;
not the same market-neutral trade</a:t>
            </a:r>
          </a:p>
        </p:txBody>
      </p:sp>
      <p:sp>
        <p:nvSpPr>
          <p:cNvPr id="11" name="stat-3">
            <a:extLst xmlns:a="http://schemas.openxmlformats.org/drawingml/2006/main">
              <a:ext uri="{FF2B5EF4-FFF2-40B4-BE49-F238E27FC236}">
                <a16:creationId xmlns:a16="http://schemas.microsoft.com/office/drawing/2014/main" id="{9C6C64B0-28CA-4923-800E-94342CB69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β sign flips</a:t>
            </a:r>
          </a:p>
        </p:txBody>
      </p:sp>
      <p:sp>
        <p:nvSpPr>
          <p:cNvPr id="12" name="stat-label-3">
            <a:extLst xmlns:a="http://schemas.openxmlformats.org/drawingml/2006/main">
              <a:ext uri="{FF2B5EF4-FFF2-40B4-BE49-F238E27FC236}">
                <a16:creationId xmlns:a16="http://schemas.microsoft.com/office/drawing/2014/main" id="{0ED31E12-360E-4FDB-B429-1A6368F4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Position semantics can change
inside one backtest</a:t>
            </a:r>
          </a:p>
        </p:txBody>
      </p:sp>
    </p:spTree>
    <p:extLst>
      <p:ext uri="{BB962C8B-B14F-4D97-AF65-F5344CB8AC3E}">
        <p14:creationId xmlns:p14="http://schemas.microsoft.com/office/powerpoint/2010/main" val="150026174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tat-card-1">
            <a:extLst xmlns:a="http://schemas.openxmlformats.org/drawingml/2006/main">
              <a:ext uri="{FF2B5EF4-FFF2-40B4-BE49-F238E27FC236}">
                <a16:creationId xmlns:a16="http://schemas.microsoft.com/office/drawing/2014/main" id="{8D249104-692F-481F-82EC-326C84E90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stat-card-2">
            <a:extLst xmlns:a="http://schemas.openxmlformats.org/drawingml/2006/main">
              <a:ext uri="{FF2B5EF4-FFF2-40B4-BE49-F238E27FC236}">
                <a16:creationId xmlns:a16="http://schemas.microsoft.com/office/drawing/2014/main" id="{02412AD9-1F13-493C-BF6C-FD8BDE750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stat-card-3">
            <a:extLst xmlns:a="http://schemas.openxmlformats.org/drawingml/2006/main">
              <a:ext uri="{FF2B5EF4-FFF2-40B4-BE49-F238E27FC236}">
                <a16:creationId xmlns:a16="http://schemas.microsoft.com/office/drawing/2014/main" id="{63597CCF-F233-4A0C-BCFA-192F852FD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11E272E4-82E7-4287-91C5-21E6B629F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7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A0ED332F-4F42-421E-99CF-097B6CBB5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books supply the ingredients; Gen5 supplies the checklist</a:t>
            </a:r>
          </a:p>
        </p:txBody>
      </p:sp>
      <p:sp>
        <p:nvSpPr>
          <p:cNvPr id="6" name="intro">
            <a:extLst xmlns:a="http://schemas.openxmlformats.org/drawingml/2006/main">
              <a:ext uri="{FF2B5EF4-FFF2-40B4-BE49-F238E27FC236}">
                <a16:creationId xmlns:a16="http://schemas.microsoft.com/office/drawing/2014/main" id="{E3D1AF2D-950D-495D-BB07-182C768AD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219200"/>
            <a:ext cx="11404568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Chan motivates the mechanics and the evidence categories. The exact eight-gate conjunction, thresholds, and controls are our transparent research rule—not a claim that the books prescribe them.</a:t>
            </a:r>
          </a:p>
        </p:txBody>
      </p:sp>
      <p:sp>
        <p:nvSpPr>
          <p:cNvPr id="7" name="stat-1">
            <a:extLst xmlns:a="http://schemas.openxmlformats.org/drawingml/2006/main">
              <a:ext uri="{FF2B5EF4-FFF2-40B4-BE49-F238E27FC236}">
                <a16:creationId xmlns:a16="http://schemas.microsoft.com/office/drawing/2014/main" id="{447A29C0-2600-4241-BF6B-6797417FC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Literature</a:t>
            </a:r>
          </a:p>
        </p:txBody>
      </p:sp>
      <p:sp>
        <p:nvSpPr>
          <p:cNvPr id="8" name="stat-label-1">
            <a:extLst xmlns:a="http://schemas.openxmlformats.org/drawingml/2006/main">
              <a:ext uri="{FF2B5EF4-FFF2-40B4-BE49-F238E27FC236}">
                <a16:creationId xmlns:a16="http://schemas.microsoft.com/office/drawing/2014/main" id="{1D2A853D-A304-477D-B8B8-F77F0101A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Spread mechanics, costs, trade/bar evaluation
hit rate, stability, uncertainty</a:t>
            </a:r>
          </a:p>
        </p:txBody>
      </p:sp>
      <p:sp>
        <p:nvSpPr>
          <p:cNvPr id="9" name="stat-2">
            <a:extLst xmlns:a="http://schemas.openxmlformats.org/drawingml/2006/main">
              <a:ext uri="{FF2B5EF4-FFF2-40B4-BE49-F238E27FC236}">
                <a16:creationId xmlns:a16="http://schemas.microsoft.com/office/drawing/2014/main" id="{342C60B8-5C35-4607-932D-DFD8E206B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Gen5 design</a:t>
            </a:r>
          </a:p>
        </p:txBody>
      </p:sp>
      <p:sp>
        <p:nvSpPr>
          <p:cNvPr id="10" name="stat-label-2">
            <a:extLst xmlns:a="http://schemas.openxmlformats.org/drawingml/2006/main">
              <a:ext uri="{FF2B5EF4-FFF2-40B4-BE49-F238E27FC236}">
                <a16:creationId xmlns:a16="http://schemas.microsoft.com/office/drawing/2014/main" id="{3123331A-6BB6-4FC3-B18C-EE98C6A8F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Exact thresholds, bootstrap, random-sign control
integrity and timing checks</a:t>
            </a:r>
          </a:p>
        </p:txBody>
      </p:sp>
      <p:sp>
        <p:nvSpPr>
          <p:cNvPr id="11" name="stat-3">
            <a:extLst xmlns:a="http://schemas.openxmlformats.org/drawingml/2006/main">
              <a:ext uri="{FF2B5EF4-FFF2-40B4-BE49-F238E27FC236}">
                <a16:creationId xmlns:a16="http://schemas.microsoft.com/office/drawing/2014/main" id="{A0AD0C21-BC31-4957-B0CB-525311D43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All eight</a:t>
            </a:r>
          </a:p>
        </p:txBody>
      </p:sp>
      <p:sp>
        <p:nvSpPr>
          <p:cNvPr id="12" name="stat-label-3">
            <a:extLst xmlns:a="http://schemas.openxmlformats.org/drawingml/2006/main">
              <a:ext uri="{FF2B5EF4-FFF2-40B4-BE49-F238E27FC236}">
                <a16:creationId xmlns:a16="http://schemas.microsoft.com/office/drawing/2014/main" id="{86C9D445-5711-4319-B967-D72E959CA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 conjunction, not a score
One failure prevents escalation</a:t>
            </a:r>
          </a:p>
        </p:txBody>
      </p:sp>
    </p:spTree>
    <p:extLst>
      <p:ext uri="{BB962C8B-B14F-4D97-AF65-F5344CB8AC3E}">
        <p14:creationId xmlns:p14="http://schemas.microsoft.com/office/powerpoint/2010/main" val="209824963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tat-card-1">
            <a:extLst xmlns:a="http://schemas.openxmlformats.org/drawingml/2006/main">
              <a:ext uri="{FF2B5EF4-FFF2-40B4-BE49-F238E27FC236}">
                <a16:creationId xmlns:a16="http://schemas.microsoft.com/office/drawing/2014/main" id="{8D249104-692F-481F-82EC-326C84E90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stat-card-2">
            <a:extLst xmlns:a="http://schemas.openxmlformats.org/drawingml/2006/main">
              <a:ext uri="{FF2B5EF4-FFF2-40B4-BE49-F238E27FC236}">
                <a16:creationId xmlns:a16="http://schemas.microsoft.com/office/drawing/2014/main" id="{02412AD9-1F13-493C-BF6C-FD8BDE750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stat-card-3">
            <a:extLst xmlns:a="http://schemas.openxmlformats.org/drawingml/2006/main">
              <a:ext uri="{FF2B5EF4-FFF2-40B4-BE49-F238E27FC236}">
                <a16:creationId xmlns:a16="http://schemas.microsoft.com/office/drawing/2014/main" id="{63597CCF-F233-4A0C-BCFA-192F852FD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11E272E4-82E7-4287-91C5-21E6B629F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8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A0ED332F-4F42-421E-99CF-097B6CBB5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G1-G3 are firm admissibility gates</a:t>
            </a:r>
          </a:p>
        </p:txBody>
      </p:sp>
      <p:sp>
        <p:nvSpPr>
          <p:cNvPr id="6" name="intro">
            <a:extLst xmlns:a="http://schemas.openxmlformats.org/drawingml/2006/main">
              <a:ext uri="{FF2B5EF4-FFF2-40B4-BE49-F238E27FC236}">
                <a16:creationId xmlns:a16="http://schemas.microsoft.com/office/drawing/2014/main" id="{E3D1AF2D-950D-495D-BB07-182C768AD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219200"/>
            <a:ext cx="11404568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These gates ask whether the result is valid, has the intended opposite-leg meaning, and contains enough two-sided observations to interpret. Failing one makes downstream performance evidence inadmissible.</a:t>
            </a:r>
          </a:p>
        </p:txBody>
      </p:sp>
      <p:sp>
        <p:nvSpPr>
          <p:cNvPr id="7" name="stat-1">
            <a:extLst xmlns:a="http://schemas.openxmlformats.org/drawingml/2006/main">
              <a:ext uri="{FF2B5EF4-FFF2-40B4-BE49-F238E27FC236}">
                <a16:creationId xmlns:a16="http://schemas.microsoft.com/office/drawing/2014/main" id="{447A29C0-2600-4241-BF6B-6797417FC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G1 · integrity</a:t>
            </a:r>
          </a:p>
        </p:txBody>
      </p:sp>
      <p:sp>
        <p:nvSpPr>
          <p:cNvPr id="8" name="stat-label-1">
            <a:extLst xmlns:a="http://schemas.openxmlformats.org/drawingml/2006/main">
              <a:ext uri="{FF2B5EF4-FFF2-40B4-BE49-F238E27FC236}">
                <a16:creationId xmlns:a16="http://schemas.microsoft.com/office/drawing/2014/main" id="{1D2A853D-A304-477D-B8B8-F77F0101A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All timing, partition, accounting checks pass
Otherwise the backtest is invalid</a:t>
            </a:r>
          </a:p>
        </p:txBody>
      </p:sp>
      <p:sp>
        <p:nvSpPr>
          <p:cNvPr id="9" name="stat-2">
            <a:extLst xmlns:a="http://schemas.openxmlformats.org/drawingml/2006/main">
              <a:ext uri="{FF2B5EF4-FFF2-40B4-BE49-F238E27FC236}">
                <a16:creationId xmlns:a16="http://schemas.microsoft.com/office/drawing/2014/main" id="{342C60B8-5C35-4607-932D-DFD8E206B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G2 · β ≥95%</a:t>
            </a:r>
          </a:p>
        </p:txBody>
      </p:sp>
      <p:sp>
        <p:nvSpPr>
          <p:cNvPr id="10" name="stat-label-2">
            <a:extLst xmlns:a="http://schemas.openxmlformats.org/drawingml/2006/main">
              <a:ext uri="{FF2B5EF4-FFF2-40B4-BE49-F238E27FC236}">
                <a16:creationId xmlns:a16="http://schemas.microsoft.com/office/drawing/2014/main" id="{3123331A-6BB6-4FC3-B18C-EE98C6A8F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Positive-beta indicator coverage after warm-up
Preserves opposite-leg semantics</a:t>
            </a:r>
          </a:p>
        </p:txBody>
      </p:sp>
      <p:sp>
        <p:nvSpPr>
          <p:cNvPr id="11" name="stat-3">
            <a:extLst xmlns:a="http://schemas.openxmlformats.org/drawingml/2006/main">
              <a:ext uri="{FF2B5EF4-FFF2-40B4-BE49-F238E27FC236}">
                <a16:creationId xmlns:a16="http://schemas.microsoft.com/office/drawing/2014/main" id="{A0AD0C21-BC31-4957-B0CB-525311D43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G3 · ≥30</a:t>
            </a:r>
          </a:p>
        </p:txBody>
      </p:sp>
      <p:sp>
        <p:nvSpPr>
          <p:cNvPr id="12" name="stat-label-3">
            <a:extLst xmlns:a="http://schemas.openxmlformats.org/drawingml/2006/main">
              <a:ext uri="{FF2B5EF4-FFF2-40B4-BE49-F238E27FC236}">
                <a16:creationId xmlns:a16="http://schemas.microsoft.com/office/drawing/2014/main" id="{86C9D445-5711-4319-B967-D72E959CA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Completed trades, with ≥10 long and ≥10 short
Minimum two-sided support</a:t>
            </a:r>
          </a:p>
        </p:txBody>
      </p:sp>
    </p:spTree>
    <p:extLst>
      <p:ext uri="{BB962C8B-B14F-4D97-AF65-F5344CB8AC3E}">
        <p14:creationId xmlns:p14="http://schemas.microsoft.com/office/powerpoint/2010/main" val="209824963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tat-card-1">
            <a:extLst xmlns:a="http://schemas.openxmlformats.org/drawingml/2006/main">
              <a:ext uri="{FF2B5EF4-FFF2-40B4-BE49-F238E27FC236}">
                <a16:creationId xmlns:a16="http://schemas.microsoft.com/office/drawing/2014/main" id="{8D249104-692F-481F-82EC-326C84E90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stat-card-2">
            <a:extLst xmlns:a="http://schemas.openxmlformats.org/drawingml/2006/main">
              <a:ext uri="{FF2B5EF4-FFF2-40B4-BE49-F238E27FC236}">
                <a16:creationId xmlns:a16="http://schemas.microsoft.com/office/drawing/2014/main" id="{02412AD9-1F13-493C-BF6C-FD8BDE750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stat-card-3">
            <a:extLst xmlns:a="http://schemas.openxmlformats.org/drawingml/2006/main">
              <a:ext uri="{FF2B5EF4-FFF2-40B4-BE49-F238E27FC236}">
                <a16:creationId xmlns:a16="http://schemas.microsoft.com/office/drawing/2014/main" id="{63597CCF-F233-4A0C-BCFA-192F852FD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11E272E4-82E7-4287-91C5-21E6B629F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9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A0ED332F-4F42-421E-99CF-097B6CBB5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G4-G6 ask whether trades survive economics and chance</a:t>
            </a:r>
          </a:p>
        </p:txBody>
      </p:sp>
      <p:sp>
        <p:nvSpPr>
          <p:cNvPr id="6" name="intro">
            <a:extLst xmlns:a="http://schemas.openxmlformats.org/drawingml/2006/main">
              <a:ext uri="{FF2B5EF4-FFF2-40B4-BE49-F238E27FC236}">
                <a16:creationId xmlns:a16="http://schemas.microsoft.com/office/drawing/2014/main" id="{E3D1AF2D-950D-495D-BB07-182C768AD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219200"/>
            <a:ext cx="11404568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These are economic-evidence gates. G4 requires a cost-surviving positive mean with uncertainty; G5 is a softer convergence diagnostic; G6 asks whether the signal beats matched random directions.</a:t>
            </a:r>
          </a:p>
        </p:txBody>
      </p:sp>
      <p:sp>
        <p:nvSpPr>
          <p:cNvPr id="7" name="stat-1">
            <a:extLst xmlns:a="http://schemas.openxmlformats.org/drawingml/2006/main">
              <a:ext uri="{FF2B5EF4-FFF2-40B4-BE49-F238E27FC236}">
                <a16:creationId xmlns:a16="http://schemas.microsoft.com/office/drawing/2014/main" id="{447A29C0-2600-4241-BF6B-6797417FC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G4 · mean &gt;0</a:t>
            </a:r>
          </a:p>
        </p:txBody>
      </p:sp>
      <p:sp>
        <p:nvSpPr>
          <p:cNvPr id="8" name="stat-label-1">
            <a:extLst xmlns:a="http://schemas.openxmlformats.org/drawingml/2006/main">
              <a:ext uri="{FF2B5EF4-FFF2-40B4-BE49-F238E27FC236}">
                <a16:creationId xmlns:a16="http://schemas.microsoft.com/office/drawing/2014/main" id="{1D2A853D-A304-477D-B8B8-F77F0101A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And moving-block 95% lower bound &gt;0
Primary turnover costs included</a:t>
            </a:r>
          </a:p>
        </p:txBody>
      </p:sp>
      <p:sp>
        <p:nvSpPr>
          <p:cNvPr id="9" name="stat-2">
            <a:extLst xmlns:a="http://schemas.openxmlformats.org/drawingml/2006/main">
              <a:ext uri="{FF2B5EF4-FFF2-40B4-BE49-F238E27FC236}">
                <a16:creationId xmlns:a16="http://schemas.microsoft.com/office/drawing/2014/main" id="{342C60B8-5C35-4607-932D-DFD8E206B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G5 · hit &gt;50%</a:t>
            </a:r>
          </a:p>
        </p:txBody>
      </p:sp>
      <p:sp>
        <p:nvSpPr>
          <p:cNvPr id="10" name="stat-label-2">
            <a:extLst xmlns:a="http://schemas.openxmlformats.org/drawingml/2006/main">
              <a:ext uri="{FF2B5EF4-FFF2-40B4-BE49-F238E27FC236}">
                <a16:creationId xmlns:a16="http://schemas.microsoft.com/office/drawing/2014/main" id="{3123331A-6BB6-4FC3-B18C-EE98C6A8F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Soft, intuitive convergence check
Not universal for every strategy payoff shape</a:t>
            </a:r>
          </a:p>
        </p:txBody>
      </p:sp>
      <p:sp>
        <p:nvSpPr>
          <p:cNvPr id="11" name="stat-3">
            <a:extLst xmlns:a="http://schemas.openxmlformats.org/drawingml/2006/main">
              <a:ext uri="{FF2B5EF4-FFF2-40B4-BE49-F238E27FC236}">
                <a16:creationId xmlns:a16="http://schemas.microsoft.com/office/drawing/2014/main" id="{A0AD0C21-BC31-4957-B0CB-525311D43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G6 · &gt; p90</a:t>
            </a:r>
          </a:p>
        </p:txBody>
      </p:sp>
      <p:sp>
        <p:nvSpPr>
          <p:cNvPr id="12" name="stat-label-3">
            <a:extLst xmlns:a="http://schemas.openxmlformats.org/drawingml/2006/main">
              <a:ext uri="{FF2B5EF4-FFF2-40B4-BE49-F238E27FC236}">
                <a16:creationId xmlns:a16="http://schemas.microsoft.com/office/drawing/2014/main" id="{86C9D445-5711-4319-B967-D72E959CA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97026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Observed mean beats matched random-sign p90
Same timing, paths, holds, and costs</a:t>
            </a:r>
          </a:p>
        </p:txBody>
      </p:sp>
    </p:spTree>
    <p:extLst>
      <p:ext uri="{BB962C8B-B14F-4D97-AF65-F5344CB8AC3E}">
        <p14:creationId xmlns:p14="http://schemas.microsoft.com/office/powerpoint/2010/main" val="209824963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tat-card-1">
            <a:extLst xmlns:a="http://schemas.openxmlformats.org/drawingml/2006/main">
              <a:ext uri="{FF2B5EF4-FFF2-40B4-BE49-F238E27FC236}">
                <a16:creationId xmlns:a16="http://schemas.microsoft.com/office/drawing/2014/main" id="{8D249104-692F-481F-82EC-326C84E90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stat-card-2">
            <a:extLst xmlns:a="http://schemas.openxmlformats.org/drawingml/2006/main">
              <a:ext uri="{FF2B5EF4-FFF2-40B4-BE49-F238E27FC236}">
                <a16:creationId xmlns:a16="http://schemas.microsoft.com/office/drawing/2014/main" id="{02412AD9-1F13-493C-BF6C-FD8BDE750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stat-card-3">
            <a:extLst xmlns:a="http://schemas.openxmlformats.org/drawingml/2006/main">
              <a:ext uri="{FF2B5EF4-FFF2-40B4-BE49-F238E27FC236}">
                <a16:creationId xmlns:a16="http://schemas.microsoft.com/office/drawing/2014/main" id="{63597CCF-F233-4A0C-BCFA-192F852FD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11E272E4-82E7-4287-91C5-21E6B629F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10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A0ED332F-4F42-421E-99CF-097B6CBB5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G7-G8 add stability and mechanism; multiplicity stays visible</a:t>
            </a:r>
          </a:p>
        </p:txBody>
      </p:sp>
      <p:sp>
        <p:nvSpPr>
          <p:cNvPr id="6" name="intro">
            <a:extLst xmlns:a="http://schemas.openxmlformats.org/drawingml/2006/main">
              <a:ext uri="{FF2B5EF4-FFF2-40B4-BE49-F238E27FC236}">
                <a16:creationId xmlns:a16="http://schemas.microsoft.com/office/drawing/2014/main" id="{E3D1AF2D-950D-495D-BB07-182C768AD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219200"/>
            <a:ext cx="11404568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 result should recur through time and show the forecast sign the strategy actually claims. Even a full pass would open only a sealed-confirmation discussion—not authorize winner selection or deployment.</a:t>
            </a:r>
          </a:p>
        </p:txBody>
      </p:sp>
      <p:sp>
        <p:nvSpPr>
          <p:cNvPr id="7" name="stat-1">
            <a:extLst xmlns:a="http://schemas.openxmlformats.org/drawingml/2006/main">
              <a:ext uri="{FF2B5EF4-FFF2-40B4-BE49-F238E27FC236}">
                <a16:creationId xmlns:a16="http://schemas.microsoft.com/office/drawing/2014/main" id="{447A29C0-2600-4241-BF6B-6797417FC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G7 · 3/5</a:t>
            </a:r>
          </a:p>
        </p:txBody>
      </p:sp>
      <p:sp>
        <p:nvSpPr>
          <p:cNvPr id="8" name="stat-label-1">
            <a:extLst xmlns:a="http://schemas.openxmlformats.org/drawingml/2006/main">
              <a:ext uri="{FF2B5EF4-FFF2-40B4-BE49-F238E27FC236}">
                <a16:creationId xmlns:a16="http://schemas.microsoft.com/office/drawing/2014/main" id="{1D2A853D-A304-477D-B8B8-F77F0101A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TRAIN years with positive primary-cost bar return
Pragmatic soft stability rule</a:t>
            </a:r>
          </a:p>
        </p:txBody>
      </p:sp>
      <p:sp>
        <p:nvSpPr>
          <p:cNvPr id="9" name="stat-2">
            <a:extLst xmlns:a="http://schemas.openxmlformats.org/drawingml/2006/main">
              <a:ext uri="{FF2B5EF4-FFF2-40B4-BE49-F238E27FC236}">
                <a16:creationId xmlns:a16="http://schemas.microsoft.com/office/drawing/2014/main" id="{342C60B8-5C35-4607-932D-DFD8E206B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G8 · corr &lt;0</a:t>
            </a:r>
          </a:p>
        </p:txBody>
      </p:sp>
      <p:sp>
        <p:nvSpPr>
          <p:cNvPr id="10" name="stat-label-2">
            <a:extLst xmlns:a="http://schemas.openxmlformats.org/drawingml/2006/main">
              <a:ext uri="{FF2B5EF4-FFF2-40B4-BE49-F238E27FC236}">
                <a16:creationId xmlns:a16="http://schemas.microsoft.com/office/drawing/2014/main" id="{3123331A-6BB6-4FC3-B18C-EE98C6A8F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z vs next-5 spread return
95% bootstrap upper bound also &lt;0</a:t>
            </a:r>
          </a:p>
        </p:txBody>
      </p:sp>
      <p:sp>
        <p:nvSpPr>
          <p:cNvPr id="11" name="stat-3">
            <a:extLst xmlns:a="http://schemas.openxmlformats.org/drawingml/2006/main">
              <a:ext uri="{FF2B5EF4-FFF2-40B4-BE49-F238E27FC236}">
                <a16:creationId xmlns:a16="http://schemas.microsoft.com/office/drawing/2014/main" id="{A0AD0C21-BC31-4957-B0CB-525311D43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Pass ≠ deploy</a:t>
            </a:r>
          </a:p>
        </p:txBody>
      </p:sp>
      <p:sp>
        <p:nvSpPr>
          <p:cNvPr id="12" name="stat-label-3">
            <a:extLst xmlns:a="http://schemas.openxmlformats.org/drawingml/2006/main">
              <a:ext uri="{FF2B5EF4-FFF2-40B4-BE49-F238E27FC236}">
                <a16:creationId xmlns:a16="http://schemas.microsoft.com/office/drawing/2014/main" id="{86C9D445-5711-4319-B967-D72E959CA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87188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Fixed registry order; no winner selection
Only earns sealed-confirmation discussion</a:t>
            </a:r>
          </a:p>
        </p:txBody>
      </p:sp>
    </p:spTree>
    <p:extLst>
      <p:ext uri="{BB962C8B-B14F-4D97-AF65-F5344CB8AC3E}">
        <p14:creationId xmlns:p14="http://schemas.microsoft.com/office/powerpoint/2010/main" val="209824963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4F272998-B60C-44E0-849E-A04A87223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11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A16F9E5-1AF4-43B0-AB25-E3AE98294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5537168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frozen rule preserved the book's core mechanics</a:t>
            </a:r>
          </a:p>
        </p:txBody>
      </p:sp>
      <p:sp>
        <p:nvSpPr>
          <p:cNvPr id="3" name="image-backing">
            <a:extLst xmlns:a="http://schemas.openxmlformats.org/drawingml/2006/main">
              <a:ext uri="{FF2B5EF4-FFF2-40B4-BE49-F238E27FC236}">
                <a16:creationId xmlns:a16="http://schemas.microsoft.com/office/drawing/2014/main" id="{5EE0E946-4B2C-4DE9-8839-3DE0D30C8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9069" y="396431"/>
            <a:ext cx="5539740" cy="5602034"/>
          </a:xfrm>
          <a:prstGeom xmlns:a="http://schemas.openxmlformats.org/drawingml/2006/main" prst="roundRect">
            <a:avLst>
              <a:gd name="adj" fmla="val 137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3E0CA677-50AA-4CCF-BC5C-CB90210AF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695450"/>
            <a:ext cx="5537168" cy="423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Signal after close
Execute next open
Enter long below -1z
Enter short above +1z
Exit at zero
One gross-normalized unit
Daily adaptive rehedging
5 bp per one-way weight change
No stop, target, max hold, or retuning.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d7c4cfa58b49e3"/>
          <a:stretch xmlns:a="http://schemas.openxmlformats.org/drawingml/2006/main"/>
        </p:blipFill>
        <p:spPr>
          <a:xfrm xmlns:a="http://schemas.openxmlformats.org/drawingml/2006/main">
            <a:off x="6381750" y="1776196"/>
            <a:ext cx="5314950" cy="3019858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873340891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9833E848-7434-4F2E-A17C-B17541CAE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12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17B658F-9EDE-4B04-B790-BFC2AB112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 stationary-looking spread was not a trading edge</a:t>
            </a:r>
          </a:p>
        </p:txBody>
      </p:sp>
      <p:sp>
        <p:nvSpPr>
          <p:cNvPr id="3" name="left-stat-card">
            <a:extLst xmlns:a="http://schemas.openxmlformats.org/drawingml/2006/main">
              <a:ext uri="{FF2B5EF4-FFF2-40B4-BE49-F238E27FC236}">
                <a16:creationId xmlns:a16="http://schemas.microsoft.com/office/drawing/2014/main" id="{CB5A1905-9B52-4859-9721-FAA37599F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022" y="3360039"/>
            <a:ext cx="2581942" cy="2656523"/>
          </a:xfrm>
          <a:prstGeom xmlns:a="http://schemas.openxmlformats.org/drawingml/2006/main" prst="roundRect">
            <a:avLst>
              <a:gd name="adj" fmla="val 2951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right-stat-card">
            <a:extLst xmlns:a="http://schemas.openxmlformats.org/drawingml/2006/main">
              <a:ext uri="{FF2B5EF4-FFF2-40B4-BE49-F238E27FC236}">
                <a16:creationId xmlns:a16="http://schemas.microsoft.com/office/drawing/2014/main" id="{6D7A92E4-990F-443E-AA22-280485C87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4201" y="3360039"/>
            <a:ext cx="2581942" cy="2656523"/>
          </a:xfrm>
          <a:prstGeom xmlns:a="http://schemas.openxmlformats.org/drawingml/2006/main" prst="roundRect">
            <a:avLst>
              <a:gd name="adj" fmla="val 2951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5" name="summary">
            <a:extLst xmlns:a="http://schemas.openxmlformats.org/drawingml/2006/main">
              <a:ext uri="{FF2B5EF4-FFF2-40B4-BE49-F238E27FC236}">
                <a16:creationId xmlns:a16="http://schemas.microsoft.com/office/drawing/2014/main" id="{56D2558C-A20F-4C70-893B-6EAB7EAAD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1068" y="1714500"/>
            <a:ext cx="5539835" cy="1381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dynamic spread produced a strongly negative ADF-style statistic and a 16.7-session half-life. But variance ratios exceeded one, and high z-scores predicted higher—not lower—forward spread returns.</a:t>
            </a:r>
          </a:p>
        </p:txBody>
      </p:sp>
      <p:sp>
        <p:nvSpPr>
          <p:cNvPr id="6" name="left-stat">
            <a:extLst xmlns:a="http://schemas.openxmlformats.org/drawingml/2006/main">
              <a:ext uri="{FF2B5EF4-FFF2-40B4-BE49-F238E27FC236}">
                <a16:creationId xmlns:a16="http://schemas.microsoft.com/office/drawing/2014/main" id="{5C6C71CB-7475-4DF6-B7F0-0931DF047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9385" y="3579971"/>
            <a:ext cx="2133314" cy="115585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-8.43</a:t>
            </a:r>
          </a:p>
        </p:txBody>
      </p:sp>
      <p:sp>
        <p:nvSpPr>
          <p:cNvPr id="7" name="left-stat-label">
            <a:extLst xmlns:a="http://schemas.openxmlformats.org/drawingml/2006/main">
              <a:ext uri="{FF2B5EF4-FFF2-40B4-BE49-F238E27FC236}">
                <a16:creationId xmlns:a16="http://schemas.microsoft.com/office/drawing/2014/main" id="{471C1151-75AF-40A2-A5A1-4F7713D23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5965" y="4953000"/>
            <a:ext cx="2066735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Dynamic-spread ADF t
Descriptive, not a verdict</a:t>
            </a:r>
          </a:p>
        </p:txBody>
      </p:sp>
      <p:sp>
        <p:nvSpPr>
          <p:cNvPr id="8" name="right-stat">
            <a:extLst xmlns:a="http://schemas.openxmlformats.org/drawingml/2006/main">
              <a:ext uri="{FF2B5EF4-FFF2-40B4-BE49-F238E27FC236}">
                <a16:creationId xmlns:a16="http://schemas.microsoft.com/office/drawing/2014/main" id="{423A9D83-D670-4C26-B583-F1C469F9E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1564" y="3579971"/>
            <a:ext cx="2133314" cy="115585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>
                <a:solidFill>
                  <a:srgbClr val="B42318"/>
                </a:solidFill>
                <a:latin typeface="Helvetica Neue"/>
                <a:ea typeface="Helvetica Neue"/>
                <a:cs typeface="Helvetica Neue"/>
              </a:defRPr>
            </a:pPr>
            <a:r>
              <a:t>+0.095</a:t>
            </a:r>
          </a:p>
        </p:txBody>
      </p:sp>
      <p:sp>
        <p:nvSpPr>
          <p:cNvPr id="9" name="right-stat-label">
            <a:extLst xmlns:a="http://schemas.openxmlformats.org/drawingml/2006/main">
              <a:ext uri="{FF2B5EF4-FFF2-40B4-BE49-F238E27FC236}">
                <a16:creationId xmlns:a16="http://schemas.microsoft.com/office/drawing/2014/main" id="{F039A1C2-F7F7-4D0E-BDC1-2BD29C9D7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8143" y="4953000"/>
            <a:ext cx="2066735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z vs forward-five return
Wrong sign for reversion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98b92e54b64f9f"/>
          <a:stretch xmlns:a="http://schemas.openxmlformats.org/drawingml/2006/main"/>
        </p:blipFill>
        <p:spPr>
          <a:xfrm xmlns:a="http://schemas.openxmlformats.org/drawingml/2006/main">
            <a:off x="385858" y="2576472"/>
            <a:ext cx="5534216" cy="2371807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46046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231B1CDB-9946-498B-901E-0A0C9C772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13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E1FC061-EE2C-48CF-9799-D8537102B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Trade-level and bar-level evidence both failed</a:t>
            </a:r>
          </a:p>
        </p:txBody>
      </p:sp>
      <p:sp>
        <p:nvSpPr>
          <p:cNvPr id="3" name="left-stat-card">
            <a:extLst xmlns:a="http://schemas.openxmlformats.org/drawingml/2006/main">
              <a:ext uri="{FF2B5EF4-FFF2-40B4-BE49-F238E27FC236}">
                <a16:creationId xmlns:a16="http://schemas.microsoft.com/office/drawing/2014/main" id="{EF0AF18E-87A6-431F-8D4F-59EC89457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022" y="3360039"/>
            <a:ext cx="2581942" cy="2656523"/>
          </a:xfrm>
          <a:prstGeom xmlns:a="http://schemas.openxmlformats.org/drawingml/2006/main" prst="roundRect">
            <a:avLst>
              <a:gd name="adj" fmla="val 2951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right-stat-card">
            <a:extLst xmlns:a="http://schemas.openxmlformats.org/drawingml/2006/main">
              <a:ext uri="{FF2B5EF4-FFF2-40B4-BE49-F238E27FC236}">
                <a16:creationId xmlns:a16="http://schemas.microsoft.com/office/drawing/2014/main" id="{9C01B021-FDE1-4776-B2EE-ACB76D126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4201" y="3360039"/>
            <a:ext cx="2581942" cy="2656523"/>
          </a:xfrm>
          <a:prstGeom xmlns:a="http://schemas.openxmlformats.org/drawingml/2006/main" prst="roundRect">
            <a:avLst>
              <a:gd name="adj" fmla="val 2951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5" name="summary">
            <a:extLst xmlns:a="http://schemas.openxmlformats.org/drawingml/2006/main">
              <a:ext uri="{FF2B5EF4-FFF2-40B4-BE49-F238E27FC236}">
                <a16:creationId xmlns:a16="http://schemas.microsoft.com/office/drawing/2014/main" id="{A2F82FC1-3249-4254-ABAA-A2D0E0F95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1068" y="1714500"/>
            <a:ext cx="5539835" cy="1381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rule generated enough trades in both directions, but the mean trade lost money, the hit rate was below 50%, and only two of five TRAIN years were positive.</a:t>
            </a:r>
          </a:p>
        </p:txBody>
      </p:sp>
      <p:sp>
        <p:nvSpPr>
          <p:cNvPr id="6" name="left-stat">
            <a:extLst xmlns:a="http://schemas.openxmlformats.org/drawingml/2006/main">
              <a:ext uri="{FF2B5EF4-FFF2-40B4-BE49-F238E27FC236}">
                <a16:creationId xmlns:a16="http://schemas.microsoft.com/office/drawing/2014/main" id="{06B274F5-6F7E-4432-B0F1-4874DA3CA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9385" y="3579971"/>
            <a:ext cx="2133314" cy="115585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>
                <a:solidFill>
                  <a:srgbClr val="B42318"/>
                </a:solidFill>
                <a:latin typeface="Helvetica Neue"/>
                <a:ea typeface="Helvetica Neue"/>
                <a:cs typeface="Helvetica Neue"/>
              </a:defRPr>
            </a:pPr>
            <a:r>
              <a:t>-17.68 bp</a:t>
            </a:r>
          </a:p>
        </p:txBody>
      </p:sp>
      <p:sp>
        <p:nvSpPr>
          <p:cNvPr id="7" name="left-stat-label">
            <a:extLst xmlns:a="http://schemas.openxmlformats.org/drawingml/2006/main">
              <a:ext uri="{FF2B5EF4-FFF2-40B4-BE49-F238E27FC236}">
                <a16:creationId xmlns:a16="http://schemas.microsoft.com/office/drawing/2014/main" id="{99D2BB32-1C11-4B29-AF23-ED9F32D0B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5965" y="4953000"/>
            <a:ext cx="2066735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Mean primary-cost
net return per trade</a:t>
            </a:r>
          </a:p>
        </p:txBody>
      </p:sp>
      <p:sp>
        <p:nvSpPr>
          <p:cNvPr id="8" name="right-stat">
            <a:extLst xmlns:a="http://schemas.openxmlformats.org/drawingml/2006/main">
              <a:ext uri="{FF2B5EF4-FFF2-40B4-BE49-F238E27FC236}">
                <a16:creationId xmlns:a16="http://schemas.microsoft.com/office/drawing/2014/main" id="{2EAFD608-776D-46A1-95EA-79AF4E6F5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1564" y="3579971"/>
            <a:ext cx="2133314" cy="115585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>
                <a:solidFill>
                  <a:srgbClr val="B42318"/>
                </a:solidFill>
                <a:latin typeface="Helvetica Neue"/>
                <a:ea typeface="Helvetica Neue"/>
                <a:cs typeface="Helvetica Neue"/>
              </a:defRPr>
            </a:pPr>
            <a:r>
              <a:t>49.1%</a:t>
            </a:r>
          </a:p>
        </p:txBody>
      </p:sp>
      <p:sp>
        <p:nvSpPr>
          <p:cNvPr id="9" name="right-stat-label">
            <a:extLst xmlns:a="http://schemas.openxmlformats.org/drawingml/2006/main">
              <a:ext uri="{FF2B5EF4-FFF2-40B4-BE49-F238E27FC236}">
                <a16:creationId xmlns:a16="http://schemas.microsoft.com/office/drawing/2014/main" id="{691BF8AE-236E-4677-8EAF-3CF0D5A20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8143" y="4953000"/>
            <a:ext cx="2066735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Completed-trade
hit rate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b1d87a221f4302"/>
          <a:stretch xmlns:a="http://schemas.openxmlformats.org/drawingml/2006/main"/>
        </p:blipFill>
        <p:spPr>
          <a:xfrm xmlns:a="http://schemas.openxmlformats.org/drawingml/2006/main">
            <a:off x="385858" y="2378821"/>
            <a:ext cx="5534216" cy="276710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28750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A36482E3-0836-42EE-A424-2E869BA90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1C7B3E2F-B15F-4CE7-9E93-D02FFAE5F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Uncertainty and falsification offered no rescue</a:t>
            </a:r>
          </a:p>
        </p:txBody>
      </p:sp>
      <p:sp>
        <p:nvSpPr>
          <p:cNvPr id="3" name="left-stat-card">
            <a:extLst xmlns:a="http://schemas.openxmlformats.org/drawingml/2006/main">
              <a:ext uri="{FF2B5EF4-FFF2-40B4-BE49-F238E27FC236}">
                <a16:creationId xmlns:a16="http://schemas.microsoft.com/office/drawing/2014/main" id="{0537132A-D0A9-4B26-9624-49D1E8829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022" y="3360039"/>
            <a:ext cx="2581942" cy="2656523"/>
          </a:xfrm>
          <a:prstGeom xmlns:a="http://schemas.openxmlformats.org/drawingml/2006/main" prst="roundRect">
            <a:avLst>
              <a:gd name="adj" fmla="val 2951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right-stat-card">
            <a:extLst xmlns:a="http://schemas.openxmlformats.org/drawingml/2006/main">
              <a:ext uri="{FF2B5EF4-FFF2-40B4-BE49-F238E27FC236}">
                <a16:creationId xmlns:a16="http://schemas.microsoft.com/office/drawing/2014/main" id="{9AF5A6DC-5240-4747-8A2C-59E91119B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4201" y="3360039"/>
            <a:ext cx="2581942" cy="2656523"/>
          </a:xfrm>
          <a:prstGeom xmlns:a="http://schemas.openxmlformats.org/drawingml/2006/main" prst="roundRect">
            <a:avLst>
              <a:gd name="adj" fmla="val 2951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5" name="summary">
            <a:extLst xmlns:a="http://schemas.openxmlformats.org/drawingml/2006/main">
              <a:ext uri="{FF2B5EF4-FFF2-40B4-BE49-F238E27FC236}">
                <a16:creationId xmlns:a16="http://schemas.microsoft.com/office/drawing/2014/main" id="{87467A1C-2B62-4E3A-A37F-25E47B9BE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1068" y="1714500"/>
            <a:ext cx="5539835" cy="1381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mean sat inside a very wide interval and below the p90 of random trade directions with the same timing, pair path, holding periods, and primary costs.</a:t>
            </a:r>
          </a:p>
        </p:txBody>
      </p:sp>
      <p:sp>
        <p:nvSpPr>
          <p:cNvPr id="6" name="left-stat">
            <a:extLst xmlns:a="http://schemas.openxmlformats.org/drawingml/2006/main">
              <a:ext uri="{FF2B5EF4-FFF2-40B4-BE49-F238E27FC236}">
                <a16:creationId xmlns:a16="http://schemas.microsoft.com/office/drawing/2014/main" id="{FE80A7F4-6D99-4C52-B848-EAE130561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9385" y="3579971"/>
            <a:ext cx="2133314" cy="115585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defRPr>
            </a:pPr>
            <a:r>
              <a:t>[-121, +83]</a:t>
            </a:r>
          </a:p>
        </p:txBody>
      </p:sp>
      <p:sp>
        <p:nvSpPr>
          <p:cNvPr id="7" name="left-stat-label">
            <a:extLst xmlns:a="http://schemas.openxmlformats.org/drawingml/2006/main">
              <a:ext uri="{FF2B5EF4-FFF2-40B4-BE49-F238E27FC236}">
                <a16:creationId xmlns:a16="http://schemas.microsoft.com/office/drawing/2014/main" id="{E40BF187-37D5-4CDB-9030-4E2CB386A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5965" y="4953000"/>
            <a:ext cx="2066735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95% interval
bp per trade</a:t>
            </a:r>
          </a:p>
        </p:txBody>
      </p:sp>
      <p:sp>
        <p:nvSpPr>
          <p:cNvPr id="8" name="right-stat">
            <a:extLst xmlns:a="http://schemas.openxmlformats.org/drawingml/2006/main">
              <a:ext uri="{FF2B5EF4-FFF2-40B4-BE49-F238E27FC236}">
                <a16:creationId xmlns:a16="http://schemas.microsoft.com/office/drawing/2014/main" id="{D938F8F7-A9FF-49C0-ABE1-4CC871B4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1564" y="3579971"/>
            <a:ext cx="2133314" cy="115585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>
                <a:solidFill>
                  <a:srgbClr val="F59E0B"/>
                </a:solidFill>
                <a:latin typeface="Helvetica Neue"/>
                <a:ea typeface="Helvetica Neue"/>
                <a:cs typeface="Helvetica Neue"/>
              </a:defRPr>
            </a:pPr>
            <a:r>
              <a:t>+47.88 bp</a:t>
            </a:r>
          </a:p>
        </p:txBody>
      </p:sp>
      <p:sp>
        <p:nvSpPr>
          <p:cNvPr id="9" name="right-stat-label">
            <a:extLst xmlns:a="http://schemas.openxmlformats.org/drawingml/2006/main">
              <a:ext uri="{FF2B5EF4-FFF2-40B4-BE49-F238E27FC236}">
                <a16:creationId xmlns:a16="http://schemas.microsoft.com/office/drawing/2014/main" id="{197A8950-A2B2-4FCE-A738-88CF2DF9A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8143" y="4953000"/>
            <a:ext cx="2066735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Matched random-sign p90
Observed: -17.68 bp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b7e79685264104"/>
          <a:stretch xmlns:a="http://schemas.openxmlformats.org/drawingml/2006/main"/>
        </p:blipFill>
        <p:spPr>
          <a:xfrm xmlns:a="http://schemas.openxmlformats.org/drawingml/2006/main">
            <a:off x="385858" y="2444705"/>
            <a:ext cx="5534216" cy="263534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812728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5D1F4916-B18D-4F3F-8812-75A699D9A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15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CB77D9D-0CB0-4878-9A4A-2687A311C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5537168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Representative trades show why zero-crossing is not enough</a:t>
            </a:r>
          </a:p>
        </p:txBody>
      </p:sp>
      <p:sp>
        <p:nvSpPr>
          <p:cNvPr id="3" name="image-backing">
            <a:extLst xmlns:a="http://schemas.openxmlformats.org/drawingml/2006/main">
              <a:ext uri="{FF2B5EF4-FFF2-40B4-BE49-F238E27FC236}">
                <a16:creationId xmlns:a16="http://schemas.microsoft.com/office/drawing/2014/main" id="{6220C938-B9AD-4B79-90E3-107E303A9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9069" y="396431"/>
            <a:ext cx="5539740" cy="5602034"/>
          </a:xfrm>
          <a:prstGeom xmlns:a="http://schemas.openxmlformats.org/drawingml/2006/main" prst="roundRect">
            <a:avLst>
              <a:gd name="adj" fmla="val 137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3F760EC2-C6B5-4968-A4B1-EBAD286BA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695450"/>
            <a:ext cx="5537168" cy="423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tape includes both long- and short-spread trades across the return distribution.
Some z-scores crossed zero only after large adverse pair moves. A normalized z-score crossing does not guarantee that the tradable legs produced a positive return.
Worst shown: -1,254.7 bp
Best shown: +809.6 bp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dcd91e42f14b3b"/>
          <a:stretch xmlns:a="http://schemas.openxmlformats.org/drawingml/2006/main"/>
        </p:blipFill>
        <p:spPr>
          <a:xfrm xmlns:a="http://schemas.openxmlformats.org/drawingml/2006/main">
            <a:off x="6381750" y="1595005"/>
            <a:ext cx="5314950" cy="3382241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463436756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tat-card-1">
            <a:extLst xmlns:a="http://schemas.openxmlformats.org/drawingml/2006/main">
              <a:ext uri="{FF2B5EF4-FFF2-40B4-BE49-F238E27FC236}">
                <a16:creationId xmlns:a16="http://schemas.microsoft.com/office/drawing/2014/main" id="{E92BF88A-D985-4E89-9220-AED80DBBC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stat-card-2">
            <a:extLst xmlns:a="http://schemas.openxmlformats.org/drawingml/2006/main">
              <a:ext uri="{FF2B5EF4-FFF2-40B4-BE49-F238E27FC236}">
                <a16:creationId xmlns:a16="http://schemas.microsoft.com/office/drawing/2014/main" id="{18F3FD71-2B01-497E-B7A5-AD72E3A3F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stat-card-3">
            <a:extLst xmlns:a="http://schemas.openxmlformats.org/drawingml/2006/main">
              <a:ext uri="{FF2B5EF4-FFF2-40B4-BE49-F238E27FC236}">
                <a16:creationId xmlns:a16="http://schemas.microsoft.com/office/drawing/2014/main" id="{A256A665-F93B-46DB-A120-F2929BE31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8B8FEAA9-7122-4602-AAFA-C856C71CA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16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6B999DAA-321B-4DEF-AC22-1F41A5B8E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Six substantive failures force a structural STOP</a:t>
            </a:r>
          </a:p>
        </p:txBody>
      </p:sp>
      <p:sp>
        <p:nvSpPr>
          <p:cNvPr id="6" name="intro">
            <a:extLst xmlns:a="http://schemas.openxmlformats.org/drawingml/2006/main">
              <a:ext uri="{FF2B5EF4-FFF2-40B4-BE49-F238E27FC236}">
                <a16:creationId xmlns:a16="http://schemas.microsoft.com/office/drawing/2014/main" id="{B83D39E3-1D42-4CA4-A507-6C07CD200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219200"/>
            <a:ext cx="11404568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All 12 integrity checks passed and trade support was adequate. Positive-beta coverage, cost survival, hit rate, random-sign separation, yearly stability, and forward convergence all failed.</a:t>
            </a:r>
          </a:p>
        </p:txBody>
      </p:sp>
      <p:sp>
        <p:nvSpPr>
          <p:cNvPr id="7" name="stat-1">
            <a:extLst xmlns:a="http://schemas.openxmlformats.org/drawingml/2006/main">
              <a:ext uri="{FF2B5EF4-FFF2-40B4-BE49-F238E27FC236}">
                <a16:creationId xmlns:a16="http://schemas.microsoft.com/office/drawing/2014/main" id="{CE99FBCB-3F61-4E2C-9916-C8B37E005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64748B"/>
                </a:solidFill>
                <a:latin typeface="Helvetica Neue"/>
                <a:ea typeface="Helvetica Neue"/>
                <a:cs typeface="Helvetica Neue"/>
              </a:defRPr>
            </a:pPr>
            <a:r>
              <a:t>2 / 8</a:t>
            </a:r>
          </a:p>
        </p:txBody>
      </p:sp>
      <p:sp>
        <p:nvSpPr>
          <p:cNvPr id="8" name="stat-label-1">
            <a:extLst xmlns:a="http://schemas.openxmlformats.org/drawingml/2006/main">
              <a:ext uri="{FF2B5EF4-FFF2-40B4-BE49-F238E27FC236}">
                <a16:creationId xmlns:a16="http://schemas.microsoft.com/office/drawing/2014/main" id="{8D7A7BD1-1D20-421E-BAC5-DFF695BBE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TRAIN gates passed
Integrity and support</a:t>
            </a:r>
          </a:p>
        </p:txBody>
      </p:sp>
      <p:sp>
        <p:nvSpPr>
          <p:cNvPr id="9" name="stat-2">
            <a:extLst xmlns:a="http://schemas.openxmlformats.org/drawingml/2006/main">
              <a:ext uri="{FF2B5EF4-FFF2-40B4-BE49-F238E27FC236}">
                <a16:creationId xmlns:a16="http://schemas.microsoft.com/office/drawing/2014/main" id="{E572DBE1-8080-407B-A0FF-815818B83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B42318"/>
                </a:solidFill>
                <a:latin typeface="Helvetica Neue"/>
                <a:ea typeface="Helvetica Neue"/>
                <a:cs typeface="Helvetica Neue"/>
              </a:defRPr>
            </a:pPr>
            <a:r>
              <a:t>6 / 8</a:t>
            </a:r>
          </a:p>
        </p:txBody>
      </p:sp>
      <p:sp>
        <p:nvSpPr>
          <p:cNvPr id="10" name="stat-label-2">
            <a:extLst xmlns:a="http://schemas.openxmlformats.org/drawingml/2006/main">
              <a:ext uri="{FF2B5EF4-FFF2-40B4-BE49-F238E27FC236}">
                <a16:creationId xmlns:a16="http://schemas.microsoft.com/office/drawing/2014/main" id="{FD56EAD1-B269-48E0-9F23-33330F29D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TRAIN gates failed
Mechanism not admitted</a:t>
            </a:r>
          </a:p>
        </p:txBody>
      </p:sp>
      <p:sp>
        <p:nvSpPr>
          <p:cNvPr id="11" name="stat-3">
            <a:extLst xmlns:a="http://schemas.openxmlformats.org/drawingml/2006/main">
              <a:ext uri="{FF2B5EF4-FFF2-40B4-BE49-F238E27FC236}">
                <a16:creationId xmlns:a16="http://schemas.microsoft.com/office/drawing/2014/main" id="{9C6C64B0-28CA-4923-800E-94342CB69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0</a:t>
            </a:r>
          </a:p>
        </p:txBody>
      </p:sp>
      <p:sp>
        <p:nvSpPr>
          <p:cNvPr id="12" name="stat-label-3">
            <a:extLst xmlns:a="http://schemas.openxmlformats.org/drawingml/2006/main">
              <a:ext uri="{FF2B5EF4-FFF2-40B4-BE49-F238E27FC236}">
                <a16:creationId xmlns:a16="http://schemas.microsoft.com/office/drawing/2014/main" id="{0ED31E12-360E-4FDB-B429-1A6368F4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Later partitions opened
No later evidence exists</a:t>
            </a:r>
          </a:p>
        </p:txBody>
      </p:sp>
    </p:spTree>
    <p:extLst>
      <p:ext uri="{BB962C8B-B14F-4D97-AF65-F5344CB8AC3E}">
        <p14:creationId xmlns:p14="http://schemas.microsoft.com/office/powerpoint/2010/main" val="150026174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tat-card-1">
            <a:extLst xmlns:a="http://schemas.openxmlformats.org/drawingml/2006/main">
              <a:ext uri="{FF2B5EF4-FFF2-40B4-BE49-F238E27FC236}">
                <a16:creationId xmlns:a16="http://schemas.microsoft.com/office/drawing/2014/main" id="{8D249104-692F-481F-82EC-326C84E90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stat-card-2">
            <a:extLst xmlns:a="http://schemas.openxmlformats.org/drawingml/2006/main">
              <a:ext uri="{FF2B5EF4-FFF2-40B4-BE49-F238E27FC236}">
                <a16:creationId xmlns:a16="http://schemas.microsoft.com/office/drawing/2014/main" id="{02412AD9-1F13-493C-BF6C-FD8BDE750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stat-card-3">
            <a:extLst xmlns:a="http://schemas.openxmlformats.org/drawingml/2006/main">
              <a:ext uri="{FF2B5EF4-FFF2-40B4-BE49-F238E27FC236}">
                <a16:creationId xmlns:a16="http://schemas.microsoft.com/office/drawing/2014/main" id="{63597CCF-F233-4A0C-BCFA-192F852FD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11E272E4-82E7-4287-91C5-21E6B629F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17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A0ED332F-4F42-421E-99CF-097B6CBB5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panel was fixed before any outcomes were inspected</a:t>
            </a:r>
          </a:p>
        </p:txBody>
      </p:sp>
      <p:sp>
        <p:nvSpPr>
          <p:cNvPr id="6" name="intro">
            <a:extLst xmlns:a="http://schemas.openxmlformats.org/drawingml/2006/main">
              <a:ext uri="{FF2B5EF4-FFF2-40B4-BE49-F238E27FC236}">
                <a16:creationId xmlns:a16="http://schemas.microsoft.com/office/drawing/2014/main" id="{E3D1AF2D-950D-495D-BB07-182C768AD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219200"/>
            <a:ext cx="11404568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All 12 primary pairs use the identical 2016-2020 TRAIN window, raw-price orientation, 20-session rule, thresholds, execution timing, costs, diagnostics, and eight gates.</a:t>
            </a:r>
          </a:p>
        </p:txBody>
      </p:sp>
      <p:sp>
        <p:nvSpPr>
          <p:cNvPr id="7" name="stat-1">
            <a:extLst xmlns:a="http://schemas.openxmlformats.org/drawingml/2006/main">
              <a:ext uri="{FF2B5EF4-FFF2-40B4-BE49-F238E27FC236}">
                <a16:creationId xmlns:a16="http://schemas.microsoft.com/office/drawing/2014/main" id="{447A29C0-2600-4241-BF6B-6797417FC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5 near substitutes</a:t>
            </a:r>
          </a:p>
        </p:txBody>
      </p:sp>
      <p:sp>
        <p:nvSpPr>
          <p:cNvPr id="8" name="stat-label-1">
            <a:extLst xmlns:a="http://schemas.openxmlformats.org/drawingml/2006/main">
              <a:ext uri="{FF2B5EF4-FFF2-40B4-BE49-F238E27FC236}">
                <a16:creationId xmlns:a16="http://schemas.microsoft.com/office/drawing/2014/main" id="{1D2A853D-A304-477D-B8B8-F77F0101A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IVV-SPY · IAU-GLD · SOXX-SMH
VEA-EFA · VWO-EEM</a:t>
            </a:r>
          </a:p>
        </p:txBody>
      </p:sp>
      <p:sp>
        <p:nvSpPr>
          <p:cNvPr id="9" name="stat-2">
            <a:extLst xmlns:a="http://schemas.openxmlformats.org/drawingml/2006/main">
              <a:ext uri="{FF2B5EF4-FFF2-40B4-BE49-F238E27FC236}">
                <a16:creationId xmlns:a16="http://schemas.microsoft.com/office/drawing/2014/main" id="{342C60B8-5C35-4607-932D-DFD8E206B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7 related exposures</a:t>
            </a:r>
          </a:p>
        </p:txBody>
      </p:sp>
      <p:sp>
        <p:nvSpPr>
          <p:cNvPr id="10" name="stat-label-2">
            <a:extLst xmlns:a="http://schemas.openxmlformats.org/drawingml/2006/main">
              <a:ext uri="{FF2B5EF4-FFF2-40B4-BE49-F238E27FC236}">
                <a16:creationId xmlns:a16="http://schemas.microsoft.com/office/drawing/2014/main" id="{3123331A-6BB6-4FC3-B18C-EE98C6A8F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QQQ-XLK · IJR-IWM · KRE-XLF · IBB-XLV
USO-XLE · TLT-IEF · HYG-LQD</a:t>
            </a:r>
          </a:p>
        </p:txBody>
      </p:sp>
      <p:sp>
        <p:nvSpPr>
          <p:cNvPr id="11" name="stat-3">
            <a:extLst xmlns:a="http://schemas.openxmlformats.org/drawingml/2006/main">
              <a:ext uri="{FF2B5EF4-FFF2-40B4-BE49-F238E27FC236}">
                <a16:creationId xmlns:a16="http://schemas.microsoft.com/office/drawing/2014/main" id="{A0AD0C21-BC31-4957-B0CB-525311D43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 inverse diagnostics</a:t>
            </a:r>
          </a:p>
        </p:txBody>
      </p:sp>
      <p:sp>
        <p:nvSpPr>
          <p:cNvPr id="12" name="stat-label-3">
            <a:extLst xmlns:a="http://schemas.openxmlformats.org/drawingml/2006/main">
              <a:ext uri="{FF2B5EF4-FFF2-40B4-BE49-F238E27FC236}">
                <a16:creationId xmlns:a16="http://schemas.microsoft.com/office/drawing/2014/main" id="{86C9D445-5711-4319-B967-D72E959CA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GLD-UUP · TLT-SPY
Semantics tested; no trades</a:t>
            </a:r>
          </a:p>
        </p:txBody>
      </p:sp>
    </p:spTree>
    <p:extLst>
      <p:ext uri="{BB962C8B-B14F-4D97-AF65-F5344CB8AC3E}">
        <p14:creationId xmlns:p14="http://schemas.microsoft.com/office/powerpoint/2010/main" val="2098249639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9833E848-7434-4F2E-A17C-B17541CAE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18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17B658F-9EDE-4B04-B790-BFC2AB112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fixed panel produced no full validation pass</a:t>
            </a:r>
          </a:p>
        </p:txBody>
      </p:sp>
      <p:sp>
        <p:nvSpPr>
          <p:cNvPr id="3" name="left-stat-card">
            <a:extLst xmlns:a="http://schemas.openxmlformats.org/drawingml/2006/main">
              <a:ext uri="{FF2B5EF4-FFF2-40B4-BE49-F238E27FC236}">
                <a16:creationId xmlns:a16="http://schemas.microsoft.com/office/drawing/2014/main" id="{CB5A1905-9B52-4859-9721-FAA37599F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022" y="3360039"/>
            <a:ext cx="2581942" cy="2656523"/>
          </a:xfrm>
          <a:prstGeom xmlns:a="http://schemas.openxmlformats.org/drawingml/2006/main" prst="roundRect">
            <a:avLst>
              <a:gd name="adj" fmla="val 2951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right-stat-card">
            <a:extLst xmlns:a="http://schemas.openxmlformats.org/drawingml/2006/main">
              <a:ext uri="{FF2B5EF4-FFF2-40B4-BE49-F238E27FC236}">
                <a16:creationId xmlns:a16="http://schemas.microsoft.com/office/drawing/2014/main" id="{6D7A92E4-990F-443E-AA22-280485C87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4201" y="3360039"/>
            <a:ext cx="2581942" cy="2656523"/>
          </a:xfrm>
          <a:prstGeom xmlns:a="http://schemas.openxmlformats.org/drawingml/2006/main" prst="roundRect">
            <a:avLst>
              <a:gd name="adj" fmla="val 2951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5" name="summary">
            <a:extLst xmlns:a="http://schemas.openxmlformats.org/drawingml/2006/main">
              <a:ext uri="{FF2B5EF4-FFF2-40B4-BE49-F238E27FC236}">
                <a16:creationId xmlns:a16="http://schemas.microsoft.com/office/drawing/2014/main" id="{56D2558C-A20F-4C70-893B-6EAB7EAAD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1068" y="1714500"/>
            <a:ext cx="5539835" cy="1381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Eleven of twelve primary pairs had negative mean net trade returns. Confidence intervals and forward-convergence tests prevented the one positive point estimate from becoming a selected winner.</a:t>
            </a:r>
          </a:p>
        </p:txBody>
      </p:sp>
      <p:sp>
        <p:nvSpPr>
          <p:cNvPr id="6" name="left-stat">
            <a:extLst xmlns:a="http://schemas.openxmlformats.org/drawingml/2006/main">
              <a:ext uri="{FF2B5EF4-FFF2-40B4-BE49-F238E27FC236}">
                <a16:creationId xmlns:a16="http://schemas.microsoft.com/office/drawing/2014/main" id="{5C6C71CB-7475-4DF6-B7F0-0931DF047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9385" y="3579971"/>
            <a:ext cx="2133314" cy="115585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0 / 12</a:t>
            </a:r>
          </a:p>
        </p:txBody>
      </p:sp>
      <p:sp>
        <p:nvSpPr>
          <p:cNvPr id="7" name="left-stat-label">
            <a:extLst xmlns:a="http://schemas.openxmlformats.org/drawingml/2006/main">
              <a:ext uri="{FF2B5EF4-FFF2-40B4-BE49-F238E27FC236}">
                <a16:creationId xmlns:a16="http://schemas.microsoft.com/office/drawing/2014/main" id="{471C1151-75AF-40A2-A5A1-4F7713D23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5965" y="4953000"/>
            <a:ext cx="2066735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Primary pairs passing
all eight gates</a:t>
            </a:r>
          </a:p>
        </p:txBody>
      </p:sp>
      <p:sp>
        <p:nvSpPr>
          <p:cNvPr id="8" name="right-stat">
            <a:extLst xmlns:a="http://schemas.openxmlformats.org/drawingml/2006/main">
              <a:ext uri="{FF2B5EF4-FFF2-40B4-BE49-F238E27FC236}">
                <a16:creationId xmlns:a16="http://schemas.microsoft.com/office/drawing/2014/main" id="{423A9D83-D670-4C26-B583-F1C469F9E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1564" y="3579971"/>
            <a:ext cx="2133314" cy="115585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>
                <a:solidFill>
                  <a:srgbClr val="B42318"/>
                </a:solidFill>
                <a:latin typeface="Helvetica Neue"/>
                <a:ea typeface="Helvetica Neue"/>
                <a:cs typeface="Helvetica Neue"/>
              </a:defRPr>
            </a:pPr>
            <a:r>
              <a:t>1 / 12</a:t>
            </a:r>
          </a:p>
        </p:txBody>
      </p:sp>
      <p:sp>
        <p:nvSpPr>
          <p:cNvPr id="9" name="right-stat-label">
            <a:extLst xmlns:a="http://schemas.openxmlformats.org/drawingml/2006/main">
              <a:ext uri="{FF2B5EF4-FFF2-40B4-BE49-F238E27FC236}">
                <a16:creationId xmlns:a16="http://schemas.microsoft.com/office/drawing/2014/main" id="{F039A1C2-F7F7-4D0E-BDC1-2BD29C9D7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8143" y="4953000"/>
            <a:ext cx="2066735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Positive mean net return
USO-XLE only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383a6e6797451f"/>
          <a:stretch xmlns:a="http://schemas.openxmlformats.org/drawingml/2006/main"/>
        </p:blipFill>
        <p:spPr>
          <a:xfrm xmlns:a="http://schemas.openxmlformats.org/drawingml/2006/main">
            <a:off x="385858" y="2576472"/>
            <a:ext cx="5534216" cy="23718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5C8B50-6D11-41E2-81BC-7768CA7E2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858" y="2576472"/>
            <a:ext cx="5534216" cy="237180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a79aa9b18e4fe6"/>
          <a:stretch xmlns:a="http://schemas.openxmlformats.org/drawingml/2006/main"/>
        </p:blipFill>
        <p:spPr>
          <a:xfrm xmlns:a="http://schemas.openxmlformats.org/drawingml/2006/main">
            <a:off x="1350393" y="2576472"/>
            <a:ext cx="3605147" cy="2371807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46046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5D1F4916-B18D-4F3F-8812-75A699D9A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19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CB77D9D-0CB0-4878-9A4A-2687A311C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5537168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Breadth did not rescue the 20-session template</a:t>
            </a:r>
          </a:p>
        </p:txBody>
      </p:sp>
      <p:sp>
        <p:nvSpPr>
          <p:cNvPr id="3" name="image-backing">
            <a:extLst xmlns:a="http://schemas.openxmlformats.org/drawingml/2006/main">
              <a:ext uri="{FF2B5EF4-FFF2-40B4-BE49-F238E27FC236}">
                <a16:creationId xmlns:a16="http://schemas.microsoft.com/office/drawing/2014/main" id="{6220C938-B9AD-4B79-90E3-107E303A9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9069" y="396431"/>
            <a:ext cx="5539740" cy="5602034"/>
          </a:xfrm>
          <a:prstGeom xmlns:a="http://schemas.openxmlformats.org/drawingml/2006/main" prst="roundRect">
            <a:avLst>
              <a:gd name="adj" fmla="val 137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3F760EC2-C6B5-4968-A4B1-EBAD286BA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695450"/>
            <a:ext cx="5537168" cy="423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Every primary pair failed the positive-mean-with-positive-lower-bound gate.
Every primary pair also failed the forward-convergence requirement that the upper confidence bound remain below zero.
This matters: a spread can look statistically structured yet still offer no robust, cost-surviving directional forecast.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ca271d023748ae"/>
          <a:stretch xmlns:a="http://schemas.openxmlformats.org/drawingml/2006/main"/>
        </p:blipFill>
        <p:spPr>
          <a:xfrm xmlns:a="http://schemas.openxmlformats.org/drawingml/2006/main">
            <a:off x="6381750" y="1595005"/>
            <a:ext cx="5314950" cy="3382241"/>
          </a:xfrm>
          <a:prstGeom xmlns:a="http://schemas.openxmlformats.org/drawingml/2006/main" prst="round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1B8A64-ACC9-4498-AEAE-0060DC180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595005"/>
            <a:ext cx="5314950" cy="338224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ee013a90d94eca"/>
          <a:stretch xmlns:a="http://schemas.openxmlformats.org/drawingml/2006/main"/>
        </p:blipFill>
        <p:spPr>
          <a:xfrm xmlns:a="http://schemas.openxmlformats.org/drawingml/2006/main">
            <a:off x="6381750" y="1704295"/>
            <a:ext cx="5314950" cy="3163661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463436756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tat-card-1">
            <a:extLst xmlns:a="http://schemas.openxmlformats.org/drawingml/2006/main">
              <a:ext uri="{FF2B5EF4-FFF2-40B4-BE49-F238E27FC236}">
                <a16:creationId xmlns:a16="http://schemas.microsoft.com/office/drawing/2014/main" id="{E92BF88A-D985-4E89-9220-AED80DBBC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stat-card-2">
            <a:extLst xmlns:a="http://schemas.openxmlformats.org/drawingml/2006/main">
              <a:ext uri="{FF2B5EF4-FFF2-40B4-BE49-F238E27FC236}">
                <a16:creationId xmlns:a16="http://schemas.microsoft.com/office/drawing/2014/main" id="{18F3FD71-2B01-497E-B7A5-AD72E3A3F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stat-card-3">
            <a:extLst xmlns:a="http://schemas.openxmlformats.org/drawingml/2006/main">
              <a:ext uri="{FF2B5EF4-FFF2-40B4-BE49-F238E27FC236}">
                <a16:creationId xmlns:a16="http://schemas.microsoft.com/office/drawing/2014/main" id="{A256A665-F93B-46DB-A120-F2929BE31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8B8FEAA9-7122-4602-AAFA-C856C71CA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20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6B999DAA-321B-4DEF-AC22-1F41A5B8E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categories failed for different reasons</a:t>
            </a:r>
          </a:p>
        </p:txBody>
      </p:sp>
      <p:sp>
        <p:nvSpPr>
          <p:cNvPr id="6" name="intro">
            <a:extLst xmlns:a="http://schemas.openxmlformats.org/drawingml/2006/main">
              <a:ext uri="{FF2B5EF4-FFF2-40B4-BE49-F238E27FC236}">
                <a16:creationId xmlns:a16="http://schemas.microsoft.com/office/drawing/2014/main" id="{B83D39E3-1D42-4CA4-A507-6C07CD200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219200"/>
            <a:ext cx="11404568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This is more informative than a single failed pair: tight substitutes had too little gross movement after costs; looser exposures offered more movement but unreliable convergence; inverse pairs changed the trade itself.</a:t>
            </a:r>
          </a:p>
        </p:txBody>
      </p:sp>
      <p:sp>
        <p:nvSpPr>
          <p:cNvPr id="7" name="stat-1">
            <a:extLst xmlns:a="http://schemas.openxmlformats.org/drawingml/2006/main">
              <a:ext uri="{FF2B5EF4-FFF2-40B4-BE49-F238E27FC236}">
                <a16:creationId xmlns:a16="http://schemas.microsoft.com/office/drawing/2014/main" id="{CE99FBCB-3F61-4E2C-9916-C8B37E005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64748B"/>
                </a:solidFill>
                <a:latin typeface="Helvetica Neue"/>
                <a:ea typeface="Helvetica Neue"/>
                <a:cs typeface="Helvetica Neue"/>
              </a:defRPr>
            </a:pPr>
            <a:r>
              <a:t>0 / 5</a:t>
            </a:r>
          </a:p>
        </p:txBody>
      </p:sp>
      <p:sp>
        <p:nvSpPr>
          <p:cNvPr id="8" name="stat-label-1">
            <a:extLst xmlns:a="http://schemas.openxmlformats.org/drawingml/2006/main">
              <a:ext uri="{FF2B5EF4-FFF2-40B4-BE49-F238E27FC236}">
                <a16:creationId xmlns:a16="http://schemas.microsoft.com/office/drawing/2014/main" id="{8D7A7BD1-1D20-421E-BAC5-DFF695BBE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980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Near substitutes with positive mean
Costs overwhelmed tiny convergence</a:t>
            </a:r>
          </a:p>
        </p:txBody>
      </p:sp>
      <p:sp>
        <p:nvSpPr>
          <p:cNvPr id="9" name="stat-2">
            <a:extLst xmlns:a="http://schemas.openxmlformats.org/drawingml/2006/main">
              <a:ext uri="{FF2B5EF4-FFF2-40B4-BE49-F238E27FC236}">
                <a16:creationId xmlns:a16="http://schemas.microsoft.com/office/drawing/2014/main" id="{E572DBE1-8080-407B-A0FF-815818B83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B42318"/>
                </a:solidFill>
                <a:latin typeface="Helvetica Neue"/>
                <a:ea typeface="Helvetica Neue"/>
                <a:cs typeface="Helvetica Neue"/>
              </a:defRPr>
            </a:pPr>
            <a:r>
              <a:t>1 / 7</a:t>
            </a:r>
          </a:p>
        </p:txBody>
      </p:sp>
      <p:sp>
        <p:nvSpPr>
          <p:cNvPr id="10" name="stat-label-2">
            <a:extLst xmlns:a="http://schemas.openxmlformats.org/drawingml/2006/main">
              <a:ext uri="{FF2B5EF4-FFF2-40B4-BE49-F238E27FC236}">
                <a16:creationId xmlns:a16="http://schemas.microsoft.com/office/drawing/2014/main" id="{FD56EAD1-B269-48E0-9F23-33330F29D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Related exposures with positive mean
USO-XLE still failed four gates</a:t>
            </a:r>
          </a:p>
        </p:txBody>
      </p:sp>
      <p:sp>
        <p:nvSpPr>
          <p:cNvPr id="11" name="stat-3">
            <a:extLst xmlns:a="http://schemas.openxmlformats.org/drawingml/2006/main">
              <a:ext uri="{FF2B5EF4-FFF2-40B4-BE49-F238E27FC236}">
                <a16:creationId xmlns:a16="http://schemas.microsoft.com/office/drawing/2014/main" id="{9C6C64B0-28CA-4923-800E-94342CB69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No trades</a:t>
            </a:r>
          </a:p>
        </p:txBody>
      </p:sp>
      <p:sp>
        <p:nvSpPr>
          <p:cNvPr id="12" name="stat-label-3">
            <a:extLst xmlns:a="http://schemas.openxmlformats.org/drawingml/2006/main">
              <a:ext uri="{FF2B5EF4-FFF2-40B4-BE49-F238E27FC236}">
                <a16:creationId xmlns:a16="http://schemas.microsoft.com/office/drawing/2014/main" id="{0ED31E12-360E-4FDB-B429-1A6368F4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Inverse challengers had same-side semantics
and unstable beta signs</a:t>
            </a:r>
          </a:p>
        </p:txBody>
      </p:sp>
    </p:spTree>
    <p:extLst>
      <p:ext uri="{BB962C8B-B14F-4D97-AF65-F5344CB8AC3E}">
        <p14:creationId xmlns:p14="http://schemas.microsoft.com/office/powerpoint/2010/main" val="150026174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tat-card-1">
            <a:extLst xmlns:a="http://schemas.openxmlformats.org/drawingml/2006/main">
              <a:ext uri="{FF2B5EF4-FFF2-40B4-BE49-F238E27FC236}">
                <a16:creationId xmlns:a16="http://schemas.microsoft.com/office/drawing/2014/main" id="{8D249104-692F-481F-82EC-326C84E90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stat-card-2">
            <a:extLst xmlns:a="http://schemas.openxmlformats.org/drawingml/2006/main">
              <a:ext uri="{FF2B5EF4-FFF2-40B4-BE49-F238E27FC236}">
                <a16:creationId xmlns:a16="http://schemas.microsoft.com/office/drawing/2014/main" id="{02412AD9-1F13-493C-BF6C-FD8BDE750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stat-card-3">
            <a:extLst xmlns:a="http://schemas.openxmlformats.org/drawingml/2006/main">
              <a:ext uri="{FF2B5EF4-FFF2-40B4-BE49-F238E27FC236}">
                <a16:creationId xmlns:a16="http://schemas.microsoft.com/office/drawing/2014/main" id="{63597CCF-F233-4A0C-BCFA-192F852FD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11E272E4-82E7-4287-91C5-21E6B629F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21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A0ED332F-4F42-421E-99CF-097B6CBB5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Panel B broadened the test across 15 ordinary industries</a:t>
            </a:r>
          </a:p>
        </p:txBody>
      </p:sp>
      <p:sp>
        <p:nvSpPr>
          <p:cNvPr id="6" name="intro">
            <a:extLst xmlns:a="http://schemas.openxmlformats.org/drawingml/2006/main">
              <a:ext uri="{FF2B5EF4-FFF2-40B4-BE49-F238E27FC236}">
                <a16:creationId xmlns:a16="http://schemas.microsoft.com/office/drawing/2014/main" id="{E3D1AF2D-950D-495D-BB07-182C768AD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219200"/>
            <a:ext cx="11404568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pairs were fixed before outcomes and deliberately avoid individual meme stocks. Every pair uses the same 2016-2020 TRAIN window, mechanics, costs, diagnostics, and eight gates.</a:t>
            </a:r>
          </a:p>
        </p:txBody>
      </p:sp>
      <p:sp>
        <p:nvSpPr>
          <p:cNvPr id="7" name="stat-1">
            <a:extLst xmlns:a="http://schemas.openxmlformats.org/drawingml/2006/main">
              <a:ext uri="{FF2B5EF4-FFF2-40B4-BE49-F238E27FC236}">
                <a16:creationId xmlns:a16="http://schemas.microsoft.com/office/drawing/2014/main" id="{447A29C0-2600-4241-BF6B-6797417FC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9 sector pairs</a:t>
            </a:r>
          </a:p>
        </p:txBody>
      </p:sp>
      <p:sp>
        <p:nvSpPr>
          <p:cNvPr id="8" name="stat-label-1">
            <a:extLst xmlns:a="http://schemas.openxmlformats.org/drawingml/2006/main">
              <a:ext uri="{FF2B5EF4-FFF2-40B4-BE49-F238E27FC236}">
                <a16:creationId xmlns:a16="http://schemas.microsoft.com/office/drawing/2014/main" id="{1D2A853D-A304-477D-B8B8-F77F0101A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Staples through materials
SPDR / Vanguard near-substitute exposures</a:t>
            </a:r>
          </a:p>
        </p:txBody>
      </p:sp>
      <p:sp>
        <p:nvSpPr>
          <p:cNvPr id="9" name="stat-2">
            <a:extLst xmlns:a="http://schemas.openxmlformats.org/drawingml/2006/main">
              <a:ext uri="{FF2B5EF4-FFF2-40B4-BE49-F238E27FC236}">
                <a16:creationId xmlns:a16="http://schemas.microsoft.com/office/drawing/2014/main" id="{342C60B8-5C35-4607-932D-DFD8E206B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5 industry pairs</a:t>
            </a:r>
          </a:p>
        </p:txBody>
      </p:sp>
      <p:sp>
        <p:nvSpPr>
          <p:cNvPr id="10" name="stat-label-2">
            <a:extLst xmlns:a="http://schemas.openxmlformats.org/drawingml/2006/main">
              <a:ext uri="{FF2B5EF4-FFF2-40B4-BE49-F238E27FC236}">
                <a16:creationId xmlns:a16="http://schemas.microsoft.com/office/drawing/2014/main" id="{3123331A-6BB6-4FC3-B18C-EE98C6A8F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Defense · devices · retail
homebuilders · biotech</a:t>
            </a:r>
          </a:p>
        </p:txBody>
      </p:sp>
      <p:sp>
        <p:nvSpPr>
          <p:cNvPr id="11" name="stat-3">
            <a:extLst xmlns:a="http://schemas.openxmlformats.org/drawingml/2006/main">
              <a:ext uri="{FF2B5EF4-FFF2-40B4-BE49-F238E27FC236}">
                <a16:creationId xmlns:a16="http://schemas.microsoft.com/office/drawing/2014/main" id="{A0AD0C21-BC31-4957-B0CB-525311D43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 producer link</a:t>
            </a:r>
          </a:p>
        </p:txBody>
      </p:sp>
      <p:sp>
        <p:nvSpPr>
          <p:cNvPr id="12" name="stat-label-3">
            <a:extLst xmlns:a="http://schemas.openxmlformats.org/drawingml/2006/main">
              <a:ext uri="{FF2B5EF4-FFF2-40B4-BE49-F238E27FC236}">
                <a16:creationId xmlns:a16="http://schemas.microsoft.com/office/drawing/2014/main" id="{86C9D445-5711-4319-B967-D72E959CA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GDX-GLD
Gold miners versus physical gold</a:t>
            </a:r>
          </a:p>
        </p:txBody>
      </p:sp>
    </p:spTree>
    <p:extLst>
      <p:ext uri="{BB962C8B-B14F-4D97-AF65-F5344CB8AC3E}">
        <p14:creationId xmlns:p14="http://schemas.microsoft.com/office/powerpoint/2010/main" val="2098249639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9833E848-7434-4F2E-A17C-B17541CAE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22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17B658F-9EDE-4B04-B790-BFC2AB112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Panel B also produced no full validation pass</a:t>
            </a:r>
          </a:p>
        </p:txBody>
      </p:sp>
      <p:sp>
        <p:nvSpPr>
          <p:cNvPr id="3" name="left-stat-card">
            <a:extLst xmlns:a="http://schemas.openxmlformats.org/drawingml/2006/main">
              <a:ext uri="{FF2B5EF4-FFF2-40B4-BE49-F238E27FC236}">
                <a16:creationId xmlns:a16="http://schemas.microsoft.com/office/drawing/2014/main" id="{CB5A1905-9B52-4859-9721-FAA37599F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022" y="3360039"/>
            <a:ext cx="2581942" cy="2656523"/>
          </a:xfrm>
          <a:prstGeom xmlns:a="http://schemas.openxmlformats.org/drawingml/2006/main" prst="roundRect">
            <a:avLst>
              <a:gd name="adj" fmla="val 2951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right-stat-card">
            <a:extLst xmlns:a="http://schemas.openxmlformats.org/drawingml/2006/main">
              <a:ext uri="{FF2B5EF4-FFF2-40B4-BE49-F238E27FC236}">
                <a16:creationId xmlns:a16="http://schemas.microsoft.com/office/drawing/2014/main" id="{6D7A92E4-990F-443E-AA22-280485C87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4201" y="3360039"/>
            <a:ext cx="2581942" cy="2656523"/>
          </a:xfrm>
          <a:prstGeom xmlns:a="http://schemas.openxmlformats.org/drawingml/2006/main" prst="roundRect">
            <a:avLst>
              <a:gd name="adj" fmla="val 2951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5" name="summary">
            <a:extLst xmlns:a="http://schemas.openxmlformats.org/drawingml/2006/main">
              <a:ext uri="{FF2B5EF4-FFF2-40B4-BE49-F238E27FC236}">
                <a16:creationId xmlns:a16="http://schemas.microsoft.com/office/drawing/2014/main" id="{56D2558C-A20F-4C70-893B-6EAB7EAAD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1068" y="1714500"/>
            <a:ext cx="5539835" cy="1381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All 15 pairs generated two-sided trades. Yet every pair had a negative primary-cost mean net trade return, and no moving-block uncertainty interval cleared zero.</a:t>
            </a:r>
          </a:p>
        </p:txBody>
      </p:sp>
      <p:sp>
        <p:nvSpPr>
          <p:cNvPr id="6" name="left-stat">
            <a:extLst xmlns:a="http://schemas.openxmlformats.org/drawingml/2006/main">
              <a:ext uri="{FF2B5EF4-FFF2-40B4-BE49-F238E27FC236}">
                <a16:creationId xmlns:a16="http://schemas.microsoft.com/office/drawing/2014/main" id="{5C6C71CB-7475-4DF6-B7F0-0931DF047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9385" y="3579971"/>
            <a:ext cx="2133314" cy="115585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0 / 15</a:t>
            </a:r>
          </a:p>
        </p:txBody>
      </p:sp>
      <p:sp>
        <p:nvSpPr>
          <p:cNvPr id="7" name="left-stat-label">
            <a:extLst xmlns:a="http://schemas.openxmlformats.org/drawingml/2006/main">
              <a:ext uri="{FF2B5EF4-FFF2-40B4-BE49-F238E27FC236}">
                <a16:creationId xmlns:a16="http://schemas.microsoft.com/office/drawing/2014/main" id="{471C1151-75AF-40A2-A5A1-4F7713D23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5965" y="4953000"/>
            <a:ext cx="2066735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Primary pairs passing
all eight gates</a:t>
            </a:r>
          </a:p>
        </p:txBody>
      </p:sp>
      <p:sp>
        <p:nvSpPr>
          <p:cNvPr id="8" name="right-stat">
            <a:extLst xmlns:a="http://schemas.openxmlformats.org/drawingml/2006/main">
              <a:ext uri="{FF2B5EF4-FFF2-40B4-BE49-F238E27FC236}">
                <a16:creationId xmlns:a16="http://schemas.microsoft.com/office/drawing/2014/main" id="{423A9D83-D670-4C26-B583-F1C469F9E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1564" y="3579971"/>
            <a:ext cx="2133314" cy="115585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>
                <a:solidFill>
                  <a:srgbClr val="B42318"/>
                </a:solidFill>
                <a:latin typeface="Helvetica Neue"/>
                <a:ea typeface="Helvetica Neue"/>
                <a:cs typeface="Helvetica Neue"/>
              </a:defRPr>
            </a:pPr>
            <a:r>
              <a:t>0 / 15</a:t>
            </a:r>
          </a:p>
        </p:txBody>
      </p:sp>
      <p:sp>
        <p:nvSpPr>
          <p:cNvPr id="9" name="right-stat-label">
            <a:extLst xmlns:a="http://schemas.openxmlformats.org/drawingml/2006/main">
              <a:ext uri="{FF2B5EF4-FFF2-40B4-BE49-F238E27FC236}">
                <a16:creationId xmlns:a16="http://schemas.microsoft.com/office/drawing/2014/main" id="{F039A1C2-F7F7-4D0E-BDC1-2BD29C9D7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8143" y="4953000"/>
            <a:ext cx="2066735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Positive mean net return
Primary costs included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02a2ace50e47cd"/>
          <a:stretch xmlns:a="http://schemas.openxmlformats.org/drawingml/2006/main"/>
        </p:blipFill>
        <p:spPr>
          <a:xfrm xmlns:a="http://schemas.openxmlformats.org/drawingml/2006/main">
            <a:off x="385858" y="2576472"/>
            <a:ext cx="5534216" cy="23718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5C8B50-6D11-41E2-81BC-7768CA7E2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858" y="2576472"/>
            <a:ext cx="5534216" cy="237180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21087fd00e459a"/>
          <a:stretch xmlns:a="http://schemas.openxmlformats.org/drawingml/2006/main"/>
        </p:blipFill>
        <p:spPr>
          <a:xfrm xmlns:a="http://schemas.openxmlformats.org/drawingml/2006/main">
            <a:off x="1350393" y="2576472"/>
            <a:ext cx="3605147" cy="2371807"/>
          </a:xfrm>
          <a:prstGeom xmlns:a="http://schemas.openxmlformats.org/drawingml/2006/main" prst="rect">
            <a:avLst/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F1971E-0797-4B2A-9D4E-EA0B3D579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858" y="2576472"/>
            <a:ext cx="5534216" cy="237180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7c94fab89a4285"/>
          <a:stretch xmlns:a="http://schemas.openxmlformats.org/drawingml/2006/main"/>
        </p:blipFill>
        <p:spPr>
          <a:xfrm xmlns:a="http://schemas.openxmlformats.org/drawingml/2006/main">
            <a:off x="1350393" y="2576472"/>
            <a:ext cx="3605147" cy="2371807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46046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5D1F4916-B18D-4F3F-8812-75A699D9A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23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CB77D9D-0CB0-4878-9A4A-2687A311C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5537168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Failure concentrated in the economic and mechanism gates</a:t>
            </a:r>
          </a:p>
        </p:txBody>
      </p:sp>
      <p:sp>
        <p:nvSpPr>
          <p:cNvPr id="3" name="image-backing">
            <a:extLst xmlns:a="http://schemas.openxmlformats.org/drawingml/2006/main">
              <a:ext uri="{FF2B5EF4-FFF2-40B4-BE49-F238E27FC236}">
                <a16:creationId xmlns:a16="http://schemas.microsoft.com/office/drawing/2014/main" id="{6220C938-B9AD-4B79-90E3-107E303A9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9069" y="396431"/>
            <a:ext cx="5539740" cy="5602034"/>
          </a:xfrm>
          <a:prstGeom xmlns:a="http://schemas.openxmlformats.org/drawingml/2006/main" prst="roundRect">
            <a:avLst>
              <a:gd name="adj" fmla="val 137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3F760EC2-C6B5-4968-A4B1-EBAD286BA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695450"/>
            <a:ext cx="5537168" cy="423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All 15 passed G1 and G3; 14 of 15 passed G2. Data validity and two-sided trade support were not the problem.
No pair passed G4, G5, G6, or G8. Only three passed the 3-of-5-year G7 stability check.
The template generated activity—not a cost-surviving or mechanism-confirmed edge.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6add23a4e54eba"/>
          <a:stretch xmlns:a="http://schemas.openxmlformats.org/drawingml/2006/main"/>
        </p:blipFill>
        <p:spPr>
          <a:xfrm xmlns:a="http://schemas.openxmlformats.org/drawingml/2006/main">
            <a:off x="6381750" y="1595005"/>
            <a:ext cx="5314950" cy="3382241"/>
          </a:xfrm>
          <a:prstGeom xmlns:a="http://schemas.openxmlformats.org/drawingml/2006/main" prst="round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1B8A64-ACC9-4498-AEAE-0060DC180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595005"/>
            <a:ext cx="5314950" cy="338224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ab10a9a5d04009"/>
          <a:stretch xmlns:a="http://schemas.openxmlformats.org/drawingml/2006/main"/>
        </p:blipFill>
        <p:spPr>
          <a:xfrm xmlns:a="http://schemas.openxmlformats.org/drawingml/2006/main">
            <a:off x="6381750" y="1704295"/>
            <a:ext cx="5314950" cy="3163661"/>
          </a:xfrm>
          <a:prstGeom xmlns:a="http://schemas.openxmlformats.org/drawingml/2006/main" prst="round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209D2C-E63E-4C2B-9C87-FE2745419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595005"/>
            <a:ext cx="5314950" cy="338224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7bd660620541d7"/>
          <a:stretch xmlns:a="http://schemas.openxmlformats.org/drawingml/2006/main"/>
        </p:blipFill>
        <p:spPr>
          <a:xfrm xmlns:a="http://schemas.openxmlformats.org/drawingml/2006/main">
            <a:off x="6381750" y="1704295"/>
            <a:ext cx="5314950" cy="3163661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463436756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tat-card-1">
            <a:extLst xmlns:a="http://schemas.openxmlformats.org/drawingml/2006/main">
              <a:ext uri="{FF2B5EF4-FFF2-40B4-BE49-F238E27FC236}">
                <a16:creationId xmlns:a16="http://schemas.microsoft.com/office/drawing/2014/main" id="{E92BF88A-D985-4E89-9220-AED80DBBC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stat-card-2">
            <a:extLst xmlns:a="http://schemas.openxmlformats.org/drawingml/2006/main">
              <a:ext uri="{FF2B5EF4-FFF2-40B4-BE49-F238E27FC236}">
                <a16:creationId xmlns:a16="http://schemas.microsoft.com/office/drawing/2014/main" id="{18F3FD71-2B01-497E-B7A5-AD72E3A3F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stat-card-3">
            <a:extLst xmlns:a="http://schemas.openxmlformats.org/drawingml/2006/main">
              <a:ext uri="{FF2B5EF4-FFF2-40B4-BE49-F238E27FC236}">
                <a16:creationId xmlns:a16="http://schemas.microsoft.com/office/drawing/2014/main" id="{A256A665-F93B-46DB-A120-F2929BE31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8B8FEAA9-7122-4602-AAFA-C856C71CA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24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6B999DAA-321B-4DEF-AC22-1F41A5B8E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Across 27 primary pairs, the exact template never cleared</a:t>
            </a:r>
          </a:p>
        </p:txBody>
      </p:sp>
      <p:sp>
        <p:nvSpPr>
          <p:cNvPr id="6" name="intro">
            <a:extLst xmlns:a="http://schemas.openxmlformats.org/drawingml/2006/main">
              <a:ext uri="{FF2B5EF4-FFF2-40B4-BE49-F238E27FC236}">
                <a16:creationId xmlns:a16="http://schemas.microsoft.com/office/drawing/2014/main" id="{B83D39E3-1D42-4CA4-A507-6C07CD200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219200"/>
            <a:ext cx="11404568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Panels A and B tested near substitutes, related exposures, sectors, industries, and a producer link with identical mechanics, costs, and gates. This is breadth falsification—not parameter search.</a:t>
            </a:r>
          </a:p>
        </p:txBody>
      </p:sp>
      <p:sp>
        <p:nvSpPr>
          <p:cNvPr id="7" name="stat-1">
            <a:extLst xmlns:a="http://schemas.openxmlformats.org/drawingml/2006/main">
              <a:ext uri="{FF2B5EF4-FFF2-40B4-BE49-F238E27FC236}">
                <a16:creationId xmlns:a16="http://schemas.microsoft.com/office/drawing/2014/main" id="{CE99FBCB-3F61-4E2C-9916-C8B37E005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64748B"/>
                </a:solidFill>
                <a:latin typeface="Helvetica Neue"/>
                <a:ea typeface="Helvetica Neue"/>
                <a:cs typeface="Helvetica Neue"/>
              </a:defRPr>
            </a:pPr>
            <a:r>
              <a:t>0 / 27</a:t>
            </a:r>
          </a:p>
        </p:txBody>
      </p:sp>
      <p:sp>
        <p:nvSpPr>
          <p:cNvPr id="8" name="stat-label-1">
            <a:extLst xmlns:a="http://schemas.openxmlformats.org/drawingml/2006/main">
              <a:ext uri="{FF2B5EF4-FFF2-40B4-BE49-F238E27FC236}">
                <a16:creationId xmlns:a16="http://schemas.microsoft.com/office/drawing/2014/main" id="{8D7A7BD1-1D20-421E-BAC5-DFF695BBE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Full eight-gate passes
No later partition opened</a:t>
            </a:r>
          </a:p>
        </p:txBody>
      </p:sp>
      <p:sp>
        <p:nvSpPr>
          <p:cNvPr id="9" name="stat-2">
            <a:extLst xmlns:a="http://schemas.openxmlformats.org/drawingml/2006/main">
              <a:ext uri="{FF2B5EF4-FFF2-40B4-BE49-F238E27FC236}">
                <a16:creationId xmlns:a16="http://schemas.microsoft.com/office/drawing/2014/main" id="{E572DBE1-8080-407B-A0FF-815818B83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B42318"/>
                </a:solidFill>
                <a:latin typeface="Helvetica Neue"/>
                <a:ea typeface="Helvetica Neue"/>
                <a:cs typeface="Helvetica Neue"/>
              </a:defRPr>
            </a:pPr>
            <a:r>
              <a:t>1 / 27</a:t>
            </a:r>
          </a:p>
        </p:txBody>
      </p:sp>
      <p:sp>
        <p:nvSpPr>
          <p:cNvPr id="10" name="stat-label-2">
            <a:extLst xmlns:a="http://schemas.openxmlformats.org/drawingml/2006/main">
              <a:ext uri="{FF2B5EF4-FFF2-40B4-BE49-F238E27FC236}">
                <a16:creationId xmlns:a16="http://schemas.microsoft.com/office/drawing/2014/main" id="{FD56EAD1-B269-48E0-9F23-33330F29D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Positive mean net return
USO-XLE; still failed four gates</a:t>
            </a:r>
          </a:p>
        </p:txBody>
      </p:sp>
      <p:sp>
        <p:nvSpPr>
          <p:cNvPr id="11" name="stat-3">
            <a:extLst xmlns:a="http://schemas.openxmlformats.org/drawingml/2006/main">
              <a:ext uri="{FF2B5EF4-FFF2-40B4-BE49-F238E27FC236}">
                <a16:creationId xmlns:a16="http://schemas.microsoft.com/office/drawing/2014/main" id="{9C6C64B0-28CA-4923-800E-94342CB69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0 / 27</a:t>
            </a:r>
          </a:p>
        </p:txBody>
      </p:sp>
      <p:sp>
        <p:nvSpPr>
          <p:cNvPr id="12" name="stat-label-3">
            <a:extLst xmlns:a="http://schemas.openxmlformats.org/drawingml/2006/main">
              <a:ext uri="{FF2B5EF4-FFF2-40B4-BE49-F238E27FC236}">
                <a16:creationId xmlns:a16="http://schemas.microsoft.com/office/drawing/2014/main" id="{0ED31E12-360E-4FDB-B429-1A6368F4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Robust G8 mechanism passes
No upper interval below zero</a:t>
            </a:r>
          </a:p>
        </p:txBody>
      </p:sp>
    </p:spTree>
    <p:extLst>
      <p:ext uri="{BB962C8B-B14F-4D97-AF65-F5344CB8AC3E}">
        <p14:creationId xmlns:p14="http://schemas.microsoft.com/office/powerpoint/2010/main" val="150026174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cover-headline">
            <a:extLst xmlns:a="http://schemas.openxmlformats.org/drawingml/2006/main">
              <a:ext uri="{FF2B5EF4-FFF2-40B4-BE49-F238E27FC236}">
                <a16:creationId xmlns:a16="http://schemas.microsoft.com/office/drawing/2014/main" id="{E9F43BB9-4202-4A42-9916-7A0667833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102870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57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Breadth strengthened the STOP.
Do not rescue the rule.</a:t>
            </a:r>
          </a:p>
        </p:txBody>
      </p:sp>
      <p:sp>
        <p:nvSpPr>
          <p:cNvPr id="2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F6F90063-BA30-438B-9FD3-13AA22719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62500"/>
            <a:ext cx="800100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Keep LIT-MR-02.1 as a reusable hypothesis-testing template and falsification result. Any new window, transform, hedge model, or exit rule must be frozen as a substantive new variant.</a:t>
            </a:r>
          </a:p>
        </p:txBody>
      </p:sp>
      <p:sp>
        <p:nvSpPr>
          <p:cNvPr id="3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45129715-75DE-4D50-B44D-3AFE3EBA3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7239000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DECISION</a:t>
            </a:r>
          </a:p>
        </p:txBody>
      </p:sp>
    </p:spTree>
    <p:extLst>
      <p:ext uri="{BB962C8B-B14F-4D97-AF65-F5344CB8AC3E}">
        <p14:creationId xmlns:p14="http://schemas.microsoft.com/office/powerpoint/2010/main" val="166424019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2026-07-29T02:03:18.3270000Z</dcterms:created>
  <dcterms:modified xsi:type="dcterms:W3CDTF">2026-07-29T02:03:18.3270000Z</dcterms:modified>
</coreProperties>
</file>