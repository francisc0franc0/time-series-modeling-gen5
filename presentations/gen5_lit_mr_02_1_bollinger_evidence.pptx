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45fdaeac1f40c4" /><Relationship Type="http://schemas.openxmlformats.org/officeDocument/2006/relationships/extended-properties" Target="/docProps/app.xml" Id="R8393565df16a4252" /><Relationship Type="http://schemas.openxmlformats.org/officeDocument/2006/relationships/officeDocument" Target="/ppt/presentation.xml" Id="R5f760dd0fc684b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1918952ef4807"/>
  </p:sldMasterIdLst>
  <p:notesMasterIdLst>
    <p:notesMasterId xmlns:r="http://schemas.openxmlformats.org/officeDocument/2006/relationships" r:id="Rdb7b1a1873cb411e"/>
  </p:notesMasterIdLst>
  <p:sldIdLst>
    <p:sldId xmlns:r="http://schemas.openxmlformats.org/officeDocument/2006/relationships" id="256" r:id="Rba525469a78f4593"/>
    <p:sldId xmlns:r="http://schemas.openxmlformats.org/officeDocument/2006/relationships" id="257" r:id="Rac7dc99e3c2945db"/>
    <p:sldId xmlns:r="http://schemas.openxmlformats.org/officeDocument/2006/relationships" id="258" r:id="R0fc6a863c5d14b8a"/>
    <p:sldId xmlns:r="http://schemas.openxmlformats.org/officeDocument/2006/relationships" id="259" r:id="R340af81d15b04cf0"/>
    <p:sldId xmlns:r="http://schemas.openxmlformats.org/officeDocument/2006/relationships" id="260" r:id="R5f5e47bd1fde46aa"/>
    <p:sldId xmlns:r="http://schemas.openxmlformats.org/officeDocument/2006/relationships" id="261" r:id="R4a8b179aa0684b01"/>
    <p:sldId xmlns:r="http://schemas.openxmlformats.org/officeDocument/2006/relationships" id="262" r:id="R482f6db5378e4390"/>
    <p:sldId xmlns:r="http://schemas.openxmlformats.org/officeDocument/2006/relationships" id="263" r:id="Rf4dc6912db4e43f6"/>
    <p:sldId xmlns:r="http://schemas.openxmlformats.org/officeDocument/2006/relationships" id="264" r:id="Rbef6d66ce822439f"/>
    <p:sldId xmlns:r="http://schemas.openxmlformats.org/officeDocument/2006/relationships" id="265" r:id="R140d588a27ac466f"/>
    <p:sldId xmlns:r="http://schemas.openxmlformats.org/officeDocument/2006/relationships" id="266" r:id="Raf7eae2e1fc14c03"/>
    <p:sldId xmlns:r="http://schemas.openxmlformats.org/officeDocument/2006/relationships" id="267" r:id="R3f8e65828b034c0c"/>
    <p:sldId xmlns:r="http://schemas.openxmlformats.org/officeDocument/2006/relationships" id="268" r:id="Ra0b50b82f28b48ce"/>
    <p:sldId xmlns:r="http://schemas.openxmlformats.org/officeDocument/2006/relationships" id="269" r:id="R54116230a2fb48f1"/>
    <p:sldId xmlns:r="http://schemas.openxmlformats.org/officeDocument/2006/relationships" id="270" r:id="Rb11bb6e2ec254291"/>
    <p:sldId xmlns:r="http://schemas.openxmlformats.org/officeDocument/2006/relationships" id="271" r:id="R559966ba248648c4"/>
    <p:sldId xmlns:r="http://schemas.openxmlformats.org/officeDocument/2006/relationships" id="272" r:id="R36e1f00029774c5d"/>
    <p:sldId xmlns:r="http://schemas.openxmlformats.org/officeDocument/2006/relationships" id="273" r:id="R501d17a74ffa4e95"/>
    <p:sldId xmlns:r="http://schemas.openxmlformats.org/officeDocument/2006/relationships" id="274" r:id="R80e31e3ec9524f43"/>
    <p:sldId xmlns:r="http://schemas.openxmlformats.org/officeDocument/2006/relationships" id="275" r:id="R6e9ce5f4b3184b05"/>
    <p:sldId xmlns:r="http://schemas.openxmlformats.org/officeDocument/2006/relationships" id="276" r:id="R2e74613cd04f40fa"/>
    <p:sldId xmlns:r="http://schemas.openxmlformats.org/officeDocument/2006/relationships" id="277" r:id="R98de95311e4c4ef7"/>
    <p:sldId xmlns:r="http://schemas.openxmlformats.org/officeDocument/2006/relationships" id="278" r:id="Rba2b5cdbef0e4f64"/>
    <p:sldId xmlns:r="http://schemas.openxmlformats.org/officeDocument/2006/relationships" id="279" r:id="Rec86ed4710c74328"/>
    <p:sldId xmlns:r="http://schemas.openxmlformats.org/officeDocument/2006/relationships" id="280" r:id="R8035548227094914"/>
    <p:sldId xmlns:r="http://schemas.openxmlformats.org/officeDocument/2006/relationships" id="281" r:id="R5f6bf38ac69d48c2"/>
    <p:sldId xmlns:r="http://schemas.openxmlformats.org/officeDocument/2006/relationships" id="282" r:id="R2a80033bf24f49a6"/>
    <p:sldId xmlns:r="http://schemas.openxmlformats.org/officeDocument/2006/relationships" id="283" r:id="R6c933ae295984898"/>
    <p:sldId xmlns:r="http://schemas.openxmlformats.org/officeDocument/2006/relationships" id="284" r:id="Rbead07570f5a4ab1"/>
    <p:sldId xmlns:r="http://schemas.openxmlformats.org/officeDocument/2006/relationships" id="285" r:id="R8148dca2dbbb4578"/>
    <p:sldId xmlns:r="http://schemas.openxmlformats.org/officeDocument/2006/relationships" id="286" r:id="Rf945799aa9ba4d34"/>
    <p:sldId xmlns:r="http://schemas.openxmlformats.org/officeDocument/2006/relationships" id="287" r:id="R997b1c070c794914"/>
    <p:sldId xmlns:r="http://schemas.openxmlformats.org/officeDocument/2006/relationships" id="288" r:id="Rf5b013401a3341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f1d23e44354b52" /><Relationship Type="http://schemas.openxmlformats.org/officeDocument/2006/relationships/slideMaster" Target="/ppt/slideMasters/slideMaster1.xml" Id="R0ff1918952ef4807" /><Relationship Type="http://schemas.openxmlformats.org/officeDocument/2006/relationships/notesMaster" Target="/ppt/notesMasters/notesMaster1.xml" Id="Rdb7b1a1873cb411e" /><Relationship Type="http://schemas.openxmlformats.org/officeDocument/2006/relationships/presProps" Target="/ppt/presProps.xml" Id="R0f25c66489194aed" /><Relationship Type="http://schemas.openxmlformats.org/officeDocument/2006/relationships/tableStyles" Target="/ppt/tableStyles.xml" Id="R17563366caec4b8d" /><Relationship Type="http://schemas.openxmlformats.org/officeDocument/2006/relationships/slide" Target="/ppt/slides/slide1.xml" Id="Rba525469a78f4593" /><Relationship Type="http://schemas.openxmlformats.org/officeDocument/2006/relationships/slide" Target="/ppt/slides/slide2.xml" Id="Rac7dc99e3c2945db" /><Relationship Type="http://schemas.openxmlformats.org/officeDocument/2006/relationships/slide" Target="/ppt/slides/slide3.xml" Id="R0fc6a863c5d14b8a" /><Relationship Type="http://schemas.openxmlformats.org/officeDocument/2006/relationships/slide" Target="/ppt/slides/slide4.xml" Id="R340af81d15b04cf0" /><Relationship Type="http://schemas.openxmlformats.org/officeDocument/2006/relationships/slide" Target="/ppt/slides/slide5.xml" Id="R5f5e47bd1fde46aa" /><Relationship Type="http://schemas.openxmlformats.org/officeDocument/2006/relationships/slide" Target="/ppt/slides/slide6.xml" Id="R4a8b179aa0684b01" /><Relationship Type="http://schemas.openxmlformats.org/officeDocument/2006/relationships/slide" Target="/ppt/slides/slide7.xml" Id="R482f6db5378e4390" /><Relationship Type="http://schemas.openxmlformats.org/officeDocument/2006/relationships/slide" Target="/ppt/slides/slide8.xml" Id="Rf4dc6912db4e43f6" /><Relationship Type="http://schemas.openxmlformats.org/officeDocument/2006/relationships/slide" Target="/ppt/slides/slide9.xml" Id="Rbef6d66ce822439f" /><Relationship Type="http://schemas.openxmlformats.org/officeDocument/2006/relationships/slide" Target="/ppt/slides/slide10.xml" Id="R140d588a27ac466f" /><Relationship Type="http://schemas.openxmlformats.org/officeDocument/2006/relationships/slide" Target="/ppt/slides/slide11.xml" Id="Raf7eae2e1fc14c03" /><Relationship Type="http://schemas.openxmlformats.org/officeDocument/2006/relationships/slide" Target="/ppt/slides/slide12.xml" Id="R3f8e65828b034c0c" /><Relationship Type="http://schemas.openxmlformats.org/officeDocument/2006/relationships/slide" Target="/ppt/slides/slide13.xml" Id="Ra0b50b82f28b48ce" /><Relationship Type="http://schemas.openxmlformats.org/officeDocument/2006/relationships/slide" Target="/ppt/slides/slide14.xml" Id="R54116230a2fb48f1" /><Relationship Type="http://schemas.openxmlformats.org/officeDocument/2006/relationships/slide" Target="/ppt/slides/slide15.xml" Id="Rb11bb6e2ec254291" /><Relationship Type="http://schemas.openxmlformats.org/officeDocument/2006/relationships/slide" Target="/ppt/slides/slide16.xml" Id="R559966ba248648c4" /><Relationship Type="http://schemas.openxmlformats.org/officeDocument/2006/relationships/slide" Target="/ppt/slides/slide17.xml" Id="R36e1f00029774c5d" /><Relationship Type="http://schemas.openxmlformats.org/officeDocument/2006/relationships/slide" Target="/ppt/slides/slide18.xml" Id="R501d17a74ffa4e95" /><Relationship Type="http://schemas.openxmlformats.org/officeDocument/2006/relationships/slide" Target="/ppt/slides/slide19.xml" Id="R80e31e3ec9524f43" /><Relationship Type="http://schemas.openxmlformats.org/officeDocument/2006/relationships/slide" Target="/ppt/slides/slide20.xml" Id="R6e9ce5f4b3184b05" /><Relationship Type="http://schemas.openxmlformats.org/officeDocument/2006/relationships/slide" Target="/ppt/slides/slide21.xml" Id="R2e74613cd04f40fa" /><Relationship Type="http://schemas.openxmlformats.org/officeDocument/2006/relationships/slide" Target="/ppt/slides/slide22.xml" Id="R98de95311e4c4ef7" /><Relationship Type="http://schemas.openxmlformats.org/officeDocument/2006/relationships/slide" Target="/ppt/slides/slide23.xml" Id="Rba2b5cdbef0e4f64" /><Relationship Type="http://schemas.openxmlformats.org/officeDocument/2006/relationships/slide" Target="/ppt/slides/slide24.xml" Id="Rec86ed4710c74328" /><Relationship Type="http://schemas.openxmlformats.org/officeDocument/2006/relationships/slide" Target="/ppt/slides/slide25.xml" Id="R8035548227094914" /><Relationship Type="http://schemas.openxmlformats.org/officeDocument/2006/relationships/slide" Target="/ppt/slides/slide26.xml" Id="R5f6bf38ac69d48c2" /><Relationship Type="http://schemas.openxmlformats.org/officeDocument/2006/relationships/slide" Target="/ppt/slides/slide27.xml" Id="R2a80033bf24f49a6" /><Relationship Type="http://schemas.openxmlformats.org/officeDocument/2006/relationships/slide" Target="/ppt/slides/slide28.xml" Id="R6c933ae295984898" /><Relationship Type="http://schemas.openxmlformats.org/officeDocument/2006/relationships/slide" Target="/ppt/slides/slide29.xml" Id="Rbead07570f5a4ab1" /><Relationship Type="http://schemas.openxmlformats.org/officeDocument/2006/relationships/slide" Target="/ppt/slides/slide30.xml" Id="R8148dca2dbbb4578" /><Relationship Type="http://schemas.openxmlformats.org/officeDocument/2006/relationships/slide" Target="/ppt/slides/slide31.xml" Id="Rf945799aa9ba4d34" /><Relationship Type="http://schemas.openxmlformats.org/officeDocument/2006/relationships/slide" Target="/ppt/slides/slide32.xml" Id="R997b1c070c794914" /><Relationship Type="http://schemas.openxmlformats.org/officeDocument/2006/relationships/slide" Target="/ppt/slides/slide33.xml" Id="Rf5b013401a3341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612c4ea40b4a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0554a188b94249" /><Relationship Type="http://schemas.openxmlformats.org/officeDocument/2006/relationships/notesMaster" Target="/ppt/notesMasters/notesMaster1.xml" Id="Rbed5a0036f4f4a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c51985504c4988" /><Relationship Type="http://schemas.openxmlformats.org/officeDocument/2006/relationships/notesMaster" Target="/ppt/notesMasters/notesMaster1.xml" Id="Rb9e003bc6fe74a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0e7bebb2d045ba" /><Relationship Type="http://schemas.openxmlformats.org/officeDocument/2006/relationships/notesMaster" Target="/ppt/notesMasters/notesMaster1.xml" Id="R3523c03a11ed48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920b9debef4588" /><Relationship Type="http://schemas.openxmlformats.org/officeDocument/2006/relationships/notesMaster" Target="/ppt/notesMasters/notesMaster1.xml" Id="R3bccdac7c30f4b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87bfddc6b74b46" /><Relationship Type="http://schemas.openxmlformats.org/officeDocument/2006/relationships/notesMaster" Target="/ppt/notesMasters/notesMaster1.xml" Id="R0369dff058d343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cd8154efd14f10" /><Relationship Type="http://schemas.openxmlformats.org/officeDocument/2006/relationships/notesMaster" Target="/ppt/notesMasters/notesMaster1.xml" Id="R9d6c14001cc540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7eb5f47dd84b56" /><Relationship Type="http://schemas.openxmlformats.org/officeDocument/2006/relationships/notesMaster" Target="/ppt/notesMasters/notesMaster1.xml" Id="R8c47d05be0d34d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99d8c91e364720" /><Relationship Type="http://schemas.openxmlformats.org/officeDocument/2006/relationships/notesMaster" Target="/ppt/notesMasters/notesMaster1.xml" Id="R188557d6cd5c49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a12428c905419b" /><Relationship Type="http://schemas.openxmlformats.org/officeDocument/2006/relationships/notesMaster" Target="/ppt/notesMasters/notesMaster1.xml" Id="Ra31c6bd38d5543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4fd4d444a54a8c" /><Relationship Type="http://schemas.openxmlformats.org/officeDocument/2006/relationships/notesMaster" Target="/ppt/notesMasters/notesMaster1.xml" Id="Rb9588a0459964e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c8b12b1401462a" /><Relationship Type="http://schemas.openxmlformats.org/officeDocument/2006/relationships/notesMaster" Target="/ppt/notesMasters/notesMaster1.xml" Id="R024796d8d1704c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acec1595434ecb" /><Relationship Type="http://schemas.openxmlformats.org/officeDocument/2006/relationships/notesMaster" Target="/ppt/notesMasters/notesMaster1.xml" Id="R661a266d1b4b41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063499da604dcb" /><Relationship Type="http://schemas.openxmlformats.org/officeDocument/2006/relationships/notesMaster" Target="/ppt/notesMasters/notesMaster1.xml" Id="Rfdca9eb2efcb48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59cbc167dd4b41" /><Relationship Type="http://schemas.openxmlformats.org/officeDocument/2006/relationships/notesMaster" Target="/ppt/notesMasters/notesMaster1.xml" Id="R2a3ceeac9a8a48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fd2247f84047d3" /><Relationship Type="http://schemas.openxmlformats.org/officeDocument/2006/relationships/notesMaster" Target="/ppt/notesMasters/notesMaster1.xml" Id="R938cd641420040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fcad17a0df4643" /><Relationship Type="http://schemas.openxmlformats.org/officeDocument/2006/relationships/notesMaster" Target="/ppt/notesMasters/notesMaster1.xml" Id="R2748425376874c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45f55a5d74450f" /><Relationship Type="http://schemas.openxmlformats.org/officeDocument/2006/relationships/notesMaster" Target="/ppt/notesMasters/notesMaster1.xml" Id="Rc5ab48f9e16842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298f2628f44b6a" /><Relationship Type="http://schemas.openxmlformats.org/officeDocument/2006/relationships/notesMaster" Target="/ppt/notesMasters/notesMaster1.xml" Id="Rf02abe120c3643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c26f64e3fa4874" /><Relationship Type="http://schemas.openxmlformats.org/officeDocument/2006/relationships/notesMaster" Target="/ppt/notesMasters/notesMaster1.xml" Id="R2d632a0fe30f42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fd2ebff60c24cdb" /><Relationship Type="http://schemas.openxmlformats.org/officeDocument/2006/relationships/notesMaster" Target="/ppt/notesMasters/notesMaster1.xml" Id="R56cf05d5ca734f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8419d08aaf4f03" /><Relationship Type="http://schemas.openxmlformats.org/officeDocument/2006/relationships/notesMaster" Target="/ppt/notesMasters/notesMaster1.xml" Id="R4e0b35bf43da4d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7aa3d674ce4922" /><Relationship Type="http://schemas.openxmlformats.org/officeDocument/2006/relationships/notesMaster" Target="/ppt/notesMasters/notesMaster1.xml" Id="Rd3fe8d038eb749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7ad2f9983c46b8" /><Relationship Type="http://schemas.openxmlformats.org/officeDocument/2006/relationships/notesMaster" Target="/ppt/notesMasters/notesMaster1.xml" Id="Re593b79b32734f1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893372cbcc48a9" /><Relationship Type="http://schemas.openxmlformats.org/officeDocument/2006/relationships/notesMaster" Target="/ppt/notesMasters/notesMaster1.xml" Id="R14631aac9b9844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5826a9dd464e1f" /><Relationship Type="http://schemas.openxmlformats.org/officeDocument/2006/relationships/notesMaster" Target="/ppt/notesMasters/notesMaster1.xml" Id="R0bb4c140e4184f2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dbd6c5a89b04e78" /><Relationship Type="http://schemas.openxmlformats.org/officeDocument/2006/relationships/notesMaster" Target="/ppt/notesMasters/notesMaster1.xml" Id="R484722b64af74e4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9544e15e6c4a0e" /><Relationship Type="http://schemas.openxmlformats.org/officeDocument/2006/relationships/notesMaster" Target="/ppt/notesMasters/notesMaster1.xml" Id="Rdbf494cf55b0446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19e198db554c3f" /><Relationship Type="http://schemas.openxmlformats.org/officeDocument/2006/relationships/notesMaster" Target="/ppt/notesMasters/notesMaster1.xml" Id="R6ed9cd064bd344d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ab0185a4e8c45b2" /><Relationship Type="http://schemas.openxmlformats.org/officeDocument/2006/relationships/notesMaster" Target="/ppt/notesMasters/notesMaster1.xml" Id="R5924c9b3b46040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f4d00e4e43344e1" /><Relationship Type="http://schemas.openxmlformats.org/officeDocument/2006/relationships/notesMaster" Target="/ppt/notesMasters/notesMaster1.xml" Id="R159c6e84e09a447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303e6279c064c3b" /><Relationship Type="http://schemas.openxmlformats.org/officeDocument/2006/relationships/notesMaster" Target="/ppt/notesMasters/notesMaster1.xml" Id="R64d029e73ce949f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7b6bd91826c41ff" /><Relationship Type="http://schemas.openxmlformats.org/officeDocument/2006/relationships/notesMaster" Target="/ppt/notesMasters/notesMaster1.xml" Id="Rcc3d508394f041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6e9e74893d442c4" /><Relationship Type="http://schemas.openxmlformats.org/officeDocument/2006/relationships/notesMaster" Target="/ppt/notesMasters/notesMaster1.xml" Id="Re6b7614740a84c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revision preserves the canonical example and Panel A, explains the exact gate logic, and adds the predeclared 15-pair diversified Panel 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book compares price spread, log-price spread, and ratio separately. Example 3.2 reuses the raw-price spread construction from Example 3.1.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66-72; PDF pp. 84-90</a:t>
            </a:r>
          </a:p>
          <a:p xmlns:a="http://schemas.openxmlformats.org/drawingml/2006/main">
            <a:r>
              <a:t>- C:/Users/Franc/OneDrive/Documents/Francis/Peltata Project/Time-Series-Modeling-Gen5/docs/GEN5_LITERATURE_SOURCE_LEDGER.md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OLS chooses alpha and beta to minimize the sum of squared residuals in the rolling window. Beta expresses price units: if beta is 2, one unit of X hedges roughly two price units of Y under the local fitted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66-72; PDF pp. 84-90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z-score is unitless. It says how many rolling standard deviations the current spread is from its rolling mean. It does not by itself prove stationarity, cointegration, or profitable convergence.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66-72; PDF pp. 84-90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denominator gross-normalizes the two legs. The numerator preserves the beta-scaled price-unit hedge. Because beta is recomputed daily, weights can change even while the directional position remains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Project/Time-Series-Modeling-Gen5/runs/research_workbench/literature_grounded/lit_mr_02_1_panel_a_20260728/visuals/mr02_weight_mechanics.png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beta below zero, S = Y - beta X becomes Y + |beta|X. That can be statistically meaningful but it no longer describes the same opposite-leg relative-value strategy. A tradable inverse-pair design would require a new frozen variant.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Project/Time-Series-Modeling-Gen5/runs/research_workbench/literature_grounded/lit_mr_02_1_panel_a_20260728/mr02_panel_inverse_diagnostics.csv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literature supports evaluating both trades and bars, charging costs, examining hit rate and stability, and using statistical diagnostics. The project turns those ingredients into an auditable admission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42-47 and 66-72; PDF pp. 60-65 and 84-90</a:t>
            </a:r>
          </a:p>
          <a:p xmlns:a="http://schemas.openxmlformats.org/drawingml/2006/main">
            <a:r>
              <a:t>- C:/Users/Franc/OneDrive/Documents/Francis/Peltata Project/Time-Series-Modeling-Gen5/docs/GEN5_LITERATURE_SOURCE_LEDGER.md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 is non-negotiable. G2 protects strategy identity: negative beta changes a long-spread trade into same-side exposure. G3 is a pragmatic minimum, not a theorem, but prevents tiny samples from carrying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 is intentionally demanding because a positive point estimate alone is fragile. G5 is useful here because the mechanism claims frequent convergence, but a below-50% hit rate can be valid in positively skewed strategies. G6 is a targeted falsification control, not a generic market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42-47 and 66-72; PDF pp. 60-65 and 84-90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G7 asks whether profitability is concentrated in one year. The 3-of-5 threshold is deliberately simple and soft. G8 is the direct mechanism test: a high spread z-score should predict a lower subsequent spread return. Reporting every frozen pair controls the narrative even though no formal family-wise selection correction is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USO-GLD mechanics remain unchanged: raw adjusted prices, 20 sessions, +/-1 entry, zero exit, next-open execution, daily adaptive rehedging, and explicit turnover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67-72; PDF pp. 85-90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Project/Time-Series-Modeling-Gen5/runs/research_workbench/literature_grounded/lit_mr_02_1_bollinger_20260728/visuals/mr02_signal_tape.png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ADF, half-life, variance ratio, and conditional forward return test different ideas. A rolling-beta spread is not the same object as a fixed cointegrating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Project/Time-Series-Modeling-Gen5/runs/research_workbench/literature_grounded/lit_mr_02_1_bollinger_20260728/mr02_train_statistical_diagnostics.csv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Project/Time-Series-Modeling-Gen5/runs/research_workbench/literature_grounded/lit_mr_02_1_bollinger_20260728/mr02_train_forward_convergence_summary.csv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Project/Time-Series-Modeling-Gen5/runs/research_workbench/literature_grounded/lit_mr_02_1_bollinger_20260728/visuals/mr02_statistical_diagnostics.png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42-47 and 66-72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Completed trades include entries, adaptive-hedge turnover, and exits. Bar returns are next-open to next-open and use the prior close's frozen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Project/Time-Series-Modeling-Gen5/runs/research_workbench/literature_grounded/lit_mr_02_1_bollinger_20260728/mr02_train_trades.csv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Project/Time-Series-Modeling-Gen5/runs/research_workbench/literature_grounded/lit_mr_02_1_bollinger_20260728/mr02_train_bar_replay.csv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Project/Time-Series-Modeling-Gen5/runs/research_workbench/literature_grounded/lit_mr_02_1_bollinger_20260728/mr02_train_year_summary.csv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matched random-sign control breaks only the mapping from signal sign to pair direction while preserving opportunities, holding periods, realized paths, and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Project/Time-Series-Modeling-Gen5/runs/research_workbench/literature_grounded/lit_mr_02_1_bollinger_20260728/mr02_train_trade_bootstrap_summary.csv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Project/Time-Series-Modeling-Gen5/runs/research_workbench/literature_grounded/lit_mr_02_1_bollinger_20260728/mr02_train_random_sign_distribution.csv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Project/Time-Series-Modeling-Gen5/runs/research_workbench/literature_grounded/lit_mr_02_1_bollinger_20260728/visuals/mr02_resampling.png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z-score crossing its rolling zero is a signal-state event, not a P&amp;L guarantee: beta, the mean, and both tradable leg prices evolve.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Project/Time-Series-Modeling-Gen5/runs/research_workbench/literature_grounded/lit_mr_02_1_bollinger_20260728/mr02_train_trades.csv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Project/Time-Series-Modeling-Gen5/runs/research_workbench/literature_grounded/lit_mr_02_1_bollinger_20260728/mr02_train_indicators.csv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Project/Time-Series-Modeling-Gen5/runs/research_workbench/literature_grounded/lit_mr_02_1_bollinger_20260728/visuals/mr02_representative_trades.png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canonical USO-GLD example passed integrity and trade-support gates only. Later partitions remained sealed.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Project/Time-Series-Modeling-Gen5/runs/research_workbench/literature_grounded/lit_mr_02_1_bollinger_20260728/mr02_integrity_audit.csv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names, Y/X orientation, categories, window, strategy mechanics, costs, and gates were frozen before running. The panel is breadth evidence, not an optimizer.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Project/Time-Series-Modeling-Gen5/runs/research_workbench/literature_grounded/lit_mr_02_1_panel_a_20260728/mr02_panel_pair_registry.csv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plot retains the predeclared registry order. It is not outcome-sorted. USO-XLE's positive point estimate had a wide interval spanning zero and failed the random-sign and forward-convergence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Project/Time-Series-Modeling-Gen5/runs/research_workbench/literature_grounded/lit_mr_02_1_panel_a_20260728/mr02_panel_pair_summary.csv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Project/Time-Series-Modeling-Gen5/runs/research_workbench/literature_grounded/lit_mr_02_1_panel_a_20260728/visuals/mr02_panel_pair_net_return_ci.png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 is the cost-surviving trade-return gate. G8 is the signed forward-convergence gate. No primary pair passed either gate under the frozen definitions.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Project/Time-Series-Modeling-Gen5/runs/research_workbench/literature_grounded/lit_mr_02_1_panel_a_20260728/mr02_panel_forward_convergence_summary.csv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Project/Time-Series-Modeling-Gen5/runs/research_workbench/literature_grounded/lit_mr_02_1_panel_a_20260728/visuals/mr02_panel_gate_heatmap.png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IVV-SPY and IAU-GLD were especially instructive: the relation was tight, but round-trip costs dominated the small gross spread movement. GLD-UUP and TLT-SPY showed frequent beta-sign changes, reinforcing the semantic warning.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Project/Time-Series-Modeling-Gen5/runs/research_workbench/literature_grounded/lit_mr_02_1_panel_a_20260728/mr02_panel_category_summary.csv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Project/Time-Series-Modeling-Gen5/runs/research_workbench/literature_grounded/lit_mr_02_1_panel_a_20260728/mr02_panel_inverse_diagnostics.csv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Project/Time-Series-Modeling-Gen5/runs/research_workbench/literature_grounded/lit_mr_02_1_panel_a_20260728/mr02_panel_pair_summary.csv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Panel B was designed for economic variety, not expected profitability. The nine sector pairs compare broad providers; the industry pairs test related but less interchangeable exposures; GDX-GLD tests a producer/commodity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Project/Time-Series-Modeling-Gen5/runs/research_workbench/literature_grounded/lit_mr_02_1_panel_b_20260728/mr02_panel_pair_registry.csv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is fixed in the predeclared B01-B15 order. IHI-XLV was least negative at -3.56 bp per trade; the Panel B median was -13.64 bp. No pair had a positive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Project/Time-Series-Modeling-Gen5/runs/research_workbench/literature_grounded/lit_mr_02_1_panel_b_20260728/mr02_panel_pair_summary.csv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Project/Time-Series-Modeling-Gen5/runs/research_workbench/literature_grounded/lit_mr_02_1_panel_b_20260728/visuals/mr02_panel_pair_net_return_ci.png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XRT-XLY narrowly missed G2 with 94.3% positive-beta coverage. IHI-XLV, XRT-XLY, and XBI-IBB passed G7. Four pairs had negative forward-correlation point estimates, but every confidence interval crossed zero, so none passed G8.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Project/Time-Series-Modeling-Gen5/runs/research_workbench/literature_grounded/lit_mr_02_1_panel_b_20260728/mr02_panel_forward_convergence_summary.csv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Project/Time-Series-Modeling-Gen5/runs/research_workbench/literature_grounded/lit_mr_02_1_panel_b_20260728/visuals/mr02_panel_gate_heatmap.png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Panel A contained 12 primary pairs and two inverse diagnostics; Panel B added 15 primary pairs. Across the 27 primary pairs, no strategy cleared all eight gates and no pair robustly confirmed the claimed forward-convergence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Project/Time-Series-Modeling-Gen5/runs/research_workbench/literature_grounded/lit_mr_02_1_panel_a_20260728/mr02_panel_pair_summary.csv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Project/Time-Series-Modeling-Gen5/runs/research_workbench/literature_grounded/lit_mr_02_1_panel_b_20260728/mr02_panel_pair_summary.csv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Project/Time-Series-Modeling-Gen5/runs/research_workbench/literature_grounded/lit_mr_02_1_panel_b_20260728/mr02_panel_gate_summary.csv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2018 is documented as a positive-control regime for the unchanged LIT-MR-02.1 mechanism. It is descriptive evidence found after the primary five-year TRAIN decision and therefore cannot reverse that STOP.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Project/Time-Series-Modeling-Gen5/runs/research_workbench/literature_grounded/lit_mr_02_1_case_studies_20260729/mr02_case_studies_report.md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frozen primary-cost replay returned 4.82% in calendar 2018, with a 0.736 naive annualized Sharpe, a 7.64% maximum drawdown, and nine winners among 13 completed trades. The five-year context remains mixed and ultimately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Project/Time-Series-Modeling-Gen5/runs/research_workbench/literature_grounded/lit_mr_02_1_case_studies_20260729/visuals/mr02_case_2018_five_year_context.png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top panel shows the adaptive raw-price spread and rolling mean plus or minus one standard deviation. The middle panel shows the corresponding z-score state and long/short entries. The bottom panel ties those states to the next-open, cost-aware equity and drawdown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Project/Time-Series-Modeling-Gen5/runs/research_workbench/literature_grounded/lit_mr_02_1_case_studies_20260729/visuals/mr02_case_2018_strategy_anatomy.png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representative tape is the full 2018 trade set: nine long-spread trades and four short-spread trades. It makes the timing, participation, holding periods, and concentration of gains and losses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Project/Time-Series-Modeling-Gen5/runs/research_workbench/literature_grounded/lit_mr_02_1_case_studies_20260729/mr02_case_2018_trades.csv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Project/Time-Series-Modeling-Gen5/runs/research_workbench/literature_grounded/lit_mr_02_1_case_studies_20260729/visuals/mr02_case_2018_trade_timeline.png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left panel shows cost drag for each completed trade. The right panel separates long- and short-spread outcomes by holding period. Costs reduced every trade, while winners remained present in both directions.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Project/Time-Series-Modeling-Gen5/runs/research_workbench/literature_grounded/lit_mr_02_1_case_studies_20260729/mr02_case_2018_trades.csv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Project/Time-Series-Modeling-Gen5/runs/research_workbench/literature_grounded/lit_mr_02_1_case_studies_20260729/visuals/mr02_case_2018_trade_economics.png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reproduces the exact interval printed in Chan's Example 3.2 using quarantined Yahoo adjusted daily bars. The bars are reference evidence only and do not alter the canonical Alpaca-only Gen5 provider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71–72; PDF pages 89–90</a:t>
            </a:r>
          </a:p>
          <a:p xmlns:a="http://schemas.openxmlformats.org/drawingml/2006/main">
            <a:r>
              <a:t>- C:/Users/Franc/OneDrive/Documents/Francis/Peltata Project/Time-Series-Modeling-Gen5/docs/GEN5_LITERATURE_SOURCE_LEDGER.md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Project/Time-Series-Modeling-Gen5/runs/research_workbench/literature_grounded/lit_mr_02_1_case_studies_20260729/mr02_source_reference_audit.csv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Project/Time-Series-Modeling-Gen5/runs/research_workbench/literature_grounded/lit_mr_02_1_case_studies_20260729/mr02_source_reference_urls.csv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blue line approximates the book's lagged-position, close-to-close, no-cost accounting. The red line applies the same signal mechanism with Gen5 next-open timing and five basis points per one-way weight change. Both accounts remain positive, though their paths and drawdowns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68 and 71–72; PDF pages 86 and 89–90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Project/Time-Series-Modeling-Gen5/runs/research_workbench/literature_grounded/lit_mr_02_1_case_studies_20260729/mr02_source_period_book_style_replay.csv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Project/Time-Series-Modeling-Gen5/runs/research_workbench/literature_grounded/lit_mr_02_1_case_studies_20260729/mr02_source_period_gen5_replay.csv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Project/Time-Series-Modeling-Gen5/runs/research_workbench/literature_grounded/lit_mr_02_1_case_studies_20260729/visuals/mr02_source_period_reproduction.png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 reports 17.8% APR and 0.96 Sharpe. Using current Yahoo-adjusted bars, the book-style account reaches 15.07% APR and 0.845 Sharpe; the Gen5 translation reaches 12.93% APR and 0.933 Sharpe. We retain the discrepancy because the original data vintage and preprocessing are not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71–72; PDF pages 89–90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Project/Time-Series-Modeling-Gen5/runs/research_workbench/literature_grounded/lit_mr_02_1_case_studies_20260729/mr02_source_period_comparison.csv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Project/Time-Series-Modeling-Gen5/runs/research_workbench/literature_grounded/lit_mr_02_1_case_studies_20260729/mr02_source_reference_audit.csv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Project/Time-Series-Modeling-Gen5/runs/research_workbench/literature_grounded/lit_mr_02_1_case_studies_20260729/visuals/mr02_source_period_signal_tape.png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source-period reproduction and the 2018 case study establish that the formula can produce a coherent trading result in real historical regimes. They do not create a prospective selection rule, do not clear the predeclared eight-gate modern TRAIN contract, and do not authorize retuning.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Project/Time-Series-Modeling-Gen5/runs/research_workbench/literature_grounded/lit_mr_02_1_case_studies_20260729/mr02_case_studies_report.md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Project/Time-Series-Modeling-Gen5/runs/research_workbench/literature_grounded/lit_mr_02_1_case_studies_20260729/mr02_source_period_comparison.csv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2f1adce6743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0eb1190f2d488a" /><Relationship Type="http://schemas.openxmlformats.org/officeDocument/2006/relationships/slideLayout" Target="/ppt/slideLayouts/slideLayout1.xml" Id="Ra1a0374a32c04f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a0374a32c04f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80cd312f14b4a" /><Relationship Type="http://schemas.openxmlformats.org/officeDocument/2006/relationships/notesSlide" Target="/ppt/notesSlides/notesSlide1.xml" Id="Rf8ec81d2462c4f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fcec3153d45c7" /><Relationship Type="http://schemas.openxmlformats.org/officeDocument/2006/relationships/notesSlide" Target="/ppt/notesSlides/notesSlide2.xml" Id="Rc734d049c11f4e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a0dd8bfff4457" /><Relationship Type="http://schemas.openxmlformats.org/officeDocument/2006/relationships/notesSlide" Target="/ppt/notesSlides/notesSlide3.xml" Id="R0532f63bb83c46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3e8201ee740ea" /><Relationship Type="http://schemas.openxmlformats.org/officeDocument/2006/relationships/notesSlide" Target="/ppt/notesSlides/notesSlide4.xml" Id="R5069dbcc01d542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7032dccde4c31" /><Relationship Type="http://schemas.openxmlformats.org/officeDocument/2006/relationships/image" Target="/ppt/media/image.png" Id="Rf426af2b6bc94e07" /><Relationship Type="http://schemas.openxmlformats.org/officeDocument/2006/relationships/image" Target="/ppt/media/image2.png" Id="R26ea4091070d4101" /><Relationship Type="http://schemas.openxmlformats.org/officeDocument/2006/relationships/notesSlide" Target="/ppt/notesSlides/notesSlide5.xml" Id="Rf1121ac7aef240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f31a804c54cf3" /><Relationship Type="http://schemas.openxmlformats.org/officeDocument/2006/relationships/notesSlide" Target="/ppt/notesSlides/notesSlide6.xml" Id="Rabd23317ee734c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62fbdb74440ab" /><Relationship Type="http://schemas.openxmlformats.org/officeDocument/2006/relationships/notesSlide" Target="/ppt/notesSlides/notesSlide7.xml" Id="R46095126cd1141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dc84a353344bc" /><Relationship Type="http://schemas.openxmlformats.org/officeDocument/2006/relationships/notesSlide" Target="/ppt/notesSlides/notesSlide8.xml" Id="R0c07359b21d244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0f70289534b71" /><Relationship Type="http://schemas.openxmlformats.org/officeDocument/2006/relationships/notesSlide" Target="/ppt/notesSlides/notesSlide9.xml" Id="R38717b13d7f241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e1adca5e34615" /><Relationship Type="http://schemas.openxmlformats.org/officeDocument/2006/relationships/notesSlide" Target="/ppt/notesSlides/notesSlide10.xml" Id="Rd35effaa2f414a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56196641d4e11" /><Relationship Type="http://schemas.openxmlformats.org/officeDocument/2006/relationships/image" Target="/ppt/media/image.png" Id="R71dcec5ac9874291" /><Relationship Type="http://schemas.openxmlformats.org/officeDocument/2006/relationships/notesSlide" Target="/ppt/notesSlides/notesSlide11.xml" Id="Rfbc5f2698a7349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521a3a6c24426" /><Relationship Type="http://schemas.openxmlformats.org/officeDocument/2006/relationships/image" Target="/ppt/media/image3.png" Id="R13899be0952b4bf4" /><Relationship Type="http://schemas.openxmlformats.org/officeDocument/2006/relationships/notesSlide" Target="/ppt/notesSlides/notesSlide12.xml" Id="R392092400ac04b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8181368a64517" /><Relationship Type="http://schemas.openxmlformats.org/officeDocument/2006/relationships/image" Target="/ppt/media/image4.png" Id="R9c4e1140669747a5" /><Relationship Type="http://schemas.openxmlformats.org/officeDocument/2006/relationships/notesSlide" Target="/ppt/notesSlides/notesSlide13.xml" Id="R048841c3b8b047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eabffefed4f0c" /><Relationship Type="http://schemas.openxmlformats.org/officeDocument/2006/relationships/image" Target="/ppt/media/image5.png" Id="R45bfa71339624c40" /><Relationship Type="http://schemas.openxmlformats.org/officeDocument/2006/relationships/notesSlide" Target="/ppt/notesSlides/notesSlide14.xml" Id="Rf5fd7d29d67d4b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bdf02f6a64ecb" /><Relationship Type="http://schemas.openxmlformats.org/officeDocument/2006/relationships/image" Target="/ppt/media/image6.png" Id="R45e6611d26dc46bf" /><Relationship Type="http://schemas.openxmlformats.org/officeDocument/2006/relationships/notesSlide" Target="/ppt/notesSlides/notesSlide15.xml" Id="R0a7778e14bd045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71c92ad8347e9" /><Relationship Type="http://schemas.openxmlformats.org/officeDocument/2006/relationships/notesSlide" Target="/ppt/notesSlides/notesSlide16.xml" Id="Rac696850acec40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01e46cd6a47ba" /><Relationship Type="http://schemas.openxmlformats.org/officeDocument/2006/relationships/notesSlide" Target="/ppt/notesSlides/notesSlide17.xml" Id="R1142acf22de945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81a76603a4e6f" /><Relationship Type="http://schemas.openxmlformats.org/officeDocument/2006/relationships/image" Target="/ppt/media/image3.png" Id="R5c81fbcb86254369" /><Relationship Type="http://schemas.openxmlformats.org/officeDocument/2006/relationships/image" Target="/ppt/media/image7.png" Id="R3d69b906cf634785" /><Relationship Type="http://schemas.openxmlformats.org/officeDocument/2006/relationships/notesSlide" Target="/ppt/notesSlides/notesSlide18.xml" Id="R1eb45468712b4f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0425468244e19" /><Relationship Type="http://schemas.openxmlformats.org/officeDocument/2006/relationships/image" Target="/ppt/media/image6.png" Id="Ra5af1645de194588" /><Relationship Type="http://schemas.openxmlformats.org/officeDocument/2006/relationships/image" Target="/ppt/media/image8.png" Id="Rcc6a4591a7ca41b5" /><Relationship Type="http://schemas.openxmlformats.org/officeDocument/2006/relationships/notesSlide" Target="/ppt/notesSlides/notesSlide19.xml" Id="R43b3e1ba599945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c4ed49df74194" /><Relationship Type="http://schemas.openxmlformats.org/officeDocument/2006/relationships/notesSlide" Target="/ppt/notesSlides/notesSlide20.xml" Id="Rf35e410cf79f498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63be1ef504e94" /><Relationship Type="http://schemas.openxmlformats.org/officeDocument/2006/relationships/notesSlide" Target="/ppt/notesSlides/notesSlide21.xml" Id="R4b4253eb4ad24a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cd88d313b401f" /><Relationship Type="http://schemas.openxmlformats.org/officeDocument/2006/relationships/image" Target="/ppt/media/image3.png" Id="R8df3f82992d745ee" /><Relationship Type="http://schemas.openxmlformats.org/officeDocument/2006/relationships/image" Target="/ppt/media/image7.png" Id="Rac8e83e25b114709" /><Relationship Type="http://schemas.openxmlformats.org/officeDocument/2006/relationships/image" Target="/ppt/media/image9.png" Id="R05f294c1ea664919" /><Relationship Type="http://schemas.openxmlformats.org/officeDocument/2006/relationships/notesSlide" Target="/ppt/notesSlides/notesSlide22.xml" Id="R0b30b60e3e004a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c27bd9e774d7c" /><Relationship Type="http://schemas.openxmlformats.org/officeDocument/2006/relationships/image" Target="/ppt/media/image6.png" Id="Raef4fd53fe314a8b" /><Relationship Type="http://schemas.openxmlformats.org/officeDocument/2006/relationships/image" Target="/ppt/media/image8.png" Id="R97365f103a734819" /><Relationship Type="http://schemas.openxmlformats.org/officeDocument/2006/relationships/image" Target="/ppt/media/image10.png" Id="Reaf46b9b65a8475e" /><Relationship Type="http://schemas.openxmlformats.org/officeDocument/2006/relationships/notesSlide" Target="/ppt/notesSlides/notesSlide23.xml" Id="R03f935e3a29041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224b3fc274195" /><Relationship Type="http://schemas.openxmlformats.org/officeDocument/2006/relationships/notesSlide" Target="/ppt/notesSlides/notesSlide24.xml" Id="R98dc6f24ac7045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06f32c0d64a41" /><Relationship Type="http://schemas.openxmlformats.org/officeDocument/2006/relationships/notesSlide" Target="/ppt/notesSlides/notesSlide25.xml" Id="Rf45a82712a39425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456960f044311" /><Relationship Type="http://schemas.openxmlformats.org/officeDocument/2006/relationships/image" Target="/ppt/media/image11.png" Id="Rc81b5756c1a44421" /><Relationship Type="http://schemas.openxmlformats.org/officeDocument/2006/relationships/notesSlide" Target="/ppt/notesSlides/notesSlide26.xml" Id="R45e7e83fa24644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de7f8ecfa4e59" /><Relationship Type="http://schemas.openxmlformats.org/officeDocument/2006/relationships/image" Target="/ppt/media/image12.png" Id="Re7e1fa4247bc46c4" /><Relationship Type="http://schemas.openxmlformats.org/officeDocument/2006/relationships/notesSlide" Target="/ppt/notesSlides/notesSlide27.xml" Id="R68753bbcb09942e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ea4da21b84e3f" /><Relationship Type="http://schemas.openxmlformats.org/officeDocument/2006/relationships/image" Target="/ppt/media/image13.png" Id="R760b192826804a0a" /><Relationship Type="http://schemas.openxmlformats.org/officeDocument/2006/relationships/notesSlide" Target="/ppt/notesSlides/notesSlide28.xml" Id="Rf330c83bc77a407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f3d0d51d14c62" /><Relationship Type="http://schemas.openxmlformats.org/officeDocument/2006/relationships/image" Target="/ppt/media/image14.png" Id="Recf193e704df4636" /><Relationship Type="http://schemas.openxmlformats.org/officeDocument/2006/relationships/notesSlide" Target="/ppt/notesSlides/notesSlide29.xml" Id="Rb831c61dc4d7474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dac2fd4cd4517" /><Relationship Type="http://schemas.openxmlformats.org/officeDocument/2006/relationships/notesSlide" Target="/ppt/notesSlides/notesSlide30.xml" Id="R7cd21bd4709840d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933fc4d41400d" /><Relationship Type="http://schemas.openxmlformats.org/officeDocument/2006/relationships/image" Target="/ppt/media/image15.png" Id="R5b90afa89cdb4fc6" /><Relationship Type="http://schemas.openxmlformats.org/officeDocument/2006/relationships/notesSlide" Target="/ppt/notesSlides/notesSlide31.xml" Id="Rd519f29786a04da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5ab9c027440f6" /><Relationship Type="http://schemas.openxmlformats.org/officeDocument/2006/relationships/image" Target="/ppt/media/image16.png" Id="Redc828645bd54289" /><Relationship Type="http://schemas.openxmlformats.org/officeDocument/2006/relationships/notesSlide" Target="/ppt/notesSlides/notesSlide32.xml" Id="R2317ac8158734dc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bbb9b516f4a65" /><Relationship Type="http://schemas.openxmlformats.org/officeDocument/2006/relationships/notesSlide" Target="/ppt/notesSlides/notesSlide33.xml" Id="R0564750ddf6248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LIT-MR-02.1
from example to breadth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USO-GLD remains the canonical literature example. Two predeclared panels test the same 20-session template across 27 primary ETF relationships.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LITERATURE-GROUNDED STRATEGY RESEARCH | 28 JUL 2026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is not single-asset Bollinger Bands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 first estimates a rolling raw-price hedge ratio, builds the two-asset unit-portfolio spread, and only then standardizes that spread. Example 3.2 explicitly reuses the raw-price construction from Example 3.1.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USO - β·GLD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Adaptive raw-price spread
—not either ETF alone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 sessions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Rolling OLS beta
and spread standardization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Price, not log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Source-faithful transform
Log price is a separate test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hedge ratio is a local price-unit conversion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 each close, regress Y on X using only the latest 20 closes: Y = alpha + beta X + error. Beta is an OLS slope, not correlation and not a claim of causality.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β = Cov(X,Y) / Var(X)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Slope: expected price-unit change in Y
per one-unit change in X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α = Ȳ − βX̄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Estimated in the regression
but omitted from the traded spread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Backward only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window ends at close t
No future observations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z-score asks how unusual today's spread is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First form the two-asset spread. Then compare today's spread with its own recent level and volatility. The bands belong to the relationship, not to either asset alone.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Sₜ = Yₜ − βₜXₜ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low spread means Y is cheap
relative to the fitted X leg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μₜ and σₜ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Rolling mean and standard deviation
of the latest 20 spread values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zₜ = (Sₜ − μₜ) / σₜ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Distance from the rolling mean
measured in recent spread volatility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spread signal becomes two executable dollar weights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5EE0E946-4B2C-4DE9-8839-3DE0D30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E0CA677-50AA-4CCF-BC5C-CB90210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Direction d = +1 when z &lt; −1
Direction d = −1 when z &gt; +1
Exit when z crosses zero
wY = dY / (Y + |β|X)
wX = −dβX / (Y + |β|X)
Gross exposure sums to one.
Signal at close; trade next open.
Daily beta changes create turnover.
Primary cost: 5 bp per one-way weight change.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6af2b6bc94e07"/>
          <a:stretch xmlns:a="http://schemas.openxmlformats.org/drawingml/2006/main"/>
        </p:blipFill>
        <p:spPr>
          <a:xfrm xmlns:a="http://schemas.openxmlformats.org/drawingml/2006/main">
            <a:off x="6381750" y="1776196"/>
            <a:ext cx="5314950" cy="301985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28C7B-FAD1-4EFC-8057-453D13C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6196"/>
            <a:ext cx="5314950" cy="3019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a4091070d4101"/>
          <a:stretch xmlns:a="http://schemas.openxmlformats.org/drawingml/2006/main"/>
        </p:blipFill>
        <p:spPr>
          <a:xfrm xmlns:a="http://schemas.openxmlformats.org/drawingml/2006/main">
            <a:off x="6381750" y="1817520"/>
            <a:ext cx="5314950" cy="2937209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and negative beta imply different trades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algebra can fit co-moving or oppositely moving assets, but the portfolio meaning changes. We therefore trade only positive-beta pairs in this panel and treat inverse relationships as diagnostics.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β &gt; 0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Relative value: long one leg,
short the other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β &lt; 0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Long spread can mean long both assets;
not the same market-neutral trade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β sign flips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 semantics can change
inside one backtest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books supply the ingredients; Gen5 supplies the checklist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 motivates the mechanics and the evidence categories. The exact eight-gate conjunction, thresholds, and controls are our transparent research rule—not a claim that the books prescribe them.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Literature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mechanics, costs, trade/bar evaluation
hit rate, stability, uncertainty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Gen5 design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thresholds, bootstrap, random-sign control
integrity and timing checks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eight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conjunction, not a score
One failure prevents escalation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G1-G3 are firm admissibility gates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These gates ask whether the result is valid, has the intended opposite-leg meaning, and contains enough two-sided observations to interpret. Failing one makes downstream performance evidence inadmissible.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G1 · integrity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timing, partition, accounting checks pass
Otherwise the backtest is invalid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G2 · β ≥95%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Positive-beta indicator coverage after warm-up
Preserves opposite-leg semantics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G3 · ≥30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 trades, with ≥10 long and ≥10 short
Minimum two-sided support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G4-G6 ask whether trades survive economics and chance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These are economic-evidence gates. G4 requires a cost-surviving positive mean with uncertainty; G5 is a softer convergence diagnostic; G6 asks whether the signal beats matched random directions.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G4 · mean &gt;0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And moving-block 95% lower bound &gt;0
Primary turnover costs included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G5 · hit &gt;50%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Soft, intuitive convergence check
Not universal for every strategy payoff shape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G6 · &gt; p90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970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Observed mean beats matched random-sign p90
Same timing, paths, holds, and costs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G7-G8 add stability and mechanism; multiplicity stays visible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result should recur through time and show the forecast sign the strategy actually claims. Even a full pass would open only a sealed-confirmation discussion—not authorize winner selection or deployment.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G7 · 3/5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years with positive primary-cost bar return
Pragmatic soft stability rule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G8 · corr &lt;0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 vs next-5 spread return
95% bootstrap upper bound also &lt;0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Pass ≠ deploy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871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registry order; no winner selection
Only earns sealed-confirmation discussion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frozen rule preserved the book's core mechanics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5EE0E946-4B2C-4DE9-8839-3DE0D30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E0CA677-50AA-4CCF-BC5C-CB90210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Signal after close
Execute next open
Enter long below -1z
Enter short above +1z
Exit at zero
One gross-normalized unit
Daily adaptive rehedging
5 bp per one-way weight change
No stop, target, max hold, or retuning.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cec5ac9874291"/>
          <a:stretch xmlns:a="http://schemas.openxmlformats.org/drawingml/2006/main"/>
        </p:blipFill>
        <p:spPr>
          <a:xfrm xmlns:a="http://schemas.openxmlformats.org/drawingml/2006/main">
            <a:off x="6381750" y="1776196"/>
            <a:ext cx="5314950" cy="301985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833E848-7434-4F2E-A17C-B17541C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7B658F-9EDE-4B04-B790-BFC2AB1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stationary-looking spread was not a trading edge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CB5A1905-9B52-4859-9721-FAA3759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6D7A92E4-990F-443E-AA22-280485C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56D2558C-A20F-4C70-893B-6EAB7EA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dynamic spread produced a strongly negative ADF-style statistic and a 16.7-session half-life. But variance ratios exceeded one, and high z-scores predicted higher—not lower—forward spread returns.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5C6C71CB-7475-4DF6-B7F0-0931DF0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-8.43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471C1151-75AF-40A2-A5A1-4F7713D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Dynamic-spread ADF t
Descriptive, not a verdict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423A9D83-D670-4C26-B583-F1C469F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+0.095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F039A1C2-F7F7-4D0E-BDC1-2BD29C9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 vs forward-five return
Wrong sign for reversion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99be0952b4bf4"/>
          <a:stretch xmlns:a="http://schemas.openxmlformats.org/drawingml/2006/main"/>
        </p:blipFill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60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31B1CDB-9946-498B-901E-0A0C9C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1FC061-EE2C-48CF-9799-D85371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Trade-level and bar-level evidence both failed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EF0AF18E-87A6-431F-8D4F-59EC894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9C01B021-FDE1-4776-B2EE-ACB76D1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A2F82FC1-3249-4254-ABAA-A2D0E0F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rule generated enough trades in both directions, but the mean trade lost money, the hit rate was below 50%, and only two of five TRAIN years were positive.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06B274F5-6F7E-4432-B0F1-4874DA3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-17.68 bp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99D2BB32-1C11-4B29-AF23-ED9F32D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primary-cost
net return per trade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2EAFD608-776D-46A1-95EA-79AF4E6F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49.1%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691BF8AE-236E-4677-8EAF-3CF0D5A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Completed-trade
hit rate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e1140669747a5"/>
          <a:stretch xmlns:a="http://schemas.openxmlformats.org/drawingml/2006/main"/>
        </p:blipFill>
        <p:spPr>
          <a:xfrm xmlns:a="http://schemas.openxmlformats.org/drawingml/2006/main">
            <a:off x="385858" y="2378821"/>
            <a:ext cx="5534216" cy="27671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75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36482E3-0836-42EE-A424-2E869BA9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7B3E2F-B15F-4CE7-9E93-D02FFAE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Uncertainty and falsification offered no rescue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0537132A-D0A9-4B26-9624-49D1E882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9AF5A6DC-5240-4747-8A2C-59E9111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87467A1C-2B62-4E3A-A37F-25E47B9B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mean sat inside a very wide interval and below the p90 of random trade directions with the same timing, pair path, holding periods, and primary costs.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FE80A7F4-6D99-4C52-B848-EAE13056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[-121, +83]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E40BF187-37D5-4CDB-9030-4E2CB38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95% interval
bp per trade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D938F8F7-A9FF-49C0-ABE1-4CC871B4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t>+47.88 bp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197A8950-A2B2-4FCE-A738-88CF2DF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Matched random-sign p90
Observed: -17.68 bp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fa71339624c40"/>
          <a:stretch xmlns:a="http://schemas.openxmlformats.org/drawingml/2006/main"/>
        </p:blipFill>
        <p:spPr>
          <a:xfrm xmlns:a="http://schemas.openxmlformats.org/drawingml/2006/main">
            <a:off x="385858" y="2444705"/>
            <a:ext cx="5534216" cy="26353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127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Representative trades show why zero-crossing is not enough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tape includes both long- and short-spread trades across the return distribution.
Some z-scores crossed zero only after large adverse pair moves. A normalized z-score crossing does not guarantee that the tradable legs produced a positive return.
Worst shown: -1,254.7 bp
Best shown: +809.6 bp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6611d26dc46bf"/>
          <a:stretch xmlns:a="http://schemas.openxmlformats.org/drawingml/2006/main"/>
        </p:blipFill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Six substantive failures force a structural STOP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12 integrity checks passed and trade support was adequate. Positive-beta coverage, cost survival, hit rate, random-sign separation, yearly stability, and forward convergence all failed.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2 / 8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gates passed
Integrity and support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6 / 8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gates failed
Mechanism not admitted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Later partitions opened
No later evidence exists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panel was fixed before any outcomes were inspected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12 primary pairs use the identical 2016-2020 TRAIN window, raw-price orientation, 20-session rule, thresholds, execution timing, costs, diagnostics, and eight gates.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 near substitutes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IVV-SPY · IAU-GLD · SOXX-SMH
VEA-EFA · VWO-EEM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related exposures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QQQ-XLK · IJR-IWM · KRE-XLF · IBB-XLV
USO-XLE · TLT-IEF · HYG-LQD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inverse diagnostics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GLD-UUP · TLT-SPY
Semantics tested; no trades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833E848-7434-4F2E-A17C-B17541C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7B658F-9EDE-4B04-B790-BFC2AB1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fixed panel produced no full validation pass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CB5A1905-9B52-4859-9721-FAA3759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6D7A92E4-990F-443E-AA22-280485C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56D2558C-A20F-4C70-893B-6EAB7EA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Eleven of twelve primary pairs had negative mean net trade returns. Confidence intervals and forward-convergence tests prevented the one positive point estimate from becoming a selected winner.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5C6C71CB-7475-4DF6-B7F0-0931DF0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 / 12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471C1151-75AF-40A2-A5A1-4F7713D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pairs passing
all eight gates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423A9D83-D670-4C26-B583-F1C469F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 / 12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F039A1C2-F7F7-4D0E-BDC1-2BD29C9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mean net return
USO-XLE only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1fbcb86254369"/>
          <a:stretch xmlns:a="http://schemas.openxmlformats.org/drawingml/2006/main"/>
        </p:blipFill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C8B50-6D11-41E2-81BC-7768CA7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9b906cf634785"/>
          <a:stretch xmlns:a="http://schemas.openxmlformats.org/drawingml/2006/main"/>
        </p:blipFill>
        <p:spPr>
          <a:xfrm xmlns:a="http://schemas.openxmlformats.org/drawingml/2006/main">
            <a:off x="1350393" y="2576472"/>
            <a:ext cx="3605147" cy="23718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60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Breadth did not rescue the 20-session template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primary pair failed the positive-mean-with-positive-lower-bound gate.
Every primary pair also failed the forward-convergence requirement that the upper confidence bound remain below zero.
This matters: a spread can look statistically structured yet still offer no robust, cost-surviving directional forecast.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f1645de194588"/>
          <a:stretch xmlns:a="http://schemas.openxmlformats.org/drawingml/2006/main"/>
        </p:blipFill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8A64-ACC9-4498-AEAE-0060DC1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a4591a7ca41b5"/>
          <a:stretch xmlns:a="http://schemas.openxmlformats.org/drawingml/2006/main"/>
        </p:blipFill>
        <p:spPr>
          <a:xfrm xmlns:a="http://schemas.openxmlformats.org/drawingml/2006/main">
            <a:off x="6381750" y="1704295"/>
            <a:ext cx="5314950" cy="316366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categories failed for different reasons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is more informative than a single failed pair: tight substitutes had too little gross movement after costs; looser exposures offered more movement but unreliable convergence; inverse pairs changed the trade itself.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0 / 5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980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Near substitutes with positive mean
Costs overwhelmed tiny convergence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 / 7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Related exposures with positive mean
USO-XLE still failed four gates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No trades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Inverse challengers had same-side semantics
and unstable beta signs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Panel B broadened the test across 15 ordinary industries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pairs were fixed before outcomes and deliberately avoid individual meme stocks. Every pair uses the same 2016-2020 TRAIN window, mechanics, costs, diagnostics, and eight gates.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9 sector pairs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Staples through materials
SPDR / Vanguard near-substitute exposures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industry pairs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Defense · devices · retail
homebuilders · biotech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producer link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GDX-GLD
Gold miners versus physical gold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833E848-7434-4F2E-A17C-B17541C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7B658F-9EDE-4B04-B790-BFC2AB1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Panel B also produced no full validation pass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CB5A1905-9B52-4859-9721-FAA3759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6D7A92E4-990F-443E-AA22-280485C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56D2558C-A20F-4C70-893B-6EAB7EA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15 pairs generated two-sided trades. Yet every pair had a negative primary-cost mean net trade return, and no moving-block uncertainty interval cleared zero.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5C6C71CB-7475-4DF6-B7F0-0931DF0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 / 15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471C1151-75AF-40A2-A5A1-4F7713D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pairs passing
all eight gates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423A9D83-D670-4C26-B583-F1C469F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0 / 15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F039A1C2-F7F7-4D0E-BDC1-2BD29C9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mean net return
Primary costs included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3f82992d745ee"/>
          <a:stretch xmlns:a="http://schemas.openxmlformats.org/drawingml/2006/main"/>
        </p:blipFill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C8B50-6D11-41E2-81BC-7768CA7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e83e25b114709"/>
          <a:stretch xmlns:a="http://schemas.openxmlformats.org/drawingml/2006/main"/>
        </p:blipFill>
        <p:spPr>
          <a:xfrm xmlns:a="http://schemas.openxmlformats.org/drawingml/2006/main">
            <a:off x="1350393" y="2576472"/>
            <a:ext cx="3605147" cy="237180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1971E-0797-4B2A-9D4E-EA0B3D5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294c1ea664919"/>
          <a:stretch xmlns:a="http://schemas.openxmlformats.org/drawingml/2006/main"/>
        </p:blipFill>
        <p:spPr>
          <a:xfrm xmlns:a="http://schemas.openxmlformats.org/drawingml/2006/main">
            <a:off x="1350393" y="2576472"/>
            <a:ext cx="3605147" cy="23718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604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Failure concentrated in the economic and mechanism gates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15 passed G1 and G3; 14 of 15 passed G2. Data validity and two-sided trade support were not the problem.
No pair passed G4, G5, G6, or G8. Only three passed the 3-of-5-year G7 stability check.
The template generated activity—not a cost-surviving or mechanism-confirmed edge.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4fd53fe314a8b"/>
          <a:stretch xmlns:a="http://schemas.openxmlformats.org/drawingml/2006/main"/>
        </p:blipFill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8A64-ACC9-4498-AEAE-0060DC1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65f103a734819"/>
          <a:stretch xmlns:a="http://schemas.openxmlformats.org/drawingml/2006/main"/>
        </p:blipFill>
        <p:spPr>
          <a:xfrm xmlns:a="http://schemas.openxmlformats.org/drawingml/2006/main">
            <a:off x="6381750" y="1704295"/>
            <a:ext cx="5314950" cy="3163661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09D2C-E63E-4C2B-9C87-FE274541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46b9b65a8475e"/>
          <a:stretch xmlns:a="http://schemas.openxmlformats.org/drawingml/2006/main"/>
        </p:blipFill>
        <p:spPr>
          <a:xfrm xmlns:a="http://schemas.openxmlformats.org/drawingml/2006/main">
            <a:off x="6381750" y="1704295"/>
            <a:ext cx="5314950" cy="316366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Across 27 primary pairs, the exact template never cleared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Panels A and B tested near substitutes, related exposures, sectors, industries, and a producer link with identical mechanics, costs, and gates. This is breadth falsification—not parameter search.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0 / 27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 eight-gate passes
No later partition opened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 / 27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mean net return
USO-XLE; still failed four gates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 / 27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Robust G8 mechanism passes
No upper interval below zero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2018: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mechanism works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exact frozen USO-GLD rule produced a positive, cost-aware year. This is a retrospective case study—not a reversal of the five-year STOP.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CONTROL | 2018 WORKING REGIME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31B1CDB-9946-498B-901E-0A0C9C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1FC061-EE2C-48CF-9799-D85371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2018 produced a coherent, two-sided working example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EF0AF18E-87A6-431F-8D4F-59EC894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9C01B021-FDE1-4776-B2EE-ACB76D1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A2F82FC1-3249-4254-ABAA-A2D0E0F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year finished positive after next-open execution and adaptive-hedge turnover costs. Both long- and short-spread trades contributed.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06B274F5-6F7E-4432-B0F1-4874DA3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+4.82%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99D2BB32-1C11-4B29-AF23-ED9F32D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Primary-cost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calendar return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2EAFD608-776D-46A1-95EA-79AF4E6F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69.2%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691BF8AE-236E-4677-8EAF-3CF0D5A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Trade hit rate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 wins / 13 trades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b5756c1a44421"/>
          <a:stretch xmlns:a="http://schemas.openxmlformats.org/drawingml/2006/main"/>
        </p:blipFill>
        <p:spPr>
          <a:xfrm xmlns:a="http://schemas.openxmlformats.org/drawingml/2006/main">
            <a:off x="781159" y="2378774"/>
            <a:ext cx="4743613" cy="27671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750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27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signal, spread, and equity path line up in one view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1fa4247bc46c4"/>
          <a:stretch xmlns:a="http://schemas.openxmlformats.org/drawingml/2006/main"/>
        </p:blipFill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2018 trade is visible—wins, losses, direction, and duration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b192826804a0a"/>
          <a:stretch xmlns:a="http://schemas.openxmlformats.org/drawingml/2006/main"/>
        </p:blipFill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Costs mattered, yet both directions still produced winners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193e704df4636"/>
          <a:stretch xmlns:a="http://schemas.openxmlformats.org/drawingml/2006/main"/>
        </p:blipFill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2006–2012: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published regime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Yahoo adjusted daily reference bars reproduce the source-era behavior. We show the book-style account and the stricter Gen5 translation separately.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 REPRODUCTION | CHAN EXAMPLE 3.2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source-period edge survives Gen5 timing and costs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0afa89cdb4fc6"/>
          <a:stretch xmlns:a="http://schemas.openxmlformats.org/drawingml/2006/main"/>
        </p:blipFill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31B1CDB-9946-498B-901E-0A0C9C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1FC061-EE2C-48CF-9799-D85371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reproduction lands near Chan’s published headline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EF0AF18E-87A6-431F-8D4F-59EC894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9C01B021-FDE1-4776-B2EE-ACB76D1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A2F82FC1-3249-4254-ABAA-A2D0E0F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Yahoo-adjusted data does not match the original data vintage exactly. The difference is retained—not tuned away.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06B274F5-6F7E-4432-B0F1-4874DA3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15.07%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99D2BB32-1C11-4B29-AF23-ED9F32D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Book-style APR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Sharpe 0.845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2EAFD608-776D-46A1-95EA-79AF4E6F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12.93%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691BF8AE-236E-4677-8EAF-3CF0D5A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Gen5 APR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Sharpe 0.933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828645bd54289"/>
          <a:stretch xmlns:a="http://schemas.openxmlformats.org/drawingml/2006/main"/>
        </p:blipFill>
        <p:spPr>
          <a:xfrm xmlns:a="http://schemas.openxmlformats.org/drawingml/2006/main">
            <a:off x="781159" y="2378774"/>
            <a:ext cx="4743613" cy="27671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750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E9F43BB9-4202-4A42-9916-7A06678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mechanism can work.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did not persist broadly.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F90063-BA30-438B-9FD3-13AA227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the 2018 and 2006–2012 results as positive controls. Keep the five-year and 27-pair STOPs intact, and move on without rescuing or retuning LIT-MR-02.1.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5129715-75DE-4D50-B44D-3AFE3EB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66424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2026-07-29T09:13:38.5910000Z</dcterms:created>
  <dcterms:modified xsi:type="dcterms:W3CDTF">2026-07-29T09:13:38.5910000Z</dcterms:modified>
</coreProperties>
</file>