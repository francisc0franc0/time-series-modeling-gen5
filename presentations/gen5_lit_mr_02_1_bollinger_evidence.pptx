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e029ef841a45cc" /><Relationship Type="http://schemas.openxmlformats.org/officeDocument/2006/relationships/extended-properties" Target="/docProps/app.xml" Id="R9e645d2bdbb34f81" /><Relationship Type="http://schemas.openxmlformats.org/officeDocument/2006/relationships/officeDocument" Target="/ppt/presentation.xml" Id="R492a000d581749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c82eaf3603451b"/>
  </p:sldMasterIdLst>
  <p:notesMasterIdLst>
    <p:notesMasterId xmlns:r="http://schemas.openxmlformats.org/officeDocument/2006/relationships" r:id="R61051eaa0bae4b1e"/>
  </p:notesMasterIdLst>
  <p:sldIdLst>
    <p:sldId xmlns:r="http://schemas.openxmlformats.org/officeDocument/2006/relationships" id="256" r:id="Rdc29bbbeb3184262"/>
    <p:sldId xmlns:r="http://schemas.openxmlformats.org/officeDocument/2006/relationships" id="257" r:id="Rbacf10798a744e2d"/>
    <p:sldId xmlns:r="http://schemas.openxmlformats.org/officeDocument/2006/relationships" id="258" r:id="Rb1015b9bc65a403d"/>
    <p:sldId xmlns:r="http://schemas.openxmlformats.org/officeDocument/2006/relationships" id="259" r:id="R30b72e9fb5444cde"/>
    <p:sldId xmlns:r="http://schemas.openxmlformats.org/officeDocument/2006/relationships" id="260" r:id="R66fcc3fab5174533"/>
    <p:sldId xmlns:r="http://schemas.openxmlformats.org/officeDocument/2006/relationships" id="261" r:id="R5be0b4d6a23b427d"/>
    <p:sldId xmlns:r="http://schemas.openxmlformats.org/officeDocument/2006/relationships" id="262" r:id="R9b9a144de67b433a"/>
    <p:sldId xmlns:r="http://schemas.openxmlformats.org/officeDocument/2006/relationships" id="263" r:id="Rd794d2016fa94bc9"/>
    <p:sldId xmlns:r="http://schemas.openxmlformats.org/officeDocument/2006/relationships" id="264" r:id="Rf8b240e1df9c4f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8cd652ff89493a" /><Relationship Type="http://schemas.openxmlformats.org/officeDocument/2006/relationships/slideMaster" Target="/ppt/slideMasters/slideMaster1.xml" Id="Ra7c82eaf3603451b" /><Relationship Type="http://schemas.openxmlformats.org/officeDocument/2006/relationships/notesMaster" Target="/ppt/notesMasters/notesMaster1.xml" Id="R61051eaa0bae4b1e" /><Relationship Type="http://schemas.openxmlformats.org/officeDocument/2006/relationships/presProps" Target="/ppt/presProps.xml" Id="R66f540b08619430d" /><Relationship Type="http://schemas.openxmlformats.org/officeDocument/2006/relationships/tableStyles" Target="/ppt/tableStyles.xml" Id="Rc6340f93f0584713" /><Relationship Type="http://schemas.openxmlformats.org/officeDocument/2006/relationships/slide" Target="/ppt/slides/slide1.xml" Id="Rdc29bbbeb3184262" /><Relationship Type="http://schemas.openxmlformats.org/officeDocument/2006/relationships/slide" Target="/ppt/slides/slide2.xml" Id="Rbacf10798a744e2d" /><Relationship Type="http://schemas.openxmlformats.org/officeDocument/2006/relationships/slide" Target="/ppt/slides/slide3.xml" Id="Rb1015b9bc65a403d" /><Relationship Type="http://schemas.openxmlformats.org/officeDocument/2006/relationships/slide" Target="/ppt/slides/slide4.xml" Id="R30b72e9fb5444cde" /><Relationship Type="http://schemas.openxmlformats.org/officeDocument/2006/relationships/slide" Target="/ppt/slides/slide5.xml" Id="R66fcc3fab5174533" /><Relationship Type="http://schemas.openxmlformats.org/officeDocument/2006/relationships/slide" Target="/ppt/slides/slide6.xml" Id="R5be0b4d6a23b427d" /><Relationship Type="http://schemas.openxmlformats.org/officeDocument/2006/relationships/slide" Target="/ppt/slides/slide7.xml" Id="R9b9a144de67b433a" /><Relationship Type="http://schemas.openxmlformats.org/officeDocument/2006/relationships/slide" Target="/ppt/slides/slide8.xml" Id="Rd794d2016fa94bc9" /><Relationship Type="http://schemas.openxmlformats.org/officeDocument/2006/relationships/slide" Target="/ppt/slides/slide9.xml" Id="Rf8b240e1df9c4f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66ed069d724d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7eccf81ae445cd" /><Relationship Type="http://schemas.openxmlformats.org/officeDocument/2006/relationships/notesMaster" Target="/ppt/notesMasters/notesMaster1.xml" Id="R63289d9bcdc142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545937ae7b49e4" /><Relationship Type="http://schemas.openxmlformats.org/officeDocument/2006/relationships/notesMaster" Target="/ppt/notesMasters/notesMaster1.xml" Id="R3130aa2c99d348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f87a0c2a72468a" /><Relationship Type="http://schemas.openxmlformats.org/officeDocument/2006/relationships/notesMaster" Target="/ppt/notesMasters/notesMaster1.xml" Id="Rbf4c5f2ff08b4d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bd92756ca0458a" /><Relationship Type="http://schemas.openxmlformats.org/officeDocument/2006/relationships/notesMaster" Target="/ppt/notesMasters/notesMaster1.xml" Id="R3bc2a3910cdd45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0e04efa8fa4f17" /><Relationship Type="http://schemas.openxmlformats.org/officeDocument/2006/relationships/notesMaster" Target="/ppt/notesMasters/notesMaster1.xml" Id="R8b759aa1b15b4f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e7ffd01c2149bc" /><Relationship Type="http://schemas.openxmlformats.org/officeDocument/2006/relationships/notesMaster" Target="/ppt/notesMasters/notesMaster1.xml" Id="R20b728bafe4e47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d58a65c94f4a1f" /><Relationship Type="http://schemas.openxmlformats.org/officeDocument/2006/relationships/notesMaster" Target="/ppt/notesMasters/notesMaster1.xml" Id="R064212f94fd34e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565e7222dc432f" /><Relationship Type="http://schemas.openxmlformats.org/officeDocument/2006/relationships/notesMaster" Target="/ppt/notesMasters/notesMaster1.xml" Id="R23594656089b43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1325c5a2614fbd" /><Relationship Type="http://schemas.openxmlformats.org/officeDocument/2006/relationships/notesMaster" Target="/ppt/notesMasters/notesMaster1.xml" Id="R2361fb8cc6aa43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decision is a TRAIN-only STOP. Development and confirmation outcomes were never opened.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book compares price spread, log-price spread, and ratio separately. Example 3.2 says its first program section is identical to PriceSpread.m.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Project/Time-Series-Modeling-Gen5/docs/GEN5_LITERATURE_SOURCE_LEDGER.md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printed code contains a sign ambiguity between the stated spread and displayed position weights. The implementation uses the economically consistent interpretation: buy a low USO-minus-beta-GLD spread and short a high spread.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67-72; PDF pp. 85-90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Project/Time-Series-Modeling-Gen5/runs/research_workbench/literature_grounded/lit_mr_02_1_bollinger_20260728/visuals/mr02_signal_tape.png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ADF, half-life, variance ratio, and conditional forward return test different ideas. The rolling beta also makes this dynamic spread unlike a fixed cointegrating residual.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Project/Time-Series-Modeling-Gen5/runs/research_workbench/literature_grounded/lit_mr_02_1_bollinger_20260728/mr02_train_statistical_diagnostics.csv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Project/Time-Series-Modeling-Gen5/runs/research_workbench/literature_grounded/lit_mr_02_1_bollinger_20260728/mr02_train_forward_convergence_summary.csv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Project/Time-Series-Modeling-Gen5/runs/research_workbench/literature_grounded/lit_mr_02_1_bollinger_20260728/visuals/mr02_statistical_diagnostics.png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42-47 and 66-72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trades include entries, daily adaptive-hedge turnover, and exits. Bar returns are next-open to next-open and use the prior close's frozen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Project/Time-Series-Modeling-Gen5/runs/research_workbench/literature_grounded/lit_mr_02_1_bollinger_20260728/mr02_train_bar_replay.csv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Project/Time-Series-Modeling-Gen5/runs/research_workbench/literature_grounded/lit_mr_02_1_bollinger_20260728/mr02_train_year_summary.csv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Project/Time-Series-Modeling-Gen5/runs/research_workbench/literature_grounded/lit_mr_02_1_bollinger_20260728/visuals/mr02_trade_and_year_summary.png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random-sign control breaks only the mapping from the Bollinger signal sign to the pair direction. It preserves the realized opportunities and costs.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Project/Time-Series-Modeling-Gen5/runs/research_workbench/literature_grounded/lit_mr_02_1_bollinger_20260728/mr02_train_trade_bootstrap_summary.csv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Project/Time-Series-Modeling-Gen5/runs/research_workbench/literature_grounded/lit_mr_02_1_bollinger_20260728/mr02_train_trade_bootstrap_draws.csv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Project/Time-Series-Modeling-Gen5/runs/research_workbench/literature_grounded/lit_mr_02_1_bollinger_20260728/mr02_train_random_sign_distribution.csv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Project/Time-Series-Modeling-Gen5/runs/research_workbench/literature_grounded/lit_mr_02_1_bollinger_20260728/visuals/mr02_resampling.png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is entry and red is exit. The large asymmetry is important: crossing the rolling mean is a signal-state event, not an economic P&amp;L guarantee because beta and the mean evolve.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Project/Time-Series-Modeling-Gen5/runs/research_workbench/literature_grounded/lit_mr_02_1_bollinger_20260728/mr02_train_indicators.csv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Project/Time-Series-Modeling-Gen5/runs/research_workbench/literature_grounded/lit_mr_02_1_bollinger_20260728/visuals/mr02_representative_trades.png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Only TRAIN was joined to state and returns. Development and confirmation metrics are structurally NOT_RUN.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Project/Time-Series-Modeling-Gen5/runs/research_workbench/literature_grounded/lit_mr_02_1_bollinger_20260728/mr02_integrity_audit.csv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Project/Time-Series-Modeling-Gen5/runs/research_workbench/literature_grounded/lit_mr_02_1_bollinger_20260728/mr02_run_spec.csv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Project/Time-Series-Modeling-Gen5/runs/research_workbench/literature_grounded/lit_mr_02_1_bollinger_20260728/visuals/mr02_gate_summary.png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next identifier depends on the operator's proposed mechanism. Do not alter GLD-USO, raw price, 20 sessions, +/-1 entry, zero exit, or costs on this inspected TRAIN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Project/Time-Series-Modeling-Gen5/runs/research_workbench/literature_grounded/lit_mr_02_1_bollinger_20260728/mr02_report.md</a:t>
            </a:r>
          </a:p>
          <a:p xmlns:a="http://schemas.openxmlformats.org/drawingml/2006/main">
            <a:r>
              <a:t>- C:/Users/Franc/OneDrive/Documents/Francis/Peltata Project/Time-Series-Modeling-Gen5/docs/GEN5_LITERATURE_GROUNDED_STRATEGY_RESEARCH_NOMENCLATURE.md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bc706ffc3448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b6128b988c45d5" /><Relationship Type="http://schemas.openxmlformats.org/officeDocument/2006/relationships/slideLayout" Target="/ppt/slideLayouts/slideLayout1.xml" Id="Rebb75700030a4d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b75700030a4d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abc58b4904e69" /><Relationship Type="http://schemas.openxmlformats.org/officeDocument/2006/relationships/notesSlide" Target="/ppt/notesSlides/notesSlide1.xml" Id="R19abd32d1add44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3ca3d8ea543f6" /><Relationship Type="http://schemas.openxmlformats.org/officeDocument/2006/relationships/notesSlide" Target="/ppt/notesSlides/notesSlide2.xml" Id="R393291aa0cd443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cd9a3ccec4e5d" /><Relationship Type="http://schemas.openxmlformats.org/officeDocument/2006/relationships/image" Target="/ppt/media/image.png" Id="R837b7a1f0bc04e08" /><Relationship Type="http://schemas.openxmlformats.org/officeDocument/2006/relationships/notesSlide" Target="/ppt/notesSlides/notesSlide3.xml" Id="R7d4810e653ef45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d0b75ad854dde" /><Relationship Type="http://schemas.openxmlformats.org/officeDocument/2006/relationships/image" Target="/ppt/media/image2.png" Id="R33eb5c27edde4758" /><Relationship Type="http://schemas.openxmlformats.org/officeDocument/2006/relationships/notesSlide" Target="/ppt/notesSlides/notesSlide4.xml" Id="Rba11ee7784e14b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825bcfe19493c" /><Relationship Type="http://schemas.openxmlformats.org/officeDocument/2006/relationships/image" Target="/ppt/media/image3.png" Id="Rcbc8604812fd48f8" /><Relationship Type="http://schemas.openxmlformats.org/officeDocument/2006/relationships/notesSlide" Target="/ppt/notesSlides/notesSlide5.xml" Id="Rd251bdb216b74e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c986d06e646ff" /><Relationship Type="http://schemas.openxmlformats.org/officeDocument/2006/relationships/image" Target="/ppt/media/image4.png" Id="R444a0db030544be7" /><Relationship Type="http://schemas.openxmlformats.org/officeDocument/2006/relationships/notesSlide" Target="/ppt/notesSlides/notesSlide6.xml" Id="R778f144e29f04b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7a96085414e72" /><Relationship Type="http://schemas.openxmlformats.org/officeDocument/2006/relationships/image" Target="/ppt/media/image5.png" Id="R8817f35401fb4805" /><Relationship Type="http://schemas.openxmlformats.org/officeDocument/2006/relationships/notesSlide" Target="/ppt/notesSlides/notesSlide7.xml" Id="R0e72d65610d64f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622dba25e4c6a" /><Relationship Type="http://schemas.openxmlformats.org/officeDocument/2006/relationships/notesSlide" Target="/ppt/notesSlides/notesSlide8.xml" Id="R93a813cbda3c41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7ff46b7204216" /><Relationship Type="http://schemas.openxmlformats.org/officeDocument/2006/relationships/notesSlide" Target="/ppt/notesSlides/notesSlide9.xml" Id="R09a064c8abb847d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ver-headline">
            <a:extLst xmlns:a="http://schemas.openxmlformats.org/drawingml/2006/main">
              <a:ext uri="{FF2B5EF4-FFF2-40B4-BE49-F238E27FC236}">
                <a16:creationId xmlns:a16="http://schemas.microsoft.com/office/drawing/2014/main" id="{DA6318FA-2F99-4DF9-A744-06350F91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2870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LIT-MR-02.1
stops at TRAIN</a:t>
            </a:r>
          </a:p>
        </p:txBody>
      </p:sp>
      <p:sp>
        <p:nvSpPr>
          <p:cNvPr id="2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169DF7F-9A3A-4AE2-8055-4ED35072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62500"/>
            <a:ext cx="8001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Chan's adaptive GLD-USO Bollinger spread looked mean reverting statistically - but not economically.</a:t>
            </a:r>
          </a:p>
        </p:txBody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2399950-CA2D-41D2-BB2E-E681018A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LITERATURE-GROUNDED STRATEGY RESEARCH | 28 JUL 2026</a:t>
            </a:r>
          </a:p>
        </p:txBody>
      </p:sp>
    </p:spTree>
    <p:extLst>
      <p:ext uri="{BB962C8B-B14F-4D97-AF65-F5344CB8AC3E}">
        <p14:creationId xmlns:p14="http://schemas.microsoft.com/office/powerpoint/2010/main" val="20928933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This is not single-asset Bollinger Bands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Chan first estimates a rolling raw-price hedge ratio, builds the two-asset unit-portfolio spread, and only then standardizes that spread. Example 3.2 explicitly reuses the raw-price construction from Example 3.1.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USO - β·GLD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Adaptive raw-price spread
—not either ETF alone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 sessions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Rolling OLS beta
and spread standardization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Price, not log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Source-faithful transform
Log price is a separate test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F272998-B60C-44E0-849E-A04A8722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16F9E5-1AF4-43B0-AB25-E3AE9829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frozen rule preserved the book's core mechanics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5EE0E946-4B2C-4DE9-8839-3DE0D30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E0CA677-50AA-4CCF-BC5C-CB90210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Signal after close
Execute next open
Enter long below -1z
Enter short above +1z
Exit at zero
One gross-normalized unit
Daily adaptive rehedging
5 bp per one-way weight change
No stop, target, max hold, or retuning.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b7a1f0bc04e08"/>
          <a:stretch xmlns:a="http://schemas.openxmlformats.org/drawingml/2006/main"/>
        </p:blipFill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408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9833E848-7434-4F2E-A17C-B17541C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7B658F-9EDE-4B04-B790-BFC2AB1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stationary-looking spread was not a trading edge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CB5A1905-9B52-4859-9721-FAA375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6D7A92E4-990F-443E-AA22-280485C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56D2558C-A20F-4C70-893B-6EAB7EA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dynamic spread produced a strongly negative ADF-style statistic and a 16.7-session half-life. But variance ratios exceeded one, and high z-scores predicted higher—not lower—forward spread returns.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5C6C71CB-7475-4DF6-B7F0-0931DF04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-8.43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471C1151-75AF-40A2-A5A1-4F7713D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Dynamic-spread ADF t
Descriptive, not a verdict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423A9D83-D670-4C26-B583-F1C469F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+0.095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F039A1C2-F7F7-4D0E-BDC1-2BD29C9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z vs forward-five return
Wrong sign for reversion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b5c27edde4758"/>
          <a:stretch xmlns:a="http://schemas.openxmlformats.org/drawingml/2006/main"/>
        </p:blipFill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0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31B1CDB-9946-498B-901E-0A0C9C77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E1FC061-EE2C-48CF-9799-D8537102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Trade-level and bar-level evidence both failed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EF0AF18E-87A6-431F-8D4F-59EC8945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9C01B021-FDE1-4776-B2EE-ACB76D12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A2F82FC1-3249-4254-ABAA-A2D0E0F9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rule generated enough trades in both directions, but the mean trade lost money, the hit rate was below 50%, and only two of five TRAIN years were positive.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06B274F5-6F7E-4432-B0F1-4874DA3C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-17.68 bp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99D2BB32-1C11-4B29-AF23-ED9F32D0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Mean primary-cost
net return per trade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2EAFD608-776D-46A1-95EA-79AF4E6F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49.1%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691BF8AE-236E-4677-8EAF-3CF0D5A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Completed-trade
hit rate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8604812fd48f8"/>
          <a:stretch xmlns:a="http://schemas.openxmlformats.org/drawingml/2006/main"/>
        </p:blipFill>
        <p:spPr>
          <a:xfrm xmlns:a="http://schemas.openxmlformats.org/drawingml/2006/main">
            <a:off x="385858" y="2378821"/>
            <a:ext cx="5534216" cy="27671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875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36482E3-0836-42EE-A424-2E869BA9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C7B3E2F-B15F-4CE7-9E93-D02FFAE5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Uncertainty and falsification offered no rescue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0537132A-D0A9-4B26-9624-49D1E882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9AF5A6DC-5240-4747-8A2C-59E91119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87467A1C-2B62-4E3A-A37F-25E47B9B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mean sat inside a very wide interval and below the p90 of random trade directions with the same timing, pair path, holding periods, and primary costs.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FE80A7F4-6D99-4C52-B848-EAE13056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[-121, +83]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E40BF187-37D5-4CDB-9030-4E2CB386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95% interval
bp per trade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D938F8F7-A9FF-49C0-ABE1-4CC871B4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solidFill>
                  <a:srgbClr val="F59E0B"/>
                </a:solidFill>
                <a:latin typeface="Helvetica Neue"/>
                <a:ea typeface="Helvetica Neue"/>
                <a:cs typeface="Helvetica Neue"/>
              </a:defRPr>
            </a:pPr>
            <a:r>
              <a:t>+47.88 bp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197A8950-A2B2-4FCE-A738-88CF2DF9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Matched random-sign p90
Observed: -17.68 bp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a0db030544be7"/>
          <a:stretch xmlns:a="http://schemas.openxmlformats.org/drawingml/2006/main"/>
        </p:blipFill>
        <p:spPr>
          <a:xfrm xmlns:a="http://schemas.openxmlformats.org/drawingml/2006/main">
            <a:off x="385858" y="2444705"/>
            <a:ext cx="5534216" cy="263534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127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D1F4916-B18D-4F3F-8812-75A699D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B77D9D-0CB0-4878-9A4A-2687A311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Representative trades show why zero-crossing is not enough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6220C938-B9AD-4B79-90E3-107E303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F760EC2-C6B5-4968-A4B1-EBAD286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tape includes both long- and short-spread trades across the return distribution.
Some z-scores crossed zero only after large adverse pair moves. A normalized z-score crossing does not guarantee that the tradable legs produced a positive return.
Worst shown: -1,254.7 bp
Best shown: +809.6 bp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7f35401fb4805"/>
          <a:stretch xmlns:a="http://schemas.openxmlformats.org/drawingml/2006/main"/>
        </p:blipFill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6343675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Six substantive failures force a structural STOP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12 integrity checks passed and trade support was adequate. Positive-beta coverage, cost survival, hit rate, random-sign separation, yearly stability, and forward convergence all failed.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2 / 8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gates passed
Integrity and support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6 / 8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gates failed
Mechanism not admitted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Later partitions opened
No later evidence exists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ver-headline">
            <a:extLst xmlns:a="http://schemas.openxmlformats.org/drawingml/2006/main">
              <a:ext uri="{FF2B5EF4-FFF2-40B4-BE49-F238E27FC236}">
                <a16:creationId xmlns:a16="http://schemas.microsoft.com/office/drawing/2014/main" id="{E9F43BB9-4202-4A42-9916-7A06678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2870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Preserve the lesson.
Do not rescue the rule.</a:t>
            </a:r>
          </a:p>
        </p:txBody>
      </p:sp>
      <p:sp>
        <p:nvSpPr>
          <p:cNvPr id="2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6F90063-BA30-438B-9FD3-13AA2271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62500"/>
            <a:ext cx="8001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negative ADF-style statistic was not actionable evidence. Keep later data sealed and return to literature for LIT-MR-03.1 or a substantively justified new variant.</a:t>
            </a:r>
          </a:p>
        </p:txBody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5129715-75DE-4D50-B44D-3AFE3EBA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DECISION</a:t>
            </a:r>
          </a:p>
        </p:txBody>
      </p:sp>
    </p:spTree>
    <p:extLst>
      <p:ext uri="{BB962C8B-B14F-4D97-AF65-F5344CB8AC3E}">
        <p14:creationId xmlns:p14="http://schemas.microsoft.com/office/powerpoint/2010/main" val="16642401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2026-07-28T15:35:57.6710000Z</dcterms:created>
  <dcterms:modified xsi:type="dcterms:W3CDTF">2026-07-28T15:35:57.6710000Z</dcterms:modified>
</coreProperties>
</file>