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8b77a95882479e" /><Relationship Type="http://schemas.openxmlformats.org/officeDocument/2006/relationships/extended-properties" Target="/docProps/app.xml" Id="R1d8b4b7692834a16" /><Relationship Type="http://schemas.openxmlformats.org/officeDocument/2006/relationships/officeDocument" Target="/ppt/presentation.xml" Id="R66900655b6b748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c84ce36962453f"/>
  </p:sldMasterIdLst>
  <p:notesMasterIdLst>
    <p:notesMasterId xmlns:r="http://schemas.openxmlformats.org/officeDocument/2006/relationships" r:id="R94f55e2bba05465a"/>
  </p:notesMasterIdLst>
  <p:sldIdLst>
    <p:sldId xmlns:r="http://schemas.openxmlformats.org/officeDocument/2006/relationships" id="256" r:id="R7e6b386ca93b4dae"/>
    <p:sldId xmlns:r="http://schemas.openxmlformats.org/officeDocument/2006/relationships" id="257" r:id="Rada144b9b32843e0"/>
    <p:sldId xmlns:r="http://schemas.openxmlformats.org/officeDocument/2006/relationships" id="258" r:id="R444f03cd1f8143f4"/>
    <p:sldId xmlns:r="http://schemas.openxmlformats.org/officeDocument/2006/relationships" id="259" r:id="R7781e796f8bf4daf"/>
    <p:sldId xmlns:r="http://schemas.openxmlformats.org/officeDocument/2006/relationships" id="260" r:id="R944fe3b21b0e4370"/>
    <p:sldId xmlns:r="http://schemas.openxmlformats.org/officeDocument/2006/relationships" id="261" r:id="R126d8c514dd64c1b"/>
    <p:sldId xmlns:r="http://schemas.openxmlformats.org/officeDocument/2006/relationships" id="262" r:id="R79af14966def4bd0"/>
    <p:sldId xmlns:r="http://schemas.openxmlformats.org/officeDocument/2006/relationships" id="263" r:id="R4ef7177d072b4478"/>
    <p:sldId xmlns:r="http://schemas.openxmlformats.org/officeDocument/2006/relationships" id="264" r:id="R375751d6efef48b1"/>
    <p:sldId xmlns:r="http://schemas.openxmlformats.org/officeDocument/2006/relationships" id="265" r:id="R4a459ee0e13a4af5"/>
    <p:sldId xmlns:r="http://schemas.openxmlformats.org/officeDocument/2006/relationships" id="266" r:id="R4e4f23ed7dcc44f0"/>
    <p:sldId xmlns:r="http://schemas.openxmlformats.org/officeDocument/2006/relationships" id="267" r:id="R00682393de884669"/>
    <p:sldId xmlns:r="http://schemas.openxmlformats.org/officeDocument/2006/relationships" id="268" r:id="Ra5bb91fee489431a"/>
    <p:sldId xmlns:r="http://schemas.openxmlformats.org/officeDocument/2006/relationships" id="269" r:id="R9f51cd6eb91d434a"/>
    <p:sldId xmlns:r="http://schemas.openxmlformats.org/officeDocument/2006/relationships" id="270" r:id="R530c6c4d11b34229"/>
    <p:sldId xmlns:r="http://schemas.openxmlformats.org/officeDocument/2006/relationships" id="271" r:id="Rb01088723c924cca"/>
    <p:sldId xmlns:r="http://schemas.openxmlformats.org/officeDocument/2006/relationships" id="272" r:id="R298a5347781c49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4d2acfd311404b" /><Relationship Type="http://schemas.openxmlformats.org/officeDocument/2006/relationships/slideMaster" Target="/ppt/slideMasters/slideMaster1.xml" Id="R17c84ce36962453f" /><Relationship Type="http://schemas.openxmlformats.org/officeDocument/2006/relationships/notesMaster" Target="/ppt/notesMasters/notesMaster1.xml" Id="R94f55e2bba05465a" /><Relationship Type="http://schemas.openxmlformats.org/officeDocument/2006/relationships/presProps" Target="/ppt/presProps.xml" Id="Rba6fcc89bc6c4f8e" /><Relationship Type="http://schemas.openxmlformats.org/officeDocument/2006/relationships/tableStyles" Target="/ppt/tableStyles.xml" Id="R7a70e75e29d4437a" /><Relationship Type="http://schemas.openxmlformats.org/officeDocument/2006/relationships/slide" Target="/ppt/slides/slide1.xml" Id="R7e6b386ca93b4dae" /><Relationship Type="http://schemas.openxmlformats.org/officeDocument/2006/relationships/slide" Target="/ppt/slides/slide2.xml" Id="Rada144b9b32843e0" /><Relationship Type="http://schemas.openxmlformats.org/officeDocument/2006/relationships/slide" Target="/ppt/slides/slide3.xml" Id="R444f03cd1f8143f4" /><Relationship Type="http://schemas.openxmlformats.org/officeDocument/2006/relationships/slide" Target="/ppt/slides/slide4.xml" Id="R7781e796f8bf4daf" /><Relationship Type="http://schemas.openxmlformats.org/officeDocument/2006/relationships/slide" Target="/ppt/slides/slide5.xml" Id="R944fe3b21b0e4370" /><Relationship Type="http://schemas.openxmlformats.org/officeDocument/2006/relationships/slide" Target="/ppt/slides/slide6.xml" Id="R126d8c514dd64c1b" /><Relationship Type="http://schemas.openxmlformats.org/officeDocument/2006/relationships/slide" Target="/ppt/slides/slide7.xml" Id="R79af14966def4bd0" /><Relationship Type="http://schemas.openxmlformats.org/officeDocument/2006/relationships/slide" Target="/ppt/slides/slide8.xml" Id="R4ef7177d072b4478" /><Relationship Type="http://schemas.openxmlformats.org/officeDocument/2006/relationships/slide" Target="/ppt/slides/slide9.xml" Id="R375751d6efef48b1" /><Relationship Type="http://schemas.openxmlformats.org/officeDocument/2006/relationships/slide" Target="/ppt/slides/slide10.xml" Id="R4a459ee0e13a4af5" /><Relationship Type="http://schemas.openxmlformats.org/officeDocument/2006/relationships/slide" Target="/ppt/slides/slide11.xml" Id="R4e4f23ed7dcc44f0" /><Relationship Type="http://schemas.openxmlformats.org/officeDocument/2006/relationships/slide" Target="/ppt/slides/slide12.xml" Id="R00682393de884669" /><Relationship Type="http://schemas.openxmlformats.org/officeDocument/2006/relationships/slide" Target="/ppt/slides/slide13.xml" Id="Ra5bb91fee489431a" /><Relationship Type="http://schemas.openxmlformats.org/officeDocument/2006/relationships/slide" Target="/ppt/slides/slide14.xml" Id="R9f51cd6eb91d434a" /><Relationship Type="http://schemas.openxmlformats.org/officeDocument/2006/relationships/slide" Target="/ppt/slides/slide15.xml" Id="R530c6c4d11b34229" /><Relationship Type="http://schemas.openxmlformats.org/officeDocument/2006/relationships/slide" Target="/ppt/slides/slide16.xml" Id="Rb01088723c924cca" /><Relationship Type="http://schemas.openxmlformats.org/officeDocument/2006/relationships/slide" Target="/ppt/slides/slide17.xml" Id="R298a5347781c49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580b951f984e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01bf1e3afe4192" /><Relationship Type="http://schemas.openxmlformats.org/officeDocument/2006/relationships/notesMaster" Target="/ppt/notesMasters/notesMaster1.xml" Id="R78fa27d22d0649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0f64c9d1b84c77" /><Relationship Type="http://schemas.openxmlformats.org/officeDocument/2006/relationships/notesMaster" Target="/ppt/notesMasters/notesMaster1.xml" Id="Rdca07c6d31ed48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c2e28fd7854f6c" /><Relationship Type="http://schemas.openxmlformats.org/officeDocument/2006/relationships/notesMaster" Target="/ppt/notesMasters/notesMaster1.xml" Id="Rd9a4e0d3c6774c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9045d8b08649b0" /><Relationship Type="http://schemas.openxmlformats.org/officeDocument/2006/relationships/notesMaster" Target="/ppt/notesMasters/notesMaster1.xml" Id="R03fe086ce68b48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9b7a150c394e44" /><Relationship Type="http://schemas.openxmlformats.org/officeDocument/2006/relationships/notesMaster" Target="/ppt/notesMasters/notesMaster1.xml" Id="R6e3602b9288a40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34f40a7d374b55" /><Relationship Type="http://schemas.openxmlformats.org/officeDocument/2006/relationships/notesMaster" Target="/ppt/notesMasters/notesMaster1.xml" Id="Rd2f462f0e66640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eda919cba34475" /><Relationship Type="http://schemas.openxmlformats.org/officeDocument/2006/relationships/notesMaster" Target="/ppt/notesMasters/notesMaster1.xml" Id="R11178af0996e46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d622dd7453b436a" /><Relationship Type="http://schemas.openxmlformats.org/officeDocument/2006/relationships/notesMaster" Target="/ppt/notesMasters/notesMaster1.xml" Id="R09b9ecb5afa740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efb19d276646a4" /><Relationship Type="http://schemas.openxmlformats.org/officeDocument/2006/relationships/notesMaster" Target="/ppt/notesMasters/notesMaster1.xml" Id="R7e46838ba49240d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02d32910084947" /><Relationship Type="http://schemas.openxmlformats.org/officeDocument/2006/relationships/notesMaster" Target="/ppt/notesMasters/notesMaster1.xml" Id="R32fca90d1aaf42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5c2f23754c4475" /><Relationship Type="http://schemas.openxmlformats.org/officeDocument/2006/relationships/notesMaster" Target="/ppt/notesMasters/notesMaster1.xml" Id="R1e3e27b05c404e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e2d9752655f4b56" /><Relationship Type="http://schemas.openxmlformats.org/officeDocument/2006/relationships/notesMaster" Target="/ppt/notesMasters/notesMaster1.xml" Id="Rcc7065c73c814d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fde6c211db4a8d" /><Relationship Type="http://schemas.openxmlformats.org/officeDocument/2006/relationships/notesMaster" Target="/ppt/notesMasters/notesMaster1.xml" Id="R43e670f294aa4d7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cd918d8a7014f14" /><Relationship Type="http://schemas.openxmlformats.org/officeDocument/2006/relationships/notesMaster" Target="/ppt/notesMasters/notesMaster1.xml" Id="Ree4e7803d5434d9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997efe5bfa740a7" /><Relationship Type="http://schemas.openxmlformats.org/officeDocument/2006/relationships/notesMaster" Target="/ppt/notesMasters/notesMaster1.xml" Id="R04f4fe679602457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46e99a0cd9648d3" /><Relationship Type="http://schemas.openxmlformats.org/officeDocument/2006/relationships/notesMaster" Target="/ppt/notesMasters/notesMaster1.xml" Id="R27b993ebff2c48c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4a572585ea4c2e" /><Relationship Type="http://schemas.openxmlformats.org/officeDocument/2006/relationships/notesMaster" Target="/ppt/notesMasters/notesMaster1.xml" Id="R677c9de7e39448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revision preserves the canonical USO-GLD test and adds a fixed, economically motivated pair panel. No pair was added or removed after seeing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book compares price spread, log-price spread, and ratio separately. Example 3.2 reuses the raw-price spread construction from Example 3.1.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66-72; PDF pp. 84-90</a:t>
            </a:r>
          </a:p>
          <a:p xmlns:a="http://schemas.openxmlformats.org/drawingml/2006/main">
            <a:r>
              <a:t>- C:/Users/Franc/OneDrive/Documents/Francis/Peltata Project/Time-Series-Modeling-Gen5/docs/GEN5_LITERATURE_SOURCE_LEDGER.md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OLS chooses alpha and beta to minimize the sum of squared residuals in the rolling window. Beta expresses price units: if beta is 2, one unit of X hedges roughly two price units of Y under the local fitted relationship.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66-72; PDF pp. 84-90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z-score is unitless. It says how many rolling standard deviations the current spread is from its rolling mean. It does not by itself prove stationarity, cointegration, or profitable convergence.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66-72; PDF pp. 84-90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denominator gross-normalizes the two legs. The numerator preserves the beta-scaled price-unit hedge. Because beta is recomputed daily, weights can change even while the directional position remains open.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Project/Time-Series-Modeling-Gen5/runs/research_workbench/literature_grounded/lit_mr_02_1_panel_a_20260728/visuals/mr02_weight_mechanics.png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beta below zero, S = Y - beta X becomes Y + |beta|X. That can be statistically meaningful but it no longer describes the same opposite-leg relative-value strategy. A tradable inverse-pair design would require a new frozen variant.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Project/Time-Series-Modeling-Gen5/runs/research_workbench/literature_grounded/lit_mr_02_1_panel_a_20260728/mr02_panel_inverse_diagnostics.csv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Canonical USO-GLD mechanics remain unchanged: raw adjusted prices, 20 sessions, +/-1 entry, zero exit, next-open execution, daily adaptive rehedging, and explicit turnover costs.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67-72; PDF pp. 85-90</a:t>
            </a:r>
          </a:p>
          <a:p xmlns:a="http://schemas.openxmlformats.org/drawingml/2006/main">
            <a:r>
              <a:t>- C:/Users/Franc/OneDrive/Documents/Francis/Peltata Project/Time-Series-Modeling-Gen5/docs/GEN5_LIT_MR_02_1_ADAPTIVE_SPREAD_BOLLINGER_POC_CONTRACT.md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Project/Time-Series-Modeling-Gen5/runs/research_workbench/literature_grounded/lit_mr_02_1_bollinger_20260728/visuals/mr02_signal_tape.png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ADF, half-life, variance ratio, and conditional forward return test different ideas. A rolling-beta spread is not the same object as a fixed cointegrating residual.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Project/Time-Series-Modeling-Gen5/runs/research_workbench/literature_grounded/lit_mr_02_1_bollinger_20260728/mr02_train_statistical_diagnostics.csv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Project/Time-Series-Modeling-Gen5/runs/research_workbench/literature_grounded/lit_mr_02_1_bollinger_20260728/mr02_train_forward_convergence_summary.csv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Project/Time-Series-Modeling-Gen5/runs/research_workbench/literature_grounded/lit_mr_02_1_bollinger_20260728/visuals/mr02_statistical_diagnostics.png</a:t>
            </a:r>
          </a:p>
          <a:p xmlns:a="http://schemas.openxmlformats.org/drawingml/2006/main">
            <a:r>
              <a:t>- C:/Users/Franc/OneDrive/Documents/Francis/Trading Literature/Algorithmic Trading - Winning Strategies and Their Rationale 2013.pdf, printed pp. 42-47 and 66-72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trades include entries, adaptive-hedge turnover, and exits. Bar returns are next-open to next-open and use the prior close's frozen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Project/Time-Series-Modeling-Gen5/runs/research_workbench/literature_grounded/lit_mr_02_1_bollinger_20260728/mr02_train_bar_replay.csv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Project/Time-Series-Modeling-Gen5/runs/research_workbench/literature_grounded/lit_mr_02_1_bollinger_20260728/mr02_train_year_summary.csv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matched random-sign control breaks only the mapping from signal sign to pair direction while preserving opportunities, holding periods, realized paths, and costs.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Project/Time-Series-Modeling-Gen5/runs/research_workbench/literature_grounded/lit_mr_02_1_bollinger_20260728/mr02_train_trade_bootstrap_summary.csv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Project/Time-Series-Modeling-Gen5/runs/research_workbench/literature_grounded/lit_mr_02_1_bollinger_20260728/mr02_train_random_sign_distribution.csv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Project/Time-Series-Modeling-Gen5/runs/research_workbench/literature_grounded/lit_mr_02_1_bollinger_20260728/visuals/mr02_resampling.png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z-score crossing its rolling zero is a signal-state event, not a P&amp;L guarantee: beta, the mean, and both tradable leg prices evolve.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Project/Time-Series-Modeling-Gen5/runs/research_workbench/literature_grounded/lit_mr_02_1_bollinger_20260728/mr02_train_trades.csv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Project/Time-Series-Modeling-Gen5/runs/research_workbench/literature_grounded/lit_mr_02_1_bollinger_20260728/mr02_train_indicators.csv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Project/Time-Series-Modeling-Gen5/runs/research_workbench/literature_grounded/lit_mr_02_1_bollinger_20260728/visuals/mr02_representative_trades.png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canonical USO-GLD example passed integrity and trade-support gates only. Later partitions remained sealed.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Project/Time-Series-Modeling-Gen5/runs/research_workbench/literature_grounded/lit_mr_02_1_bollinger_20260728/mr02_integrity_audit.csv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Project/Time-Series-Modeling-Gen5/runs/research_workbench/literature_grounded/lit_mr_02_1_bollinger_20260728/mr02_run_spec.csv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Pair names, Y/X orientation, categories, window, strategy mechanics, costs, and gates were frozen before running. The panel is breadth evidence, not an optimizer.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Project/Time-Series-Modeling-Gen5/runs/research_workbench/literature_grounded/lit_mr_02_1_panel_a_20260728/mr02_panel_pair_registry.csv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Project/Time-Series-Modeling-Gen5/runs/research_workbench/literature_grounded/lit_mr_02_1_panel_a_20260728/mr02_panel_run_spec.csv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plot retains the predeclared registry order. It is not outcome-sorted. USO-XLE's positive point estimate had a wide interval spanning zero and failed the random-sign and forward-convergence gates.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Project/Time-Series-Modeling-Gen5/runs/research_workbench/literature_grounded/lit_mr_02_1_panel_a_20260728/mr02_panel_pair_summary.csv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Project/Time-Series-Modeling-Gen5/runs/research_workbench/literature_grounded/lit_mr_02_1_panel_a_20260728/visuals/mr02_panel_pair_net_return_ci.png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G4 is the cost-surviving trade-return gate. G8 is the signed forward-convergence gate. No primary pair passed either gate under the frozen 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Project/Time-Series-Modeling-Gen5/runs/research_workbench/literature_grounded/lit_mr_02_1_panel_a_20260728/mr02_panel_gate_summary.csv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Project/Time-Series-Modeling-Gen5/runs/research_workbench/literature_grounded/lit_mr_02_1_panel_a_20260728/mr02_panel_forward_convergence_summary.csv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Project/Time-Series-Modeling-Gen5/runs/research_workbench/literature_grounded/lit_mr_02_1_panel_a_20260728/visuals/mr02_panel_gate_heatmap.png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IVV-SPY and IAU-GLD were especially instructive: the relation was tight, but round-trip costs dominated the small gross spread movement. GLD-UUP and TLT-SPY showed frequent beta-sign changes, reinforcing the semantic warning.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Project/Time-Series-Modeling-Gen5/runs/research_workbench/literature_grounded/lit_mr_02_1_panel_a_20260728/mr02_panel_category_summary.csv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Project/Time-Series-Modeling-Gen5/runs/research_workbench/literature_grounded/lit_mr_02_1_panel_a_20260728/mr02_panel_inverse_diagnostics.csv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Project/Time-Series-Modeling-Gen5/runs/research_workbench/literature_grounded/lit_mr_02_1_panel_a_20260728/mr02_panel_pair_summary.csv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multi-window study, log-price construction, fixed-beta cointegration residual, or new exit logic would be a substantive new variant, not a reactive tweak to LIT-MR-02.1.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C:/Users/Franc/OneDrive/Documents/Francis/Peltata Project/Time-Series-Modeling-Gen5/docs/GEN5_LIT_MR_02_1_PANEL_A_CONTRACT.md</a:t>
            </a:r>
          </a:p>
          <a:p xmlns:a="http://schemas.openxmlformats.org/drawingml/2006/main">
            <a:r>
              <a:t>- C:/Users/Franc/OneDrive/Documents/Francis/Peltata Project/Time-Series-Modeling-Gen5/runs/research_workbench/literature_grounded/lit_mr_02_1_panel_a_20260728/mr02_panel_report.md</a:t>
            </a:r>
          </a:p>
          <a:p xmlns:a="http://schemas.openxmlformats.org/drawingml/2006/main">
            <a:r>
              <a:t>- C:/Users/Franc/OneDrive/Documents/Francis/Peltata Project/Time-Series-Modeling-Gen5/docs/GEN5_LITERATURE_GROUNDED_STRATEGY_RESEARCH_NOMENCLATURE.md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0396dfc7d84c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a9aeec3b12471b" /><Relationship Type="http://schemas.openxmlformats.org/officeDocument/2006/relationships/slideLayout" Target="/ppt/slideLayouts/slideLayout1.xml" Id="R23b317199c9a49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b317199c9a49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6cb9fb4cc4d3e" /><Relationship Type="http://schemas.openxmlformats.org/officeDocument/2006/relationships/notesSlide" Target="/ppt/notesSlides/notesSlide1.xml" Id="R406d9124a7ea4c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8e73a9bcc4ba4" /><Relationship Type="http://schemas.openxmlformats.org/officeDocument/2006/relationships/notesSlide" Target="/ppt/notesSlides/notesSlide2.xml" Id="R356c2482886143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d53acca034ca8" /><Relationship Type="http://schemas.openxmlformats.org/officeDocument/2006/relationships/notesSlide" Target="/ppt/notesSlides/notesSlide3.xml" Id="R00f7ef1a54fd45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47337f0d4421a" /><Relationship Type="http://schemas.openxmlformats.org/officeDocument/2006/relationships/notesSlide" Target="/ppt/notesSlides/notesSlide4.xml" Id="R04620e1c057745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b675e86ff4530" /><Relationship Type="http://schemas.openxmlformats.org/officeDocument/2006/relationships/image" Target="/ppt/media/image.png" Id="Re5f69c39882742cf" /><Relationship Type="http://schemas.openxmlformats.org/officeDocument/2006/relationships/image" Target="/ppt/media/image2.png" Id="R178cba244e0240b5" /><Relationship Type="http://schemas.openxmlformats.org/officeDocument/2006/relationships/notesSlide" Target="/ppt/notesSlides/notesSlide5.xml" Id="R0457feac4c9f4b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b297555b094d54" /><Relationship Type="http://schemas.openxmlformats.org/officeDocument/2006/relationships/notesSlide" Target="/ppt/notesSlides/notesSlide6.xml" Id="Rbb209ec4a1254a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86b22b8944aa2" /><Relationship Type="http://schemas.openxmlformats.org/officeDocument/2006/relationships/image" Target="/ppt/media/image.png" Id="Rd20e7075770149ce" /><Relationship Type="http://schemas.openxmlformats.org/officeDocument/2006/relationships/notesSlide" Target="/ppt/notesSlides/notesSlide7.xml" Id="R587aa86f2dff40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e65eb469a4c15" /><Relationship Type="http://schemas.openxmlformats.org/officeDocument/2006/relationships/image" Target="/ppt/media/image3.png" Id="R9369868b7c374e4d" /><Relationship Type="http://schemas.openxmlformats.org/officeDocument/2006/relationships/notesSlide" Target="/ppt/notesSlides/notesSlide8.xml" Id="Re0345f68a1934f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10cd2ed6043cd" /><Relationship Type="http://schemas.openxmlformats.org/officeDocument/2006/relationships/image" Target="/ppt/media/image4.png" Id="R87f298a9f7c14140" /><Relationship Type="http://schemas.openxmlformats.org/officeDocument/2006/relationships/notesSlide" Target="/ppt/notesSlides/notesSlide9.xml" Id="R39733702dac348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433d5f5d14f0c" /><Relationship Type="http://schemas.openxmlformats.org/officeDocument/2006/relationships/image" Target="/ppt/media/image5.png" Id="R2c8826080f6a4e38" /><Relationship Type="http://schemas.openxmlformats.org/officeDocument/2006/relationships/notesSlide" Target="/ppt/notesSlides/notesSlide10.xml" Id="R5f196fc0828c40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53e02b1124873" /><Relationship Type="http://schemas.openxmlformats.org/officeDocument/2006/relationships/image" Target="/ppt/media/image6.png" Id="Rc3e4612575e44d5e" /><Relationship Type="http://schemas.openxmlformats.org/officeDocument/2006/relationships/notesSlide" Target="/ppt/notesSlides/notesSlide11.xml" Id="Rbf4f25c5146e4b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dae79f07b14850" /><Relationship Type="http://schemas.openxmlformats.org/officeDocument/2006/relationships/notesSlide" Target="/ppt/notesSlides/notesSlide12.xml" Id="R0c80d2a70d9744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9359c4af04f47" /><Relationship Type="http://schemas.openxmlformats.org/officeDocument/2006/relationships/notesSlide" Target="/ppt/notesSlides/notesSlide13.xml" Id="R98e65a50c1af49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ad5075cae4eff" /><Relationship Type="http://schemas.openxmlformats.org/officeDocument/2006/relationships/image" Target="/ppt/media/image3.png" Id="R2dd8938e1a3548dd" /><Relationship Type="http://schemas.openxmlformats.org/officeDocument/2006/relationships/image" Target="/ppt/media/image7.png" Id="Rbb00bad3fafc4d9b" /><Relationship Type="http://schemas.openxmlformats.org/officeDocument/2006/relationships/notesSlide" Target="/ppt/notesSlides/notesSlide14.xml" Id="R8a570f455cad496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981e50d624b4a" /><Relationship Type="http://schemas.openxmlformats.org/officeDocument/2006/relationships/image" Target="/ppt/media/image6.png" Id="R7f37dc135b5846f7" /><Relationship Type="http://schemas.openxmlformats.org/officeDocument/2006/relationships/image" Target="/ppt/media/image8.png" Id="R3ac9a89ea0cb44af" /><Relationship Type="http://schemas.openxmlformats.org/officeDocument/2006/relationships/notesSlide" Target="/ppt/notesSlides/notesSlide15.xml" Id="Rf250729d88aa408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a5a54a8ded4ff2" /><Relationship Type="http://schemas.openxmlformats.org/officeDocument/2006/relationships/notesSlide" Target="/ppt/notesSlides/notesSlide16.xml" Id="Ra3eb1ce43e174b0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1b34d840d4974" /><Relationship Type="http://schemas.openxmlformats.org/officeDocument/2006/relationships/notesSlide" Target="/ppt/notesSlides/notesSlide17.xml" Id="Rb4dcf140b2244d6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ver-headline">
            <a:extLst xmlns:a="http://schemas.openxmlformats.org/drawingml/2006/main">
              <a:ext uri="{FF2B5EF4-FFF2-40B4-BE49-F238E27FC236}">
                <a16:creationId xmlns:a16="http://schemas.microsoft.com/office/drawing/2014/main" id="{DA6318FA-2F99-4DF9-A744-06350F91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2870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LIT-MR-02.1
from example to panel</a:t>
            </a:r>
          </a:p>
        </p:txBody>
      </p:sp>
      <p:sp>
        <p:nvSpPr>
          <p:cNvPr id="2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E169DF7F-9A3A-4AE2-8055-4ED35072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62500"/>
            <a:ext cx="8001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USO-GLD remains the canonical literature example. A predeclared 12-pair panel tests whether the same hypothesis template generalizes.</a:t>
            </a:r>
          </a:p>
        </p:txBody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2399950-CA2D-41D2-BB2E-E681018A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LITERATURE-GROUNDED STRATEGY RESEARCH | 28 JUL 2026</a:t>
            </a:r>
          </a:p>
        </p:txBody>
      </p:sp>
    </p:spTree>
    <p:extLst>
      <p:ext uri="{BB962C8B-B14F-4D97-AF65-F5344CB8AC3E}">
        <p14:creationId xmlns:p14="http://schemas.microsoft.com/office/powerpoint/2010/main" val="209289339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This is not single-asset Bollinger Bands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Chan first estimates a rolling raw-price hedge ratio, builds the two-asset unit-portfolio spread, and only then standardizes that spread. Example 3.2 explicitly reuses the raw-price construction from Example 3.1.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USO - β·GLD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Adaptive raw-price spread
—not either ETF alone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 sessions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Rolling OLS beta
and spread standardization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Price, not log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Source-faithful transform
Log price is a separate test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hedge ratio is a local price-unit conversion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At each close, regress Y on X using only the latest 20 closes: Y = alpha + beta X + error. Beta is an OLS slope, not correlation and not a claim of causality.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β = Cov(X,Y) / Var(X)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Slope: expected price-unit change in Y
per one-unit change in X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α = Ȳ − βX̄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Estimated in the regression
but omitted from the traded spread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Backward only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window ends at close t
No future observations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z-score asks how unusual today's spread is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First form the two-asset spread. Then compare today's spread with its own recent level and volatility. The bands belong to the relationship, not to either asset alone.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Sₜ = Yₜ − βₜXₜ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low spread means Y is cheap
relative to the fitted X leg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μₜ and σₜ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Rolling mean and standard deviation
of the latest 20 spread values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zₜ = (Sₜ − μₜ) / σₜ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Distance from the rolling mean
measured in recent spread volatility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F272998-B60C-44E0-849E-A04A8722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A16F9E5-1AF4-43B0-AB25-E3AE9829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spread signal becomes two executable dollar weights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5EE0E946-4B2C-4DE9-8839-3DE0D30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E0CA677-50AA-4CCF-BC5C-CB90210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Direction d = +1 when z &lt; −1
Direction d = −1 when z &gt; +1
Exit when z crosses zero
wY = dY / (Y + |β|X)
wX = −dβX / (Y + |β|X)
Gross exposure sums to one.
Signal at close; trade next open.
Daily beta changes create turnover.
Primary cost: 5 bp per one-way weight change.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69c39882742cf"/>
          <a:stretch xmlns:a="http://schemas.openxmlformats.org/drawingml/2006/main"/>
        </p:blipFill>
        <p:spPr>
          <a:xfrm xmlns:a="http://schemas.openxmlformats.org/drawingml/2006/main">
            <a:off x="6381750" y="1776196"/>
            <a:ext cx="5314950" cy="3019858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228C7B-FAD1-4EFC-8057-453D13C9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76196"/>
            <a:ext cx="5314950" cy="3019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8cba244e0240b5"/>
          <a:stretch xmlns:a="http://schemas.openxmlformats.org/drawingml/2006/main"/>
        </p:blipFill>
        <p:spPr>
          <a:xfrm xmlns:a="http://schemas.openxmlformats.org/drawingml/2006/main">
            <a:off x="6381750" y="1817520"/>
            <a:ext cx="5314950" cy="2937209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4089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Positive and negative beta imply different trades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algebra can fit co-moving or oppositely moving assets, but the portfolio meaning changes. We therefore trade only positive-beta pairs in this panel and treat inverse relationships as diagnostics.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β &gt; 0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Relative value: long one leg,
short the other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β &lt; 0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Long spread can mean long both assets;
not the same market-neutral trade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β sign flips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Position semantics can change
inside one backtest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F272998-B60C-44E0-849E-A04A8722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A16F9E5-1AF4-43B0-AB25-E3AE9829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frozen rule preserved the book's core mechanics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5EE0E946-4B2C-4DE9-8839-3DE0D30C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E0CA677-50AA-4CCF-BC5C-CB90210A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Signal after close
Execute next open
Enter long below -1z
Enter short above +1z
Exit at zero
One gross-normalized unit
Daily adaptive rehedging
5 bp per one-way weight change
No stop, target, max hold, or retuning.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0e7075770149ce"/>
          <a:stretch xmlns:a="http://schemas.openxmlformats.org/drawingml/2006/main"/>
        </p:blipFill>
        <p:spPr>
          <a:xfrm xmlns:a="http://schemas.openxmlformats.org/drawingml/2006/main">
            <a:off x="6381750" y="1776196"/>
            <a:ext cx="5314950" cy="3019858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408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9833E848-7434-4F2E-A17C-B17541CA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7B658F-9EDE-4B04-B790-BFC2AB1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stationary-looking spread was not a trading edge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CB5A1905-9B52-4859-9721-FAA3759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6D7A92E4-990F-443E-AA22-280485C8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56D2558C-A20F-4C70-893B-6EAB7EAA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dynamic spread produced a strongly negative ADF-style statistic and a 16.7-session half-life. But variance ratios exceeded one, and high z-scores predicted higher—not lower—forward spread returns.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5C6C71CB-7475-4DF6-B7F0-0931DF04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-8.43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471C1151-75AF-40A2-A5A1-4F7713D2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Dynamic-spread ADF t
Descriptive, not a verdict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423A9D83-D670-4C26-B583-F1C469F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+0.095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F039A1C2-F7F7-4D0E-BDC1-2BD29C9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z vs forward-five return
Wrong sign for reversion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9868b7c374e4d"/>
          <a:stretch xmlns:a="http://schemas.openxmlformats.org/drawingml/2006/main"/>
        </p:blipFill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60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31B1CDB-9946-498B-901E-0A0C9C77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E1FC061-EE2C-48CF-9799-D8537102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Trade-level and bar-level evidence both failed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EF0AF18E-87A6-431F-8D4F-59EC8945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9C01B021-FDE1-4776-B2EE-ACB76D12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A2F82FC1-3249-4254-ABAA-A2D0E0F9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rule generated enough trades in both directions, but the mean trade lost money, the hit rate was below 50%, and only two of five TRAIN years were positive.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06B274F5-6F7E-4432-B0F1-4874DA3C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-17.68 bp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99D2BB32-1C11-4B29-AF23-ED9F32D0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Mean primary-cost
net return per trade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2EAFD608-776D-46A1-95EA-79AF4E6F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49.1%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691BF8AE-236E-4677-8EAF-3CF0D5A2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Completed-trade
hit rate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298a9f7c14140"/>
          <a:stretch xmlns:a="http://schemas.openxmlformats.org/drawingml/2006/main"/>
        </p:blipFill>
        <p:spPr>
          <a:xfrm xmlns:a="http://schemas.openxmlformats.org/drawingml/2006/main">
            <a:off x="385858" y="2378821"/>
            <a:ext cx="5534216" cy="27671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8750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36482E3-0836-42EE-A424-2E869BA9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C7B3E2F-B15F-4CE7-9E93-D02FFAE5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Uncertainty and falsification offered no rescue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0537132A-D0A9-4B26-9624-49D1E882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9AF5A6DC-5240-4747-8A2C-59E91119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87467A1C-2B62-4E3A-A37F-25E47B9B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mean sat inside a very wide interval and below the p90 of random trade directions with the same timing, pair path, holding periods, and primary costs.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FE80A7F4-6D99-4C52-B848-EAE13056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[-121, +83]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E40BF187-37D5-4CDB-9030-4E2CB386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95% interval
bp per trade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D938F8F7-A9FF-49C0-ABE1-4CC871B4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F59E0B"/>
                </a:solidFill>
                <a:latin typeface="Helvetica Neue"/>
                <a:ea typeface="Helvetica Neue"/>
                <a:cs typeface="Helvetica Neue"/>
              </a:defRPr>
            </a:pPr>
            <a:r>
              <a:t>+47.88 bp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197A8950-A2B2-4FCE-A738-88CF2DF9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Matched random-sign p90
Observed: -17.68 bp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8826080f6a4e38"/>
          <a:stretch xmlns:a="http://schemas.openxmlformats.org/drawingml/2006/main"/>
        </p:blipFill>
        <p:spPr>
          <a:xfrm xmlns:a="http://schemas.openxmlformats.org/drawingml/2006/main">
            <a:off x="385858" y="2444705"/>
            <a:ext cx="5534216" cy="263534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127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D1F4916-B18D-4F3F-8812-75A699D9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B77D9D-0CB0-4878-9A4A-2687A311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Representative trades show why zero-crossing is not enough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6220C938-B9AD-4B79-90E3-107E303A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F760EC2-C6B5-4968-A4B1-EBAD286B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tape includes both long- and short-spread trades across the return distribution.
Some z-scores crossed zero only after large adverse pair moves. A normalized z-score crossing does not guarantee that the tradable legs produced a positive return.
Worst shown: -1,254.7 bp
Best shown: +809.6 bp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4612575e44d5e"/>
          <a:stretch xmlns:a="http://schemas.openxmlformats.org/drawingml/2006/main"/>
        </p:blipFill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6343675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Six substantive failures force a structural STOP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12 integrity checks passed and trade support was adequate. Positive-beta coverage, cost survival, hit rate, random-sign separation, yearly stability, and forward convergence all failed.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2 / 8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gates passed
Integrity and support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6 / 8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TRAIN gates failed
Mechanism not admitted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Later partitions opened
No later evidence exists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8D249104-692F-481F-82EC-326C84E9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02412AD9-1F13-493C-BF6C-FD8BDE7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63597CCF-F233-4A0C-BCFA-192F852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1E272E4-82E7-4287-91C5-21E6B629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0ED332F-4F42-421E-99CF-097B6CBB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panel was fixed before any outcomes were inspected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E3D1AF2D-950D-495D-BB07-182C768A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12 primary pairs use the identical 2016-2020 TRAIN window, raw-price orientation, 20-session rule, thresholds, execution timing, costs, diagnostics, and eight gates.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447A29C0-2600-4241-BF6B-6797417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5 near substitutes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1D2A853D-A304-477D-B8B8-F77F0101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IVV-SPY · IAU-GLD · SOXX-SMH
VEA-EFA · VWO-EEM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342C60B8-5C35-4607-932D-DFD8E206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 related exposures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3123331A-6BB6-4FC3-B18C-EE98C6A8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QQQ-XLK · IJR-IWM · KRE-XLF · IBB-XLV
USO-XLE · TLT-IEF · HYG-LQD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A0AD0C21-BC31-4957-B0CB-525311D4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 inverse diagnostics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86C9D445-5711-4319-B967-D72E959C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GLD-UUP · TLT-SPY
Semantics tested; no trades</a:t>
            </a:r>
          </a:p>
        </p:txBody>
      </p:sp>
    </p:spTree>
    <p:extLst>
      <p:ext uri="{BB962C8B-B14F-4D97-AF65-F5344CB8AC3E}">
        <p14:creationId xmlns:p14="http://schemas.microsoft.com/office/powerpoint/2010/main" val="209824963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9833E848-7434-4F2E-A17C-B17541CA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17B658F-9EDE-4B04-B790-BFC2AB1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fixed panel produced no full validation pass</a:t>
            </a:r>
          </a:p>
        </p:txBody>
      </p:sp>
      <p:sp>
        <p:nvSpPr>
          <p:cNvPr id="3" name="left-stat-card">
            <a:extLst xmlns:a="http://schemas.openxmlformats.org/drawingml/2006/main">
              <a:ext uri="{FF2B5EF4-FFF2-40B4-BE49-F238E27FC236}">
                <a16:creationId xmlns:a16="http://schemas.microsoft.com/office/drawing/2014/main" id="{CB5A1905-9B52-4859-9721-FAA3759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ight-stat-card">
            <a:extLst xmlns:a="http://schemas.openxmlformats.org/drawingml/2006/main">
              <a:ext uri="{FF2B5EF4-FFF2-40B4-BE49-F238E27FC236}">
                <a16:creationId xmlns:a16="http://schemas.microsoft.com/office/drawing/2014/main" id="{6D7A92E4-990F-443E-AA22-280485C8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summary">
            <a:extLst xmlns:a="http://schemas.openxmlformats.org/drawingml/2006/main">
              <a:ext uri="{FF2B5EF4-FFF2-40B4-BE49-F238E27FC236}">
                <a16:creationId xmlns:a16="http://schemas.microsoft.com/office/drawing/2014/main" id="{56D2558C-A20F-4C70-893B-6EAB7EAA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714500"/>
            <a:ext cx="5539835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Eleven of twelve primary pairs had negative mean net trade returns. Confidence intervals and forward-convergence tests prevented the one positive point estimate from becoming a selected winner.</a:t>
            </a:r>
          </a:p>
        </p:txBody>
      </p:sp>
      <p:sp>
        <p:nvSpPr>
          <p:cNvPr id="6" name="left-stat">
            <a:extLst xmlns:a="http://schemas.openxmlformats.org/drawingml/2006/main">
              <a:ext uri="{FF2B5EF4-FFF2-40B4-BE49-F238E27FC236}">
                <a16:creationId xmlns:a16="http://schemas.microsoft.com/office/drawing/2014/main" id="{5C6C71CB-7475-4DF6-B7F0-0931DF04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0 / 12</a:t>
            </a:r>
          </a:p>
        </p:txBody>
      </p:sp>
      <p:sp>
        <p:nvSpPr>
          <p:cNvPr id="7" name="left-stat-label">
            <a:extLst xmlns:a="http://schemas.openxmlformats.org/drawingml/2006/main">
              <a:ext uri="{FF2B5EF4-FFF2-40B4-BE49-F238E27FC236}">
                <a16:creationId xmlns:a16="http://schemas.microsoft.com/office/drawing/2014/main" id="{471C1151-75AF-40A2-A5A1-4F7713D2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Primary pairs passing
all eight gates</a:t>
            </a:r>
          </a:p>
        </p:txBody>
      </p:sp>
      <p:sp>
        <p:nvSpPr>
          <p:cNvPr id="8" name="right-stat">
            <a:extLst xmlns:a="http://schemas.openxmlformats.org/drawingml/2006/main">
              <a:ext uri="{FF2B5EF4-FFF2-40B4-BE49-F238E27FC236}">
                <a16:creationId xmlns:a16="http://schemas.microsoft.com/office/drawing/2014/main" id="{423A9D83-D670-4C26-B583-F1C469F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1 / 12</a:t>
            </a:r>
          </a:p>
        </p:txBody>
      </p:sp>
      <p:sp>
        <p:nvSpPr>
          <p:cNvPr id="9" name="right-stat-label">
            <a:extLst xmlns:a="http://schemas.openxmlformats.org/drawingml/2006/main">
              <a:ext uri="{FF2B5EF4-FFF2-40B4-BE49-F238E27FC236}">
                <a16:creationId xmlns:a16="http://schemas.microsoft.com/office/drawing/2014/main" id="{F039A1C2-F7F7-4D0E-BDC1-2BD29C9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4953000"/>
            <a:ext cx="2066735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Positive mean net return
USO-XLE only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8938e1a3548dd"/>
          <a:stretch xmlns:a="http://schemas.openxmlformats.org/drawingml/2006/main"/>
        </p:blipFill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C8B50-6D11-41E2-81BC-7768CA7E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58" y="2576472"/>
            <a:ext cx="5534216" cy="237180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0bad3fafc4d9b"/>
          <a:stretch xmlns:a="http://schemas.openxmlformats.org/drawingml/2006/main"/>
        </p:blipFill>
        <p:spPr>
          <a:xfrm xmlns:a="http://schemas.openxmlformats.org/drawingml/2006/main">
            <a:off x="1350393" y="2576472"/>
            <a:ext cx="3605147" cy="2371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604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D1F4916-B18D-4F3F-8812-75A699D9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CB77D9D-0CB0-4878-9A4A-2687A311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5537168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Breadth did not rescue the 20-session template</a:t>
            </a:r>
          </a:p>
        </p:txBody>
      </p:sp>
      <p:sp>
        <p:nvSpPr>
          <p:cNvPr id="3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6220C938-B9AD-4B79-90E3-107E303A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F760EC2-C6B5-4968-A4B1-EBAD286B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695450"/>
            <a:ext cx="5537168" cy="423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Every primary pair failed the positive-mean-with-positive-lower-bound gate.
Every primary pair also failed the forward-convergence requirement that the upper confidence bound remain below zero.
This matters: a spread can look statistically structured yet still offer no robust, cost-surviving directional forecast.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7dc135b5846f7"/>
          <a:stretch xmlns:a="http://schemas.openxmlformats.org/drawingml/2006/main"/>
        </p:blipFill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B8A64-ACC9-4498-AEAE-0060DC18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95005"/>
            <a:ext cx="5314950" cy="33822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9a89ea0cb44af"/>
          <a:stretch xmlns:a="http://schemas.openxmlformats.org/drawingml/2006/main"/>
        </p:blipFill>
        <p:spPr>
          <a:xfrm xmlns:a="http://schemas.openxmlformats.org/drawingml/2006/main">
            <a:off x="6381750" y="1704295"/>
            <a:ext cx="5314950" cy="3163661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6343675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t-card-1">
            <a:extLst xmlns:a="http://schemas.openxmlformats.org/drawingml/2006/main">
              <a:ext uri="{FF2B5EF4-FFF2-40B4-BE49-F238E27FC236}">
                <a16:creationId xmlns:a16="http://schemas.microsoft.com/office/drawing/2014/main" id="{E92BF88A-D985-4E89-9220-AED80DBB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stat-card-2">
            <a:extLst xmlns:a="http://schemas.openxmlformats.org/drawingml/2006/main">
              <a:ext uri="{FF2B5EF4-FFF2-40B4-BE49-F238E27FC236}">
                <a16:creationId xmlns:a16="http://schemas.microsoft.com/office/drawing/2014/main" id="{18F3FD71-2B01-497E-B7A5-AD72E3A3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stat-card-3">
            <a:extLst xmlns:a="http://schemas.openxmlformats.org/drawingml/2006/main">
              <a:ext uri="{FF2B5EF4-FFF2-40B4-BE49-F238E27FC236}">
                <a16:creationId xmlns:a16="http://schemas.microsoft.com/office/drawing/2014/main" id="{A256A665-F93B-46DB-A120-F2929BE3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8B8FEAA9-7122-4602-AAFA-C856C71C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16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6B999DAA-321B-4DEF-AC22-1F41A5B8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categories failed for different reasons</a:t>
            </a:r>
          </a:p>
        </p:txBody>
      </p:sp>
      <p:sp>
        <p:nvSpPr>
          <p:cNvPr id="6" name="intro">
            <a:extLst xmlns:a="http://schemas.openxmlformats.org/drawingml/2006/main">
              <a:ext uri="{FF2B5EF4-FFF2-40B4-BE49-F238E27FC236}">
                <a16:creationId xmlns:a16="http://schemas.microsoft.com/office/drawing/2014/main" id="{B83D39E3-1D42-4CA4-A507-6C07CD20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219200"/>
            <a:ext cx="11404568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This is more informative than a single failed pair: tight substitutes had too little gross movement after costs; looser exposures offered more movement but unreliable convergence; inverse pairs changed the trade itself.</a:t>
            </a:r>
          </a:p>
        </p:txBody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CE99FBCB-3F61-4E2C-9916-C8B37E0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t>0 / 5</a:t>
            </a:r>
          </a:p>
        </p:txBody>
      </p:sp>
      <p:sp>
        <p:nvSpPr>
          <p:cNvPr id="8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8D7A7BD1-1D20-421E-BAC5-DFF695BB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980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Near substitutes with positive mean
Costs overwhelmed tiny convergence</a:t>
            </a:r>
          </a:p>
        </p:txBody>
      </p:sp>
      <p:sp>
        <p:nvSpPr>
          <p:cNvPr id="9" name="stat-2">
            <a:extLst xmlns:a="http://schemas.openxmlformats.org/drawingml/2006/main">
              <a:ext uri="{FF2B5EF4-FFF2-40B4-BE49-F238E27FC236}">
                <a16:creationId xmlns:a16="http://schemas.microsoft.com/office/drawing/2014/main" id="{E572DBE1-8080-407B-A0FF-815818B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t>1 / 7</a:t>
            </a:r>
          </a:p>
        </p:txBody>
      </p:sp>
      <p:sp>
        <p:nvSpPr>
          <p:cNvPr id="10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FD56EAD1-B269-48E0-9F23-33330F2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Related exposures with positive mean
USO-XLE still failed four gates</a:t>
            </a:r>
          </a:p>
        </p:txBody>
      </p:sp>
      <p:sp>
        <p:nvSpPr>
          <p:cNvPr id="11" name="stat-3">
            <a:extLst xmlns:a="http://schemas.openxmlformats.org/drawingml/2006/main">
              <a:ext uri="{FF2B5EF4-FFF2-40B4-BE49-F238E27FC236}">
                <a16:creationId xmlns:a16="http://schemas.microsoft.com/office/drawing/2014/main" id="{9C6C64B0-28CA-4923-800E-94342CB6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t>No trades</a:t>
            </a:r>
          </a:p>
        </p:txBody>
      </p:sp>
      <p:sp>
        <p:nvSpPr>
          <p:cNvPr id="12" name="stat-label-3">
            <a:extLst xmlns:a="http://schemas.openxmlformats.org/drawingml/2006/main">
              <a:ext uri="{FF2B5EF4-FFF2-40B4-BE49-F238E27FC236}">
                <a16:creationId xmlns:a16="http://schemas.microsoft.com/office/drawing/2014/main" id="{0ED31E12-360E-4FDB-B429-1A6368F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45720" rIns="91440" bIns="4572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Inverse challengers had same-side semantics
and unstable beta signs</a:t>
            </a:r>
          </a:p>
        </p:txBody>
      </p:sp>
    </p:spTree>
    <p:extLst>
      <p:ext uri="{BB962C8B-B14F-4D97-AF65-F5344CB8AC3E}">
        <p14:creationId xmlns:p14="http://schemas.microsoft.com/office/powerpoint/2010/main" val="150026174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ver-headline">
            <a:extLst xmlns:a="http://schemas.openxmlformats.org/drawingml/2006/main">
              <a:ext uri="{FF2B5EF4-FFF2-40B4-BE49-F238E27FC236}">
                <a16:creationId xmlns:a16="http://schemas.microsoft.com/office/drawing/2014/main" id="{E9F43BB9-4202-4A42-9916-7A06678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2870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99123"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template is useful.
The frozen panel did not validate it.</a:t>
            </a:r>
          </a:p>
        </p:txBody>
      </p:sp>
      <p:sp>
        <p:nvSpPr>
          <p:cNvPr id="2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6F90063-BA30-438B-9FD3-13AA2271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62500"/>
            <a:ext cx="8001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Keep USO-GLD as the canonical literature example and Panel A as breadth evidence. Do not select USO-XLE or vary the window after seeing these outcomes.</a:t>
            </a:r>
          </a:p>
        </p:txBody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5129715-75DE-4D50-B44D-3AFE3EBA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DECISION</a:t>
            </a:r>
          </a:p>
        </p:txBody>
      </p:sp>
    </p:spTree>
    <p:extLst>
      <p:ext uri="{BB962C8B-B14F-4D97-AF65-F5344CB8AC3E}">
        <p14:creationId xmlns:p14="http://schemas.microsoft.com/office/powerpoint/2010/main" val="16642401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2026-07-28T17:22:52.5940000Z</dcterms:created>
  <dcterms:modified xsi:type="dcterms:W3CDTF">2026-07-28T17:22:52.5940000Z</dcterms:modified>
</coreProperties>
</file>