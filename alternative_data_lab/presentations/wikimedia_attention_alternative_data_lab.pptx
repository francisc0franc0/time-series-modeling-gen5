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94d8ab459433c" /><Relationship Type="http://schemas.openxmlformats.org/officeDocument/2006/relationships/extended-properties" Target="/docProps/app.xml" Id="R0da8d09966354779" /><Relationship Type="http://schemas.openxmlformats.org/officeDocument/2006/relationships/officeDocument" Target="/ppt/presentation.xml" Id="R839548977db149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2fe3a22f554117"/>
  </p:sldMasterIdLst>
  <p:notesMasterIdLst>
    <p:notesMasterId xmlns:r="http://schemas.openxmlformats.org/officeDocument/2006/relationships" r:id="R93a74d43f58c4b4a"/>
  </p:notesMasterIdLst>
  <p:sldIdLst>
    <p:sldId xmlns:r="http://schemas.openxmlformats.org/officeDocument/2006/relationships" id="256" r:id="R390ac2645bdf4c44"/>
    <p:sldId xmlns:r="http://schemas.openxmlformats.org/officeDocument/2006/relationships" id="257" r:id="Rf5d9e6cbf1bb483b"/>
    <p:sldId xmlns:r="http://schemas.openxmlformats.org/officeDocument/2006/relationships" id="258" r:id="R6ec982a6e3504cf0"/>
    <p:sldId xmlns:r="http://schemas.openxmlformats.org/officeDocument/2006/relationships" id="259" r:id="R9245ee3a14e546b4"/>
    <p:sldId xmlns:r="http://schemas.openxmlformats.org/officeDocument/2006/relationships" id="260" r:id="R16a671ee34d94110"/>
    <p:sldId xmlns:r="http://schemas.openxmlformats.org/officeDocument/2006/relationships" id="261" r:id="Rc217975a86c44033"/>
    <p:sldId xmlns:r="http://schemas.openxmlformats.org/officeDocument/2006/relationships" id="262" r:id="Rb319cf96e7f846d2"/>
    <p:sldId xmlns:r="http://schemas.openxmlformats.org/officeDocument/2006/relationships" id="263" r:id="R09b1865bc7294b94"/>
    <p:sldId xmlns:r="http://schemas.openxmlformats.org/officeDocument/2006/relationships" id="264" r:id="R68cc80555c6345ed"/>
    <p:sldId xmlns:r="http://schemas.openxmlformats.org/officeDocument/2006/relationships" id="265" r:id="Rfa203ecd7b4b4eef"/>
    <p:sldId xmlns:r="http://schemas.openxmlformats.org/officeDocument/2006/relationships" id="266" r:id="R3244d5f711ef4f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7efd93a5c4a32" /><Relationship Type="http://schemas.openxmlformats.org/officeDocument/2006/relationships/slideMaster" Target="/ppt/slideMasters/slideMaster1.xml" Id="R222fe3a22f554117" /><Relationship Type="http://schemas.openxmlformats.org/officeDocument/2006/relationships/notesMaster" Target="/ppt/notesMasters/notesMaster1.xml" Id="R93a74d43f58c4b4a" /><Relationship Type="http://schemas.openxmlformats.org/officeDocument/2006/relationships/presProps" Target="/ppt/presProps.xml" Id="R5c242c14c5d24321" /><Relationship Type="http://schemas.openxmlformats.org/officeDocument/2006/relationships/tableStyles" Target="/ppt/tableStyles.xml" Id="R4cc341674a7d4432" /><Relationship Type="http://schemas.openxmlformats.org/officeDocument/2006/relationships/slide" Target="/ppt/slides/slide1.xml" Id="R390ac2645bdf4c44" /><Relationship Type="http://schemas.openxmlformats.org/officeDocument/2006/relationships/slide" Target="/ppt/slides/slide2.xml" Id="Rf5d9e6cbf1bb483b" /><Relationship Type="http://schemas.openxmlformats.org/officeDocument/2006/relationships/slide" Target="/ppt/slides/slide3.xml" Id="R6ec982a6e3504cf0" /><Relationship Type="http://schemas.openxmlformats.org/officeDocument/2006/relationships/slide" Target="/ppt/slides/slide4.xml" Id="R9245ee3a14e546b4" /><Relationship Type="http://schemas.openxmlformats.org/officeDocument/2006/relationships/slide" Target="/ppt/slides/slide5.xml" Id="R16a671ee34d94110" /><Relationship Type="http://schemas.openxmlformats.org/officeDocument/2006/relationships/slide" Target="/ppt/slides/slide6.xml" Id="Rc217975a86c44033" /><Relationship Type="http://schemas.openxmlformats.org/officeDocument/2006/relationships/slide" Target="/ppt/slides/slide7.xml" Id="Rb319cf96e7f846d2" /><Relationship Type="http://schemas.openxmlformats.org/officeDocument/2006/relationships/slide" Target="/ppt/slides/slide8.xml" Id="R09b1865bc7294b94" /><Relationship Type="http://schemas.openxmlformats.org/officeDocument/2006/relationships/slide" Target="/ppt/slides/slide9.xml" Id="R68cc80555c6345ed" /><Relationship Type="http://schemas.openxmlformats.org/officeDocument/2006/relationships/slide" Target="/ppt/slides/slide10.xml" Id="Rfa203ecd7b4b4eef" /><Relationship Type="http://schemas.openxmlformats.org/officeDocument/2006/relationships/slide" Target="/ppt/slides/slide11.xml" Id="R3244d5f711ef4f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de4b74a33543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f7608e3964d3e" /><Relationship Type="http://schemas.openxmlformats.org/officeDocument/2006/relationships/notesMaster" Target="/ppt/notesMasters/notesMaster1.xml" Id="R81385148e8c844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cb95b3ab964f7e" /><Relationship Type="http://schemas.openxmlformats.org/officeDocument/2006/relationships/notesMaster" Target="/ppt/notesMasters/notesMaster1.xml" Id="Rdfacf877842445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157864ac094b7f" /><Relationship Type="http://schemas.openxmlformats.org/officeDocument/2006/relationships/notesMaster" Target="/ppt/notesMasters/notesMaster1.xml" Id="Rb5bb7b93e4a04e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b6a011cbe74165" /><Relationship Type="http://schemas.openxmlformats.org/officeDocument/2006/relationships/notesMaster" Target="/ppt/notesMasters/notesMaster1.xml" Id="R3157548a10b447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6300f73fc14dd4" /><Relationship Type="http://schemas.openxmlformats.org/officeDocument/2006/relationships/notesMaster" Target="/ppt/notesMasters/notesMaster1.xml" Id="R03cce432a42442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0fb64d69f34b01" /><Relationship Type="http://schemas.openxmlformats.org/officeDocument/2006/relationships/notesMaster" Target="/ppt/notesMasters/notesMaster1.xml" Id="Ree7517128bb44c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b3bc6b596b497f" /><Relationship Type="http://schemas.openxmlformats.org/officeDocument/2006/relationships/notesMaster" Target="/ppt/notesMasters/notesMaster1.xml" Id="R1a32278b9ed841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4e6581c9e6481c" /><Relationship Type="http://schemas.openxmlformats.org/officeDocument/2006/relationships/notesMaster" Target="/ppt/notesMasters/notesMaster1.xml" Id="R63aa3aaff72b41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1b797219de408d" /><Relationship Type="http://schemas.openxmlformats.org/officeDocument/2006/relationships/notesMaster" Target="/ppt/notesMasters/notesMaster1.xml" Id="R4dd4ad0a30dc40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75a17345964a64" /><Relationship Type="http://schemas.openxmlformats.org/officeDocument/2006/relationships/notesMaster" Target="/ppt/notesMasters/notesMaster1.xml" Id="R3ebf6d9361b544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4e62126e82490a" /><Relationship Type="http://schemas.openxmlformats.org/officeDocument/2006/relationships/notesMaster" Target="/ppt/notesMasters/notesMaster1.xml" Id="R42f5ab2956554f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records three sequential research slices. It does not establish edge or a trading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Project/Time-Series-Modeling-Gen5/runs/research_workbench/alternative_data_lab/wikimedia_attention_gamestop_20260901/report.md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Project/Time-Series-Modeling-Gen5/runs/research_workbench/alternative_data_lab/wikimedia_attention_gamestop_20260901/visuals/gamestop_wikipedia_pageviews_2019_2023.png</a:t>
            </a:r>
          </a:p>
          <a:p xmlns:a="http://schemas.openxmlformats.org/drawingml/2006/main">
            <a:r>
              <a:t>- https://doc.wikimedia.org/generated-data-platform/aqs/analytics-api/examples/page-metrics.html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sequence is cumulative: each slice changes only the question necessary to interpret the prior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Project/Time-Series-Modeling-Gen5/runs/research_workbench/alternative_data_lab/wikimedia_attention_gamestop_20260901/report.md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Project/Time-Series-Modeling-Gen5/runs/research_workbench/alternative_data_lab/wikimedia_attention_lead_gme_20260901/report.md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2021 episode is a positive-control sanity check for the data pipeline, not evidence of a leading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Project/Time-Series-Modeling-Gen5/runs/research_workbench/alternative_data_lab/wikimedia_attention_gamestop_20260901/report.md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Project/Time-Series-Modeling-Gen5/runs/research_workbench/alternative_data_lab/wikimedia_attention_gamestop_20260901/visuals/gamestop_wikipedia_pageviews_2019_2023.png</a:t>
            </a:r>
          </a:p>
          <a:p xmlns:a="http://schemas.openxmlformats.org/drawingml/2006/main">
            <a:r>
              <a:t>- https://doc.wikimedia.org/generated-data-platform/aqs/analytics-api/examples/page-metrics.html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48-hour safeguard is a conservative research choice. A faster claim would require prospective receipt-time capture.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Project/Time-Series-Modeling-Gen5/runs/research_workbench/alternative_data_lab/wikimedia_attention_lead_gme_20260901/report.md</a:t>
            </a:r>
          </a:p>
          <a:p xmlns:a="http://schemas.openxmlformats.org/drawingml/2006/main">
            <a:r>
              <a:t>- https://doc.wikimedia.org/generated-data-platform/aqs/analytics-api/examples/page-metrics.html</a:t>
            </a:r>
          </a:p>
          <a:p xmlns:a="http://schemas.openxmlformats.org/drawingml/2006/main">
            <a:r>
              <a:t>- https://doc.wikimedia.org/generated-data-platform/aqs/analytics-api/documentation/troubleshooting.html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same-session reaction panel is not tradable; the causal forward panel is the only leading-signal surface.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Project/Time-Series-Modeling-Gen5/runs/research_workbench/alternative_data_lab/wikimedia_attention_lead_gme_20260901/report.md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Project/Time-Series-Modeling-Gen5/runs/research_workbench/alternative_data_lab/wikimedia_attention_lead_gme_20260901/descriptive_summary.csv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Project/Time-Series-Modeling-Gen5/runs/research_workbench/alternative_data_lab/wikimedia_attention_lead_gme_20260901/visuals/attention_reaction_vs_causal_forward.png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explanation is an interpretation of the locally generated scatterplots and correlation summaries.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Project/Time-Series-Modeling-Gen5/runs/research_workbench/alternative_data_lab/wikimedia_attention_lead_gme_20260901/report.md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responses were frozen before the magnitude packet was run; no additional horizon or volume surface was 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completed same-session magnitude control was much stronger, consistent with attention reacting to extraordinary price episodes.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Project/Time-Series-Modeling-Gen5/runs/research_workbench/alternative_data_lab/wikimedia_attention_magnitude_gme_20260901/descriptive_summary.csv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Project/Time-Series-Modeling-Gen5/runs/research_workbench/alternative_data_lab/wikimedia_attention_magnitude_gme_20260901/visuals/attention_vs_future_move_magnitude.png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medians are roughly flat and non-monotone; the highest bin is not uniquely separated from the lowest bins.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Project/Time-Series-Modeling-Gen5/runs/research_workbench/alternative_data_lab/wikimedia_attention_magnitude_gme_20260901/attention_bin_summary.csv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Project/Time-Series-Modeling-Gen5/runs/research_workbench/alternative_data_lab/wikimedia_attention_magnitude_gme_20260901/visuals/attention_deciles_vs_future_magnitude.png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stops are specific to the frozen GameStop article feature, conservative historical clock, GME, and one-session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Project/Time-Series-Modeling-Gen5/runs/research_workbench/alternative_data_lab/wikimedia_attention_lead_gme_20260901/report.md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recommended next action is a huddle, not another automated scan.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Project/Time-Series-Modeling-Gen5/runs/research_workbench/alternative_data_lab/wikimedia_attention_gamestop_20260901/report.md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Project/Time-Series-Modeling-Gen5/runs/research_workbench/alternative_data_lab/wikimedia_attention_lead_gme_20260901/report.md</a:t>
            </a:r>
          </a:p>
          <a:p xmlns:a="http://schemas.openxmlformats.org/drawingml/2006/main">
            <a:r>
              <a:t>- C:/Users/Franc/OneDrive/Documents/Francis/Peltata Project/Time-Series-Modeling-Gen5/runs/research_workbench/alternative_data_lab/wikimedia_attention_magnitude_gme_20260901/report.md</a:t>
            </a:r>
          </a:p>
          <a:p xmlns:a="http://schemas.openxmlformats.org/drawingml/2006/main">
            <a:r>
              <a:t>- https://doc.wikimedia.org/generated-data-platform/aqs/analytics-api/documentation/troubleshooting.html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468ce4dc24f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c15c9daaa49dc" /><Relationship Type="http://schemas.openxmlformats.org/officeDocument/2006/relationships/slideLayout" Target="/ppt/slideLayouts/slideLayout1.xml" Id="R40686645f3c9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686645f3c9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90217fb1c41ac" /><Relationship Type="http://schemas.openxmlformats.org/officeDocument/2006/relationships/image" Target="/ppt/media/image.png" Id="R23f28fdecd9e48a3" /><Relationship Type="http://schemas.openxmlformats.org/officeDocument/2006/relationships/notesSlide" Target="/ppt/notesSlides/notesSlide1.xml" Id="Rbd3a1fceb10a43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9a161d0e64ed7" /><Relationship Type="http://schemas.openxmlformats.org/officeDocument/2006/relationships/notesSlide" Target="/ppt/notesSlides/notesSlide2.xml" Id="R0ebeaf0b21ac42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136240d7046bb" /><Relationship Type="http://schemas.openxmlformats.org/officeDocument/2006/relationships/image" Target="/ppt/media/image2.png" Id="R6277f7d4e0204726" /><Relationship Type="http://schemas.openxmlformats.org/officeDocument/2006/relationships/notesSlide" Target="/ppt/notesSlides/notesSlide3.xml" Id="R7e4d7a0933a743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3682c7f984565" /><Relationship Type="http://schemas.openxmlformats.org/officeDocument/2006/relationships/notesSlide" Target="/ppt/notesSlides/notesSlide4.xml" Id="R565e7829fdbb43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a4d7230f942dc" /><Relationship Type="http://schemas.openxmlformats.org/officeDocument/2006/relationships/image" Target="/ppt/media/image3.png" Id="R8bbc3a061919401f" /><Relationship Type="http://schemas.openxmlformats.org/officeDocument/2006/relationships/notesSlide" Target="/ppt/notesSlides/notesSlide5.xml" Id="R186225cbb06849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68b8ec1144b22" /><Relationship Type="http://schemas.openxmlformats.org/officeDocument/2006/relationships/notesSlide" Target="/ppt/notesSlides/notesSlide6.xml" Id="R180f4ebf4cde4f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a3c81da5449c2" /><Relationship Type="http://schemas.openxmlformats.org/officeDocument/2006/relationships/notesSlide" Target="/ppt/notesSlides/notesSlide7.xml" Id="R24da051b6e8440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bcf049a904768" /><Relationship Type="http://schemas.openxmlformats.org/officeDocument/2006/relationships/image" Target="/ppt/media/image4.png" Id="R8a40bb906ca14aa4" /><Relationship Type="http://schemas.openxmlformats.org/officeDocument/2006/relationships/notesSlide" Target="/ppt/notesSlides/notesSlide8.xml" Id="R2b635a9d80aa41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4578d4c7543aa" /><Relationship Type="http://schemas.openxmlformats.org/officeDocument/2006/relationships/image" Target="/ppt/media/image5.png" Id="Rc78aa1c4c11f4324" /><Relationship Type="http://schemas.openxmlformats.org/officeDocument/2006/relationships/notesSlide" Target="/ppt/notesSlides/notesSlide9.xml" Id="Rde23eb185ab444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2ae721cdb47e9" /><Relationship Type="http://schemas.openxmlformats.org/officeDocument/2006/relationships/notesSlide" Target="/ppt/notesSlides/notesSlide10.xml" Id="R60f7c472711843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2a34ddeba4733" /><Relationship Type="http://schemas.openxmlformats.org/officeDocument/2006/relationships/notesSlide" Target="/ppt/notesSlides/notesSlide11.xml" Id="R926b53578b3e43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8178E-7184-4172-80C2-2E157D30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ALTERNATIVE DATA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66B44-9264-4019-A0CA-A7CA960F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3340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Wikipedia attention</a:t>
            </a:r>
          </a:p>
          <a:p xmlns:a="http://schemas.openxmlformats.org/drawingml/2006/main">
            <a:pPr algn="l">
              <a:defRPr sz="4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as a market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64859-C264-4B32-806E-406BA415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GameStop collection, directional lead, and magnitude follow-up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93546-1E2A-4053-8BD8-750E0203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2019–2023 research window · causal availability clock · no strategy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76DF1-21D2-4933-B1D3-049BBF8A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"/>
            <a:ext cx="55816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28fdecd9e48a3"/>
          <a:stretch xmlns:a="http://schemas.openxmlformats.org/drawingml/2006/main"/>
        </p:blipFill>
        <p:spPr>
          <a:xfrm xmlns:a="http://schemas.openxmlformats.org/drawingml/2006/main">
            <a:off x="6210300" y="1731545"/>
            <a:ext cx="5581650" cy="29377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A4134-593B-4F74-911B-11D565CF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1985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55B115A-E2B1-4C66-A0C4-69570D9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lane asks one causal question at a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06F63-647F-4B68-BBCB-F4C2A1E8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6EFDC5CF-1B45-40AB-A9FF-92849B4C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FA866-8F91-4A69-86D4-09EA6A3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8854B-8A4F-4015-A323-28EEBEC9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36A30-447F-498E-85DA-60DE1D18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DBFC7-5F46-49A6-A69D-2FBEF5A9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2714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public attention be collected, timestamped, audited, and visualized?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8F569-B93C-42FB-8057-38AF531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769E8-B16C-4906-9F34-E4523C0A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C5C3D-BADD-4647-97F7-A8A7CED3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33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55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553D"/>
                </a:solidFill>
                <a:latin typeface="Arial"/>
                <a:ea typeface="Arial"/>
                <a:cs typeface="Arial"/>
              </a:rPr>
              <a:t>TEST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31227-DB76-4338-886E-A7AB2E98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2714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Does an attention surprise precede a positive next-session return?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AA483-2977-4478-BE33-5493B82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E21DC-5373-45C9-98D5-D98E098B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8DCA5-581E-4701-BD43-91329D89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55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553D"/>
                </a:solidFill>
                <a:latin typeface="Arial"/>
                <a:ea typeface="Arial"/>
                <a:cs typeface="Arial"/>
              </a:rPr>
              <a:t>TEST MAGNITUDE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8B2EC-86FA-4E24-8D97-F0567373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714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If direction is unknowable, does attention precede a larger next-session move?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7EA3B-7BAA-4724-8C87-1764F2D5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993289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962BEDF-EB54-4610-B15C-94C860AE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Collection captured a real attention shock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6F5A1-5C5C-46A3-8087-E1E631CA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23247C02-9001-456A-BB36-1195AA4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C5CCB-A280-4377-A0A8-C21C4308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7524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7f7d4e0204726"/>
          <a:stretch xmlns:a="http://schemas.openxmlformats.org/drawingml/2006/main"/>
        </p:blipFill>
        <p:spPr>
          <a:xfrm xmlns:a="http://schemas.openxmlformats.org/drawingml/2006/main">
            <a:off x="400050" y="1696453"/>
            <a:ext cx="7524750" cy="39603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25DF2-86AA-4924-9083-A5BE772F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1,826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B6A6B-1046-4562-B20D-C87DACC9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479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complete daily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EEF40-9067-4AFE-8524-C5EC9467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855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C8553D"/>
                </a:solidFill>
                <a:latin typeface="Arial"/>
                <a:ea typeface="Arial"/>
                <a:cs typeface="Arial"/>
              </a:rPr>
              <a:t>174,157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2DE84-67EB-43C5-9735-38AE5DEC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peak views on 2021-01-28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A50D-4910-4C1E-BCA1-C856E83A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166×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74417-0A29-475D-BD05-C1BFBB26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peak versus the daily median</a:t>
            </a:r>
          </a:p>
        </p:txBody>
      </p:sp>
    </p:spTree>
    <p:extLst>
      <p:ext uri="{BB962C8B-B14F-4D97-AF65-F5344CB8AC3E}">
        <p14:creationId xmlns:p14="http://schemas.microsoft.com/office/powerpoint/2010/main" val="419777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CE95EBF-581B-4538-86B2-C21DFB84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availability clock prevents early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8098E-6493-45FC-B284-BA6534C3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F989FDDF-3A8E-4CA7-84B4-93C7B4FB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CDA0D-2299-44C5-B1BB-75D66C1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BBD18-B078-4EB5-B678-4FB5357F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B8013-04AF-47FE-AAC6-B01CBC26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UTC day 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F4DDA-8D60-4F1E-A804-BD9EB020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Daily views accumulate; the value is not complete yet.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5EA24-15E5-4000-BD9A-47358F68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AB57A-E04F-4F6D-91F4-F5C9FDFE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Day ends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D9348-5561-4B1F-B69E-F0E611DD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measurement becomes a completed historical day.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C0BB4-B5FA-4C89-9E34-FB21AD3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CBA8D-A880-4E57-B16A-CE6F7ADF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+48 hours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E06FE-0EED-4ED9-9D9B-7AC113CD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 fixed safeguard is added because receipt timestamps are absent.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A6E61-CC0C-4FD8-9121-AF5F0809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7900C-EB51-4339-93E8-DF699027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First eligible 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EB0A8-DB86-4623-9596-A940C1F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Observe exactly one subsequent open-to-open outcome.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E0F14-57D5-4446-879D-7AE823CE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5715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DDD6E-627D-43A8-99EA-210C8695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292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 this historical test, source attention always precedes entry by 3 calendar days.</a:t>
            </a:r>
          </a:p>
        </p:txBody>
      </p:sp>
    </p:spTree>
    <p:extLst>
      <p:ext uri="{BB962C8B-B14F-4D97-AF65-F5344CB8AC3E}">
        <p14:creationId xmlns:p14="http://schemas.microsoft.com/office/powerpoint/2010/main" val="514099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DE841D0-8588-4838-8C82-CD520953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directional lead did not survive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54AF5-0154-411A-AAB0-55C70E94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8FA4D124-C91D-4FC1-8D26-D29B9ED1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938F3-784C-4119-B928-FEDEDE12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5725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c3a061919401f"/>
          <a:stretch xmlns:a="http://schemas.openxmlformats.org/drawingml/2006/main"/>
        </p:blipFill>
        <p:spPr>
          <a:xfrm xmlns:a="http://schemas.openxmlformats.org/drawingml/2006/main">
            <a:off x="400050" y="1579646"/>
            <a:ext cx="8572500" cy="406065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F23F1-4B2F-4953-A0C2-494B1216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5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553D"/>
                </a:solidFill>
                <a:latin typeface="Arial"/>
                <a:ea typeface="Arial"/>
                <a:cs typeface="Arial"/>
              </a:rPr>
              <a:t>Causal forward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20F8C-470C-4D5F-8D05-82EDA8DE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Pearson</a:t>
            </a:r>
          </a:p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−0.102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99395-DE60-42D6-828B-374D8412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Spearman</a:t>
            </a:r>
          </a:p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+0.003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1B594-CE2D-4447-B677-56A7F6B3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No dependable ordering from more attention to better next-session returns.</a:t>
            </a:r>
          </a:p>
        </p:txBody>
      </p:sp>
    </p:spTree>
    <p:extLst>
      <p:ext uri="{BB962C8B-B14F-4D97-AF65-F5344CB8AC3E}">
        <p14:creationId xmlns:p14="http://schemas.microsoft.com/office/powerpoint/2010/main" val="1600407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234A1DF-DACC-45D2-BDC1-75C7B824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tilted line is not a reliable ordering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5682E-2526-446F-BC1A-D9BB6F73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DD0CA45C-644D-4DA0-9F0D-2C8323D1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CD608-68E1-48A0-B824-C68CDEC1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55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553D"/>
                </a:solidFill>
                <a:latin typeface="Arial"/>
                <a:ea typeface="Arial"/>
                <a:cs typeface="Arial"/>
              </a:rPr>
              <a:t>PEARSON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947F0-5354-4494-833B-CEF83AA9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Sensitive to the exact size of extreme 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A4681-7806-4B7A-AC23-DA0BB7C0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4762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 handful of extraordinary GME episodes can tilt a regression line even when ordinary days show no consistent relationship.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876E2-6F8A-4F33-AC75-D4A1708E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ED597-543C-448F-8CE6-D97D8FBA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383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SPEARMAN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70570-3B5E-410A-93BE-6EA22B47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438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Asks whether higher attention usually ranks with a larger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55DAD-9110-4F5B-8206-C87B9DDC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Near-zero rank correlation means the relationship is not dependable across the full set of observations.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4B56B-969C-43B0-9263-EA178F26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29250"/>
            <a:ext cx="922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this lane, the rank relationship is the better basic sanity check for a broad continuous signal.</a:t>
            </a:r>
          </a:p>
        </p:txBody>
      </p:sp>
    </p:spTree>
    <p:extLst>
      <p:ext uri="{BB962C8B-B14F-4D97-AF65-F5344CB8AC3E}">
        <p14:creationId xmlns:p14="http://schemas.microsoft.com/office/powerpoint/2010/main" val="23704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D6DA871E-A46C-4272-BDD9-E94EBE03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second test changed only the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B7670-9A26-4284-B02E-D047D28F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B600BE87-904E-4583-B9F2-1DA95661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5BC61-C63F-4C0D-8F78-1F35BFDD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Direction can be unpredictable while move size remains predictable.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23981-085C-4D7A-9595-E6915B54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46242-5028-4F81-AC4C-D1E9FC02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55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53D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0AB3B-1E04-4474-BA65-2EAF15CD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Absolute next-open return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11329-FF75-4673-8D06-1A3141F3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Ignores sign; measures the size of the complete one-session move.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80BB3-34D9-4FA7-BFF0-7B8294DB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F9E3C-940B-412B-9B8D-2FF4545C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9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CONVERGENT DIAGNOSTIC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1E190-3781-49A4-BA2B-5567E650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Entry-session high–low 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3CCDE-EA8A-4CEB-93B9-B5EF6D6B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Captures intraday expansion even when the session finishes near its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12708055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068BECC-1E74-4E99-A580-67F3C15B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Outliers tilt Pearson; rank ordering disappears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E6528-064E-412E-A023-E31B27AD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3D8E9D81-F348-49F5-9858-ACBA92D2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B5CE0-C34C-4C1B-A39D-E96C71FC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763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0bb906ca14aa4"/>
          <a:stretch xmlns:a="http://schemas.openxmlformats.org/drawingml/2006/main"/>
        </p:blipFill>
        <p:spPr>
          <a:xfrm xmlns:a="http://schemas.openxmlformats.org/drawingml/2006/main">
            <a:off x="400050" y="1563103"/>
            <a:ext cx="8763000" cy="41508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B39A4-70A0-4F86-B97A-A52CA6AB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5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553D"/>
                </a:solidFill>
                <a:latin typeface="Arial"/>
                <a:ea typeface="Arial"/>
                <a:cs typeface="Arial"/>
              </a:rPr>
              <a:t>ABSOLUTE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F8564-23A4-47DE-A845-90F23B95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 = +0.231</a:t>
            </a:r>
          </a:p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ρ = +0.006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50C91-AB0B-4119-9113-1D70AAD2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HIGH–LOW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0ECCF-C76E-4257-8213-3FABD3FB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 = +0.317</a:t>
            </a:r>
          </a:p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ρ = −0.008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B968D-3B13-4F6E-BEB4-688A575D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positive Pearson slopes are outlier-sensitive; rank ordering is absent.</a:t>
            </a:r>
          </a:p>
        </p:txBody>
      </p:sp>
    </p:spTree>
    <p:extLst>
      <p:ext uri="{BB962C8B-B14F-4D97-AF65-F5344CB8AC3E}">
        <p14:creationId xmlns:p14="http://schemas.microsoft.com/office/powerpoint/2010/main" val="2812297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9ED6112D-2641-4137-805B-9C5C6E62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Attention deciles do not order move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D3A68-411A-4B90-ACF6-64145851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AE142400-F169-4E38-A0A6-BA9C3AAF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892BA-356A-4F2C-BC4B-3BEF27CB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aa1c4c11f4324"/>
          <a:stretch xmlns:a="http://schemas.openxmlformats.org/drawingml/2006/main"/>
        </p:blipFill>
        <p:spPr>
          <a:xfrm xmlns:a="http://schemas.openxmlformats.org/drawingml/2006/main">
            <a:off x="1913467" y="1352550"/>
            <a:ext cx="8365067" cy="4705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29A67-D559-4F25-B0E7-8DFEBCC8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76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Bins 1–10 summarize shape only; they are not trading thresholds.</a:t>
            </a:r>
          </a:p>
        </p:txBody>
      </p:sp>
    </p:spTree>
    <p:extLst>
      <p:ext uri="{BB962C8B-B14F-4D97-AF65-F5344CB8AC3E}">
        <p14:creationId xmlns:p14="http://schemas.microsoft.com/office/powerpoint/2010/main" val="15788738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5A832A1-9A54-49BA-834B-F4817390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one-session lane now has two clean stops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F4EAA-2EB4-4C49-A614-29004B46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1741E028-BBAD-4189-ACE8-DF08EA08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C0A18-A899-40A6-8C75-5A61A1DF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2197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8134C-9BFC-4287-90F7-39CC0EC3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5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553D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269E6-36B4-43B0-B96A-BDC1B464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More attention → positive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AB99E-C550-49D9-B904-E896B3D0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Spearman +0.003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313FC-F17D-42FE-AD44-3CC09A46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STOP: no broad monotone directional relationship after the causal availability clock.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A0003-F657-4E3D-BEF1-6C323066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2197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DFD8D-6129-4B3A-BDAE-9C4803EF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47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MAGNITUDE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ACDDE-069E-4886-9BB9-8394F2DC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More attention → larger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43C56-5527-48D6-A502-2ADA9265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Spearman +0.006 / −0.008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D2722-5DBA-46DD-AB73-4E24DE8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STOP: outliers tilt Pearson, but ordinary observations do not rank into larger moves.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0686C-88EB-4AF6-B587-99405020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293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Neither result authorizes thresholds, trades, or performance replay.</a:t>
            </a:r>
          </a:p>
        </p:txBody>
      </p:sp>
    </p:spTree>
    <p:extLst>
      <p:ext uri="{BB962C8B-B14F-4D97-AF65-F5344CB8AC3E}">
        <p14:creationId xmlns:p14="http://schemas.microsoft.com/office/powerpoint/2010/main" val="1847427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EA15E109-22C6-4B33-B34E-A39B713C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Stop this formulation; preserve the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FA098-215E-4D0C-8B71-C7FFDF9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34C03125-A466-44B6-B998-E9466BB7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2530A-A53E-4C0F-BBE3-7B395969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survived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1665B-95C7-4E90-8FDA-FFE22908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476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Wikipedia pageviews are collectable, auditable, and capable of registering extraordinary public-attention episodes.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DAA27-29A4-435B-9191-C420F8A7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5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553D"/>
                </a:solidFill>
                <a:latin typeface="Arial"/>
                <a:ea typeface="Arial"/>
                <a:cs typeface="Arial"/>
              </a:rPr>
              <a:t>What stopped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597E5-6845-4446-BC9D-55728472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476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obvious causal one-session direction and magnitude relationships are not dependable across ordinary observations.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E5780-14CB-4EB5-9875-7E6D0DB6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09700"/>
            <a:ext cx="5524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7164B-87B1-4776-B51A-311D797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If this lane is reopened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1E26E-1186-47F6-9E05-08CF97AE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AD056-FB7A-42FE-BE17-00210FD9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Collect receipt timestamps prospectively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3E16F-7625-4EF8-B999-F279B4F4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This creates a genuinely faster information clock instead of shortening the historical safeguard after inspection.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26AE1-88C0-4849-808E-1CB2A5CA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D4220-5675-450E-BE95-2492DC03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Predeclare a new economic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70A1C-84EF-4AEA-A275-CA37A692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Do not add outcomes or horizons simply because the current surfaces stopped.</a:t>
            </a:r>
          </a:p>
        </p:txBody>
      </p:sp>
    </p:spTree>
    <p:extLst>
      <p:ext uri="{BB962C8B-B14F-4D97-AF65-F5344CB8AC3E}">
        <p14:creationId xmlns:p14="http://schemas.microsoft.com/office/powerpoint/2010/main" val="316438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2026-09-02T03:34:58.7380000Z</dcterms:created>
  <dcterms:modified xsi:type="dcterms:W3CDTF">2026-09-02T03:34:58.7390000Z</dcterms:modified>
</coreProperties>
</file>