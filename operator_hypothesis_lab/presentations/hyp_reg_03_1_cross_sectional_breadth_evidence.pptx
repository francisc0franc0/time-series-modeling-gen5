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8118f1106949be" /><Relationship Type="http://schemas.openxmlformats.org/officeDocument/2006/relationships/extended-properties" Target="/docProps/app.xml" Id="Rd1385df0572142ca" /><Relationship Type="http://schemas.openxmlformats.org/officeDocument/2006/relationships/officeDocument" Target="/ppt/presentation.xml" Id="Rf1307c30ede6459d" /></Relationships>
</file>

<file path=ppt/presentation.xml><?xml version="1.0" encoding="utf-8"?>
<p:presentation xmlns:p="http://schemas.openxmlformats.org/presentationml/2006/main">
  <p:sldMasterIdLst>
    <p:sldMasterId xmlns:r="http://schemas.openxmlformats.org/officeDocument/2006/relationships" id="2147483648" r:id="R4341be32a68c4a5c"/>
  </p:sldMasterIdLst>
  <p:notesMasterIdLst>
    <p:notesMasterId xmlns:r="http://schemas.openxmlformats.org/officeDocument/2006/relationships" r:id="R2f0fc24c82654fdd"/>
  </p:notesMasterIdLst>
  <p:sldIdLst>
    <p:sldId xmlns:r="http://schemas.openxmlformats.org/officeDocument/2006/relationships" id="256" r:id="R47d989c2e8fb4393"/>
    <p:sldId xmlns:r="http://schemas.openxmlformats.org/officeDocument/2006/relationships" id="257" r:id="Rd3bd6f485f9d45f6"/>
    <p:sldId xmlns:r="http://schemas.openxmlformats.org/officeDocument/2006/relationships" id="258" r:id="R99f56d986f7744a9"/>
    <p:sldId xmlns:r="http://schemas.openxmlformats.org/officeDocument/2006/relationships" id="259" r:id="Rcd38bb83379c46bf"/>
    <p:sldId xmlns:r="http://schemas.openxmlformats.org/officeDocument/2006/relationships" id="260" r:id="Rbca911c118544a53"/>
    <p:sldId xmlns:r="http://schemas.openxmlformats.org/officeDocument/2006/relationships" id="261" r:id="R4e0de64f671e4077"/>
    <p:sldId xmlns:r="http://schemas.openxmlformats.org/officeDocument/2006/relationships" id="262" r:id="Re6401156a6064bdb"/>
    <p:sldId xmlns:r="http://schemas.openxmlformats.org/officeDocument/2006/relationships" id="263" r:id="R22309162f4a74b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b6c41a161047e1" /><Relationship Type="http://schemas.openxmlformats.org/officeDocument/2006/relationships/slideMaster" Target="/ppt/slideMasters/slideMaster1.xml" Id="R4341be32a68c4a5c" /><Relationship Type="http://schemas.openxmlformats.org/officeDocument/2006/relationships/notesMaster" Target="/ppt/notesMasters/notesMaster1.xml" Id="R2f0fc24c82654fdd" /><Relationship Type="http://schemas.openxmlformats.org/officeDocument/2006/relationships/presProps" Target="/ppt/presProps.xml" Id="Rd31755fb7e884b62" /><Relationship Type="http://schemas.openxmlformats.org/officeDocument/2006/relationships/tableStyles" Target="/ppt/tableStyles.xml" Id="R1b8882dd840e4cde" /><Relationship Type="http://schemas.openxmlformats.org/officeDocument/2006/relationships/slide" Target="/ppt/slides/slide1.xml" Id="R47d989c2e8fb4393" /><Relationship Type="http://schemas.openxmlformats.org/officeDocument/2006/relationships/slide" Target="/ppt/slides/slide2.xml" Id="Rd3bd6f485f9d45f6" /><Relationship Type="http://schemas.openxmlformats.org/officeDocument/2006/relationships/slide" Target="/ppt/slides/slide3.xml" Id="R99f56d986f7744a9" /><Relationship Type="http://schemas.openxmlformats.org/officeDocument/2006/relationships/slide" Target="/ppt/slides/slide4.xml" Id="Rcd38bb83379c46bf" /><Relationship Type="http://schemas.openxmlformats.org/officeDocument/2006/relationships/slide" Target="/ppt/slides/slide5.xml" Id="Rbca911c118544a53" /><Relationship Type="http://schemas.openxmlformats.org/officeDocument/2006/relationships/slide" Target="/ppt/slides/slide6.xml" Id="R4e0de64f671e4077" /><Relationship Type="http://schemas.openxmlformats.org/officeDocument/2006/relationships/slide" Target="/ppt/slides/slide7.xml" Id="Re6401156a6064bdb" /><Relationship Type="http://schemas.openxmlformats.org/officeDocument/2006/relationships/slide" Target="/ppt/slides/slide8.xml" Id="R22309162f4a74b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7da40c1a3548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5ed54bdb884707" /><Relationship Type="http://schemas.openxmlformats.org/officeDocument/2006/relationships/notesMaster" Target="/ppt/notesMasters/notesMaster1.xml" Id="R333af9e90a694d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86696c65a64a88" /><Relationship Type="http://schemas.openxmlformats.org/officeDocument/2006/relationships/notesMaster" Target="/ppt/notesMasters/notesMaster1.xml" Id="R82c837aa5be640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f9d6a7f18d4335" /><Relationship Type="http://schemas.openxmlformats.org/officeDocument/2006/relationships/notesMaster" Target="/ppt/notesMasters/notesMaster1.xml" Id="R4490129da57c44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ab92a3d91a44e0" /><Relationship Type="http://schemas.openxmlformats.org/officeDocument/2006/relationships/notesMaster" Target="/ppt/notesMasters/notesMaster1.xml" Id="Rb5711284b2df4a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05c14b003149b8" /><Relationship Type="http://schemas.openxmlformats.org/officeDocument/2006/relationships/notesMaster" Target="/ppt/notesMasters/notesMaster1.xml" Id="R5aac47e7936a4f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276a36900a46d9" /><Relationship Type="http://schemas.openxmlformats.org/officeDocument/2006/relationships/notesMaster" Target="/ppt/notesMasters/notesMaster1.xml" Id="R85a6185b56f945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bd131fb485491f" /><Relationship Type="http://schemas.openxmlformats.org/officeDocument/2006/relationships/notesMaster" Target="/ppt/notesMasters/notesMaster1.xml" Id="R84b47337b1014f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31a36e844a404b" /><Relationship Type="http://schemas.openxmlformats.org/officeDocument/2006/relationships/notesMaster" Target="/ppt/notesMasters/notesMaster1.xml" Id="R9cd42cefc6c348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honest result: cross-sectional participation contains a useful H20 clue, but the frozen implementation fails as a broad multi-horizon direction classifier.</a:t>
            </a:r>
          </a:p>
          <a:p xmlns:a="http://schemas.openxmlformats.org/drawingml/2006/main">
            <a:r>
              <a:t/>
            </a:r>
          </a:p>
          <a:p xmlns:a="http://schemas.openxmlformats.org/drawingml/2006/main">
            <a:r>
              <a:t>[Sources]</a:t>
            </a:r>
          </a:p>
          <a:p xmlns:a="http://schemas.openxmlformats.org/drawingml/2006/main">
            <a:r>
              <a:t>- docs/GEN5_HYP_REG_03_CROSS_SECTIONAL_BREADTH_TREND_CONTRACT.md</a:t>
            </a:r>
          </a:p>
          <a:p xmlns:a="http://schemas.openxmlformats.org/drawingml/2006/main">
            <a:r>
              <a:t>- C:/Users/Franc/OneDrive/Documents/Francis/Peltata Project/Time-Series-Modeling-Gen5/runs/research_workbench/operator_hypothesis_lab/hyp_reg_03_1_cross_sectional_breadth_20260814/hyp_reg_03_report.md</a:t>
            </a:r>
          </a:p>
          <a:p xmlns:a="http://schemas.openxmlformats.org/drawingml/2006/main">
            <a:r>
              <a:t>- docs/GEN5_4_DECISION_DIALOGUE_INDEX.md#d130--test-market-breadth-as-a-causal-cross-sectional-trend-sensor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Reddit comment argues against one lagging bullish/bearish toggle and proposes multiple uncorrelated axes. We adopt that philosophy but isolate breadth first. The operator supplied the text verbatim in chat, so no blocked-page content was inferred.</a:t>
            </a:r>
          </a:p>
          <a:p xmlns:a="http://schemas.openxmlformats.org/drawingml/2006/main">
            <a:r>
              <a:t/>
            </a:r>
          </a:p>
          <a:p xmlns:a="http://schemas.openxmlformats.org/drawingml/2006/main">
            <a:r>
              <a:t>[Sources]</a:t>
            </a:r>
          </a:p>
          <a:p xmlns:a="http://schemas.openxmlformats.org/drawingml/2006/main">
            <a:r>
              <a:t>- https://www.reddit.com/r/algotrading/comments/1rvfy12/comment/oawke1k/</a:t>
            </a:r>
          </a:p>
          <a:p xmlns:a="http://schemas.openxmlformats.org/drawingml/2006/main">
            <a:r>
              <a:t>- docs/GEN5_4_DECISION_DIALOGUE_INDEX.md#d130--test-market-breadth-as-a-causal-cross-sectional-trend-sensor</a:t>
            </a:r>
          </a:p>
          <a:p xmlns:a="http://schemas.openxmlformats.org/drawingml/2006/main">
            <a:r>
              <a:t>- https://www.spglobal.com/market-intelligence/en/news-insights/articles/2025/6/bad-breadth-concerns-rise-as-sp-500-set-to-recover-tarifftriggered-losses-90308072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median depth avoids letting one extreme sector dominate. P is easier to explain but moves in coarse 10-point increments with only ten sectors. D directly tests the operator's concern about decaying participation while price still rises.</a:t>
            </a:r>
          </a:p>
          <a:p xmlns:a="http://schemas.openxmlformats.org/drawingml/2006/main">
            <a:r>
              <a:t/>
            </a:r>
          </a:p>
          <a:p xmlns:a="http://schemas.openxmlformats.org/drawingml/2006/main">
            <a:r>
              <a:t>[Sources]</a:t>
            </a:r>
          </a:p>
          <a:p xmlns:a="http://schemas.openxmlformats.org/drawingml/2006/main">
            <a:r>
              <a:t>- docs/GEN5_HYP_REG_03_CROSS_SECTIONAL_BREADTH_TREND_CONTRACT.md</a:t>
            </a:r>
          </a:p>
          <a:p xmlns:a="http://schemas.openxmlformats.org/drawingml/2006/main">
            <a:r>
              <a:t>- https://www.spglobal.com/spdji/en/documents/commentary/market-commentary-sp-kensho-new-economies-2024-q1.pdf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proxy changes the claim: this is sector breadth, not exact constituent breadth. The gates demand more than a positive point estimate because common market cycles can make many targets appear predictive together.</a:t>
            </a:r>
          </a:p>
          <a:p xmlns:a="http://schemas.openxmlformats.org/drawingml/2006/main">
            <a:r>
              <a:t/>
            </a:r>
          </a:p>
          <a:p xmlns:a="http://schemas.openxmlformats.org/drawingml/2006/main">
            <a:r>
              <a:t>[Sources]</a:t>
            </a:r>
          </a:p>
          <a:p xmlns:a="http://schemas.openxmlformats.org/drawingml/2006/main">
            <a:r>
              <a:t>- docs/GEN5_HYP_REG_03_CROSS_SECTIONAL_BREADTH_TREND_CONTRACT.md</a:t>
            </a:r>
          </a:p>
          <a:p xmlns:a="http://schemas.openxmlformats.org/drawingml/2006/main">
            <a:r>
              <a:t>- operator_hypothesis_lab/registries/hyp_reg_03_1_cross_sectional_breadth_registry.csv</a:t>
            </a:r>
          </a:p>
          <a:p xmlns:a="http://schemas.openxmlformats.org/drawingml/2006/main">
            <a:r>
              <a:t>- C:/Users/Franc/OneDrive/Documents/Francis/Peltata Project/Time-Series-Modeling-Gen5/runs/research_workbench/operator_hypothesis_lab/hyp_reg_03_1_cross_sectional_breadth_20260814/hyp_reg_03_gates.csv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descriptive win: the proxy produces a distinct cross-sectional tape. The remaining question is whether that tape transports into future direction strongly and stably enough to serve as a regime axis.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Project/Time-Series-Modeling-Gen5/runs/research_workbench/operator_hypothesis_lab/hyp_reg_03_1_cross_sectional_breadth_20260814/hyp_reg_03_daily_signal.csv</a:t>
            </a:r>
          </a:p>
          <a:p xmlns:a="http://schemas.openxmlformats.org/drawingml/2006/main">
            <a:r>
              <a:t>- C:/Users/Franc/OneDrive/Documents/Francis/Peltata Project/Time-Series-Modeling-Gen5/runs/research_workbench/operator_hypothesis_lab/hyp_reg_03_1_cross_sectional_breadth_20260814/visuals/sector_depth_heatmap.png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hidden-deterioration audit conditions on SPY's own SMA20/SMA60 trend being positive. At H20, breadth decay is associated with lower—not necessarily negative—future SPY return. This is a relative warning clue, not a short signal.</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Project/Time-Series-Modeling-Gen5/runs/research_workbench/operator_hypothesis_lab/hyp_reg_03_1_cross_sectional_breadth_20260814/hyp_reg_03_hidden_deterioration.csv</a:t>
            </a:r>
          </a:p>
          <a:p xmlns:a="http://schemas.openxmlformats.org/drawingml/2006/main">
            <a:r>
              <a:t>- C:/Users/Franc/OneDrive/Documents/Francis/Peltata Project/Time-Series-Modeling-Gen5/runs/research_workbench/operator_hypothesis_lab/hyp_reg_03_1_cross_sectional_breadth_20260814/hyp_reg_03_panel_summary.csv</a:t>
            </a:r>
          </a:p>
          <a:p xmlns:a="http://schemas.openxmlformats.org/drawingml/2006/main">
            <a:r>
              <a:t>- C:/Users/Franc/OneDrive/Documents/Francis/Peltata Project/Time-Series-Modeling-Gen5/runs/research_workbench/operator_hypothesis_lab/hyp_reg_03_1_cross_sectional_breadth_20260814/hyp_reg_03_circular_readout.csv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valid multi-horizon direction sensor should not reverse across every target at H63. The circular control also shows the actual H20 alignment is ordinary rather than exceptional. We do not invert H63 after seeing this result.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Project/Time-Series-Modeling-Gen5/runs/research_workbench/operator_hypothesis_lab/hyp_reg_03_1_cross_sectional_breadth_20260814/hyp_reg_03_asset_summary.csv</a:t>
            </a:r>
          </a:p>
          <a:p xmlns:a="http://schemas.openxmlformats.org/drawingml/2006/main">
            <a:r>
              <a:t>- C:/Users/Franc/OneDrive/Documents/Francis/Peltata Project/Time-Series-Modeling-Gen5/runs/research_workbench/operator_hypothesis_lab/hyp_reg_03_1_cross_sectional_breadth_20260814/hyp_reg_03_calendar_panel.csv</a:t>
            </a:r>
          </a:p>
          <a:p xmlns:a="http://schemas.openxmlformats.org/drawingml/2006/main">
            <a:r>
              <a:t>- C:/Users/Franc/OneDrive/Documents/Francis/Peltata Project/Time-Series-Modeling-Gen5/runs/research_workbench/operator_hypothesis_lab/hyp_reg_03_1_cross_sectional_breadth_20260814/hyp_reg_03_circular_readout.csv</a:t>
            </a:r>
          </a:p>
          <a:p xmlns:a="http://schemas.openxmlformats.org/drawingml/2006/main">
            <a:r>
              <a:t>- C:/Users/Franc/OneDrive/Documents/Francis/Peltata Project/Time-Series-Modeling-Gen5/runs/research_workbench/operator_hypothesis_lab/hyp_reg_03_1_cross_sectional_breadth_20260814/hyp_reg_03_gates.csv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separating the field from this implementation. The POC validates that sector participation can differ from index price, but it fails the predeclared standards for a deployable direction axis.</a:t>
            </a:r>
          </a:p>
          <a:p xmlns:a="http://schemas.openxmlformats.org/drawingml/2006/main">
            <a:r>
              <a:t/>
            </a:r>
          </a:p>
          <a:p xmlns:a="http://schemas.openxmlformats.org/drawingml/2006/main">
            <a:r>
              <a:t>[Sources]</a:t>
            </a:r>
          </a:p>
          <a:p xmlns:a="http://schemas.openxmlformats.org/drawingml/2006/main">
            <a:r>
              <a:t>- operator_hypothesis_lab/docs/HYP_REG_03_1_CROSS_SECTIONAL_BREADTH_RESULTS.md</a:t>
            </a:r>
          </a:p>
          <a:p xmlns:a="http://schemas.openxmlformats.org/drawingml/2006/main">
            <a:r>
              <a:t>- docs/GEN5_4_DECISION_DIALOGUE_INDEX.md#d130--test-market-breadth-as-a-causal-cross-sectional-trend-sensor</a:t>
            </a:r>
          </a:p>
          <a:p xmlns:a="http://schemas.openxmlformats.org/drawingml/2006/main">
            <a:r>
              <a:t>- https://www.spglobal.com/spdji/en/documents/commentary/market-commentary-sp-kensho-new-economies-2024-q1.pdf</a:t>
            </a:r>
          </a:p>
          <a:p xmlns:a="http://schemas.openxmlformats.org/drawingml/2006/main">
            <a:r>
              <a:t>- https://www.spglobal.com/market-intelligence/en/news-insights/articles/2025/6/bad-breadth-concerns-rise-as-sp-500-set-to-recover-tarifftriggered-losses-90308072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415659d0a84f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934088bb69499b" /><Relationship Type="http://schemas.openxmlformats.org/officeDocument/2006/relationships/slideLayout" Target="/ppt/slideLayouts/slideLayout1.xml" Id="R1dc262334df84a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c262334df84a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161765ad404213" /><Relationship Type="http://schemas.openxmlformats.org/officeDocument/2006/relationships/image" Target="/ppt/media/image.png" Id="R6f8fcaa86bfb417e" /><Relationship Type="http://schemas.openxmlformats.org/officeDocument/2006/relationships/notesSlide" Target="/ppt/notesSlides/notesSlide1.xml" Id="R75df7fb2c67d44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6878a9487942b3" /><Relationship Type="http://schemas.openxmlformats.org/officeDocument/2006/relationships/notesSlide" Target="/ppt/notesSlides/notesSlide2.xml" Id="R58792d77784f47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a9353161194bd3" /><Relationship Type="http://schemas.openxmlformats.org/officeDocument/2006/relationships/notesSlide" Target="/ppt/notesSlides/notesSlide3.xml" Id="R809efc3a7bc044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2102b2a98a428d" /><Relationship Type="http://schemas.openxmlformats.org/officeDocument/2006/relationships/notesSlide" Target="/ppt/notesSlides/notesSlide4.xml" Id="R91b2e477992f47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1b1a575e0143c5" /><Relationship Type="http://schemas.openxmlformats.org/officeDocument/2006/relationships/image" Target="/ppt/media/image2.png" Id="R952e175de3c44c3d" /><Relationship Type="http://schemas.openxmlformats.org/officeDocument/2006/relationships/notesSlide" Target="/ppt/notesSlides/notesSlide5.xml" Id="Rf3035e2f65864f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14879544a14d7e" /><Relationship Type="http://schemas.openxmlformats.org/officeDocument/2006/relationships/image" Target="/ppt/media/image3.png" Id="Rdfe27716931549a5" /><Relationship Type="http://schemas.openxmlformats.org/officeDocument/2006/relationships/notesSlide" Target="/ppt/notesSlides/notesSlide6.xml" Id="R670f83a94ec54f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9c78061a484d90" /><Relationship Type="http://schemas.openxmlformats.org/officeDocument/2006/relationships/image" Target="/ppt/media/image4.png" Id="Rc999956eb3b1471d" /><Relationship Type="http://schemas.openxmlformats.org/officeDocument/2006/relationships/image" Target="/ppt/media/image5.png" Id="R78b4048e2bbe4ba7" /><Relationship Type="http://schemas.openxmlformats.org/officeDocument/2006/relationships/notesSlide" Target="/ppt/notesSlides/notesSlide7.xml" Id="Re47725ee351b4b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eb8554c1224290" /><Relationship Type="http://schemas.openxmlformats.org/officeDocument/2006/relationships/notesSlide" Target="/ppt/notesSlides/notesSlide8.xml" Id="Rde85fbd90fe245a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7F3E04-B1D6-44E5-B638-B3AA8D2018FD}"/>
              </a:ext>
            </a:extLst>
          </p:cNvPr>
          <p:cNvSpPr>
            <a:spLocks xmlns:a="http://schemas.openxmlformats.org/drawingml/2006/main" noGrp="1"/>
          </p:cNvSpPr>
          <p:nvPr/>
        </p:nvSpPr>
        <p:spPr>
          <a:xfrm xmlns:a="http://schemas.openxmlformats.org/drawingml/2006/main">
            <a:off x="457200" y="4191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HYP-REG-03.1</a:t>
            </a:r>
          </a:p>
        </p:txBody>
      </p:sp>
      <p:sp>
        <p:nvSpPr>
          <p:cNvPr id="2" name="">
            <a:extLst xmlns:a="http://schemas.openxmlformats.org/drawingml/2006/main">
              <a:ext uri="{FF2B5EF4-FFF2-40B4-BE49-F238E27FC236}">
                <a16:creationId xmlns:a16="http://schemas.microsoft.com/office/drawing/2014/main" id="{59E5A807-D4BC-4964-A006-50A686A5EE43}"/>
              </a:ext>
            </a:extLst>
          </p:cNvPr>
          <p:cNvSpPr>
            <a:spLocks xmlns:a="http://schemas.openxmlformats.org/drawingml/2006/main" noGrp="1"/>
          </p:cNvSpPr>
          <p:nvPr/>
        </p:nvSpPr>
        <p:spPr>
          <a:xfrm xmlns:a="http://schemas.openxmlformats.org/drawingml/2006/main">
            <a:off x="457200" y="1257300"/>
            <a:ext cx="5238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75" b="1">
                <a:solidFill>
                  <a:srgbClr val="000000"/>
                </a:solidFill>
              </a:defRPr>
            </a:pPr>
            <a:r>
              <a:rPr sz="3675" b="1">
                <a:solidFill>
                  <a:srgbClr val="000000"/>
                </a:solidFill>
              </a:rPr>
              <a:t>Breadth found a one-month clue—not a general trend regime</a:t>
            </a:r>
          </a:p>
        </p:txBody>
      </p:sp>
      <p:sp>
        <p:nvSpPr>
          <p:cNvPr id="3" name="">
            <a:extLst xmlns:a="http://schemas.openxmlformats.org/drawingml/2006/main">
              <a:ext uri="{FF2B5EF4-FFF2-40B4-BE49-F238E27FC236}">
                <a16:creationId xmlns:a16="http://schemas.microsoft.com/office/drawing/2014/main" id="{F445873A-3DFE-420D-A679-DFBF182E6A54}"/>
              </a:ext>
            </a:extLst>
          </p:cNvPr>
          <p:cNvSpPr>
            <a:spLocks xmlns:a="http://schemas.openxmlformats.org/drawingml/2006/main" noGrp="1"/>
          </p:cNvSpPr>
          <p:nvPr/>
        </p:nvSpPr>
        <p:spPr>
          <a:xfrm xmlns:a="http://schemas.openxmlformats.org/drawingml/2006/main">
            <a:off x="457200" y="3905250"/>
            <a:ext cx="5000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02630"/>
                </a:solidFill>
              </a:defRPr>
            </a:pPr>
            <a:r>
              <a:rPr sz="1575" b="0">
                <a:solidFill>
                  <a:srgbClr val="202630"/>
                </a:solidFill>
              </a:rPr>
              <a:t>Cross-sectional sector participation · causal sensor diagnostic · 2018–2023</a:t>
            </a:r>
          </a:p>
        </p:txBody>
      </p:sp>
      <p:sp>
        <p:nvSpPr>
          <p:cNvPr id="4" name="">
            <a:extLst xmlns:a="http://schemas.openxmlformats.org/drawingml/2006/main">
              <a:ext uri="{FF2B5EF4-FFF2-40B4-BE49-F238E27FC236}">
                <a16:creationId xmlns:a16="http://schemas.microsoft.com/office/drawing/2014/main" id="{752C959A-7F0D-4AD2-9578-DB21386C577D}"/>
              </a:ext>
            </a:extLst>
          </p:cNvPr>
          <p:cNvSpPr>
            <a:spLocks xmlns:a="http://schemas.openxmlformats.org/drawingml/2006/main" noGrp="1"/>
          </p:cNvSpPr>
          <p:nvPr/>
        </p:nvSpPr>
        <p:spPr>
          <a:xfrm xmlns:a="http://schemas.openxmlformats.org/drawingml/2006/main">
            <a:off x="457200" y="521970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D95F59"/>
                </a:solidFill>
              </a:defRPr>
            </a:pPr>
            <a:r>
              <a:rPr sz="1650" b="1">
                <a:solidFill>
                  <a:srgbClr val="D95F59"/>
                </a:solidFill>
              </a:rPr>
              <a:t>STOP · no ATR join or strategy overlay</a:t>
            </a:r>
          </a:p>
        </p:txBody>
      </p:sp>
      <p:sp>
        <p:nvSpPr>
          <p:cNvPr id="5" name="">
            <a:extLst xmlns:a="http://schemas.openxmlformats.org/drawingml/2006/main">
              <a:ext uri="{FF2B5EF4-FFF2-40B4-BE49-F238E27FC236}">
                <a16:creationId xmlns:a16="http://schemas.microsoft.com/office/drawing/2014/main" id="{E91A4C18-7694-4583-A210-DEFB6345F732}"/>
              </a:ext>
            </a:extLst>
          </p:cNvPr>
          <p:cNvSpPr>
            <a:spLocks xmlns:a="http://schemas.openxmlformats.org/drawingml/2006/main" noGrp="1"/>
          </p:cNvSpPr>
          <p:nvPr/>
        </p:nvSpPr>
        <p:spPr>
          <a:xfrm xmlns:a="http://schemas.openxmlformats.org/drawingml/2006/main">
            <a:off x="6096000" y="400050"/>
            <a:ext cx="5667375" cy="5619750"/>
          </a:xfrm>
          <a:prstGeom xmlns:a="http://schemas.openxmlformats.org/drawingml/2006/main" prst="rect">
            <a:avLst/>
          </a:prstGeom>
          <a:solidFill xmlns:a="http://schemas.openxmlformats.org/drawingml/2006/main">
            <a:srgbClr val="FAFAFA"/>
          </a:solidFill>
          <a:ln xmlns:a="http://schemas.openxmlformats.org/drawingml/2006/main" w="9525">
            <a:solidFill>
              <a:srgbClr val="B8BCC4"/>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f8fcaa86bfb417e"/>
          <a:srcRect xmlns:a="http://schemas.openxmlformats.org/drawingml/2006/main" l="2230" t="0" r="2230" b="0"/>
          <a:stretch xmlns:a="http://schemas.openxmlformats.org/drawingml/2006/main">
            <a:fillRect l="0" t="0" r="0" b="0"/>
          </a:stretch>
        </p:blipFill>
        <p:spPr>
          <a:xfrm xmlns:a="http://schemas.openxmlformats.org/drawingml/2006/main">
            <a:off x="6096000" y="400050"/>
            <a:ext cx="5667375" cy="5619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79A306D-60AB-4419-8BD6-20A9D46CEABC}"/>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000000"/>
                </a:solidFill>
              </a:defRPr>
            </a:pPr>
            <a:r>
              <a:rPr sz="900" b="0">
                <a:solidFill>
                  <a:srgbClr val="000000"/>
                </a:solidFill>
              </a:rPr>
              <a:t>1</a:t>
            </a:r>
          </a:p>
        </p:txBody>
      </p:sp>
    </p:spTree>
    <p:extLst>
      <p:ext uri="{BB962C8B-B14F-4D97-AF65-F5344CB8AC3E}">
        <p14:creationId xmlns:p14="http://schemas.microsoft.com/office/powerpoint/2010/main" val="4658066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FCB17BC-E8A2-4A1D-B39A-A3D9D5818F73}"/>
              </a:ext>
            </a:extLst>
          </p:cNvPr>
          <p:cNvSpPr>
            <a:spLocks xmlns:a="http://schemas.openxmlformats.org/drawingml/2006/main" noGrp="1"/>
          </p:cNvSpPr>
          <p:nvPr/>
        </p:nvSpPr>
        <p:spPr>
          <a:xfrm xmlns:a="http://schemas.openxmlformats.org/drawingml/2006/main">
            <a:off x="457200" y="3238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The comment describes a multidimensional regime map</a:t>
            </a:r>
          </a:p>
        </p:txBody>
      </p:sp>
      <p:sp>
        <p:nvSpPr>
          <p:cNvPr id="2" name="">
            <a:extLst xmlns:a="http://schemas.openxmlformats.org/drawingml/2006/main">
              <a:ext uri="{FF2B5EF4-FFF2-40B4-BE49-F238E27FC236}">
                <a16:creationId xmlns:a16="http://schemas.microsoft.com/office/drawing/2014/main" id="{43A0F78E-226F-4C97-B8CE-10785EB82260}"/>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2</a:t>
            </a:r>
          </a:p>
        </p:txBody>
      </p:sp>
      <p:sp>
        <p:nvSpPr>
          <p:cNvPr id="3" name="">
            <a:extLst xmlns:a="http://schemas.openxmlformats.org/drawingml/2006/main">
              <a:ext uri="{FF2B5EF4-FFF2-40B4-BE49-F238E27FC236}">
                <a16:creationId xmlns:a16="http://schemas.microsoft.com/office/drawing/2014/main" id="{B2352C9D-32A5-4595-89AB-C2075D71E639}"/>
              </a:ext>
            </a:extLst>
          </p:cNvPr>
          <p:cNvSpPr>
            <a:spLocks xmlns:a="http://schemas.openxmlformats.org/drawingml/2006/main" noGrp="1"/>
          </p:cNvSpPr>
          <p:nvPr/>
        </p:nvSpPr>
        <p:spPr>
          <a:xfrm xmlns:a="http://schemas.openxmlformats.org/drawingml/2006/main">
            <a:off x="457200" y="10287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CONCEPTUAL TRANSLATION</a:t>
            </a:r>
          </a:p>
        </p:txBody>
      </p:sp>
      <p:sp>
        <p:nvSpPr>
          <p:cNvPr id="4" name="">
            <a:extLst xmlns:a="http://schemas.openxmlformats.org/drawingml/2006/main">
              <a:ext uri="{FF2B5EF4-FFF2-40B4-BE49-F238E27FC236}">
                <a16:creationId xmlns:a16="http://schemas.microsoft.com/office/drawing/2014/main" id="{D90B8FBD-D1F0-483D-8F6C-238DE00D42F9}"/>
              </a:ext>
            </a:extLst>
          </p:cNvPr>
          <p:cNvSpPr>
            <a:spLocks xmlns:a="http://schemas.openxmlformats.org/drawingml/2006/main" noGrp="1"/>
          </p:cNvSpPr>
          <p:nvPr/>
        </p:nvSpPr>
        <p:spPr>
          <a:xfrm xmlns:a="http://schemas.openxmlformats.org/drawingml/2006/main">
            <a:off x="457200" y="1381125"/>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Market breadth asks whether many assets participate—not merely whether the cap-weighted index rises.</a:t>
            </a:r>
          </a:p>
        </p:txBody>
      </p:sp>
      <p:sp>
        <p:nvSpPr>
          <p:cNvPr id="5" name="">
            <a:extLst xmlns:a="http://schemas.openxmlformats.org/drawingml/2006/main">
              <a:ext uri="{FF2B5EF4-FFF2-40B4-BE49-F238E27FC236}">
                <a16:creationId xmlns:a16="http://schemas.microsoft.com/office/drawing/2014/main" id="{55BAD188-3F2F-4211-9505-D4478D704D68}"/>
              </a:ext>
            </a:extLst>
          </p:cNvPr>
          <p:cNvSpPr>
            <a:spLocks xmlns:a="http://schemas.openxmlformats.org/drawingml/2006/main" noGrp="1"/>
          </p:cNvSpPr>
          <p:nvPr/>
        </p:nvSpPr>
        <p:spPr>
          <a:xfrm xmlns:a="http://schemas.openxmlformats.org/drawingml/2006/main">
            <a:off x="457200" y="2571750"/>
            <a:ext cx="3476625" cy="2476500"/>
          </a:xfrm>
          <a:prstGeom xmlns:a="http://schemas.openxmlformats.org/drawingml/2006/main" prst="roundRect">
            <a:avLst>
              <a:gd name="adj" fmla="val 3077"/>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2B31A2E-32BC-43DB-9DEC-7E9AE57E6762}"/>
              </a:ext>
            </a:extLst>
          </p:cNvPr>
          <p:cNvSpPr>
            <a:spLocks xmlns:a="http://schemas.openxmlformats.org/drawingml/2006/main" noGrp="1"/>
          </p:cNvSpPr>
          <p:nvPr/>
        </p:nvSpPr>
        <p:spPr>
          <a:xfrm xmlns:a="http://schemas.openxmlformats.org/drawingml/2006/main">
            <a:off x="723900" y="29051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3D8DFF"/>
                </a:solidFill>
              </a:defRPr>
            </a:pPr>
            <a:r>
              <a:rPr sz="2025" b="1">
                <a:solidFill>
                  <a:srgbClr val="3D8DFF"/>
                </a:solidFill>
              </a:rPr>
              <a:t>Breadth / diffusion</a:t>
            </a:r>
          </a:p>
        </p:txBody>
      </p:sp>
      <p:sp>
        <p:nvSpPr>
          <p:cNvPr id="7" name="">
            <a:extLst xmlns:a="http://schemas.openxmlformats.org/drawingml/2006/main">
              <a:ext uri="{FF2B5EF4-FFF2-40B4-BE49-F238E27FC236}">
                <a16:creationId xmlns:a16="http://schemas.microsoft.com/office/drawing/2014/main" id="{D786490C-BBCF-4DD4-A6D5-89B4F3F4B213}"/>
              </a:ext>
            </a:extLst>
          </p:cNvPr>
          <p:cNvSpPr>
            <a:spLocks xmlns:a="http://schemas.openxmlformats.org/drawingml/2006/main" noGrp="1"/>
          </p:cNvSpPr>
          <p:nvPr/>
        </p:nvSpPr>
        <p:spPr>
          <a:xfrm xmlns:a="http://schemas.openxmlformats.org/drawingml/2006/main">
            <a:off x="723900" y="3667125"/>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02630"/>
                </a:solidFill>
              </a:defRPr>
            </a:pPr>
            <a:r>
              <a:rPr sz="1575" b="0">
                <a:solidFill>
                  <a:srgbClr val="202630"/>
                </a:solidFill>
              </a:rPr>
              <a:t>Cross-sectional participation</a:t>
            </a:r>
          </a:p>
          <a:p xmlns:a="http://schemas.openxmlformats.org/drawingml/2006/main">
            <a:pPr algn="l">
              <a:defRPr sz="1575" b="0">
                <a:solidFill>
                  <a:srgbClr val="202630"/>
                </a:solidFill>
              </a:defRPr>
            </a:pPr>
            <a:r>
              <a:rPr sz="1575" b="0">
                <a:solidFill>
                  <a:srgbClr val="202630"/>
                </a:solidFill>
              </a:rPr>
              <a:t>% above an anchor</a:t>
            </a:r>
          </a:p>
          <a:p xmlns:a="http://schemas.openxmlformats.org/drawingml/2006/main">
            <a:pPr algn="l">
              <a:defRPr sz="1575" b="0">
                <a:solidFill>
                  <a:srgbClr val="202630"/>
                </a:solidFill>
              </a:defRPr>
            </a:pPr>
            <a:r>
              <a:rPr sz="1575" b="0">
                <a:solidFill>
                  <a:srgbClr val="202630"/>
                </a:solidFill>
              </a:rPr>
              <a:t>rotation and deterioration</a:t>
            </a:r>
          </a:p>
        </p:txBody>
      </p:sp>
      <p:sp>
        <p:nvSpPr>
          <p:cNvPr id="8" name="">
            <a:extLst xmlns:a="http://schemas.openxmlformats.org/drawingml/2006/main">
              <a:ext uri="{FF2B5EF4-FFF2-40B4-BE49-F238E27FC236}">
                <a16:creationId xmlns:a16="http://schemas.microsoft.com/office/drawing/2014/main" id="{33A33FBC-D342-49D0-9AC8-F57C9F1D5A74}"/>
              </a:ext>
            </a:extLst>
          </p:cNvPr>
          <p:cNvSpPr>
            <a:spLocks xmlns:a="http://schemas.openxmlformats.org/drawingml/2006/main" noGrp="1"/>
          </p:cNvSpPr>
          <p:nvPr/>
        </p:nvSpPr>
        <p:spPr>
          <a:xfrm xmlns:a="http://schemas.openxmlformats.org/drawingml/2006/main">
            <a:off x="4286250" y="2571750"/>
            <a:ext cx="3476625" cy="2476500"/>
          </a:xfrm>
          <a:prstGeom xmlns:a="http://schemas.openxmlformats.org/drawingml/2006/main" prst="roundRect">
            <a:avLst>
              <a:gd name="adj" fmla="val 3077"/>
            </a:avLst>
          </a:prstGeom>
          <a:solidFill xmlns:a="http://schemas.openxmlformats.org/drawingml/2006/main">
            <a:srgbClr val="FDF1E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4F1F5F-ADE3-4AC7-B594-D9833B79CECC}"/>
              </a:ext>
            </a:extLst>
          </p:cNvPr>
          <p:cNvSpPr>
            <a:spLocks xmlns:a="http://schemas.openxmlformats.org/drawingml/2006/main" noGrp="1"/>
          </p:cNvSpPr>
          <p:nvPr/>
        </p:nvSpPr>
        <p:spPr>
          <a:xfrm xmlns:a="http://schemas.openxmlformats.org/drawingml/2006/main">
            <a:off x="4552950" y="29051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F2A65A"/>
                </a:solidFill>
              </a:defRPr>
            </a:pPr>
            <a:r>
              <a:rPr sz="2025" b="1">
                <a:solidFill>
                  <a:srgbClr val="F2A65A"/>
                </a:solidFill>
              </a:rPr>
              <a:t>Volatility structure</a:t>
            </a:r>
          </a:p>
        </p:txBody>
      </p:sp>
      <p:sp>
        <p:nvSpPr>
          <p:cNvPr id="10" name="">
            <a:extLst xmlns:a="http://schemas.openxmlformats.org/drawingml/2006/main">
              <a:ext uri="{FF2B5EF4-FFF2-40B4-BE49-F238E27FC236}">
                <a16:creationId xmlns:a16="http://schemas.microsoft.com/office/drawing/2014/main" id="{2E380707-8B4C-4A72-A93C-68B7EF6A6E9B}"/>
              </a:ext>
            </a:extLst>
          </p:cNvPr>
          <p:cNvSpPr>
            <a:spLocks xmlns:a="http://schemas.openxmlformats.org/drawingml/2006/main" noGrp="1"/>
          </p:cNvSpPr>
          <p:nvPr/>
        </p:nvSpPr>
        <p:spPr>
          <a:xfrm xmlns:a="http://schemas.openxmlformats.org/drawingml/2006/main">
            <a:off x="4552950" y="3667125"/>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02630"/>
                </a:solidFill>
              </a:defRPr>
            </a:pPr>
            <a:r>
              <a:rPr sz="1575" b="0">
                <a:solidFill>
                  <a:srgbClr val="202630"/>
                </a:solidFill>
              </a:rPr>
              <a:t>Magnitude and stress</a:t>
            </a:r>
          </a:p>
          <a:p xmlns:a="http://schemas.openxmlformats.org/drawingml/2006/main">
            <a:pPr algn="l">
              <a:defRPr sz="1575" b="0">
                <a:solidFill>
                  <a:srgbClr val="202630"/>
                </a:solidFill>
              </a:defRPr>
            </a:pPr>
            <a:r>
              <a:rPr sz="1575" b="0">
                <a:solidFill>
                  <a:srgbClr val="202630"/>
                </a:solidFill>
              </a:rPr>
              <a:t>spot / term structure</a:t>
            </a:r>
          </a:p>
          <a:p xmlns:a="http://schemas.openxmlformats.org/drawingml/2006/main">
            <a:pPr algn="l">
              <a:defRPr sz="1575" b="0">
                <a:solidFill>
                  <a:srgbClr val="202630"/>
                </a:solidFill>
              </a:defRPr>
            </a:pPr>
            <a:r>
              <a:rPr sz="1575" b="0">
                <a:solidFill>
                  <a:srgbClr val="202630"/>
                </a:solidFill>
              </a:rPr>
              <a:t>calm vs transition vs stress</a:t>
            </a:r>
          </a:p>
        </p:txBody>
      </p:sp>
      <p:sp>
        <p:nvSpPr>
          <p:cNvPr id="11" name="">
            <a:extLst xmlns:a="http://schemas.openxmlformats.org/drawingml/2006/main">
              <a:ext uri="{FF2B5EF4-FFF2-40B4-BE49-F238E27FC236}">
                <a16:creationId xmlns:a16="http://schemas.microsoft.com/office/drawing/2014/main" id="{3F42F1A7-A1C1-4AD0-BB4F-5C4421B4E884}"/>
              </a:ext>
            </a:extLst>
          </p:cNvPr>
          <p:cNvSpPr>
            <a:spLocks xmlns:a="http://schemas.openxmlformats.org/drawingml/2006/main" noGrp="1"/>
          </p:cNvSpPr>
          <p:nvPr/>
        </p:nvSpPr>
        <p:spPr>
          <a:xfrm xmlns:a="http://schemas.openxmlformats.org/drawingml/2006/main">
            <a:off x="8115300" y="2571750"/>
            <a:ext cx="3476625" cy="2476500"/>
          </a:xfrm>
          <a:prstGeom xmlns:a="http://schemas.openxmlformats.org/drawingml/2006/main" prst="roundRect">
            <a:avLst>
              <a:gd name="adj" fmla="val 3077"/>
            </a:avLst>
          </a:prstGeom>
          <a:solidFill xmlns:a="http://schemas.openxmlformats.org/drawingml/2006/main">
            <a:srgbClr val="F2F2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A403B04-58E5-40B1-9D0C-4C5979CED5DE}"/>
              </a:ext>
            </a:extLst>
          </p:cNvPr>
          <p:cNvSpPr>
            <a:spLocks xmlns:a="http://schemas.openxmlformats.org/drawingml/2006/main" noGrp="1"/>
          </p:cNvSpPr>
          <p:nvPr/>
        </p:nvSpPr>
        <p:spPr>
          <a:xfrm xmlns:a="http://schemas.openxmlformats.org/drawingml/2006/main">
            <a:off x="8382000" y="29051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202630"/>
                </a:solidFill>
              </a:defRPr>
            </a:pPr>
            <a:r>
              <a:rPr sz="2025" b="1">
                <a:solidFill>
                  <a:srgbClr val="202630"/>
                </a:solidFill>
              </a:rPr>
              <a:t>Intraday persistence</a:t>
            </a:r>
          </a:p>
        </p:txBody>
      </p:sp>
      <p:sp>
        <p:nvSpPr>
          <p:cNvPr id="13" name="">
            <a:extLst xmlns:a="http://schemas.openxmlformats.org/drawingml/2006/main">
              <a:ext uri="{FF2B5EF4-FFF2-40B4-BE49-F238E27FC236}">
                <a16:creationId xmlns:a16="http://schemas.microsoft.com/office/drawing/2014/main" id="{19DE9407-75FA-4531-B7CD-F274F1B0108E}"/>
              </a:ext>
            </a:extLst>
          </p:cNvPr>
          <p:cNvSpPr>
            <a:spLocks xmlns:a="http://schemas.openxmlformats.org/drawingml/2006/main" noGrp="1"/>
          </p:cNvSpPr>
          <p:nvPr/>
        </p:nvSpPr>
        <p:spPr>
          <a:xfrm xmlns:a="http://schemas.openxmlformats.org/drawingml/2006/main">
            <a:off x="8382000" y="3667125"/>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02630"/>
                </a:solidFill>
              </a:defRPr>
            </a:pPr>
            <a:r>
              <a:rPr sz="1575" b="0">
                <a:solidFill>
                  <a:srgbClr val="202630"/>
                </a:solidFill>
              </a:rPr>
              <a:t>Continuation vs reversal</a:t>
            </a:r>
          </a:p>
          <a:p xmlns:a="http://schemas.openxmlformats.org/drawingml/2006/main">
            <a:pPr algn="l">
              <a:defRPr sz="1575" b="0">
                <a:solidFill>
                  <a:srgbClr val="202630"/>
                </a:solidFill>
              </a:defRPr>
            </a:pPr>
            <a:r>
              <a:rPr sz="1575" b="0">
                <a:solidFill>
                  <a:srgbClr val="202630"/>
                </a:solidFill>
              </a:rPr>
              <a:t>within-session behavior</a:t>
            </a:r>
          </a:p>
          <a:p xmlns:a="http://schemas.openxmlformats.org/drawingml/2006/main">
            <a:pPr algn="l">
              <a:defRPr sz="1575" b="0">
                <a:solidFill>
                  <a:srgbClr val="202630"/>
                </a:solidFill>
              </a:defRPr>
            </a:pPr>
            <a:r>
              <a:rPr sz="1575" b="0">
                <a:solidFill>
                  <a:srgbClr val="202630"/>
                </a:solidFill>
              </a:rPr>
              <a:t>trending vs choppy</a:t>
            </a:r>
          </a:p>
        </p:txBody>
      </p:sp>
      <p:sp>
        <p:nvSpPr>
          <p:cNvPr id="14" name="">
            <a:extLst xmlns:a="http://schemas.openxmlformats.org/drawingml/2006/main">
              <a:ext uri="{FF2B5EF4-FFF2-40B4-BE49-F238E27FC236}">
                <a16:creationId xmlns:a16="http://schemas.microsoft.com/office/drawing/2014/main" id="{61A77885-4DA0-4C16-B643-C30EBF6856DE}"/>
              </a:ext>
            </a:extLst>
          </p:cNvPr>
          <p:cNvSpPr>
            <a:spLocks xmlns:a="http://schemas.openxmlformats.org/drawingml/2006/main" noGrp="1"/>
          </p:cNvSpPr>
          <p:nvPr/>
        </p:nvSpPr>
        <p:spPr>
          <a:xfrm xmlns:a="http://schemas.openxmlformats.org/drawingml/2006/main">
            <a:off x="762000" y="55721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000000"/>
                </a:solidFill>
              </a:defRPr>
            </a:pPr>
            <a:r>
              <a:rPr sz="1725" b="1">
                <a:solidFill>
                  <a:srgbClr val="000000"/>
                </a:solidFill>
              </a:rPr>
              <a:t>This POC opens only breadth. The other axes remain separate hypotheses so a failure is interpretable.</a:t>
            </a:r>
          </a:p>
        </p:txBody>
      </p:sp>
    </p:spTree>
    <p:extLst>
      <p:ext uri="{BB962C8B-B14F-4D97-AF65-F5344CB8AC3E}">
        <p14:creationId xmlns:p14="http://schemas.microsoft.com/office/powerpoint/2010/main" val="6885375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AC34357-F438-4E62-858A-991FADC255D4}"/>
              </a:ext>
            </a:extLst>
          </p:cNvPr>
          <p:cNvSpPr>
            <a:spLocks xmlns:a="http://schemas.openxmlformats.org/drawingml/2006/main" noGrp="1"/>
          </p:cNvSpPr>
          <p:nvPr/>
        </p:nvSpPr>
        <p:spPr>
          <a:xfrm xmlns:a="http://schemas.openxmlformats.org/drawingml/2006/main">
            <a:off x="457200" y="3238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Ten sector tapes become three interpretable measurements</a:t>
            </a:r>
          </a:p>
        </p:txBody>
      </p:sp>
      <p:sp>
        <p:nvSpPr>
          <p:cNvPr id="2" name="">
            <a:extLst xmlns:a="http://schemas.openxmlformats.org/drawingml/2006/main">
              <a:ext uri="{FF2B5EF4-FFF2-40B4-BE49-F238E27FC236}">
                <a16:creationId xmlns:a16="http://schemas.microsoft.com/office/drawing/2014/main" id="{DA3E48D1-661A-4A93-973D-C326F6591291}"/>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3</a:t>
            </a:r>
          </a:p>
        </p:txBody>
      </p:sp>
      <p:sp>
        <p:nvSpPr>
          <p:cNvPr id="3" name="">
            <a:extLst xmlns:a="http://schemas.openxmlformats.org/drawingml/2006/main">
              <a:ext uri="{FF2B5EF4-FFF2-40B4-BE49-F238E27FC236}">
                <a16:creationId xmlns:a16="http://schemas.microsoft.com/office/drawing/2014/main" id="{BB924CEB-2098-4B2D-8671-8AEB78EB200B}"/>
              </a:ext>
            </a:extLst>
          </p:cNvPr>
          <p:cNvSpPr>
            <a:spLocks xmlns:a="http://schemas.openxmlformats.org/drawingml/2006/main" noGrp="1"/>
          </p:cNvSpPr>
          <p:nvPr/>
        </p:nvSpPr>
        <p:spPr>
          <a:xfrm xmlns:a="http://schemas.openxmlformats.org/drawingml/2006/main">
            <a:off x="457200" y="10287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FROZEN ESTIMANDS</a:t>
            </a:r>
          </a:p>
        </p:txBody>
      </p:sp>
      <p:sp>
        <p:nvSpPr>
          <p:cNvPr id="4" name="">
            <a:extLst xmlns:a="http://schemas.openxmlformats.org/drawingml/2006/main">
              <a:ext uri="{FF2B5EF4-FFF2-40B4-BE49-F238E27FC236}">
                <a16:creationId xmlns:a16="http://schemas.microsoft.com/office/drawing/2014/main" id="{5AB29C5F-3E36-4A9A-912B-7815B8D84C66}"/>
              </a:ext>
            </a:extLst>
          </p:cNvPr>
          <p:cNvSpPr>
            <a:spLocks xmlns:a="http://schemas.openxmlformats.org/drawingml/2006/main" noGrp="1"/>
          </p:cNvSpPr>
          <p:nvPr/>
        </p:nvSpPr>
        <p:spPr>
          <a:xfrm xmlns:a="http://schemas.openxmlformats.org/drawingml/2006/main">
            <a:off x="552450" y="1428750"/>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For sector i, after close t</a:t>
            </a:r>
          </a:p>
        </p:txBody>
      </p:sp>
      <p:sp>
        <p:nvSpPr>
          <p:cNvPr id="5" name="">
            <a:extLst xmlns:a="http://schemas.openxmlformats.org/drawingml/2006/main">
              <a:ext uri="{FF2B5EF4-FFF2-40B4-BE49-F238E27FC236}">
                <a16:creationId xmlns:a16="http://schemas.microsoft.com/office/drawing/2014/main" id="{D7FCA8CA-2FE2-4D3C-A863-01A8210EE964}"/>
              </a:ext>
            </a:extLst>
          </p:cNvPr>
          <p:cNvSpPr>
            <a:spLocks xmlns:a="http://schemas.openxmlformats.org/drawingml/2006/main" noGrp="1"/>
          </p:cNvSpPr>
          <p:nvPr/>
        </p:nvSpPr>
        <p:spPr>
          <a:xfrm xmlns:a="http://schemas.openxmlformats.org/drawingml/2006/main">
            <a:off x="552450" y="1952625"/>
            <a:ext cx="504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000000"/>
                </a:solidFill>
              </a:defRPr>
            </a:pPr>
            <a:r>
              <a:rPr sz="2325" b="1">
                <a:solidFill>
                  <a:srgbClr val="000000"/>
                </a:solidFill>
              </a:rPr>
              <a:t>qᵢ,ₜ = log(Cᵢ,ₜ / SMA₂₀,ᵢ,ₜ)</a:t>
            </a:r>
          </a:p>
        </p:txBody>
      </p:sp>
      <p:sp>
        <p:nvSpPr>
          <p:cNvPr id="6" name="">
            <a:extLst xmlns:a="http://schemas.openxmlformats.org/drawingml/2006/main">
              <a:ext uri="{FF2B5EF4-FFF2-40B4-BE49-F238E27FC236}">
                <a16:creationId xmlns:a16="http://schemas.microsoft.com/office/drawing/2014/main" id="{B8F17D88-EB2F-4F58-835D-F82E9A4E5644}"/>
              </a:ext>
            </a:extLst>
          </p:cNvPr>
          <p:cNvSpPr>
            <a:spLocks xmlns:a="http://schemas.openxmlformats.org/drawingml/2006/main" noGrp="1"/>
          </p:cNvSpPr>
          <p:nvPr/>
        </p:nvSpPr>
        <p:spPr>
          <a:xfrm xmlns:a="http://schemas.openxmlformats.org/drawingml/2006/main">
            <a:off x="552450" y="285750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202630"/>
                </a:solidFill>
              </a:defRPr>
            </a:pPr>
            <a:r>
              <a:rPr sz="1575" b="1">
                <a:solidFill>
                  <a:srgbClr val="202630"/>
                </a:solidFill>
              </a:rPr>
              <a:t>Strength</a:t>
            </a:r>
          </a:p>
        </p:txBody>
      </p:sp>
      <p:sp>
        <p:nvSpPr>
          <p:cNvPr id="7" name="">
            <a:extLst xmlns:a="http://schemas.openxmlformats.org/drawingml/2006/main">
              <a:ext uri="{FF2B5EF4-FFF2-40B4-BE49-F238E27FC236}">
                <a16:creationId xmlns:a16="http://schemas.microsoft.com/office/drawing/2014/main" id="{2F235F2C-0915-46A6-B109-71834458FC7A}"/>
              </a:ext>
            </a:extLst>
          </p:cNvPr>
          <p:cNvSpPr>
            <a:spLocks xmlns:a="http://schemas.openxmlformats.org/drawingml/2006/main" noGrp="1"/>
          </p:cNvSpPr>
          <p:nvPr/>
        </p:nvSpPr>
        <p:spPr>
          <a:xfrm xmlns:a="http://schemas.openxmlformats.org/drawingml/2006/main">
            <a:off x="2381250" y="2828925"/>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Bₜ = medianᵢ(qᵢ,ₜ)</a:t>
            </a:r>
          </a:p>
        </p:txBody>
      </p:sp>
      <p:sp>
        <p:nvSpPr>
          <p:cNvPr id="8" name="">
            <a:extLst xmlns:a="http://schemas.openxmlformats.org/drawingml/2006/main">
              <a:ext uri="{FF2B5EF4-FFF2-40B4-BE49-F238E27FC236}">
                <a16:creationId xmlns:a16="http://schemas.microsoft.com/office/drawing/2014/main" id="{4B3A4ADD-1519-4598-815E-E7B0D638B16D}"/>
              </a:ext>
            </a:extLst>
          </p:cNvPr>
          <p:cNvSpPr>
            <a:spLocks xmlns:a="http://schemas.openxmlformats.org/drawingml/2006/main" noGrp="1"/>
          </p:cNvSpPr>
          <p:nvPr/>
        </p:nvSpPr>
        <p:spPr>
          <a:xfrm xmlns:a="http://schemas.openxmlformats.org/drawingml/2006/main">
            <a:off x="6381750" y="28575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02630"/>
                </a:solidFill>
              </a:defRPr>
            </a:pPr>
            <a:r>
              <a:rPr sz="1425" b="0">
                <a:solidFill>
                  <a:srgbClr val="202630"/>
                </a:solidFill>
              </a:rPr>
              <a:t>continuous distance from each sector's anchor</a:t>
            </a:r>
          </a:p>
        </p:txBody>
      </p:sp>
      <p:sp>
        <p:nvSpPr>
          <p:cNvPr id="9" name="">
            <a:extLst xmlns:a="http://schemas.openxmlformats.org/drawingml/2006/main">
              <a:ext uri="{FF2B5EF4-FFF2-40B4-BE49-F238E27FC236}">
                <a16:creationId xmlns:a16="http://schemas.microsoft.com/office/drawing/2014/main" id="{19739F53-A90F-4673-9C06-555CE841C84A}"/>
              </a:ext>
            </a:extLst>
          </p:cNvPr>
          <p:cNvSpPr>
            <a:spLocks xmlns:a="http://schemas.openxmlformats.org/drawingml/2006/main" noGrp="1"/>
          </p:cNvSpPr>
          <p:nvPr/>
        </p:nvSpPr>
        <p:spPr>
          <a:xfrm xmlns:a="http://schemas.openxmlformats.org/drawingml/2006/main">
            <a:off x="552450" y="373380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202630"/>
                </a:solidFill>
              </a:defRPr>
            </a:pPr>
            <a:r>
              <a:rPr sz="1575" b="1">
                <a:solidFill>
                  <a:srgbClr val="202630"/>
                </a:solidFill>
              </a:rPr>
              <a:t>Participation</a:t>
            </a:r>
          </a:p>
        </p:txBody>
      </p:sp>
      <p:sp>
        <p:nvSpPr>
          <p:cNvPr id="10" name="">
            <a:extLst xmlns:a="http://schemas.openxmlformats.org/drawingml/2006/main">
              <a:ext uri="{FF2B5EF4-FFF2-40B4-BE49-F238E27FC236}">
                <a16:creationId xmlns:a16="http://schemas.microsoft.com/office/drawing/2014/main" id="{75F26094-58C0-467E-A411-E9E44FF477A7}"/>
              </a:ext>
            </a:extLst>
          </p:cNvPr>
          <p:cNvSpPr>
            <a:spLocks xmlns:a="http://schemas.openxmlformats.org/drawingml/2006/main" noGrp="1"/>
          </p:cNvSpPr>
          <p:nvPr/>
        </p:nvSpPr>
        <p:spPr>
          <a:xfrm xmlns:a="http://schemas.openxmlformats.org/drawingml/2006/main">
            <a:off x="2381250" y="3705225"/>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Pₜ = meanᵢ 1[qᵢ,ₜ ≥ 0]</a:t>
            </a:r>
          </a:p>
        </p:txBody>
      </p:sp>
      <p:sp>
        <p:nvSpPr>
          <p:cNvPr id="11" name="">
            <a:extLst xmlns:a="http://schemas.openxmlformats.org/drawingml/2006/main">
              <a:ext uri="{FF2B5EF4-FFF2-40B4-BE49-F238E27FC236}">
                <a16:creationId xmlns:a16="http://schemas.microsoft.com/office/drawing/2014/main" id="{F4A2B32D-4FEF-4DF5-B23E-D128F7C4BB53}"/>
              </a:ext>
            </a:extLst>
          </p:cNvPr>
          <p:cNvSpPr>
            <a:spLocks xmlns:a="http://schemas.openxmlformats.org/drawingml/2006/main" noGrp="1"/>
          </p:cNvSpPr>
          <p:nvPr/>
        </p:nvSpPr>
        <p:spPr>
          <a:xfrm xmlns:a="http://schemas.openxmlformats.org/drawingml/2006/main">
            <a:off x="6381750" y="37338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02630"/>
                </a:solidFill>
              </a:defRPr>
            </a:pPr>
            <a:r>
              <a:rPr sz="1425" b="0">
                <a:solidFill>
                  <a:srgbClr val="202630"/>
                </a:solidFill>
              </a:rPr>
              <a:t>literal fraction of sectors above SMA20</a:t>
            </a:r>
          </a:p>
        </p:txBody>
      </p:sp>
      <p:sp>
        <p:nvSpPr>
          <p:cNvPr id="12" name="">
            <a:extLst xmlns:a="http://schemas.openxmlformats.org/drawingml/2006/main">
              <a:ext uri="{FF2B5EF4-FFF2-40B4-BE49-F238E27FC236}">
                <a16:creationId xmlns:a16="http://schemas.microsoft.com/office/drawing/2014/main" id="{9027D2C0-5B8E-4F73-9AA8-B70C0E44AC62}"/>
              </a:ext>
            </a:extLst>
          </p:cNvPr>
          <p:cNvSpPr>
            <a:spLocks xmlns:a="http://schemas.openxmlformats.org/drawingml/2006/main" noGrp="1"/>
          </p:cNvSpPr>
          <p:nvPr/>
        </p:nvSpPr>
        <p:spPr>
          <a:xfrm xmlns:a="http://schemas.openxmlformats.org/drawingml/2006/main">
            <a:off x="552450" y="461010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D95F59"/>
                </a:solidFill>
              </a:defRPr>
            </a:pPr>
            <a:r>
              <a:rPr sz="1575" b="1">
                <a:solidFill>
                  <a:srgbClr val="D95F59"/>
                </a:solidFill>
              </a:rPr>
              <a:t>Decay / impulse</a:t>
            </a:r>
          </a:p>
        </p:txBody>
      </p:sp>
      <p:sp>
        <p:nvSpPr>
          <p:cNvPr id="13" name="">
            <a:extLst xmlns:a="http://schemas.openxmlformats.org/drawingml/2006/main">
              <a:ext uri="{FF2B5EF4-FFF2-40B4-BE49-F238E27FC236}">
                <a16:creationId xmlns:a16="http://schemas.microsoft.com/office/drawing/2014/main" id="{F4F25C6E-54DF-4A94-B185-BC76AB7700CE}"/>
              </a:ext>
            </a:extLst>
          </p:cNvPr>
          <p:cNvSpPr>
            <a:spLocks xmlns:a="http://schemas.openxmlformats.org/drawingml/2006/main" noGrp="1"/>
          </p:cNvSpPr>
          <p:nvPr/>
        </p:nvSpPr>
        <p:spPr>
          <a:xfrm xmlns:a="http://schemas.openxmlformats.org/drawingml/2006/main">
            <a:off x="2381250" y="4581525"/>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Dₜ = Bₜ − Bₜ₋₂₀</a:t>
            </a:r>
          </a:p>
        </p:txBody>
      </p:sp>
      <p:sp>
        <p:nvSpPr>
          <p:cNvPr id="14" name="">
            <a:extLst xmlns:a="http://schemas.openxmlformats.org/drawingml/2006/main">
              <a:ext uri="{FF2B5EF4-FFF2-40B4-BE49-F238E27FC236}">
                <a16:creationId xmlns:a16="http://schemas.microsoft.com/office/drawing/2014/main" id="{5BF07618-F097-42FA-9F0B-16376CFF857A}"/>
              </a:ext>
            </a:extLst>
          </p:cNvPr>
          <p:cNvSpPr>
            <a:spLocks xmlns:a="http://schemas.openxmlformats.org/drawingml/2006/main" noGrp="1"/>
          </p:cNvSpPr>
          <p:nvPr/>
        </p:nvSpPr>
        <p:spPr>
          <a:xfrm xmlns:a="http://schemas.openxmlformats.org/drawingml/2006/main">
            <a:off x="6381750" y="46101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02630"/>
                </a:solidFill>
              </a:defRPr>
            </a:pPr>
            <a:r>
              <a:rPr sz="1425" b="0">
                <a:solidFill>
                  <a:srgbClr val="202630"/>
                </a:solidFill>
              </a:rPr>
              <a:t>is breadth strengthening or deteriorating?</a:t>
            </a:r>
          </a:p>
        </p:txBody>
      </p:sp>
      <p:sp>
        <p:nvSpPr>
          <p:cNvPr id="15" name="">
            <a:extLst xmlns:a="http://schemas.openxmlformats.org/drawingml/2006/main">
              <a:ext uri="{FF2B5EF4-FFF2-40B4-BE49-F238E27FC236}">
                <a16:creationId xmlns:a16="http://schemas.microsoft.com/office/drawing/2014/main" id="{71B2B804-1B19-40E5-A1F2-D0B079F7DE3F}"/>
              </a:ext>
            </a:extLst>
          </p:cNvPr>
          <p:cNvSpPr>
            <a:spLocks xmlns:a="http://schemas.openxmlformats.org/drawingml/2006/main" noGrp="1"/>
          </p:cNvSpPr>
          <p:nvPr/>
        </p:nvSpPr>
        <p:spPr>
          <a:xfrm xmlns:a="http://schemas.openxmlformats.org/drawingml/2006/main">
            <a:off x="552450" y="5619750"/>
            <a:ext cx="10763250" cy="6858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0B9AC51-A6F8-4A17-8A73-04B26BCEE48D}"/>
              </a:ext>
            </a:extLst>
          </p:cNvPr>
          <p:cNvSpPr>
            <a:spLocks xmlns:a="http://schemas.openxmlformats.org/drawingml/2006/main" noGrp="1"/>
          </p:cNvSpPr>
          <p:nvPr/>
        </p:nvSpPr>
        <p:spPr>
          <a:xfrm xmlns:a="http://schemas.openxmlformats.org/drawingml/2006/main">
            <a:off x="762000" y="5819775"/>
            <a:ext cx="1033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00000"/>
                </a:solidFill>
              </a:defRPr>
            </a:pPr>
            <a:r>
              <a:rPr sz="1575" b="1">
                <a:solidFill>
                  <a:srgbClr val="000000"/>
                </a:solidFill>
              </a:rPr>
              <a:t>Signal at close t  →  target begins next open  →  H = 5, 20, 63  →  horizon-spaced observations</a:t>
            </a:r>
          </a:p>
        </p:txBody>
      </p:sp>
    </p:spTree>
    <p:extLst>
      <p:ext uri="{BB962C8B-B14F-4D97-AF65-F5344CB8AC3E}">
        <p14:creationId xmlns:p14="http://schemas.microsoft.com/office/powerpoint/2010/main" val="15704427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100BF91-8CEA-43F4-B669-F182195318A4}"/>
              </a:ext>
            </a:extLst>
          </p:cNvPr>
          <p:cNvSpPr>
            <a:spLocks xmlns:a="http://schemas.openxmlformats.org/drawingml/2006/main" noGrp="1"/>
          </p:cNvSpPr>
          <p:nvPr/>
        </p:nvSpPr>
        <p:spPr>
          <a:xfrm xmlns:a="http://schemas.openxmlformats.org/drawingml/2006/main">
            <a:off x="457200" y="3238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The sector proxy avoids a hidden survivor-bias trap</a:t>
            </a:r>
          </a:p>
        </p:txBody>
      </p:sp>
      <p:sp>
        <p:nvSpPr>
          <p:cNvPr id="2" name="">
            <a:extLst xmlns:a="http://schemas.openxmlformats.org/drawingml/2006/main">
              <a:ext uri="{FF2B5EF4-FFF2-40B4-BE49-F238E27FC236}">
                <a16:creationId xmlns:a16="http://schemas.microsoft.com/office/drawing/2014/main" id="{FE53C559-8032-44B6-8FF1-3974B82A3AEE}"/>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4</a:t>
            </a:r>
          </a:p>
        </p:txBody>
      </p:sp>
      <p:sp>
        <p:nvSpPr>
          <p:cNvPr id="3" name="">
            <a:extLst xmlns:a="http://schemas.openxmlformats.org/drawingml/2006/main">
              <a:ext uri="{FF2B5EF4-FFF2-40B4-BE49-F238E27FC236}">
                <a16:creationId xmlns:a16="http://schemas.microsoft.com/office/drawing/2014/main" id="{6F7380A5-8F33-49C1-9558-4D34F5D552EC}"/>
              </a:ext>
            </a:extLst>
          </p:cNvPr>
          <p:cNvSpPr>
            <a:spLocks xmlns:a="http://schemas.openxmlformats.org/drawingml/2006/main" noGrp="1"/>
          </p:cNvSpPr>
          <p:nvPr/>
        </p:nvSpPr>
        <p:spPr>
          <a:xfrm xmlns:a="http://schemas.openxmlformats.org/drawingml/2006/main">
            <a:off x="457200" y="10287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PROFESSIONAL PUSHBACK</a:t>
            </a:r>
          </a:p>
        </p:txBody>
      </p:sp>
      <p:sp>
        <p:nvSpPr>
          <p:cNvPr id="4" name="">
            <a:extLst xmlns:a="http://schemas.openxmlformats.org/drawingml/2006/main">
              <a:ext uri="{FF2B5EF4-FFF2-40B4-BE49-F238E27FC236}">
                <a16:creationId xmlns:a16="http://schemas.microsoft.com/office/drawing/2014/main" id="{8978ECA4-A11B-4F4E-AC8C-61BB7B2F6BC6}"/>
              </a:ext>
            </a:extLst>
          </p:cNvPr>
          <p:cNvSpPr>
            <a:spLocks xmlns:a="http://schemas.openxmlformats.org/drawingml/2006/main" noGrp="1"/>
          </p:cNvSpPr>
          <p:nvPr/>
        </p:nvSpPr>
        <p:spPr>
          <a:xfrm xmlns:a="http://schemas.openxmlformats.org/drawingml/2006/main">
            <a:off x="457200" y="1428750"/>
            <a:ext cx="5095875" cy="1762125"/>
          </a:xfrm>
          <a:prstGeom xmlns:a="http://schemas.openxmlformats.org/drawingml/2006/main" prst="roundRect">
            <a:avLst>
              <a:gd name="adj" fmla="val 4324"/>
            </a:avLst>
          </a:prstGeom>
          <a:solidFill xmlns:a="http://schemas.openxmlformats.org/drawingml/2006/main">
            <a:srgbClr val="F8E4E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BEA588-BDB4-476B-AF08-C82546E34F66}"/>
              </a:ext>
            </a:extLst>
          </p:cNvPr>
          <p:cNvSpPr>
            <a:spLocks xmlns:a="http://schemas.openxmlformats.org/drawingml/2006/main" noGrp="1"/>
          </p:cNvSpPr>
          <p:nvPr/>
        </p:nvSpPr>
        <p:spPr>
          <a:xfrm xmlns:a="http://schemas.openxmlformats.org/drawingml/2006/main">
            <a:off x="742950" y="1762125"/>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D95F59"/>
                </a:solidFill>
              </a:defRPr>
            </a:pPr>
            <a:r>
              <a:rPr sz="2025" b="1">
                <a:solidFill>
                  <a:srgbClr val="D95F59"/>
                </a:solidFill>
              </a:rPr>
              <a:t>Rejected shortcut</a:t>
            </a:r>
          </a:p>
        </p:txBody>
      </p:sp>
      <p:sp>
        <p:nvSpPr>
          <p:cNvPr id="6" name="">
            <a:extLst xmlns:a="http://schemas.openxmlformats.org/drawingml/2006/main">
              <a:ext uri="{FF2B5EF4-FFF2-40B4-BE49-F238E27FC236}">
                <a16:creationId xmlns:a16="http://schemas.microsoft.com/office/drawing/2014/main" id="{E104B3C1-265B-4738-AE4D-B274FDBC51FE}"/>
              </a:ext>
            </a:extLst>
          </p:cNvPr>
          <p:cNvSpPr>
            <a:spLocks xmlns:a="http://schemas.openxmlformats.org/drawingml/2006/main" noGrp="1"/>
          </p:cNvSpPr>
          <p:nvPr/>
        </p:nvSpPr>
        <p:spPr>
          <a:xfrm xmlns:a="http://schemas.openxmlformats.org/drawingml/2006/main">
            <a:off x="742950" y="2333625"/>
            <a:ext cx="4381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02630"/>
                </a:solidFill>
              </a:defRPr>
            </a:pPr>
            <a:r>
              <a:rPr sz="1575" b="0">
                <a:solidFill>
                  <a:srgbClr val="202630"/>
                </a:solidFill>
              </a:rPr>
              <a:t>Use today's S&amp;P 500 members historically. That leaks future survival and membership into earlier dates.</a:t>
            </a:r>
          </a:p>
        </p:txBody>
      </p:sp>
      <p:sp>
        <p:nvSpPr>
          <p:cNvPr id="7" name="">
            <a:extLst xmlns:a="http://schemas.openxmlformats.org/drawingml/2006/main">
              <a:ext uri="{FF2B5EF4-FFF2-40B4-BE49-F238E27FC236}">
                <a16:creationId xmlns:a16="http://schemas.microsoft.com/office/drawing/2014/main" id="{3C451094-1956-4187-92D8-A1968BAF39FD}"/>
              </a:ext>
            </a:extLst>
          </p:cNvPr>
          <p:cNvSpPr>
            <a:spLocks xmlns:a="http://schemas.openxmlformats.org/drawingml/2006/main" noGrp="1"/>
          </p:cNvSpPr>
          <p:nvPr/>
        </p:nvSpPr>
        <p:spPr>
          <a:xfrm xmlns:a="http://schemas.openxmlformats.org/drawingml/2006/main">
            <a:off x="6000750" y="1428750"/>
            <a:ext cx="5619750" cy="1762125"/>
          </a:xfrm>
          <a:prstGeom xmlns:a="http://schemas.openxmlformats.org/drawingml/2006/main" prst="roundRect">
            <a:avLst>
              <a:gd name="adj" fmla="val 4324"/>
            </a:avLst>
          </a:prstGeom>
          <a:solidFill xmlns:a="http://schemas.openxmlformats.org/drawingml/2006/main">
            <a:srgbClr val="E5F3E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FDBC509-1745-4296-B86C-04986A84F3F5}"/>
              </a:ext>
            </a:extLst>
          </p:cNvPr>
          <p:cNvSpPr>
            <a:spLocks xmlns:a="http://schemas.openxmlformats.org/drawingml/2006/main" noGrp="1"/>
          </p:cNvSpPr>
          <p:nvPr/>
        </p:nvSpPr>
        <p:spPr>
          <a:xfrm xmlns:a="http://schemas.openxmlformats.org/drawingml/2006/main">
            <a:off x="6286500" y="1762125"/>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2E8B57"/>
                </a:solidFill>
              </a:defRPr>
            </a:pPr>
            <a:r>
              <a:rPr sz="2025" b="1">
                <a:solidFill>
                  <a:srgbClr val="2E8B57"/>
                </a:solidFill>
              </a:rPr>
              <a:t>Frozen proxy</a:t>
            </a:r>
          </a:p>
        </p:txBody>
      </p:sp>
      <p:sp>
        <p:nvSpPr>
          <p:cNvPr id="9" name="">
            <a:extLst xmlns:a="http://schemas.openxmlformats.org/drawingml/2006/main">
              <a:ext uri="{FF2B5EF4-FFF2-40B4-BE49-F238E27FC236}">
                <a16:creationId xmlns:a16="http://schemas.microsoft.com/office/drawing/2014/main" id="{5DBFF715-2AB6-4041-8A44-BD2A08880E33}"/>
              </a:ext>
            </a:extLst>
          </p:cNvPr>
          <p:cNvSpPr>
            <a:spLocks xmlns:a="http://schemas.openxmlformats.org/drawingml/2006/main" noGrp="1"/>
          </p:cNvSpPr>
          <p:nvPr/>
        </p:nvSpPr>
        <p:spPr>
          <a:xfrm xmlns:a="http://schemas.openxmlformats.org/drawingml/2006/main">
            <a:off x="6286500" y="2333625"/>
            <a:ext cx="4905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02630"/>
                </a:solidFill>
              </a:defRPr>
            </a:pPr>
            <a:r>
              <a:rPr sz="1575" b="0">
                <a:solidFill>
                  <a:srgbClr val="202630"/>
                </a:solidFill>
              </a:rPr>
              <a:t>Ten long-lived sector ETFs. XLC excluded because its 2018 launch/reclassification creates a structural break.</a:t>
            </a:r>
          </a:p>
        </p:txBody>
      </p:sp>
      <p:sp>
        <p:nvSpPr>
          <p:cNvPr id="10" name="">
            <a:extLst xmlns:a="http://schemas.openxmlformats.org/drawingml/2006/main">
              <a:ext uri="{FF2B5EF4-FFF2-40B4-BE49-F238E27FC236}">
                <a16:creationId xmlns:a16="http://schemas.microsoft.com/office/drawing/2014/main" id="{219AB6CC-67E0-4BDC-AFD3-A4A8423D8DCE}"/>
              </a:ext>
            </a:extLst>
          </p:cNvPr>
          <p:cNvSpPr>
            <a:spLocks xmlns:a="http://schemas.openxmlformats.org/drawingml/2006/main" noGrp="1"/>
          </p:cNvSpPr>
          <p:nvPr/>
        </p:nvSpPr>
        <p:spPr>
          <a:xfrm xmlns:a="http://schemas.openxmlformats.org/drawingml/2006/main">
            <a:off x="457200" y="371475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defRPr>
            </a:pPr>
            <a:r>
              <a:rPr sz="2175" b="1">
                <a:solidFill>
                  <a:srgbClr val="000000"/>
                </a:solidFill>
              </a:rPr>
              <a:t>Eight conjunctive gates</a:t>
            </a:r>
          </a:p>
        </p:txBody>
      </p:sp>
      <p:sp>
        <p:nvSpPr>
          <p:cNvPr id="11" name="">
            <a:extLst xmlns:a="http://schemas.openxmlformats.org/drawingml/2006/main">
              <a:ext uri="{FF2B5EF4-FFF2-40B4-BE49-F238E27FC236}">
                <a16:creationId xmlns:a16="http://schemas.microsoft.com/office/drawing/2014/main" id="{11874FEC-A3BD-42F7-B86B-D1B0ED931FF4}"/>
              </a:ext>
            </a:extLst>
          </p:cNvPr>
          <p:cNvSpPr>
            <a:spLocks xmlns:a="http://schemas.openxmlformats.org/drawingml/2006/main" noGrp="1"/>
          </p:cNvSpPr>
          <p:nvPr/>
        </p:nvSpPr>
        <p:spPr>
          <a:xfrm xmlns:a="http://schemas.openxmlformats.org/drawingml/2006/main">
            <a:off x="552450" y="4410075"/>
            <a:ext cx="104775" cy="104775"/>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21023F0-FC04-49A8-91AE-BAC2C3474DB3}"/>
              </a:ext>
            </a:extLst>
          </p:cNvPr>
          <p:cNvSpPr>
            <a:spLocks xmlns:a="http://schemas.openxmlformats.org/drawingml/2006/main" noGrp="1"/>
          </p:cNvSpPr>
          <p:nvPr/>
        </p:nvSpPr>
        <p:spPr>
          <a:xfrm xmlns:a="http://schemas.openxmlformats.org/drawingml/2006/main">
            <a:off x="781050" y="4333875"/>
            <a:ext cx="510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association + cross-target breadth</a:t>
            </a:r>
          </a:p>
        </p:txBody>
      </p:sp>
      <p:sp>
        <p:nvSpPr>
          <p:cNvPr id="13" name="">
            <a:extLst xmlns:a="http://schemas.openxmlformats.org/drawingml/2006/main">
              <a:ext uri="{FF2B5EF4-FFF2-40B4-BE49-F238E27FC236}">
                <a16:creationId xmlns:a16="http://schemas.microsoft.com/office/drawing/2014/main" id="{D7C927C7-4E3B-4C7E-A895-A2AC06C5F0FD}"/>
              </a:ext>
            </a:extLst>
          </p:cNvPr>
          <p:cNvSpPr>
            <a:spLocks xmlns:a="http://schemas.openxmlformats.org/drawingml/2006/main" noGrp="1"/>
          </p:cNvSpPr>
          <p:nvPr/>
        </p:nvSpPr>
        <p:spPr>
          <a:xfrm xmlns:a="http://schemas.openxmlformats.org/drawingml/2006/main">
            <a:off x="552450" y="4867275"/>
            <a:ext cx="104775" cy="104775"/>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E59F67B-035D-4D84-A64E-B7F6F7B2832C}"/>
              </a:ext>
            </a:extLst>
          </p:cNvPr>
          <p:cNvSpPr>
            <a:spLocks xmlns:a="http://schemas.openxmlformats.org/drawingml/2006/main" noGrp="1"/>
          </p:cNvSpPr>
          <p:nvPr/>
        </p:nvSpPr>
        <p:spPr>
          <a:xfrm xmlns:a="http://schemas.openxmlformats.org/drawingml/2006/main">
            <a:off x="781050" y="4791075"/>
            <a:ext cx="510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balanced UP and DOWN recognition</a:t>
            </a:r>
          </a:p>
        </p:txBody>
      </p:sp>
      <p:sp>
        <p:nvSpPr>
          <p:cNvPr id="15" name="">
            <a:extLst xmlns:a="http://schemas.openxmlformats.org/drawingml/2006/main">
              <a:ext uri="{FF2B5EF4-FFF2-40B4-BE49-F238E27FC236}">
                <a16:creationId xmlns:a16="http://schemas.microsoft.com/office/drawing/2014/main" id="{0612F176-5193-4E96-96C3-58A40F38DCAA}"/>
              </a:ext>
            </a:extLst>
          </p:cNvPr>
          <p:cNvSpPr>
            <a:spLocks xmlns:a="http://schemas.openxmlformats.org/drawingml/2006/main" noGrp="1"/>
          </p:cNvSpPr>
          <p:nvPr/>
        </p:nvSpPr>
        <p:spPr>
          <a:xfrm xmlns:a="http://schemas.openxmlformats.org/drawingml/2006/main">
            <a:off x="552450" y="5324475"/>
            <a:ext cx="104775" cy="104775"/>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A38502B-2EE2-4300-BC75-D6F128DABA87}"/>
              </a:ext>
            </a:extLst>
          </p:cNvPr>
          <p:cNvSpPr>
            <a:spLocks xmlns:a="http://schemas.openxmlformats.org/drawingml/2006/main" noGrp="1"/>
          </p:cNvSpPr>
          <p:nvPr/>
        </p:nvSpPr>
        <p:spPr>
          <a:xfrm xmlns:a="http://schemas.openxmlformats.org/drawingml/2006/main">
            <a:off x="781050" y="5248275"/>
            <a:ext cx="510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quintile ordering + calendar stability</a:t>
            </a:r>
          </a:p>
        </p:txBody>
      </p:sp>
      <p:sp>
        <p:nvSpPr>
          <p:cNvPr id="17" name="">
            <a:extLst xmlns:a="http://schemas.openxmlformats.org/drawingml/2006/main">
              <a:ext uri="{FF2B5EF4-FFF2-40B4-BE49-F238E27FC236}">
                <a16:creationId xmlns:a16="http://schemas.microsoft.com/office/drawing/2014/main" id="{4C93B7AE-123F-4C83-ACD2-93E7E8B663E8}"/>
              </a:ext>
            </a:extLst>
          </p:cNvPr>
          <p:cNvSpPr>
            <a:spLocks xmlns:a="http://schemas.openxmlformats.org/drawingml/2006/main" noGrp="1"/>
          </p:cNvSpPr>
          <p:nvPr/>
        </p:nvSpPr>
        <p:spPr>
          <a:xfrm xmlns:a="http://schemas.openxmlformats.org/drawingml/2006/main">
            <a:off x="552450" y="5781675"/>
            <a:ext cx="104775" cy="104775"/>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7E1B1AB-213C-4AC6-B4A7-61EB6D999CA5}"/>
              </a:ext>
            </a:extLst>
          </p:cNvPr>
          <p:cNvSpPr>
            <a:spLocks xmlns:a="http://schemas.openxmlformats.org/drawingml/2006/main" noGrp="1"/>
          </p:cNvSpPr>
          <p:nvPr/>
        </p:nvSpPr>
        <p:spPr>
          <a:xfrm xmlns:a="http://schemas.openxmlformats.org/drawingml/2006/main">
            <a:off x="781050" y="5705475"/>
            <a:ext cx="510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circular timing controls + hidden deterioration</a:t>
            </a:r>
          </a:p>
        </p:txBody>
      </p:sp>
      <p:sp>
        <p:nvSpPr>
          <p:cNvPr id="19" name="">
            <a:extLst xmlns:a="http://schemas.openxmlformats.org/drawingml/2006/main">
              <a:ext uri="{FF2B5EF4-FFF2-40B4-BE49-F238E27FC236}">
                <a16:creationId xmlns:a16="http://schemas.microsoft.com/office/drawing/2014/main" id="{DF7620F6-48F8-458D-AD1D-5FC225DCAEE9}"/>
              </a:ext>
            </a:extLst>
          </p:cNvPr>
          <p:cNvSpPr>
            <a:spLocks xmlns:a="http://schemas.openxmlformats.org/drawingml/2006/main" noGrp="1"/>
          </p:cNvSpPr>
          <p:nvPr/>
        </p:nvSpPr>
        <p:spPr>
          <a:xfrm xmlns:a="http://schemas.openxmlformats.org/drawingml/2006/main">
            <a:off x="6477000" y="3810000"/>
            <a:ext cx="5143500" cy="1952625"/>
          </a:xfrm>
          <a:prstGeom xmlns:a="http://schemas.openxmlformats.org/drawingml/2006/main" prst="roundRect">
            <a:avLst>
              <a:gd name="adj" fmla="val 3902"/>
            </a:avLst>
          </a:prstGeom>
          <a:solidFill xmlns:a="http://schemas.openxmlformats.org/drawingml/2006/main">
            <a:srgbClr val="F2F2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0F3C7FA-B4B0-4413-826D-6CC48C917E0A}"/>
              </a:ext>
            </a:extLst>
          </p:cNvPr>
          <p:cNvSpPr>
            <a:spLocks xmlns:a="http://schemas.openxmlformats.org/drawingml/2006/main" noGrp="1"/>
          </p:cNvSpPr>
          <p:nvPr/>
        </p:nvSpPr>
        <p:spPr>
          <a:xfrm xmlns:a="http://schemas.openxmlformats.org/drawingml/2006/main">
            <a:off x="6810375" y="41433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Evidence boundary</a:t>
            </a:r>
          </a:p>
        </p:txBody>
      </p:sp>
      <p:sp>
        <p:nvSpPr>
          <p:cNvPr id="21" name="">
            <a:extLst xmlns:a="http://schemas.openxmlformats.org/drawingml/2006/main">
              <a:ext uri="{FF2B5EF4-FFF2-40B4-BE49-F238E27FC236}">
                <a16:creationId xmlns:a16="http://schemas.microsoft.com/office/drawing/2014/main" id="{37D3D29A-45BD-4600-9038-B26BBB5E7D50}"/>
              </a:ext>
            </a:extLst>
          </p:cNvPr>
          <p:cNvSpPr>
            <a:spLocks xmlns:a="http://schemas.openxmlformats.org/drawingml/2006/main" noGrp="1"/>
          </p:cNvSpPr>
          <p:nvPr/>
        </p:nvSpPr>
        <p:spPr>
          <a:xfrm xmlns:a="http://schemas.openxmlformats.org/drawingml/2006/main">
            <a:off x="6810375" y="4714875"/>
            <a:ext cx="4381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02630"/>
                </a:solidFill>
              </a:defRPr>
            </a:pPr>
            <a:r>
              <a:rPr sz="1650" b="0">
                <a:solidFill>
                  <a:srgbClr val="202630"/>
                </a:solidFill>
              </a:rPr>
              <a:t>2018–2023 diagnostic</a:t>
            </a:r>
          </a:p>
          <a:p xmlns:a="http://schemas.openxmlformats.org/drawingml/2006/main">
            <a:pPr algn="l">
              <a:defRPr sz="1650" b="0">
                <a:solidFill>
                  <a:srgbClr val="202630"/>
                </a:solidFill>
              </a:defRPr>
            </a:pPr>
            <a:r>
              <a:rPr sz="1650" b="0">
                <a:solidFill>
                  <a:srgbClr val="202630"/>
                </a:solidFill>
              </a:rPr>
              <a:t>2024+ sealed</a:t>
            </a:r>
          </a:p>
          <a:p xmlns:a="http://schemas.openxmlformats.org/drawingml/2006/main">
            <a:pPr algn="l">
              <a:defRPr sz="1650" b="0">
                <a:solidFill>
                  <a:srgbClr val="202630"/>
                </a:solidFill>
              </a:defRPr>
            </a:pPr>
            <a:r>
              <a:rPr sz="1650" b="0">
                <a:solidFill>
                  <a:srgbClr val="202630"/>
                </a:solidFill>
              </a:rPr>
              <a:t>no strategy outcomes</a:t>
            </a:r>
          </a:p>
          <a:p xmlns:a="http://schemas.openxmlformats.org/drawingml/2006/main">
            <a:pPr algn="l">
              <a:defRPr sz="1650" b="0">
                <a:solidFill>
                  <a:srgbClr val="202630"/>
                </a:solidFill>
              </a:defRPr>
            </a:pPr>
            <a:r>
              <a:rPr sz="1650" b="0">
                <a:solidFill>
                  <a:srgbClr val="202630"/>
                </a:solidFill>
              </a:rPr>
              <a:t>all 8 gates required</a:t>
            </a:r>
          </a:p>
        </p:txBody>
      </p:sp>
    </p:spTree>
    <p:extLst>
      <p:ext uri="{BB962C8B-B14F-4D97-AF65-F5344CB8AC3E}">
        <p14:creationId xmlns:p14="http://schemas.microsoft.com/office/powerpoint/2010/main" val="12728339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F4E9A65-F29F-4B6B-A393-23C3BCC9CE48}"/>
              </a:ext>
            </a:extLst>
          </p:cNvPr>
          <p:cNvSpPr>
            <a:spLocks xmlns:a="http://schemas.openxmlformats.org/drawingml/2006/main" noGrp="1"/>
          </p:cNvSpPr>
          <p:nvPr/>
        </p:nvSpPr>
        <p:spPr>
          <a:xfrm xmlns:a="http://schemas.openxmlformats.org/drawingml/2006/main">
            <a:off x="457200" y="3238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Breadth really does broaden and narrow beneath SPY</a:t>
            </a:r>
          </a:p>
        </p:txBody>
      </p:sp>
      <p:sp>
        <p:nvSpPr>
          <p:cNvPr id="2" name="">
            <a:extLst xmlns:a="http://schemas.openxmlformats.org/drawingml/2006/main">
              <a:ext uri="{FF2B5EF4-FFF2-40B4-BE49-F238E27FC236}">
                <a16:creationId xmlns:a16="http://schemas.microsoft.com/office/drawing/2014/main" id="{9F2D4F1F-A1EF-41E4-B5F0-37E53980E89C}"/>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5</a:t>
            </a:r>
          </a:p>
        </p:txBody>
      </p:sp>
      <p:sp>
        <p:nvSpPr>
          <p:cNvPr id="3" name="">
            <a:extLst xmlns:a="http://schemas.openxmlformats.org/drawingml/2006/main">
              <a:ext uri="{FF2B5EF4-FFF2-40B4-BE49-F238E27FC236}">
                <a16:creationId xmlns:a16="http://schemas.microsoft.com/office/drawing/2014/main" id="{E2D489C2-20DC-4DD0-9170-52FE24785FB4}"/>
              </a:ext>
            </a:extLst>
          </p:cNvPr>
          <p:cNvSpPr>
            <a:spLocks xmlns:a="http://schemas.openxmlformats.org/drawingml/2006/main" noGrp="1"/>
          </p:cNvSpPr>
          <p:nvPr/>
        </p:nvSpPr>
        <p:spPr>
          <a:xfrm xmlns:a="http://schemas.openxmlformats.org/drawingml/2006/main">
            <a:off x="457200" y="10287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SIGNAL ANATOMY</a:t>
            </a:r>
          </a:p>
        </p:txBody>
      </p:sp>
      <p:sp>
        <p:nvSpPr>
          <p:cNvPr id="4" name="">
            <a:extLst xmlns:a="http://schemas.openxmlformats.org/drawingml/2006/main">
              <a:ext uri="{FF2B5EF4-FFF2-40B4-BE49-F238E27FC236}">
                <a16:creationId xmlns:a16="http://schemas.microsoft.com/office/drawing/2014/main" id="{E9DB1FFB-74A1-4081-954B-64408F4F64C9}"/>
              </a:ext>
            </a:extLst>
          </p:cNvPr>
          <p:cNvSpPr>
            <a:spLocks xmlns:a="http://schemas.openxmlformats.org/drawingml/2006/main" noGrp="1"/>
          </p:cNvSpPr>
          <p:nvPr/>
        </p:nvSpPr>
        <p:spPr>
          <a:xfrm xmlns:a="http://schemas.openxmlformats.org/drawingml/2006/main">
            <a:off x="457200" y="1381125"/>
            <a:ext cx="8239125" cy="4762500"/>
          </a:xfrm>
          <a:prstGeom xmlns:a="http://schemas.openxmlformats.org/drawingml/2006/main" prst="rect">
            <a:avLst/>
          </a:prstGeom>
          <a:solidFill xmlns:a="http://schemas.openxmlformats.org/drawingml/2006/main">
            <a:srgbClr val="FAFAFA"/>
          </a:solidFill>
          <a:ln xmlns:a="http://schemas.openxmlformats.org/drawingml/2006/main" w="9525">
            <a:solidFill>
              <a:srgbClr val="B8BCC4"/>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52e175de3c44c3d"/>
          <a:stretch xmlns:a="http://schemas.openxmlformats.org/drawingml/2006/main"/>
        </p:blipFill>
        <p:spPr>
          <a:xfrm xmlns:a="http://schemas.openxmlformats.org/drawingml/2006/main">
            <a:off x="457200" y="1811003"/>
            <a:ext cx="8239125" cy="390274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0ECF33A-C00B-478D-A503-ABC4A0397513}"/>
              </a:ext>
            </a:extLst>
          </p:cNvPr>
          <p:cNvSpPr>
            <a:spLocks xmlns:a="http://schemas.openxmlformats.org/drawingml/2006/main" noGrp="1"/>
          </p:cNvSpPr>
          <p:nvPr/>
        </p:nvSpPr>
        <p:spPr>
          <a:xfrm xmlns:a="http://schemas.openxmlformats.org/drawingml/2006/main">
            <a:off x="9096375" y="16668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Read the columns</a:t>
            </a:r>
          </a:p>
        </p:txBody>
      </p:sp>
      <p:sp>
        <p:nvSpPr>
          <p:cNvPr id="7" name="">
            <a:extLst xmlns:a="http://schemas.openxmlformats.org/drawingml/2006/main">
              <a:ext uri="{FF2B5EF4-FFF2-40B4-BE49-F238E27FC236}">
                <a16:creationId xmlns:a16="http://schemas.microsoft.com/office/drawing/2014/main" id="{341CD88E-331C-48AF-BA98-F71C972EB49A}"/>
              </a:ext>
            </a:extLst>
          </p:cNvPr>
          <p:cNvSpPr>
            <a:spLocks xmlns:a="http://schemas.openxmlformats.org/drawingml/2006/main" noGrp="1"/>
          </p:cNvSpPr>
          <p:nvPr/>
        </p:nvSpPr>
        <p:spPr>
          <a:xfrm xmlns:a="http://schemas.openxmlformats.org/drawingml/2006/main">
            <a:off x="9096375" y="2333625"/>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defRPr>
            </a:pPr>
            <a:r>
              <a:rPr sz="1575" b="1">
                <a:solidFill>
                  <a:srgbClr val="3D8DFF"/>
                </a:solidFill>
              </a:rPr>
              <a:t>Blue</a:t>
            </a:r>
          </a:p>
          <a:p xmlns:a="http://schemas.openxmlformats.org/drawingml/2006/main">
            <a:pPr algn="l">
              <a:defRPr sz="1575" b="1">
                <a:solidFill>
                  <a:srgbClr val="3D8DFF"/>
                </a:solidFill>
              </a:defRPr>
            </a:pPr>
            <a:r>
              <a:rPr sz="1575" b="1">
                <a:solidFill>
                  <a:srgbClr val="3D8DFF"/>
                </a:solidFill>
              </a:rPr>
              <a:t>many sectors above anchor</a:t>
            </a:r>
          </a:p>
        </p:txBody>
      </p:sp>
      <p:sp>
        <p:nvSpPr>
          <p:cNvPr id="8" name="">
            <a:extLst xmlns:a="http://schemas.openxmlformats.org/drawingml/2006/main">
              <a:ext uri="{FF2B5EF4-FFF2-40B4-BE49-F238E27FC236}">
                <a16:creationId xmlns:a16="http://schemas.microsoft.com/office/drawing/2014/main" id="{BDA4FBD1-C0ED-4759-B1C1-5CC3A233DA6F}"/>
              </a:ext>
            </a:extLst>
          </p:cNvPr>
          <p:cNvSpPr>
            <a:spLocks xmlns:a="http://schemas.openxmlformats.org/drawingml/2006/main" noGrp="1"/>
          </p:cNvSpPr>
          <p:nvPr/>
        </p:nvSpPr>
        <p:spPr>
          <a:xfrm xmlns:a="http://schemas.openxmlformats.org/drawingml/2006/main">
            <a:off x="9096375" y="3476625"/>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D95F59"/>
                </a:solidFill>
              </a:defRPr>
            </a:pPr>
            <a:r>
              <a:rPr sz="1575" b="1">
                <a:solidFill>
                  <a:srgbClr val="D95F59"/>
                </a:solidFill>
              </a:rPr>
              <a:t>Red</a:t>
            </a:r>
          </a:p>
          <a:p xmlns:a="http://schemas.openxmlformats.org/drawingml/2006/main">
            <a:pPr algn="l">
              <a:defRPr sz="1575" b="1">
                <a:solidFill>
                  <a:srgbClr val="D95F59"/>
                </a:solidFill>
              </a:defRPr>
            </a:pPr>
            <a:r>
              <a:rPr sz="1575" b="1">
                <a:solidFill>
                  <a:srgbClr val="D95F59"/>
                </a:solidFill>
              </a:rPr>
              <a:t>many sectors below anchor</a:t>
            </a:r>
          </a:p>
        </p:txBody>
      </p:sp>
      <p:sp>
        <p:nvSpPr>
          <p:cNvPr id="9" name="">
            <a:extLst xmlns:a="http://schemas.openxmlformats.org/drawingml/2006/main">
              <a:ext uri="{FF2B5EF4-FFF2-40B4-BE49-F238E27FC236}">
                <a16:creationId xmlns:a16="http://schemas.microsoft.com/office/drawing/2014/main" id="{AC9511E2-B686-4498-92DD-F220825A3CD9}"/>
              </a:ext>
            </a:extLst>
          </p:cNvPr>
          <p:cNvSpPr>
            <a:spLocks xmlns:a="http://schemas.openxmlformats.org/drawingml/2006/main" noGrp="1"/>
          </p:cNvSpPr>
          <p:nvPr/>
        </p:nvSpPr>
        <p:spPr>
          <a:xfrm xmlns:a="http://schemas.openxmlformats.org/drawingml/2006/main">
            <a:off x="9096375" y="4810125"/>
            <a:ext cx="238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Mixed columns expose rotation that a single SPY line compresses away.</a:t>
            </a:r>
          </a:p>
        </p:txBody>
      </p:sp>
    </p:spTree>
    <p:extLst>
      <p:ext uri="{BB962C8B-B14F-4D97-AF65-F5344CB8AC3E}">
        <p14:creationId xmlns:p14="http://schemas.microsoft.com/office/powerpoint/2010/main" val="8138322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DD7D3DC-89B9-4656-9817-5EC5C0E9DB3A}"/>
              </a:ext>
            </a:extLst>
          </p:cNvPr>
          <p:cNvSpPr>
            <a:spLocks xmlns:a="http://schemas.openxmlformats.org/drawingml/2006/main" noGrp="1"/>
          </p:cNvSpPr>
          <p:nvPr/>
        </p:nvSpPr>
        <p:spPr>
          <a:xfrm xmlns:a="http://schemas.openxmlformats.org/drawingml/2006/main">
            <a:off x="457200" y="3238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A one-month hidden-deterioration clue appears</a:t>
            </a:r>
          </a:p>
        </p:txBody>
      </p:sp>
      <p:sp>
        <p:nvSpPr>
          <p:cNvPr id="2" name="">
            <a:extLst xmlns:a="http://schemas.openxmlformats.org/drawingml/2006/main">
              <a:ext uri="{FF2B5EF4-FFF2-40B4-BE49-F238E27FC236}">
                <a16:creationId xmlns:a16="http://schemas.microsoft.com/office/drawing/2014/main" id="{6B720A33-04A5-4087-A6DF-01E37F215174}"/>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6</a:t>
            </a:r>
          </a:p>
        </p:txBody>
      </p:sp>
      <p:sp>
        <p:nvSpPr>
          <p:cNvPr id="3" name="">
            <a:extLst xmlns:a="http://schemas.openxmlformats.org/drawingml/2006/main">
              <a:ext uri="{FF2B5EF4-FFF2-40B4-BE49-F238E27FC236}">
                <a16:creationId xmlns:a16="http://schemas.microsoft.com/office/drawing/2014/main" id="{7D2B4D3C-B6DF-4F51-90E6-B0D15C129AF7}"/>
              </a:ext>
            </a:extLst>
          </p:cNvPr>
          <p:cNvSpPr>
            <a:spLocks xmlns:a="http://schemas.openxmlformats.org/drawingml/2006/main" noGrp="1"/>
          </p:cNvSpPr>
          <p:nvPr/>
        </p:nvSpPr>
        <p:spPr>
          <a:xfrm xmlns:a="http://schemas.openxmlformats.org/drawingml/2006/main">
            <a:off x="457200" y="10287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E8B57"/>
                </a:solidFill>
              </a:defRPr>
            </a:pPr>
            <a:r>
              <a:rPr sz="1050" b="1">
                <a:solidFill>
                  <a:srgbClr val="2E8B57"/>
                </a:solidFill>
              </a:rPr>
              <a:t>USEFUL CLUE—NOT PROMOTION</a:t>
            </a:r>
          </a:p>
        </p:txBody>
      </p:sp>
      <p:sp>
        <p:nvSpPr>
          <p:cNvPr id="4" name="">
            <a:extLst xmlns:a="http://schemas.openxmlformats.org/drawingml/2006/main">
              <a:ext uri="{FF2B5EF4-FFF2-40B4-BE49-F238E27FC236}">
                <a16:creationId xmlns:a16="http://schemas.microsoft.com/office/drawing/2014/main" id="{E991CBE0-2258-43DE-ADD6-2A0D8306955C}"/>
              </a:ext>
            </a:extLst>
          </p:cNvPr>
          <p:cNvSpPr>
            <a:spLocks xmlns:a="http://schemas.openxmlformats.org/drawingml/2006/main" noGrp="1"/>
          </p:cNvSpPr>
          <p:nvPr/>
        </p:nvSpPr>
        <p:spPr>
          <a:xfrm xmlns:a="http://schemas.openxmlformats.org/drawingml/2006/main">
            <a:off x="457200" y="1428750"/>
            <a:ext cx="7239000" cy="4476750"/>
          </a:xfrm>
          <a:prstGeom xmlns:a="http://schemas.openxmlformats.org/drawingml/2006/main" prst="rect">
            <a:avLst/>
          </a:prstGeom>
          <a:solidFill xmlns:a="http://schemas.openxmlformats.org/drawingml/2006/main">
            <a:srgbClr val="FAFAFA"/>
          </a:solidFill>
          <a:ln xmlns:a="http://schemas.openxmlformats.org/drawingml/2006/main" w="9525">
            <a:solidFill>
              <a:srgbClr val="B8BCC4"/>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fe27716931549a5"/>
          <a:stretch xmlns:a="http://schemas.openxmlformats.org/drawingml/2006/main"/>
        </p:blipFill>
        <p:spPr>
          <a:xfrm xmlns:a="http://schemas.openxmlformats.org/drawingml/2006/main">
            <a:off x="457200" y="1555750"/>
            <a:ext cx="7239000" cy="4222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C8373D7-ED29-420A-892C-4278B3042D21}"/>
              </a:ext>
            </a:extLst>
          </p:cNvPr>
          <p:cNvSpPr>
            <a:spLocks xmlns:a="http://schemas.openxmlformats.org/drawingml/2006/main" noGrp="1"/>
          </p:cNvSpPr>
          <p:nvPr/>
        </p:nvSpPr>
        <p:spPr>
          <a:xfrm xmlns:a="http://schemas.openxmlformats.org/drawingml/2006/main">
            <a:off x="8096250" y="1571625"/>
            <a:ext cx="3476625" cy="1143000"/>
          </a:xfrm>
          <a:prstGeom xmlns:a="http://schemas.openxmlformats.org/drawingml/2006/main" prst="roundRect">
            <a:avLst>
              <a:gd name="adj" fmla="val 6667"/>
            </a:avLst>
          </a:prstGeom>
          <a:solidFill xmlns:a="http://schemas.openxmlformats.org/drawingml/2006/main">
            <a:srgbClr val="F2F2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7EE5E3E-C94A-41AB-BBB2-2568FDCD7970}"/>
              </a:ext>
            </a:extLst>
          </p:cNvPr>
          <p:cNvSpPr>
            <a:spLocks xmlns:a="http://schemas.openxmlformats.org/drawingml/2006/main" noGrp="1"/>
          </p:cNvSpPr>
          <p:nvPr/>
        </p:nvSpPr>
        <p:spPr>
          <a:xfrm xmlns:a="http://schemas.openxmlformats.org/drawingml/2006/main">
            <a:off x="8382000" y="1743075"/>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3D8DFF"/>
                </a:solidFill>
              </a:defRPr>
            </a:pPr>
            <a:r>
              <a:rPr sz="2550" b="1">
                <a:solidFill>
                  <a:srgbClr val="3D8DFF"/>
                </a:solidFill>
              </a:rPr>
              <a:t>19 / 26</a:t>
            </a:r>
          </a:p>
        </p:txBody>
      </p:sp>
      <p:sp>
        <p:nvSpPr>
          <p:cNvPr id="8" name="">
            <a:extLst xmlns:a="http://schemas.openxmlformats.org/drawingml/2006/main">
              <a:ext uri="{FF2B5EF4-FFF2-40B4-BE49-F238E27FC236}">
                <a16:creationId xmlns:a16="http://schemas.microsoft.com/office/drawing/2014/main" id="{D9A96645-733A-421F-B983-36F36DF08F30}"/>
              </a:ext>
            </a:extLst>
          </p:cNvPr>
          <p:cNvSpPr>
            <a:spLocks xmlns:a="http://schemas.openxmlformats.org/drawingml/2006/main" noGrp="1"/>
          </p:cNvSpPr>
          <p:nvPr/>
        </p:nvSpPr>
        <p:spPr>
          <a:xfrm xmlns:a="http://schemas.openxmlformats.org/drawingml/2006/main">
            <a:off x="8382000" y="22193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02630"/>
                </a:solidFill>
              </a:defRPr>
            </a:pPr>
            <a:r>
              <a:rPr sz="1350" b="0">
                <a:solidFill>
                  <a:srgbClr val="202630"/>
                </a:solidFill>
              </a:rPr>
              <a:t>targets with positive H20 association</a:t>
            </a:r>
          </a:p>
        </p:txBody>
      </p:sp>
      <p:sp>
        <p:nvSpPr>
          <p:cNvPr id="9" name="">
            <a:extLst xmlns:a="http://schemas.openxmlformats.org/drawingml/2006/main">
              <a:ext uri="{FF2B5EF4-FFF2-40B4-BE49-F238E27FC236}">
                <a16:creationId xmlns:a16="http://schemas.microsoft.com/office/drawing/2014/main" id="{95ADFFBE-9A97-43CD-B1DC-02D06D2BEDA7}"/>
              </a:ext>
            </a:extLst>
          </p:cNvPr>
          <p:cNvSpPr>
            <a:spLocks xmlns:a="http://schemas.openxmlformats.org/drawingml/2006/main" noGrp="1"/>
          </p:cNvSpPr>
          <p:nvPr/>
        </p:nvSpPr>
        <p:spPr>
          <a:xfrm xmlns:a="http://schemas.openxmlformats.org/drawingml/2006/main">
            <a:off x="8096250" y="2952750"/>
            <a:ext cx="3476625" cy="1143000"/>
          </a:xfrm>
          <a:prstGeom xmlns:a="http://schemas.openxmlformats.org/drawingml/2006/main" prst="roundRect">
            <a:avLst>
              <a:gd name="adj" fmla="val 6667"/>
            </a:avLst>
          </a:prstGeom>
          <a:solidFill xmlns:a="http://schemas.openxmlformats.org/drawingml/2006/main">
            <a:srgbClr val="F2F2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5209E15-6BED-42C2-8313-AA49710D4D9A}"/>
              </a:ext>
            </a:extLst>
          </p:cNvPr>
          <p:cNvSpPr>
            <a:spLocks xmlns:a="http://schemas.openxmlformats.org/drawingml/2006/main" noGrp="1"/>
          </p:cNvSpPr>
          <p:nvPr/>
        </p:nvSpPr>
        <p:spPr>
          <a:xfrm xmlns:a="http://schemas.openxmlformats.org/drawingml/2006/main">
            <a:off x="8382000" y="3124200"/>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3D8DFF"/>
                </a:solidFill>
              </a:defRPr>
            </a:pPr>
            <a:r>
              <a:rPr sz="2550" b="1">
                <a:solidFill>
                  <a:srgbClr val="3D8DFF"/>
                </a:solidFill>
              </a:rPr>
              <a:t>+1.78%</a:t>
            </a:r>
          </a:p>
        </p:txBody>
      </p:sp>
      <p:sp>
        <p:nvSpPr>
          <p:cNvPr id="11" name="">
            <a:extLst xmlns:a="http://schemas.openxmlformats.org/drawingml/2006/main">
              <a:ext uri="{FF2B5EF4-FFF2-40B4-BE49-F238E27FC236}">
                <a16:creationId xmlns:a16="http://schemas.microsoft.com/office/drawing/2014/main" id="{54AFE483-399D-4D07-89CC-902478E0D357}"/>
              </a:ext>
            </a:extLst>
          </p:cNvPr>
          <p:cNvSpPr>
            <a:spLocks xmlns:a="http://schemas.openxmlformats.org/drawingml/2006/main" noGrp="1"/>
          </p:cNvSpPr>
          <p:nvPr/>
        </p:nvSpPr>
        <p:spPr>
          <a:xfrm xmlns:a="http://schemas.openxmlformats.org/drawingml/2006/main">
            <a:off x="8382000" y="36004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02630"/>
                </a:solidFill>
              </a:defRPr>
            </a:pPr>
            <a:r>
              <a:rPr sz="1350" b="0">
                <a:solidFill>
                  <a:srgbClr val="202630"/>
                </a:solidFill>
              </a:rPr>
              <a:t>median H20 top-minus-bottom quintile</a:t>
            </a:r>
          </a:p>
        </p:txBody>
      </p:sp>
      <p:sp>
        <p:nvSpPr>
          <p:cNvPr id="12" name="">
            <a:extLst xmlns:a="http://schemas.openxmlformats.org/drawingml/2006/main">
              <a:ext uri="{FF2B5EF4-FFF2-40B4-BE49-F238E27FC236}">
                <a16:creationId xmlns:a16="http://schemas.microsoft.com/office/drawing/2014/main" id="{A12FE164-71D4-4578-B295-E6548327177F}"/>
              </a:ext>
            </a:extLst>
          </p:cNvPr>
          <p:cNvSpPr>
            <a:spLocks xmlns:a="http://schemas.openxmlformats.org/drawingml/2006/main" noGrp="1"/>
          </p:cNvSpPr>
          <p:nvPr/>
        </p:nvSpPr>
        <p:spPr>
          <a:xfrm xmlns:a="http://schemas.openxmlformats.org/drawingml/2006/main">
            <a:off x="8096250" y="4333875"/>
            <a:ext cx="3476625" cy="1143000"/>
          </a:xfrm>
          <a:prstGeom xmlns:a="http://schemas.openxmlformats.org/drawingml/2006/main" prst="roundRect">
            <a:avLst>
              <a:gd name="adj" fmla="val 6667"/>
            </a:avLst>
          </a:prstGeom>
          <a:solidFill xmlns:a="http://schemas.openxmlformats.org/drawingml/2006/main">
            <a:srgbClr val="E5F3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BC358A3-6148-43D1-8B43-C338D4B3E03D}"/>
              </a:ext>
            </a:extLst>
          </p:cNvPr>
          <p:cNvSpPr>
            <a:spLocks xmlns:a="http://schemas.openxmlformats.org/drawingml/2006/main" noGrp="1"/>
          </p:cNvSpPr>
          <p:nvPr/>
        </p:nvSpPr>
        <p:spPr>
          <a:xfrm xmlns:a="http://schemas.openxmlformats.org/drawingml/2006/main">
            <a:off x="8382000" y="4505325"/>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2E8B57"/>
                </a:solidFill>
              </a:defRPr>
            </a:pPr>
            <a:r>
              <a:rPr sz="2550" b="1">
                <a:solidFill>
                  <a:srgbClr val="2E8B57"/>
                </a:solidFill>
              </a:rPr>
              <a:t>−0.94 pp</a:t>
            </a:r>
          </a:p>
        </p:txBody>
      </p:sp>
      <p:sp>
        <p:nvSpPr>
          <p:cNvPr id="14" name="">
            <a:extLst xmlns:a="http://schemas.openxmlformats.org/drawingml/2006/main">
              <a:ext uri="{FF2B5EF4-FFF2-40B4-BE49-F238E27FC236}">
                <a16:creationId xmlns:a16="http://schemas.microsoft.com/office/drawing/2014/main" id="{F75485FC-6310-439B-A4CB-F43D514F775A}"/>
              </a:ext>
            </a:extLst>
          </p:cNvPr>
          <p:cNvSpPr>
            <a:spLocks xmlns:a="http://schemas.openxmlformats.org/drawingml/2006/main" noGrp="1"/>
          </p:cNvSpPr>
          <p:nvPr/>
        </p:nvSpPr>
        <p:spPr>
          <a:xfrm xmlns:a="http://schemas.openxmlformats.org/drawingml/2006/main">
            <a:off x="8382000" y="49815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02630"/>
                </a:solidFill>
              </a:defRPr>
            </a:pPr>
            <a:r>
              <a:rPr sz="1350" b="0">
                <a:solidFill>
                  <a:srgbClr val="202630"/>
                </a:solidFill>
              </a:rPr>
              <a:t>H20 decay gap inside positive SPY trend</a:t>
            </a:r>
          </a:p>
        </p:txBody>
      </p:sp>
      <p:sp>
        <p:nvSpPr>
          <p:cNvPr id="15" name="">
            <a:extLst xmlns:a="http://schemas.openxmlformats.org/drawingml/2006/main">
              <a:ext uri="{FF2B5EF4-FFF2-40B4-BE49-F238E27FC236}">
                <a16:creationId xmlns:a16="http://schemas.microsoft.com/office/drawing/2014/main" id="{C21D7CC8-8055-41F1-B095-FC961C7BECB7}"/>
              </a:ext>
            </a:extLst>
          </p:cNvPr>
          <p:cNvSpPr>
            <a:spLocks xmlns:a="http://schemas.openxmlformats.org/drawingml/2006/main" noGrp="1"/>
          </p:cNvSpPr>
          <p:nvPr/>
        </p:nvSpPr>
        <p:spPr>
          <a:xfrm xmlns:a="http://schemas.openxmlformats.org/drawingml/2006/main">
            <a:off x="619125" y="6048375"/>
            <a:ext cx="10810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00000"/>
                </a:solidFill>
              </a:defRPr>
            </a:pPr>
            <a:r>
              <a:rPr sz="1575" b="1">
                <a:solidFill>
                  <a:srgbClr val="000000"/>
                </a:solidFill>
              </a:rPr>
              <a:t>But H20 balanced accuracy is 0.502 and actual timing ranks only at the 56th control percentile.</a:t>
            </a:r>
          </a:p>
        </p:txBody>
      </p:sp>
    </p:spTree>
    <p:extLst>
      <p:ext uri="{BB962C8B-B14F-4D97-AF65-F5344CB8AC3E}">
        <p14:creationId xmlns:p14="http://schemas.microsoft.com/office/powerpoint/2010/main" val="14377828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0C017C5-7DE3-45E2-943A-A572FC0B0BC6}"/>
              </a:ext>
            </a:extLst>
          </p:cNvPr>
          <p:cNvSpPr>
            <a:spLocks xmlns:a="http://schemas.openxmlformats.org/drawingml/2006/main" noGrp="1"/>
          </p:cNvSpPr>
          <p:nvPr/>
        </p:nvSpPr>
        <p:spPr>
          <a:xfrm xmlns:a="http://schemas.openxmlformats.org/drawingml/2006/main">
            <a:off x="457200" y="3238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The clue does not survive a quarter or the timing falsification</a:t>
            </a:r>
          </a:p>
        </p:txBody>
      </p:sp>
      <p:sp>
        <p:nvSpPr>
          <p:cNvPr id="2" name="">
            <a:extLst xmlns:a="http://schemas.openxmlformats.org/drawingml/2006/main">
              <a:ext uri="{FF2B5EF4-FFF2-40B4-BE49-F238E27FC236}">
                <a16:creationId xmlns:a16="http://schemas.microsoft.com/office/drawing/2014/main" id="{17988590-0054-4B45-9ECA-B3C73C2F80BB}"/>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7</a:t>
            </a:r>
          </a:p>
        </p:txBody>
      </p:sp>
      <p:sp>
        <p:nvSpPr>
          <p:cNvPr id="3" name="">
            <a:extLst xmlns:a="http://schemas.openxmlformats.org/drawingml/2006/main">
              <a:ext uri="{FF2B5EF4-FFF2-40B4-BE49-F238E27FC236}">
                <a16:creationId xmlns:a16="http://schemas.microsoft.com/office/drawing/2014/main" id="{B4C1F9BA-5E0F-4353-A512-6BA0D5E5E1A2}"/>
              </a:ext>
            </a:extLst>
          </p:cNvPr>
          <p:cNvSpPr>
            <a:spLocks xmlns:a="http://schemas.openxmlformats.org/drawingml/2006/main" noGrp="1"/>
          </p:cNvSpPr>
          <p:nvPr/>
        </p:nvSpPr>
        <p:spPr>
          <a:xfrm xmlns:a="http://schemas.openxmlformats.org/drawingml/2006/main">
            <a:off x="457200" y="10287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D95F59"/>
                </a:solidFill>
              </a:defRPr>
            </a:pPr>
            <a:r>
              <a:rPr sz="1050" b="1">
                <a:solidFill>
                  <a:srgbClr val="D95F59"/>
                </a:solidFill>
              </a:rPr>
              <a:t>WHY THE CLASSIFIER STOPS</a:t>
            </a:r>
          </a:p>
        </p:txBody>
      </p:sp>
      <p:sp>
        <p:nvSpPr>
          <p:cNvPr id="4" name="">
            <a:extLst xmlns:a="http://schemas.openxmlformats.org/drawingml/2006/main">
              <a:ext uri="{FF2B5EF4-FFF2-40B4-BE49-F238E27FC236}">
                <a16:creationId xmlns:a16="http://schemas.microsoft.com/office/drawing/2014/main" id="{8B427C3A-C02B-4A0F-9DA8-F5F2A660C210}"/>
              </a:ext>
            </a:extLst>
          </p:cNvPr>
          <p:cNvSpPr>
            <a:spLocks xmlns:a="http://schemas.openxmlformats.org/drawingml/2006/main" noGrp="1"/>
          </p:cNvSpPr>
          <p:nvPr/>
        </p:nvSpPr>
        <p:spPr>
          <a:xfrm xmlns:a="http://schemas.openxmlformats.org/drawingml/2006/main">
            <a:off x="457200" y="1381125"/>
            <a:ext cx="6191250" cy="4762500"/>
          </a:xfrm>
          <a:prstGeom xmlns:a="http://schemas.openxmlformats.org/drawingml/2006/main" prst="rect">
            <a:avLst/>
          </a:prstGeom>
          <a:solidFill xmlns:a="http://schemas.openxmlformats.org/drawingml/2006/main">
            <a:srgbClr val="FAFAFA"/>
          </a:solidFill>
          <a:ln xmlns:a="http://schemas.openxmlformats.org/drawingml/2006/main" w="9525">
            <a:solidFill>
              <a:srgbClr val="B8BCC4"/>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999956eb3b1471d"/>
          <a:stretch xmlns:a="http://schemas.openxmlformats.org/drawingml/2006/main"/>
        </p:blipFill>
        <p:spPr>
          <a:xfrm xmlns:a="http://schemas.openxmlformats.org/drawingml/2006/main">
            <a:off x="1250950" y="1381125"/>
            <a:ext cx="4603750"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40A08F3-FD9A-44F0-9913-88B6A4A78A31}"/>
              </a:ext>
            </a:extLst>
          </p:cNvPr>
          <p:cNvSpPr>
            <a:spLocks xmlns:a="http://schemas.openxmlformats.org/drawingml/2006/main" noGrp="1"/>
          </p:cNvSpPr>
          <p:nvPr/>
        </p:nvSpPr>
        <p:spPr>
          <a:xfrm xmlns:a="http://schemas.openxmlformats.org/drawingml/2006/main">
            <a:off x="6953250" y="1381125"/>
            <a:ext cx="4762500" cy="2809875"/>
          </a:xfrm>
          <a:prstGeom xmlns:a="http://schemas.openxmlformats.org/drawingml/2006/main" prst="rect">
            <a:avLst/>
          </a:prstGeom>
          <a:solidFill xmlns:a="http://schemas.openxmlformats.org/drawingml/2006/main">
            <a:srgbClr val="FAFAFA"/>
          </a:solidFill>
          <a:ln xmlns:a="http://schemas.openxmlformats.org/drawingml/2006/main" w="9525">
            <a:solidFill>
              <a:srgbClr val="B8BCC4"/>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8b4048e2bbe4ba7"/>
          <a:stretch xmlns:a="http://schemas.openxmlformats.org/drawingml/2006/main"/>
        </p:blipFill>
        <p:spPr>
          <a:xfrm xmlns:a="http://schemas.openxmlformats.org/drawingml/2006/main">
            <a:off x="6953250" y="1397000"/>
            <a:ext cx="4762500" cy="277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57315A2-0B21-4A36-8EE8-E5EC86E738F6}"/>
              </a:ext>
            </a:extLst>
          </p:cNvPr>
          <p:cNvSpPr>
            <a:spLocks xmlns:a="http://schemas.openxmlformats.org/drawingml/2006/main" noGrp="1"/>
          </p:cNvSpPr>
          <p:nvPr/>
        </p:nvSpPr>
        <p:spPr>
          <a:xfrm xmlns:a="http://schemas.openxmlformats.org/drawingml/2006/main">
            <a:off x="7334250" y="4619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630"/>
                </a:solidFill>
              </a:defRPr>
            </a:pPr>
            <a:r>
              <a:rPr sz="1425" b="1">
                <a:solidFill>
                  <a:srgbClr val="202630"/>
                </a:solidFill>
              </a:rPr>
              <a:t>H63 median Spearman</a:t>
            </a:r>
          </a:p>
        </p:txBody>
      </p:sp>
      <p:sp>
        <p:nvSpPr>
          <p:cNvPr id="9" name="">
            <a:extLst xmlns:a="http://schemas.openxmlformats.org/drawingml/2006/main">
              <a:ext uri="{FF2B5EF4-FFF2-40B4-BE49-F238E27FC236}">
                <a16:creationId xmlns:a16="http://schemas.microsoft.com/office/drawing/2014/main" id="{463A4E84-4B49-4AEC-A623-BD6AEE34D93B}"/>
              </a:ext>
            </a:extLst>
          </p:cNvPr>
          <p:cNvSpPr>
            <a:spLocks xmlns:a="http://schemas.openxmlformats.org/drawingml/2006/main" noGrp="1"/>
          </p:cNvSpPr>
          <p:nvPr/>
        </p:nvSpPr>
        <p:spPr>
          <a:xfrm xmlns:a="http://schemas.openxmlformats.org/drawingml/2006/main">
            <a:off x="7334250" y="497205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D95F59"/>
                </a:solidFill>
              </a:defRPr>
            </a:pPr>
            <a:r>
              <a:rPr sz="3150" b="1">
                <a:solidFill>
                  <a:srgbClr val="D95F59"/>
                </a:solidFill>
              </a:rPr>
              <a:t>−0.382</a:t>
            </a:r>
          </a:p>
        </p:txBody>
      </p:sp>
      <p:sp>
        <p:nvSpPr>
          <p:cNvPr id="10" name="">
            <a:extLst xmlns:a="http://schemas.openxmlformats.org/drawingml/2006/main">
              <a:ext uri="{FF2B5EF4-FFF2-40B4-BE49-F238E27FC236}">
                <a16:creationId xmlns:a16="http://schemas.microsoft.com/office/drawing/2014/main" id="{10BB2EDD-8192-4A9D-8134-1BF287817B3C}"/>
              </a:ext>
            </a:extLst>
          </p:cNvPr>
          <p:cNvSpPr>
            <a:spLocks xmlns:a="http://schemas.openxmlformats.org/drawingml/2006/main" noGrp="1"/>
          </p:cNvSpPr>
          <p:nvPr/>
        </p:nvSpPr>
        <p:spPr>
          <a:xfrm xmlns:a="http://schemas.openxmlformats.org/drawingml/2006/main">
            <a:off x="7334250" y="5600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0 / 26 targets positive</a:t>
            </a:r>
          </a:p>
        </p:txBody>
      </p:sp>
      <p:sp>
        <p:nvSpPr>
          <p:cNvPr id="11" name="">
            <a:extLst xmlns:a="http://schemas.openxmlformats.org/drawingml/2006/main">
              <a:ext uri="{FF2B5EF4-FFF2-40B4-BE49-F238E27FC236}">
                <a16:creationId xmlns:a16="http://schemas.microsoft.com/office/drawing/2014/main" id="{21DE2646-AE8B-4AE7-94CB-6CEE2667269D}"/>
              </a:ext>
            </a:extLst>
          </p:cNvPr>
          <p:cNvSpPr>
            <a:spLocks xmlns:a="http://schemas.openxmlformats.org/drawingml/2006/main" noGrp="1"/>
          </p:cNvSpPr>
          <p:nvPr/>
        </p:nvSpPr>
        <p:spPr>
          <a:xfrm xmlns:a="http://schemas.openxmlformats.org/drawingml/2006/main">
            <a:off x="7334250" y="59531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D95F59"/>
                </a:solidFill>
              </a:defRPr>
            </a:pPr>
            <a:r>
              <a:rPr sz="1500" b="1">
                <a:solidFill>
                  <a:srgbClr val="D95F59"/>
                </a:solidFill>
              </a:rPr>
              <a:t>0th control percentile</a:t>
            </a:r>
          </a:p>
        </p:txBody>
      </p:sp>
    </p:spTree>
    <p:extLst>
      <p:ext uri="{BB962C8B-B14F-4D97-AF65-F5344CB8AC3E}">
        <p14:creationId xmlns:p14="http://schemas.microsoft.com/office/powerpoint/2010/main" val="10510286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A16E749-3222-4984-9880-7EE1CBDCB2FA}"/>
              </a:ext>
            </a:extLst>
          </p:cNvPr>
          <p:cNvSpPr>
            <a:spLocks xmlns:a="http://schemas.openxmlformats.org/drawingml/2006/main" noGrp="1"/>
          </p:cNvSpPr>
          <p:nvPr/>
        </p:nvSpPr>
        <p:spPr>
          <a:xfrm xmlns:a="http://schemas.openxmlformats.org/drawingml/2006/main">
            <a:off x="457200" y="3238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Preserve the insight; reject this implementation as a regime axis</a:t>
            </a:r>
          </a:p>
        </p:txBody>
      </p:sp>
      <p:sp>
        <p:nvSpPr>
          <p:cNvPr id="2" name="">
            <a:extLst xmlns:a="http://schemas.openxmlformats.org/drawingml/2006/main">
              <a:ext uri="{FF2B5EF4-FFF2-40B4-BE49-F238E27FC236}">
                <a16:creationId xmlns:a16="http://schemas.microsoft.com/office/drawing/2014/main" id="{82601408-AF34-452F-B2C3-A44353DA71E9}"/>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8</a:t>
            </a:r>
          </a:p>
        </p:txBody>
      </p:sp>
      <p:sp>
        <p:nvSpPr>
          <p:cNvPr id="3" name="">
            <a:extLst xmlns:a="http://schemas.openxmlformats.org/drawingml/2006/main">
              <a:ext uri="{FF2B5EF4-FFF2-40B4-BE49-F238E27FC236}">
                <a16:creationId xmlns:a16="http://schemas.microsoft.com/office/drawing/2014/main" id="{9BD60B06-4AB7-4DC1-800C-E3B438D6C0C6}"/>
              </a:ext>
            </a:extLst>
          </p:cNvPr>
          <p:cNvSpPr>
            <a:spLocks xmlns:a="http://schemas.openxmlformats.org/drawingml/2006/main" noGrp="1"/>
          </p:cNvSpPr>
          <p:nvPr/>
        </p:nvSpPr>
        <p:spPr>
          <a:xfrm xmlns:a="http://schemas.openxmlformats.org/drawingml/2006/main">
            <a:off x="457200" y="10287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D95F59"/>
                </a:solidFill>
              </a:defRPr>
            </a:pPr>
            <a:r>
              <a:rPr sz="1050" b="1">
                <a:solidFill>
                  <a:srgbClr val="D95F59"/>
                </a:solidFill>
              </a:rPr>
              <a:t>DECISION BOUNDARY</a:t>
            </a:r>
          </a:p>
        </p:txBody>
      </p:sp>
      <p:sp>
        <p:nvSpPr>
          <p:cNvPr id="4" name="">
            <a:extLst xmlns:a="http://schemas.openxmlformats.org/drawingml/2006/main">
              <a:ext uri="{FF2B5EF4-FFF2-40B4-BE49-F238E27FC236}">
                <a16:creationId xmlns:a16="http://schemas.microsoft.com/office/drawing/2014/main" id="{063AB236-9011-4659-A17A-00B64A8B5574}"/>
              </a:ext>
            </a:extLst>
          </p:cNvPr>
          <p:cNvSpPr>
            <a:spLocks xmlns:a="http://schemas.openxmlformats.org/drawingml/2006/main" noGrp="1"/>
          </p:cNvSpPr>
          <p:nvPr/>
        </p:nvSpPr>
        <p:spPr>
          <a:xfrm xmlns:a="http://schemas.openxmlformats.org/drawingml/2006/main">
            <a:off x="552450" y="1571625"/>
            <a:ext cx="2762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250" b="1">
                <a:solidFill>
                  <a:srgbClr val="D95F59"/>
                </a:solidFill>
              </a:defRPr>
            </a:pPr>
            <a:r>
              <a:rPr sz="5250" b="1">
                <a:solidFill>
                  <a:srgbClr val="D95F59"/>
                </a:solidFill>
              </a:rPr>
              <a:t>1 / 8</a:t>
            </a:r>
          </a:p>
        </p:txBody>
      </p:sp>
      <p:sp>
        <p:nvSpPr>
          <p:cNvPr id="5" name="">
            <a:extLst xmlns:a="http://schemas.openxmlformats.org/drawingml/2006/main">
              <a:ext uri="{FF2B5EF4-FFF2-40B4-BE49-F238E27FC236}">
                <a16:creationId xmlns:a16="http://schemas.microsoft.com/office/drawing/2014/main" id="{D8DE0917-6B9A-48EE-A7E6-C1D2DA4EF6AD}"/>
              </a:ext>
            </a:extLst>
          </p:cNvPr>
          <p:cNvSpPr>
            <a:spLocks xmlns:a="http://schemas.openxmlformats.org/drawingml/2006/main" noGrp="1"/>
          </p:cNvSpPr>
          <p:nvPr/>
        </p:nvSpPr>
        <p:spPr>
          <a:xfrm xmlns:a="http://schemas.openxmlformats.org/drawingml/2006/main">
            <a:off x="552450" y="26193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gates passed</a:t>
            </a:r>
          </a:p>
        </p:txBody>
      </p:sp>
      <p:sp>
        <p:nvSpPr>
          <p:cNvPr id="6" name="">
            <a:extLst xmlns:a="http://schemas.openxmlformats.org/drawingml/2006/main">
              <a:ext uri="{FF2B5EF4-FFF2-40B4-BE49-F238E27FC236}">
                <a16:creationId xmlns:a16="http://schemas.microsoft.com/office/drawing/2014/main" id="{98A9E1B2-E732-4F39-9383-A48343DDDA7E}"/>
              </a:ext>
            </a:extLst>
          </p:cNvPr>
          <p:cNvSpPr>
            <a:spLocks xmlns:a="http://schemas.openxmlformats.org/drawingml/2006/main" noGrp="1"/>
          </p:cNvSpPr>
          <p:nvPr/>
        </p:nvSpPr>
        <p:spPr>
          <a:xfrm xmlns:a="http://schemas.openxmlformats.org/drawingml/2006/main">
            <a:off x="552450" y="3476625"/>
            <a:ext cx="4953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D95F59"/>
                </a:solidFill>
              </a:defRPr>
            </a:pPr>
            <a:r>
              <a:rPr sz="1875" b="1">
                <a:solidFill>
                  <a:srgbClr val="D95F59"/>
                </a:solidFill>
              </a:rPr>
              <a:t>STOP_CROSS_SECTIONAL_BREADTH_</a:t>
            </a:r>
          </a:p>
          <a:p xmlns:a="http://schemas.openxmlformats.org/drawingml/2006/main">
            <a:pPr algn="l">
              <a:defRPr sz="1875" b="1">
                <a:solidFill>
                  <a:srgbClr val="D95F59"/>
                </a:solidFill>
              </a:defRPr>
            </a:pPr>
            <a:r>
              <a:rPr sz="1875" b="1">
                <a:solidFill>
                  <a:srgbClr val="D95F59"/>
                </a:solidFill>
              </a:rPr>
              <a:t>GATES_FAILED_NO_JOINT_FILTER</a:t>
            </a:r>
          </a:p>
        </p:txBody>
      </p:sp>
      <p:sp>
        <p:nvSpPr>
          <p:cNvPr id="7" name="">
            <a:extLst xmlns:a="http://schemas.openxmlformats.org/drawingml/2006/main">
              <a:ext uri="{FF2B5EF4-FFF2-40B4-BE49-F238E27FC236}">
                <a16:creationId xmlns:a16="http://schemas.microsoft.com/office/drawing/2014/main" id="{5E00C78B-45DA-475A-8916-84E8B91739EC}"/>
              </a:ext>
            </a:extLst>
          </p:cNvPr>
          <p:cNvSpPr>
            <a:spLocks xmlns:a="http://schemas.openxmlformats.org/drawingml/2006/main" noGrp="1"/>
          </p:cNvSpPr>
          <p:nvPr/>
        </p:nvSpPr>
        <p:spPr>
          <a:xfrm xmlns:a="http://schemas.openxmlformats.org/drawingml/2006/main">
            <a:off x="552450" y="5095875"/>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2E8B57"/>
                </a:solidFill>
              </a:defRPr>
            </a:pPr>
            <a:r>
              <a:rPr sz="1725" b="1">
                <a:solidFill>
                  <a:srgbClr val="2E8B57"/>
                </a:solidFill>
              </a:rPr>
              <a:t>2024+ remained sealed</a:t>
            </a:r>
          </a:p>
        </p:txBody>
      </p:sp>
      <p:sp>
        <p:nvSpPr>
          <p:cNvPr id="8" name="">
            <a:extLst xmlns:a="http://schemas.openxmlformats.org/drawingml/2006/main">
              <a:ext uri="{FF2B5EF4-FFF2-40B4-BE49-F238E27FC236}">
                <a16:creationId xmlns:a16="http://schemas.microsoft.com/office/drawing/2014/main" id="{2C4D2924-089F-4362-A09B-CE666C6C6AFA}"/>
              </a:ext>
            </a:extLst>
          </p:cNvPr>
          <p:cNvSpPr>
            <a:spLocks xmlns:a="http://schemas.openxmlformats.org/drawingml/2006/main" noGrp="1"/>
          </p:cNvSpPr>
          <p:nvPr/>
        </p:nvSpPr>
        <p:spPr>
          <a:xfrm xmlns:a="http://schemas.openxmlformats.org/drawingml/2006/main">
            <a:off x="6191250" y="1381125"/>
            <a:ext cx="5429250" cy="4191000"/>
          </a:xfrm>
          <a:prstGeom xmlns:a="http://schemas.openxmlformats.org/drawingml/2006/main" prst="roundRect">
            <a:avLst>
              <a:gd name="adj" fmla="val 1818"/>
            </a:avLst>
          </a:prstGeom>
          <a:solidFill xmlns:a="http://schemas.openxmlformats.org/drawingml/2006/main">
            <a:srgbClr val="F2F2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2187AEB-36A8-4007-8245-2F839A03892E}"/>
              </a:ext>
            </a:extLst>
          </p:cNvPr>
          <p:cNvSpPr>
            <a:spLocks xmlns:a="http://schemas.openxmlformats.org/drawingml/2006/main" noGrp="1"/>
          </p:cNvSpPr>
          <p:nvPr/>
        </p:nvSpPr>
        <p:spPr>
          <a:xfrm xmlns:a="http://schemas.openxmlformats.org/drawingml/2006/main">
            <a:off x="6572250" y="176212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defRPr>
            </a:pPr>
            <a:r>
              <a:rPr sz="2175" b="1">
                <a:solidFill>
                  <a:srgbClr val="000000"/>
                </a:solidFill>
              </a:rPr>
              <a:t>What carries forward</a:t>
            </a:r>
          </a:p>
        </p:txBody>
      </p:sp>
      <p:sp>
        <p:nvSpPr>
          <p:cNvPr id="10" name="">
            <a:extLst xmlns:a="http://schemas.openxmlformats.org/drawingml/2006/main">
              <a:ext uri="{FF2B5EF4-FFF2-40B4-BE49-F238E27FC236}">
                <a16:creationId xmlns:a16="http://schemas.microsoft.com/office/drawing/2014/main" id="{B15F661C-6F96-4143-A55C-7D8C16F076AA}"/>
              </a:ext>
            </a:extLst>
          </p:cNvPr>
          <p:cNvSpPr>
            <a:spLocks xmlns:a="http://schemas.openxmlformats.org/drawingml/2006/main" noGrp="1"/>
          </p:cNvSpPr>
          <p:nvPr/>
        </p:nvSpPr>
        <p:spPr>
          <a:xfrm xmlns:a="http://schemas.openxmlformats.org/drawingml/2006/main">
            <a:off x="6667500" y="2647950"/>
            <a:ext cx="104775" cy="104775"/>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039ED6F-7DC9-46B2-8042-F09CCE3D1522}"/>
              </a:ext>
            </a:extLst>
          </p:cNvPr>
          <p:cNvSpPr>
            <a:spLocks xmlns:a="http://schemas.openxmlformats.org/drawingml/2006/main" noGrp="1"/>
          </p:cNvSpPr>
          <p:nvPr/>
        </p:nvSpPr>
        <p:spPr>
          <a:xfrm xmlns:a="http://schemas.openxmlformats.org/drawingml/2006/main">
            <a:off x="6896100" y="2571750"/>
            <a:ext cx="4248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Breadth is a real cross-sectional measurement family</a:t>
            </a:r>
          </a:p>
        </p:txBody>
      </p:sp>
      <p:sp>
        <p:nvSpPr>
          <p:cNvPr id="12" name="">
            <a:extLst xmlns:a="http://schemas.openxmlformats.org/drawingml/2006/main">
              <a:ext uri="{FF2B5EF4-FFF2-40B4-BE49-F238E27FC236}">
                <a16:creationId xmlns:a16="http://schemas.microsoft.com/office/drawing/2014/main" id="{21B48D0E-5E57-466E-BA5A-29DF0563816D}"/>
              </a:ext>
            </a:extLst>
          </p:cNvPr>
          <p:cNvSpPr>
            <a:spLocks xmlns:a="http://schemas.openxmlformats.org/drawingml/2006/main" noGrp="1"/>
          </p:cNvSpPr>
          <p:nvPr/>
        </p:nvSpPr>
        <p:spPr>
          <a:xfrm xmlns:a="http://schemas.openxmlformats.org/drawingml/2006/main">
            <a:off x="6667500" y="3171825"/>
            <a:ext cx="104775" cy="104775"/>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A2A3467-30BA-4155-8B4E-19969AC92176}"/>
              </a:ext>
            </a:extLst>
          </p:cNvPr>
          <p:cNvSpPr>
            <a:spLocks xmlns:a="http://schemas.openxmlformats.org/drawingml/2006/main" noGrp="1"/>
          </p:cNvSpPr>
          <p:nvPr/>
        </p:nvSpPr>
        <p:spPr>
          <a:xfrm xmlns:a="http://schemas.openxmlformats.org/drawingml/2006/main">
            <a:off x="6896100" y="3095625"/>
            <a:ext cx="4248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The one-month decay clue is worth remembering</a:t>
            </a:r>
          </a:p>
        </p:txBody>
      </p:sp>
      <p:sp>
        <p:nvSpPr>
          <p:cNvPr id="14" name="">
            <a:extLst xmlns:a="http://schemas.openxmlformats.org/drawingml/2006/main">
              <a:ext uri="{FF2B5EF4-FFF2-40B4-BE49-F238E27FC236}">
                <a16:creationId xmlns:a16="http://schemas.microsoft.com/office/drawing/2014/main" id="{80A8090C-C55A-48B0-8ED0-CEABD4BFE8D7}"/>
              </a:ext>
            </a:extLst>
          </p:cNvPr>
          <p:cNvSpPr>
            <a:spLocks xmlns:a="http://schemas.openxmlformats.org/drawingml/2006/main" noGrp="1"/>
          </p:cNvSpPr>
          <p:nvPr/>
        </p:nvSpPr>
        <p:spPr>
          <a:xfrm xmlns:a="http://schemas.openxmlformats.org/drawingml/2006/main">
            <a:off x="6667500" y="3695700"/>
            <a:ext cx="104775" cy="104775"/>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799E56-7397-4E53-BB8D-37910614EA48}"/>
              </a:ext>
            </a:extLst>
          </p:cNvPr>
          <p:cNvSpPr>
            <a:spLocks xmlns:a="http://schemas.openxmlformats.org/drawingml/2006/main" noGrp="1"/>
          </p:cNvSpPr>
          <p:nvPr/>
        </p:nvSpPr>
        <p:spPr>
          <a:xfrm xmlns:a="http://schemas.openxmlformats.org/drawingml/2006/main">
            <a:off x="6896100" y="3619500"/>
            <a:ext cx="4248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This ten-sector/SMA20 score is not a general classifier</a:t>
            </a:r>
          </a:p>
        </p:txBody>
      </p:sp>
      <p:sp>
        <p:nvSpPr>
          <p:cNvPr id="16" name="">
            <a:extLst xmlns:a="http://schemas.openxmlformats.org/drawingml/2006/main">
              <a:ext uri="{FF2B5EF4-FFF2-40B4-BE49-F238E27FC236}">
                <a16:creationId xmlns:a16="http://schemas.microsoft.com/office/drawing/2014/main" id="{DFD39E95-0D9B-45C5-B610-06B6200422BF}"/>
              </a:ext>
            </a:extLst>
          </p:cNvPr>
          <p:cNvSpPr>
            <a:spLocks xmlns:a="http://schemas.openxmlformats.org/drawingml/2006/main" noGrp="1"/>
          </p:cNvSpPr>
          <p:nvPr/>
        </p:nvSpPr>
        <p:spPr>
          <a:xfrm xmlns:a="http://schemas.openxmlformats.org/drawingml/2006/main">
            <a:off x="6667500" y="4219575"/>
            <a:ext cx="104775" cy="104775"/>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D84EB97-90CA-48B0-84A4-7EEA53C9A0F9}"/>
              </a:ext>
            </a:extLst>
          </p:cNvPr>
          <p:cNvSpPr>
            <a:spLocks xmlns:a="http://schemas.openxmlformats.org/drawingml/2006/main" noGrp="1"/>
          </p:cNvSpPr>
          <p:nvPr/>
        </p:nvSpPr>
        <p:spPr>
          <a:xfrm xmlns:a="http://schemas.openxmlformats.org/drawingml/2006/main">
            <a:off x="6896100" y="4143375"/>
            <a:ext cx="4248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No ATR join, strategy overlay, tuning, inversion, or confirmation</a:t>
            </a:r>
          </a:p>
        </p:txBody>
      </p:sp>
      <p:sp>
        <p:nvSpPr>
          <p:cNvPr id="18" name="">
            <a:extLst xmlns:a="http://schemas.openxmlformats.org/drawingml/2006/main">
              <a:ext uri="{FF2B5EF4-FFF2-40B4-BE49-F238E27FC236}">
                <a16:creationId xmlns:a16="http://schemas.microsoft.com/office/drawing/2014/main" id="{20F6E911-899D-489B-BDE7-567D955B052B}"/>
              </a:ext>
            </a:extLst>
          </p:cNvPr>
          <p:cNvSpPr>
            <a:spLocks xmlns:a="http://schemas.openxmlformats.org/drawingml/2006/main" noGrp="1"/>
          </p:cNvSpPr>
          <p:nvPr/>
        </p:nvSpPr>
        <p:spPr>
          <a:xfrm xmlns:a="http://schemas.openxmlformats.org/drawingml/2006/main">
            <a:off x="6667500" y="4743450"/>
            <a:ext cx="104775" cy="104775"/>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0BF8FD5-15E7-422C-90F1-B6734126B0E3}"/>
              </a:ext>
            </a:extLst>
          </p:cNvPr>
          <p:cNvSpPr>
            <a:spLocks xmlns:a="http://schemas.openxmlformats.org/drawingml/2006/main" noGrp="1"/>
          </p:cNvSpPr>
          <p:nvPr/>
        </p:nvSpPr>
        <p:spPr>
          <a:xfrm xmlns:a="http://schemas.openxmlformats.org/drawingml/2006/main">
            <a:off x="6896100" y="4667250"/>
            <a:ext cx="4248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VIX structure and intraday persistence remain unopened lanes</a:t>
            </a:r>
          </a:p>
        </p:txBody>
      </p:sp>
      <p:sp>
        <p:nvSpPr>
          <p:cNvPr id="20" name="">
            <a:extLst xmlns:a="http://schemas.openxmlformats.org/drawingml/2006/main">
              <a:ext uri="{FF2B5EF4-FFF2-40B4-BE49-F238E27FC236}">
                <a16:creationId xmlns:a16="http://schemas.microsoft.com/office/drawing/2014/main" id="{93B0A1B1-AA50-4663-9D61-F6B9DF628019}"/>
              </a:ext>
            </a:extLst>
          </p:cNvPr>
          <p:cNvSpPr>
            <a:spLocks xmlns:a="http://schemas.openxmlformats.org/drawingml/2006/main" noGrp="1"/>
          </p:cNvSpPr>
          <p:nvPr/>
        </p:nvSpPr>
        <p:spPr>
          <a:xfrm xmlns:a="http://schemas.openxmlformats.org/drawingml/2006/main">
            <a:off x="762000" y="5953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00000"/>
                </a:solidFill>
              </a:defRPr>
            </a:pPr>
            <a:r>
              <a:rPr sz="1650" b="1">
                <a:solidFill>
                  <a:srgbClr val="000000"/>
                </a:solidFill>
              </a:rPr>
              <a:t>A future breadth study needs a new measurement hypothesis and fresh evidence—not a rescue edit.</a:t>
            </a:r>
          </a:p>
        </p:txBody>
      </p:sp>
    </p:spTree>
    <p:extLst>
      <p:ext uri="{BB962C8B-B14F-4D97-AF65-F5344CB8AC3E}">
        <p14:creationId xmlns:p14="http://schemas.microsoft.com/office/powerpoint/2010/main" val="9263249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2026-08-15T03:56:45.1300000Z</dcterms:created>
  <dcterms:modified xsi:type="dcterms:W3CDTF">2026-08-15T03:56:45.1300000Z</dcterms:modified>
</coreProperties>
</file>