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d64fe2f54f4efa" /><Relationship Type="http://schemas.openxmlformats.org/officeDocument/2006/relationships/extended-properties" Target="/docProps/app.xml" Id="Ra8fe67dcdf3e4489" /><Relationship Type="http://schemas.openxmlformats.org/officeDocument/2006/relationships/officeDocument" Target="/ppt/presentation.xml" Id="R3031a6d2a5e24a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1f83ac91384f2f"/>
  </p:sldMasterIdLst>
  <p:notesMasterIdLst>
    <p:notesMasterId xmlns:r="http://schemas.openxmlformats.org/officeDocument/2006/relationships" r:id="Rb86d5076614540ad"/>
  </p:notesMasterIdLst>
  <p:sldIdLst>
    <p:sldId xmlns:r="http://schemas.openxmlformats.org/officeDocument/2006/relationships" id="256" r:id="Ra8bf4602a640495a"/>
    <p:sldId xmlns:r="http://schemas.openxmlformats.org/officeDocument/2006/relationships" id="257" r:id="R673e43b8822f41b4"/>
    <p:sldId xmlns:r="http://schemas.openxmlformats.org/officeDocument/2006/relationships" id="258" r:id="Rdeee1bb315074198"/>
    <p:sldId xmlns:r="http://schemas.openxmlformats.org/officeDocument/2006/relationships" id="259" r:id="R47ce2fe46ad540c4"/>
    <p:sldId xmlns:r="http://schemas.openxmlformats.org/officeDocument/2006/relationships" id="260" r:id="R0e843746400d4991"/>
    <p:sldId xmlns:r="http://schemas.openxmlformats.org/officeDocument/2006/relationships" id="261" r:id="R2f220f5a2f374507"/>
    <p:sldId xmlns:r="http://schemas.openxmlformats.org/officeDocument/2006/relationships" id="262" r:id="Rbd8a0d1f74dc499e"/>
    <p:sldId xmlns:r="http://schemas.openxmlformats.org/officeDocument/2006/relationships" id="263" r:id="R2a505f47d8314e04"/>
    <p:sldId xmlns:r="http://schemas.openxmlformats.org/officeDocument/2006/relationships" id="264" r:id="Rf4c899794f2146ff"/>
    <p:sldId xmlns:r="http://schemas.openxmlformats.org/officeDocument/2006/relationships" id="265" r:id="R616807e6bcae47f7"/>
    <p:sldId xmlns:r="http://schemas.openxmlformats.org/officeDocument/2006/relationships" id="266" r:id="Rfdb80d84a49246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f059593554fb1" /><Relationship Type="http://schemas.openxmlformats.org/officeDocument/2006/relationships/slideMaster" Target="/ppt/slideMasters/slideMaster1.xml" Id="R341f83ac91384f2f" /><Relationship Type="http://schemas.openxmlformats.org/officeDocument/2006/relationships/notesMaster" Target="/ppt/notesMasters/notesMaster1.xml" Id="Rb86d5076614540ad" /><Relationship Type="http://schemas.openxmlformats.org/officeDocument/2006/relationships/presProps" Target="/ppt/presProps.xml" Id="R864a444cec9c4935" /><Relationship Type="http://schemas.openxmlformats.org/officeDocument/2006/relationships/tableStyles" Target="/ppt/tableStyles.xml" Id="Rdc94568939e14786" /><Relationship Type="http://schemas.openxmlformats.org/officeDocument/2006/relationships/slide" Target="/ppt/slides/slide1.xml" Id="Ra8bf4602a640495a" /><Relationship Type="http://schemas.openxmlformats.org/officeDocument/2006/relationships/slide" Target="/ppt/slides/slide2.xml" Id="R673e43b8822f41b4" /><Relationship Type="http://schemas.openxmlformats.org/officeDocument/2006/relationships/slide" Target="/ppt/slides/slide3.xml" Id="Rdeee1bb315074198" /><Relationship Type="http://schemas.openxmlformats.org/officeDocument/2006/relationships/slide" Target="/ppt/slides/slide4.xml" Id="R47ce2fe46ad540c4" /><Relationship Type="http://schemas.openxmlformats.org/officeDocument/2006/relationships/slide" Target="/ppt/slides/slide5.xml" Id="R0e843746400d4991" /><Relationship Type="http://schemas.openxmlformats.org/officeDocument/2006/relationships/slide" Target="/ppt/slides/slide6.xml" Id="R2f220f5a2f374507" /><Relationship Type="http://schemas.openxmlformats.org/officeDocument/2006/relationships/slide" Target="/ppt/slides/slide7.xml" Id="Rbd8a0d1f74dc499e" /><Relationship Type="http://schemas.openxmlformats.org/officeDocument/2006/relationships/slide" Target="/ppt/slides/slide8.xml" Id="R2a505f47d8314e04" /><Relationship Type="http://schemas.openxmlformats.org/officeDocument/2006/relationships/slide" Target="/ppt/slides/slide9.xml" Id="Rf4c899794f2146ff" /><Relationship Type="http://schemas.openxmlformats.org/officeDocument/2006/relationships/slide" Target="/ppt/slides/slide10.xml" Id="R616807e6bcae47f7" /><Relationship Type="http://schemas.openxmlformats.org/officeDocument/2006/relationships/slide" Target="/ppt/slides/slide11.xml" Id="Rfdb80d84a49246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571353c4fb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849fc77e824960" /><Relationship Type="http://schemas.openxmlformats.org/officeDocument/2006/relationships/notesMaster" Target="/ppt/notesMasters/notesMaster1.xml" Id="R8d418e9f932d4c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5129930c154c38" /><Relationship Type="http://schemas.openxmlformats.org/officeDocument/2006/relationships/notesMaster" Target="/ppt/notesMasters/notesMaster1.xml" Id="Rb7031ce24fdd41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1ee658a33f4bda" /><Relationship Type="http://schemas.openxmlformats.org/officeDocument/2006/relationships/notesMaster" Target="/ppt/notesMasters/notesMaster1.xml" Id="Rff8357cb5e3c40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037d6ea17a4ac3" /><Relationship Type="http://schemas.openxmlformats.org/officeDocument/2006/relationships/notesMaster" Target="/ppt/notesMasters/notesMaster1.xml" Id="R76999523c34e48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11ffd9df984d84" /><Relationship Type="http://schemas.openxmlformats.org/officeDocument/2006/relationships/notesMaster" Target="/ppt/notesMasters/notesMaster1.xml" Id="Rb5ec2368c5654a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70a552bfb24aa3" /><Relationship Type="http://schemas.openxmlformats.org/officeDocument/2006/relationships/notesMaster" Target="/ppt/notesMasters/notesMaster1.xml" Id="Rfb394c0457194b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1594985c20422d" /><Relationship Type="http://schemas.openxmlformats.org/officeDocument/2006/relationships/notesMaster" Target="/ppt/notesMasters/notesMaster1.xml" Id="Rc8b9dae824774b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cdafdad4da4571" /><Relationship Type="http://schemas.openxmlformats.org/officeDocument/2006/relationships/notesMaster" Target="/ppt/notesMasters/notesMaster1.xml" Id="Re3ec026983964c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ca9a30e7eb4a8d" /><Relationship Type="http://schemas.openxmlformats.org/officeDocument/2006/relationships/notesMaster" Target="/ppt/notesMasters/notesMaster1.xml" Id="R6c884147c6d84b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7f4b78c85d481d" /><Relationship Type="http://schemas.openxmlformats.org/officeDocument/2006/relationships/notesMaster" Target="/ppt/notesMasters/notesMaster1.xml" Id="Rc7c9624d9be844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b84ed7ea0745cd" /><Relationship Type="http://schemas.openxmlformats.org/officeDocument/2006/relationships/notesMaster" Target="/ppt/notesMasters/notesMaster1.xml" Id="R6812fabd91a948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methodological win: the lane stopped before trading performance because its detector could not meet the frozen sensitivity and usability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Project/Time-Series-Modeling-Gen5/docs/GEN5_HYP_REG_11_1_CAUSAL_CHANGE_POINT_CONTRACT.md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literature anchors the sequential-monitoring family, not the exact POC. Full-sample break dating would leak future information and is explicitly prohibited.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https://doi.org/10.1093/biomet/41.1-2.100</a:t>
            </a:r>
          </a:p>
          <a:p xmlns:a="http://schemas.openxmlformats.org/drawingml/2006/main">
            <a:r>
              <a:t>- https://doi.org/10.1111/j.2517-6161.1975.tb01532.x</a:t>
            </a:r>
          </a:p>
          <a:p xmlns:a="http://schemas.openxmlformats.org/drawingml/2006/main">
            <a:r>
              <a:t>- https://www.zeileis.org/papers/Zeileis%2BLeisch%2BKleiber-2005.pdf</a:t>
            </a:r>
          </a:p>
          <a:p xmlns:a="http://schemas.openxmlformats.org/drawingml/2006/main">
            <a:r>
              <a:t>- C:/Users/Franc/OneDrive/Documents/Francis/Peltata Project/Time-Series-Modeling-Gen5/docs/GEN5_HYP_REG_11_1_CAUSAL_CHANGE_POINT_CONTRACT.md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allowance as the evidence each new return must beat before the score can grow. The max with zero discards stale negative evidence rather than letting it create a permanent debt.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https://doi.org/10.1093/biomet/41.1-2.100</a:t>
            </a:r>
          </a:p>
          <a:p xmlns:a="http://schemas.openxmlformats.org/drawingml/2006/main">
            <a:r>
              <a:t>- C:/Users/Franc/OneDrive/Documents/Francis/Peltata Project/Time-Series-Modeling-Gen5/docs/GEN5_HYP_REG_11_1_CAUSAL_CHANGE_POINT_CONTRACT.md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threshold algorithm is objective: maximize sensitivity by taking the lowest grid value that satisfies the frozen false-alarm ceiling. No real return or strategy outcome participates.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Project/Time-Series-Modeling-Gen5/docs/GEN5_HYP_REG_11_1_CAUSAL_CHANGE_POINT_CONTRACT.md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Project/Time-Series-Modeling-Gen5/runs/research_workbench/operator_hypothesis_lab/hyp_reg_11_1_causal_change_point_20260816/hyp_reg_11_1_null_rates.csv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Project/Time-Series-Modeling-Gen5/runs/research_workbench/operator_hypothesis_lab/hyp_reg_11_1_causal_change_point_20260816/hyp_reg_11_1_shift_summary.csv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three no-change families stayed below 20%: Gaussian 14.4%, Student-t5 16.0%, volatility-step 19.3%. The cost was low power and slow detection even for a deliberately strong sustained positive shift.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Project/Time-Series-Modeling-Gen5/runs/research_workbench/operator_hypothesis_lab/hyp_reg_11_1_causal_change_point_20260816/hyp_reg_11_1_null_rates.csv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Project/Time-Series-Modeling-Gen5/runs/research_workbench/operator_hypothesis_lab/hyp_reg_11_1_causal_change_point_20260816/hyp_reg_11_1_shift_summary.csv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Project/Time-Series-Modeling-Gen5/runs/research_workbench/operator_hypothesis_lab/hyp_reg_11_1_causal_change_point_20260816/visuals/synthetic_calibration.png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table is the decision surface. A correct causal implementation is not enough: a transition detector must also recognize meaningful changes with adequate speed and create usable policy contact.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Project/Time-Series-Modeling-Gen5/runs/research_workbench/operator_hypothesis_lab/hyp_reg_11_1_causal_change_point_20260816/hyp_reg_11_1_stage_a_gates.csv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TSLA had four alarms and AMD three, but the fixed event windows did not overlap any fresh SMA8/14 cross in any primary stock. Running a strategy would therefore be mechanically empty or nearly empty.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Project/Time-Series-Modeling-Gen5/runs/research_workbench/operator_hypothesis_lab/hyp_reg_11_1_causal_change_point_20260816/hyp_reg_11_1_state_diagnostics.csv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Project/Time-Series-Modeling-Gen5/runs/research_workbench/operator_hypothesis_lab/hyp_reg_11_1_causal_change_point_20260816/visuals/real_alarm_usability.png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measurement examples, not selected profitable trades. The visual confirms exact event semantics and the extreme sparsity created by the calibrated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Project/Time-Series-Modeling-Gen5/runs/research_workbench/operator_hypothesis_lab/hyp_reg_11_1_causal_change_point_20260816/visuals/representative_measurement_tapes.png</a:t>
            </a:r>
          </a:p>
          <a:p xmlns:a="http://schemas.openxmlformats.org/drawingml/2006/main">
            <a:r>
              <a:t>- C:/Users/Franc/OneDrive/Documents/Francis/Peltata Project/Time-Series-Modeling-Gen5/docs/GEN5_HYP_REG_11_1_CAUSAL_CHANGE_POINT_CONTRACT.md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strategy code exists behind the gate for reproducibility, but the runner exits before reading retained parent evidence or calculating performance. This is a stronger result than an empty backtest dressed up as low drawdown.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Project/Time-Series-Modeling-Gen5/docs/GEN5_HYP_REG_11_1_CAUSAL_CHANGE_POINT_CONTRACT.md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Project/Time-Series-Modeling-Gen5/runs/research_workbench/operator_hypothesis_lab/hyp_reg_11_1_causal_change_point_20260816/STATUS.txt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CUSUM behaved coherently. Its problem is the economics of daily equity returns: directional drift is small relative to volatility, so strict false-alarm control demands a high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Project/Time-Series-Modeling-Gen5/docs/GEN5_HYP_REG_11_1_CAUSAL_CHANGE_POINT_CONTRACT.md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Project/Time-Series-Modeling-Gen5/runs/research_workbench/operator_hypothesis_lab/hyp_reg_11_1_causal_change_point_20260816/hyp_reg_11_1_null_rates.csv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Project/Time-Series-Modeling-Gen5/runs/research_workbench/operator_hypothesis_lab/hyp_reg_11_1_causal_change_point_20260816/hyp_reg_11_1_shift_summary.csv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the reusable infrastructure from the stopped policy. T5 is only the next discussion gate. HMM remains bookmarked until the five-candidate series concludes without promotion.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Project/Time-Series-Modeling-Gen5/runs/research_workbench/operator_hypothesis_lab/hyp_reg_11_1_causal_change_point_20260816/hyp_reg_11_1_report.md</a:t>
            </a:r>
          </a:p>
          <a:p xmlns:a="http://schemas.openxmlformats.org/drawingml/2006/main">
            <a:r>
              <a:t>- C:/Users/Franc/OneDrive/Documents/Francis/Peltata Project/Time-Series-Modeling-Gen5/docs/GEN5_TREND_INDICATOR_POC_ROADMAP.md</a:t>
            </a:r>
          </a:p>
          <a:p xmlns:a="http://schemas.openxmlformats.org/drawingml/2006/main">
            <a:r>
              <a:t>- C:/Users/Franc/OneDrive/Documents/Francis/Peltata Project/Time-Series-Modeling-Gen5/docs/GEN5_HYP_REG_11_1_CAUSAL_CHANGE_POINT_CONTRACT.md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1edfdd1b844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810283e1c1447c" /><Relationship Type="http://schemas.openxmlformats.org/officeDocument/2006/relationships/slideLayout" Target="/ppt/slideLayouts/slideLayout1.xml" Id="Rec8a7f3b451044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8a7f3b451044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b6294f6df4535" /><Relationship Type="http://schemas.openxmlformats.org/officeDocument/2006/relationships/image" Target="/ppt/media/image.png" Id="R809e9f81bf574935" /><Relationship Type="http://schemas.openxmlformats.org/officeDocument/2006/relationships/notesSlide" Target="/ppt/notesSlides/notesSlide1.xml" Id="R3b0e4ad162f0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c75584fee4d28" /><Relationship Type="http://schemas.openxmlformats.org/officeDocument/2006/relationships/notesSlide" Target="/ppt/notesSlides/notesSlide2.xml" Id="R32a86b4db6f848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9004c04b8421c" /><Relationship Type="http://schemas.openxmlformats.org/officeDocument/2006/relationships/notesSlide" Target="/ppt/notesSlides/notesSlide3.xml" Id="R4a06892cbd2949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b2d7a0edc4e73" /><Relationship Type="http://schemas.openxmlformats.org/officeDocument/2006/relationships/notesSlide" Target="/ppt/notesSlides/notesSlide4.xml" Id="R6bcf752e293446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6eb36425a493e" /><Relationship Type="http://schemas.openxmlformats.org/officeDocument/2006/relationships/image" Target="/ppt/media/image2.png" Id="R479edb3bc4c64be3" /><Relationship Type="http://schemas.openxmlformats.org/officeDocument/2006/relationships/notesSlide" Target="/ppt/notesSlides/notesSlide5.xml" Id="R319cd67edf43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3dac9ab384166" /><Relationship Type="http://schemas.openxmlformats.org/officeDocument/2006/relationships/notesSlide" Target="/ppt/notesSlides/notesSlide6.xml" Id="Rbecc0c4fb9c745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61c53a86748b5" /><Relationship Type="http://schemas.openxmlformats.org/officeDocument/2006/relationships/image" Target="/ppt/media/image3.png" Id="Rb9d1548a6f3e4e4d" /><Relationship Type="http://schemas.openxmlformats.org/officeDocument/2006/relationships/notesSlide" Target="/ppt/notesSlides/notesSlide7.xml" Id="R8d60d967f13b48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2c4238ced4396" /><Relationship Type="http://schemas.openxmlformats.org/officeDocument/2006/relationships/image" Target="/ppt/media/image4.png" Id="Rcc1d6b69d39e4541" /><Relationship Type="http://schemas.openxmlformats.org/officeDocument/2006/relationships/notesSlide" Target="/ppt/notesSlides/notesSlide8.xml" Id="R1901ee2c93854d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6ce5910c94cd2" /><Relationship Type="http://schemas.openxmlformats.org/officeDocument/2006/relationships/notesSlide" Target="/ppt/notesSlides/notesSlide9.xml" Id="Rb5ac521b3d1b47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159794fcb4a63" /><Relationship Type="http://schemas.openxmlformats.org/officeDocument/2006/relationships/notesSlide" Target="/ppt/notesSlides/notesSlide10.xml" Id="Rf2ce23ee93ef4e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c965b37564d26" /><Relationship Type="http://schemas.openxmlformats.org/officeDocument/2006/relationships/notesSlide" Target="/ppt/notesSlides/notesSlide11.xml" Id="R790c5c56a8c145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EB7D6-ED5E-4489-8B49-4CE99D7D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HYP-REG-11.1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1ED15-8D5E-43DD-ABE0-BB3810A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detector was honest—</a:t>
            </a:r>
          </a:p>
          <a:p xmlns:a="http://schemas.openxmlformats.org/drawingml/2006/main">
            <a:pPr algn="l">
              <a:defRPr sz="37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and too slow to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69845-BE1B-40AA-BCDA-0DA38F80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5095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A causal positive CUSUM controlled false alarms, but failed sensitivity and real-panel usability before SMA8/14 strategy contact.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BA89C-F28B-4CE6-A697-218E11D1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5435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e9f81bf574935"/>
          <a:srcRect xmlns:a="http://schemas.openxmlformats.org/drawingml/2006/main" l="2803" t="0" r="28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628650"/>
            <a:ext cx="5086350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1AF3D-FEB8-4084-889E-70434C09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STAGE A STOP · 5/7 GATES · STRATEGY NOT RUN · 2024+ SEALED</a:t>
            </a:r>
          </a:p>
        </p:txBody>
      </p:sp>
    </p:spTree>
    <p:extLst>
      <p:ext uri="{BB962C8B-B14F-4D97-AF65-F5344CB8AC3E}">
        <p14:creationId xmlns:p14="http://schemas.microsoft.com/office/powerpoint/2010/main" val="1024126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A43A8-1311-4895-A9F8-357636D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CONCEPT AND LITERATURE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C5FBE-7796-4FBD-BB89-EA50AE6D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CUSUM asks whether evidence has accumulated—not whether price merely rose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A2BC0-EFE6-47EE-AEBB-8155F17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DA081-2812-445F-A55A-D200AA4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7D5C9-8195-47ED-A2B6-DD536BBD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Sequential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89A97-4A97-46FC-B5C2-D9F2F8A4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Page’s construction carries a running score forward and signals only after accumulated evidence crosses a boundary. Brown, Durbin, and Evans brought cumulative residual monitoring into time-series stability analysis; Zeileis and colleagues distinguish live monitoring from retrospective break dating.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27AEE-6156-48E5-8531-42DF964D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1244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01F3B-3963-4295-A398-28D72BB7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Our narrow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74B90-A4D5-4ED8-BC6E-4B69EB69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Can a newly detected positive return process improve only fresh SMA8/14 entries?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16338-68DE-4440-8E1E-B5A633F7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Not authorized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8EFAF-C62F-4271-9395-11FDF216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Retrospective break labels · short trades · alarm-driven exits · ATR% stacking · threshold selection from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3AA8A-0657-4284-BC24-B230A94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666B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666B8"/>
                </a:solidFill>
                <a:latin typeface="Arial"/>
                <a:ea typeface="Arial"/>
                <a:cs typeface="Arial"/>
              </a:rPr>
              <a:t>The exact equity statistic and policy are operator-designed; no source is presented as publishing this trading rule.</a:t>
            </a:r>
          </a:p>
        </p:txBody>
      </p:sp>
    </p:spTree>
    <p:extLst>
      <p:ext uri="{BB962C8B-B14F-4D97-AF65-F5344CB8AC3E}">
        <p14:creationId xmlns:p14="http://schemas.microsoft.com/office/powerpoint/2010/main" val="781599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88F30-DFBB-4DCD-9844-371DEAEF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EE763-9119-405D-89E5-DD3E8AB7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Positive evidence must persist long enough to overcome a daily allowance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C5437-A6B8-4B3B-9C4B-F800839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DDF65-B58A-42B3-8EE6-35DD2223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2BEB6-2F51-449A-A5B3-360697DA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71512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46FE1-6C29-4092-AC8B-DAA6E035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rₜ = log(Pₜ / Pₜ₋₁)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588BF-4140-42CA-AB94-9E2F25D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zₜ = clip[rₜ / σₜ₋₁,₂₀, −3, +3]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C31CB-3CE6-495F-A153-4DC8146F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Sₜ = max(0, Sₜ₋₁ + zₜ − 0.10)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16456-E14F-4D77-AB77-1B80CE3B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alarm when Sₜ ≥ 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33389-4006-4F8C-8A14-C7D1FF0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Prior volatility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2AABB-F8CF-4E5A-AC81-2EB6C4ED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Today’s return is scaled by the preceding 20 completed returns.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AE413-BF41-4447-BF9D-0391C6FF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Clipped contribution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7CD8B-605D-4A75-B9AC-32D73A7F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052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One extreme day cannot create enough accumulated evidence by itself.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EB4BC-CD2E-422E-AB6C-31B0713A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Reset after alarm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0C703-79BD-4720-9A25-F8616C93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A fixed 10-session refractory and eligibility window prevents repeated evidence from extending the state.</a:t>
            </a:r>
          </a:p>
        </p:txBody>
      </p:sp>
    </p:spTree>
    <p:extLst>
      <p:ext uri="{BB962C8B-B14F-4D97-AF65-F5344CB8AC3E}">
        <p14:creationId xmlns:p14="http://schemas.microsoft.com/office/powerpoint/2010/main" val="1790169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581D3-FB0A-4DDB-A2F6-69816EA4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CALIBRATION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78AA-50CC-4594-8A7C-AC8FAD8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threshold was selected without looking at market or strategy returns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BAEC4-B95C-492B-BE59-19A583A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F9B0B-5119-4816-BCAA-D462DAA8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2B275-F1EF-4DC4-904D-CAD6967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2D3FE-43C3-493E-9596-30830035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811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0DAA0-9A20-40BE-8BA3-E81C484A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Generate nulls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E092E-AAEA-4671-880A-7DF5B0BE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33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1,000 Gaussian, Student-t₅, and volatility-step paths; 504 sessions 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D10D3-ED4A-4F8B-9BCE-F7ACABBB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4B3BE-750E-495E-9571-AC516ED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5FAC5-7912-4B5A-AF17-3AEB742C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Set the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5F1B4-6965-4C5C-9605-22644486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62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Choose the smallest h with ≤20% alarm probability in every null family.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976F9-63D6-49C3-A47C-A57212FC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379CD-D011-4E44-B324-1695085E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BA13F-320C-42BD-B011-B67B8CEA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Measure sensitivity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B4DAF-B0F4-4190-8D08-C3CAFCDD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90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Audit +0.15 and +0.30 drift shifts at a known causal change date.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56843-9C5B-42CB-87C5-F37DFD78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06783-6D37-4224-B3AF-1B8C45D8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83F33-9568-4889-894B-1620A9BB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Try to falsify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124A2-0301-4CC3-B02C-5C75E027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96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Negative drift and one +5σ jump must not masquerade as sustained positive onset.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E0EDC-0CDD-47EC-AA39-EEEBBFE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Sensitivity can fail after specificity succeeds—and that is what happened.</a:t>
            </a:r>
          </a:p>
        </p:txBody>
      </p:sp>
    </p:spTree>
    <p:extLst>
      <p:ext uri="{BB962C8B-B14F-4D97-AF65-F5344CB8AC3E}">
        <p14:creationId xmlns:p14="http://schemas.microsoft.com/office/powerpoint/2010/main" val="655439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9C714-9A32-4D87-A1E2-3F659171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SYNTHETIC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3D376-FE5E-4F4C-BB59-EBC5235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False alarms were controlled, but strong-shift detection reached only 40.7%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66120-2FD3-4D59-B66D-A9991F9B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77D54-CE00-4D5F-910E-DB026E9D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edb3bc4c64be3"/>
          <a:stretch xmlns:a="http://schemas.openxmlformats.org/drawingml/2006/main"/>
        </p:blipFill>
        <p:spPr>
          <a:xfrm xmlns:a="http://schemas.openxmlformats.org/drawingml/2006/main">
            <a:off x="457200" y="1723345"/>
            <a:ext cx="7858125" cy="411616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0657B-DA22-4F69-8BA5-CEF04CED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 = 20.25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2B851-CCB6-4970-BD62-D632EBEE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smallest boundary meeting all null budgets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2E346-38EF-4DCD-A586-DCDE871E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40.7%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111DE-EF03-48D9-ADC7-53B438D1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+0.30σ/day shifts caught within 60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145FA-4540-4495-84E2-66CB1BDC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101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45 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ECEC8-3111-4F08-9C4E-7CDCC22B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median delay among timely detections; gate ≤40</a:t>
            </a:r>
          </a:p>
        </p:txBody>
      </p:sp>
    </p:spTree>
    <p:extLst>
      <p:ext uri="{BB962C8B-B14F-4D97-AF65-F5344CB8AC3E}">
        <p14:creationId xmlns:p14="http://schemas.microsoft.com/office/powerpoint/2010/main" val="7880818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E863D8-9B54-4AE5-8B90-4043029B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A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26C3F-62A9-4639-BC3E-5D578E54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Five construction checks passed; sensitivity and usability stopped the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CCEEE-0AB2-4750-90A9-244A861A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5749F-2636-4802-ABE4-A9702D25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7FAB0-2B16-4B9E-A13C-80A5F058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F6506-1AC5-4B5E-BB44-44B1B16C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6D948-CA43-4BD1-88A4-9198EA45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157D3-1A52-41E1-8913-D12C3052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764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9D1AC-D1D7-4086-BA99-116E2221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647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14C35-7534-406F-842C-31B55E2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76400"/>
            <a:ext cx="621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C7336-0D99-4EFA-BE35-A72E7560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2573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F5057-E50C-4B92-8491-DD23B6A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A7413-8BD4-4857-906C-8098C230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3835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1DE09-DA16-447A-B04F-08E015A4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907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Data and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792B8-8A8C-4076-A71C-3A564721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477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97B56-4948-4934-974B-C85DE93C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9075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26/26 complete; 2024+ absent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E4B09-E923-485E-B5D9-222D0EB3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0325"/>
            <a:ext cx="12573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C55D2-0EBB-4ED8-8430-8E32DFF6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6FFF4-1A85-4625-9CCD-A445EED3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0325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19836-736C-4E1A-980E-E9D7B7C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527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Null false alarms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DBDDA-19AB-4B0A-B044-C499E4ED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6477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2D204-7C24-43DA-9351-CB26F308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52725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Worst family 19.3% at h = 20.25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221F7-DA81-468C-9E1C-ED5CB178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12573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98210D-C40B-437E-9D7F-C5249A12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DB262-09D4-4DD3-9A26-9E9E3B31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6230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08182-0664-4706-B768-FD595A57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147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Positive shift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CB2E5-2DD0-45B2-84F4-68032B3E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6477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D845A0-4832-4617-BD35-2591D05E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147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40.7% within 60; 45-session median delay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C56353-FAFA-4ABD-8ED0-7D86AF5B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4275"/>
            <a:ext cx="12573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52133-3AF5-4827-BCEC-EFDED48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A00E09-93E6-4A8A-BF6A-D51DF7CA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24275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5049DF-623E-444B-BB93-53FB2EC8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766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Falsification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3F9BE6-F3D7-444C-A5E6-B8CC4684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24275"/>
            <a:ext cx="6477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6BE311-274A-446A-8893-B80A57A8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76675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Negative 0.2%; one jump 2.7%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502A4F-31D5-4C50-BE9D-BF863468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12573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F6C6DF-7E0F-416E-9BBC-43E60769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3C0E5C-AF3C-4DD4-94C8-F26779EE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423BA6-5212-4162-9D7A-55176374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386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Causal and scale invariant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B9F399-F8AE-4E32-980D-A4CC3812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6477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353093-9133-4B90-831B-5C0E5A40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3865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5/5 append checks; max difference 5.24e−13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0F0155-8C42-459F-9386-8D28219A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8225"/>
            <a:ext cx="12573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A61A7A-1AE3-4AC2-B096-11ADF1BC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8CA4E8-29A6-415A-9BAB-2129D3F1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48225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DF262C-7D03-4573-8B11-9062565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006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Window semantics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D5426B-4C83-4EFB-AB63-DF6FD7E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48225"/>
            <a:ext cx="6477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757CD3-F8BE-4C1F-ADF7-8CF42328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00625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0 semantic or spacing violations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395BFA-AC4A-4E20-8D84-30160B1D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2573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D13E76-5B68-43AB-BE7F-9FA7C37E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3FFEB8-A2C4-4DF3-B9A3-44320CB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FAD8F4-0659-4FB3-965B-E0C50E95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626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Real-panel usability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DCA1B0-9DB1-4D00-A5A6-72B9CC08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6477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BA3A5C-AE19-45C0-8FEC-B1B8F969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5626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2/24 alarm-usable; 0/24 cross-usable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0F80D9-A50E-4256-8B68-6908DB22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Stage B was never authorized to read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151093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24B56-90EA-4D82-B13B-3D8CD35D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REAL-PANEL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35C8A-953F-4C17-AE99-D760A071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calibrated event was almost absent in six years of real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07759-FA71-4E1A-B52A-FF9EF4EF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3EFF2-1211-412F-8F6D-52745E5E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1548a6f3e4e4d"/>
          <a:stretch xmlns:a="http://schemas.openxmlformats.org/drawingml/2006/main"/>
        </p:blipFill>
        <p:spPr>
          <a:xfrm xmlns:a="http://schemas.openxmlformats.org/drawingml/2006/main">
            <a:off x="457200" y="1581150"/>
            <a:ext cx="8001000" cy="4400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EC013-1528-4DDD-9E99-1878C98B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526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2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8ECB3-0145-4168-90E7-E7CB83D0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812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stocks produced at least three alarms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7F99C-D417-40D3-A827-506F92F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24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0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ABF2B-F330-48E9-B0D7-64847976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52900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stocks had a fresh SMA cross inside an eligible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FE1CA-E7DE-45EA-AD40-E2EEF042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276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0.3%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73A79-6420-4603-86B6-14828FDF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912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median session occupancy</a:t>
            </a:r>
          </a:p>
        </p:txBody>
      </p:sp>
    </p:spTree>
    <p:extLst>
      <p:ext uri="{BB962C8B-B14F-4D97-AF65-F5344CB8AC3E}">
        <p14:creationId xmlns:p14="http://schemas.microsoft.com/office/powerpoint/2010/main" val="836321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67037-704E-4AB0-99B2-5161C304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MEASUREMENT TAPES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8A082-E2A0-4114-A9E4-4CE830D7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tapes show why ‘onset’ became an occasional late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C7B3B-340C-4D39-97F0-FD45034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3E5A8-631E-43E7-BECE-11BC40BB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d6b69d39e4541"/>
          <a:stretch xmlns:a="http://schemas.openxmlformats.org/drawingml/2006/main"/>
        </p:blipFill>
        <p:spPr>
          <a:xfrm xmlns:a="http://schemas.openxmlformats.org/drawingml/2006/main">
            <a:off x="1875518" y="1390650"/>
            <a:ext cx="5069114" cy="483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96B62-DFE0-4503-9C6F-6110522F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How to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707F8-AB88-471F-93A7-FAB8A3A5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33600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Red triangle</a:t>
            </a:r>
          </a:p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Alarm 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Green band</a:t>
            </a:r>
          </a:p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Fixed 10-session eligibility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Blue line</a:t>
            </a:r>
          </a:p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Accumulated positive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Red dashed line</a:t>
            </a:r>
          </a:p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h = 20.25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EC0DC-5ADA-470D-9C6F-93AD999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19700"/>
            <a:ext cx="252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TXN never alarms; SPY alarms once; AMD and TSLA alarm only after unusually persistent evidence.</a:t>
            </a:r>
          </a:p>
        </p:txBody>
      </p:sp>
    </p:spTree>
    <p:extLst>
      <p:ext uri="{BB962C8B-B14F-4D97-AF65-F5344CB8AC3E}">
        <p14:creationId xmlns:p14="http://schemas.microsoft.com/office/powerpoint/2010/main" val="1898639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1A2B0-06CC-4824-A752-E237DF82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8F359-1DA9-4855-A6C2-FBAC75FC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Running the strategy anyway would answer the wrong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C24A8-5C45-4C3D-83EB-7716187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DA33E-1B86-4853-BE1C-72C670A5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A6938-0D5A-4843-B661-BC22346D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What the contract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F16FC-A9CF-42F7-8FED-D247667F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The detector first had to recognize a known positive shift with adequate power and produce enough causal event windows to contact fresh SMA entries.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2F503-36ED-4194-8D0A-F2DC1995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What the evidence supplied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2FC42-2FF9-47FE-82C9-204ABEBC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Low sensitivity, 45-session delay, 0.3% occupancy, and zero eligible crossovers across the primary panel.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0BEBC-6BA3-45E4-9645-4EDF92DD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CB774-9CBB-480F-88F1-62EBF5D0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Correct STOP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92D95-993C-4B95-A1DF-37E9C74F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333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Do not interpret no trades as protection.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Do not relax h after seeing sparsity.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Do not lengthen the window until a crossover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Do not inspect returns, controls, or 2024+.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2BC75-74B3-4183-8CEB-FFB15247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A protected Stage B from a meaningless backtest.</a:t>
            </a:r>
          </a:p>
        </p:txBody>
      </p:sp>
    </p:spTree>
    <p:extLst>
      <p:ext uri="{BB962C8B-B14F-4D97-AF65-F5344CB8AC3E}">
        <p14:creationId xmlns:p14="http://schemas.microsoft.com/office/powerpoint/2010/main" val="18721229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A5D48-C4D6-42FF-9C90-6FC846B3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46DC4-7D5F-4644-90FC-3DE04A8A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failure is a quantitative sensitivity–specificity tradeoff—not a coding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7BEBE-952B-43B1-8544-F0D91D6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1A575-C10D-4744-B1E9-494B55C2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044D2-E781-435B-A5BF-461E2381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5C698-A253-40E1-8F70-E63AF96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Lower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76E7F-403E-4156-9838-E33BAB41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191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Earlier and more frequent alarms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More contact with SMA entries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But more noise, tail events, and volatility transitions mislabeled as directional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42F06-2469-4D56-A4AD-E550BA34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764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68E76-41F4-4A5B-9FFB-02F1AC4D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57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Frozen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22716-F378-4E2C-9FFB-50373585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67000"/>
            <a:ext cx="4191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Null behavior remained controlled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Negative drift and one jump rarely fooled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But detection was slow and events became unusably sparse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EDA35-9CA7-47AC-B17D-FD71BEEA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66B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666B8"/>
                </a:solidFill>
                <a:latin typeface="Arial"/>
                <a:ea typeface="Arial"/>
                <a:cs typeface="Arial"/>
              </a:rPr>
              <a:t>Changing the bargain after seeing this result would create a new hypothesis—not repair HYP-REG-11.1.</a:t>
            </a:r>
          </a:p>
        </p:txBody>
      </p:sp>
    </p:spTree>
    <p:extLst>
      <p:ext uri="{BB962C8B-B14F-4D97-AF65-F5344CB8AC3E}">
        <p14:creationId xmlns:p14="http://schemas.microsoft.com/office/powerpoint/2010/main" val="5624961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A6D96-51D9-4DDE-B67C-36541151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CE260-92B7-4F71-A928-52AF8B86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Retain the detector as an audited lesson; move to breakout persistence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09E98-30CD-491B-8FD4-4F2A1251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912A0-099C-405A-93AC-082F83B9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28328-F05A-4F63-830C-D80D71E4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2E3F4-915D-4A75-A2A4-11C8A738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Stage A: 5 /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E93C8-AB9F-4B8A-A5AC-A0DB0A8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4A789-FFBB-4D09-ACEF-D3DD6604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causal standardization and reset mechanics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synthetic specificity/power harness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exact event-window ledger and tapes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proof that strategy contact was withheld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B649D-7937-4217-9491-C7FAB5E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002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EA78A-BC22-448A-8EBC-57D72A31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66526-7447-4690-8605-9A9E7223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Discuss T5 range position and breakout persistence—and first decide whether it is truly a regime measurement or a direct momentum strategy.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B6A83-D5ED-4E90-BEB9-826085E7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66B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666B8"/>
                </a:solidFill>
                <a:latin typeface="Arial"/>
                <a:ea typeface="Arial"/>
                <a:cs typeface="Arial"/>
              </a:rPr>
              <a:t>Post-series bookmark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BA47A-C6D3-460B-A5BF-2899C0D7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If T5 also stops, open the literature-first HMM discussion. Causal filtered probabilities only; no retrospective smoothed state presented as live-known.</a:t>
            </a:r>
          </a:p>
        </p:txBody>
      </p:sp>
    </p:spTree>
    <p:extLst>
      <p:ext uri="{BB962C8B-B14F-4D97-AF65-F5344CB8AC3E}">
        <p14:creationId xmlns:p14="http://schemas.microsoft.com/office/powerpoint/2010/main" val="32205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2026-08-17T03:04:26.8130000Z</dcterms:created>
  <dcterms:modified xsi:type="dcterms:W3CDTF">2026-08-17T03:04:26.8130000Z</dcterms:modified>
</coreProperties>
</file>