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9486c806d43e6" /><Relationship Type="http://schemas.openxmlformats.org/officeDocument/2006/relationships/extended-properties" Target="/docProps/app.xml" Id="R8c24f339f1b34a27" /><Relationship Type="http://schemas.openxmlformats.org/officeDocument/2006/relationships/officeDocument" Target="/ppt/presentation.xml" Id="R49bd7b7995af48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82ff5b773e4909"/>
  </p:sldMasterIdLst>
  <p:notesMasterIdLst>
    <p:notesMasterId xmlns:r="http://schemas.openxmlformats.org/officeDocument/2006/relationships" r:id="Rc03ee167ce594f28"/>
  </p:notesMasterIdLst>
  <p:sldIdLst>
    <p:sldId xmlns:r="http://schemas.openxmlformats.org/officeDocument/2006/relationships" id="256" r:id="Rbf6ed5f492414cb6"/>
    <p:sldId xmlns:r="http://schemas.openxmlformats.org/officeDocument/2006/relationships" id="257" r:id="R8c70d6c4127842ca"/>
    <p:sldId xmlns:r="http://schemas.openxmlformats.org/officeDocument/2006/relationships" id="258" r:id="R9389676fa68f4362"/>
    <p:sldId xmlns:r="http://schemas.openxmlformats.org/officeDocument/2006/relationships" id="259" r:id="R493bc76f21954360"/>
    <p:sldId xmlns:r="http://schemas.openxmlformats.org/officeDocument/2006/relationships" id="260" r:id="R901ccf0f0c1c46bc"/>
    <p:sldId xmlns:r="http://schemas.openxmlformats.org/officeDocument/2006/relationships" id="261" r:id="R803099813f64491b"/>
    <p:sldId xmlns:r="http://schemas.openxmlformats.org/officeDocument/2006/relationships" id="262" r:id="Rf4a7c1528c3a487a"/>
    <p:sldId xmlns:r="http://schemas.openxmlformats.org/officeDocument/2006/relationships" id="263" r:id="R65cfb0fb1d7c494a"/>
    <p:sldId xmlns:r="http://schemas.openxmlformats.org/officeDocument/2006/relationships" id="264" r:id="R712821d3584a4da1"/>
    <p:sldId xmlns:r="http://schemas.openxmlformats.org/officeDocument/2006/relationships" id="265" r:id="Rcf06e951872f4f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d1ac606a3549c1" /><Relationship Type="http://schemas.openxmlformats.org/officeDocument/2006/relationships/slideMaster" Target="/ppt/slideMasters/slideMaster1.xml" Id="R3b82ff5b773e4909" /><Relationship Type="http://schemas.openxmlformats.org/officeDocument/2006/relationships/notesMaster" Target="/ppt/notesMasters/notesMaster1.xml" Id="Rc03ee167ce594f28" /><Relationship Type="http://schemas.openxmlformats.org/officeDocument/2006/relationships/presProps" Target="/ppt/presProps.xml" Id="R6226735e3eea44d4" /><Relationship Type="http://schemas.openxmlformats.org/officeDocument/2006/relationships/tableStyles" Target="/ppt/tableStyles.xml" Id="R0696f75132fd4150" /><Relationship Type="http://schemas.openxmlformats.org/officeDocument/2006/relationships/slide" Target="/ppt/slides/slide1.xml" Id="Rbf6ed5f492414cb6" /><Relationship Type="http://schemas.openxmlformats.org/officeDocument/2006/relationships/slide" Target="/ppt/slides/slide2.xml" Id="R8c70d6c4127842ca" /><Relationship Type="http://schemas.openxmlformats.org/officeDocument/2006/relationships/slide" Target="/ppt/slides/slide3.xml" Id="R9389676fa68f4362" /><Relationship Type="http://schemas.openxmlformats.org/officeDocument/2006/relationships/slide" Target="/ppt/slides/slide4.xml" Id="R493bc76f21954360" /><Relationship Type="http://schemas.openxmlformats.org/officeDocument/2006/relationships/slide" Target="/ppt/slides/slide5.xml" Id="R901ccf0f0c1c46bc" /><Relationship Type="http://schemas.openxmlformats.org/officeDocument/2006/relationships/slide" Target="/ppt/slides/slide6.xml" Id="R803099813f64491b" /><Relationship Type="http://schemas.openxmlformats.org/officeDocument/2006/relationships/slide" Target="/ppt/slides/slide7.xml" Id="Rf4a7c1528c3a487a" /><Relationship Type="http://schemas.openxmlformats.org/officeDocument/2006/relationships/slide" Target="/ppt/slides/slide8.xml" Id="R65cfb0fb1d7c494a" /><Relationship Type="http://schemas.openxmlformats.org/officeDocument/2006/relationships/slide" Target="/ppt/slides/slide9.xml" Id="R712821d3584a4da1" /><Relationship Type="http://schemas.openxmlformats.org/officeDocument/2006/relationships/slide" Target="/ppt/slides/slide10.xml" Id="Rcf06e951872f4f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1374109c094c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6da6b54f944a79" /><Relationship Type="http://schemas.openxmlformats.org/officeDocument/2006/relationships/notesMaster" Target="/ppt/notesMasters/notesMaster1.xml" Id="Rec4b0f8c6f3948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9d66d174354e86" /><Relationship Type="http://schemas.openxmlformats.org/officeDocument/2006/relationships/notesMaster" Target="/ppt/notesMasters/notesMaster1.xml" Id="R9d4609a49e1b46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1d2bfcd676472d" /><Relationship Type="http://schemas.openxmlformats.org/officeDocument/2006/relationships/notesMaster" Target="/ppt/notesMasters/notesMaster1.xml" Id="Rdc15745deeb446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71839d5bfa458c" /><Relationship Type="http://schemas.openxmlformats.org/officeDocument/2006/relationships/notesMaster" Target="/ppt/notesMasters/notesMaster1.xml" Id="Rd693cb5aa2334e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8b94eff6b846e2" /><Relationship Type="http://schemas.openxmlformats.org/officeDocument/2006/relationships/notesMaster" Target="/ppt/notesMasters/notesMaster1.xml" Id="Racf98ee8a7224a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e986e609dd4d3a" /><Relationship Type="http://schemas.openxmlformats.org/officeDocument/2006/relationships/notesMaster" Target="/ppt/notesMasters/notesMaster1.xml" Id="R8f393025c1154d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cb57563d6f4022" /><Relationship Type="http://schemas.openxmlformats.org/officeDocument/2006/relationships/notesMaster" Target="/ppt/notesMasters/notesMaster1.xml" Id="Re4b7538e825942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801c8ff07c4221" /><Relationship Type="http://schemas.openxmlformats.org/officeDocument/2006/relationships/notesMaster" Target="/ppt/notesMasters/notesMaster1.xml" Id="R6248ef9152ff40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614ef48e9344ea" /><Relationship Type="http://schemas.openxmlformats.org/officeDocument/2006/relationships/notesMaster" Target="/ppt/notesMasters/notesMaster1.xml" Id="Re20cfce6721c49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48d8d6cb1d4567" /><Relationship Type="http://schemas.openxmlformats.org/officeDocument/2006/relationships/notesMaster" Target="/ppt/notesMasters/notesMaster1.xml" Id="Rfd669f0899c649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separating the sensor from any trading rule. This deck asks only whether the state label forecasts directionless future movement.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docs/GEN5_HYP_REG_01_1_ATR_PERCENT_VOLATILITY_POC_CONTRACT.md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Project/Time-Series-Modeling-Gen5/runs/research_workbench/operator_hypothesis_lab/hyp_reg_01_1_atr_percent_20260814/hyp_reg_01_1_daily_state_ledger.csv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a coherent volatility forecast is necessary but not sufficient for a useful trading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docs/GEN5_HYP_REG_01_1_ATR_PERCENT_VOLATILITY_POC_CONTRACT.md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state dated t is not allowed to explain movement inside t. The first target observation is t+1.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docs/GEN5_HYP_REG_01_1_ATR_PERCENT_VOLATILITY_POC_CONTRACT.md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thermostat analogy. Hysteresis is a deterministic state machine, not a retroactive smoother.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docs/GEN5_HYP_REG_01_1_ATR_PERCENT_VOLATILITY_POC_CONTRACT.md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state ordering is not a return claim. The bars show subsequent normalized True Range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Project/Time-Series-Modeling-Gen5/runs/research_workbench/operator_hypothesis_lab/hyp_reg_01_1_atr_percent_20260814/hyp_reg_01_1_panel_state_prediction.csv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Project/Time-Series-Modeling-Gen5/runs/research_workbench/operator_hypothesis_lab/hyp_reg_01_1_atr_percent_20260814/hyp_reg_01_1_panel_predictive_summary.csv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heatmap uses non-overlapping observations. Ratios compare each asset with itself, so price scale and baseline volatility do not create the separation.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Project/Time-Series-Modeling-Gen5/runs/research_workbench/operator_hypothesis_lab/hyp_reg_01_1_atr_percent_20260814/hyp_reg_01_1_asset_state_prediction.csv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ATR smoothing adds information beyond one recent range observation. EWMA remains a benchmark rather than an alternate promoted filter.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Project/Time-Series-Modeling-Gen5/runs/research_workbench/operator_hypothesis_lab/hyp_reg_01_1_atr_percent_20260814/hyp_reg_01_1_panel_predictive_summary.csv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diagonal transition probabilities and low one-session reversal share show that hysteresis suppresses chatter while preserving switches.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Project/Time-Series-Modeling-Gen5/runs/research_workbench/operator_hypothesis_lab/hyp_reg_01_1_atr_percent_20260814/hyp_reg_01_1_state_transitions.csv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Project/Time-Series-Modeling-Gen5/runs/research_workbench/operator_hypothesis_lab/hyp_reg_01_1_atr_percent_20260814/hyp_reg_01_1_panel_state_dynamics.csv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principal caution from the diagnostic: volatility state is relative to a chosen historical memory. Do not later choose that memory using P&amp;L.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Project/Time-Series-Modeling-Gen5/runs/research_workbench/operator_hypothesis_lab/hyp_reg_01_1_atr_percent_20260814/hyp_reg_01_1_sensitivity_panel.csv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distinction between diagnostic promotion and trading promotion. The classifier passed; strategy utility remains untested.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operator_hypothesis_lab/docs/HYP_REG_01_1_ATR_PERCENT_VOLATILITY_RESULTS.md</a:t>
            </a:r>
          </a:p>
          <a:p xmlns:a="http://schemas.openxmlformats.org/drawingml/2006/main">
            <a:r>
              <a:t>- docs/GEN5_HYP_REG_01_1_ATR_PERCENT_VOLATILITY_POC_CONTRACT.md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e861791f54c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82038b44ce42fa" /><Relationship Type="http://schemas.openxmlformats.org/officeDocument/2006/relationships/slideLayout" Target="/ppt/slideLayouts/slideLayout1.xml" Id="Ra54227e5186d41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227e5186d41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46be733294764" /><Relationship Type="http://schemas.openxmlformats.org/officeDocument/2006/relationships/image" Target="/ppt/media/image.png" Id="Rd41aba33609d4a86" /><Relationship Type="http://schemas.openxmlformats.org/officeDocument/2006/relationships/notesSlide" Target="/ppt/notesSlides/notesSlide1.xml" Id="R2727f65ee5db49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9c8278302407a" /><Relationship Type="http://schemas.openxmlformats.org/officeDocument/2006/relationships/notesSlide" Target="/ppt/notesSlides/notesSlide2.xml" Id="R88f4096b0e1b47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5652342484555" /><Relationship Type="http://schemas.openxmlformats.org/officeDocument/2006/relationships/notesSlide" Target="/ppt/notesSlides/notesSlide3.xml" Id="R2fe5430a65a04e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1dcba1aa548fc" /><Relationship Type="http://schemas.openxmlformats.org/officeDocument/2006/relationships/notesSlide" Target="/ppt/notesSlides/notesSlide4.xml" Id="Rb307cc6bacbd40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43002f0004a0b" /><Relationship Type="http://schemas.openxmlformats.org/officeDocument/2006/relationships/image" Target="/ppt/media/image2.png" Id="Rc2ab44bc23b749ee" /><Relationship Type="http://schemas.openxmlformats.org/officeDocument/2006/relationships/notesSlide" Target="/ppt/notesSlides/notesSlide5.xml" Id="R3fb18cc8a52543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c66ddf8a1430f" /><Relationship Type="http://schemas.openxmlformats.org/officeDocument/2006/relationships/image" Target="/ppt/media/image3.png" Id="R9734bd51111047f7" /><Relationship Type="http://schemas.openxmlformats.org/officeDocument/2006/relationships/notesSlide" Target="/ppt/notesSlides/notesSlide6.xml" Id="R3a78bdc7c1514d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0f6778b2f4d1a" /><Relationship Type="http://schemas.openxmlformats.org/officeDocument/2006/relationships/image" Target="/ppt/media/image4.png" Id="R02ce20fee02b483c" /><Relationship Type="http://schemas.openxmlformats.org/officeDocument/2006/relationships/notesSlide" Target="/ppt/notesSlides/notesSlide7.xml" Id="Rfcae32a18c9540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c9fa1b9c04da8" /><Relationship Type="http://schemas.openxmlformats.org/officeDocument/2006/relationships/image" Target="/ppt/media/image5.png" Id="R5fddec7b4f1647bc" /><Relationship Type="http://schemas.openxmlformats.org/officeDocument/2006/relationships/notesSlide" Target="/ppt/notesSlides/notesSlide8.xml" Id="R1f807ea39bc548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e6d53f8ba4b85" /><Relationship Type="http://schemas.openxmlformats.org/officeDocument/2006/relationships/image" Target="/ppt/media/image6.png" Id="R95660c5b6a6e4d02" /><Relationship Type="http://schemas.openxmlformats.org/officeDocument/2006/relationships/notesSlide" Target="/ppt/notesSlides/notesSlide9.xml" Id="R4d12e39020c249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86e66910b49a5" /><Relationship Type="http://schemas.openxmlformats.org/officeDocument/2006/relationships/notesSlide" Target="/ppt/notesSlides/notesSlide10.xml" Id="R163b6cb9b1f045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67778-50B5-4560-A886-7D22BEF3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HYP-REG-01.1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DD623-CD68-480F-AE57-CECB6DAE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191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ATR% can classify tomorrow’s movement magnitude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B7D6A-6C4C-4B13-841F-AD5B4CFA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A strategy-independent volatility-regime diagnostic across 26 assets · 2018–2023 development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7DAD5-B1CD-4FDA-BA62-90DA72C5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3E3A"/>
                </a:solidFill>
              </a:defRPr>
            </a:pPr>
            <a:r>
              <a:rPr sz="1500" b="1">
                <a:solidFill>
                  <a:srgbClr val="C83E3A"/>
                </a:solidFill>
              </a:rPr>
              <a:t>No P&amp;L · no direction · no 2024+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341F6-9369-4944-8D90-71D20822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572125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aba33609d4a86"/>
          <a:srcRect xmlns:a="http://schemas.openxmlformats.org/drawingml/2006/main" l="10861" t="0" r="108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572125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C4B3E-DCEC-48E4-86DD-94627819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26455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844DF-B649-4A85-891A-06BB8C25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We validated a sensor—not a trading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7A44D-5A6F-4478-AA78-FF93F36C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AD511-F003-4602-AE38-B4620405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AUTHORITY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D4C37-1F96-4282-9FE9-059D27C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52387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9EC93-3BEE-4F21-9686-A54C4356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What the filter may learn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CE204-9B89-4354-99E8-4580A370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DE99C-D9E9-440B-AB0E-B4FA9D1F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229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How large today’s range is relative to the asset’s own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A1AD5-B262-4DB6-92CA-D939EF01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9E689-3876-46B7-848C-30636BE1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229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Whether that magnitude tends to persist for 1, 5, or 20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79D2E-FDF2-4238-9841-67CBB0F2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6E732-EA58-45C4-BB5E-D6F7C5A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4229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Whether low, medium, and high labels remain stable across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44B0E-CE6C-4974-9C53-1A42C2D6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5737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What remains prohibited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76998-FD8A-476B-BAEA-DFAE9A78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BE46E-3704-4453-82DA-1844FD04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Strategy return, P&amp;L, Sharpe, drawdown, or hit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FC5DB-3C9D-4326-95A7-711E7D1B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8D5BA-2615-4F5F-B279-C73C22A0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Entry, exit, allocation, leverage, or strategy switching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FBF9B-F057-4FD0-9278-39EB3702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FB310-0B0D-433D-B300-B01D837E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0525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Any observation on or after 2024-01-02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E246A-DB0A-4D6E-A33D-B7FC53E6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9237B-8690-473F-9786-F77E7E95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7200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Threshold or asset selection after seeing outcomes</a:t>
            </a:r>
          </a:p>
        </p:txBody>
      </p:sp>
    </p:spTree>
    <p:extLst>
      <p:ext uri="{BB962C8B-B14F-4D97-AF65-F5344CB8AC3E}">
        <p14:creationId xmlns:p14="http://schemas.microsoft.com/office/powerpoint/2010/main" val="640596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0B4ED-7866-4DDC-8DA5-3C061E6D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Every label is causal and every target starts tomorrow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0D64A-E684-4091-9680-D93C70A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3EDCA-A94C-4552-B909-3509F629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MEASUREMENT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414A2-3820-4F32-9957-31F623B6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3352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50A08-AFC8-4EB4-A109-8826E396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1 · Capture the range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9FE18-61B6-432A-89AB-2F7B892C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TRₜ = max(H−L, |H−Cₜ₋₁|, |L−Cₜ₋₁|)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FFA42-48F4-4100-9722-61F37806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True Range preserves both the session’s high–low movement and overnight gaps.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9F1CC-1B44-4399-B332-44626B7C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66875"/>
            <a:ext cx="3352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686AD-5C3B-4491-8887-1D3B39A7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2 · Normalize the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18028-54E9-43F0-BB3C-EFC45370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ATR%ₜ = 100 × ATR₁₄,ₜ / Cₜ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03B83-0F91-4F8C-812B-E29A53A8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75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Dividing by close removes dollar-price scale; Wilder smoothing reduces one-bar noise.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7D4B1-EFF8-429B-9326-914D4147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66875"/>
            <a:ext cx="3352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C3893-3C96-46BA-A38B-66833408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3 · Rank against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8F161-BDA0-4ED9-B759-038B5174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Pₜ = rank of ATR%ₜ vs prior 252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45AE1-377F-4755-8CCF-8207DBD9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The current observation is excluded. Low and high therefore mean relative to the asset itself.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580E5-F94D-4CD7-BF56-B13D39FB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1D89D-F3F4-414C-B969-145EF630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t−252 … t−1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6FEBF-CDCD-4487-A3FE-08999FE0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381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630"/>
                </a:solidFill>
              </a:defRPr>
            </a:pPr>
            <a:r>
              <a:rPr sz="1350" b="1">
                <a:solidFill>
                  <a:srgbClr val="202630"/>
                </a:solidFill>
              </a:rPr>
              <a:t>close 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1702B-80EB-4113-A363-1F0564F6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81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t+1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A5F35-BEC7-4BB5-AA64-96775770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81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FAEEE-51EA-4A10-84C9-035FCF3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81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t+h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31490-E30B-4A97-AEFA-BBC142A5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829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8B57"/>
                </a:solidFill>
              </a:defRPr>
            </a:pPr>
            <a:r>
              <a:rPr sz="1125" b="1">
                <a:solidFill>
                  <a:srgbClr val="2E8B57"/>
                </a:solidFill>
              </a:rPr>
              <a:t>STATE KNOWN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00701-86E0-4F14-8936-92277387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29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A65A"/>
                </a:solidFill>
              </a:defRPr>
            </a:pPr>
            <a:r>
              <a:rPr sz="1125" b="1">
                <a:solidFill>
                  <a:srgbClr val="F2A65A"/>
                </a:solidFill>
              </a:rPr>
              <a:t>DIRECTIONLESS TARGET</a:t>
            </a:r>
          </a:p>
        </p:txBody>
      </p:sp>
    </p:spTree>
    <p:extLst>
      <p:ext uri="{BB962C8B-B14F-4D97-AF65-F5344CB8AC3E}">
        <p14:creationId xmlns:p14="http://schemas.microsoft.com/office/powerpoint/2010/main" val="1569240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605B0-EE5A-4AA1-B4E1-F9A0376E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Hysteresis turns a noisy percentile into durable states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D085C-91AA-4F50-A9F6-2DF22DB1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50C02-DAEC-441F-A550-43A6B62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OPERATIONAL SWITCH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5199D-7BF7-4081-A75D-06D89D8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7145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DB69F-D244-4E80-959C-2D41AFE1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171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A963F-EA7F-4901-9ABF-145F77B8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17145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A970A-E60A-42B1-9E56-874396D0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33818-CA7C-4EB9-BFD2-8237DFA1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MEDIUM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A9E10-FCEB-4A9B-982B-AC2A6A3F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4F8F2-D6CE-4E06-846E-C5300539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4797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C1D29-318D-4763-90D2-682596B8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336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47918-AD1C-47AC-B43F-0D79A4A4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75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83DA2-EC1E-4626-AAEE-536122D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43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DA4DC-69C3-44D2-A598-E6892003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7670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A2C7A-C87F-4074-9FBE-84DF35DC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62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C445D-87F0-4C04-A6E9-53BF161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2A6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66F94-6756-4ACA-B67E-1BD2F665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3719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70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17289-C807-4DC2-8B40-9F2AB19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Enter LOW below 30; leave only above 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7FE1B-0269-4323-98E9-F3DBA95B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Remain MEDIUM between transition zones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673BB-A170-4B6C-9FB0-F190FB20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243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Enter HIGH above 70; leave only below 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81E7F-7901-4E0C-A03D-DA23B746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816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0"/>
                </a:solidFill>
              </a:defRPr>
            </a:pPr>
            <a:r>
              <a:rPr sz="1500" b="0">
                <a:solidFill>
                  <a:srgbClr val="202630"/>
                </a:solidFill>
              </a:rPr>
              <a:t>The gap between entry and exit thresholds behaves like a thermostat: it prevents boundary chatter without rewriting history.</a:t>
            </a:r>
          </a:p>
        </p:txBody>
      </p:sp>
    </p:spTree>
    <p:extLst>
      <p:ext uri="{BB962C8B-B14F-4D97-AF65-F5344CB8AC3E}">
        <p14:creationId xmlns:p14="http://schemas.microsoft.com/office/powerpoint/2010/main" val="1877110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CE02F-0160-42C0-89BC-CE570D30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Future movement is ordered low → medium → high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970DA-2F80-45A1-9876-70FB50FF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75375-9109-41BE-B1FA-DFF26534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PRIMARY PREDICTIVE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7AC99-AAAF-476F-95FB-10B7FD56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8105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b44bc23b749ee"/>
          <a:stretch xmlns:a="http://schemas.openxmlformats.org/drawingml/2006/main"/>
        </p:blipFill>
        <p:spPr>
          <a:xfrm xmlns:a="http://schemas.openxmlformats.org/drawingml/2006/main">
            <a:off x="484414" y="1428750"/>
            <a:ext cx="7756071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99BEE-1644-436F-AF9A-FEDD0CEF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36F62-D84B-4B5F-AC0B-02CE6BB4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240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0.409 → 0.514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C9C9B-A63D-4304-8F50-3C997FBC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003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630"/>
                </a:solidFill>
              </a:defRPr>
            </a:pPr>
            <a:r>
              <a:rPr sz="1275" b="0">
                <a:solidFill>
                  <a:srgbClr val="202630"/>
                </a:solidFill>
              </a:rPr>
              <a:t>median Spearman from H1 to H20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5B7F6-C933-41DE-8C90-242F5213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75D49-3CB3-4B4D-898B-F0076D7B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33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E8B57"/>
                </a:solidFill>
              </a:defRPr>
            </a:pPr>
            <a:r>
              <a:rPr sz="2325" b="1">
                <a:solidFill>
                  <a:srgbClr val="2E8B57"/>
                </a:solidFill>
              </a:rPr>
              <a:t>26 / 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D6CB2-C18F-4721-927D-8E1FCF3B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0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630"/>
                </a:solidFill>
              </a:defRPr>
            </a:pPr>
            <a:r>
              <a:rPr sz="1275" b="0">
                <a:solidFill>
                  <a:srgbClr val="202630"/>
                </a:solidFill>
              </a:rPr>
              <a:t>assets: HIGH range &gt; LOW range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86600-3847-4CE9-8437-5D58FA50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0"/>
                </a:solidFill>
              </a:defRPr>
            </a:pPr>
            <a:r>
              <a:rPr sz="1425" b="0">
                <a:solidFill>
                  <a:srgbClr val="202630"/>
                </a:solidFill>
              </a:rPr>
              <a:t>Non-overlapping samples preserve the horizon’s effective observation count.</a:t>
            </a:r>
          </a:p>
        </p:txBody>
      </p:sp>
    </p:spTree>
    <p:extLst>
      <p:ext uri="{BB962C8B-B14F-4D97-AF65-F5344CB8AC3E}">
        <p14:creationId xmlns:p14="http://schemas.microsoft.com/office/powerpoint/2010/main" val="66399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30BB7-D65A-409B-B56D-4C260D7D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separation transports across all 26 assets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6F789-4809-400A-95AF-E4F62EB9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313CC-C50B-41FE-92F4-672B59B9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CROSS-ASSET PORTABILITY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E2A4E-DE50-4636-9BAE-AFA582E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334375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4bd51111047f7"/>
          <a:stretch xmlns:a="http://schemas.openxmlformats.org/drawingml/2006/main"/>
        </p:blipFill>
        <p:spPr>
          <a:xfrm xmlns:a="http://schemas.openxmlformats.org/drawingml/2006/main">
            <a:off x="2219325" y="1381125"/>
            <a:ext cx="4810125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8EB63-C6C6-4A97-BB33-B585EAC1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E8B57"/>
                </a:solidFill>
              </a:defRPr>
            </a:pPr>
            <a:r>
              <a:rPr sz="2325" b="1">
                <a:solidFill>
                  <a:srgbClr val="2E8B57"/>
                </a:solidFill>
              </a:rPr>
              <a:t>Every cell exceeds 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E433E-6442-4F3B-9DFE-733A9663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62250"/>
            <a:ext cx="2428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The effect is not confined to AMD, TSLA, SPY, or another high-beta subgroup.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211E5-7B05-4CE5-8C01-46C89E41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76750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Observed range: 1.06× to 2.00×</a:t>
            </a:r>
          </a:p>
        </p:txBody>
      </p:sp>
    </p:spTree>
    <p:extLst>
      <p:ext uri="{BB962C8B-B14F-4D97-AF65-F5344CB8AC3E}">
        <p14:creationId xmlns:p14="http://schemas.microsoft.com/office/powerpoint/2010/main" val="749548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4FCF7-E5DE-4416-8574-B3B24A88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ATR% carries more persistence than both fixed benchmarks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5EFD5-28B1-4075-96BC-BD7FB769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3E0E1-C55C-4B30-B28B-AB7EAB0C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BENCHMARK DISCIPLINE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170C0-8477-4C9B-A960-823FC2CB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785812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e20fee02b483c"/>
          <a:stretch xmlns:a="http://schemas.openxmlformats.org/drawingml/2006/main"/>
        </p:blipFill>
        <p:spPr>
          <a:xfrm xmlns:a="http://schemas.openxmlformats.org/drawingml/2006/main">
            <a:off x="630691" y="1476375"/>
            <a:ext cx="7511143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3818E-4826-451A-ABEC-449ACF3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62125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ATR% leads at H1, H5, and H20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84255-BF43-4976-8FEA-DBD01D3B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630"/>
                </a:solidFill>
              </a:defRPr>
            </a:pPr>
            <a:r>
              <a:rPr sz="1500" b="1">
                <a:solidFill>
                  <a:srgbClr val="202630"/>
                </a:solidFill>
              </a:rPr>
              <a:t>At H20: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6D8CA-C287-4E8D-8866-088CBEA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6625"/>
            <a:ext cx="2476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8DFF"/>
                </a:solidFill>
              </a:defRPr>
            </a:pPr>
            <a:r>
              <a:rPr sz="1800" b="0">
                <a:solidFill>
                  <a:srgbClr val="3D8DFF"/>
                </a:solidFill>
              </a:rPr>
              <a:t>0.514  ATR%</a:t>
            </a:r>
          </a:p>
          <a:p xmlns:a="http://schemas.openxmlformats.org/drawingml/2006/main">
            <a:pPr algn="l">
              <a:defRPr sz="1800" b="0">
                <a:solidFill>
                  <a:srgbClr val="3D8DFF"/>
                </a:solidFill>
              </a:defRPr>
            </a:pPr>
            <a:r>
              <a:rPr sz="1800" b="0">
                <a:solidFill>
                  <a:srgbClr val="3D8DFF"/>
                </a:solidFill>
              </a:rPr>
              <a:t>0.428  EWMA</a:t>
            </a:r>
          </a:p>
          <a:p xmlns:a="http://schemas.openxmlformats.org/drawingml/2006/main">
            <a:pPr algn="l">
              <a:defRPr sz="1800" b="0">
                <a:solidFill>
                  <a:srgbClr val="3D8DFF"/>
                </a:solidFill>
              </a:defRPr>
            </a:pPr>
            <a:r>
              <a:rPr sz="1800" b="0">
                <a:solidFill>
                  <a:srgbClr val="3D8DFF"/>
                </a:solidFill>
              </a:rPr>
              <a:t>0.383  current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787D4-5932-4626-A2E2-CFFF1241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00625"/>
            <a:ext cx="271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The benchmarks were frozen before execution; this is comparison, not a winner-search loop.</a:t>
            </a:r>
          </a:p>
        </p:txBody>
      </p:sp>
    </p:spTree>
    <p:extLst>
      <p:ext uri="{BB962C8B-B14F-4D97-AF65-F5344CB8AC3E}">
        <p14:creationId xmlns:p14="http://schemas.microsoft.com/office/powerpoint/2010/main" val="1349014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76BD9-F888-4627-8033-DA86A666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States persist without becoming permanent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8F85C-8FFE-4600-91CC-A537217B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E646A-2D70-4D7B-B953-A6CABEAD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SWITCH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6EE8B-8EF0-4557-A129-6F607C32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09625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dec7b4f1647bc"/>
          <a:stretch xmlns:a="http://schemas.openxmlformats.org/drawingml/2006/main"/>
        </p:blipFill>
        <p:spPr>
          <a:xfrm xmlns:a="http://schemas.openxmlformats.org/drawingml/2006/main">
            <a:off x="457200" y="1424781"/>
            <a:ext cx="8096250" cy="472281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4B339-824D-483B-88FB-A306717C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10.4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FAD16-697A-495B-A881-30F33AA0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09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median switches per year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5063E-40CD-43ED-8F9E-CD34F8C2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11 sessions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9F534-0CF7-47F8-B7A4-2EAC5539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43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median state-run duration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57147-5463-458A-9537-A0AD40D7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81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8B57"/>
                </a:solidFill>
              </a:defRPr>
            </a:pPr>
            <a:r>
              <a:rPr sz="2550" b="1">
                <a:solidFill>
                  <a:srgbClr val="2E8B57"/>
                </a:solidFill>
              </a:rPr>
              <a:t>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72716-0418-47FA-81B3-DD81E18D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876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one-session reversal share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CB35B-2E78-43D9-B276-0DA0335E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630"/>
                </a:solidFill>
              </a:defRPr>
            </a:pPr>
            <a:r>
              <a:rPr sz="1125" b="0">
                <a:solidFill>
                  <a:srgbClr val="202630"/>
                </a:solidFill>
              </a:rPr>
              <a:t>Colors: LOW light blue · MEDIUM gray · HIGH orange</a:t>
            </a:r>
          </a:p>
        </p:txBody>
      </p:sp>
    </p:spTree>
    <p:extLst>
      <p:ext uri="{BB962C8B-B14F-4D97-AF65-F5344CB8AC3E}">
        <p14:creationId xmlns:p14="http://schemas.microsoft.com/office/powerpoint/2010/main" val="1055320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81779-3870-4A25-9CAC-A2D8CE1E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ATR length is robust; historical memory is consequential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93B07-06AA-452B-A423-94E612F0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E1692-8C6A-4A1B-A73B-194FD3CD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SENSITIVITY WITHOUT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84B37-6050-4A71-A294-B6CDCC05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76200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60c5b6a6e4d02"/>
          <a:stretch xmlns:a="http://schemas.openxmlformats.org/drawingml/2006/main"/>
        </p:blipFill>
        <p:spPr>
          <a:xfrm xmlns:a="http://schemas.openxmlformats.org/drawingml/2006/main">
            <a:off x="617621" y="1476375"/>
            <a:ext cx="7299158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A2C1E-F2D9-4A9B-BFEC-C5A80A7F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45CCA-8062-436C-9B65-D92557A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52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≈92% agreement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58654-246E-484F-A2FB-17366A83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ATR10 and ATR20 retain nearly all primary 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5F3CD-9A90-4EAA-8D01-90A66478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857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10DCE-9468-451C-B85C-90246D52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A65A"/>
                </a:solidFill>
              </a:defRPr>
            </a:pPr>
            <a:r>
              <a:rPr sz="2250" b="1">
                <a:solidFill>
                  <a:srgbClr val="F2A65A"/>
                </a:solidFill>
              </a:rPr>
              <a:t>≈67% agreement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B332E-1E8A-4427-B3E4-E0D8769A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767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A 126- or 504-session memory changes about one-third of states. Keep P252 frozen in any overlay.</a:t>
            </a:r>
          </a:p>
        </p:txBody>
      </p:sp>
    </p:spTree>
    <p:extLst>
      <p:ext uri="{BB962C8B-B14F-4D97-AF65-F5344CB8AC3E}">
        <p14:creationId xmlns:p14="http://schemas.microsoft.com/office/powerpoint/2010/main" val="2616583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7C383-4659-4B12-BF87-ED646E18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Pass the classifier; stop before strategy gating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2CE01-8DB5-41A8-9A2D-62C8F62B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C5F5C-2161-47D8-86BA-5C827242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DECISION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50E65-134A-44B2-9288-156A1059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E8B57"/>
                </a:solidFill>
              </a:defRPr>
            </a:pPr>
            <a:r>
              <a:rPr sz="57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B61B5-9679-4187-A9B4-6EB7F6BF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ATR% percentile predicts future directionless range, transports across all 26 assets, and creates stable states.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215F1-AB50-41CF-AE95-E97B2671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9EF4E-3B0D-4023-ADED-512895B1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The next question must be frozen separately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6D629-CE47-481A-9769-3B1B9A38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Candidate overlay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B500D-1E11-4C65-827B-639D40A8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Suppress new momentum entries in LOW; allow MEDIUM and HIGH; leave existing exits unchanged.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CDAA5-4CB4-4A08-9BC2-5B471093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Required controls: unchanged strategy + exposure-matched placebo. No threshold, memory, asset, or state-combination search.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893B6-2002-46DB-906A-513A15D0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3E3A"/>
                </a:solidFill>
              </a:defRPr>
            </a:pPr>
            <a:r>
              <a:rPr sz="1800" b="1">
                <a:solidFill>
                  <a:srgbClr val="C83E3A"/>
                </a:solidFill>
              </a:rPr>
              <a:t>2024+ remains sealed</a:t>
            </a:r>
          </a:p>
        </p:txBody>
      </p:sp>
    </p:spTree>
    <p:extLst>
      <p:ext uri="{BB962C8B-B14F-4D97-AF65-F5344CB8AC3E}">
        <p14:creationId xmlns:p14="http://schemas.microsoft.com/office/powerpoint/2010/main" val="1232774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2026-08-15T00:31:15.7340000Z</dcterms:created>
  <dcterms:modified xsi:type="dcterms:W3CDTF">2026-08-15T00:31:15.7340000Z</dcterms:modified>
</coreProperties>
</file>