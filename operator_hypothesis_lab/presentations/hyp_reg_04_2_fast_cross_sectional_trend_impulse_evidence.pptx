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6cff93a4f5a4b75" /><Relationship Type="http://schemas.openxmlformats.org/officeDocument/2006/relationships/extended-properties" Target="/docProps/app.xml" Id="R3fdf9038a3b74ec3" /><Relationship Type="http://schemas.openxmlformats.org/officeDocument/2006/relationships/officeDocument" Target="/ppt/presentation.xml" Id="R39b8fa33d2fd4dac" /></Relationships>
</file>

<file path=ppt/presentation.xml><?xml version="1.0" encoding="utf-8"?>
<p:presentation xmlns:p="http://schemas.openxmlformats.org/presentationml/2006/main">
  <p:sldMasterIdLst>
    <p:sldMasterId xmlns:r="http://schemas.openxmlformats.org/officeDocument/2006/relationships" id="2147483648" r:id="Rffd25a6548be4bd3"/>
  </p:sldMasterIdLst>
  <p:notesMasterIdLst>
    <p:notesMasterId xmlns:r="http://schemas.openxmlformats.org/officeDocument/2006/relationships" r:id="R07816cdcf48e4488"/>
  </p:notesMasterIdLst>
  <p:sldIdLst>
    <p:sldId xmlns:r="http://schemas.openxmlformats.org/officeDocument/2006/relationships" id="256" r:id="Rf8cf5e3bd91f4dc0"/>
    <p:sldId xmlns:r="http://schemas.openxmlformats.org/officeDocument/2006/relationships" id="257" r:id="R905e63800a0d48ca"/>
    <p:sldId xmlns:r="http://schemas.openxmlformats.org/officeDocument/2006/relationships" id="258" r:id="Rc49d4759972549f1"/>
    <p:sldId xmlns:r="http://schemas.openxmlformats.org/officeDocument/2006/relationships" id="259" r:id="R0967eeb5bb534236"/>
    <p:sldId xmlns:r="http://schemas.openxmlformats.org/officeDocument/2006/relationships" id="260" r:id="R67f7dcd4fbe64d5b"/>
    <p:sldId xmlns:r="http://schemas.openxmlformats.org/officeDocument/2006/relationships" id="261" r:id="Rea8124afe4314c59"/>
    <p:sldId xmlns:r="http://schemas.openxmlformats.org/officeDocument/2006/relationships" id="262" r:id="Rb18b848779c24913"/>
    <p:sldId xmlns:r="http://schemas.openxmlformats.org/officeDocument/2006/relationships" id="263" r:id="R94346e879500428b"/>
    <p:sldId xmlns:r="http://schemas.openxmlformats.org/officeDocument/2006/relationships" id="264" r:id="R7ef726d7473b44ce"/>
    <p:sldId xmlns:r="http://schemas.openxmlformats.org/officeDocument/2006/relationships" id="265" r:id="R183cc2af21de4234"/>
    <p:sldId xmlns:r="http://schemas.openxmlformats.org/officeDocument/2006/relationships" id="266" r:id="R3782f4ed152b423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c7c889b3a5e4b59" /><Relationship Type="http://schemas.openxmlformats.org/officeDocument/2006/relationships/slideMaster" Target="/ppt/slideMasters/slideMaster1.xml" Id="Rffd25a6548be4bd3" /><Relationship Type="http://schemas.openxmlformats.org/officeDocument/2006/relationships/notesMaster" Target="/ppt/notesMasters/notesMaster1.xml" Id="R07816cdcf48e4488" /><Relationship Type="http://schemas.openxmlformats.org/officeDocument/2006/relationships/presProps" Target="/ppt/presProps.xml" Id="R6fd3745716184b4b" /><Relationship Type="http://schemas.openxmlformats.org/officeDocument/2006/relationships/tableStyles" Target="/ppt/tableStyles.xml" Id="R36182ef93032420b" /><Relationship Type="http://schemas.openxmlformats.org/officeDocument/2006/relationships/slide" Target="/ppt/slides/slide1.xml" Id="Rf8cf5e3bd91f4dc0" /><Relationship Type="http://schemas.openxmlformats.org/officeDocument/2006/relationships/slide" Target="/ppt/slides/slide2.xml" Id="R905e63800a0d48ca" /><Relationship Type="http://schemas.openxmlformats.org/officeDocument/2006/relationships/slide" Target="/ppt/slides/slide3.xml" Id="Rc49d4759972549f1" /><Relationship Type="http://schemas.openxmlformats.org/officeDocument/2006/relationships/slide" Target="/ppt/slides/slide4.xml" Id="R0967eeb5bb534236" /><Relationship Type="http://schemas.openxmlformats.org/officeDocument/2006/relationships/slide" Target="/ppt/slides/slide5.xml" Id="R67f7dcd4fbe64d5b" /><Relationship Type="http://schemas.openxmlformats.org/officeDocument/2006/relationships/slide" Target="/ppt/slides/slide6.xml" Id="Rea8124afe4314c59" /><Relationship Type="http://schemas.openxmlformats.org/officeDocument/2006/relationships/slide" Target="/ppt/slides/slide7.xml" Id="Rb18b848779c24913" /><Relationship Type="http://schemas.openxmlformats.org/officeDocument/2006/relationships/slide" Target="/ppt/slides/slide8.xml" Id="R94346e879500428b" /><Relationship Type="http://schemas.openxmlformats.org/officeDocument/2006/relationships/slide" Target="/ppt/slides/slide9.xml" Id="R7ef726d7473b44ce" /><Relationship Type="http://schemas.openxmlformats.org/officeDocument/2006/relationships/slide" Target="/ppt/slides/slide10.xml" Id="R183cc2af21de4234" /><Relationship Type="http://schemas.openxmlformats.org/officeDocument/2006/relationships/slide" Target="/ppt/slides/slide11.xml" Id="R3782f4ed152b423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9b87f87b3ad44b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86269e257c34a41" /><Relationship Type="http://schemas.openxmlformats.org/officeDocument/2006/relationships/notesMaster" Target="/ppt/notesMasters/notesMaster1.xml" Id="Rf4154310b6e34987" /></Relationships>
</file>

<file path=ppt/notesSlides/_rels/notesSlide2.xml.rels>&#65279;<?xml version="1.0" encoding="utf-8"?><Relationships xmlns="http://schemas.openxmlformats.org/package/2006/relationships"><Relationship Type="http://schemas.openxmlformats.org/officeDocument/2006/relationships/slide" Target="/ppt/slides/slide2.xml" Id="R11f221f35c524bf5" /><Relationship Type="http://schemas.openxmlformats.org/officeDocument/2006/relationships/notesMaster" Target="/ppt/notesMasters/notesMaster1.xml" Id="R9101df2b28b14e3c" /></Relationships>
</file>

<file path=ppt/notesSlides/_rels/notesSlide3.xml.rels>&#65279;<?xml version="1.0" encoding="utf-8"?><Relationships xmlns="http://schemas.openxmlformats.org/package/2006/relationships"><Relationship Type="http://schemas.openxmlformats.org/officeDocument/2006/relationships/slide" Target="/ppt/slides/slide3.xml" Id="R8ac07ff8159942aa" /><Relationship Type="http://schemas.openxmlformats.org/officeDocument/2006/relationships/notesMaster" Target="/ppt/notesMasters/notesMaster1.xml" Id="Re4e70026b9fd4f97" /></Relationships>
</file>

<file path=ppt/notesSlides/_rels/notesSlide4.xml.rels>&#65279;<?xml version="1.0" encoding="utf-8"?><Relationships xmlns="http://schemas.openxmlformats.org/package/2006/relationships"><Relationship Type="http://schemas.openxmlformats.org/officeDocument/2006/relationships/slide" Target="/ppt/slides/slide4.xml" Id="R88ffbb5b724d4e7e" /><Relationship Type="http://schemas.openxmlformats.org/officeDocument/2006/relationships/notesMaster" Target="/ppt/notesMasters/notesMaster1.xml" Id="R09560871c5fd428c" /></Relationships>
</file>

<file path=ppt/notesSlides/_rels/notesSlide5.xml.rels>&#65279;<?xml version="1.0" encoding="utf-8"?><Relationships xmlns="http://schemas.openxmlformats.org/package/2006/relationships"><Relationship Type="http://schemas.openxmlformats.org/officeDocument/2006/relationships/slide" Target="/ppt/slides/slide5.xml" Id="Reead7b734ecb4b16" /><Relationship Type="http://schemas.openxmlformats.org/officeDocument/2006/relationships/notesMaster" Target="/ppt/notesMasters/notesMaster1.xml" Id="R33f15350aab94911" /></Relationships>
</file>

<file path=ppt/notesSlides/_rels/notesSlide6.xml.rels>&#65279;<?xml version="1.0" encoding="utf-8"?><Relationships xmlns="http://schemas.openxmlformats.org/package/2006/relationships"><Relationship Type="http://schemas.openxmlformats.org/officeDocument/2006/relationships/slide" Target="/ppt/slides/slide6.xml" Id="Rf3394a56ecd0426c" /><Relationship Type="http://schemas.openxmlformats.org/officeDocument/2006/relationships/notesMaster" Target="/ppt/notesMasters/notesMaster1.xml" Id="R9a289dcc7631498e" /></Relationships>
</file>

<file path=ppt/notesSlides/_rels/notesSlide7.xml.rels>&#65279;<?xml version="1.0" encoding="utf-8"?><Relationships xmlns="http://schemas.openxmlformats.org/package/2006/relationships"><Relationship Type="http://schemas.openxmlformats.org/officeDocument/2006/relationships/slide" Target="/ppt/slides/slide7.xml" Id="Ra6c997d86e974bef" /><Relationship Type="http://schemas.openxmlformats.org/officeDocument/2006/relationships/notesMaster" Target="/ppt/notesMasters/notesMaster1.xml" Id="Rddd86c93b9ce4350" /></Relationships>
</file>

<file path=ppt/notesSlides/_rels/notesSlide8.xml.rels>&#65279;<?xml version="1.0" encoding="utf-8"?><Relationships xmlns="http://schemas.openxmlformats.org/package/2006/relationships"><Relationship Type="http://schemas.openxmlformats.org/officeDocument/2006/relationships/slide" Target="/ppt/slides/slide8.xml" Id="R3bb09805f9f746c7" /><Relationship Type="http://schemas.openxmlformats.org/officeDocument/2006/relationships/notesMaster" Target="/ppt/notesMasters/notesMaster1.xml" Id="R4fa02dbfe81a4983" /></Relationships>
</file>

<file path=ppt/notesSlides/_rels/notesSlide9.xml.rels>&#65279;<?xml version="1.0" encoding="utf-8"?><Relationships xmlns="http://schemas.openxmlformats.org/package/2006/relationships"><Relationship Type="http://schemas.openxmlformats.org/officeDocument/2006/relationships/slide" Target="/ppt/slides/slide9.xml" Id="Rc76e2d8215f14429" /><Relationship Type="http://schemas.openxmlformats.org/officeDocument/2006/relationships/notesMaster" Target="/ppt/notesMasters/notesMaster1.xml" Id="R00bed7ee12fe41d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19217f2a9574cda" /><Relationship Type="http://schemas.openxmlformats.org/officeDocument/2006/relationships/notesMaster" Target="/ppt/notesMasters/notesMaster1.xml" Id="Rcf08136337c043f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15f7f1c73834c90" /><Relationship Type="http://schemas.openxmlformats.org/officeDocument/2006/relationships/notesMaster" Target="/ppt/notesMasters/notesMaster1.xml" Id="R45e9552e2aa64c3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with the result, not the machinery. Shortening the measurement horizon created a narrow H5 clue, but it did not produce a stable forward permission filter. H10 reversed and the frozen promotion gates failed.</a:t>
            </a:r>
          </a:p>
          <a:p xmlns:a="http://schemas.openxmlformats.org/drawingml/2006/main">
            <a:r>
              <a:t/>
            </a:r>
          </a:p>
          <a:p xmlns:a="http://schemas.openxmlformats.org/drawingml/2006/main">
            <a:r>
              <a:t>[Sources]</a:t>
            </a:r>
          </a:p>
          <a:p xmlns:a="http://schemas.openxmlformats.org/drawingml/2006/main">
            <a:r>
              <a:t>- docs/GEN5_HYP_REG_04_2_FAST_CROSS_SECTIONAL_TREND_IMPULSE_CONTRACT.md</a:t>
            </a:r>
          </a:p>
          <a:p xmlns:a="http://schemas.openxmlformats.org/drawingml/2006/main">
            <a:r>
              <a:t>- operator_hypothesis_lab/docs/HYP_REG_04_2_FAST_CROSS_SECTIONAL_TREND_IMPULSE_RESULTS.md</a:t>
            </a:r>
          </a:p>
          <a:p xmlns:a="http://schemas.openxmlformats.org/drawingml/2006/main">
            <a:r>
              <a:t>- C:/Users/Franc/OneDrive/Documents/Francis/Peltata Project/Time-Series-Modeling-Gen5/runs/research_workbench/operator_hypothesis_lab/hyp_reg_04_2_fast_cross_sectional_trend_impulse_20260815/hyp_reg_04_2_gates.csv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lane answers a clean derivative question: does a more reactive cross-sectional measurement improve near-term continuity? It is not permission to search many speeds after seeing outcomes.</a:t>
            </a:r>
          </a:p>
          <a:p xmlns:a="http://schemas.openxmlformats.org/drawingml/2006/main">
            <a:r>
              <a:t/>
            </a:r>
          </a:p>
          <a:p xmlns:a="http://schemas.openxmlformats.org/drawingml/2006/main">
            <a:r>
              <a:t>[Sources]</a:t>
            </a:r>
          </a:p>
          <a:p xmlns:a="http://schemas.openxmlformats.org/drawingml/2006/main">
            <a:r>
              <a:t>- docs/GEN5_CROSS_SECTIONAL_MARKET_CONTEXT_CANDIDATE_MAP.md</a:t>
            </a:r>
          </a:p>
          <a:p xmlns:a="http://schemas.openxmlformats.org/drawingml/2006/main">
            <a:r>
              <a:t>- docs/GEN5_HYP_REG_04_2_FAST_CROSS_SECTIONAL_TREND_IMPULSE_CONTRACT.md</a:t>
            </a:r>
          </a:p>
          <a:p xmlns:a="http://schemas.openxmlformats.org/drawingml/2006/main">
            <a:r>
              <a:t>- operator_hypothesis_lab/presentations/hyp_reg_04_1_cross_sectional_trend_field_evidence.pptx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D5 measures very recent normalized direction. P5 measures how broadly that direction is shared. I5 asks whether participation expanded over the prior five sessions. D20 is a label for continuation versus reversal, not a tunable second signal.</a:t>
            </a:r>
          </a:p>
          <a:p xmlns:a="http://schemas.openxmlformats.org/drawingml/2006/main">
            <a:r>
              <a:t/>
            </a:r>
          </a:p>
          <a:p xmlns:a="http://schemas.openxmlformats.org/drawingml/2006/main">
            <a:r>
              <a:t>[Sources]</a:t>
            </a:r>
          </a:p>
          <a:p xmlns:a="http://schemas.openxmlformats.org/drawingml/2006/main">
            <a:r>
              <a:t>- docs/GEN5_HYP_REG_04_2_FAST_CROSS_SECTIONAL_TREND_IMPULSE_CONTRACT.md</a:t>
            </a:r>
          </a:p>
          <a:p xmlns:a="http://schemas.openxmlformats.org/drawingml/2006/main">
            <a:r>
              <a:t>- operator_hypothesis_lab/registries/hyp_reg_04_2_fast_cross_sectional_trend_impulse_registry.csv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Broad-up and broad-down impulse states test directional symmetry. The context label asks whether D5 agrees with D20. H5 is the primary estimand, H10 tests durability, and H20 only shows decay. No horizon can replace another after seeing results.</a:t>
            </a:r>
          </a:p>
          <a:p xmlns:a="http://schemas.openxmlformats.org/drawingml/2006/main">
            <a:r>
              <a:t/>
            </a:r>
          </a:p>
          <a:p xmlns:a="http://schemas.openxmlformats.org/drawingml/2006/main">
            <a:r>
              <a:t>[Sources]</a:t>
            </a:r>
          </a:p>
          <a:p xmlns:a="http://schemas.openxmlformats.org/drawingml/2006/main">
            <a:r>
              <a:t>- docs/GEN5_HYP_REG_04_2_FAST_CROSS_SECTIONAL_TREND_IMPULSE_CONTRACT.md</a:t>
            </a:r>
          </a:p>
          <a:p xmlns:a="http://schemas.openxmlformats.org/drawingml/2006/main">
            <a:r>
              <a:t>- C:/Users/Franc/OneDrive/Documents/Francis/Peltata Project/Time-Series-Modeling-Gen5/runs/research_workbench/operator_hypothesis_lab/hyp_reg_04_2_fast_cross_sectional_trend_impulse_20260815/hyp_reg_04_2_gates.csv</a:t>
            </a:r>
          </a:p>
          <a:p xmlns:a="http://schemas.openxmlformats.org/drawingml/2006/main">
            <a:r>
              <a:t>- C:/Users/Franc/OneDrive/Documents/Francis/Peltata Project/Time-Series-Modeling-Gen5/runs/research_workbench/operator_hypothesis_lab/hyp_reg_04_2_fast_cross_sectional_trend_impulse_20260815/hyp_reg_04_2_offset_summary.csv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Broad-up impulse modestly exceeded broad-down impulse over H5, including a roughly 2.4 percentage-point lower future negative-return rate. Those signs are directionally favorable, but the return and participation gaps are far below the frozen promotion thresholds.</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Project/Time-Series-Modeling-Gen5/runs/research_workbench/operator_hypothesis_lab/hyp_reg_04_2_fast_cross_sectional_trend_impulse_20260815/hyp_reg_04_2_state_summary.csv</a:t>
            </a:r>
          </a:p>
          <a:p xmlns:a="http://schemas.openxmlformats.org/drawingml/2006/main">
            <a:r>
              <a:t>- C:/Users/Franc/OneDrive/Documents/Francis/Peltata Project/Time-Series-Modeling-Gen5/runs/research_workbench/operator_hypothesis_lab/hyp_reg_04_2_fast_cross_sectional_trend_impulse_20260815/hyp_reg_04_2_direction_contrast.csv</a:t>
            </a:r>
          </a:p>
          <a:p xmlns:a="http://schemas.openxmlformats.org/drawingml/2006/main">
            <a:r>
              <a:t>- operator_hypothesis_lab/docs/HYP_REG_04_2_FAST_CROSS_SECTIONAL_TREND_IMPULSE_RESULTS.md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broad-up versus other-up comparison is worth recording because it isolates participation impulse inside positive direction. It is not enough to promote the lane: only two of six years were jointly positive, and the H10 relationship reversed.</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Project/Time-Series-Modeling-Gen5/runs/research_workbench/operator_hypothesis_lab/hyp_reg_04_2_fast_cross_sectional_trend_impulse_20260815/hyp_reg_04_2_positive_impulse_contrast.csv</a:t>
            </a:r>
          </a:p>
          <a:p xmlns:a="http://schemas.openxmlformats.org/drawingml/2006/main">
            <a:r>
              <a:t>- C:/Users/Franc/OneDrive/Documents/Francis/Peltata Project/Time-Series-Modeling-Gen5/runs/research_workbench/operator_hypothesis_lab/hyp_reg_04_2_fast_cross_sectional_trend_impulse_20260815/hyp_reg_04_2_calendar_summary.csv</a:t>
            </a:r>
          </a:p>
          <a:p xmlns:a="http://schemas.openxmlformats.org/drawingml/2006/main">
            <a:r>
              <a:t>- operator_hypothesis_lab/docs/HYP_REG_04_2_FAST_CROSS_SECTIONAL_TREND_IMPULSE_RESULTS.md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continuous tests are the strongest check against a result created by a hand-drawn state boundary. D5 and P5 were effectively unordered. The large negative I5 correlation includes a shared-endpoint algebraic tendency because I5 equals P_t minus P_t-5 while the target equals P_t+5 minus P_t, plus empirical mean reversion in bounded participation.</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Project/Time-Series-Modeling-Gen5/runs/research_workbench/operator_hypothesis_lab/hyp_reg_04_2_fast_cross_sectional_trend_impulse_20260815/hyp_reg_04_2_continuous_summary.csv</a:t>
            </a:r>
          </a:p>
          <a:p xmlns:a="http://schemas.openxmlformats.org/drawingml/2006/main">
            <a:r>
              <a:t>- operator_hypothesis_lab/docs/HYP_REG_04_2_FAST_CROSS_SECTIONAL_TREND_IMPULSE_RESULTS.md</a:t>
            </a:r>
          </a:p>
          <a:p xmlns:a="http://schemas.openxmlformats.org/drawingml/2006/main">
            <a:r>
              <a:t>- docs/GEN5_HYP_REG_04_2_FAST_CROSS_SECTIONAL_TREND_IMPULSE_CONTRACT.md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decisive continuity failure. The favorable H5 comparison did not merely weaken—it changed sign over H10. Timing transport was poor: two of five H5 offsets and two of ten H10 offsets were jointly positive.</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Project/Time-Series-Modeling-Gen5/runs/research_workbench/operator_hypothesis_lab/hyp_reg_04_2_fast_cross_sectional_trend_impulse_20260815/hyp_reg_04_2_horizon_summary.csv</a:t>
            </a:r>
          </a:p>
          <a:p xmlns:a="http://schemas.openxmlformats.org/drawingml/2006/main">
            <a:r>
              <a:t>- C:/Users/Franc/OneDrive/Documents/Francis/Peltata Project/Time-Series-Modeling-Gen5/runs/research_workbench/operator_hypothesis_lab/hyp_reg_04_2_fast_cross_sectional_trend_impulse_20260815/hyp_reg_04_2_offset_summary.csv</a:t>
            </a:r>
          </a:p>
          <a:p xmlns:a="http://schemas.openxmlformats.org/drawingml/2006/main">
            <a:r>
              <a:t>- operator_hypothesis_lab/docs/HYP_REG_04_2_FAST_CROSS_SECTIONAL_TREND_IMPULSE_RESULTS.md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Continuation and reversal labels make the field behavior legible, but the continuous alignment-persistence correlation was only 0.020. This supports the user's concern: a descriptor can organize the present or recent past without reliably saying what comes next.</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Project/Time-Series-Modeling-Gen5/runs/research_workbench/operator_hypothesis_lab/hyp_reg_04_2_fast_cross_sectional_trend_impulse_20260815/hyp_reg_04_2_context_summary.csv</a:t>
            </a:r>
          </a:p>
          <a:p xmlns:a="http://schemas.openxmlformats.org/drawingml/2006/main">
            <a:r>
              <a:t>- C:/Users/Franc/OneDrive/Documents/Francis/Peltata Project/Time-Series-Modeling-Gen5/runs/research_workbench/operator_hypothesis_lab/hyp_reg_04_2_fast_cross_sectional_trend_impulse_20260815/hyp_reg_04_2_continuous_summary.csv</a:t>
            </a:r>
          </a:p>
          <a:p xmlns:a="http://schemas.openxmlformats.org/drawingml/2006/main">
            <a:r>
              <a:t>- operator_hypothesis_lab/docs/HYP_REG_04_2_FAST_CROSS_SECTIONAL_TREND_IMPULSE_RESULTS.md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Neither calendar transport nor the external SPY target validated the indicator. Both temporal halves had slightly negative direction-return gaps. Circular ranks were near the middle for direction, while the secondary positive-impulse result ranked in the upper 80s but below the frozen 90th-percentile gate.</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Project/Time-Series-Modeling-Gen5/runs/research_workbench/operator_hypothesis_lab/hyp_reg_04_2_fast_cross_sectional_trend_impulse_20260815/hyp_reg_04_2_period_summary.csv</a:t>
            </a:r>
          </a:p>
          <a:p xmlns:a="http://schemas.openxmlformats.org/drawingml/2006/main">
            <a:r>
              <a:t>- C:/Users/Franc/OneDrive/Documents/Francis/Peltata Project/Time-Series-Modeling-Gen5/runs/research_workbench/operator_hypothesis_lab/hyp_reg_04_2_fast_cross_sectional_trend_impulse_20260815/hyp_reg_04_2_calendar_summary.csv</a:t>
            </a:r>
          </a:p>
          <a:p xmlns:a="http://schemas.openxmlformats.org/drawingml/2006/main">
            <a:r>
              <a:t>- C:/Users/Franc/OneDrive/Documents/Francis/Peltata Project/Time-Series-Modeling-Gen5/runs/research_workbench/operator_hypothesis_lab/hyp_reg_04_2_fast_cross_sectional_trend_impulse_20260815/hyp_reg_04_2_circular_readout.csv</a:t>
            </a:r>
          </a:p>
          <a:p xmlns:a="http://schemas.openxmlformats.org/drawingml/2006/main">
            <a:r>
              <a:t>- C:/Users/Franc/OneDrive/Documents/Francis/Peltata Project/Time-Series-Modeling-Gen5/runs/research_workbench/operator_hypothesis_lab/hyp_reg_04_2_fast_cross_sectional_trend_impulse_20260815/hyp_reg_04_2_spy_summary.csv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with the research boundary. The fast derivative POC answers the speed question cleanly: simple shortening did not create a reliable forward trend regime axis. The accepted ATR% volatility measurement remains intact, but no confirmation or strategy join is authorized from this result.</a:t>
            </a:r>
          </a:p>
          <a:p xmlns:a="http://schemas.openxmlformats.org/drawingml/2006/main">
            <a:r>
              <a:t/>
            </a:r>
          </a:p>
          <a:p xmlns:a="http://schemas.openxmlformats.org/drawingml/2006/main">
            <a:r>
              <a:t>[Sources]</a:t>
            </a:r>
          </a:p>
          <a:p xmlns:a="http://schemas.openxmlformats.org/drawingml/2006/main">
            <a:r>
              <a:t>- operator_hypothesis_lab/docs/HYP_REG_04_2_FAST_CROSS_SECTIONAL_TREND_IMPULSE_RESULTS.md</a:t>
            </a:r>
          </a:p>
          <a:p xmlns:a="http://schemas.openxmlformats.org/drawingml/2006/main">
            <a:r>
              <a:t>- docs/GEN5_HYP_REG_04_2_FAST_CROSS_SECTIONAL_TREND_IMPULSE_CONTRACT.md</a:t>
            </a:r>
          </a:p>
          <a:p xmlns:a="http://schemas.openxmlformats.org/drawingml/2006/main">
            <a:r>
              <a:t>- docs/GEN5_CROSS_SECTIONAL_MARKET_CONTEXT_CANDIDATE_MAP.md</a:t>
            </a:r>
          </a:p>
          <a:p xmlns:a="http://schemas.openxmlformats.org/drawingml/2006/main">
            <a:r>
              <a:t>- docs/GEN5_4_DECISION_DIALOGUE_INDEX.md#d133</a:t>
            </a:r>
          </a:p>
          <a:p xmlns:a="http://schemas.openxmlformats.org/drawingml/2006/main">
            <a:r>
              <a:t>- C:/Users/Franc/OneDrive/Documents/Francis/Peltata Project/Time-Series-Modeling-Gen5/runs/research_workbench/operator_hypothesis_lab/hyp_reg_04_2_fast_cross_sectional_trend_impulse_20260815/hyp_reg_04_2_gates.csv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13d25e085ce43a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840747ccfb24e70" /><Relationship Type="http://schemas.openxmlformats.org/officeDocument/2006/relationships/slideLayout" Target="/ppt/slideLayouts/slideLayout1.xml" Id="R2b2879bf89e64ad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b2879bf89e64ad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d1a25c242dc4ff8" /><Relationship Type="http://schemas.openxmlformats.org/officeDocument/2006/relationships/image" Target="/ppt/media/image.png" Id="R806b59144e3e4390" /><Relationship Type="http://schemas.openxmlformats.org/officeDocument/2006/relationships/notesSlide" Target="/ppt/notesSlides/notesSlide1.xml" Id="Rc1ef8eac578548a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100bbcf36b048b6" /><Relationship Type="http://schemas.openxmlformats.org/officeDocument/2006/relationships/notesSlide" Target="/ppt/notesSlides/notesSlide2.xml" Id="Rba22f5199d784f9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f2a4d5260de4f0e" /><Relationship Type="http://schemas.openxmlformats.org/officeDocument/2006/relationships/notesSlide" Target="/ppt/notesSlides/notesSlide3.xml" Id="Rc7b51b2fd431442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d81a05a90fe420e" /><Relationship Type="http://schemas.openxmlformats.org/officeDocument/2006/relationships/notesSlide" Target="/ppt/notesSlides/notesSlide4.xml" Id="R3730c3f32146466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d561e178a234daa" /><Relationship Type="http://schemas.openxmlformats.org/officeDocument/2006/relationships/image" Target="/ppt/media/image2.png" Id="Rca53bad8d91943be" /><Relationship Type="http://schemas.openxmlformats.org/officeDocument/2006/relationships/notesSlide" Target="/ppt/notesSlides/notesSlide5.xml" Id="R87225043362d4f4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49cb50e5b28b49be" /><Relationship Type="http://schemas.openxmlformats.org/officeDocument/2006/relationships/notesSlide" Target="/ppt/notesSlides/notesSlide6.xml" Id="R3371faf88b70434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18eadf9dda04cf2" /><Relationship Type="http://schemas.openxmlformats.org/officeDocument/2006/relationships/image" Target="/ppt/media/image3.png" Id="R9bfe0c8be61e41f5" /><Relationship Type="http://schemas.openxmlformats.org/officeDocument/2006/relationships/notesSlide" Target="/ppt/notesSlides/notesSlide7.xml" Id="R22d30d53be45455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f1017fbefa74bd9" /><Relationship Type="http://schemas.openxmlformats.org/officeDocument/2006/relationships/image" Target="/ppt/media/image4.png" Id="R8922019ff3654704" /><Relationship Type="http://schemas.openxmlformats.org/officeDocument/2006/relationships/notesSlide" Target="/ppt/notesSlides/notesSlide8.xml" Id="R3bd9a619c28346c2"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60c3bf3505a54969" /><Relationship Type="http://schemas.openxmlformats.org/officeDocument/2006/relationships/image" Target="/ppt/media/image5.png" Id="R88ccce877cab4d07" /><Relationship Type="http://schemas.openxmlformats.org/officeDocument/2006/relationships/notesSlide" Target="/ppt/notesSlides/notesSlide9.xml" Id="R28ea5ad6611a4b4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afd71f0b0c6540f5" /><Relationship Type="http://schemas.openxmlformats.org/officeDocument/2006/relationships/image" Target="/ppt/media/image6.png" Id="R486cca21c104453e" /><Relationship Type="http://schemas.openxmlformats.org/officeDocument/2006/relationships/image" Target="/ppt/media/image7.png" Id="R28b03220b01f413e" /><Relationship Type="http://schemas.openxmlformats.org/officeDocument/2006/relationships/notesSlide" Target="/ppt/notesSlides/notesSlide10.xml" Id="R309c1651944a490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d9d3d5491036498d" /><Relationship Type="http://schemas.openxmlformats.org/officeDocument/2006/relationships/notesSlide" Target="/ppt/notesSlides/notesSlide11.xml" Id="R5cf0fa33145d4461"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664F306-A07B-4270-A917-A2098F177C63}"/>
              </a:ext>
            </a:extLst>
          </p:cNvPr>
          <p:cNvSpPr>
            <a:spLocks xmlns:a="http://schemas.openxmlformats.org/drawingml/2006/main" noGrp="1"/>
          </p:cNvSpPr>
          <p:nvPr/>
        </p:nvSpPr>
        <p:spPr>
          <a:xfrm xmlns:a="http://schemas.openxmlformats.org/drawingml/2006/main">
            <a:off x="476250" y="400050"/>
            <a:ext cx="3333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3D8DFF"/>
                </a:solidFill>
              </a:defRPr>
            </a:pPr>
            <a:r>
              <a:rPr sz="1200" b="1">
                <a:solidFill>
                  <a:srgbClr val="3D8DFF"/>
                </a:solidFill>
              </a:rPr>
              <a:t>HYP-REG-04.2</a:t>
            </a:r>
          </a:p>
        </p:txBody>
      </p:sp>
      <p:sp>
        <p:nvSpPr>
          <p:cNvPr id="2" name="">
            <a:extLst xmlns:a="http://schemas.openxmlformats.org/drawingml/2006/main">
              <a:ext uri="{FF2B5EF4-FFF2-40B4-BE49-F238E27FC236}">
                <a16:creationId xmlns:a16="http://schemas.microsoft.com/office/drawing/2014/main" id="{0FA17329-75D3-4210-887A-FC419F316AAA}"/>
              </a:ext>
            </a:extLst>
          </p:cNvPr>
          <p:cNvSpPr>
            <a:spLocks xmlns:a="http://schemas.openxmlformats.org/drawingml/2006/main" noGrp="1"/>
          </p:cNvSpPr>
          <p:nvPr/>
        </p:nvSpPr>
        <p:spPr>
          <a:xfrm xmlns:a="http://schemas.openxmlformats.org/drawingml/2006/main">
            <a:off x="476250" y="1104900"/>
            <a:ext cx="5286375"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675" b="1">
                <a:solidFill>
                  <a:srgbClr val="17324D"/>
                </a:solidFill>
              </a:defRPr>
            </a:pPr>
            <a:r>
              <a:rPr sz="3675" b="1">
                <a:solidFill>
                  <a:srgbClr val="17324D"/>
                </a:solidFill>
              </a:rPr>
              <a:t>Faster measurement did not restore trend continuity</a:t>
            </a:r>
          </a:p>
        </p:txBody>
      </p:sp>
      <p:sp>
        <p:nvSpPr>
          <p:cNvPr id="3" name="">
            <a:extLst xmlns:a="http://schemas.openxmlformats.org/drawingml/2006/main">
              <a:ext uri="{FF2B5EF4-FFF2-40B4-BE49-F238E27FC236}">
                <a16:creationId xmlns:a16="http://schemas.microsoft.com/office/drawing/2014/main" id="{BAA4FF01-24D2-48A3-BDD5-4C80C41BF091}"/>
              </a:ext>
            </a:extLst>
          </p:cNvPr>
          <p:cNvSpPr>
            <a:spLocks xmlns:a="http://schemas.openxmlformats.org/drawingml/2006/main" noGrp="1"/>
          </p:cNvSpPr>
          <p:nvPr/>
        </p:nvSpPr>
        <p:spPr>
          <a:xfrm xmlns:a="http://schemas.openxmlformats.org/drawingml/2006/main">
            <a:off x="476250" y="3695700"/>
            <a:ext cx="5143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0">
                <a:solidFill>
                  <a:srgbClr val="52606D"/>
                </a:solidFill>
              </a:defRPr>
            </a:pPr>
            <a:r>
              <a:rPr sz="1575" b="0">
                <a:solidFill>
                  <a:srgbClr val="52606D"/>
                </a:solidFill>
              </a:rPr>
              <a:t>5-session direction, participation, and breadth impulse · 24 ETFs · H5 primary</a:t>
            </a:r>
          </a:p>
        </p:txBody>
      </p:sp>
      <p:sp>
        <p:nvSpPr>
          <p:cNvPr id="4" name="">
            <a:extLst xmlns:a="http://schemas.openxmlformats.org/drawingml/2006/main">
              <a:ext uri="{FF2B5EF4-FFF2-40B4-BE49-F238E27FC236}">
                <a16:creationId xmlns:a16="http://schemas.microsoft.com/office/drawing/2014/main" id="{ABC1BE88-F11C-4F2A-94A3-8AD29B826BA7}"/>
              </a:ext>
            </a:extLst>
          </p:cNvPr>
          <p:cNvSpPr>
            <a:spLocks xmlns:a="http://schemas.openxmlformats.org/drawingml/2006/main" noGrp="1"/>
          </p:cNvSpPr>
          <p:nvPr/>
        </p:nvSpPr>
        <p:spPr>
          <a:xfrm xmlns:a="http://schemas.openxmlformats.org/drawingml/2006/main">
            <a:off x="476250" y="5048250"/>
            <a:ext cx="5095875" cy="742950"/>
          </a:xfrm>
          <a:prstGeom xmlns:a="http://schemas.openxmlformats.org/drawingml/2006/main" prst="rect">
            <a:avLst/>
          </a:prstGeom>
          <a:solidFill xmlns:a="http://schemas.openxmlformats.org/drawingml/2006/main">
            <a:srgbClr val="FBE9E7"/>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B3678F7C-717D-491A-93E2-4935F12742F5}"/>
              </a:ext>
            </a:extLst>
          </p:cNvPr>
          <p:cNvSpPr>
            <a:spLocks xmlns:a="http://schemas.openxmlformats.org/drawingml/2006/main" noGrp="1"/>
          </p:cNvSpPr>
          <p:nvPr/>
        </p:nvSpPr>
        <p:spPr>
          <a:xfrm xmlns:a="http://schemas.openxmlformats.org/drawingml/2006/main">
            <a:off x="742950" y="5248275"/>
            <a:ext cx="4572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a:solidFill>
                  <a:srgbClr val="D95F59"/>
                </a:solidFill>
              </a:defRPr>
            </a:pPr>
            <a:r>
              <a:rPr sz="1800" b="1">
                <a:solidFill>
                  <a:srgbClr val="D95F59"/>
                </a:solidFill>
              </a:rPr>
              <a:t>STOP · 1 of 10 gates passed</a:t>
            </a:r>
          </a:p>
        </p:txBody>
      </p:sp>
      <p:sp>
        <p:nvSpPr>
          <p:cNvPr id="6" name="">
            <a:extLst xmlns:a="http://schemas.openxmlformats.org/drawingml/2006/main">
              <a:ext uri="{FF2B5EF4-FFF2-40B4-BE49-F238E27FC236}">
                <a16:creationId xmlns:a16="http://schemas.microsoft.com/office/drawing/2014/main" id="{AB922F72-2417-4D63-B991-2207C11520D2}"/>
              </a:ext>
            </a:extLst>
          </p:cNvPr>
          <p:cNvSpPr>
            <a:spLocks xmlns:a="http://schemas.openxmlformats.org/drawingml/2006/main" noGrp="1"/>
          </p:cNvSpPr>
          <p:nvPr/>
        </p:nvSpPr>
        <p:spPr>
          <a:xfrm xmlns:a="http://schemas.openxmlformats.org/drawingml/2006/main">
            <a:off x="6096000" y="419100"/>
            <a:ext cx="5619750" cy="5619750"/>
          </a:xfrm>
          <a:prstGeom xmlns:a="http://schemas.openxmlformats.org/drawingml/2006/main" prst="rect">
            <a:avLst/>
          </a:prstGeom>
          <a:solidFill xmlns:a="http://schemas.openxmlformats.org/drawingml/2006/main">
            <a:srgbClr val="FAFAFA"/>
          </a:solidFill>
          <a:ln xmlns:a="http://schemas.openxmlformats.org/drawingml/2006/main" w="9525">
            <a:solidFill>
              <a:srgbClr val="CCD3DA"/>
            </a:solidFill>
            <a:prstDash val="solid"/>
          </a:ln>
        </p:spPr>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806b59144e3e4390"/>
          <a:stretch xmlns:a="http://schemas.openxmlformats.org/drawingml/2006/main"/>
        </p:blipFill>
        <p:spPr>
          <a:xfrm xmlns:a="http://schemas.openxmlformats.org/drawingml/2006/main">
            <a:off x="6096000" y="1084597"/>
            <a:ext cx="5619750" cy="4288757"/>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5857BA0D-2060-48F0-B7C9-CF8D4E4D7FE7}"/>
              </a:ext>
            </a:extLst>
          </p:cNvPr>
          <p:cNvSpPr>
            <a:spLocks xmlns:a="http://schemas.openxmlformats.org/drawingml/2006/main" noGrp="1"/>
          </p:cNvSpPr>
          <p:nvPr/>
        </p:nvSpPr>
        <p:spPr>
          <a:xfrm xmlns:a="http://schemas.openxmlformats.org/drawingml/2006/main">
            <a:off x="11334750" y="6429375"/>
            <a:ext cx="3333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825" b="0">
                <a:solidFill>
                  <a:srgbClr val="52606D"/>
                </a:solidFill>
              </a:defRPr>
            </a:pPr>
            <a:r>
              <a:rPr sz="825" b="0">
                <a:solidFill>
                  <a:srgbClr val="52606D"/>
                </a:solidFill>
              </a:rPr>
              <a:t>1</a:t>
            </a:r>
          </a:p>
        </p:txBody>
      </p:sp>
    </p:spTree>
    <p:extLst>
      <p:ext uri="{BB962C8B-B14F-4D97-AF65-F5344CB8AC3E}">
        <p14:creationId xmlns:p14="http://schemas.microsoft.com/office/powerpoint/2010/main" val="185037121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03AA5E41-7277-46F3-9C44-5F7C40F8FDBB}"/>
              </a:ext>
            </a:extLst>
          </p:cNvPr>
          <p:cNvSpPr>
            <a:spLocks xmlns:a="http://schemas.openxmlformats.org/drawingml/2006/main" noGrp="1"/>
          </p:cNvSpPr>
          <p:nvPr/>
        </p:nvSpPr>
        <p:spPr>
          <a:xfrm xmlns:a="http://schemas.openxmlformats.org/drawingml/2006/main">
            <a:off x="476250" y="266700"/>
            <a:ext cx="3905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3D8DFF"/>
                </a:solidFill>
              </a:defRPr>
            </a:pPr>
            <a:r>
              <a:rPr sz="1050" b="1">
                <a:solidFill>
                  <a:srgbClr val="3D8DFF"/>
                </a:solidFill>
              </a:rPr>
              <a:t>WHY TEST FASTER?</a:t>
            </a:r>
          </a:p>
        </p:txBody>
      </p:sp>
      <p:sp>
        <p:nvSpPr>
          <p:cNvPr id="2" name="">
            <a:extLst xmlns:a="http://schemas.openxmlformats.org/drawingml/2006/main">
              <a:ext uri="{FF2B5EF4-FFF2-40B4-BE49-F238E27FC236}">
                <a16:creationId xmlns:a16="http://schemas.microsoft.com/office/drawing/2014/main" id="{8C2F8352-F44B-4F92-82DD-283E360BD520}"/>
              </a:ext>
            </a:extLst>
          </p:cNvPr>
          <p:cNvSpPr>
            <a:spLocks xmlns:a="http://schemas.openxmlformats.org/drawingml/2006/main" noGrp="1"/>
          </p:cNvSpPr>
          <p:nvPr/>
        </p:nvSpPr>
        <p:spPr>
          <a:xfrm xmlns:a="http://schemas.openxmlformats.org/drawingml/2006/main">
            <a:off x="476250" y="590550"/>
            <a:ext cx="10953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17202A"/>
                </a:solidFill>
              </a:defRPr>
            </a:pPr>
            <a:r>
              <a:rPr sz="2850" b="1">
                <a:solidFill>
                  <a:srgbClr val="17202A"/>
                </a:solidFill>
              </a:rPr>
              <a:t>The derivative question was reactivity—not a rescue grid</a:t>
            </a:r>
          </a:p>
        </p:txBody>
      </p:sp>
      <p:sp>
        <p:nvSpPr>
          <p:cNvPr id="3" name="">
            <a:extLst xmlns:a="http://schemas.openxmlformats.org/drawingml/2006/main">
              <a:ext uri="{FF2B5EF4-FFF2-40B4-BE49-F238E27FC236}">
                <a16:creationId xmlns:a16="http://schemas.microsoft.com/office/drawing/2014/main" id="{6532B7AB-9ED3-471E-B6E4-B9DE806685E5}"/>
              </a:ext>
            </a:extLst>
          </p:cNvPr>
          <p:cNvSpPr>
            <a:spLocks xmlns:a="http://schemas.openxmlformats.org/drawingml/2006/main" noGrp="1"/>
          </p:cNvSpPr>
          <p:nvPr/>
        </p:nvSpPr>
        <p:spPr>
          <a:xfrm xmlns:a="http://schemas.openxmlformats.org/drawingml/2006/main">
            <a:off x="11334750" y="6429375"/>
            <a:ext cx="3333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825" b="0">
                <a:solidFill>
                  <a:srgbClr val="52606D"/>
                </a:solidFill>
              </a:defRPr>
            </a:pPr>
            <a:r>
              <a:rPr sz="825" b="0">
                <a:solidFill>
                  <a:srgbClr val="52606D"/>
                </a:solidFill>
              </a:rPr>
              <a:t>2</a:t>
            </a:r>
          </a:p>
        </p:txBody>
      </p:sp>
      <p:sp>
        <p:nvSpPr>
          <p:cNvPr id="4" name="">
            <a:extLst xmlns:a="http://schemas.openxmlformats.org/drawingml/2006/main">
              <a:ext uri="{FF2B5EF4-FFF2-40B4-BE49-F238E27FC236}">
                <a16:creationId xmlns:a16="http://schemas.microsoft.com/office/drawing/2014/main" id="{07B18772-FC13-41A4-AD35-D658E3D2CCF5}"/>
              </a:ext>
            </a:extLst>
          </p:cNvPr>
          <p:cNvSpPr>
            <a:spLocks xmlns:a="http://schemas.openxmlformats.org/drawingml/2006/main" noGrp="1"/>
          </p:cNvSpPr>
          <p:nvPr/>
        </p:nvSpPr>
        <p:spPr>
          <a:xfrm xmlns:a="http://schemas.openxmlformats.org/drawingml/2006/main">
            <a:off x="523875" y="1381125"/>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950" b="1">
                <a:solidFill>
                  <a:srgbClr val="17324D"/>
                </a:solidFill>
              </a:defRPr>
            </a:pPr>
            <a:r>
              <a:rPr sz="1950" b="1">
                <a:solidFill>
                  <a:srgbClr val="17324D"/>
                </a:solidFill>
              </a:rPr>
              <a:t>04.1 suggested the 20/60 field might describe a move after the useful transition had already occurred.</a:t>
            </a:r>
          </a:p>
        </p:txBody>
      </p:sp>
      <p:sp>
        <p:nvSpPr>
          <p:cNvPr id="5" name="">
            <a:extLst xmlns:a="http://schemas.openxmlformats.org/drawingml/2006/main">
              <a:ext uri="{FF2B5EF4-FFF2-40B4-BE49-F238E27FC236}">
                <a16:creationId xmlns:a16="http://schemas.microsoft.com/office/drawing/2014/main" id="{C8AEEC1F-E455-44F6-A966-B06447EDDCB2}"/>
              </a:ext>
            </a:extLst>
          </p:cNvPr>
          <p:cNvSpPr>
            <a:spLocks xmlns:a="http://schemas.openxmlformats.org/drawingml/2006/main" noGrp="1"/>
          </p:cNvSpPr>
          <p:nvPr/>
        </p:nvSpPr>
        <p:spPr>
          <a:xfrm xmlns:a="http://schemas.openxmlformats.org/drawingml/2006/main">
            <a:off x="523875" y="2571750"/>
            <a:ext cx="3333750" cy="2190750"/>
          </a:xfrm>
          <a:prstGeom xmlns:a="http://schemas.openxmlformats.org/drawingml/2006/main" prst="rect">
            <a:avLst/>
          </a:prstGeom>
          <a:solidFill xmlns:a="http://schemas.openxmlformats.org/drawingml/2006/main">
            <a:srgbClr val="EAF3F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1215EEDF-0BB4-454E-BD32-2CBA9455510E}"/>
              </a:ext>
            </a:extLst>
          </p:cNvPr>
          <p:cNvSpPr>
            <a:spLocks xmlns:a="http://schemas.openxmlformats.org/drawingml/2006/main" noGrp="1"/>
          </p:cNvSpPr>
          <p:nvPr/>
        </p:nvSpPr>
        <p:spPr>
          <a:xfrm xmlns:a="http://schemas.openxmlformats.org/drawingml/2006/main">
            <a:off x="790575" y="2876550"/>
            <a:ext cx="28098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75" b="1">
                <a:solidFill>
                  <a:srgbClr val="3D8DFF"/>
                </a:solidFill>
              </a:defRPr>
            </a:pPr>
            <a:r>
              <a:rPr sz="1875" b="1">
                <a:solidFill>
                  <a:srgbClr val="3D8DFF"/>
                </a:solidFill>
              </a:rPr>
              <a:t>Lag hypothesis</a:t>
            </a:r>
          </a:p>
        </p:txBody>
      </p:sp>
      <p:sp>
        <p:nvSpPr>
          <p:cNvPr id="7" name="">
            <a:extLst xmlns:a="http://schemas.openxmlformats.org/drawingml/2006/main">
              <a:ext uri="{FF2B5EF4-FFF2-40B4-BE49-F238E27FC236}">
                <a16:creationId xmlns:a16="http://schemas.microsoft.com/office/drawing/2014/main" id="{89722A6B-1278-4F2D-BD1B-EE4E3387AE10}"/>
              </a:ext>
            </a:extLst>
          </p:cNvPr>
          <p:cNvSpPr>
            <a:spLocks xmlns:a="http://schemas.openxmlformats.org/drawingml/2006/main" noGrp="1"/>
          </p:cNvSpPr>
          <p:nvPr/>
        </p:nvSpPr>
        <p:spPr>
          <a:xfrm xmlns:a="http://schemas.openxmlformats.org/drawingml/2006/main">
            <a:off x="790575" y="3543300"/>
            <a:ext cx="280987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52606D"/>
                </a:solidFill>
              </a:defRPr>
            </a:pPr>
            <a:r>
              <a:rPr sz="1500" b="0">
                <a:solidFill>
                  <a:srgbClr val="52606D"/>
                </a:solidFill>
              </a:rPr>
              <a:t>A 5-session field may detect a newly broadening move before a 20/60 state matures.</a:t>
            </a:r>
          </a:p>
        </p:txBody>
      </p:sp>
      <p:sp>
        <p:nvSpPr>
          <p:cNvPr id="8" name="">
            <a:extLst xmlns:a="http://schemas.openxmlformats.org/drawingml/2006/main">
              <a:ext uri="{FF2B5EF4-FFF2-40B4-BE49-F238E27FC236}">
                <a16:creationId xmlns:a16="http://schemas.microsoft.com/office/drawing/2014/main" id="{3638A9EA-BBD1-4CD9-9B60-3411F8812507}"/>
              </a:ext>
            </a:extLst>
          </p:cNvPr>
          <p:cNvSpPr>
            <a:spLocks xmlns:a="http://schemas.openxmlformats.org/drawingml/2006/main" noGrp="1"/>
          </p:cNvSpPr>
          <p:nvPr/>
        </p:nvSpPr>
        <p:spPr>
          <a:xfrm xmlns:a="http://schemas.openxmlformats.org/drawingml/2006/main">
            <a:off x="4333875" y="2571750"/>
            <a:ext cx="3333750" cy="2190750"/>
          </a:xfrm>
          <a:prstGeom xmlns:a="http://schemas.openxmlformats.org/drawingml/2006/main" prst="rect">
            <a:avLst/>
          </a:prstGeom>
          <a:solidFill xmlns:a="http://schemas.openxmlformats.org/drawingml/2006/main">
            <a:srgbClr val="FFF1E3"/>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87E583D2-FB43-4094-BF2F-C2D22853A6B3}"/>
              </a:ext>
            </a:extLst>
          </p:cNvPr>
          <p:cNvSpPr>
            <a:spLocks xmlns:a="http://schemas.openxmlformats.org/drawingml/2006/main" noGrp="1"/>
          </p:cNvSpPr>
          <p:nvPr/>
        </p:nvSpPr>
        <p:spPr>
          <a:xfrm xmlns:a="http://schemas.openxmlformats.org/drawingml/2006/main">
            <a:off x="4600575" y="2876550"/>
            <a:ext cx="28098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75" b="1">
                <a:solidFill>
                  <a:srgbClr val="F2A65A"/>
                </a:solidFill>
              </a:defRPr>
            </a:pPr>
            <a:r>
              <a:rPr sz="1875" b="1">
                <a:solidFill>
                  <a:srgbClr val="F2A65A"/>
                </a:solidFill>
              </a:rPr>
              <a:t>Noise cost</a:t>
            </a:r>
          </a:p>
        </p:txBody>
      </p:sp>
      <p:sp>
        <p:nvSpPr>
          <p:cNvPr id="10" name="">
            <a:extLst xmlns:a="http://schemas.openxmlformats.org/drawingml/2006/main">
              <a:ext uri="{FF2B5EF4-FFF2-40B4-BE49-F238E27FC236}">
                <a16:creationId xmlns:a16="http://schemas.microsoft.com/office/drawing/2014/main" id="{15C4A2BC-AADE-479F-941F-866A0649BE66}"/>
              </a:ext>
            </a:extLst>
          </p:cNvPr>
          <p:cNvSpPr>
            <a:spLocks xmlns:a="http://schemas.openxmlformats.org/drawingml/2006/main" noGrp="1"/>
          </p:cNvSpPr>
          <p:nvPr/>
        </p:nvSpPr>
        <p:spPr>
          <a:xfrm xmlns:a="http://schemas.openxmlformats.org/drawingml/2006/main">
            <a:off x="4600575" y="3543300"/>
            <a:ext cx="280987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52606D"/>
                </a:solidFill>
              </a:defRPr>
            </a:pPr>
            <a:r>
              <a:rPr sz="1500" b="0">
                <a:solidFill>
                  <a:srgbClr val="52606D"/>
                </a:solidFill>
              </a:rPr>
              <a:t>Faster estimates are more responsive, but less stable and more vulnerable to reversal.</a:t>
            </a:r>
          </a:p>
        </p:txBody>
      </p:sp>
      <p:sp>
        <p:nvSpPr>
          <p:cNvPr id="11" name="">
            <a:extLst xmlns:a="http://schemas.openxmlformats.org/drawingml/2006/main">
              <a:ext uri="{FF2B5EF4-FFF2-40B4-BE49-F238E27FC236}">
                <a16:creationId xmlns:a16="http://schemas.microsoft.com/office/drawing/2014/main" id="{AEC0B463-7036-4933-BE03-151ED54BE8AA}"/>
              </a:ext>
            </a:extLst>
          </p:cNvPr>
          <p:cNvSpPr>
            <a:spLocks xmlns:a="http://schemas.openxmlformats.org/drawingml/2006/main" noGrp="1"/>
          </p:cNvSpPr>
          <p:nvPr/>
        </p:nvSpPr>
        <p:spPr>
          <a:xfrm xmlns:a="http://schemas.openxmlformats.org/drawingml/2006/main">
            <a:off x="8143875" y="2571750"/>
            <a:ext cx="3333750" cy="2190750"/>
          </a:xfrm>
          <a:prstGeom xmlns:a="http://schemas.openxmlformats.org/drawingml/2006/main" prst="rect">
            <a:avLst/>
          </a:prstGeom>
          <a:solidFill xmlns:a="http://schemas.openxmlformats.org/drawingml/2006/main">
            <a:srgbClr val="FBE9E7"/>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CDB56E2C-76DB-40F9-A595-333A63EAB2BB}"/>
              </a:ext>
            </a:extLst>
          </p:cNvPr>
          <p:cNvSpPr>
            <a:spLocks xmlns:a="http://schemas.openxmlformats.org/drawingml/2006/main" noGrp="1"/>
          </p:cNvSpPr>
          <p:nvPr/>
        </p:nvSpPr>
        <p:spPr>
          <a:xfrm xmlns:a="http://schemas.openxmlformats.org/drawingml/2006/main">
            <a:off x="8410575" y="2876550"/>
            <a:ext cx="28098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75" b="1">
                <a:solidFill>
                  <a:srgbClr val="D95F59"/>
                </a:solidFill>
              </a:defRPr>
            </a:pPr>
            <a:r>
              <a:rPr sz="1875" b="1">
                <a:solidFill>
                  <a:srgbClr val="D95F59"/>
                </a:solidFill>
              </a:rPr>
              <a:t>Frozen boundary</a:t>
            </a:r>
          </a:p>
        </p:txBody>
      </p:sp>
      <p:sp>
        <p:nvSpPr>
          <p:cNvPr id="13" name="">
            <a:extLst xmlns:a="http://schemas.openxmlformats.org/drawingml/2006/main">
              <a:ext uri="{FF2B5EF4-FFF2-40B4-BE49-F238E27FC236}">
                <a16:creationId xmlns:a16="http://schemas.microsoft.com/office/drawing/2014/main" id="{710BA6B5-55AF-47F2-9429-5C18C1212ABE}"/>
              </a:ext>
            </a:extLst>
          </p:cNvPr>
          <p:cNvSpPr>
            <a:spLocks xmlns:a="http://schemas.openxmlformats.org/drawingml/2006/main" noGrp="1"/>
          </p:cNvSpPr>
          <p:nvPr/>
        </p:nvSpPr>
        <p:spPr>
          <a:xfrm xmlns:a="http://schemas.openxmlformats.org/drawingml/2006/main">
            <a:off x="8410575" y="3543300"/>
            <a:ext cx="280987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52606D"/>
                </a:solidFill>
              </a:defRPr>
            </a:pPr>
            <a:r>
              <a:rPr sz="1500" b="0">
                <a:solidFill>
                  <a:srgbClr val="52606D"/>
                </a:solidFill>
              </a:rPr>
              <a:t>One speed only; no horizon grid, ATR% join, asset strategy, or 2024+ inspection.</a:t>
            </a:r>
          </a:p>
        </p:txBody>
      </p:sp>
      <p:sp>
        <p:nvSpPr>
          <p:cNvPr id="14" name="">
            <a:extLst xmlns:a="http://schemas.openxmlformats.org/drawingml/2006/main">
              <a:ext uri="{FF2B5EF4-FFF2-40B4-BE49-F238E27FC236}">
                <a16:creationId xmlns:a16="http://schemas.microsoft.com/office/drawing/2014/main" id="{B138381F-FCB8-4792-8BD5-7CCB0296575B}"/>
              </a:ext>
            </a:extLst>
          </p:cNvPr>
          <p:cNvSpPr>
            <a:spLocks xmlns:a="http://schemas.openxmlformats.org/drawingml/2006/main" noGrp="1"/>
          </p:cNvSpPr>
          <p:nvPr/>
        </p:nvSpPr>
        <p:spPr>
          <a:xfrm xmlns:a="http://schemas.openxmlformats.org/drawingml/2006/main">
            <a:off x="1476375" y="5381625"/>
            <a:ext cx="9239250" cy="666750"/>
          </a:xfrm>
          <a:prstGeom xmlns:a="http://schemas.openxmlformats.org/drawingml/2006/main" prst="rect">
            <a:avLst/>
          </a:prstGeom>
          <a:solidFill xmlns:a="http://schemas.openxmlformats.org/drawingml/2006/main">
            <a:srgbClr val="F2F4F6"/>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35C0B8BF-CD32-4E13-A0FB-94B6A3BBE1F6}"/>
              </a:ext>
            </a:extLst>
          </p:cNvPr>
          <p:cNvSpPr>
            <a:spLocks xmlns:a="http://schemas.openxmlformats.org/drawingml/2006/main" noGrp="1"/>
          </p:cNvSpPr>
          <p:nvPr/>
        </p:nvSpPr>
        <p:spPr>
          <a:xfrm xmlns:a="http://schemas.openxmlformats.org/drawingml/2006/main">
            <a:off x="1809750" y="5581650"/>
            <a:ext cx="857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75" b="1">
                <a:solidFill>
                  <a:srgbClr val="17202A"/>
                </a:solidFill>
              </a:defRPr>
            </a:pPr>
            <a:r>
              <a:rPr sz="1575" b="1">
                <a:solidFill>
                  <a:srgbClr val="17202A"/>
                </a:solidFill>
              </a:rPr>
              <a:t>A faster indicator earns promotion only if the forward behavior persists outside a single convenient cut.</a:t>
            </a:r>
          </a:p>
        </p:txBody>
      </p:sp>
    </p:spTree>
    <p:extLst>
      <p:ext uri="{BB962C8B-B14F-4D97-AF65-F5344CB8AC3E}">
        <p14:creationId xmlns:p14="http://schemas.microsoft.com/office/powerpoint/2010/main" val="127760549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FD6C0701-4D82-4AE8-BF35-37BB1D3DC613}"/>
              </a:ext>
            </a:extLst>
          </p:cNvPr>
          <p:cNvSpPr>
            <a:spLocks xmlns:a="http://schemas.openxmlformats.org/drawingml/2006/main" noGrp="1"/>
          </p:cNvSpPr>
          <p:nvPr/>
        </p:nvSpPr>
        <p:spPr>
          <a:xfrm xmlns:a="http://schemas.openxmlformats.org/drawingml/2006/main">
            <a:off x="476250" y="266700"/>
            <a:ext cx="3905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3D8DFF"/>
                </a:solidFill>
              </a:defRPr>
            </a:pPr>
            <a:r>
              <a:rPr sz="1050" b="1">
                <a:solidFill>
                  <a:srgbClr val="3D8DFF"/>
                </a:solidFill>
              </a:rPr>
              <a:t>FROZEN CONSTRUCTION</a:t>
            </a:r>
          </a:p>
        </p:txBody>
      </p:sp>
      <p:sp>
        <p:nvSpPr>
          <p:cNvPr id="2" name="">
            <a:extLst xmlns:a="http://schemas.openxmlformats.org/drawingml/2006/main">
              <a:ext uri="{FF2B5EF4-FFF2-40B4-BE49-F238E27FC236}">
                <a16:creationId xmlns:a16="http://schemas.microsoft.com/office/drawing/2014/main" id="{1B46ED75-19DD-4BE5-A664-95EADEEDF4AB}"/>
              </a:ext>
            </a:extLst>
          </p:cNvPr>
          <p:cNvSpPr>
            <a:spLocks xmlns:a="http://schemas.openxmlformats.org/drawingml/2006/main" noGrp="1"/>
          </p:cNvSpPr>
          <p:nvPr/>
        </p:nvSpPr>
        <p:spPr>
          <a:xfrm xmlns:a="http://schemas.openxmlformats.org/drawingml/2006/main">
            <a:off x="476250" y="590550"/>
            <a:ext cx="10953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17202A"/>
                </a:solidFill>
              </a:defRPr>
            </a:pPr>
            <a:r>
              <a:rPr sz="2850" b="1">
                <a:solidFill>
                  <a:srgbClr val="17202A"/>
                </a:solidFill>
              </a:rPr>
              <a:t>The fast field separates level, change, and slow context</a:t>
            </a:r>
          </a:p>
        </p:txBody>
      </p:sp>
      <p:sp>
        <p:nvSpPr>
          <p:cNvPr id="3" name="">
            <a:extLst xmlns:a="http://schemas.openxmlformats.org/drawingml/2006/main">
              <a:ext uri="{FF2B5EF4-FFF2-40B4-BE49-F238E27FC236}">
                <a16:creationId xmlns:a16="http://schemas.microsoft.com/office/drawing/2014/main" id="{033804EE-B782-4C1F-9F86-845938E96994}"/>
              </a:ext>
            </a:extLst>
          </p:cNvPr>
          <p:cNvSpPr>
            <a:spLocks xmlns:a="http://schemas.openxmlformats.org/drawingml/2006/main" noGrp="1"/>
          </p:cNvSpPr>
          <p:nvPr/>
        </p:nvSpPr>
        <p:spPr>
          <a:xfrm xmlns:a="http://schemas.openxmlformats.org/drawingml/2006/main">
            <a:off x="11334750" y="6429375"/>
            <a:ext cx="3333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825" b="0">
                <a:solidFill>
                  <a:srgbClr val="52606D"/>
                </a:solidFill>
              </a:defRPr>
            </a:pPr>
            <a:r>
              <a:rPr sz="825" b="0">
                <a:solidFill>
                  <a:srgbClr val="52606D"/>
                </a:solidFill>
              </a:rPr>
              <a:t>3</a:t>
            </a:r>
          </a:p>
        </p:txBody>
      </p:sp>
      <p:sp>
        <p:nvSpPr>
          <p:cNvPr id="4" name="">
            <a:extLst xmlns:a="http://schemas.openxmlformats.org/drawingml/2006/main">
              <a:ext uri="{FF2B5EF4-FFF2-40B4-BE49-F238E27FC236}">
                <a16:creationId xmlns:a16="http://schemas.microsoft.com/office/drawing/2014/main" id="{E9FD37C8-2C7A-43F6-9FD2-FCD6A4B70C64}"/>
              </a:ext>
            </a:extLst>
          </p:cNvPr>
          <p:cNvSpPr>
            <a:spLocks xmlns:a="http://schemas.openxmlformats.org/drawingml/2006/main" noGrp="1"/>
          </p:cNvSpPr>
          <p:nvPr/>
        </p:nvSpPr>
        <p:spPr>
          <a:xfrm xmlns:a="http://schemas.openxmlformats.org/drawingml/2006/main">
            <a:off x="523875" y="140970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3D8DFF"/>
                </a:solidFill>
              </a:defRPr>
            </a:pPr>
            <a:r>
              <a:rPr sz="1650" b="1">
                <a:solidFill>
                  <a:srgbClr val="3D8DFF"/>
                </a:solidFill>
              </a:rPr>
              <a:t>Per asset fast direction</a:t>
            </a:r>
          </a:p>
        </p:txBody>
      </p:sp>
      <p:sp>
        <p:nvSpPr>
          <p:cNvPr id="5" name="">
            <a:extLst xmlns:a="http://schemas.openxmlformats.org/drawingml/2006/main">
              <a:ext uri="{FF2B5EF4-FFF2-40B4-BE49-F238E27FC236}">
                <a16:creationId xmlns:a16="http://schemas.microsoft.com/office/drawing/2014/main" id="{75A3ACEF-9B82-4A57-B1B3-E7C3D2F7B7A3}"/>
              </a:ext>
            </a:extLst>
          </p:cNvPr>
          <p:cNvSpPr>
            <a:spLocks xmlns:a="http://schemas.openxmlformats.org/drawingml/2006/main" noGrp="1"/>
          </p:cNvSpPr>
          <p:nvPr/>
        </p:nvSpPr>
        <p:spPr>
          <a:xfrm xmlns:a="http://schemas.openxmlformats.org/drawingml/2006/main">
            <a:off x="3524250" y="1333500"/>
            <a:ext cx="7239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100" b="1">
                <a:solidFill>
                  <a:srgbClr val="17202A"/>
                </a:solidFill>
              </a:defRPr>
            </a:pPr>
            <a:r>
              <a:rPr sz="2100" b="1">
                <a:solidFill>
                  <a:srgbClr val="17202A"/>
                </a:solidFill>
              </a:rPr>
              <a:t>z⁽⁵⁾ᵢ,ₜ = rᵢ,ₜ₋₄:ₜ ÷ (σᵢ,₆₃,prior √5)</a:t>
            </a:r>
          </a:p>
        </p:txBody>
      </p:sp>
      <p:sp>
        <p:nvSpPr>
          <p:cNvPr id="6" name="">
            <a:extLst xmlns:a="http://schemas.openxmlformats.org/drawingml/2006/main">
              <a:ext uri="{FF2B5EF4-FFF2-40B4-BE49-F238E27FC236}">
                <a16:creationId xmlns:a16="http://schemas.microsoft.com/office/drawing/2014/main" id="{22B0CF6E-8D12-406C-85A2-BCA6007C8AD1}"/>
              </a:ext>
            </a:extLst>
          </p:cNvPr>
          <p:cNvSpPr>
            <a:spLocks xmlns:a="http://schemas.openxmlformats.org/drawingml/2006/main" noGrp="1"/>
          </p:cNvSpPr>
          <p:nvPr/>
        </p:nvSpPr>
        <p:spPr>
          <a:xfrm xmlns:a="http://schemas.openxmlformats.org/drawingml/2006/main">
            <a:off x="714375" y="2333625"/>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3D8DFF"/>
                </a:solidFill>
              </a:defRPr>
            </a:pPr>
            <a:r>
              <a:rPr sz="1650" b="1">
                <a:solidFill>
                  <a:srgbClr val="3D8DFF"/>
                </a:solidFill>
              </a:rPr>
              <a:t>D5 · fast direction</a:t>
            </a:r>
          </a:p>
        </p:txBody>
      </p:sp>
      <p:sp>
        <p:nvSpPr>
          <p:cNvPr id="7" name="">
            <a:extLst xmlns:a="http://schemas.openxmlformats.org/drawingml/2006/main">
              <a:ext uri="{FF2B5EF4-FFF2-40B4-BE49-F238E27FC236}">
                <a16:creationId xmlns:a16="http://schemas.microsoft.com/office/drawing/2014/main" id="{776EA7C8-EC96-4255-88B6-046AE973C0EE}"/>
              </a:ext>
            </a:extLst>
          </p:cNvPr>
          <p:cNvSpPr>
            <a:spLocks xmlns:a="http://schemas.openxmlformats.org/drawingml/2006/main" noGrp="1"/>
          </p:cNvSpPr>
          <p:nvPr/>
        </p:nvSpPr>
        <p:spPr>
          <a:xfrm xmlns:a="http://schemas.openxmlformats.org/drawingml/2006/main">
            <a:off x="3857625" y="2333625"/>
            <a:ext cx="70008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52606D"/>
                </a:solidFill>
              </a:defRPr>
            </a:pPr>
            <a:r>
              <a:rPr sz="1500" b="0">
                <a:solidFill>
                  <a:srgbClr val="52606D"/>
                </a:solidFill>
              </a:rPr>
              <a:t>median of four economic-group medians of z⁽⁵⁾</a:t>
            </a:r>
          </a:p>
        </p:txBody>
      </p:sp>
      <p:sp>
        <p:nvSpPr>
          <p:cNvPr id="8" name="">
            <a:extLst xmlns:a="http://schemas.openxmlformats.org/drawingml/2006/main">
              <a:ext uri="{FF2B5EF4-FFF2-40B4-BE49-F238E27FC236}">
                <a16:creationId xmlns:a16="http://schemas.microsoft.com/office/drawing/2014/main" id="{DDC9D141-7DA4-4AEC-875A-2F9BA4A91989}"/>
              </a:ext>
            </a:extLst>
          </p:cNvPr>
          <p:cNvSpPr>
            <a:spLocks xmlns:a="http://schemas.openxmlformats.org/drawingml/2006/main" noGrp="1"/>
          </p:cNvSpPr>
          <p:nvPr/>
        </p:nvSpPr>
        <p:spPr>
          <a:xfrm xmlns:a="http://schemas.openxmlformats.org/drawingml/2006/main">
            <a:off x="714375" y="304800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2E8B57"/>
                </a:solidFill>
              </a:defRPr>
            </a:pPr>
            <a:r>
              <a:rPr sz="1650" b="1">
                <a:solidFill>
                  <a:srgbClr val="2E8B57"/>
                </a:solidFill>
              </a:rPr>
              <a:t>P5 · participation</a:t>
            </a:r>
          </a:p>
        </p:txBody>
      </p:sp>
      <p:sp>
        <p:nvSpPr>
          <p:cNvPr id="9" name="">
            <a:extLst xmlns:a="http://schemas.openxmlformats.org/drawingml/2006/main">
              <a:ext uri="{FF2B5EF4-FFF2-40B4-BE49-F238E27FC236}">
                <a16:creationId xmlns:a16="http://schemas.microsoft.com/office/drawing/2014/main" id="{C95CD254-1B5A-4E59-BACF-1526A121793D}"/>
              </a:ext>
            </a:extLst>
          </p:cNvPr>
          <p:cNvSpPr>
            <a:spLocks xmlns:a="http://schemas.openxmlformats.org/drawingml/2006/main" noGrp="1"/>
          </p:cNvSpPr>
          <p:nvPr/>
        </p:nvSpPr>
        <p:spPr>
          <a:xfrm xmlns:a="http://schemas.openxmlformats.org/drawingml/2006/main">
            <a:off x="3857625" y="3048000"/>
            <a:ext cx="70008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52606D"/>
                </a:solidFill>
              </a:defRPr>
            </a:pPr>
            <a:r>
              <a:rPr sz="1500" b="0">
                <a:solidFill>
                  <a:srgbClr val="52606D"/>
                </a:solidFill>
              </a:rPr>
              <a:t>equal-group mean fraction with z⁽⁵⁾ &gt; 0</a:t>
            </a:r>
          </a:p>
        </p:txBody>
      </p:sp>
      <p:sp>
        <p:nvSpPr>
          <p:cNvPr id="10" name="">
            <a:extLst xmlns:a="http://schemas.openxmlformats.org/drawingml/2006/main">
              <a:ext uri="{FF2B5EF4-FFF2-40B4-BE49-F238E27FC236}">
                <a16:creationId xmlns:a16="http://schemas.microsoft.com/office/drawing/2014/main" id="{AB6D41C9-53D8-4B9A-8883-33A622315845}"/>
              </a:ext>
            </a:extLst>
          </p:cNvPr>
          <p:cNvSpPr>
            <a:spLocks xmlns:a="http://schemas.openxmlformats.org/drawingml/2006/main" noGrp="1"/>
          </p:cNvSpPr>
          <p:nvPr/>
        </p:nvSpPr>
        <p:spPr>
          <a:xfrm xmlns:a="http://schemas.openxmlformats.org/drawingml/2006/main">
            <a:off x="714375" y="3762375"/>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F2A65A"/>
                </a:solidFill>
              </a:defRPr>
            </a:pPr>
            <a:r>
              <a:rPr sz="1650" b="1">
                <a:solidFill>
                  <a:srgbClr val="F2A65A"/>
                </a:solidFill>
              </a:rPr>
              <a:t>I5 · breadth impulse</a:t>
            </a:r>
          </a:p>
        </p:txBody>
      </p:sp>
      <p:sp>
        <p:nvSpPr>
          <p:cNvPr id="11" name="">
            <a:extLst xmlns:a="http://schemas.openxmlformats.org/drawingml/2006/main">
              <a:ext uri="{FF2B5EF4-FFF2-40B4-BE49-F238E27FC236}">
                <a16:creationId xmlns:a16="http://schemas.microsoft.com/office/drawing/2014/main" id="{56DFC1DE-9746-4064-A71E-2B3DA6387C5A}"/>
              </a:ext>
            </a:extLst>
          </p:cNvPr>
          <p:cNvSpPr>
            <a:spLocks xmlns:a="http://schemas.openxmlformats.org/drawingml/2006/main" noGrp="1"/>
          </p:cNvSpPr>
          <p:nvPr/>
        </p:nvSpPr>
        <p:spPr>
          <a:xfrm xmlns:a="http://schemas.openxmlformats.org/drawingml/2006/main">
            <a:off x="3857625" y="3762375"/>
            <a:ext cx="70008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52606D"/>
                </a:solidFill>
              </a:defRPr>
            </a:pPr>
            <a:r>
              <a:rPr sz="1500" b="0">
                <a:solidFill>
                  <a:srgbClr val="52606D"/>
                </a:solidFill>
              </a:rPr>
              <a:t>P5ₜ − P5ₜ₋₅</a:t>
            </a:r>
          </a:p>
        </p:txBody>
      </p:sp>
      <p:sp>
        <p:nvSpPr>
          <p:cNvPr id="12" name="">
            <a:extLst xmlns:a="http://schemas.openxmlformats.org/drawingml/2006/main">
              <a:ext uri="{FF2B5EF4-FFF2-40B4-BE49-F238E27FC236}">
                <a16:creationId xmlns:a16="http://schemas.microsoft.com/office/drawing/2014/main" id="{397B11CD-C7F3-4FCF-842C-912B874DC175}"/>
              </a:ext>
            </a:extLst>
          </p:cNvPr>
          <p:cNvSpPr>
            <a:spLocks xmlns:a="http://schemas.openxmlformats.org/drawingml/2006/main" noGrp="1"/>
          </p:cNvSpPr>
          <p:nvPr/>
        </p:nvSpPr>
        <p:spPr>
          <a:xfrm xmlns:a="http://schemas.openxmlformats.org/drawingml/2006/main">
            <a:off x="714375" y="447675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17324D"/>
                </a:solidFill>
              </a:defRPr>
            </a:pPr>
            <a:r>
              <a:rPr sz="1650" b="1">
                <a:solidFill>
                  <a:srgbClr val="17324D"/>
                </a:solidFill>
              </a:rPr>
              <a:t>D20 · slow context</a:t>
            </a:r>
          </a:p>
        </p:txBody>
      </p:sp>
      <p:sp>
        <p:nvSpPr>
          <p:cNvPr id="13" name="">
            <a:extLst xmlns:a="http://schemas.openxmlformats.org/drawingml/2006/main">
              <a:ext uri="{FF2B5EF4-FFF2-40B4-BE49-F238E27FC236}">
                <a16:creationId xmlns:a16="http://schemas.microsoft.com/office/drawing/2014/main" id="{82041636-87DE-4989-B186-D1BC0D069587}"/>
              </a:ext>
            </a:extLst>
          </p:cNvPr>
          <p:cNvSpPr>
            <a:spLocks xmlns:a="http://schemas.openxmlformats.org/drawingml/2006/main" noGrp="1"/>
          </p:cNvSpPr>
          <p:nvPr/>
        </p:nvSpPr>
        <p:spPr>
          <a:xfrm xmlns:a="http://schemas.openxmlformats.org/drawingml/2006/main">
            <a:off x="3857625" y="4476750"/>
            <a:ext cx="70008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52606D"/>
                </a:solidFill>
              </a:defRPr>
            </a:pPr>
            <a:r>
              <a:rPr sz="1500" b="0">
                <a:solidFill>
                  <a:srgbClr val="52606D"/>
                </a:solidFill>
              </a:rPr>
              <a:t>same construction using a 20-session normalized return</a:t>
            </a:r>
          </a:p>
        </p:txBody>
      </p:sp>
      <p:sp>
        <p:nvSpPr>
          <p:cNvPr id="14" name="">
            <a:extLst xmlns:a="http://schemas.openxmlformats.org/drawingml/2006/main">
              <a:ext uri="{FF2B5EF4-FFF2-40B4-BE49-F238E27FC236}">
                <a16:creationId xmlns:a16="http://schemas.microsoft.com/office/drawing/2014/main" id="{E40147E5-5ABC-4426-B7BB-AF3D9BE4501A}"/>
              </a:ext>
            </a:extLst>
          </p:cNvPr>
          <p:cNvSpPr>
            <a:spLocks xmlns:a="http://schemas.openxmlformats.org/drawingml/2006/main" noGrp="1"/>
          </p:cNvSpPr>
          <p:nvPr/>
        </p:nvSpPr>
        <p:spPr>
          <a:xfrm xmlns:a="http://schemas.openxmlformats.org/drawingml/2006/main">
            <a:off x="904875" y="5572125"/>
            <a:ext cx="10382250" cy="590550"/>
          </a:xfrm>
          <a:prstGeom xmlns:a="http://schemas.openxmlformats.org/drawingml/2006/main" prst="rect">
            <a:avLst/>
          </a:prstGeom>
          <a:solidFill xmlns:a="http://schemas.openxmlformats.org/drawingml/2006/main">
            <a:srgbClr val="EAF3FF"/>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6D9102EC-7E45-4F0B-B2A2-77F2734FE697}"/>
              </a:ext>
            </a:extLst>
          </p:cNvPr>
          <p:cNvSpPr>
            <a:spLocks xmlns:a="http://schemas.openxmlformats.org/drawingml/2006/main" noGrp="1"/>
          </p:cNvSpPr>
          <p:nvPr/>
        </p:nvSpPr>
        <p:spPr>
          <a:xfrm xmlns:a="http://schemas.openxmlformats.org/drawingml/2006/main">
            <a:off x="1190625" y="5743575"/>
            <a:ext cx="98107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75" b="1">
                <a:solidFill>
                  <a:srgbClr val="17324D"/>
                </a:solidFill>
              </a:defRPr>
            </a:pPr>
            <a:r>
              <a:rPr sz="1575" b="1">
                <a:solidFill>
                  <a:srgbClr val="17324D"/>
                </a:solidFill>
              </a:rPr>
              <a:t>Equal group weights preserve the same 24-ETF economic field; SPY remains external.</a:t>
            </a:r>
          </a:p>
        </p:txBody>
      </p:sp>
    </p:spTree>
    <p:extLst>
      <p:ext uri="{BB962C8B-B14F-4D97-AF65-F5344CB8AC3E}">
        <p14:creationId xmlns:p14="http://schemas.microsoft.com/office/powerpoint/2010/main" val="13457749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D52D4A23-B0C8-4557-A6F2-4D4F87DD1653}"/>
              </a:ext>
            </a:extLst>
          </p:cNvPr>
          <p:cNvSpPr>
            <a:spLocks xmlns:a="http://schemas.openxmlformats.org/drawingml/2006/main" noGrp="1"/>
          </p:cNvSpPr>
          <p:nvPr/>
        </p:nvSpPr>
        <p:spPr>
          <a:xfrm xmlns:a="http://schemas.openxmlformats.org/drawingml/2006/main">
            <a:off x="476250" y="266700"/>
            <a:ext cx="3905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3D8DFF"/>
                </a:solidFill>
              </a:defRPr>
            </a:pPr>
            <a:r>
              <a:rPr sz="1050" b="1">
                <a:solidFill>
                  <a:srgbClr val="3D8DFF"/>
                </a:solidFill>
              </a:rPr>
              <a:t>STATE MAP + TARGETS</a:t>
            </a:r>
          </a:p>
        </p:txBody>
      </p:sp>
      <p:sp>
        <p:nvSpPr>
          <p:cNvPr id="2" name="">
            <a:extLst xmlns:a="http://schemas.openxmlformats.org/drawingml/2006/main">
              <a:ext uri="{FF2B5EF4-FFF2-40B4-BE49-F238E27FC236}">
                <a16:creationId xmlns:a16="http://schemas.microsoft.com/office/drawing/2014/main" id="{F27BA244-53D4-4089-A4A0-3F3960A64EDE}"/>
              </a:ext>
            </a:extLst>
          </p:cNvPr>
          <p:cNvSpPr>
            <a:spLocks xmlns:a="http://schemas.openxmlformats.org/drawingml/2006/main" noGrp="1"/>
          </p:cNvSpPr>
          <p:nvPr/>
        </p:nvSpPr>
        <p:spPr>
          <a:xfrm xmlns:a="http://schemas.openxmlformats.org/drawingml/2006/main">
            <a:off x="476250" y="590550"/>
            <a:ext cx="10953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17202A"/>
                </a:solidFill>
              </a:defRPr>
            </a:pPr>
            <a:r>
              <a:rPr sz="2850" b="1">
                <a:solidFill>
                  <a:srgbClr val="17202A"/>
                </a:solidFill>
              </a:rPr>
              <a:t>States make the hypothesis falsifiable before strategy contact</a:t>
            </a:r>
          </a:p>
        </p:txBody>
      </p:sp>
      <p:sp>
        <p:nvSpPr>
          <p:cNvPr id="3" name="">
            <a:extLst xmlns:a="http://schemas.openxmlformats.org/drawingml/2006/main">
              <a:ext uri="{FF2B5EF4-FFF2-40B4-BE49-F238E27FC236}">
                <a16:creationId xmlns:a16="http://schemas.microsoft.com/office/drawing/2014/main" id="{E4DF4CA0-3C8C-486F-900A-399421FE782E}"/>
              </a:ext>
            </a:extLst>
          </p:cNvPr>
          <p:cNvSpPr>
            <a:spLocks xmlns:a="http://schemas.openxmlformats.org/drawingml/2006/main" noGrp="1"/>
          </p:cNvSpPr>
          <p:nvPr/>
        </p:nvSpPr>
        <p:spPr>
          <a:xfrm xmlns:a="http://schemas.openxmlformats.org/drawingml/2006/main">
            <a:off x="11334750" y="6429375"/>
            <a:ext cx="3333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825" b="0">
                <a:solidFill>
                  <a:srgbClr val="52606D"/>
                </a:solidFill>
              </a:defRPr>
            </a:pPr>
            <a:r>
              <a:rPr sz="825" b="0">
                <a:solidFill>
                  <a:srgbClr val="52606D"/>
                </a:solidFill>
              </a:rPr>
              <a:t>4</a:t>
            </a:r>
          </a:p>
        </p:txBody>
      </p:sp>
      <p:sp>
        <p:nvSpPr>
          <p:cNvPr id="4" name="">
            <a:extLst xmlns:a="http://schemas.openxmlformats.org/drawingml/2006/main">
              <a:ext uri="{FF2B5EF4-FFF2-40B4-BE49-F238E27FC236}">
                <a16:creationId xmlns:a16="http://schemas.microsoft.com/office/drawing/2014/main" id="{B4BE824D-E0AD-4A8C-839C-051FA0DF0B83}"/>
              </a:ext>
            </a:extLst>
          </p:cNvPr>
          <p:cNvSpPr>
            <a:spLocks xmlns:a="http://schemas.openxmlformats.org/drawingml/2006/main" noGrp="1"/>
          </p:cNvSpPr>
          <p:nvPr/>
        </p:nvSpPr>
        <p:spPr>
          <a:xfrm xmlns:a="http://schemas.openxmlformats.org/drawingml/2006/main">
            <a:off x="523875" y="1381125"/>
            <a:ext cx="5191125" cy="838200"/>
          </a:xfrm>
          <a:prstGeom xmlns:a="http://schemas.openxmlformats.org/drawingml/2006/main" prst="rect">
            <a:avLst/>
          </a:prstGeom>
          <a:solidFill xmlns:a="http://schemas.openxmlformats.org/drawingml/2006/main">
            <a:srgbClr val="E8F4EC"/>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515DF2BB-8427-4536-87B4-E0B6414E1ED0}"/>
              </a:ext>
            </a:extLst>
          </p:cNvPr>
          <p:cNvSpPr>
            <a:spLocks xmlns:a="http://schemas.openxmlformats.org/drawingml/2006/main" noGrp="1"/>
          </p:cNvSpPr>
          <p:nvPr/>
        </p:nvSpPr>
        <p:spPr>
          <a:xfrm xmlns:a="http://schemas.openxmlformats.org/drawingml/2006/main">
            <a:off x="742950" y="1533525"/>
            <a:ext cx="2238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1">
                <a:solidFill>
                  <a:srgbClr val="2E8B57"/>
                </a:solidFill>
              </a:defRPr>
            </a:pPr>
            <a:r>
              <a:rPr sz="1500" b="1">
                <a:solidFill>
                  <a:srgbClr val="2E8B57"/>
                </a:solidFill>
              </a:rPr>
              <a:t>BROAD UP IMPULSE</a:t>
            </a:r>
          </a:p>
        </p:txBody>
      </p:sp>
      <p:sp>
        <p:nvSpPr>
          <p:cNvPr id="6" name="">
            <a:extLst xmlns:a="http://schemas.openxmlformats.org/drawingml/2006/main">
              <a:ext uri="{FF2B5EF4-FFF2-40B4-BE49-F238E27FC236}">
                <a16:creationId xmlns:a16="http://schemas.microsoft.com/office/drawing/2014/main" id="{85A1563D-2E0C-4ECA-AE9C-6D833162913B}"/>
              </a:ext>
            </a:extLst>
          </p:cNvPr>
          <p:cNvSpPr>
            <a:spLocks xmlns:a="http://schemas.openxmlformats.org/drawingml/2006/main" noGrp="1"/>
          </p:cNvSpPr>
          <p:nvPr/>
        </p:nvSpPr>
        <p:spPr>
          <a:xfrm xmlns:a="http://schemas.openxmlformats.org/drawingml/2006/main">
            <a:off x="3048000" y="1524000"/>
            <a:ext cx="2428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52606D"/>
                </a:solidFill>
              </a:defRPr>
            </a:pPr>
            <a:r>
              <a:rPr sz="1275" b="0">
                <a:solidFill>
                  <a:srgbClr val="52606D"/>
                </a:solidFill>
              </a:rPr>
              <a:t>D5 &gt; 0 · P5 high · I5 &gt; 0</a:t>
            </a:r>
          </a:p>
        </p:txBody>
      </p:sp>
      <p:sp>
        <p:nvSpPr>
          <p:cNvPr id="7" name="">
            <a:extLst xmlns:a="http://schemas.openxmlformats.org/drawingml/2006/main">
              <a:ext uri="{FF2B5EF4-FFF2-40B4-BE49-F238E27FC236}">
                <a16:creationId xmlns:a16="http://schemas.microsoft.com/office/drawing/2014/main" id="{7BF58679-C7CC-4A7E-9A8E-F06A32D65807}"/>
              </a:ext>
            </a:extLst>
          </p:cNvPr>
          <p:cNvSpPr>
            <a:spLocks xmlns:a="http://schemas.openxmlformats.org/drawingml/2006/main" noGrp="1"/>
          </p:cNvSpPr>
          <p:nvPr/>
        </p:nvSpPr>
        <p:spPr>
          <a:xfrm xmlns:a="http://schemas.openxmlformats.org/drawingml/2006/main">
            <a:off x="523875" y="2447925"/>
            <a:ext cx="5191125" cy="838200"/>
          </a:xfrm>
          <a:prstGeom xmlns:a="http://schemas.openxmlformats.org/drawingml/2006/main" prst="rect">
            <a:avLst/>
          </a:prstGeom>
          <a:solidFill xmlns:a="http://schemas.openxmlformats.org/drawingml/2006/main">
            <a:srgbClr val="FBE9E7"/>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67E3970B-2C4F-4912-8566-C68E8E0E2DA4}"/>
              </a:ext>
            </a:extLst>
          </p:cNvPr>
          <p:cNvSpPr>
            <a:spLocks xmlns:a="http://schemas.openxmlformats.org/drawingml/2006/main" noGrp="1"/>
          </p:cNvSpPr>
          <p:nvPr/>
        </p:nvSpPr>
        <p:spPr>
          <a:xfrm xmlns:a="http://schemas.openxmlformats.org/drawingml/2006/main">
            <a:off x="742950" y="2600325"/>
            <a:ext cx="2238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1">
                <a:solidFill>
                  <a:srgbClr val="D95F59"/>
                </a:solidFill>
              </a:defRPr>
            </a:pPr>
            <a:r>
              <a:rPr sz="1500" b="1">
                <a:solidFill>
                  <a:srgbClr val="D95F59"/>
                </a:solidFill>
              </a:rPr>
              <a:t>BROAD DOWN IMPULSE</a:t>
            </a:r>
          </a:p>
        </p:txBody>
      </p:sp>
      <p:sp>
        <p:nvSpPr>
          <p:cNvPr id="9" name="">
            <a:extLst xmlns:a="http://schemas.openxmlformats.org/drawingml/2006/main">
              <a:ext uri="{FF2B5EF4-FFF2-40B4-BE49-F238E27FC236}">
                <a16:creationId xmlns:a16="http://schemas.microsoft.com/office/drawing/2014/main" id="{759584FD-857D-47F0-9172-7EB07ADCD1B2}"/>
              </a:ext>
            </a:extLst>
          </p:cNvPr>
          <p:cNvSpPr>
            <a:spLocks xmlns:a="http://schemas.openxmlformats.org/drawingml/2006/main" noGrp="1"/>
          </p:cNvSpPr>
          <p:nvPr/>
        </p:nvSpPr>
        <p:spPr>
          <a:xfrm xmlns:a="http://schemas.openxmlformats.org/drawingml/2006/main">
            <a:off x="3048000" y="2590800"/>
            <a:ext cx="2428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52606D"/>
                </a:solidFill>
              </a:defRPr>
            </a:pPr>
            <a:r>
              <a:rPr sz="1275" b="0">
                <a:solidFill>
                  <a:srgbClr val="52606D"/>
                </a:solidFill>
              </a:rPr>
              <a:t>D5 &lt; 0 · negative participation broad · I5 &lt; 0</a:t>
            </a:r>
          </a:p>
        </p:txBody>
      </p:sp>
      <p:sp>
        <p:nvSpPr>
          <p:cNvPr id="10" name="">
            <a:extLst xmlns:a="http://schemas.openxmlformats.org/drawingml/2006/main">
              <a:ext uri="{FF2B5EF4-FFF2-40B4-BE49-F238E27FC236}">
                <a16:creationId xmlns:a16="http://schemas.microsoft.com/office/drawing/2014/main" id="{86E2067D-1D93-4547-A870-2FC289E1337A}"/>
              </a:ext>
            </a:extLst>
          </p:cNvPr>
          <p:cNvSpPr>
            <a:spLocks xmlns:a="http://schemas.openxmlformats.org/drawingml/2006/main" noGrp="1"/>
          </p:cNvSpPr>
          <p:nvPr/>
        </p:nvSpPr>
        <p:spPr>
          <a:xfrm xmlns:a="http://schemas.openxmlformats.org/drawingml/2006/main">
            <a:off x="523875" y="3514725"/>
            <a:ext cx="5191125" cy="838200"/>
          </a:xfrm>
          <a:prstGeom xmlns:a="http://schemas.openxmlformats.org/drawingml/2006/main" prst="rect">
            <a:avLst/>
          </a:prstGeom>
          <a:solidFill xmlns:a="http://schemas.openxmlformats.org/drawingml/2006/main">
            <a:srgbClr val="F2F4F6"/>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3086E6CE-E052-453E-845B-5C398607C417}"/>
              </a:ext>
            </a:extLst>
          </p:cNvPr>
          <p:cNvSpPr>
            <a:spLocks xmlns:a="http://schemas.openxmlformats.org/drawingml/2006/main" noGrp="1"/>
          </p:cNvSpPr>
          <p:nvPr/>
        </p:nvSpPr>
        <p:spPr>
          <a:xfrm xmlns:a="http://schemas.openxmlformats.org/drawingml/2006/main">
            <a:off x="742950" y="3667125"/>
            <a:ext cx="2238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1">
                <a:solidFill>
                  <a:srgbClr val="52606D"/>
                </a:solidFill>
              </a:defRPr>
            </a:pPr>
            <a:r>
              <a:rPr sz="1500" b="1">
                <a:solidFill>
                  <a:srgbClr val="52606D"/>
                </a:solidFill>
              </a:rPr>
              <a:t>OTHER UP / DOWN</a:t>
            </a:r>
          </a:p>
        </p:txBody>
      </p:sp>
      <p:sp>
        <p:nvSpPr>
          <p:cNvPr id="12" name="">
            <a:extLst xmlns:a="http://schemas.openxmlformats.org/drawingml/2006/main">
              <a:ext uri="{FF2B5EF4-FFF2-40B4-BE49-F238E27FC236}">
                <a16:creationId xmlns:a16="http://schemas.microsoft.com/office/drawing/2014/main" id="{43DFCDAA-C86A-4EB6-9CF1-CB9D764FBCC1}"/>
              </a:ext>
            </a:extLst>
          </p:cNvPr>
          <p:cNvSpPr>
            <a:spLocks xmlns:a="http://schemas.openxmlformats.org/drawingml/2006/main" noGrp="1"/>
          </p:cNvSpPr>
          <p:nvPr/>
        </p:nvSpPr>
        <p:spPr>
          <a:xfrm xmlns:a="http://schemas.openxmlformats.org/drawingml/2006/main">
            <a:off x="3048000" y="3657600"/>
            <a:ext cx="2428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52606D"/>
                </a:solidFill>
              </a:defRPr>
            </a:pPr>
            <a:r>
              <a:rPr sz="1275" b="0">
                <a:solidFill>
                  <a:srgbClr val="52606D"/>
                </a:solidFill>
              </a:rPr>
              <a:t>direction present without the full impulse conjunction</a:t>
            </a:r>
          </a:p>
        </p:txBody>
      </p:sp>
      <p:sp>
        <p:nvSpPr>
          <p:cNvPr id="13" name="">
            <a:extLst xmlns:a="http://schemas.openxmlformats.org/drawingml/2006/main">
              <a:ext uri="{FF2B5EF4-FFF2-40B4-BE49-F238E27FC236}">
                <a16:creationId xmlns:a16="http://schemas.microsoft.com/office/drawing/2014/main" id="{BE0EEF66-8839-4CC4-8B79-BFC67B740B45}"/>
              </a:ext>
            </a:extLst>
          </p:cNvPr>
          <p:cNvSpPr>
            <a:spLocks xmlns:a="http://schemas.openxmlformats.org/drawingml/2006/main" noGrp="1"/>
          </p:cNvSpPr>
          <p:nvPr/>
        </p:nvSpPr>
        <p:spPr>
          <a:xfrm xmlns:a="http://schemas.openxmlformats.org/drawingml/2006/main">
            <a:off x="6477000" y="1381125"/>
            <a:ext cx="438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950" b="1">
                <a:solidFill>
                  <a:srgbClr val="17324D"/>
                </a:solidFill>
              </a:defRPr>
            </a:pPr>
            <a:r>
              <a:rPr sz="1950" b="1">
                <a:solidFill>
                  <a:srgbClr val="17324D"/>
                </a:solidFill>
              </a:rPr>
              <a:t>Forward validation</a:t>
            </a:r>
          </a:p>
        </p:txBody>
      </p:sp>
      <p:sp>
        <p:nvSpPr>
          <p:cNvPr id="14" name="">
            <a:extLst xmlns:a="http://schemas.openxmlformats.org/drawingml/2006/main">
              <a:ext uri="{FF2B5EF4-FFF2-40B4-BE49-F238E27FC236}">
                <a16:creationId xmlns:a16="http://schemas.microsoft.com/office/drawing/2014/main" id="{C07D166D-9B46-4A28-B52E-C989FA37D346}"/>
              </a:ext>
            </a:extLst>
          </p:cNvPr>
          <p:cNvSpPr>
            <a:spLocks xmlns:a="http://schemas.openxmlformats.org/drawingml/2006/main" noGrp="1"/>
          </p:cNvSpPr>
          <p:nvPr/>
        </p:nvSpPr>
        <p:spPr>
          <a:xfrm xmlns:a="http://schemas.openxmlformats.org/drawingml/2006/main">
            <a:off x="6572250" y="2076450"/>
            <a:ext cx="95250" cy="95250"/>
          </a:xfrm>
          <a:prstGeom xmlns:a="http://schemas.openxmlformats.org/drawingml/2006/main" prst="ellipse">
            <a:avLst/>
          </a:prstGeom>
          <a:solidFill xmlns:a="http://schemas.openxmlformats.org/drawingml/2006/main">
            <a:srgbClr val="3D8DFF"/>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E9839686-B83C-4804-88AC-442F5607E6C4}"/>
              </a:ext>
            </a:extLst>
          </p:cNvPr>
          <p:cNvSpPr>
            <a:spLocks xmlns:a="http://schemas.openxmlformats.org/drawingml/2006/main" noGrp="1"/>
          </p:cNvSpPr>
          <p:nvPr/>
        </p:nvSpPr>
        <p:spPr>
          <a:xfrm xmlns:a="http://schemas.openxmlformats.org/drawingml/2006/main">
            <a:off x="6791325" y="2000250"/>
            <a:ext cx="45434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52606D"/>
                </a:solidFill>
              </a:defRPr>
            </a:pPr>
            <a:r>
              <a:rPr sz="1350" b="0">
                <a:solidFill>
                  <a:srgbClr val="52606D"/>
                </a:solidFill>
              </a:rPr>
              <a:t>H5 primary: field return, participation, negative rate</a:t>
            </a:r>
          </a:p>
        </p:txBody>
      </p:sp>
      <p:sp>
        <p:nvSpPr>
          <p:cNvPr id="16" name="">
            <a:extLst xmlns:a="http://schemas.openxmlformats.org/drawingml/2006/main">
              <a:ext uri="{FF2B5EF4-FFF2-40B4-BE49-F238E27FC236}">
                <a16:creationId xmlns:a16="http://schemas.microsoft.com/office/drawing/2014/main" id="{D1129106-1E7D-4122-8CCE-853B9914FCE3}"/>
              </a:ext>
            </a:extLst>
          </p:cNvPr>
          <p:cNvSpPr>
            <a:spLocks xmlns:a="http://schemas.openxmlformats.org/drawingml/2006/main" noGrp="1"/>
          </p:cNvSpPr>
          <p:nvPr/>
        </p:nvSpPr>
        <p:spPr>
          <a:xfrm xmlns:a="http://schemas.openxmlformats.org/drawingml/2006/main">
            <a:off x="6572250" y="2657475"/>
            <a:ext cx="95250" cy="95250"/>
          </a:xfrm>
          <a:prstGeom xmlns:a="http://schemas.openxmlformats.org/drawingml/2006/main" prst="ellipse">
            <a:avLst/>
          </a:prstGeom>
          <a:solidFill xmlns:a="http://schemas.openxmlformats.org/drawingml/2006/main">
            <a:srgbClr val="3D8DFF"/>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8E6BC9C9-8110-495D-B9DD-8213858A297F}"/>
              </a:ext>
            </a:extLst>
          </p:cNvPr>
          <p:cNvSpPr>
            <a:spLocks xmlns:a="http://schemas.openxmlformats.org/drawingml/2006/main" noGrp="1"/>
          </p:cNvSpPr>
          <p:nvPr/>
        </p:nvSpPr>
        <p:spPr>
          <a:xfrm xmlns:a="http://schemas.openxmlformats.org/drawingml/2006/main">
            <a:off x="6791325" y="2581275"/>
            <a:ext cx="45434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52606D"/>
                </a:solidFill>
              </a:defRPr>
            </a:pPr>
            <a:r>
              <a:rPr sz="1350" b="0">
                <a:solidFill>
                  <a:srgbClr val="52606D"/>
                </a:solidFill>
              </a:rPr>
              <a:t>H10 durability: the clue must not immediately reverse</a:t>
            </a:r>
          </a:p>
        </p:txBody>
      </p:sp>
      <p:sp>
        <p:nvSpPr>
          <p:cNvPr id="18" name="">
            <a:extLst xmlns:a="http://schemas.openxmlformats.org/drawingml/2006/main">
              <a:ext uri="{FF2B5EF4-FFF2-40B4-BE49-F238E27FC236}">
                <a16:creationId xmlns:a16="http://schemas.microsoft.com/office/drawing/2014/main" id="{29839B09-8596-4F8A-8ED8-32F1E2741E5B}"/>
              </a:ext>
            </a:extLst>
          </p:cNvPr>
          <p:cNvSpPr>
            <a:spLocks xmlns:a="http://schemas.openxmlformats.org/drawingml/2006/main" noGrp="1"/>
          </p:cNvSpPr>
          <p:nvPr/>
        </p:nvSpPr>
        <p:spPr>
          <a:xfrm xmlns:a="http://schemas.openxmlformats.org/drawingml/2006/main">
            <a:off x="6572250" y="3238500"/>
            <a:ext cx="95250" cy="95250"/>
          </a:xfrm>
          <a:prstGeom xmlns:a="http://schemas.openxmlformats.org/drawingml/2006/main" prst="ellipse">
            <a:avLst/>
          </a:prstGeom>
          <a:solidFill xmlns:a="http://schemas.openxmlformats.org/drawingml/2006/main">
            <a:srgbClr val="3D8DFF"/>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D32B446E-8239-4D1D-9DD8-5734512FBBF8}"/>
              </a:ext>
            </a:extLst>
          </p:cNvPr>
          <p:cNvSpPr>
            <a:spLocks xmlns:a="http://schemas.openxmlformats.org/drawingml/2006/main" noGrp="1"/>
          </p:cNvSpPr>
          <p:nvPr/>
        </p:nvSpPr>
        <p:spPr>
          <a:xfrm xmlns:a="http://schemas.openxmlformats.org/drawingml/2006/main">
            <a:off x="6791325" y="3162300"/>
            <a:ext cx="45434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52606D"/>
                </a:solidFill>
              </a:defRPr>
            </a:pPr>
            <a:r>
              <a:rPr sz="1350" b="0">
                <a:solidFill>
                  <a:srgbClr val="52606D"/>
                </a:solidFill>
              </a:rPr>
              <a:t>H20 decay only: diagnostic, not a rescue target</a:t>
            </a:r>
          </a:p>
        </p:txBody>
      </p:sp>
      <p:sp>
        <p:nvSpPr>
          <p:cNvPr id="20" name="">
            <a:extLst xmlns:a="http://schemas.openxmlformats.org/drawingml/2006/main">
              <a:ext uri="{FF2B5EF4-FFF2-40B4-BE49-F238E27FC236}">
                <a16:creationId xmlns:a16="http://schemas.microsoft.com/office/drawing/2014/main" id="{2411E555-1A6F-4E79-8A6B-7F5975A9716C}"/>
              </a:ext>
            </a:extLst>
          </p:cNvPr>
          <p:cNvSpPr>
            <a:spLocks xmlns:a="http://schemas.openxmlformats.org/drawingml/2006/main" noGrp="1"/>
          </p:cNvSpPr>
          <p:nvPr/>
        </p:nvSpPr>
        <p:spPr>
          <a:xfrm xmlns:a="http://schemas.openxmlformats.org/drawingml/2006/main">
            <a:off x="6572250" y="3819525"/>
            <a:ext cx="95250" cy="95250"/>
          </a:xfrm>
          <a:prstGeom xmlns:a="http://schemas.openxmlformats.org/drawingml/2006/main" prst="ellipse">
            <a:avLst/>
          </a:prstGeom>
          <a:solidFill xmlns:a="http://schemas.openxmlformats.org/drawingml/2006/main">
            <a:srgbClr val="3D8DFF"/>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05C992B1-3B41-43B4-8BEB-683D386BC575}"/>
              </a:ext>
            </a:extLst>
          </p:cNvPr>
          <p:cNvSpPr>
            <a:spLocks xmlns:a="http://schemas.openxmlformats.org/drawingml/2006/main" noGrp="1"/>
          </p:cNvSpPr>
          <p:nvPr/>
        </p:nvSpPr>
        <p:spPr>
          <a:xfrm xmlns:a="http://schemas.openxmlformats.org/drawingml/2006/main">
            <a:off x="6791325" y="3743325"/>
            <a:ext cx="45434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52606D"/>
                </a:solidFill>
              </a:defRPr>
            </a:pPr>
            <a:r>
              <a:rPr sz="1350" b="0">
                <a:solidFill>
                  <a:srgbClr val="52606D"/>
                </a:solidFill>
              </a:rPr>
              <a:t>Five H5 offsets + ten H10 offsets</a:t>
            </a:r>
          </a:p>
        </p:txBody>
      </p:sp>
      <p:sp>
        <p:nvSpPr>
          <p:cNvPr id="22" name="">
            <a:extLst xmlns:a="http://schemas.openxmlformats.org/drawingml/2006/main">
              <a:ext uri="{FF2B5EF4-FFF2-40B4-BE49-F238E27FC236}">
                <a16:creationId xmlns:a16="http://schemas.microsoft.com/office/drawing/2014/main" id="{8B2636AB-7C7A-46C5-9B24-7F0223223884}"/>
              </a:ext>
            </a:extLst>
          </p:cNvPr>
          <p:cNvSpPr>
            <a:spLocks xmlns:a="http://schemas.openxmlformats.org/drawingml/2006/main" noGrp="1"/>
          </p:cNvSpPr>
          <p:nvPr/>
        </p:nvSpPr>
        <p:spPr>
          <a:xfrm xmlns:a="http://schemas.openxmlformats.org/drawingml/2006/main">
            <a:off x="6572250" y="4400550"/>
            <a:ext cx="95250" cy="95250"/>
          </a:xfrm>
          <a:prstGeom xmlns:a="http://schemas.openxmlformats.org/drawingml/2006/main" prst="ellipse">
            <a:avLst/>
          </a:prstGeom>
          <a:solidFill xmlns:a="http://schemas.openxmlformats.org/drawingml/2006/main">
            <a:srgbClr val="3D8DFF"/>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E8F27721-74AF-403A-AF64-E0A8A6504774}"/>
              </a:ext>
            </a:extLst>
          </p:cNvPr>
          <p:cNvSpPr>
            <a:spLocks xmlns:a="http://schemas.openxmlformats.org/drawingml/2006/main" noGrp="1"/>
          </p:cNvSpPr>
          <p:nvPr/>
        </p:nvSpPr>
        <p:spPr>
          <a:xfrm xmlns:a="http://schemas.openxmlformats.org/drawingml/2006/main">
            <a:off x="6791325" y="4324350"/>
            <a:ext cx="45434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52606D"/>
                </a:solidFill>
              </a:defRPr>
            </a:pPr>
            <a:r>
              <a:rPr sz="1350" b="0">
                <a:solidFill>
                  <a:srgbClr val="52606D"/>
                </a:solidFill>
              </a:rPr>
              <a:t>Years, halves, circular controls, and SPY external check</a:t>
            </a:r>
          </a:p>
        </p:txBody>
      </p:sp>
      <p:sp>
        <p:nvSpPr>
          <p:cNvPr id="24" name="">
            <a:extLst xmlns:a="http://schemas.openxmlformats.org/drawingml/2006/main">
              <a:ext uri="{FF2B5EF4-FFF2-40B4-BE49-F238E27FC236}">
                <a16:creationId xmlns:a16="http://schemas.microsoft.com/office/drawing/2014/main" id="{DA0424FD-4F51-4B84-A61D-0186EBE7AB88}"/>
              </a:ext>
            </a:extLst>
          </p:cNvPr>
          <p:cNvSpPr>
            <a:spLocks xmlns:a="http://schemas.openxmlformats.org/drawingml/2006/main" noGrp="1"/>
          </p:cNvSpPr>
          <p:nvPr/>
        </p:nvSpPr>
        <p:spPr>
          <a:xfrm xmlns:a="http://schemas.openxmlformats.org/drawingml/2006/main">
            <a:off x="6286500" y="5286375"/>
            <a:ext cx="5191125" cy="838200"/>
          </a:xfrm>
          <a:prstGeom xmlns:a="http://schemas.openxmlformats.org/drawingml/2006/main" prst="rect">
            <a:avLst/>
          </a:prstGeom>
          <a:solidFill xmlns:a="http://schemas.openxmlformats.org/drawingml/2006/main">
            <a:srgbClr val="FFF1E3"/>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9C2BADBB-45C4-43BC-814E-27DA29420356}"/>
              </a:ext>
            </a:extLst>
          </p:cNvPr>
          <p:cNvSpPr>
            <a:spLocks xmlns:a="http://schemas.openxmlformats.org/drawingml/2006/main" noGrp="1"/>
          </p:cNvSpPr>
          <p:nvPr/>
        </p:nvSpPr>
        <p:spPr>
          <a:xfrm xmlns:a="http://schemas.openxmlformats.org/drawingml/2006/main">
            <a:off x="6619875" y="5457825"/>
            <a:ext cx="4524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725" b="1">
                <a:solidFill>
                  <a:srgbClr val="F2A65A"/>
                </a:solidFill>
              </a:defRPr>
            </a:pPr>
            <a:r>
              <a:rPr sz="1725" b="1">
                <a:solidFill>
                  <a:srgbClr val="F2A65A"/>
                </a:solidFill>
              </a:rPr>
              <a:t>Ten conjunctive gates · all required</a:t>
            </a:r>
          </a:p>
        </p:txBody>
      </p:sp>
      <p:sp>
        <p:nvSpPr>
          <p:cNvPr id="26" name="">
            <a:extLst xmlns:a="http://schemas.openxmlformats.org/drawingml/2006/main">
              <a:ext uri="{FF2B5EF4-FFF2-40B4-BE49-F238E27FC236}">
                <a16:creationId xmlns:a16="http://schemas.microsoft.com/office/drawing/2014/main" id="{5463CA94-491F-4120-A4CB-8D60FA3241CA}"/>
              </a:ext>
            </a:extLst>
          </p:cNvPr>
          <p:cNvSpPr>
            <a:spLocks xmlns:a="http://schemas.openxmlformats.org/drawingml/2006/main" noGrp="1"/>
          </p:cNvSpPr>
          <p:nvPr/>
        </p:nvSpPr>
        <p:spPr>
          <a:xfrm xmlns:a="http://schemas.openxmlformats.org/drawingml/2006/main">
            <a:off x="6619875" y="5791200"/>
            <a:ext cx="4524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0">
                <a:solidFill>
                  <a:srgbClr val="52606D"/>
                </a:solidFill>
              </a:defRPr>
            </a:pPr>
            <a:r>
              <a:rPr sz="1350" b="0">
                <a:solidFill>
                  <a:srgbClr val="52606D"/>
                </a:solidFill>
              </a:rPr>
              <a:t>Passing H5 alone is insufficient.</a:t>
            </a:r>
          </a:p>
        </p:txBody>
      </p:sp>
    </p:spTree>
    <p:extLst>
      <p:ext uri="{BB962C8B-B14F-4D97-AF65-F5344CB8AC3E}">
        <p14:creationId xmlns:p14="http://schemas.microsoft.com/office/powerpoint/2010/main" val="53110290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9E29EEB5-E683-42EF-8B27-1E4CD52D0F48}"/>
              </a:ext>
            </a:extLst>
          </p:cNvPr>
          <p:cNvSpPr>
            <a:spLocks xmlns:a="http://schemas.openxmlformats.org/drawingml/2006/main" noGrp="1"/>
          </p:cNvSpPr>
          <p:nvPr/>
        </p:nvSpPr>
        <p:spPr>
          <a:xfrm xmlns:a="http://schemas.openxmlformats.org/drawingml/2006/main">
            <a:off x="476250" y="266700"/>
            <a:ext cx="3905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3D8DFF"/>
                </a:solidFill>
              </a:defRPr>
            </a:pPr>
            <a:r>
              <a:rPr sz="1050" b="1">
                <a:solidFill>
                  <a:srgbClr val="3D8DFF"/>
                </a:solidFill>
              </a:rPr>
              <a:t>PRIMARY H5 RESULT</a:t>
            </a:r>
          </a:p>
        </p:txBody>
      </p:sp>
      <p:sp>
        <p:nvSpPr>
          <p:cNvPr id="2" name="">
            <a:extLst xmlns:a="http://schemas.openxmlformats.org/drawingml/2006/main">
              <a:ext uri="{FF2B5EF4-FFF2-40B4-BE49-F238E27FC236}">
                <a16:creationId xmlns:a16="http://schemas.microsoft.com/office/drawing/2014/main" id="{F1E1AFD8-9C15-4CF8-82C9-C5013E695B4E}"/>
              </a:ext>
            </a:extLst>
          </p:cNvPr>
          <p:cNvSpPr>
            <a:spLocks xmlns:a="http://schemas.openxmlformats.org/drawingml/2006/main" noGrp="1"/>
          </p:cNvSpPr>
          <p:nvPr/>
        </p:nvSpPr>
        <p:spPr>
          <a:xfrm xmlns:a="http://schemas.openxmlformats.org/drawingml/2006/main">
            <a:off x="476250" y="590550"/>
            <a:ext cx="10953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17202A"/>
                </a:solidFill>
              </a:defRPr>
            </a:pPr>
            <a:r>
              <a:rPr sz="2850" b="1">
                <a:solidFill>
                  <a:srgbClr val="17202A"/>
                </a:solidFill>
              </a:rPr>
              <a:t>The H5 directional contrast was real but economically tiny</a:t>
            </a:r>
          </a:p>
        </p:txBody>
      </p:sp>
      <p:sp>
        <p:nvSpPr>
          <p:cNvPr id="3" name="">
            <a:extLst xmlns:a="http://schemas.openxmlformats.org/drawingml/2006/main">
              <a:ext uri="{FF2B5EF4-FFF2-40B4-BE49-F238E27FC236}">
                <a16:creationId xmlns:a16="http://schemas.microsoft.com/office/drawing/2014/main" id="{CD429B92-1E50-4187-9E0B-159989F12803}"/>
              </a:ext>
            </a:extLst>
          </p:cNvPr>
          <p:cNvSpPr>
            <a:spLocks xmlns:a="http://schemas.openxmlformats.org/drawingml/2006/main" noGrp="1"/>
          </p:cNvSpPr>
          <p:nvPr/>
        </p:nvSpPr>
        <p:spPr>
          <a:xfrm xmlns:a="http://schemas.openxmlformats.org/drawingml/2006/main">
            <a:off x="11334750" y="6429375"/>
            <a:ext cx="3333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825" b="0">
                <a:solidFill>
                  <a:srgbClr val="52606D"/>
                </a:solidFill>
              </a:defRPr>
            </a:pPr>
            <a:r>
              <a:rPr sz="825" b="0">
                <a:solidFill>
                  <a:srgbClr val="52606D"/>
                </a:solidFill>
              </a:rPr>
              <a:t>5</a:t>
            </a:r>
          </a:p>
        </p:txBody>
      </p:sp>
      <p:sp>
        <p:nvSpPr>
          <p:cNvPr id="4" name="">
            <a:extLst xmlns:a="http://schemas.openxmlformats.org/drawingml/2006/main">
              <a:ext uri="{FF2B5EF4-FFF2-40B4-BE49-F238E27FC236}">
                <a16:creationId xmlns:a16="http://schemas.microsoft.com/office/drawing/2014/main" id="{F9399A3D-ADD0-4D78-9333-D9873D8484D4}"/>
              </a:ext>
            </a:extLst>
          </p:cNvPr>
          <p:cNvSpPr>
            <a:spLocks xmlns:a="http://schemas.openxmlformats.org/drawingml/2006/main" noGrp="1"/>
          </p:cNvSpPr>
          <p:nvPr/>
        </p:nvSpPr>
        <p:spPr>
          <a:xfrm xmlns:a="http://schemas.openxmlformats.org/drawingml/2006/main">
            <a:off x="428625" y="1381125"/>
            <a:ext cx="7524750" cy="4667250"/>
          </a:xfrm>
          <a:prstGeom xmlns:a="http://schemas.openxmlformats.org/drawingml/2006/main" prst="rect">
            <a:avLst/>
          </a:prstGeom>
          <a:solidFill xmlns:a="http://schemas.openxmlformats.org/drawingml/2006/main">
            <a:srgbClr val="FAFAFA"/>
          </a:solidFill>
          <a:ln xmlns:a="http://schemas.openxmlformats.org/drawingml/2006/main" w="9525">
            <a:solidFill>
              <a:srgbClr val="CCD3DA"/>
            </a:solidFill>
            <a:prstDash val="solid"/>
          </a:ln>
        </p:spPr>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ca53bad8d91943be"/>
          <a:stretch xmlns:a="http://schemas.openxmlformats.org/drawingml/2006/main"/>
        </p:blipFill>
        <p:spPr>
          <a:xfrm xmlns:a="http://schemas.openxmlformats.org/drawingml/2006/main">
            <a:off x="428625" y="1635543"/>
            <a:ext cx="7524750" cy="4158414"/>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D7D1A433-0724-452F-8B7B-460E6A48E359}"/>
              </a:ext>
            </a:extLst>
          </p:cNvPr>
          <p:cNvSpPr>
            <a:spLocks xmlns:a="http://schemas.openxmlformats.org/drawingml/2006/main" noGrp="1"/>
          </p:cNvSpPr>
          <p:nvPr/>
        </p:nvSpPr>
        <p:spPr>
          <a:xfrm xmlns:a="http://schemas.openxmlformats.org/drawingml/2006/main">
            <a:off x="8191500" y="1524000"/>
            <a:ext cx="2857500" cy="1066800"/>
          </a:xfrm>
          <a:prstGeom xmlns:a="http://schemas.openxmlformats.org/drawingml/2006/main" prst="rect">
            <a:avLst/>
          </a:prstGeom>
          <a:solidFill xmlns:a="http://schemas.openxmlformats.org/drawingml/2006/main">
            <a:srgbClr val="FFF1E3"/>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4134BAAB-0451-41C0-9611-FE67FB46AA52}"/>
              </a:ext>
            </a:extLst>
          </p:cNvPr>
          <p:cNvSpPr>
            <a:spLocks xmlns:a="http://schemas.openxmlformats.org/drawingml/2006/main" noGrp="1"/>
          </p:cNvSpPr>
          <p:nvPr/>
        </p:nvSpPr>
        <p:spPr>
          <a:xfrm xmlns:a="http://schemas.openxmlformats.org/drawingml/2006/main">
            <a:off x="8420100" y="1666875"/>
            <a:ext cx="2400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F2A65A"/>
                </a:solidFill>
              </a:defRPr>
            </a:pPr>
            <a:r>
              <a:rPr sz="2325" b="1">
                <a:solidFill>
                  <a:srgbClr val="F2A65A"/>
                </a:solidFill>
              </a:rPr>
              <a:t>+0.058 pp</a:t>
            </a:r>
          </a:p>
        </p:txBody>
      </p:sp>
      <p:sp>
        <p:nvSpPr>
          <p:cNvPr id="8" name="">
            <a:extLst xmlns:a="http://schemas.openxmlformats.org/drawingml/2006/main">
              <a:ext uri="{FF2B5EF4-FFF2-40B4-BE49-F238E27FC236}">
                <a16:creationId xmlns:a16="http://schemas.microsoft.com/office/drawing/2014/main" id="{5EC1682D-D86D-4654-ABF0-48F2432ED0A4}"/>
              </a:ext>
            </a:extLst>
          </p:cNvPr>
          <p:cNvSpPr>
            <a:spLocks xmlns:a="http://schemas.openxmlformats.org/drawingml/2006/main" noGrp="1"/>
          </p:cNvSpPr>
          <p:nvPr/>
        </p:nvSpPr>
        <p:spPr>
          <a:xfrm xmlns:a="http://schemas.openxmlformats.org/drawingml/2006/main">
            <a:off x="8420100" y="2143125"/>
            <a:ext cx="24003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52606D"/>
                </a:solidFill>
              </a:defRPr>
            </a:pPr>
            <a:r>
              <a:rPr sz="1275" b="0">
                <a:solidFill>
                  <a:srgbClr val="52606D"/>
                </a:solidFill>
              </a:rPr>
              <a:t>H5 field-return gap</a:t>
            </a:r>
          </a:p>
        </p:txBody>
      </p:sp>
      <p:sp>
        <p:nvSpPr>
          <p:cNvPr id="9" name="">
            <a:extLst xmlns:a="http://schemas.openxmlformats.org/drawingml/2006/main">
              <a:ext uri="{FF2B5EF4-FFF2-40B4-BE49-F238E27FC236}">
                <a16:creationId xmlns:a16="http://schemas.microsoft.com/office/drawing/2014/main" id="{B7E5EA0A-9C87-45B1-8019-293DAA089B2C}"/>
              </a:ext>
            </a:extLst>
          </p:cNvPr>
          <p:cNvSpPr>
            <a:spLocks xmlns:a="http://schemas.openxmlformats.org/drawingml/2006/main" noGrp="1"/>
          </p:cNvSpPr>
          <p:nvPr/>
        </p:nvSpPr>
        <p:spPr>
          <a:xfrm xmlns:a="http://schemas.openxmlformats.org/drawingml/2006/main">
            <a:off x="8191500" y="2781300"/>
            <a:ext cx="2857500" cy="1066800"/>
          </a:xfrm>
          <a:prstGeom xmlns:a="http://schemas.openxmlformats.org/drawingml/2006/main" prst="rect">
            <a:avLst/>
          </a:prstGeom>
          <a:solidFill xmlns:a="http://schemas.openxmlformats.org/drawingml/2006/main">
            <a:srgbClr val="FFF1E3"/>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8657FD0E-43BF-42E9-8E74-19963CA291CF}"/>
              </a:ext>
            </a:extLst>
          </p:cNvPr>
          <p:cNvSpPr>
            <a:spLocks xmlns:a="http://schemas.openxmlformats.org/drawingml/2006/main" noGrp="1"/>
          </p:cNvSpPr>
          <p:nvPr/>
        </p:nvSpPr>
        <p:spPr>
          <a:xfrm xmlns:a="http://schemas.openxmlformats.org/drawingml/2006/main">
            <a:off x="8420100" y="2924175"/>
            <a:ext cx="2400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F2A65A"/>
                </a:solidFill>
              </a:defRPr>
            </a:pPr>
            <a:r>
              <a:rPr sz="2325" b="1">
                <a:solidFill>
                  <a:srgbClr val="F2A65A"/>
                </a:solidFill>
              </a:rPr>
              <a:t>+0.833 pp</a:t>
            </a:r>
          </a:p>
        </p:txBody>
      </p:sp>
      <p:sp>
        <p:nvSpPr>
          <p:cNvPr id="11" name="">
            <a:extLst xmlns:a="http://schemas.openxmlformats.org/drawingml/2006/main">
              <a:ext uri="{FF2B5EF4-FFF2-40B4-BE49-F238E27FC236}">
                <a16:creationId xmlns:a16="http://schemas.microsoft.com/office/drawing/2014/main" id="{05EC6A56-5C68-40AC-B814-1CB5BABCAC60}"/>
              </a:ext>
            </a:extLst>
          </p:cNvPr>
          <p:cNvSpPr>
            <a:spLocks xmlns:a="http://schemas.openxmlformats.org/drawingml/2006/main" noGrp="1"/>
          </p:cNvSpPr>
          <p:nvPr/>
        </p:nvSpPr>
        <p:spPr>
          <a:xfrm xmlns:a="http://schemas.openxmlformats.org/drawingml/2006/main">
            <a:off x="8420100" y="3400425"/>
            <a:ext cx="24003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52606D"/>
                </a:solidFill>
              </a:defRPr>
            </a:pPr>
            <a:r>
              <a:rPr sz="1275" b="0">
                <a:solidFill>
                  <a:srgbClr val="52606D"/>
                </a:solidFill>
              </a:rPr>
              <a:t>H5 future-participation gap</a:t>
            </a:r>
          </a:p>
        </p:txBody>
      </p:sp>
      <p:sp>
        <p:nvSpPr>
          <p:cNvPr id="12" name="">
            <a:extLst xmlns:a="http://schemas.openxmlformats.org/drawingml/2006/main">
              <a:ext uri="{FF2B5EF4-FFF2-40B4-BE49-F238E27FC236}">
                <a16:creationId xmlns:a16="http://schemas.microsoft.com/office/drawing/2014/main" id="{1602E91E-2D02-4820-ADD6-376D077FC424}"/>
              </a:ext>
            </a:extLst>
          </p:cNvPr>
          <p:cNvSpPr>
            <a:spLocks xmlns:a="http://schemas.openxmlformats.org/drawingml/2006/main" noGrp="1"/>
          </p:cNvSpPr>
          <p:nvPr/>
        </p:nvSpPr>
        <p:spPr>
          <a:xfrm xmlns:a="http://schemas.openxmlformats.org/drawingml/2006/main">
            <a:off x="8191500" y="4038600"/>
            <a:ext cx="2857500" cy="1066800"/>
          </a:xfrm>
          <a:prstGeom xmlns:a="http://schemas.openxmlformats.org/drawingml/2006/main" prst="rect">
            <a:avLst/>
          </a:prstGeom>
          <a:solidFill xmlns:a="http://schemas.openxmlformats.org/drawingml/2006/main">
            <a:srgbClr val="EAF3FF"/>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EEDD9405-BD52-4C3F-9CCE-2AE215A4AF74}"/>
              </a:ext>
            </a:extLst>
          </p:cNvPr>
          <p:cNvSpPr>
            <a:spLocks xmlns:a="http://schemas.openxmlformats.org/drawingml/2006/main" noGrp="1"/>
          </p:cNvSpPr>
          <p:nvPr/>
        </p:nvSpPr>
        <p:spPr>
          <a:xfrm xmlns:a="http://schemas.openxmlformats.org/drawingml/2006/main">
            <a:off x="8420100" y="4181475"/>
            <a:ext cx="2400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3D8DFF"/>
                </a:solidFill>
              </a:defRPr>
            </a:pPr>
            <a:r>
              <a:rPr sz="2325" b="1">
                <a:solidFill>
                  <a:srgbClr val="3D8DFF"/>
                </a:solidFill>
              </a:rPr>
              <a:t>541 / 444</a:t>
            </a:r>
          </a:p>
        </p:txBody>
      </p:sp>
      <p:sp>
        <p:nvSpPr>
          <p:cNvPr id="14" name="">
            <a:extLst xmlns:a="http://schemas.openxmlformats.org/drawingml/2006/main">
              <a:ext uri="{FF2B5EF4-FFF2-40B4-BE49-F238E27FC236}">
                <a16:creationId xmlns:a16="http://schemas.microsoft.com/office/drawing/2014/main" id="{DE4D6B3F-68E2-474C-8CB6-C333991DCA18}"/>
              </a:ext>
            </a:extLst>
          </p:cNvPr>
          <p:cNvSpPr>
            <a:spLocks xmlns:a="http://schemas.openxmlformats.org/drawingml/2006/main" noGrp="1"/>
          </p:cNvSpPr>
          <p:nvPr/>
        </p:nvSpPr>
        <p:spPr>
          <a:xfrm xmlns:a="http://schemas.openxmlformats.org/drawingml/2006/main">
            <a:off x="8420100" y="4657725"/>
            <a:ext cx="24003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52606D"/>
                </a:solidFill>
              </a:defRPr>
            </a:pPr>
            <a:r>
              <a:rPr sz="1275" b="0">
                <a:solidFill>
                  <a:srgbClr val="52606D"/>
                </a:solidFill>
              </a:rPr>
              <a:t>broad-up / broad-down observations</a:t>
            </a:r>
          </a:p>
        </p:txBody>
      </p:sp>
      <p:sp>
        <p:nvSpPr>
          <p:cNvPr id="15" name="">
            <a:extLst xmlns:a="http://schemas.openxmlformats.org/drawingml/2006/main">
              <a:ext uri="{FF2B5EF4-FFF2-40B4-BE49-F238E27FC236}">
                <a16:creationId xmlns:a16="http://schemas.microsoft.com/office/drawing/2014/main" id="{B86F3DE9-3C3B-4EB7-B734-A169236C82E3}"/>
              </a:ext>
            </a:extLst>
          </p:cNvPr>
          <p:cNvSpPr>
            <a:spLocks xmlns:a="http://schemas.openxmlformats.org/drawingml/2006/main" noGrp="1"/>
          </p:cNvSpPr>
          <p:nvPr/>
        </p:nvSpPr>
        <p:spPr>
          <a:xfrm xmlns:a="http://schemas.openxmlformats.org/drawingml/2006/main">
            <a:off x="8096250" y="5429250"/>
            <a:ext cx="347662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00" b="1">
                <a:solidFill>
                  <a:srgbClr val="D95F59"/>
                </a:solidFill>
              </a:defRPr>
            </a:pPr>
            <a:r>
              <a:rPr sz="1500" b="1">
                <a:solidFill>
                  <a:srgbClr val="D95F59"/>
                </a:solidFill>
              </a:rPr>
              <a:t>Direction alone did not clear the frozen effect-size gates.</a:t>
            </a:r>
          </a:p>
        </p:txBody>
      </p:sp>
    </p:spTree>
    <p:extLst>
      <p:ext uri="{BB962C8B-B14F-4D97-AF65-F5344CB8AC3E}">
        <p14:creationId xmlns:p14="http://schemas.microsoft.com/office/powerpoint/2010/main" val="187376331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A44FC9F6-A625-4B71-84CD-94437896F78F}"/>
              </a:ext>
            </a:extLst>
          </p:cNvPr>
          <p:cNvSpPr>
            <a:spLocks xmlns:a="http://schemas.openxmlformats.org/drawingml/2006/main" noGrp="1"/>
          </p:cNvSpPr>
          <p:nvPr/>
        </p:nvSpPr>
        <p:spPr>
          <a:xfrm xmlns:a="http://schemas.openxmlformats.org/drawingml/2006/main">
            <a:off x="476250" y="266700"/>
            <a:ext cx="3905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3D8DFF"/>
                </a:solidFill>
              </a:defRPr>
            </a:pPr>
            <a:r>
              <a:rPr sz="1050" b="1">
                <a:solidFill>
                  <a:srgbClr val="3D8DFF"/>
                </a:solidFill>
              </a:rPr>
              <a:t>NARROW CLUE · NOT PROMOTION</a:t>
            </a:r>
          </a:p>
        </p:txBody>
      </p:sp>
      <p:sp>
        <p:nvSpPr>
          <p:cNvPr id="2" name="">
            <a:extLst xmlns:a="http://schemas.openxmlformats.org/drawingml/2006/main">
              <a:ext uri="{FF2B5EF4-FFF2-40B4-BE49-F238E27FC236}">
                <a16:creationId xmlns:a16="http://schemas.microsoft.com/office/drawing/2014/main" id="{54350D15-215B-48EB-AB1E-A2ED91E93F43}"/>
              </a:ext>
            </a:extLst>
          </p:cNvPr>
          <p:cNvSpPr>
            <a:spLocks xmlns:a="http://schemas.openxmlformats.org/drawingml/2006/main" noGrp="1"/>
          </p:cNvSpPr>
          <p:nvPr/>
        </p:nvSpPr>
        <p:spPr>
          <a:xfrm xmlns:a="http://schemas.openxmlformats.org/drawingml/2006/main">
            <a:off x="476250" y="590550"/>
            <a:ext cx="10953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17202A"/>
                </a:solidFill>
              </a:defRPr>
            </a:pPr>
            <a:r>
              <a:rPr sz="2850" b="1">
                <a:solidFill>
                  <a:srgbClr val="17202A"/>
                </a:solidFill>
              </a:rPr>
              <a:t>A narrower positive-impulse comparison produced the only attractive clue</a:t>
            </a:r>
          </a:p>
        </p:txBody>
      </p:sp>
      <p:sp>
        <p:nvSpPr>
          <p:cNvPr id="3" name="">
            <a:extLst xmlns:a="http://schemas.openxmlformats.org/drawingml/2006/main">
              <a:ext uri="{FF2B5EF4-FFF2-40B4-BE49-F238E27FC236}">
                <a16:creationId xmlns:a16="http://schemas.microsoft.com/office/drawing/2014/main" id="{EE1FA83A-22F2-4E58-8953-2F0C74B30A3C}"/>
              </a:ext>
            </a:extLst>
          </p:cNvPr>
          <p:cNvSpPr>
            <a:spLocks xmlns:a="http://schemas.openxmlformats.org/drawingml/2006/main" noGrp="1"/>
          </p:cNvSpPr>
          <p:nvPr/>
        </p:nvSpPr>
        <p:spPr>
          <a:xfrm xmlns:a="http://schemas.openxmlformats.org/drawingml/2006/main">
            <a:off x="11334750" y="6429375"/>
            <a:ext cx="3333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825" b="0">
                <a:solidFill>
                  <a:srgbClr val="52606D"/>
                </a:solidFill>
              </a:defRPr>
            </a:pPr>
            <a:r>
              <a:rPr sz="825" b="0">
                <a:solidFill>
                  <a:srgbClr val="52606D"/>
                </a:solidFill>
              </a:rPr>
              <a:t>6</a:t>
            </a:r>
          </a:p>
        </p:txBody>
      </p:sp>
      <p:sp>
        <p:nvSpPr>
          <p:cNvPr id="4" name="">
            <a:extLst xmlns:a="http://schemas.openxmlformats.org/drawingml/2006/main">
              <a:ext uri="{FF2B5EF4-FFF2-40B4-BE49-F238E27FC236}">
                <a16:creationId xmlns:a16="http://schemas.microsoft.com/office/drawing/2014/main" id="{06450B0D-961F-4F06-8778-463F12CFD0DE}"/>
              </a:ext>
            </a:extLst>
          </p:cNvPr>
          <p:cNvSpPr>
            <a:spLocks xmlns:a="http://schemas.openxmlformats.org/drawingml/2006/main" noGrp="1"/>
          </p:cNvSpPr>
          <p:nvPr/>
        </p:nvSpPr>
        <p:spPr>
          <a:xfrm xmlns:a="http://schemas.openxmlformats.org/drawingml/2006/main">
            <a:off x="666750" y="1666875"/>
            <a:ext cx="3333750" cy="1066800"/>
          </a:xfrm>
          <a:prstGeom xmlns:a="http://schemas.openxmlformats.org/drawingml/2006/main" prst="rect">
            <a:avLst/>
          </a:prstGeom>
          <a:solidFill xmlns:a="http://schemas.openxmlformats.org/drawingml/2006/main">
            <a:srgbClr val="E8F4EC"/>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FF25F88F-EBBB-4E98-BEAE-585D5BF52182}"/>
              </a:ext>
            </a:extLst>
          </p:cNvPr>
          <p:cNvSpPr>
            <a:spLocks xmlns:a="http://schemas.openxmlformats.org/drawingml/2006/main" noGrp="1"/>
          </p:cNvSpPr>
          <p:nvPr/>
        </p:nvSpPr>
        <p:spPr>
          <a:xfrm xmlns:a="http://schemas.openxmlformats.org/drawingml/2006/main">
            <a:off x="895350" y="1809750"/>
            <a:ext cx="28765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2E8B57"/>
                </a:solidFill>
              </a:defRPr>
            </a:pPr>
            <a:r>
              <a:rPr sz="2325" b="1">
                <a:solidFill>
                  <a:srgbClr val="2E8B57"/>
                </a:solidFill>
              </a:rPr>
              <a:t>+0.198 pp</a:t>
            </a:r>
          </a:p>
        </p:txBody>
      </p:sp>
      <p:sp>
        <p:nvSpPr>
          <p:cNvPr id="6" name="">
            <a:extLst xmlns:a="http://schemas.openxmlformats.org/drawingml/2006/main">
              <a:ext uri="{FF2B5EF4-FFF2-40B4-BE49-F238E27FC236}">
                <a16:creationId xmlns:a16="http://schemas.microsoft.com/office/drawing/2014/main" id="{5E2DBA6F-B490-491A-B86C-21353C3CCBB4}"/>
              </a:ext>
            </a:extLst>
          </p:cNvPr>
          <p:cNvSpPr>
            <a:spLocks xmlns:a="http://schemas.openxmlformats.org/drawingml/2006/main" noGrp="1"/>
          </p:cNvSpPr>
          <p:nvPr/>
        </p:nvSpPr>
        <p:spPr>
          <a:xfrm xmlns:a="http://schemas.openxmlformats.org/drawingml/2006/main">
            <a:off x="895350" y="2286000"/>
            <a:ext cx="28765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52606D"/>
                </a:solidFill>
              </a:defRPr>
            </a:pPr>
            <a:r>
              <a:rPr sz="1275" b="0">
                <a:solidFill>
                  <a:srgbClr val="52606D"/>
                </a:solidFill>
              </a:rPr>
              <a:t>BROAD UP IMPULSE minus OTHER UP H5 return</a:t>
            </a:r>
          </a:p>
        </p:txBody>
      </p:sp>
      <p:sp>
        <p:nvSpPr>
          <p:cNvPr id="7" name="">
            <a:extLst xmlns:a="http://schemas.openxmlformats.org/drawingml/2006/main">
              <a:ext uri="{FF2B5EF4-FFF2-40B4-BE49-F238E27FC236}">
                <a16:creationId xmlns:a16="http://schemas.microsoft.com/office/drawing/2014/main" id="{F06373D8-7C9C-4347-A872-CDD025F1DCE1}"/>
              </a:ext>
            </a:extLst>
          </p:cNvPr>
          <p:cNvSpPr>
            <a:spLocks xmlns:a="http://schemas.openxmlformats.org/drawingml/2006/main" noGrp="1"/>
          </p:cNvSpPr>
          <p:nvPr/>
        </p:nvSpPr>
        <p:spPr>
          <a:xfrm xmlns:a="http://schemas.openxmlformats.org/drawingml/2006/main">
            <a:off x="4429125" y="1666875"/>
            <a:ext cx="3333750" cy="1066800"/>
          </a:xfrm>
          <a:prstGeom xmlns:a="http://schemas.openxmlformats.org/drawingml/2006/main" prst="rect">
            <a:avLst/>
          </a:prstGeom>
          <a:solidFill xmlns:a="http://schemas.openxmlformats.org/drawingml/2006/main">
            <a:srgbClr val="E8F4EC"/>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F28882A9-3224-481D-AC85-23DDE561A720}"/>
              </a:ext>
            </a:extLst>
          </p:cNvPr>
          <p:cNvSpPr>
            <a:spLocks xmlns:a="http://schemas.openxmlformats.org/drawingml/2006/main" noGrp="1"/>
          </p:cNvSpPr>
          <p:nvPr/>
        </p:nvSpPr>
        <p:spPr>
          <a:xfrm xmlns:a="http://schemas.openxmlformats.org/drawingml/2006/main">
            <a:off x="4657725" y="1809750"/>
            <a:ext cx="28765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2E8B57"/>
                </a:solidFill>
              </a:defRPr>
            </a:pPr>
            <a:r>
              <a:rPr sz="2325" b="1">
                <a:solidFill>
                  <a:srgbClr val="2E8B57"/>
                </a:solidFill>
              </a:rPr>
              <a:t>+5.833 pp</a:t>
            </a:r>
          </a:p>
        </p:txBody>
      </p:sp>
      <p:sp>
        <p:nvSpPr>
          <p:cNvPr id="9" name="">
            <a:extLst xmlns:a="http://schemas.openxmlformats.org/drawingml/2006/main">
              <a:ext uri="{FF2B5EF4-FFF2-40B4-BE49-F238E27FC236}">
                <a16:creationId xmlns:a16="http://schemas.microsoft.com/office/drawing/2014/main" id="{4807233E-BA86-4D1B-A0D3-A43099E0E7D5}"/>
              </a:ext>
            </a:extLst>
          </p:cNvPr>
          <p:cNvSpPr>
            <a:spLocks xmlns:a="http://schemas.openxmlformats.org/drawingml/2006/main" noGrp="1"/>
          </p:cNvSpPr>
          <p:nvPr/>
        </p:nvSpPr>
        <p:spPr>
          <a:xfrm xmlns:a="http://schemas.openxmlformats.org/drawingml/2006/main">
            <a:off x="4657725" y="2286000"/>
            <a:ext cx="28765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52606D"/>
                </a:solidFill>
              </a:defRPr>
            </a:pPr>
            <a:r>
              <a:rPr sz="1275" b="0">
                <a:solidFill>
                  <a:srgbClr val="52606D"/>
                </a:solidFill>
              </a:rPr>
              <a:t>future positive-participation gap</a:t>
            </a:r>
          </a:p>
        </p:txBody>
      </p:sp>
      <p:sp>
        <p:nvSpPr>
          <p:cNvPr id="10" name="">
            <a:extLst xmlns:a="http://schemas.openxmlformats.org/drawingml/2006/main">
              <a:ext uri="{FF2B5EF4-FFF2-40B4-BE49-F238E27FC236}">
                <a16:creationId xmlns:a16="http://schemas.microsoft.com/office/drawing/2014/main" id="{3DED4378-4F59-4DE2-A478-B8166FA4A4E0}"/>
              </a:ext>
            </a:extLst>
          </p:cNvPr>
          <p:cNvSpPr>
            <a:spLocks xmlns:a="http://schemas.openxmlformats.org/drawingml/2006/main" noGrp="1"/>
          </p:cNvSpPr>
          <p:nvPr/>
        </p:nvSpPr>
        <p:spPr>
          <a:xfrm xmlns:a="http://schemas.openxmlformats.org/drawingml/2006/main">
            <a:off x="8191500" y="1666875"/>
            <a:ext cx="3333750" cy="1066800"/>
          </a:xfrm>
          <a:prstGeom xmlns:a="http://schemas.openxmlformats.org/drawingml/2006/main" prst="rect">
            <a:avLst/>
          </a:prstGeom>
          <a:solidFill xmlns:a="http://schemas.openxmlformats.org/drawingml/2006/main">
            <a:srgbClr val="E8F4EC"/>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1DE336DD-CE08-47B3-B43B-5CC0DC528D3A}"/>
              </a:ext>
            </a:extLst>
          </p:cNvPr>
          <p:cNvSpPr>
            <a:spLocks xmlns:a="http://schemas.openxmlformats.org/drawingml/2006/main" noGrp="1"/>
          </p:cNvSpPr>
          <p:nvPr/>
        </p:nvSpPr>
        <p:spPr>
          <a:xfrm xmlns:a="http://schemas.openxmlformats.org/drawingml/2006/main">
            <a:off x="8420100" y="1809750"/>
            <a:ext cx="28765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2E8B57"/>
                </a:solidFill>
              </a:defRPr>
            </a:pPr>
            <a:r>
              <a:rPr sz="2325" b="1">
                <a:solidFill>
                  <a:srgbClr val="2E8B57"/>
                </a:solidFill>
              </a:rPr>
              <a:t>−1.919 pp</a:t>
            </a:r>
          </a:p>
        </p:txBody>
      </p:sp>
      <p:sp>
        <p:nvSpPr>
          <p:cNvPr id="12" name="">
            <a:extLst xmlns:a="http://schemas.openxmlformats.org/drawingml/2006/main">
              <a:ext uri="{FF2B5EF4-FFF2-40B4-BE49-F238E27FC236}">
                <a16:creationId xmlns:a16="http://schemas.microsoft.com/office/drawing/2014/main" id="{1585B029-6AC4-4D5E-8811-1E29FDC2D5A9}"/>
              </a:ext>
            </a:extLst>
          </p:cNvPr>
          <p:cNvSpPr>
            <a:spLocks xmlns:a="http://schemas.openxmlformats.org/drawingml/2006/main" noGrp="1"/>
          </p:cNvSpPr>
          <p:nvPr/>
        </p:nvSpPr>
        <p:spPr>
          <a:xfrm xmlns:a="http://schemas.openxmlformats.org/drawingml/2006/main">
            <a:off x="8420100" y="2286000"/>
            <a:ext cx="28765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52606D"/>
                </a:solidFill>
              </a:defRPr>
            </a:pPr>
            <a:r>
              <a:rPr sz="1275" b="0">
                <a:solidFill>
                  <a:srgbClr val="52606D"/>
                </a:solidFill>
              </a:rPr>
              <a:t>future negative-rate gap</a:t>
            </a:r>
          </a:p>
        </p:txBody>
      </p:sp>
      <p:sp>
        <p:nvSpPr>
          <p:cNvPr id="13" name="">
            <a:extLst xmlns:a="http://schemas.openxmlformats.org/drawingml/2006/main">
              <a:ext uri="{FF2B5EF4-FFF2-40B4-BE49-F238E27FC236}">
                <a16:creationId xmlns:a16="http://schemas.microsoft.com/office/drawing/2014/main" id="{0FE6AAFF-0242-4BEE-9D4B-37D18D06A416}"/>
              </a:ext>
            </a:extLst>
          </p:cNvPr>
          <p:cNvSpPr>
            <a:spLocks xmlns:a="http://schemas.openxmlformats.org/drawingml/2006/main" noGrp="1"/>
          </p:cNvSpPr>
          <p:nvPr/>
        </p:nvSpPr>
        <p:spPr>
          <a:xfrm xmlns:a="http://schemas.openxmlformats.org/drawingml/2006/main">
            <a:off x="666750" y="3286125"/>
            <a:ext cx="10858500" cy="1524000"/>
          </a:xfrm>
          <a:prstGeom xmlns:a="http://schemas.openxmlformats.org/drawingml/2006/main" prst="rect">
            <a:avLst/>
          </a:prstGeom>
          <a:solidFill xmlns:a="http://schemas.openxmlformats.org/drawingml/2006/main">
            <a:srgbClr val="F2F4F6"/>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0DC9533B-569F-4D28-B834-D06D3F5362A9}"/>
              </a:ext>
            </a:extLst>
          </p:cNvPr>
          <p:cNvSpPr>
            <a:spLocks xmlns:a="http://schemas.openxmlformats.org/drawingml/2006/main" noGrp="1"/>
          </p:cNvSpPr>
          <p:nvPr/>
        </p:nvSpPr>
        <p:spPr>
          <a:xfrm xmlns:a="http://schemas.openxmlformats.org/drawingml/2006/main">
            <a:off x="952500" y="3600450"/>
            <a:ext cx="24288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a:solidFill>
                  <a:srgbClr val="3D8DFF"/>
                </a:solidFill>
              </a:defRPr>
            </a:pPr>
            <a:r>
              <a:rPr sz="1800" b="1">
                <a:solidFill>
                  <a:srgbClr val="3D8DFF"/>
                </a:solidFill>
              </a:rPr>
              <a:t>What it suggests</a:t>
            </a:r>
          </a:p>
        </p:txBody>
      </p:sp>
      <p:sp>
        <p:nvSpPr>
          <p:cNvPr id="15" name="">
            <a:extLst xmlns:a="http://schemas.openxmlformats.org/drawingml/2006/main">
              <a:ext uri="{FF2B5EF4-FFF2-40B4-BE49-F238E27FC236}">
                <a16:creationId xmlns:a16="http://schemas.microsoft.com/office/drawing/2014/main" id="{32D31E1E-3C60-416F-BF54-977D5667DF8A}"/>
              </a:ext>
            </a:extLst>
          </p:cNvPr>
          <p:cNvSpPr>
            <a:spLocks xmlns:a="http://schemas.openxmlformats.org/drawingml/2006/main" noGrp="1"/>
          </p:cNvSpPr>
          <p:nvPr/>
        </p:nvSpPr>
        <p:spPr>
          <a:xfrm xmlns:a="http://schemas.openxmlformats.org/drawingml/2006/main">
            <a:off x="3429000" y="3552825"/>
            <a:ext cx="7524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17324D"/>
                </a:solidFill>
              </a:defRPr>
            </a:pPr>
            <a:r>
              <a:rPr sz="1650" b="1">
                <a:solidFill>
                  <a:srgbClr val="17324D"/>
                </a:solidFill>
              </a:rPr>
              <a:t>Breadth expansion may distinguish stronger from weaker positive fast states at H5.</a:t>
            </a:r>
          </a:p>
        </p:txBody>
      </p:sp>
      <p:sp>
        <p:nvSpPr>
          <p:cNvPr id="16" name="">
            <a:extLst xmlns:a="http://schemas.openxmlformats.org/drawingml/2006/main">
              <a:ext uri="{FF2B5EF4-FFF2-40B4-BE49-F238E27FC236}">
                <a16:creationId xmlns:a16="http://schemas.microsoft.com/office/drawing/2014/main" id="{2EA6F8FC-A10E-447C-8FB1-26E029AE6AEE}"/>
              </a:ext>
            </a:extLst>
          </p:cNvPr>
          <p:cNvSpPr>
            <a:spLocks xmlns:a="http://schemas.openxmlformats.org/drawingml/2006/main" noGrp="1"/>
          </p:cNvSpPr>
          <p:nvPr/>
        </p:nvSpPr>
        <p:spPr>
          <a:xfrm xmlns:a="http://schemas.openxmlformats.org/drawingml/2006/main">
            <a:off x="952500" y="4286250"/>
            <a:ext cx="24288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a:solidFill>
                  <a:srgbClr val="D95F59"/>
                </a:solidFill>
              </a:defRPr>
            </a:pPr>
            <a:r>
              <a:rPr sz="1800" b="1">
                <a:solidFill>
                  <a:srgbClr val="D95F59"/>
                </a:solidFill>
              </a:rPr>
              <a:t>Why it still stops</a:t>
            </a:r>
          </a:p>
        </p:txBody>
      </p:sp>
      <p:sp>
        <p:nvSpPr>
          <p:cNvPr id="17" name="">
            <a:extLst xmlns:a="http://schemas.openxmlformats.org/drawingml/2006/main">
              <a:ext uri="{FF2B5EF4-FFF2-40B4-BE49-F238E27FC236}">
                <a16:creationId xmlns:a16="http://schemas.microsoft.com/office/drawing/2014/main" id="{C67162A5-0C44-4457-8F32-075F3B9788E8}"/>
              </a:ext>
            </a:extLst>
          </p:cNvPr>
          <p:cNvSpPr>
            <a:spLocks xmlns:a="http://schemas.openxmlformats.org/drawingml/2006/main" noGrp="1"/>
          </p:cNvSpPr>
          <p:nvPr/>
        </p:nvSpPr>
        <p:spPr>
          <a:xfrm xmlns:a="http://schemas.openxmlformats.org/drawingml/2006/main">
            <a:off x="3429000" y="4238625"/>
            <a:ext cx="7524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0">
                <a:solidFill>
                  <a:srgbClr val="52606D"/>
                </a:solidFill>
              </a:defRPr>
            </a:pPr>
            <a:r>
              <a:rPr sz="1575" b="0">
                <a:solidFill>
                  <a:srgbClr val="52606D"/>
                </a:solidFill>
              </a:rPr>
              <a:t>The clue was secondary, unstable by year, weak in circular rank, and reversed at H10.</a:t>
            </a:r>
          </a:p>
        </p:txBody>
      </p:sp>
      <p:sp>
        <p:nvSpPr>
          <p:cNvPr id="18" name="">
            <a:extLst xmlns:a="http://schemas.openxmlformats.org/drawingml/2006/main">
              <a:ext uri="{FF2B5EF4-FFF2-40B4-BE49-F238E27FC236}">
                <a16:creationId xmlns:a16="http://schemas.microsoft.com/office/drawing/2014/main" id="{C3F0575F-A4C3-4544-99AC-FD65AFE082C1}"/>
              </a:ext>
            </a:extLst>
          </p:cNvPr>
          <p:cNvSpPr>
            <a:spLocks xmlns:a="http://schemas.openxmlformats.org/drawingml/2006/main" noGrp="1"/>
          </p:cNvSpPr>
          <p:nvPr/>
        </p:nvSpPr>
        <p:spPr>
          <a:xfrm xmlns:a="http://schemas.openxmlformats.org/drawingml/2006/main">
            <a:off x="1762125" y="5381625"/>
            <a:ext cx="8667750" cy="666750"/>
          </a:xfrm>
          <a:prstGeom xmlns:a="http://schemas.openxmlformats.org/drawingml/2006/main" prst="rect">
            <a:avLst/>
          </a:prstGeom>
          <a:solidFill xmlns:a="http://schemas.openxmlformats.org/drawingml/2006/main">
            <a:srgbClr val="FBE9E7"/>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7F457252-38B9-4075-8D63-418B113BE95B}"/>
              </a:ext>
            </a:extLst>
          </p:cNvPr>
          <p:cNvSpPr>
            <a:spLocks xmlns:a="http://schemas.openxmlformats.org/drawingml/2006/main" noGrp="1"/>
          </p:cNvSpPr>
          <p:nvPr/>
        </p:nvSpPr>
        <p:spPr>
          <a:xfrm xmlns:a="http://schemas.openxmlformats.org/drawingml/2006/main">
            <a:off x="2095500" y="5581650"/>
            <a:ext cx="800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650" b="1">
                <a:solidFill>
                  <a:srgbClr val="D95F59"/>
                </a:solidFill>
              </a:defRPr>
            </a:pPr>
            <a:r>
              <a:rPr sz="1650" b="1">
                <a:solidFill>
                  <a:srgbClr val="D95F59"/>
                </a:solidFill>
              </a:rPr>
              <a:t>A promising slice cannot overrule a failed frozen evidence package.</a:t>
            </a:r>
          </a:p>
        </p:txBody>
      </p:sp>
    </p:spTree>
    <p:extLst>
      <p:ext uri="{BB962C8B-B14F-4D97-AF65-F5344CB8AC3E}">
        <p14:creationId xmlns:p14="http://schemas.microsoft.com/office/powerpoint/2010/main" val="1399154246"/>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21090D9D-E3E8-4B92-BEDD-F9415966F7AC}"/>
              </a:ext>
            </a:extLst>
          </p:cNvPr>
          <p:cNvSpPr>
            <a:spLocks xmlns:a="http://schemas.openxmlformats.org/drawingml/2006/main" noGrp="1"/>
          </p:cNvSpPr>
          <p:nvPr/>
        </p:nvSpPr>
        <p:spPr>
          <a:xfrm xmlns:a="http://schemas.openxmlformats.org/drawingml/2006/main">
            <a:off x="476250" y="266700"/>
            <a:ext cx="3905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3D8DFF"/>
                </a:solidFill>
              </a:defRPr>
            </a:pPr>
            <a:r>
              <a:rPr sz="1050" b="1">
                <a:solidFill>
                  <a:srgbClr val="3D8DFF"/>
                </a:solidFill>
              </a:rPr>
              <a:t>CONTINUITY AUDIT</a:t>
            </a:r>
          </a:p>
        </p:txBody>
      </p:sp>
      <p:sp>
        <p:nvSpPr>
          <p:cNvPr id="2" name="">
            <a:extLst xmlns:a="http://schemas.openxmlformats.org/drawingml/2006/main">
              <a:ext uri="{FF2B5EF4-FFF2-40B4-BE49-F238E27FC236}">
                <a16:creationId xmlns:a16="http://schemas.microsoft.com/office/drawing/2014/main" id="{FBB80D75-B149-4C95-9F3D-488AD1B6AD7E}"/>
              </a:ext>
            </a:extLst>
          </p:cNvPr>
          <p:cNvSpPr>
            <a:spLocks xmlns:a="http://schemas.openxmlformats.org/drawingml/2006/main" noGrp="1"/>
          </p:cNvSpPr>
          <p:nvPr/>
        </p:nvSpPr>
        <p:spPr>
          <a:xfrm xmlns:a="http://schemas.openxmlformats.org/drawingml/2006/main">
            <a:off x="476250" y="590550"/>
            <a:ext cx="10953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17202A"/>
                </a:solidFill>
              </a:defRPr>
            </a:pPr>
            <a:r>
              <a:rPr sz="2850" b="1">
                <a:solidFill>
                  <a:srgbClr val="17202A"/>
                </a:solidFill>
              </a:rPr>
              <a:t>Continuous ordering showed no durable trend prediction</a:t>
            </a:r>
          </a:p>
        </p:txBody>
      </p:sp>
      <p:sp>
        <p:nvSpPr>
          <p:cNvPr id="3" name="">
            <a:extLst xmlns:a="http://schemas.openxmlformats.org/drawingml/2006/main">
              <a:ext uri="{FF2B5EF4-FFF2-40B4-BE49-F238E27FC236}">
                <a16:creationId xmlns:a16="http://schemas.microsoft.com/office/drawing/2014/main" id="{929C92A8-FFCA-4ED2-8797-7A4F2A9A1E0A}"/>
              </a:ext>
            </a:extLst>
          </p:cNvPr>
          <p:cNvSpPr>
            <a:spLocks xmlns:a="http://schemas.openxmlformats.org/drawingml/2006/main" noGrp="1"/>
          </p:cNvSpPr>
          <p:nvPr/>
        </p:nvSpPr>
        <p:spPr>
          <a:xfrm xmlns:a="http://schemas.openxmlformats.org/drawingml/2006/main">
            <a:off x="11334750" y="6429375"/>
            <a:ext cx="3333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825" b="0">
                <a:solidFill>
                  <a:srgbClr val="52606D"/>
                </a:solidFill>
              </a:defRPr>
            </a:pPr>
            <a:r>
              <a:rPr sz="825" b="0">
                <a:solidFill>
                  <a:srgbClr val="52606D"/>
                </a:solidFill>
              </a:rPr>
              <a:t>7</a:t>
            </a:r>
          </a:p>
        </p:txBody>
      </p:sp>
      <p:sp>
        <p:nvSpPr>
          <p:cNvPr id="4" name="">
            <a:extLst xmlns:a="http://schemas.openxmlformats.org/drawingml/2006/main">
              <a:ext uri="{FF2B5EF4-FFF2-40B4-BE49-F238E27FC236}">
                <a16:creationId xmlns:a16="http://schemas.microsoft.com/office/drawing/2014/main" id="{FFF4204A-6C06-4DFC-82EF-C32F39D77E42}"/>
              </a:ext>
            </a:extLst>
          </p:cNvPr>
          <p:cNvSpPr>
            <a:spLocks xmlns:a="http://schemas.openxmlformats.org/drawingml/2006/main" noGrp="1"/>
          </p:cNvSpPr>
          <p:nvPr/>
        </p:nvSpPr>
        <p:spPr>
          <a:xfrm xmlns:a="http://schemas.openxmlformats.org/drawingml/2006/main">
            <a:off x="428625" y="1381125"/>
            <a:ext cx="7524750" cy="4667250"/>
          </a:xfrm>
          <a:prstGeom xmlns:a="http://schemas.openxmlformats.org/drawingml/2006/main" prst="rect">
            <a:avLst/>
          </a:prstGeom>
          <a:solidFill xmlns:a="http://schemas.openxmlformats.org/drawingml/2006/main">
            <a:srgbClr val="FAFAFA"/>
          </a:solidFill>
          <a:ln xmlns:a="http://schemas.openxmlformats.org/drawingml/2006/main" w="9525">
            <a:solidFill>
              <a:srgbClr val="CCD3DA"/>
            </a:solidFill>
            <a:prstDash val="solid"/>
          </a:ln>
        </p:spPr>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9bfe0c8be61e41f5"/>
          <a:stretch xmlns:a="http://schemas.openxmlformats.org/drawingml/2006/main"/>
        </p:blipFill>
        <p:spPr>
          <a:xfrm xmlns:a="http://schemas.openxmlformats.org/drawingml/2006/main">
            <a:off x="428625" y="1635543"/>
            <a:ext cx="7524750" cy="4158414"/>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90495E24-2415-4126-A515-1D0B00172029}"/>
              </a:ext>
            </a:extLst>
          </p:cNvPr>
          <p:cNvSpPr>
            <a:spLocks xmlns:a="http://schemas.openxmlformats.org/drawingml/2006/main" noGrp="1"/>
          </p:cNvSpPr>
          <p:nvPr/>
        </p:nvSpPr>
        <p:spPr>
          <a:xfrm xmlns:a="http://schemas.openxmlformats.org/drawingml/2006/main">
            <a:off x="8191500" y="1428750"/>
            <a:ext cx="2857500" cy="1066800"/>
          </a:xfrm>
          <a:prstGeom xmlns:a="http://schemas.openxmlformats.org/drawingml/2006/main" prst="rect">
            <a:avLst/>
          </a:prstGeom>
          <a:solidFill xmlns:a="http://schemas.openxmlformats.org/drawingml/2006/main">
            <a:srgbClr val="FBE9E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53ECB7B4-A851-480C-A64F-0979C732ED18}"/>
              </a:ext>
            </a:extLst>
          </p:cNvPr>
          <p:cNvSpPr>
            <a:spLocks xmlns:a="http://schemas.openxmlformats.org/drawingml/2006/main" noGrp="1"/>
          </p:cNvSpPr>
          <p:nvPr/>
        </p:nvSpPr>
        <p:spPr>
          <a:xfrm xmlns:a="http://schemas.openxmlformats.org/drawingml/2006/main">
            <a:off x="8420100" y="1571625"/>
            <a:ext cx="2400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D95F59"/>
                </a:solidFill>
              </a:defRPr>
            </a:pPr>
            <a:r>
              <a:rPr sz="2325" b="1">
                <a:solidFill>
                  <a:srgbClr val="D95F59"/>
                </a:solidFill>
              </a:rPr>
              <a:t>ρ = −0.024</a:t>
            </a:r>
          </a:p>
        </p:txBody>
      </p:sp>
      <p:sp>
        <p:nvSpPr>
          <p:cNvPr id="8" name="">
            <a:extLst xmlns:a="http://schemas.openxmlformats.org/drawingml/2006/main">
              <a:ext uri="{FF2B5EF4-FFF2-40B4-BE49-F238E27FC236}">
                <a16:creationId xmlns:a16="http://schemas.microsoft.com/office/drawing/2014/main" id="{C651D2F9-48C3-49C2-A857-148884874EE2}"/>
              </a:ext>
            </a:extLst>
          </p:cNvPr>
          <p:cNvSpPr>
            <a:spLocks xmlns:a="http://schemas.openxmlformats.org/drawingml/2006/main" noGrp="1"/>
          </p:cNvSpPr>
          <p:nvPr/>
        </p:nvSpPr>
        <p:spPr>
          <a:xfrm xmlns:a="http://schemas.openxmlformats.org/drawingml/2006/main">
            <a:off x="8420100" y="2047875"/>
            <a:ext cx="24003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52606D"/>
                </a:solidFill>
              </a:defRPr>
            </a:pPr>
            <a:r>
              <a:rPr sz="1275" b="0">
                <a:solidFill>
                  <a:srgbClr val="52606D"/>
                </a:solidFill>
              </a:rPr>
              <a:t>D5 vs H5 field return</a:t>
            </a:r>
          </a:p>
        </p:txBody>
      </p:sp>
      <p:sp>
        <p:nvSpPr>
          <p:cNvPr id="9" name="">
            <a:extLst xmlns:a="http://schemas.openxmlformats.org/drawingml/2006/main">
              <a:ext uri="{FF2B5EF4-FFF2-40B4-BE49-F238E27FC236}">
                <a16:creationId xmlns:a16="http://schemas.microsoft.com/office/drawing/2014/main" id="{2F02E777-6F30-486C-B9C4-DB4E755B7339}"/>
              </a:ext>
            </a:extLst>
          </p:cNvPr>
          <p:cNvSpPr>
            <a:spLocks xmlns:a="http://schemas.openxmlformats.org/drawingml/2006/main" noGrp="1"/>
          </p:cNvSpPr>
          <p:nvPr/>
        </p:nvSpPr>
        <p:spPr>
          <a:xfrm xmlns:a="http://schemas.openxmlformats.org/drawingml/2006/main">
            <a:off x="8191500" y="2590800"/>
            <a:ext cx="2857500" cy="1066800"/>
          </a:xfrm>
          <a:prstGeom xmlns:a="http://schemas.openxmlformats.org/drawingml/2006/main" prst="rect">
            <a:avLst/>
          </a:prstGeom>
          <a:solidFill xmlns:a="http://schemas.openxmlformats.org/drawingml/2006/main">
            <a:srgbClr val="FBE9E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FBFE627E-C62C-4FC4-B287-D1D6075FE46F}"/>
              </a:ext>
            </a:extLst>
          </p:cNvPr>
          <p:cNvSpPr>
            <a:spLocks xmlns:a="http://schemas.openxmlformats.org/drawingml/2006/main" noGrp="1"/>
          </p:cNvSpPr>
          <p:nvPr/>
        </p:nvSpPr>
        <p:spPr>
          <a:xfrm xmlns:a="http://schemas.openxmlformats.org/drawingml/2006/main">
            <a:off x="8420100" y="2733675"/>
            <a:ext cx="2400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D95F59"/>
                </a:solidFill>
              </a:defRPr>
            </a:pPr>
            <a:r>
              <a:rPr sz="2325" b="1">
                <a:solidFill>
                  <a:srgbClr val="D95F59"/>
                </a:solidFill>
              </a:rPr>
              <a:t>ρ = −0.008</a:t>
            </a:r>
          </a:p>
        </p:txBody>
      </p:sp>
      <p:sp>
        <p:nvSpPr>
          <p:cNvPr id="11" name="">
            <a:extLst xmlns:a="http://schemas.openxmlformats.org/drawingml/2006/main">
              <a:ext uri="{FF2B5EF4-FFF2-40B4-BE49-F238E27FC236}">
                <a16:creationId xmlns:a16="http://schemas.microsoft.com/office/drawing/2014/main" id="{F2839F2B-CE56-43A7-B724-A5854BEC16D1}"/>
              </a:ext>
            </a:extLst>
          </p:cNvPr>
          <p:cNvSpPr>
            <a:spLocks xmlns:a="http://schemas.openxmlformats.org/drawingml/2006/main" noGrp="1"/>
          </p:cNvSpPr>
          <p:nvPr/>
        </p:nvSpPr>
        <p:spPr>
          <a:xfrm xmlns:a="http://schemas.openxmlformats.org/drawingml/2006/main">
            <a:off x="8420100" y="3209925"/>
            <a:ext cx="24003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52606D"/>
                </a:solidFill>
              </a:defRPr>
            </a:pPr>
            <a:r>
              <a:rPr sz="1275" b="0">
                <a:solidFill>
                  <a:srgbClr val="52606D"/>
                </a:solidFill>
              </a:rPr>
              <a:t>P5 vs H5 field return</a:t>
            </a:r>
          </a:p>
        </p:txBody>
      </p:sp>
      <p:sp>
        <p:nvSpPr>
          <p:cNvPr id="12" name="">
            <a:extLst xmlns:a="http://schemas.openxmlformats.org/drawingml/2006/main">
              <a:ext uri="{FF2B5EF4-FFF2-40B4-BE49-F238E27FC236}">
                <a16:creationId xmlns:a16="http://schemas.microsoft.com/office/drawing/2014/main" id="{44AEF80A-584E-4A53-8C6F-0DDC6BC4125A}"/>
              </a:ext>
            </a:extLst>
          </p:cNvPr>
          <p:cNvSpPr>
            <a:spLocks xmlns:a="http://schemas.openxmlformats.org/drawingml/2006/main" noGrp="1"/>
          </p:cNvSpPr>
          <p:nvPr/>
        </p:nvSpPr>
        <p:spPr>
          <a:xfrm xmlns:a="http://schemas.openxmlformats.org/drawingml/2006/main">
            <a:off x="8191500" y="3752850"/>
            <a:ext cx="2857500" cy="1066800"/>
          </a:xfrm>
          <a:prstGeom xmlns:a="http://schemas.openxmlformats.org/drawingml/2006/main" prst="rect">
            <a:avLst/>
          </a:prstGeom>
          <a:solidFill xmlns:a="http://schemas.openxmlformats.org/drawingml/2006/main">
            <a:srgbClr val="FFF1E3"/>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BD5A8226-84D9-40D2-8359-48987948EB71}"/>
              </a:ext>
            </a:extLst>
          </p:cNvPr>
          <p:cNvSpPr>
            <a:spLocks xmlns:a="http://schemas.openxmlformats.org/drawingml/2006/main" noGrp="1"/>
          </p:cNvSpPr>
          <p:nvPr/>
        </p:nvSpPr>
        <p:spPr>
          <a:xfrm xmlns:a="http://schemas.openxmlformats.org/drawingml/2006/main">
            <a:off x="8420100" y="3895725"/>
            <a:ext cx="2400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F2A65A"/>
                </a:solidFill>
              </a:defRPr>
            </a:pPr>
            <a:r>
              <a:rPr sz="2325" b="1">
                <a:solidFill>
                  <a:srgbClr val="F2A65A"/>
                </a:solidFill>
              </a:rPr>
              <a:t>ρ = −0.477</a:t>
            </a:r>
          </a:p>
        </p:txBody>
      </p:sp>
      <p:sp>
        <p:nvSpPr>
          <p:cNvPr id="14" name="">
            <a:extLst xmlns:a="http://schemas.openxmlformats.org/drawingml/2006/main">
              <a:ext uri="{FF2B5EF4-FFF2-40B4-BE49-F238E27FC236}">
                <a16:creationId xmlns:a16="http://schemas.microsoft.com/office/drawing/2014/main" id="{DA1454F0-720C-46AD-9577-EA141D5A126C}"/>
              </a:ext>
            </a:extLst>
          </p:cNvPr>
          <p:cNvSpPr>
            <a:spLocks xmlns:a="http://schemas.openxmlformats.org/drawingml/2006/main" noGrp="1"/>
          </p:cNvSpPr>
          <p:nvPr/>
        </p:nvSpPr>
        <p:spPr>
          <a:xfrm xmlns:a="http://schemas.openxmlformats.org/drawingml/2006/main">
            <a:off x="8420100" y="4371975"/>
            <a:ext cx="24003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52606D"/>
                </a:solidFill>
              </a:defRPr>
            </a:pPr>
            <a:r>
              <a:rPr sz="1275" b="0">
                <a:solidFill>
                  <a:srgbClr val="52606D"/>
                </a:solidFill>
              </a:rPr>
              <a:t>I5 vs next H5 participation change</a:t>
            </a:r>
          </a:p>
        </p:txBody>
      </p:sp>
      <p:sp>
        <p:nvSpPr>
          <p:cNvPr id="15" name="">
            <a:extLst xmlns:a="http://schemas.openxmlformats.org/drawingml/2006/main">
              <a:ext uri="{FF2B5EF4-FFF2-40B4-BE49-F238E27FC236}">
                <a16:creationId xmlns:a16="http://schemas.microsoft.com/office/drawing/2014/main" id="{E142C075-157E-4D9A-97AE-223976B87E89}"/>
              </a:ext>
            </a:extLst>
          </p:cNvPr>
          <p:cNvSpPr>
            <a:spLocks xmlns:a="http://schemas.openxmlformats.org/drawingml/2006/main" noGrp="1"/>
          </p:cNvSpPr>
          <p:nvPr/>
        </p:nvSpPr>
        <p:spPr>
          <a:xfrm xmlns:a="http://schemas.openxmlformats.org/drawingml/2006/main">
            <a:off x="8143875" y="5048250"/>
            <a:ext cx="3476625"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52606D"/>
                </a:solidFill>
              </a:defRPr>
            </a:pPr>
            <a:r>
              <a:rPr sz="1275" b="0">
                <a:solidFill>
                  <a:srgbClr val="52606D"/>
                </a:solidFill>
              </a:rPr>
              <a:t>I5 and the future participation change share Pₜ with opposite signs; bounded participation also mean-reverts. Treat the negative rho as failed continuation—not a contrarian signal.</a:t>
            </a:r>
          </a:p>
        </p:txBody>
      </p:sp>
    </p:spTree>
    <p:extLst>
      <p:ext uri="{BB962C8B-B14F-4D97-AF65-F5344CB8AC3E}">
        <p14:creationId xmlns:p14="http://schemas.microsoft.com/office/powerpoint/2010/main" val="93523714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96F47BB3-53DE-4563-B9F9-4779594B5EC5}"/>
              </a:ext>
            </a:extLst>
          </p:cNvPr>
          <p:cNvSpPr>
            <a:spLocks xmlns:a="http://schemas.openxmlformats.org/drawingml/2006/main" noGrp="1"/>
          </p:cNvSpPr>
          <p:nvPr/>
        </p:nvSpPr>
        <p:spPr>
          <a:xfrm xmlns:a="http://schemas.openxmlformats.org/drawingml/2006/main">
            <a:off x="476250" y="266700"/>
            <a:ext cx="3905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3D8DFF"/>
                </a:solidFill>
              </a:defRPr>
            </a:pPr>
            <a:r>
              <a:rPr sz="1050" b="1">
                <a:solidFill>
                  <a:srgbClr val="3D8DFF"/>
                </a:solidFill>
              </a:rPr>
              <a:t>DURABILITY + OFFSETS</a:t>
            </a:r>
          </a:p>
        </p:txBody>
      </p:sp>
      <p:sp>
        <p:nvSpPr>
          <p:cNvPr id="2" name="">
            <a:extLst xmlns:a="http://schemas.openxmlformats.org/drawingml/2006/main">
              <a:ext uri="{FF2B5EF4-FFF2-40B4-BE49-F238E27FC236}">
                <a16:creationId xmlns:a16="http://schemas.microsoft.com/office/drawing/2014/main" id="{530F141F-7EBB-42AF-9E1D-3145E3BE2430}"/>
              </a:ext>
            </a:extLst>
          </p:cNvPr>
          <p:cNvSpPr>
            <a:spLocks xmlns:a="http://schemas.openxmlformats.org/drawingml/2006/main" noGrp="1"/>
          </p:cNvSpPr>
          <p:nvPr/>
        </p:nvSpPr>
        <p:spPr>
          <a:xfrm xmlns:a="http://schemas.openxmlformats.org/drawingml/2006/main">
            <a:off x="476250" y="590550"/>
            <a:ext cx="10953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17202A"/>
                </a:solidFill>
              </a:defRPr>
            </a:pPr>
            <a:r>
              <a:rPr sz="2850" b="1">
                <a:solidFill>
                  <a:srgbClr val="17202A"/>
                </a:solidFill>
              </a:rPr>
              <a:t>The H5 clue reversed by H10 and failed timing transport</a:t>
            </a:r>
          </a:p>
        </p:txBody>
      </p:sp>
      <p:sp>
        <p:nvSpPr>
          <p:cNvPr id="3" name="">
            <a:extLst xmlns:a="http://schemas.openxmlformats.org/drawingml/2006/main">
              <a:ext uri="{FF2B5EF4-FFF2-40B4-BE49-F238E27FC236}">
                <a16:creationId xmlns:a16="http://schemas.microsoft.com/office/drawing/2014/main" id="{ACCE80AA-09DD-453C-8A98-ABD2B1050C72}"/>
              </a:ext>
            </a:extLst>
          </p:cNvPr>
          <p:cNvSpPr>
            <a:spLocks xmlns:a="http://schemas.openxmlformats.org/drawingml/2006/main" noGrp="1"/>
          </p:cNvSpPr>
          <p:nvPr/>
        </p:nvSpPr>
        <p:spPr>
          <a:xfrm xmlns:a="http://schemas.openxmlformats.org/drawingml/2006/main">
            <a:off x="11334750" y="6429375"/>
            <a:ext cx="3333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825" b="0">
                <a:solidFill>
                  <a:srgbClr val="52606D"/>
                </a:solidFill>
              </a:defRPr>
            </a:pPr>
            <a:r>
              <a:rPr sz="825" b="0">
                <a:solidFill>
                  <a:srgbClr val="52606D"/>
                </a:solidFill>
              </a:rPr>
              <a:t>8</a:t>
            </a:r>
          </a:p>
        </p:txBody>
      </p:sp>
      <p:sp>
        <p:nvSpPr>
          <p:cNvPr id="4" name="">
            <a:extLst xmlns:a="http://schemas.openxmlformats.org/drawingml/2006/main">
              <a:ext uri="{FF2B5EF4-FFF2-40B4-BE49-F238E27FC236}">
                <a16:creationId xmlns:a16="http://schemas.microsoft.com/office/drawing/2014/main" id="{8F8FF71B-040D-4914-8617-F0E649D7CB43}"/>
              </a:ext>
            </a:extLst>
          </p:cNvPr>
          <p:cNvSpPr>
            <a:spLocks xmlns:a="http://schemas.openxmlformats.org/drawingml/2006/main" noGrp="1"/>
          </p:cNvSpPr>
          <p:nvPr/>
        </p:nvSpPr>
        <p:spPr>
          <a:xfrm xmlns:a="http://schemas.openxmlformats.org/drawingml/2006/main">
            <a:off x="428625" y="1381125"/>
            <a:ext cx="7524750" cy="4667250"/>
          </a:xfrm>
          <a:prstGeom xmlns:a="http://schemas.openxmlformats.org/drawingml/2006/main" prst="rect">
            <a:avLst/>
          </a:prstGeom>
          <a:solidFill xmlns:a="http://schemas.openxmlformats.org/drawingml/2006/main">
            <a:srgbClr val="FAFAFA"/>
          </a:solidFill>
          <a:ln xmlns:a="http://schemas.openxmlformats.org/drawingml/2006/main" w="9525">
            <a:solidFill>
              <a:srgbClr val="CCD3DA"/>
            </a:solidFill>
            <a:prstDash val="solid"/>
          </a:ln>
        </p:spPr>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8922019ff3654704"/>
          <a:stretch xmlns:a="http://schemas.openxmlformats.org/drawingml/2006/main"/>
        </p:blipFill>
        <p:spPr>
          <a:xfrm xmlns:a="http://schemas.openxmlformats.org/drawingml/2006/main">
            <a:off x="428625" y="1635543"/>
            <a:ext cx="7524750" cy="4158414"/>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0648C143-E3BD-4BB8-9A80-C66AEDC4D8B2}"/>
              </a:ext>
            </a:extLst>
          </p:cNvPr>
          <p:cNvSpPr>
            <a:spLocks xmlns:a="http://schemas.openxmlformats.org/drawingml/2006/main" noGrp="1"/>
          </p:cNvSpPr>
          <p:nvPr/>
        </p:nvSpPr>
        <p:spPr>
          <a:xfrm xmlns:a="http://schemas.openxmlformats.org/drawingml/2006/main">
            <a:off x="8191500" y="1428750"/>
            <a:ext cx="2857500" cy="1066800"/>
          </a:xfrm>
          <a:prstGeom xmlns:a="http://schemas.openxmlformats.org/drawingml/2006/main" prst="rect">
            <a:avLst/>
          </a:prstGeom>
          <a:solidFill xmlns:a="http://schemas.openxmlformats.org/drawingml/2006/main">
            <a:srgbClr val="FBE9E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BA2AB661-E800-472C-8A9C-4E08111BF3CB}"/>
              </a:ext>
            </a:extLst>
          </p:cNvPr>
          <p:cNvSpPr>
            <a:spLocks xmlns:a="http://schemas.openxmlformats.org/drawingml/2006/main" noGrp="1"/>
          </p:cNvSpPr>
          <p:nvPr/>
        </p:nvSpPr>
        <p:spPr>
          <a:xfrm xmlns:a="http://schemas.openxmlformats.org/drawingml/2006/main">
            <a:off x="8420100" y="1571625"/>
            <a:ext cx="2400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D95F59"/>
                </a:solidFill>
              </a:defRPr>
            </a:pPr>
            <a:r>
              <a:rPr sz="2325" b="1">
                <a:solidFill>
                  <a:srgbClr val="D95F59"/>
                </a:solidFill>
              </a:rPr>
              <a:t>−0.247 pp</a:t>
            </a:r>
          </a:p>
        </p:txBody>
      </p:sp>
      <p:sp>
        <p:nvSpPr>
          <p:cNvPr id="8" name="">
            <a:extLst xmlns:a="http://schemas.openxmlformats.org/drawingml/2006/main">
              <a:ext uri="{FF2B5EF4-FFF2-40B4-BE49-F238E27FC236}">
                <a16:creationId xmlns:a16="http://schemas.microsoft.com/office/drawing/2014/main" id="{002751DB-EF72-402E-AA38-E7EC036B6A81}"/>
              </a:ext>
            </a:extLst>
          </p:cNvPr>
          <p:cNvSpPr>
            <a:spLocks xmlns:a="http://schemas.openxmlformats.org/drawingml/2006/main" noGrp="1"/>
          </p:cNvSpPr>
          <p:nvPr/>
        </p:nvSpPr>
        <p:spPr>
          <a:xfrm xmlns:a="http://schemas.openxmlformats.org/drawingml/2006/main">
            <a:off x="8420100" y="2047875"/>
            <a:ext cx="24003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52606D"/>
                </a:solidFill>
              </a:defRPr>
            </a:pPr>
            <a:r>
              <a:rPr sz="1275" b="0">
                <a:solidFill>
                  <a:srgbClr val="52606D"/>
                </a:solidFill>
              </a:rPr>
              <a:t>H10 field-return gap</a:t>
            </a:r>
          </a:p>
        </p:txBody>
      </p:sp>
      <p:sp>
        <p:nvSpPr>
          <p:cNvPr id="9" name="">
            <a:extLst xmlns:a="http://schemas.openxmlformats.org/drawingml/2006/main">
              <a:ext uri="{FF2B5EF4-FFF2-40B4-BE49-F238E27FC236}">
                <a16:creationId xmlns:a16="http://schemas.microsoft.com/office/drawing/2014/main" id="{C6C3A07F-F996-44C8-9BC8-8377051A20A1}"/>
              </a:ext>
            </a:extLst>
          </p:cNvPr>
          <p:cNvSpPr>
            <a:spLocks xmlns:a="http://schemas.openxmlformats.org/drawingml/2006/main" noGrp="1"/>
          </p:cNvSpPr>
          <p:nvPr/>
        </p:nvSpPr>
        <p:spPr>
          <a:xfrm xmlns:a="http://schemas.openxmlformats.org/drawingml/2006/main">
            <a:off x="8191500" y="2590800"/>
            <a:ext cx="2857500" cy="1066800"/>
          </a:xfrm>
          <a:prstGeom xmlns:a="http://schemas.openxmlformats.org/drawingml/2006/main" prst="rect">
            <a:avLst/>
          </a:prstGeom>
          <a:solidFill xmlns:a="http://schemas.openxmlformats.org/drawingml/2006/main">
            <a:srgbClr val="FBE9E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B845ADBC-C58A-4762-AF3A-54A8344F7957}"/>
              </a:ext>
            </a:extLst>
          </p:cNvPr>
          <p:cNvSpPr>
            <a:spLocks xmlns:a="http://schemas.openxmlformats.org/drawingml/2006/main" noGrp="1"/>
          </p:cNvSpPr>
          <p:nvPr/>
        </p:nvSpPr>
        <p:spPr>
          <a:xfrm xmlns:a="http://schemas.openxmlformats.org/drawingml/2006/main">
            <a:off x="8420100" y="2733675"/>
            <a:ext cx="2400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D95F59"/>
                </a:solidFill>
              </a:defRPr>
            </a:pPr>
            <a:r>
              <a:rPr sz="2325" b="1">
                <a:solidFill>
                  <a:srgbClr val="D95F59"/>
                </a:solidFill>
              </a:rPr>
              <a:t>−8.750 pp</a:t>
            </a:r>
          </a:p>
        </p:txBody>
      </p:sp>
      <p:sp>
        <p:nvSpPr>
          <p:cNvPr id="11" name="">
            <a:extLst xmlns:a="http://schemas.openxmlformats.org/drawingml/2006/main">
              <a:ext uri="{FF2B5EF4-FFF2-40B4-BE49-F238E27FC236}">
                <a16:creationId xmlns:a16="http://schemas.microsoft.com/office/drawing/2014/main" id="{D26E9767-474C-46A2-AA95-46526267E920}"/>
              </a:ext>
            </a:extLst>
          </p:cNvPr>
          <p:cNvSpPr>
            <a:spLocks xmlns:a="http://schemas.openxmlformats.org/drawingml/2006/main" noGrp="1"/>
          </p:cNvSpPr>
          <p:nvPr/>
        </p:nvSpPr>
        <p:spPr>
          <a:xfrm xmlns:a="http://schemas.openxmlformats.org/drawingml/2006/main">
            <a:off x="8420100" y="3209925"/>
            <a:ext cx="24003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52606D"/>
                </a:solidFill>
              </a:defRPr>
            </a:pPr>
            <a:r>
              <a:rPr sz="1275" b="0">
                <a:solidFill>
                  <a:srgbClr val="52606D"/>
                </a:solidFill>
              </a:rPr>
              <a:t>H10 participation gap</a:t>
            </a:r>
          </a:p>
        </p:txBody>
      </p:sp>
      <p:sp>
        <p:nvSpPr>
          <p:cNvPr id="12" name="">
            <a:extLst xmlns:a="http://schemas.openxmlformats.org/drawingml/2006/main">
              <a:ext uri="{FF2B5EF4-FFF2-40B4-BE49-F238E27FC236}">
                <a16:creationId xmlns:a16="http://schemas.microsoft.com/office/drawing/2014/main" id="{6CD93BFC-55FE-4B9B-BB36-F13832E68ECF}"/>
              </a:ext>
            </a:extLst>
          </p:cNvPr>
          <p:cNvSpPr>
            <a:spLocks xmlns:a="http://schemas.openxmlformats.org/drawingml/2006/main" noGrp="1"/>
          </p:cNvSpPr>
          <p:nvPr/>
        </p:nvSpPr>
        <p:spPr>
          <a:xfrm xmlns:a="http://schemas.openxmlformats.org/drawingml/2006/main">
            <a:off x="8191500" y="3752850"/>
            <a:ext cx="2857500" cy="1066800"/>
          </a:xfrm>
          <a:prstGeom xmlns:a="http://schemas.openxmlformats.org/drawingml/2006/main" prst="rect">
            <a:avLst/>
          </a:prstGeom>
          <a:solidFill xmlns:a="http://schemas.openxmlformats.org/drawingml/2006/main">
            <a:srgbClr val="FBE9E7"/>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1D7B1F54-DCD5-4123-9D08-7BFB2908BF20}"/>
              </a:ext>
            </a:extLst>
          </p:cNvPr>
          <p:cNvSpPr>
            <a:spLocks xmlns:a="http://schemas.openxmlformats.org/drawingml/2006/main" noGrp="1"/>
          </p:cNvSpPr>
          <p:nvPr/>
        </p:nvSpPr>
        <p:spPr>
          <a:xfrm xmlns:a="http://schemas.openxmlformats.org/drawingml/2006/main">
            <a:off x="8420100" y="3895725"/>
            <a:ext cx="2400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D95F59"/>
                </a:solidFill>
              </a:defRPr>
            </a:pPr>
            <a:r>
              <a:rPr sz="2325" b="1">
                <a:solidFill>
                  <a:srgbClr val="D95F59"/>
                </a:solidFill>
              </a:rPr>
              <a:t>2 / 10</a:t>
            </a:r>
          </a:p>
        </p:txBody>
      </p:sp>
      <p:sp>
        <p:nvSpPr>
          <p:cNvPr id="14" name="">
            <a:extLst xmlns:a="http://schemas.openxmlformats.org/drawingml/2006/main">
              <a:ext uri="{FF2B5EF4-FFF2-40B4-BE49-F238E27FC236}">
                <a16:creationId xmlns:a16="http://schemas.microsoft.com/office/drawing/2014/main" id="{D149A003-9DF9-4FB1-943F-651C7F578792}"/>
              </a:ext>
            </a:extLst>
          </p:cNvPr>
          <p:cNvSpPr>
            <a:spLocks xmlns:a="http://schemas.openxmlformats.org/drawingml/2006/main" noGrp="1"/>
          </p:cNvSpPr>
          <p:nvPr/>
        </p:nvSpPr>
        <p:spPr>
          <a:xfrm xmlns:a="http://schemas.openxmlformats.org/drawingml/2006/main">
            <a:off x="8420100" y="4371975"/>
            <a:ext cx="24003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52606D"/>
                </a:solidFill>
              </a:defRPr>
            </a:pPr>
            <a:r>
              <a:rPr sz="1275" b="0">
                <a:solidFill>
                  <a:srgbClr val="52606D"/>
                </a:solidFill>
              </a:rPr>
              <a:t>H10 offsets jointly positive</a:t>
            </a:r>
          </a:p>
        </p:txBody>
      </p:sp>
      <p:sp>
        <p:nvSpPr>
          <p:cNvPr id="15" name="">
            <a:extLst xmlns:a="http://schemas.openxmlformats.org/drawingml/2006/main">
              <a:ext uri="{FF2B5EF4-FFF2-40B4-BE49-F238E27FC236}">
                <a16:creationId xmlns:a16="http://schemas.microsoft.com/office/drawing/2014/main" id="{F1B24C6E-056F-4ACD-BF79-CB3A3D6B3ADC}"/>
              </a:ext>
            </a:extLst>
          </p:cNvPr>
          <p:cNvSpPr>
            <a:spLocks xmlns:a="http://schemas.openxmlformats.org/drawingml/2006/main" noGrp="1"/>
          </p:cNvSpPr>
          <p:nvPr/>
        </p:nvSpPr>
        <p:spPr>
          <a:xfrm xmlns:a="http://schemas.openxmlformats.org/drawingml/2006/main">
            <a:off x="8096250" y="5143500"/>
            <a:ext cx="3476625" cy="819150"/>
          </a:xfrm>
          <a:prstGeom xmlns:a="http://schemas.openxmlformats.org/drawingml/2006/main" prst="rect">
            <a:avLst/>
          </a:prstGeom>
          <a:solidFill xmlns:a="http://schemas.openxmlformats.org/drawingml/2006/main">
            <a:srgbClr val="FFF1E3"/>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149E2539-2058-418A-BB26-4D0934B66A72}"/>
              </a:ext>
            </a:extLst>
          </p:cNvPr>
          <p:cNvSpPr>
            <a:spLocks xmlns:a="http://schemas.openxmlformats.org/drawingml/2006/main" noGrp="1"/>
          </p:cNvSpPr>
          <p:nvPr/>
        </p:nvSpPr>
        <p:spPr>
          <a:xfrm xmlns:a="http://schemas.openxmlformats.org/drawingml/2006/main">
            <a:off x="8362950" y="5305425"/>
            <a:ext cx="2952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1">
                <a:solidFill>
                  <a:srgbClr val="F2A65A"/>
                </a:solidFill>
              </a:defRPr>
            </a:pPr>
            <a:r>
              <a:rPr sz="1350" b="1">
                <a:solidFill>
                  <a:srgbClr val="F2A65A"/>
                </a:solidFill>
              </a:rPr>
              <a:t>Only the first two H10 offsets were positive; the remaining eight were negative.</a:t>
            </a:r>
          </a:p>
        </p:txBody>
      </p:sp>
    </p:spTree>
    <p:extLst>
      <p:ext uri="{BB962C8B-B14F-4D97-AF65-F5344CB8AC3E}">
        <p14:creationId xmlns:p14="http://schemas.microsoft.com/office/powerpoint/2010/main" val="211242603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D8A9C3BE-CD36-4710-92F3-5BBD54945423}"/>
              </a:ext>
            </a:extLst>
          </p:cNvPr>
          <p:cNvSpPr>
            <a:spLocks xmlns:a="http://schemas.openxmlformats.org/drawingml/2006/main" noGrp="1"/>
          </p:cNvSpPr>
          <p:nvPr/>
        </p:nvSpPr>
        <p:spPr>
          <a:xfrm xmlns:a="http://schemas.openxmlformats.org/drawingml/2006/main">
            <a:off x="476250" y="266700"/>
            <a:ext cx="3905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3D8DFF"/>
                </a:solidFill>
              </a:defRPr>
            </a:pPr>
            <a:r>
              <a:rPr sz="1050" b="1">
                <a:solidFill>
                  <a:srgbClr val="3D8DFF"/>
                </a:solidFill>
              </a:rPr>
              <a:t>CONTINUATION VS REVERSAL</a:t>
            </a:r>
          </a:p>
        </p:txBody>
      </p:sp>
      <p:sp>
        <p:nvSpPr>
          <p:cNvPr id="2" name="">
            <a:extLst xmlns:a="http://schemas.openxmlformats.org/drawingml/2006/main">
              <a:ext uri="{FF2B5EF4-FFF2-40B4-BE49-F238E27FC236}">
                <a16:creationId xmlns:a16="http://schemas.microsoft.com/office/drawing/2014/main" id="{92A12D6E-3D96-45F3-8A89-86DCCC3E5BCC}"/>
              </a:ext>
            </a:extLst>
          </p:cNvPr>
          <p:cNvSpPr>
            <a:spLocks xmlns:a="http://schemas.openxmlformats.org/drawingml/2006/main" noGrp="1"/>
          </p:cNvSpPr>
          <p:nvPr/>
        </p:nvSpPr>
        <p:spPr>
          <a:xfrm xmlns:a="http://schemas.openxmlformats.org/drawingml/2006/main">
            <a:off x="476250" y="590550"/>
            <a:ext cx="10953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17202A"/>
                </a:solidFill>
              </a:defRPr>
            </a:pPr>
            <a:r>
              <a:rPr sz="2850" b="1">
                <a:solidFill>
                  <a:srgbClr val="17202A"/>
                </a:solidFill>
              </a:rPr>
              <a:t>Fast/slow agreement described context but did not predict persistence</a:t>
            </a:r>
          </a:p>
        </p:txBody>
      </p:sp>
      <p:sp>
        <p:nvSpPr>
          <p:cNvPr id="3" name="">
            <a:extLst xmlns:a="http://schemas.openxmlformats.org/drawingml/2006/main">
              <a:ext uri="{FF2B5EF4-FFF2-40B4-BE49-F238E27FC236}">
                <a16:creationId xmlns:a16="http://schemas.microsoft.com/office/drawing/2014/main" id="{D7644F34-56FA-469C-86F5-8A80C72D15A5}"/>
              </a:ext>
            </a:extLst>
          </p:cNvPr>
          <p:cNvSpPr>
            <a:spLocks xmlns:a="http://schemas.openxmlformats.org/drawingml/2006/main" noGrp="1"/>
          </p:cNvSpPr>
          <p:nvPr/>
        </p:nvSpPr>
        <p:spPr>
          <a:xfrm xmlns:a="http://schemas.openxmlformats.org/drawingml/2006/main">
            <a:off x="11334750" y="6429375"/>
            <a:ext cx="3333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825" b="0">
                <a:solidFill>
                  <a:srgbClr val="52606D"/>
                </a:solidFill>
              </a:defRPr>
            </a:pPr>
            <a:r>
              <a:rPr sz="825" b="0">
                <a:solidFill>
                  <a:srgbClr val="52606D"/>
                </a:solidFill>
              </a:rPr>
              <a:t>9</a:t>
            </a:r>
          </a:p>
        </p:txBody>
      </p:sp>
      <p:sp>
        <p:nvSpPr>
          <p:cNvPr id="4" name="">
            <a:extLst xmlns:a="http://schemas.openxmlformats.org/drawingml/2006/main">
              <a:ext uri="{FF2B5EF4-FFF2-40B4-BE49-F238E27FC236}">
                <a16:creationId xmlns:a16="http://schemas.microsoft.com/office/drawing/2014/main" id="{06BC980B-B043-477B-8407-A401C4CC1750}"/>
              </a:ext>
            </a:extLst>
          </p:cNvPr>
          <p:cNvSpPr>
            <a:spLocks xmlns:a="http://schemas.openxmlformats.org/drawingml/2006/main" noGrp="1"/>
          </p:cNvSpPr>
          <p:nvPr/>
        </p:nvSpPr>
        <p:spPr>
          <a:xfrm xmlns:a="http://schemas.openxmlformats.org/drawingml/2006/main">
            <a:off x="428625" y="1381125"/>
            <a:ext cx="7524750" cy="4667250"/>
          </a:xfrm>
          <a:prstGeom xmlns:a="http://schemas.openxmlformats.org/drawingml/2006/main" prst="rect">
            <a:avLst/>
          </a:prstGeom>
          <a:solidFill xmlns:a="http://schemas.openxmlformats.org/drawingml/2006/main">
            <a:srgbClr val="FAFAFA"/>
          </a:solidFill>
          <a:ln xmlns:a="http://schemas.openxmlformats.org/drawingml/2006/main" w="9525">
            <a:solidFill>
              <a:srgbClr val="CCD3DA"/>
            </a:solidFill>
            <a:prstDash val="solid"/>
          </a:ln>
        </p:spPr>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88ccce877cab4d07"/>
          <a:stretch xmlns:a="http://schemas.openxmlformats.org/drawingml/2006/main"/>
        </p:blipFill>
        <p:spPr>
          <a:xfrm xmlns:a="http://schemas.openxmlformats.org/drawingml/2006/main">
            <a:off x="428625" y="1635543"/>
            <a:ext cx="7524750" cy="4158414"/>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0FFA6C06-EB04-474A-B0AA-B61F1FA22B83}"/>
              </a:ext>
            </a:extLst>
          </p:cNvPr>
          <p:cNvSpPr>
            <a:spLocks xmlns:a="http://schemas.openxmlformats.org/drawingml/2006/main" noGrp="1"/>
          </p:cNvSpPr>
          <p:nvPr/>
        </p:nvSpPr>
        <p:spPr>
          <a:xfrm xmlns:a="http://schemas.openxmlformats.org/drawingml/2006/main">
            <a:off x="8191500" y="1428750"/>
            <a:ext cx="2857500" cy="1066800"/>
          </a:xfrm>
          <a:prstGeom xmlns:a="http://schemas.openxmlformats.org/drawingml/2006/main" prst="rect">
            <a:avLst/>
          </a:prstGeom>
          <a:solidFill xmlns:a="http://schemas.openxmlformats.org/drawingml/2006/main">
            <a:srgbClr val="FFF1E3"/>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C25F0558-79A3-425A-9A00-06BF28AE6582}"/>
              </a:ext>
            </a:extLst>
          </p:cNvPr>
          <p:cNvSpPr>
            <a:spLocks xmlns:a="http://schemas.openxmlformats.org/drawingml/2006/main" noGrp="1"/>
          </p:cNvSpPr>
          <p:nvPr/>
        </p:nvSpPr>
        <p:spPr>
          <a:xfrm xmlns:a="http://schemas.openxmlformats.org/drawingml/2006/main">
            <a:off x="8420100" y="1571625"/>
            <a:ext cx="2400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F2A65A"/>
                </a:solidFill>
              </a:defRPr>
            </a:pPr>
            <a:r>
              <a:rPr sz="2325" b="1">
                <a:solidFill>
                  <a:srgbClr val="F2A65A"/>
                </a:solidFill>
              </a:rPr>
              <a:t>ρ = +0.020</a:t>
            </a:r>
          </a:p>
        </p:txBody>
      </p:sp>
      <p:sp>
        <p:nvSpPr>
          <p:cNvPr id="8" name="">
            <a:extLst xmlns:a="http://schemas.openxmlformats.org/drawingml/2006/main">
              <a:ext uri="{FF2B5EF4-FFF2-40B4-BE49-F238E27FC236}">
                <a16:creationId xmlns:a16="http://schemas.microsoft.com/office/drawing/2014/main" id="{05466BA8-7AC3-41CC-B402-3659B307F9B5}"/>
              </a:ext>
            </a:extLst>
          </p:cNvPr>
          <p:cNvSpPr>
            <a:spLocks xmlns:a="http://schemas.openxmlformats.org/drawingml/2006/main" noGrp="1"/>
          </p:cNvSpPr>
          <p:nvPr/>
        </p:nvSpPr>
        <p:spPr>
          <a:xfrm xmlns:a="http://schemas.openxmlformats.org/drawingml/2006/main">
            <a:off x="8420100" y="2047875"/>
            <a:ext cx="24003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52606D"/>
                </a:solidFill>
              </a:defRPr>
            </a:pPr>
            <a:r>
              <a:rPr sz="1275" b="0">
                <a:solidFill>
                  <a:srgbClr val="52606D"/>
                </a:solidFill>
              </a:rPr>
              <a:t>alignment vs H5 signed persistence</a:t>
            </a:r>
          </a:p>
        </p:txBody>
      </p:sp>
      <p:sp>
        <p:nvSpPr>
          <p:cNvPr id="9" name="">
            <a:extLst xmlns:a="http://schemas.openxmlformats.org/drawingml/2006/main">
              <a:ext uri="{FF2B5EF4-FFF2-40B4-BE49-F238E27FC236}">
                <a16:creationId xmlns:a16="http://schemas.microsoft.com/office/drawing/2014/main" id="{415C97E1-B7E4-48CC-B360-EC8EB3C32771}"/>
              </a:ext>
            </a:extLst>
          </p:cNvPr>
          <p:cNvSpPr>
            <a:spLocks xmlns:a="http://schemas.openxmlformats.org/drawingml/2006/main" noGrp="1"/>
          </p:cNvSpPr>
          <p:nvPr/>
        </p:nvSpPr>
        <p:spPr>
          <a:xfrm xmlns:a="http://schemas.openxmlformats.org/drawingml/2006/main">
            <a:off x="8191500" y="2590800"/>
            <a:ext cx="2857500" cy="1066800"/>
          </a:xfrm>
          <a:prstGeom xmlns:a="http://schemas.openxmlformats.org/drawingml/2006/main" prst="rect">
            <a:avLst/>
          </a:prstGeom>
          <a:solidFill xmlns:a="http://schemas.openxmlformats.org/drawingml/2006/main">
            <a:srgbClr val="EAF3FF"/>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5E589FAE-7D13-463B-BA85-05F1E3EDFF65}"/>
              </a:ext>
            </a:extLst>
          </p:cNvPr>
          <p:cNvSpPr>
            <a:spLocks xmlns:a="http://schemas.openxmlformats.org/drawingml/2006/main" noGrp="1"/>
          </p:cNvSpPr>
          <p:nvPr/>
        </p:nvSpPr>
        <p:spPr>
          <a:xfrm xmlns:a="http://schemas.openxmlformats.org/drawingml/2006/main">
            <a:off x="8420100" y="2733675"/>
            <a:ext cx="2400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3D8DFF"/>
                </a:solidFill>
              </a:defRPr>
            </a:pPr>
            <a:r>
              <a:rPr sz="2325" b="1">
                <a:solidFill>
                  <a:srgbClr val="3D8DFF"/>
                </a:solidFill>
              </a:rPr>
              <a:t>+0.355%</a:t>
            </a:r>
          </a:p>
        </p:txBody>
      </p:sp>
      <p:sp>
        <p:nvSpPr>
          <p:cNvPr id="11" name="">
            <a:extLst xmlns:a="http://schemas.openxmlformats.org/drawingml/2006/main">
              <a:ext uri="{FF2B5EF4-FFF2-40B4-BE49-F238E27FC236}">
                <a16:creationId xmlns:a16="http://schemas.microsoft.com/office/drawing/2014/main" id="{F50F275F-1898-46E3-B822-E142E0EB2575}"/>
              </a:ext>
            </a:extLst>
          </p:cNvPr>
          <p:cNvSpPr>
            <a:spLocks xmlns:a="http://schemas.openxmlformats.org/drawingml/2006/main" noGrp="1"/>
          </p:cNvSpPr>
          <p:nvPr/>
        </p:nvSpPr>
        <p:spPr>
          <a:xfrm xmlns:a="http://schemas.openxmlformats.org/drawingml/2006/main">
            <a:off x="8420100" y="3209925"/>
            <a:ext cx="24003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52606D"/>
                </a:solidFill>
              </a:defRPr>
            </a:pPr>
            <a:r>
              <a:rPr sz="1275" b="0">
                <a:solidFill>
                  <a:srgbClr val="52606D"/>
                </a:solidFill>
              </a:rPr>
              <a:t>UP CONTINUATION H5 median return</a:t>
            </a:r>
          </a:p>
        </p:txBody>
      </p:sp>
      <p:sp>
        <p:nvSpPr>
          <p:cNvPr id="12" name="">
            <a:extLst xmlns:a="http://schemas.openxmlformats.org/drawingml/2006/main">
              <a:ext uri="{FF2B5EF4-FFF2-40B4-BE49-F238E27FC236}">
                <a16:creationId xmlns:a16="http://schemas.microsoft.com/office/drawing/2014/main" id="{F826FE67-E34C-46FA-A308-7301919A31A5}"/>
              </a:ext>
            </a:extLst>
          </p:cNvPr>
          <p:cNvSpPr>
            <a:spLocks xmlns:a="http://schemas.openxmlformats.org/drawingml/2006/main" noGrp="1"/>
          </p:cNvSpPr>
          <p:nvPr/>
        </p:nvSpPr>
        <p:spPr>
          <a:xfrm xmlns:a="http://schemas.openxmlformats.org/drawingml/2006/main">
            <a:off x="8191500" y="3752850"/>
            <a:ext cx="2857500" cy="1066800"/>
          </a:xfrm>
          <a:prstGeom xmlns:a="http://schemas.openxmlformats.org/drawingml/2006/main" prst="rect">
            <a:avLst/>
          </a:prstGeom>
          <a:solidFill xmlns:a="http://schemas.openxmlformats.org/drawingml/2006/main">
            <a:srgbClr val="EAF3FF"/>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8A86BB8C-B308-4837-A1D7-492D8CF1340D}"/>
              </a:ext>
            </a:extLst>
          </p:cNvPr>
          <p:cNvSpPr>
            <a:spLocks xmlns:a="http://schemas.openxmlformats.org/drawingml/2006/main" noGrp="1"/>
          </p:cNvSpPr>
          <p:nvPr/>
        </p:nvSpPr>
        <p:spPr>
          <a:xfrm xmlns:a="http://schemas.openxmlformats.org/drawingml/2006/main">
            <a:off x="8420100" y="3895725"/>
            <a:ext cx="2400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3D8DFF"/>
                </a:solidFill>
              </a:defRPr>
            </a:pPr>
            <a:r>
              <a:rPr sz="2325" b="1">
                <a:solidFill>
                  <a:srgbClr val="3D8DFF"/>
                </a:solidFill>
              </a:rPr>
              <a:t>−0.431%</a:t>
            </a:r>
          </a:p>
        </p:txBody>
      </p:sp>
      <p:sp>
        <p:nvSpPr>
          <p:cNvPr id="14" name="">
            <a:extLst xmlns:a="http://schemas.openxmlformats.org/drawingml/2006/main">
              <a:ext uri="{FF2B5EF4-FFF2-40B4-BE49-F238E27FC236}">
                <a16:creationId xmlns:a16="http://schemas.microsoft.com/office/drawing/2014/main" id="{4B2984B3-5ED2-4597-8F04-8CBAAB8A8D61}"/>
              </a:ext>
            </a:extLst>
          </p:cNvPr>
          <p:cNvSpPr>
            <a:spLocks xmlns:a="http://schemas.openxmlformats.org/drawingml/2006/main" noGrp="1"/>
          </p:cNvSpPr>
          <p:nvPr/>
        </p:nvSpPr>
        <p:spPr>
          <a:xfrm xmlns:a="http://schemas.openxmlformats.org/drawingml/2006/main">
            <a:off x="8420100" y="4371975"/>
            <a:ext cx="24003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52606D"/>
                </a:solidFill>
              </a:defRPr>
            </a:pPr>
            <a:r>
              <a:rPr sz="1275" b="0">
                <a:solidFill>
                  <a:srgbClr val="52606D"/>
                </a:solidFill>
              </a:rPr>
              <a:t>DOWN CONTINUATION H5 median return</a:t>
            </a:r>
          </a:p>
        </p:txBody>
      </p:sp>
      <p:sp>
        <p:nvSpPr>
          <p:cNvPr id="15" name="">
            <a:extLst xmlns:a="http://schemas.openxmlformats.org/drawingml/2006/main">
              <a:ext uri="{FF2B5EF4-FFF2-40B4-BE49-F238E27FC236}">
                <a16:creationId xmlns:a16="http://schemas.microsoft.com/office/drawing/2014/main" id="{F164E2D1-C96F-434F-AEC4-3F9ADBF31338}"/>
              </a:ext>
            </a:extLst>
          </p:cNvPr>
          <p:cNvSpPr>
            <a:spLocks xmlns:a="http://schemas.openxmlformats.org/drawingml/2006/main" noGrp="1"/>
          </p:cNvSpPr>
          <p:nvPr/>
        </p:nvSpPr>
        <p:spPr>
          <a:xfrm xmlns:a="http://schemas.openxmlformats.org/drawingml/2006/main">
            <a:off x="8096250" y="5143500"/>
            <a:ext cx="347662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425" b="1">
                <a:solidFill>
                  <a:srgbClr val="D95F59"/>
                </a:solidFill>
              </a:defRPr>
            </a:pPr>
            <a:r>
              <a:rPr sz="1425" b="1">
                <a:solidFill>
                  <a:srgbClr val="D95F59"/>
                </a:solidFill>
              </a:rPr>
              <a:t>The labels are intuitive summaries of what was happening; alignment added almost no forward discrimination.</a:t>
            </a:r>
          </a:p>
        </p:txBody>
      </p:sp>
    </p:spTree>
    <p:extLst>
      <p:ext uri="{BB962C8B-B14F-4D97-AF65-F5344CB8AC3E}">
        <p14:creationId xmlns:p14="http://schemas.microsoft.com/office/powerpoint/2010/main" val="744358603"/>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E45CBBF9-885F-4176-9AE7-0AC17F42DE7F}"/>
              </a:ext>
            </a:extLst>
          </p:cNvPr>
          <p:cNvSpPr>
            <a:spLocks xmlns:a="http://schemas.openxmlformats.org/drawingml/2006/main" noGrp="1"/>
          </p:cNvSpPr>
          <p:nvPr/>
        </p:nvSpPr>
        <p:spPr>
          <a:xfrm xmlns:a="http://schemas.openxmlformats.org/drawingml/2006/main">
            <a:off x="476250" y="266700"/>
            <a:ext cx="3905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3D8DFF"/>
                </a:solidFill>
              </a:defRPr>
            </a:pPr>
            <a:r>
              <a:rPr sz="1050" b="1">
                <a:solidFill>
                  <a:srgbClr val="3D8DFF"/>
                </a:solidFill>
              </a:rPr>
              <a:t>FALSIFICATION SURFACES</a:t>
            </a:r>
          </a:p>
        </p:txBody>
      </p:sp>
      <p:sp>
        <p:nvSpPr>
          <p:cNvPr id="2" name="">
            <a:extLst xmlns:a="http://schemas.openxmlformats.org/drawingml/2006/main">
              <a:ext uri="{FF2B5EF4-FFF2-40B4-BE49-F238E27FC236}">
                <a16:creationId xmlns:a16="http://schemas.microsoft.com/office/drawing/2014/main" id="{129870A7-78FA-43AF-8CD0-090F5E77E298}"/>
              </a:ext>
            </a:extLst>
          </p:cNvPr>
          <p:cNvSpPr>
            <a:spLocks xmlns:a="http://schemas.openxmlformats.org/drawingml/2006/main" noGrp="1"/>
          </p:cNvSpPr>
          <p:nvPr/>
        </p:nvSpPr>
        <p:spPr>
          <a:xfrm xmlns:a="http://schemas.openxmlformats.org/drawingml/2006/main">
            <a:off x="476250" y="590550"/>
            <a:ext cx="10953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17202A"/>
                </a:solidFill>
              </a:defRPr>
            </a:pPr>
            <a:r>
              <a:rPr sz="2850" b="1">
                <a:solidFill>
                  <a:srgbClr val="17202A"/>
                </a:solidFill>
              </a:rPr>
              <a:t>Time stability and SPY transport both rejected promotion</a:t>
            </a:r>
          </a:p>
        </p:txBody>
      </p:sp>
      <p:sp>
        <p:nvSpPr>
          <p:cNvPr id="3" name="">
            <a:extLst xmlns:a="http://schemas.openxmlformats.org/drawingml/2006/main">
              <a:ext uri="{FF2B5EF4-FFF2-40B4-BE49-F238E27FC236}">
                <a16:creationId xmlns:a16="http://schemas.microsoft.com/office/drawing/2014/main" id="{E6152370-09AA-4D01-8248-76DEC5F642A8}"/>
              </a:ext>
            </a:extLst>
          </p:cNvPr>
          <p:cNvSpPr>
            <a:spLocks xmlns:a="http://schemas.openxmlformats.org/drawingml/2006/main" noGrp="1"/>
          </p:cNvSpPr>
          <p:nvPr/>
        </p:nvSpPr>
        <p:spPr>
          <a:xfrm xmlns:a="http://schemas.openxmlformats.org/drawingml/2006/main">
            <a:off x="11334750" y="6429375"/>
            <a:ext cx="3333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825" b="0">
                <a:solidFill>
                  <a:srgbClr val="52606D"/>
                </a:solidFill>
              </a:defRPr>
            </a:pPr>
            <a:r>
              <a:rPr sz="825" b="0">
                <a:solidFill>
                  <a:srgbClr val="52606D"/>
                </a:solidFill>
              </a:rPr>
              <a:t>10</a:t>
            </a:r>
          </a:p>
        </p:txBody>
      </p:sp>
      <p:sp>
        <p:nvSpPr>
          <p:cNvPr id="4" name="">
            <a:extLst xmlns:a="http://schemas.openxmlformats.org/drawingml/2006/main">
              <a:ext uri="{FF2B5EF4-FFF2-40B4-BE49-F238E27FC236}">
                <a16:creationId xmlns:a16="http://schemas.microsoft.com/office/drawing/2014/main" id="{3789503B-7BB4-40F3-A507-5EC8C9EDFBB4}"/>
              </a:ext>
            </a:extLst>
          </p:cNvPr>
          <p:cNvSpPr>
            <a:spLocks xmlns:a="http://schemas.openxmlformats.org/drawingml/2006/main" noGrp="1"/>
          </p:cNvSpPr>
          <p:nvPr/>
        </p:nvSpPr>
        <p:spPr>
          <a:xfrm xmlns:a="http://schemas.openxmlformats.org/drawingml/2006/main">
            <a:off x="428625" y="1381125"/>
            <a:ext cx="5524500" cy="4524375"/>
          </a:xfrm>
          <a:prstGeom xmlns:a="http://schemas.openxmlformats.org/drawingml/2006/main" prst="rect">
            <a:avLst/>
          </a:prstGeom>
          <a:solidFill xmlns:a="http://schemas.openxmlformats.org/drawingml/2006/main">
            <a:srgbClr val="FAFAFA"/>
          </a:solidFill>
          <a:ln xmlns:a="http://schemas.openxmlformats.org/drawingml/2006/main" w="9525">
            <a:solidFill>
              <a:srgbClr val="CCD3DA"/>
            </a:solidFill>
            <a:prstDash val="solid"/>
          </a:ln>
        </p:spPr>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486cca21c104453e"/>
          <a:stretch xmlns:a="http://schemas.openxmlformats.org/drawingml/2006/main"/>
        </p:blipFill>
        <p:spPr>
          <a:xfrm xmlns:a="http://schemas.openxmlformats.org/drawingml/2006/main">
            <a:off x="428625" y="2116806"/>
            <a:ext cx="5524500" cy="3053013"/>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C583124E-D209-4C68-AE60-1853BEF5BC97}"/>
              </a:ext>
            </a:extLst>
          </p:cNvPr>
          <p:cNvSpPr>
            <a:spLocks xmlns:a="http://schemas.openxmlformats.org/drawingml/2006/main" noGrp="1"/>
          </p:cNvSpPr>
          <p:nvPr/>
        </p:nvSpPr>
        <p:spPr>
          <a:xfrm xmlns:a="http://schemas.openxmlformats.org/drawingml/2006/main">
            <a:off x="6238875" y="1381125"/>
            <a:ext cx="5524500" cy="4524375"/>
          </a:xfrm>
          <a:prstGeom xmlns:a="http://schemas.openxmlformats.org/drawingml/2006/main" prst="rect">
            <a:avLst/>
          </a:prstGeom>
          <a:solidFill xmlns:a="http://schemas.openxmlformats.org/drawingml/2006/main">
            <a:srgbClr val="FAFAFA"/>
          </a:solidFill>
          <a:ln xmlns:a="http://schemas.openxmlformats.org/drawingml/2006/main" w="9525">
            <a:solidFill>
              <a:srgbClr val="CCD3DA"/>
            </a:solidFill>
            <a:prstDash val="solid"/>
          </a:ln>
        </p:spPr>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28b03220b01f413e"/>
          <a:stretch xmlns:a="http://schemas.openxmlformats.org/drawingml/2006/main"/>
        </p:blipFill>
        <p:spPr>
          <a:xfrm xmlns:a="http://schemas.openxmlformats.org/drawingml/2006/main">
            <a:off x="6238875" y="2116806"/>
            <a:ext cx="5524500" cy="3053013"/>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05D96990-2D65-4788-A37B-817F1B7B78BB}"/>
              </a:ext>
            </a:extLst>
          </p:cNvPr>
          <p:cNvSpPr>
            <a:spLocks xmlns:a="http://schemas.openxmlformats.org/drawingml/2006/main" noGrp="1"/>
          </p:cNvSpPr>
          <p:nvPr/>
        </p:nvSpPr>
        <p:spPr>
          <a:xfrm xmlns:a="http://schemas.openxmlformats.org/drawingml/2006/main">
            <a:off x="619125" y="6048375"/>
            <a:ext cx="4953000" cy="400050"/>
          </a:xfrm>
          <a:prstGeom xmlns:a="http://schemas.openxmlformats.org/drawingml/2006/main" prst="rect">
            <a:avLst/>
          </a:prstGeom>
          <a:solidFill xmlns:a="http://schemas.openxmlformats.org/drawingml/2006/main">
            <a:srgbClr val="FBE9E7"/>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4D787D97-789D-4DF8-8544-2392727C294A}"/>
              </a:ext>
            </a:extLst>
          </p:cNvPr>
          <p:cNvSpPr>
            <a:spLocks xmlns:a="http://schemas.openxmlformats.org/drawingml/2006/main" noGrp="1"/>
          </p:cNvSpPr>
          <p:nvPr/>
        </p:nvSpPr>
        <p:spPr>
          <a:xfrm xmlns:a="http://schemas.openxmlformats.org/drawingml/2006/main">
            <a:off x="762000" y="6134100"/>
            <a:ext cx="4667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75" b="1">
                <a:solidFill>
                  <a:srgbClr val="D95F59"/>
                </a:solidFill>
              </a:defRPr>
            </a:pPr>
            <a:r>
              <a:rPr sz="1275" b="1">
                <a:solidFill>
                  <a:srgbClr val="D95F59"/>
                </a:solidFill>
              </a:rPr>
              <a:t>2/6 direction years · 2/6 positive-impulse years</a:t>
            </a:r>
          </a:p>
        </p:txBody>
      </p:sp>
      <p:sp>
        <p:nvSpPr>
          <p:cNvPr id="10" name="">
            <a:extLst xmlns:a="http://schemas.openxmlformats.org/drawingml/2006/main">
              <a:ext uri="{FF2B5EF4-FFF2-40B4-BE49-F238E27FC236}">
                <a16:creationId xmlns:a16="http://schemas.microsoft.com/office/drawing/2014/main" id="{61089BB0-F000-4AD5-8798-F0EBAF684230}"/>
              </a:ext>
            </a:extLst>
          </p:cNvPr>
          <p:cNvSpPr>
            <a:spLocks xmlns:a="http://schemas.openxmlformats.org/drawingml/2006/main" noGrp="1"/>
          </p:cNvSpPr>
          <p:nvPr/>
        </p:nvSpPr>
        <p:spPr>
          <a:xfrm xmlns:a="http://schemas.openxmlformats.org/drawingml/2006/main">
            <a:off x="6429375" y="6048375"/>
            <a:ext cx="4953000" cy="400050"/>
          </a:xfrm>
          <a:prstGeom xmlns:a="http://schemas.openxmlformats.org/drawingml/2006/main" prst="rect">
            <a:avLst/>
          </a:prstGeom>
          <a:solidFill xmlns:a="http://schemas.openxmlformats.org/drawingml/2006/main">
            <a:srgbClr val="FBE9E7"/>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8241E266-578A-45E8-AA53-850875E4354C}"/>
              </a:ext>
            </a:extLst>
          </p:cNvPr>
          <p:cNvSpPr>
            <a:spLocks xmlns:a="http://schemas.openxmlformats.org/drawingml/2006/main" noGrp="1"/>
          </p:cNvSpPr>
          <p:nvPr/>
        </p:nvSpPr>
        <p:spPr>
          <a:xfrm xmlns:a="http://schemas.openxmlformats.org/drawingml/2006/main">
            <a:off x="6572250" y="6134100"/>
            <a:ext cx="4667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75" b="1">
                <a:solidFill>
                  <a:srgbClr val="D95F59"/>
                </a:solidFill>
              </a:defRPr>
            </a:pPr>
            <a:r>
              <a:rPr sz="1275" b="1">
                <a:solidFill>
                  <a:srgbClr val="D95F59"/>
                </a:solidFill>
              </a:rPr>
              <a:t>SPY gap −0.082 pp · rho −0.030 · AUC 0.525</a:t>
            </a:r>
          </a:p>
        </p:txBody>
      </p:sp>
    </p:spTree>
    <p:extLst>
      <p:ext uri="{BB962C8B-B14F-4D97-AF65-F5344CB8AC3E}">
        <p14:creationId xmlns:p14="http://schemas.microsoft.com/office/powerpoint/2010/main" val="1521533461"/>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DAC831E9-3B98-4B8F-A40D-436BF1735D6D}"/>
              </a:ext>
            </a:extLst>
          </p:cNvPr>
          <p:cNvSpPr>
            <a:spLocks xmlns:a="http://schemas.openxmlformats.org/drawingml/2006/main" noGrp="1"/>
          </p:cNvSpPr>
          <p:nvPr/>
        </p:nvSpPr>
        <p:spPr>
          <a:xfrm xmlns:a="http://schemas.openxmlformats.org/drawingml/2006/main">
            <a:off x="476250" y="266700"/>
            <a:ext cx="3905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3D8DFF"/>
                </a:solidFill>
              </a:defRPr>
            </a:pPr>
            <a:r>
              <a:rPr sz="1050" b="1">
                <a:solidFill>
                  <a:srgbClr val="3D8DFF"/>
                </a:solidFill>
              </a:rPr>
              <a:t>DECISION BOUNDARY</a:t>
            </a:r>
          </a:p>
        </p:txBody>
      </p:sp>
      <p:sp>
        <p:nvSpPr>
          <p:cNvPr id="2" name="">
            <a:extLst xmlns:a="http://schemas.openxmlformats.org/drawingml/2006/main">
              <a:ext uri="{FF2B5EF4-FFF2-40B4-BE49-F238E27FC236}">
                <a16:creationId xmlns:a16="http://schemas.microsoft.com/office/drawing/2014/main" id="{B0D5464F-6205-4B6D-B670-1CFC05ECFB03}"/>
              </a:ext>
            </a:extLst>
          </p:cNvPr>
          <p:cNvSpPr>
            <a:spLocks xmlns:a="http://schemas.openxmlformats.org/drawingml/2006/main" noGrp="1"/>
          </p:cNvSpPr>
          <p:nvPr/>
        </p:nvSpPr>
        <p:spPr>
          <a:xfrm xmlns:a="http://schemas.openxmlformats.org/drawingml/2006/main">
            <a:off x="476250" y="590550"/>
            <a:ext cx="10953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17202A"/>
                </a:solidFill>
              </a:defRPr>
            </a:pPr>
            <a:r>
              <a:rPr sz="2850" b="1">
                <a:solidFill>
                  <a:srgbClr val="17202A"/>
                </a:solidFill>
              </a:rPr>
              <a:t>Keep ATR%; set down simple horizon-shortening</a:t>
            </a:r>
          </a:p>
        </p:txBody>
      </p:sp>
      <p:sp>
        <p:nvSpPr>
          <p:cNvPr id="3" name="">
            <a:extLst xmlns:a="http://schemas.openxmlformats.org/drawingml/2006/main">
              <a:ext uri="{FF2B5EF4-FFF2-40B4-BE49-F238E27FC236}">
                <a16:creationId xmlns:a16="http://schemas.microsoft.com/office/drawing/2014/main" id="{E05900AD-93CE-4BFA-B6DD-70FFCEE1EE5E}"/>
              </a:ext>
            </a:extLst>
          </p:cNvPr>
          <p:cNvSpPr>
            <a:spLocks xmlns:a="http://schemas.openxmlformats.org/drawingml/2006/main" noGrp="1"/>
          </p:cNvSpPr>
          <p:nvPr/>
        </p:nvSpPr>
        <p:spPr>
          <a:xfrm xmlns:a="http://schemas.openxmlformats.org/drawingml/2006/main">
            <a:off x="11334750" y="6429375"/>
            <a:ext cx="3333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825" b="0">
                <a:solidFill>
                  <a:srgbClr val="52606D"/>
                </a:solidFill>
              </a:defRPr>
            </a:pPr>
            <a:r>
              <a:rPr sz="825" b="0">
                <a:solidFill>
                  <a:srgbClr val="52606D"/>
                </a:solidFill>
              </a:rPr>
              <a:t>11</a:t>
            </a:r>
          </a:p>
        </p:txBody>
      </p:sp>
      <p:sp>
        <p:nvSpPr>
          <p:cNvPr id="4" name="">
            <a:extLst xmlns:a="http://schemas.openxmlformats.org/drawingml/2006/main">
              <a:ext uri="{FF2B5EF4-FFF2-40B4-BE49-F238E27FC236}">
                <a16:creationId xmlns:a16="http://schemas.microsoft.com/office/drawing/2014/main" id="{CE6E88A3-E3E1-4145-ABE8-A816ACF1A509}"/>
              </a:ext>
            </a:extLst>
          </p:cNvPr>
          <p:cNvSpPr>
            <a:spLocks xmlns:a="http://schemas.openxmlformats.org/drawingml/2006/main" noGrp="1"/>
          </p:cNvSpPr>
          <p:nvPr/>
        </p:nvSpPr>
        <p:spPr>
          <a:xfrm xmlns:a="http://schemas.openxmlformats.org/drawingml/2006/main">
            <a:off x="523875" y="1381125"/>
            <a:ext cx="3238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4950" b="1">
                <a:solidFill>
                  <a:srgbClr val="D95F59"/>
                </a:solidFill>
              </a:defRPr>
            </a:pPr>
            <a:r>
              <a:rPr sz="4950" b="1">
                <a:solidFill>
                  <a:srgbClr val="D95F59"/>
                </a:solidFill>
              </a:rPr>
              <a:t>1 / 10</a:t>
            </a:r>
          </a:p>
        </p:txBody>
      </p:sp>
      <p:sp>
        <p:nvSpPr>
          <p:cNvPr id="5" name="">
            <a:extLst xmlns:a="http://schemas.openxmlformats.org/drawingml/2006/main">
              <a:ext uri="{FF2B5EF4-FFF2-40B4-BE49-F238E27FC236}">
                <a16:creationId xmlns:a16="http://schemas.microsoft.com/office/drawing/2014/main" id="{8FD27205-25AA-443F-B337-D6B479C000F1}"/>
              </a:ext>
            </a:extLst>
          </p:cNvPr>
          <p:cNvSpPr>
            <a:spLocks xmlns:a="http://schemas.openxmlformats.org/drawingml/2006/main" noGrp="1"/>
          </p:cNvSpPr>
          <p:nvPr/>
        </p:nvSpPr>
        <p:spPr>
          <a:xfrm xmlns:a="http://schemas.openxmlformats.org/drawingml/2006/main">
            <a:off x="590550" y="2381250"/>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950" b="1">
                <a:solidFill>
                  <a:srgbClr val="17202A"/>
                </a:solidFill>
              </a:defRPr>
            </a:pPr>
            <a:r>
              <a:rPr sz="1950" b="1">
                <a:solidFill>
                  <a:srgbClr val="17202A"/>
                </a:solidFill>
              </a:rPr>
              <a:t>gates passed</a:t>
            </a:r>
          </a:p>
        </p:txBody>
      </p:sp>
      <p:sp>
        <p:nvSpPr>
          <p:cNvPr id="6" name="">
            <a:extLst xmlns:a="http://schemas.openxmlformats.org/drawingml/2006/main">
              <a:ext uri="{FF2B5EF4-FFF2-40B4-BE49-F238E27FC236}">
                <a16:creationId xmlns:a16="http://schemas.microsoft.com/office/drawing/2014/main" id="{CB3ED86E-2637-49E1-8780-FA0DAA75B367}"/>
              </a:ext>
            </a:extLst>
          </p:cNvPr>
          <p:cNvSpPr>
            <a:spLocks xmlns:a="http://schemas.openxmlformats.org/drawingml/2006/main" noGrp="1"/>
          </p:cNvSpPr>
          <p:nvPr/>
        </p:nvSpPr>
        <p:spPr>
          <a:xfrm xmlns:a="http://schemas.openxmlformats.org/drawingml/2006/main">
            <a:off x="495300" y="3286125"/>
            <a:ext cx="4905375" cy="1333500"/>
          </a:xfrm>
          <a:prstGeom xmlns:a="http://schemas.openxmlformats.org/drawingml/2006/main" prst="rect">
            <a:avLst/>
          </a:prstGeom>
          <a:solidFill xmlns:a="http://schemas.openxmlformats.org/drawingml/2006/main">
            <a:srgbClr val="FBE9E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A516BEA2-51F8-44E5-B9B8-0A59DD73E0FC}"/>
              </a:ext>
            </a:extLst>
          </p:cNvPr>
          <p:cNvSpPr>
            <a:spLocks xmlns:a="http://schemas.openxmlformats.org/drawingml/2006/main" noGrp="1"/>
          </p:cNvSpPr>
          <p:nvPr/>
        </p:nvSpPr>
        <p:spPr>
          <a:xfrm xmlns:a="http://schemas.openxmlformats.org/drawingml/2006/main">
            <a:off x="723900" y="3571875"/>
            <a:ext cx="442912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1">
                <a:solidFill>
                  <a:srgbClr val="D95F59"/>
                </a:solidFill>
              </a:defRPr>
            </a:pPr>
            <a:r>
              <a:rPr sz="1425" b="1">
                <a:solidFill>
                  <a:srgbClr val="D95F59"/>
                </a:solidFill>
              </a:rPr>
              <a:t>STOP_FAST_TREND_IMPULSE_GATES_FAILED</a:t>
            </a:r>
          </a:p>
          <a:p xmlns:a="http://schemas.openxmlformats.org/drawingml/2006/main">
            <a:pPr algn="l">
              <a:defRPr sz="1425" b="1">
                <a:solidFill>
                  <a:srgbClr val="D95F59"/>
                </a:solidFill>
              </a:defRPr>
            </a:pPr>
            <a:r>
              <a:rPr sz="1425" b="1">
                <a:solidFill>
                  <a:srgbClr val="D95F59"/>
                </a:solidFill>
              </a:rPr>
              <a:t>NO_CONFIRMATION_ATR_JOIN_OR_STRATEGY</a:t>
            </a:r>
          </a:p>
        </p:txBody>
      </p:sp>
      <p:sp>
        <p:nvSpPr>
          <p:cNvPr id="8" name="">
            <a:extLst xmlns:a="http://schemas.openxmlformats.org/drawingml/2006/main">
              <a:ext uri="{FF2B5EF4-FFF2-40B4-BE49-F238E27FC236}">
                <a16:creationId xmlns:a16="http://schemas.microsoft.com/office/drawing/2014/main" id="{CAE20567-FFB8-4791-A40E-779700E2D3A2}"/>
              </a:ext>
            </a:extLst>
          </p:cNvPr>
          <p:cNvSpPr>
            <a:spLocks xmlns:a="http://schemas.openxmlformats.org/drawingml/2006/main" noGrp="1"/>
          </p:cNvSpPr>
          <p:nvPr/>
        </p:nvSpPr>
        <p:spPr>
          <a:xfrm xmlns:a="http://schemas.openxmlformats.org/drawingml/2006/main">
            <a:off x="590550" y="5191125"/>
            <a:ext cx="3810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1">
                <a:solidFill>
                  <a:srgbClr val="2E8B57"/>
                </a:solidFill>
              </a:defRPr>
            </a:pPr>
            <a:r>
              <a:rPr sz="1725" b="1">
                <a:solidFill>
                  <a:srgbClr val="2E8B57"/>
                </a:solidFill>
              </a:rPr>
              <a:t>2024+ remained sealed</a:t>
            </a:r>
          </a:p>
        </p:txBody>
      </p:sp>
      <p:sp>
        <p:nvSpPr>
          <p:cNvPr id="9" name="">
            <a:extLst xmlns:a="http://schemas.openxmlformats.org/drawingml/2006/main">
              <a:ext uri="{FF2B5EF4-FFF2-40B4-BE49-F238E27FC236}">
                <a16:creationId xmlns:a16="http://schemas.microsoft.com/office/drawing/2014/main" id="{09CF0225-522C-40B7-8941-BE9D17429112}"/>
              </a:ext>
            </a:extLst>
          </p:cNvPr>
          <p:cNvSpPr>
            <a:spLocks xmlns:a="http://schemas.openxmlformats.org/drawingml/2006/main" noGrp="1"/>
          </p:cNvSpPr>
          <p:nvPr/>
        </p:nvSpPr>
        <p:spPr>
          <a:xfrm xmlns:a="http://schemas.openxmlformats.org/drawingml/2006/main">
            <a:off x="6191250" y="1428750"/>
            <a:ext cx="495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100" b="1">
                <a:solidFill>
                  <a:srgbClr val="17324D"/>
                </a:solidFill>
              </a:defRPr>
            </a:pPr>
            <a:r>
              <a:rPr sz="2100" b="1">
                <a:solidFill>
                  <a:srgbClr val="17324D"/>
                </a:solidFill>
              </a:rPr>
              <a:t>What we learned</a:t>
            </a:r>
          </a:p>
        </p:txBody>
      </p:sp>
      <p:sp>
        <p:nvSpPr>
          <p:cNvPr id="10" name="">
            <a:extLst xmlns:a="http://schemas.openxmlformats.org/drawingml/2006/main">
              <a:ext uri="{FF2B5EF4-FFF2-40B4-BE49-F238E27FC236}">
                <a16:creationId xmlns:a16="http://schemas.microsoft.com/office/drawing/2014/main" id="{C88DF4AC-EED8-41B7-9641-C3ABC1ADAD76}"/>
              </a:ext>
            </a:extLst>
          </p:cNvPr>
          <p:cNvSpPr>
            <a:spLocks xmlns:a="http://schemas.openxmlformats.org/drawingml/2006/main" noGrp="1"/>
          </p:cNvSpPr>
          <p:nvPr/>
        </p:nvSpPr>
        <p:spPr>
          <a:xfrm xmlns:a="http://schemas.openxmlformats.org/drawingml/2006/main">
            <a:off x="6286500" y="2314575"/>
            <a:ext cx="95250" cy="95250"/>
          </a:xfrm>
          <a:prstGeom xmlns:a="http://schemas.openxmlformats.org/drawingml/2006/main" prst="ellipse">
            <a:avLst/>
          </a:prstGeom>
          <a:solidFill xmlns:a="http://schemas.openxmlformats.org/drawingml/2006/main">
            <a:srgbClr val="D95F59"/>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C795CBC2-8AAA-4DE4-AAA8-9CF20C71819A}"/>
              </a:ext>
            </a:extLst>
          </p:cNvPr>
          <p:cNvSpPr>
            <a:spLocks xmlns:a="http://schemas.openxmlformats.org/drawingml/2006/main" noGrp="1"/>
          </p:cNvSpPr>
          <p:nvPr/>
        </p:nvSpPr>
        <p:spPr>
          <a:xfrm xmlns:a="http://schemas.openxmlformats.org/drawingml/2006/main">
            <a:off x="6505575" y="2238375"/>
            <a:ext cx="47815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a:solidFill>
                  <a:srgbClr val="52606D"/>
                </a:solidFill>
              </a:defRPr>
            </a:pPr>
            <a:r>
              <a:rPr sz="1425" b="0">
                <a:solidFill>
                  <a:srgbClr val="52606D"/>
                </a:solidFill>
              </a:rPr>
              <a:t>A five-session field is more reactive, but reaction is not continuity.</a:t>
            </a:r>
          </a:p>
        </p:txBody>
      </p:sp>
      <p:sp>
        <p:nvSpPr>
          <p:cNvPr id="12" name="">
            <a:extLst xmlns:a="http://schemas.openxmlformats.org/drawingml/2006/main">
              <a:ext uri="{FF2B5EF4-FFF2-40B4-BE49-F238E27FC236}">
                <a16:creationId xmlns:a16="http://schemas.microsoft.com/office/drawing/2014/main" id="{65EEB7F1-372F-49BA-84F3-B8BE3CE37293}"/>
              </a:ext>
            </a:extLst>
          </p:cNvPr>
          <p:cNvSpPr>
            <a:spLocks xmlns:a="http://schemas.openxmlformats.org/drawingml/2006/main" noGrp="1"/>
          </p:cNvSpPr>
          <p:nvPr/>
        </p:nvSpPr>
        <p:spPr>
          <a:xfrm xmlns:a="http://schemas.openxmlformats.org/drawingml/2006/main">
            <a:off x="6286500" y="2914650"/>
            <a:ext cx="95250" cy="95250"/>
          </a:xfrm>
          <a:prstGeom xmlns:a="http://schemas.openxmlformats.org/drawingml/2006/main" prst="ellipse">
            <a:avLst/>
          </a:prstGeom>
          <a:solidFill xmlns:a="http://schemas.openxmlformats.org/drawingml/2006/main">
            <a:srgbClr val="D95F59"/>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4FC913B4-D32C-477D-A9B3-F69EFDB9A017}"/>
              </a:ext>
            </a:extLst>
          </p:cNvPr>
          <p:cNvSpPr>
            <a:spLocks xmlns:a="http://schemas.openxmlformats.org/drawingml/2006/main" noGrp="1"/>
          </p:cNvSpPr>
          <p:nvPr/>
        </p:nvSpPr>
        <p:spPr>
          <a:xfrm xmlns:a="http://schemas.openxmlformats.org/drawingml/2006/main">
            <a:off x="6505575" y="2838450"/>
            <a:ext cx="47815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a:solidFill>
                  <a:srgbClr val="52606D"/>
                </a:solidFill>
              </a:defRPr>
            </a:pPr>
            <a:r>
              <a:rPr sz="1425" b="0">
                <a:solidFill>
                  <a:srgbClr val="52606D"/>
                </a:solidFill>
              </a:rPr>
              <a:t>The H5 broadening clue is recorded; it is not strategy authority.</a:t>
            </a:r>
          </a:p>
        </p:txBody>
      </p:sp>
      <p:sp>
        <p:nvSpPr>
          <p:cNvPr id="14" name="">
            <a:extLst xmlns:a="http://schemas.openxmlformats.org/drawingml/2006/main">
              <a:ext uri="{FF2B5EF4-FFF2-40B4-BE49-F238E27FC236}">
                <a16:creationId xmlns:a16="http://schemas.microsoft.com/office/drawing/2014/main" id="{1FC9CB2A-58C7-43A0-9434-E50A5637D9EB}"/>
              </a:ext>
            </a:extLst>
          </p:cNvPr>
          <p:cNvSpPr>
            <a:spLocks xmlns:a="http://schemas.openxmlformats.org/drawingml/2006/main" noGrp="1"/>
          </p:cNvSpPr>
          <p:nvPr/>
        </p:nvSpPr>
        <p:spPr>
          <a:xfrm xmlns:a="http://schemas.openxmlformats.org/drawingml/2006/main">
            <a:off x="6286500" y="3514725"/>
            <a:ext cx="95250" cy="95250"/>
          </a:xfrm>
          <a:prstGeom xmlns:a="http://schemas.openxmlformats.org/drawingml/2006/main" prst="ellipse">
            <a:avLst/>
          </a:prstGeom>
          <a:solidFill xmlns:a="http://schemas.openxmlformats.org/drawingml/2006/main">
            <a:srgbClr val="D95F59"/>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214B90E0-05C8-44AB-8F77-F00E06F74B1C}"/>
              </a:ext>
            </a:extLst>
          </p:cNvPr>
          <p:cNvSpPr>
            <a:spLocks xmlns:a="http://schemas.openxmlformats.org/drawingml/2006/main" noGrp="1"/>
          </p:cNvSpPr>
          <p:nvPr/>
        </p:nvSpPr>
        <p:spPr>
          <a:xfrm xmlns:a="http://schemas.openxmlformats.org/drawingml/2006/main">
            <a:off x="6505575" y="3438525"/>
            <a:ext cx="47815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a:solidFill>
                  <a:srgbClr val="52606D"/>
                </a:solidFill>
              </a:defRPr>
            </a:pPr>
            <a:r>
              <a:rPr sz="1425" b="0">
                <a:solidFill>
                  <a:srgbClr val="52606D"/>
                </a:solidFill>
              </a:rPr>
              <a:t>H10 reversal blocks ATR%, TSLA/AMD, and unchanged-strategy overlays.</a:t>
            </a:r>
          </a:p>
        </p:txBody>
      </p:sp>
      <p:sp>
        <p:nvSpPr>
          <p:cNvPr id="16" name="">
            <a:extLst xmlns:a="http://schemas.openxmlformats.org/drawingml/2006/main">
              <a:ext uri="{FF2B5EF4-FFF2-40B4-BE49-F238E27FC236}">
                <a16:creationId xmlns:a16="http://schemas.microsoft.com/office/drawing/2014/main" id="{DAF2A7B5-4720-4D9A-8D64-3B468CECA3A5}"/>
              </a:ext>
            </a:extLst>
          </p:cNvPr>
          <p:cNvSpPr>
            <a:spLocks xmlns:a="http://schemas.openxmlformats.org/drawingml/2006/main" noGrp="1"/>
          </p:cNvSpPr>
          <p:nvPr/>
        </p:nvSpPr>
        <p:spPr>
          <a:xfrm xmlns:a="http://schemas.openxmlformats.org/drawingml/2006/main">
            <a:off x="6286500" y="4114800"/>
            <a:ext cx="95250" cy="95250"/>
          </a:xfrm>
          <a:prstGeom xmlns:a="http://schemas.openxmlformats.org/drawingml/2006/main" prst="ellipse">
            <a:avLst/>
          </a:prstGeom>
          <a:solidFill xmlns:a="http://schemas.openxmlformats.org/drawingml/2006/main">
            <a:srgbClr val="D95F59"/>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6E6702F1-83DB-4F1D-9272-B81913B5D36E}"/>
              </a:ext>
            </a:extLst>
          </p:cNvPr>
          <p:cNvSpPr>
            <a:spLocks xmlns:a="http://schemas.openxmlformats.org/drawingml/2006/main" noGrp="1"/>
          </p:cNvSpPr>
          <p:nvPr/>
        </p:nvSpPr>
        <p:spPr>
          <a:xfrm xmlns:a="http://schemas.openxmlformats.org/drawingml/2006/main">
            <a:off x="6505575" y="4038600"/>
            <a:ext cx="47815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a:solidFill>
                  <a:srgbClr val="52606D"/>
                </a:solidFill>
              </a:defRPr>
            </a:pPr>
            <a:r>
              <a:rPr sz="1425" b="0">
                <a:solidFill>
                  <a:srgbClr val="52606D"/>
                </a:solidFill>
              </a:rPr>
              <a:t>Do not rescue the lane with a speed grid or threshold tuning.</a:t>
            </a:r>
          </a:p>
        </p:txBody>
      </p:sp>
      <p:sp>
        <p:nvSpPr>
          <p:cNvPr id="18" name="">
            <a:extLst xmlns:a="http://schemas.openxmlformats.org/drawingml/2006/main">
              <a:ext uri="{FF2B5EF4-FFF2-40B4-BE49-F238E27FC236}">
                <a16:creationId xmlns:a16="http://schemas.microsoft.com/office/drawing/2014/main" id="{E2A666C3-A0B0-40AB-BEFD-F38E516AB423}"/>
              </a:ext>
            </a:extLst>
          </p:cNvPr>
          <p:cNvSpPr>
            <a:spLocks xmlns:a="http://schemas.openxmlformats.org/drawingml/2006/main" noGrp="1"/>
          </p:cNvSpPr>
          <p:nvPr/>
        </p:nvSpPr>
        <p:spPr>
          <a:xfrm xmlns:a="http://schemas.openxmlformats.org/drawingml/2006/main">
            <a:off x="6286500" y="4714875"/>
            <a:ext cx="95250" cy="95250"/>
          </a:xfrm>
          <a:prstGeom xmlns:a="http://schemas.openxmlformats.org/drawingml/2006/main" prst="ellipse">
            <a:avLst/>
          </a:prstGeom>
          <a:solidFill xmlns:a="http://schemas.openxmlformats.org/drawingml/2006/main">
            <a:srgbClr val="D95F59"/>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1F0C7B14-41A9-4A6A-8B98-806F4271CD70}"/>
              </a:ext>
            </a:extLst>
          </p:cNvPr>
          <p:cNvSpPr>
            <a:spLocks xmlns:a="http://schemas.openxmlformats.org/drawingml/2006/main" noGrp="1"/>
          </p:cNvSpPr>
          <p:nvPr/>
        </p:nvSpPr>
        <p:spPr>
          <a:xfrm xmlns:a="http://schemas.openxmlformats.org/drawingml/2006/main">
            <a:off x="6505575" y="4638675"/>
            <a:ext cx="47815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a:solidFill>
                  <a:srgbClr val="52606D"/>
                </a:solidFill>
              </a:defRPr>
            </a:pPr>
            <a:r>
              <a:rPr sz="1425" b="0">
                <a:solidFill>
                  <a:srgbClr val="52606D"/>
                </a:solidFill>
              </a:rPr>
              <a:t>The next regime concept needs a newly justified information source or estimand.</a:t>
            </a:r>
          </a:p>
        </p:txBody>
      </p:sp>
      <p:sp>
        <p:nvSpPr>
          <p:cNvPr id="20" name="">
            <a:extLst xmlns:a="http://schemas.openxmlformats.org/drawingml/2006/main">
              <a:ext uri="{FF2B5EF4-FFF2-40B4-BE49-F238E27FC236}">
                <a16:creationId xmlns:a16="http://schemas.microsoft.com/office/drawing/2014/main" id="{73930217-21D1-488C-A1C8-8473DD56166B}"/>
              </a:ext>
            </a:extLst>
          </p:cNvPr>
          <p:cNvSpPr>
            <a:spLocks xmlns:a="http://schemas.openxmlformats.org/drawingml/2006/main" noGrp="1"/>
          </p:cNvSpPr>
          <p:nvPr/>
        </p:nvSpPr>
        <p:spPr>
          <a:xfrm xmlns:a="http://schemas.openxmlformats.org/drawingml/2006/main">
            <a:off x="6048375" y="5715000"/>
            <a:ext cx="5429250" cy="571500"/>
          </a:xfrm>
          <a:prstGeom xmlns:a="http://schemas.openxmlformats.org/drawingml/2006/main" prst="rect">
            <a:avLst/>
          </a:prstGeom>
          <a:solidFill xmlns:a="http://schemas.openxmlformats.org/drawingml/2006/main">
            <a:srgbClr val="EAF3FF"/>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D4715980-7B5B-471E-A95A-258E34215CFC}"/>
              </a:ext>
            </a:extLst>
          </p:cNvPr>
          <p:cNvSpPr>
            <a:spLocks xmlns:a="http://schemas.openxmlformats.org/drawingml/2006/main" noGrp="1"/>
          </p:cNvSpPr>
          <p:nvPr/>
        </p:nvSpPr>
        <p:spPr>
          <a:xfrm xmlns:a="http://schemas.openxmlformats.org/drawingml/2006/main">
            <a:off x="6381750" y="5876925"/>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75" b="1">
                <a:solidFill>
                  <a:srgbClr val="17324D"/>
                </a:solidFill>
              </a:defRPr>
            </a:pPr>
            <a:r>
              <a:rPr sz="1575" b="1">
                <a:solidFill>
                  <a:srgbClr val="17324D"/>
                </a:solidFill>
              </a:rPr>
              <a:t>Accepted ATR% remains untouched and independent.</a:t>
            </a:r>
          </a:p>
        </p:txBody>
      </p:sp>
    </p:spTree>
    <p:extLst>
      <p:ext uri="{BB962C8B-B14F-4D97-AF65-F5344CB8AC3E}">
        <p14:creationId xmlns:p14="http://schemas.microsoft.com/office/powerpoint/2010/main" val="2730110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2026-08-15T21:53:45.1140000Z</dcterms:created>
  <dcterms:modified xsi:type="dcterms:W3CDTF">2026-08-15T21:53:45.1140000Z</dcterms:modified>
</coreProperties>
</file>