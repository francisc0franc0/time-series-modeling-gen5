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b1d8eb443634017" /><Relationship Type="http://schemas.openxmlformats.org/officeDocument/2006/relationships/extended-properties" Target="/docProps/app.xml" Id="Rc0a67da9c34a4cdf" /><Relationship Type="http://schemas.openxmlformats.org/officeDocument/2006/relationships/officeDocument" Target="/ppt/presentation.xml" Id="Reac61a87203543a5" /></Relationships>
</file>

<file path=ppt/presentation.xml><?xml version="1.0" encoding="utf-8"?>
<p:presentation xmlns:p="http://schemas.openxmlformats.org/presentationml/2006/main">
  <p:sldMasterIdLst>
    <p:sldMasterId xmlns:r="http://schemas.openxmlformats.org/officeDocument/2006/relationships" id="2147483648" r:id="Rfe586dd9ca844771"/>
  </p:sldMasterIdLst>
  <p:notesMasterIdLst>
    <p:notesMasterId xmlns:r="http://schemas.openxmlformats.org/officeDocument/2006/relationships" r:id="R03c871664f1542bd"/>
  </p:notesMasterIdLst>
  <p:sldIdLst>
    <p:sldId xmlns:r="http://schemas.openxmlformats.org/officeDocument/2006/relationships" id="256" r:id="R27a768263ed14159"/>
    <p:sldId xmlns:r="http://schemas.openxmlformats.org/officeDocument/2006/relationships" id="257" r:id="Rdb1f0174473a4193"/>
    <p:sldId xmlns:r="http://schemas.openxmlformats.org/officeDocument/2006/relationships" id="258" r:id="R619cc5e9e32144cb"/>
    <p:sldId xmlns:r="http://schemas.openxmlformats.org/officeDocument/2006/relationships" id="259" r:id="R23696ec42b614fcc"/>
    <p:sldId xmlns:r="http://schemas.openxmlformats.org/officeDocument/2006/relationships" id="260" r:id="R78883b1937cb4d39"/>
    <p:sldId xmlns:r="http://schemas.openxmlformats.org/officeDocument/2006/relationships" id="261" r:id="Rb9db9180c36c43a2"/>
    <p:sldId xmlns:r="http://schemas.openxmlformats.org/officeDocument/2006/relationships" id="262" r:id="Rb915d32fc2dc47a6"/>
    <p:sldId xmlns:r="http://schemas.openxmlformats.org/officeDocument/2006/relationships" id="263" r:id="Raa6cb380633a4703"/>
    <p:sldId xmlns:r="http://schemas.openxmlformats.org/officeDocument/2006/relationships" id="264" r:id="Rd2c3df8c30d64ef8"/>
    <p:sldId xmlns:r="http://schemas.openxmlformats.org/officeDocument/2006/relationships" id="265" r:id="R4a798ffdb6854728"/>
    <p:sldId xmlns:r="http://schemas.openxmlformats.org/officeDocument/2006/relationships" id="266" r:id="R1eceb7d56f6b46fc"/>
    <p:sldId xmlns:r="http://schemas.openxmlformats.org/officeDocument/2006/relationships" id="267" r:id="Rd19e27a3e5a941e7"/>
    <p:sldId xmlns:r="http://schemas.openxmlformats.org/officeDocument/2006/relationships" id="268" r:id="R01c98fe7c7ca4704"/>
    <p:sldId xmlns:r="http://schemas.openxmlformats.org/officeDocument/2006/relationships" id="269" r:id="R12f1e492880b495a"/>
    <p:sldId xmlns:r="http://schemas.openxmlformats.org/officeDocument/2006/relationships" id="270" r:id="R91e3030376b747c4"/>
    <p:sldId xmlns:r="http://schemas.openxmlformats.org/officeDocument/2006/relationships" id="271" r:id="Rf09472a87e0f4f93"/>
    <p:sldId xmlns:r="http://schemas.openxmlformats.org/officeDocument/2006/relationships" id="272" r:id="R8f4e885be3784f2f"/>
    <p:sldId xmlns:r="http://schemas.openxmlformats.org/officeDocument/2006/relationships" id="273" r:id="R103b415cd7844a21"/>
    <p:sldId xmlns:r="http://schemas.openxmlformats.org/officeDocument/2006/relationships" id="274" r:id="R63879e09e8b248d1"/>
    <p:sldId xmlns:r="http://schemas.openxmlformats.org/officeDocument/2006/relationships" id="275" r:id="R73cfd732817f4146"/>
    <p:sldId xmlns:r="http://schemas.openxmlformats.org/officeDocument/2006/relationships" id="276" r:id="Rd4ce9357822741f8"/>
    <p:sldId xmlns:r="http://schemas.openxmlformats.org/officeDocument/2006/relationships" id="277" r:id="Ra34e6c130302410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38d5c7619bf4f84" /><Relationship Type="http://schemas.openxmlformats.org/officeDocument/2006/relationships/slideMaster" Target="/ppt/slideMasters/slideMaster1.xml" Id="Rfe586dd9ca844771" /><Relationship Type="http://schemas.openxmlformats.org/officeDocument/2006/relationships/notesMaster" Target="/ppt/notesMasters/notesMaster1.xml" Id="R03c871664f1542bd" /><Relationship Type="http://schemas.openxmlformats.org/officeDocument/2006/relationships/presProps" Target="/ppt/presProps.xml" Id="Re0d4cb942754455a" /><Relationship Type="http://schemas.openxmlformats.org/officeDocument/2006/relationships/tableStyles" Target="/ppt/tableStyles.xml" Id="R00153f4844894e57" /><Relationship Type="http://schemas.openxmlformats.org/officeDocument/2006/relationships/slide" Target="/ppt/slides/slide1.xml" Id="R27a768263ed14159" /><Relationship Type="http://schemas.openxmlformats.org/officeDocument/2006/relationships/slide" Target="/ppt/slides/slide2.xml" Id="Rdb1f0174473a4193" /><Relationship Type="http://schemas.openxmlformats.org/officeDocument/2006/relationships/slide" Target="/ppt/slides/slide3.xml" Id="R619cc5e9e32144cb" /><Relationship Type="http://schemas.openxmlformats.org/officeDocument/2006/relationships/slide" Target="/ppt/slides/slide4.xml" Id="R23696ec42b614fcc" /><Relationship Type="http://schemas.openxmlformats.org/officeDocument/2006/relationships/slide" Target="/ppt/slides/slide5.xml" Id="R78883b1937cb4d39" /><Relationship Type="http://schemas.openxmlformats.org/officeDocument/2006/relationships/slide" Target="/ppt/slides/slide6.xml" Id="Rb9db9180c36c43a2" /><Relationship Type="http://schemas.openxmlformats.org/officeDocument/2006/relationships/slide" Target="/ppt/slides/slide7.xml" Id="Rb915d32fc2dc47a6" /><Relationship Type="http://schemas.openxmlformats.org/officeDocument/2006/relationships/slide" Target="/ppt/slides/slide8.xml" Id="Raa6cb380633a4703" /><Relationship Type="http://schemas.openxmlformats.org/officeDocument/2006/relationships/slide" Target="/ppt/slides/slide9.xml" Id="Rd2c3df8c30d64ef8" /><Relationship Type="http://schemas.openxmlformats.org/officeDocument/2006/relationships/slide" Target="/ppt/slides/slide10.xml" Id="R4a798ffdb6854728" /><Relationship Type="http://schemas.openxmlformats.org/officeDocument/2006/relationships/slide" Target="/ppt/slides/slide11.xml" Id="R1eceb7d56f6b46fc" /><Relationship Type="http://schemas.openxmlformats.org/officeDocument/2006/relationships/slide" Target="/ppt/slides/slide12.xml" Id="Rd19e27a3e5a941e7" /><Relationship Type="http://schemas.openxmlformats.org/officeDocument/2006/relationships/slide" Target="/ppt/slides/slide13.xml" Id="R01c98fe7c7ca4704" /><Relationship Type="http://schemas.openxmlformats.org/officeDocument/2006/relationships/slide" Target="/ppt/slides/slide14.xml" Id="R12f1e492880b495a" /><Relationship Type="http://schemas.openxmlformats.org/officeDocument/2006/relationships/slide" Target="/ppt/slides/slide15.xml" Id="R91e3030376b747c4" /><Relationship Type="http://schemas.openxmlformats.org/officeDocument/2006/relationships/slide" Target="/ppt/slides/slide16.xml" Id="Rf09472a87e0f4f93" /><Relationship Type="http://schemas.openxmlformats.org/officeDocument/2006/relationships/slide" Target="/ppt/slides/slide17.xml" Id="R8f4e885be3784f2f" /><Relationship Type="http://schemas.openxmlformats.org/officeDocument/2006/relationships/slide" Target="/ppt/slides/slide18.xml" Id="R103b415cd7844a21" /><Relationship Type="http://schemas.openxmlformats.org/officeDocument/2006/relationships/slide" Target="/ppt/slides/slide19.xml" Id="R63879e09e8b248d1" /><Relationship Type="http://schemas.openxmlformats.org/officeDocument/2006/relationships/slide" Target="/ppt/slides/slide20.xml" Id="R73cfd732817f4146" /><Relationship Type="http://schemas.openxmlformats.org/officeDocument/2006/relationships/slide" Target="/ppt/slides/slide21.xml" Id="Rd4ce9357822741f8" /><Relationship Type="http://schemas.openxmlformats.org/officeDocument/2006/relationships/slide" Target="/ppt/slides/slide22.xml" Id="Ra34e6c130302410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5225d967c97497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d49a8e9da9b4822" /><Relationship Type="http://schemas.openxmlformats.org/officeDocument/2006/relationships/notesMaster" Target="/ppt/notesMasters/notesMaster1.xml" Id="Rb519a4b8b638406f" /></Relationships>
</file>

<file path=ppt/notesSlides/_rels/notesSlide2.xml.rels>&#65279;<?xml version="1.0" encoding="utf-8"?><Relationships xmlns="http://schemas.openxmlformats.org/package/2006/relationships"><Relationship Type="http://schemas.openxmlformats.org/officeDocument/2006/relationships/slide" Target="/ppt/slides/slide2.xml" Id="Ra55cfd6177cd4bc1" /><Relationship Type="http://schemas.openxmlformats.org/officeDocument/2006/relationships/notesMaster" Target="/ppt/notesMasters/notesMaster1.xml" Id="R0ea67da143774805" /></Relationships>
</file>

<file path=ppt/notesSlides/_rels/notesSlide3.xml.rels>&#65279;<?xml version="1.0" encoding="utf-8"?><Relationships xmlns="http://schemas.openxmlformats.org/package/2006/relationships"><Relationship Type="http://schemas.openxmlformats.org/officeDocument/2006/relationships/slide" Target="/ppt/slides/slide3.xml" Id="R9593a499d31845a1" /><Relationship Type="http://schemas.openxmlformats.org/officeDocument/2006/relationships/notesMaster" Target="/ppt/notesMasters/notesMaster1.xml" Id="R7a4eb4997bb64138" /></Relationships>
</file>

<file path=ppt/notesSlides/_rels/notesSlide4.xml.rels>&#65279;<?xml version="1.0" encoding="utf-8"?><Relationships xmlns="http://schemas.openxmlformats.org/package/2006/relationships"><Relationship Type="http://schemas.openxmlformats.org/officeDocument/2006/relationships/slide" Target="/ppt/slides/slide4.xml" Id="R3215182cac3948f5" /><Relationship Type="http://schemas.openxmlformats.org/officeDocument/2006/relationships/notesMaster" Target="/ppt/notesMasters/notesMaster1.xml" Id="Rd8d9fe58cded4a45" /></Relationships>
</file>

<file path=ppt/notesSlides/_rels/notesSlide5.xml.rels>&#65279;<?xml version="1.0" encoding="utf-8"?><Relationships xmlns="http://schemas.openxmlformats.org/package/2006/relationships"><Relationship Type="http://schemas.openxmlformats.org/officeDocument/2006/relationships/slide" Target="/ppt/slides/slide5.xml" Id="R0dfcd9c1d543441d" /><Relationship Type="http://schemas.openxmlformats.org/officeDocument/2006/relationships/notesMaster" Target="/ppt/notesMasters/notesMaster1.xml" Id="R4a3e637209d04fc2" /></Relationships>
</file>

<file path=ppt/notesSlides/_rels/notesSlide6.xml.rels>&#65279;<?xml version="1.0" encoding="utf-8"?><Relationships xmlns="http://schemas.openxmlformats.org/package/2006/relationships"><Relationship Type="http://schemas.openxmlformats.org/officeDocument/2006/relationships/slide" Target="/ppt/slides/slide6.xml" Id="R477c6f73e5494d6b" /><Relationship Type="http://schemas.openxmlformats.org/officeDocument/2006/relationships/notesMaster" Target="/ppt/notesMasters/notesMaster1.xml" Id="Re1f96f3982e844e5" /></Relationships>
</file>

<file path=ppt/notesSlides/_rels/notesSlide7.xml.rels>&#65279;<?xml version="1.0" encoding="utf-8"?><Relationships xmlns="http://schemas.openxmlformats.org/package/2006/relationships"><Relationship Type="http://schemas.openxmlformats.org/officeDocument/2006/relationships/slide" Target="/ppt/slides/slide7.xml" Id="R7a618427bd1d4cf3" /><Relationship Type="http://schemas.openxmlformats.org/officeDocument/2006/relationships/notesMaster" Target="/ppt/notesMasters/notesMaster1.xml" Id="Rac3b19ad325b4a6b" /></Relationships>
</file>

<file path=ppt/notesSlides/_rels/notesSlide8.xml.rels>&#65279;<?xml version="1.0" encoding="utf-8"?><Relationships xmlns="http://schemas.openxmlformats.org/package/2006/relationships"><Relationship Type="http://schemas.openxmlformats.org/officeDocument/2006/relationships/slide" Target="/ppt/slides/slide8.xml" Id="Rc5a4eab9cb6b4d08" /><Relationship Type="http://schemas.openxmlformats.org/officeDocument/2006/relationships/notesMaster" Target="/ppt/notesMasters/notesMaster1.xml" Id="Ra9bfa1f081f14e93" /></Relationships>
</file>

<file path=ppt/notesSlides/_rels/notesSlide9.xml.rels>&#65279;<?xml version="1.0" encoding="utf-8"?><Relationships xmlns="http://schemas.openxmlformats.org/package/2006/relationships"><Relationship Type="http://schemas.openxmlformats.org/officeDocument/2006/relationships/slide" Target="/ppt/slides/slide9.xml" Id="R15a86ceede77410e" /><Relationship Type="http://schemas.openxmlformats.org/officeDocument/2006/relationships/notesMaster" Target="/ppt/notesMasters/notesMaster1.xml" Id="Rdecb0de7a5f944f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677f7f8368843c8" /><Relationship Type="http://schemas.openxmlformats.org/officeDocument/2006/relationships/notesMaster" Target="/ppt/notesMasters/notesMaster1.xml" Id="R878e6d5158624a5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243b329b783426b" /><Relationship Type="http://schemas.openxmlformats.org/officeDocument/2006/relationships/notesMaster" Target="/ppt/notesMasters/notesMaster1.xml" Id="Rbc08a248a018404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a98a7e52b4c4bd7" /><Relationship Type="http://schemas.openxmlformats.org/officeDocument/2006/relationships/notesMaster" Target="/ppt/notesMasters/notesMaster1.xml" Id="Rd1aaf4bf78e0412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2231ffaa4f24264" /><Relationship Type="http://schemas.openxmlformats.org/officeDocument/2006/relationships/notesMaster" Target="/ppt/notesMasters/notesMaster1.xml" Id="R535a07a74b1a446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9197e259a0b4f72" /><Relationship Type="http://schemas.openxmlformats.org/officeDocument/2006/relationships/notesMaster" Target="/ppt/notesMasters/notesMaster1.xml" Id="Rf0127185083c45b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cf20d08221e4b04" /><Relationship Type="http://schemas.openxmlformats.org/officeDocument/2006/relationships/notesMaster" Target="/ppt/notesMasters/notesMaster1.xml" Id="R74ae4ca3f0124c2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4ff89a480d74d99" /><Relationship Type="http://schemas.openxmlformats.org/officeDocument/2006/relationships/notesMaster" Target="/ppt/notesMasters/notesMaster1.xml" Id="R9fa0c88242c3432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61714acdad7408c" /><Relationship Type="http://schemas.openxmlformats.org/officeDocument/2006/relationships/notesMaster" Target="/ppt/notesMasters/notesMaster1.xml" Id="Rf6906a11d40941a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3ed90138a724bc4" /><Relationship Type="http://schemas.openxmlformats.org/officeDocument/2006/relationships/notesMaster" Target="/ppt/notesMasters/notesMaster1.xml" Id="R282b80396e33485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0df20b28c9747c6" /><Relationship Type="http://schemas.openxmlformats.org/officeDocument/2006/relationships/notesMaster" Target="/ppt/notesMasters/notesMaster1.xml" Id="Rfa909e2c6e7c446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32a0873245c4167" /><Relationship Type="http://schemas.openxmlformats.org/officeDocument/2006/relationships/notesMaster" Target="/ppt/notesMasters/notesMaster1.xml" Id="R016f4853c3bf494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9cd36391189456e" /><Relationship Type="http://schemas.openxmlformats.org/officeDocument/2006/relationships/notesMaster" Target="/ppt/notesMasters/notesMaster1.xml" Id="Rdc98e46ff81f484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c860665c2f34122" /><Relationship Type="http://schemas.openxmlformats.org/officeDocument/2006/relationships/notesMaster" Target="/ppt/notesMasters/notesMaster1.xml" Id="R600cdb2a2c0b472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deck begins the NVDA one-asset microscope and records the first two views: unconditional intraday clock behavior and the established daily return-geometry template.</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one-asset strategy is not methodologically disqualified. It simply cannot borrow confidence from universality; the evidence must come from causal construction, stability over time, execution realism, and untouched confirmation.</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unconditional distribution of NVDA returns by clock position. It is a map of where variation lives, not evidence that any position is predictable.</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run specification: runs/research_workbench/operator_hypothesis_lab/nvda_intraday_clock_descriptive_20260831/run_spec.csv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distribution changes across the clock. That justifies conditioning questions, but it does not yet justify a trading action.</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run specification: runs/research_workbench/operator_hypothesis_lab/nvda_intraday_clock_descriptive_20260831/run_spec.csv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reuses the predeclared atlas vocabulary. It does not choose new horizons after seeing NVDA.</a:t>
            </a:r>
          </a:p>
          <a:p xmlns:a="http://schemas.openxmlformats.org/drawingml/2006/main">
            <a:r>
              <a:t/>
            </a:r>
          </a:p>
          <a:p xmlns:a="http://schemas.openxmlformats.org/drawingml/2006/main">
            <a:r>
              <a:t>[Sources]</a:t>
            </a:r>
          </a:p>
          <a:p xmlns:a="http://schemas.openxmlformats.org/drawingml/2006/main">
            <a:r>
              <a:t>- Local daily microscope packet: runs/research_workbench/operator_hypothesis_lab/nvda_daily_return_microscope_20260831/report.md</a:t>
            </a:r>
          </a:p>
          <a:p xmlns:a="http://schemas.openxmlformats.org/drawingml/2006/main">
            <a:r>
              <a:t>- Frozen own-asset atlas packet: runs/research_workbench/operator_hypothesis_lab/own_asset_return_geometry_atlas_20260826/report.md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adjacent-session view is visually noisy, with a small negative Pearson correlation. The next question is whether longer windows or causal states reveal coherent regions.</a:t>
            </a:r>
          </a:p>
          <a:p xmlns:a="http://schemas.openxmlformats.org/drawingml/2006/main">
            <a:r>
              <a:t/>
            </a:r>
          </a:p>
          <a:p xmlns:a="http://schemas.openxmlformats.org/drawingml/2006/main">
            <a:r>
              <a:t>[Sources]</a:t>
            </a:r>
          </a:p>
          <a:p xmlns:a="http://schemas.openxmlformats.org/drawingml/2006/main">
            <a:r>
              <a:t>- Local daily microscope packet: runs/research_workbench/operator_hypothesis_lab/nvda_daily_return_microscope_20260831/report.md</a:t>
            </a:r>
          </a:p>
          <a:p xmlns:a="http://schemas.openxmlformats.org/drawingml/2006/main">
            <a:r>
              <a:t>- Local 1x1 state summary: runs/research_workbench/operator_hypothesis_lab/nvda_daily_return_microscope_20260831/nvda_one_by_one_state_summary.csv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full surface prevents us from over-reading the adjacent-day point. Without state conditioning, the grid remains close to zero and changes sign gradually across horizons.</a:t>
            </a:r>
          </a:p>
          <a:p xmlns:a="http://schemas.openxmlformats.org/drawingml/2006/main">
            <a:r>
              <a:t/>
            </a:r>
          </a:p>
          <a:p xmlns:a="http://schemas.openxmlformats.org/drawingml/2006/main">
            <a:r>
              <a:t>[Sources]</a:t>
            </a:r>
          </a:p>
          <a:p xmlns:a="http://schemas.openxmlformats.org/drawingml/2006/main">
            <a:r>
              <a:t>- Frozen NVDA state grid: runs/research_workbench/operator_hypothesis_lab/nvda_daily_return_microscope_20260831/nvda_state_grid_cells.csv</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state-band plot is the sanity check: the numerical filters should correspond to recognizable price-path and volatility regimes. They remain descriptive labels, not forecasts.</a:t>
            </a:r>
          </a:p>
          <a:p xmlns:a="http://schemas.openxmlformats.org/drawingml/2006/main">
            <a:r>
              <a:t/>
            </a:r>
          </a:p>
          <a:p xmlns:a="http://schemas.openxmlformats.org/drawingml/2006/main">
            <a:r>
              <a:t>[Sources]</a:t>
            </a:r>
          </a:p>
          <a:p xmlns:a="http://schemas.openxmlformats.org/drawingml/2006/main">
            <a:r>
              <a:t>- Frozen own-asset atlas packet: runs/research_workbench/operator_hypothesis_lab/own_asset_return_geometry_atlas_20260826/report.md</a:t>
            </a:r>
          </a:p>
          <a:p xmlns:a="http://schemas.openxmlformats.org/drawingml/2006/main">
            <a:r>
              <a:t>- Frozen NVDA state grid: runs/research_workbench/operator_hypothesis_lab/nvda_daily_return_microscope_20260831/nvda_state_grid_cells.csv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efficient-state heatmap contains a coherent positive region at longer horizons, while the sideways state remains flatter. Direction is still aggregated here, so signed ER20 is needed next.</a:t>
            </a:r>
          </a:p>
          <a:p xmlns:a="http://schemas.openxmlformats.org/drawingml/2006/main">
            <a:r>
              <a:t/>
            </a:r>
          </a:p>
          <a:p xmlns:a="http://schemas.openxmlformats.org/drawingml/2006/main">
            <a:r>
              <a:t>[Sources]</a:t>
            </a:r>
          </a:p>
          <a:p xmlns:a="http://schemas.openxmlformats.org/drawingml/2006/main">
            <a:r>
              <a:t>- Frozen NVDA state grid: runs/research_workbench/operator_hypothesis_lab/nvda_daily_return_microscope_20260831/nvda_state_grid_cells.csv</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the adjacent-day point, low and medium ATR states are near zero to slightly positive, while the high ATR state is materially more negative. Across longer windows, the surface remains mixed.</a:t>
            </a:r>
          </a:p>
          <a:p xmlns:a="http://schemas.openxmlformats.org/drawingml/2006/main">
            <a:r>
              <a:t/>
            </a:r>
          </a:p>
          <a:p xmlns:a="http://schemas.openxmlformats.org/drawingml/2006/main">
            <a:r>
              <a:t>[Sources]</a:t>
            </a:r>
          </a:p>
          <a:p xmlns:a="http://schemas.openxmlformats.org/drawingml/2006/main">
            <a:r>
              <a:t>- Local 1x1 state summary: runs/research_workbench/operator_hypothesis_lab/nvda_daily_return_microscope_20260831/nvda_one_by_one_state_summary.csv</a:t>
            </a:r>
          </a:p>
          <a:p xmlns:a="http://schemas.openxmlformats.org/drawingml/2006/main">
            <a:r>
              <a:t>- Frozen NVDA state grid: runs/research_workbench/operator_hypothesis_lab/nvda_daily_return_microscope_20260831/nvda_state_grid_cells.csv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Signed ER20 shows that efficient up and efficient down paths should not be aggregated. The down state carries the strongest negative short-horizon dependence and a later positive region; the up state is milder.</a:t>
            </a:r>
          </a:p>
          <a:p xmlns:a="http://schemas.openxmlformats.org/drawingml/2006/main">
            <a:r>
              <a:t/>
            </a:r>
          </a:p>
          <a:p xmlns:a="http://schemas.openxmlformats.org/drawingml/2006/main">
            <a:r>
              <a:t>[Sources]</a:t>
            </a:r>
          </a:p>
          <a:p xmlns:a="http://schemas.openxmlformats.org/drawingml/2006/main">
            <a:r>
              <a:t>- Frozen NVDA state grid: runs/research_workbench/operator_hypothesis_lab/nvda_daily_return_microscope_20260831/nvda_state_grid_cells.csv</a:t>
            </a:r>
          </a:p>
          <a:p xmlns:a="http://schemas.openxmlformats.org/drawingml/2006/main">
            <a:r>
              <a:t>- Local 1x1 state summary: runs/research_workbench/operator_hypothesis_lab/nvda_daily_return_microscope_20260831/nvda_one_by_one_state_summary.csv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positive-minus-negative panel asks whether the same prior magnitude has different forward dependence depending on its sign. For NVDA, the long-horizon contrast leans toward stronger rebound-like behavior after negative priors.</a:t>
            </a:r>
          </a:p>
          <a:p xmlns:a="http://schemas.openxmlformats.org/drawingml/2006/main">
            <a:r>
              <a:t/>
            </a:r>
          </a:p>
          <a:p xmlns:a="http://schemas.openxmlformats.org/drawingml/2006/main">
            <a:r>
              <a:t>[Sources]</a:t>
            </a:r>
          </a:p>
          <a:p xmlns:a="http://schemas.openxmlformats.org/drawingml/2006/main">
            <a:r>
              <a:t>- Frozen NVDA prior-sign grid: runs/research_workbench/operator_hypothesis_lab/nvda_daily_return_microscope_20260831/nvda_prior_sign_cells.csv</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Daily ATR% and ER can be used as causal gates for intraday outcomes when they are computed through the prior completed session. This is the clean recommended first conditioning experiment.</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Mechanical scaling assumes that the daily and intraday paths are the same object. They are not. The first clean test is to hold the daily state definition fixed and ask whether the intraday outcome distribution changes.</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 Frozen NVDA state grid: runs/research_workbench/operator_hypothesis_lab/nvda_daily_return_microscope_20260831/nvda_state_grid_cells.csv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translates two already-observed NVDA 20/20 geometry clues into executable rules without changing the horizon or searching thresholds. It is a TRAIN construction test, not confirmation.</a:t>
            </a:r>
          </a:p>
          <a:p xmlns:a="http://schemas.openxmlformats.org/drawingml/2006/main">
            <a:r>
              <a:t/>
            </a:r>
          </a:p>
          <a:p xmlns:a="http://schemas.openxmlformats.org/drawingml/2006/main">
            <a:r>
              <a:t>[Sources]</a:t>
            </a:r>
          </a:p>
          <a:p xmlns:a="http://schemas.openxmlformats.org/drawingml/2006/main">
            <a:r>
              <a:t>- Local executable proto-rule packet: runs/research_workbench/operator_hypothesis_lab/nvda_daily_proto_rules_20260831/report.md</a:t>
            </a:r>
          </a:p>
          <a:p xmlns:a="http://schemas.openxmlformats.org/drawingml/2006/main">
            <a:r>
              <a:t>- Local proto-rule summary: runs/research_workbench/operator_hypothesis_lab/nvda_daily_proto_rules_20260831/rule_summary.csv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rules differ only in their causal entry condition. Timing, holding period, overlap policy, and cost are held fixed so the translation comparison remains intelligible.</a:t>
            </a:r>
          </a:p>
          <a:p xmlns:a="http://schemas.openxmlformats.org/drawingml/2006/main">
            <a:r>
              <a:t/>
            </a:r>
          </a:p>
          <a:p xmlns:a="http://schemas.openxmlformats.org/drawingml/2006/main">
            <a:r>
              <a:t>[Sources]</a:t>
            </a:r>
          </a:p>
          <a:p xmlns:a="http://schemas.openxmlformats.org/drawingml/2006/main">
            <a:r>
              <a:t>- Local executable proto-rule packet: runs/research_workbench/operator_hypothesis_lab/nvda_daily_proto_rules_20260831/report.md</a:t>
            </a:r>
          </a:p>
          <a:p xmlns:a="http://schemas.openxmlformats.org/drawingml/2006/main">
            <a:r>
              <a:t>- Local proto-rule summary: runs/research_workbench/operator_hypothesis_lab/nvda_daily_proto_rules_20260831/rule_summary.csv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price overlays are a sanity check on participation. Efficient-up continuation is active during many rising paths but also remains exposed to the 2022 breakdown. Calm-pullback rebound fires after losses only when the prior ATR-percent state is not high.</a:t>
            </a:r>
          </a:p>
          <a:p xmlns:a="http://schemas.openxmlformats.org/drawingml/2006/main">
            <a:r>
              <a:t/>
            </a:r>
          </a:p>
          <a:p xmlns:a="http://schemas.openxmlformats.org/drawingml/2006/main">
            <a:r>
              <a:t>[Sources]</a:t>
            </a:r>
          </a:p>
          <a:p xmlns:a="http://schemas.openxmlformats.org/drawingml/2006/main">
            <a:r>
              <a:t>- Local executable proto-rule packet: runs/research_workbench/operator_hypothesis_lab/nvda_daily_proto_rules_20260831/report.md</a:t>
            </a:r>
          </a:p>
          <a:p xmlns:a="http://schemas.openxmlformats.org/drawingml/2006/main">
            <a:r>
              <a:t>- Local non-overlapping trade ledger: runs/research_workbench/operator_hypothesis_lab/nvda_daily_proto_rules_20260831/trade_ledger.csv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continuation rule averages 2.59% net versus 2.88% unconditional gross drift. The rebound rule averages 6.33% net and exceeds drift by 3.45 percentage points. Realized equity is shown only when trades exit; the dotted buy-and-hold line uses a separate right axis and is a visual context reference, not a matched-risk baseline.</a:t>
            </a:r>
          </a:p>
          <a:p xmlns:a="http://schemas.openxmlformats.org/drawingml/2006/main">
            <a:r>
              <a:t/>
            </a:r>
          </a:p>
          <a:p xmlns:a="http://schemas.openxmlformats.org/drawingml/2006/main">
            <a:r>
              <a:t>[Sources]</a:t>
            </a:r>
          </a:p>
          <a:p xmlns:a="http://schemas.openxmlformats.org/drawingml/2006/main">
            <a:r>
              <a:t>- Local proto-rule summary: runs/research_workbench/operator_hypothesis_lab/nvda_daily_proto_rules_20260831/rule_summary.csv</a:t>
            </a:r>
          </a:p>
          <a:p xmlns:a="http://schemas.openxmlformats.org/drawingml/2006/main">
            <a:r>
              <a:t>- Local executable proto-rule packet: runs/research_workbench/operator_hypothesis_lab/nvda_daily_proto_rules_20260831/report.md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rebound rule has a higher mean and median than negative-R20-only, low/medium-ATR-only, and the positive-R20 opposite inside the same ATR states. This is the strongest reason to retain it as a confirmation candidate, while recognizing that all comparisons come from the discovery sample.</a:t>
            </a:r>
          </a:p>
          <a:p xmlns:a="http://schemas.openxmlformats.org/drawingml/2006/main">
            <a:r>
              <a:t/>
            </a:r>
          </a:p>
          <a:p xmlns:a="http://schemas.openxmlformats.org/drawingml/2006/main">
            <a:r>
              <a:t>[Sources]</a:t>
            </a:r>
          </a:p>
          <a:p xmlns:a="http://schemas.openxmlformats.org/drawingml/2006/main">
            <a:r>
              <a:t>- Local proto-rule summary: runs/research_workbench/operator_hypothesis_lab/nvda_daily_proto_rules_20260831/rule_summary.csv</a:t>
            </a:r>
          </a:p>
          <a:p xmlns:a="http://schemas.openxmlformats.org/drawingml/2006/main">
            <a:r>
              <a:t>- Local non-overlapping trade ledger: runs/research_workbench/operator_hypothesis_lab/nvda_daily_proto_rules_20260831/trade_ledger.csv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annual view helps detect whether a full-period mean is carried by one isolated episode. Rebound is not purely a single-year artifact, but the yearly samples are tiny and correlated; they do not replace OOS confirmation.</a:t>
            </a:r>
          </a:p>
          <a:p xmlns:a="http://schemas.openxmlformats.org/drawingml/2006/main">
            <a:r>
              <a:t/>
            </a:r>
          </a:p>
          <a:p xmlns:a="http://schemas.openxmlformats.org/drawingml/2006/main">
            <a:r>
              <a:t>[Sources]</a:t>
            </a:r>
          </a:p>
          <a:p xmlns:a="http://schemas.openxmlformats.org/drawingml/2006/main">
            <a:r>
              <a:t>- Local proto-rule annual context: runs/research_workbench/operator_hypothesis_lab/nvda_daily_proto_rules_20260831/calendar_summary.csv</a:t>
            </a:r>
          </a:p>
          <a:p xmlns:a="http://schemas.openxmlformats.org/drawingml/2006/main">
            <a:r>
              <a:t>- Local proto-rule summary: runs/research_workbench/operator_hypothesis_lab/nvda_daily_proto_rules_20260831/rule_summary.csv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representative tapes show that neither rule creates a smooth conditional path. The continuation worst case loses roughly 41%, and the rebound worst case loses roughly 31%. The median rebound path is more consistent with the original thesis: an initially quiet path that develops into a recovery across the holding window.</a:t>
            </a:r>
          </a:p>
          <a:p xmlns:a="http://schemas.openxmlformats.org/drawingml/2006/main">
            <a:r>
              <a:t/>
            </a:r>
          </a:p>
          <a:p xmlns:a="http://schemas.openxmlformats.org/drawingml/2006/main">
            <a:r>
              <a:t>[Sources]</a:t>
            </a:r>
          </a:p>
          <a:p xmlns:a="http://schemas.openxmlformats.org/drawingml/2006/main">
            <a:r>
              <a:t>- Local non-overlapping trade ledger: runs/research_workbench/operator_hypothesis_lab/nvda_daily_proto_rules_20260831/trade_ledger.csv</a:t>
            </a:r>
          </a:p>
          <a:p xmlns:a="http://schemas.openxmlformats.org/drawingml/2006/main">
            <a:r>
              <a:t>- Local executable proto-rule packet: runs/research_workbench/operator_hypothesis_lab/nvda_daily_proto_rules_20260831/report.md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methodological gate is a one-shot confirmation of the frozen calm-pullback rebound rule on untouched 2024+ data. Any later robustness or neighboring-definition work must be declared separately and cannot rewrite the original confirmation result.</a:t>
            </a:r>
          </a:p>
          <a:p xmlns:a="http://schemas.openxmlformats.org/drawingml/2006/main">
            <a:r>
              <a:t/>
            </a:r>
          </a:p>
          <a:p xmlns:a="http://schemas.openxmlformats.org/drawingml/2006/main">
            <a:r>
              <a:t>[Sources]</a:t>
            </a:r>
          </a:p>
          <a:p xmlns:a="http://schemas.openxmlformats.org/drawingml/2006/main">
            <a:r>
              <a:t>- Local executable proto-rule packet: runs/research_workbench/operator_hypothesis_lab/nvda_daily_proto_rules_20260831/report.md</a:t>
            </a:r>
          </a:p>
          <a:p xmlns:a="http://schemas.openxmlformats.org/drawingml/2006/main">
            <a:r>
              <a:t>- Local proto-rule summary: runs/research_workbench/operator_hypothesis_lab/nvda_daily_proto_rules_20260831/rule_summary.csv</a:t>
            </a:r>
          </a:p>
          <a:p xmlns:a="http://schemas.openxmlformats.org/drawingml/2006/main">
            <a:r>
              <a:t>- Local non-overlapping trade ledger: runs/research_workbench/operator_hypothesis_lab/nvda_daily_proto_rules_20260831/trade_ledger.csv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7fba6ebe5054d7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8119cc3a3fb4ef9" /><Relationship Type="http://schemas.openxmlformats.org/officeDocument/2006/relationships/slideLayout" Target="/ppt/slideLayouts/slideLayout1.xml" Id="R50e6237f20d4458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0e6237f20d4458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0ce548e4c6f42be" /><Relationship Type="http://schemas.openxmlformats.org/officeDocument/2006/relationships/notesSlide" Target="/ppt/notesSlides/notesSlide1.xml" Id="R0f187050cfbc4f8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e4b59bf9602479a" /><Relationship Type="http://schemas.openxmlformats.org/officeDocument/2006/relationships/notesSlide" Target="/ppt/notesSlides/notesSlide2.xml" Id="R76b8ad3a144a487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775cc4ebeba4bdf" /><Relationship Type="http://schemas.openxmlformats.org/officeDocument/2006/relationships/image" Target="/ppt/media/image.png" Id="R4f6df5fecc0049ac" /><Relationship Type="http://schemas.openxmlformats.org/officeDocument/2006/relationships/notesSlide" Target="/ppt/notesSlides/notesSlide3.xml" Id="R74b3fdf14136405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45d23973f8f44cd" /><Relationship Type="http://schemas.openxmlformats.org/officeDocument/2006/relationships/notesSlide" Target="/ppt/notesSlides/notesSlide4.xml" Id="R3e879c11957f4d2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5f5f013a6934a99" /><Relationship Type="http://schemas.openxmlformats.org/officeDocument/2006/relationships/notesSlide" Target="/ppt/notesSlides/notesSlide5.xml" Id="R7e80b4b55942426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ea98ee5dae5497b" /><Relationship Type="http://schemas.openxmlformats.org/officeDocument/2006/relationships/image" Target="/ppt/media/image2.png" Id="R86e529d0f35a4435" /><Relationship Type="http://schemas.openxmlformats.org/officeDocument/2006/relationships/notesSlide" Target="/ppt/notesSlides/notesSlide6.xml" Id="Rcacac851b68e42d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97b8cec18e145cc" /><Relationship Type="http://schemas.openxmlformats.org/officeDocument/2006/relationships/image" Target="/ppt/media/image3.png" Id="R33c4b01143c44f25" /><Relationship Type="http://schemas.openxmlformats.org/officeDocument/2006/relationships/notesSlide" Target="/ppt/notesSlides/notesSlide7.xml" Id="Rffee945398d84d4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0b42da106bd4afe" /><Relationship Type="http://schemas.openxmlformats.org/officeDocument/2006/relationships/image" Target="/ppt/media/image4.png" Id="R7fbc7a8e70f449dc" /><Relationship Type="http://schemas.openxmlformats.org/officeDocument/2006/relationships/notesSlide" Target="/ppt/notesSlides/notesSlide8.xml" Id="Rb1cc7cf53205457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cd69b6f57d4444e" /><Relationship Type="http://schemas.openxmlformats.org/officeDocument/2006/relationships/image" Target="/ppt/media/image5.png" Id="R4ee75fd225f04523" /><Relationship Type="http://schemas.openxmlformats.org/officeDocument/2006/relationships/notesSlide" Target="/ppt/notesSlides/notesSlide9.xml" Id="Ra0134ac9f76e493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0e3a3c7e7fa4633" /><Relationship Type="http://schemas.openxmlformats.org/officeDocument/2006/relationships/image" Target="/ppt/media/image6.png" Id="R984476946bbd4ecf" /><Relationship Type="http://schemas.openxmlformats.org/officeDocument/2006/relationships/notesSlide" Target="/ppt/notesSlides/notesSlide10.xml" Id="R1b8527d73a96497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1cf5bbadaa84f00" /><Relationship Type="http://schemas.openxmlformats.org/officeDocument/2006/relationships/image" Target="/ppt/media/image7.png" Id="Rcb240bb657ca4451" /><Relationship Type="http://schemas.openxmlformats.org/officeDocument/2006/relationships/notesSlide" Target="/ppt/notesSlides/notesSlide11.xml" Id="R24185aee84c64a9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bdca519482c4a60" /><Relationship Type="http://schemas.openxmlformats.org/officeDocument/2006/relationships/image" Target="/ppt/media/image8.png" Id="R3b923efff5674e88" /><Relationship Type="http://schemas.openxmlformats.org/officeDocument/2006/relationships/notesSlide" Target="/ppt/notesSlides/notesSlide12.xml" Id="R6c75b85420184ca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d221a4a1c2d4725" /><Relationship Type="http://schemas.openxmlformats.org/officeDocument/2006/relationships/notesSlide" Target="/ppt/notesSlides/notesSlide13.xml" Id="R208fdde690d144f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604c4121908480d" /><Relationship Type="http://schemas.openxmlformats.org/officeDocument/2006/relationships/notesSlide" Target="/ppt/notesSlides/notesSlide14.xml" Id="R980b56921f0b460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36c3284473b482e" /><Relationship Type="http://schemas.openxmlformats.org/officeDocument/2006/relationships/notesSlide" Target="/ppt/notesSlides/notesSlide15.xml" Id="R705d850349ce403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a68db4dbc4845bf" /><Relationship Type="http://schemas.openxmlformats.org/officeDocument/2006/relationships/notesSlide" Target="/ppt/notesSlides/notesSlide16.xml" Id="R2210ef73d33b472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11b2e1394f6401a" /><Relationship Type="http://schemas.openxmlformats.org/officeDocument/2006/relationships/image" Target="/ppt/media/image9.png" Id="R591dab0a93be40d5" /><Relationship Type="http://schemas.openxmlformats.org/officeDocument/2006/relationships/notesSlide" Target="/ppt/notesSlides/notesSlide17.xml" Id="R17637cf88f6340b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a9da32e84c3437d" /><Relationship Type="http://schemas.openxmlformats.org/officeDocument/2006/relationships/image" Target="/ppt/media/image10.png" Id="R38d5c864d551496a" /><Relationship Type="http://schemas.openxmlformats.org/officeDocument/2006/relationships/notesSlide" Target="/ppt/notesSlides/notesSlide18.xml" Id="R12aa2ebc902542a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6f0aada06ab4cbe" /><Relationship Type="http://schemas.openxmlformats.org/officeDocument/2006/relationships/image" Target="/ppt/media/image11.png" Id="R5891d2e252424a03" /><Relationship Type="http://schemas.openxmlformats.org/officeDocument/2006/relationships/notesSlide" Target="/ppt/notesSlides/notesSlide19.xml" Id="Rc325c74e3996447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9f8a59cf7cc42d3" /><Relationship Type="http://schemas.openxmlformats.org/officeDocument/2006/relationships/image" Target="/ppt/media/image12.png" Id="R4ea7f42a2d2e4361" /><Relationship Type="http://schemas.openxmlformats.org/officeDocument/2006/relationships/notesSlide" Target="/ppt/notesSlides/notesSlide20.xml" Id="Ra35111267870406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65bebe4ae954d3b" /><Relationship Type="http://schemas.openxmlformats.org/officeDocument/2006/relationships/image" Target="/ppt/media/image13.png" Id="R211a4ca5b35341ed" /><Relationship Type="http://schemas.openxmlformats.org/officeDocument/2006/relationships/notesSlide" Target="/ppt/notesSlides/notesSlide21.xml" Id="Rd3a722eff7994af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c188857c0aa4aad" /><Relationship Type="http://schemas.openxmlformats.org/officeDocument/2006/relationships/notesSlide" Target="/ppt/notesSlides/notesSlide22.xml" Id="R907aa0e088da400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ADE7CEE-FAC7-44A3-8D23-79C6F28E9A67}"/>
              </a:ext>
            </a:extLst>
          </p:cNvPr>
          <p:cNvSpPr>
            <a:spLocks xmlns:a="http://schemas.openxmlformats.org/drawingml/2006/main" noGrp="1"/>
          </p:cNvSpPr>
          <p:nvPr/>
        </p:nvSpPr>
        <p:spPr>
          <a:xfrm xmlns:a="http://schemas.openxmlformats.org/drawingml/2006/main">
            <a:off x="0" y="0"/>
            <a:ext cx="228600" cy="68580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2" name="">
            <a:extLst xmlns:a="http://schemas.openxmlformats.org/drawingml/2006/main">
              <a:ext uri="{FF2B5EF4-FFF2-40B4-BE49-F238E27FC236}">
                <a16:creationId xmlns:a16="http://schemas.microsoft.com/office/drawing/2014/main" id="{B38EE946-69F8-420B-A993-8A8177F7B075}"/>
              </a:ext>
            </a:extLst>
          </p:cNvPr>
          <p:cNvSpPr>
            <a:spLocks xmlns:a="http://schemas.openxmlformats.org/drawingml/2006/main" noGrp="1"/>
          </p:cNvSpPr>
          <p:nvPr/>
        </p:nvSpPr>
        <p:spPr>
          <a:xfrm xmlns:a="http://schemas.openxmlformats.org/drawingml/2006/main">
            <a:off x="685800" y="666750"/>
            <a:ext cx="723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667386"/>
                </a:solidFill>
              </a:defRPr>
            </a:pPr>
            <a:r>
              <a:rPr sz="1200" b="1">
                <a:solidFill>
                  <a:srgbClr val="667386"/>
                </a:solidFill>
              </a:rPr>
              <a:t>OPERATOR HYPOTHESIS LAB · ONE-ASSET MICROSCOPE</a:t>
            </a:r>
          </a:p>
        </p:txBody>
      </p:sp>
      <p:sp>
        <p:nvSpPr>
          <p:cNvPr id="3" name="">
            <a:extLst xmlns:a="http://schemas.openxmlformats.org/drawingml/2006/main">
              <a:ext uri="{FF2B5EF4-FFF2-40B4-BE49-F238E27FC236}">
                <a16:creationId xmlns:a16="http://schemas.microsoft.com/office/drawing/2014/main" id="{BB9128D0-38A2-4CF0-B23A-5A7F770083D6}"/>
              </a:ext>
            </a:extLst>
          </p:cNvPr>
          <p:cNvSpPr>
            <a:spLocks xmlns:a="http://schemas.openxmlformats.org/drawingml/2006/main" noGrp="1"/>
          </p:cNvSpPr>
          <p:nvPr/>
        </p:nvSpPr>
        <p:spPr>
          <a:xfrm xmlns:a="http://schemas.openxmlformats.org/drawingml/2006/main">
            <a:off x="685800" y="1352550"/>
            <a:ext cx="6572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5850" b="1">
                <a:solidFill>
                  <a:srgbClr val="000000"/>
                </a:solidFill>
              </a:defRPr>
            </a:pPr>
            <a:r>
              <a:rPr sz="5850" b="1">
                <a:solidFill>
                  <a:srgbClr val="000000"/>
                </a:solidFill>
              </a:rPr>
              <a:t>NVDA</a:t>
            </a:r>
          </a:p>
          <a:p xmlns:a="http://schemas.openxmlformats.org/drawingml/2006/main">
            <a:pPr algn="l">
              <a:defRPr sz="5850" b="1">
                <a:solidFill>
                  <a:srgbClr val="000000"/>
                </a:solidFill>
              </a:defRPr>
            </a:pPr>
            <a:r>
              <a:rPr sz="5850" b="1">
                <a:solidFill>
                  <a:srgbClr val="000000"/>
                </a:solidFill>
              </a:rPr>
              <a:t>microscope</a:t>
            </a:r>
          </a:p>
        </p:txBody>
      </p:sp>
      <p:sp>
        <p:nvSpPr>
          <p:cNvPr id="4" name="">
            <a:extLst xmlns:a="http://schemas.openxmlformats.org/drawingml/2006/main">
              <a:ext uri="{FF2B5EF4-FFF2-40B4-BE49-F238E27FC236}">
                <a16:creationId xmlns:a16="http://schemas.microsoft.com/office/drawing/2014/main" id="{B197C271-D780-4B28-AC9C-AC4BE919C53C}"/>
              </a:ext>
            </a:extLst>
          </p:cNvPr>
          <p:cNvSpPr>
            <a:spLocks xmlns:a="http://schemas.openxmlformats.org/drawingml/2006/main" noGrp="1"/>
          </p:cNvSpPr>
          <p:nvPr/>
        </p:nvSpPr>
        <p:spPr>
          <a:xfrm xmlns:a="http://schemas.openxmlformats.org/drawingml/2006/main">
            <a:off x="723900" y="3524250"/>
            <a:ext cx="723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250" b="0">
                <a:solidFill>
                  <a:srgbClr val="24364B"/>
                </a:solidFill>
              </a:defRPr>
            </a:pPr>
            <a:r>
              <a:rPr sz="2250" b="0">
                <a:solidFill>
                  <a:srgbClr val="24364B"/>
                </a:solidFill>
              </a:rPr>
              <a:t>From the intraday return clock to daily return geometry.</a:t>
            </a:r>
          </a:p>
        </p:txBody>
      </p:sp>
      <p:sp>
        <p:nvSpPr>
          <p:cNvPr id="5" name="">
            <a:extLst xmlns:a="http://schemas.openxmlformats.org/drawingml/2006/main">
              <a:ext uri="{FF2B5EF4-FFF2-40B4-BE49-F238E27FC236}">
                <a16:creationId xmlns:a16="http://schemas.microsoft.com/office/drawing/2014/main" id="{7886FA6B-6781-4B5A-9C39-6483B4C7B0BA}"/>
              </a:ext>
            </a:extLst>
          </p:cNvPr>
          <p:cNvSpPr>
            <a:spLocks xmlns:a="http://schemas.openxmlformats.org/drawingml/2006/main" noGrp="1"/>
          </p:cNvSpPr>
          <p:nvPr/>
        </p:nvSpPr>
        <p:spPr>
          <a:xfrm xmlns:a="http://schemas.openxmlformats.org/drawingml/2006/main">
            <a:off x="8705850" y="1143000"/>
            <a:ext cx="2514600" cy="2514600"/>
          </a:xfrm>
          <a:prstGeom xmlns:a="http://schemas.openxmlformats.org/drawingml/2006/main" prst="rect">
            <a:avLst/>
          </a:prstGeom>
          <a:solidFill xmlns:a="http://schemas.openxmlformats.org/drawingml/2006/main">
            <a:srgbClr val="24364B"/>
          </a:solidFill>
          <a:ln xmlns:a="http://schemas.openxmlformats.org/drawingml/2006/main" w="0">
            <a:solidFill>
              <a:srgbClr val="24364B"/>
            </a:solidFill>
            <a:prstDash val="solid"/>
          </a:ln>
        </p:spPr>
      </p:sp>
      <p:sp>
        <p:nvSpPr>
          <p:cNvPr id="6" name="">
            <a:extLst xmlns:a="http://schemas.openxmlformats.org/drawingml/2006/main">
              <a:ext uri="{FF2B5EF4-FFF2-40B4-BE49-F238E27FC236}">
                <a16:creationId xmlns:a16="http://schemas.microsoft.com/office/drawing/2014/main" id="{547DF32A-E48A-4A3C-A5B4-4EB60CCA54FB}"/>
              </a:ext>
            </a:extLst>
          </p:cNvPr>
          <p:cNvSpPr>
            <a:spLocks xmlns:a="http://schemas.openxmlformats.org/drawingml/2006/main" noGrp="1"/>
          </p:cNvSpPr>
          <p:nvPr/>
        </p:nvSpPr>
        <p:spPr>
          <a:xfrm xmlns:a="http://schemas.openxmlformats.org/drawingml/2006/main">
            <a:off x="8896350" y="1619250"/>
            <a:ext cx="21336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4350" b="1">
                <a:solidFill>
                  <a:srgbClr val="FFFFFF"/>
                </a:solidFill>
              </a:defRPr>
            </a:pPr>
            <a:r>
              <a:rPr sz="4350" b="1">
                <a:solidFill>
                  <a:srgbClr val="FFFFFF"/>
                </a:solidFill>
              </a:rPr>
              <a:t>30m</a:t>
            </a:r>
          </a:p>
        </p:txBody>
      </p:sp>
      <p:sp>
        <p:nvSpPr>
          <p:cNvPr id="7" name="">
            <a:extLst xmlns:a="http://schemas.openxmlformats.org/drawingml/2006/main">
              <a:ext uri="{FF2B5EF4-FFF2-40B4-BE49-F238E27FC236}">
                <a16:creationId xmlns:a16="http://schemas.microsoft.com/office/drawing/2014/main" id="{E1CF9959-39A1-42DA-945F-59EAA06877CC}"/>
              </a:ext>
            </a:extLst>
          </p:cNvPr>
          <p:cNvSpPr>
            <a:spLocks xmlns:a="http://schemas.openxmlformats.org/drawingml/2006/main" noGrp="1"/>
          </p:cNvSpPr>
          <p:nvPr/>
        </p:nvSpPr>
        <p:spPr>
          <a:xfrm xmlns:a="http://schemas.openxmlformats.org/drawingml/2006/main">
            <a:off x="9563100" y="2381250"/>
            <a:ext cx="8001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0">
                <a:solidFill>
                  <a:srgbClr val="D0EDFA"/>
                </a:solidFill>
              </a:defRPr>
            </a:pPr>
            <a:r>
              <a:rPr sz="2250" b="0">
                <a:solidFill>
                  <a:srgbClr val="D0EDFA"/>
                </a:solidFill>
              </a:rPr>
              <a:t>+</a:t>
            </a:r>
          </a:p>
        </p:txBody>
      </p:sp>
      <p:sp>
        <p:nvSpPr>
          <p:cNvPr id="8" name="">
            <a:extLst xmlns:a="http://schemas.openxmlformats.org/drawingml/2006/main">
              <a:ext uri="{FF2B5EF4-FFF2-40B4-BE49-F238E27FC236}">
                <a16:creationId xmlns:a16="http://schemas.microsoft.com/office/drawing/2014/main" id="{29D37C27-8BBE-4085-B78B-7112C443E95C}"/>
              </a:ext>
            </a:extLst>
          </p:cNvPr>
          <p:cNvSpPr>
            <a:spLocks xmlns:a="http://schemas.openxmlformats.org/drawingml/2006/main" noGrp="1"/>
          </p:cNvSpPr>
          <p:nvPr/>
        </p:nvSpPr>
        <p:spPr>
          <a:xfrm xmlns:a="http://schemas.openxmlformats.org/drawingml/2006/main">
            <a:off x="8896350" y="2876550"/>
            <a:ext cx="2133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000" b="1">
                <a:solidFill>
                  <a:srgbClr val="FFFFFF"/>
                </a:solidFill>
              </a:defRPr>
            </a:pPr>
            <a:r>
              <a:rPr sz="3000" b="1">
                <a:solidFill>
                  <a:srgbClr val="FFFFFF"/>
                </a:solidFill>
              </a:rPr>
              <a:t>1D</a:t>
            </a:r>
          </a:p>
        </p:txBody>
      </p:sp>
      <p:sp>
        <p:nvSpPr>
          <p:cNvPr id="9" name="">
            <a:extLst xmlns:a="http://schemas.openxmlformats.org/drawingml/2006/main">
              <a:ext uri="{FF2B5EF4-FFF2-40B4-BE49-F238E27FC236}">
                <a16:creationId xmlns:a16="http://schemas.microsoft.com/office/drawing/2014/main" id="{3F406258-3050-471E-94EB-E6C188F39B09}"/>
              </a:ext>
            </a:extLst>
          </p:cNvPr>
          <p:cNvSpPr>
            <a:spLocks xmlns:a="http://schemas.openxmlformats.org/drawingml/2006/main" noGrp="1"/>
          </p:cNvSpPr>
          <p:nvPr/>
        </p:nvSpPr>
        <p:spPr>
          <a:xfrm xmlns:a="http://schemas.openxmlformats.org/drawingml/2006/main">
            <a:off x="685800" y="5067300"/>
            <a:ext cx="1053465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0" name="">
            <a:extLst xmlns:a="http://schemas.openxmlformats.org/drawingml/2006/main">
              <a:ext uri="{FF2B5EF4-FFF2-40B4-BE49-F238E27FC236}">
                <a16:creationId xmlns:a16="http://schemas.microsoft.com/office/drawing/2014/main" id="{8EA6EC05-0B2A-47CF-A690-B3B577A85E31}"/>
              </a:ext>
            </a:extLst>
          </p:cNvPr>
          <p:cNvSpPr>
            <a:spLocks xmlns:a="http://schemas.openxmlformats.org/drawingml/2006/main" noGrp="1"/>
          </p:cNvSpPr>
          <p:nvPr/>
        </p:nvSpPr>
        <p:spPr>
          <a:xfrm xmlns:a="http://schemas.openxmlformats.org/drawingml/2006/main">
            <a:off x="685800" y="5353050"/>
            <a:ext cx="200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3D8DFF"/>
                </a:solidFill>
              </a:defRPr>
            </a:pPr>
            <a:r>
              <a:rPr sz="1275" b="1">
                <a:solidFill>
                  <a:srgbClr val="3D8DFF"/>
                </a:solidFill>
              </a:rPr>
              <a:t>Research posture</a:t>
            </a:r>
          </a:p>
        </p:txBody>
      </p:sp>
      <p:sp>
        <p:nvSpPr>
          <p:cNvPr id="11" name="">
            <a:extLst xmlns:a="http://schemas.openxmlformats.org/drawingml/2006/main">
              <a:ext uri="{FF2B5EF4-FFF2-40B4-BE49-F238E27FC236}">
                <a16:creationId xmlns:a16="http://schemas.microsoft.com/office/drawing/2014/main" id="{602AC1FA-AD97-41FD-BC97-917FB9554CC2}"/>
              </a:ext>
            </a:extLst>
          </p:cNvPr>
          <p:cNvSpPr>
            <a:spLocks xmlns:a="http://schemas.openxmlformats.org/drawingml/2006/main" noGrp="1"/>
          </p:cNvSpPr>
          <p:nvPr/>
        </p:nvSpPr>
        <p:spPr>
          <a:xfrm xmlns:a="http://schemas.openxmlformats.org/drawingml/2006/main">
            <a:off x="2857500" y="5276850"/>
            <a:ext cx="8096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Observe first. Separate clock effects from state effects. Preserve 2024+ as untouched confirmation data.</a:t>
            </a:r>
          </a:p>
        </p:txBody>
      </p:sp>
      <p:sp>
        <p:nvSpPr>
          <p:cNvPr id="12" name="">
            <a:extLst xmlns:a="http://schemas.openxmlformats.org/drawingml/2006/main">
              <a:ext uri="{FF2B5EF4-FFF2-40B4-BE49-F238E27FC236}">
                <a16:creationId xmlns:a16="http://schemas.microsoft.com/office/drawing/2014/main" id="{EB18B1E0-FA3D-4D5A-947B-C8D72D32F068}"/>
              </a:ext>
            </a:extLst>
          </p:cNvPr>
          <p:cNvSpPr>
            <a:spLocks xmlns:a="http://schemas.openxmlformats.org/drawingml/2006/main" noGrp="1"/>
          </p:cNvSpPr>
          <p:nvPr/>
        </p:nvSpPr>
        <p:spPr>
          <a:xfrm xmlns:a="http://schemas.openxmlformats.org/drawingml/2006/main">
            <a:off x="685800" y="6343650"/>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B44738"/>
                </a:solidFill>
              </a:defRPr>
            </a:pPr>
            <a:r>
              <a:rPr sz="975" b="1">
                <a:solidFill>
                  <a:srgbClr val="B44738"/>
                </a:solidFill>
              </a:rPr>
              <a:t>DESCRIPTIVE SLICE · NO EDGE CLAIM</a:t>
            </a:r>
          </a:p>
        </p:txBody>
      </p:sp>
    </p:spTree>
    <p:extLst>
      <p:ext uri="{BB962C8B-B14F-4D97-AF65-F5344CB8AC3E}">
        <p14:creationId xmlns:p14="http://schemas.microsoft.com/office/powerpoint/2010/main" val="11223409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21B8F3D-8E49-4497-B87B-65E25198C509}"/>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7A68878E-E243-4308-A905-798FCD38BBF6}"/>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One asset is a legitimate research object</a:t>
            </a:r>
          </a:p>
        </p:txBody>
      </p:sp>
      <p:sp>
        <p:nvSpPr>
          <p:cNvPr id="3" name="">
            <a:extLst xmlns:a="http://schemas.openxmlformats.org/drawingml/2006/main">
              <a:ext uri="{FF2B5EF4-FFF2-40B4-BE49-F238E27FC236}">
                <a16:creationId xmlns:a16="http://schemas.microsoft.com/office/drawing/2014/main" id="{7FFC82AA-CF59-43BF-B59A-1D2446AD5CB0}"/>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1E2AEB22-FF7C-4E27-A25C-1080081F36C7}"/>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46B46644-B0F4-42BB-9338-9CE0CFF8FB92}"/>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02</a:t>
            </a:r>
          </a:p>
        </p:txBody>
      </p:sp>
      <p:sp>
        <p:nvSpPr>
          <p:cNvPr id="6" name="">
            <a:extLst xmlns:a="http://schemas.openxmlformats.org/drawingml/2006/main">
              <a:ext uri="{FF2B5EF4-FFF2-40B4-BE49-F238E27FC236}">
                <a16:creationId xmlns:a16="http://schemas.microsoft.com/office/drawing/2014/main" id="{72747313-3B64-4B81-BF15-E4B8167B272B}"/>
              </a:ext>
            </a:extLst>
          </p:cNvPr>
          <p:cNvSpPr>
            <a:spLocks xmlns:a="http://schemas.openxmlformats.org/drawingml/2006/main" noGrp="1"/>
          </p:cNvSpPr>
          <p:nvPr/>
        </p:nvSpPr>
        <p:spPr>
          <a:xfrm xmlns:a="http://schemas.openxmlformats.org/drawingml/2006/main">
            <a:off x="552450" y="1562100"/>
            <a:ext cx="5143500" cy="4095750"/>
          </a:xfrm>
          <a:prstGeom xmlns:a="http://schemas.openxmlformats.org/drawingml/2006/main" prst="rect">
            <a:avLst/>
          </a:prstGeom>
          <a:solidFill xmlns:a="http://schemas.openxmlformats.org/drawingml/2006/main">
            <a:srgbClr val="D0EDFA"/>
          </a:solidFill>
          <a:ln xmlns:a="http://schemas.openxmlformats.org/drawingml/2006/main" w="0">
            <a:solidFill>
              <a:srgbClr val="D0EDFA"/>
            </a:solidFill>
            <a:prstDash val="solid"/>
          </a:ln>
        </p:spPr>
      </p:sp>
      <p:sp>
        <p:nvSpPr>
          <p:cNvPr id="7" name="">
            <a:extLst xmlns:a="http://schemas.openxmlformats.org/drawingml/2006/main">
              <a:ext uri="{FF2B5EF4-FFF2-40B4-BE49-F238E27FC236}">
                <a16:creationId xmlns:a16="http://schemas.microsoft.com/office/drawing/2014/main" id="{23A648D8-D186-4856-85FF-48F4DFD00E75}"/>
              </a:ext>
            </a:extLst>
          </p:cNvPr>
          <p:cNvSpPr>
            <a:spLocks xmlns:a="http://schemas.openxmlformats.org/drawingml/2006/main" noGrp="1"/>
          </p:cNvSpPr>
          <p:nvPr/>
        </p:nvSpPr>
        <p:spPr>
          <a:xfrm xmlns:a="http://schemas.openxmlformats.org/drawingml/2006/main">
            <a:off x="819150" y="1847850"/>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What specialization buys</a:t>
            </a:r>
          </a:p>
        </p:txBody>
      </p:sp>
      <p:sp>
        <p:nvSpPr>
          <p:cNvPr id="8" name="">
            <a:extLst xmlns:a="http://schemas.openxmlformats.org/drawingml/2006/main">
              <a:ext uri="{FF2B5EF4-FFF2-40B4-BE49-F238E27FC236}">
                <a16:creationId xmlns:a16="http://schemas.microsoft.com/office/drawing/2014/main" id="{C7125655-CA33-4480-BAD7-0642B2686728}"/>
              </a:ext>
            </a:extLst>
          </p:cNvPr>
          <p:cNvSpPr>
            <a:spLocks xmlns:a="http://schemas.openxmlformats.org/drawingml/2006/main" noGrp="1"/>
          </p:cNvSpPr>
          <p:nvPr/>
        </p:nvSpPr>
        <p:spPr>
          <a:xfrm xmlns:a="http://schemas.openxmlformats.org/drawingml/2006/main">
            <a:off x="838200" y="25622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9" name="">
            <a:extLst xmlns:a="http://schemas.openxmlformats.org/drawingml/2006/main">
              <a:ext uri="{FF2B5EF4-FFF2-40B4-BE49-F238E27FC236}">
                <a16:creationId xmlns:a16="http://schemas.microsoft.com/office/drawing/2014/main" id="{7BFF0B6F-E60F-41D3-B876-B83AB132548F}"/>
              </a:ext>
            </a:extLst>
          </p:cNvPr>
          <p:cNvSpPr>
            <a:spLocks xmlns:a="http://schemas.openxmlformats.org/drawingml/2006/main" noGrp="1"/>
          </p:cNvSpPr>
          <p:nvPr/>
        </p:nvSpPr>
        <p:spPr>
          <a:xfrm xmlns:a="http://schemas.openxmlformats.org/drawingml/2006/main">
            <a:off x="1066800" y="2476500"/>
            <a:ext cx="41529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A focused view of NVDA’s own liquidity, attention, overnight, and time-of-day structure.</a:t>
            </a:r>
          </a:p>
        </p:txBody>
      </p:sp>
      <p:sp>
        <p:nvSpPr>
          <p:cNvPr id="10" name="">
            <a:extLst xmlns:a="http://schemas.openxmlformats.org/drawingml/2006/main">
              <a:ext uri="{FF2B5EF4-FFF2-40B4-BE49-F238E27FC236}">
                <a16:creationId xmlns:a16="http://schemas.microsoft.com/office/drawing/2014/main" id="{6A520738-1644-4440-91CC-32A7200A8F6A}"/>
              </a:ext>
            </a:extLst>
          </p:cNvPr>
          <p:cNvSpPr>
            <a:spLocks xmlns:a="http://schemas.openxmlformats.org/drawingml/2006/main" noGrp="1"/>
          </p:cNvSpPr>
          <p:nvPr/>
        </p:nvSpPr>
        <p:spPr>
          <a:xfrm xmlns:a="http://schemas.openxmlformats.org/drawingml/2006/main">
            <a:off x="838200" y="36480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1" name="">
            <a:extLst xmlns:a="http://schemas.openxmlformats.org/drawingml/2006/main">
              <a:ext uri="{FF2B5EF4-FFF2-40B4-BE49-F238E27FC236}">
                <a16:creationId xmlns:a16="http://schemas.microsoft.com/office/drawing/2014/main" id="{6C75B32B-A217-4FF5-8422-12C788A70DBD}"/>
              </a:ext>
            </a:extLst>
          </p:cNvPr>
          <p:cNvSpPr>
            <a:spLocks xmlns:a="http://schemas.openxmlformats.org/drawingml/2006/main" noGrp="1"/>
          </p:cNvSpPr>
          <p:nvPr/>
        </p:nvSpPr>
        <p:spPr>
          <a:xfrm xmlns:a="http://schemas.openxmlformats.org/drawingml/2006/main">
            <a:off x="1066800" y="3562350"/>
            <a:ext cx="41529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A tractable laboratory for operator-facing visual sanity checks.</a:t>
            </a:r>
          </a:p>
        </p:txBody>
      </p:sp>
      <p:sp>
        <p:nvSpPr>
          <p:cNvPr id="12" name="">
            <a:extLst xmlns:a="http://schemas.openxmlformats.org/drawingml/2006/main">
              <a:ext uri="{FF2B5EF4-FFF2-40B4-BE49-F238E27FC236}">
                <a16:creationId xmlns:a16="http://schemas.microsoft.com/office/drawing/2014/main" id="{D0C64286-5E9D-4150-BD39-87EFD4D94615}"/>
              </a:ext>
            </a:extLst>
          </p:cNvPr>
          <p:cNvSpPr>
            <a:spLocks xmlns:a="http://schemas.openxmlformats.org/drawingml/2006/main" noGrp="1"/>
          </p:cNvSpPr>
          <p:nvPr/>
        </p:nvSpPr>
        <p:spPr>
          <a:xfrm xmlns:a="http://schemas.openxmlformats.org/drawingml/2006/main">
            <a:off x="838200" y="45815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3" name="">
            <a:extLst xmlns:a="http://schemas.openxmlformats.org/drawingml/2006/main">
              <a:ext uri="{FF2B5EF4-FFF2-40B4-BE49-F238E27FC236}">
                <a16:creationId xmlns:a16="http://schemas.microsoft.com/office/drawing/2014/main" id="{6F79BE62-DF49-4686-9A7E-4588084093B5}"/>
              </a:ext>
            </a:extLst>
          </p:cNvPr>
          <p:cNvSpPr>
            <a:spLocks xmlns:a="http://schemas.openxmlformats.org/drawingml/2006/main" noGrp="1"/>
          </p:cNvSpPr>
          <p:nvPr/>
        </p:nvSpPr>
        <p:spPr>
          <a:xfrm xmlns:a="http://schemas.openxmlformats.org/drawingml/2006/main">
            <a:off x="1066800" y="4495800"/>
            <a:ext cx="41529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A strategy may trade one asset if its validation remains honest and causal.</a:t>
            </a:r>
          </a:p>
        </p:txBody>
      </p:sp>
      <p:sp>
        <p:nvSpPr>
          <p:cNvPr id="14" name="">
            <a:extLst xmlns:a="http://schemas.openxmlformats.org/drawingml/2006/main">
              <a:ext uri="{FF2B5EF4-FFF2-40B4-BE49-F238E27FC236}">
                <a16:creationId xmlns:a16="http://schemas.microsoft.com/office/drawing/2014/main" id="{C28F4AAF-8769-44C9-81A7-229CBE9BE5A3}"/>
              </a:ext>
            </a:extLst>
          </p:cNvPr>
          <p:cNvSpPr>
            <a:spLocks xmlns:a="http://schemas.openxmlformats.org/drawingml/2006/main" noGrp="1"/>
          </p:cNvSpPr>
          <p:nvPr/>
        </p:nvSpPr>
        <p:spPr>
          <a:xfrm xmlns:a="http://schemas.openxmlformats.org/drawingml/2006/main">
            <a:off x="6096000" y="1562100"/>
            <a:ext cx="5543550" cy="40957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5" name="">
            <a:extLst xmlns:a="http://schemas.openxmlformats.org/drawingml/2006/main">
              <a:ext uri="{FF2B5EF4-FFF2-40B4-BE49-F238E27FC236}">
                <a16:creationId xmlns:a16="http://schemas.microsoft.com/office/drawing/2014/main" id="{BE6041C7-0ACF-4544-924F-15AC20645B41}"/>
              </a:ext>
            </a:extLst>
          </p:cNvPr>
          <p:cNvSpPr>
            <a:spLocks xmlns:a="http://schemas.openxmlformats.org/drawingml/2006/main" noGrp="1"/>
          </p:cNvSpPr>
          <p:nvPr/>
        </p:nvSpPr>
        <p:spPr>
          <a:xfrm xmlns:a="http://schemas.openxmlformats.org/drawingml/2006/main">
            <a:off x="6400800" y="184785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What specialization costs</a:t>
            </a:r>
          </a:p>
        </p:txBody>
      </p:sp>
      <p:sp>
        <p:nvSpPr>
          <p:cNvPr id="16" name="">
            <a:extLst xmlns:a="http://schemas.openxmlformats.org/drawingml/2006/main">
              <a:ext uri="{FF2B5EF4-FFF2-40B4-BE49-F238E27FC236}">
                <a16:creationId xmlns:a16="http://schemas.microsoft.com/office/drawing/2014/main" id="{3E3CE7AF-A30B-4CAB-9E12-C2BCA595F603}"/>
              </a:ext>
            </a:extLst>
          </p:cNvPr>
          <p:cNvSpPr>
            <a:spLocks xmlns:a="http://schemas.openxmlformats.org/drawingml/2006/main" noGrp="1"/>
          </p:cNvSpPr>
          <p:nvPr/>
        </p:nvSpPr>
        <p:spPr>
          <a:xfrm xmlns:a="http://schemas.openxmlformats.org/drawingml/2006/main">
            <a:off x="6419850" y="25622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7" name="">
            <a:extLst xmlns:a="http://schemas.openxmlformats.org/drawingml/2006/main">
              <a:ext uri="{FF2B5EF4-FFF2-40B4-BE49-F238E27FC236}">
                <a16:creationId xmlns:a16="http://schemas.microsoft.com/office/drawing/2014/main" id="{792871F1-EBFA-43FC-80BA-24A18E5BEB5A}"/>
              </a:ext>
            </a:extLst>
          </p:cNvPr>
          <p:cNvSpPr>
            <a:spLocks xmlns:a="http://schemas.openxmlformats.org/drawingml/2006/main" noGrp="1"/>
          </p:cNvSpPr>
          <p:nvPr/>
        </p:nvSpPr>
        <p:spPr>
          <a:xfrm xmlns:a="http://schemas.openxmlformats.org/drawingml/2006/main">
            <a:off x="6648450" y="2476500"/>
            <a:ext cx="45339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Greater risk that a pattern describes one historical path rather than a durable mechanism.</a:t>
            </a:r>
          </a:p>
        </p:txBody>
      </p:sp>
      <p:sp>
        <p:nvSpPr>
          <p:cNvPr id="18" name="">
            <a:extLst xmlns:a="http://schemas.openxmlformats.org/drawingml/2006/main">
              <a:ext uri="{FF2B5EF4-FFF2-40B4-BE49-F238E27FC236}">
                <a16:creationId xmlns:a16="http://schemas.microsoft.com/office/drawing/2014/main" id="{8044997F-2A06-4C75-B06B-4D9EC5D150DE}"/>
              </a:ext>
            </a:extLst>
          </p:cNvPr>
          <p:cNvSpPr>
            <a:spLocks xmlns:a="http://schemas.openxmlformats.org/drawingml/2006/main" noGrp="1"/>
          </p:cNvSpPr>
          <p:nvPr/>
        </p:nvSpPr>
        <p:spPr>
          <a:xfrm xmlns:a="http://schemas.openxmlformats.org/drawingml/2006/main">
            <a:off x="6419850" y="36480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9" name="">
            <a:extLst xmlns:a="http://schemas.openxmlformats.org/drawingml/2006/main">
              <a:ext uri="{FF2B5EF4-FFF2-40B4-BE49-F238E27FC236}">
                <a16:creationId xmlns:a16="http://schemas.microsoft.com/office/drawing/2014/main" id="{6BE0BE4E-4850-4C8C-A8ED-6BCDDE633E01}"/>
              </a:ext>
            </a:extLst>
          </p:cNvPr>
          <p:cNvSpPr>
            <a:spLocks xmlns:a="http://schemas.openxmlformats.org/drawingml/2006/main" noGrp="1"/>
          </p:cNvSpPr>
          <p:nvPr/>
        </p:nvSpPr>
        <p:spPr>
          <a:xfrm xmlns:a="http://schemas.openxmlformats.org/drawingml/2006/main">
            <a:off x="6648450" y="3562350"/>
            <a:ext cx="45339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No cross-asset breadth to rescue weak causal reasoning.</a:t>
            </a:r>
          </a:p>
        </p:txBody>
      </p:sp>
      <p:sp>
        <p:nvSpPr>
          <p:cNvPr id="20" name="">
            <a:extLst xmlns:a="http://schemas.openxmlformats.org/drawingml/2006/main">
              <a:ext uri="{FF2B5EF4-FFF2-40B4-BE49-F238E27FC236}">
                <a16:creationId xmlns:a16="http://schemas.microsoft.com/office/drawing/2014/main" id="{E27DE615-6FBA-48AB-8B05-14A09B6E8AA8}"/>
              </a:ext>
            </a:extLst>
          </p:cNvPr>
          <p:cNvSpPr>
            <a:spLocks xmlns:a="http://schemas.openxmlformats.org/drawingml/2006/main" noGrp="1"/>
          </p:cNvSpPr>
          <p:nvPr/>
        </p:nvSpPr>
        <p:spPr>
          <a:xfrm xmlns:a="http://schemas.openxmlformats.org/drawingml/2006/main">
            <a:off x="6419850" y="45815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21" name="">
            <a:extLst xmlns:a="http://schemas.openxmlformats.org/drawingml/2006/main">
              <a:ext uri="{FF2B5EF4-FFF2-40B4-BE49-F238E27FC236}">
                <a16:creationId xmlns:a16="http://schemas.microsoft.com/office/drawing/2014/main" id="{E66DC162-A318-4DBC-94A3-D8896F58277D}"/>
              </a:ext>
            </a:extLst>
          </p:cNvPr>
          <p:cNvSpPr>
            <a:spLocks xmlns:a="http://schemas.openxmlformats.org/drawingml/2006/main" noGrp="1"/>
          </p:cNvSpPr>
          <p:nvPr/>
        </p:nvSpPr>
        <p:spPr>
          <a:xfrm xmlns:a="http://schemas.openxmlformats.org/drawingml/2006/main">
            <a:off x="6648450" y="4495800"/>
            <a:ext cx="45339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Untouched time, realistic execution, and explicit baselines become even more important.</a:t>
            </a:r>
          </a:p>
        </p:txBody>
      </p:sp>
      <p:sp>
        <p:nvSpPr>
          <p:cNvPr id="22" name="">
            <a:extLst xmlns:a="http://schemas.openxmlformats.org/drawingml/2006/main">
              <a:ext uri="{FF2B5EF4-FFF2-40B4-BE49-F238E27FC236}">
                <a16:creationId xmlns:a16="http://schemas.microsoft.com/office/drawing/2014/main" id="{E54ED22F-D085-40A5-BD49-1B5FD8AB24CC}"/>
              </a:ext>
            </a:extLst>
          </p:cNvPr>
          <p:cNvSpPr>
            <a:spLocks xmlns:a="http://schemas.openxmlformats.org/drawingml/2006/main" noGrp="1"/>
          </p:cNvSpPr>
          <p:nvPr/>
        </p:nvSpPr>
        <p:spPr>
          <a:xfrm xmlns:a="http://schemas.openxmlformats.org/drawingml/2006/main">
            <a:off x="552450" y="5905500"/>
            <a:ext cx="11087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950" b="1">
                <a:solidFill>
                  <a:srgbClr val="24364B"/>
                </a:solidFill>
              </a:defRPr>
            </a:pPr>
            <a:r>
              <a:rPr sz="1950" b="1">
                <a:solidFill>
                  <a:srgbClr val="24364B"/>
                </a:solidFill>
              </a:rPr>
              <a:t>The design target is not asset-agnosticism. It is falsifiable specialization.</a:t>
            </a:r>
          </a:p>
        </p:txBody>
      </p:sp>
    </p:spTree>
    <p:extLst>
      <p:ext uri="{BB962C8B-B14F-4D97-AF65-F5344CB8AC3E}">
        <p14:creationId xmlns:p14="http://schemas.microsoft.com/office/powerpoint/2010/main" val="4075624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644C1EA6-653F-4287-ACD8-11447BEB8868}"/>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8DAE3C0E-6B5C-4EFB-B796-94B5DC321A68}"/>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first microscope: NVDA’s return clock</a:t>
            </a:r>
          </a:p>
        </p:txBody>
      </p:sp>
      <p:sp>
        <p:nvSpPr>
          <p:cNvPr id="3" name="">
            <a:extLst xmlns:a="http://schemas.openxmlformats.org/drawingml/2006/main">
              <a:ext uri="{FF2B5EF4-FFF2-40B4-BE49-F238E27FC236}">
                <a16:creationId xmlns:a16="http://schemas.microsoft.com/office/drawing/2014/main" id="{D272C0F0-DE67-4EA7-9093-8EB5AFA1A6BF}"/>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33BF234A-8521-429F-BF10-7717D9FAA33A}"/>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00445E29-071C-44AC-9A05-0A0730D1B9DD}"/>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03</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4f6df5fecc0049ac"/>
          <a:stretch xmlns:a="http://schemas.openxmlformats.org/drawingml/2006/main"/>
        </p:blipFill>
        <p:spPr>
          <a:xfrm xmlns:a="http://schemas.openxmlformats.org/drawingml/2006/main">
            <a:off x="853369" y="1390650"/>
            <a:ext cx="7761111" cy="4762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65E20CB8-F753-42ED-B2B1-CC1B09CC8469}"/>
              </a:ext>
            </a:extLst>
          </p:cNvPr>
          <p:cNvSpPr>
            <a:spLocks xmlns:a="http://schemas.openxmlformats.org/drawingml/2006/main" noGrp="1"/>
          </p:cNvSpPr>
          <p:nvPr/>
        </p:nvSpPr>
        <p:spPr>
          <a:xfrm xmlns:a="http://schemas.openxmlformats.org/drawingml/2006/main">
            <a:off x="9277350" y="1504950"/>
            <a:ext cx="2457450" cy="44577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C7A5219E-B9A7-4EC0-A573-382B927CF3D3}"/>
              </a:ext>
            </a:extLst>
          </p:cNvPr>
          <p:cNvSpPr>
            <a:spLocks xmlns:a="http://schemas.openxmlformats.org/drawingml/2006/main" noGrp="1"/>
          </p:cNvSpPr>
          <p:nvPr/>
        </p:nvSpPr>
        <p:spPr>
          <a:xfrm xmlns:a="http://schemas.openxmlformats.org/drawingml/2006/main">
            <a:off x="9505950" y="1752600"/>
            <a:ext cx="2038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How to read it</a:t>
            </a:r>
          </a:p>
        </p:txBody>
      </p:sp>
      <p:sp>
        <p:nvSpPr>
          <p:cNvPr id="9" name="">
            <a:extLst xmlns:a="http://schemas.openxmlformats.org/drawingml/2006/main">
              <a:ext uri="{FF2B5EF4-FFF2-40B4-BE49-F238E27FC236}">
                <a16:creationId xmlns:a16="http://schemas.microsoft.com/office/drawing/2014/main" id="{3EEC2D2D-0DE5-4FB6-84A6-EEA3F37ABB0E}"/>
              </a:ext>
            </a:extLst>
          </p:cNvPr>
          <p:cNvSpPr>
            <a:spLocks xmlns:a="http://schemas.openxmlformats.org/drawingml/2006/main" noGrp="1"/>
          </p:cNvSpPr>
          <p:nvPr/>
        </p:nvSpPr>
        <p:spPr>
          <a:xfrm xmlns:a="http://schemas.openxmlformats.org/drawingml/2006/main">
            <a:off x="9505950" y="23526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6A13733E-9F2C-44E9-8329-4D453A2381CD}"/>
              </a:ext>
            </a:extLst>
          </p:cNvPr>
          <p:cNvSpPr>
            <a:spLocks xmlns:a="http://schemas.openxmlformats.org/drawingml/2006/main" noGrp="1"/>
          </p:cNvSpPr>
          <p:nvPr/>
        </p:nvSpPr>
        <p:spPr>
          <a:xfrm xmlns:a="http://schemas.openxmlformats.org/drawingml/2006/main">
            <a:off x="9734550" y="2266950"/>
            <a:ext cx="1809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Each dot is one observed return.</a:t>
            </a:r>
          </a:p>
        </p:txBody>
      </p:sp>
      <p:sp>
        <p:nvSpPr>
          <p:cNvPr id="11" name="">
            <a:extLst xmlns:a="http://schemas.openxmlformats.org/drawingml/2006/main">
              <a:ext uri="{FF2B5EF4-FFF2-40B4-BE49-F238E27FC236}">
                <a16:creationId xmlns:a16="http://schemas.microsoft.com/office/drawing/2014/main" id="{C127FF7A-5A7E-4AE3-9148-A95BC61DCBA9}"/>
              </a:ext>
            </a:extLst>
          </p:cNvPr>
          <p:cNvSpPr>
            <a:spLocks xmlns:a="http://schemas.openxmlformats.org/drawingml/2006/main" noGrp="1"/>
          </p:cNvSpPr>
          <p:nvPr/>
        </p:nvSpPr>
        <p:spPr>
          <a:xfrm xmlns:a="http://schemas.openxmlformats.org/drawingml/2006/main">
            <a:off x="9505950" y="30575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E7D7C71E-03DB-4E75-BBD8-B0EE408EE1EE}"/>
              </a:ext>
            </a:extLst>
          </p:cNvPr>
          <p:cNvSpPr>
            <a:spLocks xmlns:a="http://schemas.openxmlformats.org/drawingml/2006/main" noGrp="1"/>
          </p:cNvSpPr>
          <p:nvPr/>
        </p:nvSpPr>
        <p:spPr>
          <a:xfrm xmlns:a="http://schemas.openxmlformats.org/drawingml/2006/main">
            <a:off x="9734550" y="2971800"/>
            <a:ext cx="1809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The overnight gap sits left of the first bar.</a:t>
            </a:r>
          </a:p>
        </p:txBody>
      </p:sp>
      <p:sp>
        <p:nvSpPr>
          <p:cNvPr id="13" name="">
            <a:extLst xmlns:a="http://schemas.openxmlformats.org/drawingml/2006/main">
              <a:ext uri="{FF2B5EF4-FFF2-40B4-BE49-F238E27FC236}">
                <a16:creationId xmlns:a16="http://schemas.microsoft.com/office/drawing/2014/main" id="{C118B84D-912C-4736-9233-393E260A1918}"/>
              </a:ext>
            </a:extLst>
          </p:cNvPr>
          <p:cNvSpPr>
            <a:spLocks xmlns:a="http://schemas.openxmlformats.org/drawingml/2006/main" noGrp="1"/>
          </p:cNvSpPr>
          <p:nvPr/>
        </p:nvSpPr>
        <p:spPr>
          <a:xfrm xmlns:a="http://schemas.openxmlformats.org/drawingml/2006/main">
            <a:off x="9505950" y="39338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F09B2D7A-09BE-48AF-A049-4EAF0CBCCC2A}"/>
              </a:ext>
            </a:extLst>
          </p:cNvPr>
          <p:cNvSpPr>
            <a:spLocks xmlns:a="http://schemas.openxmlformats.org/drawingml/2006/main" noGrp="1"/>
          </p:cNvSpPr>
          <p:nvPr/>
        </p:nvSpPr>
        <p:spPr>
          <a:xfrm xmlns:a="http://schemas.openxmlformats.org/drawingml/2006/main">
            <a:off x="9734550" y="3848100"/>
            <a:ext cx="1809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Median ticks are tiny relative to the tails.</a:t>
            </a:r>
          </a:p>
        </p:txBody>
      </p:sp>
      <p:sp>
        <p:nvSpPr>
          <p:cNvPr id="15" name="">
            <a:extLst xmlns:a="http://schemas.openxmlformats.org/drawingml/2006/main">
              <a:ext uri="{FF2B5EF4-FFF2-40B4-BE49-F238E27FC236}">
                <a16:creationId xmlns:a16="http://schemas.microsoft.com/office/drawing/2014/main" id="{E1DD745E-2E8B-41A9-97E7-B6F4A5C622E9}"/>
              </a:ext>
            </a:extLst>
          </p:cNvPr>
          <p:cNvSpPr>
            <a:spLocks xmlns:a="http://schemas.openxmlformats.org/drawingml/2006/main" noGrp="1"/>
          </p:cNvSpPr>
          <p:nvPr/>
        </p:nvSpPr>
        <p:spPr>
          <a:xfrm xmlns:a="http://schemas.openxmlformats.org/drawingml/2006/main">
            <a:off x="9505950" y="48101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6" name="">
            <a:extLst xmlns:a="http://schemas.openxmlformats.org/drawingml/2006/main">
              <a:ext uri="{FF2B5EF4-FFF2-40B4-BE49-F238E27FC236}">
                <a16:creationId xmlns:a16="http://schemas.microsoft.com/office/drawing/2014/main" id="{B2A34EC4-1588-47F8-AFD4-C9E4090B79F4}"/>
              </a:ext>
            </a:extLst>
          </p:cNvPr>
          <p:cNvSpPr>
            <a:spLocks xmlns:a="http://schemas.openxmlformats.org/drawingml/2006/main" noGrp="1"/>
          </p:cNvSpPr>
          <p:nvPr/>
        </p:nvSpPr>
        <p:spPr>
          <a:xfrm xmlns:a="http://schemas.openxmlformats.org/drawingml/2006/main">
            <a:off x="9734550" y="4724400"/>
            <a:ext cx="1809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No filter, model, or trade rule is present.</a:t>
            </a:r>
          </a:p>
        </p:txBody>
      </p:sp>
    </p:spTree>
    <p:extLst>
      <p:ext uri="{BB962C8B-B14F-4D97-AF65-F5344CB8AC3E}">
        <p14:creationId xmlns:p14="http://schemas.microsoft.com/office/powerpoint/2010/main" val="176395772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AD3A92A5-957B-42CF-9C3E-E574587135EA}"/>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D30EAFA0-0203-4C66-B5BB-A818B62CCB73}"/>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clock is structured—even before prediction</a:t>
            </a:r>
          </a:p>
        </p:txBody>
      </p:sp>
      <p:sp>
        <p:nvSpPr>
          <p:cNvPr id="3" name="">
            <a:extLst xmlns:a="http://schemas.openxmlformats.org/drawingml/2006/main">
              <a:ext uri="{FF2B5EF4-FFF2-40B4-BE49-F238E27FC236}">
                <a16:creationId xmlns:a16="http://schemas.microsoft.com/office/drawing/2014/main" id="{CD041A14-579D-4F90-A310-09E3D886037D}"/>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B52EE072-E03C-4295-AD67-EF392579B091}"/>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6995E440-2B24-456F-B076-47DA09752CEA}"/>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04</a:t>
            </a:r>
          </a:p>
        </p:txBody>
      </p:sp>
      <p:sp>
        <p:nvSpPr>
          <p:cNvPr id="6" name="">
            <a:extLst xmlns:a="http://schemas.openxmlformats.org/drawingml/2006/main">
              <a:ext uri="{FF2B5EF4-FFF2-40B4-BE49-F238E27FC236}">
                <a16:creationId xmlns:a16="http://schemas.microsoft.com/office/drawing/2014/main" id="{02E2F2D5-DCB7-42D8-9BFC-37CBA8BEBF52}"/>
              </a:ext>
            </a:extLst>
          </p:cNvPr>
          <p:cNvSpPr>
            <a:spLocks xmlns:a="http://schemas.openxmlformats.org/drawingml/2006/main" noGrp="1"/>
          </p:cNvSpPr>
          <p:nvPr/>
        </p:nvSpPr>
        <p:spPr>
          <a:xfrm xmlns:a="http://schemas.openxmlformats.org/drawingml/2006/main">
            <a:off x="552450" y="1581150"/>
            <a:ext cx="24765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7" name="">
            <a:extLst xmlns:a="http://schemas.openxmlformats.org/drawingml/2006/main">
              <a:ext uri="{FF2B5EF4-FFF2-40B4-BE49-F238E27FC236}">
                <a16:creationId xmlns:a16="http://schemas.microsoft.com/office/drawing/2014/main" id="{630C950B-2782-4047-9B86-7DFB691EDAC9}"/>
              </a:ext>
            </a:extLst>
          </p:cNvPr>
          <p:cNvSpPr>
            <a:spLocks xmlns:a="http://schemas.openxmlformats.org/drawingml/2006/main" noGrp="1"/>
          </p:cNvSpPr>
          <p:nvPr/>
        </p:nvSpPr>
        <p:spPr>
          <a:xfrm xmlns:a="http://schemas.openxmlformats.org/drawingml/2006/main">
            <a:off x="552450" y="1581150"/>
            <a:ext cx="76200" cy="12001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8" name="">
            <a:extLst xmlns:a="http://schemas.openxmlformats.org/drawingml/2006/main">
              <a:ext uri="{FF2B5EF4-FFF2-40B4-BE49-F238E27FC236}">
                <a16:creationId xmlns:a16="http://schemas.microsoft.com/office/drawing/2014/main" id="{4721911E-B150-4576-B617-631F7AC8B771}"/>
              </a:ext>
            </a:extLst>
          </p:cNvPr>
          <p:cNvSpPr>
            <a:spLocks xmlns:a="http://schemas.openxmlformats.org/drawingml/2006/main" noGrp="1"/>
          </p:cNvSpPr>
          <p:nvPr/>
        </p:nvSpPr>
        <p:spPr>
          <a:xfrm xmlns:a="http://schemas.openxmlformats.org/drawingml/2006/main">
            <a:off x="781050" y="171450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1,499</a:t>
            </a:r>
          </a:p>
        </p:txBody>
      </p:sp>
      <p:sp>
        <p:nvSpPr>
          <p:cNvPr id="9" name="">
            <a:extLst xmlns:a="http://schemas.openxmlformats.org/drawingml/2006/main">
              <a:ext uri="{FF2B5EF4-FFF2-40B4-BE49-F238E27FC236}">
                <a16:creationId xmlns:a16="http://schemas.microsoft.com/office/drawing/2014/main" id="{12C770CC-682F-4B9F-9346-52080AA15265}"/>
              </a:ext>
            </a:extLst>
          </p:cNvPr>
          <p:cNvSpPr>
            <a:spLocks xmlns:a="http://schemas.openxmlformats.org/drawingml/2006/main" noGrp="1"/>
          </p:cNvSpPr>
          <p:nvPr/>
        </p:nvSpPr>
        <p:spPr>
          <a:xfrm xmlns:a="http://schemas.openxmlformats.org/drawingml/2006/main">
            <a:off x="781050" y="21812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sessions</a:t>
            </a:r>
          </a:p>
        </p:txBody>
      </p:sp>
      <p:sp>
        <p:nvSpPr>
          <p:cNvPr id="10" name="">
            <a:extLst xmlns:a="http://schemas.openxmlformats.org/drawingml/2006/main">
              <a:ext uri="{FF2B5EF4-FFF2-40B4-BE49-F238E27FC236}">
                <a16:creationId xmlns:a16="http://schemas.microsoft.com/office/drawing/2014/main" id="{2EFB318B-3EE5-4824-87D7-418BBF5E31B6}"/>
              </a:ext>
            </a:extLst>
          </p:cNvPr>
          <p:cNvSpPr>
            <a:spLocks xmlns:a="http://schemas.openxmlformats.org/drawingml/2006/main" noGrp="1"/>
          </p:cNvSpPr>
          <p:nvPr/>
        </p:nvSpPr>
        <p:spPr>
          <a:xfrm xmlns:a="http://schemas.openxmlformats.org/drawingml/2006/main">
            <a:off x="781050" y="24574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Frozen research window</a:t>
            </a:r>
          </a:p>
        </p:txBody>
      </p:sp>
      <p:sp>
        <p:nvSpPr>
          <p:cNvPr id="11" name="">
            <a:extLst xmlns:a="http://schemas.openxmlformats.org/drawingml/2006/main">
              <a:ext uri="{FF2B5EF4-FFF2-40B4-BE49-F238E27FC236}">
                <a16:creationId xmlns:a16="http://schemas.microsoft.com/office/drawing/2014/main" id="{EE3C9639-B813-4BA2-B1F8-5A030CABB714}"/>
              </a:ext>
            </a:extLst>
          </p:cNvPr>
          <p:cNvSpPr>
            <a:spLocks xmlns:a="http://schemas.openxmlformats.org/drawingml/2006/main" noGrp="1"/>
          </p:cNvSpPr>
          <p:nvPr/>
        </p:nvSpPr>
        <p:spPr>
          <a:xfrm xmlns:a="http://schemas.openxmlformats.org/drawingml/2006/main">
            <a:off x="3219450" y="1581150"/>
            <a:ext cx="24765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2" name="">
            <a:extLst xmlns:a="http://schemas.openxmlformats.org/drawingml/2006/main">
              <a:ext uri="{FF2B5EF4-FFF2-40B4-BE49-F238E27FC236}">
                <a16:creationId xmlns:a16="http://schemas.microsoft.com/office/drawing/2014/main" id="{775DE12E-41B8-442E-9458-FE759AF0501F}"/>
              </a:ext>
            </a:extLst>
          </p:cNvPr>
          <p:cNvSpPr>
            <a:spLocks xmlns:a="http://schemas.openxmlformats.org/drawingml/2006/main" noGrp="1"/>
          </p:cNvSpPr>
          <p:nvPr/>
        </p:nvSpPr>
        <p:spPr>
          <a:xfrm xmlns:a="http://schemas.openxmlformats.org/drawingml/2006/main">
            <a:off x="3219450" y="1581150"/>
            <a:ext cx="76200" cy="1200150"/>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3" name="">
            <a:extLst xmlns:a="http://schemas.openxmlformats.org/drawingml/2006/main">
              <a:ext uri="{FF2B5EF4-FFF2-40B4-BE49-F238E27FC236}">
                <a16:creationId xmlns:a16="http://schemas.microsoft.com/office/drawing/2014/main" id="{8C3860BC-26EF-4C39-B3D6-4DEFA8EB3440}"/>
              </a:ext>
            </a:extLst>
          </p:cNvPr>
          <p:cNvSpPr>
            <a:spLocks xmlns:a="http://schemas.openxmlformats.org/drawingml/2006/main" noGrp="1"/>
          </p:cNvSpPr>
          <p:nvPr/>
        </p:nvSpPr>
        <p:spPr>
          <a:xfrm xmlns:a="http://schemas.openxmlformats.org/drawingml/2006/main">
            <a:off x="3448050" y="171450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19,415</a:t>
            </a:r>
          </a:p>
        </p:txBody>
      </p:sp>
      <p:sp>
        <p:nvSpPr>
          <p:cNvPr id="14" name="">
            <a:extLst xmlns:a="http://schemas.openxmlformats.org/drawingml/2006/main">
              <a:ext uri="{FF2B5EF4-FFF2-40B4-BE49-F238E27FC236}">
                <a16:creationId xmlns:a16="http://schemas.microsoft.com/office/drawing/2014/main" id="{B12C8CEA-508B-4A72-BBC6-5457562A305C}"/>
              </a:ext>
            </a:extLst>
          </p:cNvPr>
          <p:cNvSpPr>
            <a:spLocks xmlns:a="http://schemas.openxmlformats.org/drawingml/2006/main" noGrp="1"/>
          </p:cNvSpPr>
          <p:nvPr/>
        </p:nvSpPr>
        <p:spPr>
          <a:xfrm xmlns:a="http://schemas.openxmlformats.org/drawingml/2006/main">
            <a:off x="3448050" y="21812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30-minute bars</a:t>
            </a:r>
          </a:p>
        </p:txBody>
      </p:sp>
      <p:sp>
        <p:nvSpPr>
          <p:cNvPr id="15" name="">
            <a:extLst xmlns:a="http://schemas.openxmlformats.org/drawingml/2006/main">
              <a:ext uri="{FF2B5EF4-FFF2-40B4-BE49-F238E27FC236}">
                <a16:creationId xmlns:a16="http://schemas.microsoft.com/office/drawing/2014/main" id="{1857FF76-8347-4E26-91D3-4E84494A813C}"/>
              </a:ext>
            </a:extLst>
          </p:cNvPr>
          <p:cNvSpPr>
            <a:spLocks xmlns:a="http://schemas.openxmlformats.org/drawingml/2006/main" noGrp="1"/>
          </p:cNvSpPr>
          <p:nvPr/>
        </p:nvSpPr>
        <p:spPr>
          <a:xfrm xmlns:a="http://schemas.openxmlformats.org/drawingml/2006/main">
            <a:off x="3448050" y="24574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Regular-session observations</a:t>
            </a:r>
          </a:p>
        </p:txBody>
      </p:sp>
      <p:sp>
        <p:nvSpPr>
          <p:cNvPr id="16" name="">
            <a:extLst xmlns:a="http://schemas.openxmlformats.org/drawingml/2006/main">
              <a:ext uri="{FF2B5EF4-FFF2-40B4-BE49-F238E27FC236}">
                <a16:creationId xmlns:a16="http://schemas.microsoft.com/office/drawing/2014/main" id="{07E0B914-DD75-4760-84FD-32267C914815}"/>
              </a:ext>
            </a:extLst>
          </p:cNvPr>
          <p:cNvSpPr>
            <a:spLocks xmlns:a="http://schemas.openxmlformats.org/drawingml/2006/main" noGrp="1"/>
          </p:cNvSpPr>
          <p:nvPr/>
        </p:nvSpPr>
        <p:spPr>
          <a:xfrm xmlns:a="http://schemas.openxmlformats.org/drawingml/2006/main">
            <a:off x="5886450" y="1581150"/>
            <a:ext cx="24765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7" name="">
            <a:extLst xmlns:a="http://schemas.openxmlformats.org/drawingml/2006/main">
              <a:ext uri="{FF2B5EF4-FFF2-40B4-BE49-F238E27FC236}">
                <a16:creationId xmlns:a16="http://schemas.microsoft.com/office/drawing/2014/main" id="{34544C52-C1AC-4828-A4F4-613256132EC7}"/>
              </a:ext>
            </a:extLst>
          </p:cNvPr>
          <p:cNvSpPr>
            <a:spLocks xmlns:a="http://schemas.openxmlformats.org/drawingml/2006/main" noGrp="1"/>
          </p:cNvSpPr>
          <p:nvPr/>
        </p:nvSpPr>
        <p:spPr>
          <a:xfrm xmlns:a="http://schemas.openxmlformats.org/drawingml/2006/main">
            <a:off x="5886450" y="1581150"/>
            <a:ext cx="76200" cy="1200150"/>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18" name="">
            <a:extLst xmlns:a="http://schemas.openxmlformats.org/drawingml/2006/main">
              <a:ext uri="{FF2B5EF4-FFF2-40B4-BE49-F238E27FC236}">
                <a16:creationId xmlns:a16="http://schemas.microsoft.com/office/drawing/2014/main" id="{5EFE59B2-39B7-4E9C-94E4-E7217B60BC35}"/>
              </a:ext>
            </a:extLst>
          </p:cNvPr>
          <p:cNvSpPr>
            <a:spLocks xmlns:a="http://schemas.openxmlformats.org/drawingml/2006/main" noGrp="1"/>
          </p:cNvSpPr>
          <p:nvPr/>
        </p:nvSpPr>
        <p:spPr>
          <a:xfrm xmlns:a="http://schemas.openxmlformats.org/drawingml/2006/main">
            <a:off x="6115050" y="171450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1,490</a:t>
            </a:r>
          </a:p>
        </p:txBody>
      </p:sp>
      <p:sp>
        <p:nvSpPr>
          <p:cNvPr id="19" name="">
            <a:extLst xmlns:a="http://schemas.openxmlformats.org/drawingml/2006/main">
              <a:ext uri="{FF2B5EF4-FFF2-40B4-BE49-F238E27FC236}">
                <a16:creationId xmlns:a16="http://schemas.microsoft.com/office/drawing/2014/main" id="{87FBF508-4852-405F-A928-4ABC193BD008}"/>
              </a:ext>
            </a:extLst>
          </p:cNvPr>
          <p:cNvSpPr>
            <a:spLocks xmlns:a="http://schemas.openxmlformats.org/drawingml/2006/main" noGrp="1"/>
          </p:cNvSpPr>
          <p:nvPr/>
        </p:nvSpPr>
        <p:spPr>
          <a:xfrm xmlns:a="http://schemas.openxmlformats.org/drawingml/2006/main">
            <a:off x="6115050" y="21812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overnight gaps</a:t>
            </a:r>
          </a:p>
        </p:txBody>
      </p:sp>
      <p:sp>
        <p:nvSpPr>
          <p:cNvPr id="20" name="">
            <a:extLst xmlns:a="http://schemas.openxmlformats.org/drawingml/2006/main">
              <a:ext uri="{FF2B5EF4-FFF2-40B4-BE49-F238E27FC236}">
                <a16:creationId xmlns:a16="http://schemas.microsoft.com/office/drawing/2014/main" id="{B7773EC9-5048-4966-AF62-076D53F40B4D}"/>
              </a:ext>
            </a:extLst>
          </p:cNvPr>
          <p:cNvSpPr>
            <a:spLocks xmlns:a="http://schemas.openxmlformats.org/drawingml/2006/main" noGrp="1"/>
          </p:cNvSpPr>
          <p:nvPr/>
        </p:nvSpPr>
        <p:spPr>
          <a:xfrm xmlns:a="http://schemas.openxmlformats.org/drawingml/2006/main">
            <a:off x="6115050" y="24574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Valid close-to-open observations</a:t>
            </a:r>
          </a:p>
        </p:txBody>
      </p:sp>
      <p:sp>
        <p:nvSpPr>
          <p:cNvPr id="21" name="">
            <a:extLst xmlns:a="http://schemas.openxmlformats.org/drawingml/2006/main">
              <a:ext uri="{FF2B5EF4-FFF2-40B4-BE49-F238E27FC236}">
                <a16:creationId xmlns:a16="http://schemas.microsoft.com/office/drawing/2014/main" id="{1B48200F-6E35-4B9A-9074-46A4910F0E20}"/>
              </a:ext>
            </a:extLst>
          </p:cNvPr>
          <p:cNvSpPr>
            <a:spLocks xmlns:a="http://schemas.openxmlformats.org/drawingml/2006/main" noGrp="1"/>
          </p:cNvSpPr>
          <p:nvPr/>
        </p:nvSpPr>
        <p:spPr>
          <a:xfrm xmlns:a="http://schemas.openxmlformats.org/drawingml/2006/main">
            <a:off x="8553450" y="1581150"/>
            <a:ext cx="30861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22" name="">
            <a:extLst xmlns:a="http://schemas.openxmlformats.org/drawingml/2006/main">
              <a:ext uri="{FF2B5EF4-FFF2-40B4-BE49-F238E27FC236}">
                <a16:creationId xmlns:a16="http://schemas.microsoft.com/office/drawing/2014/main" id="{047371F8-66EF-4962-BC31-E1606B2546B6}"/>
              </a:ext>
            </a:extLst>
          </p:cNvPr>
          <p:cNvSpPr>
            <a:spLocks xmlns:a="http://schemas.openxmlformats.org/drawingml/2006/main" noGrp="1"/>
          </p:cNvSpPr>
          <p:nvPr/>
        </p:nvSpPr>
        <p:spPr>
          <a:xfrm xmlns:a="http://schemas.openxmlformats.org/drawingml/2006/main">
            <a:off x="8553450" y="1581150"/>
            <a:ext cx="76200" cy="1200150"/>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23" name="">
            <a:extLst xmlns:a="http://schemas.openxmlformats.org/drawingml/2006/main">
              <a:ext uri="{FF2B5EF4-FFF2-40B4-BE49-F238E27FC236}">
                <a16:creationId xmlns:a16="http://schemas.microsoft.com/office/drawing/2014/main" id="{E9B7D0EE-D0A8-4253-840D-5A6366880CBA}"/>
              </a:ext>
            </a:extLst>
          </p:cNvPr>
          <p:cNvSpPr>
            <a:spLocks xmlns:a="http://schemas.openxmlformats.org/drawingml/2006/main" noGrp="1"/>
          </p:cNvSpPr>
          <p:nvPr/>
        </p:nvSpPr>
        <p:spPr>
          <a:xfrm xmlns:a="http://schemas.openxmlformats.org/drawingml/2006/main">
            <a:off x="8782050" y="1714500"/>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2024+</a:t>
            </a:r>
          </a:p>
        </p:txBody>
      </p:sp>
      <p:sp>
        <p:nvSpPr>
          <p:cNvPr id="24" name="">
            <a:extLst xmlns:a="http://schemas.openxmlformats.org/drawingml/2006/main">
              <a:ext uri="{FF2B5EF4-FFF2-40B4-BE49-F238E27FC236}">
                <a16:creationId xmlns:a16="http://schemas.microsoft.com/office/drawing/2014/main" id="{952EBCD5-893E-48C7-B6CD-2D8D83C95357}"/>
              </a:ext>
            </a:extLst>
          </p:cNvPr>
          <p:cNvSpPr>
            <a:spLocks xmlns:a="http://schemas.openxmlformats.org/drawingml/2006/main" noGrp="1"/>
          </p:cNvSpPr>
          <p:nvPr/>
        </p:nvSpPr>
        <p:spPr>
          <a:xfrm xmlns:a="http://schemas.openxmlformats.org/drawingml/2006/main">
            <a:off x="8782050" y="2181225"/>
            <a:ext cx="2705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unread</a:t>
            </a:r>
          </a:p>
        </p:txBody>
      </p:sp>
      <p:sp>
        <p:nvSpPr>
          <p:cNvPr id="25" name="">
            <a:extLst xmlns:a="http://schemas.openxmlformats.org/drawingml/2006/main">
              <a:ext uri="{FF2B5EF4-FFF2-40B4-BE49-F238E27FC236}">
                <a16:creationId xmlns:a16="http://schemas.microsoft.com/office/drawing/2014/main" id="{13B51CA5-D812-4C99-986A-A8B0FAC5C81D}"/>
              </a:ext>
            </a:extLst>
          </p:cNvPr>
          <p:cNvSpPr>
            <a:spLocks xmlns:a="http://schemas.openxmlformats.org/drawingml/2006/main" noGrp="1"/>
          </p:cNvSpPr>
          <p:nvPr/>
        </p:nvSpPr>
        <p:spPr>
          <a:xfrm xmlns:a="http://schemas.openxmlformats.org/drawingml/2006/main">
            <a:off x="8782050" y="2457450"/>
            <a:ext cx="2705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Reserved confirmation boundary</a:t>
            </a:r>
          </a:p>
        </p:txBody>
      </p:sp>
      <p:sp>
        <p:nvSpPr>
          <p:cNvPr id="26" name="">
            <a:extLst xmlns:a="http://schemas.openxmlformats.org/drawingml/2006/main">
              <a:ext uri="{FF2B5EF4-FFF2-40B4-BE49-F238E27FC236}">
                <a16:creationId xmlns:a16="http://schemas.microsoft.com/office/drawing/2014/main" id="{28DB5F35-6E82-4501-8EDB-A977F2F0AD4A}"/>
              </a:ext>
            </a:extLst>
          </p:cNvPr>
          <p:cNvSpPr>
            <a:spLocks xmlns:a="http://schemas.openxmlformats.org/drawingml/2006/main" noGrp="1"/>
          </p:cNvSpPr>
          <p:nvPr/>
        </p:nvSpPr>
        <p:spPr>
          <a:xfrm xmlns:a="http://schemas.openxmlformats.org/drawingml/2006/main">
            <a:off x="552450" y="3143250"/>
            <a:ext cx="11087100" cy="24003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27" name="">
            <a:extLst xmlns:a="http://schemas.openxmlformats.org/drawingml/2006/main">
              <a:ext uri="{FF2B5EF4-FFF2-40B4-BE49-F238E27FC236}">
                <a16:creationId xmlns:a16="http://schemas.microsoft.com/office/drawing/2014/main" id="{F73E26CC-F5C6-499D-BB92-C8AAEA726426}"/>
              </a:ext>
            </a:extLst>
          </p:cNvPr>
          <p:cNvSpPr>
            <a:spLocks xmlns:a="http://schemas.openxmlformats.org/drawingml/2006/main" noGrp="1"/>
          </p:cNvSpPr>
          <p:nvPr/>
        </p:nvSpPr>
        <p:spPr>
          <a:xfrm xmlns:a="http://schemas.openxmlformats.org/drawingml/2006/main">
            <a:off x="819150" y="34290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00000"/>
                </a:solidFill>
              </a:defRPr>
            </a:pPr>
            <a:r>
              <a:rPr sz="1875" b="1">
                <a:solidFill>
                  <a:srgbClr val="000000"/>
                </a:solidFill>
              </a:rPr>
              <a:t>Visible pattern</a:t>
            </a:r>
          </a:p>
        </p:txBody>
      </p:sp>
      <p:sp>
        <p:nvSpPr>
          <p:cNvPr id="28" name="">
            <a:extLst xmlns:a="http://schemas.openxmlformats.org/drawingml/2006/main">
              <a:ext uri="{FF2B5EF4-FFF2-40B4-BE49-F238E27FC236}">
                <a16:creationId xmlns:a16="http://schemas.microsoft.com/office/drawing/2014/main" id="{E362F7FB-26C4-4A44-858F-C84CA1D052FA}"/>
              </a:ext>
            </a:extLst>
          </p:cNvPr>
          <p:cNvSpPr>
            <a:spLocks xmlns:a="http://schemas.openxmlformats.org/drawingml/2006/main" noGrp="1"/>
          </p:cNvSpPr>
          <p:nvPr/>
        </p:nvSpPr>
        <p:spPr>
          <a:xfrm xmlns:a="http://schemas.openxmlformats.org/drawingml/2006/main">
            <a:off x="838200" y="404812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29" name="">
            <a:extLst xmlns:a="http://schemas.openxmlformats.org/drawingml/2006/main">
              <a:ext uri="{FF2B5EF4-FFF2-40B4-BE49-F238E27FC236}">
                <a16:creationId xmlns:a16="http://schemas.microsoft.com/office/drawing/2014/main" id="{1F2B2018-AE9A-4349-955A-5CCA515E6DBC}"/>
              </a:ext>
            </a:extLst>
          </p:cNvPr>
          <p:cNvSpPr>
            <a:spLocks xmlns:a="http://schemas.openxmlformats.org/drawingml/2006/main" noGrp="1"/>
          </p:cNvSpPr>
          <p:nvPr/>
        </p:nvSpPr>
        <p:spPr>
          <a:xfrm xmlns:a="http://schemas.openxmlformats.org/drawingml/2006/main">
            <a:off x="1066800" y="39624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The overnight gap has the broadest return distribution.</a:t>
            </a:r>
          </a:p>
        </p:txBody>
      </p:sp>
      <p:sp>
        <p:nvSpPr>
          <p:cNvPr id="30" name="">
            <a:extLst xmlns:a="http://schemas.openxmlformats.org/drawingml/2006/main">
              <a:ext uri="{FF2B5EF4-FFF2-40B4-BE49-F238E27FC236}">
                <a16:creationId xmlns:a16="http://schemas.microsoft.com/office/drawing/2014/main" id="{192D4E2D-254D-4329-9868-752F916587C7}"/>
              </a:ext>
            </a:extLst>
          </p:cNvPr>
          <p:cNvSpPr>
            <a:spLocks xmlns:a="http://schemas.openxmlformats.org/drawingml/2006/main" noGrp="1"/>
          </p:cNvSpPr>
          <p:nvPr/>
        </p:nvSpPr>
        <p:spPr>
          <a:xfrm xmlns:a="http://schemas.openxmlformats.org/drawingml/2006/main">
            <a:off x="838200" y="47910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31" name="">
            <a:extLst xmlns:a="http://schemas.openxmlformats.org/drawingml/2006/main">
              <a:ext uri="{FF2B5EF4-FFF2-40B4-BE49-F238E27FC236}">
                <a16:creationId xmlns:a16="http://schemas.microsoft.com/office/drawing/2014/main" id="{F01FDC71-73B5-434B-A165-2450A3FD580C}"/>
              </a:ext>
            </a:extLst>
          </p:cNvPr>
          <p:cNvSpPr>
            <a:spLocks xmlns:a="http://schemas.openxmlformats.org/drawingml/2006/main" noGrp="1"/>
          </p:cNvSpPr>
          <p:nvPr/>
        </p:nvSpPr>
        <p:spPr>
          <a:xfrm xmlns:a="http://schemas.openxmlformats.org/drawingml/2006/main">
            <a:off x="1066800" y="4705350"/>
            <a:ext cx="45339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The first 30 minutes are the widest regular-session bar; midday compresses; the close widens again.</a:t>
            </a:r>
          </a:p>
        </p:txBody>
      </p:sp>
      <p:sp>
        <p:nvSpPr>
          <p:cNvPr id="32" name="">
            <a:extLst xmlns:a="http://schemas.openxmlformats.org/drawingml/2006/main">
              <a:ext uri="{FF2B5EF4-FFF2-40B4-BE49-F238E27FC236}">
                <a16:creationId xmlns:a16="http://schemas.microsoft.com/office/drawing/2014/main" id="{F9C7EE4C-DC0C-42EC-A172-54EF9ED79578}"/>
              </a:ext>
            </a:extLst>
          </p:cNvPr>
          <p:cNvSpPr>
            <a:spLocks xmlns:a="http://schemas.openxmlformats.org/drawingml/2006/main" noGrp="1"/>
          </p:cNvSpPr>
          <p:nvPr/>
        </p:nvSpPr>
        <p:spPr>
          <a:xfrm xmlns:a="http://schemas.openxmlformats.org/drawingml/2006/main">
            <a:off x="6400800" y="34290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00000"/>
                </a:solidFill>
              </a:defRPr>
            </a:pPr>
            <a:r>
              <a:rPr sz="1875" b="1">
                <a:solidFill>
                  <a:srgbClr val="000000"/>
                </a:solidFill>
              </a:rPr>
              <a:t>What remains unknown</a:t>
            </a:r>
          </a:p>
        </p:txBody>
      </p:sp>
      <p:sp>
        <p:nvSpPr>
          <p:cNvPr id="33" name="">
            <a:extLst xmlns:a="http://schemas.openxmlformats.org/drawingml/2006/main">
              <a:ext uri="{FF2B5EF4-FFF2-40B4-BE49-F238E27FC236}">
                <a16:creationId xmlns:a16="http://schemas.microsoft.com/office/drawing/2014/main" id="{F2DADE52-D114-47DF-B665-F4B0A169242B}"/>
              </a:ext>
            </a:extLst>
          </p:cNvPr>
          <p:cNvSpPr>
            <a:spLocks xmlns:a="http://schemas.openxmlformats.org/drawingml/2006/main" noGrp="1"/>
          </p:cNvSpPr>
          <p:nvPr/>
        </p:nvSpPr>
        <p:spPr>
          <a:xfrm xmlns:a="http://schemas.openxmlformats.org/drawingml/2006/main">
            <a:off x="6419850" y="40481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34" name="">
            <a:extLst xmlns:a="http://schemas.openxmlformats.org/drawingml/2006/main">
              <a:ext uri="{FF2B5EF4-FFF2-40B4-BE49-F238E27FC236}">
                <a16:creationId xmlns:a16="http://schemas.microsoft.com/office/drawing/2014/main" id="{743A17F7-3B3F-487D-A2DD-C78922C810D5}"/>
              </a:ext>
            </a:extLst>
          </p:cNvPr>
          <p:cNvSpPr>
            <a:spLocks xmlns:a="http://schemas.openxmlformats.org/drawingml/2006/main" noGrp="1"/>
          </p:cNvSpPr>
          <p:nvPr/>
        </p:nvSpPr>
        <p:spPr>
          <a:xfrm xmlns:a="http://schemas.openxmlformats.org/drawingml/2006/main">
            <a:off x="6648450" y="39624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Whether prior information predicts which tail will occur.</a:t>
            </a:r>
          </a:p>
        </p:txBody>
      </p:sp>
      <p:sp>
        <p:nvSpPr>
          <p:cNvPr id="35" name="">
            <a:extLst xmlns:a="http://schemas.openxmlformats.org/drawingml/2006/main">
              <a:ext uri="{FF2B5EF4-FFF2-40B4-BE49-F238E27FC236}">
                <a16:creationId xmlns:a16="http://schemas.microsoft.com/office/drawing/2014/main" id="{66542F2E-BD53-41AB-9288-BB1A1A6B0071}"/>
              </a:ext>
            </a:extLst>
          </p:cNvPr>
          <p:cNvSpPr>
            <a:spLocks xmlns:a="http://schemas.openxmlformats.org/drawingml/2006/main" noGrp="1"/>
          </p:cNvSpPr>
          <p:nvPr/>
        </p:nvSpPr>
        <p:spPr>
          <a:xfrm xmlns:a="http://schemas.openxmlformats.org/drawingml/2006/main">
            <a:off x="6419850" y="47910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36" name="">
            <a:extLst xmlns:a="http://schemas.openxmlformats.org/drawingml/2006/main">
              <a:ext uri="{FF2B5EF4-FFF2-40B4-BE49-F238E27FC236}">
                <a16:creationId xmlns:a16="http://schemas.microsoft.com/office/drawing/2014/main" id="{D2765F62-2E59-4E98-8BE9-40A08ECE1BFC}"/>
              </a:ext>
            </a:extLst>
          </p:cNvPr>
          <p:cNvSpPr>
            <a:spLocks xmlns:a="http://schemas.openxmlformats.org/drawingml/2006/main" noGrp="1"/>
          </p:cNvSpPr>
          <p:nvPr/>
        </p:nvSpPr>
        <p:spPr>
          <a:xfrm xmlns:a="http://schemas.openxmlformats.org/drawingml/2006/main">
            <a:off x="6648450" y="4705350"/>
            <a:ext cx="44958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Whether any conditional difference survives costs and untouched time.</a:t>
            </a:r>
          </a:p>
        </p:txBody>
      </p:sp>
    </p:spTree>
    <p:extLst>
      <p:ext uri="{BB962C8B-B14F-4D97-AF65-F5344CB8AC3E}">
        <p14:creationId xmlns:p14="http://schemas.microsoft.com/office/powerpoint/2010/main" val="781939339"/>
      </p:ext>
    </p:extLst>
  </p:cSld>
</p:sld>
</file>

<file path=ppt/slides/slide5.xml><?xml version="1.0" encoding="utf-8"?>
<p:sld xmlns:p="http://schemas.openxmlformats.org/presentationml/2006/main">
  <p:cSld>
    <p:bg>
      <p:bgPr>
        <a:solidFill xmlns:a="http://schemas.openxmlformats.org/drawingml/2006/main">
          <a:srgbClr val="24364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6748E66-322E-4DC5-9795-EC628C6EEEED}"/>
              </a:ext>
            </a:extLst>
          </p:cNvPr>
          <p:cNvSpPr>
            <a:spLocks xmlns:a="http://schemas.openxmlformats.org/drawingml/2006/main" noGrp="1"/>
          </p:cNvSpPr>
          <p:nvPr/>
        </p:nvSpPr>
        <p:spPr>
          <a:xfrm xmlns:a="http://schemas.openxmlformats.org/drawingml/2006/main">
            <a:off x="685800" y="8953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0EDFA"/>
                </a:solidFill>
              </a:defRPr>
            </a:pPr>
            <a:r>
              <a:rPr sz="1275" b="1">
                <a:solidFill>
                  <a:srgbClr val="D0EDFA"/>
                </a:solidFill>
              </a:rPr>
              <a:t>SECOND MICROSCOPE</a:t>
            </a:r>
          </a:p>
        </p:txBody>
      </p:sp>
      <p:sp>
        <p:nvSpPr>
          <p:cNvPr id="2" name="">
            <a:extLst xmlns:a="http://schemas.openxmlformats.org/drawingml/2006/main">
              <a:ext uri="{FF2B5EF4-FFF2-40B4-BE49-F238E27FC236}">
                <a16:creationId xmlns:a16="http://schemas.microsoft.com/office/drawing/2014/main" id="{10DD2814-1B6B-41C2-BA02-63ADBD0B53AC}"/>
              </a:ext>
            </a:extLst>
          </p:cNvPr>
          <p:cNvSpPr>
            <a:spLocks xmlns:a="http://schemas.openxmlformats.org/drawingml/2006/main" noGrp="1"/>
          </p:cNvSpPr>
          <p:nvPr/>
        </p:nvSpPr>
        <p:spPr>
          <a:xfrm xmlns:a="http://schemas.openxmlformats.org/drawingml/2006/main">
            <a:off x="685800" y="1619250"/>
            <a:ext cx="85725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FFFFFF"/>
                </a:solidFill>
              </a:defRPr>
            </a:pPr>
            <a:r>
              <a:rPr sz="4800" b="1">
                <a:solidFill>
                  <a:srgbClr val="FFFFFF"/>
                </a:solidFill>
              </a:rPr>
              <a:t>Move up one level:</a:t>
            </a:r>
          </a:p>
          <a:p xmlns:a="http://schemas.openxmlformats.org/drawingml/2006/main">
            <a:pPr algn="l">
              <a:defRPr sz="4800" b="1">
                <a:solidFill>
                  <a:srgbClr val="FFFFFF"/>
                </a:solidFill>
              </a:defRPr>
            </a:pPr>
            <a:r>
              <a:rPr sz="4800" b="1">
                <a:solidFill>
                  <a:srgbClr val="FFFFFF"/>
                </a:solidFill>
              </a:rPr>
              <a:t>daily return geometry</a:t>
            </a:r>
          </a:p>
        </p:txBody>
      </p:sp>
      <p:sp>
        <p:nvSpPr>
          <p:cNvPr id="3" name="">
            <a:extLst xmlns:a="http://schemas.openxmlformats.org/drawingml/2006/main">
              <a:ext uri="{FF2B5EF4-FFF2-40B4-BE49-F238E27FC236}">
                <a16:creationId xmlns:a16="http://schemas.microsoft.com/office/drawing/2014/main" id="{0978FAC8-619F-48A0-8B7D-D96470E37AAA}"/>
              </a:ext>
            </a:extLst>
          </p:cNvPr>
          <p:cNvSpPr>
            <a:spLocks xmlns:a="http://schemas.openxmlformats.org/drawingml/2006/main" noGrp="1"/>
          </p:cNvSpPr>
          <p:nvPr/>
        </p:nvSpPr>
        <p:spPr>
          <a:xfrm xmlns:a="http://schemas.openxmlformats.org/drawingml/2006/main">
            <a:off x="723900" y="3886200"/>
            <a:ext cx="9906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0">
                <a:solidFill>
                  <a:srgbClr val="D0EDFA"/>
                </a:solidFill>
              </a:defRPr>
            </a:pPr>
            <a:r>
              <a:rPr sz="2100" b="0">
                <a:solidFill>
                  <a:srgbClr val="D0EDFA"/>
                </a:solidFill>
              </a:rPr>
              <a:t>The same frozen 2018–2023 NVDA history is viewed through prior-versus-forward cumulative log returns, then split by path efficiency, volatility, direction, and prior-return sign.</a:t>
            </a:r>
          </a:p>
        </p:txBody>
      </p:sp>
      <p:sp>
        <p:nvSpPr>
          <p:cNvPr id="4" name="">
            <a:extLst xmlns:a="http://schemas.openxmlformats.org/drawingml/2006/main">
              <a:ext uri="{FF2B5EF4-FFF2-40B4-BE49-F238E27FC236}">
                <a16:creationId xmlns:a16="http://schemas.microsoft.com/office/drawing/2014/main" id="{AD12F223-D1C5-4A78-ADFB-E2C711283BB8}"/>
              </a:ext>
            </a:extLst>
          </p:cNvPr>
          <p:cNvSpPr>
            <a:spLocks xmlns:a="http://schemas.openxmlformats.org/drawingml/2006/main" noGrp="1"/>
          </p:cNvSpPr>
          <p:nvPr/>
        </p:nvSpPr>
        <p:spPr>
          <a:xfrm xmlns:a="http://schemas.openxmlformats.org/drawingml/2006/main">
            <a:off x="723900" y="5734050"/>
            <a:ext cx="857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FFFFFF"/>
                </a:solidFill>
              </a:defRPr>
            </a:pPr>
            <a:r>
              <a:rPr sz="1500" b="1">
                <a:solidFill>
                  <a:srgbClr val="FFFFFF"/>
                </a:solidFill>
              </a:rPr>
              <a:t>Fixed horizons: 1, 2, 3, 4, 5, 10, 15, 20, 25 sessions</a:t>
            </a:r>
          </a:p>
        </p:txBody>
      </p:sp>
      <p:sp>
        <p:nvSpPr>
          <p:cNvPr id="5" name="">
            <a:extLst xmlns:a="http://schemas.openxmlformats.org/drawingml/2006/main">
              <a:ext uri="{FF2B5EF4-FFF2-40B4-BE49-F238E27FC236}">
                <a16:creationId xmlns:a16="http://schemas.microsoft.com/office/drawing/2014/main" id="{EB838E8E-9159-4540-BDE4-1EEA92D663F7}"/>
              </a:ext>
            </a:extLst>
          </p:cNvPr>
          <p:cNvSpPr>
            <a:spLocks xmlns:a="http://schemas.openxmlformats.org/drawingml/2006/main" noGrp="1"/>
          </p:cNvSpPr>
          <p:nvPr/>
        </p:nvSpPr>
        <p:spPr>
          <a:xfrm xmlns:a="http://schemas.openxmlformats.org/drawingml/2006/main">
            <a:off x="10801350"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D0EDFA"/>
                </a:solidFill>
              </a:defRPr>
            </a:pPr>
            <a:r>
              <a:rPr sz="900" b="0">
                <a:solidFill>
                  <a:srgbClr val="D0EDFA"/>
                </a:solidFill>
              </a:rPr>
              <a:t>05</a:t>
            </a:r>
          </a:p>
        </p:txBody>
      </p:sp>
    </p:spTree>
    <p:extLst>
      <p:ext uri="{BB962C8B-B14F-4D97-AF65-F5344CB8AC3E}">
        <p14:creationId xmlns:p14="http://schemas.microsoft.com/office/powerpoint/2010/main" val="133585665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2A817062-9484-4E1A-A869-ECC777D7D5FC}"/>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BA9F36D2-F543-4BA7-9D86-8C2C996D0FA0}"/>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Adjacent daily returns mostly form a cloud</a:t>
            </a:r>
          </a:p>
        </p:txBody>
      </p:sp>
      <p:sp>
        <p:nvSpPr>
          <p:cNvPr id="3" name="">
            <a:extLst xmlns:a="http://schemas.openxmlformats.org/drawingml/2006/main">
              <a:ext uri="{FF2B5EF4-FFF2-40B4-BE49-F238E27FC236}">
                <a16:creationId xmlns:a16="http://schemas.microsoft.com/office/drawing/2014/main" id="{C42A2D10-4E65-4401-8F9C-7AD8020C98DC}"/>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220A7C19-A257-4762-AC1F-4EBEFB5D2BB9}"/>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2905D0C0-5F83-4DBD-9DFD-A154EA1744F5}"/>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06</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86e529d0f35a4435"/>
          <a:stretch xmlns:a="http://schemas.openxmlformats.org/drawingml/2006/main"/>
        </p:blipFill>
        <p:spPr>
          <a:xfrm xmlns:a="http://schemas.openxmlformats.org/drawingml/2006/main">
            <a:off x="1394732" y="1390650"/>
            <a:ext cx="6221186" cy="48387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95BBD1E-AE14-4793-82DF-9578F47D9993}"/>
              </a:ext>
            </a:extLst>
          </p:cNvPr>
          <p:cNvSpPr>
            <a:spLocks xmlns:a="http://schemas.openxmlformats.org/drawingml/2006/main" noGrp="1"/>
          </p:cNvSpPr>
          <p:nvPr/>
        </p:nvSpPr>
        <p:spPr>
          <a:xfrm xmlns:a="http://schemas.openxmlformats.org/drawingml/2006/main">
            <a:off x="8782050" y="1504950"/>
            <a:ext cx="2857500" cy="44767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ADD6AC80-C729-49A3-B440-33ADC252A8CB}"/>
              </a:ext>
            </a:extLst>
          </p:cNvPr>
          <p:cNvSpPr>
            <a:spLocks xmlns:a="http://schemas.openxmlformats.org/drawingml/2006/main" noGrp="1"/>
          </p:cNvSpPr>
          <p:nvPr/>
        </p:nvSpPr>
        <p:spPr>
          <a:xfrm xmlns:a="http://schemas.openxmlformats.org/drawingml/2006/main">
            <a:off x="9029700" y="1771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defRPr>
            </a:pPr>
            <a:r>
              <a:rPr sz="1800" b="1">
                <a:solidFill>
                  <a:srgbClr val="000000"/>
                </a:solidFill>
              </a:rPr>
              <a:t>First reading</a:t>
            </a:r>
          </a:p>
        </p:txBody>
      </p:sp>
      <p:sp>
        <p:nvSpPr>
          <p:cNvPr id="9" name="">
            <a:extLst xmlns:a="http://schemas.openxmlformats.org/drawingml/2006/main">
              <a:ext uri="{FF2B5EF4-FFF2-40B4-BE49-F238E27FC236}">
                <a16:creationId xmlns:a16="http://schemas.microsoft.com/office/drawing/2014/main" id="{1661531F-0F9D-4546-AA28-7815D18035A3}"/>
              </a:ext>
            </a:extLst>
          </p:cNvPr>
          <p:cNvSpPr>
            <a:spLocks xmlns:a="http://schemas.openxmlformats.org/drawingml/2006/main" noGrp="1"/>
          </p:cNvSpPr>
          <p:nvPr/>
        </p:nvSpPr>
        <p:spPr>
          <a:xfrm xmlns:a="http://schemas.openxmlformats.org/drawingml/2006/main">
            <a:off x="9029700" y="232410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300" b="1">
                <a:solidFill>
                  <a:srgbClr val="B44738"/>
                </a:solidFill>
              </a:defRPr>
            </a:pPr>
            <a:r>
              <a:rPr sz="3300" b="1">
                <a:solidFill>
                  <a:srgbClr val="B44738"/>
                </a:solidFill>
              </a:rPr>
              <a:t>−0.075</a:t>
            </a:r>
          </a:p>
        </p:txBody>
      </p:sp>
      <p:sp>
        <p:nvSpPr>
          <p:cNvPr id="10" name="">
            <a:extLst xmlns:a="http://schemas.openxmlformats.org/drawingml/2006/main">
              <a:ext uri="{FF2B5EF4-FFF2-40B4-BE49-F238E27FC236}">
                <a16:creationId xmlns:a16="http://schemas.microsoft.com/office/drawing/2014/main" id="{4DD35D9E-3349-440F-819F-7D4706D7C356}"/>
              </a:ext>
            </a:extLst>
          </p:cNvPr>
          <p:cNvSpPr>
            <a:spLocks xmlns:a="http://schemas.openxmlformats.org/drawingml/2006/main" noGrp="1"/>
          </p:cNvSpPr>
          <p:nvPr/>
        </p:nvSpPr>
        <p:spPr>
          <a:xfrm xmlns:a="http://schemas.openxmlformats.org/drawingml/2006/main">
            <a:off x="9029700" y="2914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unfiltered 1×1 Pearson r</a:t>
            </a:r>
          </a:p>
        </p:txBody>
      </p:sp>
      <p:sp>
        <p:nvSpPr>
          <p:cNvPr id="11" name="">
            <a:extLst xmlns:a="http://schemas.openxmlformats.org/drawingml/2006/main">
              <a:ext uri="{FF2B5EF4-FFF2-40B4-BE49-F238E27FC236}">
                <a16:creationId xmlns:a16="http://schemas.microsoft.com/office/drawing/2014/main" id="{1CC4215B-C8C6-4AD9-B9CC-C473E2132529}"/>
              </a:ext>
            </a:extLst>
          </p:cNvPr>
          <p:cNvSpPr>
            <a:spLocks xmlns:a="http://schemas.openxmlformats.org/drawingml/2006/main" noGrp="1"/>
          </p:cNvSpPr>
          <p:nvPr/>
        </p:nvSpPr>
        <p:spPr>
          <a:xfrm xmlns:a="http://schemas.openxmlformats.org/drawingml/2006/main">
            <a:off x="9029700" y="36480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2" name="">
            <a:extLst xmlns:a="http://schemas.openxmlformats.org/drawingml/2006/main">
              <a:ext uri="{FF2B5EF4-FFF2-40B4-BE49-F238E27FC236}">
                <a16:creationId xmlns:a16="http://schemas.microsoft.com/office/drawing/2014/main" id="{351562CD-5131-467C-968B-1764B5207093}"/>
              </a:ext>
            </a:extLst>
          </p:cNvPr>
          <p:cNvSpPr>
            <a:spLocks xmlns:a="http://schemas.openxmlformats.org/drawingml/2006/main" noGrp="1"/>
          </p:cNvSpPr>
          <p:nvPr/>
        </p:nvSpPr>
        <p:spPr>
          <a:xfrm xmlns:a="http://schemas.openxmlformats.org/drawingml/2006/main">
            <a:off x="9258300" y="3562350"/>
            <a:ext cx="2095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A slight adjacent-day reversal tilt.</a:t>
            </a:r>
          </a:p>
        </p:txBody>
      </p:sp>
      <p:sp>
        <p:nvSpPr>
          <p:cNvPr id="13" name="">
            <a:extLst xmlns:a="http://schemas.openxmlformats.org/drawingml/2006/main">
              <a:ext uri="{FF2B5EF4-FFF2-40B4-BE49-F238E27FC236}">
                <a16:creationId xmlns:a16="http://schemas.microsoft.com/office/drawing/2014/main" id="{8BA76E00-3F42-44B6-9182-9F3E70EBB094}"/>
              </a:ext>
            </a:extLst>
          </p:cNvPr>
          <p:cNvSpPr>
            <a:spLocks xmlns:a="http://schemas.openxmlformats.org/drawingml/2006/main" noGrp="1"/>
          </p:cNvSpPr>
          <p:nvPr/>
        </p:nvSpPr>
        <p:spPr>
          <a:xfrm xmlns:a="http://schemas.openxmlformats.org/drawingml/2006/main">
            <a:off x="9029700" y="43910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18DAAA4E-42DE-472C-A33E-8FCE72AD1CEA}"/>
              </a:ext>
            </a:extLst>
          </p:cNvPr>
          <p:cNvSpPr>
            <a:spLocks xmlns:a="http://schemas.openxmlformats.org/drawingml/2006/main" noGrp="1"/>
          </p:cNvSpPr>
          <p:nvPr/>
        </p:nvSpPr>
        <p:spPr>
          <a:xfrm xmlns:a="http://schemas.openxmlformats.org/drawingml/2006/main">
            <a:off x="9258300" y="430530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Large tails exist in every directional quadrant.</a:t>
            </a:r>
          </a:p>
        </p:txBody>
      </p:sp>
      <p:sp>
        <p:nvSpPr>
          <p:cNvPr id="15" name="">
            <a:extLst xmlns:a="http://schemas.openxmlformats.org/drawingml/2006/main">
              <a:ext uri="{FF2B5EF4-FFF2-40B4-BE49-F238E27FC236}">
                <a16:creationId xmlns:a16="http://schemas.microsoft.com/office/drawing/2014/main" id="{2F4137CF-F395-472C-B439-22DB77E9A61F}"/>
              </a:ext>
            </a:extLst>
          </p:cNvPr>
          <p:cNvSpPr>
            <a:spLocks xmlns:a="http://schemas.openxmlformats.org/drawingml/2006/main" noGrp="1"/>
          </p:cNvSpPr>
          <p:nvPr/>
        </p:nvSpPr>
        <p:spPr>
          <a:xfrm xmlns:a="http://schemas.openxmlformats.org/drawingml/2006/main">
            <a:off x="9029700" y="52673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6" name="">
            <a:extLst xmlns:a="http://schemas.openxmlformats.org/drawingml/2006/main">
              <a:ext uri="{FF2B5EF4-FFF2-40B4-BE49-F238E27FC236}">
                <a16:creationId xmlns:a16="http://schemas.microsoft.com/office/drawing/2014/main" id="{A791BC52-A5E7-464F-85CA-4CF2298364C7}"/>
              </a:ext>
            </a:extLst>
          </p:cNvPr>
          <p:cNvSpPr>
            <a:spLocks xmlns:a="http://schemas.openxmlformats.org/drawingml/2006/main" noGrp="1"/>
          </p:cNvSpPr>
          <p:nvPr/>
        </p:nvSpPr>
        <p:spPr>
          <a:xfrm xmlns:a="http://schemas.openxmlformats.org/drawingml/2006/main">
            <a:off x="9258300" y="5181600"/>
            <a:ext cx="2095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The cloud alone is not a rule.</a:t>
            </a:r>
          </a:p>
        </p:txBody>
      </p:sp>
    </p:spTree>
    <p:extLst>
      <p:ext uri="{BB962C8B-B14F-4D97-AF65-F5344CB8AC3E}">
        <p14:creationId xmlns:p14="http://schemas.microsoft.com/office/powerpoint/2010/main" val="210750751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23C166A-0227-4719-B8D9-9693C8256746}"/>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9E953FA3-8692-4184-BB3E-F1835E29AF08}"/>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unfiltered surface is weak and mixed</a:t>
            </a:r>
          </a:p>
        </p:txBody>
      </p:sp>
      <p:sp>
        <p:nvSpPr>
          <p:cNvPr id="3" name="">
            <a:extLst xmlns:a="http://schemas.openxmlformats.org/drawingml/2006/main">
              <a:ext uri="{FF2B5EF4-FFF2-40B4-BE49-F238E27FC236}">
                <a16:creationId xmlns:a16="http://schemas.microsoft.com/office/drawing/2014/main" id="{16689F05-B496-4EE5-BBF4-FDCE09A05929}"/>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66F79450-1E98-4FFA-A4EB-FEB1442B11E0}"/>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F9D53B1D-5BBA-4E93-A651-1CEC9DA05E00}"/>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07</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33c4b01143c44f25"/>
          <a:stretch xmlns:a="http://schemas.openxmlformats.org/drawingml/2006/main"/>
        </p:blipFill>
        <p:spPr>
          <a:xfrm xmlns:a="http://schemas.openxmlformats.org/drawingml/2006/main">
            <a:off x="1084847" y="1371600"/>
            <a:ext cx="6136105" cy="48577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F9CB610-E52B-46D5-B793-AA5E41325675}"/>
              </a:ext>
            </a:extLst>
          </p:cNvPr>
          <p:cNvSpPr>
            <a:spLocks xmlns:a="http://schemas.openxmlformats.org/drawingml/2006/main" noGrp="1"/>
          </p:cNvSpPr>
          <p:nvPr/>
        </p:nvSpPr>
        <p:spPr>
          <a:xfrm xmlns:a="http://schemas.openxmlformats.org/drawingml/2006/main">
            <a:off x="8058150" y="1581150"/>
            <a:ext cx="3581400" cy="41529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19ED9DA3-7846-4530-9B22-70EC497135B1}"/>
              </a:ext>
            </a:extLst>
          </p:cNvPr>
          <p:cNvSpPr>
            <a:spLocks xmlns:a="http://schemas.openxmlformats.org/drawingml/2006/main" noGrp="1"/>
          </p:cNvSpPr>
          <p:nvPr/>
        </p:nvSpPr>
        <p:spPr>
          <a:xfrm xmlns:a="http://schemas.openxmlformats.org/drawingml/2006/main">
            <a:off x="8324850" y="1847850"/>
            <a:ext cx="304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00000"/>
                </a:solidFill>
              </a:defRPr>
            </a:pPr>
            <a:r>
              <a:rPr sz="1875" b="1">
                <a:solidFill>
                  <a:srgbClr val="000000"/>
                </a:solidFill>
              </a:rPr>
              <a:t>Geometry, not a winner cell</a:t>
            </a:r>
          </a:p>
        </p:txBody>
      </p:sp>
      <p:sp>
        <p:nvSpPr>
          <p:cNvPr id="9" name="">
            <a:extLst xmlns:a="http://schemas.openxmlformats.org/drawingml/2006/main">
              <a:ext uri="{FF2B5EF4-FFF2-40B4-BE49-F238E27FC236}">
                <a16:creationId xmlns:a16="http://schemas.microsoft.com/office/drawing/2014/main" id="{B0EFD475-8459-4C76-8C17-92E4C29E7A1C}"/>
              </a:ext>
            </a:extLst>
          </p:cNvPr>
          <p:cNvSpPr>
            <a:spLocks xmlns:a="http://schemas.openxmlformats.org/drawingml/2006/main" noGrp="1"/>
          </p:cNvSpPr>
          <p:nvPr/>
        </p:nvSpPr>
        <p:spPr>
          <a:xfrm xmlns:a="http://schemas.openxmlformats.org/drawingml/2006/main">
            <a:off x="8343900" y="27717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0" name="">
            <a:extLst xmlns:a="http://schemas.openxmlformats.org/drawingml/2006/main">
              <a:ext uri="{FF2B5EF4-FFF2-40B4-BE49-F238E27FC236}">
                <a16:creationId xmlns:a16="http://schemas.microsoft.com/office/drawing/2014/main" id="{B3581A29-CDEC-4D52-9B25-59E9CFD93DA5}"/>
              </a:ext>
            </a:extLst>
          </p:cNvPr>
          <p:cNvSpPr>
            <a:spLocks xmlns:a="http://schemas.openxmlformats.org/drawingml/2006/main" noGrp="1"/>
          </p:cNvSpPr>
          <p:nvPr/>
        </p:nvSpPr>
        <p:spPr>
          <a:xfrm xmlns:a="http://schemas.openxmlformats.org/drawingml/2006/main">
            <a:off x="8572500" y="2686050"/>
            <a:ext cx="27813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Short prior windows lean slightly negative into short forward windows.</a:t>
            </a:r>
          </a:p>
        </p:txBody>
      </p:sp>
      <p:sp>
        <p:nvSpPr>
          <p:cNvPr id="11" name="">
            <a:extLst xmlns:a="http://schemas.openxmlformats.org/drawingml/2006/main">
              <a:ext uri="{FF2B5EF4-FFF2-40B4-BE49-F238E27FC236}">
                <a16:creationId xmlns:a16="http://schemas.microsoft.com/office/drawing/2014/main" id="{FAA1CFFC-1D05-444F-9059-5D6B7C256742}"/>
              </a:ext>
            </a:extLst>
          </p:cNvPr>
          <p:cNvSpPr>
            <a:spLocks xmlns:a="http://schemas.openxmlformats.org/drawingml/2006/main" noGrp="1"/>
          </p:cNvSpPr>
          <p:nvPr/>
        </p:nvSpPr>
        <p:spPr>
          <a:xfrm xmlns:a="http://schemas.openxmlformats.org/drawingml/2006/main">
            <a:off x="8343900" y="37242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2BF4E436-F13A-460D-AE6E-D06AB9F92203}"/>
              </a:ext>
            </a:extLst>
          </p:cNvPr>
          <p:cNvSpPr>
            <a:spLocks xmlns:a="http://schemas.openxmlformats.org/drawingml/2006/main" noGrp="1"/>
          </p:cNvSpPr>
          <p:nvPr/>
        </p:nvSpPr>
        <p:spPr>
          <a:xfrm xmlns:a="http://schemas.openxmlformats.org/drawingml/2006/main">
            <a:off x="8572500" y="3638550"/>
            <a:ext cx="27813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Longer prior and forward windows drift mildly positive.</a:t>
            </a:r>
          </a:p>
        </p:txBody>
      </p:sp>
      <p:sp>
        <p:nvSpPr>
          <p:cNvPr id="13" name="">
            <a:extLst xmlns:a="http://schemas.openxmlformats.org/drawingml/2006/main">
              <a:ext uri="{FF2B5EF4-FFF2-40B4-BE49-F238E27FC236}">
                <a16:creationId xmlns:a16="http://schemas.microsoft.com/office/drawing/2014/main" id="{0BF0C0F1-9C7C-46DA-8D88-C20E28D56B24}"/>
              </a:ext>
            </a:extLst>
          </p:cNvPr>
          <p:cNvSpPr>
            <a:spLocks xmlns:a="http://schemas.openxmlformats.org/drawingml/2006/main" noGrp="1"/>
          </p:cNvSpPr>
          <p:nvPr/>
        </p:nvSpPr>
        <p:spPr>
          <a:xfrm xmlns:a="http://schemas.openxmlformats.org/drawingml/2006/main">
            <a:off x="8343900" y="46767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4" name="">
            <a:extLst xmlns:a="http://schemas.openxmlformats.org/drawingml/2006/main">
              <a:ext uri="{FF2B5EF4-FFF2-40B4-BE49-F238E27FC236}">
                <a16:creationId xmlns:a16="http://schemas.microsoft.com/office/drawing/2014/main" id="{3EAE4C3B-1017-4055-A469-5B33D42B9284}"/>
              </a:ext>
            </a:extLst>
          </p:cNvPr>
          <p:cNvSpPr>
            <a:spLocks xmlns:a="http://schemas.openxmlformats.org/drawingml/2006/main" noGrp="1"/>
          </p:cNvSpPr>
          <p:nvPr/>
        </p:nvSpPr>
        <p:spPr>
          <a:xfrm xmlns:a="http://schemas.openxmlformats.org/drawingml/2006/main">
            <a:off x="8572500" y="4591050"/>
            <a:ext cx="2781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Magnitude is small without a state split.</a:t>
            </a:r>
          </a:p>
        </p:txBody>
      </p:sp>
      <p:sp>
        <p:nvSpPr>
          <p:cNvPr id="15" name="">
            <a:extLst xmlns:a="http://schemas.openxmlformats.org/drawingml/2006/main">
              <a:ext uri="{FF2B5EF4-FFF2-40B4-BE49-F238E27FC236}">
                <a16:creationId xmlns:a16="http://schemas.microsoft.com/office/drawing/2014/main" id="{47196D56-AF23-46C2-8E55-C0BFD0A95B8C}"/>
              </a:ext>
            </a:extLst>
          </p:cNvPr>
          <p:cNvSpPr>
            <a:spLocks xmlns:a="http://schemas.openxmlformats.org/drawingml/2006/main" noGrp="1"/>
          </p:cNvSpPr>
          <p:nvPr/>
        </p:nvSpPr>
        <p:spPr>
          <a:xfrm xmlns:a="http://schemas.openxmlformats.org/drawingml/2006/main">
            <a:off x="8058150" y="5924550"/>
            <a:ext cx="3581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1">
                <a:solidFill>
                  <a:srgbClr val="667386"/>
                </a:solidFill>
              </a:defRPr>
            </a:pPr>
            <a:r>
              <a:rPr sz="1125" b="1">
                <a:solidFill>
                  <a:srgbClr val="667386"/>
                </a:solidFill>
              </a:rPr>
              <a:t>This is a descriptive map. No multiplicity claim is made.</a:t>
            </a:r>
          </a:p>
        </p:txBody>
      </p:sp>
    </p:spTree>
    <p:extLst>
      <p:ext uri="{BB962C8B-B14F-4D97-AF65-F5344CB8AC3E}">
        <p14:creationId xmlns:p14="http://schemas.microsoft.com/office/powerpoint/2010/main" val="30913798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1C205E5-767C-4DEE-88E5-08145D0E236D}"/>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F43C2D82-DBD4-4771-90AC-2D35B931A958}"/>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filters are observable states—not forecasts</a:t>
            </a:r>
          </a:p>
        </p:txBody>
      </p:sp>
      <p:sp>
        <p:nvSpPr>
          <p:cNvPr id="3" name="">
            <a:extLst xmlns:a="http://schemas.openxmlformats.org/drawingml/2006/main">
              <a:ext uri="{FF2B5EF4-FFF2-40B4-BE49-F238E27FC236}">
                <a16:creationId xmlns:a16="http://schemas.microsoft.com/office/drawing/2014/main" id="{6AA719B5-1631-4BD5-875C-F536332CE361}"/>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39E0324E-6486-4055-8FC0-56325D66FA12}"/>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E96162B2-A56D-4A53-94A6-945A995F9B3F}"/>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08</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7fbc7a8e70f449dc"/>
          <a:stretch xmlns:a="http://schemas.openxmlformats.org/drawingml/2006/main"/>
        </p:blipFill>
        <p:spPr>
          <a:xfrm xmlns:a="http://schemas.openxmlformats.org/drawingml/2006/main">
            <a:off x="995363" y="1409700"/>
            <a:ext cx="7419975" cy="46863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F51BE130-820B-4E9A-835F-761B2F5FC2EA}"/>
              </a:ext>
            </a:extLst>
          </p:cNvPr>
          <p:cNvSpPr>
            <a:spLocks xmlns:a="http://schemas.openxmlformats.org/drawingml/2006/main" noGrp="1"/>
          </p:cNvSpPr>
          <p:nvPr/>
        </p:nvSpPr>
        <p:spPr>
          <a:xfrm xmlns:a="http://schemas.openxmlformats.org/drawingml/2006/main">
            <a:off x="9239250" y="1524000"/>
            <a:ext cx="2400300" cy="44005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E18C3536-91E1-40EB-8E6D-D7C3D47317D0}"/>
              </a:ext>
            </a:extLst>
          </p:cNvPr>
          <p:cNvSpPr>
            <a:spLocks xmlns:a="http://schemas.openxmlformats.org/drawingml/2006/main" noGrp="1"/>
          </p:cNvSpPr>
          <p:nvPr/>
        </p:nvSpPr>
        <p:spPr>
          <a:xfrm xmlns:a="http://schemas.openxmlformats.org/drawingml/2006/main">
            <a:off x="9467850" y="1790700"/>
            <a:ext cx="1981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Vocabulary</a:t>
            </a:r>
          </a:p>
        </p:txBody>
      </p:sp>
      <p:sp>
        <p:nvSpPr>
          <p:cNvPr id="9" name="">
            <a:extLst xmlns:a="http://schemas.openxmlformats.org/drawingml/2006/main">
              <a:ext uri="{FF2B5EF4-FFF2-40B4-BE49-F238E27FC236}">
                <a16:creationId xmlns:a16="http://schemas.microsoft.com/office/drawing/2014/main" id="{EDD02B87-1182-4E56-A49D-A25994886C55}"/>
              </a:ext>
            </a:extLst>
          </p:cNvPr>
          <p:cNvSpPr>
            <a:spLocks xmlns:a="http://schemas.openxmlformats.org/drawingml/2006/main" noGrp="1"/>
          </p:cNvSpPr>
          <p:nvPr/>
        </p:nvSpPr>
        <p:spPr>
          <a:xfrm xmlns:a="http://schemas.openxmlformats.org/drawingml/2006/main">
            <a:off x="9467850" y="24479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BD6507DA-0BE2-45D8-BFE0-4AA093942E46}"/>
              </a:ext>
            </a:extLst>
          </p:cNvPr>
          <p:cNvSpPr>
            <a:spLocks xmlns:a="http://schemas.openxmlformats.org/drawingml/2006/main" noGrp="1"/>
          </p:cNvSpPr>
          <p:nvPr/>
        </p:nvSpPr>
        <p:spPr>
          <a:xfrm xmlns:a="http://schemas.openxmlformats.org/drawingml/2006/main">
            <a:off x="9696450" y="2362200"/>
            <a:ext cx="1752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ER20: sideways vs efficient path</a:t>
            </a:r>
          </a:p>
        </p:txBody>
      </p:sp>
      <p:sp>
        <p:nvSpPr>
          <p:cNvPr id="11" name="">
            <a:extLst xmlns:a="http://schemas.openxmlformats.org/drawingml/2006/main">
              <a:ext uri="{FF2B5EF4-FFF2-40B4-BE49-F238E27FC236}">
                <a16:creationId xmlns:a16="http://schemas.microsoft.com/office/drawing/2014/main" id="{5EAF32C0-68C4-4ADB-B21A-BCDD7586A5C3}"/>
              </a:ext>
            </a:extLst>
          </p:cNvPr>
          <p:cNvSpPr>
            <a:spLocks xmlns:a="http://schemas.openxmlformats.org/drawingml/2006/main" noGrp="1"/>
          </p:cNvSpPr>
          <p:nvPr/>
        </p:nvSpPr>
        <p:spPr>
          <a:xfrm xmlns:a="http://schemas.openxmlformats.org/drawingml/2006/main">
            <a:off x="9467850" y="336232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12" name="">
            <a:extLst xmlns:a="http://schemas.openxmlformats.org/drawingml/2006/main">
              <a:ext uri="{FF2B5EF4-FFF2-40B4-BE49-F238E27FC236}">
                <a16:creationId xmlns:a16="http://schemas.microsoft.com/office/drawing/2014/main" id="{F996F837-E8E3-4DC0-A517-DCC464A612F0}"/>
              </a:ext>
            </a:extLst>
          </p:cNvPr>
          <p:cNvSpPr>
            <a:spLocks xmlns:a="http://schemas.openxmlformats.org/drawingml/2006/main" noGrp="1"/>
          </p:cNvSpPr>
          <p:nvPr/>
        </p:nvSpPr>
        <p:spPr>
          <a:xfrm xmlns:a="http://schemas.openxmlformats.org/drawingml/2006/main">
            <a:off x="9696450" y="3276600"/>
            <a:ext cx="1752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ATR%: low, medium, high volatility</a:t>
            </a:r>
          </a:p>
        </p:txBody>
      </p:sp>
      <p:sp>
        <p:nvSpPr>
          <p:cNvPr id="13" name="">
            <a:extLst xmlns:a="http://schemas.openxmlformats.org/drawingml/2006/main">
              <a:ext uri="{FF2B5EF4-FFF2-40B4-BE49-F238E27FC236}">
                <a16:creationId xmlns:a16="http://schemas.microsoft.com/office/drawing/2014/main" id="{372C483D-7CEE-4388-8306-259299427EBC}"/>
              </a:ext>
            </a:extLst>
          </p:cNvPr>
          <p:cNvSpPr>
            <a:spLocks xmlns:a="http://schemas.openxmlformats.org/drawingml/2006/main" noGrp="1"/>
          </p:cNvSpPr>
          <p:nvPr/>
        </p:nvSpPr>
        <p:spPr>
          <a:xfrm xmlns:a="http://schemas.openxmlformats.org/drawingml/2006/main">
            <a:off x="9467850" y="42767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4" name="">
            <a:extLst xmlns:a="http://schemas.openxmlformats.org/drawingml/2006/main">
              <a:ext uri="{FF2B5EF4-FFF2-40B4-BE49-F238E27FC236}">
                <a16:creationId xmlns:a16="http://schemas.microsoft.com/office/drawing/2014/main" id="{55FCF98C-833A-48D7-92C5-68C86F6BEB4E}"/>
              </a:ext>
            </a:extLst>
          </p:cNvPr>
          <p:cNvSpPr>
            <a:spLocks xmlns:a="http://schemas.openxmlformats.org/drawingml/2006/main" noGrp="1"/>
          </p:cNvSpPr>
          <p:nvPr/>
        </p:nvSpPr>
        <p:spPr>
          <a:xfrm xmlns:a="http://schemas.openxmlformats.org/drawingml/2006/main">
            <a:off x="9696450" y="4191000"/>
            <a:ext cx="1752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Signed ER20: down, sideways, up</a:t>
            </a:r>
          </a:p>
        </p:txBody>
      </p:sp>
      <p:sp>
        <p:nvSpPr>
          <p:cNvPr id="15" name="">
            <a:extLst xmlns:a="http://schemas.openxmlformats.org/drawingml/2006/main">
              <a:ext uri="{FF2B5EF4-FFF2-40B4-BE49-F238E27FC236}">
                <a16:creationId xmlns:a16="http://schemas.microsoft.com/office/drawing/2014/main" id="{37D38F8C-E39C-4A56-BA83-3C934E9DD5B0}"/>
              </a:ext>
            </a:extLst>
          </p:cNvPr>
          <p:cNvSpPr>
            <a:spLocks xmlns:a="http://schemas.openxmlformats.org/drawingml/2006/main" noGrp="1"/>
          </p:cNvSpPr>
          <p:nvPr/>
        </p:nvSpPr>
        <p:spPr>
          <a:xfrm xmlns:a="http://schemas.openxmlformats.org/drawingml/2006/main">
            <a:off x="9467850" y="5219700"/>
            <a:ext cx="1981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Each label is assigned from information available at the anchor session.</a:t>
            </a:r>
          </a:p>
        </p:txBody>
      </p:sp>
    </p:spTree>
    <p:extLst>
      <p:ext uri="{BB962C8B-B14F-4D97-AF65-F5344CB8AC3E}">
        <p14:creationId xmlns:p14="http://schemas.microsoft.com/office/powerpoint/2010/main" val="93439096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3A726D9-FBC6-47FF-A4AD-714859AA7F24}"/>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83220F65-D21F-49AF-A89E-345ED69BBCB9}"/>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ER20 separates two different surfaces</a:t>
            </a:r>
          </a:p>
        </p:txBody>
      </p:sp>
      <p:sp>
        <p:nvSpPr>
          <p:cNvPr id="3" name="">
            <a:extLst xmlns:a="http://schemas.openxmlformats.org/drawingml/2006/main">
              <a:ext uri="{FF2B5EF4-FFF2-40B4-BE49-F238E27FC236}">
                <a16:creationId xmlns:a16="http://schemas.microsoft.com/office/drawing/2014/main" id="{85C345AF-24B1-40DC-AC1E-E5BC0B68E374}"/>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17C7BAC2-F85B-4F9C-928A-B08FBBDC8C8F}"/>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ACA31E1C-7CE5-49E7-98F0-A304BDA29B2A}"/>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09</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4ee75fd225f04523"/>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959A7FCC-002A-4E64-8E63-EB3C47853669}"/>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938F2036-4E70-4BF0-845D-8AE1DA74B19F}"/>
              </a:ext>
            </a:extLst>
          </p:cNvPr>
          <p:cNvSpPr>
            <a:spLocks xmlns:a="http://schemas.openxmlformats.org/drawingml/2006/main" noGrp="1"/>
          </p:cNvSpPr>
          <p:nvPr/>
        </p:nvSpPr>
        <p:spPr>
          <a:xfrm xmlns:a="http://schemas.openxmlformats.org/drawingml/2006/main">
            <a:off x="9448800" y="17907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Visual clue</a:t>
            </a:r>
          </a:p>
        </p:txBody>
      </p:sp>
      <p:sp>
        <p:nvSpPr>
          <p:cNvPr id="9" name="">
            <a:extLst xmlns:a="http://schemas.openxmlformats.org/drawingml/2006/main">
              <a:ext uri="{FF2B5EF4-FFF2-40B4-BE49-F238E27FC236}">
                <a16:creationId xmlns:a16="http://schemas.microsoft.com/office/drawing/2014/main" id="{981B4109-40C4-4DBE-AEB7-E45281556C1F}"/>
              </a:ext>
            </a:extLst>
          </p:cNvPr>
          <p:cNvSpPr>
            <a:spLocks xmlns:a="http://schemas.openxmlformats.org/drawingml/2006/main" noGrp="1"/>
          </p:cNvSpPr>
          <p:nvPr/>
        </p:nvSpPr>
        <p:spPr>
          <a:xfrm xmlns:a="http://schemas.openxmlformats.org/drawingml/2006/main">
            <a:off x="9448800" y="24288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0" name="">
            <a:extLst xmlns:a="http://schemas.openxmlformats.org/drawingml/2006/main">
              <a:ext uri="{FF2B5EF4-FFF2-40B4-BE49-F238E27FC236}">
                <a16:creationId xmlns:a16="http://schemas.microsoft.com/office/drawing/2014/main" id="{8FC51695-5AF5-43C5-B717-7CBD8AF192B7}"/>
              </a:ext>
            </a:extLst>
          </p:cNvPr>
          <p:cNvSpPr>
            <a:spLocks xmlns:a="http://schemas.openxmlformats.org/drawingml/2006/main" noGrp="1"/>
          </p:cNvSpPr>
          <p:nvPr/>
        </p:nvSpPr>
        <p:spPr>
          <a:xfrm xmlns:a="http://schemas.openxmlformats.org/drawingml/2006/main">
            <a:off x="9677400" y="2343150"/>
            <a:ext cx="17716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Sideways: correlations stay near zero with mild negative longer-forward patches.</a:t>
            </a:r>
          </a:p>
        </p:txBody>
      </p:sp>
      <p:sp>
        <p:nvSpPr>
          <p:cNvPr id="11" name="">
            <a:extLst xmlns:a="http://schemas.openxmlformats.org/drawingml/2006/main">
              <a:ext uri="{FF2B5EF4-FFF2-40B4-BE49-F238E27FC236}">
                <a16:creationId xmlns:a16="http://schemas.microsoft.com/office/drawing/2014/main" id="{D7CF94F6-8E81-47EF-AE5D-6CDE9F9568EE}"/>
              </a:ext>
            </a:extLst>
          </p:cNvPr>
          <p:cNvSpPr>
            <a:spLocks xmlns:a="http://schemas.openxmlformats.org/drawingml/2006/main" noGrp="1"/>
          </p:cNvSpPr>
          <p:nvPr/>
        </p:nvSpPr>
        <p:spPr>
          <a:xfrm xmlns:a="http://schemas.openxmlformats.org/drawingml/2006/main">
            <a:off x="9448800" y="37242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98E9C63E-5688-4C21-B5D5-971A91454A86}"/>
              </a:ext>
            </a:extLst>
          </p:cNvPr>
          <p:cNvSpPr>
            <a:spLocks xmlns:a="http://schemas.openxmlformats.org/drawingml/2006/main" noGrp="1"/>
          </p:cNvSpPr>
          <p:nvPr/>
        </p:nvSpPr>
        <p:spPr>
          <a:xfrm xmlns:a="http://schemas.openxmlformats.org/drawingml/2006/main">
            <a:off x="9677400" y="3638550"/>
            <a:ext cx="1771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Efficient: a positive long-prior / long-forward region appears.</a:t>
            </a:r>
          </a:p>
        </p:txBody>
      </p:sp>
      <p:sp>
        <p:nvSpPr>
          <p:cNvPr id="13" name="">
            <a:extLst xmlns:a="http://schemas.openxmlformats.org/drawingml/2006/main">
              <a:ext uri="{FF2B5EF4-FFF2-40B4-BE49-F238E27FC236}">
                <a16:creationId xmlns:a16="http://schemas.microsoft.com/office/drawing/2014/main" id="{2DB46CB7-9142-4549-BC87-5E773B2B9F3F}"/>
              </a:ext>
            </a:extLst>
          </p:cNvPr>
          <p:cNvSpPr>
            <a:spLocks xmlns:a="http://schemas.openxmlformats.org/drawingml/2006/main" noGrp="1"/>
          </p:cNvSpPr>
          <p:nvPr/>
        </p:nvSpPr>
        <p:spPr>
          <a:xfrm xmlns:a="http://schemas.openxmlformats.org/drawingml/2006/main">
            <a:off x="9448800" y="4953000"/>
            <a:ext cx="2000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ER20 alone does not say whether the efficient path is up or down.</a:t>
            </a:r>
          </a:p>
        </p:txBody>
      </p:sp>
    </p:spTree>
    <p:extLst>
      <p:ext uri="{BB962C8B-B14F-4D97-AF65-F5344CB8AC3E}">
        <p14:creationId xmlns:p14="http://schemas.microsoft.com/office/powerpoint/2010/main" val="98774662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C75F8F9-99C0-41AE-9694-F57142499CE8}"/>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B8624F4F-84D9-4F54-9835-4BE22A3EE5B4}"/>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ATR% reveals a sharp short-horizon contrast</a:t>
            </a:r>
          </a:p>
        </p:txBody>
      </p:sp>
      <p:sp>
        <p:nvSpPr>
          <p:cNvPr id="3" name="">
            <a:extLst xmlns:a="http://schemas.openxmlformats.org/drawingml/2006/main">
              <a:ext uri="{FF2B5EF4-FFF2-40B4-BE49-F238E27FC236}">
                <a16:creationId xmlns:a16="http://schemas.microsoft.com/office/drawing/2014/main" id="{FAB1C48D-D9C6-4468-9B75-AAE955878D26}"/>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2AC16B9C-7BE9-4528-A546-AE0ADD6205FD}"/>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7558824D-1182-4D65-8731-C769C6E5621E}"/>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10</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984476946bbd4ecf"/>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853D6BCC-D44B-43EC-BEA3-A31CB98C76F8}"/>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88616C87-18A9-4962-B3EA-E331A81B7E5C}"/>
              </a:ext>
            </a:extLst>
          </p:cNvPr>
          <p:cNvSpPr>
            <a:spLocks xmlns:a="http://schemas.openxmlformats.org/drawingml/2006/main" noGrp="1"/>
          </p:cNvSpPr>
          <p:nvPr/>
        </p:nvSpPr>
        <p:spPr>
          <a:xfrm xmlns:a="http://schemas.openxmlformats.org/drawingml/2006/main">
            <a:off x="9448800" y="17907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00000"/>
                </a:solidFill>
              </a:defRPr>
            </a:pPr>
            <a:r>
              <a:rPr sz="1650" b="1">
                <a:solidFill>
                  <a:srgbClr val="000000"/>
                </a:solidFill>
              </a:rPr>
              <a:t>1×1 Pearson r</a:t>
            </a:r>
          </a:p>
        </p:txBody>
      </p:sp>
      <p:sp>
        <p:nvSpPr>
          <p:cNvPr id="9" name="">
            <a:extLst xmlns:a="http://schemas.openxmlformats.org/drawingml/2006/main">
              <a:ext uri="{FF2B5EF4-FFF2-40B4-BE49-F238E27FC236}">
                <a16:creationId xmlns:a16="http://schemas.microsoft.com/office/drawing/2014/main" id="{A3B4740B-5CD3-4738-B718-3DA59454F850}"/>
              </a:ext>
            </a:extLst>
          </p:cNvPr>
          <p:cNvSpPr>
            <a:spLocks xmlns:a="http://schemas.openxmlformats.org/drawingml/2006/main" noGrp="1"/>
          </p:cNvSpPr>
          <p:nvPr/>
        </p:nvSpPr>
        <p:spPr>
          <a:xfrm xmlns:a="http://schemas.openxmlformats.org/drawingml/2006/main">
            <a:off x="9448800" y="2324100"/>
            <a:ext cx="104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3D8DFF"/>
                </a:solidFill>
              </a:defRPr>
            </a:pPr>
            <a:r>
              <a:rPr sz="2100" b="1">
                <a:solidFill>
                  <a:srgbClr val="3D8DFF"/>
                </a:solidFill>
              </a:rPr>
              <a:t>+0.013</a:t>
            </a:r>
          </a:p>
        </p:txBody>
      </p:sp>
      <p:sp>
        <p:nvSpPr>
          <p:cNvPr id="10" name="">
            <a:extLst xmlns:a="http://schemas.openxmlformats.org/drawingml/2006/main">
              <a:ext uri="{FF2B5EF4-FFF2-40B4-BE49-F238E27FC236}">
                <a16:creationId xmlns:a16="http://schemas.microsoft.com/office/drawing/2014/main" id="{1EDDE925-FCF4-4E42-9EF7-1BFC6942EE9D}"/>
              </a:ext>
            </a:extLst>
          </p:cNvPr>
          <p:cNvSpPr>
            <a:spLocks xmlns:a="http://schemas.openxmlformats.org/drawingml/2006/main" noGrp="1"/>
          </p:cNvSpPr>
          <p:nvPr/>
        </p:nvSpPr>
        <p:spPr>
          <a:xfrm xmlns:a="http://schemas.openxmlformats.org/drawingml/2006/main">
            <a:off x="10572750" y="2381250"/>
            <a:ext cx="857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low</a:t>
            </a:r>
          </a:p>
        </p:txBody>
      </p:sp>
      <p:sp>
        <p:nvSpPr>
          <p:cNvPr id="11" name="">
            <a:extLst xmlns:a="http://schemas.openxmlformats.org/drawingml/2006/main">
              <a:ext uri="{FF2B5EF4-FFF2-40B4-BE49-F238E27FC236}">
                <a16:creationId xmlns:a16="http://schemas.microsoft.com/office/drawing/2014/main" id="{0C3C2580-BF8B-4799-98B4-CA16317DA634}"/>
              </a:ext>
            </a:extLst>
          </p:cNvPr>
          <p:cNvSpPr>
            <a:spLocks xmlns:a="http://schemas.openxmlformats.org/drawingml/2006/main" noGrp="1"/>
          </p:cNvSpPr>
          <p:nvPr/>
        </p:nvSpPr>
        <p:spPr>
          <a:xfrm xmlns:a="http://schemas.openxmlformats.org/drawingml/2006/main">
            <a:off x="9448800" y="2857500"/>
            <a:ext cx="104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3D8DFF"/>
                </a:solidFill>
              </a:defRPr>
            </a:pPr>
            <a:r>
              <a:rPr sz="2100" b="1">
                <a:solidFill>
                  <a:srgbClr val="3D8DFF"/>
                </a:solidFill>
              </a:rPr>
              <a:t>+0.043</a:t>
            </a:r>
          </a:p>
        </p:txBody>
      </p:sp>
      <p:sp>
        <p:nvSpPr>
          <p:cNvPr id="12" name="">
            <a:extLst xmlns:a="http://schemas.openxmlformats.org/drawingml/2006/main">
              <a:ext uri="{FF2B5EF4-FFF2-40B4-BE49-F238E27FC236}">
                <a16:creationId xmlns:a16="http://schemas.microsoft.com/office/drawing/2014/main" id="{4B6928B1-1059-4C4C-9871-A0534E3CBABC}"/>
              </a:ext>
            </a:extLst>
          </p:cNvPr>
          <p:cNvSpPr>
            <a:spLocks xmlns:a="http://schemas.openxmlformats.org/drawingml/2006/main" noGrp="1"/>
          </p:cNvSpPr>
          <p:nvPr/>
        </p:nvSpPr>
        <p:spPr>
          <a:xfrm xmlns:a="http://schemas.openxmlformats.org/drawingml/2006/main">
            <a:off x="10572750" y="2914650"/>
            <a:ext cx="857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medium</a:t>
            </a:r>
          </a:p>
        </p:txBody>
      </p:sp>
      <p:sp>
        <p:nvSpPr>
          <p:cNvPr id="13" name="">
            <a:extLst xmlns:a="http://schemas.openxmlformats.org/drawingml/2006/main">
              <a:ext uri="{FF2B5EF4-FFF2-40B4-BE49-F238E27FC236}">
                <a16:creationId xmlns:a16="http://schemas.microsoft.com/office/drawing/2014/main" id="{5045DE74-5453-4BFA-839D-76C115194438}"/>
              </a:ext>
            </a:extLst>
          </p:cNvPr>
          <p:cNvSpPr>
            <a:spLocks xmlns:a="http://schemas.openxmlformats.org/drawingml/2006/main" noGrp="1"/>
          </p:cNvSpPr>
          <p:nvPr/>
        </p:nvSpPr>
        <p:spPr>
          <a:xfrm xmlns:a="http://schemas.openxmlformats.org/drawingml/2006/main">
            <a:off x="9448800" y="3390900"/>
            <a:ext cx="104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B44738"/>
                </a:solidFill>
              </a:defRPr>
            </a:pPr>
            <a:r>
              <a:rPr sz="2100" b="1">
                <a:solidFill>
                  <a:srgbClr val="B44738"/>
                </a:solidFill>
              </a:rPr>
              <a:t>−0.174</a:t>
            </a:r>
          </a:p>
        </p:txBody>
      </p:sp>
      <p:sp>
        <p:nvSpPr>
          <p:cNvPr id="14" name="">
            <a:extLst xmlns:a="http://schemas.openxmlformats.org/drawingml/2006/main">
              <a:ext uri="{FF2B5EF4-FFF2-40B4-BE49-F238E27FC236}">
                <a16:creationId xmlns:a16="http://schemas.microsoft.com/office/drawing/2014/main" id="{79AA97C0-A87E-4844-8540-50D8C9815E20}"/>
              </a:ext>
            </a:extLst>
          </p:cNvPr>
          <p:cNvSpPr>
            <a:spLocks xmlns:a="http://schemas.openxmlformats.org/drawingml/2006/main" noGrp="1"/>
          </p:cNvSpPr>
          <p:nvPr/>
        </p:nvSpPr>
        <p:spPr>
          <a:xfrm xmlns:a="http://schemas.openxmlformats.org/drawingml/2006/main">
            <a:off x="10572750" y="3448050"/>
            <a:ext cx="857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high</a:t>
            </a:r>
          </a:p>
        </p:txBody>
      </p:sp>
      <p:sp>
        <p:nvSpPr>
          <p:cNvPr id="15" name="">
            <a:extLst xmlns:a="http://schemas.openxmlformats.org/drawingml/2006/main">
              <a:ext uri="{FF2B5EF4-FFF2-40B4-BE49-F238E27FC236}">
                <a16:creationId xmlns:a16="http://schemas.microsoft.com/office/drawing/2014/main" id="{9CC9D26B-7D7F-4B5F-B031-DE39E592B6D3}"/>
              </a:ext>
            </a:extLst>
          </p:cNvPr>
          <p:cNvSpPr>
            <a:spLocks xmlns:a="http://schemas.openxmlformats.org/drawingml/2006/main" noGrp="1"/>
          </p:cNvSpPr>
          <p:nvPr/>
        </p:nvSpPr>
        <p:spPr>
          <a:xfrm xmlns:a="http://schemas.openxmlformats.org/drawingml/2006/main">
            <a:off x="9448800" y="42386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6" name="">
            <a:extLst xmlns:a="http://schemas.openxmlformats.org/drawingml/2006/main">
              <a:ext uri="{FF2B5EF4-FFF2-40B4-BE49-F238E27FC236}">
                <a16:creationId xmlns:a16="http://schemas.microsoft.com/office/drawing/2014/main" id="{2E984EF5-02B1-4C78-B6FA-208DB4E6C7DF}"/>
              </a:ext>
            </a:extLst>
          </p:cNvPr>
          <p:cNvSpPr>
            <a:spLocks xmlns:a="http://schemas.openxmlformats.org/drawingml/2006/main" noGrp="1"/>
          </p:cNvSpPr>
          <p:nvPr/>
        </p:nvSpPr>
        <p:spPr>
          <a:xfrm xmlns:a="http://schemas.openxmlformats.org/drawingml/2006/main">
            <a:off x="9677400" y="4152900"/>
            <a:ext cx="1771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High volatility concentrates the adjacent-day reversal clue.</a:t>
            </a:r>
          </a:p>
        </p:txBody>
      </p:sp>
      <p:sp>
        <p:nvSpPr>
          <p:cNvPr id="17" name="">
            <a:extLst xmlns:a="http://schemas.openxmlformats.org/drawingml/2006/main">
              <a:ext uri="{FF2B5EF4-FFF2-40B4-BE49-F238E27FC236}">
                <a16:creationId xmlns:a16="http://schemas.microsoft.com/office/drawing/2014/main" id="{EB9FEB8E-3206-474F-8670-2F66C43E3675}"/>
              </a:ext>
            </a:extLst>
          </p:cNvPr>
          <p:cNvSpPr>
            <a:spLocks xmlns:a="http://schemas.openxmlformats.org/drawingml/2006/main" noGrp="1"/>
          </p:cNvSpPr>
          <p:nvPr/>
        </p:nvSpPr>
        <p:spPr>
          <a:xfrm xmlns:a="http://schemas.openxmlformats.org/drawingml/2006/main">
            <a:off x="9448800" y="521970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Longer-horizon geometry still changes sign; this is not a universal reversal label.</a:t>
            </a:r>
          </a:p>
        </p:txBody>
      </p:sp>
    </p:spTree>
    <p:extLst>
      <p:ext uri="{BB962C8B-B14F-4D97-AF65-F5344CB8AC3E}">
        <p14:creationId xmlns:p14="http://schemas.microsoft.com/office/powerpoint/2010/main" val="176124615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997BBAA-502C-46A2-AD26-4C20FDA3712B}"/>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FE6C1FB6-4258-4BC2-A44E-D029EBE74D39}"/>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Direction explains part of the efficient-state mixture</a:t>
            </a:r>
          </a:p>
        </p:txBody>
      </p:sp>
      <p:sp>
        <p:nvSpPr>
          <p:cNvPr id="3" name="">
            <a:extLst xmlns:a="http://schemas.openxmlformats.org/drawingml/2006/main">
              <a:ext uri="{FF2B5EF4-FFF2-40B4-BE49-F238E27FC236}">
                <a16:creationId xmlns:a16="http://schemas.microsoft.com/office/drawing/2014/main" id="{F47E0F99-A536-48ED-94AC-21D3A739FAD8}"/>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3EC76BEA-2F5B-4707-ACA3-980D45F62841}"/>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E746DEEA-319A-4AB3-908A-DCE4EF1C5EBF}"/>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11</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cb240bb657ca4451"/>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A53BC5D8-223F-43B3-AFC4-3C489124C07E}"/>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0EB927ED-5B70-4465-85AC-2F1816C323F9}"/>
              </a:ext>
            </a:extLst>
          </p:cNvPr>
          <p:cNvSpPr>
            <a:spLocks xmlns:a="http://schemas.openxmlformats.org/drawingml/2006/main" noGrp="1"/>
          </p:cNvSpPr>
          <p:nvPr/>
        </p:nvSpPr>
        <p:spPr>
          <a:xfrm xmlns:a="http://schemas.openxmlformats.org/drawingml/2006/main">
            <a:off x="9448800" y="18097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B44738"/>
                </a:solidFill>
              </a:defRPr>
            </a:pPr>
            <a:r>
              <a:rPr sz="1725" b="1">
                <a:solidFill>
                  <a:srgbClr val="B44738"/>
                </a:solidFill>
              </a:rPr>
              <a:t>Down state</a:t>
            </a:r>
          </a:p>
        </p:txBody>
      </p:sp>
      <p:sp>
        <p:nvSpPr>
          <p:cNvPr id="9" name="">
            <a:extLst xmlns:a="http://schemas.openxmlformats.org/drawingml/2006/main">
              <a:ext uri="{FF2B5EF4-FFF2-40B4-BE49-F238E27FC236}">
                <a16:creationId xmlns:a16="http://schemas.microsoft.com/office/drawing/2014/main" id="{A7CFF5B0-0BA6-452B-A85B-B7FE887CC3C6}"/>
              </a:ext>
            </a:extLst>
          </p:cNvPr>
          <p:cNvSpPr>
            <a:spLocks xmlns:a="http://schemas.openxmlformats.org/drawingml/2006/main" noGrp="1"/>
          </p:cNvSpPr>
          <p:nvPr/>
        </p:nvSpPr>
        <p:spPr>
          <a:xfrm xmlns:a="http://schemas.openxmlformats.org/drawingml/2006/main">
            <a:off x="9448800" y="23907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0" name="">
            <a:extLst xmlns:a="http://schemas.openxmlformats.org/drawingml/2006/main">
              <a:ext uri="{FF2B5EF4-FFF2-40B4-BE49-F238E27FC236}">
                <a16:creationId xmlns:a16="http://schemas.microsoft.com/office/drawing/2014/main" id="{84AE0746-5299-4A18-9804-DA776C5A7308}"/>
              </a:ext>
            </a:extLst>
          </p:cNvPr>
          <p:cNvSpPr>
            <a:spLocks xmlns:a="http://schemas.openxmlformats.org/drawingml/2006/main" noGrp="1"/>
          </p:cNvSpPr>
          <p:nvPr/>
        </p:nvSpPr>
        <p:spPr>
          <a:xfrm xmlns:a="http://schemas.openxmlformats.org/drawingml/2006/main">
            <a:off x="9677400" y="2305050"/>
            <a:ext cx="17716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Strongest negative short/mid-horizon region.</a:t>
            </a:r>
          </a:p>
        </p:txBody>
      </p:sp>
      <p:sp>
        <p:nvSpPr>
          <p:cNvPr id="11" name="">
            <a:extLst xmlns:a="http://schemas.openxmlformats.org/drawingml/2006/main">
              <a:ext uri="{FF2B5EF4-FFF2-40B4-BE49-F238E27FC236}">
                <a16:creationId xmlns:a16="http://schemas.microsoft.com/office/drawing/2014/main" id="{06F3C2E7-9C37-4985-A6EB-C94E99F944D8}"/>
              </a:ext>
            </a:extLst>
          </p:cNvPr>
          <p:cNvSpPr>
            <a:spLocks xmlns:a="http://schemas.openxmlformats.org/drawingml/2006/main" noGrp="1"/>
          </p:cNvSpPr>
          <p:nvPr/>
        </p:nvSpPr>
        <p:spPr>
          <a:xfrm xmlns:a="http://schemas.openxmlformats.org/drawingml/2006/main">
            <a:off x="9448800" y="32670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F85E6C94-22CC-4993-AFE6-9B238378BE3B}"/>
              </a:ext>
            </a:extLst>
          </p:cNvPr>
          <p:cNvSpPr>
            <a:spLocks xmlns:a="http://schemas.openxmlformats.org/drawingml/2006/main" noGrp="1"/>
          </p:cNvSpPr>
          <p:nvPr/>
        </p:nvSpPr>
        <p:spPr>
          <a:xfrm xmlns:a="http://schemas.openxmlformats.org/drawingml/2006/main">
            <a:off x="9677400" y="3181350"/>
            <a:ext cx="17716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Long forward windows turn positive for some prior windows.</a:t>
            </a:r>
          </a:p>
        </p:txBody>
      </p:sp>
      <p:sp>
        <p:nvSpPr>
          <p:cNvPr id="13" name="">
            <a:extLst xmlns:a="http://schemas.openxmlformats.org/drawingml/2006/main">
              <a:ext uri="{FF2B5EF4-FFF2-40B4-BE49-F238E27FC236}">
                <a16:creationId xmlns:a16="http://schemas.microsoft.com/office/drawing/2014/main" id="{0FB89328-BD9F-4633-9639-96EE5822667E}"/>
              </a:ext>
            </a:extLst>
          </p:cNvPr>
          <p:cNvSpPr>
            <a:spLocks xmlns:a="http://schemas.openxmlformats.org/drawingml/2006/main" noGrp="1"/>
          </p:cNvSpPr>
          <p:nvPr/>
        </p:nvSpPr>
        <p:spPr>
          <a:xfrm xmlns:a="http://schemas.openxmlformats.org/drawingml/2006/main">
            <a:off x="9448800" y="4267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14866D"/>
                </a:solidFill>
              </a:defRPr>
            </a:pPr>
            <a:r>
              <a:rPr sz="1725" b="1">
                <a:solidFill>
                  <a:srgbClr val="14866D"/>
                </a:solidFill>
              </a:rPr>
              <a:t>Up state</a:t>
            </a:r>
          </a:p>
        </p:txBody>
      </p:sp>
      <p:sp>
        <p:nvSpPr>
          <p:cNvPr id="14" name="">
            <a:extLst xmlns:a="http://schemas.openxmlformats.org/drawingml/2006/main">
              <a:ext uri="{FF2B5EF4-FFF2-40B4-BE49-F238E27FC236}">
                <a16:creationId xmlns:a16="http://schemas.microsoft.com/office/drawing/2014/main" id="{386B4EB3-98FE-49FD-852A-1D7E97DD3D94}"/>
              </a:ext>
            </a:extLst>
          </p:cNvPr>
          <p:cNvSpPr>
            <a:spLocks xmlns:a="http://schemas.openxmlformats.org/drawingml/2006/main" noGrp="1"/>
          </p:cNvSpPr>
          <p:nvPr/>
        </p:nvSpPr>
        <p:spPr>
          <a:xfrm xmlns:a="http://schemas.openxmlformats.org/drawingml/2006/main">
            <a:off x="9448800" y="48101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5" name="">
            <a:extLst xmlns:a="http://schemas.openxmlformats.org/drawingml/2006/main">
              <a:ext uri="{FF2B5EF4-FFF2-40B4-BE49-F238E27FC236}">
                <a16:creationId xmlns:a16="http://schemas.microsoft.com/office/drawing/2014/main" id="{B05C010A-D3AC-4558-B464-3BC006E4C54E}"/>
              </a:ext>
            </a:extLst>
          </p:cNvPr>
          <p:cNvSpPr>
            <a:spLocks xmlns:a="http://schemas.openxmlformats.org/drawingml/2006/main" noGrp="1"/>
          </p:cNvSpPr>
          <p:nvPr/>
        </p:nvSpPr>
        <p:spPr>
          <a:xfrm xmlns:a="http://schemas.openxmlformats.org/drawingml/2006/main">
            <a:off x="9677400" y="4724400"/>
            <a:ext cx="17716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Smaller short-horizon reversal and modest long-forward continuation patches.</a:t>
            </a:r>
          </a:p>
        </p:txBody>
      </p:sp>
    </p:spTree>
    <p:extLst>
      <p:ext uri="{BB962C8B-B14F-4D97-AF65-F5344CB8AC3E}">
        <p14:creationId xmlns:p14="http://schemas.microsoft.com/office/powerpoint/2010/main" val="111858025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D02B83F-2D08-4D23-846F-0D43875D4D5B}"/>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BCE602C7-A8D3-4A22-A5EC-F42463222FE2}"/>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Prior-return sign changes the long-horizon story</a:t>
            </a:r>
          </a:p>
        </p:txBody>
      </p:sp>
      <p:sp>
        <p:nvSpPr>
          <p:cNvPr id="3" name="">
            <a:extLst xmlns:a="http://schemas.openxmlformats.org/drawingml/2006/main">
              <a:ext uri="{FF2B5EF4-FFF2-40B4-BE49-F238E27FC236}">
                <a16:creationId xmlns:a16="http://schemas.microsoft.com/office/drawing/2014/main" id="{D5375293-FEC8-4BDA-BF51-1554DA97C850}"/>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3BD6B111-F0FD-46C7-9329-ACE386A25E86}"/>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12DAD76B-071B-4CB4-8B54-B71989675A65}"/>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12</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3b923efff5674e88"/>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A4B09F91-1260-4E73-A939-3820150A71D1}"/>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584495EC-7B6E-47B2-AFCD-FEB8615E9327}"/>
              </a:ext>
            </a:extLst>
          </p:cNvPr>
          <p:cNvSpPr>
            <a:spLocks xmlns:a="http://schemas.openxmlformats.org/drawingml/2006/main" noGrp="1"/>
          </p:cNvSpPr>
          <p:nvPr/>
        </p:nvSpPr>
        <p:spPr>
          <a:xfrm xmlns:a="http://schemas.openxmlformats.org/drawingml/2006/main">
            <a:off x="9448800" y="1790700"/>
            <a:ext cx="200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Descriptive contrast</a:t>
            </a:r>
          </a:p>
        </p:txBody>
      </p:sp>
      <p:sp>
        <p:nvSpPr>
          <p:cNvPr id="9" name="">
            <a:extLst xmlns:a="http://schemas.openxmlformats.org/drawingml/2006/main">
              <a:ext uri="{FF2B5EF4-FFF2-40B4-BE49-F238E27FC236}">
                <a16:creationId xmlns:a16="http://schemas.microsoft.com/office/drawing/2014/main" id="{1D75E33E-F2BC-48A2-8B3D-7CF178F1E1DF}"/>
              </a:ext>
            </a:extLst>
          </p:cNvPr>
          <p:cNvSpPr>
            <a:spLocks xmlns:a="http://schemas.openxmlformats.org/drawingml/2006/main" noGrp="1"/>
          </p:cNvSpPr>
          <p:nvPr/>
        </p:nvSpPr>
        <p:spPr>
          <a:xfrm xmlns:a="http://schemas.openxmlformats.org/drawingml/2006/main">
            <a:off x="9448800" y="26193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6B47E4E2-AAD8-4BA5-BBEA-F7240614AE5F}"/>
              </a:ext>
            </a:extLst>
          </p:cNvPr>
          <p:cNvSpPr>
            <a:spLocks xmlns:a="http://schemas.openxmlformats.org/drawingml/2006/main" noGrp="1"/>
          </p:cNvSpPr>
          <p:nvPr/>
        </p:nvSpPr>
        <p:spPr>
          <a:xfrm xmlns:a="http://schemas.openxmlformats.org/drawingml/2006/main">
            <a:off x="9677400" y="2533650"/>
            <a:ext cx="17716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After negative long-window returns, forward long-window correlations become positive.</a:t>
            </a:r>
          </a:p>
        </p:txBody>
      </p:sp>
      <p:sp>
        <p:nvSpPr>
          <p:cNvPr id="11" name="">
            <a:extLst xmlns:a="http://schemas.openxmlformats.org/drawingml/2006/main">
              <a:ext uri="{FF2B5EF4-FFF2-40B4-BE49-F238E27FC236}">
                <a16:creationId xmlns:a16="http://schemas.microsoft.com/office/drawing/2014/main" id="{325AADB0-1EC1-417F-984A-E283680B59A2}"/>
              </a:ext>
            </a:extLst>
          </p:cNvPr>
          <p:cNvSpPr>
            <a:spLocks xmlns:a="http://schemas.openxmlformats.org/drawingml/2006/main" noGrp="1"/>
          </p:cNvSpPr>
          <p:nvPr/>
        </p:nvSpPr>
        <p:spPr>
          <a:xfrm xmlns:a="http://schemas.openxmlformats.org/drawingml/2006/main">
            <a:off x="9448800" y="38195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2" name="">
            <a:extLst xmlns:a="http://schemas.openxmlformats.org/drawingml/2006/main">
              <a:ext uri="{FF2B5EF4-FFF2-40B4-BE49-F238E27FC236}">
                <a16:creationId xmlns:a16="http://schemas.microsoft.com/office/drawing/2014/main" id="{69F8BD37-87E7-4820-A923-1582FA23635D}"/>
              </a:ext>
            </a:extLst>
          </p:cNvPr>
          <p:cNvSpPr>
            <a:spLocks xmlns:a="http://schemas.openxmlformats.org/drawingml/2006/main" noGrp="1"/>
          </p:cNvSpPr>
          <p:nvPr/>
        </p:nvSpPr>
        <p:spPr>
          <a:xfrm xmlns:a="http://schemas.openxmlformats.org/drawingml/2006/main">
            <a:off x="9677400" y="3733800"/>
            <a:ext cx="1771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After positive priors, the same region is mostly mild negative.</a:t>
            </a:r>
          </a:p>
        </p:txBody>
      </p:sp>
      <p:sp>
        <p:nvSpPr>
          <p:cNvPr id="13" name="">
            <a:extLst xmlns:a="http://schemas.openxmlformats.org/drawingml/2006/main">
              <a:ext uri="{FF2B5EF4-FFF2-40B4-BE49-F238E27FC236}">
                <a16:creationId xmlns:a16="http://schemas.microsoft.com/office/drawing/2014/main" id="{A55C44BD-CF37-4794-8E47-FBFC4A8BC73D}"/>
              </a:ext>
            </a:extLst>
          </p:cNvPr>
          <p:cNvSpPr>
            <a:spLocks xmlns:a="http://schemas.openxmlformats.org/drawingml/2006/main" noGrp="1"/>
          </p:cNvSpPr>
          <p:nvPr/>
        </p:nvSpPr>
        <p:spPr>
          <a:xfrm xmlns:a="http://schemas.openxmlformats.org/drawingml/2006/main">
            <a:off x="9448800" y="4895850"/>
            <a:ext cx="2000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The negative delta at long-long cells reads more like rebound asymmetry than classical continuation.</a:t>
            </a:r>
          </a:p>
        </p:txBody>
      </p:sp>
    </p:spTree>
    <p:extLst>
      <p:ext uri="{BB962C8B-B14F-4D97-AF65-F5344CB8AC3E}">
        <p14:creationId xmlns:p14="http://schemas.microsoft.com/office/powerpoint/2010/main" val="11599778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1E59477D-EFAD-4449-8B4E-C065A7385203}"/>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0209DFF3-3AEA-4372-AB50-36BFD0C1F86A}"/>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Daily states can cleanly condition intraday returns</a:t>
            </a:r>
          </a:p>
        </p:txBody>
      </p:sp>
      <p:sp>
        <p:nvSpPr>
          <p:cNvPr id="3" name="">
            <a:extLst xmlns:a="http://schemas.openxmlformats.org/drawingml/2006/main">
              <a:ext uri="{FF2B5EF4-FFF2-40B4-BE49-F238E27FC236}">
                <a16:creationId xmlns:a16="http://schemas.microsoft.com/office/drawing/2014/main" id="{9C718B18-D236-4BCC-99C2-05700117A7EA}"/>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1BEF5DAB-EF74-43FA-A6C9-80A6BA268660}"/>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4997E050-1205-4B37-8F1B-C48299EBC45A}"/>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13</a:t>
            </a:r>
          </a:p>
        </p:txBody>
      </p:sp>
      <p:sp>
        <p:nvSpPr>
          <p:cNvPr id="6" name="">
            <a:extLst xmlns:a="http://schemas.openxmlformats.org/drawingml/2006/main">
              <a:ext uri="{FF2B5EF4-FFF2-40B4-BE49-F238E27FC236}">
                <a16:creationId xmlns:a16="http://schemas.microsoft.com/office/drawing/2014/main" id="{5C23D1E6-D29F-4615-BC8B-CC16136FF682}"/>
              </a:ext>
            </a:extLst>
          </p:cNvPr>
          <p:cNvSpPr>
            <a:spLocks xmlns:a="http://schemas.openxmlformats.org/drawingml/2006/main" noGrp="1"/>
          </p:cNvSpPr>
          <p:nvPr/>
        </p:nvSpPr>
        <p:spPr>
          <a:xfrm xmlns:a="http://schemas.openxmlformats.org/drawingml/2006/main">
            <a:off x="552450" y="1562100"/>
            <a:ext cx="5257800" cy="4095750"/>
          </a:xfrm>
          <a:prstGeom xmlns:a="http://schemas.openxmlformats.org/drawingml/2006/main" prst="rect">
            <a:avLst/>
          </a:prstGeom>
          <a:solidFill xmlns:a="http://schemas.openxmlformats.org/drawingml/2006/main">
            <a:srgbClr val="D0EDFA"/>
          </a:solidFill>
          <a:ln xmlns:a="http://schemas.openxmlformats.org/drawingml/2006/main" w="0">
            <a:solidFill>
              <a:srgbClr val="D0EDFA"/>
            </a:solidFill>
            <a:prstDash val="solid"/>
          </a:ln>
        </p:spPr>
      </p:sp>
      <p:sp>
        <p:nvSpPr>
          <p:cNvPr id="7" name="">
            <a:extLst xmlns:a="http://schemas.openxmlformats.org/drawingml/2006/main">
              <a:ext uri="{FF2B5EF4-FFF2-40B4-BE49-F238E27FC236}">
                <a16:creationId xmlns:a16="http://schemas.microsoft.com/office/drawing/2014/main" id="{E7D171F8-C5A2-46F8-8DCF-4C0899DCEF95}"/>
              </a:ext>
            </a:extLst>
          </p:cNvPr>
          <p:cNvSpPr>
            <a:spLocks xmlns:a="http://schemas.openxmlformats.org/drawingml/2006/main" noGrp="1"/>
          </p:cNvSpPr>
          <p:nvPr/>
        </p:nvSpPr>
        <p:spPr>
          <a:xfrm xmlns:a="http://schemas.openxmlformats.org/drawingml/2006/main">
            <a:off x="819150" y="1847850"/>
            <a:ext cx="4572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00000"/>
                </a:solidFill>
              </a:defRPr>
            </a:pPr>
            <a:r>
              <a:rPr sz="2025" b="1">
                <a:solidFill>
                  <a:srgbClr val="000000"/>
                </a:solidFill>
              </a:rPr>
              <a:t>Primary next slice</a:t>
            </a:r>
          </a:p>
        </p:txBody>
      </p:sp>
      <p:sp>
        <p:nvSpPr>
          <p:cNvPr id="8" name="">
            <a:extLst xmlns:a="http://schemas.openxmlformats.org/drawingml/2006/main">
              <a:ext uri="{FF2B5EF4-FFF2-40B4-BE49-F238E27FC236}">
                <a16:creationId xmlns:a16="http://schemas.microsoft.com/office/drawing/2014/main" id="{EB86FA45-E205-443C-AB3A-343A9BC6E0D8}"/>
              </a:ext>
            </a:extLst>
          </p:cNvPr>
          <p:cNvSpPr>
            <a:spLocks xmlns:a="http://schemas.openxmlformats.org/drawingml/2006/main" noGrp="1"/>
          </p:cNvSpPr>
          <p:nvPr/>
        </p:nvSpPr>
        <p:spPr>
          <a:xfrm xmlns:a="http://schemas.openxmlformats.org/drawingml/2006/main">
            <a:off x="838200" y="2514600"/>
            <a:ext cx="4381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3D8DFF"/>
                </a:solidFill>
              </a:defRPr>
            </a:pPr>
            <a:r>
              <a:rPr sz="2025" b="1">
                <a:solidFill>
                  <a:srgbClr val="3D8DFF"/>
                </a:solidFill>
              </a:rPr>
              <a:t>Completed daily state at t−1</a:t>
            </a:r>
          </a:p>
        </p:txBody>
      </p:sp>
      <p:sp>
        <p:nvSpPr>
          <p:cNvPr id="9" name="">
            <a:extLst xmlns:a="http://schemas.openxmlformats.org/drawingml/2006/main">
              <a:ext uri="{FF2B5EF4-FFF2-40B4-BE49-F238E27FC236}">
                <a16:creationId xmlns:a16="http://schemas.microsoft.com/office/drawing/2014/main" id="{B9430BB2-C057-4764-B384-A48470EFD2A8}"/>
              </a:ext>
            </a:extLst>
          </p:cNvPr>
          <p:cNvSpPr>
            <a:spLocks xmlns:a="http://schemas.openxmlformats.org/drawingml/2006/main" noGrp="1"/>
          </p:cNvSpPr>
          <p:nvPr/>
        </p:nvSpPr>
        <p:spPr>
          <a:xfrm xmlns:a="http://schemas.openxmlformats.org/drawingml/2006/main">
            <a:off x="266700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667386"/>
                </a:solidFill>
              </a:defRPr>
            </a:pPr>
            <a:r>
              <a:rPr sz="2400" b="1">
                <a:solidFill>
                  <a:srgbClr val="667386"/>
                </a:solidFill>
              </a:rPr>
              <a:t>↓</a:t>
            </a:r>
          </a:p>
        </p:txBody>
      </p:sp>
      <p:sp>
        <p:nvSpPr>
          <p:cNvPr id="10" name="">
            <a:extLst xmlns:a="http://schemas.openxmlformats.org/drawingml/2006/main">
              <a:ext uri="{FF2B5EF4-FFF2-40B4-BE49-F238E27FC236}">
                <a16:creationId xmlns:a16="http://schemas.microsoft.com/office/drawing/2014/main" id="{6DE0451A-E757-4909-AB03-2C6E2ACCDC2F}"/>
              </a:ext>
            </a:extLst>
          </p:cNvPr>
          <p:cNvSpPr>
            <a:spLocks xmlns:a="http://schemas.openxmlformats.org/drawingml/2006/main" noGrp="1"/>
          </p:cNvSpPr>
          <p:nvPr/>
        </p:nvSpPr>
        <p:spPr>
          <a:xfrm xmlns:a="http://schemas.openxmlformats.org/drawingml/2006/main">
            <a:off x="838200" y="3505200"/>
            <a:ext cx="4381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950" b="1">
                <a:solidFill>
                  <a:srgbClr val="24364B"/>
                </a:solidFill>
              </a:defRPr>
            </a:pPr>
            <a:r>
              <a:rPr sz="1950" b="1">
                <a:solidFill>
                  <a:srgbClr val="24364B"/>
                </a:solidFill>
              </a:rPr>
              <a:t>Today’s overnight gap + each 30-minute bar</a:t>
            </a:r>
          </a:p>
        </p:txBody>
      </p:sp>
      <p:sp>
        <p:nvSpPr>
          <p:cNvPr id="11" name="">
            <a:extLst xmlns:a="http://schemas.openxmlformats.org/drawingml/2006/main">
              <a:ext uri="{FF2B5EF4-FFF2-40B4-BE49-F238E27FC236}">
                <a16:creationId xmlns:a16="http://schemas.microsoft.com/office/drawing/2014/main" id="{DD6A8D52-AB4A-47C3-BCAD-542402D48BF0}"/>
              </a:ext>
            </a:extLst>
          </p:cNvPr>
          <p:cNvSpPr>
            <a:spLocks xmlns:a="http://schemas.openxmlformats.org/drawingml/2006/main" noGrp="1"/>
          </p:cNvSpPr>
          <p:nvPr/>
        </p:nvSpPr>
        <p:spPr>
          <a:xfrm xmlns:a="http://schemas.openxmlformats.org/drawingml/2006/main">
            <a:off x="838200" y="46577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2" name="">
            <a:extLst xmlns:a="http://schemas.openxmlformats.org/drawingml/2006/main">
              <a:ext uri="{FF2B5EF4-FFF2-40B4-BE49-F238E27FC236}">
                <a16:creationId xmlns:a16="http://schemas.microsoft.com/office/drawing/2014/main" id="{DFC3FBFB-B4C1-4D19-B006-9B42D06A09EF}"/>
              </a:ext>
            </a:extLst>
          </p:cNvPr>
          <p:cNvSpPr>
            <a:spLocks xmlns:a="http://schemas.openxmlformats.org/drawingml/2006/main" noGrp="1"/>
          </p:cNvSpPr>
          <p:nvPr/>
        </p:nvSpPr>
        <p:spPr>
          <a:xfrm xmlns:a="http://schemas.openxmlformats.org/drawingml/2006/main">
            <a:off x="1066800" y="4572000"/>
            <a:ext cx="41529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Causal at the open</a:t>
            </a:r>
          </a:p>
        </p:txBody>
      </p:sp>
      <p:sp>
        <p:nvSpPr>
          <p:cNvPr id="13" name="">
            <a:extLst xmlns:a="http://schemas.openxmlformats.org/drawingml/2006/main">
              <a:ext uri="{FF2B5EF4-FFF2-40B4-BE49-F238E27FC236}">
                <a16:creationId xmlns:a16="http://schemas.microsoft.com/office/drawing/2014/main" id="{1A7B159B-7B33-4F89-A750-B812C8EC2614}"/>
              </a:ext>
            </a:extLst>
          </p:cNvPr>
          <p:cNvSpPr>
            <a:spLocks xmlns:a="http://schemas.openxmlformats.org/drawingml/2006/main" noGrp="1"/>
          </p:cNvSpPr>
          <p:nvPr/>
        </p:nvSpPr>
        <p:spPr>
          <a:xfrm xmlns:a="http://schemas.openxmlformats.org/drawingml/2006/main">
            <a:off x="838200" y="51530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4" name="">
            <a:extLst xmlns:a="http://schemas.openxmlformats.org/drawingml/2006/main">
              <a:ext uri="{FF2B5EF4-FFF2-40B4-BE49-F238E27FC236}">
                <a16:creationId xmlns:a16="http://schemas.microsoft.com/office/drawing/2014/main" id="{9AF5ED5F-0476-427F-B2E7-CBAFD9ED9759}"/>
              </a:ext>
            </a:extLst>
          </p:cNvPr>
          <p:cNvSpPr>
            <a:spLocks xmlns:a="http://schemas.openxmlformats.org/drawingml/2006/main" noGrp="1"/>
          </p:cNvSpPr>
          <p:nvPr/>
        </p:nvSpPr>
        <p:spPr>
          <a:xfrm xmlns:a="http://schemas.openxmlformats.org/drawingml/2006/main">
            <a:off x="1066800" y="5067300"/>
            <a:ext cx="4152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Directly answers whether the return clock differs by known regime</a:t>
            </a:r>
          </a:p>
        </p:txBody>
      </p:sp>
      <p:sp>
        <p:nvSpPr>
          <p:cNvPr id="15" name="">
            <a:extLst xmlns:a="http://schemas.openxmlformats.org/drawingml/2006/main">
              <a:ext uri="{FF2B5EF4-FFF2-40B4-BE49-F238E27FC236}">
                <a16:creationId xmlns:a16="http://schemas.microsoft.com/office/drawing/2014/main" id="{2DC64934-ABC1-4E3D-82C0-72465AFC45DE}"/>
              </a:ext>
            </a:extLst>
          </p:cNvPr>
          <p:cNvSpPr>
            <a:spLocks xmlns:a="http://schemas.openxmlformats.org/drawingml/2006/main" noGrp="1"/>
          </p:cNvSpPr>
          <p:nvPr/>
        </p:nvSpPr>
        <p:spPr>
          <a:xfrm xmlns:a="http://schemas.openxmlformats.org/drawingml/2006/main">
            <a:off x="6153150" y="1562100"/>
            <a:ext cx="5486400" cy="40957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6" name="">
            <a:extLst xmlns:a="http://schemas.openxmlformats.org/drawingml/2006/main">
              <a:ext uri="{FF2B5EF4-FFF2-40B4-BE49-F238E27FC236}">
                <a16:creationId xmlns:a16="http://schemas.microsoft.com/office/drawing/2014/main" id="{0963018F-144C-4DA7-924E-D1AC813F597D}"/>
              </a:ext>
            </a:extLst>
          </p:cNvPr>
          <p:cNvSpPr>
            <a:spLocks xmlns:a="http://schemas.openxmlformats.org/drawingml/2006/main" noGrp="1"/>
          </p:cNvSpPr>
          <p:nvPr/>
        </p:nvSpPr>
        <p:spPr>
          <a:xfrm xmlns:a="http://schemas.openxmlformats.org/drawingml/2006/main">
            <a:off x="6419850" y="18478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00000"/>
                </a:solidFill>
              </a:defRPr>
            </a:pPr>
            <a:r>
              <a:rPr sz="2025" b="1">
                <a:solidFill>
                  <a:srgbClr val="000000"/>
                </a:solidFill>
              </a:rPr>
              <a:t>Separate later experiment</a:t>
            </a:r>
          </a:p>
        </p:txBody>
      </p:sp>
      <p:sp>
        <p:nvSpPr>
          <p:cNvPr id="17" name="">
            <a:extLst xmlns:a="http://schemas.openxmlformats.org/drawingml/2006/main">
              <a:ext uri="{FF2B5EF4-FFF2-40B4-BE49-F238E27FC236}">
                <a16:creationId xmlns:a16="http://schemas.microsoft.com/office/drawing/2014/main" id="{391FABA6-97AE-4F80-97BA-AFFFDA6F1081}"/>
              </a:ext>
            </a:extLst>
          </p:cNvPr>
          <p:cNvSpPr>
            <a:spLocks xmlns:a="http://schemas.openxmlformats.org/drawingml/2006/main" noGrp="1"/>
          </p:cNvSpPr>
          <p:nvPr/>
        </p:nvSpPr>
        <p:spPr>
          <a:xfrm xmlns:a="http://schemas.openxmlformats.org/drawingml/2006/main">
            <a:off x="6438900" y="2514600"/>
            <a:ext cx="44577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A86B00"/>
                </a:solidFill>
              </a:defRPr>
            </a:pPr>
            <a:r>
              <a:rPr sz="2025" b="1">
                <a:solidFill>
                  <a:srgbClr val="A86B00"/>
                </a:solidFill>
              </a:rPr>
              <a:t>Completed intraday window</a:t>
            </a:r>
          </a:p>
        </p:txBody>
      </p:sp>
      <p:sp>
        <p:nvSpPr>
          <p:cNvPr id="18" name="">
            <a:extLst xmlns:a="http://schemas.openxmlformats.org/drawingml/2006/main">
              <a:ext uri="{FF2B5EF4-FFF2-40B4-BE49-F238E27FC236}">
                <a16:creationId xmlns:a16="http://schemas.microsoft.com/office/drawing/2014/main" id="{9E375C8F-5143-4797-9FA3-207557781278}"/>
              </a:ext>
            </a:extLst>
          </p:cNvPr>
          <p:cNvSpPr>
            <a:spLocks xmlns:a="http://schemas.openxmlformats.org/drawingml/2006/main" noGrp="1"/>
          </p:cNvSpPr>
          <p:nvPr/>
        </p:nvSpPr>
        <p:spPr>
          <a:xfrm xmlns:a="http://schemas.openxmlformats.org/drawingml/2006/main">
            <a:off x="834390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667386"/>
                </a:solidFill>
              </a:defRPr>
            </a:pPr>
            <a:r>
              <a:rPr sz="2400" b="1">
                <a:solidFill>
                  <a:srgbClr val="667386"/>
                </a:solidFill>
              </a:rPr>
              <a:t>↓</a:t>
            </a:r>
          </a:p>
        </p:txBody>
      </p:sp>
      <p:sp>
        <p:nvSpPr>
          <p:cNvPr id="19" name="">
            <a:extLst xmlns:a="http://schemas.openxmlformats.org/drawingml/2006/main">
              <a:ext uri="{FF2B5EF4-FFF2-40B4-BE49-F238E27FC236}">
                <a16:creationId xmlns:a16="http://schemas.microsoft.com/office/drawing/2014/main" id="{BCE389E8-FA2F-46E8-BA0C-7A534EF6EAC6}"/>
              </a:ext>
            </a:extLst>
          </p:cNvPr>
          <p:cNvSpPr>
            <a:spLocks xmlns:a="http://schemas.openxmlformats.org/drawingml/2006/main" noGrp="1"/>
          </p:cNvSpPr>
          <p:nvPr/>
        </p:nvSpPr>
        <p:spPr>
          <a:xfrm xmlns:a="http://schemas.openxmlformats.org/drawingml/2006/main">
            <a:off x="6438900" y="3505200"/>
            <a:ext cx="4457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950" b="1">
                <a:solidFill>
                  <a:srgbClr val="24364B"/>
                </a:solidFill>
              </a:defRPr>
            </a:pPr>
            <a:r>
              <a:rPr sz="1950" b="1">
                <a:solidFill>
                  <a:srgbClr val="24364B"/>
                </a:solidFill>
              </a:rPr>
              <a:t>Later bars in the same session</a:t>
            </a:r>
          </a:p>
        </p:txBody>
      </p:sp>
      <p:sp>
        <p:nvSpPr>
          <p:cNvPr id="20" name="">
            <a:extLst xmlns:a="http://schemas.openxmlformats.org/drawingml/2006/main">
              <a:ext uri="{FF2B5EF4-FFF2-40B4-BE49-F238E27FC236}">
                <a16:creationId xmlns:a16="http://schemas.microsoft.com/office/drawing/2014/main" id="{39492F91-5FD5-490D-B10B-043C2E004A43}"/>
              </a:ext>
            </a:extLst>
          </p:cNvPr>
          <p:cNvSpPr>
            <a:spLocks xmlns:a="http://schemas.openxmlformats.org/drawingml/2006/main" noGrp="1"/>
          </p:cNvSpPr>
          <p:nvPr/>
        </p:nvSpPr>
        <p:spPr>
          <a:xfrm xmlns:a="http://schemas.openxmlformats.org/drawingml/2006/main">
            <a:off x="6438900" y="458152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21" name="">
            <a:extLst xmlns:a="http://schemas.openxmlformats.org/drawingml/2006/main">
              <a:ext uri="{FF2B5EF4-FFF2-40B4-BE49-F238E27FC236}">
                <a16:creationId xmlns:a16="http://schemas.microsoft.com/office/drawing/2014/main" id="{60ABC69E-BBD1-4440-98D1-C2627D874626}"/>
              </a:ext>
            </a:extLst>
          </p:cNvPr>
          <p:cNvSpPr>
            <a:spLocks xmlns:a="http://schemas.openxmlformats.org/drawingml/2006/main" noGrp="1"/>
          </p:cNvSpPr>
          <p:nvPr/>
        </p:nvSpPr>
        <p:spPr>
          <a:xfrm xmlns:a="http://schemas.openxmlformats.org/drawingml/2006/main">
            <a:off x="6667500" y="4495800"/>
            <a:ext cx="4229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Requires a separately declared bar window</a:t>
            </a:r>
          </a:p>
        </p:txBody>
      </p:sp>
      <p:sp>
        <p:nvSpPr>
          <p:cNvPr id="22" name="">
            <a:extLst xmlns:a="http://schemas.openxmlformats.org/drawingml/2006/main">
              <a:ext uri="{FF2B5EF4-FFF2-40B4-BE49-F238E27FC236}">
                <a16:creationId xmlns:a16="http://schemas.microsoft.com/office/drawing/2014/main" id="{0BCDB58F-D7C0-4A56-9AFC-5D5EBD85D867}"/>
              </a:ext>
            </a:extLst>
          </p:cNvPr>
          <p:cNvSpPr>
            <a:spLocks xmlns:a="http://schemas.openxmlformats.org/drawingml/2006/main" noGrp="1"/>
          </p:cNvSpPr>
          <p:nvPr/>
        </p:nvSpPr>
        <p:spPr>
          <a:xfrm xmlns:a="http://schemas.openxmlformats.org/drawingml/2006/main">
            <a:off x="6438900" y="52482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23" name="">
            <a:extLst xmlns:a="http://schemas.openxmlformats.org/drawingml/2006/main">
              <a:ext uri="{FF2B5EF4-FFF2-40B4-BE49-F238E27FC236}">
                <a16:creationId xmlns:a16="http://schemas.microsoft.com/office/drawing/2014/main" id="{01D2AE39-400E-4915-A11A-AEC70423A611}"/>
              </a:ext>
            </a:extLst>
          </p:cNvPr>
          <p:cNvSpPr>
            <a:spLocks xmlns:a="http://schemas.openxmlformats.org/drawingml/2006/main" noGrp="1"/>
          </p:cNvSpPr>
          <p:nvPr/>
        </p:nvSpPr>
        <p:spPr>
          <a:xfrm xmlns:a="http://schemas.openxmlformats.org/drawingml/2006/main">
            <a:off x="6667500" y="5162550"/>
            <a:ext cx="4229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Strictly prevents later bars from entering the state</a:t>
            </a:r>
          </a:p>
        </p:txBody>
      </p:sp>
    </p:spTree>
    <p:extLst>
      <p:ext uri="{BB962C8B-B14F-4D97-AF65-F5344CB8AC3E}">
        <p14:creationId xmlns:p14="http://schemas.microsoft.com/office/powerpoint/2010/main" val="167024443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FDC671E-8AD6-4A91-8CAB-674691E86586}"/>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F4358764-601F-4520-905D-A74C3AECB286}"/>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Do not mechanically multiply ER20 by 13</a:t>
            </a:r>
          </a:p>
        </p:txBody>
      </p:sp>
      <p:sp>
        <p:nvSpPr>
          <p:cNvPr id="3" name="">
            <a:extLst xmlns:a="http://schemas.openxmlformats.org/drawingml/2006/main">
              <a:ext uri="{FF2B5EF4-FFF2-40B4-BE49-F238E27FC236}">
                <a16:creationId xmlns:a16="http://schemas.microsoft.com/office/drawing/2014/main" id="{D5F741CE-21A1-4951-8022-9BB4154BAF9A}"/>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E51155EF-A693-4FDF-A499-D90E299C88C7}"/>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02369E22-B7FB-4FBF-92A3-02421941CB74}"/>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14</a:t>
            </a:r>
          </a:p>
        </p:txBody>
      </p:sp>
      <p:sp>
        <p:nvSpPr>
          <p:cNvPr id="6" name="">
            <a:extLst xmlns:a="http://schemas.openxmlformats.org/drawingml/2006/main">
              <a:ext uri="{FF2B5EF4-FFF2-40B4-BE49-F238E27FC236}">
                <a16:creationId xmlns:a16="http://schemas.microsoft.com/office/drawing/2014/main" id="{9D9F8A5F-5C16-4600-828D-105F5D2B3A84}"/>
              </a:ext>
            </a:extLst>
          </p:cNvPr>
          <p:cNvSpPr>
            <a:spLocks xmlns:a="http://schemas.openxmlformats.org/drawingml/2006/main" noGrp="1"/>
          </p:cNvSpPr>
          <p:nvPr/>
        </p:nvSpPr>
        <p:spPr>
          <a:xfrm xmlns:a="http://schemas.openxmlformats.org/drawingml/2006/main">
            <a:off x="552450" y="1562100"/>
            <a:ext cx="11087100" cy="1295400"/>
          </a:xfrm>
          <a:prstGeom xmlns:a="http://schemas.openxmlformats.org/drawingml/2006/main" prst="rect">
            <a:avLst/>
          </a:prstGeom>
          <a:solidFill xmlns:a="http://schemas.openxmlformats.org/drawingml/2006/main">
            <a:srgbClr val="24364B"/>
          </a:solidFill>
          <a:ln xmlns:a="http://schemas.openxmlformats.org/drawingml/2006/main" w="0">
            <a:solidFill>
              <a:srgbClr val="24364B"/>
            </a:solidFill>
            <a:prstDash val="solid"/>
          </a:ln>
        </p:spPr>
      </p:sp>
      <p:sp>
        <p:nvSpPr>
          <p:cNvPr id="7" name="">
            <a:extLst xmlns:a="http://schemas.openxmlformats.org/drawingml/2006/main">
              <a:ext uri="{FF2B5EF4-FFF2-40B4-BE49-F238E27FC236}">
                <a16:creationId xmlns:a16="http://schemas.microsoft.com/office/drawing/2014/main" id="{8B4490C1-C51E-4FE8-A9D9-53A2BA3A9104}"/>
              </a:ext>
            </a:extLst>
          </p:cNvPr>
          <p:cNvSpPr>
            <a:spLocks xmlns:a="http://schemas.openxmlformats.org/drawingml/2006/main" noGrp="1"/>
          </p:cNvSpPr>
          <p:nvPr/>
        </p:nvSpPr>
        <p:spPr>
          <a:xfrm xmlns:a="http://schemas.openxmlformats.org/drawingml/2006/main">
            <a:off x="819150" y="1885950"/>
            <a:ext cx="10553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025" b="1">
                <a:solidFill>
                  <a:srgbClr val="FFFFFF"/>
                </a:solidFill>
              </a:defRPr>
            </a:pPr>
            <a:r>
              <a:rPr sz="2025" b="1">
                <a:solidFill>
                  <a:srgbClr val="FFFFFF"/>
                </a:solidFill>
              </a:rPr>
              <a:t>A daily 20-session ER asks about roughly one trading month. A 260-bar ER asks about a different object: the path through thousands of within-session micro-moves.</a:t>
            </a:r>
          </a:p>
        </p:txBody>
      </p:sp>
      <p:sp>
        <p:nvSpPr>
          <p:cNvPr id="8" name="">
            <a:extLst xmlns:a="http://schemas.openxmlformats.org/drawingml/2006/main">
              <a:ext uri="{FF2B5EF4-FFF2-40B4-BE49-F238E27FC236}">
                <a16:creationId xmlns:a16="http://schemas.microsoft.com/office/drawing/2014/main" id="{0BA95983-66E2-4F54-8D07-8E417629BBCF}"/>
              </a:ext>
            </a:extLst>
          </p:cNvPr>
          <p:cNvSpPr>
            <a:spLocks xmlns:a="http://schemas.openxmlformats.org/drawingml/2006/main" noGrp="1"/>
          </p:cNvSpPr>
          <p:nvPr/>
        </p:nvSpPr>
        <p:spPr>
          <a:xfrm xmlns:a="http://schemas.openxmlformats.org/drawingml/2006/main">
            <a:off x="552450" y="3295650"/>
            <a:ext cx="3238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Recommended sequence</a:t>
            </a:r>
          </a:p>
        </p:txBody>
      </p:sp>
      <p:sp>
        <p:nvSpPr>
          <p:cNvPr id="9" name="">
            <a:extLst xmlns:a="http://schemas.openxmlformats.org/drawingml/2006/main">
              <a:ext uri="{FF2B5EF4-FFF2-40B4-BE49-F238E27FC236}">
                <a16:creationId xmlns:a16="http://schemas.microsoft.com/office/drawing/2014/main" id="{9748AC5C-49EC-4077-9BA5-A624787D2C26}"/>
              </a:ext>
            </a:extLst>
          </p:cNvPr>
          <p:cNvSpPr>
            <a:spLocks xmlns:a="http://schemas.openxmlformats.org/drawingml/2006/main" noGrp="1"/>
          </p:cNvSpPr>
          <p:nvPr/>
        </p:nvSpPr>
        <p:spPr>
          <a:xfrm xmlns:a="http://schemas.openxmlformats.org/drawingml/2006/main">
            <a:off x="704850" y="40386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3D8DFF"/>
                </a:solidFill>
              </a:defRPr>
            </a:pPr>
            <a:r>
              <a:rPr sz="2400" b="1">
                <a:solidFill>
                  <a:srgbClr val="3D8DFF"/>
                </a:solidFill>
              </a:rPr>
              <a:t>1</a:t>
            </a:r>
          </a:p>
        </p:txBody>
      </p:sp>
      <p:sp>
        <p:nvSpPr>
          <p:cNvPr id="10" name="">
            <a:extLst xmlns:a="http://schemas.openxmlformats.org/drawingml/2006/main">
              <a:ext uri="{FF2B5EF4-FFF2-40B4-BE49-F238E27FC236}">
                <a16:creationId xmlns:a16="http://schemas.microsoft.com/office/drawing/2014/main" id="{F1D1EE4B-F246-4212-BEE6-B090D38684CA}"/>
              </a:ext>
            </a:extLst>
          </p:cNvPr>
          <p:cNvSpPr>
            <a:spLocks xmlns:a="http://schemas.openxmlformats.org/drawingml/2006/main" noGrp="1"/>
          </p:cNvSpPr>
          <p:nvPr/>
        </p:nvSpPr>
        <p:spPr>
          <a:xfrm xmlns:a="http://schemas.openxmlformats.org/drawingml/2006/main">
            <a:off x="1352550" y="3981450"/>
            <a:ext cx="9048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Use prior-day daily ATR% / ER20 / signed ER20 to split the existing gap-and-clock plot.</a:t>
            </a:r>
          </a:p>
        </p:txBody>
      </p:sp>
      <p:sp>
        <p:nvSpPr>
          <p:cNvPr id="11" name="">
            <a:extLst xmlns:a="http://schemas.openxmlformats.org/drawingml/2006/main">
              <a:ext uri="{FF2B5EF4-FFF2-40B4-BE49-F238E27FC236}">
                <a16:creationId xmlns:a16="http://schemas.microsoft.com/office/drawing/2014/main" id="{72316C2C-5BF3-49CB-B0C1-E7B05E41D1F6}"/>
              </a:ext>
            </a:extLst>
          </p:cNvPr>
          <p:cNvSpPr>
            <a:spLocks xmlns:a="http://schemas.openxmlformats.org/drawingml/2006/main" noGrp="1"/>
          </p:cNvSpPr>
          <p:nvPr/>
        </p:nvSpPr>
        <p:spPr>
          <a:xfrm xmlns:a="http://schemas.openxmlformats.org/drawingml/2006/main">
            <a:off x="704850" y="48006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A86B00"/>
                </a:solidFill>
              </a:defRPr>
            </a:pPr>
            <a:r>
              <a:rPr sz="2400" b="1">
                <a:solidFill>
                  <a:srgbClr val="A86B00"/>
                </a:solidFill>
              </a:rPr>
              <a:t>2</a:t>
            </a:r>
          </a:p>
        </p:txBody>
      </p:sp>
      <p:sp>
        <p:nvSpPr>
          <p:cNvPr id="12" name="">
            <a:extLst xmlns:a="http://schemas.openxmlformats.org/drawingml/2006/main">
              <a:ext uri="{FF2B5EF4-FFF2-40B4-BE49-F238E27FC236}">
                <a16:creationId xmlns:a16="http://schemas.microsoft.com/office/drawing/2014/main" id="{0B485697-623F-4FDB-9801-AB1D81CCFEF1}"/>
              </a:ext>
            </a:extLst>
          </p:cNvPr>
          <p:cNvSpPr>
            <a:spLocks xmlns:a="http://schemas.openxmlformats.org/drawingml/2006/main" noGrp="1"/>
          </p:cNvSpPr>
          <p:nvPr/>
        </p:nvSpPr>
        <p:spPr>
          <a:xfrm xmlns:a="http://schemas.openxmlformats.org/drawingml/2006/main">
            <a:off x="1352550" y="4743450"/>
            <a:ext cx="9048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Only if that view is informative, open a distinct intraday-state experiment with a small predeclared window set and strict bar timing.</a:t>
            </a:r>
          </a:p>
        </p:txBody>
      </p:sp>
      <p:sp>
        <p:nvSpPr>
          <p:cNvPr id="13" name="">
            <a:extLst xmlns:a="http://schemas.openxmlformats.org/drawingml/2006/main">
              <a:ext uri="{FF2B5EF4-FFF2-40B4-BE49-F238E27FC236}">
                <a16:creationId xmlns:a16="http://schemas.microsoft.com/office/drawing/2014/main" id="{33C5E5EF-67E4-4024-8C49-9D847C78439D}"/>
              </a:ext>
            </a:extLst>
          </p:cNvPr>
          <p:cNvSpPr>
            <a:spLocks xmlns:a="http://schemas.openxmlformats.org/drawingml/2006/main" noGrp="1"/>
          </p:cNvSpPr>
          <p:nvPr/>
        </p:nvSpPr>
        <p:spPr>
          <a:xfrm xmlns:a="http://schemas.openxmlformats.org/drawingml/2006/main">
            <a:off x="704850" y="56769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B44738"/>
                </a:solidFill>
              </a:defRPr>
            </a:pPr>
            <a:r>
              <a:rPr sz="2400" b="1">
                <a:solidFill>
                  <a:srgbClr val="B44738"/>
                </a:solidFill>
              </a:rPr>
              <a:t>3</a:t>
            </a:r>
          </a:p>
        </p:txBody>
      </p:sp>
      <p:sp>
        <p:nvSpPr>
          <p:cNvPr id="14" name="">
            <a:extLst xmlns:a="http://schemas.openxmlformats.org/drawingml/2006/main">
              <a:ext uri="{FF2B5EF4-FFF2-40B4-BE49-F238E27FC236}">
                <a16:creationId xmlns:a16="http://schemas.microsoft.com/office/drawing/2014/main" id="{93BE82A8-3D27-478A-BBA7-7D477A1739CB}"/>
              </a:ext>
            </a:extLst>
          </p:cNvPr>
          <p:cNvSpPr>
            <a:spLocks xmlns:a="http://schemas.openxmlformats.org/drawingml/2006/main" noGrp="1"/>
          </p:cNvSpPr>
          <p:nvPr/>
        </p:nvSpPr>
        <p:spPr>
          <a:xfrm xmlns:a="http://schemas.openxmlformats.org/drawingml/2006/main">
            <a:off x="1352550" y="5619750"/>
            <a:ext cx="904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Keep every first plot descriptive; promote only a concrete causal pattern to a falsification slice.</a:t>
            </a:r>
          </a:p>
        </p:txBody>
      </p:sp>
      <p:sp>
        <p:nvSpPr>
          <p:cNvPr id="15" name="">
            <a:extLst xmlns:a="http://schemas.openxmlformats.org/drawingml/2006/main">
              <a:ext uri="{FF2B5EF4-FFF2-40B4-BE49-F238E27FC236}">
                <a16:creationId xmlns:a16="http://schemas.microsoft.com/office/drawing/2014/main" id="{E87962FD-CC87-4475-A981-D630DB1AF6F6}"/>
              </a:ext>
            </a:extLst>
          </p:cNvPr>
          <p:cNvSpPr>
            <a:spLocks xmlns:a="http://schemas.openxmlformats.org/drawingml/2006/main" noGrp="1"/>
          </p:cNvSpPr>
          <p:nvPr/>
        </p:nvSpPr>
        <p:spPr>
          <a:xfrm xmlns:a="http://schemas.openxmlformats.org/drawingml/2006/main">
            <a:off x="552450" y="6286500"/>
            <a:ext cx="11087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75" b="1">
                <a:solidFill>
                  <a:srgbClr val="B44738"/>
                </a:solidFill>
              </a:defRPr>
            </a:pPr>
            <a:r>
              <a:rPr sz="975" b="1">
                <a:solidFill>
                  <a:srgbClr val="B44738"/>
                </a:solidFill>
              </a:rPr>
              <a:t>CURRENT STATUS: DAILY + INTRADAY MICROSCOPES DOCUMENTED · CONDITIONED INTRADAY VIEW NOT YET RUN</a:t>
            </a:r>
          </a:p>
        </p:txBody>
      </p:sp>
    </p:spTree>
    <p:extLst>
      <p:ext uri="{BB962C8B-B14F-4D97-AF65-F5344CB8AC3E}">
        <p14:creationId xmlns:p14="http://schemas.microsoft.com/office/powerpoint/2010/main" val="1917300781"/>
      </p:ext>
    </p:extLst>
  </p:cSld>
</p:sld>
</file>

<file path=ppt/slides/slide15.xml><?xml version="1.0" encoding="utf-8"?>
<p:sld xmlns:p="http://schemas.openxmlformats.org/presentationml/2006/main">
  <p:cSld>
    <p:bg>
      <p:bgPr>
        <a:solidFill xmlns:a="http://schemas.openxmlformats.org/drawingml/2006/main">
          <a:srgbClr val="24364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4914183-3DD3-49D5-836E-FBF648E3F086}"/>
              </a:ext>
            </a:extLst>
          </p:cNvPr>
          <p:cNvSpPr>
            <a:spLocks xmlns:a="http://schemas.openxmlformats.org/drawingml/2006/main" noGrp="1"/>
          </p:cNvSpPr>
          <p:nvPr/>
        </p:nvSpPr>
        <p:spPr>
          <a:xfrm xmlns:a="http://schemas.openxmlformats.org/drawingml/2006/main">
            <a:off x="685800" y="8953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0EDFA"/>
                </a:solidFill>
              </a:defRPr>
            </a:pPr>
            <a:r>
              <a:rPr sz="1275" b="1">
                <a:solidFill>
                  <a:srgbClr val="D0EDFA"/>
                </a:solidFill>
              </a:rPr>
              <a:t>THIRD MICROSCOPE</a:t>
            </a:r>
          </a:p>
        </p:txBody>
      </p:sp>
      <p:sp>
        <p:nvSpPr>
          <p:cNvPr id="2" name="">
            <a:extLst xmlns:a="http://schemas.openxmlformats.org/drawingml/2006/main">
              <a:ext uri="{FF2B5EF4-FFF2-40B4-BE49-F238E27FC236}">
                <a16:creationId xmlns:a16="http://schemas.microsoft.com/office/drawing/2014/main" id="{C76CF9CE-BA68-4046-B100-728C3BB1EE4B}"/>
              </a:ext>
            </a:extLst>
          </p:cNvPr>
          <p:cNvSpPr>
            <a:spLocks xmlns:a="http://schemas.openxmlformats.org/drawingml/2006/main" noGrp="1"/>
          </p:cNvSpPr>
          <p:nvPr/>
        </p:nvSpPr>
        <p:spPr>
          <a:xfrm xmlns:a="http://schemas.openxmlformats.org/drawingml/2006/main">
            <a:off x="685800" y="1619250"/>
            <a:ext cx="91440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FFFFFF"/>
                </a:solidFill>
              </a:defRPr>
            </a:pPr>
            <a:r>
              <a:rPr sz="4800" b="1">
                <a:solidFill>
                  <a:srgbClr val="FFFFFF"/>
                </a:solidFill>
              </a:rPr>
              <a:t>Can the geometry survive</a:t>
            </a:r>
          </a:p>
          <a:p xmlns:a="http://schemas.openxmlformats.org/drawingml/2006/main">
            <a:pPr algn="l">
              <a:defRPr sz="4800" b="1">
                <a:solidFill>
                  <a:srgbClr val="FFFFFF"/>
                </a:solidFill>
              </a:defRPr>
            </a:pPr>
            <a:r>
              <a:rPr sz="4800" b="1">
                <a:solidFill>
                  <a:srgbClr val="FFFFFF"/>
                </a:solidFill>
              </a:rPr>
              <a:t>executable timing?</a:t>
            </a:r>
          </a:p>
        </p:txBody>
      </p:sp>
      <p:sp>
        <p:nvSpPr>
          <p:cNvPr id="3" name="">
            <a:extLst xmlns:a="http://schemas.openxmlformats.org/drawingml/2006/main">
              <a:ext uri="{FF2B5EF4-FFF2-40B4-BE49-F238E27FC236}">
                <a16:creationId xmlns:a16="http://schemas.microsoft.com/office/drawing/2014/main" id="{C04AE9E5-4E42-440E-8889-4F6D009CF3CF}"/>
              </a:ext>
            </a:extLst>
          </p:cNvPr>
          <p:cNvSpPr>
            <a:spLocks xmlns:a="http://schemas.openxmlformats.org/drawingml/2006/main" noGrp="1"/>
          </p:cNvSpPr>
          <p:nvPr/>
        </p:nvSpPr>
        <p:spPr>
          <a:xfrm xmlns:a="http://schemas.openxmlformats.org/drawingml/2006/main">
            <a:off x="723900" y="3886200"/>
            <a:ext cx="102870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0">
                <a:solidFill>
                  <a:srgbClr val="D0EDFA"/>
                </a:solidFill>
              </a:defRPr>
            </a:pPr>
            <a:r>
              <a:rPr sz="2025" b="0">
                <a:solidFill>
                  <a:srgbClr val="D0EDFA"/>
                </a:solidFill>
              </a:rPr>
              <a:t>Two fixed 20/20 clues are converted into next-open, open-to-open rules. The purpose is not to optimize them; it is to see which descriptive pattern remains visible after causal timing, no-overlap, costs, and simple controls.</a:t>
            </a:r>
          </a:p>
        </p:txBody>
      </p:sp>
      <p:sp>
        <p:nvSpPr>
          <p:cNvPr id="4" name="">
            <a:extLst xmlns:a="http://schemas.openxmlformats.org/drawingml/2006/main">
              <a:ext uri="{FF2B5EF4-FFF2-40B4-BE49-F238E27FC236}">
                <a16:creationId xmlns:a16="http://schemas.microsoft.com/office/drawing/2014/main" id="{826D6EDF-F5E4-4FC1-9D5A-53F8401C6891}"/>
              </a:ext>
            </a:extLst>
          </p:cNvPr>
          <p:cNvSpPr>
            <a:spLocks xmlns:a="http://schemas.openxmlformats.org/drawingml/2006/main" noGrp="1"/>
          </p:cNvSpPr>
          <p:nvPr/>
        </p:nvSpPr>
        <p:spPr>
          <a:xfrm xmlns:a="http://schemas.openxmlformats.org/drawingml/2006/main">
            <a:off x="723900" y="5734050"/>
            <a:ext cx="857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FFFFFF"/>
                </a:solidFill>
              </a:defRPr>
            </a:pPr>
            <a:r>
              <a:rPr sz="1500" b="1">
                <a:solidFill>
                  <a:srgbClr val="FFFFFF"/>
                </a:solidFill>
              </a:rPr>
              <a:t>2018–2023 TRAIN only · 2024+ remains sealed</a:t>
            </a:r>
          </a:p>
        </p:txBody>
      </p:sp>
      <p:sp>
        <p:nvSpPr>
          <p:cNvPr id="5" name="">
            <a:extLst xmlns:a="http://schemas.openxmlformats.org/drawingml/2006/main">
              <a:ext uri="{FF2B5EF4-FFF2-40B4-BE49-F238E27FC236}">
                <a16:creationId xmlns:a16="http://schemas.microsoft.com/office/drawing/2014/main" id="{F7C7FCD3-6690-49CB-A64F-38876F0F2767}"/>
              </a:ext>
            </a:extLst>
          </p:cNvPr>
          <p:cNvSpPr>
            <a:spLocks xmlns:a="http://schemas.openxmlformats.org/drawingml/2006/main" noGrp="1"/>
          </p:cNvSpPr>
          <p:nvPr/>
        </p:nvSpPr>
        <p:spPr>
          <a:xfrm xmlns:a="http://schemas.openxmlformats.org/drawingml/2006/main">
            <a:off x="10801350"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D0EDFA"/>
                </a:solidFill>
              </a:defRPr>
            </a:pPr>
            <a:r>
              <a:rPr sz="900" b="0">
                <a:solidFill>
                  <a:srgbClr val="D0EDFA"/>
                </a:solidFill>
              </a:rPr>
              <a:t>15</a:t>
            </a:r>
          </a:p>
        </p:txBody>
      </p:sp>
    </p:spTree>
    <p:extLst>
      <p:ext uri="{BB962C8B-B14F-4D97-AF65-F5344CB8AC3E}">
        <p14:creationId xmlns:p14="http://schemas.microsoft.com/office/powerpoint/2010/main" val="29765171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2B79A190-48F6-45C1-A151-32D651499934}"/>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E313ED1D-C1AF-48F3-A731-0CCDCE4CC621}"/>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Two clues, two frozen rule translations</a:t>
            </a:r>
          </a:p>
        </p:txBody>
      </p:sp>
      <p:sp>
        <p:nvSpPr>
          <p:cNvPr id="3" name="">
            <a:extLst xmlns:a="http://schemas.openxmlformats.org/drawingml/2006/main">
              <a:ext uri="{FF2B5EF4-FFF2-40B4-BE49-F238E27FC236}">
                <a16:creationId xmlns:a16="http://schemas.microsoft.com/office/drawing/2014/main" id="{93FA6F6F-C2CA-4F17-AFA0-A0394B3C5F1B}"/>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A9B197D2-82A8-46A1-A15F-E27AFF487D89}"/>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06D29A5F-C621-4FF8-883E-487DDDB881CD}"/>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16</a:t>
            </a:r>
          </a:p>
        </p:txBody>
      </p:sp>
      <p:sp>
        <p:nvSpPr>
          <p:cNvPr id="6" name="">
            <a:extLst xmlns:a="http://schemas.openxmlformats.org/drawingml/2006/main">
              <a:ext uri="{FF2B5EF4-FFF2-40B4-BE49-F238E27FC236}">
                <a16:creationId xmlns:a16="http://schemas.microsoft.com/office/drawing/2014/main" id="{4CCC06B5-1622-4501-A1FC-DA731A251EB9}"/>
              </a:ext>
            </a:extLst>
          </p:cNvPr>
          <p:cNvSpPr>
            <a:spLocks xmlns:a="http://schemas.openxmlformats.org/drawingml/2006/main" noGrp="1"/>
          </p:cNvSpPr>
          <p:nvPr/>
        </p:nvSpPr>
        <p:spPr>
          <a:xfrm xmlns:a="http://schemas.openxmlformats.org/drawingml/2006/main">
            <a:off x="552450" y="1562100"/>
            <a:ext cx="5238750" cy="3352800"/>
          </a:xfrm>
          <a:prstGeom xmlns:a="http://schemas.openxmlformats.org/drawingml/2006/main" prst="rect">
            <a:avLst/>
          </a:prstGeom>
          <a:solidFill xmlns:a="http://schemas.openxmlformats.org/drawingml/2006/main">
            <a:srgbClr val="D0EDFA"/>
          </a:solidFill>
          <a:ln xmlns:a="http://schemas.openxmlformats.org/drawingml/2006/main" w="0">
            <a:solidFill>
              <a:srgbClr val="D0EDFA"/>
            </a:solidFill>
            <a:prstDash val="solid"/>
          </a:ln>
        </p:spPr>
      </p:sp>
      <p:sp>
        <p:nvSpPr>
          <p:cNvPr id="7" name="">
            <a:extLst xmlns:a="http://schemas.openxmlformats.org/drawingml/2006/main">
              <a:ext uri="{FF2B5EF4-FFF2-40B4-BE49-F238E27FC236}">
                <a16:creationId xmlns:a16="http://schemas.microsoft.com/office/drawing/2014/main" id="{6737FD43-6A7E-4446-958A-935000EF0605}"/>
              </a:ext>
            </a:extLst>
          </p:cNvPr>
          <p:cNvSpPr>
            <a:spLocks xmlns:a="http://schemas.openxmlformats.org/drawingml/2006/main" noGrp="1"/>
          </p:cNvSpPr>
          <p:nvPr/>
        </p:nvSpPr>
        <p:spPr>
          <a:xfrm xmlns:a="http://schemas.openxmlformats.org/drawingml/2006/main">
            <a:off x="819150" y="1828800"/>
            <a:ext cx="4572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3D8DFF"/>
                </a:solidFill>
              </a:defRPr>
            </a:pPr>
            <a:r>
              <a:rPr sz="2175" b="1">
                <a:solidFill>
                  <a:srgbClr val="3D8DFF"/>
                </a:solidFill>
              </a:rPr>
              <a:t>Efficient-up continuation</a:t>
            </a:r>
          </a:p>
        </p:txBody>
      </p:sp>
      <p:sp>
        <p:nvSpPr>
          <p:cNvPr id="8" name="">
            <a:extLst xmlns:a="http://schemas.openxmlformats.org/drawingml/2006/main">
              <a:ext uri="{FF2B5EF4-FFF2-40B4-BE49-F238E27FC236}">
                <a16:creationId xmlns:a16="http://schemas.microsoft.com/office/drawing/2014/main" id="{A801BBEC-89FA-4B53-A3A4-1C1A9FD9A755}"/>
              </a:ext>
            </a:extLst>
          </p:cNvPr>
          <p:cNvSpPr>
            <a:spLocks xmlns:a="http://schemas.openxmlformats.org/drawingml/2006/main" noGrp="1"/>
          </p:cNvSpPr>
          <p:nvPr/>
        </p:nvSpPr>
        <p:spPr>
          <a:xfrm xmlns:a="http://schemas.openxmlformats.org/drawingml/2006/main">
            <a:off x="838200" y="2457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667386"/>
                </a:solidFill>
              </a:defRPr>
            </a:pPr>
            <a:r>
              <a:rPr sz="1350" b="1">
                <a:solidFill>
                  <a:srgbClr val="667386"/>
                </a:solidFill>
              </a:rPr>
              <a:t>At close t</a:t>
            </a:r>
          </a:p>
        </p:txBody>
      </p:sp>
      <p:sp>
        <p:nvSpPr>
          <p:cNvPr id="9" name="">
            <a:extLst xmlns:a="http://schemas.openxmlformats.org/drawingml/2006/main">
              <a:ext uri="{FF2B5EF4-FFF2-40B4-BE49-F238E27FC236}">
                <a16:creationId xmlns:a16="http://schemas.microsoft.com/office/drawing/2014/main" id="{11DD4A81-B6E7-4AB8-81AF-53F74D1B8CDE}"/>
              </a:ext>
            </a:extLst>
          </p:cNvPr>
          <p:cNvSpPr>
            <a:spLocks xmlns:a="http://schemas.openxmlformats.org/drawingml/2006/main" noGrp="1"/>
          </p:cNvSpPr>
          <p:nvPr/>
        </p:nvSpPr>
        <p:spPr>
          <a:xfrm xmlns:a="http://schemas.openxmlformats.org/drawingml/2006/main">
            <a:off x="838200" y="2800350"/>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24364B"/>
                </a:solidFill>
              </a:defRPr>
            </a:pPr>
            <a:r>
              <a:rPr sz="2100" b="1">
                <a:solidFill>
                  <a:srgbClr val="24364B"/>
                </a:solidFill>
              </a:rPr>
              <a:t>R20 &gt; 0  AND  ER20 ≥ 0.30</a:t>
            </a:r>
          </a:p>
        </p:txBody>
      </p:sp>
      <p:sp>
        <p:nvSpPr>
          <p:cNvPr id="10" name="">
            <a:extLst xmlns:a="http://schemas.openxmlformats.org/drawingml/2006/main">
              <a:ext uri="{FF2B5EF4-FFF2-40B4-BE49-F238E27FC236}">
                <a16:creationId xmlns:a16="http://schemas.microsoft.com/office/drawing/2014/main" id="{F71B7E33-217D-4488-BE44-43695982E3E3}"/>
              </a:ext>
            </a:extLst>
          </p:cNvPr>
          <p:cNvSpPr>
            <a:spLocks xmlns:a="http://schemas.openxmlformats.org/drawingml/2006/main" noGrp="1"/>
          </p:cNvSpPr>
          <p:nvPr/>
        </p:nvSpPr>
        <p:spPr>
          <a:xfrm xmlns:a="http://schemas.openxmlformats.org/drawingml/2006/main">
            <a:off x="838200" y="35433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667386"/>
                </a:solidFill>
              </a:defRPr>
            </a:pPr>
            <a:r>
              <a:rPr sz="1350" b="1">
                <a:solidFill>
                  <a:srgbClr val="667386"/>
                </a:solidFill>
              </a:rPr>
              <a:t>Thesis</a:t>
            </a:r>
          </a:p>
        </p:txBody>
      </p:sp>
      <p:sp>
        <p:nvSpPr>
          <p:cNvPr id="11" name="">
            <a:extLst xmlns:a="http://schemas.openxmlformats.org/drawingml/2006/main">
              <a:ext uri="{FF2B5EF4-FFF2-40B4-BE49-F238E27FC236}">
                <a16:creationId xmlns:a16="http://schemas.microsoft.com/office/drawing/2014/main" id="{6E0747B8-49BD-4ED5-A340-3DF70FD87A36}"/>
              </a:ext>
            </a:extLst>
          </p:cNvPr>
          <p:cNvSpPr>
            <a:spLocks xmlns:a="http://schemas.openxmlformats.org/drawingml/2006/main" noGrp="1"/>
          </p:cNvSpPr>
          <p:nvPr/>
        </p:nvSpPr>
        <p:spPr>
          <a:xfrm xmlns:a="http://schemas.openxmlformats.org/drawingml/2006/main">
            <a:off x="838200" y="3886200"/>
            <a:ext cx="4476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An efficient upward path may continue after the signal is observable.</a:t>
            </a:r>
          </a:p>
        </p:txBody>
      </p:sp>
      <p:sp>
        <p:nvSpPr>
          <p:cNvPr id="12" name="">
            <a:extLst xmlns:a="http://schemas.openxmlformats.org/drawingml/2006/main">
              <a:ext uri="{FF2B5EF4-FFF2-40B4-BE49-F238E27FC236}">
                <a16:creationId xmlns:a16="http://schemas.microsoft.com/office/drawing/2014/main" id="{770FE7CC-2D17-4684-87E6-32591B697F2F}"/>
              </a:ext>
            </a:extLst>
          </p:cNvPr>
          <p:cNvSpPr>
            <a:spLocks xmlns:a="http://schemas.openxmlformats.org/drawingml/2006/main" noGrp="1"/>
          </p:cNvSpPr>
          <p:nvPr/>
        </p:nvSpPr>
        <p:spPr>
          <a:xfrm xmlns:a="http://schemas.openxmlformats.org/drawingml/2006/main">
            <a:off x="6096000" y="1562100"/>
            <a:ext cx="5543550" cy="335280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3" name="">
            <a:extLst xmlns:a="http://schemas.openxmlformats.org/drawingml/2006/main">
              <a:ext uri="{FF2B5EF4-FFF2-40B4-BE49-F238E27FC236}">
                <a16:creationId xmlns:a16="http://schemas.microsoft.com/office/drawing/2014/main" id="{7A9A91FA-427D-42D5-9519-BA43863CFD7B}"/>
              </a:ext>
            </a:extLst>
          </p:cNvPr>
          <p:cNvSpPr>
            <a:spLocks xmlns:a="http://schemas.openxmlformats.org/drawingml/2006/main" noGrp="1"/>
          </p:cNvSpPr>
          <p:nvPr/>
        </p:nvSpPr>
        <p:spPr>
          <a:xfrm xmlns:a="http://schemas.openxmlformats.org/drawingml/2006/main">
            <a:off x="6381750" y="182880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14866D"/>
                </a:solidFill>
              </a:defRPr>
            </a:pPr>
            <a:r>
              <a:rPr sz="2175" b="1">
                <a:solidFill>
                  <a:srgbClr val="14866D"/>
                </a:solidFill>
              </a:rPr>
              <a:t>Calm-pullback rebound</a:t>
            </a:r>
          </a:p>
        </p:txBody>
      </p:sp>
      <p:sp>
        <p:nvSpPr>
          <p:cNvPr id="14" name="">
            <a:extLst xmlns:a="http://schemas.openxmlformats.org/drawingml/2006/main">
              <a:ext uri="{FF2B5EF4-FFF2-40B4-BE49-F238E27FC236}">
                <a16:creationId xmlns:a16="http://schemas.microsoft.com/office/drawing/2014/main" id="{D6817E95-205C-4B1C-B76F-196E04A47256}"/>
              </a:ext>
            </a:extLst>
          </p:cNvPr>
          <p:cNvSpPr>
            <a:spLocks xmlns:a="http://schemas.openxmlformats.org/drawingml/2006/main" noGrp="1"/>
          </p:cNvSpPr>
          <p:nvPr/>
        </p:nvSpPr>
        <p:spPr>
          <a:xfrm xmlns:a="http://schemas.openxmlformats.org/drawingml/2006/main">
            <a:off x="6400800" y="2457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667386"/>
                </a:solidFill>
              </a:defRPr>
            </a:pPr>
            <a:r>
              <a:rPr sz="1350" b="1">
                <a:solidFill>
                  <a:srgbClr val="667386"/>
                </a:solidFill>
              </a:rPr>
              <a:t>At close t</a:t>
            </a:r>
          </a:p>
        </p:txBody>
      </p:sp>
      <p:sp>
        <p:nvSpPr>
          <p:cNvPr id="15" name="">
            <a:extLst xmlns:a="http://schemas.openxmlformats.org/drawingml/2006/main">
              <a:ext uri="{FF2B5EF4-FFF2-40B4-BE49-F238E27FC236}">
                <a16:creationId xmlns:a16="http://schemas.microsoft.com/office/drawing/2014/main" id="{D8221FE0-DAE1-4DD3-9FDA-11E5D6D215A5}"/>
              </a:ext>
            </a:extLst>
          </p:cNvPr>
          <p:cNvSpPr>
            <a:spLocks xmlns:a="http://schemas.openxmlformats.org/drawingml/2006/main" noGrp="1"/>
          </p:cNvSpPr>
          <p:nvPr/>
        </p:nvSpPr>
        <p:spPr>
          <a:xfrm xmlns:a="http://schemas.openxmlformats.org/drawingml/2006/main">
            <a:off x="6400800" y="28003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24364B"/>
                </a:solidFill>
              </a:defRPr>
            </a:pPr>
            <a:r>
              <a:rPr sz="1950" b="1">
                <a:solidFill>
                  <a:srgbClr val="24364B"/>
                </a:solidFill>
              </a:rPr>
              <a:t>R20 &lt; 0  AND  ATR% state = LOW or MEDIUM</a:t>
            </a:r>
          </a:p>
        </p:txBody>
      </p:sp>
      <p:sp>
        <p:nvSpPr>
          <p:cNvPr id="16" name="">
            <a:extLst xmlns:a="http://schemas.openxmlformats.org/drawingml/2006/main">
              <a:ext uri="{FF2B5EF4-FFF2-40B4-BE49-F238E27FC236}">
                <a16:creationId xmlns:a16="http://schemas.microsoft.com/office/drawing/2014/main" id="{D7AA7442-715A-464F-83CA-EF2E3F7F6C49}"/>
              </a:ext>
            </a:extLst>
          </p:cNvPr>
          <p:cNvSpPr>
            <a:spLocks xmlns:a="http://schemas.openxmlformats.org/drawingml/2006/main" noGrp="1"/>
          </p:cNvSpPr>
          <p:nvPr/>
        </p:nvSpPr>
        <p:spPr>
          <a:xfrm xmlns:a="http://schemas.openxmlformats.org/drawingml/2006/main">
            <a:off x="6400800" y="35433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667386"/>
                </a:solidFill>
              </a:defRPr>
            </a:pPr>
            <a:r>
              <a:rPr sz="1350" b="1">
                <a:solidFill>
                  <a:srgbClr val="667386"/>
                </a:solidFill>
              </a:rPr>
              <a:t>Thesis</a:t>
            </a:r>
          </a:p>
        </p:txBody>
      </p:sp>
      <p:sp>
        <p:nvSpPr>
          <p:cNvPr id="17" name="">
            <a:extLst xmlns:a="http://schemas.openxmlformats.org/drawingml/2006/main">
              <a:ext uri="{FF2B5EF4-FFF2-40B4-BE49-F238E27FC236}">
                <a16:creationId xmlns:a16="http://schemas.microsoft.com/office/drawing/2014/main" id="{6DCF643C-9ECC-481C-8B13-F1E228972A32}"/>
              </a:ext>
            </a:extLst>
          </p:cNvPr>
          <p:cNvSpPr>
            <a:spLocks xmlns:a="http://schemas.openxmlformats.org/drawingml/2006/main" noGrp="1"/>
          </p:cNvSpPr>
          <p:nvPr/>
        </p:nvSpPr>
        <p:spPr>
          <a:xfrm xmlns:a="http://schemas.openxmlformats.org/drawingml/2006/main">
            <a:off x="6400800" y="3886200"/>
            <a:ext cx="4762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A loss in a non-high-volatility environment may be more recoverable than one inside a volatility shock.</a:t>
            </a:r>
          </a:p>
        </p:txBody>
      </p:sp>
      <p:sp>
        <p:nvSpPr>
          <p:cNvPr id="18" name="">
            <a:extLst xmlns:a="http://schemas.openxmlformats.org/drawingml/2006/main">
              <a:ext uri="{FF2B5EF4-FFF2-40B4-BE49-F238E27FC236}">
                <a16:creationId xmlns:a16="http://schemas.microsoft.com/office/drawing/2014/main" id="{64D10813-79F2-4BAA-A380-DADC6F41C338}"/>
              </a:ext>
            </a:extLst>
          </p:cNvPr>
          <p:cNvSpPr>
            <a:spLocks xmlns:a="http://schemas.openxmlformats.org/drawingml/2006/main" noGrp="1"/>
          </p:cNvSpPr>
          <p:nvPr/>
        </p:nvSpPr>
        <p:spPr>
          <a:xfrm xmlns:a="http://schemas.openxmlformats.org/drawingml/2006/main">
            <a:off x="552450" y="5219700"/>
            <a:ext cx="11087100" cy="7810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9" name="">
            <a:extLst xmlns:a="http://schemas.openxmlformats.org/drawingml/2006/main">
              <a:ext uri="{FF2B5EF4-FFF2-40B4-BE49-F238E27FC236}">
                <a16:creationId xmlns:a16="http://schemas.microsoft.com/office/drawing/2014/main" id="{89991146-1B6E-4831-A44B-56E7FF71269E}"/>
              </a:ext>
            </a:extLst>
          </p:cNvPr>
          <p:cNvSpPr>
            <a:spLocks xmlns:a="http://schemas.openxmlformats.org/drawingml/2006/main" noGrp="1"/>
          </p:cNvSpPr>
          <p:nvPr/>
        </p:nvSpPr>
        <p:spPr>
          <a:xfrm xmlns:a="http://schemas.openxmlformats.org/drawingml/2006/main">
            <a:off x="762000" y="5448300"/>
            <a:ext cx="1066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24364B"/>
                </a:solidFill>
              </a:defRPr>
            </a:pPr>
            <a:r>
              <a:rPr sz="1650" b="1">
                <a:solidFill>
                  <a:srgbClr val="24364B"/>
                </a:solidFill>
              </a:rPr>
              <a:t>Both: enter next open · exit open t+21 · 20 open-to-open intervals · no overlapping positions · 10 bps round trip</a:t>
            </a:r>
          </a:p>
        </p:txBody>
      </p:sp>
    </p:spTree>
    <p:extLst>
      <p:ext uri="{BB962C8B-B14F-4D97-AF65-F5344CB8AC3E}">
        <p14:creationId xmlns:p14="http://schemas.microsoft.com/office/powerpoint/2010/main" val="145728689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2AA7EAE-AFBB-4E97-A938-2AB86A960A74}"/>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FF66EFCD-FA69-48BC-BB28-48B7C6FBB838}"/>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rules select visibly different parts of NVDA history</a:t>
            </a:r>
          </a:p>
        </p:txBody>
      </p:sp>
      <p:sp>
        <p:nvSpPr>
          <p:cNvPr id="3" name="">
            <a:extLst xmlns:a="http://schemas.openxmlformats.org/drawingml/2006/main">
              <a:ext uri="{FF2B5EF4-FFF2-40B4-BE49-F238E27FC236}">
                <a16:creationId xmlns:a16="http://schemas.microsoft.com/office/drawing/2014/main" id="{9B28DC83-997F-436B-A8A8-426E57E75475}"/>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6E9BF8C8-AC7A-4837-AA91-9586E6A5756D}"/>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356D5FAD-4BF3-4A31-B004-D1DB535290AD}"/>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17</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591dab0a93be40d5"/>
          <a:stretch xmlns:a="http://schemas.openxmlformats.org/drawingml/2006/main"/>
        </p:blipFill>
        <p:spPr>
          <a:xfrm xmlns:a="http://schemas.openxmlformats.org/drawingml/2006/main">
            <a:off x="2448560" y="1371600"/>
            <a:ext cx="7180580" cy="4895850"/>
          </a:xfrm>
          <a:prstGeom xmlns:a="http://schemas.openxmlformats.org/drawingml/2006/main" prst="rect">
            <a:avLst/>
          </a:prstGeom>
        </p:spPr>
      </p:pic>
    </p:spTree>
    <p:extLst>
      <p:ext uri="{BB962C8B-B14F-4D97-AF65-F5344CB8AC3E}">
        <p14:creationId xmlns:p14="http://schemas.microsoft.com/office/powerpoint/2010/main" val="202781379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0F9AB40-E88E-4D01-9D8D-77E6299150B7}"/>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A1C766B3-3368-4FA8-AE8D-D3CE0C9A4C1E}"/>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Only the rebound clears the narrow TRAIN translation gate</a:t>
            </a:r>
          </a:p>
        </p:txBody>
      </p:sp>
      <p:sp>
        <p:nvSpPr>
          <p:cNvPr id="3" name="">
            <a:extLst xmlns:a="http://schemas.openxmlformats.org/drawingml/2006/main">
              <a:ext uri="{FF2B5EF4-FFF2-40B4-BE49-F238E27FC236}">
                <a16:creationId xmlns:a16="http://schemas.microsoft.com/office/drawing/2014/main" id="{6B0F6276-AAD0-4919-93D5-5E448D513FE5}"/>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69ABEB22-124C-49A3-A49A-280139F92414}"/>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002F8EFB-A1B6-4135-BDCC-B288F1ABFC37}"/>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18</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38d5c864d551496a"/>
          <a:stretch xmlns:a="http://schemas.openxmlformats.org/drawingml/2006/main"/>
        </p:blipFill>
        <p:spPr>
          <a:xfrm xmlns:a="http://schemas.openxmlformats.org/drawingml/2006/main">
            <a:off x="545973" y="1466850"/>
            <a:ext cx="7232904" cy="43053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B1681A90-AF93-47AD-A8B5-CCC5AAA66BA8}"/>
              </a:ext>
            </a:extLst>
          </p:cNvPr>
          <p:cNvSpPr>
            <a:spLocks xmlns:a="http://schemas.openxmlformats.org/drawingml/2006/main" noGrp="1"/>
          </p:cNvSpPr>
          <p:nvPr/>
        </p:nvSpPr>
        <p:spPr>
          <a:xfrm xmlns:a="http://schemas.openxmlformats.org/drawingml/2006/main">
            <a:off x="8153400" y="1524000"/>
            <a:ext cx="3486150" cy="20383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AF959B4F-35D0-4B91-915F-1FC280233DD8}"/>
              </a:ext>
            </a:extLst>
          </p:cNvPr>
          <p:cNvSpPr>
            <a:spLocks xmlns:a="http://schemas.openxmlformats.org/drawingml/2006/main" noGrp="1"/>
          </p:cNvSpPr>
          <p:nvPr/>
        </p:nvSpPr>
        <p:spPr>
          <a:xfrm xmlns:a="http://schemas.openxmlformats.org/drawingml/2006/main">
            <a:off x="8401050" y="1752600"/>
            <a:ext cx="2990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3D8DFF"/>
                </a:solidFill>
              </a:defRPr>
            </a:pPr>
            <a:r>
              <a:rPr sz="1725" b="1">
                <a:solidFill>
                  <a:srgbClr val="3D8DFF"/>
                </a:solidFill>
              </a:rPr>
              <a:t>Efficient-up continuation</a:t>
            </a:r>
          </a:p>
        </p:txBody>
      </p:sp>
      <p:sp>
        <p:nvSpPr>
          <p:cNvPr id="9" name="">
            <a:extLst xmlns:a="http://schemas.openxmlformats.org/drawingml/2006/main">
              <a:ext uri="{FF2B5EF4-FFF2-40B4-BE49-F238E27FC236}">
                <a16:creationId xmlns:a16="http://schemas.microsoft.com/office/drawing/2014/main" id="{3813CC23-DE7E-45C1-9271-FF89C96FD41C}"/>
              </a:ext>
            </a:extLst>
          </p:cNvPr>
          <p:cNvSpPr>
            <a:spLocks xmlns:a="http://schemas.openxmlformats.org/drawingml/2006/main" noGrp="1"/>
          </p:cNvSpPr>
          <p:nvPr/>
        </p:nvSpPr>
        <p:spPr>
          <a:xfrm xmlns:a="http://schemas.openxmlformats.org/drawingml/2006/main">
            <a:off x="8401050" y="2247900"/>
            <a:ext cx="1314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39 trades</a:t>
            </a:r>
          </a:p>
        </p:txBody>
      </p:sp>
      <p:sp>
        <p:nvSpPr>
          <p:cNvPr id="10" name="">
            <a:extLst xmlns:a="http://schemas.openxmlformats.org/drawingml/2006/main">
              <a:ext uri="{FF2B5EF4-FFF2-40B4-BE49-F238E27FC236}">
                <a16:creationId xmlns:a16="http://schemas.microsoft.com/office/drawing/2014/main" id="{F5BEFD9D-5B35-4561-AC31-ADD6C4D89435}"/>
              </a:ext>
            </a:extLst>
          </p:cNvPr>
          <p:cNvSpPr>
            <a:spLocks xmlns:a="http://schemas.openxmlformats.org/drawingml/2006/main" noGrp="1"/>
          </p:cNvSpPr>
          <p:nvPr/>
        </p:nvSpPr>
        <p:spPr>
          <a:xfrm xmlns:a="http://schemas.openxmlformats.org/drawingml/2006/main">
            <a:off x="9810750" y="2247900"/>
            <a:ext cx="1581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defRPr>
            </a:pPr>
            <a:r>
              <a:rPr sz="1800" b="1">
                <a:solidFill>
                  <a:srgbClr val="000000"/>
                </a:solidFill>
              </a:rPr>
              <a:t>2.59% mean net</a:t>
            </a:r>
          </a:p>
        </p:txBody>
      </p:sp>
      <p:sp>
        <p:nvSpPr>
          <p:cNvPr id="11" name="">
            <a:extLst xmlns:a="http://schemas.openxmlformats.org/drawingml/2006/main">
              <a:ext uri="{FF2B5EF4-FFF2-40B4-BE49-F238E27FC236}">
                <a16:creationId xmlns:a16="http://schemas.microsoft.com/office/drawing/2014/main" id="{70BEB982-1080-4A4D-8432-7EDD277FD6FB}"/>
              </a:ext>
            </a:extLst>
          </p:cNvPr>
          <p:cNvSpPr>
            <a:spLocks xmlns:a="http://schemas.openxmlformats.org/drawingml/2006/main" noGrp="1"/>
          </p:cNvSpPr>
          <p:nvPr/>
        </p:nvSpPr>
        <p:spPr>
          <a:xfrm xmlns:a="http://schemas.openxmlformats.org/drawingml/2006/main">
            <a:off x="8401050" y="2838450"/>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B44738"/>
                </a:solidFill>
              </a:defRPr>
            </a:pPr>
            <a:r>
              <a:rPr sz="1350" b="1">
                <a:solidFill>
                  <a:srgbClr val="B44738"/>
                </a:solidFill>
              </a:rPr>
              <a:t>61.5% profitable · −0.29 pp vs drift</a:t>
            </a:r>
          </a:p>
        </p:txBody>
      </p:sp>
      <p:sp>
        <p:nvSpPr>
          <p:cNvPr id="12" name="">
            <a:extLst xmlns:a="http://schemas.openxmlformats.org/drawingml/2006/main">
              <a:ext uri="{FF2B5EF4-FFF2-40B4-BE49-F238E27FC236}">
                <a16:creationId xmlns:a16="http://schemas.microsoft.com/office/drawing/2014/main" id="{CA2CF93F-3150-42A8-A515-C48F270D63BE}"/>
              </a:ext>
            </a:extLst>
          </p:cNvPr>
          <p:cNvSpPr>
            <a:spLocks xmlns:a="http://schemas.openxmlformats.org/drawingml/2006/main" noGrp="1"/>
          </p:cNvSpPr>
          <p:nvPr/>
        </p:nvSpPr>
        <p:spPr>
          <a:xfrm xmlns:a="http://schemas.openxmlformats.org/drawingml/2006/main">
            <a:off x="8401050" y="3219450"/>
            <a:ext cx="2990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24364B"/>
                </a:solidFill>
              </a:defRPr>
            </a:pPr>
            <a:r>
              <a:rPr sz="1125" b="0">
                <a:solidFill>
                  <a:srgbClr val="24364B"/>
                </a:solidFill>
              </a:rPr>
              <a:t>STOP: weaker than unconditional drift and all three simple controls.</a:t>
            </a:r>
          </a:p>
        </p:txBody>
      </p:sp>
      <p:sp>
        <p:nvSpPr>
          <p:cNvPr id="13" name="">
            <a:extLst xmlns:a="http://schemas.openxmlformats.org/drawingml/2006/main">
              <a:ext uri="{FF2B5EF4-FFF2-40B4-BE49-F238E27FC236}">
                <a16:creationId xmlns:a16="http://schemas.microsoft.com/office/drawing/2014/main" id="{D911B03F-489C-4828-947A-C5BE0B29D682}"/>
              </a:ext>
            </a:extLst>
          </p:cNvPr>
          <p:cNvSpPr>
            <a:spLocks xmlns:a="http://schemas.openxmlformats.org/drawingml/2006/main" noGrp="1"/>
          </p:cNvSpPr>
          <p:nvPr/>
        </p:nvSpPr>
        <p:spPr>
          <a:xfrm xmlns:a="http://schemas.openxmlformats.org/drawingml/2006/main">
            <a:off x="8153400" y="3771900"/>
            <a:ext cx="3486150" cy="219075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4" name="">
            <a:extLst xmlns:a="http://schemas.openxmlformats.org/drawingml/2006/main">
              <a:ext uri="{FF2B5EF4-FFF2-40B4-BE49-F238E27FC236}">
                <a16:creationId xmlns:a16="http://schemas.microsoft.com/office/drawing/2014/main" id="{817849DA-13D6-4F96-A39A-3E6A285171A2}"/>
              </a:ext>
            </a:extLst>
          </p:cNvPr>
          <p:cNvSpPr>
            <a:spLocks xmlns:a="http://schemas.openxmlformats.org/drawingml/2006/main" noGrp="1"/>
          </p:cNvSpPr>
          <p:nvPr/>
        </p:nvSpPr>
        <p:spPr>
          <a:xfrm xmlns:a="http://schemas.openxmlformats.org/drawingml/2006/main">
            <a:off x="8401050" y="4000500"/>
            <a:ext cx="2990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14866D"/>
                </a:solidFill>
              </a:defRPr>
            </a:pPr>
            <a:r>
              <a:rPr sz="1725" b="1">
                <a:solidFill>
                  <a:srgbClr val="14866D"/>
                </a:solidFill>
              </a:rPr>
              <a:t>Calm-pullback rebound</a:t>
            </a:r>
          </a:p>
        </p:txBody>
      </p:sp>
      <p:sp>
        <p:nvSpPr>
          <p:cNvPr id="15" name="">
            <a:extLst xmlns:a="http://schemas.openxmlformats.org/drawingml/2006/main">
              <a:ext uri="{FF2B5EF4-FFF2-40B4-BE49-F238E27FC236}">
                <a16:creationId xmlns:a16="http://schemas.microsoft.com/office/drawing/2014/main" id="{37A79A76-63D6-4A43-A403-10C63BB2C373}"/>
              </a:ext>
            </a:extLst>
          </p:cNvPr>
          <p:cNvSpPr>
            <a:spLocks xmlns:a="http://schemas.openxmlformats.org/drawingml/2006/main" noGrp="1"/>
          </p:cNvSpPr>
          <p:nvPr/>
        </p:nvSpPr>
        <p:spPr>
          <a:xfrm xmlns:a="http://schemas.openxmlformats.org/drawingml/2006/main">
            <a:off x="8401050" y="4495800"/>
            <a:ext cx="1314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27 trades</a:t>
            </a:r>
          </a:p>
        </p:txBody>
      </p:sp>
      <p:sp>
        <p:nvSpPr>
          <p:cNvPr id="16" name="">
            <a:extLst xmlns:a="http://schemas.openxmlformats.org/drawingml/2006/main">
              <a:ext uri="{FF2B5EF4-FFF2-40B4-BE49-F238E27FC236}">
                <a16:creationId xmlns:a16="http://schemas.microsoft.com/office/drawing/2014/main" id="{EB80F513-AAED-4F4C-AC48-D00241B34EFD}"/>
              </a:ext>
            </a:extLst>
          </p:cNvPr>
          <p:cNvSpPr>
            <a:spLocks xmlns:a="http://schemas.openxmlformats.org/drawingml/2006/main" noGrp="1"/>
          </p:cNvSpPr>
          <p:nvPr/>
        </p:nvSpPr>
        <p:spPr>
          <a:xfrm xmlns:a="http://schemas.openxmlformats.org/drawingml/2006/main">
            <a:off x="9810750" y="4495800"/>
            <a:ext cx="1581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defRPr>
            </a:pPr>
            <a:r>
              <a:rPr sz="1800" b="1">
                <a:solidFill>
                  <a:srgbClr val="000000"/>
                </a:solidFill>
              </a:rPr>
              <a:t>6.33% mean net</a:t>
            </a:r>
          </a:p>
        </p:txBody>
      </p:sp>
      <p:sp>
        <p:nvSpPr>
          <p:cNvPr id="17" name="">
            <a:extLst xmlns:a="http://schemas.openxmlformats.org/drawingml/2006/main">
              <a:ext uri="{FF2B5EF4-FFF2-40B4-BE49-F238E27FC236}">
                <a16:creationId xmlns:a16="http://schemas.microsoft.com/office/drawing/2014/main" id="{4184DE6A-8897-40F8-A072-623E7C4B5931}"/>
              </a:ext>
            </a:extLst>
          </p:cNvPr>
          <p:cNvSpPr>
            <a:spLocks xmlns:a="http://schemas.openxmlformats.org/drawingml/2006/main" noGrp="1"/>
          </p:cNvSpPr>
          <p:nvPr/>
        </p:nvSpPr>
        <p:spPr>
          <a:xfrm xmlns:a="http://schemas.openxmlformats.org/drawingml/2006/main">
            <a:off x="8401050" y="5086350"/>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14866D"/>
                </a:solidFill>
              </a:defRPr>
            </a:pPr>
            <a:r>
              <a:rPr sz="1350" b="1">
                <a:solidFill>
                  <a:srgbClr val="14866D"/>
                </a:solidFill>
              </a:rPr>
              <a:t>74.1% profitable · +3.45 pp vs drift</a:t>
            </a:r>
          </a:p>
        </p:txBody>
      </p:sp>
      <p:sp>
        <p:nvSpPr>
          <p:cNvPr id="18" name="">
            <a:extLst xmlns:a="http://schemas.openxmlformats.org/drawingml/2006/main">
              <a:ext uri="{FF2B5EF4-FFF2-40B4-BE49-F238E27FC236}">
                <a16:creationId xmlns:a16="http://schemas.microsoft.com/office/drawing/2014/main" id="{20AD97B1-8BAA-49CD-8DBB-EE6EF87D1A28}"/>
              </a:ext>
            </a:extLst>
          </p:cNvPr>
          <p:cNvSpPr>
            <a:spLocks xmlns:a="http://schemas.openxmlformats.org/drawingml/2006/main" noGrp="1"/>
          </p:cNvSpPr>
          <p:nvPr/>
        </p:nvSpPr>
        <p:spPr>
          <a:xfrm xmlns:a="http://schemas.openxmlformats.org/drawingml/2006/main">
            <a:off x="8401050" y="5486400"/>
            <a:ext cx="2990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24364B"/>
                </a:solidFill>
              </a:defRPr>
            </a:pPr>
            <a:r>
              <a:rPr sz="1125" b="1">
                <a:solidFill>
                  <a:srgbClr val="24364B"/>
                </a:solidFill>
              </a:rPr>
              <a:t>PASS TRAIN translation only—not confirmation and not edge authority.</a:t>
            </a:r>
          </a:p>
        </p:txBody>
      </p:sp>
    </p:spTree>
    <p:extLst>
      <p:ext uri="{BB962C8B-B14F-4D97-AF65-F5344CB8AC3E}">
        <p14:creationId xmlns:p14="http://schemas.microsoft.com/office/powerpoint/2010/main" val="207227639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123068C-C61E-47DE-843F-851424CC1F55}"/>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C228BFAC-D986-46E2-A038-FE1E97BC06CF}"/>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joint rebound condition adds discrimination</a:t>
            </a:r>
          </a:p>
        </p:txBody>
      </p:sp>
      <p:sp>
        <p:nvSpPr>
          <p:cNvPr id="3" name="">
            <a:extLst xmlns:a="http://schemas.openxmlformats.org/drawingml/2006/main">
              <a:ext uri="{FF2B5EF4-FFF2-40B4-BE49-F238E27FC236}">
                <a16:creationId xmlns:a16="http://schemas.microsoft.com/office/drawing/2014/main" id="{A36625B1-8230-4A2D-959C-FB199C7E8034}"/>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2A47CF0C-C24D-47C5-B61B-B2D2CE03A9AD}"/>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9E069B7A-E4DD-466D-976B-96ADAB58E3BC}"/>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19</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5891d2e252424a03"/>
          <a:stretch xmlns:a="http://schemas.openxmlformats.org/drawingml/2006/main"/>
        </p:blipFill>
        <p:spPr>
          <a:xfrm xmlns:a="http://schemas.openxmlformats.org/drawingml/2006/main">
            <a:off x="717197" y="1352550"/>
            <a:ext cx="8071556" cy="4953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964C168B-E480-4E34-9915-57B7BA8A8226}"/>
              </a:ext>
            </a:extLst>
          </p:cNvPr>
          <p:cNvSpPr>
            <a:spLocks xmlns:a="http://schemas.openxmlformats.org/drawingml/2006/main" noGrp="1"/>
          </p:cNvSpPr>
          <p:nvPr/>
        </p:nvSpPr>
        <p:spPr>
          <a:xfrm xmlns:a="http://schemas.openxmlformats.org/drawingml/2006/main">
            <a:off x="9391650" y="1524000"/>
            <a:ext cx="224790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798FE01F-DF96-43D8-BA99-D96C58534009}"/>
              </a:ext>
            </a:extLst>
          </p:cNvPr>
          <p:cNvSpPr>
            <a:spLocks xmlns:a="http://schemas.openxmlformats.org/drawingml/2006/main" noGrp="1"/>
          </p:cNvSpPr>
          <p:nvPr/>
        </p:nvSpPr>
        <p:spPr>
          <a:xfrm xmlns:a="http://schemas.openxmlformats.org/drawingml/2006/main">
            <a:off x="9601200" y="1752600"/>
            <a:ext cx="1828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000000"/>
                </a:solidFill>
              </a:defRPr>
            </a:pPr>
            <a:r>
              <a:rPr sz="1575" b="1">
                <a:solidFill>
                  <a:srgbClr val="000000"/>
                </a:solidFill>
              </a:rPr>
              <a:t>Mean net return</a:t>
            </a:r>
          </a:p>
        </p:txBody>
      </p:sp>
      <p:sp>
        <p:nvSpPr>
          <p:cNvPr id="9" name="">
            <a:extLst xmlns:a="http://schemas.openxmlformats.org/drawingml/2006/main">
              <a:ext uri="{FF2B5EF4-FFF2-40B4-BE49-F238E27FC236}">
                <a16:creationId xmlns:a16="http://schemas.microsoft.com/office/drawing/2014/main" id="{6BA002F3-25E8-44BD-A2F0-C95BC8F54590}"/>
              </a:ext>
            </a:extLst>
          </p:cNvPr>
          <p:cNvSpPr>
            <a:spLocks xmlns:a="http://schemas.openxmlformats.org/drawingml/2006/main" noGrp="1"/>
          </p:cNvSpPr>
          <p:nvPr/>
        </p:nvSpPr>
        <p:spPr>
          <a:xfrm xmlns:a="http://schemas.openxmlformats.org/drawingml/2006/main">
            <a:off x="9601200" y="2266950"/>
            <a:ext cx="1828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700" b="1">
                <a:solidFill>
                  <a:srgbClr val="14866D"/>
                </a:solidFill>
              </a:defRPr>
            </a:pPr>
            <a:r>
              <a:rPr sz="2700" b="1">
                <a:solidFill>
                  <a:srgbClr val="14866D"/>
                </a:solidFill>
              </a:rPr>
              <a:t>6.33%</a:t>
            </a:r>
          </a:p>
        </p:txBody>
      </p:sp>
      <p:sp>
        <p:nvSpPr>
          <p:cNvPr id="10" name="">
            <a:extLst xmlns:a="http://schemas.openxmlformats.org/drawingml/2006/main">
              <a:ext uri="{FF2B5EF4-FFF2-40B4-BE49-F238E27FC236}">
                <a16:creationId xmlns:a16="http://schemas.microsoft.com/office/drawing/2014/main" id="{BC640B62-10DF-4E31-8465-46B8A2F4B791}"/>
              </a:ext>
            </a:extLst>
          </p:cNvPr>
          <p:cNvSpPr>
            <a:spLocks xmlns:a="http://schemas.openxmlformats.org/drawingml/2006/main" noGrp="1"/>
          </p:cNvSpPr>
          <p:nvPr/>
        </p:nvSpPr>
        <p:spPr>
          <a:xfrm xmlns:a="http://schemas.openxmlformats.org/drawingml/2006/main">
            <a:off x="9601200" y="2686050"/>
            <a:ext cx="1828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joint rebound</a:t>
            </a:r>
          </a:p>
        </p:txBody>
      </p:sp>
      <p:sp>
        <p:nvSpPr>
          <p:cNvPr id="11" name="">
            <a:extLst xmlns:a="http://schemas.openxmlformats.org/drawingml/2006/main">
              <a:ext uri="{FF2B5EF4-FFF2-40B4-BE49-F238E27FC236}">
                <a16:creationId xmlns:a16="http://schemas.microsoft.com/office/drawing/2014/main" id="{41CE3B10-D835-477F-8E7D-8EA88ABA23D7}"/>
              </a:ext>
            </a:extLst>
          </p:cNvPr>
          <p:cNvSpPr>
            <a:spLocks xmlns:a="http://schemas.openxmlformats.org/drawingml/2006/main" noGrp="1"/>
          </p:cNvSpPr>
          <p:nvPr/>
        </p:nvSpPr>
        <p:spPr>
          <a:xfrm xmlns:a="http://schemas.openxmlformats.org/drawingml/2006/main">
            <a:off x="9601200" y="31813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4.53%</a:t>
            </a:r>
          </a:p>
        </p:txBody>
      </p:sp>
      <p:sp>
        <p:nvSpPr>
          <p:cNvPr id="12" name="">
            <a:extLst xmlns:a="http://schemas.openxmlformats.org/drawingml/2006/main">
              <a:ext uri="{FF2B5EF4-FFF2-40B4-BE49-F238E27FC236}">
                <a16:creationId xmlns:a16="http://schemas.microsoft.com/office/drawing/2014/main" id="{52E8D97D-6829-44DD-9F71-7A0CEC8C734C}"/>
              </a:ext>
            </a:extLst>
          </p:cNvPr>
          <p:cNvSpPr>
            <a:spLocks xmlns:a="http://schemas.openxmlformats.org/drawingml/2006/main" noGrp="1"/>
          </p:cNvSpPr>
          <p:nvPr/>
        </p:nvSpPr>
        <p:spPr>
          <a:xfrm xmlns:a="http://schemas.openxmlformats.org/drawingml/2006/main">
            <a:off x="9601200" y="3543300"/>
            <a:ext cx="1828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ATR state only</a:t>
            </a:r>
          </a:p>
        </p:txBody>
      </p:sp>
      <p:sp>
        <p:nvSpPr>
          <p:cNvPr id="13" name="">
            <a:extLst xmlns:a="http://schemas.openxmlformats.org/drawingml/2006/main">
              <a:ext uri="{FF2B5EF4-FFF2-40B4-BE49-F238E27FC236}">
                <a16:creationId xmlns:a16="http://schemas.microsoft.com/office/drawing/2014/main" id="{C2469825-9590-4B08-8CD4-0E0FF9F45054}"/>
              </a:ext>
            </a:extLst>
          </p:cNvPr>
          <p:cNvSpPr>
            <a:spLocks xmlns:a="http://schemas.openxmlformats.org/drawingml/2006/main" noGrp="1"/>
          </p:cNvSpPr>
          <p:nvPr/>
        </p:nvSpPr>
        <p:spPr>
          <a:xfrm xmlns:a="http://schemas.openxmlformats.org/drawingml/2006/main">
            <a:off x="9601200" y="39814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3.85%</a:t>
            </a:r>
          </a:p>
        </p:txBody>
      </p:sp>
      <p:sp>
        <p:nvSpPr>
          <p:cNvPr id="14" name="">
            <a:extLst xmlns:a="http://schemas.openxmlformats.org/drawingml/2006/main">
              <a:ext uri="{FF2B5EF4-FFF2-40B4-BE49-F238E27FC236}">
                <a16:creationId xmlns:a16="http://schemas.microsoft.com/office/drawing/2014/main" id="{4DF8196E-D99F-4843-A54B-3D09BA8050A3}"/>
              </a:ext>
            </a:extLst>
          </p:cNvPr>
          <p:cNvSpPr>
            <a:spLocks xmlns:a="http://schemas.openxmlformats.org/drawingml/2006/main" noGrp="1"/>
          </p:cNvSpPr>
          <p:nvPr/>
        </p:nvSpPr>
        <p:spPr>
          <a:xfrm xmlns:a="http://schemas.openxmlformats.org/drawingml/2006/main">
            <a:off x="9601200" y="4343400"/>
            <a:ext cx="1828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667386"/>
                </a:solidFill>
              </a:defRPr>
            </a:pPr>
            <a:r>
              <a:rPr sz="1125" b="0">
                <a:solidFill>
                  <a:srgbClr val="667386"/>
                </a:solidFill>
              </a:rPr>
              <a:t>same calm state after gains</a:t>
            </a:r>
          </a:p>
        </p:txBody>
      </p:sp>
      <p:sp>
        <p:nvSpPr>
          <p:cNvPr id="15" name="">
            <a:extLst xmlns:a="http://schemas.openxmlformats.org/drawingml/2006/main">
              <a:ext uri="{FF2B5EF4-FFF2-40B4-BE49-F238E27FC236}">
                <a16:creationId xmlns:a16="http://schemas.microsoft.com/office/drawing/2014/main" id="{FD9C53D8-BE64-45AF-BAC0-1D674BBCF508}"/>
              </a:ext>
            </a:extLst>
          </p:cNvPr>
          <p:cNvSpPr>
            <a:spLocks xmlns:a="http://schemas.openxmlformats.org/drawingml/2006/main" noGrp="1"/>
          </p:cNvSpPr>
          <p:nvPr/>
        </p:nvSpPr>
        <p:spPr>
          <a:xfrm xmlns:a="http://schemas.openxmlformats.org/drawingml/2006/main">
            <a:off x="9601200" y="499110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2.77%</a:t>
            </a:r>
          </a:p>
        </p:txBody>
      </p:sp>
      <p:sp>
        <p:nvSpPr>
          <p:cNvPr id="16" name="">
            <a:extLst xmlns:a="http://schemas.openxmlformats.org/drawingml/2006/main">
              <a:ext uri="{FF2B5EF4-FFF2-40B4-BE49-F238E27FC236}">
                <a16:creationId xmlns:a16="http://schemas.microsoft.com/office/drawing/2014/main" id="{97704677-7FDD-47F6-8354-2DEEB92F5BD7}"/>
              </a:ext>
            </a:extLst>
          </p:cNvPr>
          <p:cNvSpPr>
            <a:spLocks xmlns:a="http://schemas.openxmlformats.org/drawingml/2006/main" noGrp="1"/>
          </p:cNvSpPr>
          <p:nvPr/>
        </p:nvSpPr>
        <p:spPr>
          <a:xfrm xmlns:a="http://schemas.openxmlformats.org/drawingml/2006/main">
            <a:off x="9601200" y="5353050"/>
            <a:ext cx="1828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negative R20 only</a:t>
            </a:r>
          </a:p>
        </p:txBody>
      </p:sp>
      <p:sp>
        <p:nvSpPr>
          <p:cNvPr id="17" name="">
            <a:extLst xmlns:a="http://schemas.openxmlformats.org/drawingml/2006/main">
              <a:ext uri="{FF2B5EF4-FFF2-40B4-BE49-F238E27FC236}">
                <a16:creationId xmlns:a16="http://schemas.microsoft.com/office/drawing/2014/main" id="{9EAD49E1-1F82-4721-ABE6-F9E34D968F48}"/>
              </a:ext>
            </a:extLst>
          </p:cNvPr>
          <p:cNvSpPr>
            <a:spLocks xmlns:a="http://schemas.openxmlformats.org/drawingml/2006/main" noGrp="1"/>
          </p:cNvSpPr>
          <p:nvPr/>
        </p:nvSpPr>
        <p:spPr>
          <a:xfrm xmlns:a="http://schemas.openxmlformats.org/drawingml/2006/main">
            <a:off x="9391650" y="6000750"/>
            <a:ext cx="22479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24364B"/>
                </a:solidFill>
              </a:defRPr>
            </a:pPr>
            <a:r>
              <a:rPr sz="1050" b="1">
                <a:solidFill>
                  <a:srgbClr val="24364B"/>
                </a:solidFill>
              </a:rPr>
              <a:t>The sign and volatility state work better together than either alone in TRAIN.</a:t>
            </a:r>
          </a:p>
        </p:txBody>
      </p:sp>
    </p:spTree>
    <p:extLst>
      <p:ext uri="{BB962C8B-B14F-4D97-AF65-F5344CB8AC3E}">
        <p14:creationId xmlns:p14="http://schemas.microsoft.com/office/powerpoint/2010/main" val="75819042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E1EE232-90C3-4385-A82D-58E6BE026FC4}"/>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929738F4-2966-4AB6-9B0B-A7AF8CC6A89C}"/>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Calendar slices reveal the burden of one-asset evidence</a:t>
            </a:r>
          </a:p>
        </p:txBody>
      </p:sp>
      <p:sp>
        <p:nvSpPr>
          <p:cNvPr id="3" name="">
            <a:extLst xmlns:a="http://schemas.openxmlformats.org/drawingml/2006/main">
              <a:ext uri="{FF2B5EF4-FFF2-40B4-BE49-F238E27FC236}">
                <a16:creationId xmlns:a16="http://schemas.microsoft.com/office/drawing/2014/main" id="{61291F25-F84B-4875-8B12-5052D881BC70}"/>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587344A4-969D-47E0-8EB6-E9C8BB77B88D}"/>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9C377BF4-2ECF-44DD-B7EA-30A908C67143}"/>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20</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4ea7f42a2d2e4361"/>
          <a:stretch xmlns:a="http://schemas.openxmlformats.org/drawingml/2006/main"/>
        </p:blipFill>
        <p:spPr>
          <a:xfrm xmlns:a="http://schemas.openxmlformats.org/drawingml/2006/main">
            <a:off x="488950" y="1390650"/>
            <a:ext cx="7937500" cy="4762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996735B2-F4FF-4925-93F4-F5FD2734DE7C}"/>
              </a:ext>
            </a:extLst>
          </p:cNvPr>
          <p:cNvSpPr>
            <a:spLocks xmlns:a="http://schemas.openxmlformats.org/drawingml/2006/main" noGrp="1"/>
          </p:cNvSpPr>
          <p:nvPr/>
        </p:nvSpPr>
        <p:spPr>
          <a:xfrm xmlns:a="http://schemas.openxmlformats.org/drawingml/2006/main">
            <a:off x="8724900" y="1543050"/>
            <a:ext cx="2914650" cy="4248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CEFACA60-0F4C-40F2-B1F6-0E8B9A613D61}"/>
              </a:ext>
            </a:extLst>
          </p:cNvPr>
          <p:cNvSpPr>
            <a:spLocks xmlns:a="http://schemas.openxmlformats.org/drawingml/2006/main" noGrp="1"/>
          </p:cNvSpPr>
          <p:nvPr/>
        </p:nvSpPr>
        <p:spPr>
          <a:xfrm xmlns:a="http://schemas.openxmlformats.org/drawingml/2006/main">
            <a:off x="8991600" y="18097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defRPr>
            </a:pPr>
            <a:r>
              <a:rPr sz="1800" b="1">
                <a:solidFill>
                  <a:srgbClr val="000000"/>
                </a:solidFill>
              </a:rPr>
              <a:t>What matters</a:t>
            </a:r>
          </a:p>
        </p:txBody>
      </p:sp>
      <p:sp>
        <p:nvSpPr>
          <p:cNvPr id="9" name="">
            <a:extLst xmlns:a="http://schemas.openxmlformats.org/drawingml/2006/main">
              <a:ext uri="{FF2B5EF4-FFF2-40B4-BE49-F238E27FC236}">
                <a16:creationId xmlns:a16="http://schemas.microsoft.com/office/drawing/2014/main" id="{75EC3075-2EFF-45C4-AB53-01F344BBA516}"/>
              </a:ext>
            </a:extLst>
          </p:cNvPr>
          <p:cNvSpPr>
            <a:spLocks xmlns:a="http://schemas.openxmlformats.org/drawingml/2006/main" noGrp="1"/>
          </p:cNvSpPr>
          <p:nvPr/>
        </p:nvSpPr>
        <p:spPr>
          <a:xfrm xmlns:a="http://schemas.openxmlformats.org/drawingml/2006/main">
            <a:off x="8991600" y="24860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0" name="">
            <a:extLst xmlns:a="http://schemas.openxmlformats.org/drawingml/2006/main">
              <a:ext uri="{FF2B5EF4-FFF2-40B4-BE49-F238E27FC236}">
                <a16:creationId xmlns:a16="http://schemas.microsoft.com/office/drawing/2014/main" id="{76908B80-A2C9-4E0D-824E-E6BBE70BEF69}"/>
              </a:ext>
            </a:extLst>
          </p:cNvPr>
          <p:cNvSpPr>
            <a:spLocks xmlns:a="http://schemas.openxmlformats.org/drawingml/2006/main" noGrp="1"/>
          </p:cNvSpPr>
          <p:nvPr/>
        </p:nvSpPr>
        <p:spPr>
          <a:xfrm xmlns:a="http://schemas.openxmlformats.org/drawingml/2006/main">
            <a:off x="9220200" y="2400300"/>
            <a:ext cx="2152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Continuation suffers a concentrated 2022 failure.</a:t>
            </a:r>
          </a:p>
        </p:txBody>
      </p:sp>
      <p:sp>
        <p:nvSpPr>
          <p:cNvPr id="11" name="">
            <a:extLst xmlns:a="http://schemas.openxmlformats.org/drawingml/2006/main">
              <a:ext uri="{FF2B5EF4-FFF2-40B4-BE49-F238E27FC236}">
                <a16:creationId xmlns:a16="http://schemas.microsoft.com/office/drawing/2014/main" id="{88B60C8C-C634-4673-B8B3-819391B35A62}"/>
              </a:ext>
            </a:extLst>
          </p:cNvPr>
          <p:cNvSpPr>
            <a:spLocks xmlns:a="http://schemas.openxmlformats.org/drawingml/2006/main" noGrp="1"/>
          </p:cNvSpPr>
          <p:nvPr/>
        </p:nvSpPr>
        <p:spPr>
          <a:xfrm xmlns:a="http://schemas.openxmlformats.org/drawingml/2006/main">
            <a:off x="8991600" y="338137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2" name="">
            <a:extLst xmlns:a="http://schemas.openxmlformats.org/drawingml/2006/main">
              <a:ext uri="{FF2B5EF4-FFF2-40B4-BE49-F238E27FC236}">
                <a16:creationId xmlns:a16="http://schemas.microsoft.com/office/drawing/2014/main" id="{6B47EB92-40A6-4DC5-B3EF-89CAD5A30BB5}"/>
              </a:ext>
            </a:extLst>
          </p:cNvPr>
          <p:cNvSpPr>
            <a:spLocks xmlns:a="http://schemas.openxmlformats.org/drawingml/2006/main" noGrp="1"/>
          </p:cNvSpPr>
          <p:nvPr/>
        </p:nvSpPr>
        <p:spPr>
          <a:xfrm xmlns:a="http://schemas.openxmlformats.org/drawingml/2006/main">
            <a:off x="9220200" y="3295650"/>
            <a:ext cx="21526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Rebound is positive in five of six years, but 2018 is approximately flat.</a:t>
            </a:r>
          </a:p>
        </p:txBody>
      </p:sp>
      <p:sp>
        <p:nvSpPr>
          <p:cNvPr id="13" name="">
            <a:extLst xmlns:a="http://schemas.openxmlformats.org/drawingml/2006/main">
              <a:ext uri="{FF2B5EF4-FFF2-40B4-BE49-F238E27FC236}">
                <a16:creationId xmlns:a16="http://schemas.microsoft.com/office/drawing/2014/main" id="{9BA06AC8-A9EF-41D6-BF9B-93CD3B4F4F34}"/>
              </a:ext>
            </a:extLst>
          </p:cNvPr>
          <p:cNvSpPr>
            <a:spLocks xmlns:a="http://schemas.openxmlformats.org/drawingml/2006/main" noGrp="1"/>
          </p:cNvSpPr>
          <p:nvPr/>
        </p:nvSpPr>
        <p:spPr>
          <a:xfrm xmlns:a="http://schemas.openxmlformats.org/drawingml/2006/main">
            <a:off x="8991600" y="448627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14" name="">
            <a:extLst xmlns:a="http://schemas.openxmlformats.org/drawingml/2006/main">
              <a:ext uri="{FF2B5EF4-FFF2-40B4-BE49-F238E27FC236}">
                <a16:creationId xmlns:a16="http://schemas.microsoft.com/office/drawing/2014/main" id="{2D70C128-0687-48B9-8A31-11B155AA4E09}"/>
              </a:ext>
            </a:extLst>
          </p:cNvPr>
          <p:cNvSpPr>
            <a:spLocks xmlns:a="http://schemas.openxmlformats.org/drawingml/2006/main" noGrp="1"/>
          </p:cNvSpPr>
          <p:nvPr/>
        </p:nvSpPr>
        <p:spPr>
          <a:xfrm xmlns:a="http://schemas.openxmlformats.org/drawingml/2006/main">
            <a:off x="9220200" y="4400550"/>
            <a:ext cx="2152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Only 3–6 rebound trades appear in any year.</a:t>
            </a:r>
          </a:p>
        </p:txBody>
      </p:sp>
      <p:sp>
        <p:nvSpPr>
          <p:cNvPr id="15" name="">
            <a:extLst xmlns:a="http://schemas.openxmlformats.org/drawingml/2006/main">
              <a:ext uri="{FF2B5EF4-FFF2-40B4-BE49-F238E27FC236}">
                <a16:creationId xmlns:a16="http://schemas.microsoft.com/office/drawing/2014/main" id="{8C6E332A-F7D2-4107-A297-82F8F6CBD1D8}"/>
              </a:ext>
            </a:extLst>
          </p:cNvPr>
          <p:cNvSpPr>
            <a:spLocks xmlns:a="http://schemas.openxmlformats.org/drawingml/2006/main" noGrp="1"/>
          </p:cNvSpPr>
          <p:nvPr/>
        </p:nvSpPr>
        <p:spPr>
          <a:xfrm xmlns:a="http://schemas.openxmlformats.org/drawingml/2006/main">
            <a:off x="8991600" y="52768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24364B"/>
                </a:solidFill>
              </a:defRPr>
            </a:pPr>
            <a:r>
              <a:rPr sz="1125" b="1">
                <a:solidFill>
                  <a:srgbClr val="24364B"/>
                </a:solidFill>
              </a:rPr>
              <a:t>Years are context, not independent replications. The next honest evidence must come from untouched time.</a:t>
            </a:r>
          </a:p>
        </p:txBody>
      </p:sp>
    </p:spTree>
    <p:extLst>
      <p:ext uri="{BB962C8B-B14F-4D97-AF65-F5344CB8AC3E}">
        <p14:creationId xmlns:p14="http://schemas.microsoft.com/office/powerpoint/2010/main" val="146812646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36EE24E-BDE6-4629-A492-BD0AC5C027E7}"/>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36B24E1A-6836-446D-B97D-33FB2E095616}"/>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Representative paths keep the trade-level reality visible</a:t>
            </a:r>
          </a:p>
        </p:txBody>
      </p:sp>
      <p:sp>
        <p:nvSpPr>
          <p:cNvPr id="3" name="">
            <a:extLst xmlns:a="http://schemas.openxmlformats.org/drawingml/2006/main">
              <a:ext uri="{FF2B5EF4-FFF2-40B4-BE49-F238E27FC236}">
                <a16:creationId xmlns:a16="http://schemas.microsoft.com/office/drawing/2014/main" id="{275B38CB-5A5B-4D70-92E2-99435B341AE3}"/>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66FED9A0-CF65-4B5A-B442-7A15BA9B1223}"/>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EAEFEDB3-B31B-49C7-ACD4-8226B719EA28}"/>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21</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211a4ca5b35341ed"/>
          <a:stretch xmlns:a="http://schemas.openxmlformats.org/drawingml/2006/main"/>
        </p:blipFill>
        <p:spPr>
          <a:xfrm xmlns:a="http://schemas.openxmlformats.org/drawingml/2006/main">
            <a:off x="2162175" y="1352550"/>
            <a:ext cx="7753350" cy="4933950"/>
          </a:xfrm>
          <a:prstGeom xmlns:a="http://schemas.openxmlformats.org/drawingml/2006/main" prst="rect">
            <a:avLst/>
          </a:prstGeom>
        </p:spPr>
      </p:pic>
    </p:spTree>
    <p:extLst>
      <p:ext uri="{BB962C8B-B14F-4D97-AF65-F5344CB8AC3E}">
        <p14:creationId xmlns:p14="http://schemas.microsoft.com/office/powerpoint/2010/main" val="168307180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33435AD2-E5C8-4405-AFA4-EDDBC7E31779}"/>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2BE05053-D177-447E-B8A1-79C114FE479D}"/>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One rule stops; one earns untouched confirmation</a:t>
            </a:r>
          </a:p>
        </p:txBody>
      </p:sp>
      <p:sp>
        <p:nvSpPr>
          <p:cNvPr id="3" name="">
            <a:extLst xmlns:a="http://schemas.openxmlformats.org/drawingml/2006/main">
              <a:ext uri="{FF2B5EF4-FFF2-40B4-BE49-F238E27FC236}">
                <a16:creationId xmlns:a16="http://schemas.microsoft.com/office/drawing/2014/main" id="{833B56B8-2DA7-4B71-8B7E-A90C5CE85EE2}"/>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E9EC5A30-E8F2-4AC4-96DE-76AA0B211C94}"/>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0C9AACCB-E13D-4494-948C-DDCAA6327CB8}"/>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22</a:t>
            </a:r>
          </a:p>
        </p:txBody>
      </p:sp>
      <p:sp>
        <p:nvSpPr>
          <p:cNvPr id="6" name="">
            <a:extLst xmlns:a="http://schemas.openxmlformats.org/drawingml/2006/main">
              <a:ext uri="{FF2B5EF4-FFF2-40B4-BE49-F238E27FC236}">
                <a16:creationId xmlns:a16="http://schemas.microsoft.com/office/drawing/2014/main" id="{007C9643-E8A6-4980-9E5D-7724CB5B0075}"/>
              </a:ext>
            </a:extLst>
          </p:cNvPr>
          <p:cNvSpPr>
            <a:spLocks xmlns:a="http://schemas.openxmlformats.org/drawingml/2006/main" noGrp="1"/>
          </p:cNvSpPr>
          <p:nvPr/>
        </p:nvSpPr>
        <p:spPr>
          <a:xfrm xmlns:a="http://schemas.openxmlformats.org/drawingml/2006/main">
            <a:off x="552450" y="1581150"/>
            <a:ext cx="5143500" cy="217170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7" name="">
            <a:extLst xmlns:a="http://schemas.openxmlformats.org/drawingml/2006/main">
              <a:ext uri="{FF2B5EF4-FFF2-40B4-BE49-F238E27FC236}">
                <a16:creationId xmlns:a16="http://schemas.microsoft.com/office/drawing/2014/main" id="{A9DDA7B9-95B9-4DC9-B372-57513D39DD42}"/>
              </a:ext>
            </a:extLst>
          </p:cNvPr>
          <p:cNvSpPr>
            <a:spLocks xmlns:a="http://schemas.openxmlformats.org/drawingml/2006/main" noGrp="1"/>
          </p:cNvSpPr>
          <p:nvPr/>
        </p:nvSpPr>
        <p:spPr>
          <a:xfrm xmlns:a="http://schemas.openxmlformats.org/drawingml/2006/main">
            <a:off x="819150" y="184785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325" b="1">
                <a:solidFill>
                  <a:srgbClr val="B44738"/>
                </a:solidFill>
              </a:defRPr>
            </a:pPr>
            <a:r>
              <a:rPr sz="2325" b="1">
                <a:solidFill>
                  <a:srgbClr val="B44738"/>
                </a:solidFill>
              </a:rPr>
              <a:t>STOP</a:t>
            </a:r>
          </a:p>
        </p:txBody>
      </p:sp>
      <p:sp>
        <p:nvSpPr>
          <p:cNvPr id="8" name="">
            <a:extLst xmlns:a="http://schemas.openxmlformats.org/drawingml/2006/main">
              <a:ext uri="{FF2B5EF4-FFF2-40B4-BE49-F238E27FC236}">
                <a16:creationId xmlns:a16="http://schemas.microsoft.com/office/drawing/2014/main" id="{DD558B22-D7C5-42BF-87D0-D8BC1603CACC}"/>
              </a:ext>
            </a:extLst>
          </p:cNvPr>
          <p:cNvSpPr>
            <a:spLocks xmlns:a="http://schemas.openxmlformats.org/drawingml/2006/main" noGrp="1"/>
          </p:cNvSpPr>
          <p:nvPr/>
        </p:nvSpPr>
        <p:spPr>
          <a:xfrm xmlns:a="http://schemas.openxmlformats.org/drawingml/2006/main">
            <a:off x="819150" y="2419350"/>
            <a:ext cx="440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Efficient-up continuation</a:t>
            </a:r>
          </a:p>
        </p:txBody>
      </p:sp>
      <p:sp>
        <p:nvSpPr>
          <p:cNvPr id="9" name="">
            <a:extLst xmlns:a="http://schemas.openxmlformats.org/drawingml/2006/main">
              <a:ext uri="{FF2B5EF4-FFF2-40B4-BE49-F238E27FC236}">
                <a16:creationId xmlns:a16="http://schemas.microsoft.com/office/drawing/2014/main" id="{FDF54F5C-6044-44B7-9E0B-A4B50E289B26}"/>
              </a:ext>
            </a:extLst>
          </p:cNvPr>
          <p:cNvSpPr>
            <a:spLocks xmlns:a="http://schemas.openxmlformats.org/drawingml/2006/main" noGrp="1"/>
          </p:cNvSpPr>
          <p:nvPr/>
        </p:nvSpPr>
        <p:spPr>
          <a:xfrm xmlns:a="http://schemas.openxmlformats.org/drawingml/2006/main">
            <a:off x="819150" y="3009900"/>
            <a:ext cx="4400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24364B"/>
                </a:solidFill>
              </a:defRPr>
            </a:pPr>
            <a:r>
              <a:rPr sz="1575" b="0">
                <a:solidFill>
                  <a:srgbClr val="24364B"/>
                </a:solidFill>
              </a:rPr>
              <a:t>The exact ER20-plus-positive-R20 translation adds no incremental value in TRAIN.</a:t>
            </a:r>
          </a:p>
        </p:txBody>
      </p:sp>
      <p:sp>
        <p:nvSpPr>
          <p:cNvPr id="10" name="">
            <a:extLst xmlns:a="http://schemas.openxmlformats.org/drawingml/2006/main">
              <a:ext uri="{FF2B5EF4-FFF2-40B4-BE49-F238E27FC236}">
                <a16:creationId xmlns:a16="http://schemas.microsoft.com/office/drawing/2014/main" id="{76B60127-F3A5-4F6C-8A5A-B81AF712761E}"/>
              </a:ext>
            </a:extLst>
          </p:cNvPr>
          <p:cNvSpPr>
            <a:spLocks xmlns:a="http://schemas.openxmlformats.org/drawingml/2006/main" noGrp="1"/>
          </p:cNvSpPr>
          <p:nvPr/>
        </p:nvSpPr>
        <p:spPr>
          <a:xfrm xmlns:a="http://schemas.openxmlformats.org/drawingml/2006/main">
            <a:off x="6096000" y="1581150"/>
            <a:ext cx="5543550" cy="217170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1" name="">
            <a:extLst xmlns:a="http://schemas.openxmlformats.org/drawingml/2006/main">
              <a:ext uri="{FF2B5EF4-FFF2-40B4-BE49-F238E27FC236}">
                <a16:creationId xmlns:a16="http://schemas.microsoft.com/office/drawing/2014/main" id="{A8B5FB0E-0F51-4BE1-B65A-28B66ADC1421}"/>
              </a:ext>
            </a:extLst>
          </p:cNvPr>
          <p:cNvSpPr>
            <a:spLocks xmlns:a="http://schemas.openxmlformats.org/drawingml/2006/main" noGrp="1"/>
          </p:cNvSpPr>
          <p:nvPr/>
        </p:nvSpPr>
        <p:spPr>
          <a:xfrm xmlns:a="http://schemas.openxmlformats.org/drawingml/2006/main">
            <a:off x="6381750" y="18478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325" b="1">
                <a:solidFill>
                  <a:srgbClr val="14866D"/>
                </a:solidFill>
              </a:defRPr>
            </a:pPr>
            <a:r>
              <a:rPr sz="2325" b="1">
                <a:solidFill>
                  <a:srgbClr val="14866D"/>
                </a:solidFill>
              </a:rPr>
              <a:t>RETAIN</a:t>
            </a:r>
          </a:p>
        </p:txBody>
      </p:sp>
      <p:sp>
        <p:nvSpPr>
          <p:cNvPr id="12" name="">
            <a:extLst xmlns:a="http://schemas.openxmlformats.org/drawingml/2006/main">
              <a:ext uri="{FF2B5EF4-FFF2-40B4-BE49-F238E27FC236}">
                <a16:creationId xmlns:a16="http://schemas.microsoft.com/office/drawing/2014/main" id="{53821CE0-1B09-4B86-A676-C0BB6E8015BC}"/>
              </a:ext>
            </a:extLst>
          </p:cNvPr>
          <p:cNvSpPr>
            <a:spLocks xmlns:a="http://schemas.openxmlformats.org/drawingml/2006/main" noGrp="1"/>
          </p:cNvSpPr>
          <p:nvPr/>
        </p:nvSpPr>
        <p:spPr>
          <a:xfrm xmlns:a="http://schemas.openxmlformats.org/drawingml/2006/main">
            <a:off x="6381750" y="241935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Calm-pullback rebound</a:t>
            </a:r>
          </a:p>
        </p:txBody>
      </p:sp>
      <p:sp>
        <p:nvSpPr>
          <p:cNvPr id="13" name="">
            <a:extLst xmlns:a="http://schemas.openxmlformats.org/drawingml/2006/main">
              <a:ext uri="{FF2B5EF4-FFF2-40B4-BE49-F238E27FC236}">
                <a16:creationId xmlns:a16="http://schemas.microsoft.com/office/drawing/2014/main" id="{0F4910B5-B669-4791-AA8E-2D13AE8A38F6}"/>
              </a:ext>
            </a:extLst>
          </p:cNvPr>
          <p:cNvSpPr>
            <a:spLocks xmlns:a="http://schemas.openxmlformats.org/drawingml/2006/main" noGrp="1"/>
          </p:cNvSpPr>
          <p:nvPr/>
        </p:nvSpPr>
        <p:spPr>
          <a:xfrm xmlns:a="http://schemas.openxmlformats.org/drawingml/2006/main">
            <a:off x="6381750" y="3009900"/>
            <a:ext cx="4762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24364B"/>
                </a:solidFill>
              </a:defRPr>
            </a:pPr>
            <a:r>
              <a:rPr sz="1575" b="0">
                <a:solidFill>
                  <a:srgbClr val="24364B"/>
                </a:solidFill>
              </a:rPr>
              <a:t>The joint loss-plus-not-high-ATR rule clears drift and its simple controls in TRAIN.</a:t>
            </a:r>
          </a:p>
        </p:txBody>
      </p:sp>
      <p:sp>
        <p:nvSpPr>
          <p:cNvPr id="14" name="">
            <a:extLst xmlns:a="http://schemas.openxmlformats.org/drawingml/2006/main">
              <a:ext uri="{FF2B5EF4-FFF2-40B4-BE49-F238E27FC236}">
                <a16:creationId xmlns:a16="http://schemas.microsoft.com/office/drawing/2014/main" id="{29841346-7737-45BB-8F36-05318E79FEE6}"/>
              </a:ext>
            </a:extLst>
          </p:cNvPr>
          <p:cNvSpPr>
            <a:spLocks xmlns:a="http://schemas.openxmlformats.org/drawingml/2006/main" noGrp="1"/>
          </p:cNvSpPr>
          <p:nvPr/>
        </p:nvSpPr>
        <p:spPr>
          <a:xfrm xmlns:a="http://schemas.openxmlformats.org/drawingml/2006/main">
            <a:off x="552450" y="4248150"/>
            <a:ext cx="504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What this does—and does not—mean</a:t>
            </a:r>
          </a:p>
        </p:txBody>
      </p:sp>
      <p:sp>
        <p:nvSpPr>
          <p:cNvPr id="15" name="">
            <a:extLst xmlns:a="http://schemas.openxmlformats.org/drawingml/2006/main">
              <a:ext uri="{FF2B5EF4-FFF2-40B4-BE49-F238E27FC236}">
                <a16:creationId xmlns:a16="http://schemas.microsoft.com/office/drawing/2014/main" id="{AE56921B-04C4-4EE0-8BDD-7390D30DA1AC}"/>
              </a:ext>
            </a:extLst>
          </p:cNvPr>
          <p:cNvSpPr>
            <a:spLocks xmlns:a="http://schemas.openxmlformats.org/drawingml/2006/main" noGrp="1"/>
          </p:cNvSpPr>
          <p:nvPr/>
        </p:nvSpPr>
        <p:spPr>
          <a:xfrm xmlns:a="http://schemas.openxmlformats.org/drawingml/2006/main">
            <a:off x="685800" y="494347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6" name="">
            <a:extLst xmlns:a="http://schemas.openxmlformats.org/drawingml/2006/main">
              <a:ext uri="{FF2B5EF4-FFF2-40B4-BE49-F238E27FC236}">
                <a16:creationId xmlns:a16="http://schemas.microsoft.com/office/drawing/2014/main" id="{169D789F-BD4B-40D8-AF8E-AA923F98C523}"/>
              </a:ext>
            </a:extLst>
          </p:cNvPr>
          <p:cNvSpPr>
            <a:spLocks xmlns:a="http://schemas.openxmlformats.org/drawingml/2006/main" noGrp="1"/>
          </p:cNvSpPr>
          <p:nvPr/>
        </p:nvSpPr>
        <p:spPr>
          <a:xfrm xmlns:a="http://schemas.openxmlformats.org/drawingml/2006/main">
            <a:off x="914400" y="4857750"/>
            <a:ext cx="102489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24364B"/>
                </a:solidFill>
              </a:defRPr>
            </a:pPr>
            <a:r>
              <a:rPr sz="1575" b="0">
                <a:solidFill>
                  <a:srgbClr val="24364B"/>
                </a:solidFill>
              </a:rPr>
              <a:t>It proves the descriptive rebound clue can survive next-open timing, costs, and no-overlap construction.</a:t>
            </a:r>
          </a:p>
        </p:txBody>
      </p:sp>
      <p:sp>
        <p:nvSpPr>
          <p:cNvPr id="17" name="">
            <a:extLst xmlns:a="http://schemas.openxmlformats.org/drawingml/2006/main">
              <a:ext uri="{FF2B5EF4-FFF2-40B4-BE49-F238E27FC236}">
                <a16:creationId xmlns:a16="http://schemas.microsoft.com/office/drawing/2014/main" id="{DCF6F615-7659-4F57-808B-3BFE55050F05}"/>
              </a:ext>
            </a:extLst>
          </p:cNvPr>
          <p:cNvSpPr>
            <a:spLocks xmlns:a="http://schemas.openxmlformats.org/drawingml/2006/main" noGrp="1"/>
          </p:cNvSpPr>
          <p:nvPr/>
        </p:nvSpPr>
        <p:spPr>
          <a:xfrm xmlns:a="http://schemas.openxmlformats.org/drawingml/2006/main">
            <a:off x="685800" y="56292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8" name="">
            <a:extLst xmlns:a="http://schemas.openxmlformats.org/drawingml/2006/main">
              <a:ext uri="{FF2B5EF4-FFF2-40B4-BE49-F238E27FC236}">
                <a16:creationId xmlns:a16="http://schemas.microsoft.com/office/drawing/2014/main" id="{4344FC97-1CD0-4B51-99E7-6708FE86C400}"/>
              </a:ext>
            </a:extLst>
          </p:cNvPr>
          <p:cNvSpPr>
            <a:spLocks xmlns:a="http://schemas.openxmlformats.org/drawingml/2006/main" noGrp="1"/>
          </p:cNvSpPr>
          <p:nvPr/>
        </p:nvSpPr>
        <p:spPr>
          <a:xfrm xmlns:a="http://schemas.openxmlformats.org/drawingml/2006/main">
            <a:off x="914400" y="5543550"/>
            <a:ext cx="102489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24364B"/>
                </a:solidFill>
              </a:defRPr>
            </a:pPr>
            <a:r>
              <a:rPr sz="1575" b="0">
                <a:solidFill>
                  <a:srgbClr val="24364B"/>
                </a:solidFill>
              </a:rPr>
              <a:t>It does not prove generalization, robustness to nearby definitions, capacity, or live edge.</a:t>
            </a:r>
          </a:p>
        </p:txBody>
      </p:sp>
      <p:sp>
        <p:nvSpPr>
          <p:cNvPr id="19" name="">
            <a:extLst xmlns:a="http://schemas.openxmlformats.org/drawingml/2006/main">
              <a:ext uri="{FF2B5EF4-FFF2-40B4-BE49-F238E27FC236}">
                <a16:creationId xmlns:a16="http://schemas.microsoft.com/office/drawing/2014/main" id="{8458DE03-83F1-4C1B-98F7-AC7386AF6CFB}"/>
              </a:ext>
            </a:extLst>
          </p:cNvPr>
          <p:cNvSpPr>
            <a:spLocks xmlns:a="http://schemas.openxmlformats.org/drawingml/2006/main" noGrp="1"/>
          </p:cNvSpPr>
          <p:nvPr/>
        </p:nvSpPr>
        <p:spPr>
          <a:xfrm xmlns:a="http://schemas.openxmlformats.org/drawingml/2006/main">
            <a:off x="552450" y="6210300"/>
            <a:ext cx="11087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24364B"/>
                </a:solidFill>
              </a:defRPr>
            </a:pPr>
            <a:r>
              <a:rPr sz="1275" b="1">
                <a:solidFill>
                  <a:srgbClr val="24364B"/>
                </a:solidFill>
              </a:rPr>
              <a:t>NEXT GATE: freeze this exact rule, then read the untouched 2024+ period once—without rescue tuning.</a:t>
            </a:r>
          </a:p>
        </p:txBody>
      </p:sp>
    </p:spTree>
    <p:extLst>
      <p:ext uri="{BB962C8B-B14F-4D97-AF65-F5344CB8AC3E}">
        <p14:creationId xmlns:p14="http://schemas.microsoft.com/office/powerpoint/2010/main" val="193085862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2026-09-01T03:02:31.4010000Z</dcterms:created>
  <dcterms:modified xsi:type="dcterms:W3CDTF">2026-09-01T03:02:31.4010000Z</dcterms:modified>
</coreProperties>
</file>