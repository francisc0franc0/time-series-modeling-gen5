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39d2b3b31745ab" /><Relationship Type="http://schemas.openxmlformats.org/officeDocument/2006/relationships/extended-properties" Target="/docProps/app.xml" Id="R352e7301732743d7" /><Relationship Type="http://schemas.openxmlformats.org/officeDocument/2006/relationships/officeDocument" Target="/ppt/presentation.xml" Id="R7f84d3c9b0554a93" /></Relationships>
</file>

<file path=ppt/presentation.xml><?xml version="1.0" encoding="utf-8"?>
<p:presentation xmlns:p="http://schemas.openxmlformats.org/presentationml/2006/main">
  <p:sldMasterIdLst>
    <p:sldMasterId xmlns:r="http://schemas.openxmlformats.org/officeDocument/2006/relationships" id="2147483648" r:id="R3b777579c9ba42d9"/>
  </p:sldMasterIdLst>
  <p:notesMasterIdLst>
    <p:notesMasterId xmlns:r="http://schemas.openxmlformats.org/officeDocument/2006/relationships" r:id="Rb37645402fc24430"/>
  </p:notesMasterIdLst>
  <p:sldIdLst>
    <p:sldId xmlns:r="http://schemas.openxmlformats.org/officeDocument/2006/relationships" id="256" r:id="R9e5ae91456fc4de9"/>
    <p:sldId xmlns:r="http://schemas.openxmlformats.org/officeDocument/2006/relationships" id="257" r:id="R10a67e21908e458e"/>
    <p:sldId xmlns:r="http://schemas.openxmlformats.org/officeDocument/2006/relationships" id="258" r:id="Ra50d146d30094984"/>
    <p:sldId xmlns:r="http://schemas.openxmlformats.org/officeDocument/2006/relationships" id="259" r:id="R51423ad6f6614a0b"/>
    <p:sldId xmlns:r="http://schemas.openxmlformats.org/officeDocument/2006/relationships" id="260" r:id="R58fca5fbe0c141ec"/>
    <p:sldId xmlns:r="http://schemas.openxmlformats.org/officeDocument/2006/relationships" id="261" r:id="R3a8828afe8c0441d"/>
    <p:sldId xmlns:r="http://schemas.openxmlformats.org/officeDocument/2006/relationships" id="262" r:id="R71e6dadcd85b4abd"/>
    <p:sldId xmlns:r="http://schemas.openxmlformats.org/officeDocument/2006/relationships" id="263" r:id="R4690d0e58ae64236"/>
    <p:sldId xmlns:r="http://schemas.openxmlformats.org/officeDocument/2006/relationships" id="264" r:id="R8909c48cfaed49e6"/>
    <p:sldId xmlns:r="http://schemas.openxmlformats.org/officeDocument/2006/relationships" id="265" r:id="Rdee339f3c3c6403d"/>
    <p:sldId xmlns:r="http://schemas.openxmlformats.org/officeDocument/2006/relationships" id="266" r:id="Rd281f4ccf4f24553"/>
    <p:sldId xmlns:r="http://schemas.openxmlformats.org/officeDocument/2006/relationships" id="267" r:id="R8eb6868f8a2b4c6c"/>
    <p:sldId xmlns:r="http://schemas.openxmlformats.org/officeDocument/2006/relationships" id="268" r:id="R78499973f3294d52"/>
    <p:sldId xmlns:r="http://schemas.openxmlformats.org/officeDocument/2006/relationships" id="269" r:id="R5f5e5fb1048c423e"/>
    <p:sldId xmlns:r="http://schemas.openxmlformats.org/officeDocument/2006/relationships" id="270" r:id="R66d3f448afb44670"/>
    <p:sldId xmlns:r="http://schemas.openxmlformats.org/officeDocument/2006/relationships" id="271" r:id="R21bb6af9559b421c"/>
    <p:sldId xmlns:r="http://schemas.openxmlformats.org/officeDocument/2006/relationships" id="272" r:id="Rfe804d0c31a34e97"/>
    <p:sldId xmlns:r="http://schemas.openxmlformats.org/officeDocument/2006/relationships" id="273" r:id="Ra06eaf96bf5847dc"/>
    <p:sldId xmlns:r="http://schemas.openxmlformats.org/officeDocument/2006/relationships" id="274" r:id="R2b555fb4089b43e1"/>
    <p:sldId xmlns:r="http://schemas.openxmlformats.org/officeDocument/2006/relationships" id="275" r:id="R4f4dbc6222cb4a13"/>
    <p:sldId xmlns:r="http://schemas.openxmlformats.org/officeDocument/2006/relationships" id="276" r:id="Re7542f6d70de4300"/>
    <p:sldId xmlns:r="http://schemas.openxmlformats.org/officeDocument/2006/relationships" id="277" r:id="Rb88638f1ea73407d"/>
    <p:sldId xmlns:r="http://schemas.openxmlformats.org/officeDocument/2006/relationships" id="278" r:id="Rd25572ae531c4842"/>
    <p:sldId xmlns:r="http://schemas.openxmlformats.org/officeDocument/2006/relationships" id="279" r:id="Re9b6c039513b497e"/>
    <p:sldId xmlns:r="http://schemas.openxmlformats.org/officeDocument/2006/relationships" id="280" r:id="Rc3f13f1900f44cf9"/>
    <p:sldId xmlns:r="http://schemas.openxmlformats.org/officeDocument/2006/relationships" id="281" r:id="R089e4dd16ad24224"/>
    <p:sldId xmlns:r="http://schemas.openxmlformats.org/officeDocument/2006/relationships" id="282" r:id="R413c26d9882d4054"/>
    <p:sldId xmlns:r="http://schemas.openxmlformats.org/officeDocument/2006/relationships" id="283" r:id="Rf44a911b908142e4"/>
    <p:sldId xmlns:r="http://schemas.openxmlformats.org/officeDocument/2006/relationships" id="284" r:id="R7848102c6e6544bf"/>
    <p:sldId xmlns:r="http://schemas.openxmlformats.org/officeDocument/2006/relationships" id="285" r:id="R83e9f4b28b2e40ce"/>
    <p:sldId xmlns:r="http://schemas.openxmlformats.org/officeDocument/2006/relationships" id="286" r:id="Rde6bce1442ff4708"/>
    <p:sldId xmlns:r="http://schemas.openxmlformats.org/officeDocument/2006/relationships" id="287" r:id="R112306964f654218"/>
    <p:sldId xmlns:r="http://schemas.openxmlformats.org/officeDocument/2006/relationships" id="288" r:id="Rdc608e3b4ced4ecb"/>
    <p:sldId xmlns:r="http://schemas.openxmlformats.org/officeDocument/2006/relationships" id="289" r:id="R04e16f19cc7b4590"/>
    <p:sldId xmlns:r="http://schemas.openxmlformats.org/officeDocument/2006/relationships" id="290" r:id="R552a710286054b45"/>
    <p:sldId xmlns:r="http://schemas.openxmlformats.org/officeDocument/2006/relationships" id="291" r:id="Rc724915e15254573"/>
    <p:sldId xmlns:r="http://schemas.openxmlformats.org/officeDocument/2006/relationships" id="292" r:id="Ra80919e20f83416f"/>
    <p:sldId xmlns:r="http://schemas.openxmlformats.org/officeDocument/2006/relationships" id="293" r:id="R36efd3e8c6bb4a41"/>
    <p:sldId xmlns:r="http://schemas.openxmlformats.org/officeDocument/2006/relationships" id="294" r:id="R15b3381aab574c70"/>
    <p:sldId xmlns:r="http://schemas.openxmlformats.org/officeDocument/2006/relationships" id="295" r:id="Ra9e28bb8da094bcb"/>
    <p:sldId xmlns:r="http://schemas.openxmlformats.org/officeDocument/2006/relationships" id="296" r:id="Rc9f503e94553416e"/>
    <p:sldId xmlns:r="http://schemas.openxmlformats.org/officeDocument/2006/relationships" id="297" r:id="R553e43318b4f4f73"/>
    <p:sldId xmlns:r="http://schemas.openxmlformats.org/officeDocument/2006/relationships" id="298" r:id="Rc67939c1bac84915"/>
    <p:sldId xmlns:r="http://schemas.openxmlformats.org/officeDocument/2006/relationships" id="299" r:id="R8bf4086f98f1494c"/>
    <p:sldId xmlns:r="http://schemas.openxmlformats.org/officeDocument/2006/relationships" id="300" r:id="R6c5df4f467e54315"/>
    <p:sldId xmlns:r="http://schemas.openxmlformats.org/officeDocument/2006/relationships" id="301" r:id="R83ab5ecfa197401b"/>
    <p:sldId xmlns:r="http://schemas.openxmlformats.org/officeDocument/2006/relationships" id="302" r:id="Rb50c74121e674383"/>
    <p:sldId xmlns:r="http://schemas.openxmlformats.org/officeDocument/2006/relationships" id="303" r:id="R5e781e7ad8d1464b"/>
    <p:sldId xmlns:r="http://schemas.openxmlformats.org/officeDocument/2006/relationships" id="304" r:id="R0e794c99d7c444c1"/>
    <p:sldId xmlns:r="http://schemas.openxmlformats.org/officeDocument/2006/relationships" id="305" r:id="R9a7bbd34c658463c"/>
    <p:sldId xmlns:r="http://schemas.openxmlformats.org/officeDocument/2006/relationships" id="306" r:id="R0c63bca3da524bf9"/>
    <p:sldId xmlns:r="http://schemas.openxmlformats.org/officeDocument/2006/relationships" id="307" r:id="R1638281c57604e3d"/>
    <p:sldId xmlns:r="http://schemas.openxmlformats.org/officeDocument/2006/relationships" id="308" r:id="R910ded5d2ce346e9"/>
    <p:sldId xmlns:r="http://schemas.openxmlformats.org/officeDocument/2006/relationships" id="309" r:id="R5a27289447714118"/>
    <p:sldId xmlns:r="http://schemas.openxmlformats.org/officeDocument/2006/relationships" id="310" r:id="R67e6351cf8fe479f"/>
    <p:sldId xmlns:r="http://schemas.openxmlformats.org/officeDocument/2006/relationships" id="311" r:id="R58785449ac7d405b"/>
    <p:sldId xmlns:r="http://schemas.openxmlformats.org/officeDocument/2006/relationships" id="312" r:id="R6d8694374ea446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c1a7145fb440fe" /><Relationship Type="http://schemas.openxmlformats.org/officeDocument/2006/relationships/slideMaster" Target="/ppt/slideMasters/slideMaster1.xml" Id="R3b777579c9ba42d9" /><Relationship Type="http://schemas.openxmlformats.org/officeDocument/2006/relationships/notesMaster" Target="/ppt/notesMasters/notesMaster1.xml" Id="Rb37645402fc24430" /><Relationship Type="http://schemas.openxmlformats.org/officeDocument/2006/relationships/presProps" Target="/ppt/presProps.xml" Id="R90ab525362614dc8" /><Relationship Type="http://schemas.openxmlformats.org/officeDocument/2006/relationships/tableStyles" Target="/ppt/tableStyles.xml" Id="R301e8edf4da745fa" /><Relationship Type="http://schemas.openxmlformats.org/officeDocument/2006/relationships/slide" Target="/ppt/slides/slide1.xml" Id="R9e5ae91456fc4de9" /><Relationship Type="http://schemas.openxmlformats.org/officeDocument/2006/relationships/slide" Target="/ppt/slides/slide2.xml" Id="R10a67e21908e458e" /><Relationship Type="http://schemas.openxmlformats.org/officeDocument/2006/relationships/slide" Target="/ppt/slides/slide3.xml" Id="Ra50d146d30094984" /><Relationship Type="http://schemas.openxmlformats.org/officeDocument/2006/relationships/slide" Target="/ppt/slides/slide4.xml" Id="R51423ad6f6614a0b" /><Relationship Type="http://schemas.openxmlformats.org/officeDocument/2006/relationships/slide" Target="/ppt/slides/slide5.xml" Id="R58fca5fbe0c141ec" /><Relationship Type="http://schemas.openxmlformats.org/officeDocument/2006/relationships/slide" Target="/ppt/slides/slide6.xml" Id="R3a8828afe8c0441d" /><Relationship Type="http://schemas.openxmlformats.org/officeDocument/2006/relationships/slide" Target="/ppt/slides/slide7.xml" Id="R71e6dadcd85b4abd" /><Relationship Type="http://schemas.openxmlformats.org/officeDocument/2006/relationships/slide" Target="/ppt/slides/slide8.xml" Id="R4690d0e58ae64236" /><Relationship Type="http://schemas.openxmlformats.org/officeDocument/2006/relationships/slide" Target="/ppt/slides/slide9.xml" Id="R8909c48cfaed49e6" /><Relationship Type="http://schemas.openxmlformats.org/officeDocument/2006/relationships/slide" Target="/ppt/slides/slide10.xml" Id="Rdee339f3c3c6403d" /><Relationship Type="http://schemas.openxmlformats.org/officeDocument/2006/relationships/slide" Target="/ppt/slides/slide11.xml" Id="Rd281f4ccf4f24553" /><Relationship Type="http://schemas.openxmlformats.org/officeDocument/2006/relationships/slide" Target="/ppt/slides/slide12.xml" Id="R8eb6868f8a2b4c6c" /><Relationship Type="http://schemas.openxmlformats.org/officeDocument/2006/relationships/slide" Target="/ppt/slides/slide13.xml" Id="R78499973f3294d52" /><Relationship Type="http://schemas.openxmlformats.org/officeDocument/2006/relationships/slide" Target="/ppt/slides/slide14.xml" Id="R5f5e5fb1048c423e" /><Relationship Type="http://schemas.openxmlformats.org/officeDocument/2006/relationships/slide" Target="/ppt/slides/slide15.xml" Id="R66d3f448afb44670" /><Relationship Type="http://schemas.openxmlformats.org/officeDocument/2006/relationships/slide" Target="/ppt/slides/slide16.xml" Id="R21bb6af9559b421c" /><Relationship Type="http://schemas.openxmlformats.org/officeDocument/2006/relationships/slide" Target="/ppt/slides/slide17.xml" Id="Rfe804d0c31a34e97" /><Relationship Type="http://schemas.openxmlformats.org/officeDocument/2006/relationships/slide" Target="/ppt/slides/slide18.xml" Id="Ra06eaf96bf5847dc" /><Relationship Type="http://schemas.openxmlformats.org/officeDocument/2006/relationships/slide" Target="/ppt/slides/slide19.xml" Id="R2b555fb4089b43e1" /><Relationship Type="http://schemas.openxmlformats.org/officeDocument/2006/relationships/slide" Target="/ppt/slides/slide20.xml" Id="R4f4dbc6222cb4a13" /><Relationship Type="http://schemas.openxmlformats.org/officeDocument/2006/relationships/slide" Target="/ppt/slides/slide21.xml" Id="Re7542f6d70de4300" /><Relationship Type="http://schemas.openxmlformats.org/officeDocument/2006/relationships/slide" Target="/ppt/slides/slide22.xml" Id="Rb88638f1ea73407d" /><Relationship Type="http://schemas.openxmlformats.org/officeDocument/2006/relationships/slide" Target="/ppt/slides/slide23.xml" Id="Rd25572ae531c4842" /><Relationship Type="http://schemas.openxmlformats.org/officeDocument/2006/relationships/slide" Target="/ppt/slides/slide24.xml" Id="Re9b6c039513b497e" /><Relationship Type="http://schemas.openxmlformats.org/officeDocument/2006/relationships/slide" Target="/ppt/slides/slide25.xml" Id="Rc3f13f1900f44cf9" /><Relationship Type="http://schemas.openxmlformats.org/officeDocument/2006/relationships/slide" Target="/ppt/slides/slide26.xml" Id="R089e4dd16ad24224" /><Relationship Type="http://schemas.openxmlformats.org/officeDocument/2006/relationships/slide" Target="/ppt/slides/slide27.xml" Id="R413c26d9882d4054" /><Relationship Type="http://schemas.openxmlformats.org/officeDocument/2006/relationships/slide" Target="/ppt/slides/slide28.xml" Id="Rf44a911b908142e4" /><Relationship Type="http://schemas.openxmlformats.org/officeDocument/2006/relationships/slide" Target="/ppt/slides/slide29.xml" Id="R7848102c6e6544bf" /><Relationship Type="http://schemas.openxmlformats.org/officeDocument/2006/relationships/slide" Target="/ppt/slides/slide30.xml" Id="R83e9f4b28b2e40ce" /><Relationship Type="http://schemas.openxmlformats.org/officeDocument/2006/relationships/slide" Target="/ppt/slides/slide31.xml" Id="Rde6bce1442ff4708" /><Relationship Type="http://schemas.openxmlformats.org/officeDocument/2006/relationships/slide" Target="/ppt/slides/slide32.xml" Id="R112306964f654218" /><Relationship Type="http://schemas.openxmlformats.org/officeDocument/2006/relationships/slide" Target="/ppt/slides/slide33.xml" Id="Rdc608e3b4ced4ecb" /><Relationship Type="http://schemas.openxmlformats.org/officeDocument/2006/relationships/slide" Target="/ppt/slides/slide34.xml" Id="R04e16f19cc7b4590" /><Relationship Type="http://schemas.openxmlformats.org/officeDocument/2006/relationships/slide" Target="/ppt/slides/slide35.xml" Id="R552a710286054b45" /><Relationship Type="http://schemas.openxmlformats.org/officeDocument/2006/relationships/slide" Target="/ppt/slides/slide36.xml" Id="Rc724915e15254573" /><Relationship Type="http://schemas.openxmlformats.org/officeDocument/2006/relationships/slide" Target="/ppt/slides/slide37.xml" Id="Ra80919e20f83416f" /><Relationship Type="http://schemas.openxmlformats.org/officeDocument/2006/relationships/slide" Target="/ppt/slides/slide38.xml" Id="R36efd3e8c6bb4a41" /><Relationship Type="http://schemas.openxmlformats.org/officeDocument/2006/relationships/slide" Target="/ppt/slides/slide39.xml" Id="R15b3381aab574c70" /><Relationship Type="http://schemas.openxmlformats.org/officeDocument/2006/relationships/slide" Target="/ppt/slides/slide40.xml" Id="Ra9e28bb8da094bcb" /><Relationship Type="http://schemas.openxmlformats.org/officeDocument/2006/relationships/slide" Target="/ppt/slides/slide41.xml" Id="Rc9f503e94553416e" /><Relationship Type="http://schemas.openxmlformats.org/officeDocument/2006/relationships/slide" Target="/ppt/slides/slide42.xml" Id="R553e43318b4f4f73" /><Relationship Type="http://schemas.openxmlformats.org/officeDocument/2006/relationships/slide" Target="/ppt/slides/slide43.xml" Id="Rc67939c1bac84915" /><Relationship Type="http://schemas.openxmlformats.org/officeDocument/2006/relationships/slide" Target="/ppt/slides/slide44.xml" Id="R8bf4086f98f1494c" /><Relationship Type="http://schemas.openxmlformats.org/officeDocument/2006/relationships/slide" Target="/ppt/slides/slide45.xml" Id="R6c5df4f467e54315" /><Relationship Type="http://schemas.openxmlformats.org/officeDocument/2006/relationships/slide" Target="/ppt/slides/slide46.xml" Id="R83ab5ecfa197401b" /><Relationship Type="http://schemas.openxmlformats.org/officeDocument/2006/relationships/slide" Target="/ppt/slides/slide47.xml" Id="Rb50c74121e674383" /><Relationship Type="http://schemas.openxmlformats.org/officeDocument/2006/relationships/slide" Target="/ppt/slides/slide48.xml" Id="R5e781e7ad8d1464b" /><Relationship Type="http://schemas.openxmlformats.org/officeDocument/2006/relationships/slide" Target="/ppt/slides/slide49.xml" Id="R0e794c99d7c444c1" /><Relationship Type="http://schemas.openxmlformats.org/officeDocument/2006/relationships/slide" Target="/ppt/slides/slide50.xml" Id="R9a7bbd34c658463c" /><Relationship Type="http://schemas.openxmlformats.org/officeDocument/2006/relationships/slide" Target="/ppt/slides/slide51.xml" Id="R0c63bca3da524bf9" /><Relationship Type="http://schemas.openxmlformats.org/officeDocument/2006/relationships/slide" Target="/ppt/slides/slide52.xml" Id="R1638281c57604e3d" /><Relationship Type="http://schemas.openxmlformats.org/officeDocument/2006/relationships/slide" Target="/ppt/slides/slide53.xml" Id="R910ded5d2ce346e9" /><Relationship Type="http://schemas.openxmlformats.org/officeDocument/2006/relationships/slide" Target="/ppt/slides/slide54.xml" Id="R5a27289447714118" /><Relationship Type="http://schemas.openxmlformats.org/officeDocument/2006/relationships/slide" Target="/ppt/slides/slide55.xml" Id="R67e6351cf8fe479f" /><Relationship Type="http://schemas.openxmlformats.org/officeDocument/2006/relationships/slide" Target="/ppt/slides/slide56.xml" Id="R58785449ac7d405b" /><Relationship Type="http://schemas.openxmlformats.org/officeDocument/2006/relationships/slide" Target="/ppt/slides/slide57.xml" Id="R6d8694374ea446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df1c72e05143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606d6fee6b49b3" /><Relationship Type="http://schemas.openxmlformats.org/officeDocument/2006/relationships/notesMaster" Target="/ppt/notesMasters/notesMaster1.xml" Id="R3c45303f406344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284f9b202d4948" /><Relationship Type="http://schemas.openxmlformats.org/officeDocument/2006/relationships/notesMaster" Target="/ppt/notesMasters/notesMaster1.xml" Id="R2cc933b211034e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d2a755a7904a9e" /><Relationship Type="http://schemas.openxmlformats.org/officeDocument/2006/relationships/notesMaster" Target="/ppt/notesMasters/notesMaster1.xml" Id="R089927586f2348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49de5ffd684edd" /><Relationship Type="http://schemas.openxmlformats.org/officeDocument/2006/relationships/notesMaster" Target="/ppt/notesMasters/notesMaster1.xml" Id="R06b646dabdc64f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fc1eae0c364a5c" /><Relationship Type="http://schemas.openxmlformats.org/officeDocument/2006/relationships/notesMaster" Target="/ppt/notesMasters/notesMaster1.xml" Id="Rd064a14dd1f94c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78681423404958" /><Relationship Type="http://schemas.openxmlformats.org/officeDocument/2006/relationships/notesMaster" Target="/ppt/notesMasters/notesMaster1.xml" Id="R9c87699837e74f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94e1efcfec405c" /><Relationship Type="http://schemas.openxmlformats.org/officeDocument/2006/relationships/notesMaster" Target="/ppt/notesMasters/notesMaster1.xml" Id="Rcc67574f877747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44a4a98a8447ee" /><Relationship Type="http://schemas.openxmlformats.org/officeDocument/2006/relationships/notesMaster" Target="/ppt/notesMasters/notesMaster1.xml" Id="R8f2dd547be9a40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0ac3255fe04d61" /><Relationship Type="http://schemas.openxmlformats.org/officeDocument/2006/relationships/notesMaster" Target="/ppt/notesMasters/notesMaster1.xml" Id="Rd480b512694e42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73e6f83809495f" /><Relationship Type="http://schemas.openxmlformats.org/officeDocument/2006/relationships/notesMaster" Target="/ppt/notesMasters/notesMaster1.xml" Id="R50f94b1749e94c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12c01642034265" /><Relationship Type="http://schemas.openxmlformats.org/officeDocument/2006/relationships/notesMaster" Target="/ppt/notesMasters/notesMaster1.xml" Id="Rc677a7b25b9340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1faa25437b4b63" /><Relationship Type="http://schemas.openxmlformats.org/officeDocument/2006/relationships/notesMaster" Target="/ppt/notesMasters/notesMaster1.xml" Id="Ra00631c5bff94d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f4ae69d8634195" /><Relationship Type="http://schemas.openxmlformats.org/officeDocument/2006/relationships/notesMaster" Target="/ppt/notesMasters/notesMaster1.xml" Id="Rfb05eae2cc274c7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c691b3aad64f79" /><Relationship Type="http://schemas.openxmlformats.org/officeDocument/2006/relationships/notesMaster" Target="/ppt/notesMasters/notesMaster1.xml" Id="R6b06b50f64924de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0a76df1a5cf44ba" /><Relationship Type="http://schemas.openxmlformats.org/officeDocument/2006/relationships/notesMaster" Target="/ppt/notesMasters/notesMaster1.xml" Id="Rff4807c1a63c49b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1ff2c4970c4242" /><Relationship Type="http://schemas.openxmlformats.org/officeDocument/2006/relationships/notesMaster" Target="/ppt/notesMasters/notesMaster1.xml" Id="R74b3dfcf51d545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5b060fbbaf49ca" /><Relationship Type="http://schemas.openxmlformats.org/officeDocument/2006/relationships/notesMaster" Target="/ppt/notesMasters/notesMaster1.xml" Id="Re0ee65a1405e49b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06779f3498246c5" /><Relationship Type="http://schemas.openxmlformats.org/officeDocument/2006/relationships/notesMaster" Target="/ppt/notesMasters/notesMaster1.xml" Id="Rba7d14a3f80a49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d2276388d314a26" /><Relationship Type="http://schemas.openxmlformats.org/officeDocument/2006/relationships/notesMaster" Target="/ppt/notesMasters/notesMaster1.xml" Id="R7574534d85aa4dc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d61a8b6550f4cfa" /><Relationship Type="http://schemas.openxmlformats.org/officeDocument/2006/relationships/notesMaster" Target="/ppt/notesMasters/notesMaster1.xml" Id="R48c4c128da1a41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955fbb77c964a81" /><Relationship Type="http://schemas.openxmlformats.org/officeDocument/2006/relationships/notesMaster" Target="/ppt/notesMasters/notesMaster1.xml" Id="R099f40e1cc8641e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84876f7e28046f0" /><Relationship Type="http://schemas.openxmlformats.org/officeDocument/2006/relationships/notesMaster" Target="/ppt/notesMasters/notesMaster1.xml" Id="Rd246335ff920494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2d044b37ca34997" /><Relationship Type="http://schemas.openxmlformats.org/officeDocument/2006/relationships/notesMaster" Target="/ppt/notesMasters/notesMaster1.xml" Id="Rf0b42ec4a9f945f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1dc51d0688841ad" /><Relationship Type="http://schemas.openxmlformats.org/officeDocument/2006/relationships/notesMaster" Target="/ppt/notesMasters/notesMaster1.xml" Id="R13f4a58200384c6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7bbd47d7264a23" /><Relationship Type="http://schemas.openxmlformats.org/officeDocument/2006/relationships/notesMaster" Target="/ppt/notesMasters/notesMaster1.xml" Id="R5eb83c9d58c448d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6a38109ab1f40ce" /><Relationship Type="http://schemas.openxmlformats.org/officeDocument/2006/relationships/notesMaster" Target="/ppt/notesMasters/notesMaster1.xml" Id="R4c7a8c1e79ab432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a2bb3faf4a54124" /><Relationship Type="http://schemas.openxmlformats.org/officeDocument/2006/relationships/notesMaster" Target="/ppt/notesMasters/notesMaster1.xml" Id="Rb56109ee30ef4c9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277be83318d4647" /><Relationship Type="http://schemas.openxmlformats.org/officeDocument/2006/relationships/notesMaster" Target="/ppt/notesMasters/notesMaster1.xml" Id="R3c96a528ba99439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33908be4b0144dd" /><Relationship Type="http://schemas.openxmlformats.org/officeDocument/2006/relationships/notesMaster" Target="/ppt/notesMasters/notesMaster1.xml" Id="Redcc5fc7fb2f4ff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ad378194d034098" /><Relationship Type="http://schemas.openxmlformats.org/officeDocument/2006/relationships/notesMaster" Target="/ppt/notesMasters/notesMaster1.xml" Id="Ra2b0ddec1610473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c8deb315dba48ac" /><Relationship Type="http://schemas.openxmlformats.org/officeDocument/2006/relationships/notesMaster" Target="/ppt/notesMasters/notesMaster1.xml" Id="R080af2ea2b95453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963162d28864009" /><Relationship Type="http://schemas.openxmlformats.org/officeDocument/2006/relationships/notesMaster" Target="/ppt/notesMasters/notesMaster1.xml" Id="Rb9265212d81c43f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3c90e4399b442e8" /><Relationship Type="http://schemas.openxmlformats.org/officeDocument/2006/relationships/notesMaster" Target="/ppt/notesMasters/notesMaster1.xml" Id="R5da3cad3bbdb497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b7ed5ee066942c9" /><Relationship Type="http://schemas.openxmlformats.org/officeDocument/2006/relationships/notesMaster" Target="/ppt/notesMasters/notesMaster1.xml" Id="Rd8b0dbf63ecd4bb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39acd553a554d54" /><Relationship Type="http://schemas.openxmlformats.org/officeDocument/2006/relationships/notesMaster" Target="/ppt/notesMasters/notesMaster1.xml" Id="R4b7187e4e65b4d6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dcb4f7497f748da" /><Relationship Type="http://schemas.openxmlformats.org/officeDocument/2006/relationships/notesMaster" Target="/ppt/notesMasters/notesMaster1.xml" Id="Rc5d3508b7a8f494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8d149bfc191487f" /><Relationship Type="http://schemas.openxmlformats.org/officeDocument/2006/relationships/notesMaster" Target="/ppt/notesMasters/notesMaster1.xml" Id="Rbdc0dfd2ecce439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9f34278a58d4752" /><Relationship Type="http://schemas.openxmlformats.org/officeDocument/2006/relationships/notesMaster" Target="/ppt/notesMasters/notesMaster1.xml" Id="R1974a53f3802457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16ff5d5d9834e4a" /><Relationship Type="http://schemas.openxmlformats.org/officeDocument/2006/relationships/notesMaster" Target="/ppt/notesMasters/notesMaster1.xml" Id="R8a7c3268acaa419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e63a9fc8b954da2" /><Relationship Type="http://schemas.openxmlformats.org/officeDocument/2006/relationships/notesMaster" Target="/ppt/notesMasters/notesMaster1.xml" Id="R1c9551d4f0834e8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333f4dc180446f2" /><Relationship Type="http://schemas.openxmlformats.org/officeDocument/2006/relationships/notesMaster" Target="/ppt/notesMasters/notesMaster1.xml" Id="R7a317913e7ae458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27ea39fc2704521" /><Relationship Type="http://schemas.openxmlformats.org/officeDocument/2006/relationships/notesMaster" Target="/ppt/notesMasters/notesMaster1.xml" Id="R8dd7f94b601e4d3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613110a1f1e47b4" /><Relationship Type="http://schemas.openxmlformats.org/officeDocument/2006/relationships/notesMaster" Target="/ppt/notesMasters/notesMaster1.xml" Id="Rd77601c2590f4ca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f7fb197ad7f431c" /><Relationship Type="http://schemas.openxmlformats.org/officeDocument/2006/relationships/notesMaster" Target="/ppt/notesMasters/notesMaster1.xml" Id="R038909f833404a2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6ab0f3a64044226" /><Relationship Type="http://schemas.openxmlformats.org/officeDocument/2006/relationships/notesMaster" Target="/ppt/notesMasters/notesMaster1.xml" Id="Rf04463cfc481460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9fb501f83eb4c3e" /><Relationship Type="http://schemas.openxmlformats.org/officeDocument/2006/relationships/notesMaster" Target="/ppt/notesMasters/notesMaster1.xml" Id="Rc9326a246efe4b0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ef89cbc29fd4202" /><Relationship Type="http://schemas.openxmlformats.org/officeDocument/2006/relationships/notesMaster" Target="/ppt/notesMasters/notesMaster1.xml" Id="Ra8b2898ca1684fe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ec85d6903754d9b" /><Relationship Type="http://schemas.openxmlformats.org/officeDocument/2006/relationships/notesMaster" Target="/ppt/notesMasters/notesMaster1.xml" Id="Raa4b495c888a4e4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39551778bc34cea" /><Relationship Type="http://schemas.openxmlformats.org/officeDocument/2006/relationships/notesMaster" Target="/ppt/notesMasters/notesMaster1.xml" Id="R0cc421569ce64c5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6be4b08f2614bfa" /><Relationship Type="http://schemas.openxmlformats.org/officeDocument/2006/relationships/notesMaster" Target="/ppt/notesMasters/notesMaster1.xml" Id="R160415aa0fac405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4075e61597742e5" /><Relationship Type="http://schemas.openxmlformats.org/officeDocument/2006/relationships/notesMaster" Target="/ppt/notesMasters/notesMaster1.xml" Id="Rf24a1c6500ce4dc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ea54a4d73cb4f7f" /><Relationship Type="http://schemas.openxmlformats.org/officeDocument/2006/relationships/notesMaster" Target="/ppt/notesMasters/notesMaster1.xml" Id="Re18e62c0d725447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d18767e264c4264" /><Relationship Type="http://schemas.openxmlformats.org/officeDocument/2006/relationships/notesMaster" Target="/ppt/notesMasters/notesMaster1.xml" Id="Raf2e58f69652468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49b8ae93d2e45d7" /><Relationship Type="http://schemas.openxmlformats.org/officeDocument/2006/relationships/notesMaster" Target="/ppt/notesMasters/notesMaster1.xml" Id="R87f6a590b4724c7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1c7184bc52b492d" /><Relationship Type="http://schemas.openxmlformats.org/officeDocument/2006/relationships/notesMaster" Target="/ppt/notesMasters/notesMaster1.xml" Id="R9433ee200c0441a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f774de9b55a442e" /><Relationship Type="http://schemas.openxmlformats.org/officeDocument/2006/relationships/notesMaster" Target="/ppt/notesMasters/notesMaster1.xml" Id="Rb2d71ac5cd4443a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ba3161456e84872" /><Relationship Type="http://schemas.openxmlformats.org/officeDocument/2006/relationships/notesMaster" Target="/ppt/notesMasters/notesMaster1.xml" Id="Rfd4c62f053774d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begins the NVDA one-asset microscope and records the first two views: unconditional intraday clock behavior and the established daily return-geometry template.</a:t>
            </a:r>
          </a:p>
          <a:p xmlns:a="http://schemas.openxmlformats.org/drawingml/2006/main">
            <a:r>
              <a:t/>
            </a:r>
          </a:p>
          <a:p xmlns:a="http://schemas.openxmlformats.org/drawingml/2006/main">
            <a:r>
              <a:t>[Sources]</a:t>
            </a:r>
          </a:p>
          <a:p xmlns:a="http://schemas.openxmlformats.org/drawingml/2006/main">
            <a:r>
              <a:t>- Local descriptive packet: runs/research_workbench/operator_hypothesis_lab/nvda_intraday_clock_descriptive_20260831/report.md</a:t>
            </a:r>
          </a:p>
          <a:p xmlns:a="http://schemas.openxmlformats.org/drawingml/2006/main">
            <a:r>
              <a:t>- Local daily microscope packet: runs/research_workbench/operator_hypothesis_lab/nvda_daily_return_microscope_20260831/report.md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one-asset strategy is not methodologically disqualified. It simply cannot borrow confidence from universality; the evidence must come from causal construction, stability over time, execution realism, and untouched confirmation.</a:t>
            </a:r>
          </a:p>
          <a:p xmlns:a="http://schemas.openxmlformats.org/drawingml/2006/main">
            <a:r>
              <a:t/>
            </a:r>
          </a:p>
          <a:p xmlns:a="http://schemas.openxmlformats.org/drawingml/2006/main">
            <a:r>
              <a:t>[Sources]</a:t>
            </a:r>
          </a:p>
          <a:p xmlns:a="http://schemas.openxmlformats.org/drawingml/2006/main">
            <a:r>
              <a:t>- Local descriptive packet: runs/research_workbench/operator_hypothesis_lab/nvda_intraday_clock_descriptive_20260831/report.md</a:t>
            </a:r>
          </a:p>
          <a:p xmlns:a="http://schemas.openxmlformats.org/drawingml/2006/main">
            <a:r>
              <a:t>- Local daily microscope packet: runs/research_workbench/operator_hypothesis_lab/nvda_daily_return_microscope_20260831/report.md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unconditional distribution of NVDA returns by clock position. It is a map of where variation lives, not evidence that any position is predictable.</a:t>
            </a:r>
          </a:p>
          <a:p xmlns:a="http://schemas.openxmlformats.org/drawingml/2006/main">
            <a:r>
              <a:t/>
            </a:r>
          </a:p>
          <a:p xmlns:a="http://schemas.openxmlformats.org/drawingml/2006/main">
            <a:r>
              <a:t>[Sources]</a:t>
            </a:r>
          </a:p>
          <a:p xmlns:a="http://schemas.openxmlformats.org/drawingml/2006/main">
            <a:r>
              <a:t>- Local descriptive packet: runs/research_workbench/operator_hypothesis_lab/nvda_intraday_clock_descriptive_20260831/report.md</a:t>
            </a:r>
          </a:p>
          <a:p xmlns:a="http://schemas.openxmlformats.org/drawingml/2006/main">
            <a:r>
              <a:t>- Local run specification: runs/research_workbench/operator_hypothesis_lab/nvda_intraday_clock_descriptive_20260831/run_spec.csv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distribution changes across the clock. That justifies conditioning questions, but it does not yet justify a trading action.</a:t>
            </a:r>
          </a:p>
          <a:p xmlns:a="http://schemas.openxmlformats.org/drawingml/2006/main">
            <a:r>
              <a:t/>
            </a:r>
          </a:p>
          <a:p xmlns:a="http://schemas.openxmlformats.org/drawingml/2006/main">
            <a:r>
              <a:t>[Sources]</a:t>
            </a:r>
          </a:p>
          <a:p xmlns:a="http://schemas.openxmlformats.org/drawingml/2006/main">
            <a:r>
              <a:t>- Local descriptive packet: runs/research_workbench/operator_hypothesis_lab/nvda_intraday_clock_descriptive_20260831/report.md</a:t>
            </a:r>
          </a:p>
          <a:p xmlns:a="http://schemas.openxmlformats.org/drawingml/2006/main">
            <a:r>
              <a:t>- Local run specification: runs/research_workbench/operator_hypothesis_lab/nvda_intraday_clock_descriptive_20260831/run_spec.csv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reuses the predeclared atlas vocabulary. It does not choose new horizons after seeing NVDA.</a:t>
            </a:r>
          </a:p>
          <a:p xmlns:a="http://schemas.openxmlformats.org/drawingml/2006/main">
            <a:r>
              <a:t/>
            </a:r>
          </a:p>
          <a:p xmlns:a="http://schemas.openxmlformats.org/drawingml/2006/main">
            <a:r>
              <a:t>[Sources]</a:t>
            </a:r>
          </a:p>
          <a:p xmlns:a="http://schemas.openxmlformats.org/drawingml/2006/main">
            <a:r>
              <a:t>- Local daily microscope packet: runs/research_workbench/operator_hypothesis_lab/nvda_daily_return_microscope_20260831/report.md</a:t>
            </a:r>
          </a:p>
          <a:p xmlns:a="http://schemas.openxmlformats.org/drawingml/2006/main">
            <a:r>
              <a:t>- Frozen own-asset atlas packet: runs/research_workbench/operator_hypothesis_lab/own_asset_return_geometry_atlas_20260826/report.md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adjacent-session view is visually noisy, with a small negative Pearson correlation. The next question is whether longer windows or causal states reveal coherent regions.</a:t>
            </a:r>
          </a:p>
          <a:p xmlns:a="http://schemas.openxmlformats.org/drawingml/2006/main">
            <a:r>
              <a:t/>
            </a:r>
          </a:p>
          <a:p xmlns:a="http://schemas.openxmlformats.org/drawingml/2006/main">
            <a:r>
              <a:t>[Sources]</a:t>
            </a:r>
          </a:p>
          <a:p xmlns:a="http://schemas.openxmlformats.org/drawingml/2006/main">
            <a:r>
              <a:t>- Local daily microscope packet: runs/research_workbench/operator_hypothesis_lab/nvda_daily_return_microscope_20260831/report.md</a:t>
            </a:r>
          </a:p>
          <a:p xmlns:a="http://schemas.openxmlformats.org/drawingml/2006/main">
            <a:r>
              <a:t>- Local 1x1 state summary: runs/research_workbench/operator_hypothesis_lab/nvda_daily_return_microscope_20260831/nvda_one_by_one_state_summary.csv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surface prevents us from over-reading the adjacent-day point. Without state conditioning, the grid remains close to zero and changes sign gradually across horizons.</a:t>
            </a:r>
          </a:p>
          <a:p xmlns:a="http://schemas.openxmlformats.org/drawingml/2006/main">
            <a:r>
              <a:t/>
            </a:r>
          </a:p>
          <a:p xmlns:a="http://schemas.openxmlformats.org/drawingml/2006/main">
            <a:r>
              <a:t>[Sources]</a:t>
            </a:r>
          </a:p>
          <a:p xmlns:a="http://schemas.openxmlformats.org/drawingml/2006/main">
            <a:r>
              <a:t>- Frozen NVDA state grid: runs/research_workbench/operator_hypothesis_lab/nvda_daily_return_microscope_20260831/nvda_state_grid_cells.csv</a:t>
            </a:r>
          </a:p>
          <a:p xmlns:a="http://schemas.openxmlformats.org/drawingml/2006/main">
            <a:r>
              <a:t>- Local daily microscope packet: runs/research_workbench/operator_hypothesis_lab/nvda_daily_return_microscope_20260831/report.md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state-band plot is the sanity check: the numerical filters should correspond to recognizable price-path and volatility regimes. They remain descriptive labels, not forecasts.</a:t>
            </a:r>
          </a:p>
          <a:p xmlns:a="http://schemas.openxmlformats.org/drawingml/2006/main">
            <a:r>
              <a:t/>
            </a:r>
          </a:p>
          <a:p xmlns:a="http://schemas.openxmlformats.org/drawingml/2006/main">
            <a:r>
              <a:t>[Sources]</a:t>
            </a:r>
          </a:p>
          <a:p xmlns:a="http://schemas.openxmlformats.org/drawingml/2006/main">
            <a:r>
              <a:t>- Frozen own-asset atlas packet: runs/research_workbench/operator_hypothesis_lab/own_asset_return_geometry_atlas_20260826/report.md</a:t>
            </a:r>
          </a:p>
          <a:p xmlns:a="http://schemas.openxmlformats.org/drawingml/2006/main">
            <a:r>
              <a:t>- Frozen NVDA state grid: runs/research_workbench/operator_hypothesis_lab/nvda_daily_return_microscope_20260831/nvda_state_grid_cells.csv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efficient-state heatmap contains a coherent positive region at longer horizons, while the sideways state remains flatter. Direction is still aggregated here, so signed ER20 is needed next.</a:t>
            </a:r>
          </a:p>
          <a:p xmlns:a="http://schemas.openxmlformats.org/drawingml/2006/main">
            <a:r>
              <a:t/>
            </a:r>
          </a:p>
          <a:p xmlns:a="http://schemas.openxmlformats.org/drawingml/2006/main">
            <a:r>
              <a:t>[Sources]</a:t>
            </a:r>
          </a:p>
          <a:p xmlns:a="http://schemas.openxmlformats.org/drawingml/2006/main">
            <a:r>
              <a:t>- Frozen NVDA state grid: runs/research_workbench/operator_hypothesis_lab/nvda_daily_return_microscope_20260831/nvda_state_grid_cells.csv</a:t>
            </a:r>
          </a:p>
          <a:p xmlns:a="http://schemas.openxmlformats.org/drawingml/2006/main">
            <a:r>
              <a:t>- Local daily microscope packet: runs/research_workbench/operator_hypothesis_lab/nvda_daily_return_microscope_20260831/report.md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adjacent-day point, low and medium ATR states are near zero to slightly positive, while the high ATR state is materially more negative. Across longer windows, the surface remains mixed.</a:t>
            </a:r>
          </a:p>
          <a:p xmlns:a="http://schemas.openxmlformats.org/drawingml/2006/main">
            <a:r>
              <a:t/>
            </a:r>
          </a:p>
          <a:p xmlns:a="http://schemas.openxmlformats.org/drawingml/2006/main">
            <a:r>
              <a:t>[Sources]</a:t>
            </a:r>
          </a:p>
          <a:p xmlns:a="http://schemas.openxmlformats.org/drawingml/2006/main">
            <a:r>
              <a:t>- Local 1x1 state summary: runs/research_workbench/operator_hypothesis_lab/nvda_daily_return_microscope_20260831/nvda_one_by_one_state_summary.csv</a:t>
            </a:r>
          </a:p>
          <a:p xmlns:a="http://schemas.openxmlformats.org/drawingml/2006/main">
            <a:r>
              <a:t>- Frozen NVDA state grid: runs/research_workbench/operator_hypothesis_lab/nvda_daily_return_microscope_20260831/nvda_state_grid_cells.csv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Signed ER20 shows that efficient up and efficient down paths should not be aggregated. The down state carries the strongest negative short-horizon dependence and a later positive region; the up state is milder.</a:t>
            </a:r>
          </a:p>
          <a:p xmlns:a="http://schemas.openxmlformats.org/drawingml/2006/main">
            <a:r>
              <a:t/>
            </a:r>
          </a:p>
          <a:p xmlns:a="http://schemas.openxmlformats.org/drawingml/2006/main">
            <a:r>
              <a:t>[Sources]</a:t>
            </a:r>
          </a:p>
          <a:p xmlns:a="http://schemas.openxmlformats.org/drawingml/2006/main">
            <a:r>
              <a:t>- Frozen NVDA state grid: runs/research_workbench/operator_hypothesis_lab/nvda_daily_return_microscope_20260831/nvda_state_grid_cells.csv</a:t>
            </a:r>
          </a:p>
          <a:p xmlns:a="http://schemas.openxmlformats.org/drawingml/2006/main">
            <a:r>
              <a:t>- Local 1x1 state summary: runs/research_workbench/operator_hypothesis_lab/nvda_daily_return_microscope_20260831/nvda_one_by_one_state_summary.csv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positive-minus-negative panel asks whether the same prior magnitude has different forward dependence depending on its sign. For NVDA, the long-horizon contrast leans toward stronger rebound-like behavior after negative priors.</a:t>
            </a:r>
          </a:p>
          <a:p xmlns:a="http://schemas.openxmlformats.org/drawingml/2006/main">
            <a:r>
              <a:t/>
            </a:r>
          </a:p>
          <a:p xmlns:a="http://schemas.openxmlformats.org/drawingml/2006/main">
            <a:r>
              <a:t>[Sources]</a:t>
            </a:r>
          </a:p>
          <a:p xmlns:a="http://schemas.openxmlformats.org/drawingml/2006/main">
            <a:r>
              <a:t>- Frozen NVDA prior-sign grid: runs/research_workbench/operator_hypothesis_lab/nvda_daily_return_microscope_20260831/nvda_prior_sign_cells.csv</a:t>
            </a:r>
          </a:p>
          <a:p xmlns:a="http://schemas.openxmlformats.org/drawingml/2006/main">
            <a:r>
              <a:t>- Local daily microscope packet: runs/research_workbench/operator_hypothesis_lab/nvda_daily_return_microscope_20260831/report.md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Daily ATR% and ER can be used as causal gates for intraday outcomes when they are computed through the prior completed session. This is the clean recommended first conditioning experiment.</a:t>
            </a:r>
          </a:p>
          <a:p xmlns:a="http://schemas.openxmlformats.org/drawingml/2006/main">
            <a:r>
              <a:t/>
            </a:r>
          </a:p>
          <a:p xmlns:a="http://schemas.openxmlformats.org/drawingml/2006/main">
            <a:r>
              <a:t>[Sources]</a:t>
            </a:r>
          </a:p>
          <a:p xmlns:a="http://schemas.openxmlformats.org/drawingml/2006/main">
            <a:r>
              <a:t>- Local descriptive packet: runs/research_workbench/operator_hypothesis_lab/nvda_intraday_clock_descriptive_20260831/report.md</a:t>
            </a:r>
          </a:p>
          <a:p xmlns:a="http://schemas.openxmlformats.org/drawingml/2006/main">
            <a:r>
              <a:t>- Local daily microscope packet: runs/research_workbench/operator_hypothesis_lab/nvda_daily_return_microscope_20260831/report.md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Mechanical scaling assumes that the daily and intraday paths are the same object. They are not. The first clean test is to hold the daily state definition fixed and ask whether the intraday outcome distribution changes.</a:t>
            </a:r>
          </a:p>
          <a:p xmlns:a="http://schemas.openxmlformats.org/drawingml/2006/main">
            <a:r>
              <a:t/>
            </a:r>
          </a:p>
          <a:p xmlns:a="http://schemas.openxmlformats.org/drawingml/2006/main">
            <a:r>
              <a:t>[Sources]</a:t>
            </a:r>
          </a:p>
          <a:p xmlns:a="http://schemas.openxmlformats.org/drawingml/2006/main">
            <a:r>
              <a:t>- Local descriptive packet: runs/research_workbench/operator_hypothesis_lab/nvda_intraday_clock_descriptive_20260831/report.md</a:t>
            </a:r>
          </a:p>
          <a:p xmlns:a="http://schemas.openxmlformats.org/drawingml/2006/main">
            <a:r>
              <a:t>- Local daily microscope packet: runs/research_workbench/operator_hypothesis_lab/nvda_daily_return_microscope_20260831/report.md</a:t>
            </a:r>
          </a:p>
          <a:p xmlns:a="http://schemas.openxmlformats.org/drawingml/2006/main">
            <a:r>
              <a:t>- Frozen NVDA state grid: runs/research_workbench/operator_hypothesis_lab/nvda_daily_return_microscope_20260831/nvda_state_grid_cells.csv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translates two already-observed NVDA 20/20 geometry clues into executable rules without changing the horizon or searching thresholds. It is a TRAIN construction test, not confirmation.</a:t>
            </a:r>
          </a:p>
          <a:p xmlns:a="http://schemas.openxmlformats.org/drawingml/2006/main">
            <a:r>
              <a:t/>
            </a:r>
          </a:p>
          <a:p xmlns:a="http://schemas.openxmlformats.org/drawingml/2006/main">
            <a:r>
              <a:t>[Sources]</a:t>
            </a:r>
          </a:p>
          <a:p xmlns:a="http://schemas.openxmlformats.org/drawingml/2006/main">
            <a:r>
              <a:t>- Local executable proto-rule packet: runs/research_workbench/operator_hypothesis_lab/nvda_daily_proto_rules_20260831/report.md</a:t>
            </a:r>
          </a:p>
          <a:p xmlns:a="http://schemas.openxmlformats.org/drawingml/2006/main">
            <a:r>
              <a:t>- Local proto-rule summary: runs/research_workbench/operator_hypothesis_lab/nvda_daily_proto_rules_20260831/rule_summary.csv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rules differ only in their causal entry condition. Timing, holding period, overlap policy, and cost are held fixed so the translation comparison remains intelligible.</a:t>
            </a:r>
          </a:p>
          <a:p xmlns:a="http://schemas.openxmlformats.org/drawingml/2006/main">
            <a:r>
              <a:t/>
            </a:r>
          </a:p>
          <a:p xmlns:a="http://schemas.openxmlformats.org/drawingml/2006/main">
            <a:r>
              <a:t>[Sources]</a:t>
            </a:r>
          </a:p>
          <a:p xmlns:a="http://schemas.openxmlformats.org/drawingml/2006/main">
            <a:r>
              <a:t>- Local executable proto-rule packet: runs/research_workbench/operator_hypothesis_lab/nvda_daily_proto_rules_20260831/report.md</a:t>
            </a:r>
          </a:p>
          <a:p xmlns:a="http://schemas.openxmlformats.org/drawingml/2006/main">
            <a:r>
              <a:t>- Local proto-rule summary: runs/research_workbench/operator_hypothesis_lab/nvda_daily_proto_rules_20260831/rule_summary.csv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price overlays are a sanity check on participation. Efficient-up continuation is active during many rising paths but also remains exposed to the 2022 breakdown. Calm-pullback rebound fires after losses only when the prior ATR-percent state is not high.</a:t>
            </a:r>
          </a:p>
          <a:p xmlns:a="http://schemas.openxmlformats.org/drawingml/2006/main">
            <a:r>
              <a:t/>
            </a:r>
          </a:p>
          <a:p xmlns:a="http://schemas.openxmlformats.org/drawingml/2006/main">
            <a:r>
              <a:t>[Sources]</a:t>
            </a:r>
          </a:p>
          <a:p xmlns:a="http://schemas.openxmlformats.org/drawingml/2006/main">
            <a:r>
              <a:t>- Local executable proto-rule packet: runs/research_workbench/operator_hypothesis_lab/nvda_daily_proto_rules_20260831/report.md</a:t>
            </a:r>
          </a:p>
          <a:p xmlns:a="http://schemas.openxmlformats.org/drawingml/2006/main">
            <a:r>
              <a:t>- Local non-overlapping trade ledger: runs/research_workbench/operator_hypothesis_lab/nvda_daily_proto_rules_20260831/trade_ledger.csv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continuation rule averages 2.59% net versus 2.88% unconditional gross drift. The rebound rule averages 6.33% net and exceeds drift by 3.45 percentage points. Realized equity is shown only when trades exit; the dotted buy-and-hold line uses a separate right axis and is a visual context reference, not a matched-risk baseline.</a:t>
            </a:r>
          </a:p>
          <a:p xmlns:a="http://schemas.openxmlformats.org/drawingml/2006/main">
            <a:r>
              <a:t/>
            </a:r>
          </a:p>
          <a:p xmlns:a="http://schemas.openxmlformats.org/drawingml/2006/main">
            <a:r>
              <a:t>[Sources]</a:t>
            </a:r>
          </a:p>
          <a:p xmlns:a="http://schemas.openxmlformats.org/drawingml/2006/main">
            <a:r>
              <a:t>- Local proto-rule summary: runs/research_workbench/operator_hypothesis_lab/nvda_daily_proto_rules_20260831/rule_summary.csv</a:t>
            </a:r>
          </a:p>
          <a:p xmlns:a="http://schemas.openxmlformats.org/drawingml/2006/main">
            <a:r>
              <a:t>- Local executable proto-rule packet: runs/research_workbench/operator_hypothesis_lab/nvda_daily_proto_rules_20260831/report.md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rebound rule has a higher mean and median than negative-R20-only, low/medium-ATR-only, and the positive-R20 opposite inside the same ATR states. This is the strongest reason to retain it as a confirmation candidate, while recognizing that all comparisons come from the discovery sample.</a:t>
            </a:r>
          </a:p>
          <a:p xmlns:a="http://schemas.openxmlformats.org/drawingml/2006/main">
            <a:r>
              <a:t/>
            </a:r>
          </a:p>
          <a:p xmlns:a="http://schemas.openxmlformats.org/drawingml/2006/main">
            <a:r>
              <a:t>[Sources]</a:t>
            </a:r>
          </a:p>
          <a:p xmlns:a="http://schemas.openxmlformats.org/drawingml/2006/main">
            <a:r>
              <a:t>- Local proto-rule summary: runs/research_workbench/operator_hypothesis_lab/nvda_daily_proto_rules_20260831/rule_summary.csv</a:t>
            </a:r>
          </a:p>
          <a:p xmlns:a="http://schemas.openxmlformats.org/drawingml/2006/main">
            <a:r>
              <a:t>- Local non-overlapping trade ledger: runs/research_workbench/operator_hypothesis_lab/nvda_daily_proto_rules_20260831/trade_ledger.csv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annual view helps detect whether a full-period mean is carried by one isolated episode. Rebound is not purely a single-year artifact, but the yearly samples are tiny and correlated; they do not replace OOS confirmation.</a:t>
            </a:r>
          </a:p>
          <a:p xmlns:a="http://schemas.openxmlformats.org/drawingml/2006/main">
            <a:r>
              <a:t/>
            </a:r>
          </a:p>
          <a:p xmlns:a="http://schemas.openxmlformats.org/drawingml/2006/main">
            <a:r>
              <a:t>[Sources]</a:t>
            </a:r>
          </a:p>
          <a:p xmlns:a="http://schemas.openxmlformats.org/drawingml/2006/main">
            <a:r>
              <a:t>- Local proto-rule annual context: runs/research_workbench/operator_hypothesis_lab/nvda_daily_proto_rules_20260831/calendar_summary.csv</a:t>
            </a:r>
          </a:p>
          <a:p xmlns:a="http://schemas.openxmlformats.org/drawingml/2006/main">
            <a:r>
              <a:t>- Local proto-rule summary: runs/research_workbench/operator_hypothesis_lab/nvda_daily_proto_rules_20260831/rule_summary.csv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representative tapes show that neither rule creates a smooth conditional path. The continuation worst case loses roughly 41%, and the rebound worst case loses roughly 31%. The median rebound path is more consistent with the original thesis: an initially quiet path that develops into a recovery across the holding window.</a:t>
            </a:r>
          </a:p>
          <a:p xmlns:a="http://schemas.openxmlformats.org/drawingml/2006/main">
            <a:r>
              <a:t/>
            </a:r>
          </a:p>
          <a:p xmlns:a="http://schemas.openxmlformats.org/drawingml/2006/main">
            <a:r>
              <a:t>[Sources]</a:t>
            </a:r>
          </a:p>
          <a:p xmlns:a="http://schemas.openxmlformats.org/drawingml/2006/main">
            <a:r>
              <a:t>- Local non-overlapping trade ledger: runs/research_workbench/operator_hypothesis_lab/nvda_daily_proto_rules_20260831/trade_ledger.csv</a:t>
            </a:r>
          </a:p>
          <a:p xmlns:a="http://schemas.openxmlformats.org/drawingml/2006/main">
            <a:r>
              <a:t>- Local executable proto-rule packet: runs/research_workbench/operator_hypothesis_lab/nvda_daily_proto_rules_20260831/report.md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methodological gate is a one-shot confirmation of the frozen calm-pullback rebound rule on untouched 2024+ data. Any later robustness or neighboring-definition work must be declared separately and cannot rewrite the original confirmation result.</a:t>
            </a:r>
          </a:p>
          <a:p xmlns:a="http://schemas.openxmlformats.org/drawingml/2006/main">
            <a:r>
              <a:t/>
            </a:r>
          </a:p>
          <a:p xmlns:a="http://schemas.openxmlformats.org/drawingml/2006/main">
            <a:r>
              <a:t>[Sources]</a:t>
            </a:r>
          </a:p>
          <a:p xmlns:a="http://schemas.openxmlformats.org/drawingml/2006/main">
            <a:r>
              <a:t>- Local executable proto-rule packet: runs/research_workbench/operator_hypothesis_lab/nvda_daily_proto_rules_20260831/report.md</a:t>
            </a:r>
          </a:p>
          <a:p xmlns:a="http://schemas.openxmlformats.org/drawingml/2006/main">
            <a:r>
              <a:t>- Local proto-rule summary: runs/research_workbench/operator_hypothesis_lab/nvda_daily_proto_rules_20260831/rule_summary.csv</a:t>
            </a:r>
          </a:p>
          <a:p xmlns:a="http://schemas.openxmlformats.org/drawingml/2006/main">
            <a:r>
              <a:t>- Local non-overlapping trade ledger: runs/research_workbench/operator_hypothesis_lab/nvda_daily_proto_rules_20260831/trade_ledger.csv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irreversible confirmation read. The exact TRAIN-selected candidate is evaluated on the previously sealed period. A failure stops the exact rule without rescue tuning.</a:t>
            </a:r>
          </a:p>
          <a:p xmlns:a="http://schemas.openxmlformats.org/drawingml/2006/main">
            <a:r>
              <a:t/>
            </a:r>
          </a:p>
          <a:p xmlns:a="http://schemas.openxmlformats.org/drawingml/2006/main">
            <a:r>
              <a:t>[Sources]</a:t>
            </a:r>
          </a:p>
          <a:p xmlns:a="http://schemas.openxmlformats.org/drawingml/2006/main">
            <a:r>
              <a:t>- Local one-shot confirmation report: runs/research_workbench/operator_hypothesis_lab/nvda_daily_proto_rule_confirmation_20260831/report.md</a:t>
            </a:r>
          </a:p>
          <a:p xmlns:a="http://schemas.openxmlformats.org/drawingml/2006/main">
            <a:r>
              <a:t>- Predeclared confirmation gates: runs/research_workbench/operator_hypothesis_lab/nvda_daily_proto_rule_confirmation_20260831/confirmation_gates.csv</a:t>
            </a:r>
          </a:p>
          <a:p xmlns:a="http://schemas.openxmlformats.org/drawingml/2006/main">
            <a:r>
              <a:t>- Explicit-as-of query health: runs/research_workbench/operator_hypothesis_lab/nvda_daily_proto_rule_confirmation_20260831/query_health.csv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 showed a 6.33% mean net return for the joint condition. Untouched confirmation produced 1.56%, below 4.44% unconditional gross drift and below all three frozen controls. The exact rule therefore fails confirmation.</a:t>
            </a:r>
          </a:p>
          <a:p xmlns:a="http://schemas.openxmlformats.org/drawingml/2006/main">
            <a:r>
              <a:t/>
            </a:r>
          </a:p>
          <a:p xmlns:a="http://schemas.openxmlformats.org/drawingml/2006/main">
            <a:r>
              <a:t>[Sources]</a:t>
            </a:r>
          </a:p>
          <a:p xmlns:a="http://schemas.openxmlformats.org/drawingml/2006/main">
            <a:r>
              <a:t>- Local one-shot confirmation report: runs/research_workbench/operator_hypothesis_lab/nvda_daily_proto_rule_confirmation_20260831/report.md</a:t>
            </a:r>
          </a:p>
          <a:p xmlns:a="http://schemas.openxmlformats.org/drawingml/2006/main">
            <a:r>
              <a:t>- Predeclared confirmation gates: runs/research_workbench/operator_hypothesis_lab/nvda_daily_proto_rule_confirmation_20260831/confirmation_gates.csv</a:t>
            </a:r>
          </a:p>
          <a:p xmlns:a="http://schemas.openxmlformats.org/drawingml/2006/main">
            <a:r>
              <a:t>- Frozen confirmation rule summary: runs/research_workbench/operator_hypothesis_lab/nvda_daily_proto_rule_confirmation_20260831/rule_summary.csv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was right more often than wrong and had a positive median, but those facts are subordinate to the economic comparison. The average result lagged what NVDA produced unconditionally over the same 20-session horizon.</a:t>
            </a:r>
          </a:p>
          <a:p xmlns:a="http://schemas.openxmlformats.org/drawingml/2006/main">
            <a:r>
              <a:t/>
            </a:r>
          </a:p>
          <a:p xmlns:a="http://schemas.openxmlformats.org/drawingml/2006/main">
            <a:r>
              <a:t>[Sources]</a:t>
            </a:r>
          </a:p>
          <a:p xmlns:a="http://schemas.openxmlformats.org/drawingml/2006/main">
            <a:r>
              <a:t>- Untouched-period trade ledger: runs/research_workbench/operator_hypothesis_lab/nvda_daily_proto_rule_confirmation_20260831/confirmation_trade_ledger.csv</a:t>
            </a:r>
          </a:p>
          <a:p xmlns:a="http://schemas.openxmlformats.org/drawingml/2006/main">
            <a:r>
              <a:t>- Frozen confirmation rule summary: runs/research_workbench/operator_hypothesis_lab/nvda_daily_proto_rule_confirmation_20260831/rule_summary.csv</a:t>
            </a:r>
          </a:p>
          <a:p xmlns:a="http://schemas.openxmlformats.org/drawingml/2006/main">
            <a:r>
              <a:t>- Predeclared confirmation gates: runs/research_workbench/operator_hypothesis_lab/nvda_daily_proto_rule_confirmation_20260831/confirmation_gates.csv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participation chart shows only nine non-overlapping entries. The realized-equity path remained below its starting level through much of the confirmation period before a late large winner. This visual reinforces why the drift and ingredient-control comparisons are decisive.</a:t>
            </a:r>
          </a:p>
          <a:p xmlns:a="http://schemas.openxmlformats.org/drawingml/2006/main">
            <a:r>
              <a:t/>
            </a:r>
          </a:p>
          <a:p xmlns:a="http://schemas.openxmlformats.org/drawingml/2006/main">
            <a:r>
              <a:t>[Sources]</a:t>
            </a:r>
          </a:p>
          <a:p xmlns:a="http://schemas.openxmlformats.org/drawingml/2006/main">
            <a:r>
              <a:t>- Untouched-period trade ledger: runs/research_workbench/operator_hypothesis_lab/nvda_daily_proto_rule_confirmation_20260831/confirmation_trade_ledger.csv</a:t>
            </a:r>
          </a:p>
          <a:p xmlns:a="http://schemas.openxmlformats.org/drawingml/2006/main">
            <a:r>
              <a:t>- Frozen confirmation rule summary: runs/research_workbench/operator_hypothesis_lab/nvda_daily_proto_rule_confirmation_20260831/rule_summary.csv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all-path panel shows considerable dispersion rather than a repeated recovery trajectory. The worst trade lost 18.6%, the median-nearest trade gained 2.2%, and the best gained 21.6%. These are descriptive trade tapes, not independent confirmations.</a:t>
            </a:r>
          </a:p>
          <a:p xmlns:a="http://schemas.openxmlformats.org/drawingml/2006/main">
            <a:r>
              <a:t/>
            </a:r>
          </a:p>
          <a:p xmlns:a="http://schemas.openxmlformats.org/drawingml/2006/main">
            <a:r>
              <a:t>[Sources]</a:t>
            </a:r>
          </a:p>
          <a:p xmlns:a="http://schemas.openxmlformats.org/drawingml/2006/main">
            <a:r>
              <a:t>- Untouched-period trade ledger: runs/research_workbench/operator_hypothesis_lab/nvda_daily_proto_rule_confirmation_20260831/confirmation_trade_ledger.csv</a:t>
            </a:r>
          </a:p>
          <a:p xmlns:a="http://schemas.openxmlformats.org/drawingml/2006/main">
            <a:r>
              <a:t>- Local one-shot confirmation report: runs/research_workbench/operator_hypothesis_lab/nvda_daily_proto_rule_confirmation_20260831/report.md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one-asset rule is stopped. The confirmation period has now been consumed and cannot be reused as untouched evidence. A later variation may be researched only as a new hypothesis with a newly protected confirmation boundary.</a:t>
            </a:r>
          </a:p>
          <a:p xmlns:a="http://schemas.openxmlformats.org/drawingml/2006/main">
            <a:r>
              <a:t/>
            </a:r>
          </a:p>
          <a:p xmlns:a="http://schemas.openxmlformats.org/drawingml/2006/main">
            <a:r>
              <a:t>[Sources]</a:t>
            </a:r>
          </a:p>
          <a:p xmlns:a="http://schemas.openxmlformats.org/drawingml/2006/main">
            <a:r>
              <a:t>- Predeclared confirmation gates: runs/research_workbench/operator_hypothesis_lab/nvda_daily_proto_rule_confirmation_20260831/confirmation_gates.csv</a:t>
            </a:r>
          </a:p>
          <a:p xmlns:a="http://schemas.openxmlformats.org/drawingml/2006/main">
            <a:r>
              <a:t>- Local one-shot confirmation report: runs/research_workbench/operator_hypothesis_lab/nvda_daily_proto_rule_confirmation_20260831/report.md</a:t>
            </a:r>
          </a:p>
          <a:p xmlns:a="http://schemas.openxmlformats.org/drawingml/2006/main">
            <a:r>
              <a:t>- Explicit-as-of query health: runs/research_workbench/operator_hypothesis_lab/nvda_daily_proto_rule_confirmation_20260831/query_health.csv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causal clock is fixed before looking at outcomes: use the completed 09:30-10:00 log return as the predictor and the 10:00-16:00 log return as the outcome. Only full 13-bar sessions are eligible.</a:t>
            </a:r>
          </a:p>
          <a:p xmlns:a="http://schemas.openxmlformats.org/drawingml/2006/main">
            <a:r>
              <a:t/>
            </a:r>
          </a:p>
          <a:p xmlns:a="http://schemas.openxmlformats.org/drawingml/2006/main">
            <a:r>
              <a:t>[Sources]</a:t>
            </a:r>
          </a:p>
          <a:p xmlns:a="http://schemas.openxmlformats.org/drawingml/2006/main">
            <a:r>
              <a:t>- Local intraday opening-response report: runs/research_workbench/operator_hypothesis_lab/nvda_intraday_opening_response_20260831/report.md</a:t>
            </a:r>
          </a:p>
          <a:p xmlns:a="http://schemas.openxmlformats.org/drawingml/2006/main">
            <a:r>
              <a:t>- Opening-response construction checks: runs/research_workbench/operator_hypothesis_lab/nvda_intraday_opening_response_20260831/source_checks.csv</a:t>
            </a:r>
          </a:p>
          <a:p xmlns:a="http://schemas.openxmlformats.org/drawingml/2006/main">
            <a:r>
              <a:t>- Local descriptive packet: runs/research_workbench/operator_hypothesis_lab/nvda_intraday_clock_descriptive_20260831/report.md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unfiltered opening-to-remainder Pearson correlation is +0.050. The vertical lines are the single sample-wide 20th and 80th percentile cutoffs. They are descriptive bins, not yet causal rolling thresholds.</a:t>
            </a:r>
          </a:p>
          <a:p xmlns:a="http://schemas.openxmlformats.org/drawingml/2006/main">
            <a:r>
              <a:t/>
            </a:r>
          </a:p>
          <a:p xmlns:a="http://schemas.openxmlformats.org/drawingml/2006/main">
            <a:r>
              <a:t>[Sources]</a:t>
            </a:r>
          </a:p>
          <a:p xmlns:a="http://schemas.openxmlformats.org/drawingml/2006/main">
            <a:r>
              <a:t>- Local intraday opening-response report: runs/research_workbench/operator_hypothesis_lab/nvda_intraday_opening_response_20260831/report.md</a:t>
            </a:r>
          </a:p>
          <a:p xmlns:a="http://schemas.openxmlformats.org/drawingml/2006/main">
            <a:r>
              <a:t>- Full-session causal ledger: runs/research_workbench/operator_hypothesis_lab/nvda_intraday_opening_response_20260831/session_ledger.csv</a:t>
            </a:r>
          </a:p>
          <a:p xmlns:a="http://schemas.openxmlformats.org/drawingml/2006/main">
            <a:r>
              <a:t>- Opening-bin and prior-state summaries: runs/research_workbench/operator_hypothesis_lab/nvda_intraday_opening_response_20260831/opening_bin_summary.csv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Bottom-20% opening sessions average -0.15% over the remainder with 45.1% positive outcomes. Middle-60% sessions average -0.02% with 50.6% positive. Top-20% sessions average +0.21% with 57.6% positive. The heavy overlap is the central caution.</a:t>
            </a:r>
          </a:p>
          <a:p xmlns:a="http://schemas.openxmlformats.org/drawingml/2006/main">
            <a:r>
              <a:t/>
            </a:r>
          </a:p>
          <a:p xmlns:a="http://schemas.openxmlformats.org/drawingml/2006/main">
            <a:r>
              <a:t>[Sources]</a:t>
            </a:r>
          </a:p>
          <a:p xmlns:a="http://schemas.openxmlformats.org/drawingml/2006/main">
            <a:r>
              <a:t>- Local intraday opening-response report: runs/research_workbench/operator_hypothesis_lab/nvda_intraday_opening_response_20260831/report.md</a:t>
            </a:r>
          </a:p>
          <a:p xmlns:a="http://schemas.openxmlformats.org/drawingml/2006/main">
            <a:r>
              <a:t>- Opening-bin and prior-state summaries: runs/research_workbench/operator_hypothesis_lab/nvda_intraday_opening_response_20260831/opening_bin_summary.csv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median paths separate gradually rather than through one isolated bar. Top-tail sessions end with a positive median remainder, while bottom-tail sessions end slightly negative. Interquartile bands remain broad and overlapping; this is a conditional path summary, not an equity curve.</a:t>
            </a:r>
          </a:p>
          <a:p xmlns:a="http://schemas.openxmlformats.org/drawingml/2006/main">
            <a:r>
              <a:t/>
            </a:r>
          </a:p>
          <a:p xmlns:a="http://schemas.openxmlformats.org/drawingml/2006/main">
            <a:r>
              <a:t>[Sources]</a:t>
            </a:r>
          </a:p>
          <a:p xmlns:a="http://schemas.openxmlformats.org/drawingml/2006/main">
            <a:r>
              <a:t>- Local intraday opening-response report: runs/research_workbench/operator_hypothesis_lab/nvda_intraday_opening_response_20260831/report.md</a:t>
            </a:r>
          </a:p>
          <a:p xmlns:a="http://schemas.openxmlformats.org/drawingml/2006/main">
            <a:r>
              <a:t>- Full-session causal ledger: runs/research_workbench/operator_hypothesis_lab/nvda_intraday_opening_response_20260831/session_ledger.csv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cleanest long-side descriptive contrast is a top-20% opening after a prior-day LOW or MEDIUM ATR-percent state: +0.377% mean remainder, +0.519% median, 61.8% positive, n=186. The same opening tail in HIGH ATR% averages -0.072% with 50.5% positive, n=111. Signed-ER20 down plus a top-tail opening averages +0.48% but has only 24 observations and is not promoted here.</a:t>
            </a:r>
          </a:p>
          <a:p xmlns:a="http://schemas.openxmlformats.org/drawingml/2006/main">
            <a:r>
              <a:t/>
            </a:r>
          </a:p>
          <a:p xmlns:a="http://schemas.openxmlformats.org/drawingml/2006/main">
            <a:r>
              <a:t>[Sources]</a:t>
            </a:r>
          </a:p>
          <a:p xmlns:a="http://schemas.openxmlformats.org/drawingml/2006/main">
            <a:r>
              <a:t>- Local intraday opening-response report: runs/research_workbench/operator_hypothesis_lab/nvda_intraday_opening_response_20260831/report.md</a:t>
            </a:r>
          </a:p>
          <a:p xmlns:a="http://schemas.openxmlformats.org/drawingml/2006/main">
            <a:r>
              <a:t>- Opening-bin and prior-state summaries: runs/research_workbench/operator_hypothesis_lab/nvda_intraday_opening_response_20260831/opening_bin_summary.csv</a:t>
            </a:r>
          </a:p>
          <a:p xmlns:a="http://schemas.openxmlformats.org/drawingml/2006/main">
            <a:r>
              <a:t>- Descriptive candidate contrasts: runs/research_workbench/operator_hypothesis_lab/nvda_intraday_opening_response_20260831/descriptive_candidate_contrasts.csv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+1.070% cutoff was computed from the entire descriptive sample and therefore must not be used retrospectively as though it had been known each day. The next section converts the same rank concept into a rolling prior-252-session threshold and tests the 10:00-to-close long rule with the predeclared ingredient controls.</a:t>
            </a:r>
          </a:p>
          <a:p xmlns:a="http://schemas.openxmlformats.org/drawingml/2006/main">
            <a:r>
              <a:t/>
            </a:r>
          </a:p>
          <a:p xmlns:a="http://schemas.openxmlformats.org/drawingml/2006/main">
            <a:r>
              <a:t>[Sources]</a:t>
            </a:r>
          </a:p>
          <a:p xmlns:a="http://schemas.openxmlformats.org/drawingml/2006/main">
            <a:r>
              <a:t>- Local intraday opening-response report: runs/research_workbench/operator_hypothesis_lab/nvda_intraday_opening_response_20260831/report.md</a:t>
            </a:r>
          </a:p>
          <a:p xmlns:a="http://schemas.openxmlformats.org/drawingml/2006/main">
            <a:r>
              <a:t>- Descriptive candidate contrasts: runs/research_workbench/operator_hypothesis_lab/nvda_intraday_opening_response_20260831/descriptive_candidate_contrasts.csv</a:t>
            </a:r>
          </a:p>
          <a:p xmlns:a="http://schemas.openxmlformats.org/drawingml/2006/main">
            <a:r>
              <a:t>- Opening-response construction checks: runs/research_workbench/operator_hypothesis_lab/nvda_intraday_opening_response_20260831/source_checks.csv</a:t>
            </a:r>
          </a:p>
          <a:p xmlns:a="http://schemas.openxmlformats.org/drawingml/2006/main">
            <a:r>
              <a:t>- Frozen causal rule specification: runs/research_workbench/operator_hypothesis_lab/nvda_intraday_opening_rule_20260831/run_spec.csv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new causal TRAIN hypothesis, not a continuation of the retrospective bin. The current opening is compared with the prior 252 complete openings only; the ATR-percent state comes from the preceding completed daily session; the position begins at 10:00 and ends at 16:00.</a:t>
            </a:r>
          </a:p>
          <a:p xmlns:a="http://schemas.openxmlformats.org/drawingml/2006/main">
            <a:r>
              <a:t/>
            </a:r>
          </a:p>
          <a:p xmlns:a="http://schemas.openxmlformats.org/drawingml/2006/main">
            <a:r>
              <a:t>[Sources]</a:t>
            </a:r>
          </a:p>
          <a:p xmlns:a="http://schemas.openxmlformats.org/drawingml/2006/main">
            <a:r>
              <a:t>- Frozen causal rule specification: runs/research_workbench/operator_hypothesis_lab/nvda_intraday_opening_rule_20260831/run_spec.csv</a:t>
            </a:r>
          </a:p>
          <a:p xmlns:a="http://schemas.openxmlformats.org/drawingml/2006/main">
            <a:r>
              <a:t>- Causal construction checks: runs/research_workbench/operator_hypothesis_lab/nvda_intraday_opening_rule_20260831/construction_checks.csv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252 full sessions are warm-up only. Beginning 2019-01-11, each opening return is compared with the prior 252 complete openings using a type-8 80th percentile. Green dots meet the opening threshold after a LOW or MEDIUM prior-day ATR-percent state; red triangles meet the same threshold after HIGH ATR-percent.</a:t>
            </a:r>
          </a:p>
          <a:p xmlns:a="http://schemas.openxmlformats.org/drawingml/2006/main">
            <a:r>
              <a:t/>
            </a:r>
          </a:p>
          <a:p xmlns:a="http://schemas.openxmlformats.org/drawingml/2006/main">
            <a:r>
              <a:t>[Sources]</a:t>
            </a:r>
          </a:p>
          <a:p xmlns:a="http://schemas.openxmlformats.org/drawingml/2006/main">
            <a:r>
              <a:t>- Frozen causal rule specification: runs/research_workbench/operator_hypothesis_lab/nvda_intraday_opening_rule_20260831/run_spec.csv</a:t>
            </a:r>
          </a:p>
          <a:p xmlns:a="http://schemas.openxmlformats.org/drawingml/2006/main">
            <a:r>
              <a:t>- Causal construction checks: runs/research_workbench/operator_hypothesis_lab/nvda_intraday_opening_rule_20260831/construction_checks.csv</a:t>
            </a:r>
          </a:p>
          <a:p xmlns:a="http://schemas.openxmlformats.org/drawingml/2006/main">
            <a:r>
              <a:t>- Causal same-day trade ledger: runs/research_workbench/operator_hypothesis_lab/nvda_intraday_opening_rule_20260831/trade_ledger.csv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candidate produces 157 trades with +0.204% mean net, +0.430% median net, and 59.9% profitable. Opening-tail-only produces +0.062% mean net. LOW/MEDIUM-ATR-only produces -0.019%. The same opening tail after HIGH ATR produces -0.192%. Unconditional 10:00-to-close after costs produces -0.068%. The candidate clears every aggregate and simpler-control gate.</a:t>
            </a:r>
          </a:p>
          <a:p xmlns:a="http://schemas.openxmlformats.org/drawingml/2006/main">
            <a:r>
              <a:t/>
            </a:r>
          </a:p>
          <a:p xmlns:a="http://schemas.openxmlformats.org/drawingml/2006/main">
            <a:r>
              <a:t>[Sources]</a:t>
            </a:r>
          </a:p>
          <a:p xmlns:a="http://schemas.openxmlformats.org/drawingml/2006/main">
            <a:r>
              <a:t>- Causal intraday opening-rule TRAIN report: runs/research_workbench/operator_hypothesis_lab/nvda_intraday_opening_rule_20260831/report.md</a:t>
            </a:r>
          </a:p>
          <a:p xmlns:a="http://schemas.openxmlformats.org/drawingml/2006/main">
            <a:r>
              <a:t>- Candidate and control summary: runs/research_workbench/operator_hypothesis_lab/nvda_intraday_opening_rule_20260831/rule_summary.csv</a:t>
            </a:r>
          </a:p>
          <a:p xmlns:a="http://schemas.openxmlformats.org/drawingml/2006/main">
            <a:r>
              <a:t>- Causal same-day trade ledger: runs/research_workbench/operator_hypothesis_lab/nvda_intraday_opening_rule_20260831/trade_ledger.csv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2021 and 2023 have positive annual mean net return; the frozen calendar-breadth gate requires at least three positive years. The 2023 candidate trades contribute 0.2876 of the total 0.3201 cumulative net log return, or 89.9%. The failure is not weak sample size or weak aggregate economics; it is concentration in late sample time.</a:t>
            </a:r>
          </a:p>
          <a:p xmlns:a="http://schemas.openxmlformats.org/drawingml/2006/main">
            <a:r>
              <a:t/>
            </a:r>
          </a:p>
          <a:p xmlns:a="http://schemas.openxmlformats.org/drawingml/2006/main">
            <a:r>
              <a:t>[Sources]</a:t>
            </a:r>
          </a:p>
          <a:p xmlns:a="http://schemas.openxmlformats.org/drawingml/2006/main">
            <a:r>
              <a:t>- Candidate calendar summary: runs/research_workbench/operator_hypothesis_lab/nvda_intraday_opening_rule_20260831/calendar_summary.csv</a:t>
            </a:r>
          </a:p>
          <a:p xmlns:a="http://schemas.openxmlformats.org/drawingml/2006/main">
            <a:r>
              <a:t>- Frozen TRAIN gates: runs/research_workbench/operator_hypothesis_lab/nvda_intraday_opening_rule_20260831/train_gates.csv</a:t>
            </a:r>
          </a:p>
          <a:p xmlns:a="http://schemas.openxmlformats.org/drawingml/2006/main">
            <a:r>
              <a:t>- Causal intraday opening-rule TRAIN report: runs/research_workbench/operator_hypothesis_lab/nvda_intraday_opening_rule_20260831/report.md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Sequential same-day candidate trades compound $1 to about $1.38 after 10 bps round trip, but the path spends much of 2019-2022 around or below its start and rises sharply in 2023. This is a realized TRAIN path, not confirmation and not deployable authority.</a:t>
            </a:r>
          </a:p>
          <a:p xmlns:a="http://schemas.openxmlformats.org/drawingml/2006/main">
            <a:r>
              <a:t/>
            </a:r>
          </a:p>
          <a:p xmlns:a="http://schemas.openxmlformats.org/drawingml/2006/main">
            <a:r>
              <a:t>[Sources]</a:t>
            </a:r>
          </a:p>
          <a:p xmlns:a="http://schemas.openxmlformats.org/drawingml/2006/main">
            <a:r>
              <a:t>- Causal intraday opening-rule TRAIN report: runs/research_workbench/operator_hypothesis_lab/nvda_intraday_opening_rule_20260831/report.md</a:t>
            </a:r>
          </a:p>
          <a:p xmlns:a="http://schemas.openxmlformats.org/drawingml/2006/main">
            <a:r>
              <a:t>- Causal same-day trade ledger: runs/research_workbench/operator_hypothesis_lab/nvda_intraday_opening_rule_20260831/trade_ledger.csv</a:t>
            </a:r>
          </a:p>
          <a:p xmlns:a="http://schemas.openxmlformats.org/drawingml/2006/main">
            <a:r>
              <a:t>- Candidate calendar summary: runs/research_workbench/operator_hypothesis_lab/nvda_intraday_opening_rule_20260831/calendar_summary.csv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worst candidate day loses 6.58% net from 10:00 to 16:00; the median-nearest day gains 0.43%; the best gains 6.04% net. These tapes make the distribution concrete and show that the filter does not imply low-volatility trades even when the prior-day ATR-percent state is LOW or MEDIUM.</a:t>
            </a:r>
          </a:p>
          <a:p xmlns:a="http://schemas.openxmlformats.org/drawingml/2006/main">
            <a:r>
              <a:t/>
            </a:r>
          </a:p>
          <a:p xmlns:a="http://schemas.openxmlformats.org/drawingml/2006/main">
            <a:r>
              <a:t>[Sources]</a:t>
            </a:r>
          </a:p>
          <a:p xmlns:a="http://schemas.openxmlformats.org/drawingml/2006/main">
            <a:r>
              <a:t>- Causal same-day trade ledger: runs/research_workbench/operator_hypothesis_lab/nvda_intraday_opening_rule_20260831/trade_ledger.csv</a:t>
            </a:r>
          </a:p>
          <a:p xmlns:a="http://schemas.openxmlformats.org/drawingml/2006/main">
            <a:r>
              <a:t>- Causal intraday opening-rule TRAIN report: runs/research_workbench/operator_hypothesis_lab/nvda_intraday_opening_rule_20260831/report.md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of five predeclared TRAIN gates pass. The calendar-breadth gate fails, so the exact rule stops and 2024+ intraday data remain unread. The scientifically useful residue is the signed ATR-state contrast: top-tail openings continue after LOW/MEDIUM ATR but fade after HIGH ATR. That mechanism can motivate a separately declared future study, but this parameterization cannot be rescue-tuned.</a:t>
            </a:r>
          </a:p>
          <a:p xmlns:a="http://schemas.openxmlformats.org/drawingml/2006/main">
            <a:r>
              <a:t/>
            </a:r>
          </a:p>
          <a:p xmlns:a="http://schemas.openxmlformats.org/drawingml/2006/main">
            <a:r>
              <a:t>[Sources]</a:t>
            </a:r>
          </a:p>
          <a:p xmlns:a="http://schemas.openxmlformats.org/drawingml/2006/main">
            <a:r>
              <a:t>- Frozen TRAIN gates: runs/research_workbench/operator_hypothesis_lab/nvda_intraday_opening_rule_20260831/train_gates.csv</a:t>
            </a:r>
          </a:p>
          <a:p xmlns:a="http://schemas.openxmlformats.org/drawingml/2006/main">
            <a:r>
              <a:t>- Candidate and control summary: runs/research_workbench/operator_hypothesis_lab/nvda_intraday_opening_rule_20260831/rule_summary.csv</a:t>
            </a:r>
          </a:p>
          <a:p xmlns:a="http://schemas.openxmlformats.org/drawingml/2006/main">
            <a:r>
              <a:t>- Candidate calendar summary: runs/research_workbench/operator_hypothesis_lab/nvda_intraday_opening_rule_20260831/calendar_summary.csv</a:t>
            </a:r>
          </a:p>
          <a:p xmlns:a="http://schemas.openxmlformats.org/drawingml/2006/main">
            <a:r>
              <a:t>- Causal intraday opening-rule TRAIN report: runs/research_workbench/operator_hypothesis_lab/nvda_intraday_opening_rule_20260831/report.md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NVDA rule stopped, but its ATR-dependent response suggested a separately declared mechanism question. This section asks whether that response appears broadly across assets and eras. NVDA is excluded so its later period remains available for a separate one-asset confirmation decision.</a:t>
            </a:r>
          </a:p>
          <a:p xmlns:a="http://schemas.openxmlformats.org/drawingml/2006/main">
            <a:r>
              <a:t/>
            </a:r>
          </a:p>
          <a:p xmlns:a="http://schemas.openxmlformats.org/drawingml/2006/main">
            <a:r>
              <a:t>[Sources]</a:t>
            </a:r>
          </a:p>
          <a:p xmlns:a="http://schemas.openxmlformats.org/drawingml/2006/main">
            <a:r>
              <a:t>- Frozen cross-asset mechanism specification: runs/research_workbench/operator_hypothesis_lab/intraday_opening_atr_atlas_20260901/run_spec.csv</a:t>
            </a:r>
          </a:p>
          <a:p xmlns:a="http://schemas.openxmlformats.org/drawingml/2006/main">
            <a:r>
              <a:t>- Cross-asset construction checks: runs/research_workbench/operator_hypothesis_lab/intraday_opening_atr_atlas_20260901/construction_checks.csv</a:t>
            </a:r>
          </a:p>
          <a:p xmlns:a="http://schemas.openxmlformats.org/drawingml/2006/main">
            <a:r>
              <a:t>- Causal intraday opening-rule TRAIN report: runs/research_workbench/operator_hypothesis_lab/nvda_intraday_opening_rule_20260831/report.md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mechanism is unchanged from the NVDA clue: each asset uses its own causal prior-252 opening threshold, the ATR-percent state comes from the prior completed session, and the outcome is the still-tradeable 10:00-to-close log return. The atlas and gates were frozen before inspecting the result.</a:t>
            </a:r>
          </a:p>
          <a:p xmlns:a="http://schemas.openxmlformats.org/drawingml/2006/main">
            <a:r>
              <a:t/>
            </a:r>
          </a:p>
          <a:p xmlns:a="http://schemas.openxmlformats.org/drawingml/2006/main">
            <a:r>
              <a:t>[Sources]</a:t>
            </a:r>
          </a:p>
          <a:p xmlns:a="http://schemas.openxmlformats.org/drawingml/2006/main">
            <a:r>
              <a:t>- Frozen cross-asset mechanism specification: runs/research_workbench/operator_hypothesis_lab/intraday_opening_atr_atlas_20260901/run_spec.csv</a:t>
            </a:r>
          </a:p>
          <a:p xmlns:a="http://schemas.openxmlformats.org/drawingml/2006/main">
            <a:r>
              <a:t>- Cross-asset construction checks: runs/research_workbench/operator_hypothesis_lab/intraday_opening_atr_atlas_20260901/construction_checks.csv</a:t>
            </a:r>
          </a:p>
          <a:p xmlns:a="http://schemas.openxmlformats.org/drawingml/2006/main">
            <a:r>
              <a:t>- Cross-asset mechanism-replication report: runs/research_workbench/operator_hypothesis_lab/intraday_opening_atr_atlas_20260901/report.md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nine of 26 eligible assets have a negative HIGH-minus-LOW/MED response. The asset-median contrast is +0.093%, the opposite of the proposed mechanism. All 26 assets satisfy the predeclared support requirement, so this is a behavioral failure rather than a sample-coverage failure.</a:t>
            </a:r>
          </a:p>
          <a:p xmlns:a="http://schemas.openxmlformats.org/drawingml/2006/main">
            <a:r>
              <a:t/>
            </a:r>
          </a:p>
          <a:p xmlns:a="http://schemas.openxmlformats.org/drawingml/2006/main">
            <a:r>
              <a:t>[Sources]</a:t>
            </a:r>
          </a:p>
          <a:p xmlns:a="http://schemas.openxmlformats.org/drawingml/2006/main">
            <a:r>
              <a:t>- Asset-level mechanism summary: runs/research_workbench/operator_hypothesis_lab/intraday_opening_atr_atlas_20260901/asset_summary.csv</a:t>
            </a:r>
          </a:p>
          <a:p xmlns:a="http://schemas.openxmlformats.org/drawingml/2006/main">
            <a:r>
              <a:t>- Frozen mechanism-replication gates: runs/research_workbench/operator_hypothesis_lab/intraday_opening_atr_atlas_20260901/mechanism_gates.csv</a:t>
            </a:r>
          </a:p>
          <a:p xmlns:a="http://schemas.openxmlformats.org/drawingml/2006/main">
            <a:r>
              <a:t>- Cross-asset mechanism-replication report: runs/research_workbench/operator_hypothesis_lab/intraday_opening_atr_atlas_20260901/report.md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asset-median contrast is negative only during 2021-2023, and even there just 53.8% of assets are negative. It is positive in 2018-2020 and again in the newly added 2024-2025 period. This fails the predeclared every-era sign gate and shows that the apparent mechanism is time-local.</a:t>
            </a:r>
          </a:p>
          <a:p xmlns:a="http://schemas.openxmlformats.org/drawingml/2006/main">
            <a:r>
              <a:t/>
            </a:r>
          </a:p>
          <a:p xmlns:a="http://schemas.openxmlformats.org/drawingml/2006/main">
            <a:r>
              <a:t>[Sources]</a:t>
            </a:r>
          </a:p>
          <a:p xmlns:a="http://schemas.openxmlformats.org/drawingml/2006/main">
            <a:r>
              <a:t>- Era-level mechanism summary: runs/research_workbench/operator_hypothesis_lab/intraday_opening_atr_atlas_20260901/era_summary.csv</a:t>
            </a:r>
          </a:p>
          <a:p xmlns:a="http://schemas.openxmlformats.org/drawingml/2006/main">
            <a:r>
              <a:t>- Frozen mechanism-replication gates: runs/research_workbench/operator_hypothesis_lab/intraday_opening_atr_atlas_20260901/mechanism_gates.csv</a:t>
            </a:r>
          </a:p>
          <a:p xmlns:a="http://schemas.openxmlformats.org/drawingml/2006/main">
            <a:r>
              <a:t>- Cross-asset mechanism-replication report: runs/research_workbench/operator_hypothesis_lab/intraday_opening_atr_atlas_20260901/report.md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map retains both state-conditioned means instead of collapsing each asset to one contrast. Points below the diagonal support the proposed mechanism; points above it contradict it. The labeled assets have the largest absolute contrasts, which exposes heterogeneity but does not authorize choosing those symbols after seeing the outcome.</a:t>
            </a:r>
          </a:p>
          <a:p xmlns:a="http://schemas.openxmlformats.org/drawingml/2006/main">
            <a:r>
              <a:t/>
            </a:r>
          </a:p>
          <a:p xmlns:a="http://schemas.openxmlformats.org/drawingml/2006/main">
            <a:r>
              <a:t>[Sources]</a:t>
            </a:r>
          </a:p>
          <a:p xmlns:a="http://schemas.openxmlformats.org/drawingml/2006/main">
            <a:r>
              <a:t>- Asset-level mechanism summary: runs/research_workbench/operator_hypothesis_lab/intraday_opening_atr_atlas_20260901/asset_summary.csv</a:t>
            </a:r>
          </a:p>
          <a:p xmlns:a="http://schemas.openxmlformats.org/drawingml/2006/main">
            <a:r>
              <a:t>- Cross-asset mechanism-replication report: runs/research_workbench/operator_hypothesis_lab/intraday_opening_atr_atlas_20260901/report.md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Technology and communication-services representatives are uniformly negative in this atlas, while many defensive and consumer groups are positive. Those differences are scientifically useful for hypothesis generation, but the groups are small and were not predeclared as a selection rule. The broad mechanism remains stopped.</a:t>
            </a:r>
          </a:p>
          <a:p xmlns:a="http://schemas.openxmlformats.org/drawingml/2006/main">
            <a:r>
              <a:t/>
            </a:r>
          </a:p>
          <a:p xmlns:a="http://schemas.openxmlformats.org/drawingml/2006/main">
            <a:r>
              <a:t>[Sources]</a:t>
            </a:r>
          </a:p>
          <a:p xmlns:a="http://schemas.openxmlformats.org/drawingml/2006/main">
            <a:r>
              <a:t>- Sector context summary: runs/research_workbench/operator_hypothesis_lab/intraday_opening_atr_atlas_20260901/sector_summary.csv</a:t>
            </a:r>
          </a:p>
          <a:p xmlns:a="http://schemas.openxmlformats.org/drawingml/2006/main">
            <a:r>
              <a:t>- Asset-level mechanism summary: runs/research_workbench/operator_hypothesis_lab/intraday_opening_atr_atlas_20260901/asset_summary.csv</a:t>
            </a:r>
          </a:p>
          <a:p xmlns:a="http://schemas.openxmlformats.org/drawingml/2006/main">
            <a:r>
              <a:t>- Cross-asset mechanism-replication report: runs/research_workbench/operator_hypothesis_lab/intraday_opening_atr_atlas_20260901/report.md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heatmap makes the failure visible at the asset-era level. Some assets have negative contrasts in one era and positive contrasts in another. This rules out treating prior-day ATR as a broad, static permission gate for strong-opening continuation without a newly declared universe and validation design.</a:t>
            </a:r>
          </a:p>
          <a:p xmlns:a="http://schemas.openxmlformats.org/drawingml/2006/main">
            <a:r>
              <a:t/>
            </a:r>
          </a:p>
          <a:p xmlns:a="http://schemas.openxmlformats.org/drawingml/2006/main">
            <a:r>
              <a:t>[Sources]</a:t>
            </a:r>
          </a:p>
          <a:p xmlns:a="http://schemas.openxmlformats.org/drawingml/2006/main">
            <a:r>
              <a:t>- Era-level mechanism summary: runs/research_workbench/operator_hypothesis_lab/intraday_opening_atr_atlas_20260901/era_summary.csv</a:t>
            </a:r>
          </a:p>
          <a:p xmlns:a="http://schemas.openxmlformats.org/drawingml/2006/main">
            <a:r>
              <a:t>- Asset-level mechanism summary: runs/research_workbench/operator_hypothesis_lab/intraday_opening_atr_atlas_20260901/asset_summary.csv</a:t>
            </a:r>
          </a:p>
          <a:p xmlns:a="http://schemas.openxmlformats.org/drawingml/2006/main">
            <a:r>
              <a:t>- Cross-asset mechanism-replication report: runs/research_workbench/operator_hypothesis_lab/intraday_opening_atr_atlas_20260901/report.md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the support gate passes. The median asset contrast, asset breadth, every-era sign, and pooled HIGH-ATR fade gates all fail. The broad mechanism therefore stops. This does not retroactively answer the separate single-NVDA confirmation question, because NVDA was excluded and its 2024+ intraday data remain unread.</a:t>
            </a:r>
          </a:p>
          <a:p xmlns:a="http://schemas.openxmlformats.org/drawingml/2006/main">
            <a:r>
              <a:t/>
            </a:r>
          </a:p>
          <a:p xmlns:a="http://schemas.openxmlformats.org/drawingml/2006/main">
            <a:r>
              <a:t>[Sources]</a:t>
            </a:r>
          </a:p>
          <a:p xmlns:a="http://schemas.openxmlformats.org/drawingml/2006/main">
            <a:r>
              <a:t>- Frozen mechanism-replication gates: runs/research_workbench/operator_hypothesis_lab/intraday_opening_atr_atlas_20260901/mechanism_gates.csv</a:t>
            </a:r>
          </a:p>
          <a:p xmlns:a="http://schemas.openxmlformats.org/drawingml/2006/main">
            <a:r>
              <a:t>- Asset-level mechanism summary: runs/research_workbench/operator_hypothesis_lab/intraday_opening_atr_atlas_20260901/asset_summary.csv</a:t>
            </a:r>
          </a:p>
          <a:p xmlns:a="http://schemas.openxmlformats.org/drawingml/2006/main">
            <a:r>
              <a:t>- Era-level mechanism summary: runs/research_workbench/operator_hypothesis_lab/intraday_opening_atr_atlas_20260901/era_summary.csv</a:t>
            </a:r>
          </a:p>
          <a:p xmlns:a="http://schemas.openxmlformats.org/drawingml/2006/main">
            <a:r>
              <a:t>- Cross-asset mechanism-replication report: runs/research_workbench/operator_hypothesis_lab/intraday_opening_atr_atlas_20260901/report.md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opens a separate structural-microstructure microscope. The hypothesized mechanism is scheduled daily exposure adjustment, not a generic momentum rule. The study deliberately uses 2023 only, leaving the earlier NVDA 2024+ confirmation boundary untouched.</a:t>
            </a:r>
          </a:p>
          <a:p xmlns:a="http://schemas.openxmlformats.org/drawingml/2006/main">
            <a:r>
              <a:t/>
            </a:r>
          </a:p>
          <a:p xmlns:a="http://schemas.openxmlformats.org/drawingml/2006/main">
            <a:r>
              <a:t>[Sources]</a:t>
            </a:r>
          </a:p>
          <a:p xmlns:a="http://schemas.openxmlformats.org/drawingml/2006/main">
            <a:r>
              <a:t>- Frozen 2023-only five-minute specification: runs/research_workbench/operator_hypothesis_lab/nvda_letf_close_pressure_20260901/run_spec.csv</a:t>
            </a:r>
          </a:p>
          <a:p xmlns:a="http://schemas.openxmlformats.org/drawingml/2006/main">
            <a:r>
              <a:t>- SEC EDGAR 2023 NVDL series record (GraniteShares 1.5x Long NVDA Daily ETF): https://www.sec.gov/Archives/edgar/data/1689873/000149315223032890/0001493152-23-032890-index.html</a:t>
            </a:r>
          </a:p>
          <a:p xmlns:a="http://schemas.openxmlformats.org/drawingml/2006/main">
            <a:r>
              <a:t>- Federal Reserve, Are Concerns About Leveraged ETFs Overblown?: https://www.federalreserve.gov/econres/feds/are-concerns-about-leveraged-etfs-overblown.htm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point-in-time fund objective is a hard data contract. SEC records identify NVDL as GraniteShares 1.5x Long NVDA Daily ETF in 2023; the revised January 2024 prospectus identifies the later 2x objective and notes the prior 1.5x name. Using the current 2x label in 2023 would manufacture tracking error.</a:t>
            </a:r>
          </a:p>
          <a:p xmlns:a="http://schemas.openxmlformats.org/drawingml/2006/main">
            <a:r>
              <a:t/>
            </a:r>
          </a:p>
          <a:p xmlns:a="http://schemas.openxmlformats.org/drawingml/2006/main">
            <a:r>
              <a:t>[Sources]</a:t>
            </a:r>
          </a:p>
          <a:p xmlns:a="http://schemas.openxmlformats.org/drawingml/2006/main">
            <a:r>
              <a:t>- Frozen 2023-only five-minute specification: runs/research_workbench/operator_hypothesis_lab/nvda_letf_close_pressure_20260901/run_spec.csv</a:t>
            </a:r>
          </a:p>
          <a:p xmlns:a="http://schemas.openxmlformats.org/drawingml/2006/main">
            <a:r>
              <a:t>- SEC EDGAR 2023 NVDL series record (GraniteShares 1.5x Long NVDA Daily ETF): https://www.sec.gov/Archives/edgar/data/1689873/000149315223032890/0001493152-23-032890-index.html</a:t>
            </a:r>
          </a:p>
          <a:p xmlns:a="http://schemas.openxmlformats.org/drawingml/2006/main">
            <a:r>
              <a:t>- SEC EDGAR January 2024 revised prospectus (2x; previously 1.5x): https://www.sec.gov/Archives/edgar/data/1689873/000149315224003271/form497.htm</a:t>
            </a:r>
          </a:p>
          <a:p xmlns:a="http://schemas.openxmlformats.org/drawingml/2006/main">
            <a:r>
              <a:t>- Causal construction checks: runs/research_workbench/operator_hypothesis_lab/nvda_letf_close_pressure_20260901/construction_checks.csv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NVDA has complete required anchor coverage, while NVDL has 1,773 exact required bars out of 2,250 opportunities during the study. The analysis retains 177 exact 15:30 pairs and 487 total clock rows. This avoids artificial interpolation, while transparently narrowing the claim to sessions with synchronized ETF prints.</a:t>
            </a:r>
          </a:p>
          <a:p xmlns:a="http://schemas.openxmlformats.org/drawingml/2006/main">
            <a:r>
              <a:t/>
            </a:r>
          </a:p>
          <a:p xmlns:a="http://schemas.openxmlformats.org/drawingml/2006/main">
            <a:r>
              <a:t>[Sources]</a:t>
            </a:r>
          </a:p>
          <a:p xmlns:a="http://schemas.openxmlformats.org/drawingml/2006/main">
            <a:r>
              <a:t>- Causal construction checks: runs/research_workbench/operator_hypothesis_lab/nvda_letf_close_pressure_20260901/construction_checks.csv</a:t>
            </a:r>
          </a:p>
          <a:p xmlns:a="http://schemas.openxmlformats.org/drawingml/2006/main">
            <a:r>
              <a:t>- Synchronized exact-bar ledger: runs/research_workbench/operator_hypothesis_lab/nvda_letf_close_pressure_20260901/synchronized_clock_panel.csv</a:t>
            </a:r>
          </a:p>
          <a:p xmlns:a="http://schemas.openxmlformats.org/drawingml/2006/main">
            <a:r>
              <a:t>- Alpaca historical stock bars API: https://docs.alpaca.markets/us/reference/stockbarsingle-1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descriptive relationship is slightly negative by Pearson and only slightly positive by Spearman at 15:30. The top-minus-bottom quintile mean is +0.069%, but individual outcomes overlap heavily and the fitted slope remains negative. The predeclared same-direction continuation clue is therefore not present.</a:t>
            </a:r>
          </a:p>
          <a:p xmlns:a="http://schemas.openxmlformats.org/drawingml/2006/main">
            <a:r>
              <a:t/>
            </a:r>
          </a:p>
          <a:p xmlns:a="http://schemas.openxmlformats.org/drawingml/2006/main">
            <a:r>
              <a:t>[Sources]</a:t>
            </a:r>
          </a:p>
          <a:p xmlns:a="http://schemas.openxmlformats.org/drawingml/2006/main">
            <a:r>
              <a:t>- Clock-specific continuation summary: runs/research_workbench/operator_hypothesis_lab/nvda_letf_close_pressure_20260901/clock_summary.csv</a:t>
            </a:r>
          </a:p>
          <a:p xmlns:a="http://schemas.openxmlformats.org/drawingml/2006/main">
            <a:r>
              <a:t>- Synchronized exact-bar ledger: runs/research_workbench/operator_hypothesis_lab/nvda_letf_close_pressure_20260901/synchronized_clock_panel.csv</a:t>
            </a:r>
          </a:p>
          <a:p xmlns:a="http://schemas.openxmlformats.org/drawingml/2006/main">
            <a:r>
              <a:t>- Local NVDA/NVDL close-pressure report: runs/research_workbench/operator_hypothesis_lab/nvda_letf_close_pressure_20260901/report.md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Clock matching prevents us from mistaking generic intraday momentum for the proposed daily-reset mechanism. The prior-close signal is negative at all three clocks. The immediately prior 60-minute return has an increasingly positive descriptive correlation with the next 30 minutes, reaching +0.133 at 15:30. That is a separately testable local-momentum clue, not evidence for NVDL-induced pressure.</a:t>
            </a:r>
          </a:p>
          <a:p xmlns:a="http://schemas.openxmlformats.org/drawingml/2006/main">
            <a:r>
              <a:t/>
            </a:r>
          </a:p>
          <a:p xmlns:a="http://schemas.openxmlformats.org/drawingml/2006/main">
            <a:r>
              <a:t>[Sources]</a:t>
            </a:r>
          </a:p>
          <a:p xmlns:a="http://schemas.openxmlformats.org/drawingml/2006/main">
            <a:r>
              <a:t>- Clock-specific continuation summary: runs/research_workbench/operator_hypothesis_lab/nvda_letf_close_pressure_20260901/clock_summary.csv</a:t>
            </a:r>
          </a:p>
          <a:p xmlns:a="http://schemas.openxmlformats.org/drawingml/2006/main">
            <a:r>
              <a:t>- Local NVDA/NVDL close-pressure report: runs/research_workbench/operator_hypothesis_lab/nvda_letf_close_pressure_20260901/report.md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correcting the historical leverage factor to 1.5x, NVDL's relative-price residual shows clear descriptive convergence at 14:00 and 15:30. This is a coherent ETF-pricing behavior. It is intentionally separated from the underlying-pressure thesis: residual correction can occur entirely through NVDL repricing toward NVDA.</a:t>
            </a:r>
          </a:p>
          <a:p xmlns:a="http://schemas.openxmlformats.org/drawingml/2006/main">
            <a:r>
              <a:t/>
            </a:r>
          </a:p>
          <a:p xmlns:a="http://schemas.openxmlformats.org/drawingml/2006/main">
            <a:r>
              <a:t>[Sources]</a:t>
            </a:r>
          </a:p>
          <a:p xmlns:a="http://schemas.openxmlformats.org/drawingml/2006/main">
            <a:r>
              <a:t>- Point-in-time 1.5x tracking-residual summary: runs/research_workbench/operator_hypothesis_lab/nvda_letf_close_pressure_20260901/tracking_residual_summary.csv</a:t>
            </a:r>
          </a:p>
          <a:p xmlns:a="http://schemas.openxmlformats.org/drawingml/2006/main">
            <a:r>
              <a:t>- Synchronized exact-bar ledger: runs/research_workbench/operator_hypothesis_lab/nvda_letf_close_pressure_20260901/synchronized_clock_panel.csv</a:t>
            </a:r>
          </a:p>
          <a:p xmlns:a="http://schemas.openxmlformats.org/drawingml/2006/main">
            <a:r>
              <a:t>- SEC EDGAR 2023 NVDL series record (GraniteShares 1.5x Long NVDA Daily ETF): https://www.sec.gov/Archives/edgar/data/1689873/000149315223032890/0001493152-23-032890-index.html</a:t>
            </a:r>
          </a:p>
          <a:p xmlns:a="http://schemas.openxmlformats.org/drawingml/2006/main">
            <a:r>
              <a:t>- SEC EDGAR January 2024 revised prospectus (2x; previously 1.5x): https://www.sec.gov/Archives/edgar/data/1689873/000149315224003271/form497.htm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 most extreme synchronized 15:30 observations show heterogeneous closing paths. They are descriptive examples, not selected trades. The paths make the central result intuitive: extreme daily movement does not map to one reliable final-30-minute direction in this sample.</a:t>
            </a:r>
          </a:p>
          <a:p xmlns:a="http://schemas.openxmlformats.org/drawingml/2006/main">
            <a:r>
              <a:t/>
            </a:r>
          </a:p>
          <a:p xmlns:a="http://schemas.openxmlformats.org/drawingml/2006/main">
            <a:r>
              <a:t>[Sources]</a:t>
            </a:r>
          </a:p>
          <a:p xmlns:a="http://schemas.openxmlformats.org/drawingml/2006/main">
            <a:r>
              <a:t>- Synchronized exact-bar ledger: runs/research_workbench/operator_hypothesis_lab/nvda_letf_close_pressure_20260901/synchronized_clock_panel.csv</a:t>
            </a:r>
          </a:p>
          <a:p xmlns:a="http://schemas.openxmlformats.org/drawingml/2006/main">
            <a:r>
              <a:t>- Local NVDA/NVDL close-pressure report: runs/research_workbench/operator_hypothesis_lab/nvda_letf_close_pressure_20260901/report.md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daily-reset pressure thesis stops at the descriptive stage: there is no positive monotone relationship between the NVDA daily move and its final 30 minutes. The study did uncover two distinct clues—a local momentum control and ETF residual convergence—but neither is promoted automatically. Each would require a newly frozen hypothesis and untouched evidence boundary.</a:t>
            </a:r>
          </a:p>
          <a:p xmlns:a="http://schemas.openxmlformats.org/drawingml/2006/main">
            <a:r>
              <a:t/>
            </a:r>
          </a:p>
          <a:p xmlns:a="http://schemas.openxmlformats.org/drawingml/2006/main">
            <a:r>
              <a:t>[Sources]</a:t>
            </a:r>
          </a:p>
          <a:p xmlns:a="http://schemas.openxmlformats.org/drawingml/2006/main">
            <a:r>
              <a:t>- Local NVDA/NVDL close-pressure report: runs/research_workbench/operator_hypothesis_lab/nvda_letf_close_pressure_20260901/report.md</a:t>
            </a:r>
          </a:p>
          <a:p xmlns:a="http://schemas.openxmlformats.org/drawingml/2006/main">
            <a:r>
              <a:t>- Clock-specific continuation summary: runs/research_workbench/operator_hypothesis_lab/nvda_letf_close_pressure_20260901/clock_summary.csv</a:t>
            </a:r>
          </a:p>
          <a:p xmlns:a="http://schemas.openxmlformats.org/drawingml/2006/main">
            <a:r>
              <a:t>- Point-in-time 1.5x tracking-residual summary: runs/research_workbench/operator_hypothesis_lab/nvda_letf_close_pressure_20260901/tracking_residual_summary.csv</a:t>
            </a:r>
          </a:p>
          <a:p xmlns:a="http://schemas.openxmlformats.org/drawingml/2006/main">
            <a:r>
              <a:t>- Causal construction checks: runs/research_workbench/operator_hypothesis_lab/nvda_letf_close_pressure_20260901/construction_checks.csv</a:t>
            </a:r>
          </a:p>
          <a:p xmlns:a="http://schemas.openxmlformats.org/drawingml/2006/main">
            <a:r>
              <a:t>- Federal Reserve, Are Concerns About Leveraged ETFs Overblown?: https://www.federalreserve.gov/econres/feds/are-concerns-about-leveraged-etfs-overblown.htm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e6cbaadf1149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8177c0b92c4d0c" /><Relationship Type="http://schemas.openxmlformats.org/officeDocument/2006/relationships/slideLayout" Target="/ppt/slideLayouts/slideLayout1.xml" Id="R383be29aa09640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3be29aa09640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39cd4d38534f5a" /><Relationship Type="http://schemas.openxmlformats.org/officeDocument/2006/relationships/notesSlide" Target="/ppt/notesSlides/notesSlide1.xml" Id="R02ff403c8c4a4b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55ffd4e5754581" /><Relationship Type="http://schemas.openxmlformats.org/officeDocument/2006/relationships/notesSlide" Target="/ppt/notesSlides/notesSlide2.xml" Id="R69f82ef69e2041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f84e61b6a64fd2" /><Relationship Type="http://schemas.openxmlformats.org/officeDocument/2006/relationships/image" Target="/ppt/media/image.png" Id="R5abb5950e8b34289" /><Relationship Type="http://schemas.openxmlformats.org/officeDocument/2006/relationships/notesSlide" Target="/ppt/notesSlides/notesSlide3.xml" Id="R8cdc3c4bc40343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e24d047d094bb1" /><Relationship Type="http://schemas.openxmlformats.org/officeDocument/2006/relationships/notesSlide" Target="/ppt/notesSlides/notesSlide4.xml" Id="R83048b838b3748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ef313a3b594d2d" /><Relationship Type="http://schemas.openxmlformats.org/officeDocument/2006/relationships/notesSlide" Target="/ppt/notesSlides/notesSlide5.xml" Id="R9ff5cb9694a64b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72012b8c0f43bf" /><Relationship Type="http://schemas.openxmlformats.org/officeDocument/2006/relationships/image" Target="/ppt/media/image2.png" Id="R58d2f39eb0434f89" /><Relationship Type="http://schemas.openxmlformats.org/officeDocument/2006/relationships/notesSlide" Target="/ppt/notesSlides/notesSlide6.xml" Id="R85fdc73707bc4f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a8ed728b9447da" /><Relationship Type="http://schemas.openxmlformats.org/officeDocument/2006/relationships/image" Target="/ppt/media/image3.png" Id="R4d3634bba6be4d9d" /><Relationship Type="http://schemas.openxmlformats.org/officeDocument/2006/relationships/notesSlide" Target="/ppt/notesSlides/notesSlide7.xml" Id="R305181c9426b44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f2db0161ec411e" /><Relationship Type="http://schemas.openxmlformats.org/officeDocument/2006/relationships/image" Target="/ppt/media/image4.png" Id="Rb42e1cdfa2b34c8d" /><Relationship Type="http://schemas.openxmlformats.org/officeDocument/2006/relationships/notesSlide" Target="/ppt/notesSlides/notesSlide8.xml" Id="R729b40b676c445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599f4f091344bb5" /><Relationship Type="http://schemas.openxmlformats.org/officeDocument/2006/relationships/image" Target="/ppt/media/image5.png" Id="R25e768ca7e5b4aee" /><Relationship Type="http://schemas.openxmlformats.org/officeDocument/2006/relationships/notesSlide" Target="/ppt/notesSlides/notesSlide9.xml" Id="R62985e97b14d49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64d81ad7acd4d2d" /><Relationship Type="http://schemas.openxmlformats.org/officeDocument/2006/relationships/image" Target="/ppt/media/image6.png" Id="R58556fd241724a22" /><Relationship Type="http://schemas.openxmlformats.org/officeDocument/2006/relationships/notesSlide" Target="/ppt/notesSlides/notesSlide10.xml" Id="R8fbcc88e1e3342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92b1f3fc0ac44e7" /><Relationship Type="http://schemas.openxmlformats.org/officeDocument/2006/relationships/image" Target="/ppt/media/image7.png" Id="R6cc1f876b33542ad" /><Relationship Type="http://schemas.openxmlformats.org/officeDocument/2006/relationships/notesSlide" Target="/ppt/notesSlides/notesSlide11.xml" Id="Rb03224cc8bfe4b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04cc403ff8a484e" /><Relationship Type="http://schemas.openxmlformats.org/officeDocument/2006/relationships/image" Target="/ppt/media/image8.png" Id="R8d81f1aef3ff4f60" /><Relationship Type="http://schemas.openxmlformats.org/officeDocument/2006/relationships/notesSlide" Target="/ppt/notesSlides/notesSlide12.xml" Id="R22c6f5a3f48e4d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34ff5e1f55947e7" /><Relationship Type="http://schemas.openxmlformats.org/officeDocument/2006/relationships/notesSlide" Target="/ppt/notesSlides/notesSlide13.xml" Id="Rc6df3c8e9b1240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e67e8e4bcd24c86" /><Relationship Type="http://schemas.openxmlformats.org/officeDocument/2006/relationships/notesSlide" Target="/ppt/notesSlides/notesSlide14.xml" Id="R25439030b23f44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1af6a76553c41fc" /><Relationship Type="http://schemas.openxmlformats.org/officeDocument/2006/relationships/notesSlide" Target="/ppt/notesSlides/notesSlide15.xml" Id="Re3e70d31fee741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9470bd38c014620" /><Relationship Type="http://schemas.openxmlformats.org/officeDocument/2006/relationships/notesSlide" Target="/ppt/notesSlides/notesSlide16.xml" Id="R1a29a42b5c7a49e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1adea3f4f1d4dfd" /><Relationship Type="http://schemas.openxmlformats.org/officeDocument/2006/relationships/image" Target="/ppt/media/image9.png" Id="Rbe527a48b87b4ce4" /><Relationship Type="http://schemas.openxmlformats.org/officeDocument/2006/relationships/notesSlide" Target="/ppt/notesSlides/notesSlide17.xml" Id="Re774b452cd7f4bf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d2259ff04ae4f99" /><Relationship Type="http://schemas.openxmlformats.org/officeDocument/2006/relationships/image" Target="/ppt/media/image10.png" Id="Ra343171b71bb4c86" /><Relationship Type="http://schemas.openxmlformats.org/officeDocument/2006/relationships/notesSlide" Target="/ppt/notesSlides/notesSlide18.xml" Id="R651b0ae2aef6485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300a6cafea247c5" /><Relationship Type="http://schemas.openxmlformats.org/officeDocument/2006/relationships/image" Target="/ppt/media/image11.png" Id="Rc2e041eaeebd4b65" /><Relationship Type="http://schemas.openxmlformats.org/officeDocument/2006/relationships/notesSlide" Target="/ppt/notesSlides/notesSlide19.xml" Id="Rf63c5ea214db400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c426a48112a40e1" /><Relationship Type="http://schemas.openxmlformats.org/officeDocument/2006/relationships/image" Target="/ppt/media/image12.png" Id="R2664c0d461204e3f" /><Relationship Type="http://schemas.openxmlformats.org/officeDocument/2006/relationships/notesSlide" Target="/ppt/notesSlides/notesSlide20.xml" Id="Rcb9e4c6856544bb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fc1e5283382472a" /><Relationship Type="http://schemas.openxmlformats.org/officeDocument/2006/relationships/image" Target="/ppt/media/image13.png" Id="R2b8dc64bb27648cc" /><Relationship Type="http://schemas.openxmlformats.org/officeDocument/2006/relationships/notesSlide" Target="/ppt/notesSlides/notesSlide21.xml" Id="Rd8a26d49e3904f0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2ff4da2d1f4451f" /><Relationship Type="http://schemas.openxmlformats.org/officeDocument/2006/relationships/notesSlide" Target="/ppt/notesSlides/notesSlide22.xml" Id="R78a42bb8a7214fb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c29b9e37be447e1" /><Relationship Type="http://schemas.openxmlformats.org/officeDocument/2006/relationships/notesSlide" Target="/ppt/notesSlides/notesSlide23.xml" Id="R7a8eaadb4874402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12d17b9e7924bad" /><Relationship Type="http://schemas.openxmlformats.org/officeDocument/2006/relationships/image" Target="/ppt/media/image14.png" Id="R24e457f1b2c7430c" /><Relationship Type="http://schemas.openxmlformats.org/officeDocument/2006/relationships/notesSlide" Target="/ppt/notesSlides/notesSlide24.xml" Id="R0bc3aad5708d4ac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1862412074741c3" /><Relationship Type="http://schemas.openxmlformats.org/officeDocument/2006/relationships/image" Target="/ppt/media/image15.png" Id="R7a0a7704bc114188" /><Relationship Type="http://schemas.openxmlformats.org/officeDocument/2006/relationships/notesSlide" Target="/ppt/notesSlides/notesSlide25.xml" Id="Rf70fe65997e841c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fd3a7132f93415b" /><Relationship Type="http://schemas.openxmlformats.org/officeDocument/2006/relationships/image" Target="/ppt/media/image16.png" Id="Rd527e4e86be5440d" /><Relationship Type="http://schemas.openxmlformats.org/officeDocument/2006/relationships/image" Target="/ppt/media/image17.png" Id="R6ca7e3a6379c4ba1" /><Relationship Type="http://schemas.openxmlformats.org/officeDocument/2006/relationships/notesSlide" Target="/ppt/notesSlides/notesSlide26.xml" Id="Rba782a0ebb794c1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37d698c587d43b3" /><Relationship Type="http://schemas.openxmlformats.org/officeDocument/2006/relationships/image" Target="/ppt/media/image18.png" Id="R90581f650c324223" /><Relationship Type="http://schemas.openxmlformats.org/officeDocument/2006/relationships/notesSlide" Target="/ppt/notesSlides/notesSlide27.xml" Id="R6498a1bf60b148a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d8757ddfa344050" /><Relationship Type="http://schemas.openxmlformats.org/officeDocument/2006/relationships/notesSlide" Target="/ppt/notesSlides/notesSlide28.xml" Id="Ra248b7bfc95f421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c6db64c862f4740" /><Relationship Type="http://schemas.openxmlformats.org/officeDocument/2006/relationships/notesSlide" Target="/ppt/notesSlides/notesSlide29.xml" Id="R09e017db56ea4e0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b79a014510b4370" /><Relationship Type="http://schemas.openxmlformats.org/officeDocument/2006/relationships/image" Target="/ppt/media/image19.png" Id="Rb2bdbaed0aad4468" /><Relationship Type="http://schemas.openxmlformats.org/officeDocument/2006/relationships/notesSlide" Target="/ppt/notesSlides/notesSlide30.xml" Id="R008830eac57545f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80357a46f2f4890" /><Relationship Type="http://schemas.openxmlformats.org/officeDocument/2006/relationships/image" Target="/ppt/media/image20.png" Id="R3891df87308947dc" /><Relationship Type="http://schemas.openxmlformats.org/officeDocument/2006/relationships/notesSlide" Target="/ppt/notesSlides/notesSlide31.xml" Id="R9a44d852fdee4f6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59fc2f0feae4d09" /><Relationship Type="http://schemas.openxmlformats.org/officeDocument/2006/relationships/image" Target="/ppt/media/image21.png" Id="Rb6529ed19d7a44e0" /><Relationship Type="http://schemas.openxmlformats.org/officeDocument/2006/relationships/notesSlide" Target="/ppt/notesSlides/notesSlide32.xml" Id="R85fd50f54309444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aea22bdeb544331" /><Relationship Type="http://schemas.openxmlformats.org/officeDocument/2006/relationships/image" Target="/ppt/media/image22.png" Id="Rbee48eff2f484c25" /><Relationship Type="http://schemas.openxmlformats.org/officeDocument/2006/relationships/notesSlide" Target="/ppt/notesSlides/notesSlide33.xml" Id="R6a08f375edb1427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4c58e10de1a42c0" /><Relationship Type="http://schemas.openxmlformats.org/officeDocument/2006/relationships/notesSlide" Target="/ppt/notesSlides/notesSlide34.xml" Id="R1e2caa34979e449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c2c6fbc8d1e4756" /><Relationship Type="http://schemas.openxmlformats.org/officeDocument/2006/relationships/notesSlide" Target="/ppt/notesSlides/notesSlide35.xml" Id="R7c04615dab1c4fc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c72a2229dd748c4" /><Relationship Type="http://schemas.openxmlformats.org/officeDocument/2006/relationships/image" Target="/ppt/media/image23.png" Id="R8f09cefc217f490b" /><Relationship Type="http://schemas.openxmlformats.org/officeDocument/2006/relationships/notesSlide" Target="/ppt/notesSlides/notesSlide36.xml" Id="R8a4c451979a1412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00cccff04c44099" /><Relationship Type="http://schemas.openxmlformats.org/officeDocument/2006/relationships/image" Target="/ppt/media/image24.png" Id="R08acc91a239d4c7e" /><Relationship Type="http://schemas.openxmlformats.org/officeDocument/2006/relationships/notesSlide" Target="/ppt/notesSlides/notesSlide37.xml" Id="R503ef66f62c54a3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f940ebc526340c4" /><Relationship Type="http://schemas.openxmlformats.org/officeDocument/2006/relationships/image" Target="/ppt/media/image25.png" Id="Rad2d7c24406541b9" /><Relationship Type="http://schemas.openxmlformats.org/officeDocument/2006/relationships/notesSlide" Target="/ppt/notesSlides/notesSlide38.xml" Id="R49b4fe2436fb436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8cae6590a7f4156" /><Relationship Type="http://schemas.openxmlformats.org/officeDocument/2006/relationships/image" Target="/ppt/media/image26.png" Id="R2fd29ef93ddb4651" /><Relationship Type="http://schemas.openxmlformats.org/officeDocument/2006/relationships/notesSlide" Target="/ppt/notesSlides/notesSlide39.xml" Id="Reba1f73887714be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d8105ef34c24828" /><Relationship Type="http://schemas.openxmlformats.org/officeDocument/2006/relationships/image" Target="/ppt/media/image27.png" Id="R455c968e269e4c4d" /><Relationship Type="http://schemas.openxmlformats.org/officeDocument/2006/relationships/notesSlide" Target="/ppt/notesSlides/notesSlide40.xml" Id="Rdb9db932613346e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e4d46fae1b34065" /><Relationship Type="http://schemas.openxmlformats.org/officeDocument/2006/relationships/notesSlide" Target="/ppt/notesSlides/notesSlide41.xml" Id="R399a6bc047404b6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957c4067fa44c24" /><Relationship Type="http://schemas.openxmlformats.org/officeDocument/2006/relationships/notesSlide" Target="/ppt/notesSlides/notesSlide42.xml" Id="R6d1e27c196a745b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6c6f7e6aafd4c2c" /><Relationship Type="http://schemas.openxmlformats.org/officeDocument/2006/relationships/notesSlide" Target="/ppt/notesSlides/notesSlide43.xml" Id="Rca19582cab94449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3017e7a28bc45db" /><Relationship Type="http://schemas.openxmlformats.org/officeDocument/2006/relationships/image" Target="/ppt/media/image28.png" Id="Rf30aeb1c852d4502" /><Relationship Type="http://schemas.openxmlformats.org/officeDocument/2006/relationships/notesSlide" Target="/ppt/notesSlides/notesSlide44.xml" Id="R0dee50fd537a473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71a73cbe598468e" /><Relationship Type="http://schemas.openxmlformats.org/officeDocument/2006/relationships/image" Target="/ppt/media/image29.png" Id="R72eca67765d44b74" /><Relationship Type="http://schemas.openxmlformats.org/officeDocument/2006/relationships/notesSlide" Target="/ppt/notesSlides/notesSlide45.xml" Id="R68a059b64af64d4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31eb5d876ff640e0" /><Relationship Type="http://schemas.openxmlformats.org/officeDocument/2006/relationships/image" Target="/ppt/media/image30.png" Id="Rc1a6d104d1b942e8" /><Relationship Type="http://schemas.openxmlformats.org/officeDocument/2006/relationships/notesSlide" Target="/ppt/notesSlides/notesSlide46.xml" Id="Rd7534ec0d6c34ef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96dc8315107f4593" /><Relationship Type="http://schemas.openxmlformats.org/officeDocument/2006/relationships/image" Target="/ppt/media/image31.png" Id="Rcad35acb2a7d4b2c" /><Relationship Type="http://schemas.openxmlformats.org/officeDocument/2006/relationships/notesSlide" Target="/ppt/notesSlides/notesSlide47.xml" Id="Rf22cbed6cd8e4d5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0f97699263dd4a49" /><Relationship Type="http://schemas.openxmlformats.org/officeDocument/2006/relationships/image" Target="/ppt/media/image32.png" Id="Rb8647726b03a4fed" /><Relationship Type="http://schemas.openxmlformats.org/officeDocument/2006/relationships/notesSlide" Target="/ppt/notesSlides/notesSlide48.xml" Id="R90084e5059ca4de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630e5368fd242e9" /><Relationship Type="http://schemas.openxmlformats.org/officeDocument/2006/relationships/notesSlide" Target="/ppt/notesSlides/notesSlide49.xml" Id="R1580b65cd59c46b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f2e1b5b7c294fbb" /><Relationship Type="http://schemas.openxmlformats.org/officeDocument/2006/relationships/notesSlide" Target="/ppt/notesSlides/notesSlide50.xml" Id="R8c7ce5a0cf3f407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516d865e4a14146" /><Relationship Type="http://schemas.openxmlformats.org/officeDocument/2006/relationships/notesSlide" Target="/ppt/notesSlides/notesSlide51.xml" Id="R665b504de9d34d1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f6ff7f6c6cf2424c" /><Relationship Type="http://schemas.openxmlformats.org/officeDocument/2006/relationships/notesSlide" Target="/ppt/notesSlides/notesSlide52.xml" Id="R7de4107dba5745c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d6aefdb81ee4502" /><Relationship Type="http://schemas.openxmlformats.org/officeDocument/2006/relationships/image" Target="/ppt/media/image33.png" Id="R63460ba43f61429c" /><Relationship Type="http://schemas.openxmlformats.org/officeDocument/2006/relationships/notesSlide" Target="/ppt/notesSlides/notesSlide53.xml" Id="R40269dbda5224d7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7f45061e7964e6d" /><Relationship Type="http://schemas.openxmlformats.org/officeDocument/2006/relationships/image" Target="/ppt/media/image34.png" Id="Re6dfc569b1ad4785" /><Relationship Type="http://schemas.openxmlformats.org/officeDocument/2006/relationships/notesSlide" Target="/ppt/notesSlides/notesSlide54.xml" Id="Rba9414aaecca4cb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7a85b883e20493f" /><Relationship Type="http://schemas.openxmlformats.org/officeDocument/2006/relationships/image" Target="/ppt/media/image35.png" Id="R8757a7d284864562" /><Relationship Type="http://schemas.openxmlformats.org/officeDocument/2006/relationships/notesSlide" Target="/ppt/notesSlides/notesSlide55.xml" Id="Ree5a71602bd64ef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09a7f7869e045bf" /><Relationship Type="http://schemas.openxmlformats.org/officeDocument/2006/relationships/image" Target="/ppt/media/image36.png" Id="Ra5e0a8cd95cd4c84" /><Relationship Type="http://schemas.openxmlformats.org/officeDocument/2006/relationships/notesSlide" Target="/ppt/notesSlides/notesSlide56.xml" Id="Rbc5580f0b6794f1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fea9374e4cc45e8" /><Relationship Type="http://schemas.openxmlformats.org/officeDocument/2006/relationships/notesSlide" Target="/ppt/notesSlides/notesSlide57.xml" Id="R3b3c74cef54f43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69B711-2353-4FD6-B4C2-975295CBE5F8}"/>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
            <a:extLst xmlns:a="http://schemas.openxmlformats.org/drawingml/2006/main">
              <a:ext uri="{FF2B5EF4-FFF2-40B4-BE49-F238E27FC236}">
                <a16:creationId xmlns:a16="http://schemas.microsoft.com/office/drawing/2014/main" id="{2C0027C3-2224-44BC-9E7B-F47F5EF06111}"/>
              </a:ext>
            </a:extLst>
          </p:cNvPr>
          <p:cNvSpPr>
            <a:spLocks xmlns:a="http://schemas.openxmlformats.org/drawingml/2006/main" noGrp="1"/>
          </p:cNvSpPr>
          <p:nvPr/>
        </p:nvSpPr>
        <p:spPr>
          <a:xfrm xmlns:a="http://schemas.openxmlformats.org/drawingml/2006/main">
            <a:off x="685800" y="6667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67386"/>
                </a:solidFill>
              </a:defRPr>
            </a:pPr>
            <a:r>
              <a:rPr sz="1200" b="1">
                <a:solidFill>
                  <a:srgbClr val="667386"/>
                </a:solidFill>
              </a:rPr>
              <a:t>OPERATOR HYPOTHESIS LAB · ONE-ASSET MICROSCOPE</a:t>
            </a:r>
          </a:p>
        </p:txBody>
      </p:sp>
      <p:sp>
        <p:nvSpPr>
          <p:cNvPr id="3" name="">
            <a:extLst xmlns:a="http://schemas.openxmlformats.org/drawingml/2006/main">
              <a:ext uri="{FF2B5EF4-FFF2-40B4-BE49-F238E27FC236}">
                <a16:creationId xmlns:a16="http://schemas.microsoft.com/office/drawing/2014/main" id="{D4B50139-5CD6-4631-B8B6-E16CAD2F7AE6}"/>
              </a:ext>
            </a:extLst>
          </p:cNvPr>
          <p:cNvSpPr>
            <a:spLocks xmlns:a="http://schemas.openxmlformats.org/drawingml/2006/main" noGrp="1"/>
          </p:cNvSpPr>
          <p:nvPr/>
        </p:nvSpPr>
        <p:spPr>
          <a:xfrm xmlns:a="http://schemas.openxmlformats.org/drawingml/2006/main">
            <a:off x="685800" y="1352550"/>
            <a:ext cx="6572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850" b="1">
                <a:solidFill>
                  <a:srgbClr val="000000"/>
                </a:solidFill>
              </a:defRPr>
            </a:pPr>
            <a:r>
              <a:rPr sz="5850" b="1">
                <a:solidFill>
                  <a:srgbClr val="000000"/>
                </a:solidFill>
              </a:rPr>
              <a:t>NVDA</a:t>
            </a:r>
          </a:p>
          <a:p xmlns:a="http://schemas.openxmlformats.org/drawingml/2006/main">
            <a:pPr algn="l">
              <a:defRPr sz="5850" b="1">
                <a:solidFill>
                  <a:srgbClr val="000000"/>
                </a:solidFill>
              </a:defRPr>
            </a:pPr>
            <a:r>
              <a:rPr sz="5850" b="1">
                <a:solidFill>
                  <a:srgbClr val="000000"/>
                </a:solidFill>
              </a:rPr>
              <a:t>microscope</a:t>
            </a:r>
          </a:p>
        </p:txBody>
      </p:sp>
      <p:sp>
        <p:nvSpPr>
          <p:cNvPr id="4" name="">
            <a:extLst xmlns:a="http://schemas.openxmlformats.org/drawingml/2006/main">
              <a:ext uri="{FF2B5EF4-FFF2-40B4-BE49-F238E27FC236}">
                <a16:creationId xmlns:a16="http://schemas.microsoft.com/office/drawing/2014/main" id="{E177D672-3F01-4618-8023-63C7619E9381}"/>
              </a:ext>
            </a:extLst>
          </p:cNvPr>
          <p:cNvSpPr>
            <a:spLocks xmlns:a="http://schemas.openxmlformats.org/drawingml/2006/main" noGrp="1"/>
          </p:cNvSpPr>
          <p:nvPr/>
        </p:nvSpPr>
        <p:spPr>
          <a:xfrm xmlns:a="http://schemas.openxmlformats.org/drawingml/2006/main">
            <a:off x="723900" y="3524250"/>
            <a:ext cx="7524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0">
                <a:solidFill>
                  <a:srgbClr val="24364B"/>
                </a:solidFill>
              </a:defRPr>
            </a:pPr>
            <a:r>
              <a:rPr sz="2100" b="0">
                <a:solidFill>
                  <a:srgbClr val="24364B"/>
                </a:solidFill>
              </a:rPr>
              <a:t>From the intraday return clock to causal rules and cross-asset mechanism tests.</a:t>
            </a:r>
          </a:p>
        </p:txBody>
      </p:sp>
      <p:sp>
        <p:nvSpPr>
          <p:cNvPr id="5" name="">
            <a:extLst xmlns:a="http://schemas.openxmlformats.org/drawingml/2006/main">
              <a:ext uri="{FF2B5EF4-FFF2-40B4-BE49-F238E27FC236}">
                <a16:creationId xmlns:a16="http://schemas.microsoft.com/office/drawing/2014/main" id="{95101730-F236-4A8B-8981-193A752567F7}"/>
              </a:ext>
            </a:extLst>
          </p:cNvPr>
          <p:cNvSpPr>
            <a:spLocks xmlns:a="http://schemas.openxmlformats.org/drawingml/2006/main" noGrp="1"/>
          </p:cNvSpPr>
          <p:nvPr/>
        </p:nvSpPr>
        <p:spPr>
          <a:xfrm xmlns:a="http://schemas.openxmlformats.org/drawingml/2006/main">
            <a:off x="8705850" y="1143000"/>
            <a:ext cx="2514600" cy="2514600"/>
          </a:xfrm>
          <a:prstGeom xmlns:a="http://schemas.openxmlformats.org/drawingml/2006/main" prst="rect">
            <a:avLst/>
          </a:prstGeom>
          <a:solidFill xmlns:a="http://schemas.openxmlformats.org/drawingml/2006/main">
            <a:srgbClr val="24364B"/>
          </a:solidFill>
          <a:ln xmlns:a="http://schemas.openxmlformats.org/drawingml/2006/main" w="0">
            <a:solidFill>
              <a:srgbClr val="24364B"/>
            </a:solidFill>
            <a:prstDash val="solid"/>
          </a:ln>
        </p:spPr>
      </p:sp>
      <p:sp>
        <p:nvSpPr>
          <p:cNvPr id="6" name="">
            <a:extLst xmlns:a="http://schemas.openxmlformats.org/drawingml/2006/main">
              <a:ext uri="{FF2B5EF4-FFF2-40B4-BE49-F238E27FC236}">
                <a16:creationId xmlns:a16="http://schemas.microsoft.com/office/drawing/2014/main" id="{CA27F4B8-4A73-4AEC-B355-A3C96909CBA5}"/>
              </a:ext>
            </a:extLst>
          </p:cNvPr>
          <p:cNvSpPr>
            <a:spLocks xmlns:a="http://schemas.openxmlformats.org/drawingml/2006/main" noGrp="1"/>
          </p:cNvSpPr>
          <p:nvPr/>
        </p:nvSpPr>
        <p:spPr>
          <a:xfrm xmlns:a="http://schemas.openxmlformats.org/drawingml/2006/main">
            <a:off x="8896350" y="1619250"/>
            <a:ext cx="2133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1">
                <a:solidFill>
                  <a:srgbClr val="FFFFFF"/>
                </a:solidFill>
              </a:defRPr>
            </a:pPr>
            <a:r>
              <a:rPr sz="4350" b="1">
                <a:solidFill>
                  <a:srgbClr val="FFFFFF"/>
                </a:solidFill>
              </a:rPr>
              <a:t>30m</a:t>
            </a:r>
          </a:p>
        </p:txBody>
      </p:sp>
      <p:sp>
        <p:nvSpPr>
          <p:cNvPr id="7" name="">
            <a:extLst xmlns:a="http://schemas.openxmlformats.org/drawingml/2006/main">
              <a:ext uri="{FF2B5EF4-FFF2-40B4-BE49-F238E27FC236}">
                <a16:creationId xmlns:a16="http://schemas.microsoft.com/office/drawing/2014/main" id="{39EB3096-14EC-474F-BBDF-E9B4DB0FCCF0}"/>
              </a:ext>
            </a:extLst>
          </p:cNvPr>
          <p:cNvSpPr>
            <a:spLocks xmlns:a="http://schemas.openxmlformats.org/drawingml/2006/main" noGrp="1"/>
          </p:cNvSpPr>
          <p:nvPr/>
        </p:nvSpPr>
        <p:spPr>
          <a:xfrm xmlns:a="http://schemas.openxmlformats.org/drawingml/2006/main">
            <a:off x="9563100" y="2381250"/>
            <a:ext cx="800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0">
                <a:solidFill>
                  <a:srgbClr val="D0EDFA"/>
                </a:solidFill>
              </a:defRPr>
            </a:pPr>
            <a:r>
              <a:rPr sz="2250" b="0">
                <a:solidFill>
                  <a:srgbClr val="D0EDFA"/>
                </a:solidFill>
              </a:rPr>
              <a:t>+</a:t>
            </a:r>
          </a:p>
        </p:txBody>
      </p:sp>
      <p:sp>
        <p:nvSpPr>
          <p:cNvPr id="8" name="">
            <a:extLst xmlns:a="http://schemas.openxmlformats.org/drawingml/2006/main">
              <a:ext uri="{FF2B5EF4-FFF2-40B4-BE49-F238E27FC236}">
                <a16:creationId xmlns:a16="http://schemas.microsoft.com/office/drawing/2014/main" id="{046E0335-FC22-4080-9660-55CF2049C8EE}"/>
              </a:ext>
            </a:extLst>
          </p:cNvPr>
          <p:cNvSpPr>
            <a:spLocks xmlns:a="http://schemas.openxmlformats.org/drawingml/2006/main" noGrp="1"/>
          </p:cNvSpPr>
          <p:nvPr/>
        </p:nvSpPr>
        <p:spPr>
          <a:xfrm xmlns:a="http://schemas.openxmlformats.org/drawingml/2006/main">
            <a:off x="8896350" y="2876550"/>
            <a:ext cx="2133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FFFFFF"/>
                </a:solidFill>
              </a:defRPr>
            </a:pPr>
            <a:r>
              <a:rPr sz="3000" b="1">
                <a:solidFill>
                  <a:srgbClr val="FFFFFF"/>
                </a:solidFill>
              </a:rPr>
              <a:t>1D</a:t>
            </a:r>
          </a:p>
        </p:txBody>
      </p:sp>
      <p:sp>
        <p:nvSpPr>
          <p:cNvPr id="9" name="">
            <a:extLst xmlns:a="http://schemas.openxmlformats.org/drawingml/2006/main">
              <a:ext uri="{FF2B5EF4-FFF2-40B4-BE49-F238E27FC236}">
                <a16:creationId xmlns:a16="http://schemas.microsoft.com/office/drawing/2014/main" id="{1CAA4275-7302-4622-AC27-9E56BE797421}"/>
              </a:ext>
            </a:extLst>
          </p:cNvPr>
          <p:cNvSpPr>
            <a:spLocks xmlns:a="http://schemas.openxmlformats.org/drawingml/2006/main" noGrp="1"/>
          </p:cNvSpPr>
          <p:nvPr/>
        </p:nvSpPr>
        <p:spPr>
          <a:xfrm xmlns:a="http://schemas.openxmlformats.org/drawingml/2006/main">
            <a:off x="685800" y="5067300"/>
            <a:ext cx="105346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0" name="">
            <a:extLst xmlns:a="http://schemas.openxmlformats.org/drawingml/2006/main">
              <a:ext uri="{FF2B5EF4-FFF2-40B4-BE49-F238E27FC236}">
                <a16:creationId xmlns:a16="http://schemas.microsoft.com/office/drawing/2014/main" id="{64F39881-18CE-4A5F-8885-34A75F1F7CDD}"/>
              </a:ext>
            </a:extLst>
          </p:cNvPr>
          <p:cNvSpPr>
            <a:spLocks xmlns:a="http://schemas.openxmlformats.org/drawingml/2006/main" noGrp="1"/>
          </p:cNvSpPr>
          <p:nvPr/>
        </p:nvSpPr>
        <p:spPr>
          <a:xfrm xmlns:a="http://schemas.openxmlformats.org/drawingml/2006/main">
            <a:off x="685800" y="53530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Research posture</a:t>
            </a:r>
          </a:p>
        </p:txBody>
      </p:sp>
      <p:sp>
        <p:nvSpPr>
          <p:cNvPr id="11" name="">
            <a:extLst xmlns:a="http://schemas.openxmlformats.org/drawingml/2006/main">
              <a:ext uri="{FF2B5EF4-FFF2-40B4-BE49-F238E27FC236}">
                <a16:creationId xmlns:a16="http://schemas.microsoft.com/office/drawing/2014/main" id="{3988827C-AC35-4984-B732-EC3F3ACB05AE}"/>
              </a:ext>
            </a:extLst>
          </p:cNvPr>
          <p:cNvSpPr>
            <a:spLocks xmlns:a="http://schemas.openxmlformats.org/drawingml/2006/main" noGrp="1"/>
          </p:cNvSpPr>
          <p:nvPr/>
        </p:nvSpPr>
        <p:spPr>
          <a:xfrm xmlns:a="http://schemas.openxmlformats.org/drawingml/2006/main">
            <a:off x="2857500" y="5276850"/>
            <a:ext cx="809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24364B"/>
                </a:solidFill>
              </a:defRPr>
            </a:pPr>
            <a:r>
              <a:rPr sz="1725" b="0">
                <a:solidFill>
                  <a:srgbClr val="24364B"/>
                </a:solidFill>
              </a:rPr>
              <a:t>Observe first. Separate descriptive clues, executable TRAIN translation, and one-shot confirmation.</a:t>
            </a:r>
          </a:p>
        </p:txBody>
      </p:sp>
      <p:sp>
        <p:nvSpPr>
          <p:cNvPr id="12" name="">
            <a:extLst xmlns:a="http://schemas.openxmlformats.org/drawingml/2006/main">
              <a:ext uri="{FF2B5EF4-FFF2-40B4-BE49-F238E27FC236}">
                <a16:creationId xmlns:a16="http://schemas.microsoft.com/office/drawing/2014/main" id="{580FE641-42BA-4C60-BE2B-E50D9EF5212A}"/>
              </a:ext>
            </a:extLst>
          </p:cNvPr>
          <p:cNvSpPr>
            <a:spLocks xmlns:a="http://schemas.openxmlformats.org/drawingml/2006/main" noGrp="1"/>
          </p:cNvSpPr>
          <p:nvPr/>
        </p:nvSpPr>
        <p:spPr>
          <a:xfrm xmlns:a="http://schemas.openxmlformats.org/drawingml/2006/main">
            <a:off x="685800" y="63436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B44738"/>
                </a:solidFill>
              </a:defRPr>
            </a:pPr>
            <a:r>
              <a:rPr sz="975" b="1">
                <a:solidFill>
                  <a:srgbClr val="B44738"/>
                </a:solidFill>
              </a:rPr>
              <a:t>RESEARCH DECK · DAILY CONFIRMATION STOP · INTRADAY OPENING RULE STOP</a:t>
            </a:r>
          </a:p>
        </p:txBody>
      </p:sp>
    </p:spTree>
    <p:extLst>
      <p:ext uri="{BB962C8B-B14F-4D97-AF65-F5344CB8AC3E}">
        <p14:creationId xmlns:p14="http://schemas.microsoft.com/office/powerpoint/2010/main" val="14256741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A74AB8F-559B-4235-BCEC-5E07392DCB8F}"/>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MICROSCOPE</a:t>
            </a:r>
          </a:p>
        </p:txBody>
      </p:sp>
      <p:sp>
        <p:nvSpPr>
          <p:cNvPr id="2" name="">
            <a:extLst xmlns:a="http://schemas.openxmlformats.org/drawingml/2006/main">
              <a:ext uri="{FF2B5EF4-FFF2-40B4-BE49-F238E27FC236}">
                <a16:creationId xmlns:a16="http://schemas.microsoft.com/office/drawing/2014/main" id="{770A940C-8817-446C-9008-43DA547FB8D9}"/>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One asset is a legitimate research object</a:t>
            </a:r>
          </a:p>
        </p:txBody>
      </p:sp>
      <p:sp>
        <p:nvSpPr>
          <p:cNvPr id="3" name="">
            <a:extLst xmlns:a="http://schemas.openxmlformats.org/drawingml/2006/main">
              <a:ext uri="{FF2B5EF4-FFF2-40B4-BE49-F238E27FC236}">
                <a16:creationId xmlns:a16="http://schemas.microsoft.com/office/drawing/2014/main" id="{C49255CE-EA20-4496-BDB1-E178058BEEFD}"/>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14AF7713-E25B-4D4B-90F2-96ED1397203F}"/>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0E76DE7C-946A-442F-A9E8-6C21B156EAC0}"/>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02</a:t>
            </a:r>
          </a:p>
        </p:txBody>
      </p:sp>
      <p:sp>
        <p:nvSpPr>
          <p:cNvPr id="6" name="">
            <a:extLst xmlns:a="http://schemas.openxmlformats.org/drawingml/2006/main">
              <a:ext uri="{FF2B5EF4-FFF2-40B4-BE49-F238E27FC236}">
                <a16:creationId xmlns:a16="http://schemas.microsoft.com/office/drawing/2014/main" id="{3834B441-E88A-41F2-B510-E5E2BCF3A1C3}"/>
              </a:ext>
            </a:extLst>
          </p:cNvPr>
          <p:cNvSpPr>
            <a:spLocks xmlns:a="http://schemas.openxmlformats.org/drawingml/2006/main" noGrp="1"/>
          </p:cNvSpPr>
          <p:nvPr/>
        </p:nvSpPr>
        <p:spPr>
          <a:xfrm xmlns:a="http://schemas.openxmlformats.org/drawingml/2006/main">
            <a:off x="552450" y="1562100"/>
            <a:ext cx="5143500" cy="409575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7" name="">
            <a:extLst xmlns:a="http://schemas.openxmlformats.org/drawingml/2006/main">
              <a:ext uri="{FF2B5EF4-FFF2-40B4-BE49-F238E27FC236}">
                <a16:creationId xmlns:a16="http://schemas.microsoft.com/office/drawing/2014/main" id="{487BB6A2-0099-4C12-9E6F-ED992B5D312E}"/>
              </a:ext>
            </a:extLst>
          </p:cNvPr>
          <p:cNvSpPr>
            <a:spLocks xmlns:a="http://schemas.openxmlformats.org/drawingml/2006/main" noGrp="1"/>
          </p:cNvSpPr>
          <p:nvPr/>
        </p:nvSpPr>
        <p:spPr>
          <a:xfrm xmlns:a="http://schemas.openxmlformats.org/drawingml/2006/main">
            <a:off x="819150" y="18478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What specialization buys</a:t>
            </a:r>
          </a:p>
        </p:txBody>
      </p:sp>
      <p:sp>
        <p:nvSpPr>
          <p:cNvPr id="8" name="">
            <a:extLst xmlns:a="http://schemas.openxmlformats.org/drawingml/2006/main">
              <a:ext uri="{FF2B5EF4-FFF2-40B4-BE49-F238E27FC236}">
                <a16:creationId xmlns:a16="http://schemas.microsoft.com/office/drawing/2014/main" id="{3B569158-081B-40C1-8067-1478966347C1}"/>
              </a:ext>
            </a:extLst>
          </p:cNvPr>
          <p:cNvSpPr>
            <a:spLocks xmlns:a="http://schemas.openxmlformats.org/drawingml/2006/main" noGrp="1"/>
          </p:cNvSpPr>
          <p:nvPr/>
        </p:nvSpPr>
        <p:spPr>
          <a:xfrm xmlns:a="http://schemas.openxmlformats.org/drawingml/2006/main">
            <a:off x="838200" y="256222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A869495D-1315-4409-AC89-2A19AFF75822}"/>
              </a:ext>
            </a:extLst>
          </p:cNvPr>
          <p:cNvSpPr>
            <a:spLocks xmlns:a="http://schemas.openxmlformats.org/drawingml/2006/main" noGrp="1"/>
          </p:cNvSpPr>
          <p:nvPr/>
        </p:nvSpPr>
        <p:spPr>
          <a:xfrm xmlns:a="http://schemas.openxmlformats.org/drawingml/2006/main">
            <a:off x="1066800" y="2476500"/>
            <a:ext cx="41529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4364B"/>
                </a:solidFill>
              </a:defRPr>
            </a:pPr>
            <a:r>
              <a:rPr sz="1650" b="0">
                <a:solidFill>
                  <a:srgbClr val="24364B"/>
                </a:solidFill>
              </a:rPr>
              <a:t>A focused view of NVDA’s own liquidity, attention, overnight, and time-of-day structure.</a:t>
            </a:r>
          </a:p>
        </p:txBody>
      </p:sp>
      <p:sp>
        <p:nvSpPr>
          <p:cNvPr id="10" name="">
            <a:extLst xmlns:a="http://schemas.openxmlformats.org/drawingml/2006/main">
              <a:ext uri="{FF2B5EF4-FFF2-40B4-BE49-F238E27FC236}">
                <a16:creationId xmlns:a16="http://schemas.microsoft.com/office/drawing/2014/main" id="{5AB1BD61-FE01-4E8B-A578-0CC0D627DC47}"/>
              </a:ext>
            </a:extLst>
          </p:cNvPr>
          <p:cNvSpPr>
            <a:spLocks xmlns:a="http://schemas.openxmlformats.org/drawingml/2006/main" noGrp="1"/>
          </p:cNvSpPr>
          <p:nvPr/>
        </p:nvSpPr>
        <p:spPr>
          <a:xfrm xmlns:a="http://schemas.openxmlformats.org/drawingml/2006/main">
            <a:off x="838200" y="36480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8D24FA35-99D4-49FB-A58C-0C38BDFD3E68}"/>
              </a:ext>
            </a:extLst>
          </p:cNvPr>
          <p:cNvSpPr>
            <a:spLocks xmlns:a="http://schemas.openxmlformats.org/drawingml/2006/main" noGrp="1"/>
          </p:cNvSpPr>
          <p:nvPr/>
        </p:nvSpPr>
        <p:spPr>
          <a:xfrm xmlns:a="http://schemas.openxmlformats.org/drawingml/2006/main">
            <a:off x="1066800" y="3562350"/>
            <a:ext cx="4152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4364B"/>
                </a:solidFill>
              </a:defRPr>
            </a:pPr>
            <a:r>
              <a:rPr sz="1650" b="0">
                <a:solidFill>
                  <a:srgbClr val="24364B"/>
                </a:solidFill>
              </a:rPr>
              <a:t>A tractable laboratory for operator-facing visual sanity checks.</a:t>
            </a:r>
          </a:p>
        </p:txBody>
      </p:sp>
      <p:sp>
        <p:nvSpPr>
          <p:cNvPr id="12" name="">
            <a:extLst xmlns:a="http://schemas.openxmlformats.org/drawingml/2006/main">
              <a:ext uri="{FF2B5EF4-FFF2-40B4-BE49-F238E27FC236}">
                <a16:creationId xmlns:a16="http://schemas.microsoft.com/office/drawing/2014/main" id="{E7DA7219-1B60-4BFD-8B0A-06FC7B98DB2D}"/>
              </a:ext>
            </a:extLst>
          </p:cNvPr>
          <p:cNvSpPr>
            <a:spLocks xmlns:a="http://schemas.openxmlformats.org/drawingml/2006/main" noGrp="1"/>
          </p:cNvSpPr>
          <p:nvPr/>
        </p:nvSpPr>
        <p:spPr>
          <a:xfrm xmlns:a="http://schemas.openxmlformats.org/drawingml/2006/main">
            <a:off x="838200" y="458152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3" name="">
            <a:extLst xmlns:a="http://schemas.openxmlformats.org/drawingml/2006/main">
              <a:ext uri="{FF2B5EF4-FFF2-40B4-BE49-F238E27FC236}">
                <a16:creationId xmlns:a16="http://schemas.microsoft.com/office/drawing/2014/main" id="{F7115D04-7AEC-4474-87E0-ABFB3C4173AA}"/>
              </a:ext>
            </a:extLst>
          </p:cNvPr>
          <p:cNvSpPr>
            <a:spLocks xmlns:a="http://schemas.openxmlformats.org/drawingml/2006/main" noGrp="1"/>
          </p:cNvSpPr>
          <p:nvPr/>
        </p:nvSpPr>
        <p:spPr>
          <a:xfrm xmlns:a="http://schemas.openxmlformats.org/drawingml/2006/main">
            <a:off x="1066800" y="4495800"/>
            <a:ext cx="4152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4364B"/>
                </a:solidFill>
              </a:defRPr>
            </a:pPr>
            <a:r>
              <a:rPr sz="1650" b="0">
                <a:solidFill>
                  <a:srgbClr val="24364B"/>
                </a:solidFill>
              </a:rPr>
              <a:t>A strategy may trade one asset if its validation remains honest and causal.</a:t>
            </a:r>
          </a:p>
        </p:txBody>
      </p:sp>
      <p:sp>
        <p:nvSpPr>
          <p:cNvPr id="14" name="">
            <a:extLst xmlns:a="http://schemas.openxmlformats.org/drawingml/2006/main">
              <a:ext uri="{FF2B5EF4-FFF2-40B4-BE49-F238E27FC236}">
                <a16:creationId xmlns:a16="http://schemas.microsoft.com/office/drawing/2014/main" id="{E5045CF4-AE37-4918-AB42-024523D19258}"/>
              </a:ext>
            </a:extLst>
          </p:cNvPr>
          <p:cNvSpPr>
            <a:spLocks xmlns:a="http://schemas.openxmlformats.org/drawingml/2006/main" noGrp="1"/>
          </p:cNvSpPr>
          <p:nvPr/>
        </p:nvSpPr>
        <p:spPr>
          <a:xfrm xmlns:a="http://schemas.openxmlformats.org/drawingml/2006/main">
            <a:off x="6096000" y="1562100"/>
            <a:ext cx="5543550" cy="40957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5" name="">
            <a:extLst xmlns:a="http://schemas.openxmlformats.org/drawingml/2006/main">
              <a:ext uri="{FF2B5EF4-FFF2-40B4-BE49-F238E27FC236}">
                <a16:creationId xmlns:a16="http://schemas.microsoft.com/office/drawing/2014/main" id="{6E363C89-DB06-4BBA-90A4-5A099E9A4EF1}"/>
              </a:ext>
            </a:extLst>
          </p:cNvPr>
          <p:cNvSpPr>
            <a:spLocks xmlns:a="http://schemas.openxmlformats.org/drawingml/2006/main" noGrp="1"/>
          </p:cNvSpPr>
          <p:nvPr/>
        </p:nvSpPr>
        <p:spPr>
          <a:xfrm xmlns:a="http://schemas.openxmlformats.org/drawingml/2006/main">
            <a:off x="6400800" y="18478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What specialization costs</a:t>
            </a:r>
          </a:p>
        </p:txBody>
      </p:sp>
      <p:sp>
        <p:nvSpPr>
          <p:cNvPr id="16" name="">
            <a:extLst xmlns:a="http://schemas.openxmlformats.org/drawingml/2006/main">
              <a:ext uri="{FF2B5EF4-FFF2-40B4-BE49-F238E27FC236}">
                <a16:creationId xmlns:a16="http://schemas.microsoft.com/office/drawing/2014/main" id="{D2621ABA-C659-4109-A92B-A547680D106A}"/>
              </a:ext>
            </a:extLst>
          </p:cNvPr>
          <p:cNvSpPr>
            <a:spLocks xmlns:a="http://schemas.openxmlformats.org/drawingml/2006/main" noGrp="1"/>
          </p:cNvSpPr>
          <p:nvPr/>
        </p:nvSpPr>
        <p:spPr>
          <a:xfrm xmlns:a="http://schemas.openxmlformats.org/drawingml/2006/main">
            <a:off x="6419850" y="256222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7" name="">
            <a:extLst xmlns:a="http://schemas.openxmlformats.org/drawingml/2006/main">
              <a:ext uri="{FF2B5EF4-FFF2-40B4-BE49-F238E27FC236}">
                <a16:creationId xmlns:a16="http://schemas.microsoft.com/office/drawing/2014/main" id="{966DF989-C0C1-4AA3-8F03-402A191B26EF}"/>
              </a:ext>
            </a:extLst>
          </p:cNvPr>
          <p:cNvSpPr>
            <a:spLocks xmlns:a="http://schemas.openxmlformats.org/drawingml/2006/main" noGrp="1"/>
          </p:cNvSpPr>
          <p:nvPr/>
        </p:nvSpPr>
        <p:spPr>
          <a:xfrm xmlns:a="http://schemas.openxmlformats.org/drawingml/2006/main">
            <a:off x="6648450" y="2476500"/>
            <a:ext cx="45339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4364B"/>
                </a:solidFill>
              </a:defRPr>
            </a:pPr>
            <a:r>
              <a:rPr sz="1650" b="0">
                <a:solidFill>
                  <a:srgbClr val="24364B"/>
                </a:solidFill>
              </a:rPr>
              <a:t>Greater risk that a pattern describes one historical path rather than a durable mechanism.</a:t>
            </a:r>
          </a:p>
        </p:txBody>
      </p:sp>
      <p:sp>
        <p:nvSpPr>
          <p:cNvPr id="18" name="">
            <a:extLst xmlns:a="http://schemas.openxmlformats.org/drawingml/2006/main">
              <a:ext uri="{FF2B5EF4-FFF2-40B4-BE49-F238E27FC236}">
                <a16:creationId xmlns:a16="http://schemas.microsoft.com/office/drawing/2014/main" id="{AF0C8886-F772-4BDC-8167-B5D59F1A2173}"/>
              </a:ext>
            </a:extLst>
          </p:cNvPr>
          <p:cNvSpPr>
            <a:spLocks xmlns:a="http://schemas.openxmlformats.org/drawingml/2006/main" noGrp="1"/>
          </p:cNvSpPr>
          <p:nvPr/>
        </p:nvSpPr>
        <p:spPr>
          <a:xfrm xmlns:a="http://schemas.openxmlformats.org/drawingml/2006/main">
            <a:off x="6419850" y="36480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9" name="">
            <a:extLst xmlns:a="http://schemas.openxmlformats.org/drawingml/2006/main">
              <a:ext uri="{FF2B5EF4-FFF2-40B4-BE49-F238E27FC236}">
                <a16:creationId xmlns:a16="http://schemas.microsoft.com/office/drawing/2014/main" id="{A6AFCB41-9CC5-4A27-97DC-8D9827CA069C}"/>
              </a:ext>
            </a:extLst>
          </p:cNvPr>
          <p:cNvSpPr>
            <a:spLocks xmlns:a="http://schemas.openxmlformats.org/drawingml/2006/main" noGrp="1"/>
          </p:cNvSpPr>
          <p:nvPr/>
        </p:nvSpPr>
        <p:spPr>
          <a:xfrm xmlns:a="http://schemas.openxmlformats.org/drawingml/2006/main">
            <a:off x="6648450" y="3562350"/>
            <a:ext cx="4533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4364B"/>
                </a:solidFill>
              </a:defRPr>
            </a:pPr>
            <a:r>
              <a:rPr sz="1650" b="0">
                <a:solidFill>
                  <a:srgbClr val="24364B"/>
                </a:solidFill>
              </a:rPr>
              <a:t>No cross-asset breadth to rescue weak causal reasoning.</a:t>
            </a:r>
          </a:p>
        </p:txBody>
      </p:sp>
      <p:sp>
        <p:nvSpPr>
          <p:cNvPr id="20" name="">
            <a:extLst xmlns:a="http://schemas.openxmlformats.org/drawingml/2006/main">
              <a:ext uri="{FF2B5EF4-FFF2-40B4-BE49-F238E27FC236}">
                <a16:creationId xmlns:a16="http://schemas.microsoft.com/office/drawing/2014/main" id="{C6150A10-F8D0-463B-9D30-CDA17B57F47F}"/>
              </a:ext>
            </a:extLst>
          </p:cNvPr>
          <p:cNvSpPr>
            <a:spLocks xmlns:a="http://schemas.openxmlformats.org/drawingml/2006/main" noGrp="1"/>
          </p:cNvSpPr>
          <p:nvPr/>
        </p:nvSpPr>
        <p:spPr>
          <a:xfrm xmlns:a="http://schemas.openxmlformats.org/drawingml/2006/main">
            <a:off x="6419850" y="458152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21" name="">
            <a:extLst xmlns:a="http://schemas.openxmlformats.org/drawingml/2006/main">
              <a:ext uri="{FF2B5EF4-FFF2-40B4-BE49-F238E27FC236}">
                <a16:creationId xmlns:a16="http://schemas.microsoft.com/office/drawing/2014/main" id="{51DF9DA0-7A42-4152-AB2B-C9A0D3E5232E}"/>
              </a:ext>
            </a:extLst>
          </p:cNvPr>
          <p:cNvSpPr>
            <a:spLocks xmlns:a="http://schemas.openxmlformats.org/drawingml/2006/main" noGrp="1"/>
          </p:cNvSpPr>
          <p:nvPr/>
        </p:nvSpPr>
        <p:spPr>
          <a:xfrm xmlns:a="http://schemas.openxmlformats.org/drawingml/2006/main">
            <a:off x="6648450" y="4495800"/>
            <a:ext cx="4533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4364B"/>
                </a:solidFill>
              </a:defRPr>
            </a:pPr>
            <a:r>
              <a:rPr sz="1650" b="0">
                <a:solidFill>
                  <a:srgbClr val="24364B"/>
                </a:solidFill>
              </a:rPr>
              <a:t>Untouched time, realistic execution, and explicit baselines become even more important.</a:t>
            </a:r>
          </a:p>
        </p:txBody>
      </p:sp>
      <p:sp>
        <p:nvSpPr>
          <p:cNvPr id="22" name="">
            <a:extLst xmlns:a="http://schemas.openxmlformats.org/drawingml/2006/main">
              <a:ext uri="{FF2B5EF4-FFF2-40B4-BE49-F238E27FC236}">
                <a16:creationId xmlns:a16="http://schemas.microsoft.com/office/drawing/2014/main" id="{77A50531-FFFE-4D04-9BCD-59BFC5D8035F}"/>
              </a:ext>
            </a:extLst>
          </p:cNvPr>
          <p:cNvSpPr>
            <a:spLocks xmlns:a="http://schemas.openxmlformats.org/drawingml/2006/main" noGrp="1"/>
          </p:cNvSpPr>
          <p:nvPr/>
        </p:nvSpPr>
        <p:spPr>
          <a:xfrm xmlns:a="http://schemas.openxmlformats.org/drawingml/2006/main">
            <a:off x="552450" y="5905500"/>
            <a:ext cx="11087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24364B"/>
                </a:solidFill>
              </a:defRPr>
            </a:pPr>
            <a:r>
              <a:rPr sz="1950" b="1">
                <a:solidFill>
                  <a:srgbClr val="24364B"/>
                </a:solidFill>
              </a:rPr>
              <a:t>The design target is not asset-agnosticism. It is falsifiable specialization.</a:t>
            </a:r>
          </a:p>
        </p:txBody>
      </p:sp>
    </p:spTree>
    <p:extLst>
      <p:ext uri="{BB962C8B-B14F-4D97-AF65-F5344CB8AC3E}">
        <p14:creationId xmlns:p14="http://schemas.microsoft.com/office/powerpoint/2010/main" val="20210256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ACE4E15-DCB2-4BDD-86E6-919CAB41A7D9}"/>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MICROSCOPE</a:t>
            </a:r>
          </a:p>
        </p:txBody>
      </p:sp>
      <p:sp>
        <p:nvSpPr>
          <p:cNvPr id="2" name="">
            <a:extLst xmlns:a="http://schemas.openxmlformats.org/drawingml/2006/main">
              <a:ext uri="{FF2B5EF4-FFF2-40B4-BE49-F238E27FC236}">
                <a16:creationId xmlns:a16="http://schemas.microsoft.com/office/drawing/2014/main" id="{56D1654E-A1D2-4C75-8B88-1238A70E4380}"/>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first microscope: NVDA’s return clock</a:t>
            </a:r>
          </a:p>
        </p:txBody>
      </p:sp>
      <p:sp>
        <p:nvSpPr>
          <p:cNvPr id="3" name="">
            <a:extLst xmlns:a="http://schemas.openxmlformats.org/drawingml/2006/main">
              <a:ext uri="{FF2B5EF4-FFF2-40B4-BE49-F238E27FC236}">
                <a16:creationId xmlns:a16="http://schemas.microsoft.com/office/drawing/2014/main" id="{3E4C13C3-2AE7-4103-84DC-3E0E539BC016}"/>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79D085FA-F475-452D-AE8B-912C0C50A798}"/>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FB9A8944-AEBB-4799-8BAA-C3E2AFF3E526}"/>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03</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abb5950e8b34289"/>
          <a:stretch xmlns:a="http://schemas.openxmlformats.org/drawingml/2006/main"/>
        </p:blipFill>
        <p:spPr>
          <a:xfrm xmlns:a="http://schemas.openxmlformats.org/drawingml/2006/main">
            <a:off x="853369" y="1390650"/>
            <a:ext cx="7761111"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EF6C320-F97F-4CCC-8544-26CBFB200D5A}"/>
              </a:ext>
            </a:extLst>
          </p:cNvPr>
          <p:cNvSpPr>
            <a:spLocks xmlns:a="http://schemas.openxmlformats.org/drawingml/2006/main" noGrp="1"/>
          </p:cNvSpPr>
          <p:nvPr/>
        </p:nvSpPr>
        <p:spPr>
          <a:xfrm xmlns:a="http://schemas.openxmlformats.org/drawingml/2006/main">
            <a:off x="9277350" y="1504950"/>
            <a:ext cx="2457450" cy="44577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3FA394EA-C910-4984-A2FA-18EAA380F4BB}"/>
              </a:ext>
            </a:extLst>
          </p:cNvPr>
          <p:cNvSpPr>
            <a:spLocks xmlns:a="http://schemas.openxmlformats.org/drawingml/2006/main" noGrp="1"/>
          </p:cNvSpPr>
          <p:nvPr/>
        </p:nvSpPr>
        <p:spPr>
          <a:xfrm xmlns:a="http://schemas.openxmlformats.org/drawingml/2006/main">
            <a:off x="9505950" y="17526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defRPr>
            </a:pPr>
            <a:r>
              <a:rPr sz="1725" b="1">
                <a:solidFill>
                  <a:srgbClr val="000000"/>
                </a:solidFill>
              </a:rPr>
              <a:t>How to read it</a:t>
            </a:r>
          </a:p>
        </p:txBody>
      </p:sp>
      <p:sp>
        <p:nvSpPr>
          <p:cNvPr id="9" name="">
            <a:extLst xmlns:a="http://schemas.openxmlformats.org/drawingml/2006/main">
              <a:ext uri="{FF2B5EF4-FFF2-40B4-BE49-F238E27FC236}">
                <a16:creationId xmlns:a16="http://schemas.microsoft.com/office/drawing/2014/main" id="{84899890-1C71-4976-AF13-E67E3CE62CC4}"/>
              </a:ext>
            </a:extLst>
          </p:cNvPr>
          <p:cNvSpPr>
            <a:spLocks xmlns:a="http://schemas.openxmlformats.org/drawingml/2006/main" noGrp="1"/>
          </p:cNvSpPr>
          <p:nvPr/>
        </p:nvSpPr>
        <p:spPr>
          <a:xfrm xmlns:a="http://schemas.openxmlformats.org/drawingml/2006/main">
            <a:off x="9505950" y="23526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4C45742B-4AC4-4F5B-A250-30CDAD974D2F}"/>
              </a:ext>
            </a:extLst>
          </p:cNvPr>
          <p:cNvSpPr>
            <a:spLocks xmlns:a="http://schemas.openxmlformats.org/drawingml/2006/main" noGrp="1"/>
          </p:cNvSpPr>
          <p:nvPr/>
        </p:nvSpPr>
        <p:spPr>
          <a:xfrm xmlns:a="http://schemas.openxmlformats.org/drawingml/2006/main">
            <a:off x="9734550" y="2266950"/>
            <a:ext cx="1809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Each dot is one observed return.</a:t>
            </a:r>
          </a:p>
        </p:txBody>
      </p:sp>
      <p:sp>
        <p:nvSpPr>
          <p:cNvPr id="11" name="">
            <a:extLst xmlns:a="http://schemas.openxmlformats.org/drawingml/2006/main">
              <a:ext uri="{FF2B5EF4-FFF2-40B4-BE49-F238E27FC236}">
                <a16:creationId xmlns:a16="http://schemas.microsoft.com/office/drawing/2014/main" id="{D97C5345-7FAE-45C4-A1C7-FA0A61646845}"/>
              </a:ext>
            </a:extLst>
          </p:cNvPr>
          <p:cNvSpPr>
            <a:spLocks xmlns:a="http://schemas.openxmlformats.org/drawingml/2006/main" noGrp="1"/>
          </p:cNvSpPr>
          <p:nvPr/>
        </p:nvSpPr>
        <p:spPr>
          <a:xfrm xmlns:a="http://schemas.openxmlformats.org/drawingml/2006/main">
            <a:off x="9505950" y="305752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16982125-7806-4A9C-98D6-54D44E7D85C7}"/>
              </a:ext>
            </a:extLst>
          </p:cNvPr>
          <p:cNvSpPr>
            <a:spLocks xmlns:a="http://schemas.openxmlformats.org/drawingml/2006/main" noGrp="1"/>
          </p:cNvSpPr>
          <p:nvPr/>
        </p:nvSpPr>
        <p:spPr>
          <a:xfrm xmlns:a="http://schemas.openxmlformats.org/drawingml/2006/main">
            <a:off x="9734550" y="297180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The overnight gap sits left of the first bar.</a:t>
            </a:r>
          </a:p>
        </p:txBody>
      </p:sp>
      <p:sp>
        <p:nvSpPr>
          <p:cNvPr id="13" name="">
            <a:extLst xmlns:a="http://schemas.openxmlformats.org/drawingml/2006/main">
              <a:ext uri="{FF2B5EF4-FFF2-40B4-BE49-F238E27FC236}">
                <a16:creationId xmlns:a16="http://schemas.microsoft.com/office/drawing/2014/main" id="{D1E9C571-B8A0-4927-865A-9B0B5C8A17D7}"/>
              </a:ext>
            </a:extLst>
          </p:cNvPr>
          <p:cNvSpPr>
            <a:spLocks xmlns:a="http://schemas.openxmlformats.org/drawingml/2006/main" noGrp="1"/>
          </p:cNvSpPr>
          <p:nvPr/>
        </p:nvSpPr>
        <p:spPr>
          <a:xfrm xmlns:a="http://schemas.openxmlformats.org/drawingml/2006/main">
            <a:off x="9505950" y="393382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A1FBA2C1-7001-4608-9663-81CB3DCD9D91}"/>
              </a:ext>
            </a:extLst>
          </p:cNvPr>
          <p:cNvSpPr>
            <a:spLocks xmlns:a="http://schemas.openxmlformats.org/drawingml/2006/main" noGrp="1"/>
          </p:cNvSpPr>
          <p:nvPr/>
        </p:nvSpPr>
        <p:spPr>
          <a:xfrm xmlns:a="http://schemas.openxmlformats.org/drawingml/2006/main">
            <a:off x="9734550" y="3848100"/>
            <a:ext cx="180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Median ticks are tiny relative to the tails.</a:t>
            </a:r>
          </a:p>
        </p:txBody>
      </p:sp>
      <p:sp>
        <p:nvSpPr>
          <p:cNvPr id="15" name="">
            <a:extLst xmlns:a="http://schemas.openxmlformats.org/drawingml/2006/main">
              <a:ext uri="{FF2B5EF4-FFF2-40B4-BE49-F238E27FC236}">
                <a16:creationId xmlns:a16="http://schemas.microsoft.com/office/drawing/2014/main" id="{DADCE378-6D29-48B3-937D-C3A716B77FC3}"/>
              </a:ext>
            </a:extLst>
          </p:cNvPr>
          <p:cNvSpPr>
            <a:spLocks xmlns:a="http://schemas.openxmlformats.org/drawingml/2006/main" noGrp="1"/>
          </p:cNvSpPr>
          <p:nvPr/>
        </p:nvSpPr>
        <p:spPr>
          <a:xfrm xmlns:a="http://schemas.openxmlformats.org/drawingml/2006/main">
            <a:off x="9505950" y="481012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6" name="">
            <a:extLst xmlns:a="http://schemas.openxmlformats.org/drawingml/2006/main">
              <a:ext uri="{FF2B5EF4-FFF2-40B4-BE49-F238E27FC236}">
                <a16:creationId xmlns:a16="http://schemas.microsoft.com/office/drawing/2014/main" id="{DAA06213-0270-40E4-9C5B-808152483DBD}"/>
              </a:ext>
            </a:extLst>
          </p:cNvPr>
          <p:cNvSpPr>
            <a:spLocks xmlns:a="http://schemas.openxmlformats.org/drawingml/2006/main" noGrp="1"/>
          </p:cNvSpPr>
          <p:nvPr/>
        </p:nvSpPr>
        <p:spPr>
          <a:xfrm xmlns:a="http://schemas.openxmlformats.org/drawingml/2006/main">
            <a:off x="9734550" y="4724400"/>
            <a:ext cx="180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No filter, model, or trade rule is present.</a:t>
            </a:r>
          </a:p>
        </p:txBody>
      </p:sp>
    </p:spTree>
    <p:extLst>
      <p:ext uri="{BB962C8B-B14F-4D97-AF65-F5344CB8AC3E}">
        <p14:creationId xmlns:p14="http://schemas.microsoft.com/office/powerpoint/2010/main" val="3059313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9D816DE-F50E-4A5B-955E-A49CFC43C931}"/>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MICROSCOPE</a:t>
            </a:r>
          </a:p>
        </p:txBody>
      </p:sp>
      <p:sp>
        <p:nvSpPr>
          <p:cNvPr id="2" name="">
            <a:extLst xmlns:a="http://schemas.openxmlformats.org/drawingml/2006/main">
              <a:ext uri="{FF2B5EF4-FFF2-40B4-BE49-F238E27FC236}">
                <a16:creationId xmlns:a16="http://schemas.microsoft.com/office/drawing/2014/main" id="{435421B4-DDEE-4D31-AC04-4F2AD75F2514}"/>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clock is structured—even before prediction</a:t>
            </a:r>
          </a:p>
        </p:txBody>
      </p:sp>
      <p:sp>
        <p:nvSpPr>
          <p:cNvPr id="3" name="">
            <a:extLst xmlns:a="http://schemas.openxmlformats.org/drawingml/2006/main">
              <a:ext uri="{FF2B5EF4-FFF2-40B4-BE49-F238E27FC236}">
                <a16:creationId xmlns:a16="http://schemas.microsoft.com/office/drawing/2014/main" id="{66D5A80B-B157-4EDE-8572-39F77BEDEDC4}"/>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3FAA448E-B15F-4B89-B1CB-F303A16FF501}"/>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2298E2DC-FB90-4A44-AC62-DC38E04E8086}"/>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04</a:t>
            </a:r>
          </a:p>
        </p:txBody>
      </p:sp>
      <p:sp>
        <p:nvSpPr>
          <p:cNvPr id="6" name="">
            <a:extLst xmlns:a="http://schemas.openxmlformats.org/drawingml/2006/main">
              <a:ext uri="{FF2B5EF4-FFF2-40B4-BE49-F238E27FC236}">
                <a16:creationId xmlns:a16="http://schemas.microsoft.com/office/drawing/2014/main" id="{5C29A454-64FD-4ADF-80C8-BB8E060313F0}"/>
              </a:ext>
            </a:extLst>
          </p:cNvPr>
          <p:cNvSpPr>
            <a:spLocks xmlns:a="http://schemas.openxmlformats.org/drawingml/2006/main" noGrp="1"/>
          </p:cNvSpPr>
          <p:nvPr/>
        </p:nvSpPr>
        <p:spPr>
          <a:xfrm xmlns:a="http://schemas.openxmlformats.org/drawingml/2006/main">
            <a:off x="552450" y="1581150"/>
            <a:ext cx="24765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7" name="">
            <a:extLst xmlns:a="http://schemas.openxmlformats.org/drawingml/2006/main">
              <a:ext uri="{FF2B5EF4-FFF2-40B4-BE49-F238E27FC236}">
                <a16:creationId xmlns:a16="http://schemas.microsoft.com/office/drawing/2014/main" id="{C9EA8B0E-EEED-4B85-8672-DAAD22E8331A}"/>
              </a:ext>
            </a:extLst>
          </p:cNvPr>
          <p:cNvSpPr>
            <a:spLocks xmlns:a="http://schemas.openxmlformats.org/drawingml/2006/main" noGrp="1"/>
          </p:cNvSpPr>
          <p:nvPr/>
        </p:nvSpPr>
        <p:spPr>
          <a:xfrm xmlns:a="http://schemas.openxmlformats.org/drawingml/2006/main">
            <a:off x="552450" y="1581150"/>
            <a:ext cx="76200" cy="1200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B9EE35ED-D486-4D0E-B26E-F8E18981C5DD}"/>
              </a:ext>
            </a:extLst>
          </p:cNvPr>
          <p:cNvSpPr>
            <a:spLocks xmlns:a="http://schemas.openxmlformats.org/drawingml/2006/main" noGrp="1"/>
          </p:cNvSpPr>
          <p:nvPr/>
        </p:nvSpPr>
        <p:spPr>
          <a:xfrm xmlns:a="http://schemas.openxmlformats.org/drawingml/2006/main">
            <a:off x="781050" y="1714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75" b="1">
                <a:solidFill>
                  <a:srgbClr val="000000"/>
                </a:solidFill>
              </a:defRPr>
            </a:pPr>
            <a:r>
              <a:rPr sz="2475" b="1">
                <a:solidFill>
                  <a:srgbClr val="000000"/>
                </a:solidFill>
              </a:rPr>
              <a:t>1,499</a:t>
            </a:r>
          </a:p>
        </p:txBody>
      </p:sp>
      <p:sp>
        <p:nvSpPr>
          <p:cNvPr id="9" name="">
            <a:extLst xmlns:a="http://schemas.openxmlformats.org/drawingml/2006/main">
              <a:ext uri="{FF2B5EF4-FFF2-40B4-BE49-F238E27FC236}">
                <a16:creationId xmlns:a16="http://schemas.microsoft.com/office/drawing/2014/main" id="{7AC06A83-458E-405F-9E39-5CFC96D7E3DE}"/>
              </a:ext>
            </a:extLst>
          </p:cNvPr>
          <p:cNvSpPr>
            <a:spLocks xmlns:a="http://schemas.openxmlformats.org/drawingml/2006/main" noGrp="1"/>
          </p:cNvSpPr>
          <p:nvPr/>
        </p:nvSpPr>
        <p:spPr>
          <a:xfrm xmlns:a="http://schemas.openxmlformats.org/drawingml/2006/main">
            <a:off x="781050" y="21812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sessions</a:t>
            </a:r>
          </a:p>
        </p:txBody>
      </p:sp>
      <p:sp>
        <p:nvSpPr>
          <p:cNvPr id="10" name="">
            <a:extLst xmlns:a="http://schemas.openxmlformats.org/drawingml/2006/main">
              <a:ext uri="{FF2B5EF4-FFF2-40B4-BE49-F238E27FC236}">
                <a16:creationId xmlns:a16="http://schemas.microsoft.com/office/drawing/2014/main" id="{1A65E593-392F-4676-92C7-64035C8AD108}"/>
              </a:ext>
            </a:extLst>
          </p:cNvPr>
          <p:cNvSpPr>
            <a:spLocks xmlns:a="http://schemas.openxmlformats.org/drawingml/2006/main" noGrp="1"/>
          </p:cNvSpPr>
          <p:nvPr/>
        </p:nvSpPr>
        <p:spPr>
          <a:xfrm xmlns:a="http://schemas.openxmlformats.org/drawingml/2006/main">
            <a:off x="781050" y="2457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Frozen research window</a:t>
            </a:r>
          </a:p>
        </p:txBody>
      </p:sp>
      <p:sp>
        <p:nvSpPr>
          <p:cNvPr id="11" name="">
            <a:extLst xmlns:a="http://schemas.openxmlformats.org/drawingml/2006/main">
              <a:ext uri="{FF2B5EF4-FFF2-40B4-BE49-F238E27FC236}">
                <a16:creationId xmlns:a16="http://schemas.microsoft.com/office/drawing/2014/main" id="{3441DE26-08D2-4014-B27A-21AAF01A413F}"/>
              </a:ext>
            </a:extLst>
          </p:cNvPr>
          <p:cNvSpPr>
            <a:spLocks xmlns:a="http://schemas.openxmlformats.org/drawingml/2006/main" noGrp="1"/>
          </p:cNvSpPr>
          <p:nvPr/>
        </p:nvSpPr>
        <p:spPr>
          <a:xfrm xmlns:a="http://schemas.openxmlformats.org/drawingml/2006/main">
            <a:off x="3219450" y="1581150"/>
            <a:ext cx="24765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2" name="">
            <a:extLst xmlns:a="http://schemas.openxmlformats.org/drawingml/2006/main">
              <a:ext uri="{FF2B5EF4-FFF2-40B4-BE49-F238E27FC236}">
                <a16:creationId xmlns:a16="http://schemas.microsoft.com/office/drawing/2014/main" id="{D3257D4C-4FA9-4C7B-BCA2-4B7E88515916}"/>
              </a:ext>
            </a:extLst>
          </p:cNvPr>
          <p:cNvSpPr>
            <a:spLocks xmlns:a="http://schemas.openxmlformats.org/drawingml/2006/main" noGrp="1"/>
          </p:cNvSpPr>
          <p:nvPr/>
        </p:nvSpPr>
        <p:spPr>
          <a:xfrm xmlns:a="http://schemas.openxmlformats.org/drawingml/2006/main">
            <a:off x="3219450" y="1581150"/>
            <a:ext cx="76200" cy="1200150"/>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3" name="">
            <a:extLst xmlns:a="http://schemas.openxmlformats.org/drawingml/2006/main">
              <a:ext uri="{FF2B5EF4-FFF2-40B4-BE49-F238E27FC236}">
                <a16:creationId xmlns:a16="http://schemas.microsoft.com/office/drawing/2014/main" id="{56D5D932-AF40-45E9-BA29-8C5FD3E410C0}"/>
              </a:ext>
            </a:extLst>
          </p:cNvPr>
          <p:cNvSpPr>
            <a:spLocks xmlns:a="http://schemas.openxmlformats.org/drawingml/2006/main" noGrp="1"/>
          </p:cNvSpPr>
          <p:nvPr/>
        </p:nvSpPr>
        <p:spPr>
          <a:xfrm xmlns:a="http://schemas.openxmlformats.org/drawingml/2006/main">
            <a:off x="3448050" y="1714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75" b="1">
                <a:solidFill>
                  <a:srgbClr val="000000"/>
                </a:solidFill>
              </a:defRPr>
            </a:pPr>
            <a:r>
              <a:rPr sz="2475" b="1">
                <a:solidFill>
                  <a:srgbClr val="000000"/>
                </a:solidFill>
              </a:rPr>
              <a:t>19,415</a:t>
            </a:r>
          </a:p>
        </p:txBody>
      </p:sp>
      <p:sp>
        <p:nvSpPr>
          <p:cNvPr id="14" name="">
            <a:extLst xmlns:a="http://schemas.openxmlformats.org/drawingml/2006/main">
              <a:ext uri="{FF2B5EF4-FFF2-40B4-BE49-F238E27FC236}">
                <a16:creationId xmlns:a16="http://schemas.microsoft.com/office/drawing/2014/main" id="{0C8B513B-B0F1-43BE-83B1-C5B97E2E9998}"/>
              </a:ext>
            </a:extLst>
          </p:cNvPr>
          <p:cNvSpPr>
            <a:spLocks xmlns:a="http://schemas.openxmlformats.org/drawingml/2006/main" noGrp="1"/>
          </p:cNvSpPr>
          <p:nvPr/>
        </p:nvSpPr>
        <p:spPr>
          <a:xfrm xmlns:a="http://schemas.openxmlformats.org/drawingml/2006/main">
            <a:off x="3448050" y="21812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30-minute bars</a:t>
            </a:r>
          </a:p>
        </p:txBody>
      </p:sp>
      <p:sp>
        <p:nvSpPr>
          <p:cNvPr id="15" name="">
            <a:extLst xmlns:a="http://schemas.openxmlformats.org/drawingml/2006/main">
              <a:ext uri="{FF2B5EF4-FFF2-40B4-BE49-F238E27FC236}">
                <a16:creationId xmlns:a16="http://schemas.microsoft.com/office/drawing/2014/main" id="{937CAA85-DFFC-49E7-AD2D-F017C9E87BAB}"/>
              </a:ext>
            </a:extLst>
          </p:cNvPr>
          <p:cNvSpPr>
            <a:spLocks xmlns:a="http://schemas.openxmlformats.org/drawingml/2006/main" noGrp="1"/>
          </p:cNvSpPr>
          <p:nvPr/>
        </p:nvSpPr>
        <p:spPr>
          <a:xfrm xmlns:a="http://schemas.openxmlformats.org/drawingml/2006/main">
            <a:off x="3448050" y="2457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Regular-session observations</a:t>
            </a:r>
          </a:p>
        </p:txBody>
      </p:sp>
      <p:sp>
        <p:nvSpPr>
          <p:cNvPr id="16" name="">
            <a:extLst xmlns:a="http://schemas.openxmlformats.org/drawingml/2006/main">
              <a:ext uri="{FF2B5EF4-FFF2-40B4-BE49-F238E27FC236}">
                <a16:creationId xmlns:a16="http://schemas.microsoft.com/office/drawing/2014/main" id="{C93D2E4F-D2C1-4329-95C6-BF922ED3A6FD}"/>
              </a:ext>
            </a:extLst>
          </p:cNvPr>
          <p:cNvSpPr>
            <a:spLocks xmlns:a="http://schemas.openxmlformats.org/drawingml/2006/main" noGrp="1"/>
          </p:cNvSpPr>
          <p:nvPr/>
        </p:nvSpPr>
        <p:spPr>
          <a:xfrm xmlns:a="http://schemas.openxmlformats.org/drawingml/2006/main">
            <a:off x="5886450" y="1581150"/>
            <a:ext cx="24765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7" name="">
            <a:extLst xmlns:a="http://schemas.openxmlformats.org/drawingml/2006/main">
              <a:ext uri="{FF2B5EF4-FFF2-40B4-BE49-F238E27FC236}">
                <a16:creationId xmlns:a16="http://schemas.microsoft.com/office/drawing/2014/main" id="{3C5A093B-A2B0-490B-8028-3D2695A0E659}"/>
              </a:ext>
            </a:extLst>
          </p:cNvPr>
          <p:cNvSpPr>
            <a:spLocks xmlns:a="http://schemas.openxmlformats.org/drawingml/2006/main" noGrp="1"/>
          </p:cNvSpPr>
          <p:nvPr/>
        </p:nvSpPr>
        <p:spPr>
          <a:xfrm xmlns:a="http://schemas.openxmlformats.org/drawingml/2006/main">
            <a:off x="5886450" y="1581150"/>
            <a:ext cx="76200" cy="1200150"/>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18" name="">
            <a:extLst xmlns:a="http://schemas.openxmlformats.org/drawingml/2006/main">
              <a:ext uri="{FF2B5EF4-FFF2-40B4-BE49-F238E27FC236}">
                <a16:creationId xmlns:a16="http://schemas.microsoft.com/office/drawing/2014/main" id="{19A25898-D543-4C85-AF1D-AC8C8F85C87F}"/>
              </a:ext>
            </a:extLst>
          </p:cNvPr>
          <p:cNvSpPr>
            <a:spLocks xmlns:a="http://schemas.openxmlformats.org/drawingml/2006/main" noGrp="1"/>
          </p:cNvSpPr>
          <p:nvPr/>
        </p:nvSpPr>
        <p:spPr>
          <a:xfrm xmlns:a="http://schemas.openxmlformats.org/drawingml/2006/main">
            <a:off x="6115050" y="1714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75" b="1">
                <a:solidFill>
                  <a:srgbClr val="000000"/>
                </a:solidFill>
              </a:defRPr>
            </a:pPr>
            <a:r>
              <a:rPr sz="2475" b="1">
                <a:solidFill>
                  <a:srgbClr val="000000"/>
                </a:solidFill>
              </a:rPr>
              <a:t>1,490</a:t>
            </a:r>
          </a:p>
        </p:txBody>
      </p:sp>
      <p:sp>
        <p:nvSpPr>
          <p:cNvPr id="19" name="">
            <a:extLst xmlns:a="http://schemas.openxmlformats.org/drawingml/2006/main">
              <a:ext uri="{FF2B5EF4-FFF2-40B4-BE49-F238E27FC236}">
                <a16:creationId xmlns:a16="http://schemas.microsoft.com/office/drawing/2014/main" id="{63117A71-3FC9-4362-876D-6EFD6F93510A}"/>
              </a:ext>
            </a:extLst>
          </p:cNvPr>
          <p:cNvSpPr>
            <a:spLocks xmlns:a="http://schemas.openxmlformats.org/drawingml/2006/main" noGrp="1"/>
          </p:cNvSpPr>
          <p:nvPr/>
        </p:nvSpPr>
        <p:spPr>
          <a:xfrm xmlns:a="http://schemas.openxmlformats.org/drawingml/2006/main">
            <a:off x="6115050" y="21812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overnight gaps</a:t>
            </a:r>
          </a:p>
        </p:txBody>
      </p:sp>
      <p:sp>
        <p:nvSpPr>
          <p:cNvPr id="20" name="">
            <a:extLst xmlns:a="http://schemas.openxmlformats.org/drawingml/2006/main">
              <a:ext uri="{FF2B5EF4-FFF2-40B4-BE49-F238E27FC236}">
                <a16:creationId xmlns:a16="http://schemas.microsoft.com/office/drawing/2014/main" id="{8329DEBF-1FC3-4F90-B678-3CDED07EB303}"/>
              </a:ext>
            </a:extLst>
          </p:cNvPr>
          <p:cNvSpPr>
            <a:spLocks xmlns:a="http://schemas.openxmlformats.org/drawingml/2006/main" noGrp="1"/>
          </p:cNvSpPr>
          <p:nvPr/>
        </p:nvSpPr>
        <p:spPr>
          <a:xfrm xmlns:a="http://schemas.openxmlformats.org/drawingml/2006/main">
            <a:off x="6115050" y="2457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Valid close-to-open observations</a:t>
            </a:r>
          </a:p>
        </p:txBody>
      </p:sp>
      <p:sp>
        <p:nvSpPr>
          <p:cNvPr id="21" name="">
            <a:extLst xmlns:a="http://schemas.openxmlformats.org/drawingml/2006/main">
              <a:ext uri="{FF2B5EF4-FFF2-40B4-BE49-F238E27FC236}">
                <a16:creationId xmlns:a16="http://schemas.microsoft.com/office/drawing/2014/main" id="{9E3E42B7-4BF8-4452-BC32-717C5293115E}"/>
              </a:ext>
            </a:extLst>
          </p:cNvPr>
          <p:cNvSpPr>
            <a:spLocks xmlns:a="http://schemas.openxmlformats.org/drawingml/2006/main" noGrp="1"/>
          </p:cNvSpPr>
          <p:nvPr/>
        </p:nvSpPr>
        <p:spPr>
          <a:xfrm xmlns:a="http://schemas.openxmlformats.org/drawingml/2006/main">
            <a:off x="8553450" y="1581150"/>
            <a:ext cx="30861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22" name="">
            <a:extLst xmlns:a="http://schemas.openxmlformats.org/drawingml/2006/main">
              <a:ext uri="{FF2B5EF4-FFF2-40B4-BE49-F238E27FC236}">
                <a16:creationId xmlns:a16="http://schemas.microsoft.com/office/drawing/2014/main" id="{ED3A28CB-65BF-44CB-992F-9AFE44F9D611}"/>
              </a:ext>
            </a:extLst>
          </p:cNvPr>
          <p:cNvSpPr>
            <a:spLocks xmlns:a="http://schemas.openxmlformats.org/drawingml/2006/main" noGrp="1"/>
          </p:cNvSpPr>
          <p:nvPr/>
        </p:nvSpPr>
        <p:spPr>
          <a:xfrm xmlns:a="http://schemas.openxmlformats.org/drawingml/2006/main">
            <a:off x="8553450" y="1581150"/>
            <a:ext cx="76200" cy="1200150"/>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23" name="">
            <a:extLst xmlns:a="http://schemas.openxmlformats.org/drawingml/2006/main">
              <a:ext uri="{FF2B5EF4-FFF2-40B4-BE49-F238E27FC236}">
                <a16:creationId xmlns:a16="http://schemas.microsoft.com/office/drawing/2014/main" id="{06D36EC1-0DE8-4E59-97A2-C85242A5C72D}"/>
              </a:ext>
            </a:extLst>
          </p:cNvPr>
          <p:cNvSpPr>
            <a:spLocks xmlns:a="http://schemas.openxmlformats.org/drawingml/2006/main" noGrp="1"/>
          </p:cNvSpPr>
          <p:nvPr/>
        </p:nvSpPr>
        <p:spPr>
          <a:xfrm xmlns:a="http://schemas.openxmlformats.org/drawingml/2006/main">
            <a:off x="8782050" y="1714500"/>
            <a:ext cx="2705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75" b="1">
                <a:solidFill>
                  <a:srgbClr val="000000"/>
                </a:solidFill>
              </a:defRPr>
            </a:pPr>
            <a:r>
              <a:rPr sz="2475" b="1">
                <a:solidFill>
                  <a:srgbClr val="000000"/>
                </a:solidFill>
              </a:rPr>
              <a:t>2024+</a:t>
            </a:r>
          </a:p>
        </p:txBody>
      </p:sp>
      <p:sp>
        <p:nvSpPr>
          <p:cNvPr id="24" name="">
            <a:extLst xmlns:a="http://schemas.openxmlformats.org/drawingml/2006/main">
              <a:ext uri="{FF2B5EF4-FFF2-40B4-BE49-F238E27FC236}">
                <a16:creationId xmlns:a16="http://schemas.microsoft.com/office/drawing/2014/main" id="{CAB81053-40B7-4726-8E75-61172A12EFDC}"/>
              </a:ext>
            </a:extLst>
          </p:cNvPr>
          <p:cNvSpPr>
            <a:spLocks xmlns:a="http://schemas.openxmlformats.org/drawingml/2006/main" noGrp="1"/>
          </p:cNvSpPr>
          <p:nvPr/>
        </p:nvSpPr>
        <p:spPr>
          <a:xfrm xmlns:a="http://schemas.openxmlformats.org/drawingml/2006/main">
            <a:off x="8782050" y="2181225"/>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intraday unread</a:t>
            </a:r>
          </a:p>
        </p:txBody>
      </p:sp>
      <p:sp>
        <p:nvSpPr>
          <p:cNvPr id="25" name="">
            <a:extLst xmlns:a="http://schemas.openxmlformats.org/drawingml/2006/main">
              <a:ext uri="{FF2B5EF4-FFF2-40B4-BE49-F238E27FC236}">
                <a16:creationId xmlns:a16="http://schemas.microsoft.com/office/drawing/2014/main" id="{7B5B6707-B299-46C9-A731-96629FA036E3}"/>
              </a:ext>
            </a:extLst>
          </p:cNvPr>
          <p:cNvSpPr>
            <a:spLocks xmlns:a="http://schemas.openxmlformats.org/drawingml/2006/main" noGrp="1"/>
          </p:cNvSpPr>
          <p:nvPr/>
        </p:nvSpPr>
        <p:spPr>
          <a:xfrm xmlns:a="http://schemas.openxmlformats.org/drawingml/2006/main">
            <a:off x="8782050" y="2457450"/>
            <a:ext cx="2705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Daily confirmation is documented later</a:t>
            </a:r>
          </a:p>
        </p:txBody>
      </p:sp>
      <p:sp>
        <p:nvSpPr>
          <p:cNvPr id="26" name="">
            <a:extLst xmlns:a="http://schemas.openxmlformats.org/drawingml/2006/main">
              <a:ext uri="{FF2B5EF4-FFF2-40B4-BE49-F238E27FC236}">
                <a16:creationId xmlns:a16="http://schemas.microsoft.com/office/drawing/2014/main" id="{F827D524-1D58-4092-9E97-0CB8090A7DDE}"/>
              </a:ext>
            </a:extLst>
          </p:cNvPr>
          <p:cNvSpPr>
            <a:spLocks xmlns:a="http://schemas.openxmlformats.org/drawingml/2006/main" noGrp="1"/>
          </p:cNvSpPr>
          <p:nvPr/>
        </p:nvSpPr>
        <p:spPr>
          <a:xfrm xmlns:a="http://schemas.openxmlformats.org/drawingml/2006/main">
            <a:off x="552450" y="3143250"/>
            <a:ext cx="11087100" cy="24003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27" name="">
            <a:extLst xmlns:a="http://schemas.openxmlformats.org/drawingml/2006/main">
              <a:ext uri="{FF2B5EF4-FFF2-40B4-BE49-F238E27FC236}">
                <a16:creationId xmlns:a16="http://schemas.microsoft.com/office/drawing/2014/main" id="{915FA641-D42A-4CA9-8B4D-6A558F6C1175}"/>
              </a:ext>
            </a:extLst>
          </p:cNvPr>
          <p:cNvSpPr>
            <a:spLocks xmlns:a="http://schemas.openxmlformats.org/drawingml/2006/main" noGrp="1"/>
          </p:cNvSpPr>
          <p:nvPr/>
        </p:nvSpPr>
        <p:spPr>
          <a:xfrm xmlns:a="http://schemas.openxmlformats.org/drawingml/2006/main">
            <a:off x="819150" y="34290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Visible pattern</a:t>
            </a:r>
          </a:p>
        </p:txBody>
      </p:sp>
      <p:sp>
        <p:nvSpPr>
          <p:cNvPr id="28" name="">
            <a:extLst xmlns:a="http://schemas.openxmlformats.org/drawingml/2006/main">
              <a:ext uri="{FF2B5EF4-FFF2-40B4-BE49-F238E27FC236}">
                <a16:creationId xmlns:a16="http://schemas.microsoft.com/office/drawing/2014/main" id="{F74B790E-F575-4895-9A38-5FD0EC4B94AE}"/>
              </a:ext>
            </a:extLst>
          </p:cNvPr>
          <p:cNvSpPr>
            <a:spLocks xmlns:a="http://schemas.openxmlformats.org/drawingml/2006/main" noGrp="1"/>
          </p:cNvSpPr>
          <p:nvPr/>
        </p:nvSpPr>
        <p:spPr>
          <a:xfrm xmlns:a="http://schemas.openxmlformats.org/drawingml/2006/main">
            <a:off x="838200" y="4048125"/>
            <a:ext cx="85725" cy="85725"/>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29" name="">
            <a:extLst xmlns:a="http://schemas.openxmlformats.org/drawingml/2006/main">
              <a:ext uri="{FF2B5EF4-FFF2-40B4-BE49-F238E27FC236}">
                <a16:creationId xmlns:a16="http://schemas.microsoft.com/office/drawing/2014/main" id="{3E58B088-D7DE-4AF9-ABCF-B6F63FF716BB}"/>
              </a:ext>
            </a:extLst>
          </p:cNvPr>
          <p:cNvSpPr>
            <a:spLocks xmlns:a="http://schemas.openxmlformats.org/drawingml/2006/main" noGrp="1"/>
          </p:cNvSpPr>
          <p:nvPr/>
        </p:nvSpPr>
        <p:spPr>
          <a:xfrm xmlns:a="http://schemas.openxmlformats.org/drawingml/2006/main">
            <a:off x="1066800" y="3962400"/>
            <a:ext cx="4533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4364B"/>
                </a:solidFill>
              </a:defRPr>
            </a:pPr>
            <a:r>
              <a:rPr sz="1650" b="0">
                <a:solidFill>
                  <a:srgbClr val="24364B"/>
                </a:solidFill>
              </a:rPr>
              <a:t>The overnight gap has the broadest return distribution.</a:t>
            </a:r>
          </a:p>
        </p:txBody>
      </p:sp>
      <p:sp>
        <p:nvSpPr>
          <p:cNvPr id="30" name="">
            <a:extLst xmlns:a="http://schemas.openxmlformats.org/drawingml/2006/main">
              <a:ext uri="{FF2B5EF4-FFF2-40B4-BE49-F238E27FC236}">
                <a16:creationId xmlns:a16="http://schemas.microsoft.com/office/drawing/2014/main" id="{FE0E6D4B-4897-4008-B320-E626074A1922}"/>
              </a:ext>
            </a:extLst>
          </p:cNvPr>
          <p:cNvSpPr>
            <a:spLocks xmlns:a="http://schemas.openxmlformats.org/drawingml/2006/main" noGrp="1"/>
          </p:cNvSpPr>
          <p:nvPr/>
        </p:nvSpPr>
        <p:spPr>
          <a:xfrm xmlns:a="http://schemas.openxmlformats.org/drawingml/2006/main">
            <a:off x="838200" y="47910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1" name="">
            <a:extLst xmlns:a="http://schemas.openxmlformats.org/drawingml/2006/main">
              <a:ext uri="{FF2B5EF4-FFF2-40B4-BE49-F238E27FC236}">
                <a16:creationId xmlns:a16="http://schemas.microsoft.com/office/drawing/2014/main" id="{A3DD1025-4FE4-4ADB-AA94-5842525F4889}"/>
              </a:ext>
            </a:extLst>
          </p:cNvPr>
          <p:cNvSpPr>
            <a:spLocks xmlns:a="http://schemas.openxmlformats.org/drawingml/2006/main" noGrp="1"/>
          </p:cNvSpPr>
          <p:nvPr/>
        </p:nvSpPr>
        <p:spPr>
          <a:xfrm xmlns:a="http://schemas.openxmlformats.org/drawingml/2006/main">
            <a:off x="1066800" y="4705350"/>
            <a:ext cx="45339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4364B"/>
                </a:solidFill>
              </a:defRPr>
            </a:pPr>
            <a:r>
              <a:rPr sz="1650" b="0">
                <a:solidFill>
                  <a:srgbClr val="24364B"/>
                </a:solidFill>
              </a:rPr>
              <a:t>The first 30 minutes are the widest regular-session bar; midday compresses; the close widens again.</a:t>
            </a:r>
          </a:p>
        </p:txBody>
      </p:sp>
      <p:sp>
        <p:nvSpPr>
          <p:cNvPr id="32" name="">
            <a:extLst xmlns:a="http://schemas.openxmlformats.org/drawingml/2006/main">
              <a:ext uri="{FF2B5EF4-FFF2-40B4-BE49-F238E27FC236}">
                <a16:creationId xmlns:a16="http://schemas.microsoft.com/office/drawing/2014/main" id="{4F862557-E41E-433E-9C64-B580F32AB234}"/>
              </a:ext>
            </a:extLst>
          </p:cNvPr>
          <p:cNvSpPr>
            <a:spLocks xmlns:a="http://schemas.openxmlformats.org/drawingml/2006/main" noGrp="1"/>
          </p:cNvSpPr>
          <p:nvPr/>
        </p:nvSpPr>
        <p:spPr>
          <a:xfrm xmlns:a="http://schemas.openxmlformats.org/drawingml/2006/main">
            <a:off x="6400800" y="34290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What remains unknown</a:t>
            </a:r>
          </a:p>
        </p:txBody>
      </p:sp>
      <p:sp>
        <p:nvSpPr>
          <p:cNvPr id="33" name="">
            <a:extLst xmlns:a="http://schemas.openxmlformats.org/drawingml/2006/main">
              <a:ext uri="{FF2B5EF4-FFF2-40B4-BE49-F238E27FC236}">
                <a16:creationId xmlns:a16="http://schemas.microsoft.com/office/drawing/2014/main" id="{EAC63571-DF4F-4233-91C3-35F5901D2291}"/>
              </a:ext>
            </a:extLst>
          </p:cNvPr>
          <p:cNvSpPr>
            <a:spLocks xmlns:a="http://schemas.openxmlformats.org/drawingml/2006/main" noGrp="1"/>
          </p:cNvSpPr>
          <p:nvPr/>
        </p:nvSpPr>
        <p:spPr>
          <a:xfrm xmlns:a="http://schemas.openxmlformats.org/drawingml/2006/main">
            <a:off x="6419850" y="404812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34" name="">
            <a:extLst xmlns:a="http://schemas.openxmlformats.org/drawingml/2006/main">
              <a:ext uri="{FF2B5EF4-FFF2-40B4-BE49-F238E27FC236}">
                <a16:creationId xmlns:a16="http://schemas.microsoft.com/office/drawing/2014/main" id="{C52058B1-0628-416C-95B8-CF2DCAFE3E5C}"/>
              </a:ext>
            </a:extLst>
          </p:cNvPr>
          <p:cNvSpPr>
            <a:spLocks xmlns:a="http://schemas.openxmlformats.org/drawingml/2006/main" noGrp="1"/>
          </p:cNvSpPr>
          <p:nvPr/>
        </p:nvSpPr>
        <p:spPr>
          <a:xfrm xmlns:a="http://schemas.openxmlformats.org/drawingml/2006/main">
            <a:off x="6648450" y="39624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4364B"/>
                </a:solidFill>
              </a:defRPr>
            </a:pPr>
            <a:r>
              <a:rPr sz="1650" b="0">
                <a:solidFill>
                  <a:srgbClr val="24364B"/>
                </a:solidFill>
              </a:rPr>
              <a:t>Whether prior information predicts which tail will occur.</a:t>
            </a:r>
          </a:p>
        </p:txBody>
      </p:sp>
      <p:sp>
        <p:nvSpPr>
          <p:cNvPr id="35" name="">
            <a:extLst xmlns:a="http://schemas.openxmlformats.org/drawingml/2006/main">
              <a:ext uri="{FF2B5EF4-FFF2-40B4-BE49-F238E27FC236}">
                <a16:creationId xmlns:a16="http://schemas.microsoft.com/office/drawing/2014/main" id="{DD7E6829-6AA5-4E9C-AE41-C14A51A2789F}"/>
              </a:ext>
            </a:extLst>
          </p:cNvPr>
          <p:cNvSpPr>
            <a:spLocks xmlns:a="http://schemas.openxmlformats.org/drawingml/2006/main" noGrp="1"/>
          </p:cNvSpPr>
          <p:nvPr/>
        </p:nvSpPr>
        <p:spPr>
          <a:xfrm xmlns:a="http://schemas.openxmlformats.org/drawingml/2006/main">
            <a:off x="6419850" y="47910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36" name="">
            <a:extLst xmlns:a="http://schemas.openxmlformats.org/drawingml/2006/main">
              <a:ext uri="{FF2B5EF4-FFF2-40B4-BE49-F238E27FC236}">
                <a16:creationId xmlns:a16="http://schemas.microsoft.com/office/drawing/2014/main" id="{469412BC-6FDA-4D65-9CF4-B935F56F45C0}"/>
              </a:ext>
            </a:extLst>
          </p:cNvPr>
          <p:cNvSpPr>
            <a:spLocks xmlns:a="http://schemas.openxmlformats.org/drawingml/2006/main" noGrp="1"/>
          </p:cNvSpPr>
          <p:nvPr/>
        </p:nvSpPr>
        <p:spPr>
          <a:xfrm xmlns:a="http://schemas.openxmlformats.org/drawingml/2006/main">
            <a:off x="6648450" y="4705350"/>
            <a:ext cx="4495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4364B"/>
                </a:solidFill>
              </a:defRPr>
            </a:pPr>
            <a:r>
              <a:rPr sz="1650" b="0">
                <a:solidFill>
                  <a:srgbClr val="24364B"/>
                </a:solidFill>
              </a:rPr>
              <a:t>Whether any conditional difference survives costs and untouched time.</a:t>
            </a:r>
          </a:p>
        </p:txBody>
      </p:sp>
    </p:spTree>
    <p:extLst>
      <p:ext uri="{BB962C8B-B14F-4D97-AF65-F5344CB8AC3E}">
        <p14:creationId xmlns:p14="http://schemas.microsoft.com/office/powerpoint/2010/main" val="1496138342"/>
      </p:ext>
    </p:extLst>
  </p:cSld>
</p:sld>
</file>

<file path=ppt/slides/slide5.xml><?xml version="1.0" encoding="utf-8"?>
<p:sld xmlns:p="http://schemas.openxmlformats.org/presentationml/2006/main">
  <p:cSld>
    <p:bg>
      <p:bgPr>
        <a:solidFill xmlns:a="http://schemas.openxmlformats.org/drawingml/2006/main">
          <a:srgbClr val="24364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2FB753-1BE3-4479-96E4-4BC4F10D6011}"/>
              </a:ext>
            </a:extLst>
          </p:cNvPr>
          <p:cNvSpPr>
            <a:spLocks xmlns:a="http://schemas.openxmlformats.org/drawingml/2006/main" noGrp="1"/>
          </p:cNvSpPr>
          <p:nvPr/>
        </p:nvSpPr>
        <p:spPr>
          <a:xfrm xmlns:a="http://schemas.openxmlformats.org/drawingml/2006/main">
            <a:off x="685800" y="8953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D0EDFA"/>
                </a:solidFill>
              </a:defRPr>
            </a:pPr>
            <a:r>
              <a:rPr sz="1275" b="1">
                <a:solidFill>
                  <a:srgbClr val="D0EDFA"/>
                </a:solidFill>
              </a:rPr>
              <a:t>SECOND MICROSCOPE</a:t>
            </a:r>
          </a:p>
        </p:txBody>
      </p:sp>
      <p:sp>
        <p:nvSpPr>
          <p:cNvPr id="2" name="">
            <a:extLst xmlns:a="http://schemas.openxmlformats.org/drawingml/2006/main">
              <a:ext uri="{FF2B5EF4-FFF2-40B4-BE49-F238E27FC236}">
                <a16:creationId xmlns:a16="http://schemas.microsoft.com/office/drawing/2014/main" id="{0BA57A40-2C7F-42EA-A347-F51047C9A3E2}"/>
              </a:ext>
            </a:extLst>
          </p:cNvPr>
          <p:cNvSpPr>
            <a:spLocks xmlns:a="http://schemas.openxmlformats.org/drawingml/2006/main" noGrp="1"/>
          </p:cNvSpPr>
          <p:nvPr/>
        </p:nvSpPr>
        <p:spPr>
          <a:xfrm xmlns:a="http://schemas.openxmlformats.org/drawingml/2006/main">
            <a:off x="685800" y="1619250"/>
            <a:ext cx="8572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FFFFFF"/>
                </a:solidFill>
              </a:defRPr>
            </a:pPr>
            <a:r>
              <a:rPr sz="4800" b="1">
                <a:solidFill>
                  <a:srgbClr val="FFFFFF"/>
                </a:solidFill>
              </a:rPr>
              <a:t>Move up one level:</a:t>
            </a:r>
          </a:p>
          <a:p xmlns:a="http://schemas.openxmlformats.org/drawingml/2006/main">
            <a:pPr algn="l">
              <a:defRPr sz="4800" b="1">
                <a:solidFill>
                  <a:srgbClr val="FFFFFF"/>
                </a:solidFill>
              </a:defRPr>
            </a:pPr>
            <a:r>
              <a:rPr sz="4800" b="1">
                <a:solidFill>
                  <a:srgbClr val="FFFFFF"/>
                </a:solidFill>
              </a:rPr>
              <a:t>daily return geometry</a:t>
            </a:r>
          </a:p>
        </p:txBody>
      </p:sp>
      <p:sp>
        <p:nvSpPr>
          <p:cNvPr id="3" name="">
            <a:extLst xmlns:a="http://schemas.openxmlformats.org/drawingml/2006/main">
              <a:ext uri="{FF2B5EF4-FFF2-40B4-BE49-F238E27FC236}">
                <a16:creationId xmlns:a16="http://schemas.microsoft.com/office/drawing/2014/main" id="{A3F69395-86FB-4C69-AB30-19B731F4ABA3}"/>
              </a:ext>
            </a:extLst>
          </p:cNvPr>
          <p:cNvSpPr>
            <a:spLocks xmlns:a="http://schemas.openxmlformats.org/drawingml/2006/main" noGrp="1"/>
          </p:cNvSpPr>
          <p:nvPr/>
        </p:nvSpPr>
        <p:spPr>
          <a:xfrm xmlns:a="http://schemas.openxmlformats.org/drawingml/2006/main">
            <a:off x="723900" y="3886200"/>
            <a:ext cx="9906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0">
                <a:solidFill>
                  <a:srgbClr val="D0EDFA"/>
                </a:solidFill>
              </a:defRPr>
            </a:pPr>
            <a:r>
              <a:rPr sz="2100" b="0">
                <a:solidFill>
                  <a:srgbClr val="D0EDFA"/>
                </a:solidFill>
              </a:rPr>
              <a:t>The same frozen 2018–2023 NVDA history is viewed through prior-versus-forward cumulative log returns, then split by path efficiency, volatility, direction, and prior-return sign.</a:t>
            </a:r>
          </a:p>
        </p:txBody>
      </p:sp>
      <p:sp>
        <p:nvSpPr>
          <p:cNvPr id="4" name="">
            <a:extLst xmlns:a="http://schemas.openxmlformats.org/drawingml/2006/main">
              <a:ext uri="{FF2B5EF4-FFF2-40B4-BE49-F238E27FC236}">
                <a16:creationId xmlns:a16="http://schemas.microsoft.com/office/drawing/2014/main" id="{E68DAFA9-6BE9-4503-91B3-909A002BD681}"/>
              </a:ext>
            </a:extLst>
          </p:cNvPr>
          <p:cNvSpPr>
            <a:spLocks xmlns:a="http://schemas.openxmlformats.org/drawingml/2006/main" noGrp="1"/>
          </p:cNvSpPr>
          <p:nvPr/>
        </p:nvSpPr>
        <p:spPr>
          <a:xfrm xmlns:a="http://schemas.openxmlformats.org/drawingml/2006/main">
            <a:off x="723900" y="573405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defRPr>
            </a:pPr>
            <a:r>
              <a:rPr sz="1500" b="1">
                <a:solidFill>
                  <a:srgbClr val="FFFFFF"/>
                </a:solidFill>
              </a:rPr>
              <a:t>Fixed horizons: 1, 2, 3, 4, 5, 10, 15, 20, 25 sessions</a:t>
            </a:r>
          </a:p>
        </p:txBody>
      </p:sp>
      <p:sp>
        <p:nvSpPr>
          <p:cNvPr id="5" name="">
            <a:extLst xmlns:a="http://schemas.openxmlformats.org/drawingml/2006/main">
              <a:ext uri="{FF2B5EF4-FFF2-40B4-BE49-F238E27FC236}">
                <a16:creationId xmlns:a16="http://schemas.microsoft.com/office/drawing/2014/main" id="{27605807-997C-4A81-B226-CC8EAB7511AC}"/>
              </a:ext>
            </a:extLst>
          </p:cNvPr>
          <p:cNvSpPr>
            <a:spLocks xmlns:a="http://schemas.openxmlformats.org/drawingml/2006/main" noGrp="1"/>
          </p:cNvSpPr>
          <p:nvPr/>
        </p:nvSpPr>
        <p:spPr>
          <a:xfrm xmlns:a="http://schemas.openxmlformats.org/drawingml/2006/main">
            <a:off x="10801350" y="64008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D0EDFA"/>
                </a:solidFill>
              </a:defRPr>
            </a:pPr>
            <a:r>
              <a:rPr sz="900" b="0">
                <a:solidFill>
                  <a:srgbClr val="D0EDFA"/>
                </a:solidFill>
              </a:rPr>
              <a:t>05</a:t>
            </a:r>
          </a:p>
        </p:txBody>
      </p:sp>
    </p:spTree>
    <p:extLst>
      <p:ext uri="{BB962C8B-B14F-4D97-AF65-F5344CB8AC3E}">
        <p14:creationId xmlns:p14="http://schemas.microsoft.com/office/powerpoint/2010/main" val="12832860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446A2B0-F9F1-4E1A-B621-50E9D0F82259}"/>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MICROSCOPE</a:t>
            </a:r>
          </a:p>
        </p:txBody>
      </p:sp>
      <p:sp>
        <p:nvSpPr>
          <p:cNvPr id="2" name="">
            <a:extLst xmlns:a="http://schemas.openxmlformats.org/drawingml/2006/main">
              <a:ext uri="{FF2B5EF4-FFF2-40B4-BE49-F238E27FC236}">
                <a16:creationId xmlns:a16="http://schemas.microsoft.com/office/drawing/2014/main" id="{938DC3EB-7DB8-46B5-9CAF-80AA282F11D7}"/>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Adjacent daily returns mostly form a cloud</a:t>
            </a:r>
          </a:p>
        </p:txBody>
      </p:sp>
      <p:sp>
        <p:nvSpPr>
          <p:cNvPr id="3" name="">
            <a:extLst xmlns:a="http://schemas.openxmlformats.org/drawingml/2006/main">
              <a:ext uri="{FF2B5EF4-FFF2-40B4-BE49-F238E27FC236}">
                <a16:creationId xmlns:a16="http://schemas.microsoft.com/office/drawing/2014/main" id="{5AB289DE-967C-4253-9E20-8C34A03D3ADF}"/>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A7C3AC64-EC20-4770-9777-6F13F45B392B}"/>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665EDA8F-4556-48B3-8576-B62B8362E202}"/>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06</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8d2f39eb0434f89"/>
          <a:stretch xmlns:a="http://schemas.openxmlformats.org/drawingml/2006/main"/>
        </p:blipFill>
        <p:spPr>
          <a:xfrm xmlns:a="http://schemas.openxmlformats.org/drawingml/2006/main">
            <a:off x="1394732" y="1390650"/>
            <a:ext cx="6221186" cy="4838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650E509-8D49-49F0-B48E-31208436CFC0}"/>
              </a:ext>
            </a:extLst>
          </p:cNvPr>
          <p:cNvSpPr>
            <a:spLocks xmlns:a="http://schemas.openxmlformats.org/drawingml/2006/main" noGrp="1"/>
          </p:cNvSpPr>
          <p:nvPr/>
        </p:nvSpPr>
        <p:spPr>
          <a:xfrm xmlns:a="http://schemas.openxmlformats.org/drawingml/2006/main">
            <a:off x="8782050" y="1504950"/>
            <a:ext cx="2857500" cy="44767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BD7E942D-D723-4618-A574-32D2D80E9C18}"/>
              </a:ext>
            </a:extLst>
          </p:cNvPr>
          <p:cNvSpPr>
            <a:spLocks xmlns:a="http://schemas.openxmlformats.org/drawingml/2006/main" noGrp="1"/>
          </p:cNvSpPr>
          <p:nvPr/>
        </p:nvSpPr>
        <p:spPr>
          <a:xfrm xmlns:a="http://schemas.openxmlformats.org/drawingml/2006/main">
            <a:off x="9029700" y="1771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First reading</a:t>
            </a:r>
          </a:p>
        </p:txBody>
      </p:sp>
      <p:sp>
        <p:nvSpPr>
          <p:cNvPr id="9" name="">
            <a:extLst xmlns:a="http://schemas.openxmlformats.org/drawingml/2006/main">
              <a:ext uri="{FF2B5EF4-FFF2-40B4-BE49-F238E27FC236}">
                <a16:creationId xmlns:a16="http://schemas.microsoft.com/office/drawing/2014/main" id="{69469660-628A-44B4-A9B5-62E27EC96BC6}"/>
              </a:ext>
            </a:extLst>
          </p:cNvPr>
          <p:cNvSpPr>
            <a:spLocks xmlns:a="http://schemas.openxmlformats.org/drawingml/2006/main" noGrp="1"/>
          </p:cNvSpPr>
          <p:nvPr/>
        </p:nvSpPr>
        <p:spPr>
          <a:xfrm xmlns:a="http://schemas.openxmlformats.org/drawingml/2006/main">
            <a:off x="9029700" y="23241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B44738"/>
                </a:solidFill>
              </a:defRPr>
            </a:pPr>
            <a:r>
              <a:rPr sz="3300" b="1">
                <a:solidFill>
                  <a:srgbClr val="B44738"/>
                </a:solidFill>
              </a:rPr>
              <a:t>−0.075</a:t>
            </a:r>
          </a:p>
        </p:txBody>
      </p:sp>
      <p:sp>
        <p:nvSpPr>
          <p:cNvPr id="10" name="">
            <a:extLst xmlns:a="http://schemas.openxmlformats.org/drawingml/2006/main">
              <a:ext uri="{FF2B5EF4-FFF2-40B4-BE49-F238E27FC236}">
                <a16:creationId xmlns:a16="http://schemas.microsoft.com/office/drawing/2014/main" id="{89D9539A-3B6F-46ED-BE0C-D2F9C5D8935C}"/>
              </a:ext>
            </a:extLst>
          </p:cNvPr>
          <p:cNvSpPr>
            <a:spLocks xmlns:a="http://schemas.openxmlformats.org/drawingml/2006/main" noGrp="1"/>
          </p:cNvSpPr>
          <p:nvPr/>
        </p:nvSpPr>
        <p:spPr>
          <a:xfrm xmlns:a="http://schemas.openxmlformats.org/drawingml/2006/main">
            <a:off x="9029700" y="29146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4364B"/>
                </a:solidFill>
              </a:defRPr>
            </a:pPr>
            <a:r>
              <a:rPr sz="1275" b="1">
                <a:solidFill>
                  <a:srgbClr val="24364B"/>
                </a:solidFill>
              </a:rPr>
              <a:t>unfiltered 1×1 Pearson r</a:t>
            </a:r>
          </a:p>
        </p:txBody>
      </p:sp>
      <p:sp>
        <p:nvSpPr>
          <p:cNvPr id="11" name="">
            <a:extLst xmlns:a="http://schemas.openxmlformats.org/drawingml/2006/main">
              <a:ext uri="{FF2B5EF4-FFF2-40B4-BE49-F238E27FC236}">
                <a16:creationId xmlns:a16="http://schemas.microsoft.com/office/drawing/2014/main" id="{DF23217E-C33E-4B65-A3AC-35D3377375C9}"/>
              </a:ext>
            </a:extLst>
          </p:cNvPr>
          <p:cNvSpPr>
            <a:spLocks xmlns:a="http://schemas.openxmlformats.org/drawingml/2006/main" noGrp="1"/>
          </p:cNvSpPr>
          <p:nvPr/>
        </p:nvSpPr>
        <p:spPr>
          <a:xfrm xmlns:a="http://schemas.openxmlformats.org/drawingml/2006/main">
            <a:off x="9029700" y="36480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2" name="">
            <a:extLst xmlns:a="http://schemas.openxmlformats.org/drawingml/2006/main">
              <a:ext uri="{FF2B5EF4-FFF2-40B4-BE49-F238E27FC236}">
                <a16:creationId xmlns:a16="http://schemas.microsoft.com/office/drawing/2014/main" id="{42ED6CC7-E834-4F59-8204-6516FA81DF43}"/>
              </a:ext>
            </a:extLst>
          </p:cNvPr>
          <p:cNvSpPr>
            <a:spLocks xmlns:a="http://schemas.openxmlformats.org/drawingml/2006/main" noGrp="1"/>
          </p:cNvSpPr>
          <p:nvPr/>
        </p:nvSpPr>
        <p:spPr>
          <a:xfrm xmlns:a="http://schemas.openxmlformats.org/drawingml/2006/main">
            <a:off x="9258300" y="35623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A slight adjacent-day reversal tilt.</a:t>
            </a:r>
          </a:p>
        </p:txBody>
      </p:sp>
      <p:sp>
        <p:nvSpPr>
          <p:cNvPr id="13" name="">
            <a:extLst xmlns:a="http://schemas.openxmlformats.org/drawingml/2006/main">
              <a:ext uri="{FF2B5EF4-FFF2-40B4-BE49-F238E27FC236}">
                <a16:creationId xmlns:a16="http://schemas.microsoft.com/office/drawing/2014/main" id="{10B8B8A8-AA85-4957-84AF-57DA1969AE7C}"/>
              </a:ext>
            </a:extLst>
          </p:cNvPr>
          <p:cNvSpPr>
            <a:spLocks xmlns:a="http://schemas.openxmlformats.org/drawingml/2006/main" noGrp="1"/>
          </p:cNvSpPr>
          <p:nvPr/>
        </p:nvSpPr>
        <p:spPr>
          <a:xfrm xmlns:a="http://schemas.openxmlformats.org/drawingml/2006/main">
            <a:off x="9029700" y="439102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E7462936-D933-4905-8E77-A8B3BA816F92}"/>
              </a:ext>
            </a:extLst>
          </p:cNvPr>
          <p:cNvSpPr>
            <a:spLocks xmlns:a="http://schemas.openxmlformats.org/drawingml/2006/main" noGrp="1"/>
          </p:cNvSpPr>
          <p:nvPr/>
        </p:nvSpPr>
        <p:spPr>
          <a:xfrm xmlns:a="http://schemas.openxmlformats.org/drawingml/2006/main">
            <a:off x="9258300" y="430530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Large tails exist in every directional quadrant.</a:t>
            </a:r>
          </a:p>
        </p:txBody>
      </p:sp>
      <p:sp>
        <p:nvSpPr>
          <p:cNvPr id="15" name="">
            <a:extLst xmlns:a="http://schemas.openxmlformats.org/drawingml/2006/main">
              <a:ext uri="{FF2B5EF4-FFF2-40B4-BE49-F238E27FC236}">
                <a16:creationId xmlns:a16="http://schemas.microsoft.com/office/drawing/2014/main" id="{6A61740A-01B7-4683-A74F-27516A5F5535}"/>
              </a:ext>
            </a:extLst>
          </p:cNvPr>
          <p:cNvSpPr>
            <a:spLocks xmlns:a="http://schemas.openxmlformats.org/drawingml/2006/main" noGrp="1"/>
          </p:cNvSpPr>
          <p:nvPr/>
        </p:nvSpPr>
        <p:spPr>
          <a:xfrm xmlns:a="http://schemas.openxmlformats.org/drawingml/2006/main">
            <a:off x="9029700" y="526732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6" name="">
            <a:extLst xmlns:a="http://schemas.openxmlformats.org/drawingml/2006/main">
              <a:ext uri="{FF2B5EF4-FFF2-40B4-BE49-F238E27FC236}">
                <a16:creationId xmlns:a16="http://schemas.microsoft.com/office/drawing/2014/main" id="{CE006030-F5CA-4779-9DD2-920C658AB974}"/>
              </a:ext>
            </a:extLst>
          </p:cNvPr>
          <p:cNvSpPr>
            <a:spLocks xmlns:a="http://schemas.openxmlformats.org/drawingml/2006/main" noGrp="1"/>
          </p:cNvSpPr>
          <p:nvPr/>
        </p:nvSpPr>
        <p:spPr>
          <a:xfrm xmlns:a="http://schemas.openxmlformats.org/drawingml/2006/main">
            <a:off x="9258300" y="518160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The cloud alone is not a rule.</a:t>
            </a:r>
          </a:p>
        </p:txBody>
      </p:sp>
    </p:spTree>
    <p:extLst>
      <p:ext uri="{BB962C8B-B14F-4D97-AF65-F5344CB8AC3E}">
        <p14:creationId xmlns:p14="http://schemas.microsoft.com/office/powerpoint/2010/main" val="8685259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87882AE-FB84-4F16-A224-435423A0F1D7}"/>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MICROSCOPE</a:t>
            </a:r>
          </a:p>
        </p:txBody>
      </p:sp>
      <p:sp>
        <p:nvSpPr>
          <p:cNvPr id="2" name="">
            <a:extLst xmlns:a="http://schemas.openxmlformats.org/drawingml/2006/main">
              <a:ext uri="{FF2B5EF4-FFF2-40B4-BE49-F238E27FC236}">
                <a16:creationId xmlns:a16="http://schemas.microsoft.com/office/drawing/2014/main" id="{8D8779FF-76B5-4DC7-9BE8-84579E0B8EB0}"/>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unfiltered surface is weak and mixed</a:t>
            </a:r>
          </a:p>
        </p:txBody>
      </p:sp>
      <p:sp>
        <p:nvSpPr>
          <p:cNvPr id="3" name="">
            <a:extLst xmlns:a="http://schemas.openxmlformats.org/drawingml/2006/main">
              <a:ext uri="{FF2B5EF4-FFF2-40B4-BE49-F238E27FC236}">
                <a16:creationId xmlns:a16="http://schemas.microsoft.com/office/drawing/2014/main" id="{D2A8189E-BA35-4CDA-B283-11FB56F60874}"/>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61FB5C00-F6F0-4C4A-B7E5-632E75BBBC71}"/>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83BA15FE-EFD5-40AE-A25F-98DDA8B49958}"/>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07</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d3634bba6be4d9d"/>
          <a:stretch xmlns:a="http://schemas.openxmlformats.org/drawingml/2006/main"/>
        </p:blipFill>
        <p:spPr>
          <a:xfrm xmlns:a="http://schemas.openxmlformats.org/drawingml/2006/main">
            <a:off x="1084847" y="1371600"/>
            <a:ext cx="6136105" cy="4857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F880E43-9A92-4628-8C7E-E015D28F7B3F}"/>
              </a:ext>
            </a:extLst>
          </p:cNvPr>
          <p:cNvSpPr>
            <a:spLocks xmlns:a="http://schemas.openxmlformats.org/drawingml/2006/main" noGrp="1"/>
          </p:cNvSpPr>
          <p:nvPr/>
        </p:nvSpPr>
        <p:spPr>
          <a:xfrm xmlns:a="http://schemas.openxmlformats.org/drawingml/2006/main">
            <a:off x="8058150" y="1581150"/>
            <a:ext cx="3581400" cy="41529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6958CD67-7F54-4B5D-9EB6-18C1C8C70E92}"/>
              </a:ext>
            </a:extLst>
          </p:cNvPr>
          <p:cNvSpPr>
            <a:spLocks xmlns:a="http://schemas.openxmlformats.org/drawingml/2006/main" noGrp="1"/>
          </p:cNvSpPr>
          <p:nvPr/>
        </p:nvSpPr>
        <p:spPr>
          <a:xfrm xmlns:a="http://schemas.openxmlformats.org/drawingml/2006/main">
            <a:off x="8324850" y="184785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Geometry, not a winner cell</a:t>
            </a:r>
          </a:p>
        </p:txBody>
      </p:sp>
      <p:sp>
        <p:nvSpPr>
          <p:cNvPr id="9" name="">
            <a:extLst xmlns:a="http://schemas.openxmlformats.org/drawingml/2006/main">
              <a:ext uri="{FF2B5EF4-FFF2-40B4-BE49-F238E27FC236}">
                <a16:creationId xmlns:a16="http://schemas.microsoft.com/office/drawing/2014/main" id="{9DD0C34C-705B-44BF-A65B-BC38BD2FF716}"/>
              </a:ext>
            </a:extLst>
          </p:cNvPr>
          <p:cNvSpPr>
            <a:spLocks xmlns:a="http://schemas.openxmlformats.org/drawingml/2006/main" noGrp="1"/>
          </p:cNvSpPr>
          <p:nvPr/>
        </p:nvSpPr>
        <p:spPr>
          <a:xfrm xmlns:a="http://schemas.openxmlformats.org/drawingml/2006/main">
            <a:off x="8343900" y="27717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0" name="">
            <a:extLst xmlns:a="http://schemas.openxmlformats.org/drawingml/2006/main">
              <a:ext uri="{FF2B5EF4-FFF2-40B4-BE49-F238E27FC236}">
                <a16:creationId xmlns:a16="http://schemas.microsoft.com/office/drawing/2014/main" id="{E96A7D03-6430-431D-8D6D-57C381654483}"/>
              </a:ext>
            </a:extLst>
          </p:cNvPr>
          <p:cNvSpPr>
            <a:spLocks xmlns:a="http://schemas.openxmlformats.org/drawingml/2006/main" noGrp="1"/>
          </p:cNvSpPr>
          <p:nvPr/>
        </p:nvSpPr>
        <p:spPr>
          <a:xfrm xmlns:a="http://schemas.openxmlformats.org/drawingml/2006/main">
            <a:off x="8572500" y="2686050"/>
            <a:ext cx="2781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Short prior windows lean slightly negative into short forward windows.</a:t>
            </a:r>
          </a:p>
        </p:txBody>
      </p:sp>
      <p:sp>
        <p:nvSpPr>
          <p:cNvPr id="11" name="">
            <a:extLst xmlns:a="http://schemas.openxmlformats.org/drawingml/2006/main">
              <a:ext uri="{FF2B5EF4-FFF2-40B4-BE49-F238E27FC236}">
                <a16:creationId xmlns:a16="http://schemas.microsoft.com/office/drawing/2014/main" id="{88DAE7BF-2798-4489-9F88-81CD86C56D63}"/>
              </a:ext>
            </a:extLst>
          </p:cNvPr>
          <p:cNvSpPr>
            <a:spLocks xmlns:a="http://schemas.openxmlformats.org/drawingml/2006/main" noGrp="1"/>
          </p:cNvSpPr>
          <p:nvPr/>
        </p:nvSpPr>
        <p:spPr>
          <a:xfrm xmlns:a="http://schemas.openxmlformats.org/drawingml/2006/main">
            <a:off x="8343900" y="37242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BE4F3C5F-415B-4459-A766-87D9E273DB8F}"/>
              </a:ext>
            </a:extLst>
          </p:cNvPr>
          <p:cNvSpPr>
            <a:spLocks xmlns:a="http://schemas.openxmlformats.org/drawingml/2006/main" noGrp="1"/>
          </p:cNvSpPr>
          <p:nvPr/>
        </p:nvSpPr>
        <p:spPr>
          <a:xfrm xmlns:a="http://schemas.openxmlformats.org/drawingml/2006/main">
            <a:off x="8572500" y="3638550"/>
            <a:ext cx="27813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Longer prior and forward windows drift mildly positive.</a:t>
            </a:r>
          </a:p>
        </p:txBody>
      </p:sp>
      <p:sp>
        <p:nvSpPr>
          <p:cNvPr id="13" name="">
            <a:extLst xmlns:a="http://schemas.openxmlformats.org/drawingml/2006/main">
              <a:ext uri="{FF2B5EF4-FFF2-40B4-BE49-F238E27FC236}">
                <a16:creationId xmlns:a16="http://schemas.microsoft.com/office/drawing/2014/main" id="{FFFC03DB-2C67-41D8-BE13-17989CB08B04}"/>
              </a:ext>
            </a:extLst>
          </p:cNvPr>
          <p:cNvSpPr>
            <a:spLocks xmlns:a="http://schemas.openxmlformats.org/drawingml/2006/main" noGrp="1"/>
          </p:cNvSpPr>
          <p:nvPr/>
        </p:nvSpPr>
        <p:spPr>
          <a:xfrm xmlns:a="http://schemas.openxmlformats.org/drawingml/2006/main">
            <a:off x="8343900" y="46767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4" name="">
            <a:extLst xmlns:a="http://schemas.openxmlformats.org/drawingml/2006/main">
              <a:ext uri="{FF2B5EF4-FFF2-40B4-BE49-F238E27FC236}">
                <a16:creationId xmlns:a16="http://schemas.microsoft.com/office/drawing/2014/main" id="{92FAD0B1-FB20-4C72-BBB4-1127F7EC9551}"/>
              </a:ext>
            </a:extLst>
          </p:cNvPr>
          <p:cNvSpPr>
            <a:spLocks xmlns:a="http://schemas.openxmlformats.org/drawingml/2006/main" noGrp="1"/>
          </p:cNvSpPr>
          <p:nvPr/>
        </p:nvSpPr>
        <p:spPr>
          <a:xfrm xmlns:a="http://schemas.openxmlformats.org/drawingml/2006/main">
            <a:off x="8572500" y="4591050"/>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Magnitude is small without a state split.</a:t>
            </a:r>
          </a:p>
        </p:txBody>
      </p:sp>
      <p:sp>
        <p:nvSpPr>
          <p:cNvPr id="15" name="">
            <a:extLst xmlns:a="http://schemas.openxmlformats.org/drawingml/2006/main">
              <a:ext uri="{FF2B5EF4-FFF2-40B4-BE49-F238E27FC236}">
                <a16:creationId xmlns:a16="http://schemas.microsoft.com/office/drawing/2014/main" id="{809B9635-8A4C-4D9B-A72B-7217BD780315}"/>
              </a:ext>
            </a:extLst>
          </p:cNvPr>
          <p:cNvSpPr>
            <a:spLocks xmlns:a="http://schemas.openxmlformats.org/drawingml/2006/main" noGrp="1"/>
          </p:cNvSpPr>
          <p:nvPr/>
        </p:nvSpPr>
        <p:spPr>
          <a:xfrm xmlns:a="http://schemas.openxmlformats.org/drawingml/2006/main">
            <a:off x="8058150" y="59245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667386"/>
                </a:solidFill>
              </a:defRPr>
            </a:pPr>
            <a:r>
              <a:rPr sz="1125" b="1">
                <a:solidFill>
                  <a:srgbClr val="667386"/>
                </a:solidFill>
              </a:rPr>
              <a:t>This is a descriptive map. No multiplicity claim is made.</a:t>
            </a:r>
          </a:p>
        </p:txBody>
      </p:sp>
    </p:spTree>
    <p:extLst>
      <p:ext uri="{BB962C8B-B14F-4D97-AF65-F5344CB8AC3E}">
        <p14:creationId xmlns:p14="http://schemas.microsoft.com/office/powerpoint/2010/main" val="9315534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7A754A-6B3D-426E-9E92-99A0806AEEC8}"/>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MICROSCOPE</a:t>
            </a:r>
          </a:p>
        </p:txBody>
      </p:sp>
      <p:sp>
        <p:nvSpPr>
          <p:cNvPr id="2" name="">
            <a:extLst xmlns:a="http://schemas.openxmlformats.org/drawingml/2006/main">
              <a:ext uri="{FF2B5EF4-FFF2-40B4-BE49-F238E27FC236}">
                <a16:creationId xmlns:a16="http://schemas.microsoft.com/office/drawing/2014/main" id="{E93135B5-48B1-48FF-8A1E-40AC35EBBFA4}"/>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filters are observable states—not forecasts</a:t>
            </a:r>
          </a:p>
        </p:txBody>
      </p:sp>
      <p:sp>
        <p:nvSpPr>
          <p:cNvPr id="3" name="">
            <a:extLst xmlns:a="http://schemas.openxmlformats.org/drawingml/2006/main">
              <a:ext uri="{FF2B5EF4-FFF2-40B4-BE49-F238E27FC236}">
                <a16:creationId xmlns:a16="http://schemas.microsoft.com/office/drawing/2014/main" id="{1981DB7F-B120-4850-BD37-FC6FE364B58C}"/>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E3A6DE4B-E2C7-4637-A197-91D2F2A023C2}"/>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7BBBF6BD-1A06-41FD-97E6-F8F691A71FB5}"/>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08</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42e1cdfa2b34c8d"/>
          <a:stretch xmlns:a="http://schemas.openxmlformats.org/drawingml/2006/main"/>
        </p:blipFill>
        <p:spPr>
          <a:xfrm xmlns:a="http://schemas.openxmlformats.org/drawingml/2006/main">
            <a:off x="995363" y="1409700"/>
            <a:ext cx="7419975" cy="46863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02F336B-E493-4828-968B-40572301E08F}"/>
              </a:ext>
            </a:extLst>
          </p:cNvPr>
          <p:cNvSpPr>
            <a:spLocks xmlns:a="http://schemas.openxmlformats.org/drawingml/2006/main" noGrp="1"/>
          </p:cNvSpPr>
          <p:nvPr/>
        </p:nvSpPr>
        <p:spPr>
          <a:xfrm xmlns:a="http://schemas.openxmlformats.org/drawingml/2006/main">
            <a:off x="9239250" y="1524000"/>
            <a:ext cx="2400300" cy="44005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AD04770E-B413-4F3E-8FC0-677EC5D4DEDE}"/>
              </a:ext>
            </a:extLst>
          </p:cNvPr>
          <p:cNvSpPr>
            <a:spLocks xmlns:a="http://schemas.openxmlformats.org/drawingml/2006/main" noGrp="1"/>
          </p:cNvSpPr>
          <p:nvPr/>
        </p:nvSpPr>
        <p:spPr>
          <a:xfrm xmlns:a="http://schemas.openxmlformats.org/drawingml/2006/main">
            <a:off x="9467850" y="179070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defRPr>
            </a:pPr>
            <a:r>
              <a:rPr sz="1725" b="1">
                <a:solidFill>
                  <a:srgbClr val="000000"/>
                </a:solidFill>
              </a:rPr>
              <a:t>Vocabulary</a:t>
            </a:r>
          </a:p>
        </p:txBody>
      </p:sp>
      <p:sp>
        <p:nvSpPr>
          <p:cNvPr id="9" name="">
            <a:extLst xmlns:a="http://schemas.openxmlformats.org/drawingml/2006/main">
              <a:ext uri="{FF2B5EF4-FFF2-40B4-BE49-F238E27FC236}">
                <a16:creationId xmlns:a16="http://schemas.microsoft.com/office/drawing/2014/main" id="{F8314513-9372-4ADD-868F-B4BBB158325A}"/>
              </a:ext>
            </a:extLst>
          </p:cNvPr>
          <p:cNvSpPr>
            <a:spLocks xmlns:a="http://schemas.openxmlformats.org/drawingml/2006/main" noGrp="1"/>
          </p:cNvSpPr>
          <p:nvPr/>
        </p:nvSpPr>
        <p:spPr>
          <a:xfrm xmlns:a="http://schemas.openxmlformats.org/drawingml/2006/main">
            <a:off x="9467850" y="244792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FD2B5345-05A1-43AA-859A-8AEEA412C4AB}"/>
              </a:ext>
            </a:extLst>
          </p:cNvPr>
          <p:cNvSpPr>
            <a:spLocks xmlns:a="http://schemas.openxmlformats.org/drawingml/2006/main" noGrp="1"/>
          </p:cNvSpPr>
          <p:nvPr/>
        </p:nvSpPr>
        <p:spPr>
          <a:xfrm xmlns:a="http://schemas.openxmlformats.org/drawingml/2006/main">
            <a:off x="9696450" y="2362200"/>
            <a:ext cx="1752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ER20: sideways vs efficient path</a:t>
            </a:r>
          </a:p>
        </p:txBody>
      </p:sp>
      <p:sp>
        <p:nvSpPr>
          <p:cNvPr id="11" name="">
            <a:extLst xmlns:a="http://schemas.openxmlformats.org/drawingml/2006/main">
              <a:ext uri="{FF2B5EF4-FFF2-40B4-BE49-F238E27FC236}">
                <a16:creationId xmlns:a16="http://schemas.microsoft.com/office/drawing/2014/main" id="{E306DD5E-7BDD-48FD-B511-5AB222E5371A}"/>
              </a:ext>
            </a:extLst>
          </p:cNvPr>
          <p:cNvSpPr>
            <a:spLocks xmlns:a="http://schemas.openxmlformats.org/drawingml/2006/main" noGrp="1"/>
          </p:cNvSpPr>
          <p:nvPr/>
        </p:nvSpPr>
        <p:spPr>
          <a:xfrm xmlns:a="http://schemas.openxmlformats.org/drawingml/2006/main">
            <a:off x="9467850" y="3362325"/>
            <a:ext cx="85725" cy="85725"/>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12" name="">
            <a:extLst xmlns:a="http://schemas.openxmlformats.org/drawingml/2006/main">
              <a:ext uri="{FF2B5EF4-FFF2-40B4-BE49-F238E27FC236}">
                <a16:creationId xmlns:a16="http://schemas.microsoft.com/office/drawing/2014/main" id="{F60AA84B-8487-4448-A51A-DB20D567C681}"/>
              </a:ext>
            </a:extLst>
          </p:cNvPr>
          <p:cNvSpPr>
            <a:spLocks xmlns:a="http://schemas.openxmlformats.org/drawingml/2006/main" noGrp="1"/>
          </p:cNvSpPr>
          <p:nvPr/>
        </p:nvSpPr>
        <p:spPr>
          <a:xfrm xmlns:a="http://schemas.openxmlformats.org/drawingml/2006/main">
            <a:off x="9696450" y="3276600"/>
            <a:ext cx="1752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ATR%: low, medium, high volatility</a:t>
            </a:r>
          </a:p>
        </p:txBody>
      </p:sp>
      <p:sp>
        <p:nvSpPr>
          <p:cNvPr id="13" name="">
            <a:extLst xmlns:a="http://schemas.openxmlformats.org/drawingml/2006/main">
              <a:ext uri="{FF2B5EF4-FFF2-40B4-BE49-F238E27FC236}">
                <a16:creationId xmlns:a16="http://schemas.microsoft.com/office/drawing/2014/main" id="{5E5E3209-DAB1-4D0F-8CA3-EAE6392F4314}"/>
              </a:ext>
            </a:extLst>
          </p:cNvPr>
          <p:cNvSpPr>
            <a:spLocks xmlns:a="http://schemas.openxmlformats.org/drawingml/2006/main" noGrp="1"/>
          </p:cNvSpPr>
          <p:nvPr/>
        </p:nvSpPr>
        <p:spPr>
          <a:xfrm xmlns:a="http://schemas.openxmlformats.org/drawingml/2006/main">
            <a:off x="9467850" y="427672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4" name="">
            <a:extLst xmlns:a="http://schemas.openxmlformats.org/drawingml/2006/main">
              <a:ext uri="{FF2B5EF4-FFF2-40B4-BE49-F238E27FC236}">
                <a16:creationId xmlns:a16="http://schemas.microsoft.com/office/drawing/2014/main" id="{5FE7C7FA-D3BE-4E97-9014-99EC944F2228}"/>
              </a:ext>
            </a:extLst>
          </p:cNvPr>
          <p:cNvSpPr>
            <a:spLocks xmlns:a="http://schemas.openxmlformats.org/drawingml/2006/main" noGrp="1"/>
          </p:cNvSpPr>
          <p:nvPr/>
        </p:nvSpPr>
        <p:spPr>
          <a:xfrm xmlns:a="http://schemas.openxmlformats.org/drawingml/2006/main">
            <a:off x="9696450" y="4191000"/>
            <a:ext cx="1752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Signed ER20: down, sideways, up</a:t>
            </a:r>
          </a:p>
        </p:txBody>
      </p:sp>
      <p:sp>
        <p:nvSpPr>
          <p:cNvPr id="15" name="">
            <a:extLst xmlns:a="http://schemas.openxmlformats.org/drawingml/2006/main">
              <a:ext uri="{FF2B5EF4-FFF2-40B4-BE49-F238E27FC236}">
                <a16:creationId xmlns:a16="http://schemas.microsoft.com/office/drawing/2014/main" id="{89B9BACC-6728-4854-BB4F-6596F0BD9E98}"/>
              </a:ext>
            </a:extLst>
          </p:cNvPr>
          <p:cNvSpPr>
            <a:spLocks xmlns:a="http://schemas.openxmlformats.org/drawingml/2006/main" noGrp="1"/>
          </p:cNvSpPr>
          <p:nvPr/>
        </p:nvSpPr>
        <p:spPr>
          <a:xfrm xmlns:a="http://schemas.openxmlformats.org/drawingml/2006/main">
            <a:off x="9467850" y="5219700"/>
            <a:ext cx="1981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Each label is assigned from information available at the anchor session.</a:t>
            </a:r>
          </a:p>
        </p:txBody>
      </p:sp>
    </p:spTree>
    <p:extLst>
      <p:ext uri="{BB962C8B-B14F-4D97-AF65-F5344CB8AC3E}">
        <p14:creationId xmlns:p14="http://schemas.microsoft.com/office/powerpoint/2010/main" val="313185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6A401C0-5BB0-4A1D-950B-63D174FE87DA}"/>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MICROSCOPE</a:t>
            </a:r>
          </a:p>
        </p:txBody>
      </p:sp>
      <p:sp>
        <p:nvSpPr>
          <p:cNvPr id="2" name="">
            <a:extLst xmlns:a="http://schemas.openxmlformats.org/drawingml/2006/main">
              <a:ext uri="{FF2B5EF4-FFF2-40B4-BE49-F238E27FC236}">
                <a16:creationId xmlns:a16="http://schemas.microsoft.com/office/drawing/2014/main" id="{6E215978-0720-4793-894B-E5C098833701}"/>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ER20 separates two different surfaces</a:t>
            </a:r>
          </a:p>
        </p:txBody>
      </p:sp>
      <p:sp>
        <p:nvSpPr>
          <p:cNvPr id="3" name="">
            <a:extLst xmlns:a="http://schemas.openxmlformats.org/drawingml/2006/main">
              <a:ext uri="{FF2B5EF4-FFF2-40B4-BE49-F238E27FC236}">
                <a16:creationId xmlns:a16="http://schemas.microsoft.com/office/drawing/2014/main" id="{C97AB4D7-955F-423E-B6E9-C52A83FE63C2}"/>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5C38D5FD-E216-449A-917A-6A8DEA5E160B}"/>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4567ACF9-8731-4600-9FA0-A841265B6891}"/>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09</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5e768ca7e5b4aee"/>
          <a:stretch xmlns:a="http://schemas.openxmlformats.org/drawingml/2006/main"/>
        </p:blipFill>
        <p:spPr>
          <a:xfrm xmlns:a="http://schemas.openxmlformats.org/drawingml/2006/main">
            <a:off x="400050" y="2135981"/>
            <a:ext cx="8572500" cy="321468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05D2466-F74D-4F56-93CB-542501910563}"/>
              </a:ext>
            </a:extLst>
          </p:cNvPr>
          <p:cNvSpPr>
            <a:spLocks xmlns:a="http://schemas.openxmlformats.org/drawingml/2006/main" noGrp="1"/>
          </p:cNvSpPr>
          <p:nvPr/>
        </p:nvSpPr>
        <p:spPr>
          <a:xfrm xmlns:a="http://schemas.openxmlformats.org/drawingml/2006/main">
            <a:off x="9220200" y="1524000"/>
            <a:ext cx="2419350" cy="43624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FF283B5C-1A6F-45DB-B425-B90B0893CE5C}"/>
              </a:ext>
            </a:extLst>
          </p:cNvPr>
          <p:cNvSpPr>
            <a:spLocks xmlns:a="http://schemas.openxmlformats.org/drawingml/2006/main" noGrp="1"/>
          </p:cNvSpPr>
          <p:nvPr/>
        </p:nvSpPr>
        <p:spPr>
          <a:xfrm xmlns:a="http://schemas.openxmlformats.org/drawingml/2006/main">
            <a:off x="9448800" y="17907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defRPr>
            </a:pPr>
            <a:r>
              <a:rPr sz="1725" b="1">
                <a:solidFill>
                  <a:srgbClr val="000000"/>
                </a:solidFill>
              </a:rPr>
              <a:t>Visual clue</a:t>
            </a:r>
          </a:p>
        </p:txBody>
      </p:sp>
      <p:sp>
        <p:nvSpPr>
          <p:cNvPr id="9" name="">
            <a:extLst xmlns:a="http://schemas.openxmlformats.org/drawingml/2006/main">
              <a:ext uri="{FF2B5EF4-FFF2-40B4-BE49-F238E27FC236}">
                <a16:creationId xmlns:a16="http://schemas.microsoft.com/office/drawing/2014/main" id="{B882752C-16FD-4E9B-855D-7F6C3706414A}"/>
              </a:ext>
            </a:extLst>
          </p:cNvPr>
          <p:cNvSpPr>
            <a:spLocks xmlns:a="http://schemas.openxmlformats.org/drawingml/2006/main" noGrp="1"/>
          </p:cNvSpPr>
          <p:nvPr/>
        </p:nvSpPr>
        <p:spPr>
          <a:xfrm xmlns:a="http://schemas.openxmlformats.org/drawingml/2006/main">
            <a:off x="9448800" y="24288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0" name="">
            <a:extLst xmlns:a="http://schemas.openxmlformats.org/drawingml/2006/main">
              <a:ext uri="{FF2B5EF4-FFF2-40B4-BE49-F238E27FC236}">
                <a16:creationId xmlns:a16="http://schemas.microsoft.com/office/drawing/2014/main" id="{643CEDBD-99BC-4F27-8045-69F3D82D327F}"/>
              </a:ext>
            </a:extLst>
          </p:cNvPr>
          <p:cNvSpPr>
            <a:spLocks xmlns:a="http://schemas.openxmlformats.org/drawingml/2006/main" noGrp="1"/>
          </p:cNvSpPr>
          <p:nvPr/>
        </p:nvSpPr>
        <p:spPr>
          <a:xfrm xmlns:a="http://schemas.openxmlformats.org/drawingml/2006/main">
            <a:off x="9677400" y="2343150"/>
            <a:ext cx="1771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Sideways: correlations stay near zero with mild negative longer-forward patches.</a:t>
            </a:r>
          </a:p>
        </p:txBody>
      </p:sp>
      <p:sp>
        <p:nvSpPr>
          <p:cNvPr id="11" name="">
            <a:extLst xmlns:a="http://schemas.openxmlformats.org/drawingml/2006/main">
              <a:ext uri="{FF2B5EF4-FFF2-40B4-BE49-F238E27FC236}">
                <a16:creationId xmlns:a16="http://schemas.microsoft.com/office/drawing/2014/main" id="{DBA5551E-CE24-43DF-BD79-6B0053240EEA}"/>
              </a:ext>
            </a:extLst>
          </p:cNvPr>
          <p:cNvSpPr>
            <a:spLocks xmlns:a="http://schemas.openxmlformats.org/drawingml/2006/main" noGrp="1"/>
          </p:cNvSpPr>
          <p:nvPr/>
        </p:nvSpPr>
        <p:spPr>
          <a:xfrm xmlns:a="http://schemas.openxmlformats.org/drawingml/2006/main">
            <a:off x="9448800" y="37242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AF2872F7-1ABA-4BB4-8319-9F40B8D4DCFC}"/>
              </a:ext>
            </a:extLst>
          </p:cNvPr>
          <p:cNvSpPr>
            <a:spLocks xmlns:a="http://schemas.openxmlformats.org/drawingml/2006/main" noGrp="1"/>
          </p:cNvSpPr>
          <p:nvPr/>
        </p:nvSpPr>
        <p:spPr>
          <a:xfrm xmlns:a="http://schemas.openxmlformats.org/drawingml/2006/main">
            <a:off x="9677400" y="3638550"/>
            <a:ext cx="17716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Efficient: a positive long-prior / long-forward region appears.</a:t>
            </a:r>
          </a:p>
        </p:txBody>
      </p:sp>
      <p:sp>
        <p:nvSpPr>
          <p:cNvPr id="13" name="">
            <a:extLst xmlns:a="http://schemas.openxmlformats.org/drawingml/2006/main">
              <a:ext uri="{FF2B5EF4-FFF2-40B4-BE49-F238E27FC236}">
                <a16:creationId xmlns:a16="http://schemas.microsoft.com/office/drawing/2014/main" id="{9BC481C9-5436-499E-88E1-12BB78B74603}"/>
              </a:ext>
            </a:extLst>
          </p:cNvPr>
          <p:cNvSpPr>
            <a:spLocks xmlns:a="http://schemas.openxmlformats.org/drawingml/2006/main" noGrp="1"/>
          </p:cNvSpPr>
          <p:nvPr/>
        </p:nvSpPr>
        <p:spPr>
          <a:xfrm xmlns:a="http://schemas.openxmlformats.org/drawingml/2006/main">
            <a:off x="9448800" y="4953000"/>
            <a:ext cx="2000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4364B"/>
                </a:solidFill>
              </a:defRPr>
            </a:pPr>
            <a:r>
              <a:rPr sz="1275" b="1">
                <a:solidFill>
                  <a:srgbClr val="24364B"/>
                </a:solidFill>
              </a:rPr>
              <a:t>ER20 alone does not say whether the efficient path is up or down.</a:t>
            </a:r>
          </a:p>
        </p:txBody>
      </p:sp>
    </p:spTree>
    <p:extLst>
      <p:ext uri="{BB962C8B-B14F-4D97-AF65-F5344CB8AC3E}">
        <p14:creationId xmlns:p14="http://schemas.microsoft.com/office/powerpoint/2010/main" val="18535269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3B227A1-78C5-4840-B5FD-C21D6569586D}"/>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MICROSCOPE</a:t>
            </a:r>
          </a:p>
        </p:txBody>
      </p:sp>
      <p:sp>
        <p:nvSpPr>
          <p:cNvPr id="2" name="">
            <a:extLst xmlns:a="http://schemas.openxmlformats.org/drawingml/2006/main">
              <a:ext uri="{FF2B5EF4-FFF2-40B4-BE49-F238E27FC236}">
                <a16:creationId xmlns:a16="http://schemas.microsoft.com/office/drawing/2014/main" id="{CD9B9831-E7A3-44E3-827F-034C6C422A38}"/>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ATR% reveals a sharp short-horizon contrast</a:t>
            </a:r>
          </a:p>
        </p:txBody>
      </p:sp>
      <p:sp>
        <p:nvSpPr>
          <p:cNvPr id="3" name="">
            <a:extLst xmlns:a="http://schemas.openxmlformats.org/drawingml/2006/main">
              <a:ext uri="{FF2B5EF4-FFF2-40B4-BE49-F238E27FC236}">
                <a16:creationId xmlns:a16="http://schemas.microsoft.com/office/drawing/2014/main" id="{96CCE6DC-2E9E-4D0B-B8EF-C4E4E9FFB61D}"/>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ABDFFF5C-26E7-4E76-B2E6-C5F78B58DF36}"/>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FBBD65B0-A487-4969-93D1-D8B37C9ECCAA}"/>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10</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8556fd241724a22"/>
          <a:stretch xmlns:a="http://schemas.openxmlformats.org/drawingml/2006/main"/>
        </p:blipFill>
        <p:spPr>
          <a:xfrm xmlns:a="http://schemas.openxmlformats.org/drawingml/2006/main">
            <a:off x="400050" y="2135981"/>
            <a:ext cx="8572500" cy="321468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6B5ABB5-7916-49DC-9001-E208A93E6C7C}"/>
              </a:ext>
            </a:extLst>
          </p:cNvPr>
          <p:cNvSpPr>
            <a:spLocks xmlns:a="http://schemas.openxmlformats.org/drawingml/2006/main" noGrp="1"/>
          </p:cNvSpPr>
          <p:nvPr/>
        </p:nvSpPr>
        <p:spPr>
          <a:xfrm xmlns:a="http://schemas.openxmlformats.org/drawingml/2006/main">
            <a:off x="9220200" y="1524000"/>
            <a:ext cx="2419350" cy="43624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BC560E0A-84A7-4AA7-9018-FD6A6437BFFD}"/>
              </a:ext>
            </a:extLst>
          </p:cNvPr>
          <p:cNvSpPr>
            <a:spLocks xmlns:a="http://schemas.openxmlformats.org/drawingml/2006/main" noGrp="1"/>
          </p:cNvSpPr>
          <p:nvPr/>
        </p:nvSpPr>
        <p:spPr>
          <a:xfrm xmlns:a="http://schemas.openxmlformats.org/drawingml/2006/main">
            <a:off x="9448800" y="1790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defRPr>
            </a:pPr>
            <a:r>
              <a:rPr sz="1650" b="1">
                <a:solidFill>
                  <a:srgbClr val="000000"/>
                </a:solidFill>
              </a:rPr>
              <a:t>1×1 Pearson r</a:t>
            </a:r>
          </a:p>
        </p:txBody>
      </p:sp>
      <p:sp>
        <p:nvSpPr>
          <p:cNvPr id="9" name="">
            <a:extLst xmlns:a="http://schemas.openxmlformats.org/drawingml/2006/main">
              <a:ext uri="{FF2B5EF4-FFF2-40B4-BE49-F238E27FC236}">
                <a16:creationId xmlns:a16="http://schemas.microsoft.com/office/drawing/2014/main" id="{5F1A9BBF-53FC-4139-B2A4-660BCA260636}"/>
              </a:ext>
            </a:extLst>
          </p:cNvPr>
          <p:cNvSpPr>
            <a:spLocks xmlns:a="http://schemas.openxmlformats.org/drawingml/2006/main" noGrp="1"/>
          </p:cNvSpPr>
          <p:nvPr/>
        </p:nvSpPr>
        <p:spPr>
          <a:xfrm xmlns:a="http://schemas.openxmlformats.org/drawingml/2006/main">
            <a:off x="9448800" y="2324100"/>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3D8DFF"/>
                </a:solidFill>
              </a:defRPr>
            </a:pPr>
            <a:r>
              <a:rPr sz="2100" b="1">
                <a:solidFill>
                  <a:srgbClr val="3D8DFF"/>
                </a:solidFill>
              </a:rPr>
              <a:t>+0.013</a:t>
            </a:r>
          </a:p>
        </p:txBody>
      </p:sp>
      <p:sp>
        <p:nvSpPr>
          <p:cNvPr id="10" name="">
            <a:extLst xmlns:a="http://schemas.openxmlformats.org/drawingml/2006/main">
              <a:ext uri="{FF2B5EF4-FFF2-40B4-BE49-F238E27FC236}">
                <a16:creationId xmlns:a16="http://schemas.microsoft.com/office/drawing/2014/main" id="{210A8E74-43AA-4C5E-B992-2AC8C75B65CB}"/>
              </a:ext>
            </a:extLst>
          </p:cNvPr>
          <p:cNvSpPr>
            <a:spLocks xmlns:a="http://schemas.openxmlformats.org/drawingml/2006/main" noGrp="1"/>
          </p:cNvSpPr>
          <p:nvPr/>
        </p:nvSpPr>
        <p:spPr>
          <a:xfrm xmlns:a="http://schemas.openxmlformats.org/drawingml/2006/main">
            <a:off x="10572750" y="23812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67386"/>
                </a:solidFill>
              </a:defRPr>
            </a:pPr>
            <a:r>
              <a:rPr sz="1275" b="0">
                <a:solidFill>
                  <a:srgbClr val="667386"/>
                </a:solidFill>
              </a:rPr>
              <a:t>low</a:t>
            </a:r>
          </a:p>
        </p:txBody>
      </p:sp>
      <p:sp>
        <p:nvSpPr>
          <p:cNvPr id="11" name="">
            <a:extLst xmlns:a="http://schemas.openxmlformats.org/drawingml/2006/main">
              <a:ext uri="{FF2B5EF4-FFF2-40B4-BE49-F238E27FC236}">
                <a16:creationId xmlns:a16="http://schemas.microsoft.com/office/drawing/2014/main" id="{6DBED170-DE21-4149-91E2-2F06ED3AE26B}"/>
              </a:ext>
            </a:extLst>
          </p:cNvPr>
          <p:cNvSpPr>
            <a:spLocks xmlns:a="http://schemas.openxmlformats.org/drawingml/2006/main" noGrp="1"/>
          </p:cNvSpPr>
          <p:nvPr/>
        </p:nvSpPr>
        <p:spPr>
          <a:xfrm xmlns:a="http://schemas.openxmlformats.org/drawingml/2006/main">
            <a:off x="9448800" y="2857500"/>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3D8DFF"/>
                </a:solidFill>
              </a:defRPr>
            </a:pPr>
            <a:r>
              <a:rPr sz="2100" b="1">
                <a:solidFill>
                  <a:srgbClr val="3D8DFF"/>
                </a:solidFill>
              </a:rPr>
              <a:t>+0.043</a:t>
            </a:r>
          </a:p>
        </p:txBody>
      </p:sp>
      <p:sp>
        <p:nvSpPr>
          <p:cNvPr id="12" name="">
            <a:extLst xmlns:a="http://schemas.openxmlformats.org/drawingml/2006/main">
              <a:ext uri="{FF2B5EF4-FFF2-40B4-BE49-F238E27FC236}">
                <a16:creationId xmlns:a16="http://schemas.microsoft.com/office/drawing/2014/main" id="{CE3077DF-88D5-44A1-B49A-5E8C05EB4074}"/>
              </a:ext>
            </a:extLst>
          </p:cNvPr>
          <p:cNvSpPr>
            <a:spLocks xmlns:a="http://schemas.openxmlformats.org/drawingml/2006/main" noGrp="1"/>
          </p:cNvSpPr>
          <p:nvPr/>
        </p:nvSpPr>
        <p:spPr>
          <a:xfrm xmlns:a="http://schemas.openxmlformats.org/drawingml/2006/main">
            <a:off x="10572750" y="29146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67386"/>
                </a:solidFill>
              </a:defRPr>
            </a:pPr>
            <a:r>
              <a:rPr sz="1275" b="0">
                <a:solidFill>
                  <a:srgbClr val="667386"/>
                </a:solidFill>
              </a:rPr>
              <a:t>medium</a:t>
            </a:r>
          </a:p>
        </p:txBody>
      </p:sp>
      <p:sp>
        <p:nvSpPr>
          <p:cNvPr id="13" name="">
            <a:extLst xmlns:a="http://schemas.openxmlformats.org/drawingml/2006/main">
              <a:ext uri="{FF2B5EF4-FFF2-40B4-BE49-F238E27FC236}">
                <a16:creationId xmlns:a16="http://schemas.microsoft.com/office/drawing/2014/main" id="{71149477-E6FC-4F4A-987A-32AE30CF7EFA}"/>
              </a:ext>
            </a:extLst>
          </p:cNvPr>
          <p:cNvSpPr>
            <a:spLocks xmlns:a="http://schemas.openxmlformats.org/drawingml/2006/main" noGrp="1"/>
          </p:cNvSpPr>
          <p:nvPr/>
        </p:nvSpPr>
        <p:spPr>
          <a:xfrm xmlns:a="http://schemas.openxmlformats.org/drawingml/2006/main">
            <a:off x="9448800" y="3390900"/>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B44738"/>
                </a:solidFill>
              </a:defRPr>
            </a:pPr>
            <a:r>
              <a:rPr sz="2100" b="1">
                <a:solidFill>
                  <a:srgbClr val="B44738"/>
                </a:solidFill>
              </a:rPr>
              <a:t>−0.174</a:t>
            </a:r>
          </a:p>
        </p:txBody>
      </p:sp>
      <p:sp>
        <p:nvSpPr>
          <p:cNvPr id="14" name="">
            <a:extLst xmlns:a="http://schemas.openxmlformats.org/drawingml/2006/main">
              <a:ext uri="{FF2B5EF4-FFF2-40B4-BE49-F238E27FC236}">
                <a16:creationId xmlns:a16="http://schemas.microsoft.com/office/drawing/2014/main" id="{D5F12EA3-AC1D-48F2-8D80-7A7C32220E8F}"/>
              </a:ext>
            </a:extLst>
          </p:cNvPr>
          <p:cNvSpPr>
            <a:spLocks xmlns:a="http://schemas.openxmlformats.org/drawingml/2006/main" noGrp="1"/>
          </p:cNvSpPr>
          <p:nvPr/>
        </p:nvSpPr>
        <p:spPr>
          <a:xfrm xmlns:a="http://schemas.openxmlformats.org/drawingml/2006/main">
            <a:off x="10572750" y="34480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67386"/>
                </a:solidFill>
              </a:defRPr>
            </a:pPr>
            <a:r>
              <a:rPr sz="1275" b="0">
                <a:solidFill>
                  <a:srgbClr val="667386"/>
                </a:solidFill>
              </a:rPr>
              <a:t>high</a:t>
            </a:r>
          </a:p>
        </p:txBody>
      </p:sp>
      <p:sp>
        <p:nvSpPr>
          <p:cNvPr id="15" name="">
            <a:extLst xmlns:a="http://schemas.openxmlformats.org/drawingml/2006/main">
              <a:ext uri="{FF2B5EF4-FFF2-40B4-BE49-F238E27FC236}">
                <a16:creationId xmlns:a16="http://schemas.microsoft.com/office/drawing/2014/main" id="{E0F4D7F2-E6B1-4EBA-9BF3-FE32E785E25E}"/>
              </a:ext>
            </a:extLst>
          </p:cNvPr>
          <p:cNvSpPr>
            <a:spLocks xmlns:a="http://schemas.openxmlformats.org/drawingml/2006/main" noGrp="1"/>
          </p:cNvSpPr>
          <p:nvPr/>
        </p:nvSpPr>
        <p:spPr>
          <a:xfrm xmlns:a="http://schemas.openxmlformats.org/drawingml/2006/main">
            <a:off x="9448800" y="423862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6" name="">
            <a:extLst xmlns:a="http://schemas.openxmlformats.org/drawingml/2006/main">
              <a:ext uri="{FF2B5EF4-FFF2-40B4-BE49-F238E27FC236}">
                <a16:creationId xmlns:a16="http://schemas.microsoft.com/office/drawing/2014/main" id="{AE203FC9-9546-4331-A882-49FA0F8D6253}"/>
              </a:ext>
            </a:extLst>
          </p:cNvPr>
          <p:cNvSpPr>
            <a:spLocks xmlns:a="http://schemas.openxmlformats.org/drawingml/2006/main" noGrp="1"/>
          </p:cNvSpPr>
          <p:nvPr/>
        </p:nvSpPr>
        <p:spPr>
          <a:xfrm xmlns:a="http://schemas.openxmlformats.org/drawingml/2006/main">
            <a:off x="9677400" y="4152900"/>
            <a:ext cx="17716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High volatility concentrates the adjacent-day reversal clue.</a:t>
            </a:r>
          </a:p>
        </p:txBody>
      </p:sp>
      <p:sp>
        <p:nvSpPr>
          <p:cNvPr id="17" name="">
            <a:extLst xmlns:a="http://schemas.openxmlformats.org/drawingml/2006/main">
              <a:ext uri="{FF2B5EF4-FFF2-40B4-BE49-F238E27FC236}">
                <a16:creationId xmlns:a16="http://schemas.microsoft.com/office/drawing/2014/main" id="{A94C98E1-4E80-42B6-B30E-5E4F51B5B460}"/>
              </a:ext>
            </a:extLst>
          </p:cNvPr>
          <p:cNvSpPr>
            <a:spLocks xmlns:a="http://schemas.openxmlformats.org/drawingml/2006/main" noGrp="1"/>
          </p:cNvSpPr>
          <p:nvPr/>
        </p:nvSpPr>
        <p:spPr>
          <a:xfrm xmlns:a="http://schemas.openxmlformats.org/drawingml/2006/main">
            <a:off x="9448800" y="521970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Longer-horizon geometry still changes sign; this is not a universal reversal label.</a:t>
            </a:r>
          </a:p>
        </p:txBody>
      </p:sp>
    </p:spTree>
    <p:extLst>
      <p:ext uri="{BB962C8B-B14F-4D97-AF65-F5344CB8AC3E}">
        <p14:creationId xmlns:p14="http://schemas.microsoft.com/office/powerpoint/2010/main" val="20648194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AC4FD21-6CED-4167-915F-338FA3141D08}"/>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MICROSCOPE</a:t>
            </a:r>
          </a:p>
        </p:txBody>
      </p:sp>
      <p:sp>
        <p:nvSpPr>
          <p:cNvPr id="2" name="">
            <a:extLst xmlns:a="http://schemas.openxmlformats.org/drawingml/2006/main">
              <a:ext uri="{FF2B5EF4-FFF2-40B4-BE49-F238E27FC236}">
                <a16:creationId xmlns:a16="http://schemas.microsoft.com/office/drawing/2014/main" id="{0B7BCBD2-EEEC-4801-A4DE-CEAB4D1976B8}"/>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Direction explains part of the efficient-state mixture</a:t>
            </a:r>
          </a:p>
        </p:txBody>
      </p:sp>
      <p:sp>
        <p:nvSpPr>
          <p:cNvPr id="3" name="">
            <a:extLst xmlns:a="http://schemas.openxmlformats.org/drawingml/2006/main">
              <a:ext uri="{FF2B5EF4-FFF2-40B4-BE49-F238E27FC236}">
                <a16:creationId xmlns:a16="http://schemas.microsoft.com/office/drawing/2014/main" id="{96C7ECD1-D6C7-41B2-BE92-104725237E88}"/>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DEBA4B23-8DCD-4E9D-BE9E-AE367FB21CFD}"/>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EBD5D6D4-3443-40CB-909D-5C29746FA607}"/>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11</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cc1f876b33542ad"/>
          <a:stretch xmlns:a="http://schemas.openxmlformats.org/drawingml/2006/main"/>
        </p:blipFill>
        <p:spPr>
          <a:xfrm xmlns:a="http://schemas.openxmlformats.org/drawingml/2006/main">
            <a:off x="400050" y="2135981"/>
            <a:ext cx="8572500" cy="321468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E75D9B1-9592-48E4-889F-B7745677E8C3}"/>
              </a:ext>
            </a:extLst>
          </p:cNvPr>
          <p:cNvSpPr>
            <a:spLocks xmlns:a="http://schemas.openxmlformats.org/drawingml/2006/main" noGrp="1"/>
          </p:cNvSpPr>
          <p:nvPr/>
        </p:nvSpPr>
        <p:spPr>
          <a:xfrm xmlns:a="http://schemas.openxmlformats.org/drawingml/2006/main">
            <a:off x="9220200" y="1524000"/>
            <a:ext cx="2419350" cy="43624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DCD1068D-ABD8-4A30-BE5D-75D069DA20DD}"/>
              </a:ext>
            </a:extLst>
          </p:cNvPr>
          <p:cNvSpPr>
            <a:spLocks xmlns:a="http://schemas.openxmlformats.org/drawingml/2006/main" noGrp="1"/>
          </p:cNvSpPr>
          <p:nvPr/>
        </p:nvSpPr>
        <p:spPr>
          <a:xfrm xmlns:a="http://schemas.openxmlformats.org/drawingml/2006/main">
            <a:off x="9448800" y="18097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B44738"/>
                </a:solidFill>
              </a:defRPr>
            </a:pPr>
            <a:r>
              <a:rPr sz="1725" b="1">
                <a:solidFill>
                  <a:srgbClr val="B44738"/>
                </a:solidFill>
              </a:rPr>
              <a:t>Down state</a:t>
            </a:r>
          </a:p>
        </p:txBody>
      </p:sp>
      <p:sp>
        <p:nvSpPr>
          <p:cNvPr id="9" name="">
            <a:extLst xmlns:a="http://schemas.openxmlformats.org/drawingml/2006/main">
              <a:ext uri="{FF2B5EF4-FFF2-40B4-BE49-F238E27FC236}">
                <a16:creationId xmlns:a16="http://schemas.microsoft.com/office/drawing/2014/main" id="{32F8992B-20DD-48C2-B7B2-C152FE1BA23F}"/>
              </a:ext>
            </a:extLst>
          </p:cNvPr>
          <p:cNvSpPr>
            <a:spLocks xmlns:a="http://schemas.openxmlformats.org/drawingml/2006/main" noGrp="1"/>
          </p:cNvSpPr>
          <p:nvPr/>
        </p:nvSpPr>
        <p:spPr>
          <a:xfrm xmlns:a="http://schemas.openxmlformats.org/drawingml/2006/main">
            <a:off x="9448800" y="23907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0" name="">
            <a:extLst xmlns:a="http://schemas.openxmlformats.org/drawingml/2006/main">
              <a:ext uri="{FF2B5EF4-FFF2-40B4-BE49-F238E27FC236}">
                <a16:creationId xmlns:a16="http://schemas.microsoft.com/office/drawing/2014/main" id="{DE93861B-956F-4FAD-810C-A83A1E354219}"/>
              </a:ext>
            </a:extLst>
          </p:cNvPr>
          <p:cNvSpPr>
            <a:spLocks xmlns:a="http://schemas.openxmlformats.org/drawingml/2006/main" noGrp="1"/>
          </p:cNvSpPr>
          <p:nvPr/>
        </p:nvSpPr>
        <p:spPr>
          <a:xfrm xmlns:a="http://schemas.openxmlformats.org/drawingml/2006/main">
            <a:off x="9677400" y="2305050"/>
            <a:ext cx="1771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Strongest negative short/mid-horizon region.</a:t>
            </a:r>
          </a:p>
        </p:txBody>
      </p:sp>
      <p:sp>
        <p:nvSpPr>
          <p:cNvPr id="11" name="">
            <a:extLst xmlns:a="http://schemas.openxmlformats.org/drawingml/2006/main">
              <a:ext uri="{FF2B5EF4-FFF2-40B4-BE49-F238E27FC236}">
                <a16:creationId xmlns:a16="http://schemas.microsoft.com/office/drawing/2014/main" id="{BA141E3F-CAD4-499B-8FEE-6C1FCE934DFF}"/>
              </a:ext>
            </a:extLst>
          </p:cNvPr>
          <p:cNvSpPr>
            <a:spLocks xmlns:a="http://schemas.openxmlformats.org/drawingml/2006/main" noGrp="1"/>
          </p:cNvSpPr>
          <p:nvPr/>
        </p:nvSpPr>
        <p:spPr>
          <a:xfrm xmlns:a="http://schemas.openxmlformats.org/drawingml/2006/main">
            <a:off x="9448800" y="32670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BEC74E7D-01E9-4514-89DC-AF61055B3111}"/>
              </a:ext>
            </a:extLst>
          </p:cNvPr>
          <p:cNvSpPr>
            <a:spLocks xmlns:a="http://schemas.openxmlformats.org/drawingml/2006/main" noGrp="1"/>
          </p:cNvSpPr>
          <p:nvPr/>
        </p:nvSpPr>
        <p:spPr>
          <a:xfrm xmlns:a="http://schemas.openxmlformats.org/drawingml/2006/main">
            <a:off x="9677400" y="3181350"/>
            <a:ext cx="17716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Long forward windows turn positive for some prior windows.</a:t>
            </a:r>
          </a:p>
        </p:txBody>
      </p:sp>
      <p:sp>
        <p:nvSpPr>
          <p:cNvPr id="13" name="">
            <a:extLst xmlns:a="http://schemas.openxmlformats.org/drawingml/2006/main">
              <a:ext uri="{FF2B5EF4-FFF2-40B4-BE49-F238E27FC236}">
                <a16:creationId xmlns:a16="http://schemas.microsoft.com/office/drawing/2014/main" id="{38449852-09B3-4CFF-9DD8-3E050C907E4B}"/>
              </a:ext>
            </a:extLst>
          </p:cNvPr>
          <p:cNvSpPr>
            <a:spLocks xmlns:a="http://schemas.openxmlformats.org/drawingml/2006/main" noGrp="1"/>
          </p:cNvSpPr>
          <p:nvPr/>
        </p:nvSpPr>
        <p:spPr>
          <a:xfrm xmlns:a="http://schemas.openxmlformats.org/drawingml/2006/main">
            <a:off x="9448800" y="4267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4866D"/>
                </a:solidFill>
              </a:defRPr>
            </a:pPr>
            <a:r>
              <a:rPr sz="1725" b="1">
                <a:solidFill>
                  <a:srgbClr val="14866D"/>
                </a:solidFill>
              </a:rPr>
              <a:t>Up state</a:t>
            </a:r>
          </a:p>
        </p:txBody>
      </p:sp>
      <p:sp>
        <p:nvSpPr>
          <p:cNvPr id="14" name="">
            <a:extLst xmlns:a="http://schemas.openxmlformats.org/drawingml/2006/main">
              <a:ext uri="{FF2B5EF4-FFF2-40B4-BE49-F238E27FC236}">
                <a16:creationId xmlns:a16="http://schemas.microsoft.com/office/drawing/2014/main" id="{03DE2798-47AE-4F7F-A8E5-C4DB975AF89F}"/>
              </a:ext>
            </a:extLst>
          </p:cNvPr>
          <p:cNvSpPr>
            <a:spLocks xmlns:a="http://schemas.openxmlformats.org/drawingml/2006/main" noGrp="1"/>
          </p:cNvSpPr>
          <p:nvPr/>
        </p:nvSpPr>
        <p:spPr>
          <a:xfrm xmlns:a="http://schemas.openxmlformats.org/drawingml/2006/main">
            <a:off x="9448800" y="481012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5" name="">
            <a:extLst xmlns:a="http://schemas.openxmlformats.org/drawingml/2006/main">
              <a:ext uri="{FF2B5EF4-FFF2-40B4-BE49-F238E27FC236}">
                <a16:creationId xmlns:a16="http://schemas.microsoft.com/office/drawing/2014/main" id="{8EF20084-CDB2-46C4-978F-85B62D934B94}"/>
              </a:ext>
            </a:extLst>
          </p:cNvPr>
          <p:cNvSpPr>
            <a:spLocks xmlns:a="http://schemas.openxmlformats.org/drawingml/2006/main" noGrp="1"/>
          </p:cNvSpPr>
          <p:nvPr/>
        </p:nvSpPr>
        <p:spPr>
          <a:xfrm xmlns:a="http://schemas.openxmlformats.org/drawingml/2006/main">
            <a:off x="9677400" y="4724400"/>
            <a:ext cx="1771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Smaller short-horizon reversal and modest long-forward continuation patches.</a:t>
            </a:r>
          </a:p>
        </p:txBody>
      </p:sp>
    </p:spTree>
    <p:extLst>
      <p:ext uri="{BB962C8B-B14F-4D97-AF65-F5344CB8AC3E}">
        <p14:creationId xmlns:p14="http://schemas.microsoft.com/office/powerpoint/2010/main" val="23711263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B0B8D0C-8710-46A1-A2D8-1EC11B1BBDEE}"/>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MICROSCOPE</a:t>
            </a:r>
          </a:p>
        </p:txBody>
      </p:sp>
      <p:sp>
        <p:nvSpPr>
          <p:cNvPr id="2" name="">
            <a:extLst xmlns:a="http://schemas.openxmlformats.org/drawingml/2006/main">
              <a:ext uri="{FF2B5EF4-FFF2-40B4-BE49-F238E27FC236}">
                <a16:creationId xmlns:a16="http://schemas.microsoft.com/office/drawing/2014/main" id="{C56958B7-D2D3-470E-8D2A-405A20EF7169}"/>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Prior-return sign changes the long-horizon story</a:t>
            </a:r>
          </a:p>
        </p:txBody>
      </p:sp>
      <p:sp>
        <p:nvSpPr>
          <p:cNvPr id="3" name="">
            <a:extLst xmlns:a="http://schemas.openxmlformats.org/drawingml/2006/main">
              <a:ext uri="{FF2B5EF4-FFF2-40B4-BE49-F238E27FC236}">
                <a16:creationId xmlns:a16="http://schemas.microsoft.com/office/drawing/2014/main" id="{00AA9D4A-CAE5-45E3-A7AB-1BDC4E4B2014}"/>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261BD446-516F-4C60-B2A9-B437EC4771F0}"/>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67B6C346-26A7-4FAD-A99F-EA9AC74928E1}"/>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12</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d81f1aef3ff4f60"/>
          <a:stretch xmlns:a="http://schemas.openxmlformats.org/drawingml/2006/main"/>
        </p:blipFill>
        <p:spPr>
          <a:xfrm xmlns:a="http://schemas.openxmlformats.org/drawingml/2006/main">
            <a:off x="400050" y="2135981"/>
            <a:ext cx="8572500" cy="321468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17ABBE1-A2A5-4D4D-BD83-D78A6BF34C7A}"/>
              </a:ext>
            </a:extLst>
          </p:cNvPr>
          <p:cNvSpPr>
            <a:spLocks xmlns:a="http://schemas.openxmlformats.org/drawingml/2006/main" noGrp="1"/>
          </p:cNvSpPr>
          <p:nvPr/>
        </p:nvSpPr>
        <p:spPr>
          <a:xfrm xmlns:a="http://schemas.openxmlformats.org/drawingml/2006/main">
            <a:off x="9220200" y="1524000"/>
            <a:ext cx="2419350" cy="43624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6EB1E733-A603-4CA3-9966-67AFD1400CDE}"/>
              </a:ext>
            </a:extLst>
          </p:cNvPr>
          <p:cNvSpPr>
            <a:spLocks xmlns:a="http://schemas.openxmlformats.org/drawingml/2006/main" noGrp="1"/>
          </p:cNvSpPr>
          <p:nvPr/>
        </p:nvSpPr>
        <p:spPr>
          <a:xfrm xmlns:a="http://schemas.openxmlformats.org/drawingml/2006/main">
            <a:off x="9448800" y="179070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defRPr>
            </a:pPr>
            <a:r>
              <a:rPr sz="1725" b="1">
                <a:solidFill>
                  <a:srgbClr val="000000"/>
                </a:solidFill>
              </a:rPr>
              <a:t>Descriptive contrast</a:t>
            </a:r>
          </a:p>
        </p:txBody>
      </p:sp>
      <p:sp>
        <p:nvSpPr>
          <p:cNvPr id="9" name="">
            <a:extLst xmlns:a="http://schemas.openxmlformats.org/drawingml/2006/main">
              <a:ext uri="{FF2B5EF4-FFF2-40B4-BE49-F238E27FC236}">
                <a16:creationId xmlns:a16="http://schemas.microsoft.com/office/drawing/2014/main" id="{CF7B0123-0E58-4AF5-97E9-B9B04C1A0BE6}"/>
              </a:ext>
            </a:extLst>
          </p:cNvPr>
          <p:cNvSpPr>
            <a:spLocks xmlns:a="http://schemas.openxmlformats.org/drawingml/2006/main" noGrp="1"/>
          </p:cNvSpPr>
          <p:nvPr/>
        </p:nvSpPr>
        <p:spPr>
          <a:xfrm xmlns:a="http://schemas.openxmlformats.org/drawingml/2006/main">
            <a:off x="9448800" y="26193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D6DE30D1-942A-4C8C-9A8B-9D1450BD95F2}"/>
              </a:ext>
            </a:extLst>
          </p:cNvPr>
          <p:cNvSpPr>
            <a:spLocks xmlns:a="http://schemas.openxmlformats.org/drawingml/2006/main" noGrp="1"/>
          </p:cNvSpPr>
          <p:nvPr/>
        </p:nvSpPr>
        <p:spPr>
          <a:xfrm xmlns:a="http://schemas.openxmlformats.org/drawingml/2006/main">
            <a:off x="9677400" y="2533650"/>
            <a:ext cx="17716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After negative long-window returns, forward long-window correlations become positive.</a:t>
            </a:r>
          </a:p>
        </p:txBody>
      </p:sp>
      <p:sp>
        <p:nvSpPr>
          <p:cNvPr id="11" name="">
            <a:extLst xmlns:a="http://schemas.openxmlformats.org/drawingml/2006/main">
              <a:ext uri="{FF2B5EF4-FFF2-40B4-BE49-F238E27FC236}">
                <a16:creationId xmlns:a16="http://schemas.microsoft.com/office/drawing/2014/main" id="{2D5DB651-5C5D-49AF-A3AB-E614CA52D220}"/>
              </a:ext>
            </a:extLst>
          </p:cNvPr>
          <p:cNvSpPr>
            <a:spLocks xmlns:a="http://schemas.openxmlformats.org/drawingml/2006/main" noGrp="1"/>
          </p:cNvSpPr>
          <p:nvPr/>
        </p:nvSpPr>
        <p:spPr>
          <a:xfrm xmlns:a="http://schemas.openxmlformats.org/drawingml/2006/main">
            <a:off x="9448800" y="381952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2" name="">
            <a:extLst xmlns:a="http://schemas.openxmlformats.org/drawingml/2006/main">
              <a:ext uri="{FF2B5EF4-FFF2-40B4-BE49-F238E27FC236}">
                <a16:creationId xmlns:a16="http://schemas.microsoft.com/office/drawing/2014/main" id="{BE928145-D1B0-4516-8882-2BD43A10CBCE}"/>
              </a:ext>
            </a:extLst>
          </p:cNvPr>
          <p:cNvSpPr>
            <a:spLocks xmlns:a="http://schemas.openxmlformats.org/drawingml/2006/main" noGrp="1"/>
          </p:cNvSpPr>
          <p:nvPr/>
        </p:nvSpPr>
        <p:spPr>
          <a:xfrm xmlns:a="http://schemas.openxmlformats.org/drawingml/2006/main">
            <a:off x="9677400" y="3733800"/>
            <a:ext cx="17716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After positive priors, the same region is mostly mild negative.</a:t>
            </a:r>
          </a:p>
        </p:txBody>
      </p:sp>
      <p:sp>
        <p:nvSpPr>
          <p:cNvPr id="13" name="">
            <a:extLst xmlns:a="http://schemas.openxmlformats.org/drawingml/2006/main">
              <a:ext uri="{FF2B5EF4-FFF2-40B4-BE49-F238E27FC236}">
                <a16:creationId xmlns:a16="http://schemas.microsoft.com/office/drawing/2014/main" id="{71BF6DC0-264F-4545-B223-2C75E8E5F7D5}"/>
              </a:ext>
            </a:extLst>
          </p:cNvPr>
          <p:cNvSpPr>
            <a:spLocks xmlns:a="http://schemas.openxmlformats.org/drawingml/2006/main" noGrp="1"/>
          </p:cNvSpPr>
          <p:nvPr/>
        </p:nvSpPr>
        <p:spPr>
          <a:xfrm xmlns:a="http://schemas.openxmlformats.org/drawingml/2006/main">
            <a:off x="9448800" y="4895850"/>
            <a:ext cx="2000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4364B"/>
                </a:solidFill>
              </a:defRPr>
            </a:pPr>
            <a:r>
              <a:rPr sz="1275" b="1">
                <a:solidFill>
                  <a:srgbClr val="24364B"/>
                </a:solidFill>
              </a:rPr>
              <a:t>The negative delta at long-long cells reads more like rebound asymmetry than classical continuation.</a:t>
            </a:r>
          </a:p>
        </p:txBody>
      </p:sp>
    </p:spTree>
    <p:extLst>
      <p:ext uri="{BB962C8B-B14F-4D97-AF65-F5344CB8AC3E}">
        <p14:creationId xmlns:p14="http://schemas.microsoft.com/office/powerpoint/2010/main" val="12780012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4BEC694-00C8-4683-9B90-4B839295CD61}"/>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MICROSCOPE</a:t>
            </a:r>
          </a:p>
        </p:txBody>
      </p:sp>
      <p:sp>
        <p:nvSpPr>
          <p:cNvPr id="2" name="">
            <a:extLst xmlns:a="http://schemas.openxmlformats.org/drawingml/2006/main">
              <a:ext uri="{FF2B5EF4-FFF2-40B4-BE49-F238E27FC236}">
                <a16:creationId xmlns:a16="http://schemas.microsoft.com/office/drawing/2014/main" id="{7D5E667A-0D48-4CEC-822A-106D997CEC7A}"/>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Daily states can cleanly condition intraday returns</a:t>
            </a:r>
          </a:p>
        </p:txBody>
      </p:sp>
      <p:sp>
        <p:nvSpPr>
          <p:cNvPr id="3" name="">
            <a:extLst xmlns:a="http://schemas.openxmlformats.org/drawingml/2006/main">
              <a:ext uri="{FF2B5EF4-FFF2-40B4-BE49-F238E27FC236}">
                <a16:creationId xmlns:a16="http://schemas.microsoft.com/office/drawing/2014/main" id="{9C92768F-342F-4480-8339-438E568AEEB5}"/>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DF20738E-BE6C-4B7F-96A2-4825D35FBDE1}"/>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972767D5-0C6C-4A62-8273-9E469906D946}"/>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13</a:t>
            </a:r>
          </a:p>
        </p:txBody>
      </p:sp>
      <p:sp>
        <p:nvSpPr>
          <p:cNvPr id="6" name="">
            <a:extLst xmlns:a="http://schemas.openxmlformats.org/drawingml/2006/main">
              <a:ext uri="{FF2B5EF4-FFF2-40B4-BE49-F238E27FC236}">
                <a16:creationId xmlns:a16="http://schemas.microsoft.com/office/drawing/2014/main" id="{69E2E092-3189-4E07-A5CF-3A2A8EABB57A}"/>
              </a:ext>
            </a:extLst>
          </p:cNvPr>
          <p:cNvSpPr>
            <a:spLocks xmlns:a="http://schemas.openxmlformats.org/drawingml/2006/main" noGrp="1"/>
          </p:cNvSpPr>
          <p:nvPr/>
        </p:nvSpPr>
        <p:spPr>
          <a:xfrm xmlns:a="http://schemas.openxmlformats.org/drawingml/2006/main">
            <a:off x="552450" y="1562100"/>
            <a:ext cx="5257800" cy="409575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7" name="">
            <a:extLst xmlns:a="http://schemas.openxmlformats.org/drawingml/2006/main">
              <a:ext uri="{FF2B5EF4-FFF2-40B4-BE49-F238E27FC236}">
                <a16:creationId xmlns:a16="http://schemas.microsoft.com/office/drawing/2014/main" id="{91C8D103-2D41-4624-9EB2-591E393D59CE}"/>
              </a:ext>
            </a:extLst>
          </p:cNvPr>
          <p:cNvSpPr>
            <a:spLocks xmlns:a="http://schemas.openxmlformats.org/drawingml/2006/main" noGrp="1"/>
          </p:cNvSpPr>
          <p:nvPr/>
        </p:nvSpPr>
        <p:spPr>
          <a:xfrm xmlns:a="http://schemas.openxmlformats.org/drawingml/2006/main">
            <a:off x="81915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Primary next slice</a:t>
            </a:r>
          </a:p>
        </p:txBody>
      </p:sp>
      <p:sp>
        <p:nvSpPr>
          <p:cNvPr id="8" name="">
            <a:extLst xmlns:a="http://schemas.openxmlformats.org/drawingml/2006/main">
              <a:ext uri="{FF2B5EF4-FFF2-40B4-BE49-F238E27FC236}">
                <a16:creationId xmlns:a16="http://schemas.microsoft.com/office/drawing/2014/main" id="{AC20A567-EA47-4EEF-8F8B-CF261AC2BDCF}"/>
              </a:ext>
            </a:extLst>
          </p:cNvPr>
          <p:cNvSpPr>
            <a:spLocks xmlns:a="http://schemas.openxmlformats.org/drawingml/2006/main" noGrp="1"/>
          </p:cNvSpPr>
          <p:nvPr/>
        </p:nvSpPr>
        <p:spPr>
          <a:xfrm xmlns:a="http://schemas.openxmlformats.org/drawingml/2006/main">
            <a:off x="838200" y="25146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3D8DFF"/>
                </a:solidFill>
              </a:defRPr>
            </a:pPr>
            <a:r>
              <a:rPr sz="2025" b="1">
                <a:solidFill>
                  <a:srgbClr val="3D8DFF"/>
                </a:solidFill>
              </a:rPr>
              <a:t>Completed daily state at t−1</a:t>
            </a:r>
          </a:p>
        </p:txBody>
      </p:sp>
      <p:sp>
        <p:nvSpPr>
          <p:cNvPr id="9" name="">
            <a:extLst xmlns:a="http://schemas.openxmlformats.org/drawingml/2006/main">
              <a:ext uri="{FF2B5EF4-FFF2-40B4-BE49-F238E27FC236}">
                <a16:creationId xmlns:a16="http://schemas.microsoft.com/office/drawing/2014/main" id="{64E2956C-D666-4277-8E86-653D196E1EAE}"/>
              </a:ext>
            </a:extLst>
          </p:cNvPr>
          <p:cNvSpPr>
            <a:spLocks xmlns:a="http://schemas.openxmlformats.org/drawingml/2006/main" noGrp="1"/>
          </p:cNvSpPr>
          <p:nvPr/>
        </p:nvSpPr>
        <p:spPr>
          <a:xfrm xmlns:a="http://schemas.openxmlformats.org/drawingml/2006/main">
            <a:off x="2667000" y="29527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00" b="1">
                <a:solidFill>
                  <a:srgbClr val="667386"/>
                </a:solidFill>
              </a:defRPr>
            </a:pPr>
            <a:r>
              <a:rPr sz="2400" b="1">
                <a:solidFill>
                  <a:srgbClr val="667386"/>
                </a:solidFill>
              </a:rPr>
              <a:t>↓</a:t>
            </a:r>
          </a:p>
        </p:txBody>
      </p:sp>
      <p:sp>
        <p:nvSpPr>
          <p:cNvPr id="10" name="">
            <a:extLst xmlns:a="http://schemas.openxmlformats.org/drawingml/2006/main">
              <a:ext uri="{FF2B5EF4-FFF2-40B4-BE49-F238E27FC236}">
                <a16:creationId xmlns:a16="http://schemas.microsoft.com/office/drawing/2014/main" id="{AE68ADD9-FEF7-43FE-9AF2-3F32C2F95403}"/>
              </a:ext>
            </a:extLst>
          </p:cNvPr>
          <p:cNvSpPr>
            <a:spLocks xmlns:a="http://schemas.openxmlformats.org/drawingml/2006/main" noGrp="1"/>
          </p:cNvSpPr>
          <p:nvPr/>
        </p:nvSpPr>
        <p:spPr>
          <a:xfrm xmlns:a="http://schemas.openxmlformats.org/drawingml/2006/main">
            <a:off x="838200" y="3505200"/>
            <a:ext cx="4381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24364B"/>
                </a:solidFill>
              </a:defRPr>
            </a:pPr>
            <a:r>
              <a:rPr sz="1950" b="1">
                <a:solidFill>
                  <a:srgbClr val="24364B"/>
                </a:solidFill>
              </a:rPr>
              <a:t>Today’s overnight gap + each 30-minute bar</a:t>
            </a:r>
          </a:p>
        </p:txBody>
      </p:sp>
      <p:sp>
        <p:nvSpPr>
          <p:cNvPr id="11" name="">
            <a:extLst xmlns:a="http://schemas.openxmlformats.org/drawingml/2006/main">
              <a:ext uri="{FF2B5EF4-FFF2-40B4-BE49-F238E27FC236}">
                <a16:creationId xmlns:a16="http://schemas.microsoft.com/office/drawing/2014/main" id="{6D9A0B2B-076B-4EEE-86F3-E9D68034D86A}"/>
              </a:ext>
            </a:extLst>
          </p:cNvPr>
          <p:cNvSpPr>
            <a:spLocks xmlns:a="http://schemas.openxmlformats.org/drawingml/2006/main" noGrp="1"/>
          </p:cNvSpPr>
          <p:nvPr/>
        </p:nvSpPr>
        <p:spPr>
          <a:xfrm xmlns:a="http://schemas.openxmlformats.org/drawingml/2006/main">
            <a:off x="838200" y="465772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2" name="">
            <a:extLst xmlns:a="http://schemas.openxmlformats.org/drawingml/2006/main">
              <a:ext uri="{FF2B5EF4-FFF2-40B4-BE49-F238E27FC236}">
                <a16:creationId xmlns:a16="http://schemas.microsoft.com/office/drawing/2014/main" id="{CFCF0FA5-C99D-41CC-80C9-109C174F9C40}"/>
              </a:ext>
            </a:extLst>
          </p:cNvPr>
          <p:cNvSpPr>
            <a:spLocks xmlns:a="http://schemas.openxmlformats.org/drawingml/2006/main" noGrp="1"/>
          </p:cNvSpPr>
          <p:nvPr/>
        </p:nvSpPr>
        <p:spPr>
          <a:xfrm xmlns:a="http://schemas.openxmlformats.org/drawingml/2006/main">
            <a:off x="1066800" y="4572000"/>
            <a:ext cx="4152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Causal at the open</a:t>
            </a:r>
          </a:p>
        </p:txBody>
      </p:sp>
      <p:sp>
        <p:nvSpPr>
          <p:cNvPr id="13" name="">
            <a:extLst xmlns:a="http://schemas.openxmlformats.org/drawingml/2006/main">
              <a:ext uri="{FF2B5EF4-FFF2-40B4-BE49-F238E27FC236}">
                <a16:creationId xmlns:a16="http://schemas.microsoft.com/office/drawing/2014/main" id="{77B4E034-34E2-4151-B328-5A58CB31FA99}"/>
              </a:ext>
            </a:extLst>
          </p:cNvPr>
          <p:cNvSpPr>
            <a:spLocks xmlns:a="http://schemas.openxmlformats.org/drawingml/2006/main" noGrp="1"/>
          </p:cNvSpPr>
          <p:nvPr/>
        </p:nvSpPr>
        <p:spPr>
          <a:xfrm xmlns:a="http://schemas.openxmlformats.org/drawingml/2006/main">
            <a:off x="838200" y="515302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4" name="">
            <a:extLst xmlns:a="http://schemas.openxmlformats.org/drawingml/2006/main">
              <a:ext uri="{FF2B5EF4-FFF2-40B4-BE49-F238E27FC236}">
                <a16:creationId xmlns:a16="http://schemas.microsoft.com/office/drawing/2014/main" id="{9D218B92-E56E-4208-A753-4031F31C4EB1}"/>
              </a:ext>
            </a:extLst>
          </p:cNvPr>
          <p:cNvSpPr>
            <a:spLocks xmlns:a="http://schemas.openxmlformats.org/drawingml/2006/main" noGrp="1"/>
          </p:cNvSpPr>
          <p:nvPr/>
        </p:nvSpPr>
        <p:spPr>
          <a:xfrm xmlns:a="http://schemas.openxmlformats.org/drawingml/2006/main">
            <a:off x="1066800" y="5067300"/>
            <a:ext cx="4152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Directly answers whether the return clock differs by known regime</a:t>
            </a:r>
          </a:p>
        </p:txBody>
      </p:sp>
      <p:sp>
        <p:nvSpPr>
          <p:cNvPr id="15" name="">
            <a:extLst xmlns:a="http://schemas.openxmlformats.org/drawingml/2006/main">
              <a:ext uri="{FF2B5EF4-FFF2-40B4-BE49-F238E27FC236}">
                <a16:creationId xmlns:a16="http://schemas.microsoft.com/office/drawing/2014/main" id="{26B9BD59-0F41-440D-A355-73CC9286F385}"/>
              </a:ext>
            </a:extLst>
          </p:cNvPr>
          <p:cNvSpPr>
            <a:spLocks xmlns:a="http://schemas.openxmlformats.org/drawingml/2006/main" noGrp="1"/>
          </p:cNvSpPr>
          <p:nvPr/>
        </p:nvSpPr>
        <p:spPr>
          <a:xfrm xmlns:a="http://schemas.openxmlformats.org/drawingml/2006/main">
            <a:off x="6153150" y="1562100"/>
            <a:ext cx="5486400" cy="40957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6" name="">
            <a:extLst xmlns:a="http://schemas.openxmlformats.org/drawingml/2006/main">
              <a:ext uri="{FF2B5EF4-FFF2-40B4-BE49-F238E27FC236}">
                <a16:creationId xmlns:a16="http://schemas.microsoft.com/office/drawing/2014/main" id="{28D0DA09-C792-4F9C-A173-F9ECFC616409}"/>
              </a:ext>
            </a:extLst>
          </p:cNvPr>
          <p:cNvSpPr>
            <a:spLocks xmlns:a="http://schemas.openxmlformats.org/drawingml/2006/main" noGrp="1"/>
          </p:cNvSpPr>
          <p:nvPr/>
        </p:nvSpPr>
        <p:spPr>
          <a:xfrm xmlns:a="http://schemas.openxmlformats.org/drawingml/2006/main">
            <a:off x="6419850" y="184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Separate later experiment</a:t>
            </a:r>
          </a:p>
        </p:txBody>
      </p:sp>
      <p:sp>
        <p:nvSpPr>
          <p:cNvPr id="17" name="">
            <a:extLst xmlns:a="http://schemas.openxmlformats.org/drawingml/2006/main">
              <a:ext uri="{FF2B5EF4-FFF2-40B4-BE49-F238E27FC236}">
                <a16:creationId xmlns:a16="http://schemas.microsoft.com/office/drawing/2014/main" id="{68654837-615B-4818-AFF3-56264E83618E}"/>
              </a:ext>
            </a:extLst>
          </p:cNvPr>
          <p:cNvSpPr>
            <a:spLocks xmlns:a="http://schemas.openxmlformats.org/drawingml/2006/main" noGrp="1"/>
          </p:cNvSpPr>
          <p:nvPr/>
        </p:nvSpPr>
        <p:spPr>
          <a:xfrm xmlns:a="http://schemas.openxmlformats.org/drawingml/2006/main">
            <a:off x="6438900" y="2514600"/>
            <a:ext cx="445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A86B00"/>
                </a:solidFill>
              </a:defRPr>
            </a:pPr>
            <a:r>
              <a:rPr sz="2025" b="1">
                <a:solidFill>
                  <a:srgbClr val="A86B00"/>
                </a:solidFill>
              </a:rPr>
              <a:t>Completed intraday window</a:t>
            </a:r>
          </a:p>
        </p:txBody>
      </p:sp>
      <p:sp>
        <p:nvSpPr>
          <p:cNvPr id="18" name="">
            <a:extLst xmlns:a="http://schemas.openxmlformats.org/drawingml/2006/main">
              <a:ext uri="{FF2B5EF4-FFF2-40B4-BE49-F238E27FC236}">
                <a16:creationId xmlns:a16="http://schemas.microsoft.com/office/drawing/2014/main" id="{D9AB9C43-8AF4-415A-B9E9-8F15A21167AE}"/>
              </a:ext>
            </a:extLst>
          </p:cNvPr>
          <p:cNvSpPr>
            <a:spLocks xmlns:a="http://schemas.openxmlformats.org/drawingml/2006/main" noGrp="1"/>
          </p:cNvSpPr>
          <p:nvPr/>
        </p:nvSpPr>
        <p:spPr>
          <a:xfrm xmlns:a="http://schemas.openxmlformats.org/drawingml/2006/main">
            <a:off x="8343900" y="29527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00" b="1">
                <a:solidFill>
                  <a:srgbClr val="667386"/>
                </a:solidFill>
              </a:defRPr>
            </a:pPr>
            <a:r>
              <a:rPr sz="2400" b="1">
                <a:solidFill>
                  <a:srgbClr val="667386"/>
                </a:solidFill>
              </a:rPr>
              <a:t>↓</a:t>
            </a:r>
          </a:p>
        </p:txBody>
      </p:sp>
      <p:sp>
        <p:nvSpPr>
          <p:cNvPr id="19" name="">
            <a:extLst xmlns:a="http://schemas.openxmlformats.org/drawingml/2006/main">
              <a:ext uri="{FF2B5EF4-FFF2-40B4-BE49-F238E27FC236}">
                <a16:creationId xmlns:a16="http://schemas.microsoft.com/office/drawing/2014/main" id="{81767699-6797-4B95-ACD8-51BEA53BF25D}"/>
              </a:ext>
            </a:extLst>
          </p:cNvPr>
          <p:cNvSpPr>
            <a:spLocks xmlns:a="http://schemas.openxmlformats.org/drawingml/2006/main" noGrp="1"/>
          </p:cNvSpPr>
          <p:nvPr/>
        </p:nvSpPr>
        <p:spPr>
          <a:xfrm xmlns:a="http://schemas.openxmlformats.org/drawingml/2006/main">
            <a:off x="6438900" y="3505200"/>
            <a:ext cx="445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24364B"/>
                </a:solidFill>
              </a:defRPr>
            </a:pPr>
            <a:r>
              <a:rPr sz="1950" b="1">
                <a:solidFill>
                  <a:srgbClr val="24364B"/>
                </a:solidFill>
              </a:rPr>
              <a:t>Later bars in the same session</a:t>
            </a:r>
          </a:p>
        </p:txBody>
      </p:sp>
      <p:sp>
        <p:nvSpPr>
          <p:cNvPr id="20" name="">
            <a:extLst xmlns:a="http://schemas.openxmlformats.org/drawingml/2006/main">
              <a:ext uri="{FF2B5EF4-FFF2-40B4-BE49-F238E27FC236}">
                <a16:creationId xmlns:a16="http://schemas.microsoft.com/office/drawing/2014/main" id="{82895F04-3FB0-4DAC-90BE-6268AA8160EE}"/>
              </a:ext>
            </a:extLst>
          </p:cNvPr>
          <p:cNvSpPr>
            <a:spLocks xmlns:a="http://schemas.openxmlformats.org/drawingml/2006/main" noGrp="1"/>
          </p:cNvSpPr>
          <p:nvPr/>
        </p:nvSpPr>
        <p:spPr>
          <a:xfrm xmlns:a="http://schemas.openxmlformats.org/drawingml/2006/main">
            <a:off x="6438900" y="4581525"/>
            <a:ext cx="85725" cy="85725"/>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21" name="">
            <a:extLst xmlns:a="http://schemas.openxmlformats.org/drawingml/2006/main">
              <a:ext uri="{FF2B5EF4-FFF2-40B4-BE49-F238E27FC236}">
                <a16:creationId xmlns:a16="http://schemas.microsoft.com/office/drawing/2014/main" id="{6C6DFC25-A748-475B-9956-1B5CC1335F37}"/>
              </a:ext>
            </a:extLst>
          </p:cNvPr>
          <p:cNvSpPr>
            <a:spLocks xmlns:a="http://schemas.openxmlformats.org/drawingml/2006/main" noGrp="1"/>
          </p:cNvSpPr>
          <p:nvPr/>
        </p:nvSpPr>
        <p:spPr>
          <a:xfrm xmlns:a="http://schemas.openxmlformats.org/drawingml/2006/main">
            <a:off x="6667500" y="4495800"/>
            <a:ext cx="4229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Requires a separately declared bar window</a:t>
            </a:r>
          </a:p>
        </p:txBody>
      </p:sp>
      <p:sp>
        <p:nvSpPr>
          <p:cNvPr id="22" name="">
            <a:extLst xmlns:a="http://schemas.openxmlformats.org/drawingml/2006/main">
              <a:ext uri="{FF2B5EF4-FFF2-40B4-BE49-F238E27FC236}">
                <a16:creationId xmlns:a16="http://schemas.microsoft.com/office/drawing/2014/main" id="{DC0518D8-0CC6-46AB-B1D1-22A19FF20F3D}"/>
              </a:ext>
            </a:extLst>
          </p:cNvPr>
          <p:cNvSpPr>
            <a:spLocks xmlns:a="http://schemas.openxmlformats.org/drawingml/2006/main" noGrp="1"/>
          </p:cNvSpPr>
          <p:nvPr/>
        </p:nvSpPr>
        <p:spPr>
          <a:xfrm xmlns:a="http://schemas.openxmlformats.org/drawingml/2006/main">
            <a:off x="6438900" y="52482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23" name="">
            <a:extLst xmlns:a="http://schemas.openxmlformats.org/drawingml/2006/main">
              <a:ext uri="{FF2B5EF4-FFF2-40B4-BE49-F238E27FC236}">
                <a16:creationId xmlns:a16="http://schemas.microsoft.com/office/drawing/2014/main" id="{E1E439F3-F949-4B2F-8A5D-A2E73432AFC2}"/>
              </a:ext>
            </a:extLst>
          </p:cNvPr>
          <p:cNvSpPr>
            <a:spLocks xmlns:a="http://schemas.openxmlformats.org/drawingml/2006/main" noGrp="1"/>
          </p:cNvSpPr>
          <p:nvPr/>
        </p:nvSpPr>
        <p:spPr>
          <a:xfrm xmlns:a="http://schemas.openxmlformats.org/drawingml/2006/main">
            <a:off x="6667500" y="5162550"/>
            <a:ext cx="4229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Strictly prevents later bars from entering the state</a:t>
            </a:r>
          </a:p>
        </p:txBody>
      </p:sp>
    </p:spTree>
    <p:extLst>
      <p:ext uri="{BB962C8B-B14F-4D97-AF65-F5344CB8AC3E}">
        <p14:creationId xmlns:p14="http://schemas.microsoft.com/office/powerpoint/2010/main" val="2484151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92890B2-DAF4-4DAD-846E-1591DC00E061}"/>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MICROSCOPE</a:t>
            </a:r>
          </a:p>
        </p:txBody>
      </p:sp>
      <p:sp>
        <p:nvSpPr>
          <p:cNvPr id="2" name="">
            <a:extLst xmlns:a="http://schemas.openxmlformats.org/drawingml/2006/main">
              <a:ext uri="{FF2B5EF4-FFF2-40B4-BE49-F238E27FC236}">
                <a16:creationId xmlns:a16="http://schemas.microsoft.com/office/drawing/2014/main" id="{17ADA9C0-982C-41DA-9708-B7980FA57F26}"/>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Do not mechanically multiply ER20 by 13</a:t>
            </a:r>
          </a:p>
        </p:txBody>
      </p:sp>
      <p:sp>
        <p:nvSpPr>
          <p:cNvPr id="3" name="">
            <a:extLst xmlns:a="http://schemas.openxmlformats.org/drawingml/2006/main">
              <a:ext uri="{FF2B5EF4-FFF2-40B4-BE49-F238E27FC236}">
                <a16:creationId xmlns:a16="http://schemas.microsoft.com/office/drawing/2014/main" id="{DE1CD019-1530-4F01-A317-7DA3D619BC30}"/>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193FD946-74D4-49B1-9980-8279A8168A00}"/>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448B2920-05D0-4554-B8A4-FB9315B561A7}"/>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14</a:t>
            </a:r>
          </a:p>
        </p:txBody>
      </p:sp>
      <p:sp>
        <p:nvSpPr>
          <p:cNvPr id="6" name="">
            <a:extLst xmlns:a="http://schemas.openxmlformats.org/drawingml/2006/main">
              <a:ext uri="{FF2B5EF4-FFF2-40B4-BE49-F238E27FC236}">
                <a16:creationId xmlns:a16="http://schemas.microsoft.com/office/drawing/2014/main" id="{AEBC3E56-9AAB-4719-AF96-ED526EEDE005}"/>
              </a:ext>
            </a:extLst>
          </p:cNvPr>
          <p:cNvSpPr>
            <a:spLocks xmlns:a="http://schemas.openxmlformats.org/drawingml/2006/main" noGrp="1"/>
          </p:cNvSpPr>
          <p:nvPr/>
        </p:nvSpPr>
        <p:spPr>
          <a:xfrm xmlns:a="http://schemas.openxmlformats.org/drawingml/2006/main">
            <a:off x="552450" y="1562100"/>
            <a:ext cx="11087100" cy="1295400"/>
          </a:xfrm>
          <a:prstGeom xmlns:a="http://schemas.openxmlformats.org/drawingml/2006/main" prst="rect">
            <a:avLst/>
          </a:prstGeom>
          <a:solidFill xmlns:a="http://schemas.openxmlformats.org/drawingml/2006/main">
            <a:srgbClr val="24364B"/>
          </a:solidFill>
          <a:ln xmlns:a="http://schemas.openxmlformats.org/drawingml/2006/main" w="0">
            <a:solidFill>
              <a:srgbClr val="24364B"/>
            </a:solidFill>
            <a:prstDash val="solid"/>
          </a:ln>
        </p:spPr>
      </p:sp>
      <p:sp>
        <p:nvSpPr>
          <p:cNvPr id="7" name="">
            <a:extLst xmlns:a="http://schemas.openxmlformats.org/drawingml/2006/main">
              <a:ext uri="{FF2B5EF4-FFF2-40B4-BE49-F238E27FC236}">
                <a16:creationId xmlns:a16="http://schemas.microsoft.com/office/drawing/2014/main" id="{1FF3D792-831D-46EF-8691-BA50C46D37AC}"/>
              </a:ext>
            </a:extLst>
          </p:cNvPr>
          <p:cNvSpPr>
            <a:spLocks xmlns:a="http://schemas.openxmlformats.org/drawingml/2006/main" noGrp="1"/>
          </p:cNvSpPr>
          <p:nvPr/>
        </p:nvSpPr>
        <p:spPr>
          <a:xfrm xmlns:a="http://schemas.openxmlformats.org/drawingml/2006/main">
            <a:off x="819150" y="1885950"/>
            <a:ext cx="10553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FFFFFF"/>
                </a:solidFill>
              </a:defRPr>
            </a:pPr>
            <a:r>
              <a:rPr sz="2025" b="1">
                <a:solidFill>
                  <a:srgbClr val="FFFFFF"/>
                </a:solidFill>
              </a:rPr>
              <a:t>A daily 20-session ER asks about roughly one trading month. A 260-bar ER asks about a different object: the path through thousands of within-session micro-moves.</a:t>
            </a:r>
          </a:p>
        </p:txBody>
      </p:sp>
      <p:sp>
        <p:nvSpPr>
          <p:cNvPr id="8" name="">
            <a:extLst xmlns:a="http://schemas.openxmlformats.org/drawingml/2006/main">
              <a:ext uri="{FF2B5EF4-FFF2-40B4-BE49-F238E27FC236}">
                <a16:creationId xmlns:a16="http://schemas.microsoft.com/office/drawing/2014/main" id="{BF4FC53F-4CE2-47EF-AAE8-A614EB330E38}"/>
              </a:ext>
            </a:extLst>
          </p:cNvPr>
          <p:cNvSpPr>
            <a:spLocks xmlns:a="http://schemas.openxmlformats.org/drawingml/2006/main" noGrp="1"/>
          </p:cNvSpPr>
          <p:nvPr/>
        </p:nvSpPr>
        <p:spPr>
          <a:xfrm xmlns:a="http://schemas.openxmlformats.org/drawingml/2006/main">
            <a:off x="552450" y="32956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defRPr>
            </a:pPr>
            <a:r>
              <a:rPr sz="2175" b="1">
                <a:solidFill>
                  <a:srgbClr val="000000"/>
                </a:solidFill>
              </a:rPr>
              <a:t>Recommended sequence</a:t>
            </a:r>
          </a:p>
        </p:txBody>
      </p:sp>
      <p:sp>
        <p:nvSpPr>
          <p:cNvPr id="9" name="">
            <a:extLst xmlns:a="http://schemas.openxmlformats.org/drawingml/2006/main">
              <a:ext uri="{FF2B5EF4-FFF2-40B4-BE49-F238E27FC236}">
                <a16:creationId xmlns:a16="http://schemas.microsoft.com/office/drawing/2014/main" id="{04AAD80D-475B-49E2-8C8A-0C3F68618563}"/>
              </a:ext>
            </a:extLst>
          </p:cNvPr>
          <p:cNvSpPr>
            <a:spLocks xmlns:a="http://schemas.openxmlformats.org/drawingml/2006/main" noGrp="1"/>
          </p:cNvSpPr>
          <p:nvPr/>
        </p:nvSpPr>
        <p:spPr>
          <a:xfrm xmlns:a="http://schemas.openxmlformats.org/drawingml/2006/main">
            <a:off x="704850" y="40386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00" b="1">
                <a:solidFill>
                  <a:srgbClr val="3D8DFF"/>
                </a:solidFill>
              </a:defRPr>
            </a:pPr>
            <a:r>
              <a:rPr sz="2400" b="1">
                <a:solidFill>
                  <a:srgbClr val="3D8DFF"/>
                </a:solidFill>
              </a:rPr>
              <a:t>1</a:t>
            </a:r>
          </a:p>
        </p:txBody>
      </p:sp>
      <p:sp>
        <p:nvSpPr>
          <p:cNvPr id="10" name="">
            <a:extLst xmlns:a="http://schemas.openxmlformats.org/drawingml/2006/main">
              <a:ext uri="{FF2B5EF4-FFF2-40B4-BE49-F238E27FC236}">
                <a16:creationId xmlns:a16="http://schemas.microsoft.com/office/drawing/2014/main" id="{6D220BA3-4FC0-4F82-88B4-CA01139A904D}"/>
              </a:ext>
            </a:extLst>
          </p:cNvPr>
          <p:cNvSpPr>
            <a:spLocks xmlns:a="http://schemas.openxmlformats.org/drawingml/2006/main" noGrp="1"/>
          </p:cNvSpPr>
          <p:nvPr/>
        </p:nvSpPr>
        <p:spPr>
          <a:xfrm xmlns:a="http://schemas.openxmlformats.org/drawingml/2006/main">
            <a:off x="1352550" y="3981450"/>
            <a:ext cx="9048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24364B"/>
                </a:solidFill>
              </a:defRPr>
            </a:pPr>
            <a:r>
              <a:rPr sz="1725" b="0">
                <a:solidFill>
                  <a:srgbClr val="24364B"/>
                </a:solidFill>
              </a:rPr>
              <a:t>Use prior-day daily ATR% / ER20 / signed ER20 to split the existing gap-and-clock plot.</a:t>
            </a:r>
          </a:p>
        </p:txBody>
      </p:sp>
      <p:sp>
        <p:nvSpPr>
          <p:cNvPr id="11" name="">
            <a:extLst xmlns:a="http://schemas.openxmlformats.org/drawingml/2006/main">
              <a:ext uri="{FF2B5EF4-FFF2-40B4-BE49-F238E27FC236}">
                <a16:creationId xmlns:a16="http://schemas.microsoft.com/office/drawing/2014/main" id="{1694461A-E3FF-41DB-A711-CD727A6E2978}"/>
              </a:ext>
            </a:extLst>
          </p:cNvPr>
          <p:cNvSpPr>
            <a:spLocks xmlns:a="http://schemas.openxmlformats.org/drawingml/2006/main" noGrp="1"/>
          </p:cNvSpPr>
          <p:nvPr/>
        </p:nvSpPr>
        <p:spPr>
          <a:xfrm xmlns:a="http://schemas.openxmlformats.org/drawingml/2006/main">
            <a:off x="704850" y="48006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00" b="1">
                <a:solidFill>
                  <a:srgbClr val="A86B00"/>
                </a:solidFill>
              </a:defRPr>
            </a:pPr>
            <a:r>
              <a:rPr sz="2400" b="1">
                <a:solidFill>
                  <a:srgbClr val="A86B00"/>
                </a:solidFill>
              </a:rPr>
              <a:t>2</a:t>
            </a:r>
          </a:p>
        </p:txBody>
      </p:sp>
      <p:sp>
        <p:nvSpPr>
          <p:cNvPr id="12" name="">
            <a:extLst xmlns:a="http://schemas.openxmlformats.org/drawingml/2006/main">
              <a:ext uri="{FF2B5EF4-FFF2-40B4-BE49-F238E27FC236}">
                <a16:creationId xmlns:a16="http://schemas.microsoft.com/office/drawing/2014/main" id="{B1C23131-2AF1-4C3E-80BF-0E50411D25A7}"/>
              </a:ext>
            </a:extLst>
          </p:cNvPr>
          <p:cNvSpPr>
            <a:spLocks xmlns:a="http://schemas.openxmlformats.org/drawingml/2006/main" noGrp="1"/>
          </p:cNvSpPr>
          <p:nvPr/>
        </p:nvSpPr>
        <p:spPr>
          <a:xfrm xmlns:a="http://schemas.openxmlformats.org/drawingml/2006/main">
            <a:off x="1352550" y="4743450"/>
            <a:ext cx="9048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24364B"/>
                </a:solidFill>
              </a:defRPr>
            </a:pPr>
            <a:r>
              <a:rPr sz="1725" b="0">
                <a:solidFill>
                  <a:srgbClr val="24364B"/>
                </a:solidFill>
              </a:rPr>
              <a:t>Only if that view is informative, open a distinct intraday-state experiment with a small predeclared window set and strict bar timing.</a:t>
            </a:r>
          </a:p>
        </p:txBody>
      </p:sp>
      <p:sp>
        <p:nvSpPr>
          <p:cNvPr id="13" name="">
            <a:extLst xmlns:a="http://schemas.openxmlformats.org/drawingml/2006/main">
              <a:ext uri="{FF2B5EF4-FFF2-40B4-BE49-F238E27FC236}">
                <a16:creationId xmlns:a16="http://schemas.microsoft.com/office/drawing/2014/main" id="{198083E4-8C81-4102-8C32-DDF9AD6996EE}"/>
              </a:ext>
            </a:extLst>
          </p:cNvPr>
          <p:cNvSpPr>
            <a:spLocks xmlns:a="http://schemas.openxmlformats.org/drawingml/2006/main" noGrp="1"/>
          </p:cNvSpPr>
          <p:nvPr/>
        </p:nvSpPr>
        <p:spPr>
          <a:xfrm xmlns:a="http://schemas.openxmlformats.org/drawingml/2006/main">
            <a:off x="704850" y="5676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00" b="1">
                <a:solidFill>
                  <a:srgbClr val="B44738"/>
                </a:solidFill>
              </a:defRPr>
            </a:pPr>
            <a:r>
              <a:rPr sz="2400" b="1">
                <a:solidFill>
                  <a:srgbClr val="B44738"/>
                </a:solidFill>
              </a:rPr>
              <a:t>3</a:t>
            </a:r>
          </a:p>
        </p:txBody>
      </p:sp>
      <p:sp>
        <p:nvSpPr>
          <p:cNvPr id="14" name="">
            <a:extLst xmlns:a="http://schemas.openxmlformats.org/drawingml/2006/main">
              <a:ext uri="{FF2B5EF4-FFF2-40B4-BE49-F238E27FC236}">
                <a16:creationId xmlns:a16="http://schemas.microsoft.com/office/drawing/2014/main" id="{ACE3682B-F5AE-47E9-8E65-2FA62732D573}"/>
              </a:ext>
            </a:extLst>
          </p:cNvPr>
          <p:cNvSpPr>
            <a:spLocks xmlns:a="http://schemas.openxmlformats.org/drawingml/2006/main" noGrp="1"/>
          </p:cNvSpPr>
          <p:nvPr/>
        </p:nvSpPr>
        <p:spPr>
          <a:xfrm xmlns:a="http://schemas.openxmlformats.org/drawingml/2006/main">
            <a:off x="1352550" y="5619750"/>
            <a:ext cx="904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24364B"/>
                </a:solidFill>
              </a:defRPr>
            </a:pPr>
            <a:r>
              <a:rPr sz="1725" b="0">
                <a:solidFill>
                  <a:srgbClr val="24364B"/>
                </a:solidFill>
              </a:rPr>
              <a:t>Keep every first plot descriptive; promote only a concrete causal pattern to a falsification slice.</a:t>
            </a:r>
          </a:p>
        </p:txBody>
      </p:sp>
      <p:sp>
        <p:nvSpPr>
          <p:cNvPr id="15" name="">
            <a:extLst xmlns:a="http://schemas.openxmlformats.org/drawingml/2006/main">
              <a:ext uri="{FF2B5EF4-FFF2-40B4-BE49-F238E27FC236}">
                <a16:creationId xmlns:a16="http://schemas.microsoft.com/office/drawing/2014/main" id="{0B7446DF-78BC-487B-B1AC-18A1D0F79461}"/>
              </a:ext>
            </a:extLst>
          </p:cNvPr>
          <p:cNvSpPr>
            <a:spLocks xmlns:a="http://schemas.openxmlformats.org/drawingml/2006/main" noGrp="1"/>
          </p:cNvSpPr>
          <p:nvPr/>
        </p:nvSpPr>
        <p:spPr>
          <a:xfrm xmlns:a="http://schemas.openxmlformats.org/drawingml/2006/main">
            <a:off x="552450" y="6286500"/>
            <a:ext cx="11087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B44738"/>
                </a:solidFill>
              </a:defRPr>
            </a:pPr>
            <a:r>
              <a:rPr sz="975" b="1">
                <a:solidFill>
                  <a:srgbClr val="B44738"/>
                </a:solidFill>
              </a:rPr>
              <a:t>CURRENT STATUS: OPENING-RESPONSE CONDITIONING ADDED ON SLIDES 29–34</a:t>
            </a:r>
          </a:p>
        </p:txBody>
      </p:sp>
    </p:spTree>
    <p:extLst>
      <p:ext uri="{BB962C8B-B14F-4D97-AF65-F5344CB8AC3E}">
        <p14:creationId xmlns:p14="http://schemas.microsoft.com/office/powerpoint/2010/main" val="253626779"/>
      </p:ext>
    </p:extLst>
  </p:cSld>
</p:sld>
</file>

<file path=ppt/slides/slide15.xml><?xml version="1.0" encoding="utf-8"?>
<p:sld xmlns:p="http://schemas.openxmlformats.org/presentationml/2006/main">
  <p:cSld>
    <p:bg>
      <p:bgPr>
        <a:solidFill xmlns:a="http://schemas.openxmlformats.org/drawingml/2006/main">
          <a:srgbClr val="24364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ACB8E7-B97B-4491-9BDF-C48384478B15}"/>
              </a:ext>
            </a:extLst>
          </p:cNvPr>
          <p:cNvSpPr>
            <a:spLocks xmlns:a="http://schemas.openxmlformats.org/drawingml/2006/main" noGrp="1"/>
          </p:cNvSpPr>
          <p:nvPr/>
        </p:nvSpPr>
        <p:spPr>
          <a:xfrm xmlns:a="http://schemas.openxmlformats.org/drawingml/2006/main">
            <a:off x="685800" y="8953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D0EDFA"/>
                </a:solidFill>
              </a:defRPr>
            </a:pPr>
            <a:r>
              <a:rPr sz="1275" b="1">
                <a:solidFill>
                  <a:srgbClr val="D0EDFA"/>
                </a:solidFill>
              </a:rPr>
              <a:t>THIRD MICROSCOPE</a:t>
            </a:r>
          </a:p>
        </p:txBody>
      </p:sp>
      <p:sp>
        <p:nvSpPr>
          <p:cNvPr id="2" name="">
            <a:extLst xmlns:a="http://schemas.openxmlformats.org/drawingml/2006/main">
              <a:ext uri="{FF2B5EF4-FFF2-40B4-BE49-F238E27FC236}">
                <a16:creationId xmlns:a16="http://schemas.microsoft.com/office/drawing/2014/main" id="{175C969D-DA77-4017-B945-DDFBD14A7A6E}"/>
              </a:ext>
            </a:extLst>
          </p:cNvPr>
          <p:cNvSpPr>
            <a:spLocks xmlns:a="http://schemas.openxmlformats.org/drawingml/2006/main" noGrp="1"/>
          </p:cNvSpPr>
          <p:nvPr/>
        </p:nvSpPr>
        <p:spPr>
          <a:xfrm xmlns:a="http://schemas.openxmlformats.org/drawingml/2006/main">
            <a:off x="685800" y="1619250"/>
            <a:ext cx="9144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FFFFFF"/>
                </a:solidFill>
              </a:defRPr>
            </a:pPr>
            <a:r>
              <a:rPr sz="4800" b="1">
                <a:solidFill>
                  <a:srgbClr val="FFFFFF"/>
                </a:solidFill>
              </a:rPr>
              <a:t>Can the geometry survive</a:t>
            </a:r>
          </a:p>
          <a:p xmlns:a="http://schemas.openxmlformats.org/drawingml/2006/main">
            <a:pPr algn="l">
              <a:defRPr sz="4800" b="1">
                <a:solidFill>
                  <a:srgbClr val="FFFFFF"/>
                </a:solidFill>
              </a:defRPr>
            </a:pPr>
            <a:r>
              <a:rPr sz="4800" b="1">
                <a:solidFill>
                  <a:srgbClr val="FFFFFF"/>
                </a:solidFill>
              </a:rPr>
              <a:t>executable timing?</a:t>
            </a:r>
          </a:p>
        </p:txBody>
      </p:sp>
      <p:sp>
        <p:nvSpPr>
          <p:cNvPr id="3" name="">
            <a:extLst xmlns:a="http://schemas.openxmlformats.org/drawingml/2006/main">
              <a:ext uri="{FF2B5EF4-FFF2-40B4-BE49-F238E27FC236}">
                <a16:creationId xmlns:a16="http://schemas.microsoft.com/office/drawing/2014/main" id="{9F97428F-A7DA-4ADA-9B7C-147FEB9109FE}"/>
              </a:ext>
            </a:extLst>
          </p:cNvPr>
          <p:cNvSpPr>
            <a:spLocks xmlns:a="http://schemas.openxmlformats.org/drawingml/2006/main" noGrp="1"/>
          </p:cNvSpPr>
          <p:nvPr/>
        </p:nvSpPr>
        <p:spPr>
          <a:xfrm xmlns:a="http://schemas.openxmlformats.org/drawingml/2006/main">
            <a:off x="723900" y="3886200"/>
            <a:ext cx="10287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a:solidFill>
                  <a:srgbClr val="D0EDFA"/>
                </a:solidFill>
              </a:defRPr>
            </a:pPr>
            <a:r>
              <a:rPr sz="2025" b="0">
                <a:solidFill>
                  <a:srgbClr val="D0EDFA"/>
                </a:solidFill>
              </a:rPr>
              <a:t>Two fixed 20/20 clues are converted into next-open, open-to-open rules. The purpose is not to optimize them; it is to see which descriptive pattern remains visible after causal timing, no-overlap, costs, and simple controls.</a:t>
            </a:r>
          </a:p>
        </p:txBody>
      </p:sp>
      <p:sp>
        <p:nvSpPr>
          <p:cNvPr id="4" name="">
            <a:extLst xmlns:a="http://schemas.openxmlformats.org/drawingml/2006/main">
              <a:ext uri="{FF2B5EF4-FFF2-40B4-BE49-F238E27FC236}">
                <a16:creationId xmlns:a16="http://schemas.microsoft.com/office/drawing/2014/main" id="{2498D67E-2892-4905-BFAE-09859AEA1562}"/>
              </a:ext>
            </a:extLst>
          </p:cNvPr>
          <p:cNvSpPr>
            <a:spLocks xmlns:a="http://schemas.openxmlformats.org/drawingml/2006/main" noGrp="1"/>
          </p:cNvSpPr>
          <p:nvPr/>
        </p:nvSpPr>
        <p:spPr>
          <a:xfrm xmlns:a="http://schemas.openxmlformats.org/drawingml/2006/main">
            <a:off x="723900" y="573405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defRPr>
            </a:pPr>
            <a:r>
              <a:rPr sz="1500" b="1">
                <a:solidFill>
                  <a:srgbClr val="FFFFFF"/>
                </a:solidFill>
              </a:rPr>
              <a:t>2018–2023 TRAIN only · one-shot confirmation follows</a:t>
            </a:r>
          </a:p>
        </p:txBody>
      </p:sp>
      <p:sp>
        <p:nvSpPr>
          <p:cNvPr id="5" name="">
            <a:extLst xmlns:a="http://schemas.openxmlformats.org/drawingml/2006/main">
              <a:ext uri="{FF2B5EF4-FFF2-40B4-BE49-F238E27FC236}">
                <a16:creationId xmlns:a16="http://schemas.microsoft.com/office/drawing/2014/main" id="{D9C38F49-A598-41BC-A17D-CED2654B2B25}"/>
              </a:ext>
            </a:extLst>
          </p:cNvPr>
          <p:cNvSpPr>
            <a:spLocks xmlns:a="http://schemas.openxmlformats.org/drawingml/2006/main" noGrp="1"/>
          </p:cNvSpPr>
          <p:nvPr/>
        </p:nvSpPr>
        <p:spPr>
          <a:xfrm xmlns:a="http://schemas.openxmlformats.org/drawingml/2006/main">
            <a:off x="10801350" y="64008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D0EDFA"/>
                </a:solidFill>
              </a:defRPr>
            </a:pPr>
            <a:r>
              <a:rPr sz="900" b="0">
                <a:solidFill>
                  <a:srgbClr val="D0EDFA"/>
                </a:solidFill>
              </a:rPr>
              <a:t>15</a:t>
            </a:r>
          </a:p>
        </p:txBody>
      </p:sp>
    </p:spTree>
    <p:extLst>
      <p:ext uri="{BB962C8B-B14F-4D97-AF65-F5344CB8AC3E}">
        <p14:creationId xmlns:p14="http://schemas.microsoft.com/office/powerpoint/2010/main" val="90624548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08BA5F5-14FC-4593-8C46-2F531F3A1047}"/>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PROTO-RULES</a:t>
            </a:r>
          </a:p>
        </p:txBody>
      </p:sp>
      <p:sp>
        <p:nvSpPr>
          <p:cNvPr id="2" name="">
            <a:extLst xmlns:a="http://schemas.openxmlformats.org/drawingml/2006/main">
              <a:ext uri="{FF2B5EF4-FFF2-40B4-BE49-F238E27FC236}">
                <a16:creationId xmlns:a16="http://schemas.microsoft.com/office/drawing/2014/main" id="{FB1091D1-2718-41BE-9407-EAA2F8CF79CA}"/>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Two clues, two frozen rule translations</a:t>
            </a:r>
          </a:p>
        </p:txBody>
      </p:sp>
      <p:sp>
        <p:nvSpPr>
          <p:cNvPr id="3" name="">
            <a:extLst xmlns:a="http://schemas.openxmlformats.org/drawingml/2006/main">
              <a:ext uri="{FF2B5EF4-FFF2-40B4-BE49-F238E27FC236}">
                <a16:creationId xmlns:a16="http://schemas.microsoft.com/office/drawing/2014/main" id="{6E952349-F85D-4A83-80BD-367CDACF4709}"/>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8E3908CA-718D-43F5-8801-1E01A3F93DCB}"/>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BB9E153A-8BB8-4457-802B-3EA3B27D49B8}"/>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16</a:t>
            </a:r>
          </a:p>
        </p:txBody>
      </p:sp>
      <p:sp>
        <p:nvSpPr>
          <p:cNvPr id="6" name="">
            <a:extLst xmlns:a="http://schemas.openxmlformats.org/drawingml/2006/main">
              <a:ext uri="{FF2B5EF4-FFF2-40B4-BE49-F238E27FC236}">
                <a16:creationId xmlns:a16="http://schemas.microsoft.com/office/drawing/2014/main" id="{58691FDE-C75A-403C-9920-D315137ABEB3}"/>
              </a:ext>
            </a:extLst>
          </p:cNvPr>
          <p:cNvSpPr>
            <a:spLocks xmlns:a="http://schemas.openxmlformats.org/drawingml/2006/main" noGrp="1"/>
          </p:cNvSpPr>
          <p:nvPr/>
        </p:nvSpPr>
        <p:spPr>
          <a:xfrm xmlns:a="http://schemas.openxmlformats.org/drawingml/2006/main">
            <a:off x="552450" y="1562100"/>
            <a:ext cx="5238750" cy="335280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7" name="">
            <a:extLst xmlns:a="http://schemas.openxmlformats.org/drawingml/2006/main">
              <a:ext uri="{FF2B5EF4-FFF2-40B4-BE49-F238E27FC236}">
                <a16:creationId xmlns:a16="http://schemas.microsoft.com/office/drawing/2014/main" id="{FC826E88-FCC4-4D6F-B1AE-5E142A55F38F}"/>
              </a:ext>
            </a:extLst>
          </p:cNvPr>
          <p:cNvSpPr>
            <a:spLocks xmlns:a="http://schemas.openxmlformats.org/drawingml/2006/main" noGrp="1"/>
          </p:cNvSpPr>
          <p:nvPr/>
        </p:nvSpPr>
        <p:spPr>
          <a:xfrm xmlns:a="http://schemas.openxmlformats.org/drawingml/2006/main">
            <a:off x="819150" y="18288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3D8DFF"/>
                </a:solidFill>
              </a:defRPr>
            </a:pPr>
            <a:r>
              <a:rPr sz="2175" b="1">
                <a:solidFill>
                  <a:srgbClr val="3D8DFF"/>
                </a:solidFill>
              </a:rPr>
              <a:t>Efficient-up continuation</a:t>
            </a:r>
          </a:p>
        </p:txBody>
      </p:sp>
      <p:sp>
        <p:nvSpPr>
          <p:cNvPr id="8" name="">
            <a:extLst xmlns:a="http://schemas.openxmlformats.org/drawingml/2006/main">
              <a:ext uri="{FF2B5EF4-FFF2-40B4-BE49-F238E27FC236}">
                <a16:creationId xmlns:a16="http://schemas.microsoft.com/office/drawing/2014/main" id="{8B4A241C-448D-433B-9919-5DE52EBB959D}"/>
              </a:ext>
            </a:extLst>
          </p:cNvPr>
          <p:cNvSpPr>
            <a:spLocks xmlns:a="http://schemas.openxmlformats.org/drawingml/2006/main" noGrp="1"/>
          </p:cNvSpPr>
          <p:nvPr/>
        </p:nvSpPr>
        <p:spPr>
          <a:xfrm xmlns:a="http://schemas.openxmlformats.org/drawingml/2006/main">
            <a:off x="838200" y="2457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67386"/>
                </a:solidFill>
              </a:defRPr>
            </a:pPr>
            <a:r>
              <a:rPr sz="1350" b="1">
                <a:solidFill>
                  <a:srgbClr val="667386"/>
                </a:solidFill>
              </a:rPr>
              <a:t>At close t</a:t>
            </a:r>
          </a:p>
        </p:txBody>
      </p:sp>
      <p:sp>
        <p:nvSpPr>
          <p:cNvPr id="9" name="">
            <a:extLst xmlns:a="http://schemas.openxmlformats.org/drawingml/2006/main">
              <a:ext uri="{FF2B5EF4-FFF2-40B4-BE49-F238E27FC236}">
                <a16:creationId xmlns:a16="http://schemas.microsoft.com/office/drawing/2014/main" id="{5F38E528-4A37-45D0-AB47-46440271DBA1}"/>
              </a:ext>
            </a:extLst>
          </p:cNvPr>
          <p:cNvSpPr>
            <a:spLocks xmlns:a="http://schemas.openxmlformats.org/drawingml/2006/main" noGrp="1"/>
          </p:cNvSpPr>
          <p:nvPr/>
        </p:nvSpPr>
        <p:spPr>
          <a:xfrm xmlns:a="http://schemas.openxmlformats.org/drawingml/2006/main">
            <a:off x="838200" y="28003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24364B"/>
                </a:solidFill>
              </a:defRPr>
            </a:pPr>
            <a:r>
              <a:rPr sz="2100" b="1">
                <a:solidFill>
                  <a:srgbClr val="24364B"/>
                </a:solidFill>
              </a:rPr>
              <a:t>R20 &gt; 0  AND  ER20 ≥ 0.30</a:t>
            </a:r>
          </a:p>
        </p:txBody>
      </p:sp>
      <p:sp>
        <p:nvSpPr>
          <p:cNvPr id="10" name="">
            <a:extLst xmlns:a="http://schemas.openxmlformats.org/drawingml/2006/main">
              <a:ext uri="{FF2B5EF4-FFF2-40B4-BE49-F238E27FC236}">
                <a16:creationId xmlns:a16="http://schemas.microsoft.com/office/drawing/2014/main" id="{C2C76F8D-6605-412C-81BA-CE83DC9759D8}"/>
              </a:ext>
            </a:extLst>
          </p:cNvPr>
          <p:cNvSpPr>
            <a:spLocks xmlns:a="http://schemas.openxmlformats.org/drawingml/2006/main" noGrp="1"/>
          </p:cNvSpPr>
          <p:nvPr/>
        </p:nvSpPr>
        <p:spPr>
          <a:xfrm xmlns:a="http://schemas.openxmlformats.org/drawingml/2006/main">
            <a:off x="838200" y="35433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67386"/>
                </a:solidFill>
              </a:defRPr>
            </a:pPr>
            <a:r>
              <a:rPr sz="1350" b="1">
                <a:solidFill>
                  <a:srgbClr val="667386"/>
                </a:solidFill>
              </a:rPr>
              <a:t>Thesis</a:t>
            </a:r>
          </a:p>
        </p:txBody>
      </p:sp>
      <p:sp>
        <p:nvSpPr>
          <p:cNvPr id="11" name="">
            <a:extLst xmlns:a="http://schemas.openxmlformats.org/drawingml/2006/main">
              <a:ext uri="{FF2B5EF4-FFF2-40B4-BE49-F238E27FC236}">
                <a16:creationId xmlns:a16="http://schemas.microsoft.com/office/drawing/2014/main" id="{5E1BF9F6-F0C7-4AF6-93B7-E031D7469C52}"/>
              </a:ext>
            </a:extLst>
          </p:cNvPr>
          <p:cNvSpPr>
            <a:spLocks xmlns:a="http://schemas.openxmlformats.org/drawingml/2006/main" noGrp="1"/>
          </p:cNvSpPr>
          <p:nvPr/>
        </p:nvSpPr>
        <p:spPr>
          <a:xfrm xmlns:a="http://schemas.openxmlformats.org/drawingml/2006/main">
            <a:off x="838200" y="3886200"/>
            <a:ext cx="4476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24364B"/>
                </a:solidFill>
              </a:defRPr>
            </a:pPr>
            <a:r>
              <a:rPr sz="1725" b="0">
                <a:solidFill>
                  <a:srgbClr val="24364B"/>
                </a:solidFill>
              </a:rPr>
              <a:t>An efficient upward path may continue after the signal is observable.</a:t>
            </a:r>
          </a:p>
        </p:txBody>
      </p:sp>
      <p:sp>
        <p:nvSpPr>
          <p:cNvPr id="12" name="">
            <a:extLst xmlns:a="http://schemas.openxmlformats.org/drawingml/2006/main">
              <a:ext uri="{FF2B5EF4-FFF2-40B4-BE49-F238E27FC236}">
                <a16:creationId xmlns:a16="http://schemas.microsoft.com/office/drawing/2014/main" id="{167093B3-094E-4B6F-8C3F-76FE913A8D7B}"/>
              </a:ext>
            </a:extLst>
          </p:cNvPr>
          <p:cNvSpPr>
            <a:spLocks xmlns:a="http://schemas.openxmlformats.org/drawingml/2006/main" noGrp="1"/>
          </p:cNvSpPr>
          <p:nvPr/>
        </p:nvSpPr>
        <p:spPr>
          <a:xfrm xmlns:a="http://schemas.openxmlformats.org/drawingml/2006/main">
            <a:off x="6096000" y="1562100"/>
            <a:ext cx="5543550" cy="335280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13" name="">
            <a:extLst xmlns:a="http://schemas.openxmlformats.org/drawingml/2006/main">
              <a:ext uri="{FF2B5EF4-FFF2-40B4-BE49-F238E27FC236}">
                <a16:creationId xmlns:a16="http://schemas.microsoft.com/office/drawing/2014/main" id="{BF627644-FC20-49B4-A220-903E71121D33}"/>
              </a:ext>
            </a:extLst>
          </p:cNvPr>
          <p:cNvSpPr>
            <a:spLocks xmlns:a="http://schemas.openxmlformats.org/drawingml/2006/main" noGrp="1"/>
          </p:cNvSpPr>
          <p:nvPr/>
        </p:nvSpPr>
        <p:spPr>
          <a:xfrm xmlns:a="http://schemas.openxmlformats.org/drawingml/2006/main">
            <a:off x="6381750" y="18288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4866D"/>
                </a:solidFill>
              </a:defRPr>
            </a:pPr>
            <a:r>
              <a:rPr sz="2175" b="1">
                <a:solidFill>
                  <a:srgbClr val="14866D"/>
                </a:solidFill>
              </a:rPr>
              <a:t>Calm-pullback rebound</a:t>
            </a:r>
          </a:p>
        </p:txBody>
      </p:sp>
      <p:sp>
        <p:nvSpPr>
          <p:cNvPr id="14" name="">
            <a:extLst xmlns:a="http://schemas.openxmlformats.org/drawingml/2006/main">
              <a:ext uri="{FF2B5EF4-FFF2-40B4-BE49-F238E27FC236}">
                <a16:creationId xmlns:a16="http://schemas.microsoft.com/office/drawing/2014/main" id="{3726AEEF-7CE7-4336-A415-B6D07CBC22F8}"/>
              </a:ext>
            </a:extLst>
          </p:cNvPr>
          <p:cNvSpPr>
            <a:spLocks xmlns:a="http://schemas.openxmlformats.org/drawingml/2006/main" noGrp="1"/>
          </p:cNvSpPr>
          <p:nvPr/>
        </p:nvSpPr>
        <p:spPr>
          <a:xfrm xmlns:a="http://schemas.openxmlformats.org/drawingml/2006/main">
            <a:off x="6400800" y="2457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67386"/>
                </a:solidFill>
              </a:defRPr>
            </a:pPr>
            <a:r>
              <a:rPr sz="1350" b="1">
                <a:solidFill>
                  <a:srgbClr val="667386"/>
                </a:solidFill>
              </a:rPr>
              <a:t>At close t</a:t>
            </a:r>
          </a:p>
        </p:txBody>
      </p:sp>
      <p:sp>
        <p:nvSpPr>
          <p:cNvPr id="15" name="">
            <a:extLst xmlns:a="http://schemas.openxmlformats.org/drawingml/2006/main">
              <a:ext uri="{FF2B5EF4-FFF2-40B4-BE49-F238E27FC236}">
                <a16:creationId xmlns:a16="http://schemas.microsoft.com/office/drawing/2014/main" id="{8E7DFD16-A692-48E8-B96F-C8C223F9591C}"/>
              </a:ext>
            </a:extLst>
          </p:cNvPr>
          <p:cNvSpPr>
            <a:spLocks xmlns:a="http://schemas.openxmlformats.org/drawingml/2006/main" noGrp="1"/>
          </p:cNvSpPr>
          <p:nvPr/>
        </p:nvSpPr>
        <p:spPr>
          <a:xfrm xmlns:a="http://schemas.openxmlformats.org/drawingml/2006/main">
            <a:off x="6400800" y="28003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24364B"/>
                </a:solidFill>
              </a:defRPr>
            </a:pPr>
            <a:r>
              <a:rPr sz="1950" b="1">
                <a:solidFill>
                  <a:srgbClr val="24364B"/>
                </a:solidFill>
              </a:rPr>
              <a:t>R20 &lt; 0  AND  ATR% state = LOW or MEDIUM</a:t>
            </a:r>
          </a:p>
        </p:txBody>
      </p:sp>
      <p:sp>
        <p:nvSpPr>
          <p:cNvPr id="16" name="">
            <a:extLst xmlns:a="http://schemas.openxmlformats.org/drawingml/2006/main">
              <a:ext uri="{FF2B5EF4-FFF2-40B4-BE49-F238E27FC236}">
                <a16:creationId xmlns:a16="http://schemas.microsoft.com/office/drawing/2014/main" id="{7613FCCF-635D-46DB-972A-762402068576}"/>
              </a:ext>
            </a:extLst>
          </p:cNvPr>
          <p:cNvSpPr>
            <a:spLocks xmlns:a="http://schemas.openxmlformats.org/drawingml/2006/main" noGrp="1"/>
          </p:cNvSpPr>
          <p:nvPr/>
        </p:nvSpPr>
        <p:spPr>
          <a:xfrm xmlns:a="http://schemas.openxmlformats.org/drawingml/2006/main">
            <a:off x="6400800" y="35433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67386"/>
                </a:solidFill>
              </a:defRPr>
            </a:pPr>
            <a:r>
              <a:rPr sz="1350" b="1">
                <a:solidFill>
                  <a:srgbClr val="667386"/>
                </a:solidFill>
              </a:rPr>
              <a:t>Thesis</a:t>
            </a:r>
          </a:p>
        </p:txBody>
      </p:sp>
      <p:sp>
        <p:nvSpPr>
          <p:cNvPr id="17" name="">
            <a:extLst xmlns:a="http://schemas.openxmlformats.org/drawingml/2006/main">
              <a:ext uri="{FF2B5EF4-FFF2-40B4-BE49-F238E27FC236}">
                <a16:creationId xmlns:a16="http://schemas.microsoft.com/office/drawing/2014/main" id="{9A4801B9-2581-417B-A377-C004CF35615F}"/>
              </a:ext>
            </a:extLst>
          </p:cNvPr>
          <p:cNvSpPr>
            <a:spLocks xmlns:a="http://schemas.openxmlformats.org/drawingml/2006/main" noGrp="1"/>
          </p:cNvSpPr>
          <p:nvPr/>
        </p:nvSpPr>
        <p:spPr>
          <a:xfrm xmlns:a="http://schemas.openxmlformats.org/drawingml/2006/main">
            <a:off x="6400800" y="3886200"/>
            <a:ext cx="4762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4364B"/>
                </a:solidFill>
              </a:defRPr>
            </a:pPr>
            <a:r>
              <a:rPr sz="1650" b="0">
                <a:solidFill>
                  <a:srgbClr val="24364B"/>
                </a:solidFill>
              </a:rPr>
              <a:t>A loss in a non-high-volatility environment may be more recoverable than one inside a volatility shock.</a:t>
            </a:r>
          </a:p>
        </p:txBody>
      </p:sp>
      <p:sp>
        <p:nvSpPr>
          <p:cNvPr id="18" name="">
            <a:extLst xmlns:a="http://schemas.openxmlformats.org/drawingml/2006/main">
              <a:ext uri="{FF2B5EF4-FFF2-40B4-BE49-F238E27FC236}">
                <a16:creationId xmlns:a16="http://schemas.microsoft.com/office/drawing/2014/main" id="{FC9C9460-82BE-4A5F-840E-22C7B145A729}"/>
              </a:ext>
            </a:extLst>
          </p:cNvPr>
          <p:cNvSpPr>
            <a:spLocks xmlns:a="http://schemas.openxmlformats.org/drawingml/2006/main" noGrp="1"/>
          </p:cNvSpPr>
          <p:nvPr/>
        </p:nvSpPr>
        <p:spPr>
          <a:xfrm xmlns:a="http://schemas.openxmlformats.org/drawingml/2006/main">
            <a:off x="552450" y="5219700"/>
            <a:ext cx="11087100" cy="7810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9" name="">
            <a:extLst xmlns:a="http://schemas.openxmlformats.org/drawingml/2006/main">
              <a:ext uri="{FF2B5EF4-FFF2-40B4-BE49-F238E27FC236}">
                <a16:creationId xmlns:a16="http://schemas.microsoft.com/office/drawing/2014/main" id="{D0BCF97B-14CB-4BD1-8F64-F21043BBD97F}"/>
              </a:ext>
            </a:extLst>
          </p:cNvPr>
          <p:cNvSpPr>
            <a:spLocks xmlns:a="http://schemas.openxmlformats.org/drawingml/2006/main" noGrp="1"/>
          </p:cNvSpPr>
          <p:nvPr/>
        </p:nvSpPr>
        <p:spPr>
          <a:xfrm xmlns:a="http://schemas.openxmlformats.org/drawingml/2006/main">
            <a:off x="762000" y="54483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24364B"/>
                </a:solidFill>
              </a:defRPr>
            </a:pPr>
            <a:r>
              <a:rPr sz="1650" b="1">
                <a:solidFill>
                  <a:srgbClr val="24364B"/>
                </a:solidFill>
              </a:rPr>
              <a:t>Both: enter next open · exit open t+21 · 20 open-to-open intervals · no overlapping positions · 10 bps round trip</a:t>
            </a:r>
          </a:p>
        </p:txBody>
      </p:sp>
    </p:spTree>
    <p:extLst>
      <p:ext uri="{BB962C8B-B14F-4D97-AF65-F5344CB8AC3E}">
        <p14:creationId xmlns:p14="http://schemas.microsoft.com/office/powerpoint/2010/main" val="209995874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BAD3B8-0195-4D0C-A0F3-1BA1909642D5}"/>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PROTO-RULES</a:t>
            </a:r>
          </a:p>
        </p:txBody>
      </p:sp>
      <p:sp>
        <p:nvSpPr>
          <p:cNvPr id="2" name="">
            <a:extLst xmlns:a="http://schemas.openxmlformats.org/drawingml/2006/main">
              <a:ext uri="{FF2B5EF4-FFF2-40B4-BE49-F238E27FC236}">
                <a16:creationId xmlns:a16="http://schemas.microsoft.com/office/drawing/2014/main" id="{06263BED-1AA3-41D3-B75D-A717041092C0}"/>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rules select visibly different parts of NVDA history</a:t>
            </a:r>
          </a:p>
        </p:txBody>
      </p:sp>
      <p:sp>
        <p:nvSpPr>
          <p:cNvPr id="3" name="">
            <a:extLst xmlns:a="http://schemas.openxmlformats.org/drawingml/2006/main">
              <a:ext uri="{FF2B5EF4-FFF2-40B4-BE49-F238E27FC236}">
                <a16:creationId xmlns:a16="http://schemas.microsoft.com/office/drawing/2014/main" id="{D0EFF9D7-790F-4E38-A460-DFE813815727}"/>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8415F7C3-F9FD-4315-9C62-EDF87A30946F}"/>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9A4A1612-3DEC-4B30-8CCC-79EE2D11C71F}"/>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17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e527a48b87b4ce4"/>
          <a:stretch xmlns:a="http://schemas.openxmlformats.org/drawingml/2006/main"/>
        </p:blipFill>
        <p:spPr>
          <a:xfrm xmlns:a="http://schemas.openxmlformats.org/drawingml/2006/main">
            <a:off x="2448560" y="1371600"/>
            <a:ext cx="7180580" cy="4895850"/>
          </a:xfrm>
          <a:prstGeom xmlns:a="http://schemas.openxmlformats.org/drawingml/2006/main" prst="rect">
            <a:avLst/>
          </a:prstGeom>
        </p:spPr>
      </p:pic>
    </p:spTree>
    <p:extLst>
      <p:ext uri="{BB962C8B-B14F-4D97-AF65-F5344CB8AC3E}">
        <p14:creationId xmlns:p14="http://schemas.microsoft.com/office/powerpoint/2010/main" val="3764183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57054EF-B53F-43A5-BD68-3CEE2B434091}"/>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PROTO-RULES</a:t>
            </a:r>
          </a:p>
        </p:txBody>
      </p:sp>
      <p:sp>
        <p:nvSpPr>
          <p:cNvPr id="2" name="">
            <a:extLst xmlns:a="http://schemas.openxmlformats.org/drawingml/2006/main">
              <a:ext uri="{FF2B5EF4-FFF2-40B4-BE49-F238E27FC236}">
                <a16:creationId xmlns:a16="http://schemas.microsoft.com/office/drawing/2014/main" id="{961A5427-ECFD-4580-BF64-5E673FD79EC9}"/>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Only the rebound clears the narrow TRAIN translation gate</a:t>
            </a:r>
          </a:p>
        </p:txBody>
      </p:sp>
      <p:sp>
        <p:nvSpPr>
          <p:cNvPr id="3" name="">
            <a:extLst xmlns:a="http://schemas.openxmlformats.org/drawingml/2006/main">
              <a:ext uri="{FF2B5EF4-FFF2-40B4-BE49-F238E27FC236}">
                <a16:creationId xmlns:a16="http://schemas.microsoft.com/office/drawing/2014/main" id="{2C9A3E74-05A7-4295-ADEB-F163CFF4E851}"/>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0622E566-29D5-4345-9126-3A4C1988D049}"/>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67BE9C39-E048-4406-B4CB-E40B66F3EB1D}"/>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18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343171b71bb4c86"/>
          <a:stretch xmlns:a="http://schemas.openxmlformats.org/drawingml/2006/main"/>
        </p:blipFill>
        <p:spPr>
          <a:xfrm xmlns:a="http://schemas.openxmlformats.org/drawingml/2006/main">
            <a:off x="545973" y="1466850"/>
            <a:ext cx="7232904" cy="43053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5B46EA0-000C-4B70-8BF0-A5F9DBA8C1D0}"/>
              </a:ext>
            </a:extLst>
          </p:cNvPr>
          <p:cNvSpPr>
            <a:spLocks xmlns:a="http://schemas.openxmlformats.org/drawingml/2006/main" noGrp="1"/>
          </p:cNvSpPr>
          <p:nvPr/>
        </p:nvSpPr>
        <p:spPr>
          <a:xfrm xmlns:a="http://schemas.openxmlformats.org/drawingml/2006/main">
            <a:off x="8153400" y="1524000"/>
            <a:ext cx="3486150" cy="20383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06D6CA2B-9FBD-4616-8D64-493E4849E48A}"/>
              </a:ext>
            </a:extLst>
          </p:cNvPr>
          <p:cNvSpPr>
            <a:spLocks xmlns:a="http://schemas.openxmlformats.org/drawingml/2006/main" noGrp="1"/>
          </p:cNvSpPr>
          <p:nvPr/>
        </p:nvSpPr>
        <p:spPr>
          <a:xfrm xmlns:a="http://schemas.openxmlformats.org/drawingml/2006/main">
            <a:off x="8401050" y="1752600"/>
            <a:ext cx="299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defRPr>
            </a:pPr>
            <a:r>
              <a:rPr sz="1725" b="1">
                <a:solidFill>
                  <a:srgbClr val="3D8DFF"/>
                </a:solidFill>
              </a:rPr>
              <a:t>Efficient-up continuation</a:t>
            </a:r>
          </a:p>
        </p:txBody>
      </p:sp>
      <p:sp>
        <p:nvSpPr>
          <p:cNvPr id="9" name="">
            <a:extLst xmlns:a="http://schemas.openxmlformats.org/drawingml/2006/main">
              <a:ext uri="{FF2B5EF4-FFF2-40B4-BE49-F238E27FC236}">
                <a16:creationId xmlns:a16="http://schemas.microsoft.com/office/drawing/2014/main" id="{8A8F137F-2B7C-409B-B32C-47992C23461F}"/>
              </a:ext>
            </a:extLst>
          </p:cNvPr>
          <p:cNvSpPr>
            <a:spLocks xmlns:a="http://schemas.openxmlformats.org/drawingml/2006/main" noGrp="1"/>
          </p:cNvSpPr>
          <p:nvPr/>
        </p:nvSpPr>
        <p:spPr>
          <a:xfrm xmlns:a="http://schemas.openxmlformats.org/drawingml/2006/main">
            <a:off x="8401050" y="224790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defRPr>
            </a:pPr>
            <a:r>
              <a:rPr sz="2175" b="1">
                <a:solidFill>
                  <a:srgbClr val="000000"/>
                </a:solidFill>
              </a:rPr>
              <a:t>39 trades</a:t>
            </a:r>
          </a:p>
        </p:txBody>
      </p:sp>
      <p:sp>
        <p:nvSpPr>
          <p:cNvPr id="10" name="">
            <a:extLst xmlns:a="http://schemas.openxmlformats.org/drawingml/2006/main">
              <a:ext uri="{FF2B5EF4-FFF2-40B4-BE49-F238E27FC236}">
                <a16:creationId xmlns:a16="http://schemas.microsoft.com/office/drawing/2014/main" id="{0FBEA827-99F4-460D-9498-50AE6D907DB2}"/>
              </a:ext>
            </a:extLst>
          </p:cNvPr>
          <p:cNvSpPr>
            <a:spLocks xmlns:a="http://schemas.openxmlformats.org/drawingml/2006/main" noGrp="1"/>
          </p:cNvSpPr>
          <p:nvPr/>
        </p:nvSpPr>
        <p:spPr>
          <a:xfrm xmlns:a="http://schemas.openxmlformats.org/drawingml/2006/main">
            <a:off x="9810750" y="2247900"/>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2.59% mean net</a:t>
            </a:r>
          </a:p>
        </p:txBody>
      </p:sp>
      <p:sp>
        <p:nvSpPr>
          <p:cNvPr id="11" name="">
            <a:extLst xmlns:a="http://schemas.openxmlformats.org/drawingml/2006/main">
              <a:ext uri="{FF2B5EF4-FFF2-40B4-BE49-F238E27FC236}">
                <a16:creationId xmlns:a16="http://schemas.microsoft.com/office/drawing/2014/main" id="{F9A15FD7-D5BB-462C-8899-A89857A0316F}"/>
              </a:ext>
            </a:extLst>
          </p:cNvPr>
          <p:cNvSpPr>
            <a:spLocks xmlns:a="http://schemas.openxmlformats.org/drawingml/2006/main" noGrp="1"/>
          </p:cNvSpPr>
          <p:nvPr/>
        </p:nvSpPr>
        <p:spPr>
          <a:xfrm xmlns:a="http://schemas.openxmlformats.org/drawingml/2006/main">
            <a:off x="8401050" y="28384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44738"/>
                </a:solidFill>
              </a:defRPr>
            </a:pPr>
            <a:r>
              <a:rPr sz="1350" b="1">
                <a:solidFill>
                  <a:srgbClr val="B44738"/>
                </a:solidFill>
              </a:rPr>
              <a:t>61.5% profitable · −0.29 pp vs drift</a:t>
            </a:r>
          </a:p>
        </p:txBody>
      </p:sp>
      <p:sp>
        <p:nvSpPr>
          <p:cNvPr id="12" name="">
            <a:extLst xmlns:a="http://schemas.openxmlformats.org/drawingml/2006/main">
              <a:ext uri="{FF2B5EF4-FFF2-40B4-BE49-F238E27FC236}">
                <a16:creationId xmlns:a16="http://schemas.microsoft.com/office/drawing/2014/main" id="{B6478D22-B570-400C-865D-CC706203622A}"/>
              </a:ext>
            </a:extLst>
          </p:cNvPr>
          <p:cNvSpPr>
            <a:spLocks xmlns:a="http://schemas.openxmlformats.org/drawingml/2006/main" noGrp="1"/>
          </p:cNvSpPr>
          <p:nvPr/>
        </p:nvSpPr>
        <p:spPr>
          <a:xfrm xmlns:a="http://schemas.openxmlformats.org/drawingml/2006/main">
            <a:off x="8401050" y="32194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24364B"/>
                </a:solidFill>
              </a:defRPr>
            </a:pPr>
            <a:r>
              <a:rPr sz="1125" b="0">
                <a:solidFill>
                  <a:srgbClr val="24364B"/>
                </a:solidFill>
              </a:rPr>
              <a:t>STOP: weaker than unconditional drift and all three simple controls.</a:t>
            </a:r>
          </a:p>
        </p:txBody>
      </p:sp>
      <p:sp>
        <p:nvSpPr>
          <p:cNvPr id="13" name="">
            <a:extLst xmlns:a="http://schemas.openxmlformats.org/drawingml/2006/main">
              <a:ext uri="{FF2B5EF4-FFF2-40B4-BE49-F238E27FC236}">
                <a16:creationId xmlns:a16="http://schemas.microsoft.com/office/drawing/2014/main" id="{EC6458D0-EA86-4628-99D3-B615740BCC9A}"/>
              </a:ext>
            </a:extLst>
          </p:cNvPr>
          <p:cNvSpPr>
            <a:spLocks xmlns:a="http://schemas.openxmlformats.org/drawingml/2006/main" noGrp="1"/>
          </p:cNvSpPr>
          <p:nvPr/>
        </p:nvSpPr>
        <p:spPr>
          <a:xfrm xmlns:a="http://schemas.openxmlformats.org/drawingml/2006/main">
            <a:off x="8153400" y="3771900"/>
            <a:ext cx="3486150" cy="219075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14" name="">
            <a:extLst xmlns:a="http://schemas.openxmlformats.org/drawingml/2006/main">
              <a:ext uri="{FF2B5EF4-FFF2-40B4-BE49-F238E27FC236}">
                <a16:creationId xmlns:a16="http://schemas.microsoft.com/office/drawing/2014/main" id="{E0501908-F3F9-4A01-BECA-3C5279D476B3}"/>
              </a:ext>
            </a:extLst>
          </p:cNvPr>
          <p:cNvSpPr>
            <a:spLocks xmlns:a="http://schemas.openxmlformats.org/drawingml/2006/main" noGrp="1"/>
          </p:cNvSpPr>
          <p:nvPr/>
        </p:nvSpPr>
        <p:spPr>
          <a:xfrm xmlns:a="http://schemas.openxmlformats.org/drawingml/2006/main">
            <a:off x="8401050" y="4000500"/>
            <a:ext cx="299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4866D"/>
                </a:solidFill>
              </a:defRPr>
            </a:pPr>
            <a:r>
              <a:rPr sz="1725" b="1">
                <a:solidFill>
                  <a:srgbClr val="14866D"/>
                </a:solidFill>
              </a:rPr>
              <a:t>Calm-pullback rebound</a:t>
            </a:r>
          </a:p>
        </p:txBody>
      </p:sp>
      <p:sp>
        <p:nvSpPr>
          <p:cNvPr id="15" name="">
            <a:extLst xmlns:a="http://schemas.openxmlformats.org/drawingml/2006/main">
              <a:ext uri="{FF2B5EF4-FFF2-40B4-BE49-F238E27FC236}">
                <a16:creationId xmlns:a16="http://schemas.microsoft.com/office/drawing/2014/main" id="{83256949-6CD4-4467-8879-CFF231655EFE}"/>
              </a:ext>
            </a:extLst>
          </p:cNvPr>
          <p:cNvSpPr>
            <a:spLocks xmlns:a="http://schemas.openxmlformats.org/drawingml/2006/main" noGrp="1"/>
          </p:cNvSpPr>
          <p:nvPr/>
        </p:nvSpPr>
        <p:spPr>
          <a:xfrm xmlns:a="http://schemas.openxmlformats.org/drawingml/2006/main">
            <a:off x="8401050" y="449580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defRPr>
            </a:pPr>
            <a:r>
              <a:rPr sz="2175" b="1">
                <a:solidFill>
                  <a:srgbClr val="000000"/>
                </a:solidFill>
              </a:rPr>
              <a:t>27 trades</a:t>
            </a:r>
          </a:p>
        </p:txBody>
      </p:sp>
      <p:sp>
        <p:nvSpPr>
          <p:cNvPr id="16" name="">
            <a:extLst xmlns:a="http://schemas.openxmlformats.org/drawingml/2006/main">
              <a:ext uri="{FF2B5EF4-FFF2-40B4-BE49-F238E27FC236}">
                <a16:creationId xmlns:a16="http://schemas.microsoft.com/office/drawing/2014/main" id="{21E64278-C1C4-4618-97B3-CFB4660361B8}"/>
              </a:ext>
            </a:extLst>
          </p:cNvPr>
          <p:cNvSpPr>
            <a:spLocks xmlns:a="http://schemas.openxmlformats.org/drawingml/2006/main" noGrp="1"/>
          </p:cNvSpPr>
          <p:nvPr/>
        </p:nvSpPr>
        <p:spPr>
          <a:xfrm xmlns:a="http://schemas.openxmlformats.org/drawingml/2006/main">
            <a:off x="9810750" y="4495800"/>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6.33% mean net</a:t>
            </a:r>
          </a:p>
        </p:txBody>
      </p:sp>
      <p:sp>
        <p:nvSpPr>
          <p:cNvPr id="17" name="">
            <a:extLst xmlns:a="http://schemas.openxmlformats.org/drawingml/2006/main">
              <a:ext uri="{FF2B5EF4-FFF2-40B4-BE49-F238E27FC236}">
                <a16:creationId xmlns:a16="http://schemas.microsoft.com/office/drawing/2014/main" id="{F5AEC1DB-29F6-439F-B997-2063F0753C6D}"/>
              </a:ext>
            </a:extLst>
          </p:cNvPr>
          <p:cNvSpPr>
            <a:spLocks xmlns:a="http://schemas.openxmlformats.org/drawingml/2006/main" noGrp="1"/>
          </p:cNvSpPr>
          <p:nvPr/>
        </p:nvSpPr>
        <p:spPr>
          <a:xfrm xmlns:a="http://schemas.openxmlformats.org/drawingml/2006/main">
            <a:off x="8401050" y="50863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4866D"/>
                </a:solidFill>
              </a:defRPr>
            </a:pPr>
            <a:r>
              <a:rPr sz="1350" b="1">
                <a:solidFill>
                  <a:srgbClr val="14866D"/>
                </a:solidFill>
              </a:rPr>
              <a:t>74.1% profitable · +3.45 pp vs drift</a:t>
            </a:r>
          </a:p>
        </p:txBody>
      </p:sp>
      <p:sp>
        <p:nvSpPr>
          <p:cNvPr id="18" name="">
            <a:extLst xmlns:a="http://schemas.openxmlformats.org/drawingml/2006/main">
              <a:ext uri="{FF2B5EF4-FFF2-40B4-BE49-F238E27FC236}">
                <a16:creationId xmlns:a16="http://schemas.microsoft.com/office/drawing/2014/main" id="{17CDA6CB-8AF2-45AE-84E3-D200B949BB17}"/>
              </a:ext>
            </a:extLst>
          </p:cNvPr>
          <p:cNvSpPr>
            <a:spLocks xmlns:a="http://schemas.openxmlformats.org/drawingml/2006/main" noGrp="1"/>
          </p:cNvSpPr>
          <p:nvPr/>
        </p:nvSpPr>
        <p:spPr>
          <a:xfrm xmlns:a="http://schemas.openxmlformats.org/drawingml/2006/main">
            <a:off x="8401050" y="5486400"/>
            <a:ext cx="2990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4364B"/>
                </a:solidFill>
              </a:defRPr>
            </a:pPr>
            <a:r>
              <a:rPr sz="1125" b="1">
                <a:solidFill>
                  <a:srgbClr val="24364B"/>
                </a:solidFill>
              </a:rPr>
              <a:t>PASS TRAIN translation only—not confirmation and not edge authority.</a:t>
            </a:r>
          </a:p>
        </p:txBody>
      </p:sp>
    </p:spTree>
    <p:extLst>
      <p:ext uri="{BB962C8B-B14F-4D97-AF65-F5344CB8AC3E}">
        <p14:creationId xmlns:p14="http://schemas.microsoft.com/office/powerpoint/2010/main" val="608631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FC4008A-F09F-4ED8-B74B-E8ED560CC739}"/>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PROTO-RULES</a:t>
            </a:r>
          </a:p>
        </p:txBody>
      </p:sp>
      <p:sp>
        <p:nvSpPr>
          <p:cNvPr id="2" name="">
            <a:extLst xmlns:a="http://schemas.openxmlformats.org/drawingml/2006/main">
              <a:ext uri="{FF2B5EF4-FFF2-40B4-BE49-F238E27FC236}">
                <a16:creationId xmlns:a16="http://schemas.microsoft.com/office/drawing/2014/main" id="{2AAE6F2F-E371-41C9-A7E1-A4664B0C6993}"/>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joint rebound condition adds discrimination</a:t>
            </a:r>
          </a:p>
        </p:txBody>
      </p:sp>
      <p:sp>
        <p:nvSpPr>
          <p:cNvPr id="3" name="">
            <a:extLst xmlns:a="http://schemas.openxmlformats.org/drawingml/2006/main">
              <a:ext uri="{FF2B5EF4-FFF2-40B4-BE49-F238E27FC236}">
                <a16:creationId xmlns:a16="http://schemas.microsoft.com/office/drawing/2014/main" id="{7762D73D-9127-4229-B7DE-2A31C5268301}"/>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6E346293-285F-47BD-92B5-653BA8119FAC}"/>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EDCB43D0-1305-4F94-A2D1-EB19550FE735}"/>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19</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c2e041eaeebd4b65"/>
          <a:stretch xmlns:a="http://schemas.openxmlformats.org/drawingml/2006/main"/>
        </p:blipFill>
        <p:spPr>
          <a:xfrm xmlns:a="http://schemas.openxmlformats.org/drawingml/2006/main">
            <a:off x="717197" y="1352550"/>
            <a:ext cx="8071556" cy="4953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6104398-3E25-4971-8757-93F046053F41}"/>
              </a:ext>
            </a:extLst>
          </p:cNvPr>
          <p:cNvSpPr>
            <a:spLocks xmlns:a="http://schemas.openxmlformats.org/drawingml/2006/main" noGrp="1"/>
          </p:cNvSpPr>
          <p:nvPr/>
        </p:nvSpPr>
        <p:spPr>
          <a:xfrm xmlns:a="http://schemas.openxmlformats.org/drawingml/2006/main">
            <a:off x="9391650" y="1524000"/>
            <a:ext cx="2247900" cy="43624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9E905052-89A3-48E2-97A9-B51905B6893C}"/>
              </a:ext>
            </a:extLst>
          </p:cNvPr>
          <p:cNvSpPr>
            <a:spLocks xmlns:a="http://schemas.openxmlformats.org/drawingml/2006/main" noGrp="1"/>
          </p:cNvSpPr>
          <p:nvPr/>
        </p:nvSpPr>
        <p:spPr>
          <a:xfrm xmlns:a="http://schemas.openxmlformats.org/drawingml/2006/main">
            <a:off x="9601200" y="175260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00000"/>
                </a:solidFill>
              </a:defRPr>
            </a:pPr>
            <a:r>
              <a:rPr sz="1575" b="1">
                <a:solidFill>
                  <a:srgbClr val="000000"/>
                </a:solidFill>
              </a:rPr>
              <a:t>Mean net return</a:t>
            </a:r>
          </a:p>
        </p:txBody>
      </p:sp>
      <p:sp>
        <p:nvSpPr>
          <p:cNvPr id="9" name="">
            <a:extLst xmlns:a="http://schemas.openxmlformats.org/drawingml/2006/main">
              <a:ext uri="{FF2B5EF4-FFF2-40B4-BE49-F238E27FC236}">
                <a16:creationId xmlns:a16="http://schemas.microsoft.com/office/drawing/2014/main" id="{B3A9E820-573A-4B75-8350-1B572B666773}"/>
              </a:ext>
            </a:extLst>
          </p:cNvPr>
          <p:cNvSpPr>
            <a:spLocks xmlns:a="http://schemas.openxmlformats.org/drawingml/2006/main" noGrp="1"/>
          </p:cNvSpPr>
          <p:nvPr/>
        </p:nvSpPr>
        <p:spPr>
          <a:xfrm xmlns:a="http://schemas.openxmlformats.org/drawingml/2006/main">
            <a:off x="9601200" y="2266950"/>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4866D"/>
                </a:solidFill>
              </a:defRPr>
            </a:pPr>
            <a:r>
              <a:rPr sz="2700" b="1">
                <a:solidFill>
                  <a:srgbClr val="14866D"/>
                </a:solidFill>
              </a:rPr>
              <a:t>6.33%</a:t>
            </a:r>
          </a:p>
        </p:txBody>
      </p:sp>
      <p:sp>
        <p:nvSpPr>
          <p:cNvPr id="10" name="">
            <a:extLst xmlns:a="http://schemas.openxmlformats.org/drawingml/2006/main">
              <a:ext uri="{FF2B5EF4-FFF2-40B4-BE49-F238E27FC236}">
                <a16:creationId xmlns:a16="http://schemas.microsoft.com/office/drawing/2014/main" id="{3F823C1C-20E3-4D31-BE58-53189C98E5DD}"/>
              </a:ext>
            </a:extLst>
          </p:cNvPr>
          <p:cNvSpPr>
            <a:spLocks xmlns:a="http://schemas.openxmlformats.org/drawingml/2006/main" noGrp="1"/>
          </p:cNvSpPr>
          <p:nvPr/>
        </p:nvSpPr>
        <p:spPr>
          <a:xfrm xmlns:a="http://schemas.openxmlformats.org/drawingml/2006/main">
            <a:off x="9601200" y="2686050"/>
            <a:ext cx="1828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joint rebound</a:t>
            </a:r>
          </a:p>
        </p:txBody>
      </p:sp>
      <p:sp>
        <p:nvSpPr>
          <p:cNvPr id="11" name="">
            <a:extLst xmlns:a="http://schemas.openxmlformats.org/drawingml/2006/main">
              <a:ext uri="{FF2B5EF4-FFF2-40B4-BE49-F238E27FC236}">
                <a16:creationId xmlns:a16="http://schemas.microsoft.com/office/drawing/2014/main" id="{1C593A0B-A528-4336-8B08-A1FD96F7E703}"/>
              </a:ext>
            </a:extLst>
          </p:cNvPr>
          <p:cNvSpPr>
            <a:spLocks xmlns:a="http://schemas.openxmlformats.org/drawingml/2006/main" noGrp="1"/>
          </p:cNvSpPr>
          <p:nvPr/>
        </p:nvSpPr>
        <p:spPr>
          <a:xfrm xmlns:a="http://schemas.openxmlformats.org/drawingml/2006/main">
            <a:off x="9601200" y="31813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defRPr>
            </a:pPr>
            <a:r>
              <a:rPr sz="2175" b="1">
                <a:solidFill>
                  <a:srgbClr val="000000"/>
                </a:solidFill>
              </a:rPr>
              <a:t>4.53%</a:t>
            </a:r>
          </a:p>
        </p:txBody>
      </p:sp>
      <p:sp>
        <p:nvSpPr>
          <p:cNvPr id="12" name="">
            <a:extLst xmlns:a="http://schemas.openxmlformats.org/drawingml/2006/main">
              <a:ext uri="{FF2B5EF4-FFF2-40B4-BE49-F238E27FC236}">
                <a16:creationId xmlns:a16="http://schemas.microsoft.com/office/drawing/2014/main" id="{929C92E0-3558-4A58-AADF-09FE35F477B5}"/>
              </a:ext>
            </a:extLst>
          </p:cNvPr>
          <p:cNvSpPr>
            <a:spLocks xmlns:a="http://schemas.openxmlformats.org/drawingml/2006/main" noGrp="1"/>
          </p:cNvSpPr>
          <p:nvPr/>
        </p:nvSpPr>
        <p:spPr>
          <a:xfrm xmlns:a="http://schemas.openxmlformats.org/drawingml/2006/main">
            <a:off x="9601200" y="3543300"/>
            <a:ext cx="1828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ATR state only</a:t>
            </a:r>
          </a:p>
        </p:txBody>
      </p:sp>
      <p:sp>
        <p:nvSpPr>
          <p:cNvPr id="13" name="">
            <a:extLst xmlns:a="http://schemas.openxmlformats.org/drawingml/2006/main">
              <a:ext uri="{FF2B5EF4-FFF2-40B4-BE49-F238E27FC236}">
                <a16:creationId xmlns:a16="http://schemas.microsoft.com/office/drawing/2014/main" id="{93AEC191-0E4C-47CE-87DA-3658E37B63D4}"/>
              </a:ext>
            </a:extLst>
          </p:cNvPr>
          <p:cNvSpPr>
            <a:spLocks xmlns:a="http://schemas.openxmlformats.org/drawingml/2006/main" noGrp="1"/>
          </p:cNvSpPr>
          <p:nvPr/>
        </p:nvSpPr>
        <p:spPr>
          <a:xfrm xmlns:a="http://schemas.openxmlformats.org/drawingml/2006/main">
            <a:off x="9601200" y="39814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defRPr>
            </a:pPr>
            <a:r>
              <a:rPr sz="2175" b="1">
                <a:solidFill>
                  <a:srgbClr val="000000"/>
                </a:solidFill>
              </a:rPr>
              <a:t>3.85%</a:t>
            </a:r>
          </a:p>
        </p:txBody>
      </p:sp>
      <p:sp>
        <p:nvSpPr>
          <p:cNvPr id="14" name="">
            <a:extLst xmlns:a="http://schemas.openxmlformats.org/drawingml/2006/main">
              <a:ext uri="{FF2B5EF4-FFF2-40B4-BE49-F238E27FC236}">
                <a16:creationId xmlns:a16="http://schemas.microsoft.com/office/drawing/2014/main" id="{DE369578-2D60-4A5A-9CE9-C1F7A867E7DD}"/>
              </a:ext>
            </a:extLst>
          </p:cNvPr>
          <p:cNvSpPr>
            <a:spLocks xmlns:a="http://schemas.openxmlformats.org/drawingml/2006/main" noGrp="1"/>
          </p:cNvSpPr>
          <p:nvPr/>
        </p:nvSpPr>
        <p:spPr>
          <a:xfrm xmlns:a="http://schemas.openxmlformats.org/drawingml/2006/main">
            <a:off x="9601200" y="4343400"/>
            <a:ext cx="1828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667386"/>
                </a:solidFill>
              </a:defRPr>
            </a:pPr>
            <a:r>
              <a:rPr sz="1125" b="0">
                <a:solidFill>
                  <a:srgbClr val="667386"/>
                </a:solidFill>
              </a:rPr>
              <a:t>same calm state after gains</a:t>
            </a:r>
          </a:p>
        </p:txBody>
      </p:sp>
      <p:sp>
        <p:nvSpPr>
          <p:cNvPr id="15" name="">
            <a:extLst xmlns:a="http://schemas.openxmlformats.org/drawingml/2006/main">
              <a:ext uri="{FF2B5EF4-FFF2-40B4-BE49-F238E27FC236}">
                <a16:creationId xmlns:a16="http://schemas.microsoft.com/office/drawing/2014/main" id="{BAF72A62-8634-4364-A5CE-A726A9BD29BF}"/>
              </a:ext>
            </a:extLst>
          </p:cNvPr>
          <p:cNvSpPr>
            <a:spLocks xmlns:a="http://schemas.openxmlformats.org/drawingml/2006/main" noGrp="1"/>
          </p:cNvSpPr>
          <p:nvPr/>
        </p:nvSpPr>
        <p:spPr>
          <a:xfrm xmlns:a="http://schemas.openxmlformats.org/drawingml/2006/main">
            <a:off x="9601200" y="499110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defRPr>
            </a:pPr>
            <a:r>
              <a:rPr sz="2175" b="1">
                <a:solidFill>
                  <a:srgbClr val="000000"/>
                </a:solidFill>
              </a:rPr>
              <a:t>2.77%</a:t>
            </a:r>
          </a:p>
        </p:txBody>
      </p:sp>
      <p:sp>
        <p:nvSpPr>
          <p:cNvPr id="16" name="">
            <a:extLst xmlns:a="http://schemas.openxmlformats.org/drawingml/2006/main">
              <a:ext uri="{FF2B5EF4-FFF2-40B4-BE49-F238E27FC236}">
                <a16:creationId xmlns:a16="http://schemas.microsoft.com/office/drawing/2014/main" id="{27C3136B-1537-4274-B0B6-5EA6D179DC05}"/>
              </a:ext>
            </a:extLst>
          </p:cNvPr>
          <p:cNvSpPr>
            <a:spLocks xmlns:a="http://schemas.openxmlformats.org/drawingml/2006/main" noGrp="1"/>
          </p:cNvSpPr>
          <p:nvPr/>
        </p:nvSpPr>
        <p:spPr>
          <a:xfrm xmlns:a="http://schemas.openxmlformats.org/drawingml/2006/main">
            <a:off x="9601200" y="5353050"/>
            <a:ext cx="1828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negative R20 only</a:t>
            </a:r>
          </a:p>
        </p:txBody>
      </p:sp>
      <p:sp>
        <p:nvSpPr>
          <p:cNvPr id="17" name="">
            <a:extLst xmlns:a="http://schemas.openxmlformats.org/drawingml/2006/main">
              <a:ext uri="{FF2B5EF4-FFF2-40B4-BE49-F238E27FC236}">
                <a16:creationId xmlns:a16="http://schemas.microsoft.com/office/drawing/2014/main" id="{96EF31B7-7E0A-44FF-A607-31770505EC0D}"/>
              </a:ext>
            </a:extLst>
          </p:cNvPr>
          <p:cNvSpPr>
            <a:spLocks xmlns:a="http://schemas.openxmlformats.org/drawingml/2006/main" noGrp="1"/>
          </p:cNvSpPr>
          <p:nvPr/>
        </p:nvSpPr>
        <p:spPr>
          <a:xfrm xmlns:a="http://schemas.openxmlformats.org/drawingml/2006/main">
            <a:off x="9391650" y="600075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4364B"/>
                </a:solidFill>
              </a:defRPr>
            </a:pPr>
            <a:r>
              <a:rPr sz="1050" b="1">
                <a:solidFill>
                  <a:srgbClr val="24364B"/>
                </a:solidFill>
              </a:rPr>
              <a:t>The sign and volatility state work better together than either alone in TRAIN.</a:t>
            </a:r>
          </a:p>
        </p:txBody>
      </p:sp>
    </p:spTree>
    <p:extLst>
      <p:ext uri="{BB962C8B-B14F-4D97-AF65-F5344CB8AC3E}">
        <p14:creationId xmlns:p14="http://schemas.microsoft.com/office/powerpoint/2010/main" val="115258333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855B51C-FC12-4606-9809-3B8880CA3191}"/>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PROTO-RULES</a:t>
            </a:r>
          </a:p>
        </p:txBody>
      </p:sp>
      <p:sp>
        <p:nvSpPr>
          <p:cNvPr id="2" name="">
            <a:extLst xmlns:a="http://schemas.openxmlformats.org/drawingml/2006/main">
              <a:ext uri="{FF2B5EF4-FFF2-40B4-BE49-F238E27FC236}">
                <a16:creationId xmlns:a16="http://schemas.microsoft.com/office/drawing/2014/main" id="{90CC499B-FDFC-4F04-8775-35140360A1AA}"/>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Calendar slices reveal the burden of one-asset evidence</a:t>
            </a:r>
          </a:p>
        </p:txBody>
      </p:sp>
      <p:sp>
        <p:nvSpPr>
          <p:cNvPr id="3" name="">
            <a:extLst xmlns:a="http://schemas.openxmlformats.org/drawingml/2006/main">
              <a:ext uri="{FF2B5EF4-FFF2-40B4-BE49-F238E27FC236}">
                <a16:creationId xmlns:a16="http://schemas.microsoft.com/office/drawing/2014/main" id="{7F78A695-D514-4018-B566-50DC49814BAC}"/>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E08CFD72-6F1A-478A-889E-7C99060B9625}"/>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6B43BB6D-81C8-434D-BD4B-3FAB35F75379}"/>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20</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664c0d461204e3f"/>
          <a:stretch xmlns:a="http://schemas.openxmlformats.org/drawingml/2006/main"/>
        </p:blipFill>
        <p:spPr>
          <a:xfrm xmlns:a="http://schemas.openxmlformats.org/drawingml/2006/main">
            <a:off x="488950" y="1390650"/>
            <a:ext cx="7937500"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509720B-6FB4-4ABA-BE8E-BFD336803F6F}"/>
              </a:ext>
            </a:extLst>
          </p:cNvPr>
          <p:cNvSpPr>
            <a:spLocks xmlns:a="http://schemas.openxmlformats.org/drawingml/2006/main" noGrp="1"/>
          </p:cNvSpPr>
          <p:nvPr/>
        </p:nvSpPr>
        <p:spPr>
          <a:xfrm xmlns:a="http://schemas.openxmlformats.org/drawingml/2006/main">
            <a:off x="8724900" y="1543050"/>
            <a:ext cx="2914650" cy="4248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D1ECF9EA-4704-4233-AD35-2D0EEE4ADBB2}"/>
              </a:ext>
            </a:extLst>
          </p:cNvPr>
          <p:cNvSpPr>
            <a:spLocks xmlns:a="http://schemas.openxmlformats.org/drawingml/2006/main" noGrp="1"/>
          </p:cNvSpPr>
          <p:nvPr/>
        </p:nvSpPr>
        <p:spPr>
          <a:xfrm xmlns:a="http://schemas.openxmlformats.org/drawingml/2006/main">
            <a:off x="8991600" y="18097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What matters</a:t>
            </a:r>
          </a:p>
        </p:txBody>
      </p:sp>
      <p:sp>
        <p:nvSpPr>
          <p:cNvPr id="9" name="">
            <a:extLst xmlns:a="http://schemas.openxmlformats.org/drawingml/2006/main">
              <a:ext uri="{FF2B5EF4-FFF2-40B4-BE49-F238E27FC236}">
                <a16:creationId xmlns:a16="http://schemas.microsoft.com/office/drawing/2014/main" id="{C2421798-82E7-4D8F-8835-D2F26414E39D}"/>
              </a:ext>
            </a:extLst>
          </p:cNvPr>
          <p:cNvSpPr>
            <a:spLocks xmlns:a="http://schemas.openxmlformats.org/drawingml/2006/main" noGrp="1"/>
          </p:cNvSpPr>
          <p:nvPr/>
        </p:nvSpPr>
        <p:spPr>
          <a:xfrm xmlns:a="http://schemas.openxmlformats.org/drawingml/2006/main">
            <a:off x="8991600" y="248602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0" name="">
            <a:extLst xmlns:a="http://schemas.openxmlformats.org/drawingml/2006/main">
              <a:ext uri="{FF2B5EF4-FFF2-40B4-BE49-F238E27FC236}">
                <a16:creationId xmlns:a16="http://schemas.microsoft.com/office/drawing/2014/main" id="{20E7360B-E4AD-4514-9F41-51C62EDF1BF9}"/>
              </a:ext>
            </a:extLst>
          </p:cNvPr>
          <p:cNvSpPr>
            <a:spLocks xmlns:a="http://schemas.openxmlformats.org/drawingml/2006/main" noGrp="1"/>
          </p:cNvSpPr>
          <p:nvPr/>
        </p:nvSpPr>
        <p:spPr>
          <a:xfrm xmlns:a="http://schemas.openxmlformats.org/drawingml/2006/main">
            <a:off x="9220200" y="2400300"/>
            <a:ext cx="2152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Continuation suffers a concentrated 2022 failure.</a:t>
            </a:r>
          </a:p>
        </p:txBody>
      </p:sp>
      <p:sp>
        <p:nvSpPr>
          <p:cNvPr id="11" name="">
            <a:extLst xmlns:a="http://schemas.openxmlformats.org/drawingml/2006/main">
              <a:ext uri="{FF2B5EF4-FFF2-40B4-BE49-F238E27FC236}">
                <a16:creationId xmlns:a16="http://schemas.microsoft.com/office/drawing/2014/main" id="{D1CDB358-CE3C-4B46-8802-F6255335D655}"/>
              </a:ext>
            </a:extLst>
          </p:cNvPr>
          <p:cNvSpPr>
            <a:spLocks xmlns:a="http://schemas.openxmlformats.org/drawingml/2006/main" noGrp="1"/>
          </p:cNvSpPr>
          <p:nvPr/>
        </p:nvSpPr>
        <p:spPr>
          <a:xfrm xmlns:a="http://schemas.openxmlformats.org/drawingml/2006/main">
            <a:off x="8991600" y="338137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2" name="">
            <a:extLst xmlns:a="http://schemas.openxmlformats.org/drawingml/2006/main">
              <a:ext uri="{FF2B5EF4-FFF2-40B4-BE49-F238E27FC236}">
                <a16:creationId xmlns:a16="http://schemas.microsoft.com/office/drawing/2014/main" id="{398140BF-814E-45E8-AD60-9DC81D0420DF}"/>
              </a:ext>
            </a:extLst>
          </p:cNvPr>
          <p:cNvSpPr>
            <a:spLocks xmlns:a="http://schemas.openxmlformats.org/drawingml/2006/main" noGrp="1"/>
          </p:cNvSpPr>
          <p:nvPr/>
        </p:nvSpPr>
        <p:spPr>
          <a:xfrm xmlns:a="http://schemas.openxmlformats.org/drawingml/2006/main">
            <a:off x="9220200" y="3295650"/>
            <a:ext cx="21526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Rebound is positive in five of six years, but 2018 is approximately flat.</a:t>
            </a:r>
          </a:p>
        </p:txBody>
      </p:sp>
      <p:sp>
        <p:nvSpPr>
          <p:cNvPr id="13" name="">
            <a:extLst xmlns:a="http://schemas.openxmlformats.org/drawingml/2006/main">
              <a:ext uri="{FF2B5EF4-FFF2-40B4-BE49-F238E27FC236}">
                <a16:creationId xmlns:a16="http://schemas.microsoft.com/office/drawing/2014/main" id="{25C66148-80D9-4131-92B2-86B7FC38B6C3}"/>
              </a:ext>
            </a:extLst>
          </p:cNvPr>
          <p:cNvSpPr>
            <a:spLocks xmlns:a="http://schemas.openxmlformats.org/drawingml/2006/main" noGrp="1"/>
          </p:cNvSpPr>
          <p:nvPr/>
        </p:nvSpPr>
        <p:spPr>
          <a:xfrm xmlns:a="http://schemas.openxmlformats.org/drawingml/2006/main">
            <a:off x="8991600" y="4486275"/>
            <a:ext cx="85725" cy="85725"/>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14" name="">
            <a:extLst xmlns:a="http://schemas.openxmlformats.org/drawingml/2006/main">
              <a:ext uri="{FF2B5EF4-FFF2-40B4-BE49-F238E27FC236}">
                <a16:creationId xmlns:a16="http://schemas.microsoft.com/office/drawing/2014/main" id="{17F82BF8-55C3-4221-B522-70FDAA1BDBB4}"/>
              </a:ext>
            </a:extLst>
          </p:cNvPr>
          <p:cNvSpPr>
            <a:spLocks xmlns:a="http://schemas.openxmlformats.org/drawingml/2006/main" noGrp="1"/>
          </p:cNvSpPr>
          <p:nvPr/>
        </p:nvSpPr>
        <p:spPr>
          <a:xfrm xmlns:a="http://schemas.openxmlformats.org/drawingml/2006/main">
            <a:off x="9220200" y="4400550"/>
            <a:ext cx="2152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Only 3–6 rebound trades appear in any year.</a:t>
            </a:r>
          </a:p>
        </p:txBody>
      </p:sp>
      <p:sp>
        <p:nvSpPr>
          <p:cNvPr id="15" name="">
            <a:extLst xmlns:a="http://schemas.openxmlformats.org/drawingml/2006/main">
              <a:ext uri="{FF2B5EF4-FFF2-40B4-BE49-F238E27FC236}">
                <a16:creationId xmlns:a16="http://schemas.microsoft.com/office/drawing/2014/main" id="{67847592-3245-4AC2-B1D1-357173C1CB5D}"/>
              </a:ext>
            </a:extLst>
          </p:cNvPr>
          <p:cNvSpPr>
            <a:spLocks xmlns:a="http://schemas.openxmlformats.org/drawingml/2006/main" noGrp="1"/>
          </p:cNvSpPr>
          <p:nvPr/>
        </p:nvSpPr>
        <p:spPr>
          <a:xfrm xmlns:a="http://schemas.openxmlformats.org/drawingml/2006/main">
            <a:off x="8991600" y="52768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4364B"/>
                </a:solidFill>
              </a:defRPr>
            </a:pPr>
            <a:r>
              <a:rPr sz="1125" b="1">
                <a:solidFill>
                  <a:srgbClr val="24364B"/>
                </a:solidFill>
              </a:rPr>
              <a:t>Years are context, not independent replications. The next honest evidence must come from untouched time.</a:t>
            </a:r>
          </a:p>
        </p:txBody>
      </p:sp>
    </p:spTree>
    <p:extLst>
      <p:ext uri="{BB962C8B-B14F-4D97-AF65-F5344CB8AC3E}">
        <p14:creationId xmlns:p14="http://schemas.microsoft.com/office/powerpoint/2010/main" val="105178929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489199-7C0A-4D1D-9A8D-ECA45DBE5F8B}"/>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PROTO-RULES</a:t>
            </a:r>
          </a:p>
        </p:txBody>
      </p:sp>
      <p:sp>
        <p:nvSpPr>
          <p:cNvPr id="2" name="">
            <a:extLst xmlns:a="http://schemas.openxmlformats.org/drawingml/2006/main">
              <a:ext uri="{FF2B5EF4-FFF2-40B4-BE49-F238E27FC236}">
                <a16:creationId xmlns:a16="http://schemas.microsoft.com/office/drawing/2014/main" id="{2462E1DD-4914-422B-9AB3-B29C0581F297}"/>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Representative paths keep the trade-level reality visible</a:t>
            </a:r>
          </a:p>
        </p:txBody>
      </p:sp>
      <p:sp>
        <p:nvSpPr>
          <p:cNvPr id="3" name="">
            <a:extLst xmlns:a="http://schemas.openxmlformats.org/drawingml/2006/main">
              <a:ext uri="{FF2B5EF4-FFF2-40B4-BE49-F238E27FC236}">
                <a16:creationId xmlns:a16="http://schemas.microsoft.com/office/drawing/2014/main" id="{52B9F148-082F-4A25-A80E-91C6AA6E5DC2}"/>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B1F76D0D-4B27-4CC3-98E5-B3E79A0AAB04}"/>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AB248760-AEB7-4ED9-8962-B1FBA71EB6E7}"/>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21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b8dc64bb27648cc"/>
          <a:stretch xmlns:a="http://schemas.openxmlformats.org/drawingml/2006/main"/>
        </p:blipFill>
        <p:spPr>
          <a:xfrm xmlns:a="http://schemas.openxmlformats.org/drawingml/2006/main">
            <a:off x="2162175" y="1352550"/>
            <a:ext cx="7753350" cy="4933950"/>
          </a:xfrm>
          <a:prstGeom xmlns:a="http://schemas.openxmlformats.org/drawingml/2006/main" prst="rect">
            <a:avLst/>
          </a:prstGeom>
        </p:spPr>
      </p:pic>
    </p:spTree>
    <p:extLst>
      <p:ext uri="{BB962C8B-B14F-4D97-AF65-F5344CB8AC3E}">
        <p14:creationId xmlns:p14="http://schemas.microsoft.com/office/powerpoint/2010/main" val="55614405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48688EB-DB65-4797-AD01-488450D556B5}"/>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PROTO-RULES</a:t>
            </a:r>
          </a:p>
        </p:txBody>
      </p:sp>
      <p:sp>
        <p:nvSpPr>
          <p:cNvPr id="2" name="">
            <a:extLst xmlns:a="http://schemas.openxmlformats.org/drawingml/2006/main">
              <a:ext uri="{FF2B5EF4-FFF2-40B4-BE49-F238E27FC236}">
                <a16:creationId xmlns:a16="http://schemas.microsoft.com/office/drawing/2014/main" id="{45F4C847-6E06-4D3A-A78E-63967361F473}"/>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One rule stops; one earns untouched confirmation</a:t>
            </a:r>
          </a:p>
        </p:txBody>
      </p:sp>
      <p:sp>
        <p:nvSpPr>
          <p:cNvPr id="3" name="">
            <a:extLst xmlns:a="http://schemas.openxmlformats.org/drawingml/2006/main">
              <a:ext uri="{FF2B5EF4-FFF2-40B4-BE49-F238E27FC236}">
                <a16:creationId xmlns:a16="http://schemas.microsoft.com/office/drawing/2014/main" id="{5A8CA96C-CB47-4739-ADC5-00816579D72C}"/>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1E7045CE-D3AA-43A4-AFB8-6182DF2C3FF4}"/>
              </a:ext>
            </a:extLst>
          </p:cNvPr>
          <p:cNvSpPr>
            <a:spLocks xmlns:a="http://schemas.openxmlformats.org/drawingml/2006/main" noGrp="1"/>
          </p:cNvSpPr>
          <p:nvPr/>
        </p:nvSpPr>
        <p:spPr>
          <a:xfrm xmlns:a="http://schemas.openxmlformats.org/drawingml/2006/main">
            <a:off x="457200" y="6515100"/>
            <a:ext cx="704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adjusted bars · frozen 2018–2023 window</a:t>
            </a:r>
          </a:p>
        </p:txBody>
      </p:sp>
      <p:sp>
        <p:nvSpPr>
          <p:cNvPr id="5" name="">
            <a:extLst xmlns:a="http://schemas.openxmlformats.org/drawingml/2006/main">
              <a:ext uri="{FF2B5EF4-FFF2-40B4-BE49-F238E27FC236}">
                <a16:creationId xmlns:a16="http://schemas.microsoft.com/office/drawing/2014/main" id="{95F18D3E-0518-424E-AF89-0CD074C86A24}"/>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22</a:t>
            </a:r>
          </a:p>
        </p:txBody>
      </p:sp>
      <p:sp>
        <p:nvSpPr>
          <p:cNvPr id="6" name="">
            <a:extLst xmlns:a="http://schemas.openxmlformats.org/drawingml/2006/main">
              <a:ext uri="{FF2B5EF4-FFF2-40B4-BE49-F238E27FC236}">
                <a16:creationId xmlns:a16="http://schemas.microsoft.com/office/drawing/2014/main" id="{E80FE491-DC62-40D6-90EE-81D0AEC0F428}"/>
              </a:ext>
            </a:extLst>
          </p:cNvPr>
          <p:cNvSpPr>
            <a:spLocks xmlns:a="http://schemas.openxmlformats.org/drawingml/2006/main" noGrp="1"/>
          </p:cNvSpPr>
          <p:nvPr/>
        </p:nvSpPr>
        <p:spPr>
          <a:xfrm xmlns:a="http://schemas.openxmlformats.org/drawingml/2006/main">
            <a:off x="552450" y="1581150"/>
            <a:ext cx="5143500" cy="21717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7" name="">
            <a:extLst xmlns:a="http://schemas.openxmlformats.org/drawingml/2006/main">
              <a:ext uri="{FF2B5EF4-FFF2-40B4-BE49-F238E27FC236}">
                <a16:creationId xmlns:a16="http://schemas.microsoft.com/office/drawing/2014/main" id="{3185883F-5A4D-4566-A0EC-492DBED01123}"/>
              </a:ext>
            </a:extLst>
          </p:cNvPr>
          <p:cNvSpPr>
            <a:spLocks xmlns:a="http://schemas.openxmlformats.org/drawingml/2006/main" noGrp="1"/>
          </p:cNvSpPr>
          <p:nvPr/>
        </p:nvSpPr>
        <p:spPr>
          <a:xfrm xmlns:a="http://schemas.openxmlformats.org/drawingml/2006/main">
            <a:off x="819150" y="184785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B44738"/>
                </a:solidFill>
              </a:defRPr>
            </a:pPr>
            <a:r>
              <a:rPr sz="2325" b="1">
                <a:solidFill>
                  <a:srgbClr val="B44738"/>
                </a:solidFill>
              </a:rPr>
              <a:t>STOP</a:t>
            </a:r>
          </a:p>
        </p:txBody>
      </p:sp>
      <p:sp>
        <p:nvSpPr>
          <p:cNvPr id="8" name="">
            <a:extLst xmlns:a="http://schemas.openxmlformats.org/drawingml/2006/main">
              <a:ext uri="{FF2B5EF4-FFF2-40B4-BE49-F238E27FC236}">
                <a16:creationId xmlns:a16="http://schemas.microsoft.com/office/drawing/2014/main" id="{7E5F06FD-4EBB-445A-92D5-1484B36275D1}"/>
              </a:ext>
            </a:extLst>
          </p:cNvPr>
          <p:cNvSpPr>
            <a:spLocks xmlns:a="http://schemas.openxmlformats.org/drawingml/2006/main" noGrp="1"/>
          </p:cNvSpPr>
          <p:nvPr/>
        </p:nvSpPr>
        <p:spPr>
          <a:xfrm xmlns:a="http://schemas.openxmlformats.org/drawingml/2006/main">
            <a:off x="819150" y="2419350"/>
            <a:ext cx="4400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Efficient-up continuation</a:t>
            </a:r>
          </a:p>
        </p:txBody>
      </p:sp>
      <p:sp>
        <p:nvSpPr>
          <p:cNvPr id="9" name="">
            <a:extLst xmlns:a="http://schemas.openxmlformats.org/drawingml/2006/main">
              <a:ext uri="{FF2B5EF4-FFF2-40B4-BE49-F238E27FC236}">
                <a16:creationId xmlns:a16="http://schemas.microsoft.com/office/drawing/2014/main" id="{6175F09B-A26F-487C-8674-01A72B64B89E}"/>
              </a:ext>
            </a:extLst>
          </p:cNvPr>
          <p:cNvSpPr>
            <a:spLocks xmlns:a="http://schemas.openxmlformats.org/drawingml/2006/main" noGrp="1"/>
          </p:cNvSpPr>
          <p:nvPr/>
        </p:nvSpPr>
        <p:spPr>
          <a:xfrm xmlns:a="http://schemas.openxmlformats.org/drawingml/2006/main">
            <a:off x="819150" y="3009900"/>
            <a:ext cx="4400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The exact ER20-plus-positive-R20 translation adds no incremental value in TRAIN.</a:t>
            </a:r>
          </a:p>
        </p:txBody>
      </p:sp>
      <p:sp>
        <p:nvSpPr>
          <p:cNvPr id="10" name="">
            <a:extLst xmlns:a="http://schemas.openxmlformats.org/drawingml/2006/main">
              <a:ext uri="{FF2B5EF4-FFF2-40B4-BE49-F238E27FC236}">
                <a16:creationId xmlns:a16="http://schemas.microsoft.com/office/drawing/2014/main" id="{7323BDC9-BC1D-4388-934C-C2B5A70C94C1}"/>
              </a:ext>
            </a:extLst>
          </p:cNvPr>
          <p:cNvSpPr>
            <a:spLocks xmlns:a="http://schemas.openxmlformats.org/drawingml/2006/main" noGrp="1"/>
          </p:cNvSpPr>
          <p:nvPr/>
        </p:nvSpPr>
        <p:spPr>
          <a:xfrm xmlns:a="http://schemas.openxmlformats.org/drawingml/2006/main">
            <a:off x="6096000" y="1581150"/>
            <a:ext cx="5543550" cy="217170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11" name="">
            <a:extLst xmlns:a="http://schemas.openxmlformats.org/drawingml/2006/main">
              <a:ext uri="{FF2B5EF4-FFF2-40B4-BE49-F238E27FC236}">
                <a16:creationId xmlns:a16="http://schemas.microsoft.com/office/drawing/2014/main" id="{1777EC8C-E0EA-4C7A-82C4-E8DA059CF18B}"/>
              </a:ext>
            </a:extLst>
          </p:cNvPr>
          <p:cNvSpPr>
            <a:spLocks xmlns:a="http://schemas.openxmlformats.org/drawingml/2006/main" noGrp="1"/>
          </p:cNvSpPr>
          <p:nvPr/>
        </p:nvSpPr>
        <p:spPr>
          <a:xfrm xmlns:a="http://schemas.openxmlformats.org/drawingml/2006/main">
            <a:off x="6381750" y="18478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4866D"/>
                </a:solidFill>
              </a:defRPr>
            </a:pPr>
            <a:r>
              <a:rPr sz="2325" b="1">
                <a:solidFill>
                  <a:srgbClr val="14866D"/>
                </a:solidFill>
              </a:rPr>
              <a:t>RETAIN</a:t>
            </a:r>
          </a:p>
        </p:txBody>
      </p:sp>
      <p:sp>
        <p:nvSpPr>
          <p:cNvPr id="12" name="">
            <a:extLst xmlns:a="http://schemas.openxmlformats.org/drawingml/2006/main">
              <a:ext uri="{FF2B5EF4-FFF2-40B4-BE49-F238E27FC236}">
                <a16:creationId xmlns:a16="http://schemas.microsoft.com/office/drawing/2014/main" id="{F356DF3B-6B53-4A02-A148-030A35401A58}"/>
              </a:ext>
            </a:extLst>
          </p:cNvPr>
          <p:cNvSpPr>
            <a:spLocks xmlns:a="http://schemas.openxmlformats.org/drawingml/2006/main" noGrp="1"/>
          </p:cNvSpPr>
          <p:nvPr/>
        </p:nvSpPr>
        <p:spPr>
          <a:xfrm xmlns:a="http://schemas.openxmlformats.org/drawingml/2006/main">
            <a:off x="6381750" y="24193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Calm-pullback rebound</a:t>
            </a:r>
          </a:p>
        </p:txBody>
      </p:sp>
      <p:sp>
        <p:nvSpPr>
          <p:cNvPr id="13" name="">
            <a:extLst xmlns:a="http://schemas.openxmlformats.org/drawingml/2006/main">
              <a:ext uri="{FF2B5EF4-FFF2-40B4-BE49-F238E27FC236}">
                <a16:creationId xmlns:a16="http://schemas.microsoft.com/office/drawing/2014/main" id="{42440351-C894-4463-8507-68C273F6A267}"/>
              </a:ext>
            </a:extLst>
          </p:cNvPr>
          <p:cNvSpPr>
            <a:spLocks xmlns:a="http://schemas.openxmlformats.org/drawingml/2006/main" noGrp="1"/>
          </p:cNvSpPr>
          <p:nvPr/>
        </p:nvSpPr>
        <p:spPr>
          <a:xfrm xmlns:a="http://schemas.openxmlformats.org/drawingml/2006/main">
            <a:off x="6381750" y="30099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The joint loss-plus-not-high-ATR rule clears drift and its simple controls in TRAIN.</a:t>
            </a:r>
          </a:p>
        </p:txBody>
      </p:sp>
      <p:sp>
        <p:nvSpPr>
          <p:cNvPr id="14" name="">
            <a:extLst xmlns:a="http://schemas.openxmlformats.org/drawingml/2006/main">
              <a:ext uri="{FF2B5EF4-FFF2-40B4-BE49-F238E27FC236}">
                <a16:creationId xmlns:a16="http://schemas.microsoft.com/office/drawing/2014/main" id="{7A92CD18-9E87-46C2-9853-E11CD7CA0157}"/>
              </a:ext>
            </a:extLst>
          </p:cNvPr>
          <p:cNvSpPr>
            <a:spLocks xmlns:a="http://schemas.openxmlformats.org/drawingml/2006/main" noGrp="1"/>
          </p:cNvSpPr>
          <p:nvPr/>
        </p:nvSpPr>
        <p:spPr>
          <a:xfrm xmlns:a="http://schemas.openxmlformats.org/drawingml/2006/main">
            <a:off x="552450" y="42481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What this does—and does not—mean</a:t>
            </a:r>
          </a:p>
        </p:txBody>
      </p:sp>
      <p:sp>
        <p:nvSpPr>
          <p:cNvPr id="15" name="">
            <a:extLst xmlns:a="http://schemas.openxmlformats.org/drawingml/2006/main">
              <a:ext uri="{FF2B5EF4-FFF2-40B4-BE49-F238E27FC236}">
                <a16:creationId xmlns:a16="http://schemas.microsoft.com/office/drawing/2014/main" id="{70B5C916-28F5-45B8-9075-DBEC25860D4C}"/>
              </a:ext>
            </a:extLst>
          </p:cNvPr>
          <p:cNvSpPr>
            <a:spLocks xmlns:a="http://schemas.openxmlformats.org/drawingml/2006/main" noGrp="1"/>
          </p:cNvSpPr>
          <p:nvPr/>
        </p:nvSpPr>
        <p:spPr>
          <a:xfrm xmlns:a="http://schemas.openxmlformats.org/drawingml/2006/main">
            <a:off x="685800" y="494347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6" name="">
            <a:extLst xmlns:a="http://schemas.openxmlformats.org/drawingml/2006/main">
              <a:ext uri="{FF2B5EF4-FFF2-40B4-BE49-F238E27FC236}">
                <a16:creationId xmlns:a16="http://schemas.microsoft.com/office/drawing/2014/main" id="{F2BF841F-4C8C-4AE7-B1AE-F265A932F842}"/>
              </a:ext>
            </a:extLst>
          </p:cNvPr>
          <p:cNvSpPr>
            <a:spLocks xmlns:a="http://schemas.openxmlformats.org/drawingml/2006/main" noGrp="1"/>
          </p:cNvSpPr>
          <p:nvPr/>
        </p:nvSpPr>
        <p:spPr>
          <a:xfrm xmlns:a="http://schemas.openxmlformats.org/drawingml/2006/main">
            <a:off x="914400" y="4857750"/>
            <a:ext cx="1024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It proves the descriptive rebound clue can survive next-open timing, costs, and no-overlap construction.</a:t>
            </a:r>
          </a:p>
        </p:txBody>
      </p:sp>
      <p:sp>
        <p:nvSpPr>
          <p:cNvPr id="17" name="">
            <a:extLst xmlns:a="http://schemas.openxmlformats.org/drawingml/2006/main">
              <a:ext uri="{FF2B5EF4-FFF2-40B4-BE49-F238E27FC236}">
                <a16:creationId xmlns:a16="http://schemas.microsoft.com/office/drawing/2014/main" id="{C0B401AE-EE4C-4EF9-AC58-61A88F8E237A}"/>
              </a:ext>
            </a:extLst>
          </p:cNvPr>
          <p:cNvSpPr>
            <a:spLocks xmlns:a="http://schemas.openxmlformats.org/drawingml/2006/main" noGrp="1"/>
          </p:cNvSpPr>
          <p:nvPr/>
        </p:nvSpPr>
        <p:spPr>
          <a:xfrm xmlns:a="http://schemas.openxmlformats.org/drawingml/2006/main">
            <a:off x="685800" y="56292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8" name="">
            <a:extLst xmlns:a="http://schemas.openxmlformats.org/drawingml/2006/main">
              <a:ext uri="{FF2B5EF4-FFF2-40B4-BE49-F238E27FC236}">
                <a16:creationId xmlns:a16="http://schemas.microsoft.com/office/drawing/2014/main" id="{D0FA3E62-9F6A-4347-AAFC-58DB23A20173}"/>
              </a:ext>
            </a:extLst>
          </p:cNvPr>
          <p:cNvSpPr>
            <a:spLocks xmlns:a="http://schemas.openxmlformats.org/drawingml/2006/main" noGrp="1"/>
          </p:cNvSpPr>
          <p:nvPr/>
        </p:nvSpPr>
        <p:spPr>
          <a:xfrm xmlns:a="http://schemas.openxmlformats.org/drawingml/2006/main">
            <a:off x="914400" y="5543550"/>
            <a:ext cx="1024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It does not prove generalization, robustness to nearby definitions, capacity, or live edge.</a:t>
            </a:r>
          </a:p>
        </p:txBody>
      </p:sp>
      <p:sp>
        <p:nvSpPr>
          <p:cNvPr id="19" name="">
            <a:extLst xmlns:a="http://schemas.openxmlformats.org/drawingml/2006/main">
              <a:ext uri="{FF2B5EF4-FFF2-40B4-BE49-F238E27FC236}">
                <a16:creationId xmlns:a16="http://schemas.microsoft.com/office/drawing/2014/main" id="{C38FBBF0-6BC3-4F32-AD8D-4539C2B3D462}"/>
              </a:ext>
            </a:extLst>
          </p:cNvPr>
          <p:cNvSpPr>
            <a:spLocks xmlns:a="http://schemas.openxmlformats.org/drawingml/2006/main" noGrp="1"/>
          </p:cNvSpPr>
          <p:nvPr/>
        </p:nvSpPr>
        <p:spPr>
          <a:xfrm xmlns:a="http://schemas.openxmlformats.org/drawingml/2006/main">
            <a:off x="552450" y="6210300"/>
            <a:ext cx="11087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4364B"/>
                </a:solidFill>
              </a:defRPr>
            </a:pPr>
            <a:r>
              <a:rPr sz="1275" b="1">
                <a:solidFill>
                  <a:srgbClr val="24364B"/>
                </a:solidFill>
              </a:rPr>
              <a:t>NEXT GATE: freeze this exact rule, then read the untouched 2024+ period once—without rescue tuning.</a:t>
            </a:r>
          </a:p>
        </p:txBody>
      </p:sp>
    </p:spTree>
    <p:extLst>
      <p:ext uri="{BB962C8B-B14F-4D97-AF65-F5344CB8AC3E}">
        <p14:creationId xmlns:p14="http://schemas.microsoft.com/office/powerpoint/2010/main" val="641419123"/>
      </p:ext>
    </p:extLst>
  </p:cSld>
</p:sld>
</file>

<file path=ppt/slides/slide23.xml><?xml version="1.0" encoding="utf-8"?>
<p:sld xmlns:p="http://schemas.openxmlformats.org/presentationml/2006/main">
  <p:cSld>
    <p:bg>
      <p:bgPr>
        <a:solidFill xmlns:a="http://schemas.openxmlformats.org/drawingml/2006/main">
          <a:srgbClr val="24364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4E7AEC-3E6F-4F49-B671-33AE9B8D1544}"/>
              </a:ext>
            </a:extLst>
          </p:cNvPr>
          <p:cNvSpPr>
            <a:spLocks xmlns:a="http://schemas.openxmlformats.org/drawingml/2006/main" noGrp="1"/>
          </p:cNvSpPr>
          <p:nvPr/>
        </p:nvSpPr>
        <p:spPr>
          <a:xfrm xmlns:a="http://schemas.openxmlformats.org/drawingml/2006/main">
            <a:off x="685800" y="8953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D0EDFA"/>
                </a:solidFill>
              </a:defRPr>
            </a:pPr>
            <a:r>
              <a:rPr sz="1275" b="1">
                <a:solidFill>
                  <a:srgbClr val="D0EDFA"/>
                </a:solidFill>
              </a:rPr>
              <a:t>FOURTH MICROSCOPE</a:t>
            </a:r>
          </a:p>
        </p:txBody>
      </p:sp>
      <p:sp>
        <p:nvSpPr>
          <p:cNvPr id="2" name="">
            <a:extLst xmlns:a="http://schemas.openxmlformats.org/drawingml/2006/main">
              <a:ext uri="{FF2B5EF4-FFF2-40B4-BE49-F238E27FC236}">
                <a16:creationId xmlns:a16="http://schemas.microsoft.com/office/drawing/2014/main" id="{41F59D59-507A-45A4-AF04-FA71468F6E1C}"/>
              </a:ext>
            </a:extLst>
          </p:cNvPr>
          <p:cNvSpPr>
            <a:spLocks xmlns:a="http://schemas.openxmlformats.org/drawingml/2006/main" noGrp="1"/>
          </p:cNvSpPr>
          <p:nvPr/>
        </p:nvSpPr>
        <p:spPr>
          <a:xfrm xmlns:a="http://schemas.openxmlformats.org/drawingml/2006/main">
            <a:off x="685800" y="1619250"/>
            <a:ext cx="9144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FFFFFF"/>
                </a:solidFill>
              </a:defRPr>
            </a:pPr>
            <a:r>
              <a:rPr sz="4800" b="1">
                <a:solidFill>
                  <a:srgbClr val="FFFFFF"/>
                </a:solidFill>
              </a:rPr>
              <a:t>The candidate meets</a:t>
            </a:r>
          </a:p>
          <a:p xmlns:a="http://schemas.openxmlformats.org/drawingml/2006/main">
            <a:pPr algn="l">
              <a:defRPr sz="4800" b="1">
                <a:solidFill>
                  <a:srgbClr val="FFFFFF"/>
                </a:solidFill>
              </a:defRPr>
            </a:pPr>
            <a:r>
              <a:rPr sz="4800" b="1">
                <a:solidFill>
                  <a:srgbClr val="FFFFFF"/>
                </a:solidFill>
              </a:rPr>
              <a:t>untouched time</a:t>
            </a:r>
          </a:p>
        </p:txBody>
      </p:sp>
      <p:sp>
        <p:nvSpPr>
          <p:cNvPr id="3" name="">
            <a:extLst xmlns:a="http://schemas.openxmlformats.org/drawingml/2006/main">
              <a:ext uri="{FF2B5EF4-FFF2-40B4-BE49-F238E27FC236}">
                <a16:creationId xmlns:a16="http://schemas.microsoft.com/office/drawing/2014/main" id="{6179816F-3BCB-4869-AB5B-4AB6BE98E4B8}"/>
              </a:ext>
            </a:extLst>
          </p:cNvPr>
          <p:cNvSpPr>
            <a:spLocks xmlns:a="http://schemas.openxmlformats.org/drawingml/2006/main" noGrp="1"/>
          </p:cNvSpPr>
          <p:nvPr/>
        </p:nvSpPr>
        <p:spPr>
          <a:xfrm xmlns:a="http://schemas.openxmlformats.org/drawingml/2006/main">
            <a:off x="723900" y="3886200"/>
            <a:ext cx="10287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a:solidFill>
                  <a:srgbClr val="D0EDFA"/>
                </a:solidFill>
              </a:defRPr>
            </a:pPr>
            <a:r>
              <a:rPr sz="2025" b="0">
                <a:solidFill>
                  <a:srgbClr val="D0EDFA"/>
                </a:solidFill>
              </a:rPr>
              <a:t>The calm-pullback rebound rule is read once on 2024-01-02 through 2026-06-23. The signal, ATR% states, timing, 20-session hold, no-overlap rule, 10-bps cost, controls, and gates remain exactly frozen.</a:t>
            </a:r>
          </a:p>
        </p:txBody>
      </p:sp>
      <p:sp>
        <p:nvSpPr>
          <p:cNvPr id="4" name="">
            <a:extLst xmlns:a="http://schemas.openxmlformats.org/drawingml/2006/main">
              <a:ext uri="{FF2B5EF4-FFF2-40B4-BE49-F238E27FC236}">
                <a16:creationId xmlns:a16="http://schemas.microsoft.com/office/drawing/2014/main" id="{02C16CA1-8879-4769-A288-796E8D999CBF}"/>
              </a:ext>
            </a:extLst>
          </p:cNvPr>
          <p:cNvSpPr>
            <a:spLocks xmlns:a="http://schemas.openxmlformats.org/drawingml/2006/main" noGrp="1"/>
          </p:cNvSpPr>
          <p:nvPr/>
        </p:nvSpPr>
        <p:spPr>
          <a:xfrm xmlns:a="http://schemas.openxmlformats.org/drawingml/2006/main">
            <a:off x="723900" y="573405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defRPr>
            </a:pPr>
            <a:r>
              <a:rPr sz="1500" b="1">
                <a:solidFill>
                  <a:srgbClr val="FFFFFF"/>
                </a:solidFill>
              </a:rPr>
              <a:t>This period is now evidence—not a new tuning surface.</a:t>
            </a:r>
          </a:p>
        </p:txBody>
      </p:sp>
      <p:sp>
        <p:nvSpPr>
          <p:cNvPr id="5" name="">
            <a:extLst xmlns:a="http://schemas.openxmlformats.org/drawingml/2006/main">
              <a:ext uri="{FF2B5EF4-FFF2-40B4-BE49-F238E27FC236}">
                <a16:creationId xmlns:a16="http://schemas.microsoft.com/office/drawing/2014/main" id="{B3D39482-3B2E-4EED-883F-7053639F0711}"/>
              </a:ext>
            </a:extLst>
          </p:cNvPr>
          <p:cNvSpPr>
            <a:spLocks xmlns:a="http://schemas.openxmlformats.org/drawingml/2006/main" noGrp="1"/>
          </p:cNvSpPr>
          <p:nvPr/>
        </p:nvSpPr>
        <p:spPr>
          <a:xfrm xmlns:a="http://schemas.openxmlformats.org/drawingml/2006/main">
            <a:off x="10801350" y="64008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D0EDFA"/>
                </a:solidFill>
              </a:defRPr>
            </a:pPr>
            <a:r>
              <a:rPr sz="900" b="0">
                <a:solidFill>
                  <a:srgbClr val="D0EDFA"/>
                </a:solidFill>
              </a:rPr>
              <a:t>23</a:t>
            </a:r>
          </a:p>
        </p:txBody>
      </p:sp>
    </p:spTree>
    <p:extLst>
      <p:ext uri="{BB962C8B-B14F-4D97-AF65-F5344CB8AC3E}">
        <p14:creationId xmlns:p14="http://schemas.microsoft.com/office/powerpoint/2010/main" val="42857938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CF7DEC2-80C0-4530-B767-233BAAE3E4D3}"/>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CONFIRMATION</a:t>
            </a:r>
          </a:p>
        </p:txBody>
      </p:sp>
      <p:sp>
        <p:nvSpPr>
          <p:cNvPr id="2" name="">
            <a:extLst xmlns:a="http://schemas.openxmlformats.org/drawingml/2006/main">
              <a:ext uri="{FF2B5EF4-FFF2-40B4-BE49-F238E27FC236}">
                <a16:creationId xmlns:a16="http://schemas.microsoft.com/office/drawing/2014/main" id="{FD5DE421-4C5E-433F-AF0E-CEA7DDFD28F7}"/>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TRAIN advantage does not replicate</a:t>
            </a:r>
          </a:p>
        </p:txBody>
      </p:sp>
      <p:sp>
        <p:nvSpPr>
          <p:cNvPr id="3" name="">
            <a:extLst xmlns:a="http://schemas.openxmlformats.org/drawingml/2006/main">
              <a:ext uri="{FF2B5EF4-FFF2-40B4-BE49-F238E27FC236}">
                <a16:creationId xmlns:a16="http://schemas.microsoft.com/office/drawing/2014/main" id="{2CE31CA1-0EC5-4A2D-8798-E2EDEFDFF151}"/>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C64DB386-9449-4E2D-8CFD-C3108D62DB6F}"/>
              </a:ext>
            </a:extLst>
          </p:cNvPr>
          <p:cNvSpPr>
            <a:spLocks xmlns:a="http://schemas.openxmlformats.org/drawingml/2006/main" noGrp="1"/>
          </p:cNvSpPr>
          <p:nvPr/>
        </p:nvSpPr>
        <p:spPr>
          <a:xfrm xmlns:a="http://schemas.openxmlformats.org/drawingml/2006/main">
            <a:off x="457200" y="651510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One-shot untouched time · adjusted daily bars · frozen 2024-01-02–2026-06-23</a:t>
            </a:r>
          </a:p>
        </p:txBody>
      </p:sp>
      <p:sp>
        <p:nvSpPr>
          <p:cNvPr id="5" name="">
            <a:extLst xmlns:a="http://schemas.openxmlformats.org/drawingml/2006/main">
              <a:ext uri="{FF2B5EF4-FFF2-40B4-BE49-F238E27FC236}">
                <a16:creationId xmlns:a16="http://schemas.microsoft.com/office/drawing/2014/main" id="{4D1B8410-0C4A-4FA6-9AA6-D41AD2EE26B2}"/>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24</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4e457f1b2c7430c"/>
          <a:stretch xmlns:a="http://schemas.openxmlformats.org/drawingml/2006/main"/>
        </p:blipFill>
        <p:spPr>
          <a:xfrm xmlns:a="http://schemas.openxmlformats.org/drawingml/2006/main">
            <a:off x="342900" y="1427451"/>
            <a:ext cx="8096250" cy="478414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CB032FC-439C-4932-BCE2-53FEA74DB053}"/>
              </a:ext>
            </a:extLst>
          </p:cNvPr>
          <p:cNvSpPr>
            <a:spLocks xmlns:a="http://schemas.openxmlformats.org/drawingml/2006/main" noGrp="1"/>
          </p:cNvSpPr>
          <p:nvPr/>
        </p:nvSpPr>
        <p:spPr>
          <a:xfrm xmlns:a="http://schemas.openxmlformats.org/drawingml/2006/main">
            <a:off x="8667750" y="1504950"/>
            <a:ext cx="2971800" cy="44577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8" name="">
            <a:extLst xmlns:a="http://schemas.openxmlformats.org/drawingml/2006/main">
              <a:ext uri="{FF2B5EF4-FFF2-40B4-BE49-F238E27FC236}">
                <a16:creationId xmlns:a16="http://schemas.microsoft.com/office/drawing/2014/main" id="{BC3ADBC1-5188-49ED-BC1E-3308C43BCEA9}"/>
              </a:ext>
            </a:extLst>
          </p:cNvPr>
          <p:cNvSpPr>
            <a:spLocks xmlns:a="http://schemas.openxmlformats.org/drawingml/2006/main" noGrp="1"/>
          </p:cNvSpPr>
          <p:nvPr/>
        </p:nvSpPr>
        <p:spPr>
          <a:xfrm xmlns:a="http://schemas.openxmlformats.org/drawingml/2006/main">
            <a:off x="8934450" y="1771650"/>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B44738"/>
                </a:solidFill>
              </a:defRPr>
            </a:pPr>
            <a:r>
              <a:rPr sz="2550" b="1">
                <a:solidFill>
                  <a:srgbClr val="B44738"/>
                </a:solidFill>
              </a:rPr>
              <a:t>STOP</a:t>
            </a:r>
          </a:p>
        </p:txBody>
      </p:sp>
      <p:sp>
        <p:nvSpPr>
          <p:cNvPr id="9" name="">
            <a:extLst xmlns:a="http://schemas.openxmlformats.org/drawingml/2006/main">
              <a:ext uri="{FF2B5EF4-FFF2-40B4-BE49-F238E27FC236}">
                <a16:creationId xmlns:a16="http://schemas.microsoft.com/office/drawing/2014/main" id="{0A192CE1-EE1C-4293-9846-2ED69ABBD54E}"/>
              </a:ext>
            </a:extLst>
          </p:cNvPr>
          <p:cNvSpPr>
            <a:spLocks xmlns:a="http://schemas.openxmlformats.org/drawingml/2006/main" noGrp="1"/>
          </p:cNvSpPr>
          <p:nvPr/>
        </p:nvSpPr>
        <p:spPr>
          <a:xfrm xmlns:a="http://schemas.openxmlformats.org/drawingml/2006/main">
            <a:off x="8934450" y="2362200"/>
            <a:ext cx="2438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000000"/>
                </a:solidFill>
              </a:defRPr>
            </a:pPr>
            <a:r>
              <a:rPr sz="3150" b="1">
                <a:solidFill>
                  <a:srgbClr val="000000"/>
                </a:solidFill>
              </a:rPr>
              <a:t>1.56%</a:t>
            </a:r>
          </a:p>
        </p:txBody>
      </p:sp>
      <p:sp>
        <p:nvSpPr>
          <p:cNvPr id="10" name="">
            <a:extLst xmlns:a="http://schemas.openxmlformats.org/drawingml/2006/main">
              <a:ext uri="{FF2B5EF4-FFF2-40B4-BE49-F238E27FC236}">
                <a16:creationId xmlns:a16="http://schemas.microsoft.com/office/drawing/2014/main" id="{761B25A0-9BB5-4D1B-A4DA-9DF6053281A2}"/>
              </a:ext>
            </a:extLst>
          </p:cNvPr>
          <p:cNvSpPr>
            <a:spLocks xmlns:a="http://schemas.openxmlformats.org/drawingml/2006/main" noGrp="1"/>
          </p:cNvSpPr>
          <p:nvPr/>
        </p:nvSpPr>
        <p:spPr>
          <a:xfrm xmlns:a="http://schemas.openxmlformats.org/drawingml/2006/main">
            <a:off x="8934450" y="2876550"/>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4364B"/>
                </a:solidFill>
              </a:defRPr>
            </a:pPr>
            <a:r>
              <a:rPr sz="1275" b="1">
                <a:solidFill>
                  <a:srgbClr val="24364B"/>
                </a:solidFill>
              </a:rPr>
              <a:t>confirmation mean net</a:t>
            </a:r>
          </a:p>
        </p:txBody>
      </p:sp>
      <p:sp>
        <p:nvSpPr>
          <p:cNvPr id="11" name="">
            <a:extLst xmlns:a="http://schemas.openxmlformats.org/drawingml/2006/main">
              <a:ext uri="{FF2B5EF4-FFF2-40B4-BE49-F238E27FC236}">
                <a16:creationId xmlns:a16="http://schemas.microsoft.com/office/drawing/2014/main" id="{554AC115-39A1-4624-816F-2E2DC33DFE98}"/>
              </a:ext>
            </a:extLst>
          </p:cNvPr>
          <p:cNvSpPr>
            <a:spLocks xmlns:a="http://schemas.openxmlformats.org/drawingml/2006/main" noGrp="1"/>
          </p:cNvSpPr>
          <p:nvPr/>
        </p:nvSpPr>
        <p:spPr>
          <a:xfrm xmlns:a="http://schemas.openxmlformats.org/drawingml/2006/main">
            <a:off x="8934450" y="35337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2" name="">
            <a:extLst xmlns:a="http://schemas.openxmlformats.org/drawingml/2006/main">
              <a:ext uri="{FF2B5EF4-FFF2-40B4-BE49-F238E27FC236}">
                <a16:creationId xmlns:a16="http://schemas.microsoft.com/office/drawing/2014/main" id="{DB7C5463-8B81-4A04-971C-AAF68357D4BC}"/>
              </a:ext>
            </a:extLst>
          </p:cNvPr>
          <p:cNvSpPr>
            <a:spLocks xmlns:a="http://schemas.openxmlformats.org/drawingml/2006/main" noGrp="1"/>
          </p:cNvSpPr>
          <p:nvPr/>
        </p:nvSpPr>
        <p:spPr>
          <a:xfrm xmlns:a="http://schemas.openxmlformats.org/drawingml/2006/main">
            <a:off x="9163050" y="3448050"/>
            <a:ext cx="217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9 trades; minimum gate was 10</a:t>
            </a:r>
          </a:p>
        </p:txBody>
      </p:sp>
      <p:sp>
        <p:nvSpPr>
          <p:cNvPr id="13" name="">
            <a:extLst xmlns:a="http://schemas.openxmlformats.org/drawingml/2006/main">
              <a:ext uri="{FF2B5EF4-FFF2-40B4-BE49-F238E27FC236}">
                <a16:creationId xmlns:a16="http://schemas.microsoft.com/office/drawing/2014/main" id="{66A06EE6-762F-4845-BE5C-A67797E1FD1B}"/>
              </a:ext>
            </a:extLst>
          </p:cNvPr>
          <p:cNvSpPr>
            <a:spLocks xmlns:a="http://schemas.openxmlformats.org/drawingml/2006/main" noGrp="1"/>
          </p:cNvSpPr>
          <p:nvPr/>
        </p:nvSpPr>
        <p:spPr>
          <a:xfrm xmlns:a="http://schemas.openxmlformats.org/drawingml/2006/main">
            <a:off x="8934450" y="41814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4" name="">
            <a:extLst xmlns:a="http://schemas.openxmlformats.org/drawingml/2006/main">
              <a:ext uri="{FF2B5EF4-FFF2-40B4-BE49-F238E27FC236}">
                <a16:creationId xmlns:a16="http://schemas.microsoft.com/office/drawing/2014/main" id="{C356B824-6209-4157-9F66-2D0D3EF562A9}"/>
              </a:ext>
            </a:extLst>
          </p:cNvPr>
          <p:cNvSpPr>
            <a:spLocks xmlns:a="http://schemas.openxmlformats.org/drawingml/2006/main" noGrp="1"/>
          </p:cNvSpPr>
          <p:nvPr/>
        </p:nvSpPr>
        <p:spPr>
          <a:xfrm xmlns:a="http://schemas.openxmlformats.org/drawingml/2006/main">
            <a:off x="9163050" y="4095750"/>
            <a:ext cx="2171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−2.88 pp versus 4.44% unconditional drift</a:t>
            </a:r>
          </a:p>
        </p:txBody>
      </p:sp>
      <p:sp>
        <p:nvSpPr>
          <p:cNvPr id="15" name="">
            <a:extLst xmlns:a="http://schemas.openxmlformats.org/drawingml/2006/main">
              <a:ext uri="{FF2B5EF4-FFF2-40B4-BE49-F238E27FC236}">
                <a16:creationId xmlns:a16="http://schemas.microsoft.com/office/drawing/2014/main" id="{23A9ADC3-522C-40E6-B564-37A048534777}"/>
              </a:ext>
            </a:extLst>
          </p:cNvPr>
          <p:cNvSpPr>
            <a:spLocks xmlns:a="http://schemas.openxmlformats.org/drawingml/2006/main" noGrp="1"/>
          </p:cNvSpPr>
          <p:nvPr/>
        </p:nvSpPr>
        <p:spPr>
          <a:xfrm xmlns:a="http://schemas.openxmlformats.org/drawingml/2006/main">
            <a:off x="8934450" y="500062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6" name="">
            <a:extLst xmlns:a="http://schemas.openxmlformats.org/drawingml/2006/main">
              <a:ext uri="{FF2B5EF4-FFF2-40B4-BE49-F238E27FC236}">
                <a16:creationId xmlns:a16="http://schemas.microsoft.com/office/drawing/2014/main" id="{4DCF4AB7-91E8-4255-8E1F-5A237C90D771}"/>
              </a:ext>
            </a:extLst>
          </p:cNvPr>
          <p:cNvSpPr>
            <a:spLocks xmlns:a="http://schemas.openxmlformats.org/drawingml/2006/main" noGrp="1"/>
          </p:cNvSpPr>
          <p:nvPr/>
        </p:nvSpPr>
        <p:spPr>
          <a:xfrm xmlns:a="http://schemas.openxmlformats.org/drawingml/2006/main">
            <a:off x="9163050" y="4914900"/>
            <a:ext cx="2171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Below every ingredient control; strongest = 5.12%</a:t>
            </a:r>
          </a:p>
        </p:txBody>
      </p:sp>
    </p:spTree>
    <p:extLst>
      <p:ext uri="{BB962C8B-B14F-4D97-AF65-F5344CB8AC3E}">
        <p14:creationId xmlns:p14="http://schemas.microsoft.com/office/powerpoint/2010/main" val="53347232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09FE94C-609F-42AC-AE97-87131EFEA9E9}"/>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CONFIRMATION</a:t>
            </a:r>
          </a:p>
        </p:txBody>
      </p:sp>
      <p:sp>
        <p:nvSpPr>
          <p:cNvPr id="2" name="">
            <a:extLst xmlns:a="http://schemas.openxmlformats.org/drawingml/2006/main">
              <a:ext uri="{FF2B5EF4-FFF2-40B4-BE49-F238E27FC236}">
                <a16:creationId xmlns:a16="http://schemas.microsoft.com/office/drawing/2014/main" id="{6B503B89-6CE2-4109-ADE8-62C5B47BBB9D}"/>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A positive median is not enough to beat the baseline</a:t>
            </a:r>
          </a:p>
        </p:txBody>
      </p:sp>
      <p:sp>
        <p:nvSpPr>
          <p:cNvPr id="3" name="">
            <a:extLst xmlns:a="http://schemas.openxmlformats.org/drawingml/2006/main">
              <a:ext uri="{FF2B5EF4-FFF2-40B4-BE49-F238E27FC236}">
                <a16:creationId xmlns:a16="http://schemas.microsoft.com/office/drawing/2014/main" id="{FCC71C5F-C248-4A0E-B08A-EB164AC738CF}"/>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D6CE024B-D6EE-45BD-92C7-85FFE1E18A21}"/>
              </a:ext>
            </a:extLst>
          </p:cNvPr>
          <p:cNvSpPr>
            <a:spLocks xmlns:a="http://schemas.openxmlformats.org/drawingml/2006/main" noGrp="1"/>
          </p:cNvSpPr>
          <p:nvPr/>
        </p:nvSpPr>
        <p:spPr>
          <a:xfrm xmlns:a="http://schemas.openxmlformats.org/drawingml/2006/main">
            <a:off x="457200" y="651510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One-shot untouched time · adjusted daily bars · frozen 2024-01-02–2026-06-23</a:t>
            </a:r>
          </a:p>
        </p:txBody>
      </p:sp>
      <p:sp>
        <p:nvSpPr>
          <p:cNvPr id="5" name="">
            <a:extLst xmlns:a="http://schemas.openxmlformats.org/drawingml/2006/main">
              <a:ext uri="{FF2B5EF4-FFF2-40B4-BE49-F238E27FC236}">
                <a16:creationId xmlns:a16="http://schemas.microsoft.com/office/drawing/2014/main" id="{A7B6ADC9-EE68-4E9B-9131-7DA782926581}"/>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25</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a0a7704bc114188"/>
          <a:stretch xmlns:a="http://schemas.openxmlformats.org/drawingml/2006/main"/>
        </p:blipFill>
        <p:spPr>
          <a:xfrm xmlns:a="http://schemas.openxmlformats.org/drawingml/2006/main">
            <a:off x="516731" y="1409700"/>
            <a:ext cx="8167688" cy="4667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2051CAD-CB27-48C8-8D97-1F003445ABBE}"/>
              </a:ext>
            </a:extLst>
          </p:cNvPr>
          <p:cNvSpPr>
            <a:spLocks xmlns:a="http://schemas.openxmlformats.org/drawingml/2006/main" noGrp="1"/>
          </p:cNvSpPr>
          <p:nvPr/>
        </p:nvSpPr>
        <p:spPr>
          <a:xfrm xmlns:a="http://schemas.openxmlformats.org/drawingml/2006/main">
            <a:off x="9048750" y="1562100"/>
            <a:ext cx="2590800" cy="41719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63B07928-9CED-4A72-8716-181895EF4C77}"/>
              </a:ext>
            </a:extLst>
          </p:cNvPr>
          <p:cNvSpPr>
            <a:spLocks xmlns:a="http://schemas.openxmlformats.org/drawingml/2006/main" noGrp="1"/>
          </p:cNvSpPr>
          <p:nvPr/>
        </p:nvSpPr>
        <p:spPr>
          <a:xfrm xmlns:a="http://schemas.openxmlformats.org/drawingml/2006/main">
            <a:off x="9277350" y="18097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defRPr>
            </a:pPr>
            <a:r>
              <a:rPr sz="1725" b="1">
                <a:solidFill>
                  <a:srgbClr val="000000"/>
                </a:solidFill>
              </a:rPr>
              <a:t>What survived</a:t>
            </a:r>
          </a:p>
        </p:txBody>
      </p:sp>
      <p:sp>
        <p:nvSpPr>
          <p:cNvPr id="9" name="">
            <a:extLst xmlns:a="http://schemas.openxmlformats.org/drawingml/2006/main">
              <a:ext uri="{FF2B5EF4-FFF2-40B4-BE49-F238E27FC236}">
                <a16:creationId xmlns:a16="http://schemas.microsoft.com/office/drawing/2014/main" id="{33ECF39F-3B19-4DAC-8625-12D7697414F8}"/>
              </a:ext>
            </a:extLst>
          </p:cNvPr>
          <p:cNvSpPr>
            <a:spLocks xmlns:a="http://schemas.openxmlformats.org/drawingml/2006/main" noGrp="1"/>
          </p:cNvSpPr>
          <p:nvPr/>
        </p:nvSpPr>
        <p:spPr>
          <a:xfrm xmlns:a="http://schemas.openxmlformats.org/drawingml/2006/main">
            <a:off x="9277350" y="2343150"/>
            <a:ext cx="2133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a:solidFill>
                  <a:srgbClr val="14866D"/>
                </a:solidFill>
              </a:defRPr>
            </a:pPr>
            <a:r>
              <a:rPr sz="2625" b="1">
                <a:solidFill>
                  <a:srgbClr val="14866D"/>
                </a:solidFill>
              </a:rPr>
              <a:t>+2.19%</a:t>
            </a:r>
          </a:p>
        </p:txBody>
      </p:sp>
      <p:sp>
        <p:nvSpPr>
          <p:cNvPr id="10" name="">
            <a:extLst xmlns:a="http://schemas.openxmlformats.org/drawingml/2006/main">
              <a:ext uri="{FF2B5EF4-FFF2-40B4-BE49-F238E27FC236}">
                <a16:creationId xmlns:a16="http://schemas.microsoft.com/office/drawing/2014/main" id="{9895B2A2-3538-404E-A98C-3F940450AC94}"/>
              </a:ext>
            </a:extLst>
          </p:cNvPr>
          <p:cNvSpPr>
            <a:spLocks xmlns:a="http://schemas.openxmlformats.org/drawingml/2006/main" noGrp="1"/>
          </p:cNvSpPr>
          <p:nvPr/>
        </p:nvSpPr>
        <p:spPr>
          <a:xfrm xmlns:a="http://schemas.openxmlformats.org/drawingml/2006/main">
            <a:off x="9277350" y="276225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median net</a:t>
            </a:r>
          </a:p>
        </p:txBody>
      </p:sp>
      <p:sp>
        <p:nvSpPr>
          <p:cNvPr id="11" name="">
            <a:extLst xmlns:a="http://schemas.openxmlformats.org/drawingml/2006/main">
              <a:ext uri="{FF2B5EF4-FFF2-40B4-BE49-F238E27FC236}">
                <a16:creationId xmlns:a16="http://schemas.microsoft.com/office/drawing/2014/main" id="{51449E3B-03C6-47CF-8DDD-EE74A53C1920}"/>
              </a:ext>
            </a:extLst>
          </p:cNvPr>
          <p:cNvSpPr>
            <a:spLocks xmlns:a="http://schemas.openxmlformats.org/drawingml/2006/main" noGrp="1"/>
          </p:cNvSpPr>
          <p:nvPr/>
        </p:nvSpPr>
        <p:spPr>
          <a:xfrm xmlns:a="http://schemas.openxmlformats.org/drawingml/2006/main">
            <a:off x="9277350" y="3276600"/>
            <a:ext cx="2133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a:solidFill>
                  <a:srgbClr val="14866D"/>
                </a:solidFill>
              </a:defRPr>
            </a:pPr>
            <a:r>
              <a:rPr sz="2625" b="1">
                <a:solidFill>
                  <a:srgbClr val="14866D"/>
                </a:solidFill>
              </a:rPr>
              <a:t>6 / 9</a:t>
            </a:r>
          </a:p>
        </p:txBody>
      </p:sp>
      <p:sp>
        <p:nvSpPr>
          <p:cNvPr id="12" name="">
            <a:extLst xmlns:a="http://schemas.openxmlformats.org/drawingml/2006/main">
              <a:ext uri="{FF2B5EF4-FFF2-40B4-BE49-F238E27FC236}">
                <a16:creationId xmlns:a16="http://schemas.microsoft.com/office/drawing/2014/main" id="{80882515-5164-4A8E-9985-E5CD6BA96E07}"/>
              </a:ext>
            </a:extLst>
          </p:cNvPr>
          <p:cNvSpPr>
            <a:spLocks xmlns:a="http://schemas.openxmlformats.org/drawingml/2006/main" noGrp="1"/>
          </p:cNvSpPr>
          <p:nvPr/>
        </p:nvSpPr>
        <p:spPr>
          <a:xfrm xmlns:a="http://schemas.openxmlformats.org/drawingml/2006/main">
            <a:off x="9277350" y="369570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profitable trades</a:t>
            </a:r>
          </a:p>
        </p:txBody>
      </p:sp>
      <p:sp>
        <p:nvSpPr>
          <p:cNvPr id="13" name="">
            <a:extLst xmlns:a="http://schemas.openxmlformats.org/drawingml/2006/main">
              <a:ext uri="{FF2B5EF4-FFF2-40B4-BE49-F238E27FC236}">
                <a16:creationId xmlns:a16="http://schemas.microsoft.com/office/drawing/2014/main" id="{4764F512-D575-41BF-9128-57B9F27A861E}"/>
              </a:ext>
            </a:extLst>
          </p:cNvPr>
          <p:cNvSpPr>
            <a:spLocks xmlns:a="http://schemas.openxmlformats.org/drawingml/2006/main" noGrp="1"/>
          </p:cNvSpPr>
          <p:nvPr/>
        </p:nvSpPr>
        <p:spPr>
          <a:xfrm xmlns:a="http://schemas.openxmlformats.org/drawingml/2006/main">
            <a:off x="9277350" y="430530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B44738"/>
                </a:solidFill>
              </a:defRPr>
            </a:pPr>
            <a:r>
              <a:rPr sz="1725" b="1">
                <a:solidFill>
                  <a:srgbClr val="B44738"/>
                </a:solidFill>
              </a:rPr>
              <a:t>What failed</a:t>
            </a:r>
          </a:p>
        </p:txBody>
      </p:sp>
      <p:sp>
        <p:nvSpPr>
          <p:cNvPr id="14" name="">
            <a:extLst xmlns:a="http://schemas.openxmlformats.org/drawingml/2006/main">
              <a:ext uri="{FF2B5EF4-FFF2-40B4-BE49-F238E27FC236}">
                <a16:creationId xmlns:a16="http://schemas.microsoft.com/office/drawing/2014/main" id="{BCE82B55-6FFA-4F18-9417-B4B70EA82E69}"/>
              </a:ext>
            </a:extLst>
          </p:cNvPr>
          <p:cNvSpPr>
            <a:spLocks xmlns:a="http://schemas.openxmlformats.org/drawingml/2006/main" noGrp="1"/>
          </p:cNvSpPr>
          <p:nvPr/>
        </p:nvSpPr>
        <p:spPr>
          <a:xfrm xmlns:a="http://schemas.openxmlformats.org/drawingml/2006/main">
            <a:off x="9277350" y="4762500"/>
            <a:ext cx="2133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4364B"/>
                </a:solidFill>
              </a:defRPr>
            </a:pPr>
            <a:r>
              <a:rPr sz="1350" b="1">
                <a:solidFill>
                  <a:srgbClr val="24364B"/>
                </a:solidFill>
              </a:rPr>
              <a:t>The sequence's average was too weak to overcome ordinary NVDA drift or the simpler controls.</a:t>
            </a:r>
          </a:p>
        </p:txBody>
      </p:sp>
    </p:spTree>
    <p:extLst>
      <p:ext uri="{BB962C8B-B14F-4D97-AF65-F5344CB8AC3E}">
        <p14:creationId xmlns:p14="http://schemas.microsoft.com/office/powerpoint/2010/main" val="10493184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3987EC-6DF1-4986-B8E7-8E77A9176047}"/>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CONFIRMATION</a:t>
            </a:r>
          </a:p>
        </p:txBody>
      </p:sp>
      <p:sp>
        <p:nvSpPr>
          <p:cNvPr id="2" name="">
            <a:extLst xmlns:a="http://schemas.openxmlformats.org/drawingml/2006/main">
              <a:ext uri="{FF2B5EF4-FFF2-40B4-BE49-F238E27FC236}">
                <a16:creationId xmlns:a16="http://schemas.microsoft.com/office/drawing/2014/main" id="{35BEE866-2F57-41A4-BADE-803F24E2844D}"/>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Participation was sparse—and the path depended on late winners</a:t>
            </a:r>
          </a:p>
        </p:txBody>
      </p:sp>
      <p:sp>
        <p:nvSpPr>
          <p:cNvPr id="3" name="">
            <a:extLst xmlns:a="http://schemas.openxmlformats.org/drawingml/2006/main">
              <a:ext uri="{FF2B5EF4-FFF2-40B4-BE49-F238E27FC236}">
                <a16:creationId xmlns:a16="http://schemas.microsoft.com/office/drawing/2014/main" id="{0C63DCA1-6B98-409D-85FD-B9E229E88CF2}"/>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E846FD6D-E9F4-43C9-8B86-07A73ACC9C32}"/>
              </a:ext>
            </a:extLst>
          </p:cNvPr>
          <p:cNvSpPr>
            <a:spLocks xmlns:a="http://schemas.openxmlformats.org/drawingml/2006/main" noGrp="1"/>
          </p:cNvSpPr>
          <p:nvPr/>
        </p:nvSpPr>
        <p:spPr>
          <a:xfrm xmlns:a="http://schemas.openxmlformats.org/drawingml/2006/main">
            <a:off x="457200" y="651510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One-shot untouched time · adjusted daily bars · frozen 2024-01-02–2026-06-23</a:t>
            </a:r>
          </a:p>
        </p:txBody>
      </p:sp>
      <p:sp>
        <p:nvSpPr>
          <p:cNvPr id="5" name="">
            <a:extLst xmlns:a="http://schemas.openxmlformats.org/drawingml/2006/main">
              <a:ext uri="{FF2B5EF4-FFF2-40B4-BE49-F238E27FC236}">
                <a16:creationId xmlns:a16="http://schemas.microsoft.com/office/drawing/2014/main" id="{F1043F12-255A-41DB-B947-8CD10D270130}"/>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527e4e86be5440d"/>
          <a:stretch xmlns:a="http://schemas.openxmlformats.org/drawingml/2006/main"/>
        </p:blipFill>
        <p:spPr>
          <a:xfrm xmlns:a="http://schemas.openxmlformats.org/drawingml/2006/main">
            <a:off x="361950" y="2017939"/>
            <a:ext cx="5638800" cy="3222171"/>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ca7e3a6379c4ba1"/>
          <a:stretch xmlns:a="http://schemas.openxmlformats.org/drawingml/2006/main"/>
        </p:blipFill>
        <p:spPr>
          <a:xfrm xmlns:a="http://schemas.openxmlformats.org/drawingml/2006/main">
            <a:off x="6191250" y="2017939"/>
            <a:ext cx="5638800" cy="3222171"/>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B4F916D-C81A-42F0-AB7A-94947655E971}"/>
              </a:ext>
            </a:extLst>
          </p:cNvPr>
          <p:cNvSpPr>
            <a:spLocks xmlns:a="http://schemas.openxmlformats.org/drawingml/2006/main" noGrp="1"/>
          </p:cNvSpPr>
          <p:nvPr/>
        </p:nvSpPr>
        <p:spPr>
          <a:xfrm xmlns:a="http://schemas.openxmlformats.org/drawingml/2006/main">
            <a:off x="800100" y="5981700"/>
            <a:ext cx="1059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24364B"/>
                </a:solidFill>
              </a:defRPr>
            </a:pPr>
            <a:r>
              <a:rPr sz="1350" b="1">
                <a:solidFill>
                  <a:srgbClr val="24364B"/>
                </a:solidFill>
              </a:rPr>
              <a:t>The rule spent much of 2025 underwater, then recovered on a +21.6% late trade. A final equity level above 1 does not establish incremental edge.</a:t>
            </a:r>
          </a:p>
        </p:txBody>
      </p:sp>
    </p:spTree>
    <p:extLst>
      <p:ext uri="{BB962C8B-B14F-4D97-AF65-F5344CB8AC3E}">
        <p14:creationId xmlns:p14="http://schemas.microsoft.com/office/powerpoint/2010/main" val="112407109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FD0907-C5F7-40F9-941E-F0780EF4CCA4}"/>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CONFIRMATION</a:t>
            </a:r>
          </a:p>
        </p:txBody>
      </p:sp>
      <p:sp>
        <p:nvSpPr>
          <p:cNvPr id="2" name="">
            <a:extLst xmlns:a="http://schemas.openxmlformats.org/drawingml/2006/main">
              <a:ext uri="{FF2B5EF4-FFF2-40B4-BE49-F238E27FC236}">
                <a16:creationId xmlns:a16="http://schemas.microsoft.com/office/drawing/2014/main" id="{0E0FE839-C9D8-4EBE-8AC1-032A313D0953}"/>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trade paths do not reveal a stable rebound shape</a:t>
            </a:r>
          </a:p>
        </p:txBody>
      </p:sp>
      <p:sp>
        <p:nvSpPr>
          <p:cNvPr id="3" name="">
            <a:extLst xmlns:a="http://schemas.openxmlformats.org/drawingml/2006/main">
              <a:ext uri="{FF2B5EF4-FFF2-40B4-BE49-F238E27FC236}">
                <a16:creationId xmlns:a16="http://schemas.microsoft.com/office/drawing/2014/main" id="{06CF7EDB-7A5D-4740-A793-5CF0080F4B1A}"/>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50677EAB-4324-47E1-BD6F-F738E1B87C9C}"/>
              </a:ext>
            </a:extLst>
          </p:cNvPr>
          <p:cNvSpPr>
            <a:spLocks xmlns:a="http://schemas.openxmlformats.org/drawingml/2006/main" noGrp="1"/>
          </p:cNvSpPr>
          <p:nvPr/>
        </p:nvSpPr>
        <p:spPr>
          <a:xfrm xmlns:a="http://schemas.openxmlformats.org/drawingml/2006/main">
            <a:off x="457200" y="651510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One-shot untouched time · adjusted daily bars · frozen 2024-01-02–2026-06-23</a:t>
            </a:r>
          </a:p>
        </p:txBody>
      </p:sp>
      <p:sp>
        <p:nvSpPr>
          <p:cNvPr id="5" name="">
            <a:extLst xmlns:a="http://schemas.openxmlformats.org/drawingml/2006/main">
              <a:ext uri="{FF2B5EF4-FFF2-40B4-BE49-F238E27FC236}">
                <a16:creationId xmlns:a16="http://schemas.microsoft.com/office/drawing/2014/main" id="{F8A7D9A9-C1E2-4FDB-AE15-B6988E3BF306}"/>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27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0581f650c324223"/>
          <a:stretch xmlns:a="http://schemas.openxmlformats.org/drawingml/2006/main"/>
        </p:blipFill>
        <p:spPr>
          <a:xfrm xmlns:a="http://schemas.openxmlformats.org/drawingml/2006/main">
            <a:off x="1896208" y="1371600"/>
            <a:ext cx="8285285" cy="4895850"/>
          </a:xfrm>
          <a:prstGeom xmlns:a="http://schemas.openxmlformats.org/drawingml/2006/main" prst="rect">
            <a:avLst/>
          </a:prstGeom>
        </p:spPr>
      </p:pic>
    </p:spTree>
    <p:extLst>
      <p:ext uri="{BB962C8B-B14F-4D97-AF65-F5344CB8AC3E}">
        <p14:creationId xmlns:p14="http://schemas.microsoft.com/office/powerpoint/2010/main" val="111922919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EAB0E478-6A5B-4117-A184-3EE9F7682DB5}"/>
              </a:ext>
            </a:extLst>
          </p:cNvPr>
          <p:cNvSpPr>
            <a:spLocks xmlns:a="http://schemas.openxmlformats.org/drawingml/2006/main" noGrp="1"/>
          </p:cNvSpPr>
          <p:nvPr/>
        </p:nvSpPr>
        <p:spPr>
          <a:xfrm xmlns:a="http://schemas.openxmlformats.org/drawingml/2006/main">
            <a:off x="457200" y="2381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CONFIRMATION</a:t>
            </a:r>
          </a:p>
        </p:txBody>
      </p:sp>
      <p:sp>
        <p:nvSpPr>
          <p:cNvPr id="2" name="">
            <a:extLst xmlns:a="http://schemas.openxmlformats.org/drawingml/2006/main">
              <a:ext uri="{FF2B5EF4-FFF2-40B4-BE49-F238E27FC236}">
                <a16:creationId xmlns:a16="http://schemas.microsoft.com/office/drawing/2014/main" id="{66E12B73-5233-446A-8FD5-3FB90E0A880A}"/>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exact calm-pullback rebound rule stops</a:t>
            </a:r>
          </a:p>
        </p:txBody>
      </p:sp>
      <p:sp>
        <p:nvSpPr>
          <p:cNvPr id="3" name="">
            <a:extLst xmlns:a="http://schemas.openxmlformats.org/drawingml/2006/main">
              <a:ext uri="{FF2B5EF4-FFF2-40B4-BE49-F238E27FC236}">
                <a16:creationId xmlns:a16="http://schemas.microsoft.com/office/drawing/2014/main" id="{7CB48AAB-081E-471A-9D08-F607B52DBBF5}"/>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C45F346B-3AF4-4466-AC10-769372E00E55}"/>
              </a:ext>
            </a:extLst>
          </p:cNvPr>
          <p:cNvSpPr>
            <a:spLocks xmlns:a="http://schemas.openxmlformats.org/drawingml/2006/main" noGrp="1"/>
          </p:cNvSpPr>
          <p:nvPr/>
        </p:nvSpPr>
        <p:spPr>
          <a:xfrm xmlns:a="http://schemas.openxmlformats.org/drawingml/2006/main">
            <a:off x="457200" y="651510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One-shot untouched time · adjusted daily bars · frozen 2024-01-02–2026-06-23</a:t>
            </a:r>
          </a:p>
        </p:txBody>
      </p:sp>
      <p:sp>
        <p:nvSpPr>
          <p:cNvPr id="5" name="">
            <a:extLst xmlns:a="http://schemas.openxmlformats.org/drawingml/2006/main">
              <a:ext uri="{FF2B5EF4-FFF2-40B4-BE49-F238E27FC236}">
                <a16:creationId xmlns:a16="http://schemas.microsoft.com/office/drawing/2014/main" id="{11A5E079-5E6A-4CA2-B323-B65086F546B8}"/>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28</a:t>
            </a:r>
          </a:p>
        </p:txBody>
      </p:sp>
      <p:sp>
        <p:nvSpPr>
          <p:cNvPr id="6" name="">
            <a:extLst xmlns:a="http://schemas.openxmlformats.org/drawingml/2006/main">
              <a:ext uri="{FF2B5EF4-FFF2-40B4-BE49-F238E27FC236}">
                <a16:creationId xmlns:a16="http://schemas.microsoft.com/office/drawing/2014/main" id="{E64FDFC3-E573-4777-A471-EC847BAFCC55}"/>
              </a:ext>
            </a:extLst>
          </p:cNvPr>
          <p:cNvSpPr>
            <a:spLocks xmlns:a="http://schemas.openxmlformats.org/drawingml/2006/main" noGrp="1"/>
          </p:cNvSpPr>
          <p:nvPr/>
        </p:nvSpPr>
        <p:spPr>
          <a:xfrm xmlns:a="http://schemas.openxmlformats.org/drawingml/2006/main">
            <a:off x="552450" y="1562100"/>
            <a:ext cx="11087100" cy="9144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7" name="">
            <a:extLst xmlns:a="http://schemas.openxmlformats.org/drawingml/2006/main">
              <a:ext uri="{FF2B5EF4-FFF2-40B4-BE49-F238E27FC236}">
                <a16:creationId xmlns:a16="http://schemas.microsoft.com/office/drawing/2014/main" id="{37519D36-80D7-41C8-99EE-6BC1643042F5}"/>
              </a:ext>
            </a:extLst>
          </p:cNvPr>
          <p:cNvSpPr>
            <a:spLocks xmlns:a="http://schemas.openxmlformats.org/drawingml/2006/main" noGrp="1"/>
          </p:cNvSpPr>
          <p:nvPr/>
        </p:nvSpPr>
        <p:spPr>
          <a:xfrm xmlns:a="http://schemas.openxmlformats.org/drawingml/2006/main">
            <a:off x="819150" y="1809750"/>
            <a:ext cx="10553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325" b="1">
                <a:solidFill>
                  <a:srgbClr val="B44738"/>
                </a:solidFill>
              </a:defRPr>
            </a:pPr>
            <a:r>
              <a:rPr sz="2325" b="1">
                <a:solidFill>
                  <a:srgbClr val="B44738"/>
                </a:solidFill>
              </a:rPr>
              <a:t>STOP_CONFIRMATION_GATES_FAILED</a:t>
            </a:r>
          </a:p>
        </p:txBody>
      </p:sp>
      <p:sp>
        <p:nvSpPr>
          <p:cNvPr id="8" name="">
            <a:extLst xmlns:a="http://schemas.openxmlformats.org/drawingml/2006/main">
              <a:ext uri="{FF2B5EF4-FFF2-40B4-BE49-F238E27FC236}">
                <a16:creationId xmlns:a16="http://schemas.microsoft.com/office/drawing/2014/main" id="{19550C23-211C-4631-B728-B1A812675363}"/>
              </a:ext>
            </a:extLst>
          </p:cNvPr>
          <p:cNvSpPr>
            <a:spLocks xmlns:a="http://schemas.openxmlformats.org/drawingml/2006/main" noGrp="1"/>
          </p:cNvSpPr>
          <p:nvPr/>
        </p:nvSpPr>
        <p:spPr>
          <a:xfrm xmlns:a="http://schemas.openxmlformats.org/drawingml/2006/main">
            <a:off x="552450" y="28956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Predeclared gates</a:t>
            </a:r>
          </a:p>
        </p:txBody>
      </p:sp>
      <p:sp>
        <p:nvSpPr>
          <p:cNvPr id="9" name="">
            <a:extLst xmlns:a="http://schemas.openxmlformats.org/drawingml/2006/main">
              <a:ext uri="{FF2B5EF4-FFF2-40B4-BE49-F238E27FC236}">
                <a16:creationId xmlns:a16="http://schemas.microsoft.com/office/drawing/2014/main" id="{D9DEAE72-C242-43DD-982D-D739FE03295C}"/>
              </a:ext>
            </a:extLst>
          </p:cNvPr>
          <p:cNvSpPr>
            <a:spLocks xmlns:a="http://schemas.openxmlformats.org/drawingml/2006/main" noGrp="1"/>
          </p:cNvSpPr>
          <p:nvPr/>
        </p:nvSpPr>
        <p:spPr>
          <a:xfrm xmlns:a="http://schemas.openxmlformats.org/drawingml/2006/main">
            <a:off x="685800" y="3429000"/>
            <a:ext cx="876300" cy="32385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10" name="">
            <a:extLst xmlns:a="http://schemas.openxmlformats.org/drawingml/2006/main">
              <a:ext uri="{FF2B5EF4-FFF2-40B4-BE49-F238E27FC236}">
                <a16:creationId xmlns:a16="http://schemas.microsoft.com/office/drawing/2014/main" id="{4BE0E146-3F3A-42EB-9057-949403D3EB1F}"/>
              </a:ext>
            </a:extLst>
          </p:cNvPr>
          <p:cNvSpPr>
            <a:spLocks xmlns:a="http://schemas.openxmlformats.org/drawingml/2006/main" noGrp="1"/>
          </p:cNvSpPr>
          <p:nvPr/>
        </p:nvSpPr>
        <p:spPr>
          <a:xfrm xmlns:a="http://schemas.openxmlformats.org/drawingml/2006/main">
            <a:off x="742950" y="3495675"/>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B44738"/>
                </a:solidFill>
              </a:defRPr>
            </a:pPr>
            <a:r>
              <a:rPr sz="1050" b="1">
                <a:solidFill>
                  <a:srgbClr val="B44738"/>
                </a:solidFill>
              </a:rPr>
              <a:t>FAIL</a:t>
            </a:r>
          </a:p>
        </p:txBody>
      </p:sp>
      <p:sp>
        <p:nvSpPr>
          <p:cNvPr id="11" name="">
            <a:extLst xmlns:a="http://schemas.openxmlformats.org/drawingml/2006/main">
              <a:ext uri="{FF2B5EF4-FFF2-40B4-BE49-F238E27FC236}">
                <a16:creationId xmlns:a16="http://schemas.microsoft.com/office/drawing/2014/main" id="{56F637BB-0992-488B-B946-FCC379B193B8}"/>
              </a:ext>
            </a:extLst>
          </p:cNvPr>
          <p:cNvSpPr>
            <a:spLocks xmlns:a="http://schemas.openxmlformats.org/drawingml/2006/main" noGrp="1"/>
          </p:cNvSpPr>
          <p:nvPr/>
        </p:nvSpPr>
        <p:spPr>
          <a:xfrm xmlns:a="http://schemas.openxmlformats.org/drawingml/2006/main">
            <a:off x="1771650" y="347662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00000"/>
                </a:solidFill>
              </a:defRPr>
            </a:pPr>
            <a:r>
              <a:rPr sz="1425" b="1">
                <a:solidFill>
                  <a:srgbClr val="000000"/>
                </a:solidFill>
              </a:rPr>
              <a:t>Minimum sample</a:t>
            </a:r>
          </a:p>
        </p:txBody>
      </p:sp>
      <p:sp>
        <p:nvSpPr>
          <p:cNvPr id="12" name="">
            <a:extLst xmlns:a="http://schemas.openxmlformats.org/drawingml/2006/main">
              <a:ext uri="{FF2B5EF4-FFF2-40B4-BE49-F238E27FC236}">
                <a16:creationId xmlns:a16="http://schemas.microsoft.com/office/drawing/2014/main" id="{39998A86-5A1D-4148-8493-B3FD031861ED}"/>
              </a:ext>
            </a:extLst>
          </p:cNvPr>
          <p:cNvSpPr>
            <a:spLocks xmlns:a="http://schemas.openxmlformats.org/drawingml/2006/main" noGrp="1"/>
          </p:cNvSpPr>
          <p:nvPr/>
        </p:nvSpPr>
        <p:spPr>
          <a:xfrm xmlns:a="http://schemas.openxmlformats.org/drawingml/2006/main">
            <a:off x="4400550" y="34861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67386"/>
                </a:solidFill>
              </a:defRPr>
            </a:pPr>
            <a:r>
              <a:rPr sz="1275" b="0">
                <a:solidFill>
                  <a:srgbClr val="667386"/>
                </a:solidFill>
              </a:rPr>
              <a:t>9 trades; required 10</a:t>
            </a:r>
          </a:p>
        </p:txBody>
      </p:sp>
      <p:sp>
        <p:nvSpPr>
          <p:cNvPr id="13" name="">
            <a:extLst xmlns:a="http://schemas.openxmlformats.org/drawingml/2006/main">
              <a:ext uri="{FF2B5EF4-FFF2-40B4-BE49-F238E27FC236}">
                <a16:creationId xmlns:a16="http://schemas.microsoft.com/office/drawing/2014/main" id="{34227ED8-BF5F-415A-B34A-A13608555694}"/>
              </a:ext>
            </a:extLst>
          </p:cNvPr>
          <p:cNvSpPr>
            <a:spLocks xmlns:a="http://schemas.openxmlformats.org/drawingml/2006/main" noGrp="1"/>
          </p:cNvSpPr>
          <p:nvPr/>
        </p:nvSpPr>
        <p:spPr>
          <a:xfrm xmlns:a="http://schemas.openxmlformats.org/drawingml/2006/main">
            <a:off x="685800" y="3905250"/>
            <a:ext cx="876300" cy="32385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14" name="">
            <a:extLst xmlns:a="http://schemas.openxmlformats.org/drawingml/2006/main">
              <a:ext uri="{FF2B5EF4-FFF2-40B4-BE49-F238E27FC236}">
                <a16:creationId xmlns:a16="http://schemas.microsoft.com/office/drawing/2014/main" id="{8015D2C6-B9F7-492A-9928-E2C274938E5A}"/>
              </a:ext>
            </a:extLst>
          </p:cNvPr>
          <p:cNvSpPr>
            <a:spLocks xmlns:a="http://schemas.openxmlformats.org/drawingml/2006/main" noGrp="1"/>
          </p:cNvSpPr>
          <p:nvPr/>
        </p:nvSpPr>
        <p:spPr>
          <a:xfrm xmlns:a="http://schemas.openxmlformats.org/drawingml/2006/main">
            <a:off x="742950" y="3971925"/>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B44738"/>
                </a:solidFill>
              </a:defRPr>
            </a:pPr>
            <a:r>
              <a:rPr sz="1050" b="1">
                <a:solidFill>
                  <a:srgbClr val="B44738"/>
                </a:solidFill>
              </a:rPr>
              <a:t>FAIL</a:t>
            </a:r>
          </a:p>
        </p:txBody>
      </p:sp>
      <p:sp>
        <p:nvSpPr>
          <p:cNvPr id="15" name="">
            <a:extLst xmlns:a="http://schemas.openxmlformats.org/drawingml/2006/main">
              <a:ext uri="{FF2B5EF4-FFF2-40B4-BE49-F238E27FC236}">
                <a16:creationId xmlns:a16="http://schemas.microsoft.com/office/drawing/2014/main" id="{7EAED102-0DFA-4CBE-9186-04387C9190D8}"/>
              </a:ext>
            </a:extLst>
          </p:cNvPr>
          <p:cNvSpPr>
            <a:spLocks xmlns:a="http://schemas.openxmlformats.org/drawingml/2006/main" noGrp="1"/>
          </p:cNvSpPr>
          <p:nvPr/>
        </p:nvSpPr>
        <p:spPr>
          <a:xfrm xmlns:a="http://schemas.openxmlformats.org/drawingml/2006/main">
            <a:off x="1771650" y="39528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00000"/>
                </a:solidFill>
              </a:defRPr>
            </a:pPr>
            <a:r>
              <a:rPr sz="1425" b="1">
                <a:solidFill>
                  <a:srgbClr val="000000"/>
                </a:solidFill>
              </a:rPr>
              <a:t>Beat drift</a:t>
            </a:r>
          </a:p>
        </p:txBody>
      </p:sp>
      <p:sp>
        <p:nvSpPr>
          <p:cNvPr id="16" name="">
            <a:extLst xmlns:a="http://schemas.openxmlformats.org/drawingml/2006/main">
              <a:ext uri="{FF2B5EF4-FFF2-40B4-BE49-F238E27FC236}">
                <a16:creationId xmlns:a16="http://schemas.microsoft.com/office/drawing/2014/main" id="{A64E1EDD-D333-493B-8E20-65639FD2D8E6}"/>
              </a:ext>
            </a:extLst>
          </p:cNvPr>
          <p:cNvSpPr>
            <a:spLocks xmlns:a="http://schemas.openxmlformats.org/drawingml/2006/main" noGrp="1"/>
          </p:cNvSpPr>
          <p:nvPr/>
        </p:nvSpPr>
        <p:spPr>
          <a:xfrm xmlns:a="http://schemas.openxmlformats.org/drawingml/2006/main">
            <a:off x="4400550" y="39624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67386"/>
                </a:solidFill>
              </a:defRPr>
            </a:pPr>
            <a:r>
              <a:rPr sz="1275" b="0">
                <a:solidFill>
                  <a:srgbClr val="667386"/>
                </a:solidFill>
              </a:rPr>
              <a:t>1.56% vs 4.44%</a:t>
            </a:r>
          </a:p>
        </p:txBody>
      </p:sp>
      <p:sp>
        <p:nvSpPr>
          <p:cNvPr id="17" name="">
            <a:extLst xmlns:a="http://schemas.openxmlformats.org/drawingml/2006/main">
              <a:ext uri="{FF2B5EF4-FFF2-40B4-BE49-F238E27FC236}">
                <a16:creationId xmlns:a16="http://schemas.microsoft.com/office/drawing/2014/main" id="{340C8C58-7F99-4448-993B-40E791A552F2}"/>
              </a:ext>
            </a:extLst>
          </p:cNvPr>
          <p:cNvSpPr>
            <a:spLocks xmlns:a="http://schemas.openxmlformats.org/drawingml/2006/main" noGrp="1"/>
          </p:cNvSpPr>
          <p:nvPr/>
        </p:nvSpPr>
        <p:spPr>
          <a:xfrm xmlns:a="http://schemas.openxmlformats.org/drawingml/2006/main">
            <a:off x="685800" y="4381500"/>
            <a:ext cx="876300" cy="32385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18" name="">
            <a:extLst xmlns:a="http://schemas.openxmlformats.org/drawingml/2006/main">
              <a:ext uri="{FF2B5EF4-FFF2-40B4-BE49-F238E27FC236}">
                <a16:creationId xmlns:a16="http://schemas.microsoft.com/office/drawing/2014/main" id="{8F13A6FE-C5B2-41CD-9DF9-E5A2647AAD97}"/>
              </a:ext>
            </a:extLst>
          </p:cNvPr>
          <p:cNvSpPr>
            <a:spLocks xmlns:a="http://schemas.openxmlformats.org/drawingml/2006/main" noGrp="1"/>
          </p:cNvSpPr>
          <p:nvPr/>
        </p:nvSpPr>
        <p:spPr>
          <a:xfrm xmlns:a="http://schemas.openxmlformats.org/drawingml/2006/main">
            <a:off x="742950" y="4448175"/>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4866D"/>
                </a:solidFill>
              </a:defRPr>
            </a:pPr>
            <a:r>
              <a:rPr sz="1050" b="1">
                <a:solidFill>
                  <a:srgbClr val="14866D"/>
                </a:solidFill>
              </a:rPr>
              <a:t>PASS</a:t>
            </a:r>
          </a:p>
        </p:txBody>
      </p:sp>
      <p:sp>
        <p:nvSpPr>
          <p:cNvPr id="19" name="">
            <a:extLst xmlns:a="http://schemas.openxmlformats.org/drawingml/2006/main">
              <a:ext uri="{FF2B5EF4-FFF2-40B4-BE49-F238E27FC236}">
                <a16:creationId xmlns:a16="http://schemas.microsoft.com/office/drawing/2014/main" id="{F236FB12-BA27-4AA1-8D77-5560E39DA215}"/>
              </a:ext>
            </a:extLst>
          </p:cNvPr>
          <p:cNvSpPr>
            <a:spLocks xmlns:a="http://schemas.openxmlformats.org/drawingml/2006/main" noGrp="1"/>
          </p:cNvSpPr>
          <p:nvPr/>
        </p:nvSpPr>
        <p:spPr>
          <a:xfrm xmlns:a="http://schemas.openxmlformats.org/drawingml/2006/main">
            <a:off x="1771650" y="442912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00000"/>
                </a:solidFill>
              </a:defRPr>
            </a:pPr>
            <a:r>
              <a:rPr sz="1425" b="1">
                <a:solidFill>
                  <a:srgbClr val="000000"/>
                </a:solidFill>
              </a:rPr>
              <a:t>Positive median</a:t>
            </a:r>
          </a:p>
        </p:txBody>
      </p:sp>
      <p:sp>
        <p:nvSpPr>
          <p:cNvPr id="20" name="">
            <a:extLst xmlns:a="http://schemas.openxmlformats.org/drawingml/2006/main">
              <a:ext uri="{FF2B5EF4-FFF2-40B4-BE49-F238E27FC236}">
                <a16:creationId xmlns:a16="http://schemas.microsoft.com/office/drawing/2014/main" id="{7E2A4426-B233-4FB1-9601-FF928A10093C}"/>
              </a:ext>
            </a:extLst>
          </p:cNvPr>
          <p:cNvSpPr>
            <a:spLocks xmlns:a="http://schemas.openxmlformats.org/drawingml/2006/main" noGrp="1"/>
          </p:cNvSpPr>
          <p:nvPr/>
        </p:nvSpPr>
        <p:spPr>
          <a:xfrm xmlns:a="http://schemas.openxmlformats.org/drawingml/2006/main">
            <a:off x="4400550" y="44386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67386"/>
                </a:solidFill>
              </a:defRPr>
            </a:pPr>
            <a:r>
              <a:rPr sz="1275" b="0">
                <a:solidFill>
                  <a:srgbClr val="667386"/>
                </a:solidFill>
              </a:rPr>
              <a:t>+2.19%</a:t>
            </a:r>
          </a:p>
        </p:txBody>
      </p:sp>
      <p:sp>
        <p:nvSpPr>
          <p:cNvPr id="21" name="">
            <a:extLst xmlns:a="http://schemas.openxmlformats.org/drawingml/2006/main">
              <a:ext uri="{FF2B5EF4-FFF2-40B4-BE49-F238E27FC236}">
                <a16:creationId xmlns:a16="http://schemas.microsoft.com/office/drawing/2014/main" id="{4F2EF155-CEB6-4CE7-AF27-9CADD5092BA2}"/>
              </a:ext>
            </a:extLst>
          </p:cNvPr>
          <p:cNvSpPr>
            <a:spLocks xmlns:a="http://schemas.openxmlformats.org/drawingml/2006/main" noGrp="1"/>
          </p:cNvSpPr>
          <p:nvPr/>
        </p:nvSpPr>
        <p:spPr>
          <a:xfrm xmlns:a="http://schemas.openxmlformats.org/drawingml/2006/main">
            <a:off x="685800" y="4857750"/>
            <a:ext cx="876300" cy="32385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22" name="">
            <a:extLst xmlns:a="http://schemas.openxmlformats.org/drawingml/2006/main">
              <a:ext uri="{FF2B5EF4-FFF2-40B4-BE49-F238E27FC236}">
                <a16:creationId xmlns:a16="http://schemas.microsoft.com/office/drawing/2014/main" id="{3CE3A8CA-5764-4634-8332-231020B71AEE}"/>
              </a:ext>
            </a:extLst>
          </p:cNvPr>
          <p:cNvSpPr>
            <a:spLocks xmlns:a="http://schemas.openxmlformats.org/drawingml/2006/main" noGrp="1"/>
          </p:cNvSpPr>
          <p:nvPr/>
        </p:nvSpPr>
        <p:spPr>
          <a:xfrm xmlns:a="http://schemas.openxmlformats.org/drawingml/2006/main">
            <a:off x="742950" y="4924425"/>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4866D"/>
                </a:solidFill>
              </a:defRPr>
            </a:pPr>
            <a:r>
              <a:rPr sz="1050" b="1">
                <a:solidFill>
                  <a:srgbClr val="14866D"/>
                </a:solidFill>
              </a:rPr>
              <a:t>PASS</a:t>
            </a:r>
          </a:p>
        </p:txBody>
      </p:sp>
      <p:sp>
        <p:nvSpPr>
          <p:cNvPr id="23" name="">
            <a:extLst xmlns:a="http://schemas.openxmlformats.org/drawingml/2006/main">
              <a:ext uri="{FF2B5EF4-FFF2-40B4-BE49-F238E27FC236}">
                <a16:creationId xmlns:a16="http://schemas.microsoft.com/office/drawing/2014/main" id="{69E4EAE7-2408-421E-8A00-C51D580CE1F2}"/>
              </a:ext>
            </a:extLst>
          </p:cNvPr>
          <p:cNvSpPr>
            <a:spLocks xmlns:a="http://schemas.openxmlformats.org/drawingml/2006/main" noGrp="1"/>
          </p:cNvSpPr>
          <p:nvPr/>
        </p:nvSpPr>
        <p:spPr>
          <a:xfrm xmlns:a="http://schemas.openxmlformats.org/drawingml/2006/main">
            <a:off x="1771650" y="49053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00000"/>
                </a:solidFill>
              </a:defRPr>
            </a:pPr>
            <a:r>
              <a:rPr sz="1425" b="1">
                <a:solidFill>
                  <a:srgbClr val="000000"/>
                </a:solidFill>
              </a:rPr>
              <a:t>Majority profitable</a:t>
            </a:r>
          </a:p>
        </p:txBody>
      </p:sp>
      <p:sp>
        <p:nvSpPr>
          <p:cNvPr id="24" name="">
            <a:extLst xmlns:a="http://schemas.openxmlformats.org/drawingml/2006/main">
              <a:ext uri="{FF2B5EF4-FFF2-40B4-BE49-F238E27FC236}">
                <a16:creationId xmlns:a16="http://schemas.microsoft.com/office/drawing/2014/main" id="{77CA7126-E7D8-44F4-95DE-60340017F0A3}"/>
              </a:ext>
            </a:extLst>
          </p:cNvPr>
          <p:cNvSpPr>
            <a:spLocks xmlns:a="http://schemas.openxmlformats.org/drawingml/2006/main" noGrp="1"/>
          </p:cNvSpPr>
          <p:nvPr/>
        </p:nvSpPr>
        <p:spPr>
          <a:xfrm xmlns:a="http://schemas.openxmlformats.org/drawingml/2006/main">
            <a:off x="4400550" y="49149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67386"/>
                </a:solidFill>
              </a:defRPr>
            </a:pPr>
            <a:r>
              <a:rPr sz="1275" b="0">
                <a:solidFill>
                  <a:srgbClr val="667386"/>
                </a:solidFill>
              </a:rPr>
              <a:t>66.7%</a:t>
            </a:r>
          </a:p>
        </p:txBody>
      </p:sp>
      <p:sp>
        <p:nvSpPr>
          <p:cNvPr id="25" name="">
            <a:extLst xmlns:a="http://schemas.openxmlformats.org/drawingml/2006/main">
              <a:ext uri="{FF2B5EF4-FFF2-40B4-BE49-F238E27FC236}">
                <a16:creationId xmlns:a16="http://schemas.microsoft.com/office/drawing/2014/main" id="{4544B29E-D6DF-4FF0-9793-5502955BDDCB}"/>
              </a:ext>
            </a:extLst>
          </p:cNvPr>
          <p:cNvSpPr>
            <a:spLocks xmlns:a="http://schemas.openxmlformats.org/drawingml/2006/main" noGrp="1"/>
          </p:cNvSpPr>
          <p:nvPr/>
        </p:nvSpPr>
        <p:spPr>
          <a:xfrm xmlns:a="http://schemas.openxmlformats.org/drawingml/2006/main">
            <a:off x="685800" y="5334000"/>
            <a:ext cx="876300" cy="32385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26" name="">
            <a:extLst xmlns:a="http://schemas.openxmlformats.org/drawingml/2006/main">
              <a:ext uri="{FF2B5EF4-FFF2-40B4-BE49-F238E27FC236}">
                <a16:creationId xmlns:a16="http://schemas.microsoft.com/office/drawing/2014/main" id="{4737262D-0465-45E6-8219-82D9D14A0F79}"/>
              </a:ext>
            </a:extLst>
          </p:cNvPr>
          <p:cNvSpPr>
            <a:spLocks xmlns:a="http://schemas.openxmlformats.org/drawingml/2006/main" noGrp="1"/>
          </p:cNvSpPr>
          <p:nvPr/>
        </p:nvSpPr>
        <p:spPr>
          <a:xfrm xmlns:a="http://schemas.openxmlformats.org/drawingml/2006/main">
            <a:off x="742950" y="5400675"/>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B44738"/>
                </a:solidFill>
              </a:defRPr>
            </a:pPr>
            <a:r>
              <a:rPr sz="1050" b="1">
                <a:solidFill>
                  <a:srgbClr val="B44738"/>
                </a:solidFill>
              </a:rPr>
              <a:t>FAIL</a:t>
            </a:r>
          </a:p>
        </p:txBody>
      </p:sp>
      <p:sp>
        <p:nvSpPr>
          <p:cNvPr id="27" name="">
            <a:extLst xmlns:a="http://schemas.openxmlformats.org/drawingml/2006/main">
              <a:ext uri="{FF2B5EF4-FFF2-40B4-BE49-F238E27FC236}">
                <a16:creationId xmlns:a16="http://schemas.microsoft.com/office/drawing/2014/main" id="{D820EE72-BAF1-48AA-85D1-622CD453F6C9}"/>
              </a:ext>
            </a:extLst>
          </p:cNvPr>
          <p:cNvSpPr>
            <a:spLocks xmlns:a="http://schemas.openxmlformats.org/drawingml/2006/main" noGrp="1"/>
          </p:cNvSpPr>
          <p:nvPr/>
        </p:nvSpPr>
        <p:spPr>
          <a:xfrm xmlns:a="http://schemas.openxmlformats.org/drawingml/2006/main">
            <a:off x="1771650" y="538162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00000"/>
                </a:solidFill>
              </a:defRPr>
            </a:pPr>
            <a:r>
              <a:rPr sz="1425" b="1">
                <a:solidFill>
                  <a:srgbClr val="000000"/>
                </a:solidFill>
              </a:rPr>
              <a:t>Beat each control</a:t>
            </a:r>
          </a:p>
        </p:txBody>
      </p:sp>
      <p:sp>
        <p:nvSpPr>
          <p:cNvPr id="28" name="">
            <a:extLst xmlns:a="http://schemas.openxmlformats.org/drawingml/2006/main">
              <a:ext uri="{FF2B5EF4-FFF2-40B4-BE49-F238E27FC236}">
                <a16:creationId xmlns:a16="http://schemas.microsoft.com/office/drawing/2014/main" id="{46A889C2-E80F-413B-AB24-40CD2BB35B7C}"/>
              </a:ext>
            </a:extLst>
          </p:cNvPr>
          <p:cNvSpPr>
            <a:spLocks xmlns:a="http://schemas.openxmlformats.org/drawingml/2006/main" noGrp="1"/>
          </p:cNvSpPr>
          <p:nvPr/>
        </p:nvSpPr>
        <p:spPr>
          <a:xfrm xmlns:a="http://schemas.openxmlformats.org/drawingml/2006/main">
            <a:off x="4400550" y="53911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67386"/>
                </a:solidFill>
              </a:defRPr>
            </a:pPr>
            <a:r>
              <a:rPr sz="1275" b="0">
                <a:solidFill>
                  <a:srgbClr val="667386"/>
                </a:solidFill>
              </a:rPr>
              <a:t>strongest control 5.12%</a:t>
            </a:r>
          </a:p>
        </p:txBody>
      </p:sp>
      <p:sp>
        <p:nvSpPr>
          <p:cNvPr id="29" name="">
            <a:extLst xmlns:a="http://schemas.openxmlformats.org/drawingml/2006/main">
              <a:ext uri="{FF2B5EF4-FFF2-40B4-BE49-F238E27FC236}">
                <a16:creationId xmlns:a16="http://schemas.microsoft.com/office/drawing/2014/main" id="{47A40A99-9EAB-48E2-97B9-09E860F6B3A9}"/>
              </a:ext>
            </a:extLst>
          </p:cNvPr>
          <p:cNvSpPr>
            <a:spLocks xmlns:a="http://schemas.openxmlformats.org/drawingml/2006/main" noGrp="1"/>
          </p:cNvSpPr>
          <p:nvPr/>
        </p:nvSpPr>
        <p:spPr>
          <a:xfrm xmlns:a="http://schemas.openxmlformats.org/drawingml/2006/main">
            <a:off x="7029450" y="2895600"/>
            <a:ext cx="4610100" cy="32385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30" name="">
            <a:extLst xmlns:a="http://schemas.openxmlformats.org/drawingml/2006/main">
              <a:ext uri="{FF2B5EF4-FFF2-40B4-BE49-F238E27FC236}">
                <a16:creationId xmlns:a16="http://schemas.microsoft.com/office/drawing/2014/main" id="{56186C04-DDCD-40FD-A0B8-7A7C97F0046C}"/>
              </a:ext>
            </a:extLst>
          </p:cNvPr>
          <p:cNvSpPr>
            <a:spLocks xmlns:a="http://schemas.openxmlformats.org/drawingml/2006/main" noGrp="1"/>
          </p:cNvSpPr>
          <p:nvPr/>
        </p:nvSpPr>
        <p:spPr>
          <a:xfrm xmlns:a="http://schemas.openxmlformats.org/drawingml/2006/main">
            <a:off x="7296150" y="3162300"/>
            <a:ext cx="4076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What we learned</a:t>
            </a:r>
          </a:p>
        </p:txBody>
      </p:sp>
      <p:sp>
        <p:nvSpPr>
          <p:cNvPr id="31" name="">
            <a:extLst xmlns:a="http://schemas.openxmlformats.org/drawingml/2006/main">
              <a:ext uri="{FF2B5EF4-FFF2-40B4-BE49-F238E27FC236}">
                <a16:creationId xmlns:a16="http://schemas.microsoft.com/office/drawing/2014/main" id="{4062CC4E-2BFF-455E-8F1B-129083B1EF6C}"/>
              </a:ext>
            </a:extLst>
          </p:cNvPr>
          <p:cNvSpPr>
            <a:spLocks xmlns:a="http://schemas.openxmlformats.org/drawingml/2006/main" noGrp="1"/>
          </p:cNvSpPr>
          <p:nvPr/>
        </p:nvSpPr>
        <p:spPr>
          <a:xfrm xmlns:a="http://schemas.openxmlformats.org/drawingml/2006/main">
            <a:off x="7315200" y="38385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2" name="">
            <a:extLst xmlns:a="http://schemas.openxmlformats.org/drawingml/2006/main">
              <a:ext uri="{FF2B5EF4-FFF2-40B4-BE49-F238E27FC236}">
                <a16:creationId xmlns:a16="http://schemas.microsoft.com/office/drawing/2014/main" id="{7294C695-0DEC-4A41-94C8-DC1B845182C3}"/>
              </a:ext>
            </a:extLst>
          </p:cNvPr>
          <p:cNvSpPr>
            <a:spLocks xmlns:a="http://schemas.openxmlformats.org/drawingml/2006/main" noGrp="1"/>
          </p:cNvSpPr>
          <p:nvPr/>
        </p:nvSpPr>
        <p:spPr>
          <a:xfrm xmlns:a="http://schemas.openxmlformats.org/drawingml/2006/main">
            <a:off x="7543800" y="3752850"/>
            <a:ext cx="3771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A descriptive clue can survive TRAIN execution and still vanish in new time.</a:t>
            </a:r>
          </a:p>
        </p:txBody>
      </p:sp>
      <p:sp>
        <p:nvSpPr>
          <p:cNvPr id="33" name="">
            <a:extLst xmlns:a="http://schemas.openxmlformats.org/drawingml/2006/main">
              <a:ext uri="{FF2B5EF4-FFF2-40B4-BE49-F238E27FC236}">
                <a16:creationId xmlns:a16="http://schemas.microsoft.com/office/drawing/2014/main" id="{DF764B72-5DE5-4E6C-BE03-2E85B8DC5C71}"/>
              </a:ext>
            </a:extLst>
          </p:cNvPr>
          <p:cNvSpPr>
            <a:spLocks xmlns:a="http://schemas.openxmlformats.org/drawingml/2006/main" noGrp="1"/>
          </p:cNvSpPr>
          <p:nvPr/>
        </p:nvSpPr>
        <p:spPr>
          <a:xfrm xmlns:a="http://schemas.openxmlformats.org/drawingml/2006/main">
            <a:off x="7315200" y="4714875"/>
            <a:ext cx="85725" cy="85725"/>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34" name="">
            <a:extLst xmlns:a="http://schemas.openxmlformats.org/drawingml/2006/main">
              <a:ext uri="{FF2B5EF4-FFF2-40B4-BE49-F238E27FC236}">
                <a16:creationId xmlns:a16="http://schemas.microsoft.com/office/drawing/2014/main" id="{DC068F82-CC9C-4B0F-B738-C3D0A245795D}"/>
              </a:ext>
            </a:extLst>
          </p:cNvPr>
          <p:cNvSpPr>
            <a:spLocks xmlns:a="http://schemas.openxmlformats.org/drawingml/2006/main" noGrp="1"/>
          </p:cNvSpPr>
          <p:nvPr/>
        </p:nvSpPr>
        <p:spPr>
          <a:xfrm xmlns:a="http://schemas.openxmlformats.org/drawingml/2006/main">
            <a:off x="7543800" y="4629150"/>
            <a:ext cx="3771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Win rate and median can look encouraging while average opportunity cost is unfavorable.</a:t>
            </a:r>
          </a:p>
        </p:txBody>
      </p:sp>
      <p:sp>
        <p:nvSpPr>
          <p:cNvPr id="35" name="">
            <a:extLst xmlns:a="http://schemas.openxmlformats.org/drawingml/2006/main">
              <a:ext uri="{FF2B5EF4-FFF2-40B4-BE49-F238E27FC236}">
                <a16:creationId xmlns:a16="http://schemas.microsoft.com/office/drawing/2014/main" id="{95140E3A-DE13-4E9F-8D0F-4ACD9D6C502F}"/>
              </a:ext>
            </a:extLst>
          </p:cNvPr>
          <p:cNvSpPr>
            <a:spLocks xmlns:a="http://schemas.openxmlformats.org/drawingml/2006/main" noGrp="1"/>
          </p:cNvSpPr>
          <p:nvPr/>
        </p:nvSpPr>
        <p:spPr>
          <a:xfrm xmlns:a="http://schemas.openxmlformats.org/drawingml/2006/main">
            <a:off x="7296150" y="5410200"/>
            <a:ext cx="4076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B44738"/>
                </a:solidFill>
              </a:defRPr>
            </a:pPr>
            <a:r>
              <a:rPr sz="1350" b="1">
                <a:solidFill>
                  <a:srgbClr val="B44738"/>
                </a:solidFill>
              </a:rPr>
              <a:t>No rescue tuning. Any future variation must be declared as a new hypothesis and cannot overwrite this result.</a:t>
            </a:r>
          </a:p>
        </p:txBody>
      </p:sp>
    </p:spTree>
    <p:extLst>
      <p:ext uri="{BB962C8B-B14F-4D97-AF65-F5344CB8AC3E}">
        <p14:creationId xmlns:p14="http://schemas.microsoft.com/office/powerpoint/2010/main" val="550485312"/>
      </p:ext>
    </p:extLst>
  </p:cSld>
</p:sld>
</file>

<file path=ppt/slides/slide29.xml><?xml version="1.0" encoding="utf-8"?>
<p:sld xmlns:p="http://schemas.openxmlformats.org/presentationml/2006/main">
  <p:cSld>
    <p:bg>
      <p:bgPr>
        <a:solidFill xmlns:a="http://schemas.openxmlformats.org/drawingml/2006/main">
          <a:srgbClr val="24364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13EEEF-910B-4AD0-A550-38C8212F666E}"/>
              </a:ext>
            </a:extLst>
          </p:cNvPr>
          <p:cNvSpPr>
            <a:spLocks xmlns:a="http://schemas.openxmlformats.org/drawingml/2006/main" noGrp="1"/>
          </p:cNvSpPr>
          <p:nvPr/>
        </p:nvSpPr>
        <p:spPr>
          <a:xfrm xmlns:a="http://schemas.openxmlformats.org/drawingml/2006/main">
            <a:off x="685800" y="8953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D0EDFA"/>
                </a:solidFill>
              </a:defRPr>
            </a:pPr>
            <a:r>
              <a:rPr sz="1275" b="1">
                <a:solidFill>
                  <a:srgbClr val="D0EDFA"/>
                </a:solidFill>
              </a:rPr>
              <a:t>FIFTH MICROSCOPE</a:t>
            </a:r>
          </a:p>
        </p:txBody>
      </p:sp>
      <p:sp>
        <p:nvSpPr>
          <p:cNvPr id="2" name="">
            <a:extLst xmlns:a="http://schemas.openxmlformats.org/drawingml/2006/main">
              <a:ext uri="{FF2B5EF4-FFF2-40B4-BE49-F238E27FC236}">
                <a16:creationId xmlns:a16="http://schemas.microsoft.com/office/drawing/2014/main" id="{D19A2D51-ADD3-49FA-8E79-2AE5B9200DE7}"/>
              </a:ext>
            </a:extLst>
          </p:cNvPr>
          <p:cNvSpPr>
            <a:spLocks xmlns:a="http://schemas.openxmlformats.org/drawingml/2006/main" noGrp="1"/>
          </p:cNvSpPr>
          <p:nvPr/>
        </p:nvSpPr>
        <p:spPr>
          <a:xfrm xmlns:a="http://schemas.openxmlformats.org/drawingml/2006/main">
            <a:off x="685800" y="1619250"/>
            <a:ext cx="9334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FFFFFF"/>
                </a:solidFill>
              </a:defRPr>
            </a:pPr>
            <a:r>
              <a:rPr sz="4800" b="1">
                <a:solidFill>
                  <a:srgbClr val="FFFFFF"/>
                </a:solidFill>
              </a:rPr>
              <a:t>After the opening bar,</a:t>
            </a:r>
          </a:p>
          <a:p xmlns:a="http://schemas.openxmlformats.org/drawingml/2006/main">
            <a:pPr algn="l">
              <a:defRPr sz="4800" b="1">
                <a:solidFill>
                  <a:srgbClr val="FFFFFF"/>
                </a:solidFill>
              </a:defRPr>
            </a:pPr>
            <a:r>
              <a:rPr sz="4800" b="1">
                <a:solidFill>
                  <a:srgbClr val="FFFFFF"/>
                </a:solidFill>
              </a:rPr>
              <a:t>what happens next?</a:t>
            </a:r>
          </a:p>
        </p:txBody>
      </p:sp>
      <p:sp>
        <p:nvSpPr>
          <p:cNvPr id="3" name="">
            <a:extLst xmlns:a="http://schemas.openxmlformats.org/drawingml/2006/main">
              <a:ext uri="{FF2B5EF4-FFF2-40B4-BE49-F238E27FC236}">
                <a16:creationId xmlns:a16="http://schemas.microsoft.com/office/drawing/2014/main" id="{37783C05-9D15-4948-9128-996DA2815CF4}"/>
              </a:ext>
            </a:extLst>
          </p:cNvPr>
          <p:cNvSpPr>
            <a:spLocks xmlns:a="http://schemas.openxmlformats.org/drawingml/2006/main" noGrp="1"/>
          </p:cNvSpPr>
          <p:nvPr/>
        </p:nvSpPr>
        <p:spPr>
          <a:xfrm xmlns:a="http://schemas.openxmlformats.org/drawingml/2006/main">
            <a:off x="723900" y="3886200"/>
            <a:ext cx="10287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a:solidFill>
                  <a:srgbClr val="D0EDFA"/>
                </a:solidFill>
              </a:defRPr>
            </a:pPr>
            <a:r>
              <a:rPr sz="2025" b="0">
                <a:solidFill>
                  <a:srgbClr val="D0EDFA"/>
                </a:solidFill>
              </a:rPr>
              <a:t>At 10:00 ET, the first 30-minute return is complete and therefore observable. The remaining 10:00-to-16:00 return is still ahead. This section asks whether the first move carries directional information into that tradable remainder.</a:t>
            </a:r>
          </a:p>
        </p:txBody>
      </p:sp>
      <p:sp>
        <p:nvSpPr>
          <p:cNvPr id="4" name="">
            <a:extLst xmlns:a="http://schemas.openxmlformats.org/drawingml/2006/main">
              <a:ext uri="{FF2B5EF4-FFF2-40B4-BE49-F238E27FC236}">
                <a16:creationId xmlns:a16="http://schemas.microsoft.com/office/drawing/2014/main" id="{9CEF82B7-DBED-49B4-94BD-E05DAB54ADC5}"/>
              </a:ext>
            </a:extLst>
          </p:cNvPr>
          <p:cNvSpPr>
            <a:spLocks xmlns:a="http://schemas.openxmlformats.org/drawingml/2006/main" noGrp="1"/>
          </p:cNvSpPr>
          <p:nvPr/>
        </p:nvSpPr>
        <p:spPr>
          <a:xfrm xmlns:a="http://schemas.openxmlformats.org/drawingml/2006/main">
            <a:off x="723900" y="573405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defRPr>
            </a:pPr>
            <a:r>
              <a:rPr sz="1500" b="1">
                <a:solidFill>
                  <a:srgbClr val="FFFFFF"/>
                </a:solidFill>
              </a:rPr>
              <a:t>1,487 full sessions · 12 early closes excluded · no rule or P&amp;L</a:t>
            </a:r>
          </a:p>
        </p:txBody>
      </p:sp>
      <p:sp>
        <p:nvSpPr>
          <p:cNvPr id="5" name="">
            <a:extLst xmlns:a="http://schemas.openxmlformats.org/drawingml/2006/main">
              <a:ext uri="{FF2B5EF4-FFF2-40B4-BE49-F238E27FC236}">
                <a16:creationId xmlns:a16="http://schemas.microsoft.com/office/drawing/2014/main" id="{EAAE92A9-4C6C-4CE0-943A-2F7F9718D41F}"/>
              </a:ext>
            </a:extLst>
          </p:cNvPr>
          <p:cNvSpPr>
            <a:spLocks xmlns:a="http://schemas.openxmlformats.org/drawingml/2006/main" noGrp="1"/>
          </p:cNvSpPr>
          <p:nvPr/>
        </p:nvSpPr>
        <p:spPr>
          <a:xfrm xmlns:a="http://schemas.openxmlformats.org/drawingml/2006/main">
            <a:off x="10801350" y="64008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D0EDFA"/>
                </a:solidFill>
              </a:defRPr>
            </a:pPr>
            <a:r>
              <a:rPr sz="900" b="0">
                <a:solidFill>
                  <a:srgbClr val="D0EDFA"/>
                </a:solidFill>
              </a:rPr>
              <a:t>29</a:t>
            </a:r>
          </a:p>
        </p:txBody>
      </p:sp>
    </p:spTree>
    <p:extLst>
      <p:ext uri="{BB962C8B-B14F-4D97-AF65-F5344CB8AC3E}">
        <p14:creationId xmlns:p14="http://schemas.microsoft.com/office/powerpoint/2010/main" val="73097563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F714ADD-B523-4DF6-9895-9BB3B1BE1F4D}"/>
              </a:ext>
            </a:extLst>
          </p:cNvPr>
          <p:cNvSpPr>
            <a:spLocks xmlns:a="http://schemas.openxmlformats.org/drawingml/2006/main" noGrp="1"/>
          </p:cNvSpPr>
          <p:nvPr/>
        </p:nvSpPr>
        <p:spPr>
          <a:xfrm xmlns:a="http://schemas.openxmlformats.org/drawingml/2006/main">
            <a:off x="457200" y="23812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INTRADAY OPENING RESPONSE</a:t>
            </a:r>
          </a:p>
        </p:txBody>
      </p:sp>
      <p:sp>
        <p:nvSpPr>
          <p:cNvPr id="2" name="">
            <a:extLst xmlns:a="http://schemas.openxmlformats.org/drawingml/2006/main">
              <a:ext uri="{FF2B5EF4-FFF2-40B4-BE49-F238E27FC236}">
                <a16:creationId xmlns:a16="http://schemas.microsoft.com/office/drawing/2014/main" id="{BBB5D0EC-EBEE-495A-A68D-CC083A3F31B8}"/>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opening bar carries only a weak unconditional signal</a:t>
            </a:r>
          </a:p>
        </p:txBody>
      </p:sp>
      <p:sp>
        <p:nvSpPr>
          <p:cNvPr id="3" name="">
            <a:extLst xmlns:a="http://schemas.openxmlformats.org/drawingml/2006/main">
              <a:ext uri="{FF2B5EF4-FFF2-40B4-BE49-F238E27FC236}">
                <a16:creationId xmlns:a16="http://schemas.microsoft.com/office/drawing/2014/main" id="{A91D263E-A082-47F8-9878-A0808B65E62D}"/>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BF41E35E-F575-40B9-B8F8-C7C8B5F7D80F}"/>
              </a:ext>
            </a:extLst>
          </p:cNvPr>
          <p:cNvSpPr>
            <a:spLocks xmlns:a="http://schemas.openxmlformats.org/drawingml/2006/main" noGrp="1"/>
          </p:cNvSpPr>
          <p:nvPr/>
        </p:nvSpPr>
        <p:spPr>
          <a:xfrm xmlns:a="http://schemas.openxmlformats.org/drawingml/2006/main">
            <a:off x="457200" y="651510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1,487 full sessions · frozen 2018-01-02–2023-12-29</a:t>
            </a:r>
          </a:p>
        </p:txBody>
      </p:sp>
      <p:sp>
        <p:nvSpPr>
          <p:cNvPr id="5" name="">
            <a:extLst xmlns:a="http://schemas.openxmlformats.org/drawingml/2006/main">
              <a:ext uri="{FF2B5EF4-FFF2-40B4-BE49-F238E27FC236}">
                <a16:creationId xmlns:a16="http://schemas.microsoft.com/office/drawing/2014/main" id="{EB32669B-D40F-4A2F-B38D-7ACEFCA93B99}"/>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30</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2bdbaed0aad4468"/>
          <a:stretch xmlns:a="http://schemas.openxmlformats.org/drawingml/2006/main"/>
        </p:blipFill>
        <p:spPr>
          <a:xfrm xmlns:a="http://schemas.openxmlformats.org/drawingml/2006/main">
            <a:off x="1231024" y="1371600"/>
            <a:ext cx="6415252" cy="48958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E0FFFAC-FD1A-4B37-BE06-78040C189A64}"/>
              </a:ext>
            </a:extLst>
          </p:cNvPr>
          <p:cNvSpPr>
            <a:spLocks xmlns:a="http://schemas.openxmlformats.org/drawingml/2006/main" noGrp="1"/>
          </p:cNvSpPr>
          <p:nvPr/>
        </p:nvSpPr>
        <p:spPr>
          <a:xfrm xmlns:a="http://schemas.openxmlformats.org/drawingml/2006/main">
            <a:off x="8724900" y="1504950"/>
            <a:ext cx="2914650" cy="44196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81C25595-D46A-4384-8BDF-81685BD852CE}"/>
              </a:ext>
            </a:extLst>
          </p:cNvPr>
          <p:cNvSpPr>
            <a:spLocks xmlns:a="http://schemas.openxmlformats.org/drawingml/2006/main" noGrp="1"/>
          </p:cNvSpPr>
          <p:nvPr/>
        </p:nvSpPr>
        <p:spPr>
          <a:xfrm xmlns:a="http://schemas.openxmlformats.org/drawingml/2006/main">
            <a:off x="8972550" y="1809750"/>
            <a:ext cx="2419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3D8DFF"/>
                </a:solidFill>
              </a:defRPr>
            </a:pPr>
            <a:r>
              <a:rPr sz="3000" b="1">
                <a:solidFill>
                  <a:srgbClr val="3D8DFF"/>
                </a:solidFill>
              </a:rPr>
              <a:t>+0.050</a:t>
            </a:r>
          </a:p>
        </p:txBody>
      </p:sp>
      <p:sp>
        <p:nvSpPr>
          <p:cNvPr id="9" name="">
            <a:extLst xmlns:a="http://schemas.openxmlformats.org/drawingml/2006/main">
              <a:ext uri="{FF2B5EF4-FFF2-40B4-BE49-F238E27FC236}">
                <a16:creationId xmlns:a16="http://schemas.microsoft.com/office/drawing/2014/main" id="{1A92618C-3AB9-45BC-93E3-0F8CF06810DD}"/>
              </a:ext>
            </a:extLst>
          </p:cNvPr>
          <p:cNvSpPr>
            <a:spLocks xmlns:a="http://schemas.openxmlformats.org/drawingml/2006/main" noGrp="1"/>
          </p:cNvSpPr>
          <p:nvPr/>
        </p:nvSpPr>
        <p:spPr>
          <a:xfrm xmlns:a="http://schemas.openxmlformats.org/drawingml/2006/main">
            <a:off x="8972550" y="2324100"/>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4364B"/>
                </a:solidFill>
              </a:defRPr>
            </a:pPr>
            <a:r>
              <a:rPr sz="1350" b="1">
                <a:solidFill>
                  <a:srgbClr val="24364B"/>
                </a:solidFill>
              </a:rPr>
              <a:t>Pearson correlation</a:t>
            </a:r>
          </a:p>
        </p:txBody>
      </p:sp>
      <p:sp>
        <p:nvSpPr>
          <p:cNvPr id="10" name="">
            <a:extLst xmlns:a="http://schemas.openxmlformats.org/drawingml/2006/main">
              <a:ext uri="{FF2B5EF4-FFF2-40B4-BE49-F238E27FC236}">
                <a16:creationId xmlns:a16="http://schemas.microsoft.com/office/drawing/2014/main" id="{B18ACB74-4A90-4845-9017-EFB9F6000D71}"/>
              </a:ext>
            </a:extLst>
          </p:cNvPr>
          <p:cNvSpPr>
            <a:spLocks xmlns:a="http://schemas.openxmlformats.org/drawingml/2006/main" noGrp="1"/>
          </p:cNvSpPr>
          <p:nvPr/>
        </p:nvSpPr>
        <p:spPr>
          <a:xfrm xmlns:a="http://schemas.openxmlformats.org/drawingml/2006/main">
            <a:off x="8972550" y="2990850"/>
            <a:ext cx="1162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B44738"/>
                </a:solidFill>
              </a:defRPr>
            </a:pPr>
            <a:r>
              <a:rPr sz="2100" b="1">
                <a:solidFill>
                  <a:srgbClr val="B44738"/>
                </a:solidFill>
              </a:rPr>
              <a:t>−0.979%</a:t>
            </a:r>
          </a:p>
        </p:txBody>
      </p:sp>
      <p:sp>
        <p:nvSpPr>
          <p:cNvPr id="11" name="">
            <a:extLst xmlns:a="http://schemas.openxmlformats.org/drawingml/2006/main">
              <a:ext uri="{FF2B5EF4-FFF2-40B4-BE49-F238E27FC236}">
                <a16:creationId xmlns:a16="http://schemas.microsoft.com/office/drawing/2014/main" id="{7B90ACE0-C4F4-4754-BE05-2D08B00C539E}"/>
              </a:ext>
            </a:extLst>
          </p:cNvPr>
          <p:cNvSpPr>
            <a:spLocks xmlns:a="http://schemas.openxmlformats.org/drawingml/2006/main" noGrp="1"/>
          </p:cNvSpPr>
          <p:nvPr/>
        </p:nvSpPr>
        <p:spPr>
          <a:xfrm xmlns:a="http://schemas.openxmlformats.org/drawingml/2006/main">
            <a:off x="10210800" y="2990850"/>
            <a:ext cx="1181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4866D"/>
                </a:solidFill>
              </a:defRPr>
            </a:pPr>
            <a:r>
              <a:rPr sz="2100" b="1">
                <a:solidFill>
                  <a:srgbClr val="14866D"/>
                </a:solidFill>
              </a:rPr>
              <a:t>+1.070%</a:t>
            </a:r>
          </a:p>
        </p:txBody>
      </p:sp>
      <p:sp>
        <p:nvSpPr>
          <p:cNvPr id="12" name="">
            <a:extLst xmlns:a="http://schemas.openxmlformats.org/drawingml/2006/main">
              <a:ext uri="{FF2B5EF4-FFF2-40B4-BE49-F238E27FC236}">
                <a16:creationId xmlns:a16="http://schemas.microsoft.com/office/drawing/2014/main" id="{E081B0F8-C7FE-430F-A450-815700682984}"/>
              </a:ext>
            </a:extLst>
          </p:cNvPr>
          <p:cNvSpPr>
            <a:spLocks xmlns:a="http://schemas.openxmlformats.org/drawingml/2006/main" noGrp="1"/>
          </p:cNvSpPr>
          <p:nvPr/>
        </p:nvSpPr>
        <p:spPr>
          <a:xfrm xmlns:a="http://schemas.openxmlformats.org/drawingml/2006/main">
            <a:off x="8972550" y="3409950"/>
            <a:ext cx="2419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667386"/>
                </a:solidFill>
              </a:defRPr>
            </a:pPr>
            <a:r>
              <a:rPr sz="1125" b="0">
                <a:solidFill>
                  <a:srgbClr val="667386"/>
                </a:solidFill>
              </a:rPr>
              <a:t>sample-wide 20th / 80th cutoffs</a:t>
            </a:r>
          </a:p>
        </p:txBody>
      </p:sp>
      <p:sp>
        <p:nvSpPr>
          <p:cNvPr id="13" name="">
            <a:extLst xmlns:a="http://schemas.openxmlformats.org/drawingml/2006/main">
              <a:ext uri="{FF2B5EF4-FFF2-40B4-BE49-F238E27FC236}">
                <a16:creationId xmlns:a16="http://schemas.microsoft.com/office/drawing/2014/main" id="{2C805C28-A33F-4E5A-9F41-93257763124B}"/>
              </a:ext>
            </a:extLst>
          </p:cNvPr>
          <p:cNvSpPr>
            <a:spLocks xmlns:a="http://schemas.openxmlformats.org/drawingml/2006/main" noGrp="1"/>
          </p:cNvSpPr>
          <p:nvPr/>
        </p:nvSpPr>
        <p:spPr>
          <a:xfrm xmlns:a="http://schemas.openxmlformats.org/drawingml/2006/main">
            <a:off x="8972550" y="420052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4" name="">
            <a:extLst xmlns:a="http://schemas.openxmlformats.org/drawingml/2006/main">
              <a:ext uri="{FF2B5EF4-FFF2-40B4-BE49-F238E27FC236}">
                <a16:creationId xmlns:a16="http://schemas.microsoft.com/office/drawing/2014/main" id="{B87A6E08-52BF-46C0-9433-DCE064ADF4EB}"/>
              </a:ext>
            </a:extLst>
          </p:cNvPr>
          <p:cNvSpPr>
            <a:spLocks xmlns:a="http://schemas.openxmlformats.org/drawingml/2006/main" noGrp="1"/>
          </p:cNvSpPr>
          <p:nvPr/>
        </p:nvSpPr>
        <p:spPr>
          <a:xfrm xmlns:a="http://schemas.openxmlformats.org/drawingml/2006/main">
            <a:off x="9201150" y="4114800"/>
            <a:ext cx="2152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The cloud dominates the relationship.</a:t>
            </a:r>
          </a:p>
        </p:txBody>
      </p:sp>
      <p:sp>
        <p:nvSpPr>
          <p:cNvPr id="15" name="">
            <a:extLst xmlns:a="http://schemas.openxmlformats.org/drawingml/2006/main">
              <a:ext uri="{FF2B5EF4-FFF2-40B4-BE49-F238E27FC236}">
                <a16:creationId xmlns:a16="http://schemas.microsoft.com/office/drawing/2014/main" id="{5D371F96-8A74-4036-A8ED-926EA665714B}"/>
              </a:ext>
            </a:extLst>
          </p:cNvPr>
          <p:cNvSpPr>
            <a:spLocks xmlns:a="http://schemas.openxmlformats.org/drawingml/2006/main" noGrp="1"/>
          </p:cNvSpPr>
          <p:nvPr/>
        </p:nvSpPr>
        <p:spPr>
          <a:xfrm xmlns:a="http://schemas.openxmlformats.org/drawingml/2006/main">
            <a:off x="8972550" y="492442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6" name="">
            <a:extLst xmlns:a="http://schemas.openxmlformats.org/drawingml/2006/main">
              <a:ext uri="{FF2B5EF4-FFF2-40B4-BE49-F238E27FC236}">
                <a16:creationId xmlns:a16="http://schemas.microsoft.com/office/drawing/2014/main" id="{B611D730-9D6B-4127-A967-DA38ADC18586}"/>
              </a:ext>
            </a:extLst>
          </p:cNvPr>
          <p:cNvSpPr>
            <a:spLocks xmlns:a="http://schemas.openxmlformats.org/drawingml/2006/main" noGrp="1"/>
          </p:cNvSpPr>
          <p:nvPr/>
        </p:nvSpPr>
        <p:spPr>
          <a:xfrm xmlns:a="http://schemas.openxmlformats.org/drawingml/2006/main">
            <a:off x="9201150" y="4838700"/>
            <a:ext cx="2152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The tails lean slightly in the direction of the opening move.</a:t>
            </a:r>
          </a:p>
        </p:txBody>
      </p:sp>
    </p:spTree>
    <p:extLst>
      <p:ext uri="{BB962C8B-B14F-4D97-AF65-F5344CB8AC3E}">
        <p14:creationId xmlns:p14="http://schemas.microsoft.com/office/powerpoint/2010/main" val="46050384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6638C4-C871-45B4-8E2E-9DBFAC52E518}"/>
              </a:ext>
            </a:extLst>
          </p:cNvPr>
          <p:cNvSpPr>
            <a:spLocks xmlns:a="http://schemas.openxmlformats.org/drawingml/2006/main" noGrp="1"/>
          </p:cNvSpPr>
          <p:nvPr/>
        </p:nvSpPr>
        <p:spPr>
          <a:xfrm xmlns:a="http://schemas.openxmlformats.org/drawingml/2006/main">
            <a:off x="457200" y="23812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INTRADAY OPENING RESPONSE</a:t>
            </a:r>
          </a:p>
        </p:txBody>
      </p:sp>
      <p:sp>
        <p:nvSpPr>
          <p:cNvPr id="2" name="">
            <a:extLst xmlns:a="http://schemas.openxmlformats.org/drawingml/2006/main">
              <a:ext uri="{FF2B5EF4-FFF2-40B4-BE49-F238E27FC236}">
                <a16:creationId xmlns:a16="http://schemas.microsoft.com/office/drawing/2014/main" id="{2A627D90-F95F-4125-8172-426B2EC44C0D}"/>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Tail averages separate, but individual outcomes overlap heavily</a:t>
            </a:r>
          </a:p>
        </p:txBody>
      </p:sp>
      <p:sp>
        <p:nvSpPr>
          <p:cNvPr id="3" name="">
            <a:extLst xmlns:a="http://schemas.openxmlformats.org/drawingml/2006/main">
              <a:ext uri="{FF2B5EF4-FFF2-40B4-BE49-F238E27FC236}">
                <a16:creationId xmlns:a16="http://schemas.microsoft.com/office/drawing/2014/main" id="{6A155271-8844-4404-9F0F-FA6D7CFC6442}"/>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CD4C9CB9-BBC3-4C86-8ACC-9D710110F99A}"/>
              </a:ext>
            </a:extLst>
          </p:cNvPr>
          <p:cNvSpPr>
            <a:spLocks xmlns:a="http://schemas.openxmlformats.org/drawingml/2006/main" noGrp="1"/>
          </p:cNvSpPr>
          <p:nvPr/>
        </p:nvSpPr>
        <p:spPr>
          <a:xfrm xmlns:a="http://schemas.openxmlformats.org/drawingml/2006/main">
            <a:off x="457200" y="651510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1,487 full sessions · frozen 2018-01-02–2023-12-29</a:t>
            </a:r>
          </a:p>
        </p:txBody>
      </p:sp>
      <p:sp>
        <p:nvSpPr>
          <p:cNvPr id="5" name="">
            <a:extLst xmlns:a="http://schemas.openxmlformats.org/drawingml/2006/main">
              <a:ext uri="{FF2B5EF4-FFF2-40B4-BE49-F238E27FC236}">
                <a16:creationId xmlns:a16="http://schemas.microsoft.com/office/drawing/2014/main" id="{49F73180-E935-4998-B58F-A0EA9F0F490D}"/>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31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891df87308947dc"/>
          <a:stretch xmlns:a="http://schemas.openxmlformats.org/drawingml/2006/main"/>
        </p:blipFill>
        <p:spPr>
          <a:xfrm xmlns:a="http://schemas.openxmlformats.org/drawingml/2006/main">
            <a:off x="2356104" y="1371600"/>
            <a:ext cx="7441692" cy="4895850"/>
          </a:xfrm>
          <a:prstGeom xmlns:a="http://schemas.openxmlformats.org/drawingml/2006/main" prst="rect">
            <a:avLst/>
          </a:prstGeom>
        </p:spPr>
      </p:pic>
    </p:spTree>
    <p:extLst>
      <p:ext uri="{BB962C8B-B14F-4D97-AF65-F5344CB8AC3E}">
        <p14:creationId xmlns:p14="http://schemas.microsoft.com/office/powerpoint/2010/main" val="57857283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5E9A5E-8621-4B82-B754-870BCA233509}"/>
              </a:ext>
            </a:extLst>
          </p:cNvPr>
          <p:cNvSpPr>
            <a:spLocks xmlns:a="http://schemas.openxmlformats.org/drawingml/2006/main" noGrp="1"/>
          </p:cNvSpPr>
          <p:nvPr/>
        </p:nvSpPr>
        <p:spPr>
          <a:xfrm xmlns:a="http://schemas.openxmlformats.org/drawingml/2006/main">
            <a:off x="457200" y="23812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INTRADAY OPENING RESPONSE</a:t>
            </a:r>
          </a:p>
        </p:txBody>
      </p:sp>
      <p:sp>
        <p:nvSpPr>
          <p:cNvPr id="2" name="">
            <a:extLst xmlns:a="http://schemas.openxmlformats.org/drawingml/2006/main">
              <a:ext uri="{FF2B5EF4-FFF2-40B4-BE49-F238E27FC236}">
                <a16:creationId xmlns:a16="http://schemas.microsoft.com/office/drawing/2014/main" id="{98E5673E-17E5-4BE5-8B53-58AFCDC78C17}"/>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directional tilt develops gradually after 10:00</a:t>
            </a:r>
          </a:p>
        </p:txBody>
      </p:sp>
      <p:sp>
        <p:nvSpPr>
          <p:cNvPr id="3" name="">
            <a:extLst xmlns:a="http://schemas.openxmlformats.org/drawingml/2006/main">
              <a:ext uri="{FF2B5EF4-FFF2-40B4-BE49-F238E27FC236}">
                <a16:creationId xmlns:a16="http://schemas.microsoft.com/office/drawing/2014/main" id="{09FF6ED9-123F-43AB-8632-9A269FB3EDDD}"/>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5CA83784-EE52-4BBB-8CE2-0102CC2BF44B}"/>
              </a:ext>
            </a:extLst>
          </p:cNvPr>
          <p:cNvSpPr>
            <a:spLocks xmlns:a="http://schemas.openxmlformats.org/drawingml/2006/main" noGrp="1"/>
          </p:cNvSpPr>
          <p:nvPr/>
        </p:nvSpPr>
        <p:spPr>
          <a:xfrm xmlns:a="http://schemas.openxmlformats.org/drawingml/2006/main">
            <a:off x="457200" y="651510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1,487 full sessions · frozen 2018-01-02–2023-12-29</a:t>
            </a:r>
          </a:p>
        </p:txBody>
      </p:sp>
      <p:sp>
        <p:nvSpPr>
          <p:cNvPr id="5" name="">
            <a:extLst xmlns:a="http://schemas.openxmlformats.org/drawingml/2006/main">
              <a:ext uri="{FF2B5EF4-FFF2-40B4-BE49-F238E27FC236}">
                <a16:creationId xmlns:a16="http://schemas.microsoft.com/office/drawing/2014/main" id="{A25FBDCF-6EE5-48E1-B20D-4B32E37BD06C}"/>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32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6529ed19d7a44e0"/>
          <a:stretch xmlns:a="http://schemas.openxmlformats.org/drawingml/2006/main"/>
        </p:blipFill>
        <p:spPr>
          <a:xfrm xmlns:a="http://schemas.openxmlformats.org/drawingml/2006/main">
            <a:off x="2356104" y="1371600"/>
            <a:ext cx="7441692" cy="4895850"/>
          </a:xfrm>
          <a:prstGeom xmlns:a="http://schemas.openxmlformats.org/drawingml/2006/main" prst="rect">
            <a:avLst/>
          </a:prstGeom>
        </p:spPr>
      </p:pic>
    </p:spTree>
    <p:extLst>
      <p:ext uri="{BB962C8B-B14F-4D97-AF65-F5344CB8AC3E}">
        <p14:creationId xmlns:p14="http://schemas.microsoft.com/office/powerpoint/2010/main" val="142773039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DEB7170-E89B-4D68-B132-593436E83CCA}"/>
              </a:ext>
            </a:extLst>
          </p:cNvPr>
          <p:cNvSpPr>
            <a:spLocks xmlns:a="http://schemas.openxmlformats.org/drawingml/2006/main" noGrp="1"/>
          </p:cNvSpPr>
          <p:nvPr/>
        </p:nvSpPr>
        <p:spPr>
          <a:xfrm xmlns:a="http://schemas.openxmlformats.org/drawingml/2006/main">
            <a:off x="457200" y="23812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INTRADAY OPENING RESPONSE</a:t>
            </a:r>
          </a:p>
        </p:txBody>
      </p:sp>
      <p:sp>
        <p:nvSpPr>
          <p:cNvPr id="2" name="">
            <a:extLst xmlns:a="http://schemas.openxmlformats.org/drawingml/2006/main">
              <a:ext uri="{FF2B5EF4-FFF2-40B4-BE49-F238E27FC236}">
                <a16:creationId xmlns:a16="http://schemas.microsoft.com/office/drawing/2014/main" id="{835D81A3-042A-4E1A-B3DF-105A68ACF424}"/>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Prior-day ATR% is the clearest descriptive discriminator</a:t>
            </a:r>
          </a:p>
        </p:txBody>
      </p:sp>
      <p:sp>
        <p:nvSpPr>
          <p:cNvPr id="3" name="">
            <a:extLst xmlns:a="http://schemas.openxmlformats.org/drawingml/2006/main">
              <a:ext uri="{FF2B5EF4-FFF2-40B4-BE49-F238E27FC236}">
                <a16:creationId xmlns:a16="http://schemas.microsoft.com/office/drawing/2014/main" id="{3866E184-4911-493A-9E05-649E620BC564}"/>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78EA7AE9-6B31-4D99-A9BA-A8C2F6FBBEBD}"/>
              </a:ext>
            </a:extLst>
          </p:cNvPr>
          <p:cNvSpPr>
            <a:spLocks xmlns:a="http://schemas.openxmlformats.org/drawingml/2006/main" noGrp="1"/>
          </p:cNvSpPr>
          <p:nvPr/>
        </p:nvSpPr>
        <p:spPr>
          <a:xfrm xmlns:a="http://schemas.openxmlformats.org/drawingml/2006/main">
            <a:off x="457200" y="651510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1,487 full sessions · frozen 2018-01-02–2023-12-29</a:t>
            </a:r>
          </a:p>
        </p:txBody>
      </p:sp>
      <p:sp>
        <p:nvSpPr>
          <p:cNvPr id="5" name="">
            <a:extLst xmlns:a="http://schemas.openxmlformats.org/drawingml/2006/main">
              <a:ext uri="{FF2B5EF4-FFF2-40B4-BE49-F238E27FC236}">
                <a16:creationId xmlns:a16="http://schemas.microsoft.com/office/drawing/2014/main" id="{973B1B85-A302-4BFB-9BF7-F2EEF9D43FFB}"/>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33</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ee48eff2f484c25"/>
          <a:stretch xmlns:a="http://schemas.openxmlformats.org/drawingml/2006/main"/>
        </p:blipFill>
        <p:spPr>
          <a:xfrm xmlns:a="http://schemas.openxmlformats.org/drawingml/2006/main">
            <a:off x="323850" y="1512310"/>
            <a:ext cx="8572500" cy="448108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9BA2B49-E2F8-4BCF-B05B-6C1472523E79}"/>
              </a:ext>
            </a:extLst>
          </p:cNvPr>
          <p:cNvSpPr>
            <a:spLocks xmlns:a="http://schemas.openxmlformats.org/drawingml/2006/main" noGrp="1"/>
          </p:cNvSpPr>
          <p:nvPr/>
        </p:nvSpPr>
        <p:spPr>
          <a:xfrm xmlns:a="http://schemas.openxmlformats.org/drawingml/2006/main">
            <a:off x="9105900" y="1504950"/>
            <a:ext cx="2533650" cy="44196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065A20B7-69E1-4891-B065-C36B14524E0B}"/>
              </a:ext>
            </a:extLst>
          </p:cNvPr>
          <p:cNvSpPr>
            <a:spLocks xmlns:a="http://schemas.openxmlformats.org/drawingml/2006/main" noGrp="1"/>
          </p:cNvSpPr>
          <p:nvPr/>
        </p:nvSpPr>
        <p:spPr>
          <a:xfrm xmlns:a="http://schemas.openxmlformats.org/drawingml/2006/main">
            <a:off x="9334500" y="175260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defRPr>
            </a:pPr>
            <a:r>
              <a:rPr sz="1650" b="1">
                <a:solidFill>
                  <a:srgbClr val="000000"/>
                </a:solidFill>
              </a:rPr>
              <a:t>Top 20% opening</a:t>
            </a:r>
          </a:p>
        </p:txBody>
      </p:sp>
      <p:sp>
        <p:nvSpPr>
          <p:cNvPr id="9" name="">
            <a:extLst xmlns:a="http://schemas.openxmlformats.org/drawingml/2006/main">
              <a:ext uri="{FF2B5EF4-FFF2-40B4-BE49-F238E27FC236}">
                <a16:creationId xmlns:a16="http://schemas.microsoft.com/office/drawing/2014/main" id="{5AA2E1A1-2046-42E1-81E0-A318A8B09432}"/>
              </a:ext>
            </a:extLst>
          </p:cNvPr>
          <p:cNvSpPr>
            <a:spLocks xmlns:a="http://schemas.openxmlformats.org/drawingml/2006/main" noGrp="1"/>
          </p:cNvSpPr>
          <p:nvPr/>
        </p:nvSpPr>
        <p:spPr>
          <a:xfrm xmlns:a="http://schemas.openxmlformats.org/drawingml/2006/main">
            <a:off x="9334500" y="2266950"/>
            <a:ext cx="2076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4866D"/>
                </a:solidFill>
              </a:defRPr>
            </a:pPr>
            <a:r>
              <a:rPr sz="2550" b="1">
                <a:solidFill>
                  <a:srgbClr val="14866D"/>
                </a:solidFill>
              </a:rPr>
              <a:t>+0.38%</a:t>
            </a:r>
          </a:p>
        </p:txBody>
      </p:sp>
      <p:sp>
        <p:nvSpPr>
          <p:cNvPr id="10" name="">
            <a:extLst xmlns:a="http://schemas.openxmlformats.org/drawingml/2006/main">
              <a:ext uri="{FF2B5EF4-FFF2-40B4-BE49-F238E27FC236}">
                <a16:creationId xmlns:a16="http://schemas.microsoft.com/office/drawing/2014/main" id="{6195DEDF-8840-4D26-A57D-3621D3EEF570}"/>
              </a:ext>
            </a:extLst>
          </p:cNvPr>
          <p:cNvSpPr>
            <a:spLocks xmlns:a="http://schemas.openxmlformats.org/drawingml/2006/main" noGrp="1"/>
          </p:cNvSpPr>
          <p:nvPr/>
        </p:nvSpPr>
        <p:spPr>
          <a:xfrm xmlns:a="http://schemas.openxmlformats.org/drawingml/2006/main">
            <a:off x="9334500" y="27051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LOW / MEDIUM ATR%</a:t>
            </a:r>
          </a:p>
        </p:txBody>
      </p:sp>
      <p:sp>
        <p:nvSpPr>
          <p:cNvPr id="11" name="">
            <a:extLst xmlns:a="http://schemas.openxmlformats.org/drawingml/2006/main">
              <a:ext uri="{FF2B5EF4-FFF2-40B4-BE49-F238E27FC236}">
                <a16:creationId xmlns:a16="http://schemas.microsoft.com/office/drawing/2014/main" id="{E85FF83E-8546-45C5-8E2B-574CE3010CF4}"/>
              </a:ext>
            </a:extLst>
          </p:cNvPr>
          <p:cNvSpPr>
            <a:spLocks xmlns:a="http://schemas.openxmlformats.org/drawingml/2006/main" noGrp="1"/>
          </p:cNvSpPr>
          <p:nvPr/>
        </p:nvSpPr>
        <p:spPr>
          <a:xfrm xmlns:a="http://schemas.openxmlformats.org/drawingml/2006/main">
            <a:off x="9334500" y="29908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61.8% up · n=186</a:t>
            </a:r>
          </a:p>
        </p:txBody>
      </p:sp>
      <p:sp>
        <p:nvSpPr>
          <p:cNvPr id="12" name="">
            <a:extLst xmlns:a="http://schemas.openxmlformats.org/drawingml/2006/main">
              <a:ext uri="{FF2B5EF4-FFF2-40B4-BE49-F238E27FC236}">
                <a16:creationId xmlns:a16="http://schemas.microsoft.com/office/drawing/2014/main" id="{B5C1B068-4DD5-485F-83C3-CBEFFCAA4E8B}"/>
              </a:ext>
            </a:extLst>
          </p:cNvPr>
          <p:cNvSpPr>
            <a:spLocks xmlns:a="http://schemas.openxmlformats.org/drawingml/2006/main" noGrp="1"/>
          </p:cNvSpPr>
          <p:nvPr/>
        </p:nvSpPr>
        <p:spPr>
          <a:xfrm xmlns:a="http://schemas.openxmlformats.org/drawingml/2006/main">
            <a:off x="9334500" y="3524250"/>
            <a:ext cx="2076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B44738"/>
                </a:solidFill>
              </a:defRPr>
            </a:pPr>
            <a:r>
              <a:rPr sz="2550" b="1">
                <a:solidFill>
                  <a:srgbClr val="B44738"/>
                </a:solidFill>
              </a:rPr>
              <a:t>−0.07%</a:t>
            </a:r>
          </a:p>
        </p:txBody>
      </p:sp>
      <p:sp>
        <p:nvSpPr>
          <p:cNvPr id="13" name="">
            <a:extLst xmlns:a="http://schemas.openxmlformats.org/drawingml/2006/main">
              <a:ext uri="{FF2B5EF4-FFF2-40B4-BE49-F238E27FC236}">
                <a16:creationId xmlns:a16="http://schemas.microsoft.com/office/drawing/2014/main" id="{DBD9B130-8831-45B8-9BA2-6291AEAE5C94}"/>
              </a:ext>
            </a:extLst>
          </p:cNvPr>
          <p:cNvSpPr>
            <a:spLocks xmlns:a="http://schemas.openxmlformats.org/drawingml/2006/main" noGrp="1"/>
          </p:cNvSpPr>
          <p:nvPr/>
        </p:nvSpPr>
        <p:spPr>
          <a:xfrm xmlns:a="http://schemas.openxmlformats.org/drawingml/2006/main">
            <a:off x="9334500" y="39624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HIGH ATR%</a:t>
            </a:r>
          </a:p>
        </p:txBody>
      </p:sp>
      <p:sp>
        <p:nvSpPr>
          <p:cNvPr id="14" name="">
            <a:extLst xmlns:a="http://schemas.openxmlformats.org/drawingml/2006/main">
              <a:ext uri="{FF2B5EF4-FFF2-40B4-BE49-F238E27FC236}">
                <a16:creationId xmlns:a16="http://schemas.microsoft.com/office/drawing/2014/main" id="{990D3757-CD10-4523-9F23-D39F641C6A50}"/>
              </a:ext>
            </a:extLst>
          </p:cNvPr>
          <p:cNvSpPr>
            <a:spLocks xmlns:a="http://schemas.openxmlformats.org/drawingml/2006/main" noGrp="1"/>
          </p:cNvSpPr>
          <p:nvPr/>
        </p:nvSpPr>
        <p:spPr>
          <a:xfrm xmlns:a="http://schemas.openxmlformats.org/drawingml/2006/main">
            <a:off x="9334500" y="42481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50.5% up · n=111</a:t>
            </a:r>
          </a:p>
        </p:txBody>
      </p:sp>
      <p:sp>
        <p:nvSpPr>
          <p:cNvPr id="15" name="">
            <a:extLst xmlns:a="http://schemas.openxmlformats.org/drawingml/2006/main">
              <a:ext uri="{FF2B5EF4-FFF2-40B4-BE49-F238E27FC236}">
                <a16:creationId xmlns:a16="http://schemas.microsoft.com/office/drawing/2014/main" id="{06E42960-0DEE-4012-9A72-863DB1CB5C61}"/>
              </a:ext>
            </a:extLst>
          </p:cNvPr>
          <p:cNvSpPr>
            <a:spLocks xmlns:a="http://schemas.openxmlformats.org/drawingml/2006/main" noGrp="1"/>
          </p:cNvSpPr>
          <p:nvPr/>
        </p:nvSpPr>
        <p:spPr>
          <a:xfrm xmlns:a="http://schemas.openxmlformats.org/drawingml/2006/main">
            <a:off x="9334500" y="4781550"/>
            <a:ext cx="20764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920ED090-3DD9-4A7C-95CF-7C65201AD881}"/>
              </a:ext>
            </a:extLst>
          </p:cNvPr>
          <p:cNvSpPr>
            <a:spLocks xmlns:a="http://schemas.openxmlformats.org/drawingml/2006/main" noGrp="1"/>
          </p:cNvSpPr>
          <p:nvPr/>
        </p:nvSpPr>
        <p:spPr>
          <a:xfrm xmlns:a="http://schemas.openxmlformats.org/drawingml/2006/main">
            <a:off x="9334500" y="5010150"/>
            <a:ext cx="2076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4364B"/>
                </a:solidFill>
              </a:defRPr>
            </a:pPr>
            <a:r>
              <a:rPr sz="1275" b="1">
                <a:solidFill>
                  <a:srgbClr val="24364B"/>
                </a:solidFill>
              </a:rPr>
              <a:t>Bottom-20% opening inside HIGH ATR% averages −0.48%; only 39.3% finish the remainder positive.</a:t>
            </a:r>
          </a:p>
        </p:txBody>
      </p:sp>
    </p:spTree>
    <p:extLst>
      <p:ext uri="{BB962C8B-B14F-4D97-AF65-F5344CB8AC3E}">
        <p14:creationId xmlns:p14="http://schemas.microsoft.com/office/powerpoint/2010/main" val="61566864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564FE34-D200-4299-9A0F-87D4F44E00A2}"/>
              </a:ext>
            </a:extLst>
          </p:cNvPr>
          <p:cNvSpPr>
            <a:spLocks xmlns:a="http://schemas.openxmlformats.org/drawingml/2006/main" noGrp="1"/>
          </p:cNvSpPr>
          <p:nvPr/>
        </p:nvSpPr>
        <p:spPr>
          <a:xfrm xmlns:a="http://schemas.openxmlformats.org/drawingml/2006/main">
            <a:off x="457200" y="23812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INTRADAY OPENING RESPONSE</a:t>
            </a:r>
          </a:p>
        </p:txBody>
      </p:sp>
      <p:sp>
        <p:nvSpPr>
          <p:cNvPr id="2" name="">
            <a:extLst xmlns:a="http://schemas.openxmlformats.org/drawingml/2006/main">
              <a:ext uri="{FF2B5EF4-FFF2-40B4-BE49-F238E27FC236}">
                <a16:creationId xmlns:a16="http://schemas.microsoft.com/office/drawing/2014/main" id="{12423490-B652-4485-A21A-48F7A75B390A}"/>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ATR% conditions a candidate for the next TRAIN test</a:t>
            </a:r>
          </a:p>
        </p:txBody>
      </p:sp>
      <p:sp>
        <p:nvSpPr>
          <p:cNvPr id="3" name="">
            <a:extLst xmlns:a="http://schemas.openxmlformats.org/drawingml/2006/main">
              <a:ext uri="{FF2B5EF4-FFF2-40B4-BE49-F238E27FC236}">
                <a16:creationId xmlns:a16="http://schemas.microsoft.com/office/drawing/2014/main" id="{6F2CA0BF-05DF-484A-A615-016BBC94E4DE}"/>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06C004FA-8FA5-4A2D-AA51-40CE2A515260}"/>
              </a:ext>
            </a:extLst>
          </p:cNvPr>
          <p:cNvSpPr>
            <a:spLocks xmlns:a="http://schemas.openxmlformats.org/drawingml/2006/main" noGrp="1"/>
          </p:cNvSpPr>
          <p:nvPr/>
        </p:nvSpPr>
        <p:spPr>
          <a:xfrm xmlns:a="http://schemas.openxmlformats.org/drawingml/2006/main">
            <a:off x="457200" y="651510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research · 1,487 full sessions · frozen 2018-01-02–2023-12-29</a:t>
            </a:r>
          </a:p>
        </p:txBody>
      </p:sp>
      <p:sp>
        <p:nvSpPr>
          <p:cNvPr id="5" name="">
            <a:extLst xmlns:a="http://schemas.openxmlformats.org/drawingml/2006/main">
              <a:ext uri="{FF2B5EF4-FFF2-40B4-BE49-F238E27FC236}">
                <a16:creationId xmlns:a16="http://schemas.microsoft.com/office/drawing/2014/main" id="{0953D1DF-708F-46B6-A35C-67924EF2A100}"/>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34</a:t>
            </a:r>
          </a:p>
        </p:txBody>
      </p:sp>
      <p:sp>
        <p:nvSpPr>
          <p:cNvPr id="6" name="">
            <a:extLst xmlns:a="http://schemas.openxmlformats.org/drawingml/2006/main">
              <a:ext uri="{FF2B5EF4-FFF2-40B4-BE49-F238E27FC236}">
                <a16:creationId xmlns:a16="http://schemas.microsoft.com/office/drawing/2014/main" id="{B05755C7-EB17-463B-9AF7-FD90618CEC6D}"/>
              </a:ext>
            </a:extLst>
          </p:cNvPr>
          <p:cNvSpPr>
            <a:spLocks xmlns:a="http://schemas.openxmlformats.org/drawingml/2006/main" noGrp="1"/>
          </p:cNvSpPr>
          <p:nvPr/>
        </p:nvSpPr>
        <p:spPr>
          <a:xfrm xmlns:a="http://schemas.openxmlformats.org/drawingml/2006/main">
            <a:off x="552450" y="1562100"/>
            <a:ext cx="5181600" cy="386715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7" name="">
            <a:extLst xmlns:a="http://schemas.openxmlformats.org/drawingml/2006/main">
              <a:ext uri="{FF2B5EF4-FFF2-40B4-BE49-F238E27FC236}">
                <a16:creationId xmlns:a16="http://schemas.microsoft.com/office/drawing/2014/main" id="{F81D59AE-CDD5-4ECB-86D0-92F4AFA39672}"/>
              </a:ext>
            </a:extLst>
          </p:cNvPr>
          <p:cNvSpPr>
            <a:spLocks xmlns:a="http://schemas.openxmlformats.org/drawingml/2006/main" noGrp="1"/>
          </p:cNvSpPr>
          <p:nvPr/>
        </p:nvSpPr>
        <p:spPr>
          <a:xfrm xmlns:a="http://schemas.openxmlformats.org/drawingml/2006/main">
            <a:off x="838200" y="18288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4866D"/>
                </a:solidFill>
              </a:defRPr>
            </a:pPr>
            <a:r>
              <a:rPr sz="2100" b="1">
                <a:solidFill>
                  <a:srgbClr val="14866D"/>
                </a:solidFill>
              </a:rPr>
              <a:t>Descriptive candidate</a:t>
            </a:r>
          </a:p>
        </p:txBody>
      </p:sp>
      <p:sp>
        <p:nvSpPr>
          <p:cNvPr id="8" name="">
            <a:extLst xmlns:a="http://schemas.openxmlformats.org/drawingml/2006/main">
              <a:ext uri="{FF2B5EF4-FFF2-40B4-BE49-F238E27FC236}">
                <a16:creationId xmlns:a16="http://schemas.microsoft.com/office/drawing/2014/main" id="{0CCB2315-F44D-4078-BFFA-FFF9601AF5FC}"/>
              </a:ext>
            </a:extLst>
          </p:cNvPr>
          <p:cNvSpPr>
            <a:spLocks xmlns:a="http://schemas.openxmlformats.org/drawingml/2006/main" noGrp="1"/>
          </p:cNvSpPr>
          <p:nvPr/>
        </p:nvSpPr>
        <p:spPr>
          <a:xfrm xmlns:a="http://schemas.openxmlformats.org/drawingml/2006/main">
            <a:off x="857250" y="24574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67386"/>
                </a:solidFill>
              </a:defRPr>
            </a:pPr>
            <a:r>
              <a:rPr sz="1275" b="1">
                <a:solidFill>
                  <a:srgbClr val="667386"/>
                </a:solidFill>
              </a:rPr>
              <a:t>Before the open</a:t>
            </a:r>
          </a:p>
        </p:txBody>
      </p:sp>
      <p:sp>
        <p:nvSpPr>
          <p:cNvPr id="9" name="">
            <a:extLst xmlns:a="http://schemas.openxmlformats.org/drawingml/2006/main">
              <a:ext uri="{FF2B5EF4-FFF2-40B4-BE49-F238E27FC236}">
                <a16:creationId xmlns:a16="http://schemas.microsoft.com/office/drawing/2014/main" id="{46FC56ED-3DE6-4EA6-939A-7EF139CAC8B2}"/>
              </a:ext>
            </a:extLst>
          </p:cNvPr>
          <p:cNvSpPr>
            <a:spLocks xmlns:a="http://schemas.openxmlformats.org/drawingml/2006/main" noGrp="1"/>
          </p:cNvSpPr>
          <p:nvPr/>
        </p:nvSpPr>
        <p:spPr>
          <a:xfrm xmlns:a="http://schemas.openxmlformats.org/drawingml/2006/main">
            <a:off x="857250" y="2781300"/>
            <a:ext cx="443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24364B"/>
                </a:solidFill>
              </a:defRPr>
            </a:pPr>
            <a:r>
              <a:rPr sz="1950" b="1">
                <a:solidFill>
                  <a:srgbClr val="24364B"/>
                </a:solidFill>
              </a:rPr>
              <a:t>Prior-day ATR% = LOW or MEDIUM</a:t>
            </a:r>
          </a:p>
        </p:txBody>
      </p:sp>
      <p:sp>
        <p:nvSpPr>
          <p:cNvPr id="10" name="">
            <a:extLst xmlns:a="http://schemas.openxmlformats.org/drawingml/2006/main">
              <a:ext uri="{FF2B5EF4-FFF2-40B4-BE49-F238E27FC236}">
                <a16:creationId xmlns:a16="http://schemas.microsoft.com/office/drawing/2014/main" id="{0100D33A-1380-4AA2-BAD4-2CC9A979A1B1}"/>
              </a:ext>
            </a:extLst>
          </p:cNvPr>
          <p:cNvSpPr>
            <a:spLocks xmlns:a="http://schemas.openxmlformats.org/drawingml/2006/main" noGrp="1"/>
          </p:cNvSpPr>
          <p:nvPr/>
        </p:nvSpPr>
        <p:spPr>
          <a:xfrm xmlns:a="http://schemas.openxmlformats.org/drawingml/2006/main">
            <a:off x="857250" y="34861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67386"/>
                </a:solidFill>
              </a:defRPr>
            </a:pPr>
            <a:r>
              <a:rPr sz="1275" b="1">
                <a:solidFill>
                  <a:srgbClr val="667386"/>
                </a:solidFill>
              </a:rPr>
              <a:t>At 10:00</a:t>
            </a:r>
          </a:p>
        </p:txBody>
      </p:sp>
      <p:sp>
        <p:nvSpPr>
          <p:cNvPr id="11" name="">
            <a:extLst xmlns:a="http://schemas.openxmlformats.org/drawingml/2006/main">
              <a:ext uri="{FF2B5EF4-FFF2-40B4-BE49-F238E27FC236}">
                <a16:creationId xmlns:a16="http://schemas.microsoft.com/office/drawing/2014/main" id="{C15831A5-F07D-4E5B-BDDA-1038A597E39C}"/>
              </a:ext>
            </a:extLst>
          </p:cNvPr>
          <p:cNvSpPr>
            <a:spLocks xmlns:a="http://schemas.openxmlformats.org/drawingml/2006/main" noGrp="1"/>
          </p:cNvSpPr>
          <p:nvPr/>
        </p:nvSpPr>
        <p:spPr>
          <a:xfrm xmlns:a="http://schemas.openxmlformats.org/drawingml/2006/main">
            <a:off x="857250" y="3810000"/>
            <a:ext cx="443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24364B"/>
                </a:solidFill>
              </a:defRPr>
            </a:pPr>
            <a:r>
              <a:rPr sz="1950" b="1">
                <a:solidFill>
                  <a:srgbClr val="24364B"/>
                </a:solidFill>
              </a:rPr>
              <a:t>Opening return is in its positive tail</a:t>
            </a:r>
          </a:p>
        </p:txBody>
      </p:sp>
      <p:sp>
        <p:nvSpPr>
          <p:cNvPr id="12" name="">
            <a:extLst xmlns:a="http://schemas.openxmlformats.org/drawingml/2006/main">
              <a:ext uri="{FF2B5EF4-FFF2-40B4-BE49-F238E27FC236}">
                <a16:creationId xmlns:a16="http://schemas.microsoft.com/office/drawing/2014/main" id="{E9BD1746-35E6-4A47-8807-A77A4DE561C2}"/>
              </a:ext>
            </a:extLst>
          </p:cNvPr>
          <p:cNvSpPr>
            <a:spLocks xmlns:a="http://schemas.openxmlformats.org/drawingml/2006/main" noGrp="1"/>
          </p:cNvSpPr>
          <p:nvPr/>
        </p:nvSpPr>
        <p:spPr>
          <a:xfrm xmlns:a="http://schemas.openxmlformats.org/drawingml/2006/main">
            <a:off x="857250" y="4629150"/>
            <a:ext cx="4438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4866D"/>
                </a:solidFill>
              </a:defRPr>
            </a:pPr>
            <a:r>
              <a:rPr sz="1425" b="1">
                <a:solidFill>
                  <a:srgbClr val="14866D"/>
                </a:solidFill>
              </a:rPr>
              <a:t>Observed remainder: +0.38% mean · +0.52% median · 61.8% up · n=186</a:t>
            </a:r>
          </a:p>
        </p:txBody>
      </p:sp>
      <p:sp>
        <p:nvSpPr>
          <p:cNvPr id="13" name="">
            <a:extLst xmlns:a="http://schemas.openxmlformats.org/drawingml/2006/main">
              <a:ext uri="{FF2B5EF4-FFF2-40B4-BE49-F238E27FC236}">
                <a16:creationId xmlns:a16="http://schemas.microsoft.com/office/drawing/2014/main" id="{FF563CBC-06E8-4000-9281-CDA4BA3E2645}"/>
              </a:ext>
            </a:extLst>
          </p:cNvPr>
          <p:cNvSpPr>
            <a:spLocks xmlns:a="http://schemas.openxmlformats.org/drawingml/2006/main" noGrp="1"/>
          </p:cNvSpPr>
          <p:nvPr/>
        </p:nvSpPr>
        <p:spPr>
          <a:xfrm xmlns:a="http://schemas.openxmlformats.org/drawingml/2006/main">
            <a:off x="6096000" y="1562100"/>
            <a:ext cx="5543550" cy="3867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4" name="">
            <a:extLst xmlns:a="http://schemas.openxmlformats.org/drawingml/2006/main">
              <a:ext uri="{FF2B5EF4-FFF2-40B4-BE49-F238E27FC236}">
                <a16:creationId xmlns:a16="http://schemas.microsoft.com/office/drawing/2014/main" id="{2ACE5D81-65F4-4807-A002-4217D82A2E45}"/>
              </a:ext>
            </a:extLst>
          </p:cNvPr>
          <p:cNvSpPr>
            <a:spLocks xmlns:a="http://schemas.openxmlformats.org/drawingml/2006/main" noGrp="1"/>
          </p:cNvSpPr>
          <p:nvPr/>
        </p:nvSpPr>
        <p:spPr>
          <a:xfrm xmlns:a="http://schemas.openxmlformats.org/drawingml/2006/main">
            <a:off x="6381750" y="18288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Recommended causal translation</a:t>
            </a:r>
          </a:p>
        </p:txBody>
      </p:sp>
      <p:sp>
        <p:nvSpPr>
          <p:cNvPr id="15" name="">
            <a:extLst xmlns:a="http://schemas.openxmlformats.org/drawingml/2006/main">
              <a:ext uri="{FF2B5EF4-FFF2-40B4-BE49-F238E27FC236}">
                <a16:creationId xmlns:a16="http://schemas.microsoft.com/office/drawing/2014/main" id="{B09D21D1-1977-45BD-8863-87751FC433DF}"/>
              </a:ext>
            </a:extLst>
          </p:cNvPr>
          <p:cNvSpPr>
            <a:spLocks xmlns:a="http://schemas.openxmlformats.org/drawingml/2006/main" noGrp="1"/>
          </p:cNvSpPr>
          <p:nvPr/>
        </p:nvSpPr>
        <p:spPr>
          <a:xfrm xmlns:a="http://schemas.openxmlformats.org/drawingml/2006/main">
            <a:off x="6419850" y="25431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6" name="">
            <a:extLst xmlns:a="http://schemas.openxmlformats.org/drawingml/2006/main">
              <a:ext uri="{FF2B5EF4-FFF2-40B4-BE49-F238E27FC236}">
                <a16:creationId xmlns:a16="http://schemas.microsoft.com/office/drawing/2014/main" id="{BC7376A2-1612-4369-8F0B-26AA7020D398}"/>
              </a:ext>
            </a:extLst>
          </p:cNvPr>
          <p:cNvSpPr>
            <a:spLocks xmlns:a="http://schemas.openxmlformats.org/drawingml/2006/main" noGrp="1"/>
          </p:cNvSpPr>
          <p:nvPr/>
        </p:nvSpPr>
        <p:spPr>
          <a:xfrm xmlns:a="http://schemas.openxmlformats.org/drawingml/2006/main">
            <a:off x="6648450" y="2457450"/>
            <a:ext cx="4533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Compute the opening-tail cutoff from the prior 252 full sessions only.</a:t>
            </a:r>
          </a:p>
        </p:txBody>
      </p:sp>
      <p:sp>
        <p:nvSpPr>
          <p:cNvPr id="17" name="">
            <a:extLst xmlns:a="http://schemas.openxmlformats.org/drawingml/2006/main">
              <a:ext uri="{FF2B5EF4-FFF2-40B4-BE49-F238E27FC236}">
                <a16:creationId xmlns:a16="http://schemas.microsoft.com/office/drawing/2014/main" id="{C943108A-9FBC-428B-A5FC-6D82B9745A19}"/>
              </a:ext>
            </a:extLst>
          </p:cNvPr>
          <p:cNvSpPr>
            <a:spLocks xmlns:a="http://schemas.openxmlformats.org/drawingml/2006/main" noGrp="1"/>
          </p:cNvSpPr>
          <p:nvPr/>
        </p:nvSpPr>
        <p:spPr>
          <a:xfrm xmlns:a="http://schemas.openxmlformats.org/drawingml/2006/main">
            <a:off x="6419850" y="336232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8" name="">
            <a:extLst xmlns:a="http://schemas.openxmlformats.org/drawingml/2006/main">
              <a:ext uri="{FF2B5EF4-FFF2-40B4-BE49-F238E27FC236}">
                <a16:creationId xmlns:a16="http://schemas.microsoft.com/office/drawing/2014/main" id="{FF00C339-C9BD-4A92-94E9-ACA781FA9FAC}"/>
              </a:ext>
            </a:extLst>
          </p:cNvPr>
          <p:cNvSpPr>
            <a:spLocks xmlns:a="http://schemas.openxmlformats.org/drawingml/2006/main" noGrp="1"/>
          </p:cNvSpPr>
          <p:nvPr/>
        </p:nvSpPr>
        <p:spPr>
          <a:xfrm xmlns:a="http://schemas.openxmlformats.org/drawingml/2006/main">
            <a:off x="6648450" y="3276600"/>
            <a:ext cx="45339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If the first bar clears that cutoff and yesterday's ATR% was not HIGH, enter at 10:00 and exit at 16:00.</a:t>
            </a:r>
          </a:p>
        </p:txBody>
      </p:sp>
      <p:sp>
        <p:nvSpPr>
          <p:cNvPr id="19" name="">
            <a:extLst xmlns:a="http://schemas.openxmlformats.org/drawingml/2006/main">
              <a:ext uri="{FF2B5EF4-FFF2-40B4-BE49-F238E27FC236}">
                <a16:creationId xmlns:a16="http://schemas.microsoft.com/office/drawing/2014/main" id="{3C5342E1-4694-4039-ACE0-03D16F6FCCC9}"/>
              </a:ext>
            </a:extLst>
          </p:cNvPr>
          <p:cNvSpPr>
            <a:spLocks xmlns:a="http://schemas.openxmlformats.org/drawingml/2006/main" noGrp="1"/>
          </p:cNvSpPr>
          <p:nvPr/>
        </p:nvSpPr>
        <p:spPr>
          <a:xfrm xmlns:a="http://schemas.openxmlformats.org/drawingml/2006/main">
            <a:off x="6419850" y="4410075"/>
            <a:ext cx="85725" cy="85725"/>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20" name="">
            <a:extLst xmlns:a="http://schemas.openxmlformats.org/drawingml/2006/main">
              <a:ext uri="{FF2B5EF4-FFF2-40B4-BE49-F238E27FC236}">
                <a16:creationId xmlns:a16="http://schemas.microsoft.com/office/drawing/2014/main" id="{B0251B60-C793-407E-BF8C-A25A83107D70}"/>
              </a:ext>
            </a:extLst>
          </p:cNvPr>
          <p:cNvSpPr>
            <a:spLocks xmlns:a="http://schemas.openxmlformats.org/drawingml/2006/main" noGrp="1"/>
          </p:cNvSpPr>
          <p:nvPr/>
        </p:nvSpPr>
        <p:spPr>
          <a:xfrm xmlns:a="http://schemas.openxmlformats.org/drawingml/2006/main">
            <a:off x="6648450" y="4324350"/>
            <a:ext cx="4533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Compare with opening-tail-only, ATR-state-only, HIGH-ATR opposite, and unconditional 10:00-to-close controls.</a:t>
            </a:r>
          </a:p>
        </p:txBody>
      </p:sp>
      <p:sp>
        <p:nvSpPr>
          <p:cNvPr id="21" name="">
            <a:extLst xmlns:a="http://schemas.openxmlformats.org/drawingml/2006/main">
              <a:ext uri="{FF2B5EF4-FFF2-40B4-BE49-F238E27FC236}">
                <a16:creationId xmlns:a16="http://schemas.microsoft.com/office/drawing/2014/main" id="{F3F2DE7C-08E7-4989-9D34-068F7968AD0A}"/>
              </a:ext>
            </a:extLst>
          </p:cNvPr>
          <p:cNvSpPr>
            <a:spLocks xmlns:a="http://schemas.openxmlformats.org/drawingml/2006/main" noGrp="1"/>
          </p:cNvSpPr>
          <p:nvPr/>
        </p:nvSpPr>
        <p:spPr>
          <a:xfrm xmlns:a="http://schemas.openxmlformats.org/drawingml/2006/main">
            <a:off x="552450" y="5924550"/>
            <a:ext cx="11087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B44738"/>
                </a:solidFill>
              </a:defRPr>
            </a:pPr>
            <a:r>
              <a:rPr sz="1275" b="1">
                <a:solidFill>
                  <a:srgbClr val="B44738"/>
                </a:solidFill>
              </a:rPr>
              <a:t>THIS TRANSLATION IS EXECUTED ON SLIDES 35–41</a:t>
            </a:r>
          </a:p>
        </p:txBody>
      </p:sp>
    </p:spTree>
    <p:extLst>
      <p:ext uri="{BB962C8B-B14F-4D97-AF65-F5344CB8AC3E}">
        <p14:creationId xmlns:p14="http://schemas.microsoft.com/office/powerpoint/2010/main" val="684099762"/>
      </p:ext>
    </p:extLst>
  </p:cSld>
</p:sld>
</file>

<file path=ppt/slides/slide35.xml><?xml version="1.0" encoding="utf-8"?>
<p:sld xmlns:p="http://schemas.openxmlformats.org/presentationml/2006/main">
  <p:cSld>
    <p:bg>
      <p:bgPr>
        <a:solidFill xmlns:a="http://schemas.openxmlformats.org/drawingml/2006/main">
          <a:srgbClr val="24364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513857-96DC-46A1-8FE7-676826E09BB6}"/>
              </a:ext>
            </a:extLst>
          </p:cNvPr>
          <p:cNvSpPr>
            <a:spLocks xmlns:a="http://schemas.openxmlformats.org/drawingml/2006/main" noGrp="1"/>
          </p:cNvSpPr>
          <p:nvPr/>
        </p:nvSpPr>
        <p:spPr>
          <a:xfrm xmlns:a="http://schemas.openxmlformats.org/drawingml/2006/main">
            <a:off x="685800" y="8953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D0EDFA"/>
                </a:solidFill>
              </a:defRPr>
            </a:pPr>
            <a:r>
              <a:rPr sz="1275" b="1">
                <a:solidFill>
                  <a:srgbClr val="D0EDFA"/>
                </a:solidFill>
              </a:rPr>
              <a:t>SIXTH MICROSCOPE</a:t>
            </a:r>
          </a:p>
        </p:txBody>
      </p:sp>
      <p:sp>
        <p:nvSpPr>
          <p:cNvPr id="2" name="">
            <a:extLst xmlns:a="http://schemas.openxmlformats.org/drawingml/2006/main">
              <a:ext uri="{FF2B5EF4-FFF2-40B4-BE49-F238E27FC236}">
                <a16:creationId xmlns:a16="http://schemas.microsoft.com/office/drawing/2014/main" id="{CD557F93-C9A6-4D9C-95BD-8BDD03FE0436}"/>
              </a:ext>
            </a:extLst>
          </p:cNvPr>
          <p:cNvSpPr>
            <a:spLocks xmlns:a="http://schemas.openxmlformats.org/drawingml/2006/main" noGrp="1"/>
          </p:cNvSpPr>
          <p:nvPr/>
        </p:nvSpPr>
        <p:spPr>
          <a:xfrm xmlns:a="http://schemas.openxmlformats.org/drawingml/2006/main">
            <a:off x="685800" y="1619250"/>
            <a:ext cx="9334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FFFFFF"/>
                </a:solidFill>
              </a:defRPr>
            </a:pPr>
            <a:r>
              <a:rPr sz="4800" b="1">
                <a:solidFill>
                  <a:srgbClr val="FFFFFF"/>
                </a:solidFill>
              </a:rPr>
              <a:t>Can the clue survive</a:t>
            </a:r>
          </a:p>
          <a:p xmlns:a="http://schemas.openxmlformats.org/drawingml/2006/main">
            <a:pPr algn="l">
              <a:defRPr sz="4800" b="1">
                <a:solidFill>
                  <a:srgbClr val="FFFFFF"/>
                </a:solidFill>
              </a:defRPr>
            </a:pPr>
            <a:r>
              <a:rPr sz="4800" b="1">
                <a:solidFill>
                  <a:srgbClr val="FFFFFF"/>
                </a:solidFill>
              </a:rPr>
              <a:t>causal timing?</a:t>
            </a:r>
          </a:p>
        </p:txBody>
      </p:sp>
      <p:sp>
        <p:nvSpPr>
          <p:cNvPr id="3" name="">
            <a:extLst xmlns:a="http://schemas.openxmlformats.org/drawingml/2006/main">
              <a:ext uri="{FF2B5EF4-FFF2-40B4-BE49-F238E27FC236}">
                <a16:creationId xmlns:a16="http://schemas.microsoft.com/office/drawing/2014/main" id="{FF5F966D-852C-4465-A5E3-E7A7F88A3C51}"/>
              </a:ext>
            </a:extLst>
          </p:cNvPr>
          <p:cNvSpPr>
            <a:spLocks xmlns:a="http://schemas.openxmlformats.org/drawingml/2006/main" noGrp="1"/>
          </p:cNvSpPr>
          <p:nvPr/>
        </p:nvSpPr>
        <p:spPr>
          <a:xfrm xmlns:a="http://schemas.openxmlformats.org/drawingml/2006/main">
            <a:off x="723900" y="3886200"/>
            <a:ext cx="10287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a:solidFill>
                  <a:srgbClr val="D0EDFA"/>
                </a:solidFill>
              </a:defRPr>
            </a:pPr>
            <a:r>
              <a:rPr sz="2025" b="0">
                <a:solidFill>
                  <a:srgbClr val="D0EDFA"/>
                </a:solidFill>
              </a:rPr>
              <a:t>At 10:00, compare the completed opening return with a threshold learned from the prior 252 full sessions. Trade only when yesterday's ATR% was LOW or MEDIUM; exit at 16:00. The rule must beat every simpler control after 10 bps round trip.</a:t>
            </a:r>
          </a:p>
        </p:txBody>
      </p:sp>
      <p:sp>
        <p:nvSpPr>
          <p:cNvPr id="4" name="">
            <a:extLst xmlns:a="http://schemas.openxmlformats.org/drawingml/2006/main">
              <a:ext uri="{FF2B5EF4-FFF2-40B4-BE49-F238E27FC236}">
                <a16:creationId xmlns:a16="http://schemas.microsoft.com/office/drawing/2014/main" id="{B6E7FB61-C286-43FD-BE3C-B6DF86E568B0}"/>
              </a:ext>
            </a:extLst>
          </p:cNvPr>
          <p:cNvSpPr>
            <a:spLocks xmlns:a="http://schemas.openxmlformats.org/drawingml/2006/main" noGrp="1"/>
          </p:cNvSpPr>
          <p:nvPr/>
        </p:nvSpPr>
        <p:spPr>
          <a:xfrm xmlns:a="http://schemas.openxmlformats.org/drawingml/2006/main">
            <a:off x="723900" y="573405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defRPr>
            </a:pPr>
            <a:r>
              <a:rPr sz="1500" b="1">
                <a:solidFill>
                  <a:srgbClr val="FFFFFF"/>
                </a:solidFill>
              </a:rPr>
              <a:t>TRAIN only · 2024+ intraday data remain unread</a:t>
            </a:r>
          </a:p>
        </p:txBody>
      </p:sp>
      <p:sp>
        <p:nvSpPr>
          <p:cNvPr id="5" name="">
            <a:extLst xmlns:a="http://schemas.openxmlformats.org/drawingml/2006/main">
              <a:ext uri="{FF2B5EF4-FFF2-40B4-BE49-F238E27FC236}">
                <a16:creationId xmlns:a16="http://schemas.microsoft.com/office/drawing/2014/main" id="{D1DE0F87-9B3E-4409-894A-72F8F8BB2F26}"/>
              </a:ext>
            </a:extLst>
          </p:cNvPr>
          <p:cNvSpPr>
            <a:spLocks xmlns:a="http://schemas.openxmlformats.org/drawingml/2006/main" noGrp="1"/>
          </p:cNvSpPr>
          <p:nvPr/>
        </p:nvSpPr>
        <p:spPr>
          <a:xfrm xmlns:a="http://schemas.openxmlformats.org/drawingml/2006/main">
            <a:off x="10801350" y="64008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D0EDFA"/>
                </a:solidFill>
              </a:defRPr>
            </a:pPr>
            <a:r>
              <a:rPr sz="900" b="0">
                <a:solidFill>
                  <a:srgbClr val="D0EDFA"/>
                </a:solidFill>
              </a:rPr>
              <a:t>35</a:t>
            </a:r>
          </a:p>
        </p:txBody>
      </p:sp>
    </p:spTree>
    <p:extLst>
      <p:ext uri="{BB962C8B-B14F-4D97-AF65-F5344CB8AC3E}">
        <p14:creationId xmlns:p14="http://schemas.microsoft.com/office/powerpoint/2010/main" val="118038235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13FCD4-BFA6-4701-88A3-232CFFC78FEB}"/>
              </a:ext>
            </a:extLst>
          </p:cNvPr>
          <p:cNvSpPr>
            <a:spLocks xmlns:a="http://schemas.openxmlformats.org/drawingml/2006/main" noGrp="1"/>
          </p:cNvSpPr>
          <p:nvPr/>
        </p:nvSpPr>
        <p:spPr>
          <a:xfrm xmlns:a="http://schemas.openxmlformats.org/drawingml/2006/main">
            <a:off x="457200" y="23812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INTRADAY OPENING RULE</a:t>
            </a:r>
          </a:p>
        </p:txBody>
      </p:sp>
      <p:sp>
        <p:nvSpPr>
          <p:cNvPr id="2" name="">
            <a:extLst xmlns:a="http://schemas.openxmlformats.org/drawingml/2006/main">
              <a:ext uri="{FF2B5EF4-FFF2-40B4-BE49-F238E27FC236}">
                <a16:creationId xmlns:a16="http://schemas.microsoft.com/office/drawing/2014/main" id="{17FFB31F-500E-49D1-873C-58F636A9A673}"/>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Every signal is knowable at 10:00 without future data</a:t>
            </a:r>
          </a:p>
        </p:txBody>
      </p:sp>
      <p:sp>
        <p:nvSpPr>
          <p:cNvPr id="3" name="">
            <a:extLst xmlns:a="http://schemas.openxmlformats.org/drawingml/2006/main">
              <a:ext uri="{FF2B5EF4-FFF2-40B4-BE49-F238E27FC236}">
                <a16:creationId xmlns:a16="http://schemas.microsoft.com/office/drawing/2014/main" id="{B6142C93-373E-4005-9CFC-AB6DF399C3F1}"/>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4874601B-5C27-4BAA-8DB7-8880D5A9967D}"/>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Causal TRAIN translation · 2019-01-11–2023-12-29 after prior-252-session warm-up</a:t>
            </a:r>
          </a:p>
        </p:txBody>
      </p:sp>
      <p:sp>
        <p:nvSpPr>
          <p:cNvPr id="5" name="">
            <a:extLst xmlns:a="http://schemas.openxmlformats.org/drawingml/2006/main">
              <a:ext uri="{FF2B5EF4-FFF2-40B4-BE49-F238E27FC236}">
                <a16:creationId xmlns:a16="http://schemas.microsoft.com/office/drawing/2014/main" id="{67E145EA-758C-4F97-9062-D17149F3811E}"/>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36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f09cefc217f490b"/>
          <a:stretch xmlns:a="http://schemas.openxmlformats.org/drawingml/2006/main"/>
        </p:blipFill>
        <p:spPr>
          <a:xfrm xmlns:a="http://schemas.openxmlformats.org/drawingml/2006/main">
            <a:off x="1934308" y="1371600"/>
            <a:ext cx="8285285" cy="4895850"/>
          </a:xfrm>
          <a:prstGeom xmlns:a="http://schemas.openxmlformats.org/drawingml/2006/main" prst="rect">
            <a:avLst/>
          </a:prstGeom>
        </p:spPr>
      </p:pic>
    </p:spTree>
    <p:extLst>
      <p:ext uri="{BB962C8B-B14F-4D97-AF65-F5344CB8AC3E}">
        <p14:creationId xmlns:p14="http://schemas.microsoft.com/office/powerpoint/2010/main" val="190450642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3BE9F8-7A40-49FA-893E-E14BD4248439}"/>
              </a:ext>
            </a:extLst>
          </p:cNvPr>
          <p:cNvSpPr>
            <a:spLocks xmlns:a="http://schemas.openxmlformats.org/drawingml/2006/main" noGrp="1"/>
          </p:cNvSpPr>
          <p:nvPr/>
        </p:nvSpPr>
        <p:spPr>
          <a:xfrm xmlns:a="http://schemas.openxmlformats.org/drawingml/2006/main">
            <a:off x="457200" y="23812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INTRADAY OPENING RULE</a:t>
            </a:r>
          </a:p>
        </p:txBody>
      </p:sp>
      <p:sp>
        <p:nvSpPr>
          <p:cNvPr id="2" name="">
            <a:extLst xmlns:a="http://schemas.openxmlformats.org/drawingml/2006/main">
              <a:ext uri="{FF2B5EF4-FFF2-40B4-BE49-F238E27FC236}">
                <a16:creationId xmlns:a16="http://schemas.microsoft.com/office/drawing/2014/main" id="{03A69F50-433B-465B-AF4B-67781B253A09}"/>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ATR% performs real discrimination inside TRAIN</a:t>
            </a:r>
          </a:p>
        </p:txBody>
      </p:sp>
      <p:sp>
        <p:nvSpPr>
          <p:cNvPr id="3" name="">
            <a:extLst xmlns:a="http://schemas.openxmlformats.org/drawingml/2006/main">
              <a:ext uri="{FF2B5EF4-FFF2-40B4-BE49-F238E27FC236}">
                <a16:creationId xmlns:a16="http://schemas.microsoft.com/office/drawing/2014/main" id="{A135E064-32B9-482A-8D30-E0272FBF6DEF}"/>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431861A5-BA2B-4C20-BF60-3DF6E5027EA8}"/>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Causal TRAIN translation · 2019-01-11–2023-12-29 after prior-252-session warm-up</a:t>
            </a:r>
          </a:p>
        </p:txBody>
      </p:sp>
      <p:sp>
        <p:nvSpPr>
          <p:cNvPr id="5" name="">
            <a:extLst xmlns:a="http://schemas.openxmlformats.org/drawingml/2006/main">
              <a:ext uri="{FF2B5EF4-FFF2-40B4-BE49-F238E27FC236}">
                <a16:creationId xmlns:a16="http://schemas.microsoft.com/office/drawing/2014/main" id="{F3E2DDBD-B592-4724-9F0D-36E1A9BC936D}"/>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37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8acc91a239d4c7e"/>
          <a:stretch xmlns:a="http://schemas.openxmlformats.org/drawingml/2006/main"/>
        </p:blipFill>
        <p:spPr>
          <a:xfrm xmlns:a="http://schemas.openxmlformats.org/drawingml/2006/main">
            <a:off x="2055359" y="1371600"/>
            <a:ext cx="8043182" cy="4895850"/>
          </a:xfrm>
          <a:prstGeom xmlns:a="http://schemas.openxmlformats.org/drawingml/2006/main" prst="rect">
            <a:avLst/>
          </a:prstGeom>
        </p:spPr>
      </p:pic>
    </p:spTree>
    <p:extLst>
      <p:ext uri="{BB962C8B-B14F-4D97-AF65-F5344CB8AC3E}">
        <p14:creationId xmlns:p14="http://schemas.microsoft.com/office/powerpoint/2010/main" val="93265843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46F3649-B370-4F32-859F-0EA7C757A405}"/>
              </a:ext>
            </a:extLst>
          </p:cNvPr>
          <p:cNvSpPr>
            <a:spLocks xmlns:a="http://schemas.openxmlformats.org/drawingml/2006/main" noGrp="1"/>
          </p:cNvSpPr>
          <p:nvPr/>
        </p:nvSpPr>
        <p:spPr>
          <a:xfrm xmlns:a="http://schemas.openxmlformats.org/drawingml/2006/main">
            <a:off x="457200" y="23812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INTRADAY OPENING RULE</a:t>
            </a:r>
          </a:p>
        </p:txBody>
      </p:sp>
      <p:sp>
        <p:nvSpPr>
          <p:cNvPr id="2" name="">
            <a:extLst xmlns:a="http://schemas.openxmlformats.org/drawingml/2006/main">
              <a:ext uri="{FF2B5EF4-FFF2-40B4-BE49-F238E27FC236}">
                <a16:creationId xmlns:a16="http://schemas.microsoft.com/office/drawing/2014/main" id="{D59046DC-4FF9-4113-B599-EA7CAA46D2F5}"/>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aggregate result fails temporal breadth</a:t>
            </a:r>
          </a:p>
        </p:txBody>
      </p:sp>
      <p:sp>
        <p:nvSpPr>
          <p:cNvPr id="3" name="">
            <a:extLst xmlns:a="http://schemas.openxmlformats.org/drawingml/2006/main">
              <a:ext uri="{FF2B5EF4-FFF2-40B4-BE49-F238E27FC236}">
                <a16:creationId xmlns:a16="http://schemas.microsoft.com/office/drawing/2014/main" id="{51DF4CAD-7692-4AC4-A116-605B6F52308C}"/>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16709547-8257-441F-A418-69001BE2E516}"/>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Causal TRAIN translation · 2019-01-11–2023-12-29 after prior-252-session warm-up</a:t>
            </a:r>
          </a:p>
        </p:txBody>
      </p:sp>
      <p:sp>
        <p:nvSpPr>
          <p:cNvPr id="5" name="">
            <a:extLst xmlns:a="http://schemas.openxmlformats.org/drawingml/2006/main">
              <a:ext uri="{FF2B5EF4-FFF2-40B4-BE49-F238E27FC236}">
                <a16:creationId xmlns:a16="http://schemas.microsoft.com/office/drawing/2014/main" id="{E73E4B51-26B6-4D4D-827A-5913E6BACE64}"/>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38</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d2d7c24406541b9"/>
          <a:stretch xmlns:a="http://schemas.openxmlformats.org/drawingml/2006/main"/>
        </p:blipFill>
        <p:spPr>
          <a:xfrm xmlns:a="http://schemas.openxmlformats.org/drawingml/2006/main">
            <a:off x="403777" y="1371600"/>
            <a:ext cx="8088796" cy="48958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ED57227-57CE-4C1F-983E-0A99A686A733}"/>
              </a:ext>
            </a:extLst>
          </p:cNvPr>
          <p:cNvSpPr>
            <a:spLocks xmlns:a="http://schemas.openxmlformats.org/drawingml/2006/main" noGrp="1"/>
          </p:cNvSpPr>
          <p:nvPr/>
        </p:nvSpPr>
        <p:spPr>
          <a:xfrm xmlns:a="http://schemas.openxmlformats.org/drawingml/2006/main">
            <a:off x="8743950" y="1504950"/>
            <a:ext cx="2895600" cy="44196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D7B5D4A2-0FF7-466F-8878-194B3F70F218}"/>
              </a:ext>
            </a:extLst>
          </p:cNvPr>
          <p:cNvSpPr>
            <a:spLocks xmlns:a="http://schemas.openxmlformats.org/drawingml/2006/main" noGrp="1"/>
          </p:cNvSpPr>
          <p:nvPr/>
        </p:nvSpPr>
        <p:spPr>
          <a:xfrm xmlns:a="http://schemas.openxmlformats.org/drawingml/2006/main">
            <a:off x="8991600" y="18097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B44738"/>
                </a:solidFill>
              </a:defRPr>
            </a:pPr>
            <a:r>
              <a:rPr sz="3300" b="1">
                <a:solidFill>
                  <a:srgbClr val="B44738"/>
                </a:solidFill>
              </a:rPr>
              <a:t>2 / 5</a:t>
            </a:r>
          </a:p>
        </p:txBody>
      </p:sp>
      <p:sp>
        <p:nvSpPr>
          <p:cNvPr id="9" name="">
            <a:extLst xmlns:a="http://schemas.openxmlformats.org/drawingml/2006/main">
              <a:ext uri="{FF2B5EF4-FFF2-40B4-BE49-F238E27FC236}">
                <a16:creationId xmlns:a16="http://schemas.microsoft.com/office/drawing/2014/main" id="{17429CFC-98F4-48F9-9E2C-168BB7B48953}"/>
              </a:ext>
            </a:extLst>
          </p:cNvPr>
          <p:cNvSpPr>
            <a:spLocks xmlns:a="http://schemas.openxmlformats.org/drawingml/2006/main" noGrp="1"/>
          </p:cNvSpPr>
          <p:nvPr/>
        </p:nvSpPr>
        <p:spPr>
          <a:xfrm xmlns:a="http://schemas.openxmlformats.org/drawingml/2006/main">
            <a:off x="8991600" y="23431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4364B"/>
                </a:solidFill>
              </a:defRPr>
            </a:pPr>
            <a:r>
              <a:rPr sz="1425" b="1">
                <a:solidFill>
                  <a:srgbClr val="24364B"/>
                </a:solidFill>
              </a:rPr>
              <a:t>positive years</a:t>
            </a:r>
          </a:p>
        </p:txBody>
      </p:sp>
      <p:sp>
        <p:nvSpPr>
          <p:cNvPr id="10" name="">
            <a:extLst xmlns:a="http://schemas.openxmlformats.org/drawingml/2006/main">
              <a:ext uri="{FF2B5EF4-FFF2-40B4-BE49-F238E27FC236}">
                <a16:creationId xmlns:a16="http://schemas.microsoft.com/office/drawing/2014/main" id="{DF29844B-9C79-4180-B70A-B9EDA689EBC6}"/>
              </a:ext>
            </a:extLst>
          </p:cNvPr>
          <p:cNvSpPr>
            <a:spLocks xmlns:a="http://schemas.openxmlformats.org/drawingml/2006/main" noGrp="1"/>
          </p:cNvSpPr>
          <p:nvPr/>
        </p:nvSpPr>
        <p:spPr>
          <a:xfrm xmlns:a="http://schemas.openxmlformats.org/drawingml/2006/main">
            <a:off x="8991600" y="2647950"/>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667386"/>
                </a:solidFill>
              </a:defRPr>
            </a:pPr>
            <a:r>
              <a:rPr sz="1125" b="0">
                <a:solidFill>
                  <a:srgbClr val="667386"/>
                </a:solidFill>
              </a:rPr>
              <a:t>Gate required at least 3</a:t>
            </a:r>
          </a:p>
        </p:txBody>
      </p:sp>
      <p:sp>
        <p:nvSpPr>
          <p:cNvPr id="11" name="">
            <a:extLst xmlns:a="http://schemas.openxmlformats.org/drawingml/2006/main">
              <a:ext uri="{FF2B5EF4-FFF2-40B4-BE49-F238E27FC236}">
                <a16:creationId xmlns:a16="http://schemas.microsoft.com/office/drawing/2014/main" id="{92AF6BD4-1FEC-4346-B8F9-8E45EB0644CB}"/>
              </a:ext>
            </a:extLst>
          </p:cNvPr>
          <p:cNvSpPr>
            <a:spLocks xmlns:a="http://schemas.openxmlformats.org/drawingml/2006/main" noGrp="1"/>
          </p:cNvSpPr>
          <p:nvPr/>
        </p:nvSpPr>
        <p:spPr>
          <a:xfrm xmlns:a="http://schemas.openxmlformats.org/drawingml/2006/main">
            <a:off x="8991600" y="3162300"/>
            <a:ext cx="24003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2" name="">
            <a:extLst xmlns:a="http://schemas.openxmlformats.org/drawingml/2006/main">
              <a:ext uri="{FF2B5EF4-FFF2-40B4-BE49-F238E27FC236}">
                <a16:creationId xmlns:a16="http://schemas.microsoft.com/office/drawing/2014/main" id="{4542844F-B00D-4AA1-AC08-8E598A1062C6}"/>
              </a:ext>
            </a:extLst>
          </p:cNvPr>
          <p:cNvSpPr>
            <a:spLocks xmlns:a="http://schemas.openxmlformats.org/drawingml/2006/main" noGrp="1"/>
          </p:cNvSpPr>
          <p:nvPr/>
        </p:nvSpPr>
        <p:spPr>
          <a:xfrm xmlns:a="http://schemas.openxmlformats.org/drawingml/2006/main">
            <a:off x="8991600" y="3467100"/>
            <a:ext cx="2400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A86B00"/>
                </a:solidFill>
              </a:defRPr>
            </a:pPr>
            <a:r>
              <a:rPr sz="2850" b="1">
                <a:solidFill>
                  <a:srgbClr val="A86B00"/>
                </a:solidFill>
              </a:rPr>
              <a:t>89.9%</a:t>
            </a:r>
          </a:p>
        </p:txBody>
      </p:sp>
      <p:sp>
        <p:nvSpPr>
          <p:cNvPr id="13" name="">
            <a:extLst xmlns:a="http://schemas.openxmlformats.org/drawingml/2006/main">
              <a:ext uri="{FF2B5EF4-FFF2-40B4-BE49-F238E27FC236}">
                <a16:creationId xmlns:a16="http://schemas.microsoft.com/office/drawing/2014/main" id="{76A72E91-1F9F-4B77-8738-63AF166EFA26}"/>
              </a:ext>
            </a:extLst>
          </p:cNvPr>
          <p:cNvSpPr>
            <a:spLocks xmlns:a="http://schemas.openxmlformats.org/drawingml/2006/main" noGrp="1"/>
          </p:cNvSpPr>
          <p:nvPr/>
        </p:nvSpPr>
        <p:spPr>
          <a:xfrm xmlns:a="http://schemas.openxmlformats.org/drawingml/2006/main">
            <a:off x="8991600" y="3962400"/>
            <a:ext cx="2400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24364B"/>
                </a:solidFill>
              </a:defRPr>
            </a:pPr>
            <a:r>
              <a:rPr sz="1350" b="1">
                <a:solidFill>
                  <a:srgbClr val="24364B"/>
                </a:solidFill>
              </a:rPr>
              <a:t>of cumulative net log return came from 2023</a:t>
            </a:r>
          </a:p>
        </p:txBody>
      </p:sp>
      <p:sp>
        <p:nvSpPr>
          <p:cNvPr id="14" name="">
            <a:extLst xmlns:a="http://schemas.openxmlformats.org/drawingml/2006/main">
              <a:ext uri="{FF2B5EF4-FFF2-40B4-BE49-F238E27FC236}">
                <a16:creationId xmlns:a16="http://schemas.microsoft.com/office/drawing/2014/main" id="{BB705E86-ABCE-433C-B9B6-F2ED9D44F997}"/>
              </a:ext>
            </a:extLst>
          </p:cNvPr>
          <p:cNvSpPr>
            <a:spLocks xmlns:a="http://schemas.openxmlformats.org/drawingml/2006/main" noGrp="1"/>
          </p:cNvSpPr>
          <p:nvPr/>
        </p:nvSpPr>
        <p:spPr>
          <a:xfrm xmlns:a="http://schemas.openxmlformats.org/drawingml/2006/main">
            <a:off x="8991600" y="495300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B44738"/>
                </a:solidFill>
              </a:defRPr>
            </a:pPr>
            <a:r>
              <a:rPr sz="1350" b="0">
                <a:solidFill>
                  <a:srgbClr val="B44738"/>
                </a:solidFill>
              </a:rPr>
              <a:t>2019, 2020, and 2022 had negative mean net returns.</a:t>
            </a:r>
          </a:p>
        </p:txBody>
      </p:sp>
    </p:spTree>
    <p:extLst>
      <p:ext uri="{BB962C8B-B14F-4D97-AF65-F5344CB8AC3E}">
        <p14:creationId xmlns:p14="http://schemas.microsoft.com/office/powerpoint/2010/main" val="151555896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8BD0F2-0DA9-4FE4-81B4-975B423A6AC2}"/>
              </a:ext>
            </a:extLst>
          </p:cNvPr>
          <p:cNvSpPr>
            <a:spLocks xmlns:a="http://schemas.openxmlformats.org/drawingml/2006/main" noGrp="1"/>
          </p:cNvSpPr>
          <p:nvPr/>
        </p:nvSpPr>
        <p:spPr>
          <a:xfrm xmlns:a="http://schemas.openxmlformats.org/drawingml/2006/main">
            <a:off x="457200" y="23812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INTRADAY OPENING RULE</a:t>
            </a:r>
          </a:p>
        </p:txBody>
      </p:sp>
      <p:sp>
        <p:nvSpPr>
          <p:cNvPr id="2" name="">
            <a:extLst xmlns:a="http://schemas.openxmlformats.org/drawingml/2006/main">
              <a:ext uri="{FF2B5EF4-FFF2-40B4-BE49-F238E27FC236}">
                <a16:creationId xmlns:a16="http://schemas.microsoft.com/office/drawing/2014/main" id="{7A52900B-4847-477F-ACEE-656D180931FC}"/>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Most realized gains arrive late in the sample</a:t>
            </a:r>
          </a:p>
        </p:txBody>
      </p:sp>
      <p:sp>
        <p:nvSpPr>
          <p:cNvPr id="3" name="">
            <a:extLst xmlns:a="http://schemas.openxmlformats.org/drawingml/2006/main">
              <a:ext uri="{FF2B5EF4-FFF2-40B4-BE49-F238E27FC236}">
                <a16:creationId xmlns:a16="http://schemas.microsoft.com/office/drawing/2014/main" id="{87D7C9DE-D16D-44BA-94F1-2FC0D8518861}"/>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75E5A11B-945D-47F7-ADAC-D963A3056A6C}"/>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Causal TRAIN translation · 2019-01-11–2023-12-29 after prior-252-session warm-up</a:t>
            </a:r>
          </a:p>
        </p:txBody>
      </p:sp>
      <p:sp>
        <p:nvSpPr>
          <p:cNvPr id="5" name="">
            <a:extLst xmlns:a="http://schemas.openxmlformats.org/drawingml/2006/main">
              <a:ext uri="{FF2B5EF4-FFF2-40B4-BE49-F238E27FC236}">
                <a16:creationId xmlns:a16="http://schemas.microsoft.com/office/drawing/2014/main" id="{41C1FBB0-67D0-4D0E-BD7C-EAF1ECB8616D}"/>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39</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fd29ef93ddb4651"/>
          <a:stretch xmlns:a="http://schemas.openxmlformats.org/drawingml/2006/main"/>
        </p:blipFill>
        <p:spPr>
          <a:xfrm xmlns:a="http://schemas.openxmlformats.org/drawingml/2006/main">
            <a:off x="1819689" y="1371600"/>
            <a:ext cx="8514522" cy="4895850"/>
          </a:xfrm>
          <a:prstGeom xmlns:a="http://schemas.openxmlformats.org/drawingml/2006/main" prst="rect">
            <a:avLst/>
          </a:prstGeom>
        </p:spPr>
      </p:pic>
    </p:spTree>
    <p:extLst>
      <p:ext uri="{BB962C8B-B14F-4D97-AF65-F5344CB8AC3E}">
        <p14:creationId xmlns:p14="http://schemas.microsoft.com/office/powerpoint/2010/main" val="154720854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C00264-E465-4C1E-9781-08EAA2024FF3}"/>
              </a:ext>
            </a:extLst>
          </p:cNvPr>
          <p:cNvSpPr>
            <a:spLocks xmlns:a="http://schemas.openxmlformats.org/drawingml/2006/main" noGrp="1"/>
          </p:cNvSpPr>
          <p:nvPr/>
        </p:nvSpPr>
        <p:spPr>
          <a:xfrm xmlns:a="http://schemas.openxmlformats.org/drawingml/2006/main">
            <a:off x="457200" y="23812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INTRADAY OPENING RULE</a:t>
            </a:r>
          </a:p>
        </p:txBody>
      </p:sp>
      <p:sp>
        <p:nvSpPr>
          <p:cNvPr id="2" name="">
            <a:extLst xmlns:a="http://schemas.openxmlformats.org/drawingml/2006/main">
              <a:ext uri="{FF2B5EF4-FFF2-40B4-BE49-F238E27FC236}">
                <a16:creationId xmlns:a16="http://schemas.microsoft.com/office/drawing/2014/main" id="{851F252B-CD53-42D0-8C68-D5EAB73286F3}"/>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A positive typical trade still contains severe same-day risk</a:t>
            </a:r>
          </a:p>
        </p:txBody>
      </p:sp>
      <p:sp>
        <p:nvSpPr>
          <p:cNvPr id="3" name="">
            <a:extLst xmlns:a="http://schemas.openxmlformats.org/drawingml/2006/main">
              <a:ext uri="{FF2B5EF4-FFF2-40B4-BE49-F238E27FC236}">
                <a16:creationId xmlns:a16="http://schemas.microsoft.com/office/drawing/2014/main" id="{EF7F5FC9-B374-4CBD-B995-BEACE27151E7}"/>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82C2A787-CC0E-42E2-9C71-063240005AF3}"/>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Causal TRAIN translation · 2019-01-11–2023-12-29 after prior-252-session warm-up</a:t>
            </a:r>
          </a:p>
        </p:txBody>
      </p:sp>
      <p:sp>
        <p:nvSpPr>
          <p:cNvPr id="5" name="">
            <a:extLst xmlns:a="http://schemas.openxmlformats.org/drawingml/2006/main">
              <a:ext uri="{FF2B5EF4-FFF2-40B4-BE49-F238E27FC236}">
                <a16:creationId xmlns:a16="http://schemas.microsoft.com/office/drawing/2014/main" id="{0CA102EC-F060-490D-80E0-00B971CD5B50}"/>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40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55c968e269e4c4d"/>
          <a:stretch xmlns:a="http://schemas.openxmlformats.org/drawingml/2006/main"/>
        </p:blipFill>
        <p:spPr>
          <a:xfrm xmlns:a="http://schemas.openxmlformats.org/drawingml/2006/main">
            <a:off x="691515" y="1371600"/>
            <a:ext cx="10770870" cy="4895850"/>
          </a:xfrm>
          <a:prstGeom xmlns:a="http://schemas.openxmlformats.org/drawingml/2006/main" prst="rect">
            <a:avLst/>
          </a:prstGeom>
        </p:spPr>
      </p:pic>
    </p:spTree>
    <p:extLst>
      <p:ext uri="{BB962C8B-B14F-4D97-AF65-F5344CB8AC3E}">
        <p14:creationId xmlns:p14="http://schemas.microsoft.com/office/powerpoint/2010/main" val="116086131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819E31E-35B8-41DD-9D15-1F1F2D736322}"/>
              </a:ext>
            </a:extLst>
          </p:cNvPr>
          <p:cNvSpPr>
            <a:spLocks xmlns:a="http://schemas.openxmlformats.org/drawingml/2006/main" noGrp="1"/>
          </p:cNvSpPr>
          <p:nvPr/>
        </p:nvSpPr>
        <p:spPr>
          <a:xfrm xmlns:a="http://schemas.openxmlformats.org/drawingml/2006/main">
            <a:off x="457200" y="23812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INTRADAY OPENING RULE</a:t>
            </a:r>
          </a:p>
        </p:txBody>
      </p:sp>
      <p:sp>
        <p:nvSpPr>
          <p:cNvPr id="2" name="">
            <a:extLst xmlns:a="http://schemas.openxmlformats.org/drawingml/2006/main">
              <a:ext uri="{FF2B5EF4-FFF2-40B4-BE49-F238E27FC236}">
                <a16:creationId xmlns:a16="http://schemas.microsoft.com/office/drawing/2014/main" id="{6E799273-215B-49B7-AE81-FA675C12665E}"/>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mechanism is promising; the exact rule still stops</a:t>
            </a:r>
          </a:p>
        </p:txBody>
      </p:sp>
      <p:sp>
        <p:nvSpPr>
          <p:cNvPr id="3" name="">
            <a:extLst xmlns:a="http://schemas.openxmlformats.org/drawingml/2006/main">
              <a:ext uri="{FF2B5EF4-FFF2-40B4-BE49-F238E27FC236}">
                <a16:creationId xmlns:a16="http://schemas.microsoft.com/office/drawing/2014/main" id="{EC3BF9F7-2002-4EEF-9602-2BAF90212306}"/>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B2A06264-C1FA-4974-88F8-5E480EAFDF98}"/>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Causal TRAIN translation · 2019-01-11–2023-12-29 after prior-252-session warm-up</a:t>
            </a:r>
          </a:p>
        </p:txBody>
      </p:sp>
      <p:sp>
        <p:nvSpPr>
          <p:cNvPr id="5" name="">
            <a:extLst xmlns:a="http://schemas.openxmlformats.org/drawingml/2006/main">
              <a:ext uri="{FF2B5EF4-FFF2-40B4-BE49-F238E27FC236}">
                <a16:creationId xmlns:a16="http://schemas.microsoft.com/office/drawing/2014/main" id="{C7595307-6AE3-414F-89DB-7F13EB9433FF}"/>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41</a:t>
            </a:r>
          </a:p>
        </p:txBody>
      </p:sp>
      <p:sp>
        <p:nvSpPr>
          <p:cNvPr id="6" name="">
            <a:extLst xmlns:a="http://schemas.openxmlformats.org/drawingml/2006/main">
              <a:ext uri="{FF2B5EF4-FFF2-40B4-BE49-F238E27FC236}">
                <a16:creationId xmlns:a16="http://schemas.microsoft.com/office/drawing/2014/main" id="{BD9B7F26-4C96-4D90-B88C-9A6993367679}"/>
              </a:ext>
            </a:extLst>
          </p:cNvPr>
          <p:cNvSpPr>
            <a:spLocks xmlns:a="http://schemas.openxmlformats.org/drawingml/2006/main" noGrp="1"/>
          </p:cNvSpPr>
          <p:nvPr/>
        </p:nvSpPr>
        <p:spPr>
          <a:xfrm xmlns:a="http://schemas.openxmlformats.org/drawingml/2006/main">
            <a:off x="552450" y="1562100"/>
            <a:ext cx="11087100" cy="8382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7" name="">
            <a:extLst xmlns:a="http://schemas.openxmlformats.org/drawingml/2006/main">
              <a:ext uri="{FF2B5EF4-FFF2-40B4-BE49-F238E27FC236}">
                <a16:creationId xmlns:a16="http://schemas.microsoft.com/office/drawing/2014/main" id="{8DE06F4A-B53B-46BF-8A8D-E40FC48D9AC7}"/>
              </a:ext>
            </a:extLst>
          </p:cNvPr>
          <p:cNvSpPr>
            <a:spLocks xmlns:a="http://schemas.openxmlformats.org/drawingml/2006/main" noGrp="1"/>
          </p:cNvSpPr>
          <p:nvPr/>
        </p:nvSpPr>
        <p:spPr>
          <a:xfrm xmlns:a="http://schemas.openxmlformats.org/drawingml/2006/main">
            <a:off x="819150" y="1771650"/>
            <a:ext cx="10553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325" b="1">
                <a:solidFill>
                  <a:srgbClr val="B44738"/>
                </a:solidFill>
              </a:defRPr>
            </a:pPr>
            <a:r>
              <a:rPr sz="2325" b="1">
                <a:solidFill>
                  <a:srgbClr val="B44738"/>
                </a:solidFill>
              </a:rPr>
              <a:t>STOP_TRAIN_TRANSLATION_GATES_FAILED</a:t>
            </a:r>
          </a:p>
        </p:txBody>
      </p:sp>
      <p:sp>
        <p:nvSpPr>
          <p:cNvPr id="8" name="">
            <a:extLst xmlns:a="http://schemas.openxmlformats.org/drawingml/2006/main">
              <a:ext uri="{FF2B5EF4-FFF2-40B4-BE49-F238E27FC236}">
                <a16:creationId xmlns:a16="http://schemas.microsoft.com/office/drawing/2014/main" id="{D4084C86-7114-4BC4-84ED-145A8DBAACED}"/>
              </a:ext>
            </a:extLst>
          </p:cNvPr>
          <p:cNvSpPr>
            <a:spLocks xmlns:a="http://schemas.openxmlformats.org/drawingml/2006/main" noGrp="1"/>
          </p:cNvSpPr>
          <p:nvPr/>
        </p:nvSpPr>
        <p:spPr>
          <a:xfrm xmlns:a="http://schemas.openxmlformats.org/drawingml/2006/main">
            <a:off x="552450" y="27813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Frozen gates</a:t>
            </a:r>
          </a:p>
        </p:txBody>
      </p:sp>
      <p:sp>
        <p:nvSpPr>
          <p:cNvPr id="9" name="">
            <a:extLst xmlns:a="http://schemas.openxmlformats.org/drawingml/2006/main">
              <a:ext uri="{FF2B5EF4-FFF2-40B4-BE49-F238E27FC236}">
                <a16:creationId xmlns:a16="http://schemas.microsoft.com/office/drawing/2014/main" id="{C5F93D8D-4EC1-43BF-8E71-3E89D3E09A58}"/>
              </a:ext>
            </a:extLst>
          </p:cNvPr>
          <p:cNvSpPr>
            <a:spLocks xmlns:a="http://schemas.openxmlformats.org/drawingml/2006/main" noGrp="1"/>
          </p:cNvSpPr>
          <p:nvPr/>
        </p:nvSpPr>
        <p:spPr>
          <a:xfrm xmlns:a="http://schemas.openxmlformats.org/drawingml/2006/main">
            <a:off x="685800" y="3257550"/>
            <a:ext cx="876300" cy="30480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10" name="">
            <a:extLst xmlns:a="http://schemas.openxmlformats.org/drawingml/2006/main">
              <a:ext uri="{FF2B5EF4-FFF2-40B4-BE49-F238E27FC236}">
                <a16:creationId xmlns:a16="http://schemas.microsoft.com/office/drawing/2014/main" id="{3D962D00-87DD-4945-929D-AA83EF2F6ECE}"/>
              </a:ext>
            </a:extLst>
          </p:cNvPr>
          <p:cNvSpPr>
            <a:spLocks xmlns:a="http://schemas.openxmlformats.org/drawingml/2006/main" noGrp="1"/>
          </p:cNvSpPr>
          <p:nvPr/>
        </p:nvSpPr>
        <p:spPr>
          <a:xfrm xmlns:a="http://schemas.openxmlformats.org/drawingml/2006/main">
            <a:off x="742950" y="33147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4866D"/>
                </a:solidFill>
              </a:defRPr>
            </a:pPr>
            <a:r>
              <a:rPr sz="1050" b="1">
                <a:solidFill>
                  <a:srgbClr val="14866D"/>
                </a:solidFill>
              </a:rPr>
              <a:t>PASS</a:t>
            </a:r>
          </a:p>
        </p:txBody>
      </p:sp>
      <p:sp>
        <p:nvSpPr>
          <p:cNvPr id="11" name="">
            <a:extLst xmlns:a="http://schemas.openxmlformats.org/drawingml/2006/main">
              <a:ext uri="{FF2B5EF4-FFF2-40B4-BE49-F238E27FC236}">
                <a16:creationId xmlns:a16="http://schemas.microsoft.com/office/drawing/2014/main" id="{C5B9DACB-69A5-4A71-A4D8-A92902744123}"/>
              </a:ext>
            </a:extLst>
          </p:cNvPr>
          <p:cNvSpPr>
            <a:spLocks xmlns:a="http://schemas.openxmlformats.org/drawingml/2006/main" noGrp="1"/>
          </p:cNvSpPr>
          <p:nvPr/>
        </p:nvSpPr>
        <p:spPr>
          <a:xfrm xmlns:a="http://schemas.openxmlformats.org/drawingml/2006/main">
            <a:off x="1771650" y="32956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Support</a:t>
            </a:r>
          </a:p>
        </p:txBody>
      </p:sp>
      <p:sp>
        <p:nvSpPr>
          <p:cNvPr id="12" name="">
            <a:extLst xmlns:a="http://schemas.openxmlformats.org/drawingml/2006/main">
              <a:ext uri="{FF2B5EF4-FFF2-40B4-BE49-F238E27FC236}">
                <a16:creationId xmlns:a16="http://schemas.microsoft.com/office/drawing/2014/main" id="{BB4E283B-0C69-4E7D-9459-77179B26955B}"/>
              </a:ext>
            </a:extLst>
          </p:cNvPr>
          <p:cNvSpPr>
            <a:spLocks xmlns:a="http://schemas.openxmlformats.org/drawingml/2006/main" noGrp="1"/>
          </p:cNvSpPr>
          <p:nvPr/>
        </p:nvSpPr>
        <p:spPr>
          <a:xfrm xmlns:a="http://schemas.openxmlformats.org/drawingml/2006/main">
            <a:off x="4095750" y="33051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157 trades; minimum 100</a:t>
            </a:r>
          </a:p>
        </p:txBody>
      </p:sp>
      <p:sp>
        <p:nvSpPr>
          <p:cNvPr id="13" name="">
            <a:extLst xmlns:a="http://schemas.openxmlformats.org/drawingml/2006/main">
              <a:ext uri="{FF2B5EF4-FFF2-40B4-BE49-F238E27FC236}">
                <a16:creationId xmlns:a16="http://schemas.microsoft.com/office/drawing/2014/main" id="{590F2E2D-1849-4F6C-90AD-92636629AC3F}"/>
              </a:ext>
            </a:extLst>
          </p:cNvPr>
          <p:cNvSpPr>
            <a:spLocks xmlns:a="http://schemas.openxmlformats.org/drawingml/2006/main" noGrp="1"/>
          </p:cNvSpPr>
          <p:nvPr/>
        </p:nvSpPr>
        <p:spPr>
          <a:xfrm xmlns:a="http://schemas.openxmlformats.org/drawingml/2006/main">
            <a:off x="685800" y="3714750"/>
            <a:ext cx="876300" cy="30480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14" name="">
            <a:extLst xmlns:a="http://schemas.openxmlformats.org/drawingml/2006/main">
              <a:ext uri="{FF2B5EF4-FFF2-40B4-BE49-F238E27FC236}">
                <a16:creationId xmlns:a16="http://schemas.microsoft.com/office/drawing/2014/main" id="{2B0F37CC-A47B-46C4-890C-41815E734FDC}"/>
              </a:ext>
            </a:extLst>
          </p:cNvPr>
          <p:cNvSpPr>
            <a:spLocks xmlns:a="http://schemas.openxmlformats.org/drawingml/2006/main" noGrp="1"/>
          </p:cNvSpPr>
          <p:nvPr/>
        </p:nvSpPr>
        <p:spPr>
          <a:xfrm xmlns:a="http://schemas.openxmlformats.org/drawingml/2006/main">
            <a:off x="742950" y="37719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4866D"/>
                </a:solidFill>
              </a:defRPr>
            </a:pPr>
            <a:r>
              <a:rPr sz="1050" b="1">
                <a:solidFill>
                  <a:srgbClr val="14866D"/>
                </a:solidFill>
              </a:rPr>
              <a:t>PASS</a:t>
            </a:r>
          </a:p>
        </p:txBody>
      </p:sp>
      <p:sp>
        <p:nvSpPr>
          <p:cNvPr id="15" name="">
            <a:extLst xmlns:a="http://schemas.openxmlformats.org/drawingml/2006/main">
              <a:ext uri="{FF2B5EF4-FFF2-40B4-BE49-F238E27FC236}">
                <a16:creationId xmlns:a16="http://schemas.microsoft.com/office/drawing/2014/main" id="{55664752-02F0-4978-B9E5-F37C199038E8}"/>
              </a:ext>
            </a:extLst>
          </p:cNvPr>
          <p:cNvSpPr>
            <a:spLocks xmlns:a="http://schemas.openxmlformats.org/drawingml/2006/main" noGrp="1"/>
          </p:cNvSpPr>
          <p:nvPr/>
        </p:nvSpPr>
        <p:spPr>
          <a:xfrm xmlns:a="http://schemas.openxmlformats.org/drawingml/2006/main">
            <a:off x="1771650" y="37528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Positive mean</a:t>
            </a:r>
          </a:p>
        </p:txBody>
      </p:sp>
      <p:sp>
        <p:nvSpPr>
          <p:cNvPr id="16" name="">
            <a:extLst xmlns:a="http://schemas.openxmlformats.org/drawingml/2006/main">
              <a:ext uri="{FF2B5EF4-FFF2-40B4-BE49-F238E27FC236}">
                <a16:creationId xmlns:a16="http://schemas.microsoft.com/office/drawing/2014/main" id="{B415DDB3-AC4B-4945-B2F8-099AABC25E17}"/>
              </a:ext>
            </a:extLst>
          </p:cNvPr>
          <p:cNvSpPr>
            <a:spLocks xmlns:a="http://schemas.openxmlformats.org/drawingml/2006/main" noGrp="1"/>
          </p:cNvSpPr>
          <p:nvPr/>
        </p:nvSpPr>
        <p:spPr>
          <a:xfrm xmlns:a="http://schemas.openxmlformats.org/drawingml/2006/main">
            <a:off x="4095750" y="37623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+0.204% net</a:t>
            </a:r>
          </a:p>
        </p:txBody>
      </p:sp>
      <p:sp>
        <p:nvSpPr>
          <p:cNvPr id="17" name="">
            <a:extLst xmlns:a="http://schemas.openxmlformats.org/drawingml/2006/main">
              <a:ext uri="{FF2B5EF4-FFF2-40B4-BE49-F238E27FC236}">
                <a16:creationId xmlns:a16="http://schemas.microsoft.com/office/drawing/2014/main" id="{B2E55DF6-F8AB-452C-8257-86D6BFB6E981}"/>
              </a:ext>
            </a:extLst>
          </p:cNvPr>
          <p:cNvSpPr>
            <a:spLocks xmlns:a="http://schemas.openxmlformats.org/drawingml/2006/main" noGrp="1"/>
          </p:cNvSpPr>
          <p:nvPr/>
        </p:nvSpPr>
        <p:spPr>
          <a:xfrm xmlns:a="http://schemas.openxmlformats.org/drawingml/2006/main">
            <a:off x="685800" y="4171950"/>
            <a:ext cx="876300" cy="30480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18" name="">
            <a:extLst xmlns:a="http://schemas.openxmlformats.org/drawingml/2006/main">
              <a:ext uri="{FF2B5EF4-FFF2-40B4-BE49-F238E27FC236}">
                <a16:creationId xmlns:a16="http://schemas.microsoft.com/office/drawing/2014/main" id="{5C63A465-E9CB-4E1F-85A9-2E92A2B42A25}"/>
              </a:ext>
            </a:extLst>
          </p:cNvPr>
          <p:cNvSpPr>
            <a:spLocks xmlns:a="http://schemas.openxmlformats.org/drawingml/2006/main" noGrp="1"/>
          </p:cNvSpPr>
          <p:nvPr/>
        </p:nvSpPr>
        <p:spPr>
          <a:xfrm xmlns:a="http://schemas.openxmlformats.org/drawingml/2006/main">
            <a:off x="742950" y="42291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4866D"/>
                </a:solidFill>
              </a:defRPr>
            </a:pPr>
            <a:r>
              <a:rPr sz="1050" b="1">
                <a:solidFill>
                  <a:srgbClr val="14866D"/>
                </a:solidFill>
              </a:rPr>
              <a:t>PASS</a:t>
            </a:r>
          </a:p>
        </p:txBody>
      </p:sp>
      <p:sp>
        <p:nvSpPr>
          <p:cNvPr id="19" name="">
            <a:extLst xmlns:a="http://schemas.openxmlformats.org/drawingml/2006/main">
              <a:ext uri="{FF2B5EF4-FFF2-40B4-BE49-F238E27FC236}">
                <a16:creationId xmlns:a16="http://schemas.microsoft.com/office/drawing/2014/main" id="{D7AFB6A8-AB05-4DC7-88D8-893A7254CE3D}"/>
              </a:ext>
            </a:extLst>
          </p:cNvPr>
          <p:cNvSpPr>
            <a:spLocks xmlns:a="http://schemas.openxmlformats.org/drawingml/2006/main" noGrp="1"/>
          </p:cNvSpPr>
          <p:nvPr/>
        </p:nvSpPr>
        <p:spPr>
          <a:xfrm xmlns:a="http://schemas.openxmlformats.org/drawingml/2006/main">
            <a:off x="1771650" y="42100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Typical trade</a:t>
            </a:r>
          </a:p>
        </p:txBody>
      </p:sp>
      <p:sp>
        <p:nvSpPr>
          <p:cNvPr id="20" name="">
            <a:extLst xmlns:a="http://schemas.openxmlformats.org/drawingml/2006/main">
              <a:ext uri="{FF2B5EF4-FFF2-40B4-BE49-F238E27FC236}">
                <a16:creationId xmlns:a16="http://schemas.microsoft.com/office/drawing/2014/main" id="{D73B5353-EAF5-4340-B18E-5E18814167F5}"/>
              </a:ext>
            </a:extLst>
          </p:cNvPr>
          <p:cNvSpPr>
            <a:spLocks xmlns:a="http://schemas.openxmlformats.org/drawingml/2006/main" noGrp="1"/>
          </p:cNvSpPr>
          <p:nvPr/>
        </p:nvSpPr>
        <p:spPr>
          <a:xfrm xmlns:a="http://schemas.openxmlformats.org/drawingml/2006/main">
            <a:off x="4095750" y="42195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+0.430% median; 59.9% up</a:t>
            </a:r>
          </a:p>
        </p:txBody>
      </p:sp>
      <p:sp>
        <p:nvSpPr>
          <p:cNvPr id="21" name="">
            <a:extLst xmlns:a="http://schemas.openxmlformats.org/drawingml/2006/main">
              <a:ext uri="{FF2B5EF4-FFF2-40B4-BE49-F238E27FC236}">
                <a16:creationId xmlns:a16="http://schemas.microsoft.com/office/drawing/2014/main" id="{8D7F5337-4DD5-441E-8287-96F2DB8EC923}"/>
              </a:ext>
            </a:extLst>
          </p:cNvPr>
          <p:cNvSpPr>
            <a:spLocks xmlns:a="http://schemas.openxmlformats.org/drawingml/2006/main" noGrp="1"/>
          </p:cNvSpPr>
          <p:nvPr/>
        </p:nvSpPr>
        <p:spPr>
          <a:xfrm xmlns:a="http://schemas.openxmlformats.org/drawingml/2006/main">
            <a:off x="685800" y="4629150"/>
            <a:ext cx="876300" cy="30480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22" name="">
            <a:extLst xmlns:a="http://schemas.openxmlformats.org/drawingml/2006/main">
              <a:ext uri="{FF2B5EF4-FFF2-40B4-BE49-F238E27FC236}">
                <a16:creationId xmlns:a16="http://schemas.microsoft.com/office/drawing/2014/main" id="{10FA7583-30E6-4DBA-801C-0DBC7AED4CAF}"/>
              </a:ext>
            </a:extLst>
          </p:cNvPr>
          <p:cNvSpPr>
            <a:spLocks xmlns:a="http://schemas.openxmlformats.org/drawingml/2006/main" noGrp="1"/>
          </p:cNvSpPr>
          <p:nvPr/>
        </p:nvSpPr>
        <p:spPr>
          <a:xfrm xmlns:a="http://schemas.openxmlformats.org/drawingml/2006/main">
            <a:off x="742950" y="46863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4866D"/>
                </a:solidFill>
              </a:defRPr>
            </a:pPr>
            <a:r>
              <a:rPr sz="1050" b="1">
                <a:solidFill>
                  <a:srgbClr val="14866D"/>
                </a:solidFill>
              </a:rPr>
              <a:t>PASS</a:t>
            </a:r>
          </a:p>
        </p:txBody>
      </p:sp>
      <p:sp>
        <p:nvSpPr>
          <p:cNvPr id="23" name="">
            <a:extLst xmlns:a="http://schemas.openxmlformats.org/drawingml/2006/main">
              <a:ext uri="{FF2B5EF4-FFF2-40B4-BE49-F238E27FC236}">
                <a16:creationId xmlns:a16="http://schemas.microsoft.com/office/drawing/2014/main" id="{C97071AB-7896-47E9-9759-F526AFDA1572}"/>
              </a:ext>
            </a:extLst>
          </p:cNvPr>
          <p:cNvSpPr>
            <a:spLocks xmlns:a="http://schemas.openxmlformats.org/drawingml/2006/main" noGrp="1"/>
          </p:cNvSpPr>
          <p:nvPr/>
        </p:nvSpPr>
        <p:spPr>
          <a:xfrm xmlns:a="http://schemas.openxmlformats.org/drawingml/2006/main">
            <a:off x="1771650" y="46672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Beat controls</a:t>
            </a:r>
          </a:p>
        </p:txBody>
      </p:sp>
      <p:sp>
        <p:nvSpPr>
          <p:cNvPr id="24" name="">
            <a:extLst xmlns:a="http://schemas.openxmlformats.org/drawingml/2006/main">
              <a:ext uri="{FF2B5EF4-FFF2-40B4-BE49-F238E27FC236}">
                <a16:creationId xmlns:a16="http://schemas.microsoft.com/office/drawing/2014/main" id="{57771A63-43CF-4FF7-85D6-24F0B86A53D2}"/>
              </a:ext>
            </a:extLst>
          </p:cNvPr>
          <p:cNvSpPr>
            <a:spLocks xmlns:a="http://schemas.openxmlformats.org/drawingml/2006/main" noGrp="1"/>
          </p:cNvSpPr>
          <p:nvPr/>
        </p:nvSpPr>
        <p:spPr>
          <a:xfrm xmlns:a="http://schemas.openxmlformats.org/drawingml/2006/main">
            <a:off x="4095750" y="46767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strongest control +0.062%</a:t>
            </a:r>
          </a:p>
        </p:txBody>
      </p:sp>
      <p:sp>
        <p:nvSpPr>
          <p:cNvPr id="25" name="">
            <a:extLst xmlns:a="http://schemas.openxmlformats.org/drawingml/2006/main">
              <a:ext uri="{FF2B5EF4-FFF2-40B4-BE49-F238E27FC236}">
                <a16:creationId xmlns:a16="http://schemas.microsoft.com/office/drawing/2014/main" id="{4E615F35-D25A-4356-9D9C-48E7F43B144B}"/>
              </a:ext>
            </a:extLst>
          </p:cNvPr>
          <p:cNvSpPr>
            <a:spLocks xmlns:a="http://schemas.openxmlformats.org/drawingml/2006/main" noGrp="1"/>
          </p:cNvSpPr>
          <p:nvPr/>
        </p:nvSpPr>
        <p:spPr>
          <a:xfrm xmlns:a="http://schemas.openxmlformats.org/drawingml/2006/main">
            <a:off x="685800" y="5086350"/>
            <a:ext cx="876300" cy="3048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26" name="">
            <a:extLst xmlns:a="http://schemas.openxmlformats.org/drawingml/2006/main">
              <a:ext uri="{FF2B5EF4-FFF2-40B4-BE49-F238E27FC236}">
                <a16:creationId xmlns:a16="http://schemas.microsoft.com/office/drawing/2014/main" id="{AAA1A362-AD35-4C41-B049-94163861AE1D}"/>
              </a:ext>
            </a:extLst>
          </p:cNvPr>
          <p:cNvSpPr>
            <a:spLocks xmlns:a="http://schemas.openxmlformats.org/drawingml/2006/main" noGrp="1"/>
          </p:cNvSpPr>
          <p:nvPr/>
        </p:nvSpPr>
        <p:spPr>
          <a:xfrm xmlns:a="http://schemas.openxmlformats.org/drawingml/2006/main">
            <a:off x="742950" y="51435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B44738"/>
                </a:solidFill>
              </a:defRPr>
            </a:pPr>
            <a:r>
              <a:rPr sz="1050" b="1">
                <a:solidFill>
                  <a:srgbClr val="B44738"/>
                </a:solidFill>
              </a:rPr>
              <a:t>FAIL</a:t>
            </a:r>
          </a:p>
        </p:txBody>
      </p:sp>
      <p:sp>
        <p:nvSpPr>
          <p:cNvPr id="27" name="">
            <a:extLst xmlns:a="http://schemas.openxmlformats.org/drawingml/2006/main">
              <a:ext uri="{FF2B5EF4-FFF2-40B4-BE49-F238E27FC236}">
                <a16:creationId xmlns:a16="http://schemas.microsoft.com/office/drawing/2014/main" id="{77561CC9-908A-49D4-9EE1-162EC6F5A81F}"/>
              </a:ext>
            </a:extLst>
          </p:cNvPr>
          <p:cNvSpPr>
            <a:spLocks xmlns:a="http://schemas.openxmlformats.org/drawingml/2006/main" noGrp="1"/>
          </p:cNvSpPr>
          <p:nvPr/>
        </p:nvSpPr>
        <p:spPr>
          <a:xfrm xmlns:a="http://schemas.openxmlformats.org/drawingml/2006/main">
            <a:off x="1771650" y="51244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Calendar breadth</a:t>
            </a:r>
          </a:p>
        </p:txBody>
      </p:sp>
      <p:sp>
        <p:nvSpPr>
          <p:cNvPr id="28" name="">
            <a:extLst xmlns:a="http://schemas.openxmlformats.org/drawingml/2006/main">
              <a:ext uri="{FF2B5EF4-FFF2-40B4-BE49-F238E27FC236}">
                <a16:creationId xmlns:a16="http://schemas.microsoft.com/office/drawing/2014/main" id="{D3B143A1-1402-4A48-8426-EA5D9B52A084}"/>
              </a:ext>
            </a:extLst>
          </p:cNvPr>
          <p:cNvSpPr>
            <a:spLocks xmlns:a="http://schemas.openxmlformats.org/drawingml/2006/main" noGrp="1"/>
          </p:cNvSpPr>
          <p:nvPr/>
        </p:nvSpPr>
        <p:spPr>
          <a:xfrm xmlns:a="http://schemas.openxmlformats.org/drawingml/2006/main">
            <a:off x="4095750" y="51339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2 positive years; required 3</a:t>
            </a:r>
          </a:p>
        </p:txBody>
      </p:sp>
      <p:sp>
        <p:nvSpPr>
          <p:cNvPr id="29" name="">
            <a:extLst xmlns:a="http://schemas.openxmlformats.org/drawingml/2006/main">
              <a:ext uri="{FF2B5EF4-FFF2-40B4-BE49-F238E27FC236}">
                <a16:creationId xmlns:a16="http://schemas.microsoft.com/office/drawing/2014/main" id="{2F5CDFD6-D304-45B6-9C30-3831776E30E4}"/>
              </a:ext>
            </a:extLst>
          </p:cNvPr>
          <p:cNvSpPr>
            <a:spLocks xmlns:a="http://schemas.openxmlformats.org/drawingml/2006/main" noGrp="1"/>
          </p:cNvSpPr>
          <p:nvPr/>
        </p:nvSpPr>
        <p:spPr>
          <a:xfrm xmlns:a="http://schemas.openxmlformats.org/drawingml/2006/main">
            <a:off x="7162800" y="2781300"/>
            <a:ext cx="4476750" cy="31813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30" name="">
            <a:extLst xmlns:a="http://schemas.openxmlformats.org/drawingml/2006/main">
              <a:ext uri="{FF2B5EF4-FFF2-40B4-BE49-F238E27FC236}">
                <a16:creationId xmlns:a16="http://schemas.microsoft.com/office/drawing/2014/main" id="{793552B9-D835-434F-9951-17FE0E1AD443}"/>
              </a:ext>
            </a:extLst>
          </p:cNvPr>
          <p:cNvSpPr>
            <a:spLocks xmlns:a="http://schemas.openxmlformats.org/drawingml/2006/main" noGrp="1"/>
          </p:cNvSpPr>
          <p:nvPr/>
        </p:nvSpPr>
        <p:spPr>
          <a:xfrm xmlns:a="http://schemas.openxmlformats.org/drawingml/2006/main">
            <a:off x="7429500" y="3048000"/>
            <a:ext cx="3943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What survives the STOP</a:t>
            </a:r>
          </a:p>
        </p:txBody>
      </p:sp>
      <p:sp>
        <p:nvSpPr>
          <p:cNvPr id="31" name="">
            <a:extLst xmlns:a="http://schemas.openxmlformats.org/drawingml/2006/main">
              <a:ext uri="{FF2B5EF4-FFF2-40B4-BE49-F238E27FC236}">
                <a16:creationId xmlns:a16="http://schemas.microsoft.com/office/drawing/2014/main" id="{0C7D585D-2602-4714-99A3-8C72A4170FE2}"/>
              </a:ext>
            </a:extLst>
          </p:cNvPr>
          <p:cNvSpPr>
            <a:spLocks xmlns:a="http://schemas.openxmlformats.org/drawingml/2006/main" noGrp="1"/>
          </p:cNvSpPr>
          <p:nvPr/>
        </p:nvSpPr>
        <p:spPr>
          <a:xfrm xmlns:a="http://schemas.openxmlformats.org/drawingml/2006/main">
            <a:off x="7448550" y="372427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32" name="">
            <a:extLst xmlns:a="http://schemas.openxmlformats.org/drawingml/2006/main">
              <a:ext uri="{FF2B5EF4-FFF2-40B4-BE49-F238E27FC236}">
                <a16:creationId xmlns:a16="http://schemas.microsoft.com/office/drawing/2014/main" id="{A0C4784D-0BC9-4E37-BE9D-55B14421DA64}"/>
              </a:ext>
            </a:extLst>
          </p:cNvPr>
          <p:cNvSpPr>
            <a:spLocks xmlns:a="http://schemas.openxmlformats.org/drawingml/2006/main" noGrp="1"/>
          </p:cNvSpPr>
          <p:nvPr/>
        </p:nvSpPr>
        <p:spPr>
          <a:xfrm xmlns:a="http://schemas.openxmlformats.org/drawingml/2006/main">
            <a:off x="7677150" y="3638550"/>
            <a:ext cx="3638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A strong opening behaves differently after calm versus HIGH-ATR prior days.</a:t>
            </a:r>
          </a:p>
        </p:txBody>
      </p:sp>
      <p:sp>
        <p:nvSpPr>
          <p:cNvPr id="33" name="">
            <a:extLst xmlns:a="http://schemas.openxmlformats.org/drawingml/2006/main">
              <a:ext uri="{FF2B5EF4-FFF2-40B4-BE49-F238E27FC236}">
                <a16:creationId xmlns:a16="http://schemas.microsoft.com/office/drawing/2014/main" id="{BA45EAFF-F17B-40AC-9436-E1002CC7C033}"/>
              </a:ext>
            </a:extLst>
          </p:cNvPr>
          <p:cNvSpPr>
            <a:spLocks xmlns:a="http://schemas.openxmlformats.org/drawingml/2006/main" noGrp="1"/>
          </p:cNvSpPr>
          <p:nvPr/>
        </p:nvSpPr>
        <p:spPr>
          <a:xfrm xmlns:a="http://schemas.openxmlformats.org/drawingml/2006/main">
            <a:off x="7448550" y="454342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4" name="">
            <a:extLst xmlns:a="http://schemas.openxmlformats.org/drawingml/2006/main">
              <a:ext uri="{FF2B5EF4-FFF2-40B4-BE49-F238E27FC236}">
                <a16:creationId xmlns:a16="http://schemas.microsoft.com/office/drawing/2014/main" id="{C698F48E-9CDD-4212-B62E-DFBB95D03EB5}"/>
              </a:ext>
            </a:extLst>
          </p:cNvPr>
          <p:cNvSpPr>
            <a:spLocks xmlns:a="http://schemas.openxmlformats.org/drawingml/2006/main" noGrp="1"/>
          </p:cNvSpPr>
          <p:nvPr/>
        </p:nvSpPr>
        <p:spPr>
          <a:xfrm xmlns:a="http://schemas.openxmlformats.org/drawingml/2006/main">
            <a:off x="7677150" y="4457700"/>
            <a:ext cx="3638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The joint filter beats both ingredients, the opposite state, and drift inside TRAIN.</a:t>
            </a:r>
          </a:p>
        </p:txBody>
      </p:sp>
      <p:sp>
        <p:nvSpPr>
          <p:cNvPr id="35" name="">
            <a:extLst xmlns:a="http://schemas.openxmlformats.org/drawingml/2006/main">
              <a:ext uri="{FF2B5EF4-FFF2-40B4-BE49-F238E27FC236}">
                <a16:creationId xmlns:a16="http://schemas.microsoft.com/office/drawing/2014/main" id="{F88B6018-01AE-4F50-89D6-D019E4D78E46}"/>
              </a:ext>
            </a:extLst>
          </p:cNvPr>
          <p:cNvSpPr>
            <a:spLocks xmlns:a="http://schemas.openxmlformats.org/drawingml/2006/main" noGrp="1"/>
          </p:cNvSpPr>
          <p:nvPr/>
        </p:nvSpPr>
        <p:spPr>
          <a:xfrm xmlns:a="http://schemas.openxmlformats.org/drawingml/2006/main">
            <a:off x="7429500" y="5314950"/>
            <a:ext cx="3943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B44738"/>
                </a:solidFill>
              </a:defRPr>
            </a:pPr>
            <a:r>
              <a:rPr sz="1275" b="1">
                <a:solidFill>
                  <a:srgbClr val="B44738"/>
                </a:solidFill>
              </a:rPr>
              <a:t>The exact rule cannot advance because its gains are concentrated in 2023. No threshold, state, clock, or cost rescue is allowed from this packet.</a:t>
            </a:r>
          </a:p>
        </p:txBody>
      </p:sp>
    </p:spTree>
    <p:extLst>
      <p:ext uri="{BB962C8B-B14F-4D97-AF65-F5344CB8AC3E}">
        <p14:creationId xmlns:p14="http://schemas.microsoft.com/office/powerpoint/2010/main" val="2095396298"/>
      </p:ext>
    </p:extLst>
  </p:cSld>
</p:sld>
</file>

<file path=ppt/slides/slide42.xml><?xml version="1.0" encoding="utf-8"?>
<p:sld xmlns:p="http://schemas.openxmlformats.org/presentationml/2006/main">
  <p:cSld>
    <p:bg>
      <p:bgPr>
        <a:solidFill xmlns:a="http://schemas.openxmlformats.org/drawingml/2006/main">
          <a:srgbClr val="24364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FC9368-F5E7-46B7-9810-E15EE3023279}"/>
              </a:ext>
            </a:extLst>
          </p:cNvPr>
          <p:cNvSpPr>
            <a:spLocks xmlns:a="http://schemas.openxmlformats.org/drawingml/2006/main" noGrp="1"/>
          </p:cNvSpPr>
          <p:nvPr/>
        </p:nvSpPr>
        <p:spPr>
          <a:xfrm xmlns:a="http://schemas.openxmlformats.org/drawingml/2006/main">
            <a:off x="685800" y="8953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D0EDFA"/>
                </a:solidFill>
              </a:defRPr>
            </a:pPr>
            <a:r>
              <a:rPr sz="1275" b="1">
                <a:solidFill>
                  <a:srgbClr val="D0EDFA"/>
                </a:solidFill>
              </a:rPr>
              <a:t>SEVENTH MICROSCOPE</a:t>
            </a:r>
          </a:p>
        </p:txBody>
      </p:sp>
      <p:sp>
        <p:nvSpPr>
          <p:cNvPr id="2" name="">
            <a:extLst xmlns:a="http://schemas.openxmlformats.org/drawingml/2006/main">
              <a:ext uri="{FF2B5EF4-FFF2-40B4-BE49-F238E27FC236}">
                <a16:creationId xmlns:a16="http://schemas.microsoft.com/office/drawing/2014/main" id="{346A4AAF-667C-48A7-9BD0-C5A38C97E990}"/>
              </a:ext>
            </a:extLst>
          </p:cNvPr>
          <p:cNvSpPr>
            <a:spLocks xmlns:a="http://schemas.openxmlformats.org/drawingml/2006/main" noGrp="1"/>
          </p:cNvSpPr>
          <p:nvPr/>
        </p:nvSpPr>
        <p:spPr>
          <a:xfrm xmlns:a="http://schemas.openxmlformats.org/drawingml/2006/main">
            <a:off x="685800" y="1619250"/>
            <a:ext cx="9334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FFFFFF"/>
                </a:solidFill>
              </a:defRPr>
            </a:pPr>
            <a:r>
              <a:rPr sz="4800" b="1">
                <a:solidFill>
                  <a:srgbClr val="FFFFFF"/>
                </a:solidFill>
              </a:rPr>
              <a:t>Does the mechanism</a:t>
            </a:r>
          </a:p>
          <a:p xmlns:a="http://schemas.openxmlformats.org/drawingml/2006/main">
            <a:pPr algn="l">
              <a:defRPr sz="4800" b="1">
                <a:solidFill>
                  <a:srgbClr val="FFFFFF"/>
                </a:solidFill>
              </a:defRPr>
            </a:pPr>
            <a:r>
              <a:rPr sz="4800" b="1">
                <a:solidFill>
                  <a:srgbClr val="FFFFFF"/>
                </a:solidFill>
              </a:rPr>
              <a:t>travel?</a:t>
            </a:r>
          </a:p>
        </p:txBody>
      </p:sp>
      <p:sp>
        <p:nvSpPr>
          <p:cNvPr id="3" name="">
            <a:extLst xmlns:a="http://schemas.openxmlformats.org/drawingml/2006/main">
              <a:ext uri="{FF2B5EF4-FFF2-40B4-BE49-F238E27FC236}">
                <a16:creationId xmlns:a16="http://schemas.microsoft.com/office/drawing/2014/main" id="{910B429F-0C12-4D8C-9645-6223AD654DFA}"/>
              </a:ext>
            </a:extLst>
          </p:cNvPr>
          <p:cNvSpPr>
            <a:spLocks xmlns:a="http://schemas.openxmlformats.org/drawingml/2006/main" noGrp="1"/>
          </p:cNvSpPr>
          <p:nvPr/>
        </p:nvSpPr>
        <p:spPr>
          <a:xfrm xmlns:a="http://schemas.openxmlformats.org/drawingml/2006/main">
            <a:off x="723900" y="3886200"/>
            <a:ext cx="10287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a:solidFill>
                  <a:srgbClr val="D0EDFA"/>
                </a:solidFill>
              </a:defRPr>
            </a:pPr>
            <a:r>
              <a:rPr sz="2025" b="0">
                <a:solidFill>
                  <a:srgbClr val="D0EDFA"/>
                </a:solidFill>
              </a:rPr>
              <a:t>Repeat the same causal opening-tail / prior-day ATR contrast across a pre-existing 26-asset atlas and three eras. This is a mechanism-replication test, not a strategy backtest and not a search for favorable symbols.</a:t>
            </a:r>
          </a:p>
        </p:txBody>
      </p:sp>
      <p:sp>
        <p:nvSpPr>
          <p:cNvPr id="4" name="">
            <a:extLst xmlns:a="http://schemas.openxmlformats.org/drawingml/2006/main">
              <a:ext uri="{FF2B5EF4-FFF2-40B4-BE49-F238E27FC236}">
                <a16:creationId xmlns:a16="http://schemas.microsoft.com/office/drawing/2014/main" id="{66A212A6-68F9-4DC0-AA22-F32FDC2B192C}"/>
              </a:ext>
            </a:extLst>
          </p:cNvPr>
          <p:cNvSpPr>
            <a:spLocks xmlns:a="http://schemas.openxmlformats.org/drawingml/2006/main" noGrp="1"/>
          </p:cNvSpPr>
          <p:nvPr/>
        </p:nvSpPr>
        <p:spPr>
          <a:xfrm xmlns:a="http://schemas.openxmlformats.org/drawingml/2006/main">
            <a:off x="723900" y="5734050"/>
            <a:ext cx="990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defRPr>
            </a:pPr>
            <a:r>
              <a:rPr sz="1500" b="1">
                <a:solidFill>
                  <a:srgbClr val="FFFFFF"/>
                </a:solidFill>
              </a:rPr>
              <a:t>NVDA excluded · its 2024+ intraday confirmation window remains unread</a:t>
            </a:r>
          </a:p>
        </p:txBody>
      </p:sp>
      <p:sp>
        <p:nvSpPr>
          <p:cNvPr id="5" name="">
            <a:extLst xmlns:a="http://schemas.openxmlformats.org/drawingml/2006/main">
              <a:ext uri="{FF2B5EF4-FFF2-40B4-BE49-F238E27FC236}">
                <a16:creationId xmlns:a16="http://schemas.microsoft.com/office/drawing/2014/main" id="{4D83105F-D368-4650-BC36-4F7136F474AF}"/>
              </a:ext>
            </a:extLst>
          </p:cNvPr>
          <p:cNvSpPr>
            <a:spLocks xmlns:a="http://schemas.openxmlformats.org/drawingml/2006/main" noGrp="1"/>
          </p:cNvSpPr>
          <p:nvPr/>
        </p:nvSpPr>
        <p:spPr>
          <a:xfrm xmlns:a="http://schemas.openxmlformats.org/drawingml/2006/main">
            <a:off x="10801350" y="64008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D0EDFA"/>
                </a:solidFill>
              </a:defRPr>
            </a:pPr>
            <a:r>
              <a:rPr sz="900" b="0">
                <a:solidFill>
                  <a:srgbClr val="D0EDFA"/>
                </a:solidFill>
              </a:rPr>
              <a:t>42</a:t>
            </a:r>
          </a:p>
        </p:txBody>
      </p:sp>
    </p:spTree>
    <p:extLst>
      <p:ext uri="{BB962C8B-B14F-4D97-AF65-F5344CB8AC3E}">
        <p14:creationId xmlns:p14="http://schemas.microsoft.com/office/powerpoint/2010/main" val="37092284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52F5C6D-B80A-4ED4-B158-884A0C57672F}"/>
              </a:ext>
            </a:extLst>
          </p:cNvPr>
          <p:cNvSpPr>
            <a:spLocks xmlns:a="http://schemas.openxmlformats.org/drawingml/2006/main" noGrp="1"/>
          </p:cNvSpPr>
          <p:nvPr/>
        </p:nvSpPr>
        <p:spPr>
          <a:xfrm xmlns:a="http://schemas.openxmlformats.org/drawingml/2006/main">
            <a:off x="457200" y="238125"/>
            <a:ext cx="800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CROSS-ASSET OPENING MECHANISM</a:t>
            </a:r>
          </a:p>
        </p:txBody>
      </p:sp>
      <p:sp>
        <p:nvSpPr>
          <p:cNvPr id="2" name="">
            <a:extLst xmlns:a="http://schemas.openxmlformats.org/drawingml/2006/main">
              <a:ext uri="{FF2B5EF4-FFF2-40B4-BE49-F238E27FC236}">
                <a16:creationId xmlns:a16="http://schemas.microsoft.com/office/drawing/2014/main" id="{A5A17626-A6A8-45F1-BE06-E63D67A0E920}"/>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Breadth is tested without changing the original mechanism</a:t>
            </a:r>
          </a:p>
        </p:txBody>
      </p:sp>
      <p:sp>
        <p:nvSpPr>
          <p:cNvPr id="3" name="">
            <a:extLst xmlns:a="http://schemas.openxmlformats.org/drawingml/2006/main">
              <a:ext uri="{FF2B5EF4-FFF2-40B4-BE49-F238E27FC236}">
                <a16:creationId xmlns:a16="http://schemas.microsoft.com/office/drawing/2014/main" id="{EBD9B29F-6A5E-4A45-B409-7D8ADA915E8F}"/>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6230FCDF-3CEA-4B5F-8114-357337A0DFD2}"/>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Mechanism replication · 26 non-NVDA assets · causal outcomes through 2025</a:t>
            </a:r>
          </a:p>
        </p:txBody>
      </p:sp>
      <p:sp>
        <p:nvSpPr>
          <p:cNvPr id="5" name="">
            <a:extLst xmlns:a="http://schemas.openxmlformats.org/drawingml/2006/main">
              <a:ext uri="{FF2B5EF4-FFF2-40B4-BE49-F238E27FC236}">
                <a16:creationId xmlns:a16="http://schemas.microsoft.com/office/drawing/2014/main" id="{C982B091-2DAD-45B4-B569-1160E6086E43}"/>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43</a:t>
            </a:r>
          </a:p>
        </p:txBody>
      </p:sp>
      <p:sp>
        <p:nvSpPr>
          <p:cNvPr id="6" name="">
            <a:extLst xmlns:a="http://schemas.openxmlformats.org/drawingml/2006/main">
              <a:ext uri="{FF2B5EF4-FFF2-40B4-BE49-F238E27FC236}">
                <a16:creationId xmlns:a16="http://schemas.microsoft.com/office/drawing/2014/main" id="{C3126EB6-9006-4963-9A79-2B04ABCCDCBD}"/>
              </a:ext>
            </a:extLst>
          </p:cNvPr>
          <p:cNvSpPr>
            <a:spLocks xmlns:a="http://schemas.openxmlformats.org/drawingml/2006/main" noGrp="1"/>
          </p:cNvSpPr>
          <p:nvPr/>
        </p:nvSpPr>
        <p:spPr>
          <a:xfrm xmlns:a="http://schemas.openxmlformats.org/drawingml/2006/main">
            <a:off x="552450" y="1562100"/>
            <a:ext cx="5181600" cy="417195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7" name="">
            <a:extLst xmlns:a="http://schemas.openxmlformats.org/drawingml/2006/main">
              <a:ext uri="{FF2B5EF4-FFF2-40B4-BE49-F238E27FC236}">
                <a16:creationId xmlns:a16="http://schemas.microsoft.com/office/drawing/2014/main" id="{854E4010-06E2-4672-A561-0FD251022E52}"/>
              </a:ext>
            </a:extLst>
          </p:cNvPr>
          <p:cNvSpPr>
            <a:spLocks xmlns:a="http://schemas.openxmlformats.org/drawingml/2006/main" noGrp="1"/>
          </p:cNvSpPr>
          <p:nvPr/>
        </p:nvSpPr>
        <p:spPr>
          <a:xfrm xmlns:a="http://schemas.openxmlformats.org/drawingml/2006/main">
            <a:off x="838200" y="18478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24364B"/>
                </a:solidFill>
              </a:defRPr>
            </a:pPr>
            <a:r>
              <a:rPr sz="2100" b="1">
                <a:solidFill>
                  <a:srgbClr val="24364B"/>
                </a:solidFill>
              </a:rPr>
              <a:t>Frozen causal question</a:t>
            </a:r>
          </a:p>
        </p:txBody>
      </p:sp>
      <p:sp>
        <p:nvSpPr>
          <p:cNvPr id="8" name="">
            <a:extLst xmlns:a="http://schemas.openxmlformats.org/drawingml/2006/main">
              <a:ext uri="{FF2B5EF4-FFF2-40B4-BE49-F238E27FC236}">
                <a16:creationId xmlns:a16="http://schemas.microsoft.com/office/drawing/2014/main" id="{A54410E7-87CC-488E-9E70-C1D17D91D3E0}"/>
              </a:ext>
            </a:extLst>
          </p:cNvPr>
          <p:cNvSpPr>
            <a:spLocks xmlns:a="http://schemas.openxmlformats.org/drawingml/2006/main" noGrp="1"/>
          </p:cNvSpPr>
          <p:nvPr/>
        </p:nvSpPr>
        <p:spPr>
          <a:xfrm xmlns:a="http://schemas.openxmlformats.org/drawingml/2006/main">
            <a:off x="857250" y="24574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67386"/>
                </a:solidFill>
              </a:defRPr>
            </a:pPr>
            <a:r>
              <a:rPr sz="1275" b="1">
                <a:solidFill>
                  <a:srgbClr val="667386"/>
                </a:solidFill>
              </a:rPr>
              <a:t>At 10:00</a:t>
            </a:r>
          </a:p>
        </p:txBody>
      </p:sp>
      <p:sp>
        <p:nvSpPr>
          <p:cNvPr id="9" name="">
            <a:extLst xmlns:a="http://schemas.openxmlformats.org/drawingml/2006/main">
              <a:ext uri="{FF2B5EF4-FFF2-40B4-BE49-F238E27FC236}">
                <a16:creationId xmlns:a16="http://schemas.microsoft.com/office/drawing/2014/main" id="{95BA6CE6-DB5C-42BB-8508-26852C79BFA3}"/>
              </a:ext>
            </a:extLst>
          </p:cNvPr>
          <p:cNvSpPr>
            <a:spLocks xmlns:a="http://schemas.openxmlformats.org/drawingml/2006/main" noGrp="1"/>
          </p:cNvSpPr>
          <p:nvPr/>
        </p:nvSpPr>
        <p:spPr>
          <a:xfrm xmlns:a="http://schemas.openxmlformats.org/drawingml/2006/main">
            <a:off x="857250" y="2781300"/>
            <a:ext cx="443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24364B"/>
                </a:solidFill>
              </a:defRPr>
            </a:pPr>
            <a:r>
              <a:rPr sz="1800" b="1">
                <a:solidFill>
                  <a:srgbClr val="24364B"/>
                </a:solidFill>
              </a:rPr>
              <a:t>Opening return clears its own prior-252-session 80th percentile</a:t>
            </a:r>
          </a:p>
        </p:txBody>
      </p:sp>
      <p:sp>
        <p:nvSpPr>
          <p:cNvPr id="10" name="">
            <a:extLst xmlns:a="http://schemas.openxmlformats.org/drawingml/2006/main">
              <a:ext uri="{FF2B5EF4-FFF2-40B4-BE49-F238E27FC236}">
                <a16:creationId xmlns:a16="http://schemas.microsoft.com/office/drawing/2014/main" id="{A47303EA-9ACA-46EA-9114-D7426B23D15D}"/>
              </a:ext>
            </a:extLst>
          </p:cNvPr>
          <p:cNvSpPr>
            <a:spLocks xmlns:a="http://schemas.openxmlformats.org/drawingml/2006/main" noGrp="1"/>
          </p:cNvSpPr>
          <p:nvPr/>
        </p:nvSpPr>
        <p:spPr>
          <a:xfrm xmlns:a="http://schemas.openxmlformats.org/drawingml/2006/main">
            <a:off x="857250" y="36957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67386"/>
                </a:solidFill>
              </a:defRPr>
            </a:pPr>
            <a:r>
              <a:rPr sz="1275" b="1">
                <a:solidFill>
                  <a:srgbClr val="667386"/>
                </a:solidFill>
              </a:rPr>
              <a:t>Compare</a:t>
            </a:r>
          </a:p>
        </p:txBody>
      </p:sp>
      <p:sp>
        <p:nvSpPr>
          <p:cNvPr id="11" name="">
            <a:extLst xmlns:a="http://schemas.openxmlformats.org/drawingml/2006/main">
              <a:ext uri="{FF2B5EF4-FFF2-40B4-BE49-F238E27FC236}">
                <a16:creationId xmlns:a16="http://schemas.microsoft.com/office/drawing/2014/main" id="{6AE258CA-CF64-45F3-85DB-A7032C3D4647}"/>
              </a:ext>
            </a:extLst>
          </p:cNvPr>
          <p:cNvSpPr>
            <a:spLocks xmlns:a="http://schemas.openxmlformats.org/drawingml/2006/main" noGrp="1"/>
          </p:cNvSpPr>
          <p:nvPr/>
        </p:nvSpPr>
        <p:spPr>
          <a:xfrm xmlns:a="http://schemas.openxmlformats.org/drawingml/2006/main">
            <a:off x="857250" y="4019550"/>
            <a:ext cx="4438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24364B"/>
                </a:solidFill>
              </a:defRPr>
            </a:pPr>
            <a:r>
              <a:rPr sz="1725" b="1">
                <a:solidFill>
                  <a:srgbClr val="24364B"/>
                </a:solidFill>
              </a:rPr>
              <a:t>Mean 10:00-to-close response after HIGH versus LOW/MEDIUM prior-day ATR%</a:t>
            </a:r>
          </a:p>
        </p:txBody>
      </p:sp>
      <p:sp>
        <p:nvSpPr>
          <p:cNvPr id="12" name="">
            <a:extLst xmlns:a="http://schemas.openxmlformats.org/drawingml/2006/main">
              <a:ext uri="{FF2B5EF4-FFF2-40B4-BE49-F238E27FC236}">
                <a16:creationId xmlns:a16="http://schemas.microsoft.com/office/drawing/2014/main" id="{2845F830-D163-4AFC-A984-890C600A3F88}"/>
              </a:ext>
            </a:extLst>
          </p:cNvPr>
          <p:cNvSpPr>
            <a:spLocks xmlns:a="http://schemas.openxmlformats.org/drawingml/2006/main" noGrp="1"/>
          </p:cNvSpPr>
          <p:nvPr/>
        </p:nvSpPr>
        <p:spPr>
          <a:xfrm xmlns:a="http://schemas.openxmlformats.org/drawingml/2006/main">
            <a:off x="857250" y="5010150"/>
            <a:ext cx="443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4866D"/>
                </a:solidFill>
              </a:defRPr>
            </a:pPr>
            <a:r>
              <a:rPr sz="1350" b="1">
                <a:solidFill>
                  <a:srgbClr val="14866D"/>
                </a:solidFill>
              </a:rPr>
              <a:t>Negative HIGH-minus-LOW/MED supports the mechanism</a:t>
            </a:r>
          </a:p>
        </p:txBody>
      </p:sp>
      <p:sp>
        <p:nvSpPr>
          <p:cNvPr id="13" name="">
            <a:extLst xmlns:a="http://schemas.openxmlformats.org/drawingml/2006/main">
              <a:ext uri="{FF2B5EF4-FFF2-40B4-BE49-F238E27FC236}">
                <a16:creationId xmlns:a16="http://schemas.microsoft.com/office/drawing/2014/main" id="{839B69E0-0F6A-4788-8ACD-7E6A69663344}"/>
              </a:ext>
            </a:extLst>
          </p:cNvPr>
          <p:cNvSpPr>
            <a:spLocks xmlns:a="http://schemas.openxmlformats.org/drawingml/2006/main" noGrp="1"/>
          </p:cNvSpPr>
          <p:nvPr/>
        </p:nvSpPr>
        <p:spPr>
          <a:xfrm xmlns:a="http://schemas.openxmlformats.org/drawingml/2006/main">
            <a:off x="6096000" y="1562100"/>
            <a:ext cx="5543550" cy="41719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4" name="">
            <a:extLst xmlns:a="http://schemas.openxmlformats.org/drawingml/2006/main">
              <a:ext uri="{FF2B5EF4-FFF2-40B4-BE49-F238E27FC236}">
                <a16:creationId xmlns:a16="http://schemas.microsoft.com/office/drawing/2014/main" id="{03FAC62A-BB6E-4CBA-98F4-BDD613BE794B}"/>
              </a:ext>
            </a:extLst>
          </p:cNvPr>
          <p:cNvSpPr>
            <a:spLocks xmlns:a="http://schemas.openxmlformats.org/drawingml/2006/main" noGrp="1"/>
          </p:cNvSpPr>
          <p:nvPr/>
        </p:nvSpPr>
        <p:spPr>
          <a:xfrm xmlns:a="http://schemas.openxmlformats.org/drawingml/2006/main">
            <a:off x="6381750" y="18478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Evidence boundary</a:t>
            </a:r>
          </a:p>
        </p:txBody>
      </p:sp>
      <p:sp>
        <p:nvSpPr>
          <p:cNvPr id="15" name="">
            <a:extLst xmlns:a="http://schemas.openxmlformats.org/drawingml/2006/main">
              <a:ext uri="{FF2B5EF4-FFF2-40B4-BE49-F238E27FC236}">
                <a16:creationId xmlns:a16="http://schemas.microsoft.com/office/drawing/2014/main" id="{221D8E21-03BA-4B63-B2B6-3A4358CE0DB0}"/>
              </a:ext>
            </a:extLst>
          </p:cNvPr>
          <p:cNvSpPr>
            <a:spLocks xmlns:a="http://schemas.openxmlformats.org/drawingml/2006/main" noGrp="1"/>
          </p:cNvSpPr>
          <p:nvPr/>
        </p:nvSpPr>
        <p:spPr>
          <a:xfrm xmlns:a="http://schemas.openxmlformats.org/drawingml/2006/main">
            <a:off x="6419850" y="25431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6" name="">
            <a:extLst xmlns:a="http://schemas.openxmlformats.org/drawingml/2006/main">
              <a:ext uri="{FF2B5EF4-FFF2-40B4-BE49-F238E27FC236}">
                <a16:creationId xmlns:a16="http://schemas.microsoft.com/office/drawing/2014/main" id="{F8E4CB08-4606-43B0-9174-5E899EC883E6}"/>
              </a:ext>
            </a:extLst>
          </p:cNvPr>
          <p:cNvSpPr>
            <a:spLocks xmlns:a="http://schemas.openxmlformats.org/drawingml/2006/main" noGrp="1"/>
          </p:cNvSpPr>
          <p:nvPr/>
        </p:nvSpPr>
        <p:spPr>
          <a:xfrm xmlns:a="http://schemas.openxmlformats.org/drawingml/2006/main">
            <a:off x="6648450" y="2457450"/>
            <a:ext cx="4533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26 pre-existing stocks and ETFs; no symbol was added because it looked favorable.</a:t>
            </a:r>
          </a:p>
        </p:txBody>
      </p:sp>
      <p:sp>
        <p:nvSpPr>
          <p:cNvPr id="17" name="">
            <a:extLst xmlns:a="http://schemas.openxmlformats.org/drawingml/2006/main">
              <a:ext uri="{FF2B5EF4-FFF2-40B4-BE49-F238E27FC236}">
                <a16:creationId xmlns:a16="http://schemas.microsoft.com/office/drawing/2014/main" id="{C362DB7A-95ED-487D-9CDD-23D9E79840DF}"/>
              </a:ext>
            </a:extLst>
          </p:cNvPr>
          <p:cNvSpPr>
            <a:spLocks xmlns:a="http://schemas.openxmlformats.org/drawingml/2006/main" noGrp="1"/>
          </p:cNvSpPr>
          <p:nvPr/>
        </p:nvSpPr>
        <p:spPr>
          <a:xfrm xmlns:a="http://schemas.openxmlformats.org/drawingml/2006/main">
            <a:off x="6419850" y="345757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8" name="">
            <a:extLst xmlns:a="http://schemas.openxmlformats.org/drawingml/2006/main">
              <a:ext uri="{FF2B5EF4-FFF2-40B4-BE49-F238E27FC236}">
                <a16:creationId xmlns:a16="http://schemas.microsoft.com/office/drawing/2014/main" id="{57016F58-0EDF-4E91-9139-C4190BCE6E53}"/>
              </a:ext>
            </a:extLst>
          </p:cNvPr>
          <p:cNvSpPr>
            <a:spLocks xmlns:a="http://schemas.openxmlformats.org/drawingml/2006/main" noGrp="1"/>
          </p:cNvSpPr>
          <p:nvPr/>
        </p:nvSpPr>
        <p:spPr>
          <a:xfrm xmlns:a="http://schemas.openxmlformats.org/drawingml/2006/main">
            <a:off x="6648450" y="3371850"/>
            <a:ext cx="4533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Causal 30-minute outcomes span 2018–2025, with 2017 used only for warm-up.</a:t>
            </a:r>
          </a:p>
        </p:txBody>
      </p:sp>
      <p:sp>
        <p:nvSpPr>
          <p:cNvPr id="19" name="">
            <a:extLst xmlns:a="http://schemas.openxmlformats.org/drawingml/2006/main">
              <a:ext uri="{FF2B5EF4-FFF2-40B4-BE49-F238E27FC236}">
                <a16:creationId xmlns:a16="http://schemas.microsoft.com/office/drawing/2014/main" id="{F2A7A663-F1EB-4769-8D6D-58AF227D5617}"/>
              </a:ext>
            </a:extLst>
          </p:cNvPr>
          <p:cNvSpPr>
            <a:spLocks xmlns:a="http://schemas.openxmlformats.org/drawingml/2006/main" noGrp="1"/>
          </p:cNvSpPr>
          <p:nvPr/>
        </p:nvSpPr>
        <p:spPr>
          <a:xfrm xmlns:a="http://schemas.openxmlformats.org/drawingml/2006/main">
            <a:off x="6419850" y="4333875"/>
            <a:ext cx="85725" cy="85725"/>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20" name="">
            <a:extLst xmlns:a="http://schemas.openxmlformats.org/drawingml/2006/main">
              <a:ext uri="{FF2B5EF4-FFF2-40B4-BE49-F238E27FC236}">
                <a16:creationId xmlns:a16="http://schemas.microsoft.com/office/drawing/2014/main" id="{A38936E5-C92E-4731-B1AC-5EA4BA72CB54}"/>
              </a:ext>
            </a:extLst>
          </p:cNvPr>
          <p:cNvSpPr>
            <a:spLocks xmlns:a="http://schemas.openxmlformats.org/drawingml/2006/main" noGrp="1"/>
          </p:cNvSpPr>
          <p:nvPr/>
        </p:nvSpPr>
        <p:spPr>
          <a:xfrm xmlns:a="http://schemas.openxmlformats.org/drawingml/2006/main">
            <a:off x="6648450" y="4248150"/>
            <a:ext cx="45339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Pass requires at least 60% negative assets, a negative median contrast, and the same sign in every era.</a:t>
            </a:r>
          </a:p>
        </p:txBody>
      </p:sp>
      <p:sp>
        <p:nvSpPr>
          <p:cNvPr id="21" name="">
            <a:extLst xmlns:a="http://schemas.openxmlformats.org/drawingml/2006/main">
              <a:ext uri="{FF2B5EF4-FFF2-40B4-BE49-F238E27FC236}">
                <a16:creationId xmlns:a16="http://schemas.microsoft.com/office/drawing/2014/main" id="{2F8C06E2-C3C7-4D18-A5A8-1FE20122466E}"/>
              </a:ext>
            </a:extLst>
          </p:cNvPr>
          <p:cNvSpPr>
            <a:spLocks xmlns:a="http://schemas.openxmlformats.org/drawingml/2006/main" noGrp="1"/>
          </p:cNvSpPr>
          <p:nvPr/>
        </p:nvSpPr>
        <p:spPr>
          <a:xfrm xmlns:a="http://schemas.openxmlformats.org/drawingml/2006/main">
            <a:off x="6381750" y="531495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B44738"/>
                </a:solidFill>
              </a:defRPr>
            </a:pPr>
            <a:r>
              <a:rPr sz="1275" b="1">
                <a:solidFill>
                  <a:srgbClr val="B44738"/>
                </a:solidFill>
              </a:rPr>
              <a:t>No costs, portfolio construction, or trade authority</a:t>
            </a:r>
          </a:p>
        </p:txBody>
      </p:sp>
    </p:spTree>
    <p:extLst>
      <p:ext uri="{BB962C8B-B14F-4D97-AF65-F5344CB8AC3E}">
        <p14:creationId xmlns:p14="http://schemas.microsoft.com/office/powerpoint/2010/main" val="86227115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0DDD057-A61E-47C6-8E44-DC4369865C81}"/>
              </a:ext>
            </a:extLst>
          </p:cNvPr>
          <p:cNvSpPr>
            <a:spLocks xmlns:a="http://schemas.openxmlformats.org/drawingml/2006/main" noGrp="1"/>
          </p:cNvSpPr>
          <p:nvPr/>
        </p:nvSpPr>
        <p:spPr>
          <a:xfrm xmlns:a="http://schemas.openxmlformats.org/drawingml/2006/main">
            <a:off x="457200" y="238125"/>
            <a:ext cx="800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CROSS-ASSET OPENING MECHANISM</a:t>
            </a:r>
          </a:p>
        </p:txBody>
      </p:sp>
      <p:sp>
        <p:nvSpPr>
          <p:cNvPr id="2" name="">
            <a:extLst xmlns:a="http://schemas.openxmlformats.org/drawingml/2006/main">
              <a:ext uri="{FF2B5EF4-FFF2-40B4-BE49-F238E27FC236}">
                <a16:creationId xmlns:a16="http://schemas.microsoft.com/office/drawing/2014/main" id="{017A7C57-F50B-4CC1-B4BD-3F28F77AEE51}"/>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NVDA direction is a minority pattern across assets</a:t>
            </a:r>
          </a:p>
        </p:txBody>
      </p:sp>
      <p:sp>
        <p:nvSpPr>
          <p:cNvPr id="3" name="">
            <a:extLst xmlns:a="http://schemas.openxmlformats.org/drawingml/2006/main">
              <a:ext uri="{FF2B5EF4-FFF2-40B4-BE49-F238E27FC236}">
                <a16:creationId xmlns:a16="http://schemas.microsoft.com/office/drawing/2014/main" id="{E81E7058-5B6E-4C77-8ABA-6F6439A14340}"/>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F63908C3-093F-4BF3-ADB5-ADE919BB89E7}"/>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Mechanism replication · 26 non-NVDA assets · causal outcomes through 2025</a:t>
            </a:r>
          </a:p>
        </p:txBody>
      </p:sp>
      <p:sp>
        <p:nvSpPr>
          <p:cNvPr id="5" name="">
            <a:extLst xmlns:a="http://schemas.openxmlformats.org/drawingml/2006/main">
              <a:ext uri="{FF2B5EF4-FFF2-40B4-BE49-F238E27FC236}">
                <a16:creationId xmlns:a16="http://schemas.microsoft.com/office/drawing/2014/main" id="{AFD61513-E670-41FB-881B-AE62082ED841}"/>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44</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30aeb1c852d4502"/>
          <a:stretch xmlns:a="http://schemas.openxmlformats.org/drawingml/2006/main"/>
        </p:blipFill>
        <p:spPr>
          <a:xfrm xmlns:a="http://schemas.openxmlformats.org/drawingml/2006/main">
            <a:off x="984250" y="1409700"/>
            <a:ext cx="6985000"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086A77D-5C38-4AA4-83FD-56464CA1FB9B}"/>
              </a:ext>
            </a:extLst>
          </p:cNvPr>
          <p:cNvSpPr>
            <a:spLocks xmlns:a="http://schemas.openxmlformats.org/drawingml/2006/main" noGrp="1"/>
          </p:cNvSpPr>
          <p:nvPr/>
        </p:nvSpPr>
        <p:spPr>
          <a:xfrm xmlns:a="http://schemas.openxmlformats.org/drawingml/2006/main">
            <a:off x="8743950" y="1504950"/>
            <a:ext cx="2895600" cy="44196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62C11181-EAF9-42F5-9233-A9F262BC8F1B}"/>
              </a:ext>
            </a:extLst>
          </p:cNvPr>
          <p:cNvSpPr>
            <a:spLocks xmlns:a="http://schemas.openxmlformats.org/drawingml/2006/main" noGrp="1"/>
          </p:cNvSpPr>
          <p:nvPr/>
        </p:nvSpPr>
        <p:spPr>
          <a:xfrm xmlns:a="http://schemas.openxmlformats.org/drawingml/2006/main">
            <a:off x="8991600" y="18097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B44738"/>
                </a:solidFill>
              </a:defRPr>
            </a:pPr>
            <a:r>
              <a:rPr sz="3300" b="1">
                <a:solidFill>
                  <a:srgbClr val="B44738"/>
                </a:solidFill>
              </a:rPr>
              <a:t>9 / 26</a:t>
            </a:r>
          </a:p>
        </p:txBody>
      </p:sp>
      <p:sp>
        <p:nvSpPr>
          <p:cNvPr id="9" name="">
            <a:extLst xmlns:a="http://schemas.openxmlformats.org/drawingml/2006/main">
              <a:ext uri="{FF2B5EF4-FFF2-40B4-BE49-F238E27FC236}">
                <a16:creationId xmlns:a16="http://schemas.microsoft.com/office/drawing/2014/main" id="{9D9C8232-5E65-450C-82E9-A5CC9E502D4A}"/>
              </a:ext>
            </a:extLst>
          </p:cNvPr>
          <p:cNvSpPr>
            <a:spLocks xmlns:a="http://schemas.openxmlformats.org/drawingml/2006/main" noGrp="1"/>
          </p:cNvSpPr>
          <p:nvPr/>
        </p:nvSpPr>
        <p:spPr>
          <a:xfrm xmlns:a="http://schemas.openxmlformats.org/drawingml/2006/main">
            <a:off x="8991600" y="23431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4364B"/>
                </a:solidFill>
              </a:defRPr>
            </a:pPr>
            <a:r>
              <a:rPr sz="1350" b="1">
                <a:solidFill>
                  <a:srgbClr val="24364B"/>
                </a:solidFill>
              </a:rPr>
              <a:t>assets support the sign</a:t>
            </a:r>
          </a:p>
        </p:txBody>
      </p:sp>
      <p:sp>
        <p:nvSpPr>
          <p:cNvPr id="10" name="">
            <a:extLst xmlns:a="http://schemas.openxmlformats.org/drawingml/2006/main">
              <a:ext uri="{FF2B5EF4-FFF2-40B4-BE49-F238E27FC236}">
                <a16:creationId xmlns:a16="http://schemas.microsoft.com/office/drawing/2014/main" id="{9D585426-FC53-454E-A362-943F6ED439B3}"/>
              </a:ext>
            </a:extLst>
          </p:cNvPr>
          <p:cNvSpPr>
            <a:spLocks xmlns:a="http://schemas.openxmlformats.org/drawingml/2006/main" noGrp="1"/>
          </p:cNvSpPr>
          <p:nvPr/>
        </p:nvSpPr>
        <p:spPr>
          <a:xfrm xmlns:a="http://schemas.openxmlformats.org/drawingml/2006/main">
            <a:off x="8991600" y="2647950"/>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667386"/>
                </a:solidFill>
              </a:defRPr>
            </a:pPr>
            <a:r>
              <a:rPr sz="1125" b="0">
                <a:solidFill>
                  <a:srgbClr val="667386"/>
                </a:solidFill>
              </a:rPr>
              <a:t>Frozen gate required 60%</a:t>
            </a:r>
          </a:p>
        </p:txBody>
      </p:sp>
      <p:sp>
        <p:nvSpPr>
          <p:cNvPr id="11" name="">
            <a:extLst xmlns:a="http://schemas.openxmlformats.org/drawingml/2006/main">
              <a:ext uri="{FF2B5EF4-FFF2-40B4-BE49-F238E27FC236}">
                <a16:creationId xmlns:a16="http://schemas.microsoft.com/office/drawing/2014/main" id="{C847D806-64A1-46D1-966E-0263FAFB70B4}"/>
              </a:ext>
            </a:extLst>
          </p:cNvPr>
          <p:cNvSpPr>
            <a:spLocks xmlns:a="http://schemas.openxmlformats.org/drawingml/2006/main" noGrp="1"/>
          </p:cNvSpPr>
          <p:nvPr/>
        </p:nvSpPr>
        <p:spPr>
          <a:xfrm xmlns:a="http://schemas.openxmlformats.org/drawingml/2006/main">
            <a:off x="8991600" y="3162300"/>
            <a:ext cx="24003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2" name="">
            <a:extLst xmlns:a="http://schemas.openxmlformats.org/drawingml/2006/main">
              <a:ext uri="{FF2B5EF4-FFF2-40B4-BE49-F238E27FC236}">
                <a16:creationId xmlns:a16="http://schemas.microsoft.com/office/drawing/2014/main" id="{6F7F9385-D1C2-45A0-B1F6-FDE41A475954}"/>
              </a:ext>
            </a:extLst>
          </p:cNvPr>
          <p:cNvSpPr>
            <a:spLocks xmlns:a="http://schemas.openxmlformats.org/drawingml/2006/main" noGrp="1"/>
          </p:cNvSpPr>
          <p:nvPr/>
        </p:nvSpPr>
        <p:spPr>
          <a:xfrm xmlns:a="http://schemas.openxmlformats.org/drawingml/2006/main">
            <a:off x="8991600" y="3467100"/>
            <a:ext cx="2400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B44738"/>
                </a:solidFill>
              </a:defRPr>
            </a:pPr>
            <a:r>
              <a:rPr sz="2700" b="1">
                <a:solidFill>
                  <a:srgbClr val="B44738"/>
                </a:solidFill>
              </a:rPr>
              <a:t>+0.093%</a:t>
            </a:r>
          </a:p>
        </p:txBody>
      </p:sp>
      <p:sp>
        <p:nvSpPr>
          <p:cNvPr id="13" name="">
            <a:extLst xmlns:a="http://schemas.openxmlformats.org/drawingml/2006/main">
              <a:ext uri="{FF2B5EF4-FFF2-40B4-BE49-F238E27FC236}">
                <a16:creationId xmlns:a16="http://schemas.microsoft.com/office/drawing/2014/main" id="{9DF3A699-E6AA-464C-A8CD-4D98770AA990}"/>
              </a:ext>
            </a:extLst>
          </p:cNvPr>
          <p:cNvSpPr>
            <a:spLocks xmlns:a="http://schemas.openxmlformats.org/drawingml/2006/main" noGrp="1"/>
          </p:cNvSpPr>
          <p:nvPr/>
        </p:nvSpPr>
        <p:spPr>
          <a:xfrm xmlns:a="http://schemas.openxmlformats.org/drawingml/2006/main">
            <a:off x="8991600" y="396240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24364B"/>
                </a:solidFill>
              </a:defRPr>
            </a:pPr>
            <a:r>
              <a:rPr sz="1350" b="1">
                <a:solidFill>
                  <a:srgbClr val="24364B"/>
                </a:solidFill>
              </a:rPr>
              <a:t>median asset contrast</a:t>
            </a:r>
          </a:p>
        </p:txBody>
      </p:sp>
      <p:sp>
        <p:nvSpPr>
          <p:cNvPr id="14" name="">
            <a:extLst xmlns:a="http://schemas.openxmlformats.org/drawingml/2006/main">
              <a:ext uri="{FF2B5EF4-FFF2-40B4-BE49-F238E27FC236}">
                <a16:creationId xmlns:a16="http://schemas.microsoft.com/office/drawing/2014/main" id="{886739CB-40C8-4371-8F51-252DB9F241CA}"/>
              </a:ext>
            </a:extLst>
          </p:cNvPr>
          <p:cNvSpPr>
            <a:spLocks xmlns:a="http://schemas.openxmlformats.org/drawingml/2006/main" noGrp="1"/>
          </p:cNvSpPr>
          <p:nvPr/>
        </p:nvSpPr>
        <p:spPr>
          <a:xfrm xmlns:a="http://schemas.openxmlformats.org/drawingml/2006/main">
            <a:off x="8991600" y="47625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B44738"/>
                </a:solidFill>
              </a:defRPr>
            </a:pPr>
            <a:r>
              <a:rPr sz="1350" b="0">
                <a:solidFill>
                  <a:srgbClr val="B44738"/>
                </a:solidFill>
              </a:rPr>
              <a:t>The typical asset continues more—not less—after a HIGH-ATR strong opening.</a:t>
            </a:r>
          </a:p>
        </p:txBody>
      </p:sp>
    </p:spTree>
    <p:extLst>
      <p:ext uri="{BB962C8B-B14F-4D97-AF65-F5344CB8AC3E}">
        <p14:creationId xmlns:p14="http://schemas.microsoft.com/office/powerpoint/2010/main" val="157430014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1B3710C-4718-4473-B869-A0B54A5DE5A0}"/>
              </a:ext>
            </a:extLst>
          </p:cNvPr>
          <p:cNvSpPr>
            <a:spLocks xmlns:a="http://schemas.openxmlformats.org/drawingml/2006/main" noGrp="1"/>
          </p:cNvSpPr>
          <p:nvPr/>
        </p:nvSpPr>
        <p:spPr>
          <a:xfrm xmlns:a="http://schemas.openxmlformats.org/drawingml/2006/main">
            <a:off x="457200" y="238125"/>
            <a:ext cx="800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CROSS-ASSET OPENING MECHANISM</a:t>
            </a:r>
          </a:p>
        </p:txBody>
      </p:sp>
      <p:sp>
        <p:nvSpPr>
          <p:cNvPr id="2" name="">
            <a:extLst xmlns:a="http://schemas.openxmlformats.org/drawingml/2006/main">
              <a:ext uri="{FF2B5EF4-FFF2-40B4-BE49-F238E27FC236}">
                <a16:creationId xmlns:a16="http://schemas.microsoft.com/office/drawing/2014/main" id="{404A1349-E24F-4EA0-A542-D89501C08E42}"/>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one supportive era does not persist</a:t>
            </a:r>
          </a:p>
        </p:txBody>
      </p:sp>
      <p:sp>
        <p:nvSpPr>
          <p:cNvPr id="3" name="">
            <a:extLst xmlns:a="http://schemas.openxmlformats.org/drawingml/2006/main">
              <a:ext uri="{FF2B5EF4-FFF2-40B4-BE49-F238E27FC236}">
                <a16:creationId xmlns:a16="http://schemas.microsoft.com/office/drawing/2014/main" id="{FE6609D1-DACD-43CF-B707-C7D15D0FEC4A}"/>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0BBDCC85-C021-495A-B0AA-B4AE49A8684A}"/>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Mechanism replication · 26 non-NVDA assets · causal outcomes through 2025</a:t>
            </a:r>
          </a:p>
        </p:txBody>
      </p:sp>
      <p:sp>
        <p:nvSpPr>
          <p:cNvPr id="5" name="">
            <a:extLst xmlns:a="http://schemas.openxmlformats.org/drawingml/2006/main">
              <a:ext uri="{FF2B5EF4-FFF2-40B4-BE49-F238E27FC236}">
                <a16:creationId xmlns:a16="http://schemas.microsoft.com/office/drawing/2014/main" id="{B5A122B8-7499-48E2-B188-7341CECB0759}"/>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45</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2eca67765d44b74"/>
          <a:stretch xmlns:a="http://schemas.openxmlformats.org/drawingml/2006/main"/>
        </p:blipFill>
        <p:spPr>
          <a:xfrm xmlns:a="http://schemas.openxmlformats.org/drawingml/2006/main">
            <a:off x="725365" y="1409700"/>
            <a:ext cx="7693269"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7C952A3-A060-45AB-BCCF-2052F3CE77F1}"/>
              </a:ext>
            </a:extLst>
          </p:cNvPr>
          <p:cNvSpPr>
            <a:spLocks xmlns:a="http://schemas.openxmlformats.org/drawingml/2006/main" noGrp="1"/>
          </p:cNvSpPr>
          <p:nvPr/>
        </p:nvSpPr>
        <p:spPr>
          <a:xfrm xmlns:a="http://schemas.openxmlformats.org/drawingml/2006/main">
            <a:off x="8972550" y="1504950"/>
            <a:ext cx="2667000" cy="44196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83E5AF82-6834-4364-A50A-957883A735DE}"/>
              </a:ext>
            </a:extLst>
          </p:cNvPr>
          <p:cNvSpPr>
            <a:spLocks xmlns:a="http://schemas.openxmlformats.org/drawingml/2006/main" noGrp="1"/>
          </p:cNvSpPr>
          <p:nvPr/>
        </p:nvSpPr>
        <p:spPr>
          <a:xfrm xmlns:a="http://schemas.openxmlformats.org/drawingml/2006/main">
            <a:off x="9201150" y="1809750"/>
            <a:ext cx="2209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B44738"/>
                </a:solidFill>
              </a:defRPr>
            </a:pPr>
            <a:r>
              <a:rPr sz="1500" b="1">
                <a:solidFill>
                  <a:srgbClr val="B44738"/>
                </a:solidFill>
              </a:rPr>
              <a:t>2018–20</a:t>
            </a:r>
          </a:p>
        </p:txBody>
      </p:sp>
      <p:sp>
        <p:nvSpPr>
          <p:cNvPr id="9" name="">
            <a:extLst xmlns:a="http://schemas.openxmlformats.org/drawingml/2006/main">
              <a:ext uri="{FF2B5EF4-FFF2-40B4-BE49-F238E27FC236}">
                <a16:creationId xmlns:a16="http://schemas.microsoft.com/office/drawing/2014/main" id="{76644A62-42AD-4427-8438-209AF5111F22}"/>
              </a:ext>
            </a:extLst>
          </p:cNvPr>
          <p:cNvSpPr>
            <a:spLocks xmlns:a="http://schemas.openxmlformats.org/drawingml/2006/main" noGrp="1"/>
          </p:cNvSpPr>
          <p:nvPr/>
        </p:nvSpPr>
        <p:spPr>
          <a:xfrm xmlns:a="http://schemas.openxmlformats.org/drawingml/2006/main">
            <a:off x="9201150" y="2152650"/>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64B"/>
                </a:solidFill>
              </a:defRPr>
            </a:pPr>
            <a:r>
              <a:rPr sz="1275" b="0">
                <a:solidFill>
                  <a:srgbClr val="24364B"/>
                </a:solidFill>
              </a:rPr>
              <a:t>+0.085% median contrast</a:t>
            </a:r>
          </a:p>
        </p:txBody>
      </p:sp>
      <p:sp>
        <p:nvSpPr>
          <p:cNvPr id="10" name="">
            <a:extLst xmlns:a="http://schemas.openxmlformats.org/drawingml/2006/main">
              <a:ext uri="{FF2B5EF4-FFF2-40B4-BE49-F238E27FC236}">
                <a16:creationId xmlns:a16="http://schemas.microsoft.com/office/drawing/2014/main" id="{F026FAC9-8588-480B-9746-588F00192E34}"/>
              </a:ext>
            </a:extLst>
          </p:cNvPr>
          <p:cNvSpPr>
            <a:spLocks xmlns:a="http://schemas.openxmlformats.org/drawingml/2006/main" noGrp="1"/>
          </p:cNvSpPr>
          <p:nvPr/>
        </p:nvSpPr>
        <p:spPr>
          <a:xfrm xmlns:a="http://schemas.openxmlformats.org/drawingml/2006/main">
            <a:off x="9201150" y="2800350"/>
            <a:ext cx="2209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4866D"/>
                </a:solidFill>
              </a:defRPr>
            </a:pPr>
            <a:r>
              <a:rPr sz="1500" b="1">
                <a:solidFill>
                  <a:srgbClr val="14866D"/>
                </a:solidFill>
              </a:rPr>
              <a:t>2021–23</a:t>
            </a:r>
          </a:p>
        </p:txBody>
      </p:sp>
      <p:sp>
        <p:nvSpPr>
          <p:cNvPr id="11" name="">
            <a:extLst xmlns:a="http://schemas.openxmlformats.org/drawingml/2006/main">
              <a:ext uri="{FF2B5EF4-FFF2-40B4-BE49-F238E27FC236}">
                <a16:creationId xmlns:a16="http://schemas.microsoft.com/office/drawing/2014/main" id="{6FE07767-9A38-4A90-B062-1B6CC3723E87}"/>
              </a:ext>
            </a:extLst>
          </p:cNvPr>
          <p:cNvSpPr>
            <a:spLocks xmlns:a="http://schemas.openxmlformats.org/drawingml/2006/main" noGrp="1"/>
          </p:cNvSpPr>
          <p:nvPr/>
        </p:nvSpPr>
        <p:spPr>
          <a:xfrm xmlns:a="http://schemas.openxmlformats.org/drawingml/2006/main">
            <a:off x="9201150" y="3143250"/>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64B"/>
                </a:solidFill>
              </a:defRPr>
            </a:pPr>
            <a:r>
              <a:rPr sz="1275" b="0">
                <a:solidFill>
                  <a:srgbClr val="24364B"/>
                </a:solidFill>
              </a:rPr>
              <a:t>−0.038% median contrast</a:t>
            </a:r>
          </a:p>
        </p:txBody>
      </p:sp>
      <p:sp>
        <p:nvSpPr>
          <p:cNvPr id="12" name="">
            <a:extLst xmlns:a="http://schemas.openxmlformats.org/drawingml/2006/main">
              <a:ext uri="{FF2B5EF4-FFF2-40B4-BE49-F238E27FC236}">
                <a16:creationId xmlns:a16="http://schemas.microsoft.com/office/drawing/2014/main" id="{7F9E8BDC-8D00-4AAC-8A7E-2E18B366DA31}"/>
              </a:ext>
            </a:extLst>
          </p:cNvPr>
          <p:cNvSpPr>
            <a:spLocks xmlns:a="http://schemas.openxmlformats.org/drawingml/2006/main" noGrp="1"/>
          </p:cNvSpPr>
          <p:nvPr/>
        </p:nvSpPr>
        <p:spPr>
          <a:xfrm xmlns:a="http://schemas.openxmlformats.org/drawingml/2006/main">
            <a:off x="9201150" y="3790950"/>
            <a:ext cx="2209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B44738"/>
                </a:solidFill>
              </a:defRPr>
            </a:pPr>
            <a:r>
              <a:rPr sz="1500" b="1">
                <a:solidFill>
                  <a:srgbClr val="B44738"/>
                </a:solidFill>
              </a:rPr>
              <a:t>2024–25</a:t>
            </a:r>
          </a:p>
        </p:txBody>
      </p:sp>
      <p:sp>
        <p:nvSpPr>
          <p:cNvPr id="13" name="">
            <a:extLst xmlns:a="http://schemas.openxmlformats.org/drawingml/2006/main">
              <a:ext uri="{FF2B5EF4-FFF2-40B4-BE49-F238E27FC236}">
                <a16:creationId xmlns:a16="http://schemas.microsoft.com/office/drawing/2014/main" id="{DC14659C-7666-4659-8D3A-16F432BD09C4}"/>
              </a:ext>
            </a:extLst>
          </p:cNvPr>
          <p:cNvSpPr>
            <a:spLocks xmlns:a="http://schemas.openxmlformats.org/drawingml/2006/main" noGrp="1"/>
          </p:cNvSpPr>
          <p:nvPr/>
        </p:nvSpPr>
        <p:spPr>
          <a:xfrm xmlns:a="http://schemas.openxmlformats.org/drawingml/2006/main">
            <a:off x="9201150" y="4133850"/>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64B"/>
                </a:solidFill>
              </a:defRPr>
            </a:pPr>
            <a:r>
              <a:rPr sz="1275" b="0">
                <a:solidFill>
                  <a:srgbClr val="24364B"/>
                </a:solidFill>
              </a:rPr>
              <a:t>+0.083% median contrast</a:t>
            </a:r>
          </a:p>
        </p:txBody>
      </p:sp>
      <p:sp>
        <p:nvSpPr>
          <p:cNvPr id="14" name="">
            <a:extLst xmlns:a="http://schemas.openxmlformats.org/drawingml/2006/main">
              <a:ext uri="{FF2B5EF4-FFF2-40B4-BE49-F238E27FC236}">
                <a16:creationId xmlns:a16="http://schemas.microsoft.com/office/drawing/2014/main" id="{33AB13E5-5A9A-4B9F-B0D4-F9B49DB449C7}"/>
              </a:ext>
            </a:extLst>
          </p:cNvPr>
          <p:cNvSpPr>
            <a:spLocks xmlns:a="http://schemas.openxmlformats.org/drawingml/2006/main" noGrp="1"/>
          </p:cNvSpPr>
          <p:nvPr/>
        </p:nvSpPr>
        <p:spPr>
          <a:xfrm xmlns:a="http://schemas.openxmlformats.org/drawingml/2006/main">
            <a:off x="9201150" y="4686300"/>
            <a:ext cx="22098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5" name="">
            <a:extLst xmlns:a="http://schemas.openxmlformats.org/drawingml/2006/main">
              <a:ext uri="{FF2B5EF4-FFF2-40B4-BE49-F238E27FC236}">
                <a16:creationId xmlns:a16="http://schemas.microsoft.com/office/drawing/2014/main" id="{C5F6EA37-98A9-4E82-9BCE-F45EE8CA65F1}"/>
              </a:ext>
            </a:extLst>
          </p:cNvPr>
          <p:cNvSpPr>
            <a:spLocks xmlns:a="http://schemas.openxmlformats.org/drawingml/2006/main" noGrp="1"/>
          </p:cNvSpPr>
          <p:nvPr/>
        </p:nvSpPr>
        <p:spPr>
          <a:xfrm xmlns:a="http://schemas.openxmlformats.org/drawingml/2006/main">
            <a:off x="9201150" y="495300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B44738"/>
                </a:solidFill>
              </a:defRPr>
            </a:pPr>
            <a:r>
              <a:rPr sz="1425" b="1">
                <a:solidFill>
                  <a:srgbClr val="B44738"/>
                </a:solidFill>
              </a:rPr>
              <a:t>The clue is time-local, not era-stable.</a:t>
            </a:r>
          </a:p>
        </p:txBody>
      </p:sp>
    </p:spTree>
    <p:extLst>
      <p:ext uri="{BB962C8B-B14F-4D97-AF65-F5344CB8AC3E}">
        <p14:creationId xmlns:p14="http://schemas.microsoft.com/office/powerpoint/2010/main" val="58547752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5F352A2-AD4C-42AD-BEC2-F7B638C71BE1}"/>
              </a:ext>
            </a:extLst>
          </p:cNvPr>
          <p:cNvSpPr>
            <a:spLocks xmlns:a="http://schemas.openxmlformats.org/drawingml/2006/main" noGrp="1"/>
          </p:cNvSpPr>
          <p:nvPr/>
        </p:nvSpPr>
        <p:spPr>
          <a:xfrm xmlns:a="http://schemas.openxmlformats.org/drawingml/2006/main">
            <a:off x="457200" y="238125"/>
            <a:ext cx="800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CROSS-ASSET OPENING MECHANISM</a:t>
            </a:r>
          </a:p>
        </p:txBody>
      </p:sp>
      <p:sp>
        <p:nvSpPr>
          <p:cNvPr id="2" name="">
            <a:extLst xmlns:a="http://schemas.openxmlformats.org/drawingml/2006/main">
              <a:ext uri="{FF2B5EF4-FFF2-40B4-BE49-F238E27FC236}">
                <a16:creationId xmlns:a16="http://schemas.microsoft.com/office/drawing/2014/main" id="{0EC0A560-0A2D-4068-9855-B7B3C28C4ED7}"/>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Assets occupy different response geometries</a:t>
            </a:r>
          </a:p>
        </p:txBody>
      </p:sp>
      <p:sp>
        <p:nvSpPr>
          <p:cNvPr id="3" name="">
            <a:extLst xmlns:a="http://schemas.openxmlformats.org/drawingml/2006/main">
              <a:ext uri="{FF2B5EF4-FFF2-40B4-BE49-F238E27FC236}">
                <a16:creationId xmlns:a16="http://schemas.microsoft.com/office/drawing/2014/main" id="{5EBCB1E3-C07E-4181-9C5D-D5FB4351033B}"/>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991D3CB4-EE9C-4F92-BA46-BFE213E6764D}"/>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Mechanism replication · 26 non-NVDA assets · causal outcomes through 2025</a:t>
            </a:r>
          </a:p>
        </p:txBody>
      </p:sp>
      <p:sp>
        <p:nvSpPr>
          <p:cNvPr id="5" name="">
            <a:extLst xmlns:a="http://schemas.openxmlformats.org/drawingml/2006/main">
              <a:ext uri="{FF2B5EF4-FFF2-40B4-BE49-F238E27FC236}">
                <a16:creationId xmlns:a16="http://schemas.microsoft.com/office/drawing/2014/main" id="{8527C80A-0D30-450B-93EE-348FD192D9B4}"/>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46</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1a6d104d1b942e8"/>
          <a:stretch xmlns:a="http://schemas.openxmlformats.org/drawingml/2006/main"/>
        </p:blipFill>
        <p:spPr>
          <a:xfrm xmlns:a="http://schemas.openxmlformats.org/drawingml/2006/main">
            <a:off x="1865258" y="1381125"/>
            <a:ext cx="5527784" cy="4857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B477DB7-115B-42D7-844F-D57BA437136B}"/>
              </a:ext>
            </a:extLst>
          </p:cNvPr>
          <p:cNvSpPr>
            <a:spLocks xmlns:a="http://schemas.openxmlformats.org/drawingml/2006/main" noGrp="1"/>
          </p:cNvSpPr>
          <p:nvPr/>
        </p:nvSpPr>
        <p:spPr>
          <a:xfrm xmlns:a="http://schemas.openxmlformats.org/drawingml/2006/main">
            <a:off x="9086850" y="1524000"/>
            <a:ext cx="2552700" cy="43053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F1D55A20-1FBB-4307-879D-FBDB41624421}"/>
              </a:ext>
            </a:extLst>
          </p:cNvPr>
          <p:cNvSpPr>
            <a:spLocks xmlns:a="http://schemas.openxmlformats.org/drawingml/2006/main" noGrp="1"/>
          </p:cNvSpPr>
          <p:nvPr/>
        </p:nvSpPr>
        <p:spPr>
          <a:xfrm xmlns:a="http://schemas.openxmlformats.org/drawingml/2006/main">
            <a:off x="9315450" y="17907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How to read it</a:t>
            </a:r>
          </a:p>
        </p:txBody>
      </p:sp>
      <p:sp>
        <p:nvSpPr>
          <p:cNvPr id="9" name="">
            <a:extLst xmlns:a="http://schemas.openxmlformats.org/drawingml/2006/main">
              <a:ext uri="{FF2B5EF4-FFF2-40B4-BE49-F238E27FC236}">
                <a16:creationId xmlns:a16="http://schemas.microsoft.com/office/drawing/2014/main" id="{0E6553EA-E01C-440D-A60D-C0E606582537}"/>
              </a:ext>
            </a:extLst>
          </p:cNvPr>
          <p:cNvSpPr>
            <a:spLocks xmlns:a="http://schemas.openxmlformats.org/drawingml/2006/main" noGrp="1"/>
          </p:cNvSpPr>
          <p:nvPr/>
        </p:nvSpPr>
        <p:spPr>
          <a:xfrm xmlns:a="http://schemas.openxmlformats.org/drawingml/2006/main">
            <a:off x="9315450" y="250507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0" name="">
            <a:extLst xmlns:a="http://schemas.openxmlformats.org/drawingml/2006/main">
              <a:ext uri="{FF2B5EF4-FFF2-40B4-BE49-F238E27FC236}">
                <a16:creationId xmlns:a16="http://schemas.microsoft.com/office/drawing/2014/main" id="{ED1647E4-17B1-4506-A342-92DE2553E7FC}"/>
              </a:ext>
            </a:extLst>
          </p:cNvPr>
          <p:cNvSpPr>
            <a:spLocks xmlns:a="http://schemas.openxmlformats.org/drawingml/2006/main" noGrp="1"/>
          </p:cNvSpPr>
          <p:nvPr/>
        </p:nvSpPr>
        <p:spPr>
          <a:xfrm xmlns:a="http://schemas.openxmlformats.org/drawingml/2006/main">
            <a:off x="9544050" y="2419350"/>
            <a:ext cx="1866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64B"/>
                </a:solidFill>
              </a:defRPr>
            </a:pPr>
            <a:r>
              <a:rPr sz="1275" b="0">
                <a:solidFill>
                  <a:srgbClr val="24364B"/>
                </a:solidFill>
              </a:rPr>
              <a:t>Below the diagonal supports weaker continuation in HIGH ATR.</a:t>
            </a:r>
          </a:p>
        </p:txBody>
      </p:sp>
      <p:sp>
        <p:nvSpPr>
          <p:cNvPr id="11" name="">
            <a:extLst xmlns:a="http://schemas.openxmlformats.org/drawingml/2006/main">
              <a:ext uri="{FF2B5EF4-FFF2-40B4-BE49-F238E27FC236}">
                <a16:creationId xmlns:a16="http://schemas.microsoft.com/office/drawing/2014/main" id="{8335E107-F803-4EBB-A8F5-03A0F8F9291E}"/>
              </a:ext>
            </a:extLst>
          </p:cNvPr>
          <p:cNvSpPr>
            <a:spLocks xmlns:a="http://schemas.openxmlformats.org/drawingml/2006/main" noGrp="1"/>
          </p:cNvSpPr>
          <p:nvPr/>
        </p:nvSpPr>
        <p:spPr>
          <a:xfrm xmlns:a="http://schemas.openxmlformats.org/drawingml/2006/main">
            <a:off x="9315450" y="34194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2" name="">
            <a:extLst xmlns:a="http://schemas.openxmlformats.org/drawingml/2006/main">
              <a:ext uri="{FF2B5EF4-FFF2-40B4-BE49-F238E27FC236}">
                <a16:creationId xmlns:a16="http://schemas.microsoft.com/office/drawing/2014/main" id="{B1526568-8001-4D0D-930D-346458196A84}"/>
              </a:ext>
            </a:extLst>
          </p:cNvPr>
          <p:cNvSpPr>
            <a:spLocks xmlns:a="http://schemas.openxmlformats.org/drawingml/2006/main" noGrp="1"/>
          </p:cNvSpPr>
          <p:nvPr/>
        </p:nvSpPr>
        <p:spPr>
          <a:xfrm xmlns:a="http://schemas.openxmlformats.org/drawingml/2006/main">
            <a:off x="9544050" y="3333750"/>
            <a:ext cx="1866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64B"/>
                </a:solidFill>
              </a:defRPr>
            </a:pPr>
            <a:r>
              <a:rPr sz="1275" b="0">
                <a:solidFill>
                  <a:srgbClr val="24364B"/>
                </a:solidFill>
              </a:rPr>
              <a:t>Above it contradicts that mechanism.</a:t>
            </a:r>
          </a:p>
        </p:txBody>
      </p:sp>
      <p:sp>
        <p:nvSpPr>
          <p:cNvPr id="13" name="">
            <a:extLst xmlns:a="http://schemas.openxmlformats.org/drawingml/2006/main">
              <a:ext uri="{FF2B5EF4-FFF2-40B4-BE49-F238E27FC236}">
                <a16:creationId xmlns:a16="http://schemas.microsoft.com/office/drawing/2014/main" id="{827150D2-BAC5-418C-B808-37A424810B33}"/>
              </a:ext>
            </a:extLst>
          </p:cNvPr>
          <p:cNvSpPr>
            <a:spLocks xmlns:a="http://schemas.openxmlformats.org/drawingml/2006/main" noGrp="1"/>
          </p:cNvSpPr>
          <p:nvPr/>
        </p:nvSpPr>
        <p:spPr>
          <a:xfrm xmlns:a="http://schemas.openxmlformats.org/drawingml/2006/main">
            <a:off x="9315450" y="42576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7368CA06-024F-4ED8-8D23-7662DC873EC0}"/>
              </a:ext>
            </a:extLst>
          </p:cNvPr>
          <p:cNvSpPr>
            <a:spLocks xmlns:a="http://schemas.openxmlformats.org/drawingml/2006/main" noGrp="1"/>
          </p:cNvSpPr>
          <p:nvPr/>
        </p:nvSpPr>
        <p:spPr>
          <a:xfrm xmlns:a="http://schemas.openxmlformats.org/drawingml/2006/main">
            <a:off x="9544050" y="4171950"/>
            <a:ext cx="1866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64B"/>
                </a:solidFill>
              </a:defRPr>
            </a:pPr>
            <a:r>
              <a:rPr sz="1275" b="0">
                <a:solidFill>
                  <a:srgbClr val="24364B"/>
                </a:solidFill>
              </a:rPr>
              <a:t>Large labels mark contrast magnitude—not chosen winners.</a:t>
            </a:r>
          </a:p>
        </p:txBody>
      </p:sp>
      <p:sp>
        <p:nvSpPr>
          <p:cNvPr id="15" name="">
            <a:extLst xmlns:a="http://schemas.openxmlformats.org/drawingml/2006/main">
              <a:ext uri="{FF2B5EF4-FFF2-40B4-BE49-F238E27FC236}">
                <a16:creationId xmlns:a16="http://schemas.microsoft.com/office/drawing/2014/main" id="{42EFAF55-4AC8-40B6-ADB0-88ACB0354CEF}"/>
              </a:ext>
            </a:extLst>
          </p:cNvPr>
          <p:cNvSpPr>
            <a:spLocks xmlns:a="http://schemas.openxmlformats.org/drawingml/2006/main" noGrp="1"/>
          </p:cNvSpPr>
          <p:nvPr/>
        </p:nvSpPr>
        <p:spPr>
          <a:xfrm xmlns:a="http://schemas.openxmlformats.org/drawingml/2006/main">
            <a:off x="9315450" y="50673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667386"/>
                </a:solidFill>
              </a:defRPr>
            </a:pPr>
            <a:r>
              <a:rPr sz="1125" b="0">
                <a:solidFill>
                  <a:srgbClr val="667386"/>
                </a:solidFill>
              </a:rPr>
              <a:t>AMD, MSFT, and GOOGL look different from TSLA, AMT, and HD—but this atlas cannot convert that post-hoc split into a rule.</a:t>
            </a:r>
          </a:p>
        </p:txBody>
      </p:sp>
    </p:spTree>
    <p:extLst>
      <p:ext uri="{BB962C8B-B14F-4D97-AF65-F5344CB8AC3E}">
        <p14:creationId xmlns:p14="http://schemas.microsoft.com/office/powerpoint/2010/main" val="175805572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1B33726-C464-41DA-A81A-84E351FC056F}"/>
              </a:ext>
            </a:extLst>
          </p:cNvPr>
          <p:cNvSpPr>
            <a:spLocks xmlns:a="http://schemas.openxmlformats.org/drawingml/2006/main" noGrp="1"/>
          </p:cNvSpPr>
          <p:nvPr/>
        </p:nvSpPr>
        <p:spPr>
          <a:xfrm xmlns:a="http://schemas.openxmlformats.org/drawingml/2006/main">
            <a:off x="457200" y="238125"/>
            <a:ext cx="800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CROSS-ASSET OPENING MECHANISM</a:t>
            </a:r>
          </a:p>
        </p:txBody>
      </p:sp>
      <p:sp>
        <p:nvSpPr>
          <p:cNvPr id="2" name="">
            <a:extLst xmlns:a="http://schemas.openxmlformats.org/drawingml/2006/main">
              <a:ext uri="{FF2B5EF4-FFF2-40B4-BE49-F238E27FC236}">
                <a16:creationId xmlns:a16="http://schemas.microsoft.com/office/drawing/2014/main" id="{6299B301-65FC-4AC2-9B17-83D55991649C}"/>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Sector structure is a clue, not a permission slip</a:t>
            </a:r>
          </a:p>
        </p:txBody>
      </p:sp>
      <p:sp>
        <p:nvSpPr>
          <p:cNvPr id="3" name="">
            <a:extLst xmlns:a="http://schemas.openxmlformats.org/drawingml/2006/main">
              <a:ext uri="{FF2B5EF4-FFF2-40B4-BE49-F238E27FC236}">
                <a16:creationId xmlns:a16="http://schemas.microsoft.com/office/drawing/2014/main" id="{55EA277D-E852-45AE-A152-53F824AB7606}"/>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EBC3131B-FCA8-4BF8-80F5-CD731D56B7C2}"/>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Mechanism replication · 26 non-NVDA assets · causal outcomes through 2025</a:t>
            </a:r>
          </a:p>
        </p:txBody>
      </p:sp>
      <p:sp>
        <p:nvSpPr>
          <p:cNvPr id="5" name="">
            <a:extLst xmlns:a="http://schemas.openxmlformats.org/drawingml/2006/main">
              <a:ext uri="{FF2B5EF4-FFF2-40B4-BE49-F238E27FC236}">
                <a16:creationId xmlns:a16="http://schemas.microsoft.com/office/drawing/2014/main" id="{A36E6D76-4A20-4202-ADFF-670ADBFC6D16}"/>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47</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ad35acb2a7d4b2c"/>
          <a:stretch xmlns:a="http://schemas.openxmlformats.org/drawingml/2006/main"/>
        </p:blipFill>
        <p:spPr>
          <a:xfrm xmlns:a="http://schemas.openxmlformats.org/drawingml/2006/main">
            <a:off x="725365" y="1409700"/>
            <a:ext cx="7693269"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E72B7FF-A8DE-4F1D-AF1D-42351A0056A7}"/>
              </a:ext>
            </a:extLst>
          </p:cNvPr>
          <p:cNvSpPr>
            <a:spLocks xmlns:a="http://schemas.openxmlformats.org/drawingml/2006/main" noGrp="1"/>
          </p:cNvSpPr>
          <p:nvPr/>
        </p:nvSpPr>
        <p:spPr>
          <a:xfrm xmlns:a="http://schemas.openxmlformats.org/drawingml/2006/main">
            <a:off x="8972550" y="1504950"/>
            <a:ext cx="2667000" cy="44196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1F1B9359-7A77-4B0C-A7ED-F38B5A0B85B3}"/>
              </a:ext>
            </a:extLst>
          </p:cNvPr>
          <p:cNvSpPr>
            <a:spLocks xmlns:a="http://schemas.openxmlformats.org/drawingml/2006/main" noGrp="1"/>
          </p:cNvSpPr>
          <p:nvPr/>
        </p:nvSpPr>
        <p:spPr>
          <a:xfrm xmlns:a="http://schemas.openxmlformats.org/drawingml/2006/main">
            <a:off x="9201150" y="180975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4866D"/>
                </a:solidFill>
              </a:defRPr>
            </a:pPr>
            <a:r>
              <a:rPr sz="1725" b="1">
                <a:solidFill>
                  <a:srgbClr val="14866D"/>
                </a:solidFill>
              </a:rPr>
              <a:t>Pockets of support</a:t>
            </a:r>
          </a:p>
        </p:txBody>
      </p:sp>
      <p:sp>
        <p:nvSpPr>
          <p:cNvPr id="9" name="">
            <a:extLst xmlns:a="http://schemas.openxmlformats.org/drawingml/2006/main">
              <a:ext uri="{FF2B5EF4-FFF2-40B4-BE49-F238E27FC236}">
                <a16:creationId xmlns:a16="http://schemas.microsoft.com/office/drawing/2014/main" id="{695369A4-A604-4995-B8C3-AD2471F66C9D}"/>
              </a:ext>
            </a:extLst>
          </p:cNvPr>
          <p:cNvSpPr>
            <a:spLocks xmlns:a="http://schemas.openxmlformats.org/drawingml/2006/main" noGrp="1"/>
          </p:cNvSpPr>
          <p:nvPr/>
        </p:nvSpPr>
        <p:spPr>
          <a:xfrm xmlns:a="http://schemas.openxmlformats.org/drawingml/2006/main">
            <a:off x="9201150" y="2305050"/>
            <a:ext cx="2209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64B"/>
                </a:solidFill>
              </a:defRPr>
            </a:pPr>
            <a:r>
              <a:rPr sz="1350" b="0">
                <a:solidFill>
                  <a:srgbClr val="24364B"/>
                </a:solidFill>
              </a:rPr>
              <a:t>Technology, communication services, materials, and part of energy lean negative.</a:t>
            </a:r>
          </a:p>
        </p:txBody>
      </p:sp>
      <p:sp>
        <p:nvSpPr>
          <p:cNvPr id="10" name="">
            <a:extLst xmlns:a="http://schemas.openxmlformats.org/drawingml/2006/main">
              <a:ext uri="{FF2B5EF4-FFF2-40B4-BE49-F238E27FC236}">
                <a16:creationId xmlns:a16="http://schemas.microsoft.com/office/drawing/2014/main" id="{DAA360D6-4122-467B-B020-F88730D74F73}"/>
              </a:ext>
            </a:extLst>
          </p:cNvPr>
          <p:cNvSpPr>
            <a:spLocks xmlns:a="http://schemas.openxmlformats.org/drawingml/2006/main" noGrp="1"/>
          </p:cNvSpPr>
          <p:nvPr/>
        </p:nvSpPr>
        <p:spPr>
          <a:xfrm xmlns:a="http://schemas.openxmlformats.org/drawingml/2006/main">
            <a:off x="9201150" y="3429000"/>
            <a:ext cx="22098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03A72E85-138D-4954-B479-69DAA2EC9A4E}"/>
              </a:ext>
            </a:extLst>
          </p:cNvPr>
          <p:cNvSpPr>
            <a:spLocks xmlns:a="http://schemas.openxmlformats.org/drawingml/2006/main" noGrp="1"/>
          </p:cNvSpPr>
          <p:nvPr/>
        </p:nvSpPr>
        <p:spPr>
          <a:xfrm xmlns:a="http://schemas.openxmlformats.org/drawingml/2006/main">
            <a:off x="9201150" y="3752850"/>
            <a:ext cx="2209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B44738"/>
                </a:solidFill>
              </a:defRPr>
            </a:pPr>
            <a:r>
              <a:rPr sz="1350" b="0">
                <a:solidFill>
                  <a:srgbClr val="B44738"/>
                </a:solidFill>
              </a:rPr>
              <a:t>But most groups have only two representatives, and the sector split was not a selection rule.</a:t>
            </a:r>
          </a:p>
        </p:txBody>
      </p:sp>
      <p:sp>
        <p:nvSpPr>
          <p:cNvPr id="12" name="">
            <a:extLst xmlns:a="http://schemas.openxmlformats.org/drawingml/2006/main">
              <a:ext uri="{FF2B5EF4-FFF2-40B4-BE49-F238E27FC236}">
                <a16:creationId xmlns:a16="http://schemas.microsoft.com/office/drawing/2014/main" id="{155F8CDA-492C-455B-A75B-2BBEC76C0251}"/>
              </a:ext>
            </a:extLst>
          </p:cNvPr>
          <p:cNvSpPr>
            <a:spLocks xmlns:a="http://schemas.openxmlformats.org/drawingml/2006/main" noGrp="1"/>
          </p:cNvSpPr>
          <p:nvPr/>
        </p:nvSpPr>
        <p:spPr>
          <a:xfrm xmlns:a="http://schemas.openxmlformats.org/drawingml/2006/main">
            <a:off x="9201150" y="497205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B44738"/>
                </a:solidFill>
              </a:defRPr>
            </a:pPr>
            <a:r>
              <a:rPr sz="1275" b="1">
                <a:solidFill>
                  <a:srgbClr val="B44738"/>
                </a:solidFill>
              </a:rPr>
              <a:t>This can motivate a new predeclared sector hypothesis; it cannot rescue the broad mechanism.</a:t>
            </a:r>
          </a:p>
        </p:txBody>
      </p:sp>
    </p:spTree>
    <p:extLst>
      <p:ext uri="{BB962C8B-B14F-4D97-AF65-F5344CB8AC3E}">
        <p14:creationId xmlns:p14="http://schemas.microsoft.com/office/powerpoint/2010/main" val="23477492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7C78AA2-1067-49BE-87D7-6FD47C0E55C7}"/>
              </a:ext>
            </a:extLst>
          </p:cNvPr>
          <p:cNvSpPr>
            <a:spLocks xmlns:a="http://schemas.openxmlformats.org/drawingml/2006/main" noGrp="1"/>
          </p:cNvSpPr>
          <p:nvPr/>
        </p:nvSpPr>
        <p:spPr>
          <a:xfrm xmlns:a="http://schemas.openxmlformats.org/drawingml/2006/main">
            <a:off x="457200" y="238125"/>
            <a:ext cx="800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CROSS-ASSET OPENING MECHANISM</a:t>
            </a:r>
          </a:p>
        </p:txBody>
      </p:sp>
      <p:sp>
        <p:nvSpPr>
          <p:cNvPr id="2" name="">
            <a:extLst xmlns:a="http://schemas.openxmlformats.org/drawingml/2006/main">
              <a:ext uri="{FF2B5EF4-FFF2-40B4-BE49-F238E27FC236}">
                <a16:creationId xmlns:a16="http://schemas.microsoft.com/office/drawing/2014/main" id="{FB389A87-5FC6-446C-AB25-886B1056BA9B}"/>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Even supportive assets can change sign through time</a:t>
            </a:r>
          </a:p>
        </p:txBody>
      </p:sp>
      <p:sp>
        <p:nvSpPr>
          <p:cNvPr id="3" name="">
            <a:extLst xmlns:a="http://schemas.openxmlformats.org/drawingml/2006/main">
              <a:ext uri="{FF2B5EF4-FFF2-40B4-BE49-F238E27FC236}">
                <a16:creationId xmlns:a16="http://schemas.microsoft.com/office/drawing/2014/main" id="{A6F191B2-6F96-4DC0-A297-A8F137E90F3D}"/>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1A689F22-B3CC-482D-9442-B58E4C30FF63}"/>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Mechanism replication · 26 non-NVDA assets · causal outcomes through 2025</a:t>
            </a:r>
          </a:p>
        </p:txBody>
      </p:sp>
      <p:sp>
        <p:nvSpPr>
          <p:cNvPr id="5" name="">
            <a:extLst xmlns:a="http://schemas.openxmlformats.org/drawingml/2006/main">
              <a:ext uri="{FF2B5EF4-FFF2-40B4-BE49-F238E27FC236}">
                <a16:creationId xmlns:a16="http://schemas.microsoft.com/office/drawing/2014/main" id="{83FA3889-01AF-422B-BD34-3E66F07EEEA2}"/>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48</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8647726b03a4fed"/>
          <a:stretch xmlns:a="http://schemas.openxmlformats.org/drawingml/2006/main"/>
        </p:blipFill>
        <p:spPr>
          <a:xfrm xmlns:a="http://schemas.openxmlformats.org/drawingml/2006/main">
            <a:off x="1993900" y="1352550"/>
            <a:ext cx="4127500" cy="4953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3D2F99E-3242-4194-927B-20A2D97619A6}"/>
              </a:ext>
            </a:extLst>
          </p:cNvPr>
          <p:cNvSpPr>
            <a:spLocks xmlns:a="http://schemas.openxmlformats.org/drawingml/2006/main" noGrp="1"/>
          </p:cNvSpPr>
          <p:nvPr/>
        </p:nvSpPr>
        <p:spPr>
          <a:xfrm xmlns:a="http://schemas.openxmlformats.org/drawingml/2006/main">
            <a:off x="8020050" y="1524000"/>
            <a:ext cx="3619500" cy="43053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50641B74-0D22-4D45-AB7B-01A332969BB9}"/>
              </a:ext>
            </a:extLst>
          </p:cNvPr>
          <p:cNvSpPr>
            <a:spLocks xmlns:a="http://schemas.openxmlformats.org/drawingml/2006/main" noGrp="1"/>
          </p:cNvSpPr>
          <p:nvPr/>
        </p:nvSpPr>
        <p:spPr>
          <a:xfrm xmlns:a="http://schemas.openxmlformats.org/drawingml/2006/main">
            <a:off x="8286750" y="1809750"/>
            <a:ext cx="3086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The instability is two-dimensional</a:t>
            </a:r>
          </a:p>
        </p:txBody>
      </p:sp>
      <p:sp>
        <p:nvSpPr>
          <p:cNvPr id="9" name="">
            <a:extLst xmlns:a="http://schemas.openxmlformats.org/drawingml/2006/main">
              <a:ext uri="{FF2B5EF4-FFF2-40B4-BE49-F238E27FC236}">
                <a16:creationId xmlns:a16="http://schemas.microsoft.com/office/drawing/2014/main" id="{E848DF4C-D5C0-41BD-8F39-7B6279A9C0CD}"/>
              </a:ext>
            </a:extLst>
          </p:cNvPr>
          <p:cNvSpPr>
            <a:spLocks xmlns:a="http://schemas.openxmlformats.org/drawingml/2006/main" noGrp="1"/>
          </p:cNvSpPr>
          <p:nvPr/>
        </p:nvSpPr>
        <p:spPr>
          <a:xfrm xmlns:a="http://schemas.openxmlformats.org/drawingml/2006/main">
            <a:off x="8305800" y="28098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3808A27D-7CAF-42D2-B3E4-23051FB84356}"/>
              </a:ext>
            </a:extLst>
          </p:cNvPr>
          <p:cNvSpPr>
            <a:spLocks xmlns:a="http://schemas.openxmlformats.org/drawingml/2006/main" noGrp="1"/>
          </p:cNvSpPr>
          <p:nvPr/>
        </p:nvSpPr>
        <p:spPr>
          <a:xfrm xmlns:a="http://schemas.openxmlformats.org/drawingml/2006/main">
            <a:off x="8534400" y="2724150"/>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Across rows: assets disagree about the sign.</a:t>
            </a:r>
          </a:p>
        </p:txBody>
      </p:sp>
      <p:sp>
        <p:nvSpPr>
          <p:cNvPr id="11" name="">
            <a:extLst xmlns:a="http://schemas.openxmlformats.org/drawingml/2006/main">
              <a:ext uri="{FF2B5EF4-FFF2-40B4-BE49-F238E27FC236}">
                <a16:creationId xmlns:a16="http://schemas.microsoft.com/office/drawing/2014/main" id="{19038992-4B5C-4C74-98E3-AE640471F3AB}"/>
              </a:ext>
            </a:extLst>
          </p:cNvPr>
          <p:cNvSpPr>
            <a:spLocks xmlns:a="http://schemas.openxmlformats.org/drawingml/2006/main" noGrp="1"/>
          </p:cNvSpPr>
          <p:nvPr/>
        </p:nvSpPr>
        <p:spPr>
          <a:xfrm xmlns:a="http://schemas.openxmlformats.org/drawingml/2006/main">
            <a:off x="8305800" y="3590925"/>
            <a:ext cx="85725" cy="85725"/>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12" name="">
            <a:extLst xmlns:a="http://schemas.openxmlformats.org/drawingml/2006/main">
              <a:ext uri="{FF2B5EF4-FFF2-40B4-BE49-F238E27FC236}">
                <a16:creationId xmlns:a16="http://schemas.microsoft.com/office/drawing/2014/main" id="{29F6F8AB-1D04-46B6-88AA-C8F886634AE5}"/>
              </a:ext>
            </a:extLst>
          </p:cNvPr>
          <p:cNvSpPr>
            <a:spLocks xmlns:a="http://schemas.openxmlformats.org/drawingml/2006/main" noGrp="1"/>
          </p:cNvSpPr>
          <p:nvPr/>
        </p:nvSpPr>
        <p:spPr>
          <a:xfrm xmlns:a="http://schemas.openxmlformats.org/drawingml/2006/main">
            <a:off x="8534400" y="3505200"/>
            <a:ext cx="2819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Across columns: the same asset can reverse between eras.</a:t>
            </a:r>
          </a:p>
        </p:txBody>
      </p:sp>
      <p:sp>
        <p:nvSpPr>
          <p:cNvPr id="13" name="">
            <a:extLst xmlns:a="http://schemas.openxmlformats.org/drawingml/2006/main">
              <a:ext uri="{FF2B5EF4-FFF2-40B4-BE49-F238E27FC236}">
                <a16:creationId xmlns:a16="http://schemas.microsoft.com/office/drawing/2014/main" id="{A259714F-5B62-48B9-95D0-36CE3E8A6D73}"/>
              </a:ext>
            </a:extLst>
          </p:cNvPr>
          <p:cNvSpPr>
            <a:spLocks xmlns:a="http://schemas.openxmlformats.org/drawingml/2006/main" noGrp="1"/>
          </p:cNvSpPr>
          <p:nvPr/>
        </p:nvSpPr>
        <p:spPr>
          <a:xfrm xmlns:a="http://schemas.openxmlformats.org/drawingml/2006/main">
            <a:off x="8305800" y="44862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4" name="">
            <a:extLst xmlns:a="http://schemas.openxmlformats.org/drawingml/2006/main">
              <a:ext uri="{FF2B5EF4-FFF2-40B4-BE49-F238E27FC236}">
                <a16:creationId xmlns:a16="http://schemas.microsoft.com/office/drawing/2014/main" id="{29B168D9-7EDE-422D-A1F8-B5A9B627EC51}"/>
              </a:ext>
            </a:extLst>
          </p:cNvPr>
          <p:cNvSpPr>
            <a:spLocks xmlns:a="http://schemas.openxmlformats.org/drawingml/2006/main" noGrp="1"/>
          </p:cNvSpPr>
          <p:nvPr/>
        </p:nvSpPr>
        <p:spPr>
          <a:xfrm xmlns:a="http://schemas.openxmlformats.org/drawingml/2006/main">
            <a:off x="8534400" y="4400550"/>
            <a:ext cx="2819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A broad static ATR gate therefore lacks transportability.</a:t>
            </a:r>
          </a:p>
        </p:txBody>
      </p:sp>
      <p:sp>
        <p:nvSpPr>
          <p:cNvPr id="15" name="">
            <a:extLst xmlns:a="http://schemas.openxmlformats.org/drawingml/2006/main">
              <a:ext uri="{FF2B5EF4-FFF2-40B4-BE49-F238E27FC236}">
                <a16:creationId xmlns:a16="http://schemas.microsoft.com/office/drawing/2014/main" id="{300290D7-361F-4905-AE41-D4202926DA1A}"/>
              </a:ext>
            </a:extLst>
          </p:cNvPr>
          <p:cNvSpPr>
            <a:spLocks xmlns:a="http://schemas.openxmlformats.org/drawingml/2006/main" noGrp="1"/>
          </p:cNvSpPr>
          <p:nvPr/>
        </p:nvSpPr>
        <p:spPr>
          <a:xfrm xmlns:a="http://schemas.openxmlformats.org/drawingml/2006/main">
            <a:off x="8286750" y="5276850"/>
            <a:ext cx="308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24364B"/>
                </a:solidFill>
              </a:defRPr>
            </a:pPr>
            <a:r>
              <a:rPr sz="1200" b="1">
                <a:solidFill>
                  <a:srgbClr val="24364B"/>
                </a:solidFill>
              </a:rPr>
              <a:t>A future niche study must predeclare both the universe and the time-validation design.</a:t>
            </a:r>
          </a:p>
        </p:txBody>
      </p:sp>
    </p:spTree>
    <p:extLst>
      <p:ext uri="{BB962C8B-B14F-4D97-AF65-F5344CB8AC3E}">
        <p14:creationId xmlns:p14="http://schemas.microsoft.com/office/powerpoint/2010/main" val="20926024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684E7341-ACC8-4F5E-A5D2-6024BF69ECFA}"/>
              </a:ext>
            </a:extLst>
          </p:cNvPr>
          <p:cNvSpPr>
            <a:spLocks xmlns:a="http://schemas.openxmlformats.org/drawingml/2006/main" noGrp="1"/>
          </p:cNvSpPr>
          <p:nvPr/>
        </p:nvSpPr>
        <p:spPr>
          <a:xfrm xmlns:a="http://schemas.openxmlformats.org/drawingml/2006/main">
            <a:off x="457200" y="238125"/>
            <a:ext cx="800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CROSS-ASSET OPENING MECHANISM</a:t>
            </a:r>
          </a:p>
        </p:txBody>
      </p:sp>
      <p:sp>
        <p:nvSpPr>
          <p:cNvPr id="2" name="">
            <a:extLst xmlns:a="http://schemas.openxmlformats.org/drawingml/2006/main">
              <a:ext uri="{FF2B5EF4-FFF2-40B4-BE49-F238E27FC236}">
                <a16:creationId xmlns:a16="http://schemas.microsoft.com/office/drawing/2014/main" id="{3F2A2769-43D8-46FF-A865-43210BCCC25C}"/>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broad mechanism stops; NVDA remains separate</a:t>
            </a:r>
          </a:p>
        </p:txBody>
      </p:sp>
      <p:sp>
        <p:nvSpPr>
          <p:cNvPr id="3" name="">
            <a:extLst xmlns:a="http://schemas.openxmlformats.org/drawingml/2006/main">
              <a:ext uri="{FF2B5EF4-FFF2-40B4-BE49-F238E27FC236}">
                <a16:creationId xmlns:a16="http://schemas.microsoft.com/office/drawing/2014/main" id="{444049BC-7C83-4956-A92F-6E499BCE9F9B}"/>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35B23C22-4CC5-44B2-86A8-C7A7A033C451}"/>
              </a:ext>
            </a:extLst>
          </p:cNvPr>
          <p:cNvSpPr>
            <a:spLocks xmlns:a="http://schemas.openxmlformats.org/drawingml/2006/main" noGrp="1"/>
          </p:cNvSpPr>
          <p:nvPr/>
        </p:nvSpPr>
        <p:spPr>
          <a:xfrm xmlns:a="http://schemas.openxmlformats.org/drawingml/2006/main">
            <a:off x="457200" y="6515100"/>
            <a:ext cx="857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Mechanism replication · 26 non-NVDA assets · causal outcomes through 2025</a:t>
            </a:r>
          </a:p>
        </p:txBody>
      </p:sp>
      <p:sp>
        <p:nvSpPr>
          <p:cNvPr id="5" name="">
            <a:extLst xmlns:a="http://schemas.openxmlformats.org/drawingml/2006/main">
              <a:ext uri="{FF2B5EF4-FFF2-40B4-BE49-F238E27FC236}">
                <a16:creationId xmlns:a16="http://schemas.microsoft.com/office/drawing/2014/main" id="{38DBA593-BB16-4073-847D-869E8B717213}"/>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49</a:t>
            </a:r>
          </a:p>
        </p:txBody>
      </p:sp>
      <p:sp>
        <p:nvSpPr>
          <p:cNvPr id="6" name="">
            <a:extLst xmlns:a="http://schemas.openxmlformats.org/drawingml/2006/main">
              <a:ext uri="{FF2B5EF4-FFF2-40B4-BE49-F238E27FC236}">
                <a16:creationId xmlns:a16="http://schemas.microsoft.com/office/drawing/2014/main" id="{353FA0C4-D786-41D8-9FC9-43A4B4B722D6}"/>
              </a:ext>
            </a:extLst>
          </p:cNvPr>
          <p:cNvSpPr>
            <a:spLocks xmlns:a="http://schemas.openxmlformats.org/drawingml/2006/main" noGrp="1"/>
          </p:cNvSpPr>
          <p:nvPr/>
        </p:nvSpPr>
        <p:spPr>
          <a:xfrm xmlns:a="http://schemas.openxmlformats.org/drawingml/2006/main">
            <a:off x="552450" y="1562100"/>
            <a:ext cx="11087100" cy="8382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7" name="">
            <a:extLst xmlns:a="http://schemas.openxmlformats.org/drawingml/2006/main">
              <a:ext uri="{FF2B5EF4-FFF2-40B4-BE49-F238E27FC236}">
                <a16:creationId xmlns:a16="http://schemas.microsoft.com/office/drawing/2014/main" id="{B89430FA-798D-4102-976B-A342B0E66977}"/>
              </a:ext>
            </a:extLst>
          </p:cNvPr>
          <p:cNvSpPr>
            <a:spLocks xmlns:a="http://schemas.openxmlformats.org/drawingml/2006/main" noGrp="1"/>
          </p:cNvSpPr>
          <p:nvPr/>
        </p:nvSpPr>
        <p:spPr>
          <a:xfrm xmlns:a="http://schemas.openxmlformats.org/drawingml/2006/main">
            <a:off x="819150" y="1771650"/>
            <a:ext cx="10553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325" b="1">
                <a:solidFill>
                  <a:srgbClr val="B44738"/>
                </a:solidFill>
              </a:defRPr>
            </a:pPr>
            <a:r>
              <a:rPr sz="2325" b="1">
                <a:solidFill>
                  <a:srgbClr val="B44738"/>
                </a:solidFill>
              </a:rPr>
              <a:t>STOP_MECHANISM_REPLICATION_GATES_FAILED</a:t>
            </a:r>
          </a:p>
        </p:txBody>
      </p:sp>
      <p:sp>
        <p:nvSpPr>
          <p:cNvPr id="8" name="">
            <a:extLst xmlns:a="http://schemas.openxmlformats.org/drawingml/2006/main">
              <a:ext uri="{FF2B5EF4-FFF2-40B4-BE49-F238E27FC236}">
                <a16:creationId xmlns:a16="http://schemas.microsoft.com/office/drawing/2014/main" id="{E8044ED2-5C07-4004-8B1A-A97C5D64A170}"/>
              </a:ext>
            </a:extLst>
          </p:cNvPr>
          <p:cNvSpPr>
            <a:spLocks xmlns:a="http://schemas.openxmlformats.org/drawingml/2006/main" noGrp="1"/>
          </p:cNvSpPr>
          <p:nvPr/>
        </p:nvSpPr>
        <p:spPr>
          <a:xfrm xmlns:a="http://schemas.openxmlformats.org/drawingml/2006/main">
            <a:off x="552450" y="27813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Frozen gates</a:t>
            </a:r>
          </a:p>
        </p:txBody>
      </p:sp>
      <p:sp>
        <p:nvSpPr>
          <p:cNvPr id="9" name="">
            <a:extLst xmlns:a="http://schemas.openxmlformats.org/drawingml/2006/main">
              <a:ext uri="{FF2B5EF4-FFF2-40B4-BE49-F238E27FC236}">
                <a16:creationId xmlns:a16="http://schemas.microsoft.com/office/drawing/2014/main" id="{A5B88B4F-09CA-4385-8B4D-51B33BFB2608}"/>
              </a:ext>
            </a:extLst>
          </p:cNvPr>
          <p:cNvSpPr>
            <a:spLocks xmlns:a="http://schemas.openxmlformats.org/drawingml/2006/main" noGrp="1"/>
          </p:cNvSpPr>
          <p:nvPr/>
        </p:nvSpPr>
        <p:spPr>
          <a:xfrm xmlns:a="http://schemas.openxmlformats.org/drawingml/2006/main">
            <a:off x="685800" y="3257550"/>
            <a:ext cx="876300" cy="30480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10" name="">
            <a:extLst xmlns:a="http://schemas.openxmlformats.org/drawingml/2006/main">
              <a:ext uri="{FF2B5EF4-FFF2-40B4-BE49-F238E27FC236}">
                <a16:creationId xmlns:a16="http://schemas.microsoft.com/office/drawing/2014/main" id="{9690CCEE-646A-4471-A0E7-710D67EB57F2}"/>
              </a:ext>
            </a:extLst>
          </p:cNvPr>
          <p:cNvSpPr>
            <a:spLocks xmlns:a="http://schemas.openxmlformats.org/drawingml/2006/main" noGrp="1"/>
          </p:cNvSpPr>
          <p:nvPr/>
        </p:nvSpPr>
        <p:spPr>
          <a:xfrm xmlns:a="http://schemas.openxmlformats.org/drawingml/2006/main">
            <a:off x="742950" y="33147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4866D"/>
                </a:solidFill>
              </a:defRPr>
            </a:pPr>
            <a:r>
              <a:rPr sz="1050" b="1">
                <a:solidFill>
                  <a:srgbClr val="14866D"/>
                </a:solidFill>
              </a:rPr>
              <a:t>PASS</a:t>
            </a:r>
          </a:p>
        </p:txBody>
      </p:sp>
      <p:sp>
        <p:nvSpPr>
          <p:cNvPr id="11" name="">
            <a:extLst xmlns:a="http://schemas.openxmlformats.org/drawingml/2006/main">
              <a:ext uri="{FF2B5EF4-FFF2-40B4-BE49-F238E27FC236}">
                <a16:creationId xmlns:a16="http://schemas.microsoft.com/office/drawing/2014/main" id="{365887B1-14C9-4BE1-A1C6-878266152620}"/>
              </a:ext>
            </a:extLst>
          </p:cNvPr>
          <p:cNvSpPr>
            <a:spLocks xmlns:a="http://schemas.openxmlformats.org/drawingml/2006/main" noGrp="1"/>
          </p:cNvSpPr>
          <p:nvPr/>
        </p:nvSpPr>
        <p:spPr>
          <a:xfrm xmlns:a="http://schemas.openxmlformats.org/drawingml/2006/main">
            <a:off x="1771650" y="32956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Asset support</a:t>
            </a:r>
          </a:p>
        </p:txBody>
      </p:sp>
      <p:sp>
        <p:nvSpPr>
          <p:cNvPr id="12" name="">
            <a:extLst xmlns:a="http://schemas.openxmlformats.org/drawingml/2006/main">
              <a:ext uri="{FF2B5EF4-FFF2-40B4-BE49-F238E27FC236}">
                <a16:creationId xmlns:a16="http://schemas.microsoft.com/office/drawing/2014/main" id="{33D68665-8B53-4BB1-96D9-D9A363F85229}"/>
              </a:ext>
            </a:extLst>
          </p:cNvPr>
          <p:cNvSpPr>
            <a:spLocks xmlns:a="http://schemas.openxmlformats.org/drawingml/2006/main" noGrp="1"/>
          </p:cNvSpPr>
          <p:nvPr/>
        </p:nvSpPr>
        <p:spPr>
          <a:xfrm xmlns:a="http://schemas.openxmlformats.org/drawingml/2006/main">
            <a:off x="4095750" y="330517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26 eligible; minimum 24</a:t>
            </a:r>
          </a:p>
        </p:txBody>
      </p:sp>
      <p:sp>
        <p:nvSpPr>
          <p:cNvPr id="13" name="">
            <a:extLst xmlns:a="http://schemas.openxmlformats.org/drawingml/2006/main">
              <a:ext uri="{FF2B5EF4-FFF2-40B4-BE49-F238E27FC236}">
                <a16:creationId xmlns:a16="http://schemas.microsoft.com/office/drawing/2014/main" id="{44610E71-6E70-4BC6-A41D-783364432C39}"/>
              </a:ext>
            </a:extLst>
          </p:cNvPr>
          <p:cNvSpPr>
            <a:spLocks xmlns:a="http://schemas.openxmlformats.org/drawingml/2006/main" noGrp="1"/>
          </p:cNvSpPr>
          <p:nvPr/>
        </p:nvSpPr>
        <p:spPr>
          <a:xfrm xmlns:a="http://schemas.openxmlformats.org/drawingml/2006/main">
            <a:off x="685800" y="3714750"/>
            <a:ext cx="876300" cy="3048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14" name="">
            <a:extLst xmlns:a="http://schemas.openxmlformats.org/drawingml/2006/main">
              <a:ext uri="{FF2B5EF4-FFF2-40B4-BE49-F238E27FC236}">
                <a16:creationId xmlns:a16="http://schemas.microsoft.com/office/drawing/2014/main" id="{ECC237B8-2FDB-4741-AEB2-D96A01C68DB5}"/>
              </a:ext>
            </a:extLst>
          </p:cNvPr>
          <p:cNvSpPr>
            <a:spLocks xmlns:a="http://schemas.openxmlformats.org/drawingml/2006/main" noGrp="1"/>
          </p:cNvSpPr>
          <p:nvPr/>
        </p:nvSpPr>
        <p:spPr>
          <a:xfrm xmlns:a="http://schemas.openxmlformats.org/drawingml/2006/main">
            <a:off x="742950" y="37719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B44738"/>
                </a:solidFill>
              </a:defRPr>
            </a:pPr>
            <a:r>
              <a:rPr sz="1050" b="1">
                <a:solidFill>
                  <a:srgbClr val="B44738"/>
                </a:solidFill>
              </a:rPr>
              <a:t>FAIL</a:t>
            </a:r>
          </a:p>
        </p:txBody>
      </p:sp>
      <p:sp>
        <p:nvSpPr>
          <p:cNvPr id="15" name="">
            <a:extLst xmlns:a="http://schemas.openxmlformats.org/drawingml/2006/main">
              <a:ext uri="{FF2B5EF4-FFF2-40B4-BE49-F238E27FC236}">
                <a16:creationId xmlns:a16="http://schemas.microsoft.com/office/drawing/2014/main" id="{F3D34745-0245-4F88-97C9-EDABB1D59FC4}"/>
              </a:ext>
            </a:extLst>
          </p:cNvPr>
          <p:cNvSpPr>
            <a:spLocks xmlns:a="http://schemas.openxmlformats.org/drawingml/2006/main" noGrp="1"/>
          </p:cNvSpPr>
          <p:nvPr/>
        </p:nvSpPr>
        <p:spPr>
          <a:xfrm xmlns:a="http://schemas.openxmlformats.org/drawingml/2006/main">
            <a:off x="1771650" y="37528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Median contrast</a:t>
            </a:r>
          </a:p>
        </p:txBody>
      </p:sp>
      <p:sp>
        <p:nvSpPr>
          <p:cNvPr id="16" name="">
            <a:extLst xmlns:a="http://schemas.openxmlformats.org/drawingml/2006/main">
              <a:ext uri="{FF2B5EF4-FFF2-40B4-BE49-F238E27FC236}">
                <a16:creationId xmlns:a16="http://schemas.microsoft.com/office/drawing/2014/main" id="{3D810AEC-BC05-4CDF-84EA-62281C1A9E9E}"/>
              </a:ext>
            </a:extLst>
          </p:cNvPr>
          <p:cNvSpPr>
            <a:spLocks xmlns:a="http://schemas.openxmlformats.org/drawingml/2006/main" noGrp="1"/>
          </p:cNvSpPr>
          <p:nvPr/>
        </p:nvSpPr>
        <p:spPr>
          <a:xfrm xmlns:a="http://schemas.openxmlformats.org/drawingml/2006/main">
            <a:off x="4095750" y="376237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+0.093%; required negative</a:t>
            </a:r>
          </a:p>
        </p:txBody>
      </p:sp>
      <p:sp>
        <p:nvSpPr>
          <p:cNvPr id="17" name="">
            <a:extLst xmlns:a="http://schemas.openxmlformats.org/drawingml/2006/main">
              <a:ext uri="{FF2B5EF4-FFF2-40B4-BE49-F238E27FC236}">
                <a16:creationId xmlns:a16="http://schemas.microsoft.com/office/drawing/2014/main" id="{907B6849-BC5A-46C6-8A53-B55F98D1C39D}"/>
              </a:ext>
            </a:extLst>
          </p:cNvPr>
          <p:cNvSpPr>
            <a:spLocks xmlns:a="http://schemas.openxmlformats.org/drawingml/2006/main" noGrp="1"/>
          </p:cNvSpPr>
          <p:nvPr/>
        </p:nvSpPr>
        <p:spPr>
          <a:xfrm xmlns:a="http://schemas.openxmlformats.org/drawingml/2006/main">
            <a:off x="685800" y="4171950"/>
            <a:ext cx="876300" cy="3048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18" name="">
            <a:extLst xmlns:a="http://schemas.openxmlformats.org/drawingml/2006/main">
              <a:ext uri="{FF2B5EF4-FFF2-40B4-BE49-F238E27FC236}">
                <a16:creationId xmlns:a16="http://schemas.microsoft.com/office/drawing/2014/main" id="{F4911393-828B-410A-BE1B-D776436010E2}"/>
              </a:ext>
            </a:extLst>
          </p:cNvPr>
          <p:cNvSpPr>
            <a:spLocks xmlns:a="http://schemas.openxmlformats.org/drawingml/2006/main" noGrp="1"/>
          </p:cNvSpPr>
          <p:nvPr/>
        </p:nvSpPr>
        <p:spPr>
          <a:xfrm xmlns:a="http://schemas.openxmlformats.org/drawingml/2006/main">
            <a:off x="742950" y="42291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B44738"/>
                </a:solidFill>
              </a:defRPr>
            </a:pPr>
            <a:r>
              <a:rPr sz="1050" b="1">
                <a:solidFill>
                  <a:srgbClr val="B44738"/>
                </a:solidFill>
              </a:rPr>
              <a:t>FAIL</a:t>
            </a:r>
          </a:p>
        </p:txBody>
      </p:sp>
      <p:sp>
        <p:nvSpPr>
          <p:cNvPr id="19" name="">
            <a:extLst xmlns:a="http://schemas.openxmlformats.org/drawingml/2006/main">
              <a:ext uri="{FF2B5EF4-FFF2-40B4-BE49-F238E27FC236}">
                <a16:creationId xmlns:a16="http://schemas.microsoft.com/office/drawing/2014/main" id="{70824B5F-B009-4CD7-B3FE-D4C0CA116FDE}"/>
              </a:ext>
            </a:extLst>
          </p:cNvPr>
          <p:cNvSpPr>
            <a:spLocks xmlns:a="http://schemas.openxmlformats.org/drawingml/2006/main" noGrp="1"/>
          </p:cNvSpPr>
          <p:nvPr/>
        </p:nvSpPr>
        <p:spPr>
          <a:xfrm xmlns:a="http://schemas.openxmlformats.org/drawingml/2006/main">
            <a:off x="1771650" y="42100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Asset breadth</a:t>
            </a:r>
          </a:p>
        </p:txBody>
      </p:sp>
      <p:sp>
        <p:nvSpPr>
          <p:cNvPr id="20" name="">
            <a:extLst xmlns:a="http://schemas.openxmlformats.org/drawingml/2006/main">
              <a:ext uri="{FF2B5EF4-FFF2-40B4-BE49-F238E27FC236}">
                <a16:creationId xmlns:a16="http://schemas.microsoft.com/office/drawing/2014/main" id="{F0D44833-E4E4-4A4C-B929-9075EF20D39D}"/>
              </a:ext>
            </a:extLst>
          </p:cNvPr>
          <p:cNvSpPr>
            <a:spLocks xmlns:a="http://schemas.openxmlformats.org/drawingml/2006/main" noGrp="1"/>
          </p:cNvSpPr>
          <p:nvPr/>
        </p:nvSpPr>
        <p:spPr>
          <a:xfrm xmlns:a="http://schemas.openxmlformats.org/drawingml/2006/main">
            <a:off x="4095750" y="421957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34.6% negative; required 60%</a:t>
            </a:r>
          </a:p>
        </p:txBody>
      </p:sp>
      <p:sp>
        <p:nvSpPr>
          <p:cNvPr id="21" name="">
            <a:extLst xmlns:a="http://schemas.openxmlformats.org/drawingml/2006/main">
              <a:ext uri="{FF2B5EF4-FFF2-40B4-BE49-F238E27FC236}">
                <a16:creationId xmlns:a16="http://schemas.microsoft.com/office/drawing/2014/main" id="{6B5799B9-A957-47A0-A40F-53D7477C2DE9}"/>
              </a:ext>
            </a:extLst>
          </p:cNvPr>
          <p:cNvSpPr>
            <a:spLocks xmlns:a="http://schemas.openxmlformats.org/drawingml/2006/main" noGrp="1"/>
          </p:cNvSpPr>
          <p:nvPr/>
        </p:nvSpPr>
        <p:spPr>
          <a:xfrm xmlns:a="http://schemas.openxmlformats.org/drawingml/2006/main">
            <a:off x="685800" y="4629150"/>
            <a:ext cx="876300" cy="3048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22" name="">
            <a:extLst xmlns:a="http://schemas.openxmlformats.org/drawingml/2006/main">
              <a:ext uri="{FF2B5EF4-FFF2-40B4-BE49-F238E27FC236}">
                <a16:creationId xmlns:a16="http://schemas.microsoft.com/office/drawing/2014/main" id="{37977E1C-C452-42E0-94BA-5223B1872513}"/>
              </a:ext>
            </a:extLst>
          </p:cNvPr>
          <p:cNvSpPr>
            <a:spLocks xmlns:a="http://schemas.openxmlformats.org/drawingml/2006/main" noGrp="1"/>
          </p:cNvSpPr>
          <p:nvPr/>
        </p:nvSpPr>
        <p:spPr>
          <a:xfrm xmlns:a="http://schemas.openxmlformats.org/drawingml/2006/main">
            <a:off x="742950" y="46863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B44738"/>
                </a:solidFill>
              </a:defRPr>
            </a:pPr>
            <a:r>
              <a:rPr sz="1050" b="1">
                <a:solidFill>
                  <a:srgbClr val="B44738"/>
                </a:solidFill>
              </a:rPr>
              <a:t>FAIL</a:t>
            </a:r>
          </a:p>
        </p:txBody>
      </p:sp>
      <p:sp>
        <p:nvSpPr>
          <p:cNvPr id="23" name="">
            <a:extLst xmlns:a="http://schemas.openxmlformats.org/drawingml/2006/main">
              <a:ext uri="{FF2B5EF4-FFF2-40B4-BE49-F238E27FC236}">
                <a16:creationId xmlns:a16="http://schemas.microsoft.com/office/drawing/2014/main" id="{213E3F0A-515F-4202-B433-2061ABB58021}"/>
              </a:ext>
            </a:extLst>
          </p:cNvPr>
          <p:cNvSpPr>
            <a:spLocks xmlns:a="http://schemas.openxmlformats.org/drawingml/2006/main" noGrp="1"/>
          </p:cNvSpPr>
          <p:nvPr/>
        </p:nvSpPr>
        <p:spPr>
          <a:xfrm xmlns:a="http://schemas.openxmlformats.org/drawingml/2006/main">
            <a:off x="1771650" y="46672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Era stability</a:t>
            </a:r>
          </a:p>
        </p:txBody>
      </p:sp>
      <p:sp>
        <p:nvSpPr>
          <p:cNvPr id="24" name="">
            <a:extLst xmlns:a="http://schemas.openxmlformats.org/drawingml/2006/main">
              <a:ext uri="{FF2B5EF4-FFF2-40B4-BE49-F238E27FC236}">
                <a16:creationId xmlns:a16="http://schemas.microsoft.com/office/drawing/2014/main" id="{4709D7F4-5A42-4E63-B1DA-17F1DA857F43}"/>
              </a:ext>
            </a:extLst>
          </p:cNvPr>
          <p:cNvSpPr>
            <a:spLocks xmlns:a="http://schemas.openxmlformats.org/drawingml/2006/main" noGrp="1"/>
          </p:cNvSpPr>
          <p:nvPr/>
        </p:nvSpPr>
        <p:spPr>
          <a:xfrm xmlns:a="http://schemas.openxmlformats.org/drawingml/2006/main">
            <a:off x="4095750" y="467677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negative only in 2021–2023</a:t>
            </a:r>
          </a:p>
        </p:txBody>
      </p:sp>
      <p:sp>
        <p:nvSpPr>
          <p:cNvPr id="25" name="">
            <a:extLst xmlns:a="http://schemas.openxmlformats.org/drawingml/2006/main">
              <a:ext uri="{FF2B5EF4-FFF2-40B4-BE49-F238E27FC236}">
                <a16:creationId xmlns:a16="http://schemas.microsoft.com/office/drawing/2014/main" id="{7D5108A3-72EF-4C15-B84F-A253E2E7A58A}"/>
              </a:ext>
            </a:extLst>
          </p:cNvPr>
          <p:cNvSpPr>
            <a:spLocks xmlns:a="http://schemas.openxmlformats.org/drawingml/2006/main" noGrp="1"/>
          </p:cNvSpPr>
          <p:nvPr/>
        </p:nvSpPr>
        <p:spPr>
          <a:xfrm xmlns:a="http://schemas.openxmlformats.org/drawingml/2006/main">
            <a:off x="685800" y="5086350"/>
            <a:ext cx="876300" cy="3048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26" name="">
            <a:extLst xmlns:a="http://schemas.openxmlformats.org/drawingml/2006/main">
              <a:ext uri="{FF2B5EF4-FFF2-40B4-BE49-F238E27FC236}">
                <a16:creationId xmlns:a16="http://schemas.microsoft.com/office/drawing/2014/main" id="{3D7CAD79-AC42-49D1-B19F-8803AD89FBD0}"/>
              </a:ext>
            </a:extLst>
          </p:cNvPr>
          <p:cNvSpPr>
            <a:spLocks xmlns:a="http://schemas.openxmlformats.org/drawingml/2006/main" noGrp="1"/>
          </p:cNvSpPr>
          <p:nvPr/>
        </p:nvSpPr>
        <p:spPr>
          <a:xfrm xmlns:a="http://schemas.openxmlformats.org/drawingml/2006/main">
            <a:off x="742950" y="51435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B44738"/>
                </a:solidFill>
              </a:defRPr>
            </a:pPr>
            <a:r>
              <a:rPr sz="1050" b="1">
                <a:solidFill>
                  <a:srgbClr val="B44738"/>
                </a:solidFill>
              </a:rPr>
              <a:t>FAIL</a:t>
            </a:r>
          </a:p>
        </p:txBody>
      </p:sp>
      <p:sp>
        <p:nvSpPr>
          <p:cNvPr id="27" name="">
            <a:extLst xmlns:a="http://schemas.openxmlformats.org/drawingml/2006/main">
              <a:ext uri="{FF2B5EF4-FFF2-40B4-BE49-F238E27FC236}">
                <a16:creationId xmlns:a16="http://schemas.microsoft.com/office/drawing/2014/main" id="{10E1557F-0C00-4455-9776-FC6AA5826551}"/>
              </a:ext>
            </a:extLst>
          </p:cNvPr>
          <p:cNvSpPr>
            <a:spLocks xmlns:a="http://schemas.openxmlformats.org/drawingml/2006/main" noGrp="1"/>
          </p:cNvSpPr>
          <p:nvPr/>
        </p:nvSpPr>
        <p:spPr>
          <a:xfrm xmlns:a="http://schemas.openxmlformats.org/drawingml/2006/main">
            <a:off x="1771650" y="51244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HIGH-ATR fade</a:t>
            </a:r>
          </a:p>
        </p:txBody>
      </p:sp>
      <p:sp>
        <p:nvSpPr>
          <p:cNvPr id="28" name="">
            <a:extLst xmlns:a="http://schemas.openxmlformats.org/drawingml/2006/main">
              <a:ext uri="{FF2B5EF4-FFF2-40B4-BE49-F238E27FC236}">
                <a16:creationId xmlns:a16="http://schemas.microsoft.com/office/drawing/2014/main" id="{C982F237-1825-4187-ACD8-BB138F1D3507}"/>
              </a:ext>
            </a:extLst>
          </p:cNvPr>
          <p:cNvSpPr>
            <a:spLocks xmlns:a="http://schemas.openxmlformats.org/drawingml/2006/main" noGrp="1"/>
          </p:cNvSpPr>
          <p:nvPr/>
        </p:nvSpPr>
        <p:spPr>
          <a:xfrm xmlns:a="http://schemas.openxmlformats.org/drawingml/2006/main">
            <a:off x="4095750" y="513397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+0.040% pooled; required nonpositive</a:t>
            </a:r>
          </a:p>
        </p:txBody>
      </p:sp>
      <p:sp>
        <p:nvSpPr>
          <p:cNvPr id="29" name="">
            <a:extLst xmlns:a="http://schemas.openxmlformats.org/drawingml/2006/main">
              <a:ext uri="{FF2B5EF4-FFF2-40B4-BE49-F238E27FC236}">
                <a16:creationId xmlns:a16="http://schemas.microsoft.com/office/drawing/2014/main" id="{A6D4E8DE-9444-4F96-90BB-1AC057A453F7}"/>
              </a:ext>
            </a:extLst>
          </p:cNvPr>
          <p:cNvSpPr>
            <a:spLocks xmlns:a="http://schemas.openxmlformats.org/drawingml/2006/main" noGrp="1"/>
          </p:cNvSpPr>
          <p:nvPr/>
        </p:nvSpPr>
        <p:spPr>
          <a:xfrm xmlns:a="http://schemas.openxmlformats.org/drawingml/2006/main">
            <a:off x="7162800" y="2781300"/>
            <a:ext cx="4476750" cy="31813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30" name="">
            <a:extLst xmlns:a="http://schemas.openxmlformats.org/drawingml/2006/main">
              <a:ext uri="{FF2B5EF4-FFF2-40B4-BE49-F238E27FC236}">
                <a16:creationId xmlns:a16="http://schemas.microsoft.com/office/drawing/2014/main" id="{6D4F34D9-F273-429F-B5FD-4B997E0941D3}"/>
              </a:ext>
            </a:extLst>
          </p:cNvPr>
          <p:cNvSpPr>
            <a:spLocks xmlns:a="http://schemas.openxmlformats.org/drawingml/2006/main" noGrp="1"/>
          </p:cNvSpPr>
          <p:nvPr/>
        </p:nvSpPr>
        <p:spPr>
          <a:xfrm xmlns:a="http://schemas.openxmlformats.org/drawingml/2006/main">
            <a:off x="7429500" y="3048000"/>
            <a:ext cx="3943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What survives the STOP</a:t>
            </a:r>
          </a:p>
        </p:txBody>
      </p:sp>
      <p:sp>
        <p:nvSpPr>
          <p:cNvPr id="31" name="">
            <a:extLst xmlns:a="http://schemas.openxmlformats.org/drawingml/2006/main">
              <a:ext uri="{FF2B5EF4-FFF2-40B4-BE49-F238E27FC236}">
                <a16:creationId xmlns:a16="http://schemas.microsoft.com/office/drawing/2014/main" id="{7AE73B4D-BD57-400C-9DBA-D060AB2CE8A8}"/>
              </a:ext>
            </a:extLst>
          </p:cNvPr>
          <p:cNvSpPr>
            <a:spLocks xmlns:a="http://schemas.openxmlformats.org/drawingml/2006/main" noGrp="1"/>
          </p:cNvSpPr>
          <p:nvPr/>
        </p:nvSpPr>
        <p:spPr>
          <a:xfrm xmlns:a="http://schemas.openxmlformats.org/drawingml/2006/main">
            <a:off x="7448550" y="37242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32" name="">
            <a:extLst xmlns:a="http://schemas.openxmlformats.org/drawingml/2006/main">
              <a:ext uri="{FF2B5EF4-FFF2-40B4-BE49-F238E27FC236}">
                <a16:creationId xmlns:a16="http://schemas.microsoft.com/office/drawing/2014/main" id="{467D3916-6DCA-459F-8F62-7017FC1C602D}"/>
              </a:ext>
            </a:extLst>
          </p:cNvPr>
          <p:cNvSpPr>
            <a:spLocks xmlns:a="http://schemas.openxmlformats.org/drawingml/2006/main" noGrp="1"/>
          </p:cNvSpPr>
          <p:nvPr/>
        </p:nvSpPr>
        <p:spPr>
          <a:xfrm xmlns:a="http://schemas.openxmlformats.org/drawingml/2006/main">
            <a:off x="7677150" y="3638550"/>
            <a:ext cx="3638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The NVDA result is not evidence for an asset-agnostic ATR gate.</a:t>
            </a:r>
          </a:p>
        </p:txBody>
      </p:sp>
      <p:sp>
        <p:nvSpPr>
          <p:cNvPr id="33" name="">
            <a:extLst xmlns:a="http://schemas.openxmlformats.org/drawingml/2006/main">
              <a:ext uri="{FF2B5EF4-FFF2-40B4-BE49-F238E27FC236}">
                <a16:creationId xmlns:a16="http://schemas.microsoft.com/office/drawing/2014/main" id="{A7BD82C5-8E63-4459-B2D5-43BB507C39B9}"/>
              </a:ext>
            </a:extLst>
          </p:cNvPr>
          <p:cNvSpPr>
            <a:spLocks xmlns:a="http://schemas.openxmlformats.org/drawingml/2006/main" noGrp="1"/>
          </p:cNvSpPr>
          <p:nvPr/>
        </p:nvSpPr>
        <p:spPr>
          <a:xfrm xmlns:a="http://schemas.openxmlformats.org/drawingml/2006/main">
            <a:off x="7448550" y="454342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4" name="">
            <a:extLst xmlns:a="http://schemas.openxmlformats.org/drawingml/2006/main">
              <a:ext uri="{FF2B5EF4-FFF2-40B4-BE49-F238E27FC236}">
                <a16:creationId xmlns:a16="http://schemas.microsoft.com/office/drawing/2014/main" id="{59AF90EA-FBF8-4F58-839C-FB9FE7BD365A}"/>
              </a:ext>
            </a:extLst>
          </p:cNvPr>
          <p:cNvSpPr>
            <a:spLocks xmlns:a="http://schemas.openxmlformats.org/drawingml/2006/main" noGrp="1"/>
          </p:cNvSpPr>
          <p:nvPr/>
        </p:nvSpPr>
        <p:spPr>
          <a:xfrm xmlns:a="http://schemas.openxmlformats.org/drawingml/2006/main">
            <a:off x="7677150" y="4457700"/>
            <a:ext cx="3638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Technology and communication pockets can motivate a new, predeclared niche hypothesis.</a:t>
            </a:r>
          </a:p>
        </p:txBody>
      </p:sp>
      <p:sp>
        <p:nvSpPr>
          <p:cNvPr id="35" name="">
            <a:extLst xmlns:a="http://schemas.openxmlformats.org/drawingml/2006/main">
              <a:ext uri="{FF2B5EF4-FFF2-40B4-BE49-F238E27FC236}">
                <a16:creationId xmlns:a16="http://schemas.microsoft.com/office/drawing/2014/main" id="{0C583405-BEA3-4AB9-894E-A4D06AF8D3CF}"/>
              </a:ext>
            </a:extLst>
          </p:cNvPr>
          <p:cNvSpPr>
            <a:spLocks xmlns:a="http://schemas.openxmlformats.org/drawingml/2006/main" noGrp="1"/>
          </p:cNvSpPr>
          <p:nvPr/>
        </p:nvSpPr>
        <p:spPr>
          <a:xfrm xmlns:a="http://schemas.openxmlformats.org/drawingml/2006/main">
            <a:off x="7429500" y="5314950"/>
            <a:ext cx="3943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4364B"/>
                </a:solidFill>
              </a:defRPr>
            </a:pPr>
            <a:r>
              <a:rPr sz="1275" b="1">
                <a:solidFill>
                  <a:srgbClr val="24364B"/>
                </a:solidFill>
              </a:rPr>
              <a:t>NVDA's 2024+ data remain unread. The one-asset thesis may still be tested on its own terms, but it cannot borrow confidence from this atlas.</a:t>
            </a:r>
          </a:p>
        </p:txBody>
      </p:sp>
    </p:spTree>
    <p:extLst>
      <p:ext uri="{BB962C8B-B14F-4D97-AF65-F5344CB8AC3E}">
        <p14:creationId xmlns:p14="http://schemas.microsoft.com/office/powerpoint/2010/main" val="2133958140"/>
      </p:ext>
    </p:extLst>
  </p:cSld>
</p:sld>
</file>

<file path=ppt/slides/slide50.xml><?xml version="1.0" encoding="utf-8"?>
<p:sld xmlns:p="http://schemas.openxmlformats.org/presentationml/2006/main">
  <p:cSld>
    <p:bg>
      <p:bgPr>
        <a:solidFill xmlns:a="http://schemas.openxmlformats.org/drawingml/2006/main">
          <a:srgbClr val="24364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1A9B44-0D27-4676-B7A5-D4D3EA5CE275}"/>
              </a:ext>
            </a:extLst>
          </p:cNvPr>
          <p:cNvSpPr>
            <a:spLocks xmlns:a="http://schemas.openxmlformats.org/drawingml/2006/main" noGrp="1"/>
          </p:cNvSpPr>
          <p:nvPr/>
        </p:nvSpPr>
        <p:spPr>
          <a:xfrm xmlns:a="http://schemas.openxmlformats.org/drawingml/2006/main">
            <a:off x="685800" y="8953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D0EDFA"/>
                </a:solidFill>
              </a:defRPr>
            </a:pPr>
            <a:r>
              <a:rPr sz="1275" b="1">
                <a:solidFill>
                  <a:srgbClr val="D0EDFA"/>
                </a:solidFill>
              </a:rPr>
              <a:t>EIGHTH MICROSCOPE</a:t>
            </a:r>
          </a:p>
        </p:txBody>
      </p:sp>
      <p:sp>
        <p:nvSpPr>
          <p:cNvPr id="2" name="">
            <a:extLst xmlns:a="http://schemas.openxmlformats.org/drawingml/2006/main">
              <a:ext uri="{FF2B5EF4-FFF2-40B4-BE49-F238E27FC236}">
                <a16:creationId xmlns:a16="http://schemas.microsoft.com/office/drawing/2014/main" id="{3AFF3D4C-C988-4C86-8B08-F6322F268931}"/>
              </a:ext>
            </a:extLst>
          </p:cNvPr>
          <p:cNvSpPr>
            <a:spLocks xmlns:a="http://schemas.openxmlformats.org/drawingml/2006/main" noGrp="1"/>
          </p:cNvSpPr>
          <p:nvPr/>
        </p:nvSpPr>
        <p:spPr>
          <a:xfrm xmlns:a="http://schemas.openxmlformats.org/drawingml/2006/main">
            <a:off x="685800" y="16192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a:solidFill>
                  <a:srgbClr val="FFFFFF"/>
                </a:solidFill>
              </a:defRPr>
            </a:pPr>
            <a:r>
              <a:rPr sz="4350" b="1">
                <a:solidFill>
                  <a:srgbClr val="FFFFFF"/>
                </a:solidFill>
              </a:rPr>
              <a:t>Can a daily leverage reset</a:t>
            </a:r>
          </a:p>
          <a:p xmlns:a="http://schemas.openxmlformats.org/drawingml/2006/main">
            <a:pPr algn="l">
              <a:defRPr sz="4350" b="1">
                <a:solidFill>
                  <a:srgbClr val="FFFFFF"/>
                </a:solidFill>
              </a:defRPr>
            </a:pPr>
            <a:r>
              <a:rPr sz="4350" b="1">
                <a:solidFill>
                  <a:srgbClr val="FFFFFF"/>
                </a:solidFill>
              </a:rPr>
              <a:t>leave a closing footprint?</a:t>
            </a:r>
          </a:p>
        </p:txBody>
      </p:sp>
      <p:sp>
        <p:nvSpPr>
          <p:cNvPr id="3" name="">
            <a:extLst xmlns:a="http://schemas.openxmlformats.org/drawingml/2006/main">
              <a:ext uri="{FF2B5EF4-FFF2-40B4-BE49-F238E27FC236}">
                <a16:creationId xmlns:a16="http://schemas.microsoft.com/office/drawing/2014/main" id="{E3B1196B-C3F3-484D-B91F-EE7BC44B39B5}"/>
              </a:ext>
            </a:extLst>
          </p:cNvPr>
          <p:cNvSpPr>
            <a:spLocks xmlns:a="http://schemas.openxmlformats.org/drawingml/2006/main" noGrp="1"/>
          </p:cNvSpPr>
          <p:nvPr/>
        </p:nvSpPr>
        <p:spPr>
          <a:xfrm xmlns:a="http://schemas.openxmlformats.org/drawingml/2006/main">
            <a:off x="723900" y="3886200"/>
            <a:ext cx="10287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a:solidFill>
                  <a:srgbClr val="D0EDFA"/>
                </a:solidFill>
              </a:defRPr>
            </a:pPr>
            <a:r>
              <a:rPr sz="2025" b="0">
                <a:solidFill>
                  <a:srgbClr val="D0EDFA"/>
                </a:solidFill>
              </a:rPr>
              <a:t>NVDL was a 1.5x daily NVDA fund throughout 2023. If its exposure adjustment matters, a large NVDA day should look different specifically near the close—not merely at arbitrary earlier clocks.</a:t>
            </a:r>
          </a:p>
        </p:txBody>
      </p:sp>
      <p:sp>
        <p:nvSpPr>
          <p:cNvPr id="4" name="">
            <a:extLst xmlns:a="http://schemas.openxmlformats.org/drawingml/2006/main">
              <a:ext uri="{FF2B5EF4-FFF2-40B4-BE49-F238E27FC236}">
                <a16:creationId xmlns:a16="http://schemas.microsoft.com/office/drawing/2014/main" id="{C231DD18-E92E-4441-8C9A-2C3A9175B024}"/>
              </a:ext>
            </a:extLst>
          </p:cNvPr>
          <p:cNvSpPr>
            <a:spLocks xmlns:a="http://schemas.openxmlformats.org/drawingml/2006/main" noGrp="1"/>
          </p:cNvSpPr>
          <p:nvPr/>
        </p:nvSpPr>
        <p:spPr>
          <a:xfrm xmlns:a="http://schemas.openxmlformats.org/drawingml/2006/main">
            <a:off x="723900" y="5734050"/>
            <a:ext cx="990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defRPr>
            </a:pPr>
            <a:r>
              <a:rPr sz="1500" b="1">
                <a:solidFill>
                  <a:srgbClr val="FFFFFF"/>
                </a:solidFill>
              </a:rPr>
              <a:t>2023 only · exact 5-minute bars · no strategy or 2024+ NVDA outcome</a:t>
            </a:r>
          </a:p>
        </p:txBody>
      </p:sp>
      <p:sp>
        <p:nvSpPr>
          <p:cNvPr id="5" name="">
            <a:extLst xmlns:a="http://schemas.openxmlformats.org/drawingml/2006/main">
              <a:ext uri="{FF2B5EF4-FFF2-40B4-BE49-F238E27FC236}">
                <a16:creationId xmlns:a16="http://schemas.microsoft.com/office/drawing/2014/main" id="{584F0C8B-E2B1-4A18-8DB2-D02BAF69CB5F}"/>
              </a:ext>
            </a:extLst>
          </p:cNvPr>
          <p:cNvSpPr>
            <a:spLocks xmlns:a="http://schemas.openxmlformats.org/drawingml/2006/main" noGrp="1"/>
          </p:cNvSpPr>
          <p:nvPr/>
        </p:nvSpPr>
        <p:spPr>
          <a:xfrm xmlns:a="http://schemas.openxmlformats.org/drawingml/2006/main">
            <a:off x="10801350" y="64008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D0EDFA"/>
                </a:solidFill>
              </a:defRPr>
            </a:pPr>
            <a:r>
              <a:rPr sz="900" b="0">
                <a:solidFill>
                  <a:srgbClr val="D0EDFA"/>
                </a:solidFill>
              </a:rPr>
              <a:t>50</a:t>
            </a:r>
          </a:p>
        </p:txBody>
      </p:sp>
    </p:spTree>
    <p:extLst>
      <p:ext uri="{BB962C8B-B14F-4D97-AF65-F5344CB8AC3E}">
        <p14:creationId xmlns:p14="http://schemas.microsoft.com/office/powerpoint/2010/main" val="78566981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ED2BB28-6438-4BD4-9C49-738E2C238EAC}"/>
              </a:ext>
            </a:extLst>
          </p:cNvPr>
          <p:cNvSpPr>
            <a:spLocks xmlns:a="http://schemas.openxmlformats.org/drawingml/2006/main" noGrp="1"/>
          </p:cNvSpPr>
          <p:nvPr/>
        </p:nvSpPr>
        <p:spPr>
          <a:xfrm xmlns:a="http://schemas.openxmlformats.org/drawingml/2006/main">
            <a:off x="457200" y="23812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 NVDL CLOSE PRESSURE</a:t>
            </a:r>
          </a:p>
        </p:txBody>
      </p:sp>
      <p:sp>
        <p:nvSpPr>
          <p:cNvPr id="2" name="">
            <a:extLst xmlns:a="http://schemas.openxmlformats.org/drawingml/2006/main">
              <a:ext uri="{FF2B5EF4-FFF2-40B4-BE49-F238E27FC236}">
                <a16:creationId xmlns:a16="http://schemas.microsoft.com/office/drawing/2014/main" id="{37CA0DC3-5E0C-4362-8E70-C19C52F34CB5}"/>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clock test separates pressure from ordinary momentum</a:t>
            </a:r>
          </a:p>
        </p:txBody>
      </p:sp>
      <p:sp>
        <p:nvSpPr>
          <p:cNvPr id="3" name="">
            <a:extLst xmlns:a="http://schemas.openxmlformats.org/drawingml/2006/main">
              <a:ext uri="{FF2B5EF4-FFF2-40B4-BE49-F238E27FC236}">
                <a16:creationId xmlns:a16="http://schemas.microsoft.com/office/drawing/2014/main" id="{85996C74-6627-4F32-9004-4375B0CC8174}"/>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D2625CAA-4079-4E6F-AD8E-EBDEF87C9F32}"/>
              </a:ext>
            </a:extLst>
          </p:cNvPr>
          <p:cNvSpPr>
            <a:spLocks xmlns:a="http://schemas.openxmlformats.org/drawingml/2006/main" noGrp="1"/>
          </p:cNvSpPr>
          <p:nvPr/>
        </p:nvSpPr>
        <p:spPr>
          <a:xfrm xmlns:a="http://schemas.openxmlformats.org/drawingml/2006/main">
            <a:off x="457200" y="651510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mechanism POC · exact adjusted SIP 5-minute bars · 2023 only</a:t>
            </a:r>
          </a:p>
        </p:txBody>
      </p:sp>
      <p:sp>
        <p:nvSpPr>
          <p:cNvPr id="5" name="">
            <a:extLst xmlns:a="http://schemas.openxmlformats.org/drawingml/2006/main">
              <a:ext uri="{FF2B5EF4-FFF2-40B4-BE49-F238E27FC236}">
                <a16:creationId xmlns:a16="http://schemas.microsoft.com/office/drawing/2014/main" id="{64FDF57E-2329-4F78-A839-C9D35F92DE9A}"/>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51</a:t>
            </a:r>
          </a:p>
        </p:txBody>
      </p:sp>
      <p:sp>
        <p:nvSpPr>
          <p:cNvPr id="6" name="">
            <a:extLst xmlns:a="http://schemas.openxmlformats.org/drawingml/2006/main">
              <a:ext uri="{FF2B5EF4-FFF2-40B4-BE49-F238E27FC236}">
                <a16:creationId xmlns:a16="http://schemas.microsoft.com/office/drawing/2014/main" id="{9B5CC83B-B5A5-4F2D-A967-5F601007275B}"/>
              </a:ext>
            </a:extLst>
          </p:cNvPr>
          <p:cNvSpPr>
            <a:spLocks xmlns:a="http://schemas.openxmlformats.org/drawingml/2006/main" noGrp="1"/>
          </p:cNvSpPr>
          <p:nvPr/>
        </p:nvSpPr>
        <p:spPr>
          <a:xfrm xmlns:a="http://schemas.openxmlformats.org/drawingml/2006/main">
            <a:off x="552450" y="1562100"/>
            <a:ext cx="5181600" cy="417195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7" name="">
            <a:extLst xmlns:a="http://schemas.openxmlformats.org/drawingml/2006/main">
              <a:ext uri="{FF2B5EF4-FFF2-40B4-BE49-F238E27FC236}">
                <a16:creationId xmlns:a16="http://schemas.microsoft.com/office/drawing/2014/main" id="{7792A55C-CC03-4761-94A8-E6D0611881AC}"/>
              </a:ext>
            </a:extLst>
          </p:cNvPr>
          <p:cNvSpPr>
            <a:spLocks xmlns:a="http://schemas.openxmlformats.org/drawingml/2006/main" noGrp="1"/>
          </p:cNvSpPr>
          <p:nvPr/>
        </p:nvSpPr>
        <p:spPr>
          <a:xfrm xmlns:a="http://schemas.openxmlformats.org/drawingml/2006/main">
            <a:off x="838200" y="18478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24364B"/>
                </a:solidFill>
              </a:defRPr>
            </a:pPr>
            <a:r>
              <a:rPr sz="2100" b="1">
                <a:solidFill>
                  <a:srgbClr val="24364B"/>
                </a:solidFill>
              </a:rPr>
              <a:t>Frozen causal question</a:t>
            </a:r>
          </a:p>
        </p:txBody>
      </p:sp>
      <p:sp>
        <p:nvSpPr>
          <p:cNvPr id="8" name="">
            <a:extLst xmlns:a="http://schemas.openxmlformats.org/drawingml/2006/main">
              <a:ext uri="{FF2B5EF4-FFF2-40B4-BE49-F238E27FC236}">
                <a16:creationId xmlns:a16="http://schemas.microsoft.com/office/drawing/2014/main" id="{31240EDE-1A9F-4FDA-9BB4-A090757FA50E}"/>
              </a:ext>
            </a:extLst>
          </p:cNvPr>
          <p:cNvSpPr>
            <a:spLocks xmlns:a="http://schemas.openxmlformats.org/drawingml/2006/main" noGrp="1"/>
          </p:cNvSpPr>
          <p:nvPr/>
        </p:nvSpPr>
        <p:spPr>
          <a:xfrm xmlns:a="http://schemas.openxmlformats.org/drawingml/2006/main">
            <a:off x="857250" y="24574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67386"/>
                </a:solidFill>
              </a:defRPr>
            </a:pPr>
            <a:r>
              <a:rPr sz="1275" b="1">
                <a:solidFill>
                  <a:srgbClr val="667386"/>
                </a:solidFill>
              </a:rPr>
              <a:t>Signal</a:t>
            </a:r>
          </a:p>
        </p:txBody>
      </p:sp>
      <p:sp>
        <p:nvSpPr>
          <p:cNvPr id="9" name="">
            <a:extLst xmlns:a="http://schemas.openxmlformats.org/drawingml/2006/main">
              <a:ext uri="{FF2B5EF4-FFF2-40B4-BE49-F238E27FC236}">
                <a16:creationId xmlns:a16="http://schemas.microsoft.com/office/drawing/2014/main" id="{FCE24761-3995-4D3E-B763-E3AF91EC4DF8}"/>
              </a:ext>
            </a:extLst>
          </p:cNvPr>
          <p:cNvSpPr>
            <a:spLocks xmlns:a="http://schemas.openxmlformats.org/drawingml/2006/main" noGrp="1"/>
          </p:cNvSpPr>
          <p:nvPr/>
        </p:nvSpPr>
        <p:spPr>
          <a:xfrm xmlns:a="http://schemas.openxmlformats.org/drawingml/2006/main">
            <a:off x="857250" y="2781300"/>
            <a:ext cx="4438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24364B"/>
                </a:solidFill>
              </a:defRPr>
            </a:pPr>
            <a:r>
              <a:rPr sz="1725" b="1">
                <a:solidFill>
                  <a:srgbClr val="24364B"/>
                </a:solidFill>
              </a:rPr>
              <a:t>NVDA log return from the prior regular-session close to a completed 12:00, 14:00, or 15:30 anchor</a:t>
            </a:r>
          </a:p>
        </p:txBody>
      </p:sp>
      <p:sp>
        <p:nvSpPr>
          <p:cNvPr id="10" name="">
            <a:extLst xmlns:a="http://schemas.openxmlformats.org/drawingml/2006/main">
              <a:ext uri="{FF2B5EF4-FFF2-40B4-BE49-F238E27FC236}">
                <a16:creationId xmlns:a16="http://schemas.microsoft.com/office/drawing/2014/main" id="{7CFDAFFB-19C0-4799-B0DA-1972590F77FA}"/>
              </a:ext>
            </a:extLst>
          </p:cNvPr>
          <p:cNvSpPr>
            <a:spLocks xmlns:a="http://schemas.openxmlformats.org/drawingml/2006/main" noGrp="1"/>
          </p:cNvSpPr>
          <p:nvPr/>
        </p:nvSpPr>
        <p:spPr>
          <a:xfrm xmlns:a="http://schemas.openxmlformats.org/drawingml/2006/main">
            <a:off x="857250" y="39052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67386"/>
                </a:solidFill>
              </a:defRPr>
            </a:pPr>
            <a:r>
              <a:rPr sz="1275" b="1">
                <a:solidFill>
                  <a:srgbClr val="667386"/>
                </a:solidFill>
              </a:rPr>
              <a:t>Outcome</a:t>
            </a:r>
          </a:p>
        </p:txBody>
      </p:sp>
      <p:sp>
        <p:nvSpPr>
          <p:cNvPr id="11" name="">
            <a:extLst xmlns:a="http://schemas.openxmlformats.org/drawingml/2006/main">
              <a:ext uri="{FF2B5EF4-FFF2-40B4-BE49-F238E27FC236}">
                <a16:creationId xmlns:a16="http://schemas.microsoft.com/office/drawing/2014/main" id="{6AE6B2F4-4D3F-411D-9599-55ABA3D97869}"/>
              </a:ext>
            </a:extLst>
          </p:cNvPr>
          <p:cNvSpPr>
            <a:spLocks xmlns:a="http://schemas.openxmlformats.org/drawingml/2006/main" noGrp="1"/>
          </p:cNvSpPr>
          <p:nvPr/>
        </p:nvSpPr>
        <p:spPr>
          <a:xfrm xmlns:a="http://schemas.openxmlformats.org/drawingml/2006/main">
            <a:off x="857250" y="4248150"/>
            <a:ext cx="443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24364B"/>
                </a:solidFill>
              </a:defRPr>
            </a:pPr>
            <a:r>
              <a:rPr sz="1800" b="1">
                <a:solidFill>
                  <a:srgbClr val="24364B"/>
                </a:solidFill>
              </a:rPr>
              <a:t>The next 30 minutes at every clock</a:t>
            </a:r>
          </a:p>
        </p:txBody>
      </p:sp>
      <p:sp>
        <p:nvSpPr>
          <p:cNvPr id="12" name="">
            <a:extLst xmlns:a="http://schemas.openxmlformats.org/drawingml/2006/main">
              <a:ext uri="{FF2B5EF4-FFF2-40B4-BE49-F238E27FC236}">
                <a16:creationId xmlns:a16="http://schemas.microsoft.com/office/drawing/2014/main" id="{12B806CE-E1EA-4AB6-8063-22809924749A}"/>
              </a:ext>
            </a:extLst>
          </p:cNvPr>
          <p:cNvSpPr>
            <a:spLocks xmlns:a="http://schemas.openxmlformats.org/drawingml/2006/main" noGrp="1"/>
          </p:cNvSpPr>
          <p:nvPr/>
        </p:nvSpPr>
        <p:spPr>
          <a:xfrm xmlns:a="http://schemas.openxmlformats.org/drawingml/2006/main">
            <a:off x="857250" y="5010150"/>
            <a:ext cx="443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4866D"/>
                </a:solidFill>
              </a:defRPr>
            </a:pPr>
            <a:r>
              <a:rPr sz="1350" b="1">
                <a:solidFill>
                  <a:srgbClr val="14866D"/>
                </a:solidFill>
              </a:rPr>
              <a:t>A closing mechanism should distinguish 15:30 from the earlier controls</a:t>
            </a:r>
          </a:p>
        </p:txBody>
      </p:sp>
      <p:sp>
        <p:nvSpPr>
          <p:cNvPr id="13" name="">
            <a:extLst xmlns:a="http://schemas.openxmlformats.org/drawingml/2006/main">
              <a:ext uri="{FF2B5EF4-FFF2-40B4-BE49-F238E27FC236}">
                <a16:creationId xmlns:a16="http://schemas.microsoft.com/office/drawing/2014/main" id="{84DB7C6F-D80B-4B66-B707-B67C6F87FD33}"/>
              </a:ext>
            </a:extLst>
          </p:cNvPr>
          <p:cNvSpPr>
            <a:spLocks xmlns:a="http://schemas.openxmlformats.org/drawingml/2006/main" noGrp="1"/>
          </p:cNvSpPr>
          <p:nvPr/>
        </p:nvSpPr>
        <p:spPr>
          <a:xfrm xmlns:a="http://schemas.openxmlformats.org/drawingml/2006/main">
            <a:off x="6096000" y="1562100"/>
            <a:ext cx="5543550" cy="41719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4" name="">
            <a:extLst xmlns:a="http://schemas.openxmlformats.org/drawingml/2006/main">
              <a:ext uri="{FF2B5EF4-FFF2-40B4-BE49-F238E27FC236}">
                <a16:creationId xmlns:a16="http://schemas.microsoft.com/office/drawing/2014/main" id="{B8622F0B-3C1B-4C91-B419-C19E3C5F6F25}"/>
              </a:ext>
            </a:extLst>
          </p:cNvPr>
          <p:cNvSpPr>
            <a:spLocks xmlns:a="http://schemas.openxmlformats.org/drawingml/2006/main" noGrp="1"/>
          </p:cNvSpPr>
          <p:nvPr/>
        </p:nvSpPr>
        <p:spPr>
          <a:xfrm xmlns:a="http://schemas.openxmlformats.org/drawingml/2006/main">
            <a:off x="6381750" y="18478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Point-in-time correction</a:t>
            </a:r>
          </a:p>
        </p:txBody>
      </p:sp>
      <p:sp>
        <p:nvSpPr>
          <p:cNvPr id="15" name="">
            <a:extLst xmlns:a="http://schemas.openxmlformats.org/drawingml/2006/main">
              <a:ext uri="{FF2B5EF4-FFF2-40B4-BE49-F238E27FC236}">
                <a16:creationId xmlns:a16="http://schemas.microsoft.com/office/drawing/2014/main" id="{07355B6D-BC66-479C-917D-836E6369972A}"/>
              </a:ext>
            </a:extLst>
          </p:cNvPr>
          <p:cNvSpPr>
            <a:spLocks xmlns:a="http://schemas.openxmlformats.org/drawingml/2006/main" noGrp="1"/>
          </p:cNvSpPr>
          <p:nvPr/>
        </p:nvSpPr>
        <p:spPr>
          <a:xfrm xmlns:a="http://schemas.openxmlformats.org/drawingml/2006/main">
            <a:off x="6419850" y="25431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6" name="">
            <a:extLst xmlns:a="http://schemas.openxmlformats.org/drawingml/2006/main">
              <a:ext uri="{FF2B5EF4-FFF2-40B4-BE49-F238E27FC236}">
                <a16:creationId xmlns:a16="http://schemas.microsoft.com/office/drawing/2014/main" id="{6941C52B-A0CF-4F8C-9730-16D1F7E991A9}"/>
              </a:ext>
            </a:extLst>
          </p:cNvPr>
          <p:cNvSpPr>
            <a:spLocks xmlns:a="http://schemas.openxmlformats.org/drawingml/2006/main" noGrp="1"/>
          </p:cNvSpPr>
          <p:nvPr/>
        </p:nvSpPr>
        <p:spPr>
          <a:xfrm xmlns:a="http://schemas.openxmlformats.org/drawingml/2006/main">
            <a:off x="6648450" y="2457450"/>
            <a:ext cx="4533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NVDL's 2023 objective was 1.5x—not the 2x objective shown on today's product page.</a:t>
            </a:r>
          </a:p>
        </p:txBody>
      </p:sp>
      <p:sp>
        <p:nvSpPr>
          <p:cNvPr id="17" name="">
            <a:extLst xmlns:a="http://schemas.openxmlformats.org/drawingml/2006/main">
              <a:ext uri="{FF2B5EF4-FFF2-40B4-BE49-F238E27FC236}">
                <a16:creationId xmlns:a16="http://schemas.microsoft.com/office/drawing/2014/main" id="{F97B2D28-C6F6-4D01-BD26-704FBA409085}"/>
              </a:ext>
            </a:extLst>
          </p:cNvPr>
          <p:cNvSpPr>
            <a:spLocks xmlns:a="http://schemas.openxmlformats.org/drawingml/2006/main" noGrp="1"/>
          </p:cNvSpPr>
          <p:nvPr/>
        </p:nvSpPr>
        <p:spPr>
          <a:xfrm xmlns:a="http://schemas.openxmlformats.org/drawingml/2006/main">
            <a:off x="6419850" y="3457575"/>
            <a:ext cx="85725" cy="85725"/>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18" name="">
            <a:extLst xmlns:a="http://schemas.openxmlformats.org/drawingml/2006/main">
              <a:ext uri="{FF2B5EF4-FFF2-40B4-BE49-F238E27FC236}">
                <a16:creationId xmlns:a16="http://schemas.microsoft.com/office/drawing/2014/main" id="{670E50E2-8915-49DA-9866-0821523F92A6}"/>
              </a:ext>
            </a:extLst>
          </p:cNvPr>
          <p:cNvSpPr>
            <a:spLocks xmlns:a="http://schemas.openxmlformats.org/drawingml/2006/main" noGrp="1"/>
          </p:cNvSpPr>
          <p:nvPr/>
        </p:nvSpPr>
        <p:spPr>
          <a:xfrm xmlns:a="http://schemas.openxmlformats.org/drawingml/2006/main">
            <a:off x="6648450" y="3371850"/>
            <a:ext cx="4533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The change to 2x occurred in January 2024, outside this sample.</a:t>
            </a:r>
          </a:p>
        </p:txBody>
      </p:sp>
      <p:sp>
        <p:nvSpPr>
          <p:cNvPr id="19" name="">
            <a:extLst xmlns:a="http://schemas.openxmlformats.org/drawingml/2006/main">
              <a:ext uri="{FF2B5EF4-FFF2-40B4-BE49-F238E27FC236}">
                <a16:creationId xmlns:a16="http://schemas.microsoft.com/office/drawing/2014/main" id="{D87C90CF-3A1F-410D-A890-44A001ADA58D}"/>
              </a:ext>
            </a:extLst>
          </p:cNvPr>
          <p:cNvSpPr>
            <a:spLocks xmlns:a="http://schemas.openxmlformats.org/drawingml/2006/main" noGrp="1"/>
          </p:cNvSpPr>
          <p:nvPr/>
        </p:nvSpPr>
        <p:spPr>
          <a:xfrm xmlns:a="http://schemas.openxmlformats.org/drawingml/2006/main">
            <a:off x="6419850" y="42576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0" name="">
            <a:extLst xmlns:a="http://schemas.openxmlformats.org/drawingml/2006/main">
              <a:ext uri="{FF2B5EF4-FFF2-40B4-BE49-F238E27FC236}">
                <a16:creationId xmlns:a16="http://schemas.microsoft.com/office/drawing/2014/main" id="{FE2F5F67-8CB3-4793-9E79-5E5E44F5677F}"/>
              </a:ext>
            </a:extLst>
          </p:cNvPr>
          <p:cNvSpPr>
            <a:spLocks xmlns:a="http://schemas.openxmlformats.org/drawingml/2006/main" noGrp="1"/>
          </p:cNvSpPr>
          <p:nvPr/>
        </p:nvSpPr>
        <p:spPr>
          <a:xfrm xmlns:a="http://schemas.openxmlformats.org/drawingml/2006/main">
            <a:off x="6648450" y="4171950"/>
            <a:ext cx="4533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Tracking residual is therefore NVDL minus 1.5x NVDA on identical clock intervals.</a:t>
            </a:r>
          </a:p>
        </p:txBody>
      </p:sp>
      <p:sp>
        <p:nvSpPr>
          <p:cNvPr id="21" name="">
            <a:extLst xmlns:a="http://schemas.openxmlformats.org/drawingml/2006/main">
              <a:ext uri="{FF2B5EF4-FFF2-40B4-BE49-F238E27FC236}">
                <a16:creationId xmlns:a16="http://schemas.microsoft.com/office/drawing/2014/main" id="{9612B2FD-BEBE-479D-B625-D2D8673DA648}"/>
              </a:ext>
            </a:extLst>
          </p:cNvPr>
          <p:cNvSpPr>
            <a:spLocks xmlns:a="http://schemas.openxmlformats.org/drawingml/2006/main" noGrp="1"/>
          </p:cNvSpPr>
          <p:nvPr/>
        </p:nvSpPr>
        <p:spPr>
          <a:xfrm xmlns:a="http://schemas.openxmlformats.org/drawingml/2006/main">
            <a:off x="6381750" y="531495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B44738"/>
                </a:solidFill>
              </a:defRPr>
            </a:pPr>
            <a:r>
              <a:rPr sz="1275" b="1">
                <a:solidFill>
                  <a:srgbClr val="B44738"/>
                </a:solidFill>
              </a:rPr>
              <a:t>No AUM or shares-outstanding reconstruction yet</a:t>
            </a:r>
          </a:p>
        </p:txBody>
      </p:sp>
    </p:spTree>
    <p:extLst>
      <p:ext uri="{BB962C8B-B14F-4D97-AF65-F5344CB8AC3E}">
        <p14:creationId xmlns:p14="http://schemas.microsoft.com/office/powerpoint/2010/main" val="54644169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EEDC128-2FF5-4C28-8E18-0212E9BC8C2B}"/>
              </a:ext>
            </a:extLst>
          </p:cNvPr>
          <p:cNvSpPr>
            <a:spLocks xmlns:a="http://schemas.openxmlformats.org/drawingml/2006/main" noGrp="1"/>
          </p:cNvSpPr>
          <p:nvPr/>
        </p:nvSpPr>
        <p:spPr>
          <a:xfrm xmlns:a="http://schemas.openxmlformats.org/drawingml/2006/main">
            <a:off x="457200" y="23812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 NVDL CLOSE PRESSURE</a:t>
            </a:r>
          </a:p>
        </p:txBody>
      </p:sp>
      <p:sp>
        <p:nvSpPr>
          <p:cNvPr id="2" name="">
            <a:extLst xmlns:a="http://schemas.openxmlformats.org/drawingml/2006/main">
              <a:ext uri="{FF2B5EF4-FFF2-40B4-BE49-F238E27FC236}">
                <a16:creationId xmlns:a16="http://schemas.microsoft.com/office/drawing/2014/main" id="{C56835B5-3164-44F6-B1FB-AC8960D4469E}"/>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Sparse ETF trading reduces the sample—but is never filled</a:t>
            </a:r>
          </a:p>
        </p:txBody>
      </p:sp>
      <p:sp>
        <p:nvSpPr>
          <p:cNvPr id="3" name="">
            <a:extLst xmlns:a="http://schemas.openxmlformats.org/drawingml/2006/main">
              <a:ext uri="{FF2B5EF4-FFF2-40B4-BE49-F238E27FC236}">
                <a16:creationId xmlns:a16="http://schemas.microsoft.com/office/drawing/2014/main" id="{C492258B-DFB7-45CE-BD78-A3B5337A6BC5}"/>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0C461D68-6F3E-4AE7-ADA0-9B2E04DF6716}"/>
              </a:ext>
            </a:extLst>
          </p:cNvPr>
          <p:cNvSpPr>
            <a:spLocks xmlns:a="http://schemas.openxmlformats.org/drawingml/2006/main" noGrp="1"/>
          </p:cNvSpPr>
          <p:nvPr/>
        </p:nvSpPr>
        <p:spPr>
          <a:xfrm xmlns:a="http://schemas.openxmlformats.org/drawingml/2006/main">
            <a:off x="457200" y="651510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mechanism POC · exact adjusted SIP 5-minute bars · 2023 only</a:t>
            </a:r>
          </a:p>
        </p:txBody>
      </p:sp>
      <p:sp>
        <p:nvSpPr>
          <p:cNvPr id="5" name="">
            <a:extLst xmlns:a="http://schemas.openxmlformats.org/drawingml/2006/main">
              <a:ext uri="{FF2B5EF4-FFF2-40B4-BE49-F238E27FC236}">
                <a16:creationId xmlns:a16="http://schemas.microsoft.com/office/drawing/2014/main" id="{3933D22A-5B8F-4072-BFB5-B673032480C7}"/>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52</a:t>
            </a:r>
          </a:p>
        </p:txBody>
      </p:sp>
      <p:sp>
        <p:nvSpPr>
          <p:cNvPr id="6" name="">
            <a:extLst xmlns:a="http://schemas.openxmlformats.org/drawingml/2006/main">
              <a:ext uri="{FF2B5EF4-FFF2-40B4-BE49-F238E27FC236}">
                <a16:creationId xmlns:a16="http://schemas.microsoft.com/office/drawing/2014/main" id="{4C675BB2-9004-4DA3-8F6A-DE8F713D47F8}"/>
              </a:ext>
            </a:extLst>
          </p:cNvPr>
          <p:cNvSpPr>
            <a:spLocks xmlns:a="http://schemas.openxmlformats.org/drawingml/2006/main" noGrp="1"/>
          </p:cNvSpPr>
          <p:nvPr/>
        </p:nvSpPr>
        <p:spPr>
          <a:xfrm xmlns:a="http://schemas.openxmlformats.org/drawingml/2006/main">
            <a:off x="552450" y="1657350"/>
            <a:ext cx="24765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7" name="">
            <a:extLst xmlns:a="http://schemas.openxmlformats.org/drawingml/2006/main">
              <a:ext uri="{FF2B5EF4-FFF2-40B4-BE49-F238E27FC236}">
                <a16:creationId xmlns:a16="http://schemas.microsoft.com/office/drawing/2014/main" id="{215410DF-3E1F-4129-9EA9-A933A0D17115}"/>
              </a:ext>
            </a:extLst>
          </p:cNvPr>
          <p:cNvSpPr>
            <a:spLocks xmlns:a="http://schemas.openxmlformats.org/drawingml/2006/main" noGrp="1"/>
          </p:cNvSpPr>
          <p:nvPr/>
        </p:nvSpPr>
        <p:spPr>
          <a:xfrm xmlns:a="http://schemas.openxmlformats.org/drawingml/2006/main">
            <a:off x="552450" y="1657350"/>
            <a:ext cx="76200" cy="1200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0A4086C5-182D-428A-AC01-DBDA537B65E8}"/>
              </a:ext>
            </a:extLst>
          </p:cNvPr>
          <p:cNvSpPr>
            <a:spLocks xmlns:a="http://schemas.openxmlformats.org/drawingml/2006/main" noGrp="1"/>
          </p:cNvSpPr>
          <p:nvPr/>
        </p:nvSpPr>
        <p:spPr>
          <a:xfrm xmlns:a="http://schemas.openxmlformats.org/drawingml/2006/main">
            <a:off x="781050" y="17907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75" b="1">
                <a:solidFill>
                  <a:srgbClr val="000000"/>
                </a:solidFill>
              </a:defRPr>
            </a:pPr>
            <a:r>
              <a:rPr sz="2475" b="1">
                <a:solidFill>
                  <a:srgbClr val="000000"/>
                </a:solidFill>
              </a:rPr>
              <a:t>177</a:t>
            </a:r>
          </a:p>
        </p:txBody>
      </p:sp>
      <p:sp>
        <p:nvSpPr>
          <p:cNvPr id="9" name="">
            <a:extLst xmlns:a="http://schemas.openxmlformats.org/drawingml/2006/main">
              <a:ext uri="{FF2B5EF4-FFF2-40B4-BE49-F238E27FC236}">
                <a16:creationId xmlns:a16="http://schemas.microsoft.com/office/drawing/2014/main" id="{6845D7F8-DF1C-47C8-853D-486D4D81474B}"/>
              </a:ext>
            </a:extLst>
          </p:cNvPr>
          <p:cNvSpPr>
            <a:spLocks xmlns:a="http://schemas.openxmlformats.org/drawingml/2006/main" noGrp="1"/>
          </p:cNvSpPr>
          <p:nvPr/>
        </p:nvSpPr>
        <p:spPr>
          <a:xfrm xmlns:a="http://schemas.openxmlformats.org/drawingml/2006/main">
            <a:off x="781050" y="22574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15:30 pairs</a:t>
            </a:r>
          </a:p>
        </p:txBody>
      </p:sp>
      <p:sp>
        <p:nvSpPr>
          <p:cNvPr id="10" name="">
            <a:extLst xmlns:a="http://schemas.openxmlformats.org/drawingml/2006/main">
              <a:ext uri="{FF2B5EF4-FFF2-40B4-BE49-F238E27FC236}">
                <a16:creationId xmlns:a16="http://schemas.microsoft.com/office/drawing/2014/main" id="{BAC03670-C42B-4FD0-B462-D659BD4AA3F0}"/>
              </a:ext>
            </a:extLst>
          </p:cNvPr>
          <p:cNvSpPr>
            <a:spLocks xmlns:a="http://schemas.openxmlformats.org/drawingml/2006/main" noGrp="1"/>
          </p:cNvSpPr>
          <p:nvPr/>
        </p:nvSpPr>
        <p:spPr>
          <a:xfrm xmlns:a="http://schemas.openxmlformats.org/drawingml/2006/main">
            <a:off x="781050" y="2533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Exact synchronized sessions</a:t>
            </a:r>
          </a:p>
        </p:txBody>
      </p:sp>
      <p:sp>
        <p:nvSpPr>
          <p:cNvPr id="11" name="">
            <a:extLst xmlns:a="http://schemas.openxmlformats.org/drawingml/2006/main">
              <a:ext uri="{FF2B5EF4-FFF2-40B4-BE49-F238E27FC236}">
                <a16:creationId xmlns:a16="http://schemas.microsoft.com/office/drawing/2014/main" id="{045310D2-FC80-4190-8C2D-8EBB5E4EA540}"/>
              </a:ext>
            </a:extLst>
          </p:cNvPr>
          <p:cNvSpPr>
            <a:spLocks xmlns:a="http://schemas.openxmlformats.org/drawingml/2006/main" noGrp="1"/>
          </p:cNvSpPr>
          <p:nvPr/>
        </p:nvSpPr>
        <p:spPr>
          <a:xfrm xmlns:a="http://schemas.openxmlformats.org/drawingml/2006/main">
            <a:off x="3219450" y="1657350"/>
            <a:ext cx="24765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2" name="">
            <a:extLst xmlns:a="http://schemas.openxmlformats.org/drawingml/2006/main">
              <a:ext uri="{FF2B5EF4-FFF2-40B4-BE49-F238E27FC236}">
                <a16:creationId xmlns:a16="http://schemas.microsoft.com/office/drawing/2014/main" id="{EDEC0216-F9E5-426F-A574-221D92A8ACE2}"/>
              </a:ext>
            </a:extLst>
          </p:cNvPr>
          <p:cNvSpPr>
            <a:spLocks xmlns:a="http://schemas.openxmlformats.org/drawingml/2006/main" noGrp="1"/>
          </p:cNvSpPr>
          <p:nvPr/>
        </p:nvSpPr>
        <p:spPr>
          <a:xfrm xmlns:a="http://schemas.openxmlformats.org/drawingml/2006/main">
            <a:off x="3219450" y="1657350"/>
            <a:ext cx="76200" cy="1200150"/>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3" name="">
            <a:extLst xmlns:a="http://schemas.openxmlformats.org/drawingml/2006/main">
              <a:ext uri="{FF2B5EF4-FFF2-40B4-BE49-F238E27FC236}">
                <a16:creationId xmlns:a16="http://schemas.microsoft.com/office/drawing/2014/main" id="{B897728E-B5CF-4818-BE62-E7302172C50F}"/>
              </a:ext>
            </a:extLst>
          </p:cNvPr>
          <p:cNvSpPr>
            <a:spLocks xmlns:a="http://schemas.openxmlformats.org/drawingml/2006/main" noGrp="1"/>
          </p:cNvSpPr>
          <p:nvPr/>
        </p:nvSpPr>
        <p:spPr>
          <a:xfrm xmlns:a="http://schemas.openxmlformats.org/drawingml/2006/main">
            <a:off x="3448050" y="17907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75" b="1">
                <a:solidFill>
                  <a:srgbClr val="000000"/>
                </a:solidFill>
              </a:defRPr>
            </a:pPr>
            <a:r>
              <a:rPr sz="2475" b="1">
                <a:solidFill>
                  <a:srgbClr val="000000"/>
                </a:solidFill>
              </a:rPr>
              <a:t>487</a:t>
            </a:r>
          </a:p>
        </p:txBody>
      </p:sp>
      <p:sp>
        <p:nvSpPr>
          <p:cNvPr id="14" name="">
            <a:extLst xmlns:a="http://schemas.openxmlformats.org/drawingml/2006/main">
              <a:ext uri="{FF2B5EF4-FFF2-40B4-BE49-F238E27FC236}">
                <a16:creationId xmlns:a16="http://schemas.microsoft.com/office/drawing/2014/main" id="{9BEEE512-0F82-4641-9590-69E61743AA0C}"/>
              </a:ext>
            </a:extLst>
          </p:cNvPr>
          <p:cNvSpPr>
            <a:spLocks xmlns:a="http://schemas.openxmlformats.org/drawingml/2006/main" noGrp="1"/>
          </p:cNvSpPr>
          <p:nvPr/>
        </p:nvSpPr>
        <p:spPr>
          <a:xfrm xmlns:a="http://schemas.openxmlformats.org/drawingml/2006/main">
            <a:off x="3448050" y="22574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clock rows</a:t>
            </a:r>
          </a:p>
        </p:txBody>
      </p:sp>
      <p:sp>
        <p:nvSpPr>
          <p:cNvPr id="15" name="">
            <a:extLst xmlns:a="http://schemas.openxmlformats.org/drawingml/2006/main">
              <a:ext uri="{FF2B5EF4-FFF2-40B4-BE49-F238E27FC236}">
                <a16:creationId xmlns:a16="http://schemas.microsoft.com/office/drawing/2014/main" id="{115B3C91-CC25-4FED-A800-E3721142D93C}"/>
              </a:ext>
            </a:extLst>
          </p:cNvPr>
          <p:cNvSpPr>
            <a:spLocks xmlns:a="http://schemas.openxmlformats.org/drawingml/2006/main" noGrp="1"/>
          </p:cNvSpPr>
          <p:nvPr/>
        </p:nvSpPr>
        <p:spPr>
          <a:xfrm xmlns:a="http://schemas.openxmlformats.org/drawingml/2006/main">
            <a:off x="3448050" y="2533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Across all three anchors</a:t>
            </a:r>
          </a:p>
        </p:txBody>
      </p:sp>
      <p:sp>
        <p:nvSpPr>
          <p:cNvPr id="16" name="">
            <a:extLst xmlns:a="http://schemas.openxmlformats.org/drawingml/2006/main">
              <a:ext uri="{FF2B5EF4-FFF2-40B4-BE49-F238E27FC236}">
                <a16:creationId xmlns:a16="http://schemas.microsoft.com/office/drawing/2014/main" id="{013317EC-84A3-468E-881C-94E010A9BC03}"/>
              </a:ext>
            </a:extLst>
          </p:cNvPr>
          <p:cNvSpPr>
            <a:spLocks xmlns:a="http://schemas.openxmlformats.org/drawingml/2006/main" noGrp="1"/>
          </p:cNvSpPr>
          <p:nvPr/>
        </p:nvSpPr>
        <p:spPr>
          <a:xfrm xmlns:a="http://schemas.openxmlformats.org/drawingml/2006/main">
            <a:off x="5886450" y="1657350"/>
            <a:ext cx="24765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7" name="">
            <a:extLst xmlns:a="http://schemas.openxmlformats.org/drawingml/2006/main">
              <a:ext uri="{FF2B5EF4-FFF2-40B4-BE49-F238E27FC236}">
                <a16:creationId xmlns:a16="http://schemas.microsoft.com/office/drawing/2014/main" id="{8AC79945-5C1B-4600-9900-417F20D07D2B}"/>
              </a:ext>
            </a:extLst>
          </p:cNvPr>
          <p:cNvSpPr>
            <a:spLocks xmlns:a="http://schemas.openxmlformats.org/drawingml/2006/main" noGrp="1"/>
          </p:cNvSpPr>
          <p:nvPr/>
        </p:nvSpPr>
        <p:spPr>
          <a:xfrm xmlns:a="http://schemas.openxmlformats.org/drawingml/2006/main">
            <a:off x="5886450" y="1657350"/>
            <a:ext cx="76200" cy="1200150"/>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18" name="">
            <a:extLst xmlns:a="http://schemas.openxmlformats.org/drawingml/2006/main">
              <a:ext uri="{FF2B5EF4-FFF2-40B4-BE49-F238E27FC236}">
                <a16:creationId xmlns:a16="http://schemas.microsoft.com/office/drawing/2014/main" id="{568F1CF3-1692-4CD1-91E2-A0677D35CFC3}"/>
              </a:ext>
            </a:extLst>
          </p:cNvPr>
          <p:cNvSpPr>
            <a:spLocks xmlns:a="http://schemas.openxmlformats.org/drawingml/2006/main" noGrp="1"/>
          </p:cNvSpPr>
          <p:nvPr/>
        </p:nvSpPr>
        <p:spPr>
          <a:xfrm xmlns:a="http://schemas.openxmlformats.org/drawingml/2006/main">
            <a:off x="6115050" y="17907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75" b="1">
                <a:solidFill>
                  <a:srgbClr val="000000"/>
                </a:solidFill>
              </a:defRPr>
            </a:pPr>
            <a:r>
              <a:rPr sz="2475" b="1">
                <a:solidFill>
                  <a:srgbClr val="000000"/>
                </a:solidFill>
              </a:rPr>
              <a:t>78.8%</a:t>
            </a:r>
          </a:p>
        </p:txBody>
      </p:sp>
      <p:sp>
        <p:nvSpPr>
          <p:cNvPr id="19" name="">
            <a:extLst xmlns:a="http://schemas.openxmlformats.org/drawingml/2006/main">
              <a:ext uri="{FF2B5EF4-FFF2-40B4-BE49-F238E27FC236}">
                <a16:creationId xmlns:a16="http://schemas.microsoft.com/office/drawing/2014/main" id="{30965E92-25EB-4CA7-948D-7F3E24577E5C}"/>
              </a:ext>
            </a:extLst>
          </p:cNvPr>
          <p:cNvSpPr>
            <a:spLocks xmlns:a="http://schemas.openxmlformats.org/drawingml/2006/main" noGrp="1"/>
          </p:cNvSpPr>
          <p:nvPr/>
        </p:nvSpPr>
        <p:spPr>
          <a:xfrm xmlns:a="http://schemas.openxmlformats.org/drawingml/2006/main">
            <a:off x="6115050" y="22574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anchor coverage</a:t>
            </a:r>
          </a:p>
        </p:txBody>
      </p:sp>
      <p:sp>
        <p:nvSpPr>
          <p:cNvPr id="20" name="">
            <a:extLst xmlns:a="http://schemas.openxmlformats.org/drawingml/2006/main">
              <a:ext uri="{FF2B5EF4-FFF2-40B4-BE49-F238E27FC236}">
                <a16:creationId xmlns:a16="http://schemas.microsoft.com/office/drawing/2014/main" id="{D51C2F6E-6FF7-47F7-B590-F88417E5FCDF}"/>
              </a:ext>
            </a:extLst>
          </p:cNvPr>
          <p:cNvSpPr>
            <a:spLocks xmlns:a="http://schemas.openxmlformats.org/drawingml/2006/main" noGrp="1"/>
          </p:cNvSpPr>
          <p:nvPr/>
        </p:nvSpPr>
        <p:spPr>
          <a:xfrm xmlns:a="http://schemas.openxmlformats.org/drawingml/2006/main">
            <a:off x="6115050" y="2533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1,773 / 2,250 NVDL opportunities</a:t>
            </a:r>
          </a:p>
        </p:txBody>
      </p:sp>
      <p:sp>
        <p:nvSpPr>
          <p:cNvPr id="21" name="">
            <a:extLst xmlns:a="http://schemas.openxmlformats.org/drawingml/2006/main">
              <a:ext uri="{FF2B5EF4-FFF2-40B4-BE49-F238E27FC236}">
                <a16:creationId xmlns:a16="http://schemas.microsoft.com/office/drawing/2014/main" id="{87EE69DA-2D21-4239-9A19-3C25685FA546}"/>
              </a:ext>
            </a:extLst>
          </p:cNvPr>
          <p:cNvSpPr>
            <a:spLocks xmlns:a="http://schemas.openxmlformats.org/drawingml/2006/main" noGrp="1"/>
          </p:cNvSpPr>
          <p:nvPr/>
        </p:nvSpPr>
        <p:spPr>
          <a:xfrm xmlns:a="http://schemas.openxmlformats.org/drawingml/2006/main">
            <a:off x="8553450" y="1657350"/>
            <a:ext cx="24765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22" name="">
            <a:extLst xmlns:a="http://schemas.openxmlformats.org/drawingml/2006/main">
              <a:ext uri="{FF2B5EF4-FFF2-40B4-BE49-F238E27FC236}">
                <a16:creationId xmlns:a16="http://schemas.microsoft.com/office/drawing/2014/main" id="{C92FC597-7364-4BA2-8E20-F550871525AB}"/>
              </a:ext>
            </a:extLst>
          </p:cNvPr>
          <p:cNvSpPr>
            <a:spLocks xmlns:a="http://schemas.openxmlformats.org/drawingml/2006/main" noGrp="1"/>
          </p:cNvSpPr>
          <p:nvPr/>
        </p:nvSpPr>
        <p:spPr>
          <a:xfrm xmlns:a="http://schemas.openxmlformats.org/drawingml/2006/main">
            <a:off x="8553450" y="1657350"/>
            <a:ext cx="76200" cy="1200150"/>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23" name="">
            <a:extLst xmlns:a="http://schemas.openxmlformats.org/drawingml/2006/main">
              <a:ext uri="{FF2B5EF4-FFF2-40B4-BE49-F238E27FC236}">
                <a16:creationId xmlns:a16="http://schemas.microsoft.com/office/drawing/2014/main" id="{FA202D5B-A8F3-4771-9306-4A8B081BD35D}"/>
              </a:ext>
            </a:extLst>
          </p:cNvPr>
          <p:cNvSpPr>
            <a:spLocks xmlns:a="http://schemas.openxmlformats.org/drawingml/2006/main" noGrp="1"/>
          </p:cNvSpPr>
          <p:nvPr/>
        </p:nvSpPr>
        <p:spPr>
          <a:xfrm xmlns:a="http://schemas.openxmlformats.org/drawingml/2006/main">
            <a:off x="8782050" y="17907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75" b="1">
                <a:solidFill>
                  <a:srgbClr val="000000"/>
                </a:solidFill>
              </a:defRPr>
            </a:pPr>
            <a:r>
              <a:rPr sz="2475" b="1">
                <a:solidFill>
                  <a:srgbClr val="000000"/>
                </a:solidFill>
              </a:rPr>
              <a:t>0</a:t>
            </a:r>
          </a:p>
        </p:txBody>
      </p:sp>
      <p:sp>
        <p:nvSpPr>
          <p:cNvPr id="24" name="">
            <a:extLst xmlns:a="http://schemas.openxmlformats.org/drawingml/2006/main">
              <a:ext uri="{FF2B5EF4-FFF2-40B4-BE49-F238E27FC236}">
                <a16:creationId xmlns:a16="http://schemas.microsoft.com/office/drawing/2014/main" id="{264C11B6-E048-4B87-B039-903931F31FBF}"/>
              </a:ext>
            </a:extLst>
          </p:cNvPr>
          <p:cNvSpPr>
            <a:spLocks xmlns:a="http://schemas.openxmlformats.org/drawingml/2006/main" noGrp="1"/>
          </p:cNvSpPr>
          <p:nvPr/>
        </p:nvSpPr>
        <p:spPr>
          <a:xfrm xmlns:a="http://schemas.openxmlformats.org/drawingml/2006/main">
            <a:off x="8782050" y="22574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future bars</a:t>
            </a:r>
          </a:p>
        </p:txBody>
      </p:sp>
      <p:sp>
        <p:nvSpPr>
          <p:cNvPr id="25" name="">
            <a:extLst xmlns:a="http://schemas.openxmlformats.org/drawingml/2006/main">
              <a:ext uri="{FF2B5EF4-FFF2-40B4-BE49-F238E27FC236}">
                <a16:creationId xmlns:a16="http://schemas.microsoft.com/office/drawing/2014/main" id="{C931F8C5-77E2-4B7A-8981-FB775777844B}"/>
              </a:ext>
            </a:extLst>
          </p:cNvPr>
          <p:cNvSpPr>
            <a:spLocks xmlns:a="http://schemas.openxmlformats.org/drawingml/2006/main" noGrp="1"/>
          </p:cNvSpPr>
          <p:nvPr/>
        </p:nvSpPr>
        <p:spPr>
          <a:xfrm xmlns:a="http://schemas.openxmlformats.org/drawingml/2006/main">
            <a:off x="8782050" y="2533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No NVDA 2024+ data read</a:t>
            </a:r>
          </a:p>
        </p:txBody>
      </p:sp>
      <p:sp>
        <p:nvSpPr>
          <p:cNvPr id="26" name="">
            <a:extLst xmlns:a="http://schemas.openxmlformats.org/drawingml/2006/main">
              <a:ext uri="{FF2B5EF4-FFF2-40B4-BE49-F238E27FC236}">
                <a16:creationId xmlns:a16="http://schemas.microsoft.com/office/drawing/2014/main" id="{490C82F4-1B68-4D46-AE1E-C584FCF35730}"/>
              </a:ext>
            </a:extLst>
          </p:cNvPr>
          <p:cNvSpPr>
            <a:spLocks xmlns:a="http://schemas.openxmlformats.org/drawingml/2006/main" noGrp="1"/>
          </p:cNvSpPr>
          <p:nvPr/>
        </p:nvSpPr>
        <p:spPr>
          <a:xfrm xmlns:a="http://schemas.openxmlformats.org/drawingml/2006/main">
            <a:off x="552450" y="3238500"/>
            <a:ext cx="11087100" cy="23812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27" name="">
            <a:extLst xmlns:a="http://schemas.openxmlformats.org/drawingml/2006/main">
              <a:ext uri="{FF2B5EF4-FFF2-40B4-BE49-F238E27FC236}">
                <a16:creationId xmlns:a16="http://schemas.microsoft.com/office/drawing/2014/main" id="{87166973-7BB0-4F3C-A0E2-AE4B939D342A}"/>
              </a:ext>
            </a:extLst>
          </p:cNvPr>
          <p:cNvSpPr>
            <a:spLocks xmlns:a="http://schemas.openxmlformats.org/drawingml/2006/main" noGrp="1"/>
          </p:cNvSpPr>
          <p:nvPr/>
        </p:nvSpPr>
        <p:spPr>
          <a:xfrm xmlns:a="http://schemas.openxmlformats.org/drawingml/2006/main">
            <a:off x="838200" y="35242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Admission rule</a:t>
            </a:r>
          </a:p>
        </p:txBody>
      </p:sp>
      <p:sp>
        <p:nvSpPr>
          <p:cNvPr id="28" name="">
            <a:extLst xmlns:a="http://schemas.openxmlformats.org/drawingml/2006/main">
              <a:ext uri="{FF2B5EF4-FFF2-40B4-BE49-F238E27FC236}">
                <a16:creationId xmlns:a16="http://schemas.microsoft.com/office/drawing/2014/main" id="{D279F58E-ED8F-4C1F-A17E-C54E4962D673}"/>
              </a:ext>
            </a:extLst>
          </p:cNvPr>
          <p:cNvSpPr>
            <a:spLocks xmlns:a="http://schemas.openxmlformats.org/drawingml/2006/main" noGrp="1"/>
          </p:cNvSpPr>
          <p:nvPr/>
        </p:nvSpPr>
        <p:spPr>
          <a:xfrm xmlns:a="http://schemas.openxmlformats.org/drawingml/2006/main">
            <a:off x="876300" y="41814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9" name="">
            <a:extLst xmlns:a="http://schemas.openxmlformats.org/drawingml/2006/main">
              <a:ext uri="{FF2B5EF4-FFF2-40B4-BE49-F238E27FC236}">
                <a16:creationId xmlns:a16="http://schemas.microsoft.com/office/drawing/2014/main" id="{67EEC622-F988-41F0-A997-BBDABA708F02}"/>
              </a:ext>
            </a:extLst>
          </p:cNvPr>
          <p:cNvSpPr>
            <a:spLocks xmlns:a="http://schemas.openxmlformats.org/drawingml/2006/main" noGrp="1"/>
          </p:cNvSpPr>
          <p:nvPr/>
        </p:nvSpPr>
        <p:spPr>
          <a:xfrm xmlns:a="http://schemas.openxmlformats.org/drawingml/2006/main">
            <a:off x="1104900" y="4095750"/>
            <a:ext cx="4533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Both NVDA and NVDL must print the exact anchor, local-control, and outcome bars.</a:t>
            </a:r>
          </a:p>
        </p:txBody>
      </p:sp>
      <p:sp>
        <p:nvSpPr>
          <p:cNvPr id="30" name="">
            <a:extLst xmlns:a="http://schemas.openxmlformats.org/drawingml/2006/main">
              <a:ext uri="{FF2B5EF4-FFF2-40B4-BE49-F238E27FC236}">
                <a16:creationId xmlns:a16="http://schemas.microsoft.com/office/drawing/2014/main" id="{C4EB745C-E6B9-4D8B-9B6E-C74768D8D41E}"/>
              </a:ext>
            </a:extLst>
          </p:cNvPr>
          <p:cNvSpPr>
            <a:spLocks xmlns:a="http://schemas.openxmlformats.org/drawingml/2006/main" noGrp="1"/>
          </p:cNvSpPr>
          <p:nvPr/>
        </p:nvSpPr>
        <p:spPr>
          <a:xfrm xmlns:a="http://schemas.openxmlformats.org/drawingml/2006/main">
            <a:off x="876300" y="494347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31" name="">
            <a:extLst xmlns:a="http://schemas.openxmlformats.org/drawingml/2006/main">
              <a:ext uri="{FF2B5EF4-FFF2-40B4-BE49-F238E27FC236}">
                <a16:creationId xmlns:a16="http://schemas.microsoft.com/office/drawing/2014/main" id="{184A47D8-6715-4A04-B760-0D98BF441085}"/>
              </a:ext>
            </a:extLst>
          </p:cNvPr>
          <p:cNvSpPr>
            <a:spLocks xmlns:a="http://schemas.openxmlformats.org/drawingml/2006/main" noGrp="1"/>
          </p:cNvSpPr>
          <p:nvPr/>
        </p:nvSpPr>
        <p:spPr>
          <a:xfrm xmlns:a="http://schemas.openxmlformats.org/drawingml/2006/main">
            <a:off x="1104900" y="4857750"/>
            <a:ext cx="4533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No previous-tick carry-forward converts a stale ETF price into a synchronized observation.</a:t>
            </a:r>
          </a:p>
        </p:txBody>
      </p:sp>
      <p:sp>
        <p:nvSpPr>
          <p:cNvPr id="32" name="">
            <a:extLst xmlns:a="http://schemas.openxmlformats.org/drawingml/2006/main">
              <a:ext uri="{FF2B5EF4-FFF2-40B4-BE49-F238E27FC236}">
                <a16:creationId xmlns:a16="http://schemas.microsoft.com/office/drawing/2014/main" id="{E96EB67A-8A0D-4142-8FE8-F9918506342C}"/>
              </a:ext>
            </a:extLst>
          </p:cNvPr>
          <p:cNvSpPr>
            <a:spLocks xmlns:a="http://schemas.openxmlformats.org/drawingml/2006/main" noGrp="1"/>
          </p:cNvSpPr>
          <p:nvPr/>
        </p:nvSpPr>
        <p:spPr>
          <a:xfrm xmlns:a="http://schemas.openxmlformats.org/drawingml/2006/main">
            <a:off x="6343650" y="4181475"/>
            <a:ext cx="85725" cy="85725"/>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33" name="">
            <a:extLst xmlns:a="http://schemas.openxmlformats.org/drawingml/2006/main">
              <a:ext uri="{FF2B5EF4-FFF2-40B4-BE49-F238E27FC236}">
                <a16:creationId xmlns:a16="http://schemas.microsoft.com/office/drawing/2014/main" id="{365925FE-2224-463C-B1C4-A651F8C7368E}"/>
              </a:ext>
            </a:extLst>
          </p:cNvPr>
          <p:cNvSpPr>
            <a:spLocks xmlns:a="http://schemas.openxmlformats.org/drawingml/2006/main" noGrp="1"/>
          </p:cNvSpPr>
          <p:nvPr/>
        </p:nvSpPr>
        <p:spPr>
          <a:xfrm xmlns:a="http://schemas.openxmlformats.org/drawingml/2006/main">
            <a:off x="6572250" y="4095750"/>
            <a:ext cx="4533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This protects timing, but exact-bar admission may favor more actively traded NVDL sessions.</a:t>
            </a:r>
          </a:p>
        </p:txBody>
      </p:sp>
      <p:sp>
        <p:nvSpPr>
          <p:cNvPr id="34" name="">
            <a:extLst xmlns:a="http://schemas.openxmlformats.org/drawingml/2006/main">
              <a:ext uri="{FF2B5EF4-FFF2-40B4-BE49-F238E27FC236}">
                <a16:creationId xmlns:a16="http://schemas.microsoft.com/office/drawing/2014/main" id="{BEB2D56E-0CCC-453B-80C6-4C0BA48D33AF}"/>
              </a:ext>
            </a:extLst>
          </p:cNvPr>
          <p:cNvSpPr>
            <a:spLocks xmlns:a="http://schemas.openxmlformats.org/drawingml/2006/main" noGrp="1"/>
          </p:cNvSpPr>
          <p:nvPr/>
        </p:nvSpPr>
        <p:spPr>
          <a:xfrm xmlns:a="http://schemas.openxmlformats.org/drawingml/2006/main">
            <a:off x="6343650" y="503872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35" name="">
            <a:extLst xmlns:a="http://schemas.openxmlformats.org/drawingml/2006/main">
              <a:ext uri="{FF2B5EF4-FFF2-40B4-BE49-F238E27FC236}">
                <a16:creationId xmlns:a16="http://schemas.microsoft.com/office/drawing/2014/main" id="{434AB136-7C63-4C0F-8092-E19278184AD8}"/>
              </a:ext>
            </a:extLst>
          </p:cNvPr>
          <p:cNvSpPr>
            <a:spLocks xmlns:a="http://schemas.openxmlformats.org/drawingml/2006/main" noGrp="1"/>
          </p:cNvSpPr>
          <p:nvPr/>
        </p:nvSpPr>
        <p:spPr>
          <a:xfrm xmlns:a="http://schemas.openxmlformats.org/drawingml/2006/main">
            <a:off x="6572250" y="4953000"/>
            <a:ext cx="4533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The packet is descriptive; coverage is not treated as a representative population claim.</a:t>
            </a:r>
          </a:p>
        </p:txBody>
      </p:sp>
    </p:spTree>
    <p:extLst>
      <p:ext uri="{BB962C8B-B14F-4D97-AF65-F5344CB8AC3E}">
        <p14:creationId xmlns:p14="http://schemas.microsoft.com/office/powerpoint/2010/main" val="1258462089"/>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852CFD1-1DC2-48F7-BB8F-17725A386390}"/>
              </a:ext>
            </a:extLst>
          </p:cNvPr>
          <p:cNvSpPr>
            <a:spLocks xmlns:a="http://schemas.openxmlformats.org/drawingml/2006/main" noGrp="1"/>
          </p:cNvSpPr>
          <p:nvPr/>
        </p:nvSpPr>
        <p:spPr>
          <a:xfrm xmlns:a="http://schemas.openxmlformats.org/drawingml/2006/main">
            <a:off x="457200" y="23812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 NVDL CLOSE PRESSURE</a:t>
            </a:r>
          </a:p>
        </p:txBody>
      </p:sp>
      <p:sp>
        <p:nvSpPr>
          <p:cNvPr id="2" name="">
            <a:extLst xmlns:a="http://schemas.openxmlformats.org/drawingml/2006/main">
              <a:ext uri="{FF2B5EF4-FFF2-40B4-BE49-F238E27FC236}">
                <a16:creationId xmlns:a16="http://schemas.microsoft.com/office/drawing/2014/main" id="{CE761697-351D-4FDB-80A1-77F0C714F156}"/>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predicted same-direction close continuation is absent</a:t>
            </a:r>
          </a:p>
        </p:txBody>
      </p:sp>
      <p:sp>
        <p:nvSpPr>
          <p:cNvPr id="3" name="">
            <a:extLst xmlns:a="http://schemas.openxmlformats.org/drawingml/2006/main">
              <a:ext uri="{FF2B5EF4-FFF2-40B4-BE49-F238E27FC236}">
                <a16:creationId xmlns:a16="http://schemas.microsoft.com/office/drawing/2014/main" id="{0088AB96-87F3-4234-8EC9-F6B1F8D1B3F2}"/>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E85530B1-A927-4EDB-9106-17D917028DD2}"/>
              </a:ext>
            </a:extLst>
          </p:cNvPr>
          <p:cNvSpPr>
            <a:spLocks xmlns:a="http://schemas.openxmlformats.org/drawingml/2006/main" noGrp="1"/>
          </p:cNvSpPr>
          <p:nvPr/>
        </p:nvSpPr>
        <p:spPr>
          <a:xfrm xmlns:a="http://schemas.openxmlformats.org/drawingml/2006/main">
            <a:off x="457200" y="651510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mechanism POC · exact adjusted SIP 5-minute bars · 2023 only</a:t>
            </a:r>
          </a:p>
        </p:txBody>
      </p:sp>
      <p:sp>
        <p:nvSpPr>
          <p:cNvPr id="5" name="">
            <a:extLst xmlns:a="http://schemas.openxmlformats.org/drawingml/2006/main">
              <a:ext uri="{FF2B5EF4-FFF2-40B4-BE49-F238E27FC236}">
                <a16:creationId xmlns:a16="http://schemas.microsoft.com/office/drawing/2014/main" id="{D366A3C7-41CE-4F0F-95A5-68EF88859C62}"/>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53</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3460ba43f61429c"/>
          <a:stretch xmlns:a="http://schemas.openxmlformats.org/drawingml/2006/main"/>
        </p:blipFill>
        <p:spPr>
          <a:xfrm xmlns:a="http://schemas.openxmlformats.org/drawingml/2006/main">
            <a:off x="323850" y="1904405"/>
            <a:ext cx="8667750" cy="379214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AE5F152-CEB8-444F-B60A-D64851FEA991}"/>
              </a:ext>
            </a:extLst>
          </p:cNvPr>
          <p:cNvSpPr>
            <a:spLocks xmlns:a="http://schemas.openxmlformats.org/drawingml/2006/main" noGrp="1"/>
          </p:cNvSpPr>
          <p:nvPr/>
        </p:nvSpPr>
        <p:spPr>
          <a:xfrm xmlns:a="http://schemas.openxmlformats.org/drawingml/2006/main">
            <a:off x="9163050" y="1504950"/>
            <a:ext cx="2476500" cy="44196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42522918-DDC5-46D7-8717-33EFFA728375}"/>
              </a:ext>
            </a:extLst>
          </p:cNvPr>
          <p:cNvSpPr>
            <a:spLocks xmlns:a="http://schemas.openxmlformats.org/drawingml/2006/main" noGrp="1"/>
          </p:cNvSpPr>
          <p:nvPr/>
        </p:nvSpPr>
        <p:spPr>
          <a:xfrm xmlns:a="http://schemas.openxmlformats.org/drawingml/2006/main">
            <a:off x="9391650" y="1809750"/>
            <a:ext cx="2019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4866D"/>
                </a:solidFill>
              </a:defRPr>
            </a:pPr>
            <a:r>
              <a:rPr sz="2175" b="1">
                <a:solidFill>
                  <a:srgbClr val="14866D"/>
                </a:solidFill>
              </a:rPr>
              <a:t>15:30</a:t>
            </a:r>
          </a:p>
        </p:txBody>
      </p:sp>
      <p:sp>
        <p:nvSpPr>
          <p:cNvPr id="9" name="">
            <a:extLst xmlns:a="http://schemas.openxmlformats.org/drawingml/2006/main">
              <a:ext uri="{FF2B5EF4-FFF2-40B4-BE49-F238E27FC236}">
                <a16:creationId xmlns:a16="http://schemas.microsoft.com/office/drawing/2014/main" id="{ACC2D5DA-55DF-4795-B310-3405AEE49D91}"/>
              </a:ext>
            </a:extLst>
          </p:cNvPr>
          <p:cNvSpPr>
            <a:spLocks xmlns:a="http://schemas.openxmlformats.org/drawingml/2006/main" noGrp="1"/>
          </p:cNvSpPr>
          <p:nvPr/>
        </p:nvSpPr>
        <p:spPr>
          <a:xfrm xmlns:a="http://schemas.openxmlformats.org/drawingml/2006/main">
            <a:off x="9391650" y="2343150"/>
            <a:ext cx="2019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24364B"/>
                </a:solidFill>
              </a:defRPr>
            </a:pPr>
            <a:r>
              <a:rPr sz="3000" b="1">
                <a:solidFill>
                  <a:srgbClr val="24364B"/>
                </a:solidFill>
              </a:rPr>
              <a:t>−0.042</a:t>
            </a:r>
          </a:p>
        </p:txBody>
      </p:sp>
      <p:sp>
        <p:nvSpPr>
          <p:cNvPr id="10" name="">
            <a:extLst xmlns:a="http://schemas.openxmlformats.org/drawingml/2006/main">
              <a:ext uri="{FF2B5EF4-FFF2-40B4-BE49-F238E27FC236}">
                <a16:creationId xmlns:a16="http://schemas.microsoft.com/office/drawing/2014/main" id="{49BDD10B-E3F3-4A61-B4BD-69DA17F412EA}"/>
              </a:ext>
            </a:extLst>
          </p:cNvPr>
          <p:cNvSpPr>
            <a:spLocks xmlns:a="http://schemas.openxmlformats.org/drawingml/2006/main" noGrp="1"/>
          </p:cNvSpPr>
          <p:nvPr/>
        </p:nvSpPr>
        <p:spPr>
          <a:xfrm xmlns:a="http://schemas.openxmlformats.org/drawingml/2006/main">
            <a:off x="9391650" y="2838450"/>
            <a:ext cx="2019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667386"/>
                </a:solidFill>
              </a:defRPr>
            </a:pPr>
            <a:r>
              <a:rPr sz="1275" b="0">
                <a:solidFill>
                  <a:srgbClr val="667386"/>
                </a:solidFill>
              </a:rPr>
              <a:t>Pearson correlation</a:t>
            </a:r>
          </a:p>
        </p:txBody>
      </p:sp>
      <p:sp>
        <p:nvSpPr>
          <p:cNvPr id="11" name="">
            <a:extLst xmlns:a="http://schemas.openxmlformats.org/drawingml/2006/main">
              <a:ext uri="{FF2B5EF4-FFF2-40B4-BE49-F238E27FC236}">
                <a16:creationId xmlns:a16="http://schemas.microsoft.com/office/drawing/2014/main" id="{D9CF6D9E-C494-43CF-9FA5-F82D5673646C}"/>
              </a:ext>
            </a:extLst>
          </p:cNvPr>
          <p:cNvSpPr>
            <a:spLocks xmlns:a="http://schemas.openxmlformats.org/drawingml/2006/main" noGrp="1"/>
          </p:cNvSpPr>
          <p:nvPr/>
        </p:nvSpPr>
        <p:spPr>
          <a:xfrm xmlns:a="http://schemas.openxmlformats.org/drawingml/2006/main">
            <a:off x="9391650" y="3352800"/>
            <a:ext cx="20193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2" name="">
            <a:extLst xmlns:a="http://schemas.openxmlformats.org/drawingml/2006/main">
              <a:ext uri="{FF2B5EF4-FFF2-40B4-BE49-F238E27FC236}">
                <a16:creationId xmlns:a16="http://schemas.microsoft.com/office/drawing/2014/main" id="{9963FD18-B23F-4BA2-BF25-AE650EDE748A}"/>
              </a:ext>
            </a:extLst>
          </p:cNvPr>
          <p:cNvSpPr>
            <a:spLocks xmlns:a="http://schemas.openxmlformats.org/drawingml/2006/main" noGrp="1"/>
          </p:cNvSpPr>
          <p:nvPr/>
        </p:nvSpPr>
        <p:spPr>
          <a:xfrm xmlns:a="http://schemas.openxmlformats.org/drawingml/2006/main">
            <a:off x="9391650" y="3638550"/>
            <a:ext cx="2019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24364B"/>
                </a:solidFill>
              </a:defRPr>
            </a:pPr>
            <a:r>
              <a:rPr sz="2550" b="1">
                <a:solidFill>
                  <a:srgbClr val="24364B"/>
                </a:solidFill>
              </a:rPr>
              <a:t>+0.068</a:t>
            </a:r>
          </a:p>
        </p:txBody>
      </p:sp>
      <p:sp>
        <p:nvSpPr>
          <p:cNvPr id="13" name="">
            <a:extLst xmlns:a="http://schemas.openxmlformats.org/drawingml/2006/main">
              <a:ext uri="{FF2B5EF4-FFF2-40B4-BE49-F238E27FC236}">
                <a16:creationId xmlns:a16="http://schemas.microsoft.com/office/drawing/2014/main" id="{F49FF1FC-D4A0-4407-88C4-8C06024C0056}"/>
              </a:ext>
            </a:extLst>
          </p:cNvPr>
          <p:cNvSpPr>
            <a:spLocks xmlns:a="http://schemas.openxmlformats.org/drawingml/2006/main" noGrp="1"/>
          </p:cNvSpPr>
          <p:nvPr/>
        </p:nvSpPr>
        <p:spPr>
          <a:xfrm xmlns:a="http://schemas.openxmlformats.org/drawingml/2006/main">
            <a:off x="9391650" y="4095750"/>
            <a:ext cx="2019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667386"/>
                </a:solidFill>
              </a:defRPr>
            </a:pPr>
            <a:r>
              <a:rPr sz="1275" b="0">
                <a:solidFill>
                  <a:srgbClr val="667386"/>
                </a:solidFill>
              </a:rPr>
              <a:t>Spearman correlation</a:t>
            </a:r>
          </a:p>
        </p:txBody>
      </p:sp>
      <p:sp>
        <p:nvSpPr>
          <p:cNvPr id="14" name="">
            <a:extLst xmlns:a="http://schemas.openxmlformats.org/drawingml/2006/main">
              <a:ext uri="{FF2B5EF4-FFF2-40B4-BE49-F238E27FC236}">
                <a16:creationId xmlns:a16="http://schemas.microsoft.com/office/drawing/2014/main" id="{81544B29-3B4A-4F04-9D69-4E445DB710B2}"/>
              </a:ext>
            </a:extLst>
          </p:cNvPr>
          <p:cNvSpPr>
            <a:spLocks xmlns:a="http://schemas.openxmlformats.org/drawingml/2006/main" noGrp="1"/>
          </p:cNvSpPr>
          <p:nvPr/>
        </p:nvSpPr>
        <p:spPr>
          <a:xfrm xmlns:a="http://schemas.openxmlformats.org/drawingml/2006/main">
            <a:off x="9391650" y="4762500"/>
            <a:ext cx="20193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B44738"/>
                </a:solidFill>
              </a:defRPr>
            </a:pPr>
            <a:r>
              <a:rPr sz="1200" b="1">
                <a:solidFill>
                  <a:srgbClr val="B44738"/>
                </a:solidFill>
              </a:rPr>
              <a:t>The cloud is effectively flat. A positive top-minus-bottom quintile contrast (+0.069%) does not create a monotone close-pressure relationship.</a:t>
            </a:r>
          </a:p>
        </p:txBody>
      </p:sp>
    </p:spTree>
    <p:extLst>
      <p:ext uri="{BB962C8B-B14F-4D97-AF65-F5344CB8AC3E}">
        <p14:creationId xmlns:p14="http://schemas.microsoft.com/office/powerpoint/2010/main" val="10401839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075FEDC-CF3B-4D83-8E36-1D7A53977232}"/>
              </a:ext>
            </a:extLst>
          </p:cNvPr>
          <p:cNvSpPr>
            <a:spLocks xmlns:a="http://schemas.openxmlformats.org/drawingml/2006/main" noGrp="1"/>
          </p:cNvSpPr>
          <p:nvPr/>
        </p:nvSpPr>
        <p:spPr>
          <a:xfrm xmlns:a="http://schemas.openxmlformats.org/drawingml/2006/main">
            <a:off x="457200" y="23812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 NVDL CLOSE PRESSURE</a:t>
            </a:r>
          </a:p>
        </p:txBody>
      </p:sp>
      <p:sp>
        <p:nvSpPr>
          <p:cNvPr id="2" name="">
            <a:extLst xmlns:a="http://schemas.openxmlformats.org/drawingml/2006/main">
              <a:ext uri="{FF2B5EF4-FFF2-40B4-BE49-F238E27FC236}">
                <a16:creationId xmlns:a16="http://schemas.microsoft.com/office/drawing/2014/main" id="{DAF87F4F-620E-431D-9FC2-88CE238ABA39}"/>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close favors local momentum—not the reset signal</a:t>
            </a:r>
          </a:p>
        </p:txBody>
      </p:sp>
      <p:sp>
        <p:nvSpPr>
          <p:cNvPr id="3" name="">
            <a:extLst xmlns:a="http://schemas.openxmlformats.org/drawingml/2006/main">
              <a:ext uri="{FF2B5EF4-FFF2-40B4-BE49-F238E27FC236}">
                <a16:creationId xmlns:a16="http://schemas.microsoft.com/office/drawing/2014/main" id="{AF96082D-F394-4916-9EB2-4484C4160A69}"/>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B22AC5AB-E93E-4784-BDF9-9118BACEB708}"/>
              </a:ext>
            </a:extLst>
          </p:cNvPr>
          <p:cNvSpPr>
            <a:spLocks xmlns:a="http://schemas.openxmlformats.org/drawingml/2006/main" noGrp="1"/>
          </p:cNvSpPr>
          <p:nvPr/>
        </p:nvSpPr>
        <p:spPr>
          <a:xfrm xmlns:a="http://schemas.openxmlformats.org/drawingml/2006/main">
            <a:off x="457200" y="651510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mechanism POC · exact adjusted SIP 5-minute bars · 2023 only</a:t>
            </a:r>
          </a:p>
        </p:txBody>
      </p:sp>
      <p:sp>
        <p:nvSpPr>
          <p:cNvPr id="5" name="">
            <a:extLst xmlns:a="http://schemas.openxmlformats.org/drawingml/2006/main">
              <a:ext uri="{FF2B5EF4-FFF2-40B4-BE49-F238E27FC236}">
                <a16:creationId xmlns:a16="http://schemas.microsoft.com/office/drawing/2014/main" id="{7857DEBE-5526-4000-B016-EF1FF4B1856A}"/>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54</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6dfc569b1ad4785"/>
          <a:stretch xmlns:a="http://schemas.openxmlformats.org/drawingml/2006/main"/>
        </p:blipFill>
        <p:spPr>
          <a:xfrm xmlns:a="http://schemas.openxmlformats.org/drawingml/2006/main">
            <a:off x="613948" y="1428750"/>
            <a:ext cx="7868478"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F89AB0A-F631-41D0-8762-D94776EC004F}"/>
              </a:ext>
            </a:extLst>
          </p:cNvPr>
          <p:cNvSpPr>
            <a:spLocks xmlns:a="http://schemas.openxmlformats.org/drawingml/2006/main" noGrp="1"/>
          </p:cNvSpPr>
          <p:nvPr/>
        </p:nvSpPr>
        <p:spPr>
          <a:xfrm xmlns:a="http://schemas.openxmlformats.org/drawingml/2006/main">
            <a:off x="8934450" y="1504950"/>
            <a:ext cx="2705100" cy="44196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2E108071-E52D-48EA-9DFA-F59AFBDBCAF1}"/>
              </a:ext>
            </a:extLst>
          </p:cNvPr>
          <p:cNvSpPr>
            <a:spLocks xmlns:a="http://schemas.openxmlformats.org/drawingml/2006/main" noGrp="1"/>
          </p:cNvSpPr>
          <p:nvPr/>
        </p:nvSpPr>
        <p:spPr>
          <a:xfrm xmlns:a="http://schemas.openxmlformats.org/drawingml/2006/main">
            <a:off x="9163050" y="1809750"/>
            <a:ext cx="2247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Two different predictors</a:t>
            </a:r>
          </a:p>
        </p:txBody>
      </p:sp>
      <p:sp>
        <p:nvSpPr>
          <p:cNvPr id="9" name="">
            <a:extLst xmlns:a="http://schemas.openxmlformats.org/drawingml/2006/main">
              <a:ext uri="{FF2B5EF4-FFF2-40B4-BE49-F238E27FC236}">
                <a16:creationId xmlns:a16="http://schemas.microsoft.com/office/drawing/2014/main" id="{D4DE6FD5-EF82-4674-98C1-7A1357469FA7}"/>
              </a:ext>
            </a:extLst>
          </p:cNvPr>
          <p:cNvSpPr>
            <a:spLocks xmlns:a="http://schemas.openxmlformats.org/drawingml/2006/main" noGrp="1"/>
          </p:cNvSpPr>
          <p:nvPr/>
        </p:nvSpPr>
        <p:spPr>
          <a:xfrm xmlns:a="http://schemas.openxmlformats.org/drawingml/2006/main">
            <a:off x="9163050" y="27336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64248F46-0723-4313-A064-628E09EC8F70}"/>
              </a:ext>
            </a:extLst>
          </p:cNvPr>
          <p:cNvSpPr>
            <a:spLocks xmlns:a="http://schemas.openxmlformats.org/drawingml/2006/main" noGrp="1"/>
          </p:cNvSpPr>
          <p:nvPr/>
        </p:nvSpPr>
        <p:spPr>
          <a:xfrm xmlns:a="http://schemas.openxmlformats.org/drawingml/2006/main">
            <a:off x="9391650" y="2647950"/>
            <a:ext cx="201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64B"/>
                </a:solidFill>
              </a:defRPr>
            </a:pPr>
            <a:r>
              <a:rPr sz="1275" b="0">
                <a:solidFill>
                  <a:srgbClr val="24364B"/>
                </a:solidFill>
              </a:rPr>
              <a:t>Prior close → clock is the leveraged-reset mechanism signal.</a:t>
            </a:r>
          </a:p>
        </p:txBody>
      </p:sp>
      <p:sp>
        <p:nvSpPr>
          <p:cNvPr id="11" name="">
            <a:extLst xmlns:a="http://schemas.openxmlformats.org/drawingml/2006/main">
              <a:ext uri="{FF2B5EF4-FFF2-40B4-BE49-F238E27FC236}">
                <a16:creationId xmlns:a16="http://schemas.microsoft.com/office/drawing/2014/main" id="{C13B0C30-30CC-4C90-853A-52F444FF0C4A}"/>
              </a:ext>
            </a:extLst>
          </p:cNvPr>
          <p:cNvSpPr>
            <a:spLocks xmlns:a="http://schemas.openxmlformats.org/drawingml/2006/main" noGrp="1"/>
          </p:cNvSpPr>
          <p:nvPr/>
        </p:nvSpPr>
        <p:spPr>
          <a:xfrm xmlns:a="http://schemas.openxmlformats.org/drawingml/2006/main">
            <a:off x="9163050" y="3648075"/>
            <a:ext cx="85725" cy="85725"/>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12" name="">
            <a:extLst xmlns:a="http://schemas.openxmlformats.org/drawingml/2006/main">
              <a:ext uri="{FF2B5EF4-FFF2-40B4-BE49-F238E27FC236}">
                <a16:creationId xmlns:a16="http://schemas.microsoft.com/office/drawing/2014/main" id="{C9452464-A5E3-4E1E-B36D-9EDD0A48AA25}"/>
              </a:ext>
            </a:extLst>
          </p:cNvPr>
          <p:cNvSpPr>
            <a:spLocks xmlns:a="http://schemas.openxmlformats.org/drawingml/2006/main" noGrp="1"/>
          </p:cNvSpPr>
          <p:nvPr/>
        </p:nvSpPr>
        <p:spPr>
          <a:xfrm xmlns:a="http://schemas.openxmlformats.org/drawingml/2006/main">
            <a:off x="9391650" y="3562350"/>
            <a:ext cx="201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64B"/>
                </a:solidFill>
              </a:defRPr>
            </a:pPr>
            <a:r>
              <a:rPr sz="1275" b="0">
                <a:solidFill>
                  <a:srgbClr val="24364B"/>
                </a:solidFill>
              </a:rPr>
              <a:t>Immediately prior 60 min is an ordinary local momentum control.</a:t>
            </a:r>
          </a:p>
        </p:txBody>
      </p:sp>
      <p:sp>
        <p:nvSpPr>
          <p:cNvPr id="13" name="">
            <a:extLst xmlns:a="http://schemas.openxmlformats.org/drawingml/2006/main">
              <a:ext uri="{FF2B5EF4-FFF2-40B4-BE49-F238E27FC236}">
                <a16:creationId xmlns:a16="http://schemas.microsoft.com/office/drawing/2014/main" id="{8AC8A6C2-1E28-4B01-800A-79CEB1A86125}"/>
              </a:ext>
            </a:extLst>
          </p:cNvPr>
          <p:cNvSpPr>
            <a:spLocks xmlns:a="http://schemas.openxmlformats.org/drawingml/2006/main" noGrp="1"/>
          </p:cNvSpPr>
          <p:nvPr/>
        </p:nvSpPr>
        <p:spPr>
          <a:xfrm xmlns:a="http://schemas.openxmlformats.org/drawingml/2006/main">
            <a:off x="9163050" y="4705350"/>
            <a:ext cx="22479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4364B"/>
                </a:solidFill>
              </a:defRPr>
            </a:pPr>
            <a:r>
              <a:rPr sz="1275" b="1">
                <a:solidFill>
                  <a:srgbClr val="24364B"/>
                </a:solidFill>
              </a:rPr>
              <a:t>The control rises from +0.041 to +0.133. Interesting—but it is a different hypothesis and is not promoted here.</a:t>
            </a:r>
          </a:p>
        </p:txBody>
      </p:sp>
    </p:spTree>
    <p:extLst>
      <p:ext uri="{BB962C8B-B14F-4D97-AF65-F5344CB8AC3E}">
        <p14:creationId xmlns:p14="http://schemas.microsoft.com/office/powerpoint/2010/main" val="1823802690"/>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E966866-67F7-4221-A50C-B8B4769A4E25}"/>
              </a:ext>
            </a:extLst>
          </p:cNvPr>
          <p:cNvSpPr>
            <a:spLocks xmlns:a="http://schemas.openxmlformats.org/drawingml/2006/main" noGrp="1"/>
          </p:cNvSpPr>
          <p:nvPr/>
        </p:nvSpPr>
        <p:spPr>
          <a:xfrm xmlns:a="http://schemas.openxmlformats.org/drawingml/2006/main">
            <a:off x="457200" y="23812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 NVDL CLOSE PRESSURE</a:t>
            </a:r>
          </a:p>
        </p:txBody>
      </p:sp>
      <p:sp>
        <p:nvSpPr>
          <p:cNvPr id="2" name="">
            <a:extLst xmlns:a="http://schemas.openxmlformats.org/drawingml/2006/main">
              <a:ext uri="{FF2B5EF4-FFF2-40B4-BE49-F238E27FC236}">
                <a16:creationId xmlns:a16="http://schemas.microsoft.com/office/drawing/2014/main" id="{CB6F4BE2-E567-48C8-9F96-1ACF1DFA8433}"/>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NVDL's own tracking residual does converge</a:t>
            </a:r>
          </a:p>
        </p:txBody>
      </p:sp>
      <p:sp>
        <p:nvSpPr>
          <p:cNvPr id="3" name="">
            <a:extLst xmlns:a="http://schemas.openxmlformats.org/drawingml/2006/main">
              <a:ext uri="{FF2B5EF4-FFF2-40B4-BE49-F238E27FC236}">
                <a16:creationId xmlns:a16="http://schemas.microsoft.com/office/drawing/2014/main" id="{6C616951-E177-4A8C-9AF5-547E57C63621}"/>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38FECF39-738D-4C4E-93C4-1306CC810FC5}"/>
              </a:ext>
            </a:extLst>
          </p:cNvPr>
          <p:cNvSpPr>
            <a:spLocks xmlns:a="http://schemas.openxmlformats.org/drawingml/2006/main" noGrp="1"/>
          </p:cNvSpPr>
          <p:nvPr/>
        </p:nvSpPr>
        <p:spPr>
          <a:xfrm xmlns:a="http://schemas.openxmlformats.org/drawingml/2006/main">
            <a:off x="457200" y="651510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mechanism POC · exact adjusted SIP 5-minute bars · 2023 only</a:t>
            </a:r>
          </a:p>
        </p:txBody>
      </p:sp>
      <p:sp>
        <p:nvSpPr>
          <p:cNvPr id="5" name="">
            <a:extLst xmlns:a="http://schemas.openxmlformats.org/drawingml/2006/main">
              <a:ext uri="{FF2B5EF4-FFF2-40B4-BE49-F238E27FC236}">
                <a16:creationId xmlns:a16="http://schemas.microsoft.com/office/drawing/2014/main" id="{496C0511-5FAD-4609-932D-9A69E1F58798}"/>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55</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757a7d284864562"/>
          <a:stretch xmlns:a="http://schemas.openxmlformats.org/drawingml/2006/main"/>
        </p:blipFill>
        <p:spPr>
          <a:xfrm xmlns:a="http://schemas.openxmlformats.org/drawingml/2006/main">
            <a:off x="323850" y="1904405"/>
            <a:ext cx="8667750" cy="379214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064333C-8360-4D47-87A5-61AB22F29205}"/>
              </a:ext>
            </a:extLst>
          </p:cNvPr>
          <p:cNvSpPr>
            <a:spLocks xmlns:a="http://schemas.openxmlformats.org/drawingml/2006/main" noGrp="1"/>
          </p:cNvSpPr>
          <p:nvPr/>
        </p:nvSpPr>
        <p:spPr>
          <a:xfrm xmlns:a="http://schemas.openxmlformats.org/drawingml/2006/main">
            <a:off x="9163050" y="1504950"/>
            <a:ext cx="2476500" cy="44196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2E41026E-1468-46F0-896D-551217357249}"/>
              </a:ext>
            </a:extLst>
          </p:cNvPr>
          <p:cNvSpPr>
            <a:spLocks xmlns:a="http://schemas.openxmlformats.org/drawingml/2006/main" noGrp="1"/>
          </p:cNvSpPr>
          <p:nvPr/>
        </p:nvSpPr>
        <p:spPr>
          <a:xfrm xmlns:a="http://schemas.openxmlformats.org/drawingml/2006/main">
            <a:off x="9391650" y="18097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4866D"/>
                </a:solidFill>
              </a:defRPr>
            </a:pPr>
            <a:r>
              <a:rPr sz="1800" b="1">
                <a:solidFill>
                  <a:srgbClr val="14866D"/>
                </a:solidFill>
              </a:rPr>
              <a:t>15:30 residual</a:t>
            </a:r>
          </a:p>
        </p:txBody>
      </p:sp>
      <p:sp>
        <p:nvSpPr>
          <p:cNvPr id="9" name="">
            <a:extLst xmlns:a="http://schemas.openxmlformats.org/drawingml/2006/main">
              <a:ext uri="{FF2B5EF4-FFF2-40B4-BE49-F238E27FC236}">
                <a16:creationId xmlns:a16="http://schemas.microsoft.com/office/drawing/2014/main" id="{4B6EFA50-329F-4628-81D4-3BA8A27CA83D}"/>
              </a:ext>
            </a:extLst>
          </p:cNvPr>
          <p:cNvSpPr>
            <a:spLocks xmlns:a="http://schemas.openxmlformats.org/drawingml/2006/main" noGrp="1"/>
          </p:cNvSpPr>
          <p:nvPr/>
        </p:nvSpPr>
        <p:spPr>
          <a:xfrm xmlns:a="http://schemas.openxmlformats.org/drawingml/2006/main">
            <a:off x="9391650" y="2381250"/>
            <a:ext cx="2019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24364B"/>
                </a:solidFill>
              </a:defRPr>
            </a:pPr>
            <a:r>
              <a:rPr sz="2925" b="1">
                <a:solidFill>
                  <a:srgbClr val="24364B"/>
                </a:solidFill>
              </a:rPr>
              <a:t>−0.419</a:t>
            </a:r>
          </a:p>
        </p:txBody>
      </p:sp>
      <p:sp>
        <p:nvSpPr>
          <p:cNvPr id="10" name="">
            <a:extLst xmlns:a="http://schemas.openxmlformats.org/drawingml/2006/main">
              <a:ext uri="{FF2B5EF4-FFF2-40B4-BE49-F238E27FC236}">
                <a16:creationId xmlns:a16="http://schemas.microsoft.com/office/drawing/2014/main" id="{D1607BED-A042-47A1-8728-E52BA1795054}"/>
              </a:ext>
            </a:extLst>
          </p:cNvPr>
          <p:cNvSpPr>
            <a:spLocks xmlns:a="http://schemas.openxmlformats.org/drawingml/2006/main" noGrp="1"/>
          </p:cNvSpPr>
          <p:nvPr/>
        </p:nvSpPr>
        <p:spPr>
          <a:xfrm xmlns:a="http://schemas.openxmlformats.org/drawingml/2006/main">
            <a:off x="9391650" y="28765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67386"/>
                </a:solidFill>
              </a:defRPr>
            </a:pPr>
            <a:r>
              <a:rPr sz="1200" b="0">
                <a:solidFill>
                  <a:srgbClr val="667386"/>
                </a:solidFill>
              </a:rPr>
              <a:t>correlation with correction</a:t>
            </a:r>
          </a:p>
        </p:txBody>
      </p:sp>
      <p:sp>
        <p:nvSpPr>
          <p:cNvPr id="11" name="">
            <a:extLst xmlns:a="http://schemas.openxmlformats.org/drawingml/2006/main">
              <a:ext uri="{FF2B5EF4-FFF2-40B4-BE49-F238E27FC236}">
                <a16:creationId xmlns:a16="http://schemas.microsoft.com/office/drawing/2014/main" id="{9FA8E834-A9C3-4637-BF26-11ACC3FF71C7}"/>
              </a:ext>
            </a:extLst>
          </p:cNvPr>
          <p:cNvSpPr>
            <a:spLocks xmlns:a="http://schemas.openxmlformats.org/drawingml/2006/main" noGrp="1"/>
          </p:cNvSpPr>
          <p:nvPr/>
        </p:nvSpPr>
        <p:spPr>
          <a:xfrm xmlns:a="http://schemas.openxmlformats.org/drawingml/2006/main">
            <a:off x="9391650" y="3600450"/>
            <a:ext cx="2019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a:solidFill>
                  <a:srgbClr val="24364B"/>
                </a:solidFill>
              </a:defRPr>
            </a:pPr>
            <a:r>
              <a:rPr sz="2625" b="1">
                <a:solidFill>
                  <a:srgbClr val="24364B"/>
                </a:solidFill>
              </a:rPr>
              <a:t>−0.246</a:t>
            </a:r>
          </a:p>
        </p:txBody>
      </p:sp>
      <p:sp>
        <p:nvSpPr>
          <p:cNvPr id="12" name="">
            <a:extLst xmlns:a="http://schemas.openxmlformats.org/drawingml/2006/main">
              <a:ext uri="{FF2B5EF4-FFF2-40B4-BE49-F238E27FC236}">
                <a16:creationId xmlns:a16="http://schemas.microsoft.com/office/drawing/2014/main" id="{E9FA4CDF-06E2-4252-9F9E-C8226771123D}"/>
              </a:ext>
            </a:extLst>
          </p:cNvPr>
          <p:cNvSpPr>
            <a:spLocks xmlns:a="http://schemas.openxmlformats.org/drawingml/2006/main" noGrp="1"/>
          </p:cNvSpPr>
          <p:nvPr/>
        </p:nvSpPr>
        <p:spPr>
          <a:xfrm xmlns:a="http://schemas.openxmlformats.org/drawingml/2006/main">
            <a:off x="9391650" y="40576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67386"/>
                </a:solidFill>
              </a:defRPr>
            </a:pPr>
            <a:r>
              <a:rPr sz="1200" b="0">
                <a:solidFill>
                  <a:srgbClr val="667386"/>
                </a:solidFill>
              </a:rPr>
              <a:t>descriptive slope</a:t>
            </a:r>
          </a:p>
        </p:txBody>
      </p:sp>
      <p:sp>
        <p:nvSpPr>
          <p:cNvPr id="13" name="">
            <a:extLst xmlns:a="http://schemas.openxmlformats.org/drawingml/2006/main">
              <a:ext uri="{FF2B5EF4-FFF2-40B4-BE49-F238E27FC236}">
                <a16:creationId xmlns:a16="http://schemas.microsoft.com/office/drawing/2014/main" id="{E53CE529-2C22-490B-8FF8-A8AB863B6DB2}"/>
              </a:ext>
            </a:extLst>
          </p:cNvPr>
          <p:cNvSpPr>
            <a:spLocks xmlns:a="http://schemas.openxmlformats.org/drawingml/2006/main" noGrp="1"/>
          </p:cNvSpPr>
          <p:nvPr/>
        </p:nvSpPr>
        <p:spPr>
          <a:xfrm xmlns:a="http://schemas.openxmlformats.org/drawingml/2006/main">
            <a:off x="9391650" y="4800600"/>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B44738"/>
                </a:solidFill>
              </a:defRPr>
            </a:pPr>
            <a:r>
              <a:rPr sz="1275" b="1">
                <a:solidFill>
                  <a:srgbClr val="B44738"/>
                </a:solidFill>
              </a:rPr>
              <a:t>This says stale ETF-relative pricing tends to correct. It does not say NVDL buying or selling moved NVDA.</a:t>
            </a:r>
          </a:p>
        </p:txBody>
      </p:sp>
    </p:spTree>
    <p:extLst>
      <p:ext uri="{BB962C8B-B14F-4D97-AF65-F5344CB8AC3E}">
        <p14:creationId xmlns:p14="http://schemas.microsoft.com/office/powerpoint/2010/main" val="60260725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E9DFDA-B0AB-433A-A5C1-6BE52FD3F976}"/>
              </a:ext>
            </a:extLst>
          </p:cNvPr>
          <p:cNvSpPr>
            <a:spLocks xmlns:a="http://schemas.openxmlformats.org/drawingml/2006/main" noGrp="1"/>
          </p:cNvSpPr>
          <p:nvPr/>
        </p:nvSpPr>
        <p:spPr>
          <a:xfrm xmlns:a="http://schemas.openxmlformats.org/drawingml/2006/main">
            <a:off x="457200" y="23812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 NVDL CLOSE PRESSURE</a:t>
            </a:r>
          </a:p>
        </p:txBody>
      </p:sp>
      <p:sp>
        <p:nvSpPr>
          <p:cNvPr id="2" name="">
            <a:extLst xmlns:a="http://schemas.openxmlformats.org/drawingml/2006/main">
              <a:ext uri="{FF2B5EF4-FFF2-40B4-BE49-F238E27FC236}">
                <a16:creationId xmlns:a16="http://schemas.microsoft.com/office/drawing/2014/main" id="{E93ECD47-4588-4DAC-B32B-D07F43099C2E}"/>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Extreme days do not share one closing response</a:t>
            </a:r>
          </a:p>
        </p:txBody>
      </p:sp>
      <p:sp>
        <p:nvSpPr>
          <p:cNvPr id="3" name="">
            <a:extLst xmlns:a="http://schemas.openxmlformats.org/drawingml/2006/main">
              <a:ext uri="{FF2B5EF4-FFF2-40B4-BE49-F238E27FC236}">
                <a16:creationId xmlns:a16="http://schemas.microsoft.com/office/drawing/2014/main" id="{3F50BCAE-70F8-4210-B658-6C2EC320116B}"/>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B9776034-9E35-409F-8160-869406183128}"/>
              </a:ext>
            </a:extLst>
          </p:cNvPr>
          <p:cNvSpPr>
            <a:spLocks xmlns:a="http://schemas.openxmlformats.org/drawingml/2006/main" noGrp="1"/>
          </p:cNvSpPr>
          <p:nvPr/>
        </p:nvSpPr>
        <p:spPr>
          <a:xfrm xmlns:a="http://schemas.openxmlformats.org/drawingml/2006/main">
            <a:off x="457200" y="651510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mechanism POC · exact adjusted SIP 5-minute bars · 2023 only</a:t>
            </a:r>
          </a:p>
        </p:txBody>
      </p:sp>
      <p:sp>
        <p:nvSpPr>
          <p:cNvPr id="5" name="">
            <a:extLst xmlns:a="http://schemas.openxmlformats.org/drawingml/2006/main">
              <a:ext uri="{FF2B5EF4-FFF2-40B4-BE49-F238E27FC236}">
                <a16:creationId xmlns:a16="http://schemas.microsoft.com/office/drawing/2014/main" id="{2400ABC9-894C-4D62-B4C7-53D9EA0C0618}"/>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56</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5e0a8cd95cd4c84"/>
          <a:stretch xmlns:a="http://schemas.openxmlformats.org/drawingml/2006/main"/>
        </p:blipFill>
        <p:spPr>
          <a:xfrm xmlns:a="http://schemas.openxmlformats.org/drawingml/2006/main">
            <a:off x="964981" y="1371600"/>
            <a:ext cx="7442638" cy="4905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AEE3EA5-C6B4-43E7-9757-2D5068A8810E}"/>
              </a:ext>
            </a:extLst>
          </p:cNvPr>
          <p:cNvSpPr>
            <a:spLocks xmlns:a="http://schemas.openxmlformats.org/drawingml/2006/main" noGrp="1"/>
          </p:cNvSpPr>
          <p:nvPr/>
        </p:nvSpPr>
        <p:spPr>
          <a:xfrm xmlns:a="http://schemas.openxmlformats.org/drawingml/2006/main">
            <a:off x="9163050" y="1504950"/>
            <a:ext cx="2476500" cy="441960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553A3357-31AB-4C1C-8F7C-23EF82B6FDAA}"/>
              </a:ext>
            </a:extLst>
          </p:cNvPr>
          <p:cNvSpPr>
            <a:spLocks xmlns:a="http://schemas.openxmlformats.org/drawingml/2006/main" noGrp="1"/>
          </p:cNvSpPr>
          <p:nvPr/>
        </p:nvSpPr>
        <p:spPr>
          <a:xfrm xmlns:a="http://schemas.openxmlformats.org/drawingml/2006/main">
            <a:off x="9391650" y="18097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Path-level reality</a:t>
            </a:r>
          </a:p>
        </p:txBody>
      </p:sp>
      <p:sp>
        <p:nvSpPr>
          <p:cNvPr id="9" name="">
            <a:extLst xmlns:a="http://schemas.openxmlformats.org/drawingml/2006/main">
              <a:ext uri="{FF2B5EF4-FFF2-40B4-BE49-F238E27FC236}">
                <a16:creationId xmlns:a16="http://schemas.microsoft.com/office/drawing/2014/main" id="{D6D4B240-0AF6-4837-B255-EDF80993F8F2}"/>
              </a:ext>
            </a:extLst>
          </p:cNvPr>
          <p:cNvSpPr>
            <a:spLocks xmlns:a="http://schemas.openxmlformats.org/drawingml/2006/main" noGrp="1"/>
          </p:cNvSpPr>
          <p:nvPr/>
        </p:nvSpPr>
        <p:spPr>
          <a:xfrm xmlns:a="http://schemas.openxmlformats.org/drawingml/2006/main">
            <a:off x="9391650" y="2543175"/>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0" name="">
            <a:extLst xmlns:a="http://schemas.openxmlformats.org/drawingml/2006/main">
              <a:ext uri="{FF2B5EF4-FFF2-40B4-BE49-F238E27FC236}">
                <a16:creationId xmlns:a16="http://schemas.microsoft.com/office/drawing/2014/main" id="{5AFCDEB9-6868-4B21-8FE6-24B36B88FB50}"/>
              </a:ext>
            </a:extLst>
          </p:cNvPr>
          <p:cNvSpPr>
            <a:spLocks xmlns:a="http://schemas.openxmlformats.org/drawingml/2006/main" noGrp="1"/>
          </p:cNvSpPr>
          <p:nvPr/>
        </p:nvSpPr>
        <p:spPr>
          <a:xfrm xmlns:a="http://schemas.openxmlformats.org/drawingml/2006/main">
            <a:off x="9620250" y="2457450"/>
            <a:ext cx="17907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64B"/>
                </a:solidFill>
              </a:defRPr>
            </a:pPr>
            <a:r>
              <a:rPr sz="1275" b="0">
                <a:solidFill>
                  <a:srgbClr val="24364B"/>
                </a:solidFill>
              </a:rPr>
              <a:t>Some large down days rebound after 15:30; another continues lower before recovering.</a:t>
            </a:r>
          </a:p>
        </p:txBody>
      </p:sp>
      <p:sp>
        <p:nvSpPr>
          <p:cNvPr id="11" name="">
            <a:extLst xmlns:a="http://schemas.openxmlformats.org/drawingml/2006/main">
              <a:ext uri="{FF2B5EF4-FFF2-40B4-BE49-F238E27FC236}">
                <a16:creationId xmlns:a16="http://schemas.microsoft.com/office/drawing/2014/main" id="{E090D61C-4C3C-4A00-BD19-7C6602294999}"/>
              </a:ext>
            </a:extLst>
          </p:cNvPr>
          <p:cNvSpPr>
            <a:spLocks xmlns:a="http://schemas.openxmlformats.org/drawingml/2006/main" noGrp="1"/>
          </p:cNvSpPr>
          <p:nvPr/>
        </p:nvSpPr>
        <p:spPr>
          <a:xfrm xmlns:a="http://schemas.openxmlformats.org/drawingml/2006/main">
            <a:off x="9391650" y="372427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2" name="">
            <a:extLst xmlns:a="http://schemas.openxmlformats.org/drawingml/2006/main">
              <a:ext uri="{FF2B5EF4-FFF2-40B4-BE49-F238E27FC236}">
                <a16:creationId xmlns:a16="http://schemas.microsoft.com/office/drawing/2014/main" id="{73091732-EEAC-4762-8241-A1808BAFB215}"/>
              </a:ext>
            </a:extLst>
          </p:cNvPr>
          <p:cNvSpPr>
            <a:spLocks xmlns:a="http://schemas.openxmlformats.org/drawingml/2006/main" noGrp="1"/>
          </p:cNvSpPr>
          <p:nvPr/>
        </p:nvSpPr>
        <p:spPr>
          <a:xfrm xmlns:a="http://schemas.openxmlformats.org/drawingml/2006/main">
            <a:off x="9620250" y="3638550"/>
            <a:ext cx="1790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64B"/>
                </a:solidFill>
              </a:defRPr>
            </a:pPr>
            <a:r>
              <a:rPr sz="1275" b="0">
                <a:solidFill>
                  <a:srgbClr val="24364B"/>
                </a:solidFill>
              </a:rPr>
              <a:t>One large up day extends; another fades sharply into the close.</a:t>
            </a:r>
          </a:p>
        </p:txBody>
      </p:sp>
      <p:sp>
        <p:nvSpPr>
          <p:cNvPr id="13" name="">
            <a:extLst xmlns:a="http://schemas.openxmlformats.org/drawingml/2006/main">
              <a:ext uri="{FF2B5EF4-FFF2-40B4-BE49-F238E27FC236}">
                <a16:creationId xmlns:a16="http://schemas.microsoft.com/office/drawing/2014/main" id="{29B3F61E-0AB9-467F-B6BF-06798868816F}"/>
              </a:ext>
            </a:extLst>
          </p:cNvPr>
          <p:cNvSpPr>
            <a:spLocks xmlns:a="http://schemas.openxmlformats.org/drawingml/2006/main" noGrp="1"/>
          </p:cNvSpPr>
          <p:nvPr/>
        </p:nvSpPr>
        <p:spPr>
          <a:xfrm xmlns:a="http://schemas.openxmlformats.org/drawingml/2006/main">
            <a:off x="9391650" y="4895850"/>
            <a:ext cx="2019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4364B"/>
                </a:solidFill>
              </a:defRPr>
            </a:pPr>
            <a:r>
              <a:rPr sz="1275" b="1">
                <a:solidFill>
                  <a:srgbClr val="24364B"/>
                </a:solidFill>
              </a:rPr>
              <a:t>The examples explain why a small quintile difference and a flat cloud can coexist.</a:t>
            </a:r>
          </a:p>
        </p:txBody>
      </p:sp>
    </p:spTree>
    <p:extLst>
      <p:ext uri="{BB962C8B-B14F-4D97-AF65-F5344CB8AC3E}">
        <p14:creationId xmlns:p14="http://schemas.microsoft.com/office/powerpoint/2010/main" val="906532594"/>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7E33386-9171-4D96-8BF8-C873B267CA37}"/>
              </a:ext>
            </a:extLst>
          </p:cNvPr>
          <p:cNvSpPr>
            <a:spLocks xmlns:a="http://schemas.openxmlformats.org/drawingml/2006/main" noGrp="1"/>
          </p:cNvSpPr>
          <p:nvPr/>
        </p:nvSpPr>
        <p:spPr>
          <a:xfrm xmlns:a="http://schemas.openxmlformats.org/drawingml/2006/main">
            <a:off x="457200" y="23812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OPERATOR HYPOTHESIS LAB · NVDA / NVDL CLOSE PRESSURE</a:t>
            </a:r>
          </a:p>
        </p:txBody>
      </p:sp>
      <p:sp>
        <p:nvSpPr>
          <p:cNvPr id="2" name="">
            <a:extLst xmlns:a="http://schemas.openxmlformats.org/drawingml/2006/main">
              <a:ext uri="{FF2B5EF4-FFF2-40B4-BE49-F238E27FC236}">
                <a16:creationId xmlns:a16="http://schemas.microsoft.com/office/drawing/2014/main" id="{4A2F2DA0-21BF-4CE0-9D96-1452C3314702}"/>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pressure thesis stops at the first microscope</a:t>
            </a:r>
          </a:p>
        </p:txBody>
      </p:sp>
      <p:sp>
        <p:nvSpPr>
          <p:cNvPr id="3" name="">
            <a:extLst xmlns:a="http://schemas.openxmlformats.org/drawingml/2006/main">
              <a:ext uri="{FF2B5EF4-FFF2-40B4-BE49-F238E27FC236}">
                <a16:creationId xmlns:a16="http://schemas.microsoft.com/office/drawing/2014/main" id="{BCA46C6B-2749-4142-8523-ADBCBF7B1DBC}"/>
              </a:ext>
            </a:extLst>
          </p:cNvPr>
          <p:cNvSpPr>
            <a:spLocks xmlns:a="http://schemas.openxmlformats.org/drawingml/2006/main" noGrp="1"/>
          </p:cNvSpPr>
          <p:nvPr/>
        </p:nvSpPr>
        <p:spPr>
          <a:xfrm xmlns:a="http://schemas.openxmlformats.org/drawingml/2006/main">
            <a:off x="457200" y="121920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51BD6D4D-4D9A-48A6-B6D9-96C92D0D5318}"/>
              </a:ext>
            </a:extLst>
          </p:cNvPr>
          <p:cNvSpPr>
            <a:spLocks xmlns:a="http://schemas.openxmlformats.org/drawingml/2006/main" noGrp="1"/>
          </p:cNvSpPr>
          <p:nvPr/>
        </p:nvSpPr>
        <p:spPr>
          <a:xfrm xmlns:a="http://schemas.openxmlformats.org/drawingml/2006/main">
            <a:off x="457200" y="651510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Descriptive mechanism POC · exact adjusted SIP 5-minute bars · 2023 only</a:t>
            </a:r>
          </a:p>
        </p:txBody>
      </p:sp>
      <p:sp>
        <p:nvSpPr>
          <p:cNvPr id="5" name="">
            <a:extLst xmlns:a="http://schemas.openxmlformats.org/drawingml/2006/main">
              <a:ext uri="{FF2B5EF4-FFF2-40B4-BE49-F238E27FC236}">
                <a16:creationId xmlns:a16="http://schemas.microsoft.com/office/drawing/2014/main" id="{C3D454AB-3C2F-4ADF-955A-3C795ACA75E3}"/>
              </a:ext>
            </a:extLst>
          </p:cNvPr>
          <p:cNvSpPr>
            <a:spLocks xmlns:a="http://schemas.openxmlformats.org/drawingml/2006/main" noGrp="1"/>
          </p:cNvSpPr>
          <p:nvPr/>
        </p:nvSpPr>
        <p:spPr>
          <a:xfrm xmlns:a="http://schemas.openxmlformats.org/drawingml/2006/main">
            <a:off x="10858500" y="64960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57</a:t>
            </a:r>
          </a:p>
        </p:txBody>
      </p:sp>
      <p:sp>
        <p:nvSpPr>
          <p:cNvPr id="6" name="">
            <a:extLst xmlns:a="http://schemas.openxmlformats.org/drawingml/2006/main">
              <a:ext uri="{FF2B5EF4-FFF2-40B4-BE49-F238E27FC236}">
                <a16:creationId xmlns:a16="http://schemas.microsoft.com/office/drawing/2014/main" id="{62672A25-92F0-4406-B24E-6A55117D842E}"/>
              </a:ext>
            </a:extLst>
          </p:cNvPr>
          <p:cNvSpPr>
            <a:spLocks xmlns:a="http://schemas.openxmlformats.org/drawingml/2006/main" noGrp="1"/>
          </p:cNvSpPr>
          <p:nvPr/>
        </p:nvSpPr>
        <p:spPr>
          <a:xfrm xmlns:a="http://schemas.openxmlformats.org/drawingml/2006/main">
            <a:off x="552450" y="1562100"/>
            <a:ext cx="11087100" cy="8382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7" name="">
            <a:extLst xmlns:a="http://schemas.openxmlformats.org/drawingml/2006/main">
              <a:ext uri="{FF2B5EF4-FFF2-40B4-BE49-F238E27FC236}">
                <a16:creationId xmlns:a16="http://schemas.microsoft.com/office/drawing/2014/main" id="{F14644CF-EDEA-4194-BF7F-5AE13887D4BA}"/>
              </a:ext>
            </a:extLst>
          </p:cNvPr>
          <p:cNvSpPr>
            <a:spLocks xmlns:a="http://schemas.openxmlformats.org/drawingml/2006/main" noGrp="1"/>
          </p:cNvSpPr>
          <p:nvPr/>
        </p:nvSpPr>
        <p:spPr>
          <a:xfrm xmlns:a="http://schemas.openxmlformats.org/drawingml/2006/main">
            <a:off x="819150" y="1771650"/>
            <a:ext cx="10553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325" b="1">
                <a:solidFill>
                  <a:srgbClr val="B44738"/>
                </a:solidFill>
              </a:defRPr>
            </a:pPr>
            <a:r>
              <a:rPr sz="2325" b="1">
                <a:solidFill>
                  <a:srgbClr val="B44738"/>
                </a:solidFill>
              </a:rPr>
              <a:t>STOP_NO_SAME_DIRECTION_NVDA_CLOSE_FOOTPRINT</a:t>
            </a:r>
          </a:p>
        </p:txBody>
      </p:sp>
      <p:sp>
        <p:nvSpPr>
          <p:cNvPr id="8" name="">
            <a:extLst xmlns:a="http://schemas.openxmlformats.org/drawingml/2006/main">
              <a:ext uri="{FF2B5EF4-FFF2-40B4-BE49-F238E27FC236}">
                <a16:creationId xmlns:a16="http://schemas.microsoft.com/office/drawing/2014/main" id="{9D10192C-77D1-4F4E-A84E-98F1BF53F47C}"/>
              </a:ext>
            </a:extLst>
          </p:cNvPr>
          <p:cNvSpPr>
            <a:spLocks xmlns:a="http://schemas.openxmlformats.org/drawingml/2006/main" noGrp="1"/>
          </p:cNvSpPr>
          <p:nvPr/>
        </p:nvSpPr>
        <p:spPr>
          <a:xfrm xmlns:a="http://schemas.openxmlformats.org/drawingml/2006/main">
            <a:off x="552450" y="27813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What the slice established</a:t>
            </a:r>
          </a:p>
        </p:txBody>
      </p:sp>
      <p:sp>
        <p:nvSpPr>
          <p:cNvPr id="9" name="">
            <a:extLst xmlns:a="http://schemas.openxmlformats.org/drawingml/2006/main">
              <a:ext uri="{FF2B5EF4-FFF2-40B4-BE49-F238E27FC236}">
                <a16:creationId xmlns:a16="http://schemas.microsoft.com/office/drawing/2014/main" id="{92BC68D5-4F9F-46C7-8D7F-1CA47FBA6A65}"/>
              </a:ext>
            </a:extLst>
          </p:cNvPr>
          <p:cNvSpPr>
            <a:spLocks xmlns:a="http://schemas.openxmlformats.org/drawingml/2006/main" noGrp="1"/>
          </p:cNvSpPr>
          <p:nvPr/>
        </p:nvSpPr>
        <p:spPr>
          <a:xfrm xmlns:a="http://schemas.openxmlformats.org/drawingml/2006/main">
            <a:off x="685800" y="3257550"/>
            <a:ext cx="876300" cy="30480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10" name="">
            <a:extLst xmlns:a="http://schemas.openxmlformats.org/drawingml/2006/main">
              <a:ext uri="{FF2B5EF4-FFF2-40B4-BE49-F238E27FC236}">
                <a16:creationId xmlns:a16="http://schemas.microsoft.com/office/drawing/2014/main" id="{1076BC42-9F7A-4237-9401-52723F06295E}"/>
              </a:ext>
            </a:extLst>
          </p:cNvPr>
          <p:cNvSpPr>
            <a:spLocks xmlns:a="http://schemas.openxmlformats.org/drawingml/2006/main" noGrp="1"/>
          </p:cNvSpPr>
          <p:nvPr/>
        </p:nvSpPr>
        <p:spPr>
          <a:xfrm xmlns:a="http://schemas.openxmlformats.org/drawingml/2006/main">
            <a:off x="742950" y="33147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4866D"/>
                </a:solidFill>
              </a:defRPr>
            </a:pPr>
            <a:r>
              <a:rPr sz="1050" b="1">
                <a:solidFill>
                  <a:srgbClr val="14866D"/>
                </a:solidFill>
              </a:rPr>
              <a:t>PASS</a:t>
            </a:r>
          </a:p>
        </p:txBody>
      </p:sp>
      <p:sp>
        <p:nvSpPr>
          <p:cNvPr id="11" name="">
            <a:extLst xmlns:a="http://schemas.openxmlformats.org/drawingml/2006/main">
              <a:ext uri="{FF2B5EF4-FFF2-40B4-BE49-F238E27FC236}">
                <a16:creationId xmlns:a16="http://schemas.microsoft.com/office/drawing/2014/main" id="{71630508-C354-4779-86A0-B1BE9847E931}"/>
              </a:ext>
            </a:extLst>
          </p:cNvPr>
          <p:cNvSpPr>
            <a:spLocks xmlns:a="http://schemas.openxmlformats.org/drawingml/2006/main" noGrp="1"/>
          </p:cNvSpPr>
          <p:nvPr/>
        </p:nvSpPr>
        <p:spPr>
          <a:xfrm xmlns:a="http://schemas.openxmlformats.org/drawingml/2006/main">
            <a:off x="1771650" y="32956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Causal timing</a:t>
            </a:r>
          </a:p>
        </p:txBody>
      </p:sp>
      <p:sp>
        <p:nvSpPr>
          <p:cNvPr id="12" name="">
            <a:extLst xmlns:a="http://schemas.openxmlformats.org/drawingml/2006/main">
              <a:ext uri="{FF2B5EF4-FFF2-40B4-BE49-F238E27FC236}">
                <a16:creationId xmlns:a16="http://schemas.microsoft.com/office/drawing/2014/main" id="{F623BEDB-4CBC-4A49-93F3-28BB4AB86B67}"/>
              </a:ext>
            </a:extLst>
          </p:cNvPr>
          <p:cNvSpPr>
            <a:spLocks xmlns:a="http://schemas.openxmlformats.org/drawingml/2006/main" noGrp="1"/>
          </p:cNvSpPr>
          <p:nvPr/>
        </p:nvSpPr>
        <p:spPr>
          <a:xfrm xmlns:a="http://schemas.openxmlformats.org/drawingml/2006/main">
            <a:off x="4095750" y="330517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three exact completed clocks</a:t>
            </a:r>
          </a:p>
        </p:txBody>
      </p:sp>
      <p:sp>
        <p:nvSpPr>
          <p:cNvPr id="13" name="">
            <a:extLst xmlns:a="http://schemas.openxmlformats.org/drawingml/2006/main">
              <a:ext uri="{FF2B5EF4-FFF2-40B4-BE49-F238E27FC236}">
                <a16:creationId xmlns:a16="http://schemas.microsoft.com/office/drawing/2014/main" id="{9AC88941-60EF-4D5E-9B16-5A5121D39279}"/>
              </a:ext>
            </a:extLst>
          </p:cNvPr>
          <p:cNvSpPr>
            <a:spLocks xmlns:a="http://schemas.openxmlformats.org/drawingml/2006/main" noGrp="1"/>
          </p:cNvSpPr>
          <p:nvPr/>
        </p:nvSpPr>
        <p:spPr>
          <a:xfrm xmlns:a="http://schemas.openxmlformats.org/drawingml/2006/main">
            <a:off x="685800" y="3714750"/>
            <a:ext cx="876300" cy="30480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14" name="">
            <a:extLst xmlns:a="http://schemas.openxmlformats.org/drawingml/2006/main">
              <a:ext uri="{FF2B5EF4-FFF2-40B4-BE49-F238E27FC236}">
                <a16:creationId xmlns:a16="http://schemas.microsoft.com/office/drawing/2014/main" id="{ED12E736-EF27-4196-9FB5-DB6FA968EF77}"/>
              </a:ext>
            </a:extLst>
          </p:cNvPr>
          <p:cNvSpPr>
            <a:spLocks xmlns:a="http://schemas.openxmlformats.org/drawingml/2006/main" noGrp="1"/>
          </p:cNvSpPr>
          <p:nvPr/>
        </p:nvSpPr>
        <p:spPr>
          <a:xfrm xmlns:a="http://schemas.openxmlformats.org/drawingml/2006/main">
            <a:off x="742950" y="37719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4866D"/>
                </a:solidFill>
              </a:defRPr>
            </a:pPr>
            <a:r>
              <a:rPr sz="1050" b="1">
                <a:solidFill>
                  <a:srgbClr val="14866D"/>
                </a:solidFill>
              </a:rPr>
              <a:t>PASS</a:t>
            </a:r>
          </a:p>
        </p:txBody>
      </p:sp>
      <p:sp>
        <p:nvSpPr>
          <p:cNvPr id="15" name="">
            <a:extLst xmlns:a="http://schemas.openxmlformats.org/drawingml/2006/main">
              <a:ext uri="{FF2B5EF4-FFF2-40B4-BE49-F238E27FC236}">
                <a16:creationId xmlns:a16="http://schemas.microsoft.com/office/drawing/2014/main" id="{5E9681D2-33A0-4703-87D9-E8E7E74B8E13}"/>
              </a:ext>
            </a:extLst>
          </p:cNvPr>
          <p:cNvSpPr>
            <a:spLocks xmlns:a="http://schemas.openxmlformats.org/drawingml/2006/main" noGrp="1"/>
          </p:cNvSpPr>
          <p:nvPr/>
        </p:nvSpPr>
        <p:spPr>
          <a:xfrm xmlns:a="http://schemas.openxmlformats.org/drawingml/2006/main">
            <a:off x="1771650" y="37528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Point-in-time fund</a:t>
            </a:r>
          </a:p>
        </p:txBody>
      </p:sp>
      <p:sp>
        <p:nvSpPr>
          <p:cNvPr id="16" name="">
            <a:extLst xmlns:a="http://schemas.openxmlformats.org/drawingml/2006/main">
              <a:ext uri="{FF2B5EF4-FFF2-40B4-BE49-F238E27FC236}">
                <a16:creationId xmlns:a16="http://schemas.microsoft.com/office/drawing/2014/main" id="{8DA92A0A-D4F2-4AAE-8080-F14AF5C8A5B7}"/>
              </a:ext>
            </a:extLst>
          </p:cNvPr>
          <p:cNvSpPr>
            <a:spLocks xmlns:a="http://schemas.openxmlformats.org/drawingml/2006/main" noGrp="1"/>
          </p:cNvSpPr>
          <p:nvPr/>
        </p:nvSpPr>
        <p:spPr>
          <a:xfrm xmlns:a="http://schemas.openxmlformats.org/drawingml/2006/main">
            <a:off x="4095750" y="376237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1.5x objective in 2023</a:t>
            </a:r>
          </a:p>
        </p:txBody>
      </p:sp>
      <p:sp>
        <p:nvSpPr>
          <p:cNvPr id="17" name="">
            <a:extLst xmlns:a="http://schemas.openxmlformats.org/drawingml/2006/main">
              <a:ext uri="{FF2B5EF4-FFF2-40B4-BE49-F238E27FC236}">
                <a16:creationId xmlns:a16="http://schemas.microsoft.com/office/drawing/2014/main" id="{1402AF71-006B-4414-A030-D6A1F272A25F}"/>
              </a:ext>
            </a:extLst>
          </p:cNvPr>
          <p:cNvSpPr>
            <a:spLocks xmlns:a="http://schemas.openxmlformats.org/drawingml/2006/main" noGrp="1"/>
          </p:cNvSpPr>
          <p:nvPr/>
        </p:nvSpPr>
        <p:spPr>
          <a:xfrm xmlns:a="http://schemas.openxmlformats.org/drawingml/2006/main">
            <a:off x="685800" y="4171950"/>
            <a:ext cx="876300" cy="30480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18" name="">
            <a:extLst xmlns:a="http://schemas.openxmlformats.org/drawingml/2006/main">
              <a:ext uri="{FF2B5EF4-FFF2-40B4-BE49-F238E27FC236}">
                <a16:creationId xmlns:a16="http://schemas.microsoft.com/office/drawing/2014/main" id="{30230728-B06A-4A6D-8CAA-1522DD8B264B}"/>
              </a:ext>
            </a:extLst>
          </p:cNvPr>
          <p:cNvSpPr>
            <a:spLocks xmlns:a="http://schemas.openxmlformats.org/drawingml/2006/main" noGrp="1"/>
          </p:cNvSpPr>
          <p:nvPr/>
        </p:nvSpPr>
        <p:spPr>
          <a:xfrm xmlns:a="http://schemas.openxmlformats.org/drawingml/2006/main">
            <a:off x="742950" y="42291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4866D"/>
                </a:solidFill>
              </a:defRPr>
            </a:pPr>
            <a:r>
              <a:rPr sz="1050" b="1">
                <a:solidFill>
                  <a:srgbClr val="14866D"/>
                </a:solidFill>
              </a:rPr>
              <a:t>PASS</a:t>
            </a:r>
          </a:p>
        </p:txBody>
      </p:sp>
      <p:sp>
        <p:nvSpPr>
          <p:cNvPr id="19" name="">
            <a:extLst xmlns:a="http://schemas.openxmlformats.org/drawingml/2006/main">
              <a:ext uri="{FF2B5EF4-FFF2-40B4-BE49-F238E27FC236}">
                <a16:creationId xmlns:a16="http://schemas.microsoft.com/office/drawing/2014/main" id="{CD389AD6-D49F-4BBD-A25D-F0512732035A}"/>
              </a:ext>
            </a:extLst>
          </p:cNvPr>
          <p:cNvSpPr>
            <a:spLocks xmlns:a="http://schemas.openxmlformats.org/drawingml/2006/main" noGrp="1"/>
          </p:cNvSpPr>
          <p:nvPr/>
        </p:nvSpPr>
        <p:spPr>
          <a:xfrm xmlns:a="http://schemas.openxmlformats.org/drawingml/2006/main">
            <a:off x="1771650" y="42100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Clock controls</a:t>
            </a:r>
          </a:p>
        </p:txBody>
      </p:sp>
      <p:sp>
        <p:nvSpPr>
          <p:cNvPr id="20" name="">
            <a:extLst xmlns:a="http://schemas.openxmlformats.org/drawingml/2006/main">
              <a:ext uri="{FF2B5EF4-FFF2-40B4-BE49-F238E27FC236}">
                <a16:creationId xmlns:a16="http://schemas.microsoft.com/office/drawing/2014/main" id="{5484F656-6B69-40E7-B608-D182FEA29AFB}"/>
              </a:ext>
            </a:extLst>
          </p:cNvPr>
          <p:cNvSpPr>
            <a:spLocks xmlns:a="http://schemas.openxmlformats.org/drawingml/2006/main" noGrp="1"/>
          </p:cNvSpPr>
          <p:nvPr/>
        </p:nvSpPr>
        <p:spPr>
          <a:xfrm xmlns:a="http://schemas.openxmlformats.org/drawingml/2006/main">
            <a:off x="4095750" y="421957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12:00 and 14:00 matched</a:t>
            </a:r>
          </a:p>
        </p:txBody>
      </p:sp>
      <p:sp>
        <p:nvSpPr>
          <p:cNvPr id="21" name="">
            <a:extLst xmlns:a="http://schemas.openxmlformats.org/drawingml/2006/main">
              <a:ext uri="{FF2B5EF4-FFF2-40B4-BE49-F238E27FC236}">
                <a16:creationId xmlns:a16="http://schemas.microsoft.com/office/drawing/2014/main" id="{49BB30AD-134B-4482-99FE-1AFB09DCB957}"/>
              </a:ext>
            </a:extLst>
          </p:cNvPr>
          <p:cNvSpPr>
            <a:spLocks xmlns:a="http://schemas.openxmlformats.org/drawingml/2006/main" noGrp="1"/>
          </p:cNvSpPr>
          <p:nvPr/>
        </p:nvSpPr>
        <p:spPr>
          <a:xfrm xmlns:a="http://schemas.openxmlformats.org/drawingml/2006/main">
            <a:off x="685800" y="4629150"/>
            <a:ext cx="876300" cy="3048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22" name="">
            <a:extLst xmlns:a="http://schemas.openxmlformats.org/drawingml/2006/main">
              <a:ext uri="{FF2B5EF4-FFF2-40B4-BE49-F238E27FC236}">
                <a16:creationId xmlns:a16="http://schemas.microsoft.com/office/drawing/2014/main" id="{5D10E112-6F0D-4BF2-8D8C-FBCE6A954043}"/>
              </a:ext>
            </a:extLst>
          </p:cNvPr>
          <p:cNvSpPr>
            <a:spLocks xmlns:a="http://schemas.openxmlformats.org/drawingml/2006/main" noGrp="1"/>
          </p:cNvSpPr>
          <p:nvPr/>
        </p:nvSpPr>
        <p:spPr>
          <a:xfrm xmlns:a="http://schemas.openxmlformats.org/drawingml/2006/main">
            <a:off x="742950" y="46863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B44738"/>
                </a:solidFill>
              </a:defRPr>
            </a:pPr>
            <a:r>
              <a:rPr sz="1050" b="1">
                <a:solidFill>
                  <a:srgbClr val="B44738"/>
                </a:solidFill>
              </a:rPr>
              <a:t>STOP</a:t>
            </a:r>
          </a:p>
        </p:txBody>
      </p:sp>
      <p:sp>
        <p:nvSpPr>
          <p:cNvPr id="23" name="">
            <a:extLst xmlns:a="http://schemas.openxmlformats.org/drawingml/2006/main">
              <a:ext uri="{FF2B5EF4-FFF2-40B4-BE49-F238E27FC236}">
                <a16:creationId xmlns:a16="http://schemas.microsoft.com/office/drawing/2014/main" id="{C84F696B-05BE-428A-A94C-FF4573D181E6}"/>
              </a:ext>
            </a:extLst>
          </p:cNvPr>
          <p:cNvSpPr>
            <a:spLocks xmlns:a="http://schemas.openxmlformats.org/drawingml/2006/main" noGrp="1"/>
          </p:cNvSpPr>
          <p:nvPr/>
        </p:nvSpPr>
        <p:spPr>
          <a:xfrm xmlns:a="http://schemas.openxmlformats.org/drawingml/2006/main">
            <a:off x="1771650" y="46672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NVDA continuation</a:t>
            </a:r>
          </a:p>
        </p:txBody>
      </p:sp>
      <p:sp>
        <p:nvSpPr>
          <p:cNvPr id="24" name="">
            <a:extLst xmlns:a="http://schemas.openxmlformats.org/drawingml/2006/main">
              <a:ext uri="{FF2B5EF4-FFF2-40B4-BE49-F238E27FC236}">
                <a16:creationId xmlns:a16="http://schemas.microsoft.com/office/drawing/2014/main" id="{E4755C29-42A0-4A44-B160-44A02D0ECE73}"/>
              </a:ext>
            </a:extLst>
          </p:cNvPr>
          <p:cNvSpPr>
            <a:spLocks xmlns:a="http://schemas.openxmlformats.org/drawingml/2006/main" noGrp="1"/>
          </p:cNvSpPr>
          <p:nvPr/>
        </p:nvSpPr>
        <p:spPr>
          <a:xfrm xmlns:a="http://schemas.openxmlformats.org/drawingml/2006/main">
            <a:off x="4095750" y="467677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15:30 Pearson −0.042</a:t>
            </a:r>
          </a:p>
        </p:txBody>
      </p:sp>
      <p:sp>
        <p:nvSpPr>
          <p:cNvPr id="25" name="">
            <a:extLst xmlns:a="http://schemas.openxmlformats.org/drawingml/2006/main">
              <a:ext uri="{FF2B5EF4-FFF2-40B4-BE49-F238E27FC236}">
                <a16:creationId xmlns:a16="http://schemas.microsoft.com/office/drawing/2014/main" id="{48D9770F-C81C-4C70-AC0F-72A8AE0F0C1D}"/>
              </a:ext>
            </a:extLst>
          </p:cNvPr>
          <p:cNvSpPr>
            <a:spLocks xmlns:a="http://schemas.openxmlformats.org/drawingml/2006/main" noGrp="1"/>
          </p:cNvSpPr>
          <p:nvPr/>
        </p:nvSpPr>
        <p:spPr>
          <a:xfrm xmlns:a="http://schemas.openxmlformats.org/drawingml/2006/main">
            <a:off x="685800" y="5086350"/>
            <a:ext cx="876300" cy="30480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26" name="">
            <a:extLst xmlns:a="http://schemas.openxmlformats.org/drawingml/2006/main">
              <a:ext uri="{FF2B5EF4-FFF2-40B4-BE49-F238E27FC236}">
                <a16:creationId xmlns:a16="http://schemas.microsoft.com/office/drawing/2014/main" id="{BE1D1E9B-DD94-4D81-8FE4-1EF325C91388}"/>
              </a:ext>
            </a:extLst>
          </p:cNvPr>
          <p:cNvSpPr>
            <a:spLocks xmlns:a="http://schemas.openxmlformats.org/drawingml/2006/main" noGrp="1"/>
          </p:cNvSpPr>
          <p:nvPr/>
        </p:nvSpPr>
        <p:spPr>
          <a:xfrm xmlns:a="http://schemas.openxmlformats.org/drawingml/2006/main">
            <a:off x="742950" y="51435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D8DFF"/>
                </a:solidFill>
              </a:defRPr>
            </a:pPr>
            <a:r>
              <a:rPr sz="1050" b="1">
                <a:solidFill>
                  <a:srgbClr val="3D8DFF"/>
                </a:solidFill>
              </a:rPr>
              <a:t>CLUE</a:t>
            </a:r>
          </a:p>
        </p:txBody>
      </p:sp>
      <p:sp>
        <p:nvSpPr>
          <p:cNvPr id="27" name="">
            <a:extLst xmlns:a="http://schemas.openxmlformats.org/drawingml/2006/main">
              <a:ext uri="{FF2B5EF4-FFF2-40B4-BE49-F238E27FC236}">
                <a16:creationId xmlns:a16="http://schemas.microsoft.com/office/drawing/2014/main" id="{C7161D47-15B0-4532-AAA4-0B20043D52E1}"/>
              </a:ext>
            </a:extLst>
          </p:cNvPr>
          <p:cNvSpPr>
            <a:spLocks xmlns:a="http://schemas.openxmlformats.org/drawingml/2006/main" noGrp="1"/>
          </p:cNvSpPr>
          <p:nvPr/>
        </p:nvSpPr>
        <p:spPr>
          <a:xfrm xmlns:a="http://schemas.openxmlformats.org/drawingml/2006/main">
            <a:off x="1771650" y="51244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ETF convergence</a:t>
            </a:r>
          </a:p>
        </p:txBody>
      </p:sp>
      <p:sp>
        <p:nvSpPr>
          <p:cNvPr id="28" name="">
            <a:extLst xmlns:a="http://schemas.openxmlformats.org/drawingml/2006/main">
              <a:ext uri="{FF2B5EF4-FFF2-40B4-BE49-F238E27FC236}">
                <a16:creationId xmlns:a16="http://schemas.microsoft.com/office/drawing/2014/main" id="{E6F1DF43-823D-4D44-BBA5-AFD6F90A7E53}"/>
              </a:ext>
            </a:extLst>
          </p:cNvPr>
          <p:cNvSpPr>
            <a:spLocks xmlns:a="http://schemas.openxmlformats.org/drawingml/2006/main" noGrp="1"/>
          </p:cNvSpPr>
          <p:nvPr/>
        </p:nvSpPr>
        <p:spPr>
          <a:xfrm xmlns:a="http://schemas.openxmlformats.org/drawingml/2006/main">
            <a:off x="4095750" y="513397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67386"/>
                </a:solidFill>
              </a:defRPr>
            </a:pPr>
            <a:r>
              <a:rPr sz="1200" b="0">
                <a:solidFill>
                  <a:srgbClr val="667386"/>
                </a:solidFill>
              </a:rPr>
              <a:t>residual correlation −0.419</a:t>
            </a:r>
          </a:p>
        </p:txBody>
      </p:sp>
      <p:sp>
        <p:nvSpPr>
          <p:cNvPr id="29" name="">
            <a:extLst xmlns:a="http://schemas.openxmlformats.org/drawingml/2006/main">
              <a:ext uri="{FF2B5EF4-FFF2-40B4-BE49-F238E27FC236}">
                <a16:creationId xmlns:a16="http://schemas.microsoft.com/office/drawing/2014/main" id="{B0AF3EB3-65A9-48A9-9FC5-95E1F8759A8D}"/>
              </a:ext>
            </a:extLst>
          </p:cNvPr>
          <p:cNvSpPr>
            <a:spLocks xmlns:a="http://schemas.openxmlformats.org/drawingml/2006/main" noGrp="1"/>
          </p:cNvSpPr>
          <p:nvPr/>
        </p:nvSpPr>
        <p:spPr>
          <a:xfrm xmlns:a="http://schemas.openxmlformats.org/drawingml/2006/main">
            <a:off x="7162800" y="2781300"/>
            <a:ext cx="4476750" cy="31813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30" name="">
            <a:extLst xmlns:a="http://schemas.openxmlformats.org/drawingml/2006/main">
              <a:ext uri="{FF2B5EF4-FFF2-40B4-BE49-F238E27FC236}">
                <a16:creationId xmlns:a16="http://schemas.microsoft.com/office/drawing/2014/main" id="{7C038468-C2EF-4D53-B6FB-470F8DCBA73A}"/>
              </a:ext>
            </a:extLst>
          </p:cNvPr>
          <p:cNvSpPr>
            <a:spLocks xmlns:a="http://schemas.openxmlformats.org/drawingml/2006/main" noGrp="1"/>
          </p:cNvSpPr>
          <p:nvPr/>
        </p:nvSpPr>
        <p:spPr>
          <a:xfrm xmlns:a="http://schemas.openxmlformats.org/drawingml/2006/main">
            <a:off x="7429500" y="3048000"/>
            <a:ext cx="3943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defRPr>
            </a:pPr>
            <a:r>
              <a:rPr sz="1950" b="1">
                <a:solidFill>
                  <a:srgbClr val="000000"/>
                </a:solidFill>
              </a:rPr>
              <a:t>What deserves its own next question</a:t>
            </a:r>
          </a:p>
        </p:txBody>
      </p:sp>
      <p:sp>
        <p:nvSpPr>
          <p:cNvPr id="31" name="">
            <a:extLst xmlns:a="http://schemas.openxmlformats.org/drawingml/2006/main">
              <a:ext uri="{FF2B5EF4-FFF2-40B4-BE49-F238E27FC236}">
                <a16:creationId xmlns:a16="http://schemas.microsoft.com/office/drawing/2014/main" id="{E6F8566D-D05E-4344-8E32-A33BEDAC9A1C}"/>
              </a:ext>
            </a:extLst>
          </p:cNvPr>
          <p:cNvSpPr>
            <a:spLocks xmlns:a="http://schemas.openxmlformats.org/drawingml/2006/main" noGrp="1"/>
          </p:cNvSpPr>
          <p:nvPr/>
        </p:nvSpPr>
        <p:spPr>
          <a:xfrm xmlns:a="http://schemas.openxmlformats.org/drawingml/2006/main">
            <a:off x="7448550" y="3990975"/>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2" name="">
            <a:extLst xmlns:a="http://schemas.openxmlformats.org/drawingml/2006/main">
              <a:ext uri="{FF2B5EF4-FFF2-40B4-BE49-F238E27FC236}">
                <a16:creationId xmlns:a16="http://schemas.microsoft.com/office/drawing/2014/main" id="{4404FF14-C784-4A93-93FC-E80A3015169D}"/>
              </a:ext>
            </a:extLst>
          </p:cNvPr>
          <p:cNvSpPr>
            <a:spLocks xmlns:a="http://schemas.openxmlformats.org/drawingml/2006/main" noGrp="1"/>
          </p:cNvSpPr>
          <p:nvPr/>
        </p:nvSpPr>
        <p:spPr>
          <a:xfrm xmlns:a="http://schemas.openxmlformats.org/drawingml/2006/main">
            <a:off x="7677150" y="3905250"/>
            <a:ext cx="3638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Local 60-minute momentum strengthens toward the close, but was only a control here.</a:t>
            </a:r>
          </a:p>
        </p:txBody>
      </p:sp>
      <p:sp>
        <p:nvSpPr>
          <p:cNvPr id="33" name="">
            <a:extLst xmlns:a="http://schemas.openxmlformats.org/drawingml/2006/main">
              <a:ext uri="{FF2B5EF4-FFF2-40B4-BE49-F238E27FC236}">
                <a16:creationId xmlns:a16="http://schemas.microsoft.com/office/drawing/2014/main" id="{608EF62C-27C2-43C1-B2E7-97EFF137275D}"/>
              </a:ext>
            </a:extLst>
          </p:cNvPr>
          <p:cNvSpPr>
            <a:spLocks xmlns:a="http://schemas.openxmlformats.org/drawingml/2006/main" noGrp="1"/>
          </p:cNvSpPr>
          <p:nvPr/>
        </p:nvSpPr>
        <p:spPr>
          <a:xfrm xmlns:a="http://schemas.openxmlformats.org/drawingml/2006/main">
            <a:off x="7448550" y="4924425"/>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34" name="">
            <a:extLst xmlns:a="http://schemas.openxmlformats.org/drawingml/2006/main">
              <a:ext uri="{FF2B5EF4-FFF2-40B4-BE49-F238E27FC236}">
                <a16:creationId xmlns:a16="http://schemas.microsoft.com/office/drawing/2014/main" id="{9587B6BC-71D0-4AA0-990C-8FAFFF20AA33}"/>
              </a:ext>
            </a:extLst>
          </p:cNvPr>
          <p:cNvSpPr>
            <a:spLocks xmlns:a="http://schemas.openxmlformats.org/drawingml/2006/main" noGrp="1"/>
          </p:cNvSpPr>
          <p:nvPr/>
        </p:nvSpPr>
        <p:spPr>
          <a:xfrm xmlns:a="http://schemas.openxmlformats.org/drawingml/2006/main">
            <a:off x="7677150" y="4838700"/>
            <a:ext cx="3638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64B"/>
                </a:solidFill>
              </a:defRPr>
            </a:pPr>
            <a:r>
              <a:rPr sz="1425" b="0">
                <a:solidFill>
                  <a:srgbClr val="24364B"/>
                </a:solidFill>
              </a:rPr>
              <a:t>NVDL residual convergence may support a fund-pricing study, not an NVDA-pressure strategy.</a:t>
            </a:r>
          </a:p>
        </p:txBody>
      </p:sp>
      <p:sp>
        <p:nvSpPr>
          <p:cNvPr id="35" name="">
            <a:extLst xmlns:a="http://schemas.openxmlformats.org/drawingml/2006/main">
              <a:ext uri="{FF2B5EF4-FFF2-40B4-BE49-F238E27FC236}">
                <a16:creationId xmlns:a16="http://schemas.microsoft.com/office/drawing/2014/main" id="{052583E0-F20E-450D-88E9-226DD350B08E}"/>
              </a:ext>
            </a:extLst>
          </p:cNvPr>
          <p:cNvSpPr>
            <a:spLocks xmlns:a="http://schemas.openxmlformats.org/drawingml/2006/main" noGrp="1"/>
          </p:cNvSpPr>
          <p:nvPr/>
        </p:nvSpPr>
        <p:spPr>
          <a:xfrm xmlns:a="http://schemas.openxmlformats.org/drawingml/2006/main">
            <a:off x="7429500" y="5429250"/>
            <a:ext cx="3943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B44738"/>
                </a:solidFill>
              </a:defRPr>
            </a:pPr>
            <a:r>
              <a:rPr sz="1050" b="1">
                <a:solidFill>
                  <a:srgbClr val="B44738"/>
                </a:solidFill>
              </a:rPr>
              <a:t>Do not reconstruct AUM for this formulation. Freeze a new slice around one surviving clue.</a:t>
            </a:r>
          </a:p>
        </p:txBody>
      </p:sp>
    </p:spTree>
    <p:extLst>
      <p:ext uri="{BB962C8B-B14F-4D97-AF65-F5344CB8AC3E}">
        <p14:creationId xmlns:p14="http://schemas.microsoft.com/office/powerpoint/2010/main" val="14807742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2026-09-01T23:49:35.3020000Z</dcterms:created>
  <dcterms:modified xsi:type="dcterms:W3CDTF">2026-09-01T23:49:35.3020000Z</dcterms:modified>
</coreProperties>
</file>