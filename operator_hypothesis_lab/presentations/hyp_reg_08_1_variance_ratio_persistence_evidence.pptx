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f4b2a690f54c6d" /><Relationship Type="http://schemas.openxmlformats.org/officeDocument/2006/relationships/extended-properties" Target="/docProps/app.xml" Id="R51d616afbc214fba" /><Relationship Type="http://schemas.openxmlformats.org/officeDocument/2006/relationships/officeDocument" Target="/ppt/presentation.xml" Id="R7ef85ceff5af412c" /></Relationships>
</file>

<file path=ppt/presentation.xml><?xml version="1.0" encoding="utf-8"?>
<p:presentation xmlns:p="http://schemas.openxmlformats.org/presentationml/2006/main">
  <p:sldMasterIdLst>
    <p:sldMasterId xmlns:r="http://schemas.openxmlformats.org/officeDocument/2006/relationships" id="2147483648" r:id="R5dc2b8a393754743"/>
  </p:sldMasterIdLst>
  <p:notesMasterIdLst>
    <p:notesMasterId xmlns:r="http://schemas.openxmlformats.org/officeDocument/2006/relationships" r:id="R70d1002d0f8a4b23"/>
  </p:notesMasterIdLst>
  <p:sldIdLst>
    <p:sldId xmlns:r="http://schemas.openxmlformats.org/officeDocument/2006/relationships" id="256" r:id="Re9c114ec13fa4f0d"/>
    <p:sldId xmlns:r="http://schemas.openxmlformats.org/officeDocument/2006/relationships" id="257" r:id="R17965f434187485a"/>
    <p:sldId xmlns:r="http://schemas.openxmlformats.org/officeDocument/2006/relationships" id="258" r:id="R5fe3aa6c72994787"/>
    <p:sldId xmlns:r="http://schemas.openxmlformats.org/officeDocument/2006/relationships" id="259" r:id="R3b4f3288e2fb410b"/>
    <p:sldId xmlns:r="http://schemas.openxmlformats.org/officeDocument/2006/relationships" id="260" r:id="Rfae2c9eab0404f97"/>
    <p:sldId xmlns:r="http://schemas.openxmlformats.org/officeDocument/2006/relationships" id="261" r:id="R239f0a18ef834352"/>
    <p:sldId xmlns:r="http://schemas.openxmlformats.org/officeDocument/2006/relationships" id="262" r:id="R55c672d430e24018"/>
    <p:sldId xmlns:r="http://schemas.openxmlformats.org/officeDocument/2006/relationships" id="263" r:id="Reafaf9f397b24233"/>
    <p:sldId xmlns:r="http://schemas.openxmlformats.org/officeDocument/2006/relationships" id="264" r:id="R564fb346d7e94d9c"/>
    <p:sldId xmlns:r="http://schemas.openxmlformats.org/officeDocument/2006/relationships" id="265" r:id="Rc140651a06b94671"/>
    <p:sldId xmlns:r="http://schemas.openxmlformats.org/officeDocument/2006/relationships" id="266" r:id="R155b70ad51f24332"/>
    <p:sldId xmlns:r="http://schemas.openxmlformats.org/officeDocument/2006/relationships" id="267" r:id="R3ce621174c5b4d92"/>
    <p:sldId xmlns:r="http://schemas.openxmlformats.org/officeDocument/2006/relationships" id="268" r:id="R0f180bfc7a354103"/>
    <p:sldId xmlns:r="http://schemas.openxmlformats.org/officeDocument/2006/relationships" id="269" r:id="R14b33223c92c4b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2692a414274907" /><Relationship Type="http://schemas.openxmlformats.org/officeDocument/2006/relationships/slideMaster" Target="/ppt/slideMasters/slideMaster1.xml" Id="R5dc2b8a393754743" /><Relationship Type="http://schemas.openxmlformats.org/officeDocument/2006/relationships/notesMaster" Target="/ppt/notesMasters/notesMaster1.xml" Id="R70d1002d0f8a4b23" /><Relationship Type="http://schemas.openxmlformats.org/officeDocument/2006/relationships/presProps" Target="/ppt/presProps.xml" Id="R04b0973c875949ed" /><Relationship Type="http://schemas.openxmlformats.org/officeDocument/2006/relationships/tableStyles" Target="/ppt/tableStyles.xml" Id="R81787291d7874e62" /><Relationship Type="http://schemas.openxmlformats.org/officeDocument/2006/relationships/slide" Target="/ppt/slides/slide1.xml" Id="Re9c114ec13fa4f0d" /><Relationship Type="http://schemas.openxmlformats.org/officeDocument/2006/relationships/slide" Target="/ppt/slides/slide2.xml" Id="R17965f434187485a" /><Relationship Type="http://schemas.openxmlformats.org/officeDocument/2006/relationships/slide" Target="/ppt/slides/slide3.xml" Id="R5fe3aa6c72994787" /><Relationship Type="http://schemas.openxmlformats.org/officeDocument/2006/relationships/slide" Target="/ppt/slides/slide4.xml" Id="R3b4f3288e2fb410b" /><Relationship Type="http://schemas.openxmlformats.org/officeDocument/2006/relationships/slide" Target="/ppt/slides/slide5.xml" Id="Rfae2c9eab0404f97" /><Relationship Type="http://schemas.openxmlformats.org/officeDocument/2006/relationships/slide" Target="/ppt/slides/slide6.xml" Id="R239f0a18ef834352" /><Relationship Type="http://schemas.openxmlformats.org/officeDocument/2006/relationships/slide" Target="/ppt/slides/slide7.xml" Id="R55c672d430e24018" /><Relationship Type="http://schemas.openxmlformats.org/officeDocument/2006/relationships/slide" Target="/ppt/slides/slide8.xml" Id="Reafaf9f397b24233" /><Relationship Type="http://schemas.openxmlformats.org/officeDocument/2006/relationships/slide" Target="/ppt/slides/slide9.xml" Id="R564fb346d7e94d9c" /><Relationship Type="http://schemas.openxmlformats.org/officeDocument/2006/relationships/slide" Target="/ppt/slides/slide10.xml" Id="Rc140651a06b94671" /><Relationship Type="http://schemas.openxmlformats.org/officeDocument/2006/relationships/slide" Target="/ppt/slides/slide11.xml" Id="R155b70ad51f24332" /><Relationship Type="http://schemas.openxmlformats.org/officeDocument/2006/relationships/slide" Target="/ppt/slides/slide12.xml" Id="R3ce621174c5b4d92" /><Relationship Type="http://schemas.openxmlformats.org/officeDocument/2006/relationships/slide" Target="/ppt/slides/slide13.xml" Id="R0f180bfc7a354103" /><Relationship Type="http://schemas.openxmlformats.org/officeDocument/2006/relationships/slide" Target="/ppt/slides/slide14.xml" Id="R14b33223c92c4b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7c72f1dd424e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beed7806ed4032" /><Relationship Type="http://schemas.openxmlformats.org/officeDocument/2006/relationships/notesMaster" Target="/ppt/notesMasters/notesMaster1.xml" Id="R6a26a455b91d40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31ba4a208040c6" /><Relationship Type="http://schemas.openxmlformats.org/officeDocument/2006/relationships/notesMaster" Target="/ppt/notesMasters/notesMaster1.xml" Id="Rb3a5be38f2034b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b0bf99e4264a7f" /><Relationship Type="http://schemas.openxmlformats.org/officeDocument/2006/relationships/notesMaster" Target="/ppt/notesMasters/notesMaster1.xml" Id="R41a6e18628124c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eb8877b9eb4050" /><Relationship Type="http://schemas.openxmlformats.org/officeDocument/2006/relationships/notesMaster" Target="/ppt/notesMasters/notesMaster1.xml" Id="R2beebc5499f14c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0a83d1916844a0" /><Relationship Type="http://schemas.openxmlformats.org/officeDocument/2006/relationships/notesMaster" Target="/ppt/notesMasters/notesMaster1.xml" Id="R4686930638364c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6965f208054066" /><Relationship Type="http://schemas.openxmlformats.org/officeDocument/2006/relationships/notesMaster" Target="/ppt/notesMasters/notesMaster1.xml" Id="Rb2af048abe8e4b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0e54303a58409c" /><Relationship Type="http://schemas.openxmlformats.org/officeDocument/2006/relationships/notesMaster" Target="/ppt/notesMasters/notesMaster1.xml" Id="R5b8d7a243b8940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3c95911e7b447a" /><Relationship Type="http://schemas.openxmlformats.org/officeDocument/2006/relationships/notesMaster" Target="/ppt/notesMasters/notesMaster1.xml" Id="R5a2c859aaa9f4b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b16213437c4725" /><Relationship Type="http://schemas.openxmlformats.org/officeDocument/2006/relationships/notesMaster" Target="/ppt/notesMasters/notesMaster1.xml" Id="R69c4475469ff4a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3d589a8e594fe5" /><Relationship Type="http://schemas.openxmlformats.org/officeDocument/2006/relationships/notesMaster" Target="/ppt/notesMasters/notesMaster1.xml" Id="R098ee862a65b48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a1e36a0cc04403" /><Relationship Type="http://schemas.openxmlformats.org/officeDocument/2006/relationships/notesMaster" Target="/ppt/notesMasters/notesMaster1.xml" Id="Rd5974a9a38fa4e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a6ee34c4fc4db8" /><Relationship Type="http://schemas.openxmlformats.org/officeDocument/2006/relationships/notesMaster" Target="/ppt/notesMasters/notesMaster1.xml" Id="Rac54042ba2f84e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3c485c73754659" /><Relationship Type="http://schemas.openxmlformats.org/officeDocument/2006/relationships/notesMaster" Target="/ppt/notesMasters/notesMaster1.xml" Id="R9e41f68ca3ce4d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86da36ea6c4a92" /><Relationship Type="http://schemas.openxmlformats.org/officeDocument/2006/relationships/notesMaster" Target="/ppt/notesMasters/notesMaster1.xml" Id="R145b24485c874f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two-stage verdict. The variance-ratio construction behaved as intended and produced causal, usable states. The approved strategy question was narrower: does HIGH positive return dependence improve fresh SMA8/14 entries? It did not.</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runs/research_workbench/operator_hypothesis_lab/hyp_reg_08_1_variance_ratio_20260816/hyp_reg_08_1_report.md</a:t>
            </a:r>
          </a:p>
          <a:p xmlns:a="http://schemas.openxmlformats.org/drawingml/2006/main">
            <a:r>
              <a:t>- runs/research_workbench/operator_hypothesis_lab/hyp_reg_08_1_variance_ratio_20260816/hyp_reg_08_1_stage_a_gates.csv</a:t>
            </a:r>
          </a:p>
          <a:p xmlns:a="http://schemas.openxmlformats.org/drawingml/2006/main">
            <a:r>
              <a:t>- runs/research_workbench/operator_hypothesis_lab/hyp_reg_08_1_variance_ratio_20260816/hyp_reg_08_1_strategy_gates.csv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lane was frozen as two sequential stages. Strategy outcomes were not accessed until all Stage A construction gates passed. VR(10) was allowed only as a durability check, never as an alternative chosen after seeing results.</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runs/research_workbench/operator_hypothesis_lab/hyp_reg_08_1_variance_ratio_20260816/hyp_reg_08_1_run_spec.csv</a:t>
            </a:r>
          </a:p>
          <a:p xmlns:a="http://schemas.openxmlformats.org/drawingml/2006/main">
            <a:r>
              <a:t>- runs/research_workbench/operator_hypothesis_lab/hyp_reg_08_1_variance_ratio_20260816/hyp_reg_08_1_report.md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 introduces variance-ratio testing as a way to distinguish random-walk-like behavior from mean-reverting or momentum-like dependence. Lo and MacKinlay developed the specification test and finite-sample treatment. Our implementation used the overlapping, heteroskedasticity-robust form because financial return variance is not constant.</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44-46 / PDF pp. 62-64</a:t>
            </a:r>
          </a:p>
          <a:p xmlns:a="http://schemas.openxmlformats.org/drawingml/2006/main">
            <a:r>
              <a:t>- https://web.mit.edu/~alo/www/Papers/lo-mackinlay-88.html</a:t>
            </a:r>
          </a:p>
          <a:p xmlns:a="http://schemas.openxmlformats.org/drawingml/2006/main">
            <a:r>
              <a:t>- https://web.mit.edu/Alo/www/Papers/lo-mackinlay-89.html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sign requirement prevents a high percentile among negative z-scores from being mislabeled as positive dependence. Hysteresis reduces one-day state chatter. The first finite state was 2018-01-03 because the provider supplied 503 prehistory sessions—enough for both frozen 252 windows but short of the preferred 550-session buffer. We retained NA states rather than shorten or backfill either window.</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runs/research_workbench/operator_hypothesis_lab/hyp_reg_08_1_variance_ratio_20260816/hyp_reg_08_1_run_spec.csv</a:t>
            </a:r>
          </a:p>
          <a:p xmlns:a="http://schemas.openxmlformats.org/drawingml/2006/main">
            <a:r>
              <a:t>- runs/research_workbench/operator_hypothesis_lab/hyp_reg_08_1_variance_ratio_20260816/hyp_reg_08_1_stage_a_gates.csv</a:t>
            </a:r>
          </a:p>
          <a:p xmlns:a="http://schemas.openxmlformats.org/drawingml/2006/main">
            <a:r>
              <a:t>- runs/research_workbench/operator_hypothesis_lab/hyp_reg_08_1_variance_ratio_20260816/hyp_reg_08_1_report.md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implementation sanity check. Negative autocorrelation produced VR below one, IID processes stayed near one, and positive autocorrelation produced VR above one. The robust null rejection rates remained near the nominal five-percent level for both homoskedastic and heteroskedastic IID simulations.</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runs/research_workbench/operator_hypothesis_lab/hyp_reg_08_1_variance_ratio_20260816/hyp_reg_08_1_stage_a_gates.csv</a:t>
            </a:r>
          </a:p>
          <a:p xmlns:a="http://schemas.openxmlformats.org/drawingml/2006/main">
            <a:r>
              <a:t>- C:/Users/Franc/OneDrive/Documents/Francis/Peltata Project/Time-Series-Modeling-Gen5/runs/research_workbench/operator_hypothesis_lab/hyp_reg_08_1_variance_ratio_20260816/hyp_reg_08_1_synthetic_summary.csv</a:t>
            </a:r>
          </a:p>
          <a:p xmlns:a="http://schemas.openxmlformats.org/drawingml/2006/main">
            <a:r>
              <a:t>- https://web.mit.edu/Alo/www/Papers/lo-mackinlay-89.html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usability asks whether the indicator creates meaningful labels rather than living almost entirely in one state. Twenty-two of twenty-four strategy stocks had at least five percent occupancy in both HIGH and LOW. Append invariance and sign semantics were exact.</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runs/research_workbench/operator_hypothesis_lab/hyp_reg_08_1_variance_ratio_20260816/hyp_reg_08_1_stage_a_gates.csv</a:t>
            </a:r>
          </a:p>
          <a:p xmlns:a="http://schemas.openxmlformats.org/drawingml/2006/main">
            <a:r>
              <a:t>- C:/Users/Franc/OneDrive/Documents/Francis/Peltata Project/Time-Series-Modeling-Gen5/runs/research_workbench/operator_hypothesis_lab/hyp_reg_08_1_variance_ratio_20260816/hyp_reg_08_1_state_diagnostics.csv</a:t>
            </a:r>
          </a:p>
          <a:p xmlns:a="http://schemas.openxmlformats.org/drawingml/2006/main">
            <a:r>
              <a:t>- C:/Users/Franc/OneDrive/Documents/Francis/Peltata Project/Time-Series-Modeling-Gen5/runs/research_workbench/operator_hypothesis_lab/hyp_reg_08_1_variance_ratio_20260816/hyp_reg_08_1_causality_audit.csv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tapes to read the state correctly. Orange HIGH shading means the completed-return path had unusually positive serial dependence relative to that asset's own prior history. It does not mean the asset must rise next; a persistent decline can also be HIGH.</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Project/Time-Series-Modeling-Gen5/runs/research_workbench/operator_hypothesis_lab/hyp_reg_08_1_variance_ratio_20260816/hyp_reg_08_1_ledger.csv</a:t>
            </a:r>
          </a:p>
          <a:p xmlns:a="http://schemas.openxmlformats.org/drawingml/2006/main">
            <a:r>
              <a:t>- C:/Users/Franc/OneDrive/Documents/Francis/Peltata Project/Time-Series-Modeling-Gen5/runs/research_workbench/operator_hypothesis_lab/hyp_reg_08_1_variance_ratio_20260816/hyp_reg_08_1_representative_selection.csv</a:t>
            </a:r>
          </a:p>
          <a:p xmlns:a="http://schemas.openxmlformats.org/drawingml/2006/main">
            <a:r>
              <a:t>- runs/research_workbench/operator_hypothesis_lab/hyp_reg_08_1_variance_ratio_20260816/hyp_reg_08_1_report.md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strategy results. Passing construction means the estimator is behaving and the labels are causal and usable. It does not establish that HIGH identifies better entries for any particular policy.</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runs/research_workbench/operator_hypothesis_lab/hyp_reg_08_1_variance_ratio_20260816/hyp_reg_08_1_stage_a_gates.csv</a:t>
            </a:r>
          </a:p>
          <a:p xmlns:a="http://schemas.openxmlformats.org/drawingml/2006/main">
            <a:r>
              <a:t>- runs/research_workbench/operator_hypothesis_lab/hyp_reg_08_1_variance_ratio_20260816/hyp_reg_08_1_report.md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parent policy was reproduced exactly before comparison. The overlay never changes exits and never enters later if a cross was rejected. This isolates one causal question: was HIGH a useful condition at the moment a fresh parent entry appeared?</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runs/research_workbench/operator_hypothesis_lab/hyp_reg_08_1_variance_ratio_20260816/hyp_reg_08_1_run_spec.csv</a:t>
            </a:r>
          </a:p>
          <a:p xmlns:a="http://schemas.openxmlformats.org/drawingml/2006/main">
            <a:r>
              <a:t>- C:/Users/Franc/OneDrive/Documents/Francis/Peltata Project/Time-Series-Modeling-Gen5/runs/research_workbench/operator_hypothesis_lab/hyp_reg_08_1_variance_ratio_20260816/hyp_reg_08_1_parent_reproduction.csv</a:t>
            </a:r>
          </a:p>
          <a:p xmlns:a="http://schemas.openxmlformats.org/drawingml/2006/main">
            <a:r>
              <a:t>- runs/research_workbench/operator_hypothesis_lab/hyp_reg_08_1_variance_ratio_20260816/hyp_reg_08_1_strategy_gates.csv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overlay reduced drawdown, but the bargain was not acceptable: median annual exposure was zero, return was zero, and Sharpe was 0.497 lower than the parent. Avoid describing this as successful risk control; in the median annual cell, the gate simply did not participate.</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runs/research_workbench/operator_hypothesis_lab/hyp_reg_08_1_variance_ratio_20260816/hyp_reg_08_1_policy_panel.csv</a:t>
            </a:r>
          </a:p>
          <a:p xmlns:a="http://schemas.openxmlformats.org/drawingml/2006/main">
            <a:r>
              <a:t>- runs/research_workbench/operator_hypothesis_lab/hyp_reg_08_1_variance_ratio_20260816/hyp_reg_08_1_strategy_gates.csv</a:t>
            </a:r>
          </a:p>
          <a:p xmlns:a="http://schemas.openxmlformats.org/drawingml/2006/main">
            <a:r>
              <a:t>- runs/research_workbench/operator_hypothesis_lab/hyp_reg_08_1_variance_ratio_20260816/hyp_reg_08_1_report.md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Asset and year breadth are essential because a pooled median can conceal concentration. Only one asset improved across the full development period, and only one of six years had positive median excess return. This is not a narrow miss.</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runs/research_workbench/operator_hypothesis_lab/hyp_reg_08_1_variance_ratio_20260816/hyp_reg_08_1_asset_summary.csv</a:t>
            </a:r>
          </a:p>
          <a:p xmlns:a="http://schemas.openxmlformats.org/drawingml/2006/main">
            <a:r>
              <a:t>- runs/research_workbench/operator_hypothesis_lab/hyp_reg_08_1_variance_ratio_20260816/hyp_reg_08_1_year_summary.csv</a:t>
            </a:r>
          </a:p>
          <a:p xmlns:a="http://schemas.openxmlformats.org/drawingml/2006/main">
            <a:r>
              <a:t>- runs/research_workbench/operator_hypothesis_lab/hyp_reg_08_1_variance_ratio_20260816/hyp_reg_08_1_strategy_gates.csv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audit asks the intuitive question directly: among the parent trades that actually occurred, were those initiated in HIGH better? No. HIGH trades had a lower hit rate and a more negative median than LOW trades. Mean returns were positive in all states because a small number of large winners matter, but HIGH did not lead.</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runs/research_workbench/operator_hypothesis_lab/hyp_reg_08_1_variance_ratio_20260816/hyp_reg_08_1_entry_state_audit.csv</a:t>
            </a:r>
          </a:p>
          <a:p xmlns:a="http://schemas.openxmlformats.org/drawingml/2006/main">
            <a:r>
              <a:t>- C:/Users/Franc/OneDrive/Documents/Francis/Peltata Project/Time-Series-Modeling-Gen5/runs/research_workbench/operator_hypothesis_lab/hyp_reg_08_1_variance_ratio_20260816/hyp_reg_08_1_trades.csv</a:t>
            </a:r>
          </a:p>
          <a:p xmlns:a="http://schemas.openxmlformats.org/drawingml/2006/main">
            <a:r>
              <a:t>- runs/research_workbench/operator_hypothesis_lab/hyp_reg_08_1_variance_ratio_20260816/hyp_reg_08_1_strategy_gates.csv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MSFT 2022 is the best protection example: refusing entries avoided parent losses. AMD 2018 is the central failure: the gate missed a major parent momentum run. Across the panel, the actual timing ranked at the median of circular controls, and exposure-nearest controls were also cash-like.</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runs/research_workbench/operator_hypothesis_lab/hyp_reg_08_1_variance_ratio_20260816/hyp_reg_08_1_control_panel.csv</a:t>
            </a:r>
          </a:p>
          <a:p xmlns:a="http://schemas.openxmlformats.org/drawingml/2006/main">
            <a:r>
              <a:t>- C:/Users/Franc/OneDrive/Documents/Francis/Peltata Project/Time-Series-Modeling-Gen5/runs/research_workbench/operator_hypothesis_lab/hyp_reg_08_1_variance_ratio_20260816/hyp_reg_08_1_placebo_readout.csv</a:t>
            </a:r>
          </a:p>
          <a:p xmlns:a="http://schemas.openxmlformats.org/drawingml/2006/main">
            <a:r>
              <a:t>- C:/Users/Franc/OneDrive/Documents/Francis/Peltata Project/Time-Series-Modeling-Gen5/runs/research_workbench/operator_hypothesis_lab/hyp_reg_08_1_variance_ratio_20260816/hyp_reg_08_1_representative_selection.csv</a:t>
            </a:r>
          </a:p>
          <a:p xmlns:a="http://schemas.openxmlformats.org/drawingml/2006/main">
            <a:r>
              <a:t>- runs/research_workbench/operator_hypothesis_lab/hyp_reg_08_1_variance_ratio_20260816/hyp_reg_08_1_strategy_gates.csv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without rescue. Stage A produced a valuable, literature-grounded measurement artifact. Stage B decisively rejected this hard HIGH-only entry-permission use. The 2024+ confirmation period remained sealed. The next roadmap concept requires a separate operator decision.</a:t>
            </a:r>
          </a:p>
          <a:p xmlns:a="http://schemas.openxmlformats.org/drawingml/2006/main">
            <a:r>
              <a:t/>
            </a:r>
          </a:p>
          <a:p xmlns:a="http://schemas.openxmlformats.org/drawingml/2006/main">
            <a:r>
              <a:t>[Sources]</a:t>
            </a:r>
          </a:p>
          <a:p xmlns:a="http://schemas.openxmlformats.org/drawingml/2006/main">
            <a:r>
              <a:t>- runs/research_workbench/operator_hypothesis_lab/hyp_reg_08_1_variance_ratio_20260816/hyp_reg_08_1_report.md</a:t>
            </a:r>
          </a:p>
          <a:p xmlns:a="http://schemas.openxmlformats.org/drawingml/2006/main">
            <a:r>
              <a:t>- runs/research_workbench/operator_hypothesis_lab/hyp_reg_08_1_variance_ratio_20260816/hyp_reg_08_1_stage_a_gates.csv</a:t>
            </a:r>
          </a:p>
          <a:p xmlns:a="http://schemas.openxmlformats.org/drawingml/2006/main">
            <a:r>
              <a:t>- runs/research_workbench/operator_hypothesis_lab/hyp_reg_08_1_variance_ratio_20260816/hyp_reg_08_1_strategy_gates.csv</a:t>
            </a:r>
          </a:p>
          <a:p xmlns:a="http://schemas.openxmlformats.org/drawingml/2006/main">
            <a:r>
              <a:t>- runs/research_workbench/operator_hypothesis_lab/hyp_reg_08_1_variance_ratio_20260816/hyp_reg_08_1_run_spec.csv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9a53e8a6394a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a4efc329e54193" /><Relationship Type="http://schemas.openxmlformats.org/officeDocument/2006/relationships/slideLayout" Target="/ppt/slideLayouts/slideLayout1.xml" Id="R44c7da409dd246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c7da409dd246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fb3e567c0f4f2d" /><Relationship Type="http://schemas.openxmlformats.org/officeDocument/2006/relationships/image" Target="/ppt/media/image.png" Id="R8a21ef0ec0f44b69" /><Relationship Type="http://schemas.openxmlformats.org/officeDocument/2006/relationships/notesSlide" Target="/ppt/notesSlides/notesSlide1.xml" Id="Rc1616eac024c47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a42d394dac4feb" /><Relationship Type="http://schemas.openxmlformats.org/officeDocument/2006/relationships/notesSlide" Target="/ppt/notesSlides/notesSlide2.xml" Id="R38f95b798ac341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07640e06a649e0" /><Relationship Type="http://schemas.openxmlformats.org/officeDocument/2006/relationships/notesSlide" Target="/ppt/notesSlides/notesSlide3.xml" Id="Rfaf89cb81ac949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8494f11b57459a" /><Relationship Type="http://schemas.openxmlformats.org/officeDocument/2006/relationships/notesSlide" Target="/ppt/notesSlides/notesSlide4.xml" Id="R3ac954af7ee54a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fc6dcf7e7c4e72" /><Relationship Type="http://schemas.openxmlformats.org/officeDocument/2006/relationships/image" Target="/ppt/media/image2.png" Id="R64d32356c06b4941" /><Relationship Type="http://schemas.openxmlformats.org/officeDocument/2006/relationships/notesSlide" Target="/ppt/notesSlides/notesSlide5.xml" Id="Recaf5aae63d445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b05814fe04406a" /><Relationship Type="http://schemas.openxmlformats.org/officeDocument/2006/relationships/image" Target="/ppt/media/image3.png" Id="R427b71216c3e428f" /><Relationship Type="http://schemas.openxmlformats.org/officeDocument/2006/relationships/notesSlide" Target="/ppt/notesSlides/notesSlide6.xml" Id="R5f2e7c56cef842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2517c68617450f" /><Relationship Type="http://schemas.openxmlformats.org/officeDocument/2006/relationships/image" Target="/ppt/media/image4.png" Id="Rf5db3077cff94204" /><Relationship Type="http://schemas.openxmlformats.org/officeDocument/2006/relationships/notesSlide" Target="/ppt/notesSlides/notesSlide7.xml" Id="R82d54db7bc5f4a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d8a7ad662743ef" /><Relationship Type="http://schemas.openxmlformats.org/officeDocument/2006/relationships/notesSlide" Target="/ppt/notesSlides/notesSlide8.xml" Id="Rb138fc5ecf9a40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2164b6a365d4f7c" /><Relationship Type="http://schemas.openxmlformats.org/officeDocument/2006/relationships/image" Target="/ppt/media/image5.png" Id="Reff6fdcf71734ad3" /><Relationship Type="http://schemas.openxmlformats.org/officeDocument/2006/relationships/notesSlide" Target="/ppt/notesSlides/notesSlide9.xml" Id="Ref4582fed4ae4c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b1d52b328d441d" /><Relationship Type="http://schemas.openxmlformats.org/officeDocument/2006/relationships/image" Target="/ppt/media/image6.png" Id="R8e40ad8272e74ea7" /><Relationship Type="http://schemas.openxmlformats.org/officeDocument/2006/relationships/notesSlide" Target="/ppt/notesSlides/notesSlide10.xml" Id="R8c8fc0f1cd6c46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88f3772fdf423c" /><Relationship Type="http://schemas.openxmlformats.org/officeDocument/2006/relationships/image" Target="/ppt/media/image7.png" Id="Re980e3b7c13e4f3d" /><Relationship Type="http://schemas.openxmlformats.org/officeDocument/2006/relationships/image" Target="/ppt/media/image8.png" Id="Rab361c1afc1f4d00" /><Relationship Type="http://schemas.openxmlformats.org/officeDocument/2006/relationships/notesSlide" Target="/ppt/notesSlides/notesSlide11.xml" Id="Rb992f2113c0248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372e45c8ca418a" /><Relationship Type="http://schemas.openxmlformats.org/officeDocument/2006/relationships/image" Target="/ppt/media/image9.png" Id="Reb783cec25a441b8" /><Relationship Type="http://schemas.openxmlformats.org/officeDocument/2006/relationships/notesSlide" Target="/ppt/notesSlides/notesSlide12.xml" Id="R3924af92511745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47fc98e4e5470e" /><Relationship Type="http://schemas.openxmlformats.org/officeDocument/2006/relationships/image" Target="/ppt/media/image10.png" Id="Ra27f89574d0e4a25" /><Relationship Type="http://schemas.openxmlformats.org/officeDocument/2006/relationships/notesSlide" Target="/ppt/notesSlides/notesSlide13.xml" Id="Re1d71478b5cb45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47569b6a1c14c08" /><Relationship Type="http://schemas.openxmlformats.org/officeDocument/2006/relationships/notesSlide" Target="/ppt/notesSlides/notesSlide14.xml" Id="R9a9a9b6cb94540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B356C3-B9F5-4C34-A9E5-EE23B406BF94}"/>
              </a:ext>
            </a:extLst>
          </p:cNvPr>
          <p:cNvSpPr>
            <a:spLocks xmlns:a="http://schemas.openxmlformats.org/drawingml/2006/main" noGrp="1"/>
          </p:cNvSpPr>
          <p:nvPr/>
        </p:nvSpPr>
        <p:spPr>
          <a:xfrm xmlns:a="http://schemas.openxmlformats.org/drawingml/2006/main">
            <a:off x="476250" y="4000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HYP-REG-08.1</a:t>
            </a:r>
          </a:p>
        </p:txBody>
      </p:sp>
      <p:sp>
        <p:nvSpPr>
          <p:cNvPr id="2" name="">
            <a:extLst xmlns:a="http://schemas.openxmlformats.org/drawingml/2006/main">
              <a:ext uri="{FF2B5EF4-FFF2-40B4-BE49-F238E27FC236}">
                <a16:creationId xmlns:a16="http://schemas.microsoft.com/office/drawing/2014/main" id="{84AE8751-FBAF-4228-8E91-ADC58970004C}"/>
              </a:ext>
            </a:extLst>
          </p:cNvPr>
          <p:cNvSpPr>
            <a:spLocks xmlns:a="http://schemas.openxmlformats.org/drawingml/2006/main" noGrp="1"/>
          </p:cNvSpPr>
          <p:nvPr/>
        </p:nvSpPr>
        <p:spPr>
          <a:xfrm xmlns:a="http://schemas.openxmlformats.org/drawingml/2006/main">
            <a:off x="476250" y="1066800"/>
            <a:ext cx="542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24D"/>
                </a:solidFill>
              </a:defRPr>
            </a:pPr>
            <a:r>
              <a:rPr sz="3600" b="1">
                <a:solidFill>
                  <a:srgbClr val="17324D"/>
                </a:solidFill>
              </a:rPr>
              <a:t>Variance ratio measured persistence cleanly—</a:t>
            </a:r>
          </a:p>
          <a:p xmlns:a="http://schemas.openxmlformats.org/drawingml/2006/main">
            <a:pPr algn="l">
              <a:defRPr sz="3600" b="1">
                <a:solidFill>
                  <a:srgbClr val="17324D"/>
                </a:solidFill>
              </a:defRPr>
            </a:pPr>
            <a:r>
              <a:rPr sz="3600" b="1">
                <a:solidFill>
                  <a:srgbClr val="17324D"/>
                </a:solidFill>
              </a:rPr>
              <a:t>but the hard SMA entry gate did not</a:t>
            </a:r>
          </a:p>
        </p:txBody>
      </p:sp>
      <p:sp>
        <p:nvSpPr>
          <p:cNvPr id="3" name="">
            <a:extLst xmlns:a="http://schemas.openxmlformats.org/drawingml/2006/main">
              <a:ext uri="{FF2B5EF4-FFF2-40B4-BE49-F238E27FC236}">
                <a16:creationId xmlns:a16="http://schemas.microsoft.com/office/drawing/2014/main" id="{82CEBC93-E469-4BD4-AE95-B902DC454040}"/>
              </a:ext>
            </a:extLst>
          </p:cNvPr>
          <p:cNvSpPr>
            <a:spLocks xmlns:a="http://schemas.openxmlformats.org/drawingml/2006/main" noGrp="1"/>
          </p:cNvSpPr>
          <p:nvPr/>
        </p:nvSpPr>
        <p:spPr>
          <a:xfrm xmlns:a="http://schemas.openxmlformats.org/drawingml/2006/main">
            <a:off x="476250" y="3619500"/>
            <a:ext cx="528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Lo–MacKinlay VR(5) primary · VR(10) durability · 26 assets · 2018–2023</a:t>
            </a:r>
          </a:p>
        </p:txBody>
      </p:sp>
      <p:sp>
        <p:nvSpPr>
          <p:cNvPr id="4" name="">
            <a:extLst xmlns:a="http://schemas.openxmlformats.org/drawingml/2006/main">
              <a:ext uri="{FF2B5EF4-FFF2-40B4-BE49-F238E27FC236}">
                <a16:creationId xmlns:a16="http://schemas.microsoft.com/office/drawing/2014/main" id="{956D2ADA-74AC-4999-A4EE-6E9A8C3435A0}"/>
              </a:ext>
            </a:extLst>
          </p:cNvPr>
          <p:cNvSpPr>
            <a:spLocks xmlns:a="http://schemas.openxmlformats.org/drawingml/2006/main" noGrp="1"/>
          </p:cNvSpPr>
          <p:nvPr/>
        </p:nvSpPr>
        <p:spPr>
          <a:xfrm xmlns:a="http://schemas.openxmlformats.org/drawingml/2006/main">
            <a:off x="476250" y="4857750"/>
            <a:ext cx="5286375" cy="8382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94F3B6-E7A3-4AC5-9DCF-FC31ECF3D302}"/>
              </a:ext>
            </a:extLst>
          </p:cNvPr>
          <p:cNvSpPr>
            <a:spLocks xmlns:a="http://schemas.openxmlformats.org/drawingml/2006/main" noGrp="1"/>
          </p:cNvSpPr>
          <p:nvPr/>
        </p:nvSpPr>
        <p:spPr>
          <a:xfrm xmlns:a="http://schemas.openxmlformats.org/drawingml/2006/main">
            <a:off x="714375" y="5124450"/>
            <a:ext cx="481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D95F59"/>
                </a:solidFill>
              </a:defRPr>
            </a:pPr>
            <a:r>
              <a:rPr sz="1725" b="1">
                <a:solidFill>
                  <a:srgbClr val="D95F59"/>
                </a:solidFill>
              </a:rPr>
              <a:t>STOP · Stage A 7/7 · Strategy 3/9</a:t>
            </a:r>
          </a:p>
        </p:txBody>
      </p:sp>
      <p:sp>
        <p:nvSpPr>
          <p:cNvPr id="6" name="">
            <a:extLst xmlns:a="http://schemas.openxmlformats.org/drawingml/2006/main">
              <a:ext uri="{FF2B5EF4-FFF2-40B4-BE49-F238E27FC236}">
                <a16:creationId xmlns:a16="http://schemas.microsoft.com/office/drawing/2014/main" id="{7B49F0F2-9C7A-40DC-8F9E-C65046EC92B2}"/>
              </a:ext>
            </a:extLst>
          </p:cNvPr>
          <p:cNvSpPr>
            <a:spLocks xmlns:a="http://schemas.openxmlformats.org/drawingml/2006/main" noGrp="1"/>
          </p:cNvSpPr>
          <p:nvPr/>
        </p:nvSpPr>
        <p:spPr>
          <a:xfrm xmlns:a="http://schemas.openxmlformats.org/drawingml/2006/main">
            <a:off x="6191250" y="457200"/>
            <a:ext cx="5524500" cy="5429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a21ef0ec0f44b69"/>
          <a:stretch xmlns:a="http://schemas.openxmlformats.org/drawingml/2006/main"/>
        </p:blipFill>
        <p:spPr>
          <a:xfrm xmlns:a="http://schemas.openxmlformats.org/drawingml/2006/main">
            <a:off x="6191250" y="1637242"/>
            <a:ext cx="5524500" cy="306916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0421C33-2757-459D-B921-02B62EDCAAD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a:t>
            </a:r>
          </a:p>
        </p:txBody>
      </p:sp>
    </p:spTree>
    <p:extLst>
      <p:ext uri="{BB962C8B-B14F-4D97-AF65-F5344CB8AC3E}">
        <p14:creationId xmlns:p14="http://schemas.microsoft.com/office/powerpoint/2010/main" val="11654613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40B97C-5F04-46F9-8547-22C911D2DF70}"/>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DESIGN</a:t>
            </a:r>
          </a:p>
        </p:txBody>
      </p:sp>
      <p:sp>
        <p:nvSpPr>
          <p:cNvPr id="2" name="">
            <a:extLst xmlns:a="http://schemas.openxmlformats.org/drawingml/2006/main">
              <a:ext uri="{FF2B5EF4-FFF2-40B4-BE49-F238E27FC236}">
                <a16:creationId xmlns:a16="http://schemas.microsoft.com/office/drawing/2014/main" id="{04E13AE4-91F5-445E-853D-EF82FD6D12A3}"/>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A measurement question came before a strategy question</a:t>
            </a:r>
          </a:p>
        </p:txBody>
      </p:sp>
      <p:sp>
        <p:nvSpPr>
          <p:cNvPr id="3" name="">
            <a:extLst xmlns:a="http://schemas.openxmlformats.org/drawingml/2006/main">
              <a:ext uri="{FF2B5EF4-FFF2-40B4-BE49-F238E27FC236}">
                <a16:creationId xmlns:a16="http://schemas.microsoft.com/office/drawing/2014/main" id="{18AF5A85-7471-4E55-8103-426C7865C62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2</a:t>
            </a:r>
          </a:p>
        </p:txBody>
      </p:sp>
      <p:sp>
        <p:nvSpPr>
          <p:cNvPr id="4" name="">
            <a:extLst xmlns:a="http://schemas.openxmlformats.org/drawingml/2006/main">
              <a:ext uri="{FF2B5EF4-FFF2-40B4-BE49-F238E27FC236}">
                <a16:creationId xmlns:a16="http://schemas.microsoft.com/office/drawing/2014/main" id="{76AF4D5A-47D9-4EF2-BD31-CFAA9DE898ED}"/>
              </a:ext>
            </a:extLst>
          </p:cNvPr>
          <p:cNvSpPr>
            <a:spLocks xmlns:a="http://schemas.openxmlformats.org/drawingml/2006/main" noGrp="1"/>
          </p:cNvSpPr>
          <p:nvPr/>
        </p:nvSpPr>
        <p:spPr>
          <a:xfrm xmlns:a="http://schemas.openxmlformats.org/drawingml/2006/main">
            <a:off x="523875" y="1381125"/>
            <a:ext cx="5143500" cy="19526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8BD787-BAB4-4492-B024-F2D71C4121D9}"/>
              </a:ext>
            </a:extLst>
          </p:cNvPr>
          <p:cNvSpPr>
            <a:spLocks xmlns:a="http://schemas.openxmlformats.org/drawingml/2006/main" noGrp="1"/>
          </p:cNvSpPr>
          <p:nvPr/>
        </p:nvSpPr>
        <p:spPr>
          <a:xfrm xmlns:a="http://schemas.openxmlformats.org/drawingml/2006/main">
            <a:off x="809625" y="16668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3D8DFF"/>
                </a:solidFill>
              </a:defRPr>
            </a:pPr>
            <a:r>
              <a:rPr sz="2025" b="1">
                <a:solidFill>
                  <a:srgbClr val="3D8DFF"/>
                </a:solidFill>
              </a:rPr>
              <a:t>Stage A · Measurement</a:t>
            </a:r>
          </a:p>
        </p:txBody>
      </p:sp>
      <p:sp>
        <p:nvSpPr>
          <p:cNvPr id="6" name="">
            <a:extLst xmlns:a="http://schemas.openxmlformats.org/drawingml/2006/main">
              <a:ext uri="{FF2B5EF4-FFF2-40B4-BE49-F238E27FC236}">
                <a16:creationId xmlns:a16="http://schemas.microsoft.com/office/drawing/2014/main" id="{0E7BB5B6-EEE1-46FB-BC56-5A25CB9D5CE0}"/>
              </a:ext>
            </a:extLst>
          </p:cNvPr>
          <p:cNvSpPr>
            <a:spLocks xmlns:a="http://schemas.openxmlformats.org/drawingml/2006/main" noGrp="1"/>
          </p:cNvSpPr>
          <p:nvPr/>
        </p:nvSpPr>
        <p:spPr>
          <a:xfrm xmlns:a="http://schemas.openxmlformats.org/drawingml/2006/main">
            <a:off x="809625" y="2238375"/>
            <a:ext cx="4476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Can a causal rolling variance ratio distinguish negative, neutral, and positive serial dependence—and remain usable across assets?</a:t>
            </a:r>
          </a:p>
        </p:txBody>
      </p:sp>
      <p:sp>
        <p:nvSpPr>
          <p:cNvPr id="7" name="">
            <a:extLst xmlns:a="http://schemas.openxmlformats.org/drawingml/2006/main">
              <a:ext uri="{FF2B5EF4-FFF2-40B4-BE49-F238E27FC236}">
                <a16:creationId xmlns:a16="http://schemas.microsoft.com/office/drawing/2014/main" id="{6FEF4AA6-3065-4C2D-8161-3FE6F1423599}"/>
              </a:ext>
            </a:extLst>
          </p:cNvPr>
          <p:cNvSpPr>
            <a:spLocks xmlns:a="http://schemas.openxmlformats.org/drawingml/2006/main" noGrp="1"/>
          </p:cNvSpPr>
          <p:nvPr/>
        </p:nvSpPr>
        <p:spPr>
          <a:xfrm xmlns:a="http://schemas.openxmlformats.org/drawingml/2006/main">
            <a:off x="6524625" y="1381125"/>
            <a:ext cx="5143500" cy="1952625"/>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03CD4D9-BF6F-4168-9BD5-C6D0D43F3499}"/>
              </a:ext>
            </a:extLst>
          </p:cNvPr>
          <p:cNvSpPr>
            <a:spLocks xmlns:a="http://schemas.openxmlformats.org/drawingml/2006/main" noGrp="1"/>
          </p:cNvSpPr>
          <p:nvPr/>
        </p:nvSpPr>
        <p:spPr>
          <a:xfrm xmlns:a="http://schemas.openxmlformats.org/drawingml/2006/main">
            <a:off x="6810375" y="16668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6C63A8"/>
                </a:solidFill>
              </a:defRPr>
            </a:pPr>
            <a:r>
              <a:rPr sz="2025" b="1">
                <a:solidFill>
                  <a:srgbClr val="6C63A8"/>
                </a:solidFill>
              </a:rPr>
              <a:t>Stage B · Policy</a:t>
            </a:r>
          </a:p>
        </p:txBody>
      </p:sp>
      <p:sp>
        <p:nvSpPr>
          <p:cNvPr id="9" name="">
            <a:extLst xmlns:a="http://schemas.openxmlformats.org/drawingml/2006/main">
              <a:ext uri="{FF2B5EF4-FFF2-40B4-BE49-F238E27FC236}">
                <a16:creationId xmlns:a16="http://schemas.microsoft.com/office/drawing/2014/main" id="{C719D49D-A2E9-41A2-BAA0-5A3FCBFDB057}"/>
              </a:ext>
            </a:extLst>
          </p:cNvPr>
          <p:cNvSpPr>
            <a:spLocks xmlns:a="http://schemas.openxmlformats.org/drawingml/2006/main" noGrp="1"/>
          </p:cNvSpPr>
          <p:nvPr/>
        </p:nvSpPr>
        <p:spPr>
          <a:xfrm xmlns:a="http://schemas.openxmlformats.org/drawingml/2006/main">
            <a:off x="6810375" y="2238375"/>
            <a:ext cx="4476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Does permitting fresh next-open SMA8/14 entries only in HIGH improve the unchanged long/cash parent?</a:t>
            </a:r>
          </a:p>
        </p:txBody>
      </p:sp>
      <p:sp>
        <p:nvSpPr>
          <p:cNvPr id="10" name="">
            <a:extLst xmlns:a="http://schemas.openxmlformats.org/drawingml/2006/main">
              <a:ext uri="{FF2B5EF4-FFF2-40B4-BE49-F238E27FC236}">
                <a16:creationId xmlns:a16="http://schemas.microsoft.com/office/drawing/2014/main" id="{DCE1104E-0646-4450-9D07-631A8A8DE477}"/>
              </a:ext>
            </a:extLst>
          </p:cNvPr>
          <p:cNvSpPr>
            <a:spLocks xmlns:a="http://schemas.openxmlformats.org/drawingml/2006/main" noGrp="1"/>
          </p:cNvSpPr>
          <p:nvPr/>
        </p:nvSpPr>
        <p:spPr>
          <a:xfrm xmlns:a="http://schemas.openxmlformats.org/drawingml/2006/main">
            <a:off x="666750" y="38576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Frozen boundaries</a:t>
            </a:r>
          </a:p>
        </p:txBody>
      </p:sp>
      <p:sp>
        <p:nvSpPr>
          <p:cNvPr id="11" name="">
            <a:extLst xmlns:a="http://schemas.openxmlformats.org/drawingml/2006/main">
              <a:ext uri="{FF2B5EF4-FFF2-40B4-BE49-F238E27FC236}">
                <a16:creationId xmlns:a16="http://schemas.microsoft.com/office/drawing/2014/main" id="{3AD4120C-76AC-4B73-AAE1-B0877115B9AF}"/>
              </a:ext>
            </a:extLst>
          </p:cNvPr>
          <p:cNvSpPr>
            <a:spLocks xmlns:a="http://schemas.openxmlformats.org/drawingml/2006/main" noGrp="1"/>
          </p:cNvSpPr>
          <p:nvPr/>
        </p:nvSpPr>
        <p:spPr>
          <a:xfrm xmlns:a="http://schemas.openxmlformats.org/drawingml/2006/main">
            <a:off x="809625" y="44577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3A3FE3-0FC8-4C6F-8DD4-7620013566CF}"/>
              </a:ext>
            </a:extLst>
          </p:cNvPr>
          <p:cNvSpPr>
            <a:spLocks xmlns:a="http://schemas.openxmlformats.org/drawingml/2006/main" noGrp="1"/>
          </p:cNvSpPr>
          <p:nvPr/>
        </p:nvSpPr>
        <p:spPr>
          <a:xfrm xmlns:a="http://schemas.openxmlformats.org/drawingml/2006/main">
            <a:off x="1028700" y="4381500"/>
            <a:ext cx="1025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Daily adjusted log-close returns; 252-return estimator and 252-score causal rank</a:t>
            </a:r>
          </a:p>
        </p:txBody>
      </p:sp>
      <p:sp>
        <p:nvSpPr>
          <p:cNvPr id="13" name="">
            <a:extLst xmlns:a="http://schemas.openxmlformats.org/drawingml/2006/main">
              <a:ext uri="{FF2B5EF4-FFF2-40B4-BE49-F238E27FC236}">
                <a16:creationId xmlns:a16="http://schemas.microsoft.com/office/drawing/2014/main" id="{76C0B122-D0A2-48FC-885B-C0CD50284B46}"/>
              </a:ext>
            </a:extLst>
          </p:cNvPr>
          <p:cNvSpPr>
            <a:spLocks xmlns:a="http://schemas.openxmlformats.org/drawingml/2006/main" noGrp="1"/>
          </p:cNvSpPr>
          <p:nvPr/>
        </p:nvSpPr>
        <p:spPr>
          <a:xfrm xmlns:a="http://schemas.openxmlformats.org/drawingml/2006/main">
            <a:off x="809625" y="49149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DBD17F-B44F-4E1E-AE9A-BCBF78A15C98}"/>
              </a:ext>
            </a:extLst>
          </p:cNvPr>
          <p:cNvSpPr>
            <a:spLocks xmlns:a="http://schemas.openxmlformats.org/drawingml/2006/main" noGrp="1"/>
          </p:cNvSpPr>
          <p:nvPr/>
        </p:nvSpPr>
        <p:spPr>
          <a:xfrm xmlns:a="http://schemas.openxmlformats.org/drawingml/2006/main">
            <a:off x="1028700" y="4838700"/>
            <a:ext cx="1025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VR(5) primary; VR(10) durability only; no threshold or horizon search</a:t>
            </a:r>
          </a:p>
        </p:txBody>
      </p:sp>
      <p:sp>
        <p:nvSpPr>
          <p:cNvPr id="15" name="">
            <a:extLst xmlns:a="http://schemas.openxmlformats.org/drawingml/2006/main">
              <a:ext uri="{FF2B5EF4-FFF2-40B4-BE49-F238E27FC236}">
                <a16:creationId xmlns:a16="http://schemas.microsoft.com/office/drawing/2014/main" id="{2526B721-CB9D-4F14-8871-3E53875ED79A}"/>
              </a:ext>
            </a:extLst>
          </p:cNvPr>
          <p:cNvSpPr>
            <a:spLocks xmlns:a="http://schemas.openxmlformats.org/drawingml/2006/main" noGrp="1"/>
          </p:cNvSpPr>
          <p:nvPr/>
        </p:nvSpPr>
        <p:spPr>
          <a:xfrm xmlns:a="http://schemas.openxmlformats.org/drawingml/2006/main">
            <a:off x="809625" y="53721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AAF779B-4A3C-48FC-897A-25EA320733DA}"/>
              </a:ext>
            </a:extLst>
          </p:cNvPr>
          <p:cNvSpPr>
            <a:spLocks xmlns:a="http://schemas.openxmlformats.org/drawingml/2006/main" noGrp="1"/>
          </p:cNvSpPr>
          <p:nvPr/>
        </p:nvSpPr>
        <p:spPr>
          <a:xfrm xmlns:a="http://schemas.openxmlformats.org/drawingml/2006/main">
            <a:off x="1028700" y="5295900"/>
            <a:ext cx="1025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2018–2023 development panel; 24 stocks plus SPY and QQQ</a:t>
            </a:r>
          </a:p>
        </p:txBody>
      </p:sp>
      <p:sp>
        <p:nvSpPr>
          <p:cNvPr id="17" name="">
            <a:extLst xmlns:a="http://schemas.openxmlformats.org/drawingml/2006/main">
              <a:ext uri="{FF2B5EF4-FFF2-40B4-BE49-F238E27FC236}">
                <a16:creationId xmlns:a16="http://schemas.microsoft.com/office/drawing/2014/main" id="{379FB449-688D-43A3-9FEF-6DFE90A12D41}"/>
              </a:ext>
            </a:extLst>
          </p:cNvPr>
          <p:cNvSpPr>
            <a:spLocks xmlns:a="http://schemas.openxmlformats.org/drawingml/2006/main" noGrp="1"/>
          </p:cNvSpPr>
          <p:nvPr/>
        </p:nvSpPr>
        <p:spPr>
          <a:xfrm xmlns:a="http://schemas.openxmlformats.org/drawingml/2006/main">
            <a:off x="809625" y="58293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F9DBFB-3929-482A-9829-1FA1C4002BEB}"/>
              </a:ext>
            </a:extLst>
          </p:cNvPr>
          <p:cNvSpPr>
            <a:spLocks xmlns:a="http://schemas.openxmlformats.org/drawingml/2006/main" noGrp="1"/>
          </p:cNvSpPr>
          <p:nvPr/>
        </p:nvSpPr>
        <p:spPr>
          <a:xfrm xmlns:a="http://schemas.openxmlformats.org/drawingml/2006/main">
            <a:off x="1028700" y="5753100"/>
            <a:ext cx="1025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2024+ confirmation sealed unless the strategy-relative gates pass</a:t>
            </a:r>
          </a:p>
        </p:txBody>
      </p:sp>
    </p:spTree>
    <p:extLst>
      <p:ext uri="{BB962C8B-B14F-4D97-AF65-F5344CB8AC3E}">
        <p14:creationId xmlns:p14="http://schemas.microsoft.com/office/powerpoint/2010/main" val="12061807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F585F38-82BE-45EC-95D2-AD0251019F44}"/>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THEORY · LO–MACKINLAY</a:t>
            </a:r>
          </a:p>
        </p:txBody>
      </p:sp>
      <p:sp>
        <p:nvSpPr>
          <p:cNvPr id="2" name="">
            <a:extLst xmlns:a="http://schemas.openxmlformats.org/drawingml/2006/main">
              <a:ext uri="{FF2B5EF4-FFF2-40B4-BE49-F238E27FC236}">
                <a16:creationId xmlns:a16="http://schemas.microsoft.com/office/drawing/2014/main" id="{48025EE4-560F-4AFD-B911-9B9A239A6626}"/>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Variance ratio asks whether returns accumulate like independent increments</a:t>
            </a:r>
          </a:p>
        </p:txBody>
      </p:sp>
      <p:sp>
        <p:nvSpPr>
          <p:cNvPr id="3" name="">
            <a:extLst xmlns:a="http://schemas.openxmlformats.org/drawingml/2006/main">
              <a:ext uri="{FF2B5EF4-FFF2-40B4-BE49-F238E27FC236}">
                <a16:creationId xmlns:a16="http://schemas.microsoft.com/office/drawing/2014/main" id="{246C71BA-FEFC-45AA-B5C8-6C5A26D6817D}"/>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3</a:t>
            </a:r>
          </a:p>
        </p:txBody>
      </p:sp>
      <p:sp>
        <p:nvSpPr>
          <p:cNvPr id="4" name="">
            <a:extLst xmlns:a="http://schemas.openxmlformats.org/drawingml/2006/main">
              <a:ext uri="{FF2B5EF4-FFF2-40B4-BE49-F238E27FC236}">
                <a16:creationId xmlns:a16="http://schemas.microsoft.com/office/drawing/2014/main" id="{B58BB007-FA9A-4A26-9543-A6D4B423C386}"/>
              </a:ext>
            </a:extLst>
          </p:cNvPr>
          <p:cNvSpPr>
            <a:spLocks xmlns:a="http://schemas.openxmlformats.org/drawingml/2006/main" noGrp="1"/>
          </p:cNvSpPr>
          <p:nvPr/>
        </p:nvSpPr>
        <p:spPr>
          <a:xfrm xmlns:a="http://schemas.openxmlformats.org/drawingml/2006/main">
            <a:off x="762000" y="1381125"/>
            <a:ext cx="10668000" cy="9525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A2019A-B6AC-4544-89FC-5A5C8AF2E83C}"/>
              </a:ext>
            </a:extLst>
          </p:cNvPr>
          <p:cNvSpPr>
            <a:spLocks xmlns:a="http://schemas.openxmlformats.org/drawingml/2006/main" noGrp="1"/>
          </p:cNvSpPr>
          <p:nvPr/>
        </p:nvSpPr>
        <p:spPr>
          <a:xfrm xmlns:a="http://schemas.openxmlformats.org/drawingml/2006/main">
            <a:off x="1095375" y="169545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17324D"/>
                </a:solidFill>
              </a:defRPr>
            </a:pPr>
            <a:r>
              <a:rPr sz="2325" b="1">
                <a:solidFill>
                  <a:srgbClr val="17324D"/>
                </a:solidFill>
              </a:rPr>
              <a:t>VR(q) = Var[r(t)+...+r(t−q+1)]  /  (q × Var[r(t)])</a:t>
            </a:r>
          </a:p>
        </p:txBody>
      </p:sp>
      <p:sp>
        <p:nvSpPr>
          <p:cNvPr id="6" name="">
            <a:extLst xmlns:a="http://schemas.openxmlformats.org/drawingml/2006/main">
              <a:ext uri="{FF2B5EF4-FFF2-40B4-BE49-F238E27FC236}">
                <a16:creationId xmlns:a16="http://schemas.microsoft.com/office/drawing/2014/main" id="{430B881C-6875-46F5-B15C-5916CECA4A69}"/>
              </a:ext>
            </a:extLst>
          </p:cNvPr>
          <p:cNvSpPr>
            <a:spLocks xmlns:a="http://schemas.openxmlformats.org/drawingml/2006/main" noGrp="1"/>
          </p:cNvSpPr>
          <p:nvPr/>
        </p:nvSpPr>
        <p:spPr>
          <a:xfrm xmlns:a="http://schemas.openxmlformats.org/drawingml/2006/main">
            <a:off x="523875" y="2952750"/>
            <a:ext cx="3571875" cy="1952625"/>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0CC46D-C44C-49B3-BDB5-55C6DE3007EE}"/>
              </a:ext>
            </a:extLst>
          </p:cNvPr>
          <p:cNvSpPr>
            <a:spLocks xmlns:a="http://schemas.openxmlformats.org/drawingml/2006/main" noGrp="1"/>
          </p:cNvSpPr>
          <p:nvPr/>
        </p:nvSpPr>
        <p:spPr>
          <a:xfrm xmlns:a="http://schemas.openxmlformats.org/drawingml/2006/main">
            <a:off x="790575" y="32004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D95F59"/>
                </a:solidFill>
              </a:defRPr>
            </a:pPr>
            <a:r>
              <a:rPr sz="2250" b="1">
                <a:solidFill>
                  <a:srgbClr val="D95F59"/>
                </a:solidFill>
              </a:rPr>
              <a:t>VR &lt; 1</a:t>
            </a:r>
          </a:p>
        </p:txBody>
      </p:sp>
      <p:sp>
        <p:nvSpPr>
          <p:cNvPr id="8" name="">
            <a:extLst xmlns:a="http://schemas.openxmlformats.org/drawingml/2006/main">
              <a:ext uri="{FF2B5EF4-FFF2-40B4-BE49-F238E27FC236}">
                <a16:creationId xmlns:a16="http://schemas.microsoft.com/office/drawing/2014/main" id="{81B37DE7-91DF-4CB5-9122-FC0166A72403}"/>
              </a:ext>
            </a:extLst>
          </p:cNvPr>
          <p:cNvSpPr>
            <a:spLocks xmlns:a="http://schemas.openxmlformats.org/drawingml/2006/main" noGrp="1"/>
          </p:cNvSpPr>
          <p:nvPr/>
        </p:nvSpPr>
        <p:spPr>
          <a:xfrm xmlns:a="http://schemas.openxmlformats.org/drawingml/2006/main">
            <a:off x="790575" y="3714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7202A"/>
                </a:solidFill>
              </a:defRPr>
            </a:pPr>
            <a:r>
              <a:rPr sz="1500" b="1">
                <a:solidFill>
                  <a:srgbClr val="17202A"/>
                </a:solidFill>
              </a:rPr>
              <a:t>Negative dependence</a:t>
            </a:r>
          </a:p>
        </p:txBody>
      </p:sp>
      <p:sp>
        <p:nvSpPr>
          <p:cNvPr id="9" name="">
            <a:extLst xmlns:a="http://schemas.openxmlformats.org/drawingml/2006/main">
              <a:ext uri="{FF2B5EF4-FFF2-40B4-BE49-F238E27FC236}">
                <a16:creationId xmlns:a16="http://schemas.microsoft.com/office/drawing/2014/main" id="{F76D751C-FB5E-4649-85D0-213BEA147206}"/>
              </a:ext>
            </a:extLst>
          </p:cNvPr>
          <p:cNvSpPr>
            <a:spLocks xmlns:a="http://schemas.openxmlformats.org/drawingml/2006/main" noGrp="1"/>
          </p:cNvSpPr>
          <p:nvPr/>
        </p:nvSpPr>
        <p:spPr>
          <a:xfrm xmlns:a="http://schemas.openxmlformats.org/drawingml/2006/main">
            <a:off x="790575" y="42386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Reversals partially cancel; mean-reversion-like path</a:t>
            </a:r>
          </a:p>
        </p:txBody>
      </p:sp>
      <p:sp>
        <p:nvSpPr>
          <p:cNvPr id="10" name="">
            <a:extLst xmlns:a="http://schemas.openxmlformats.org/drawingml/2006/main">
              <a:ext uri="{FF2B5EF4-FFF2-40B4-BE49-F238E27FC236}">
                <a16:creationId xmlns:a16="http://schemas.microsoft.com/office/drawing/2014/main" id="{6D43B654-8727-48CD-B14E-20097841AC63}"/>
              </a:ext>
            </a:extLst>
          </p:cNvPr>
          <p:cNvSpPr>
            <a:spLocks xmlns:a="http://schemas.openxmlformats.org/drawingml/2006/main" noGrp="1"/>
          </p:cNvSpPr>
          <p:nvPr/>
        </p:nvSpPr>
        <p:spPr>
          <a:xfrm xmlns:a="http://schemas.openxmlformats.org/drawingml/2006/main">
            <a:off x="4429125" y="2952750"/>
            <a:ext cx="3571875" cy="1952625"/>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735A7FD-DBE6-4EF7-BE17-EE69257CCA84}"/>
              </a:ext>
            </a:extLst>
          </p:cNvPr>
          <p:cNvSpPr>
            <a:spLocks xmlns:a="http://schemas.openxmlformats.org/drawingml/2006/main" noGrp="1"/>
          </p:cNvSpPr>
          <p:nvPr/>
        </p:nvSpPr>
        <p:spPr>
          <a:xfrm xmlns:a="http://schemas.openxmlformats.org/drawingml/2006/main">
            <a:off x="4695825" y="32004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52606D"/>
                </a:solidFill>
              </a:defRPr>
            </a:pPr>
            <a:r>
              <a:rPr sz="2250" b="1">
                <a:solidFill>
                  <a:srgbClr val="52606D"/>
                </a:solidFill>
              </a:rPr>
              <a:t>VR ≈ 1</a:t>
            </a:r>
          </a:p>
        </p:txBody>
      </p:sp>
      <p:sp>
        <p:nvSpPr>
          <p:cNvPr id="12" name="">
            <a:extLst xmlns:a="http://schemas.openxmlformats.org/drawingml/2006/main">
              <a:ext uri="{FF2B5EF4-FFF2-40B4-BE49-F238E27FC236}">
                <a16:creationId xmlns:a16="http://schemas.microsoft.com/office/drawing/2014/main" id="{2A96845F-FFB0-4D3F-97B0-A8B3B8BFED08}"/>
              </a:ext>
            </a:extLst>
          </p:cNvPr>
          <p:cNvSpPr>
            <a:spLocks xmlns:a="http://schemas.openxmlformats.org/drawingml/2006/main" noGrp="1"/>
          </p:cNvSpPr>
          <p:nvPr/>
        </p:nvSpPr>
        <p:spPr>
          <a:xfrm xmlns:a="http://schemas.openxmlformats.org/drawingml/2006/main">
            <a:off x="4695825" y="3714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7202A"/>
                </a:solidFill>
              </a:defRPr>
            </a:pPr>
            <a:r>
              <a:rPr sz="1500" b="1">
                <a:solidFill>
                  <a:srgbClr val="17202A"/>
                </a:solidFill>
              </a:rPr>
              <a:t>Independent increments</a:t>
            </a:r>
          </a:p>
        </p:txBody>
      </p:sp>
      <p:sp>
        <p:nvSpPr>
          <p:cNvPr id="13" name="">
            <a:extLst xmlns:a="http://schemas.openxmlformats.org/drawingml/2006/main">
              <a:ext uri="{FF2B5EF4-FFF2-40B4-BE49-F238E27FC236}">
                <a16:creationId xmlns:a16="http://schemas.microsoft.com/office/drawing/2014/main" id="{06993912-D073-4C45-9A29-63FCC07FABF8}"/>
              </a:ext>
            </a:extLst>
          </p:cNvPr>
          <p:cNvSpPr>
            <a:spLocks xmlns:a="http://schemas.openxmlformats.org/drawingml/2006/main" noGrp="1"/>
          </p:cNvSpPr>
          <p:nvPr/>
        </p:nvSpPr>
        <p:spPr>
          <a:xfrm xmlns:a="http://schemas.openxmlformats.org/drawingml/2006/main">
            <a:off x="4695825" y="42386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The q-period variance scales roughly linearly</a:t>
            </a:r>
          </a:p>
        </p:txBody>
      </p:sp>
      <p:sp>
        <p:nvSpPr>
          <p:cNvPr id="14" name="">
            <a:extLst xmlns:a="http://schemas.openxmlformats.org/drawingml/2006/main">
              <a:ext uri="{FF2B5EF4-FFF2-40B4-BE49-F238E27FC236}">
                <a16:creationId xmlns:a16="http://schemas.microsoft.com/office/drawing/2014/main" id="{4596C478-04AC-4CB1-B20A-751F9A0FFBC1}"/>
              </a:ext>
            </a:extLst>
          </p:cNvPr>
          <p:cNvSpPr>
            <a:spLocks xmlns:a="http://schemas.openxmlformats.org/drawingml/2006/main" noGrp="1"/>
          </p:cNvSpPr>
          <p:nvPr/>
        </p:nvSpPr>
        <p:spPr>
          <a:xfrm xmlns:a="http://schemas.openxmlformats.org/drawingml/2006/main">
            <a:off x="8334375" y="2952750"/>
            <a:ext cx="3571875" cy="1952625"/>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CD37C67-CA20-406A-96B5-ED948339581A}"/>
              </a:ext>
            </a:extLst>
          </p:cNvPr>
          <p:cNvSpPr>
            <a:spLocks xmlns:a="http://schemas.openxmlformats.org/drawingml/2006/main" noGrp="1"/>
          </p:cNvSpPr>
          <p:nvPr/>
        </p:nvSpPr>
        <p:spPr>
          <a:xfrm xmlns:a="http://schemas.openxmlformats.org/drawingml/2006/main">
            <a:off x="8601075" y="32004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2E8B57"/>
                </a:solidFill>
              </a:defRPr>
            </a:pPr>
            <a:r>
              <a:rPr sz="2250" b="1">
                <a:solidFill>
                  <a:srgbClr val="2E8B57"/>
                </a:solidFill>
              </a:rPr>
              <a:t>VR &gt; 1</a:t>
            </a:r>
          </a:p>
        </p:txBody>
      </p:sp>
      <p:sp>
        <p:nvSpPr>
          <p:cNvPr id="16" name="">
            <a:extLst xmlns:a="http://schemas.openxmlformats.org/drawingml/2006/main">
              <a:ext uri="{FF2B5EF4-FFF2-40B4-BE49-F238E27FC236}">
                <a16:creationId xmlns:a16="http://schemas.microsoft.com/office/drawing/2014/main" id="{D0AA2FBE-CD05-4DBD-BA34-2E9BED9E2B36}"/>
              </a:ext>
            </a:extLst>
          </p:cNvPr>
          <p:cNvSpPr>
            <a:spLocks xmlns:a="http://schemas.openxmlformats.org/drawingml/2006/main" noGrp="1"/>
          </p:cNvSpPr>
          <p:nvPr/>
        </p:nvSpPr>
        <p:spPr>
          <a:xfrm xmlns:a="http://schemas.openxmlformats.org/drawingml/2006/main">
            <a:off x="8601075" y="3714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7202A"/>
                </a:solidFill>
              </a:defRPr>
            </a:pPr>
            <a:r>
              <a:rPr sz="1500" b="1">
                <a:solidFill>
                  <a:srgbClr val="17202A"/>
                </a:solidFill>
              </a:rPr>
              <a:t>Positive dependence</a:t>
            </a:r>
          </a:p>
        </p:txBody>
      </p:sp>
      <p:sp>
        <p:nvSpPr>
          <p:cNvPr id="17" name="">
            <a:extLst xmlns:a="http://schemas.openxmlformats.org/drawingml/2006/main">
              <a:ext uri="{FF2B5EF4-FFF2-40B4-BE49-F238E27FC236}">
                <a16:creationId xmlns:a16="http://schemas.microsoft.com/office/drawing/2014/main" id="{C5EE8D83-2FA6-4D88-963F-2368DD55B0D9}"/>
              </a:ext>
            </a:extLst>
          </p:cNvPr>
          <p:cNvSpPr>
            <a:spLocks xmlns:a="http://schemas.openxmlformats.org/drawingml/2006/main" noGrp="1"/>
          </p:cNvSpPr>
          <p:nvPr/>
        </p:nvSpPr>
        <p:spPr>
          <a:xfrm xmlns:a="http://schemas.openxmlformats.org/drawingml/2006/main">
            <a:off x="8601075" y="42386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Returns reinforce; persistence or momentum-like path</a:t>
            </a:r>
          </a:p>
        </p:txBody>
      </p:sp>
      <p:sp>
        <p:nvSpPr>
          <p:cNvPr id="18" name="">
            <a:extLst xmlns:a="http://schemas.openxmlformats.org/drawingml/2006/main">
              <a:ext uri="{FF2B5EF4-FFF2-40B4-BE49-F238E27FC236}">
                <a16:creationId xmlns:a16="http://schemas.microsoft.com/office/drawing/2014/main" id="{DA8027CF-DC59-4842-93B0-09E8A23F4AD8}"/>
              </a:ext>
            </a:extLst>
          </p:cNvPr>
          <p:cNvSpPr>
            <a:spLocks xmlns:a="http://schemas.openxmlformats.org/drawingml/2006/main" noGrp="1"/>
          </p:cNvSpPr>
          <p:nvPr/>
        </p:nvSpPr>
        <p:spPr>
          <a:xfrm xmlns:a="http://schemas.openxmlformats.org/drawingml/2006/main">
            <a:off x="1047750" y="5381625"/>
            <a:ext cx="10096500" cy="71437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17BFD7-FC29-4570-9D8B-63908261BE36}"/>
              </a:ext>
            </a:extLst>
          </p:cNvPr>
          <p:cNvSpPr>
            <a:spLocks xmlns:a="http://schemas.openxmlformats.org/drawingml/2006/main" noGrp="1"/>
          </p:cNvSpPr>
          <p:nvPr/>
        </p:nvSpPr>
        <p:spPr>
          <a:xfrm xmlns:a="http://schemas.openxmlformats.org/drawingml/2006/main">
            <a:off x="1381125" y="5591175"/>
            <a:ext cx="942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2A65A"/>
                </a:solidFill>
              </a:defRPr>
            </a:pPr>
            <a:r>
              <a:rPr sz="1500" b="1">
                <a:solidFill>
                  <a:srgbClr val="F2A65A"/>
                </a:solidFill>
              </a:rPr>
              <a:t>VR is not a direction forecast, a stationarity proof, or alpha. It describes dependence in completed returns at a chosen scale.</a:t>
            </a:r>
          </a:p>
        </p:txBody>
      </p:sp>
    </p:spTree>
    <p:extLst>
      <p:ext uri="{BB962C8B-B14F-4D97-AF65-F5344CB8AC3E}">
        <p14:creationId xmlns:p14="http://schemas.microsoft.com/office/powerpoint/2010/main" val="8149499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4C2A07F-4F2C-413A-AF83-BE00DD76CE0C}"/>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CAUSAL STATE MACHINE</a:t>
            </a:r>
          </a:p>
        </p:txBody>
      </p:sp>
      <p:sp>
        <p:nvSpPr>
          <p:cNvPr id="2" name="">
            <a:extLst xmlns:a="http://schemas.openxmlformats.org/drawingml/2006/main">
              <a:ext uri="{FF2B5EF4-FFF2-40B4-BE49-F238E27FC236}">
                <a16:creationId xmlns:a16="http://schemas.microsoft.com/office/drawing/2014/main" id="{BB564769-7A1E-4E39-AF8C-2E658F446946}"/>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state ranks today's robust z-score against only prior evidence</a:t>
            </a:r>
          </a:p>
        </p:txBody>
      </p:sp>
      <p:sp>
        <p:nvSpPr>
          <p:cNvPr id="3" name="">
            <a:extLst xmlns:a="http://schemas.openxmlformats.org/drawingml/2006/main">
              <a:ext uri="{FF2B5EF4-FFF2-40B4-BE49-F238E27FC236}">
                <a16:creationId xmlns:a16="http://schemas.microsoft.com/office/drawing/2014/main" id="{D2F2AF6B-E72A-4042-8BCF-6715B2C424B5}"/>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4</a:t>
            </a:r>
          </a:p>
        </p:txBody>
      </p:sp>
      <p:sp>
        <p:nvSpPr>
          <p:cNvPr id="4" name="">
            <a:extLst xmlns:a="http://schemas.openxmlformats.org/drawingml/2006/main">
              <a:ext uri="{FF2B5EF4-FFF2-40B4-BE49-F238E27FC236}">
                <a16:creationId xmlns:a16="http://schemas.microsoft.com/office/drawing/2014/main" id="{F2D89E0F-E3A7-4485-91E8-EA4464AC3C70}"/>
              </a:ext>
            </a:extLst>
          </p:cNvPr>
          <p:cNvSpPr>
            <a:spLocks xmlns:a="http://schemas.openxmlformats.org/drawingml/2006/main" noGrp="1"/>
          </p:cNvSpPr>
          <p:nvPr/>
        </p:nvSpPr>
        <p:spPr>
          <a:xfrm xmlns:a="http://schemas.openxmlformats.org/drawingml/2006/main">
            <a:off x="666750" y="1381125"/>
            <a:ext cx="10858500" cy="7620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38A1FC9-C9A9-45B0-A77B-05D9D1C5CA07}"/>
              </a:ext>
            </a:extLst>
          </p:cNvPr>
          <p:cNvSpPr>
            <a:spLocks xmlns:a="http://schemas.openxmlformats.org/drawingml/2006/main" noGrp="1"/>
          </p:cNvSpPr>
          <p:nvPr/>
        </p:nvSpPr>
        <p:spPr>
          <a:xfrm xmlns:a="http://schemas.openxmlformats.org/drawingml/2006/main">
            <a:off x="952500" y="160972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7324D"/>
                </a:solidFill>
              </a:defRPr>
            </a:pPr>
            <a:r>
              <a:rPr sz="1875" b="1">
                <a:solidFill>
                  <a:srgbClr val="17324D"/>
                </a:solidFill>
              </a:rPr>
              <a:t>252 completed log returns → robust VR(5) z-score → prior 252-score percentile → hysteretic state</a:t>
            </a:r>
          </a:p>
        </p:txBody>
      </p:sp>
      <p:sp>
        <p:nvSpPr>
          <p:cNvPr id="6" name="">
            <a:extLst xmlns:a="http://schemas.openxmlformats.org/drawingml/2006/main">
              <a:ext uri="{FF2B5EF4-FFF2-40B4-BE49-F238E27FC236}">
                <a16:creationId xmlns:a16="http://schemas.microsoft.com/office/drawing/2014/main" id="{B0034BCC-164E-43FF-844A-3B574730ABDD}"/>
              </a:ext>
            </a:extLst>
          </p:cNvPr>
          <p:cNvSpPr>
            <a:spLocks xmlns:a="http://schemas.openxmlformats.org/drawingml/2006/main" noGrp="1"/>
          </p:cNvSpPr>
          <p:nvPr/>
        </p:nvSpPr>
        <p:spPr>
          <a:xfrm xmlns:a="http://schemas.openxmlformats.org/drawingml/2006/main">
            <a:off x="523875" y="2714625"/>
            <a:ext cx="3571875" cy="20002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4FC2F1-FCF0-488D-94AD-F86B37E50409}"/>
              </a:ext>
            </a:extLst>
          </p:cNvPr>
          <p:cNvSpPr>
            <a:spLocks xmlns:a="http://schemas.openxmlformats.org/drawingml/2006/main" noGrp="1"/>
          </p:cNvSpPr>
          <p:nvPr/>
        </p:nvSpPr>
        <p:spPr>
          <a:xfrm xmlns:a="http://schemas.openxmlformats.org/drawingml/2006/main">
            <a:off x="809625" y="30003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D95F59"/>
                </a:solidFill>
              </a:defRPr>
            </a:pPr>
            <a:r>
              <a:rPr sz="2175" b="1">
                <a:solidFill>
                  <a:srgbClr val="D95F59"/>
                </a:solidFill>
              </a:rPr>
              <a:t>LOW</a:t>
            </a:r>
          </a:p>
        </p:txBody>
      </p:sp>
      <p:sp>
        <p:nvSpPr>
          <p:cNvPr id="8" name="">
            <a:extLst xmlns:a="http://schemas.openxmlformats.org/drawingml/2006/main">
              <a:ext uri="{FF2B5EF4-FFF2-40B4-BE49-F238E27FC236}">
                <a16:creationId xmlns:a16="http://schemas.microsoft.com/office/drawing/2014/main" id="{C7EB6ADC-A731-4EDF-B1CC-1B18B6E36BB4}"/>
              </a:ext>
            </a:extLst>
          </p:cNvPr>
          <p:cNvSpPr>
            <a:spLocks xmlns:a="http://schemas.openxmlformats.org/drawingml/2006/main" noGrp="1"/>
          </p:cNvSpPr>
          <p:nvPr/>
        </p:nvSpPr>
        <p:spPr>
          <a:xfrm xmlns:a="http://schemas.openxmlformats.org/drawingml/2006/main">
            <a:off x="809625" y="366712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enter: z &lt; 0 and percentile ≤ 30</a:t>
            </a:r>
          </a:p>
          <a:p xmlns:a="http://schemas.openxmlformats.org/drawingml/2006/main">
            <a:pPr algn="l">
              <a:defRPr sz="1425" b="0">
                <a:solidFill>
                  <a:srgbClr val="52606D"/>
                </a:solidFill>
              </a:defRPr>
            </a:pPr>
            <a:r>
              <a:rPr sz="1425" b="0">
                <a:solidFill>
                  <a:srgbClr val="52606D"/>
                </a:solidFill>
              </a:rPr>
              <a:t>remain: z &lt; 0 and percentile ≤ 40</a:t>
            </a:r>
          </a:p>
        </p:txBody>
      </p:sp>
      <p:sp>
        <p:nvSpPr>
          <p:cNvPr id="9" name="">
            <a:extLst xmlns:a="http://schemas.openxmlformats.org/drawingml/2006/main">
              <a:ext uri="{FF2B5EF4-FFF2-40B4-BE49-F238E27FC236}">
                <a16:creationId xmlns:a16="http://schemas.microsoft.com/office/drawing/2014/main" id="{1918232E-2BB2-4596-BD0E-D3A82D2CB7E0}"/>
              </a:ext>
            </a:extLst>
          </p:cNvPr>
          <p:cNvSpPr>
            <a:spLocks xmlns:a="http://schemas.openxmlformats.org/drawingml/2006/main" noGrp="1"/>
          </p:cNvSpPr>
          <p:nvPr/>
        </p:nvSpPr>
        <p:spPr>
          <a:xfrm xmlns:a="http://schemas.openxmlformats.org/drawingml/2006/main">
            <a:off x="4429125" y="2714625"/>
            <a:ext cx="3571875" cy="20002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773AF5-F362-46F3-8B84-38309183EF20}"/>
              </a:ext>
            </a:extLst>
          </p:cNvPr>
          <p:cNvSpPr>
            <a:spLocks xmlns:a="http://schemas.openxmlformats.org/drawingml/2006/main" noGrp="1"/>
          </p:cNvSpPr>
          <p:nvPr/>
        </p:nvSpPr>
        <p:spPr>
          <a:xfrm xmlns:a="http://schemas.openxmlformats.org/drawingml/2006/main">
            <a:off x="4714875" y="30003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52606D"/>
                </a:solidFill>
              </a:defRPr>
            </a:pPr>
            <a:r>
              <a:rPr sz="2175" b="1">
                <a:solidFill>
                  <a:srgbClr val="52606D"/>
                </a:solidFill>
              </a:rPr>
              <a:t>MEDIUM</a:t>
            </a:r>
          </a:p>
        </p:txBody>
      </p:sp>
      <p:sp>
        <p:nvSpPr>
          <p:cNvPr id="11" name="">
            <a:extLst xmlns:a="http://schemas.openxmlformats.org/drawingml/2006/main">
              <a:ext uri="{FF2B5EF4-FFF2-40B4-BE49-F238E27FC236}">
                <a16:creationId xmlns:a16="http://schemas.microsoft.com/office/drawing/2014/main" id="{B560754A-9D54-4499-AD0A-7AD43941C5D8}"/>
              </a:ext>
            </a:extLst>
          </p:cNvPr>
          <p:cNvSpPr>
            <a:spLocks xmlns:a="http://schemas.openxmlformats.org/drawingml/2006/main" noGrp="1"/>
          </p:cNvSpPr>
          <p:nvPr/>
        </p:nvSpPr>
        <p:spPr>
          <a:xfrm xmlns:a="http://schemas.openxmlformats.org/drawingml/2006/main">
            <a:off x="4714875" y="366712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all other finite observations</a:t>
            </a:r>
          </a:p>
          <a:p xmlns:a="http://schemas.openxmlformats.org/drawingml/2006/main">
            <a:pPr algn="l">
              <a:defRPr sz="1425" b="0">
                <a:solidFill>
                  <a:srgbClr val="52606D"/>
                </a:solidFill>
              </a:defRPr>
            </a:pPr>
            <a:r>
              <a:rPr sz="1425" b="0">
                <a:solidFill>
                  <a:srgbClr val="52606D"/>
                </a:solidFill>
              </a:rPr>
              <a:t>neutral bridge between signed states</a:t>
            </a:r>
          </a:p>
        </p:txBody>
      </p:sp>
      <p:sp>
        <p:nvSpPr>
          <p:cNvPr id="12" name="">
            <a:extLst xmlns:a="http://schemas.openxmlformats.org/drawingml/2006/main">
              <a:ext uri="{FF2B5EF4-FFF2-40B4-BE49-F238E27FC236}">
                <a16:creationId xmlns:a16="http://schemas.microsoft.com/office/drawing/2014/main" id="{1959331B-0FE0-446A-BC81-1157A78AEF1E}"/>
              </a:ext>
            </a:extLst>
          </p:cNvPr>
          <p:cNvSpPr>
            <a:spLocks xmlns:a="http://schemas.openxmlformats.org/drawingml/2006/main" noGrp="1"/>
          </p:cNvSpPr>
          <p:nvPr/>
        </p:nvSpPr>
        <p:spPr>
          <a:xfrm xmlns:a="http://schemas.openxmlformats.org/drawingml/2006/main">
            <a:off x="8334375" y="2714625"/>
            <a:ext cx="3571875" cy="200025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8323B8A-6C06-480E-9413-9443274A2F5D}"/>
              </a:ext>
            </a:extLst>
          </p:cNvPr>
          <p:cNvSpPr>
            <a:spLocks xmlns:a="http://schemas.openxmlformats.org/drawingml/2006/main" noGrp="1"/>
          </p:cNvSpPr>
          <p:nvPr/>
        </p:nvSpPr>
        <p:spPr>
          <a:xfrm xmlns:a="http://schemas.openxmlformats.org/drawingml/2006/main">
            <a:off x="8620125" y="30003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2E8B57"/>
                </a:solidFill>
              </a:defRPr>
            </a:pPr>
            <a:r>
              <a:rPr sz="2175" b="1">
                <a:solidFill>
                  <a:srgbClr val="2E8B57"/>
                </a:solidFill>
              </a:rPr>
              <a:t>HIGH</a:t>
            </a:r>
          </a:p>
        </p:txBody>
      </p:sp>
      <p:sp>
        <p:nvSpPr>
          <p:cNvPr id="14" name="">
            <a:extLst xmlns:a="http://schemas.openxmlformats.org/drawingml/2006/main">
              <a:ext uri="{FF2B5EF4-FFF2-40B4-BE49-F238E27FC236}">
                <a16:creationId xmlns:a16="http://schemas.microsoft.com/office/drawing/2014/main" id="{383808CC-5881-4A96-9FF2-A0170E4C3103}"/>
              </a:ext>
            </a:extLst>
          </p:cNvPr>
          <p:cNvSpPr>
            <a:spLocks xmlns:a="http://schemas.openxmlformats.org/drawingml/2006/main" noGrp="1"/>
          </p:cNvSpPr>
          <p:nvPr/>
        </p:nvSpPr>
        <p:spPr>
          <a:xfrm xmlns:a="http://schemas.openxmlformats.org/drawingml/2006/main">
            <a:off x="8620125" y="366712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enter: z &gt; 0 and percentile ≥ 70</a:t>
            </a:r>
          </a:p>
          <a:p xmlns:a="http://schemas.openxmlformats.org/drawingml/2006/main">
            <a:pPr algn="l">
              <a:defRPr sz="1425" b="0">
                <a:solidFill>
                  <a:srgbClr val="52606D"/>
                </a:solidFill>
              </a:defRPr>
            </a:pPr>
            <a:r>
              <a:rPr sz="1425" b="0">
                <a:solidFill>
                  <a:srgbClr val="52606D"/>
                </a:solidFill>
              </a:rPr>
              <a:t>remain: z &gt; 0 and percentile ≥ 60</a:t>
            </a:r>
          </a:p>
        </p:txBody>
      </p:sp>
      <p:sp>
        <p:nvSpPr>
          <p:cNvPr id="15" name="">
            <a:extLst xmlns:a="http://schemas.openxmlformats.org/drawingml/2006/main">
              <a:ext uri="{FF2B5EF4-FFF2-40B4-BE49-F238E27FC236}">
                <a16:creationId xmlns:a16="http://schemas.microsoft.com/office/drawing/2014/main" id="{777B253B-EC62-4CB8-B1BE-D41986691A25}"/>
              </a:ext>
            </a:extLst>
          </p:cNvPr>
          <p:cNvSpPr>
            <a:spLocks xmlns:a="http://schemas.openxmlformats.org/drawingml/2006/main" noGrp="1"/>
          </p:cNvSpPr>
          <p:nvPr/>
        </p:nvSpPr>
        <p:spPr>
          <a:xfrm xmlns:a="http://schemas.openxmlformats.org/drawingml/2006/main">
            <a:off x="1238250" y="5286375"/>
            <a:ext cx="9715500" cy="6667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A75F71-6628-4F4B-91DB-250E7F5DE33E}"/>
              </a:ext>
            </a:extLst>
          </p:cNvPr>
          <p:cNvSpPr>
            <a:spLocks xmlns:a="http://schemas.openxmlformats.org/drawingml/2006/main" noGrp="1"/>
          </p:cNvSpPr>
          <p:nvPr/>
        </p:nvSpPr>
        <p:spPr>
          <a:xfrm xmlns:a="http://schemas.openxmlformats.org/drawingml/2006/main">
            <a:off x="1571625" y="5486400"/>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3D8DFF"/>
                </a:solidFill>
              </a:defRPr>
            </a:pPr>
            <a:r>
              <a:rPr sz="1425" b="1">
                <a:solidFill>
                  <a:srgbClr val="3D8DFF"/>
                </a:solidFill>
              </a:rPr>
              <a:t>p-values were reported for interpretation, never used as a capital gate. Early observations remained NA when the full causal history was unavailable.</a:t>
            </a:r>
          </a:p>
        </p:txBody>
      </p:sp>
    </p:spTree>
    <p:extLst>
      <p:ext uri="{BB962C8B-B14F-4D97-AF65-F5344CB8AC3E}">
        <p14:creationId xmlns:p14="http://schemas.microsoft.com/office/powerpoint/2010/main" val="2118655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9794A88-A5DB-4699-8C31-AA83AB5285D9}"/>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STAGE A · CALIBRATION</a:t>
            </a:r>
          </a:p>
        </p:txBody>
      </p:sp>
      <p:sp>
        <p:nvSpPr>
          <p:cNvPr id="2" name="">
            <a:extLst xmlns:a="http://schemas.openxmlformats.org/drawingml/2006/main">
              <a:ext uri="{FF2B5EF4-FFF2-40B4-BE49-F238E27FC236}">
                <a16:creationId xmlns:a16="http://schemas.microsoft.com/office/drawing/2014/main" id="{859F90BC-C48C-470B-B1DF-A79367AB35ED}"/>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Synthetic processes behaved in the required order</a:t>
            </a:r>
          </a:p>
        </p:txBody>
      </p:sp>
      <p:sp>
        <p:nvSpPr>
          <p:cNvPr id="3" name="">
            <a:extLst xmlns:a="http://schemas.openxmlformats.org/drawingml/2006/main">
              <a:ext uri="{FF2B5EF4-FFF2-40B4-BE49-F238E27FC236}">
                <a16:creationId xmlns:a16="http://schemas.microsoft.com/office/drawing/2014/main" id="{45BEA4E4-D471-441E-BDCD-54C8F08F739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5</a:t>
            </a:r>
          </a:p>
        </p:txBody>
      </p:sp>
      <p:sp>
        <p:nvSpPr>
          <p:cNvPr id="4" name="">
            <a:extLst xmlns:a="http://schemas.openxmlformats.org/drawingml/2006/main">
              <a:ext uri="{FF2B5EF4-FFF2-40B4-BE49-F238E27FC236}">
                <a16:creationId xmlns:a16="http://schemas.microsoft.com/office/drawing/2014/main" id="{753FF95C-3937-4AC2-B315-02CB7909B999}"/>
              </a:ext>
            </a:extLst>
          </p:cNvPr>
          <p:cNvSpPr>
            <a:spLocks xmlns:a="http://schemas.openxmlformats.org/drawingml/2006/main" noGrp="1"/>
          </p:cNvSpPr>
          <p:nvPr/>
        </p:nvSpPr>
        <p:spPr>
          <a:xfrm xmlns:a="http://schemas.openxmlformats.org/drawingml/2006/main">
            <a:off x="428625" y="1333500"/>
            <a:ext cx="7524750"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4d32356c06b4941"/>
          <a:stretch xmlns:a="http://schemas.openxmlformats.org/drawingml/2006/main"/>
        </p:blipFill>
        <p:spPr>
          <a:xfrm xmlns:a="http://schemas.openxmlformats.org/drawingml/2006/main">
            <a:off x="428625" y="1624542"/>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A983AB-0C1C-45C5-8A24-AE293950C1BC}"/>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077034E-EEC2-4EE0-B6DA-DEAFEAFC471E}"/>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0.779</a:t>
            </a:r>
          </a:p>
        </p:txBody>
      </p:sp>
      <p:sp>
        <p:nvSpPr>
          <p:cNvPr id="8" name="">
            <a:extLst xmlns:a="http://schemas.openxmlformats.org/drawingml/2006/main">
              <a:ext uri="{FF2B5EF4-FFF2-40B4-BE49-F238E27FC236}">
                <a16:creationId xmlns:a16="http://schemas.microsoft.com/office/drawing/2014/main" id="{CB88F512-DF7E-4CDB-BDB0-A2553E1D9B37}"/>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AR− median VR(5)</a:t>
            </a:r>
          </a:p>
        </p:txBody>
      </p:sp>
      <p:sp>
        <p:nvSpPr>
          <p:cNvPr id="9" name="">
            <a:extLst xmlns:a="http://schemas.openxmlformats.org/drawingml/2006/main">
              <a:ext uri="{FF2B5EF4-FFF2-40B4-BE49-F238E27FC236}">
                <a16:creationId xmlns:a16="http://schemas.microsoft.com/office/drawing/2014/main" id="{66E84F17-3F99-48D1-8FB3-025B812B6896}"/>
              </a:ext>
            </a:extLst>
          </p:cNvPr>
          <p:cNvSpPr>
            <a:spLocks xmlns:a="http://schemas.openxmlformats.org/drawingml/2006/main" noGrp="1"/>
          </p:cNvSpPr>
          <p:nvPr/>
        </p:nvSpPr>
        <p:spPr>
          <a:xfrm xmlns:a="http://schemas.openxmlformats.org/drawingml/2006/main">
            <a:off x="8191500" y="2647950"/>
            <a:ext cx="2857500" cy="10668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A61EE1-6256-45FB-8431-EF0F228AD51C}"/>
              </a:ext>
            </a:extLst>
          </p:cNvPr>
          <p:cNvSpPr>
            <a:spLocks xmlns:a="http://schemas.openxmlformats.org/drawingml/2006/main" noGrp="1"/>
          </p:cNvSpPr>
          <p:nvPr/>
        </p:nvSpPr>
        <p:spPr>
          <a:xfrm xmlns:a="http://schemas.openxmlformats.org/drawingml/2006/main">
            <a:off x="842010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324D"/>
                </a:solidFill>
              </a:defRPr>
            </a:pPr>
            <a:r>
              <a:rPr sz="2325" b="1">
                <a:solidFill>
                  <a:srgbClr val="17324D"/>
                </a:solidFill>
              </a:rPr>
              <a:t>1.000 / 0.993</a:t>
            </a:r>
          </a:p>
        </p:txBody>
      </p:sp>
      <p:sp>
        <p:nvSpPr>
          <p:cNvPr id="11" name="">
            <a:extLst xmlns:a="http://schemas.openxmlformats.org/drawingml/2006/main">
              <a:ext uri="{FF2B5EF4-FFF2-40B4-BE49-F238E27FC236}">
                <a16:creationId xmlns:a16="http://schemas.microsoft.com/office/drawing/2014/main" id="{6F412DC5-E084-4B9D-B192-FAB536DABEEF}"/>
              </a:ext>
            </a:extLst>
          </p:cNvPr>
          <p:cNvSpPr>
            <a:spLocks xmlns:a="http://schemas.openxmlformats.org/drawingml/2006/main" noGrp="1"/>
          </p:cNvSpPr>
          <p:nvPr/>
        </p:nvSpPr>
        <p:spPr>
          <a:xfrm xmlns:a="http://schemas.openxmlformats.org/drawingml/2006/main">
            <a:off x="842010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IID / hetero-IID median</a:t>
            </a:r>
          </a:p>
        </p:txBody>
      </p:sp>
      <p:sp>
        <p:nvSpPr>
          <p:cNvPr id="12" name="">
            <a:extLst xmlns:a="http://schemas.openxmlformats.org/drawingml/2006/main">
              <a:ext uri="{FF2B5EF4-FFF2-40B4-BE49-F238E27FC236}">
                <a16:creationId xmlns:a16="http://schemas.microsoft.com/office/drawing/2014/main" id="{E2E420C9-5191-4A9D-8601-89F69C241C5D}"/>
              </a:ext>
            </a:extLst>
          </p:cNvPr>
          <p:cNvSpPr>
            <a:spLocks xmlns:a="http://schemas.openxmlformats.org/drawingml/2006/main" noGrp="1"/>
          </p:cNvSpPr>
          <p:nvPr/>
        </p:nvSpPr>
        <p:spPr>
          <a:xfrm xmlns:a="http://schemas.openxmlformats.org/drawingml/2006/main">
            <a:off x="8191500" y="38671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A8BFCF-0E74-4FD5-B611-D61BC41524D4}"/>
              </a:ext>
            </a:extLst>
          </p:cNvPr>
          <p:cNvSpPr>
            <a:spLocks xmlns:a="http://schemas.openxmlformats.org/drawingml/2006/main" noGrp="1"/>
          </p:cNvSpPr>
          <p:nvPr/>
        </p:nvSpPr>
        <p:spPr>
          <a:xfrm xmlns:a="http://schemas.openxmlformats.org/drawingml/2006/main">
            <a:off x="842010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1.277</a:t>
            </a:r>
          </a:p>
        </p:txBody>
      </p:sp>
      <p:sp>
        <p:nvSpPr>
          <p:cNvPr id="14" name="">
            <a:extLst xmlns:a="http://schemas.openxmlformats.org/drawingml/2006/main">
              <a:ext uri="{FF2B5EF4-FFF2-40B4-BE49-F238E27FC236}">
                <a16:creationId xmlns:a16="http://schemas.microsoft.com/office/drawing/2014/main" id="{80905F9A-E34A-4D6D-8E92-DE10A451EA21}"/>
              </a:ext>
            </a:extLst>
          </p:cNvPr>
          <p:cNvSpPr>
            <a:spLocks xmlns:a="http://schemas.openxmlformats.org/drawingml/2006/main" noGrp="1"/>
          </p:cNvSpPr>
          <p:nvPr/>
        </p:nvSpPr>
        <p:spPr>
          <a:xfrm xmlns:a="http://schemas.openxmlformats.org/drawingml/2006/main">
            <a:off x="842010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AR+ median VR(5)</a:t>
            </a:r>
          </a:p>
        </p:txBody>
      </p:sp>
      <p:sp>
        <p:nvSpPr>
          <p:cNvPr id="15" name="">
            <a:extLst xmlns:a="http://schemas.openxmlformats.org/drawingml/2006/main">
              <a:ext uri="{FF2B5EF4-FFF2-40B4-BE49-F238E27FC236}">
                <a16:creationId xmlns:a16="http://schemas.microsoft.com/office/drawing/2014/main" id="{1CAE0465-34B8-4B8A-A9F1-4DC3F4C3D770}"/>
              </a:ext>
            </a:extLst>
          </p:cNvPr>
          <p:cNvSpPr>
            <a:spLocks xmlns:a="http://schemas.openxmlformats.org/drawingml/2006/main" noGrp="1"/>
          </p:cNvSpPr>
          <p:nvPr/>
        </p:nvSpPr>
        <p:spPr>
          <a:xfrm xmlns:a="http://schemas.openxmlformats.org/drawingml/2006/main">
            <a:off x="7953375" y="5286375"/>
            <a:ext cx="371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3D8DFF"/>
                </a:solidFill>
              </a:defRPr>
            </a:pPr>
            <a:r>
              <a:rPr sz="1350" b="1">
                <a:solidFill>
                  <a:srgbClr val="3D8DFF"/>
                </a:solidFill>
              </a:rPr>
              <a:t>Robust null rejection: 4.7% IID · 5.9% hetero-IID</a:t>
            </a:r>
          </a:p>
        </p:txBody>
      </p:sp>
    </p:spTree>
    <p:extLst>
      <p:ext uri="{BB962C8B-B14F-4D97-AF65-F5344CB8AC3E}">
        <p14:creationId xmlns:p14="http://schemas.microsoft.com/office/powerpoint/2010/main" val="1285648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016C99D-19E4-47F7-BDA4-53AEA1E54EDC}"/>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STAGE A · USABILITY</a:t>
            </a:r>
          </a:p>
        </p:txBody>
      </p:sp>
      <p:sp>
        <p:nvSpPr>
          <p:cNvPr id="2" name="">
            <a:extLst xmlns:a="http://schemas.openxmlformats.org/drawingml/2006/main">
              <a:ext uri="{FF2B5EF4-FFF2-40B4-BE49-F238E27FC236}">
                <a16:creationId xmlns:a16="http://schemas.microsoft.com/office/drawing/2014/main" id="{72134A2B-C77C-41DB-9365-0233310EA32C}"/>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real panel produced broad, stable-enough state coverage</a:t>
            </a:r>
          </a:p>
        </p:txBody>
      </p:sp>
      <p:sp>
        <p:nvSpPr>
          <p:cNvPr id="3" name="">
            <a:extLst xmlns:a="http://schemas.openxmlformats.org/drawingml/2006/main">
              <a:ext uri="{FF2B5EF4-FFF2-40B4-BE49-F238E27FC236}">
                <a16:creationId xmlns:a16="http://schemas.microsoft.com/office/drawing/2014/main" id="{46176496-70A6-4B55-A182-186ABF8927D9}"/>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6</a:t>
            </a:r>
          </a:p>
        </p:txBody>
      </p:sp>
      <p:sp>
        <p:nvSpPr>
          <p:cNvPr id="4" name="">
            <a:extLst xmlns:a="http://schemas.openxmlformats.org/drawingml/2006/main">
              <a:ext uri="{FF2B5EF4-FFF2-40B4-BE49-F238E27FC236}">
                <a16:creationId xmlns:a16="http://schemas.microsoft.com/office/drawing/2014/main" id="{3009689A-7749-47F8-B95D-0B3DF1A43722}"/>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27b71216c3e428f"/>
          <a:stretch xmlns:a="http://schemas.openxmlformats.org/drawingml/2006/main"/>
        </p:blipFill>
        <p:spPr>
          <a:xfrm xmlns:a="http://schemas.openxmlformats.org/drawingml/2006/main">
            <a:off x="428625" y="1624542"/>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C85F899-347A-4EE2-8434-AF9DE30590E5}"/>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8494300-C6AD-49DA-9967-A5868897D0F9}"/>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22 / 24</a:t>
            </a:r>
          </a:p>
        </p:txBody>
      </p:sp>
      <p:sp>
        <p:nvSpPr>
          <p:cNvPr id="8" name="">
            <a:extLst xmlns:a="http://schemas.openxmlformats.org/drawingml/2006/main">
              <a:ext uri="{FF2B5EF4-FFF2-40B4-BE49-F238E27FC236}">
                <a16:creationId xmlns:a16="http://schemas.microsoft.com/office/drawing/2014/main" id="{7B89245C-2D16-43C4-B606-C77628C03562}"/>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stocks with ≥5% HIGH and LOW</a:t>
            </a:r>
          </a:p>
        </p:txBody>
      </p:sp>
      <p:sp>
        <p:nvSpPr>
          <p:cNvPr id="9" name="">
            <a:extLst xmlns:a="http://schemas.openxmlformats.org/drawingml/2006/main">
              <a:ext uri="{FF2B5EF4-FFF2-40B4-BE49-F238E27FC236}">
                <a16:creationId xmlns:a16="http://schemas.microsoft.com/office/drawing/2014/main" id="{6D2C525E-AFE1-4AA2-9D8E-C8F65D45716E}"/>
              </a:ext>
            </a:extLst>
          </p:cNvPr>
          <p:cNvSpPr>
            <a:spLocks xmlns:a="http://schemas.openxmlformats.org/drawingml/2006/main" noGrp="1"/>
          </p:cNvSpPr>
          <p:nvPr/>
        </p:nvSpPr>
        <p:spPr>
          <a:xfrm xmlns:a="http://schemas.openxmlformats.org/drawingml/2006/main">
            <a:off x="8191500" y="264795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DC8959-1F97-4D19-8D62-4EA3081D8814}"/>
              </a:ext>
            </a:extLst>
          </p:cNvPr>
          <p:cNvSpPr>
            <a:spLocks xmlns:a="http://schemas.openxmlformats.org/drawingml/2006/main" noGrp="1"/>
          </p:cNvSpPr>
          <p:nvPr/>
        </p:nvSpPr>
        <p:spPr>
          <a:xfrm xmlns:a="http://schemas.openxmlformats.org/drawingml/2006/main">
            <a:off x="842010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37 / 43 / 21%</a:t>
            </a:r>
          </a:p>
        </p:txBody>
      </p:sp>
      <p:sp>
        <p:nvSpPr>
          <p:cNvPr id="11" name="">
            <a:extLst xmlns:a="http://schemas.openxmlformats.org/drawingml/2006/main">
              <a:ext uri="{FF2B5EF4-FFF2-40B4-BE49-F238E27FC236}">
                <a16:creationId xmlns:a16="http://schemas.microsoft.com/office/drawing/2014/main" id="{8B55116A-163A-41C9-B843-96B2FCD116D7}"/>
              </a:ext>
            </a:extLst>
          </p:cNvPr>
          <p:cNvSpPr>
            <a:spLocks xmlns:a="http://schemas.openxmlformats.org/drawingml/2006/main" noGrp="1"/>
          </p:cNvSpPr>
          <p:nvPr/>
        </p:nvSpPr>
        <p:spPr>
          <a:xfrm xmlns:a="http://schemas.openxmlformats.org/drawingml/2006/main">
            <a:off x="842010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LOW / MEDIUM / HIGH</a:t>
            </a:r>
          </a:p>
        </p:txBody>
      </p:sp>
      <p:sp>
        <p:nvSpPr>
          <p:cNvPr id="12" name="">
            <a:extLst xmlns:a="http://schemas.openxmlformats.org/drawingml/2006/main">
              <a:ext uri="{FF2B5EF4-FFF2-40B4-BE49-F238E27FC236}">
                <a16:creationId xmlns:a16="http://schemas.microsoft.com/office/drawing/2014/main" id="{4A00C780-D2EE-416E-B760-E5C67F5248C1}"/>
              </a:ext>
            </a:extLst>
          </p:cNvPr>
          <p:cNvSpPr>
            <a:spLocks xmlns:a="http://schemas.openxmlformats.org/drawingml/2006/main" noGrp="1"/>
          </p:cNvSpPr>
          <p:nvPr/>
        </p:nvSpPr>
        <p:spPr>
          <a:xfrm xmlns:a="http://schemas.openxmlformats.org/drawingml/2006/main">
            <a:off x="8191500" y="38671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7F96238-75E4-41E1-A852-DFD92B256923}"/>
              </a:ext>
            </a:extLst>
          </p:cNvPr>
          <p:cNvSpPr>
            <a:spLocks xmlns:a="http://schemas.openxmlformats.org/drawingml/2006/main" noGrp="1"/>
          </p:cNvSpPr>
          <p:nvPr/>
        </p:nvSpPr>
        <p:spPr>
          <a:xfrm xmlns:a="http://schemas.openxmlformats.org/drawingml/2006/main">
            <a:off x="842010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0</a:t>
            </a:r>
          </a:p>
        </p:txBody>
      </p:sp>
      <p:sp>
        <p:nvSpPr>
          <p:cNvPr id="14" name="">
            <a:extLst xmlns:a="http://schemas.openxmlformats.org/drawingml/2006/main">
              <a:ext uri="{FF2B5EF4-FFF2-40B4-BE49-F238E27FC236}">
                <a16:creationId xmlns:a16="http://schemas.microsoft.com/office/drawing/2014/main" id="{93C0F84E-F0E0-42D0-AE1C-821527991DDD}"/>
              </a:ext>
            </a:extLst>
          </p:cNvPr>
          <p:cNvSpPr>
            <a:spLocks xmlns:a="http://schemas.openxmlformats.org/drawingml/2006/main" noGrp="1"/>
          </p:cNvSpPr>
          <p:nvPr/>
        </p:nvSpPr>
        <p:spPr>
          <a:xfrm xmlns:a="http://schemas.openxmlformats.org/drawingml/2006/main">
            <a:off x="842010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append-invariance difference</a:t>
            </a:r>
          </a:p>
        </p:txBody>
      </p:sp>
      <p:sp>
        <p:nvSpPr>
          <p:cNvPr id="15" name="">
            <a:extLst xmlns:a="http://schemas.openxmlformats.org/drawingml/2006/main">
              <a:ext uri="{FF2B5EF4-FFF2-40B4-BE49-F238E27FC236}">
                <a16:creationId xmlns:a16="http://schemas.microsoft.com/office/drawing/2014/main" id="{C676EC8D-46E1-4728-BAB3-8FB5A2D0F3E3}"/>
              </a:ext>
            </a:extLst>
          </p:cNvPr>
          <p:cNvSpPr>
            <a:spLocks xmlns:a="http://schemas.openxmlformats.org/drawingml/2006/main" noGrp="1"/>
          </p:cNvSpPr>
          <p:nvPr/>
        </p:nvSpPr>
        <p:spPr>
          <a:xfrm xmlns:a="http://schemas.openxmlformats.org/drawingml/2006/main">
            <a:off x="8048625" y="5286375"/>
            <a:ext cx="3571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2E8B57"/>
                </a:solidFill>
              </a:defRPr>
            </a:pPr>
            <a:r>
              <a:rPr sz="1425" b="1">
                <a:solidFill>
                  <a:srgbClr val="2E8B57"/>
                </a:solidFill>
              </a:rPr>
              <a:t>All 7/7 construction gates passed before strategy contact.</a:t>
            </a:r>
          </a:p>
        </p:txBody>
      </p:sp>
    </p:spTree>
    <p:extLst>
      <p:ext uri="{BB962C8B-B14F-4D97-AF65-F5344CB8AC3E}">
        <p14:creationId xmlns:p14="http://schemas.microsoft.com/office/powerpoint/2010/main" val="19011345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A7BC54-31F7-49E7-A151-D4E473FE82F8}"/>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MEASUREMENT TAPES</a:t>
            </a:r>
          </a:p>
        </p:txBody>
      </p:sp>
      <p:sp>
        <p:nvSpPr>
          <p:cNvPr id="2" name="">
            <a:extLst xmlns:a="http://schemas.openxmlformats.org/drawingml/2006/main">
              <a:ext uri="{FF2B5EF4-FFF2-40B4-BE49-F238E27FC236}">
                <a16:creationId xmlns:a16="http://schemas.microsoft.com/office/drawing/2014/main" id="{C611CD55-1B7A-43F1-B979-8325D8B44F54}"/>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Variance-ratio states describe completed return dependence</a:t>
            </a:r>
          </a:p>
        </p:txBody>
      </p:sp>
      <p:sp>
        <p:nvSpPr>
          <p:cNvPr id="3" name="">
            <a:extLst xmlns:a="http://schemas.openxmlformats.org/drawingml/2006/main">
              <a:ext uri="{FF2B5EF4-FFF2-40B4-BE49-F238E27FC236}">
                <a16:creationId xmlns:a16="http://schemas.microsoft.com/office/drawing/2014/main" id="{81E416EB-B8DB-4CB9-A3A2-53F91B472B6E}"/>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7</a:t>
            </a:r>
          </a:p>
        </p:txBody>
      </p:sp>
      <p:sp>
        <p:nvSpPr>
          <p:cNvPr id="4" name="">
            <a:extLst xmlns:a="http://schemas.openxmlformats.org/drawingml/2006/main">
              <a:ext uri="{FF2B5EF4-FFF2-40B4-BE49-F238E27FC236}">
                <a16:creationId xmlns:a16="http://schemas.microsoft.com/office/drawing/2014/main" id="{2F0A49E0-7ECD-49AB-9179-B49B70D8DB9F}"/>
              </a:ext>
            </a:extLst>
          </p:cNvPr>
          <p:cNvSpPr>
            <a:spLocks xmlns:a="http://schemas.openxmlformats.org/drawingml/2006/main" noGrp="1"/>
          </p:cNvSpPr>
          <p:nvPr/>
        </p:nvSpPr>
        <p:spPr>
          <a:xfrm xmlns:a="http://schemas.openxmlformats.org/drawingml/2006/main">
            <a:off x="523875" y="1190625"/>
            <a:ext cx="11144250" cy="509587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5db3077cff94204"/>
          <a:stretch xmlns:a="http://schemas.openxmlformats.org/drawingml/2006/main"/>
        </p:blipFill>
        <p:spPr>
          <a:xfrm xmlns:a="http://schemas.openxmlformats.org/drawingml/2006/main">
            <a:off x="3426732" y="1190625"/>
            <a:ext cx="5338536" cy="5095875"/>
          </a:xfrm>
          <a:prstGeom xmlns:a="http://schemas.openxmlformats.org/drawingml/2006/main" prst="rect">
            <a:avLst/>
          </a:prstGeom>
        </p:spPr>
      </p:pic>
    </p:spTree>
    <p:extLst>
      <p:ext uri="{BB962C8B-B14F-4D97-AF65-F5344CB8AC3E}">
        <p14:creationId xmlns:p14="http://schemas.microsoft.com/office/powerpoint/2010/main" val="1570390102"/>
      </p:ext>
    </p:extLst>
  </p:cSld>
</p:sld>
</file>

<file path=ppt/slides/slide8.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62BF23-F53B-48D6-BAE2-5335795B5451}"/>
              </a:ext>
            </a:extLst>
          </p:cNvPr>
          <p:cNvSpPr>
            <a:spLocks xmlns:a="http://schemas.openxmlformats.org/drawingml/2006/main" noGrp="1"/>
          </p:cNvSpPr>
          <p:nvPr/>
        </p:nvSpPr>
        <p:spPr>
          <a:xfrm xmlns:a="http://schemas.openxmlformats.org/drawingml/2006/main">
            <a:off x="476250" y="6858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defRPr>
            </a:pPr>
            <a:r>
              <a:rPr sz="1350" b="1">
                <a:solidFill>
                  <a:srgbClr val="3D8DFF"/>
                </a:solidFill>
              </a:rPr>
              <a:t>STAGE A PASSED</a:t>
            </a:r>
          </a:p>
        </p:txBody>
      </p:sp>
      <p:sp>
        <p:nvSpPr>
          <p:cNvPr id="2" name="">
            <a:extLst xmlns:a="http://schemas.openxmlformats.org/drawingml/2006/main">
              <a:ext uri="{FF2B5EF4-FFF2-40B4-BE49-F238E27FC236}">
                <a16:creationId xmlns:a16="http://schemas.microsoft.com/office/drawing/2014/main" id="{33A1EB96-7BED-495D-A20D-25468D10B080}"/>
              </a:ext>
            </a:extLst>
          </p:cNvPr>
          <p:cNvSpPr>
            <a:spLocks xmlns:a="http://schemas.openxmlformats.org/drawingml/2006/main" noGrp="1"/>
          </p:cNvSpPr>
          <p:nvPr/>
        </p:nvSpPr>
        <p:spPr>
          <a:xfrm xmlns:a="http://schemas.openxmlformats.org/drawingml/2006/main">
            <a:off x="809625" y="1714500"/>
            <a:ext cx="8096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FFFFFF"/>
                </a:solidFill>
              </a:defRPr>
            </a:pPr>
            <a:r>
              <a:rPr sz="4350" b="1">
                <a:solidFill>
                  <a:srgbClr val="FFFFFF"/>
                </a:solidFill>
              </a:rPr>
              <a:t>A coherent measurement</a:t>
            </a:r>
          </a:p>
          <a:p xmlns:a="http://schemas.openxmlformats.org/drawingml/2006/main">
            <a:pPr algn="l">
              <a:defRPr sz="4350" b="1">
                <a:solidFill>
                  <a:srgbClr val="FFFFFF"/>
                </a:solidFill>
              </a:defRPr>
            </a:pPr>
            <a:r>
              <a:rPr sz="4350" b="1">
                <a:solidFill>
                  <a:srgbClr val="FFFFFF"/>
                </a:solidFill>
              </a:rPr>
              <a:t>still has to earn the right</a:t>
            </a:r>
          </a:p>
          <a:p xmlns:a="http://schemas.openxmlformats.org/drawingml/2006/main">
            <a:pPr algn="l">
              <a:defRPr sz="4350" b="1">
                <a:solidFill>
                  <a:srgbClr val="FFFFFF"/>
                </a:solidFill>
              </a:defRPr>
            </a:pPr>
            <a:r>
              <a:rPr sz="4350" b="1">
                <a:solidFill>
                  <a:srgbClr val="FFFFFF"/>
                </a:solidFill>
              </a:rPr>
              <a:t>to gate a strategy</a:t>
            </a:r>
          </a:p>
        </p:txBody>
      </p:sp>
      <p:sp>
        <p:nvSpPr>
          <p:cNvPr id="3" name="">
            <a:extLst xmlns:a="http://schemas.openxmlformats.org/drawingml/2006/main">
              <a:ext uri="{FF2B5EF4-FFF2-40B4-BE49-F238E27FC236}">
                <a16:creationId xmlns:a16="http://schemas.microsoft.com/office/drawing/2014/main" id="{044519BE-A5AE-4DCE-8200-6D9998F11047}"/>
              </a:ext>
            </a:extLst>
          </p:cNvPr>
          <p:cNvSpPr>
            <a:spLocks xmlns:a="http://schemas.openxmlformats.org/drawingml/2006/main" noGrp="1"/>
          </p:cNvSpPr>
          <p:nvPr/>
        </p:nvSpPr>
        <p:spPr>
          <a:xfrm xmlns:a="http://schemas.openxmlformats.org/drawingml/2006/main">
            <a:off x="809625" y="4953000"/>
            <a:ext cx="91440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B5E33F-DB70-4AA1-A5BF-BA3EE96C7FD4}"/>
              </a:ext>
            </a:extLst>
          </p:cNvPr>
          <p:cNvSpPr>
            <a:spLocks xmlns:a="http://schemas.openxmlformats.org/drawingml/2006/main" noGrp="1"/>
          </p:cNvSpPr>
          <p:nvPr/>
        </p:nvSpPr>
        <p:spPr>
          <a:xfrm xmlns:a="http://schemas.openxmlformats.org/drawingml/2006/main">
            <a:off x="809625" y="528637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DCEBFF"/>
                </a:solidFill>
              </a:defRPr>
            </a:pPr>
            <a:r>
              <a:rPr sz="1800" b="1">
                <a:solidFill>
                  <a:srgbClr val="DCEBFF"/>
                </a:solidFill>
              </a:rPr>
              <a:t>Next question: did HIGH improve fresh SMA8/14 entries?</a:t>
            </a:r>
          </a:p>
        </p:txBody>
      </p:sp>
      <p:sp>
        <p:nvSpPr>
          <p:cNvPr id="5" name="">
            <a:extLst xmlns:a="http://schemas.openxmlformats.org/drawingml/2006/main">
              <a:ext uri="{FF2B5EF4-FFF2-40B4-BE49-F238E27FC236}">
                <a16:creationId xmlns:a16="http://schemas.microsoft.com/office/drawing/2014/main" id="{4894010C-8F10-478D-B699-328ED0724251}"/>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DCEBFF"/>
                </a:solidFill>
              </a:defRPr>
            </a:pPr>
            <a:r>
              <a:rPr sz="825" b="0">
                <a:solidFill>
                  <a:srgbClr val="DCEBFF"/>
                </a:solidFill>
              </a:rPr>
              <a:t>8</a:t>
            </a:r>
          </a:p>
        </p:txBody>
      </p:sp>
    </p:spTree>
    <p:extLst>
      <p:ext uri="{BB962C8B-B14F-4D97-AF65-F5344CB8AC3E}">
        <p14:creationId xmlns:p14="http://schemas.microsoft.com/office/powerpoint/2010/main" val="19607535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374CB5-6707-48F0-A2D7-5B1FCB70FB2D}"/>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STAGE B · POLICY</a:t>
            </a:r>
          </a:p>
        </p:txBody>
      </p:sp>
      <p:sp>
        <p:nvSpPr>
          <p:cNvPr id="2" name="">
            <a:extLst xmlns:a="http://schemas.openxmlformats.org/drawingml/2006/main">
              <a:ext uri="{FF2B5EF4-FFF2-40B4-BE49-F238E27FC236}">
                <a16:creationId xmlns:a16="http://schemas.microsoft.com/office/drawing/2014/main" id="{E9833D7B-378A-40B7-815F-863D3348E137}"/>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Only fresh entries changed; the SMA parent remained frozen</a:t>
            </a:r>
          </a:p>
        </p:txBody>
      </p:sp>
      <p:sp>
        <p:nvSpPr>
          <p:cNvPr id="3" name="">
            <a:extLst xmlns:a="http://schemas.openxmlformats.org/drawingml/2006/main">
              <a:ext uri="{FF2B5EF4-FFF2-40B4-BE49-F238E27FC236}">
                <a16:creationId xmlns:a16="http://schemas.microsoft.com/office/drawing/2014/main" id="{9ED75EF3-F447-49AC-BA8B-EF4066F7EAE0}"/>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9</a:t>
            </a:r>
          </a:p>
        </p:txBody>
      </p:sp>
      <p:sp>
        <p:nvSpPr>
          <p:cNvPr id="4" name="">
            <a:extLst xmlns:a="http://schemas.openxmlformats.org/drawingml/2006/main">
              <a:ext uri="{FF2B5EF4-FFF2-40B4-BE49-F238E27FC236}">
                <a16:creationId xmlns:a16="http://schemas.microsoft.com/office/drawing/2014/main" id="{5F40C04E-423E-45A2-A200-ED8D99C35285}"/>
              </a:ext>
            </a:extLst>
          </p:cNvPr>
          <p:cNvSpPr>
            <a:spLocks xmlns:a="http://schemas.openxmlformats.org/drawingml/2006/main" noGrp="1"/>
          </p:cNvSpPr>
          <p:nvPr/>
        </p:nvSpPr>
        <p:spPr>
          <a:xfrm xmlns:a="http://schemas.openxmlformats.org/drawingml/2006/main">
            <a:off x="428625" y="1333500"/>
            <a:ext cx="7239000"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ff6fdcf71734ad3"/>
          <a:stretch xmlns:a="http://schemas.openxmlformats.org/drawingml/2006/main"/>
        </p:blipFill>
        <p:spPr>
          <a:xfrm xmlns:a="http://schemas.openxmlformats.org/drawingml/2006/main">
            <a:off x="428625" y="1703917"/>
            <a:ext cx="7239000" cy="402166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AE50C6-2C01-4CD4-B6A1-ACCED906D8CB}"/>
              </a:ext>
            </a:extLst>
          </p:cNvPr>
          <p:cNvSpPr>
            <a:spLocks xmlns:a="http://schemas.openxmlformats.org/drawingml/2006/main" noGrp="1"/>
          </p:cNvSpPr>
          <p:nvPr/>
        </p:nvSpPr>
        <p:spPr>
          <a:xfrm xmlns:a="http://schemas.openxmlformats.org/drawingml/2006/main">
            <a:off x="8096250" y="1428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Frozen mechanics</a:t>
            </a:r>
          </a:p>
        </p:txBody>
      </p:sp>
      <p:sp>
        <p:nvSpPr>
          <p:cNvPr id="7" name="">
            <a:extLst xmlns:a="http://schemas.openxmlformats.org/drawingml/2006/main">
              <a:ext uri="{FF2B5EF4-FFF2-40B4-BE49-F238E27FC236}">
                <a16:creationId xmlns:a16="http://schemas.microsoft.com/office/drawing/2014/main" id="{CAFDD53B-BD88-45CF-A6FB-DEA8C4E21507}"/>
              </a:ext>
            </a:extLst>
          </p:cNvPr>
          <p:cNvSpPr>
            <a:spLocks xmlns:a="http://schemas.openxmlformats.org/drawingml/2006/main" noGrp="1"/>
          </p:cNvSpPr>
          <p:nvPr/>
        </p:nvSpPr>
        <p:spPr>
          <a:xfrm xmlns:a="http://schemas.openxmlformats.org/drawingml/2006/main">
            <a:off x="8096250" y="21240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402432-9CE4-47C1-B98F-8DA6E0AB0249}"/>
              </a:ext>
            </a:extLst>
          </p:cNvPr>
          <p:cNvSpPr>
            <a:spLocks xmlns:a="http://schemas.openxmlformats.org/drawingml/2006/main" noGrp="1"/>
          </p:cNvSpPr>
          <p:nvPr/>
        </p:nvSpPr>
        <p:spPr>
          <a:xfrm xmlns:a="http://schemas.openxmlformats.org/drawingml/2006/main">
            <a:off x="8315325" y="2047875"/>
            <a:ext cx="31146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Fresh SMA8 &gt; SMA14 cross at close</a:t>
            </a:r>
          </a:p>
        </p:txBody>
      </p:sp>
      <p:sp>
        <p:nvSpPr>
          <p:cNvPr id="9" name="">
            <a:extLst xmlns:a="http://schemas.openxmlformats.org/drawingml/2006/main">
              <a:ext uri="{FF2B5EF4-FFF2-40B4-BE49-F238E27FC236}">
                <a16:creationId xmlns:a16="http://schemas.microsoft.com/office/drawing/2014/main" id="{512C76AC-342A-4A0F-BDD2-05DAF8E91A7C}"/>
              </a:ext>
            </a:extLst>
          </p:cNvPr>
          <p:cNvSpPr>
            <a:spLocks xmlns:a="http://schemas.openxmlformats.org/drawingml/2006/main" noGrp="1"/>
          </p:cNvSpPr>
          <p:nvPr/>
        </p:nvSpPr>
        <p:spPr>
          <a:xfrm xmlns:a="http://schemas.openxmlformats.org/drawingml/2006/main">
            <a:off x="8096250" y="25908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D649E5-1A6A-45D6-A46F-AF965AB1664F}"/>
              </a:ext>
            </a:extLst>
          </p:cNvPr>
          <p:cNvSpPr>
            <a:spLocks xmlns:a="http://schemas.openxmlformats.org/drawingml/2006/main" noGrp="1"/>
          </p:cNvSpPr>
          <p:nvPr/>
        </p:nvSpPr>
        <p:spPr>
          <a:xfrm xmlns:a="http://schemas.openxmlformats.org/drawingml/2006/main">
            <a:off x="8315325" y="2514600"/>
            <a:ext cx="31146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Next-open long entry at 1x only if state = HIGH</a:t>
            </a:r>
          </a:p>
        </p:txBody>
      </p:sp>
      <p:sp>
        <p:nvSpPr>
          <p:cNvPr id="11" name="">
            <a:extLst xmlns:a="http://schemas.openxmlformats.org/drawingml/2006/main">
              <a:ext uri="{FF2B5EF4-FFF2-40B4-BE49-F238E27FC236}">
                <a16:creationId xmlns:a16="http://schemas.microsoft.com/office/drawing/2014/main" id="{C9D25540-0980-4A6A-B663-0F3C272B13A9}"/>
              </a:ext>
            </a:extLst>
          </p:cNvPr>
          <p:cNvSpPr>
            <a:spLocks xmlns:a="http://schemas.openxmlformats.org/drawingml/2006/main" noGrp="1"/>
          </p:cNvSpPr>
          <p:nvPr/>
        </p:nvSpPr>
        <p:spPr>
          <a:xfrm xmlns:a="http://schemas.openxmlformats.org/drawingml/2006/main">
            <a:off x="8096250" y="30575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CEA3262-9794-4160-8FF3-A33BD9FC8817}"/>
              </a:ext>
            </a:extLst>
          </p:cNvPr>
          <p:cNvSpPr>
            <a:spLocks xmlns:a="http://schemas.openxmlformats.org/drawingml/2006/main" noGrp="1"/>
          </p:cNvSpPr>
          <p:nvPr/>
        </p:nvSpPr>
        <p:spPr>
          <a:xfrm xmlns:a="http://schemas.openxmlformats.org/drawingml/2006/main">
            <a:off x="8315325" y="2981325"/>
            <a:ext cx="31146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Skipped signals are not deferred</a:t>
            </a:r>
          </a:p>
        </p:txBody>
      </p:sp>
      <p:sp>
        <p:nvSpPr>
          <p:cNvPr id="13" name="">
            <a:extLst xmlns:a="http://schemas.openxmlformats.org/drawingml/2006/main">
              <a:ext uri="{FF2B5EF4-FFF2-40B4-BE49-F238E27FC236}">
                <a16:creationId xmlns:a16="http://schemas.microsoft.com/office/drawing/2014/main" id="{B60685A0-B424-475E-92B6-1198314F9288}"/>
              </a:ext>
            </a:extLst>
          </p:cNvPr>
          <p:cNvSpPr>
            <a:spLocks xmlns:a="http://schemas.openxmlformats.org/drawingml/2006/main" noGrp="1"/>
          </p:cNvSpPr>
          <p:nvPr/>
        </p:nvSpPr>
        <p:spPr>
          <a:xfrm xmlns:a="http://schemas.openxmlformats.org/drawingml/2006/main">
            <a:off x="8096250" y="35242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5DDF37B-5A1A-4A5C-81CA-5B9105E8FA6D}"/>
              </a:ext>
            </a:extLst>
          </p:cNvPr>
          <p:cNvSpPr>
            <a:spLocks xmlns:a="http://schemas.openxmlformats.org/drawingml/2006/main" noGrp="1"/>
          </p:cNvSpPr>
          <p:nvPr/>
        </p:nvSpPr>
        <p:spPr>
          <a:xfrm xmlns:a="http://schemas.openxmlformats.org/drawingml/2006/main">
            <a:off x="8315325" y="3448050"/>
            <a:ext cx="31146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Exit only on parent SMA8 &lt; SMA14 cross</a:t>
            </a:r>
          </a:p>
        </p:txBody>
      </p:sp>
      <p:sp>
        <p:nvSpPr>
          <p:cNvPr id="15" name="">
            <a:extLst xmlns:a="http://schemas.openxmlformats.org/drawingml/2006/main">
              <a:ext uri="{FF2B5EF4-FFF2-40B4-BE49-F238E27FC236}">
                <a16:creationId xmlns:a16="http://schemas.microsoft.com/office/drawing/2014/main" id="{C399CF31-790A-4532-9539-152A9F113AAA}"/>
              </a:ext>
            </a:extLst>
          </p:cNvPr>
          <p:cNvSpPr>
            <a:spLocks xmlns:a="http://schemas.openxmlformats.org/drawingml/2006/main" noGrp="1"/>
          </p:cNvSpPr>
          <p:nvPr/>
        </p:nvSpPr>
        <p:spPr>
          <a:xfrm xmlns:a="http://schemas.openxmlformats.org/drawingml/2006/main">
            <a:off x="8096250" y="39909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B2966FF-F5C3-478F-9C89-A8FF2FB0E744}"/>
              </a:ext>
            </a:extLst>
          </p:cNvPr>
          <p:cNvSpPr>
            <a:spLocks xmlns:a="http://schemas.openxmlformats.org/drawingml/2006/main" noGrp="1"/>
          </p:cNvSpPr>
          <p:nvPr/>
        </p:nvSpPr>
        <p:spPr>
          <a:xfrm xmlns:a="http://schemas.openxmlformats.org/drawingml/2006/main">
            <a:off x="8315325" y="3914775"/>
            <a:ext cx="31146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5 bp per side primary; 10 bp stress</a:t>
            </a:r>
          </a:p>
        </p:txBody>
      </p:sp>
      <p:sp>
        <p:nvSpPr>
          <p:cNvPr id="17" name="">
            <a:extLst xmlns:a="http://schemas.openxmlformats.org/drawingml/2006/main">
              <a:ext uri="{FF2B5EF4-FFF2-40B4-BE49-F238E27FC236}">
                <a16:creationId xmlns:a16="http://schemas.microsoft.com/office/drawing/2014/main" id="{9B9FDBDC-554E-4E11-A95B-1DDB9A22DB43}"/>
              </a:ext>
            </a:extLst>
          </p:cNvPr>
          <p:cNvSpPr>
            <a:spLocks xmlns:a="http://schemas.openxmlformats.org/drawingml/2006/main" noGrp="1"/>
          </p:cNvSpPr>
          <p:nvPr/>
        </p:nvSpPr>
        <p:spPr>
          <a:xfrm xmlns:a="http://schemas.openxmlformats.org/drawingml/2006/main">
            <a:off x="8096250" y="44577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3885841-A15B-41CE-97E2-942C91C4FC51}"/>
              </a:ext>
            </a:extLst>
          </p:cNvPr>
          <p:cNvSpPr>
            <a:spLocks xmlns:a="http://schemas.openxmlformats.org/drawingml/2006/main" noGrp="1"/>
          </p:cNvSpPr>
          <p:nvPr/>
        </p:nvSpPr>
        <p:spPr>
          <a:xfrm xmlns:a="http://schemas.openxmlformats.org/drawingml/2006/main">
            <a:off x="8315325" y="4381500"/>
            <a:ext cx="31146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Annual cell reset; profits compound within the cell</a:t>
            </a:r>
          </a:p>
        </p:txBody>
      </p:sp>
      <p:sp>
        <p:nvSpPr>
          <p:cNvPr id="19" name="">
            <a:extLst xmlns:a="http://schemas.openxmlformats.org/drawingml/2006/main">
              <a:ext uri="{FF2B5EF4-FFF2-40B4-BE49-F238E27FC236}">
                <a16:creationId xmlns:a16="http://schemas.microsoft.com/office/drawing/2014/main" id="{88568C51-5A3F-47DF-A7D4-DCEF75EA5878}"/>
              </a:ext>
            </a:extLst>
          </p:cNvPr>
          <p:cNvSpPr>
            <a:spLocks xmlns:a="http://schemas.openxmlformats.org/drawingml/2006/main" noGrp="1"/>
          </p:cNvSpPr>
          <p:nvPr/>
        </p:nvSpPr>
        <p:spPr>
          <a:xfrm xmlns:a="http://schemas.openxmlformats.org/drawingml/2006/main">
            <a:off x="7953375" y="5286375"/>
            <a:ext cx="3619500" cy="685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DB0185A-4E06-42DC-9AA0-6EB3D6954E26}"/>
              </a:ext>
            </a:extLst>
          </p:cNvPr>
          <p:cNvSpPr>
            <a:spLocks xmlns:a="http://schemas.openxmlformats.org/drawingml/2006/main" noGrp="1"/>
          </p:cNvSpPr>
          <p:nvPr/>
        </p:nvSpPr>
        <p:spPr>
          <a:xfrm xmlns:a="http://schemas.openxmlformats.org/drawingml/2006/main">
            <a:off x="8239125" y="54673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2A65A"/>
                </a:solidFill>
              </a:defRPr>
            </a:pPr>
            <a:r>
              <a:rPr sz="1275" b="1">
                <a:solidFill>
                  <a:srgbClr val="F2A65A"/>
                </a:solidFill>
              </a:rPr>
              <a:t>This is a hard entry-permission test, not a continuous position-sizing overlay.</a:t>
            </a:r>
          </a:p>
        </p:txBody>
      </p:sp>
    </p:spTree>
    <p:extLst>
      <p:ext uri="{BB962C8B-B14F-4D97-AF65-F5344CB8AC3E}">
        <p14:creationId xmlns:p14="http://schemas.microsoft.com/office/powerpoint/2010/main" val="11005477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F4F9AA0-E07D-4D3C-B778-59F368ADDF82}"/>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STAGE B · HEADLINE OUTCOME</a:t>
            </a:r>
          </a:p>
        </p:txBody>
      </p:sp>
      <p:sp>
        <p:nvSpPr>
          <p:cNvPr id="2" name="">
            <a:extLst xmlns:a="http://schemas.openxmlformats.org/drawingml/2006/main">
              <a:ext uri="{FF2B5EF4-FFF2-40B4-BE49-F238E27FC236}">
                <a16:creationId xmlns:a16="http://schemas.microsoft.com/office/drawing/2014/main" id="{7C6A4C9A-F92F-4A53-A2BA-33A721C2B147}"/>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hard gate protected capital by mostly becoming cash</a:t>
            </a:r>
          </a:p>
        </p:txBody>
      </p:sp>
      <p:sp>
        <p:nvSpPr>
          <p:cNvPr id="3" name="">
            <a:extLst xmlns:a="http://schemas.openxmlformats.org/drawingml/2006/main">
              <a:ext uri="{FF2B5EF4-FFF2-40B4-BE49-F238E27FC236}">
                <a16:creationId xmlns:a16="http://schemas.microsoft.com/office/drawing/2014/main" id="{43C86951-6842-466A-8163-9E1EC519E3F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10</a:t>
            </a:r>
          </a:p>
        </p:txBody>
      </p:sp>
      <p:sp>
        <p:nvSpPr>
          <p:cNvPr id="4" name="">
            <a:extLst xmlns:a="http://schemas.openxmlformats.org/drawingml/2006/main">
              <a:ext uri="{FF2B5EF4-FFF2-40B4-BE49-F238E27FC236}">
                <a16:creationId xmlns:a16="http://schemas.microsoft.com/office/drawing/2014/main" id="{5D2C65A5-1D47-433E-B82D-3E452355A287}"/>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e40ad8272e74ea7"/>
          <a:stretch xmlns:a="http://schemas.openxmlformats.org/drawingml/2006/main"/>
        </p:blipFill>
        <p:spPr>
          <a:xfrm xmlns:a="http://schemas.openxmlformats.org/drawingml/2006/main">
            <a:off x="428625" y="1624542"/>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4AF8FE-8BAF-479C-B32D-81306964EC46}"/>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623528-0976-4DB7-827E-3170D9B17FBA}"/>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0.00%</a:t>
            </a:r>
          </a:p>
        </p:txBody>
      </p:sp>
      <p:sp>
        <p:nvSpPr>
          <p:cNvPr id="8" name="">
            <a:extLst xmlns:a="http://schemas.openxmlformats.org/drawingml/2006/main">
              <a:ext uri="{FF2B5EF4-FFF2-40B4-BE49-F238E27FC236}">
                <a16:creationId xmlns:a16="http://schemas.microsoft.com/office/drawing/2014/main" id="{C7EE536A-6804-4F24-9405-589C7335FCB4}"/>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overlay median annual return</a:t>
            </a:r>
          </a:p>
        </p:txBody>
      </p:sp>
      <p:sp>
        <p:nvSpPr>
          <p:cNvPr id="9" name="">
            <a:extLst xmlns:a="http://schemas.openxmlformats.org/drawingml/2006/main">
              <a:ext uri="{FF2B5EF4-FFF2-40B4-BE49-F238E27FC236}">
                <a16:creationId xmlns:a16="http://schemas.microsoft.com/office/drawing/2014/main" id="{6EA5E925-933A-45E6-B2C2-B2E403A37791}"/>
              </a:ext>
            </a:extLst>
          </p:cNvPr>
          <p:cNvSpPr>
            <a:spLocks xmlns:a="http://schemas.openxmlformats.org/drawingml/2006/main" noGrp="1"/>
          </p:cNvSpPr>
          <p:nvPr/>
        </p:nvSpPr>
        <p:spPr>
          <a:xfrm xmlns:a="http://schemas.openxmlformats.org/drawingml/2006/main">
            <a:off x="8191500" y="264795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045ABA-F81C-453B-B8AF-73AE15D12148}"/>
              </a:ext>
            </a:extLst>
          </p:cNvPr>
          <p:cNvSpPr>
            <a:spLocks xmlns:a="http://schemas.openxmlformats.org/drawingml/2006/main" noGrp="1"/>
          </p:cNvSpPr>
          <p:nvPr/>
        </p:nvSpPr>
        <p:spPr>
          <a:xfrm xmlns:a="http://schemas.openxmlformats.org/drawingml/2006/main">
            <a:off x="842010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8.95%</a:t>
            </a:r>
          </a:p>
        </p:txBody>
      </p:sp>
      <p:sp>
        <p:nvSpPr>
          <p:cNvPr id="11" name="">
            <a:extLst xmlns:a="http://schemas.openxmlformats.org/drawingml/2006/main">
              <a:ext uri="{FF2B5EF4-FFF2-40B4-BE49-F238E27FC236}">
                <a16:creationId xmlns:a16="http://schemas.microsoft.com/office/drawing/2014/main" id="{A8A509DA-73E3-4463-8F41-A5727655151A}"/>
              </a:ext>
            </a:extLst>
          </p:cNvPr>
          <p:cNvSpPr>
            <a:spLocks xmlns:a="http://schemas.openxmlformats.org/drawingml/2006/main" noGrp="1"/>
          </p:cNvSpPr>
          <p:nvPr/>
        </p:nvSpPr>
        <p:spPr>
          <a:xfrm xmlns:a="http://schemas.openxmlformats.org/drawingml/2006/main">
            <a:off x="842010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parent median annual return</a:t>
            </a:r>
          </a:p>
        </p:txBody>
      </p:sp>
      <p:sp>
        <p:nvSpPr>
          <p:cNvPr id="12" name="">
            <a:extLst xmlns:a="http://schemas.openxmlformats.org/drawingml/2006/main">
              <a:ext uri="{FF2B5EF4-FFF2-40B4-BE49-F238E27FC236}">
                <a16:creationId xmlns:a16="http://schemas.microsoft.com/office/drawing/2014/main" id="{DCC7316D-0537-4049-9EF4-F6FAEC51006D}"/>
              </a:ext>
            </a:extLst>
          </p:cNvPr>
          <p:cNvSpPr>
            <a:spLocks xmlns:a="http://schemas.openxmlformats.org/drawingml/2006/main" noGrp="1"/>
          </p:cNvSpPr>
          <p:nvPr/>
        </p:nvSpPr>
        <p:spPr>
          <a:xfrm xmlns:a="http://schemas.openxmlformats.org/drawingml/2006/main">
            <a:off x="8191500" y="38671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3DA3690-65F7-431C-8F98-B57B8D30AEA9}"/>
              </a:ext>
            </a:extLst>
          </p:cNvPr>
          <p:cNvSpPr>
            <a:spLocks xmlns:a="http://schemas.openxmlformats.org/drawingml/2006/main" noGrp="1"/>
          </p:cNvSpPr>
          <p:nvPr/>
        </p:nvSpPr>
        <p:spPr>
          <a:xfrm xmlns:a="http://schemas.openxmlformats.org/drawingml/2006/main">
            <a:off x="842010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0.0%</a:t>
            </a:r>
          </a:p>
        </p:txBody>
      </p:sp>
      <p:sp>
        <p:nvSpPr>
          <p:cNvPr id="14" name="">
            <a:extLst xmlns:a="http://schemas.openxmlformats.org/drawingml/2006/main">
              <a:ext uri="{FF2B5EF4-FFF2-40B4-BE49-F238E27FC236}">
                <a16:creationId xmlns:a16="http://schemas.microsoft.com/office/drawing/2014/main" id="{9568ED9D-7A07-4099-ABAF-AF40230A859E}"/>
              </a:ext>
            </a:extLst>
          </p:cNvPr>
          <p:cNvSpPr>
            <a:spLocks xmlns:a="http://schemas.openxmlformats.org/drawingml/2006/main" noGrp="1"/>
          </p:cNvSpPr>
          <p:nvPr/>
        </p:nvSpPr>
        <p:spPr>
          <a:xfrm xmlns:a="http://schemas.openxmlformats.org/drawingml/2006/main">
            <a:off x="842010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overlay median exposure</a:t>
            </a:r>
          </a:p>
        </p:txBody>
      </p:sp>
      <p:sp>
        <p:nvSpPr>
          <p:cNvPr id="15" name="">
            <a:extLst xmlns:a="http://schemas.openxmlformats.org/drawingml/2006/main">
              <a:ext uri="{FF2B5EF4-FFF2-40B4-BE49-F238E27FC236}">
                <a16:creationId xmlns:a16="http://schemas.microsoft.com/office/drawing/2014/main" id="{FDDADE3B-FE9F-49C8-84D1-93C4751D8C3F}"/>
              </a:ext>
            </a:extLst>
          </p:cNvPr>
          <p:cNvSpPr>
            <a:spLocks xmlns:a="http://schemas.openxmlformats.org/drawingml/2006/main" noGrp="1"/>
          </p:cNvSpPr>
          <p:nvPr/>
        </p:nvSpPr>
        <p:spPr>
          <a:xfrm xmlns:a="http://schemas.openxmlformats.org/drawingml/2006/main">
            <a:off x="8096250" y="528637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52606D"/>
                </a:solidFill>
              </a:defRPr>
            </a:pPr>
            <a:r>
              <a:rPr sz="1350" b="1">
                <a:solidFill>
                  <a:srgbClr val="52606D"/>
                </a:solidFill>
              </a:rPr>
              <a:t>256 overlay trades vs 1,394 parent trades</a:t>
            </a:r>
          </a:p>
        </p:txBody>
      </p:sp>
    </p:spTree>
    <p:extLst>
      <p:ext uri="{BB962C8B-B14F-4D97-AF65-F5344CB8AC3E}">
        <p14:creationId xmlns:p14="http://schemas.microsoft.com/office/powerpoint/2010/main" val="268429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4BCC12-952D-47AF-B8CF-C54AEC6A1CF8}"/>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BREADTH · TIME</a:t>
            </a:r>
          </a:p>
        </p:txBody>
      </p:sp>
      <p:sp>
        <p:nvSpPr>
          <p:cNvPr id="2" name="">
            <a:extLst xmlns:a="http://schemas.openxmlformats.org/drawingml/2006/main">
              <a:ext uri="{FF2B5EF4-FFF2-40B4-BE49-F238E27FC236}">
                <a16:creationId xmlns:a16="http://schemas.microsoft.com/office/drawing/2014/main" id="{DFBBC7D1-3055-4EF3-B193-E21DF1A7FA4C}"/>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result did not transport across assets or calendar years</a:t>
            </a:r>
          </a:p>
        </p:txBody>
      </p:sp>
      <p:sp>
        <p:nvSpPr>
          <p:cNvPr id="3" name="">
            <a:extLst xmlns:a="http://schemas.openxmlformats.org/drawingml/2006/main">
              <a:ext uri="{FF2B5EF4-FFF2-40B4-BE49-F238E27FC236}">
                <a16:creationId xmlns:a16="http://schemas.microsoft.com/office/drawing/2014/main" id="{ED483016-E13C-43E5-89A6-894FFD5DDA0D}"/>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11</a:t>
            </a:r>
          </a:p>
        </p:txBody>
      </p:sp>
      <p:sp>
        <p:nvSpPr>
          <p:cNvPr id="4" name="">
            <a:extLst xmlns:a="http://schemas.openxmlformats.org/drawingml/2006/main">
              <a:ext uri="{FF2B5EF4-FFF2-40B4-BE49-F238E27FC236}">
                <a16:creationId xmlns:a16="http://schemas.microsoft.com/office/drawing/2014/main" id="{32C1C508-1B56-4D70-9C67-AD51223382B9}"/>
              </a:ext>
            </a:extLst>
          </p:cNvPr>
          <p:cNvSpPr>
            <a:spLocks xmlns:a="http://schemas.openxmlformats.org/drawingml/2006/main" noGrp="1"/>
          </p:cNvSpPr>
          <p:nvPr/>
        </p:nvSpPr>
        <p:spPr>
          <a:xfrm xmlns:a="http://schemas.openxmlformats.org/drawingml/2006/main">
            <a:off x="381000" y="1333500"/>
            <a:ext cx="7096125"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980e3b7c13e4f3d"/>
          <a:stretch xmlns:a="http://schemas.openxmlformats.org/drawingml/2006/main"/>
        </p:blipFill>
        <p:spPr>
          <a:xfrm xmlns:a="http://schemas.openxmlformats.org/drawingml/2006/main">
            <a:off x="754063" y="1333500"/>
            <a:ext cx="6350000"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436F27B-35E2-4DDA-A7FC-46E926EDB380}"/>
              </a:ext>
            </a:extLst>
          </p:cNvPr>
          <p:cNvSpPr>
            <a:spLocks xmlns:a="http://schemas.openxmlformats.org/drawingml/2006/main" noGrp="1"/>
          </p:cNvSpPr>
          <p:nvPr/>
        </p:nvSpPr>
        <p:spPr>
          <a:xfrm xmlns:a="http://schemas.openxmlformats.org/drawingml/2006/main">
            <a:off x="7762875" y="1333500"/>
            <a:ext cx="3810000" cy="3143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b361c1afc1f4d00"/>
          <a:stretch xmlns:a="http://schemas.openxmlformats.org/drawingml/2006/main"/>
        </p:blipFill>
        <p:spPr>
          <a:xfrm xmlns:a="http://schemas.openxmlformats.org/drawingml/2006/main">
            <a:off x="7762875" y="1846792"/>
            <a:ext cx="3810000" cy="211666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FB5DA0E-6FE9-44D2-ABB3-099E6B60EB1A}"/>
              </a:ext>
            </a:extLst>
          </p:cNvPr>
          <p:cNvSpPr>
            <a:spLocks xmlns:a="http://schemas.openxmlformats.org/drawingml/2006/main" noGrp="1"/>
          </p:cNvSpPr>
          <p:nvPr/>
        </p:nvSpPr>
        <p:spPr>
          <a:xfrm xmlns:a="http://schemas.openxmlformats.org/drawingml/2006/main">
            <a:off x="7810500" y="4714875"/>
            <a:ext cx="18097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191E04-9351-4929-A6E9-EF5CD12288EC}"/>
              </a:ext>
            </a:extLst>
          </p:cNvPr>
          <p:cNvSpPr>
            <a:spLocks xmlns:a="http://schemas.openxmlformats.org/drawingml/2006/main" noGrp="1"/>
          </p:cNvSpPr>
          <p:nvPr/>
        </p:nvSpPr>
        <p:spPr>
          <a:xfrm xmlns:a="http://schemas.openxmlformats.org/drawingml/2006/main">
            <a:off x="8039100" y="4857750"/>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 / 24</a:t>
            </a:r>
          </a:p>
        </p:txBody>
      </p:sp>
      <p:sp>
        <p:nvSpPr>
          <p:cNvPr id="10" name="">
            <a:extLst xmlns:a="http://schemas.openxmlformats.org/drawingml/2006/main">
              <a:ext uri="{FF2B5EF4-FFF2-40B4-BE49-F238E27FC236}">
                <a16:creationId xmlns:a16="http://schemas.microsoft.com/office/drawing/2014/main" id="{CE1F16F3-F708-4BEF-AFA8-E78B41F8D68D}"/>
              </a:ext>
            </a:extLst>
          </p:cNvPr>
          <p:cNvSpPr>
            <a:spLocks xmlns:a="http://schemas.openxmlformats.org/drawingml/2006/main" noGrp="1"/>
          </p:cNvSpPr>
          <p:nvPr/>
        </p:nvSpPr>
        <p:spPr>
          <a:xfrm xmlns:a="http://schemas.openxmlformats.org/drawingml/2006/main">
            <a:off x="8039100" y="5334000"/>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assets improved over six years</a:t>
            </a:r>
          </a:p>
        </p:txBody>
      </p:sp>
      <p:sp>
        <p:nvSpPr>
          <p:cNvPr id="11" name="">
            <a:extLst xmlns:a="http://schemas.openxmlformats.org/drawingml/2006/main">
              <a:ext uri="{FF2B5EF4-FFF2-40B4-BE49-F238E27FC236}">
                <a16:creationId xmlns:a16="http://schemas.microsoft.com/office/drawing/2014/main" id="{AE4EC2EE-38C5-4B35-A10C-937FF34EAD79}"/>
              </a:ext>
            </a:extLst>
          </p:cNvPr>
          <p:cNvSpPr>
            <a:spLocks xmlns:a="http://schemas.openxmlformats.org/drawingml/2006/main" noGrp="1"/>
          </p:cNvSpPr>
          <p:nvPr/>
        </p:nvSpPr>
        <p:spPr>
          <a:xfrm xmlns:a="http://schemas.openxmlformats.org/drawingml/2006/main">
            <a:off x="9715500" y="4714875"/>
            <a:ext cx="18097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C3138B-4DD3-48ED-93D5-303DE3316FE8}"/>
              </a:ext>
            </a:extLst>
          </p:cNvPr>
          <p:cNvSpPr>
            <a:spLocks xmlns:a="http://schemas.openxmlformats.org/drawingml/2006/main" noGrp="1"/>
          </p:cNvSpPr>
          <p:nvPr/>
        </p:nvSpPr>
        <p:spPr>
          <a:xfrm xmlns:a="http://schemas.openxmlformats.org/drawingml/2006/main">
            <a:off x="9944100" y="4857750"/>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 / 6</a:t>
            </a:r>
          </a:p>
        </p:txBody>
      </p:sp>
      <p:sp>
        <p:nvSpPr>
          <p:cNvPr id="13" name="">
            <a:extLst xmlns:a="http://schemas.openxmlformats.org/drawingml/2006/main">
              <a:ext uri="{FF2B5EF4-FFF2-40B4-BE49-F238E27FC236}">
                <a16:creationId xmlns:a16="http://schemas.microsoft.com/office/drawing/2014/main" id="{558FF065-8F41-4827-9CB6-77D7447B5DEE}"/>
              </a:ext>
            </a:extLst>
          </p:cNvPr>
          <p:cNvSpPr>
            <a:spLocks xmlns:a="http://schemas.openxmlformats.org/drawingml/2006/main" noGrp="1"/>
          </p:cNvSpPr>
          <p:nvPr/>
        </p:nvSpPr>
        <p:spPr>
          <a:xfrm xmlns:a="http://schemas.openxmlformats.org/drawingml/2006/main">
            <a:off x="9944100" y="5334000"/>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years with positive median excess</a:t>
            </a:r>
          </a:p>
        </p:txBody>
      </p:sp>
      <p:sp>
        <p:nvSpPr>
          <p:cNvPr id="14" name="">
            <a:extLst xmlns:a="http://schemas.openxmlformats.org/drawingml/2006/main">
              <a:ext uri="{FF2B5EF4-FFF2-40B4-BE49-F238E27FC236}">
                <a16:creationId xmlns:a16="http://schemas.microsoft.com/office/drawing/2014/main" id="{E831C6D9-F41E-408F-B1A7-CF7D27D593D7}"/>
              </a:ext>
            </a:extLst>
          </p:cNvPr>
          <p:cNvSpPr>
            <a:spLocks xmlns:a="http://schemas.openxmlformats.org/drawingml/2006/main" noGrp="1"/>
          </p:cNvSpPr>
          <p:nvPr/>
        </p:nvSpPr>
        <p:spPr>
          <a:xfrm xmlns:a="http://schemas.openxmlformats.org/drawingml/2006/main">
            <a:off x="7905750" y="5905500"/>
            <a:ext cx="352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95F59"/>
                </a:solidFill>
              </a:defRPr>
            </a:pPr>
            <a:r>
              <a:rPr sz="1275" b="1">
                <a:solidFill>
                  <a:srgbClr val="D95F59"/>
                </a:solidFill>
              </a:rPr>
              <a:t>Only UNH improved. The positive year was 2018; all five later development years were negative.</a:t>
            </a:r>
          </a:p>
        </p:txBody>
      </p:sp>
    </p:spTree>
    <p:extLst>
      <p:ext uri="{BB962C8B-B14F-4D97-AF65-F5344CB8AC3E}">
        <p14:creationId xmlns:p14="http://schemas.microsoft.com/office/powerpoint/2010/main" val="19524946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DA4DC65-13B4-4C67-9590-FF0D608F489E}"/>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ENTRY-STATE AUDIT</a:t>
            </a:r>
          </a:p>
        </p:txBody>
      </p:sp>
      <p:sp>
        <p:nvSpPr>
          <p:cNvPr id="2" name="">
            <a:extLst xmlns:a="http://schemas.openxmlformats.org/drawingml/2006/main">
              <a:ext uri="{FF2B5EF4-FFF2-40B4-BE49-F238E27FC236}">
                <a16:creationId xmlns:a16="http://schemas.microsoft.com/office/drawing/2014/main" id="{67CF44CB-9703-4B69-95E6-187A8141B802}"/>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HIGH did not identify better parent trades</a:t>
            </a:r>
          </a:p>
        </p:txBody>
      </p:sp>
      <p:sp>
        <p:nvSpPr>
          <p:cNvPr id="3" name="">
            <a:extLst xmlns:a="http://schemas.openxmlformats.org/drawingml/2006/main">
              <a:ext uri="{FF2B5EF4-FFF2-40B4-BE49-F238E27FC236}">
                <a16:creationId xmlns:a16="http://schemas.microsoft.com/office/drawing/2014/main" id="{167D862F-03DC-4DEA-9CFA-5D3E6DDAACDB}"/>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12</a:t>
            </a:r>
          </a:p>
        </p:txBody>
      </p:sp>
      <p:sp>
        <p:nvSpPr>
          <p:cNvPr id="4" name="">
            <a:extLst xmlns:a="http://schemas.openxmlformats.org/drawingml/2006/main">
              <a:ext uri="{FF2B5EF4-FFF2-40B4-BE49-F238E27FC236}">
                <a16:creationId xmlns:a16="http://schemas.microsoft.com/office/drawing/2014/main" id="{6E993CDF-EC41-4837-8352-4091339C6302}"/>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b783cec25a441b8"/>
          <a:stretch xmlns:a="http://schemas.openxmlformats.org/drawingml/2006/main"/>
        </p:blipFill>
        <p:spPr>
          <a:xfrm xmlns:a="http://schemas.openxmlformats.org/drawingml/2006/main">
            <a:off x="428625" y="1624542"/>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380A9CB-D869-48E8-92FC-E996FDB4BA0A}"/>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5BCBDF-6B47-4287-B158-85BB52E336B7}"/>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44.1%</a:t>
            </a:r>
          </a:p>
        </p:txBody>
      </p:sp>
      <p:sp>
        <p:nvSpPr>
          <p:cNvPr id="8" name="">
            <a:extLst xmlns:a="http://schemas.openxmlformats.org/drawingml/2006/main">
              <a:ext uri="{FF2B5EF4-FFF2-40B4-BE49-F238E27FC236}">
                <a16:creationId xmlns:a16="http://schemas.microsoft.com/office/drawing/2014/main" id="{C0FF1FE8-3417-4366-975A-002FFAD9DBDB}"/>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HIGH entry hit rate</a:t>
            </a:r>
          </a:p>
        </p:txBody>
      </p:sp>
      <p:sp>
        <p:nvSpPr>
          <p:cNvPr id="9" name="">
            <a:extLst xmlns:a="http://schemas.openxmlformats.org/drawingml/2006/main">
              <a:ext uri="{FF2B5EF4-FFF2-40B4-BE49-F238E27FC236}">
                <a16:creationId xmlns:a16="http://schemas.microsoft.com/office/drawing/2014/main" id="{151284F4-793F-43D7-98F0-322F93DF15FF}"/>
              </a:ext>
            </a:extLst>
          </p:cNvPr>
          <p:cNvSpPr>
            <a:spLocks xmlns:a="http://schemas.openxmlformats.org/drawingml/2006/main" noGrp="1"/>
          </p:cNvSpPr>
          <p:nvPr/>
        </p:nvSpPr>
        <p:spPr>
          <a:xfrm xmlns:a="http://schemas.openxmlformats.org/drawingml/2006/main">
            <a:off x="8191500" y="26479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F14654-9145-4576-9F37-DF797673281C}"/>
              </a:ext>
            </a:extLst>
          </p:cNvPr>
          <p:cNvSpPr>
            <a:spLocks xmlns:a="http://schemas.openxmlformats.org/drawingml/2006/main" noGrp="1"/>
          </p:cNvSpPr>
          <p:nvPr/>
        </p:nvSpPr>
        <p:spPr>
          <a:xfrm xmlns:a="http://schemas.openxmlformats.org/drawingml/2006/main">
            <a:off x="842010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−0.43%</a:t>
            </a:r>
          </a:p>
        </p:txBody>
      </p:sp>
      <p:sp>
        <p:nvSpPr>
          <p:cNvPr id="11" name="">
            <a:extLst xmlns:a="http://schemas.openxmlformats.org/drawingml/2006/main">
              <a:ext uri="{FF2B5EF4-FFF2-40B4-BE49-F238E27FC236}">
                <a16:creationId xmlns:a16="http://schemas.microsoft.com/office/drawing/2014/main" id="{17C9E7CE-31B3-4D03-82BE-01C74CE224A8}"/>
              </a:ext>
            </a:extLst>
          </p:cNvPr>
          <p:cNvSpPr>
            <a:spLocks xmlns:a="http://schemas.openxmlformats.org/drawingml/2006/main" noGrp="1"/>
          </p:cNvSpPr>
          <p:nvPr/>
        </p:nvSpPr>
        <p:spPr>
          <a:xfrm xmlns:a="http://schemas.openxmlformats.org/drawingml/2006/main">
            <a:off x="842010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HIGH median trade return</a:t>
            </a:r>
          </a:p>
        </p:txBody>
      </p:sp>
      <p:sp>
        <p:nvSpPr>
          <p:cNvPr id="12" name="">
            <a:extLst xmlns:a="http://schemas.openxmlformats.org/drawingml/2006/main">
              <a:ext uri="{FF2B5EF4-FFF2-40B4-BE49-F238E27FC236}">
                <a16:creationId xmlns:a16="http://schemas.microsoft.com/office/drawing/2014/main" id="{26A01F38-7219-4A77-8A40-7EA293F23132}"/>
              </a:ext>
            </a:extLst>
          </p:cNvPr>
          <p:cNvSpPr>
            <a:spLocks xmlns:a="http://schemas.openxmlformats.org/drawingml/2006/main" noGrp="1"/>
          </p:cNvSpPr>
          <p:nvPr/>
        </p:nvSpPr>
        <p:spPr>
          <a:xfrm xmlns:a="http://schemas.openxmlformats.org/drawingml/2006/main">
            <a:off x="8191500" y="38671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365E53-0E64-47C4-B7E7-39863AA65E74}"/>
              </a:ext>
            </a:extLst>
          </p:cNvPr>
          <p:cNvSpPr>
            <a:spLocks xmlns:a="http://schemas.openxmlformats.org/drawingml/2006/main" noGrp="1"/>
          </p:cNvSpPr>
          <p:nvPr/>
        </p:nvSpPr>
        <p:spPr>
          <a:xfrm xmlns:a="http://schemas.openxmlformats.org/drawingml/2006/main">
            <a:off x="842010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48.3%</a:t>
            </a:r>
          </a:p>
        </p:txBody>
      </p:sp>
      <p:sp>
        <p:nvSpPr>
          <p:cNvPr id="14" name="">
            <a:extLst xmlns:a="http://schemas.openxmlformats.org/drawingml/2006/main">
              <a:ext uri="{FF2B5EF4-FFF2-40B4-BE49-F238E27FC236}">
                <a16:creationId xmlns:a16="http://schemas.microsoft.com/office/drawing/2014/main" id="{855CAA1D-5FC0-4E61-9199-9432B6A105EF}"/>
              </a:ext>
            </a:extLst>
          </p:cNvPr>
          <p:cNvSpPr>
            <a:spLocks xmlns:a="http://schemas.openxmlformats.org/drawingml/2006/main" noGrp="1"/>
          </p:cNvSpPr>
          <p:nvPr/>
        </p:nvSpPr>
        <p:spPr>
          <a:xfrm xmlns:a="http://schemas.openxmlformats.org/drawingml/2006/main">
            <a:off x="842010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LOW entry hit rate</a:t>
            </a:r>
          </a:p>
        </p:txBody>
      </p:sp>
      <p:sp>
        <p:nvSpPr>
          <p:cNvPr id="15" name="">
            <a:extLst xmlns:a="http://schemas.openxmlformats.org/drawingml/2006/main">
              <a:ext uri="{FF2B5EF4-FFF2-40B4-BE49-F238E27FC236}">
                <a16:creationId xmlns:a16="http://schemas.microsoft.com/office/drawing/2014/main" id="{A71F95C3-3B62-4FCC-8C8D-D3D72D16C2A7}"/>
              </a:ext>
            </a:extLst>
          </p:cNvPr>
          <p:cNvSpPr>
            <a:spLocks xmlns:a="http://schemas.openxmlformats.org/drawingml/2006/main" noGrp="1"/>
          </p:cNvSpPr>
          <p:nvPr/>
        </p:nvSpPr>
        <p:spPr>
          <a:xfrm xmlns:a="http://schemas.openxmlformats.org/drawingml/2006/main">
            <a:off x="8048625" y="5286375"/>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The HIGH group ranked below LOW on hit rate and median return.</a:t>
            </a:r>
          </a:p>
        </p:txBody>
      </p:sp>
    </p:spTree>
    <p:extLst>
      <p:ext uri="{BB962C8B-B14F-4D97-AF65-F5344CB8AC3E}">
        <p14:creationId xmlns:p14="http://schemas.microsoft.com/office/powerpoint/2010/main" val="18061558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3FB4477-0A84-4B24-917A-F6570B8A73AC}"/>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REPRESENTATIVE BEHAVIOR</a:t>
            </a:r>
          </a:p>
        </p:txBody>
      </p:sp>
      <p:sp>
        <p:nvSpPr>
          <p:cNvPr id="2" name="">
            <a:extLst xmlns:a="http://schemas.openxmlformats.org/drawingml/2006/main">
              <a:ext uri="{FF2B5EF4-FFF2-40B4-BE49-F238E27FC236}">
                <a16:creationId xmlns:a16="http://schemas.microsoft.com/office/drawing/2014/main" id="{B5001515-B0CE-4DDF-A0C6-6CF9F0C8D1D5}"/>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Trade tapes reveal both protection and opportunity-cost failure</a:t>
            </a:r>
          </a:p>
        </p:txBody>
      </p:sp>
      <p:sp>
        <p:nvSpPr>
          <p:cNvPr id="3" name="">
            <a:extLst xmlns:a="http://schemas.openxmlformats.org/drawingml/2006/main">
              <a:ext uri="{FF2B5EF4-FFF2-40B4-BE49-F238E27FC236}">
                <a16:creationId xmlns:a16="http://schemas.microsoft.com/office/drawing/2014/main" id="{445956F0-7221-45BD-8E02-CFF0B72865F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13</a:t>
            </a:r>
          </a:p>
        </p:txBody>
      </p:sp>
      <p:sp>
        <p:nvSpPr>
          <p:cNvPr id="4" name="">
            <a:extLst xmlns:a="http://schemas.openxmlformats.org/drawingml/2006/main">
              <a:ext uri="{FF2B5EF4-FFF2-40B4-BE49-F238E27FC236}">
                <a16:creationId xmlns:a16="http://schemas.microsoft.com/office/drawing/2014/main" id="{5E61C79C-D0AC-40FC-A10E-9AD5DDE44ABD}"/>
              </a:ext>
            </a:extLst>
          </p:cNvPr>
          <p:cNvSpPr>
            <a:spLocks xmlns:a="http://schemas.openxmlformats.org/drawingml/2006/main" noGrp="1"/>
          </p:cNvSpPr>
          <p:nvPr/>
        </p:nvSpPr>
        <p:spPr>
          <a:xfrm xmlns:a="http://schemas.openxmlformats.org/drawingml/2006/main">
            <a:off x="428625" y="1190625"/>
            <a:ext cx="8572500" cy="519112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27f89574d0e4a25"/>
          <a:stretch xmlns:a="http://schemas.openxmlformats.org/drawingml/2006/main"/>
        </p:blipFill>
        <p:spPr>
          <a:xfrm xmlns:a="http://schemas.openxmlformats.org/drawingml/2006/main">
            <a:off x="2119313" y="1190625"/>
            <a:ext cx="5191125" cy="5191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7164884-A785-4389-9112-3FF4C3FBDB5D}"/>
              </a:ext>
            </a:extLst>
          </p:cNvPr>
          <p:cNvSpPr>
            <a:spLocks xmlns:a="http://schemas.openxmlformats.org/drawingml/2006/main" noGrp="1"/>
          </p:cNvSpPr>
          <p:nvPr/>
        </p:nvSpPr>
        <p:spPr>
          <a:xfrm xmlns:a="http://schemas.openxmlformats.org/drawingml/2006/main">
            <a:off x="9239250" y="1476375"/>
            <a:ext cx="22860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FD2A05-5469-43E5-8F91-E6ABDF943BC5}"/>
              </a:ext>
            </a:extLst>
          </p:cNvPr>
          <p:cNvSpPr>
            <a:spLocks xmlns:a="http://schemas.openxmlformats.org/drawingml/2006/main" noGrp="1"/>
          </p:cNvSpPr>
          <p:nvPr/>
        </p:nvSpPr>
        <p:spPr>
          <a:xfrm xmlns:a="http://schemas.openxmlformats.org/drawingml/2006/main">
            <a:off x="9467850" y="1619250"/>
            <a:ext cx="1828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50th pct</a:t>
            </a:r>
          </a:p>
        </p:txBody>
      </p:sp>
      <p:sp>
        <p:nvSpPr>
          <p:cNvPr id="8" name="">
            <a:extLst xmlns:a="http://schemas.openxmlformats.org/drawingml/2006/main">
              <a:ext uri="{FF2B5EF4-FFF2-40B4-BE49-F238E27FC236}">
                <a16:creationId xmlns:a16="http://schemas.microsoft.com/office/drawing/2014/main" id="{970E8929-0227-4938-960D-731B87A57DE6}"/>
              </a:ext>
            </a:extLst>
          </p:cNvPr>
          <p:cNvSpPr>
            <a:spLocks xmlns:a="http://schemas.openxmlformats.org/drawingml/2006/main" noGrp="1"/>
          </p:cNvSpPr>
          <p:nvPr/>
        </p:nvSpPr>
        <p:spPr>
          <a:xfrm xmlns:a="http://schemas.openxmlformats.org/drawingml/2006/main">
            <a:off x="9467850" y="2095500"/>
            <a:ext cx="1828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timing-control rank</a:t>
            </a:r>
          </a:p>
        </p:txBody>
      </p:sp>
      <p:sp>
        <p:nvSpPr>
          <p:cNvPr id="9" name="">
            <a:extLst xmlns:a="http://schemas.openxmlformats.org/drawingml/2006/main">
              <a:ext uri="{FF2B5EF4-FFF2-40B4-BE49-F238E27FC236}">
                <a16:creationId xmlns:a16="http://schemas.microsoft.com/office/drawing/2014/main" id="{A2256745-E390-4DD1-93AD-26B214308ADD}"/>
              </a:ext>
            </a:extLst>
          </p:cNvPr>
          <p:cNvSpPr>
            <a:spLocks xmlns:a="http://schemas.openxmlformats.org/drawingml/2006/main" noGrp="1"/>
          </p:cNvSpPr>
          <p:nvPr/>
        </p:nvSpPr>
        <p:spPr>
          <a:xfrm xmlns:a="http://schemas.openxmlformats.org/drawingml/2006/main">
            <a:off x="9239250" y="2809875"/>
            <a:ext cx="2286000" cy="10668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B78F31-BD52-493D-9A2B-97B1B1293313}"/>
              </a:ext>
            </a:extLst>
          </p:cNvPr>
          <p:cNvSpPr>
            <a:spLocks xmlns:a="http://schemas.openxmlformats.org/drawingml/2006/main" noGrp="1"/>
          </p:cNvSpPr>
          <p:nvPr/>
        </p:nvSpPr>
        <p:spPr>
          <a:xfrm xmlns:a="http://schemas.openxmlformats.org/drawingml/2006/main">
            <a:off x="9467850" y="2952750"/>
            <a:ext cx="1828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324D"/>
                </a:solidFill>
              </a:defRPr>
            </a:pPr>
            <a:r>
              <a:rPr sz="2325" b="1">
                <a:solidFill>
                  <a:srgbClr val="17324D"/>
                </a:solidFill>
              </a:rPr>
              <a:t>0.00%</a:t>
            </a:r>
          </a:p>
        </p:txBody>
      </p:sp>
      <p:sp>
        <p:nvSpPr>
          <p:cNvPr id="11" name="">
            <a:extLst xmlns:a="http://schemas.openxmlformats.org/drawingml/2006/main">
              <a:ext uri="{FF2B5EF4-FFF2-40B4-BE49-F238E27FC236}">
                <a16:creationId xmlns:a16="http://schemas.microsoft.com/office/drawing/2014/main" id="{CBC1DD66-EAC1-4D88-8E54-8C5F4B53B045}"/>
              </a:ext>
            </a:extLst>
          </p:cNvPr>
          <p:cNvSpPr>
            <a:spLocks xmlns:a="http://schemas.openxmlformats.org/drawingml/2006/main" noGrp="1"/>
          </p:cNvSpPr>
          <p:nvPr/>
        </p:nvSpPr>
        <p:spPr>
          <a:xfrm xmlns:a="http://schemas.openxmlformats.org/drawingml/2006/main">
            <a:off x="9467850" y="3429000"/>
            <a:ext cx="1828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actual and nearest-control return</a:t>
            </a:r>
          </a:p>
        </p:txBody>
      </p:sp>
      <p:sp>
        <p:nvSpPr>
          <p:cNvPr id="12" name="">
            <a:extLst xmlns:a="http://schemas.openxmlformats.org/drawingml/2006/main">
              <a:ext uri="{FF2B5EF4-FFF2-40B4-BE49-F238E27FC236}">
                <a16:creationId xmlns:a16="http://schemas.microsoft.com/office/drawing/2014/main" id="{F4478076-D562-4815-A63A-D862AA378E4A}"/>
              </a:ext>
            </a:extLst>
          </p:cNvPr>
          <p:cNvSpPr>
            <a:spLocks xmlns:a="http://schemas.openxmlformats.org/drawingml/2006/main" noGrp="1"/>
          </p:cNvSpPr>
          <p:nvPr/>
        </p:nvSpPr>
        <p:spPr>
          <a:xfrm xmlns:a="http://schemas.openxmlformats.org/drawingml/2006/main">
            <a:off x="9239250" y="4143375"/>
            <a:ext cx="2286000" cy="180975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59CF7E6-1141-47EE-8D6A-889668AA62BE}"/>
              </a:ext>
            </a:extLst>
          </p:cNvPr>
          <p:cNvSpPr>
            <a:spLocks xmlns:a="http://schemas.openxmlformats.org/drawingml/2006/main" noGrp="1"/>
          </p:cNvSpPr>
          <p:nvPr/>
        </p:nvSpPr>
        <p:spPr>
          <a:xfrm xmlns:a="http://schemas.openxmlformats.org/drawingml/2006/main">
            <a:off x="9477375" y="4362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2A65A"/>
                </a:solidFill>
              </a:defRPr>
            </a:pPr>
            <a:r>
              <a:rPr sz="1500" b="1">
                <a:solidFill>
                  <a:srgbClr val="F2A65A"/>
                </a:solidFill>
              </a:rPr>
              <a:t>Interpretation</a:t>
            </a:r>
          </a:p>
        </p:txBody>
      </p:sp>
      <p:sp>
        <p:nvSpPr>
          <p:cNvPr id="14" name="">
            <a:extLst xmlns:a="http://schemas.openxmlformats.org/drawingml/2006/main">
              <a:ext uri="{FF2B5EF4-FFF2-40B4-BE49-F238E27FC236}">
                <a16:creationId xmlns:a16="http://schemas.microsoft.com/office/drawing/2014/main" id="{C338B22A-1997-4F7F-9A4C-14A8C3D876AE}"/>
              </a:ext>
            </a:extLst>
          </p:cNvPr>
          <p:cNvSpPr>
            <a:spLocks xmlns:a="http://schemas.openxmlformats.org/drawingml/2006/main" noGrp="1"/>
          </p:cNvSpPr>
          <p:nvPr/>
        </p:nvSpPr>
        <p:spPr>
          <a:xfrm xmlns:a="http://schemas.openxmlformats.org/drawingml/2006/main">
            <a:off x="9448800" y="4762500"/>
            <a:ext cx="1866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52606D"/>
                </a:solidFill>
              </a:defRPr>
            </a:pPr>
            <a:r>
              <a:rPr sz="1125" b="0">
                <a:solidFill>
                  <a:srgbClr val="52606D"/>
                </a:solidFill>
              </a:rPr>
              <a:t>The hard gate was not better timed than calendar-preserving pseudo-states with similarly tiny exposure.</a:t>
            </a:r>
          </a:p>
        </p:txBody>
      </p:sp>
    </p:spTree>
    <p:extLst>
      <p:ext uri="{BB962C8B-B14F-4D97-AF65-F5344CB8AC3E}">
        <p14:creationId xmlns:p14="http://schemas.microsoft.com/office/powerpoint/2010/main" val="17782346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B736C75-769B-4916-9D01-D57EAC5C0097}"/>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DECISION BOUNDARY</a:t>
            </a:r>
          </a:p>
        </p:txBody>
      </p:sp>
      <p:sp>
        <p:nvSpPr>
          <p:cNvPr id="2" name="">
            <a:extLst xmlns:a="http://schemas.openxmlformats.org/drawingml/2006/main">
              <a:ext uri="{FF2B5EF4-FFF2-40B4-BE49-F238E27FC236}">
                <a16:creationId xmlns:a16="http://schemas.microsoft.com/office/drawing/2014/main" id="{1D374469-B41F-4B39-9E5C-1BE895749E99}"/>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Retain the measurement; set down the hard entry gate</a:t>
            </a:r>
          </a:p>
        </p:txBody>
      </p:sp>
      <p:sp>
        <p:nvSpPr>
          <p:cNvPr id="3" name="">
            <a:extLst xmlns:a="http://schemas.openxmlformats.org/drawingml/2006/main">
              <a:ext uri="{FF2B5EF4-FFF2-40B4-BE49-F238E27FC236}">
                <a16:creationId xmlns:a16="http://schemas.microsoft.com/office/drawing/2014/main" id="{981827D0-F07E-4A05-8828-8BEEB52CFCA2}"/>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14</a:t>
            </a:r>
          </a:p>
        </p:txBody>
      </p:sp>
      <p:sp>
        <p:nvSpPr>
          <p:cNvPr id="4" name="">
            <a:extLst xmlns:a="http://schemas.openxmlformats.org/drawingml/2006/main">
              <a:ext uri="{FF2B5EF4-FFF2-40B4-BE49-F238E27FC236}">
                <a16:creationId xmlns:a16="http://schemas.microsoft.com/office/drawing/2014/main" id="{0B3A42E1-8616-4DFE-8AD0-0115F3E80786}"/>
              </a:ext>
            </a:extLst>
          </p:cNvPr>
          <p:cNvSpPr>
            <a:spLocks xmlns:a="http://schemas.openxmlformats.org/drawingml/2006/main" noGrp="1"/>
          </p:cNvSpPr>
          <p:nvPr/>
        </p:nvSpPr>
        <p:spPr>
          <a:xfrm xmlns:a="http://schemas.openxmlformats.org/drawingml/2006/main">
            <a:off x="523875" y="1381125"/>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2E8B57"/>
                </a:solidFill>
              </a:defRPr>
            </a:pPr>
            <a:r>
              <a:rPr sz="3600" b="1">
                <a:solidFill>
                  <a:srgbClr val="2E8B57"/>
                </a:solidFill>
              </a:rPr>
              <a:t>7 / 7</a:t>
            </a:r>
          </a:p>
        </p:txBody>
      </p:sp>
      <p:sp>
        <p:nvSpPr>
          <p:cNvPr id="5" name="">
            <a:extLst xmlns:a="http://schemas.openxmlformats.org/drawingml/2006/main">
              <a:ext uri="{FF2B5EF4-FFF2-40B4-BE49-F238E27FC236}">
                <a16:creationId xmlns:a16="http://schemas.microsoft.com/office/drawing/2014/main" id="{F2ED3CC9-C67E-4468-94B8-8E8CC47D362C}"/>
              </a:ext>
            </a:extLst>
          </p:cNvPr>
          <p:cNvSpPr>
            <a:spLocks xmlns:a="http://schemas.openxmlformats.org/drawingml/2006/main" noGrp="1"/>
          </p:cNvSpPr>
          <p:nvPr/>
        </p:nvSpPr>
        <p:spPr>
          <a:xfrm xmlns:a="http://schemas.openxmlformats.org/drawingml/2006/main">
            <a:off x="523875" y="20478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construction gates</a:t>
            </a:r>
          </a:p>
        </p:txBody>
      </p:sp>
      <p:sp>
        <p:nvSpPr>
          <p:cNvPr id="6" name="">
            <a:extLst xmlns:a="http://schemas.openxmlformats.org/drawingml/2006/main">
              <a:ext uri="{FF2B5EF4-FFF2-40B4-BE49-F238E27FC236}">
                <a16:creationId xmlns:a16="http://schemas.microsoft.com/office/drawing/2014/main" id="{ABC6943E-B572-4E0B-A24D-13F47A2F36C9}"/>
              </a:ext>
            </a:extLst>
          </p:cNvPr>
          <p:cNvSpPr>
            <a:spLocks xmlns:a="http://schemas.openxmlformats.org/drawingml/2006/main" noGrp="1"/>
          </p:cNvSpPr>
          <p:nvPr/>
        </p:nvSpPr>
        <p:spPr>
          <a:xfrm xmlns:a="http://schemas.openxmlformats.org/drawingml/2006/main">
            <a:off x="3619500" y="1381125"/>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D95F59"/>
                </a:solidFill>
              </a:defRPr>
            </a:pPr>
            <a:r>
              <a:rPr sz="3600" b="1">
                <a:solidFill>
                  <a:srgbClr val="D95F59"/>
                </a:solidFill>
              </a:rPr>
              <a:t>3 / 9</a:t>
            </a:r>
          </a:p>
        </p:txBody>
      </p:sp>
      <p:sp>
        <p:nvSpPr>
          <p:cNvPr id="7" name="">
            <a:extLst xmlns:a="http://schemas.openxmlformats.org/drawingml/2006/main">
              <a:ext uri="{FF2B5EF4-FFF2-40B4-BE49-F238E27FC236}">
                <a16:creationId xmlns:a16="http://schemas.microsoft.com/office/drawing/2014/main" id="{0570BF20-0F80-4752-858D-A67ED6FBC982}"/>
              </a:ext>
            </a:extLst>
          </p:cNvPr>
          <p:cNvSpPr>
            <a:spLocks xmlns:a="http://schemas.openxmlformats.org/drawingml/2006/main" noGrp="1"/>
          </p:cNvSpPr>
          <p:nvPr/>
        </p:nvSpPr>
        <p:spPr>
          <a:xfrm xmlns:a="http://schemas.openxmlformats.org/drawingml/2006/main">
            <a:off x="3619500" y="20478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strategy gates</a:t>
            </a:r>
          </a:p>
        </p:txBody>
      </p:sp>
      <p:sp>
        <p:nvSpPr>
          <p:cNvPr id="8" name="">
            <a:extLst xmlns:a="http://schemas.openxmlformats.org/drawingml/2006/main">
              <a:ext uri="{FF2B5EF4-FFF2-40B4-BE49-F238E27FC236}">
                <a16:creationId xmlns:a16="http://schemas.microsoft.com/office/drawing/2014/main" id="{EC419A40-37F0-4C48-8E07-47983E653750}"/>
              </a:ext>
            </a:extLst>
          </p:cNvPr>
          <p:cNvSpPr>
            <a:spLocks xmlns:a="http://schemas.openxmlformats.org/drawingml/2006/main" noGrp="1"/>
          </p:cNvSpPr>
          <p:nvPr/>
        </p:nvSpPr>
        <p:spPr>
          <a:xfrm xmlns:a="http://schemas.openxmlformats.org/drawingml/2006/main">
            <a:off x="523875" y="2809875"/>
            <a:ext cx="5762625" cy="1476375"/>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460DF4-E816-4409-A167-F6CCFE125BAE}"/>
              </a:ext>
            </a:extLst>
          </p:cNvPr>
          <p:cNvSpPr>
            <a:spLocks xmlns:a="http://schemas.openxmlformats.org/drawingml/2006/main" noGrp="1"/>
          </p:cNvSpPr>
          <p:nvPr/>
        </p:nvSpPr>
        <p:spPr>
          <a:xfrm xmlns:a="http://schemas.openxmlformats.org/drawingml/2006/main">
            <a:off x="781050" y="3190875"/>
            <a:ext cx="5238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D95F59"/>
                </a:solidFill>
              </a:defRPr>
            </a:pPr>
            <a:r>
              <a:rPr sz="1650" b="1">
                <a:solidFill>
                  <a:srgbClr val="D95F59"/>
                </a:solidFill>
              </a:rPr>
              <a:t>STOP_VARIANCE_RATIO_STRATEGY_RELATIVE_</a:t>
            </a:r>
          </a:p>
          <a:p xmlns:a="http://schemas.openxmlformats.org/drawingml/2006/main">
            <a:pPr algn="ctr">
              <a:defRPr sz="1650" b="1">
                <a:solidFill>
                  <a:srgbClr val="D95F59"/>
                </a:solidFill>
              </a:defRPr>
            </a:pPr>
            <a:r>
              <a:rPr sz="1650" b="1">
                <a:solidFill>
                  <a:srgbClr val="D95F59"/>
                </a:solidFill>
              </a:rPr>
              <a:t>GATES_FAILED_CONFIRMATION_NOT_RUN</a:t>
            </a:r>
          </a:p>
        </p:txBody>
      </p:sp>
      <p:sp>
        <p:nvSpPr>
          <p:cNvPr id="10" name="">
            <a:extLst xmlns:a="http://schemas.openxmlformats.org/drawingml/2006/main">
              <a:ext uri="{FF2B5EF4-FFF2-40B4-BE49-F238E27FC236}">
                <a16:creationId xmlns:a16="http://schemas.microsoft.com/office/drawing/2014/main" id="{1EE6C87E-54C9-401B-8137-2A12816E2DBE}"/>
              </a:ext>
            </a:extLst>
          </p:cNvPr>
          <p:cNvSpPr>
            <a:spLocks xmlns:a="http://schemas.openxmlformats.org/drawingml/2006/main" noGrp="1"/>
          </p:cNvSpPr>
          <p:nvPr/>
        </p:nvSpPr>
        <p:spPr>
          <a:xfrm xmlns:a="http://schemas.openxmlformats.org/drawingml/2006/main">
            <a:off x="6905625" y="1428750"/>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E8B57"/>
                </a:solidFill>
              </a:defRPr>
            </a:pPr>
            <a:r>
              <a:rPr sz="1950" b="1">
                <a:solidFill>
                  <a:srgbClr val="2E8B57"/>
                </a:solidFill>
              </a:rPr>
              <a:t>What survives</a:t>
            </a:r>
          </a:p>
        </p:txBody>
      </p:sp>
      <p:sp>
        <p:nvSpPr>
          <p:cNvPr id="11" name="">
            <a:extLst xmlns:a="http://schemas.openxmlformats.org/drawingml/2006/main">
              <a:ext uri="{FF2B5EF4-FFF2-40B4-BE49-F238E27FC236}">
                <a16:creationId xmlns:a16="http://schemas.microsoft.com/office/drawing/2014/main" id="{6BB8466D-9D1B-4977-92FB-A21D1B5AE6C1}"/>
              </a:ext>
            </a:extLst>
          </p:cNvPr>
          <p:cNvSpPr>
            <a:spLocks xmlns:a="http://schemas.openxmlformats.org/drawingml/2006/main" noGrp="1"/>
          </p:cNvSpPr>
          <p:nvPr/>
        </p:nvSpPr>
        <p:spPr>
          <a:xfrm xmlns:a="http://schemas.openxmlformats.org/drawingml/2006/main">
            <a:off x="7048500" y="212407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667E448-FCFB-40FC-B3E4-0BEE7970B3EB}"/>
              </a:ext>
            </a:extLst>
          </p:cNvPr>
          <p:cNvSpPr>
            <a:spLocks xmlns:a="http://schemas.openxmlformats.org/drawingml/2006/main" noGrp="1"/>
          </p:cNvSpPr>
          <p:nvPr/>
        </p:nvSpPr>
        <p:spPr>
          <a:xfrm xmlns:a="http://schemas.openxmlformats.org/drawingml/2006/main">
            <a:off x="7267575" y="2047875"/>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A tested causal Lo–MacKinlay VR implementation</a:t>
            </a:r>
          </a:p>
        </p:txBody>
      </p:sp>
      <p:sp>
        <p:nvSpPr>
          <p:cNvPr id="13" name="">
            <a:extLst xmlns:a="http://schemas.openxmlformats.org/drawingml/2006/main">
              <a:ext uri="{FF2B5EF4-FFF2-40B4-BE49-F238E27FC236}">
                <a16:creationId xmlns:a16="http://schemas.microsoft.com/office/drawing/2014/main" id="{05F3A32A-2A95-479B-83E9-BF0ABC471B9C}"/>
              </a:ext>
            </a:extLst>
          </p:cNvPr>
          <p:cNvSpPr>
            <a:spLocks xmlns:a="http://schemas.openxmlformats.org/drawingml/2006/main" noGrp="1"/>
          </p:cNvSpPr>
          <p:nvPr/>
        </p:nvSpPr>
        <p:spPr>
          <a:xfrm xmlns:a="http://schemas.openxmlformats.org/drawingml/2006/main">
            <a:off x="7048500" y="267652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451B4AE-8940-4EFD-918D-B32EB81F4ECA}"/>
              </a:ext>
            </a:extLst>
          </p:cNvPr>
          <p:cNvSpPr>
            <a:spLocks xmlns:a="http://schemas.openxmlformats.org/drawingml/2006/main" noGrp="1"/>
          </p:cNvSpPr>
          <p:nvPr/>
        </p:nvSpPr>
        <p:spPr>
          <a:xfrm xmlns:a="http://schemas.openxmlformats.org/drawingml/2006/main">
            <a:off x="7267575" y="2600325"/>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Usable signed LOW / MEDIUM / HIGH states</a:t>
            </a:r>
          </a:p>
        </p:txBody>
      </p:sp>
      <p:sp>
        <p:nvSpPr>
          <p:cNvPr id="15" name="">
            <a:extLst xmlns:a="http://schemas.openxmlformats.org/drawingml/2006/main">
              <a:ext uri="{FF2B5EF4-FFF2-40B4-BE49-F238E27FC236}">
                <a16:creationId xmlns:a16="http://schemas.microsoft.com/office/drawing/2014/main" id="{35EB8C5C-30D9-4C87-AB9E-2C39573ADD7D}"/>
              </a:ext>
            </a:extLst>
          </p:cNvPr>
          <p:cNvSpPr>
            <a:spLocks xmlns:a="http://schemas.openxmlformats.org/drawingml/2006/main" noGrp="1"/>
          </p:cNvSpPr>
          <p:nvPr/>
        </p:nvSpPr>
        <p:spPr>
          <a:xfrm xmlns:a="http://schemas.openxmlformats.org/drawingml/2006/main">
            <a:off x="7048500" y="322897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3427CA-A35E-4490-9563-1651D7C0A1EC}"/>
              </a:ext>
            </a:extLst>
          </p:cNvPr>
          <p:cNvSpPr>
            <a:spLocks xmlns:a="http://schemas.openxmlformats.org/drawingml/2006/main" noGrp="1"/>
          </p:cNvSpPr>
          <p:nvPr/>
        </p:nvSpPr>
        <p:spPr>
          <a:xfrm xmlns:a="http://schemas.openxmlformats.org/drawingml/2006/main">
            <a:off x="7267575" y="3152775"/>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A clean example of measurement validity ≠ policy value</a:t>
            </a:r>
          </a:p>
        </p:txBody>
      </p:sp>
      <p:sp>
        <p:nvSpPr>
          <p:cNvPr id="17" name="">
            <a:extLst xmlns:a="http://schemas.openxmlformats.org/drawingml/2006/main">
              <a:ext uri="{FF2B5EF4-FFF2-40B4-BE49-F238E27FC236}">
                <a16:creationId xmlns:a16="http://schemas.microsoft.com/office/drawing/2014/main" id="{1533710C-4952-46FC-A31C-AA6CED680333}"/>
              </a:ext>
            </a:extLst>
          </p:cNvPr>
          <p:cNvSpPr>
            <a:spLocks xmlns:a="http://schemas.openxmlformats.org/drawingml/2006/main" noGrp="1"/>
          </p:cNvSpPr>
          <p:nvPr/>
        </p:nvSpPr>
        <p:spPr>
          <a:xfrm xmlns:a="http://schemas.openxmlformats.org/drawingml/2006/main">
            <a:off x="6905625" y="404812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D95F59"/>
                </a:solidFill>
              </a:defRPr>
            </a:pPr>
            <a:r>
              <a:rPr sz="1950" b="1">
                <a:solidFill>
                  <a:srgbClr val="D95F59"/>
                </a:solidFill>
              </a:rPr>
              <a:t>What remains closed</a:t>
            </a:r>
          </a:p>
        </p:txBody>
      </p:sp>
      <p:sp>
        <p:nvSpPr>
          <p:cNvPr id="18" name="">
            <a:extLst xmlns:a="http://schemas.openxmlformats.org/drawingml/2006/main">
              <a:ext uri="{FF2B5EF4-FFF2-40B4-BE49-F238E27FC236}">
                <a16:creationId xmlns:a16="http://schemas.microsoft.com/office/drawing/2014/main" id="{54E4F302-8207-4AC8-B2A9-83DC806F14BA}"/>
              </a:ext>
            </a:extLst>
          </p:cNvPr>
          <p:cNvSpPr>
            <a:spLocks xmlns:a="http://schemas.openxmlformats.org/drawingml/2006/main" noGrp="1"/>
          </p:cNvSpPr>
          <p:nvPr/>
        </p:nvSpPr>
        <p:spPr>
          <a:xfrm xmlns:a="http://schemas.openxmlformats.org/drawingml/2006/main">
            <a:off x="7048500" y="47434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EC4CA26-16C8-4EB4-B5F2-9B10F3D07ACB}"/>
              </a:ext>
            </a:extLst>
          </p:cNvPr>
          <p:cNvSpPr>
            <a:spLocks xmlns:a="http://schemas.openxmlformats.org/drawingml/2006/main" noGrp="1"/>
          </p:cNvSpPr>
          <p:nvPr/>
        </p:nvSpPr>
        <p:spPr>
          <a:xfrm xmlns:a="http://schemas.openxmlformats.org/drawingml/2006/main">
            <a:off x="7267575" y="4667250"/>
            <a:ext cx="4114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No threshold, horizon, or asset rescue</a:t>
            </a:r>
          </a:p>
        </p:txBody>
      </p:sp>
      <p:sp>
        <p:nvSpPr>
          <p:cNvPr id="20" name="">
            <a:extLst xmlns:a="http://schemas.openxmlformats.org/drawingml/2006/main">
              <a:ext uri="{FF2B5EF4-FFF2-40B4-BE49-F238E27FC236}">
                <a16:creationId xmlns:a16="http://schemas.microsoft.com/office/drawing/2014/main" id="{49BB900E-99DE-4625-952F-9EA0E87CEC24}"/>
              </a:ext>
            </a:extLst>
          </p:cNvPr>
          <p:cNvSpPr>
            <a:spLocks xmlns:a="http://schemas.openxmlformats.org/drawingml/2006/main" noGrp="1"/>
          </p:cNvSpPr>
          <p:nvPr/>
        </p:nvSpPr>
        <p:spPr>
          <a:xfrm xmlns:a="http://schemas.openxmlformats.org/drawingml/2006/main">
            <a:off x="7048500" y="52387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D889BE7-B5AF-41D6-AB3C-119AEDBCD54A}"/>
              </a:ext>
            </a:extLst>
          </p:cNvPr>
          <p:cNvSpPr>
            <a:spLocks xmlns:a="http://schemas.openxmlformats.org/drawingml/2006/main" noGrp="1"/>
          </p:cNvSpPr>
          <p:nvPr/>
        </p:nvSpPr>
        <p:spPr>
          <a:xfrm xmlns:a="http://schemas.openxmlformats.org/drawingml/2006/main">
            <a:off x="7267575" y="5162550"/>
            <a:ext cx="4114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No ATR stacking or alternate strategy contact</a:t>
            </a:r>
          </a:p>
        </p:txBody>
      </p:sp>
      <p:sp>
        <p:nvSpPr>
          <p:cNvPr id="22" name="">
            <a:extLst xmlns:a="http://schemas.openxmlformats.org/drawingml/2006/main">
              <a:ext uri="{FF2B5EF4-FFF2-40B4-BE49-F238E27FC236}">
                <a16:creationId xmlns:a16="http://schemas.microsoft.com/office/drawing/2014/main" id="{CD68F24E-99BE-4415-AACD-9F6CE7A27C2D}"/>
              </a:ext>
            </a:extLst>
          </p:cNvPr>
          <p:cNvSpPr>
            <a:spLocks xmlns:a="http://schemas.openxmlformats.org/drawingml/2006/main" noGrp="1"/>
          </p:cNvSpPr>
          <p:nvPr/>
        </p:nvSpPr>
        <p:spPr>
          <a:xfrm xmlns:a="http://schemas.openxmlformats.org/drawingml/2006/main">
            <a:off x="7048500" y="57340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1CA2EEC-08E9-4A0C-854F-B0AD3F8B5830}"/>
              </a:ext>
            </a:extLst>
          </p:cNvPr>
          <p:cNvSpPr>
            <a:spLocks xmlns:a="http://schemas.openxmlformats.org/drawingml/2006/main" noGrp="1"/>
          </p:cNvSpPr>
          <p:nvPr/>
        </p:nvSpPr>
        <p:spPr>
          <a:xfrm xmlns:a="http://schemas.openxmlformats.org/drawingml/2006/main">
            <a:off x="7267575" y="5657850"/>
            <a:ext cx="4114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No 2024+ confirmation inspection</a:t>
            </a:r>
          </a:p>
        </p:txBody>
      </p:sp>
      <p:sp>
        <p:nvSpPr>
          <p:cNvPr id="24" name="">
            <a:extLst xmlns:a="http://schemas.openxmlformats.org/drawingml/2006/main">
              <a:ext uri="{FF2B5EF4-FFF2-40B4-BE49-F238E27FC236}">
                <a16:creationId xmlns:a16="http://schemas.microsoft.com/office/drawing/2014/main" id="{344A0BED-C087-4588-83DC-8E26FEA8A335}"/>
              </a:ext>
            </a:extLst>
          </p:cNvPr>
          <p:cNvSpPr>
            <a:spLocks xmlns:a="http://schemas.openxmlformats.org/drawingml/2006/main" noGrp="1"/>
          </p:cNvSpPr>
          <p:nvPr/>
        </p:nvSpPr>
        <p:spPr>
          <a:xfrm xmlns:a="http://schemas.openxmlformats.org/drawingml/2006/main">
            <a:off x="523875" y="4857750"/>
            <a:ext cx="5762625" cy="10477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A0AAA86-77E6-473F-AF78-781DA4A072B0}"/>
              </a:ext>
            </a:extLst>
          </p:cNvPr>
          <p:cNvSpPr>
            <a:spLocks xmlns:a="http://schemas.openxmlformats.org/drawingml/2006/main" noGrp="1"/>
          </p:cNvSpPr>
          <p:nvPr/>
        </p:nvSpPr>
        <p:spPr>
          <a:xfrm xmlns:a="http://schemas.openxmlformats.org/drawingml/2006/main">
            <a:off x="809625" y="5143500"/>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7324D"/>
                </a:solidFill>
              </a:defRPr>
            </a:pPr>
            <a:r>
              <a:rPr sz="1350" b="1">
                <a:solidFill>
                  <a:srgbClr val="17324D"/>
                </a:solidFill>
              </a:rPr>
              <a:t>Next roadmap discussion: T2 robust slope/fit asks a different trend-quality question. It is not authorized by this STOP alone.</a:t>
            </a:r>
          </a:p>
        </p:txBody>
      </p:sp>
    </p:spTree>
    <p:extLst>
      <p:ext uri="{BB962C8B-B14F-4D97-AF65-F5344CB8AC3E}">
        <p14:creationId xmlns:p14="http://schemas.microsoft.com/office/powerpoint/2010/main" val="68843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2026-08-16T08:48:44.9150000Z</dcterms:created>
  <dcterms:modified xsi:type="dcterms:W3CDTF">2026-08-16T08:48:44.9150000Z</dcterms:modified>
</coreProperties>
</file>