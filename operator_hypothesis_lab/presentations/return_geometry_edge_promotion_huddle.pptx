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9bcf24663f4d23" /><Relationship Type="http://schemas.openxmlformats.org/officeDocument/2006/relationships/extended-properties" Target="/docProps/app.xml" Id="Rf2cc210f14074a9b" /><Relationship Type="http://schemas.openxmlformats.org/officeDocument/2006/relationships/officeDocument" Target="/ppt/presentation.xml" Id="R88b634b384174f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222f6b5c534970"/>
  </p:sldMasterIdLst>
  <p:notesMasterIdLst>
    <p:notesMasterId xmlns:r="http://schemas.openxmlformats.org/officeDocument/2006/relationships" r:id="R4e3d0d9f42fa402f"/>
  </p:notesMasterIdLst>
  <p:sldIdLst>
    <p:sldId xmlns:r="http://schemas.openxmlformats.org/officeDocument/2006/relationships" id="256" r:id="R69ded19b35a74389"/>
    <p:sldId xmlns:r="http://schemas.openxmlformats.org/officeDocument/2006/relationships" id="257" r:id="R9576d139b21642bb"/>
    <p:sldId xmlns:r="http://schemas.openxmlformats.org/officeDocument/2006/relationships" id="258" r:id="R032b98ce54084791"/>
    <p:sldId xmlns:r="http://schemas.openxmlformats.org/officeDocument/2006/relationships" id="259" r:id="R3c6e8fa3063042fa"/>
    <p:sldId xmlns:r="http://schemas.openxmlformats.org/officeDocument/2006/relationships" id="260" r:id="R419b3fe2c4724ab1"/>
    <p:sldId xmlns:r="http://schemas.openxmlformats.org/officeDocument/2006/relationships" id="261" r:id="R257747df4d004e9b"/>
    <p:sldId xmlns:r="http://schemas.openxmlformats.org/officeDocument/2006/relationships" id="262" r:id="Rb6fbcab2f00945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8992901ddb4a67" /><Relationship Type="http://schemas.openxmlformats.org/officeDocument/2006/relationships/slideMaster" Target="/ppt/slideMasters/slideMaster1.xml" Id="R4b222f6b5c534970" /><Relationship Type="http://schemas.openxmlformats.org/officeDocument/2006/relationships/notesMaster" Target="/ppt/notesMasters/notesMaster1.xml" Id="R4e3d0d9f42fa402f" /><Relationship Type="http://schemas.openxmlformats.org/officeDocument/2006/relationships/presProps" Target="/ppt/presProps.xml" Id="R8c16eb5df1d64944" /><Relationship Type="http://schemas.openxmlformats.org/officeDocument/2006/relationships/tableStyles" Target="/ppt/tableStyles.xml" Id="Rf44f9d768f734f6a" /><Relationship Type="http://schemas.openxmlformats.org/officeDocument/2006/relationships/slide" Target="/ppt/slides/slide1.xml" Id="R69ded19b35a74389" /><Relationship Type="http://schemas.openxmlformats.org/officeDocument/2006/relationships/slide" Target="/ppt/slides/slide2.xml" Id="R9576d139b21642bb" /><Relationship Type="http://schemas.openxmlformats.org/officeDocument/2006/relationships/slide" Target="/ppt/slides/slide3.xml" Id="R032b98ce54084791" /><Relationship Type="http://schemas.openxmlformats.org/officeDocument/2006/relationships/slide" Target="/ppt/slides/slide4.xml" Id="R3c6e8fa3063042fa" /><Relationship Type="http://schemas.openxmlformats.org/officeDocument/2006/relationships/slide" Target="/ppt/slides/slide5.xml" Id="R419b3fe2c4724ab1" /><Relationship Type="http://schemas.openxmlformats.org/officeDocument/2006/relationships/slide" Target="/ppt/slides/slide6.xml" Id="R257747df4d004e9b" /><Relationship Type="http://schemas.openxmlformats.org/officeDocument/2006/relationships/slide" Target="/ppt/slides/slide7.xml" Id="Rb6fbcab2f00945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9bb631f16446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18b547579e42bb" /><Relationship Type="http://schemas.openxmlformats.org/officeDocument/2006/relationships/notesMaster" Target="/ppt/notesMasters/notesMaster1.xml" Id="R260e240b5a324e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cec62cc9dc4582" /><Relationship Type="http://schemas.openxmlformats.org/officeDocument/2006/relationships/notesMaster" Target="/ppt/notesMasters/notesMaster1.xml" Id="R55978f307a3c4c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815a5ac8cf4ac1" /><Relationship Type="http://schemas.openxmlformats.org/officeDocument/2006/relationships/notesMaster" Target="/ppt/notesMasters/notesMaster1.xml" Id="Raaaf16005dee4b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c62424b8a14ec6" /><Relationship Type="http://schemas.openxmlformats.org/officeDocument/2006/relationships/notesMaster" Target="/ppt/notesMasters/notesMaster1.xml" Id="R5117c2b97d4a48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4cd2bdf7154040" /><Relationship Type="http://schemas.openxmlformats.org/officeDocument/2006/relationships/notesMaster" Target="/ppt/notesMasters/notesMaster1.xml" Id="Raa9f3eac51f746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6b09fa9dd64e3c" /><Relationship Type="http://schemas.openxmlformats.org/officeDocument/2006/relationships/notesMaster" Target="/ppt/notesMasters/notesMaster1.xml" Id="R498ac9e46f8146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9671ae48be45b1" /><Relationship Type="http://schemas.openxmlformats.org/officeDocument/2006/relationships/notesMaster" Target="/ppt/notesMasters/notesMaster1.xml" Id="Rb068aa37a17c43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deck begins a new research volume. The 123-slide descriptive microscope is frozen; subsequent huddles and promotion slices belong here. The opening question is whether any broad descriptive behavior predicts a better executable decision in untouched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Cross-asset breadth and a broad plateau make the behavior worth investigating, but all cells remain discovery evidence because the same historical period informed the atlas and our attention. A candidate must be stated prospectively before later data are opened.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Cumulative future returns are nested: R(1:100) = R(1:10) + R(11:100). If the signal is related only to R(1:10), that covariance is still carried inside R(1:20), R(1:50), and R(1:100). Later independent noise may attenuate the correlation, but it does not mechanically erase the early contribution. This is why an early 5–10-session rebound can remain visible at 100.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Recommended blocks for the first anatomy pass: sessions 1–5, 6–10, 11–20, 21–40, 41–60, and 61–100 after the signal anchor. The first purpose is descriptive falsification of duration, not parameter selection or a trading backtest.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operator_hypothesis_lab/presentations/tsla_descriptive_microscope_evidence.pptx, especially slides 105 and 114–123.</a:t>
            </a:r>
          </a:p>
          <a:p xmlns:a="http://schemas.openxmlformats.org/drawingml/2006/main">
            <a:r>
              <a:t>- operator_hypothesis_lab/docs/OWN_ASSET_RETURN_GEOMETRY_WORKFLOW_ROADMAP.md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later non-overlapping blocks continue to earn conditional return beyond the unconditional and state-only baselines, a 100-session holding concept is potentially actionable. It would be a medium-term tactical trade, not a swing trade. Actionability still depends on execution timing, drawdown, capital efficiency, turnover, and whether the rule meaningfully differs from always being long.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daily signal with a 100-session holding period can generate many overlapping positions and near-continuous market exposure. Compare it with unconditional drift, the same regime without the prior-loss condition, and matched long exposure. Data-snooping controls become relevant once variants are compared or performance is ranked.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Halbert White (2000), A Reality Check for Data Snooping, https://doi.org/10.1111/1468-0262.00152</a:t>
            </a:r>
          </a:p>
          <a:p xmlns:a="http://schemas.openxmlformats.org/drawingml/2006/main">
            <a:r>
              <a:t>- Bailey et al., The Probability of Backtest Overfitting, https://www.davidhbailey.com/dhbpapers/backtest-prob.pdf</a:t>
            </a:r>
          </a:p>
          <a:p xmlns:a="http://schemas.openxmlformats.org/drawingml/2006/main">
            <a:r>
              <a:t>- Bailey and López de Prado, The Deflated Sharpe Ratio, https://papers.ssrn.com/sol3/papers.cfm?abstract_id=2460551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promotion ladder is behavior → candidate signal → predictive signal → tradeable edge → deployable system. This introductory deck stops at the candidate-design gate. The next technical slice should preserve the original 20-session prior anchor and measure non-overlapping future blocks under the pre-existing filters and baselines.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thread 01a0226e-2fa2-7222-a6d9-79ab971ac616 (2026-08-27), operator–Codex huddle immediately following the full-vocabulary atlas closeout.</a:t>
            </a:r>
          </a:p>
          <a:p xmlns:a="http://schemas.openxmlformats.org/drawingml/2006/main">
            <a:r>
              <a:t>- operator_hypothesis_lab/docs/RETURN_GEOMETRY_WIDE_ATLAS_2018_2023.md</a:t>
            </a:r>
          </a:p>
          <a:p xmlns:a="http://schemas.openxmlformats.org/drawingml/2006/main">
            <a:r>
              <a:t>- operator_hypothesis_lab/docs/OWN_ASSET_RETURN_GEOMETRY_WORKFLOW_ROADMAP.md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27cac1199e44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c6260d95e64e59" /><Relationship Type="http://schemas.openxmlformats.org/officeDocument/2006/relationships/slideLayout" Target="/ppt/slideLayouts/slideLayout1.xml" Id="Rdfd14e4b1c7d4e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d14e4b1c7d4e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2e1846efd462f" /><Relationship Type="http://schemas.openxmlformats.org/officeDocument/2006/relationships/notesSlide" Target="/ppt/notesSlides/notesSlide1.xml" Id="R104a54ebafd445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4ad9090bd44b4" /><Relationship Type="http://schemas.openxmlformats.org/officeDocument/2006/relationships/notesSlide" Target="/ppt/notesSlides/notesSlide2.xml" Id="R504ea04a2bb647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31a7e4d344fdc" /><Relationship Type="http://schemas.openxmlformats.org/officeDocument/2006/relationships/notesSlide" Target="/ppt/notesSlides/notesSlide3.xml" Id="R3604a669db2d41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5db246f1f4b2d" /><Relationship Type="http://schemas.openxmlformats.org/officeDocument/2006/relationships/notesSlide" Target="/ppt/notesSlides/notesSlide4.xml" Id="R28114804ac7347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e410c548f4d29" /><Relationship Type="http://schemas.openxmlformats.org/officeDocument/2006/relationships/notesSlide" Target="/ppt/notesSlides/notesSlide5.xml" Id="R9bf8a2b8b04141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8832a3a604d9e" /><Relationship Type="http://schemas.openxmlformats.org/officeDocument/2006/relationships/notesSlide" Target="/ppt/notesSlides/notesSlide6.xml" Id="R9f8db15dc5ca44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3d62ee0f64724" /><Relationship Type="http://schemas.openxmlformats.org/officeDocument/2006/relationships/notesSlide" Target="/ppt/notesSlides/notesSlide7.xml" Id="Rac18d94beb704c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2B881-2D87-4470-A9E2-CA40D710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E45756"/>
                </a:solidFill>
              </a:defRPr>
            </a:pPr>
            <a:r>
              <a:rPr sz="1350" b="1">
                <a:solidFill>
                  <a:srgbClr val="E45756"/>
                </a:solidFill>
              </a:rPr>
              <a:t>EDGE PROMOTION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2094F-C042-49AB-BE8C-0ECFD224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From return geometry to candidate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94FB8-5765-4318-8A56-6DACECFE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9525">
            <a:solidFill>
              <a:srgbClr val="E4575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3D676-3E4E-40CF-9FFA-FDD3E7F4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667384"/>
                </a:solidFill>
              </a:defRPr>
            </a:pPr>
            <a:r>
              <a:rPr sz="2025" b="0">
                <a:solidFill>
                  <a:srgbClr val="667384"/>
                </a:solidFill>
              </a:rPr>
              <a:t>Promotion huddle and falsification 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9BB13-9AEC-4C77-9A8C-3203F830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667384"/>
                </a:solidFill>
              </a:defRPr>
            </a:pPr>
            <a:r>
              <a:rPr sz="1575" b="0">
                <a:solidFill>
                  <a:srgbClr val="667384"/>
                </a:solidFill>
              </a:rPr>
              <a:t>Incremental timing • frozen hypotheses • untouched transport • executable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89277-BA8D-465E-8FE0-58FC0F73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971670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PROMOTION BOUNDARY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atlas has earned behavior—not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promotion huddle | 2026-08-27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FOUND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 conditional return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129 instruments; many states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LEARNS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Scale and filters discriminate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rebound, continuation, exhaustion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DOES NOT EARN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prospective trading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 and baseline unresolved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Where we stand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atlas is a discovery surface. Promotion begins only after one hypothesis is frozen before new data.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75FA3A-7B7A-4DCE-BE5A-84E74DC1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667384"/>
                </a:solidFill>
              </a:defRPr>
            </a:pPr>
            <a:r>
              <a:rPr sz="1200" b="1">
                <a:solidFill>
                  <a:srgbClr val="667384"/>
                </a:solidFill>
              </a:rPr>
              <a:t>NESTED WINDOWS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72F5C-DF7D-407E-8191-2836C3E3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An early rebound echoes through longer cumulative windows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56945-A860-45BF-838A-84CF2A0F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0F6BF-7D1F-42F0-8870-18EA12E4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Return geometry | cumulative versus incremental timing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654AA-807A-4DD7-8B1E-550BE487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67384"/>
                </a:solidFill>
              </a:defRPr>
            </a:pPr>
            <a:r>
              <a:rPr sz="900" b="0">
                <a:solidFill>
                  <a:srgbClr val="667384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8904E-C2B5-4030-9F5C-135F8E81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91499-974A-45B1-BE0E-27A91CC8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DAYS 1–10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67979-9151-4748-A221-F0070561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Rebound occurs once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FD5673-B6D2-4155-A59A-F3191F8D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81150"/>
            <a:ext cx="3695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67384"/>
                </a:solidFill>
              </a:defRPr>
            </a:pPr>
            <a:r>
              <a:rPr sz="1275" b="0">
                <a:solidFill>
                  <a:srgbClr val="667384"/>
                </a:solidFill>
              </a:rPr>
              <a:t>example: rally in sessions 6–10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B0AB3-A3CD-4683-9CB0-471C0A7F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05535B-6C8D-445C-87D8-2FE19E86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F1D68-325D-4B3B-8F7C-00326724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9E0B"/>
                </a:solidFill>
              </a:defRPr>
            </a:pPr>
            <a:r>
              <a:rPr sz="1350" b="1">
                <a:solidFill>
                  <a:srgbClr val="F59E0B"/>
                </a:solidFill>
              </a:rPr>
              <a:t>DAYS 1–20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C81BC-9F5C-4D4F-B28E-718205D4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The same rebound remains inside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C97F66-8EE5-4A0F-BBD5-E69B0718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67384"/>
                </a:solidFill>
              </a:defRPr>
            </a:pPr>
            <a:r>
              <a:rPr sz="1500" b="0">
                <a:solidFill>
                  <a:srgbClr val="667384"/>
                </a:solidFill>
              </a:rPr>
              <a:t>plus sessions 11–20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D8078-2C96-47C8-BCCB-9A9EFA50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3796B2-0890-4697-AB3D-35737FA1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9525">
            <a:solidFill>
              <a:srgbClr val="2A9D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137E0-9E7E-4A70-8E4C-A559B3A7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A9D6F"/>
                </a:solidFill>
              </a:defRPr>
            </a:pPr>
            <a:r>
              <a:rPr sz="1350" b="1">
                <a:solidFill>
                  <a:srgbClr val="2A9D6F"/>
                </a:solidFill>
              </a:rPr>
              <a:t>DAYS 1–100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5FB54C-B8BA-41CE-8A2F-CF4B5EA7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The same rebound still remains inside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810C4-3E3B-413B-BE3A-0D0CBA54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667384"/>
                </a:solidFill>
              </a:defRPr>
            </a:pPr>
            <a:r>
              <a:rPr sz="1500" b="0">
                <a:solidFill>
                  <a:srgbClr val="667384"/>
                </a:solidFill>
              </a:rPr>
              <a:t>plus sessions 11–100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9AF3F5-7B95-485D-B9FA-C6052CF1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8A934-4548-47C8-8583-F3E852C7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F81B3D-ACD0-4A02-9B6C-89D78187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Nested-window consequence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CD672-B2FE-4661-8267-7719DCE7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667384"/>
                </a:solidFill>
              </a:defRPr>
            </a:pPr>
            <a:r>
              <a:rPr sz="1425" b="0">
                <a:solidFill>
                  <a:srgbClr val="667384"/>
                </a:solidFill>
              </a:rPr>
              <a:t>A rally ending by day 10 can influence every cumulative forward cell whose horizon is at least 10 sessions.</a:t>
            </a:r>
          </a:p>
        </p:txBody>
      </p:sp>
    </p:spTree>
    <p:extLst>
      <p:ext uri="{BB962C8B-B14F-4D97-AF65-F5344CB8AC3E}">
        <p14:creationId xmlns:p14="http://schemas.microsoft.com/office/powerpoint/2010/main" val="11549635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INCREMENTAL TIMING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Incremental blocks reveal when the return arrives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first recommended falsification slice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CUMULATIVE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R(1:100)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contains every earlier block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INCREMENTAL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R(1:5), R(6:10), 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each interval measured once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FALSIFIES DURATION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Only early blocks respond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the long plateau is an echo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Promotion condition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If later blocks retain conditional excess return, the signal has genuine duration rather than inherited history.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ACTIONABILITY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genuine 100-session effect can be actionable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medium-term interpretation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YES—IF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New excess return keeps accruing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not merely an embedded early rebound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TIME SCALE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Roughly four to five months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 medium-term tactical 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STILL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Net value versus the 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risk, costs, and opportunity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Important distinction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long horizon is not disqualifying. Weak conditional improvement—or permanent market exposure—is.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BASELINES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long-horizon rule must beat the right 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economic falsification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DRIFT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Unconditional future return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would the asset rise anyway?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State-only future return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does prior loss add information?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EXPOSURE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Matched long 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do repeated signals become buy-and-hold?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Executable 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Conditional net return must improve the decision after next-open timing, overlap, costs, and capital use.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PROMOTION LADDER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Promotion happens one frozen gate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Return geometry | next research volume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Describe the complete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complete in the closed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signal, target, and failure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next research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Untouched net decision improvement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later—not yet earned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2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Recommended next slice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original 20-session prior anchor and decompose future returns before opening post-2023 data.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2026-08-28T05:15:31.1540000Z</dcterms:created>
  <dcterms:modified xsi:type="dcterms:W3CDTF">2026-08-28T05:15:31.1540000Z</dcterms:modified>
</coreProperties>
</file>