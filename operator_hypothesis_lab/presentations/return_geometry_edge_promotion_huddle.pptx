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500ba5fad4a449f" /><Relationship Type="http://schemas.openxmlformats.org/officeDocument/2006/relationships/extended-properties" Target="/docProps/app.xml" Id="R408a88606e214b7f" /><Relationship Type="http://schemas.openxmlformats.org/officeDocument/2006/relationships/officeDocument" Target="/ppt/presentation.xml" Id="Rf071afc313ed4546" /></Relationships>
</file>

<file path=ppt/presentation.xml><?xml version="1.0" encoding="utf-8"?>
<p:presentation xmlns:p="http://schemas.openxmlformats.org/presentationml/2006/main">
  <p:sldMasterIdLst>
    <p:sldMasterId xmlns:r="http://schemas.openxmlformats.org/officeDocument/2006/relationships" id="2147483648" r:id="R7b5f2297cff04c42"/>
  </p:sldMasterIdLst>
  <p:notesMasterIdLst>
    <p:notesMasterId xmlns:r="http://schemas.openxmlformats.org/officeDocument/2006/relationships" r:id="Ra1d36a77685e4657"/>
  </p:notesMasterIdLst>
  <p:sldIdLst>
    <p:sldId xmlns:r="http://schemas.openxmlformats.org/officeDocument/2006/relationships" id="256" r:id="R260f5d23915c450f"/>
    <p:sldId xmlns:r="http://schemas.openxmlformats.org/officeDocument/2006/relationships" id="257" r:id="R0c457a97c65f4317"/>
    <p:sldId xmlns:r="http://schemas.openxmlformats.org/officeDocument/2006/relationships" id="258" r:id="R6f22f678b06b48db"/>
    <p:sldId xmlns:r="http://schemas.openxmlformats.org/officeDocument/2006/relationships" id="259" r:id="Rbe4690ace755489b"/>
    <p:sldId xmlns:r="http://schemas.openxmlformats.org/officeDocument/2006/relationships" id="260" r:id="R599678e7374c4259"/>
    <p:sldId xmlns:r="http://schemas.openxmlformats.org/officeDocument/2006/relationships" id="261" r:id="Rcb8fa09ebf844d2d"/>
    <p:sldId xmlns:r="http://schemas.openxmlformats.org/officeDocument/2006/relationships" id="262" r:id="Rc01cf9ca0e3e4c2c"/>
    <p:sldId xmlns:r="http://schemas.openxmlformats.org/officeDocument/2006/relationships" id="263" r:id="R6cd8df88d605457d"/>
    <p:sldId xmlns:r="http://schemas.openxmlformats.org/officeDocument/2006/relationships" id="264" r:id="R2aa4dfebb7dd411b"/>
    <p:sldId xmlns:r="http://schemas.openxmlformats.org/officeDocument/2006/relationships" id="265" r:id="R808f70af818046f3"/>
    <p:sldId xmlns:r="http://schemas.openxmlformats.org/officeDocument/2006/relationships" id="266" r:id="Rcb3d4e7366164ffe"/>
    <p:sldId xmlns:r="http://schemas.openxmlformats.org/officeDocument/2006/relationships" id="267" r:id="R01519ae0a66548ce"/>
    <p:sldId xmlns:r="http://schemas.openxmlformats.org/officeDocument/2006/relationships" id="268" r:id="Rea8d12b7ab204b7b"/>
    <p:sldId xmlns:r="http://schemas.openxmlformats.org/officeDocument/2006/relationships" id="269" r:id="Re0999a5d795044ea"/>
    <p:sldId xmlns:r="http://schemas.openxmlformats.org/officeDocument/2006/relationships" id="270" r:id="Rfa191beab31545f3"/>
    <p:sldId xmlns:r="http://schemas.openxmlformats.org/officeDocument/2006/relationships" id="271" r:id="R2e1cf856561b4e86"/>
    <p:sldId xmlns:r="http://schemas.openxmlformats.org/officeDocument/2006/relationships" id="272" r:id="Rc4095e6f0c884c92"/>
    <p:sldId xmlns:r="http://schemas.openxmlformats.org/officeDocument/2006/relationships" id="273" r:id="Rae0a9225a3554999"/>
    <p:sldId xmlns:r="http://schemas.openxmlformats.org/officeDocument/2006/relationships" id="274" r:id="Rb9085b40066240bc"/>
    <p:sldId xmlns:r="http://schemas.openxmlformats.org/officeDocument/2006/relationships" id="275" r:id="Ra39a8f7da45140b4"/>
    <p:sldId xmlns:r="http://schemas.openxmlformats.org/officeDocument/2006/relationships" id="276" r:id="R8205d8d6ff8c4c4e"/>
    <p:sldId xmlns:r="http://schemas.openxmlformats.org/officeDocument/2006/relationships" id="277" r:id="R8f82d32022da42fd"/>
    <p:sldId xmlns:r="http://schemas.openxmlformats.org/officeDocument/2006/relationships" id="278" r:id="Rcba22e6b9072490b"/>
    <p:sldId xmlns:r="http://schemas.openxmlformats.org/officeDocument/2006/relationships" id="279" r:id="R6a5b70e66056494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b16c5c757214408" /><Relationship Type="http://schemas.openxmlformats.org/officeDocument/2006/relationships/slideMaster" Target="/ppt/slideMasters/slideMaster1.xml" Id="R7b5f2297cff04c42" /><Relationship Type="http://schemas.openxmlformats.org/officeDocument/2006/relationships/notesMaster" Target="/ppt/notesMasters/notesMaster1.xml" Id="Ra1d36a77685e4657" /><Relationship Type="http://schemas.openxmlformats.org/officeDocument/2006/relationships/presProps" Target="/ppt/presProps.xml" Id="Rab9c6d0272a6439f" /><Relationship Type="http://schemas.openxmlformats.org/officeDocument/2006/relationships/tableStyles" Target="/ppt/tableStyles.xml" Id="R4ca82432cb2744e5" /><Relationship Type="http://schemas.openxmlformats.org/officeDocument/2006/relationships/slide" Target="/ppt/slides/slide1.xml" Id="R260f5d23915c450f" /><Relationship Type="http://schemas.openxmlformats.org/officeDocument/2006/relationships/slide" Target="/ppt/slides/slide2.xml" Id="R0c457a97c65f4317" /><Relationship Type="http://schemas.openxmlformats.org/officeDocument/2006/relationships/slide" Target="/ppt/slides/slide3.xml" Id="R6f22f678b06b48db" /><Relationship Type="http://schemas.openxmlformats.org/officeDocument/2006/relationships/slide" Target="/ppt/slides/slide4.xml" Id="Rbe4690ace755489b" /><Relationship Type="http://schemas.openxmlformats.org/officeDocument/2006/relationships/slide" Target="/ppt/slides/slide5.xml" Id="R599678e7374c4259" /><Relationship Type="http://schemas.openxmlformats.org/officeDocument/2006/relationships/slide" Target="/ppt/slides/slide6.xml" Id="Rcb8fa09ebf844d2d" /><Relationship Type="http://schemas.openxmlformats.org/officeDocument/2006/relationships/slide" Target="/ppt/slides/slide7.xml" Id="Rc01cf9ca0e3e4c2c" /><Relationship Type="http://schemas.openxmlformats.org/officeDocument/2006/relationships/slide" Target="/ppt/slides/slide8.xml" Id="R6cd8df88d605457d" /><Relationship Type="http://schemas.openxmlformats.org/officeDocument/2006/relationships/slide" Target="/ppt/slides/slide9.xml" Id="R2aa4dfebb7dd411b" /><Relationship Type="http://schemas.openxmlformats.org/officeDocument/2006/relationships/slide" Target="/ppt/slides/slide10.xml" Id="R808f70af818046f3" /><Relationship Type="http://schemas.openxmlformats.org/officeDocument/2006/relationships/slide" Target="/ppt/slides/slide11.xml" Id="Rcb3d4e7366164ffe" /><Relationship Type="http://schemas.openxmlformats.org/officeDocument/2006/relationships/slide" Target="/ppt/slides/slide12.xml" Id="R01519ae0a66548ce" /><Relationship Type="http://schemas.openxmlformats.org/officeDocument/2006/relationships/slide" Target="/ppt/slides/slide13.xml" Id="Rea8d12b7ab204b7b" /><Relationship Type="http://schemas.openxmlformats.org/officeDocument/2006/relationships/slide" Target="/ppt/slides/slide14.xml" Id="Re0999a5d795044ea" /><Relationship Type="http://schemas.openxmlformats.org/officeDocument/2006/relationships/slide" Target="/ppt/slides/slide15.xml" Id="Rfa191beab31545f3" /><Relationship Type="http://schemas.openxmlformats.org/officeDocument/2006/relationships/slide" Target="/ppt/slides/slide16.xml" Id="R2e1cf856561b4e86" /><Relationship Type="http://schemas.openxmlformats.org/officeDocument/2006/relationships/slide" Target="/ppt/slides/slide17.xml" Id="Rc4095e6f0c884c92" /><Relationship Type="http://schemas.openxmlformats.org/officeDocument/2006/relationships/slide" Target="/ppt/slides/slide18.xml" Id="Rae0a9225a3554999" /><Relationship Type="http://schemas.openxmlformats.org/officeDocument/2006/relationships/slide" Target="/ppt/slides/slide19.xml" Id="Rb9085b40066240bc" /><Relationship Type="http://schemas.openxmlformats.org/officeDocument/2006/relationships/slide" Target="/ppt/slides/slide20.xml" Id="Ra39a8f7da45140b4" /><Relationship Type="http://schemas.openxmlformats.org/officeDocument/2006/relationships/slide" Target="/ppt/slides/slide21.xml" Id="R8205d8d6ff8c4c4e" /><Relationship Type="http://schemas.openxmlformats.org/officeDocument/2006/relationships/slide" Target="/ppt/slides/slide22.xml" Id="R8f82d32022da42fd" /><Relationship Type="http://schemas.openxmlformats.org/officeDocument/2006/relationships/slide" Target="/ppt/slides/slide23.xml" Id="Rcba22e6b9072490b" /><Relationship Type="http://schemas.openxmlformats.org/officeDocument/2006/relationships/slide" Target="/ppt/slides/slide24.xml" Id="R6a5b70e66056494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4f686e19621430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c899801012c43d1" /><Relationship Type="http://schemas.openxmlformats.org/officeDocument/2006/relationships/notesMaster" Target="/ppt/notesMasters/notesMaster1.xml" Id="Rdb47ef3862434616"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f6dbb58bd644a5" /><Relationship Type="http://schemas.openxmlformats.org/officeDocument/2006/relationships/notesMaster" Target="/ppt/notesMasters/notesMaster1.xml" Id="Reece4adc5ddd40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ea9a2d53a08430b" /><Relationship Type="http://schemas.openxmlformats.org/officeDocument/2006/relationships/notesMaster" Target="/ppt/notesMasters/notesMaster1.xml" Id="R9f47eb40232b46eb" /></Relationships>
</file>

<file path=ppt/notesSlides/_rels/notesSlide4.xml.rels>&#65279;<?xml version="1.0" encoding="utf-8"?><Relationships xmlns="http://schemas.openxmlformats.org/package/2006/relationships"><Relationship Type="http://schemas.openxmlformats.org/officeDocument/2006/relationships/slide" Target="/ppt/slides/slide4.xml" Id="R7b569cf00c87496a" /><Relationship Type="http://schemas.openxmlformats.org/officeDocument/2006/relationships/notesMaster" Target="/ppt/notesMasters/notesMaster1.xml" Id="R301e6591b28d4a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5e1c8f73a254a6f" /><Relationship Type="http://schemas.openxmlformats.org/officeDocument/2006/relationships/notesMaster" Target="/ppt/notesMasters/notesMaster1.xml" Id="Rc2ef4ddf876c4813"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150744f02e4bd7" /><Relationship Type="http://schemas.openxmlformats.org/officeDocument/2006/relationships/notesMaster" Target="/ppt/notesMasters/notesMaster1.xml" Id="R24f9584663f546bb" /></Relationships>
</file>

<file path=ppt/notesSlides/_rels/notesSlide7.xml.rels>&#65279;<?xml version="1.0" encoding="utf-8"?><Relationships xmlns="http://schemas.openxmlformats.org/package/2006/relationships"><Relationship Type="http://schemas.openxmlformats.org/officeDocument/2006/relationships/slide" Target="/ppt/slides/slide7.xml" Id="R2649d5e618ae4de9" /><Relationship Type="http://schemas.openxmlformats.org/officeDocument/2006/relationships/notesMaster" Target="/ppt/notesMasters/notesMaster1.xml" Id="R308cd03b1af94361" /></Relationships>
</file>

<file path=ppt/notesSlides/_rels/notesSlide8.xml.rels>&#65279;<?xml version="1.0" encoding="utf-8"?><Relationships xmlns="http://schemas.openxmlformats.org/package/2006/relationships"><Relationship Type="http://schemas.openxmlformats.org/officeDocument/2006/relationships/slide" Target="/ppt/slides/slide8.xml" Id="R8ab67465701542d4" /><Relationship Type="http://schemas.openxmlformats.org/officeDocument/2006/relationships/notesMaster" Target="/ppt/notesMasters/notesMaster1.xml" Id="R944e58588f4e486b" /></Relationships>
</file>

<file path=ppt/notesSlides/_rels/notesSlide9.xml.rels>&#65279;<?xml version="1.0" encoding="utf-8"?><Relationships xmlns="http://schemas.openxmlformats.org/package/2006/relationships"><Relationship Type="http://schemas.openxmlformats.org/officeDocument/2006/relationships/slide" Target="/ppt/slides/slide9.xml" Id="R83d93800a1be4eda" /><Relationship Type="http://schemas.openxmlformats.org/officeDocument/2006/relationships/notesMaster" Target="/ppt/notesMasters/notesMaster1.xml" Id="Rc391b7d9ccec416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8e93fa5a52b401e" /><Relationship Type="http://schemas.openxmlformats.org/officeDocument/2006/relationships/notesMaster" Target="/ppt/notesMasters/notesMaster1.xml" Id="R6cbdd200db7b4d2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cc3c2bee639415b" /><Relationship Type="http://schemas.openxmlformats.org/officeDocument/2006/relationships/notesMaster" Target="/ppt/notesMasters/notesMaster1.xml" Id="R3535178147d04a0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53e6f7642574ad4" /><Relationship Type="http://schemas.openxmlformats.org/officeDocument/2006/relationships/notesMaster" Target="/ppt/notesMasters/notesMaster1.xml" Id="R486a36c0de07445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82726fe3c904f71" /><Relationship Type="http://schemas.openxmlformats.org/officeDocument/2006/relationships/notesMaster" Target="/ppt/notesMasters/notesMaster1.xml" Id="Rd4b8aafe613f41f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e28e722676b4edc" /><Relationship Type="http://schemas.openxmlformats.org/officeDocument/2006/relationships/notesMaster" Target="/ppt/notesMasters/notesMaster1.xml" Id="R502a1c680a4c4d1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d6f57132a2d4bdc" /><Relationship Type="http://schemas.openxmlformats.org/officeDocument/2006/relationships/notesMaster" Target="/ppt/notesMasters/notesMaster1.xml" Id="Re46910589956428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2fa846882a248ae" /><Relationship Type="http://schemas.openxmlformats.org/officeDocument/2006/relationships/notesMaster" Target="/ppt/notesMasters/notesMaster1.xml" Id="Rd915015da05b45e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7b2450fc5414c45" /><Relationship Type="http://schemas.openxmlformats.org/officeDocument/2006/relationships/notesMaster" Target="/ppt/notesMasters/notesMaster1.xml" Id="R2d9b7867b96a4b2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525baa950df4318" /><Relationship Type="http://schemas.openxmlformats.org/officeDocument/2006/relationships/notesMaster" Target="/ppt/notesMasters/notesMaster1.xml" Id="Ra7e0d32220ee469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e5acbe1a0c941fc" /><Relationship Type="http://schemas.openxmlformats.org/officeDocument/2006/relationships/notesMaster" Target="/ppt/notesMasters/notesMaster1.xml" Id="Rffad8bf1609447a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8047f2231ab4328" /><Relationship Type="http://schemas.openxmlformats.org/officeDocument/2006/relationships/notesMaster" Target="/ppt/notesMasters/notesMaster1.xml" Id="R53350d73f6b3471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2f867c17d8c473d" /><Relationship Type="http://schemas.openxmlformats.org/officeDocument/2006/relationships/notesMaster" Target="/ppt/notesMasters/notesMaster1.xml" Id="Rc9a295377e5f49d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85b4545bad843c7" /><Relationship Type="http://schemas.openxmlformats.org/officeDocument/2006/relationships/notesMaster" Target="/ppt/notesMasters/notesMaster1.xml" Id="Red9d2d0c4c994d7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ee2411f36e84cd0" /><Relationship Type="http://schemas.openxmlformats.org/officeDocument/2006/relationships/notesMaster" Target="/ppt/notesMasters/notesMaster1.xml" Id="R760dbc75710c4a3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aba007cb67a4bfb" /><Relationship Type="http://schemas.openxmlformats.org/officeDocument/2006/relationships/notesMaster" Target="/ppt/notesMasters/notesMaster1.xml" Id="Ra3760d32e7644c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begins a new research volume. The 123-slide descriptive microscope is frozen; subsequent huddles and promotion slices belong here. The opening question is whether any broad descriptive behavior predicts a better executable decision in untouched data.</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 operator_hypothesis_lab/presentations/tsla_descriptive_microscope_evidence.pptx, especially slides 105 and 114–123.</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Cross-asset breadth and a broad plateau make the behavior worth investigating, but all cells remain discovery evidence because the same historical period informed the atlas and our attention. A candidate must be stated prospectively before later data are opened.</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 operator_hypothesis_lab/presentations/tsla_descriptive_microscope_evidence.pptx, especially slides 105 and 114–123.</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Cumulative future returns are nested: R(1:100) = R(1:10) + R(11:100). If the signal is related only to R(1:10), that covariance is still carried inside R(1:20), R(1:50), and R(1:100). Later independent noise may attenuate the correlation, but it does not mechanically erase the early contribution. This is why an early 5–10-session rebound can remain visible at 100.</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 operator_hypothesis_lab/presentations/tsla_descriptive_microscope_evidence.pptx, especially slides 105 and 114–123.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Recommended blocks for the first anatomy pass: sessions 1–5, 6–10, 11–20, 21–40, 41–60, and 61–100 after the signal anchor. The first purpose is descriptive falsification of duration, not parameter selection or a trading backtest.</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 operator_hypothesis_lab/presentations/tsla_descriptive_microscope_evidence.pptx, especially slides 105 and 114–123.</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later non-overlapping blocks continue to earn conditional return beyond the unconditional and state-only baselines, a 100-session holding concept is potentially actionable. It would be a medium-term tactical trade, not a swing trade. Actionability still depends on execution timing, drawdown, capital efficiency, turnover, and whether the rule meaningfully differs from always being long.</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daily signal with a 100-session holding period can generate many overlapping positions and near-continuous market exposure. Compare it with unconditional drift, the same regime without the prior-loss condition, and matched long exposure. Data-snooping controls become relevant once variants are compared or performance is ranked.</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 Halbert White (2000), A Reality Check for Data Snooping, https://doi.org/10.1111/1468-0262.00152</a:t>
            </a:r>
          </a:p>
          <a:p xmlns:a="http://schemas.openxmlformats.org/drawingml/2006/main">
            <a:r>
              <a:t>- Bailey et al., The Probability of Backtest Overfitting, https://www.davidhbailey.com/dhbpapers/backtest-prob.pdf</a:t>
            </a:r>
          </a:p>
          <a:p xmlns:a="http://schemas.openxmlformats.org/drawingml/2006/main">
            <a:r>
              <a:t>- Bailey and López de Prado, The Deflated Sharpe Ratio, https://papers.ssrn.com/sol3/papers.cfm?abstract_id=2460551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promotion ladder is behavior → candidate signal → predictive signal → tradeable edge → deployable system. This introductory deck stops at the candidate-design gate. The next technical slice should preserve the original 20-session prior anchor and measure non-overlapping future blocks under the pre-existing filters and baselines.</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 operator_hypothesis_lab/docs/RETURN_GEOMETRY_WIDE_ATLAS_2018_2023.md</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freezes the only outcome subset under the microscope. The primary state is signed ER20 DOWN_TREND at a 20-session negative-prior anchor. The 88-stock GICS core forms the equal-sector headline; other cohorts cannot alter it.</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runs/research_workbench/operator_hypothesis_lab/return_geometry_incremental_forward_decomposition_20260827/run_spec.csv</a:t>
            </a:r>
          </a:p>
          <a:p xmlns:a="http://schemas.openxmlformats.org/drawingml/2006/main">
            <a:r>
              <a:t>- operator_hypothesis_lab/docs/RETURN_GEOMETRY_EDGE_PROMOTION_HUDDLE.md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blocks are evaluated on anchors that have the full subsequent 100 sessions available. The construction audit verifies that the six incremental returns sum to R(1:100) with maximum absolute error below 7e-16 and reproduces shared cumulative cells below 6e-16.</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runs/research_workbench/operator_hypothesis_lab/return_geometry_incremental_forward_decomposition_20260827/run_spec.csv</a:t>
            </a:r>
          </a:p>
          <a:p xmlns:a="http://schemas.openxmlformats.org/drawingml/2006/main">
            <a:r>
              <a:t>- runs/research_workbench/operator_hypothesis_lab/return_geometry_incremental_forward_decomposition_20260827/decomposition_checks.csv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cumulative line remains strongly negative because it carries earlier blocks. The incremental line shows where new covariance arrives: it is negative in every block, but its strength is uneven. The 41-60 block is especially distinct; the 61-100 block is weak and the unfiltered-loss comparator is near zero there.</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runs/research_workbench/operator_hypothesis_lab/return_geometry_incremental_forward_decomposition_20260827/equal_sector_block_summary.csv</a:t>
            </a:r>
          </a:p>
          <a:p xmlns:a="http://schemas.openxmlformats.org/drawingml/2006/main">
            <a:r>
              <a:t>- runs/research_workbench/operator_hypothesis_lab/return_geometry_incremental_forward_decomposition_20260827/report.md</a:t>
            </a:r>
          </a:p>
          <a:p xmlns:a="http://schemas.openxmlformats.org/drawingml/2006/main">
            <a:r>
              <a:t>- runs/research_workbench/operator_hypothesis_lab/return_geometry_incremental_forward_decomposition_20260827/visuals/cumulative_vs_incremental_correlation.png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 of 11 sector medians are negative in both 21-40 and 41-60. Breadth falls to 7 of 11 in 61-100, where Utilities, Real Estate, Financials, and Energy turn positive. This is broad morphology with real heterogeneity, not a universal asset law.</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runs/research_workbench/operator_hypothesis_lab/return_geometry_incremental_forward_decomposition_20260827/core_sector_block_summary.csv</a:t>
            </a:r>
          </a:p>
          <a:p xmlns:a="http://schemas.openxmlformats.org/drawingml/2006/main">
            <a:r>
              <a:t>- runs/research_workbench/operator_hypothesis_lab/return_geometry_incremental_forward_decomposition_20260827/equal_sector_block_summary.csv</a:t>
            </a:r>
          </a:p>
          <a:p xmlns:a="http://schemas.openxmlformats.org/drawingml/2006/main">
            <a:r>
              <a:t>- runs/research_workbench/operator_hypothesis_lab/return_geometry_incremental_forward_decomposition_20260827/visuals/incremental_sector_heatmap.png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asset distributions show why the equal-sector median should not be read as a universal prediction. The median is negative through 41-60, while individual assets span both signs. The 61-100 median approaches zero and its interquartile range crosses well into positive territory.</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runs/research_workbench/operator_hypothesis_lab/return_geometry_incremental_forward_decomposition_20260827/asset_block_metrics.csv</a:t>
            </a:r>
          </a:p>
          <a:p xmlns:a="http://schemas.openxmlformats.org/drawingml/2006/main">
            <a:r>
              <a:t>- runs/research_workbench/operator_hypothesis_lab/return_geometry_incremental_forward_decomposition_20260827/equal_sector_block_summary.csv</a:t>
            </a:r>
          </a:p>
          <a:p xmlns:a="http://schemas.openxmlformats.org/drawingml/2006/main">
            <a:r>
              <a:t>- runs/research_workbench/operator_hypothesis_lab/return_geometry_incremental_forward_decomposition_20260827/visuals/incremental_asset_distribution.png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Drift-adjusted return is positive from sessions 1 through 60, peaking at 7.07 bp per session in 11-20 and remaining 4.47 bp in 21-40. It falls to 0.72 bp in 41-60 and turns negative at -0.90 bp in 61-100; only 3 of 11 sector medians remain positive in that final block. This is descriptive and not cost-, overlap-, or path-adjusted.</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runs/research_workbench/operator_hypothesis_lab/return_geometry_incremental_forward_decomposition_20260827/equal_sector_block_summary.csv</a:t>
            </a:r>
          </a:p>
          <a:p xmlns:a="http://schemas.openxmlformats.org/drawingml/2006/main">
            <a:r>
              <a:t>- runs/research_workbench/operator_hypothesis_lab/return_geometry_incremental_forward_decomposition_20260827/report.md</a:t>
            </a:r>
          </a:p>
          <a:p xmlns:a="http://schemas.openxmlformats.org/drawingml/2006/main">
            <a:r>
              <a:t>- runs/research_workbench/operator_hypothesis_lab/return_geometry_incremental_forward_decomposition_20260827/visuals/incremental_excess_bp_per_session.png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predeclared descriptive rule required at least two of three late blocks to have negative equal-sector correlation, at least 7 of 11 negative sector medians, and positive drift-adjusted return per session. The 21-40 and 41-60 blocks pass; 61-100 fails on drift-adjusted accrual. Preserve LATE_INCREMENTAL_DURATION_RETAINS_DESCRIPTIVE_SUPPORT without converting it into a 60-session holding recommendation.</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runs/research_workbench/operator_hypothesis_lab/return_geometry_incremental_forward_decomposition_20260827/report.md</a:t>
            </a:r>
          </a:p>
          <a:p xmlns:a="http://schemas.openxmlformats.org/drawingml/2006/main">
            <a:r>
              <a:t>- runs/research_workbench/operator_hypothesis_lab/return_geometry_incremental_forward_decomposition_20260827/late_block_readout.csv</a:t>
            </a:r>
          </a:p>
          <a:p xmlns:a="http://schemas.openxmlformats.org/drawingml/2006/main">
            <a:r>
              <a:t>- runs/research_workbench/operator_hypothesis_lab/return_geometry_incremental_forward_decomposition_20260827/status.csv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129 instruments in the wide atlas are processed wherever the causal history requirement is met. The 88 figure is not a reduced universe: it is the full-history stock core spanning 11 GICS sectors and supplies the equal-sector headline. The remaining 41 instruments stay visible as attention, equity-ETF, and non-equity diagnostic cohorts.</a:t>
            </a:r>
          </a:p>
          <a:p xmlns:a="http://schemas.openxmlformats.org/drawingml/2006/main">
            <a:r>
              <a:t/>
            </a:r>
          </a:p>
          <a:p xmlns:a="http://schemas.openxmlformats.org/drawingml/2006/main">
            <a:r>
              <a:t>[Sources]</a:t>
            </a:r>
          </a:p>
          <a:p xmlns:a="http://schemas.openxmlformats.org/drawingml/2006/main">
            <a:r>
              <a:t>- Codex thread 01a0226e-2fa2-7222-a6d9-79ab971ac616 (2026-08-28), operator-authorized bottom-20% next-open rule translation.</a:t>
            </a:r>
          </a:p>
          <a:p xmlns:a="http://schemas.openxmlformats.org/drawingml/2006/main">
            <a:r>
              <a:t>- runs/research_workbench/operator_hypothesis_lab/return_geometry_next_open_rule_translation_20260828/run_spec.csv</a:t>
            </a:r>
          </a:p>
          <a:p xmlns:a="http://schemas.openxmlformats.org/drawingml/2006/main">
            <a:r>
              <a:t>- runs/research_workbench/operator_hypothesis_lab/return_geometry_next_open_rule_translation_20260828/candidate_coverage.csv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severity threshold uses only an asset's previous negative 20-session returns; the current observation is excluded. A qualifying close-t signal enters at adjusted open t+1 and exits at adjusted open t+21. Only one position may be active per asset, and a signal observed at the close of the exit session may seed the next trade.</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runs/research_workbench/operator_hypothesis_lab/return_geometry_next_open_rule_translation_20260828/run_spec.csv</a:t>
            </a:r>
          </a:p>
          <a:p xmlns:a="http://schemas.openxmlformats.org/drawingml/2006/main">
            <a:r>
              <a:t>- runs/research_workbench/operator_hypothesis_lab/return_geometry_next_open_rule_translation_20260828/rule_translation_checks.csv</a:t>
            </a:r>
          </a:p>
          <a:p xmlns:a="http://schemas.openxmlformats.org/drawingml/2006/main">
            <a:r>
              <a:t>- operator_hypothesis_lab/docs/RETURN_GEOMETRY_NEXT_OPEN_RULE_TRANSLATION_2018_2023.md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88-stock core, the same events average +0.60% close-to-close and +0.55% gross open-to-open. The roughly -0.04 percentage-point translation loss is real but small, so the TRAIN outcome is not explained by moving the trade clock to executable opens.</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runs/research_workbench/operator_hypothesis_lab/return_geometry_next_open_rule_translation_20260828/trade_summary.csv</a:t>
            </a:r>
          </a:p>
          <a:p xmlns:a="http://schemas.openxmlformats.org/drawingml/2006/main">
            <a:r>
              <a:t>- runs/research_workbench/operator_hypothesis_lab/return_geometry_next_open_rule_translation_20260828/visuals/close_to_open_translation.png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breadth gate required at least 7 of 11 sectors to have positive median asset net excess over the same-asset unconditional 20-session open-to-open drift baseline. Only 6 pass. Communication Services is strongest; Consumer Discretionary is weakest.</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runs/research_workbench/operator_hypothesis_lab/return_geometry_next_open_rule_translation_20260828/core_sector_summary.csv</a:t>
            </a:r>
          </a:p>
          <a:p xmlns:a="http://schemas.openxmlformats.org/drawingml/2006/main">
            <a:r>
              <a:t>- runs/research_workbench/operator_hypothesis_lab/return_geometry_next_open_rule_translation_20260828/train_mechanics_gates.csv</a:t>
            </a:r>
          </a:p>
          <a:p xmlns:a="http://schemas.openxmlformats.org/drawingml/2006/main">
            <a:r>
              <a:t>- runs/research_workbench/operator_hypothesis_lab/return_geometry_next_open_rule_translation_20260828/visuals/core_sector_net_excess.png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equal-sector median asset earns +16.7 bp net excess per trade and the median core asset is barely positive at +1.9 bp. But the event-pooled core mean is -25.1 bp. That sign conflict means the result depends materially on whether assets, sectors, or events receive equal weight.</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runs/research_workbench/operator_hypothesis_lab/return_geometry_next_open_rule_translation_20260828/equal_sector_summary.csv</a:t>
            </a:r>
          </a:p>
          <a:p xmlns:a="http://schemas.openxmlformats.org/drawingml/2006/main">
            <a:r>
              <a:t>- runs/research_workbench/operator_hypothesis_lab/return_geometry_next_open_rule_translation_20260828/trade_summary.csv</a:t>
            </a:r>
          </a:p>
          <a:p xmlns:a="http://schemas.openxmlformats.org/drawingml/2006/main">
            <a:r>
              <a:t>- runs/research_workbench/operator_hypothesis_lab/return_geometry_next_open_rule_translation_20260828/visuals/core_aggregation_lenses.png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TRAIN mechanics are not temporally stable: 2019 and 2021 are strongly positive, while 2020 and 2022 are negative. This calendar view is descriptive and does not create a new year filter.</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runs/research_workbench/operator_hypothesis_lab/return_geometry_next_open_rule_translation_20260828/core_year_summary.csv</a:t>
            </a:r>
          </a:p>
          <a:p xmlns:a="http://schemas.openxmlformats.org/drawingml/2006/main">
            <a:r>
              <a:t>- runs/research_workbench/operator_hypothesis_lab/return_geometry_next_open_rule_translation_20260828/visuals/core_yearly_net_return.png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Cohort paths reveal that the atlas is not behaviorally homogeneous. The 88-stock GICS core and equity ETFs stabilize above zero on average, while the attention cohort continues declining after entry. The non-equity controls remain weak.</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runs/research_workbench/operator_hypothesis_lab/return_geometry_next_open_rule_translation_20260828/trade_path_summary.csv</a:t>
            </a:r>
          </a:p>
          <a:p xmlns:a="http://schemas.openxmlformats.org/drawingml/2006/main">
            <a:r>
              <a:t>- runs/research_workbench/operator_hypothesis_lab/return_geometry_next_open_rule_translation_20260828/cohort_summary.csv</a:t>
            </a:r>
          </a:p>
          <a:p xmlns:a="http://schemas.openxmlformats.org/drawingml/2006/main">
            <a:r>
              <a:t>- runs/research_workbench/operator_hypothesis_lab/return_geometry_next_open_rule_translation_20260828/visuals/mean_trade_path_by_cohort.png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 within sectors, asset-level outcomes span both signs. This dispersion is why a positive equal-sector median is not enough to promote the rule and why the breadth gate was frozen before seeing the result.</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runs/research_workbench/operator_hypothesis_lab/return_geometry_next_open_rule_translation_20260828/asset_summary.csv</a:t>
            </a:r>
          </a:p>
          <a:p xmlns:a="http://schemas.openxmlformats.org/drawingml/2006/main">
            <a:r>
              <a:t>- runs/research_workbench/operator_hypothesis_lab/return_geometry_next_open_rule_translation_20260828/core_sector_summary.csv</a:t>
            </a:r>
          </a:p>
          <a:p xmlns:a="http://schemas.openxmlformats.org/drawingml/2006/main">
            <a:r>
              <a:t>- runs/research_workbench/operator_hypothesis_lab/return_geometry_next_open_rule_translation_20260828/visuals/core_asset_excess_distribution.png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first eligible deterministic trades for TSLA, AMD, GOOGL, and SPY—not chosen winners. Red marks the qualifying signal close, green the next-open entry, and blue the 20-session exit. The panels make the rule's heterogeneous path behavior directly inspectable.</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runs/research_workbench/operator_hypothesis_lab/return_geometry_next_open_rule_translation_20260828/primary_trade_ledger.csv</a:t>
            </a:r>
          </a:p>
          <a:p xmlns:a="http://schemas.openxmlformats.org/drawingml/2006/main">
            <a:r>
              <a:t>- runs/research_workbench/operator_hypothesis_lab/return_geometry_next_open_rule_translation_20260828/visuals/representative_trade_tapes.png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TRAIN rule does not retain mechanical support. It activates all 129 atlas instruments and 88 of 88 core stocks, so coverage is not the problem. It fails only the predeclared sector-breadth gate, but the event-pooled negative excess and strong cohort/calendar heterogeneity reinforce the STOP. No post-2023 outcomes were opened.</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runs/research_workbench/operator_hypothesis_lab/return_geometry_next_open_rule_translation_20260828/status.csv</a:t>
            </a:r>
          </a:p>
          <a:p xmlns:a="http://schemas.openxmlformats.org/drawingml/2006/main">
            <a:r>
              <a:t>- runs/research_workbench/operator_hypothesis_lab/return_geometry_next_open_rule_translation_20260828/train_mechanics_gates.csv</a:t>
            </a:r>
          </a:p>
          <a:p xmlns:a="http://schemas.openxmlformats.org/drawingml/2006/main">
            <a:r>
              <a:t>- runs/research_workbench/operator_hypothesis_lab/return_geometry_next_open_rule_translation_20260828/report.md</a:t>
            </a:r>
          </a:p>
          <a:p xmlns:a="http://schemas.openxmlformats.org/drawingml/2006/main">
            <a:r>
              <a:t>- operator_hypothesis_lab/docs/RETURN_GEOMETRY_NEXT_OPEN_RULE_TRANSLATION_2018_2023.md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6909bac43f1461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0a0ea6fefc149d1" /><Relationship Type="http://schemas.openxmlformats.org/officeDocument/2006/relationships/slideLayout" Target="/ppt/slideLayouts/slideLayout1.xml" Id="Rbd3dffb78ea74b1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d3dffb78ea74b1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03e8aa26e5642fe" /><Relationship Type="http://schemas.openxmlformats.org/officeDocument/2006/relationships/notesSlide" Target="/ppt/notesSlides/notesSlide1.xml" Id="R05d85d328f15414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287d1a227ca46ab" /><Relationship Type="http://schemas.openxmlformats.org/officeDocument/2006/relationships/notesSlide" Target="/ppt/notesSlides/notesSlide2.xml" Id="Ra174035ff1da42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ede568ec01142e2" /><Relationship Type="http://schemas.openxmlformats.org/officeDocument/2006/relationships/notesSlide" Target="/ppt/notesSlides/notesSlide3.xml" Id="R2b80b7bb493b4b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71308dd1d9846bc" /><Relationship Type="http://schemas.openxmlformats.org/officeDocument/2006/relationships/notesSlide" Target="/ppt/notesSlides/notesSlide4.xml" Id="Rbb621ac2b7344a2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f3c799eed2f464a" /><Relationship Type="http://schemas.openxmlformats.org/officeDocument/2006/relationships/notesSlide" Target="/ppt/notesSlides/notesSlide5.xml" Id="R97055f20c3e4414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94934ba820245b5" /><Relationship Type="http://schemas.openxmlformats.org/officeDocument/2006/relationships/notesSlide" Target="/ppt/notesSlides/notesSlide6.xml" Id="R305f114fbae845e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6f9e36744dd4a75" /><Relationship Type="http://schemas.openxmlformats.org/officeDocument/2006/relationships/notesSlide" Target="/ppt/notesSlides/notesSlide7.xml" Id="R57f464250a204c9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f633246dd48441c" /><Relationship Type="http://schemas.openxmlformats.org/officeDocument/2006/relationships/notesSlide" Target="/ppt/notesSlides/notesSlide8.xml" Id="Rb43ca4140efc4ac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8adc803b6854946" /><Relationship Type="http://schemas.openxmlformats.org/officeDocument/2006/relationships/notesSlide" Target="/ppt/notesSlides/notesSlide9.xml" Id="R1e485777e5ec4cb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beae403672d4763" /><Relationship Type="http://schemas.openxmlformats.org/officeDocument/2006/relationships/image" Target="/ppt/media/image.png" Id="Rfd766bee8c044ba7" /><Relationship Type="http://schemas.openxmlformats.org/officeDocument/2006/relationships/notesSlide" Target="/ppt/notesSlides/notesSlide10.xml" Id="R426194c9c894495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a9f75cad1094826" /><Relationship Type="http://schemas.openxmlformats.org/officeDocument/2006/relationships/image" Target="/ppt/media/image2.png" Id="Rc9e6468457884f53" /><Relationship Type="http://schemas.openxmlformats.org/officeDocument/2006/relationships/notesSlide" Target="/ppt/notesSlides/notesSlide11.xml" Id="Rfc4dcaadf5954f2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7f02960d5ea4516" /><Relationship Type="http://schemas.openxmlformats.org/officeDocument/2006/relationships/image" Target="/ppt/media/image3.png" Id="R3abad371ac3146f9" /><Relationship Type="http://schemas.openxmlformats.org/officeDocument/2006/relationships/notesSlide" Target="/ppt/notesSlides/notesSlide12.xml" Id="R845512f069b84ad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844c01005974a3f" /><Relationship Type="http://schemas.openxmlformats.org/officeDocument/2006/relationships/image" Target="/ppt/media/image4.png" Id="R00c8bba7dc844c19" /><Relationship Type="http://schemas.openxmlformats.org/officeDocument/2006/relationships/notesSlide" Target="/ppt/notesSlides/notesSlide13.xml" Id="R7dfbc09682e94f1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ab413372bb84104" /><Relationship Type="http://schemas.openxmlformats.org/officeDocument/2006/relationships/notesSlide" Target="/ppt/notesSlides/notesSlide14.xml" Id="R4947cc593a6947c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7737029fa004d79" /><Relationship Type="http://schemas.openxmlformats.org/officeDocument/2006/relationships/notesSlide" Target="/ppt/notesSlides/notesSlide15.xml" Id="R3b6b04b23712408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2373ff1176b4dec" /><Relationship Type="http://schemas.openxmlformats.org/officeDocument/2006/relationships/notesSlide" Target="/ppt/notesSlides/notesSlide16.xml" Id="Rcd67939b361147c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36de5cd26ff4eb3" /><Relationship Type="http://schemas.openxmlformats.org/officeDocument/2006/relationships/image" Target="/ppt/media/image3.png" Id="R0a608633f35945ef" /><Relationship Type="http://schemas.openxmlformats.org/officeDocument/2006/relationships/image" Target="/ppt/media/image5.png" Id="Re3026b6be95741d2" /><Relationship Type="http://schemas.openxmlformats.org/officeDocument/2006/relationships/image" Target="/ppt/media/image.svg" Id="R45f9ef4b411d45eb" /><Relationship Type="http://schemas.openxmlformats.org/officeDocument/2006/relationships/image" Target="/ppt/media/image6.png" Id="Rcb8ca6514b674afa" /><Relationship Type="http://schemas.openxmlformats.org/officeDocument/2006/relationships/notesSlide" Target="/ppt/notesSlides/notesSlide17.xml" Id="R208f6ba64ce3490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52cda90042841da" /><Relationship Type="http://schemas.openxmlformats.org/officeDocument/2006/relationships/image" Target="/ppt/media/image4.png" Id="Rc011db9cd19240e8" /><Relationship Type="http://schemas.openxmlformats.org/officeDocument/2006/relationships/image" Target="/ppt/media/image7.png" Id="Rf6a6944a475c49ef" /><Relationship Type="http://schemas.openxmlformats.org/officeDocument/2006/relationships/image" Target="/ppt/media/image2.svg" Id="R9489692dd1184771" /><Relationship Type="http://schemas.openxmlformats.org/officeDocument/2006/relationships/image" Target="/ppt/media/image8.png" Id="Raad7ce7e82224775" /><Relationship Type="http://schemas.openxmlformats.org/officeDocument/2006/relationships/notesSlide" Target="/ppt/notesSlides/notesSlide18.xml" Id="Re3c62b494744415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4ec11ad7fd24ee8" /><Relationship Type="http://schemas.openxmlformats.org/officeDocument/2006/relationships/image" Target="/ppt/media/image4.png" Id="Rc971de3379a54858" /><Relationship Type="http://schemas.openxmlformats.org/officeDocument/2006/relationships/image" Target="/ppt/media/image9.png" Id="Re616f888a77d47b8" /><Relationship Type="http://schemas.openxmlformats.org/officeDocument/2006/relationships/image" Target="/ppt/media/image3.svg" Id="R47eacf8164794987" /><Relationship Type="http://schemas.openxmlformats.org/officeDocument/2006/relationships/image" Target="/ppt/media/image10.png" Id="R628c20d1b43a4f93" /><Relationship Type="http://schemas.openxmlformats.org/officeDocument/2006/relationships/notesSlide" Target="/ppt/notesSlides/notesSlide19.xml" Id="R531ff5e5fb834e1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7c77355012e4a38" /><Relationship Type="http://schemas.openxmlformats.org/officeDocument/2006/relationships/image" Target="/ppt/media/image4.png" Id="R73fde9860b3841e8" /><Relationship Type="http://schemas.openxmlformats.org/officeDocument/2006/relationships/image" Target="/ppt/media/image11.png" Id="R4f604b8fd73c44d8" /><Relationship Type="http://schemas.openxmlformats.org/officeDocument/2006/relationships/image" Target="/ppt/media/image4.svg" Id="R1643adf340c340fa" /><Relationship Type="http://schemas.openxmlformats.org/officeDocument/2006/relationships/image" Target="/ppt/media/image12.png" Id="R5c5b577e6acb4ddb" /><Relationship Type="http://schemas.openxmlformats.org/officeDocument/2006/relationships/notesSlide" Target="/ppt/notesSlides/notesSlide20.xml" Id="R3d054646a896483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863f5e2be824834" /><Relationship Type="http://schemas.openxmlformats.org/officeDocument/2006/relationships/image" Target="/ppt/media/image3.png" Id="R670313d773e848da" /><Relationship Type="http://schemas.openxmlformats.org/officeDocument/2006/relationships/image" Target="/ppt/media/image13.png" Id="Rc6438bbcb72246a4" /><Relationship Type="http://schemas.openxmlformats.org/officeDocument/2006/relationships/image" Target="/ppt/media/image5.svg" Id="R390b0987eb194a22" /><Relationship Type="http://schemas.openxmlformats.org/officeDocument/2006/relationships/image" Target="/ppt/media/image14.png" Id="R1b510924777b4ec4" /><Relationship Type="http://schemas.openxmlformats.org/officeDocument/2006/relationships/notesSlide" Target="/ppt/notesSlides/notesSlide21.xml" Id="Rc17bb825ff4744a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2a77293b2b84922" /><Relationship Type="http://schemas.openxmlformats.org/officeDocument/2006/relationships/image" Target="/ppt/media/image3.png" Id="R1634c9de5df3496c" /><Relationship Type="http://schemas.openxmlformats.org/officeDocument/2006/relationships/image" Target="/ppt/media/image15.png" Id="R24785d4b72b04709" /><Relationship Type="http://schemas.openxmlformats.org/officeDocument/2006/relationships/image" Target="/ppt/media/image6.svg" Id="R554067f958d64e3c" /><Relationship Type="http://schemas.openxmlformats.org/officeDocument/2006/relationships/image" Target="/ppt/media/image16.png" Id="Rcc5db206f48e4ef0" /><Relationship Type="http://schemas.openxmlformats.org/officeDocument/2006/relationships/notesSlide" Target="/ppt/notesSlides/notesSlide22.xml" Id="R66f59f241ab2450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84d0aefa062413c" /><Relationship Type="http://schemas.openxmlformats.org/officeDocument/2006/relationships/image" Target="/ppt/media/image3.png" Id="R8e396b25b6c0478e" /><Relationship Type="http://schemas.openxmlformats.org/officeDocument/2006/relationships/image" Target="/ppt/media/image17.png" Id="R530db31302f84333" /><Relationship Type="http://schemas.openxmlformats.org/officeDocument/2006/relationships/image" Target="/ppt/media/image7.svg" Id="R5ecaa06317a640ae" /><Relationship Type="http://schemas.openxmlformats.org/officeDocument/2006/relationships/image" Target="/ppt/media/image18.png" Id="R1b28d838c6e54d9f" /><Relationship Type="http://schemas.openxmlformats.org/officeDocument/2006/relationships/notesSlide" Target="/ppt/notesSlides/notesSlide23.xml" Id="R089a984a3efc4fe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b15989750c348b8" /><Relationship Type="http://schemas.openxmlformats.org/officeDocument/2006/relationships/notesSlide" Target="/ppt/notesSlides/notesSlide24.xml" Id="Ra0b8bebcc5424a5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12B881-2D87-4470-A9E2-CA40D710634E}"/>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EDGE PROMOTION</a:t>
            </a:r>
          </a:p>
        </p:txBody>
      </p:sp>
      <p:sp>
        <p:nvSpPr>
          <p:cNvPr id="2" name="">
            <a:extLst xmlns:a="http://schemas.openxmlformats.org/drawingml/2006/main">
              <a:ext uri="{FF2B5EF4-FFF2-40B4-BE49-F238E27FC236}">
                <a16:creationId xmlns:a16="http://schemas.microsoft.com/office/drawing/2014/main" id="{0BB2094F-C042-49AB-BE8C-0ECFD22457DD}"/>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350" b="1">
                <a:solidFill>
                  <a:srgbClr val="111827"/>
                </a:solidFill>
              </a:defRPr>
            </a:pPr>
            <a:r>
              <a:rPr sz="4350" b="1">
                <a:solidFill>
                  <a:srgbClr val="111827"/>
                </a:solidFill>
              </a:rPr>
              <a:t>From return geometry to candidate edge</a:t>
            </a:r>
          </a:p>
        </p:txBody>
      </p:sp>
      <p:sp>
        <p:nvSpPr>
          <p:cNvPr id="3" name="">
            <a:extLst xmlns:a="http://schemas.openxmlformats.org/drawingml/2006/main">
              <a:ext uri="{FF2B5EF4-FFF2-40B4-BE49-F238E27FC236}">
                <a16:creationId xmlns:a16="http://schemas.microsoft.com/office/drawing/2014/main" id="{D8394FB8-5765-4318-8A56-6DACECFE912E}"/>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4" name="">
            <a:extLst xmlns:a="http://schemas.openxmlformats.org/drawingml/2006/main">
              <a:ext uri="{FF2B5EF4-FFF2-40B4-BE49-F238E27FC236}">
                <a16:creationId xmlns:a16="http://schemas.microsoft.com/office/drawing/2014/main" id="{67E3D676-3E4E-40CF-9FFA-FDD3E7F4C6B2}"/>
              </a:ext>
            </a:extLst>
          </p:cNvPr>
          <p:cNvSpPr>
            <a:spLocks xmlns:a="http://schemas.openxmlformats.org/drawingml/2006/main" noGrp="1"/>
          </p:cNvSpPr>
          <p:nvPr/>
        </p:nvSpPr>
        <p:spPr>
          <a:xfrm xmlns:a="http://schemas.openxmlformats.org/drawingml/2006/main">
            <a:off x="457200" y="41719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0">
                <a:solidFill>
                  <a:srgbClr val="667384"/>
                </a:solidFill>
              </a:defRPr>
            </a:pPr>
            <a:r>
              <a:rPr sz="2025" b="0">
                <a:solidFill>
                  <a:srgbClr val="667384"/>
                </a:solidFill>
              </a:rPr>
              <a:t>Promotion huddle and falsification roadmap</a:t>
            </a:r>
          </a:p>
        </p:txBody>
      </p:sp>
      <p:sp>
        <p:nvSpPr>
          <p:cNvPr id="5" name="">
            <a:extLst xmlns:a="http://schemas.openxmlformats.org/drawingml/2006/main">
              <a:ext uri="{FF2B5EF4-FFF2-40B4-BE49-F238E27FC236}">
                <a16:creationId xmlns:a16="http://schemas.microsoft.com/office/drawing/2014/main" id="{AF79BB13-9AEC-4C77-9A8C-3203F83002E1}"/>
              </a:ext>
            </a:extLst>
          </p:cNvPr>
          <p:cNvSpPr>
            <a:spLocks xmlns:a="http://schemas.openxmlformats.org/drawingml/2006/main" noGrp="1"/>
          </p:cNvSpPr>
          <p:nvPr/>
        </p:nvSpPr>
        <p:spPr>
          <a:xfrm xmlns:a="http://schemas.openxmlformats.org/drawingml/2006/main">
            <a:off x="457200" y="54292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384"/>
                </a:solidFill>
              </a:defRPr>
            </a:pPr>
            <a:r>
              <a:rPr sz="1575" b="0">
                <a:solidFill>
                  <a:srgbClr val="667384"/>
                </a:solidFill>
              </a:rPr>
              <a:t>Incremental timing • frozen hypotheses • untouched transport • executable decisions</a:t>
            </a:r>
          </a:p>
        </p:txBody>
      </p:sp>
      <p:sp>
        <p:nvSpPr>
          <p:cNvPr id="6" name="">
            <a:extLst xmlns:a="http://schemas.openxmlformats.org/drawingml/2006/main">
              <a:ext uri="{FF2B5EF4-FFF2-40B4-BE49-F238E27FC236}">
                <a16:creationId xmlns:a16="http://schemas.microsoft.com/office/drawing/2014/main" id="{AD589277-BA8D-465E-8FE0-58FC0F7326BE}"/>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a:t>
            </a:r>
          </a:p>
        </p:txBody>
      </p:sp>
    </p:spTree>
    <p:extLst>
      <p:ext uri="{BB962C8B-B14F-4D97-AF65-F5344CB8AC3E}">
        <p14:creationId xmlns:p14="http://schemas.microsoft.com/office/powerpoint/2010/main" val="169716707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PROMOTION BOUNDARY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atlas has earned behavior—not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promotion huddle | 2026-08-27</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FOUND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Broad conditional return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129 instruments; many states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LEARNS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Scale and filters discriminate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rebound, continuation, exhaustion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DOES NOT EARN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prospective trading rule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timing and baseline unresolved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Where we stand</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The atlas is a discovery surface. Promotion begins only after one hypothesis is frozen before new data.</a:t>
            </a:r>
          </a:p>
        </p:txBody>
      </p:sp>
    </p:spTree>
    <p:extLst>
      <p:ext uri="{BB962C8B-B14F-4D97-AF65-F5344CB8AC3E}">
        <p14:creationId xmlns:p14="http://schemas.microsoft.com/office/powerpoint/2010/main" val="66653628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975FA3A-7B7A-4DCE-BE5A-84E74DC1D0F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NESTED WINDOWS</a:t>
            </a:r>
          </a:p>
        </p:txBody>
      </p:sp>
      <p:sp>
        <p:nvSpPr>
          <p:cNvPr id="2" name="">
            <a:extLst xmlns:a="http://schemas.openxmlformats.org/drawingml/2006/main">
              <a:ext uri="{FF2B5EF4-FFF2-40B4-BE49-F238E27FC236}">
                <a16:creationId xmlns:a16="http://schemas.microsoft.com/office/drawing/2014/main" id="{B6472F5C-DF7D-407E-8191-2836C3E3AAED}"/>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11827"/>
                </a:solidFill>
              </a:defRPr>
            </a:pPr>
            <a:r>
              <a:rPr sz="3150" b="1">
                <a:solidFill>
                  <a:srgbClr val="111827"/>
                </a:solidFill>
              </a:rPr>
              <a:t>An early rebound echoes through longer cumulative windows</a:t>
            </a:r>
          </a:p>
        </p:txBody>
      </p:sp>
      <p:sp>
        <p:nvSpPr>
          <p:cNvPr id="3" name="">
            <a:extLst xmlns:a="http://schemas.openxmlformats.org/drawingml/2006/main">
              <a:ext uri="{FF2B5EF4-FFF2-40B4-BE49-F238E27FC236}">
                <a16:creationId xmlns:a16="http://schemas.microsoft.com/office/drawing/2014/main" id="{3E456945-A860-45BF-838A-84CF2A0FAE4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FB90F6BF-7D1F-42F0-8870-18EA12E44041}"/>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Return geometry | cumulative versus incremental timing</a:t>
            </a:r>
          </a:p>
        </p:txBody>
      </p:sp>
      <p:sp>
        <p:nvSpPr>
          <p:cNvPr id="5" name="">
            <a:extLst xmlns:a="http://schemas.openxmlformats.org/drawingml/2006/main">
              <a:ext uri="{FF2B5EF4-FFF2-40B4-BE49-F238E27FC236}">
                <a16:creationId xmlns:a16="http://schemas.microsoft.com/office/drawing/2014/main" id="{28A654AA-807A-4DD7-8B1E-550BE487BBDE}"/>
              </a:ext>
            </a:extLst>
          </p:cNvPr>
          <p:cNvSpPr>
            <a:spLocks xmlns:a="http://schemas.openxmlformats.org/drawingml/2006/main" noGrp="1"/>
          </p:cNvSpPr>
          <p:nvPr/>
        </p:nvSpPr>
        <p:spPr>
          <a:xfrm xmlns:a="http://schemas.openxmlformats.org/drawingml/2006/main">
            <a:off x="11049000" y="6496050"/>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00" b="0">
                <a:solidFill>
                  <a:srgbClr val="667384"/>
                </a:solidFill>
              </a:defRPr>
            </a:pPr>
            <a:r>
              <a:rPr sz="900" b="0">
                <a:solidFill>
                  <a:srgbClr val="667384"/>
                </a:solidFill>
              </a:rPr>
              <a:t>3</a:t>
            </a:r>
          </a:p>
        </p:txBody>
      </p:sp>
      <p:sp>
        <p:nvSpPr>
          <p:cNvPr id="6" name="">
            <a:extLst xmlns:a="http://schemas.openxmlformats.org/drawingml/2006/main">
              <a:ext uri="{FF2B5EF4-FFF2-40B4-BE49-F238E27FC236}">
                <a16:creationId xmlns:a16="http://schemas.microsoft.com/office/drawing/2014/main" id="{1A48904E-C2B5-4030-9F5C-135F8E81A8CF}"/>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3D8DFF"/>
          </a:solidFill>
          <a:ln xmlns:a="http://schemas.openxmlformats.org/drawingml/2006/main" w="9525">
            <a:solidFill>
              <a:srgbClr val="3D8DFF"/>
            </a:solidFill>
            <a:prstDash val="solid"/>
          </a:ln>
        </p:spPr>
      </p:sp>
      <p:sp>
        <p:nvSpPr>
          <p:cNvPr id="7" name="">
            <a:extLst xmlns:a="http://schemas.openxmlformats.org/drawingml/2006/main">
              <a:ext uri="{FF2B5EF4-FFF2-40B4-BE49-F238E27FC236}">
                <a16:creationId xmlns:a16="http://schemas.microsoft.com/office/drawing/2014/main" id="{3E791499-974A-45B1-BE0E-27A91CC8E0C3}"/>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3D8DFF"/>
                </a:solidFill>
              </a:defRPr>
            </a:pPr>
            <a:r>
              <a:rPr sz="1350" b="1">
                <a:solidFill>
                  <a:srgbClr val="3D8DFF"/>
                </a:solidFill>
              </a:rPr>
              <a:t>DAYS 1–10</a:t>
            </a:r>
          </a:p>
        </p:txBody>
      </p:sp>
      <p:sp>
        <p:nvSpPr>
          <p:cNvPr id="8" name="">
            <a:extLst xmlns:a="http://schemas.openxmlformats.org/drawingml/2006/main">
              <a:ext uri="{FF2B5EF4-FFF2-40B4-BE49-F238E27FC236}">
                <a16:creationId xmlns:a16="http://schemas.microsoft.com/office/drawing/2014/main" id="{C3A67979-9151-4748-A221-F0070561B033}"/>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Rebound occurs once</a:t>
            </a:r>
          </a:p>
        </p:txBody>
      </p:sp>
      <p:sp>
        <p:nvSpPr>
          <p:cNvPr id="9" name="">
            <a:extLst xmlns:a="http://schemas.openxmlformats.org/drawingml/2006/main">
              <a:ext uri="{FF2B5EF4-FFF2-40B4-BE49-F238E27FC236}">
                <a16:creationId xmlns:a16="http://schemas.microsoft.com/office/drawing/2014/main" id="{6FFD5673-B6D2-4155-A59A-F3191F8D8752}"/>
              </a:ext>
            </a:extLst>
          </p:cNvPr>
          <p:cNvSpPr>
            <a:spLocks xmlns:a="http://schemas.openxmlformats.org/drawingml/2006/main" noGrp="1"/>
          </p:cNvSpPr>
          <p:nvPr/>
        </p:nvSpPr>
        <p:spPr>
          <a:xfrm xmlns:a="http://schemas.openxmlformats.org/drawingml/2006/main">
            <a:off x="7924800" y="158115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0">
                <a:solidFill>
                  <a:srgbClr val="667384"/>
                </a:solidFill>
              </a:defRPr>
            </a:pPr>
            <a:r>
              <a:rPr sz="1275" b="0">
                <a:solidFill>
                  <a:srgbClr val="667384"/>
                </a:solidFill>
              </a:rPr>
              <a:t>example: rally in sessions 6–10</a:t>
            </a:r>
          </a:p>
        </p:txBody>
      </p:sp>
      <p:sp>
        <p:nvSpPr>
          <p:cNvPr id="10" name="">
            <a:extLst xmlns:a="http://schemas.openxmlformats.org/drawingml/2006/main">
              <a:ext uri="{FF2B5EF4-FFF2-40B4-BE49-F238E27FC236}">
                <a16:creationId xmlns:a16="http://schemas.microsoft.com/office/drawing/2014/main" id="{D3FB0AB3-A3CD-4683-9CB0-471C0A7FDAB2}"/>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9005535B-6C8D-445C-87D8-2FE19E86F0B1}"/>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F59E0B"/>
          </a:solidFill>
          <a:ln xmlns:a="http://schemas.openxmlformats.org/drawingml/2006/main" w="9525">
            <a:solidFill>
              <a:srgbClr val="F59E0B"/>
            </a:solidFill>
            <a:prstDash val="solid"/>
          </a:ln>
        </p:spPr>
      </p:sp>
      <p:sp>
        <p:nvSpPr>
          <p:cNvPr id="12" name="">
            <a:extLst xmlns:a="http://schemas.openxmlformats.org/drawingml/2006/main">
              <a:ext uri="{FF2B5EF4-FFF2-40B4-BE49-F238E27FC236}">
                <a16:creationId xmlns:a16="http://schemas.microsoft.com/office/drawing/2014/main" id="{264F1D68-325D-4B3B-8F7C-00326724A0A8}"/>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F59E0B"/>
                </a:solidFill>
              </a:defRPr>
            </a:pPr>
            <a:r>
              <a:rPr sz="1350" b="1">
                <a:solidFill>
                  <a:srgbClr val="F59E0B"/>
                </a:solidFill>
              </a:rPr>
              <a:t>DAYS 1–20</a:t>
            </a:r>
          </a:p>
        </p:txBody>
      </p:sp>
      <p:sp>
        <p:nvSpPr>
          <p:cNvPr id="13" name="">
            <a:extLst xmlns:a="http://schemas.openxmlformats.org/drawingml/2006/main">
              <a:ext uri="{FF2B5EF4-FFF2-40B4-BE49-F238E27FC236}">
                <a16:creationId xmlns:a16="http://schemas.microsoft.com/office/drawing/2014/main" id="{5EDC81BC-9F5C-4D4F-B28E-718205D4835A}"/>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The same rebound remains inside</a:t>
            </a:r>
          </a:p>
        </p:txBody>
      </p:sp>
      <p:sp>
        <p:nvSpPr>
          <p:cNvPr id="14" name="">
            <a:extLst xmlns:a="http://schemas.openxmlformats.org/drawingml/2006/main">
              <a:ext uri="{FF2B5EF4-FFF2-40B4-BE49-F238E27FC236}">
                <a16:creationId xmlns:a16="http://schemas.microsoft.com/office/drawing/2014/main" id="{9EC97F66-8EE5-4A0F-BBD5-E69B07182269}"/>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plus sessions 11–20</a:t>
            </a:r>
          </a:p>
        </p:txBody>
      </p:sp>
      <p:sp>
        <p:nvSpPr>
          <p:cNvPr id="15" name="">
            <a:extLst xmlns:a="http://schemas.openxmlformats.org/drawingml/2006/main">
              <a:ext uri="{FF2B5EF4-FFF2-40B4-BE49-F238E27FC236}">
                <a16:creationId xmlns:a16="http://schemas.microsoft.com/office/drawing/2014/main" id="{380D8078-2C96-47C8-BCCB-9A9EFA500204}"/>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6" name="">
            <a:extLst xmlns:a="http://schemas.openxmlformats.org/drawingml/2006/main">
              <a:ext uri="{FF2B5EF4-FFF2-40B4-BE49-F238E27FC236}">
                <a16:creationId xmlns:a16="http://schemas.microsoft.com/office/drawing/2014/main" id="{4A3796B2-0890-4697-AB3D-35737FA179DB}"/>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2A9D6F"/>
          </a:solidFill>
          <a:ln xmlns:a="http://schemas.openxmlformats.org/drawingml/2006/main" w="9525">
            <a:solidFill>
              <a:srgbClr val="2A9D6F"/>
            </a:solidFill>
            <a:prstDash val="solid"/>
          </a:ln>
        </p:spPr>
      </p:sp>
      <p:sp>
        <p:nvSpPr>
          <p:cNvPr id="17" name="">
            <a:extLst xmlns:a="http://schemas.openxmlformats.org/drawingml/2006/main">
              <a:ext uri="{FF2B5EF4-FFF2-40B4-BE49-F238E27FC236}">
                <a16:creationId xmlns:a16="http://schemas.microsoft.com/office/drawing/2014/main" id="{3A5137E0-9E7E-4A70-8E4C-A559B3A7F0DD}"/>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2A9D6F"/>
                </a:solidFill>
              </a:defRPr>
            </a:pPr>
            <a:r>
              <a:rPr sz="1350" b="1">
                <a:solidFill>
                  <a:srgbClr val="2A9D6F"/>
                </a:solidFill>
              </a:rPr>
              <a:t>DAYS 1–100</a:t>
            </a:r>
          </a:p>
        </p:txBody>
      </p:sp>
      <p:sp>
        <p:nvSpPr>
          <p:cNvPr id="18" name="">
            <a:extLst xmlns:a="http://schemas.openxmlformats.org/drawingml/2006/main">
              <a:ext uri="{FF2B5EF4-FFF2-40B4-BE49-F238E27FC236}">
                <a16:creationId xmlns:a16="http://schemas.microsoft.com/office/drawing/2014/main" id="{965FB54C-B8BA-41CE-8A2F-CF4B5EA785CE}"/>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The same rebound still remains inside</a:t>
            </a:r>
          </a:p>
        </p:txBody>
      </p:sp>
      <p:sp>
        <p:nvSpPr>
          <p:cNvPr id="19" name="">
            <a:extLst xmlns:a="http://schemas.openxmlformats.org/drawingml/2006/main">
              <a:ext uri="{FF2B5EF4-FFF2-40B4-BE49-F238E27FC236}">
                <a16:creationId xmlns:a16="http://schemas.microsoft.com/office/drawing/2014/main" id="{C90810C4-3E3B-413B-BE3A-0D0CBA54E686}"/>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plus sessions 11–100</a:t>
            </a:r>
          </a:p>
        </p:txBody>
      </p:sp>
      <p:sp>
        <p:nvSpPr>
          <p:cNvPr id="20" name="">
            <a:extLst xmlns:a="http://schemas.openxmlformats.org/drawingml/2006/main">
              <a:ext uri="{FF2B5EF4-FFF2-40B4-BE49-F238E27FC236}">
                <a16:creationId xmlns:a16="http://schemas.microsoft.com/office/drawing/2014/main" id="{6B9AF3F5-7B95-485D-B9FA-C6052CF17EE2}"/>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21" name="">
            <a:extLst xmlns:a="http://schemas.openxmlformats.org/drawingml/2006/main">
              <a:ext uri="{FF2B5EF4-FFF2-40B4-BE49-F238E27FC236}">
                <a16:creationId xmlns:a16="http://schemas.microsoft.com/office/drawing/2014/main" id="{DBF8A934-4548-47C8-8583-F3E852C74E62}"/>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oundRect">
            <a:avLst>
              <a:gd name="adj" fmla="val 14634"/>
            </a:avLst>
          </a:prstGeom>
          <a:solidFill xmlns:a="http://schemas.openxmlformats.org/drawingml/2006/main">
            <a:srgbClr val="F4F6F8"/>
          </a:solidFill>
          <a:ln xmlns:a="http://schemas.openxmlformats.org/drawingml/2006/main" w="9525">
            <a:solidFill>
              <a:srgbClr val="D7DBE2"/>
            </a:solidFill>
            <a:prstDash val="solid"/>
          </a:ln>
        </p:spPr>
      </p:sp>
      <p:sp>
        <p:nvSpPr>
          <p:cNvPr id="22" name="">
            <a:extLst xmlns:a="http://schemas.openxmlformats.org/drawingml/2006/main">
              <a:ext uri="{FF2B5EF4-FFF2-40B4-BE49-F238E27FC236}">
                <a16:creationId xmlns:a16="http://schemas.microsoft.com/office/drawing/2014/main" id="{89F81B3D-ACD0-4A02-9B6C-89D781879330}"/>
              </a:ext>
            </a:extLst>
          </p:cNvPr>
          <p:cNvSpPr>
            <a:spLocks xmlns:a="http://schemas.openxmlformats.org/drawingml/2006/main" noGrp="1"/>
          </p:cNvSpPr>
          <p:nvPr/>
        </p:nvSpPr>
        <p:spPr>
          <a:xfrm xmlns:a="http://schemas.openxmlformats.org/drawingml/2006/main">
            <a:off x="781050" y="55245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11827"/>
                </a:solidFill>
              </a:defRPr>
            </a:pPr>
            <a:r>
              <a:rPr sz="1500" b="1">
                <a:solidFill>
                  <a:srgbClr val="111827"/>
                </a:solidFill>
              </a:rPr>
              <a:t>Nested-window consequence</a:t>
            </a:r>
          </a:p>
        </p:txBody>
      </p:sp>
      <p:sp>
        <p:nvSpPr>
          <p:cNvPr id="23" name="">
            <a:extLst xmlns:a="http://schemas.openxmlformats.org/drawingml/2006/main">
              <a:ext uri="{FF2B5EF4-FFF2-40B4-BE49-F238E27FC236}">
                <a16:creationId xmlns:a16="http://schemas.microsoft.com/office/drawing/2014/main" id="{DBACD672-B2FE-4661-8267-7719DCE7CC56}"/>
              </a:ext>
            </a:extLst>
          </p:cNvPr>
          <p:cNvSpPr>
            <a:spLocks xmlns:a="http://schemas.openxmlformats.org/drawingml/2006/main" noGrp="1"/>
          </p:cNvSpPr>
          <p:nvPr/>
        </p:nvSpPr>
        <p:spPr>
          <a:xfrm xmlns:a="http://schemas.openxmlformats.org/drawingml/2006/main">
            <a:off x="3333750" y="5486400"/>
            <a:ext cx="781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0">
                <a:solidFill>
                  <a:srgbClr val="667384"/>
                </a:solidFill>
              </a:defRPr>
            </a:pPr>
            <a:r>
              <a:rPr sz="1425" b="0">
                <a:solidFill>
                  <a:srgbClr val="667384"/>
                </a:solidFill>
              </a:rPr>
              <a:t>A rally ending by day 10 can influence every cumulative forward cell whose horizon is at least 10 sessions.</a:t>
            </a:r>
          </a:p>
        </p:txBody>
      </p:sp>
    </p:spTree>
    <p:extLst>
      <p:ext uri="{BB962C8B-B14F-4D97-AF65-F5344CB8AC3E}">
        <p14:creationId xmlns:p14="http://schemas.microsoft.com/office/powerpoint/2010/main" val="115496358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INCREMENTAL TIMING</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Incremental blocks reveal when the return arrives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first recommended falsification slice</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CUMULATIVE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R(1:100)</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contains every earlier block</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INCREMENTAL</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R(1:5), R(6:10), …</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each interval measured once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FALSIFIES DURATION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Only early blocks respond</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the long plateau is an echo</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Promotion condition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If later blocks retain conditional excess return, the signal has genuine duration rather than inherited history.</a:t>
            </a:r>
          </a:p>
        </p:txBody>
      </p:sp>
    </p:spTree>
    <p:extLst>
      <p:ext uri="{BB962C8B-B14F-4D97-AF65-F5344CB8AC3E}">
        <p14:creationId xmlns:p14="http://schemas.microsoft.com/office/powerpoint/2010/main" val="66653628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ACTIONABILITY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genuine 100-session effect can be actionable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medium-term interpretation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YES—IF</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New excess return keeps accruing</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merely an embedded early rebound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TIME SCALE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Roughly four to five months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 medium-term tactical position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STILL TEST</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Net value versus the baseline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risk, costs, and opportunity cost</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Important distinction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 long horizon is not disqualifying. Weak conditional improvement—or permanent market exposure—is.</a:t>
            </a:r>
          </a:p>
        </p:txBody>
      </p:sp>
    </p:spTree>
    <p:extLst>
      <p:ext uri="{BB962C8B-B14F-4D97-AF65-F5344CB8AC3E}">
        <p14:creationId xmlns:p14="http://schemas.microsoft.com/office/powerpoint/2010/main" val="66653628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BASELINES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long-horizon rule must beat the right baseline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economic falsification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DRIFT</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Unconditional future return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would the asset rise anyway?</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STATE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State-only future return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does prior loss add information?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EXPOSURE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Matched long exposure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do repeated signals become buy-and-hold?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Executable edge</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Conditional net return must improve the decision after next-open timing, overlap, costs, and capital use.</a:t>
            </a:r>
          </a:p>
        </p:txBody>
      </p:sp>
    </p:spTree>
    <p:extLst>
      <p:ext uri="{BB962C8B-B14F-4D97-AF65-F5344CB8AC3E}">
        <p14:creationId xmlns:p14="http://schemas.microsoft.com/office/powerpoint/2010/main" val="66653628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PROMOTION LADDER</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Promotion happens one frozen gate at a time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next research volume</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BEHAVIOR</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Describe the complete surface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complete in the closed deck</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CANDIDATE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Freeze signal, target, and failure rule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next research gate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EDGE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Untouched net decision improvement</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later—not yet earned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293"/>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Recommended next slice</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Use the original 20-session prior anchor and decompose future returns before opening post-2023 data.</a:t>
            </a:r>
          </a:p>
        </p:txBody>
      </p:sp>
    </p:spTree>
    <p:extLst>
      <p:ext uri="{BB962C8B-B14F-4D97-AF65-F5344CB8AC3E}">
        <p14:creationId xmlns:p14="http://schemas.microsoft.com/office/powerpoint/2010/main" val="66653628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FROZEN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One narrow slice asks when the rebound arrives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incremental forward decomposition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ANCHOR</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20 prior sessions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negative cumulative log return</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STATE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Signed ER20 down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known at the anchor</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FUTURE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Six disjoint blocks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sessions 1 through 100</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Primary surface</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88 full-history stocks, equal-sector weighted. All 129 assets remain diagnostic; post-2023 stays sealed.</a:t>
            </a:r>
          </a:p>
        </p:txBody>
      </p:sp>
    </p:spTree>
    <p:extLst>
      <p:ext uri="{BB962C8B-B14F-4D97-AF65-F5344CB8AC3E}">
        <p14:creationId xmlns:p14="http://schemas.microsoft.com/office/powerpoint/2010/main" val="66653628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MEASUREMENT CONTRACT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Every block uses the same historical anchors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common-sample timing test</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COMMON SAMPLE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Complete 100-session path</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prevents block-to-block sample drift</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INCREMENTAL</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1–5 / 6–10 / … / 61–100</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six blocks sum exactly to R(1:100)</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COMPARE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Cumulative + drift</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one unfiltered-loss comparator</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Frozen rule</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Duration survives only if at least 2 of 3 late blocks retain negative sector breadth and positive drift-adjusted return.</a:t>
            </a:r>
          </a:p>
        </p:txBody>
      </p:sp>
    </p:spTree>
    <p:extLst>
      <p:ext uri="{BB962C8B-B14F-4D97-AF65-F5344CB8AC3E}">
        <p14:creationId xmlns:p14="http://schemas.microsoft.com/office/powerpoint/2010/main" val="6665362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TIMING RESULT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Cumulative strength hides a non-uniform response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equal-sector timing</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fd766bee8c044ba7"/>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SECTOR BREADTH</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response stays broad through sessions 41–60</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sector timing map</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11</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9e6468457884f53"/>
          <a:stretch xmlns:a="http://schemas.openxmlformats.org/drawingml/2006/main"/>
        </p:blipFill>
        <p:spPr>
          <a:xfrm xmlns:a="http://schemas.openxmlformats.org/drawingml/2006/main">
            <a:off x="2309813" y="1333500"/>
            <a:ext cx="7572375" cy="5048250"/>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CROSS-ASSET SHAPE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Late support is broad—but visibly heterogeneous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88-stock core distribution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12</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3abad371ac3146f9"/>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DRIFT-ADJUSTED ACCRUAL</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Return advantage fades after session 60</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conditional minus unconditional drift</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13</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00c8bba7dc844c19"/>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SLICE DECISION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Duration survives to 60 sessions—not to 100</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incremental timing decision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FOUND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Late incremental support</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21–40 and 41–60 pass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FADES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Final block loses accrual</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61–100 = −0.90 bp/session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DOES NOT EARN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holding rule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overlap and time transport unresolved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STOP</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this timing morphology. Do not retune blocks or open post-2023 outcomes until the next gate is designed.</a:t>
            </a:r>
          </a:p>
        </p:txBody>
      </p:sp>
    </p:spTree>
    <p:extLst>
      <p:ext uri="{BB962C8B-B14F-4D97-AF65-F5344CB8AC3E}">
        <p14:creationId xmlns:p14="http://schemas.microsoft.com/office/powerpoint/2010/main" val="66653628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EXECUTABLE TRANSLATION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941"/>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frozen rule asks whether geometry becomes a trade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next-open rule translation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SIGNAL</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Signed ER20 down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at completed close t</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SEVERITY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Bottom 20% of prior losses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causal, asset-specific</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UNIVERSE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All 129 atlas instruments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88-stock core is headline</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TRAIN only</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2018–2023 mechanics study. Post-2023 outcomes remain sealed.</a:t>
            </a:r>
          </a:p>
        </p:txBody>
      </p:sp>
    </p:spTree>
    <p:extLst>
      <p:ext uri="{BB962C8B-B14F-4D97-AF65-F5344CB8AC3E}">
        <p14:creationId xmlns:p14="http://schemas.microsoft.com/office/powerpoint/2010/main" val="66653628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EXECUTION CONTRACT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rule is causal, non-overlapping, and next-open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executable mechanics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ENTRY</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Open t+1</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after completed signal close</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EXIT</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Open t+21</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20 held sessions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POSITION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One per asset</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intervening signals ignored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Frozen mechanics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015"/>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100 prior negative observations • causal 20th percentile • 10 bp round trip</a:t>
            </a:r>
          </a:p>
        </p:txBody>
      </p:sp>
    </p:spTree>
    <p:extLst>
      <p:ext uri="{BB962C8B-B14F-4D97-AF65-F5344CB8AC3E}">
        <p14:creationId xmlns:p14="http://schemas.microsoft.com/office/powerpoint/2010/main" val="66653628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CLOCK TRANSLATION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Next-open timing preserves almost all of the return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close-to-close versus open-to-open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17</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0a608633f35945ef"/>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e3026b6be95741d2">
            <a:extLst>
              <a:ext uri="{96DAC541-7B7A-43D3-8B79-37D633B846F1}">
                <asvg:svgBlip xmlns:asvg="http://schemas.microsoft.com/office/drawing/2016/SVG/main" r:embed="R45f9ef4b411d45eb"/>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cb8ca6514b674afa"/>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SECTOR BREADTH</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Only six of eleven sectors clear ordinary drift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median asset net excess by sector</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18</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c011db9cd19240e8"/>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f6a6944a475c49ef">
            <a:extLst>
              <a:ext uri="{96DAC541-7B7A-43D3-8B79-37D633B846F1}">
                <asvg:svgBlip xmlns:asvg="http://schemas.microsoft.com/office/drawing/2016/SVG/main" r:embed="R9489692dd1184771"/>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aad7ce7e82224775"/>
          <a:stretch xmlns:a="http://schemas.openxmlformats.org/drawingml/2006/main"/>
        </p:blipFill>
        <p:spPr>
          <a:xfrm xmlns:a="http://schemas.openxmlformats.org/drawingml/2006/main">
            <a:off x="1891771" y="1335087"/>
            <a:ext cx="8408458"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AGGREGATION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typical asset looks positive—but pooled events do not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three aggregation lenses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19</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c971de3379a54858"/>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e616f888a77d47b8">
            <a:extLst>
              <a:ext uri="{96DAC541-7B7A-43D3-8B79-37D633B846F1}">
                <asvg:svgBlip xmlns:asvg="http://schemas.microsoft.com/office/drawing/2016/SVG/main" r:embed="R47eacf8164794987"/>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628c20d1b43a4f93"/>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CALENDAR STABILITY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Strong years coexist with two material losing years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core event-pooled net return by year</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20</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73fde9860b3841e8"/>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4f604b8fd73c44d8">
            <a:extLst>
              <a:ext uri="{96DAC541-7B7A-43D3-8B79-37D633B846F1}">
                <asvg:svgBlip xmlns:asvg="http://schemas.microsoft.com/office/drawing/2016/SVG/main" r:embed="R1643adf340c340fa"/>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5c5b577e6acb4ddb"/>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COHORT PATHS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attention cohort keeps falling after entry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mean cumulative trade path by cohort</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21</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670313d773e848da"/>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c6438bbcb72246a4">
            <a:extLst>
              <a:ext uri="{96DAC541-7B7A-43D3-8B79-37D633B846F1}">
                <asvg:svgBlip xmlns:asvg="http://schemas.microsoft.com/office/drawing/2016/SVG/main" r:embed="R390b0987eb194a22"/>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1b510924777b4ec4"/>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ASSET HETEROGENEITY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Sector medians conceal wide asset dispersion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core asset net excess distribution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22</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1634c9de5df3496c"/>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24785d4b72b04709">
            <a:extLst>
              <a:ext uri="{96DAC541-7B7A-43D3-8B79-37D633B846F1}">
                <asvg:svgBlip xmlns:asvg="http://schemas.microsoft.com/office/drawing/2016/SVG/main" r:embed="R554067f958d64e3c"/>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cc5db206f48e4ef0"/>
          <a:stretch xmlns:a="http://schemas.openxmlformats.org/drawingml/2006/main"/>
        </p:blipFill>
        <p:spPr>
          <a:xfrm xmlns:a="http://schemas.openxmlformats.org/drawingml/2006/main">
            <a:off x="1891771" y="1335087"/>
            <a:ext cx="8408458"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REPRESENTATIVE TAPES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4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rule produces rebounds—and continued declines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deterministic representative trades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23</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8e396b25b6c0478e"/>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530db31302f84333">
            <a:extLst>
              <a:ext uri="{96DAC541-7B7A-43D3-8B79-37D633B846F1}">
                <asvg:svgBlip xmlns:asvg="http://schemas.microsoft.com/office/drawing/2016/SVG/main" r:embed="R5ecaa06317a640ae"/>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1b28d838c6e54d9f"/>
          <a:stretch xmlns:a="http://schemas.openxmlformats.org/drawingml/2006/main"/>
        </p:blipFill>
        <p:spPr>
          <a:xfrm xmlns:a="http://schemas.openxmlformats.org/drawingml/2006/main">
            <a:off x="2426855" y="1335087"/>
            <a:ext cx="7338291"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TRAIN DECISION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rule stops before OOS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executable TRAIN decision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TRANSLATES</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Clock change is small</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+0.60% close vs +0.55% open</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FAILS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Sector breadth</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6 of 11 versus 7 required</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CONFLICTS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Event weighting</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−25.1 bp versus drift</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STOP OOS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9031"/>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 not tune percentile, ER cutoff, hold, overlap, costs, or universe. Post-2023 stays sealed.</a:t>
            </a:r>
          </a:p>
        </p:txBody>
      </p:sp>
    </p:spTree>
    <p:extLst>
      <p:ext uri="{BB962C8B-B14F-4D97-AF65-F5344CB8AC3E}">
        <p14:creationId xmlns:p14="http://schemas.microsoft.com/office/powerpoint/2010/main" val="666536286"/>
      </p:ext>
    </p:extLst>
  </p:cSld>
</p:sld>
</file>

<file path=ppt/theme/theme1.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2026-08-28T17:44:04.9450000Z</dcterms:created>
  <dcterms:modified xsi:type="dcterms:W3CDTF">2026-08-28T17:44:04.9450000Z</dcterms:modified>
</coreProperties>
</file>