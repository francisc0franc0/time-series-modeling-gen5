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791e3f55034c55" /><Relationship Type="http://schemas.openxmlformats.org/officeDocument/2006/relationships/extended-properties" Target="/docProps/app.xml" Id="Rf88852d1be6e493f" /><Relationship Type="http://schemas.openxmlformats.org/officeDocument/2006/relationships/officeDocument" Target="/ppt/presentation.xml" Id="R7e1e0972416f452f" /></Relationships>
</file>

<file path=ppt/presentation.xml><?xml version="1.0" encoding="utf-8"?>
<p:presentation xmlns:p="http://schemas.openxmlformats.org/presentationml/2006/main">
  <p:sldMasterIdLst>
    <p:sldMasterId xmlns:r="http://schemas.openxmlformats.org/officeDocument/2006/relationships" id="2147483648" r:id="R01b46a81d8464d84"/>
  </p:sldMasterIdLst>
  <p:notesMasterIdLst>
    <p:notesMasterId xmlns:r="http://schemas.openxmlformats.org/officeDocument/2006/relationships" r:id="R1ce49536a6594c03"/>
  </p:notesMasterIdLst>
  <p:sldIdLst>
    <p:sldId xmlns:r="http://schemas.openxmlformats.org/officeDocument/2006/relationships" id="256" r:id="Rb0a7fe2c263b44d1"/>
    <p:sldId xmlns:r="http://schemas.openxmlformats.org/officeDocument/2006/relationships" id="257" r:id="R317b15516a644a47"/>
    <p:sldId xmlns:r="http://schemas.openxmlformats.org/officeDocument/2006/relationships" id="258" r:id="Rf797d5b47a6a46a0"/>
    <p:sldId xmlns:r="http://schemas.openxmlformats.org/officeDocument/2006/relationships" id="259" r:id="Re09a8be565564ce4"/>
    <p:sldId xmlns:r="http://schemas.openxmlformats.org/officeDocument/2006/relationships" id="260" r:id="R5f3f17c635a24290"/>
    <p:sldId xmlns:r="http://schemas.openxmlformats.org/officeDocument/2006/relationships" id="261" r:id="Rc8653e4bd1794a05"/>
    <p:sldId xmlns:r="http://schemas.openxmlformats.org/officeDocument/2006/relationships" id="262" r:id="R1fffa903f9c1480f"/>
    <p:sldId xmlns:r="http://schemas.openxmlformats.org/officeDocument/2006/relationships" id="263" r:id="R002e38a048604eb5"/>
    <p:sldId xmlns:r="http://schemas.openxmlformats.org/officeDocument/2006/relationships" id="264" r:id="Rdf71dc14be8741b4"/>
    <p:sldId xmlns:r="http://schemas.openxmlformats.org/officeDocument/2006/relationships" id="265" r:id="R3b5697d00ac0429b"/>
    <p:sldId xmlns:r="http://schemas.openxmlformats.org/officeDocument/2006/relationships" id="266" r:id="R0f6fe8621cfb43c1"/>
    <p:sldId xmlns:r="http://schemas.openxmlformats.org/officeDocument/2006/relationships" id="267" r:id="R7646860a323a46f3"/>
    <p:sldId xmlns:r="http://schemas.openxmlformats.org/officeDocument/2006/relationships" id="268" r:id="R7af5a80b0bf94dc6"/>
    <p:sldId xmlns:r="http://schemas.openxmlformats.org/officeDocument/2006/relationships" id="269" r:id="R9f959e08b7464885"/>
    <p:sldId xmlns:r="http://schemas.openxmlformats.org/officeDocument/2006/relationships" id="270" r:id="R213ac917d3d24a1e"/>
    <p:sldId xmlns:r="http://schemas.openxmlformats.org/officeDocument/2006/relationships" id="271" r:id="R740a774008b94908"/>
    <p:sldId xmlns:r="http://schemas.openxmlformats.org/officeDocument/2006/relationships" id="272" r:id="R367280e8ed05453c"/>
    <p:sldId xmlns:r="http://schemas.openxmlformats.org/officeDocument/2006/relationships" id="273" r:id="Ra76f472f33684436"/>
    <p:sldId xmlns:r="http://schemas.openxmlformats.org/officeDocument/2006/relationships" id="274" r:id="Rce2b9e5c65884170"/>
    <p:sldId xmlns:r="http://schemas.openxmlformats.org/officeDocument/2006/relationships" id="275" r:id="R31952d6ef0ce4a7e"/>
    <p:sldId xmlns:r="http://schemas.openxmlformats.org/officeDocument/2006/relationships" id="276" r:id="R45189dccaabb4ee3"/>
    <p:sldId xmlns:r="http://schemas.openxmlformats.org/officeDocument/2006/relationships" id="277" r:id="R124329192d1d430c"/>
    <p:sldId xmlns:r="http://schemas.openxmlformats.org/officeDocument/2006/relationships" id="278" r:id="R64e40908d5a8419c"/>
    <p:sldId xmlns:r="http://schemas.openxmlformats.org/officeDocument/2006/relationships" id="279" r:id="Rabc20cb2e8184e04"/>
    <p:sldId xmlns:r="http://schemas.openxmlformats.org/officeDocument/2006/relationships" id="280" r:id="R8e18bcb385b74484"/>
    <p:sldId xmlns:r="http://schemas.openxmlformats.org/officeDocument/2006/relationships" id="281" r:id="Ra1903b11afe64ed0"/>
    <p:sldId xmlns:r="http://schemas.openxmlformats.org/officeDocument/2006/relationships" id="282" r:id="Rdb464dcf78ff4efc"/>
    <p:sldId xmlns:r="http://schemas.openxmlformats.org/officeDocument/2006/relationships" id="283" r:id="Rd04332c98d434417"/>
    <p:sldId xmlns:r="http://schemas.openxmlformats.org/officeDocument/2006/relationships" id="284" r:id="R5d27c05aed234fcb"/>
    <p:sldId xmlns:r="http://schemas.openxmlformats.org/officeDocument/2006/relationships" id="285" r:id="Ra1ab1b18b2f44c00"/>
    <p:sldId xmlns:r="http://schemas.openxmlformats.org/officeDocument/2006/relationships" id="286" r:id="R181ed53ac7094e71"/>
    <p:sldId xmlns:r="http://schemas.openxmlformats.org/officeDocument/2006/relationships" id="287" r:id="R5a228fa072184e4f"/>
    <p:sldId xmlns:r="http://schemas.openxmlformats.org/officeDocument/2006/relationships" id="288" r:id="R342443e31ece4afe"/>
    <p:sldId xmlns:r="http://schemas.openxmlformats.org/officeDocument/2006/relationships" id="289" r:id="Rc859c83aa23246e3"/>
    <p:sldId xmlns:r="http://schemas.openxmlformats.org/officeDocument/2006/relationships" id="290" r:id="Re28f2830d73647b6"/>
    <p:sldId xmlns:r="http://schemas.openxmlformats.org/officeDocument/2006/relationships" id="291" r:id="Re7bd9c590b2a4c90"/>
    <p:sldId xmlns:r="http://schemas.openxmlformats.org/officeDocument/2006/relationships" id="292" r:id="R6a9cfcc6f6fa454d"/>
    <p:sldId xmlns:r="http://schemas.openxmlformats.org/officeDocument/2006/relationships" id="293" r:id="R272a2e56d63b4bf7"/>
    <p:sldId xmlns:r="http://schemas.openxmlformats.org/officeDocument/2006/relationships" id="294" r:id="Re8eba6f25a59474d"/>
    <p:sldId xmlns:r="http://schemas.openxmlformats.org/officeDocument/2006/relationships" id="295" r:id="R5ffa6434b6f44fd3"/>
    <p:sldId xmlns:r="http://schemas.openxmlformats.org/officeDocument/2006/relationships" id="296" r:id="R41d0c2b9fae04bd3"/>
    <p:sldId xmlns:r="http://schemas.openxmlformats.org/officeDocument/2006/relationships" id="297" r:id="R724605aaf7094b52"/>
    <p:sldId xmlns:r="http://schemas.openxmlformats.org/officeDocument/2006/relationships" id="298" r:id="R276a10858cc7420d"/>
    <p:sldId xmlns:r="http://schemas.openxmlformats.org/officeDocument/2006/relationships" id="299" r:id="R27c3765e3bd24a2f"/>
    <p:sldId xmlns:r="http://schemas.openxmlformats.org/officeDocument/2006/relationships" id="300" r:id="R52b8ccc6a56645a7"/>
    <p:sldId xmlns:r="http://schemas.openxmlformats.org/officeDocument/2006/relationships" id="301" r:id="R7bd1dd9d31f7486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ecca39a0ad41cd" /><Relationship Type="http://schemas.openxmlformats.org/officeDocument/2006/relationships/slideMaster" Target="/ppt/slideMasters/slideMaster1.xml" Id="R01b46a81d8464d84" /><Relationship Type="http://schemas.openxmlformats.org/officeDocument/2006/relationships/notesMaster" Target="/ppt/notesMasters/notesMaster1.xml" Id="R1ce49536a6594c03" /><Relationship Type="http://schemas.openxmlformats.org/officeDocument/2006/relationships/presProps" Target="/ppt/presProps.xml" Id="R061694b9e99f4b1c" /><Relationship Type="http://schemas.openxmlformats.org/officeDocument/2006/relationships/tableStyles" Target="/ppt/tableStyles.xml" Id="R8bcd621bbcd34c97" /><Relationship Type="http://schemas.openxmlformats.org/officeDocument/2006/relationships/slide" Target="/ppt/slides/slide1.xml" Id="Rb0a7fe2c263b44d1" /><Relationship Type="http://schemas.openxmlformats.org/officeDocument/2006/relationships/slide" Target="/ppt/slides/slide2.xml" Id="R317b15516a644a47" /><Relationship Type="http://schemas.openxmlformats.org/officeDocument/2006/relationships/slide" Target="/ppt/slides/slide3.xml" Id="Rf797d5b47a6a46a0" /><Relationship Type="http://schemas.openxmlformats.org/officeDocument/2006/relationships/slide" Target="/ppt/slides/slide4.xml" Id="Re09a8be565564ce4" /><Relationship Type="http://schemas.openxmlformats.org/officeDocument/2006/relationships/slide" Target="/ppt/slides/slide5.xml" Id="R5f3f17c635a24290" /><Relationship Type="http://schemas.openxmlformats.org/officeDocument/2006/relationships/slide" Target="/ppt/slides/slide6.xml" Id="Rc8653e4bd1794a05" /><Relationship Type="http://schemas.openxmlformats.org/officeDocument/2006/relationships/slide" Target="/ppt/slides/slide7.xml" Id="R1fffa903f9c1480f" /><Relationship Type="http://schemas.openxmlformats.org/officeDocument/2006/relationships/slide" Target="/ppt/slides/slide8.xml" Id="R002e38a048604eb5" /><Relationship Type="http://schemas.openxmlformats.org/officeDocument/2006/relationships/slide" Target="/ppt/slides/slide9.xml" Id="Rdf71dc14be8741b4" /><Relationship Type="http://schemas.openxmlformats.org/officeDocument/2006/relationships/slide" Target="/ppt/slides/slide10.xml" Id="R3b5697d00ac0429b" /><Relationship Type="http://schemas.openxmlformats.org/officeDocument/2006/relationships/slide" Target="/ppt/slides/slide11.xml" Id="R0f6fe8621cfb43c1" /><Relationship Type="http://schemas.openxmlformats.org/officeDocument/2006/relationships/slide" Target="/ppt/slides/slide12.xml" Id="R7646860a323a46f3" /><Relationship Type="http://schemas.openxmlformats.org/officeDocument/2006/relationships/slide" Target="/ppt/slides/slide13.xml" Id="R7af5a80b0bf94dc6" /><Relationship Type="http://schemas.openxmlformats.org/officeDocument/2006/relationships/slide" Target="/ppt/slides/slide14.xml" Id="R9f959e08b7464885" /><Relationship Type="http://schemas.openxmlformats.org/officeDocument/2006/relationships/slide" Target="/ppt/slides/slide15.xml" Id="R213ac917d3d24a1e" /><Relationship Type="http://schemas.openxmlformats.org/officeDocument/2006/relationships/slide" Target="/ppt/slides/slide16.xml" Id="R740a774008b94908" /><Relationship Type="http://schemas.openxmlformats.org/officeDocument/2006/relationships/slide" Target="/ppt/slides/slide17.xml" Id="R367280e8ed05453c" /><Relationship Type="http://schemas.openxmlformats.org/officeDocument/2006/relationships/slide" Target="/ppt/slides/slide18.xml" Id="Ra76f472f33684436" /><Relationship Type="http://schemas.openxmlformats.org/officeDocument/2006/relationships/slide" Target="/ppt/slides/slide19.xml" Id="Rce2b9e5c65884170" /><Relationship Type="http://schemas.openxmlformats.org/officeDocument/2006/relationships/slide" Target="/ppt/slides/slide20.xml" Id="R31952d6ef0ce4a7e" /><Relationship Type="http://schemas.openxmlformats.org/officeDocument/2006/relationships/slide" Target="/ppt/slides/slide21.xml" Id="R45189dccaabb4ee3" /><Relationship Type="http://schemas.openxmlformats.org/officeDocument/2006/relationships/slide" Target="/ppt/slides/slide22.xml" Id="R124329192d1d430c" /><Relationship Type="http://schemas.openxmlformats.org/officeDocument/2006/relationships/slide" Target="/ppt/slides/slide23.xml" Id="R64e40908d5a8419c" /><Relationship Type="http://schemas.openxmlformats.org/officeDocument/2006/relationships/slide" Target="/ppt/slides/slide24.xml" Id="Rabc20cb2e8184e04" /><Relationship Type="http://schemas.openxmlformats.org/officeDocument/2006/relationships/slide" Target="/ppt/slides/slide25.xml" Id="R8e18bcb385b74484" /><Relationship Type="http://schemas.openxmlformats.org/officeDocument/2006/relationships/slide" Target="/ppt/slides/slide26.xml" Id="Ra1903b11afe64ed0" /><Relationship Type="http://schemas.openxmlformats.org/officeDocument/2006/relationships/slide" Target="/ppt/slides/slide27.xml" Id="Rdb464dcf78ff4efc" /><Relationship Type="http://schemas.openxmlformats.org/officeDocument/2006/relationships/slide" Target="/ppt/slides/slide28.xml" Id="Rd04332c98d434417" /><Relationship Type="http://schemas.openxmlformats.org/officeDocument/2006/relationships/slide" Target="/ppt/slides/slide29.xml" Id="R5d27c05aed234fcb" /><Relationship Type="http://schemas.openxmlformats.org/officeDocument/2006/relationships/slide" Target="/ppt/slides/slide30.xml" Id="Ra1ab1b18b2f44c00" /><Relationship Type="http://schemas.openxmlformats.org/officeDocument/2006/relationships/slide" Target="/ppt/slides/slide31.xml" Id="R181ed53ac7094e71" /><Relationship Type="http://schemas.openxmlformats.org/officeDocument/2006/relationships/slide" Target="/ppt/slides/slide32.xml" Id="R5a228fa072184e4f" /><Relationship Type="http://schemas.openxmlformats.org/officeDocument/2006/relationships/slide" Target="/ppt/slides/slide33.xml" Id="R342443e31ece4afe" /><Relationship Type="http://schemas.openxmlformats.org/officeDocument/2006/relationships/slide" Target="/ppt/slides/slide34.xml" Id="Rc859c83aa23246e3" /><Relationship Type="http://schemas.openxmlformats.org/officeDocument/2006/relationships/slide" Target="/ppt/slides/slide35.xml" Id="Re28f2830d73647b6" /><Relationship Type="http://schemas.openxmlformats.org/officeDocument/2006/relationships/slide" Target="/ppt/slides/slide36.xml" Id="Re7bd9c590b2a4c90" /><Relationship Type="http://schemas.openxmlformats.org/officeDocument/2006/relationships/slide" Target="/ppt/slides/slide37.xml" Id="R6a9cfcc6f6fa454d" /><Relationship Type="http://schemas.openxmlformats.org/officeDocument/2006/relationships/slide" Target="/ppt/slides/slide38.xml" Id="R272a2e56d63b4bf7" /><Relationship Type="http://schemas.openxmlformats.org/officeDocument/2006/relationships/slide" Target="/ppt/slides/slide39.xml" Id="Re8eba6f25a59474d" /><Relationship Type="http://schemas.openxmlformats.org/officeDocument/2006/relationships/slide" Target="/ppt/slides/slide40.xml" Id="R5ffa6434b6f44fd3" /><Relationship Type="http://schemas.openxmlformats.org/officeDocument/2006/relationships/slide" Target="/ppt/slides/slide41.xml" Id="R41d0c2b9fae04bd3" /><Relationship Type="http://schemas.openxmlformats.org/officeDocument/2006/relationships/slide" Target="/ppt/slides/slide42.xml" Id="R724605aaf7094b52" /><Relationship Type="http://schemas.openxmlformats.org/officeDocument/2006/relationships/slide" Target="/ppt/slides/slide43.xml" Id="R276a10858cc7420d" /><Relationship Type="http://schemas.openxmlformats.org/officeDocument/2006/relationships/slide" Target="/ppt/slides/slide44.xml" Id="R27c3765e3bd24a2f" /><Relationship Type="http://schemas.openxmlformats.org/officeDocument/2006/relationships/slide" Target="/ppt/slides/slide45.xml" Id="R52b8ccc6a56645a7" /><Relationship Type="http://schemas.openxmlformats.org/officeDocument/2006/relationships/slide" Target="/ppt/slides/slide46.xml" Id="R7bd1dd9d31f7486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8f1e53731a43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dd1327dfd64165" /><Relationship Type="http://schemas.openxmlformats.org/officeDocument/2006/relationships/notesMaster" Target="/ppt/notesMasters/notesMaster1.xml" Id="R46fa8136fb324f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770f4644014e4f" /><Relationship Type="http://schemas.openxmlformats.org/officeDocument/2006/relationships/notesMaster" Target="/ppt/notesMasters/notesMaster1.xml" Id="R14588d4ff94a49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ad9317c57a74d6a" /><Relationship Type="http://schemas.openxmlformats.org/officeDocument/2006/relationships/notesMaster" Target="/ppt/notesMasters/notesMaster1.xml" Id="R27c82c7ca07943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b7a888bac6402d" /><Relationship Type="http://schemas.openxmlformats.org/officeDocument/2006/relationships/notesMaster" Target="/ppt/notesMasters/notesMaster1.xml" Id="Rc5fcf49e74804e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0c8d0121b248d2" /><Relationship Type="http://schemas.openxmlformats.org/officeDocument/2006/relationships/notesMaster" Target="/ppt/notesMasters/notesMaster1.xml" Id="R5138be7d37e94a7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34bea53c024562" /><Relationship Type="http://schemas.openxmlformats.org/officeDocument/2006/relationships/notesMaster" Target="/ppt/notesMasters/notesMaster1.xml" Id="R71a50e67063d4fb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86709b99974537" /><Relationship Type="http://schemas.openxmlformats.org/officeDocument/2006/relationships/notesMaster" Target="/ppt/notesMasters/notesMaster1.xml" Id="Rccdaa5f771c3476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066480b3164473" /><Relationship Type="http://schemas.openxmlformats.org/officeDocument/2006/relationships/notesMaster" Target="/ppt/notesMasters/notesMaster1.xml" Id="R3365c4c442714fa2" /></Relationships>
</file>

<file path=ppt/notesSlides/_rels/notesSlide9.xml.rels>&#65279;<?xml version="1.0" encoding="utf-8"?><Relationships xmlns="http://schemas.openxmlformats.org/package/2006/relationships"><Relationship Type="http://schemas.openxmlformats.org/officeDocument/2006/relationships/slide" Target="/ppt/slides/slide9.xml" Id="Rddd9604e56b04f88" /><Relationship Type="http://schemas.openxmlformats.org/officeDocument/2006/relationships/notesMaster" Target="/ppt/notesMasters/notesMaster1.xml" Id="Rcaa728a6fe224d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c1e55242f04d8c" /><Relationship Type="http://schemas.openxmlformats.org/officeDocument/2006/relationships/notesMaster" Target="/ppt/notesMasters/notesMaster1.xml" Id="R08d5a96bcb574fd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a1b788fc334682" /><Relationship Type="http://schemas.openxmlformats.org/officeDocument/2006/relationships/notesMaster" Target="/ppt/notesMasters/notesMaster1.xml" Id="Rdbdf4a7bf4bf4c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1e873c8a46d40f7" /><Relationship Type="http://schemas.openxmlformats.org/officeDocument/2006/relationships/notesMaster" Target="/ppt/notesMasters/notesMaster1.xml" Id="R2595757897294e0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91703d85d354811" /><Relationship Type="http://schemas.openxmlformats.org/officeDocument/2006/relationships/notesMaster" Target="/ppt/notesMasters/notesMaster1.xml" Id="R5d769a127a73410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c95c7604fdb4ba1" /><Relationship Type="http://schemas.openxmlformats.org/officeDocument/2006/relationships/notesMaster" Target="/ppt/notesMasters/notesMaster1.xml" Id="Rea4b6d9b7144453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9797079ec304a87" /><Relationship Type="http://schemas.openxmlformats.org/officeDocument/2006/relationships/notesMaster" Target="/ppt/notesMasters/notesMaster1.xml" Id="Ra9b42d835379416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bb219b1afa342b5" /><Relationship Type="http://schemas.openxmlformats.org/officeDocument/2006/relationships/notesMaster" Target="/ppt/notesMasters/notesMaster1.xml" Id="Rdf9ecf48beaf4b5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8770d72d4e64b57" /><Relationship Type="http://schemas.openxmlformats.org/officeDocument/2006/relationships/notesMaster" Target="/ppt/notesMasters/notesMaster1.xml" Id="Rd7382bd161b248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12421ec7b58438d" /><Relationship Type="http://schemas.openxmlformats.org/officeDocument/2006/relationships/notesMaster" Target="/ppt/notesMasters/notesMaster1.xml" Id="Rf0b30d87037c486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19ac6e880b74c94" /><Relationship Type="http://schemas.openxmlformats.org/officeDocument/2006/relationships/notesMaster" Target="/ppt/notesMasters/notesMaster1.xml" Id="Rd9c73a8d79014d4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3f7bdb4cf474a9b" /><Relationship Type="http://schemas.openxmlformats.org/officeDocument/2006/relationships/notesMaster" Target="/ppt/notesMasters/notesMaster1.xml" Id="Rf2bd312440a94a1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6296def70fc4295" /><Relationship Type="http://schemas.openxmlformats.org/officeDocument/2006/relationships/notesMaster" Target="/ppt/notesMasters/notesMaster1.xml" Id="R9e7a10bbab82426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9a6655478ba4601" /><Relationship Type="http://schemas.openxmlformats.org/officeDocument/2006/relationships/notesMaster" Target="/ppt/notesMasters/notesMaster1.xml" Id="R9cd92c26a88f495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4915330a9c14a6b" /><Relationship Type="http://schemas.openxmlformats.org/officeDocument/2006/relationships/notesMaster" Target="/ppt/notesMasters/notesMaster1.xml" Id="R0afb4e8411ee472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ac5d58188fd4346" /><Relationship Type="http://schemas.openxmlformats.org/officeDocument/2006/relationships/notesMaster" Target="/ppt/notesMasters/notesMaster1.xml" Id="R463d7723df8e414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69b92ac1aa4019" /><Relationship Type="http://schemas.openxmlformats.org/officeDocument/2006/relationships/notesMaster" Target="/ppt/notesMasters/notesMaster1.xml" Id="Red174c343f3a4e9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582c2da4ef4401e" /><Relationship Type="http://schemas.openxmlformats.org/officeDocument/2006/relationships/notesMaster" Target="/ppt/notesMasters/notesMaster1.xml" Id="Rd3cc02f58dd1430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0df86b055f94145" /><Relationship Type="http://schemas.openxmlformats.org/officeDocument/2006/relationships/notesMaster" Target="/ppt/notesMasters/notesMaster1.xml" Id="R7f63f7fbfcc7483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f68076da1fd4b81" /><Relationship Type="http://schemas.openxmlformats.org/officeDocument/2006/relationships/notesMaster" Target="/ppt/notesMasters/notesMaster1.xml" Id="Rb0d42f47a1e1437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237971d3b8f4a2c" /><Relationship Type="http://schemas.openxmlformats.org/officeDocument/2006/relationships/notesMaster" Target="/ppt/notesMasters/notesMaster1.xml" Id="R5d596596796b474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cd9595cec6e49d6" /><Relationship Type="http://schemas.openxmlformats.org/officeDocument/2006/relationships/notesMaster" Target="/ppt/notesMasters/notesMaster1.xml" Id="Rc89a204c086d4ec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5cb4dbc343f4646" /><Relationship Type="http://schemas.openxmlformats.org/officeDocument/2006/relationships/notesMaster" Target="/ppt/notesMasters/notesMaster1.xml" Id="Rfee0676586ae47c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fe19a6ad28c4f7c" /><Relationship Type="http://schemas.openxmlformats.org/officeDocument/2006/relationships/notesMaster" Target="/ppt/notesMasters/notesMaster1.xml" Id="R03ecf09df92b451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9ffe5b96c2e4f82" /><Relationship Type="http://schemas.openxmlformats.org/officeDocument/2006/relationships/notesMaster" Target="/ppt/notesMasters/notesMaster1.xml" Id="R654eb410ec59462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9f20d74fca5483f" /><Relationship Type="http://schemas.openxmlformats.org/officeDocument/2006/relationships/notesMaster" Target="/ppt/notesMasters/notesMaster1.xml" Id="R1249914d49a2411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7c2f1039a864761" /><Relationship Type="http://schemas.openxmlformats.org/officeDocument/2006/relationships/notesMaster" Target="/ppt/notesMasters/notesMaster1.xml" Id="R085a6bb4e6aa4da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740540e6c074daf" /><Relationship Type="http://schemas.openxmlformats.org/officeDocument/2006/relationships/notesMaster" Target="/ppt/notesMasters/notesMaster1.xml" Id="Rae69cac46c3f4b2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2db60db14ca4497" /><Relationship Type="http://schemas.openxmlformats.org/officeDocument/2006/relationships/notesMaster" Target="/ppt/notesMasters/notesMaster1.xml" Id="R4f764591ed87455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b2d60c669ac4263" /><Relationship Type="http://schemas.openxmlformats.org/officeDocument/2006/relationships/notesMaster" Target="/ppt/notesMasters/notesMaster1.xml" Id="Rb9cdf0ca8841420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eafabe62110442d" /><Relationship Type="http://schemas.openxmlformats.org/officeDocument/2006/relationships/notesMaster" Target="/ppt/notesMasters/notesMaster1.xml" Id="R00a3933df2a5492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cde75c8fb0747c0" /><Relationship Type="http://schemas.openxmlformats.org/officeDocument/2006/relationships/notesMaster" Target="/ppt/notesMasters/notesMaster1.xml" Id="R02fcb72b11a542a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3e36a7e5f2a4935" /><Relationship Type="http://schemas.openxmlformats.org/officeDocument/2006/relationships/notesMaster" Target="/ppt/notesMasters/notesMaster1.xml" Id="R5afdf3fce3154f0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0db4d169b884ab6" /><Relationship Type="http://schemas.openxmlformats.org/officeDocument/2006/relationships/notesMaster" Target="/ppt/notesMasters/notesMaster1.xml" Id="R82be017d768641f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5cb70a886eb943aa" /><Relationship Type="http://schemas.openxmlformats.org/officeDocument/2006/relationships/notesMaster" Target="/ppt/notesMasters/notesMaster1.xml" Id="R9f2b22e7b78943c4"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75dd3ea76374ee9" /><Relationship Type="http://schemas.openxmlformats.org/officeDocument/2006/relationships/notesMaster" Target="/ppt/notesMasters/notesMaster1.xml" Id="R95e60d1a6d2e449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658dae9b9654ddd" /><Relationship Type="http://schemas.openxmlformats.org/officeDocument/2006/relationships/notesMaster" Target="/ppt/notesMasters/notesMaster1.xml" Id="R7cfa8ab3d2fc422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b5cb115a0d948a8" /><Relationship Type="http://schemas.openxmlformats.org/officeDocument/2006/relationships/notesMaster" Target="/ppt/notesMasters/notesMaster1.xml" Id="Rb080f468156c4a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a new research volume. The 123-slide descriptive microscope is frozen; subsequent huddles and promotion slices belong here. The opening question is whether any broad descriptive behavior predicts a better executable decision in untouched data.</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Cross-asset breadth and a broad plateau make the behavior worth investigating, but all cells remain discovery evidence because the same historical period informed the atlas and our attention. A candidate must be stated prospectively before later data are opened.</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 operator_hypothesis_lab/docs/RETURN_GEOMETRY_WIDE_ATLAS_2018_2023.md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Cumulative future returns are nested: R(1:100) = R(1:10) + R(11:100). If the signal is related only to R(1:10), that covariance is still carried inside R(1:20), R(1:50), and R(1:100). Later independent noise may attenuate the correlation, but it does not mechanically erase the early contribution. This is why an early 5–10-session rebound can remain visible at 100.</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Recommended blocks for the first anatomy pass: sessions 1–5, 6–10, 11–20, 21–40, 41–60, and 61–100 after the signal anchor. The first purpose is descriptive falsification of duration, not parameter selection or a trading backtest.</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operator_hypothesis_lab/presentations/tsla_descriptive_microscope_evidence.pptx, especially slides 105 and 114–123.</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later non-overlapping blocks continue to earn conditional return beyond the unconditional and state-only baselines, a 100-session holding concept is potentially actionable. It would be a medium-term tactical trade, not a swing trade. Actionability still depends on execution timing, drawdown, capital efficiency, turnover, and whether the rule meaningfully differs from always being long.</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daily signal with a 100-session holding period can generate many overlapping positions and near-continuous market exposure. Compare it with unconditional drift, the same regime without the prior-loss condition, and matched long exposure. Data-snooping controls become relevant once variants are compared or performance is ranked.</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Halbert White (2000), A Reality Check for Data Snooping, https://doi.org/10.1111/1468-0262.00152</a:t>
            </a:r>
          </a:p>
          <a:p xmlns:a="http://schemas.openxmlformats.org/drawingml/2006/main">
            <a:r>
              <a:t>- Bailey et al., The Probability of Backtest Overfitting, https://www.davidhbailey.com/dhbpapers/backtest-prob.pdf</a:t>
            </a:r>
          </a:p>
          <a:p xmlns:a="http://schemas.openxmlformats.org/drawingml/2006/main">
            <a:r>
              <a:t>- Bailey and López de Prado, The Deflated Sharpe Ratio, https://papers.ssrn.com/sol3/papers.cfm?abstract_id=2460551</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promotion ladder is behavior → candidate signal → predictive signal → tradeable edge → deployable system. This introductory deck stops at the candidate-design gate. The next technical slice should preserve the original 20-session prior anchor and measure non-overlapping future blocks under the pre-existing filters and baselines.</a:t>
            </a:r>
          </a:p>
          <a:p xmlns:a="http://schemas.openxmlformats.org/drawingml/2006/main">
            <a:r>
              <a:t/>
            </a:r>
          </a:p>
          <a:p xmlns:a="http://schemas.openxmlformats.org/drawingml/2006/main">
            <a:r>
              <a:t>[Sources]</a:t>
            </a:r>
          </a:p>
          <a:p xmlns:a="http://schemas.openxmlformats.org/drawingml/2006/main">
            <a:r>
              <a:t>- Codex thread 01a0226e-2fa2-7222-a6d9-79ab971ac616 (2026-08-27), operator–Codex huddle immediately following the full-vocabulary atlas closeout.</a:t>
            </a:r>
          </a:p>
          <a:p xmlns:a="http://schemas.openxmlformats.org/drawingml/2006/main">
            <a:r>
              <a:t>- operator_hypothesis_lab/docs/RETURN_GEOMETRY_WIDE_ATLAS_2018_2023.md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freezes the only outcome subset under the microscope. The primary state is signed ER20 DOWN_TREND at a 20-session negative-prior anchor. The 88-stock GICS core forms the equal-sector headline; other cohorts cannot alter it.</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runs/research_workbench/operator_hypothesis_lab/return_geometry_incremental_forward_decomposition_20260827/run_spec.csv</a:t>
            </a:r>
          </a:p>
          <a:p xmlns:a="http://schemas.openxmlformats.org/drawingml/2006/main">
            <a:r>
              <a:t>- operator_hypothesis_lab/docs/RETURN_GEOMETRY_EDGE_PROMOTION_HUDDLE.md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blocks are evaluated on anchors that have the full subsequent 100 sessions available. The construction audit verifies that the six incremental returns sum to R(1:100) with maximum absolute error below 7e-16 and reproduces shared cumulative cells below 6e-16.</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runs/research_workbench/operator_hypothesis_lab/return_geometry_incremental_forward_decomposition_20260827/run_spec.csv</a:t>
            </a:r>
          </a:p>
          <a:p xmlns:a="http://schemas.openxmlformats.org/drawingml/2006/main">
            <a:r>
              <a:t>- runs/research_workbench/operator_hypothesis_lab/return_geometry_incremental_forward_decomposition_20260827/decomposition_checks.csv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cumulative line remains strongly negative because it carries earlier blocks. The incremental line shows where new covariance arrives: it is negative in every block, but its strength is uneven. The 41-60 block is especially distinct; the 61-100 block is weak and the unfiltered-loss comparator is near zero there.</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runs/research_workbench/operator_hypothesis_lab/return_geometry_incremental_forward_decomposition_20260827/report.md</a:t>
            </a:r>
          </a:p>
          <a:p xmlns:a="http://schemas.openxmlformats.org/drawingml/2006/main">
            <a:r>
              <a:t>- runs/research_workbench/operator_hypothesis_lab/return_geometry_incremental_forward_decomposition_20260827/visuals/cumulative_vs_incremental_correlation.png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 of 11 sector medians are negative in both 21-40 and 41-60. Breadth falls to 7 of 11 in 61-100, where Utilities, Real Estate, Financials, and Energy turn positive. This is broad morphology with real heterogeneity, not a universal asset law.</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runs/research_workbench/operator_hypothesis_lab/return_geometry_incremental_forward_decomposition_20260827/core_sector_block_summary.csv</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runs/research_workbench/operator_hypothesis_lab/return_geometry_incremental_forward_decomposition_20260827/visuals/incremental_sector_heatmap.png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asset distributions show why the equal-sector median should not be read as a universal prediction. The median is negative through 41-60, while individual assets span both signs. The 61-100 median approaches zero and its interquartile range crosses well into positive territory.</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runs/research_workbench/operator_hypothesis_lab/return_geometry_incremental_forward_decomposition_20260827/asset_block_metrics.csv</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runs/research_workbench/operator_hypothesis_lab/return_geometry_incremental_forward_decomposition_20260827/visuals/incremental_asset_distribution.png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Drift-adjusted return is positive from sessions 1 through 60, peaking at 7.07 bp per session in 11-20 and remaining 4.47 bp in 21-40. It falls to 0.72 bp in 41-60 and turns negative at -0.90 bp in 61-100; only 3 of 11 sector medians remain positive in that final block. This is descriptive and not cost-, overlap-, or path-adjusted.</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runs/research_workbench/operator_hypothesis_lab/return_geometry_incremental_forward_decomposition_20260827/equal_sector_block_summary.csv</a:t>
            </a:r>
          </a:p>
          <a:p xmlns:a="http://schemas.openxmlformats.org/drawingml/2006/main">
            <a:r>
              <a:t>- runs/research_workbench/operator_hypothesis_lab/return_geometry_incremental_forward_decomposition_20260827/report.md</a:t>
            </a:r>
          </a:p>
          <a:p xmlns:a="http://schemas.openxmlformats.org/drawingml/2006/main">
            <a:r>
              <a:t>- runs/research_workbench/operator_hypothesis_lab/return_geometry_incremental_forward_decomposition_20260827/visuals/incremental_excess_bp_per_session.png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predeclared descriptive rule required at least two of three late blocks to have negative equal-sector correlation, at least 7 of 11 negative sector medians, and positive drift-adjusted return per session. The 21-40 and 41-60 blocks pass; 61-100 fails on drift-adjusted accrual. Preserve LATE_INCREMENTAL_DURATION_RETAINS_DESCRIPTIVE_SUPPORT without converting it into a 60-session holding recommendation.</a:t>
            </a:r>
          </a:p>
          <a:p xmlns:a="http://schemas.openxmlformats.org/drawingml/2006/main">
            <a:r>
              <a:t/>
            </a:r>
          </a:p>
          <a:p xmlns:a="http://schemas.openxmlformats.org/drawingml/2006/main">
            <a:r>
              <a:t>[Sources]</a:t>
            </a:r>
          </a:p>
          <a:p xmlns:a="http://schemas.openxmlformats.org/drawingml/2006/main">
            <a:r>
              <a:t>- Codex thread 01a0226e-2fa2-7222-a6d9-79ab971ac616 (2026-08-27), operator-authorized incremental forward-return decomposition slice.</a:t>
            </a:r>
          </a:p>
          <a:p xmlns:a="http://schemas.openxmlformats.org/drawingml/2006/main">
            <a:r>
              <a:t>- runs/research_workbench/operator_hypothesis_lab/return_geometry_incremental_forward_decomposition_20260827/report.md</a:t>
            </a:r>
          </a:p>
          <a:p xmlns:a="http://schemas.openxmlformats.org/drawingml/2006/main">
            <a:r>
              <a:t>- runs/research_workbench/operator_hypothesis_lab/return_geometry_incremental_forward_decomposition_20260827/late_block_readout.csv</a:t>
            </a:r>
          </a:p>
          <a:p xmlns:a="http://schemas.openxmlformats.org/drawingml/2006/main">
            <a:r>
              <a:t>- runs/research_workbench/operator_hypothesis_lab/return_geometry_incremental_forward_decomposition_20260827/status.csv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129 instruments in the wide atlas are processed wherever the causal history requirement is met. The 88 figure is not a reduced universe: it is the full-history stock core spanning 11 GICS sectors and supplies the equal-sector headline. The remaining 41 instruments stay visible as attention, equity-ETF, and non-equity diagnostic cohorts.</a:t>
            </a:r>
          </a:p>
          <a:p xmlns:a="http://schemas.openxmlformats.org/drawingml/2006/main">
            <a:r>
              <a:t/>
            </a:r>
          </a:p>
          <a:p xmlns:a="http://schemas.openxmlformats.org/drawingml/2006/main">
            <a:r>
              <a:t>[Sources]</a:t>
            </a:r>
          </a:p>
          <a:p xmlns:a="http://schemas.openxmlformats.org/drawingml/2006/main">
            <a:r>
              <a:t>- Codex thread 01a0226e-2fa2-7222-a6d9-79ab971ac616 (2026-08-28), operator-authorized bottom-20% next-open rule translation.</a:t>
            </a:r>
          </a:p>
          <a:p xmlns:a="http://schemas.openxmlformats.org/drawingml/2006/main">
            <a:r>
              <a:t>- runs/research_workbench/operator_hypothesis_lab/return_geometry_next_open_rule_translation_20260828/run_spec.csv</a:t>
            </a:r>
          </a:p>
          <a:p xmlns:a="http://schemas.openxmlformats.org/drawingml/2006/main">
            <a:r>
              <a:t>- runs/research_workbench/operator_hypothesis_lab/return_geometry_next_open_rule_translation_20260828/candidate_coverage.csv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severity threshold uses only an asset's previous negative 20-session returns; the current observation is excluded. A qualifying close-t signal enters at adjusted open t+1 and exits at adjusted open t+21. Only one position may be active per asset, and a signal observed at the close of the exit session may seed the next trade.</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runs/research_workbench/operator_hypothesis_lab/return_geometry_next_open_rule_translation_20260828/run_spec.csv</a:t>
            </a:r>
          </a:p>
          <a:p xmlns:a="http://schemas.openxmlformats.org/drawingml/2006/main">
            <a:r>
              <a:t>- runs/research_workbench/operator_hypothesis_lab/return_geometry_next_open_rule_translation_20260828/rule_translation_checks.csv</a:t>
            </a:r>
          </a:p>
          <a:p xmlns:a="http://schemas.openxmlformats.org/drawingml/2006/main">
            <a:r>
              <a:t>- operator_hypothesis_lab/docs/RETURN_GEOMETRY_NEXT_OPEN_RULE_TRANSLATION_2018_2023.md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88-stock core, the same events average +0.60% close-to-close and +0.55% gross open-to-open. The roughly -0.04 percentage-point translation loss is real but small, so the TRAIN outcome is not explained by moving the trade clock to executable opens.</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runs/research_workbench/operator_hypothesis_lab/return_geometry_next_open_rule_translation_20260828/trade_summary.csv</a:t>
            </a:r>
          </a:p>
          <a:p xmlns:a="http://schemas.openxmlformats.org/drawingml/2006/main">
            <a:r>
              <a:t>- runs/research_workbench/operator_hypothesis_lab/return_geometry_next_open_rule_translation_20260828/visuals/close_to_open_translation.png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breadth gate required at least 7 of 11 sectors to have positive median asset net excess over the same-asset unconditional 20-session open-to-open drift baseline. Only 6 pass. Communication Services is strongest; Consumer Discretionary is weakest.</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runs/research_workbench/operator_hypothesis_lab/return_geometry_next_open_rule_translation_20260828/core_sector_summary.csv</a:t>
            </a:r>
          </a:p>
          <a:p xmlns:a="http://schemas.openxmlformats.org/drawingml/2006/main">
            <a:r>
              <a:t>- runs/research_workbench/operator_hypothesis_lab/return_geometry_next_open_rule_translation_20260828/train_mechanics_gates.csv</a:t>
            </a:r>
          </a:p>
          <a:p xmlns:a="http://schemas.openxmlformats.org/drawingml/2006/main">
            <a:r>
              <a:t>- runs/research_workbench/operator_hypothesis_lab/return_geometry_next_open_rule_translation_20260828/visuals/core_sector_net_excess.png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equal-sector median asset earns +16.7 bp net excess per trade and the median core asset is barely positive at +1.9 bp. But the event-pooled core mean is -25.1 bp. That sign conflict means the result depends materially on whether assets, sectors, or events receive equal weight.</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runs/research_workbench/operator_hypothesis_lab/return_geometry_next_open_rule_translation_20260828/equal_sector_summary.csv</a:t>
            </a:r>
          </a:p>
          <a:p xmlns:a="http://schemas.openxmlformats.org/drawingml/2006/main">
            <a:r>
              <a:t>- runs/research_workbench/operator_hypothesis_lab/return_geometry_next_open_rule_translation_20260828/trade_summary.csv</a:t>
            </a:r>
          </a:p>
          <a:p xmlns:a="http://schemas.openxmlformats.org/drawingml/2006/main">
            <a:r>
              <a:t>- runs/research_workbench/operator_hypothesis_lab/return_geometry_next_open_rule_translation_20260828/visuals/core_aggregation_lenses.png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TRAIN mechanics are not temporally stable: 2019 and 2021 are strongly positive, while 2020 and 2022 are negative. This calendar view is descriptive and does not create a new year filter.</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runs/research_workbench/operator_hypothesis_lab/return_geometry_next_open_rule_translation_20260828/core_year_summary.csv</a:t>
            </a:r>
          </a:p>
          <a:p xmlns:a="http://schemas.openxmlformats.org/drawingml/2006/main">
            <a:r>
              <a:t>- runs/research_workbench/operator_hypothesis_lab/return_geometry_next_open_rule_translation_20260828/visuals/core_yearly_net_return.png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Cohort paths reveal that the atlas is not behaviorally homogeneous. The 88-stock GICS core and equity ETFs stabilize above zero on average, while the attention cohort continues declining after entry. The non-equity controls remain weak.</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runs/research_workbench/operator_hypothesis_lab/return_geometry_next_open_rule_translation_20260828/trade_path_summary.csv</a:t>
            </a:r>
          </a:p>
          <a:p xmlns:a="http://schemas.openxmlformats.org/drawingml/2006/main">
            <a:r>
              <a:t>- runs/research_workbench/operator_hypothesis_lab/return_geometry_next_open_rule_translation_20260828/cohort_summary.csv</a:t>
            </a:r>
          </a:p>
          <a:p xmlns:a="http://schemas.openxmlformats.org/drawingml/2006/main">
            <a:r>
              <a:t>- runs/research_workbench/operator_hypothesis_lab/return_geometry_next_open_rule_translation_20260828/visuals/mean_trade_path_by_cohort.png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within sectors, asset-level outcomes span both signs. This dispersion is why a positive equal-sector median is not enough to promote the rule and why the breadth gate was frozen before seeing the result.</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runs/research_workbench/operator_hypothesis_lab/return_geometry_next_open_rule_translation_20260828/asset_summary.csv</a:t>
            </a:r>
          </a:p>
          <a:p xmlns:a="http://schemas.openxmlformats.org/drawingml/2006/main">
            <a:r>
              <a:t>- runs/research_workbench/operator_hypothesis_lab/return_geometry_next_open_rule_translation_20260828/core_sector_summary.csv</a:t>
            </a:r>
          </a:p>
          <a:p xmlns:a="http://schemas.openxmlformats.org/drawingml/2006/main">
            <a:r>
              <a:t>- runs/research_workbench/operator_hypothesis_lab/return_geometry_next_open_rule_translation_20260828/visuals/core_asset_excess_distribution.png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first eligible deterministic trades for TSLA, AMD, GOOGL, and SPY—not chosen winners. Red marks the qualifying signal close, green the next-open entry, and blue the 20-session exit. The panels make the rule's heterogeneous path behavior directly inspectable.</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runs/research_workbench/operator_hypothesis_lab/return_geometry_next_open_rule_translation_20260828/primary_trade_ledger.csv</a:t>
            </a:r>
          </a:p>
          <a:p xmlns:a="http://schemas.openxmlformats.org/drawingml/2006/main">
            <a:r>
              <a:t>- runs/research_workbench/operator_hypothesis_lab/return_geometry_next_open_rule_translation_20260828/visuals/representative_trade_tapes.png</a:t>
            </a:r>
          </a:p>
          <a:p xmlns:a="http://schemas.openxmlformats.org/drawingml/2006/main">
            <a:r>
              <a:t>- Codex thread 01a0226e-2fa2-7222-a6d9-79ab971ac616 (2026-08-28), executable TRAIN rule discussion.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TRAIN rule does not retain mechanical support. It activates all 129 atlas instruments and 88 of 88 core stocks, so coverage is not the problem. It fails only the predeclared sector-breadth gate, but the event-pooled negative excess and strong cohort/calendar heterogeneity reinforce the STOP. No post-2023 outcomes were opened.</a:t>
            </a:r>
          </a:p>
          <a:p xmlns:a="http://schemas.openxmlformats.org/drawingml/2006/main">
            <a:r>
              <a:t/>
            </a:r>
          </a:p>
          <a:p xmlns:a="http://schemas.openxmlformats.org/drawingml/2006/main">
            <a:r>
              <a:t>[Sources]</a:t>
            </a:r>
          </a:p>
          <a:p xmlns:a="http://schemas.openxmlformats.org/drawingml/2006/main">
            <a:r>
              <a:t>- runs/research_workbench/operator_hypothesis_lab/return_geometry_next_open_rule_translation_20260828/status.csv</a:t>
            </a:r>
          </a:p>
          <a:p xmlns:a="http://schemas.openxmlformats.org/drawingml/2006/main">
            <a:r>
              <a:t>- runs/research_workbench/operator_hypothesis_lab/return_geometry_next_open_rule_translation_20260828/train_mechanics_gates.csv</a:t>
            </a:r>
          </a:p>
          <a:p xmlns:a="http://schemas.openxmlformats.org/drawingml/2006/main">
            <a:r>
              <a:t>- runs/research_workbench/operator_hypothesis_lab/return_geometry_next_open_rule_translation_20260828/report.md</a:t>
            </a:r>
          </a:p>
          <a:p xmlns:a="http://schemas.openxmlformats.org/drawingml/2006/main">
            <a:r>
              <a:t>- operator_hypothesis_lab/docs/RETURN_GEOMETRY_NEXT_OPEN_RULE_TRANSLATION_2018_2023.md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slice does not alter or rescue the stopped rule. It treats the existing TRAIN events as a laboratory for asking whether clean, causal descriptions of the shock environment visibly discriminate future drift-adjusted outcomes. The point is to learn what a usable feature relationship would look like before fitting a classifier or designing a gate.</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runs/research_workbench/operator_hypothesis_lab/return_geometry_applicability_feature_atlas_20260828/run_spec.csv</a:t>
            </a:r>
          </a:p>
          <a:p xmlns:a="http://schemas.openxmlformats.org/drawingml/2006/main">
            <a:r>
              <a:t>- runs/research_workbench/operator_hypothesis_lab/return_geometry_applicability_feature_atlas_20260828/status.csv</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Sector-relative loss distinguishes an idiosyncratic drop from a common sector move. Peer negative breadth measures participation without including the focal stock. Abnormal dollar volume asks whether the shock arrived with unusually high trading activity relative to its own prior 126-session baseline.</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runs/research_workbench/operator_hypothesis_lab/return_geometry_applicability_feature_atlas_20260828/run_spec.csv</a:t>
            </a:r>
          </a:p>
          <a:p xmlns:a="http://schemas.openxmlformats.org/drawingml/2006/main">
            <a:r>
              <a:t>- runs/research_workbench/operator_hypothesis_lab/return_geometry_applicability_feature_atlas_20260828/feature_construction_checks.csv</a:t>
            </a:r>
          </a:p>
          <a:p xmlns:a="http://schemas.openxmlformats.org/drawingml/2006/main">
            <a:r>
              <a:t>- Lo and MacKinlay (1990), doi:10.1093/rfs/3.2.175.</a:t>
            </a:r>
          </a:p>
          <a:p xmlns:a="http://schemas.openxmlformats.org/drawingml/2006/main">
            <a:r>
              <a:t>- Campbell, Grossman, and Wang (1993), doi:10.2307/2118454.</a:t>
            </a:r>
          </a:p>
          <a:p xmlns:a="http://schemas.openxmlformats.org/drawingml/2006/main">
            <a:r>
              <a:t>- Hameed and Mian (2015), doi:10.1017/S0022109014000404.</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Price-impact shock is an Amihud-style OHLCV proxy normalized to the asset's own prior state. SPY volatility percentile asks whether broad market stress conditions the outcome. Pre-shock normalized trend separates a loss after a strong longer trend from a loss after a weak or negative longer trend. These are minimal measurement devices, not mechanistic identifications.</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runs/research_workbench/operator_hypothesis_lab/return_geometry_applicability_feature_atlas_20260828/run_spec.csv</a:t>
            </a:r>
          </a:p>
          <a:p xmlns:a="http://schemas.openxmlformats.org/drawingml/2006/main">
            <a:r>
              <a:t>- runs/research_workbench/operator_hypothesis_lab/return_geometry_applicability_feature_atlas_20260828/feature_construction_checks.csv</a:t>
            </a:r>
          </a:p>
          <a:p xmlns:a="http://schemas.openxmlformats.org/drawingml/2006/main">
            <a:r>
              <a:t>- Amihud (2002), doi:10.1016/S1386-4181(01)00024-6.</a:t>
            </a:r>
          </a:p>
          <a:p xmlns:a="http://schemas.openxmlformats.org/drawingml/2006/main">
            <a:r>
              <a:t>- Nagel (2012), doi:10.1093/rfs/hhs066.</a:t>
            </a:r>
          </a:p>
          <a:p xmlns:a="http://schemas.openxmlformats.org/drawingml/2006/main">
            <a:r>
              <a:t>- Moskowitz, Ooi, and Pedersen (2012), doi:10.1016/j.jfineco.2011.11.003.</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common sector selloffs were obviously safer rebound environments, positive future outcomes would cluster in a coherent region of the map. They do not. Extreme focal underperformance does contain positive examples, but negative and positive outcomes remain intermingled.</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runs/research_workbench/operator_hypothesis_lab/return_geometry_applicability_feature_atlas_20260828/visuals/sector_shock_map.png</a:t>
            </a:r>
          </a:p>
          <a:p xmlns:a="http://schemas.openxmlformats.org/drawingml/2006/main">
            <a:r>
              <a:t>- runs/research_workbench/operator_hypothesis_lab/return_geometry_applicability_feature_atlas_20260828/feature_summary.csv</a:t>
            </a:r>
          </a:p>
          <a:p xmlns:a="http://schemas.openxmlformats.org/drawingml/2006/main">
            <a:r>
              <a:t>- runs/research_workbench/operator_hypothesis_lab/return_geometry_applicability_feature_atlas_20260828/asset_balanced_binned_profiles.csv</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event-level clouds do not show a clean threshold or linear separator. The smooths are descriptive only. Display axes are clipped to the 2.5th and 97.5th percentiles; all events remain in the numerical summaries.</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runs/research_workbench/operator_hypothesis_lab/return_geometry_applicability_feature_atlas_20260828/visuals/feature_scatter_sanity_checks.png</a:t>
            </a:r>
          </a:p>
          <a:p xmlns:a="http://schemas.openxmlformats.org/drawingml/2006/main">
            <a:r>
              <a:t>- runs/research_workbench/operator_hypothesis_lab/return_geometry_applicability_feature_atlas_20260828/feature_summary.csv</a:t>
            </a:r>
          </a:p>
          <a:p xmlns:a="http://schemas.openxmlformats.org/drawingml/2006/main">
            <a:r>
              <a:t>- runs/research_workbench/operator_hypothesis_lab/return_geometry_applicability_feature_atlas_20260828/asset_balanced_binned_profiles.csv</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Blue gives each asset equal weight; gray pools events. No feature improves steadily from low to high. Sector-relative loss, peer breadth, price impact, market volatility, and pretrend contain reversals of sign. High abnormal-volume bins are negative under both aggregation lenses.</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runs/research_workbench/operator_hypothesis_lab/return_geometry_applicability_feature_atlas_20260828/visuals/asset_balanced_binned_profiles.png</a:t>
            </a:r>
          </a:p>
          <a:p xmlns:a="http://schemas.openxmlformats.org/drawingml/2006/main">
            <a:r>
              <a:t>- runs/research_workbench/operator_hypothesis_lab/return_geometry_applicability_feature_atlas_20260828/feature_summary.csv</a:t>
            </a:r>
          </a:p>
          <a:p xmlns:a="http://schemas.openxmlformats.org/drawingml/2006/main">
            <a:r>
              <a:t>- runs/research_workbench/operator_hypothesis_lab/return_geometry_applicability_feature_atlas_20260828/asset_balanced_binned_profiles.csv</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chart orders endpoint contrasts only; it does not rank feature quality. Price impact has the largest positive high-minus-low contrast, but its underlying profile jumps from a deeply negative fourth bin to a positive fifth bin. Sector-relative loss has the reverse endpoint sign while event-level correlation is near zero. Endpoint discontinuity is a reason for caution.</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runs/research_workbench/operator_hypothesis_lab/return_geometry_applicability_feature_atlas_20260828/visuals/feature_descriptive_rank.png</a:t>
            </a:r>
          </a:p>
          <a:p xmlns:a="http://schemas.openxmlformats.org/drawingml/2006/main">
            <a:r>
              <a:t>- runs/research_workbench/operator_hypothesis_lab/return_geometry_applicability_feature_atlas_20260828/feature_summary.csv</a:t>
            </a:r>
          </a:p>
          <a:p xmlns:a="http://schemas.openxmlformats.org/drawingml/2006/main">
            <a:r>
              <a:t>- runs/research_workbench/operator_hypothesis_lab/return_geometry_applicability_feature_atlas_20260828/asset_balanced_binned_profiles.csv</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Assets with positive and negative mean outcomes are intermingled within sectors. This argues against using the observed sector labels themselves as an upstream filter and motivates any later test to hold out both assets and sectors.</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runs/research_workbench/operator_hypothesis_lab/return_geometry_applicability_feature_atlas_20260828/visuals/asset_characterization_map.png</a:t>
            </a:r>
          </a:p>
          <a:p xmlns:a="http://schemas.openxmlformats.org/drawingml/2006/main">
            <a:r>
              <a:t>- runs/research_workbench/operator_hypothesis_lab/return_geometry_applicability_feature_atlas_20260828/feature_summary.csv</a:t>
            </a:r>
          </a:p>
          <a:p xmlns:a="http://schemas.openxmlformats.org/drawingml/2006/main">
            <a:r>
              <a:t>- runs/research_workbench/operator_hypothesis_lab/return_geometry_applicability_feature_atlas_20260828/asset_balanced_binned_profiles.csv</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Pairs are selected within the same asset, in adjacent feature bins, by the smallest difference in prior-20 loss severity. Future outcomes are never used to select the examples. Red is signal close, green entry, and blue exit. The tapes make the residual heterogeneity concrete rather than proving a bin effect.</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runs/research_workbench/operator_hypothesis_lab/return_geometry_applicability_feature_atlas_20260828/visuals/representative_matched_trade_pairs.png</a:t>
            </a:r>
          </a:p>
          <a:p xmlns:a="http://schemas.openxmlformats.org/drawingml/2006/main">
            <a:r>
              <a:t>- runs/research_workbench/operator_hypothesis_lab/return_geometry_applicability_feature_atlas_20260828/feature_summary.csv</a:t>
            </a:r>
          </a:p>
          <a:p xmlns:a="http://schemas.openxmlformats.org/drawingml/2006/main">
            <a:r>
              <a:t>- runs/research_workbench/operator_hypothesis_lab/return_geometry_applicability_feature_atlas_20260828/asset_balanced_binned_profiles.csv</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is not a null in the sense of 'nothing learned.' It rejects several simple stories and narrows the shape of any future hypothesis. But none of the observed shapes can responsibly become a gate from this same data: the prominent candidates are nonmonotone endpoint islands discovered after inspection.</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runs/research_workbench/operator_hypothesis_lab/return_geometry_applicability_feature_atlas_20260828/feature_interpretation.csv</a:t>
            </a:r>
          </a:p>
          <a:p xmlns:a="http://schemas.openxmlformats.org/drawingml/2006/main">
            <a:r>
              <a:t>- runs/research_workbench/operator_hypothesis_lab/return_geometry_applicability_feature_atlas_20260828/feature_spearman_correlation.csv</a:t>
            </a:r>
          </a:p>
          <a:p xmlns:a="http://schemas.openxmlformats.org/drawingml/2006/main">
            <a:r>
              <a:t>- runs/research_workbench/operator_hypothesis_lab/return_geometry_applicability_feature_atlas_20260828/report.md</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DESCRIPTIVE_FEATURE_ATLAS_COMPLETE_NO_GATE_SELECTED. A defensible next slice would select at most one or two precise shapes before inspecting new groups, then test cross-asset and cross-sector transport. Temporal confirmation should remain later so the present TRAIN data cannot silently design and confirm the same rule.</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applicability feature exploration.</a:t>
            </a:r>
          </a:p>
          <a:p xmlns:a="http://schemas.openxmlformats.org/drawingml/2006/main">
            <a:r>
              <a:t>- runs/research_workbench/operator_hypothesis_lab/return_geometry_applicability_feature_atlas_20260828/status.csv</a:t>
            </a:r>
          </a:p>
          <a:p xmlns:a="http://schemas.openxmlformats.org/drawingml/2006/main">
            <a:r>
              <a:t>- runs/research_workbench/operator_hypothesis_lab/return_geometry_applicability_feature_atlas_20260828/feature_construction_checks.csv</a:t>
            </a:r>
          </a:p>
          <a:p xmlns:a="http://schemas.openxmlformats.org/drawingml/2006/main">
            <a:r>
              <a:t>- runs/research_workbench/operator_hypothesis_lab/return_geometry_applicability_feature_atlas_20260828/report.md</a:t>
            </a:r>
          </a:p>
          <a:p xmlns:a="http://schemas.openxmlformats.org/drawingml/2006/main">
            <a:r>
              <a:t>- operator_hypothesis_lab/docs/RETURN_GEOMETRY_APPLICABILITY_FEATURE_ATLAS_2018_2023.md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prior feature atlas did not earn a general permission rule, but it did reveal one visually coherent negative clue: the two highest abnormal-dollar-volume bins were below drift. This slice maps that exact clue to one frozen causal veto. It does not retune the stopped rebound rule or search multiple thresholds.</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runs/research_workbench/operator_hypothesis_lab/return_geometry_abnormal_volume_veto_20260828/run_spec.csv</a:t>
            </a:r>
          </a:p>
          <a:p xmlns:a="http://schemas.openxmlformats.org/drawingml/2006/main">
            <a:r>
              <a:t>- runs/research_workbench/operator_hypothesis_lab/return_geometry_abnormal_volume_veto_20260828/status.csv</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Daily abnormal dollar volume is the log ratio of the current 20-session median dollar volume to the median over the preceding 126 sessions. Each daily value is ranked only against strictly prior feature values. The 60th-percentile boundary was frozen before this run because it translates the atlas's top-two-of-five-bin clue directly into one veto.</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runs/research_workbench/operator_hypothesis_lab/return_geometry_abnormal_volume_veto_20260828/run_spec.csv</a:t>
            </a:r>
          </a:p>
          <a:p xmlns:a="http://schemas.openxmlformats.org/drawingml/2006/main">
            <a:r>
              <a:t>- runs/research_workbench/operator_hypothesis_lab/return_geometry_abnormal_volume_veto_20260828/construction_checks.csv</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causal percentile profile preserves the atlas shape: low and middle abnormal-volume states are near or above drift, while the predeclared high-veto region—the top two bins—is negative. This is descriptive continuity, not independent confirmation.</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runs/research_workbench/operator_hypothesis_lab/return_geometry_abnormal_volume_veto_20260828/visuals/causal_percentile_profile.png</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Across core events, the original rule is -25 bp/trade versus drift. Retained normal-volume events are +41 bp/trade; removed high-volume events are -122 bp/trade. The retained share is 59.6%. This is the strongest practical separation in the slice, but all values remain internal to TRAIN.</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runs/research_workbench/operator_hypothesis_lab/return_geometry_abnormal_volume_veto_20260828/visuals/veto_rule_comparison.png</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Eight sector medians are negative, meeting the frozen 7-of-11 breadth check. Information Technology is approximately flat; Communication Services and Industrials reverse. Sector breadth supports a broad mechanism while preserving visible heterogeneity.</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runs/research_workbench/operator_hypothesis_lab/return_geometry_abnormal_volume_veto_20260828/visuals/sector_veto_contrasts.png</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asset-balanced contrast is -160 bp/trade and 55 of 88 comparable assets are negative, clearing the frozen 60% breadth threshold. The wide dispersion is crucial: the veto is not universal, even within sectors that support it on median.</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runs/research_workbench/operator_hypothesis_lab/return_geometry_abnormal_volume_veto_20260828/visuals/asset_veto_contrast_distribution.png</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high-veto event is matched within the same asset to the unused normal-volume event with the closest prior-20 loss severity. Outcomes never enter matching. The paired high-minus-normal contrast is -179 bp/trade, so simple loss-severity imbalance is not enough to explain the separation.</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runs/research_workbench/operator_hypothesis_lab/return_geometry_abnormal_volume_veto_20260828/visuals/severity_matched_outcomes.png</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eligible atlas cohort has a negative asset-balanced high-minus-normal contrast: GICS core -160 bp/trade, attention supplement -538, equity ETF controls -52, and non-equity controls -69. This is encouraging structural transport, but the cohorts are exposed to the same dates and were part of the same discovery ledger, so they are diagnostic—not independent replication.</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runs/research_workbench/operator_hypothesis_lab/return_geometry_abnormal_volume_veto_20260828/cohort_veto_diagnostics.csv</a:t>
            </a:r>
          </a:p>
          <a:p xmlns:a="http://schemas.openxmlformats.org/drawingml/2006/main">
            <a:r>
              <a:t>- runs/research_workbench/operator_hypothesis_lab/return_geometry_abnormal_volume_veto_20260828/status.csv</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veto direction holds in 2018, 2020, and 2021, but reverses in 2019, 2022, and 2023. The 2020 contrast is especially large, and the latest TRAIN year reverses. Calendar stability was diagnostic rather than a retroactively substituted gate; it qualifies the seven frozen cross-sectional passes and blocks a clean promotion claim.</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runs/research_workbench/operator_hypothesis_lab/return_geometry_abnormal_volume_veto_20260828/visuals/year_veto_contrasts.png</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Representative pairs are selected by same asset and smallest prior-loss-severity distance, with controls not reused and outcomes excluded. Red is signal close, green next-open entry, and blue exit. The tapes expose residual heterogeneity and should not be read as proof of the average effect.</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runs/research_workbench/operator_hypothesis_lab/return_geometry_abnormal_volume_veto_20260828/visuals/representative_veto_trade_tapes.png</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TRAIN_VOLUME_VETO_CROSS_SECTIONAL_SUPPORT_TEMPORALLY_UNSTABLE_STOP_BEFORE_OOS. The veto is the first feature in this lane to behave like a plausible failure-state discriminator: it transports across assets, sectors, matched loss severity, and diagnostic cohorts while preserving 59.6% of events. But only three of six calendar years agree, and 2023 reverses. This is not a promoted edge and does not automatically open OOS.</a:t>
            </a:r>
          </a:p>
          <a:p xmlns:a="http://schemas.openxmlformats.org/drawingml/2006/main">
            <a:r>
              <a:t/>
            </a:r>
          </a:p>
          <a:p xmlns:a="http://schemas.openxmlformats.org/drawingml/2006/main">
            <a:r>
              <a:t>[Sources]</a:t>
            </a:r>
          </a:p>
          <a:p xmlns:a="http://schemas.openxmlformats.org/drawingml/2006/main">
            <a:r>
              <a:t>- Codex task 01a0226e-2fa2-7222-a6d9-79ab971ac616 (2026-08-28), operator-approved abnormal-volume veto falsification.</a:t>
            </a:r>
          </a:p>
          <a:p xmlns:a="http://schemas.openxmlformats.org/drawingml/2006/main">
            <a:r>
              <a:t>- runs/research_workbench/operator_hypothesis_lab/return_geometry_abnormal_volume_veto_20260828/status.csv</a:t>
            </a:r>
          </a:p>
          <a:p xmlns:a="http://schemas.openxmlformats.org/drawingml/2006/main">
            <a:r>
              <a:t>- runs/research_workbench/operator_hypothesis_lab/return_geometry_abnormal_volume_veto_20260828/train_veto_gates.csv</a:t>
            </a:r>
          </a:p>
          <a:p xmlns:a="http://schemas.openxmlformats.org/drawingml/2006/main">
            <a:r>
              <a:t>- runs/research_workbench/operator_hypothesis_lab/return_geometry_abnormal_volume_veto_20260828/temporal_diagnostic.csv</a:t>
            </a:r>
          </a:p>
          <a:p xmlns:a="http://schemas.openxmlformats.org/drawingml/2006/main">
            <a:r>
              <a:t>- runs/research_workbench/operator_hypothesis_lab/return_geometry_abnormal_volume_veto_20260828/report.md</a:t>
            </a:r>
          </a:p>
          <a:p xmlns:a="http://schemas.openxmlformats.org/drawingml/2006/main">
            <a:r>
              <a:t>- operator_hypothesis_lab/docs/RETURN_GEOMETRY_ABNORMAL_VOLUME_VETO_2018_2023.md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1b0250cbe2342d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c68f249f364765" /><Relationship Type="http://schemas.openxmlformats.org/officeDocument/2006/relationships/slideLayout" Target="/ppt/slideLayouts/slideLayout1.xml" Id="Rf7e4d197597f40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e4d197597f40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c535ef11e9a4452" /><Relationship Type="http://schemas.openxmlformats.org/officeDocument/2006/relationships/notesSlide" Target="/ppt/notesSlides/notesSlide1.xml" Id="R6252dde4adaa47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8bf2798b834071" /><Relationship Type="http://schemas.openxmlformats.org/officeDocument/2006/relationships/notesSlide" Target="/ppt/notesSlides/notesSlide2.xml" Id="R21e650b087d7403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4f2a110dd66459d" /><Relationship Type="http://schemas.openxmlformats.org/officeDocument/2006/relationships/notesSlide" Target="/ppt/notesSlides/notesSlide3.xml" Id="Rfd6945d0aba84a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8f8446b139d4cde" /><Relationship Type="http://schemas.openxmlformats.org/officeDocument/2006/relationships/notesSlide" Target="/ppt/notesSlides/notesSlide4.xml" Id="R727d571e496e48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7e93c0d78ca4c8e" /><Relationship Type="http://schemas.openxmlformats.org/officeDocument/2006/relationships/notesSlide" Target="/ppt/notesSlides/notesSlide5.xml" Id="Rfc891da48e2241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0518d2980a349ab" /><Relationship Type="http://schemas.openxmlformats.org/officeDocument/2006/relationships/notesSlide" Target="/ppt/notesSlides/notesSlide6.xml" Id="R1571de035411417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31191be9cd14723" /><Relationship Type="http://schemas.openxmlformats.org/officeDocument/2006/relationships/notesSlide" Target="/ppt/notesSlides/notesSlide7.xml" Id="R75e77e6b684842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9d1aa8bd4554ce9" /><Relationship Type="http://schemas.openxmlformats.org/officeDocument/2006/relationships/notesSlide" Target="/ppt/notesSlides/notesSlide8.xml" Id="Rda9f83a5ff5f40c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7d72dbc9cf34689" /><Relationship Type="http://schemas.openxmlformats.org/officeDocument/2006/relationships/notesSlide" Target="/ppt/notesSlides/notesSlide9.xml" Id="R8ae4047da70048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3431fdf7b384fc4" /><Relationship Type="http://schemas.openxmlformats.org/officeDocument/2006/relationships/image" Target="/ppt/media/image.png" Id="R550415a99ab0456f" /><Relationship Type="http://schemas.openxmlformats.org/officeDocument/2006/relationships/notesSlide" Target="/ppt/notesSlides/notesSlide10.xml" Id="R0a6d925680204e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c1c8b85c1a47c3" /><Relationship Type="http://schemas.openxmlformats.org/officeDocument/2006/relationships/image" Target="/ppt/media/image2.png" Id="R21a01115d6814e1c" /><Relationship Type="http://schemas.openxmlformats.org/officeDocument/2006/relationships/notesSlide" Target="/ppt/notesSlides/notesSlide11.xml" Id="Re301f7f0cacc4d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da9f3ebaf7b4255" /><Relationship Type="http://schemas.openxmlformats.org/officeDocument/2006/relationships/image" Target="/ppt/media/image3.png" Id="Rd03ff41ab72948bb" /><Relationship Type="http://schemas.openxmlformats.org/officeDocument/2006/relationships/notesSlide" Target="/ppt/notesSlides/notesSlide12.xml" Id="Rf8fc529abf1240d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f3fb68d6ae64b5c" /><Relationship Type="http://schemas.openxmlformats.org/officeDocument/2006/relationships/image" Target="/ppt/media/image4.png" Id="Rf5d4275df16d432b" /><Relationship Type="http://schemas.openxmlformats.org/officeDocument/2006/relationships/notesSlide" Target="/ppt/notesSlides/notesSlide13.xml" Id="Rf701491498aa4c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5a0837132da45f2" /><Relationship Type="http://schemas.openxmlformats.org/officeDocument/2006/relationships/notesSlide" Target="/ppt/notesSlides/notesSlide14.xml" Id="R3eac972c6981440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8ab7a826acb4e1e" /><Relationship Type="http://schemas.openxmlformats.org/officeDocument/2006/relationships/notesSlide" Target="/ppt/notesSlides/notesSlide15.xml" Id="R3bcf550226cf4a3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f51a7b4f90140ed" /><Relationship Type="http://schemas.openxmlformats.org/officeDocument/2006/relationships/notesSlide" Target="/ppt/notesSlides/notesSlide16.xml" Id="R7a246933927c4b7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66bfd4ceaeb41d8" /><Relationship Type="http://schemas.openxmlformats.org/officeDocument/2006/relationships/image" Target="/ppt/media/image3.png" Id="R9e15d6cec8724ee2" /><Relationship Type="http://schemas.openxmlformats.org/officeDocument/2006/relationships/image" Target="/ppt/media/image.svg" Id="R7bb7a7d0e44a4f88" /><Relationship Type="http://schemas.openxmlformats.org/officeDocument/2006/relationships/image" Target="/ppt/media/image.png" Id="R696b2b083d7048ea" /><Relationship Type="http://schemas.openxmlformats.org/officeDocument/2006/relationships/image" Target="/ppt/media/image5.png" Id="Rbb38ae936ce34d34" /><Relationship Type="http://schemas.openxmlformats.org/officeDocument/2006/relationships/notesSlide" Target="/ppt/notesSlides/notesSlide17.xml" Id="R2ee60b5740d64fa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1bf4f139a704ee1" /><Relationship Type="http://schemas.openxmlformats.org/officeDocument/2006/relationships/image" Target="/ppt/media/image4.png" Id="R74f2bed371204b98" /><Relationship Type="http://schemas.openxmlformats.org/officeDocument/2006/relationships/image" Target="/ppt/media/image2.svg" Id="Rf3cc910526f84395" /><Relationship Type="http://schemas.openxmlformats.org/officeDocument/2006/relationships/image" Target="/ppt/media/image2.png" Id="R7e93977dc21942b3" /><Relationship Type="http://schemas.openxmlformats.org/officeDocument/2006/relationships/image" Target="/ppt/media/image6.png" Id="Rfdf012c40996494c" /><Relationship Type="http://schemas.openxmlformats.org/officeDocument/2006/relationships/notesSlide" Target="/ppt/notesSlides/notesSlide18.xml" Id="R53a3d01530eb40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e4bde2c026841ed" /><Relationship Type="http://schemas.openxmlformats.org/officeDocument/2006/relationships/image" Target="/ppt/media/image4.png" Id="R7f9dcc85295744fa" /><Relationship Type="http://schemas.openxmlformats.org/officeDocument/2006/relationships/image" Target="/ppt/media/image3.svg" Id="R9f3b848b66014be7" /><Relationship Type="http://schemas.openxmlformats.org/officeDocument/2006/relationships/image" Target="/ppt/media/image3.png" Id="R05e84f67065b4324" /><Relationship Type="http://schemas.openxmlformats.org/officeDocument/2006/relationships/image" Target="/ppt/media/image7.png" Id="Ra4c0ff198ba84cfc" /><Relationship Type="http://schemas.openxmlformats.org/officeDocument/2006/relationships/notesSlide" Target="/ppt/notesSlides/notesSlide19.xml" Id="R077213f5aa9c428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393d8aac3614b51" /><Relationship Type="http://schemas.openxmlformats.org/officeDocument/2006/relationships/image" Target="/ppt/media/image4.png" Id="Ra38d71cc165a402e" /><Relationship Type="http://schemas.openxmlformats.org/officeDocument/2006/relationships/image" Target="/ppt/media/image4.svg" Id="R321e9c1c4eaf4211" /><Relationship Type="http://schemas.openxmlformats.org/officeDocument/2006/relationships/image" Target="/ppt/media/image8.png" Id="R0d1ba547da904921" /><Relationship Type="http://schemas.openxmlformats.org/officeDocument/2006/relationships/notesSlide" Target="/ppt/notesSlides/notesSlide20.xml" Id="Rd396854bab2d485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34e9570f7c7436e" /><Relationship Type="http://schemas.openxmlformats.org/officeDocument/2006/relationships/image" Target="/ppt/media/image3.png" Id="Re7efc9c4822a45f2" /><Relationship Type="http://schemas.openxmlformats.org/officeDocument/2006/relationships/image" Target="/ppt/media/image5.svg" Id="R347e9009fc4543e5" /><Relationship Type="http://schemas.openxmlformats.org/officeDocument/2006/relationships/image" Target="/ppt/media/image5.png" Id="R556256f355f54149" /><Relationship Type="http://schemas.openxmlformats.org/officeDocument/2006/relationships/image" Target="/ppt/media/image9.png" Id="R2cf55043b8284356" /><Relationship Type="http://schemas.openxmlformats.org/officeDocument/2006/relationships/notesSlide" Target="/ppt/notesSlides/notesSlide21.xml" Id="R6ca73ed36b27411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35f592dd44d34a6f" /><Relationship Type="http://schemas.openxmlformats.org/officeDocument/2006/relationships/image" Target="/ppt/media/image3.png" Id="R29385c9b7ca141dc" /><Relationship Type="http://schemas.openxmlformats.org/officeDocument/2006/relationships/image" Target="/ppt/media/image6.svg" Id="R37217038025142b7" /><Relationship Type="http://schemas.openxmlformats.org/officeDocument/2006/relationships/image" Target="/ppt/media/image6.png" Id="R28ecdf02fb224d83" /><Relationship Type="http://schemas.openxmlformats.org/officeDocument/2006/relationships/image" Target="/ppt/media/image10.png" Id="R55850fc015574643" /><Relationship Type="http://schemas.openxmlformats.org/officeDocument/2006/relationships/notesSlide" Target="/ppt/notesSlides/notesSlide22.xml" Id="R82581a0a0117486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271e78d11c64f3f" /><Relationship Type="http://schemas.openxmlformats.org/officeDocument/2006/relationships/image" Target="/ppt/media/image3.png" Id="Rf475b904b0ef4326" /><Relationship Type="http://schemas.openxmlformats.org/officeDocument/2006/relationships/image" Target="/ppt/media/image7.svg" Id="Re0c93f797dcd48f7" /><Relationship Type="http://schemas.openxmlformats.org/officeDocument/2006/relationships/image" Target="/ppt/media/image7.png" Id="R7dac6bd60c194d9e" /><Relationship Type="http://schemas.openxmlformats.org/officeDocument/2006/relationships/image" Target="/ppt/media/image11.png" Id="R4af7e6a2dd3b4c04" /><Relationship Type="http://schemas.openxmlformats.org/officeDocument/2006/relationships/notesSlide" Target="/ppt/notesSlides/notesSlide23.xml" Id="R8220cae96b1c418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04da931ada34a16" /><Relationship Type="http://schemas.openxmlformats.org/officeDocument/2006/relationships/notesSlide" Target="/ppt/notesSlides/notesSlide24.xml" Id="Rdcf4ed5c377543e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0d1ba58dfd64597" /><Relationship Type="http://schemas.openxmlformats.org/officeDocument/2006/relationships/notesSlide" Target="/ppt/notesSlides/notesSlide25.xml" Id="R7d604b3e22674df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601bf76330b4d6d" /><Relationship Type="http://schemas.openxmlformats.org/officeDocument/2006/relationships/notesSlide" Target="/ppt/notesSlides/notesSlide26.xml" Id="R5f1f058513b0413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612c56721e4462d" /><Relationship Type="http://schemas.openxmlformats.org/officeDocument/2006/relationships/notesSlide" Target="/ppt/notesSlides/notesSlide27.xml" Id="R2988a68d33384e5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7277ab2982b42b5" /><Relationship Type="http://schemas.openxmlformats.org/officeDocument/2006/relationships/image" Target="/ppt/media/image3.png" Id="Rba6bc810bc914a64" /><Relationship Type="http://schemas.openxmlformats.org/officeDocument/2006/relationships/image" Target="/ppt/media/image.png" Id="R899b9a9d2c794e47" /><Relationship Type="http://schemas.openxmlformats.org/officeDocument/2006/relationships/image" Target="/ppt/media/image.svg" Id="Rb4b773afaa0b4dc3" /><Relationship Type="http://schemas.openxmlformats.org/officeDocument/2006/relationships/image" Target="/ppt/media/image5.png" Id="Rc856a1114e734165" /><Relationship Type="http://schemas.openxmlformats.org/officeDocument/2006/relationships/image" Target="/ppt/media/image8.svg" Id="Rad3d2dd657e943fa" /><Relationship Type="http://schemas.openxmlformats.org/officeDocument/2006/relationships/image" Target="/ppt/media/image8.png" Id="R109d6eacfd5e436f" /><Relationship Type="http://schemas.openxmlformats.org/officeDocument/2006/relationships/image" Target="/ppt/media/image12.png" Id="Red9e451a54b94608" /><Relationship Type="http://schemas.openxmlformats.org/officeDocument/2006/relationships/notesSlide" Target="/ppt/notesSlides/notesSlide28.xml" Id="R0bf16dcd914547a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c332285d11a42e5" /><Relationship Type="http://schemas.openxmlformats.org/officeDocument/2006/relationships/image" Target="/ppt/media/image3.png" Id="Rfe21355fb8384ab9" /><Relationship Type="http://schemas.openxmlformats.org/officeDocument/2006/relationships/image" Target="/ppt/media/image.png" Id="Ra10b6be2d41d4f85" /><Relationship Type="http://schemas.openxmlformats.org/officeDocument/2006/relationships/image" Target="/ppt/media/image.svg" Id="R0337e150eb184c0e" /><Relationship Type="http://schemas.openxmlformats.org/officeDocument/2006/relationships/image" Target="/ppt/media/image5.png" Id="R5d2ca5d35c354b99" /><Relationship Type="http://schemas.openxmlformats.org/officeDocument/2006/relationships/image" Target="/ppt/media/image9.svg" Id="R06365647ff9547ca" /><Relationship Type="http://schemas.openxmlformats.org/officeDocument/2006/relationships/image" Target="/ppt/media/image9.png" Id="R32a33f812c674f54" /><Relationship Type="http://schemas.openxmlformats.org/officeDocument/2006/relationships/image" Target="/ppt/media/image13.png" Id="R39779e9262e54949" /><Relationship Type="http://schemas.openxmlformats.org/officeDocument/2006/relationships/notesSlide" Target="/ppt/notesSlides/notesSlide29.xml" Id="R7436350b682d46f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630a4276a2946c9" /><Relationship Type="http://schemas.openxmlformats.org/officeDocument/2006/relationships/image" Target="/ppt/media/image3.png" Id="Rd5ae1ee474974a4d" /><Relationship Type="http://schemas.openxmlformats.org/officeDocument/2006/relationships/image" Target="/ppt/media/image.png" Id="R5f71567723d644aa" /><Relationship Type="http://schemas.openxmlformats.org/officeDocument/2006/relationships/image" Target="/ppt/media/image.svg" Id="Rea81215c17e94ce7" /><Relationship Type="http://schemas.openxmlformats.org/officeDocument/2006/relationships/image" Target="/ppt/media/image5.png" Id="R8cf4fd99855042ad" /><Relationship Type="http://schemas.openxmlformats.org/officeDocument/2006/relationships/image" Target="/ppt/media/image10.svg" Id="R421327066b584709" /><Relationship Type="http://schemas.openxmlformats.org/officeDocument/2006/relationships/image" Target="/ppt/media/image10.png" Id="Rf6e2c61ecd0045f2" /><Relationship Type="http://schemas.openxmlformats.org/officeDocument/2006/relationships/image" Target="/ppt/media/image14.png" Id="R6b0ee08febaa4dc4" /><Relationship Type="http://schemas.openxmlformats.org/officeDocument/2006/relationships/notesSlide" Target="/ppt/notesSlides/notesSlide30.xml" Id="Rb258558d61b74f8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0208d73a0274e18" /><Relationship Type="http://schemas.openxmlformats.org/officeDocument/2006/relationships/image" Target="/ppt/media/image3.png" Id="Raade26fd17df4806" /><Relationship Type="http://schemas.openxmlformats.org/officeDocument/2006/relationships/image" Target="/ppt/media/image.png" Id="Rb843708da0e244e0" /><Relationship Type="http://schemas.openxmlformats.org/officeDocument/2006/relationships/image" Target="/ppt/media/image.svg" Id="Rcd5610de830d4d60" /><Relationship Type="http://schemas.openxmlformats.org/officeDocument/2006/relationships/image" Target="/ppt/media/image5.png" Id="Rab92f4d44595469d" /><Relationship Type="http://schemas.openxmlformats.org/officeDocument/2006/relationships/image" Target="/ppt/media/image11.svg" Id="Ra60468ba2eb64226" /><Relationship Type="http://schemas.openxmlformats.org/officeDocument/2006/relationships/image" Target="/ppt/media/image11.png" Id="R0e7066525a274846" /><Relationship Type="http://schemas.openxmlformats.org/officeDocument/2006/relationships/image" Target="/ppt/media/image15.png" Id="R948715af7ff14cdb" /><Relationship Type="http://schemas.openxmlformats.org/officeDocument/2006/relationships/notesSlide" Target="/ppt/notesSlides/notesSlide31.xml" Id="Reca3afbdfe2b428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0f803e969d9f4bd7" /><Relationship Type="http://schemas.openxmlformats.org/officeDocument/2006/relationships/image" Target="/ppt/media/image3.png" Id="Re0e9bfa0561b419a" /><Relationship Type="http://schemas.openxmlformats.org/officeDocument/2006/relationships/image" Target="/ppt/media/image.png" Id="Rbebca5c9b20541a4" /><Relationship Type="http://schemas.openxmlformats.org/officeDocument/2006/relationships/image" Target="/ppt/media/image.svg" Id="Rde131172576346ef" /><Relationship Type="http://schemas.openxmlformats.org/officeDocument/2006/relationships/image" Target="/ppt/media/image5.png" Id="R9b5fb0aaffbb455c" /><Relationship Type="http://schemas.openxmlformats.org/officeDocument/2006/relationships/image" Target="/ppt/media/image12.svg" Id="Rc8b5268de4ab481d" /><Relationship Type="http://schemas.openxmlformats.org/officeDocument/2006/relationships/image" Target="/ppt/media/image12.png" Id="R14999d87ea304b9d" /><Relationship Type="http://schemas.openxmlformats.org/officeDocument/2006/relationships/image" Target="/ppt/media/image16.png" Id="R3f6faac0d0bb454a" /><Relationship Type="http://schemas.openxmlformats.org/officeDocument/2006/relationships/notesSlide" Target="/ppt/notesSlides/notesSlide32.xml" Id="Rdc6960fab694406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d652c63444a458a" /><Relationship Type="http://schemas.openxmlformats.org/officeDocument/2006/relationships/image" Target="/ppt/media/image3.png" Id="R323bd8cf2ee0493e" /><Relationship Type="http://schemas.openxmlformats.org/officeDocument/2006/relationships/image" Target="/ppt/media/image.png" Id="Rd10799f772794a90" /><Relationship Type="http://schemas.openxmlformats.org/officeDocument/2006/relationships/image" Target="/ppt/media/image.svg" Id="R387c97f5c0bd4999" /><Relationship Type="http://schemas.openxmlformats.org/officeDocument/2006/relationships/image" Target="/ppt/media/image5.png" Id="R35a01ea5dc554aa7" /><Relationship Type="http://schemas.openxmlformats.org/officeDocument/2006/relationships/image" Target="/ppt/media/image13.svg" Id="Rf196d6ba5d6040cc" /><Relationship Type="http://schemas.openxmlformats.org/officeDocument/2006/relationships/image" Target="/ppt/media/image13.png" Id="R94de84f5b434492a" /><Relationship Type="http://schemas.openxmlformats.org/officeDocument/2006/relationships/image" Target="/ppt/media/image17.png" Id="R05140ad10bb342f1" /><Relationship Type="http://schemas.openxmlformats.org/officeDocument/2006/relationships/notesSlide" Target="/ppt/notesSlides/notesSlide33.xml" Id="R732a80b1cc4b4d0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99fee318c7e54806" /><Relationship Type="http://schemas.openxmlformats.org/officeDocument/2006/relationships/notesSlide" Target="/ppt/notesSlides/notesSlide34.xml" Id="Rb9bd6273a33e481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3a32455a6654431" /><Relationship Type="http://schemas.openxmlformats.org/officeDocument/2006/relationships/notesSlide" Target="/ppt/notesSlides/notesSlide35.xml" Id="R05b58f4adff84a6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1a3c049507a45ff" /><Relationship Type="http://schemas.openxmlformats.org/officeDocument/2006/relationships/notesSlide" Target="/ppt/notesSlides/notesSlide36.xml" Id="Rdb9cfac6b48349c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2a4f78b54d434b1c" /><Relationship Type="http://schemas.openxmlformats.org/officeDocument/2006/relationships/notesSlide" Target="/ppt/notesSlides/notesSlide37.xml" Id="Rdb923051f6da4b0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ba253e65a8449ae" /><Relationship Type="http://schemas.openxmlformats.org/officeDocument/2006/relationships/image" Target="/ppt/media/image3.png" Id="R592e889db4e7405e" /><Relationship Type="http://schemas.openxmlformats.org/officeDocument/2006/relationships/image" Target="/ppt/media/image.png" Id="Re275cf34413842cc" /><Relationship Type="http://schemas.openxmlformats.org/officeDocument/2006/relationships/image" Target="/ppt/media/image.svg" Id="R3cde4a3778af4c51" /><Relationship Type="http://schemas.openxmlformats.org/officeDocument/2006/relationships/image" Target="/ppt/media/image5.png" Id="R7ab16c607205472b" /><Relationship Type="http://schemas.openxmlformats.org/officeDocument/2006/relationships/image" Target="/ppt/media/image9.png" Id="R297a5e2f10864251" /><Relationship Type="http://schemas.openxmlformats.org/officeDocument/2006/relationships/image" Target="/ppt/media/image9.svg" Id="R33899ea576f24662" /><Relationship Type="http://schemas.openxmlformats.org/officeDocument/2006/relationships/image" Target="/ppt/media/image13.png" Id="R97268e01284248b7" /><Relationship Type="http://schemas.openxmlformats.org/officeDocument/2006/relationships/image" Target="/ppt/media/image18.png" Id="Raae22f38929b474d" /><Relationship Type="http://schemas.openxmlformats.org/officeDocument/2006/relationships/image" Target="/ppt/media/image14.svg" Id="Rca2189c003764539" /><Relationship Type="http://schemas.openxmlformats.org/officeDocument/2006/relationships/image" Target="/ppt/media/image19.png" Id="Rb4a4326b7c39409a" /><Relationship Type="http://schemas.openxmlformats.org/officeDocument/2006/relationships/notesSlide" Target="/ppt/notesSlides/notesSlide38.xml" Id="R4a5f37a24a3a4d9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c382c6f1c539408b" /><Relationship Type="http://schemas.openxmlformats.org/officeDocument/2006/relationships/image" Target="/ppt/media/image3.png" Id="Rb619f641576b4960" /><Relationship Type="http://schemas.openxmlformats.org/officeDocument/2006/relationships/image" Target="/ppt/media/image.png" Id="R0d40b7783a1840d3" /><Relationship Type="http://schemas.openxmlformats.org/officeDocument/2006/relationships/image" Target="/ppt/media/image.svg" Id="R6a1fec0e88294180" /><Relationship Type="http://schemas.openxmlformats.org/officeDocument/2006/relationships/image" Target="/ppt/media/image5.png" Id="Rb0666e96f4c948b8" /><Relationship Type="http://schemas.openxmlformats.org/officeDocument/2006/relationships/image" Target="/ppt/media/image9.png" Id="Rb9681864740b421c" /><Relationship Type="http://schemas.openxmlformats.org/officeDocument/2006/relationships/image" Target="/ppt/media/image9.svg" Id="Rd83182418c244840" /><Relationship Type="http://schemas.openxmlformats.org/officeDocument/2006/relationships/image" Target="/ppt/media/image13.png" Id="R04ed33b596e84411" /><Relationship Type="http://schemas.openxmlformats.org/officeDocument/2006/relationships/image" Target="/ppt/media/image20.png" Id="Rc22ad24d534c4bb6" /><Relationship Type="http://schemas.openxmlformats.org/officeDocument/2006/relationships/image" Target="/ppt/media/image15.svg" Id="R7f480aba64764885" /><Relationship Type="http://schemas.openxmlformats.org/officeDocument/2006/relationships/image" Target="/ppt/media/image21.png" Id="R03fe56279ce74f42" /><Relationship Type="http://schemas.openxmlformats.org/officeDocument/2006/relationships/notesSlide" Target="/ppt/notesSlides/notesSlide39.xml" Id="R0dcfa0aa8273422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bfdea749f3b4098" /><Relationship Type="http://schemas.openxmlformats.org/officeDocument/2006/relationships/image" Target="/ppt/media/image3.png" Id="Rabb2005687cf431c" /><Relationship Type="http://schemas.openxmlformats.org/officeDocument/2006/relationships/image" Target="/ppt/media/image.png" Id="R852289cc2f7b4ff4" /><Relationship Type="http://schemas.openxmlformats.org/officeDocument/2006/relationships/image" Target="/ppt/media/image.svg" Id="R71cb06cfda0f481a" /><Relationship Type="http://schemas.openxmlformats.org/officeDocument/2006/relationships/image" Target="/ppt/media/image5.png" Id="R2c66f777fe564ed7" /><Relationship Type="http://schemas.openxmlformats.org/officeDocument/2006/relationships/image" Target="/ppt/media/image9.png" Id="R6742b8d35f1e44fb" /><Relationship Type="http://schemas.openxmlformats.org/officeDocument/2006/relationships/image" Target="/ppt/media/image9.svg" Id="Rb6ea6f231140483a" /><Relationship Type="http://schemas.openxmlformats.org/officeDocument/2006/relationships/image" Target="/ppt/media/image13.png" Id="R8be76921f1084d30" /><Relationship Type="http://schemas.openxmlformats.org/officeDocument/2006/relationships/image" Target="/ppt/media/image22.png" Id="Rdb4ab0a2c27946d4" /><Relationship Type="http://schemas.openxmlformats.org/officeDocument/2006/relationships/image" Target="/ppt/media/image16.svg" Id="R7b33e319a88b4af7" /><Relationship Type="http://schemas.openxmlformats.org/officeDocument/2006/relationships/image" Target="/ppt/media/image23.png" Id="R7245d09da50346df" /><Relationship Type="http://schemas.openxmlformats.org/officeDocument/2006/relationships/notesSlide" Target="/ppt/notesSlides/notesSlide40.xml" Id="R77d8ef0b22bf47a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357bf264482347d6" /><Relationship Type="http://schemas.openxmlformats.org/officeDocument/2006/relationships/image" Target="/ppt/media/image3.png" Id="Re424f938e8a245b8" /><Relationship Type="http://schemas.openxmlformats.org/officeDocument/2006/relationships/image" Target="/ppt/media/image.png" Id="Rd3f95f25178340df" /><Relationship Type="http://schemas.openxmlformats.org/officeDocument/2006/relationships/image" Target="/ppt/media/image.svg" Id="Rde55cfaddb274580" /><Relationship Type="http://schemas.openxmlformats.org/officeDocument/2006/relationships/image" Target="/ppt/media/image5.png" Id="R718578b15e954355" /><Relationship Type="http://schemas.openxmlformats.org/officeDocument/2006/relationships/image" Target="/ppt/media/image9.png" Id="Ra639f2c5ef924847" /><Relationship Type="http://schemas.openxmlformats.org/officeDocument/2006/relationships/image" Target="/ppt/media/image9.svg" Id="R1984bebce6834a44" /><Relationship Type="http://schemas.openxmlformats.org/officeDocument/2006/relationships/image" Target="/ppt/media/image13.png" Id="R355d86f625e9465d" /><Relationship Type="http://schemas.openxmlformats.org/officeDocument/2006/relationships/image" Target="/ppt/media/image24.png" Id="Re2fca51c2c384f05" /><Relationship Type="http://schemas.openxmlformats.org/officeDocument/2006/relationships/image" Target="/ppt/media/image17.svg" Id="Ra31adf583aeb4ba8" /><Relationship Type="http://schemas.openxmlformats.org/officeDocument/2006/relationships/image" Target="/ppt/media/image25.png" Id="R5495779ca4c641e2" /><Relationship Type="http://schemas.openxmlformats.org/officeDocument/2006/relationships/notesSlide" Target="/ppt/notesSlides/notesSlide41.xml" Id="R0cdfabf5f4b94c6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452cb3186e4c4aa3" /><Relationship Type="http://schemas.openxmlformats.org/officeDocument/2006/relationships/image" Target="/ppt/media/image3.png" Id="Rf18e2c23cb924ee6" /><Relationship Type="http://schemas.openxmlformats.org/officeDocument/2006/relationships/image" Target="/ppt/media/image.png" Id="R8f0a165112c745e1" /><Relationship Type="http://schemas.openxmlformats.org/officeDocument/2006/relationships/image" Target="/ppt/media/image.svg" Id="R7501746529e34424" /><Relationship Type="http://schemas.openxmlformats.org/officeDocument/2006/relationships/image" Target="/ppt/media/image5.png" Id="R9a4844e78b7a4c87" /><Relationship Type="http://schemas.openxmlformats.org/officeDocument/2006/relationships/image" Target="/ppt/media/image9.png" Id="Rd0902a9b8d2d41c7" /><Relationship Type="http://schemas.openxmlformats.org/officeDocument/2006/relationships/image" Target="/ppt/media/image9.svg" Id="R086ed1c818614a02" /><Relationship Type="http://schemas.openxmlformats.org/officeDocument/2006/relationships/image" Target="/ppt/media/image13.png" Id="R67f76a4e70164450" /><Relationship Type="http://schemas.openxmlformats.org/officeDocument/2006/relationships/image" Target="/ppt/media/image26.png" Id="R6c3207310e274a35" /><Relationship Type="http://schemas.openxmlformats.org/officeDocument/2006/relationships/image" Target="/ppt/media/image18.svg" Id="Ra0b67382b32e4b8f" /><Relationship Type="http://schemas.openxmlformats.org/officeDocument/2006/relationships/image" Target="/ppt/media/image27.png" Id="Ra5f2b2548aed4c33" /><Relationship Type="http://schemas.openxmlformats.org/officeDocument/2006/relationships/notesSlide" Target="/ppt/notesSlides/notesSlide42.xml" Id="Rbc278988e8ed473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538478a0910b4c6f" /><Relationship Type="http://schemas.openxmlformats.org/officeDocument/2006/relationships/notesSlide" Target="/ppt/notesSlides/notesSlide43.xml" Id="R35bde89811424c1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7151a2e422e4d46" /><Relationship Type="http://schemas.openxmlformats.org/officeDocument/2006/relationships/image" Target="/ppt/media/image3.png" Id="Rd5b27e00b237481b" /><Relationship Type="http://schemas.openxmlformats.org/officeDocument/2006/relationships/image" Target="/ppt/media/image.png" Id="R4e2b9d3e0b2a43f0" /><Relationship Type="http://schemas.openxmlformats.org/officeDocument/2006/relationships/image" Target="/ppt/media/image.svg" Id="R42b8ee971fcb483f" /><Relationship Type="http://schemas.openxmlformats.org/officeDocument/2006/relationships/image" Target="/ppt/media/image5.png" Id="Rc3288b001e724e44" /><Relationship Type="http://schemas.openxmlformats.org/officeDocument/2006/relationships/image" Target="/ppt/media/image9.png" Id="Rfb4b899df31e40e0" /><Relationship Type="http://schemas.openxmlformats.org/officeDocument/2006/relationships/image" Target="/ppt/media/image9.svg" Id="R689dbbd6aa4d4350" /><Relationship Type="http://schemas.openxmlformats.org/officeDocument/2006/relationships/image" Target="/ppt/media/image13.png" Id="R433feb3b013f49d0" /><Relationship Type="http://schemas.openxmlformats.org/officeDocument/2006/relationships/image" Target="/ppt/media/image28.png" Id="Rf58ab542fcc948e0" /><Relationship Type="http://schemas.openxmlformats.org/officeDocument/2006/relationships/image" Target="/ppt/media/image19.svg" Id="R27c0d2e1bd124681" /><Relationship Type="http://schemas.openxmlformats.org/officeDocument/2006/relationships/image" Target="/ppt/media/image29.png" Id="R96a5e954fbdc4eeb" /><Relationship Type="http://schemas.openxmlformats.org/officeDocument/2006/relationships/notesSlide" Target="/ppt/notesSlides/notesSlide44.xml" Id="R2872d23fef124b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ecef3d806a3f47ca" /><Relationship Type="http://schemas.openxmlformats.org/officeDocument/2006/relationships/image" Target="/ppt/media/image3.png" Id="Rda83d757a3c34d01" /><Relationship Type="http://schemas.openxmlformats.org/officeDocument/2006/relationships/image" Target="/ppt/media/image.png" Id="Rd57dde1c1b814925" /><Relationship Type="http://schemas.openxmlformats.org/officeDocument/2006/relationships/image" Target="/ppt/media/image.svg" Id="R5ea2d314d39845ab" /><Relationship Type="http://schemas.openxmlformats.org/officeDocument/2006/relationships/image" Target="/ppt/media/image5.png" Id="R72f037f8ed504ce6" /><Relationship Type="http://schemas.openxmlformats.org/officeDocument/2006/relationships/image" Target="/ppt/media/image9.png" Id="Rd500053c9b594316" /><Relationship Type="http://schemas.openxmlformats.org/officeDocument/2006/relationships/image" Target="/ppt/media/image9.svg" Id="Rd5948157c22a40fc" /><Relationship Type="http://schemas.openxmlformats.org/officeDocument/2006/relationships/image" Target="/ppt/media/image13.png" Id="R30064daf211d44e1" /><Relationship Type="http://schemas.openxmlformats.org/officeDocument/2006/relationships/image" Target="/ppt/media/image30.png" Id="R48f378b933604074" /><Relationship Type="http://schemas.openxmlformats.org/officeDocument/2006/relationships/image" Target="/ppt/media/image20.svg" Id="R340c8f5768c5452b" /><Relationship Type="http://schemas.openxmlformats.org/officeDocument/2006/relationships/image" Target="/ppt/media/image31.png" Id="R42b3975136dd442e" /><Relationship Type="http://schemas.openxmlformats.org/officeDocument/2006/relationships/notesSlide" Target="/ppt/notesSlides/notesSlide45.xml" Id="R0deb64471e8b420d"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0c4f6da1cfd94902" /><Relationship Type="http://schemas.openxmlformats.org/officeDocument/2006/relationships/notesSlide" Target="/ppt/notesSlides/notesSlide46.xml" Id="R6220d174a275488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12B881-2D87-4470-A9E2-CA40D710634E}"/>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E45756"/>
                </a:solidFill>
              </a:defRPr>
            </a:pPr>
            <a:r>
              <a:rPr sz="1350" b="1">
                <a:solidFill>
                  <a:srgbClr val="E45756"/>
                </a:solidFill>
              </a:rPr>
              <a:t>EDGE PROMOTION</a:t>
            </a:r>
          </a:p>
        </p:txBody>
      </p:sp>
      <p:sp>
        <p:nvSpPr>
          <p:cNvPr id="2" name="">
            <a:extLst xmlns:a="http://schemas.openxmlformats.org/drawingml/2006/main">
              <a:ext uri="{FF2B5EF4-FFF2-40B4-BE49-F238E27FC236}">
                <a16:creationId xmlns:a16="http://schemas.microsoft.com/office/drawing/2014/main" id="{0BB2094F-C042-49AB-BE8C-0ECFD22457DD}"/>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4350" b="1">
                <a:solidFill>
                  <a:srgbClr val="111827"/>
                </a:solidFill>
              </a:defRPr>
            </a:pPr>
            <a:r>
              <a:rPr sz="4350" b="1">
                <a:solidFill>
                  <a:srgbClr val="111827"/>
                </a:solidFill>
              </a:rPr>
              <a:t>From return geometry to candidate edge</a:t>
            </a:r>
          </a:p>
        </p:txBody>
      </p:sp>
      <p:sp>
        <p:nvSpPr>
          <p:cNvPr id="3" name="">
            <a:extLst xmlns:a="http://schemas.openxmlformats.org/drawingml/2006/main">
              <a:ext uri="{FF2B5EF4-FFF2-40B4-BE49-F238E27FC236}">
                <a16:creationId xmlns:a16="http://schemas.microsoft.com/office/drawing/2014/main" id="{D8394FB8-5765-4318-8A56-6DACECFE912E}"/>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E45756"/>
          </a:solidFill>
          <a:ln xmlns:a="http://schemas.openxmlformats.org/drawingml/2006/main" w="9525">
            <a:solidFill>
              <a:srgbClr val="E45756"/>
            </a:solidFill>
            <a:prstDash val="solid"/>
          </a:ln>
        </p:spPr>
      </p:sp>
      <p:sp>
        <p:nvSpPr>
          <p:cNvPr id="4" name="">
            <a:extLst xmlns:a="http://schemas.openxmlformats.org/drawingml/2006/main">
              <a:ext uri="{FF2B5EF4-FFF2-40B4-BE49-F238E27FC236}">
                <a16:creationId xmlns:a16="http://schemas.microsoft.com/office/drawing/2014/main" id="{67E3D676-3E4E-40CF-9FFA-FDD3E7F4C6B2}"/>
              </a:ext>
            </a:extLst>
          </p:cNvPr>
          <p:cNvSpPr>
            <a:spLocks xmlns:a="http://schemas.openxmlformats.org/drawingml/2006/main" noGrp="1"/>
          </p:cNvSpPr>
          <p:nvPr/>
        </p:nvSpPr>
        <p:spPr>
          <a:xfrm xmlns:a="http://schemas.openxmlformats.org/drawingml/2006/main">
            <a:off x="457200" y="41719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025" b="0">
                <a:solidFill>
                  <a:srgbClr val="667384"/>
                </a:solidFill>
              </a:defRPr>
            </a:pPr>
            <a:r>
              <a:rPr sz="2025" b="0">
                <a:solidFill>
                  <a:srgbClr val="667384"/>
                </a:solidFill>
              </a:rPr>
              <a:t>Promotion huddle and falsification roadmap</a:t>
            </a:r>
          </a:p>
        </p:txBody>
      </p:sp>
      <p:sp>
        <p:nvSpPr>
          <p:cNvPr id="5" name="">
            <a:extLst xmlns:a="http://schemas.openxmlformats.org/drawingml/2006/main">
              <a:ext uri="{FF2B5EF4-FFF2-40B4-BE49-F238E27FC236}">
                <a16:creationId xmlns:a16="http://schemas.microsoft.com/office/drawing/2014/main" id="{AF79BB13-9AEC-4C77-9A8C-3203F83002E1}"/>
              </a:ext>
            </a:extLst>
          </p:cNvPr>
          <p:cNvSpPr>
            <a:spLocks xmlns:a="http://schemas.openxmlformats.org/drawingml/2006/main" noGrp="1"/>
          </p:cNvSpPr>
          <p:nvPr/>
        </p:nvSpPr>
        <p:spPr>
          <a:xfrm xmlns:a="http://schemas.openxmlformats.org/drawingml/2006/main">
            <a:off x="457200" y="5429250"/>
            <a:ext cx="1047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75" b="0">
                <a:solidFill>
                  <a:srgbClr val="667384"/>
                </a:solidFill>
              </a:defRPr>
            </a:pPr>
            <a:r>
              <a:rPr sz="1575" b="0">
                <a:solidFill>
                  <a:srgbClr val="667384"/>
                </a:solidFill>
              </a:rPr>
              <a:t>Incremental timing • frozen hypotheses • untouched transport • executable decisions</a:t>
            </a:r>
          </a:p>
        </p:txBody>
      </p:sp>
      <p:sp>
        <p:nvSpPr>
          <p:cNvPr id="6" name="">
            <a:extLst xmlns:a="http://schemas.openxmlformats.org/drawingml/2006/main">
              <a:ext uri="{FF2B5EF4-FFF2-40B4-BE49-F238E27FC236}">
                <a16:creationId xmlns:a16="http://schemas.microsoft.com/office/drawing/2014/main" id="{AD589277-BA8D-465E-8FE0-58FC0F7326BE}"/>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00" b="0">
                <a:solidFill>
                  <a:srgbClr val="667384"/>
                </a:solidFill>
              </a:defRPr>
            </a:pPr>
            <a:r>
              <a:rPr sz="900" b="0">
                <a:solidFill>
                  <a:srgbClr val="667384"/>
                </a:solidFill>
              </a:rPr>
              <a:t>1</a:t>
            </a:r>
          </a:p>
        </p:txBody>
      </p:sp>
    </p:spTree>
    <p:extLst>
      <p:ext uri="{BB962C8B-B14F-4D97-AF65-F5344CB8AC3E}">
        <p14:creationId xmlns:p14="http://schemas.microsoft.com/office/powerpoint/2010/main" val="169716707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PROMOTION BOUNDARY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atlas has earned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promotion huddle | 2026-08-27</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 conditional return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129 instruments; many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LEARNS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Scale and filters discriminate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rebound, continuation, exhaustion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prospective trading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timing and baseline unresolved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Where we stand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The atlas is a discovery surface. Promotion begins only after one hypothesis is frozen before new data.</a:t>
            </a:r>
          </a:p>
        </p:txBody>
      </p:sp>
    </p:spTree>
    <p:extLst>
      <p:ext uri="{BB962C8B-B14F-4D97-AF65-F5344CB8AC3E}">
        <p14:creationId xmlns:p14="http://schemas.microsoft.com/office/powerpoint/2010/main" val="6665362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975FA3A-7B7A-4DCE-BE5A-84E74DC1D0F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00" b="1">
                <a:solidFill>
                  <a:srgbClr val="667384"/>
                </a:solidFill>
              </a:defRPr>
            </a:pPr>
            <a:r>
              <a:rPr sz="1200" b="1">
                <a:solidFill>
                  <a:srgbClr val="667384"/>
                </a:solidFill>
              </a:rPr>
              <a:t>NESTED WINDOWS</a:t>
            </a:r>
          </a:p>
        </p:txBody>
      </p:sp>
      <p:sp>
        <p:nvSpPr>
          <p:cNvPr id="2" name="">
            <a:extLst xmlns:a="http://schemas.openxmlformats.org/drawingml/2006/main">
              <a:ext uri="{FF2B5EF4-FFF2-40B4-BE49-F238E27FC236}">
                <a16:creationId xmlns:a16="http://schemas.microsoft.com/office/drawing/2014/main" id="{B6472F5C-DF7D-407E-8191-2836C3E3AAED}"/>
              </a:ext>
            </a:extLst>
          </p:cNvPr>
          <p:cNvSpPr>
            <a:spLocks xmlns:a="http://schemas.openxmlformats.org/drawingml/2006/main" noGrp="1"/>
          </p:cNvSpPr>
          <p:nvPr/>
        </p:nvSpPr>
        <p:spPr>
          <a:xfrm xmlns:a="http://schemas.openxmlformats.org/drawingml/2006/main">
            <a:off x="457200" y="533400"/>
            <a:ext cx="11277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3150" b="1">
                <a:solidFill>
                  <a:srgbClr val="111827"/>
                </a:solidFill>
              </a:defRPr>
            </a:pPr>
            <a:r>
              <a:rPr sz="3150" b="1">
                <a:solidFill>
                  <a:srgbClr val="111827"/>
                </a:solidFill>
              </a:rPr>
              <a:t>An early rebound echoes through longer cumulative windows</a:t>
            </a:r>
          </a:p>
        </p:txBody>
      </p:sp>
      <p:sp>
        <p:nvSpPr>
          <p:cNvPr id="3" name="">
            <a:extLst xmlns:a="http://schemas.openxmlformats.org/drawingml/2006/main">
              <a:ext uri="{FF2B5EF4-FFF2-40B4-BE49-F238E27FC236}">
                <a16:creationId xmlns:a16="http://schemas.microsoft.com/office/drawing/2014/main" id="{3E456945-A860-45BF-838A-84CF2A0FAE4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FB90F6BF-7D1F-42F0-8870-18EA12E44041}"/>
              </a:ext>
            </a:extLst>
          </p:cNvPr>
          <p:cNvSpPr>
            <a:spLocks xmlns:a="http://schemas.openxmlformats.org/drawingml/2006/main" noGrp="1"/>
          </p:cNvSpPr>
          <p:nvPr/>
        </p:nvSpPr>
        <p:spPr>
          <a:xfrm xmlns:a="http://schemas.openxmlformats.org/drawingml/2006/main">
            <a:off x="457200" y="6515100"/>
            <a:ext cx="447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900" b="0">
                <a:solidFill>
                  <a:srgbClr val="667384"/>
                </a:solidFill>
              </a:defRPr>
            </a:pPr>
            <a:r>
              <a:rPr sz="900" b="0">
                <a:solidFill>
                  <a:srgbClr val="667384"/>
                </a:solidFill>
              </a:rPr>
              <a:t>Return geometry | cumulative versus incremental timing</a:t>
            </a:r>
          </a:p>
        </p:txBody>
      </p:sp>
      <p:sp>
        <p:nvSpPr>
          <p:cNvPr id="5" name="">
            <a:extLst xmlns:a="http://schemas.openxmlformats.org/drawingml/2006/main">
              <a:ext uri="{FF2B5EF4-FFF2-40B4-BE49-F238E27FC236}">
                <a16:creationId xmlns:a16="http://schemas.microsoft.com/office/drawing/2014/main" id="{28A654AA-807A-4DD7-8B1E-550BE487BBDE}"/>
              </a:ext>
            </a:extLst>
          </p:cNvPr>
          <p:cNvSpPr>
            <a:spLocks xmlns:a="http://schemas.openxmlformats.org/drawingml/2006/main" noGrp="1"/>
          </p:cNvSpPr>
          <p:nvPr/>
        </p:nvSpPr>
        <p:spPr>
          <a:xfrm xmlns:a="http://schemas.openxmlformats.org/drawingml/2006/main">
            <a:off x="11049000" y="6496050"/>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900" b="0">
                <a:solidFill>
                  <a:srgbClr val="667384"/>
                </a:solidFill>
              </a:defRPr>
            </a:pPr>
            <a:r>
              <a:rPr sz="900" b="0">
                <a:solidFill>
                  <a:srgbClr val="667384"/>
                </a:solidFill>
              </a:rPr>
              <a:t>3</a:t>
            </a:r>
          </a:p>
        </p:txBody>
      </p:sp>
      <p:sp>
        <p:nvSpPr>
          <p:cNvPr id="6" name="">
            <a:extLst xmlns:a="http://schemas.openxmlformats.org/drawingml/2006/main">
              <a:ext uri="{FF2B5EF4-FFF2-40B4-BE49-F238E27FC236}">
                <a16:creationId xmlns:a16="http://schemas.microsoft.com/office/drawing/2014/main" id="{1A48904E-C2B5-4030-9F5C-135F8E81A8CF}"/>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3D8DFF"/>
          </a:solidFill>
          <a:ln xmlns:a="http://schemas.openxmlformats.org/drawingml/2006/main" w="9525">
            <a:solidFill>
              <a:srgbClr val="3D8DFF"/>
            </a:solidFill>
            <a:prstDash val="solid"/>
          </a:ln>
        </p:spPr>
      </p:sp>
      <p:sp>
        <p:nvSpPr>
          <p:cNvPr id="7" name="">
            <a:extLst xmlns:a="http://schemas.openxmlformats.org/drawingml/2006/main">
              <a:ext uri="{FF2B5EF4-FFF2-40B4-BE49-F238E27FC236}">
                <a16:creationId xmlns:a16="http://schemas.microsoft.com/office/drawing/2014/main" id="{3E791499-974A-45B1-BE0E-27A91CC8E0C3}"/>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3D8DFF"/>
                </a:solidFill>
              </a:defRPr>
            </a:pPr>
            <a:r>
              <a:rPr sz="1350" b="1">
                <a:solidFill>
                  <a:srgbClr val="3D8DFF"/>
                </a:solidFill>
              </a:rPr>
              <a:t>DAYS 1–10</a:t>
            </a:r>
          </a:p>
        </p:txBody>
      </p:sp>
      <p:sp>
        <p:nvSpPr>
          <p:cNvPr id="8" name="">
            <a:extLst xmlns:a="http://schemas.openxmlformats.org/drawingml/2006/main">
              <a:ext uri="{FF2B5EF4-FFF2-40B4-BE49-F238E27FC236}">
                <a16:creationId xmlns:a16="http://schemas.microsoft.com/office/drawing/2014/main" id="{C3A67979-9151-4748-A221-F0070561B033}"/>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Rebound occurs once</a:t>
            </a:r>
          </a:p>
        </p:txBody>
      </p:sp>
      <p:sp>
        <p:nvSpPr>
          <p:cNvPr id="9" name="">
            <a:extLst xmlns:a="http://schemas.openxmlformats.org/drawingml/2006/main">
              <a:ext uri="{FF2B5EF4-FFF2-40B4-BE49-F238E27FC236}">
                <a16:creationId xmlns:a16="http://schemas.microsoft.com/office/drawing/2014/main" id="{6FFD5673-B6D2-4155-A59A-F3191F8D8752}"/>
              </a:ext>
            </a:extLst>
          </p:cNvPr>
          <p:cNvSpPr>
            <a:spLocks xmlns:a="http://schemas.openxmlformats.org/drawingml/2006/main" noGrp="1"/>
          </p:cNvSpPr>
          <p:nvPr/>
        </p:nvSpPr>
        <p:spPr>
          <a:xfrm xmlns:a="http://schemas.openxmlformats.org/drawingml/2006/main">
            <a:off x="7924800" y="158115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275" b="0">
                <a:solidFill>
                  <a:srgbClr val="667384"/>
                </a:solidFill>
              </a:defRPr>
            </a:pPr>
            <a:r>
              <a:rPr sz="1275" b="0">
                <a:solidFill>
                  <a:srgbClr val="667384"/>
                </a:solidFill>
              </a:rPr>
              <a:t>example: rally in sessions 6–10</a:t>
            </a:r>
          </a:p>
        </p:txBody>
      </p:sp>
      <p:sp>
        <p:nvSpPr>
          <p:cNvPr id="10" name="">
            <a:extLst xmlns:a="http://schemas.openxmlformats.org/drawingml/2006/main">
              <a:ext uri="{FF2B5EF4-FFF2-40B4-BE49-F238E27FC236}">
                <a16:creationId xmlns:a16="http://schemas.microsoft.com/office/drawing/2014/main" id="{D3FB0AB3-A3CD-4683-9CB0-471C0A7FDAB2}"/>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9005535B-6C8D-445C-87D8-2FE19E86F0B1}"/>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F59E0B"/>
          </a:solidFill>
          <a:ln xmlns:a="http://schemas.openxmlformats.org/drawingml/2006/main" w="9525">
            <a:solidFill>
              <a:srgbClr val="F59E0B"/>
            </a:solidFill>
            <a:prstDash val="solid"/>
          </a:ln>
        </p:spPr>
      </p:sp>
      <p:sp>
        <p:nvSpPr>
          <p:cNvPr id="12" name="">
            <a:extLst xmlns:a="http://schemas.openxmlformats.org/drawingml/2006/main">
              <a:ext uri="{FF2B5EF4-FFF2-40B4-BE49-F238E27FC236}">
                <a16:creationId xmlns:a16="http://schemas.microsoft.com/office/drawing/2014/main" id="{264F1D68-325D-4B3B-8F7C-00326724A0A8}"/>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F59E0B"/>
                </a:solidFill>
              </a:defRPr>
            </a:pPr>
            <a:r>
              <a:rPr sz="1350" b="1">
                <a:solidFill>
                  <a:srgbClr val="F59E0B"/>
                </a:solidFill>
              </a:rPr>
              <a:t>DAYS 1–20</a:t>
            </a:r>
          </a:p>
        </p:txBody>
      </p:sp>
      <p:sp>
        <p:nvSpPr>
          <p:cNvPr id="13" name="">
            <a:extLst xmlns:a="http://schemas.openxmlformats.org/drawingml/2006/main">
              <a:ext uri="{FF2B5EF4-FFF2-40B4-BE49-F238E27FC236}">
                <a16:creationId xmlns:a16="http://schemas.microsoft.com/office/drawing/2014/main" id="{5EDC81BC-9F5C-4D4F-B28E-718205D4835A}"/>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The same rebound remains inside</a:t>
            </a:r>
          </a:p>
        </p:txBody>
      </p:sp>
      <p:sp>
        <p:nvSpPr>
          <p:cNvPr id="14" name="">
            <a:extLst xmlns:a="http://schemas.openxmlformats.org/drawingml/2006/main">
              <a:ext uri="{FF2B5EF4-FFF2-40B4-BE49-F238E27FC236}">
                <a16:creationId xmlns:a16="http://schemas.microsoft.com/office/drawing/2014/main" id="{9EC97F66-8EE5-4A0F-BBD5-E69B07182269}"/>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plus sessions 11–20</a:t>
            </a:r>
          </a:p>
        </p:txBody>
      </p:sp>
      <p:sp>
        <p:nvSpPr>
          <p:cNvPr id="15" name="">
            <a:extLst xmlns:a="http://schemas.openxmlformats.org/drawingml/2006/main">
              <a:ext uri="{FF2B5EF4-FFF2-40B4-BE49-F238E27FC236}">
                <a16:creationId xmlns:a16="http://schemas.microsoft.com/office/drawing/2014/main" id="{380D8078-2C96-47C8-BCCB-9A9EFA500204}"/>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16" name="">
            <a:extLst xmlns:a="http://schemas.openxmlformats.org/drawingml/2006/main">
              <a:ext uri="{FF2B5EF4-FFF2-40B4-BE49-F238E27FC236}">
                <a16:creationId xmlns:a16="http://schemas.microsoft.com/office/drawing/2014/main" id="{4A3796B2-0890-4697-AB3D-35737FA179DB}"/>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2A9D6F"/>
          </a:solidFill>
          <a:ln xmlns:a="http://schemas.openxmlformats.org/drawingml/2006/main" w="9525">
            <a:solidFill>
              <a:srgbClr val="2A9D6F"/>
            </a:solidFill>
            <a:prstDash val="solid"/>
          </a:ln>
        </p:spPr>
      </p:sp>
      <p:sp>
        <p:nvSpPr>
          <p:cNvPr id="17" name="">
            <a:extLst xmlns:a="http://schemas.openxmlformats.org/drawingml/2006/main">
              <a:ext uri="{FF2B5EF4-FFF2-40B4-BE49-F238E27FC236}">
                <a16:creationId xmlns:a16="http://schemas.microsoft.com/office/drawing/2014/main" id="{3A5137E0-9E7E-4A70-8E4C-A559B3A7F0DD}"/>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350" b="1">
                <a:solidFill>
                  <a:srgbClr val="2A9D6F"/>
                </a:solidFill>
              </a:defRPr>
            </a:pPr>
            <a:r>
              <a:rPr sz="1350" b="1">
                <a:solidFill>
                  <a:srgbClr val="2A9D6F"/>
                </a:solidFill>
              </a:rPr>
              <a:t>DAYS 1–100</a:t>
            </a:r>
          </a:p>
        </p:txBody>
      </p:sp>
      <p:sp>
        <p:nvSpPr>
          <p:cNvPr id="18" name="">
            <a:extLst xmlns:a="http://schemas.openxmlformats.org/drawingml/2006/main">
              <a:ext uri="{FF2B5EF4-FFF2-40B4-BE49-F238E27FC236}">
                <a16:creationId xmlns:a16="http://schemas.microsoft.com/office/drawing/2014/main" id="{965FB54C-B8BA-41CE-8A2F-CF4B5EA785CE}"/>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2100" b="1">
                <a:solidFill>
                  <a:srgbClr val="111827"/>
                </a:solidFill>
              </a:defRPr>
            </a:pPr>
            <a:r>
              <a:rPr sz="2100" b="1">
                <a:solidFill>
                  <a:srgbClr val="111827"/>
                </a:solidFill>
              </a:rPr>
              <a:t>The same rebound still remains inside</a:t>
            </a:r>
          </a:p>
        </p:txBody>
      </p:sp>
      <p:sp>
        <p:nvSpPr>
          <p:cNvPr id="19" name="">
            <a:extLst xmlns:a="http://schemas.openxmlformats.org/drawingml/2006/main">
              <a:ext uri="{FF2B5EF4-FFF2-40B4-BE49-F238E27FC236}">
                <a16:creationId xmlns:a16="http://schemas.microsoft.com/office/drawing/2014/main" id="{C90810C4-3E3B-413B-BE3A-0D0CBA54E686}"/>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0">
                <a:solidFill>
                  <a:srgbClr val="667384"/>
                </a:solidFill>
              </a:defRPr>
            </a:pPr>
            <a:r>
              <a:rPr sz="1500" b="0">
                <a:solidFill>
                  <a:srgbClr val="667384"/>
                </a:solidFill>
              </a:rPr>
              <a:t>plus sessions 11–100</a:t>
            </a:r>
          </a:p>
        </p:txBody>
      </p:sp>
      <p:sp>
        <p:nvSpPr>
          <p:cNvPr id="20" name="">
            <a:extLst xmlns:a="http://schemas.openxmlformats.org/drawingml/2006/main">
              <a:ext uri="{FF2B5EF4-FFF2-40B4-BE49-F238E27FC236}">
                <a16:creationId xmlns:a16="http://schemas.microsoft.com/office/drawing/2014/main" id="{6B9AF3F5-7B95-485D-B9FA-C6052CF17EE2}"/>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9525">
            <a:solidFill>
              <a:srgbClr val="B8BCC4"/>
            </a:solidFill>
            <a:prstDash val="solid"/>
          </a:ln>
        </p:spPr>
      </p:sp>
      <p:sp>
        <p:nvSpPr>
          <p:cNvPr id="21" name="">
            <a:extLst xmlns:a="http://schemas.openxmlformats.org/drawingml/2006/main">
              <a:ext uri="{FF2B5EF4-FFF2-40B4-BE49-F238E27FC236}">
                <a16:creationId xmlns:a16="http://schemas.microsoft.com/office/drawing/2014/main" id="{DBF8A934-4548-47C8-8583-F3E852C74E62}"/>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oundRect">
            <a:avLst>
              <a:gd name="adj" fmla="val 14634"/>
            </a:avLst>
          </a:prstGeom>
          <a:solidFill xmlns:a="http://schemas.openxmlformats.org/drawingml/2006/main">
            <a:srgbClr val="F4F6F8"/>
          </a:solidFill>
          <a:ln xmlns:a="http://schemas.openxmlformats.org/drawingml/2006/main" w="9525">
            <a:solidFill>
              <a:srgbClr val="D7DBE2"/>
            </a:solidFill>
            <a:prstDash val="solid"/>
          </a:ln>
        </p:spPr>
      </p:sp>
      <p:sp>
        <p:nvSpPr>
          <p:cNvPr id="22" name="">
            <a:extLst xmlns:a="http://schemas.openxmlformats.org/drawingml/2006/main">
              <a:ext uri="{FF2B5EF4-FFF2-40B4-BE49-F238E27FC236}">
                <a16:creationId xmlns:a16="http://schemas.microsoft.com/office/drawing/2014/main" id="{89F81B3D-ACD0-4A02-9B6C-89D781879330}"/>
              </a:ext>
            </a:extLst>
          </p:cNvPr>
          <p:cNvSpPr>
            <a:spLocks xmlns:a="http://schemas.openxmlformats.org/drawingml/2006/main" noGrp="1"/>
          </p:cNvSpPr>
          <p:nvPr/>
        </p:nvSpPr>
        <p:spPr>
          <a:xfrm xmlns:a="http://schemas.openxmlformats.org/drawingml/2006/main">
            <a:off x="781050" y="5524500"/>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500" b="1">
                <a:solidFill>
                  <a:srgbClr val="111827"/>
                </a:solidFill>
              </a:defRPr>
            </a:pPr>
            <a:r>
              <a:rPr sz="1500" b="1">
                <a:solidFill>
                  <a:srgbClr val="111827"/>
                </a:solidFill>
              </a:rPr>
              <a:t>Nested-window consequence</a:t>
            </a:r>
          </a:p>
        </p:txBody>
      </p:sp>
      <p:sp>
        <p:nvSpPr>
          <p:cNvPr id="23" name="">
            <a:extLst xmlns:a="http://schemas.openxmlformats.org/drawingml/2006/main">
              <a:ext uri="{FF2B5EF4-FFF2-40B4-BE49-F238E27FC236}">
                <a16:creationId xmlns:a16="http://schemas.microsoft.com/office/drawing/2014/main" id="{DBACD672-B2FE-4661-8267-7719DCE7CC56}"/>
              </a:ext>
            </a:extLst>
          </p:cNvPr>
          <p:cNvSpPr>
            <a:spLocks xmlns:a="http://schemas.openxmlformats.org/drawingml/2006/main" noGrp="1"/>
          </p:cNvSpPr>
          <p:nvPr/>
        </p:nvSpPr>
        <p:spPr>
          <a:xfrm xmlns:a="http://schemas.openxmlformats.org/drawingml/2006/main">
            <a:off x="3333750" y="5486400"/>
            <a:ext cx="781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425" b="0">
                <a:solidFill>
                  <a:srgbClr val="667384"/>
                </a:solidFill>
              </a:defRPr>
            </a:pPr>
            <a:r>
              <a:rPr sz="1425" b="0">
                <a:solidFill>
                  <a:srgbClr val="667384"/>
                </a:solidFill>
              </a:rPr>
              <a:t>A rally ending by day 10 can influence every cumulative forward cell whose horizon is at least 10 sessions.</a:t>
            </a:r>
          </a:p>
        </p:txBody>
      </p:sp>
    </p:spTree>
    <p:extLst>
      <p:ext uri="{BB962C8B-B14F-4D97-AF65-F5344CB8AC3E}">
        <p14:creationId xmlns:p14="http://schemas.microsoft.com/office/powerpoint/2010/main" val="115496358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INCREMENTAL TIMING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Incremental blocks reveal when the return arrives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first recommended falsification slice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CUMULATIVE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R(1:100)</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contains every earlier block</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INCREMENTAL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R(1:5), R(6:10), …</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each interval measured once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FALSIFIES DURATION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Only early blocks respond</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the long plateau is an echo</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Promotion condition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If later blocks retain conditional excess return, the signal has genuine duration rather than inherited history.</a:t>
            </a:r>
          </a:p>
        </p:txBody>
      </p:sp>
    </p:spTree>
    <p:extLst>
      <p:ext uri="{BB962C8B-B14F-4D97-AF65-F5344CB8AC3E}">
        <p14:creationId xmlns:p14="http://schemas.microsoft.com/office/powerpoint/2010/main" val="66653628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ACTIONABILITY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genuine 100-session effect can be actionable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medium-term interpretation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YES—IF</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New excess return keeps accruing</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merely an embedded early rebound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TIME SCALE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Roughly four to five months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 medium-term tactical position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STILL TEST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Net value versus the baseline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risk, costs, and opportunity cost</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Important distinction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long horizon is not disqualifying. Weak conditional improvement—or permanent market exposure—is.</a:t>
            </a:r>
          </a:p>
        </p:txBody>
      </p:sp>
    </p:spTree>
    <p:extLst>
      <p:ext uri="{BB962C8B-B14F-4D97-AF65-F5344CB8AC3E}">
        <p14:creationId xmlns:p14="http://schemas.microsoft.com/office/powerpoint/2010/main" val="66653628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BASELINES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long-horizon rule must beat the right baseline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economic falsification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DRIFT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Unconditional future return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would the asset rise anyway?</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STATE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State-only future return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does prior loss add information?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EXPOSURE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Matched long exposure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do repeated signals become buy-and-hold?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Executable edge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Conditional net return must improve the decision after next-open timing, overlap, costs, and capital use.</a:t>
            </a:r>
          </a:p>
        </p:txBody>
      </p:sp>
    </p:spTree>
    <p:extLst>
      <p:ext uri="{BB962C8B-B14F-4D97-AF65-F5344CB8AC3E}">
        <p14:creationId xmlns:p14="http://schemas.microsoft.com/office/powerpoint/2010/main" val="66653628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PROMOTION LADDER</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Promotion happens one frozen gate at a time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next research volume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BEHAVIOR</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Describe the complete surface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complete in the closed deck</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CANDIDATE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Freeze signal, target, and failure rule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next research gate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EDGE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Untouched net decision improvement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later—not yet earned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293"/>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Recommended next slice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Use the original 20-session prior anchor and decompose future returns before opening post-2023 data.</a:t>
            </a:r>
          </a:p>
        </p:txBody>
      </p:sp>
    </p:spTree>
    <p:extLst>
      <p:ext uri="{BB962C8B-B14F-4D97-AF65-F5344CB8AC3E}">
        <p14:creationId xmlns:p14="http://schemas.microsoft.com/office/powerpoint/2010/main" val="6665362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FROZEN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narrow slice asks when the rebound arrives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incremental forward decomposition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ANCHOR</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20 prior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negative cumulative log return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STATE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 ER20 down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known at the anchor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FUTURE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Six disjoint blocks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sessions 1 through 100</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Primary surface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88 full-history stocks, equal-sector weighted. All 129 assets remain diagnostic; post-2023 stays sealed.</a:t>
            </a:r>
          </a:p>
        </p:txBody>
      </p:sp>
    </p:spTree>
    <p:extLst>
      <p:ext uri="{BB962C8B-B14F-4D97-AF65-F5344CB8AC3E}">
        <p14:creationId xmlns:p14="http://schemas.microsoft.com/office/powerpoint/2010/main" val="66653628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MEASUREMENT CONTRACT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block uses the same historical anchors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common-sample timing test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COMMON SAMPLE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Complete 100-session path</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prevents block-to-block sample drift</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INCREMENTAL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1–5 / 6–10 / … / 61–100</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six blocks sum exactly to R(1:100)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COMPARE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Cumulative + drift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one unfiltered-loss comparator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Frozen rule</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Duration survives only if at least 2 of 3 late blocks retain negative sector breadth and positive drift-adjusted return.</a:t>
            </a:r>
          </a:p>
        </p:txBody>
      </p:sp>
    </p:spTree>
    <p:extLst>
      <p:ext uri="{BB962C8B-B14F-4D97-AF65-F5344CB8AC3E}">
        <p14:creationId xmlns:p14="http://schemas.microsoft.com/office/powerpoint/2010/main" val="6665362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TIMING RESULT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Cumulative strength hides a non-uniform response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equal-sector timing</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50415a99ab0456f"/>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BREADTH</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response stays broad through sessions 41–60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sector timing map</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21a01115d6814e1c"/>
          <a:stretch xmlns:a="http://schemas.openxmlformats.org/drawingml/2006/main"/>
        </p:blipFill>
        <p:spPr>
          <a:xfrm xmlns:a="http://schemas.openxmlformats.org/drawingml/2006/main">
            <a:off x="2309813" y="1333500"/>
            <a:ext cx="7572375" cy="5048250"/>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CROSS-ASSET SHAPE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Late support is broad—but visibly heterogeneous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88-stock core distribution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03ff41ab72948bb"/>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DRIFT-ADJUSTED ACCRUAL</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Return advantage fades after session 60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conditional minus unconditional drift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5d4275df16d432b"/>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SLICE DECISION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Duration survives to 60 sessions—not to 100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incremental timing decision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FOUND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Late incremental support</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21–40 and 41–60 pass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FADES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Final block loses accrual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61–100 = −0.90 bp/session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DOES NOT EARN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holding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overlap and time transport unresolved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STOP</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timing morphology. Do not retune blocks or open post-2023 outcomes until the next gate is designed.</a:t>
            </a:r>
          </a:p>
        </p:txBody>
      </p:sp>
    </p:spTree>
    <p:extLst>
      <p:ext uri="{BB962C8B-B14F-4D97-AF65-F5344CB8AC3E}">
        <p14:creationId xmlns:p14="http://schemas.microsoft.com/office/powerpoint/2010/main" val="66653628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EXECUTABLE TRANSLATION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941"/>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frozen rule asks whether geometry becomes a trade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next-open rule translation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SIGNAL</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Signed ER20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at completed close t</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SEVERITY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Bottom 20% of prior losses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causal, asset-specific</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UNIVERSE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129 atlas instruments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88-stock core is headline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TRAIN only</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2018–2023 mechanics study. Post-2023 outcomes remain sealed.</a:t>
            </a:r>
          </a:p>
        </p:txBody>
      </p:sp>
    </p:spTree>
    <p:extLst>
      <p:ext uri="{BB962C8B-B14F-4D97-AF65-F5344CB8AC3E}">
        <p14:creationId xmlns:p14="http://schemas.microsoft.com/office/powerpoint/2010/main" val="66653628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EXECUTION CONTRACT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rule is causal, non-overlapping, and next-open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executable mechanics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ENTRY</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t+1</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after completed signal close</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EXIT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Open t+21</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 held sessions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POSITION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One per asset</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intervening signals ignored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Frozen mechanics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015"/>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100 prior negative observations • causal 20th percentile • 10 bp round trip</a:t>
            </a:r>
          </a:p>
        </p:txBody>
      </p:sp>
    </p:spTree>
    <p:extLst>
      <p:ext uri="{BB962C8B-B14F-4D97-AF65-F5344CB8AC3E}">
        <p14:creationId xmlns:p14="http://schemas.microsoft.com/office/powerpoint/2010/main" val="66653628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CLOCK TRANSLATION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Next-open timing preserves almost all of the return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close-to-close versus open-to-open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9e15d6cec8724ee2"/>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696b2b083d7048ea">
            <a:extLst>
              <a:ext uri="{96DAC541-7B7A-43D3-8B79-37D633B846F1}">
                <asvg:svgBlip xmlns:asvg="http://schemas.microsoft.com/office/drawing/2016/SVG/main" r:embed="R7bb7a7d0e44a4f88"/>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bb38ae936ce34d34"/>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BREADTH</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Only six of eleven sectors clear ordinary drift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median asset net excess by sector</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74f2bed371204b98"/>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7e93977dc21942b3">
            <a:extLst>
              <a:ext uri="{96DAC541-7B7A-43D3-8B79-37D633B846F1}">
                <asvg:svgBlip xmlns:asvg="http://schemas.microsoft.com/office/drawing/2016/SVG/main" r:embed="Rf3cc910526f84395"/>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fdf012c40996494c"/>
          <a:stretch xmlns:a="http://schemas.openxmlformats.org/drawingml/2006/main"/>
        </p:blipFill>
        <p:spPr>
          <a:xfrm xmlns:a="http://schemas.openxmlformats.org/drawingml/2006/main">
            <a:off x="1891771" y="1335087"/>
            <a:ext cx="840845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AGGREGATION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typical asset looks positive—but pooled events do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three aggregation lenses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7f9dcc85295744fa"/>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05e84f67065b4324">
            <a:extLst>
              <a:ext uri="{96DAC541-7B7A-43D3-8B79-37D633B846F1}">
                <asvg:svgBlip xmlns:asvg="http://schemas.microsoft.com/office/drawing/2016/SVG/main" r:embed="R9f3b848b66014be7"/>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a4c0ff198ba84cfc"/>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CALENDAR STABILITY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Strong years coexist with two material losing years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core event-pooled net return by year</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38d71cc165a402e"/>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a38d71cc165a402e">
            <a:extLst>
              <a:ext uri="{96DAC541-7B7A-43D3-8B79-37D633B846F1}">
                <asvg:svgBlip xmlns:asvg="http://schemas.microsoft.com/office/drawing/2016/SVG/main" r:embed="R321e9c1c4eaf4211"/>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0d1ba547da904921"/>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COHORT PATHS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attention cohort keeps falling after entry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mean cumulative trade path by cohort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e7efc9c4822a45f2"/>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556256f355f54149">
            <a:extLst>
              <a:ext uri="{96DAC541-7B7A-43D3-8B79-37D633B846F1}">
                <asvg:svgBlip xmlns:asvg="http://schemas.microsoft.com/office/drawing/2016/SVG/main" r:embed="R347e9009fc4543e5"/>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2cf55043b8284356"/>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ASSET HETEROGENEITY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Sector medians conceal wide asset dispersion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core asset net excess distribution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29385c9b7ca141dc"/>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28ecdf02fb224d83">
            <a:extLst>
              <a:ext uri="{96DAC541-7B7A-43D3-8B79-37D633B846F1}">
                <asvg:svgBlip xmlns:asvg="http://schemas.microsoft.com/office/drawing/2016/SVG/main" r:embed="R37217038025142b7"/>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55850fc015574643"/>
          <a:stretch xmlns:a="http://schemas.openxmlformats.org/drawingml/2006/main"/>
        </p:blipFill>
        <p:spPr>
          <a:xfrm xmlns:a="http://schemas.openxmlformats.org/drawingml/2006/main">
            <a:off x="1891771" y="1335087"/>
            <a:ext cx="840845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REPRESENTATIVE TAPES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rule produces rebounds—and continued declines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deterministic representative trades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f475b904b0ef4326"/>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7dac6bd60c194d9e">
            <a:extLst>
              <a:ext uri="{96DAC541-7B7A-43D3-8B79-37D633B846F1}">
                <asvg:svgBlip xmlns:asvg="http://schemas.microsoft.com/office/drawing/2016/SVG/main" r:embed="Re0c93f797dcd48f7"/>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4af7e6a2dd3b4c04"/>
          <a:stretch xmlns:a="http://schemas.openxmlformats.org/drawingml/2006/main"/>
        </p:blipFill>
        <p:spPr>
          <a:xfrm xmlns:a="http://schemas.openxmlformats.org/drawingml/2006/main">
            <a:off x="2426855" y="1335087"/>
            <a:ext cx="7338291"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TRAIN DECISION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rule stops before OOS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executable TRAIN decision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TRANSLATES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Clock change is small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+0.60% close vs +0.55% open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FAILS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Sector breadth</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 of 11 versus 7 required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CONFLICTS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Event weighting</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−25.1 bp versus drift</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STOP OOS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31"/>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 not tune percentile, ER cutoff, hold, overlap, costs, or universe. Post-2023 stays sealed.</a:t>
            </a:r>
          </a:p>
        </p:txBody>
      </p:sp>
    </p:spTree>
    <p:extLst>
      <p:ext uri="{BB962C8B-B14F-4D97-AF65-F5344CB8AC3E}">
        <p14:creationId xmlns:p14="http://schemas.microsoft.com/office/powerpoint/2010/main" val="66653628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APPLICABILITY LAB</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failed universal rule opens a conditional question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upstream feature exploration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CONSTANT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rule and trades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outcome remains drift-adjusted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QUESTION</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Where did it work?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causal state at signal close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BOUNDARY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Visual research only</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gate, model, or p-values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TRAIN only</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777"/>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1,548 core events • 2,221 atlas events • post-2023 outcomes remain sealed</a:t>
            </a:r>
          </a:p>
        </p:txBody>
      </p:sp>
    </p:spTree>
    <p:extLst>
      <p:ext uri="{BB962C8B-B14F-4D97-AF65-F5344CB8AC3E}">
        <p14:creationId xmlns:p14="http://schemas.microsoft.com/office/powerpoint/2010/main" val="66653628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FEATURE CONTRACT I</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Three features describe the loss and its peer context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shock participation and activity</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RELATIVE LOSS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Asset minus seven peers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focal stock excluded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PEER BREADTH</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Fraction of peers down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prior-20 window</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DOLLAR VOLUME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Event versus prior 126</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median ratio in log space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Causal windows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8015"/>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All values exist by signal close; zero-volume rows are excluded—not treated as liquid zeros.</a:t>
            </a:r>
          </a:p>
        </p:txBody>
      </p:sp>
    </p:spTree>
    <p:extLst>
      <p:ext uri="{BB962C8B-B14F-4D97-AF65-F5344CB8AC3E}">
        <p14:creationId xmlns:p14="http://schemas.microsoft.com/office/powerpoint/2010/main" val="66653628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FEATURE CONTRACT II</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Impact, market stress, and pretrend complete the atlas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liquidity and temporal context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PRICE IMPACT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|return| per dollar volume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event versus prior 126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STRESS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Causal RV20 percentile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current value excluded</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PRETREND</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126-session return / vol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ending before loss window</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Minimal proxies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OHLCV cannot reveal latent information or institutional liquidity; these are disciplined approximations.</a:t>
            </a:r>
          </a:p>
        </p:txBody>
      </p:sp>
    </p:spTree>
    <p:extLst>
      <p:ext uri="{BB962C8B-B14F-4D97-AF65-F5344CB8AC3E}">
        <p14:creationId xmlns:p14="http://schemas.microsoft.com/office/powerpoint/2010/main" val="66653628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SHOCK MAP</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Shared selloffs do not separate future outcomes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focal loss versus peer loss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ba6bc810bc914a64"/>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899b9a9d2c794e47">
            <a:extLst>
              <a:ext uri="{96DAC541-7B7A-43D3-8B79-37D633B846F1}">
                <asvg:svgBlip xmlns:asvg="http://schemas.microsoft.com/office/drawing/2016/SVG/main" r:embed="Rb4b773afaa0b4dc3"/>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c856a1114e734165"/>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109d6eacfd5e436f">
            <a:extLst>
              <a:ext uri="{96DAC541-7B7A-43D3-8B79-37D633B846F1}">
                <asvg:svgBlip xmlns:asvg="http://schemas.microsoft.com/office/drawing/2016/SVG/main" r:embed="Rad3d2dd657e943fa"/>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ed9e451a54b94608"/>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SCATTER SANITY CHECK</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relationships are weak and visibly noisy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six event-level feature views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fe21355fb8384ab9"/>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a10b6be2d41d4f85">
            <a:extLst>
              <a:ext uri="{96DAC541-7B7A-43D3-8B79-37D633B846F1}">
                <asvg:svgBlip xmlns:asvg="http://schemas.microsoft.com/office/drawing/2016/SVG/main" r:embed="R0337e150eb184c0e"/>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5d2ca5d35c354b99"/>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32a33f812c674f54">
            <a:extLst>
              <a:ext uri="{96DAC541-7B7A-43D3-8B79-37D633B846F1}">
                <asvg:svgBlip xmlns:asvg="http://schemas.microsoft.com/office/drawing/2016/SVG/main" r:embed="R06365647ff9547ca"/>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39779e9262e54949"/>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BINNED PROFILES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candidate is nonmonotone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asset-balanced versus event-pooled</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d5ae1ee474974a4d"/>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f71567723d644aa">
            <a:extLst>
              <a:ext uri="{96DAC541-7B7A-43D3-8B79-37D633B846F1}">
                <asvg:svgBlip xmlns:asvg="http://schemas.microsoft.com/office/drawing/2016/SVG/main" r:embed="Rea81215c17e94ce7"/>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8cf4fd99855042ad"/>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f6e2c61ecd0045f2">
            <a:extLst>
              <a:ext uri="{96DAC541-7B7A-43D3-8B79-37D633B846F1}">
                <asvg:svgBlip xmlns:asvg="http://schemas.microsoft.com/office/drawing/2016/SVG/main" r:embed="R421327066b584709"/>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6b0ee08febaa4dc4"/>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POST-HOC CONTRAST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Large endpoint contrasts are clues—not rankings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highest minus lowest descriptive bin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aade26fd17df4806"/>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b843708da0e244e0">
            <a:extLst>
              <a:ext uri="{96DAC541-7B7A-43D3-8B79-37D633B846F1}">
                <asvg:svgBlip xmlns:asvg="http://schemas.microsoft.com/office/drawing/2016/SVG/main" r:embed="Rcd5610de830d4d60"/>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ab92f4d44595469d"/>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0e7066525a274846">
            <a:extLst>
              <a:ext uri="{96DAC541-7B7A-43D3-8B79-37D633B846F1}">
                <asvg:svgBlip xmlns:asvg="http://schemas.microsoft.com/office/drawing/2016/SVG/main" r:embed="Ra60468ba2eb64226"/>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948715af7ff14cdb"/>
          <a:stretch xmlns:a="http://schemas.openxmlformats.org/drawingml/2006/main"/>
        </p:blipFill>
        <p:spPr>
          <a:xfrm xmlns:a="http://schemas.openxmlformats.org/drawingml/2006/main">
            <a:off x="1891771" y="1335087"/>
            <a:ext cx="840845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ASSET CHARACTERIZATION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Sector labels do not partition winners from losers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asset means within the balanced core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e0e9bfa0561b419a"/>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bebca5c9b20541a4">
            <a:extLst>
              <a:ext uri="{96DAC541-7B7A-43D3-8B79-37D633B846F1}">
                <asvg:svgBlip xmlns:asvg="http://schemas.microsoft.com/office/drawing/2016/SVG/main" r:embed="Rde131172576346ef"/>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9b5fb0aaffbb455c"/>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14999d87ea304b9d">
            <a:extLst>
              <a:ext uri="{96DAC541-7B7A-43D3-8B79-37D633B846F1}">
                <asvg:svgBlip xmlns:asvg="http://schemas.microsoft.com/office/drawing/2016/SVG/main" r:embed="Rc8b5268de4ab481d"/>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3f6faac0d0bb454a"/>
          <a:stretch xmlns:a="http://schemas.openxmlformats.org/drawingml/2006/main"/>
        </p:blipFill>
        <p:spPr>
          <a:xfrm xmlns:a="http://schemas.openxmlformats.org/drawingml/2006/main">
            <a:off x="2059940" y="1335087"/>
            <a:ext cx="807212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MATCHED TRADE TAPES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3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Adjacent feature states can still lead to opposite paths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examples selected without outcome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323bd8cf2ee0493e"/>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d10799f772794a90">
            <a:extLst>
              <a:ext uri="{96DAC541-7B7A-43D3-8B79-37D633B846F1}">
                <asvg:svgBlip xmlns:asvg="http://schemas.microsoft.com/office/drawing/2016/SVG/main" r:embed="R387c97f5c0bd4999"/>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35a01ea5dc554aa7"/>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94de84f5b434492a">
            <a:extLst>
              <a:ext uri="{96DAC541-7B7A-43D3-8B79-37D633B846F1}">
                <asvg:svgBlip xmlns:asvg="http://schemas.microsoft.com/office/drawing/2016/SVG/main" r:embed="Rf196d6ba5d6040cc"/>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05140ad10bb342f1"/>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INITIAL READOUT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No feature earns a clean permission rule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descriptive applicability result</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NOT CONFIRMED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Shared-selloff thesis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sector map remains mixed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NEGATIVE CLUE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High abnormal volume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both top bins below drift</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POST-HOC CLUES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Two endpoint islands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relative loss and price impact</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No selection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SPY volatility alternates • pretrend is U-shaped • sector loss and breadth are redundant (rho 0.672)</a:t>
            </a:r>
          </a:p>
        </p:txBody>
      </p:sp>
    </p:spTree>
    <p:extLst>
      <p:ext uri="{BB962C8B-B14F-4D97-AF65-F5344CB8AC3E}">
        <p14:creationId xmlns:p14="http://schemas.microsoft.com/office/powerpoint/2010/main" val="66653628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FEATURE DECISION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Freeze this atlas before testing a narrow shape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applicability feature boundary</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COMPLETE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Descriptive atlas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13 construction checks pass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UNSELECTED</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Feature and threshold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model or multiplicity test</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NEXT—IF OPENED</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Hold out assets + sectors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predeclare one or two shapes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OOS sealed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131"/>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 not open post-2023, optimize bins, combine features, or call endpoint islands an edge.</a:t>
            </a:r>
          </a:p>
        </p:txBody>
      </p:sp>
    </p:spTree>
    <p:extLst>
      <p:ext uri="{BB962C8B-B14F-4D97-AF65-F5344CB8AC3E}">
        <p14:creationId xmlns:p14="http://schemas.microsoft.com/office/powerpoint/2010/main" val="66653628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VETO LAB</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visual clue becomes one frozen veto</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abnormal-volume mechanism</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CLUE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Top two volume bins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both below ordinary drift</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TEST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One causal threshold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feature combination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CONSTANT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Underlying rule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trades, timing, costs unchanged</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TRAIN only</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756"/>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1,548 core events • 88 stocks • 11 sectors • post-2023 outcomes remain sealed</a:t>
            </a:r>
          </a:p>
        </p:txBody>
      </p:sp>
    </p:spTree>
    <p:extLst>
      <p:ext uri="{BB962C8B-B14F-4D97-AF65-F5344CB8AC3E}">
        <p14:creationId xmlns:p14="http://schemas.microsoft.com/office/powerpoint/2010/main" val="66653628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CAUSAL CONTRACT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0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abnormal volume means: do not take this rebound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frozen veto definition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FEATURE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20-day / prior 126</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median dollar volume ratio</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CAUSAL RANK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Up to 504 prior days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252-day minimum history</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VETO</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Percentile at least 60%</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top two of five bins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Rule unchanged</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21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Signed-down • bottom-q20 prior loss • next-open • 20 held sessions • non-overlap • 10 bp</a:t>
            </a:r>
          </a:p>
        </p:txBody>
      </p:sp>
    </p:spTree>
    <p:extLst>
      <p:ext uri="{BB962C8B-B14F-4D97-AF65-F5344CB8AC3E}">
        <p14:creationId xmlns:p14="http://schemas.microsoft.com/office/powerpoint/2010/main" val="66653628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CAUSAL PROFILE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veto starts where outcomes turn adverse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causal abnormal-volume percentile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592e889db4e7405e"/>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e275cf34413842cc">
            <a:extLst>
              <a:ext uri="{96DAC541-7B7A-43D3-8B79-37D633B846F1}">
                <asvg:svgBlip xmlns:asvg="http://schemas.microsoft.com/office/drawing/2016/SVG/main" r:embed="R3cde4a3778af4c51"/>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7ab16c607205472b"/>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297a5e2f10864251">
            <a:extLst>
              <a:ext uri="{96DAC541-7B7A-43D3-8B79-37D633B846F1}">
                <asvg:svgBlip xmlns:asvg="http://schemas.microsoft.com/office/drawing/2016/SVG/main" r:embed="R33899ea576f24662"/>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97268e01284248b7"/>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aae22f38929b474d">
            <a:extLst>
              <a:ext uri="{96DAC541-7B7A-43D3-8B79-37D633B846F1}">
                <asvg:svgBlip xmlns:asvg="http://schemas.microsoft.com/office/drawing/2016/SVG/main" r:embed="Rca2189c003764539"/>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b4a4326b7c39409a"/>
          <a:stretch xmlns:a="http://schemas.openxmlformats.org/drawingml/2006/main"/>
        </p:blipFill>
        <p:spPr>
          <a:xfrm xmlns:a="http://schemas.openxmlformats.org/drawingml/2006/main">
            <a:off x="1891771" y="1335087"/>
            <a:ext cx="840845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RULE COMPARISON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veto removes the losing subset and keeps 60%</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original, retained, and removed</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b619f641576b4960"/>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0d40b7783a1840d3">
            <a:extLst>
              <a:ext uri="{96DAC541-7B7A-43D3-8B79-37D633B846F1}">
                <asvg:svgBlip xmlns:asvg="http://schemas.microsoft.com/office/drawing/2016/SVG/main" r:embed="R6a1fec0e88294180"/>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b0666e96f4c948b8"/>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b9681864740b421c">
            <a:extLst>
              <a:ext uri="{96DAC541-7B7A-43D3-8B79-37D633B846F1}">
                <asvg:svgBlip xmlns:asvg="http://schemas.microsoft.com/office/drawing/2016/SVG/main" r:embed="Rd83182418c244840"/>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4ed33b596e84411"/>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c22ad24d534c4bb6">
            <a:extLst>
              <a:ext uri="{96DAC541-7B7A-43D3-8B79-37D633B846F1}">
                <asvg:svgBlip xmlns:asvg="http://schemas.microsoft.com/office/drawing/2016/SVG/main" r:embed="R7f480aba64764885"/>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03fe56279ce74f42"/>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SECTOR TRANSPORT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Eight of eleven sector medians favor the veto</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median asset contrast by sector</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abb2005687cf431c"/>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852289cc2f7b4ff4">
            <a:extLst>
              <a:ext uri="{96DAC541-7B7A-43D3-8B79-37D633B846F1}">
                <asvg:svgBlip xmlns:asvg="http://schemas.microsoft.com/office/drawing/2016/SVG/main" r:embed="R71cb06cfda0f481a"/>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2c66f777fe564ed7"/>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6742b8d35f1e44fb">
            <a:extLst>
              <a:ext uri="{96DAC541-7B7A-43D3-8B79-37D633B846F1}">
                <asvg:svgBlip xmlns:asvg="http://schemas.microsoft.com/office/drawing/2016/SVG/main" r:embed="Rb6ea6f231140483a"/>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8be76921f1084d30"/>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db4ab0a2c27946d4">
            <a:extLst>
              <a:ext uri="{96DAC541-7B7A-43D3-8B79-37D633B846F1}">
                <asvg:svgBlip xmlns:asvg="http://schemas.microsoft.com/office/drawing/2016/SVG/main" r:embed="R7b33e319a88b4af7"/>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7245d09da50346df"/>
          <a:stretch xmlns:a="http://schemas.openxmlformats.org/drawingml/2006/main"/>
        </p:blipFill>
        <p:spPr>
          <a:xfrm xmlns:a="http://schemas.openxmlformats.org/drawingml/2006/main">
            <a:off x="1891771" y="1335087"/>
            <a:ext cx="840845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ASSET TRANSPORT</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Fifty-five of eighty-eight stocks favor the veto</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per-asset contrast distribution</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e424f938e8a245b8"/>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d3f95f25178340df">
            <a:extLst>
              <a:ext uri="{96DAC541-7B7A-43D3-8B79-37D633B846F1}">
                <asvg:svgBlip xmlns:asvg="http://schemas.microsoft.com/office/drawing/2016/SVG/main" r:embed="Rde55cfaddb274580"/>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718578b15e954355"/>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a639f2c5ef924847">
            <a:extLst>
              <a:ext uri="{96DAC541-7B7A-43D3-8B79-37D633B846F1}">
                <asvg:svgBlip xmlns:asvg="http://schemas.microsoft.com/office/drawing/2016/SVG/main" r:embed="R1984bebce6834a44"/>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55d86f625e9465d"/>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e2fca51c2c384f05">
            <a:extLst>
              <a:ext uri="{96DAC541-7B7A-43D3-8B79-37D633B846F1}">
                <asvg:svgBlip xmlns:asvg="http://schemas.microsoft.com/office/drawing/2016/SVG/main" r:embed="Ra31adf583aeb4ba8"/>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5495779ca4c641e2"/>
          <a:stretch xmlns:a="http://schemas.openxmlformats.org/drawingml/2006/main"/>
        </p:blipFill>
        <p:spPr>
          <a:xfrm xmlns:a="http://schemas.openxmlformats.org/drawingml/2006/main">
            <a:off x="1847516" y="1335087"/>
            <a:ext cx="8496968"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SEVERITY CONTROL</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gap survives same-asset, closest-loss matching</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outcome-blind matched pairs</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f18e2c23cb924ee6"/>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8f0a165112c745e1">
            <a:extLst>
              <a:ext uri="{96DAC541-7B7A-43D3-8B79-37D633B846F1}">
                <asvg:svgBlip xmlns:asvg="http://schemas.microsoft.com/office/drawing/2016/SVG/main" r:embed="R7501746529e34424"/>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9a4844e78b7a4c87"/>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d0902a9b8d2d41c7">
            <a:extLst>
              <a:ext uri="{96DAC541-7B7A-43D3-8B79-37D633B846F1}">
                <asvg:svgBlip xmlns:asvg="http://schemas.microsoft.com/office/drawing/2016/SVG/main" r:embed="R086ed1c818614a02"/>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67f76a4e70164450"/>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6c3207310e274a35">
            <a:extLst>
              <a:ext uri="{96DAC541-7B7A-43D3-8B79-37D633B846F1}">
                <asvg:svgBlip xmlns:asvg="http://schemas.microsoft.com/office/drawing/2016/SVG/main" r:embed="Ra0b67382b32e4b8f"/>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a5f2b2548aed4c33"/>
          <a:stretch xmlns:a="http://schemas.openxmlformats.org/drawingml/2006/main"/>
        </p:blipFill>
        <p:spPr>
          <a:xfrm xmlns:a="http://schemas.openxmlformats.org/drawingml/2006/main">
            <a:off x="3068955" y="1335087"/>
            <a:ext cx="6054090"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COHORT DIAGNOSTIC</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 extends beyond the balanced stock core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same-era transport only</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GICS CORE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-160 bp/trade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62.5% negative breadth</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ATTENTION</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-538 bp/trade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69.2% negative breadth</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CONTROLS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ETFs -52 • non-equity -69</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both 60%+ negative breadth</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Not confirmation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7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All four cohorts share the same discovery era and cannot validate temporal transport.</a:t>
            </a:r>
          </a:p>
        </p:txBody>
      </p:sp>
    </p:spTree>
    <p:extLst>
      <p:ext uri="{BB962C8B-B14F-4D97-AF65-F5344CB8AC3E}">
        <p14:creationId xmlns:p14="http://schemas.microsoft.com/office/powerpoint/2010/main" val="66653628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CALENDAR STABILITY</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Only three of six years support the veto</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asset-balanced contrast by signal year</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d5b27e00b237481b"/>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4e2b9d3e0b2a43f0">
            <a:extLst>
              <a:ext uri="{96DAC541-7B7A-43D3-8B79-37D633B846F1}">
                <asvg:svgBlip xmlns:asvg="http://schemas.microsoft.com/office/drawing/2016/SVG/main" r:embed="R42b8ee971fcb483f"/>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c3288b001e724e44"/>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b4b899df31e40e0">
            <a:extLst>
              <a:ext uri="{96DAC541-7B7A-43D3-8B79-37D633B846F1}">
                <asvg:svgBlip xmlns:asvg="http://schemas.microsoft.com/office/drawing/2016/SVG/main" r:embed="R689dbbd6aa4d4350"/>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433feb3b013f49d0"/>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f58ab542fcc948e0">
            <a:extLst>
              <a:ext uri="{96DAC541-7B7A-43D3-8B79-37D633B846F1}">
                <asvg:svgBlip xmlns:asvg="http://schemas.microsoft.com/office/drawing/2016/SVG/main" r:embed="R27c0d2e1bd124681"/>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96a5e954fbdc4eeb"/>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MATCHED TRADE TAPES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Similar losses can lead to very different paths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examples selected without outcome</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da83d757a3c34d01"/>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d57dde1c1b814925">
            <a:extLst>
              <a:ext uri="{96DAC541-7B7A-43D3-8B79-37D633B846F1}">
                <asvg:svgBlip xmlns:asvg="http://schemas.microsoft.com/office/drawing/2016/SVG/main" r:embed="R5ea2d314d39845ab"/>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72f037f8ed504ce6"/>
          <a:stretch xmlns:a="http://schemas.openxmlformats.org/drawingml/2006/main"/>
        </p:blipFill>
        <p:spPr>
          <a:xfrm xmlns:a="http://schemas.openxmlformats.org/drawingml/2006/main">
            <a:off x="2172053" y="1335087"/>
            <a:ext cx="7847894" cy="5045075"/>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d500053c9b594316">
            <a:extLst>
              <a:ext uri="{96DAC541-7B7A-43D3-8B79-37D633B846F1}">
                <asvg:svgBlip xmlns:asvg="http://schemas.microsoft.com/office/drawing/2016/SVG/main" r:embed="Rd5948157c22a40fc"/>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0064daf211d44e1"/>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48f378b933604074">
            <a:extLst>
              <a:ext uri="{96DAC541-7B7A-43D3-8B79-37D633B846F1}">
                <asvg:svgBlip xmlns:asvg="http://schemas.microsoft.com/office/drawing/2016/SVG/main" r:embed="R340c8f5768c5452b"/>
              </a:ext>
            </a:extLst>
          </a:blip>
          <a:stretch xmlns:a="http://schemas.openxmlformats.org/drawingml/2006/main"/>
        </p:blipFill>
        <p:spPr>
          <a:xfrm xmlns:a="http://schemas.openxmlformats.org/drawingml/2006/main">
            <a:off x="1771650" y="1335087"/>
            <a:ext cx="8648700" cy="504507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42b3975136dd442e"/>
          <a:stretch xmlns:a="http://schemas.openxmlformats.org/drawingml/2006/main"/>
        </p:blipFill>
        <p:spPr>
          <a:xfrm xmlns:a="http://schemas.openxmlformats.org/drawingml/2006/main">
            <a:off x="2312194" y="1335087"/>
            <a:ext cx="7567613" cy="5045075"/>
          </a:xfrm>
          <a:prstGeom xmlns:a="http://schemas.openxmlformats.org/drawingml/2006/main" prst="rect">
            <a:avLst/>
          </a:prstGeom>
        </p:spPr>
      </p:pic>
    </p:spTree>
    <p:extLst>
      <p:ext uri="{BB962C8B-B14F-4D97-AF65-F5344CB8AC3E}">
        <p14:creationId xmlns:p14="http://schemas.microsoft.com/office/powerpoint/2010/main" val="66653628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VETO DECISION</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Cross-sectional support meets temporal instability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Return geometry | qualified TRAIN stop</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0477500" y="6496050"/>
            <a:ext cx="1257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PASSES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Seven frozen checks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-160 bp asset-balanced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IMPROVES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Retained event mean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 to +41 bp/trade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BRAKE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Only 3 of 6 years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2023 reverses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STOP BEFORE OOS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481"/>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 not tune 60%, combine features, select years or sectors, or open post-2023 outcomes.</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2026-08-28T20:53:38.7040000Z</dcterms:created>
  <dcterms:modified xsi:type="dcterms:W3CDTF">2026-08-28T20:53:38.7040000Z</dcterms:modified>
</coreProperties>
</file>