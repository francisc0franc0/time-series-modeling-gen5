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761b2146b484398" /><Relationship Type="http://schemas.openxmlformats.org/officeDocument/2006/relationships/extended-properties" Target="/docProps/app.xml" Id="R491396dcb912444e" /><Relationship Type="http://schemas.openxmlformats.org/officeDocument/2006/relationships/officeDocument" Target="/ppt/presentation.xml" Id="Rb3f98b8e2d0143a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be7c072e9ce4e46"/>
  </p:sldMasterIdLst>
  <p:notesMasterIdLst>
    <p:notesMasterId xmlns:r="http://schemas.openxmlformats.org/officeDocument/2006/relationships" r:id="R232e0113f1684ade"/>
  </p:notesMasterIdLst>
  <p:sldIdLst>
    <p:sldId xmlns:r="http://schemas.openxmlformats.org/officeDocument/2006/relationships" id="256" r:id="Rbc00210236524d10"/>
    <p:sldId xmlns:r="http://schemas.openxmlformats.org/officeDocument/2006/relationships" id="257" r:id="R4fe5cfbf5b4f4f74"/>
    <p:sldId xmlns:r="http://schemas.openxmlformats.org/officeDocument/2006/relationships" id="258" r:id="R248db14013ba4ea4"/>
    <p:sldId xmlns:r="http://schemas.openxmlformats.org/officeDocument/2006/relationships" id="259" r:id="Rd73a275feeb04466"/>
    <p:sldId xmlns:r="http://schemas.openxmlformats.org/officeDocument/2006/relationships" id="260" r:id="R365ec315b88e4a48"/>
    <p:sldId xmlns:r="http://schemas.openxmlformats.org/officeDocument/2006/relationships" id="261" r:id="R5608bb0b1a404037"/>
    <p:sldId xmlns:r="http://schemas.openxmlformats.org/officeDocument/2006/relationships" id="262" r:id="R5b26d08f004c40e8"/>
    <p:sldId xmlns:r="http://schemas.openxmlformats.org/officeDocument/2006/relationships" id="263" r:id="R62f4c2bec2ac458d"/>
    <p:sldId xmlns:r="http://schemas.openxmlformats.org/officeDocument/2006/relationships" id="264" r:id="Re3aab716c99f4e67"/>
    <p:sldId xmlns:r="http://schemas.openxmlformats.org/officeDocument/2006/relationships" id="265" r:id="R3b5b8d5ffad449d8"/>
    <p:sldId xmlns:r="http://schemas.openxmlformats.org/officeDocument/2006/relationships" id="266" r:id="R39378f0773904102"/>
    <p:sldId xmlns:r="http://schemas.openxmlformats.org/officeDocument/2006/relationships" id="267" r:id="R5fc95116e12a4d63"/>
    <p:sldId xmlns:r="http://schemas.openxmlformats.org/officeDocument/2006/relationships" id="268" r:id="R86f884fd8e9a4f85"/>
    <p:sldId xmlns:r="http://schemas.openxmlformats.org/officeDocument/2006/relationships" id="269" r:id="R943917c6f8af4aa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15e95aa7ae546b8" /><Relationship Type="http://schemas.openxmlformats.org/officeDocument/2006/relationships/slideMaster" Target="/ppt/slideMasters/slideMaster1.xml" Id="Rfbe7c072e9ce4e46" /><Relationship Type="http://schemas.openxmlformats.org/officeDocument/2006/relationships/notesMaster" Target="/ppt/notesMasters/notesMaster1.xml" Id="R232e0113f1684ade" /><Relationship Type="http://schemas.openxmlformats.org/officeDocument/2006/relationships/presProps" Target="/ppt/presProps.xml" Id="R6035f62bf5684d58" /><Relationship Type="http://schemas.openxmlformats.org/officeDocument/2006/relationships/tableStyles" Target="/ppt/tableStyles.xml" Id="R0f3de73e4db84ab5" /><Relationship Type="http://schemas.openxmlformats.org/officeDocument/2006/relationships/slide" Target="/ppt/slides/slide1.xml" Id="Rbc00210236524d10" /><Relationship Type="http://schemas.openxmlformats.org/officeDocument/2006/relationships/slide" Target="/ppt/slides/slide2.xml" Id="R4fe5cfbf5b4f4f74" /><Relationship Type="http://schemas.openxmlformats.org/officeDocument/2006/relationships/slide" Target="/ppt/slides/slide3.xml" Id="R248db14013ba4ea4" /><Relationship Type="http://schemas.openxmlformats.org/officeDocument/2006/relationships/slide" Target="/ppt/slides/slide4.xml" Id="Rd73a275feeb04466" /><Relationship Type="http://schemas.openxmlformats.org/officeDocument/2006/relationships/slide" Target="/ppt/slides/slide5.xml" Id="R365ec315b88e4a48" /><Relationship Type="http://schemas.openxmlformats.org/officeDocument/2006/relationships/slide" Target="/ppt/slides/slide6.xml" Id="R5608bb0b1a404037" /><Relationship Type="http://schemas.openxmlformats.org/officeDocument/2006/relationships/slide" Target="/ppt/slides/slide7.xml" Id="R5b26d08f004c40e8" /><Relationship Type="http://schemas.openxmlformats.org/officeDocument/2006/relationships/slide" Target="/ppt/slides/slide8.xml" Id="R62f4c2bec2ac458d" /><Relationship Type="http://schemas.openxmlformats.org/officeDocument/2006/relationships/slide" Target="/ppt/slides/slide9.xml" Id="Re3aab716c99f4e67" /><Relationship Type="http://schemas.openxmlformats.org/officeDocument/2006/relationships/slide" Target="/ppt/slides/slide10.xml" Id="R3b5b8d5ffad449d8" /><Relationship Type="http://schemas.openxmlformats.org/officeDocument/2006/relationships/slide" Target="/ppt/slides/slide11.xml" Id="R39378f0773904102" /><Relationship Type="http://schemas.openxmlformats.org/officeDocument/2006/relationships/slide" Target="/ppt/slides/slide12.xml" Id="R5fc95116e12a4d63" /><Relationship Type="http://schemas.openxmlformats.org/officeDocument/2006/relationships/slide" Target="/ppt/slides/slide13.xml" Id="R86f884fd8e9a4f85" /><Relationship Type="http://schemas.openxmlformats.org/officeDocument/2006/relationships/slide" Target="/ppt/slides/slide14.xml" Id="R943917c6f8af4aa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67927df95ed459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2806409884442de" /><Relationship Type="http://schemas.openxmlformats.org/officeDocument/2006/relationships/notesMaster" Target="/ppt/notesMasters/notesMaster1.xml" Id="Rbf9bbb3475184bd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05848a0c5664f75" /><Relationship Type="http://schemas.openxmlformats.org/officeDocument/2006/relationships/notesMaster" Target="/ppt/notesMasters/notesMaster1.xml" Id="Rf46c6fdeb9fa417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399b2212e44415b" /><Relationship Type="http://schemas.openxmlformats.org/officeDocument/2006/relationships/notesMaster" Target="/ppt/notesMasters/notesMaster1.xml" Id="R72cc95089edf4fe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f89bcaa939345c4" /><Relationship Type="http://schemas.openxmlformats.org/officeDocument/2006/relationships/notesMaster" Target="/ppt/notesMasters/notesMaster1.xml" Id="R8ea400747bbe469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dc2d9b24aab4be6" /><Relationship Type="http://schemas.openxmlformats.org/officeDocument/2006/relationships/notesMaster" Target="/ppt/notesMasters/notesMaster1.xml" Id="R0b7484f32b64429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746c7588b4f48f2" /><Relationship Type="http://schemas.openxmlformats.org/officeDocument/2006/relationships/notesMaster" Target="/ppt/notesMasters/notesMaster1.xml" Id="R0a713f49b6a74c1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176f1c4f475435d" /><Relationship Type="http://schemas.openxmlformats.org/officeDocument/2006/relationships/notesMaster" Target="/ppt/notesMasters/notesMaster1.xml" Id="Re30e0234aaaa439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ee2e0d5dbc043d8" /><Relationship Type="http://schemas.openxmlformats.org/officeDocument/2006/relationships/notesMaster" Target="/ppt/notesMasters/notesMaster1.xml" Id="R25bf94b12e904b2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e679dea16da48fb" /><Relationship Type="http://schemas.openxmlformats.org/officeDocument/2006/relationships/notesMaster" Target="/ppt/notesMasters/notesMaster1.xml" Id="R1fbf86809f034fa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dc1972511fa45f0" /><Relationship Type="http://schemas.openxmlformats.org/officeDocument/2006/relationships/notesMaster" Target="/ppt/notesMasters/notesMaster1.xml" Id="Rec3063d304f249e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30058fc7f134e7a" /><Relationship Type="http://schemas.openxmlformats.org/officeDocument/2006/relationships/notesMaster" Target="/ppt/notesMasters/notesMaster1.xml" Id="Rcd7ad2b2749e4d3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16710bf663b4a46" /><Relationship Type="http://schemas.openxmlformats.org/officeDocument/2006/relationships/notesMaster" Target="/ppt/notesMasters/notesMaster1.xml" Id="R5684508b7b14416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0568a589cfd4592" /><Relationship Type="http://schemas.openxmlformats.org/officeDocument/2006/relationships/notesMaster" Target="/ppt/notesMasters/notesMaster1.xml" Id="Ra170a3d6d3aa4d0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2af8367371f4bc5" /><Relationship Type="http://schemas.openxmlformats.org/officeDocument/2006/relationships/notesMaster" Target="/ppt/notesMasters/notesMaster1.xml" Id="R58810bb2f6354b2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deck begins a new research volume. The 123-slide descriptive microscope is frozen; subsequent huddles and promotion slices belong here. The opening question is whether any broad descriptive behavior predicts a better executable decision in untouched data.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Codex thread 01a0226e-2fa2-7222-a6d9-79ab971ac616 (2026-08-27), operator–Codex huddle immediately following the full-vocabulary atlas closeout.</a:t>
            </a:r>
          </a:p>
          <a:p xmlns:a="http://schemas.openxmlformats.org/drawingml/2006/main">
            <a:r>
              <a:t>- operator_hypothesis_lab/presentations/tsla_descriptive_microscope_evidence.pptx, especially slides 105 and 114–123.</a:t>
            </a:r>
          </a:p>
          <a:p xmlns:a="http://schemas.openxmlformats.org/drawingml/2006/main">
            <a:r>
              <a:t>- operator_hypothesis_lab/docs/RETURN_GEOMETRY_WIDE_ATLAS_2018_2023.md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Cross-asset breadth and a broad plateau make the behavior worth investigating, but all cells remain discovery evidence because the same historical period informed the atlas and our attention. A candidate must be stated prospectively before later data are opened.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Codex thread 01a0226e-2fa2-7222-a6d9-79ab971ac616 (2026-08-27), operator–Codex huddle immediately following the full-vocabulary atlas closeout.</a:t>
            </a:r>
          </a:p>
          <a:p xmlns:a="http://schemas.openxmlformats.org/drawingml/2006/main">
            <a:r>
              <a:t>- operator_hypothesis_lab/presentations/tsla_descriptive_microscope_evidence.pptx, especially slides 105 and 114–123.</a:t>
            </a:r>
          </a:p>
          <a:p xmlns:a="http://schemas.openxmlformats.org/drawingml/2006/main">
            <a:r>
              <a:t>- operator_hypothesis_lab/docs/RETURN_GEOMETRY_WIDE_ATLAS_2018_2023.md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Cumulative future returns are nested: R(1:100) = R(1:10) + R(11:100). If the signal is related only to R(1:10), that covariance is still carried inside R(1:20), R(1:50), and R(1:100). Later independent noise may attenuate the correlation, but it does not mechanically erase the early contribution. This is why an early 5–10-session rebound can remain visible at 100.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Codex thread 01a0226e-2fa2-7222-a6d9-79ab971ac616 (2026-08-27), operator–Codex huddle immediately following the full-vocabulary atlas closeout.</a:t>
            </a:r>
          </a:p>
          <a:p xmlns:a="http://schemas.openxmlformats.org/drawingml/2006/main">
            <a:r>
              <a:t>- operator_hypothesis_lab/presentations/tsla_descriptive_microscope_evidence.pptx, especially slides 105 and 114–123.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Recommended blocks for the first anatomy pass: sessions 1–5, 6–10, 11–20, 21–40, 41–60, and 61–100 after the signal anchor. The first purpose is descriptive falsification of duration, not parameter selection or a trading backtest.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Codex thread 01a0226e-2fa2-7222-a6d9-79ab971ac616 (2026-08-27), operator–Codex huddle immediately following the full-vocabulary atlas closeout.</a:t>
            </a:r>
          </a:p>
          <a:p xmlns:a="http://schemas.openxmlformats.org/drawingml/2006/main">
            <a:r>
              <a:t>- operator_hypothesis_lab/presentations/tsla_descriptive_microscope_evidence.pptx, especially slides 105 and 114–123.</a:t>
            </a:r>
          </a:p>
          <a:p xmlns:a="http://schemas.openxmlformats.org/drawingml/2006/main">
            <a:r>
              <a:t>- operator_hypothesis_lab/docs/OWN_ASSET_RETURN_GEOMETRY_WORKFLOW_ROADMAP.md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If later non-overlapping blocks continue to earn conditional return beyond the unconditional and state-only baselines, a 100-session holding concept is potentially actionable. It would be a medium-term tactical trade, not a swing trade. Actionability still depends on execution timing, drawdown, capital efficiency, turnover, and whether the rule meaningfully differs from always being long.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Codex thread 01a0226e-2fa2-7222-a6d9-79ab971ac616 (2026-08-27), operator–Codex huddle immediately following the full-vocabulary atlas closeout.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daily signal with a 100-session holding period can generate many overlapping positions and near-continuous market exposure. Compare it with unconditional drift, the same regime without the prior-loss condition, and matched long exposure. Data-snooping controls become relevant once variants are compared or performance is ranked.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Codex thread 01a0226e-2fa2-7222-a6d9-79ab971ac616 (2026-08-27), operator–Codex huddle immediately following the full-vocabulary atlas closeout.</a:t>
            </a:r>
          </a:p>
          <a:p xmlns:a="http://schemas.openxmlformats.org/drawingml/2006/main">
            <a:r>
              <a:t>- Halbert White (2000), A Reality Check for Data Snooping, https://doi.org/10.1111/1468-0262.00152</a:t>
            </a:r>
          </a:p>
          <a:p xmlns:a="http://schemas.openxmlformats.org/drawingml/2006/main">
            <a:r>
              <a:t>- Bailey et al., The Probability of Backtest Overfitting, https://www.davidhbailey.com/dhbpapers/backtest-prob.pdf</a:t>
            </a:r>
          </a:p>
          <a:p xmlns:a="http://schemas.openxmlformats.org/drawingml/2006/main">
            <a:r>
              <a:t>- Bailey and López de Prado, The Deflated Sharpe Ratio, https://papers.ssrn.com/sol3/papers.cfm?abstract_id=2460551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promotion ladder is behavior → candidate signal → predictive signal → tradeable edge → deployable system. This introductory deck stops at the candidate-design gate. The next technical slice should preserve the original 20-session prior anchor and measure non-overlapping future blocks under the pre-existing filters and baselines.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Codex thread 01a0226e-2fa2-7222-a6d9-79ab971ac616 (2026-08-27), operator–Codex huddle immediately following the full-vocabulary atlas closeout.</a:t>
            </a:r>
          </a:p>
          <a:p xmlns:a="http://schemas.openxmlformats.org/drawingml/2006/main">
            <a:r>
              <a:t>- operator_hypothesis_lab/docs/RETURN_GEOMETRY_WIDE_ATLAS_2018_2023.md</a:t>
            </a:r>
          </a:p>
          <a:p xmlns:a="http://schemas.openxmlformats.org/drawingml/2006/main">
            <a:r>
              <a:t>- operator_hypothesis_lab/docs/OWN_ASSET_RETURN_GEOMETRY_WORKFLOW_ROADMAP.md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freezes the only outcome subset under the microscope. The primary state is signed ER20 DOWN_TREND at a 20-session negative-prior anchor. The 88-stock GICS core forms the equal-sector headline; other cohorts cannot alter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Codex thread 01a0226e-2fa2-7222-a6d9-79ab971ac616 (2026-08-27), operator-authorized incremental forward-return decomposition slice.</a:t>
            </a:r>
          </a:p>
          <a:p xmlns:a="http://schemas.openxmlformats.org/drawingml/2006/main">
            <a:r>
              <a:t>- runs/research_workbench/operator_hypothesis_lab/return_geometry_incremental_forward_decomposition_20260827/run_spec.csv</a:t>
            </a:r>
          </a:p>
          <a:p xmlns:a="http://schemas.openxmlformats.org/drawingml/2006/main">
            <a:r>
              <a:t>- operator_hypothesis_lab/docs/RETURN_GEOMETRY_EDGE_PROMOTION_HUDDLE.md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 blocks are evaluated on anchors that have the full subsequent 100 sessions available. The construction audit verifies that the six incremental returns sum to R(1:100) with maximum absolute error below 7e-16 and reproduces shared cumulative cells below 6e-16.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Codex thread 01a0226e-2fa2-7222-a6d9-79ab971ac616 (2026-08-27), operator-authorized incremental forward-return decomposition slice.</a:t>
            </a:r>
          </a:p>
          <a:p xmlns:a="http://schemas.openxmlformats.org/drawingml/2006/main">
            <a:r>
              <a:t>- runs/research_workbench/operator_hypothesis_lab/return_geometry_incremental_forward_decomposition_20260827/run_spec.csv</a:t>
            </a:r>
          </a:p>
          <a:p xmlns:a="http://schemas.openxmlformats.org/drawingml/2006/main">
            <a:r>
              <a:t>- runs/research_workbench/operator_hypothesis_lab/return_geometry_incremental_forward_decomposition_20260827/decomposition_checks.csv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cumulative line remains strongly negative because it carries earlier blocks. The incremental line shows where new covariance arrives: it is negative in every block, but its strength is uneven. The 41-60 block is especially distinct; the 61-100 block is weak and the unfiltered-loss comparator is near zero there.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Codex thread 01a0226e-2fa2-7222-a6d9-79ab971ac616 (2026-08-27), operator-authorized incremental forward-return decomposition slice.</a:t>
            </a:r>
          </a:p>
          <a:p xmlns:a="http://schemas.openxmlformats.org/drawingml/2006/main">
            <a:r>
              <a:t>- runs/research_workbench/operator_hypothesis_lab/return_geometry_incremental_forward_decomposition_20260827/equal_sector_block_summary.csv</a:t>
            </a:r>
          </a:p>
          <a:p xmlns:a="http://schemas.openxmlformats.org/drawingml/2006/main">
            <a:r>
              <a:t>- runs/research_workbench/operator_hypothesis_lab/return_geometry_incremental_forward_decomposition_20260827/report.md</a:t>
            </a:r>
          </a:p>
          <a:p xmlns:a="http://schemas.openxmlformats.org/drawingml/2006/main">
            <a:r>
              <a:t>- runs/research_workbench/operator_hypothesis_lab/return_geometry_incremental_forward_decomposition_20260827/visuals/cumulative_vs_incremental_correlation.png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Ten of 11 sector medians are negative in both 21-40 and 41-60. Breadth falls to 7 of 11 in 61-100, where Utilities, Real Estate, Financials, and Energy turn positive. This is broad morphology with real heterogeneity, not a universal asset law.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Codex thread 01a0226e-2fa2-7222-a6d9-79ab971ac616 (2026-08-27), operator-authorized incremental forward-return decomposition slice.</a:t>
            </a:r>
          </a:p>
          <a:p xmlns:a="http://schemas.openxmlformats.org/drawingml/2006/main">
            <a:r>
              <a:t>- runs/research_workbench/operator_hypothesis_lab/return_geometry_incremental_forward_decomposition_20260827/core_sector_block_summary.csv</a:t>
            </a:r>
          </a:p>
          <a:p xmlns:a="http://schemas.openxmlformats.org/drawingml/2006/main">
            <a:r>
              <a:t>- runs/research_workbench/operator_hypothesis_lab/return_geometry_incremental_forward_decomposition_20260827/equal_sector_block_summary.csv</a:t>
            </a:r>
          </a:p>
          <a:p xmlns:a="http://schemas.openxmlformats.org/drawingml/2006/main">
            <a:r>
              <a:t>- runs/research_workbench/operator_hypothesis_lab/return_geometry_incremental_forward_decomposition_20260827/visuals/incremental_sector_heatmap.png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asset distributions show why the equal-sector median should not be read as a universal prediction. The median is negative through 41-60, while individual assets span both signs. The 61-100 median approaches zero and its interquartile range crosses well into positive territory.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Codex thread 01a0226e-2fa2-7222-a6d9-79ab971ac616 (2026-08-27), operator-authorized incremental forward-return decomposition slice.</a:t>
            </a:r>
          </a:p>
          <a:p xmlns:a="http://schemas.openxmlformats.org/drawingml/2006/main">
            <a:r>
              <a:t>- runs/research_workbench/operator_hypothesis_lab/return_geometry_incremental_forward_decomposition_20260827/asset_block_metrics.csv</a:t>
            </a:r>
          </a:p>
          <a:p xmlns:a="http://schemas.openxmlformats.org/drawingml/2006/main">
            <a:r>
              <a:t>- runs/research_workbench/operator_hypothesis_lab/return_geometry_incremental_forward_decomposition_20260827/equal_sector_block_summary.csv</a:t>
            </a:r>
          </a:p>
          <a:p xmlns:a="http://schemas.openxmlformats.org/drawingml/2006/main">
            <a:r>
              <a:t>- runs/research_workbench/operator_hypothesis_lab/return_geometry_incremental_forward_decomposition_20260827/visuals/incremental_asset_distribution.png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Drift-adjusted return is positive from sessions 1 through 60, peaking at 7.07 bp per session in 11-20 and remaining 4.47 bp in 21-40. It falls to 0.72 bp in 41-60 and turns negative at -0.90 bp in 61-100; only 3 of 11 sector medians remain positive in that final block. This is descriptive and not cost-, overlap-, or path-adjusted.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Codex thread 01a0226e-2fa2-7222-a6d9-79ab971ac616 (2026-08-27), operator-authorized incremental forward-return decomposition slice.</a:t>
            </a:r>
          </a:p>
          <a:p xmlns:a="http://schemas.openxmlformats.org/drawingml/2006/main">
            <a:r>
              <a:t>- runs/research_workbench/operator_hypothesis_lab/return_geometry_incremental_forward_decomposition_20260827/equal_sector_block_summary.csv</a:t>
            </a:r>
          </a:p>
          <a:p xmlns:a="http://schemas.openxmlformats.org/drawingml/2006/main">
            <a:r>
              <a:t>- runs/research_workbench/operator_hypothesis_lab/return_geometry_incremental_forward_decomposition_20260827/report.md</a:t>
            </a:r>
          </a:p>
          <a:p xmlns:a="http://schemas.openxmlformats.org/drawingml/2006/main">
            <a:r>
              <a:t>- runs/research_workbench/operator_hypothesis_lab/return_geometry_incremental_forward_decomposition_20260827/visuals/incremental_excess_bp_per_session.png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predeclared descriptive rule required at least two of three late blocks to have negative equal-sector correlation, at least 7 of 11 negative sector medians, and positive drift-adjusted return per session. The 21-40 and 41-60 blocks pass; 61-100 fails on drift-adjusted accrual. Preserve LATE_INCREMENTAL_DURATION_RETAINS_DESCRIPTIVE_SUPPORT without converting it into a 60-session holding recommendation.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Codex thread 01a0226e-2fa2-7222-a6d9-79ab971ac616 (2026-08-27), operator-authorized incremental forward-return decomposition slice.</a:t>
            </a:r>
          </a:p>
          <a:p xmlns:a="http://schemas.openxmlformats.org/drawingml/2006/main">
            <a:r>
              <a:t>- runs/research_workbench/operator_hypothesis_lab/return_geometry_incremental_forward_decomposition_20260827/report.md</a:t>
            </a:r>
          </a:p>
          <a:p xmlns:a="http://schemas.openxmlformats.org/drawingml/2006/main">
            <a:r>
              <a:t>- runs/research_workbench/operator_hypothesis_lab/return_geometry_incremental_forward_decomposition_20260827/late_block_readout.csv</a:t>
            </a:r>
          </a:p>
          <a:p xmlns:a="http://schemas.openxmlformats.org/drawingml/2006/main">
            <a:r>
              <a:t>- runs/research_workbench/operator_hypothesis_lab/return_geometry_incremental_forward_decomposition_20260827/status.csv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1936bff7f9451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e9dd4c330b34c31" /><Relationship Type="http://schemas.openxmlformats.org/officeDocument/2006/relationships/slideLayout" Target="/ppt/slideLayouts/slideLayout1.xml" Id="Rc3bd7254ee25416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3bd7254ee25416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80d62ac54342ef" /><Relationship Type="http://schemas.openxmlformats.org/officeDocument/2006/relationships/notesSlide" Target="/ppt/notesSlides/notesSlide1.xml" Id="R7c587075a550491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85d2c1bc784548" /><Relationship Type="http://schemas.openxmlformats.org/officeDocument/2006/relationships/notesSlide" Target="/ppt/notesSlides/notesSlide2.xml" Id="R56efb56f512f4f2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8ff9ac288d44a4" /><Relationship Type="http://schemas.openxmlformats.org/officeDocument/2006/relationships/notesSlide" Target="/ppt/notesSlides/notesSlide3.xml" Id="R942296732c8f479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7938aa5be64a3c" /><Relationship Type="http://schemas.openxmlformats.org/officeDocument/2006/relationships/notesSlide" Target="/ppt/notesSlides/notesSlide4.xml" Id="R936d4d7d6640496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9f80d99c5348d6" /><Relationship Type="http://schemas.openxmlformats.org/officeDocument/2006/relationships/notesSlide" Target="/ppt/notesSlides/notesSlide5.xml" Id="Raad4ff7424d94f3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516442d3164055" /><Relationship Type="http://schemas.openxmlformats.org/officeDocument/2006/relationships/notesSlide" Target="/ppt/notesSlides/notesSlide6.xml" Id="R1905d89454294ec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f797e55dfb4092" /><Relationship Type="http://schemas.openxmlformats.org/officeDocument/2006/relationships/notesSlide" Target="/ppt/notesSlides/notesSlide7.xml" Id="R5cbec43c74b84d5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ccc41a0592448c" /><Relationship Type="http://schemas.openxmlformats.org/officeDocument/2006/relationships/notesSlide" Target="/ppt/notesSlides/notesSlide8.xml" Id="R55300ec95a824b8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fd865773204fa8" /><Relationship Type="http://schemas.openxmlformats.org/officeDocument/2006/relationships/notesSlide" Target="/ppt/notesSlides/notesSlide9.xml" Id="R9c488a05e385458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3bf293623d445f" /><Relationship Type="http://schemas.openxmlformats.org/officeDocument/2006/relationships/image" Target="/ppt/media/image.png" Id="R3c6a4bbcc8a9404e" /><Relationship Type="http://schemas.openxmlformats.org/officeDocument/2006/relationships/notesSlide" Target="/ppt/notesSlides/notesSlide10.xml" Id="Rd45fc06e01414c7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f884b837264aa9" /><Relationship Type="http://schemas.openxmlformats.org/officeDocument/2006/relationships/image" Target="/ppt/media/image2.png" Id="Rc6c075b1341f4bb5" /><Relationship Type="http://schemas.openxmlformats.org/officeDocument/2006/relationships/notesSlide" Target="/ppt/notesSlides/notesSlide11.xml" Id="R33c165f0eec2441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b24cd909304685" /><Relationship Type="http://schemas.openxmlformats.org/officeDocument/2006/relationships/image" Target="/ppt/media/image3.png" Id="Rd80499b1559a4104" /><Relationship Type="http://schemas.openxmlformats.org/officeDocument/2006/relationships/notesSlide" Target="/ppt/notesSlides/notesSlide12.xml" Id="R476871eeb0254df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538fe04cc3481d" /><Relationship Type="http://schemas.openxmlformats.org/officeDocument/2006/relationships/image" Target="/ppt/media/image4.png" Id="R06a8940d53f9429a" /><Relationship Type="http://schemas.openxmlformats.org/officeDocument/2006/relationships/notesSlide" Target="/ppt/notesSlides/notesSlide13.xml" Id="R5247c71f7cad4b8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d52ae3a2a04795" /><Relationship Type="http://schemas.openxmlformats.org/officeDocument/2006/relationships/notesSlide" Target="/ppt/notesSlides/notesSlide14.xml" Id="Rfac7da7c0d8145b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12B881-2D87-4470-A9E2-CA40D7106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45756"/>
                </a:solidFill>
              </a:defRPr>
            </a:pPr>
            <a:r>
              <a:rPr sz="1350" b="1">
                <a:solidFill>
                  <a:srgbClr val="E45756"/>
                </a:solidFill>
              </a:rPr>
              <a:t>EDGE PROMOTION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B2094F-C042-49AB-BE8C-0ECFD2245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111827"/>
                </a:solidFill>
              </a:defRPr>
            </a:pPr>
            <a:r>
              <a:rPr sz="4350" b="1">
                <a:solidFill>
                  <a:srgbClr val="111827"/>
                </a:solidFill>
              </a:rPr>
              <a:t>From return geometry to candidate edge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394FB8-5765-4318-8A56-6DACECFE9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9525">
            <a:solidFill>
              <a:srgbClr val="E4575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E3D676-3E4E-40CF-9FFA-FDD3E7F4C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90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667384"/>
                </a:solidFill>
              </a:defRPr>
            </a:pPr>
            <a:r>
              <a:rPr sz="2025" b="0">
                <a:solidFill>
                  <a:srgbClr val="667384"/>
                </a:solidFill>
              </a:rPr>
              <a:t>Promotion huddle and falsification roadmap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79BB13-9AEC-4C77-9A8C-3203F8300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667384"/>
                </a:solidFill>
              </a:defRPr>
            </a:pPr>
            <a:r>
              <a:rPr sz="1575" b="0">
                <a:solidFill>
                  <a:srgbClr val="667384"/>
                </a:solidFill>
              </a:rPr>
              <a:t>Incremental timing • frozen hypotheses • untouched transport • executable decisions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589277-BA8D-465E-8FE0-58FC0F732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384"/>
                </a:solidFill>
              </a:defRPr>
            </a:pPr>
            <a:r>
              <a:rPr sz="900" b="0">
                <a:solidFill>
                  <a:srgbClr val="667384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6971670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PROMOTION BOUNDARY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atlas has earned behavior—not edge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Return geometry | promotion huddle | 2026-08-27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257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FOUND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Broad conditional return geometry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129 instruments; many states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LEARNS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Scale and filters discriminate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rebound, continuation, exhaustion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DOES NOT EARN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prospective trading rule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 and baseline unresolved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Where we stand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atlas is a discovery surface. Promotion begins only after one hypothesis is frozen before new data.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75FA3A-7B7A-4DCE-BE5A-84E74DC1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667384"/>
                </a:solidFill>
              </a:defRPr>
            </a:pPr>
            <a:r>
              <a:rPr sz="1200" b="1">
                <a:solidFill>
                  <a:srgbClr val="667384"/>
                </a:solidFill>
              </a:rPr>
              <a:t>NESTED WINDOWS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472F5C-DF7D-407E-8191-2836C3E3A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11827"/>
                </a:solidFill>
              </a:defRPr>
            </a:pPr>
            <a:r>
              <a:rPr sz="3150" b="1">
                <a:solidFill>
                  <a:srgbClr val="111827"/>
                </a:solidFill>
              </a:rPr>
              <a:t>An early rebound echoes through longer cumulative windows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456945-A860-45BF-838A-84CF2A0F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90F6BF-7D1F-42F0-8870-18EA12E44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667384"/>
                </a:solidFill>
              </a:defRPr>
            </a:pPr>
            <a:r>
              <a:rPr sz="900" b="0">
                <a:solidFill>
                  <a:srgbClr val="667384"/>
                </a:solidFill>
              </a:rPr>
              <a:t>Return geometry | cumulative versus incremental timing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A654AA-807A-4DD7-8B1E-550BE487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667384"/>
                </a:solidFill>
              </a:defRPr>
            </a:pPr>
            <a:r>
              <a:rPr sz="900" b="0">
                <a:solidFill>
                  <a:srgbClr val="667384"/>
                </a:solidFill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48904E-C2B5-4030-9F5C-135F8E81A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791499-974A-45B1-BE0E-27A91CC8E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DAYS 1–10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A67979-9151-4748-A221-F0070561B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Rebound occurs once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FD5673-B6D2-4155-A59A-F3191F8D8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581150"/>
            <a:ext cx="3695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67384"/>
                </a:solidFill>
              </a:defRPr>
            </a:pPr>
            <a:r>
              <a:rPr sz="1275" b="0">
                <a:solidFill>
                  <a:srgbClr val="667384"/>
                </a:solidFill>
              </a:rPr>
              <a:t>example: rally in sessions 6–10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FB0AB3-A3CD-4683-9CB0-471C0A7FD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05535B-6C8D-445C-87D8-2FE19E86F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4F1D68-325D-4B3B-8F7C-00326724A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9E0B"/>
                </a:solidFill>
              </a:defRPr>
            </a:pPr>
            <a:r>
              <a:rPr sz="1350" b="1">
                <a:solidFill>
                  <a:srgbClr val="F59E0B"/>
                </a:solidFill>
              </a:rPr>
              <a:t>DAYS 1–20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DC81BC-9F5C-4D4F-B28E-718205D48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The same rebound remains inside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C97F66-8EE5-4A0F-BBD5-E69B0718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667384"/>
                </a:solidFill>
              </a:defRPr>
            </a:pPr>
            <a:r>
              <a:rPr sz="1500" b="0">
                <a:solidFill>
                  <a:srgbClr val="667384"/>
                </a:solidFill>
              </a:rPr>
              <a:t>plus sessions 11–20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0D8078-2C96-47C8-BCCB-9A9EFA50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3796B2-0890-4697-AB3D-35737FA1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9525">
            <a:solidFill>
              <a:srgbClr val="2A9D6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5137E0-9E7E-4A70-8E4C-A559B3A7F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A9D6F"/>
                </a:solidFill>
              </a:defRPr>
            </a:pPr>
            <a:r>
              <a:rPr sz="1350" b="1">
                <a:solidFill>
                  <a:srgbClr val="2A9D6F"/>
                </a:solidFill>
              </a:rPr>
              <a:t>DAYS 1–100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5FB54C-B8BA-41CE-8A2F-CF4B5EA78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The same rebound still remains inside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810C4-3E3B-413B-BE3A-0D0CBA54E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667384"/>
                </a:solidFill>
              </a:defRPr>
            </a:pPr>
            <a:r>
              <a:rPr sz="1500" b="0">
                <a:solidFill>
                  <a:srgbClr val="667384"/>
                </a:solidFill>
              </a:rPr>
              <a:t>plus sessions 11–100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9AF3F5-7B95-485D-B9FA-C6052CF1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F8A934-4548-47C8-8583-F3E852C74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BE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F81B3D-ACD0-4A02-9B6C-89D781879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Nested-window consequence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ACD672-B2FE-4661-8267-7719DCE7C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667384"/>
                </a:solidFill>
              </a:defRPr>
            </a:pPr>
            <a:r>
              <a:rPr sz="1425" b="0">
                <a:solidFill>
                  <a:srgbClr val="667384"/>
                </a:solidFill>
              </a:rPr>
              <a:t>A rally ending by day 10 can influence every cumulative forward cell whose horizon is at least 10 sessions.</a:t>
            </a:r>
          </a:p>
        </p:txBody>
      </p:sp>
    </p:spTree>
    <p:extLst>
      <p:ext uri="{BB962C8B-B14F-4D97-AF65-F5344CB8AC3E}">
        <p14:creationId xmlns:p14="http://schemas.microsoft.com/office/powerpoint/2010/main" val="11549635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INCREMENTAL TIMING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Incremental blocks reveal when the return arrives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Return geometry | first recommended falsification slice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257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CUMULATIVE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R(1:100)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contains every earlier block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INCREMENTAL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R(1:5), R(6:10), …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each interval measured once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FALSIFIES DURATION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Only early blocks respond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the long plateau is an echo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Promotion condition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If later blocks retain conditional excess return, the signal has genuine duration rather than inherited history.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ACTIONABILITY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genuine 100-session effect can be actionable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Return geometry | medium-term interpretation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257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YES—IF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New excess return keeps accruing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not merely an embedded early rebound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TIME SCALE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Roughly four to five months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 medium-term tactical position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STILL TEST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Net value versus the baseline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risk, costs, and opportunity cost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Important distinction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long horizon is not disqualifying. Weak conditional improvement—or permanent market exposure—is.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BASELINES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long-horizon rule must beat the right baseline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Return geometry | economic falsification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257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DRIFT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Unconditional future return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would the asset rise anyway?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STATE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State-only future return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does prior loss add information?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EXPOSURE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Matched long exposure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do repeated signals become buy-and-hold?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Executable edge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Conditional net return must improve the decision after next-open timing, overlap, costs, and capital use.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PROMOTION LADDER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Promotion happens one frozen gate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Return geometry | next research volume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257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BEHAVIOR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Describe the complete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complete in the closed deck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CANDIDATE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Freeze signal, target, and failure rule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next research gate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EDGE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Untouched net decision improvement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later—not yet earned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29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Recommended next slice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Use the original 20-session prior anchor and decompose future returns before opening post-2023 data.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FROZEN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narrow slice asks when the rebound arrives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Return geometry | incremental forward decomposition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257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ANCHOR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20 prior sessions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negative cumulative log return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STATE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Signed ER20 down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known at the anchor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FUTURE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Six disjoint blocks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sessions 1 through 100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Primary surface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88 full-history stocks, equal-sector weighted. All 129 assets remain diagnostic; post-2023 stays sealed.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MEASUREMENT CONTRACT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block uses the same historical anchors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Return geometry | common-sample timing test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257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COMMON SAMPLE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Complete 100-session path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prevents block-to-block sample drift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INCREMENTAL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1–5 / 6–10 / … / 61–100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six blocks sum exactly to R(1:100)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COMPARE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Cumulative + drift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one unfiltered-loss comparator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Frozen rule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Duration survives only if at least 2 of 3 late blocks retain negative sector breadth and positive drift-adjusted return.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 RESULT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Cumulative strength hides a non-uniform response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Return geometry | equal-sector timing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257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6a4bbcc8a9404e"/>
          <a:stretch xmlns:a="http://schemas.openxmlformats.org/drawingml/2006/main"/>
        </p:blipFill>
        <p:spPr>
          <a:xfrm xmlns:a="http://schemas.openxmlformats.org/drawingml/2006/main">
            <a:off x="1771650" y="1335087"/>
            <a:ext cx="8648700" cy="50450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SECTOR BREADTH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response remains broad through sessions 41–60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Return geometry | sector timing map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257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c075b1341f4bb5"/>
          <a:stretch xmlns:a="http://schemas.openxmlformats.org/drawingml/2006/main"/>
        </p:blipFill>
        <p:spPr>
          <a:xfrm xmlns:a="http://schemas.openxmlformats.org/drawingml/2006/main">
            <a:off x="2309813" y="1333500"/>
            <a:ext cx="7572375" cy="5048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CROSS-ASSET SHAPE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Late support is broad—but visibly heterogeneous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Return geometry | 88-stock core distribution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257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0499b1559a4104"/>
          <a:stretch xmlns:a="http://schemas.openxmlformats.org/drawingml/2006/main"/>
        </p:blipFill>
        <p:spPr>
          <a:xfrm xmlns:a="http://schemas.openxmlformats.org/drawingml/2006/main">
            <a:off x="1771650" y="1335087"/>
            <a:ext cx="8648700" cy="50450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DRIFT-ADJUSTED ACCRUAL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Return advantage fades after session 60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Return geometry | conditional minus unconditional drift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257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a8940d53f9429a"/>
          <a:stretch xmlns:a="http://schemas.openxmlformats.org/drawingml/2006/main"/>
        </p:blipFill>
        <p:spPr>
          <a:xfrm xmlns:a="http://schemas.openxmlformats.org/drawingml/2006/main">
            <a:off x="1771650" y="1335087"/>
            <a:ext cx="8648700" cy="50450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SLICE DECISION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Duration survives to 60 sessions—not to 100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Return geometry | incremental timing decision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257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FOUND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Late incremental support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21–40 and 41–60 pass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FADES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Final block loses accrual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61–100 = −0.90 bp/session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DOES NOT EARN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holding rule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overlap and time transport unresolved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STOP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Freeze this timing morphology. Do not retune blocks or open post-2023 outcomes until the next gate is designed.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theme/theme1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2026-08-28T06:00:08.1900000Z</dcterms:created>
  <dcterms:modified xsi:type="dcterms:W3CDTF">2026-08-28T06:00:08.1900000Z</dcterms:modified>
</coreProperties>
</file>