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eb2ab0d55874c23" /><Relationship Type="http://schemas.openxmlformats.org/officeDocument/2006/relationships/extended-properties" Target="/docProps/app.xml" Id="Ref639b86a23a4d39" /><Relationship Type="http://schemas.openxmlformats.org/officeDocument/2006/relationships/officeDocument" Target="/ppt/presentation.xml" Id="R091e0a0fb9ed46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5ee2e16e8c849c9"/>
  </p:sldMasterIdLst>
  <p:notesMasterIdLst>
    <p:notesMasterId xmlns:r="http://schemas.openxmlformats.org/officeDocument/2006/relationships" r:id="R73e6cea74d0f453e"/>
  </p:notesMasterIdLst>
  <p:sldIdLst>
    <p:sldId xmlns:r="http://schemas.openxmlformats.org/officeDocument/2006/relationships" id="256" r:id="Rb4f668d71cab457f"/>
    <p:sldId xmlns:r="http://schemas.openxmlformats.org/officeDocument/2006/relationships" id="257" r:id="Ra4347ed7a91c4bc3"/>
    <p:sldId xmlns:r="http://schemas.openxmlformats.org/officeDocument/2006/relationships" id="258" r:id="R5a5c6516b4174227"/>
    <p:sldId xmlns:r="http://schemas.openxmlformats.org/officeDocument/2006/relationships" id="259" r:id="Rb491260eb7e34c30"/>
    <p:sldId xmlns:r="http://schemas.openxmlformats.org/officeDocument/2006/relationships" id="260" r:id="Rc10154a809134358"/>
    <p:sldId xmlns:r="http://schemas.openxmlformats.org/officeDocument/2006/relationships" id="261" r:id="Rf260c73d0cd048ae"/>
    <p:sldId xmlns:r="http://schemas.openxmlformats.org/officeDocument/2006/relationships" id="262" r:id="R58fda5d364f44ce7"/>
    <p:sldId xmlns:r="http://schemas.openxmlformats.org/officeDocument/2006/relationships" id="263" r:id="Rf4c9cfa6f4b44035"/>
    <p:sldId xmlns:r="http://schemas.openxmlformats.org/officeDocument/2006/relationships" id="264" r:id="R239194639b964c1c"/>
    <p:sldId xmlns:r="http://schemas.openxmlformats.org/officeDocument/2006/relationships" id="265" r:id="R6131db32b2ce4edc"/>
    <p:sldId xmlns:r="http://schemas.openxmlformats.org/officeDocument/2006/relationships" id="266" r:id="R98296dc3dd1d4141"/>
    <p:sldId xmlns:r="http://schemas.openxmlformats.org/officeDocument/2006/relationships" id="267" r:id="R94c34ab067364c94"/>
    <p:sldId xmlns:r="http://schemas.openxmlformats.org/officeDocument/2006/relationships" id="268" r:id="Re92ce7f80a07476d"/>
    <p:sldId xmlns:r="http://schemas.openxmlformats.org/officeDocument/2006/relationships" id="269" r:id="R448f24a5d1514fa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aa03eea35d4047" /><Relationship Type="http://schemas.openxmlformats.org/officeDocument/2006/relationships/slideMaster" Target="/ppt/slideMasters/slideMaster1.xml" Id="R85ee2e16e8c849c9" /><Relationship Type="http://schemas.openxmlformats.org/officeDocument/2006/relationships/notesMaster" Target="/ppt/notesMasters/notesMaster1.xml" Id="R73e6cea74d0f453e" /><Relationship Type="http://schemas.openxmlformats.org/officeDocument/2006/relationships/presProps" Target="/ppt/presProps.xml" Id="R178979bb46574bee" /><Relationship Type="http://schemas.openxmlformats.org/officeDocument/2006/relationships/tableStyles" Target="/ppt/tableStyles.xml" Id="R94ea121f84f34a89" /><Relationship Type="http://schemas.openxmlformats.org/officeDocument/2006/relationships/slide" Target="/ppt/slides/slide1.xml" Id="Rb4f668d71cab457f" /><Relationship Type="http://schemas.openxmlformats.org/officeDocument/2006/relationships/slide" Target="/ppt/slides/slide2.xml" Id="Ra4347ed7a91c4bc3" /><Relationship Type="http://schemas.openxmlformats.org/officeDocument/2006/relationships/slide" Target="/ppt/slides/slide3.xml" Id="R5a5c6516b4174227" /><Relationship Type="http://schemas.openxmlformats.org/officeDocument/2006/relationships/slide" Target="/ppt/slides/slide4.xml" Id="Rb491260eb7e34c30" /><Relationship Type="http://schemas.openxmlformats.org/officeDocument/2006/relationships/slide" Target="/ppt/slides/slide5.xml" Id="Rc10154a809134358" /><Relationship Type="http://schemas.openxmlformats.org/officeDocument/2006/relationships/slide" Target="/ppt/slides/slide6.xml" Id="Rf260c73d0cd048ae" /><Relationship Type="http://schemas.openxmlformats.org/officeDocument/2006/relationships/slide" Target="/ppt/slides/slide7.xml" Id="R58fda5d364f44ce7" /><Relationship Type="http://schemas.openxmlformats.org/officeDocument/2006/relationships/slide" Target="/ppt/slides/slide8.xml" Id="Rf4c9cfa6f4b44035" /><Relationship Type="http://schemas.openxmlformats.org/officeDocument/2006/relationships/slide" Target="/ppt/slides/slide9.xml" Id="R239194639b964c1c" /><Relationship Type="http://schemas.openxmlformats.org/officeDocument/2006/relationships/slide" Target="/ppt/slides/slide10.xml" Id="R6131db32b2ce4edc" /><Relationship Type="http://schemas.openxmlformats.org/officeDocument/2006/relationships/slide" Target="/ppt/slides/slide11.xml" Id="R98296dc3dd1d4141" /><Relationship Type="http://schemas.openxmlformats.org/officeDocument/2006/relationships/slide" Target="/ppt/slides/slide12.xml" Id="R94c34ab067364c94" /><Relationship Type="http://schemas.openxmlformats.org/officeDocument/2006/relationships/slide" Target="/ppt/slides/slide13.xml" Id="Re92ce7f80a07476d" /><Relationship Type="http://schemas.openxmlformats.org/officeDocument/2006/relationships/slide" Target="/ppt/slides/slide14.xml" Id="R448f24a5d1514fa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c98179b8474f6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8779ee8fd4f42f2" /><Relationship Type="http://schemas.openxmlformats.org/officeDocument/2006/relationships/notesMaster" Target="/ppt/notesMasters/notesMaster1.xml" Id="Rb5046f20f0cc42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417f825d584350" /><Relationship Type="http://schemas.openxmlformats.org/officeDocument/2006/relationships/notesMaster" Target="/ppt/notesMasters/notesMaster1.xml" Id="R445abff907a045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bc2ad72206345c0" /><Relationship Type="http://schemas.openxmlformats.org/officeDocument/2006/relationships/notesMaster" Target="/ppt/notesMasters/notesMaster1.xml" Id="Re82fa3fae9d44d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651eec71eb240c3" /><Relationship Type="http://schemas.openxmlformats.org/officeDocument/2006/relationships/notesMaster" Target="/ppt/notesMasters/notesMaster1.xml" Id="R4cd4bab5adcb434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7d065460e44187" /><Relationship Type="http://schemas.openxmlformats.org/officeDocument/2006/relationships/notesMaster" Target="/ppt/notesMasters/notesMaster1.xml" Id="Rc5cf42c849824c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89b26d616f74b53" /><Relationship Type="http://schemas.openxmlformats.org/officeDocument/2006/relationships/notesMaster" Target="/ppt/notesMasters/notesMaster1.xml" Id="R79301a6583c047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c614be53484c5c" /><Relationship Type="http://schemas.openxmlformats.org/officeDocument/2006/relationships/notesMaster" Target="/ppt/notesMasters/notesMaster1.xml" Id="R88e91f0e47de4a2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5536e9cfb644e55" /><Relationship Type="http://schemas.openxmlformats.org/officeDocument/2006/relationships/notesMaster" Target="/ppt/notesMasters/notesMaster1.xml" Id="R5f3b92a7c3b9456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ed1a124e32e456f" /><Relationship Type="http://schemas.openxmlformats.org/officeDocument/2006/relationships/notesMaster" Target="/ppt/notesMasters/notesMaster1.xml" Id="Rd12baf9eccd949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e7c45edcbb34724" /><Relationship Type="http://schemas.openxmlformats.org/officeDocument/2006/relationships/notesMaster" Target="/ppt/notesMasters/notesMaster1.xml" Id="R7d9e936a8080494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06cefa878ef4e62" /><Relationship Type="http://schemas.openxmlformats.org/officeDocument/2006/relationships/notesMaster" Target="/ppt/notesMasters/notesMaster1.xml" Id="Rf5688330dc26446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687d854c114664" /><Relationship Type="http://schemas.openxmlformats.org/officeDocument/2006/relationships/notesMaster" Target="/ppt/notesMasters/notesMaster1.xml" Id="Rfff4bc189b51469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d0371ae34fa4cd5" /><Relationship Type="http://schemas.openxmlformats.org/officeDocument/2006/relationships/notesMaster" Target="/ppt/notesMasters/notesMaster1.xml" Id="R79145dd1420342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0f48d36249412a" /><Relationship Type="http://schemas.openxmlformats.org/officeDocument/2006/relationships/notesMaster" Target="/ppt/notesMasters/notesMaster1.xml" Id="Rf1d98161719245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deck decomposes the previously bundled HYP-MOM-02.2 rule on the reused 2021-2023 discovery panel. It explains mechanics only; it cannot nominate a strategy.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Project\Time-Series-Modeling-Gen5\operator_hypothesis_lab\docs\HYP_MOM_SMA_FOLLOWUP_SERIES_CONTRACT.md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Project\Time-Series-Modeling-Gen5\operator_hypothesis_lab\docs\HYP_MOM_02_ATTRIBUTION_ATLAS_01_RESULTS.md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evidence sequence was frozen before development outcomes. Reused discovery isolates components; distinct history decides whether a candidate may advance.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Project\Time-Series-Modeling-Gen5\operator_hypothesis_lab\docs\HYP_MOM_SMA_FOLLOWUP_SERIES_CONTRACT.md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factorized policies answer which mechanical change produced the observed return/protection difference. Fixed-horizon event paths ask whether the cross predicts direction independent of the strategy state machine.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Project\Time-Series-Modeling-Gen5\operator_hypothesis_lab\docs\HYP_MOM_SMA_FOLLOWUP_SERIES_CONTRACT.md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Project\Time-Series-Modeling-Gen5\runs\research_workbench\operator_hypothesis_lab\hyp_mom_02_attribution_atlas_01_20260810\run_spec.csv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APHA and SNE had incomplete study windows; LI lacked prehistory. No replacements were introduced.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Project\Time-Series-Modeling-Gen5\runs\research_workbench\operator_hypothesis_lab\hyp_mom_02_attribution_atlas_01_20260810\asset_coverage.csv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Project\Time-Series-Modeling-Gen5\runs\research_workbench\operator_hypothesis_lab\hyp_mom_02_attribution_atlas_01_20260810\context_coverage.csv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large improvement appears when the SMA50 exit/lockout replaces the SMA200 exit. The entry filter adds little after that; the first re-entry repair gives the improvement back.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Project\Time-Series-Modeling-Gen5\runs\research_workbench\operator_hypothesis_lab\hyp_mom_02_attribution_atlas_01_20260810\mechanical_attribution_summary.csv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Project\Time-Series-Modeling-Gen5\operator_hypothesis_lab\docs\HYP_MOM_02_ATTRIBUTION_ATLAS_01_RESULTS.md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Return and drawdown deltas show the exit/lockout effect dominating entry confirmation. Re-entry repair is adverse at the median.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Project\Time-Series-Modeling-Gen5\runs\research_workbench\operator_hypothesis_lab\hyp_mom_02_attribution_atlas_01_20260810\mechanical_attribution_summary.csv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EXIT_LOCKOUT has the best reused-window median raw return, yet its matched-control excess remains slightly negative. No policy earns selection authority here.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Project\Time-Series-Modeling-Gen5\runs\research_workbench\operator_hypothesis_lab\hyp_mom_02_attribution_atlas_01_20260810\variant_panel_summary.csv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At 5, 20, and 60 sessions, average absolute returns are nonnegative while average SPY-relative returns are negative. Non-overlapping sensitivity does not establish a relative edge.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Project\Time-Series-Modeling-Gen5\runs\research_workbench\operator_hypothesis_lab\hyp_mom_02_attribution_atlas_01_20260810\event_summary.csv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above-SMA50 condition does not improve the 20-session mean. Rising SMA200 is more coherent, but it remains a reused-window diagnostic and cannot create a cutoff or strategy.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Project\Time-Series-Modeling-Gen5\runs\research_workbench\operator_hypothesis_lab\hyp_mom_02_attribution_atlas_01_20260810\event_condition_summary.csv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tapes are frozen roles: median return change, largest improvement, and largest deterioration. They demonstrate heterogeneity without authorizing asset selection.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MS is nearest the median return change: repaired re-entry lost 8.57% versus 6.51% for strict 02.2, despite a better drawdown path.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GE is the largest repaired-re-entry improvement: +87.44% versus -2.78%. Its favorable sequence is real but outcome-selected only as an audit role.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TSLA is the largest deterioration: -13.24% under repaired re-entry versus +42.29% under strict 02.2, with much worse drawdown.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Project\Time-Series-Modeling-Gen5\runs\research_workbench\operator_hypothesis_lab\hyp_mom_02_attribution_atlas_01_20260810\representative_tape_manifest.csv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Record REUSED_WINDOW_ATTRIBUTION_COMPLETE_NO_PROMOTION_AUTHORITY. The companion development deck records whether either candidate earned later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Project\Time-Series-Modeling-Gen5\operator_hypothesis_lab\docs\HYP_MOM_SMA_FOLLOWUP_SERIES_CONTRACT.md</a:t>
            </a:r>
          </a:p>
          <a:p xmlns:a="http://schemas.openxmlformats.org/drawingml/2006/main">
            <a:r>
              <a:t>- C:\Users\Franc\OneDrive\Documents\Francis\Peltata Project\Time-Series-Modeling-Gen5\operator_hypothesis_lab\docs\HYP_MOM_02_ATTRIBUTION_ATLAS_01_RESULTS.md</a:t>
            </a:r>
          </a:p>
          <a:p xmlns:a="http://schemas.openxmlformats.org/drawingml/2006/main">
            <a:r>
              <a:t>- C:\Users\Franc\OneDrive\Documents\Francis\Peltata Project\Time-Series-Modeling-Gen5\runs\research_workbench\operator_hypothesis_lab\hyp_mom_02_attribution_atlas_01_20260810\integrity_checks.csv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416797c09e4eb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153f03eeca44f71" /><Relationship Type="http://schemas.openxmlformats.org/officeDocument/2006/relationships/slideLayout" Target="/ppt/slideLayouts/slideLayout1.xml" Id="R18096fcd27eb4d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8096fcd27eb4d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4a20c0689b4404" /><Relationship Type="http://schemas.openxmlformats.org/officeDocument/2006/relationships/notesSlide" Target="/ppt/notesSlides/notesSlide1.xml" Id="Rdfcef4584def4b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60f1816ca543a7" /><Relationship Type="http://schemas.openxmlformats.org/officeDocument/2006/relationships/notesSlide" Target="/ppt/notesSlides/notesSlide2.xml" Id="R65e4ad5d851b477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b6b0332a74106" /><Relationship Type="http://schemas.openxmlformats.org/officeDocument/2006/relationships/notesSlide" Target="/ppt/notesSlides/notesSlide3.xml" Id="R6d80e0daacee42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04e5191d354054" /><Relationship Type="http://schemas.openxmlformats.org/officeDocument/2006/relationships/image" Target="/ppt/media/image.png" Id="Rb62aac9ab8704e74" /><Relationship Type="http://schemas.openxmlformats.org/officeDocument/2006/relationships/notesSlide" Target="/ppt/notesSlides/notesSlide4.xml" Id="R1489c206cc3544d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3c19ab07b44306" /><Relationship Type="http://schemas.openxmlformats.org/officeDocument/2006/relationships/notesSlide" Target="/ppt/notesSlides/notesSlide5.xml" Id="R22b41f4cdfab429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99d01a73b4b94" /><Relationship Type="http://schemas.openxmlformats.org/officeDocument/2006/relationships/image" Target="/ppt/media/image2.png" Id="R60fdf53e4ea24a01" /><Relationship Type="http://schemas.openxmlformats.org/officeDocument/2006/relationships/notesSlide" Target="/ppt/notesSlides/notesSlide6.xml" Id="Rc75fce3d606341d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d99f1c289345ca" /><Relationship Type="http://schemas.openxmlformats.org/officeDocument/2006/relationships/image" Target="/ppt/media/image3.png" Id="R93782e9dbd9b4397" /><Relationship Type="http://schemas.openxmlformats.org/officeDocument/2006/relationships/notesSlide" Target="/ppt/notesSlides/notesSlide7.xml" Id="Rdd99f1bcb22049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252a1c06b34fc7" /><Relationship Type="http://schemas.openxmlformats.org/officeDocument/2006/relationships/image" Target="/ppt/media/image4.png" Id="R3e169ced360c484b" /><Relationship Type="http://schemas.openxmlformats.org/officeDocument/2006/relationships/notesSlide" Target="/ppt/notesSlides/notesSlide8.xml" Id="Rd841fb91686642a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8e0e118361442e" /><Relationship Type="http://schemas.openxmlformats.org/officeDocument/2006/relationships/image" Target="/ppt/media/image5.png" Id="R3108bdb0ac924e5a" /><Relationship Type="http://schemas.openxmlformats.org/officeDocument/2006/relationships/notesSlide" Target="/ppt/notesSlides/notesSlide9.xml" Id="R3e9e563169ad431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bddf08096d44e5" /><Relationship Type="http://schemas.openxmlformats.org/officeDocument/2006/relationships/notesSlide" Target="/ppt/notesSlides/notesSlide10.xml" Id="R34ab85f459174e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bebde7e5f43e0" /><Relationship Type="http://schemas.openxmlformats.org/officeDocument/2006/relationships/image" Target="/ppt/media/image6.png" Id="Rd38df67572514fcb" /><Relationship Type="http://schemas.openxmlformats.org/officeDocument/2006/relationships/notesSlide" Target="/ppt/notesSlides/notesSlide11.xml" Id="Reff87e96294b4e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6dd775310e4eb4" /><Relationship Type="http://schemas.openxmlformats.org/officeDocument/2006/relationships/image" Target="/ppt/media/image7.png" Id="R8246c02578aa4f56" /><Relationship Type="http://schemas.openxmlformats.org/officeDocument/2006/relationships/notesSlide" Target="/ppt/notesSlides/notesSlide12.xml" Id="Rda928b56ed8744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4137a8d73437c" /><Relationship Type="http://schemas.openxmlformats.org/officeDocument/2006/relationships/image" Target="/ppt/media/image8.png" Id="R8c7d6b2e90234923" /><Relationship Type="http://schemas.openxmlformats.org/officeDocument/2006/relationships/notesSlide" Target="/ppt/notesSlides/notesSlide13.xml" Id="R92cb500e37d24a4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b6caa17844728" /><Relationship Type="http://schemas.openxmlformats.org/officeDocument/2006/relationships/notesSlide" Target="/ppt/notesSlides/notesSlide14.xml" Id="R67b058a5e1c549b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F2850D6-626C-4702-B3A5-913242C91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OPERATOR HYPOTHESIS LAB | HYP-MOM-02 ATTRIBUTION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920E502F-6535-4055-A9BE-D12FF5E8D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619250"/>
            <a:ext cx="1000125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What the faster exit</a:t>
            </a:r>
          </a:p>
          <a:p xmlns:a="http://schemas.openxmlformats.org/drawingml/2006/main">
            <a:pPr algn="l">
              <a:buNone/>
              <a:def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615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actually did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91618E6-EA10-4AA1-A9D9-ECA1B594B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9530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Entry confirmation | exit + lockout | re-entry | event-path attribution</a:t>
            </a:r>
          </a:p>
        </p:txBody>
      </p:sp>
    </p:spTree>
    <p:extLst>
      <p:ext uri="{BB962C8B-B14F-4D97-AF65-F5344CB8AC3E}">
        <p14:creationId xmlns:p14="http://schemas.microsoft.com/office/powerpoint/2010/main" val="162591339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9DC0BE-7D7C-438B-A7A5-20C6BCE1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program, two evidence roles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E354D2-2831-41A9-97B5-BEB09D2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E3D82B9-96A4-4AF2-B4F1-1EFBFC07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REUSED-WINDOW ATTRIBUTION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C2B1F2-ED44-427B-9B2F-87F26F40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119 eligible assets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2021-2023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Five one-change-at-a-time policies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 / 20 / 60-session event paths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C0FC27B-CFCD-427C-8FA1-D20FF19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C8E39E-F8D0-459F-BC1E-17F794F6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DISTINCT HISTORICAL DEVELOPMENT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AA6304-8804-4F58-BBB3-56FE196E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2016-2020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Two predeclared candidates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Nine conjunctive gates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 most one later nominee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1BEB97-ECD4-4DE9-BEEF-2B163AA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Attribution can generate an explanation—not promotion authority.</a:t>
            </a:r>
          </a:p>
        </p:txBody>
      </p:sp>
    </p:spTree>
    <p:extLst>
      <p:ext uri="{BB962C8B-B14F-4D97-AF65-F5344CB8AC3E}">
        <p14:creationId xmlns:p14="http://schemas.microsoft.com/office/powerpoint/2010/main" val="76045594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AF7DF4-6FAB-47AE-8237-62C39698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One change at a time separates mechanism from coincidence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9FFFBB4-A1C4-49DB-A263-E993A3922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B48B739-0D0E-4DBC-916A-0FCE83C1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SMA_N(t) = (1/N) sum[k=0..N-1] Close(t-k)   |   every decision uses completed t</a:t>
            </a:r>
          </a:p>
        </p:txBody>
      </p:sp>
      <p:sp>
        <p:nvSpPr>
          <p:cNvPr id="4" name="long">
            <a:extLst xmlns:a="http://schemas.openxmlformats.org/drawingml/2006/main">
              <a:ext uri="{FF2B5EF4-FFF2-40B4-BE49-F238E27FC236}">
                <a16:creationId xmlns:a16="http://schemas.microsoft.com/office/drawing/2014/main" id="{EC69CAE6-8AAD-4FBA-9F38-5A42F1D1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2F855A"/>
            </a:solidFill>
            <a:prstDash val="solid"/>
          </a:ln>
        </p:spPr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145D2253-738C-4C43-B15B-FFABEA24A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ENTRY / EXIT ATTRIBUTION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031AE6AA-54D4-4AF2-BF94-9FEBE769F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SMA200 baseline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SMA50 entry confirmation only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+ SMA50 exit and lockout only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Full 02.2 composite</a:t>
            </a:r>
          </a:p>
        </p:txBody>
      </p:sp>
      <p:sp>
        <p:nvSpPr>
          <p:cNvPr id="7" name="cash">
            <a:extLst xmlns:a="http://schemas.openxmlformats.org/drawingml/2006/main">
              <a:ext uri="{FF2B5EF4-FFF2-40B4-BE49-F238E27FC236}">
                <a16:creationId xmlns:a16="http://schemas.microsoft.com/office/drawing/2014/main" id="{DF4ED67E-87F9-4CE6-BD51-1F5D02C0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14625"/>
            <a:ext cx="4857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4DBE980-1F7B-4CCF-817A-10B500F6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095625"/>
            <a:ext cx="428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RE-ENTRY + EVENT ATTRIBUTION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225FCCA3-2F8D-4472-B008-94B724ED3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762375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Add SMA50 reclaim re-entry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Measure every fresh cross at 5 / 20 / 60 sessions</a:t>
            </a:r>
          </a:p>
          <a:p xmlns:a="http://schemas.openxmlformats.org/drawingml/2006/main">
            <a:pPr algn="ctr">
              <a:buNone/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Report absolute, SPY-relative, sector-relative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AF4BABD4-738B-4AA3-A8DE-07D878B0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150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Every path starts cash | signal after close | trade next open | 5 / 10 bp per-side costs</a:t>
            </a:r>
          </a:p>
        </p:txBody>
      </p:sp>
    </p:spTree>
    <p:extLst>
      <p:ext uri="{BB962C8B-B14F-4D97-AF65-F5344CB8AC3E}">
        <p14:creationId xmlns:p14="http://schemas.microsoft.com/office/powerpoint/2010/main" val="66547147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Frozen coverage: 119 of 122 assets; all context series complete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2aac9ab8704e74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7A6F2C5-0CC7-42C4-9022-9DA92B16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faster exit—not entry confirmation—did most of the work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744C0E72-CD70-442F-9D6D-AEBE9E5B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00D0EC92-420F-4225-9A4B-89834E0AD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+3.85 pp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121FA81-C2AD-4EBF-9DC5-1AAFBB192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return effect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B6ACE0D4-36D8-46BF-A408-7B9A807E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fast exit + lockout vs fresh 02.1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5B0110C4-F44C-4338-8384-0A89F3A0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+9.94 pp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AFBA501D-AB05-46C6-BBB6-CA2135415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median drawdown effect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8121E076-08FE-4819-B497-165DA6ABB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104 / 119 assets improved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006A699B-6F49-446B-83C3-94FF4CF1C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+0.24 pp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F0CD3EF-A914-4DE0-A1B6-DCA839195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entry-confirmation effect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1BCE0E9C-837F-4206-BC72-11AD8BFC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after the fast exit was fixed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7A4F7651-3EC4-4FE3-A7DA-05254B5C0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476500"/>
            <a:ext cx="247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3D8DFF"/>
                </a:solidFill>
                <a:latin typeface="Helvetica Neue"/>
                <a:ea typeface="Helvetica Neue"/>
                <a:cs typeface="Helvetica Neue"/>
              </a:rPr>
              <a:t>-2.07 pp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346A4F30-BE1B-4581-96BF-339249E2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619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re-entry repair effect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D79E203C-E445-4C39-9180-2B4626A0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4333875"/>
            <a:ext cx="219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only 53 / 119 improved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5BFB91CC-7BC8-4D0B-B421-4BCE0BDC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810250"/>
            <a:ext cx="1104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All effects are paired asset-level medians on the reused window.</a:t>
            </a:r>
          </a:p>
        </p:txBody>
      </p:sp>
    </p:spTree>
    <p:extLst>
      <p:ext uri="{BB962C8B-B14F-4D97-AF65-F5344CB8AC3E}">
        <p14:creationId xmlns:p14="http://schemas.microsoft.com/office/powerpoint/2010/main" val="198047337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mechanical decomposition points to exit discipline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fdf53e4ea24a01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Raw return improves as exposure falls—but timing remains weak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82e9dbd9b4397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Fresh crosses are mildly positive in absolute terms, not relative terms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8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169ced360c484b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115DA8-0B49-414F-8EA5-9A3C1C29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rising SMA200 is more informative than merely being above SMA50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DA0702F4-335F-40B5-968D-FDD0FEEF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08bdb0ac924e5a"/>
          <a:stretch xmlns:a="http://schemas.openxmlformats.org/drawingml/2006/main"/>
        </p:blipFill>
        <p:spPr>
          <a:xfrm xmlns:a="http://schemas.openxmlformats.org/drawingml/2006/main">
            <a:off x="1423988" y="1259681"/>
            <a:ext cx="9344025" cy="467201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02061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88D0AD1C-2382-453F-B146-6CAC28A8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RE-ENTRY PATH AUDIT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33393986-0A74-4753-87AC-8DDD3E18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476375"/>
            <a:ext cx="10477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simple repair creates</a:t>
            </a:r>
          </a:p>
          <a:p xmlns:a="http://schemas.openxmlformats.org/drawingml/2006/main">
            <a:pPr algn="l">
              <a:buNone/>
              <a:def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51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more chances—and more ways to fail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25A15E20-EF6B-40D6-B6F6-5D435617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238750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Three mechanically selected tapes compare repaired re-entry with strict 02.2.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CE0504D3-E372-4FC6-9924-4E54F8A4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7615022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MS: the median repair added exposure but reduced return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8df67572514fcb"/>
          <a:stretch xmlns:a="http://schemas.openxmlformats.org/drawingml/2006/main"/>
        </p:blipFill>
        <p:spPr>
          <a:xfrm xmlns:a="http://schemas.openxmlformats.org/drawingml/2006/main">
            <a:off x="2202656" y="1000125"/>
            <a:ext cx="778668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GE: one favorable path cannot define the panel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46c02578aa4f56"/>
          <a:stretch xmlns:a="http://schemas.openxmlformats.org/drawingml/2006/main"/>
        </p:blipFill>
        <p:spPr>
          <a:xfrm xmlns:a="http://schemas.openxmlformats.org/drawingml/2006/main">
            <a:off x="2202656" y="1000125"/>
            <a:ext cx="778668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310C7D0-FC49-4B06-B30D-188DD2AEA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TSLA: repeated re-entry can destroy a prior winner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1B7F8726-F4FD-42B3-89C1-5E3B730E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13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7d6b2e90234923"/>
          <a:stretch xmlns:a="http://schemas.openxmlformats.org/drawingml/2006/main"/>
        </p:blipFill>
        <p:spPr>
          <a:xfrm xmlns:a="http://schemas.openxmlformats.org/drawingml/2006/main">
            <a:off x="2202656" y="1000125"/>
            <a:ext cx="7786688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465760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99DC0BE-7D7C-438B-A7A5-20C6BCE1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109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03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Attribution explains the defense—but does not establish alpha</a:t>
            </a:r>
          </a:p>
        </p:txBody>
      </p:sp>
      <p:sp>
        <p:nvSpPr>
          <p:cNvPr id="2" name="text">
            <a:extLst xmlns:a="http://schemas.openxmlformats.org/drawingml/2006/main">
              <a:ext uri="{FF2B5EF4-FFF2-40B4-BE49-F238E27FC236}">
                <a16:creationId xmlns:a16="http://schemas.microsoft.com/office/drawing/2014/main" id="{59E354D2-2831-41A9-97B5-BEB09D259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14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998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14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5E3D82B9-96A4-4AF2-B4F1-1EFBFC07F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F855A"/>
                </a:solidFill>
                <a:latin typeface="Helvetica Neue"/>
                <a:ea typeface="Helvetica Neue"/>
                <a:cs typeface="Helvetica Neue"/>
              </a:rPr>
              <a:t>WHAT THE ATLAS SUPPORTS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F7C2B1F2-ED44-427B-9B2F-87F26F407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38375"/>
            <a:ext cx="476250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Exit/lockout did most of 02.2's work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SMA50 entry confirmation added little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Simple reclaim re-entry deteriorated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Rising SMA200 deserves a distinct question</a:t>
            </a:r>
          </a:p>
        </p:txBody>
      </p:sp>
      <p:sp>
        <p:nvSpPr>
          <p:cNvPr id="5" name="divider">
            <a:extLst xmlns:a="http://schemas.openxmlformats.org/drawingml/2006/main">
              <a:ext uri="{FF2B5EF4-FFF2-40B4-BE49-F238E27FC236}">
                <a16:creationId xmlns:a16="http://schemas.microsoft.com/office/drawing/2014/main" id="{4C0FC27B-CFCD-427C-8FA1-D20FF191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428750"/>
            <a:ext cx="190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ACC8E39E-F8D0-459F-BC1E-17F794F6A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71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C53030"/>
                </a:solidFill>
                <a:latin typeface="Helvetica Neue"/>
                <a:ea typeface="Helvetica Neue"/>
                <a:cs typeface="Helvetica Neue"/>
              </a:rPr>
              <a:t>WHAT IT DOES NOT SUPPORT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43AA6304-8804-4F58-BBB3-56FE196E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Optimal SMA lengths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Asset or sector selection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Positive relative timing skill</a:t>
            </a:r>
          </a:p>
          <a:p xmlns:a="http://schemas.openxmlformats.org/drawingml/2006/main">
            <a:pPr algn="l">
              <a:buNone/>
              <a:def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Portfolio or live authority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41BEB97-ECD4-4DE9-BEEF-2B163AAF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667085"/>
                </a:solidFill>
                <a:latin typeface="Helvetica Neue"/>
                <a:ea typeface="Helvetica Neue"/>
                <a:cs typeface="Helvetica Neue"/>
              </a:rPr>
              <a:t>Next step: only the already-frozen candidates may face distinct-history gates.</a:t>
            </a:r>
          </a:p>
        </p:txBody>
      </p:sp>
    </p:spTree>
    <p:extLst>
      <p:ext uri="{BB962C8B-B14F-4D97-AF65-F5344CB8AC3E}">
        <p14:creationId xmlns:p14="http://schemas.microsoft.com/office/powerpoint/2010/main" val="760455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2026-08-10T10:49:42.6060000Z</dcterms:created>
  <dcterms:modified xsi:type="dcterms:W3CDTF">2026-08-10T10:49:42.6060000Z</dcterms:modified>
</coreProperties>
</file>