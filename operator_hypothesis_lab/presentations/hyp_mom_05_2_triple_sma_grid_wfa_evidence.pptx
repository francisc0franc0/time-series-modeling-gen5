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8f30f3ef9742f0" /><Relationship Type="http://schemas.openxmlformats.org/officeDocument/2006/relationships/extended-properties" Target="/docProps/app.xml" Id="R4cb1e811662e4080" /><Relationship Type="http://schemas.openxmlformats.org/officeDocument/2006/relationships/officeDocument" Target="/ppt/presentation.xml" Id="R60977b98badc4b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b9c98b2d154cd9"/>
  </p:sldMasterIdLst>
  <p:notesMasterIdLst>
    <p:notesMasterId xmlns:r="http://schemas.openxmlformats.org/officeDocument/2006/relationships" r:id="R2bb56071d3314718"/>
  </p:notesMasterIdLst>
  <p:sldIdLst>
    <p:sldId xmlns:r="http://schemas.openxmlformats.org/officeDocument/2006/relationships" id="256" r:id="Rd4e661fa508849e1"/>
    <p:sldId xmlns:r="http://schemas.openxmlformats.org/officeDocument/2006/relationships" id="257" r:id="Reead3231b1d249b0"/>
    <p:sldId xmlns:r="http://schemas.openxmlformats.org/officeDocument/2006/relationships" id="258" r:id="R66b7ef882bc841d5"/>
    <p:sldId xmlns:r="http://schemas.openxmlformats.org/officeDocument/2006/relationships" id="259" r:id="Rde5bf18c3e7d49b3"/>
    <p:sldId xmlns:r="http://schemas.openxmlformats.org/officeDocument/2006/relationships" id="260" r:id="Rc92ef1e5db58421a"/>
    <p:sldId xmlns:r="http://schemas.openxmlformats.org/officeDocument/2006/relationships" id="261" r:id="R277a156e0b024fbd"/>
    <p:sldId xmlns:r="http://schemas.openxmlformats.org/officeDocument/2006/relationships" id="262" r:id="R83154b712b4140e9"/>
    <p:sldId xmlns:r="http://schemas.openxmlformats.org/officeDocument/2006/relationships" id="263" r:id="R7ca41c2ffb964ce6"/>
    <p:sldId xmlns:r="http://schemas.openxmlformats.org/officeDocument/2006/relationships" id="264" r:id="R16a3992f38dc4d85"/>
    <p:sldId xmlns:r="http://schemas.openxmlformats.org/officeDocument/2006/relationships" id="265" r:id="R7c25d1c40fb647e5"/>
    <p:sldId xmlns:r="http://schemas.openxmlformats.org/officeDocument/2006/relationships" id="266" r:id="R4058c41dea2d4c9b"/>
    <p:sldId xmlns:r="http://schemas.openxmlformats.org/officeDocument/2006/relationships" id="267" r:id="R37e241e9a8814b1b"/>
    <p:sldId xmlns:r="http://schemas.openxmlformats.org/officeDocument/2006/relationships" id="268" r:id="R09185284ffc34e68"/>
    <p:sldId xmlns:r="http://schemas.openxmlformats.org/officeDocument/2006/relationships" id="269" r:id="Rf7a432e4388240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a65e083a834083" /><Relationship Type="http://schemas.openxmlformats.org/officeDocument/2006/relationships/slideMaster" Target="/ppt/slideMasters/slideMaster1.xml" Id="Rbdb9c98b2d154cd9" /><Relationship Type="http://schemas.openxmlformats.org/officeDocument/2006/relationships/notesMaster" Target="/ppt/notesMasters/notesMaster1.xml" Id="R2bb56071d3314718" /><Relationship Type="http://schemas.openxmlformats.org/officeDocument/2006/relationships/presProps" Target="/ppt/presProps.xml" Id="Ra753dab95d3649a5" /><Relationship Type="http://schemas.openxmlformats.org/officeDocument/2006/relationships/tableStyles" Target="/ppt/tableStyles.xml" Id="R5ca401f7621d4263" /><Relationship Type="http://schemas.openxmlformats.org/officeDocument/2006/relationships/slide" Target="/ppt/slides/slide1.xml" Id="Rd4e661fa508849e1" /><Relationship Type="http://schemas.openxmlformats.org/officeDocument/2006/relationships/slide" Target="/ppt/slides/slide2.xml" Id="Reead3231b1d249b0" /><Relationship Type="http://schemas.openxmlformats.org/officeDocument/2006/relationships/slide" Target="/ppt/slides/slide3.xml" Id="R66b7ef882bc841d5" /><Relationship Type="http://schemas.openxmlformats.org/officeDocument/2006/relationships/slide" Target="/ppt/slides/slide4.xml" Id="Rde5bf18c3e7d49b3" /><Relationship Type="http://schemas.openxmlformats.org/officeDocument/2006/relationships/slide" Target="/ppt/slides/slide5.xml" Id="Rc92ef1e5db58421a" /><Relationship Type="http://schemas.openxmlformats.org/officeDocument/2006/relationships/slide" Target="/ppt/slides/slide6.xml" Id="R277a156e0b024fbd" /><Relationship Type="http://schemas.openxmlformats.org/officeDocument/2006/relationships/slide" Target="/ppt/slides/slide7.xml" Id="R83154b712b4140e9" /><Relationship Type="http://schemas.openxmlformats.org/officeDocument/2006/relationships/slide" Target="/ppt/slides/slide8.xml" Id="R7ca41c2ffb964ce6" /><Relationship Type="http://schemas.openxmlformats.org/officeDocument/2006/relationships/slide" Target="/ppt/slides/slide9.xml" Id="R16a3992f38dc4d85" /><Relationship Type="http://schemas.openxmlformats.org/officeDocument/2006/relationships/slide" Target="/ppt/slides/slide10.xml" Id="R7c25d1c40fb647e5" /><Relationship Type="http://schemas.openxmlformats.org/officeDocument/2006/relationships/slide" Target="/ppt/slides/slide11.xml" Id="R4058c41dea2d4c9b" /><Relationship Type="http://schemas.openxmlformats.org/officeDocument/2006/relationships/slide" Target="/ppt/slides/slide12.xml" Id="R37e241e9a8814b1b" /><Relationship Type="http://schemas.openxmlformats.org/officeDocument/2006/relationships/slide" Target="/ppt/slides/slide13.xml" Id="R09185284ffc34e68" /><Relationship Type="http://schemas.openxmlformats.org/officeDocument/2006/relationships/slide" Target="/ppt/slides/slide14.xml" Id="Rf7a432e4388240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1a4c57fb5842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06ca84a9984fac" /><Relationship Type="http://schemas.openxmlformats.org/officeDocument/2006/relationships/notesMaster" Target="/ppt/notesMasters/notesMaster1.xml" Id="Rc695c76c0fbb46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328730db8f4778" /><Relationship Type="http://schemas.openxmlformats.org/officeDocument/2006/relationships/notesMaster" Target="/ppt/notesMasters/notesMaster1.xml" Id="R7bcc846d3c2743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e08c4f98b94fe7" /><Relationship Type="http://schemas.openxmlformats.org/officeDocument/2006/relationships/notesMaster" Target="/ppt/notesMasters/notesMaster1.xml" Id="Re4baa86fd3a645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13631465204763" /><Relationship Type="http://schemas.openxmlformats.org/officeDocument/2006/relationships/notesMaster" Target="/ppt/notesMasters/notesMaster1.xml" Id="Rfbc55bf2491640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bc179d0a741d0" /><Relationship Type="http://schemas.openxmlformats.org/officeDocument/2006/relationships/notesMaster" Target="/ppt/notesMasters/notesMaster1.xml" Id="Re8a1502f6c0242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195370aae44990" /><Relationship Type="http://schemas.openxmlformats.org/officeDocument/2006/relationships/notesMaster" Target="/ppt/notesMasters/notesMaster1.xml" Id="Re008dadad82340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2ea63c4f9b4319" /><Relationship Type="http://schemas.openxmlformats.org/officeDocument/2006/relationships/notesMaster" Target="/ppt/notesMasters/notesMaster1.xml" Id="Ra7fb8ba1d71540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6a621a2b1948a2" /><Relationship Type="http://schemas.openxmlformats.org/officeDocument/2006/relationships/notesMaster" Target="/ppt/notesMasters/notesMaster1.xml" Id="R6e7c6df7fadc48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aa7ee068274a6f" /><Relationship Type="http://schemas.openxmlformats.org/officeDocument/2006/relationships/notesMaster" Target="/ppt/notesMasters/notesMaster1.xml" Id="R0f0f7cd3984b40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303b30de30403b" /><Relationship Type="http://schemas.openxmlformats.org/officeDocument/2006/relationships/notesMaster" Target="/ppt/notesMasters/notesMaster1.xml" Id="R467698a083484d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95209015364d53" /><Relationship Type="http://schemas.openxmlformats.org/officeDocument/2006/relationships/notesMaster" Target="/ppt/notesMasters/notesMaster1.xml" Id="R66fa5b0bcb3449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1264d4423b43ff" /><Relationship Type="http://schemas.openxmlformats.org/officeDocument/2006/relationships/notesMaster" Target="/ppt/notesMasters/notesMaster1.xml" Id="Rd4d9b014734649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6b31facf1d4be5" /><Relationship Type="http://schemas.openxmlformats.org/officeDocument/2006/relationships/notesMaster" Target="/ppt/notesMasters/notesMaster1.xml" Id="Ra98abf9a627441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30565e37514178" /><Relationship Type="http://schemas.openxmlformats.org/officeDocument/2006/relationships/notesMaster" Target="/ppt/notesMasters/notesMaster1.xml" Id="Rca8d1461551347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why parameter selection is itself a model, how the frozen selector works, whether it transported, and why 2024+ remains sealed.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Project/Time-Series-Modeling-Gen5/operator_hypothesis_lab/docs/HYP_MOM_05_2_TRIPLE_SMA_GRID_WFA_CONTRACT.md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H05.2 is numbered as a substantive same-family revision because training-time parameter selection becomes part of the strategy model. It is not a minor tuning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Project/Time-Series-Modeling-Gen5/operator_hypothesis_lab/docs/HYP_MOM_05_2_TRIPLE_SMA_GRID_WFA_CONTRACT.md</a:t>
            </a:r>
          </a:p>
          <a:p xmlns:a="http://schemas.openxmlformats.org/drawingml/2006/main">
            <a:r>
              <a:t>- C:/Users/Franc/OneDrive/Documents/Francis/Peltata Project/Time-Series-Modeling-Gen5/operator_hypothesis_lab/docs/HYP_MOM_05_2_TRIPLE_SMA_GRID_WFA_RESULTS.md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grid does not include delays, slopes, volatility filters, other moving-average types, asset-specific parameters, or exit changes. Those would be new mechanisms rather than horizon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Project/Time-Series-Modeling-Gen5/operator_hypothesis_lab/docs/HYP_MOM_05_2_TRIPLE_SMA_GRID_WFA_CONTRACT.md</a:t>
            </a:r>
          </a:p>
          <a:p xmlns:a="http://schemas.openxmlformats.org/drawingml/2006/main">
            <a:r>
              <a:t>- C:/Users/Franc/OneDrive/Documents/Francis/Peltata Project/Time-Series-Modeling-Gen5/operator_hypothesis_lab/R/hyp_mom_05_2_triple_sma_grid_wfa.R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score is deliberately a simple rank composite, not a tuned utility function. Candidate-specific SMA-medium and ordered-stack controls ensure the hybrid must add value beyond its component trend rules during TRAIN.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Project/Time-Series-Modeling-Gen5/operator_hypothesis_lab/docs/HYP_MOM_05_2_TRIPLE_SMA_GRID_WFA_CONTRACT.md</a:t>
            </a:r>
          </a:p>
          <a:p xmlns:a="http://schemas.openxmlformats.org/drawingml/2006/main">
            <a:r>
              <a:t>- C:/Users/Franc/OneDrive/Documents/Francis/Peltata Project/Time-Series-Modeling-Gen5/operator_hypothesis_lab/R/hyp_mom_05_2_triple_sma_grid_wfa.R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cache was already refreshed for H05.1. The three exclusions follow frozen coverage requirements; the remaining 119 assets have the full SPY-session development calendar and sufficient prehistory.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Project/Time-Series-Modeling-Gen5/runs/research_workbench/operator_hypothesis_lab/hyp_mom_05_2_triple_sma_grid_wfa_20260813/hyp_mom_05_2_run_spec.csv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Project/Time-Series-Modeling-Gen5/runs/research_workbench/operator_hypothesis_lab/hyp_mom_05_2_triple_sma_grid_wfa_20260813/hyp_mom_05_2_coverage.csv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Project/Time-Series-Modeling-Gen5/runs/research_workbench/operator_hypothesis_lab/hyp_mom_05_2_triple_sma_grid_wfa_20260813/hyp_mom_05_2_integrity.csv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Project/Time-Series-Modeling-Gen5/runs/research_workbench/operator_hypothesis_lab/hyp_mom_05_2_triple_sma_grid_wfa_20260813/hyp_mom_05_2_query_health.csv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20/50/120 repetition is evidence that the training preference became more stable, not that it was profitable. The selected cell was never the best candidate in its next block.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Project/Time-Series-Modeling-Gen5/runs/research_workbench/operator_hypothesis_lab/hyp_mom_05_2_triple_sma_grid_wfa_20260813/hyp_mom_05_2_selections.csv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Project/Time-Series-Modeling-Gen5/runs/research_workbench/operator_hypothesis_lab/hyp_mom_05_2_triple_sma_grid_wfa_20260813/hyp_mom_05_2_selection_surface.csv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Project/Time-Series-Modeling-Gen5/runs/research_workbench/operator_hypothesis_lab/hyp_mom_05_2_triple_sma_grid_wfa_20260813/hyp_mom_05_2_block_scorecard.csv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broad later plateaus protect against an isolated single-cell optimum, but the surface is multi-modal rather than one coherent ridge. One early fold contained only two admissible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Project/Time-Series-Modeling-Gen5/runs/research_workbench/operator_hypothesis_lab/hyp_mom_05_2_triple_sma_grid_wfa_20260813/hyp_mom_05_2_selection_surface.csv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Project/Time-Series-Modeling-Gen5/runs/research_workbench/operator_hypothesis_lab/hyp_mom_05_2_triple_sma_grid_wfa_20260813/hyp_mom_05_2_selections.csv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1× median Sharpe was -0.448, median maximum drawdown -14.04%, median exposure 12.6%, and median hit rate 25%. Only integrity passed.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Project/Time-Series-Modeling-Gen5/runs/research_workbench/operator_hypothesis_lab/hyp_mom_05_2_triple_sma_grid_wfa_20260813/hyp_mom_05_2_panel_summary.csv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Project/Time-Series-Modeling-Gen5/runs/research_workbench/operator_hypothesis_lab/hyp_mom_05_2_triple_sma_grid_wfa_20260813/hyp_mom_05_2_fold_panel.csv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Project/Time-Series-Modeling-Gen5/runs/research_workbench/operator_hypothesis_lab/hyp_mom_05_2_triple_sma_grid_wfa_20260813/hyp_mom_05_2_gates.csv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500 circular shifts preserve each selected schedule's exposure pattern within its fold and compound like-numbered simulations across folds. They are matched timing diagnostics, not a formal market null.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Project/Time-Series-Modeling-Gen5/runs/research_workbench/operator_hypothesis_lab/hyp_mom_05_2_triple_sma_grid_wfa_20260813/hyp_mom_05_2_fold_panel.csv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Project/Time-Series-Modeling-Gen5/runs/research_workbench/operator_hypothesis_lab/hyp_mom_05_2_triple_sma_grid_wfa_20260813/hyp_mom_05_2_panel_summary.csv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Project/Time-Series-Modeling-Gen5/runs/research_workbench/operator_hypothesis_lab/hyp_mom_05_2_triple_sma_grid_wfa_20260813/hyp_mom_05_2_random_compounded.csv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1×, median excess return was -4.80 pp vs buy-and-hold, -3.32 pp vs medium-SMA-only, and +3.80 pp vs ordered-stack-only. Stress costs reduced median return to -7.77%. Median 1.8× financing cost was 1.16% of initial wealth.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Project/Time-Series-Modeling-Gen5/runs/research_workbench/operator_hypothesis_lab/hyp_mom_05_2_triple_sma_grid_wfa_20260813/hyp_mom_05_2_baseline_comparisons.csv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Project/Time-Series-Modeling-Gen5/runs/research_workbench/operator_hypothesis_lab/hyp_mom_05_2_triple_sma_grid_wfa_20260813/hyp_mom_05_2_cost_summary.csv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Project/Time-Series-Modeling-Gen5/runs/research_workbench/operator_hypothesis_lab/hyp_mom_05_2_triple_sma_grid_wfa_20260813/hyp_mom_05_2_panel_summary.csv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Energy had a positive sector median (+0.38%). The original-22 median was -1.86%, diversified-core -6.29%, and retail-attention -18.59%. These are diagnostics, not subgroup-selection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Project/Time-Series-Modeling-Gen5/runs/research_workbench/operator_hypothesis_lab/hyp_mom_05_2_triple_sma_grid_wfa_20260813/hyp_mom_05_2_entry_summary.csv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Project/Time-Series-Modeling-Gen5/runs/research_workbench/operator_hypothesis_lab/hyp_mom_05_2_triple_sma_grid_wfa_20260813/hyp_mom_05_2_fold_trades.csv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Project/Time-Series-Modeling-Gen5/runs/research_workbench/operator_hypothesis_lab/hyp_mom_05_2_triple_sma_grid_wfa_20260813/hyp_mom_05_2_sector_summary.csv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Project/Time-Series-Modeling-Gen5/runs/research_workbench/operator_hypothesis_lab/hyp_mom_05_2_triple_sma_grid_wfa_20260813/hyp_mom_05_2_stitched_summaries.csv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tapes illustrate behavior and are not asset nominees. META's result came from one long activation trade; its matched-shift percentile was only 3%, showing that the exact timing did not beat most exposure-matched placements.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Project/Time-Series-Modeling-Gen5/runs/research_workbench/operator_hypothesis_lab/hyp_mom_05_2_triple_sma_grid_wfa_20260813/hyp_mom_05_2_tape_manifest.csv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Project/Time-Series-Modeling-Gen5/runs/research_workbench/operator_hypothesis_lab/hyp_mom_05_2_triple_sma_grid_wfa_20260813/hyp_mom_05_2_fold_summaries.csv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Project/Time-Series-Modeling-Gen5/runs/research_workbench/operator_hypothesis_lab/hyp_mom_05_2_triple_sma_grid_wfa_20260813/hyp_mom_05_2_fold_trades.csv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BABA is the minimum-return asset. ORLY ties for the maximum trade count and was chosen as the distinct representative after enforcing unique tape identities.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Project/Time-Series-Modeling-Gen5/runs/research_workbench/operator_hypothesis_lab/hyp_mom_05_2_triple_sma_grid_wfa_20260813/hyp_mom_05_2_tape_manifest.csv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Project/Time-Series-Modeling-Gen5/runs/research_workbench/operator_hypothesis_lab/hyp_mom_05_2_triple_sma_grid_wfa_20260813/hyp_mom_05_2_fold_trades.csv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integrity passed (1/7 gates). Do not access 2024+ confirmation, widen the parameter grid, or select favorable cells, assets, sectors, or cohorts under HYP-MOM-05.2.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Project/Time-Series-Modeling-Gen5/operator_hypothesis_lab/docs/HYP_MOM_05_2_TRIPLE_SMA_GRID_WFA_RESULTS.md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Project/Time-Series-Modeling-Gen5/runs/research_workbench/operator_hypothesis_lab/hyp_mom_05_2_triple_sma_grid_wfa_20260813/hyp_mom_05_2_gates.csv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Project/Time-Series-Modeling-Gen5/runs/research_workbench/operator_hypothesis_lab/hyp_mom_05_2_triple_sma_grid_wfa_20260813/hyp_mom_05_2_panel_summary.csv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Project/Time-Series-Modeling-Gen5/runs/research_workbench/operator_hypothesis_lab/hyp_mom_05_2_triple_sma_grid_wfa_20260813/hyp_mom_05_2_entry_summary.csv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f4d87b39042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2aa36a091d4f59" /><Relationship Type="http://schemas.openxmlformats.org/officeDocument/2006/relationships/slideLayout" Target="/ppt/slideLayouts/slideLayout1.xml" Id="Ra3d0f6e16a0845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d0f6e16a0845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ed733b8b446a7" /><Relationship Type="http://schemas.openxmlformats.org/officeDocument/2006/relationships/notesSlide" Target="/ppt/notesSlides/notesSlide1.xml" Id="R45d0ee391a624c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c07036d134b85" /><Relationship Type="http://schemas.openxmlformats.org/officeDocument/2006/relationships/notesSlide" Target="/ppt/notesSlides/notesSlide2.xml" Id="R0244c4004a9442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15fab630442cc" /><Relationship Type="http://schemas.openxmlformats.org/officeDocument/2006/relationships/notesSlide" Target="/ppt/notesSlides/notesSlide3.xml" Id="R33db98fbecfa4f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dcd33dd154b66" /><Relationship Type="http://schemas.openxmlformats.org/officeDocument/2006/relationships/notesSlide" Target="/ppt/notesSlides/notesSlide4.xml" Id="Rf7f159667f7f47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aeaadac7d447d" /><Relationship Type="http://schemas.openxmlformats.org/officeDocument/2006/relationships/image" Target="/ppt/media/image.png" Id="Rcbdd4ee313ec49e8" /><Relationship Type="http://schemas.openxmlformats.org/officeDocument/2006/relationships/notesSlide" Target="/ppt/notesSlides/notesSlide5.xml" Id="R7f89872efa9e48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34c2200ba47ba" /><Relationship Type="http://schemas.openxmlformats.org/officeDocument/2006/relationships/image" Target="/ppt/media/image2.png" Id="R778e7cc804064f69" /><Relationship Type="http://schemas.openxmlformats.org/officeDocument/2006/relationships/notesSlide" Target="/ppt/notesSlides/notesSlide6.xml" Id="R454cf916d36b45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e8f2140c84ecd" /><Relationship Type="http://schemas.openxmlformats.org/officeDocument/2006/relationships/image" Target="/ppt/media/image3.png" Id="Rc918f141094b48ff" /><Relationship Type="http://schemas.openxmlformats.org/officeDocument/2006/relationships/image" Target="/ppt/media/image4.png" Id="R2119ac08e72441d2" /><Relationship Type="http://schemas.openxmlformats.org/officeDocument/2006/relationships/notesSlide" Target="/ppt/notesSlides/notesSlide7.xml" Id="R41be2af6262941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ba4bf274e4788" /><Relationship Type="http://schemas.openxmlformats.org/officeDocument/2006/relationships/notesSlide" Target="/ppt/notesSlides/notesSlide8.xml" Id="R5a58632b4bf741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5b8ac6ede4059" /><Relationship Type="http://schemas.openxmlformats.org/officeDocument/2006/relationships/image" Target="/ppt/media/image5.png" Id="Rd06820683be1491d" /><Relationship Type="http://schemas.openxmlformats.org/officeDocument/2006/relationships/notesSlide" Target="/ppt/notesSlides/notesSlide9.xml" Id="R1cf1f6f38db446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2c481d6ef4021" /><Relationship Type="http://schemas.openxmlformats.org/officeDocument/2006/relationships/image" Target="/ppt/media/image6.png" Id="R1a774c2258ce469a" /><Relationship Type="http://schemas.openxmlformats.org/officeDocument/2006/relationships/image" Target="/ppt/media/image7.png" Id="R7aa31515f9f64aae" /><Relationship Type="http://schemas.openxmlformats.org/officeDocument/2006/relationships/notesSlide" Target="/ppt/notesSlides/notesSlide10.xml" Id="R216f8e0e99884a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dad148e8e41b0" /><Relationship Type="http://schemas.openxmlformats.org/officeDocument/2006/relationships/image" Target="/ppt/media/image8.png" Id="R8cc5b93b0e554d52" /><Relationship Type="http://schemas.openxmlformats.org/officeDocument/2006/relationships/notesSlide" Target="/ppt/notesSlides/notesSlide11.xml" Id="Rd06432ceb3454e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37bd63be04e81" /><Relationship Type="http://schemas.openxmlformats.org/officeDocument/2006/relationships/image" Target="/ppt/media/image9.png" Id="R3cc34277c97b4078" /><Relationship Type="http://schemas.openxmlformats.org/officeDocument/2006/relationships/image" Target="/ppt/media/image10.png" Id="R062c8365d80346b2" /><Relationship Type="http://schemas.openxmlformats.org/officeDocument/2006/relationships/notesSlide" Target="/ppt/notesSlides/notesSlide12.xml" Id="R4f36de3547af48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012db198a4315" /><Relationship Type="http://schemas.openxmlformats.org/officeDocument/2006/relationships/image" Target="/ppt/media/image11.png" Id="R0ab35da8af644330" /><Relationship Type="http://schemas.openxmlformats.org/officeDocument/2006/relationships/image" Target="/ppt/media/image12.png" Id="Ra7ff0b185ece41b2" /><Relationship Type="http://schemas.openxmlformats.org/officeDocument/2006/relationships/notesSlide" Target="/ppt/notesSlides/notesSlide13.xml" Id="R507f9ac0841b49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88e62ef3a44a3" /><Relationship Type="http://schemas.openxmlformats.org/officeDocument/2006/relationships/notesSlide" Target="/ppt/notesSlides/notesSlide14.xml" Id="R842fcfa5c0084d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C5508-25D2-47FD-B1B3-42E1A942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OPERATOR HYPOTHESIS LAB • WALK-FORWARD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7F61B-4484-40B4-9E17-753B0D3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HYP-MOM-05.2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4B250-A6AA-4A6A-91BB-0EF41314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7925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Can historical data select</a:t>
            </a:r>
          </a:p>
          <a:p xmlns:a="http://schemas.openxmlformats.org/drawingml/2006/main">
            <a:pPr algn="l">
              <a:defRPr sz="4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useful triple-SMA rule?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42F9C-6458-4171-93A2-1CC5465E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A frozen 27-triplet grid, global training-only selection, and four causal half-year tests across a 122-stock registry.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08036-BA54-4EC4-993A-4EB6E392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90625"/>
            <a:ext cx="26479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F7AC0-9FA8-4120-8E97-AF332D17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383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05AA9-BF1B-4A57-9B7F-D750C9D7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33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triplets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66534-8291-44DC-8EDE-DD50F6AB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03018-618E-499B-A268-6F61E67B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0DDBE-4595-4A45-9A4D-F38510F5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52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half-year blocks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CE535-9F93-4F94-B6C8-28D105CF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243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654C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654C4"/>
                </a:solidFill>
                <a:latin typeface="Arial"/>
                <a:ea typeface="Arial"/>
                <a:cs typeface="Arial"/>
              </a:rPr>
              <a:t>4 outer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49BCB-F015-434C-9BA8-906ACA5A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13 AUG 2026</a:t>
            </a:r>
          </a:p>
        </p:txBody>
      </p:sp>
    </p:spTree>
    <p:extLst>
      <p:ext uri="{BB962C8B-B14F-4D97-AF65-F5344CB8AC3E}">
        <p14:creationId xmlns:p14="http://schemas.microsoft.com/office/powerpoint/2010/main" val="4460508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633C2-C050-431C-9F41-02187DF2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parameter grid changes the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2CDD0-DBB4-4FDB-98A9-DE3852DD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79022-1CCD-4E9C-BB12-57E028D6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4E05A-2ADD-4AFC-BFA5-4392F187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H05.1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3B7E8-ABF6-4E83-AD59-FB1D213B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Does one fixed</a:t>
            </a:r>
          </a:p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15 / 30 / 45 rule work?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4BE14-FFAA-48AC-8722-A9CD38AA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4667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One rule was frozen before outcomes. Its negative result could mean either the mechanics were weak or the chosen horizons were unrepresentative.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9C5C1-CA58-40F8-9111-F52B9BCC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097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795DD-C091-44F3-B190-DC391B31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09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H05.2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7261C-290E-42A6-86A9-ED597340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500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Can TRAIN select a portable</a:t>
            </a:r>
          </a:p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member of a frozen family?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CA927-70D3-4527-AE07-B71DA99E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4857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The model now includes the grid, training score, uncertainty tolerance, tie-break, refit schedule, and trading rule. Every component must generalize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B3189-C049-4C05-969E-A563C9CB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0706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820B5-512E-427B-A543-2E0CB549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015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Finding the best full-sample triplet would answer only “what won retrospectively?” Walk-forward selection asks whether the choice could have been made before the next block occurred.</a:t>
            </a:r>
          </a:p>
        </p:txBody>
      </p:sp>
    </p:spTree>
    <p:extLst>
      <p:ext uri="{BB962C8B-B14F-4D97-AF65-F5344CB8AC3E}">
        <p14:creationId xmlns:p14="http://schemas.microsoft.com/office/powerpoint/2010/main" val="1878591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275CA-41AD-4F20-A19E-8C47EAF9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grid varies horizons—not 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2FE1B-FE9E-49CA-9C2B-3607FC3B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AAAB2-2D6B-4A16-9A34-167211C2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D540D-7306-4F16-9EEB-0F5B46E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FROZEN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09D64-996B-4C03-86D6-1F5BBF6D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Fast ∈ {10, 15, 20}</a:t>
            </a:r>
          </a:p>
          <a:p xmlns:a="http://schemas.openxmlformats.org/drawingml/2006/main">
            <a:pPr algn="l">
              <a:defRPr sz="21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Medium ∈ {30, 40, 50}</a:t>
            </a:r>
          </a:p>
          <a:p xmlns:a="http://schemas.openxmlformats.org/drawingml/2006/main">
            <a:pPr algn="l">
              <a:defRPr sz="21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Slow ∈ {60, 90, 120}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973A1-5F32-4545-969F-BCAA350C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All 27 combinations satisfy Fast &lt; Medium &lt; Slow. Longer slow averages test whether 15/30/45 viewed price at overly similar speeds.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A8035-1939-47BF-980E-E9A41269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81125"/>
            <a:ext cx="5505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7485E-B876-421B-84D4-A06E070D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UNCHANGED STATE MACHINE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82311-F174-409B-B475-03768A3A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ORDERED(t) = SMAF(t) &gt; SMAM(t) &gt; SMAS(t)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2C059-50BD-48B7-9506-4A3B81AE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46672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  Fresh ordered activation + Close &gt; SMAM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    → enter next open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2  Close ≤ SMAM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    → exit next open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3  After exit, fresh SMAM reclaim while ordered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    → re-enter next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D09B0-225F-4032-A7D3-F59D4E3B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654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654C4"/>
                </a:solidFill>
                <a:latin typeface="Arial"/>
                <a:ea typeface="Arial"/>
                <a:cs typeface="Arial"/>
              </a:rPr>
              <a:t>Every half-year starts and ends in cash; no position crosses a parameter-refit boundary.</a:t>
            </a:r>
          </a:p>
        </p:txBody>
      </p:sp>
    </p:spTree>
    <p:extLst>
      <p:ext uri="{BB962C8B-B14F-4D97-AF65-F5344CB8AC3E}">
        <p14:creationId xmlns:p14="http://schemas.microsoft.com/office/powerpoint/2010/main" val="14804325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B95E6-35EF-4D99-9868-DC9C1A3A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Selection rewards strength, breadth, and restraint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FBD77-A11B-47D8-8256-C9FC7089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7AE04-C420-40B9-9890-BC9D0F66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D1329-7B5B-4516-A81E-DE935513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FIVE EQUAL-WEIGHT TRAIN RANKS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2851E-74E1-4022-AFD0-C677603D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81175"/>
            <a:ext cx="3905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Return</a:t>
            </a:r>
          </a:p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Positive-asset breadth</a:t>
            </a:r>
          </a:p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Daily Sharpe</a:t>
            </a:r>
          </a:p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Maximum drawdown</a:t>
            </a:r>
          </a:p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Excess vs stronger trend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339F6-8FD0-47C1-836D-8282C87B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Within each block, each metric becomes a fractional rank across the 27 candidates. Their mean is the block composite; training blocks are then averaged.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F3104-11E4-4C66-8105-3214F837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5410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310A1-4DFF-41C0-BD48-73F76DF4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4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54C4"/>
                </a:solidFill>
                <a:latin typeface="Arial"/>
                <a:ea typeface="Arial"/>
                <a:cs typeface="Arial"/>
              </a:rPr>
              <a:t>ONE-STANDARD-ERROR 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9321E-E501-44D9-82D2-10A1DC3B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Threshold = Scorebest − SEbest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CC649-5E0E-4CC7-9B83-393CAF1D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4457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Keep every candidate above the threshold. Inside that tolerance set, choose the lowest median trade count; remaining ties prefer slower horizons.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2E701-BA7A-4FA5-BB7B-863A3732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Why? Tiny TRAIN differences should not force a fragile winner. A broad plateau is more credible than one isolated hot cell.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53AF7-AB77-4B95-BADC-7555F4A7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Selection uses only 1× primary-cost evidence; leverage can never choose the winner.</a:t>
            </a:r>
          </a:p>
        </p:txBody>
      </p:sp>
    </p:spTree>
    <p:extLst>
      <p:ext uri="{BB962C8B-B14F-4D97-AF65-F5344CB8AC3E}">
        <p14:creationId xmlns:p14="http://schemas.microsoft.com/office/powerpoint/2010/main" val="13977536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E8A0F-4396-4147-8C39-7A1E6942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Longer horizons retained 119 of 122 stocks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28CC2-31BD-4A98-8AFF-57A778B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56591-0EBD-4DE6-BEE5-8F3B9349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d4ee313ec49e8"/>
          <a:stretch xmlns:a="http://schemas.openxmlformats.org/drawingml/2006/main"/>
        </p:blipFill>
        <p:spPr>
          <a:xfrm xmlns:a="http://schemas.openxmlformats.org/drawingml/2006/main">
            <a:off x="1809750" y="1181100"/>
            <a:ext cx="85725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61819-BCC3-4552-9643-D9E9ED73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APHA and SNE lacked complete development history. LI had 108 prehistory sessions—short of the 130 required for SMA120. No replacements were added.</a:t>
            </a:r>
          </a:p>
        </p:txBody>
      </p:sp>
    </p:spTree>
    <p:extLst>
      <p:ext uri="{BB962C8B-B14F-4D97-AF65-F5344CB8AC3E}">
        <p14:creationId xmlns:p14="http://schemas.microsoft.com/office/powerpoint/2010/main" val="2465305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922AA-EF2F-4BD9-949E-12420A4E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TRAIN moved slower, but the choices did not transport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5A973-ED50-4513-80F7-398306EA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A2F6A-31EF-49A5-9F0E-07FB2AF3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e7cc804064f69"/>
          <a:stretch xmlns:a="http://schemas.openxmlformats.org/drawingml/2006/main"/>
        </p:blipFill>
        <p:spPr>
          <a:xfrm xmlns:a="http://schemas.openxmlformats.org/drawingml/2006/main">
            <a:off x="1766888" y="1171575"/>
            <a:ext cx="8658225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82BF1-4B95-4A2B-ABD0-17200479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Selected sequence: 15/30/90 → 15/40/90 → 20/50/120 → 20/50/120. Next-block ranks were only 52nd, 44th, 70th, and 30th percentile.</a:t>
            </a:r>
          </a:p>
        </p:txBody>
      </p:sp>
    </p:spTree>
    <p:extLst>
      <p:ext uri="{BB962C8B-B14F-4D97-AF65-F5344CB8AC3E}">
        <p14:creationId xmlns:p14="http://schemas.microsoft.com/office/powerpoint/2010/main" val="12436611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C978E-A5E0-4D58-971A-36EF5E8C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latest TRAIN surface was broad—but not smooth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090A7-BD98-4C0B-955E-2EAB4DE1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51C5E-BF91-449D-93C8-C857D92A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8f141094b48ff"/>
          <a:stretch xmlns:a="http://schemas.openxmlformats.org/drawingml/2006/main"/>
        </p:blipFill>
        <p:spPr>
          <a:xfrm xmlns:a="http://schemas.openxmlformats.org/drawingml/2006/main">
            <a:off x="400050" y="1561042"/>
            <a:ext cx="7239000" cy="4021667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9ac08e72441d2"/>
          <a:stretch xmlns:a="http://schemas.openxmlformats.org/drawingml/2006/main"/>
        </p:blipFill>
        <p:spPr>
          <a:xfrm xmlns:a="http://schemas.openxmlformats.org/drawingml/2006/main">
            <a:off x="7762875" y="2357438"/>
            <a:ext cx="3857625" cy="2143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40E91-D7C9-4CBC-984D-3D730771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20/50/120 scored 0.61, while a separate 15/30/60 cell scored 0.60. Tolerance-set size was 2, 4, 10, and 8; fold 1 failed the frozen minimum-three plateau gate.</a:t>
            </a:r>
          </a:p>
        </p:txBody>
      </p:sp>
    </p:spTree>
    <p:extLst>
      <p:ext uri="{BB962C8B-B14F-4D97-AF65-F5344CB8AC3E}">
        <p14:creationId xmlns:p14="http://schemas.microsoft.com/office/powerpoint/2010/main" val="20791438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0BA62-0BA0-4210-B938-03AE96B9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Selected policy failed every return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227A4-3450-4BA3-A5CA-4AFE10F1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B38AB-F0EB-417B-B93D-21DF1935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D0C7C-ADE3-46C1-B7BE-EFFDAD71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Four causally selected half-years, compounded per asset at 1× primary costs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D51EE-2BED-41B0-BB17-047E4CD9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−7.25%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24CE2-1353-4C6B-848B-A195A6EE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Median compounded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E1A3F-171C-4F71-9F57-2178DCAE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95500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A5802-EE69-483D-9006-0C8F667E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34 / 119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81EDD-1F09-4842-9B4E-19E6C2F6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Positive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EB3C9-57C5-4B1F-8BE5-F38BBB08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37672-65F8-47D8-A805-4FE64086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479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282CB-12A4-49C7-85F4-2A9CB131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33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Median matched-shift percentile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C059C-6D62-4635-AA66-DAC2EDF7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068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9137C-C1AF-491B-AFD4-1E4298F2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0 /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694AD-7A1B-4AAE-B29B-2712B26D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244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outer blocks with positive median return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2CA50-3E8E-4507-967B-C634DB62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 / 119 assets above the 80th timing-control percentile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ACA9F-DF53-443E-9CEC-4B71C653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1 / 7 gates passed</a:t>
            </a:r>
          </a:p>
        </p:txBody>
      </p:sp>
    </p:spTree>
    <p:extLst>
      <p:ext uri="{BB962C8B-B14F-4D97-AF65-F5344CB8AC3E}">
        <p14:creationId xmlns:p14="http://schemas.microsoft.com/office/powerpoint/2010/main" val="14758043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88D33-7D65-414E-A895-899F6DAC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Every outer block was weak; timing lagged shifts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B3149-59FC-4FCC-AAC4-10E480EC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2E7C1-96B5-4B67-9FEF-1D537049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820683be1491d"/>
          <a:stretch xmlns:a="http://schemas.openxmlformats.org/drawingml/2006/main"/>
        </p:blipFill>
        <p:spPr>
          <a:xfrm xmlns:a="http://schemas.openxmlformats.org/drawingml/2006/main">
            <a:off x="1809750" y="1171575"/>
            <a:ext cx="85725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6574B-0994-423A-9264-A73724B9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2022H1's zero median reflects broad non-participation—not a successful defensive signal. Only 22 of 119 assets were positive, and median Sharpe was −0.84.</a:t>
            </a:r>
          </a:p>
        </p:txBody>
      </p:sp>
    </p:spTree>
    <p:extLst>
      <p:ext uri="{BB962C8B-B14F-4D97-AF65-F5344CB8AC3E}">
        <p14:creationId xmlns:p14="http://schemas.microsoft.com/office/powerpoint/2010/main" val="14231339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BAE0F-CC0D-4647-9D35-2B949A0D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Costs aggravated the failure; leverage amplified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3B0D4-5670-4F20-B572-B271DB8E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516AA-CC04-4571-B6F6-BB8EB55C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74c2258ce469a"/>
          <a:stretch xmlns:a="http://schemas.openxmlformats.org/drawingml/2006/main"/>
        </p:blipFill>
        <p:spPr>
          <a:xfrm xmlns:a="http://schemas.openxmlformats.org/drawingml/2006/main">
            <a:off x="400050" y="1897592"/>
            <a:ext cx="5581650" cy="3100917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31515f9f64aae"/>
          <a:stretch xmlns:a="http://schemas.openxmlformats.org/drawingml/2006/main"/>
        </p:blipFill>
        <p:spPr>
          <a:xfrm xmlns:a="http://schemas.openxmlformats.org/drawingml/2006/main">
            <a:off x="6210300" y="1897592"/>
            <a:ext cx="5581650" cy="310091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B089E-D3D9-4BBA-BFB6-94B5469D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At 1×, H05.2 lagged buy-and-hold by 4.80 pp and medium-SMA timing by 3.32 pp; it beat only the weakest ordered-stack baseline. Gross median return was still −6.49%.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9892E-90F8-4FD5-B540-4C1F4197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1025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Fixed-quantity 1.8× cut median return to −15.17% and deepened median drawdown to −24.77%. No maintenance-proxy breach occurred—but no leverage value-add emerged.</a:t>
            </a:r>
          </a:p>
        </p:txBody>
      </p:sp>
    </p:spTree>
    <p:extLst>
      <p:ext uri="{BB962C8B-B14F-4D97-AF65-F5344CB8AC3E}">
        <p14:creationId xmlns:p14="http://schemas.microsoft.com/office/powerpoint/2010/main" val="13315746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A3E0B-9BC8-4923-949E-9A47A058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Wider spacing reduced churn—not bad entries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0307F-25BE-4351-94D5-F39A156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4128C-202D-445B-B00F-3C60FE71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65663-EA5B-418F-A6F7-E88E239C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INITIAL ACTIVATION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097C9-C7D1-4D2D-A31E-15211A92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43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369 trades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B7D8D-0CCC-4CDC-92F8-0821983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27.4% hit rate</a:t>
            </a:r>
          </a:p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−2.27% median trade</a:t>
            </a:r>
          </a:p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12-session median 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D6DF8-9DC9-4EF7-B214-8DA8E318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4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54C4"/>
                </a:solidFill>
                <a:latin typeface="Arial"/>
                <a:ea typeface="Arial"/>
                <a:cs typeface="Arial"/>
              </a:rPr>
              <a:t>MEDIUM-SMA RECLAIM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3E097-EA32-4932-A8E5-0DCCF6AE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43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289 trades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20B3C-5D49-4827-A0FB-51ECD57E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27.7% hit rate</a:t>
            </a:r>
          </a:p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−1.07% median trade</a:t>
            </a:r>
          </a:p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3-session median 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32016-E5F8-4A2F-B85C-445C8492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3909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3BBD8-F2A9-4171-A558-5B014BAB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WHAT CHANGED FROM H05.1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8B480-E3B2-46EB-97E3-19BC7087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27813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Reclaims fell from 89% to 44% of trades. The slower grid removed some repeated reclaim churn—but initial activations remained worse in median magnitude.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5b93b0e554d52"/>
          <a:stretch xmlns:a="http://schemas.openxmlformats.org/drawingml/2006/main"/>
        </p:blipFill>
        <p:spPr>
          <a:xfrm xmlns:a="http://schemas.openxmlformats.org/drawingml/2006/main">
            <a:off x="3971925" y="4286250"/>
            <a:ext cx="37719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4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BD552-8D02-451A-8A69-ADFF088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PLD shows the median path; META shows the outlier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EEC80-1700-48B2-89BE-03B95CA5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86F71-0235-40A1-8297-0A383340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34277c97b4078"/>
          <a:stretch xmlns:a="http://schemas.openxmlformats.org/drawingml/2006/main"/>
        </p:blipFill>
        <p:spPr>
          <a:xfrm xmlns:a="http://schemas.openxmlformats.org/drawingml/2006/main">
            <a:off x="400050" y="1837796"/>
            <a:ext cx="5581650" cy="341100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c8365d80346b2"/>
          <a:stretch xmlns:a="http://schemas.openxmlformats.org/drawingml/2006/main"/>
        </p:blipFill>
        <p:spPr>
          <a:xfrm xmlns:a="http://schemas.openxmlformats.org/drawingml/2006/main">
            <a:off x="6210300" y="1837796"/>
            <a:ext cx="5581650" cy="34110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CCF92-0590-4BE8-9B93-2E96D5B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PLD: −7.25% • 12 trades • 17.6% exposure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49132-5B76-43D1-B8ED-A61E8440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00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META: +61.79% • one 96-session activation trade</a:t>
            </a:r>
          </a:p>
        </p:txBody>
      </p:sp>
    </p:spTree>
    <p:extLst>
      <p:ext uri="{BB962C8B-B14F-4D97-AF65-F5344CB8AC3E}">
        <p14:creationId xmlns:p14="http://schemas.microsoft.com/office/powerpoint/2010/main" val="1047125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AFE4E-6949-4A74-99A0-A6C9F002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BABA and ORLY expose loss and repeated re-entry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3559B-6013-4B79-B49C-BF6F6D27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5CC24-6780-4663-A7CC-B25420B6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35da8af644330"/>
          <a:stretch xmlns:a="http://schemas.openxmlformats.org/drawingml/2006/main"/>
        </p:blipFill>
        <p:spPr>
          <a:xfrm xmlns:a="http://schemas.openxmlformats.org/drawingml/2006/main">
            <a:off x="400050" y="1837796"/>
            <a:ext cx="5581650" cy="341100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f0b185ece41b2"/>
          <a:stretch xmlns:a="http://schemas.openxmlformats.org/drawingml/2006/main"/>
        </p:blipFill>
        <p:spPr>
          <a:xfrm xmlns:a="http://schemas.openxmlformats.org/drawingml/2006/main">
            <a:off x="6210300" y="1837796"/>
            <a:ext cx="5581650" cy="34110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66F89-9DBD-412E-B712-E6D6939E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BABA: −35.34% • 0 / 4 winning trades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208D5-5E0E-4356-81BA-6575608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00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ORLY: −12.92% • 12 trades • 25% hit rate</a:t>
            </a:r>
          </a:p>
        </p:txBody>
      </p:sp>
    </p:spTree>
    <p:extLst>
      <p:ext uri="{BB962C8B-B14F-4D97-AF65-F5344CB8AC3E}">
        <p14:creationId xmlns:p14="http://schemas.microsoft.com/office/powerpoint/2010/main" val="3806448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5CD75-85F6-452C-A652-19649175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Set down the horizon grid; keep 2024+ sealed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1BDCC-50DC-48B2-8F0F-0AE0C990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2A94C-95AE-4F40-9FEA-524DDCEC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550F8-9687-427B-A07C-116C3384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5FC58-BCD0-4CEA-94AA-96B9C221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5524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STOP DEVELOPMENT WFA</a:t>
            </a:r>
          </a:p>
          <a:p xmlns:a="http://schemas.openxmlformats.org/drawingml/2006/main">
            <a:pPr algn="l">
              <a:defRPr sz="2625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CONFIRMATION NOT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85751-FA28-497A-985A-36F680AC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fixed-triplet null was not rescued by a compact, conservative training selector. This is evidence against portable horizon selection for the current entry/exit mechanics—not proof that all trend following fails.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975BA-A209-4149-A4C7-87AB4598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38275"/>
            <a:ext cx="50101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7705E-A6AF-46E5-8E12-93B1EF18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055D9-193E-4A06-AEB9-F6AF611D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41719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  Parameter selection is part of the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2  Slower separation was a real TRAIN preference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3  That preference did not transport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4  Both activation and reclaim entries were weak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5  A wider grid would increase search—not repair theory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6FBF0-46E9-4DDD-9AC3-08EC07E6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Any persistence, slope, volatility, or alternative-entry idea needs a new mechanism-level hypothesis and frozen identifier—not another H05.2 scan.</a:t>
            </a:r>
          </a:p>
        </p:txBody>
      </p:sp>
    </p:spTree>
    <p:extLst>
      <p:ext uri="{BB962C8B-B14F-4D97-AF65-F5344CB8AC3E}">
        <p14:creationId xmlns:p14="http://schemas.microsoft.com/office/powerpoint/2010/main" val="524888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2026-08-13T07:00:32.8730000Z</dcterms:created>
  <dcterms:modified xsi:type="dcterms:W3CDTF">2026-08-13T07:00:32.8730000Z</dcterms:modified>
</coreProperties>
</file>