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ffaa379d804c07" /><Relationship Type="http://schemas.openxmlformats.org/officeDocument/2006/relationships/extended-properties" Target="/docProps/app.xml" Id="Rf20c4bab08e14a24" /><Relationship Type="http://schemas.openxmlformats.org/officeDocument/2006/relationships/officeDocument" Target="/ppt/presentation.xml" Id="R6aeed7651c8f40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cd3b4f721470d"/>
  </p:sldMasterIdLst>
  <p:notesMasterIdLst>
    <p:notesMasterId xmlns:r="http://schemas.openxmlformats.org/officeDocument/2006/relationships" r:id="R11551c8554aa4210"/>
  </p:notesMasterIdLst>
  <p:sldIdLst>
    <p:sldId xmlns:r="http://schemas.openxmlformats.org/officeDocument/2006/relationships" id="256" r:id="Rf72cc93aab7441a3"/>
    <p:sldId xmlns:r="http://schemas.openxmlformats.org/officeDocument/2006/relationships" id="257" r:id="R55036b5b8be44531"/>
    <p:sldId xmlns:r="http://schemas.openxmlformats.org/officeDocument/2006/relationships" id="258" r:id="R4d42596b48a94d26"/>
    <p:sldId xmlns:r="http://schemas.openxmlformats.org/officeDocument/2006/relationships" id="259" r:id="R8d63175c142a4220"/>
    <p:sldId xmlns:r="http://schemas.openxmlformats.org/officeDocument/2006/relationships" id="260" r:id="Rd16f3241e80c47ae"/>
    <p:sldId xmlns:r="http://schemas.openxmlformats.org/officeDocument/2006/relationships" id="261" r:id="R4cfe2e6c740b4b3e"/>
    <p:sldId xmlns:r="http://schemas.openxmlformats.org/officeDocument/2006/relationships" id="262" r:id="Rfd74d9b5255b4a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f5d3a77e1a4017" /><Relationship Type="http://schemas.openxmlformats.org/officeDocument/2006/relationships/slideMaster" Target="/ppt/slideMasters/slideMaster1.xml" Id="Rcd7cd3b4f721470d" /><Relationship Type="http://schemas.openxmlformats.org/officeDocument/2006/relationships/notesMaster" Target="/ppt/notesMasters/notesMaster1.xml" Id="R11551c8554aa4210" /><Relationship Type="http://schemas.openxmlformats.org/officeDocument/2006/relationships/presProps" Target="/ppt/presProps.xml" Id="Rdce991c4ee0d46d8" /><Relationship Type="http://schemas.openxmlformats.org/officeDocument/2006/relationships/tableStyles" Target="/ppt/tableStyles.xml" Id="R3b0a5e1d071846c3" /><Relationship Type="http://schemas.openxmlformats.org/officeDocument/2006/relationships/slide" Target="/ppt/slides/slide1.xml" Id="Rf72cc93aab7441a3" /><Relationship Type="http://schemas.openxmlformats.org/officeDocument/2006/relationships/slide" Target="/ppt/slides/slide2.xml" Id="R55036b5b8be44531" /><Relationship Type="http://schemas.openxmlformats.org/officeDocument/2006/relationships/slide" Target="/ppt/slides/slide3.xml" Id="R4d42596b48a94d26" /><Relationship Type="http://schemas.openxmlformats.org/officeDocument/2006/relationships/slide" Target="/ppt/slides/slide4.xml" Id="R8d63175c142a4220" /><Relationship Type="http://schemas.openxmlformats.org/officeDocument/2006/relationships/slide" Target="/ppt/slides/slide5.xml" Id="Rd16f3241e80c47ae" /><Relationship Type="http://schemas.openxmlformats.org/officeDocument/2006/relationships/slide" Target="/ppt/slides/slide6.xml" Id="R4cfe2e6c740b4b3e" /><Relationship Type="http://schemas.openxmlformats.org/officeDocument/2006/relationships/slide" Target="/ppt/slides/slide7.xml" Id="Rfd74d9b5255b4a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9fdac187f947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f88a9026cc4b0e" /><Relationship Type="http://schemas.openxmlformats.org/officeDocument/2006/relationships/notesMaster" Target="/ppt/notesMasters/notesMaster1.xml" Id="Rfb5c634dc03a4a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6b1bbb1c3c4bac" /><Relationship Type="http://schemas.openxmlformats.org/officeDocument/2006/relationships/notesMaster" Target="/ppt/notesMasters/notesMaster1.xml" Id="R229f691fef5747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ee7a4efa14f69" /><Relationship Type="http://schemas.openxmlformats.org/officeDocument/2006/relationships/notesMaster" Target="/ppt/notesMasters/notesMaster1.xml" Id="Ra616d781a71343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981ff06ab14903" /><Relationship Type="http://schemas.openxmlformats.org/officeDocument/2006/relationships/notesMaster" Target="/ppt/notesMasters/notesMaster1.xml" Id="R22c9793f64e045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c3a425f4b146a1" /><Relationship Type="http://schemas.openxmlformats.org/officeDocument/2006/relationships/notesMaster" Target="/ppt/notesMasters/notesMaster1.xml" Id="Re93f7c14999a48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0c1ae2bb564ae9" /><Relationship Type="http://schemas.openxmlformats.org/officeDocument/2006/relationships/notesMaster" Target="/ppt/notesMasters/notesMaster1.xml" Id="R8e9d099cafee4c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3f2baa6cf44ffc" /><Relationship Type="http://schemas.openxmlformats.org/officeDocument/2006/relationships/notesMaster" Target="/ppt/notesMasters/notesMaster1.xml" Id="R76b31c1eadce47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records the data-feasibility gate that preceded any S&amp;P 500 Ridge replication. It is not a performance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operator_hypothesis_lab/docs/HYP_MOM_04_1_SP500_PIT_DATA_AUDIT_CONTRACT.md</a:t>
            </a:r>
          </a:p>
          <a:p xmlns:a="http://schemas.openxmlformats.org/drawingml/2006/main">
            <a:r>
              <a:t>- Chat decision: point-in-time membership required; survivor-based S&amp;P 500 replication rejected (2026-08-10).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audit used 2017Q1-2020Q3 signal rosters and targets only through 2020Q4. No Ridge model, lambda selection, 2021+ bar, or OOS outcome entered this packet.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operator_hypothesis_lab/docs/HYP_MOM_04_1_SP500_PIT_DATA_AUDIT_CONTRACT.md</a:t>
            </a:r>
          </a:p>
          <a:p xmlns:a="http://schemas.openxmlformats.org/drawingml/2006/main">
            <a:r>
              <a:t>- https://github.com/fja05680/sp500/tree/c31ac3cc56f28cf9a02b4e694eff7ceab596a0ff</a:t>
            </a:r>
          </a:p>
          <a:p xmlns:a="http://schemas.openxmlformats.org/drawingml/2006/main">
            <a:r>
              <a:t>- runs/research_workbench/operator_hypothesis_lab/hyp_mom_04_1_sp500_pit_data_audit_20260810/sp500_pit_wikipedia_revision_ledger.csv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interval and historical snapshot files agreed exactly with each other, but both used later ticker aliases in early quarters. The independent contemporaneous revisions exposed the mismatch.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runs/research_workbench/operator_hypothesis_lab/hyp_mom_04_1_sp500_pit_data_audit_20260810/sp500_pit_roster_summary.csv</a:t>
            </a:r>
          </a:p>
          <a:p xmlns:a="http://schemas.openxmlformats.org/drawingml/2006/main">
            <a:r>
              <a:t>- runs/research_workbench/operator_hypothesis_lab/hyp_mom_04_1_sp500_pit_data_audit_20260810/sp500_pit_wikipedia_revision_ledger.csv</a:t>
            </a:r>
          </a:p>
          <a:p xmlns:a="http://schemas.openxmlformats.org/drawingml/2006/main">
            <a:r>
              <a:t>- fja05680/sp500 commit c31ac3cc56f28cf9a02b4e694eff7ceab596a0ff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Alpaca coverage was not the main blocker. Ordinary feature-plus-target coverage exceeded 97.6% in every quarter, and all but one non-current identity had some provider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runs/research_workbench/operator_hypothesis_lab/hyp_mom_04_1_sp500_pit_data_audit_20260810/sp500_pit_coverage_summary.csv</a:t>
            </a:r>
          </a:p>
          <a:p xmlns:a="http://schemas.openxmlformats.org/drawingml/2006/main">
            <a:r>
              <a:t>- runs/research_workbench/operator_hypothesis_lab/hyp_mom_04_1_sp500_pit_data_audit_20260810/sp500_pit_removed_security_summary.csv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 removal alone is not a terminal-data problem when the stock continues trading through the scheduled exit. The unresolved group is the 39 member-quarter outcomes without both frozen entry and exit opens; event settlement data would be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runs/research_workbench/operator_hypothesis_lab/hyp_mom_04_1_sp500_pit_data_audit_20260810/sp500_pit_terminal_event_ledger.csv</a:t>
            </a:r>
          </a:p>
          <a:p xmlns:a="http://schemas.openxmlformats.org/drawingml/2006/main">
            <a:r>
              <a:t>- operator_hypothesis_lab/docs/HYP_MOM_04_1_SP500_PIT_DATA_AUDIT_CONTRACT.md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0.97 roster-agreement, 98% sector-coverage, and complete terminal-outcome requirements were frozen before the audit. They were not softened after observing the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runs/research_workbench/operator_hypothesis_lab/hyp_mom_04_1_sp500_pit_data_audit_20260810/sp500_pit_gate_matrix.csv</a:t>
            </a:r>
          </a:p>
          <a:p xmlns:a="http://schemas.openxmlformats.org/drawingml/2006/main">
            <a:r>
              <a:t>- operator_hypothesis_lab/docs/HYP_MOM_04_1_SP500_PIT_DATA_AUDIT_CONTRACT.md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STOP_SP500_PIT_DATA_GATES_FAILED_REPLICATION_NOT_RUN. The appropriate next step is a data-source decision, not a model tweak.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operator_hypothesis_lab/docs/HYP_MOM_04_1_SP500_PIT_DATA_AUDIT_RESULTS.md</a:t>
            </a:r>
          </a:p>
          <a:p xmlns:a="http://schemas.openxmlformats.org/drawingml/2006/main">
            <a:r>
              <a:t>- runs/research_workbench/operator_hypothesis_lab/hyp_mom_04_1_sp500_pit_data_audit_20260810/sp500_pit_run_spec.csv</a:t>
            </a:r>
          </a:p>
          <a:p xmlns:a="http://schemas.openxmlformats.org/drawingml/2006/main">
            <a:r>
              <a:t>- Chat decision: point-in-time membership required; survivor-based S&amp;P 500 replication rejected (2026-08-10).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de54b241843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30344cd09b409f" /><Relationship Type="http://schemas.openxmlformats.org/officeDocument/2006/relationships/slideLayout" Target="/ppt/slideLayouts/slideLayout1.xml" Id="R68f13efd13aa4c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f13efd13aa4c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ab97432f64b97" /><Relationship Type="http://schemas.openxmlformats.org/officeDocument/2006/relationships/notesSlide" Target="/ppt/notesSlides/notesSlide1.xml" Id="Rc5d401c593804a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a8c7bd3a54f41" /><Relationship Type="http://schemas.openxmlformats.org/officeDocument/2006/relationships/notesSlide" Target="/ppt/notesSlides/notesSlide2.xml" Id="R365b67007da640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cf665eaa04139" /><Relationship Type="http://schemas.openxmlformats.org/officeDocument/2006/relationships/image" Target="/ppt/media/image.png" Id="R1b69b0cd402445b4" /><Relationship Type="http://schemas.openxmlformats.org/officeDocument/2006/relationships/notesSlide" Target="/ppt/notesSlides/notesSlide3.xml" Id="R77fb245b806344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f77af50954ec2" /><Relationship Type="http://schemas.openxmlformats.org/officeDocument/2006/relationships/notesSlide" Target="/ppt/notesSlides/notesSlide4.xml" Id="R2c4e291e77434e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41ba4a9dc4dc5" /><Relationship Type="http://schemas.openxmlformats.org/officeDocument/2006/relationships/image" Target="/ppt/media/image2.png" Id="R00c60e4e43324779" /><Relationship Type="http://schemas.openxmlformats.org/officeDocument/2006/relationships/notesSlide" Target="/ppt/notesSlides/notesSlide5.xml" Id="Rbf4b3f151c3b4d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ee65b1d4843cf" /><Relationship Type="http://schemas.openxmlformats.org/officeDocument/2006/relationships/image" Target="/ppt/media/image3.png" Id="R8a44292bc0104b64" /><Relationship Type="http://schemas.openxmlformats.org/officeDocument/2006/relationships/notesSlide" Target="/ppt/notesSlides/notesSlide6.xml" Id="R33108565328440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c765feed74573" /><Relationship Type="http://schemas.openxmlformats.org/officeDocument/2006/relationships/notesSlide" Target="/ppt/notesSlides/notesSlide7.xml" Id="Rd5a41e0f08b144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637ED47-6A0B-4B44-B0E3-2DB546AC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 the S&amp;P 500 replication be point-in-time safe?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B033605-F7FC-4AE2-87D4-79AFFA0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HYP-MOM-04.1 · S&amp;P 500 data-feasibility audit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CBEB287-1520-4775-BBE6-E50F2F6D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OPERATOR HYPOTHESIS LAB</a:t>
            </a:r>
          </a:p>
        </p:txBody>
      </p:sp>
    </p:spTree>
    <p:extLst>
      <p:ext uri="{BB962C8B-B14F-4D97-AF65-F5344CB8AC3E}">
        <p14:creationId xmlns:p14="http://schemas.microsoft.com/office/powerpoint/2010/main" val="1454352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54D3255-66D6-4A8C-98C8-699D8C15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5FA72C1-6972-494D-9400-5BAD16F3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universe audit was frozen before any model fit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36AEC3B-C048-4552-91A7-A041A570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096155C-85AC-4590-8B0B-D6D47593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02E53A1-4C89-4571-90AA-56F740AD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6E4560C-3B10-4C4F-B9BD-48BF6E49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Pinned roster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ADC04CF-61C0-4848-BB8F-5D05357F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check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8CE2CCE-AACF-4A2B-B7C6-9FB37705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 + exits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44534A2-8A5F-47C9-ADCE-8992BBC5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check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Wikipedia revision plus contemporaneous GICS sector.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BF4969B-D3F7-4F6C-A6C3-33A82084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Membership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Quarter-end intervals from one exact public commit.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60300E2-3A3C-414E-8BD2-9F38F9B8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Bars + outcomes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Alpaca through 2020 only; terminal exits must be defensible.</a:t>
            </a:r>
          </a:p>
        </p:txBody>
      </p:sp>
    </p:spTree>
    <p:extLst>
      <p:ext uri="{BB962C8B-B14F-4D97-AF65-F5344CB8AC3E}">
        <p14:creationId xmlns:p14="http://schemas.microsoft.com/office/powerpoint/2010/main" val="7790588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99AC72A-98AF-491E-954F-2743BD1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7427B33-1EDE-40C6-ACB4-A2BD3ABC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Later aliases broke roster agreement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BE467DC-724A-465C-A53C-C3DCF3F7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9b0cd402445b4"/>
          <a:stretch xmlns:a="http://schemas.openxmlformats.org/drawingml/2006/main"/>
        </p:blipFill>
        <p:spPr>
          <a:xfrm xmlns:a="http://schemas.openxmlformats.org/drawingml/2006/main" flipH="0" flipV="0">
            <a:off x="6269069" y="1448056"/>
            <a:ext cx="5539740" cy="3498783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AE9434C-7245-4684-82EF-C0CE7057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2017Q1 Jaccard: 0.9555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primary ledger used later aliases such as BKNG, TPR and WELL where the contemporaneous roster used PCLN, COH and HCN.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Membership was economically close—but the identity labels were not truly point-in-time.</a:t>
            </a:r>
          </a:p>
        </p:txBody>
      </p:sp>
    </p:spTree>
    <p:extLst>
      <p:ext uri="{BB962C8B-B14F-4D97-AF65-F5344CB8AC3E}">
        <p14:creationId xmlns:p14="http://schemas.microsoft.com/office/powerpoint/2010/main" val="648134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7C06F09-B532-40B9-873C-AD563271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76997C6-7E75-4EFF-936A-64F4F95E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8D56EED-C6DF-4DA7-A0E7-7C5D61C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9E8DBE8-6D28-41F2-9BD8-37100FA5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18E5C8A-76FA-4CAC-98DA-5A7A9F6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 breadth was strong enough to be useful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A7CC687-51E6-4229-872C-B6942E8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point-in-time identities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F2E6233-6148-44B6-BC9B-AC29EE5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removed names with history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0AB6F37B-1200-4568-B7D0-7C921DB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member-quarter rows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1B9BFDF-77E4-4D5B-B66D-B2DAABEC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591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F12B4DA-8032-4549-A667-3A1D9073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7,580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19B1259-0AB2-4856-A40D-583403F7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184 / 185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682C315-7A82-47BB-BF71-C98DC45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Coverage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quarter cleared the 95% complete-bar gate; worst ordinary coverage was 97.63%. Strong price coverage passed—but it could not repair metadata and terminal-outcome gaps.</a:t>
            </a:r>
          </a:p>
        </p:txBody>
      </p:sp>
    </p:spTree>
    <p:extLst>
      <p:ext uri="{BB962C8B-B14F-4D97-AF65-F5344CB8AC3E}">
        <p14:creationId xmlns:p14="http://schemas.microsoft.com/office/powerpoint/2010/main" val="1261341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90E47CE-7A88-4A4A-B0FD-EA7A9438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8459ABB-C903-4143-9E3A-A3143EA6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Thirty-nine exits remained unresolved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CC68C4C5-7574-4ABC-BF6E-D72562F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60e4e43324779"/>
          <a:stretch xmlns:a="http://schemas.openxmlformats.org/drawingml/2006/main"/>
        </p:blipFill>
        <p:spPr>
          <a:xfrm xmlns:a="http://schemas.openxmlformats.org/drawingml/2006/main" flipH="0" flipV="0">
            <a:off x="6269069" y="1448056"/>
            <a:ext cx="5539740" cy="3498783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C554B745-CC5E-4B39-9F8D-CF3E1C55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92 index departures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53 still had both scheduled entry and exit opens.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39 did not. A last pre-merger bar is not the frozen quarter-end exit and cannot stand in for merger consideration.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Alpaca bars alone are insufficient.</a:t>
            </a:r>
          </a:p>
        </p:txBody>
      </p:sp>
    </p:spTree>
    <p:extLst>
      <p:ext uri="{BB962C8B-B14F-4D97-AF65-F5344CB8AC3E}">
        <p14:creationId xmlns:p14="http://schemas.microsoft.com/office/powerpoint/2010/main" val="1609520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932BA42-F0B8-4FC4-99CA-302C4043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AD7EF99-6D87-4274-86C6-DDD7782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18" y="344043"/>
            <a:ext cx="1127121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data gates failed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1117806-76B2-4297-BDE1-ED11D119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4292bc0104b64"/>
          <a:stretch xmlns:a="http://schemas.openxmlformats.org/drawingml/2006/main"/>
        </p:blipFill>
        <p:spPr>
          <a:xfrm xmlns:a="http://schemas.openxmlformats.org/drawingml/2006/main" flipH="0" flipV="0">
            <a:off x="6269069" y="1448056"/>
            <a:ext cx="5539740" cy="3498783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5689FA6A-5AF0-4DFC-AD51-0B83F77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Passed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Provenance, roster size, identity resolution, ordinary bar coverage, removed-name representation and boundary integrity.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Failed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Roster agreement, sector coverage and terminal-event completeness.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Hard gates are conjunctive.</a:t>
            </a:r>
          </a:p>
        </p:txBody>
      </p:sp>
    </p:spTree>
    <p:extLst>
      <p:ext uri="{BB962C8B-B14F-4D97-AF65-F5344CB8AC3E}">
        <p14:creationId xmlns:p14="http://schemas.microsoft.com/office/powerpoint/2010/main" val="19343584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649AA3-9160-44EC-A2EE-5A216C82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before replication.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7DBBC56-104D-44B8-8CFD-424F63B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Ridge fit or lambda selection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2021+ outcome queried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Reopen only with alias-safe membership + event returns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8D810BC-5A11-4227-93CC-73F62CE1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165951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2026-08-10T22:29:20.9090000Z</dcterms:created>
  <dcterms:modified xsi:type="dcterms:W3CDTF">2026-08-10T22:29:20.9090000Z</dcterms:modified>
</coreProperties>
</file>