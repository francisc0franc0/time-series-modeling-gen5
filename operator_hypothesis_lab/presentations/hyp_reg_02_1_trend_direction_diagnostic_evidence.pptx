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eac0268c444f9" /><Relationship Type="http://schemas.openxmlformats.org/officeDocument/2006/relationships/extended-properties" Target="/docProps/app.xml" Id="R34b0a8db53b9433f" /><Relationship Type="http://schemas.openxmlformats.org/officeDocument/2006/relationships/officeDocument" Target="/ppt/presentation.xml" Id="Rce72b36c2468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ed7769d312415e"/>
  </p:sldMasterIdLst>
  <p:notesMasterIdLst>
    <p:notesMasterId xmlns:r="http://schemas.openxmlformats.org/officeDocument/2006/relationships" r:id="R2dcf7159b1614eb5"/>
  </p:notesMasterIdLst>
  <p:sldIdLst>
    <p:sldId xmlns:r="http://schemas.openxmlformats.org/officeDocument/2006/relationships" id="256" r:id="Rf79355fe721a41a1"/>
    <p:sldId xmlns:r="http://schemas.openxmlformats.org/officeDocument/2006/relationships" id="257" r:id="R698aa747f0314cea"/>
    <p:sldId xmlns:r="http://schemas.openxmlformats.org/officeDocument/2006/relationships" id="258" r:id="R477f5e09bf8a433b"/>
    <p:sldId xmlns:r="http://schemas.openxmlformats.org/officeDocument/2006/relationships" id="259" r:id="Re87060b7bf524d2b"/>
    <p:sldId xmlns:r="http://schemas.openxmlformats.org/officeDocument/2006/relationships" id="260" r:id="R92463b77607d4f34"/>
    <p:sldId xmlns:r="http://schemas.openxmlformats.org/officeDocument/2006/relationships" id="261" r:id="Rf7f299217bb74d23"/>
    <p:sldId xmlns:r="http://schemas.openxmlformats.org/officeDocument/2006/relationships" id="262" r:id="R8d929d8820f540c7"/>
    <p:sldId xmlns:r="http://schemas.openxmlformats.org/officeDocument/2006/relationships" id="263" r:id="R256f7bddede0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4e37acdbb4497" /><Relationship Type="http://schemas.openxmlformats.org/officeDocument/2006/relationships/slideMaster" Target="/ppt/slideMasters/slideMaster1.xml" Id="Ra4ed7769d312415e" /><Relationship Type="http://schemas.openxmlformats.org/officeDocument/2006/relationships/notesMaster" Target="/ppt/notesMasters/notesMaster1.xml" Id="R2dcf7159b1614eb5" /><Relationship Type="http://schemas.openxmlformats.org/officeDocument/2006/relationships/presProps" Target="/ppt/presProps.xml" Id="R955d7dd78257452e" /><Relationship Type="http://schemas.openxmlformats.org/officeDocument/2006/relationships/tableStyles" Target="/ppt/tableStyles.xml" Id="R1efdedf8bfc041d7" /><Relationship Type="http://schemas.openxmlformats.org/officeDocument/2006/relationships/slide" Target="/ppt/slides/slide1.xml" Id="Rf79355fe721a41a1" /><Relationship Type="http://schemas.openxmlformats.org/officeDocument/2006/relationships/slide" Target="/ppt/slides/slide2.xml" Id="R698aa747f0314cea" /><Relationship Type="http://schemas.openxmlformats.org/officeDocument/2006/relationships/slide" Target="/ppt/slides/slide3.xml" Id="R477f5e09bf8a433b" /><Relationship Type="http://schemas.openxmlformats.org/officeDocument/2006/relationships/slide" Target="/ppt/slides/slide4.xml" Id="Re87060b7bf524d2b" /><Relationship Type="http://schemas.openxmlformats.org/officeDocument/2006/relationships/slide" Target="/ppt/slides/slide5.xml" Id="R92463b77607d4f34" /><Relationship Type="http://schemas.openxmlformats.org/officeDocument/2006/relationships/slide" Target="/ppt/slides/slide6.xml" Id="Rf7f299217bb74d23" /><Relationship Type="http://schemas.openxmlformats.org/officeDocument/2006/relationships/slide" Target="/ppt/slides/slide7.xml" Id="R8d929d8820f540c7" /><Relationship Type="http://schemas.openxmlformats.org/officeDocument/2006/relationships/slide" Target="/ppt/slides/slide8.xml" Id="R256f7bddede0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cb1f07f736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9bb017de34f05" /><Relationship Type="http://schemas.openxmlformats.org/officeDocument/2006/relationships/notesMaster" Target="/ppt/notesMasters/notesMaster1.xml" Id="R214d9fbd08384e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4a28d7de7b4720" /><Relationship Type="http://schemas.openxmlformats.org/officeDocument/2006/relationships/notesMaster" Target="/ppt/notesMasters/notesMaster1.xml" Id="Rde78e36b86d547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fc3383575400e" /><Relationship Type="http://schemas.openxmlformats.org/officeDocument/2006/relationships/notesMaster" Target="/ppt/notesMasters/notesMaster1.xml" Id="R91ec556b591846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2ac80ccf2440c" /><Relationship Type="http://schemas.openxmlformats.org/officeDocument/2006/relationships/notesMaster" Target="/ppt/notesMasters/notesMaster1.xml" Id="Rbe20f6ae9e8040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8080d9d364f18" /><Relationship Type="http://schemas.openxmlformats.org/officeDocument/2006/relationships/notesMaster" Target="/ppt/notesMasters/notesMaster1.xml" Id="Rc777596e19e941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e784143b6408c" /><Relationship Type="http://schemas.openxmlformats.org/officeDocument/2006/relationships/notesMaster" Target="/ppt/notesMasters/notesMaster1.xml" Id="Ra445abcccb9a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0ac19e1e304614" /><Relationship Type="http://schemas.openxmlformats.org/officeDocument/2006/relationships/notesMaster" Target="/ppt/notesMasters/notesMaster1.xml" Id="Rdad73adb0f6b47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a149ab3ba04dfd" /><Relationship Type="http://schemas.openxmlformats.org/officeDocument/2006/relationships/notesMaster" Target="/ppt/notesMasters/notesMaster1.xml" Id="R4967aab04c63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 and boundary: this is a clean falsification of one direction sensor, not a rejection of trend trading or of the accepted volatility-magnitude diagnostic.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docs/GEN5_HYP_REG_02_TREND_DIRECTION_DIAGNOSTIC_CONTRACT.md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is available after close t. The first price in the target is the next open, so same-bar information cannot leak into the target. Chat decision reference: D129.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docs/GEN5_HYP_REG_02_TREND_DIRECTION_DIAGNOSTIC_CONTRACT.md</a:t>
            </a:r>
          </a:p>
          <a:p xmlns:a="http://schemas.openxmlformats.org/drawingml/2006/main">
            <a:r>
              <a:t>- docs/GEN5_4_DECISION_DIALOGUE_INDEX.md#d129--validate-trend-direction-before-combining-it-with-volatility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gates test different failure modes. Association alone is insufficient if the sign rule cannot recognize down moves or the evidence is temporally unstable.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docs/GEN5_HYP_REG_02_TREND_DIRECTION_DIAGNOSTIC_CONTRACT.md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Median Spearman is computed per asset on deterministic horizon-spaced samples, then summarized across all 26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 is broad rather than driven by one high-beta name. The heatmap uses the fixed primary score and non-overlapping samples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Project/Time-Series-Modeling-Gen5/runs/research_workbench/operator_hypothesis_lab/hyp_reg_02_1_trend_direction_20260814/hyp_reg_02_asset_summary.csv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Balanced accuracy gives positive and negative targets equal weight. It prevents a mostly-UP classifier from looking useful merely because equities have positive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Project/Time-Series-Modeling-Gen5/runs/research_workbench/operator_hypothesis_lab/hyp_reg_02_1_trend_direction_20260814/hyp_reg_02_panel_summary.csv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Circular shifts preserve each asset-year's score distribution but move it to different dates. The actual timing alignment falls below every control draw at both principal horizons.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Project/Time-Series-Modeling-Gen5/runs/research_workbench/operator_hypothesis_lab/hyp_reg_02_1_trend_direction_20260814/hyp_reg_02_calendar_panel.csv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Project/Time-Series-Modeling-Gen5/runs/research_workbench/operator_hypothesis_lab/hyp_reg_02_1_trend_direction_20260814/hyp_reg_02_circular_controls.csv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Project/Time-Series-Modeling-Gen5/runs/research_workbench/operator_hypothesis_lab/hyp_reg_02_1_trend_direction_20260814/hyp_reg_02_circular_readout.csv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preserving the learning: the magnitude sensor remains valid, while this particular scale-free trend direction sensor is rejected. Any inverse/mean-reversion interpretation needs a separately approved contract and fresh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operator_hypothesis_lab/docs/HYP_REG_02_1_TREND_DIRECTION_DIAGNOSTIC_RESULTS.md</a:t>
            </a:r>
          </a:p>
          <a:p xmlns:a="http://schemas.openxmlformats.org/drawingml/2006/main">
            <a:r>
              <a:t>- docs/GEN5_4_DECISION_DIALOGUE_INDEX.md#d129--validate-trend-direction-before-combining-it-with-volatility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731f8c165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60cda38cb04660" /><Relationship Type="http://schemas.openxmlformats.org/officeDocument/2006/relationships/slideLayout" Target="/ppt/slideLayouts/slideLayout1.xml" Id="R3e8181190c454b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8181190c454b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24982e8a24f93" /><Relationship Type="http://schemas.openxmlformats.org/officeDocument/2006/relationships/image" Target="/ppt/media/image.png" Id="Ra59aedcda516483f" /><Relationship Type="http://schemas.openxmlformats.org/officeDocument/2006/relationships/notesSlide" Target="/ppt/notesSlides/notesSlide1.xml" Id="R451a98af15c042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f610f7ea49e7" /><Relationship Type="http://schemas.openxmlformats.org/officeDocument/2006/relationships/notesSlide" Target="/ppt/notesSlides/notesSlide2.xml" Id="Rb854cb8746fd4b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4177078f469c" /><Relationship Type="http://schemas.openxmlformats.org/officeDocument/2006/relationships/notesSlide" Target="/ppt/notesSlides/notesSlide3.xml" Id="R476cff3e312547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82b68d0524c0b" /><Relationship Type="http://schemas.openxmlformats.org/officeDocument/2006/relationships/notesSlide" Target="/ppt/notesSlides/notesSlide4.xml" Id="R8a198d2a612942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937cb0ee64f44" /><Relationship Type="http://schemas.openxmlformats.org/officeDocument/2006/relationships/image" Target="/ppt/media/image2.png" Id="R6ad646fb602d46e7" /><Relationship Type="http://schemas.openxmlformats.org/officeDocument/2006/relationships/notesSlide" Target="/ppt/notesSlides/notesSlide5.xml" Id="Rf88cb95bab96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befaf784f499b" /><Relationship Type="http://schemas.openxmlformats.org/officeDocument/2006/relationships/image" Target="/ppt/media/image3.png" Id="Rcaa0de1ce2274643" /><Relationship Type="http://schemas.openxmlformats.org/officeDocument/2006/relationships/notesSlide" Target="/ppt/notesSlides/notesSlide6.xml" Id="Rd7ac6ccdb413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ba2dc32c744d0" /><Relationship Type="http://schemas.openxmlformats.org/officeDocument/2006/relationships/image" Target="/ppt/media/image4.png" Id="R457091e0587a4485" /><Relationship Type="http://schemas.openxmlformats.org/officeDocument/2006/relationships/notesSlide" Target="/ppt/notesSlides/notesSlide7.xml" Id="R66b0be578b0643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87389c60a43d8" /><Relationship Type="http://schemas.openxmlformats.org/officeDocument/2006/relationships/notesSlide" Target="/ppt/notesSlides/notesSlide8.xml" Id="Rf92415699f6e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EF790-83EF-4BDE-B1A6-F737E21E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HYP-REG-02.1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F21A9-A86B-47E2-81A1-200F621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19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simple 20/60 trend score failed as a direction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CC4E3-C351-4957-B675-04DC3DA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5000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A strategy-independent diagnostic across 26 assets · 2018–2023 development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94012-E516-4625-A66F-315CEA1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59"/>
                </a:solidFill>
              </a:defRPr>
            </a:pPr>
            <a:r>
              <a:rPr sz="1650" b="1">
                <a:solidFill>
                  <a:srgbClr val="D95F59"/>
                </a:solidFill>
              </a:rPr>
              <a:t>STOP · joint ATR% audit not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67EDA-AA10-4F21-BBFC-6DDDD09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572125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aedcda516483f"/>
          <a:srcRect xmlns:a="http://schemas.openxmlformats.org/drawingml/2006/main" l="10861" t="0" r="10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72125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29F3-5B0E-4EE4-B273-B28E769E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7851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85825-5DBA-4E6C-A9FE-883790F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sensor asks a narrower question than a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2C7B7-4241-49A6-80F4-2C4280D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D03A5-0834-4281-8BF1-B255D9F0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CAUSAL ESTIMAND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9FE28-B939-4115-840D-08D9C27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At close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95ED-65C9-4FDE-B9A6-EE2D5886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Tₜ = log(SMA₂₀,ₜ / SMA₆₀,ₜ)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D8FCB-0D00-4D10-AD50-975478C3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630"/>
                </a:solidFill>
              </a:defRPr>
            </a:pPr>
            <a:r>
              <a:rPr sz="1875" b="0">
                <a:solidFill>
                  <a:srgbClr val="202630"/>
                </a:solidFill>
              </a:rPr>
              <a:t>Tₜ ≥ 0 predicts UP</a:t>
            </a:r>
          </a:p>
          <a:p xmlns:a="http://schemas.openxmlformats.org/drawingml/2006/main">
            <a:pPr algn="l">
              <a:defRPr sz="1875" b="0">
                <a:solidFill>
                  <a:srgbClr val="202630"/>
                </a:solidFill>
              </a:defRPr>
            </a:pPr>
            <a:r>
              <a:rPr sz="1875" b="0">
                <a:solidFill>
                  <a:srgbClr val="202630"/>
                </a:solidFill>
              </a:rPr>
              <a:t>Tₜ &lt; 0 predicts DOWN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34737-F90A-4336-B626-611EB4BE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86125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AE85F-2196-4F35-B011-C2676269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145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A65A"/>
                </a:solidFill>
              </a:defRPr>
            </a:pPr>
            <a:r>
              <a:rPr sz="2025" b="1">
                <a:solidFill>
                  <a:srgbClr val="F2A65A"/>
                </a:solidFill>
              </a:rPr>
              <a:t>Next open → exit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D995-2824-48E4-A293-5AB5B37E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Rₜ,ₕ = log(Oₜ₊₁₊ₕ / Oₜ₊₁)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A5132-6CFA-4DC9-8707-AFE64FEF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630"/>
                </a:solidFill>
              </a:defRPr>
            </a:pPr>
            <a:r>
              <a:rPr sz="1875" b="0">
                <a:solidFill>
                  <a:srgbClr val="202630"/>
                </a:solidFill>
              </a:rPr>
              <a:t>H = 5, 20, 63 sessions</a:t>
            </a:r>
          </a:p>
          <a:p xmlns:a="http://schemas.openxmlformats.org/drawingml/2006/main">
            <a:pPr algn="l">
              <a:defRPr sz="1875" b="0">
                <a:solidFill>
                  <a:srgbClr val="202630"/>
                </a:solidFill>
              </a:defRPr>
            </a:pPr>
            <a:r>
              <a:rPr sz="1875" b="0">
                <a:solidFill>
                  <a:srgbClr val="202630"/>
                </a:solidFill>
              </a:rPr>
              <a:t>non-overlapping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54A96-267D-452D-BFD7-22C0563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76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78185-B8B5-404C-8ADA-04F6393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Forward returns are labels for sensor validation—not a simulated trade, portfolio, or P&amp;L path.</a:t>
            </a:r>
          </a:p>
        </p:txBody>
      </p:sp>
    </p:spTree>
    <p:extLst>
      <p:ext uri="{BB962C8B-B14F-4D97-AF65-F5344CB8AC3E}">
        <p14:creationId xmlns:p14="http://schemas.microsoft.com/office/powerpoint/2010/main" val="1999207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7C30-D245-4BA8-8F0F-222693B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Seven gates guard against an attractive but brittle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8E76-5E04-47CE-97AA-6059E2D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97FDB-D8F7-4EB5-B3D7-8A4C96A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VALIDATION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B8A2A-BA3F-4056-9408-731FCB7F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00400" cy="3238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97805-F8B1-4F69-94B0-E868596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Association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F32D9-717F-48CB-B3EA-6A33CFA2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G2 · positive rank correlation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G3 · cross-asset breadth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G5 · top-minus-bottom quintile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DC659-FE02-4613-AD56-5DED5A20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200400" cy="3238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06011-45D7-4922-8FDF-E456ECD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58F51-0268-437B-8624-84F9C19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G4 · balanced accuracy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UP recall &gt; 50%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DOWN recall &gt; 50%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3514D-D944-4A67-A88E-8538AD3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14500"/>
            <a:ext cx="3200400" cy="3238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E9D85-0149-4F4C-BEFB-7E599D32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0E5F1-14D8-41B6-9DAC-2ABDADE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266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G6 · positive in ≥4/6 years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G7 · ≥90th circular-control percentile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G1 · exact data 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1071-22A2-4C3D-9E1B-B7405617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F59"/>
                </a:solidFill>
              </a:defRPr>
            </a:pPr>
            <a:r>
              <a:rPr sz="1350" b="1">
                <a:solidFill>
                  <a:srgbClr val="D95F59"/>
                </a:solidFill>
              </a:rPr>
              <a:t>Conditional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306F1-04C1-4D9E-B6CB-0033DDF0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Only a 7 / 7 pass opens the exact join to HYP-REG-01.1 ATR% states.</a:t>
            </a:r>
          </a:p>
        </p:txBody>
      </p:sp>
    </p:spTree>
    <p:extLst>
      <p:ext uri="{BB962C8B-B14F-4D97-AF65-F5344CB8AC3E}">
        <p14:creationId xmlns:p14="http://schemas.microsoft.com/office/powerpoint/2010/main" val="801944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6E0C3-0103-497E-9731-680DBBAB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Only integrity passed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5A504-40CD-42C3-922B-498C5C6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64F9B-568A-4C36-B63F-9048A89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F59"/>
                </a:solidFill>
              </a:defRPr>
            </a:pPr>
            <a:r>
              <a:rPr sz="1050" b="1">
                <a:solidFill>
                  <a:srgbClr val="D95F59"/>
                </a:solidFill>
              </a:rPr>
              <a:t>HEADLINE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BE1F4-E10E-4F8A-A22E-127F794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causal alignment is consistently inverse—not a marginal miss around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3629-C1DE-4F29-A09F-419F675D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68C3F-55FE-427B-AB61-23D0C71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5F59"/>
                </a:solidFill>
              </a:defRPr>
            </a:pPr>
            <a:r>
              <a:rPr sz="3600" b="1">
                <a:solidFill>
                  <a:srgbClr val="D95F59"/>
                </a:solidFill>
              </a:rPr>
              <a:t>−0.048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7672B-94BD-4D2A-99E9-4031AF5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H5 median Spearman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2 / 26 assets positive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E112E-541D-4DA2-8333-2B4FF87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5D84E-AF71-4913-A5A3-E05D985D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5F59"/>
                </a:solidFill>
              </a:defRPr>
            </a:pPr>
            <a:r>
              <a:rPr sz="3600" b="1">
                <a:solidFill>
                  <a:srgbClr val="D95F59"/>
                </a:solidFill>
              </a:rPr>
              <a:t>−0.166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094AA-925E-4272-BD28-A011C41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H20 median Spearman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3 / 26 assets 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65A99-040F-4472-A074-D1D7D92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C87FA-8D95-4CCA-94A8-B306D04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5F59"/>
                </a:solidFill>
              </a:defRPr>
            </a:pPr>
            <a:r>
              <a:rPr sz="3600" b="1">
                <a:solidFill>
                  <a:srgbClr val="D95F59"/>
                </a:solidFill>
              </a:rPr>
              <a:t>−0.155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EA0B5-8440-418B-831E-B806F5A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H63 median Spearman</a:t>
            </a:r>
          </a:p>
          <a:p xmlns:a="http://schemas.openxmlformats.org/drawingml/2006/main">
            <a:pPr algn="l">
              <a:defRPr sz="1650" b="0">
                <a:solidFill>
                  <a:srgbClr val="202630"/>
                </a:solidFill>
              </a:defRPr>
            </a:pPr>
            <a:r>
              <a:rPr sz="1650" b="0">
                <a:solidFill>
                  <a:srgbClr val="202630"/>
                </a:solidFill>
              </a:rPr>
              <a:t>6 / 26 assets 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BEA25-FCA9-49AC-B34F-73D1EBC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F59"/>
                </a:solidFill>
              </a:defRPr>
            </a:pPr>
            <a:r>
              <a:rPr sz="2025" b="1">
                <a:solidFill>
                  <a:srgbClr val="D95F59"/>
                </a:solidFill>
              </a:rPr>
              <a:t>1 / 7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8BCFB-D9C7-4A8A-9938-7C5A0E40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72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ATR% joint audit: NOT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E5ECF-C83C-4FFC-8FE9-F1D5F0FD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72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E8B57"/>
                </a:solidFill>
              </a:defRPr>
            </a:pPr>
            <a:r>
              <a:rPr sz="1800" b="1">
                <a:solidFill>
                  <a:srgbClr val="2E8B57"/>
                </a:solidFill>
              </a:rPr>
              <a:t>2024+ SEALED</a:t>
            </a:r>
          </a:p>
        </p:txBody>
      </p:sp>
    </p:spTree>
    <p:extLst>
      <p:ext uri="{BB962C8B-B14F-4D97-AF65-F5344CB8AC3E}">
        <p14:creationId xmlns:p14="http://schemas.microsoft.com/office/powerpoint/2010/main" val="565133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8C19F-52DC-4313-BACD-58C3E520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Negative direction evidence dominates the panel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B5CEE-B42C-4F71-9857-08A1D2A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68CC6-FD67-4CB1-8B98-7D91EE3E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CROSS-ASSET BREADTH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ADEFF-0C37-41A1-905A-75A498F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8286750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646fb602d46e7"/>
          <a:stretch xmlns:a="http://schemas.openxmlformats.org/drawingml/2006/main"/>
        </p:blipFill>
        <p:spPr>
          <a:xfrm xmlns:a="http://schemas.openxmlformats.org/drawingml/2006/main">
            <a:off x="2229644" y="1333500"/>
            <a:ext cx="4741863" cy="4905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9F967-0625-4B96-B951-3481FBA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630"/>
                </a:solidFill>
              </a:defRPr>
            </a:pPr>
            <a:r>
              <a:rPr sz="1500" b="1">
                <a:solidFill>
                  <a:srgbClr val="202630"/>
                </a:solidFill>
              </a:rPr>
              <a:t>H20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998C6-5B06-4AAF-99BE-A8512470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5F59"/>
                </a:solidFill>
              </a:defRPr>
            </a:pPr>
            <a:r>
              <a:rPr sz="3000" b="1">
                <a:solidFill>
                  <a:srgbClr val="D95F59"/>
                </a:solidFill>
              </a:rPr>
              <a:t>3 / 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6FDB3-80FB-4D66-BE2B-587DFA62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positive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CD072-ADCA-4856-9420-10FF488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71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630"/>
                </a:solidFill>
              </a:defRPr>
            </a:pPr>
            <a:r>
              <a:rPr sz="1500" b="1">
                <a:solidFill>
                  <a:srgbClr val="202630"/>
                </a:solidFill>
              </a:rPr>
              <a:t>H63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8D67F-B505-4602-9D4E-4AEB461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5F59"/>
                </a:solidFill>
              </a:defRPr>
            </a:pPr>
            <a:r>
              <a:rPr sz="3000" b="1">
                <a:solidFill>
                  <a:srgbClr val="D95F59"/>
                </a:solidFill>
              </a:rPr>
              <a:t>6 / 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17924-6170-4E68-8708-8DEDCC1D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95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630"/>
                </a:solidFill>
              </a:defRPr>
            </a:pPr>
            <a:r>
              <a:rPr sz="1350" b="0">
                <a:solidFill>
                  <a:srgbClr val="202630"/>
                </a:solidFill>
              </a:rPr>
              <a:t>positive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2574D-018E-4847-9C46-EB8A47CA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8637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0"/>
                </a:solidFill>
              </a:defRPr>
            </a:pPr>
            <a:r>
              <a:rPr sz="1425" b="0">
                <a:solidFill>
                  <a:srgbClr val="202630"/>
                </a:solidFill>
              </a:rPr>
              <a:t>Red means a higher score preceded a lower return.</a:t>
            </a:r>
          </a:p>
        </p:txBody>
      </p:sp>
    </p:spTree>
    <p:extLst>
      <p:ext uri="{BB962C8B-B14F-4D97-AF65-F5344CB8AC3E}">
        <p14:creationId xmlns:p14="http://schemas.microsoft.com/office/powerpoint/2010/main" val="32816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D80A7-C739-41F0-AB43-12769A42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sign rule recognizes rallies but misses declines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13AE1-172A-437A-994A-08DE23A3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2E8E3-2052-4684-9877-6789ABA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UP VS DOWN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3F8F1-2D08-44FD-9A95-E40654C1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001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0de1ce2274643"/>
          <a:stretch xmlns:a="http://schemas.openxmlformats.org/drawingml/2006/main"/>
        </p:blipFill>
        <p:spPr>
          <a:xfrm xmlns:a="http://schemas.openxmlformats.org/drawingml/2006/main">
            <a:off x="538843" y="1428750"/>
            <a:ext cx="7837714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3AA5-92C7-4C2E-9B8A-34DE56E6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714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5BCF3-115C-4A08-AAD1-19185A3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630"/>
                </a:solidFill>
              </a:defRPr>
            </a:pPr>
            <a:r>
              <a:rPr sz="1500" b="1">
                <a:solidFill>
                  <a:srgbClr val="202630"/>
                </a:solidFill>
              </a:rPr>
              <a:t>UP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8EC56-72EF-4AF4-B026-6D7CE0CE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336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58.3% / 57.1%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C3485-34C0-4066-899F-000B6B0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714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56065-E85E-4CCC-873D-5019E8FE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814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630"/>
                </a:solidFill>
              </a:defRPr>
            </a:pPr>
            <a:r>
              <a:rPr sz="1500" b="1">
                <a:solidFill>
                  <a:srgbClr val="202630"/>
                </a:solidFill>
              </a:rPr>
              <a:t>DOWN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077A-CB21-4944-9D83-A7D38A69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91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F59"/>
                </a:solidFill>
              </a:defRPr>
            </a:pPr>
            <a:r>
              <a:rPr sz="2100" b="1">
                <a:solidFill>
                  <a:srgbClr val="D95F59"/>
                </a:solidFill>
              </a:rPr>
              <a:t>30.4% / 35.4%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78095-7BBA-4AA7-90F0-04AC789A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H20 / H63</a:t>
            </a:r>
          </a:p>
        </p:txBody>
      </p:sp>
    </p:spTree>
    <p:extLst>
      <p:ext uri="{BB962C8B-B14F-4D97-AF65-F5344CB8AC3E}">
        <p14:creationId xmlns:p14="http://schemas.microsoft.com/office/powerpoint/2010/main" val="1770252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C0874-86E5-41BA-B5D3-E399198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Time stability and timing controls both reject the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C7687-33AE-49CB-A869-1F5AE225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29437-C3FB-4819-8CF9-001895D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FALSIFICATION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65555-BE9C-43D9-B4B1-86D271B4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0962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091e0587a4485"/>
          <a:stretch xmlns:a="http://schemas.openxmlformats.org/drawingml/2006/main"/>
        </p:blipFill>
        <p:spPr>
          <a:xfrm xmlns:a="http://schemas.openxmlformats.org/drawingml/2006/main">
            <a:off x="457200" y="1424781"/>
            <a:ext cx="8096250" cy="47228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2D356-6754-46D4-A134-7DF470DA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5F59"/>
                </a:solidFill>
              </a:defRPr>
            </a:pPr>
            <a:r>
              <a:rPr sz="3150" b="1">
                <a:solidFill>
                  <a:srgbClr val="D95F59"/>
                </a:solidFill>
              </a:rPr>
              <a:t>0 /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09ACE-9945-4319-8E26-EF674573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0"/>
                </a:solidFill>
              </a:defRPr>
            </a:pPr>
            <a:r>
              <a:rPr sz="1500" b="0">
                <a:solidFill>
                  <a:srgbClr val="202630"/>
                </a:solidFill>
              </a:rPr>
              <a:t>positive panel years</a:t>
            </a:r>
          </a:p>
          <a:p xmlns:a="http://schemas.openxmlformats.org/drawingml/2006/main">
            <a:pPr algn="l">
              <a:defRPr sz="1500" b="0">
                <a:solidFill>
                  <a:srgbClr val="202630"/>
                </a:solidFill>
              </a:defRPr>
            </a:pPr>
            <a:r>
              <a:rPr sz="1500" b="0">
                <a:solidFill>
                  <a:srgbClr val="202630"/>
                </a:solidFill>
              </a:rPr>
              <a:t>at H20 and H63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74562-91ED-4898-891F-3D97486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5F59"/>
                </a:solidFill>
              </a:defRPr>
            </a:pPr>
            <a:r>
              <a:rPr sz="3150" b="1">
                <a:solidFill>
                  <a:srgbClr val="D95F59"/>
                </a:solidFill>
              </a:rPr>
              <a:t>0th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183F4-DB11-4CAA-8D19-64C53DD2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0"/>
                </a:solidFill>
              </a:defRPr>
            </a:pPr>
            <a:r>
              <a:rPr sz="1500" b="0">
                <a:solidFill>
                  <a:srgbClr val="202630"/>
                </a:solidFill>
              </a:rPr>
              <a:t>percentile vs 200</a:t>
            </a:r>
          </a:p>
          <a:p xmlns:a="http://schemas.openxmlformats.org/drawingml/2006/main">
            <a:pPr algn="l">
              <a:defRPr sz="1500" b="0">
                <a:solidFill>
                  <a:srgbClr val="202630"/>
                </a:solidFill>
              </a:defRPr>
            </a:pPr>
            <a:r>
              <a:rPr sz="1500" b="0">
                <a:solidFill>
                  <a:srgbClr val="202630"/>
                </a:solidFill>
              </a:rPr>
              <a:t>circular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BCB83-F76C-464D-8931-07C6BFA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H20 and H63</a:t>
            </a:r>
          </a:p>
        </p:txBody>
      </p:sp>
    </p:spTree>
    <p:extLst>
      <p:ext uri="{BB962C8B-B14F-4D97-AF65-F5344CB8AC3E}">
        <p14:creationId xmlns:p14="http://schemas.microsoft.com/office/powerpoint/2010/main" val="786184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2D3FE-8303-4475-82AC-7398C385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Keep the volatility sensor; set this direction sensor 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2920A-68ED-4665-B92D-C7888DEE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02630"/>
                </a:solidFill>
              </a:defRPr>
            </a:pPr>
            <a:r>
              <a:rPr sz="900" b="0">
                <a:solidFill>
                  <a:srgbClr val="202630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3060-1ED6-48F7-B37D-17D7216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5F59"/>
                </a:solidFill>
              </a:defRPr>
            </a:pPr>
            <a:r>
              <a:rPr sz="1050" b="1">
                <a:solidFill>
                  <a:srgbClr val="D95F59"/>
                </a:solidFill>
              </a:rPr>
              <a:t>DECISION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D6468-3BE3-43AE-B3C9-991E726D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D95F59"/>
                </a:solidFill>
              </a:defRPr>
            </a:pPr>
            <a:r>
              <a:rPr sz="5850" b="1">
                <a:solidFill>
                  <a:srgbClr val="D95F59"/>
                </a:solidFill>
              </a:rPr>
              <a:t>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59331-687D-4AC5-84C4-CADC977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HYP-REG-02.1 failed six of seven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1E26-B40B-445C-ACF1-27CF8B0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481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630"/>
                </a:solidFill>
              </a:defRPr>
            </a:pPr>
            <a:r>
              <a:rPr sz="1800" b="0">
                <a:solidFill>
                  <a:srgbClr val="202630"/>
                </a:solidFill>
              </a:rPr>
              <a:t>The accepted HYP-REG-01.1 ATR% magnitude classifier is unaffected.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5EC8-84EA-4114-99B6-D821D1B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334000" cy="3952875"/>
          </a:xfrm>
          <a:prstGeom xmlns:a="http://schemas.openxmlformats.org/drawingml/2006/main" prst="roundRect">
            <a:avLst>
              <a:gd name="adj" fmla="val 19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5771B-C6FE-46FF-9321-6F10BB0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What we do not do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926B0-E9E4-43C6-85A9-630FBEE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D5DD2-FB31-4A11-9FEA-2777669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9875"/>
            <a:ext cx="4105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Flip the score sign after seeing an inverse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B90CF-CB29-417A-AC0E-CD215CF7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49A99-6DDC-4D9B-8E81-1FB0B61A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90900"/>
            <a:ext cx="4105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Tune moving-average lengths on this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1DF11-2E55-4899-969C-8D910F3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8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7DDA3-B5E5-4B78-91F3-09C6513C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71925"/>
            <a:ext cx="4105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Run the conditional ATR% state map anyway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9FF9E-241E-483D-96E7-0BCF3C0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CC83B-A59C-4582-B9B2-CF24903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4105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630"/>
                </a:solidFill>
              </a:defRPr>
            </a:pPr>
            <a:r>
              <a:rPr sz="1575" b="0">
                <a:solidFill>
                  <a:srgbClr val="202630"/>
                </a:solidFill>
              </a:rPr>
              <a:t>Open the sealed 2024+ interval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AF05E-6292-412C-851F-E359603F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 contrarian direction hypothesis would be a new theory-first lane—not a rescue edit.</a:t>
            </a:r>
          </a:p>
        </p:txBody>
      </p:sp>
    </p:spTree>
    <p:extLst>
      <p:ext uri="{BB962C8B-B14F-4D97-AF65-F5344CB8AC3E}">
        <p14:creationId xmlns:p14="http://schemas.microsoft.com/office/powerpoint/2010/main" val="2129643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2026-08-15T03:24:42.2710000Z</dcterms:created>
  <dcterms:modified xsi:type="dcterms:W3CDTF">2026-08-15T03:24:42.2720000Z</dcterms:modified>
</coreProperties>
</file>