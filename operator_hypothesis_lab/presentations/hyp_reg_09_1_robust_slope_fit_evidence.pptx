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d1cdec486448a5" /><Relationship Type="http://schemas.openxmlformats.org/officeDocument/2006/relationships/extended-properties" Target="/docProps/app.xml" Id="R456054c1818e4633" /><Relationship Type="http://schemas.openxmlformats.org/officeDocument/2006/relationships/officeDocument" Target="/ppt/presentation.xml" Id="Rcc543abf896346b2" /></Relationships>
</file>

<file path=ppt/presentation.xml><?xml version="1.0" encoding="utf-8"?>
<p:presentation xmlns:p="http://schemas.openxmlformats.org/presentationml/2006/main">
  <p:sldMasterIdLst>
    <p:sldMasterId xmlns:r="http://schemas.openxmlformats.org/officeDocument/2006/relationships" id="2147483648" r:id="Rda78fd45e0194caf"/>
  </p:sldMasterIdLst>
  <p:notesMasterIdLst>
    <p:notesMasterId xmlns:r="http://schemas.openxmlformats.org/officeDocument/2006/relationships" r:id="R2ed260686e8b43e0"/>
  </p:notesMasterIdLst>
  <p:sldIdLst>
    <p:sldId xmlns:r="http://schemas.openxmlformats.org/officeDocument/2006/relationships" id="256" r:id="R88f7edd83b0240c5"/>
    <p:sldId xmlns:r="http://schemas.openxmlformats.org/officeDocument/2006/relationships" id="257" r:id="Rd3a42782fa4241e3"/>
    <p:sldId xmlns:r="http://schemas.openxmlformats.org/officeDocument/2006/relationships" id="258" r:id="R619393a1d2aa4615"/>
    <p:sldId xmlns:r="http://schemas.openxmlformats.org/officeDocument/2006/relationships" id="259" r:id="Rb1ededab021a4f03"/>
    <p:sldId xmlns:r="http://schemas.openxmlformats.org/officeDocument/2006/relationships" id="260" r:id="Rdfc66e94c7ad41ca"/>
    <p:sldId xmlns:r="http://schemas.openxmlformats.org/officeDocument/2006/relationships" id="261" r:id="R3ab5c3a16bc24f6c"/>
    <p:sldId xmlns:r="http://schemas.openxmlformats.org/officeDocument/2006/relationships" id="262" r:id="Rd4bb91b11ece438c"/>
    <p:sldId xmlns:r="http://schemas.openxmlformats.org/officeDocument/2006/relationships" id="263" r:id="R590738080a564653"/>
    <p:sldId xmlns:r="http://schemas.openxmlformats.org/officeDocument/2006/relationships" id="264" r:id="Rbf8946f937554e60"/>
    <p:sldId xmlns:r="http://schemas.openxmlformats.org/officeDocument/2006/relationships" id="265" r:id="R71cbac3402e14b68"/>
    <p:sldId xmlns:r="http://schemas.openxmlformats.org/officeDocument/2006/relationships" id="266" r:id="Ra6c7adb36c0846cf"/>
    <p:sldId xmlns:r="http://schemas.openxmlformats.org/officeDocument/2006/relationships" id="267" r:id="R0e8020ef34104cc3"/>
    <p:sldId xmlns:r="http://schemas.openxmlformats.org/officeDocument/2006/relationships" id="268" r:id="Ra4a5983e5861470f"/>
    <p:sldId xmlns:r="http://schemas.openxmlformats.org/officeDocument/2006/relationships" id="269" r:id="Rcd88fb95401540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d7e69e95d5401f" /><Relationship Type="http://schemas.openxmlformats.org/officeDocument/2006/relationships/slideMaster" Target="/ppt/slideMasters/slideMaster1.xml" Id="Rda78fd45e0194caf" /><Relationship Type="http://schemas.openxmlformats.org/officeDocument/2006/relationships/notesMaster" Target="/ppt/notesMasters/notesMaster1.xml" Id="R2ed260686e8b43e0" /><Relationship Type="http://schemas.openxmlformats.org/officeDocument/2006/relationships/presProps" Target="/ppt/presProps.xml" Id="R1a081bdad384459d" /><Relationship Type="http://schemas.openxmlformats.org/officeDocument/2006/relationships/tableStyles" Target="/ppt/tableStyles.xml" Id="R3d719f8cd41646ff" /><Relationship Type="http://schemas.openxmlformats.org/officeDocument/2006/relationships/slide" Target="/ppt/slides/slide1.xml" Id="R88f7edd83b0240c5" /><Relationship Type="http://schemas.openxmlformats.org/officeDocument/2006/relationships/slide" Target="/ppt/slides/slide2.xml" Id="Rd3a42782fa4241e3" /><Relationship Type="http://schemas.openxmlformats.org/officeDocument/2006/relationships/slide" Target="/ppt/slides/slide3.xml" Id="R619393a1d2aa4615" /><Relationship Type="http://schemas.openxmlformats.org/officeDocument/2006/relationships/slide" Target="/ppt/slides/slide4.xml" Id="Rb1ededab021a4f03" /><Relationship Type="http://schemas.openxmlformats.org/officeDocument/2006/relationships/slide" Target="/ppt/slides/slide5.xml" Id="Rdfc66e94c7ad41ca" /><Relationship Type="http://schemas.openxmlformats.org/officeDocument/2006/relationships/slide" Target="/ppt/slides/slide6.xml" Id="R3ab5c3a16bc24f6c" /><Relationship Type="http://schemas.openxmlformats.org/officeDocument/2006/relationships/slide" Target="/ppt/slides/slide7.xml" Id="Rd4bb91b11ece438c" /><Relationship Type="http://schemas.openxmlformats.org/officeDocument/2006/relationships/slide" Target="/ppt/slides/slide8.xml" Id="R590738080a564653" /><Relationship Type="http://schemas.openxmlformats.org/officeDocument/2006/relationships/slide" Target="/ppt/slides/slide9.xml" Id="Rbf8946f937554e60" /><Relationship Type="http://schemas.openxmlformats.org/officeDocument/2006/relationships/slide" Target="/ppt/slides/slide10.xml" Id="R71cbac3402e14b68" /><Relationship Type="http://schemas.openxmlformats.org/officeDocument/2006/relationships/slide" Target="/ppt/slides/slide11.xml" Id="Ra6c7adb36c0846cf" /><Relationship Type="http://schemas.openxmlformats.org/officeDocument/2006/relationships/slide" Target="/ppt/slides/slide12.xml" Id="R0e8020ef34104cc3" /><Relationship Type="http://schemas.openxmlformats.org/officeDocument/2006/relationships/slide" Target="/ppt/slides/slide13.xml" Id="Ra4a5983e5861470f" /><Relationship Type="http://schemas.openxmlformats.org/officeDocument/2006/relationships/slide" Target="/ppt/slides/slide14.xml" Id="Rcd88fb95401540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fa5dfaef004b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59545fa0d6404b" /><Relationship Type="http://schemas.openxmlformats.org/officeDocument/2006/relationships/notesMaster" Target="/ppt/notesMasters/notesMaster1.xml" Id="Rb28e0fa9d5ce49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dc990b9ac349a0" /><Relationship Type="http://schemas.openxmlformats.org/officeDocument/2006/relationships/notesMaster" Target="/ppt/notesMasters/notesMaster1.xml" Id="R591aaa4c78014f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73ca6561794016" /><Relationship Type="http://schemas.openxmlformats.org/officeDocument/2006/relationships/notesMaster" Target="/ppt/notesMasters/notesMaster1.xml" Id="R526a7c6a3b2d4d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9facf0fc04ce5" /><Relationship Type="http://schemas.openxmlformats.org/officeDocument/2006/relationships/notesMaster" Target="/ppt/notesMasters/notesMaster1.xml" Id="R397c77988c4545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cf76eb4739417e" /><Relationship Type="http://schemas.openxmlformats.org/officeDocument/2006/relationships/notesMaster" Target="/ppt/notesMasters/notesMaster1.xml" Id="Rdc663e6aeead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2dbf46d4674b7e" /><Relationship Type="http://schemas.openxmlformats.org/officeDocument/2006/relationships/notesMaster" Target="/ppt/notesMasters/notesMaster1.xml" Id="Rd169e2ec02b4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8637738e384969" /><Relationship Type="http://schemas.openxmlformats.org/officeDocument/2006/relationships/notesMaster" Target="/ppt/notesMasters/notesMaster1.xml" Id="R1c4c18a0b40e42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49a1e998f04c8a" /><Relationship Type="http://schemas.openxmlformats.org/officeDocument/2006/relationships/notesMaster" Target="/ppt/notesMasters/notesMaster1.xml" Id="Rc7ff6b37a56545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43d31ffc344716" /><Relationship Type="http://schemas.openxmlformats.org/officeDocument/2006/relationships/notesMaster" Target="/ppt/notesMasters/notesMaster1.xml" Id="R9376130ad0c048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6e4cd7b6bb4145" /><Relationship Type="http://schemas.openxmlformats.org/officeDocument/2006/relationships/notesMaster" Target="/ppt/notesMasters/notesMaster1.xml" Id="R1e9198fb51404a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dbb3dcb94541a1" /><Relationship Type="http://schemas.openxmlformats.org/officeDocument/2006/relationships/notesMaster" Target="/ppt/notesMasters/notesMaster1.xml" Id="R9b20395cc55348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a61cd01c83405a" /><Relationship Type="http://schemas.openxmlformats.org/officeDocument/2006/relationships/notesMaster" Target="/ppt/notesMasters/notesMaster1.xml" Id="R627e6b32545d45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547029ae8348fb" /><Relationship Type="http://schemas.openxmlformats.org/officeDocument/2006/relationships/notesMaster" Target="/ppt/notesMasters/notesMaster1.xml" Id="R0c18382fbd3f48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71f02ab31c4faa" /><Relationship Type="http://schemas.openxmlformats.org/officeDocument/2006/relationships/notesMaster" Target="/ppt/notesMasters/notesMaster1.xml" Id="Rb7c003a846f142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two-stage verdict. The causal measurement passed every construction gate. The approved strategy question was narrower: should positive robust slope plus unusually high path quality permit a fresh SMA8/14 entry? The answer was no.</a:t>
            </a:r>
          </a:p>
          <a:p xmlns:a="http://schemas.openxmlformats.org/drawingml/2006/main">
            <a:r>
              <a:t/>
            </a:r>
          </a:p>
          <a:p xmlns:a="http://schemas.openxmlformats.org/drawingml/2006/main">
            <a:r>
              <a:t>[Sources]</a:t>
            </a:r>
          </a:p>
          <a:p xmlns:a="http://schemas.openxmlformats.org/drawingml/2006/main">
            <a:r>
              <a:t>- operator_hypothesis_lab/docs/HYP_REG_09_1_ROBUST_SLOPE_FIT_RESULTS.md</a:t>
            </a:r>
          </a:p>
          <a:p xmlns:a="http://schemas.openxmlformats.org/drawingml/2006/main">
            <a:r>
              <a:t>- runs/research_workbench/operator_hypothesis_lab/hyp_reg_09_1_robust_slope_fit_20260816/hyp_reg_09_1_stage_a_gates.csv</a:t>
            </a:r>
          </a:p>
          <a:p xmlns:a="http://schemas.openxmlformats.org/drawingml/2006/main">
            <a:r>
              <a:t>- runs/research_workbench/operator_hypothesis_lab/hyp_reg_09_1_robust_slope_fit_20260816/hyp_reg_09_1_strategy_gates.csv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avoids collapsing every intuitive notion of trend into one score. Direction, economic strength, and path quality are individually inspectable. Strategy outcomes were inaccessible until all Stage A gates passed.</a:t>
            </a:r>
          </a:p>
          <a:p xmlns:a="http://schemas.openxmlformats.org/drawingml/2006/main">
            <a:r>
              <a:t/>
            </a:r>
          </a:p>
          <a:p xmlns:a="http://schemas.openxmlformats.org/drawingml/2006/main">
            <a:r>
              <a:t>[Sources]</a:t>
            </a:r>
          </a:p>
          <a:p xmlns:a="http://schemas.openxmlformats.org/drawingml/2006/main">
            <a:r>
              <a:t>- docs/GEN5_HYP_REG_09_1_ROBUST_SLOPE_FIT_CONTRACT.md</a:t>
            </a:r>
          </a:p>
          <a:p xmlns:a="http://schemas.openxmlformats.org/drawingml/2006/main">
            <a:r>
              <a:t>- runs/research_workbench/operator_hypothesis_lab/hyp_reg_09_1_robust_slope_fit_20260816/hyp_reg_09_1_run_spec.csv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Theil introduced rank-invariant regression in 1950. Sen's 1968 formulation describes the point estimator as the median of slopes joining all observation pairs. We adopt this robust point estimate, not Sen's confidence interval, because the financial rolling-window errors are strongly overlapping and the POC question is descriptive state construction.</a:t>
            </a:r>
          </a:p>
          <a:p xmlns:a="http://schemas.openxmlformats.org/drawingml/2006/main">
            <a:r>
              <a:t/>
            </a:r>
          </a:p>
          <a:p xmlns:a="http://schemas.openxmlformats.org/drawingml/2006/main">
            <a:r>
              <a:t>[Sources]</a:t>
            </a:r>
          </a:p>
          <a:p xmlns:a="http://schemas.openxmlformats.org/drawingml/2006/main">
            <a:r>
              <a:t>- https://ir.cwi.nl/pub/18445</a:t>
            </a:r>
          </a:p>
          <a:p xmlns:a="http://schemas.openxmlformats.org/drawingml/2006/main">
            <a:r>
              <a:t>- https://doi.org/10.1080/01621459.1968.10480934</a:t>
            </a:r>
          </a:p>
          <a:p xmlns:a="http://schemas.openxmlformats.org/drawingml/2006/main">
            <a:r>
              <a:t>- docs/GEN5_HYP_REG_09_1_ROBUST_SLOPE_FIT_CONTRACT.md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normalization makes a given fitted slope smaller when recent daily log-return noise is larger. Spearman's rank association is used as a monotonicity measure between session order and log price; taking its absolute value intentionally gives the same quality to an orderly rise and orderly decline. Direction remains solely in the robust slope sign.</a:t>
            </a:r>
          </a:p>
          <a:p xmlns:a="http://schemas.openxmlformats.org/drawingml/2006/main">
            <a:r>
              <a:t/>
            </a:r>
          </a:p>
          <a:p xmlns:a="http://schemas.openxmlformats.org/drawingml/2006/main">
            <a:r>
              <a:t>[Sources]</a:t>
            </a:r>
          </a:p>
          <a:p xmlns:a="http://schemas.openxmlformats.org/drawingml/2006/main">
            <a:r>
              <a:t>- https://doi.org/10.2307/1412159</a:t>
            </a:r>
          </a:p>
          <a:p xmlns:a="http://schemas.openxmlformats.org/drawingml/2006/main">
            <a:r>
              <a:t>- docs/GEN5_HYP_REG_09_1_ROBUST_SLOPE_FIT_CONTRACT.md</a:t>
            </a:r>
          </a:p>
          <a:p xmlns:a="http://schemas.openxmlformats.org/drawingml/2006/main">
            <a:r>
              <a:t>- operator_hypothesis_lab/docs/HYP_REG_09_1_ROBUST_SLOPE_FIT_RESULTS.md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quality state uses only the asset's own prior completed history and excludes the current row. Hysteresis reduces threshold chatter. Direction never changes the quality label; it is added only when constructing the one frozen strategy eligibility rule.</a:t>
            </a:r>
          </a:p>
          <a:p xmlns:a="http://schemas.openxmlformats.org/drawingml/2006/main">
            <a:r>
              <a:t/>
            </a:r>
          </a:p>
          <a:p xmlns:a="http://schemas.openxmlformats.org/drawingml/2006/main">
            <a:r>
              <a:t>[Sources]</a:t>
            </a:r>
          </a:p>
          <a:p xmlns:a="http://schemas.openxmlformats.org/drawingml/2006/main">
            <a:r>
              <a:t>- docs/GEN5_HYP_REG_09_1_ROBUST_SLOPE_FIT_CONTRACT.md</a:t>
            </a:r>
          </a:p>
          <a:p xmlns:a="http://schemas.openxmlformats.org/drawingml/2006/main">
            <a:r>
              <a:t>- runs/research_workbench/operator_hypothesis_lab/hyp_reg_09_1_robust_slope_fit_20260816/hyp_reg_09_1_stage_a_gates.csv</a:t>
            </a:r>
          </a:p>
          <a:p xmlns:a="http://schemas.openxmlformats.org/drawingml/2006/main">
            <a:r>
              <a:t>- runs/research_workbench/operator_hypothesis_lab/hyp_reg_09_1_robust_slope_fit_20260816/hyp_reg_09_1_run_spec.csv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 upward and downward paths had equal maximum quality but opposite slope signs. The noisy upward path retained positive direction with lower quality. Random walks were less monotone, and a deliberate reversal had near-zero quality. The observed ordering passed every frozen margin.</a:t>
            </a:r>
          </a:p>
          <a:p xmlns:a="http://schemas.openxmlformats.org/drawingml/2006/main">
            <a:r>
              <a:t/>
            </a:r>
          </a:p>
          <a:p xmlns:a="http://schemas.openxmlformats.org/drawingml/2006/main">
            <a:r>
              <a:t>[Sources]</a:t>
            </a:r>
          </a:p>
          <a:p xmlns:a="http://schemas.openxmlformats.org/drawingml/2006/main">
            <a:r>
              <a:t>- runs/research_workbench/operator_hypothesis_lab/hyp_reg_09_1_robust_slope_fit_20260816/hyp_reg_09_1_stage_a_gates.csv</a:t>
            </a:r>
          </a:p>
          <a:p xmlns:a="http://schemas.openxmlformats.org/drawingml/2006/main">
            <a:r>
              <a:t>- C:/Users/Franc/OneDrive/Documents/Francis/Peltata Project/Time-Series-Modeling-Gen5/runs/research_workbench/operator_hypothesis_lab/hyp_reg_09_1_robust_slope_fit_20260816/hyp_reg_09_1_synthetic_summary.csv</a:t>
            </a:r>
          </a:p>
          <a:p xmlns:a="http://schemas.openxmlformats.org/drawingml/2006/main">
            <a:r>
              <a:t>- operator_hypothesis_lab/docs/HYP_REG_09_1_ROBUST_SLOPE_FIT_RESULTS.md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construction did not collapse into one state or fail on particular assets. All twenty-four primary stocks had at least five percent HIGH and LOW occupancy and at least three percent eligible sessions. Scale invariance, append invariance, and exact state semantics passed.</a:t>
            </a:r>
          </a:p>
          <a:p xmlns:a="http://schemas.openxmlformats.org/drawingml/2006/main">
            <a:r>
              <a:t/>
            </a:r>
          </a:p>
          <a:p xmlns:a="http://schemas.openxmlformats.org/drawingml/2006/main">
            <a:r>
              <a:t>[Sources]</a:t>
            </a:r>
          </a:p>
          <a:p xmlns:a="http://schemas.openxmlformats.org/drawingml/2006/main">
            <a:r>
              <a:t>- runs/research_workbench/operator_hypothesis_lab/hyp_reg_09_1_robust_slope_fit_20260816/hyp_reg_09_1_stage_a_gates.csv</a:t>
            </a:r>
          </a:p>
          <a:p xmlns:a="http://schemas.openxmlformats.org/drawingml/2006/main">
            <a:r>
              <a:t>- C:/Users/Franc/OneDrive/Documents/Francis/Peltata Project/Time-Series-Modeling-Gen5/runs/research_workbench/operator_hypothesis_lab/hyp_reg_09_1_robust_slope_fit_20260816/hyp_reg_09_1_state_diagnostics.csv</a:t>
            </a:r>
          </a:p>
          <a:p xmlns:a="http://schemas.openxmlformats.org/drawingml/2006/main">
            <a:r>
              <a:t>- C:/Users/Franc/OneDrive/Documents/Francis/Peltata Project/Time-Series-Modeling-Gen5/runs/research_workbench/operator_hypothesis_lab/hyp_reg_09_1_robust_slope_fit_20260816/hyp_reg_09_1_causality_audit.csv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windows often agreed on whether the fitted path was rising or falling, but their path-quality scores were only weakly associated. This is why the 120-session construction was predeclared as a durability view and prohibited from replacing the 60-session primary after outcomes.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Project/Time-Series-Modeling-Gen5/runs/research_workbench/operator_hypothesis_lab/hyp_reg_09_1_robust_slope_fit_20260816/hyp_reg_09_1_state_diagnostics.csv</a:t>
            </a:r>
          </a:p>
          <a:p xmlns:a="http://schemas.openxmlformats.org/drawingml/2006/main">
            <a:r>
              <a:t>- runs/research_workbench/operator_hypothesis_lab/hyp_reg_09_1_robust_slope_fit_20260816/hyp_reg_09_1_stage_a_gates.csv</a:t>
            </a:r>
          </a:p>
          <a:p xmlns:a="http://schemas.openxmlformats.org/drawingml/2006/main">
            <a:r>
              <a:t>- docs/GEN5_HYP_REG_09_1_ROBUST_SLOPE_FIT_CONTRACT.md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background colors as completed-path quality, not bullishness. Orange HIGH can accompany an orderly rise or decline; the strategy additionally required positive 60-session slope. The blue and orange strength lines demonstrate why 60- and 120-session views can diverge around reversals and inflections.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Project/Time-Series-Modeling-Gen5/runs/research_workbench/operator_hypothesis_lab/hyp_reg_09_1_robust_slope_fit_20260816/hyp_reg_09_1_ledger.csv</a:t>
            </a:r>
          </a:p>
          <a:p xmlns:a="http://schemas.openxmlformats.org/drawingml/2006/main">
            <a:r>
              <a:t>- operator_hypothesis_lab/docs/HYP_REG_09_1_ROBUST_SLOPE_FIT_RESULTS.md</a:t>
            </a:r>
          </a:p>
          <a:p xmlns:a="http://schemas.openxmlformats.org/drawingml/2006/main">
            <a:r>
              <a:t>- docs/GEN5_HYP_REG_09_1_ROBUST_SLOPE_FIT_CONTRACT.md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Passing Stage A means the measurement is causal, interpretable, and usable. It does not establish that the state improves a specific strategy. Stage B keeps the parent unchanged and tests only the approved entry-permission interpretation.</a:t>
            </a:r>
          </a:p>
          <a:p xmlns:a="http://schemas.openxmlformats.org/drawingml/2006/main">
            <a:r>
              <a:t/>
            </a:r>
          </a:p>
          <a:p xmlns:a="http://schemas.openxmlformats.org/drawingml/2006/main">
            <a:r>
              <a:t>[Sources]</a:t>
            </a:r>
          </a:p>
          <a:p xmlns:a="http://schemas.openxmlformats.org/drawingml/2006/main">
            <a:r>
              <a:t>- runs/research_workbench/operator_hypothesis_lab/hyp_reg_09_1_robust_slope_fit_20260816/hyp_reg_09_1_stage_a_gates.csv</a:t>
            </a:r>
          </a:p>
          <a:p xmlns:a="http://schemas.openxmlformats.org/drawingml/2006/main">
            <a:r>
              <a:t>- docs/GEN5_HYP_REG_09_1_ROBUST_SLOPE_FIT_CONTRACT.md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unchanged parent reproduced all 156 retained cells. The overlay kept only 273 of 1,394 parent trades. Lower drawdown is real, but it is largely explained by median exposure falling to six percent. A valid protection claim must also satisfy return and Sharpe gates; this policy did not.</a:t>
            </a:r>
          </a:p>
          <a:p xmlns:a="http://schemas.openxmlformats.org/drawingml/2006/main">
            <a:r>
              <a:t/>
            </a:r>
          </a:p>
          <a:p xmlns:a="http://schemas.openxmlformats.org/drawingml/2006/main">
            <a:r>
              <a:t>[Sources]</a:t>
            </a:r>
          </a:p>
          <a:p xmlns:a="http://schemas.openxmlformats.org/drawingml/2006/main">
            <a:r>
              <a:t>- runs/research_workbench/operator_hypothesis_lab/hyp_reg_09_1_robust_slope_fit_20260816/hyp_reg_09_1_policy_panel.csv</a:t>
            </a:r>
          </a:p>
          <a:p xmlns:a="http://schemas.openxmlformats.org/drawingml/2006/main">
            <a:r>
              <a:t>- runs/research_workbench/operator_hypothesis_lab/hyp_reg_09_1_robust_slope_fit_20260816/hyp_reg_09_1_strategy_gates.csv</a:t>
            </a:r>
          </a:p>
          <a:p xmlns:a="http://schemas.openxmlformats.org/drawingml/2006/main">
            <a:r>
              <a:t>- operator_hypothesis_lab/docs/HYP_REG_09_1_ROBUST_SLOPE_FIT_RESULTS.md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hard gate did not rank parent trades as intended. ORDERLY_UP trades had a negative median and only a small positive mean. The non-positive-slope group had a 50.57% hit rate and 2.21% mean trade, emphasizing that an SMA cross can begin after a prior decline or reversal rather than after a mature 60-session rise.</a:t>
            </a:r>
          </a:p>
          <a:p xmlns:a="http://schemas.openxmlformats.org/drawingml/2006/main">
            <a:r>
              <a:t/>
            </a:r>
          </a:p>
          <a:p xmlns:a="http://schemas.openxmlformats.org/drawingml/2006/main">
            <a:r>
              <a:t>[Sources]</a:t>
            </a:r>
          </a:p>
          <a:p xmlns:a="http://schemas.openxmlformats.org/drawingml/2006/main">
            <a:r>
              <a:t>- runs/research_workbench/operator_hypothesis_lab/hyp_reg_09_1_robust_slope_fit_20260816/hyp_reg_09_1_entry_state_audit.csv</a:t>
            </a:r>
          </a:p>
          <a:p xmlns:a="http://schemas.openxmlformats.org/drawingml/2006/main">
            <a:r>
              <a:t>- C:/Users/Franc/OneDrive/Documents/Francis/Peltata Project/Time-Series-Modeling-Gen5/runs/research_workbench/operator_hypothesis_lab/hyp_reg_09_1_robust_slope_fit_20260816/hyp_reg_09_1_trades.csv</a:t>
            </a:r>
          </a:p>
          <a:p xmlns:a="http://schemas.openxmlformats.org/drawingml/2006/main">
            <a:r>
              <a:t>- operator_hypothesis_lab/docs/HYP_REG_09_1_ROBUST_SLOPE_FIT_RESULTS.md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policy's one positive panel-median year was 2018. Only JPM and UNH improved over six years. Against forty exposure-nearest controls selected from two hundred deterministic circular shifts, actual timing ranked at the 26.2nd percentile. The result is therefore worse than ordinary opportunity thinning, not merely lower exposure.</a:t>
            </a:r>
          </a:p>
          <a:p xmlns:a="http://schemas.openxmlformats.org/drawingml/2006/main">
            <a:r>
              <a:t/>
            </a:r>
          </a:p>
          <a:p xmlns:a="http://schemas.openxmlformats.org/drawingml/2006/main">
            <a:r>
              <a:t>[Sources]</a:t>
            </a:r>
          </a:p>
          <a:p xmlns:a="http://schemas.openxmlformats.org/drawingml/2006/main">
            <a:r>
              <a:t>- runs/research_workbench/operator_hypothesis_lab/hyp_reg_09_1_robust_slope_fit_20260816/hyp_reg_09_1_asset_summary.csv</a:t>
            </a:r>
          </a:p>
          <a:p xmlns:a="http://schemas.openxmlformats.org/drawingml/2006/main">
            <a:r>
              <a:t>- runs/research_workbench/operator_hypothesis_lab/hyp_reg_09_1_robust_slope_fit_20260816/hyp_reg_09_1_year_summary.csv</a:t>
            </a:r>
          </a:p>
          <a:p xmlns:a="http://schemas.openxmlformats.org/drawingml/2006/main">
            <a:r>
              <a:t>- runs/research_workbench/operator_hypothesis_lab/hyp_reg_09_1_robust_slope_fit_20260816/hyp_reg_09_1_placebo_readout.csv</a:t>
            </a:r>
          </a:p>
          <a:p xmlns:a="http://schemas.openxmlformats.org/drawingml/2006/main">
            <a:r>
              <a:t>- runs/research_workbench/operator_hypothesis_lab/hyp_reg_09_1_robust_slope_fit_20260816/hyp_reg_09_1_strategy_gates.csv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without rescue. The measurement implementation is a successful educational artifact. The specific binary entry-permission hypothesis is decisively rejected on the reused development surface, and the 2024+ confirmation period remains sealed. T3 requires a separate operator discussion and frozen contract.</a:t>
            </a:r>
          </a:p>
          <a:p xmlns:a="http://schemas.openxmlformats.org/drawingml/2006/main">
            <a:r>
              <a:t/>
            </a:r>
          </a:p>
          <a:p xmlns:a="http://schemas.openxmlformats.org/drawingml/2006/main">
            <a:r>
              <a:t>[Sources]</a:t>
            </a:r>
          </a:p>
          <a:p xmlns:a="http://schemas.openxmlformats.org/drawingml/2006/main">
            <a:r>
              <a:t>- operator_hypothesis_lab/docs/HYP_REG_09_1_ROBUST_SLOPE_FIT_RESULTS.md</a:t>
            </a:r>
          </a:p>
          <a:p xmlns:a="http://schemas.openxmlformats.org/drawingml/2006/main">
            <a:r>
              <a:t>- runs/research_workbench/operator_hypothesis_lab/hyp_reg_09_1_robust_slope_fit_20260816/hyp_reg_09_1_stage_a_gates.csv</a:t>
            </a:r>
          </a:p>
          <a:p xmlns:a="http://schemas.openxmlformats.org/drawingml/2006/main">
            <a:r>
              <a:t>- runs/research_workbench/operator_hypothesis_lab/hyp_reg_09_1_robust_slope_fit_20260816/hyp_reg_09_1_strategy_gates.csv</a:t>
            </a:r>
          </a:p>
          <a:p xmlns:a="http://schemas.openxmlformats.org/drawingml/2006/main">
            <a:r>
              <a:t>- runs/research_workbench/operator_hypothesis_lab/hyp_reg_09_1_robust_slope_fit_20260816/hyp_reg_09_1_run_spec.csv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18cdfece4c40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c8e8906dee44c3" /><Relationship Type="http://schemas.openxmlformats.org/officeDocument/2006/relationships/slideLayout" Target="/ppt/slideLayouts/slideLayout1.xml" Id="Rae378129616e49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378129616e49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292bb6a7a24f19" /><Relationship Type="http://schemas.openxmlformats.org/officeDocument/2006/relationships/image" Target="/ppt/media/image.png" Id="Ref6b3ac0368a419c" /><Relationship Type="http://schemas.openxmlformats.org/officeDocument/2006/relationships/notesSlide" Target="/ppt/notesSlides/notesSlide1.xml" Id="R34a83af58a264c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7fa8ba827b4ba7" /><Relationship Type="http://schemas.openxmlformats.org/officeDocument/2006/relationships/notesSlide" Target="/ppt/notesSlides/notesSlide2.xml" Id="R40f2dfb2eb9048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9f77f86b1c40ca" /><Relationship Type="http://schemas.openxmlformats.org/officeDocument/2006/relationships/notesSlide" Target="/ppt/notesSlides/notesSlide3.xml" Id="Raa26f01f08e940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5c230238d74901" /><Relationship Type="http://schemas.openxmlformats.org/officeDocument/2006/relationships/notesSlide" Target="/ppt/notesSlides/notesSlide4.xml" Id="R3cebab37e5544e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494661b59b42fa" /><Relationship Type="http://schemas.openxmlformats.org/officeDocument/2006/relationships/notesSlide" Target="/ppt/notesSlides/notesSlide5.xml" Id="R86437817c96042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51cf51d3be4103" /><Relationship Type="http://schemas.openxmlformats.org/officeDocument/2006/relationships/image" Target="/ppt/media/image2.png" Id="Rbde181671bd84df9" /><Relationship Type="http://schemas.openxmlformats.org/officeDocument/2006/relationships/notesSlide" Target="/ppt/notesSlides/notesSlide6.xml" Id="Rc9f4c9b00c1f4a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521156401d41b5" /><Relationship Type="http://schemas.openxmlformats.org/officeDocument/2006/relationships/image" Target="/ppt/media/image3.png" Id="R97d9e65b0f0f4185" /><Relationship Type="http://schemas.openxmlformats.org/officeDocument/2006/relationships/notesSlide" Target="/ppt/notesSlides/notesSlide7.xml" Id="R6cd4b224839046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d0d564fd774345" /><Relationship Type="http://schemas.openxmlformats.org/officeDocument/2006/relationships/image" Target="/ppt/media/image4.png" Id="R215377d8c01449e8" /><Relationship Type="http://schemas.openxmlformats.org/officeDocument/2006/relationships/notesSlide" Target="/ppt/notesSlides/notesSlide8.xml" Id="R084b58048f724f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9aa071c9854cbc" /><Relationship Type="http://schemas.openxmlformats.org/officeDocument/2006/relationships/image" Target="/ppt/media/image5.png" Id="R2f6deb7ff80541d7" /><Relationship Type="http://schemas.openxmlformats.org/officeDocument/2006/relationships/notesSlide" Target="/ppt/notesSlides/notesSlide9.xml" Id="R105d8923077848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d4fc8b30d74385" /><Relationship Type="http://schemas.openxmlformats.org/officeDocument/2006/relationships/notesSlide" Target="/ppt/notesSlides/notesSlide10.xml" Id="Rae3d154f324a42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0e391c3aa6491e" /><Relationship Type="http://schemas.openxmlformats.org/officeDocument/2006/relationships/image" Target="/ppt/media/image6.png" Id="R61bc6352bdc1487e" /><Relationship Type="http://schemas.openxmlformats.org/officeDocument/2006/relationships/notesSlide" Target="/ppt/notesSlides/notesSlide11.xml" Id="Rfcda10ca2a7f4d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5841d22f834d73" /><Relationship Type="http://schemas.openxmlformats.org/officeDocument/2006/relationships/image" Target="/ppt/media/image7.png" Id="R49ad5dadf9da4c4e" /><Relationship Type="http://schemas.openxmlformats.org/officeDocument/2006/relationships/notesSlide" Target="/ppt/notesSlides/notesSlide12.xml" Id="Rb13e1502ed9b48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bfd7525e0d49c5" /><Relationship Type="http://schemas.openxmlformats.org/officeDocument/2006/relationships/image" Target="/ppt/media/image8.png" Id="R50ba98957f3f4ae2" /><Relationship Type="http://schemas.openxmlformats.org/officeDocument/2006/relationships/notesSlide" Target="/ppt/notesSlides/notesSlide13.xml" Id="Rf62d312fec9a48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ca3d3351c8e4f3d" /><Relationship Type="http://schemas.openxmlformats.org/officeDocument/2006/relationships/notesSlide" Target="/ppt/notesSlides/notesSlide14.xml" Id="R8d898f5430e9458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A28906-EBBF-42AF-92EB-A9E8E6B42440}"/>
              </a:ext>
            </a:extLst>
          </p:cNvPr>
          <p:cNvSpPr>
            <a:spLocks xmlns:a="http://schemas.openxmlformats.org/drawingml/2006/main" noGrp="1"/>
          </p:cNvSpPr>
          <p:nvPr/>
        </p:nvSpPr>
        <p:spPr>
          <a:xfrm xmlns:a="http://schemas.openxmlformats.org/drawingml/2006/main">
            <a:off x="476250" y="400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HYP-REG-09.1</a:t>
            </a:r>
          </a:p>
        </p:txBody>
      </p:sp>
      <p:sp>
        <p:nvSpPr>
          <p:cNvPr id="2" name="">
            <a:extLst xmlns:a="http://schemas.openxmlformats.org/drawingml/2006/main">
              <a:ext uri="{FF2B5EF4-FFF2-40B4-BE49-F238E27FC236}">
                <a16:creationId xmlns:a16="http://schemas.microsoft.com/office/drawing/2014/main" id="{EB49547C-078A-4A96-A891-948E084DFF2C}"/>
              </a:ext>
            </a:extLst>
          </p:cNvPr>
          <p:cNvSpPr>
            <a:spLocks xmlns:a="http://schemas.openxmlformats.org/drawingml/2006/main" noGrp="1"/>
          </p:cNvSpPr>
          <p:nvPr/>
        </p:nvSpPr>
        <p:spPr>
          <a:xfrm xmlns:a="http://schemas.openxmlformats.org/drawingml/2006/main">
            <a:off x="476250" y="1066800"/>
            <a:ext cx="557212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7324D"/>
                </a:solidFill>
              </a:defRPr>
            </a:pPr>
            <a:r>
              <a:rPr sz="3450" b="1">
                <a:solidFill>
                  <a:srgbClr val="17324D"/>
                </a:solidFill>
              </a:rPr>
              <a:t>Robust slope and path quality worked as a measurement—</a:t>
            </a:r>
          </a:p>
          <a:p xmlns:a="http://schemas.openxmlformats.org/drawingml/2006/main">
            <a:pPr algn="l">
              <a:defRPr sz="3450" b="1">
                <a:solidFill>
                  <a:srgbClr val="17324D"/>
                </a:solidFill>
              </a:defRPr>
            </a:pPr>
            <a:r>
              <a:rPr sz="3450" b="1">
                <a:solidFill>
                  <a:srgbClr val="17324D"/>
                </a:solidFill>
              </a:rPr>
              <a:t>not as an SMA entry permission</a:t>
            </a:r>
          </a:p>
        </p:txBody>
      </p:sp>
      <p:sp>
        <p:nvSpPr>
          <p:cNvPr id="3" name="">
            <a:extLst xmlns:a="http://schemas.openxmlformats.org/drawingml/2006/main">
              <a:ext uri="{FF2B5EF4-FFF2-40B4-BE49-F238E27FC236}">
                <a16:creationId xmlns:a16="http://schemas.microsoft.com/office/drawing/2014/main" id="{A7003B8B-E8F0-4E39-9D5C-3227F8A57673}"/>
              </a:ext>
            </a:extLst>
          </p:cNvPr>
          <p:cNvSpPr>
            <a:spLocks xmlns:a="http://schemas.openxmlformats.org/drawingml/2006/main" noGrp="1"/>
          </p:cNvSpPr>
          <p:nvPr/>
        </p:nvSpPr>
        <p:spPr>
          <a:xfrm xmlns:a="http://schemas.openxmlformats.org/drawingml/2006/main">
            <a:off x="476250" y="360045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Theil–Sen 60-session primary · 120-session durability · 26 assets · 2018–2023</a:t>
            </a:r>
          </a:p>
        </p:txBody>
      </p:sp>
      <p:sp>
        <p:nvSpPr>
          <p:cNvPr id="4" name="">
            <a:extLst xmlns:a="http://schemas.openxmlformats.org/drawingml/2006/main">
              <a:ext uri="{FF2B5EF4-FFF2-40B4-BE49-F238E27FC236}">
                <a16:creationId xmlns:a16="http://schemas.microsoft.com/office/drawing/2014/main" id="{AFC8EC2A-4FF4-437C-A4F5-979BFD9D39FE}"/>
              </a:ext>
            </a:extLst>
          </p:cNvPr>
          <p:cNvSpPr>
            <a:spLocks xmlns:a="http://schemas.openxmlformats.org/drawingml/2006/main" noGrp="1"/>
          </p:cNvSpPr>
          <p:nvPr/>
        </p:nvSpPr>
        <p:spPr>
          <a:xfrm xmlns:a="http://schemas.openxmlformats.org/drawingml/2006/main">
            <a:off x="476250" y="4857750"/>
            <a:ext cx="5429250" cy="8382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BA541B-B615-420B-BC1C-197D77DD9997}"/>
              </a:ext>
            </a:extLst>
          </p:cNvPr>
          <p:cNvSpPr>
            <a:spLocks xmlns:a="http://schemas.openxmlformats.org/drawingml/2006/main" noGrp="1"/>
          </p:cNvSpPr>
          <p:nvPr/>
        </p:nvSpPr>
        <p:spPr>
          <a:xfrm xmlns:a="http://schemas.openxmlformats.org/drawingml/2006/main">
            <a:off x="714375" y="51244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95F59"/>
                </a:solidFill>
              </a:defRPr>
            </a:pPr>
            <a:r>
              <a:rPr sz="1725" b="1">
                <a:solidFill>
                  <a:srgbClr val="D95F59"/>
                </a:solidFill>
              </a:rPr>
              <a:t>STOP · Stage A 7/7 · Strategy 3/9</a:t>
            </a:r>
          </a:p>
        </p:txBody>
      </p:sp>
      <p:sp>
        <p:nvSpPr>
          <p:cNvPr id="6" name="">
            <a:extLst xmlns:a="http://schemas.openxmlformats.org/drawingml/2006/main">
              <a:ext uri="{FF2B5EF4-FFF2-40B4-BE49-F238E27FC236}">
                <a16:creationId xmlns:a16="http://schemas.microsoft.com/office/drawing/2014/main" id="{1601BF46-3748-4E45-8541-12A2929FD74D}"/>
              </a:ext>
            </a:extLst>
          </p:cNvPr>
          <p:cNvSpPr>
            <a:spLocks xmlns:a="http://schemas.openxmlformats.org/drawingml/2006/main" noGrp="1"/>
          </p:cNvSpPr>
          <p:nvPr/>
        </p:nvSpPr>
        <p:spPr>
          <a:xfrm xmlns:a="http://schemas.openxmlformats.org/drawingml/2006/main">
            <a:off x="6334125" y="523875"/>
            <a:ext cx="5286375" cy="5238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6b3ac0368a419c"/>
          <a:stretch xmlns:a="http://schemas.openxmlformats.org/drawingml/2006/main"/>
        </p:blipFill>
        <p:spPr>
          <a:xfrm xmlns:a="http://schemas.openxmlformats.org/drawingml/2006/main">
            <a:off x="6334125" y="1674813"/>
            <a:ext cx="5286375" cy="2936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EDB77E-4D8D-427C-B4F7-7BCC8E7AF2C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17466123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492A3D1-0A80-42B0-A087-0EEAC376D6F7}"/>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QUESTION</a:t>
            </a:r>
          </a:p>
        </p:txBody>
      </p:sp>
      <p:sp>
        <p:nvSpPr>
          <p:cNvPr id="2" name="">
            <a:extLst xmlns:a="http://schemas.openxmlformats.org/drawingml/2006/main">
              <a:ext uri="{FF2B5EF4-FFF2-40B4-BE49-F238E27FC236}">
                <a16:creationId xmlns:a16="http://schemas.microsoft.com/office/drawing/2014/main" id="{A3101798-E3E7-4619-B2C6-2D68A176264F}"/>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Three trend properties were kept separate</a:t>
            </a:r>
          </a:p>
        </p:txBody>
      </p:sp>
      <p:sp>
        <p:nvSpPr>
          <p:cNvPr id="3" name="">
            <a:extLst xmlns:a="http://schemas.openxmlformats.org/drawingml/2006/main">
              <a:ext uri="{FF2B5EF4-FFF2-40B4-BE49-F238E27FC236}">
                <a16:creationId xmlns:a16="http://schemas.microsoft.com/office/drawing/2014/main" id="{8CF60701-6B7F-4DFD-A8BD-ABB63382020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44E8EDCD-D2C8-4F34-9C81-85928FC82693}"/>
              </a:ext>
            </a:extLst>
          </p:cNvPr>
          <p:cNvSpPr>
            <a:spLocks xmlns:a="http://schemas.openxmlformats.org/drawingml/2006/main" noGrp="1"/>
          </p:cNvSpPr>
          <p:nvPr/>
        </p:nvSpPr>
        <p:spPr>
          <a:xfrm xmlns:a="http://schemas.openxmlformats.org/drawingml/2006/main">
            <a:off x="523875" y="1381125"/>
            <a:ext cx="3571875" cy="19526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B9C9C2B-B165-46FD-BD94-4DAC55EACB7B}"/>
              </a:ext>
            </a:extLst>
          </p:cNvPr>
          <p:cNvSpPr>
            <a:spLocks xmlns:a="http://schemas.openxmlformats.org/drawingml/2006/main" noGrp="1"/>
          </p:cNvSpPr>
          <p:nvPr/>
        </p:nvSpPr>
        <p:spPr>
          <a:xfrm xmlns:a="http://schemas.openxmlformats.org/drawingml/2006/main">
            <a:off x="790575" y="16668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DIRECTION</a:t>
            </a:r>
          </a:p>
        </p:txBody>
      </p:sp>
      <p:sp>
        <p:nvSpPr>
          <p:cNvPr id="6" name="">
            <a:extLst xmlns:a="http://schemas.openxmlformats.org/drawingml/2006/main">
              <a:ext uri="{FF2B5EF4-FFF2-40B4-BE49-F238E27FC236}">
                <a16:creationId xmlns:a16="http://schemas.microsoft.com/office/drawing/2014/main" id="{6FAE16B4-794E-4D31-860E-C791593B3354}"/>
              </a:ext>
            </a:extLst>
          </p:cNvPr>
          <p:cNvSpPr>
            <a:spLocks xmlns:a="http://schemas.openxmlformats.org/drawingml/2006/main" noGrp="1"/>
          </p:cNvSpPr>
          <p:nvPr/>
        </p:nvSpPr>
        <p:spPr>
          <a:xfrm xmlns:a="http://schemas.openxmlformats.org/drawingml/2006/main">
            <a:off x="790575" y="21431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324D"/>
                </a:solidFill>
              </a:defRPr>
            </a:pPr>
            <a:r>
              <a:rPr sz="2025" b="1">
                <a:solidFill>
                  <a:srgbClr val="17324D"/>
                </a:solidFill>
              </a:rPr>
              <a:t>sign of robust slope</a:t>
            </a:r>
          </a:p>
        </p:txBody>
      </p:sp>
      <p:sp>
        <p:nvSpPr>
          <p:cNvPr id="7" name="">
            <a:extLst xmlns:a="http://schemas.openxmlformats.org/drawingml/2006/main">
              <a:ext uri="{FF2B5EF4-FFF2-40B4-BE49-F238E27FC236}">
                <a16:creationId xmlns:a16="http://schemas.microsoft.com/office/drawing/2014/main" id="{71FC5B64-5B79-4A31-85B1-BDE31BA14767}"/>
              </a:ext>
            </a:extLst>
          </p:cNvPr>
          <p:cNvSpPr>
            <a:spLocks xmlns:a="http://schemas.openxmlformats.org/drawingml/2006/main" noGrp="1"/>
          </p:cNvSpPr>
          <p:nvPr/>
        </p:nvSpPr>
        <p:spPr>
          <a:xfrm xmlns:a="http://schemas.openxmlformats.org/drawingml/2006/main">
            <a:off x="790575" y="2714625"/>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Is the fitted path rising or falling?</a:t>
            </a:r>
          </a:p>
        </p:txBody>
      </p:sp>
      <p:sp>
        <p:nvSpPr>
          <p:cNvPr id="8" name="">
            <a:extLst xmlns:a="http://schemas.openxmlformats.org/drawingml/2006/main">
              <a:ext uri="{FF2B5EF4-FFF2-40B4-BE49-F238E27FC236}">
                <a16:creationId xmlns:a16="http://schemas.microsoft.com/office/drawing/2014/main" id="{4D43576C-B4FC-475E-89C1-56BC1465876C}"/>
              </a:ext>
            </a:extLst>
          </p:cNvPr>
          <p:cNvSpPr>
            <a:spLocks xmlns:a="http://schemas.openxmlformats.org/drawingml/2006/main" noGrp="1"/>
          </p:cNvSpPr>
          <p:nvPr/>
        </p:nvSpPr>
        <p:spPr>
          <a:xfrm xmlns:a="http://schemas.openxmlformats.org/drawingml/2006/main">
            <a:off x="4429125" y="1381125"/>
            <a:ext cx="3571875" cy="1952625"/>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785ABAF-2E92-4B9A-A504-032E88849193}"/>
              </a:ext>
            </a:extLst>
          </p:cNvPr>
          <p:cNvSpPr>
            <a:spLocks xmlns:a="http://schemas.openxmlformats.org/drawingml/2006/main" noGrp="1"/>
          </p:cNvSpPr>
          <p:nvPr/>
        </p:nvSpPr>
        <p:spPr>
          <a:xfrm xmlns:a="http://schemas.openxmlformats.org/drawingml/2006/main">
            <a:off x="4695825" y="16668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E8B57"/>
                </a:solidFill>
              </a:defRPr>
            </a:pPr>
            <a:r>
              <a:rPr sz="1200" b="1">
                <a:solidFill>
                  <a:srgbClr val="2E8B57"/>
                </a:solidFill>
              </a:rPr>
              <a:t>STRENGTH</a:t>
            </a:r>
          </a:p>
        </p:txBody>
      </p:sp>
      <p:sp>
        <p:nvSpPr>
          <p:cNvPr id="10" name="">
            <a:extLst xmlns:a="http://schemas.openxmlformats.org/drawingml/2006/main">
              <a:ext uri="{FF2B5EF4-FFF2-40B4-BE49-F238E27FC236}">
                <a16:creationId xmlns:a16="http://schemas.microsoft.com/office/drawing/2014/main" id="{614094C9-EDA4-422E-97D3-CE541A7018B1}"/>
              </a:ext>
            </a:extLst>
          </p:cNvPr>
          <p:cNvSpPr>
            <a:spLocks xmlns:a="http://schemas.openxmlformats.org/drawingml/2006/main" noGrp="1"/>
          </p:cNvSpPr>
          <p:nvPr/>
        </p:nvSpPr>
        <p:spPr>
          <a:xfrm xmlns:a="http://schemas.openxmlformats.org/drawingml/2006/main">
            <a:off x="4695825" y="21431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324D"/>
                </a:solidFill>
              </a:defRPr>
            </a:pPr>
            <a:r>
              <a:rPr sz="2025" b="1">
                <a:solidFill>
                  <a:srgbClr val="17324D"/>
                </a:solidFill>
              </a:rPr>
              <a:t>slope ÷ realized noise</a:t>
            </a:r>
          </a:p>
        </p:txBody>
      </p:sp>
      <p:sp>
        <p:nvSpPr>
          <p:cNvPr id="11" name="">
            <a:extLst xmlns:a="http://schemas.openxmlformats.org/drawingml/2006/main">
              <a:ext uri="{FF2B5EF4-FFF2-40B4-BE49-F238E27FC236}">
                <a16:creationId xmlns:a16="http://schemas.microsoft.com/office/drawing/2014/main" id="{7782A25E-EEA8-4A67-A9B2-5C36E6D4517C}"/>
              </a:ext>
            </a:extLst>
          </p:cNvPr>
          <p:cNvSpPr>
            <a:spLocks xmlns:a="http://schemas.openxmlformats.org/drawingml/2006/main" noGrp="1"/>
          </p:cNvSpPr>
          <p:nvPr/>
        </p:nvSpPr>
        <p:spPr>
          <a:xfrm xmlns:a="http://schemas.openxmlformats.org/drawingml/2006/main">
            <a:off x="4695825" y="2714625"/>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How large is the fitted move relative to volatility?</a:t>
            </a:r>
          </a:p>
        </p:txBody>
      </p:sp>
      <p:sp>
        <p:nvSpPr>
          <p:cNvPr id="12" name="">
            <a:extLst xmlns:a="http://schemas.openxmlformats.org/drawingml/2006/main">
              <a:ext uri="{FF2B5EF4-FFF2-40B4-BE49-F238E27FC236}">
                <a16:creationId xmlns:a16="http://schemas.microsoft.com/office/drawing/2014/main" id="{447831BC-B3E5-43DC-9376-C98BB2506E77}"/>
              </a:ext>
            </a:extLst>
          </p:cNvPr>
          <p:cNvSpPr>
            <a:spLocks xmlns:a="http://schemas.openxmlformats.org/drawingml/2006/main" noGrp="1"/>
          </p:cNvSpPr>
          <p:nvPr/>
        </p:nvSpPr>
        <p:spPr>
          <a:xfrm xmlns:a="http://schemas.openxmlformats.org/drawingml/2006/main">
            <a:off x="8334375" y="1381125"/>
            <a:ext cx="3571875" cy="195262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C86CD0-A602-451D-B7CC-8DE89306C04E}"/>
              </a:ext>
            </a:extLst>
          </p:cNvPr>
          <p:cNvSpPr>
            <a:spLocks xmlns:a="http://schemas.openxmlformats.org/drawingml/2006/main" noGrp="1"/>
          </p:cNvSpPr>
          <p:nvPr/>
        </p:nvSpPr>
        <p:spPr>
          <a:xfrm xmlns:a="http://schemas.openxmlformats.org/drawingml/2006/main">
            <a:off x="8601075" y="16668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2A65A"/>
                </a:solidFill>
              </a:defRPr>
            </a:pPr>
            <a:r>
              <a:rPr sz="1200" b="1">
                <a:solidFill>
                  <a:srgbClr val="F2A65A"/>
                </a:solidFill>
              </a:rPr>
              <a:t>QUALITY</a:t>
            </a:r>
          </a:p>
        </p:txBody>
      </p:sp>
      <p:sp>
        <p:nvSpPr>
          <p:cNvPr id="14" name="">
            <a:extLst xmlns:a="http://schemas.openxmlformats.org/drawingml/2006/main">
              <a:ext uri="{FF2B5EF4-FFF2-40B4-BE49-F238E27FC236}">
                <a16:creationId xmlns:a16="http://schemas.microsoft.com/office/drawing/2014/main" id="{E57FE056-AA66-4C36-9977-3AB4E82F7D52}"/>
              </a:ext>
            </a:extLst>
          </p:cNvPr>
          <p:cNvSpPr>
            <a:spLocks xmlns:a="http://schemas.openxmlformats.org/drawingml/2006/main" noGrp="1"/>
          </p:cNvSpPr>
          <p:nvPr/>
        </p:nvSpPr>
        <p:spPr>
          <a:xfrm xmlns:a="http://schemas.openxmlformats.org/drawingml/2006/main">
            <a:off x="8601075" y="21431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324D"/>
                </a:solidFill>
              </a:defRPr>
            </a:pPr>
            <a:r>
              <a:rPr sz="2025" b="1">
                <a:solidFill>
                  <a:srgbClr val="17324D"/>
                </a:solidFill>
              </a:rPr>
              <a:t>rank monotonicity</a:t>
            </a:r>
          </a:p>
        </p:txBody>
      </p:sp>
      <p:sp>
        <p:nvSpPr>
          <p:cNvPr id="15" name="">
            <a:extLst xmlns:a="http://schemas.openxmlformats.org/drawingml/2006/main">
              <a:ext uri="{FF2B5EF4-FFF2-40B4-BE49-F238E27FC236}">
                <a16:creationId xmlns:a16="http://schemas.microsoft.com/office/drawing/2014/main" id="{6C002A29-B848-4396-9D90-D638D9AF99B0}"/>
              </a:ext>
            </a:extLst>
          </p:cNvPr>
          <p:cNvSpPr>
            <a:spLocks xmlns:a="http://schemas.openxmlformats.org/drawingml/2006/main" noGrp="1"/>
          </p:cNvSpPr>
          <p:nvPr/>
        </p:nvSpPr>
        <p:spPr>
          <a:xfrm xmlns:a="http://schemas.openxmlformats.org/drawingml/2006/main">
            <a:off x="8601075" y="2714625"/>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How orderly was the completed path, regardless of sign?</a:t>
            </a:r>
          </a:p>
        </p:txBody>
      </p:sp>
      <p:sp>
        <p:nvSpPr>
          <p:cNvPr id="16" name="">
            <a:extLst xmlns:a="http://schemas.openxmlformats.org/drawingml/2006/main">
              <a:ext uri="{FF2B5EF4-FFF2-40B4-BE49-F238E27FC236}">
                <a16:creationId xmlns:a16="http://schemas.microsoft.com/office/drawing/2014/main" id="{4874FEE6-70F8-4CAE-80E8-7931862ECC83}"/>
              </a:ext>
            </a:extLst>
          </p:cNvPr>
          <p:cNvSpPr>
            <a:spLocks xmlns:a="http://schemas.openxmlformats.org/drawingml/2006/main" noGrp="1"/>
          </p:cNvSpPr>
          <p:nvPr/>
        </p:nvSpPr>
        <p:spPr>
          <a:xfrm xmlns:a="http://schemas.openxmlformats.org/drawingml/2006/main">
            <a:off x="666750" y="38576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Frozen boundaries</a:t>
            </a:r>
          </a:p>
        </p:txBody>
      </p:sp>
      <p:sp>
        <p:nvSpPr>
          <p:cNvPr id="17" name="">
            <a:extLst xmlns:a="http://schemas.openxmlformats.org/drawingml/2006/main">
              <a:ext uri="{FF2B5EF4-FFF2-40B4-BE49-F238E27FC236}">
                <a16:creationId xmlns:a16="http://schemas.microsoft.com/office/drawing/2014/main" id="{CBC97DB1-E624-4F84-863A-DABAE5F367B9}"/>
              </a:ext>
            </a:extLst>
          </p:cNvPr>
          <p:cNvSpPr>
            <a:spLocks xmlns:a="http://schemas.openxmlformats.org/drawingml/2006/main" noGrp="1"/>
          </p:cNvSpPr>
          <p:nvPr/>
        </p:nvSpPr>
        <p:spPr>
          <a:xfrm xmlns:a="http://schemas.openxmlformats.org/drawingml/2006/main">
            <a:off x="809625" y="44577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4B6BFD4-46FD-454F-B8BB-7ED88FC404F2}"/>
              </a:ext>
            </a:extLst>
          </p:cNvPr>
          <p:cNvSpPr>
            <a:spLocks xmlns:a="http://schemas.openxmlformats.org/drawingml/2006/main" noGrp="1"/>
          </p:cNvSpPr>
          <p:nvPr/>
        </p:nvSpPr>
        <p:spPr>
          <a:xfrm xmlns:a="http://schemas.openxmlformats.org/drawingml/2006/main">
            <a:off x="1028700" y="4381500"/>
            <a:ext cx="10258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60 completed closes primary; 120 only as durability evidence</a:t>
            </a:r>
          </a:p>
        </p:txBody>
      </p:sp>
      <p:sp>
        <p:nvSpPr>
          <p:cNvPr id="19" name="">
            <a:extLst xmlns:a="http://schemas.openxmlformats.org/drawingml/2006/main">
              <a:ext uri="{FF2B5EF4-FFF2-40B4-BE49-F238E27FC236}">
                <a16:creationId xmlns:a16="http://schemas.microsoft.com/office/drawing/2014/main" id="{FF225612-6EA4-4A9D-BF97-EBC0D58DED2F}"/>
              </a:ext>
            </a:extLst>
          </p:cNvPr>
          <p:cNvSpPr>
            <a:spLocks xmlns:a="http://schemas.openxmlformats.org/drawingml/2006/main" noGrp="1"/>
          </p:cNvSpPr>
          <p:nvPr/>
        </p:nvSpPr>
        <p:spPr>
          <a:xfrm xmlns:a="http://schemas.openxmlformats.org/drawingml/2006/main">
            <a:off x="809625" y="49053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E38813-9A91-4EB4-92A2-4A0C637013AB}"/>
              </a:ext>
            </a:extLst>
          </p:cNvPr>
          <p:cNvSpPr>
            <a:spLocks xmlns:a="http://schemas.openxmlformats.org/drawingml/2006/main" noGrp="1"/>
          </p:cNvSpPr>
          <p:nvPr/>
        </p:nvSpPr>
        <p:spPr>
          <a:xfrm xmlns:a="http://schemas.openxmlformats.org/drawingml/2006/main">
            <a:off x="1028700" y="4829175"/>
            <a:ext cx="10258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Quality ranked against the prior 252 completed values; current row excluded</a:t>
            </a:r>
          </a:p>
        </p:txBody>
      </p:sp>
      <p:sp>
        <p:nvSpPr>
          <p:cNvPr id="21" name="">
            <a:extLst xmlns:a="http://schemas.openxmlformats.org/drawingml/2006/main">
              <a:ext uri="{FF2B5EF4-FFF2-40B4-BE49-F238E27FC236}">
                <a16:creationId xmlns:a16="http://schemas.microsoft.com/office/drawing/2014/main" id="{6B8A6881-11CA-4FB1-B8AD-F551B46574FB}"/>
              </a:ext>
            </a:extLst>
          </p:cNvPr>
          <p:cNvSpPr>
            <a:spLocks xmlns:a="http://schemas.openxmlformats.org/drawingml/2006/main" noGrp="1"/>
          </p:cNvSpPr>
          <p:nvPr/>
        </p:nvSpPr>
        <p:spPr>
          <a:xfrm xmlns:a="http://schemas.openxmlformats.org/drawingml/2006/main">
            <a:off x="809625" y="53530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3FE9DF2-E5EA-4355-BCB9-88739A8C3440}"/>
              </a:ext>
            </a:extLst>
          </p:cNvPr>
          <p:cNvSpPr>
            <a:spLocks xmlns:a="http://schemas.openxmlformats.org/drawingml/2006/main" noGrp="1"/>
          </p:cNvSpPr>
          <p:nvPr/>
        </p:nvSpPr>
        <p:spPr>
          <a:xfrm xmlns:a="http://schemas.openxmlformats.org/drawingml/2006/main">
            <a:off x="1028700" y="5276850"/>
            <a:ext cx="10258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2018–2023 reused development panel: 24 stocks plus SPY and QQQ</a:t>
            </a:r>
          </a:p>
        </p:txBody>
      </p:sp>
      <p:sp>
        <p:nvSpPr>
          <p:cNvPr id="23" name="">
            <a:extLst xmlns:a="http://schemas.openxmlformats.org/drawingml/2006/main">
              <a:ext uri="{FF2B5EF4-FFF2-40B4-BE49-F238E27FC236}">
                <a16:creationId xmlns:a16="http://schemas.microsoft.com/office/drawing/2014/main" id="{C97AF8F1-6FC4-4580-B2C6-1D9BEA25B470}"/>
              </a:ext>
            </a:extLst>
          </p:cNvPr>
          <p:cNvSpPr>
            <a:spLocks xmlns:a="http://schemas.openxmlformats.org/drawingml/2006/main" noGrp="1"/>
          </p:cNvSpPr>
          <p:nvPr/>
        </p:nvSpPr>
        <p:spPr>
          <a:xfrm xmlns:a="http://schemas.openxmlformats.org/drawingml/2006/main">
            <a:off x="809625" y="58007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8C8FAE-B428-4207-829B-987A06C035A7}"/>
              </a:ext>
            </a:extLst>
          </p:cNvPr>
          <p:cNvSpPr>
            <a:spLocks xmlns:a="http://schemas.openxmlformats.org/drawingml/2006/main" noGrp="1"/>
          </p:cNvSpPr>
          <p:nvPr/>
        </p:nvSpPr>
        <p:spPr>
          <a:xfrm xmlns:a="http://schemas.openxmlformats.org/drawingml/2006/main">
            <a:off x="1028700" y="5724525"/>
            <a:ext cx="102584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2024+ sealed; no grid, rescue threshold, ATR join, leverage, or asset selection</a:t>
            </a:r>
          </a:p>
        </p:txBody>
      </p:sp>
    </p:spTree>
    <p:extLst>
      <p:ext uri="{BB962C8B-B14F-4D97-AF65-F5344CB8AC3E}">
        <p14:creationId xmlns:p14="http://schemas.microsoft.com/office/powerpoint/2010/main" val="8744027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92B380D-6018-4E1C-8FD0-69822236CAA0}"/>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THEORY · ROBUST DIRECTION</a:t>
            </a:r>
          </a:p>
        </p:txBody>
      </p:sp>
      <p:sp>
        <p:nvSpPr>
          <p:cNvPr id="2" name="">
            <a:extLst xmlns:a="http://schemas.openxmlformats.org/drawingml/2006/main">
              <a:ext uri="{FF2B5EF4-FFF2-40B4-BE49-F238E27FC236}">
                <a16:creationId xmlns:a16="http://schemas.microsoft.com/office/drawing/2014/main" id="{8EA2EF9D-1532-4CB2-A5A4-71D0A26E711F}"/>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Theil–Sen replaces one fragile fitted line with a median of pairwise slopes</a:t>
            </a:r>
          </a:p>
        </p:txBody>
      </p:sp>
      <p:sp>
        <p:nvSpPr>
          <p:cNvPr id="3" name="">
            <a:extLst xmlns:a="http://schemas.openxmlformats.org/drawingml/2006/main">
              <a:ext uri="{FF2B5EF4-FFF2-40B4-BE49-F238E27FC236}">
                <a16:creationId xmlns:a16="http://schemas.microsoft.com/office/drawing/2014/main" id="{17912FCD-80F6-4FFC-A515-95E41E65F8E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9D8D0C76-B52B-42C4-9870-94A8F0B0F904}"/>
              </a:ext>
            </a:extLst>
          </p:cNvPr>
          <p:cNvSpPr>
            <a:spLocks xmlns:a="http://schemas.openxmlformats.org/drawingml/2006/main" noGrp="1"/>
          </p:cNvSpPr>
          <p:nvPr/>
        </p:nvSpPr>
        <p:spPr>
          <a:xfrm xmlns:a="http://schemas.openxmlformats.org/drawingml/2006/main">
            <a:off x="762000" y="1381125"/>
            <a:ext cx="10668000" cy="10001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0C93C69-F1D0-4276-AB59-35065E649F67}"/>
              </a:ext>
            </a:extLst>
          </p:cNvPr>
          <p:cNvSpPr>
            <a:spLocks xmlns:a="http://schemas.openxmlformats.org/drawingml/2006/main" noGrp="1"/>
          </p:cNvSpPr>
          <p:nvPr/>
        </p:nvSpPr>
        <p:spPr>
          <a:xfrm xmlns:a="http://schemas.openxmlformats.org/drawingml/2006/main">
            <a:off x="1047750" y="169545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75" b="1">
                <a:solidFill>
                  <a:srgbClr val="17324D"/>
                </a:solidFill>
              </a:defRPr>
            </a:pPr>
            <a:r>
              <a:rPr sz="2175" b="1">
                <a:solidFill>
                  <a:srgbClr val="17324D"/>
                </a:solidFill>
              </a:rPr>
              <a:t>bTS = median  [ log(Pj) − log(Pi) ] / (j − i)     for every i &lt; j</a:t>
            </a:r>
          </a:p>
        </p:txBody>
      </p:sp>
      <p:sp>
        <p:nvSpPr>
          <p:cNvPr id="6" name="">
            <a:extLst xmlns:a="http://schemas.openxmlformats.org/drawingml/2006/main">
              <a:ext uri="{FF2B5EF4-FFF2-40B4-BE49-F238E27FC236}">
                <a16:creationId xmlns:a16="http://schemas.microsoft.com/office/drawing/2014/main" id="{57EEC317-CB8D-4C5A-B581-5F664AA7F599}"/>
              </a:ext>
            </a:extLst>
          </p:cNvPr>
          <p:cNvSpPr>
            <a:spLocks xmlns:a="http://schemas.openxmlformats.org/drawingml/2006/main" noGrp="1"/>
          </p:cNvSpPr>
          <p:nvPr/>
        </p:nvSpPr>
        <p:spPr>
          <a:xfrm xmlns:a="http://schemas.openxmlformats.org/drawingml/2006/main">
            <a:off x="619125" y="2905125"/>
            <a:ext cx="4953000" cy="2238375"/>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59BC2D4-B091-414D-939A-8D719EC1A384}"/>
              </a:ext>
            </a:extLst>
          </p:cNvPr>
          <p:cNvSpPr>
            <a:spLocks xmlns:a="http://schemas.openxmlformats.org/drawingml/2006/main" noGrp="1"/>
          </p:cNvSpPr>
          <p:nvPr/>
        </p:nvSpPr>
        <p:spPr>
          <a:xfrm xmlns:a="http://schemas.openxmlformats.org/drawingml/2006/main">
            <a:off x="904875" y="319087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3D8DFF"/>
                </a:solidFill>
              </a:defRPr>
            </a:pPr>
            <a:r>
              <a:rPr sz="1950" b="1">
                <a:solidFill>
                  <a:srgbClr val="3D8DFF"/>
                </a:solidFill>
              </a:rPr>
              <a:t>Plain-English intuition</a:t>
            </a:r>
          </a:p>
        </p:txBody>
      </p:sp>
      <p:sp>
        <p:nvSpPr>
          <p:cNvPr id="8" name="">
            <a:extLst xmlns:a="http://schemas.openxmlformats.org/drawingml/2006/main">
              <a:ext uri="{FF2B5EF4-FFF2-40B4-BE49-F238E27FC236}">
                <a16:creationId xmlns:a16="http://schemas.microsoft.com/office/drawing/2014/main" id="{6DA9A487-FD84-4AAF-B030-6EEC3669CF7F}"/>
              </a:ext>
            </a:extLst>
          </p:cNvPr>
          <p:cNvSpPr>
            <a:spLocks xmlns:a="http://schemas.openxmlformats.org/drawingml/2006/main" noGrp="1"/>
          </p:cNvSpPr>
          <p:nvPr/>
        </p:nvSpPr>
        <p:spPr>
          <a:xfrm xmlns:a="http://schemas.openxmlformats.org/drawingml/2006/main">
            <a:off x="952500" y="38385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336AE0-10EF-42C6-A155-94A9F63AC885}"/>
              </a:ext>
            </a:extLst>
          </p:cNvPr>
          <p:cNvSpPr>
            <a:spLocks xmlns:a="http://schemas.openxmlformats.org/drawingml/2006/main" noGrp="1"/>
          </p:cNvSpPr>
          <p:nvPr/>
        </p:nvSpPr>
        <p:spPr>
          <a:xfrm xmlns:a="http://schemas.openxmlformats.org/drawingml/2006/main">
            <a:off x="1171575" y="3762375"/>
            <a:ext cx="401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Draw a slope between every pair of observations</a:t>
            </a:r>
          </a:p>
        </p:txBody>
      </p:sp>
      <p:sp>
        <p:nvSpPr>
          <p:cNvPr id="10" name="">
            <a:extLst xmlns:a="http://schemas.openxmlformats.org/drawingml/2006/main">
              <a:ext uri="{FF2B5EF4-FFF2-40B4-BE49-F238E27FC236}">
                <a16:creationId xmlns:a16="http://schemas.microsoft.com/office/drawing/2014/main" id="{08AE39D3-C112-435C-A4AD-2C63DBA54573}"/>
              </a:ext>
            </a:extLst>
          </p:cNvPr>
          <p:cNvSpPr>
            <a:spLocks xmlns:a="http://schemas.openxmlformats.org/drawingml/2006/main" noGrp="1"/>
          </p:cNvSpPr>
          <p:nvPr/>
        </p:nvSpPr>
        <p:spPr>
          <a:xfrm xmlns:a="http://schemas.openxmlformats.org/drawingml/2006/main">
            <a:off x="952500" y="424815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FAE1B09-ABE9-4DCE-8821-71E4FAEB518C}"/>
              </a:ext>
            </a:extLst>
          </p:cNvPr>
          <p:cNvSpPr>
            <a:spLocks xmlns:a="http://schemas.openxmlformats.org/drawingml/2006/main" noGrp="1"/>
          </p:cNvSpPr>
          <p:nvPr/>
        </p:nvSpPr>
        <p:spPr>
          <a:xfrm xmlns:a="http://schemas.openxmlformats.org/drawingml/2006/main">
            <a:off x="1171575" y="4171950"/>
            <a:ext cx="401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Take the middle slope rather than minimizing squared errors</a:t>
            </a:r>
          </a:p>
        </p:txBody>
      </p:sp>
      <p:sp>
        <p:nvSpPr>
          <p:cNvPr id="12" name="">
            <a:extLst xmlns:a="http://schemas.openxmlformats.org/drawingml/2006/main">
              <a:ext uri="{FF2B5EF4-FFF2-40B4-BE49-F238E27FC236}">
                <a16:creationId xmlns:a16="http://schemas.microsoft.com/office/drawing/2014/main" id="{3C0110D6-5384-487B-8D08-0EF124000CD9}"/>
              </a:ext>
            </a:extLst>
          </p:cNvPr>
          <p:cNvSpPr>
            <a:spLocks xmlns:a="http://schemas.openxmlformats.org/drawingml/2006/main" noGrp="1"/>
          </p:cNvSpPr>
          <p:nvPr/>
        </p:nvSpPr>
        <p:spPr>
          <a:xfrm xmlns:a="http://schemas.openxmlformats.org/drawingml/2006/main">
            <a:off x="952500" y="46577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11E75E6-505F-43AF-8973-D16083F2EB31}"/>
              </a:ext>
            </a:extLst>
          </p:cNvPr>
          <p:cNvSpPr>
            <a:spLocks xmlns:a="http://schemas.openxmlformats.org/drawingml/2006/main" noGrp="1"/>
          </p:cNvSpPr>
          <p:nvPr/>
        </p:nvSpPr>
        <p:spPr>
          <a:xfrm xmlns:a="http://schemas.openxmlformats.org/drawingml/2006/main">
            <a:off x="1171575" y="4581525"/>
            <a:ext cx="401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 single price spike affects many pairs, but cannot dictate the median as easily as it dictates OLS</a:t>
            </a:r>
          </a:p>
        </p:txBody>
      </p:sp>
      <p:sp>
        <p:nvSpPr>
          <p:cNvPr id="14" name="">
            <a:extLst xmlns:a="http://schemas.openxmlformats.org/drawingml/2006/main">
              <a:ext uri="{FF2B5EF4-FFF2-40B4-BE49-F238E27FC236}">
                <a16:creationId xmlns:a16="http://schemas.microsoft.com/office/drawing/2014/main" id="{C9475199-6D32-40AB-9010-6E3944F065BD}"/>
              </a:ext>
            </a:extLst>
          </p:cNvPr>
          <p:cNvSpPr>
            <a:spLocks xmlns:a="http://schemas.openxmlformats.org/drawingml/2006/main" noGrp="1"/>
          </p:cNvSpPr>
          <p:nvPr/>
        </p:nvSpPr>
        <p:spPr>
          <a:xfrm xmlns:a="http://schemas.openxmlformats.org/drawingml/2006/main">
            <a:off x="6619875" y="2905125"/>
            <a:ext cx="4953000" cy="223837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7F6321-62F8-43C8-AD14-F929343B80C0}"/>
              </a:ext>
            </a:extLst>
          </p:cNvPr>
          <p:cNvSpPr>
            <a:spLocks xmlns:a="http://schemas.openxmlformats.org/drawingml/2006/main" noGrp="1"/>
          </p:cNvSpPr>
          <p:nvPr/>
        </p:nvSpPr>
        <p:spPr>
          <a:xfrm xmlns:a="http://schemas.openxmlformats.org/drawingml/2006/main">
            <a:off x="6905625" y="319087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F2A65A"/>
                </a:solidFill>
              </a:defRPr>
            </a:pPr>
            <a:r>
              <a:rPr sz="1950" b="1">
                <a:solidFill>
                  <a:srgbClr val="F2A65A"/>
                </a:solidFill>
              </a:rPr>
              <a:t>What it does not prove</a:t>
            </a:r>
          </a:p>
        </p:txBody>
      </p:sp>
      <p:sp>
        <p:nvSpPr>
          <p:cNvPr id="16" name="">
            <a:extLst xmlns:a="http://schemas.openxmlformats.org/drawingml/2006/main">
              <a:ext uri="{FF2B5EF4-FFF2-40B4-BE49-F238E27FC236}">
                <a16:creationId xmlns:a16="http://schemas.microsoft.com/office/drawing/2014/main" id="{577F7856-906B-4E56-859F-44FB4AC2C2D2}"/>
              </a:ext>
            </a:extLst>
          </p:cNvPr>
          <p:cNvSpPr>
            <a:spLocks xmlns:a="http://schemas.openxmlformats.org/drawingml/2006/main" noGrp="1"/>
          </p:cNvSpPr>
          <p:nvPr/>
        </p:nvSpPr>
        <p:spPr>
          <a:xfrm xmlns:a="http://schemas.openxmlformats.org/drawingml/2006/main">
            <a:off x="6953250" y="3838575"/>
            <a:ext cx="95250" cy="95250"/>
          </a:xfrm>
          <a:prstGeom xmlns:a="http://schemas.openxmlformats.org/drawingml/2006/main" prst="ellipse">
            <a:avLst/>
          </a:prstGeom>
          <a:solidFill xmlns:a="http://schemas.openxmlformats.org/drawingml/2006/main">
            <a:srgbClr val="F2A65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85A9B00-E0A0-4897-9267-D2FE8DE7D311}"/>
              </a:ext>
            </a:extLst>
          </p:cNvPr>
          <p:cNvSpPr>
            <a:spLocks xmlns:a="http://schemas.openxmlformats.org/drawingml/2006/main" noGrp="1"/>
          </p:cNvSpPr>
          <p:nvPr/>
        </p:nvSpPr>
        <p:spPr>
          <a:xfrm xmlns:a="http://schemas.openxmlformats.org/drawingml/2006/main">
            <a:off x="7172325" y="3762375"/>
            <a:ext cx="401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It does not establish stationarity or future continuation</a:t>
            </a:r>
          </a:p>
        </p:txBody>
      </p:sp>
      <p:sp>
        <p:nvSpPr>
          <p:cNvPr id="18" name="">
            <a:extLst xmlns:a="http://schemas.openxmlformats.org/drawingml/2006/main">
              <a:ext uri="{FF2B5EF4-FFF2-40B4-BE49-F238E27FC236}">
                <a16:creationId xmlns:a16="http://schemas.microsoft.com/office/drawing/2014/main" id="{69D78205-D491-464C-B374-D1B7D68C54F8}"/>
              </a:ext>
            </a:extLst>
          </p:cNvPr>
          <p:cNvSpPr>
            <a:spLocks xmlns:a="http://schemas.openxmlformats.org/drawingml/2006/main" noGrp="1"/>
          </p:cNvSpPr>
          <p:nvPr/>
        </p:nvSpPr>
        <p:spPr>
          <a:xfrm xmlns:a="http://schemas.openxmlformats.org/drawingml/2006/main">
            <a:off x="6953250" y="4248150"/>
            <a:ext cx="95250" cy="95250"/>
          </a:xfrm>
          <a:prstGeom xmlns:a="http://schemas.openxmlformats.org/drawingml/2006/main" prst="ellipse">
            <a:avLst/>
          </a:prstGeom>
          <a:solidFill xmlns:a="http://schemas.openxmlformats.org/drawingml/2006/main">
            <a:srgbClr val="F2A65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E96057C-4970-4C95-8DED-7B0621A19610}"/>
              </a:ext>
            </a:extLst>
          </p:cNvPr>
          <p:cNvSpPr>
            <a:spLocks xmlns:a="http://schemas.openxmlformats.org/drawingml/2006/main" noGrp="1"/>
          </p:cNvSpPr>
          <p:nvPr/>
        </p:nvSpPr>
        <p:spPr>
          <a:xfrm xmlns:a="http://schemas.openxmlformats.org/drawingml/2006/main">
            <a:off x="7172325" y="4171950"/>
            <a:ext cx="401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Overlapping log-price levels are not independent regression errors</a:t>
            </a:r>
          </a:p>
        </p:txBody>
      </p:sp>
      <p:sp>
        <p:nvSpPr>
          <p:cNvPr id="20" name="">
            <a:extLst xmlns:a="http://schemas.openxmlformats.org/drawingml/2006/main">
              <a:ext uri="{FF2B5EF4-FFF2-40B4-BE49-F238E27FC236}">
                <a16:creationId xmlns:a16="http://schemas.microsoft.com/office/drawing/2014/main" id="{1A3BF6BD-D261-48FD-B444-255D65BB0473}"/>
              </a:ext>
            </a:extLst>
          </p:cNvPr>
          <p:cNvSpPr>
            <a:spLocks xmlns:a="http://schemas.openxmlformats.org/drawingml/2006/main" noGrp="1"/>
          </p:cNvSpPr>
          <p:nvPr/>
        </p:nvSpPr>
        <p:spPr>
          <a:xfrm xmlns:a="http://schemas.openxmlformats.org/drawingml/2006/main">
            <a:off x="6953250" y="4657725"/>
            <a:ext cx="95250" cy="95250"/>
          </a:xfrm>
          <a:prstGeom xmlns:a="http://schemas.openxmlformats.org/drawingml/2006/main" prst="ellipse">
            <a:avLst/>
          </a:prstGeom>
          <a:solidFill xmlns:a="http://schemas.openxmlformats.org/drawingml/2006/main">
            <a:srgbClr val="F2A65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7EF276F-DC7A-4439-9CFA-34BD04CA5DAA}"/>
              </a:ext>
            </a:extLst>
          </p:cNvPr>
          <p:cNvSpPr>
            <a:spLocks xmlns:a="http://schemas.openxmlformats.org/drawingml/2006/main" noGrp="1"/>
          </p:cNvSpPr>
          <p:nvPr/>
        </p:nvSpPr>
        <p:spPr>
          <a:xfrm xmlns:a="http://schemas.openxmlformats.org/drawingml/2006/main">
            <a:off x="7172325" y="4581525"/>
            <a:ext cx="4019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We use the fitted slope descriptively—not a classical t-test or alpha claim</a:t>
            </a:r>
          </a:p>
        </p:txBody>
      </p:sp>
      <p:sp>
        <p:nvSpPr>
          <p:cNvPr id="22" name="">
            <a:extLst xmlns:a="http://schemas.openxmlformats.org/drawingml/2006/main">
              <a:ext uri="{FF2B5EF4-FFF2-40B4-BE49-F238E27FC236}">
                <a16:creationId xmlns:a16="http://schemas.microsoft.com/office/drawing/2014/main" id="{87FAF752-B49B-47A7-9822-EF54572B009C}"/>
              </a:ext>
            </a:extLst>
          </p:cNvPr>
          <p:cNvSpPr>
            <a:spLocks xmlns:a="http://schemas.openxmlformats.org/drawingml/2006/main" noGrp="1"/>
          </p:cNvSpPr>
          <p:nvPr/>
        </p:nvSpPr>
        <p:spPr>
          <a:xfrm xmlns:a="http://schemas.openxmlformats.org/drawingml/2006/main">
            <a:off x="1333500" y="5572125"/>
            <a:ext cx="9525000" cy="51435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9CCC73D-DA15-4622-978C-BD867FC60AE2}"/>
              </a:ext>
            </a:extLst>
          </p:cNvPr>
          <p:cNvSpPr>
            <a:spLocks xmlns:a="http://schemas.openxmlformats.org/drawingml/2006/main" noGrp="1"/>
          </p:cNvSpPr>
          <p:nvPr/>
        </p:nvSpPr>
        <p:spPr>
          <a:xfrm xmlns:a="http://schemas.openxmlformats.org/drawingml/2006/main">
            <a:off x="1619250" y="5724525"/>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E8B57"/>
                </a:solidFill>
              </a:defRPr>
            </a:pPr>
            <a:r>
              <a:rPr sz="1425" b="1">
                <a:solidFill>
                  <a:srgbClr val="2E8B57"/>
                </a:solidFill>
              </a:rPr>
              <a:t>The sign of bTS supplies direction; its raw magnitude is not yet cross-asset comparable.</a:t>
            </a:r>
          </a:p>
        </p:txBody>
      </p:sp>
    </p:spTree>
    <p:extLst>
      <p:ext uri="{BB962C8B-B14F-4D97-AF65-F5344CB8AC3E}">
        <p14:creationId xmlns:p14="http://schemas.microsoft.com/office/powerpoint/2010/main" val="558140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9F5F0A-CB57-40B2-9491-BB04137052B2}"/>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CONSTRUCTION · NORMALIZATION</a:t>
            </a:r>
          </a:p>
        </p:txBody>
      </p:sp>
      <p:sp>
        <p:nvSpPr>
          <p:cNvPr id="2" name="">
            <a:extLst xmlns:a="http://schemas.openxmlformats.org/drawingml/2006/main">
              <a:ext uri="{FF2B5EF4-FFF2-40B4-BE49-F238E27FC236}">
                <a16:creationId xmlns:a16="http://schemas.microsoft.com/office/drawing/2014/main" id="{3E814404-F5D3-4517-90F5-EA747FAA0AFE}"/>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Strength and path quality answer different questions</a:t>
            </a:r>
          </a:p>
        </p:txBody>
      </p:sp>
      <p:sp>
        <p:nvSpPr>
          <p:cNvPr id="3" name="">
            <a:extLst xmlns:a="http://schemas.openxmlformats.org/drawingml/2006/main">
              <a:ext uri="{FF2B5EF4-FFF2-40B4-BE49-F238E27FC236}">
                <a16:creationId xmlns:a16="http://schemas.microsoft.com/office/drawing/2014/main" id="{2C07B85D-F837-4130-8E29-60F991DD3A90}"/>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31142528-3C5E-48A3-B678-69AEBB4BBDE5}"/>
              </a:ext>
            </a:extLst>
          </p:cNvPr>
          <p:cNvSpPr>
            <a:spLocks xmlns:a="http://schemas.openxmlformats.org/drawingml/2006/main" noGrp="1"/>
          </p:cNvSpPr>
          <p:nvPr/>
        </p:nvSpPr>
        <p:spPr>
          <a:xfrm xmlns:a="http://schemas.openxmlformats.org/drawingml/2006/main">
            <a:off x="619125" y="1381125"/>
            <a:ext cx="5238750" cy="1571625"/>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90546A-B2F7-4FD0-8B4A-C8CBB1C12BDC}"/>
              </a:ext>
            </a:extLst>
          </p:cNvPr>
          <p:cNvSpPr>
            <a:spLocks xmlns:a="http://schemas.openxmlformats.org/drawingml/2006/main" noGrp="1"/>
          </p:cNvSpPr>
          <p:nvPr/>
        </p:nvSpPr>
        <p:spPr>
          <a:xfrm xmlns:a="http://schemas.openxmlformats.org/drawingml/2006/main">
            <a:off x="904875" y="163830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normalized strength</a:t>
            </a:r>
          </a:p>
        </p:txBody>
      </p:sp>
      <p:sp>
        <p:nvSpPr>
          <p:cNvPr id="6" name="">
            <a:extLst xmlns:a="http://schemas.openxmlformats.org/drawingml/2006/main">
              <a:ext uri="{FF2B5EF4-FFF2-40B4-BE49-F238E27FC236}">
                <a16:creationId xmlns:a16="http://schemas.microsoft.com/office/drawing/2014/main" id="{2AF31B4D-20FF-438B-A182-D0B045B580A9}"/>
              </a:ext>
            </a:extLst>
          </p:cNvPr>
          <p:cNvSpPr>
            <a:spLocks xmlns:a="http://schemas.openxmlformats.org/drawingml/2006/main" noGrp="1"/>
          </p:cNvSpPr>
          <p:nvPr/>
        </p:nvSpPr>
        <p:spPr>
          <a:xfrm xmlns:a="http://schemas.openxmlformats.org/drawingml/2006/main">
            <a:off x="904875" y="211455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7324D"/>
                </a:solidFill>
              </a:defRPr>
            </a:pPr>
            <a:r>
              <a:rPr sz="2100" b="1">
                <a:solidFill>
                  <a:srgbClr val="17324D"/>
                </a:solidFill>
              </a:rPr>
              <a:t>bTS × √(n−1)  /  sd[Δ log(P)]</a:t>
            </a:r>
          </a:p>
        </p:txBody>
      </p:sp>
      <p:sp>
        <p:nvSpPr>
          <p:cNvPr id="7" name="">
            <a:extLst xmlns:a="http://schemas.openxmlformats.org/drawingml/2006/main">
              <a:ext uri="{FF2B5EF4-FFF2-40B4-BE49-F238E27FC236}">
                <a16:creationId xmlns:a16="http://schemas.microsoft.com/office/drawing/2014/main" id="{5D8F99AF-D77F-4B6B-95DE-CB2AB06F0C3E}"/>
              </a:ext>
            </a:extLst>
          </p:cNvPr>
          <p:cNvSpPr>
            <a:spLocks xmlns:a="http://schemas.openxmlformats.org/drawingml/2006/main" noGrp="1"/>
          </p:cNvSpPr>
          <p:nvPr/>
        </p:nvSpPr>
        <p:spPr>
          <a:xfrm xmlns:a="http://schemas.openxmlformats.org/drawingml/2006/main">
            <a:off x="1000125" y="25908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06D"/>
                </a:solidFill>
              </a:defRPr>
            </a:pPr>
            <a:r>
              <a:rPr sz="1200" b="0">
                <a:solidFill>
                  <a:srgbClr val="52606D"/>
                </a:solidFill>
              </a:rPr>
              <a:t>signed fitted displacement relative to random-walk-scale realized noise</a:t>
            </a:r>
          </a:p>
        </p:txBody>
      </p:sp>
      <p:sp>
        <p:nvSpPr>
          <p:cNvPr id="8" name="">
            <a:extLst xmlns:a="http://schemas.openxmlformats.org/drawingml/2006/main">
              <a:ext uri="{FF2B5EF4-FFF2-40B4-BE49-F238E27FC236}">
                <a16:creationId xmlns:a16="http://schemas.microsoft.com/office/drawing/2014/main" id="{8923DF9A-1B86-4FC8-AA72-439350F345F5}"/>
              </a:ext>
            </a:extLst>
          </p:cNvPr>
          <p:cNvSpPr>
            <a:spLocks xmlns:a="http://schemas.openxmlformats.org/drawingml/2006/main" noGrp="1"/>
          </p:cNvSpPr>
          <p:nvPr/>
        </p:nvSpPr>
        <p:spPr>
          <a:xfrm xmlns:a="http://schemas.openxmlformats.org/drawingml/2006/main">
            <a:off x="6334125" y="1381125"/>
            <a:ext cx="5238750" cy="157162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E2D19-9157-48B4-B480-8C56D3AC21A7}"/>
              </a:ext>
            </a:extLst>
          </p:cNvPr>
          <p:cNvSpPr>
            <a:spLocks xmlns:a="http://schemas.openxmlformats.org/drawingml/2006/main" noGrp="1"/>
          </p:cNvSpPr>
          <p:nvPr/>
        </p:nvSpPr>
        <p:spPr>
          <a:xfrm xmlns:a="http://schemas.openxmlformats.org/drawingml/2006/main">
            <a:off x="6619875" y="163830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2A65A"/>
                </a:solidFill>
              </a:defRPr>
            </a:pPr>
            <a:r>
              <a:rPr sz="1650" b="1">
                <a:solidFill>
                  <a:srgbClr val="F2A65A"/>
                </a:solidFill>
              </a:rPr>
              <a:t>path quality</a:t>
            </a:r>
          </a:p>
        </p:txBody>
      </p:sp>
      <p:sp>
        <p:nvSpPr>
          <p:cNvPr id="10" name="">
            <a:extLst xmlns:a="http://schemas.openxmlformats.org/drawingml/2006/main">
              <a:ext uri="{FF2B5EF4-FFF2-40B4-BE49-F238E27FC236}">
                <a16:creationId xmlns:a16="http://schemas.microsoft.com/office/drawing/2014/main" id="{365DB4E6-CD51-44BD-A55D-B21915485359}"/>
              </a:ext>
            </a:extLst>
          </p:cNvPr>
          <p:cNvSpPr>
            <a:spLocks xmlns:a="http://schemas.openxmlformats.org/drawingml/2006/main" noGrp="1"/>
          </p:cNvSpPr>
          <p:nvPr/>
        </p:nvSpPr>
        <p:spPr>
          <a:xfrm xmlns:a="http://schemas.openxmlformats.org/drawingml/2006/main">
            <a:off x="6619875" y="211455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7324D"/>
                </a:solidFill>
              </a:defRPr>
            </a:pPr>
            <a:r>
              <a:rPr sz="2100" b="1">
                <a:solidFill>
                  <a:srgbClr val="17324D"/>
                </a:solidFill>
              </a:rPr>
              <a:t>| Spearman(time, log price) |</a:t>
            </a:r>
          </a:p>
        </p:txBody>
      </p:sp>
      <p:sp>
        <p:nvSpPr>
          <p:cNvPr id="11" name="">
            <a:extLst xmlns:a="http://schemas.openxmlformats.org/drawingml/2006/main">
              <a:ext uri="{FF2B5EF4-FFF2-40B4-BE49-F238E27FC236}">
                <a16:creationId xmlns:a16="http://schemas.microsoft.com/office/drawing/2014/main" id="{9CD053F1-0036-47B5-8A8A-2EF57825741E}"/>
              </a:ext>
            </a:extLst>
          </p:cNvPr>
          <p:cNvSpPr>
            <a:spLocks xmlns:a="http://schemas.openxmlformats.org/drawingml/2006/main" noGrp="1"/>
          </p:cNvSpPr>
          <p:nvPr/>
        </p:nvSpPr>
        <p:spPr>
          <a:xfrm xmlns:a="http://schemas.openxmlformats.org/drawingml/2006/main">
            <a:off x="6715125" y="2590800"/>
            <a:ext cx="4476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06D"/>
                </a:solidFill>
              </a:defRPr>
            </a:pPr>
            <a:r>
              <a:rPr sz="1200" b="0">
                <a:solidFill>
                  <a:srgbClr val="52606D"/>
                </a:solidFill>
              </a:rPr>
              <a:t>absolute rank monotonicity; high for an orderly rise or decline</a:t>
            </a:r>
          </a:p>
        </p:txBody>
      </p:sp>
      <p:sp>
        <p:nvSpPr>
          <p:cNvPr id="12" name="">
            <a:extLst xmlns:a="http://schemas.openxmlformats.org/drawingml/2006/main">
              <a:ext uri="{FF2B5EF4-FFF2-40B4-BE49-F238E27FC236}">
                <a16:creationId xmlns:a16="http://schemas.microsoft.com/office/drawing/2014/main" id="{4CCC7A3E-5D0E-4A29-AF8F-445AADC07664}"/>
              </a:ext>
            </a:extLst>
          </p:cNvPr>
          <p:cNvSpPr>
            <a:spLocks xmlns:a="http://schemas.openxmlformats.org/drawingml/2006/main" noGrp="1"/>
          </p:cNvSpPr>
          <p:nvPr/>
        </p:nvSpPr>
        <p:spPr>
          <a:xfrm xmlns:a="http://schemas.openxmlformats.org/drawingml/2006/main">
            <a:off x="762000" y="3571875"/>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7324D"/>
                </a:solidFill>
              </a:defRPr>
            </a:pPr>
            <a:r>
              <a:rPr sz="1950" b="1">
                <a:solidFill>
                  <a:srgbClr val="17324D"/>
                </a:solidFill>
              </a:rPr>
              <a:t>Why absolute Spearman?</a:t>
            </a:r>
          </a:p>
        </p:txBody>
      </p:sp>
      <p:sp>
        <p:nvSpPr>
          <p:cNvPr id="13" name="">
            <a:extLst xmlns:a="http://schemas.openxmlformats.org/drawingml/2006/main">
              <a:ext uri="{FF2B5EF4-FFF2-40B4-BE49-F238E27FC236}">
                <a16:creationId xmlns:a16="http://schemas.microsoft.com/office/drawing/2014/main" id="{738E508B-72B9-424F-A039-FD0C745AF814}"/>
              </a:ext>
            </a:extLst>
          </p:cNvPr>
          <p:cNvSpPr>
            <a:spLocks xmlns:a="http://schemas.openxmlformats.org/drawingml/2006/main" noGrp="1"/>
          </p:cNvSpPr>
          <p:nvPr/>
        </p:nvSpPr>
        <p:spPr>
          <a:xfrm xmlns:a="http://schemas.openxmlformats.org/drawingml/2006/main">
            <a:off x="904875" y="42195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4831DC-9737-4C1A-B44C-ADBBED03B20C}"/>
              </a:ext>
            </a:extLst>
          </p:cNvPr>
          <p:cNvSpPr>
            <a:spLocks xmlns:a="http://schemas.openxmlformats.org/drawingml/2006/main" noGrp="1"/>
          </p:cNvSpPr>
          <p:nvPr/>
        </p:nvSpPr>
        <p:spPr>
          <a:xfrm xmlns:a="http://schemas.openxmlformats.org/drawingml/2006/main">
            <a:off x="1123950" y="4143375"/>
            <a:ext cx="1002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Rank correlation is insensitive to price scale and does not require a linear price path</a:t>
            </a:r>
          </a:p>
        </p:txBody>
      </p:sp>
      <p:sp>
        <p:nvSpPr>
          <p:cNvPr id="15" name="">
            <a:extLst xmlns:a="http://schemas.openxmlformats.org/drawingml/2006/main">
              <a:ext uri="{FF2B5EF4-FFF2-40B4-BE49-F238E27FC236}">
                <a16:creationId xmlns:a16="http://schemas.microsoft.com/office/drawing/2014/main" id="{CCD2A31F-588A-4266-8DB1-1782D18F1843}"/>
              </a:ext>
            </a:extLst>
          </p:cNvPr>
          <p:cNvSpPr>
            <a:spLocks xmlns:a="http://schemas.openxmlformats.org/drawingml/2006/main" noGrp="1"/>
          </p:cNvSpPr>
          <p:nvPr/>
        </p:nvSpPr>
        <p:spPr>
          <a:xfrm xmlns:a="http://schemas.openxmlformats.org/drawingml/2006/main">
            <a:off x="904875" y="469582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FFFEFBB-33A9-4BD8-900F-855ED0ACCB76}"/>
              </a:ext>
            </a:extLst>
          </p:cNvPr>
          <p:cNvSpPr>
            <a:spLocks xmlns:a="http://schemas.openxmlformats.org/drawingml/2006/main" noGrp="1"/>
          </p:cNvSpPr>
          <p:nvPr/>
        </p:nvSpPr>
        <p:spPr>
          <a:xfrm xmlns:a="http://schemas.openxmlformats.org/drawingml/2006/main">
            <a:off x="1123950" y="4619625"/>
            <a:ext cx="1002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Absolute value deliberately removes direction so quality cannot quietly become another momentum score</a:t>
            </a:r>
          </a:p>
        </p:txBody>
      </p:sp>
      <p:sp>
        <p:nvSpPr>
          <p:cNvPr id="17" name="">
            <a:extLst xmlns:a="http://schemas.openxmlformats.org/drawingml/2006/main">
              <a:ext uri="{FF2B5EF4-FFF2-40B4-BE49-F238E27FC236}">
                <a16:creationId xmlns:a16="http://schemas.microsoft.com/office/drawing/2014/main" id="{6A2E45B3-2F4A-4A40-B3AC-2CC4640594BD}"/>
              </a:ext>
            </a:extLst>
          </p:cNvPr>
          <p:cNvSpPr>
            <a:spLocks xmlns:a="http://schemas.openxmlformats.org/drawingml/2006/main" noGrp="1"/>
          </p:cNvSpPr>
          <p:nvPr/>
        </p:nvSpPr>
        <p:spPr>
          <a:xfrm xmlns:a="http://schemas.openxmlformats.org/drawingml/2006/main">
            <a:off x="904875" y="5172075"/>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C172B2-08EC-4BF6-B06C-C0463F052A0D}"/>
              </a:ext>
            </a:extLst>
          </p:cNvPr>
          <p:cNvSpPr>
            <a:spLocks xmlns:a="http://schemas.openxmlformats.org/drawingml/2006/main" noGrp="1"/>
          </p:cNvSpPr>
          <p:nvPr/>
        </p:nvSpPr>
        <p:spPr>
          <a:xfrm xmlns:a="http://schemas.openxmlformats.org/drawingml/2006/main">
            <a:off x="1123950" y="5095875"/>
            <a:ext cx="10020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 reversal can have low quality even when its beginning and ending prices differ materially</a:t>
            </a:r>
          </a:p>
        </p:txBody>
      </p:sp>
      <p:sp>
        <p:nvSpPr>
          <p:cNvPr id="19" name="">
            <a:extLst xmlns:a="http://schemas.openxmlformats.org/drawingml/2006/main">
              <a:ext uri="{FF2B5EF4-FFF2-40B4-BE49-F238E27FC236}">
                <a16:creationId xmlns:a16="http://schemas.microsoft.com/office/drawing/2014/main" id="{C4D46727-5D63-47C8-99C8-849E6FDE6598}"/>
              </a:ext>
            </a:extLst>
          </p:cNvPr>
          <p:cNvSpPr>
            <a:spLocks xmlns:a="http://schemas.openxmlformats.org/drawingml/2006/main" noGrp="1"/>
          </p:cNvSpPr>
          <p:nvPr/>
        </p:nvSpPr>
        <p:spPr>
          <a:xfrm xmlns:a="http://schemas.openxmlformats.org/drawingml/2006/main">
            <a:off x="1333500" y="5810250"/>
            <a:ext cx="9525000" cy="4000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50E3248-7386-4AF0-BD78-6C23DC56039D}"/>
              </a:ext>
            </a:extLst>
          </p:cNvPr>
          <p:cNvSpPr>
            <a:spLocks xmlns:a="http://schemas.openxmlformats.org/drawingml/2006/main" noGrp="1"/>
          </p:cNvSpPr>
          <p:nvPr/>
        </p:nvSpPr>
        <p:spPr>
          <a:xfrm xmlns:a="http://schemas.openxmlformats.org/drawingml/2006/main">
            <a:off x="1666875" y="5905500"/>
            <a:ext cx="885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D95F59"/>
                </a:solidFill>
              </a:defRPr>
            </a:pPr>
            <a:r>
              <a:rPr sz="1275" b="1">
                <a:solidFill>
                  <a:srgbClr val="D95F59"/>
                </a:solidFill>
              </a:rPr>
              <a:t>High quality describes the path that just occurred. It is not, by itself, evidence that the next return is positive.</a:t>
            </a:r>
          </a:p>
        </p:txBody>
      </p:sp>
    </p:spTree>
    <p:extLst>
      <p:ext uri="{BB962C8B-B14F-4D97-AF65-F5344CB8AC3E}">
        <p14:creationId xmlns:p14="http://schemas.microsoft.com/office/powerpoint/2010/main" val="13397262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98C66E2-5FBA-4BC2-B0F0-06DCF14FBDB6}"/>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CAUSAL STATE MACHINE</a:t>
            </a:r>
          </a:p>
        </p:txBody>
      </p:sp>
      <p:sp>
        <p:nvSpPr>
          <p:cNvPr id="2" name="">
            <a:extLst xmlns:a="http://schemas.openxmlformats.org/drawingml/2006/main">
              <a:ext uri="{FF2B5EF4-FFF2-40B4-BE49-F238E27FC236}">
                <a16:creationId xmlns:a16="http://schemas.microsoft.com/office/drawing/2014/main" id="{18B00023-0234-4390-A767-22F79F0CF3A3}"/>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Only path quality becomes a causal asset-relative state</a:t>
            </a:r>
          </a:p>
        </p:txBody>
      </p:sp>
      <p:sp>
        <p:nvSpPr>
          <p:cNvPr id="3" name="">
            <a:extLst xmlns:a="http://schemas.openxmlformats.org/drawingml/2006/main">
              <a:ext uri="{FF2B5EF4-FFF2-40B4-BE49-F238E27FC236}">
                <a16:creationId xmlns:a16="http://schemas.microsoft.com/office/drawing/2014/main" id="{A6CBE1B5-6FAF-4901-88A8-DDDCA02EA86F}"/>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97B26891-8658-45AA-B913-022608FA3540}"/>
              </a:ext>
            </a:extLst>
          </p:cNvPr>
          <p:cNvSpPr>
            <a:spLocks xmlns:a="http://schemas.openxmlformats.org/drawingml/2006/main" noGrp="1"/>
          </p:cNvSpPr>
          <p:nvPr/>
        </p:nvSpPr>
        <p:spPr>
          <a:xfrm xmlns:a="http://schemas.openxmlformats.org/drawingml/2006/main">
            <a:off x="666750" y="1381125"/>
            <a:ext cx="10858500" cy="7620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B9776E-A000-4502-A853-DC13F60CB0C7}"/>
              </a:ext>
            </a:extLst>
          </p:cNvPr>
          <p:cNvSpPr>
            <a:spLocks xmlns:a="http://schemas.openxmlformats.org/drawingml/2006/main" noGrp="1"/>
          </p:cNvSpPr>
          <p:nvPr/>
        </p:nvSpPr>
        <p:spPr>
          <a:xfrm xmlns:a="http://schemas.openxmlformats.org/drawingml/2006/main">
            <a:off x="952500" y="160972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7324D"/>
                </a:solidFill>
              </a:defRPr>
            </a:pPr>
            <a:r>
              <a:rPr sz="1875" b="1">
                <a:solidFill>
                  <a:srgbClr val="17324D"/>
                </a:solidFill>
              </a:rPr>
              <a:t>60-close quality → rank versus prior 252 quality values → hysteretic LOW / MEDIUM / HIGH</a:t>
            </a:r>
          </a:p>
        </p:txBody>
      </p:sp>
      <p:sp>
        <p:nvSpPr>
          <p:cNvPr id="6" name="">
            <a:extLst xmlns:a="http://schemas.openxmlformats.org/drawingml/2006/main">
              <a:ext uri="{FF2B5EF4-FFF2-40B4-BE49-F238E27FC236}">
                <a16:creationId xmlns:a16="http://schemas.microsoft.com/office/drawing/2014/main" id="{89A59823-47E5-4CE7-8E89-F197017018B8}"/>
              </a:ext>
            </a:extLst>
          </p:cNvPr>
          <p:cNvSpPr>
            <a:spLocks xmlns:a="http://schemas.openxmlformats.org/drawingml/2006/main" noGrp="1"/>
          </p:cNvSpPr>
          <p:nvPr/>
        </p:nvSpPr>
        <p:spPr>
          <a:xfrm xmlns:a="http://schemas.openxmlformats.org/drawingml/2006/main">
            <a:off x="523875" y="2714625"/>
            <a:ext cx="3571875" cy="15240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A1361E-188C-4447-BFA0-8E8927BC2816}"/>
              </a:ext>
            </a:extLst>
          </p:cNvPr>
          <p:cNvSpPr>
            <a:spLocks xmlns:a="http://schemas.openxmlformats.org/drawingml/2006/main" noGrp="1"/>
          </p:cNvSpPr>
          <p:nvPr/>
        </p:nvSpPr>
        <p:spPr>
          <a:xfrm xmlns:a="http://schemas.openxmlformats.org/drawingml/2006/main">
            <a:off x="809625" y="30003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3D8DFF"/>
                </a:solidFill>
              </a:defRPr>
            </a:pPr>
            <a:r>
              <a:rPr sz="1950" b="1">
                <a:solidFill>
                  <a:srgbClr val="3D8DFF"/>
                </a:solidFill>
              </a:rPr>
              <a:t>LOW QUALITY</a:t>
            </a:r>
          </a:p>
        </p:txBody>
      </p:sp>
      <p:sp>
        <p:nvSpPr>
          <p:cNvPr id="8" name="">
            <a:extLst xmlns:a="http://schemas.openxmlformats.org/drawingml/2006/main">
              <a:ext uri="{FF2B5EF4-FFF2-40B4-BE49-F238E27FC236}">
                <a16:creationId xmlns:a16="http://schemas.microsoft.com/office/drawing/2014/main" id="{210CBABD-6D1E-44CA-A86B-31E3D590F09A}"/>
              </a:ext>
            </a:extLst>
          </p:cNvPr>
          <p:cNvSpPr>
            <a:spLocks xmlns:a="http://schemas.openxmlformats.org/drawingml/2006/main" noGrp="1"/>
          </p:cNvSpPr>
          <p:nvPr/>
        </p:nvSpPr>
        <p:spPr>
          <a:xfrm xmlns:a="http://schemas.openxmlformats.org/drawingml/2006/main">
            <a:off x="809625" y="3619500"/>
            <a:ext cx="3000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06D"/>
                </a:solidFill>
              </a:defRPr>
            </a:pPr>
            <a:r>
              <a:rPr sz="1425" b="0">
                <a:solidFill>
                  <a:srgbClr val="52606D"/>
                </a:solidFill>
              </a:rPr>
              <a:t>enter ≤30 · remain ≤40</a:t>
            </a:r>
          </a:p>
        </p:txBody>
      </p:sp>
      <p:sp>
        <p:nvSpPr>
          <p:cNvPr id="9" name="">
            <a:extLst xmlns:a="http://schemas.openxmlformats.org/drawingml/2006/main">
              <a:ext uri="{FF2B5EF4-FFF2-40B4-BE49-F238E27FC236}">
                <a16:creationId xmlns:a16="http://schemas.microsoft.com/office/drawing/2014/main" id="{33C0AE5F-68B8-4DBB-BBD1-A71CA6749D2D}"/>
              </a:ext>
            </a:extLst>
          </p:cNvPr>
          <p:cNvSpPr>
            <a:spLocks xmlns:a="http://schemas.openxmlformats.org/drawingml/2006/main" noGrp="1"/>
          </p:cNvSpPr>
          <p:nvPr/>
        </p:nvSpPr>
        <p:spPr>
          <a:xfrm xmlns:a="http://schemas.openxmlformats.org/drawingml/2006/main">
            <a:off x="4429125" y="2714625"/>
            <a:ext cx="3571875" cy="15240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D67DD7-2744-444F-824A-BA1E4FF06D55}"/>
              </a:ext>
            </a:extLst>
          </p:cNvPr>
          <p:cNvSpPr>
            <a:spLocks xmlns:a="http://schemas.openxmlformats.org/drawingml/2006/main" noGrp="1"/>
          </p:cNvSpPr>
          <p:nvPr/>
        </p:nvSpPr>
        <p:spPr>
          <a:xfrm xmlns:a="http://schemas.openxmlformats.org/drawingml/2006/main">
            <a:off x="4714875" y="30003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52606D"/>
                </a:solidFill>
              </a:defRPr>
            </a:pPr>
            <a:r>
              <a:rPr sz="1950" b="1">
                <a:solidFill>
                  <a:srgbClr val="52606D"/>
                </a:solidFill>
              </a:rPr>
              <a:t>MEDIUM QUALITY</a:t>
            </a:r>
          </a:p>
        </p:txBody>
      </p:sp>
      <p:sp>
        <p:nvSpPr>
          <p:cNvPr id="11" name="">
            <a:extLst xmlns:a="http://schemas.openxmlformats.org/drawingml/2006/main">
              <a:ext uri="{FF2B5EF4-FFF2-40B4-BE49-F238E27FC236}">
                <a16:creationId xmlns:a16="http://schemas.microsoft.com/office/drawing/2014/main" id="{262B4A96-2058-40EA-9AB2-0617AE63BB43}"/>
              </a:ext>
            </a:extLst>
          </p:cNvPr>
          <p:cNvSpPr>
            <a:spLocks xmlns:a="http://schemas.openxmlformats.org/drawingml/2006/main" noGrp="1"/>
          </p:cNvSpPr>
          <p:nvPr/>
        </p:nvSpPr>
        <p:spPr>
          <a:xfrm xmlns:a="http://schemas.openxmlformats.org/drawingml/2006/main">
            <a:off x="4714875" y="3619500"/>
            <a:ext cx="3000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06D"/>
                </a:solidFill>
              </a:defRPr>
            </a:pPr>
            <a:r>
              <a:rPr sz="1425" b="0">
                <a:solidFill>
                  <a:srgbClr val="52606D"/>
                </a:solidFill>
              </a:rPr>
              <a:t>all other finite values</a:t>
            </a:r>
          </a:p>
        </p:txBody>
      </p:sp>
      <p:sp>
        <p:nvSpPr>
          <p:cNvPr id="12" name="">
            <a:extLst xmlns:a="http://schemas.openxmlformats.org/drawingml/2006/main">
              <a:ext uri="{FF2B5EF4-FFF2-40B4-BE49-F238E27FC236}">
                <a16:creationId xmlns:a16="http://schemas.microsoft.com/office/drawing/2014/main" id="{66B3887C-C8F9-4137-ADF7-9B285EBEBDE5}"/>
              </a:ext>
            </a:extLst>
          </p:cNvPr>
          <p:cNvSpPr>
            <a:spLocks xmlns:a="http://schemas.openxmlformats.org/drawingml/2006/main" noGrp="1"/>
          </p:cNvSpPr>
          <p:nvPr/>
        </p:nvSpPr>
        <p:spPr>
          <a:xfrm xmlns:a="http://schemas.openxmlformats.org/drawingml/2006/main">
            <a:off x="8334375" y="2714625"/>
            <a:ext cx="3571875" cy="15240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915938-CA24-422C-A6B3-F0CFB3033364}"/>
              </a:ext>
            </a:extLst>
          </p:cNvPr>
          <p:cNvSpPr>
            <a:spLocks xmlns:a="http://schemas.openxmlformats.org/drawingml/2006/main" noGrp="1"/>
          </p:cNvSpPr>
          <p:nvPr/>
        </p:nvSpPr>
        <p:spPr>
          <a:xfrm xmlns:a="http://schemas.openxmlformats.org/drawingml/2006/main">
            <a:off x="8620125" y="300037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F2A65A"/>
                </a:solidFill>
              </a:defRPr>
            </a:pPr>
            <a:r>
              <a:rPr sz="1950" b="1">
                <a:solidFill>
                  <a:srgbClr val="F2A65A"/>
                </a:solidFill>
              </a:rPr>
              <a:t>HIGH QUALITY</a:t>
            </a:r>
          </a:p>
        </p:txBody>
      </p:sp>
      <p:sp>
        <p:nvSpPr>
          <p:cNvPr id="14" name="">
            <a:extLst xmlns:a="http://schemas.openxmlformats.org/drawingml/2006/main">
              <a:ext uri="{FF2B5EF4-FFF2-40B4-BE49-F238E27FC236}">
                <a16:creationId xmlns:a16="http://schemas.microsoft.com/office/drawing/2014/main" id="{D35B8B5C-8F9B-44C1-9428-FCCF5F99E281}"/>
              </a:ext>
            </a:extLst>
          </p:cNvPr>
          <p:cNvSpPr>
            <a:spLocks xmlns:a="http://schemas.openxmlformats.org/drawingml/2006/main" noGrp="1"/>
          </p:cNvSpPr>
          <p:nvPr/>
        </p:nvSpPr>
        <p:spPr>
          <a:xfrm xmlns:a="http://schemas.openxmlformats.org/drawingml/2006/main">
            <a:off x="8620125" y="3619500"/>
            <a:ext cx="3000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52606D"/>
                </a:solidFill>
              </a:defRPr>
            </a:pPr>
            <a:r>
              <a:rPr sz="1425" b="0">
                <a:solidFill>
                  <a:srgbClr val="52606D"/>
                </a:solidFill>
              </a:rPr>
              <a:t>enter ≥70 · remain ≥60</a:t>
            </a:r>
          </a:p>
        </p:txBody>
      </p:sp>
      <p:sp>
        <p:nvSpPr>
          <p:cNvPr id="15" name="">
            <a:extLst xmlns:a="http://schemas.openxmlformats.org/drawingml/2006/main">
              <a:ext uri="{FF2B5EF4-FFF2-40B4-BE49-F238E27FC236}">
                <a16:creationId xmlns:a16="http://schemas.microsoft.com/office/drawing/2014/main" id="{83DA6152-C96D-4B09-A6BF-4F0C64885D82}"/>
              </a:ext>
            </a:extLst>
          </p:cNvPr>
          <p:cNvSpPr>
            <a:spLocks xmlns:a="http://schemas.openxmlformats.org/drawingml/2006/main" noGrp="1"/>
          </p:cNvSpPr>
          <p:nvPr/>
        </p:nvSpPr>
        <p:spPr>
          <a:xfrm xmlns:a="http://schemas.openxmlformats.org/drawingml/2006/main">
            <a:off x="857250" y="4810125"/>
            <a:ext cx="10477500" cy="104775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E6187B8-C23C-4661-BAAC-AAA278485F45}"/>
              </a:ext>
            </a:extLst>
          </p:cNvPr>
          <p:cNvSpPr>
            <a:spLocks xmlns:a="http://schemas.openxmlformats.org/drawingml/2006/main" noGrp="1"/>
          </p:cNvSpPr>
          <p:nvPr/>
        </p:nvSpPr>
        <p:spPr>
          <a:xfrm xmlns:a="http://schemas.openxmlformats.org/drawingml/2006/main">
            <a:off x="1238250" y="506730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2E8B57"/>
                </a:solidFill>
              </a:defRPr>
            </a:pPr>
            <a:r>
              <a:rPr sz="1875" b="1">
                <a:solidFill>
                  <a:srgbClr val="2E8B57"/>
                </a:solidFill>
              </a:rPr>
              <a:t>Strategy eligibility = positive normalized strength AND HIGH QUALITY</a:t>
            </a:r>
          </a:p>
        </p:txBody>
      </p:sp>
      <p:sp>
        <p:nvSpPr>
          <p:cNvPr id="17" name="">
            <a:extLst xmlns:a="http://schemas.openxmlformats.org/drawingml/2006/main">
              <a:ext uri="{FF2B5EF4-FFF2-40B4-BE49-F238E27FC236}">
                <a16:creationId xmlns:a16="http://schemas.microsoft.com/office/drawing/2014/main" id="{A493EE8C-13C9-4937-8A1B-159DF4E36207}"/>
              </a:ext>
            </a:extLst>
          </p:cNvPr>
          <p:cNvSpPr>
            <a:spLocks xmlns:a="http://schemas.openxmlformats.org/drawingml/2006/main" noGrp="1"/>
          </p:cNvSpPr>
          <p:nvPr/>
        </p:nvSpPr>
        <p:spPr>
          <a:xfrm xmlns:a="http://schemas.openxmlformats.org/drawingml/2006/main">
            <a:off x="1381125" y="5514975"/>
            <a:ext cx="942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2606D"/>
                </a:solidFill>
              </a:defRPr>
            </a:pPr>
            <a:r>
              <a:rPr sz="1275" b="0">
                <a:solidFill>
                  <a:srgbClr val="52606D"/>
                </a:solidFill>
              </a:rPr>
              <a:t>A rejected SMA cross is skipped, not queued. The 120-session view cannot override the 60-session primary.</a:t>
            </a:r>
          </a:p>
        </p:txBody>
      </p:sp>
    </p:spTree>
    <p:extLst>
      <p:ext uri="{BB962C8B-B14F-4D97-AF65-F5344CB8AC3E}">
        <p14:creationId xmlns:p14="http://schemas.microsoft.com/office/powerpoint/2010/main" val="14230385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4FAAE9B-1C74-419B-9C3E-0743D33C2EF2}"/>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A · SYNTHETIC CALIBRATION</a:t>
            </a:r>
          </a:p>
        </p:txBody>
      </p:sp>
      <p:sp>
        <p:nvSpPr>
          <p:cNvPr id="2" name="">
            <a:extLst xmlns:a="http://schemas.openxmlformats.org/drawingml/2006/main">
              <a:ext uri="{FF2B5EF4-FFF2-40B4-BE49-F238E27FC236}">
                <a16:creationId xmlns:a16="http://schemas.microsoft.com/office/drawing/2014/main" id="{B4BE1102-8A46-44FE-BEF5-79F6AAB56C4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Seeded paths separated direction from path quality as intended</a:t>
            </a:r>
          </a:p>
        </p:txBody>
      </p:sp>
      <p:sp>
        <p:nvSpPr>
          <p:cNvPr id="3" name="">
            <a:extLst xmlns:a="http://schemas.openxmlformats.org/drawingml/2006/main">
              <a:ext uri="{FF2B5EF4-FFF2-40B4-BE49-F238E27FC236}">
                <a16:creationId xmlns:a16="http://schemas.microsoft.com/office/drawing/2014/main" id="{066E9605-8660-4FB8-B316-CE19F7BA79BB}"/>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E7D4DC5F-528B-4721-8D74-E1FAE2E2C7A7}"/>
              </a:ext>
            </a:extLst>
          </p:cNvPr>
          <p:cNvSpPr>
            <a:spLocks xmlns:a="http://schemas.openxmlformats.org/drawingml/2006/main" noGrp="1"/>
          </p:cNvSpPr>
          <p:nvPr/>
        </p:nvSpPr>
        <p:spPr>
          <a:xfrm xmlns:a="http://schemas.openxmlformats.org/drawingml/2006/main">
            <a:off x="428625" y="1333500"/>
            <a:ext cx="7620000" cy="476250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de181671bd84df9"/>
          <a:stretch xmlns:a="http://schemas.openxmlformats.org/drawingml/2006/main"/>
        </p:blipFill>
        <p:spPr>
          <a:xfrm xmlns:a="http://schemas.openxmlformats.org/drawingml/2006/main">
            <a:off x="428625" y="1598083"/>
            <a:ext cx="7620000" cy="423333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8A94E2-CA0D-40CF-82D1-AE933D5F44A2}"/>
              </a:ext>
            </a:extLst>
          </p:cNvPr>
          <p:cNvSpPr>
            <a:spLocks xmlns:a="http://schemas.openxmlformats.org/drawingml/2006/main" noGrp="1"/>
          </p:cNvSpPr>
          <p:nvPr/>
        </p:nvSpPr>
        <p:spPr>
          <a:xfrm xmlns:a="http://schemas.openxmlformats.org/drawingml/2006/main">
            <a:off x="8286750" y="14287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530A84-5B16-4862-AAC0-40925497E856}"/>
              </a:ext>
            </a:extLst>
          </p:cNvPr>
          <p:cNvSpPr>
            <a:spLocks xmlns:a="http://schemas.openxmlformats.org/drawingml/2006/main" noGrp="1"/>
          </p:cNvSpPr>
          <p:nvPr/>
        </p:nvSpPr>
        <p:spPr>
          <a:xfrm xmlns:a="http://schemas.openxmlformats.org/drawingml/2006/main">
            <a:off x="851535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±22</a:t>
            </a:r>
          </a:p>
        </p:txBody>
      </p:sp>
      <p:sp>
        <p:nvSpPr>
          <p:cNvPr id="8" name="">
            <a:extLst xmlns:a="http://schemas.openxmlformats.org/drawingml/2006/main">
              <a:ext uri="{FF2B5EF4-FFF2-40B4-BE49-F238E27FC236}">
                <a16:creationId xmlns:a16="http://schemas.microsoft.com/office/drawing/2014/main" id="{9FA3912C-59A1-4DE8-AA0B-D48BFA8B58EF}"/>
              </a:ext>
            </a:extLst>
          </p:cNvPr>
          <p:cNvSpPr>
            <a:spLocks xmlns:a="http://schemas.openxmlformats.org/drawingml/2006/main" noGrp="1"/>
          </p:cNvSpPr>
          <p:nvPr/>
        </p:nvSpPr>
        <p:spPr>
          <a:xfrm xmlns:a="http://schemas.openxmlformats.org/drawingml/2006/main">
            <a:off x="851535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clean up/down strength</a:t>
            </a:r>
          </a:p>
        </p:txBody>
      </p:sp>
      <p:sp>
        <p:nvSpPr>
          <p:cNvPr id="9" name="">
            <a:extLst xmlns:a="http://schemas.openxmlformats.org/drawingml/2006/main">
              <a:ext uri="{FF2B5EF4-FFF2-40B4-BE49-F238E27FC236}">
                <a16:creationId xmlns:a16="http://schemas.microsoft.com/office/drawing/2014/main" id="{FA59EEA4-CEE3-4ADE-BC69-FCDCC7758016}"/>
              </a:ext>
            </a:extLst>
          </p:cNvPr>
          <p:cNvSpPr>
            <a:spLocks xmlns:a="http://schemas.openxmlformats.org/drawingml/2006/main" noGrp="1"/>
          </p:cNvSpPr>
          <p:nvPr/>
        </p:nvSpPr>
        <p:spPr>
          <a:xfrm xmlns:a="http://schemas.openxmlformats.org/drawingml/2006/main">
            <a:off x="8286750" y="264795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039929-2D30-4AC1-86C7-979657859A5C}"/>
              </a:ext>
            </a:extLst>
          </p:cNvPr>
          <p:cNvSpPr>
            <a:spLocks xmlns:a="http://schemas.openxmlformats.org/drawingml/2006/main" noGrp="1"/>
          </p:cNvSpPr>
          <p:nvPr/>
        </p:nvSpPr>
        <p:spPr>
          <a:xfrm xmlns:a="http://schemas.openxmlformats.org/drawingml/2006/main">
            <a:off x="851535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1.000</a:t>
            </a:r>
          </a:p>
        </p:txBody>
      </p:sp>
      <p:sp>
        <p:nvSpPr>
          <p:cNvPr id="11" name="">
            <a:extLst xmlns:a="http://schemas.openxmlformats.org/drawingml/2006/main">
              <a:ext uri="{FF2B5EF4-FFF2-40B4-BE49-F238E27FC236}">
                <a16:creationId xmlns:a16="http://schemas.microsoft.com/office/drawing/2014/main" id="{6C7F70DD-511E-490C-8BC7-DAF6886F59A8}"/>
              </a:ext>
            </a:extLst>
          </p:cNvPr>
          <p:cNvSpPr>
            <a:spLocks xmlns:a="http://schemas.openxmlformats.org/drawingml/2006/main" noGrp="1"/>
          </p:cNvSpPr>
          <p:nvPr/>
        </p:nvSpPr>
        <p:spPr>
          <a:xfrm xmlns:a="http://schemas.openxmlformats.org/drawingml/2006/main">
            <a:off x="851535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clean path quality</a:t>
            </a:r>
          </a:p>
        </p:txBody>
      </p:sp>
      <p:sp>
        <p:nvSpPr>
          <p:cNvPr id="12" name="">
            <a:extLst xmlns:a="http://schemas.openxmlformats.org/drawingml/2006/main">
              <a:ext uri="{FF2B5EF4-FFF2-40B4-BE49-F238E27FC236}">
                <a16:creationId xmlns:a16="http://schemas.microsoft.com/office/drawing/2014/main" id="{E557C82E-0F6E-478B-9480-4184A70256CD}"/>
              </a:ext>
            </a:extLst>
          </p:cNvPr>
          <p:cNvSpPr>
            <a:spLocks xmlns:a="http://schemas.openxmlformats.org/drawingml/2006/main" noGrp="1"/>
          </p:cNvSpPr>
          <p:nvPr/>
        </p:nvSpPr>
        <p:spPr>
          <a:xfrm xmlns:a="http://schemas.openxmlformats.org/drawingml/2006/main">
            <a:off x="8286750" y="3867150"/>
            <a:ext cx="285750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67ACAF-CEA0-462B-9C7E-F7F12BC6CBB2}"/>
              </a:ext>
            </a:extLst>
          </p:cNvPr>
          <p:cNvSpPr>
            <a:spLocks xmlns:a="http://schemas.openxmlformats.org/drawingml/2006/main" noGrp="1"/>
          </p:cNvSpPr>
          <p:nvPr/>
        </p:nvSpPr>
        <p:spPr>
          <a:xfrm xmlns:a="http://schemas.openxmlformats.org/drawingml/2006/main">
            <a:off x="851535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0.049</a:t>
            </a:r>
          </a:p>
        </p:txBody>
      </p:sp>
      <p:sp>
        <p:nvSpPr>
          <p:cNvPr id="14" name="">
            <a:extLst xmlns:a="http://schemas.openxmlformats.org/drawingml/2006/main">
              <a:ext uri="{FF2B5EF4-FFF2-40B4-BE49-F238E27FC236}">
                <a16:creationId xmlns:a16="http://schemas.microsoft.com/office/drawing/2014/main" id="{7ED6EE18-632A-451B-9112-22E3ECFBB978}"/>
              </a:ext>
            </a:extLst>
          </p:cNvPr>
          <p:cNvSpPr>
            <a:spLocks xmlns:a="http://schemas.openxmlformats.org/drawingml/2006/main" noGrp="1"/>
          </p:cNvSpPr>
          <p:nvPr/>
        </p:nvSpPr>
        <p:spPr>
          <a:xfrm xmlns:a="http://schemas.openxmlformats.org/drawingml/2006/main">
            <a:off x="851535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reversal path quality</a:t>
            </a:r>
          </a:p>
        </p:txBody>
      </p:sp>
      <p:sp>
        <p:nvSpPr>
          <p:cNvPr id="15" name="">
            <a:extLst xmlns:a="http://schemas.openxmlformats.org/drawingml/2006/main">
              <a:ext uri="{FF2B5EF4-FFF2-40B4-BE49-F238E27FC236}">
                <a16:creationId xmlns:a16="http://schemas.microsoft.com/office/drawing/2014/main" id="{78CFEBE0-14BA-4B5B-B3C1-7E60C7D2E30C}"/>
              </a:ext>
            </a:extLst>
          </p:cNvPr>
          <p:cNvSpPr>
            <a:spLocks xmlns:a="http://schemas.openxmlformats.org/drawingml/2006/main" noGrp="1"/>
          </p:cNvSpPr>
          <p:nvPr/>
        </p:nvSpPr>
        <p:spPr>
          <a:xfrm xmlns:a="http://schemas.openxmlformats.org/drawingml/2006/main">
            <a:off x="8096250" y="5286375"/>
            <a:ext cx="3762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52606D"/>
                </a:solidFill>
              </a:defRPr>
            </a:pPr>
            <a:r>
              <a:rPr sz="1350" b="1">
                <a:solidFill>
                  <a:srgbClr val="52606D"/>
                </a:solidFill>
              </a:rPr>
              <a:t>Noisy rise 0.758 · random walk 0.612</a:t>
            </a:r>
          </a:p>
        </p:txBody>
      </p:sp>
    </p:spTree>
    <p:extLst>
      <p:ext uri="{BB962C8B-B14F-4D97-AF65-F5344CB8AC3E}">
        <p14:creationId xmlns:p14="http://schemas.microsoft.com/office/powerpoint/2010/main" val="218207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DDAFD5-4018-4BEF-A954-C2508780357F}"/>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A · REAL-PANEL USABILITY</a:t>
            </a:r>
          </a:p>
        </p:txBody>
      </p:sp>
      <p:sp>
        <p:nvSpPr>
          <p:cNvPr id="2" name="">
            <a:extLst xmlns:a="http://schemas.openxmlformats.org/drawingml/2006/main">
              <a:ext uri="{FF2B5EF4-FFF2-40B4-BE49-F238E27FC236}">
                <a16:creationId xmlns:a16="http://schemas.microsoft.com/office/drawing/2014/main" id="{08C307FA-0F79-47D6-83A0-31EC422F20C0}"/>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real panel produced usable states across every primary stock</a:t>
            </a:r>
          </a:p>
        </p:txBody>
      </p:sp>
      <p:sp>
        <p:nvSpPr>
          <p:cNvPr id="3" name="">
            <a:extLst xmlns:a="http://schemas.openxmlformats.org/drawingml/2006/main">
              <a:ext uri="{FF2B5EF4-FFF2-40B4-BE49-F238E27FC236}">
                <a16:creationId xmlns:a16="http://schemas.microsoft.com/office/drawing/2014/main" id="{DE4510A7-B85D-42BA-A554-84F570DFBE14}"/>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D30A9D5A-2326-44A3-BDA4-1D2A18774D97}"/>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7d9e65b0f0f4185"/>
          <a:stretch xmlns:a="http://schemas.openxmlformats.org/drawingml/2006/main"/>
        </p:blipFill>
        <p:spPr>
          <a:xfrm xmlns:a="http://schemas.openxmlformats.org/drawingml/2006/main">
            <a:off x="428625" y="1624542"/>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4F4C70A-D5F3-43D9-960C-D9E40E0FE0C1}"/>
              </a:ext>
            </a:extLst>
          </p:cNvPr>
          <p:cNvSpPr>
            <a:spLocks xmlns:a="http://schemas.openxmlformats.org/drawingml/2006/main" noGrp="1"/>
          </p:cNvSpPr>
          <p:nvPr/>
        </p:nvSpPr>
        <p:spPr>
          <a:xfrm xmlns:a="http://schemas.openxmlformats.org/drawingml/2006/main">
            <a:off x="8191500" y="14287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1063E88-4932-4376-8B3B-CFC2BA0CE53C}"/>
              </a:ext>
            </a:extLst>
          </p:cNvPr>
          <p:cNvSpPr>
            <a:spLocks xmlns:a="http://schemas.openxmlformats.org/drawingml/2006/main" noGrp="1"/>
          </p:cNvSpPr>
          <p:nvPr/>
        </p:nvSpPr>
        <p:spPr>
          <a:xfrm xmlns:a="http://schemas.openxmlformats.org/drawingml/2006/main">
            <a:off x="8420100" y="15716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24 / 24</a:t>
            </a:r>
          </a:p>
        </p:txBody>
      </p:sp>
      <p:sp>
        <p:nvSpPr>
          <p:cNvPr id="8" name="">
            <a:extLst xmlns:a="http://schemas.openxmlformats.org/drawingml/2006/main">
              <a:ext uri="{FF2B5EF4-FFF2-40B4-BE49-F238E27FC236}">
                <a16:creationId xmlns:a16="http://schemas.microsoft.com/office/drawing/2014/main" id="{D467136A-BB79-4336-8896-8D25AC18B2DD}"/>
              </a:ext>
            </a:extLst>
          </p:cNvPr>
          <p:cNvSpPr>
            <a:spLocks xmlns:a="http://schemas.openxmlformats.org/drawingml/2006/main" noGrp="1"/>
          </p:cNvSpPr>
          <p:nvPr/>
        </p:nvSpPr>
        <p:spPr>
          <a:xfrm xmlns:a="http://schemas.openxmlformats.org/drawingml/2006/main">
            <a:off x="8420100" y="20478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stocks with usable HIGH and LOW</a:t>
            </a:r>
          </a:p>
        </p:txBody>
      </p:sp>
      <p:sp>
        <p:nvSpPr>
          <p:cNvPr id="9" name="">
            <a:extLst xmlns:a="http://schemas.openxmlformats.org/drawingml/2006/main">
              <a:ext uri="{FF2B5EF4-FFF2-40B4-BE49-F238E27FC236}">
                <a16:creationId xmlns:a16="http://schemas.microsoft.com/office/drawing/2014/main" id="{654E8403-C283-4F38-8088-661476181B05}"/>
              </a:ext>
            </a:extLst>
          </p:cNvPr>
          <p:cNvSpPr>
            <a:spLocks xmlns:a="http://schemas.openxmlformats.org/drawingml/2006/main" noGrp="1"/>
          </p:cNvSpPr>
          <p:nvPr/>
        </p:nvSpPr>
        <p:spPr>
          <a:xfrm xmlns:a="http://schemas.openxmlformats.org/drawingml/2006/main">
            <a:off x="8191500" y="264795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09280D-5801-4D09-868B-6C49E551C6E3}"/>
              </a:ext>
            </a:extLst>
          </p:cNvPr>
          <p:cNvSpPr>
            <a:spLocks xmlns:a="http://schemas.openxmlformats.org/drawingml/2006/main" noGrp="1"/>
          </p:cNvSpPr>
          <p:nvPr/>
        </p:nvSpPr>
        <p:spPr>
          <a:xfrm xmlns:a="http://schemas.openxmlformats.org/drawingml/2006/main">
            <a:off x="8420100" y="27908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24.0%</a:t>
            </a:r>
          </a:p>
        </p:txBody>
      </p:sp>
      <p:sp>
        <p:nvSpPr>
          <p:cNvPr id="11" name="">
            <a:extLst xmlns:a="http://schemas.openxmlformats.org/drawingml/2006/main">
              <a:ext uri="{FF2B5EF4-FFF2-40B4-BE49-F238E27FC236}">
                <a16:creationId xmlns:a16="http://schemas.microsoft.com/office/drawing/2014/main" id="{5041C565-F06C-4F45-82C6-6014D36457C3}"/>
              </a:ext>
            </a:extLst>
          </p:cNvPr>
          <p:cNvSpPr>
            <a:spLocks xmlns:a="http://schemas.openxmlformats.org/drawingml/2006/main" noGrp="1"/>
          </p:cNvSpPr>
          <p:nvPr/>
        </p:nvSpPr>
        <p:spPr>
          <a:xfrm xmlns:a="http://schemas.openxmlformats.org/drawingml/2006/main">
            <a:off x="8420100" y="32670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eligible sessions</a:t>
            </a:r>
          </a:p>
        </p:txBody>
      </p:sp>
      <p:sp>
        <p:nvSpPr>
          <p:cNvPr id="12" name="">
            <a:extLst xmlns:a="http://schemas.openxmlformats.org/drawingml/2006/main">
              <a:ext uri="{FF2B5EF4-FFF2-40B4-BE49-F238E27FC236}">
                <a16:creationId xmlns:a16="http://schemas.microsoft.com/office/drawing/2014/main" id="{4B63D248-E614-4C55-977A-BAA9C5D03CB9}"/>
              </a:ext>
            </a:extLst>
          </p:cNvPr>
          <p:cNvSpPr>
            <a:spLocks xmlns:a="http://schemas.openxmlformats.org/drawingml/2006/main" noGrp="1"/>
          </p:cNvSpPr>
          <p:nvPr/>
        </p:nvSpPr>
        <p:spPr>
          <a:xfrm xmlns:a="http://schemas.openxmlformats.org/drawingml/2006/main">
            <a:off x="8191500" y="3867150"/>
            <a:ext cx="2857500" cy="1066800"/>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1A68AA3-8012-412D-B591-B4DE30E8263B}"/>
              </a:ext>
            </a:extLst>
          </p:cNvPr>
          <p:cNvSpPr>
            <a:spLocks xmlns:a="http://schemas.openxmlformats.org/drawingml/2006/main" noGrp="1"/>
          </p:cNvSpPr>
          <p:nvPr/>
        </p:nvSpPr>
        <p:spPr>
          <a:xfrm xmlns:a="http://schemas.openxmlformats.org/drawingml/2006/main">
            <a:off x="8420100" y="4010025"/>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defRPr>
            </a:pPr>
            <a:r>
              <a:rPr sz="2325" b="1">
                <a:solidFill>
                  <a:srgbClr val="2E8B57"/>
                </a:solidFill>
              </a:rPr>
              <a:t>0</a:t>
            </a:r>
          </a:p>
        </p:txBody>
      </p:sp>
      <p:sp>
        <p:nvSpPr>
          <p:cNvPr id="14" name="">
            <a:extLst xmlns:a="http://schemas.openxmlformats.org/drawingml/2006/main">
              <a:ext uri="{FF2B5EF4-FFF2-40B4-BE49-F238E27FC236}">
                <a16:creationId xmlns:a16="http://schemas.microsoft.com/office/drawing/2014/main" id="{CF83A244-177D-48BA-9977-642C1FF68294}"/>
              </a:ext>
            </a:extLst>
          </p:cNvPr>
          <p:cNvSpPr>
            <a:spLocks xmlns:a="http://schemas.openxmlformats.org/drawingml/2006/main" noGrp="1"/>
          </p:cNvSpPr>
          <p:nvPr/>
        </p:nvSpPr>
        <p:spPr>
          <a:xfrm xmlns:a="http://schemas.openxmlformats.org/drawingml/2006/main">
            <a:off x="8420100" y="4486275"/>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semantic or append violations</a:t>
            </a:r>
          </a:p>
        </p:txBody>
      </p:sp>
      <p:sp>
        <p:nvSpPr>
          <p:cNvPr id="15" name="">
            <a:extLst xmlns:a="http://schemas.openxmlformats.org/drawingml/2006/main">
              <a:ext uri="{FF2B5EF4-FFF2-40B4-BE49-F238E27FC236}">
                <a16:creationId xmlns:a16="http://schemas.microsoft.com/office/drawing/2014/main" id="{23BEED96-8592-4345-B3C3-F8A17D7CAFBB}"/>
              </a:ext>
            </a:extLst>
          </p:cNvPr>
          <p:cNvSpPr>
            <a:spLocks xmlns:a="http://schemas.openxmlformats.org/drawingml/2006/main" noGrp="1"/>
          </p:cNvSpPr>
          <p:nvPr/>
        </p:nvSpPr>
        <p:spPr>
          <a:xfrm xmlns:a="http://schemas.openxmlformats.org/drawingml/2006/main">
            <a:off x="8048625" y="5286375"/>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2E8B57"/>
                </a:solidFill>
              </a:defRPr>
            </a:pPr>
            <a:r>
              <a:rPr sz="1425" b="1">
                <a:solidFill>
                  <a:srgbClr val="2E8B57"/>
                </a:solidFill>
              </a:rPr>
              <a:t>All 7/7 construction gates passed before strategy contact.</a:t>
            </a:r>
          </a:p>
        </p:txBody>
      </p:sp>
    </p:spTree>
    <p:extLst>
      <p:ext uri="{BB962C8B-B14F-4D97-AF65-F5344CB8AC3E}">
        <p14:creationId xmlns:p14="http://schemas.microsoft.com/office/powerpoint/2010/main" val="4114907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94A77A-3EED-4D3A-95FE-531E3FFB5208}"/>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DURABILITY CHECK</a:t>
            </a:r>
          </a:p>
        </p:txBody>
      </p:sp>
      <p:sp>
        <p:nvSpPr>
          <p:cNvPr id="2" name="">
            <a:extLst xmlns:a="http://schemas.openxmlformats.org/drawingml/2006/main">
              <a:ext uri="{FF2B5EF4-FFF2-40B4-BE49-F238E27FC236}">
                <a16:creationId xmlns:a16="http://schemas.microsoft.com/office/drawing/2014/main" id="{62634472-4D65-41DB-861F-27D161ECBF01}"/>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120-session view was related—but not redundant</a:t>
            </a:r>
          </a:p>
        </p:txBody>
      </p:sp>
      <p:sp>
        <p:nvSpPr>
          <p:cNvPr id="3" name="">
            <a:extLst xmlns:a="http://schemas.openxmlformats.org/drawingml/2006/main">
              <a:ext uri="{FF2B5EF4-FFF2-40B4-BE49-F238E27FC236}">
                <a16:creationId xmlns:a16="http://schemas.microsoft.com/office/drawing/2014/main" id="{9D84F3DD-7BE3-456A-9921-EE4D5EC0B9FF}"/>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8</a:t>
            </a:r>
          </a:p>
        </p:txBody>
      </p:sp>
      <p:sp>
        <p:nvSpPr>
          <p:cNvPr id="4" name="">
            <a:extLst xmlns:a="http://schemas.openxmlformats.org/drawingml/2006/main">
              <a:ext uri="{FF2B5EF4-FFF2-40B4-BE49-F238E27FC236}">
                <a16:creationId xmlns:a16="http://schemas.microsoft.com/office/drawing/2014/main" id="{34033D1D-965D-44A2-9240-6CBFE5D80C1F}"/>
              </a:ext>
            </a:extLst>
          </p:cNvPr>
          <p:cNvSpPr>
            <a:spLocks xmlns:a="http://schemas.openxmlformats.org/drawingml/2006/main" noGrp="1"/>
          </p:cNvSpPr>
          <p:nvPr/>
        </p:nvSpPr>
        <p:spPr>
          <a:xfrm xmlns:a="http://schemas.openxmlformats.org/drawingml/2006/main">
            <a:off x="428625" y="1381125"/>
            <a:ext cx="69532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15377d8c01449e8"/>
          <a:stretch xmlns:a="http://schemas.openxmlformats.org/drawingml/2006/main"/>
        </p:blipFill>
        <p:spPr>
          <a:xfrm xmlns:a="http://schemas.openxmlformats.org/drawingml/2006/main">
            <a:off x="428625" y="1783292"/>
            <a:ext cx="6953250" cy="38629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F379A63-052F-40AF-A8BC-4FC1A71B06E6}"/>
              </a:ext>
            </a:extLst>
          </p:cNvPr>
          <p:cNvSpPr>
            <a:spLocks xmlns:a="http://schemas.openxmlformats.org/drawingml/2006/main" noGrp="1"/>
          </p:cNvSpPr>
          <p:nvPr/>
        </p:nvSpPr>
        <p:spPr>
          <a:xfrm xmlns:a="http://schemas.openxmlformats.org/drawingml/2006/main">
            <a:off x="7810500" y="1619250"/>
            <a:ext cx="3476625"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7B3CBE-3DB5-4DF6-AB36-D0EFF712CFCA}"/>
              </a:ext>
            </a:extLst>
          </p:cNvPr>
          <p:cNvSpPr>
            <a:spLocks xmlns:a="http://schemas.openxmlformats.org/drawingml/2006/main" noGrp="1"/>
          </p:cNvSpPr>
          <p:nvPr/>
        </p:nvSpPr>
        <p:spPr>
          <a:xfrm xmlns:a="http://schemas.openxmlformats.org/drawingml/2006/main">
            <a:off x="8039100" y="1762125"/>
            <a:ext cx="3019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70.5%</a:t>
            </a:r>
          </a:p>
        </p:txBody>
      </p:sp>
      <p:sp>
        <p:nvSpPr>
          <p:cNvPr id="8" name="">
            <a:extLst xmlns:a="http://schemas.openxmlformats.org/drawingml/2006/main">
              <a:ext uri="{FF2B5EF4-FFF2-40B4-BE49-F238E27FC236}">
                <a16:creationId xmlns:a16="http://schemas.microsoft.com/office/drawing/2014/main" id="{D49A1C0B-583F-4E82-B82D-B646A30D8FAD}"/>
              </a:ext>
            </a:extLst>
          </p:cNvPr>
          <p:cNvSpPr>
            <a:spLocks xmlns:a="http://schemas.openxmlformats.org/drawingml/2006/main" noGrp="1"/>
          </p:cNvSpPr>
          <p:nvPr/>
        </p:nvSpPr>
        <p:spPr>
          <a:xfrm xmlns:a="http://schemas.openxmlformats.org/drawingml/2006/main">
            <a:off x="8039100" y="2238375"/>
            <a:ext cx="301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direction agreement</a:t>
            </a:r>
          </a:p>
        </p:txBody>
      </p:sp>
      <p:sp>
        <p:nvSpPr>
          <p:cNvPr id="9" name="">
            <a:extLst xmlns:a="http://schemas.openxmlformats.org/drawingml/2006/main">
              <a:ext uri="{FF2B5EF4-FFF2-40B4-BE49-F238E27FC236}">
                <a16:creationId xmlns:a16="http://schemas.microsoft.com/office/drawing/2014/main" id="{BD9FA50B-7C0E-4A31-8827-DEBA4FD434D9}"/>
              </a:ext>
            </a:extLst>
          </p:cNvPr>
          <p:cNvSpPr>
            <a:spLocks xmlns:a="http://schemas.openxmlformats.org/drawingml/2006/main" noGrp="1"/>
          </p:cNvSpPr>
          <p:nvPr/>
        </p:nvSpPr>
        <p:spPr>
          <a:xfrm xmlns:a="http://schemas.openxmlformats.org/drawingml/2006/main">
            <a:off x="7810500" y="3000375"/>
            <a:ext cx="3476625"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50DD3CD-FBB8-4AEC-886B-6AB3AB5D5101}"/>
              </a:ext>
            </a:extLst>
          </p:cNvPr>
          <p:cNvSpPr>
            <a:spLocks xmlns:a="http://schemas.openxmlformats.org/drawingml/2006/main" noGrp="1"/>
          </p:cNvSpPr>
          <p:nvPr/>
        </p:nvSpPr>
        <p:spPr>
          <a:xfrm xmlns:a="http://schemas.openxmlformats.org/drawingml/2006/main">
            <a:off x="8039100" y="3143250"/>
            <a:ext cx="3019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0.184</a:t>
            </a:r>
          </a:p>
        </p:txBody>
      </p:sp>
      <p:sp>
        <p:nvSpPr>
          <p:cNvPr id="11" name="">
            <a:extLst xmlns:a="http://schemas.openxmlformats.org/drawingml/2006/main">
              <a:ext uri="{FF2B5EF4-FFF2-40B4-BE49-F238E27FC236}">
                <a16:creationId xmlns:a16="http://schemas.microsoft.com/office/drawing/2014/main" id="{74F505A7-A148-4ED6-BB30-EF3EC1660C65}"/>
              </a:ext>
            </a:extLst>
          </p:cNvPr>
          <p:cNvSpPr>
            <a:spLocks xmlns:a="http://schemas.openxmlformats.org/drawingml/2006/main" noGrp="1"/>
          </p:cNvSpPr>
          <p:nvPr/>
        </p:nvSpPr>
        <p:spPr>
          <a:xfrm xmlns:a="http://schemas.openxmlformats.org/drawingml/2006/main">
            <a:off x="8039100" y="3619500"/>
            <a:ext cx="301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quality association</a:t>
            </a:r>
          </a:p>
        </p:txBody>
      </p:sp>
      <p:sp>
        <p:nvSpPr>
          <p:cNvPr id="12" name="">
            <a:extLst xmlns:a="http://schemas.openxmlformats.org/drawingml/2006/main">
              <a:ext uri="{FF2B5EF4-FFF2-40B4-BE49-F238E27FC236}">
                <a16:creationId xmlns:a16="http://schemas.microsoft.com/office/drawing/2014/main" id="{AD22D024-5F07-4235-BD23-E42BA920C910}"/>
              </a:ext>
            </a:extLst>
          </p:cNvPr>
          <p:cNvSpPr>
            <a:spLocks xmlns:a="http://schemas.openxmlformats.org/drawingml/2006/main" noGrp="1"/>
          </p:cNvSpPr>
          <p:nvPr/>
        </p:nvSpPr>
        <p:spPr>
          <a:xfrm xmlns:a="http://schemas.openxmlformats.org/drawingml/2006/main">
            <a:off x="7810500" y="4524375"/>
            <a:ext cx="3476625" cy="123825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C08D2D-7F3C-4C88-846B-0154C3C2E42F}"/>
              </a:ext>
            </a:extLst>
          </p:cNvPr>
          <p:cNvSpPr>
            <a:spLocks xmlns:a="http://schemas.openxmlformats.org/drawingml/2006/main" noGrp="1"/>
          </p:cNvSpPr>
          <p:nvPr/>
        </p:nvSpPr>
        <p:spPr>
          <a:xfrm xmlns:a="http://schemas.openxmlformats.org/drawingml/2006/main">
            <a:off x="8048625" y="4714875"/>
            <a:ext cx="300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7324D"/>
                </a:solidFill>
              </a:defRPr>
            </a:pPr>
            <a:r>
              <a:rPr sz="1500" b="1">
                <a:solidFill>
                  <a:srgbClr val="17324D"/>
                </a:solidFill>
              </a:rPr>
              <a:t>Interpretation</a:t>
            </a:r>
          </a:p>
        </p:txBody>
      </p:sp>
      <p:sp>
        <p:nvSpPr>
          <p:cNvPr id="14" name="">
            <a:extLst xmlns:a="http://schemas.openxmlformats.org/drawingml/2006/main">
              <a:ext uri="{FF2B5EF4-FFF2-40B4-BE49-F238E27FC236}">
                <a16:creationId xmlns:a16="http://schemas.microsoft.com/office/drawing/2014/main" id="{55FB6598-9BAD-427A-9C44-58DA524DFAB6}"/>
              </a:ext>
            </a:extLst>
          </p:cNvPr>
          <p:cNvSpPr>
            <a:spLocks xmlns:a="http://schemas.openxmlformats.org/drawingml/2006/main" noGrp="1"/>
          </p:cNvSpPr>
          <p:nvPr/>
        </p:nvSpPr>
        <p:spPr>
          <a:xfrm xmlns:a="http://schemas.openxmlformats.org/drawingml/2006/main">
            <a:off x="8048625" y="5095875"/>
            <a:ext cx="3000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52606D"/>
                </a:solidFill>
              </a:defRPr>
            </a:pPr>
            <a:r>
              <a:rPr sz="1200" b="0">
                <a:solidFill>
                  <a:srgbClr val="52606D"/>
                </a:solidFill>
              </a:rPr>
              <a:t>Direction often agreed, while quality was scale-specific. That validates 120 as context—not a rescue candidate.</a:t>
            </a:r>
          </a:p>
        </p:txBody>
      </p:sp>
    </p:spTree>
    <p:extLst>
      <p:ext uri="{BB962C8B-B14F-4D97-AF65-F5344CB8AC3E}">
        <p14:creationId xmlns:p14="http://schemas.microsoft.com/office/powerpoint/2010/main" val="7925226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C8CB90-354A-463E-BFE3-3B18C82BA649}"/>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REPRESENTATIVE MEASUREMENT TAPES</a:t>
            </a:r>
          </a:p>
        </p:txBody>
      </p:sp>
      <p:sp>
        <p:nvSpPr>
          <p:cNvPr id="2" name="">
            <a:extLst xmlns:a="http://schemas.openxmlformats.org/drawingml/2006/main">
              <a:ext uri="{FF2B5EF4-FFF2-40B4-BE49-F238E27FC236}">
                <a16:creationId xmlns:a16="http://schemas.microsoft.com/office/drawing/2014/main" id="{36F88FA4-AA87-411C-BDFB-D0993A0D0987}"/>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Measurement tapes show a descriptive state—not a forecast</a:t>
            </a:r>
          </a:p>
        </p:txBody>
      </p:sp>
      <p:sp>
        <p:nvSpPr>
          <p:cNvPr id="3" name="">
            <a:extLst xmlns:a="http://schemas.openxmlformats.org/drawingml/2006/main">
              <a:ext uri="{FF2B5EF4-FFF2-40B4-BE49-F238E27FC236}">
                <a16:creationId xmlns:a16="http://schemas.microsoft.com/office/drawing/2014/main" id="{28A037EA-6B7B-4613-AD0A-002794973401}"/>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9</a:t>
            </a:r>
          </a:p>
        </p:txBody>
      </p:sp>
      <p:sp>
        <p:nvSpPr>
          <p:cNvPr id="4" name="">
            <a:extLst xmlns:a="http://schemas.openxmlformats.org/drawingml/2006/main">
              <a:ext uri="{FF2B5EF4-FFF2-40B4-BE49-F238E27FC236}">
                <a16:creationId xmlns:a16="http://schemas.microsoft.com/office/drawing/2014/main" id="{00864CE7-2D76-41AA-97CB-95DFE3B52EAB}"/>
              </a:ext>
            </a:extLst>
          </p:cNvPr>
          <p:cNvSpPr>
            <a:spLocks xmlns:a="http://schemas.openxmlformats.org/drawingml/2006/main" noGrp="1"/>
          </p:cNvSpPr>
          <p:nvPr/>
        </p:nvSpPr>
        <p:spPr>
          <a:xfrm xmlns:a="http://schemas.openxmlformats.org/drawingml/2006/main">
            <a:off x="523875" y="1190625"/>
            <a:ext cx="11144250" cy="509587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f6deb7ff80541d7"/>
          <a:stretch xmlns:a="http://schemas.openxmlformats.org/drawingml/2006/main"/>
        </p:blipFill>
        <p:spPr>
          <a:xfrm xmlns:a="http://schemas.openxmlformats.org/drawingml/2006/main">
            <a:off x="3426732" y="1190625"/>
            <a:ext cx="5338536" cy="5095875"/>
          </a:xfrm>
          <a:prstGeom xmlns:a="http://schemas.openxmlformats.org/drawingml/2006/main" prst="rect">
            <a:avLst/>
          </a:prstGeom>
        </p:spPr>
      </p:pic>
    </p:spTree>
    <p:extLst>
      <p:ext uri="{BB962C8B-B14F-4D97-AF65-F5344CB8AC3E}">
        <p14:creationId xmlns:p14="http://schemas.microsoft.com/office/powerpoint/2010/main" val="1809680823"/>
      </p:ext>
    </p:extLst>
  </p:cSld>
</p:sld>
</file>

<file path=ppt/slides/slide10.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36717C-288D-44DF-A0FF-645511E54F13}"/>
              </a:ext>
            </a:extLst>
          </p:cNvPr>
          <p:cNvSpPr>
            <a:spLocks xmlns:a="http://schemas.openxmlformats.org/drawingml/2006/main" noGrp="1"/>
          </p:cNvSpPr>
          <p:nvPr/>
        </p:nvSpPr>
        <p:spPr>
          <a:xfrm xmlns:a="http://schemas.openxmlformats.org/drawingml/2006/main">
            <a:off x="476250" y="6858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defRPr>
            </a:pPr>
            <a:r>
              <a:rPr sz="1350" b="1">
                <a:solidFill>
                  <a:srgbClr val="2E8B57"/>
                </a:solidFill>
              </a:rPr>
              <a:t>STAGE A PASSED</a:t>
            </a:r>
          </a:p>
        </p:txBody>
      </p:sp>
      <p:sp>
        <p:nvSpPr>
          <p:cNvPr id="2" name="">
            <a:extLst xmlns:a="http://schemas.openxmlformats.org/drawingml/2006/main">
              <a:ext uri="{FF2B5EF4-FFF2-40B4-BE49-F238E27FC236}">
                <a16:creationId xmlns:a16="http://schemas.microsoft.com/office/drawing/2014/main" id="{3C38F165-6327-4151-87A4-0A6F6620EFB6}"/>
              </a:ext>
            </a:extLst>
          </p:cNvPr>
          <p:cNvSpPr>
            <a:spLocks xmlns:a="http://schemas.openxmlformats.org/drawingml/2006/main" noGrp="1"/>
          </p:cNvSpPr>
          <p:nvPr/>
        </p:nvSpPr>
        <p:spPr>
          <a:xfrm xmlns:a="http://schemas.openxmlformats.org/drawingml/2006/main">
            <a:off x="809625" y="1714500"/>
            <a:ext cx="8096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FFFFFF"/>
                </a:solidFill>
              </a:defRPr>
            </a:pPr>
            <a:r>
              <a:rPr sz="4350" b="1">
                <a:solidFill>
                  <a:srgbClr val="FFFFFF"/>
                </a:solidFill>
              </a:rPr>
              <a:t>A well-formed description</a:t>
            </a:r>
          </a:p>
          <a:p xmlns:a="http://schemas.openxmlformats.org/drawingml/2006/main">
            <a:pPr algn="l">
              <a:defRPr sz="4350" b="1">
                <a:solidFill>
                  <a:srgbClr val="FFFFFF"/>
                </a:solidFill>
              </a:defRPr>
            </a:pPr>
            <a:r>
              <a:rPr sz="4350" b="1">
                <a:solidFill>
                  <a:srgbClr val="FFFFFF"/>
                </a:solidFill>
              </a:rPr>
              <a:t>still has to improve the</a:t>
            </a:r>
          </a:p>
          <a:p xmlns:a="http://schemas.openxmlformats.org/drawingml/2006/main">
            <a:pPr algn="l">
              <a:defRPr sz="4350" b="1">
                <a:solidFill>
                  <a:srgbClr val="FFFFFF"/>
                </a:solidFill>
              </a:defRPr>
            </a:pPr>
            <a:r>
              <a:rPr sz="4350" b="1">
                <a:solidFill>
                  <a:srgbClr val="FFFFFF"/>
                </a:solidFill>
              </a:rPr>
              <a:t>next strategy decision</a:t>
            </a:r>
          </a:p>
        </p:txBody>
      </p:sp>
      <p:sp>
        <p:nvSpPr>
          <p:cNvPr id="3" name="">
            <a:extLst xmlns:a="http://schemas.openxmlformats.org/drawingml/2006/main">
              <a:ext uri="{FF2B5EF4-FFF2-40B4-BE49-F238E27FC236}">
                <a16:creationId xmlns:a16="http://schemas.microsoft.com/office/drawing/2014/main" id="{7E2EC9D2-6D66-49B5-A3B2-C8CBF8C2F638}"/>
              </a:ext>
            </a:extLst>
          </p:cNvPr>
          <p:cNvSpPr>
            <a:spLocks xmlns:a="http://schemas.openxmlformats.org/drawingml/2006/main" noGrp="1"/>
          </p:cNvSpPr>
          <p:nvPr/>
        </p:nvSpPr>
        <p:spPr>
          <a:xfrm xmlns:a="http://schemas.openxmlformats.org/drawingml/2006/main">
            <a:off x="809625" y="4953000"/>
            <a:ext cx="914400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CF9AC7-FA6C-4FA0-8711-DCC355F064DE}"/>
              </a:ext>
            </a:extLst>
          </p:cNvPr>
          <p:cNvSpPr>
            <a:spLocks xmlns:a="http://schemas.openxmlformats.org/drawingml/2006/main" noGrp="1"/>
          </p:cNvSpPr>
          <p:nvPr/>
        </p:nvSpPr>
        <p:spPr>
          <a:xfrm xmlns:a="http://schemas.openxmlformats.org/drawingml/2006/main">
            <a:off x="809625" y="528637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CEBFF"/>
                </a:solidFill>
              </a:defRPr>
            </a:pPr>
            <a:r>
              <a:rPr sz="1725" b="1">
                <a:solidFill>
                  <a:srgbClr val="DCEBFF"/>
                </a:solidFill>
              </a:rPr>
              <a:t>Next question: did orderly positive paths improve fresh SMA8/14 entries?</a:t>
            </a:r>
          </a:p>
        </p:txBody>
      </p:sp>
      <p:sp>
        <p:nvSpPr>
          <p:cNvPr id="5" name="">
            <a:extLst xmlns:a="http://schemas.openxmlformats.org/drawingml/2006/main">
              <a:ext uri="{FF2B5EF4-FFF2-40B4-BE49-F238E27FC236}">
                <a16:creationId xmlns:a16="http://schemas.microsoft.com/office/drawing/2014/main" id="{5D3F073F-BA27-4291-A291-5D3D7BE558AF}"/>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DCEBFF"/>
                </a:solidFill>
              </a:defRPr>
            </a:pPr>
            <a:r>
              <a:rPr sz="825" b="0">
                <a:solidFill>
                  <a:srgbClr val="DCEBFF"/>
                </a:solidFill>
              </a:rPr>
              <a:t>10</a:t>
            </a:r>
          </a:p>
        </p:txBody>
      </p:sp>
    </p:spTree>
    <p:extLst>
      <p:ext uri="{BB962C8B-B14F-4D97-AF65-F5344CB8AC3E}">
        <p14:creationId xmlns:p14="http://schemas.microsoft.com/office/powerpoint/2010/main" val="8555770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81D9C5-C75F-4DD5-8855-0722AC376D4A}"/>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STAGE B · HEADLINE OUTCOME</a:t>
            </a:r>
          </a:p>
        </p:txBody>
      </p:sp>
      <p:sp>
        <p:nvSpPr>
          <p:cNvPr id="2" name="">
            <a:extLst xmlns:a="http://schemas.openxmlformats.org/drawingml/2006/main">
              <a:ext uri="{FF2B5EF4-FFF2-40B4-BE49-F238E27FC236}">
                <a16:creationId xmlns:a16="http://schemas.microsoft.com/office/drawing/2014/main" id="{82AE2B84-4CD0-411A-81F0-34B1491063E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gate made the parent much safer by making it mostly cash</a:t>
            </a:r>
          </a:p>
        </p:txBody>
      </p:sp>
      <p:sp>
        <p:nvSpPr>
          <p:cNvPr id="3" name="">
            <a:extLst xmlns:a="http://schemas.openxmlformats.org/drawingml/2006/main">
              <a:ext uri="{FF2B5EF4-FFF2-40B4-BE49-F238E27FC236}">
                <a16:creationId xmlns:a16="http://schemas.microsoft.com/office/drawing/2014/main" id="{459BF4D9-CCEF-4DAC-A746-A6519866D1DE}"/>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11</a:t>
            </a:r>
          </a:p>
        </p:txBody>
      </p:sp>
      <p:sp>
        <p:nvSpPr>
          <p:cNvPr id="4" name="">
            <a:extLst xmlns:a="http://schemas.openxmlformats.org/drawingml/2006/main">
              <a:ext uri="{FF2B5EF4-FFF2-40B4-BE49-F238E27FC236}">
                <a16:creationId xmlns:a16="http://schemas.microsoft.com/office/drawing/2014/main" id="{A7DCCBED-1232-4BB2-8020-FC88FD68B9EA}"/>
              </a:ext>
            </a:extLst>
          </p:cNvPr>
          <p:cNvSpPr>
            <a:spLocks xmlns:a="http://schemas.openxmlformats.org/drawingml/2006/main" noGrp="1"/>
          </p:cNvSpPr>
          <p:nvPr/>
        </p:nvSpPr>
        <p:spPr>
          <a:xfrm xmlns:a="http://schemas.openxmlformats.org/drawingml/2006/main">
            <a:off x="428625" y="1381125"/>
            <a:ext cx="5810250" cy="4476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1bc6352bdc1487e"/>
          <a:stretch xmlns:a="http://schemas.openxmlformats.org/drawingml/2006/main"/>
        </p:blipFill>
        <p:spPr>
          <a:xfrm xmlns:a="http://schemas.openxmlformats.org/drawingml/2006/main">
            <a:off x="428625" y="2005542"/>
            <a:ext cx="5810250" cy="32279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81366B-A64A-483F-977E-0C5C4CFB4264}"/>
              </a:ext>
            </a:extLst>
          </p:cNvPr>
          <p:cNvSpPr>
            <a:spLocks xmlns:a="http://schemas.openxmlformats.org/drawingml/2006/main" noGrp="1"/>
          </p:cNvSpPr>
          <p:nvPr/>
        </p:nvSpPr>
        <p:spPr>
          <a:xfrm xmlns:a="http://schemas.openxmlformats.org/drawingml/2006/main">
            <a:off x="6572250" y="1428750"/>
            <a:ext cx="490537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F16C05-D855-404B-96F3-3995C2D8C01C}"/>
              </a:ext>
            </a:extLst>
          </p:cNvPr>
          <p:cNvSpPr>
            <a:spLocks xmlns:a="http://schemas.openxmlformats.org/drawingml/2006/main" noGrp="1"/>
          </p:cNvSpPr>
          <p:nvPr/>
        </p:nvSpPr>
        <p:spPr>
          <a:xfrm xmlns:a="http://schemas.openxmlformats.org/drawingml/2006/main">
            <a:off x="6800850" y="1571625"/>
            <a:ext cx="44481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8.95% → −0.11%</a:t>
            </a:r>
          </a:p>
        </p:txBody>
      </p:sp>
      <p:sp>
        <p:nvSpPr>
          <p:cNvPr id="8" name="">
            <a:extLst xmlns:a="http://schemas.openxmlformats.org/drawingml/2006/main">
              <a:ext uri="{FF2B5EF4-FFF2-40B4-BE49-F238E27FC236}">
                <a16:creationId xmlns:a16="http://schemas.microsoft.com/office/drawing/2014/main" id="{6636A82D-E8DA-4EFC-AA37-8AB9B89DEC2C}"/>
              </a:ext>
            </a:extLst>
          </p:cNvPr>
          <p:cNvSpPr>
            <a:spLocks xmlns:a="http://schemas.openxmlformats.org/drawingml/2006/main" noGrp="1"/>
          </p:cNvSpPr>
          <p:nvPr/>
        </p:nvSpPr>
        <p:spPr>
          <a:xfrm xmlns:a="http://schemas.openxmlformats.org/drawingml/2006/main">
            <a:off x="6800850" y="2047875"/>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annual return</a:t>
            </a:r>
          </a:p>
        </p:txBody>
      </p:sp>
      <p:sp>
        <p:nvSpPr>
          <p:cNvPr id="9" name="">
            <a:extLst xmlns:a="http://schemas.openxmlformats.org/drawingml/2006/main">
              <a:ext uri="{FF2B5EF4-FFF2-40B4-BE49-F238E27FC236}">
                <a16:creationId xmlns:a16="http://schemas.microsoft.com/office/drawing/2014/main" id="{FABDD20F-65BD-42FD-BBEB-3BE9C33EBD7F}"/>
              </a:ext>
            </a:extLst>
          </p:cNvPr>
          <p:cNvSpPr>
            <a:spLocks xmlns:a="http://schemas.openxmlformats.org/drawingml/2006/main" noGrp="1"/>
          </p:cNvSpPr>
          <p:nvPr/>
        </p:nvSpPr>
        <p:spPr>
          <a:xfrm xmlns:a="http://schemas.openxmlformats.org/drawingml/2006/main">
            <a:off x="6572250" y="2647950"/>
            <a:ext cx="490537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183889F-B564-456C-B37B-F82F4B332CEF}"/>
              </a:ext>
            </a:extLst>
          </p:cNvPr>
          <p:cNvSpPr>
            <a:spLocks xmlns:a="http://schemas.openxmlformats.org/drawingml/2006/main" noGrp="1"/>
          </p:cNvSpPr>
          <p:nvPr/>
        </p:nvSpPr>
        <p:spPr>
          <a:xfrm xmlns:a="http://schemas.openxmlformats.org/drawingml/2006/main">
            <a:off x="6800850" y="2790825"/>
            <a:ext cx="44481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0.642 → −0.278</a:t>
            </a:r>
          </a:p>
        </p:txBody>
      </p:sp>
      <p:sp>
        <p:nvSpPr>
          <p:cNvPr id="11" name="">
            <a:extLst xmlns:a="http://schemas.openxmlformats.org/drawingml/2006/main">
              <a:ext uri="{FF2B5EF4-FFF2-40B4-BE49-F238E27FC236}">
                <a16:creationId xmlns:a16="http://schemas.microsoft.com/office/drawing/2014/main" id="{1692C21E-FA09-43CD-B533-6F7551F3AA5D}"/>
              </a:ext>
            </a:extLst>
          </p:cNvPr>
          <p:cNvSpPr>
            <a:spLocks xmlns:a="http://schemas.openxmlformats.org/drawingml/2006/main" noGrp="1"/>
          </p:cNvSpPr>
          <p:nvPr/>
        </p:nvSpPr>
        <p:spPr>
          <a:xfrm xmlns:a="http://schemas.openxmlformats.org/drawingml/2006/main">
            <a:off x="6800850" y="3267075"/>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Sharpe</a:t>
            </a:r>
          </a:p>
        </p:txBody>
      </p:sp>
      <p:sp>
        <p:nvSpPr>
          <p:cNvPr id="12" name="">
            <a:extLst xmlns:a="http://schemas.openxmlformats.org/drawingml/2006/main">
              <a:ext uri="{FF2B5EF4-FFF2-40B4-BE49-F238E27FC236}">
                <a16:creationId xmlns:a16="http://schemas.microsoft.com/office/drawing/2014/main" id="{4196C8CE-2908-4873-BEF8-15B636946E50}"/>
              </a:ext>
            </a:extLst>
          </p:cNvPr>
          <p:cNvSpPr>
            <a:spLocks xmlns:a="http://schemas.openxmlformats.org/drawingml/2006/main" noGrp="1"/>
          </p:cNvSpPr>
          <p:nvPr/>
        </p:nvSpPr>
        <p:spPr>
          <a:xfrm xmlns:a="http://schemas.openxmlformats.org/drawingml/2006/main">
            <a:off x="6572250" y="3867150"/>
            <a:ext cx="4905375"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B51FB27-0B35-4D6A-B463-9708B25C7FBE}"/>
              </a:ext>
            </a:extLst>
          </p:cNvPr>
          <p:cNvSpPr>
            <a:spLocks xmlns:a="http://schemas.openxmlformats.org/drawingml/2006/main" noGrp="1"/>
          </p:cNvSpPr>
          <p:nvPr/>
        </p:nvSpPr>
        <p:spPr>
          <a:xfrm xmlns:a="http://schemas.openxmlformats.org/drawingml/2006/main">
            <a:off x="6800850" y="4010025"/>
            <a:ext cx="44481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53.88% → 6.02%</a:t>
            </a:r>
          </a:p>
        </p:txBody>
      </p:sp>
      <p:sp>
        <p:nvSpPr>
          <p:cNvPr id="14" name="">
            <a:extLst xmlns:a="http://schemas.openxmlformats.org/drawingml/2006/main">
              <a:ext uri="{FF2B5EF4-FFF2-40B4-BE49-F238E27FC236}">
                <a16:creationId xmlns:a16="http://schemas.microsoft.com/office/drawing/2014/main" id="{7A286D6E-442E-4975-B363-1DFB7941F1DC}"/>
              </a:ext>
            </a:extLst>
          </p:cNvPr>
          <p:cNvSpPr>
            <a:spLocks xmlns:a="http://schemas.openxmlformats.org/drawingml/2006/main" noGrp="1"/>
          </p:cNvSpPr>
          <p:nvPr/>
        </p:nvSpPr>
        <p:spPr>
          <a:xfrm xmlns:a="http://schemas.openxmlformats.org/drawingml/2006/main">
            <a:off x="6800850" y="4486275"/>
            <a:ext cx="44481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median exposure</a:t>
            </a:r>
          </a:p>
        </p:txBody>
      </p:sp>
      <p:sp>
        <p:nvSpPr>
          <p:cNvPr id="15" name="">
            <a:extLst xmlns:a="http://schemas.openxmlformats.org/drawingml/2006/main">
              <a:ext uri="{FF2B5EF4-FFF2-40B4-BE49-F238E27FC236}">
                <a16:creationId xmlns:a16="http://schemas.microsoft.com/office/drawing/2014/main" id="{B2AF2AE0-4923-423A-AA4F-C5B81731022F}"/>
              </a:ext>
            </a:extLst>
          </p:cNvPr>
          <p:cNvSpPr>
            <a:spLocks xmlns:a="http://schemas.openxmlformats.org/drawingml/2006/main" noGrp="1"/>
          </p:cNvSpPr>
          <p:nvPr/>
        </p:nvSpPr>
        <p:spPr>
          <a:xfrm xmlns:a="http://schemas.openxmlformats.org/drawingml/2006/main">
            <a:off x="6572250" y="5286375"/>
            <a:ext cx="4905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Drawdown improved from −14.59% to −4.63%—but the return/Sharpe bargain failed.</a:t>
            </a:r>
          </a:p>
        </p:txBody>
      </p:sp>
    </p:spTree>
    <p:extLst>
      <p:ext uri="{BB962C8B-B14F-4D97-AF65-F5344CB8AC3E}">
        <p14:creationId xmlns:p14="http://schemas.microsoft.com/office/powerpoint/2010/main" val="16925300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053DE58-EBA4-487F-8D1A-353DD718FE3C}"/>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ENTRY-STATE AUDIT</a:t>
            </a:r>
          </a:p>
        </p:txBody>
      </p:sp>
      <p:sp>
        <p:nvSpPr>
          <p:cNvPr id="2" name="">
            <a:extLst xmlns:a="http://schemas.openxmlformats.org/drawingml/2006/main">
              <a:ext uri="{FF2B5EF4-FFF2-40B4-BE49-F238E27FC236}">
                <a16:creationId xmlns:a16="http://schemas.microsoft.com/office/drawing/2014/main" id="{6A0774DE-F71E-4D59-95EC-2B05E2F324A7}"/>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Orderly-up did not contain the best parent trades</a:t>
            </a:r>
          </a:p>
        </p:txBody>
      </p:sp>
      <p:sp>
        <p:nvSpPr>
          <p:cNvPr id="3" name="">
            <a:extLst xmlns:a="http://schemas.openxmlformats.org/drawingml/2006/main">
              <a:ext uri="{FF2B5EF4-FFF2-40B4-BE49-F238E27FC236}">
                <a16:creationId xmlns:a16="http://schemas.microsoft.com/office/drawing/2014/main" id="{CEC77A68-2443-44EE-B6AA-3525CC6CFC19}"/>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12</a:t>
            </a:r>
          </a:p>
        </p:txBody>
      </p:sp>
      <p:sp>
        <p:nvSpPr>
          <p:cNvPr id="4" name="">
            <a:extLst xmlns:a="http://schemas.openxmlformats.org/drawingml/2006/main">
              <a:ext uri="{FF2B5EF4-FFF2-40B4-BE49-F238E27FC236}">
                <a16:creationId xmlns:a16="http://schemas.microsoft.com/office/drawing/2014/main" id="{F824073F-A55F-4D75-B4EC-98061AD85A18}"/>
              </a:ext>
            </a:extLst>
          </p:cNvPr>
          <p:cNvSpPr>
            <a:spLocks xmlns:a="http://schemas.openxmlformats.org/drawingml/2006/main" noGrp="1"/>
          </p:cNvSpPr>
          <p:nvPr/>
        </p:nvSpPr>
        <p:spPr>
          <a:xfrm xmlns:a="http://schemas.openxmlformats.org/drawingml/2006/main">
            <a:off x="428625" y="1381125"/>
            <a:ext cx="723900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9ad5dadf9da4c4e"/>
          <a:stretch xmlns:a="http://schemas.openxmlformats.org/drawingml/2006/main"/>
        </p:blipFill>
        <p:spPr>
          <a:xfrm xmlns:a="http://schemas.openxmlformats.org/drawingml/2006/main">
            <a:off x="428625" y="1703917"/>
            <a:ext cx="7239000" cy="402166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5CA30F8-CCE7-4133-9A38-E5B84CF41725}"/>
              </a:ext>
            </a:extLst>
          </p:cNvPr>
          <p:cNvSpPr>
            <a:spLocks xmlns:a="http://schemas.openxmlformats.org/drawingml/2006/main" noGrp="1"/>
          </p:cNvSpPr>
          <p:nvPr/>
        </p:nvSpPr>
        <p:spPr>
          <a:xfrm xmlns:a="http://schemas.openxmlformats.org/drawingml/2006/main">
            <a:off x="7953375" y="1428750"/>
            <a:ext cx="35242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DD0912-7E6D-48B1-A5DE-1C6352C443B2}"/>
              </a:ext>
            </a:extLst>
          </p:cNvPr>
          <p:cNvSpPr>
            <a:spLocks xmlns:a="http://schemas.openxmlformats.org/drawingml/2006/main" noGrp="1"/>
          </p:cNvSpPr>
          <p:nvPr/>
        </p:nvSpPr>
        <p:spPr>
          <a:xfrm xmlns:a="http://schemas.openxmlformats.org/drawingml/2006/main">
            <a:off x="8181975" y="1571625"/>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43.96%</a:t>
            </a:r>
          </a:p>
        </p:txBody>
      </p:sp>
      <p:sp>
        <p:nvSpPr>
          <p:cNvPr id="8" name="">
            <a:extLst xmlns:a="http://schemas.openxmlformats.org/drawingml/2006/main">
              <a:ext uri="{FF2B5EF4-FFF2-40B4-BE49-F238E27FC236}">
                <a16:creationId xmlns:a16="http://schemas.microsoft.com/office/drawing/2014/main" id="{B7B0BF94-62A7-49DC-8E48-9DEB2C66A855}"/>
              </a:ext>
            </a:extLst>
          </p:cNvPr>
          <p:cNvSpPr>
            <a:spLocks xmlns:a="http://schemas.openxmlformats.org/drawingml/2006/main" noGrp="1"/>
          </p:cNvSpPr>
          <p:nvPr/>
        </p:nvSpPr>
        <p:spPr>
          <a:xfrm xmlns:a="http://schemas.openxmlformats.org/drawingml/2006/main">
            <a:off x="8181975" y="2047875"/>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ORDERLY_UP hit rate</a:t>
            </a:r>
          </a:p>
        </p:txBody>
      </p:sp>
      <p:sp>
        <p:nvSpPr>
          <p:cNvPr id="9" name="">
            <a:extLst xmlns:a="http://schemas.openxmlformats.org/drawingml/2006/main">
              <a:ext uri="{FF2B5EF4-FFF2-40B4-BE49-F238E27FC236}">
                <a16:creationId xmlns:a16="http://schemas.microsoft.com/office/drawing/2014/main" id="{4A3564F7-0E25-484A-B1BF-017ED1F0EF6D}"/>
              </a:ext>
            </a:extLst>
          </p:cNvPr>
          <p:cNvSpPr>
            <a:spLocks xmlns:a="http://schemas.openxmlformats.org/drawingml/2006/main" noGrp="1"/>
          </p:cNvSpPr>
          <p:nvPr/>
        </p:nvSpPr>
        <p:spPr>
          <a:xfrm xmlns:a="http://schemas.openxmlformats.org/drawingml/2006/main">
            <a:off x="7953375" y="2647950"/>
            <a:ext cx="352425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37AF80-4E1C-45C1-B86B-9929694271AC}"/>
              </a:ext>
            </a:extLst>
          </p:cNvPr>
          <p:cNvSpPr>
            <a:spLocks xmlns:a="http://schemas.openxmlformats.org/drawingml/2006/main" noGrp="1"/>
          </p:cNvSpPr>
          <p:nvPr/>
        </p:nvSpPr>
        <p:spPr>
          <a:xfrm xmlns:a="http://schemas.openxmlformats.org/drawingml/2006/main">
            <a:off x="8181975" y="2790825"/>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−0.57%</a:t>
            </a:r>
          </a:p>
        </p:txBody>
      </p:sp>
      <p:sp>
        <p:nvSpPr>
          <p:cNvPr id="11" name="">
            <a:extLst xmlns:a="http://schemas.openxmlformats.org/drawingml/2006/main">
              <a:ext uri="{FF2B5EF4-FFF2-40B4-BE49-F238E27FC236}">
                <a16:creationId xmlns:a16="http://schemas.microsoft.com/office/drawing/2014/main" id="{7F4F51DF-6CAD-46B2-B2BC-9099F2FE40F1}"/>
              </a:ext>
            </a:extLst>
          </p:cNvPr>
          <p:cNvSpPr>
            <a:spLocks xmlns:a="http://schemas.openxmlformats.org/drawingml/2006/main" noGrp="1"/>
          </p:cNvSpPr>
          <p:nvPr/>
        </p:nvSpPr>
        <p:spPr>
          <a:xfrm xmlns:a="http://schemas.openxmlformats.org/drawingml/2006/main">
            <a:off x="8181975" y="3267075"/>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ORDERLY_UP median trade</a:t>
            </a:r>
          </a:p>
        </p:txBody>
      </p:sp>
      <p:sp>
        <p:nvSpPr>
          <p:cNvPr id="12" name="">
            <a:extLst xmlns:a="http://schemas.openxmlformats.org/drawingml/2006/main">
              <a:ext uri="{FF2B5EF4-FFF2-40B4-BE49-F238E27FC236}">
                <a16:creationId xmlns:a16="http://schemas.microsoft.com/office/drawing/2014/main" id="{874E381E-8D39-4173-988A-A2A38BE84E90}"/>
              </a:ext>
            </a:extLst>
          </p:cNvPr>
          <p:cNvSpPr>
            <a:spLocks xmlns:a="http://schemas.openxmlformats.org/drawingml/2006/main" noGrp="1"/>
          </p:cNvSpPr>
          <p:nvPr/>
        </p:nvSpPr>
        <p:spPr>
          <a:xfrm xmlns:a="http://schemas.openxmlformats.org/drawingml/2006/main">
            <a:off x="7953375" y="3867150"/>
            <a:ext cx="3524250" cy="1066800"/>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54B860-D678-4E55-80AB-08587FCD2F12}"/>
              </a:ext>
            </a:extLst>
          </p:cNvPr>
          <p:cNvSpPr>
            <a:spLocks xmlns:a="http://schemas.openxmlformats.org/drawingml/2006/main" noGrp="1"/>
          </p:cNvSpPr>
          <p:nvPr/>
        </p:nvSpPr>
        <p:spPr>
          <a:xfrm xmlns:a="http://schemas.openxmlformats.org/drawingml/2006/main">
            <a:off x="8181975" y="4010025"/>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+0.25%</a:t>
            </a:r>
          </a:p>
        </p:txBody>
      </p:sp>
      <p:sp>
        <p:nvSpPr>
          <p:cNvPr id="14" name="">
            <a:extLst xmlns:a="http://schemas.openxmlformats.org/drawingml/2006/main">
              <a:ext uri="{FF2B5EF4-FFF2-40B4-BE49-F238E27FC236}">
                <a16:creationId xmlns:a16="http://schemas.microsoft.com/office/drawing/2014/main" id="{E6500183-3260-481D-B392-173BC3D1D3CE}"/>
              </a:ext>
            </a:extLst>
          </p:cNvPr>
          <p:cNvSpPr>
            <a:spLocks xmlns:a="http://schemas.openxmlformats.org/drawingml/2006/main" noGrp="1"/>
          </p:cNvSpPr>
          <p:nvPr/>
        </p:nvSpPr>
        <p:spPr>
          <a:xfrm xmlns:a="http://schemas.openxmlformats.org/drawingml/2006/main">
            <a:off x="8181975" y="4486275"/>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ORDERLY_UP mean trade</a:t>
            </a:r>
          </a:p>
        </p:txBody>
      </p:sp>
      <p:sp>
        <p:nvSpPr>
          <p:cNvPr id="15" name="">
            <a:extLst xmlns:a="http://schemas.openxmlformats.org/drawingml/2006/main">
              <a:ext uri="{FF2B5EF4-FFF2-40B4-BE49-F238E27FC236}">
                <a16:creationId xmlns:a16="http://schemas.microsoft.com/office/drawing/2014/main" id="{63F2CAD9-7376-46D0-A901-87A7D4DFE1AF}"/>
              </a:ext>
            </a:extLst>
          </p:cNvPr>
          <p:cNvSpPr>
            <a:spLocks xmlns:a="http://schemas.openxmlformats.org/drawingml/2006/main" noGrp="1"/>
          </p:cNvSpPr>
          <p:nvPr/>
        </p:nvSpPr>
        <p:spPr>
          <a:xfrm xmlns:a="http://schemas.openxmlformats.org/drawingml/2006/main">
            <a:off x="7905750" y="5286375"/>
            <a:ext cx="3619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Non-positive-slope entries had the strongest hit rate and mean trade in this parent.</a:t>
            </a:r>
          </a:p>
        </p:txBody>
      </p:sp>
    </p:spTree>
    <p:extLst>
      <p:ext uri="{BB962C8B-B14F-4D97-AF65-F5344CB8AC3E}">
        <p14:creationId xmlns:p14="http://schemas.microsoft.com/office/powerpoint/2010/main" val="2188343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2B77F1-5323-4F53-8A37-FED2FCBF3962}"/>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FALSIFICATION · BREADTH AND CONTROLS</a:t>
            </a:r>
          </a:p>
        </p:txBody>
      </p:sp>
      <p:sp>
        <p:nvSpPr>
          <p:cNvPr id="2" name="">
            <a:extLst xmlns:a="http://schemas.openxmlformats.org/drawingml/2006/main">
              <a:ext uri="{FF2B5EF4-FFF2-40B4-BE49-F238E27FC236}">
                <a16:creationId xmlns:a16="http://schemas.microsoft.com/office/drawing/2014/main" id="{B4A71C06-6A65-43F6-AF70-5511711BD1F7}"/>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2018 exception did not transport</a:t>
            </a:r>
          </a:p>
        </p:txBody>
      </p:sp>
      <p:sp>
        <p:nvSpPr>
          <p:cNvPr id="3" name="">
            <a:extLst xmlns:a="http://schemas.openxmlformats.org/drawingml/2006/main">
              <a:ext uri="{FF2B5EF4-FFF2-40B4-BE49-F238E27FC236}">
                <a16:creationId xmlns:a16="http://schemas.microsoft.com/office/drawing/2014/main" id="{97602881-0481-42B0-B4B0-EF80A16390EA}"/>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13</a:t>
            </a:r>
          </a:p>
        </p:txBody>
      </p:sp>
      <p:sp>
        <p:nvSpPr>
          <p:cNvPr id="4" name="">
            <a:extLst xmlns:a="http://schemas.openxmlformats.org/drawingml/2006/main">
              <a:ext uri="{FF2B5EF4-FFF2-40B4-BE49-F238E27FC236}">
                <a16:creationId xmlns:a16="http://schemas.microsoft.com/office/drawing/2014/main" id="{68E88863-7DC2-4923-9B64-01592809F539}"/>
              </a:ext>
            </a:extLst>
          </p:cNvPr>
          <p:cNvSpPr>
            <a:spLocks xmlns:a="http://schemas.openxmlformats.org/drawingml/2006/main" noGrp="1"/>
          </p:cNvSpPr>
          <p:nvPr/>
        </p:nvSpPr>
        <p:spPr>
          <a:xfrm xmlns:a="http://schemas.openxmlformats.org/drawingml/2006/main">
            <a:off x="428625" y="1381125"/>
            <a:ext cx="7000875" cy="461962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0ba98957f3f4ae2"/>
          <a:stretch xmlns:a="http://schemas.openxmlformats.org/drawingml/2006/main"/>
        </p:blipFill>
        <p:spPr>
          <a:xfrm xmlns:a="http://schemas.openxmlformats.org/drawingml/2006/main">
            <a:off x="428625" y="1746250"/>
            <a:ext cx="7000875" cy="3889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16D8117-8C58-4C0C-B22C-861E1B5FB068}"/>
              </a:ext>
            </a:extLst>
          </p:cNvPr>
          <p:cNvSpPr>
            <a:spLocks xmlns:a="http://schemas.openxmlformats.org/drawingml/2006/main" noGrp="1"/>
          </p:cNvSpPr>
          <p:nvPr/>
        </p:nvSpPr>
        <p:spPr>
          <a:xfrm xmlns:a="http://schemas.openxmlformats.org/drawingml/2006/main">
            <a:off x="7810500" y="1428750"/>
            <a:ext cx="347662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D7D59C7-BDC5-4A0A-BCFE-5EF4EB17524E}"/>
              </a:ext>
            </a:extLst>
          </p:cNvPr>
          <p:cNvSpPr>
            <a:spLocks xmlns:a="http://schemas.openxmlformats.org/drawingml/2006/main" noGrp="1"/>
          </p:cNvSpPr>
          <p:nvPr/>
        </p:nvSpPr>
        <p:spPr>
          <a:xfrm xmlns:a="http://schemas.openxmlformats.org/drawingml/2006/main">
            <a:off x="8039100" y="1571625"/>
            <a:ext cx="3019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2 / 24</a:t>
            </a:r>
          </a:p>
        </p:txBody>
      </p:sp>
      <p:sp>
        <p:nvSpPr>
          <p:cNvPr id="8" name="">
            <a:extLst xmlns:a="http://schemas.openxmlformats.org/drawingml/2006/main">
              <a:ext uri="{FF2B5EF4-FFF2-40B4-BE49-F238E27FC236}">
                <a16:creationId xmlns:a16="http://schemas.microsoft.com/office/drawing/2014/main" id="{DF719ECA-71C8-4C4A-9A28-8FC1BD4179B1}"/>
              </a:ext>
            </a:extLst>
          </p:cNvPr>
          <p:cNvSpPr>
            <a:spLocks xmlns:a="http://schemas.openxmlformats.org/drawingml/2006/main" noGrp="1"/>
          </p:cNvSpPr>
          <p:nvPr/>
        </p:nvSpPr>
        <p:spPr>
          <a:xfrm xmlns:a="http://schemas.openxmlformats.org/drawingml/2006/main">
            <a:off x="8039100" y="2047875"/>
            <a:ext cx="301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stocks improved</a:t>
            </a:r>
          </a:p>
        </p:txBody>
      </p:sp>
      <p:sp>
        <p:nvSpPr>
          <p:cNvPr id="9" name="">
            <a:extLst xmlns:a="http://schemas.openxmlformats.org/drawingml/2006/main">
              <a:ext uri="{FF2B5EF4-FFF2-40B4-BE49-F238E27FC236}">
                <a16:creationId xmlns:a16="http://schemas.microsoft.com/office/drawing/2014/main" id="{F089929F-C02B-4AEB-A758-679B21B4B1CD}"/>
              </a:ext>
            </a:extLst>
          </p:cNvPr>
          <p:cNvSpPr>
            <a:spLocks xmlns:a="http://schemas.openxmlformats.org/drawingml/2006/main" noGrp="1"/>
          </p:cNvSpPr>
          <p:nvPr/>
        </p:nvSpPr>
        <p:spPr>
          <a:xfrm xmlns:a="http://schemas.openxmlformats.org/drawingml/2006/main">
            <a:off x="7810500" y="2647950"/>
            <a:ext cx="347662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B4D47F-C721-4D45-932A-D05BD49455B3}"/>
              </a:ext>
            </a:extLst>
          </p:cNvPr>
          <p:cNvSpPr>
            <a:spLocks xmlns:a="http://schemas.openxmlformats.org/drawingml/2006/main" noGrp="1"/>
          </p:cNvSpPr>
          <p:nvPr/>
        </p:nvSpPr>
        <p:spPr>
          <a:xfrm xmlns:a="http://schemas.openxmlformats.org/drawingml/2006/main">
            <a:off x="8039100" y="2790825"/>
            <a:ext cx="3019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 / 6</a:t>
            </a:r>
          </a:p>
        </p:txBody>
      </p:sp>
      <p:sp>
        <p:nvSpPr>
          <p:cNvPr id="11" name="">
            <a:extLst xmlns:a="http://schemas.openxmlformats.org/drawingml/2006/main">
              <a:ext uri="{FF2B5EF4-FFF2-40B4-BE49-F238E27FC236}">
                <a16:creationId xmlns:a16="http://schemas.microsoft.com/office/drawing/2014/main" id="{DF3DD5BD-C531-4D4E-801A-42C9BADA40DB}"/>
              </a:ext>
            </a:extLst>
          </p:cNvPr>
          <p:cNvSpPr>
            <a:spLocks xmlns:a="http://schemas.openxmlformats.org/drawingml/2006/main" noGrp="1"/>
          </p:cNvSpPr>
          <p:nvPr/>
        </p:nvSpPr>
        <p:spPr>
          <a:xfrm xmlns:a="http://schemas.openxmlformats.org/drawingml/2006/main">
            <a:off x="8039100" y="3267075"/>
            <a:ext cx="301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positive-excess years</a:t>
            </a:r>
          </a:p>
        </p:txBody>
      </p:sp>
      <p:sp>
        <p:nvSpPr>
          <p:cNvPr id="12" name="">
            <a:extLst xmlns:a="http://schemas.openxmlformats.org/drawingml/2006/main">
              <a:ext uri="{FF2B5EF4-FFF2-40B4-BE49-F238E27FC236}">
                <a16:creationId xmlns:a16="http://schemas.microsoft.com/office/drawing/2014/main" id="{BA92EAAE-1CBF-467A-B744-A854D5345D71}"/>
              </a:ext>
            </a:extLst>
          </p:cNvPr>
          <p:cNvSpPr>
            <a:spLocks xmlns:a="http://schemas.openxmlformats.org/drawingml/2006/main" noGrp="1"/>
          </p:cNvSpPr>
          <p:nvPr/>
        </p:nvSpPr>
        <p:spPr>
          <a:xfrm xmlns:a="http://schemas.openxmlformats.org/drawingml/2006/main">
            <a:off x="7810500" y="3867150"/>
            <a:ext cx="3476625"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9D09DB6-160D-430C-976B-BEC8EC236987}"/>
              </a:ext>
            </a:extLst>
          </p:cNvPr>
          <p:cNvSpPr>
            <a:spLocks xmlns:a="http://schemas.openxmlformats.org/drawingml/2006/main" noGrp="1"/>
          </p:cNvSpPr>
          <p:nvPr/>
        </p:nvSpPr>
        <p:spPr>
          <a:xfrm xmlns:a="http://schemas.openxmlformats.org/drawingml/2006/main">
            <a:off x="8039100" y="4010025"/>
            <a:ext cx="30194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26.2nd pct</a:t>
            </a:r>
          </a:p>
        </p:txBody>
      </p:sp>
      <p:sp>
        <p:nvSpPr>
          <p:cNvPr id="14" name="">
            <a:extLst xmlns:a="http://schemas.openxmlformats.org/drawingml/2006/main">
              <a:ext uri="{FF2B5EF4-FFF2-40B4-BE49-F238E27FC236}">
                <a16:creationId xmlns:a16="http://schemas.microsoft.com/office/drawing/2014/main" id="{8312AFBB-0E46-4464-891D-D195AA90B357}"/>
              </a:ext>
            </a:extLst>
          </p:cNvPr>
          <p:cNvSpPr>
            <a:spLocks xmlns:a="http://schemas.openxmlformats.org/drawingml/2006/main" noGrp="1"/>
          </p:cNvSpPr>
          <p:nvPr/>
        </p:nvSpPr>
        <p:spPr>
          <a:xfrm xmlns:a="http://schemas.openxmlformats.org/drawingml/2006/main">
            <a:off x="8039100" y="4486275"/>
            <a:ext cx="3019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timing-control rank</a:t>
            </a:r>
          </a:p>
        </p:txBody>
      </p:sp>
      <p:sp>
        <p:nvSpPr>
          <p:cNvPr id="15" name="">
            <a:extLst xmlns:a="http://schemas.openxmlformats.org/drawingml/2006/main">
              <a:ext uri="{FF2B5EF4-FFF2-40B4-BE49-F238E27FC236}">
                <a16:creationId xmlns:a16="http://schemas.microsoft.com/office/drawing/2014/main" id="{CCCAE134-862C-41AB-90EC-C87B930F4A4B}"/>
              </a:ext>
            </a:extLst>
          </p:cNvPr>
          <p:cNvSpPr>
            <a:spLocks xmlns:a="http://schemas.openxmlformats.org/drawingml/2006/main" noGrp="1"/>
          </p:cNvSpPr>
          <p:nvPr/>
        </p:nvSpPr>
        <p:spPr>
          <a:xfrm xmlns:a="http://schemas.openxmlformats.org/drawingml/2006/main">
            <a:off x="7810500" y="5286375"/>
            <a:ext cx="3476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95F59"/>
                </a:solidFill>
              </a:defRPr>
            </a:pPr>
            <a:r>
              <a:rPr sz="1350" b="1">
                <a:solidFill>
                  <a:srgbClr val="D95F59"/>
                </a:solidFill>
              </a:rPr>
              <a:t>2019–2023 were all negative at the panel median.</a:t>
            </a:r>
          </a:p>
        </p:txBody>
      </p:sp>
    </p:spTree>
    <p:extLst>
      <p:ext uri="{BB962C8B-B14F-4D97-AF65-F5344CB8AC3E}">
        <p14:creationId xmlns:p14="http://schemas.microsoft.com/office/powerpoint/2010/main" val="5091916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64AEEA9-B134-4CEC-9F4E-4EC3244ED970}"/>
              </a:ext>
            </a:extLst>
          </p:cNvPr>
          <p:cNvSpPr>
            <a:spLocks xmlns:a="http://schemas.openxmlformats.org/drawingml/2006/main" noGrp="1"/>
          </p:cNvSpPr>
          <p:nvPr/>
        </p:nvSpPr>
        <p:spPr>
          <a:xfrm xmlns:a="http://schemas.openxmlformats.org/drawingml/2006/main">
            <a:off x="476250" y="2667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2" name="">
            <a:extLst xmlns:a="http://schemas.openxmlformats.org/drawingml/2006/main">
              <a:ext uri="{FF2B5EF4-FFF2-40B4-BE49-F238E27FC236}">
                <a16:creationId xmlns:a16="http://schemas.microsoft.com/office/drawing/2014/main" id="{E5BD7B19-B5F6-4627-8FFD-464B2BCE5B26}"/>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Retain the measurement; set down the binary entry gate</a:t>
            </a:r>
          </a:p>
        </p:txBody>
      </p:sp>
      <p:sp>
        <p:nvSpPr>
          <p:cNvPr id="3" name="">
            <a:extLst xmlns:a="http://schemas.openxmlformats.org/drawingml/2006/main">
              <a:ext uri="{FF2B5EF4-FFF2-40B4-BE49-F238E27FC236}">
                <a16:creationId xmlns:a16="http://schemas.microsoft.com/office/drawing/2014/main" id="{F923FB52-7187-49AA-A2B0-28766970C99A}"/>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14</a:t>
            </a:r>
          </a:p>
        </p:txBody>
      </p:sp>
      <p:sp>
        <p:nvSpPr>
          <p:cNvPr id="4" name="">
            <a:extLst xmlns:a="http://schemas.openxmlformats.org/drawingml/2006/main">
              <a:ext uri="{FF2B5EF4-FFF2-40B4-BE49-F238E27FC236}">
                <a16:creationId xmlns:a16="http://schemas.microsoft.com/office/drawing/2014/main" id="{11B3926D-5490-409F-B84B-8BB8F6B15903}"/>
              </a:ext>
            </a:extLst>
          </p:cNvPr>
          <p:cNvSpPr>
            <a:spLocks xmlns:a="http://schemas.openxmlformats.org/drawingml/2006/main" noGrp="1"/>
          </p:cNvSpPr>
          <p:nvPr/>
        </p:nvSpPr>
        <p:spPr>
          <a:xfrm xmlns:a="http://schemas.openxmlformats.org/drawingml/2006/main">
            <a:off x="523875" y="1381125"/>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2E8B57"/>
                </a:solidFill>
              </a:defRPr>
            </a:pPr>
            <a:r>
              <a:rPr sz="3600" b="1">
                <a:solidFill>
                  <a:srgbClr val="2E8B57"/>
                </a:solidFill>
              </a:rPr>
              <a:t>7 / 7</a:t>
            </a:r>
          </a:p>
        </p:txBody>
      </p:sp>
      <p:sp>
        <p:nvSpPr>
          <p:cNvPr id="5" name="">
            <a:extLst xmlns:a="http://schemas.openxmlformats.org/drawingml/2006/main">
              <a:ext uri="{FF2B5EF4-FFF2-40B4-BE49-F238E27FC236}">
                <a16:creationId xmlns:a16="http://schemas.microsoft.com/office/drawing/2014/main" id="{24FBACED-D233-4DC5-9CA3-784DAE76F2A1}"/>
              </a:ext>
            </a:extLst>
          </p:cNvPr>
          <p:cNvSpPr>
            <a:spLocks xmlns:a="http://schemas.openxmlformats.org/drawingml/2006/main" noGrp="1"/>
          </p:cNvSpPr>
          <p:nvPr/>
        </p:nvSpPr>
        <p:spPr>
          <a:xfrm xmlns:a="http://schemas.openxmlformats.org/drawingml/2006/main">
            <a:off x="523875" y="20478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construction gates</a:t>
            </a:r>
          </a:p>
        </p:txBody>
      </p:sp>
      <p:sp>
        <p:nvSpPr>
          <p:cNvPr id="6" name="">
            <a:extLst xmlns:a="http://schemas.openxmlformats.org/drawingml/2006/main">
              <a:ext uri="{FF2B5EF4-FFF2-40B4-BE49-F238E27FC236}">
                <a16:creationId xmlns:a16="http://schemas.microsoft.com/office/drawing/2014/main" id="{1F1F3C42-41E6-4EB8-B735-B0B3B51A936C}"/>
              </a:ext>
            </a:extLst>
          </p:cNvPr>
          <p:cNvSpPr>
            <a:spLocks xmlns:a="http://schemas.openxmlformats.org/drawingml/2006/main" noGrp="1"/>
          </p:cNvSpPr>
          <p:nvPr/>
        </p:nvSpPr>
        <p:spPr>
          <a:xfrm xmlns:a="http://schemas.openxmlformats.org/drawingml/2006/main">
            <a:off x="3619500" y="1381125"/>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D95F59"/>
                </a:solidFill>
              </a:defRPr>
            </a:pPr>
            <a:r>
              <a:rPr sz="3600" b="1">
                <a:solidFill>
                  <a:srgbClr val="D95F59"/>
                </a:solidFill>
              </a:rPr>
              <a:t>3 / 9</a:t>
            </a:r>
          </a:p>
        </p:txBody>
      </p:sp>
      <p:sp>
        <p:nvSpPr>
          <p:cNvPr id="7" name="">
            <a:extLst xmlns:a="http://schemas.openxmlformats.org/drawingml/2006/main">
              <a:ext uri="{FF2B5EF4-FFF2-40B4-BE49-F238E27FC236}">
                <a16:creationId xmlns:a16="http://schemas.microsoft.com/office/drawing/2014/main" id="{8CE3FAE7-EE6B-4B16-88ED-530E8ECEE4A7}"/>
              </a:ext>
            </a:extLst>
          </p:cNvPr>
          <p:cNvSpPr>
            <a:spLocks xmlns:a="http://schemas.openxmlformats.org/drawingml/2006/main" noGrp="1"/>
          </p:cNvSpPr>
          <p:nvPr/>
        </p:nvSpPr>
        <p:spPr>
          <a:xfrm xmlns:a="http://schemas.openxmlformats.org/drawingml/2006/main">
            <a:off x="3619500" y="204787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strategy gates</a:t>
            </a:r>
          </a:p>
        </p:txBody>
      </p:sp>
      <p:sp>
        <p:nvSpPr>
          <p:cNvPr id="8" name="">
            <a:extLst xmlns:a="http://schemas.openxmlformats.org/drawingml/2006/main">
              <a:ext uri="{FF2B5EF4-FFF2-40B4-BE49-F238E27FC236}">
                <a16:creationId xmlns:a16="http://schemas.microsoft.com/office/drawing/2014/main" id="{E8064806-F01B-46CB-AEF5-1601B342FF0C}"/>
              </a:ext>
            </a:extLst>
          </p:cNvPr>
          <p:cNvSpPr>
            <a:spLocks xmlns:a="http://schemas.openxmlformats.org/drawingml/2006/main" noGrp="1"/>
          </p:cNvSpPr>
          <p:nvPr/>
        </p:nvSpPr>
        <p:spPr>
          <a:xfrm xmlns:a="http://schemas.openxmlformats.org/drawingml/2006/main">
            <a:off x="523875" y="2809875"/>
            <a:ext cx="5762625" cy="1476375"/>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ECBC90-69F8-4A1B-A5D5-C1A90427F908}"/>
              </a:ext>
            </a:extLst>
          </p:cNvPr>
          <p:cNvSpPr>
            <a:spLocks xmlns:a="http://schemas.openxmlformats.org/drawingml/2006/main" noGrp="1"/>
          </p:cNvSpPr>
          <p:nvPr/>
        </p:nvSpPr>
        <p:spPr>
          <a:xfrm xmlns:a="http://schemas.openxmlformats.org/drawingml/2006/main">
            <a:off x="781050" y="3190875"/>
            <a:ext cx="5238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D95F59"/>
                </a:solidFill>
              </a:defRPr>
            </a:pPr>
            <a:r>
              <a:rPr sz="1575" b="1">
                <a:solidFill>
                  <a:srgbClr val="D95F59"/>
                </a:solidFill>
              </a:rPr>
              <a:t>STOP_ROBUST_SLOPE_FIT_STRATEGY_GATES_</a:t>
            </a:r>
          </a:p>
          <a:p xmlns:a="http://schemas.openxmlformats.org/drawingml/2006/main">
            <a:pPr algn="ctr">
              <a:defRPr sz="1575" b="1">
                <a:solidFill>
                  <a:srgbClr val="D95F59"/>
                </a:solidFill>
              </a:defRPr>
            </a:pPr>
            <a:r>
              <a:rPr sz="1575" b="1">
                <a:solidFill>
                  <a:srgbClr val="D95F59"/>
                </a:solidFill>
              </a:rPr>
              <a:t>FAILED_CONFIRMATION_NOT_RUN</a:t>
            </a:r>
          </a:p>
        </p:txBody>
      </p:sp>
      <p:sp>
        <p:nvSpPr>
          <p:cNvPr id="10" name="">
            <a:extLst xmlns:a="http://schemas.openxmlformats.org/drawingml/2006/main">
              <a:ext uri="{FF2B5EF4-FFF2-40B4-BE49-F238E27FC236}">
                <a16:creationId xmlns:a16="http://schemas.microsoft.com/office/drawing/2014/main" id="{72A4F357-645B-4832-8B10-D65D137718D2}"/>
              </a:ext>
            </a:extLst>
          </p:cNvPr>
          <p:cNvSpPr>
            <a:spLocks xmlns:a="http://schemas.openxmlformats.org/drawingml/2006/main" noGrp="1"/>
          </p:cNvSpPr>
          <p:nvPr/>
        </p:nvSpPr>
        <p:spPr>
          <a:xfrm xmlns:a="http://schemas.openxmlformats.org/drawingml/2006/main">
            <a:off x="6905625" y="142875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E8B57"/>
                </a:solidFill>
              </a:defRPr>
            </a:pPr>
            <a:r>
              <a:rPr sz="1950" b="1">
                <a:solidFill>
                  <a:srgbClr val="2E8B57"/>
                </a:solidFill>
              </a:rPr>
              <a:t>What survives</a:t>
            </a:r>
          </a:p>
        </p:txBody>
      </p:sp>
      <p:sp>
        <p:nvSpPr>
          <p:cNvPr id="11" name="">
            <a:extLst xmlns:a="http://schemas.openxmlformats.org/drawingml/2006/main">
              <a:ext uri="{FF2B5EF4-FFF2-40B4-BE49-F238E27FC236}">
                <a16:creationId xmlns:a16="http://schemas.microsoft.com/office/drawing/2014/main" id="{F60FB3B9-B7BD-42BF-AF90-EAE68A15EAE5}"/>
              </a:ext>
            </a:extLst>
          </p:cNvPr>
          <p:cNvSpPr>
            <a:spLocks xmlns:a="http://schemas.openxmlformats.org/drawingml/2006/main" noGrp="1"/>
          </p:cNvSpPr>
          <p:nvPr/>
        </p:nvSpPr>
        <p:spPr>
          <a:xfrm xmlns:a="http://schemas.openxmlformats.org/drawingml/2006/main">
            <a:off x="7048500" y="212407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7D0BF2-76A7-4167-99B6-930A737EAE3B}"/>
              </a:ext>
            </a:extLst>
          </p:cNvPr>
          <p:cNvSpPr>
            <a:spLocks xmlns:a="http://schemas.openxmlformats.org/drawingml/2006/main" noGrp="1"/>
          </p:cNvSpPr>
          <p:nvPr/>
        </p:nvSpPr>
        <p:spPr>
          <a:xfrm xmlns:a="http://schemas.openxmlformats.org/drawingml/2006/main">
            <a:off x="7267575" y="2047875"/>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Causal robust direction, normalized strength, and quality ledgers</a:t>
            </a:r>
          </a:p>
        </p:txBody>
      </p:sp>
      <p:sp>
        <p:nvSpPr>
          <p:cNvPr id="13" name="">
            <a:extLst xmlns:a="http://schemas.openxmlformats.org/drawingml/2006/main">
              <a:ext uri="{FF2B5EF4-FFF2-40B4-BE49-F238E27FC236}">
                <a16:creationId xmlns:a16="http://schemas.microsoft.com/office/drawing/2014/main" id="{612A3C5B-13DF-4177-8FE8-4377A56B0CAB}"/>
              </a:ext>
            </a:extLst>
          </p:cNvPr>
          <p:cNvSpPr>
            <a:spLocks xmlns:a="http://schemas.openxmlformats.org/drawingml/2006/main" noGrp="1"/>
          </p:cNvSpPr>
          <p:nvPr/>
        </p:nvSpPr>
        <p:spPr>
          <a:xfrm xmlns:a="http://schemas.openxmlformats.org/drawingml/2006/main">
            <a:off x="7048500" y="267652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C0DD477-9130-4124-9B38-1A803E1544C5}"/>
              </a:ext>
            </a:extLst>
          </p:cNvPr>
          <p:cNvSpPr>
            <a:spLocks xmlns:a="http://schemas.openxmlformats.org/drawingml/2006/main" noGrp="1"/>
          </p:cNvSpPr>
          <p:nvPr/>
        </p:nvSpPr>
        <p:spPr>
          <a:xfrm xmlns:a="http://schemas.openxmlformats.org/drawingml/2006/main">
            <a:off x="7267575" y="2600325"/>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A usable asset-relative quality-state implementation</a:t>
            </a:r>
          </a:p>
        </p:txBody>
      </p:sp>
      <p:sp>
        <p:nvSpPr>
          <p:cNvPr id="15" name="">
            <a:extLst xmlns:a="http://schemas.openxmlformats.org/drawingml/2006/main">
              <a:ext uri="{FF2B5EF4-FFF2-40B4-BE49-F238E27FC236}">
                <a16:creationId xmlns:a16="http://schemas.microsoft.com/office/drawing/2014/main" id="{BE94B3B3-0B74-40C7-A864-3F0B56056A65}"/>
              </a:ext>
            </a:extLst>
          </p:cNvPr>
          <p:cNvSpPr>
            <a:spLocks xmlns:a="http://schemas.openxmlformats.org/drawingml/2006/main" noGrp="1"/>
          </p:cNvSpPr>
          <p:nvPr/>
        </p:nvSpPr>
        <p:spPr>
          <a:xfrm xmlns:a="http://schemas.openxmlformats.org/drawingml/2006/main">
            <a:off x="7048500" y="3228975"/>
            <a:ext cx="95250" cy="95250"/>
          </a:xfrm>
          <a:prstGeom xmlns:a="http://schemas.openxmlformats.org/drawingml/2006/main" prst="ellipse">
            <a:avLst/>
          </a:prstGeom>
          <a:solidFill xmlns:a="http://schemas.openxmlformats.org/drawingml/2006/main">
            <a:srgbClr val="2E8B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137FDA4-7FAF-46FC-9706-2246380939A6}"/>
              </a:ext>
            </a:extLst>
          </p:cNvPr>
          <p:cNvSpPr>
            <a:spLocks xmlns:a="http://schemas.openxmlformats.org/drawingml/2006/main" noGrp="1"/>
          </p:cNvSpPr>
          <p:nvPr/>
        </p:nvSpPr>
        <p:spPr>
          <a:xfrm xmlns:a="http://schemas.openxmlformats.org/drawingml/2006/main">
            <a:off x="7267575" y="3152775"/>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Evidence that descriptive trend quality ≠ entry-timing value</a:t>
            </a:r>
          </a:p>
        </p:txBody>
      </p:sp>
      <p:sp>
        <p:nvSpPr>
          <p:cNvPr id="17" name="">
            <a:extLst xmlns:a="http://schemas.openxmlformats.org/drawingml/2006/main">
              <a:ext uri="{FF2B5EF4-FFF2-40B4-BE49-F238E27FC236}">
                <a16:creationId xmlns:a16="http://schemas.microsoft.com/office/drawing/2014/main" id="{D99AD011-01D9-4412-85CA-8FD1CC68BDAB}"/>
              </a:ext>
            </a:extLst>
          </p:cNvPr>
          <p:cNvSpPr>
            <a:spLocks xmlns:a="http://schemas.openxmlformats.org/drawingml/2006/main" noGrp="1"/>
          </p:cNvSpPr>
          <p:nvPr/>
        </p:nvSpPr>
        <p:spPr>
          <a:xfrm xmlns:a="http://schemas.openxmlformats.org/drawingml/2006/main">
            <a:off x="6905625" y="404812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D95F59"/>
                </a:solidFill>
              </a:defRPr>
            </a:pPr>
            <a:r>
              <a:rPr sz="1950" b="1">
                <a:solidFill>
                  <a:srgbClr val="D95F59"/>
                </a:solidFill>
              </a:rPr>
              <a:t>What remains closed</a:t>
            </a:r>
          </a:p>
        </p:txBody>
      </p:sp>
      <p:sp>
        <p:nvSpPr>
          <p:cNvPr id="18" name="">
            <a:extLst xmlns:a="http://schemas.openxmlformats.org/drawingml/2006/main">
              <a:ext uri="{FF2B5EF4-FFF2-40B4-BE49-F238E27FC236}">
                <a16:creationId xmlns:a16="http://schemas.microsoft.com/office/drawing/2014/main" id="{547DA7FC-4195-4F34-A293-2FC04B1AAC85}"/>
              </a:ext>
            </a:extLst>
          </p:cNvPr>
          <p:cNvSpPr>
            <a:spLocks xmlns:a="http://schemas.openxmlformats.org/drawingml/2006/main" noGrp="1"/>
          </p:cNvSpPr>
          <p:nvPr/>
        </p:nvSpPr>
        <p:spPr>
          <a:xfrm xmlns:a="http://schemas.openxmlformats.org/drawingml/2006/main">
            <a:off x="7048500" y="47434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52C8F54-851E-4E5E-82EE-1793589BD6CE}"/>
              </a:ext>
            </a:extLst>
          </p:cNvPr>
          <p:cNvSpPr>
            <a:spLocks xmlns:a="http://schemas.openxmlformats.org/drawingml/2006/main" noGrp="1"/>
          </p:cNvSpPr>
          <p:nvPr/>
        </p:nvSpPr>
        <p:spPr>
          <a:xfrm xmlns:a="http://schemas.openxmlformats.org/drawingml/2006/main">
            <a:off x="7267575" y="4667250"/>
            <a:ext cx="4114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No window, threshold, strength, asset, or year rescue</a:t>
            </a:r>
          </a:p>
        </p:txBody>
      </p:sp>
      <p:sp>
        <p:nvSpPr>
          <p:cNvPr id="20" name="">
            <a:extLst xmlns:a="http://schemas.openxmlformats.org/drawingml/2006/main">
              <a:ext uri="{FF2B5EF4-FFF2-40B4-BE49-F238E27FC236}">
                <a16:creationId xmlns:a16="http://schemas.microsoft.com/office/drawing/2014/main" id="{38B423C1-2426-4395-B8F8-0E9D299B4DB6}"/>
              </a:ext>
            </a:extLst>
          </p:cNvPr>
          <p:cNvSpPr>
            <a:spLocks xmlns:a="http://schemas.openxmlformats.org/drawingml/2006/main" noGrp="1"/>
          </p:cNvSpPr>
          <p:nvPr/>
        </p:nvSpPr>
        <p:spPr>
          <a:xfrm xmlns:a="http://schemas.openxmlformats.org/drawingml/2006/main">
            <a:off x="7048500" y="52387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C26295-84A5-42F5-A80A-2E9C5679E65F}"/>
              </a:ext>
            </a:extLst>
          </p:cNvPr>
          <p:cNvSpPr>
            <a:spLocks xmlns:a="http://schemas.openxmlformats.org/drawingml/2006/main" noGrp="1"/>
          </p:cNvSpPr>
          <p:nvPr/>
        </p:nvSpPr>
        <p:spPr>
          <a:xfrm xmlns:a="http://schemas.openxmlformats.org/drawingml/2006/main">
            <a:off x="7267575" y="5162550"/>
            <a:ext cx="4114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No ATR stacking, alternate SMA mechanics, or leverage</a:t>
            </a:r>
          </a:p>
        </p:txBody>
      </p:sp>
      <p:sp>
        <p:nvSpPr>
          <p:cNvPr id="22" name="">
            <a:extLst xmlns:a="http://schemas.openxmlformats.org/drawingml/2006/main">
              <a:ext uri="{FF2B5EF4-FFF2-40B4-BE49-F238E27FC236}">
                <a16:creationId xmlns:a16="http://schemas.microsoft.com/office/drawing/2014/main" id="{EE6C6491-AC00-4AD8-89D4-347F2C5C546A}"/>
              </a:ext>
            </a:extLst>
          </p:cNvPr>
          <p:cNvSpPr>
            <a:spLocks xmlns:a="http://schemas.openxmlformats.org/drawingml/2006/main" noGrp="1"/>
          </p:cNvSpPr>
          <p:nvPr/>
        </p:nvSpPr>
        <p:spPr>
          <a:xfrm xmlns:a="http://schemas.openxmlformats.org/drawingml/2006/main">
            <a:off x="7048500" y="573405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223ABB5-0B39-46A4-9EB9-59D9C7C775A9}"/>
              </a:ext>
            </a:extLst>
          </p:cNvPr>
          <p:cNvSpPr>
            <a:spLocks xmlns:a="http://schemas.openxmlformats.org/drawingml/2006/main" noGrp="1"/>
          </p:cNvSpPr>
          <p:nvPr/>
        </p:nvSpPr>
        <p:spPr>
          <a:xfrm xmlns:a="http://schemas.openxmlformats.org/drawingml/2006/main">
            <a:off x="7267575" y="5657850"/>
            <a:ext cx="4114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No 2024+ confirmation inspection</a:t>
            </a:r>
          </a:p>
        </p:txBody>
      </p:sp>
      <p:sp>
        <p:nvSpPr>
          <p:cNvPr id="24" name="">
            <a:extLst xmlns:a="http://schemas.openxmlformats.org/drawingml/2006/main">
              <a:ext uri="{FF2B5EF4-FFF2-40B4-BE49-F238E27FC236}">
                <a16:creationId xmlns:a16="http://schemas.microsoft.com/office/drawing/2014/main" id="{02C18E6F-2ACC-43FC-94E8-73643AF82F46}"/>
              </a:ext>
            </a:extLst>
          </p:cNvPr>
          <p:cNvSpPr>
            <a:spLocks xmlns:a="http://schemas.openxmlformats.org/drawingml/2006/main" noGrp="1"/>
          </p:cNvSpPr>
          <p:nvPr/>
        </p:nvSpPr>
        <p:spPr>
          <a:xfrm xmlns:a="http://schemas.openxmlformats.org/drawingml/2006/main">
            <a:off x="523875" y="4857750"/>
            <a:ext cx="5762625" cy="10477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A0B59F2-EDE0-4EB8-BF6C-9900D1C9B6F2}"/>
              </a:ext>
            </a:extLst>
          </p:cNvPr>
          <p:cNvSpPr>
            <a:spLocks xmlns:a="http://schemas.openxmlformats.org/drawingml/2006/main" noGrp="1"/>
          </p:cNvSpPr>
          <p:nvPr/>
        </p:nvSpPr>
        <p:spPr>
          <a:xfrm xmlns:a="http://schemas.openxmlformats.org/drawingml/2006/main">
            <a:off x="809625" y="5143500"/>
            <a:ext cx="5191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7324D"/>
                </a:solidFill>
              </a:defRPr>
            </a:pPr>
            <a:r>
              <a:rPr sz="1350" b="1">
                <a:solidFill>
                  <a:srgbClr val="17324D"/>
                </a:solidFill>
              </a:rPr>
              <a:t>Next roadmap discussion: T3 multi-horizon agreement asks a different cross-scale question. It is not authorized by this STOP alone.</a:t>
            </a:r>
          </a:p>
        </p:txBody>
      </p:sp>
    </p:spTree>
    <p:extLst>
      <p:ext uri="{BB962C8B-B14F-4D97-AF65-F5344CB8AC3E}">
        <p14:creationId xmlns:p14="http://schemas.microsoft.com/office/powerpoint/2010/main" val="873007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2026-08-16T20:17:17.7790000Z</dcterms:created>
  <dcterms:modified xsi:type="dcterms:W3CDTF">2026-08-16T20:17:17.7790000Z</dcterms:modified>
</coreProperties>
</file>